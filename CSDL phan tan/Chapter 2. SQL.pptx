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97"/>
  </p:notesMasterIdLst>
  <p:sldIdLst>
    <p:sldId id="256" r:id="rId3"/>
    <p:sldId id="257" r:id="rId4"/>
    <p:sldId id="258" r:id="rId5"/>
    <p:sldId id="259" r:id="rId6"/>
    <p:sldId id="260" r:id="rId7"/>
    <p:sldId id="261" r:id="rId8"/>
    <p:sldId id="270" r:id="rId9"/>
    <p:sldId id="271" r:id="rId10"/>
    <p:sldId id="1108" r:id="rId11"/>
    <p:sldId id="272" r:id="rId12"/>
    <p:sldId id="1109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62" r:id="rId21"/>
    <p:sldId id="263" r:id="rId22"/>
    <p:sldId id="264" r:id="rId23"/>
    <p:sldId id="265" r:id="rId24"/>
    <p:sldId id="266" r:id="rId25"/>
    <p:sldId id="267" r:id="rId26"/>
    <p:sldId id="280" r:id="rId27"/>
    <p:sldId id="281" r:id="rId28"/>
    <p:sldId id="282" r:id="rId29"/>
    <p:sldId id="283" r:id="rId30"/>
    <p:sldId id="1113" r:id="rId31"/>
    <p:sldId id="284" r:id="rId32"/>
    <p:sldId id="1114" r:id="rId33"/>
    <p:sldId id="1115" r:id="rId34"/>
    <p:sldId id="268" r:id="rId35"/>
    <p:sldId id="1116" r:id="rId36"/>
    <p:sldId id="285" r:id="rId37"/>
    <p:sldId id="286" r:id="rId38"/>
    <p:sldId id="1117" r:id="rId39"/>
    <p:sldId id="1119" r:id="rId40"/>
    <p:sldId id="1120" r:id="rId41"/>
    <p:sldId id="1121" r:id="rId42"/>
    <p:sldId id="1122" r:id="rId43"/>
    <p:sldId id="1110" r:id="rId44"/>
    <p:sldId id="1111" r:id="rId45"/>
    <p:sldId id="1112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302" r:id="rId62"/>
    <p:sldId id="303" r:id="rId63"/>
    <p:sldId id="304" r:id="rId64"/>
    <p:sldId id="306" r:id="rId65"/>
    <p:sldId id="307" r:id="rId66"/>
    <p:sldId id="309" r:id="rId67"/>
    <p:sldId id="311" r:id="rId68"/>
    <p:sldId id="312" r:id="rId69"/>
    <p:sldId id="313" r:id="rId70"/>
    <p:sldId id="1123" r:id="rId71"/>
    <p:sldId id="315" r:id="rId72"/>
    <p:sldId id="316" r:id="rId73"/>
    <p:sldId id="1125" r:id="rId74"/>
    <p:sldId id="317" r:id="rId75"/>
    <p:sldId id="318" r:id="rId76"/>
    <p:sldId id="319" r:id="rId77"/>
    <p:sldId id="1124" r:id="rId78"/>
    <p:sldId id="320" r:id="rId79"/>
    <p:sldId id="321" r:id="rId80"/>
    <p:sldId id="322" r:id="rId81"/>
    <p:sldId id="323" r:id="rId82"/>
    <p:sldId id="1126" r:id="rId83"/>
    <p:sldId id="1127" r:id="rId84"/>
    <p:sldId id="324" r:id="rId85"/>
    <p:sldId id="325" r:id="rId86"/>
    <p:sldId id="326" r:id="rId87"/>
    <p:sldId id="327" r:id="rId88"/>
    <p:sldId id="328" r:id="rId89"/>
    <p:sldId id="329" r:id="rId90"/>
    <p:sldId id="331" r:id="rId91"/>
    <p:sldId id="332" r:id="rId92"/>
    <p:sldId id="333" r:id="rId93"/>
    <p:sldId id="334" r:id="rId94"/>
    <p:sldId id="335" r:id="rId95"/>
    <p:sldId id="336" r:id="rId96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98"/>
      <p:bold r:id="rId99"/>
      <p:italic r:id="rId100"/>
      <p:boldItalic r:id="rId101"/>
    </p:embeddedFont>
    <p:embeddedFont>
      <p:font typeface="Helvetica Neue" panose="020B0604020202020204" charset="0"/>
      <p:regular r:id="rId102"/>
      <p:bold r:id="rId103"/>
      <p:italic r:id="rId104"/>
      <p:boldItalic r:id="rId105"/>
    </p:embeddedFont>
    <p:embeddedFont>
      <p:font typeface="Source Code Pro" panose="020B0509030403020204" pitchFamily="49" charset="0"/>
      <p:regular r:id="rId106"/>
      <p:bold r:id="rId107"/>
      <p:italic r:id="rId108"/>
      <p:boldItalic r:id="rId109"/>
    </p:embeddedFont>
    <p:embeddedFont>
      <p:font typeface="Times" panose="02020603050405020304" pitchFamily="18" charset="0"/>
      <p:regular r:id="rId110"/>
      <p:bold r:id="rId111"/>
      <p:italic r:id="rId112"/>
      <p:boldItalic r:id="rId1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7" roundtripDataSignature="AMtx7mg8Zb+Y8cS8TkwdlX/13cTMEc1q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43525E-37C0-4876-8FA3-B76E93834B79}">
  <a:tblStyle styleId="{3E43525E-37C0-4876-8FA3-B76E93834B7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AECE6"/>
          </a:solidFill>
        </a:fill>
      </a:tcStyle>
    </a:wholeTbl>
    <a:band1H>
      <a:tcTxStyle/>
      <a:tcStyle>
        <a:tcBdr/>
        <a:fill>
          <a:solidFill>
            <a:srgbClr val="F5D8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5D8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3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customschemas.google.com/relationships/presentationmetadata" Target="metadata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font" Target="fonts/font15.fntdata"/><Relationship Id="rId16" Type="http://schemas.openxmlformats.org/officeDocument/2006/relationships/slide" Target="slides/slide14.xml"/><Relationship Id="rId107" Type="http://schemas.openxmlformats.org/officeDocument/2006/relationships/font" Target="fonts/font10.fntdata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102" Type="http://schemas.openxmlformats.org/officeDocument/2006/relationships/font" Target="fonts/font5.fntdata"/><Relationship Id="rId110" Type="http://schemas.openxmlformats.org/officeDocument/2006/relationships/font" Target="fonts/font13.fntdata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font" Target="fonts/font3.fntdata"/><Relationship Id="rId105" Type="http://schemas.openxmlformats.org/officeDocument/2006/relationships/font" Target="fonts/font8.fntdata"/><Relationship Id="rId113" Type="http://schemas.openxmlformats.org/officeDocument/2006/relationships/font" Target="fonts/font16.fntdata"/><Relationship Id="rId11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font" Target="fonts/font1.fntdata"/><Relationship Id="rId12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font" Target="fonts/font6.fntdata"/><Relationship Id="rId108" Type="http://schemas.openxmlformats.org/officeDocument/2006/relationships/font" Target="fonts/font11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font" Target="fonts/font9.fntdata"/><Relationship Id="rId119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font" Target="fonts/font2.fntdata"/><Relationship Id="rId101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font" Target="fonts/font12.fntdata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notesMaster" Target="notesMasters/notesMaster1.xml"/><Relationship Id="rId104" Type="http://schemas.openxmlformats.org/officeDocument/2006/relationships/font" Target="fonts/font7.fntdata"/><Relationship Id="rId120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/>
              <a:t> </a:t>
            </a:r>
            <a:endParaRPr/>
          </a:p>
        </p:txBody>
      </p:sp>
      <p:sp>
        <p:nvSpPr>
          <p:cNvPr id="315" name="Google Shape;31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38" name="Google Shape;23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4215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 </a:t>
            </a:r>
            <a:endParaRPr/>
          </a:p>
        </p:txBody>
      </p:sp>
      <p:sp>
        <p:nvSpPr>
          <p:cNvPr id="247" name="Google Shape;24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66115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 </a:t>
            </a:r>
            <a:endParaRPr/>
          </a:p>
        </p:txBody>
      </p:sp>
      <p:sp>
        <p:nvSpPr>
          <p:cNvPr id="258" name="Google Shape;25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39392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 </a:t>
            </a:r>
            <a:endParaRPr/>
          </a:p>
        </p:txBody>
      </p:sp>
      <p:sp>
        <p:nvSpPr>
          <p:cNvPr id="269" name="Google Shape;26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92463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 b="0"/>
          </a:p>
        </p:txBody>
      </p:sp>
      <p:sp>
        <p:nvSpPr>
          <p:cNvPr id="278" name="Google Shape;27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64480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>
          <a:extLst>
            <a:ext uri="{FF2B5EF4-FFF2-40B4-BE49-F238E27FC236}">
              <a16:creationId xmlns:a16="http://schemas.microsoft.com/office/drawing/2014/main" id="{3F327EB6-D8CE-5438-F931-88E2E0BA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>
            <a:extLst>
              <a:ext uri="{FF2B5EF4-FFF2-40B4-BE49-F238E27FC236}">
                <a16:creationId xmlns:a16="http://schemas.microsoft.com/office/drawing/2014/main" id="{2FB9499D-59D9-9415-0CA6-925736D15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p12:notes">
            <a:extLst>
              <a:ext uri="{FF2B5EF4-FFF2-40B4-BE49-F238E27FC236}">
                <a16:creationId xmlns:a16="http://schemas.microsoft.com/office/drawing/2014/main" id="{0E361E95-6D33-765F-0D4F-7C30E0558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 b="0"/>
          </a:p>
        </p:txBody>
      </p:sp>
      <p:sp>
        <p:nvSpPr>
          <p:cNvPr id="287" name="Google Shape;287;p12:notes">
            <a:extLst>
              <a:ext uri="{FF2B5EF4-FFF2-40B4-BE49-F238E27FC236}">
                <a16:creationId xmlns:a16="http://schemas.microsoft.com/office/drawing/2014/main" id="{ABF341F8-013D-4C8A-B1C8-38AD2BD4C5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64354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/>
          </a:p>
        </p:txBody>
      </p:sp>
      <p:sp>
        <p:nvSpPr>
          <p:cNvPr id="412" name="Google Shape;412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422" name="Google Shape;422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435" name="Google Shape;435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 </a:t>
            </a:r>
            <a:endParaRPr/>
          </a:p>
        </p:txBody>
      </p:sp>
      <p:sp>
        <p:nvSpPr>
          <p:cNvPr id="445" name="Google Shape;445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27B31C01-471D-D3D3-6B79-B22C79CC8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>
            <a:extLst>
              <a:ext uri="{FF2B5EF4-FFF2-40B4-BE49-F238E27FC236}">
                <a16:creationId xmlns:a16="http://schemas.microsoft.com/office/drawing/2014/main" id="{8DD2F314-622E-31C1-F9D1-3A94C45DC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13:notes">
            <a:extLst>
              <a:ext uri="{FF2B5EF4-FFF2-40B4-BE49-F238E27FC236}">
                <a16:creationId xmlns:a16="http://schemas.microsoft.com/office/drawing/2014/main" id="{9CF7A992-FAB2-1160-C2B1-BF4FE0C911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/>
              <a:t> </a:t>
            </a:r>
            <a:endParaRPr b="1"/>
          </a:p>
        </p:txBody>
      </p:sp>
      <p:sp>
        <p:nvSpPr>
          <p:cNvPr id="296" name="Google Shape;296;p13:notes">
            <a:extLst>
              <a:ext uri="{FF2B5EF4-FFF2-40B4-BE49-F238E27FC236}">
                <a16:creationId xmlns:a16="http://schemas.microsoft.com/office/drawing/2014/main" id="{AF9E8AC3-93F7-5960-DF51-C6276C2130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73146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 b="0"/>
          </a:p>
        </p:txBody>
      </p:sp>
      <p:sp>
        <p:nvSpPr>
          <p:cNvPr id="455" name="Google Shape;455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1537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52229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/>
          </a:p>
        </p:txBody>
      </p:sp>
      <p:sp>
        <p:nvSpPr>
          <p:cNvPr id="475" name="Google Shape;475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484" name="Google Shape;484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 b="0"/>
          </a:p>
        </p:txBody>
      </p:sp>
      <p:sp>
        <p:nvSpPr>
          <p:cNvPr id="493" name="Google Shape;493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1" name="Google Shape;501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 </a:t>
            </a:r>
            <a:endParaRPr/>
          </a:p>
        </p:txBody>
      </p:sp>
      <p:sp>
        <p:nvSpPr>
          <p:cNvPr id="502" name="Google Shape;502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 </a:t>
            </a:r>
            <a:endParaRPr/>
          </a:p>
        </p:txBody>
      </p:sp>
      <p:sp>
        <p:nvSpPr>
          <p:cNvPr id="512" name="Google Shape;512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/>
          </a:p>
        </p:txBody>
      </p:sp>
      <p:sp>
        <p:nvSpPr>
          <p:cNvPr id="521" name="Google Shape;521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9" name="Google Shape;529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540" name="Google Shape;540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9" name="Google Shape;54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/>
              <a:t> </a:t>
            </a:r>
            <a:endParaRPr b="0"/>
          </a:p>
        </p:txBody>
      </p:sp>
      <p:sp>
        <p:nvSpPr>
          <p:cNvPr id="550" name="Google Shape;550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/>
          </a:p>
        </p:txBody>
      </p:sp>
      <p:sp>
        <p:nvSpPr>
          <p:cNvPr id="586" name="Google Shape;586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" name="Google Shape;594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 </a:t>
            </a:r>
            <a:endParaRPr/>
          </a:p>
        </p:txBody>
      </p:sp>
      <p:sp>
        <p:nvSpPr>
          <p:cNvPr id="595" name="Google Shape;595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3" name="Google Shape;603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 b="0"/>
          </a:p>
        </p:txBody>
      </p:sp>
      <p:sp>
        <p:nvSpPr>
          <p:cNvPr id="604" name="Google Shape;604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--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con (SELECT cert# FROM </a:t>
            </a:r>
            <a:r>
              <a:rPr lang="en-US" dirty="0" err="1"/>
              <a:t>MovieExec</a:t>
            </a:r>
            <a:r>
              <a:rPr lang="en-US" dirty="0"/>
              <a:t> WHERE name = 'A') </a:t>
            </a:r>
            <a:r>
              <a:rPr lang="en-US" b="1" dirty="0" err="1"/>
              <a:t>phải</a:t>
            </a:r>
            <a:r>
              <a:rPr lang="en-US" b="1" dirty="0"/>
              <a:t> </a:t>
            </a:r>
            <a:r>
              <a:rPr lang="en-US" b="1" dirty="0" err="1"/>
              <a:t>trả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đúng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 </a:t>
            </a:r>
            <a:r>
              <a:rPr lang="vi-VN" b="1" dirty="0"/>
              <a:t>trịnhieeuf hơn sữ bị sai</a:t>
            </a:r>
            <a:endParaRPr dirty="0"/>
          </a:p>
        </p:txBody>
      </p:sp>
      <p:sp>
        <p:nvSpPr>
          <p:cNvPr id="621" name="Google Shape;62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8" name="Google Shape;648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b="1"/>
              <a:t> </a:t>
            </a:r>
            <a:endParaRPr/>
          </a:p>
        </p:txBody>
      </p:sp>
      <p:sp>
        <p:nvSpPr>
          <p:cNvPr id="649" name="Google Shape;649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7" name="Google Shape;657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/>
          </a:p>
        </p:txBody>
      </p:sp>
      <p:sp>
        <p:nvSpPr>
          <p:cNvPr id="658" name="Google Shape;658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5" name="Google Shape;675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 b="0"/>
          </a:p>
        </p:txBody>
      </p:sp>
      <p:sp>
        <p:nvSpPr>
          <p:cNvPr id="676" name="Google Shape;676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4" name="Google Shape;694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3" name="Google Shape;703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 b="0"/>
          </a:p>
        </p:txBody>
      </p:sp>
      <p:sp>
        <p:nvSpPr>
          <p:cNvPr id="704" name="Google Shape;704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2" name="Google Shape;712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/>
          </a:p>
        </p:txBody>
      </p:sp>
      <p:sp>
        <p:nvSpPr>
          <p:cNvPr id="713" name="Google Shape;713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8" name="Google Shape;738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/>
          </a:p>
        </p:txBody>
      </p:sp>
      <p:sp>
        <p:nvSpPr>
          <p:cNvPr id="739" name="Google Shape;739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7" name="Google Shape;747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 </a:t>
            </a:r>
            <a:endParaRPr b="0" dirty="0"/>
          </a:p>
        </p:txBody>
      </p:sp>
      <p:sp>
        <p:nvSpPr>
          <p:cNvPr id="748" name="Google Shape;748;p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4" name="Google Shape;774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75" name="Google Shape;775;p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3" name="Google Shape;783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/>
          </a:p>
        </p:txBody>
      </p:sp>
      <p:sp>
        <p:nvSpPr>
          <p:cNvPr id="784" name="Google Shape;784;p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0" name="Google Shape;800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 b="0"/>
          </a:p>
        </p:txBody>
      </p:sp>
      <p:sp>
        <p:nvSpPr>
          <p:cNvPr id="801" name="Google Shape;801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product_id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Products </a:t>
            </a:r>
            <a:r>
              <a:rPr lang="en-US" dirty="0" err="1"/>
              <a:t>và</a:t>
            </a:r>
            <a:r>
              <a:rPr lang="en-US" dirty="0"/>
              <a:t> Sales, </a:t>
            </a:r>
            <a:r>
              <a:rPr lang="en-US" dirty="0" err="1"/>
              <a:t>kể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911967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0" name="Google Shape;810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/>
          </a:p>
        </p:txBody>
      </p:sp>
      <p:sp>
        <p:nvSpPr>
          <p:cNvPr id="811" name="Google Shape;811;p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9" name="Google Shape;819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/>
          </a:p>
        </p:txBody>
      </p:sp>
      <p:sp>
        <p:nvSpPr>
          <p:cNvPr id="820" name="Google Shape;820;p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84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7" name="Google Shape;857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 </a:t>
            </a:r>
            <a:endParaRPr/>
          </a:p>
        </p:txBody>
      </p:sp>
      <p:sp>
        <p:nvSpPr>
          <p:cNvPr id="858" name="Google Shape;858;p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88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</a:t>
            </a:r>
            <a:endParaRPr b="0"/>
          </a:p>
        </p:txBody>
      </p:sp>
      <p:sp>
        <p:nvSpPr>
          <p:cNvPr id="876" name="Google Shape;876;p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89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4" name="Google Shape;884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 </a:t>
            </a:r>
            <a:endParaRPr/>
          </a:p>
        </p:txBody>
      </p:sp>
      <p:sp>
        <p:nvSpPr>
          <p:cNvPr id="885" name="Google Shape;885;p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90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6" name="Google Shape;896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 </a:t>
            </a:r>
            <a:endParaRPr/>
          </a:p>
        </p:txBody>
      </p:sp>
      <p:sp>
        <p:nvSpPr>
          <p:cNvPr id="897" name="Google Shape;897;p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91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5" name="Google Shape;905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 </a:t>
            </a:r>
            <a:endParaRPr/>
          </a:p>
        </p:txBody>
      </p:sp>
      <p:sp>
        <p:nvSpPr>
          <p:cNvPr id="906" name="Google Shape;906;p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92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4" name="Google Shape;924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b="0"/>
              <a:t> </a:t>
            </a:r>
            <a:endParaRPr b="0"/>
          </a:p>
        </p:txBody>
      </p:sp>
      <p:sp>
        <p:nvSpPr>
          <p:cNvPr id="925" name="Google Shape;925;p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84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84"/>
          <p:cNvSpPr txBox="1">
            <a:spLocks noGrp="1"/>
          </p:cNvSpPr>
          <p:nvPr>
            <p:ph type="ctrTitle"/>
          </p:nvPr>
        </p:nvSpPr>
        <p:spPr>
          <a:xfrm>
            <a:off x="417251" y="618656"/>
            <a:ext cx="8282866" cy="3706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Arial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4"/>
          <p:cNvSpPr txBox="1">
            <a:spLocks noGrp="1"/>
          </p:cNvSpPr>
          <p:nvPr>
            <p:ph type="subTitle" idx="1"/>
          </p:nvPr>
        </p:nvSpPr>
        <p:spPr>
          <a:xfrm>
            <a:off x="417251" y="4455621"/>
            <a:ext cx="828286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" name="Google Shape;24;p8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26" name="Google Shape;26;p8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84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8" name="Google Shape;28;p84" descr="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3" y="66287"/>
            <a:ext cx="914402" cy="440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5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5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2" name="Google Shape;32;p8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34" name="Google Shape;34;p8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6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86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Arial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6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86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42" name="Google Shape;42;p8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" name="Google Shape;43;p86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4" name="Google Shape;44;p86" descr="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3" y="66287"/>
            <a:ext cx="914402" cy="440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133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7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8" name="Google Shape;48;p87"/>
          <p:cNvSpPr txBox="1">
            <a:spLocks noGrp="1"/>
          </p:cNvSpPr>
          <p:nvPr>
            <p:ph type="body" idx="2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9" name="Google Shape;49;p8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51" name="Google Shape;51;p8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8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8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6" name="Google Shape;56;p88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88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8" name="Google Shape;58;p8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60" name="Google Shape;60;p8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9"/>
          <p:cNvSpPr txBox="1">
            <a:spLocks noGrp="1"/>
          </p:cNvSpPr>
          <p:nvPr>
            <p:ph type="title"/>
          </p:nvPr>
        </p:nvSpPr>
        <p:spPr>
          <a:xfrm>
            <a:off x="603683" y="259972"/>
            <a:ext cx="7963268" cy="89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9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65" name="Google Shape;65;p8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0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0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90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71" name="Google Shape;71;p9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1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91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1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1"/>
          <p:cNvSpPr txBox="1">
            <a:spLocks noGrp="1"/>
          </p:cNvSpPr>
          <p:nvPr>
            <p:ph type="body" idx="1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7" name="Google Shape;77;p91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8" name="Google Shape;78;p91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1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80" name="Google Shape;80;p9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2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92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92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2"/>
          <p:cNvSpPr>
            <a:spLocks noGrp="1"/>
          </p:cNvSpPr>
          <p:nvPr>
            <p:ph type="pic" idx="2"/>
          </p:nvPr>
        </p:nvSpPr>
        <p:spPr>
          <a:xfrm>
            <a:off x="12" y="0"/>
            <a:ext cx="9143989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200" tIns="457200" rIns="0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92"/>
          <p:cNvSpPr txBox="1">
            <a:spLocks noGrp="1"/>
          </p:cNvSpPr>
          <p:nvPr>
            <p:ph type="body" idx="1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9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9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89" name="Google Shape;89;p9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3"/>
          <p:cNvSpPr txBox="1">
            <a:spLocks noGrp="1"/>
          </p:cNvSpPr>
          <p:nvPr>
            <p:ph type="title"/>
          </p:nvPr>
        </p:nvSpPr>
        <p:spPr>
          <a:xfrm>
            <a:off x="603683" y="259972"/>
            <a:ext cx="7963268" cy="89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93"/>
          <p:cNvSpPr txBox="1">
            <a:spLocks noGrp="1"/>
          </p:cNvSpPr>
          <p:nvPr>
            <p:ph type="body" idx="1"/>
          </p:nvPr>
        </p:nvSpPr>
        <p:spPr>
          <a:xfrm rot="5400000">
            <a:off x="2044509" y="-287222"/>
            <a:ext cx="5081615" cy="7963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3" name="Google Shape;93;p9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9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95" name="Google Shape;95;p9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4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4"/>
          <p:cNvSpPr txBox="1">
            <a:spLocks noGrp="1"/>
          </p:cNvSpPr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94"/>
          <p:cNvSpPr txBox="1">
            <a:spLocks noGrp="1"/>
          </p:cNvSpPr>
          <p:nvPr>
            <p:ph type="body" idx="1"/>
          </p:nvPr>
        </p:nvSpPr>
        <p:spPr>
          <a:xfrm rot="5400000">
            <a:off x="650302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1" name="Google Shape;101;p9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9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103" name="Google Shape;103;p9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6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96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3" name="Google Shape;113;p96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96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115" name="Google Shape;115;p96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7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9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97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97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121" name="Google Shape;121;p97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8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98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98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98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127" name="Google Shape;127;p98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9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9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99"/>
          <p:cNvSpPr txBox="1">
            <a:spLocks noGrp="1"/>
          </p:cNvSpPr>
          <p:nvPr>
            <p:ph type="body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99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99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134" name="Google Shape;134;p99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0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00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8" name="Google Shape;138;p100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100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0" name="Google Shape;140;p100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100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00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143" name="Google Shape;143;p100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1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0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01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148" name="Google Shape;148;p101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0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152" name="Google Shape;152;p10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3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03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56" name="Google Shape;156;p103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7" name="Google Shape;157;p103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03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159" name="Google Shape;159;p103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4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04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3" name="Google Shape;163;p104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64" name="Google Shape;164;p104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04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166" name="Google Shape;166;p104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5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05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05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05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172" name="Google Shape;172;p105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6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06"/>
          <p:cNvSpPr txBox="1">
            <a:spLocks noGrp="1"/>
          </p:cNvSpPr>
          <p:nvPr>
            <p:ph type="body" idx="1"/>
          </p:nvPr>
        </p:nvSpPr>
        <p:spPr>
          <a:xfrm rot="5400000">
            <a:off x="604044" y="389732"/>
            <a:ext cx="5811838" cy="576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106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06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178" name="Google Shape;178;p106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3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83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83"/>
          <p:cNvSpPr txBox="1">
            <a:spLocks noGrp="1"/>
          </p:cNvSpPr>
          <p:nvPr>
            <p:ph type="title"/>
          </p:nvPr>
        </p:nvSpPr>
        <p:spPr>
          <a:xfrm>
            <a:off x="603683" y="259972"/>
            <a:ext cx="7963268" cy="89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83"/>
          <p:cNvSpPr txBox="1">
            <a:spLocks noGrp="1"/>
          </p:cNvSpPr>
          <p:nvPr>
            <p:ph type="body" idx="1"/>
          </p:nvPr>
        </p:nvSpPr>
        <p:spPr>
          <a:xfrm>
            <a:off x="603683" y="1153605"/>
            <a:ext cx="7963268" cy="508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 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◦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◦"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◦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8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16" name="Google Shape;16;p8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83"/>
          <p:cNvCxnSpPr/>
          <p:nvPr/>
        </p:nvCxnSpPr>
        <p:spPr>
          <a:xfrm>
            <a:off x="934143" y="1154091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" name="Google Shape;18;p83" descr="logo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463" y="66287"/>
            <a:ext cx="914402" cy="44014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5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6" name="Google Shape;106;p9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95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95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Phan Thi Ha</a:t>
            </a:r>
            <a:endParaRPr/>
          </a:p>
        </p:txBody>
      </p:sp>
      <p:sp>
        <p:nvSpPr>
          <p:cNvPr id="109" name="Google Shape;109;p95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sql/t-sql/statements/create-database-transact-sql?view=sql-server-ver15&amp;tabs=sqlpoo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microsoft.com/en-us/sql/t-sql/statements/create-table-transact-sql?view=sql-server-ver15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"/>
          <p:cNvSpPr txBox="1">
            <a:spLocks noGrp="1"/>
          </p:cNvSpPr>
          <p:nvPr>
            <p:ph type="ctrTitle"/>
          </p:nvPr>
        </p:nvSpPr>
        <p:spPr>
          <a:xfrm>
            <a:off x="417251" y="618656"/>
            <a:ext cx="8282866" cy="3706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600"/>
              <a:buFont typeface="Arial"/>
              <a:buNone/>
            </a:pPr>
            <a:r>
              <a:rPr lang="en-US" sz="4600" dirty="0"/>
              <a:t>Chapter 2</a:t>
            </a:r>
            <a:endParaRPr sz="5100" dirty="0"/>
          </a:p>
        </p:txBody>
      </p:sp>
      <p:sp>
        <p:nvSpPr>
          <p:cNvPr id="184" name="Google Shape;184;p1"/>
          <p:cNvSpPr txBox="1">
            <a:spLocks noGrp="1"/>
          </p:cNvSpPr>
          <p:nvPr>
            <p:ph type="subTitle" idx="1"/>
          </p:nvPr>
        </p:nvSpPr>
        <p:spPr>
          <a:xfrm>
            <a:off x="417251" y="4455621"/>
            <a:ext cx="828286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650"/>
              <a:buNone/>
            </a:pPr>
            <a:r>
              <a:rPr lang="en-US" sz="4650" b="1"/>
              <a:t>THE DATABASE LANGUAGE SQL</a:t>
            </a:r>
            <a:endParaRPr/>
          </a:p>
        </p:txBody>
      </p:sp>
      <p:sp>
        <p:nvSpPr>
          <p:cNvPr id="185" name="Google Shape;185;p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86" name="Google Shape;186;p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92" name="Google Shape;192;p2"/>
          <p:cNvSpPr txBox="1">
            <a:spLocks noGrp="1"/>
          </p:cNvSpPr>
          <p:nvPr>
            <p:ph type="body" idx="1"/>
          </p:nvPr>
        </p:nvSpPr>
        <p:spPr>
          <a:xfrm>
            <a:off x="444157" y="1280674"/>
            <a:ext cx="8220172" cy="467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 Student can write a SQL script.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 Student can compose SQL queries using set (and bag) operators, correlated subqueries, aggregation queries.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 Student can manipulate proficiently on complex queries </a:t>
            </a:r>
            <a:endParaRPr/>
          </a:p>
        </p:txBody>
      </p:sp>
      <p:sp>
        <p:nvSpPr>
          <p:cNvPr id="193" name="Google Shape;193;p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94" name="Google Shape;194;p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200" name="Google Shape;200;p3"/>
          <p:cNvSpPr txBox="1">
            <a:spLocks noGrp="1"/>
          </p:cNvSpPr>
          <p:nvPr>
            <p:ph type="body" idx="1"/>
          </p:nvPr>
        </p:nvSpPr>
        <p:spPr>
          <a:xfrm>
            <a:off x="585925" y="1393795"/>
            <a:ext cx="8067881" cy="4893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 Integrity constraints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 Structure Query Language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DDL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DML</a:t>
            </a:r>
            <a:endParaRPr sz="240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DCL (self studying)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Sub query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/>
          </a:p>
        </p:txBody>
      </p:sp>
      <p:sp>
        <p:nvSpPr>
          <p:cNvPr id="201" name="Google Shape;201;p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02" name="Google Shape;202;p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REVIEW</a:t>
            </a:r>
            <a:endParaRPr/>
          </a:p>
        </p:txBody>
      </p:sp>
      <p:sp>
        <p:nvSpPr>
          <p:cNvPr id="208" name="Google Shape;208;p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209" name="Google Shape;209;p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532426" y="1840552"/>
            <a:ext cx="1557867" cy="1143000"/>
          </a:xfrm>
          <a:prstGeom prst="homePlate">
            <a:avLst>
              <a:gd name="adj" fmla="val 19356"/>
            </a:avLst>
          </a:prstGeom>
          <a:solidFill>
            <a:srgbClr val="0000FF"/>
          </a:solidFill>
          <a:ln w="12700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Getting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User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Requirement</a:t>
            </a:r>
            <a:endParaRPr/>
          </a:p>
        </p:txBody>
      </p:sp>
      <p:sp>
        <p:nvSpPr>
          <p:cNvPr id="211" name="Google Shape;211;p4"/>
          <p:cNvSpPr/>
          <p:nvPr/>
        </p:nvSpPr>
        <p:spPr>
          <a:xfrm>
            <a:off x="2401819" y="1840552"/>
            <a:ext cx="1817511" cy="1143000"/>
          </a:xfrm>
          <a:prstGeom prst="chevron">
            <a:avLst>
              <a:gd name="adj" fmla="val 15824"/>
            </a:avLst>
          </a:prstGeom>
          <a:solidFill>
            <a:srgbClr val="CCFFFF"/>
          </a:solidFill>
          <a:ln w="12700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66CC"/>
                </a:solidFill>
                <a:latin typeface="Arial"/>
                <a:ea typeface="Arial"/>
                <a:cs typeface="Arial"/>
                <a:sym typeface="Arial"/>
              </a:rPr>
              <a:t>High-Level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66CC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4459220" y="1840552"/>
            <a:ext cx="1817511" cy="1143000"/>
          </a:xfrm>
          <a:prstGeom prst="chevron">
            <a:avLst>
              <a:gd name="adj" fmla="val 15824"/>
            </a:avLst>
          </a:prstGeom>
          <a:solidFill>
            <a:srgbClr val="0000FF"/>
          </a:solidFill>
          <a:ln w="12700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Relational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Database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1563620" y="3440752"/>
            <a:ext cx="1947333" cy="381000"/>
          </a:xfrm>
          <a:prstGeom prst="wedgeRoundRectCallout">
            <a:avLst>
              <a:gd name="adj1" fmla="val 25903"/>
              <a:gd name="adj2" fmla="val -159722"/>
              <a:gd name="adj3" fmla="val 16667"/>
            </a:avLst>
          </a:prstGeom>
          <a:solidFill>
            <a:srgbClr val="0000FF"/>
          </a:solidFill>
          <a:ln w="12700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4795396" y="3440752"/>
            <a:ext cx="3505200" cy="381000"/>
          </a:xfrm>
          <a:prstGeom prst="wedgeRoundRectCallout">
            <a:avLst>
              <a:gd name="adj1" fmla="val -35148"/>
              <a:gd name="adj2" fmla="val -159954"/>
              <a:gd name="adj3" fmla="val 16667"/>
            </a:avLst>
          </a:prstGeom>
          <a:solidFill>
            <a:srgbClr val="0000FF"/>
          </a:solidFill>
          <a:ln w="12700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Relational Database Schema</a:t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6899784" y="1904052"/>
            <a:ext cx="1622778" cy="999067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Relational </a:t>
            </a:r>
            <a:br>
              <a:rPr lang="en-US" sz="18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DBMS</a:t>
            </a:r>
            <a:endParaRPr/>
          </a:p>
        </p:txBody>
      </p:sp>
      <p:sp>
        <p:nvSpPr>
          <p:cNvPr id="216" name="Google Shape;216;p4"/>
          <p:cNvSpPr txBox="1"/>
          <p:nvPr/>
        </p:nvSpPr>
        <p:spPr>
          <a:xfrm>
            <a:off x="894542" y="4089779"/>
            <a:ext cx="664957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4.1: The database modeling and implementation process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489762" y="4411176"/>
            <a:ext cx="8088198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Studied: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 diagram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Relational model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 ERD 🡪 Relational model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Now: we learn how to set up a relational database on DBMS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REVIEW – Entity Relationship Diagram</a:t>
            </a:r>
            <a:endParaRPr/>
          </a:p>
        </p:txBody>
      </p:sp>
      <p:pic>
        <p:nvPicPr>
          <p:cNvPr id="223" name="Google Shape;22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112838"/>
            <a:ext cx="8686800" cy="572293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5"/>
          <p:cNvSpPr txBox="1"/>
          <p:nvPr/>
        </p:nvSpPr>
        <p:spPr>
          <a:xfrm>
            <a:off x="810705" y="5288437"/>
            <a:ext cx="331823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COMPANY Database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226" name="Google Shape;226;p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Integrity constraints</a:t>
            </a:r>
            <a:br>
              <a:rPr lang="en-US" sz="3240"/>
            </a:br>
            <a:endParaRPr sz="3240"/>
          </a:p>
        </p:txBody>
      </p:sp>
      <p:sp>
        <p:nvSpPr>
          <p:cNvPr id="232" name="Google Shape;232;p6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 Purpose: prevent </a:t>
            </a:r>
            <a:r>
              <a:rPr lang="en-US" u="sng"/>
              <a:t>semantic</a:t>
            </a:r>
            <a:r>
              <a:rPr lang="en-US"/>
              <a:t> inconsistencies in data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 Kinds of integrity constraints: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1. Key Constraints (1 table): Primary key, Candidate key (Unique)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2. Attribute Constraints (1 table): NULL/NOT NULL; CHECK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3. Referential Integrity Constraints (2 tables): FOREIGN KEY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4. Global Constraints (n tables): CHECK or CREATE ASSERTION (self studying)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endParaRPr sz="2400" i="1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i="1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will implement these constraints by SQL</a:t>
            </a:r>
            <a:endParaRPr i="1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" lvl="0" indent="0" algn="l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Noto Sans Symbols"/>
              <a:buNone/>
            </a:pPr>
            <a:endParaRPr/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233" name="Google Shape;233;p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234" name="Google Shape;234;p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409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20"/>
              <a:buFont typeface="Noto Sans Symbols"/>
              <a:buChar char="▪"/>
            </a:pPr>
            <a:r>
              <a:rPr lang="en-US" sz="2220" dirty="0"/>
              <a:t>SQL (sequel) is a database language designed for managing data in relational database management systems, and originally based upon relational algebra.</a:t>
            </a:r>
            <a:endParaRPr dirty="0"/>
          </a:p>
          <a:p>
            <a:pPr marL="91440" lvl="0" indent="-14097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220"/>
              <a:buFont typeface="Noto Sans Symbols"/>
              <a:buChar char="▪"/>
            </a:pPr>
            <a:r>
              <a:rPr lang="en-US" sz="2220" dirty="0"/>
              <a:t>There are many different dialects of SQL</a:t>
            </a:r>
            <a:endParaRPr dirty="0"/>
          </a:p>
          <a:p>
            <a:pPr marL="384048" lvl="1" indent="-182879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76"/>
              <a:buFont typeface="Noto Sans Symbols"/>
              <a:buChar char="▪"/>
            </a:pPr>
            <a:r>
              <a:rPr lang="en-US" sz="2220" dirty="0"/>
              <a:t>Ansi SQL (or SQL-86), SQL-92, SQL-99</a:t>
            </a:r>
            <a:endParaRPr dirty="0"/>
          </a:p>
          <a:p>
            <a:pPr marL="384048" lvl="1" indent="-18287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76"/>
              <a:buFont typeface="Noto Sans Symbols"/>
              <a:buChar char="▪"/>
            </a:pPr>
            <a:r>
              <a:rPr lang="en-US" sz="2220" dirty="0"/>
              <a:t>SQL:2003, SQL:2006, SQL:2008, SQL:2009</a:t>
            </a:r>
            <a:endParaRPr dirty="0"/>
          </a:p>
          <a:p>
            <a:pPr marL="91440" lvl="0" indent="-14097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20"/>
              <a:buFont typeface="Noto Sans Symbols"/>
              <a:buChar char="▪"/>
            </a:pPr>
            <a:r>
              <a:rPr lang="en-US" sz="2220" b="1" dirty="0"/>
              <a:t>Transact-SQL</a:t>
            </a:r>
            <a:r>
              <a:rPr lang="en-US" sz="2220" dirty="0"/>
              <a:t> (</a:t>
            </a:r>
            <a:r>
              <a:rPr lang="en-US" sz="2220" b="1" dirty="0"/>
              <a:t>T-SQL</a:t>
            </a:r>
            <a:r>
              <a:rPr lang="en-US" sz="2220" dirty="0"/>
              <a:t>) is Microsoft's and Sybase's proprietary extension to SQL.</a:t>
            </a:r>
            <a:endParaRPr dirty="0"/>
          </a:p>
          <a:p>
            <a:pPr marL="91440" lvl="0" indent="-14097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220"/>
              <a:buFont typeface="Noto Sans Symbols"/>
              <a:buChar char="▪"/>
            </a:pPr>
            <a:r>
              <a:rPr lang="en-US" sz="2220" b="1" dirty="0"/>
              <a:t>PL/SQL</a:t>
            </a:r>
            <a:r>
              <a:rPr lang="en-US" sz="2220" dirty="0"/>
              <a:t> (</a:t>
            </a:r>
            <a:r>
              <a:rPr lang="en-US" sz="2220" b="1" dirty="0"/>
              <a:t>Procedural Language/Structured Query Language</a:t>
            </a:r>
            <a:r>
              <a:rPr lang="en-US" sz="2220" dirty="0"/>
              <a:t>) is Oracle Corporation's procedural extension for SQL and the Oracle relational database. </a:t>
            </a:r>
            <a:endParaRPr dirty="0"/>
          </a:p>
          <a:p>
            <a:pPr marL="91440" lvl="0" indent="-14097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220"/>
              <a:buFont typeface="Noto Sans Symbols"/>
              <a:buChar char="▪"/>
            </a:pPr>
            <a:r>
              <a:rPr lang="en-US" sz="2220" dirty="0"/>
              <a:t>Today, SQL is accepted as the standard RDBMS language</a:t>
            </a:r>
            <a:endParaRPr dirty="0"/>
          </a:p>
        </p:txBody>
      </p:sp>
      <p:sp>
        <p:nvSpPr>
          <p:cNvPr id="318" name="Google Shape;318;p15"/>
          <p:cNvSpPr txBox="1">
            <a:spLocks noGrp="1"/>
          </p:cNvSpPr>
          <p:nvPr>
            <p:ph type="title"/>
          </p:nvPr>
        </p:nvSpPr>
        <p:spPr>
          <a:xfrm>
            <a:off x="585924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SQL Overview</a:t>
            </a:r>
            <a:endParaRPr/>
          </a:p>
        </p:txBody>
      </p:sp>
      <p:sp>
        <p:nvSpPr>
          <p:cNvPr id="319" name="Google Shape;319;p1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320" name="Google Shape;320;p1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 Data Definition Language - CREATE</a:t>
            </a:r>
            <a:endParaRPr/>
          </a:p>
        </p:txBody>
      </p:sp>
      <p:sp>
        <p:nvSpPr>
          <p:cNvPr id="326" name="Google Shape;326;p16"/>
          <p:cNvSpPr txBox="1">
            <a:spLocks noGrp="1"/>
          </p:cNvSpPr>
          <p:nvPr>
            <p:ph type="body" idx="1"/>
          </p:nvPr>
        </p:nvSpPr>
        <p:spPr>
          <a:xfrm>
            <a:off x="348792" y="1197204"/>
            <a:ext cx="8493550" cy="513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113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380"/>
              <a:buFont typeface="Noto Sans Symbols"/>
              <a:buChar char="▪"/>
            </a:pPr>
            <a:r>
              <a:rPr lang="en-US" sz="2380"/>
              <a:t> Database schema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380"/>
              <a:buNone/>
            </a:pPr>
            <a:r>
              <a:rPr lang="en-US" sz="2380"/>
              <a:t>  Simple syntax: </a:t>
            </a:r>
            <a:r>
              <a:rPr lang="en-US" sz="255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CREATE DATABASE </a:t>
            </a:r>
            <a:r>
              <a:rPr lang="en-US" sz="2380"/>
              <a:t>dbname</a:t>
            </a:r>
            <a:endParaRPr sz="2380"/>
          </a:p>
          <a:p>
            <a:pPr marL="0" lvl="0" indent="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380"/>
              <a:buNone/>
            </a:pPr>
            <a:r>
              <a:rPr lang="en-US" sz="2380"/>
              <a:t>  Full syntax: </a:t>
            </a:r>
            <a:r>
              <a:rPr lang="en-US" sz="2550" b="1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https://docs.microsoft.com/en-us/sql/database</a:t>
            </a:r>
            <a:endParaRPr sz="255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5113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380"/>
              <a:buFont typeface="Noto Sans Symbols"/>
              <a:buChar char="▪"/>
            </a:pPr>
            <a:r>
              <a:rPr lang="en-US" sz="2380"/>
              <a:t> Relation schema ~ table</a:t>
            </a:r>
            <a:endParaRPr/>
          </a:p>
          <a:p>
            <a:pPr marL="201168" lvl="1" indent="0" algn="l" rtl="0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SzPts val="2380"/>
              <a:buNone/>
            </a:pPr>
            <a:r>
              <a:rPr lang="en-US" sz="2380"/>
              <a:t>	</a:t>
            </a:r>
            <a:endParaRPr/>
          </a:p>
          <a:p>
            <a:pPr marL="201168" lvl="1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635"/>
              <a:buNone/>
            </a:pPr>
            <a:r>
              <a:rPr lang="en-US" sz="2635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CREATE TABLE </a:t>
            </a:r>
            <a:r>
              <a:rPr lang="en-US" sz="2380"/>
              <a:t>tableName</a:t>
            </a:r>
            <a:endParaRPr sz="2380"/>
          </a:p>
          <a:p>
            <a:pPr marL="201168" lvl="1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380"/>
              <a:buNone/>
            </a:pPr>
            <a:r>
              <a:rPr lang="en-US" sz="2380"/>
              <a:t>    (</a:t>
            </a:r>
            <a:endParaRPr/>
          </a:p>
          <a:p>
            <a:pPr marL="201168" lvl="1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380"/>
              <a:buNone/>
            </a:pPr>
            <a:r>
              <a:rPr lang="en-US" sz="2380"/>
              <a:t>      fieldname1 datatype [</a:t>
            </a:r>
            <a:r>
              <a:rPr lang="en-US" sz="2380" i="1"/>
              <a:t>integrity_constrain</a:t>
            </a:r>
            <a:r>
              <a:rPr lang="en-US" sz="2380"/>
              <a:t>ts],</a:t>
            </a:r>
            <a:endParaRPr/>
          </a:p>
          <a:p>
            <a:pPr marL="201168" lvl="1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380"/>
              <a:buNone/>
            </a:pPr>
            <a:r>
              <a:rPr lang="en-US" sz="2380"/>
              <a:t>      fieldname2 datatype [</a:t>
            </a:r>
            <a:r>
              <a:rPr lang="en-US" sz="2380" i="1"/>
              <a:t>integrity_constrain</a:t>
            </a:r>
            <a:r>
              <a:rPr lang="en-US" sz="2380"/>
              <a:t>ts],</a:t>
            </a:r>
            <a:endParaRPr/>
          </a:p>
          <a:p>
            <a:pPr marL="201168" lvl="1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380"/>
              <a:buNone/>
            </a:pPr>
            <a:r>
              <a:rPr lang="en-US" sz="2380"/>
              <a:t>      ….</a:t>
            </a:r>
            <a:endParaRPr/>
          </a:p>
          <a:p>
            <a:pPr marL="201168" lvl="1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380"/>
              <a:buNone/>
            </a:pPr>
            <a:r>
              <a:rPr lang="en-US" sz="2380"/>
              <a:t>    )</a:t>
            </a:r>
            <a:endParaRPr/>
          </a:p>
          <a:p>
            <a:pPr marL="201168" lvl="1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380"/>
              <a:buNone/>
            </a:pPr>
            <a:endParaRPr sz="2380"/>
          </a:p>
          <a:p>
            <a:pPr marL="201168" lvl="1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2380"/>
              <a:buNone/>
            </a:pPr>
            <a:r>
              <a:rPr lang="en-US" sz="2380"/>
              <a:t>Full syntax: </a:t>
            </a:r>
            <a:r>
              <a:rPr lang="en-US" sz="2635" b="1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https://docs.microsoft.com/en-us/sql/table</a:t>
            </a:r>
            <a:endParaRPr sz="2635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328" name="Google Shape;328;p1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1E32E5A7-6F66-F639-D39D-39D8EA2E3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kiểu</a:t>
            </a:r>
            <a:r>
              <a:rPr lang="en-US" altLang="en-US" dirty="0"/>
              <a:t> </a:t>
            </a:r>
            <a:r>
              <a:rPr lang="en-US" altLang="en-US" dirty="0" err="1"/>
              <a:t>dữ</a:t>
            </a:r>
            <a:r>
              <a:rPr lang="en-US" altLang="en-US" dirty="0"/>
              <a:t> </a:t>
            </a:r>
            <a:r>
              <a:rPr lang="en-US" altLang="en-US" dirty="0" err="1"/>
              <a:t>liệu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SQL SERVER</a:t>
            </a: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1D214A58-3FBE-B468-8AC9-B2F167028B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8B65FA-7EF5-434E-9513-02B870F42252}" type="slidenum">
              <a:rPr lang="en-US" altLang="en-US" sz="1200" smtClean="0">
                <a:solidFill>
                  <a:srgbClr val="898989"/>
                </a:solidFill>
                <a:latin typeface="Arial Unicode MS" pitchFamily="34" charset="-128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  <a:latin typeface="Arial Unicode MS" pitchFamily="34" charset="-128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616C8-3E78-023A-BBBA-B9E82EA32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463550" indent="-463550">
              <a:buFontTx/>
              <a:buAutoNum type="arabicPeriod"/>
              <a:defRPr/>
            </a:pPr>
            <a:r>
              <a:rPr lang="en-US" sz="2800" dirty="0">
                <a:solidFill>
                  <a:schemeClr val="tx1"/>
                </a:solidFill>
                <a:latin typeface="+mn-lt"/>
              </a:rPr>
              <a:t>INT or INTEGER.</a:t>
            </a:r>
          </a:p>
          <a:p>
            <a:pPr marL="463550" indent="-463550">
              <a:buFontTx/>
              <a:buAutoNum type="arabicPeriod"/>
              <a:defRPr/>
            </a:pPr>
            <a:r>
              <a:rPr lang="en-US" sz="2800" dirty="0">
                <a:solidFill>
                  <a:schemeClr val="tx1"/>
                </a:solidFill>
                <a:latin typeface="+mn-lt"/>
              </a:rPr>
              <a:t>REAL or FLOAT.</a:t>
            </a:r>
          </a:p>
          <a:p>
            <a:pPr marL="463550" indent="-463550">
              <a:buFontTx/>
              <a:buAutoNum type="arabicPeriod"/>
              <a:defRPr/>
            </a:pPr>
            <a:r>
              <a:rPr lang="en-US" sz="2800" dirty="0">
                <a:solidFill>
                  <a:schemeClr val="tx1"/>
                </a:solidFill>
                <a:latin typeface="+mn-lt"/>
              </a:rPr>
              <a:t>CHAR(</a:t>
            </a:r>
            <a:r>
              <a:rPr lang="en-US" sz="2800" i="1" dirty="0">
                <a:solidFill>
                  <a:schemeClr val="tx1"/>
                </a:solidFill>
                <a:latin typeface="+mn-lt"/>
              </a:rPr>
              <a:t>n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) =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chuỗi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ký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tự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có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độ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dài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cố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định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463550" indent="-463550">
              <a:buFontTx/>
              <a:buAutoNum type="arabicPeriod"/>
              <a:defRPr/>
            </a:pPr>
            <a:r>
              <a:rPr lang="en-US" sz="2800" dirty="0">
                <a:solidFill>
                  <a:schemeClr val="tx1"/>
                </a:solidFill>
                <a:latin typeface="+mn-lt"/>
              </a:rPr>
              <a:t>VARCHAR(</a:t>
            </a:r>
            <a:r>
              <a:rPr lang="en-US" sz="2800" i="1" dirty="0">
                <a:solidFill>
                  <a:schemeClr val="tx1"/>
                </a:solidFill>
                <a:latin typeface="+mn-lt"/>
              </a:rPr>
              <a:t>n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) =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chuỗi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ký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tự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có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độ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dài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thay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đổi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và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có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tối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đa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i="1" dirty="0">
                <a:solidFill>
                  <a:schemeClr val="tx1"/>
                </a:solidFill>
                <a:latin typeface="+mn-lt"/>
              </a:rPr>
              <a:t>n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ký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tự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463550" indent="-463550">
              <a:lnSpc>
                <a:spcPct val="90000"/>
              </a:lnSpc>
              <a:buFont typeface="Times" charset="0"/>
              <a:buAutoNum type="arabicPeriod" startAt="5"/>
              <a:defRPr/>
            </a:pPr>
            <a:r>
              <a:rPr lang="en-US" sz="2800" dirty="0">
                <a:solidFill>
                  <a:schemeClr val="tx1"/>
                </a:solidFill>
                <a:latin typeface="+mn-lt"/>
              </a:rPr>
              <a:t>NUMERIC(</a:t>
            </a:r>
            <a:r>
              <a:rPr lang="en-US" sz="2800" i="1" dirty="0">
                <a:solidFill>
                  <a:schemeClr val="tx1"/>
                </a:solidFill>
                <a:latin typeface="+mn-lt"/>
              </a:rPr>
              <a:t>precision, decimal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) =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kiểu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số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với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độ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dài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i="1" dirty="0">
                <a:solidFill>
                  <a:schemeClr val="tx1"/>
                </a:solidFill>
                <a:latin typeface="+mn-lt"/>
              </a:rPr>
              <a:t>precision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số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và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độ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chính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xác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“</a:t>
            </a:r>
            <a:r>
              <a:rPr lang="en-US" sz="2800" i="1" dirty="0">
                <a:solidFill>
                  <a:schemeClr val="tx1"/>
                </a:solidFill>
                <a:latin typeface="+mn-lt"/>
              </a:rPr>
              <a:t>decimal”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đơn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vị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sau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dấu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phẩy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. NUMERIC(10,2)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có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thể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chứa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số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lớn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đến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±99,999,999.99</a:t>
            </a:r>
          </a:p>
          <a:p>
            <a:pPr marL="463550" indent="-463550">
              <a:lnSpc>
                <a:spcPct val="90000"/>
              </a:lnSpc>
              <a:buFont typeface="Times" charset="0"/>
              <a:buAutoNum type="arabicPeriod" startAt="5"/>
              <a:defRPr/>
            </a:pPr>
            <a:r>
              <a:rPr lang="en-US" sz="2800" dirty="0">
                <a:solidFill>
                  <a:schemeClr val="tx1"/>
                </a:solidFill>
                <a:latin typeface="+mn-lt"/>
              </a:rPr>
              <a:t>DATE =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ngày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tháng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. SQL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có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định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dạng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'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yyyy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-mm-dd'</a:t>
            </a:r>
          </a:p>
          <a:p>
            <a:pPr marL="463550" indent="-463550">
              <a:lnSpc>
                <a:spcPct val="90000"/>
              </a:lnSpc>
              <a:buFont typeface="Times" charset="0"/>
              <a:buAutoNum type="arabicPeriod" startAt="5"/>
              <a:defRPr/>
            </a:pPr>
            <a:r>
              <a:rPr lang="en-US" sz="2800" dirty="0">
                <a:solidFill>
                  <a:schemeClr val="tx1"/>
                </a:solidFill>
                <a:latin typeface="+mn-lt"/>
              </a:rPr>
              <a:t>TIME =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thời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gian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. SQL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có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định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dạng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'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hh:mm:ss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[.ss…]'.</a:t>
            </a:r>
          </a:p>
          <a:p>
            <a:pPr marL="463550" indent="-463550">
              <a:lnSpc>
                <a:spcPct val="90000"/>
              </a:lnSpc>
              <a:buFont typeface="Times" charset="0"/>
              <a:buAutoNum type="arabicPeriod" startAt="5"/>
              <a:defRPr/>
            </a:pPr>
            <a:r>
              <a:rPr lang="en-US" sz="2800" dirty="0">
                <a:solidFill>
                  <a:schemeClr val="tx1"/>
                </a:solidFill>
                <a:latin typeface="+mn-lt"/>
              </a:rPr>
              <a:t>DATETIME or TIMESTAMP. SQL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có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định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dạng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TIMESTAMP '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yyyy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-mm-dd </a:t>
            </a:r>
            <a:r>
              <a:rPr lang="en-US" sz="2800" dirty="0" err="1">
                <a:solidFill>
                  <a:schemeClr val="tx1"/>
                </a:solidFill>
                <a:latin typeface="+mn-lt"/>
              </a:rPr>
              <a:t>hh:mm:ss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[.ss…]'.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FCE2C2-E72A-FA6A-89E3-9200E7F88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Data Definition Language - Demo</a:t>
            </a:r>
            <a:endParaRPr/>
          </a:p>
        </p:txBody>
      </p:sp>
      <p:sp>
        <p:nvSpPr>
          <p:cNvPr id="334" name="Google Shape;334;p17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8124443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335" name="Google Shape;335;p1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336" name="Google Shape;336;p1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337" name="Google Shape;33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924" y="2999783"/>
            <a:ext cx="8453199" cy="2630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0793" y="1282523"/>
            <a:ext cx="535305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36EC-E2CD-9E99-4B4A-291041A4F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D7DA4-8844-5991-267E-7278F94AB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Diagram in SSMS </a:t>
            </a:r>
          </a:p>
          <a:p>
            <a:r>
              <a:rPr lang="en-US" dirty="0"/>
              <a:t>-Baitap_Slot1_2_3-4_DLL_SentToStudent</a:t>
            </a:r>
          </a:p>
          <a:p>
            <a:r>
              <a:rPr lang="en-US" dirty="0"/>
              <a:t>-Bài1_Contrain_Student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C3FFB-8CB1-A972-49A8-56A7DDA8BF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F341B-C488-6D59-023E-02BA707811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927704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"/>
          <p:cNvSpPr txBox="1">
            <a:spLocks noGrp="1"/>
          </p:cNvSpPr>
          <p:nvPr>
            <p:ph type="title"/>
          </p:nvPr>
        </p:nvSpPr>
        <p:spPr>
          <a:xfrm>
            <a:off x="603681" y="481431"/>
            <a:ext cx="816324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Data Definition Language – ALTER, DROP</a:t>
            </a:r>
            <a:endParaRPr sz="3240"/>
          </a:p>
        </p:txBody>
      </p:sp>
      <p:sp>
        <p:nvSpPr>
          <p:cNvPr id="344" name="Google Shape;344;p18"/>
          <p:cNvSpPr txBox="1">
            <a:spLocks noGrp="1"/>
          </p:cNvSpPr>
          <p:nvPr>
            <p:ph type="body" idx="1"/>
          </p:nvPr>
        </p:nvSpPr>
        <p:spPr>
          <a:xfrm>
            <a:off x="621438" y="1127464"/>
            <a:ext cx="7936637" cy="524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 dirty="0"/>
              <a:t> Used to modify the structure of table, database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920"/>
              <a:buFont typeface="Noto Sans Symbols"/>
              <a:buChar char="▪"/>
            </a:pPr>
            <a:r>
              <a:rPr lang="en-US" sz="2400" dirty="0"/>
              <a:t>Add more columns</a:t>
            </a:r>
            <a:endParaRPr dirty="0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ALTER TABLE </a:t>
            </a:r>
            <a:r>
              <a:rPr lang="en-US" sz="2400" dirty="0" err="1"/>
              <a:t>tableName</a:t>
            </a:r>
            <a:endParaRPr sz="2400" dirty="0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r>
              <a:rPr lang="en-US" sz="2400" dirty="0"/>
              <a:t> </a:t>
            </a:r>
            <a:r>
              <a:rPr lang="en-US" sz="2400" dirty="0" err="1"/>
              <a:t>columnName</a:t>
            </a:r>
            <a:r>
              <a:rPr lang="en-US" sz="2400" dirty="0"/>
              <a:t> datatype [constraint]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Font typeface="Noto Sans Symbols"/>
              <a:buChar char="▪"/>
            </a:pPr>
            <a:r>
              <a:rPr lang="en-US" sz="2400" dirty="0"/>
              <a:t>Remove columns</a:t>
            </a:r>
            <a:endParaRPr dirty="0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ALTER TABLE </a:t>
            </a:r>
            <a:r>
              <a:rPr lang="en-US" sz="2400" dirty="0" err="1"/>
              <a:t>tableName</a:t>
            </a:r>
            <a:endParaRPr sz="2400" dirty="0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DROP  column</a:t>
            </a:r>
            <a:r>
              <a:rPr lang="en-US" sz="2400" dirty="0"/>
              <a:t> </a:t>
            </a:r>
            <a:r>
              <a:rPr lang="en-US" sz="2400" dirty="0" err="1"/>
              <a:t>columnName</a:t>
            </a:r>
            <a:r>
              <a:rPr lang="en-US" sz="2400" dirty="0"/>
              <a:t> </a:t>
            </a:r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sz="2400" dirty="0"/>
              <a:t>Modify data type</a:t>
            </a:r>
            <a:endParaRPr dirty="0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ALTER TABLE </a:t>
            </a:r>
            <a:r>
              <a:rPr lang="en-US" sz="2400" dirty="0" err="1"/>
              <a:t>tableName</a:t>
            </a:r>
            <a:endParaRPr sz="2400" dirty="0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ALTER </a:t>
            </a:r>
            <a:r>
              <a:rPr lang="en-US" b="1" dirty="0" err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coulumn</a:t>
            </a:r>
            <a:r>
              <a:rPr lang="en-US" sz="2400" dirty="0"/>
              <a:t> </a:t>
            </a:r>
            <a:r>
              <a:rPr lang="en-US" sz="2400" dirty="0" err="1"/>
              <a:t>columnName</a:t>
            </a:r>
            <a:r>
              <a:rPr lang="en-US" sz="2400" dirty="0"/>
              <a:t> datatype [constraint]</a:t>
            </a:r>
            <a:endParaRPr dirty="0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endParaRPr sz="2400" dirty="0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sp>
        <p:nvSpPr>
          <p:cNvPr id="345" name="Google Shape;345;p1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346" name="Google Shape;346;p1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xfrm>
            <a:off x="811438" y="299833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Data Definition Language– ALTER, DROP</a:t>
            </a:r>
            <a:endParaRPr sz="3240"/>
          </a:p>
        </p:txBody>
      </p:sp>
      <p:sp>
        <p:nvSpPr>
          <p:cNvPr id="352" name="Google Shape;352;p19"/>
          <p:cNvSpPr txBox="1">
            <a:spLocks noGrp="1"/>
          </p:cNvSpPr>
          <p:nvPr>
            <p:ph type="body" idx="1"/>
          </p:nvPr>
        </p:nvSpPr>
        <p:spPr>
          <a:xfrm>
            <a:off x="585925" y="1337094"/>
            <a:ext cx="8162150" cy="523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4224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2240"/>
              <a:buFont typeface="Noto Sans Symbols"/>
              <a:buChar char="▪"/>
            </a:pPr>
            <a:r>
              <a:rPr lang="en-US" b="1" dirty="0"/>
              <a:t>Add/remove constraints</a:t>
            </a:r>
            <a:endParaRPr dirty="0"/>
          </a:p>
          <a:p>
            <a:pPr marL="91440" lvl="0" indent="-17780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ALTER TABLE</a:t>
            </a:r>
            <a:r>
              <a:rPr lang="en-US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tablename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91440" lvl="0" indent="-17780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r>
              <a:rPr lang="en-US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CONSTRAINT</a:t>
            </a:r>
            <a:r>
              <a:rPr lang="en-US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constraintName</a:t>
            </a:r>
            <a:r>
              <a:rPr lang="en-US" sz="2400" b="1" dirty="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PRIMARY</a:t>
            </a:r>
            <a:r>
              <a:rPr lang="en-US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endParaRPr dirty="0"/>
          </a:p>
          <a:p>
            <a:pPr marL="91440" lvl="0" indent="-15240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 b="1" dirty="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(&lt;</a:t>
            </a: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attribute list</a:t>
            </a:r>
            <a:r>
              <a:rPr lang="en-US" sz="2400" b="1" dirty="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&gt;);</a:t>
            </a:r>
            <a:endParaRPr dirty="0"/>
          </a:p>
          <a:p>
            <a:pPr marL="9144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endParaRPr sz="2400" b="1" dirty="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52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Char char=" "/>
            </a:pPr>
            <a:r>
              <a:rPr lang="en-US" sz="2400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ALTER TABLE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tablename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ADD CONSTRAINT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constraintName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FOREIGN KEY </a:t>
            </a:r>
            <a:r>
              <a:rPr lang="en-US" sz="1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(&lt;attribute list&gt;)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 b="1" dirty="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parentTableName</a:t>
            </a:r>
            <a:r>
              <a:rPr lang="en-US" sz="18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(&lt;</a:t>
            </a:r>
            <a:r>
              <a:rPr lang="en-US" sz="1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attribute list</a:t>
            </a:r>
            <a:r>
              <a:rPr lang="en-US" sz="1800" b="1" dirty="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&gt;);</a:t>
            </a:r>
            <a:endParaRPr sz="1800" dirty="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 b="1" dirty="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52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Char char=" "/>
            </a:pPr>
            <a:r>
              <a:rPr lang="en-US" sz="2400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ALTER TABLE </a:t>
            </a:r>
            <a:r>
              <a:rPr lang="en-US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tablename</a:t>
            </a: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ADD CONSTRAINT</a:t>
            </a:r>
            <a:r>
              <a:rPr lang="en-US" b="1" dirty="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constraintName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expressionChecking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ALTER TABLE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tablename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DROP CONSTRAINT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constraintName</a:t>
            </a:r>
            <a:endParaRPr sz="2400" b="1" dirty="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0"/>
          <p:cNvSpPr txBox="1">
            <a:spLocks noGrp="1"/>
          </p:cNvSpPr>
          <p:nvPr>
            <p:ph type="title"/>
          </p:nvPr>
        </p:nvSpPr>
        <p:spPr>
          <a:xfrm>
            <a:off x="603681" y="529801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Data Definition Language– ALTER, DROP</a:t>
            </a:r>
            <a:endParaRPr sz="3240"/>
          </a:p>
        </p:txBody>
      </p:sp>
      <p:sp>
        <p:nvSpPr>
          <p:cNvPr id="360" name="Google Shape;360;p20"/>
          <p:cNvSpPr txBox="1">
            <a:spLocks noGrp="1"/>
          </p:cNvSpPr>
          <p:nvPr>
            <p:ph type="body" idx="1"/>
          </p:nvPr>
        </p:nvSpPr>
        <p:spPr>
          <a:xfrm>
            <a:off x="527901" y="1259050"/>
            <a:ext cx="8276734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 dirty="0"/>
              <a:t> </a:t>
            </a:r>
            <a:r>
              <a:rPr lang="en-US" sz="3200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DROP TABLE </a:t>
            </a:r>
            <a:r>
              <a:rPr lang="en-US" sz="3200" dirty="0" err="1"/>
              <a:t>tableName</a:t>
            </a:r>
            <a:endParaRPr sz="3200" dirty="0"/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DROP DATABASE </a:t>
            </a:r>
            <a:r>
              <a:rPr lang="en-US" sz="3200" dirty="0" err="1"/>
              <a:t>dbName</a:t>
            </a:r>
            <a:endParaRPr lang="vi-VN" sz="3200" dirty="0"/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endParaRPr sz="3200" dirty="0"/>
          </a:p>
        </p:txBody>
      </p:sp>
      <p:sp>
        <p:nvSpPr>
          <p:cNvPr id="361" name="Google Shape;361;p2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362" name="Google Shape;362;p2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1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 dirty="0"/>
              <a:t>Physical Diagram - </a:t>
            </a:r>
            <a:r>
              <a:rPr lang="en-US" dirty="0" err="1"/>
              <a:t>FUHCompany</a:t>
            </a:r>
            <a:endParaRPr dirty="0"/>
          </a:p>
        </p:txBody>
      </p:sp>
      <p:sp>
        <p:nvSpPr>
          <p:cNvPr id="368" name="Google Shape;368;p2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369" name="Google Shape;369;p2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2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Data Manipulation Language (DML)</a:t>
            </a:r>
            <a:endParaRPr/>
          </a:p>
        </p:txBody>
      </p:sp>
      <p:sp>
        <p:nvSpPr>
          <p:cNvPr id="376" name="Google Shape;376;p22"/>
          <p:cNvSpPr txBox="1">
            <a:spLocks noGrp="1"/>
          </p:cNvSpPr>
          <p:nvPr>
            <p:ph type="body" idx="1"/>
          </p:nvPr>
        </p:nvSpPr>
        <p:spPr>
          <a:xfrm>
            <a:off x="585924" y="1127465"/>
            <a:ext cx="8086736" cy="351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Key words: </a:t>
            </a: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INSERT, UPDATE, DELETE, SELECT</a:t>
            </a:r>
            <a:endParaRPr/>
          </a:p>
          <a:p>
            <a:pPr marL="91440" lvl="0" indent="-152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Char char=" "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INSERT INTO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tableName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400" b="0" i="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(&lt;</a:t>
            </a:r>
            <a:r>
              <a:rPr lang="en-US" sz="2400" b="0" i="0">
                <a:solidFill>
                  <a:srgbClr val="954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value</a:t>
            </a:r>
            <a:r>
              <a:rPr lang="en-US" sz="2400" b="0" i="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US" sz="2400" b="0" i="0">
                <a:solidFill>
                  <a:srgbClr val="40A0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r>
              <a:rPr lang="en-US" sz="2400" b="0" i="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&gt;, ... &lt;</a:t>
            </a:r>
            <a:r>
              <a:rPr lang="en-US" sz="2400" b="0" i="0">
                <a:solidFill>
                  <a:srgbClr val="954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value</a:t>
            </a:r>
            <a:r>
              <a:rPr lang="en-US" sz="2400" b="0" i="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n&gt;)</a:t>
            </a:r>
            <a:endParaRPr/>
          </a:p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INSERT INTO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tableName(&lt;listOfFields&gt;)</a:t>
            </a:r>
            <a:endParaRPr/>
          </a:p>
          <a:p>
            <a:pPr marL="9144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400" b="0" i="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(&lt;</a:t>
            </a:r>
            <a:r>
              <a:rPr lang="en-US" sz="2400" b="0" i="0">
                <a:solidFill>
                  <a:srgbClr val="954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value</a:t>
            </a:r>
            <a:r>
              <a:rPr lang="en-US" sz="2400" b="0" i="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US" sz="2400" b="0" i="0">
                <a:solidFill>
                  <a:srgbClr val="40A0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r>
              <a:rPr lang="en-US" sz="2400" b="0" i="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&gt;, ... &lt;</a:t>
            </a:r>
            <a:r>
              <a:rPr lang="en-US" sz="2400" b="0" i="0">
                <a:solidFill>
                  <a:srgbClr val="954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value</a:t>
            </a:r>
            <a:r>
              <a:rPr lang="en-US" sz="2400" b="0" i="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m&gt;)</a:t>
            </a:r>
            <a:endParaRPr/>
          </a:p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INSERT INTO </a:t>
            </a:r>
            <a:r>
              <a:rPr lang="en-US" sz="24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tableName</a:t>
            </a:r>
            <a:endParaRPr sz="2400" b="0" i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listOfFields </a:t>
            </a: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another_tableName</a:t>
            </a:r>
            <a:endParaRPr sz="2400" b="0" i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378" name="Google Shape;378;p2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379" name="Google Shape;37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7304" y="4481607"/>
            <a:ext cx="5865664" cy="183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Data Manipulation Language (DML)</a:t>
            </a:r>
            <a:endParaRPr/>
          </a:p>
        </p:txBody>
      </p:sp>
      <p:sp>
        <p:nvSpPr>
          <p:cNvPr id="385" name="Google Shape;385;p23"/>
          <p:cNvSpPr txBox="1">
            <a:spLocks noGrp="1"/>
          </p:cNvSpPr>
          <p:nvPr>
            <p:ph type="body" idx="1"/>
          </p:nvPr>
        </p:nvSpPr>
        <p:spPr>
          <a:xfrm>
            <a:off x="641755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r>
              <a:rPr lang="en-US"/>
              <a:t> tableName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r>
              <a:rPr lang="en-US"/>
              <a:t> columnName = newValue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/>
              <a:t> condition</a:t>
            </a: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Note: newValue could be a value/ an expression/ a SQL statement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386" name="Google Shape;386;p2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387" name="Google Shape;387;p2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88" name="Google Shape;388;p23"/>
          <p:cNvSpPr txBox="1"/>
          <p:nvPr/>
        </p:nvSpPr>
        <p:spPr>
          <a:xfrm>
            <a:off x="674617" y="3500547"/>
            <a:ext cx="7734746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marR="0" lvl="0" indent="-32004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◼"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-US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Update new salary and depNum for the employee named ‘Mai Duy An’</a:t>
            </a:r>
            <a:endParaRPr sz="2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6126" y="4825013"/>
            <a:ext cx="68580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4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Data Manipulation Language (DML)</a:t>
            </a:r>
            <a:endParaRPr/>
          </a:p>
        </p:txBody>
      </p:sp>
      <p:sp>
        <p:nvSpPr>
          <p:cNvPr id="395" name="Google Shape;395;p24"/>
          <p:cNvSpPr txBox="1">
            <a:spLocks noGrp="1"/>
          </p:cNvSpPr>
          <p:nvPr>
            <p:ph type="body" idx="1"/>
          </p:nvPr>
        </p:nvSpPr>
        <p:spPr>
          <a:xfrm>
            <a:off x="659877" y="1203013"/>
            <a:ext cx="8097624" cy="3500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20"/>
              <a:buNone/>
            </a:pPr>
            <a:r>
              <a:rPr lang="en-US" sz="2220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DELETE FROM </a:t>
            </a:r>
            <a:r>
              <a:rPr lang="en-US" sz="2220" dirty="0" err="1"/>
              <a:t>tableName</a:t>
            </a:r>
            <a:endParaRPr sz="222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20"/>
              <a:buNone/>
            </a:pPr>
            <a:r>
              <a:rPr lang="en-US" sz="2220" dirty="0"/>
              <a:t>[</a:t>
            </a:r>
            <a:r>
              <a:rPr lang="en-US" sz="2220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2220" dirty="0"/>
              <a:t> condition] 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220"/>
              <a:buNone/>
            </a:pPr>
            <a:r>
              <a:rPr lang="en-US" sz="2220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TRUNCATE TABLE </a:t>
            </a:r>
            <a:r>
              <a:rPr lang="en-US" sz="2220" dirty="0" err="1"/>
              <a:t>tableName</a:t>
            </a:r>
            <a:endParaRPr sz="2220" dirty="0"/>
          </a:p>
          <a:p>
            <a:pPr marL="91440" lvl="0" indent="-14097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220"/>
              <a:buFont typeface="Noto Sans Symbols"/>
              <a:buChar char="▪"/>
            </a:pPr>
            <a:r>
              <a:rPr lang="en-US" sz="2220" dirty="0"/>
              <a:t> </a:t>
            </a:r>
            <a:r>
              <a:rPr lang="en-US" sz="2220" i="1" dirty="0"/>
              <a:t>What is difference between DELETE and TRUNCATE?</a:t>
            </a:r>
            <a:endParaRPr dirty="0"/>
          </a:p>
          <a:p>
            <a:pPr marL="91440" lvl="0" indent="-14097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220"/>
              <a:buFont typeface="Noto Sans Symbols"/>
              <a:buChar char="▪"/>
            </a:pPr>
            <a:r>
              <a:rPr lang="en-US" sz="2220" i="1" dirty="0"/>
              <a:t> What should we do before implement </a:t>
            </a:r>
            <a:r>
              <a:rPr lang="en-US" sz="2220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r>
              <a:rPr lang="en-US" sz="2220" b="1" i="1" dirty="0">
                <a:solidFill>
                  <a:srgbClr val="0070C0"/>
                </a:solidFill>
              </a:rPr>
              <a:t> </a:t>
            </a:r>
            <a:r>
              <a:rPr lang="en-US" sz="2220" i="1" dirty="0">
                <a:solidFill>
                  <a:schemeClr val="dk1"/>
                </a:solidFill>
              </a:rPr>
              <a:t>or </a:t>
            </a:r>
            <a:r>
              <a:rPr lang="en-US" sz="2220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TRUNCATE</a:t>
            </a:r>
            <a:r>
              <a:rPr lang="en-US" sz="2220" i="1" dirty="0"/>
              <a:t>? (referential integrity constraint)</a:t>
            </a:r>
            <a:endParaRPr dirty="0"/>
          </a:p>
          <a:p>
            <a:pPr marL="91440" lvl="0" indent="-14097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220"/>
              <a:buFont typeface="Noto Sans Symbols"/>
              <a:buChar char="▪"/>
            </a:pPr>
            <a:r>
              <a:rPr lang="en-US" sz="2220" i="1" dirty="0"/>
              <a:t>Example:</a:t>
            </a:r>
            <a:endParaRPr dirty="0"/>
          </a:p>
          <a:p>
            <a:pPr marL="384048" lvl="1" indent="-18288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220"/>
              <a:buFont typeface="Noto Sans Symbols"/>
              <a:buChar char="▪"/>
            </a:pPr>
            <a:r>
              <a:rPr lang="en-US" sz="222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 a department named</a:t>
            </a:r>
            <a:r>
              <a:rPr lang="en-US" sz="222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‘</a:t>
            </a:r>
            <a:r>
              <a:rPr lang="en-US" sz="222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Phòng</a:t>
            </a:r>
            <a:r>
              <a:rPr lang="en-US" sz="222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2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Kế</a:t>
            </a:r>
            <a:r>
              <a:rPr lang="en-US" sz="222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2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Toán</a:t>
            </a:r>
            <a:r>
              <a:rPr lang="en-US" sz="222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endParaRPr sz="22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220"/>
              <a:buFont typeface="Noto Sans Symbols"/>
              <a:buChar char="▪"/>
            </a:pPr>
            <a:r>
              <a:rPr lang="en-US" sz="222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 a department which </a:t>
            </a:r>
            <a:r>
              <a:rPr lang="en-US" sz="222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depNum</a:t>
            </a:r>
            <a:r>
              <a:rPr lang="en-US" sz="222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7</a:t>
            </a:r>
            <a:endParaRPr dirty="0"/>
          </a:p>
          <a:p>
            <a:pPr marL="91440" lvl="0" indent="0" algn="l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220"/>
              <a:buNone/>
            </a:pPr>
            <a:endParaRPr sz="2220" dirty="0"/>
          </a:p>
        </p:txBody>
      </p:sp>
      <p:sp>
        <p:nvSpPr>
          <p:cNvPr id="396" name="Google Shape;396;p2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397" name="Google Shape;397;p2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98" name="Google Shape;39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9342" y="4444691"/>
            <a:ext cx="3962400" cy="1858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Two strings are equal (=) if they are the same sequence of characters</a:t>
            </a:r>
            <a:endParaRPr/>
          </a:p>
          <a:p>
            <a:pPr marL="91440" lvl="0" indent="-1778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Other comparisons: &lt;, &gt;, ≤, ≤, ≠</a:t>
            </a:r>
            <a:endParaRPr/>
          </a:p>
          <a:p>
            <a:pPr marL="91440" lvl="0" indent="-1778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Suppose a=a</a:t>
            </a:r>
            <a:r>
              <a:rPr lang="en-US" baseline="-25000"/>
              <a:t>1</a:t>
            </a:r>
            <a:r>
              <a:rPr lang="en-US"/>
              <a:t>a</a:t>
            </a:r>
            <a:r>
              <a:rPr lang="en-US" baseline="-25000"/>
              <a:t>2</a:t>
            </a:r>
            <a:r>
              <a:rPr lang="en-US"/>
              <a:t>…a</a:t>
            </a:r>
            <a:r>
              <a:rPr lang="en-US" baseline="-25000"/>
              <a:t>n</a:t>
            </a:r>
            <a:r>
              <a:rPr lang="en-US"/>
              <a:t> and b=b</a:t>
            </a:r>
            <a:r>
              <a:rPr lang="en-US" baseline="-25000"/>
              <a:t>1</a:t>
            </a:r>
            <a:r>
              <a:rPr lang="en-US"/>
              <a:t>b</a:t>
            </a:r>
            <a:r>
              <a:rPr lang="en-US" baseline="-25000"/>
              <a:t>2</a:t>
            </a:r>
            <a:r>
              <a:rPr lang="en-US"/>
              <a:t>…b</a:t>
            </a:r>
            <a:r>
              <a:rPr lang="en-US" baseline="-25000"/>
              <a:t>m</a:t>
            </a:r>
            <a:r>
              <a:rPr lang="en-US"/>
              <a:t> are two strings, the first is less than the second if ∃ k≤min(n,m):</a:t>
            </a:r>
            <a:endParaRPr/>
          </a:p>
          <a:p>
            <a:pPr marL="384048" lvl="1" indent="-18288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∀i, 1≤i≤k: a</a:t>
            </a:r>
            <a:r>
              <a:rPr lang="en-US" baseline="-25000"/>
              <a:t>i </a:t>
            </a:r>
            <a:r>
              <a:rPr lang="en-US"/>
              <a:t> = b</a:t>
            </a:r>
            <a:r>
              <a:rPr lang="en-US" baseline="-25000"/>
              <a:t>i</a:t>
            </a:r>
            <a:r>
              <a:rPr lang="en-US"/>
              <a:t>, and</a:t>
            </a:r>
            <a:endParaRPr/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a</a:t>
            </a:r>
            <a:r>
              <a:rPr lang="en-US" baseline="-25000"/>
              <a:t>k+1</a:t>
            </a:r>
            <a:r>
              <a:rPr lang="en-US"/>
              <a:t>&lt;b</a:t>
            </a:r>
            <a:r>
              <a:rPr lang="en-US" baseline="-25000"/>
              <a:t>k+1</a:t>
            </a:r>
            <a:endParaRPr/>
          </a:p>
          <a:p>
            <a:pPr marL="91440" lvl="0" indent="-177800" algn="l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Example</a:t>
            </a:r>
            <a:endParaRPr/>
          </a:p>
          <a:p>
            <a:pPr marL="384048" lvl="1" indent="-18288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b="1" i="1"/>
              <a:t>fo</a:t>
            </a:r>
            <a:r>
              <a:rPr lang="en-US" i="1">
                <a:solidFill>
                  <a:srgbClr val="FF0000"/>
                </a:solidFill>
              </a:rPr>
              <a:t>d</a:t>
            </a:r>
            <a:r>
              <a:rPr lang="en-US" i="1"/>
              <a:t>der</a:t>
            </a:r>
            <a:r>
              <a:rPr lang="en-US"/>
              <a:t> &lt; </a:t>
            </a:r>
            <a:r>
              <a:rPr lang="en-US" b="1" i="1"/>
              <a:t>fo</a:t>
            </a:r>
            <a:r>
              <a:rPr lang="en-US" i="1">
                <a:solidFill>
                  <a:srgbClr val="FF0000"/>
                </a:solidFill>
              </a:rPr>
              <a:t>o</a:t>
            </a:r>
            <a:endParaRPr i="1">
              <a:solidFill>
                <a:srgbClr val="FF0000"/>
              </a:solidFill>
            </a:endParaRPr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b="1" i="1"/>
              <a:t>bar</a:t>
            </a:r>
            <a:r>
              <a:rPr lang="en-US"/>
              <a:t> &lt; </a:t>
            </a:r>
            <a:r>
              <a:rPr lang="en-US" b="1" i="1"/>
              <a:t>bar</a:t>
            </a:r>
            <a:r>
              <a:rPr lang="en-US" i="1">
                <a:solidFill>
                  <a:srgbClr val="FF0000"/>
                </a:solidFill>
              </a:rPr>
              <a:t>g</a:t>
            </a:r>
            <a:r>
              <a:rPr lang="en-US" i="1"/>
              <a:t>ain</a:t>
            </a:r>
            <a:endParaRPr/>
          </a:p>
        </p:txBody>
      </p:sp>
      <p:sp>
        <p:nvSpPr>
          <p:cNvPr id="241" name="Google Shape;241;p7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Comparison of Strings</a:t>
            </a:r>
            <a:endParaRPr/>
          </a:p>
        </p:txBody>
      </p:sp>
      <p:sp>
        <p:nvSpPr>
          <p:cNvPr id="242" name="Google Shape;242;p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243" name="Google Shape;243;p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878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"/>
          <p:cNvSpPr txBox="1">
            <a:spLocks noGrp="1"/>
          </p:cNvSpPr>
          <p:nvPr>
            <p:ph type="body" idx="1"/>
          </p:nvPr>
        </p:nvSpPr>
        <p:spPr>
          <a:xfrm>
            <a:off x="585924" y="1291472"/>
            <a:ext cx="7936637" cy="490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Like or Not Like</a:t>
            </a: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Two special characters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 b="1" dirty="0">
                <a:solidFill>
                  <a:srgbClr val="FF0000"/>
                </a:solidFill>
              </a:rPr>
              <a:t>%</a:t>
            </a:r>
            <a:r>
              <a:rPr lang="en-US" dirty="0"/>
              <a:t> means any sequence of 0 or more characters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 b="1" dirty="0">
                <a:solidFill>
                  <a:srgbClr val="FF0000"/>
                </a:solidFill>
              </a:rPr>
              <a:t>_</a:t>
            </a:r>
            <a:r>
              <a:rPr lang="en-US" dirty="0"/>
              <a:t> means any one character</a:t>
            </a:r>
            <a:endParaRPr dirty="0"/>
          </a:p>
        </p:txBody>
      </p:sp>
      <p:sp>
        <p:nvSpPr>
          <p:cNvPr id="250" name="Google Shape;250;p8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Pattern Matching in SQL</a:t>
            </a:r>
            <a:endParaRPr/>
          </a:p>
        </p:txBody>
      </p:sp>
      <p:sp>
        <p:nvSpPr>
          <p:cNvPr id="251" name="Google Shape;251;p8"/>
          <p:cNvSpPr txBox="1"/>
          <p:nvPr/>
        </p:nvSpPr>
        <p:spPr>
          <a:xfrm>
            <a:off x="797073" y="1887697"/>
            <a:ext cx="2250937" cy="142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 LIKE p;</a:t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5384564" y="1887696"/>
            <a:ext cx="2858668" cy="142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 NOT LIKE p;</a:t>
            </a:r>
            <a:endParaRPr/>
          </a:p>
        </p:txBody>
      </p:sp>
      <p:sp>
        <p:nvSpPr>
          <p:cNvPr id="253" name="Google Shape;253;p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254" name="Google Shape;254;p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7171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Example 5.1: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Find all employees named as ‘Võ Việt Anh’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Example 5.2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Find all employees whose name is ended at ‘Anh’</a:t>
            </a:r>
            <a:endParaRPr/>
          </a:p>
        </p:txBody>
      </p:sp>
      <p:sp>
        <p:nvSpPr>
          <p:cNvPr id="261" name="Google Shape;261;p9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Pattern Matching in SQL</a:t>
            </a:r>
            <a:endParaRPr/>
          </a:p>
        </p:txBody>
      </p:sp>
      <p:pic>
        <p:nvPicPr>
          <p:cNvPr id="262" name="Google Shape;26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4114800"/>
            <a:ext cx="7086600" cy="923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5029199"/>
            <a:ext cx="7010400" cy="94339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265" name="Google Shape;265;p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283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USING ESCAPE keyword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SQL allows us to specify any one character we like as the escape character for a single pattern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Example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WHERE s LIKE ‘%20!%%’ ESCAPE !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Or WHERE s LIKE ‘%20@%%’ ESCAPE @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/>
              <a:t>🡺 Matching any s string contains the 20% string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WHERE s LIKE ‘x%%x%’ ESCAPE x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/>
              <a:t>🡺 Matching any s string that begins and ends with the character %</a:t>
            </a:r>
            <a:endParaRPr/>
          </a:p>
        </p:txBody>
      </p:sp>
      <p:sp>
        <p:nvSpPr>
          <p:cNvPr id="272" name="Google Shape;272;p10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Pattern Matching in SQL</a:t>
            </a:r>
            <a:endParaRPr/>
          </a:p>
        </p:txBody>
      </p:sp>
      <p:sp>
        <p:nvSpPr>
          <p:cNvPr id="273" name="Google Shape;273;p1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274" name="Google Shape;274;p1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5337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Dates and times are special data types in SQL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A </a:t>
            </a:r>
            <a:r>
              <a:rPr lang="en-US" i="1" dirty="0"/>
              <a:t>date</a:t>
            </a:r>
            <a:r>
              <a:rPr lang="en-US" dirty="0"/>
              <a:t> constant’s presentation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dirty="0">
                <a:solidFill>
                  <a:srgbClr val="FF0000"/>
                </a:solidFill>
              </a:rPr>
              <a:t>DATE</a:t>
            </a:r>
            <a:r>
              <a:rPr lang="en-US" dirty="0"/>
              <a:t> ‘1948-05-14’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A </a:t>
            </a:r>
            <a:r>
              <a:rPr lang="en-US" i="1" dirty="0"/>
              <a:t>time</a:t>
            </a:r>
            <a:r>
              <a:rPr lang="en-US" dirty="0"/>
              <a:t> constant’s presentation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dirty="0">
                <a:solidFill>
                  <a:srgbClr val="FF0000"/>
                </a:solidFill>
              </a:rPr>
              <a:t>TIME</a:t>
            </a:r>
            <a:r>
              <a:rPr lang="en-US" dirty="0"/>
              <a:t> ‘15:00:02.5’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A combination of dates and times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dirty="0">
                <a:solidFill>
                  <a:srgbClr val="FF0000"/>
                </a:solidFill>
              </a:rPr>
              <a:t>TIMESTAMP</a:t>
            </a:r>
            <a:r>
              <a:rPr lang="en-US" dirty="0"/>
              <a:t> ‘1948-05-14 12:00:00’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Operations on date and time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Arithmetic operations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Comparison operations</a:t>
            </a:r>
            <a:endParaRPr dirty="0"/>
          </a:p>
        </p:txBody>
      </p:sp>
      <p:sp>
        <p:nvSpPr>
          <p:cNvPr id="281" name="Google Shape;281;p11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Dates and Times</a:t>
            </a:r>
            <a:endParaRPr/>
          </a:p>
        </p:txBody>
      </p:sp>
      <p:sp>
        <p:nvSpPr>
          <p:cNvPr id="282" name="Google Shape;282;p1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283" name="Google Shape;283;p1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882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>
          <a:extLst>
            <a:ext uri="{FF2B5EF4-FFF2-40B4-BE49-F238E27FC236}">
              <a16:creationId xmlns:a16="http://schemas.microsoft.com/office/drawing/2014/main" id="{DCBDC197-140C-0A49-CB7F-F3C0727AD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">
            <a:extLst>
              <a:ext uri="{FF2B5EF4-FFF2-40B4-BE49-F238E27FC236}">
                <a16:creationId xmlns:a16="http://schemas.microsoft.com/office/drawing/2014/main" id="{20389845-AA93-DCE2-7949-EEF276E2B0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Null value: special value in SQL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Some interpretations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lang="en-US" sz="2200" i="1" dirty="0"/>
              <a:t>Value unknown</a:t>
            </a:r>
            <a:r>
              <a:rPr lang="en-US" sz="2200" dirty="0"/>
              <a:t>: there is, but I don’t know what it is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lang="en-US" sz="2200" i="1" dirty="0"/>
              <a:t>Value inapplicable</a:t>
            </a:r>
            <a:r>
              <a:rPr lang="en-US" sz="2200" dirty="0"/>
              <a:t>: there is no value that makes sense here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lang="en-US" sz="2200" i="1" dirty="0"/>
              <a:t>Value withheld</a:t>
            </a:r>
            <a:r>
              <a:rPr lang="en-US" sz="2200" dirty="0"/>
              <a:t>: we are not entitled to know the value that belongs here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Null is not a constant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Two rules for operating upon a NULL value in WHERE clause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 dirty="0"/>
              <a:t>Arithmetic operators on NULL values will return a NULL value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 dirty="0"/>
              <a:t>Comparisons with NULL values will return UNKNOWN</a:t>
            </a:r>
            <a:endParaRPr dirty="0"/>
          </a:p>
          <a:p>
            <a:pPr marL="384048" lvl="1" indent="-50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290" name="Google Shape;290;p12">
            <a:extLst>
              <a:ext uri="{FF2B5EF4-FFF2-40B4-BE49-F238E27FC236}">
                <a16:creationId xmlns:a16="http://schemas.microsoft.com/office/drawing/2014/main" id="{4CC8FC68-4071-58D0-673A-860635EC8F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Null Values</a:t>
            </a:r>
            <a:endParaRPr/>
          </a:p>
        </p:txBody>
      </p:sp>
      <p:sp>
        <p:nvSpPr>
          <p:cNvPr id="291" name="Google Shape;291;p12">
            <a:extLst>
              <a:ext uri="{FF2B5EF4-FFF2-40B4-BE49-F238E27FC236}">
                <a16:creationId xmlns:a16="http://schemas.microsoft.com/office/drawing/2014/main" id="{5829B627-C47D-3C65-2D84-627D8D71539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292" name="Google Shape;292;p12">
            <a:extLst>
              <a:ext uri="{FF2B5EF4-FFF2-40B4-BE49-F238E27FC236}">
                <a16:creationId xmlns:a16="http://schemas.microsoft.com/office/drawing/2014/main" id="{C1410024-0E2B-DDFB-E32F-0BEA38FA69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98938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5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Data Manipulation Language (DML)</a:t>
            </a:r>
            <a:endParaRPr/>
          </a:p>
        </p:txBody>
      </p:sp>
      <p:sp>
        <p:nvSpPr>
          <p:cNvPr id="404" name="Google Shape;404;p25"/>
          <p:cNvSpPr txBox="1">
            <a:spLocks noGrp="1"/>
          </p:cNvSpPr>
          <p:nvPr>
            <p:ph type="body" idx="1"/>
          </p:nvPr>
        </p:nvSpPr>
        <p:spPr>
          <a:xfrm>
            <a:off x="585924" y="1127465"/>
            <a:ext cx="7936637" cy="131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SQL Queries and Relational Algebra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405" name="Google Shape;405;p2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406" name="Google Shape;406;p2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07" name="Google Shape;407;p25"/>
          <p:cNvSpPr txBox="1"/>
          <p:nvPr/>
        </p:nvSpPr>
        <p:spPr>
          <a:xfrm>
            <a:off x="1219200" y="2425005"/>
            <a:ext cx="31242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408" name="Google Shape;408;p25"/>
          <p:cNvSpPr txBox="1"/>
          <p:nvPr/>
        </p:nvSpPr>
        <p:spPr>
          <a:xfrm>
            <a:off x="5857120" y="2753380"/>
            <a:ext cx="174759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r>
              <a:rPr lang="en-US" sz="2800" i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sz="2800" i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"/>
          <p:cNvSpPr txBox="1">
            <a:spLocks noGrp="1"/>
          </p:cNvSpPr>
          <p:nvPr>
            <p:ph type="body" idx="1"/>
          </p:nvPr>
        </p:nvSpPr>
        <p:spPr>
          <a:xfrm>
            <a:off x="533400" y="3476920"/>
            <a:ext cx="84582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1125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50"/>
              <a:buChar char=" "/>
            </a:pPr>
            <a:r>
              <a:rPr lang="en-US" sz="1750" dirty="0">
                <a:solidFill>
                  <a:srgbClr val="0000FF"/>
                </a:solidFill>
              </a:rPr>
              <a:t>SELECT</a:t>
            </a:r>
            <a:r>
              <a:rPr lang="en-US" sz="1750" dirty="0"/>
              <a:t> identifies </a:t>
            </a:r>
            <a:r>
              <a:rPr lang="en-US" sz="1750" i="1" dirty="0"/>
              <a:t>what </a:t>
            </a:r>
            <a:r>
              <a:rPr lang="en-US" sz="1750" dirty="0"/>
              <a:t>columns</a:t>
            </a:r>
            <a:endParaRPr dirty="0"/>
          </a:p>
          <a:p>
            <a:pPr marL="384048" lvl="1" indent="-182880" algn="l" rtl="0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SzPts val="1750"/>
              <a:buFont typeface="Noto Sans Symbols"/>
              <a:buChar char="▪"/>
            </a:pPr>
            <a:r>
              <a:rPr lang="en-US" sz="1750" dirty="0">
                <a:solidFill>
                  <a:srgbClr val="CC00CC"/>
                </a:solidFill>
              </a:rPr>
              <a:t>ALL</a:t>
            </a:r>
            <a:r>
              <a:rPr lang="en-US" sz="1750" dirty="0"/>
              <a:t>: Specifies that duplicate rows can appear in the result set. ALL is the default</a:t>
            </a:r>
            <a:endParaRPr dirty="0"/>
          </a:p>
          <a:p>
            <a:pPr marL="384048" lvl="1" indent="-18288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750"/>
              <a:buFont typeface="Noto Sans Symbols"/>
              <a:buChar char="▪"/>
            </a:pPr>
            <a:r>
              <a:rPr lang="en-US" sz="1750" dirty="0">
                <a:solidFill>
                  <a:srgbClr val="CC00CC"/>
                </a:solidFill>
              </a:rPr>
              <a:t>DISTINCT: </a:t>
            </a:r>
            <a:r>
              <a:rPr lang="en-US" sz="1750" dirty="0"/>
              <a:t>Specifies that only unique rows can appear in the result set. Null values are considered equal for the purposes of the DISTINCT keyword</a:t>
            </a:r>
            <a:endParaRPr dirty="0"/>
          </a:p>
          <a:p>
            <a:pPr marL="384048" lvl="1" indent="-18288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750"/>
              <a:buFont typeface="Noto Sans Symbols"/>
              <a:buChar char="▪"/>
            </a:pPr>
            <a:r>
              <a:rPr lang="en-US" sz="1750" dirty="0">
                <a:solidFill>
                  <a:srgbClr val="CC00CC"/>
                </a:solidFill>
              </a:rPr>
              <a:t>TOP</a:t>
            </a:r>
            <a:r>
              <a:rPr lang="en-US" sz="1750" dirty="0"/>
              <a:t> </a:t>
            </a:r>
            <a:r>
              <a:rPr lang="en-US" sz="1750" i="1" dirty="0"/>
              <a:t>n</a:t>
            </a:r>
            <a:r>
              <a:rPr lang="en-US" sz="1750" dirty="0"/>
              <a:t> [ </a:t>
            </a:r>
            <a:r>
              <a:rPr lang="en-US" sz="1750" dirty="0">
                <a:solidFill>
                  <a:srgbClr val="CC00CC"/>
                </a:solidFill>
              </a:rPr>
              <a:t>PERCENT</a:t>
            </a:r>
            <a:r>
              <a:rPr lang="en-US" sz="1750" dirty="0"/>
              <a:t> ]:Specifies that only the first </a:t>
            </a:r>
            <a:r>
              <a:rPr lang="en-US" sz="1750" i="1" dirty="0"/>
              <a:t>n</a:t>
            </a:r>
            <a:r>
              <a:rPr lang="en-US" sz="1750" dirty="0"/>
              <a:t> rows are to be output from the query result set. </a:t>
            </a:r>
            <a:r>
              <a:rPr lang="en-US" sz="1750" i="1" dirty="0"/>
              <a:t>n</a:t>
            </a:r>
            <a:r>
              <a:rPr lang="en-US" sz="1750" dirty="0"/>
              <a:t> is an integer between 0 and 4294967295. If PERCENT is also specified, only the first </a:t>
            </a:r>
            <a:r>
              <a:rPr lang="en-US" sz="1750" i="1" dirty="0"/>
              <a:t>n</a:t>
            </a:r>
            <a:r>
              <a:rPr lang="en-US" sz="1750" dirty="0"/>
              <a:t> percent of the rows are output from the result set. When specified with PERCENT, </a:t>
            </a:r>
            <a:r>
              <a:rPr lang="en-US" sz="1750" i="1" dirty="0"/>
              <a:t>n</a:t>
            </a:r>
            <a:r>
              <a:rPr lang="en-US" sz="1750" dirty="0"/>
              <a:t> must be an integer between 0 and 100</a:t>
            </a:r>
            <a:endParaRPr dirty="0"/>
          </a:p>
          <a:p>
            <a:pPr marL="91440" lvl="0" indent="-111125" algn="l" rtl="0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SzPts val="1750"/>
              <a:buChar char=" "/>
            </a:pPr>
            <a:r>
              <a:rPr lang="en-US" sz="1750" dirty="0">
                <a:solidFill>
                  <a:srgbClr val="0000FF"/>
                </a:solidFill>
              </a:rPr>
              <a:t>FROM</a:t>
            </a:r>
            <a:r>
              <a:rPr lang="en-US" sz="1750" dirty="0"/>
              <a:t> identifies </a:t>
            </a:r>
            <a:r>
              <a:rPr lang="en-US" sz="1750" i="1" dirty="0"/>
              <a:t>which </a:t>
            </a:r>
            <a:r>
              <a:rPr lang="en-US" sz="1750" dirty="0"/>
              <a:t>table</a:t>
            </a:r>
            <a:endParaRPr dirty="0"/>
          </a:p>
          <a:p>
            <a:pPr marL="91440" lvl="0" indent="-111125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750"/>
              <a:buChar char=" "/>
            </a:pPr>
            <a:r>
              <a:rPr lang="en-US" sz="1750" dirty="0"/>
              <a:t>The WHERE clause follows the FROM clause. </a:t>
            </a:r>
            <a:r>
              <a:rPr lang="en-US" sz="1750" i="1" dirty="0"/>
              <a:t>Condition: </a:t>
            </a:r>
            <a:r>
              <a:rPr lang="en-US" sz="1750" dirty="0"/>
              <a:t>is composed of column names, expressions, constants, and a comparison operator</a:t>
            </a:r>
            <a:endParaRPr dirty="0"/>
          </a:p>
        </p:txBody>
      </p:sp>
      <p:sp>
        <p:nvSpPr>
          <p:cNvPr id="415" name="Google Shape;415;p26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T-SQL : Basic Syntax for a simple SELECT queries</a:t>
            </a:r>
            <a:endParaRPr/>
          </a:p>
        </p:txBody>
      </p:sp>
      <p:sp>
        <p:nvSpPr>
          <p:cNvPr id="416" name="Google Shape;416;p26"/>
          <p:cNvSpPr/>
          <p:nvPr/>
        </p:nvSpPr>
        <p:spPr>
          <a:xfrm>
            <a:off x="762000" y="1273492"/>
            <a:ext cx="8001000" cy="2057400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rPr lang="en-US" sz="2400" b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en-US" sz="24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 </a:t>
            </a:r>
            <a:r>
              <a:rPr lang="en-US" sz="2400" b="0">
                <a:solidFill>
                  <a:srgbClr val="CC00CC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en-US" sz="24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</a:t>
            </a:r>
            <a:r>
              <a:rPr lang="en-US" sz="2400" b="0">
                <a:solidFill>
                  <a:srgbClr val="CC00CC"/>
                </a:solidFill>
                <a:latin typeface="Calibri"/>
                <a:ea typeface="Calibri"/>
                <a:cs typeface="Calibri"/>
                <a:sym typeface="Calibri"/>
              </a:rPr>
              <a:t>DISTINCT</a:t>
            </a:r>
            <a:r>
              <a:rPr lang="en-US" sz="24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]</a:t>
            </a:r>
            <a:br>
              <a:rPr lang="en-US" sz="24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     [ </a:t>
            </a:r>
            <a:r>
              <a:rPr lang="en-US" sz="2400" b="0">
                <a:solidFill>
                  <a:srgbClr val="CC00CC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r>
              <a:rPr lang="en-US" sz="24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 </a:t>
            </a:r>
            <a:r>
              <a:rPr lang="en-US" sz="2400" b="0">
                <a:solidFill>
                  <a:srgbClr val="CC00CC"/>
                </a:solidFill>
                <a:latin typeface="Calibri"/>
                <a:ea typeface="Calibri"/>
                <a:cs typeface="Calibri"/>
                <a:sym typeface="Calibri"/>
              </a:rPr>
              <a:t>PERCENT</a:t>
            </a:r>
            <a:r>
              <a:rPr lang="en-US" sz="24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] ]  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rPr lang="en-US" sz="24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* | {column_name | expression [alias],…} 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rPr lang="en-US" sz="2400" b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[FROM</a:t>
            </a:r>
            <a:r>
              <a:rPr lang="en-US" sz="24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table]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rPr lang="en-US" sz="2400" b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[WHERE</a:t>
            </a:r>
            <a:r>
              <a:rPr lang="en-US" sz="24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conditions]</a:t>
            </a:r>
            <a:endParaRPr/>
          </a:p>
        </p:txBody>
      </p:sp>
      <p:sp>
        <p:nvSpPr>
          <p:cNvPr id="417" name="Google Shape;417;p2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418" name="Google Shape;418;p2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7"/>
          <p:cNvSpPr txBox="1">
            <a:spLocks noGrp="1"/>
          </p:cNvSpPr>
          <p:nvPr>
            <p:ph type="body" idx="1"/>
          </p:nvPr>
        </p:nvSpPr>
        <p:spPr>
          <a:xfrm>
            <a:off x="294640" y="721360"/>
            <a:ext cx="8757920" cy="5074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55000" lnSpcReduction="20000"/>
          </a:bodyPr>
          <a:lstStyle/>
          <a:p>
            <a:r>
              <a:rPr lang="en-US" dirty="0"/>
              <a:t>--1.MovieStar(name, address, gender, birthdate)</a:t>
            </a:r>
          </a:p>
          <a:p>
            <a:r>
              <a:rPr lang="en-US" dirty="0"/>
              <a:t>--2.Studio(name, address, </a:t>
            </a:r>
            <a:r>
              <a:rPr lang="en-US" dirty="0" err="1"/>
              <a:t>presC</a:t>
            </a:r>
            <a:r>
              <a:rPr lang="en-US" dirty="0"/>
              <a:t>#)</a:t>
            </a:r>
          </a:p>
          <a:p>
            <a:r>
              <a:rPr lang="en-US" dirty="0"/>
              <a:t>--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 name</a:t>
            </a:r>
          </a:p>
          <a:p>
            <a:r>
              <a:rPr lang="en-US" dirty="0"/>
              <a:t>--3.MovieExec(cert#, name, address, </a:t>
            </a:r>
            <a:r>
              <a:rPr lang="en-US" dirty="0" err="1"/>
              <a:t>netWorth</a:t>
            </a:r>
            <a:r>
              <a:rPr lang="en-US" dirty="0"/>
              <a:t>),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 cert#</a:t>
            </a:r>
          </a:p>
          <a:p>
            <a:r>
              <a:rPr lang="en-US" dirty="0"/>
              <a:t>--4.Movies(title, year, length, genre, </a:t>
            </a:r>
            <a:r>
              <a:rPr lang="en-US" dirty="0" err="1"/>
              <a:t>studioName</a:t>
            </a:r>
            <a:r>
              <a:rPr lang="en-US" dirty="0"/>
              <a:t>, </a:t>
            </a:r>
            <a:r>
              <a:rPr lang="en-US" dirty="0" err="1"/>
              <a:t>producerC</a:t>
            </a:r>
            <a:r>
              <a:rPr lang="en-US" dirty="0"/>
              <a:t>#)</a:t>
            </a:r>
          </a:p>
          <a:p>
            <a:r>
              <a:rPr lang="en-US" dirty="0"/>
              <a:t>--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 (title, year)</a:t>
            </a:r>
          </a:p>
          <a:p>
            <a:r>
              <a:rPr lang="en-US" dirty="0"/>
              <a:t>--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ngoại</a:t>
            </a:r>
            <a:r>
              <a:rPr lang="en-US" dirty="0"/>
              <a:t>:</a:t>
            </a:r>
          </a:p>
          <a:p>
            <a:r>
              <a:rPr lang="en-US" dirty="0"/>
              <a:t>--</a:t>
            </a:r>
            <a:r>
              <a:rPr lang="en-US" dirty="0" err="1"/>
              <a:t>studioName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Studio(name)</a:t>
            </a:r>
          </a:p>
          <a:p>
            <a:r>
              <a:rPr lang="en-US" dirty="0"/>
              <a:t>--</a:t>
            </a:r>
            <a:r>
              <a:rPr lang="en-US" dirty="0" err="1"/>
              <a:t>producerC</a:t>
            </a:r>
            <a:r>
              <a:rPr lang="en-US" dirty="0"/>
              <a:t>#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MovieExec</a:t>
            </a:r>
            <a:r>
              <a:rPr lang="en-US" dirty="0"/>
              <a:t>(cert#)</a:t>
            </a:r>
          </a:p>
          <a:p>
            <a:r>
              <a:rPr lang="en-US" dirty="0"/>
              <a:t>--</a:t>
            </a:r>
            <a:r>
              <a:rPr lang="vi-VN" dirty="0"/>
              <a:t>5</a:t>
            </a:r>
            <a:r>
              <a:rPr lang="en-US" dirty="0"/>
              <a:t>.StarsIn(</a:t>
            </a:r>
            <a:r>
              <a:rPr lang="en-US" dirty="0" err="1"/>
              <a:t>movieTitle</a:t>
            </a:r>
            <a:r>
              <a:rPr lang="en-US" dirty="0"/>
              <a:t>, </a:t>
            </a:r>
            <a:r>
              <a:rPr lang="en-US" dirty="0" err="1"/>
              <a:t>movieYear</a:t>
            </a:r>
            <a:r>
              <a:rPr lang="en-US" dirty="0"/>
              <a:t>, </a:t>
            </a:r>
            <a:r>
              <a:rPr lang="en-US" dirty="0" err="1"/>
              <a:t>starName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--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 (</a:t>
            </a:r>
            <a:r>
              <a:rPr lang="en-US" dirty="0" err="1"/>
              <a:t>movieTitle</a:t>
            </a:r>
            <a:r>
              <a:rPr lang="en-US" dirty="0"/>
              <a:t>, </a:t>
            </a:r>
            <a:r>
              <a:rPr lang="en-US" dirty="0" err="1"/>
              <a:t>movieYear</a:t>
            </a:r>
            <a:r>
              <a:rPr lang="en-US" dirty="0"/>
              <a:t>, </a:t>
            </a:r>
            <a:r>
              <a:rPr lang="en-US" dirty="0" err="1"/>
              <a:t>starName</a:t>
            </a:r>
            <a:r>
              <a:rPr lang="en-US" dirty="0"/>
              <a:t>)</a:t>
            </a:r>
          </a:p>
          <a:p>
            <a:r>
              <a:rPr lang="en-US" dirty="0"/>
              <a:t>--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ngoại</a:t>
            </a:r>
            <a:r>
              <a:rPr lang="en-US" dirty="0"/>
              <a:t>:</a:t>
            </a:r>
          </a:p>
          <a:p>
            <a:r>
              <a:rPr lang="en-US" dirty="0"/>
              <a:t>--</a:t>
            </a:r>
            <a:r>
              <a:rPr lang="en-US" dirty="0" err="1"/>
              <a:t>movieTitle</a:t>
            </a:r>
            <a:r>
              <a:rPr lang="en-US" dirty="0"/>
              <a:t>, </a:t>
            </a:r>
            <a:r>
              <a:rPr lang="en-US" dirty="0" err="1"/>
              <a:t>movieYear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Movies(title, year)</a:t>
            </a:r>
          </a:p>
          <a:p>
            <a:r>
              <a:rPr lang="en-US" dirty="0"/>
              <a:t>--</a:t>
            </a:r>
            <a:r>
              <a:rPr lang="en-US" dirty="0" err="1"/>
              <a:t>starName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MovieStar</a:t>
            </a:r>
            <a:r>
              <a:rPr lang="en-US" dirty="0"/>
              <a:t>(name)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5" name="Google Shape;425;p27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Common Query in SQL</a:t>
            </a:r>
            <a:endParaRPr/>
          </a:p>
        </p:txBody>
      </p:sp>
      <p:sp>
        <p:nvSpPr>
          <p:cNvPr id="426" name="Google Shape;426;p27"/>
          <p:cNvSpPr txBox="1"/>
          <p:nvPr/>
        </p:nvSpPr>
        <p:spPr>
          <a:xfrm>
            <a:off x="3200400" y="4343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431" name="Google Shape;431;p2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05CEF-A35D-40DB-C96C-6E6E54A3F023}"/>
              </a:ext>
            </a:extLst>
          </p:cNvPr>
          <p:cNvSpPr txBox="1"/>
          <p:nvPr/>
        </p:nvSpPr>
        <p:spPr>
          <a:xfrm>
            <a:off x="383540" y="5852159"/>
            <a:ext cx="8458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Listing all r all movies produced by Disney Studios in 1990 </a:t>
            </a:r>
            <a:endParaRPr lang="vi-V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/>
              <a:t>SELECT * FROM Movies WHERE </a:t>
            </a:r>
            <a:r>
              <a:rPr lang="en-US" sz="1800" dirty="0" err="1"/>
              <a:t>studioName</a:t>
            </a:r>
            <a:r>
              <a:rPr lang="en-US" sz="1800" dirty="0"/>
              <a:t> = 'Disney' AND year = 1990;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2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8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Example 3: </a:t>
            </a:r>
          </a:p>
          <a:p>
            <a:pPr marL="91440" lvl="0" indent="-127000">
              <a:spcBef>
                <a:spcPts val="0"/>
              </a:spcBef>
              <a:buSzPts val="20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Listing all r all movies produced by Disney Studios in 1990 , but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only the movie title and length: </a:t>
            </a:r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000" dirty="0"/>
              <a:t>- SELECT title, length FROM Movies WHERE </a:t>
            </a:r>
            <a:r>
              <a:rPr lang="en-US" sz="2000" dirty="0" err="1"/>
              <a:t>studioName</a:t>
            </a:r>
            <a:r>
              <a:rPr lang="en-US" sz="2000" dirty="0"/>
              <a:t> = ’Disney’ AND year = 1990;</a:t>
            </a:r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000" dirty="0"/>
              <a:t>=&gt;</a:t>
            </a:r>
            <a:endParaRPr sz="2000" dirty="0"/>
          </a:p>
        </p:txBody>
      </p:sp>
      <p:sp>
        <p:nvSpPr>
          <p:cNvPr id="438" name="Google Shape;438;p28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Projection in SQL</a:t>
            </a:r>
            <a:endParaRPr/>
          </a:p>
        </p:txBody>
      </p:sp>
      <p:sp>
        <p:nvSpPr>
          <p:cNvPr id="440" name="Google Shape;440;p2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441" name="Google Shape;441;p2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6875C9-A849-F7A4-D367-2509AF68B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002" y="3662038"/>
            <a:ext cx="3038475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BE62E-2534-C08D-BA5B-54BD3C647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alias name in select clause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5C839-7F26-8DEE-A145-F538041AD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4: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Listing all r all movies produced by Disney Studios in 1990 , but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a relation with attributes name and duration in place of title and length as follows. </a:t>
            </a:r>
          </a:p>
          <a:p>
            <a:r>
              <a:rPr lang="en-US" dirty="0"/>
              <a:t>- SELECT title AS name, length AS duration FROM Movies WHERE </a:t>
            </a:r>
            <a:r>
              <a:rPr lang="en-US" dirty="0" err="1"/>
              <a:t>studioName</a:t>
            </a:r>
            <a:r>
              <a:rPr lang="en-US" dirty="0"/>
              <a:t> = ’Disney’ AND year = 1990;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7FA92-40CD-E185-C141-92C04C7B4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24BB3B-30E7-B4C7-CA8F-BA0771582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985" y="4827905"/>
            <a:ext cx="2800350" cy="81915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A33CF-DF73-1336-8EA9-1C152A7897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1961865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9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>
                <a:solidFill>
                  <a:srgbClr val="FF0000"/>
                </a:solidFill>
              </a:rPr>
              <a:t>Example 4</a:t>
            </a:r>
            <a:endParaRPr dirty="0">
              <a:solidFill>
                <a:srgbClr val="FF0000"/>
              </a:solidFill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dirty="0">
                <a:solidFill>
                  <a:srgbClr val="FF0000"/>
                </a:solidFill>
              </a:rPr>
              <a:t>List all under 40 year-old female or under 50 year-old male employees</a:t>
            </a:r>
            <a:endParaRPr dirty="0">
              <a:solidFill>
                <a:srgbClr val="FF0000"/>
              </a:solidFill>
            </a:endParaRPr>
          </a:p>
          <a:p>
            <a:pPr marL="566928" lvl="2" indent="-304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dirty="0">
              <a:solidFill>
                <a:srgbClr val="FF0000"/>
              </a:solidFill>
            </a:endParaRPr>
          </a:p>
        </p:txBody>
      </p:sp>
      <p:sp>
        <p:nvSpPr>
          <p:cNvPr id="448" name="Google Shape;448;p29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Selection in SQL</a:t>
            </a:r>
            <a:endParaRPr/>
          </a:p>
        </p:txBody>
      </p:sp>
      <p:pic>
        <p:nvPicPr>
          <p:cNvPr id="449" name="Google Shape;44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275" y="3371850"/>
            <a:ext cx="7781925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451" name="Google Shape;451;p2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FBBC8-726F-1712-8D17-9398EBDCE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BC363-C27F-F1A8-6086-5D0A7BC06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Example 5: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Listing all r all movies produced by Disney Studios in 1990 , but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a relation with attributes name and duration in place of title and length as follows.  And </a:t>
            </a:r>
            <a:r>
              <a:rPr lang="en-US" dirty="0"/>
              <a:t>with the length in hours.</a:t>
            </a:r>
          </a:p>
          <a:p>
            <a:r>
              <a:rPr lang="en-US" dirty="0"/>
              <a:t>-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title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length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/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60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duration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Movies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studioName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'Disney Studios'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1990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endParaRPr lang="vi-VN" dirty="0"/>
          </a:p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=&gt;</a:t>
            </a:r>
          </a:p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A5667-92CB-327B-1C00-59D5C9D86C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75F511-4491-A456-4593-AA76A9221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009" y="5139338"/>
            <a:ext cx="3648075" cy="10572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43098-7803-FC5F-8CF1-F143A60635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15490193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24466-1432-3CD1-3150-3D7CC5035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Operators in SQL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68CB6-DAEC-FCC3-2420-88BEE5243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- AND, OR, and NOT, In, BETWEEN, LIKE(</a:t>
            </a:r>
            <a:r>
              <a:rPr lang="vi-VN" sz="2000" dirty="0"/>
              <a:t>Tìm kiếm dựa trên mẫu (sử dụng ký tự đại diện như % hoặc _)</a:t>
            </a:r>
            <a:r>
              <a:rPr lang="en-US" sz="2000" dirty="0"/>
              <a:t>, </a:t>
            </a:r>
            <a:r>
              <a:rPr lang="en-US" dirty="0"/>
              <a:t>IS NULL, IS NOT NULL, EXISTS, ANY(</a:t>
            </a:r>
            <a:r>
              <a:rPr lang="en-US" sz="1400" dirty="0"/>
              <a:t>So </a:t>
            </a:r>
            <a:r>
              <a:rPr lang="en-US" sz="1400" dirty="0" err="1"/>
              <a:t>sánh</a:t>
            </a:r>
            <a:r>
              <a:rPr lang="en-US" sz="1400" dirty="0"/>
              <a:t> </a:t>
            </a:r>
            <a:r>
              <a:rPr lang="en-US" sz="1400" dirty="0" err="1"/>
              <a:t>một</a:t>
            </a:r>
            <a:r>
              <a:rPr lang="en-US" sz="1400" dirty="0"/>
              <a:t> </a:t>
            </a:r>
            <a:r>
              <a:rPr lang="en-US" sz="1400" dirty="0" err="1"/>
              <a:t>giá</a:t>
            </a:r>
            <a:r>
              <a:rPr lang="en-US" sz="1400" dirty="0"/>
              <a:t> </a:t>
            </a:r>
            <a:r>
              <a:rPr lang="en-US" sz="1400" dirty="0" err="1"/>
              <a:t>trị</a:t>
            </a:r>
            <a:r>
              <a:rPr lang="en-US" sz="1400" dirty="0"/>
              <a:t> </a:t>
            </a:r>
            <a:r>
              <a:rPr lang="en-US" sz="1400" dirty="0" err="1"/>
              <a:t>với</a:t>
            </a:r>
            <a:r>
              <a:rPr lang="en-US" sz="1400" dirty="0"/>
              <a:t> </a:t>
            </a:r>
            <a:r>
              <a:rPr lang="en-US" sz="1400" dirty="0" err="1"/>
              <a:t>bất</a:t>
            </a:r>
            <a:r>
              <a:rPr lang="en-US" sz="1400" dirty="0"/>
              <a:t> </a:t>
            </a:r>
            <a:r>
              <a:rPr lang="en-US" sz="1400" dirty="0" err="1"/>
              <a:t>kỳ</a:t>
            </a:r>
            <a:r>
              <a:rPr lang="en-US" sz="1400" dirty="0"/>
              <a:t> </a:t>
            </a:r>
            <a:r>
              <a:rPr lang="en-US" sz="1400" dirty="0" err="1"/>
              <a:t>giá</a:t>
            </a:r>
            <a:r>
              <a:rPr lang="en-US" sz="1400" dirty="0"/>
              <a:t> </a:t>
            </a:r>
            <a:r>
              <a:rPr lang="en-US" sz="1400" dirty="0" err="1"/>
              <a:t>trị</a:t>
            </a:r>
            <a:r>
              <a:rPr lang="en-US" sz="1400" dirty="0"/>
              <a:t> </a:t>
            </a:r>
            <a:r>
              <a:rPr lang="en-US" sz="1400" dirty="0" err="1"/>
              <a:t>nào</a:t>
            </a:r>
            <a:r>
              <a:rPr lang="en-US" sz="1400" dirty="0"/>
              <a:t> </a:t>
            </a:r>
            <a:r>
              <a:rPr lang="en-US" sz="1400" dirty="0" err="1"/>
              <a:t>trong</a:t>
            </a:r>
            <a:r>
              <a:rPr lang="en-US" sz="1400" dirty="0"/>
              <a:t> </a:t>
            </a:r>
            <a:r>
              <a:rPr lang="en-US" sz="1400" dirty="0" err="1"/>
              <a:t>tập</a:t>
            </a:r>
            <a:r>
              <a:rPr lang="en-US" sz="1400" dirty="0"/>
              <a:t> </a:t>
            </a:r>
            <a:r>
              <a:rPr lang="en-US" sz="1400" dirty="0" err="1"/>
              <a:t>hợp</a:t>
            </a:r>
            <a:r>
              <a:rPr lang="en-US" sz="1400" dirty="0"/>
              <a:t>. </a:t>
            </a:r>
            <a:r>
              <a:rPr lang="en-US" sz="2400" dirty="0"/>
              <a:t>), ALL </a:t>
            </a:r>
            <a:r>
              <a:rPr lang="en-US" sz="1800" dirty="0"/>
              <a:t>(</a:t>
            </a:r>
            <a:r>
              <a:rPr lang="en-US" sz="1400" dirty="0"/>
              <a:t>So </a:t>
            </a:r>
            <a:r>
              <a:rPr lang="en-US" sz="1400" dirty="0" err="1"/>
              <a:t>sánh</a:t>
            </a:r>
            <a:r>
              <a:rPr lang="en-US" sz="1400" dirty="0"/>
              <a:t> </a:t>
            </a:r>
            <a:r>
              <a:rPr lang="en-US" sz="1400" dirty="0" err="1"/>
              <a:t>một</a:t>
            </a:r>
            <a:r>
              <a:rPr lang="en-US" sz="1400" dirty="0"/>
              <a:t> </a:t>
            </a:r>
            <a:r>
              <a:rPr lang="en-US" sz="1400" dirty="0" err="1"/>
              <a:t>giá</a:t>
            </a:r>
            <a:r>
              <a:rPr lang="en-US" sz="1400" dirty="0"/>
              <a:t> </a:t>
            </a:r>
            <a:r>
              <a:rPr lang="en-US" sz="1400" dirty="0" err="1"/>
              <a:t>trị</a:t>
            </a:r>
            <a:r>
              <a:rPr lang="en-US" sz="1400" dirty="0"/>
              <a:t> </a:t>
            </a:r>
            <a:r>
              <a:rPr lang="en-US" sz="1400" dirty="0" err="1"/>
              <a:t>với</a:t>
            </a:r>
            <a:r>
              <a:rPr lang="en-US" sz="1400" dirty="0"/>
              <a:t> </a:t>
            </a:r>
            <a:r>
              <a:rPr lang="en-US" sz="1400" dirty="0" err="1"/>
              <a:t>bất</a:t>
            </a:r>
            <a:r>
              <a:rPr lang="en-US" sz="1400" dirty="0"/>
              <a:t> </a:t>
            </a:r>
            <a:r>
              <a:rPr lang="en-US" sz="1400" dirty="0" err="1"/>
              <a:t>kỳ</a:t>
            </a:r>
            <a:r>
              <a:rPr lang="en-US" sz="1400" dirty="0"/>
              <a:t> </a:t>
            </a:r>
            <a:r>
              <a:rPr lang="en-US" sz="1400" dirty="0" err="1"/>
              <a:t>giá</a:t>
            </a:r>
            <a:r>
              <a:rPr lang="en-US" sz="1400" dirty="0"/>
              <a:t> </a:t>
            </a:r>
            <a:r>
              <a:rPr lang="en-US" sz="1400" dirty="0" err="1"/>
              <a:t>trị</a:t>
            </a:r>
            <a:r>
              <a:rPr lang="en-US" sz="1400" dirty="0"/>
              <a:t> </a:t>
            </a:r>
            <a:r>
              <a:rPr lang="en-US" sz="1400" dirty="0" err="1"/>
              <a:t>nào</a:t>
            </a:r>
            <a:r>
              <a:rPr lang="en-US" sz="1400" dirty="0"/>
              <a:t> </a:t>
            </a:r>
            <a:r>
              <a:rPr lang="en-US" sz="1400" dirty="0" err="1"/>
              <a:t>trong</a:t>
            </a:r>
            <a:r>
              <a:rPr lang="en-US" sz="1400" dirty="0"/>
              <a:t> </a:t>
            </a:r>
            <a:r>
              <a:rPr lang="en-US" sz="1400" dirty="0" err="1"/>
              <a:t>tập</a:t>
            </a:r>
            <a:r>
              <a:rPr lang="en-US" sz="1400" dirty="0"/>
              <a:t> </a:t>
            </a:r>
            <a:r>
              <a:rPr lang="en-US" sz="1400" dirty="0" err="1"/>
              <a:t>hợp</a:t>
            </a:r>
            <a:r>
              <a:rPr lang="en-US" sz="2000" dirty="0"/>
              <a:t> </a:t>
            </a:r>
            <a:r>
              <a:rPr lang="en-US" sz="2400" dirty="0"/>
              <a:t>), UNION, INTERSECT, </a:t>
            </a:r>
            <a:r>
              <a:rPr lang="en-US" sz="2400" b="1" dirty="0"/>
              <a:t>MINUS</a:t>
            </a:r>
            <a:r>
              <a:rPr lang="en-US" sz="2400" dirty="0"/>
              <a:t> (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b="1" dirty="0"/>
              <a:t>EXCEPT</a:t>
            </a:r>
            <a:r>
              <a:rPr lang="en-US" sz="2400" dirty="0"/>
              <a:t>) 	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 - =, &lt;&gt;(!=),  &lt;=, and &gt;=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title 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Movies 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1970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length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90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studioName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'MGM'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C58C2-3063-DA62-5DED-A61A76B426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3D6B8-0785-5FCC-4CFA-9456D47CF0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37704436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>
          <a:extLst>
            <a:ext uri="{FF2B5EF4-FFF2-40B4-BE49-F238E27FC236}">
              <a16:creationId xmlns:a16="http://schemas.microsoft.com/office/drawing/2014/main" id="{F8EA2057-4F4B-7194-B707-874B26892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>
            <a:extLst>
              <a:ext uri="{FF2B5EF4-FFF2-40B4-BE49-F238E27FC236}">
                <a16:creationId xmlns:a16="http://schemas.microsoft.com/office/drawing/2014/main" id="{693963E9-CB6B-F07C-E8C1-8C07BC46AB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Truth table for True, False, and Unknown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We can think of TRUE=1; FALSE=0; UNKNOWN=1/2, so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</a:pPr>
            <a:r>
              <a:rPr lang="en-US" sz="1600"/>
              <a:t>x AND y = MIN(x,y); x OR y = MAX(x, y); NOT x = 1-x</a:t>
            </a:r>
            <a:endParaRPr/>
          </a:p>
        </p:txBody>
      </p:sp>
      <p:sp>
        <p:nvSpPr>
          <p:cNvPr id="299" name="Google Shape;299;p13">
            <a:extLst>
              <a:ext uri="{FF2B5EF4-FFF2-40B4-BE49-F238E27FC236}">
                <a16:creationId xmlns:a16="http://schemas.microsoft.com/office/drawing/2014/main" id="{250BC44E-9599-99B4-541E-1EA881786D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The Truth-Value UNKNOWN</a:t>
            </a:r>
            <a:endParaRPr/>
          </a:p>
        </p:txBody>
      </p:sp>
      <p:graphicFrame>
        <p:nvGraphicFramePr>
          <p:cNvPr id="300" name="Google Shape;300;p13">
            <a:extLst>
              <a:ext uri="{FF2B5EF4-FFF2-40B4-BE49-F238E27FC236}">
                <a16:creationId xmlns:a16="http://schemas.microsoft.com/office/drawing/2014/main" id="{33C6C25D-5AFC-584F-9A65-D8031B2FE00D}"/>
              </a:ext>
            </a:extLst>
          </p:cNvPr>
          <p:cNvGraphicFramePr/>
          <p:nvPr/>
        </p:nvGraphicFramePr>
        <p:xfrm>
          <a:off x="1212130" y="2320565"/>
          <a:ext cx="6858000" cy="3657700"/>
        </p:xfrm>
        <a:graphic>
          <a:graphicData uri="http://schemas.openxmlformats.org/drawingml/2006/table">
            <a:tbl>
              <a:tblPr firstRow="1" bandRow="1">
                <a:noFill/>
                <a:tableStyleId>{3E43525E-37C0-4876-8FA3-B76E93834B79}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x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x AND y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x OR 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NOT x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FALSE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UNKNOWN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UNKNOWN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FALSE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FALSE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FALSE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FALSE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UNKNOWN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UNKNOWN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UNKNOWN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UNKNOWN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UNKNOWN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UNKNOWN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UNKNOWN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UNKNOWN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UNKNOWN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FALSE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FALSE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UNKNOWN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UNKNOWN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FALSE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FALSE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FALSE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UNKNOWN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FALSE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UNKNOWN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FALSE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FALSE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FALSE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FALSE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01" name="Google Shape;301;p13">
            <a:extLst>
              <a:ext uri="{FF2B5EF4-FFF2-40B4-BE49-F238E27FC236}">
                <a16:creationId xmlns:a16="http://schemas.microsoft.com/office/drawing/2014/main" id="{29CD391A-D9F3-00E3-B8B6-2C6D0A663C6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302" name="Google Shape;302;p13">
            <a:extLst>
              <a:ext uri="{FF2B5EF4-FFF2-40B4-BE49-F238E27FC236}">
                <a16:creationId xmlns:a16="http://schemas.microsoft.com/office/drawing/2014/main" id="{B2CD008C-F487-A936-07E6-767FBA9885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70671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0A34C-D1C3-67E8-5F8F-07127E406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A9BD1-CD04-C75C-06D3-FD9B48FBA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SELECT title </a:t>
            </a:r>
          </a:p>
          <a:p>
            <a:r>
              <a:rPr lang="vi-VN" dirty="0"/>
              <a:t>  </a:t>
            </a:r>
            <a:r>
              <a:rPr lang="en-US" dirty="0"/>
              <a:t>FROM Movies </a:t>
            </a:r>
          </a:p>
          <a:p>
            <a:r>
              <a:rPr lang="vi-VN" dirty="0"/>
              <a:t>  </a:t>
            </a:r>
            <a:r>
              <a:rPr lang="en-US" dirty="0"/>
              <a:t>WHERE title LIKE ’Star ---’</a:t>
            </a:r>
          </a:p>
          <a:p>
            <a:r>
              <a:rPr lang="en-US" dirty="0"/>
              <a:t>- List all movies with a possessive (’s) in their titles. The desired query is </a:t>
            </a:r>
            <a:r>
              <a:rPr lang="vi-VN" dirty="0"/>
              <a:t>:</a:t>
            </a:r>
          </a:p>
          <a:p>
            <a:r>
              <a:rPr lang="en-US" dirty="0"/>
              <a:t>SELECT title </a:t>
            </a:r>
          </a:p>
          <a:p>
            <a:r>
              <a:rPr lang="en-US" dirty="0"/>
              <a:t>FROM Movies </a:t>
            </a:r>
          </a:p>
          <a:p>
            <a:r>
              <a:rPr lang="en-US" dirty="0"/>
              <a:t>WHERE title LIKE ’%’’s%’ 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23DAE-E1CE-C6F7-6015-9D9190028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F93CC-1F0F-3901-5CF0-94F28F5410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33374879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0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113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80"/>
              <a:buChar char=" "/>
            </a:pPr>
            <a:r>
              <a:rPr lang="en-US" sz="2380" dirty="0"/>
              <a:t>Presenting the tuples produced by a query in sorted order</a:t>
            </a:r>
            <a:endParaRPr dirty="0"/>
          </a:p>
          <a:p>
            <a:pPr marL="91440" lvl="0" indent="-15113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380"/>
              <a:buChar char=" "/>
            </a:pPr>
            <a:r>
              <a:rPr lang="en-US" sz="2380" dirty="0"/>
              <a:t>The order may be based on the value of any attribute</a:t>
            </a:r>
            <a:endParaRPr dirty="0"/>
          </a:p>
          <a:p>
            <a:pPr marL="91440" lvl="0" indent="-15113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380"/>
              <a:buChar char=" "/>
            </a:pPr>
            <a:r>
              <a:rPr lang="en-US" sz="2380" dirty="0"/>
              <a:t>Syntax</a:t>
            </a:r>
            <a:endParaRPr dirty="0"/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380"/>
              <a:buNone/>
            </a:pPr>
            <a:endParaRPr sz="2380" dirty="0"/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380"/>
              <a:buNone/>
            </a:pPr>
            <a:endParaRPr sz="2380" dirty="0"/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380"/>
              <a:buNone/>
            </a:pPr>
            <a:endParaRPr sz="2380" dirty="0"/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380"/>
              <a:buNone/>
            </a:pPr>
            <a:endParaRPr sz="2380" dirty="0"/>
          </a:p>
          <a:p>
            <a:pPr marL="91440" lvl="0" indent="-15113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380"/>
              <a:buChar char=" "/>
            </a:pPr>
            <a:r>
              <a:rPr lang="en-US" sz="2380" dirty="0"/>
              <a:t>Order by clause follows Where and any other clauses. The ordering is performed on the result of the From, Where, and other clauses, just before Select clause</a:t>
            </a:r>
            <a:endParaRPr dirty="0"/>
          </a:p>
          <a:p>
            <a:pPr marL="91440" lvl="0" indent="-15113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380"/>
              <a:buChar char=" "/>
            </a:pPr>
            <a:r>
              <a:rPr lang="en-US" sz="2380" dirty="0"/>
              <a:t>Using keyword ASC for ascending order and DESC for descending order</a:t>
            </a:r>
            <a:endParaRPr dirty="0"/>
          </a:p>
        </p:txBody>
      </p:sp>
      <p:sp>
        <p:nvSpPr>
          <p:cNvPr id="458" name="Google Shape;458;p30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Ordering the Output</a:t>
            </a:r>
            <a:endParaRPr/>
          </a:p>
        </p:txBody>
      </p:sp>
      <p:sp>
        <p:nvSpPr>
          <p:cNvPr id="459" name="Google Shape;459;p30"/>
          <p:cNvSpPr txBox="1"/>
          <p:nvPr/>
        </p:nvSpPr>
        <p:spPr>
          <a:xfrm>
            <a:off x="2438400" y="2362200"/>
            <a:ext cx="5715000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&lt;list of attributes&gt;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&lt;list of tables&gt;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&lt;conditions&gt;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ORDER BY </a:t>
            </a: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&lt;list of attributes&gt;</a:t>
            </a:r>
            <a:endParaRPr/>
          </a:p>
        </p:txBody>
      </p:sp>
      <p:sp>
        <p:nvSpPr>
          <p:cNvPr id="460" name="Google Shape;460;p3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461" name="Google Shape;461;p3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23393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1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Example </a:t>
            </a:r>
            <a:r>
              <a:rPr lang="vi-VN" dirty="0"/>
              <a:t>7</a:t>
            </a:r>
            <a:r>
              <a:rPr lang="en-US" dirty="0"/>
              <a:t>: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Listing </a:t>
            </a:r>
            <a:r>
              <a:rPr lang="vi-VN" dirty="0"/>
              <a:t> </a:t>
            </a:r>
            <a:r>
              <a:rPr lang="en-US" dirty="0"/>
              <a:t>all movies produced by Disney Studios in </a:t>
            </a:r>
            <a:r>
              <a:rPr lang="vi-VN" dirty="0"/>
              <a:t>1990, </a:t>
            </a:r>
            <a:r>
              <a:rPr lang="en-US" dirty="0"/>
              <a:t>To display the movies sorted by length and title</a:t>
            </a:r>
            <a:endParaRPr dirty="0"/>
          </a:p>
        </p:txBody>
      </p:sp>
      <p:sp>
        <p:nvSpPr>
          <p:cNvPr id="468" name="Google Shape;468;p31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Ordering the Output</a:t>
            </a:r>
            <a:endParaRPr/>
          </a:p>
        </p:txBody>
      </p:sp>
      <p:sp>
        <p:nvSpPr>
          <p:cNvPr id="470" name="Google Shape;470;p3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471" name="Google Shape;471;p3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C67A34-F346-1FF0-E0DC-E244204202FC}"/>
              </a:ext>
            </a:extLst>
          </p:cNvPr>
          <p:cNvSpPr txBox="1"/>
          <p:nvPr/>
        </p:nvSpPr>
        <p:spPr>
          <a:xfrm>
            <a:off x="585923" y="3167390"/>
            <a:ext cx="793663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dirty="0"/>
              <a:t>-  </a:t>
            </a:r>
            <a:r>
              <a:rPr lang="en-US" sz="2800" dirty="0"/>
              <a:t>SELECT * FROM Movies WHERE </a:t>
            </a:r>
            <a:r>
              <a:rPr lang="en-US" sz="2800" dirty="0" err="1"/>
              <a:t>studioName</a:t>
            </a:r>
            <a:r>
              <a:rPr lang="en-US" sz="2800" dirty="0"/>
              <a:t> = 'Disney' AND year = 1990 ORDER BY length, title;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8468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BACE6-6764-C9F7-FB8A-FE785E93A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Data type:</a:t>
            </a:r>
            <a:r>
              <a:rPr lang="en-US" dirty="0"/>
              <a:t>Dates and Times (</a:t>
            </a:r>
            <a:r>
              <a:rPr lang="vi-VN" dirty="0"/>
              <a:t>nhac lai)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00ACA-E7AE-ACFC-42FA-DDE6D58F9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 </a:t>
            </a:r>
            <a:r>
              <a:rPr lang="vi-VN" dirty="0"/>
              <a:t>: </a:t>
            </a:r>
            <a:r>
              <a:rPr lang="en-US" dirty="0"/>
              <a:t>’ 1948-05-14’ </a:t>
            </a:r>
          </a:p>
          <a:p>
            <a:r>
              <a:rPr lang="vi-VN" dirty="0"/>
              <a:t>TIME: </a:t>
            </a:r>
            <a:r>
              <a:rPr lang="en-US" dirty="0"/>
              <a:t> 23:59:59.9999999</a:t>
            </a:r>
          </a:p>
          <a:p>
            <a:r>
              <a:rPr lang="vi-VN" dirty="0"/>
              <a:t>DATETIME: Ngày và giờ</a:t>
            </a:r>
          </a:p>
          <a:p>
            <a:r>
              <a:rPr lang="vi-VN" dirty="0"/>
              <a:t>DATETIME2: Lưu </a:t>
            </a:r>
            <a:r>
              <a:rPr lang="vi-VN" b="1" dirty="0"/>
              <a:t>ngày và giờ</a:t>
            </a:r>
            <a:r>
              <a:rPr lang="vi-VN" dirty="0"/>
              <a:t> với độ chính xác cao hơn</a:t>
            </a:r>
          </a:p>
          <a:p>
            <a:r>
              <a:rPr lang="en-US" dirty="0"/>
              <a:t>SMA</a:t>
            </a:r>
            <a:r>
              <a:rPr lang="vi-VN" dirty="0"/>
              <a:t>LLDATETIME:.....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57F75-B540-169F-FF36-4D62AFB76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55C4C-8B2F-E763-B22E-B3A6F6995E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36094291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EA90-3085-C493-929B-173D831D7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7F1E2-4081-BBF7-9CDD-2587C2686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47CBD-5BB3-2395-33F3-C98C3D19C8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576C11-C41A-2C22-A64C-B2DE4A539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628775"/>
            <a:ext cx="8620125" cy="360045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94C57-EDF3-F4A4-3178-9673D6EF7F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23571979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9E89-61D6-0F76-F54E-D5784F8B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635B0-984E-DB08-1120-EC2E8D021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3908D-235D-7A12-6DC5-A40BB081C7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63F3D9-FFCF-7065-FF0D-6F554ADC4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" y="1362075"/>
            <a:ext cx="8715375" cy="413385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62F4F-E4CC-8EEE-3756-C0819AAD4E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10345626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738FA-9344-CEDE-7E21-76247A281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F3B5F-1517-DA5B-E5AB-2FDF6FDD0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2458D-397D-1C95-A83D-D6B0D94050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111033-F589-E85E-8961-211CD86E4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" y="1962150"/>
            <a:ext cx="8753475" cy="362585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8196E-29DE-C099-7638-2401D4EDEC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30998879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A8B72-0AC6-7CE4-C44A-A4426DD8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1645B-6871-D7AD-FBD1-9035A4E39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C6C4B-6F1E-E468-A415-93B216C5D5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DBA42C-9A81-B868-9345-95544CA8D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1304925"/>
            <a:ext cx="8010525" cy="424815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4C28E-227A-12F9-C6B4-407984A863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20700911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6363-1EDD-AA9D-5C83-A523E25D2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in SQL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EC07E-36EE-8D5B-A887-35E0DBEB8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CommonFunctions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38811-BBCB-D9E9-4755-3E742A2137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DF0FA9-9E8A-3976-03EF-157DB9CC7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1127463"/>
            <a:ext cx="9086850" cy="545431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D8F17-86BD-238B-D865-26A107993F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41524170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935C-458B-3F38-1548-B0FEB526C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in SQL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D391A-2B36-1D43-1F38-35CDCCFD1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194D8-C12C-7C75-6569-A4F2D31BE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8BD8A3-7E42-7651-C9C1-7257AA203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23" y="1127464"/>
            <a:ext cx="8060238" cy="305752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72DAC-FF38-CC28-2AD2-5B976029A9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9396598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6A90F-8983-6A67-63A3-481FB3BC8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in SQL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8AC2B-A2F9-FE0B-8AAE-B7596F1F5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EFFBF-C200-39BC-F384-26BF8CD400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2D081E-E422-6934-3C40-75BD80481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" y="1219200"/>
            <a:ext cx="8886825" cy="543401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13AF9-F56D-B2F3-5070-66EECAA85F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20771644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2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478" name="Google Shape;478;p32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6.2 QUERIES INVOLVING MORE THAN ONE RELATION</a:t>
            </a:r>
            <a:endParaRPr/>
          </a:p>
        </p:txBody>
      </p:sp>
      <p:sp>
        <p:nvSpPr>
          <p:cNvPr id="479" name="Google Shape;479;p3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480" name="Google Shape;480;p3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3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SQL allows we combine two or more relations through joins, products, unions, intersections, and differences</a:t>
            </a:r>
            <a:endParaRPr/>
          </a:p>
        </p:txBody>
      </p:sp>
      <p:sp>
        <p:nvSpPr>
          <p:cNvPr id="487" name="Google Shape;487;p33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Queries Involving More Than One Relation</a:t>
            </a:r>
            <a:endParaRPr/>
          </a:p>
        </p:txBody>
      </p:sp>
      <p:sp>
        <p:nvSpPr>
          <p:cNvPr id="488" name="Google Shape;488;p3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489" name="Google Shape;489;p3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4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When data from more than one table in the database is required, a </a:t>
            </a:r>
            <a:r>
              <a:rPr lang="en-US" i="1" dirty="0"/>
              <a:t>join </a:t>
            </a:r>
            <a:r>
              <a:rPr lang="en-US" dirty="0"/>
              <a:t>condition is used.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Simple way to couple relations: list each relation in the </a:t>
            </a:r>
            <a:r>
              <a:rPr lang="en-US" dirty="0">
                <a:solidFill>
                  <a:srgbClr val="FF0000"/>
                </a:solidFill>
              </a:rPr>
              <a:t>From</a:t>
            </a:r>
            <a:r>
              <a:rPr lang="en-US" dirty="0"/>
              <a:t> clause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Other clauses in query can refer to the attributes of any of the relations in the </a:t>
            </a:r>
            <a:r>
              <a:rPr lang="en-US" dirty="0">
                <a:solidFill>
                  <a:srgbClr val="FF0000"/>
                </a:solidFill>
              </a:rPr>
              <a:t>From</a:t>
            </a:r>
            <a:r>
              <a:rPr lang="en-US" dirty="0"/>
              <a:t> clause</a:t>
            </a:r>
            <a:endParaRPr dirty="0"/>
          </a:p>
        </p:txBody>
      </p:sp>
      <p:sp>
        <p:nvSpPr>
          <p:cNvPr id="496" name="Google Shape;496;p34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 dirty="0"/>
              <a:t>Products and Joins in SQL</a:t>
            </a:r>
            <a:endParaRPr dirty="0"/>
          </a:p>
        </p:txBody>
      </p:sp>
      <p:sp>
        <p:nvSpPr>
          <p:cNvPr id="497" name="Google Shape;497;p3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498" name="Google Shape;498;p3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5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Example </a:t>
            </a:r>
            <a:r>
              <a:rPr lang="vi-VN" dirty="0"/>
              <a:t>8</a:t>
            </a:r>
            <a:r>
              <a:rPr lang="en-US" dirty="0"/>
              <a:t>:</a:t>
            </a:r>
            <a:endParaRPr lang="vi-VN" dirty="0"/>
          </a:p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000" dirty="0"/>
              <a:t>Movies(title, year, length, genre, </a:t>
            </a:r>
            <a:r>
              <a:rPr lang="en-US" sz="2000" dirty="0" err="1"/>
              <a:t>studioName</a:t>
            </a:r>
            <a:r>
              <a:rPr lang="en-US" sz="2000" dirty="0"/>
              <a:t>, </a:t>
            </a:r>
            <a:r>
              <a:rPr lang="en-US" sz="2000" dirty="0" err="1"/>
              <a:t>producerC</a:t>
            </a:r>
            <a:r>
              <a:rPr lang="en-US" sz="2000" dirty="0"/>
              <a:t>#) </a:t>
            </a:r>
            <a:endParaRPr lang="vi-VN" sz="2000" dirty="0"/>
          </a:p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000" dirty="0" err="1"/>
              <a:t>MovieExec</a:t>
            </a:r>
            <a:r>
              <a:rPr lang="en-US" sz="2000" dirty="0"/>
              <a:t>(name, address, cert#, </a:t>
            </a:r>
            <a:r>
              <a:rPr lang="en-US" sz="2000" dirty="0" err="1"/>
              <a:t>netWorth</a:t>
            </a:r>
            <a:r>
              <a:rPr lang="en-US" sz="2000" dirty="0"/>
              <a:t>) </a:t>
            </a:r>
            <a:endParaRPr sz="2000"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vi-VN" dirty="0"/>
              <a:t>List all </a:t>
            </a:r>
            <a:r>
              <a:rPr lang="vi-VN" b="1" dirty="0"/>
              <a:t>n</a:t>
            </a:r>
            <a:r>
              <a:rPr lang="en-US" b="1" dirty="0" err="1"/>
              <a:t>ame</a:t>
            </a:r>
            <a:r>
              <a:rPr lang="en-US" dirty="0"/>
              <a:t> of the producer of the movie </a:t>
            </a:r>
            <a:r>
              <a:rPr lang="vi-VN" dirty="0"/>
              <a:t>‘</a:t>
            </a:r>
            <a:r>
              <a:rPr lang="en-US" dirty="0"/>
              <a:t>Star </a:t>
            </a:r>
            <a:r>
              <a:rPr lang="vi-VN" dirty="0"/>
              <a:t>Wars’</a:t>
            </a:r>
            <a:r>
              <a:rPr lang="en-US" dirty="0"/>
              <a:t>.</a:t>
            </a:r>
            <a:endParaRPr lang="vi-VN" dirty="0"/>
          </a:p>
          <a:p>
            <a:r>
              <a:rPr lang="en-US" dirty="0"/>
              <a:t>SELECT name </a:t>
            </a:r>
          </a:p>
          <a:p>
            <a:r>
              <a:rPr lang="en-US" dirty="0"/>
              <a:t>FROM Movies, </a:t>
            </a:r>
            <a:r>
              <a:rPr lang="en-US" dirty="0" err="1"/>
              <a:t>MovieExec</a:t>
            </a:r>
            <a:r>
              <a:rPr lang="en-US" dirty="0"/>
              <a:t> </a:t>
            </a:r>
          </a:p>
          <a:p>
            <a:r>
              <a:rPr lang="en-US" dirty="0"/>
              <a:t>WHERE title = ’Star </a:t>
            </a:r>
            <a:r>
              <a:rPr lang="vi-VN" dirty="0"/>
              <a:t>Wars</a:t>
            </a:r>
            <a:r>
              <a:rPr lang="en-US" dirty="0"/>
              <a:t>’ AND </a:t>
            </a:r>
            <a:r>
              <a:rPr lang="en-US" dirty="0" err="1"/>
              <a:t>producerC</a:t>
            </a:r>
            <a:r>
              <a:rPr lang="en-US" dirty="0"/>
              <a:t># = cert#;</a:t>
            </a: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endParaRPr dirty="0"/>
          </a:p>
        </p:txBody>
      </p:sp>
      <p:sp>
        <p:nvSpPr>
          <p:cNvPr id="505" name="Google Shape;505;p35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Products and Joins in SQL</a:t>
            </a:r>
            <a:endParaRPr/>
          </a:p>
        </p:txBody>
      </p:sp>
      <p:sp>
        <p:nvSpPr>
          <p:cNvPr id="507" name="Google Shape;507;p3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508" name="Google Shape;508;p3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6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… a query involves several relations, and there are two or more attributes with the same name?</a:t>
            </a:r>
            <a:endParaRPr/>
          </a:p>
        </p:txBody>
      </p:sp>
      <p:sp>
        <p:nvSpPr>
          <p:cNvPr id="515" name="Google Shape;515;p36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What we do if …</a:t>
            </a:r>
            <a:endParaRPr/>
          </a:p>
        </p:txBody>
      </p:sp>
      <p:sp>
        <p:nvSpPr>
          <p:cNvPr id="516" name="Google Shape;516;p3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517" name="Google Shape;517;p3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7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10000"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We may list a relation R as many times as we need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We use tuple variables to refer to each occurrence of R</a:t>
            </a:r>
            <a:endParaRPr lang="vi-VN"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List the pairs of names of </a:t>
            </a:r>
            <a:r>
              <a:rPr lang="en-US" dirty="0" err="1"/>
              <a:t>MovieStar</a:t>
            </a:r>
            <a:r>
              <a:rPr lang="en-US" dirty="0"/>
              <a:t> from the </a:t>
            </a:r>
            <a:r>
              <a:rPr lang="en-US" dirty="0" err="1"/>
              <a:t>MovieStar</a:t>
            </a:r>
            <a:r>
              <a:rPr lang="en-US" dirty="0"/>
              <a:t> table who have the same address, with an additional condition that the name of the first star (Starl.name) must be alphabetically smaller than the name of the second star (Star2.name)</a:t>
            </a:r>
            <a:r>
              <a:rPr lang="vi-VN" dirty="0"/>
              <a:t>:</a:t>
            </a:r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SELECT Starl.name, Star2.name </a:t>
            </a:r>
            <a:endParaRPr lang="vi-VN"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FROM </a:t>
            </a:r>
            <a:r>
              <a:rPr lang="en-US" dirty="0" err="1"/>
              <a:t>MovieStar</a:t>
            </a:r>
            <a:r>
              <a:rPr lang="en-US" dirty="0"/>
              <a:t> </a:t>
            </a:r>
            <a:r>
              <a:rPr lang="en-US" dirty="0" err="1"/>
              <a:t>Starl</a:t>
            </a:r>
            <a:r>
              <a:rPr lang="en-US" dirty="0"/>
              <a:t>, </a:t>
            </a:r>
            <a:r>
              <a:rPr lang="en-US" dirty="0" err="1"/>
              <a:t>MovieStar</a:t>
            </a:r>
            <a:r>
              <a:rPr lang="en-US" dirty="0"/>
              <a:t> Star2 </a:t>
            </a:r>
            <a:endParaRPr lang="vi-VN"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WHERE </a:t>
            </a:r>
            <a:r>
              <a:rPr lang="en-US" dirty="0" err="1"/>
              <a:t>Starl.address</a:t>
            </a:r>
            <a:r>
              <a:rPr lang="en-US" dirty="0"/>
              <a:t> = Star2.address</a:t>
            </a:r>
            <a:endParaRPr lang="vi-VN"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 AND Starl.name &lt; Star2.name;</a:t>
            </a:r>
            <a:endParaRPr dirty="0"/>
          </a:p>
        </p:txBody>
      </p:sp>
      <p:sp>
        <p:nvSpPr>
          <p:cNvPr id="524" name="Google Shape;524;p37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 dirty="0"/>
              <a:t>Tuple Variables</a:t>
            </a:r>
            <a:endParaRPr dirty="0"/>
          </a:p>
        </p:txBody>
      </p:sp>
      <p:sp>
        <p:nvSpPr>
          <p:cNvPr id="525" name="Google Shape;525;p3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526" name="Google Shape;526;p3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8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Example 8: 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List </a:t>
            </a:r>
            <a:r>
              <a:rPr lang="vi-VN" dirty="0"/>
              <a:t>all</a:t>
            </a:r>
            <a:r>
              <a:rPr lang="en-US" dirty="0"/>
              <a:t> </a:t>
            </a:r>
            <a:r>
              <a:rPr lang="en-US" b="1" dirty="0"/>
              <a:t>name</a:t>
            </a:r>
            <a:r>
              <a:rPr lang="en-US" dirty="0"/>
              <a:t> of the producer of the movie Star Wars from the </a:t>
            </a:r>
            <a:r>
              <a:rPr lang="en-US" dirty="0" err="1"/>
              <a:t>MovieExec</a:t>
            </a:r>
            <a:endParaRPr dirty="0"/>
          </a:p>
        </p:txBody>
      </p:sp>
      <p:sp>
        <p:nvSpPr>
          <p:cNvPr id="533" name="Google Shape;533;p38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 dirty="0"/>
              <a:t>Disambiguating Attributes</a:t>
            </a:r>
            <a:endParaRPr dirty="0"/>
          </a:p>
        </p:txBody>
      </p:sp>
      <p:sp>
        <p:nvSpPr>
          <p:cNvPr id="535" name="Google Shape;535;p3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536" name="Google Shape;536;p3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C1DE13-77AD-E328-005D-3142ABDBD45D}"/>
              </a:ext>
            </a:extLst>
          </p:cNvPr>
          <p:cNvSpPr txBox="1"/>
          <p:nvPr/>
        </p:nvSpPr>
        <p:spPr>
          <a:xfrm>
            <a:off x="975360" y="3059668"/>
            <a:ext cx="61366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SELECT MovieExec.name</a:t>
            </a:r>
            <a:endParaRPr lang="vi-VN" sz="2000" dirty="0"/>
          </a:p>
          <a:p>
            <a:r>
              <a:rPr lang="vi-VN" sz="2000" dirty="0"/>
              <a:t>	</a:t>
            </a:r>
            <a:r>
              <a:rPr lang="en-US" sz="2000" dirty="0"/>
              <a:t> FROM Movies, </a:t>
            </a:r>
            <a:r>
              <a:rPr lang="en-US" sz="2000" dirty="0" err="1"/>
              <a:t>MovieExec</a:t>
            </a:r>
            <a:r>
              <a:rPr lang="en-US" sz="2000" dirty="0"/>
              <a:t> </a:t>
            </a:r>
            <a:endParaRPr lang="vi-VN" sz="2000" dirty="0"/>
          </a:p>
          <a:p>
            <a:r>
              <a:rPr lang="vi-VN" sz="2000" dirty="0"/>
              <a:t>	</a:t>
            </a:r>
            <a:r>
              <a:rPr lang="en-US" sz="2000" dirty="0"/>
              <a:t>WHERE </a:t>
            </a:r>
            <a:r>
              <a:rPr lang="en-US" sz="2000" dirty="0" err="1"/>
              <a:t>Movie.title</a:t>
            </a:r>
            <a:r>
              <a:rPr lang="en-US" sz="2000" dirty="0"/>
              <a:t> = ’Star Wars’ </a:t>
            </a:r>
            <a:endParaRPr lang="vi-VN" sz="2000" dirty="0"/>
          </a:p>
          <a:p>
            <a:r>
              <a:rPr lang="vi-VN" sz="2000" dirty="0"/>
              <a:t>	</a:t>
            </a:r>
            <a:r>
              <a:rPr lang="en-US" sz="2000" dirty="0"/>
              <a:t>AND </a:t>
            </a:r>
            <a:r>
              <a:rPr lang="en-US" sz="2000" dirty="0" err="1"/>
              <a:t>Movie.producerC</a:t>
            </a:r>
            <a:r>
              <a:rPr lang="en-US" sz="2000" dirty="0"/>
              <a:t># = </a:t>
            </a:r>
            <a:r>
              <a:rPr lang="en-US" sz="2000" dirty="0" err="1"/>
              <a:t>MovieExec.cert</a:t>
            </a:r>
            <a:r>
              <a:rPr lang="en-US" sz="2000" dirty="0"/>
              <a:t>#;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9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… a query involves two or more tuples from the same relation?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Example 9: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Find movies (Movie Title and Release Year) with multiple different producers</a:t>
            </a:r>
            <a:endParaRPr dirty="0"/>
          </a:p>
        </p:txBody>
      </p:sp>
      <p:sp>
        <p:nvSpPr>
          <p:cNvPr id="543" name="Google Shape;543;p39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What we do if …</a:t>
            </a:r>
            <a:endParaRPr/>
          </a:p>
        </p:txBody>
      </p:sp>
      <p:sp>
        <p:nvSpPr>
          <p:cNvPr id="545" name="Google Shape;545;p3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546" name="Google Shape;546;p3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1713B-6EFD-C1CB-9009-BFD0775F60E6}"/>
              </a:ext>
            </a:extLst>
          </p:cNvPr>
          <p:cNvSpPr txBox="1"/>
          <p:nvPr/>
        </p:nvSpPr>
        <p:spPr>
          <a:xfrm>
            <a:off x="1809742" y="3662038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DISTINCT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m1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title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'Movie Title'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m1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'Release Year'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Movies m1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Movies m2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m1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title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m2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title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m1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m2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m1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producerC#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&lt;&gt;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m2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producerC#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0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We combine relations using the set operations of relational algebra: union, intersection, and difference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SQL provides corresponding operators with </a:t>
            </a:r>
            <a:r>
              <a:rPr lang="en-US">
                <a:solidFill>
                  <a:srgbClr val="FF0000"/>
                </a:solidFill>
              </a:rPr>
              <a:t>UNION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INTERSECT</a:t>
            </a:r>
            <a:r>
              <a:rPr lang="en-US"/>
              <a:t>, and </a:t>
            </a:r>
            <a:r>
              <a:rPr lang="en-US">
                <a:solidFill>
                  <a:srgbClr val="FF0000"/>
                </a:solidFill>
              </a:rPr>
              <a:t>EXCEPT</a:t>
            </a:r>
            <a:r>
              <a:rPr lang="en-US"/>
              <a:t> for ∪, ∩, and -, respectively</a:t>
            </a:r>
            <a:endParaRPr/>
          </a:p>
        </p:txBody>
      </p:sp>
      <p:sp>
        <p:nvSpPr>
          <p:cNvPr id="553" name="Google Shape;553;p40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Union, Intersection, Difference of Queries</a:t>
            </a:r>
            <a:endParaRPr/>
          </a:p>
        </p:txBody>
      </p:sp>
      <p:sp>
        <p:nvSpPr>
          <p:cNvPr id="554" name="Google Shape;554;p4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555" name="Google Shape;555;p4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1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Example 10.1</a:t>
            </a:r>
            <a:endParaRPr dirty="0"/>
          </a:p>
          <a:p>
            <a:r>
              <a:rPr lang="en-US" dirty="0"/>
              <a:t>find movies with :</a:t>
            </a:r>
          </a:p>
          <a:p>
            <a:r>
              <a:rPr lang="en-US" dirty="0"/>
              <a:t>--The movie title starts with the letter "H.“</a:t>
            </a:r>
            <a:r>
              <a:rPr lang="vi-VN" dirty="0"/>
              <a:t> or</a:t>
            </a:r>
            <a:r>
              <a:rPr lang="en-US" dirty="0"/>
              <a:t>The movie duration is greater than 120 minutes.</a:t>
            </a:r>
          </a:p>
        </p:txBody>
      </p:sp>
      <p:sp>
        <p:nvSpPr>
          <p:cNvPr id="561" name="Google Shape;561;p41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Union, Intersection, Difference of Queries</a:t>
            </a:r>
            <a:endParaRPr/>
          </a:p>
        </p:txBody>
      </p:sp>
      <p:sp>
        <p:nvSpPr>
          <p:cNvPr id="563" name="Google Shape;563;p4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564" name="Google Shape;564;p4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419E56-141B-0216-2366-D2F884BD5714}"/>
              </a:ext>
            </a:extLst>
          </p:cNvPr>
          <p:cNvSpPr txBox="1"/>
          <p:nvPr/>
        </p:nvSpPr>
        <p:spPr>
          <a:xfrm>
            <a:off x="1036320" y="3059668"/>
            <a:ext cx="75996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* FROM Movies WHERE title LIKE 'H%’</a:t>
            </a:r>
            <a:endParaRPr lang="vi-VN" dirty="0"/>
          </a:p>
          <a:p>
            <a:r>
              <a:rPr lang="en-US" dirty="0"/>
              <a:t> UNION </a:t>
            </a:r>
            <a:endParaRPr lang="vi-VN" dirty="0"/>
          </a:p>
          <a:p>
            <a:r>
              <a:rPr lang="en-US" dirty="0"/>
              <a:t>SELECT * FROM Movies WHERE length &gt; 120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2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Example 10.2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Find all those </a:t>
            </a:r>
            <a:r>
              <a:rPr lang="en-US" i="1" dirty="0"/>
              <a:t>normal</a:t>
            </a:r>
            <a:r>
              <a:rPr lang="en-US" dirty="0"/>
              <a:t> employees, that is who do not supervise any other employees</a:t>
            </a:r>
            <a:endParaRPr dirty="0"/>
          </a:p>
        </p:txBody>
      </p:sp>
      <p:sp>
        <p:nvSpPr>
          <p:cNvPr id="570" name="Google Shape;570;p42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Union, Intersection, Difference of Queries</a:t>
            </a:r>
            <a:endParaRPr/>
          </a:p>
        </p:txBody>
      </p:sp>
      <p:sp>
        <p:nvSpPr>
          <p:cNvPr id="572" name="Google Shape;572;p4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573" name="Google Shape;573;p4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E33AD7-52F5-0478-5303-3537BA0AE6C3}"/>
              </a:ext>
            </a:extLst>
          </p:cNvPr>
          <p:cNvSpPr txBox="1"/>
          <p:nvPr/>
        </p:nvSpPr>
        <p:spPr>
          <a:xfrm>
            <a:off x="487680" y="3167390"/>
            <a:ext cx="6370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title, year FROM Movies </a:t>
            </a:r>
            <a:endParaRPr lang="vi-VN" dirty="0"/>
          </a:p>
          <a:p>
            <a:r>
              <a:rPr lang="en-US" dirty="0"/>
              <a:t>EXCEPT</a:t>
            </a:r>
            <a:endParaRPr lang="vi-VN" dirty="0"/>
          </a:p>
          <a:p>
            <a:r>
              <a:rPr lang="en-US" dirty="0"/>
              <a:t>SELECT </a:t>
            </a:r>
            <a:r>
              <a:rPr lang="en-US" dirty="0" err="1"/>
              <a:t>movieTitle</a:t>
            </a:r>
            <a:r>
              <a:rPr lang="en-US" dirty="0"/>
              <a:t>, </a:t>
            </a:r>
            <a:r>
              <a:rPr lang="en-US" dirty="0" err="1"/>
              <a:t>movieYear</a:t>
            </a:r>
            <a:r>
              <a:rPr lang="en-US" dirty="0"/>
              <a:t> FROM </a:t>
            </a:r>
            <a:r>
              <a:rPr lang="en-US" dirty="0" err="1"/>
              <a:t>StarsIn</a:t>
            </a:r>
            <a:r>
              <a:rPr lang="en-US" dirty="0"/>
              <a:t>;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D07886-0279-E627-5D78-5FD0EA35D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find the movies that are in the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Movies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table but not in the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StarsIn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table (i.e., movies that do not have any stars involved)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3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Example 10.3</a:t>
            </a:r>
            <a:endParaRPr lang="vi-VN" dirty="0"/>
          </a:p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To find all the stars who have appeared in movies produced in 2023 and 2024.</a:t>
            </a:r>
            <a:endParaRPr dirty="0"/>
          </a:p>
        </p:txBody>
      </p:sp>
      <p:sp>
        <p:nvSpPr>
          <p:cNvPr id="579" name="Google Shape;579;p43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Union, Intersection, Difference of Queries</a:t>
            </a:r>
            <a:endParaRPr/>
          </a:p>
        </p:txBody>
      </p:sp>
      <p:sp>
        <p:nvSpPr>
          <p:cNvPr id="581" name="Google Shape;581;p4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582" name="Google Shape;582;p4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561B0-44B9-1437-902C-EB39AF2F9447}"/>
              </a:ext>
            </a:extLst>
          </p:cNvPr>
          <p:cNvSpPr txBox="1"/>
          <p:nvPr/>
        </p:nvSpPr>
        <p:spPr>
          <a:xfrm>
            <a:off x="2286000" y="2628781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starName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StarsIn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movieYear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2023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INTERSECT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starName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StarsIn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movieYear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2024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4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589" name="Google Shape;589;p44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6.3 SUB QUERIES</a:t>
            </a:r>
            <a:endParaRPr/>
          </a:p>
        </p:txBody>
      </p:sp>
      <p:sp>
        <p:nvSpPr>
          <p:cNvPr id="590" name="Google Shape;590;p4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591" name="Google Shape;591;p4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5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One query can be used to help in the evaluation of another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A query that is part of another is called a </a:t>
            </a:r>
            <a:r>
              <a:rPr lang="en-US">
                <a:solidFill>
                  <a:srgbClr val="FF0000"/>
                </a:solidFill>
              </a:rPr>
              <a:t>sub-query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Sub-queries return a single constant, this constant can be compared with another value in a </a:t>
            </a:r>
            <a:r>
              <a:rPr lang="en-US">
                <a:solidFill>
                  <a:srgbClr val="FF0000"/>
                </a:solidFill>
              </a:rPr>
              <a:t>WHERE</a:t>
            </a:r>
            <a:r>
              <a:rPr lang="en-US"/>
              <a:t> clause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Sub-queries return relations, that can be used in </a:t>
            </a:r>
            <a:r>
              <a:rPr lang="en-US">
                <a:solidFill>
                  <a:srgbClr val="FF0000"/>
                </a:solidFill>
              </a:rPr>
              <a:t>WHERE</a:t>
            </a:r>
            <a:r>
              <a:rPr lang="en-US"/>
              <a:t> clause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Sub-queries can appear in </a:t>
            </a:r>
            <a:r>
              <a:rPr lang="en-US">
                <a:solidFill>
                  <a:srgbClr val="FF0000"/>
                </a:solidFill>
              </a:rPr>
              <a:t>FROM</a:t>
            </a:r>
            <a:r>
              <a:rPr lang="en-US"/>
              <a:t> clauses, followed by a tuple variable</a:t>
            </a:r>
            <a:endParaRPr/>
          </a:p>
        </p:txBody>
      </p:sp>
      <p:sp>
        <p:nvSpPr>
          <p:cNvPr id="598" name="Google Shape;598;p45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Sub-queries</a:t>
            </a:r>
            <a:endParaRPr/>
          </a:p>
        </p:txBody>
      </p:sp>
      <p:sp>
        <p:nvSpPr>
          <p:cNvPr id="599" name="Google Shape;599;p4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600" name="Google Shape;600;p4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6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An atomic value that can appear as one component of a tuple is referred to as a </a:t>
            </a:r>
            <a:r>
              <a:rPr lang="en-US">
                <a:solidFill>
                  <a:srgbClr val="FF0000"/>
                </a:solidFill>
              </a:rPr>
              <a:t>scalar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Let’s compare two queries for the same request</a:t>
            </a:r>
            <a:endParaRPr/>
          </a:p>
        </p:txBody>
      </p:sp>
      <p:sp>
        <p:nvSpPr>
          <p:cNvPr id="607" name="Google Shape;607;p46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Sub-queries that Produce Scalar Values</a:t>
            </a:r>
            <a:endParaRPr/>
          </a:p>
        </p:txBody>
      </p:sp>
      <p:sp>
        <p:nvSpPr>
          <p:cNvPr id="608" name="Google Shape;608;p4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609" name="Google Shape;609;p4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7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en-US" dirty="0"/>
              <a:t>Example 7: </a:t>
            </a:r>
          </a:p>
          <a:p>
            <a:r>
              <a:rPr lang="en-US" dirty="0"/>
              <a:t>To find all the stars who have appeared in horror movies.</a:t>
            </a:r>
          </a:p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endParaRPr dirty="0"/>
          </a:p>
        </p:txBody>
      </p:sp>
      <p:sp>
        <p:nvSpPr>
          <p:cNvPr id="615" name="Google Shape;615;p47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Sub-queries that Produce Scalar Values</a:t>
            </a:r>
            <a:endParaRPr/>
          </a:p>
        </p:txBody>
      </p:sp>
      <p:sp>
        <p:nvSpPr>
          <p:cNvPr id="617" name="Google Shape;617;p4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618" name="Google Shape;618;p4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6D805-15E2-4AE9-BBE6-C440B92A84E9}"/>
              </a:ext>
            </a:extLst>
          </p:cNvPr>
          <p:cNvSpPr txBox="1"/>
          <p:nvPr/>
        </p:nvSpPr>
        <p:spPr>
          <a:xfrm>
            <a:off x="585923" y="3059668"/>
            <a:ext cx="79721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s.starName</a:t>
            </a:r>
            <a:r>
              <a:rPr lang="en-US" dirty="0"/>
              <a:t> FROM </a:t>
            </a:r>
            <a:r>
              <a:rPr lang="en-US" dirty="0" err="1"/>
              <a:t>StarsIn</a:t>
            </a:r>
            <a:r>
              <a:rPr lang="en-US" dirty="0"/>
              <a:t> s, Movies m </a:t>
            </a:r>
            <a:endParaRPr lang="vi-VN" dirty="0"/>
          </a:p>
          <a:p>
            <a:r>
              <a:rPr lang="en-US" dirty="0"/>
              <a:t>WHERE </a:t>
            </a:r>
            <a:r>
              <a:rPr lang="en-US" dirty="0" err="1"/>
              <a:t>s.movieTitle</a:t>
            </a:r>
            <a:r>
              <a:rPr lang="en-US" dirty="0"/>
              <a:t> = </a:t>
            </a:r>
            <a:r>
              <a:rPr lang="en-US" dirty="0" err="1"/>
              <a:t>m.title</a:t>
            </a:r>
            <a:r>
              <a:rPr lang="en-US" dirty="0"/>
              <a:t> AND </a:t>
            </a:r>
            <a:r>
              <a:rPr lang="en-US" dirty="0" err="1"/>
              <a:t>s.movieYear</a:t>
            </a:r>
            <a:r>
              <a:rPr lang="en-US" dirty="0"/>
              <a:t> = </a:t>
            </a:r>
            <a:r>
              <a:rPr lang="en-US" dirty="0" err="1"/>
              <a:t>m.year</a:t>
            </a:r>
            <a:r>
              <a:rPr lang="en-US" dirty="0"/>
              <a:t> AND </a:t>
            </a:r>
            <a:r>
              <a:rPr lang="en-US" dirty="0" err="1"/>
              <a:t>m.genre</a:t>
            </a:r>
            <a:r>
              <a:rPr lang="en-US" dirty="0"/>
              <a:t> LIKE '%Horror%';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48B68-4520-17F1-074B-AB8FB2E0C6B4}"/>
              </a:ext>
            </a:extLst>
          </p:cNvPr>
          <p:cNvSpPr txBox="1"/>
          <p:nvPr/>
        </p:nvSpPr>
        <p:spPr>
          <a:xfrm>
            <a:off x="1137920" y="4415094"/>
            <a:ext cx="7630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starName</a:t>
            </a:r>
            <a:r>
              <a:rPr lang="en-US" dirty="0"/>
              <a:t> FROM </a:t>
            </a:r>
            <a:r>
              <a:rPr lang="en-US" dirty="0" err="1"/>
              <a:t>StarsIn</a:t>
            </a:r>
            <a:r>
              <a:rPr lang="en-US" dirty="0"/>
              <a:t> </a:t>
            </a:r>
            <a:endParaRPr lang="vi-VN" dirty="0"/>
          </a:p>
          <a:p>
            <a:r>
              <a:rPr lang="en-US" dirty="0"/>
              <a:t>WHERE </a:t>
            </a:r>
            <a:r>
              <a:rPr lang="en-US" dirty="0" err="1"/>
              <a:t>movieTitle</a:t>
            </a:r>
            <a:r>
              <a:rPr lang="en-US" dirty="0"/>
              <a:t> IN ( SELECT title FROM Movies WHERE genre LIKE '%Horror%' );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8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Example 11: </a:t>
            </a:r>
            <a:r>
              <a:rPr lang="vi-VN" dirty="0"/>
              <a:t>Khác nhau gì</a:t>
            </a:r>
            <a:endParaRPr dirty="0"/>
          </a:p>
        </p:txBody>
      </p:sp>
      <p:sp>
        <p:nvSpPr>
          <p:cNvPr id="624" name="Google Shape;624;p48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Sub-queries that Produce Scalar Values</a:t>
            </a:r>
            <a:endParaRPr/>
          </a:p>
        </p:txBody>
      </p:sp>
      <p:sp>
        <p:nvSpPr>
          <p:cNvPr id="626" name="Google Shape;626;p4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627" name="Google Shape;627;p4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BA1B1-5085-4F78-92A4-155FD0C5B290}"/>
              </a:ext>
            </a:extLst>
          </p:cNvPr>
          <p:cNvSpPr txBox="1"/>
          <p:nvPr/>
        </p:nvSpPr>
        <p:spPr>
          <a:xfrm>
            <a:off x="2286000" y="3059668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title, year FROM Movies WHERE </a:t>
            </a:r>
            <a:r>
              <a:rPr lang="en-US" dirty="0" err="1"/>
              <a:t>producerC</a:t>
            </a:r>
            <a:r>
              <a:rPr lang="en-US" dirty="0"/>
              <a:t># = ( SELECT cert# FROM </a:t>
            </a:r>
            <a:r>
              <a:rPr lang="en-US" dirty="0" err="1"/>
              <a:t>MovieExec</a:t>
            </a:r>
            <a:r>
              <a:rPr lang="en-US" dirty="0"/>
              <a:t> WHERE name = 'A’ );</a:t>
            </a:r>
            <a:endParaRPr lang="vi-VN" dirty="0"/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r>
              <a:rPr lang="en-US" dirty="0"/>
              <a:t>SELECT title, year FROM Movies WHERE </a:t>
            </a:r>
            <a:r>
              <a:rPr lang="en-US" dirty="0" err="1"/>
              <a:t>producerC</a:t>
            </a:r>
            <a:r>
              <a:rPr lang="en-US" dirty="0"/>
              <a:t># IN ( SELECT cert# FROM </a:t>
            </a:r>
            <a:r>
              <a:rPr lang="en-US" dirty="0" err="1"/>
              <a:t>MovieExec</a:t>
            </a:r>
            <a:r>
              <a:rPr lang="en-US" dirty="0"/>
              <a:t> WHERE name = 'A' );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9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70000" lnSpcReduction="20000"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Example 11: </a:t>
            </a:r>
            <a:r>
              <a:rPr lang="vi-VN" dirty="0"/>
              <a:t> Giống nhau</a:t>
            </a:r>
            <a:endParaRPr dirty="0"/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starName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StarsIn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movieTitle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title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Movies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genre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'%Horror%'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starName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StarsIn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movieTitle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vi-VN" sz="1800" dirty="0">
                <a:solidFill>
                  <a:srgbClr val="808080"/>
                </a:solidFill>
                <a:latin typeface="Consolas" panose="020B0609020204030204" pitchFamily="49" charset="0"/>
              </a:rPr>
              <a:t> any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title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Movies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genre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'%Horror%'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33" name="Google Shape;633;p49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Sub-queries that Produce Scalar Values</a:t>
            </a:r>
            <a:endParaRPr/>
          </a:p>
        </p:txBody>
      </p:sp>
      <p:sp>
        <p:nvSpPr>
          <p:cNvPr id="635" name="Google Shape;635;p4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636" name="Google Shape;636;p4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1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Some SQL operators can be applied to a relation R and produce a bool result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(EXISTS R = True) ⇔ R is not empty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(s IN R = True) ⇔ s is equal to one of the values of R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(s &gt; ALL R = True) ⇔ s is greater than every values in unary R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(s &gt; ANY R = True) ⇔ s is greater than at least one value in unary R</a:t>
            </a:r>
            <a:endParaRPr/>
          </a:p>
        </p:txBody>
      </p:sp>
      <p:sp>
        <p:nvSpPr>
          <p:cNvPr id="652" name="Google Shape;652;p51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Conditions Involving Relations</a:t>
            </a:r>
            <a:endParaRPr/>
          </a:p>
        </p:txBody>
      </p:sp>
      <p:sp>
        <p:nvSpPr>
          <p:cNvPr id="653" name="Google Shape;653;p5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654" name="Google Shape;654;p5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2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A tuple in SQL is represented by a list of scalar values between ()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If a tuple t has the same number of components as a relation R, then we may compare t and R with IN, ANY, ALL</a:t>
            </a:r>
            <a:endParaRPr/>
          </a:p>
        </p:txBody>
      </p:sp>
      <p:sp>
        <p:nvSpPr>
          <p:cNvPr id="661" name="Google Shape;661;p52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Conditions Involving Tuples</a:t>
            </a:r>
            <a:endParaRPr/>
          </a:p>
        </p:txBody>
      </p:sp>
      <p:sp>
        <p:nvSpPr>
          <p:cNvPr id="662" name="Google Shape;662;p5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663" name="Google Shape;663;p5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4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To now, sub-queries can be evaluated once and for all, the result used in a higher-level query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But, some sub-queries are required to be evaluated many times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That kind of sub-queries is called correlated sub-query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Note: </a:t>
            </a:r>
            <a:r>
              <a:rPr lang="en-US" i="1">
                <a:solidFill>
                  <a:srgbClr val="FF0000"/>
                </a:solidFill>
              </a:rPr>
              <a:t>Scoping rules </a:t>
            </a:r>
            <a:r>
              <a:rPr lang="en-US">
                <a:solidFill>
                  <a:srgbClr val="FF0000"/>
                </a:solidFill>
              </a:rPr>
              <a:t>for names</a:t>
            </a:r>
            <a:endParaRPr/>
          </a:p>
        </p:txBody>
      </p:sp>
      <p:sp>
        <p:nvSpPr>
          <p:cNvPr id="679" name="Google Shape;679;p54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Correlated Sub-queries</a:t>
            </a:r>
            <a:endParaRPr/>
          </a:p>
        </p:txBody>
      </p:sp>
      <p:sp>
        <p:nvSpPr>
          <p:cNvPr id="680" name="Google Shape;680;p5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681" name="Google Shape;681;p5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6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Another example: 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Find the titles that have been used for two or movies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title</a:t>
            </a:r>
            <a:endParaRPr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Movies Old</a:t>
            </a:r>
            <a:endParaRPr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lang="en-US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year</a:t>
            </a:r>
            <a:r>
              <a:rPr lang="en-US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ANY</a:t>
            </a:r>
            <a:endParaRPr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66928" lvl="3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rPr lang="en-US" sz="2800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en-US" sz="28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year</a:t>
            </a:r>
            <a:endParaRPr sz="28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66928" lvl="3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r>
              <a:rPr lang="en-US" sz="28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-US" sz="28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Movies</a:t>
            </a:r>
            <a:endParaRPr sz="28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66928" lvl="3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r>
              <a:rPr lang="en-US" sz="28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lang="en-US" sz="28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title </a:t>
            </a:r>
            <a:r>
              <a:rPr lang="en-US" sz="2800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8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Old</a:t>
            </a:r>
            <a:r>
              <a:rPr lang="en-US" sz="2800" dirty="0" err="1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8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n-US" sz="2800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  <a:p>
            <a:pPr marL="2049463" lvl="1" indent="-2730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2000" dirty="0"/>
          </a:p>
        </p:txBody>
      </p:sp>
      <p:sp>
        <p:nvSpPr>
          <p:cNvPr id="698" name="Google Shape;698;p56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Correlated Sub-queries</a:t>
            </a:r>
            <a:endParaRPr/>
          </a:p>
        </p:txBody>
      </p:sp>
      <p:sp>
        <p:nvSpPr>
          <p:cNvPr id="699" name="Google Shape;699;p5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700" name="Google Shape;700;p5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7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6446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90"/>
              <a:buChar char=" "/>
            </a:pPr>
            <a:r>
              <a:rPr lang="en-US" sz="2590"/>
              <a:t>In a FROM list we can use a parenthesized sub-query</a:t>
            </a:r>
            <a:endParaRPr/>
          </a:p>
          <a:p>
            <a:pPr marL="91440" lvl="0" indent="-164465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590"/>
              <a:buChar char=" "/>
            </a:pPr>
            <a:r>
              <a:rPr lang="en-US" sz="2590"/>
              <a:t>We must give it a tuple-variable alias</a:t>
            </a:r>
            <a:endParaRPr/>
          </a:p>
          <a:p>
            <a:pPr marL="91440" lvl="0" indent="-164465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590"/>
              <a:buChar char=" "/>
            </a:pPr>
            <a:r>
              <a:rPr lang="en-US" sz="2590"/>
              <a:t>Example: Find the employees of </a:t>
            </a:r>
            <a:r>
              <a:rPr lang="en-US" sz="2590" i="1"/>
              <a:t>Phòng Phần mềm trong nước</a:t>
            </a:r>
            <a:endParaRPr sz="2590" i="1"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127"/>
              <a:buNone/>
            </a:pPr>
            <a:r>
              <a:rPr lang="en-US" sz="2127"/>
              <a:t>	SELECT 	*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127"/>
              <a:buNone/>
            </a:pPr>
            <a:r>
              <a:rPr lang="en-US" sz="2127"/>
              <a:t>	FROM 	tblEmployee e, </a:t>
            </a:r>
            <a:br>
              <a:rPr lang="en-US" sz="2127"/>
            </a:br>
            <a:r>
              <a:rPr lang="en-US" sz="2127"/>
              <a:t>		(SELECT depNum 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127"/>
              <a:buNone/>
            </a:pPr>
            <a:r>
              <a:rPr lang="en-US" sz="2127"/>
              <a:t>			FROM tblDepartment 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127"/>
              <a:buNone/>
            </a:pPr>
            <a:r>
              <a:rPr lang="en-US" sz="2127"/>
              <a:t>			WHERE depName=N'Phòng phần mềm trong nước') d</a:t>
            </a:r>
            <a:endParaRPr sz="2127"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127"/>
              <a:buNone/>
            </a:pPr>
            <a:r>
              <a:rPr lang="en-US" sz="2127"/>
              <a:t>	WHERE 	e.depNum=d.depNum</a:t>
            </a:r>
            <a:endParaRPr sz="2127"/>
          </a:p>
        </p:txBody>
      </p:sp>
      <p:sp>
        <p:nvSpPr>
          <p:cNvPr id="707" name="Google Shape;707;p57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Sub-queries in FROM Clauses</a:t>
            </a:r>
            <a:endParaRPr/>
          </a:p>
        </p:txBody>
      </p:sp>
      <p:sp>
        <p:nvSpPr>
          <p:cNvPr id="708" name="Google Shape;708;p5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709" name="Google Shape;709;p5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8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SQL Join Expressions can be stand as a query itself or can be used as sub-queries in </a:t>
            </a:r>
            <a:r>
              <a:rPr lang="en-US" dirty="0">
                <a:solidFill>
                  <a:srgbClr val="FF0000"/>
                </a:solidFill>
              </a:rPr>
              <a:t>FROM</a:t>
            </a:r>
            <a:r>
              <a:rPr lang="en-US" dirty="0"/>
              <a:t> clauses</a:t>
            </a:r>
            <a:endParaRPr dirty="0"/>
          </a:p>
          <a:p>
            <a:pPr marL="91440" lvl="0" indent="-1778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Cross Join in SQL= Cartesian Product</a:t>
            </a:r>
            <a:endParaRPr dirty="0"/>
          </a:p>
          <a:p>
            <a:pPr marL="384048" lvl="1" indent="-18288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Syntax: </a:t>
            </a:r>
            <a:r>
              <a:rPr lang="en-US" dirty="0">
                <a:solidFill>
                  <a:srgbClr val="FF0000"/>
                </a:solidFill>
              </a:rPr>
              <a:t>R CROSS JOIN S</a:t>
            </a:r>
            <a:r>
              <a:rPr lang="en-US" dirty="0"/>
              <a:t>;</a:t>
            </a:r>
            <a:endParaRPr dirty="0"/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Meaning: Each tuple of R connects to each tuple of S</a:t>
            </a:r>
            <a:endParaRPr dirty="0"/>
          </a:p>
        </p:txBody>
      </p:sp>
      <p:sp>
        <p:nvSpPr>
          <p:cNvPr id="716" name="Google Shape;716;p58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SQL Join Expressions</a:t>
            </a:r>
            <a:endParaRPr/>
          </a:p>
        </p:txBody>
      </p:sp>
      <p:sp>
        <p:nvSpPr>
          <p:cNvPr id="717" name="Google Shape;717;p5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718" name="Google Shape;718;p5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2F0C4B-E9A3-2AAF-9CF2-B8F1EECAD2D5}"/>
              </a:ext>
            </a:extLst>
          </p:cNvPr>
          <p:cNvSpPr txBox="1"/>
          <p:nvPr/>
        </p:nvSpPr>
        <p:spPr>
          <a:xfrm>
            <a:off x="914400" y="4309348"/>
            <a:ext cx="6918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S</a:t>
            </a:r>
            <a:r>
              <a:rPr lang="en-US" dirty="0"/>
              <a:t>ELECT * FROM </a:t>
            </a:r>
            <a:r>
              <a:rPr lang="vi-VN" dirty="0"/>
              <a:t> movies </a:t>
            </a:r>
            <a:r>
              <a:rPr lang="en-US" dirty="0"/>
              <a:t> CROSS JOIN </a:t>
            </a:r>
            <a:r>
              <a:rPr lang="vi-VN" dirty="0"/>
              <a:t>MoviesExec</a:t>
            </a:r>
            <a:r>
              <a:rPr lang="en-US" dirty="0"/>
              <a:t>; </a:t>
            </a:r>
            <a:endParaRPr lang="vi-VN" dirty="0"/>
          </a:p>
          <a:p>
            <a:r>
              <a:rPr lang="en-US" dirty="0"/>
              <a:t>SELECT * FROM </a:t>
            </a:r>
            <a:r>
              <a:rPr lang="vi-VN" dirty="0"/>
              <a:t>movies</a:t>
            </a:r>
            <a:r>
              <a:rPr lang="en-US" dirty="0"/>
              <a:t> , </a:t>
            </a:r>
            <a:r>
              <a:rPr lang="vi-VN" dirty="0"/>
              <a:t>MoviesExec</a:t>
            </a:r>
            <a:r>
              <a:rPr lang="en-US" dirty="0"/>
              <a:t>;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E597B-D263-93E5-91BD-EA9F6B42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0220C-8F15-8763-4C5D-EA540B26F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35606" y="1005544"/>
            <a:ext cx="8593681" cy="5069149"/>
          </a:xfrm>
        </p:spPr>
        <p:txBody>
          <a:bodyPr/>
          <a:lstStyle/>
          <a:p>
            <a:pPr marL="91440" lvl="0" indent="-177800" algn="l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Theta Join with ON keyword</a:t>
            </a:r>
          </a:p>
          <a:p>
            <a:pPr marL="384048" lvl="1" indent="-18288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dirty="0" err="1"/>
              <a:t>Systax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R JOIN S ON R.A=S.A</a:t>
            </a:r>
            <a:r>
              <a:rPr lang="en-US" dirty="0"/>
              <a:t>;</a:t>
            </a:r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Meaning: Each tuple of R connects to those tuples of S, which satisfy the condition after ON keyword</a:t>
            </a:r>
          </a:p>
          <a:p>
            <a:endParaRPr lang="vi-VN" dirty="0"/>
          </a:p>
          <a:p>
            <a:r>
              <a:rPr lang="en-US" dirty="0"/>
              <a:t>SELECT </a:t>
            </a:r>
            <a:r>
              <a:rPr lang="en-US" dirty="0" err="1"/>
              <a:t>m.title</a:t>
            </a:r>
            <a:r>
              <a:rPr lang="en-US" dirty="0"/>
              <a:t>, </a:t>
            </a:r>
            <a:r>
              <a:rPr lang="en-US" dirty="0" err="1"/>
              <a:t>m.year</a:t>
            </a:r>
            <a:r>
              <a:rPr lang="en-US" dirty="0"/>
              <a:t>, me.name, </a:t>
            </a:r>
            <a:r>
              <a:rPr lang="en-US" dirty="0" err="1"/>
              <a:t>me.netWorth</a:t>
            </a:r>
            <a:r>
              <a:rPr lang="en-US" dirty="0"/>
              <a:t> </a:t>
            </a:r>
            <a:endParaRPr lang="vi-VN" dirty="0"/>
          </a:p>
          <a:p>
            <a:r>
              <a:rPr lang="en-US" dirty="0"/>
              <a:t>FROM Movies m </a:t>
            </a:r>
            <a:endParaRPr lang="vi-VN" dirty="0"/>
          </a:p>
          <a:p>
            <a:r>
              <a:rPr lang="en-US" dirty="0"/>
              <a:t>JOIN </a:t>
            </a:r>
            <a:r>
              <a:rPr lang="en-US" dirty="0" err="1"/>
              <a:t>MovieExec</a:t>
            </a:r>
            <a:r>
              <a:rPr lang="en-US" dirty="0"/>
              <a:t> me ON </a:t>
            </a:r>
            <a:r>
              <a:rPr lang="en-US" dirty="0" err="1"/>
              <a:t>m.producerC</a:t>
            </a:r>
            <a:r>
              <a:rPr lang="en-US" dirty="0"/>
              <a:t># = </a:t>
            </a:r>
            <a:r>
              <a:rPr lang="en-US" dirty="0" err="1"/>
              <a:t>me.cert</a:t>
            </a:r>
            <a:r>
              <a:rPr lang="en-US" dirty="0"/>
              <a:t>#;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D123D-290B-43CE-5787-6D4089CEE6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59B46-2863-65A9-A9F4-5249E15B18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28086737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0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More Example</a:t>
            </a:r>
            <a:endParaRPr/>
          </a:p>
          <a:p>
            <a:pPr marL="384048" lvl="1" indent="-50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733" name="Google Shape;733;p60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SQL Join Expression</a:t>
            </a:r>
            <a:endParaRPr/>
          </a:p>
        </p:txBody>
      </p:sp>
      <p:sp>
        <p:nvSpPr>
          <p:cNvPr id="734" name="Google Shape;734;p6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735" name="Google Shape;735;p6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A natural join differs from a theta-join in that: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The join condition: all pairs of attributes from the two relations having a common name are equated, and there are no other condition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One of each pair of equated attributes is projected out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Syntax : Table1 NATURAL JOIN Table2 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b="1" dirty="0">
                <a:solidFill>
                  <a:srgbClr val="FF0000"/>
                </a:solidFill>
              </a:rPr>
              <a:t>Microsoft SQL SERVER DONOT SUPPORT NATURAL JOINS AT ALL</a:t>
            </a:r>
            <a:endParaRPr lang="vi-VN" b="1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Kết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nối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tựu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nhiên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.*,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.*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Movies m</a:t>
            </a: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Studio s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studioName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dirty="0"/>
          </a:p>
          <a:p>
            <a:pPr marL="384048" lvl="1" indent="-50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384048" lvl="1" indent="-50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742" name="Google Shape;742;p61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Natural Joins</a:t>
            </a:r>
            <a:endParaRPr/>
          </a:p>
        </p:txBody>
      </p:sp>
      <p:sp>
        <p:nvSpPr>
          <p:cNvPr id="743" name="Google Shape;743;p6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744" name="Google Shape;744;p6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A093-440F-7616-A29C-A941B08B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E146E-FA37-B088-004A-A7F459A3B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Kết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nối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tự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vi-VN" sz="1800" dirty="0">
                <a:solidFill>
                  <a:srgbClr val="008000"/>
                </a:solidFill>
                <a:latin typeface="Consolas" panose="020B0609020204030204" pitchFamily="49" charset="0"/>
              </a:rPr>
              <a:t>nhiên, hoặc có thể viết đầy đủ Inner joint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--SELECT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m.title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m.year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, s.name,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s.address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title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address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Movies m</a:t>
            </a: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Studio s 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studioName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179CC-DCD1-4A00-70BF-9D4E8125F3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89CD1-C96D-247A-062B-A4761FC94D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25918461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2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The outer join is a way to augment the result of join by the dangling tuples, padded with null values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When padding dangling tuples from both of its arguments, we use </a:t>
            </a:r>
            <a:r>
              <a:rPr lang="en-US" i="1"/>
              <a:t>full outer join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When padding from left/right side, we use </a:t>
            </a:r>
            <a:r>
              <a:rPr lang="en-US" i="1"/>
              <a:t>left outer join</a:t>
            </a:r>
            <a:r>
              <a:rPr lang="en-US"/>
              <a:t>/</a:t>
            </a:r>
            <a:r>
              <a:rPr lang="en-US" i="1"/>
              <a:t>right outer join</a:t>
            </a:r>
            <a:endParaRPr/>
          </a:p>
        </p:txBody>
      </p:sp>
      <p:sp>
        <p:nvSpPr>
          <p:cNvPr id="751" name="Google Shape;751;p62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Outer Joins</a:t>
            </a:r>
            <a:endParaRPr/>
          </a:p>
        </p:txBody>
      </p:sp>
      <p:sp>
        <p:nvSpPr>
          <p:cNvPr id="752" name="Google Shape;752;p6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753" name="Google Shape;753;p6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3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Example 17.1:</a:t>
            </a:r>
            <a:endParaRPr dirty="0"/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Lấy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danh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sách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tất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cả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các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bộ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phim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và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tên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studio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sản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xuất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kể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cả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những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phim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không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có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studio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hoặc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studio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không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có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phim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nào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title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Movie_Title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Movie_Year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Studio_Name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Movies m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FULL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OUTER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Studio s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studioName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dirty="0"/>
          </a:p>
          <a:p>
            <a:pPr marL="384048" lvl="1" indent="-50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759" name="Google Shape;759;p63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Outer joins</a:t>
            </a:r>
            <a:endParaRPr/>
          </a:p>
        </p:txBody>
      </p:sp>
      <p:sp>
        <p:nvSpPr>
          <p:cNvPr id="761" name="Google Shape;761;p6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762" name="Google Shape;762;p6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4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Example 17.2: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vi-VN" dirty="0"/>
              <a:t>Lấy danh sách tất cả các bộ phim cùng với tên studio sản xuất, kể cả những phim chưa có studio.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title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Movie_Title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Movie_Year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Studio_Name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Movies m</a:t>
            </a: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LEFT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Studio s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studioName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dirty="0"/>
          </a:p>
          <a:p>
            <a:pPr marL="384048" lvl="1" indent="-50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768" name="Google Shape;768;p64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vi-VN" dirty="0"/>
              <a:t>Left</a:t>
            </a:r>
            <a:r>
              <a:rPr lang="en-US" dirty="0"/>
              <a:t> joins</a:t>
            </a:r>
            <a:endParaRPr dirty="0"/>
          </a:p>
        </p:txBody>
      </p:sp>
      <p:sp>
        <p:nvSpPr>
          <p:cNvPr id="770" name="Google Shape;770;p6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771" name="Google Shape;771;p6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367BB-C983-F383-9864-C36BBCD16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Right joint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5FF4F-2628-9821-01F1-BF213C42F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Lấy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danh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sách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tất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cả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các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studio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cùng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với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các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bộ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phim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mà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họ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sản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xuất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 sz="1800" dirty="0">
                <a:solidFill>
                  <a:srgbClr val="008000"/>
                </a:solidFill>
                <a:latin typeface="Consolas" panose="020B0609020204030204" pitchFamily="49" charset="0"/>
              </a:rPr>
              <a:t>--kể cả những studio chưa có phim nào.</a:t>
            </a:r>
            <a:endParaRPr lang="vi-V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title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Movie_Title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Movie_Year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Studio_Name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Movies m</a:t>
            </a: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RIGHT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Studio s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studioName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4977E-B98C-C9AB-424E-69E4197EEB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28CE1-5490-D7DD-7FE3-A96D2B8004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12909640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5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Study some operations that acts on relations as whole, rather than on tuples individually</a:t>
            </a:r>
            <a:endParaRPr/>
          </a:p>
          <a:p>
            <a:pPr marL="384048" lvl="1" indent="-50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384048" lvl="1" indent="-50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778" name="Google Shape;778;p65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6.4 Full-Relation Operations</a:t>
            </a:r>
            <a:endParaRPr/>
          </a:p>
        </p:txBody>
      </p:sp>
      <p:sp>
        <p:nvSpPr>
          <p:cNvPr id="779" name="Google Shape;779;p6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780" name="Google Shape;780;p6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6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A relation, being a set, cannot have more than one copy of any given tuple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But, the SQL response to a query may list the same tuple several times, that is, </a:t>
            </a:r>
            <a:r>
              <a:rPr lang="en-US">
                <a:solidFill>
                  <a:srgbClr val="FF0000"/>
                </a:solidFill>
              </a:rPr>
              <a:t>SELECT</a:t>
            </a:r>
            <a:r>
              <a:rPr lang="en-US"/>
              <a:t> preserves duplicates as a default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So, by </a:t>
            </a:r>
            <a:r>
              <a:rPr lang="en-US">
                <a:solidFill>
                  <a:srgbClr val="FF0000"/>
                </a:solidFill>
              </a:rPr>
              <a:t>DISTINCT</a:t>
            </a:r>
            <a:r>
              <a:rPr lang="en-US"/>
              <a:t> we can eliminate a duplicates from SQL relations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787" name="Google Shape;787;p66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Eliminating Duplicates</a:t>
            </a:r>
            <a:endParaRPr/>
          </a:p>
        </p:txBody>
      </p:sp>
      <p:sp>
        <p:nvSpPr>
          <p:cNvPr id="788" name="Google Shape;788;p6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789" name="Google Shape;789;p6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7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en-US" dirty="0"/>
              <a:t>Example 17.3: </a:t>
            </a:r>
            <a:endParaRPr lang="vi-VN" dirty="0"/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Lấy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danh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sách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tên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studio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duy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nhất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(Studio.name)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đã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sản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xuất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phim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cùng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với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địa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chỉ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của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studio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đó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DISTINCT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address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Movies m</a:t>
            </a: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Studio s 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studioName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dirty="0"/>
          </a:p>
        </p:txBody>
      </p:sp>
      <p:sp>
        <p:nvSpPr>
          <p:cNvPr id="795" name="Google Shape;795;p67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Eliminating Duplicates</a:t>
            </a:r>
            <a:endParaRPr/>
          </a:p>
        </p:txBody>
      </p:sp>
      <p:sp>
        <p:nvSpPr>
          <p:cNvPr id="796" name="Google Shape;796;p6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797" name="Google Shape;797;p6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8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Set operations on relations will eliminate duplicates automatically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Use ALL keyword after Union, Intersect, and Except to prevent elimination of duplicates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Syntax:</a:t>
            </a:r>
            <a:endParaRPr dirty="0"/>
          </a:p>
        </p:txBody>
      </p:sp>
      <p:sp>
        <p:nvSpPr>
          <p:cNvPr id="804" name="Google Shape;804;p68"/>
          <p:cNvSpPr txBox="1"/>
          <p:nvPr/>
        </p:nvSpPr>
        <p:spPr>
          <a:xfrm>
            <a:off x="2801642" y="3662038"/>
            <a:ext cx="3505200" cy="142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UNION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INTERSECT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EXCEPT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S;</a:t>
            </a:r>
            <a:endParaRPr dirty="0"/>
          </a:p>
        </p:txBody>
      </p:sp>
      <p:sp>
        <p:nvSpPr>
          <p:cNvPr id="805" name="Google Shape;805;p68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Arial"/>
              <a:buNone/>
            </a:pPr>
            <a:r>
              <a:rPr lang="en-US" sz="3240"/>
              <a:t>Duplicates in Unions, Intersections, and Differences</a:t>
            </a:r>
            <a:endParaRPr/>
          </a:p>
        </p:txBody>
      </p:sp>
      <p:sp>
        <p:nvSpPr>
          <p:cNvPr id="806" name="Google Shape;806;p6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807" name="Google Shape;807;p6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1EA27-FBEA-4414-082A-5267CB33A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27FF5-A840-A5E0-D1C8-D9209BF0E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Phép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giao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 sz="1800" dirty="0">
                <a:solidFill>
                  <a:srgbClr val="008000"/>
                </a:solidFill>
                <a:latin typeface="Consolas" panose="020B0609020204030204" pitchFamily="49" charset="0"/>
              </a:rPr>
              <a:t>--Lấy danh sách những người vừa là diễn viên vừa là đạo diễn (cùng xuất hiện trong cả hai bảng).</a:t>
            </a:r>
            <a:endParaRPr lang="vi-V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MovieStar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INTERSECT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MovieExec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Lấy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danh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sách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tất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cả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tên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diễn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viên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và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đạo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diễn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không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trùng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nhau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).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MovieStar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UNION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MovieExec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--EXCEPT -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Lấy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phần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hiệu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của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hai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tập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dữ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liệu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 sz="1800" dirty="0">
                <a:solidFill>
                  <a:srgbClr val="008000"/>
                </a:solidFill>
                <a:latin typeface="Consolas" panose="020B0609020204030204" pitchFamily="49" charset="0"/>
              </a:rPr>
              <a:t>--Lấy danh sách những người là diễn viên nhưng không phải đạo diễn.</a:t>
            </a:r>
            <a:endParaRPr lang="vi-V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MovieStar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EXCEPT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MovieExec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073A2-0533-B8F4-78BF-136A526071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98C51-55A5-DEB4-DF0F-D79D78C958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239221857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4EE0E-30CB-204B-4349-283789084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34322-AC04-04A4-52E6-AC844F629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MovieStar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UNION</a:t>
            </a:r>
            <a:r>
              <a:rPr lang="vi-VN" sz="1800" dirty="0">
                <a:solidFill>
                  <a:srgbClr val="0000FF"/>
                </a:solidFill>
                <a:latin typeface="Consolas" panose="020B0609020204030204" pitchFamily="49" charset="0"/>
              </a:rPr>
              <a:t> all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MovieExec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15ED8-94A0-339E-AAA7-C47FBFF4A2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49794-23CB-F6CD-3FDA-3E5E06F8A7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Phan Thi Ha</a:t>
            </a:r>
          </a:p>
        </p:txBody>
      </p:sp>
    </p:spTree>
    <p:extLst>
      <p:ext uri="{BB962C8B-B14F-4D97-AF65-F5344CB8AC3E}">
        <p14:creationId xmlns:p14="http://schemas.microsoft.com/office/powerpoint/2010/main" val="346181332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69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Grouping operator partitions the tuples of relation into </a:t>
            </a:r>
            <a:r>
              <a:rPr lang="en-US" i="1" dirty="0">
                <a:solidFill>
                  <a:srgbClr val="FF0000"/>
                </a:solidFill>
              </a:rPr>
              <a:t>groups</a:t>
            </a:r>
            <a:r>
              <a:rPr lang="en-US" dirty="0"/>
              <a:t>, based on the values of tuples in one or more attributes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After grouping the tuples of relation, we are able to </a:t>
            </a:r>
            <a:r>
              <a:rPr lang="en-US" i="1" dirty="0">
                <a:solidFill>
                  <a:srgbClr val="FF0000"/>
                </a:solidFill>
              </a:rPr>
              <a:t>aggregate</a:t>
            </a:r>
            <a:r>
              <a:rPr lang="en-US" dirty="0"/>
              <a:t> certain other columns of relation</a:t>
            </a:r>
            <a:endParaRPr dirty="0"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We use </a:t>
            </a:r>
            <a:r>
              <a:rPr lang="en-US" b="1" dirty="0">
                <a:solidFill>
                  <a:srgbClr val="FF0000"/>
                </a:solidFill>
              </a:rPr>
              <a:t>GROUP BY</a:t>
            </a:r>
            <a:r>
              <a:rPr lang="en-US" dirty="0"/>
              <a:t> clause in SELECT statement</a:t>
            </a:r>
            <a:endParaRPr dirty="0"/>
          </a:p>
        </p:txBody>
      </p:sp>
      <p:sp>
        <p:nvSpPr>
          <p:cNvPr id="814" name="Google Shape;814;p69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Grouping and Aggregation in SQL</a:t>
            </a:r>
            <a:endParaRPr/>
          </a:p>
        </p:txBody>
      </p:sp>
      <p:sp>
        <p:nvSpPr>
          <p:cNvPr id="815" name="Google Shape;815;p6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816" name="Google Shape;816;p6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0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Five aggregation operators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SUM acts on single numeric column</a:t>
            </a:r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AVG acts on single numeric column</a:t>
            </a:r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MIN acts on single numeric column</a:t>
            </a:r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MAX acts on single numeric column</a:t>
            </a:r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COUNT act on one or more columns or all of columns</a:t>
            </a:r>
          </a:p>
          <a:p>
            <a:pPr marL="91440" lvl="0" indent="-177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Eliminating duplicates from the column before applying the aggregation by DISTINCT keyword</a:t>
            </a:r>
            <a:endParaRPr dirty="0"/>
          </a:p>
        </p:txBody>
      </p:sp>
      <p:sp>
        <p:nvSpPr>
          <p:cNvPr id="823" name="Google Shape;823;p70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Aggregation Operators</a:t>
            </a:r>
            <a:endParaRPr/>
          </a:p>
        </p:txBody>
      </p:sp>
      <p:sp>
        <p:nvSpPr>
          <p:cNvPr id="824" name="Google Shape;824;p7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825" name="Google Shape;825;p7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84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71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vi-VN" sz="1800" dirty="0">
                <a:solidFill>
                  <a:srgbClr val="008000"/>
                </a:solidFill>
                <a:latin typeface="Consolas" panose="020B0609020204030204" pitchFamily="49" charset="0"/>
              </a:rPr>
              <a:t>--Tính tổng độ dài của tất cả các bộ phim trong cơ sở dữ liệu.</a:t>
            </a:r>
            <a:endParaRPr lang="vi-V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studioName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length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totalLength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Movies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studioName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dirty="0"/>
          </a:p>
        </p:txBody>
      </p:sp>
      <p:sp>
        <p:nvSpPr>
          <p:cNvPr id="831" name="Google Shape;831;p71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Aggregation Operators</a:t>
            </a:r>
            <a:endParaRPr/>
          </a:p>
        </p:txBody>
      </p:sp>
      <p:sp>
        <p:nvSpPr>
          <p:cNvPr id="834" name="Google Shape;834;p7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835" name="Google Shape;835;p7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85</a:t>
            </a:fld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2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To partition the tuples of relation into groups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Syntax</a:t>
            </a:r>
            <a:endParaRPr/>
          </a:p>
        </p:txBody>
      </p:sp>
      <p:sp>
        <p:nvSpPr>
          <p:cNvPr id="841" name="Google Shape;841;p72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Grouping</a:t>
            </a:r>
            <a:endParaRPr/>
          </a:p>
        </p:txBody>
      </p:sp>
      <p:sp>
        <p:nvSpPr>
          <p:cNvPr id="842" name="Google Shape;842;p72"/>
          <p:cNvSpPr txBox="1"/>
          <p:nvPr/>
        </p:nvSpPr>
        <p:spPr>
          <a:xfrm>
            <a:off x="1752600" y="3014008"/>
            <a:ext cx="54864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&lt;list of attributes&gt;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&lt;list of tables&gt;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&lt;condition&gt;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GROUP BY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&lt;list of attributes&gt;</a:t>
            </a:r>
            <a:endParaRPr/>
          </a:p>
        </p:txBody>
      </p:sp>
      <p:sp>
        <p:nvSpPr>
          <p:cNvPr id="843" name="Google Shape;843;p7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844" name="Google Shape;844;p7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86</a:t>
            </a:fld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3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Example 19.1:</a:t>
            </a:r>
            <a:endParaRPr dirty="0"/>
          </a:p>
          <a:p>
            <a:r>
              <a:rPr lang="vi-VN" sz="1800" dirty="0">
                <a:solidFill>
                  <a:srgbClr val="008000"/>
                </a:solidFill>
                <a:latin typeface="Consolas" panose="020B0609020204030204" pitchFamily="49" charset="0"/>
              </a:rPr>
              <a:t>--Đếm số lượng bộ phim do mỗi nhà sản xuất (MovieExec) sản xuất.</a:t>
            </a:r>
            <a:endParaRPr lang="vi-V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producerC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(*)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numberOfMovies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Movies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producerC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#</a:t>
            </a:r>
            <a:r>
              <a:rPr lang="vi-V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vi-VN" sz="1800" dirty="0">
                <a:solidFill>
                  <a:srgbClr val="000000"/>
                </a:solidFill>
                <a:latin typeface="Consolas" panose="020B0609020204030204" pitchFamily="49" charset="0"/>
              </a:rPr>
              <a:t>ORDER BY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(*)</a:t>
            </a:r>
            <a:r>
              <a:rPr lang="vi-VN" sz="1800" dirty="0">
                <a:solidFill>
                  <a:srgbClr val="808080"/>
                </a:solidFill>
                <a:latin typeface="Consolas" panose="020B0609020204030204" pitchFamily="49" charset="0"/>
              </a:rPr>
              <a:t> ASC</a:t>
            </a:r>
            <a:r>
              <a:rPr lang="vi-V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dirty="0"/>
          </a:p>
        </p:txBody>
      </p:sp>
      <p:sp>
        <p:nvSpPr>
          <p:cNvPr id="850" name="Google Shape;850;p73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Grouping</a:t>
            </a:r>
            <a:endParaRPr/>
          </a:p>
        </p:txBody>
      </p:sp>
      <p:sp>
        <p:nvSpPr>
          <p:cNvPr id="853" name="Google Shape;853;p7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854" name="Google Shape;854;p7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87</a:t>
            </a:fld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4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There are two kinds of terms in SELECT clause</a:t>
            </a:r>
            <a:endParaRPr/>
          </a:p>
          <a:p>
            <a:pPr marL="384048" lvl="1" indent="-18288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i="1"/>
              <a:t>Aggregations</a:t>
            </a:r>
            <a:r>
              <a:rPr lang="en-US"/>
              <a:t>, that applied to an attribute or expression involving attributes</a:t>
            </a:r>
            <a:endParaRPr/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i="1"/>
              <a:t>Grouping Attributes</a:t>
            </a:r>
            <a:r>
              <a:rPr lang="en-US"/>
              <a:t>, that appear in </a:t>
            </a:r>
            <a:r>
              <a:rPr lang="en-US">
                <a:solidFill>
                  <a:srgbClr val="FF0000"/>
                </a:solidFill>
              </a:rPr>
              <a:t>GROUP BY</a:t>
            </a:r>
            <a:r>
              <a:rPr lang="en-US"/>
              <a:t> clause</a:t>
            </a:r>
            <a:endParaRPr/>
          </a:p>
          <a:p>
            <a:pPr marL="91440" lvl="0" indent="-177800" algn="l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A query with GROUP BY is interpreted as follow:</a:t>
            </a:r>
            <a:endParaRPr/>
          </a:p>
          <a:p>
            <a:pPr marL="384048" lvl="1" indent="-18288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Evaluate the relation R expressed by the </a:t>
            </a:r>
            <a:r>
              <a:rPr lang="en-US">
                <a:solidFill>
                  <a:srgbClr val="FF0000"/>
                </a:solidFill>
              </a:rPr>
              <a:t>FROM</a:t>
            </a:r>
            <a:r>
              <a:rPr lang="en-US"/>
              <a:t> and </a:t>
            </a:r>
            <a:r>
              <a:rPr lang="en-US">
                <a:solidFill>
                  <a:srgbClr val="FF0000"/>
                </a:solidFill>
              </a:rPr>
              <a:t>WHERE</a:t>
            </a:r>
            <a:r>
              <a:rPr lang="en-US"/>
              <a:t> clauses</a:t>
            </a:r>
            <a:endParaRPr/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Group the tuples of R according to the attributes in </a:t>
            </a:r>
            <a:r>
              <a:rPr lang="en-US">
                <a:solidFill>
                  <a:srgbClr val="FF0000"/>
                </a:solidFill>
              </a:rPr>
              <a:t>GROUP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BY</a:t>
            </a:r>
            <a:r>
              <a:rPr lang="en-US"/>
              <a:t> clause</a:t>
            </a:r>
            <a:endParaRPr/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Produce as a result the attributes and aggregation of the </a:t>
            </a:r>
            <a:r>
              <a:rPr lang="en-US">
                <a:solidFill>
                  <a:srgbClr val="FF0000"/>
                </a:solidFill>
              </a:rPr>
              <a:t>SELECT</a:t>
            </a:r>
            <a:r>
              <a:rPr lang="en-US"/>
              <a:t> clause</a:t>
            </a:r>
            <a:endParaRPr/>
          </a:p>
        </p:txBody>
      </p:sp>
      <p:sp>
        <p:nvSpPr>
          <p:cNvPr id="861" name="Google Shape;861;p74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Grouping</a:t>
            </a:r>
            <a:endParaRPr/>
          </a:p>
        </p:txBody>
      </p:sp>
      <p:sp>
        <p:nvSpPr>
          <p:cNvPr id="862" name="Google Shape;862;p7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863" name="Google Shape;863;p7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88</a:t>
            </a:fld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6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dirty="0"/>
              <a:t>When tuples have nulls, there are some rules: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The value NULL is ignored in any aggregation</a:t>
            </a:r>
            <a:endParaRPr dirty="0"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US" dirty="0"/>
              <a:t>Count(*): a number of tuples in a relation</a:t>
            </a:r>
            <a:endParaRPr dirty="0"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US" dirty="0"/>
              <a:t>Count(A): a number of tuples with non-NULL values for A attribute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NULL is treated as an ordinary value when forming groups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dirty="0"/>
              <a:t>The count of empty bag is 0, other aggregation of empty bag is NULL</a:t>
            </a:r>
            <a:endParaRPr dirty="0"/>
          </a:p>
        </p:txBody>
      </p:sp>
      <p:sp>
        <p:nvSpPr>
          <p:cNvPr id="879" name="Google Shape;879;p76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Grouping, Aggregation, and Nulls</a:t>
            </a:r>
            <a:endParaRPr/>
          </a:p>
        </p:txBody>
      </p:sp>
      <p:sp>
        <p:nvSpPr>
          <p:cNvPr id="880" name="Google Shape;880;p7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881" name="Google Shape;881;p7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89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7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Example: Suppose R(A,B) as followed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384048" lvl="1" indent="-50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888" name="Google Shape;888;p77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Grouping, Aggregation, and Nulls</a:t>
            </a:r>
            <a:endParaRPr/>
          </a:p>
        </p:txBody>
      </p:sp>
      <p:graphicFrame>
        <p:nvGraphicFramePr>
          <p:cNvPr id="889" name="Google Shape;889;p77"/>
          <p:cNvGraphicFramePr/>
          <p:nvPr/>
        </p:nvGraphicFramePr>
        <p:xfrm>
          <a:off x="3657600" y="2306320"/>
          <a:ext cx="1724650" cy="741700"/>
        </p:xfrm>
        <a:graphic>
          <a:graphicData uri="http://schemas.openxmlformats.org/drawingml/2006/table">
            <a:tbl>
              <a:tblPr firstRow="1" bandRow="1">
                <a:noFill/>
                <a:tableStyleId>{3E43525E-37C0-4876-8FA3-B76E93834B79}</a:tableStyleId>
              </a:tblPr>
              <a:tblGrid>
                <a:gridCol w="86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NULL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90" name="Google Shape;890;p77"/>
          <p:cNvSpPr txBox="1"/>
          <p:nvPr/>
        </p:nvSpPr>
        <p:spPr>
          <a:xfrm>
            <a:off x="1219200" y="3085743"/>
            <a:ext cx="3124200" cy="2400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result of query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SELECT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count(B)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FROM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GROUP BY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one tuple (NULL,0)</a:t>
            </a:r>
            <a:endParaRPr dirty="0"/>
          </a:p>
        </p:txBody>
      </p:sp>
      <p:sp>
        <p:nvSpPr>
          <p:cNvPr id="891" name="Google Shape;891;p77"/>
          <p:cNvSpPr txBox="1"/>
          <p:nvPr/>
        </p:nvSpPr>
        <p:spPr>
          <a:xfrm>
            <a:off x="5334000" y="3085743"/>
            <a:ext cx="3200400" cy="2400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result of query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SELECT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sum(B)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FROM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GROUP BY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one tuple (NULL,NULL)</a:t>
            </a:r>
            <a:endParaRPr/>
          </a:p>
        </p:txBody>
      </p:sp>
      <p:sp>
        <p:nvSpPr>
          <p:cNvPr id="892" name="Google Shape;892;p7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893" name="Google Shape;893;p7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90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8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If we want to apply conditions to tuples of relations, we put those conditions in </a:t>
            </a:r>
            <a:r>
              <a:rPr lang="en-US">
                <a:solidFill>
                  <a:srgbClr val="FF0000"/>
                </a:solidFill>
              </a:rPr>
              <a:t>WHERE</a:t>
            </a:r>
            <a:r>
              <a:rPr lang="en-US"/>
              <a:t> clause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If we want to apply conditions to groups of tuples after grouping, those conditions are based on some aggregations, how can we do?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In that case, we follow the </a:t>
            </a:r>
            <a:r>
              <a:rPr lang="en-US">
                <a:solidFill>
                  <a:srgbClr val="FF0000"/>
                </a:solidFill>
              </a:rPr>
              <a:t>GROUP BY</a:t>
            </a:r>
            <a:r>
              <a:rPr lang="en-US"/>
              <a:t> clause with a </a:t>
            </a:r>
            <a:r>
              <a:rPr lang="en-US">
                <a:solidFill>
                  <a:srgbClr val="FF0000"/>
                </a:solidFill>
              </a:rPr>
              <a:t>HAVING</a:t>
            </a:r>
            <a:r>
              <a:rPr lang="en-US"/>
              <a:t> clause</a:t>
            </a:r>
            <a:endParaRPr/>
          </a:p>
        </p:txBody>
      </p:sp>
      <p:sp>
        <p:nvSpPr>
          <p:cNvPr id="900" name="Google Shape;900;p78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Considerations …</a:t>
            </a:r>
            <a:endParaRPr/>
          </a:p>
        </p:txBody>
      </p:sp>
      <p:sp>
        <p:nvSpPr>
          <p:cNvPr id="901" name="Google Shape;901;p7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902" name="Google Shape;902;p7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91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79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Syntax:</a:t>
            </a:r>
            <a:endParaRPr/>
          </a:p>
        </p:txBody>
      </p:sp>
      <p:sp>
        <p:nvSpPr>
          <p:cNvPr id="909" name="Google Shape;909;p79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HAVING clause</a:t>
            </a:r>
            <a:endParaRPr/>
          </a:p>
        </p:txBody>
      </p:sp>
      <p:sp>
        <p:nvSpPr>
          <p:cNvPr id="910" name="Google Shape;910;p79"/>
          <p:cNvSpPr txBox="1"/>
          <p:nvPr/>
        </p:nvSpPr>
        <p:spPr>
          <a:xfrm>
            <a:off x="1981200" y="2323743"/>
            <a:ext cx="5486400" cy="2400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&lt;list of attributes&gt;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FROM 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&lt;list of tables&gt;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WHERE 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&lt;conditions on tuples&gt;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GROUP BY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&lt;list of attributes&gt;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&lt;conditions on groups&gt;</a:t>
            </a:r>
            <a:endParaRPr/>
          </a:p>
        </p:txBody>
      </p:sp>
      <p:sp>
        <p:nvSpPr>
          <p:cNvPr id="911" name="Google Shape;911;p7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912" name="Google Shape;912;p7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92</a:t>
            </a:fld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80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Tìm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các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diễn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viên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MovieStar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đã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đóng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từ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2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bộ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phim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trở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lên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tức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là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có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ít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nhất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2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dòng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dữ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liệu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trong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bảng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StarsIn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(*)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SoLuongPhim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StarsIn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starName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HAVING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(*)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2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dirty="0"/>
          </a:p>
        </p:txBody>
      </p:sp>
      <p:sp>
        <p:nvSpPr>
          <p:cNvPr id="918" name="Google Shape;918;p80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HAVING clause</a:t>
            </a:r>
            <a:endParaRPr/>
          </a:p>
        </p:txBody>
      </p:sp>
      <p:sp>
        <p:nvSpPr>
          <p:cNvPr id="920" name="Google Shape;920;p8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921" name="Google Shape;921;p8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93</a:t>
            </a:fld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81"/>
          <p:cNvSpPr txBox="1">
            <a:spLocks noGrp="1"/>
          </p:cNvSpPr>
          <p:nvPr>
            <p:ph type="body" idx="1"/>
          </p:nvPr>
        </p:nvSpPr>
        <p:spPr>
          <a:xfrm>
            <a:off x="585924" y="1127464"/>
            <a:ext cx="7936637" cy="506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/>
              <a:t>Some rules about HAVING clause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An aggregation in a </a:t>
            </a:r>
            <a:r>
              <a:rPr lang="en-US">
                <a:solidFill>
                  <a:srgbClr val="FF0000"/>
                </a:solidFill>
              </a:rPr>
              <a:t>HAVING</a:t>
            </a:r>
            <a:r>
              <a:rPr lang="en-US"/>
              <a:t> clause applies only to the tuples of the group being tested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Any attribute of relations in the </a:t>
            </a:r>
            <a:r>
              <a:rPr lang="en-US">
                <a:solidFill>
                  <a:srgbClr val="FF0000"/>
                </a:solidFill>
              </a:rPr>
              <a:t>FROM</a:t>
            </a:r>
            <a:r>
              <a:rPr lang="en-US"/>
              <a:t> clause may be aggregated in the </a:t>
            </a:r>
            <a:r>
              <a:rPr lang="en-US">
                <a:solidFill>
                  <a:srgbClr val="FF0000"/>
                </a:solidFill>
              </a:rPr>
              <a:t>HAVING</a:t>
            </a:r>
            <a:r>
              <a:rPr lang="en-US"/>
              <a:t> clause, but only those attributes that are in the </a:t>
            </a:r>
            <a:r>
              <a:rPr lang="en-US">
                <a:solidFill>
                  <a:srgbClr val="FF0000"/>
                </a:solidFill>
              </a:rPr>
              <a:t>GROUP BY</a:t>
            </a:r>
            <a:r>
              <a:rPr lang="en-US"/>
              <a:t> list may appear un-aggregated in the </a:t>
            </a:r>
            <a:r>
              <a:rPr lang="en-US">
                <a:solidFill>
                  <a:srgbClr val="FF0000"/>
                </a:solidFill>
              </a:rPr>
              <a:t>HAVING</a:t>
            </a:r>
            <a:r>
              <a:rPr lang="en-US"/>
              <a:t> clause (the same rule as for the </a:t>
            </a:r>
            <a:r>
              <a:rPr lang="en-US">
                <a:solidFill>
                  <a:srgbClr val="FF0000"/>
                </a:solidFill>
              </a:rPr>
              <a:t>SELECT</a:t>
            </a:r>
            <a:r>
              <a:rPr lang="en-US"/>
              <a:t> clause)</a:t>
            </a:r>
            <a:endParaRPr/>
          </a:p>
        </p:txBody>
      </p:sp>
      <p:sp>
        <p:nvSpPr>
          <p:cNvPr id="928" name="Google Shape;928;p81"/>
          <p:cNvSpPr txBox="1"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n-US"/>
              <a:t>HAVING clause</a:t>
            </a:r>
            <a:endParaRPr/>
          </a:p>
        </p:txBody>
      </p:sp>
      <p:sp>
        <p:nvSpPr>
          <p:cNvPr id="929" name="Google Shape;929;p8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Phan Thi Ha</a:t>
            </a:r>
            <a:endParaRPr/>
          </a:p>
        </p:txBody>
      </p:sp>
      <p:sp>
        <p:nvSpPr>
          <p:cNvPr id="930" name="Google Shape;930;p8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</TotalTime>
  <Words>5436</Words>
  <Application>Microsoft Office PowerPoint</Application>
  <PresentationFormat>On-screen Show (4:3)</PresentationFormat>
  <Paragraphs>961</Paragraphs>
  <Slides>94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94</vt:i4>
      </vt:variant>
    </vt:vector>
  </HeadingPairs>
  <TitlesOfParts>
    <vt:vector size="105" baseType="lpstr">
      <vt:lpstr>Noto Sans Symbols</vt:lpstr>
      <vt:lpstr>Consolas</vt:lpstr>
      <vt:lpstr>Times New Roman</vt:lpstr>
      <vt:lpstr>Times</vt:lpstr>
      <vt:lpstr>Helvetica Neue</vt:lpstr>
      <vt:lpstr>Arial Unicode MS</vt:lpstr>
      <vt:lpstr>Arial</vt:lpstr>
      <vt:lpstr>Source Code Pro</vt:lpstr>
      <vt:lpstr>Calibri</vt:lpstr>
      <vt:lpstr>Retrospect</vt:lpstr>
      <vt:lpstr>Custom Design</vt:lpstr>
      <vt:lpstr>Chapter 2</vt:lpstr>
      <vt:lpstr>Objectives</vt:lpstr>
      <vt:lpstr>Contents</vt:lpstr>
      <vt:lpstr>REVIEW</vt:lpstr>
      <vt:lpstr>REVIEW – Entity Relationship Diagram</vt:lpstr>
      <vt:lpstr>Integrity constraints </vt:lpstr>
      <vt:lpstr>SQL Overview</vt:lpstr>
      <vt:lpstr> Data Definition Language - CREATE</vt:lpstr>
      <vt:lpstr>Các kiểu dữ liệu trong SQL SERVER</vt:lpstr>
      <vt:lpstr>Data Definition Language - Demo</vt:lpstr>
      <vt:lpstr>PowerPoint Presentation</vt:lpstr>
      <vt:lpstr>Data Definition Language – ALTER, DROP</vt:lpstr>
      <vt:lpstr>Data Definition Language– ALTER, DROP</vt:lpstr>
      <vt:lpstr>Data Definition Language– ALTER, DROP</vt:lpstr>
      <vt:lpstr>Physical Diagram - FUHCompany</vt:lpstr>
      <vt:lpstr>Data Manipulation Language (DML)</vt:lpstr>
      <vt:lpstr>Data Manipulation Language (DML)</vt:lpstr>
      <vt:lpstr>Data Manipulation Language (DML)</vt:lpstr>
      <vt:lpstr>Comparison of Strings</vt:lpstr>
      <vt:lpstr>Pattern Matching in SQL</vt:lpstr>
      <vt:lpstr>Pattern Matching in SQL</vt:lpstr>
      <vt:lpstr>Pattern Matching in SQL</vt:lpstr>
      <vt:lpstr>Dates and Times</vt:lpstr>
      <vt:lpstr>Null Values</vt:lpstr>
      <vt:lpstr>Data Manipulation Language (DML)</vt:lpstr>
      <vt:lpstr>T-SQL : Basic Syntax for a simple SELECT queries</vt:lpstr>
      <vt:lpstr>Common Query in SQL</vt:lpstr>
      <vt:lpstr>Projection in SQL</vt:lpstr>
      <vt:lpstr>Using alias name in select clause </vt:lpstr>
      <vt:lpstr>Selection in SQL</vt:lpstr>
      <vt:lpstr>PowerPoint Presentation</vt:lpstr>
      <vt:lpstr>Commonly Used Operators in SQL</vt:lpstr>
      <vt:lpstr>The Truth-Value UNKNOWN</vt:lpstr>
      <vt:lpstr>PowerPoint Presentation</vt:lpstr>
      <vt:lpstr>Ordering the Output</vt:lpstr>
      <vt:lpstr>Ordering the Output</vt:lpstr>
      <vt:lpstr>Data type:Dates and Times (nhac lai)</vt:lpstr>
      <vt:lpstr>PowerPoint Presentation</vt:lpstr>
      <vt:lpstr>PowerPoint Presentation</vt:lpstr>
      <vt:lpstr>PowerPoint Presentation</vt:lpstr>
      <vt:lpstr>PowerPoint Presentation</vt:lpstr>
      <vt:lpstr>Functions in SQL</vt:lpstr>
      <vt:lpstr>Functions in SQL</vt:lpstr>
      <vt:lpstr>Functions in SQL</vt:lpstr>
      <vt:lpstr>6.2 QUERIES INVOLVING MORE THAN ONE RELATION</vt:lpstr>
      <vt:lpstr>Queries Involving More Than One Relation</vt:lpstr>
      <vt:lpstr>Products and Joins in SQL</vt:lpstr>
      <vt:lpstr>Products and Joins in SQL</vt:lpstr>
      <vt:lpstr>What we do if …</vt:lpstr>
      <vt:lpstr>Tuple Variables</vt:lpstr>
      <vt:lpstr>Disambiguating Attributes</vt:lpstr>
      <vt:lpstr>What we do if …</vt:lpstr>
      <vt:lpstr>Union, Intersection, Difference of Queries</vt:lpstr>
      <vt:lpstr>Union, Intersection, Difference of Queries</vt:lpstr>
      <vt:lpstr>Union, Intersection, Difference of Queries</vt:lpstr>
      <vt:lpstr>Union, Intersection, Difference of Queries</vt:lpstr>
      <vt:lpstr>6.3 SUB QUERIES</vt:lpstr>
      <vt:lpstr>Sub-queries</vt:lpstr>
      <vt:lpstr>Sub-queries that Produce Scalar Values</vt:lpstr>
      <vt:lpstr>Sub-queries that Produce Scalar Values</vt:lpstr>
      <vt:lpstr>Sub-queries that Produce Scalar Values</vt:lpstr>
      <vt:lpstr>Sub-queries that Produce Scalar Values</vt:lpstr>
      <vt:lpstr>Conditions Involving Relations</vt:lpstr>
      <vt:lpstr>Conditions Involving Tuples</vt:lpstr>
      <vt:lpstr>Correlated Sub-queries</vt:lpstr>
      <vt:lpstr>Correlated Sub-queries</vt:lpstr>
      <vt:lpstr>Sub-queries in FROM Clauses</vt:lpstr>
      <vt:lpstr>SQL Join Expressions</vt:lpstr>
      <vt:lpstr>PowerPoint Presentation</vt:lpstr>
      <vt:lpstr>SQL Join Expression</vt:lpstr>
      <vt:lpstr>Natural Joins</vt:lpstr>
      <vt:lpstr>PowerPoint Presentation</vt:lpstr>
      <vt:lpstr>Outer Joins</vt:lpstr>
      <vt:lpstr>Outer joins</vt:lpstr>
      <vt:lpstr>Left joins</vt:lpstr>
      <vt:lpstr>Right joint</vt:lpstr>
      <vt:lpstr>6.4 Full-Relation Operations</vt:lpstr>
      <vt:lpstr>Eliminating Duplicates</vt:lpstr>
      <vt:lpstr>Eliminating Duplicates</vt:lpstr>
      <vt:lpstr>Duplicates in Unions, Intersections, and Differences</vt:lpstr>
      <vt:lpstr>PowerPoint Presentation</vt:lpstr>
      <vt:lpstr>PowerPoint Presentation</vt:lpstr>
      <vt:lpstr>Grouping and Aggregation in SQL</vt:lpstr>
      <vt:lpstr>Aggregation Operators</vt:lpstr>
      <vt:lpstr>Aggregation Operators</vt:lpstr>
      <vt:lpstr>Grouping</vt:lpstr>
      <vt:lpstr>Grouping</vt:lpstr>
      <vt:lpstr>Grouping</vt:lpstr>
      <vt:lpstr>Grouping, Aggregation, and Nulls</vt:lpstr>
      <vt:lpstr>Grouping, Aggregation, and Nulls</vt:lpstr>
      <vt:lpstr>Considerations …</vt:lpstr>
      <vt:lpstr>HAVING clause</vt:lpstr>
      <vt:lpstr>HAVING clause</vt:lpstr>
      <vt:lpstr>HAVING clause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19</cp:revision>
  <dcterms:created xsi:type="dcterms:W3CDTF">2020-12-02T06:50:22Z</dcterms:created>
  <dcterms:modified xsi:type="dcterms:W3CDTF">2025-03-06T01:06:54Z</dcterms:modified>
</cp:coreProperties>
</file>