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7"/>
  </p:notesMasterIdLst>
  <p:sldIdLst>
    <p:sldId id="256" r:id="rId2"/>
    <p:sldId id="257" r:id="rId3"/>
    <p:sldId id="332" r:id="rId4"/>
    <p:sldId id="263" r:id="rId5"/>
    <p:sldId id="323" r:id="rId6"/>
    <p:sldId id="339" r:id="rId7"/>
    <p:sldId id="266" r:id="rId8"/>
    <p:sldId id="267" r:id="rId9"/>
    <p:sldId id="269" r:id="rId10"/>
    <p:sldId id="270" r:id="rId11"/>
    <p:sldId id="324" r:id="rId12"/>
    <p:sldId id="333" r:id="rId13"/>
    <p:sldId id="260" r:id="rId14"/>
    <p:sldId id="261" r:id="rId15"/>
    <p:sldId id="325" r:id="rId16"/>
    <p:sldId id="326" r:id="rId17"/>
    <p:sldId id="327" r:id="rId18"/>
    <p:sldId id="328" r:id="rId19"/>
    <p:sldId id="311" r:id="rId20"/>
    <p:sldId id="334" r:id="rId21"/>
    <p:sldId id="275" r:id="rId22"/>
    <p:sldId id="276" r:id="rId23"/>
    <p:sldId id="277" r:id="rId24"/>
    <p:sldId id="278" r:id="rId25"/>
    <p:sldId id="279" r:id="rId26"/>
    <p:sldId id="280" r:id="rId27"/>
    <p:sldId id="312" r:id="rId28"/>
    <p:sldId id="313" r:id="rId29"/>
    <p:sldId id="281" r:id="rId30"/>
    <p:sldId id="338" r:id="rId31"/>
    <p:sldId id="337" r:id="rId32"/>
    <p:sldId id="340" r:id="rId33"/>
    <p:sldId id="341" r:id="rId34"/>
    <p:sldId id="283" r:id="rId35"/>
    <p:sldId id="335" r:id="rId36"/>
    <p:sldId id="284" r:id="rId37"/>
    <p:sldId id="285" r:id="rId38"/>
    <p:sldId id="329" r:id="rId39"/>
    <p:sldId id="287" r:id="rId40"/>
    <p:sldId id="336" r:id="rId41"/>
    <p:sldId id="297" r:id="rId42"/>
    <p:sldId id="298" r:id="rId43"/>
    <p:sldId id="342" r:id="rId44"/>
    <p:sldId id="315" r:id="rId45"/>
    <p:sldId id="304" r:id="rId46"/>
    <p:sldId id="316" r:id="rId47"/>
    <p:sldId id="317" r:id="rId48"/>
    <p:sldId id="343" r:id="rId49"/>
    <p:sldId id="344" r:id="rId50"/>
    <p:sldId id="319" r:id="rId51"/>
    <p:sldId id="345" r:id="rId52"/>
    <p:sldId id="321" r:id="rId53"/>
    <p:sldId id="322" r:id="rId54"/>
    <p:sldId id="330" r:id="rId55"/>
    <p:sldId id="331" r:id="rId5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itchFamily="-108" charset="0"/>
        <a:ea typeface="ＭＳ Ｐゴシック" pitchFamily="-108" charset="-128"/>
        <a:cs typeface="ＭＳ Ｐゴシック" pitchFamily="-108" charset="-128"/>
      </a:defRPr>
    </a:lvl1pPr>
    <a:lvl2pPr marL="457200" algn="l" rtl="0" eaLnBrk="0" fontAlgn="base" hangingPunct="0">
      <a:spcBef>
        <a:spcPct val="0"/>
      </a:spcBef>
      <a:spcAft>
        <a:spcPct val="0"/>
      </a:spcAft>
      <a:defRPr sz="2400" kern="1200">
        <a:solidFill>
          <a:schemeClr val="tx1"/>
        </a:solidFill>
        <a:latin typeface="Arial" pitchFamily="-108" charset="0"/>
        <a:ea typeface="ＭＳ Ｐゴシック" pitchFamily="-108" charset="-128"/>
        <a:cs typeface="ＭＳ Ｐゴシック" pitchFamily="-108" charset="-128"/>
      </a:defRPr>
    </a:lvl2pPr>
    <a:lvl3pPr marL="914400" algn="l" rtl="0" eaLnBrk="0" fontAlgn="base" hangingPunct="0">
      <a:spcBef>
        <a:spcPct val="0"/>
      </a:spcBef>
      <a:spcAft>
        <a:spcPct val="0"/>
      </a:spcAft>
      <a:defRPr sz="2400" kern="1200">
        <a:solidFill>
          <a:schemeClr val="tx1"/>
        </a:solidFill>
        <a:latin typeface="Arial" pitchFamily="-108" charset="0"/>
        <a:ea typeface="ＭＳ Ｐゴシック" pitchFamily="-108" charset="-128"/>
        <a:cs typeface="ＭＳ Ｐゴシック" pitchFamily="-108" charset="-128"/>
      </a:defRPr>
    </a:lvl3pPr>
    <a:lvl4pPr marL="1371600" algn="l" rtl="0" eaLnBrk="0" fontAlgn="base" hangingPunct="0">
      <a:spcBef>
        <a:spcPct val="0"/>
      </a:spcBef>
      <a:spcAft>
        <a:spcPct val="0"/>
      </a:spcAft>
      <a:defRPr sz="2400" kern="1200">
        <a:solidFill>
          <a:schemeClr val="tx1"/>
        </a:solidFill>
        <a:latin typeface="Arial" pitchFamily="-108" charset="0"/>
        <a:ea typeface="ＭＳ Ｐゴシック" pitchFamily="-108" charset="-128"/>
        <a:cs typeface="ＭＳ Ｐゴシック" pitchFamily="-108" charset="-128"/>
      </a:defRPr>
    </a:lvl4pPr>
    <a:lvl5pPr marL="1828800" algn="l" rtl="0" eaLnBrk="0" fontAlgn="base" hangingPunct="0">
      <a:spcBef>
        <a:spcPct val="0"/>
      </a:spcBef>
      <a:spcAft>
        <a:spcPct val="0"/>
      </a:spcAft>
      <a:defRPr sz="2400" kern="1200">
        <a:solidFill>
          <a:schemeClr val="tx1"/>
        </a:solidFill>
        <a:latin typeface="Arial" pitchFamily="-108" charset="0"/>
        <a:ea typeface="ＭＳ Ｐゴシック" pitchFamily="-108" charset="-128"/>
        <a:cs typeface="ＭＳ Ｐゴシック" pitchFamily="-108" charset="-128"/>
      </a:defRPr>
    </a:lvl5pPr>
    <a:lvl6pPr marL="2286000" algn="l" defTabSz="457200" rtl="0" eaLnBrk="1" latinLnBrk="0" hangingPunct="1">
      <a:defRPr sz="2400" kern="1200">
        <a:solidFill>
          <a:schemeClr val="tx1"/>
        </a:solidFill>
        <a:latin typeface="Arial" pitchFamily="-108" charset="0"/>
        <a:ea typeface="ＭＳ Ｐゴシック" pitchFamily="-108" charset="-128"/>
        <a:cs typeface="ＭＳ Ｐゴシック" pitchFamily="-108" charset="-128"/>
      </a:defRPr>
    </a:lvl6pPr>
    <a:lvl7pPr marL="2743200" algn="l" defTabSz="457200" rtl="0" eaLnBrk="1" latinLnBrk="0" hangingPunct="1">
      <a:defRPr sz="2400" kern="1200">
        <a:solidFill>
          <a:schemeClr val="tx1"/>
        </a:solidFill>
        <a:latin typeface="Arial" pitchFamily="-108" charset="0"/>
        <a:ea typeface="ＭＳ Ｐゴシック" pitchFamily="-108" charset="-128"/>
        <a:cs typeface="ＭＳ Ｐゴシック" pitchFamily="-108" charset="-128"/>
      </a:defRPr>
    </a:lvl7pPr>
    <a:lvl8pPr marL="3200400" algn="l" defTabSz="457200" rtl="0" eaLnBrk="1" latinLnBrk="0" hangingPunct="1">
      <a:defRPr sz="2400" kern="1200">
        <a:solidFill>
          <a:schemeClr val="tx1"/>
        </a:solidFill>
        <a:latin typeface="Arial" pitchFamily="-108" charset="0"/>
        <a:ea typeface="ＭＳ Ｐゴシック" pitchFamily="-108" charset="-128"/>
        <a:cs typeface="ＭＳ Ｐゴシック" pitchFamily="-108" charset="-128"/>
      </a:defRPr>
    </a:lvl8pPr>
    <a:lvl9pPr marL="3657600" algn="l" defTabSz="457200" rtl="0" eaLnBrk="1" latinLnBrk="0" hangingPunct="1">
      <a:defRPr sz="2400" kern="1200">
        <a:solidFill>
          <a:schemeClr val="tx1"/>
        </a:solidFill>
        <a:latin typeface="Arial" pitchFamily="-108" charset="0"/>
        <a:ea typeface="ＭＳ Ｐゴシック" pitchFamily="-108" charset="-128"/>
        <a:cs typeface="ＭＳ Ｐゴシック" pitchFamily="-108"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238038"/>
    <a:srgbClr val="6E6E6E"/>
    <a:srgbClr val="00804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98"/>
    <p:restoredTop sz="70555" autoAdjust="0"/>
  </p:normalViewPr>
  <p:slideViewPr>
    <p:cSldViewPr>
      <p:cViewPr varScale="1">
        <p:scale>
          <a:sx n="48" d="100"/>
          <a:sy n="48" d="100"/>
        </p:scale>
        <p:origin x="1396"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8E0ED7-616B-1946-BFAF-3445D103BEB5}" type="datetimeFigureOut">
              <a:rPr lang="en-US" smtClean="0"/>
              <a:t>21/1/2024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5F5201-0B02-374C-9C85-2DCB7D098B21}" type="slidenum">
              <a:rPr lang="en-US" smtClean="0"/>
              <a:t>‹#›</a:t>
            </a:fld>
            <a:endParaRPr lang="en-US"/>
          </a:p>
        </p:txBody>
      </p:sp>
    </p:spTree>
    <p:extLst>
      <p:ext uri="{BB962C8B-B14F-4D97-AF65-F5344CB8AC3E}">
        <p14:creationId xmlns:p14="http://schemas.microsoft.com/office/powerpoint/2010/main" val="204742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5F5201-0B02-374C-9C85-2DCB7D098B21}" type="slidenum">
              <a:rPr lang="en-US" smtClean="0"/>
              <a:t>1</a:t>
            </a:fld>
            <a:endParaRPr lang="en-US"/>
          </a:p>
        </p:txBody>
      </p:sp>
    </p:spTree>
    <p:extLst>
      <p:ext uri="{BB962C8B-B14F-4D97-AF65-F5344CB8AC3E}">
        <p14:creationId xmlns:p14="http://schemas.microsoft.com/office/powerpoint/2010/main" val="1758781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xfrm>
            <a:off x="1171575" y="-44450"/>
            <a:ext cx="4514850" cy="3386138"/>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D6ECB53A-1DAB-4000-1B17-92921AD82B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chemeClr val="tx2">
                    <a:lumMod val="75000"/>
                  </a:schemeClr>
                </a:solidFill>
                <a:latin typeface="Times New Roman" pitchFamily="18" charset="0"/>
                <a:cs typeface="Times New Roman" pitchFamily="18" charset="0"/>
              </a:rPr>
              <a:t>Một </a:t>
            </a:r>
            <a:r>
              <a:rPr lang="vi-VN" sz="1200" b="1" dirty="0">
                <a:solidFill>
                  <a:schemeClr val="tx2">
                    <a:lumMod val="75000"/>
                  </a:schemeClr>
                </a:solidFill>
                <a:latin typeface="Times New Roman" pitchFamily="18" charset="0"/>
                <a:cs typeface="Times New Roman" pitchFamily="18" charset="0"/>
              </a:rPr>
              <a:t>hệ phân tán </a:t>
            </a:r>
            <a:r>
              <a:rPr lang="vi-VN" sz="1200" dirty="0">
                <a:solidFill>
                  <a:schemeClr val="tx2">
                    <a:lumMod val="75000"/>
                  </a:schemeClr>
                </a:solidFill>
                <a:latin typeface="Times New Roman" pitchFamily="18" charset="0"/>
                <a:cs typeface="Times New Roman" pitchFamily="18" charset="0"/>
              </a:rPr>
              <a:t>là một tập các thành phần </a:t>
            </a:r>
            <a:r>
              <a:rPr lang="vi-VN" sz="1200" dirty="0">
                <a:solidFill>
                  <a:schemeClr val="accent1"/>
                </a:solidFill>
                <a:latin typeface="Times New Roman" pitchFamily="18" charset="0"/>
                <a:cs typeface="Times New Roman" pitchFamily="18" charset="0"/>
              </a:rPr>
              <a:t>tự trị </a:t>
            </a:r>
            <a:r>
              <a:rPr lang="vi-VN" sz="1200" dirty="0">
                <a:solidFill>
                  <a:schemeClr val="tx2">
                    <a:lumMod val="75000"/>
                  </a:schemeClr>
                </a:solidFill>
                <a:latin typeface="Times New Roman" pitchFamily="18" charset="0"/>
                <a:cs typeface="Times New Roman" pitchFamily="18" charset="0"/>
              </a:rPr>
              <a:t>hoạt động </a:t>
            </a:r>
            <a:r>
              <a:rPr lang="vi-VN" sz="1200" dirty="0">
                <a:solidFill>
                  <a:schemeClr val="accent1"/>
                </a:solidFill>
                <a:latin typeface="Times New Roman" pitchFamily="18" charset="0"/>
                <a:cs typeface="Times New Roman" pitchFamily="18" charset="0"/>
              </a:rPr>
              <a:t>cộng tác</a:t>
            </a:r>
            <a:r>
              <a:rPr lang="vi-VN" sz="1200" dirty="0">
                <a:solidFill>
                  <a:schemeClr val="tx2">
                    <a:lumMod val="75000"/>
                  </a:schemeClr>
                </a:solidFill>
                <a:latin typeface="Times New Roman" pitchFamily="18" charset="0"/>
                <a:cs typeface="Times New Roman" pitchFamily="18" charset="0"/>
              </a:rPr>
              <a:t> với nhau thông qua </a:t>
            </a:r>
            <a:r>
              <a:rPr lang="vi-VN" sz="1200" dirty="0">
                <a:solidFill>
                  <a:schemeClr val="accent1"/>
                </a:solidFill>
                <a:latin typeface="Times New Roman" pitchFamily="18" charset="0"/>
                <a:cs typeface="Times New Roman" pitchFamily="18" charset="0"/>
              </a:rPr>
              <a:t>mạng </a:t>
            </a:r>
            <a:r>
              <a:rPr lang="en-US" sz="1200" dirty="0" err="1">
                <a:solidFill>
                  <a:schemeClr val="accent1"/>
                </a:solidFill>
                <a:latin typeface="Times New Roman" pitchFamily="18" charset="0"/>
                <a:cs typeface="Times New Roman" pitchFamily="18" charset="0"/>
              </a:rPr>
              <a:t>truyền</a:t>
            </a:r>
            <a:r>
              <a:rPr lang="en-US" sz="1200" dirty="0">
                <a:solidFill>
                  <a:schemeClr val="accent1"/>
                </a:solidFill>
                <a:latin typeface="Times New Roman" pitchFamily="18" charset="0"/>
                <a:cs typeface="Times New Roman" pitchFamily="18" charset="0"/>
              </a:rPr>
              <a:t> </a:t>
            </a:r>
            <a:r>
              <a:rPr lang="en-US" sz="1200" dirty="0" err="1">
                <a:solidFill>
                  <a:schemeClr val="accent1"/>
                </a:solidFill>
                <a:latin typeface="Times New Roman" pitchFamily="18" charset="0"/>
                <a:cs typeface="Times New Roman" pitchFamily="18" charset="0"/>
              </a:rPr>
              <a:t>thông</a:t>
            </a:r>
            <a:r>
              <a:rPr lang="vi-VN" sz="1200" dirty="0">
                <a:solidFill>
                  <a:schemeClr val="tx2">
                    <a:lumMod val="75000"/>
                  </a:schemeClr>
                </a:solidFill>
                <a:latin typeface="Times New Roman" pitchFamily="18" charset="0"/>
                <a:cs typeface="Times New Roman" pitchFamily="18" charset="0"/>
              </a:rPr>
              <a:t>và được thể hiện tới người dùng/ứng dụng như là một hệ thống </a:t>
            </a:r>
            <a:r>
              <a:rPr lang="en-US" sz="1200" dirty="0" err="1">
                <a:solidFill>
                  <a:schemeClr val="accent1"/>
                </a:solidFill>
                <a:latin typeface="Times New Roman" pitchFamily="18" charset="0"/>
                <a:cs typeface="Times New Roman" pitchFamily="18" charset="0"/>
              </a:rPr>
              <a:t>đơn</a:t>
            </a:r>
            <a:r>
              <a:rPr lang="en-US" sz="1200" dirty="0">
                <a:solidFill>
                  <a:schemeClr val="accent1"/>
                </a:solidFill>
                <a:latin typeface="Times New Roman" pitchFamily="18" charset="0"/>
                <a:cs typeface="Times New Roman" pitchFamily="18" charset="0"/>
              </a:rPr>
              <a:t> </a:t>
            </a:r>
            <a:r>
              <a:rPr lang="en-US" sz="1200" dirty="0" err="1">
                <a:solidFill>
                  <a:schemeClr val="accent1"/>
                </a:solidFill>
                <a:latin typeface="Times New Roman" pitchFamily="18" charset="0"/>
                <a:cs typeface="Times New Roman" pitchFamily="18" charset="0"/>
              </a:rPr>
              <a:t>lẻ</a:t>
            </a:r>
            <a:r>
              <a:rPr lang="vi-VN" sz="1200" dirty="0">
                <a:solidFill>
                  <a:schemeClr val="tx2">
                    <a:lumMod val="75000"/>
                  </a:schemeClr>
                </a:solidFill>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2274437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374151"/>
                </a:solidFill>
                <a:effectLst/>
                <a:latin typeface="Söhne"/>
              </a:rPr>
              <a:t>Đây là hai mô hình xử lý phân tán.</a:t>
            </a:r>
            <a:endParaRPr lang="en-US" b="0" i="0" dirty="0">
              <a:solidFill>
                <a:srgbClr val="374151"/>
              </a:solidFill>
              <a:effectLst/>
              <a:latin typeface="Söhne"/>
            </a:endParaRPr>
          </a:p>
          <a:p>
            <a:r>
              <a:rPr lang="vi-VN" b="0" i="0" dirty="0">
                <a:solidFill>
                  <a:srgbClr val="374151"/>
                </a:solidFill>
                <a:effectLst/>
                <a:latin typeface="Söhne"/>
              </a:rPr>
              <a:t>Mô hình tính toán Client/Server, trong đó máy khách truy cập trực tiếp và xử lý dữ liệu trên máy chủ. </a:t>
            </a:r>
            <a:endParaRPr lang="en-US" b="0" i="0" dirty="0">
              <a:solidFill>
                <a:srgbClr val="374151"/>
              </a:solidFill>
              <a:effectLst/>
              <a:latin typeface="Söhne"/>
            </a:endParaRPr>
          </a:p>
          <a:p>
            <a:r>
              <a:rPr lang="vi-VN" b="0" i="0" dirty="0">
                <a:solidFill>
                  <a:srgbClr val="374151"/>
                </a:solidFill>
                <a:effectLst/>
                <a:latin typeface="Söhne"/>
              </a:rPr>
              <a:t>Một giao dịch được chia nhỏ và xử lý trên nhiều hệ thống, với máy trung tâm giám sát và quản lý các quá trình. </a:t>
            </a:r>
            <a:endParaRPr lang="en-US"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6</a:t>
            </a:fld>
            <a:endParaRPr lang="en-US"/>
          </a:p>
        </p:txBody>
      </p:sp>
    </p:spTree>
    <p:extLst>
      <p:ext uri="{BB962C8B-B14F-4D97-AF65-F5344CB8AC3E}">
        <p14:creationId xmlns:p14="http://schemas.microsoft.com/office/powerpoint/2010/main" val="1238135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1A4B41C0-ED3C-EB12-54F7-8310F8839AE0}"/>
              </a:ext>
            </a:extLst>
          </p:cNvPr>
          <p:cNvSpPr>
            <a:spLocks noGrp="1"/>
          </p:cNvSpPr>
          <p:nvPr>
            <p:ph type="body" idx="1"/>
          </p:nvPr>
        </p:nvSpPr>
        <p:spPr/>
        <p:txBody>
          <a:bodyPr/>
          <a:lstStyle/>
          <a:p>
            <a:r>
              <a:rPr lang="vi-VN" b="0" i="0" dirty="0">
                <a:solidFill>
                  <a:srgbClr val="000000"/>
                </a:solidFill>
                <a:effectLst/>
                <a:latin typeface="Roboto" panose="02000000000000000000" pitchFamily="2" charset="0"/>
              </a:rPr>
              <a:t>Cơ sở dữ liệu phân tán là tập hợp nhiều cơ sở dữ liệu có quan hệ logic với nhau được phân phối trên mạng máy tính</a:t>
            </a:r>
            <a:endParaRPr lang="en-US" dirty="0"/>
          </a:p>
        </p:txBody>
      </p:sp>
    </p:spTree>
    <p:extLst>
      <p:ext uri="{BB962C8B-B14F-4D97-AF65-F5344CB8AC3E}">
        <p14:creationId xmlns:p14="http://schemas.microsoft.com/office/powerpoint/2010/main" val="386534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71575" y="-44450"/>
            <a:ext cx="4514850" cy="3386138"/>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ACE43D43-DBEA-49A5-7F88-CAFE07377D3C}"/>
              </a:ext>
            </a:extLst>
          </p:cNvPr>
          <p:cNvSpPr>
            <a:spLocks noGrp="1"/>
          </p:cNvSpPr>
          <p:nvPr>
            <p:ph type="body" idx="1"/>
          </p:nvPr>
        </p:nvSpPr>
        <p:spPr/>
        <p:txBody>
          <a:bodyPr/>
          <a:lstStyle/>
          <a:p>
            <a:r>
              <a:rPr lang="vi-VN" b="0" i="0" dirty="0">
                <a:solidFill>
                  <a:srgbClr val="000000"/>
                </a:solidFill>
                <a:effectLst/>
                <a:latin typeface="Roboto" panose="02000000000000000000" pitchFamily="2" charset="0"/>
              </a:rPr>
              <a:t>Hệ thống máy tính chia sẻ thời gian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Một hệ thống đa bộ xử lý được kết hợp lỏng lẻo hoặc chặt chẽ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Một hệ thống cơ sở dữ liệu </a:t>
            </a:r>
            <a:r>
              <a:rPr lang="en-US" b="0" i="0" dirty="0" err="1">
                <a:solidFill>
                  <a:srgbClr val="000000"/>
                </a:solidFill>
                <a:effectLst/>
                <a:latin typeface="Roboto" panose="02000000000000000000" pitchFamily="2" charset="0"/>
              </a:rPr>
              <a:t>đặt</a:t>
            </a:r>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tại một trong các nút của mạng máy tính - đây là cơ sở dữ liệu tập trung trên một nút mạng</a:t>
            </a:r>
            <a:endParaRPr lang="en-US" dirty="0"/>
          </a:p>
        </p:txBody>
      </p:sp>
    </p:spTree>
    <p:extLst>
      <p:ext uri="{BB962C8B-B14F-4D97-AF65-F5344CB8AC3E}">
        <p14:creationId xmlns:p14="http://schemas.microsoft.com/office/powerpoint/2010/main" val="2233768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ln/>
        </p:spPr>
        <p:txBody>
          <a:bodyPr/>
          <a:lstStyle/>
          <a:p>
            <a:endParaRPr lang="en-US"/>
          </a:p>
        </p:txBody>
      </p:sp>
      <p:sp>
        <p:nvSpPr>
          <p:cNvPr id="20483" name="Rectangle 3"/>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1335624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CE10E4A9-67F9-7534-23FB-E33FE91E4DF3}"/>
              </a:ext>
            </a:extLst>
          </p:cNvPr>
          <p:cNvSpPr>
            <a:spLocks noGrp="1"/>
          </p:cNvSpPr>
          <p:nvPr>
            <p:ph type="body" idx="1"/>
          </p:nvPr>
        </p:nvSpPr>
        <p:spPr/>
        <p:txBody>
          <a:bodyPr/>
          <a:lstStyle/>
          <a:p>
            <a:r>
              <a:rPr lang="en-US" dirty="0"/>
              <a:t>Implicit Assumptions: </a:t>
            </a:r>
            <a:r>
              <a:rPr lang="en-US" dirty="0" err="1"/>
              <a:t>Giả</a:t>
            </a:r>
            <a:r>
              <a:rPr lang="en-US" dirty="0"/>
              <a:t> </a:t>
            </a:r>
            <a:r>
              <a:rPr lang="en-US" dirty="0" err="1"/>
              <a:t>định</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Dữ liệu được lưu trữ tại một số </a:t>
            </a:r>
            <a:r>
              <a:rPr lang="en-US" b="0" i="0" dirty="0">
                <a:solidFill>
                  <a:srgbClr val="000000"/>
                </a:solidFill>
                <a:effectLst/>
                <a:latin typeface="Roboto" panose="02000000000000000000" pitchFamily="2" charset="0"/>
              </a:rPr>
              <a:t>site</a:t>
            </a:r>
            <a:r>
              <a:rPr lang="vi-VN" b="0" i="0" dirty="0">
                <a:solidFill>
                  <a:srgbClr val="000000"/>
                </a:solidFill>
                <a:effectLst/>
                <a:latin typeface="Roboto" panose="02000000000000000000" pitchFamily="2" charset="0"/>
              </a:rPr>
              <a:t>→ mỗi </a:t>
            </a:r>
            <a:r>
              <a:rPr lang="en-US" b="0" i="0" dirty="0">
                <a:solidFill>
                  <a:srgbClr val="000000"/>
                </a:solidFill>
                <a:effectLst/>
                <a:latin typeface="Roboto" panose="02000000000000000000" pitchFamily="2" charset="0"/>
              </a:rPr>
              <a:t>stie </a:t>
            </a:r>
            <a:r>
              <a:rPr lang="vi-VN" b="0" i="0" dirty="0">
                <a:solidFill>
                  <a:srgbClr val="000000"/>
                </a:solidFill>
                <a:effectLst/>
                <a:latin typeface="Roboto" panose="02000000000000000000" pitchFamily="2" charset="0"/>
              </a:rPr>
              <a:t>bao gồm một bộ xử lý duy nhất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Bộ xử lý tại các </a:t>
            </a:r>
            <a:r>
              <a:rPr lang="en-US" b="0" i="0" dirty="0">
                <a:solidFill>
                  <a:srgbClr val="000000"/>
                </a:solidFill>
                <a:effectLst/>
                <a:latin typeface="Roboto" panose="02000000000000000000" pitchFamily="2" charset="0"/>
              </a:rPr>
              <a:t>site </a:t>
            </a:r>
            <a:r>
              <a:rPr lang="vi-VN" b="0" i="0" dirty="0">
                <a:solidFill>
                  <a:srgbClr val="000000"/>
                </a:solidFill>
                <a:effectLst/>
                <a:latin typeface="Roboto" panose="02000000000000000000" pitchFamily="2" charset="0"/>
              </a:rPr>
              <a:t>khác nhau được kết nối với nhau bằng mạng máy tính → không phải hệ thống đa bộ xử lý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Hệ thống cơ sở dữ liệu song song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Cơ sở dữ liệu phân tán là một cơ sở dữ liệu, không phải là tập hợp các tệp → dữ liệu có liên quan logic như được thể hiện trong các mẫu truy cập của người dùng</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 Mô hình dữ liệu quan hệ </a:t>
            </a:r>
            <a:endParaRPr lang="en-US" b="0" i="0" dirty="0" smtClean="0">
              <a:solidFill>
                <a:srgbClr val="000000"/>
              </a:solidFill>
              <a:effectLst/>
              <a:latin typeface="Roboto" panose="02000000000000000000" pitchFamily="2" charset="0"/>
            </a:endParaRPr>
          </a:p>
          <a:p>
            <a:r>
              <a:rPr lang="vi-VN" b="0" i="0" dirty="0" smtClean="0">
                <a:solidFill>
                  <a:srgbClr val="000000"/>
                </a:solidFill>
                <a:effectLst/>
                <a:latin typeface="Roboto" panose="02000000000000000000" pitchFamily="2" charset="0"/>
              </a:rPr>
              <a:t>DBMS </a:t>
            </a:r>
            <a:r>
              <a:rPr lang="vi-VN" b="0" i="0" dirty="0">
                <a:solidFill>
                  <a:srgbClr val="000000"/>
                </a:solidFill>
                <a:effectLst/>
                <a:latin typeface="Roboto" panose="02000000000000000000" pitchFamily="2" charset="0"/>
              </a:rPr>
              <a:t>phân tán là một DBMS chính thức Không phải hệ thống tệp từ xa, không phải hệ thống TP</a:t>
            </a:r>
            <a:endParaRPr lang="en-US" dirty="0"/>
          </a:p>
        </p:txBody>
      </p:sp>
    </p:spTree>
    <p:extLst>
      <p:ext uri="{BB962C8B-B14F-4D97-AF65-F5344CB8AC3E}">
        <p14:creationId xmlns:p14="http://schemas.microsoft.com/office/powerpoint/2010/main" val="3440422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00000"/>
                </a:solidFill>
                <a:effectLst/>
                <a:latin typeface="Roboto" panose="02000000000000000000" pitchFamily="2" charset="0"/>
              </a:rPr>
              <a:t>Tích hợp logic Nhưng phân phối vật lý</a:t>
            </a:r>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11</a:t>
            </a:fld>
            <a:endParaRPr lang="en-US"/>
          </a:p>
        </p:txBody>
      </p:sp>
    </p:spTree>
    <p:extLst>
      <p:ext uri="{BB962C8B-B14F-4D97-AF65-F5344CB8AC3E}">
        <p14:creationId xmlns:p14="http://schemas.microsoft.com/office/powerpoint/2010/main" val="1549245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12</a:t>
            </a:fld>
            <a:endParaRPr lang="en-US"/>
          </a:p>
        </p:txBody>
      </p:sp>
    </p:spTree>
    <p:extLst>
      <p:ext uri="{BB962C8B-B14F-4D97-AF65-F5344CB8AC3E}">
        <p14:creationId xmlns:p14="http://schemas.microsoft.com/office/powerpoint/2010/main" val="2557638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352550" y="808038"/>
            <a:ext cx="4202113" cy="3151187"/>
          </a:xfrm>
          <a:ln cap="flat"/>
          <a:extLst>
            <a:ext uri="{FAA26D3D-D897-4be2-8F04-BA451C77F1D7}">
              <ma14:placeholderFlag xmlns:ma14="http://schemas.microsoft.com/office/mac/drawingml/2011/main" xmlns="" val="1"/>
            </a:ext>
          </a:extLst>
        </p:spPr>
      </p:sp>
      <p:sp>
        <p:nvSpPr>
          <p:cNvPr id="8601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094757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352550" y="808038"/>
            <a:ext cx="4202113" cy="3151187"/>
          </a:xfrm>
          <a:ln cap="flat"/>
          <a:extLst>
            <a:ext uri="{FAA26D3D-D897-4be2-8F04-BA451C77F1D7}">
              <ma14:placeholderFlag xmlns:ma14="http://schemas.microsoft.com/office/mac/drawingml/2011/main" xmlns="" val="1"/>
            </a:ext>
          </a:extLst>
        </p:spPr>
      </p:sp>
      <p:sp>
        <p:nvSpPr>
          <p:cNvPr id="8806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510392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00000"/>
                </a:solidFill>
                <a:effectLst/>
                <a:latin typeface="Roboto" panose="02000000000000000000" pitchFamily="2" charset="0"/>
              </a:rPr>
              <a:t>Các dịch vụ đáng tin cậy, theo yêu cầu được cung cấp qua Internet theo cách tiết kiệm chi ph</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í Tiết kiệm chi phí: không cần duy trì sức mạnh tính toán chuyên dụng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Độ co giãn: khả năng thích ứng tốt hơn với việc thay đổi khối lượng công việc</a:t>
            </a:r>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18</a:t>
            </a:fld>
            <a:endParaRPr lang="en-US"/>
          </a:p>
        </p:txBody>
      </p:sp>
    </p:spTree>
    <p:extLst>
      <p:ext uri="{BB962C8B-B14F-4D97-AF65-F5344CB8AC3E}">
        <p14:creationId xmlns:p14="http://schemas.microsoft.com/office/powerpoint/2010/main" val="2923927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00000"/>
                </a:solidFill>
                <a:effectLst/>
                <a:latin typeface="Roboto" panose="02000000000000000000" pitchFamily="2" charset="0"/>
              </a:rPr>
              <a:t>Các giải pháp thay thế cung cấp dữ liệu</a:t>
            </a:r>
            <a:endParaRPr lang="en-US" b="0" i="0" dirty="0">
              <a:solidFill>
                <a:srgbClr val="000000"/>
              </a:solidFill>
              <a:effectLst/>
              <a:latin typeface="Roboto" panose="02000000000000000000" pitchFamily="2" charset="0"/>
            </a:endParaRPr>
          </a:p>
          <a:p>
            <a:r>
              <a:rPr lang="en-US" b="0" i="0" dirty="0" err="1">
                <a:solidFill>
                  <a:srgbClr val="000000"/>
                </a:solidFill>
                <a:effectLst/>
                <a:latin typeface="Roboto" panose="02000000000000000000" pitchFamily="2" charset="0"/>
              </a:rPr>
              <a:t>Mô</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hình</a:t>
            </a:r>
            <a:r>
              <a:rPr lang="vi-VN" b="0" i="0" dirty="0">
                <a:solidFill>
                  <a:srgbClr val="000000"/>
                </a:solidFill>
                <a:effectLst/>
                <a:latin typeface="Roboto" panose="02000000000000000000" pitchFamily="2" charset="0"/>
              </a:rPr>
              <a:t> giao hàng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chỉ kéo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chỉ đẩy</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 Hỗn hợp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Tính thường xuyên</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 định kỳ </a:t>
            </a:r>
            <a:r>
              <a:rPr lang="en-US" b="0" i="0" dirty="0">
                <a:solidFill>
                  <a:srgbClr val="000000"/>
                </a:solidFill>
                <a:effectLst/>
                <a:latin typeface="Roboto" panose="02000000000000000000" pitchFamily="2" charset="0"/>
              </a:rPr>
              <a:t>,</a:t>
            </a:r>
            <a:r>
              <a:rPr lang="vi-VN" b="0" i="0" dirty="0">
                <a:solidFill>
                  <a:srgbClr val="000000"/>
                </a:solidFill>
                <a:effectLst/>
                <a:latin typeface="Roboto" panose="02000000000000000000" pitchFamily="2" charset="0"/>
              </a:rPr>
              <a:t>có điều kiện Đặc biệt hoặc không thường xuyên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Phương thức giao tiếp</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 đơn hướng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Một-nhiều Lưu ý: k</a:t>
            </a:r>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19</a:t>
            </a:fld>
            <a:endParaRPr lang="en-US"/>
          </a:p>
        </p:txBody>
      </p:sp>
    </p:spTree>
    <p:extLst>
      <p:ext uri="{BB962C8B-B14F-4D97-AF65-F5344CB8AC3E}">
        <p14:creationId xmlns:p14="http://schemas.microsoft.com/office/powerpoint/2010/main" val="3726512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B5A77E6A-D821-0FF9-6992-FB76888526D9}"/>
              </a:ext>
            </a:extLst>
          </p:cNvPr>
          <p:cNvSpPr>
            <a:spLocks noGrp="1"/>
          </p:cNvSpPr>
          <p:nvPr>
            <p:ph type="body" idx="1"/>
          </p:nvPr>
        </p:nvSpPr>
        <p:spPr/>
        <p:txBody>
          <a:bodyPr/>
          <a:lstStyle/>
          <a:p>
            <a:r>
              <a:rPr lang="en-US" b="0" i="0" dirty="0" err="1">
                <a:solidFill>
                  <a:srgbClr val="000000"/>
                </a:solidFill>
                <a:effectLst/>
                <a:latin typeface="Roboto" panose="02000000000000000000" pitchFamily="2" charset="0"/>
              </a:rPr>
              <a:t>Ưu</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điểm</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Quản lý </a:t>
            </a:r>
            <a:r>
              <a:rPr lang="en-US" b="0" i="0" dirty="0" err="1">
                <a:solidFill>
                  <a:srgbClr val="000000"/>
                </a:solidFill>
                <a:effectLst/>
                <a:latin typeface="Roboto" panose="02000000000000000000" pitchFamily="2" charset="0"/>
              </a:rPr>
              <a:t>trong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suốt</a:t>
            </a:r>
            <a:r>
              <a:rPr lang="vi-VN" b="0" i="0" dirty="0">
                <a:solidFill>
                  <a:srgbClr val="000000"/>
                </a:solidFill>
                <a:effectLst/>
                <a:latin typeface="Roboto" panose="02000000000000000000" pitchFamily="2" charset="0"/>
              </a:rPr>
              <a:t>dữ liệu phân tán, phân mảnh và </a:t>
            </a:r>
            <a:r>
              <a:rPr lang="en-US" b="0" i="0" dirty="0" err="1">
                <a:solidFill>
                  <a:srgbClr val="000000"/>
                </a:solidFill>
                <a:effectLst/>
                <a:latin typeface="Roboto" panose="02000000000000000000" pitchFamily="2" charset="0"/>
              </a:rPr>
              <a:t>nhân</a:t>
            </a:r>
            <a:r>
              <a:rPr lang="en-US" b="0" i="0" dirty="0">
                <a:solidFill>
                  <a:srgbClr val="000000"/>
                </a:solidFill>
                <a:effectLst/>
                <a:latin typeface="Roboto" panose="02000000000000000000" pitchFamily="2" charset="0"/>
              </a:rPr>
              <a:t> ban</a:t>
            </a:r>
          </a:p>
          <a:p>
            <a:r>
              <a:rPr lang="vi-VN" b="0" i="0" dirty="0">
                <a:solidFill>
                  <a:srgbClr val="000000"/>
                </a:solidFill>
                <a:effectLst/>
                <a:latin typeface="Roboto" panose="02000000000000000000" pitchFamily="2" charset="0"/>
              </a:rPr>
              <a:t> Cải thiện độ tin cậy/tính khả dụng thông qua các giao dịch phân tán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Cải thiện hiệu suất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Mở rộng hệ thống dễ dàng và kinh tế hơn</a:t>
            </a:r>
            <a:endParaRPr lang="en-US" dirty="0"/>
          </a:p>
        </p:txBody>
      </p:sp>
    </p:spTree>
    <p:extLst>
      <p:ext uri="{BB962C8B-B14F-4D97-AF65-F5344CB8AC3E}">
        <p14:creationId xmlns:p14="http://schemas.microsoft.com/office/powerpoint/2010/main" val="3428874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026"/>
          <p:cNvSpPr>
            <a:spLocks noGrp="1" noRot="1" noChangeAspect="1" noChangeArrowheads="1" noTextEdit="1"/>
          </p:cNvSpPr>
          <p:nvPr>
            <p:ph type="sldImg"/>
          </p:nvPr>
        </p:nvSpPr>
        <p:spPr>
          <a:xfrm>
            <a:off x="679450" y="336550"/>
            <a:ext cx="5486400" cy="41148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DBFDCD73-C34B-4F3A-19F4-1153158A830D}"/>
              </a:ext>
            </a:extLst>
          </p:cNvPr>
          <p:cNvSpPr>
            <a:spLocks noGrp="1"/>
          </p:cNvSpPr>
          <p:nvPr>
            <p:ph type="body" idx="1"/>
          </p:nvPr>
        </p:nvSpPr>
        <p:spPr/>
        <p:txBody>
          <a:bodyPr/>
          <a:lstStyle/>
          <a:p>
            <a:r>
              <a:rPr lang="vi-VN" b="0" i="0" dirty="0">
                <a:solidFill>
                  <a:srgbClr val="000000"/>
                </a:solidFill>
                <a:effectLst/>
                <a:latin typeface="Roboto" panose="02000000000000000000" pitchFamily="2" charset="0"/>
              </a:rPr>
              <a:t>Tính </a:t>
            </a:r>
            <a:r>
              <a:rPr lang="en-US" b="0" i="0" dirty="0" err="1">
                <a:solidFill>
                  <a:srgbClr val="000000"/>
                </a:solidFill>
                <a:effectLst/>
                <a:latin typeface="Roboto" panose="02000000000000000000" pitchFamily="2" charset="0"/>
              </a:rPr>
              <a:t>trong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suốt</a:t>
            </a:r>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là sự tách biệt ngữ nghĩa cấp cao hơn của một hệ thống khỏi các vấn đề triển khai cấp thấp hơn.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Vấn đề cơ bản là cung cấp độc lập dữ liệu trong môi trường phân tán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Tính </a:t>
            </a:r>
            <a:r>
              <a:rPr lang="en-US" b="0" i="0" dirty="0" err="1">
                <a:solidFill>
                  <a:srgbClr val="000000"/>
                </a:solidFill>
                <a:effectLst/>
                <a:latin typeface="Roboto" panose="02000000000000000000" pitchFamily="2" charset="0"/>
              </a:rPr>
              <a:t>trong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suốt</a:t>
            </a:r>
            <a:r>
              <a:rPr lang="vi-VN" b="0" i="0" dirty="0">
                <a:solidFill>
                  <a:srgbClr val="000000"/>
                </a:solidFill>
                <a:effectLst/>
                <a:latin typeface="Roboto" panose="02000000000000000000" pitchFamily="2" charset="0"/>
              </a:rPr>
              <a:t>của mạng (phân phối)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Sao chép minh bạch phân mảnh minh bạch </a:t>
            </a:r>
            <a:r>
              <a:rPr lang="en-US" b="0" i="0" dirty="0" smtClean="0">
                <a:solidFill>
                  <a:srgbClr val="000000"/>
                </a:solidFill>
                <a:effectLst/>
                <a:latin typeface="Roboto" panose="02000000000000000000" pitchFamily="2" charset="0"/>
              </a:rPr>
              <a:t>/</a:t>
            </a:r>
            <a:r>
              <a:rPr lang="vi-VN" b="0" i="0" dirty="0" smtClean="0">
                <a:solidFill>
                  <a:srgbClr val="000000"/>
                </a:solidFill>
                <a:effectLst/>
                <a:latin typeface="Roboto" panose="02000000000000000000" pitchFamily="2" charset="0"/>
              </a:rPr>
              <a:t>phân </a:t>
            </a:r>
            <a:r>
              <a:rPr lang="vi-VN" b="0" i="0" dirty="0">
                <a:solidFill>
                  <a:srgbClr val="000000"/>
                </a:solidFill>
                <a:effectLst/>
                <a:latin typeface="Roboto" panose="02000000000000000000" pitchFamily="2" charset="0"/>
              </a:rPr>
              <a:t>mảnh ngang: lựa </a:t>
            </a:r>
            <a:r>
              <a:rPr lang="vi-VN" b="0" i="0" dirty="0" smtClean="0">
                <a:solidFill>
                  <a:srgbClr val="000000"/>
                </a:solidFill>
                <a:effectLst/>
                <a:latin typeface="Roboto" panose="02000000000000000000" pitchFamily="2" charset="0"/>
              </a:rPr>
              <a:t>chọn</a:t>
            </a:r>
            <a:r>
              <a:rPr lang="en-US" b="0" i="0" dirty="0" smtClean="0">
                <a:solidFill>
                  <a:srgbClr val="000000"/>
                </a:solidFill>
                <a:effectLst/>
                <a:latin typeface="Roboto" panose="02000000000000000000" pitchFamily="2" charset="0"/>
              </a:rPr>
              <a:t>/</a:t>
            </a:r>
            <a:r>
              <a:rPr lang="vi-VN" b="0" i="0" dirty="0" smtClean="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phân mảnh dọc: phép chiếu hỗn hợp</a:t>
            </a:r>
            <a:endParaRPr lang="en-US" dirty="0"/>
          </a:p>
        </p:txBody>
      </p:sp>
    </p:spTree>
    <p:extLst>
      <p:ext uri="{BB962C8B-B14F-4D97-AF65-F5344CB8AC3E}">
        <p14:creationId xmlns:p14="http://schemas.microsoft.com/office/powerpoint/2010/main" val="1087847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679450" y="336550"/>
            <a:ext cx="5486400" cy="4114800"/>
          </a:xfrm>
          <a:ln cap="flat"/>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3529519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679450" y="336550"/>
            <a:ext cx="5486400" cy="4114800"/>
          </a:xfrm>
          <a:ln cap="flat"/>
          <a:extLst>
            <a:ext uri="{FAA26D3D-D897-4be2-8F04-BA451C77F1D7}">
              <ma14:placeholderFlag xmlns:ma14="http://schemas.microsoft.com/office/mac/drawingml/2011/main" xmlns="" val="1"/>
            </a:ext>
          </a:extLst>
        </p:spPr>
      </p:sp>
      <p:sp>
        <p:nvSpPr>
          <p:cNvPr id="3" name="Notes Placeholder 2"/>
          <p:cNvSpPr>
            <a:spLocks noGrp="1"/>
          </p:cNvSpPr>
          <p:nvPr>
            <p:ph type="body" idx="1"/>
          </p:nvPr>
        </p:nvSpPr>
        <p:spPr/>
        <p:txBody>
          <a:bodyPr>
            <a:normAutofit/>
          </a:bodyPr>
          <a:lstStyle/>
          <a:p>
            <a:r>
              <a:rPr lang="en-CA" dirty="0"/>
              <a:t>Animated slide</a:t>
            </a:r>
          </a:p>
        </p:txBody>
      </p:sp>
    </p:spTree>
    <p:extLst>
      <p:ext uri="{BB962C8B-B14F-4D97-AF65-F5344CB8AC3E}">
        <p14:creationId xmlns:p14="http://schemas.microsoft.com/office/powerpoint/2010/main" val="2986048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352550" y="808038"/>
            <a:ext cx="4202113" cy="3151187"/>
          </a:xfrm>
          <a:ln cap="flat"/>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2613278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1352550" y="808038"/>
            <a:ext cx="4202113" cy="3151187"/>
          </a:xfrm>
          <a:ln cap="flat"/>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536474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 </a:t>
            </a:r>
            <a:r>
              <a:rPr lang="vi-VN" b="0" i="0" dirty="0">
                <a:solidFill>
                  <a:srgbClr val="374151"/>
                </a:solidFill>
                <a:effectLst/>
                <a:latin typeface="Söhne"/>
              </a:rPr>
              <a:t>Tính độc lập dữ liệu </a:t>
            </a:r>
            <a:r>
              <a:rPr lang="en-US" b="0" i="0" dirty="0">
                <a:solidFill>
                  <a:srgbClr val="374151"/>
                </a:solidFill>
                <a:effectLst/>
                <a:latin typeface="Söhne"/>
              </a:rPr>
              <a:t>(logic </a:t>
            </a:r>
            <a:r>
              <a:rPr lang="en-US" b="0" i="0" dirty="0" err="1">
                <a:solidFill>
                  <a:srgbClr val="374151"/>
                </a:solidFill>
                <a:effectLst/>
                <a:latin typeface="Söhne"/>
              </a:rPr>
              <a:t>và</a:t>
            </a:r>
            <a:r>
              <a:rPr lang="en-US" b="0" i="0" dirty="0">
                <a:solidFill>
                  <a:srgbClr val="374151"/>
                </a:solidFill>
                <a:effectLst/>
                <a:latin typeface="Söhne"/>
              </a:rPr>
              <a:t> </a:t>
            </a:r>
            <a:r>
              <a:rPr lang="en-US" b="0" i="0" dirty="0" err="1">
                <a:solidFill>
                  <a:srgbClr val="374151"/>
                </a:solidFill>
                <a:effectLst/>
                <a:latin typeface="Söhne"/>
              </a:rPr>
              <a:t>vật</a:t>
            </a:r>
            <a:r>
              <a:rPr lang="en-US" b="0" i="0" dirty="0">
                <a:solidFill>
                  <a:srgbClr val="374151"/>
                </a:solidFill>
                <a:effectLst/>
                <a:latin typeface="Söhne"/>
              </a:rPr>
              <a:t> </a:t>
            </a:r>
            <a:r>
              <a:rPr lang="en-US" b="0" i="0" dirty="0" err="1">
                <a:solidFill>
                  <a:srgbClr val="374151"/>
                </a:solidFill>
                <a:effectLst/>
                <a:latin typeface="Söhne"/>
              </a:rPr>
              <a:t>lý</a:t>
            </a:r>
            <a:r>
              <a:rPr lang="en-US" b="0" i="0" dirty="0">
                <a:solidFill>
                  <a:srgbClr val="374151"/>
                </a:solidFill>
                <a:effectLst/>
                <a:latin typeface="Söhne"/>
              </a:rPr>
              <a:t>)</a:t>
            </a:r>
          </a:p>
          <a:p>
            <a:r>
              <a:rPr lang="en-US" b="0" i="0" dirty="0">
                <a:solidFill>
                  <a:srgbClr val="374151"/>
                </a:solidFill>
                <a:effectLst/>
                <a:latin typeface="Söhne"/>
              </a:rPr>
              <a:t>- </a:t>
            </a:r>
            <a:r>
              <a:rPr lang="vi-VN" b="0" i="0" dirty="0">
                <a:solidFill>
                  <a:srgbClr val="374151"/>
                </a:solidFill>
                <a:effectLst/>
                <a:latin typeface="Söhne"/>
              </a:rPr>
              <a:t>Trong suốt mạng (hoặc trong suốt phân phối) </a:t>
            </a:r>
            <a:endParaRPr lang="en-US" b="0" i="0" dirty="0">
              <a:solidFill>
                <a:srgbClr val="374151"/>
              </a:solidFill>
              <a:effectLst/>
              <a:latin typeface="Söhne"/>
            </a:endParaRPr>
          </a:p>
          <a:p>
            <a:pPr lvl="1"/>
            <a:r>
              <a:rPr lang="vi-VN" b="0" i="0" dirty="0">
                <a:solidFill>
                  <a:srgbClr val="374151"/>
                </a:solidFill>
                <a:effectLst/>
                <a:latin typeface="Söhne"/>
              </a:rPr>
              <a:t>Trong suốt vị trí </a:t>
            </a:r>
            <a:endParaRPr lang="en-US" b="0" i="0" dirty="0">
              <a:solidFill>
                <a:srgbClr val="374151"/>
              </a:solidFill>
              <a:effectLst/>
              <a:latin typeface="Söhne"/>
            </a:endParaRPr>
          </a:p>
          <a:p>
            <a:pPr lvl="1"/>
            <a:r>
              <a:rPr lang="en-US" b="0" i="0" dirty="0" err="1">
                <a:solidFill>
                  <a:srgbClr val="374151"/>
                </a:solidFill>
                <a:effectLst/>
                <a:latin typeface="Söhne"/>
              </a:rPr>
              <a:t>Trong</a:t>
            </a:r>
            <a:r>
              <a:rPr lang="en-US" b="0" i="0" dirty="0">
                <a:solidFill>
                  <a:srgbClr val="374151"/>
                </a:solidFill>
                <a:effectLst/>
                <a:latin typeface="Söhne"/>
              </a:rPr>
              <a:t> </a:t>
            </a:r>
            <a:r>
              <a:rPr lang="en-US" b="0" i="0" dirty="0" err="1">
                <a:solidFill>
                  <a:srgbClr val="374151"/>
                </a:solidFill>
                <a:effectLst/>
                <a:latin typeface="Söhne"/>
              </a:rPr>
              <a:t>suốt</a:t>
            </a:r>
            <a:r>
              <a:rPr lang="en-US" b="0" i="0" dirty="0">
                <a:solidFill>
                  <a:srgbClr val="374151"/>
                </a:solidFill>
                <a:effectLst/>
                <a:latin typeface="Söhne"/>
              </a:rPr>
              <a:t> </a:t>
            </a:r>
            <a:r>
              <a:rPr lang="en-US" b="0" i="0" dirty="0" err="1">
                <a:solidFill>
                  <a:srgbClr val="374151"/>
                </a:solidFill>
                <a:effectLst/>
                <a:latin typeface="Söhne"/>
              </a:rPr>
              <a:t>phân</a:t>
            </a:r>
            <a:r>
              <a:rPr lang="en-US" b="0" i="0" dirty="0">
                <a:solidFill>
                  <a:srgbClr val="374151"/>
                </a:solidFill>
                <a:effectLst/>
                <a:latin typeface="Söhne"/>
              </a:rPr>
              <a:t> </a:t>
            </a:r>
            <a:r>
              <a:rPr lang="en-US" b="0" i="0" dirty="0" err="1">
                <a:solidFill>
                  <a:srgbClr val="374151"/>
                </a:solidFill>
                <a:effectLst/>
                <a:latin typeface="Söhne"/>
              </a:rPr>
              <a:t>mảnh</a:t>
            </a:r>
            <a:endParaRPr lang="en-US" b="0" i="0" dirty="0">
              <a:solidFill>
                <a:srgbClr val="374151"/>
              </a:solidFill>
              <a:effectLst/>
              <a:latin typeface="Söhne"/>
            </a:endParaRPr>
          </a:p>
          <a:p>
            <a:r>
              <a:rPr lang="vi-VN" b="0" i="0" dirty="0">
                <a:solidFill>
                  <a:srgbClr val="374151"/>
                </a:solidFill>
                <a:effectLst/>
                <a:latin typeface="Söhne"/>
              </a:rPr>
              <a:t>Trong suốt p</a:t>
            </a:r>
            <a:r>
              <a:rPr lang="en-US" b="0" i="0" dirty="0" err="1">
                <a:solidFill>
                  <a:srgbClr val="374151"/>
                </a:solidFill>
                <a:effectLst/>
                <a:latin typeface="Söhne"/>
              </a:rPr>
              <a:t>hân</a:t>
            </a:r>
            <a:r>
              <a:rPr lang="en-US" b="0" i="0" dirty="0">
                <a:solidFill>
                  <a:srgbClr val="374151"/>
                </a:solidFill>
                <a:effectLst/>
                <a:latin typeface="Söhne"/>
              </a:rPr>
              <a:t> </a:t>
            </a:r>
            <a:r>
              <a:rPr lang="en-US" b="0" i="0" dirty="0" err="1">
                <a:solidFill>
                  <a:srgbClr val="374151"/>
                </a:solidFill>
                <a:effectLst/>
                <a:latin typeface="Söhne"/>
              </a:rPr>
              <a:t>mảnh</a:t>
            </a:r>
            <a:endParaRPr lang="en-US" b="0" i="0" dirty="0">
              <a:solidFill>
                <a:srgbClr val="374151"/>
              </a:solidFill>
              <a:effectLst/>
              <a:latin typeface="Söhne"/>
            </a:endParaRPr>
          </a:p>
          <a:p>
            <a:r>
              <a:rPr lang="vi-VN" b="0" i="0" dirty="0">
                <a:solidFill>
                  <a:srgbClr val="374151"/>
                </a:solidFill>
                <a:effectLst/>
                <a:latin typeface="Söhne"/>
              </a:rPr>
              <a:t>Trong</a:t>
            </a:r>
            <a:r>
              <a:rPr lang="en-US" b="0" i="0" dirty="0">
                <a:solidFill>
                  <a:srgbClr val="374151"/>
                </a:solidFill>
                <a:effectLst/>
                <a:latin typeface="Söhne"/>
              </a:rPr>
              <a:t> </a:t>
            </a:r>
            <a:r>
              <a:rPr lang="en-US" b="0" i="0" dirty="0" err="1">
                <a:solidFill>
                  <a:srgbClr val="374151"/>
                </a:solidFill>
                <a:effectLst/>
                <a:latin typeface="Söhne"/>
              </a:rPr>
              <a:t>suốt</a:t>
            </a:r>
            <a:r>
              <a:rPr lang="en-US" b="0" i="0" dirty="0">
                <a:solidFill>
                  <a:srgbClr val="374151"/>
                </a:solidFill>
                <a:effectLst/>
                <a:latin typeface="Söhne"/>
              </a:rPr>
              <a:t> </a:t>
            </a:r>
            <a:r>
              <a:rPr lang="en-US" b="0" i="0" dirty="0" err="1">
                <a:solidFill>
                  <a:srgbClr val="374151"/>
                </a:solidFill>
                <a:effectLst/>
                <a:latin typeface="Söhne"/>
              </a:rPr>
              <a:t>nhân</a:t>
            </a:r>
            <a:r>
              <a:rPr lang="en-US" b="0" i="0" dirty="0">
                <a:solidFill>
                  <a:srgbClr val="374151"/>
                </a:solidFill>
                <a:effectLst/>
                <a:latin typeface="Söhne"/>
              </a:rPr>
              <a:t> </a:t>
            </a:r>
            <a:r>
              <a:rPr lang="en-US" b="0" i="0" dirty="0" err="1">
                <a:solidFill>
                  <a:srgbClr val="374151"/>
                </a:solidFill>
                <a:effectLst/>
                <a:latin typeface="Söhne"/>
              </a:rPr>
              <a:t>bản</a:t>
            </a:r>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27</a:t>
            </a:fld>
            <a:endParaRPr lang="en-US"/>
          </a:p>
        </p:txBody>
      </p:sp>
    </p:spTree>
    <p:extLst>
      <p:ext uri="{BB962C8B-B14F-4D97-AF65-F5344CB8AC3E}">
        <p14:creationId xmlns:p14="http://schemas.microsoft.com/office/powerpoint/2010/main" val="4288896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374151"/>
                </a:solidFill>
                <a:effectLst/>
                <a:latin typeface="Söhne"/>
              </a:rPr>
              <a:t>Sự</a:t>
            </a:r>
            <a:r>
              <a:rPr lang="en-US" b="0" i="0" dirty="0">
                <a:solidFill>
                  <a:srgbClr val="374151"/>
                </a:solidFill>
                <a:effectLst/>
                <a:latin typeface="Söhne"/>
              </a:rPr>
              <a:t> tin </a:t>
            </a:r>
            <a:r>
              <a:rPr lang="en-US" b="0" i="0" dirty="0" err="1">
                <a:solidFill>
                  <a:srgbClr val="374151"/>
                </a:solidFill>
                <a:effectLst/>
                <a:latin typeface="Söhne"/>
              </a:rPr>
              <a:t>cậy</a:t>
            </a:r>
            <a:r>
              <a:rPr lang="en-US" b="0" i="0" dirty="0">
                <a:solidFill>
                  <a:srgbClr val="374151"/>
                </a:solidFill>
                <a:effectLst/>
                <a:latin typeface="Söhne"/>
              </a:rPr>
              <a:t> qua </a:t>
            </a:r>
            <a:r>
              <a:rPr lang="en-US" b="0" i="0" dirty="0" err="1">
                <a:solidFill>
                  <a:srgbClr val="374151"/>
                </a:solidFill>
                <a:effectLst/>
                <a:latin typeface="Söhne"/>
              </a:rPr>
              <a:t>giao</a:t>
            </a:r>
            <a:r>
              <a:rPr lang="en-US" b="0" i="0" dirty="0">
                <a:solidFill>
                  <a:srgbClr val="374151"/>
                </a:solidFill>
                <a:effectLst/>
                <a:latin typeface="Söhne"/>
              </a:rPr>
              <a:t> </a:t>
            </a:r>
            <a:r>
              <a:rPr lang="en-US" b="0" i="0" dirty="0" err="1">
                <a:solidFill>
                  <a:srgbClr val="374151"/>
                </a:solidFill>
                <a:effectLst/>
                <a:latin typeface="Söhne"/>
              </a:rPr>
              <a:t>dịch</a:t>
            </a:r>
            <a:r>
              <a:rPr lang="en-US" b="0" i="0" dirty="0">
                <a:solidFill>
                  <a:srgbClr val="374151"/>
                </a:solidFill>
                <a:effectLst/>
                <a:latin typeface="Söhne"/>
              </a:rPr>
              <a:t>:</a:t>
            </a:r>
          </a:p>
          <a:p>
            <a:r>
              <a:rPr lang="vi-VN" b="0" i="0" dirty="0">
                <a:solidFill>
                  <a:srgbClr val="374151"/>
                </a:solidFill>
                <a:effectLst/>
                <a:latin typeface="Söhne"/>
              </a:rPr>
              <a:t>Các thành phần và dữ liệu được </a:t>
            </a:r>
            <a:r>
              <a:rPr lang="en-US" b="0" i="0" dirty="0" err="1">
                <a:solidFill>
                  <a:srgbClr val="374151"/>
                </a:solidFill>
                <a:effectLst/>
                <a:latin typeface="Söhne"/>
              </a:rPr>
              <a:t>nhân</a:t>
            </a:r>
            <a:r>
              <a:rPr lang="en-US" b="0" i="0" dirty="0">
                <a:solidFill>
                  <a:srgbClr val="374151"/>
                </a:solidFill>
                <a:effectLst/>
                <a:latin typeface="Söhne"/>
              </a:rPr>
              <a:t> </a:t>
            </a:r>
            <a:r>
              <a:rPr lang="en-US" b="0" i="0" dirty="0" err="1">
                <a:solidFill>
                  <a:srgbClr val="374151"/>
                </a:solidFill>
                <a:effectLst/>
                <a:latin typeface="Söhne"/>
              </a:rPr>
              <a:t>bản</a:t>
            </a:r>
            <a:r>
              <a:rPr lang="en-US" b="0" i="0" dirty="0">
                <a:solidFill>
                  <a:srgbClr val="374151"/>
                </a:solidFill>
                <a:effectLst/>
                <a:latin typeface="Söhne"/>
              </a:rPr>
              <a:t> </a:t>
            </a:r>
            <a:r>
              <a:rPr lang="vi-VN" b="0" i="0" dirty="0">
                <a:solidFill>
                  <a:srgbClr val="374151"/>
                </a:solidFill>
                <a:effectLst/>
                <a:latin typeface="Söhne"/>
              </a:rPr>
              <a:t>cần làm cho hệ quản trị cơ sở dữ liệu phân tán trở nên tin cậy hơn.</a:t>
            </a:r>
            <a:endParaRPr lang="en-US" b="0" i="0" dirty="0">
              <a:solidFill>
                <a:srgbClr val="374151"/>
              </a:solidFill>
              <a:effectLst/>
              <a:latin typeface="Söhne"/>
            </a:endParaRPr>
          </a:p>
          <a:p>
            <a:r>
              <a:rPr lang="vi-VN" b="0" i="0" dirty="0">
                <a:solidFill>
                  <a:srgbClr val="374151"/>
                </a:solidFill>
                <a:effectLst/>
                <a:latin typeface="Söhne"/>
              </a:rPr>
              <a:t> Giao dịch phân tán cung cấp </a:t>
            </a:r>
            <a:endParaRPr lang="en-US" b="0" i="0" dirty="0" smtClean="0">
              <a:solidFill>
                <a:srgbClr val="374151"/>
              </a:solidFill>
              <a:effectLst/>
              <a:latin typeface="Söhne"/>
            </a:endParaRPr>
          </a:p>
          <a:p>
            <a:r>
              <a:rPr lang="en-US" b="0" i="0" dirty="0" smtClean="0">
                <a:solidFill>
                  <a:srgbClr val="374151"/>
                </a:solidFill>
                <a:effectLst/>
                <a:latin typeface="Söhne"/>
              </a:rPr>
              <a:t>	+</a:t>
            </a:r>
            <a:r>
              <a:rPr lang="en-US" b="0" i="0" dirty="0" err="1" smtClean="0">
                <a:solidFill>
                  <a:srgbClr val="374151"/>
                </a:solidFill>
                <a:effectLst/>
                <a:latin typeface="Söhne"/>
              </a:rPr>
              <a:t>Về</a:t>
            </a:r>
            <a:r>
              <a:rPr lang="en-US" b="0" i="0" dirty="0" smtClean="0">
                <a:solidFill>
                  <a:srgbClr val="374151"/>
                </a:solidFill>
                <a:effectLst/>
                <a:latin typeface="Söhne"/>
              </a:rPr>
              <a:t> </a:t>
            </a:r>
            <a:r>
              <a:rPr lang="en-US" b="0" i="0" dirty="0" err="1" smtClean="0">
                <a:solidFill>
                  <a:srgbClr val="374151"/>
                </a:solidFill>
                <a:effectLst/>
                <a:latin typeface="Söhne"/>
              </a:rPr>
              <a:t>tính</a:t>
            </a:r>
            <a:r>
              <a:rPr lang="vi-VN" b="0" i="0" dirty="0" smtClean="0">
                <a:solidFill>
                  <a:srgbClr val="374151"/>
                </a:solidFill>
                <a:effectLst/>
                <a:latin typeface="Söhne"/>
              </a:rPr>
              <a:t> </a:t>
            </a:r>
            <a:r>
              <a:rPr lang="vi-VN" b="0" i="0" dirty="0">
                <a:solidFill>
                  <a:srgbClr val="374151"/>
                </a:solidFill>
                <a:effectLst/>
                <a:latin typeface="Söhne"/>
              </a:rPr>
              <a:t>đồng </a:t>
            </a:r>
            <a:r>
              <a:rPr lang="vi-VN" b="0" i="0" dirty="0" smtClean="0">
                <a:solidFill>
                  <a:srgbClr val="374151"/>
                </a:solidFill>
                <a:effectLst/>
                <a:latin typeface="Söhne"/>
              </a:rPr>
              <a:t>thời</a:t>
            </a:r>
            <a:r>
              <a:rPr lang="en-US" b="0" i="0" dirty="0" smtClean="0">
                <a:solidFill>
                  <a:srgbClr val="374151"/>
                </a:solidFill>
                <a:effectLst/>
                <a:latin typeface="Söhne"/>
              </a:rPr>
              <a:t> ( </a:t>
            </a:r>
            <a:r>
              <a:rPr lang="en-US" b="0" i="0" dirty="0" err="1" smtClean="0">
                <a:solidFill>
                  <a:srgbClr val="374151"/>
                </a:solidFill>
                <a:effectLst/>
                <a:latin typeface="Söhne"/>
              </a:rPr>
              <a:t>giải</a:t>
            </a:r>
            <a:r>
              <a:rPr lang="en-US" b="0" i="0" baseline="0" dirty="0" smtClean="0">
                <a:solidFill>
                  <a:srgbClr val="374151"/>
                </a:solidFill>
                <a:effectLst/>
                <a:latin typeface="Söhne"/>
              </a:rPr>
              <a:t> </a:t>
            </a:r>
            <a:r>
              <a:rPr lang="en-US" b="0" i="0" baseline="0" dirty="0" err="1" smtClean="0">
                <a:solidFill>
                  <a:srgbClr val="374151"/>
                </a:solidFill>
                <a:effectLst/>
                <a:latin typeface="Söhne"/>
              </a:rPr>
              <a:t>quyết</a:t>
            </a:r>
            <a:r>
              <a:rPr lang="en-US" b="0" i="0" baseline="0" dirty="0" smtClean="0">
                <a:solidFill>
                  <a:srgbClr val="374151"/>
                </a:solidFill>
                <a:effectLst/>
                <a:latin typeface="Söhne"/>
              </a:rPr>
              <a:t> </a:t>
            </a:r>
            <a:r>
              <a:rPr lang="en-US" b="0" i="0" baseline="0" dirty="0" err="1" smtClean="0">
                <a:solidFill>
                  <a:srgbClr val="374151"/>
                </a:solidFill>
                <a:effectLst/>
                <a:latin typeface="Söhne"/>
              </a:rPr>
              <a:t>nhiều</a:t>
            </a:r>
            <a:r>
              <a:rPr lang="en-US" b="0" i="0" baseline="0" dirty="0" smtClean="0">
                <a:solidFill>
                  <a:srgbClr val="374151"/>
                </a:solidFill>
                <a:effectLst/>
                <a:latin typeface="Söhne"/>
              </a:rPr>
              <a:t> </a:t>
            </a:r>
            <a:r>
              <a:rPr lang="en-US" b="0" i="0" baseline="0" dirty="0" err="1" smtClean="0">
                <a:solidFill>
                  <a:srgbClr val="374151"/>
                </a:solidFill>
                <a:effectLst/>
                <a:latin typeface="Söhne"/>
              </a:rPr>
              <a:t>công</a:t>
            </a:r>
            <a:r>
              <a:rPr lang="en-US" b="0" i="0" baseline="0" dirty="0" smtClean="0">
                <a:solidFill>
                  <a:srgbClr val="374151"/>
                </a:solidFill>
                <a:effectLst/>
                <a:latin typeface="Söhne"/>
              </a:rPr>
              <a:t> </a:t>
            </a:r>
            <a:r>
              <a:rPr lang="en-US" b="0" i="0" baseline="0" dirty="0" err="1" smtClean="0">
                <a:solidFill>
                  <a:srgbClr val="374151"/>
                </a:solidFill>
                <a:effectLst/>
                <a:latin typeface="Söhne"/>
              </a:rPr>
              <a:t>việc</a:t>
            </a:r>
            <a:r>
              <a:rPr lang="en-US" b="0" i="0" baseline="0" dirty="0" smtClean="0">
                <a:solidFill>
                  <a:srgbClr val="374151"/>
                </a:solidFill>
                <a:effectLst/>
                <a:latin typeface="Söhne"/>
              </a:rPr>
              <a:t> 1 </a:t>
            </a:r>
            <a:r>
              <a:rPr lang="en-US" b="0" i="0" baseline="0" dirty="0" err="1" smtClean="0">
                <a:solidFill>
                  <a:srgbClr val="374151"/>
                </a:solidFill>
                <a:effectLst/>
                <a:latin typeface="Söhne"/>
              </a:rPr>
              <a:t>lúc</a:t>
            </a:r>
            <a:r>
              <a:rPr lang="en-US" b="0" i="0" baseline="0" dirty="0" smtClean="0">
                <a:solidFill>
                  <a:srgbClr val="374151"/>
                </a:solidFill>
                <a:effectLst/>
                <a:latin typeface="Söhne"/>
              </a:rPr>
              <a:t>)</a:t>
            </a:r>
            <a:endParaRPr lang="en-US" b="0" i="0" dirty="0">
              <a:solidFill>
                <a:srgbClr val="374151"/>
              </a:solidFill>
              <a:effectLst/>
              <a:latin typeface="Söhne"/>
            </a:endParaRPr>
          </a:p>
          <a:p>
            <a:r>
              <a:rPr lang="en-US" b="0" i="0" dirty="0" smtClean="0">
                <a:solidFill>
                  <a:srgbClr val="374151"/>
                </a:solidFill>
                <a:effectLst/>
                <a:latin typeface="Söhne"/>
              </a:rPr>
              <a:t>	+ </a:t>
            </a:r>
            <a:r>
              <a:rPr lang="vi-VN" b="0" i="0" dirty="0" smtClean="0">
                <a:solidFill>
                  <a:srgbClr val="374151"/>
                </a:solidFill>
                <a:effectLst/>
                <a:latin typeface="Söhne"/>
              </a:rPr>
              <a:t> </a:t>
            </a:r>
            <a:r>
              <a:rPr lang="vi-VN" b="0" i="0" dirty="0">
                <a:solidFill>
                  <a:srgbClr val="374151"/>
                </a:solidFill>
                <a:effectLst/>
                <a:latin typeface="Söhne"/>
              </a:rPr>
              <a:t>Tính </a:t>
            </a:r>
            <a:r>
              <a:rPr lang="en-US" b="0" i="0" dirty="0" err="1">
                <a:solidFill>
                  <a:srgbClr val="374151"/>
                </a:solidFill>
                <a:effectLst/>
                <a:latin typeface="Söhne"/>
              </a:rPr>
              <a:t>cục</a:t>
            </a:r>
            <a:r>
              <a:rPr lang="en-US" b="0" i="0" dirty="0">
                <a:solidFill>
                  <a:srgbClr val="374151"/>
                </a:solidFill>
                <a:effectLst/>
                <a:latin typeface="Söhne"/>
              </a:rPr>
              <a:t> </a:t>
            </a:r>
            <a:r>
              <a:rPr lang="en-US" b="0" i="0" dirty="0" err="1">
                <a:solidFill>
                  <a:srgbClr val="374151"/>
                </a:solidFill>
                <a:effectLst/>
                <a:latin typeface="Söhne"/>
              </a:rPr>
              <a:t>bộ</a:t>
            </a:r>
            <a:r>
              <a:rPr lang="en-US" b="0" i="0" dirty="0">
                <a:solidFill>
                  <a:srgbClr val="374151"/>
                </a:solidFill>
                <a:effectLst/>
                <a:latin typeface="Söhne"/>
              </a:rPr>
              <a:t> </a:t>
            </a:r>
            <a:r>
              <a:rPr lang="vi-VN" b="0" i="0" dirty="0">
                <a:solidFill>
                  <a:srgbClr val="374151"/>
                </a:solidFill>
                <a:effectLst/>
                <a:latin typeface="Söhne"/>
              </a:rPr>
              <a:t>khi xảy ra sự cố </a:t>
            </a:r>
            <a:endParaRPr lang="en-US" b="0" i="0" dirty="0">
              <a:solidFill>
                <a:srgbClr val="374151"/>
              </a:solidFill>
              <a:effectLst/>
              <a:latin typeface="Söhne"/>
            </a:endParaRPr>
          </a:p>
          <a:p>
            <a:r>
              <a:rPr lang="vi-VN" b="0" i="0" dirty="0">
                <a:solidFill>
                  <a:srgbClr val="374151"/>
                </a:solidFill>
                <a:effectLst/>
                <a:latin typeface="Söhne"/>
              </a:rPr>
              <a:t>Hỗ trợ giao dịch phân tán cần thực hiện </a:t>
            </a:r>
            <a:endParaRPr lang="en-US" b="0" i="0" dirty="0">
              <a:solidFill>
                <a:srgbClr val="374151"/>
              </a:solidFill>
              <a:effectLst/>
              <a:latin typeface="Söhne"/>
            </a:endParaRPr>
          </a:p>
          <a:p>
            <a:r>
              <a:rPr lang="en-US" b="0" i="0" dirty="0">
                <a:solidFill>
                  <a:srgbClr val="374151"/>
                </a:solidFill>
                <a:effectLst/>
                <a:latin typeface="Söhne"/>
              </a:rPr>
              <a:t>	</a:t>
            </a:r>
            <a:r>
              <a:rPr lang="vi-VN" b="0" i="0" dirty="0">
                <a:solidFill>
                  <a:srgbClr val="374151"/>
                </a:solidFill>
                <a:effectLst/>
                <a:latin typeface="Söhne"/>
              </a:rPr>
              <a:t>Giao thức điều khiển đồng thời phân tán</a:t>
            </a:r>
            <a:endParaRPr lang="en-US" b="0" i="0" dirty="0">
              <a:solidFill>
                <a:srgbClr val="374151"/>
              </a:solidFill>
              <a:effectLst/>
              <a:latin typeface="Söhne"/>
            </a:endParaRPr>
          </a:p>
          <a:p>
            <a:r>
              <a:rPr lang="en-US" b="0" i="0" dirty="0">
                <a:solidFill>
                  <a:srgbClr val="374151"/>
                </a:solidFill>
                <a:effectLst/>
                <a:latin typeface="Söhne"/>
              </a:rPr>
              <a:t>	</a:t>
            </a:r>
            <a:r>
              <a:rPr lang="vi-VN" b="0" i="0" dirty="0">
                <a:solidFill>
                  <a:srgbClr val="374151"/>
                </a:solidFill>
                <a:effectLst/>
                <a:latin typeface="Söhne"/>
              </a:rPr>
              <a:t>Giao thức </a:t>
            </a:r>
            <a:r>
              <a:rPr lang="en-US" b="0" i="0" dirty="0" err="1">
                <a:solidFill>
                  <a:srgbClr val="374151"/>
                </a:solidFill>
                <a:effectLst/>
                <a:latin typeface="Söhne"/>
              </a:rPr>
              <a:t>cập</a:t>
            </a:r>
            <a:r>
              <a:rPr lang="en-US" b="0" i="0" dirty="0">
                <a:solidFill>
                  <a:srgbClr val="374151"/>
                </a:solidFill>
                <a:effectLst/>
                <a:latin typeface="Söhne"/>
              </a:rPr>
              <a:t> </a:t>
            </a:r>
            <a:r>
              <a:rPr lang="en-US" b="0" i="0" dirty="0" err="1">
                <a:solidFill>
                  <a:srgbClr val="374151"/>
                </a:solidFill>
                <a:effectLst/>
                <a:latin typeface="Söhne"/>
              </a:rPr>
              <a:t>nhập</a:t>
            </a:r>
            <a:r>
              <a:rPr lang="en-US" b="0" i="0" dirty="0">
                <a:solidFill>
                  <a:srgbClr val="374151"/>
                </a:solidFill>
                <a:effectLst/>
                <a:latin typeface="Söhne"/>
              </a:rPr>
              <a:t> </a:t>
            </a:r>
          </a:p>
          <a:p>
            <a:r>
              <a:rPr lang="en-US" b="0" i="0" dirty="0" err="1" smtClean="0">
                <a:solidFill>
                  <a:srgbClr val="374151"/>
                </a:solidFill>
                <a:effectLst/>
                <a:latin typeface="Söhne"/>
              </a:rPr>
              <a:t>Nhân</a:t>
            </a:r>
            <a:r>
              <a:rPr lang="en-US" b="0" i="0" baseline="0" dirty="0" smtClean="0">
                <a:solidFill>
                  <a:srgbClr val="374151"/>
                </a:solidFill>
                <a:effectLst/>
                <a:latin typeface="Söhne"/>
              </a:rPr>
              <a:t> </a:t>
            </a:r>
            <a:r>
              <a:rPr lang="en-US" b="0" i="0" baseline="0" dirty="0" err="1" smtClean="0">
                <a:solidFill>
                  <a:srgbClr val="374151"/>
                </a:solidFill>
                <a:effectLst/>
                <a:latin typeface="Söhne"/>
              </a:rPr>
              <a:t>bản</a:t>
            </a:r>
            <a:r>
              <a:rPr lang="vi-VN" b="0" i="0" dirty="0" smtClean="0">
                <a:solidFill>
                  <a:srgbClr val="374151"/>
                </a:solidFill>
                <a:effectLst/>
                <a:latin typeface="Söhne"/>
              </a:rPr>
              <a:t> </a:t>
            </a:r>
            <a:r>
              <a:rPr lang="vi-VN" b="0" i="0" dirty="0">
                <a:solidFill>
                  <a:srgbClr val="374151"/>
                </a:solidFill>
                <a:effectLst/>
                <a:latin typeface="Söhne"/>
              </a:rPr>
              <a:t>dữ liệu </a:t>
            </a:r>
            <a:endParaRPr lang="en-US" b="0" i="0" dirty="0">
              <a:solidFill>
                <a:srgbClr val="374151"/>
              </a:solidFill>
              <a:effectLst/>
              <a:latin typeface="Söhne"/>
            </a:endParaRPr>
          </a:p>
          <a:p>
            <a:r>
              <a:rPr lang="en-US" b="0" i="0" dirty="0">
                <a:solidFill>
                  <a:srgbClr val="374151"/>
                </a:solidFill>
                <a:effectLst/>
                <a:latin typeface="Söhne"/>
              </a:rPr>
              <a:t>	</a:t>
            </a:r>
            <a:r>
              <a:rPr lang="vi-VN" b="0" i="0" dirty="0">
                <a:solidFill>
                  <a:srgbClr val="374151"/>
                </a:solidFill>
                <a:effectLst/>
                <a:latin typeface="Söhne"/>
              </a:rPr>
              <a:t>Tốt cho công việc yêu cầu đọc nhiều,</a:t>
            </a:r>
            <a:r>
              <a:rPr lang="en-US" b="0" i="0" dirty="0">
                <a:solidFill>
                  <a:srgbClr val="374151"/>
                </a:solidFill>
                <a:effectLst/>
                <a:latin typeface="Söhne"/>
              </a:rPr>
              <a:t> </a:t>
            </a:r>
            <a:r>
              <a:rPr lang="en-US" b="0" i="0" dirty="0" err="1">
                <a:solidFill>
                  <a:srgbClr val="374151"/>
                </a:solidFill>
                <a:effectLst/>
                <a:latin typeface="Söhne"/>
              </a:rPr>
              <a:t>có</a:t>
            </a:r>
            <a:r>
              <a:rPr lang="en-US" b="0" i="0" dirty="0">
                <a:solidFill>
                  <a:srgbClr val="374151"/>
                </a:solidFill>
                <a:effectLst/>
                <a:latin typeface="Söhne"/>
              </a:rPr>
              <a:t> </a:t>
            </a:r>
            <a:r>
              <a:rPr lang="vi-VN" b="0" i="0" dirty="0">
                <a:solidFill>
                  <a:srgbClr val="374151"/>
                </a:solidFill>
                <a:effectLst/>
                <a:latin typeface="Söhne"/>
              </a:rPr>
              <a:t>vấn đề cho cập nhật </a:t>
            </a:r>
            <a:endParaRPr lang="en-US" b="0" i="0" dirty="0">
              <a:solidFill>
                <a:srgbClr val="374151"/>
              </a:solidFill>
              <a:effectLst/>
              <a:latin typeface="Söhne"/>
            </a:endParaRPr>
          </a:p>
          <a:p>
            <a:r>
              <a:rPr lang="en-US" b="0" i="0" dirty="0" smtClean="0">
                <a:solidFill>
                  <a:srgbClr val="374151"/>
                </a:solidFill>
                <a:effectLst/>
                <a:latin typeface="Söhne"/>
              </a:rPr>
              <a:t>	</a:t>
            </a:r>
            <a:r>
              <a:rPr lang="vi-VN" b="0" i="0" dirty="0" smtClean="0">
                <a:solidFill>
                  <a:srgbClr val="374151"/>
                </a:solidFill>
                <a:effectLst/>
                <a:latin typeface="Söhne"/>
              </a:rPr>
              <a:t>Giao </a:t>
            </a:r>
            <a:r>
              <a:rPr lang="vi-VN" b="0" i="0" dirty="0">
                <a:solidFill>
                  <a:srgbClr val="374151"/>
                </a:solidFill>
                <a:effectLst/>
                <a:latin typeface="Söhne"/>
              </a:rPr>
              <a:t>thức </a:t>
            </a:r>
            <a:r>
              <a:rPr lang="en-US" b="0" i="0" dirty="0" err="1" smtClean="0">
                <a:solidFill>
                  <a:srgbClr val="374151"/>
                </a:solidFill>
                <a:effectLst/>
                <a:latin typeface="Söhne"/>
              </a:rPr>
              <a:t>nhân</a:t>
            </a:r>
            <a:r>
              <a:rPr lang="en-US" b="0" i="0" baseline="0" dirty="0" smtClean="0">
                <a:solidFill>
                  <a:srgbClr val="374151"/>
                </a:solidFill>
                <a:effectLst/>
                <a:latin typeface="Söhne"/>
              </a:rPr>
              <a:t> </a:t>
            </a:r>
            <a:r>
              <a:rPr lang="en-US" b="0" i="0" baseline="0" dirty="0" err="1" smtClean="0">
                <a:solidFill>
                  <a:srgbClr val="374151"/>
                </a:solidFill>
                <a:effectLst/>
                <a:latin typeface="Söhne"/>
              </a:rPr>
              <a:t>bản</a:t>
            </a:r>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28</a:t>
            </a:fld>
            <a:endParaRPr lang="en-US"/>
          </a:p>
        </p:txBody>
      </p:sp>
    </p:spTree>
    <p:extLst>
      <p:ext uri="{BB962C8B-B14F-4D97-AF65-F5344CB8AC3E}">
        <p14:creationId xmlns:p14="http://schemas.microsoft.com/office/powerpoint/2010/main" val="309616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605FB434-09CE-9FBD-E6AD-C74887F4C7FC}"/>
              </a:ext>
            </a:extLst>
          </p:cNvPr>
          <p:cNvSpPr>
            <a:spLocks noGrp="1"/>
          </p:cNvSpPr>
          <p:nvPr>
            <p:ph type="body" idx="1"/>
          </p:nvPr>
        </p:nvSpPr>
        <p:spPr/>
        <p:txBody>
          <a:bodyPr/>
          <a:lstStyle/>
          <a:p>
            <a:r>
              <a:rPr lang="vi-VN" b="0" i="0" dirty="0">
                <a:solidFill>
                  <a:srgbClr val="374151"/>
                </a:solidFill>
                <a:effectLst/>
                <a:latin typeface="Söhne"/>
              </a:rPr>
              <a:t>Hiệu suất có thể được cải thiệ</a:t>
            </a:r>
            <a:r>
              <a:rPr lang="en-US" b="0" i="0" dirty="0">
                <a:solidFill>
                  <a:srgbClr val="374151"/>
                </a:solidFill>
                <a:effectLst/>
                <a:latin typeface="Söhne"/>
              </a:rPr>
              <a:t>:</a:t>
            </a:r>
          </a:p>
          <a:p>
            <a:pPr algn="l"/>
            <a:r>
              <a:rPr lang="en-US" b="0" i="0" dirty="0">
                <a:solidFill>
                  <a:srgbClr val="374151"/>
                </a:solidFill>
                <a:effectLst/>
                <a:latin typeface="Söhne"/>
              </a:rPr>
              <a:t>- </a:t>
            </a:r>
            <a:r>
              <a:rPr lang="en-US" b="0" i="0" dirty="0" err="1">
                <a:solidFill>
                  <a:srgbClr val="374151"/>
                </a:solidFill>
                <a:effectLst/>
                <a:latin typeface="Söhne"/>
              </a:rPr>
              <a:t>Sự</a:t>
            </a:r>
            <a:r>
              <a:rPr lang="en-US" b="0" i="0" dirty="0">
                <a:solidFill>
                  <a:srgbClr val="374151"/>
                </a:solidFill>
                <a:effectLst/>
                <a:latin typeface="Söhne"/>
              </a:rPr>
              <a:t> </a:t>
            </a:r>
            <a:r>
              <a:rPr lang="en-US" b="0" i="0" dirty="0" err="1">
                <a:solidFill>
                  <a:srgbClr val="374151"/>
                </a:solidFill>
                <a:effectLst/>
                <a:latin typeface="Söhne"/>
              </a:rPr>
              <a:t>gần</a:t>
            </a:r>
            <a:r>
              <a:rPr lang="en-US" b="0" i="0" dirty="0">
                <a:solidFill>
                  <a:srgbClr val="374151"/>
                </a:solidFill>
                <a:effectLst/>
                <a:latin typeface="Söhne"/>
              </a:rPr>
              <a:t> </a:t>
            </a:r>
            <a:r>
              <a:rPr lang="en-US" b="0" i="0" dirty="0" err="1">
                <a:solidFill>
                  <a:srgbClr val="374151"/>
                </a:solidFill>
                <a:effectLst/>
                <a:latin typeface="Söhne"/>
              </a:rPr>
              <a:t>gũi</a:t>
            </a:r>
            <a:r>
              <a:rPr lang="en-US" b="0" i="0" dirty="0">
                <a:solidFill>
                  <a:srgbClr val="374151"/>
                </a:solidFill>
                <a:effectLst/>
                <a:latin typeface="Söhne"/>
              </a:rPr>
              <a:t> </a:t>
            </a:r>
            <a:r>
              <a:rPr lang="en-US" b="0" i="0" dirty="0" err="1">
                <a:solidFill>
                  <a:srgbClr val="374151"/>
                </a:solidFill>
                <a:effectLst/>
                <a:latin typeface="Söhne"/>
              </a:rPr>
              <a:t>của</a:t>
            </a:r>
            <a:r>
              <a:rPr lang="en-US" b="0" i="0" dirty="0">
                <a:solidFill>
                  <a:srgbClr val="374151"/>
                </a:solidFill>
                <a:effectLst/>
                <a:latin typeface="Söhne"/>
              </a:rPr>
              <a:t> </a:t>
            </a:r>
            <a:r>
              <a:rPr lang="en-US" b="0" i="0" dirty="0" err="1">
                <a:solidFill>
                  <a:srgbClr val="374151"/>
                </a:solidFill>
                <a:effectLst/>
                <a:latin typeface="Söhne"/>
              </a:rPr>
              <a:t>dữ</a:t>
            </a:r>
            <a:r>
              <a:rPr lang="en-US" b="0" i="0" dirty="0">
                <a:solidFill>
                  <a:srgbClr val="374151"/>
                </a:solidFill>
                <a:effectLst/>
                <a:latin typeface="Söhne"/>
              </a:rPr>
              <a:t> </a:t>
            </a:r>
            <a:r>
              <a:rPr lang="en-US" b="0" i="0" dirty="0" err="1">
                <a:solidFill>
                  <a:srgbClr val="374151"/>
                </a:solidFill>
                <a:effectLst/>
                <a:latin typeface="Söhne"/>
              </a:rPr>
              <a:t>liệu</a:t>
            </a:r>
            <a:r>
              <a:rPr lang="en-US" b="0" i="0" dirty="0">
                <a:solidFill>
                  <a:srgbClr val="374151"/>
                </a:solidFill>
                <a:effectLst/>
                <a:latin typeface="Söhne"/>
              </a:rPr>
              <a:t> </a:t>
            </a:r>
            <a:r>
              <a:rPr lang="en-US" b="0" i="0" dirty="0" err="1">
                <a:solidFill>
                  <a:srgbClr val="374151"/>
                </a:solidFill>
                <a:effectLst/>
                <a:latin typeface="Söhne"/>
              </a:rPr>
              <a:t>với</a:t>
            </a:r>
            <a:r>
              <a:rPr lang="en-US" b="0" i="0" dirty="0">
                <a:solidFill>
                  <a:srgbClr val="374151"/>
                </a:solidFill>
                <a:effectLst/>
                <a:latin typeface="Söhne"/>
              </a:rPr>
              <a:t> </a:t>
            </a:r>
            <a:r>
              <a:rPr lang="en-US" b="0" i="0" dirty="0" err="1">
                <a:solidFill>
                  <a:srgbClr val="374151"/>
                </a:solidFill>
                <a:effectLst/>
                <a:latin typeface="Söhne"/>
              </a:rPr>
              <a:t>những</a:t>
            </a:r>
            <a:r>
              <a:rPr lang="en-US" b="0" i="0" dirty="0">
                <a:solidFill>
                  <a:srgbClr val="374151"/>
                </a:solidFill>
                <a:effectLst/>
                <a:latin typeface="Söhne"/>
              </a:rPr>
              <a:t> </a:t>
            </a:r>
            <a:r>
              <a:rPr lang="en-US" b="0" i="0" dirty="0" err="1">
                <a:solidFill>
                  <a:srgbClr val="374151"/>
                </a:solidFill>
                <a:effectLst/>
                <a:latin typeface="Söhne"/>
              </a:rPr>
              <a:t>điểm</a:t>
            </a:r>
            <a:r>
              <a:rPr lang="en-US" b="0" i="0" dirty="0">
                <a:solidFill>
                  <a:srgbClr val="374151"/>
                </a:solidFill>
                <a:effectLst/>
                <a:latin typeface="Söhne"/>
              </a:rPr>
              <a:t> </a:t>
            </a:r>
            <a:r>
              <a:rPr lang="en-US" b="0" i="0" dirty="0" err="1">
                <a:solidFill>
                  <a:srgbClr val="374151"/>
                </a:solidFill>
                <a:effectLst/>
                <a:latin typeface="Söhne"/>
              </a:rPr>
              <a:t>sử</a:t>
            </a:r>
            <a:r>
              <a:rPr lang="en-US" b="0" i="0" dirty="0">
                <a:solidFill>
                  <a:srgbClr val="374151"/>
                </a:solidFill>
                <a:effectLst/>
                <a:latin typeface="Söhne"/>
              </a:rPr>
              <a:t> </a:t>
            </a:r>
            <a:r>
              <a:rPr lang="en-US" b="0" i="0" dirty="0" err="1">
                <a:solidFill>
                  <a:srgbClr val="374151"/>
                </a:solidFill>
                <a:effectLst/>
                <a:latin typeface="Söhne"/>
              </a:rPr>
              <a:t>dụng</a:t>
            </a:r>
            <a:r>
              <a:rPr lang="en-US" b="0" i="0" dirty="0">
                <a:solidFill>
                  <a:srgbClr val="374151"/>
                </a:solidFill>
                <a:effectLst/>
                <a:latin typeface="Söhne"/>
              </a:rPr>
              <a:t> </a:t>
            </a:r>
          </a:p>
          <a:p>
            <a:pPr algn="l"/>
            <a:r>
              <a:rPr lang="en-US" b="0" i="0" dirty="0">
                <a:solidFill>
                  <a:srgbClr val="374151"/>
                </a:solidFill>
                <a:effectLst/>
                <a:latin typeface="Söhne"/>
              </a:rPr>
              <a:t>	</a:t>
            </a:r>
            <a:r>
              <a:rPr lang="en-US" b="0" i="0" dirty="0" err="1">
                <a:solidFill>
                  <a:srgbClr val="374151"/>
                </a:solidFill>
                <a:effectLst/>
                <a:latin typeface="Söhne"/>
              </a:rPr>
              <a:t>Yêu</a:t>
            </a:r>
            <a:r>
              <a:rPr lang="en-US" b="0" i="0" dirty="0">
                <a:solidFill>
                  <a:srgbClr val="374151"/>
                </a:solidFill>
                <a:effectLst/>
                <a:latin typeface="Söhne"/>
              </a:rPr>
              <a:t> </a:t>
            </a:r>
            <a:r>
              <a:rPr lang="en-US" b="0" i="0" dirty="0" err="1">
                <a:solidFill>
                  <a:srgbClr val="374151"/>
                </a:solidFill>
                <a:effectLst/>
                <a:latin typeface="Söhne"/>
              </a:rPr>
              <a:t>cầu</a:t>
            </a:r>
            <a:r>
              <a:rPr lang="en-US" b="0" i="0" dirty="0">
                <a:solidFill>
                  <a:srgbClr val="374151"/>
                </a:solidFill>
                <a:effectLst/>
                <a:latin typeface="Söhne"/>
              </a:rPr>
              <a:t> </a:t>
            </a:r>
            <a:r>
              <a:rPr lang="en-US" b="0" i="0" dirty="0" err="1">
                <a:solidFill>
                  <a:srgbClr val="374151"/>
                </a:solidFill>
                <a:effectLst/>
                <a:latin typeface="Söhne"/>
              </a:rPr>
              <a:t>một</a:t>
            </a:r>
            <a:r>
              <a:rPr lang="en-US" b="0" i="0" dirty="0">
                <a:solidFill>
                  <a:srgbClr val="374151"/>
                </a:solidFill>
                <a:effectLst/>
                <a:latin typeface="Söhne"/>
              </a:rPr>
              <a:t> </a:t>
            </a:r>
            <a:r>
              <a:rPr lang="en-US" b="0" i="0" dirty="0" err="1">
                <a:solidFill>
                  <a:srgbClr val="374151"/>
                </a:solidFill>
                <a:effectLst/>
                <a:latin typeface="Söhne"/>
              </a:rPr>
              <a:t>số</a:t>
            </a:r>
            <a:r>
              <a:rPr lang="en-US" b="0" i="0" dirty="0">
                <a:solidFill>
                  <a:srgbClr val="374151"/>
                </a:solidFill>
                <a:effectLst/>
                <a:latin typeface="Söhne"/>
              </a:rPr>
              <a:t> </a:t>
            </a:r>
            <a:r>
              <a:rPr lang="en-US" b="0" i="0" dirty="0" err="1">
                <a:solidFill>
                  <a:srgbClr val="374151"/>
                </a:solidFill>
                <a:effectLst/>
                <a:latin typeface="Söhne"/>
              </a:rPr>
              <a:t>hỗ</a:t>
            </a:r>
            <a:r>
              <a:rPr lang="en-US" b="0" i="0" dirty="0">
                <a:solidFill>
                  <a:srgbClr val="374151"/>
                </a:solidFill>
                <a:effectLst/>
                <a:latin typeface="Söhne"/>
              </a:rPr>
              <a:t> </a:t>
            </a:r>
            <a:r>
              <a:rPr lang="en-US" b="0" i="0" dirty="0" err="1">
                <a:solidFill>
                  <a:srgbClr val="374151"/>
                </a:solidFill>
                <a:effectLst/>
                <a:latin typeface="Söhne"/>
              </a:rPr>
              <a:t>trợ</a:t>
            </a:r>
            <a:r>
              <a:rPr lang="en-US" b="0" i="0" dirty="0">
                <a:solidFill>
                  <a:srgbClr val="374151"/>
                </a:solidFill>
                <a:effectLst/>
                <a:latin typeface="Söhne"/>
              </a:rPr>
              <a:t> </a:t>
            </a:r>
            <a:r>
              <a:rPr lang="en-US" b="0" i="0" dirty="0" err="1">
                <a:solidFill>
                  <a:srgbClr val="374151"/>
                </a:solidFill>
                <a:effectLst/>
                <a:latin typeface="Söhne"/>
              </a:rPr>
              <a:t>cho</a:t>
            </a:r>
            <a:r>
              <a:rPr lang="en-US" b="0" i="0" dirty="0">
                <a:solidFill>
                  <a:srgbClr val="374151"/>
                </a:solidFill>
                <a:effectLst/>
                <a:latin typeface="Söhne"/>
              </a:rPr>
              <a:t> </a:t>
            </a:r>
            <a:r>
              <a:rPr lang="en-US" b="0" i="0" dirty="0" err="1">
                <a:solidFill>
                  <a:srgbClr val="374151"/>
                </a:solidFill>
                <a:effectLst/>
                <a:latin typeface="Söhne"/>
              </a:rPr>
              <a:t>sự</a:t>
            </a:r>
            <a:r>
              <a:rPr lang="en-US" b="0" i="0" dirty="0">
                <a:solidFill>
                  <a:srgbClr val="374151"/>
                </a:solidFill>
                <a:effectLst/>
                <a:latin typeface="Söhne"/>
              </a:rPr>
              <a:t> </a:t>
            </a:r>
            <a:r>
              <a:rPr lang="en-US" b="0" i="0" dirty="0" err="1">
                <a:solidFill>
                  <a:srgbClr val="374151"/>
                </a:solidFill>
                <a:effectLst/>
                <a:latin typeface="Söhne"/>
              </a:rPr>
              <a:t>phân</a:t>
            </a:r>
            <a:r>
              <a:rPr lang="en-US" b="0" i="0" dirty="0">
                <a:solidFill>
                  <a:srgbClr val="374151"/>
                </a:solidFill>
                <a:effectLst/>
                <a:latin typeface="Söhne"/>
              </a:rPr>
              <a:t> </a:t>
            </a:r>
            <a:r>
              <a:rPr lang="en-US" b="0" i="0" dirty="0" err="1">
                <a:solidFill>
                  <a:srgbClr val="374151"/>
                </a:solidFill>
                <a:effectLst/>
                <a:latin typeface="Söhne"/>
              </a:rPr>
              <a:t>mảnh</a:t>
            </a:r>
            <a:r>
              <a:rPr lang="en-US" b="0" i="0" dirty="0">
                <a:solidFill>
                  <a:srgbClr val="374151"/>
                </a:solidFill>
                <a:effectLst/>
                <a:latin typeface="Söhne"/>
              </a:rPr>
              <a:t> </a:t>
            </a:r>
            <a:r>
              <a:rPr lang="en-US" b="0" i="0" dirty="0" err="1">
                <a:solidFill>
                  <a:srgbClr val="374151"/>
                </a:solidFill>
                <a:effectLst/>
                <a:latin typeface="Söhne"/>
              </a:rPr>
              <a:t>và</a:t>
            </a:r>
            <a:r>
              <a:rPr lang="en-US" b="0" i="0" dirty="0">
                <a:solidFill>
                  <a:srgbClr val="374151"/>
                </a:solidFill>
                <a:effectLst/>
                <a:latin typeface="Söhne"/>
              </a:rPr>
              <a:t> </a:t>
            </a:r>
            <a:r>
              <a:rPr lang="en-US" b="0" i="0" dirty="0" err="1">
                <a:solidFill>
                  <a:srgbClr val="374151"/>
                </a:solidFill>
                <a:effectLst/>
                <a:latin typeface="Söhne"/>
              </a:rPr>
              <a:t>nhân</a:t>
            </a:r>
            <a:r>
              <a:rPr lang="en-US" b="0" i="0" dirty="0">
                <a:solidFill>
                  <a:srgbClr val="374151"/>
                </a:solidFill>
                <a:effectLst/>
                <a:latin typeface="Söhne"/>
              </a:rPr>
              <a:t> </a:t>
            </a:r>
            <a:r>
              <a:rPr lang="en-US" b="0" i="0" dirty="0" err="1">
                <a:solidFill>
                  <a:srgbClr val="374151"/>
                </a:solidFill>
                <a:effectLst/>
                <a:latin typeface="Söhne"/>
              </a:rPr>
              <a:t>bản</a:t>
            </a:r>
            <a:endParaRPr lang="en-US" b="0" i="0" dirty="0">
              <a:solidFill>
                <a:srgbClr val="374151"/>
              </a:solidFill>
              <a:effectLst/>
              <a:latin typeface="Söhne"/>
            </a:endParaRPr>
          </a:p>
          <a:p>
            <a:pPr algn="l"/>
            <a:r>
              <a:rPr lang="en-US" b="0" i="0" dirty="0">
                <a:solidFill>
                  <a:srgbClr val="374151"/>
                </a:solidFill>
                <a:effectLst/>
                <a:latin typeface="Söhne"/>
              </a:rPr>
              <a:t>- </a:t>
            </a:r>
            <a:r>
              <a:rPr lang="en-US" b="0" i="0" dirty="0" err="1">
                <a:solidFill>
                  <a:srgbClr val="374151"/>
                </a:solidFill>
                <a:effectLst/>
                <a:latin typeface="Söhne"/>
              </a:rPr>
              <a:t>Đồng</a:t>
            </a:r>
            <a:r>
              <a:rPr lang="en-US" b="0" i="0" dirty="0">
                <a:solidFill>
                  <a:srgbClr val="374151"/>
                </a:solidFill>
                <a:effectLst/>
                <a:latin typeface="Söhne"/>
              </a:rPr>
              <a:t> </a:t>
            </a:r>
            <a:r>
              <a:rPr lang="en-US" b="0" i="0" dirty="0" err="1">
                <a:solidFill>
                  <a:srgbClr val="374151"/>
                </a:solidFill>
                <a:effectLst/>
                <a:latin typeface="Söhne"/>
              </a:rPr>
              <a:t>thời</a:t>
            </a:r>
            <a:r>
              <a:rPr lang="en-US" b="0" i="0" dirty="0">
                <a:solidFill>
                  <a:srgbClr val="374151"/>
                </a:solidFill>
                <a:effectLst/>
                <a:latin typeface="Söhne"/>
              </a:rPr>
              <a:t> </a:t>
            </a:r>
            <a:r>
              <a:rPr lang="en-US" b="0" i="0" dirty="0" err="1">
                <a:solidFill>
                  <a:srgbClr val="374151"/>
                </a:solidFill>
                <a:effectLst/>
                <a:latin typeface="Söhne"/>
              </a:rPr>
              <a:t>trong</a:t>
            </a:r>
            <a:r>
              <a:rPr lang="en-US" b="0" i="0" dirty="0">
                <a:solidFill>
                  <a:srgbClr val="374151"/>
                </a:solidFill>
                <a:effectLst/>
                <a:latin typeface="Söhne"/>
              </a:rPr>
              <a:t> </a:t>
            </a:r>
            <a:r>
              <a:rPr lang="en-US" b="0" i="0" dirty="0" err="1">
                <a:solidFill>
                  <a:srgbClr val="374151"/>
                </a:solidFill>
                <a:effectLst/>
                <a:latin typeface="Söhne"/>
              </a:rPr>
              <a:t>thực</a:t>
            </a:r>
            <a:r>
              <a:rPr lang="en-US" b="0" i="0" dirty="0">
                <a:solidFill>
                  <a:srgbClr val="374151"/>
                </a:solidFill>
                <a:effectLst/>
                <a:latin typeface="Söhne"/>
              </a:rPr>
              <a:t> </a:t>
            </a:r>
            <a:r>
              <a:rPr lang="en-US" b="0" i="0" dirty="0" err="1">
                <a:solidFill>
                  <a:srgbClr val="374151"/>
                </a:solidFill>
                <a:effectLst/>
                <a:latin typeface="Söhne"/>
              </a:rPr>
              <a:t>thi</a:t>
            </a:r>
            <a:r>
              <a:rPr lang="en-US" b="0" i="0" dirty="0">
                <a:solidFill>
                  <a:srgbClr val="374151"/>
                </a:solidFill>
                <a:effectLst/>
                <a:latin typeface="Söhne"/>
              </a:rPr>
              <a:t> </a:t>
            </a:r>
          </a:p>
          <a:p>
            <a:pPr lvl="1" algn="l"/>
            <a:r>
              <a:rPr lang="en-US" b="0" i="0" dirty="0" err="1">
                <a:solidFill>
                  <a:srgbClr val="374151"/>
                </a:solidFill>
                <a:effectLst/>
                <a:latin typeface="Söhne"/>
              </a:rPr>
              <a:t>Đồng</a:t>
            </a:r>
            <a:r>
              <a:rPr lang="en-US" b="0" i="0" dirty="0">
                <a:solidFill>
                  <a:srgbClr val="374151"/>
                </a:solidFill>
                <a:effectLst/>
                <a:latin typeface="Söhne"/>
              </a:rPr>
              <a:t> </a:t>
            </a:r>
            <a:r>
              <a:rPr lang="en-US" b="0" i="0" dirty="0" err="1">
                <a:solidFill>
                  <a:srgbClr val="374151"/>
                </a:solidFill>
                <a:effectLst/>
                <a:latin typeface="Söhne"/>
              </a:rPr>
              <a:t>thời</a:t>
            </a:r>
            <a:r>
              <a:rPr lang="en-US" b="0" i="0" dirty="0">
                <a:solidFill>
                  <a:srgbClr val="374151"/>
                </a:solidFill>
                <a:effectLst/>
                <a:latin typeface="Söhne"/>
              </a:rPr>
              <a:t> </a:t>
            </a:r>
            <a:r>
              <a:rPr lang="en-US" b="0" i="0" dirty="0" err="1">
                <a:solidFill>
                  <a:srgbClr val="374151"/>
                </a:solidFill>
                <a:effectLst/>
                <a:latin typeface="Söhne"/>
              </a:rPr>
              <a:t>giữa</a:t>
            </a:r>
            <a:r>
              <a:rPr lang="en-US" b="0" i="0" dirty="0">
                <a:solidFill>
                  <a:srgbClr val="374151"/>
                </a:solidFill>
                <a:effectLst/>
                <a:latin typeface="Söhne"/>
              </a:rPr>
              <a:t> </a:t>
            </a:r>
            <a:r>
              <a:rPr lang="en-US" b="0" i="0" dirty="0" err="1">
                <a:solidFill>
                  <a:srgbClr val="374151"/>
                </a:solidFill>
                <a:effectLst/>
                <a:latin typeface="Söhne"/>
              </a:rPr>
              <a:t>các</a:t>
            </a:r>
            <a:r>
              <a:rPr lang="en-US" b="0" i="0" dirty="0">
                <a:solidFill>
                  <a:srgbClr val="374151"/>
                </a:solidFill>
                <a:effectLst/>
                <a:latin typeface="Söhne"/>
              </a:rPr>
              <a:t> </a:t>
            </a:r>
            <a:r>
              <a:rPr lang="en-US" b="0" i="0" dirty="0" err="1">
                <a:solidFill>
                  <a:srgbClr val="374151"/>
                </a:solidFill>
                <a:effectLst/>
                <a:latin typeface="Söhne"/>
              </a:rPr>
              <a:t>truy</a:t>
            </a:r>
            <a:r>
              <a:rPr lang="en-US" b="0" i="0" dirty="0">
                <a:solidFill>
                  <a:srgbClr val="374151"/>
                </a:solidFill>
                <a:effectLst/>
                <a:latin typeface="Söhne"/>
              </a:rPr>
              <a:t> </a:t>
            </a:r>
            <a:r>
              <a:rPr lang="en-US" b="0" i="0" dirty="0" err="1">
                <a:solidFill>
                  <a:srgbClr val="374151"/>
                </a:solidFill>
                <a:effectLst/>
                <a:latin typeface="Söhne"/>
              </a:rPr>
              <a:t>vấn</a:t>
            </a:r>
            <a:endParaRPr lang="en-US" b="0" i="0" dirty="0">
              <a:solidFill>
                <a:srgbClr val="374151"/>
              </a:solidFill>
              <a:effectLst/>
              <a:latin typeface="Söhne"/>
            </a:endParaRPr>
          </a:p>
          <a:p>
            <a:pPr lvl="1" algn="l"/>
            <a:r>
              <a:rPr lang="en-US" b="0" i="0" dirty="0" err="1">
                <a:solidFill>
                  <a:srgbClr val="374151"/>
                </a:solidFill>
                <a:effectLst/>
                <a:latin typeface="Söhne"/>
              </a:rPr>
              <a:t>Đồng</a:t>
            </a:r>
            <a:r>
              <a:rPr lang="en-US" b="0" i="0" dirty="0">
                <a:solidFill>
                  <a:srgbClr val="374151"/>
                </a:solidFill>
                <a:effectLst/>
                <a:latin typeface="Söhne"/>
              </a:rPr>
              <a:t> </a:t>
            </a:r>
            <a:r>
              <a:rPr lang="en-US" b="0" i="0" dirty="0" err="1">
                <a:solidFill>
                  <a:srgbClr val="374151"/>
                </a:solidFill>
                <a:effectLst/>
                <a:latin typeface="Söhne"/>
              </a:rPr>
              <a:t>thời</a:t>
            </a:r>
            <a:r>
              <a:rPr lang="en-US" b="0" i="0" dirty="0">
                <a:solidFill>
                  <a:srgbClr val="374151"/>
                </a:solidFill>
                <a:effectLst/>
                <a:latin typeface="Söhne"/>
              </a:rPr>
              <a:t> </a:t>
            </a:r>
            <a:r>
              <a:rPr lang="en-US" b="0" i="0" dirty="0" err="1">
                <a:solidFill>
                  <a:srgbClr val="374151"/>
                </a:solidFill>
                <a:effectLst/>
                <a:latin typeface="Söhne"/>
              </a:rPr>
              <a:t>trong</a:t>
            </a:r>
            <a:r>
              <a:rPr lang="en-US" b="0" i="0" dirty="0">
                <a:solidFill>
                  <a:srgbClr val="374151"/>
                </a:solidFill>
                <a:effectLst/>
                <a:latin typeface="Söhne"/>
              </a:rPr>
              <a:t> </a:t>
            </a:r>
            <a:r>
              <a:rPr lang="en-US" b="0" i="0" dirty="0" err="1">
                <a:solidFill>
                  <a:srgbClr val="374151"/>
                </a:solidFill>
                <a:effectLst/>
                <a:latin typeface="Söhne"/>
              </a:rPr>
              <a:t>một</a:t>
            </a:r>
            <a:r>
              <a:rPr lang="en-US" b="0" i="0" dirty="0">
                <a:solidFill>
                  <a:srgbClr val="374151"/>
                </a:solidFill>
                <a:effectLst/>
                <a:latin typeface="Söhne"/>
              </a:rPr>
              <a:t> </a:t>
            </a:r>
            <a:r>
              <a:rPr lang="en-US" b="0" i="0" dirty="0" err="1">
                <a:solidFill>
                  <a:srgbClr val="374151"/>
                </a:solidFill>
                <a:effectLst/>
                <a:latin typeface="Söhne"/>
              </a:rPr>
              <a:t>truy</a:t>
            </a:r>
            <a:r>
              <a:rPr lang="en-US" b="0" i="0" dirty="0">
                <a:solidFill>
                  <a:srgbClr val="374151"/>
                </a:solidFill>
                <a:effectLst/>
                <a:latin typeface="Söhne"/>
              </a:rPr>
              <a:t> </a:t>
            </a:r>
            <a:r>
              <a:rPr lang="en-US" b="0" i="0" dirty="0" err="1">
                <a:solidFill>
                  <a:srgbClr val="374151"/>
                </a:solidFill>
                <a:effectLst/>
                <a:latin typeface="Söhne"/>
              </a:rPr>
              <a:t>vấn</a:t>
            </a:r>
            <a:endParaRPr lang="en-US" b="0" i="0" dirty="0">
              <a:solidFill>
                <a:srgbClr val="374151"/>
              </a:solidFill>
              <a:effectLst/>
              <a:latin typeface="Söhne"/>
            </a:endParaRPr>
          </a:p>
          <a:p>
            <a:r>
              <a:rPr lang="vi-VN" b="0" i="0" dirty="0">
                <a:solidFill>
                  <a:srgbClr val="374151"/>
                </a:solidFill>
                <a:effectLst/>
                <a:latin typeface="Söhne"/>
              </a:rPr>
              <a:t>.</a:t>
            </a:r>
            <a:endParaRPr lang="en-US" dirty="0"/>
          </a:p>
        </p:txBody>
      </p:sp>
    </p:spTree>
    <p:extLst>
      <p:ext uri="{BB962C8B-B14F-4D97-AF65-F5344CB8AC3E}">
        <p14:creationId xmlns:p14="http://schemas.microsoft.com/office/powerpoint/2010/main" val="2465072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30</a:t>
            </a:fld>
            <a:endParaRPr lang="en-US"/>
          </a:p>
        </p:txBody>
      </p:sp>
    </p:spTree>
    <p:extLst>
      <p:ext uri="{BB962C8B-B14F-4D97-AF65-F5344CB8AC3E}">
        <p14:creationId xmlns:p14="http://schemas.microsoft.com/office/powerpoint/2010/main" val="9268471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Giảm</a:t>
            </a:r>
            <a:r>
              <a:rPr lang="en-US" dirty="0"/>
              <a:t> </a:t>
            </a:r>
            <a:r>
              <a:rPr lang="en-US" dirty="0" err="1"/>
              <a:t>thiểu</a:t>
            </a:r>
            <a:r>
              <a:rPr lang="en-US" dirty="0"/>
              <a:t> </a:t>
            </a:r>
            <a:r>
              <a:rPr lang="en-US" dirty="0" err="1"/>
              <a:t>về</a:t>
            </a:r>
            <a:r>
              <a:rPr lang="en-US" dirty="0"/>
              <a:t> </a:t>
            </a:r>
            <a:r>
              <a:rPr lang="en-US" dirty="0" err="1"/>
              <a:t>dư</a:t>
            </a:r>
            <a:r>
              <a:rPr lang="en-US" dirty="0"/>
              <a:t> </a:t>
            </a:r>
            <a:r>
              <a:rPr lang="en-US" dirty="0" err="1"/>
              <a:t>thừa</a:t>
            </a:r>
            <a:r>
              <a:rPr lang="en-US" dirty="0"/>
              <a:t> </a:t>
            </a:r>
            <a:r>
              <a:rPr lang="en-US" dirty="0" err="1"/>
              <a:t>dữ</a:t>
            </a:r>
            <a:r>
              <a:rPr lang="en-US" dirty="0"/>
              <a:t> </a:t>
            </a:r>
            <a:r>
              <a:rPr lang="en-US" dirty="0" err="1"/>
              <a:t>liệu</a:t>
            </a:r>
            <a:endParaRPr lang="en-US" dirty="0"/>
          </a:p>
          <a:p>
            <a:r>
              <a:rPr kumimoji="0" lang="en-US" altLang="en-US" sz="1200" b="0" i="0" u="none" strike="noStrike" cap="none" normalizeH="0" baseline="0" dirty="0">
                <a:ln>
                  <a:noFill/>
                </a:ln>
                <a:solidFill>
                  <a:schemeClr val="tx1"/>
                </a:solidFill>
                <a:effectLst/>
                <a:latin typeface="Arial" panose="020B0604020202020204" pitchFamily="34" charset="0"/>
              </a:rPr>
              <a:t>Inconsistencies: </a:t>
            </a:r>
            <a:r>
              <a:rPr kumimoji="0" lang="en-US" altLang="en-US" sz="1200" b="0" i="0" u="none" strike="noStrike" cap="none" normalizeH="0" baseline="0" dirty="0" err="1">
                <a:ln>
                  <a:noFill/>
                </a:ln>
                <a:solidFill>
                  <a:schemeClr val="tx1"/>
                </a:solidFill>
                <a:effectLst/>
                <a:latin typeface="Arial" panose="020B0604020202020204" pitchFamily="34" charset="0"/>
              </a:rPr>
              <a:t>Không</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nhất</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quán</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về</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dữ</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liệu</a:t>
            </a:r>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32</a:t>
            </a:fld>
            <a:endParaRPr lang="en-US"/>
          </a:p>
        </p:txBody>
      </p:sp>
    </p:spTree>
    <p:extLst>
      <p:ext uri="{BB962C8B-B14F-4D97-AF65-F5344CB8AC3E}">
        <p14:creationId xmlns:p14="http://schemas.microsoft.com/office/powerpoint/2010/main" val="2546552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C3595D37-88DF-9D3B-F786-52C079FBE7C3}"/>
              </a:ext>
            </a:extLst>
          </p:cNvPr>
          <p:cNvSpPr>
            <a:spLocks noGrp="1"/>
          </p:cNvSpPr>
          <p:nvPr>
            <p:ph type="body" idx="1"/>
          </p:nvPr>
        </p:nvSpPr>
        <p:spPr/>
        <p:txBody>
          <a:bodyPr/>
          <a:lstStyle/>
          <a:p>
            <a:r>
              <a:rPr lang="en-US" b="0" i="0" dirty="0" err="1">
                <a:solidFill>
                  <a:srgbClr val="374151"/>
                </a:solidFill>
                <a:effectLst/>
                <a:latin typeface="Söhne"/>
              </a:rPr>
              <a:t>Khả</a:t>
            </a:r>
            <a:r>
              <a:rPr lang="en-US" b="0" i="0" dirty="0">
                <a:solidFill>
                  <a:srgbClr val="374151"/>
                </a:solidFill>
                <a:effectLst/>
                <a:latin typeface="Söhne"/>
              </a:rPr>
              <a:t> </a:t>
            </a:r>
            <a:r>
              <a:rPr lang="en-US" b="0" i="0" dirty="0" err="1">
                <a:solidFill>
                  <a:srgbClr val="374151"/>
                </a:solidFill>
                <a:effectLst/>
                <a:latin typeface="Söhne"/>
              </a:rPr>
              <a:t>năng</a:t>
            </a:r>
            <a:r>
              <a:rPr lang="en-US" b="0" i="0" dirty="0">
                <a:solidFill>
                  <a:srgbClr val="374151"/>
                </a:solidFill>
                <a:effectLst/>
                <a:latin typeface="Söhne"/>
              </a:rPr>
              <a:t> </a:t>
            </a:r>
            <a:r>
              <a:rPr lang="en-US" b="0" i="0" dirty="0" err="1">
                <a:solidFill>
                  <a:srgbClr val="374151"/>
                </a:solidFill>
                <a:effectLst/>
                <a:latin typeface="Söhne"/>
              </a:rPr>
              <a:t>mở</a:t>
            </a:r>
            <a:r>
              <a:rPr lang="en-US" b="0" i="0" dirty="0">
                <a:solidFill>
                  <a:srgbClr val="374151"/>
                </a:solidFill>
                <a:effectLst/>
                <a:latin typeface="Söhne"/>
              </a:rPr>
              <a:t> </a:t>
            </a:r>
            <a:r>
              <a:rPr lang="en-US" b="0" i="0" dirty="0" err="1">
                <a:solidFill>
                  <a:srgbClr val="374151"/>
                </a:solidFill>
                <a:effectLst/>
                <a:latin typeface="Söhne"/>
              </a:rPr>
              <a:t>rộng</a:t>
            </a:r>
            <a:endParaRPr lang="en-US" b="0" i="0" dirty="0">
              <a:solidFill>
                <a:srgbClr val="374151"/>
              </a:solidFill>
              <a:effectLst/>
              <a:latin typeface="Söhne"/>
            </a:endParaRPr>
          </a:p>
          <a:p>
            <a:r>
              <a:rPr lang="vi-VN" b="0" i="0" dirty="0">
                <a:solidFill>
                  <a:srgbClr val="374151"/>
                </a:solidFill>
                <a:effectLst/>
                <a:latin typeface="Söhne"/>
              </a:rPr>
              <a:t>Vấn đề là việc mở rộng cơ sở dữ liệu và khối lượng công việc. </a:t>
            </a:r>
            <a:endParaRPr lang="en-US" b="0" i="0" dirty="0">
              <a:solidFill>
                <a:srgbClr val="374151"/>
              </a:solidFill>
              <a:effectLst/>
              <a:latin typeface="Söhne"/>
            </a:endParaRPr>
          </a:p>
          <a:p>
            <a:r>
              <a:rPr lang="vi-VN" b="0" i="0" dirty="0">
                <a:solidFill>
                  <a:srgbClr val="374151"/>
                </a:solidFill>
                <a:effectLst/>
                <a:latin typeface="Söhne"/>
              </a:rPr>
              <a:t>Thêm sức mạnh xử lý và lưu trữ</a:t>
            </a:r>
            <a:endParaRPr lang="en-US" b="0" i="0" dirty="0">
              <a:solidFill>
                <a:srgbClr val="374151"/>
              </a:solidFill>
              <a:effectLst/>
              <a:latin typeface="Söhne"/>
            </a:endParaRPr>
          </a:p>
          <a:p>
            <a:r>
              <a:rPr lang="vi-VN" b="0" i="0" dirty="0">
                <a:solidFill>
                  <a:srgbClr val="374151"/>
                </a:solidFill>
                <a:effectLst/>
                <a:latin typeface="Söhne"/>
              </a:rPr>
              <a:t> Mở rộng theo chiều ngang: thêm nhiều máy chủ</a:t>
            </a:r>
            <a:endParaRPr lang="en-US" b="0" i="0" dirty="0">
              <a:solidFill>
                <a:srgbClr val="374151"/>
              </a:solidFill>
              <a:effectLst/>
              <a:latin typeface="Söhne"/>
            </a:endParaRPr>
          </a:p>
          <a:p>
            <a:r>
              <a:rPr lang="en-US" b="0" i="0" dirty="0">
                <a:solidFill>
                  <a:srgbClr val="374151"/>
                </a:solidFill>
                <a:effectLst/>
                <a:latin typeface="Söhne"/>
              </a:rPr>
              <a:t>	</a:t>
            </a:r>
            <a:r>
              <a:rPr lang="vi-VN" b="0" i="0" dirty="0">
                <a:solidFill>
                  <a:srgbClr val="374151"/>
                </a:solidFill>
                <a:effectLst/>
                <a:latin typeface="Söhne"/>
              </a:rPr>
              <a:t> Mở rộng theo chiều dọc: tăng khả năng của một máy chủ → có giới hạn</a:t>
            </a:r>
            <a:endParaRPr lang="en-US" dirty="0"/>
          </a:p>
        </p:txBody>
      </p:sp>
    </p:spTree>
    <p:extLst>
      <p:ext uri="{BB962C8B-B14F-4D97-AF65-F5344CB8AC3E}">
        <p14:creationId xmlns:p14="http://schemas.microsoft.com/office/powerpoint/2010/main" val="2093832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2FAF81E4-F872-C4E7-1633-C30D749FC136}"/>
              </a:ext>
            </a:extLst>
          </p:cNvPr>
          <p:cNvSpPr>
            <a:spLocks noGrp="1"/>
          </p:cNvSpPr>
          <p:nvPr>
            <p:ph type="body" idx="1"/>
          </p:nvPr>
        </p:nvSpPr>
        <p:spPr/>
        <p:txBody>
          <a:bodyPr/>
          <a:lstStyle/>
          <a:p>
            <a:r>
              <a:rPr lang="en-US" b="0" i="0" dirty="0" err="1">
                <a:solidFill>
                  <a:srgbClr val="000000"/>
                </a:solidFill>
                <a:effectLst/>
                <a:latin typeface="Roboto" panose="02000000000000000000" pitchFamily="2" charset="0"/>
              </a:rPr>
              <a:t>Các</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vấn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đề</a:t>
            </a:r>
            <a:r>
              <a:rPr lang="en-US" b="0" i="0" dirty="0">
                <a:solidFill>
                  <a:srgbClr val="000000"/>
                </a:solidFill>
                <a:effectLst/>
                <a:latin typeface="Roboto" panose="02000000000000000000" pitchFamily="2" charset="0"/>
              </a:rPr>
              <a:t> DDBS</a:t>
            </a:r>
          </a:p>
          <a:p>
            <a:r>
              <a:rPr lang="vi-VN" b="0" i="0" dirty="0">
                <a:solidFill>
                  <a:srgbClr val="000000"/>
                </a:solidFill>
                <a:effectLst/>
                <a:latin typeface="Roboto" panose="02000000000000000000" pitchFamily="2" charset="0"/>
              </a:rPr>
              <a:t>Thiết kế cơ sở dữ liệu phân tán</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 Cách phân </a:t>
            </a:r>
            <a:r>
              <a:rPr lang="en-US" b="0" i="0" dirty="0" err="1">
                <a:solidFill>
                  <a:srgbClr val="000000"/>
                </a:solidFill>
                <a:effectLst/>
                <a:latin typeface="Roboto" panose="02000000000000000000" pitchFamily="2" charset="0"/>
              </a:rPr>
              <a:t>tán</a:t>
            </a:r>
            <a:r>
              <a:rPr lang="vi-VN" b="0" i="0" dirty="0">
                <a:solidFill>
                  <a:srgbClr val="000000"/>
                </a:solidFill>
                <a:effectLst/>
                <a:latin typeface="Roboto" panose="02000000000000000000" pitchFamily="2" charset="0"/>
              </a:rPr>
              <a:t> cơ sở dữ liệu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Phân </a:t>
            </a:r>
            <a:r>
              <a:rPr lang="en-US" b="0" i="0" dirty="0" err="1">
                <a:solidFill>
                  <a:srgbClr val="000000"/>
                </a:solidFill>
                <a:effectLst/>
                <a:latin typeface="Roboto" panose="02000000000000000000" pitchFamily="2" charset="0"/>
              </a:rPr>
              <a:t>tán</a:t>
            </a:r>
            <a:r>
              <a:rPr lang="vi-VN" b="0" i="0" dirty="0">
                <a:solidFill>
                  <a:srgbClr val="000000"/>
                </a:solidFill>
                <a:effectLst/>
                <a:latin typeface="Roboto" panose="02000000000000000000" pitchFamily="2" charset="0"/>
              </a:rPr>
              <a:t> cơ sở dữ liệu được </a:t>
            </a:r>
            <a:r>
              <a:rPr lang="en-US" b="0" i="0" dirty="0" err="1">
                <a:solidFill>
                  <a:srgbClr val="000000"/>
                </a:solidFill>
                <a:effectLst/>
                <a:latin typeface="Roboto" panose="02000000000000000000" pitchFamily="2" charset="0"/>
              </a:rPr>
              <a:t>nhân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bản</a:t>
            </a:r>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và không được </a:t>
            </a:r>
            <a:r>
              <a:rPr lang="en-US" b="0" i="0" dirty="0" err="1">
                <a:solidFill>
                  <a:srgbClr val="000000"/>
                </a:solidFill>
                <a:effectLst/>
                <a:latin typeface="Roboto" panose="02000000000000000000" pitchFamily="2" charset="0"/>
              </a:rPr>
              <a:t>nhân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bản</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Một vấn đề liên quan trong quản lý thư mục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Xử lý truy vấn phân tán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Chuyển đổi giao dịch của người dùng thành hướng dẫn thao tác dữ liệu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Vấn đề tối ưu hóa tối thiểu</a:t>
            </a:r>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{chi phí = truyền dữ liệu + xử lý cục bộ} Công thức chung là NP-hard</a:t>
            </a:r>
            <a:endParaRPr lang="en-US" dirty="0"/>
          </a:p>
        </p:txBody>
      </p:sp>
    </p:spTree>
    <p:extLst>
      <p:ext uri="{BB962C8B-B14F-4D97-AF65-F5344CB8AC3E}">
        <p14:creationId xmlns:p14="http://schemas.microsoft.com/office/powerpoint/2010/main" val="20312519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6D4AB4DC-89FD-2678-7211-D0E08FEE6950}"/>
              </a:ext>
            </a:extLst>
          </p:cNvPr>
          <p:cNvSpPr>
            <a:spLocks noGrp="1"/>
          </p:cNvSpPr>
          <p:nvPr>
            <p:ph type="body" idx="1"/>
          </p:nvPr>
        </p:nvSpPr>
        <p:spPr/>
        <p:txBody>
          <a:bodyPr/>
          <a:lstStyle/>
          <a:p>
            <a:r>
              <a:rPr lang="en-US" b="0" i="0" dirty="0">
                <a:solidFill>
                  <a:srgbClr val="000000"/>
                </a:solidFill>
                <a:effectLst/>
                <a:latin typeface="Roboto" panose="02000000000000000000" pitchFamily="2" charset="0"/>
              </a:rPr>
              <a:t>-</a:t>
            </a:r>
            <a:r>
              <a:rPr lang="en-US" b="0" i="0" dirty="0" err="1">
                <a:solidFill>
                  <a:srgbClr val="000000"/>
                </a:solidFill>
                <a:effectLst/>
                <a:latin typeface="Roboto" panose="02000000000000000000" pitchFamily="2" charset="0"/>
              </a:rPr>
              <a:t>Kiểm</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soát</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đồng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thời</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phân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tán</a:t>
            </a:r>
            <a:r>
              <a:rPr lang="en-US" b="0" i="0" dirty="0">
                <a:solidFill>
                  <a:srgbClr val="000000"/>
                </a:solidFill>
                <a:effectLst/>
                <a:latin typeface="Roboto" panose="02000000000000000000" pitchFamily="2" charset="0"/>
              </a:rPr>
              <a:t> </a:t>
            </a:r>
          </a:p>
          <a:p>
            <a:r>
              <a:rPr lang="en-US" b="0" i="0" dirty="0" err="1">
                <a:solidFill>
                  <a:srgbClr val="000000"/>
                </a:solidFill>
                <a:effectLst/>
                <a:latin typeface="Roboto" panose="02000000000000000000" pitchFamily="2" charset="0"/>
              </a:rPr>
              <a:t>Đồng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bộ</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hóa</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truy</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cập</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đồng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thời</a:t>
            </a:r>
            <a:r>
              <a:rPr lang="en-US" b="0" i="0" dirty="0">
                <a:solidFill>
                  <a:srgbClr val="000000"/>
                </a:solidFill>
                <a:effectLst/>
                <a:latin typeface="Roboto" panose="02000000000000000000" pitchFamily="2" charset="0"/>
              </a:rPr>
              <a:t> </a:t>
            </a:r>
          </a:p>
          <a:p>
            <a:r>
              <a:rPr lang="en-US" b="0" i="0" dirty="0" err="1">
                <a:solidFill>
                  <a:srgbClr val="000000"/>
                </a:solidFill>
                <a:effectLst/>
                <a:latin typeface="Roboto" panose="02000000000000000000" pitchFamily="2" charset="0"/>
              </a:rPr>
              <a:t>Tính</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nhất</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quán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và</a:t>
            </a:r>
            <a:r>
              <a:rPr lang="en-US" b="0" i="0" dirty="0">
                <a:solidFill>
                  <a:srgbClr val="000000"/>
                </a:solidFill>
                <a:effectLst/>
                <a:latin typeface="Roboto" panose="02000000000000000000" pitchFamily="2" charset="0"/>
              </a:rPr>
              <a:t> </a:t>
            </a:r>
            <a:r>
              <a:rPr lang="en-US" b="0" i="0" dirty="0" err="1" smtClean="0">
                <a:solidFill>
                  <a:srgbClr val="000000"/>
                </a:solidFill>
                <a:effectLst/>
                <a:latin typeface="Roboto" panose="02000000000000000000" pitchFamily="2" charset="0"/>
              </a:rPr>
              <a:t>độc</a:t>
            </a:r>
            <a:r>
              <a:rPr lang="en-US" b="0" i="0" baseline="0" dirty="0" smtClean="0">
                <a:solidFill>
                  <a:srgbClr val="000000"/>
                </a:solidFill>
                <a:effectLst/>
                <a:latin typeface="Roboto" panose="02000000000000000000" pitchFamily="2" charset="0"/>
              </a:rPr>
              <a:t> </a:t>
            </a:r>
            <a:r>
              <a:rPr lang="en-US" b="0" i="0" baseline="0" dirty="0" err="1" smtClean="0">
                <a:solidFill>
                  <a:srgbClr val="000000"/>
                </a:solidFill>
                <a:effectLst/>
                <a:latin typeface="Roboto" panose="02000000000000000000" pitchFamily="2" charset="0"/>
              </a:rPr>
              <a:t>lập</a:t>
            </a:r>
            <a:r>
              <a:rPr lang="en-US" b="0" i="0" baseline="0" dirty="0" smtClean="0">
                <a:solidFill>
                  <a:srgbClr val="000000"/>
                </a:solidFill>
                <a:effectLst/>
                <a:latin typeface="Roboto" panose="02000000000000000000" pitchFamily="2" charset="0"/>
              </a:rPr>
              <a:t> </a:t>
            </a:r>
            <a:r>
              <a:rPr lang="en-US" b="0" i="0" baseline="0" dirty="0" err="1" smtClean="0">
                <a:solidFill>
                  <a:srgbClr val="000000"/>
                </a:solidFill>
                <a:effectLst/>
                <a:latin typeface="Roboto" panose="02000000000000000000" pitchFamily="2" charset="0"/>
              </a:rPr>
              <a:t>ảnh</a:t>
            </a:r>
            <a:r>
              <a:rPr lang="en-US" b="0" i="0" baseline="0" dirty="0" smtClean="0">
                <a:solidFill>
                  <a:srgbClr val="000000"/>
                </a:solidFill>
                <a:effectLst/>
                <a:latin typeface="Roboto" panose="02000000000000000000" pitchFamily="2" charset="0"/>
              </a:rPr>
              <a:t> </a:t>
            </a:r>
            <a:r>
              <a:rPr lang="en-US" b="0" i="0" baseline="0" dirty="0" err="1" smtClean="0">
                <a:solidFill>
                  <a:srgbClr val="000000"/>
                </a:solidFill>
                <a:effectLst/>
                <a:latin typeface="Roboto" panose="02000000000000000000" pitchFamily="2" charset="0"/>
              </a:rPr>
              <a:t>hưởng</a:t>
            </a:r>
            <a:r>
              <a:rPr lang="en-US" b="0" i="0" baseline="0" dirty="0" smtClean="0">
                <a:solidFill>
                  <a:srgbClr val="000000"/>
                </a:solidFill>
                <a:effectLst/>
                <a:latin typeface="Roboto" panose="02000000000000000000" pitchFamily="2" charset="0"/>
              </a:rPr>
              <a:t> </a:t>
            </a:r>
            <a:r>
              <a:rPr lang="en-US" b="0" i="0" dirty="0" err="1" smtClean="0">
                <a:solidFill>
                  <a:srgbClr val="000000"/>
                </a:solidFill>
                <a:effectLst/>
                <a:latin typeface="Roboto" panose="02000000000000000000" pitchFamily="2" charset="0"/>
              </a:rPr>
              <a:t>của</a:t>
            </a:r>
            <a:r>
              <a:rPr lang="en-US" b="0" i="0" dirty="0" smtClean="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giao</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dịch</a:t>
            </a:r>
            <a:r>
              <a:rPr lang="en-US" b="0" i="0" dirty="0">
                <a:solidFill>
                  <a:srgbClr val="000000"/>
                </a:solidFill>
                <a:effectLst/>
                <a:latin typeface="Roboto" panose="02000000000000000000" pitchFamily="2" charset="0"/>
              </a:rPr>
              <a:t> </a:t>
            </a:r>
          </a:p>
          <a:p>
            <a:r>
              <a:rPr lang="en-US" b="0" i="0" dirty="0" err="1">
                <a:solidFill>
                  <a:srgbClr val="000000"/>
                </a:solidFill>
                <a:effectLst/>
                <a:latin typeface="Roboto" panose="02000000000000000000" pitchFamily="2" charset="0"/>
              </a:rPr>
              <a:t>quản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lý</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bế</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tắc</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 </a:t>
            </a:r>
            <a:r>
              <a:rPr lang="en-US" b="0" i="0" dirty="0" err="1">
                <a:solidFill>
                  <a:srgbClr val="000000"/>
                </a:solidFill>
                <a:effectLst/>
                <a:latin typeface="Roboto" panose="02000000000000000000" pitchFamily="2" charset="0"/>
              </a:rPr>
              <a:t>độ</a:t>
            </a:r>
            <a:r>
              <a:rPr lang="en-US" b="0" i="0" dirty="0">
                <a:solidFill>
                  <a:srgbClr val="000000"/>
                </a:solidFill>
                <a:effectLst/>
                <a:latin typeface="Roboto" panose="02000000000000000000" pitchFamily="2" charset="0"/>
              </a:rPr>
              <a:t> tin </a:t>
            </a:r>
            <a:r>
              <a:rPr lang="en-US" b="0" i="0" dirty="0" err="1">
                <a:solidFill>
                  <a:srgbClr val="000000"/>
                </a:solidFill>
                <a:effectLst/>
                <a:latin typeface="Roboto" panose="02000000000000000000" pitchFamily="2" charset="0"/>
              </a:rPr>
              <a:t>cậy</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Làm</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thế</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nào</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để</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làm</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cho</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hệ</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thống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có</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khả</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năng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chống</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lại</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sự</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cố</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Nguyên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tử</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và</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độ</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bền</a:t>
            </a:r>
            <a:endParaRPr lang="en-US" dirty="0"/>
          </a:p>
        </p:txBody>
      </p:sp>
    </p:spTree>
    <p:extLst>
      <p:ext uri="{BB962C8B-B14F-4D97-AF65-F5344CB8AC3E}">
        <p14:creationId xmlns:p14="http://schemas.microsoft.com/office/powerpoint/2010/main" val="18487958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00000"/>
                </a:solidFill>
                <a:effectLst/>
                <a:latin typeface="Roboto" panose="02000000000000000000" pitchFamily="2" charset="0"/>
              </a:rPr>
              <a:t>Nhân </a:t>
            </a:r>
            <a:r>
              <a:rPr lang="en-US" b="0" i="0" dirty="0" err="1">
                <a:solidFill>
                  <a:srgbClr val="000000"/>
                </a:solidFill>
                <a:effectLst/>
                <a:latin typeface="Roboto" panose="02000000000000000000" pitchFamily="2" charset="0"/>
              </a:rPr>
              <a:t>bản</a:t>
            </a:r>
            <a:endParaRPr lang="en-US" b="0" i="0" dirty="0">
              <a:solidFill>
                <a:srgbClr val="000000"/>
              </a:solidFill>
              <a:effectLst/>
              <a:latin typeface="Roboto" panose="02000000000000000000" pitchFamily="2" charset="0"/>
            </a:endParaRPr>
          </a:p>
          <a:p>
            <a:pPr lvl="1"/>
            <a:r>
              <a:rPr lang="vi-VN" b="0" i="0" dirty="0">
                <a:solidFill>
                  <a:srgbClr val="000000"/>
                </a:solidFill>
                <a:effectLst/>
                <a:latin typeface="Roboto" panose="02000000000000000000" pitchFamily="2" charset="0"/>
              </a:rPr>
              <a:t>nhất quán </a:t>
            </a:r>
            <a:r>
              <a:rPr lang="en-US" b="0" i="0" dirty="0">
                <a:solidFill>
                  <a:srgbClr val="374151"/>
                </a:solidFill>
                <a:effectLst/>
                <a:latin typeface="Söhne"/>
              </a:rPr>
              <a:t>, </a:t>
            </a:r>
            <a:r>
              <a:rPr lang="vi-VN" b="0" i="0" dirty="0">
                <a:solidFill>
                  <a:srgbClr val="374151"/>
                </a:solidFill>
                <a:effectLst/>
                <a:latin typeface="Söhne"/>
              </a:rPr>
              <a:t>tương thích </a:t>
            </a:r>
            <a:r>
              <a:rPr lang="vi-VN" b="0" i="0" dirty="0" smtClean="0">
                <a:solidFill>
                  <a:srgbClr val="374151"/>
                </a:solidFill>
                <a:effectLst/>
                <a:latin typeface="Söhne"/>
              </a:rPr>
              <a:t>chung</a:t>
            </a:r>
            <a:r>
              <a:rPr lang="en-US" b="0" i="0" dirty="0" smtClean="0">
                <a:solidFill>
                  <a:srgbClr val="374151"/>
                </a:solidFill>
                <a:effectLst/>
                <a:latin typeface="Söhne"/>
              </a:rPr>
              <a:t> </a:t>
            </a:r>
            <a:r>
              <a:rPr lang="en-US" b="0" i="0" dirty="0" err="1" smtClean="0">
                <a:solidFill>
                  <a:srgbClr val="374151"/>
                </a:solidFill>
                <a:effectLst/>
                <a:latin typeface="Söhne"/>
              </a:rPr>
              <a:t>lẫn</a:t>
            </a:r>
            <a:r>
              <a:rPr lang="en-US" b="0" i="0" baseline="0" dirty="0" smtClean="0">
                <a:solidFill>
                  <a:srgbClr val="374151"/>
                </a:solidFill>
                <a:effectLst/>
                <a:latin typeface="Söhne"/>
              </a:rPr>
              <a:t> </a:t>
            </a:r>
            <a:r>
              <a:rPr lang="en-US" b="0" i="0" baseline="0" dirty="0" err="1" smtClean="0">
                <a:solidFill>
                  <a:srgbClr val="374151"/>
                </a:solidFill>
                <a:effectLst/>
                <a:latin typeface="Söhne"/>
              </a:rPr>
              <a:t>nhau</a:t>
            </a:r>
            <a:endParaRPr lang="en-US" b="0" i="0" dirty="0">
              <a:solidFill>
                <a:srgbClr val="000000"/>
              </a:solidFill>
              <a:effectLst/>
              <a:latin typeface="Roboto" panose="02000000000000000000" pitchFamily="2" charset="0"/>
            </a:endParaRPr>
          </a:p>
          <a:p>
            <a:pPr lvl="1"/>
            <a:r>
              <a:rPr lang="vi-VN" b="0" i="0" dirty="0">
                <a:solidFill>
                  <a:srgbClr val="000000"/>
                </a:solidFill>
                <a:effectLst/>
                <a:latin typeface="Roboto" panose="02000000000000000000" pitchFamily="2" charset="0"/>
              </a:rPr>
              <a:t>Độ tươi </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mới</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của</a:t>
            </a:r>
            <a:r>
              <a:rPr lang="en-US" b="0" i="0" dirty="0">
                <a:solidFill>
                  <a:srgbClr val="000000"/>
                </a:solidFill>
                <a:effectLst/>
                <a:latin typeface="Roboto" panose="02000000000000000000" pitchFamily="2" charset="0"/>
              </a:rPr>
              <a:t> dl </a:t>
            </a:r>
            <a:r>
              <a:rPr lang="vi-VN" b="0" i="0" dirty="0">
                <a:solidFill>
                  <a:srgbClr val="000000"/>
                </a:solidFill>
                <a:effectLst/>
                <a:latin typeface="Roboto" panose="02000000000000000000" pitchFamily="2" charset="0"/>
              </a:rPr>
              <a:t>của </a:t>
            </a:r>
            <a:r>
              <a:rPr lang="en-US" b="0" i="0" dirty="0" err="1">
                <a:solidFill>
                  <a:srgbClr val="000000"/>
                </a:solidFill>
                <a:effectLst/>
                <a:latin typeface="Roboto" panose="02000000000000000000" pitchFamily="2" charset="0"/>
              </a:rPr>
              <a:t>nhân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bản</a:t>
            </a:r>
            <a:endParaRPr lang="en-US" b="0" i="0" dirty="0">
              <a:solidFill>
                <a:srgbClr val="000000"/>
              </a:solidFill>
              <a:effectLst/>
              <a:latin typeface="Roboto" panose="02000000000000000000" pitchFamily="2" charset="0"/>
            </a:endParaRPr>
          </a:p>
          <a:p>
            <a:pPr lvl="1"/>
            <a:r>
              <a:rPr lang="en-US" b="0" i="0" dirty="0" err="1">
                <a:solidFill>
                  <a:srgbClr val="000000"/>
                </a:solidFill>
                <a:effectLst/>
                <a:latin typeface="Roboto" panose="02000000000000000000" pitchFamily="2" charset="0"/>
              </a:rPr>
              <a:t>Sẵn</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sàng</a:t>
            </a:r>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vs </a:t>
            </a:r>
            <a:r>
              <a:rPr lang="en-US" b="0" i="0" dirty="0" err="1">
                <a:solidFill>
                  <a:srgbClr val="000000"/>
                </a:solidFill>
                <a:effectLst/>
                <a:latin typeface="Roboto" panose="02000000000000000000" pitchFamily="2" charset="0"/>
              </a:rPr>
              <a:t>chậm</a:t>
            </a:r>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chễ</a:t>
            </a:r>
            <a:endParaRPr lang="en-US" b="0" i="0" dirty="0">
              <a:solidFill>
                <a:srgbClr val="000000"/>
              </a:solidFill>
              <a:effectLst/>
              <a:latin typeface="Roboto" panose="02000000000000000000" pitchFamily="2" charset="0"/>
            </a:endParaRPr>
          </a:p>
          <a:p>
            <a:pPr lvl="1"/>
            <a:r>
              <a:rPr lang="vi-VN" b="0" i="0" dirty="0">
                <a:solidFill>
                  <a:srgbClr val="000000"/>
                </a:solidFill>
                <a:effectLst/>
                <a:latin typeface="Roboto" panose="02000000000000000000" pitchFamily="2" charset="0"/>
              </a:rPr>
              <a:t> Tập trung </a:t>
            </a:r>
            <a:r>
              <a:rPr lang="en-US" b="0" i="0" dirty="0" err="1" smtClean="0">
                <a:solidFill>
                  <a:srgbClr val="000000"/>
                </a:solidFill>
                <a:effectLst/>
                <a:latin typeface="Roboto" panose="02000000000000000000" pitchFamily="2" charset="0"/>
              </a:rPr>
              <a:t>và</a:t>
            </a:r>
            <a:r>
              <a:rPr lang="vi-VN" b="0" i="0" dirty="0" smtClean="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phân tán </a:t>
            </a:r>
            <a:endParaRPr lang="en-US" b="0" i="0" dirty="0">
              <a:solidFill>
                <a:srgbClr val="000000"/>
              </a:solidFill>
              <a:effectLst/>
              <a:latin typeface="Roboto" panose="02000000000000000000" pitchFamily="2" charset="0"/>
            </a:endParaRPr>
          </a:p>
          <a:p>
            <a:r>
              <a:rPr lang="vi-VN" b="0" i="0" dirty="0">
                <a:solidFill>
                  <a:srgbClr val="000000"/>
                </a:solidFill>
                <a:effectLst/>
                <a:latin typeface="Roboto" panose="02000000000000000000" pitchFamily="2" charset="0"/>
              </a:rPr>
              <a:t>DBMS song song</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 Mục tiêu: khả năng mở rộng và hiệu suất cao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vi-VN" b="0" i="0" dirty="0">
                <a:solidFill>
                  <a:srgbClr val="000000"/>
                </a:solidFill>
                <a:effectLst/>
                <a:latin typeface="Roboto" panose="02000000000000000000" pitchFamily="2" charset="0"/>
              </a:rPr>
              <a:t>Không phân </a:t>
            </a:r>
            <a:r>
              <a:rPr lang="en-US" b="0" i="0" dirty="0" err="1">
                <a:solidFill>
                  <a:srgbClr val="000000"/>
                </a:solidFill>
                <a:effectLst/>
                <a:latin typeface="Roboto" panose="02000000000000000000" pitchFamily="2" charset="0"/>
              </a:rPr>
              <a:t>tán</a:t>
            </a:r>
            <a:r>
              <a:rPr lang="vi-VN" b="0" i="0" dirty="0">
                <a:solidFill>
                  <a:srgbClr val="000000"/>
                </a:solidFill>
                <a:effectLst/>
                <a:latin typeface="Roboto" panose="02000000000000000000" pitchFamily="2" charset="0"/>
              </a:rPr>
              <a:t> địa lý </a:t>
            </a:r>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	</a:t>
            </a:r>
            <a:r>
              <a:rPr lang="en-US" b="0" i="0" dirty="0" err="1">
                <a:solidFill>
                  <a:srgbClr val="000000"/>
                </a:solidFill>
                <a:effectLst/>
                <a:latin typeface="Roboto" panose="02000000000000000000" pitchFamily="2" charset="0"/>
              </a:rPr>
              <a:t>tính</a:t>
            </a:r>
            <a:r>
              <a:rPr lang="vi-VN" b="0" i="0" dirty="0">
                <a:solidFill>
                  <a:srgbClr val="000000"/>
                </a:solidFill>
                <a:effectLst/>
                <a:latin typeface="Roboto" panose="02000000000000000000" pitchFamily="2" charset="0"/>
              </a:rPr>
              <a:t> toán cụm</a:t>
            </a:r>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38</a:t>
            </a:fld>
            <a:endParaRPr lang="en-US"/>
          </a:p>
        </p:txBody>
      </p:sp>
    </p:spTree>
    <p:extLst>
      <p:ext uri="{BB962C8B-B14F-4D97-AF65-F5344CB8AC3E}">
        <p14:creationId xmlns:p14="http://schemas.microsoft.com/office/powerpoint/2010/main" val="30121053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171575" y="-44450"/>
            <a:ext cx="4514850" cy="3386138"/>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A57CC9A9-678B-F32E-6935-F6EC1CC64554}"/>
              </a:ext>
            </a:extLst>
          </p:cNvPr>
          <p:cNvSpPr>
            <a:spLocks noGrp="1"/>
          </p:cNvSpPr>
          <p:nvPr>
            <p:ph type="body" idx="1"/>
          </p:nvPr>
        </p:nvSpPr>
        <p:spPr/>
        <p:txBody>
          <a:bodyPr/>
          <a:lstStyle/>
          <a:p>
            <a:r>
              <a:rPr lang="en-US" b="0" i="0" dirty="0">
                <a:solidFill>
                  <a:srgbClr val="374151"/>
                </a:solidFill>
                <a:effectLst/>
                <a:latin typeface="Söhne"/>
              </a:rPr>
              <a:t>- </a:t>
            </a:r>
            <a:r>
              <a:rPr lang="en-US" b="0" i="0" dirty="0" smtClean="0">
                <a:solidFill>
                  <a:srgbClr val="374151"/>
                </a:solidFill>
                <a:effectLst/>
                <a:latin typeface="Söhne"/>
              </a:rPr>
              <a:t>p</a:t>
            </a:r>
            <a:r>
              <a:rPr lang="vi-VN" b="0" i="0" dirty="0" smtClean="0">
                <a:solidFill>
                  <a:srgbClr val="374151"/>
                </a:solidFill>
                <a:effectLst/>
                <a:latin typeface="Söhne"/>
              </a:rPr>
              <a:t>hương </a:t>
            </a:r>
            <a:r>
              <a:rPr lang="vi-VN" b="0" i="0" dirty="0">
                <a:solidFill>
                  <a:srgbClr val="374151"/>
                </a:solidFill>
                <a:effectLst/>
                <a:latin typeface="Söhne"/>
              </a:rPr>
              <a:t>pháp </a:t>
            </a:r>
            <a:r>
              <a:rPr lang="en-US" b="0" i="0" dirty="0" err="1">
                <a:solidFill>
                  <a:srgbClr val="374151"/>
                </a:solidFill>
                <a:effectLst/>
                <a:latin typeface="Söhne"/>
              </a:rPr>
              <a:t>phân</a:t>
            </a:r>
            <a:r>
              <a:rPr lang="en-US" b="0" i="0" dirty="0">
                <a:solidFill>
                  <a:srgbClr val="374151"/>
                </a:solidFill>
                <a:effectLst/>
                <a:latin typeface="Söhne"/>
              </a:rPr>
              <a:t> </a:t>
            </a:r>
            <a:r>
              <a:rPr lang="en-US" b="0" i="0" dirty="0" err="1">
                <a:solidFill>
                  <a:srgbClr val="374151"/>
                </a:solidFill>
                <a:effectLst/>
                <a:latin typeface="Söhne"/>
              </a:rPr>
              <a:t>tán</a:t>
            </a:r>
            <a:r>
              <a:rPr lang="en-US" b="0" i="0" dirty="0">
                <a:solidFill>
                  <a:srgbClr val="374151"/>
                </a:solidFill>
                <a:effectLst/>
                <a:latin typeface="Söhne"/>
              </a:rPr>
              <a:t> </a:t>
            </a:r>
            <a:r>
              <a:rPr lang="vi-VN" b="0" i="0" dirty="0">
                <a:solidFill>
                  <a:srgbClr val="374151"/>
                </a:solidFill>
                <a:effectLst/>
                <a:latin typeface="Söhne"/>
              </a:rPr>
              <a:t>khác nhau </a:t>
            </a:r>
            <a:endParaRPr lang="en-US" b="0" i="0" dirty="0">
              <a:solidFill>
                <a:srgbClr val="374151"/>
              </a:solidFill>
              <a:effectLst/>
              <a:latin typeface="Söhne"/>
            </a:endParaRPr>
          </a:p>
          <a:p>
            <a:r>
              <a:rPr lang="en-US" b="0" i="0" dirty="0">
                <a:solidFill>
                  <a:srgbClr val="374151"/>
                </a:solidFill>
                <a:effectLst/>
                <a:latin typeface="Söhne"/>
              </a:rPr>
              <a:t>	</a:t>
            </a:r>
            <a:r>
              <a:rPr lang="vi-VN" b="0" i="0" dirty="0">
                <a:solidFill>
                  <a:srgbClr val="374151"/>
                </a:solidFill>
                <a:effectLst/>
                <a:latin typeface="Söhne"/>
              </a:rPr>
              <a:t>P2P </a:t>
            </a:r>
            <a:r>
              <a:rPr lang="en-US" b="0" i="0" dirty="0" err="1">
                <a:solidFill>
                  <a:srgbClr val="374151"/>
                </a:solidFill>
                <a:effectLst/>
                <a:latin typeface="Söhne"/>
              </a:rPr>
              <a:t>Mô</a:t>
            </a:r>
            <a:r>
              <a:rPr lang="en-US" b="0" i="0" dirty="0">
                <a:solidFill>
                  <a:srgbClr val="374151"/>
                </a:solidFill>
                <a:effectLst/>
                <a:latin typeface="Söhne"/>
              </a:rPr>
              <a:t> </a:t>
            </a:r>
            <a:r>
              <a:rPr lang="en-US" b="0" i="0" dirty="0" err="1">
                <a:solidFill>
                  <a:srgbClr val="374151"/>
                </a:solidFill>
                <a:effectLst/>
                <a:latin typeface="Söhne"/>
              </a:rPr>
              <a:t>hình</a:t>
            </a:r>
            <a:endParaRPr lang="en-US" b="0" i="0" dirty="0">
              <a:solidFill>
                <a:srgbClr val="374151"/>
              </a:solidFill>
              <a:effectLst/>
              <a:latin typeface="Söhne"/>
            </a:endParaRPr>
          </a:p>
          <a:p>
            <a:r>
              <a:rPr lang="en-US" b="0" i="0" dirty="0">
                <a:solidFill>
                  <a:srgbClr val="374151"/>
                </a:solidFill>
                <a:effectLst/>
                <a:latin typeface="Söhne"/>
              </a:rPr>
              <a:t>	</a:t>
            </a:r>
            <a:r>
              <a:rPr lang="vi-VN" b="0" i="0" dirty="0">
                <a:solidFill>
                  <a:srgbClr val="374151"/>
                </a:solidFill>
                <a:effectLst/>
                <a:latin typeface="Söhne"/>
              </a:rPr>
              <a:t>Thế giới trực tuyến (WWW hoặc Web)</a:t>
            </a:r>
            <a:endParaRPr lang="en-US" b="0" i="0" dirty="0">
              <a:solidFill>
                <a:srgbClr val="374151"/>
              </a:solidFill>
              <a:effectLst/>
              <a:latin typeface="Söhne"/>
            </a:endParaRPr>
          </a:p>
          <a:p>
            <a:pPr marL="171450" indent="-171450">
              <a:buFontTx/>
              <a:buChar char="-"/>
            </a:pPr>
            <a:r>
              <a:rPr lang="vi-VN" b="0" i="0" dirty="0">
                <a:solidFill>
                  <a:srgbClr val="374151"/>
                </a:solidFill>
                <a:effectLst/>
                <a:latin typeface="Söhne"/>
              </a:rPr>
              <a:t>Xử lý dữ liệu lớn </a:t>
            </a:r>
            <a:endParaRPr lang="en-US" b="0" i="0" dirty="0">
              <a:solidFill>
                <a:srgbClr val="374151"/>
              </a:solidFill>
              <a:effectLst/>
              <a:latin typeface="Söhne"/>
            </a:endParaRPr>
          </a:p>
          <a:p>
            <a:pPr marL="457200" lvl="1" indent="0">
              <a:buFontTx/>
              <a:buNone/>
            </a:pPr>
            <a:r>
              <a:rPr lang="vi-VN" b="0" i="0" dirty="0">
                <a:solidFill>
                  <a:srgbClr val="374151"/>
                </a:solidFill>
                <a:effectLst/>
                <a:latin typeface="Söhne"/>
              </a:rPr>
              <a:t>4V: Số lượng, đa dạng, tốc độ, độ chính xác </a:t>
            </a:r>
            <a:endParaRPr lang="en-US" b="0" i="0" dirty="0">
              <a:solidFill>
                <a:srgbClr val="374151"/>
              </a:solidFill>
              <a:effectLst/>
              <a:latin typeface="Söhne"/>
            </a:endParaRPr>
          </a:p>
          <a:p>
            <a:pPr marL="457200" lvl="1" indent="0">
              <a:buFontTx/>
              <a:buNone/>
            </a:pPr>
            <a:r>
              <a:rPr lang="vi-VN" b="0" i="0" dirty="0">
                <a:solidFill>
                  <a:srgbClr val="374151"/>
                </a:solidFill>
                <a:effectLst/>
                <a:latin typeface="Söhne"/>
              </a:rPr>
              <a:t>MapReduce &amp; Spark </a:t>
            </a:r>
            <a:endParaRPr lang="en-US" b="0" i="0" dirty="0">
              <a:solidFill>
                <a:srgbClr val="374151"/>
              </a:solidFill>
              <a:effectLst/>
              <a:latin typeface="Söhne"/>
            </a:endParaRPr>
          </a:p>
          <a:p>
            <a:pPr marL="457200" lvl="1" indent="0">
              <a:buFontTx/>
              <a:buNone/>
            </a:pPr>
            <a:r>
              <a:rPr lang="vi-VN" b="0" i="0" dirty="0">
                <a:solidFill>
                  <a:srgbClr val="374151"/>
                </a:solidFill>
                <a:effectLst/>
                <a:latin typeface="Söhne"/>
              </a:rPr>
              <a:t>Dữ liệu </a:t>
            </a:r>
            <a:r>
              <a:rPr lang="en-US" b="0" i="0" dirty="0" err="1">
                <a:solidFill>
                  <a:srgbClr val="374151"/>
                </a:solidFill>
                <a:effectLst/>
                <a:latin typeface="Söhne"/>
              </a:rPr>
              <a:t>luồng</a:t>
            </a:r>
            <a:endParaRPr lang="en-US" b="0" i="0" dirty="0">
              <a:solidFill>
                <a:srgbClr val="374151"/>
              </a:solidFill>
              <a:effectLst/>
              <a:latin typeface="Söhne"/>
            </a:endParaRPr>
          </a:p>
          <a:p>
            <a:pPr marL="457200" lvl="1" indent="0">
              <a:buFontTx/>
              <a:buNone/>
            </a:pPr>
            <a:r>
              <a:rPr lang="vi-VN" b="0" i="0" dirty="0">
                <a:solidFill>
                  <a:srgbClr val="374151"/>
                </a:solidFill>
                <a:effectLst/>
                <a:latin typeface="Söhne"/>
              </a:rPr>
              <a:t> Phân tích đồ thị NoSQL NewSQL Polystores"</a:t>
            </a:r>
            <a:endParaRPr lang="en-US" dirty="0"/>
          </a:p>
        </p:txBody>
      </p:sp>
    </p:spTree>
    <p:extLst>
      <p:ext uri="{BB962C8B-B14F-4D97-AF65-F5344CB8AC3E}">
        <p14:creationId xmlns:p14="http://schemas.microsoft.com/office/powerpoint/2010/main" val="27203209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Các Lựa Chọn Triển Khai Hệ Quản Trị Cơ Sở Dữ Liệu (DBMS)</a:t>
            </a:r>
            <a:endParaRPr lang="en-US" dirty="0" smtClean="0"/>
          </a:p>
          <a:p>
            <a:r>
              <a:rPr lang="en-US" dirty="0" smtClean="0"/>
              <a:t>Heterogeneity</a:t>
            </a:r>
            <a:r>
              <a:rPr lang="en-US" dirty="0"/>
              <a:t>: </a:t>
            </a:r>
            <a:r>
              <a:rPr lang="en-US" dirty="0" err="1"/>
              <a:t>tính</a:t>
            </a:r>
            <a:r>
              <a:rPr lang="en-US" dirty="0"/>
              <a:t> </a:t>
            </a:r>
            <a:r>
              <a:rPr lang="en-US" dirty="0" err="1"/>
              <a:t>không</a:t>
            </a:r>
            <a:r>
              <a:rPr lang="en-US" dirty="0"/>
              <a:t> </a:t>
            </a:r>
            <a:r>
              <a:rPr lang="en-US" dirty="0" err="1"/>
              <a:t>đồng</a:t>
            </a:r>
            <a:r>
              <a:rPr lang="en-US" dirty="0"/>
              <a:t> </a:t>
            </a:r>
            <a:r>
              <a:rPr lang="en-US" dirty="0" err="1"/>
              <a:t>nhất</a:t>
            </a:r>
            <a:endParaRPr lang="en-US" dirty="0"/>
          </a:p>
          <a:p>
            <a:r>
              <a:rPr lang="en-US" dirty="0" err="1"/>
              <a:t>Phân</a:t>
            </a:r>
            <a:r>
              <a:rPr lang="en-US" dirty="0"/>
              <a:t>  </a:t>
            </a:r>
            <a:r>
              <a:rPr lang="en-US" dirty="0" err="1"/>
              <a:t>tán</a:t>
            </a:r>
            <a:endParaRPr lang="en-US" dirty="0"/>
          </a:p>
          <a:p>
            <a:r>
              <a:rPr lang="en-US" dirty="0" err="1"/>
              <a:t>Không</a:t>
            </a:r>
            <a:r>
              <a:rPr lang="en-US" dirty="0"/>
              <a:t> </a:t>
            </a:r>
            <a:r>
              <a:rPr lang="en-US" dirty="0" err="1"/>
              <a:t>đồng</a:t>
            </a:r>
            <a:r>
              <a:rPr lang="en-US" dirty="0"/>
              <a:t> </a:t>
            </a:r>
            <a:r>
              <a:rPr lang="en-US" dirty="0" err="1"/>
              <a:t>nhất</a:t>
            </a:r>
            <a:endParaRPr lang="en-US" dirty="0"/>
          </a:p>
          <a:p>
            <a:r>
              <a:rPr lang="en-US" dirty="0" err="1"/>
              <a:t>Heterogeneity:Tự</a:t>
            </a:r>
            <a:r>
              <a:rPr lang="en-US" dirty="0"/>
              <a:t> </a:t>
            </a:r>
            <a:r>
              <a:rPr lang="en-US" dirty="0" err="1"/>
              <a:t>trị</a:t>
            </a:r>
            <a:endParaRPr lang="en-US" dirty="0"/>
          </a:p>
          <a:p>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41</a:t>
            </a:fld>
            <a:endParaRPr lang="en-US"/>
          </a:p>
        </p:txBody>
      </p:sp>
    </p:spTree>
    <p:extLst>
      <p:ext uri="{BB962C8B-B14F-4D97-AF65-F5344CB8AC3E}">
        <p14:creationId xmlns:p14="http://schemas.microsoft.com/office/powerpoint/2010/main" val="3139722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679450" y="336550"/>
            <a:ext cx="5486400" cy="41148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C2ECD564-5CD2-7F65-64BC-538B8F19B51C}"/>
              </a:ext>
            </a:extLst>
          </p:cNvPr>
          <p:cNvSpPr>
            <a:spLocks noGrp="1"/>
          </p:cNvSpPr>
          <p:nvPr>
            <p:ph type="body" idx="1"/>
          </p:nvPr>
        </p:nvSpPr>
        <p:spPr/>
        <p:txBody>
          <a:bodyPr/>
          <a:lstStyle/>
          <a:p>
            <a:pPr lvl="1">
              <a:lnSpc>
                <a:spcPct val="120000"/>
              </a:lnSpc>
              <a:spcBef>
                <a:spcPct val="20000"/>
              </a:spcBef>
            </a:pPr>
            <a:r>
              <a:rPr lang="en-US" dirty="0"/>
              <a:t>Various versions: </a:t>
            </a:r>
            <a:r>
              <a:rPr lang="en-US" dirty="0" err="1"/>
              <a:t>Các</a:t>
            </a:r>
            <a:r>
              <a:rPr lang="en-US" dirty="0"/>
              <a:t> </a:t>
            </a:r>
            <a:r>
              <a:rPr lang="en-US" dirty="0" err="1"/>
              <a:t>verson</a:t>
            </a:r>
            <a:r>
              <a:rPr lang="en-US" dirty="0"/>
              <a:t> </a:t>
            </a:r>
            <a:r>
              <a:rPr lang="en-US" dirty="0" err="1"/>
              <a:t>khác</a:t>
            </a:r>
            <a:r>
              <a:rPr lang="en-US" dirty="0"/>
              <a:t> </a:t>
            </a:r>
            <a:r>
              <a:rPr lang="en-US" dirty="0" err="1"/>
              <a:t>nhau</a:t>
            </a:r>
            <a:endParaRPr lang="en-US" dirty="0"/>
          </a:p>
          <a:p>
            <a:pPr lvl="1">
              <a:lnSpc>
                <a:spcPct val="120000"/>
              </a:lnSpc>
              <a:spcBef>
                <a:spcPct val="20000"/>
              </a:spcBef>
            </a:pPr>
            <a:r>
              <a:rPr lang="en-US" b="0" i="0" dirty="0" err="1">
                <a:solidFill>
                  <a:srgbClr val="374151"/>
                </a:solidFill>
                <a:effectLst/>
                <a:latin typeface="Söhne"/>
              </a:rPr>
              <a:t>Phân</a:t>
            </a:r>
            <a:r>
              <a:rPr lang="en-US" b="0" i="0" dirty="0">
                <a:solidFill>
                  <a:srgbClr val="374151"/>
                </a:solidFill>
                <a:effectLst/>
                <a:latin typeface="Söhne"/>
              </a:rPr>
              <a:t> </a:t>
            </a:r>
            <a:r>
              <a:rPr lang="en-US" b="0" i="0" dirty="0" err="1">
                <a:solidFill>
                  <a:srgbClr val="374151"/>
                </a:solidFill>
                <a:effectLst/>
                <a:latin typeface="Söhne"/>
              </a:rPr>
              <a:t>phối</a:t>
            </a:r>
            <a:endParaRPr lang="en-US" b="0" i="0" dirty="0">
              <a:solidFill>
                <a:srgbClr val="374151"/>
              </a:solidFill>
              <a:effectLst/>
              <a:latin typeface="Söhne"/>
            </a:endParaRPr>
          </a:p>
          <a:p>
            <a:pPr lvl="1">
              <a:lnSpc>
                <a:spcPct val="120000"/>
              </a:lnSpc>
              <a:spcBef>
                <a:spcPct val="20000"/>
              </a:spcBef>
            </a:pPr>
            <a:r>
              <a:rPr lang="en-US" b="0" i="0" dirty="0">
                <a:solidFill>
                  <a:srgbClr val="374151"/>
                </a:solidFill>
                <a:effectLst/>
                <a:latin typeface="Söhne"/>
              </a:rPr>
              <a:t>	  </a:t>
            </a:r>
            <a:r>
              <a:rPr lang="en-US" b="0" i="0" dirty="0" err="1">
                <a:solidFill>
                  <a:srgbClr val="374151"/>
                </a:solidFill>
                <a:effectLst/>
                <a:latin typeface="Söhne"/>
              </a:rPr>
              <a:t>các</a:t>
            </a:r>
            <a:r>
              <a:rPr lang="en-US" b="0" i="0" dirty="0">
                <a:solidFill>
                  <a:srgbClr val="374151"/>
                </a:solidFill>
                <a:effectLst/>
                <a:latin typeface="Söhne"/>
              </a:rPr>
              <a:t> </a:t>
            </a:r>
            <a:r>
              <a:rPr lang="en-US" b="0" i="0" dirty="0" err="1">
                <a:solidFill>
                  <a:srgbClr val="374151"/>
                </a:solidFill>
                <a:effectLst/>
                <a:latin typeface="Söhne"/>
              </a:rPr>
              <a:t>thành</a:t>
            </a:r>
            <a:r>
              <a:rPr lang="en-US" b="0" i="0" dirty="0">
                <a:solidFill>
                  <a:srgbClr val="374151"/>
                </a:solidFill>
                <a:effectLst/>
                <a:latin typeface="Söhne"/>
              </a:rPr>
              <a:t> </a:t>
            </a:r>
            <a:r>
              <a:rPr lang="en-US" b="0" i="0" dirty="0" err="1">
                <a:solidFill>
                  <a:srgbClr val="374151"/>
                </a:solidFill>
                <a:effectLst/>
                <a:latin typeface="Söhne"/>
              </a:rPr>
              <a:t>phần</a:t>
            </a:r>
            <a:r>
              <a:rPr lang="en-US" b="0" i="0" dirty="0">
                <a:solidFill>
                  <a:srgbClr val="374151"/>
                </a:solidFill>
                <a:effectLst/>
                <a:latin typeface="Söhne"/>
              </a:rPr>
              <a:t> </a:t>
            </a:r>
            <a:r>
              <a:rPr lang="en-US" b="0" i="0" dirty="0" err="1">
                <a:solidFill>
                  <a:srgbClr val="374151"/>
                </a:solidFill>
                <a:effectLst/>
                <a:latin typeface="Söhne"/>
              </a:rPr>
              <a:t>của</a:t>
            </a:r>
            <a:r>
              <a:rPr lang="en-US" b="0" i="0" dirty="0">
                <a:solidFill>
                  <a:srgbClr val="374151"/>
                </a:solidFill>
                <a:effectLst/>
                <a:latin typeface="Söhne"/>
              </a:rPr>
              <a:t> </a:t>
            </a:r>
            <a:r>
              <a:rPr lang="en-US" b="0" i="0" dirty="0" err="1">
                <a:solidFill>
                  <a:srgbClr val="374151"/>
                </a:solidFill>
                <a:effectLst/>
                <a:latin typeface="Söhne"/>
              </a:rPr>
              <a:t>hệ</a:t>
            </a:r>
            <a:r>
              <a:rPr lang="en-US" b="0" i="0" dirty="0">
                <a:solidFill>
                  <a:srgbClr val="374151"/>
                </a:solidFill>
                <a:effectLst/>
                <a:latin typeface="Söhne"/>
              </a:rPr>
              <a:t> </a:t>
            </a:r>
            <a:r>
              <a:rPr lang="en-US" b="0" i="0" dirty="0" err="1">
                <a:solidFill>
                  <a:srgbClr val="374151"/>
                </a:solidFill>
                <a:effectLst/>
                <a:latin typeface="Söhne"/>
              </a:rPr>
              <a:t>thống</a:t>
            </a:r>
            <a:r>
              <a:rPr lang="en-US" b="0" i="0" dirty="0">
                <a:solidFill>
                  <a:srgbClr val="374151"/>
                </a:solidFill>
                <a:effectLst/>
                <a:latin typeface="Söhne"/>
              </a:rPr>
              <a:t> </a:t>
            </a:r>
            <a:r>
              <a:rPr lang="en-US" b="0" i="0" dirty="0" err="1">
                <a:solidFill>
                  <a:srgbClr val="374151"/>
                </a:solidFill>
                <a:effectLst/>
                <a:latin typeface="Söhne"/>
              </a:rPr>
              <a:t>có</a:t>
            </a:r>
            <a:r>
              <a:rPr lang="en-US" b="0" i="0" dirty="0">
                <a:solidFill>
                  <a:srgbClr val="374151"/>
                </a:solidFill>
                <a:effectLst/>
                <a:latin typeface="Söhne"/>
              </a:rPr>
              <a:t> </a:t>
            </a:r>
            <a:r>
              <a:rPr lang="en-US" b="0" i="0" dirty="0" err="1">
                <a:solidFill>
                  <a:srgbClr val="374151"/>
                </a:solidFill>
                <a:effectLst/>
                <a:latin typeface="Söhne"/>
              </a:rPr>
              <a:t>nằm</a:t>
            </a:r>
            <a:r>
              <a:rPr lang="en-US" b="0" i="0" dirty="0">
                <a:solidFill>
                  <a:srgbClr val="374151"/>
                </a:solidFill>
                <a:effectLst/>
                <a:latin typeface="Söhne"/>
              </a:rPr>
              <a:t> </a:t>
            </a:r>
            <a:r>
              <a:rPr lang="en-US" b="0" i="0" dirty="0" err="1">
                <a:solidFill>
                  <a:srgbClr val="374151"/>
                </a:solidFill>
                <a:effectLst/>
                <a:latin typeface="Söhne"/>
              </a:rPr>
              <a:t>trên</a:t>
            </a:r>
            <a:r>
              <a:rPr lang="en-US" b="0" i="0" dirty="0">
                <a:solidFill>
                  <a:srgbClr val="374151"/>
                </a:solidFill>
                <a:effectLst/>
                <a:latin typeface="Söhne"/>
              </a:rPr>
              <a:t> </a:t>
            </a:r>
            <a:r>
              <a:rPr lang="en-US" b="0" i="0" dirty="0" err="1">
                <a:solidFill>
                  <a:srgbClr val="374151"/>
                </a:solidFill>
                <a:effectLst/>
                <a:latin typeface="Söhne"/>
              </a:rPr>
              <a:t>cùng</a:t>
            </a:r>
            <a:r>
              <a:rPr lang="en-US" b="0" i="0" dirty="0">
                <a:solidFill>
                  <a:srgbClr val="374151"/>
                </a:solidFill>
                <a:effectLst/>
                <a:latin typeface="Söhne"/>
              </a:rPr>
              <a:t> </a:t>
            </a:r>
            <a:r>
              <a:rPr lang="en-US" b="0" i="0" dirty="0" err="1">
                <a:solidFill>
                  <a:srgbClr val="374151"/>
                </a:solidFill>
                <a:effectLst/>
                <a:latin typeface="Söhne"/>
              </a:rPr>
              <a:t>một</a:t>
            </a:r>
            <a:r>
              <a:rPr lang="en-US" b="0" i="0" dirty="0">
                <a:solidFill>
                  <a:srgbClr val="374151"/>
                </a:solidFill>
                <a:effectLst/>
                <a:latin typeface="Söhne"/>
              </a:rPr>
              <a:t> </a:t>
            </a:r>
            <a:r>
              <a:rPr lang="en-US" b="0" i="0" dirty="0" err="1">
                <a:solidFill>
                  <a:srgbClr val="374151"/>
                </a:solidFill>
                <a:effectLst/>
                <a:latin typeface="Söhne"/>
              </a:rPr>
              <a:t>máy</a:t>
            </a:r>
            <a:r>
              <a:rPr lang="en-US" b="0" i="0" dirty="0">
                <a:solidFill>
                  <a:srgbClr val="374151"/>
                </a:solidFill>
                <a:effectLst/>
                <a:latin typeface="Söhne"/>
              </a:rPr>
              <a:t> hay </a:t>
            </a:r>
            <a:r>
              <a:rPr lang="en-US" b="0" i="0" dirty="0" err="1">
                <a:solidFill>
                  <a:srgbClr val="374151"/>
                </a:solidFill>
                <a:effectLst/>
                <a:latin typeface="Söhne"/>
              </a:rPr>
              <a:t>không</a:t>
            </a:r>
            <a:endParaRPr lang="en-US" b="0" i="0" dirty="0">
              <a:solidFill>
                <a:srgbClr val="374151"/>
              </a:solidFill>
              <a:effectLst/>
              <a:latin typeface="Söhne"/>
            </a:endParaRPr>
          </a:p>
          <a:p>
            <a:pPr lvl="1">
              <a:lnSpc>
                <a:spcPct val="120000"/>
              </a:lnSpc>
              <a:spcBef>
                <a:spcPct val="20000"/>
              </a:spcBef>
            </a:pPr>
            <a:r>
              <a:rPr lang="en-US" b="0" i="0" dirty="0" err="1">
                <a:solidFill>
                  <a:srgbClr val="374151"/>
                </a:solidFill>
                <a:effectLst/>
                <a:latin typeface="Söhne"/>
              </a:rPr>
              <a:t>Tính</a:t>
            </a:r>
            <a:r>
              <a:rPr lang="en-US" b="0" i="0" dirty="0">
                <a:solidFill>
                  <a:srgbClr val="374151"/>
                </a:solidFill>
                <a:effectLst/>
                <a:latin typeface="Söhne"/>
              </a:rPr>
              <a:t> </a:t>
            </a:r>
            <a:r>
              <a:rPr lang="en-US" b="0" i="0" dirty="0" err="1">
                <a:solidFill>
                  <a:srgbClr val="374151"/>
                </a:solidFill>
                <a:effectLst/>
                <a:latin typeface="Söhne"/>
              </a:rPr>
              <a:t>hỗn</a:t>
            </a:r>
            <a:r>
              <a:rPr lang="en-US" b="0" i="0" dirty="0">
                <a:solidFill>
                  <a:srgbClr val="374151"/>
                </a:solidFill>
                <a:effectLst/>
                <a:latin typeface="Söhne"/>
              </a:rPr>
              <a:t> </a:t>
            </a:r>
            <a:r>
              <a:rPr lang="en-US" b="0" i="0" dirty="0" err="1">
                <a:solidFill>
                  <a:srgbClr val="374151"/>
                </a:solidFill>
                <a:effectLst/>
                <a:latin typeface="Söhne"/>
              </a:rPr>
              <a:t>hợp</a:t>
            </a:r>
            <a:r>
              <a:rPr lang="en-US" b="0" i="0" dirty="0">
                <a:solidFill>
                  <a:srgbClr val="374151"/>
                </a:solidFill>
                <a:effectLst/>
                <a:latin typeface="Söhne"/>
              </a:rPr>
              <a:t> (Ko </a:t>
            </a:r>
            <a:r>
              <a:rPr lang="en-US" b="0" i="0" dirty="0" err="1">
                <a:solidFill>
                  <a:srgbClr val="374151"/>
                </a:solidFill>
                <a:effectLst/>
                <a:latin typeface="Söhne"/>
              </a:rPr>
              <a:t>đồng</a:t>
            </a:r>
            <a:r>
              <a:rPr lang="en-US" b="0" i="0" dirty="0">
                <a:solidFill>
                  <a:srgbClr val="374151"/>
                </a:solidFill>
                <a:effectLst/>
                <a:latin typeface="Söhne"/>
              </a:rPr>
              <a:t> </a:t>
            </a:r>
            <a:r>
              <a:rPr lang="en-US" b="0" i="0" dirty="0" err="1">
                <a:solidFill>
                  <a:srgbClr val="374151"/>
                </a:solidFill>
                <a:effectLst/>
                <a:latin typeface="Söhne"/>
              </a:rPr>
              <a:t>nhất</a:t>
            </a:r>
            <a:r>
              <a:rPr lang="en-US" b="0" i="0" dirty="0">
                <a:solidFill>
                  <a:srgbClr val="374151"/>
                </a:solidFill>
                <a:effectLst/>
                <a:latin typeface="Söhne"/>
              </a:rPr>
              <a:t>)</a:t>
            </a:r>
          </a:p>
          <a:p>
            <a:pPr lvl="1">
              <a:lnSpc>
                <a:spcPct val="120000"/>
              </a:lnSpc>
              <a:spcBef>
                <a:spcPct val="20000"/>
              </a:spcBef>
            </a:pPr>
            <a:r>
              <a:rPr lang="en-US" b="0" i="0" dirty="0">
                <a:solidFill>
                  <a:srgbClr val="374151"/>
                </a:solidFill>
                <a:effectLst/>
                <a:latin typeface="Söhne"/>
              </a:rPr>
              <a:t>	</a:t>
            </a:r>
            <a:r>
              <a:rPr lang="vi-VN" b="0" i="0" dirty="0">
                <a:solidFill>
                  <a:srgbClr val="374151"/>
                </a:solidFill>
                <a:effectLst/>
                <a:latin typeface="Söhne"/>
              </a:rPr>
              <a:t> Các cấp độ khác nhau (phần cứng, truyền thông, hệ điều hành) </a:t>
            </a:r>
            <a:endParaRPr lang="en-US" b="0" i="0" dirty="0">
              <a:solidFill>
                <a:srgbClr val="374151"/>
              </a:solidFill>
              <a:effectLst/>
              <a:latin typeface="Söhne"/>
            </a:endParaRPr>
          </a:p>
          <a:p>
            <a:pPr lvl="1">
              <a:lnSpc>
                <a:spcPct val="120000"/>
              </a:lnSpc>
              <a:spcBef>
                <a:spcPct val="20000"/>
              </a:spcBef>
            </a:pPr>
            <a:r>
              <a:rPr lang="en-US" b="0" i="0" dirty="0">
                <a:solidFill>
                  <a:srgbClr val="374151"/>
                </a:solidFill>
                <a:effectLst/>
                <a:latin typeface="Söhne"/>
              </a:rPr>
              <a:t>	</a:t>
            </a:r>
            <a:r>
              <a:rPr lang="vi-VN" b="0" i="0" dirty="0">
                <a:solidFill>
                  <a:srgbClr val="374151"/>
                </a:solidFill>
                <a:effectLst/>
                <a:latin typeface="Söhne"/>
              </a:rPr>
              <a:t>Hệ quản trị cơ sở dữ liệu (DBMS) là một phần quan trọng mô hình dữ liệu, ngôn ngữ truy vấn, thuật toán quản lý giao dịch</a:t>
            </a:r>
            <a:endParaRPr lang="en-US" dirty="0"/>
          </a:p>
          <a:p>
            <a:pPr lvl="1">
              <a:lnSpc>
                <a:spcPct val="120000"/>
              </a:lnSpc>
              <a:spcBef>
                <a:spcPct val="20000"/>
              </a:spcBef>
            </a:pPr>
            <a:endParaRPr lang="en-US" b="0" i="0" dirty="0">
              <a:solidFill>
                <a:srgbClr val="374151"/>
              </a:solidFill>
              <a:effectLst/>
              <a:latin typeface="Söhne"/>
            </a:endParaRPr>
          </a:p>
          <a:p>
            <a:pPr lvl="1">
              <a:lnSpc>
                <a:spcPct val="120000"/>
              </a:lnSpc>
              <a:spcBef>
                <a:spcPct val="20000"/>
              </a:spcBef>
            </a:pPr>
            <a:r>
              <a:rPr lang="en-US" b="0" i="0" dirty="0" err="1">
                <a:solidFill>
                  <a:srgbClr val="374151"/>
                </a:solidFill>
                <a:effectLst/>
                <a:latin typeface="Söhne"/>
              </a:rPr>
              <a:t>Tự</a:t>
            </a:r>
            <a:r>
              <a:rPr lang="en-US" b="0" i="0" dirty="0">
                <a:solidFill>
                  <a:srgbClr val="374151"/>
                </a:solidFill>
                <a:effectLst/>
                <a:latin typeface="Söhne"/>
              </a:rPr>
              <a:t> </a:t>
            </a:r>
            <a:r>
              <a:rPr lang="en-US" b="0" i="0" dirty="0" err="1">
                <a:solidFill>
                  <a:srgbClr val="374151"/>
                </a:solidFill>
                <a:effectLst/>
                <a:latin typeface="Söhne"/>
              </a:rPr>
              <a:t>trị</a:t>
            </a:r>
            <a:r>
              <a:rPr lang="en-US" b="0" i="0" dirty="0">
                <a:solidFill>
                  <a:srgbClr val="374151"/>
                </a:solidFill>
                <a:effectLst/>
                <a:latin typeface="Söhne"/>
              </a:rPr>
              <a:t> , </a:t>
            </a:r>
            <a:r>
              <a:rPr lang="en-US" b="0" i="0" dirty="0" err="1">
                <a:solidFill>
                  <a:srgbClr val="374151"/>
                </a:solidFill>
                <a:effectLst/>
                <a:latin typeface="Söhne"/>
              </a:rPr>
              <a:t>động</a:t>
            </a:r>
            <a:r>
              <a:rPr lang="en-US" b="0" i="0" dirty="0">
                <a:solidFill>
                  <a:srgbClr val="374151"/>
                </a:solidFill>
                <a:effectLst/>
                <a:latin typeface="Söhne"/>
              </a:rPr>
              <a:t> </a:t>
            </a:r>
            <a:r>
              <a:rPr lang="en-US" b="0" i="0" dirty="0" err="1">
                <a:solidFill>
                  <a:srgbClr val="374151"/>
                </a:solidFill>
                <a:effectLst/>
                <a:latin typeface="Söhne"/>
              </a:rPr>
              <a:t>lập</a:t>
            </a:r>
            <a:r>
              <a:rPr lang="en-US" b="0" i="0" dirty="0">
                <a:solidFill>
                  <a:srgbClr val="374151"/>
                </a:solidFill>
                <a:effectLst/>
                <a:latin typeface="Söhne"/>
              </a:rPr>
              <a:t>:</a:t>
            </a:r>
          </a:p>
          <a:p>
            <a:pPr lvl="1">
              <a:lnSpc>
                <a:spcPct val="120000"/>
              </a:lnSpc>
              <a:spcBef>
                <a:spcPct val="20000"/>
              </a:spcBef>
            </a:pPr>
            <a:r>
              <a:rPr lang="en-US" b="0" i="0" dirty="0">
                <a:solidFill>
                  <a:srgbClr val="374151"/>
                </a:solidFill>
                <a:effectLst/>
                <a:latin typeface="Söhne"/>
              </a:rPr>
              <a:t>	</a:t>
            </a:r>
            <a:r>
              <a:rPr lang="vi-VN" b="0" i="0" dirty="0">
                <a:solidFill>
                  <a:srgbClr val="374151"/>
                </a:solidFill>
                <a:effectLst/>
                <a:latin typeface="Söhne"/>
              </a:rPr>
              <a:t> Không được hiểu rõ và là vấn đề khó khăn nhất</a:t>
            </a:r>
            <a:endParaRPr lang="en-US" b="0" i="0" dirty="0">
              <a:solidFill>
                <a:srgbClr val="374151"/>
              </a:solidFill>
              <a:effectLst/>
              <a:latin typeface="Söhne"/>
            </a:endParaRPr>
          </a:p>
          <a:p>
            <a:pPr lvl="1">
              <a:lnSpc>
                <a:spcPct val="120000"/>
              </a:lnSpc>
              <a:spcBef>
                <a:spcPct val="20000"/>
              </a:spcBef>
            </a:pPr>
            <a:r>
              <a:rPr lang="en-US" b="0" i="0" dirty="0">
                <a:solidFill>
                  <a:srgbClr val="374151"/>
                </a:solidFill>
                <a:effectLst/>
                <a:latin typeface="Söhne"/>
              </a:rPr>
              <a:t>	</a:t>
            </a:r>
            <a:r>
              <a:rPr lang="vi-VN" b="0" i="0" dirty="0">
                <a:solidFill>
                  <a:srgbClr val="374151"/>
                </a:solidFill>
                <a:effectLst/>
                <a:latin typeface="Söhne"/>
              </a:rPr>
              <a:t> Các phiên bản khác nhau </a:t>
            </a:r>
            <a:r>
              <a:rPr lang="en-US" b="0" i="0" dirty="0">
                <a:solidFill>
                  <a:srgbClr val="374151"/>
                </a:solidFill>
                <a:effectLst/>
                <a:latin typeface="Söhne"/>
              </a:rPr>
              <a:t>: </a:t>
            </a:r>
          </a:p>
          <a:p>
            <a:pPr lvl="1">
              <a:lnSpc>
                <a:spcPct val="120000"/>
              </a:lnSpc>
              <a:spcBef>
                <a:spcPct val="20000"/>
              </a:spcBef>
            </a:pPr>
            <a:r>
              <a:rPr lang="en-US" b="0" i="0" dirty="0">
                <a:solidFill>
                  <a:srgbClr val="374151"/>
                </a:solidFill>
                <a:effectLst/>
                <a:latin typeface="Söhne"/>
              </a:rPr>
              <a:t>		</a:t>
            </a:r>
            <a:r>
              <a:rPr lang="en-US" b="0" i="0" dirty="0" err="1">
                <a:solidFill>
                  <a:srgbClr val="374151"/>
                </a:solidFill>
                <a:effectLst/>
                <a:latin typeface="Söhne"/>
              </a:rPr>
              <a:t>Tự</a:t>
            </a:r>
            <a:r>
              <a:rPr lang="en-US" b="0" i="0" dirty="0">
                <a:solidFill>
                  <a:srgbClr val="374151"/>
                </a:solidFill>
                <a:effectLst/>
                <a:latin typeface="Söhne"/>
              </a:rPr>
              <a:t> </a:t>
            </a:r>
            <a:r>
              <a:rPr lang="en-US" b="0" i="0" dirty="0" err="1">
                <a:solidFill>
                  <a:srgbClr val="374151"/>
                </a:solidFill>
                <a:effectLst/>
                <a:latin typeface="Söhne"/>
              </a:rPr>
              <a:t>trị</a:t>
            </a:r>
            <a:r>
              <a:rPr lang="en-US" b="0" i="0" dirty="0">
                <a:solidFill>
                  <a:srgbClr val="374151"/>
                </a:solidFill>
                <a:effectLst/>
                <a:latin typeface="Söhne"/>
              </a:rPr>
              <a:t> </a:t>
            </a:r>
            <a:r>
              <a:rPr lang="vi-VN" b="0" i="0" dirty="0">
                <a:solidFill>
                  <a:srgbClr val="374151"/>
                </a:solidFill>
                <a:effectLst/>
                <a:latin typeface="Söhne"/>
              </a:rPr>
              <a:t>thiết kế: Khả năng của một thành phần DBMS để quyết định về các vấn đề liên quan đến thiết kế của chính nó. </a:t>
            </a:r>
            <a:endParaRPr lang="en-US" b="0" i="0" dirty="0">
              <a:solidFill>
                <a:srgbClr val="374151"/>
              </a:solidFill>
              <a:effectLst/>
              <a:latin typeface="Söhne"/>
            </a:endParaRPr>
          </a:p>
          <a:p>
            <a:pPr lvl="1">
              <a:lnSpc>
                <a:spcPct val="120000"/>
              </a:lnSpc>
              <a:spcBef>
                <a:spcPct val="20000"/>
              </a:spcBef>
            </a:pPr>
            <a:r>
              <a:rPr lang="en-US" b="0" i="0" dirty="0">
                <a:solidFill>
                  <a:srgbClr val="374151"/>
                </a:solidFill>
                <a:effectLst/>
                <a:latin typeface="Söhne"/>
              </a:rPr>
              <a:t>		</a:t>
            </a:r>
            <a:r>
              <a:rPr lang="en-US" b="0" i="0" dirty="0" err="1">
                <a:solidFill>
                  <a:srgbClr val="374151"/>
                </a:solidFill>
                <a:effectLst/>
                <a:latin typeface="Söhne"/>
              </a:rPr>
              <a:t>Tự</a:t>
            </a:r>
            <a:r>
              <a:rPr lang="en-US" b="0" i="0" dirty="0">
                <a:solidFill>
                  <a:srgbClr val="374151"/>
                </a:solidFill>
                <a:effectLst/>
                <a:latin typeface="Söhne"/>
              </a:rPr>
              <a:t> </a:t>
            </a:r>
            <a:r>
              <a:rPr lang="en-US" b="0" i="0" dirty="0" err="1">
                <a:solidFill>
                  <a:srgbClr val="374151"/>
                </a:solidFill>
                <a:effectLst/>
                <a:latin typeface="Söhne"/>
              </a:rPr>
              <a:t>trị</a:t>
            </a:r>
            <a:r>
              <a:rPr lang="en-US" b="0" i="0" dirty="0">
                <a:solidFill>
                  <a:srgbClr val="374151"/>
                </a:solidFill>
                <a:effectLst/>
                <a:latin typeface="Söhne"/>
              </a:rPr>
              <a:t> </a:t>
            </a:r>
            <a:r>
              <a:rPr lang="vi-VN" b="0" i="0" dirty="0">
                <a:solidFill>
                  <a:srgbClr val="374151"/>
                </a:solidFill>
                <a:effectLst/>
                <a:latin typeface="Söhne"/>
              </a:rPr>
              <a:t>truyền thông: Khả năng của một thành phần DBMS để quyết định liệu có giao tiếp với các DBMS khác hay không, và cách thức giao tiếp đó. </a:t>
            </a:r>
            <a:endParaRPr lang="en-US" b="0" i="0" dirty="0">
              <a:solidFill>
                <a:srgbClr val="374151"/>
              </a:solidFill>
              <a:effectLst/>
              <a:latin typeface="Söhne"/>
            </a:endParaRPr>
          </a:p>
          <a:p>
            <a:pPr lvl="1">
              <a:lnSpc>
                <a:spcPct val="120000"/>
              </a:lnSpc>
              <a:spcBef>
                <a:spcPct val="20000"/>
              </a:spcBef>
            </a:pPr>
            <a:r>
              <a:rPr lang="en-US" b="0" i="0" dirty="0">
                <a:solidFill>
                  <a:srgbClr val="374151"/>
                </a:solidFill>
                <a:effectLst/>
                <a:latin typeface="Söhne"/>
              </a:rPr>
              <a:t>		</a:t>
            </a:r>
            <a:r>
              <a:rPr lang="en-US" b="0" i="0" dirty="0" err="1">
                <a:solidFill>
                  <a:srgbClr val="374151"/>
                </a:solidFill>
                <a:effectLst/>
                <a:latin typeface="Söhne"/>
              </a:rPr>
              <a:t>Tự</a:t>
            </a:r>
            <a:r>
              <a:rPr lang="en-US" b="0" i="0" dirty="0">
                <a:solidFill>
                  <a:srgbClr val="374151"/>
                </a:solidFill>
                <a:effectLst/>
                <a:latin typeface="Söhne"/>
              </a:rPr>
              <a:t> </a:t>
            </a:r>
            <a:r>
              <a:rPr lang="en-US" b="0" i="0" dirty="0" err="1">
                <a:solidFill>
                  <a:srgbClr val="374151"/>
                </a:solidFill>
                <a:effectLst/>
                <a:latin typeface="Söhne"/>
              </a:rPr>
              <a:t>trị</a:t>
            </a:r>
            <a:r>
              <a:rPr lang="vi-VN" b="0" i="0" dirty="0">
                <a:solidFill>
                  <a:srgbClr val="374151"/>
                </a:solidFill>
                <a:effectLst/>
                <a:latin typeface="Söhne"/>
              </a:rPr>
              <a:t> thực thi: Khả năng của một thành phần DBMS để thực thi các thao tác cục bộ theo bất kỳ cách nào mà nó muốn.</a:t>
            </a:r>
            <a:endParaRPr lang="en-US" dirty="0"/>
          </a:p>
        </p:txBody>
      </p:sp>
    </p:spTree>
    <p:extLst>
      <p:ext uri="{BB962C8B-B14F-4D97-AF65-F5344CB8AC3E}">
        <p14:creationId xmlns:p14="http://schemas.microsoft.com/office/powerpoint/2010/main" val="22030925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
        <p:nvSpPr>
          <p:cNvPr id="2" name="Notes Placeholder 1">
            <a:extLst>
              <a:ext uri="{FF2B5EF4-FFF2-40B4-BE49-F238E27FC236}">
                <a16:creationId xmlns:a16="http://schemas.microsoft.com/office/drawing/2014/main" id="{57DF8E93-BFBC-08A7-3FC0-C028F5E1E3F6}"/>
              </a:ext>
            </a:extLst>
          </p:cNvPr>
          <p:cNvSpPr>
            <a:spLocks noGrp="1"/>
          </p:cNvSpPr>
          <p:nvPr>
            <p:ph type="body" idx="1"/>
          </p:nvPr>
        </p:nvSpPr>
        <p:spPr/>
        <p:txBody>
          <a:bodyPr/>
          <a:lstStyle/>
          <a:p>
            <a:r>
              <a:rPr lang="vi-VN" b="0" i="0" dirty="0">
                <a:solidFill>
                  <a:srgbClr val="374151"/>
                </a:solidFill>
                <a:effectLst/>
                <a:latin typeface="Söhne"/>
              </a:rPr>
              <a:t>Lợi ích của kiến trúc máy chủ-khách hàng </a:t>
            </a:r>
            <a:endParaRPr lang="en-US" b="0" i="0" dirty="0">
              <a:solidFill>
                <a:srgbClr val="374151"/>
              </a:solidFill>
              <a:effectLst/>
              <a:latin typeface="Söhne"/>
            </a:endParaRPr>
          </a:p>
          <a:p>
            <a:r>
              <a:rPr lang="vi-VN" b="0" i="0" dirty="0">
                <a:solidFill>
                  <a:srgbClr val="374151"/>
                </a:solidFill>
                <a:effectLst/>
                <a:latin typeface="Söhne"/>
              </a:rPr>
              <a:t>Phân chia công việc hiệu quả hơn </a:t>
            </a:r>
            <a:endParaRPr lang="en-US" b="0" i="0" dirty="0">
              <a:solidFill>
                <a:srgbClr val="374151"/>
              </a:solidFill>
              <a:effectLst/>
              <a:latin typeface="Söhne"/>
            </a:endParaRPr>
          </a:p>
          <a:p>
            <a:r>
              <a:rPr lang="vi-VN" b="0" i="0" dirty="0">
                <a:solidFill>
                  <a:srgbClr val="374151"/>
                </a:solidFill>
                <a:effectLst/>
                <a:latin typeface="Söhne"/>
              </a:rPr>
              <a:t>Mở rộng tài nguyên theo chiều ngang và chiều dọc</a:t>
            </a:r>
            <a:endParaRPr lang="en-US" b="0" i="0" dirty="0">
              <a:solidFill>
                <a:srgbClr val="374151"/>
              </a:solidFill>
              <a:effectLst/>
              <a:latin typeface="Söhne"/>
            </a:endParaRPr>
          </a:p>
          <a:p>
            <a:r>
              <a:rPr lang="vi-VN" b="0" i="0" dirty="0">
                <a:solidFill>
                  <a:srgbClr val="374151"/>
                </a:solidFill>
                <a:effectLst/>
                <a:latin typeface="Söhne"/>
              </a:rPr>
              <a:t> Hiệu năng giá cả tốt hơn trên các máy khách </a:t>
            </a:r>
            <a:endParaRPr lang="en-US" b="0" i="0" dirty="0">
              <a:solidFill>
                <a:srgbClr val="374151"/>
              </a:solidFill>
              <a:effectLst/>
              <a:latin typeface="Söhne"/>
            </a:endParaRPr>
          </a:p>
          <a:p>
            <a:r>
              <a:rPr lang="vi-VN" b="0" i="0" dirty="0">
                <a:solidFill>
                  <a:srgbClr val="374151"/>
                </a:solidFill>
                <a:effectLst/>
                <a:latin typeface="Söhne"/>
              </a:rPr>
              <a:t>Khả năng sử dụng các công cụ quen thuộc trên các máy khách</a:t>
            </a:r>
            <a:endParaRPr lang="en-US" b="0" i="0" dirty="0">
              <a:solidFill>
                <a:srgbClr val="374151"/>
              </a:solidFill>
              <a:effectLst/>
              <a:latin typeface="Söhne"/>
            </a:endParaRPr>
          </a:p>
          <a:p>
            <a:r>
              <a:rPr lang="vi-VN" b="0" i="0" dirty="0">
                <a:solidFill>
                  <a:srgbClr val="374151"/>
                </a:solidFill>
                <a:effectLst/>
                <a:latin typeface="Söhne"/>
              </a:rPr>
              <a:t>Truy cập dữ liệu từ xa từ máy khách (thông qua tiêu chuẩn)</a:t>
            </a:r>
            <a:endParaRPr lang="en-US" b="0" i="0" dirty="0">
              <a:solidFill>
                <a:srgbClr val="374151"/>
              </a:solidFill>
              <a:effectLst/>
              <a:latin typeface="Söhne"/>
            </a:endParaRPr>
          </a:p>
          <a:p>
            <a:r>
              <a:rPr lang="vi-VN" b="0" i="0" dirty="0">
                <a:solidFill>
                  <a:srgbClr val="374151"/>
                </a:solidFill>
                <a:effectLst/>
                <a:latin typeface="Söhne"/>
              </a:rPr>
              <a:t> Cung cấp tính năng đầy đủ của DBMS cho máy tính văn phòng </a:t>
            </a:r>
            <a:endParaRPr lang="en-US" b="0" i="0" dirty="0">
              <a:solidFill>
                <a:srgbClr val="374151"/>
              </a:solidFill>
              <a:effectLst/>
              <a:latin typeface="Söhne"/>
            </a:endParaRPr>
          </a:p>
          <a:p>
            <a:r>
              <a:rPr lang="vi-VN" b="0" i="0" dirty="0">
                <a:solidFill>
                  <a:srgbClr val="374151"/>
                </a:solidFill>
                <a:effectLst/>
                <a:latin typeface="Söhne"/>
              </a:rPr>
              <a:t>Tổng quan hiệu năng giá cả hệ thống tốt hơn</a:t>
            </a:r>
            <a:endParaRPr lang="en-US" dirty="0"/>
          </a:p>
        </p:txBody>
      </p:sp>
    </p:spTree>
    <p:extLst>
      <p:ext uri="{BB962C8B-B14F-4D97-AF65-F5344CB8AC3E}">
        <p14:creationId xmlns:p14="http://schemas.microsoft.com/office/powerpoint/2010/main" val="40926520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47</a:t>
            </a:fld>
            <a:endParaRPr lang="en-US"/>
          </a:p>
        </p:txBody>
      </p:sp>
    </p:spTree>
    <p:extLst>
      <p:ext uri="{BB962C8B-B14F-4D97-AF65-F5344CB8AC3E}">
        <p14:creationId xmlns:p14="http://schemas.microsoft.com/office/powerpoint/2010/main" val="32840130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body" idx="1"/>
          </p:nvPr>
        </p:nvSpPr>
        <p:spPr>
          <a:ln/>
        </p:spPr>
        <p:txBody>
          <a:bodyPr/>
          <a:lstStyle/>
          <a:p>
            <a:r>
              <a:rPr lang="en-US" dirty="0"/>
              <a:t>Distributed Execution Monitor</a:t>
            </a:r>
          </a:p>
          <a:p>
            <a:r>
              <a:rPr lang="en-US" dirty="0"/>
              <a:t>( Theo </a:t>
            </a:r>
            <a:r>
              <a:rPr lang="en-US" dirty="0" err="1"/>
              <a:t>dõi</a:t>
            </a:r>
            <a:r>
              <a:rPr lang="en-US" dirty="0"/>
              <a:t> </a:t>
            </a:r>
            <a:r>
              <a:rPr lang="en-US" dirty="0" err="1"/>
              <a:t>thực</a:t>
            </a:r>
            <a:r>
              <a:rPr lang="en-US" dirty="0"/>
              <a:t> </a:t>
            </a:r>
            <a:r>
              <a:rPr lang="en-US" dirty="0" err="1"/>
              <a:t>thi</a:t>
            </a:r>
            <a:r>
              <a:rPr lang="en-US" dirty="0"/>
              <a:t> </a:t>
            </a:r>
            <a:r>
              <a:rPr lang="en-US" dirty="0" err="1"/>
              <a:t>phân</a:t>
            </a:r>
            <a:r>
              <a:rPr lang="en-US" dirty="0"/>
              <a:t> </a:t>
            </a:r>
            <a:r>
              <a:rPr lang="en-US" dirty="0" err="1"/>
              <a:t>tán</a:t>
            </a:r>
            <a:r>
              <a:rPr lang="en-US" dirty="0"/>
              <a:t>)</a:t>
            </a:r>
          </a:p>
        </p:txBody>
      </p:sp>
      <p:sp>
        <p:nvSpPr>
          <p:cNvPr id="53251" name="Rectangle 3"/>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11076372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5F5201-0B02-374C-9C85-2DCB7D098B21}" type="slidenum">
              <a:rPr lang="en-US" smtClean="0"/>
              <a:t>51</a:t>
            </a:fld>
            <a:endParaRPr lang="en-US"/>
          </a:p>
        </p:txBody>
      </p:sp>
    </p:spTree>
    <p:extLst>
      <p:ext uri="{BB962C8B-B14F-4D97-AF65-F5344CB8AC3E}">
        <p14:creationId xmlns:p14="http://schemas.microsoft.com/office/powerpoint/2010/main" val="19779935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0938" y="692150"/>
            <a:ext cx="4556125" cy="3416300"/>
          </a:xfrm>
          <a:ln cap="flat"/>
        </p:spPr>
      </p:sp>
      <p:sp>
        <p:nvSpPr>
          <p:cNvPr id="2" name="Notes Placeholder 1">
            <a:extLst>
              <a:ext uri="{FF2B5EF4-FFF2-40B4-BE49-F238E27FC236}">
                <a16:creationId xmlns:a16="http://schemas.microsoft.com/office/drawing/2014/main" id="{4BF3A87A-8529-0355-C58E-590AD4A50CE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127455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374151"/>
                </a:solidFill>
                <a:effectLst/>
                <a:latin typeface="Söhne"/>
              </a:rPr>
              <a:t>Kiến</a:t>
            </a:r>
            <a:r>
              <a:rPr lang="en-US" b="0" i="0" dirty="0">
                <a:solidFill>
                  <a:srgbClr val="374151"/>
                </a:solidFill>
                <a:effectLst/>
                <a:latin typeface="Söhne"/>
              </a:rPr>
              <a:t> </a:t>
            </a:r>
            <a:r>
              <a:rPr lang="en-US" b="0" i="0" dirty="0" err="1">
                <a:solidFill>
                  <a:srgbClr val="374151"/>
                </a:solidFill>
                <a:effectLst/>
                <a:latin typeface="Söhne"/>
              </a:rPr>
              <a:t>trúc</a:t>
            </a:r>
            <a:r>
              <a:rPr lang="en-US" b="0" i="0" dirty="0">
                <a:solidFill>
                  <a:srgbClr val="374151"/>
                </a:solidFill>
                <a:effectLst/>
                <a:latin typeface="Söhne"/>
              </a:rPr>
              <a:t> </a:t>
            </a:r>
            <a:r>
              <a:rPr lang="en-US" b="0" i="0" dirty="0" err="1">
                <a:solidFill>
                  <a:srgbClr val="374151"/>
                </a:solidFill>
                <a:effectLst/>
                <a:latin typeface="Söhne"/>
              </a:rPr>
              <a:t>Trung</a:t>
            </a:r>
            <a:r>
              <a:rPr lang="en-US" b="0" i="0" dirty="0">
                <a:solidFill>
                  <a:srgbClr val="374151"/>
                </a:solidFill>
                <a:effectLst/>
                <a:latin typeface="Söhne"/>
              </a:rPr>
              <a:t> </a:t>
            </a:r>
            <a:r>
              <a:rPr lang="en-US" b="0" i="0" dirty="0" err="1">
                <a:solidFill>
                  <a:srgbClr val="374151"/>
                </a:solidFill>
                <a:effectLst/>
                <a:latin typeface="Söhne"/>
              </a:rPr>
              <a:t>gian</a:t>
            </a:r>
            <a:r>
              <a:rPr lang="en-US" b="0" i="0" dirty="0">
                <a:solidFill>
                  <a:srgbClr val="374151"/>
                </a:solidFill>
                <a:effectLst/>
                <a:latin typeface="Söhne"/>
              </a:rPr>
              <a:t> (</a:t>
            </a:r>
            <a:r>
              <a:rPr lang="en-US" dirty="0" smtClean="0"/>
              <a:t>Mediator):</a:t>
            </a:r>
            <a:r>
              <a:rPr lang="en-US" baseline="0" dirty="0" smtClean="0"/>
              <a:t> </a:t>
            </a:r>
            <a:r>
              <a:rPr lang="vi-VN" sz="1200" b="0" i="0" kern="1200" dirty="0" smtClean="0">
                <a:solidFill>
                  <a:schemeClr val="tx1"/>
                </a:solidFill>
                <a:effectLst/>
                <a:latin typeface="+mn-lt"/>
                <a:ea typeface="+mn-ea"/>
                <a:cs typeface="+mn-cs"/>
              </a:rPr>
              <a:t>nơi đối tượng trung tâm (mediator) quản lý sự giao tiếp giữa các đối tượng khác mà không cần biết lẫn nhau</a:t>
            </a:r>
            <a:endParaRPr lang="en-US" b="0" i="0" dirty="0" smtClean="0">
              <a:solidFill>
                <a:srgbClr val="374151"/>
              </a:solidFill>
              <a:effectLst/>
              <a:latin typeface="Söhne"/>
            </a:endParaRPr>
          </a:p>
          <a:p>
            <a:r>
              <a:rPr lang="en-US" b="0" i="0" dirty="0" smtClean="0">
                <a:solidFill>
                  <a:srgbClr val="374151"/>
                </a:solidFill>
                <a:effectLst/>
                <a:latin typeface="Söhne"/>
              </a:rPr>
              <a:t>Wrapper: </a:t>
            </a:r>
            <a:r>
              <a:rPr lang="en-US" b="0" i="0" dirty="0" err="1" smtClean="0">
                <a:solidFill>
                  <a:srgbClr val="374151"/>
                </a:solidFill>
                <a:effectLst/>
                <a:latin typeface="Söhne"/>
              </a:rPr>
              <a:t>bao</a:t>
            </a:r>
            <a:r>
              <a:rPr lang="en-US" b="0" i="0" dirty="0" smtClean="0">
                <a:solidFill>
                  <a:srgbClr val="374151"/>
                </a:solidFill>
                <a:effectLst/>
                <a:latin typeface="Söhne"/>
              </a:rPr>
              <a:t> </a:t>
            </a:r>
            <a:r>
              <a:rPr lang="en-US" b="0" i="0" dirty="0" err="1" smtClean="0">
                <a:solidFill>
                  <a:srgbClr val="374151"/>
                </a:solidFill>
                <a:effectLst/>
                <a:latin typeface="Söhne"/>
              </a:rPr>
              <a:t>đóng</a:t>
            </a:r>
            <a:r>
              <a:rPr lang="en-US" b="0" i="0" dirty="0" smtClean="0">
                <a:solidFill>
                  <a:srgbClr val="374151"/>
                </a:solidFill>
                <a:effectLst/>
                <a:latin typeface="Söhne"/>
              </a:rPr>
              <a:t> </a:t>
            </a:r>
            <a:r>
              <a:rPr lang="en-US" sz="1200" b="0" i="0" kern="1200" dirty="0" err="1" smtClean="0">
                <a:solidFill>
                  <a:schemeClr val="tx1"/>
                </a:solidFill>
                <a:effectLst/>
                <a:latin typeface="+mn-lt"/>
                <a:ea typeface="+mn-ea"/>
                <a:cs typeface="+mn-cs"/>
              </a:rPr>
              <a:t>phần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mềm</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giúp</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truy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cập</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và</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xử</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lý</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dữ</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liệu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từ</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các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nguồn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khác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nhau</a:t>
            </a:r>
            <a:endParaRPr lang="en-US" b="0" i="0" dirty="0" smtClean="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765F5201-0B02-374C-9C85-2DCB7D098B21}" type="slidenum">
              <a:rPr lang="en-US" smtClean="0"/>
              <a:t>53</a:t>
            </a:fld>
            <a:endParaRPr lang="en-US"/>
          </a:p>
        </p:txBody>
      </p:sp>
    </p:spTree>
    <p:extLst>
      <p:ext uri="{BB962C8B-B14F-4D97-AF65-F5344CB8AC3E}">
        <p14:creationId xmlns:p14="http://schemas.microsoft.com/office/powerpoint/2010/main" val="2162926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Footer Placeholder 3">
            <a:extLst>
              <a:ext uri="{FF2B5EF4-FFF2-40B4-BE49-F238E27FC236}">
                <a16:creationId xmlns:a16="http://schemas.microsoft.com/office/drawing/2014/main" id="{00A45A7A-CA9E-A34B-8B0F-158A2E05A039}"/>
              </a:ext>
            </a:extLst>
          </p:cNvPr>
          <p:cNvSpPr>
            <a:spLocks noGrp="1"/>
          </p:cNvSpPr>
          <p:nvPr>
            <p:ph type="ftr" sz="quarter" idx="10"/>
          </p:nvPr>
        </p:nvSpPr>
        <p:spPr>
          <a:xfrm>
            <a:off x="323528" y="6356350"/>
            <a:ext cx="3086100" cy="365125"/>
          </a:xfrm>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872D88ED-A1BA-6943-87F1-EAE1351E9F38}"/>
              </a:ext>
            </a:extLst>
          </p:cNvPr>
          <p:cNvSpPr>
            <a:spLocks noGrp="1"/>
          </p:cNvSpPr>
          <p:nvPr>
            <p:ph type="sldNum" sz="quarter" idx="11"/>
          </p:nvPr>
        </p:nvSpPr>
        <p:spPr>
          <a:xfrm>
            <a:off x="6732240" y="6356350"/>
            <a:ext cx="2057400" cy="365125"/>
          </a:xfrm>
        </p:spPr>
        <p:txBody>
          <a:bodyPr/>
          <a:lstStyle/>
          <a:p>
            <a:fld id="{FD96158B-4539-3C43-9DE5-94C54786620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chemeClr val="accent6">
                  <a:lumMod val="50000"/>
                </a:schemeClr>
              </a:buClr>
              <a:buSzPct val="70000"/>
              <a:defRPr/>
            </a:lvl1pPr>
            <a:lvl2pPr>
              <a:buClr>
                <a:schemeClr val="accent6">
                  <a:lumMod val="50000"/>
                </a:schemeClr>
              </a:buClr>
              <a:buSzPct val="70000"/>
              <a:defRPr/>
            </a:lvl2pPr>
            <a:lvl3pPr>
              <a:buClr>
                <a:schemeClr val="accent6">
                  <a:lumMod val="50000"/>
                </a:schemeClr>
              </a:buClr>
              <a:buSzPct val="70000"/>
              <a:defRPr/>
            </a:lvl3pPr>
            <a:lvl4pPr>
              <a:buClr>
                <a:schemeClr val="accent6">
                  <a:lumMod val="50000"/>
                </a:schemeClr>
              </a:buClr>
              <a:buSzPct val="70000"/>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1"/>
          <p:cNvSpPr>
            <a:spLocks noGrp="1"/>
          </p:cNvSpPr>
          <p:nvPr>
            <p:ph type="ftr" sz="quarter" idx="3"/>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7" name="Slide Number Placeholder 2"/>
          <p:cNvSpPr>
            <a:spLocks noGrp="1"/>
          </p:cNvSpPr>
          <p:nvPr>
            <p:ph type="sldNum" sz="quarter" idx="4"/>
          </p:nvPr>
        </p:nvSpPr>
        <p:spPr>
          <a:xfrm>
            <a:off x="673224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buClr>
                <a:schemeClr val="accent6">
                  <a:lumMod val="50000"/>
                </a:schemeClr>
              </a:buClr>
              <a:buSzPct val="70000"/>
              <a:defRPr sz="2800"/>
            </a:lvl1pPr>
            <a:lvl2pPr>
              <a:buClr>
                <a:schemeClr val="accent6">
                  <a:lumMod val="50000"/>
                </a:schemeClr>
              </a:buClr>
              <a:buSzPct val="70000"/>
              <a:defRPr sz="2400"/>
            </a:lvl2pPr>
            <a:lvl3pPr>
              <a:buClr>
                <a:schemeClr val="accent6">
                  <a:lumMod val="50000"/>
                </a:schemeClr>
              </a:buClr>
              <a:buSzPct val="70000"/>
              <a:defRPr sz="2000"/>
            </a:lvl3pPr>
            <a:lvl4pPr>
              <a:buClr>
                <a:schemeClr val="accent6">
                  <a:lumMod val="50000"/>
                </a:schemeClr>
              </a:buCl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1"/>
          <p:cNvSpPr>
            <a:spLocks noGrp="1"/>
          </p:cNvSpPr>
          <p:nvPr>
            <p:ph type="ftr" sz="quarter" idx="3"/>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8" name="Slide Number Placeholder 2"/>
          <p:cNvSpPr>
            <a:spLocks noGrp="1"/>
          </p:cNvSpPr>
          <p:nvPr>
            <p:ph type="sldNum" sz="quarter" idx="4"/>
          </p:nvPr>
        </p:nvSpPr>
        <p:spPr>
          <a:xfrm>
            <a:off x="673224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
        <p:nvSpPr>
          <p:cNvPr id="10" name="Content Placeholder 2">
            <a:extLst>
              <a:ext uri="{FF2B5EF4-FFF2-40B4-BE49-F238E27FC236}">
                <a16:creationId xmlns:a16="http://schemas.microsoft.com/office/drawing/2014/main" id="{A36671C9-F961-394A-BBEC-D04FF25DDA72}"/>
              </a:ext>
            </a:extLst>
          </p:cNvPr>
          <p:cNvSpPr>
            <a:spLocks noGrp="1"/>
          </p:cNvSpPr>
          <p:nvPr>
            <p:ph sz="half" idx="10"/>
          </p:nvPr>
        </p:nvSpPr>
        <p:spPr>
          <a:xfrm>
            <a:off x="4648202" y="1584633"/>
            <a:ext cx="4038600" cy="4530725"/>
          </a:xfrm>
        </p:spPr>
        <p:txBody>
          <a:bodyPr/>
          <a:lstStyle>
            <a:lvl1pPr>
              <a:buClr>
                <a:schemeClr val="accent6">
                  <a:lumMod val="50000"/>
                </a:schemeClr>
              </a:buClr>
              <a:buSzPct val="70000"/>
              <a:defRPr sz="2800"/>
            </a:lvl1pPr>
            <a:lvl2pPr>
              <a:buClr>
                <a:schemeClr val="accent6">
                  <a:lumMod val="50000"/>
                </a:schemeClr>
              </a:buClr>
              <a:buSzPct val="70000"/>
              <a:defRPr sz="2400"/>
            </a:lvl2pPr>
            <a:lvl3pPr>
              <a:buClr>
                <a:schemeClr val="accent6">
                  <a:lumMod val="50000"/>
                </a:schemeClr>
              </a:buClr>
              <a:buSzPct val="70000"/>
              <a:defRPr sz="2000"/>
            </a:lvl3pPr>
            <a:lvl4pPr>
              <a:buClr>
                <a:schemeClr val="accent6">
                  <a:lumMod val="50000"/>
                </a:schemeClr>
              </a:buCl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buClr>
                <a:schemeClr val="accent6">
                  <a:lumMod val="50000"/>
                </a:schemeClr>
              </a:buClr>
              <a:buSzPct val="70000"/>
              <a:defRPr sz="2400"/>
            </a:lvl1pPr>
            <a:lvl2pPr>
              <a:buClr>
                <a:schemeClr val="accent6">
                  <a:lumMod val="50000"/>
                </a:schemeClr>
              </a:buClr>
              <a:buSzPct val="70000"/>
              <a:defRPr sz="2000"/>
            </a:lvl2pPr>
            <a:lvl3pPr>
              <a:buClr>
                <a:schemeClr val="accent6">
                  <a:lumMod val="50000"/>
                </a:schemeClr>
              </a:buClr>
              <a:buSzPct val="70000"/>
              <a:defRPr sz="1800"/>
            </a:lvl3pPr>
            <a:lvl4pPr>
              <a:buClr>
                <a:schemeClr val="accent6">
                  <a:lumMod val="50000"/>
                </a:schemeClr>
              </a:buCl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Footer Placeholder 1"/>
          <p:cNvSpPr>
            <a:spLocks noGrp="1"/>
          </p:cNvSpPr>
          <p:nvPr>
            <p:ph type="ftr" sz="quarter" idx="10"/>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10" name="Slide Number Placeholder 2"/>
          <p:cNvSpPr>
            <a:spLocks noGrp="1"/>
          </p:cNvSpPr>
          <p:nvPr>
            <p:ph type="sldNum" sz="quarter" idx="11"/>
          </p:nvPr>
        </p:nvSpPr>
        <p:spPr>
          <a:xfrm>
            <a:off x="6804248"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
        <p:nvSpPr>
          <p:cNvPr id="11" name="Content Placeholder 3">
            <a:extLst>
              <a:ext uri="{FF2B5EF4-FFF2-40B4-BE49-F238E27FC236}">
                <a16:creationId xmlns:a16="http://schemas.microsoft.com/office/drawing/2014/main" id="{51898894-D16A-0342-A17E-BE71431F1BAE}"/>
              </a:ext>
            </a:extLst>
          </p:cNvPr>
          <p:cNvSpPr>
            <a:spLocks noGrp="1"/>
          </p:cNvSpPr>
          <p:nvPr>
            <p:ph sz="half" idx="12"/>
          </p:nvPr>
        </p:nvSpPr>
        <p:spPr>
          <a:xfrm>
            <a:off x="4646612" y="2174875"/>
            <a:ext cx="4040188" cy="3951288"/>
          </a:xfrm>
        </p:spPr>
        <p:txBody>
          <a:bodyPr/>
          <a:lstStyle>
            <a:lvl1pPr>
              <a:buClr>
                <a:schemeClr val="accent6">
                  <a:lumMod val="50000"/>
                </a:schemeClr>
              </a:buClr>
              <a:buSzPct val="70000"/>
              <a:defRPr sz="2400"/>
            </a:lvl1pPr>
            <a:lvl2pPr>
              <a:buClr>
                <a:schemeClr val="accent6">
                  <a:lumMod val="50000"/>
                </a:schemeClr>
              </a:buClr>
              <a:buSzPct val="70000"/>
              <a:defRPr sz="2000"/>
            </a:lvl2pPr>
            <a:lvl3pPr>
              <a:buClr>
                <a:schemeClr val="accent6">
                  <a:lumMod val="50000"/>
                </a:schemeClr>
              </a:buClr>
              <a:buSzPct val="70000"/>
              <a:defRPr sz="1800"/>
            </a:lvl3pPr>
            <a:lvl4pPr>
              <a:buClr>
                <a:schemeClr val="accent6">
                  <a:lumMod val="50000"/>
                </a:schemeClr>
              </a:buCl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1"/>
          <p:cNvSpPr>
            <a:spLocks noGrp="1"/>
          </p:cNvSpPr>
          <p:nvPr>
            <p:ph type="ftr" sz="quarter" idx="3"/>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6" name="Slide Number Placeholder 2"/>
          <p:cNvSpPr>
            <a:spLocks noGrp="1"/>
          </p:cNvSpPr>
          <p:nvPr>
            <p:ph type="sldNum" sz="quarter" idx="4"/>
          </p:nvPr>
        </p:nvSpPr>
        <p:spPr>
          <a:xfrm>
            <a:off x="6804248"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1"/>
          <p:cNvSpPr>
            <a:spLocks noGrp="1"/>
          </p:cNvSpPr>
          <p:nvPr>
            <p:ph type="ftr" sz="quarter" idx="3"/>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5" name="Slide Number Placeholder 2"/>
          <p:cNvSpPr>
            <a:spLocks noGrp="1"/>
          </p:cNvSpPr>
          <p:nvPr>
            <p:ph type="sldNum" sz="quarter" idx="4"/>
          </p:nvPr>
        </p:nvSpPr>
        <p:spPr>
          <a:xfrm>
            <a:off x="6804248"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Clr>
                <a:schemeClr val="accent6">
                  <a:lumMod val="50000"/>
                </a:schemeClr>
              </a:buClr>
              <a:buSzPct val="70000"/>
              <a:defRPr sz="3200"/>
            </a:lvl1pPr>
            <a:lvl2pPr>
              <a:buClr>
                <a:schemeClr val="accent6">
                  <a:lumMod val="50000"/>
                </a:schemeClr>
              </a:buClr>
              <a:buSzPct val="70000"/>
              <a:defRPr sz="2800"/>
            </a:lvl2pPr>
            <a:lvl3pPr>
              <a:buClr>
                <a:schemeClr val="accent6">
                  <a:lumMod val="50000"/>
                </a:schemeClr>
              </a:buClr>
              <a:buSzPct val="70000"/>
              <a:defRPr sz="2400"/>
            </a:lvl3pPr>
            <a:lvl4pPr>
              <a:buClr>
                <a:schemeClr val="accent6">
                  <a:lumMod val="50000"/>
                </a:schemeClr>
              </a:buCl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Footer Placeholder 1"/>
          <p:cNvSpPr>
            <a:spLocks noGrp="1"/>
          </p:cNvSpPr>
          <p:nvPr>
            <p:ph type="ftr" sz="quarter" idx="3"/>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8" name="Slide Number Placeholder 2"/>
          <p:cNvSpPr>
            <a:spLocks noGrp="1"/>
          </p:cNvSpPr>
          <p:nvPr>
            <p:ph type="sldNum" sz="quarter" idx="4"/>
          </p:nvPr>
        </p:nvSpPr>
        <p:spPr>
          <a:xfrm>
            <a:off x="6804248"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Footer Placeholder 1"/>
          <p:cNvSpPr>
            <a:spLocks noGrp="1"/>
          </p:cNvSpPr>
          <p:nvPr>
            <p:ph type="ftr" sz="quarter" idx="3"/>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8" name="Slide Number Placeholder 2"/>
          <p:cNvSpPr>
            <a:spLocks noGrp="1"/>
          </p:cNvSpPr>
          <p:nvPr>
            <p:ph type="sldNum" sz="quarter" idx="4"/>
          </p:nvPr>
        </p:nvSpPr>
        <p:spPr>
          <a:xfrm>
            <a:off x="6804248"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Clr>
                <a:schemeClr val="accent6">
                  <a:lumMod val="50000"/>
                </a:schemeClr>
              </a:buClr>
              <a:buSzPct val="70000"/>
              <a:defRPr/>
            </a:lvl1pPr>
            <a:lvl2pPr>
              <a:buClr>
                <a:schemeClr val="accent6">
                  <a:lumMod val="50000"/>
                </a:schemeClr>
              </a:buClr>
              <a:buSzPct val="70000"/>
              <a:defRPr/>
            </a:lvl2pPr>
            <a:lvl3pPr>
              <a:buClr>
                <a:schemeClr val="accent6">
                  <a:lumMod val="50000"/>
                </a:schemeClr>
              </a:buClr>
              <a:buSzPct val="70000"/>
              <a:defRPr/>
            </a:lvl3pPr>
            <a:lvl4pPr>
              <a:buClr>
                <a:schemeClr val="accent6">
                  <a:lumMod val="50000"/>
                </a:schemeClr>
              </a:buCl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1"/>
          <p:cNvSpPr>
            <a:spLocks noGrp="1"/>
          </p:cNvSpPr>
          <p:nvPr>
            <p:ph type="ftr" sz="quarter" idx="3"/>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7" name="Slide Number Placeholder 2"/>
          <p:cNvSpPr>
            <a:spLocks noGrp="1"/>
          </p:cNvSpPr>
          <p:nvPr>
            <p:ph type="sldNum" sz="quarter" idx="4"/>
          </p:nvPr>
        </p:nvSpPr>
        <p:spPr>
          <a:xfrm>
            <a:off x="6804248"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lvl1pPr>
              <a:buClr>
                <a:schemeClr val="accent6">
                  <a:lumMod val="50000"/>
                </a:schemeClr>
              </a:buClr>
              <a:buSzPct val="70000"/>
              <a:defRPr/>
            </a:lvl1pPr>
            <a:lvl2pPr>
              <a:buClr>
                <a:schemeClr val="accent6">
                  <a:lumMod val="50000"/>
                </a:schemeClr>
              </a:buClr>
              <a:buSzPct val="70000"/>
              <a:defRPr/>
            </a:lvl2pPr>
            <a:lvl3pPr>
              <a:buClr>
                <a:schemeClr val="accent6">
                  <a:lumMod val="50000"/>
                </a:schemeClr>
              </a:buClr>
              <a:buSzPct val="70000"/>
              <a:defRPr/>
            </a:lvl3pPr>
            <a:lvl4pPr>
              <a:buClr>
                <a:schemeClr val="accent6">
                  <a:lumMod val="50000"/>
                </a:schemeClr>
              </a:buCl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1"/>
          <p:cNvSpPr>
            <a:spLocks noGrp="1"/>
          </p:cNvSpPr>
          <p:nvPr>
            <p:ph type="ftr" sz="quarter" idx="3"/>
          </p:nvPr>
        </p:nvSpPr>
        <p:spPr>
          <a:xfrm>
            <a:off x="405780"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7" name="Slide Number Placeholder 2"/>
          <p:cNvSpPr>
            <a:spLocks noGrp="1"/>
          </p:cNvSpPr>
          <p:nvPr>
            <p:ph type="sldNum" sz="quarter" idx="4"/>
          </p:nvPr>
        </p:nvSpPr>
        <p:spPr>
          <a:xfrm>
            <a:off x="6804248"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rgbClr val="CC9900"/>
            </a:solidFill>
            <a:prstDash val="solid"/>
            <a:miter lim="800000"/>
            <a:headEnd/>
            <a:tailEnd/>
          </a:ln>
        </p:spPr>
        <p:txBody>
          <a:bodyPr>
            <a:prstTxWarp prst="textNoShape">
              <a:avLst/>
            </a:prstTxWarp>
          </a:bodyPr>
          <a:lstStyle/>
          <a:p>
            <a:endParaRPr lang="en-US"/>
          </a:p>
        </p:txBody>
      </p:sp>
      <p:sp>
        <p:nvSpPr>
          <p:cNvPr id="1032" name="Line 8"/>
          <p:cNvSpPr>
            <a:spLocks noChangeShapeType="1"/>
          </p:cNvSpPr>
          <p:nvPr/>
        </p:nvSpPr>
        <p:spPr bwMode="auto">
          <a:xfrm>
            <a:off x="457200" y="6172200"/>
            <a:ext cx="8229600" cy="0"/>
          </a:xfrm>
          <a:prstGeom prst="line">
            <a:avLst/>
          </a:prstGeom>
          <a:noFill/>
          <a:ln w="19050">
            <a:solidFill>
              <a:srgbClr val="CC9900"/>
            </a:solidFill>
            <a:round/>
            <a:headEnd/>
            <a:tailEnd/>
          </a:ln>
          <a:effectLst/>
        </p:spPr>
        <p:txBody>
          <a:bodyPr>
            <a:prstTxWarp prst="textNoShape">
              <a:avLst/>
            </a:prstTxWarp>
          </a:bodyPr>
          <a:lstStyle/>
          <a:p>
            <a:endParaRPr lang="en-US"/>
          </a:p>
        </p:txBody>
      </p:sp>
      <p:sp>
        <p:nvSpPr>
          <p:cNvPr id="1033" name="Rectangle 9"/>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a:t>Click to edit Master title style</a:t>
            </a:r>
          </a:p>
        </p:txBody>
      </p:sp>
      <p:sp>
        <p:nvSpPr>
          <p:cNvPr id="1034" name="Rectangle 10"/>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ltLang="zh-CN" dirty="0"/>
          </a:p>
        </p:txBody>
      </p:sp>
      <p:sp>
        <p:nvSpPr>
          <p:cNvPr id="2" name="Footer Placeholder 1"/>
          <p:cNvSpPr>
            <a:spLocks noGrp="1"/>
          </p:cNvSpPr>
          <p:nvPr>
            <p:ph type="ftr" sz="quarter" idx="3"/>
          </p:nvPr>
        </p:nvSpPr>
        <p:spPr>
          <a:xfrm>
            <a:off x="107504" y="6356350"/>
            <a:ext cx="30861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2020, M.T. Özsu &amp; P. Valduriez TS. Pan Thị Hà_PTIT</a:t>
            </a:r>
            <a:endParaRPr lang="en-US" dirty="0"/>
          </a:p>
        </p:txBody>
      </p:sp>
      <p:sp>
        <p:nvSpPr>
          <p:cNvPr id="3" name="Slide Number Placeholder 2"/>
          <p:cNvSpPr>
            <a:spLocks noGrp="1"/>
          </p:cNvSpPr>
          <p:nvPr>
            <p:ph type="sldNum" sz="quarter" idx="4"/>
          </p:nvPr>
        </p:nvSpPr>
        <p:spPr>
          <a:xfrm>
            <a:off x="706278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6158B-4539-3C43-9DE5-94C54786620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dt="0"/>
  <p:txStyles>
    <p:titleStyle>
      <a:lvl1pPr algn="l" rtl="0" eaLnBrk="1" fontAlgn="base" hangingPunct="1">
        <a:spcBef>
          <a:spcPct val="0"/>
        </a:spcBef>
        <a:spcAft>
          <a:spcPct val="0"/>
        </a:spcAft>
        <a:defRPr sz="3600">
          <a:solidFill>
            <a:schemeClr val="accent6">
              <a:lumMod val="50000"/>
            </a:schemeClr>
          </a:solidFill>
          <a:latin typeface="+mj-lt"/>
          <a:ea typeface="+mj-ea"/>
          <a:cs typeface="+mj-cs"/>
        </a:defRPr>
      </a:lvl1pPr>
      <a:lvl2pPr algn="ctr" rtl="0" eaLnBrk="1" fontAlgn="base" hangingPunct="1">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2pPr>
      <a:lvl3pPr algn="ctr" rtl="0" eaLnBrk="1" fontAlgn="base" hangingPunct="1">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3pPr>
      <a:lvl4pPr algn="ctr" rtl="0" eaLnBrk="1" fontAlgn="base" hangingPunct="1">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4pPr>
      <a:lvl5pPr algn="ctr" rtl="0" eaLnBrk="1" fontAlgn="base" hangingPunct="1">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5pPr>
      <a:lvl6pPr marL="457200" algn="ctr" rtl="0" eaLnBrk="1" fontAlgn="base" hangingPunct="1">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6pPr>
      <a:lvl7pPr marL="914400" algn="ctr" rtl="0" eaLnBrk="1" fontAlgn="base" hangingPunct="1">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7pPr>
      <a:lvl8pPr marL="1371600" algn="ctr" rtl="0" eaLnBrk="1" fontAlgn="base" hangingPunct="1">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8pPr>
      <a:lvl9pPr marL="1828800" algn="ctr" rtl="0" eaLnBrk="1" fontAlgn="base" hangingPunct="1">
        <a:spcBef>
          <a:spcPct val="0"/>
        </a:spcBef>
        <a:spcAft>
          <a:spcPct val="0"/>
        </a:spcAft>
        <a:defRPr sz="4400">
          <a:solidFill>
            <a:schemeClr val="tx2"/>
          </a:solidFill>
          <a:latin typeface="Arial" pitchFamily="-108" charset="0"/>
          <a:ea typeface="ＭＳ Ｐゴシック" pitchFamily="-108" charset="-128"/>
          <a:cs typeface="ＭＳ Ｐゴシック" pitchFamily="-108" charset="-128"/>
        </a:defRPr>
      </a:lvl9pPr>
    </p:titleStyle>
    <p:bodyStyle>
      <a:lvl1pPr marL="342900" indent="-342900" algn="l" rtl="0" eaLnBrk="1" fontAlgn="base" hangingPunct="1">
        <a:spcBef>
          <a:spcPct val="20000"/>
        </a:spcBef>
        <a:spcAft>
          <a:spcPct val="0"/>
        </a:spcAft>
        <a:buClr>
          <a:srgbClr val="CC9900"/>
        </a:buClr>
        <a:buSzPct val="65000"/>
        <a:buFont typeface="Wingdings" pitchFamily="-108" charset="2"/>
        <a:buChar char="n"/>
        <a:defRPr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238038"/>
        </a:buClr>
        <a:buSzPct val="60000"/>
        <a:buFont typeface="Wingdings" pitchFamily="-108" charset="2"/>
        <a:buChar char="q"/>
        <a:defRPr sz="2000">
          <a:solidFill>
            <a:schemeClr val="tx1"/>
          </a:solidFill>
          <a:latin typeface="+mn-lt"/>
          <a:ea typeface="+mn-ea"/>
        </a:defRPr>
      </a:lvl2pPr>
      <a:lvl3pPr marL="1143000" indent="-228600" algn="l" rtl="0" eaLnBrk="1" fontAlgn="base" hangingPunct="1">
        <a:spcBef>
          <a:spcPct val="20000"/>
        </a:spcBef>
        <a:spcAft>
          <a:spcPct val="0"/>
        </a:spcAft>
        <a:buClr>
          <a:srgbClr val="CC9900"/>
        </a:buClr>
        <a:buSzPct val="65000"/>
        <a:buFont typeface="Wingdings" pitchFamily="-108" charset="2"/>
        <a:buChar char="n"/>
        <a:defRPr sz="1800">
          <a:solidFill>
            <a:schemeClr val="tx1"/>
          </a:solidFill>
          <a:latin typeface="+mn-lt"/>
          <a:ea typeface="+mn-ea"/>
        </a:defRPr>
      </a:lvl3pPr>
      <a:lvl4pPr marL="1600200" indent="-228600" algn="l" rtl="0" eaLnBrk="1" fontAlgn="base" hangingPunct="1">
        <a:spcBef>
          <a:spcPct val="20000"/>
        </a:spcBef>
        <a:spcAft>
          <a:spcPct val="0"/>
        </a:spcAft>
        <a:buClr>
          <a:srgbClr val="238038"/>
        </a:buClr>
        <a:buSzPct val="70000"/>
        <a:buFont typeface="Wingdings" pitchFamily="-108" charset="2"/>
        <a:buChar char="q"/>
        <a:defRPr sz="1600">
          <a:solidFill>
            <a:schemeClr val="tx1"/>
          </a:solidFill>
          <a:latin typeface="+mn-lt"/>
          <a:ea typeface="+mn-ea"/>
        </a:defRPr>
      </a:lvl4pPr>
      <a:lvl5pPr marL="2057400" indent="-228600" algn="l" rtl="0" eaLnBrk="1" fontAlgn="base" hangingPunct="1">
        <a:spcBef>
          <a:spcPct val="20000"/>
        </a:spcBef>
        <a:spcAft>
          <a:spcPct val="0"/>
        </a:spcAft>
        <a:buClr>
          <a:srgbClr val="CC9900"/>
        </a:buClr>
        <a:buSzPct val="75000"/>
        <a:buFont typeface="Wingdings" pitchFamily="-108" charset="2"/>
        <a:defRPr sz="1600">
          <a:solidFill>
            <a:schemeClr val="tx1"/>
          </a:solidFill>
          <a:latin typeface="+mn-lt"/>
          <a:ea typeface="+mn-ea"/>
        </a:defRPr>
      </a:lvl5pPr>
      <a:lvl6pPr marL="2514600" indent="-228600" algn="l" rtl="0" eaLnBrk="1" fontAlgn="base" hangingPunct="1">
        <a:spcBef>
          <a:spcPct val="20000"/>
        </a:spcBef>
        <a:spcAft>
          <a:spcPct val="0"/>
        </a:spcAft>
        <a:buClr>
          <a:srgbClr val="CC9900"/>
        </a:buClr>
        <a:buSzPct val="75000"/>
        <a:buFont typeface="Wingdings" pitchFamily="-108" charset="2"/>
        <a:defRPr sz="2000">
          <a:solidFill>
            <a:schemeClr val="tx1"/>
          </a:solidFill>
          <a:latin typeface="+mn-lt"/>
          <a:ea typeface="+mn-ea"/>
        </a:defRPr>
      </a:lvl6pPr>
      <a:lvl7pPr marL="2971800" indent="-228600" algn="l" rtl="0" eaLnBrk="1" fontAlgn="base" hangingPunct="1">
        <a:spcBef>
          <a:spcPct val="20000"/>
        </a:spcBef>
        <a:spcAft>
          <a:spcPct val="0"/>
        </a:spcAft>
        <a:buClr>
          <a:srgbClr val="CC9900"/>
        </a:buClr>
        <a:buSzPct val="75000"/>
        <a:buFont typeface="Wingdings" pitchFamily="-108" charset="2"/>
        <a:defRPr sz="2000">
          <a:solidFill>
            <a:schemeClr val="tx1"/>
          </a:solidFill>
          <a:latin typeface="+mn-lt"/>
          <a:ea typeface="+mn-ea"/>
        </a:defRPr>
      </a:lvl7pPr>
      <a:lvl8pPr marL="3429000" indent="-228600" algn="l" rtl="0" eaLnBrk="1" fontAlgn="base" hangingPunct="1">
        <a:spcBef>
          <a:spcPct val="20000"/>
        </a:spcBef>
        <a:spcAft>
          <a:spcPct val="0"/>
        </a:spcAft>
        <a:buClr>
          <a:srgbClr val="CC9900"/>
        </a:buClr>
        <a:buSzPct val="75000"/>
        <a:buFont typeface="Wingdings" pitchFamily="-108" charset="2"/>
        <a:defRPr sz="2000">
          <a:solidFill>
            <a:schemeClr val="tx1"/>
          </a:solidFill>
          <a:latin typeface="+mn-lt"/>
          <a:ea typeface="+mn-ea"/>
        </a:defRPr>
      </a:lvl8pPr>
      <a:lvl9pPr marL="3886200" indent="-228600" algn="l" rtl="0" eaLnBrk="1" fontAlgn="base" hangingPunct="1">
        <a:spcBef>
          <a:spcPct val="20000"/>
        </a:spcBef>
        <a:spcAft>
          <a:spcPct val="0"/>
        </a:spcAft>
        <a:buClr>
          <a:srgbClr val="CC9900"/>
        </a:buClr>
        <a:buSzPct val="75000"/>
        <a:buFont typeface="Wingdings" pitchFamily="-108" charset="2"/>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1.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2286000"/>
            <a:ext cx="7772400" cy="1143000"/>
          </a:xfrm>
        </p:spPr>
        <p:txBody>
          <a:bodyPr/>
          <a:lstStyle/>
          <a:p>
            <a:r>
              <a:rPr lang="en-US" dirty="0"/>
              <a:t>Principles of Distributed Database Systems</a:t>
            </a:r>
          </a:p>
        </p:txBody>
      </p:sp>
      <p:sp>
        <p:nvSpPr>
          <p:cNvPr id="2051" name="Rectangle 3"/>
          <p:cNvSpPr>
            <a:spLocks noGrp="1" noChangeArrowheads="1"/>
          </p:cNvSpPr>
          <p:nvPr>
            <p:ph type="subTitle" idx="1"/>
          </p:nvPr>
        </p:nvSpPr>
        <p:spPr>
          <a:xfrm>
            <a:off x="1403648" y="3861048"/>
            <a:ext cx="6400800" cy="1752600"/>
          </a:xfrm>
        </p:spPr>
        <p:txBody>
          <a:bodyPr/>
          <a:lstStyle/>
          <a:p>
            <a:r>
              <a:rPr lang="en-US" dirty="0"/>
              <a:t>TS. Phan </a:t>
            </a:r>
            <a:r>
              <a:rPr lang="en-US" dirty="0" err="1"/>
              <a:t>Thị</a:t>
            </a:r>
            <a:r>
              <a:rPr lang="en-US" dirty="0"/>
              <a:t> </a:t>
            </a:r>
            <a:r>
              <a:rPr lang="en-US" dirty="0" err="1"/>
              <a:t>Hà</a:t>
            </a:r>
            <a:endParaRPr lang="en-US" dirty="0"/>
          </a:p>
          <a:p>
            <a:r>
              <a:rPr lang="en-US" dirty="0"/>
              <a:t>Khoa CNTT. PTIT</a:t>
            </a:r>
          </a:p>
        </p:txBody>
      </p:sp>
      <p:sp>
        <p:nvSpPr>
          <p:cNvPr id="2" name="Footer Placeholder 1">
            <a:extLst>
              <a:ext uri="{FF2B5EF4-FFF2-40B4-BE49-F238E27FC236}">
                <a16:creationId xmlns:a16="http://schemas.microsoft.com/office/drawing/2014/main" id="{43F55C07-B623-DB43-9943-7F15C469C2DD}"/>
              </a:ext>
            </a:extLst>
          </p:cNvPr>
          <p:cNvSpPr>
            <a:spLocks noGrp="1"/>
          </p:cNvSpPr>
          <p:nvPr>
            <p:ph type="ftr" sz="quarter" idx="10"/>
          </p:nvPr>
        </p:nvSpPr>
        <p:spPr/>
        <p:txBody>
          <a:bodyPr/>
          <a:lstStyle/>
          <a:p>
            <a:r>
              <a:rPr lang="en-US" dirty="0"/>
              <a:t>© 2020, M.T. </a:t>
            </a:r>
            <a:r>
              <a:rPr lang="en-US" dirty="0" err="1"/>
              <a:t>Özsu</a:t>
            </a:r>
            <a:r>
              <a:rPr lang="en-US" dirty="0"/>
              <a:t> &amp; P. </a:t>
            </a:r>
            <a:r>
              <a:rPr lang="en-US" dirty="0" err="1"/>
              <a:t>Valduriez</a:t>
            </a:r>
            <a:r>
              <a:rPr lang="en-US" dirty="0"/>
              <a:t> TS. Pan </a:t>
            </a:r>
            <a:r>
              <a:rPr lang="en-US" dirty="0" err="1"/>
              <a:t>Thị</a:t>
            </a:r>
            <a:r>
              <a:rPr lang="en-US" dirty="0"/>
              <a:t> </a:t>
            </a:r>
            <a:r>
              <a:rPr lang="en-US" dirty="0" err="1"/>
              <a:t>Hà_PTIT</a:t>
            </a:r>
            <a:endParaRPr lang="en-US" dirty="0"/>
          </a:p>
        </p:txBody>
      </p:sp>
      <p:sp>
        <p:nvSpPr>
          <p:cNvPr id="3" name="Slide Number Placeholder 2">
            <a:extLst>
              <a:ext uri="{FF2B5EF4-FFF2-40B4-BE49-F238E27FC236}">
                <a16:creationId xmlns:a16="http://schemas.microsoft.com/office/drawing/2014/main" id="{2330F6D8-D89B-CF45-A452-1BB07F41C267}"/>
              </a:ext>
            </a:extLst>
          </p:cNvPr>
          <p:cNvSpPr>
            <a:spLocks noGrp="1"/>
          </p:cNvSpPr>
          <p:nvPr>
            <p:ph type="sldNum" sz="quarter" idx="11"/>
          </p:nvPr>
        </p:nvSpPr>
        <p:spPr/>
        <p:txBody>
          <a:bodyPr/>
          <a:lstStyle/>
          <a:p>
            <a:fld id="{FD96158B-4539-3C43-9DE5-94C547866200}" type="slidenum">
              <a:rPr lang="en-US" smtClean="0"/>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dirty="0"/>
              <a:t>Outline</a:t>
            </a:r>
          </a:p>
        </p:txBody>
      </p:sp>
      <p:sp>
        <p:nvSpPr>
          <p:cNvPr id="15362" name="Rectangle 2"/>
          <p:cNvSpPr>
            <a:spLocks noGrp="1" noChangeArrowheads="1"/>
          </p:cNvSpPr>
          <p:nvPr>
            <p:ph idx="1"/>
          </p:nvPr>
        </p:nvSpPr>
        <p:spPr>
          <a:xfrm>
            <a:off x="457200" y="1268760"/>
            <a:ext cx="8229600" cy="4862165"/>
          </a:xfrm>
          <a:ln/>
        </p:spPr>
        <p:txBody>
          <a:bodyPr>
            <a:normAutofit lnSpcReduction="10000"/>
          </a:bodyPr>
          <a:lstStyle/>
          <a:p>
            <a:r>
              <a:rPr lang="en-US" dirty="0">
                <a:solidFill>
                  <a:srgbClr val="1771A9"/>
                </a:solidFill>
                <a:cs typeface="Book Antiqua"/>
              </a:rPr>
              <a:t>Introduction</a:t>
            </a:r>
          </a:p>
          <a:p>
            <a:r>
              <a:rPr lang="en-US" dirty="0">
                <a:cs typeface="Book Antiqua"/>
              </a:rPr>
              <a:t>Distributed and Parallel Database Design</a:t>
            </a:r>
          </a:p>
          <a:p>
            <a:r>
              <a:rPr lang="en-US" dirty="0">
                <a:cs typeface="Book Antiqua"/>
              </a:rPr>
              <a:t>Distributed Data Control</a:t>
            </a:r>
          </a:p>
          <a:p>
            <a:r>
              <a:rPr lang="en-US" dirty="0">
                <a:cs typeface="Book Antiqua"/>
              </a:rPr>
              <a:t>Distributed Query Processing</a:t>
            </a:r>
          </a:p>
          <a:p>
            <a:r>
              <a:rPr lang="en-US" dirty="0">
                <a:cs typeface="Book Antiqua"/>
              </a:rPr>
              <a:t>Distributed Transaction Processing</a:t>
            </a:r>
          </a:p>
          <a:p>
            <a:r>
              <a:rPr lang="en-US" dirty="0">
                <a:cs typeface="Book Antiqua"/>
              </a:rPr>
              <a:t>Data Replication</a:t>
            </a:r>
          </a:p>
          <a:p>
            <a:r>
              <a:rPr lang="en-US" dirty="0">
                <a:cs typeface="Book Antiqua"/>
              </a:rPr>
              <a:t>Database Integration – </a:t>
            </a:r>
            <a:r>
              <a:rPr lang="en-US" dirty="0" err="1">
                <a:cs typeface="Book Antiqua"/>
              </a:rPr>
              <a:t>Multidatabase</a:t>
            </a:r>
            <a:r>
              <a:rPr lang="en-US" dirty="0">
                <a:cs typeface="Book Antiqua"/>
              </a:rPr>
              <a:t> Systems</a:t>
            </a:r>
          </a:p>
          <a:p>
            <a:r>
              <a:rPr lang="en-US" dirty="0">
                <a:cs typeface="Book Antiqua"/>
              </a:rPr>
              <a:t>Parallel Database Systems</a:t>
            </a:r>
          </a:p>
          <a:p>
            <a:r>
              <a:rPr lang="en-US" dirty="0">
                <a:cs typeface="Book Antiqua"/>
              </a:rPr>
              <a:t>Peer-to-Peer Data Management</a:t>
            </a:r>
          </a:p>
          <a:p>
            <a:r>
              <a:rPr lang="en-US" dirty="0">
                <a:cs typeface="Book Antiqua"/>
              </a:rPr>
              <a:t>Big Data Processing</a:t>
            </a:r>
          </a:p>
          <a:p>
            <a:r>
              <a:rPr lang="en-US" dirty="0">
                <a:cs typeface="Book Antiqua"/>
              </a:rPr>
              <a:t>NoSQL, NewSQL and </a:t>
            </a:r>
            <a:r>
              <a:rPr lang="en-US" dirty="0" err="1">
                <a:cs typeface="Book Antiqua"/>
              </a:rPr>
              <a:t>Polystores</a:t>
            </a:r>
            <a:endParaRPr lang="en-US" dirty="0">
              <a:cs typeface="Book Antiqua"/>
            </a:endParaRPr>
          </a:p>
          <a:p>
            <a:r>
              <a:rPr lang="en-US" dirty="0">
                <a:cs typeface="Book Antiqua"/>
              </a:rPr>
              <a:t>Web Data Management </a:t>
            </a:r>
          </a:p>
        </p:txBody>
      </p:sp>
      <p:sp>
        <p:nvSpPr>
          <p:cNvPr id="2" name="Footer Placeholder 1">
            <a:extLst>
              <a:ext uri="{FF2B5EF4-FFF2-40B4-BE49-F238E27FC236}">
                <a16:creationId xmlns:a16="http://schemas.microsoft.com/office/drawing/2014/main" id="{351B72E8-7C79-424E-A232-677D185C1BED}"/>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61C3681F-B44B-9F40-96A9-7695DC0EC710}"/>
              </a:ext>
            </a:extLst>
          </p:cNvPr>
          <p:cNvSpPr>
            <a:spLocks noGrp="1"/>
          </p:cNvSpPr>
          <p:nvPr>
            <p:ph type="sldNum" sz="quarter" idx="4"/>
          </p:nvPr>
        </p:nvSpPr>
        <p:spPr/>
        <p:txBody>
          <a:bodyPr/>
          <a:lstStyle/>
          <a:p>
            <a:fld id="{FD96158B-4539-3C43-9DE5-94C547866200}" type="slidenum">
              <a:rPr lang="en-US" smtClean="0"/>
              <a:t>2</a:t>
            </a:fld>
            <a:endParaRPr lang="en-US"/>
          </a:p>
        </p:txBody>
      </p:sp>
    </p:spTree>
    <p:extLst>
      <p:ext uri="{BB962C8B-B14F-4D97-AF65-F5344CB8AC3E}">
        <p14:creationId xmlns:p14="http://schemas.microsoft.com/office/powerpoint/2010/main" val="12013247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dirty="0"/>
              <a:t>Outline</a:t>
            </a:r>
          </a:p>
        </p:txBody>
      </p:sp>
      <p:sp>
        <p:nvSpPr>
          <p:cNvPr id="15362" name="Rectangle 2"/>
          <p:cNvSpPr>
            <a:spLocks noGrp="1" noChangeArrowheads="1"/>
          </p:cNvSpPr>
          <p:nvPr>
            <p:ph idx="1"/>
          </p:nvPr>
        </p:nvSpPr>
        <p:spPr>
          <a:xfrm>
            <a:off x="457200" y="1268760"/>
            <a:ext cx="8229600" cy="4862165"/>
          </a:xfrm>
          <a:ln/>
        </p:spPr>
        <p:txBody>
          <a:bodyPr>
            <a:normAutofit/>
          </a:bodyPr>
          <a:lstStyle/>
          <a:p>
            <a:r>
              <a:rPr lang="en-US" dirty="0">
                <a:solidFill>
                  <a:srgbClr val="1771A9"/>
                </a:solidFill>
                <a:cs typeface="Book Antiqua"/>
              </a:rPr>
              <a:t>Introduction</a:t>
            </a:r>
          </a:p>
          <a:p>
            <a:pPr lvl="1"/>
            <a:r>
              <a:rPr lang="en-US" dirty="0">
                <a:solidFill>
                  <a:srgbClr val="1771A9"/>
                </a:solidFill>
                <a:cs typeface="Book Antiqua"/>
              </a:rPr>
              <a:t>What is a distributed DBMS</a:t>
            </a:r>
          </a:p>
          <a:p>
            <a:pPr lvl="1"/>
            <a:r>
              <a:rPr lang="en-US" dirty="0">
                <a:solidFill>
                  <a:srgbClr val="1771A9"/>
                </a:solidFill>
                <a:cs typeface="Book Antiqua"/>
              </a:rPr>
              <a:t>History</a:t>
            </a:r>
          </a:p>
          <a:p>
            <a:pPr lvl="1"/>
            <a:r>
              <a:rPr lang="en-US" dirty="0">
                <a:solidFill>
                  <a:srgbClr val="1771A9"/>
                </a:solidFill>
                <a:cs typeface="Book Antiqua"/>
              </a:rPr>
              <a:t>Distributed DBMS promises</a:t>
            </a:r>
          </a:p>
          <a:p>
            <a:pPr lvl="1"/>
            <a:r>
              <a:rPr lang="en-US" dirty="0">
                <a:solidFill>
                  <a:srgbClr val="1771A9"/>
                </a:solidFill>
                <a:cs typeface="Book Antiqua"/>
              </a:rPr>
              <a:t>Design issues</a:t>
            </a:r>
          </a:p>
          <a:p>
            <a:pPr lvl="1"/>
            <a:r>
              <a:rPr lang="en-US" dirty="0">
                <a:solidFill>
                  <a:srgbClr val="1771A9"/>
                </a:solidFill>
                <a:cs typeface="Book Antiqua"/>
              </a:rPr>
              <a:t>Distributed DBMS architecture</a:t>
            </a:r>
          </a:p>
        </p:txBody>
      </p:sp>
      <p:sp>
        <p:nvSpPr>
          <p:cNvPr id="2" name="Footer Placeholder 1">
            <a:extLst>
              <a:ext uri="{FF2B5EF4-FFF2-40B4-BE49-F238E27FC236}">
                <a16:creationId xmlns:a16="http://schemas.microsoft.com/office/drawing/2014/main" id="{351B72E8-7C79-424E-A232-677D185C1BED}"/>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61C3681F-B44B-9F40-96A9-7695DC0EC710}"/>
              </a:ext>
            </a:extLst>
          </p:cNvPr>
          <p:cNvSpPr>
            <a:spLocks noGrp="1"/>
          </p:cNvSpPr>
          <p:nvPr>
            <p:ph type="sldNum" sz="quarter" idx="4"/>
          </p:nvPr>
        </p:nvSpPr>
        <p:spPr/>
        <p:txBody>
          <a:bodyPr/>
          <a:lstStyle/>
          <a:p>
            <a:fld id="{FD96158B-4539-3C43-9DE5-94C547866200}" type="slidenum">
              <a:rPr lang="en-US" smtClean="0"/>
              <a:t>3</a:t>
            </a:fld>
            <a:endParaRPr lang="en-US"/>
          </a:p>
        </p:txBody>
      </p:sp>
    </p:spTree>
    <p:extLst>
      <p:ext uri="{BB962C8B-B14F-4D97-AF65-F5344CB8AC3E}">
        <p14:creationId xmlns:p14="http://schemas.microsoft.com/office/powerpoint/2010/main" val="25882814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a:lstStyle/>
          <a:p>
            <a:r>
              <a:rPr lang="en-US" dirty="0"/>
              <a:t>Distributed Computing</a:t>
            </a:r>
          </a:p>
        </p:txBody>
      </p:sp>
      <p:sp>
        <p:nvSpPr>
          <p:cNvPr id="8195" name="Rectangle 3"/>
          <p:cNvSpPr>
            <a:spLocks noGrp="1" noChangeArrowheads="1"/>
          </p:cNvSpPr>
          <p:nvPr>
            <p:ph idx="1"/>
          </p:nvPr>
        </p:nvSpPr>
        <p:spPr>
          <a:noFill/>
          <a:ln/>
        </p:spPr>
        <p:txBody>
          <a:bodyPr/>
          <a:lstStyle/>
          <a:p>
            <a:r>
              <a:rPr lang="en-US" dirty="0">
                <a:solidFill>
                  <a:schemeClr val="tx2"/>
                </a:solidFill>
              </a:rPr>
              <a:t>A number of autonomous processing elements (not necessarily homogeneous) that are interconnected by a computer network and that cooperate in performing their assigned tasks.</a:t>
            </a:r>
          </a:p>
          <a:p>
            <a:r>
              <a:rPr lang="en-US" dirty="0">
                <a:solidFill>
                  <a:schemeClr val="tx2"/>
                </a:solidFill>
              </a:rPr>
              <a:t>What is being distributed?</a:t>
            </a:r>
          </a:p>
          <a:p>
            <a:pPr lvl="1"/>
            <a:r>
              <a:rPr lang="en-US" dirty="0">
                <a:solidFill>
                  <a:schemeClr val="tx2"/>
                </a:solidFill>
              </a:rPr>
              <a:t>Processing logic</a:t>
            </a:r>
          </a:p>
          <a:p>
            <a:pPr lvl="1"/>
            <a:r>
              <a:rPr lang="en-US" dirty="0">
                <a:solidFill>
                  <a:schemeClr val="tx2"/>
                </a:solidFill>
              </a:rPr>
              <a:t>Function</a:t>
            </a:r>
          </a:p>
          <a:p>
            <a:pPr lvl="1"/>
            <a:r>
              <a:rPr lang="en-US" dirty="0">
                <a:solidFill>
                  <a:schemeClr val="tx2"/>
                </a:solidFill>
              </a:rPr>
              <a:t>Data</a:t>
            </a:r>
          </a:p>
          <a:p>
            <a:pPr lvl="1"/>
            <a:r>
              <a:rPr lang="en-US" dirty="0">
                <a:solidFill>
                  <a:schemeClr val="tx2"/>
                </a:solidFill>
              </a:rPr>
              <a:t>Control</a:t>
            </a:r>
          </a:p>
        </p:txBody>
      </p:sp>
      <p:sp>
        <p:nvSpPr>
          <p:cNvPr id="2" name="Footer Placeholder 1">
            <a:extLst>
              <a:ext uri="{FF2B5EF4-FFF2-40B4-BE49-F238E27FC236}">
                <a16:creationId xmlns:a16="http://schemas.microsoft.com/office/drawing/2014/main" id="{B2B932F9-DEDB-5C45-9546-BCDED53E31C2}"/>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DC285D19-8F58-3C44-AF6A-0A17ED7DEAD6}"/>
              </a:ext>
            </a:extLst>
          </p:cNvPr>
          <p:cNvSpPr>
            <a:spLocks noGrp="1"/>
          </p:cNvSpPr>
          <p:nvPr>
            <p:ph type="sldNum" sz="quarter" idx="4"/>
          </p:nvPr>
        </p:nvSpPr>
        <p:spPr/>
        <p:txBody>
          <a:bodyPr/>
          <a:lstStyle/>
          <a:p>
            <a:fld id="{FD96158B-4539-3C43-9DE5-94C547866200}" type="slidenum">
              <a:rPr lang="en-US" smtClean="0"/>
              <a:t>4</a:t>
            </a:fld>
            <a:endParaRPr lang="en-US"/>
          </a:p>
        </p:txBody>
      </p:sp>
      <p:pic>
        <p:nvPicPr>
          <p:cNvPr id="4" name="Picture 2">
            <a:extLst>
              <a:ext uri="{FF2B5EF4-FFF2-40B4-BE49-F238E27FC236}">
                <a16:creationId xmlns:a16="http://schemas.microsoft.com/office/drawing/2014/main" id="{521072F9-E4CA-7595-F2A9-F17C5593E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3284983"/>
            <a:ext cx="4572000" cy="2845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25435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8608E-A836-0D4F-8FA4-CCDE93FDDD18}"/>
              </a:ext>
            </a:extLst>
          </p:cNvPr>
          <p:cNvSpPr>
            <a:spLocks noGrp="1"/>
          </p:cNvSpPr>
          <p:nvPr>
            <p:ph type="title"/>
          </p:nvPr>
        </p:nvSpPr>
        <p:spPr/>
        <p:txBody>
          <a:bodyPr/>
          <a:lstStyle/>
          <a:p>
            <a:r>
              <a:rPr lang="en-US" dirty="0"/>
              <a:t>Current Distribution – Geographically Distributed Data Centers</a:t>
            </a:r>
          </a:p>
        </p:txBody>
      </p:sp>
      <p:sp>
        <p:nvSpPr>
          <p:cNvPr id="4" name="Footer Placeholder 3">
            <a:extLst>
              <a:ext uri="{FF2B5EF4-FFF2-40B4-BE49-F238E27FC236}">
                <a16:creationId xmlns:a16="http://schemas.microsoft.com/office/drawing/2014/main" id="{3EA949E0-3506-AE44-BF52-E378204736D3}"/>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B9307719-2015-C84B-9152-EAD14D3C7267}"/>
              </a:ext>
            </a:extLst>
          </p:cNvPr>
          <p:cNvSpPr>
            <a:spLocks noGrp="1"/>
          </p:cNvSpPr>
          <p:nvPr>
            <p:ph type="sldNum" sz="quarter" idx="4"/>
          </p:nvPr>
        </p:nvSpPr>
        <p:spPr/>
        <p:txBody>
          <a:bodyPr/>
          <a:lstStyle/>
          <a:p>
            <a:fld id="{FD96158B-4539-3C43-9DE5-94C547866200}" type="slidenum">
              <a:rPr lang="en-US" smtClean="0"/>
              <a:t>5</a:t>
            </a:fld>
            <a:endParaRPr lang="en-US"/>
          </a:p>
        </p:txBody>
      </p:sp>
      <p:pic>
        <p:nvPicPr>
          <p:cNvPr id="11" name="Content Placeholder 10" descr="A picture containing text, map&#10;&#10;Description automatically generated">
            <a:extLst>
              <a:ext uri="{FF2B5EF4-FFF2-40B4-BE49-F238E27FC236}">
                <a16:creationId xmlns:a16="http://schemas.microsoft.com/office/drawing/2014/main" id="{4E0C7D04-D658-C242-9693-E9E447557D9A}"/>
              </a:ext>
            </a:extLst>
          </p:cNvPr>
          <p:cNvPicPr>
            <a:picLocks noGrp="1" noChangeAspect="1"/>
          </p:cNvPicPr>
          <p:nvPr>
            <p:ph idx="1"/>
          </p:nvPr>
        </p:nvPicPr>
        <p:blipFill>
          <a:blip r:embed="rId2"/>
          <a:stretch>
            <a:fillRect/>
          </a:stretch>
        </p:blipFill>
        <p:spPr>
          <a:xfrm>
            <a:off x="1270000" y="2125662"/>
            <a:ext cx="6604000" cy="3479800"/>
          </a:xfrm>
        </p:spPr>
      </p:pic>
    </p:spTree>
    <p:extLst>
      <p:ext uri="{BB962C8B-B14F-4D97-AF65-F5344CB8AC3E}">
        <p14:creationId xmlns:p14="http://schemas.microsoft.com/office/powerpoint/2010/main" val="20399227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944D-251A-5D53-D004-6CF941F850D1}"/>
              </a:ext>
            </a:extLst>
          </p:cNvPr>
          <p:cNvSpPr>
            <a:spLocks noGrp="1"/>
          </p:cNvSpPr>
          <p:nvPr>
            <p:ph type="title"/>
          </p:nvPr>
        </p:nvSpPr>
        <p:spPr/>
        <p:txBody>
          <a:bodyPr/>
          <a:lstStyle/>
          <a:p>
            <a:r>
              <a:rPr lang="en-US" b="0" i="0" dirty="0">
                <a:solidFill>
                  <a:srgbClr val="374151"/>
                </a:solidFill>
                <a:effectLst/>
                <a:latin typeface="Söhne"/>
              </a:rPr>
              <a:t>distributed processing models</a:t>
            </a:r>
            <a:endParaRPr lang="en-US" dirty="0"/>
          </a:p>
        </p:txBody>
      </p:sp>
      <p:sp>
        <p:nvSpPr>
          <p:cNvPr id="3" name="Content Placeholder 2">
            <a:extLst>
              <a:ext uri="{FF2B5EF4-FFF2-40B4-BE49-F238E27FC236}">
                <a16:creationId xmlns:a16="http://schemas.microsoft.com/office/drawing/2014/main" id="{4F5D8540-6405-30FB-4AB4-0AE5E8439B07}"/>
              </a:ext>
            </a:extLst>
          </p:cNvPr>
          <p:cNvSpPr>
            <a:spLocks noGrp="1"/>
          </p:cNvSpPr>
          <p:nvPr>
            <p:ph idx="1"/>
          </p:nvPr>
        </p:nvSpPr>
        <p:spPr/>
        <p:txBody>
          <a:bodyPr/>
          <a:lstStyle/>
          <a:p>
            <a:r>
              <a:rPr lang="en-US" sz="3200" dirty="0">
                <a:solidFill>
                  <a:srgbClr val="374151"/>
                </a:solidFill>
                <a:latin typeface="Söhne"/>
              </a:rPr>
              <a:t>H</a:t>
            </a:r>
            <a:r>
              <a:rPr lang="en-US" sz="3200" b="0" i="0" dirty="0">
                <a:solidFill>
                  <a:srgbClr val="374151"/>
                </a:solidFill>
                <a:effectLst/>
                <a:latin typeface="Söhne"/>
              </a:rPr>
              <a:t>ere are two distributed processing models. The Client/Server computing model, where the client directly accesses and processes data on the server. </a:t>
            </a:r>
          </a:p>
          <a:p>
            <a:r>
              <a:rPr lang="en-US" sz="3200" b="0" i="0" dirty="0">
                <a:solidFill>
                  <a:srgbClr val="374151"/>
                </a:solidFill>
                <a:effectLst/>
                <a:latin typeface="Söhne"/>
              </a:rPr>
              <a:t>A transaction is divided and processed across multiple systems, with the central machine monitoring and managing the processes. (peer-to-peer)</a:t>
            </a:r>
            <a:endParaRPr lang="en-US" sz="3200" dirty="0"/>
          </a:p>
        </p:txBody>
      </p:sp>
      <p:sp>
        <p:nvSpPr>
          <p:cNvPr id="4" name="Footer Placeholder 3">
            <a:extLst>
              <a:ext uri="{FF2B5EF4-FFF2-40B4-BE49-F238E27FC236}">
                <a16:creationId xmlns:a16="http://schemas.microsoft.com/office/drawing/2014/main" id="{253314E4-642B-BFD3-4839-A132ADC2962F}"/>
              </a:ext>
            </a:extLst>
          </p:cNvPr>
          <p:cNvSpPr>
            <a:spLocks noGrp="1"/>
          </p:cNvSpPr>
          <p:nvPr>
            <p:ph type="ftr" sz="quarter" idx="3"/>
          </p:nvPr>
        </p:nvSpPr>
        <p:spPr/>
        <p:txBody>
          <a:bodyPr/>
          <a:lstStyle/>
          <a:p>
            <a:r>
              <a:rPr lang="en-US" dirty="0"/>
              <a:t>© 2020, M.T. </a:t>
            </a:r>
            <a:r>
              <a:rPr lang="en-US" dirty="0" err="1"/>
              <a:t>Özsu</a:t>
            </a:r>
            <a:r>
              <a:rPr lang="en-US" dirty="0"/>
              <a:t> &amp; P. </a:t>
            </a:r>
            <a:r>
              <a:rPr lang="en-US" dirty="0" err="1"/>
              <a:t>Valduriez</a:t>
            </a:r>
            <a:r>
              <a:rPr lang="en-US" dirty="0"/>
              <a:t> TS. Pan </a:t>
            </a:r>
            <a:r>
              <a:rPr lang="en-US" dirty="0" err="1"/>
              <a:t>Thị</a:t>
            </a:r>
            <a:r>
              <a:rPr lang="en-US" dirty="0"/>
              <a:t> </a:t>
            </a:r>
            <a:r>
              <a:rPr lang="en-US" dirty="0" err="1"/>
              <a:t>Hà_PTIT</a:t>
            </a:r>
            <a:endParaRPr lang="en-US" dirty="0"/>
          </a:p>
        </p:txBody>
      </p:sp>
      <p:sp>
        <p:nvSpPr>
          <p:cNvPr id="5" name="Slide Number Placeholder 4">
            <a:extLst>
              <a:ext uri="{FF2B5EF4-FFF2-40B4-BE49-F238E27FC236}">
                <a16:creationId xmlns:a16="http://schemas.microsoft.com/office/drawing/2014/main" id="{0430840C-6469-D215-CF30-834C84EC086E}"/>
              </a:ext>
            </a:extLst>
          </p:cNvPr>
          <p:cNvSpPr>
            <a:spLocks noGrp="1"/>
          </p:cNvSpPr>
          <p:nvPr>
            <p:ph type="sldNum" sz="quarter" idx="4"/>
          </p:nvPr>
        </p:nvSpPr>
        <p:spPr/>
        <p:txBody>
          <a:bodyPr/>
          <a:lstStyle/>
          <a:p>
            <a:fld id="{FD96158B-4539-3C43-9DE5-94C547866200}" type="slidenum">
              <a:rPr lang="en-US" smtClean="0"/>
              <a:t>6</a:t>
            </a:fld>
            <a:endParaRPr lang="en-US"/>
          </a:p>
        </p:txBody>
      </p:sp>
    </p:spTree>
    <p:extLst>
      <p:ext uri="{BB962C8B-B14F-4D97-AF65-F5344CB8AC3E}">
        <p14:creationId xmlns:p14="http://schemas.microsoft.com/office/powerpoint/2010/main" val="6903080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8464" y="152401"/>
            <a:ext cx="8669337" cy="1125538"/>
          </a:xfrm>
          <a:noFill/>
          <a:ln/>
        </p:spPr>
        <p:txBody>
          <a:bodyPr/>
          <a:lstStyle/>
          <a:p>
            <a:r>
              <a:rPr lang="en-US" dirty="0"/>
              <a:t>What is a Distributed Database System?</a:t>
            </a:r>
          </a:p>
        </p:txBody>
      </p:sp>
      <p:sp>
        <p:nvSpPr>
          <p:cNvPr id="13315" name="Rectangle 3"/>
          <p:cNvSpPr>
            <a:spLocks noGrp="1" noChangeArrowheads="1"/>
          </p:cNvSpPr>
          <p:nvPr>
            <p:ph type="body" idx="1"/>
          </p:nvPr>
        </p:nvSpPr>
        <p:spPr>
          <a:xfrm>
            <a:off x="457200" y="1676401"/>
            <a:ext cx="8229600" cy="4419600"/>
          </a:xfrm>
          <a:noFill/>
          <a:ln/>
        </p:spPr>
        <p:txBody>
          <a:bodyPr/>
          <a:lstStyle/>
          <a:p>
            <a:pPr marL="0" indent="0">
              <a:spcBef>
                <a:spcPct val="100000"/>
              </a:spcBef>
              <a:spcAft>
                <a:spcPct val="100000"/>
              </a:spcAft>
              <a:buNone/>
            </a:pPr>
            <a:r>
              <a:rPr lang="en-US" dirty="0"/>
              <a:t>A distributed database is a collection of multiple, </a:t>
            </a:r>
            <a:r>
              <a:rPr lang="en-US" dirty="0">
                <a:solidFill>
                  <a:srgbClr val="0000FF"/>
                </a:solidFill>
              </a:rPr>
              <a:t>logically interrelated</a:t>
            </a:r>
            <a:r>
              <a:rPr lang="en-US" i="1" dirty="0"/>
              <a:t> </a:t>
            </a:r>
            <a:r>
              <a:rPr lang="en-US" dirty="0"/>
              <a:t>databases distributed over a </a:t>
            </a:r>
            <a:r>
              <a:rPr lang="en-US" dirty="0">
                <a:solidFill>
                  <a:srgbClr val="0000FF"/>
                </a:solidFill>
              </a:rPr>
              <a:t>computer network</a:t>
            </a:r>
            <a:r>
              <a:rPr lang="en-US" dirty="0"/>
              <a:t> </a:t>
            </a:r>
          </a:p>
          <a:p>
            <a:pPr marL="0" indent="0">
              <a:spcBef>
                <a:spcPct val="100000"/>
              </a:spcBef>
              <a:spcAft>
                <a:spcPct val="100000"/>
              </a:spcAft>
              <a:buNone/>
            </a:pPr>
            <a:r>
              <a:rPr lang="en-US" dirty="0"/>
              <a:t>A distributed database management system (Distributed DBMS) is the software that manages the DDB and provides an access mechanism that makes this distribution </a:t>
            </a:r>
            <a:r>
              <a:rPr lang="en-US" dirty="0">
                <a:solidFill>
                  <a:srgbClr val="0000FF"/>
                </a:solidFill>
              </a:rPr>
              <a:t>transparent</a:t>
            </a:r>
            <a:r>
              <a:rPr lang="en-US" dirty="0">
                <a:solidFill>
                  <a:srgbClr val="333399"/>
                </a:solidFill>
              </a:rPr>
              <a:t> </a:t>
            </a:r>
            <a:r>
              <a:rPr lang="en-US" dirty="0"/>
              <a:t>to the users </a:t>
            </a:r>
          </a:p>
        </p:txBody>
      </p:sp>
      <p:sp>
        <p:nvSpPr>
          <p:cNvPr id="2" name="Footer Placeholder 1">
            <a:extLst>
              <a:ext uri="{FF2B5EF4-FFF2-40B4-BE49-F238E27FC236}">
                <a16:creationId xmlns:a16="http://schemas.microsoft.com/office/drawing/2014/main" id="{07A50016-5750-1F47-9CC5-B165325DCFD6}"/>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D2C1BA2F-84FC-EF46-BC38-AEC506AFF3A0}"/>
              </a:ext>
            </a:extLst>
          </p:cNvPr>
          <p:cNvSpPr>
            <a:spLocks noGrp="1"/>
          </p:cNvSpPr>
          <p:nvPr>
            <p:ph type="sldNum" sz="quarter" idx="4"/>
          </p:nvPr>
        </p:nvSpPr>
        <p:spPr/>
        <p:txBody>
          <a:bodyPr/>
          <a:lstStyle/>
          <a:p>
            <a:fld id="{FD96158B-4539-3C43-9DE5-94C547866200}" type="slidenum">
              <a:rPr lang="en-US" smtClean="0"/>
              <a:t>7</a:t>
            </a:fld>
            <a:endParaRPr lang="en-US"/>
          </a:p>
        </p:txBody>
      </p:sp>
    </p:spTree>
    <p:extLst>
      <p:ext uri="{BB962C8B-B14F-4D97-AF65-F5344CB8AC3E}">
        <p14:creationId xmlns:p14="http://schemas.microsoft.com/office/powerpoint/2010/main" val="17564819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title"/>
          </p:nvPr>
        </p:nvSpPr>
        <p:spPr>
          <a:noFill/>
          <a:ln/>
        </p:spPr>
        <p:txBody>
          <a:bodyPr/>
          <a:lstStyle/>
          <a:p>
            <a:r>
              <a:rPr lang="en-US" dirty="0"/>
              <a:t>What is not a DDBS?</a:t>
            </a:r>
          </a:p>
        </p:txBody>
      </p:sp>
      <p:sp>
        <p:nvSpPr>
          <p:cNvPr id="15362" name="Rectangle 2"/>
          <p:cNvSpPr>
            <a:spLocks noGrp="1" noChangeArrowheads="1"/>
          </p:cNvSpPr>
          <p:nvPr>
            <p:ph idx="1"/>
          </p:nvPr>
        </p:nvSpPr>
        <p:spPr>
          <a:noFill/>
          <a:ln/>
        </p:spPr>
        <p:txBody>
          <a:bodyPr/>
          <a:lstStyle/>
          <a:p>
            <a:pPr>
              <a:lnSpc>
                <a:spcPct val="100000"/>
              </a:lnSpc>
              <a:spcBef>
                <a:spcPct val="50000"/>
              </a:spcBef>
            </a:pPr>
            <a:r>
              <a:rPr lang="en-US" dirty="0"/>
              <a:t>A timesharing computer system</a:t>
            </a:r>
          </a:p>
          <a:p>
            <a:pPr>
              <a:lnSpc>
                <a:spcPct val="100000"/>
              </a:lnSpc>
              <a:spcBef>
                <a:spcPct val="50000"/>
              </a:spcBef>
            </a:pPr>
            <a:r>
              <a:rPr lang="en-US" dirty="0"/>
              <a:t>A loosely or tightly coupled multiprocessor system</a:t>
            </a:r>
          </a:p>
          <a:p>
            <a:pPr>
              <a:lnSpc>
                <a:spcPct val="100000"/>
              </a:lnSpc>
              <a:spcBef>
                <a:spcPct val="50000"/>
              </a:spcBef>
            </a:pPr>
            <a:r>
              <a:rPr lang="en-US" dirty="0"/>
              <a:t>A database system which resides at one of the nodes of a network of computers - this is a centralized database on a network node</a:t>
            </a:r>
          </a:p>
        </p:txBody>
      </p:sp>
      <p:sp>
        <p:nvSpPr>
          <p:cNvPr id="2" name="Footer Placeholder 1">
            <a:extLst>
              <a:ext uri="{FF2B5EF4-FFF2-40B4-BE49-F238E27FC236}">
                <a16:creationId xmlns:a16="http://schemas.microsoft.com/office/drawing/2014/main" id="{7BFBF4F3-1FBC-3E4A-B936-6F89A15F8AD3}"/>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9AADA5FC-D8F4-554D-B2F2-9B5C86A7312C}"/>
              </a:ext>
            </a:extLst>
          </p:cNvPr>
          <p:cNvSpPr>
            <a:spLocks noGrp="1"/>
          </p:cNvSpPr>
          <p:nvPr>
            <p:ph type="sldNum" sz="quarter" idx="4"/>
          </p:nvPr>
        </p:nvSpPr>
        <p:spPr/>
        <p:txBody>
          <a:bodyPr/>
          <a:lstStyle/>
          <a:p>
            <a:fld id="{FD96158B-4539-3C43-9DE5-94C547866200}" type="slidenum">
              <a:rPr lang="en-US" smtClean="0"/>
              <a:t>8</a:t>
            </a:fld>
            <a:endParaRPr lang="en-US"/>
          </a:p>
        </p:txBody>
      </p:sp>
    </p:spTree>
    <p:extLst>
      <p:ext uri="{BB962C8B-B14F-4D97-AF65-F5344CB8AC3E}">
        <p14:creationId xmlns:p14="http://schemas.microsoft.com/office/powerpoint/2010/main" val="27414441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a:lstStyle/>
          <a:p>
            <a:r>
              <a:rPr lang="en-US"/>
              <a:t>Distributed DBMS Environment</a:t>
            </a:r>
          </a:p>
        </p:txBody>
      </p:sp>
      <p:sp>
        <p:nvSpPr>
          <p:cNvPr id="2" name="Footer Placeholder 1">
            <a:extLst>
              <a:ext uri="{FF2B5EF4-FFF2-40B4-BE49-F238E27FC236}">
                <a16:creationId xmlns:a16="http://schemas.microsoft.com/office/drawing/2014/main" id="{0ADF4B4D-CF6D-0C42-BE08-E5F3F2B6D964}"/>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79C2CE5E-2DD7-DE43-8DD6-0A2A540D2617}"/>
              </a:ext>
            </a:extLst>
          </p:cNvPr>
          <p:cNvSpPr>
            <a:spLocks noGrp="1"/>
          </p:cNvSpPr>
          <p:nvPr>
            <p:ph type="sldNum" sz="quarter" idx="4"/>
          </p:nvPr>
        </p:nvSpPr>
        <p:spPr/>
        <p:txBody>
          <a:bodyPr/>
          <a:lstStyle/>
          <a:p>
            <a:fld id="{FD96158B-4539-3C43-9DE5-94C547866200}" type="slidenum">
              <a:rPr lang="en-US" smtClean="0"/>
              <a:t>9</a:t>
            </a:fld>
            <a:endParaRPr lang="en-US"/>
          </a:p>
        </p:txBody>
      </p:sp>
      <p:pic>
        <p:nvPicPr>
          <p:cNvPr id="5" name="Picture 4" descr="A close up of a device&#10;&#10;Description automatically generated">
            <a:extLst>
              <a:ext uri="{FF2B5EF4-FFF2-40B4-BE49-F238E27FC236}">
                <a16:creationId xmlns:a16="http://schemas.microsoft.com/office/drawing/2014/main" id="{F80F0BE7-E22B-A045-9C1E-0C88570A19E6}"/>
              </a:ext>
            </a:extLst>
          </p:cNvPr>
          <p:cNvPicPr>
            <a:picLocks noChangeAspect="1"/>
          </p:cNvPicPr>
          <p:nvPr/>
        </p:nvPicPr>
        <p:blipFill>
          <a:blip r:embed="rId3"/>
          <a:stretch>
            <a:fillRect/>
          </a:stretch>
        </p:blipFill>
        <p:spPr>
          <a:xfrm>
            <a:off x="868187" y="1268760"/>
            <a:ext cx="7407625" cy="4859916"/>
          </a:xfrm>
          <a:prstGeom prst="rect">
            <a:avLst/>
          </a:prstGeom>
        </p:spPr>
      </p:pic>
    </p:spTree>
    <p:extLst>
      <p:ext uri="{BB962C8B-B14F-4D97-AF65-F5344CB8AC3E}">
        <p14:creationId xmlns:p14="http://schemas.microsoft.com/office/powerpoint/2010/main" val="5234635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a:lstStyle/>
          <a:p>
            <a:r>
              <a:rPr lang="en-US" dirty="0"/>
              <a:t>Implicit Assumptions</a:t>
            </a:r>
          </a:p>
        </p:txBody>
      </p:sp>
      <p:sp>
        <p:nvSpPr>
          <p:cNvPr id="21507" name="Rectangle 3"/>
          <p:cNvSpPr>
            <a:spLocks noGrp="1" noChangeArrowheads="1"/>
          </p:cNvSpPr>
          <p:nvPr>
            <p:ph idx="1"/>
          </p:nvPr>
        </p:nvSpPr>
        <p:spPr>
          <a:noFill/>
          <a:ln/>
        </p:spPr>
        <p:txBody>
          <a:bodyPr/>
          <a:lstStyle/>
          <a:p>
            <a:r>
              <a:rPr lang="en-US" dirty="0">
                <a:solidFill>
                  <a:schemeClr val="tx2"/>
                </a:solidFill>
              </a:rPr>
              <a:t>Data stored at a number of sites →</a:t>
            </a:r>
            <a:r>
              <a:rPr lang="en-US" dirty="0"/>
              <a:t> each site </a:t>
            </a:r>
            <a:r>
              <a:rPr lang="en-US" i="1" dirty="0"/>
              <a:t>logically</a:t>
            </a:r>
            <a:r>
              <a:rPr lang="en-US" dirty="0"/>
              <a:t> consists of a single processor</a:t>
            </a:r>
          </a:p>
          <a:p>
            <a:r>
              <a:rPr lang="en-US" dirty="0"/>
              <a:t>Processors at different </a:t>
            </a:r>
            <a:r>
              <a:rPr lang="en-US" dirty="0">
                <a:solidFill>
                  <a:schemeClr val="tx2"/>
                </a:solidFill>
              </a:rPr>
              <a:t>sites are interconnected by a computer network</a:t>
            </a:r>
            <a:r>
              <a:rPr lang="en-US" dirty="0"/>
              <a:t> </a:t>
            </a:r>
            <a:r>
              <a:rPr lang="en-US" dirty="0">
                <a:solidFill>
                  <a:schemeClr val="tx2"/>
                </a:solidFill>
              </a:rPr>
              <a:t>→</a:t>
            </a:r>
            <a:r>
              <a:rPr lang="en-US" dirty="0">
                <a:sym typeface="Wingdings" charset="2"/>
              </a:rPr>
              <a:t> </a:t>
            </a:r>
            <a:r>
              <a:rPr lang="en-US" dirty="0"/>
              <a:t>not a multiprocessor system</a:t>
            </a:r>
          </a:p>
          <a:p>
            <a:pPr lvl="1"/>
            <a:r>
              <a:rPr lang="en-US" dirty="0"/>
              <a:t>Parallel database systems</a:t>
            </a:r>
          </a:p>
          <a:p>
            <a:r>
              <a:rPr lang="en-US" dirty="0"/>
              <a:t>Distributed database is a </a:t>
            </a:r>
            <a:r>
              <a:rPr lang="en-US" dirty="0">
                <a:solidFill>
                  <a:schemeClr val="tx2"/>
                </a:solidFill>
              </a:rPr>
              <a:t>database, not a collection of files</a:t>
            </a:r>
            <a:r>
              <a:rPr lang="en-US" dirty="0"/>
              <a:t> </a:t>
            </a:r>
            <a:r>
              <a:rPr lang="en-US" dirty="0">
                <a:solidFill>
                  <a:schemeClr val="tx2"/>
                </a:solidFill>
              </a:rPr>
              <a:t>→</a:t>
            </a:r>
            <a:r>
              <a:rPr lang="en-US" dirty="0">
                <a:sym typeface="Wingdings" charset="2"/>
              </a:rPr>
              <a:t> </a:t>
            </a:r>
            <a:r>
              <a:rPr lang="en-US" dirty="0"/>
              <a:t>data logically related as exhibited in the users’ access patterns</a:t>
            </a:r>
          </a:p>
          <a:p>
            <a:pPr lvl="1"/>
            <a:r>
              <a:rPr lang="en-US" dirty="0"/>
              <a:t>Relational data model </a:t>
            </a:r>
          </a:p>
          <a:p>
            <a:r>
              <a:rPr lang="en-US" dirty="0"/>
              <a:t>Distributed DBMS is a </a:t>
            </a:r>
            <a:r>
              <a:rPr lang="en-US" dirty="0">
                <a:solidFill>
                  <a:schemeClr val="tx2"/>
                </a:solidFill>
              </a:rPr>
              <a:t>full-fledged DBMS</a:t>
            </a:r>
            <a:endParaRPr lang="en-US" dirty="0"/>
          </a:p>
          <a:p>
            <a:pPr lvl="1"/>
            <a:r>
              <a:rPr lang="en-US" dirty="0"/>
              <a:t>Not remote file system, not a TP system</a:t>
            </a:r>
          </a:p>
        </p:txBody>
      </p:sp>
      <p:sp>
        <p:nvSpPr>
          <p:cNvPr id="2" name="Footer Placeholder 1">
            <a:extLst>
              <a:ext uri="{FF2B5EF4-FFF2-40B4-BE49-F238E27FC236}">
                <a16:creationId xmlns:a16="http://schemas.microsoft.com/office/drawing/2014/main" id="{B43BAC82-990E-E248-BAC8-38CAF78A8011}"/>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D83DED0C-1B52-2B4E-95E4-2212C8BE2E88}"/>
              </a:ext>
            </a:extLst>
          </p:cNvPr>
          <p:cNvSpPr>
            <a:spLocks noGrp="1"/>
          </p:cNvSpPr>
          <p:nvPr>
            <p:ph type="sldNum" sz="quarter" idx="4"/>
          </p:nvPr>
        </p:nvSpPr>
        <p:spPr/>
        <p:txBody>
          <a:bodyPr/>
          <a:lstStyle/>
          <a:p>
            <a:fld id="{FD96158B-4539-3C43-9DE5-94C547866200}" type="slidenum">
              <a:rPr lang="en-US" smtClean="0"/>
              <a:t>10</a:t>
            </a:fld>
            <a:endParaRPr lang="en-US"/>
          </a:p>
        </p:txBody>
      </p:sp>
    </p:spTree>
    <p:extLst>
      <p:ext uri="{BB962C8B-B14F-4D97-AF65-F5344CB8AC3E}">
        <p14:creationId xmlns:p14="http://schemas.microsoft.com/office/powerpoint/2010/main" val="12532054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6392-2366-F446-8443-6625AC594E7C}"/>
              </a:ext>
            </a:extLst>
          </p:cNvPr>
          <p:cNvSpPr>
            <a:spLocks noGrp="1"/>
          </p:cNvSpPr>
          <p:nvPr>
            <p:ph type="title"/>
          </p:nvPr>
        </p:nvSpPr>
        <p:spPr/>
        <p:txBody>
          <a:bodyPr/>
          <a:lstStyle/>
          <a:p>
            <a:r>
              <a:rPr lang="en-US" dirty="0"/>
              <a:t>Important Point</a:t>
            </a:r>
          </a:p>
        </p:txBody>
      </p:sp>
      <p:sp>
        <p:nvSpPr>
          <p:cNvPr id="3" name="Content Placeholder 2">
            <a:extLst>
              <a:ext uri="{FF2B5EF4-FFF2-40B4-BE49-F238E27FC236}">
                <a16:creationId xmlns:a16="http://schemas.microsoft.com/office/drawing/2014/main" id="{C0529793-71D2-CD4A-8CF3-D5BBAED56AA3}"/>
              </a:ext>
            </a:extLst>
          </p:cNvPr>
          <p:cNvSpPr>
            <a:spLocks noGrp="1"/>
          </p:cNvSpPr>
          <p:nvPr>
            <p:ph idx="1"/>
          </p:nvPr>
        </p:nvSpPr>
        <p:spPr>
          <a:xfrm>
            <a:off x="444679" y="2492896"/>
            <a:ext cx="8229600" cy="1612776"/>
          </a:xfrm>
        </p:spPr>
        <p:txBody>
          <a:bodyPr/>
          <a:lstStyle/>
          <a:p>
            <a:pPr marL="0" indent="0" algn="ctr">
              <a:buNone/>
            </a:pPr>
            <a:r>
              <a:rPr lang="en-US" dirty="0">
                <a:solidFill>
                  <a:srgbClr val="0432FF"/>
                </a:solidFill>
              </a:rPr>
              <a:t>Logically integrated</a:t>
            </a:r>
          </a:p>
          <a:p>
            <a:pPr marL="0" indent="0" algn="ctr">
              <a:buNone/>
            </a:pPr>
            <a:r>
              <a:rPr lang="en-US" dirty="0"/>
              <a:t>but</a:t>
            </a:r>
          </a:p>
          <a:p>
            <a:pPr marL="0" indent="0" algn="ctr">
              <a:buNone/>
            </a:pPr>
            <a:r>
              <a:rPr lang="en-US" dirty="0">
                <a:solidFill>
                  <a:srgbClr val="0432FF"/>
                </a:solidFill>
              </a:rPr>
              <a:t>Physically distributed</a:t>
            </a:r>
          </a:p>
        </p:txBody>
      </p:sp>
      <p:sp>
        <p:nvSpPr>
          <p:cNvPr id="4" name="Footer Placeholder 3">
            <a:extLst>
              <a:ext uri="{FF2B5EF4-FFF2-40B4-BE49-F238E27FC236}">
                <a16:creationId xmlns:a16="http://schemas.microsoft.com/office/drawing/2014/main" id="{195B9C14-BFB5-4047-A565-ED76FFC7BE52}"/>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85C81615-23EA-4D4C-8DAE-5A836890C193}"/>
              </a:ext>
            </a:extLst>
          </p:cNvPr>
          <p:cNvSpPr>
            <a:spLocks noGrp="1"/>
          </p:cNvSpPr>
          <p:nvPr>
            <p:ph type="sldNum" sz="quarter" idx="4"/>
          </p:nvPr>
        </p:nvSpPr>
        <p:spPr/>
        <p:txBody>
          <a:bodyPr/>
          <a:lstStyle/>
          <a:p>
            <a:fld id="{FD96158B-4539-3C43-9DE5-94C547866200}" type="slidenum">
              <a:rPr lang="en-US" smtClean="0"/>
              <a:t>11</a:t>
            </a:fld>
            <a:endParaRPr lang="en-US"/>
          </a:p>
        </p:txBody>
      </p:sp>
    </p:spTree>
    <p:extLst>
      <p:ext uri="{BB962C8B-B14F-4D97-AF65-F5344CB8AC3E}">
        <p14:creationId xmlns:p14="http://schemas.microsoft.com/office/powerpoint/2010/main" val="30865430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dirty="0"/>
              <a:t>Outline</a:t>
            </a:r>
          </a:p>
        </p:txBody>
      </p:sp>
      <p:sp>
        <p:nvSpPr>
          <p:cNvPr id="15362" name="Rectangle 2"/>
          <p:cNvSpPr>
            <a:spLocks noGrp="1" noChangeArrowheads="1"/>
          </p:cNvSpPr>
          <p:nvPr>
            <p:ph idx="1"/>
          </p:nvPr>
        </p:nvSpPr>
        <p:spPr>
          <a:xfrm>
            <a:off x="457200" y="1268760"/>
            <a:ext cx="8229600" cy="4862165"/>
          </a:xfrm>
          <a:ln/>
        </p:spPr>
        <p:txBody>
          <a:bodyPr>
            <a:normAutofit/>
          </a:bodyPr>
          <a:lstStyle/>
          <a:p>
            <a:r>
              <a:rPr lang="en-US" dirty="0">
                <a:solidFill>
                  <a:srgbClr val="1771A9"/>
                </a:solidFill>
                <a:cs typeface="Book Antiqua"/>
              </a:rPr>
              <a:t>Introduction</a:t>
            </a:r>
          </a:p>
          <a:p>
            <a:pPr lvl="1"/>
            <a:r>
              <a:rPr lang="en-US" dirty="0">
                <a:solidFill>
                  <a:srgbClr val="1771A9">
                    <a:alpha val="25000"/>
                  </a:srgbClr>
                </a:solidFill>
                <a:cs typeface="Book Antiqua"/>
              </a:rPr>
              <a:t>What is a distributed DBMS</a:t>
            </a:r>
          </a:p>
          <a:p>
            <a:pPr lvl="1"/>
            <a:r>
              <a:rPr lang="en-US" dirty="0">
                <a:solidFill>
                  <a:srgbClr val="1771A9"/>
                </a:solidFill>
                <a:cs typeface="Book Antiqua"/>
              </a:rPr>
              <a:t>History</a:t>
            </a:r>
          </a:p>
          <a:p>
            <a:pPr lvl="1"/>
            <a:r>
              <a:rPr lang="en-US" dirty="0">
                <a:solidFill>
                  <a:srgbClr val="1771A9">
                    <a:alpha val="25000"/>
                  </a:srgbClr>
                </a:solidFill>
                <a:cs typeface="Book Antiqua"/>
              </a:rPr>
              <a:t>Distributed DBMS promises</a:t>
            </a:r>
          </a:p>
          <a:p>
            <a:pPr lvl="1"/>
            <a:r>
              <a:rPr lang="en-US" dirty="0">
                <a:solidFill>
                  <a:srgbClr val="1771A9">
                    <a:alpha val="25000"/>
                  </a:srgbClr>
                </a:solidFill>
                <a:cs typeface="Book Antiqua"/>
              </a:rPr>
              <a:t>Design issues</a:t>
            </a:r>
          </a:p>
          <a:p>
            <a:pPr lvl="1"/>
            <a:r>
              <a:rPr lang="en-US" dirty="0">
                <a:solidFill>
                  <a:srgbClr val="1771A9">
                    <a:alpha val="25000"/>
                  </a:srgbClr>
                </a:solidFill>
                <a:cs typeface="Book Antiqua"/>
              </a:rPr>
              <a:t>Distributed DBMS architecture</a:t>
            </a:r>
          </a:p>
        </p:txBody>
      </p:sp>
      <p:sp>
        <p:nvSpPr>
          <p:cNvPr id="2" name="Footer Placeholder 1">
            <a:extLst>
              <a:ext uri="{FF2B5EF4-FFF2-40B4-BE49-F238E27FC236}">
                <a16:creationId xmlns:a16="http://schemas.microsoft.com/office/drawing/2014/main" id="{351B72E8-7C79-424E-A232-677D185C1BED}"/>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61C3681F-B44B-9F40-96A9-7695DC0EC710}"/>
              </a:ext>
            </a:extLst>
          </p:cNvPr>
          <p:cNvSpPr>
            <a:spLocks noGrp="1"/>
          </p:cNvSpPr>
          <p:nvPr>
            <p:ph type="sldNum" sz="quarter" idx="4"/>
          </p:nvPr>
        </p:nvSpPr>
        <p:spPr/>
        <p:txBody>
          <a:bodyPr/>
          <a:lstStyle/>
          <a:p>
            <a:fld id="{FD96158B-4539-3C43-9DE5-94C547866200}" type="slidenum">
              <a:rPr lang="en-US" smtClean="0"/>
              <a:t>12</a:t>
            </a:fld>
            <a:endParaRPr lang="en-US"/>
          </a:p>
        </p:txBody>
      </p:sp>
    </p:spTree>
    <p:extLst>
      <p:ext uri="{BB962C8B-B14F-4D97-AF65-F5344CB8AC3E}">
        <p14:creationId xmlns:p14="http://schemas.microsoft.com/office/powerpoint/2010/main" val="39258409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noFill/>
          <a:ln/>
        </p:spPr>
        <p:txBody>
          <a:bodyPr/>
          <a:lstStyle/>
          <a:p>
            <a:r>
              <a:rPr lang="en-US" dirty="0"/>
              <a:t>History – File Systems</a:t>
            </a:r>
          </a:p>
        </p:txBody>
      </p:sp>
      <p:sp>
        <p:nvSpPr>
          <p:cNvPr id="2" name="Footer Placeholder 1">
            <a:extLst>
              <a:ext uri="{FF2B5EF4-FFF2-40B4-BE49-F238E27FC236}">
                <a16:creationId xmlns:a16="http://schemas.microsoft.com/office/drawing/2014/main" id="{65DC6C84-02AC-3842-A953-C20C2C7FE401}"/>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A050991C-173F-9947-B7B2-797C88A5DDB2}"/>
              </a:ext>
            </a:extLst>
          </p:cNvPr>
          <p:cNvSpPr>
            <a:spLocks noGrp="1"/>
          </p:cNvSpPr>
          <p:nvPr>
            <p:ph type="sldNum" sz="quarter" idx="4"/>
          </p:nvPr>
        </p:nvSpPr>
        <p:spPr/>
        <p:txBody>
          <a:bodyPr/>
          <a:lstStyle/>
          <a:p>
            <a:fld id="{FD96158B-4539-3C43-9DE5-94C547866200}" type="slidenum">
              <a:rPr lang="en-US" smtClean="0"/>
              <a:t>13</a:t>
            </a:fld>
            <a:endParaRPr lang="en-US"/>
          </a:p>
        </p:txBody>
      </p:sp>
      <p:pic>
        <p:nvPicPr>
          <p:cNvPr id="7" name="Picture 6" descr="A screenshot of a cell phone&#10;&#10;Description automatically generated">
            <a:extLst>
              <a:ext uri="{FF2B5EF4-FFF2-40B4-BE49-F238E27FC236}">
                <a16:creationId xmlns:a16="http://schemas.microsoft.com/office/drawing/2014/main" id="{574BED94-1701-1545-A7CB-1AB2175D3C1C}"/>
              </a:ext>
            </a:extLst>
          </p:cNvPr>
          <p:cNvPicPr>
            <a:picLocks noChangeAspect="1"/>
          </p:cNvPicPr>
          <p:nvPr/>
        </p:nvPicPr>
        <p:blipFill>
          <a:blip r:embed="rId3"/>
          <a:stretch>
            <a:fillRect/>
          </a:stretch>
        </p:blipFill>
        <p:spPr>
          <a:xfrm>
            <a:off x="1248158" y="1204458"/>
            <a:ext cx="6636210" cy="4456790"/>
          </a:xfrm>
          <a:prstGeom prst="rect">
            <a:avLst/>
          </a:prstGeom>
        </p:spPr>
      </p:pic>
    </p:spTree>
    <p:extLst>
      <p:ext uri="{BB962C8B-B14F-4D97-AF65-F5344CB8AC3E}">
        <p14:creationId xmlns:p14="http://schemas.microsoft.com/office/powerpoint/2010/main" val="42683519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p:cNvSpPr>
            <a:spLocks noGrp="1" noChangeArrowheads="1"/>
          </p:cNvSpPr>
          <p:nvPr>
            <p:ph type="title"/>
          </p:nvPr>
        </p:nvSpPr>
        <p:spPr>
          <a:noFill/>
          <a:ln/>
        </p:spPr>
        <p:txBody>
          <a:bodyPr/>
          <a:lstStyle/>
          <a:p>
            <a:r>
              <a:rPr lang="en-US" dirty="0"/>
              <a:t>History – Database Management</a:t>
            </a:r>
          </a:p>
        </p:txBody>
      </p:sp>
      <p:sp>
        <p:nvSpPr>
          <p:cNvPr id="2" name="Footer Placeholder 1">
            <a:extLst>
              <a:ext uri="{FF2B5EF4-FFF2-40B4-BE49-F238E27FC236}">
                <a16:creationId xmlns:a16="http://schemas.microsoft.com/office/drawing/2014/main" id="{024E9677-922B-904A-9174-A2A8777FD99B}"/>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A60B6DCE-E244-4B46-BD10-0A9480746F66}"/>
              </a:ext>
            </a:extLst>
          </p:cNvPr>
          <p:cNvSpPr>
            <a:spLocks noGrp="1"/>
          </p:cNvSpPr>
          <p:nvPr>
            <p:ph type="sldNum" sz="quarter" idx="4"/>
          </p:nvPr>
        </p:nvSpPr>
        <p:spPr/>
        <p:txBody>
          <a:bodyPr/>
          <a:lstStyle/>
          <a:p>
            <a:fld id="{FD96158B-4539-3C43-9DE5-94C547866200}" type="slidenum">
              <a:rPr lang="en-US" smtClean="0"/>
              <a:t>14</a:t>
            </a:fld>
            <a:endParaRPr lang="en-US"/>
          </a:p>
        </p:txBody>
      </p:sp>
      <p:pic>
        <p:nvPicPr>
          <p:cNvPr id="5" name="Picture 4" descr="A picture containing screenshot&#10;&#10;Description automatically generated">
            <a:extLst>
              <a:ext uri="{FF2B5EF4-FFF2-40B4-BE49-F238E27FC236}">
                <a16:creationId xmlns:a16="http://schemas.microsoft.com/office/drawing/2014/main" id="{E1262EDE-54DE-9248-9DC2-365D946D0B75}"/>
              </a:ext>
            </a:extLst>
          </p:cNvPr>
          <p:cNvPicPr>
            <a:picLocks noChangeAspect="1"/>
          </p:cNvPicPr>
          <p:nvPr/>
        </p:nvPicPr>
        <p:blipFill>
          <a:blip r:embed="rId3"/>
          <a:stretch>
            <a:fillRect/>
          </a:stretch>
        </p:blipFill>
        <p:spPr>
          <a:xfrm>
            <a:off x="602559" y="1772816"/>
            <a:ext cx="7938882" cy="3528392"/>
          </a:xfrm>
          <a:prstGeom prst="rect">
            <a:avLst/>
          </a:prstGeom>
        </p:spPr>
      </p:pic>
    </p:spTree>
    <p:extLst>
      <p:ext uri="{BB962C8B-B14F-4D97-AF65-F5344CB8AC3E}">
        <p14:creationId xmlns:p14="http://schemas.microsoft.com/office/powerpoint/2010/main" val="37831370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4162-67B3-E345-BDA5-A2417FD1944F}"/>
              </a:ext>
            </a:extLst>
          </p:cNvPr>
          <p:cNvSpPr>
            <a:spLocks noGrp="1"/>
          </p:cNvSpPr>
          <p:nvPr>
            <p:ph type="title"/>
          </p:nvPr>
        </p:nvSpPr>
        <p:spPr/>
        <p:txBody>
          <a:bodyPr/>
          <a:lstStyle/>
          <a:p>
            <a:r>
              <a:rPr lang="en-US" dirty="0"/>
              <a:t>History – Early Distribution</a:t>
            </a:r>
          </a:p>
        </p:txBody>
      </p:sp>
      <p:sp>
        <p:nvSpPr>
          <p:cNvPr id="3" name="Footer Placeholder 2">
            <a:extLst>
              <a:ext uri="{FF2B5EF4-FFF2-40B4-BE49-F238E27FC236}">
                <a16:creationId xmlns:a16="http://schemas.microsoft.com/office/drawing/2014/main" id="{1ACD43CB-54B6-E341-A3F1-7B0BD1A3329B}"/>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7CF64714-CA40-C94F-90C9-CD439D5AA2C6}"/>
              </a:ext>
            </a:extLst>
          </p:cNvPr>
          <p:cNvSpPr>
            <a:spLocks noGrp="1"/>
          </p:cNvSpPr>
          <p:nvPr>
            <p:ph type="sldNum" sz="quarter" idx="4"/>
          </p:nvPr>
        </p:nvSpPr>
        <p:spPr/>
        <p:txBody>
          <a:bodyPr/>
          <a:lstStyle/>
          <a:p>
            <a:fld id="{FD96158B-4539-3C43-9DE5-94C547866200}" type="slidenum">
              <a:rPr lang="en-US" smtClean="0"/>
              <a:t>15</a:t>
            </a:fld>
            <a:endParaRPr lang="en-US"/>
          </a:p>
        </p:txBody>
      </p:sp>
      <p:pic>
        <p:nvPicPr>
          <p:cNvPr id="5" name="Picture 4" descr="A close up of a device&#10;&#10;Description automatically generated">
            <a:extLst>
              <a:ext uri="{FF2B5EF4-FFF2-40B4-BE49-F238E27FC236}">
                <a16:creationId xmlns:a16="http://schemas.microsoft.com/office/drawing/2014/main" id="{AE255347-F63A-E74D-BABE-C89109C80DF7}"/>
              </a:ext>
            </a:extLst>
          </p:cNvPr>
          <p:cNvPicPr>
            <a:picLocks noChangeAspect="1"/>
          </p:cNvPicPr>
          <p:nvPr/>
        </p:nvPicPr>
        <p:blipFill>
          <a:blip r:embed="rId2"/>
          <a:stretch>
            <a:fillRect/>
          </a:stretch>
        </p:blipFill>
        <p:spPr>
          <a:xfrm>
            <a:off x="1547664" y="1988840"/>
            <a:ext cx="6296100" cy="4130678"/>
          </a:xfrm>
          <a:prstGeom prst="rect">
            <a:avLst/>
          </a:prstGeom>
        </p:spPr>
      </p:pic>
      <p:sp>
        <p:nvSpPr>
          <p:cNvPr id="6" name="TextBox 5">
            <a:extLst>
              <a:ext uri="{FF2B5EF4-FFF2-40B4-BE49-F238E27FC236}">
                <a16:creationId xmlns:a16="http://schemas.microsoft.com/office/drawing/2014/main" id="{F1DBFEDD-6E88-0F4C-A19A-EB73CD4825C5}"/>
              </a:ext>
            </a:extLst>
          </p:cNvPr>
          <p:cNvSpPr txBox="1"/>
          <p:nvPr/>
        </p:nvSpPr>
        <p:spPr>
          <a:xfrm>
            <a:off x="449196" y="1241573"/>
            <a:ext cx="2820003" cy="461665"/>
          </a:xfrm>
          <a:prstGeom prst="rect">
            <a:avLst/>
          </a:prstGeom>
          <a:noFill/>
        </p:spPr>
        <p:txBody>
          <a:bodyPr wrap="none" rtlCol="0">
            <a:spAutoFit/>
          </a:bodyPr>
          <a:lstStyle/>
          <a:p>
            <a:r>
              <a:rPr lang="en-US" dirty="0">
                <a:solidFill>
                  <a:srgbClr val="0432FF"/>
                </a:solidFill>
              </a:rPr>
              <a:t>Peer-to-Peer (P2P)</a:t>
            </a:r>
          </a:p>
        </p:txBody>
      </p:sp>
    </p:spTree>
    <p:extLst>
      <p:ext uri="{BB962C8B-B14F-4D97-AF65-F5344CB8AC3E}">
        <p14:creationId xmlns:p14="http://schemas.microsoft.com/office/powerpoint/2010/main" val="12935846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90F96-02A4-BF48-AFF5-031BCCF340DA}"/>
              </a:ext>
            </a:extLst>
          </p:cNvPr>
          <p:cNvSpPr>
            <a:spLocks noGrp="1"/>
          </p:cNvSpPr>
          <p:nvPr>
            <p:ph type="title"/>
          </p:nvPr>
        </p:nvSpPr>
        <p:spPr/>
        <p:txBody>
          <a:bodyPr/>
          <a:lstStyle/>
          <a:p>
            <a:r>
              <a:rPr lang="en-US" dirty="0"/>
              <a:t>History – Client/Server</a:t>
            </a:r>
          </a:p>
        </p:txBody>
      </p:sp>
      <p:sp>
        <p:nvSpPr>
          <p:cNvPr id="3" name="Footer Placeholder 2">
            <a:extLst>
              <a:ext uri="{FF2B5EF4-FFF2-40B4-BE49-F238E27FC236}">
                <a16:creationId xmlns:a16="http://schemas.microsoft.com/office/drawing/2014/main" id="{38281B52-64D5-3E43-9EA1-322ACDFA0163}"/>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F1D272B1-B7AE-BF48-B326-64F301751F08}"/>
              </a:ext>
            </a:extLst>
          </p:cNvPr>
          <p:cNvSpPr>
            <a:spLocks noGrp="1"/>
          </p:cNvSpPr>
          <p:nvPr>
            <p:ph type="sldNum" sz="quarter" idx="4"/>
          </p:nvPr>
        </p:nvSpPr>
        <p:spPr/>
        <p:txBody>
          <a:bodyPr/>
          <a:lstStyle/>
          <a:p>
            <a:fld id="{FD96158B-4539-3C43-9DE5-94C547866200}" type="slidenum">
              <a:rPr lang="en-US" smtClean="0"/>
              <a:t>16</a:t>
            </a:fld>
            <a:endParaRPr lang="en-US"/>
          </a:p>
        </p:txBody>
      </p:sp>
      <p:pic>
        <p:nvPicPr>
          <p:cNvPr id="6" name="Picture 5" descr="A close up of a device&#10;&#10;Description automatically generated">
            <a:extLst>
              <a:ext uri="{FF2B5EF4-FFF2-40B4-BE49-F238E27FC236}">
                <a16:creationId xmlns:a16="http://schemas.microsoft.com/office/drawing/2014/main" id="{E84AD07D-8273-EF44-A4E9-F9D6DD08B49D}"/>
              </a:ext>
            </a:extLst>
          </p:cNvPr>
          <p:cNvPicPr>
            <a:picLocks noChangeAspect="1"/>
          </p:cNvPicPr>
          <p:nvPr/>
        </p:nvPicPr>
        <p:blipFill>
          <a:blip r:embed="rId2"/>
          <a:stretch>
            <a:fillRect/>
          </a:stretch>
        </p:blipFill>
        <p:spPr>
          <a:xfrm>
            <a:off x="1763688" y="1700808"/>
            <a:ext cx="5400600" cy="4067541"/>
          </a:xfrm>
          <a:prstGeom prst="rect">
            <a:avLst/>
          </a:prstGeom>
        </p:spPr>
      </p:pic>
    </p:spTree>
    <p:extLst>
      <p:ext uri="{BB962C8B-B14F-4D97-AF65-F5344CB8AC3E}">
        <p14:creationId xmlns:p14="http://schemas.microsoft.com/office/powerpoint/2010/main" val="31111267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D3B35-DE77-D242-801B-12B78BE3F463}"/>
              </a:ext>
            </a:extLst>
          </p:cNvPr>
          <p:cNvSpPr>
            <a:spLocks noGrp="1"/>
          </p:cNvSpPr>
          <p:nvPr>
            <p:ph type="title"/>
          </p:nvPr>
        </p:nvSpPr>
        <p:spPr/>
        <p:txBody>
          <a:bodyPr/>
          <a:lstStyle/>
          <a:p>
            <a:r>
              <a:rPr lang="en-US" dirty="0"/>
              <a:t>History – Data Integration</a:t>
            </a:r>
          </a:p>
        </p:txBody>
      </p:sp>
      <p:sp>
        <p:nvSpPr>
          <p:cNvPr id="3" name="Footer Placeholder 2">
            <a:extLst>
              <a:ext uri="{FF2B5EF4-FFF2-40B4-BE49-F238E27FC236}">
                <a16:creationId xmlns:a16="http://schemas.microsoft.com/office/drawing/2014/main" id="{EC0572B1-D869-1845-B73A-E08F8E1FADF9}"/>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BA76791B-F929-544A-8846-0202CC840E6F}"/>
              </a:ext>
            </a:extLst>
          </p:cNvPr>
          <p:cNvSpPr>
            <a:spLocks noGrp="1"/>
          </p:cNvSpPr>
          <p:nvPr>
            <p:ph type="sldNum" sz="quarter" idx="4"/>
          </p:nvPr>
        </p:nvSpPr>
        <p:spPr/>
        <p:txBody>
          <a:bodyPr/>
          <a:lstStyle/>
          <a:p>
            <a:fld id="{FD96158B-4539-3C43-9DE5-94C547866200}" type="slidenum">
              <a:rPr lang="en-US" smtClean="0"/>
              <a:t>17</a:t>
            </a:fld>
            <a:endParaRPr lang="en-US"/>
          </a:p>
        </p:txBody>
      </p:sp>
      <p:pic>
        <p:nvPicPr>
          <p:cNvPr id="6" name="Picture 5" descr="A screenshot of a cell phone&#10;&#10;Description automatically generated">
            <a:extLst>
              <a:ext uri="{FF2B5EF4-FFF2-40B4-BE49-F238E27FC236}">
                <a16:creationId xmlns:a16="http://schemas.microsoft.com/office/drawing/2014/main" id="{32D8AA1C-DDE9-0A46-B012-63BD2873C8C9}"/>
              </a:ext>
            </a:extLst>
          </p:cNvPr>
          <p:cNvPicPr>
            <a:picLocks noChangeAspect="1"/>
          </p:cNvPicPr>
          <p:nvPr/>
        </p:nvPicPr>
        <p:blipFill>
          <a:blip r:embed="rId2"/>
          <a:stretch>
            <a:fillRect/>
          </a:stretch>
        </p:blipFill>
        <p:spPr>
          <a:xfrm>
            <a:off x="1979712" y="2132856"/>
            <a:ext cx="5063299" cy="3435810"/>
          </a:xfrm>
          <a:prstGeom prst="rect">
            <a:avLst/>
          </a:prstGeom>
        </p:spPr>
      </p:pic>
    </p:spTree>
    <p:extLst>
      <p:ext uri="{BB962C8B-B14F-4D97-AF65-F5344CB8AC3E}">
        <p14:creationId xmlns:p14="http://schemas.microsoft.com/office/powerpoint/2010/main" val="38601226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F6449-CD4D-3440-AE1C-83740F40CD61}"/>
              </a:ext>
            </a:extLst>
          </p:cNvPr>
          <p:cNvSpPr>
            <a:spLocks noGrp="1"/>
          </p:cNvSpPr>
          <p:nvPr>
            <p:ph type="title"/>
          </p:nvPr>
        </p:nvSpPr>
        <p:spPr/>
        <p:txBody>
          <a:bodyPr/>
          <a:lstStyle/>
          <a:p>
            <a:r>
              <a:rPr lang="en-US" dirty="0"/>
              <a:t>History – Cloud Computing</a:t>
            </a:r>
          </a:p>
        </p:txBody>
      </p:sp>
      <p:sp>
        <p:nvSpPr>
          <p:cNvPr id="4" name="Footer Placeholder 3">
            <a:extLst>
              <a:ext uri="{FF2B5EF4-FFF2-40B4-BE49-F238E27FC236}">
                <a16:creationId xmlns:a16="http://schemas.microsoft.com/office/drawing/2014/main" id="{2039C42F-E264-EF4D-B6FA-9071308CE6FC}"/>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88F50393-A61F-A943-971B-E6F130710A0C}"/>
              </a:ext>
            </a:extLst>
          </p:cNvPr>
          <p:cNvSpPr>
            <a:spLocks noGrp="1"/>
          </p:cNvSpPr>
          <p:nvPr>
            <p:ph type="sldNum" sz="quarter" idx="4"/>
          </p:nvPr>
        </p:nvSpPr>
        <p:spPr/>
        <p:txBody>
          <a:bodyPr/>
          <a:lstStyle/>
          <a:p>
            <a:fld id="{FD96158B-4539-3C43-9DE5-94C547866200}" type="slidenum">
              <a:rPr lang="en-US" smtClean="0"/>
              <a:t>18</a:t>
            </a:fld>
            <a:endParaRPr lang="en-US"/>
          </a:p>
        </p:txBody>
      </p:sp>
      <p:sp>
        <p:nvSpPr>
          <p:cNvPr id="9" name="Content Placeholder 8">
            <a:extLst>
              <a:ext uri="{FF2B5EF4-FFF2-40B4-BE49-F238E27FC236}">
                <a16:creationId xmlns:a16="http://schemas.microsoft.com/office/drawing/2014/main" id="{0EEC1910-C04E-A04D-A0F5-E7C647B2F71D}"/>
              </a:ext>
            </a:extLst>
          </p:cNvPr>
          <p:cNvSpPr>
            <a:spLocks noGrp="1"/>
          </p:cNvSpPr>
          <p:nvPr>
            <p:ph idx="1"/>
          </p:nvPr>
        </p:nvSpPr>
        <p:spPr>
          <a:xfrm>
            <a:off x="457200" y="1600200"/>
            <a:ext cx="8229600" cy="1972815"/>
          </a:xfrm>
        </p:spPr>
        <p:txBody>
          <a:bodyPr/>
          <a:lstStyle/>
          <a:p>
            <a:pPr marL="0" indent="0">
              <a:buNone/>
            </a:pPr>
            <a:r>
              <a:rPr lang="en-US" dirty="0"/>
              <a:t>On-demand, reliable services provided over the Internet in a cost-efficient manner</a:t>
            </a:r>
          </a:p>
          <a:p>
            <a:r>
              <a:rPr lang="en-US" dirty="0"/>
              <a:t>Cost savings: no need to maintain dedicated compute power</a:t>
            </a:r>
          </a:p>
          <a:p>
            <a:r>
              <a:rPr lang="en-US" dirty="0"/>
              <a:t>Elasticity: better adaptivity to changing workload</a:t>
            </a:r>
          </a:p>
        </p:txBody>
      </p:sp>
      <p:pic>
        <p:nvPicPr>
          <p:cNvPr id="13" name="Picture 12" descr="A close up of text on a white background&#10;&#10;Description automatically generated">
            <a:extLst>
              <a:ext uri="{FF2B5EF4-FFF2-40B4-BE49-F238E27FC236}">
                <a16:creationId xmlns:a16="http://schemas.microsoft.com/office/drawing/2014/main" id="{E73F3D88-530C-8447-AB9D-2C040E9E30E6}"/>
              </a:ext>
            </a:extLst>
          </p:cNvPr>
          <p:cNvPicPr>
            <a:picLocks noChangeAspect="1"/>
          </p:cNvPicPr>
          <p:nvPr/>
        </p:nvPicPr>
        <p:blipFill>
          <a:blip r:embed="rId3"/>
          <a:stretch>
            <a:fillRect/>
          </a:stretch>
        </p:blipFill>
        <p:spPr>
          <a:xfrm>
            <a:off x="2627784" y="3645024"/>
            <a:ext cx="3707904" cy="2454030"/>
          </a:xfrm>
          <a:prstGeom prst="rect">
            <a:avLst/>
          </a:prstGeom>
        </p:spPr>
      </p:pic>
    </p:spTree>
    <p:extLst>
      <p:ext uri="{BB962C8B-B14F-4D97-AF65-F5344CB8AC3E}">
        <p14:creationId xmlns:p14="http://schemas.microsoft.com/office/powerpoint/2010/main" val="19631030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Delivery Alternatives</a:t>
            </a:r>
          </a:p>
        </p:txBody>
      </p:sp>
      <p:sp>
        <p:nvSpPr>
          <p:cNvPr id="3" name="Content Placeholder 2"/>
          <p:cNvSpPr>
            <a:spLocks noGrp="1"/>
          </p:cNvSpPr>
          <p:nvPr>
            <p:ph idx="1"/>
          </p:nvPr>
        </p:nvSpPr>
        <p:spPr>
          <a:xfrm>
            <a:off x="457200" y="1484784"/>
            <a:ext cx="8229600" cy="4530725"/>
          </a:xfrm>
        </p:spPr>
        <p:txBody>
          <a:bodyPr/>
          <a:lstStyle/>
          <a:p>
            <a:r>
              <a:rPr lang="en-US" dirty="0"/>
              <a:t>Delivery modes</a:t>
            </a:r>
          </a:p>
          <a:p>
            <a:pPr lvl="1"/>
            <a:r>
              <a:rPr lang="en-US" dirty="0"/>
              <a:t>Pull-only</a:t>
            </a:r>
          </a:p>
          <a:p>
            <a:pPr lvl="1"/>
            <a:r>
              <a:rPr lang="en-US" dirty="0"/>
              <a:t>Push-only</a:t>
            </a:r>
          </a:p>
          <a:p>
            <a:pPr lvl="1"/>
            <a:r>
              <a:rPr lang="en-US" dirty="0"/>
              <a:t>Hybrid</a:t>
            </a:r>
          </a:p>
          <a:p>
            <a:r>
              <a:rPr lang="en-US" dirty="0"/>
              <a:t>Frequency</a:t>
            </a:r>
          </a:p>
          <a:p>
            <a:pPr lvl="1"/>
            <a:r>
              <a:rPr lang="en-US" dirty="0"/>
              <a:t>Periodic</a:t>
            </a:r>
          </a:p>
          <a:p>
            <a:pPr lvl="1"/>
            <a:r>
              <a:rPr lang="en-US" dirty="0"/>
              <a:t>Conditional</a:t>
            </a:r>
          </a:p>
          <a:p>
            <a:pPr lvl="1"/>
            <a:r>
              <a:rPr lang="en-US" dirty="0"/>
              <a:t>Ad-hoc or irregular</a:t>
            </a:r>
          </a:p>
          <a:p>
            <a:r>
              <a:rPr lang="en-US" dirty="0"/>
              <a:t>Communication Methods</a:t>
            </a:r>
          </a:p>
          <a:p>
            <a:pPr lvl="1"/>
            <a:r>
              <a:rPr lang="en-US" dirty="0"/>
              <a:t>Unicast</a:t>
            </a:r>
          </a:p>
          <a:p>
            <a:pPr lvl="1"/>
            <a:r>
              <a:rPr lang="en-US" dirty="0"/>
              <a:t>One-to-many</a:t>
            </a:r>
          </a:p>
          <a:p>
            <a:r>
              <a:rPr lang="en-US" dirty="0"/>
              <a:t>Note: not all combinations make sense</a:t>
            </a:r>
          </a:p>
        </p:txBody>
      </p:sp>
      <p:sp>
        <p:nvSpPr>
          <p:cNvPr id="4" name="Footer Placeholder 3">
            <a:extLst>
              <a:ext uri="{FF2B5EF4-FFF2-40B4-BE49-F238E27FC236}">
                <a16:creationId xmlns:a16="http://schemas.microsoft.com/office/drawing/2014/main" id="{98210331-D800-C84B-9828-C8569ED9863C}"/>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52E67A57-26A1-2F48-A04A-742F35C2DBDF}"/>
              </a:ext>
            </a:extLst>
          </p:cNvPr>
          <p:cNvSpPr>
            <a:spLocks noGrp="1"/>
          </p:cNvSpPr>
          <p:nvPr>
            <p:ph type="sldNum" sz="quarter" idx="4"/>
          </p:nvPr>
        </p:nvSpPr>
        <p:spPr/>
        <p:txBody>
          <a:bodyPr/>
          <a:lstStyle/>
          <a:p>
            <a:fld id="{FD96158B-4539-3C43-9DE5-94C547866200}" type="slidenum">
              <a:rPr lang="en-US" smtClean="0"/>
              <a:t>19</a:t>
            </a:fld>
            <a:endParaRPr lang="en-US"/>
          </a:p>
        </p:txBody>
      </p:sp>
    </p:spTree>
    <p:extLst>
      <p:ext uri="{BB962C8B-B14F-4D97-AF65-F5344CB8AC3E}">
        <p14:creationId xmlns:p14="http://schemas.microsoft.com/office/powerpoint/2010/main" val="9042717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dirty="0"/>
              <a:t>Outline</a:t>
            </a:r>
          </a:p>
        </p:txBody>
      </p:sp>
      <p:sp>
        <p:nvSpPr>
          <p:cNvPr id="15362" name="Rectangle 2"/>
          <p:cNvSpPr>
            <a:spLocks noGrp="1" noChangeArrowheads="1"/>
          </p:cNvSpPr>
          <p:nvPr>
            <p:ph idx="1"/>
          </p:nvPr>
        </p:nvSpPr>
        <p:spPr>
          <a:xfrm>
            <a:off x="457200" y="1268760"/>
            <a:ext cx="8229600" cy="4862165"/>
          </a:xfrm>
          <a:ln/>
        </p:spPr>
        <p:txBody>
          <a:bodyPr>
            <a:normAutofit/>
          </a:bodyPr>
          <a:lstStyle/>
          <a:p>
            <a:r>
              <a:rPr lang="en-US" dirty="0">
                <a:solidFill>
                  <a:srgbClr val="1771A9"/>
                </a:solidFill>
                <a:cs typeface="Book Antiqua"/>
              </a:rPr>
              <a:t>Introduction</a:t>
            </a:r>
          </a:p>
          <a:p>
            <a:pPr lvl="1"/>
            <a:r>
              <a:rPr lang="en-US" dirty="0">
                <a:solidFill>
                  <a:srgbClr val="1771A9">
                    <a:alpha val="25000"/>
                  </a:srgbClr>
                </a:solidFill>
                <a:cs typeface="Book Antiqua"/>
              </a:rPr>
              <a:t>What is a distributed DBMS</a:t>
            </a:r>
          </a:p>
          <a:p>
            <a:pPr lvl="1"/>
            <a:r>
              <a:rPr lang="en-US" dirty="0">
                <a:solidFill>
                  <a:srgbClr val="1771A9">
                    <a:alpha val="25000"/>
                  </a:srgbClr>
                </a:solidFill>
                <a:cs typeface="Book Antiqua"/>
              </a:rPr>
              <a:t>History</a:t>
            </a:r>
          </a:p>
          <a:p>
            <a:pPr lvl="1"/>
            <a:r>
              <a:rPr lang="en-US" dirty="0">
                <a:solidFill>
                  <a:srgbClr val="1771A9"/>
                </a:solidFill>
                <a:cs typeface="Book Antiqua"/>
              </a:rPr>
              <a:t>Distributed DBMS promises</a:t>
            </a:r>
          </a:p>
          <a:p>
            <a:pPr lvl="1"/>
            <a:r>
              <a:rPr lang="en-US" dirty="0">
                <a:solidFill>
                  <a:srgbClr val="1771A9">
                    <a:alpha val="25000"/>
                  </a:srgbClr>
                </a:solidFill>
                <a:cs typeface="Book Antiqua"/>
              </a:rPr>
              <a:t>Design issues</a:t>
            </a:r>
          </a:p>
          <a:p>
            <a:pPr lvl="1"/>
            <a:r>
              <a:rPr lang="en-US" dirty="0">
                <a:solidFill>
                  <a:srgbClr val="1771A9">
                    <a:alpha val="25000"/>
                  </a:srgbClr>
                </a:solidFill>
                <a:cs typeface="Book Antiqua"/>
              </a:rPr>
              <a:t>Distributed DBMS architecture</a:t>
            </a:r>
          </a:p>
        </p:txBody>
      </p:sp>
      <p:sp>
        <p:nvSpPr>
          <p:cNvPr id="2" name="Footer Placeholder 1">
            <a:extLst>
              <a:ext uri="{FF2B5EF4-FFF2-40B4-BE49-F238E27FC236}">
                <a16:creationId xmlns:a16="http://schemas.microsoft.com/office/drawing/2014/main" id="{351B72E8-7C79-424E-A232-677D185C1BED}"/>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61C3681F-B44B-9F40-96A9-7695DC0EC710}"/>
              </a:ext>
            </a:extLst>
          </p:cNvPr>
          <p:cNvSpPr>
            <a:spLocks noGrp="1"/>
          </p:cNvSpPr>
          <p:nvPr>
            <p:ph type="sldNum" sz="quarter" idx="4"/>
          </p:nvPr>
        </p:nvSpPr>
        <p:spPr/>
        <p:txBody>
          <a:bodyPr/>
          <a:lstStyle/>
          <a:p>
            <a:fld id="{FD96158B-4539-3C43-9DE5-94C547866200}" type="slidenum">
              <a:rPr lang="en-US" smtClean="0"/>
              <a:t>20</a:t>
            </a:fld>
            <a:endParaRPr lang="en-US"/>
          </a:p>
        </p:txBody>
      </p:sp>
    </p:spTree>
    <p:extLst>
      <p:ext uri="{BB962C8B-B14F-4D97-AF65-F5344CB8AC3E}">
        <p14:creationId xmlns:p14="http://schemas.microsoft.com/office/powerpoint/2010/main" val="25201035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a:lstStyle/>
          <a:p>
            <a:r>
              <a:rPr lang="en-US" dirty="0"/>
              <a:t>Distributed DBMS Promises</a:t>
            </a:r>
          </a:p>
        </p:txBody>
      </p:sp>
      <p:sp>
        <p:nvSpPr>
          <p:cNvPr id="60419" name="Rectangle 3"/>
          <p:cNvSpPr>
            <a:spLocks noGrp="1" noChangeArrowheads="1"/>
          </p:cNvSpPr>
          <p:nvPr>
            <p:ph idx="1"/>
          </p:nvPr>
        </p:nvSpPr>
        <p:spPr>
          <a:noFill/>
          <a:ln/>
        </p:spPr>
        <p:txBody>
          <a:bodyPr/>
          <a:lstStyle/>
          <a:p>
            <a:pPr marL="286856">
              <a:spcBef>
                <a:spcPct val="100000"/>
              </a:spcBef>
              <a:buSzPct val="100000"/>
              <a:buFont typeface="Wingdings" pitchFamily="2" charset="2"/>
              <a:buChar char=""/>
            </a:pPr>
            <a:r>
              <a:rPr lang="en-US" dirty="0"/>
              <a:t>Transparent management of distributed, fragmented, and replicated data</a:t>
            </a:r>
          </a:p>
          <a:p>
            <a:pPr marL="286856">
              <a:spcBef>
                <a:spcPct val="100000"/>
              </a:spcBef>
              <a:buSzPct val="100000"/>
              <a:buFont typeface="Wingdings" pitchFamily="2" charset="2"/>
              <a:buChar char=""/>
            </a:pPr>
            <a:r>
              <a:rPr lang="en-US" dirty="0"/>
              <a:t>Improved reliability/availability through distributed transactions</a:t>
            </a:r>
          </a:p>
          <a:p>
            <a:pPr marL="286856">
              <a:spcBef>
                <a:spcPct val="100000"/>
              </a:spcBef>
              <a:buSzPct val="100000"/>
              <a:buFont typeface="Wingdings" pitchFamily="2" charset="2"/>
              <a:buChar char=""/>
            </a:pPr>
            <a:r>
              <a:rPr lang="en-US" dirty="0"/>
              <a:t>Improved performance</a:t>
            </a:r>
          </a:p>
          <a:p>
            <a:pPr marL="286856">
              <a:spcBef>
                <a:spcPct val="100000"/>
              </a:spcBef>
              <a:buSzPct val="100000"/>
              <a:buFont typeface="Wingdings" pitchFamily="2" charset="2"/>
              <a:buChar char=""/>
            </a:pPr>
            <a:r>
              <a:rPr lang="en-US" dirty="0"/>
              <a:t>Easier and more economical system expansion</a:t>
            </a:r>
          </a:p>
        </p:txBody>
      </p:sp>
      <p:sp>
        <p:nvSpPr>
          <p:cNvPr id="2" name="Slide Number Placeholder 1"/>
          <p:cNvSpPr>
            <a:spLocks noGrp="1"/>
          </p:cNvSpPr>
          <p:nvPr>
            <p:ph type="sldNum" sz="quarter" idx="10"/>
          </p:nvPr>
        </p:nvSpPr>
        <p:spPr>
          <a:xfrm>
            <a:off x="11758984" y="9499600"/>
            <a:ext cx="864816" cy="304800"/>
          </a:xfrm>
          <a:prstGeom prst="rect">
            <a:avLst/>
          </a:prstGeom>
        </p:spPr>
        <p:txBody>
          <a:bodyPr/>
          <a:lstStyle>
            <a:defPPr>
              <a:defRPr lang="en-US"/>
            </a:defPPr>
            <a:lvl1pPr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1pPr>
            <a:lvl2pPr marL="4572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2pPr>
            <a:lvl3pPr marL="9144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3pPr>
            <a:lvl4pPr marL="13716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4pPr>
            <a:lvl5pPr marL="18288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5pPr>
            <a:lvl6pPr marL="22860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6pPr>
            <a:lvl7pPr marL="27432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7pPr>
            <a:lvl8pPr marL="32004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8pPr>
            <a:lvl9pPr marL="36576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9pPr>
          </a:lstStyle>
          <a:p>
            <a:r>
              <a:rPr lang="en-US">
                <a:latin typeface="Book Antiqua"/>
              </a:rPr>
              <a:t>Ch.1/</a:t>
            </a:r>
            <a:fld id="{D01B99BC-F82C-D046-99BD-FBA1D66F1CB4}" type="slidenum">
              <a:rPr lang="en-US" smtClean="0">
                <a:latin typeface="Book Antiqua"/>
              </a:rPr>
              <a:pPr/>
              <a:t>21</a:t>
            </a:fld>
            <a:endParaRPr lang="en-US" dirty="0">
              <a:latin typeface="Book Antiqua"/>
            </a:endParaRPr>
          </a:p>
        </p:txBody>
      </p:sp>
      <p:sp>
        <p:nvSpPr>
          <p:cNvPr id="3" name="Footer Placeholder 2">
            <a:extLst>
              <a:ext uri="{FF2B5EF4-FFF2-40B4-BE49-F238E27FC236}">
                <a16:creationId xmlns:a16="http://schemas.microsoft.com/office/drawing/2014/main" id="{C8E0F610-57A4-8440-AF15-07657BD13A29}"/>
              </a:ext>
            </a:extLst>
          </p:cNvPr>
          <p:cNvSpPr>
            <a:spLocks noGrp="1"/>
          </p:cNvSpPr>
          <p:nvPr>
            <p:ph type="ftr" sz="quarter" idx="3"/>
          </p:nvPr>
        </p:nvSpPr>
        <p:spPr/>
        <p:txBody>
          <a:bodyPr/>
          <a:lstStyle/>
          <a:p>
            <a:r>
              <a:rPr lang="en-US"/>
              <a:t>© 2020, M.T. Özsu &amp; P. Valduriez TS. Pan Thị Hà_PTIT</a:t>
            </a:r>
            <a:endParaRPr lang="en-US" dirty="0"/>
          </a:p>
        </p:txBody>
      </p:sp>
    </p:spTree>
    <p:extLst>
      <p:ext uri="{BB962C8B-B14F-4D97-AF65-F5344CB8AC3E}">
        <p14:creationId xmlns:p14="http://schemas.microsoft.com/office/powerpoint/2010/main" val="38558286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noFill/>
          <a:ln/>
        </p:spPr>
        <p:txBody>
          <a:bodyPr/>
          <a:lstStyle/>
          <a:p>
            <a:r>
              <a:rPr lang="en-US" dirty="0"/>
              <a:t>Transparency: </a:t>
            </a:r>
            <a:r>
              <a:rPr lang="en-US" dirty="0" err="1"/>
              <a:t>Trong</a:t>
            </a:r>
            <a:r>
              <a:rPr lang="en-US" dirty="0"/>
              <a:t> </a:t>
            </a:r>
            <a:r>
              <a:rPr lang="en-US" dirty="0" err="1"/>
              <a:t>suốt</a:t>
            </a:r>
            <a:endParaRPr lang="en-US" dirty="0"/>
          </a:p>
        </p:txBody>
      </p:sp>
      <p:sp>
        <p:nvSpPr>
          <p:cNvPr id="103427" name="Rectangle 3"/>
          <p:cNvSpPr>
            <a:spLocks noGrp="1" noChangeArrowheads="1"/>
          </p:cNvSpPr>
          <p:nvPr>
            <p:ph idx="1"/>
          </p:nvPr>
        </p:nvSpPr>
        <p:spPr>
          <a:noFill/>
          <a:ln/>
        </p:spPr>
        <p:txBody>
          <a:bodyPr/>
          <a:lstStyle/>
          <a:p>
            <a:pPr>
              <a:spcBef>
                <a:spcPts val="0"/>
              </a:spcBef>
              <a:spcAft>
                <a:spcPts val="844"/>
              </a:spcAft>
            </a:pPr>
            <a:r>
              <a:rPr lang="en-US" dirty="0"/>
              <a:t>Transparency is the separation of the higher-level semantics of a system from the lower level implementation issues.</a:t>
            </a:r>
          </a:p>
          <a:p>
            <a:pPr>
              <a:lnSpc>
                <a:spcPct val="80000"/>
              </a:lnSpc>
            </a:pPr>
            <a:r>
              <a:rPr lang="en-US" dirty="0"/>
              <a:t>Fundamental issue is to provide</a:t>
            </a:r>
          </a:p>
          <a:p>
            <a:pPr lvl="4">
              <a:lnSpc>
                <a:spcPct val="80000"/>
              </a:lnSpc>
              <a:buFontTx/>
              <a:buNone/>
            </a:pPr>
            <a:r>
              <a:rPr lang="en-US" sz="2400" dirty="0">
                <a:solidFill>
                  <a:srgbClr val="0432FF"/>
                </a:solidFill>
              </a:rPr>
              <a:t>data independence</a:t>
            </a:r>
            <a:endParaRPr lang="en-US" sz="1400" dirty="0">
              <a:solidFill>
                <a:srgbClr val="0432FF"/>
              </a:solidFill>
            </a:endParaRPr>
          </a:p>
          <a:p>
            <a:pPr>
              <a:lnSpc>
                <a:spcPct val="80000"/>
              </a:lnSpc>
              <a:buFont typeface="Monotype Sorts" charset="0"/>
              <a:buNone/>
            </a:pPr>
            <a:r>
              <a:rPr lang="en-US" dirty="0"/>
              <a:t> 	in the distributed environment</a:t>
            </a:r>
          </a:p>
          <a:p>
            <a:pPr lvl="1">
              <a:lnSpc>
                <a:spcPct val="100000"/>
              </a:lnSpc>
              <a:spcBef>
                <a:spcPts val="600"/>
              </a:spcBef>
            </a:pPr>
            <a:r>
              <a:rPr lang="en-US" dirty="0"/>
              <a:t>Network (distribution) transparency</a:t>
            </a:r>
          </a:p>
          <a:p>
            <a:pPr lvl="1">
              <a:lnSpc>
                <a:spcPct val="100000"/>
              </a:lnSpc>
              <a:spcBef>
                <a:spcPts val="600"/>
              </a:spcBef>
            </a:pPr>
            <a:r>
              <a:rPr lang="en-US" dirty="0"/>
              <a:t>Replication transparency</a:t>
            </a:r>
          </a:p>
          <a:p>
            <a:pPr lvl="1">
              <a:lnSpc>
                <a:spcPct val="100000"/>
              </a:lnSpc>
              <a:spcBef>
                <a:spcPts val="600"/>
              </a:spcBef>
            </a:pPr>
            <a:r>
              <a:rPr lang="en-US" dirty="0"/>
              <a:t>Fragmentation transparency</a:t>
            </a:r>
          </a:p>
          <a:p>
            <a:pPr lvl="2">
              <a:lnSpc>
                <a:spcPct val="80000"/>
              </a:lnSpc>
            </a:pPr>
            <a:r>
              <a:rPr lang="en-US" sz="2000" dirty="0"/>
              <a:t>horizontal fragmentation: selection</a:t>
            </a:r>
          </a:p>
          <a:p>
            <a:pPr lvl="2">
              <a:lnSpc>
                <a:spcPct val="80000"/>
              </a:lnSpc>
            </a:pPr>
            <a:r>
              <a:rPr lang="en-US" sz="2000" dirty="0"/>
              <a:t>vertical fragmentation: projection</a:t>
            </a:r>
          </a:p>
          <a:p>
            <a:pPr lvl="2">
              <a:lnSpc>
                <a:spcPct val="80000"/>
              </a:lnSpc>
            </a:pPr>
            <a:r>
              <a:rPr lang="en-US" sz="2000" dirty="0"/>
              <a:t>hybrid</a:t>
            </a:r>
            <a:endParaRPr lang="en-US" sz="1617" dirty="0"/>
          </a:p>
        </p:txBody>
      </p:sp>
      <p:sp>
        <p:nvSpPr>
          <p:cNvPr id="2" name="Slide Number Placeholder 1"/>
          <p:cNvSpPr>
            <a:spLocks noGrp="1"/>
          </p:cNvSpPr>
          <p:nvPr>
            <p:ph type="sldNum" sz="quarter" idx="10"/>
          </p:nvPr>
        </p:nvSpPr>
        <p:spPr>
          <a:xfrm>
            <a:off x="11758984" y="9499600"/>
            <a:ext cx="864816" cy="304800"/>
          </a:xfrm>
          <a:prstGeom prst="rect">
            <a:avLst/>
          </a:prstGeom>
        </p:spPr>
        <p:txBody>
          <a:bodyPr/>
          <a:lstStyle>
            <a:defPPr>
              <a:defRPr lang="en-US"/>
            </a:defPPr>
            <a:lvl1pPr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1pPr>
            <a:lvl2pPr marL="4572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2pPr>
            <a:lvl3pPr marL="9144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3pPr>
            <a:lvl4pPr marL="13716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4pPr>
            <a:lvl5pPr marL="1828800" algn="ctr" rtl="0" fontAlgn="base">
              <a:spcBef>
                <a:spcPct val="0"/>
              </a:spcBef>
              <a:spcAft>
                <a:spcPct val="0"/>
              </a:spcAft>
              <a:defRPr sz="3000" kern="1200">
                <a:solidFill>
                  <a:srgbClr val="263750"/>
                </a:solidFill>
                <a:latin typeface="Palatino" charset="0"/>
                <a:ea typeface="ヒラギノ明朝 ProN W3" charset="0"/>
                <a:cs typeface="ヒラギノ明朝 ProN W3" charset="0"/>
                <a:sym typeface="Palatino" charset="0"/>
              </a:defRPr>
            </a:lvl5pPr>
            <a:lvl6pPr marL="22860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6pPr>
            <a:lvl7pPr marL="27432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7pPr>
            <a:lvl8pPr marL="32004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8pPr>
            <a:lvl9pPr marL="3657600" algn="l" defTabSz="457200" rtl="0" eaLnBrk="1" latinLnBrk="0" hangingPunct="1">
              <a:defRPr sz="3000" kern="1200">
                <a:solidFill>
                  <a:srgbClr val="263750"/>
                </a:solidFill>
                <a:latin typeface="Palatino" charset="0"/>
                <a:ea typeface="ヒラギノ明朝 ProN W3" charset="0"/>
                <a:cs typeface="ヒラギノ明朝 ProN W3" charset="0"/>
                <a:sym typeface="Palatino" charset="0"/>
              </a:defRPr>
            </a:lvl9pPr>
          </a:lstStyle>
          <a:p>
            <a:r>
              <a:rPr lang="en-US">
                <a:latin typeface="Book Antiqua"/>
              </a:rPr>
              <a:t>Ch.1/</a:t>
            </a:r>
            <a:fld id="{D01B99BC-F82C-D046-99BD-FBA1D66F1CB4}" type="slidenum">
              <a:rPr lang="en-US" smtClean="0">
                <a:latin typeface="Book Antiqua"/>
              </a:rPr>
              <a:pPr/>
              <a:t>22</a:t>
            </a:fld>
            <a:endParaRPr lang="en-US" dirty="0">
              <a:latin typeface="Book Antiqua"/>
            </a:endParaRPr>
          </a:p>
        </p:txBody>
      </p:sp>
      <p:sp>
        <p:nvSpPr>
          <p:cNvPr id="3" name="Footer Placeholder 2">
            <a:extLst>
              <a:ext uri="{FF2B5EF4-FFF2-40B4-BE49-F238E27FC236}">
                <a16:creationId xmlns:a16="http://schemas.microsoft.com/office/drawing/2014/main" id="{D0330D7A-797D-FE43-B84A-7AF5720174CA}"/>
              </a:ext>
            </a:extLst>
          </p:cNvPr>
          <p:cNvSpPr>
            <a:spLocks noGrp="1"/>
          </p:cNvSpPr>
          <p:nvPr>
            <p:ph type="ftr" sz="quarter" idx="3"/>
          </p:nvPr>
        </p:nvSpPr>
        <p:spPr/>
        <p:txBody>
          <a:bodyPr/>
          <a:lstStyle/>
          <a:p>
            <a:r>
              <a:rPr lang="en-US"/>
              <a:t>© 2020, M.T. Özsu &amp; P. Valduriez TS. Pan Thị Hà_PTIT</a:t>
            </a:r>
            <a:endParaRPr lang="en-US" dirty="0"/>
          </a:p>
        </p:txBody>
      </p:sp>
    </p:spTree>
    <p:extLst>
      <p:ext uri="{BB962C8B-B14F-4D97-AF65-F5344CB8AC3E}">
        <p14:creationId xmlns:p14="http://schemas.microsoft.com/office/powerpoint/2010/main" val="10245587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noFill/>
          <a:ln/>
        </p:spPr>
        <p:txBody>
          <a:bodyPr/>
          <a:lstStyle/>
          <a:p>
            <a:r>
              <a:rPr lang="en-US" dirty="0"/>
              <a:t>Example</a:t>
            </a:r>
          </a:p>
        </p:txBody>
      </p:sp>
      <p:sp>
        <p:nvSpPr>
          <p:cNvPr id="89091" name="Rectangle 3"/>
          <p:cNvSpPr>
            <a:spLocks noChangeArrowheads="1"/>
          </p:cNvSpPr>
          <p:nvPr/>
        </p:nvSpPr>
        <p:spPr bwMode="auto">
          <a:xfrm>
            <a:off x="876300" y="1663700"/>
            <a:ext cx="7353300" cy="266700"/>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pic>
        <p:nvPicPr>
          <p:cNvPr id="4" name="Picture 3" descr="Fig-2-3.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1107056"/>
            <a:ext cx="5428313" cy="4760738"/>
          </a:xfrm>
          <a:prstGeom prst="rect">
            <a:avLst/>
          </a:prstGeom>
        </p:spPr>
      </p:pic>
      <p:sp>
        <p:nvSpPr>
          <p:cNvPr id="2" name="Footer Placeholder 1">
            <a:extLst>
              <a:ext uri="{FF2B5EF4-FFF2-40B4-BE49-F238E27FC236}">
                <a16:creationId xmlns:a16="http://schemas.microsoft.com/office/drawing/2014/main" id="{F35D911A-2F9C-5F43-9EAF-60668C58EA16}"/>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4A88D21B-E852-3740-BF3B-C960AC493D20}"/>
              </a:ext>
            </a:extLst>
          </p:cNvPr>
          <p:cNvSpPr>
            <a:spLocks noGrp="1"/>
          </p:cNvSpPr>
          <p:nvPr>
            <p:ph type="sldNum" sz="quarter" idx="4"/>
          </p:nvPr>
        </p:nvSpPr>
        <p:spPr/>
        <p:txBody>
          <a:bodyPr/>
          <a:lstStyle/>
          <a:p>
            <a:fld id="{FD96158B-4539-3C43-9DE5-94C547866200}" type="slidenum">
              <a:rPr lang="en-US" smtClean="0"/>
              <a:t>23</a:t>
            </a:fld>
            <a:endParaRPr lang="en-US"/>
          </a:p>
        </p:txBody>
      </p:sp>
    </p:spTree>
    <p:extLst>
      <p:ext uri="{BB962C8B-B14F-4D97-AF65-F5344CB8AC3E}">
        <p14:creationId xmlns:p14="http://schemas.microsoft.com/office/powerpoint/2010/main" val="22132562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noFill/>
          <a:ln/>
        </p:spPr>
        <p:txBody>
          <a:bodyPr/>
          <a:lstStyle/>
          <a:p>
            <a:r>
              <a:rPr lang="en-US" dirty="0"/>
              <a:t>Transparent Access</a:t>
            </a:r>
          </a:p>
        </p:txBody>
      </p:sp>
      <p:sp>
        <p:nvSpPr>
          <p:cNvPr id="91139" name="Rectangle 3"/>
          <p:cNvSpPr>
            <a:spLocks noGrp="1" noChangeArrowheads="1"/>
          </p:cNvSpPr>
          <p:nvPr>
            <p:ph type="body" idx="4294967295"/>
          </p:nvPr>
        </p:nvSpPr>
        <p:spPr>
          <a:xfrm>
            <a:off x="133771" y="1915993"/>
            <a:ext cx="4134445" cy="1867421"/>
          </a:xfrm>
          <a:noFill/>
          <a:ln/>
        </p:spPr>
        <p:txBody>
          <a:bodyPr/>
          <a:lstStyle/>
          <a:p>
            <a:pPr>
              <a:buNone/>
              <a:tabLst>
                <a:tab pos="919116" algn="l"/>
              </a:tabLst>
            </a:pPr>
            <a:r>
              <a:rPr lang="en-US" sz="1828" b="1" dirty="0">
                <a:latin typeface="Courier New" charset="0"/>
              </a:rPr>
              <a:t>SELECT</a:t>
            </a:r>
            <a:r>
              <a:rPr lang="en-US" sz="1828" dirty="0">
                <a:latin typeface="Courier New" charset="0"/>
              </a:rPr>
              <a:t>	ENAME,SAL</a:t>
            </a:r>
          </a:p>
          <a:p>
            <a:pPr>
              <a:buNone/>
              <a:tabLst>
                <a:tab pos="919116" algn="l"/>
              </a:tabLst>
            </a:pPr>
            <a:r>
              <a:rPr lang="en-US" sz="1828" b="1" dirty="0">
                <a:latin typeface="Courier New" charset="0"/>
              </a:rPr>
              <a:t>FROM</a:t>
            </a:r>
            <a:r>
              <a:rPr lang="en-US" sz="1828" dirty="0">
                <a:latin typeface="Courier New" charset="0"/>
              </a:rPr>
              <a:t>	EMP,ASG,PAY</a:t>
            </a:r>
          </a:p>
          <a:p>
            <a:pPr>
              <a:buNone/>
              <a:tabLst>
                <a:tab pos="919116" algn="l"/>
              </a:tabLst>
            </a:pPr>
            <a:r>
              <a:rPr lang="en-US" sz="1828" b="1" dirty="0">
                <a:latin typeface="Courier New" charset="0"/>
              </a:rPr>
              <a:t>WHERE</a:t>
            </a:r>
            <a:r>
              <a:rPr lang="en-US" sz="1828" dirty="0">
                <a:latin typeface="Courier New" charset="0"/>
              </a:rPr>
              <a:t>	DUR &gt; 12</a:t>
            </a:r>
          </a:p>
          <a:p>
            <a:pPr>
              <a:buNone/>
              <a:tabLst>
                <a:tab pos="919116" algn="l"/>
              </a:tabLst>
            </a:pPr>
            <a:r>
              <a:rPr lang="en-US" sz="1828" b="1" dirty="0">
                <a:latin typeface="Courier New" charset="0"/>
              </a:rPr>
              <a:t>AND</a:t>
            </a:r>
            <a:r>
              <a:rPr lang="en-US" sz="1828" dirty="0">
                <a:latin typeface="Courier New" charset="0"/>
              </a:rPr>
              <a:t>	EMP.ENO = ASG.ENO</a:t>
            </a:r>
          </a:p>
          <a:p>
            <a:pPr>
              <a:buNone/>
              <a:tabLst>
                <a:tab pos="919116" algn="l"/>
              </a:tabLst>
            </a:pPr>
            <a:r>
              <a:rPr lang="en-US" sz="1828" b="1" dirty="0">
                <a:latin typeface="Courier New" charset="0"/>
              </a:rPr>
              <a:t>AND</a:t>
            </a:r>
            <a:r>
              <a:rPr lang="en-US" sz="1828" dirty="0">
                <a:latin typeface="Courier New" charset="0"/>
              </a:rPr>
              <a:t>	PAY.TITLE = EMP.TITLE</a:t>
            </a:r>
          </a:p>
        </p:txBody>
      </p:sp>
      <p:sp>
        <p:nvSpPr>
          <p:cNvPr id="91141" name="Rectangle 5"/>
          <p:cNvSpPr>
            <a:spLocks noChangeArrowheads="1"/>
          </p:cNvSpPr>
          <p:nvPr/>
        </p:nvSpPr>
        <p:spPr bwMode="auto">
          <a:xfrm>
            <a:off x="7460341" y="2602705"/>
            <a:ext cx="1383642" cy="842306"/>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266" dirty="0">
                <a:solidFill>
                  <a:srgbClr val="037C03"/>
                </a:solidFill>
                <a:latin typeface="+mn-ea"/>
                <a:ea typeface="+mn-ea"/>
              </a:rPr>
              <a:t>Paris projects</a:t>
            </a:r>
          </a:p>
          <a:p>
            <a:r>
              <a:rPr lang="en-US" sz="1266" dirty="0">
                <a:solidFill>
                  <a:srgbClr val="037C03"/>
                </a:solidFill>
                <a:latin typeface="+mn-ea"/>
                <a:ea typeface="+mn-ea"/>
              </a:rPr>
              <a:t>Paris employees</a:t>
            </a:r>
          </a:p>
          <a:p>
            <a:r>
              <a:rPr lang="en-US" sz="1266" dirty="0">
                <a:solidFill>
                  <a:srgbClr val="037C03"/>
                </a:solidFill>
                <a:latin typeface="+mn-ea"/>
                <a:ea typeface="+mn-ea"/>
              </a:rPr>
              <a:t>Paris assignments</a:t>
            </a:r>
          </a:p>
          <a:p>
            <a:r>
              <a:rPr lang="en-US" sz="1266" dirty="0">
                <a:solidFill>
                  <a:schemeClr val="hlink"/>
                </a:solidFill>
                <a:latin typeface="+mn-ea"/>
                <a:ea typeface="+mn-ea"/>
              </a:rPr>
              <a:t>Boston employees</a:t>
            </a:r>
          </a:p>
        </p:txBody>
      </p:sp>
      <p:sp>
        <p:nvSpPr>
          <p:cNvPr id="91142" name="Rectangle 6"/>
          <p:cNvSpPr>
            <a:spLocks noChangeArrowheads="1"/>
          </p:cNvSpPr>
          <p:nvPr/>
        </p:nvSpPr>
        <p:spPr bwMode="auto">
          <a:xfrm>
            <a:off x="7032934" y="4645372"/>
            <a:ext cx="1789202" cy="1231900"/>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266" dirty="0">
                <a:solidFill>
                  <a:srgbClr val="FF5008"/>
                </a:solidFill>
                <a:latin typeface="+mn-ea"/>
                <a:ea typeface="+mn-ea"/>
              </a:rPr>
              <a:t>Montreal projects</a:t>
            </a:r>
          </a:p>
          <a:p>
            <a:r>
              <a:rPr lang="en-US" sz="1266" dirty="0">
                <a:solidFill>
                  <a:srgbClr val="037C03"/>
                </a:solidFill>
                <a:latin typeface="+mn-ea"/>
                <a:ea typeface="+mn-ea"/>
              </a:rPr>
              <a:t>Paris projects</a:t>
            </a:r>
          </a:p>
          <a:p>
            <a:r>
              <a:rPr lang="en-US" sz="1266" dirty="0">
                <a:solidFill>
                  <a:schemeClr val="tx2"/>
                </a:solidFill>
                <a:latin typeface="+mn-ea"/>
                <a:ea typeface="+mn-ea"/>
              </a:rPr>
              <a:t>New York projects </a:t>
            </a:r>
            <a:endParaRPr lang="en-US" sz="1266" dirty="0">
              <a:solidFill>
                <a:schemeClr val="accent1"/>
              </a:solidFill>
              <a:latin typeface="+mn-ea"/>
              <a:ea typeface="+mn-ea"/>
            </a:endParaRPr>
          </a:p>
          <a:p>
            <a:r>
              <a:rPr lang="en-US" sz="1266" dirty="0">
                <a:solidFill>
                  <a:srgbClr val="037C03"/>
                </a:solidFill>
                <a:latin typeface="+mn-ea"/>
                <a:ea typeface="+mn-ea"/>
              </a:rPr>
              <a:t>    </a:t>
            </a:r>
            <a:r>
              <a:rPr lang="en-US" sz="1266" dirty="0">
                <a:solidFill>
                  <a:schemeClr val="tx2"/>
                </a:solidFill>
                <a:latin typeface="+mn-ea"/>
                <a:ea typeface="+mn-ea"/>
              </a:rPr>
              <a:t>with budget &gt; 200000</a:t>
            </a:r>
            <a:endParaRPr lang="en-US" sz="1266" dirty="0">
              <a:solidFill>
                <a:srgbClr val="FF5008"/>
              </a:solidFill>
              <a:latin typeface="+mn-ea"/>
              <a:ea typeface="+mn-ea"/>
            </a:endParaRPr>
          </a:p>
          <a:p>
            <a:r>
              <a:rPr lang="en-US" sz="1266" dirty="0">
                <a:solidFill>
                  <a:srgbClr val="FF5008"/>
                </a:solidFill>
                <a:latin typeface="+mn-ea"/>
                <a:ea typeface="+mn-ea"/>
              </a:rPr>
              <a:t>Montreal employees</a:t>
            </a:r>
          </a:p>
          <a:p>
            <a:r>
              <a:rPr lang="en-US" sz="1266" dirty="0">
                <a:solidFill>
                  <a:srgbClr val="FF5008"/>
                </a:solidFill>
                <a:latin typeface="+mn-ea"/>
                <a:ea typeface="+mn-ea"/>
              </a:rPr>
              <a:t>Montreal assignments</a:t>
            </a:r>
          </a:p>
        </p:txBody>
      </p:sp>
      <p:sp>
        <p:nvSpPr>
          <p:cNvPr id="91143" name="Oval 7"/>
          <p:cNvSpPr>
            <a:spLocks noChangeArrowheads="1"/>
          </p:cNvSpPr>
          <p:nvPr/>
        </p:nvSpPr>
        <p:spPr bwMode="auto">
          <a:xfrm>
            <a:off x="5321304" y="2235993"/>
            <a:ext cx="1955801" cy="1955801"/>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44" name="Rectangle 8"/>
          <p:cNvSpPr>
            <a:spLocks noChangeArrowheads="1"/>
          </p:cNvSpPr>
          <p:nvPr/>
        </p:nvSpPr>
        <p:spPr bwMode="auto">
          <a:xfrm>
            <a:off x="5054603" y="4547393"/>
            <a:ext cx="660400" cy="519597"/>
          </a:xfrm>
          <a:prstGeom prst="rect">
            <a:avLst/>
          </a:prstGeom>
          <a:solidFill>
            <a:schemeClr val="tx2"/>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45" name="Rectangle 9"/>
          <p:cNvSpPr>
            <a:spLocks noChangeArrowheads="1"/>
          </p:cNvSpPr>
          <p:nvPr/>
        </p:nvSpPr>
        <p:spPr bwMode="auto">
          <a:xfrm>
            <a:off x="4565653" y="2178843"/>
            <a:ext cx="596900" cy="406400"/>
          </a:xfrm>
          <a:prstGeom prst="rect">
            <a:avLst/>
          </a:prstGeom>
          <a:solidFill>
            <a:srgbClr val="FFFFFF"/>
          </a:solidFill>
          <a:ln>
            <a:noFill/>
          </a:ln>
          <a:effectLst/>
          <a:extLs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46" name="Rectangle 10"/>
          <p:cNvSpPr>
            <a:spLocks noChangeArrowheads="1"/>
          </p:cNvSpPr>
          <p:nvPr/>
        </p:nvSpPr>
        <p:spPr bwMode="auto">
          <a:xfrm>
            <a:off x="4584703" y="2197893"/>
            <a:ext cx="584200" cy="3937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47" name="Rectangle 11"/>
          <p:cNvSpPr>
            <a:spLocks noChangeArrowheads="1"/>
          </p:cNvSpPr>
          <p:nvPr/>
        </p:nvSpPr>
        <p:spPr bwMode="auto">
          <a:xfrm>
            <a:off x="4521203" y="2197893"/>
            <a:ext cx="696913" cy="393700"/>
          </a:xfrm>
          <a:prstGeom prst="rect">
            <a:avLst/>
          </a:prstGeom>
          <a:solidFill>
            <a:schemeClr val="hlink"/>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48" name="Line 12"/>
          <p:cNvSpPr>
            <a:spLocks noChangeShapeType="1"/>
          </p:cNvSpPr>
          <p:nvPr/>
        </p:nvSpPr>
        <p:spPr bwMode="auto">
          <a:xfrm flipH="1">
            <a:off x="5314953" y="4077492"/>
            <a:ext cx="444500" cy="4572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49" name="Line 13"/>
          <p:cNvSpPr>
            <a:spLocks noChangeShapeType="1"/>
          </p:cNvSpPr>
          <p:nvPr/>
        </p:nvSpPr>
        <p:spPr bwMode="auto">
          <a:xfrm flipH="1" flipV="1">
            <a:off x="5200653" y="2553492"/>
            <a:ext cx="266700" cy="1143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50" name="Line 14"/>
          <p:cNvSpPr>
            <a:spLocks noChangeShapeType="1"/>
          </p:cNvSpPr>
          <p:nvPr/>
        </p:nvSpPr>
        <p:spPr bwMode="auto">
          <a:xfrm flipH="1" flipV="1">
            <a:off x="5200653" y="2553492"/>
            <a:ext cx="266700" cy="1143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57" name="Rectangle 21"/>
          <p:cNvSpPr>
            <a:spLocks noChangeArrowheads="1"/>
          </p:cNvSpPr>
          <p:nvPr/>
        </p:nvSpPr>
        <p:spPr bwMode="auto">
          <a:xfrm>
            <a:off x="4494216" y="2221705"/>
            <a:ext cx="785722" cy="322741"/>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687" dirty="0">
                <a:solidFill>
                  <a:schemeClr val="bg1"/>
                </a:solidFill>
                <a:latin typeface="+mn-ea"/>
                <a:ea typeface="+mn-ea"/>
              </a:rPr>
              <a:t>Boston</a:t>
            </a:r>
          </a:p>
        </p:txBody>
      </p:sp>
      <p:sp>
        <p:nvSpPr>
          <p:cNvPr id="91158" name="Rectangle 22"/>
          <p:cNvSpPr>
            <a:spLocks noChangeArrowheads="1"/>
          </p:cNvSpPr>
          <p:nvPr/>
        </p:nvSpPr>
        <p:spPr bwMode="auto">
          <a:xfrm>
            <a:off x="5605190" y="2945606"/>
            <a:ext cx="1508676" cy="582363"/>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pPr algn="ctr"/>
            <a:r>
              <a:rPr lang="en-US" sz="1687" dirty="0">
                <a:solidFill>
                  <a:srgbClr val="000000"/>
                </a:solidFill>
                <a:latin typeface="+mn-ea"/>
                <a:ea typeface="+mn-ea"/>
              </a:rPr>
              <a:t>Communication</a:t>
            </a:r>
          </a:p>
          <a:p>
            <a:pPr algn="ctr"/>
            <a:r>
              <a:rPr lang="en-US" sz="1687" dirty="0">
                <a:solidFill>
                  <a:srgbClr val="000000"/>
                </a:solidFill>
                <a:latin typeface="+mn-ea"/>
                <a:ea typeface="+mn-ea"/>
              </a:rPr>
              <a:t>Network</a:t>
            </a:r>
          </a:p>
        </p:txBody>
      </p:sp>
      <p:sp>
        <p:nvSpPr>
          <p:cNvPr id="91159" name="Line 23"/>
          <p:cNvSpPr>
            <a:spLocks noChangeShapeType="1"/>
          </p:cNvSpPr>
          <p:nvPr/>
        </p:nvSpPr>
        <p:spPr bwMode="auto">
          <a:xfrm>
            <a:off x="4762504" y="4737893"/>
            <a:ext cx="279400" cy="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66" name="Rectangle 30"/>
          <p:cNvSpPr>
            <a:spLocks noChangeArrowheads="1"/>
          </p:cNvSpPr>
          <p:nvPr/>
        </p:nvSpPr>
        <p:spPr bwMode="auto">
          <a:xfrm>
            <a:off x="7052901" y="4140993"/>
            <a:ext cx="922703" cy="393700"/>
          </a:xfrm>
          <a:prstGeom prst="rect">
            <a:avLst/>
          </a:prstGeom>
          <a:solidFill>
            <a:srgbClr val="FF5008"/>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67" name="Line 31"/>
          <p:cNvSpPr>
            <a:spLocks noChangeShapeType="1"/>
          </p:cNvSpPr>
          <p:nvPr/>
        </p:nvSpPr>
        <p:spPr bwMode="auto">
          <a:xfrm>
            <a:off x="7200904" y="3645693"/>
            <a:ext cx="419100" cy="4826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73" name="Rectangle 37"/>
          <p:cNvSpPr>
            <a:spLocks noChangeArrowheads="1"/>
          </p:cNvSpPr>
          <p:nvPr/>
        </p:nvSpPr>
        <p:spPr bwMode="auto">
          <a:xfrm>
            <a:off x="7008252" y="4155638"/>
            <a:ext cx="912360" cy="322741"/>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687" dirty="0">
                <a:solidFill>
                  <a:schemeClr val="bg1"/>
                </a:solidFill>
                <a:latin typeface="+mn-ea"/>
                <a:ea typeface="+mn-ea"/>
              </a:rPr>
              <a:t>Montreal</a:t>
            </a:r>
          </a:p>
        </p:txBody>
      </p:sp>
      <p:sp>
        <p:nvSpPr>
          <p:cNvPr id="91174" name="Line 38"/>
          <p:cNvSpPr>
            <a:spLocks noChangeShapeType="1"/>
          </p:cNvSpPr>
          <p:nvPr/>
        </p:nvSpPr>
        <p:spPr bwMode="auto">
          <a:xfrm>
            <a:off x="7988304" y="4369593"/>
            <a:ext cx="393700" cy="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75" name="Oval 39"/>
          <p:cNvSpPr>
            <a:spLocks noChangeArrowheads="1"/>
          </p:cNvSpPr>
          <p:nvPr/>
        </p:nvSpPr>
        <p:spPr bwMode="auto">
          <a:xfrm>
            <a:off x="7175504" y="3607593"/>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76" name="Oval 40"/>
          <p:cNvSpPr>
            <a:spLocks noChangeArrowheads="1"/>
          </p:cNvSpPr>
          <p:nvPr/>
        </p:nvSpPr>
        <p:spPr bwMode="auto">
          <a:xfrm>
            <a:off x="5772154" y="4033043"/>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77" name="Line 41"/>
          <p:cNvSpPr>
            <a:spLocks noChangeShapeType="1"/>
          </p:cNvSpPr>
          <p:nvPr/>
        </p:nvSpPr>
        <p:spPr bwMode="auto">
          <a:xfrm>
            <a:off x="6286504" y="1842293"/>
            <a:ext cx="0" cy="3937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78" name="Line 42"/>
          <p:cNvSpPr>
            <a:spLocks noChangeShapeType="1"/>
          </p:cNvSpPr>
          <p:nvPr/>
        </p:nvSpPr>
        <p:spPr bwMode="auto">
          <a:xfrm>
            <a:off x="6286504" y="1842293"/>
            <a:ext cx="0" cy="3937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79" name="Oval 43"/>
          <p:cNvSpPr>
            <a:spLocks noChangeArrowheads="1"/>
          </p:cNvSpPr>
          <p:nvPr/>
        </p:nvSpPr>
        <p:spPr bwMode="auto">
          <a:xfrm>
            <a:off x="6254754" y="2216942"/>
            <a:ext cx="50800" cy="50800"/>
          </a:xfrm>
          <a:prstGeom prst="ellipse">
            <a:avLst/>
          </a:prstGeom>
          <a:solidFill>
            <a:srgbClr val="000000"/>
          </a:solidFill>
          <a:ln>
            <a:noFill/>
          </a:ln>
          <a:effectLst/>
          <a:extLst>
            <a:ext uri="{91240B29-F687-4f45-9708-019B960494DF}">
              <a14:hiddenLine xmlns:a14="http://schemas.microsoft.com/office/drawing/2010/main" xmlns="" w="12700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80" name="Oval 44"/>
          <p:cNvSpPr>
            <a:spLocks noChangeArrowheads="1"/>
          </p:cNvSpPr>
          <p:nvPr/>
        </p:nvSpPr>
        <p:spPr bwMode="auto">
          <a:xfrm>
            <a:off x="6261104" y="2223293"/>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81" name="Oval 45"/>
          <p:cNvSpPr>
            <a:spLocks noChangeArrowheads="1"/>
          </p:cNvSpPr>
          <p:nvPr/>
        </p:nvSpPr>
        <p:spPr bwMode="auto">
          <a:xfrm>
            <a:off x="6261104" y="2223293"/>
            <a:ext cx="38100" cy="38100"/>
          </a:xfrm>
          <a:prstGeom prst="ellipse">
            <a:avLst/>
          </a:prstGeom>
          <a:noFill/>
          <a:ln w="12700">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82" name="Rectangle 46"/>
          <p:cNvSpPr>
            <a:spLocks noChangeArrowheads="1"/>
          </p:cNvSpPr>
          <p:nvPr/>
        </p:nvSpPr>
        <p:spPr bwMode="auto">
          <a:xfrm>
            <a:off x="7067554" y="2115343"/>
            <a:ext cx="546100" cy="406400"/>
          </a:xfrm>
          <a:prstGeom prst="rect">
            <a:avLst/>
          </a:prstGeom>
          <a:solidFill>
            <a:srgbClr val="FFFFFF"/>
          </a:solidFill>
          <a:ln>
            <a:noFill/>
          </a:ln>
          <a:effectLst/>
          <a:extLst>
            <a:ext uri="{91240B29-F687-4f45-9708-019B960494DF}">
              <a14:hiddenLine xmlns:a14="http://schemas.microsoft.com/office/drawing/2010/main" xmlns="" w="1270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83" name="Rectangle 47"/>
          <p:cNvSpPr>
            <a:spLocks noChangeArrowheads="1"/>
          </p:cNvSpPr>
          <p:nvPr/>
        </p:nvSpPr>
        <p:spPr bwMode="auto">
          <a:xfrm>
            <a:off x="7073904" y="2121693"/>
            <a:ext cx="533400" cy="3937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84" name="Rectangle 48"/>
          <p:cNvSpPr>
            <a:spLocks noChangeArrowheads="1"/>
          </p:cNvSpPr>
          <p:nvPr/>
        </p:nvSpPr>
        <p:spPr bwMode="auto">
          <a:xfrm>
            <a:off x="7073904" y="2121693"/>
            <a:ext cx="533400" cy="393700"/>
          </a:xfrm>
          <a:prstGeom prst="rect">
            <a:avLst/>
          </a:prstGeom>
          <a:solidFill>
            <a:srgbClr val="037C03"/>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85" name="Line 49"/>
          <p:cNvSpPr>
            <a:spLocks noChangeShapeType="1"/>
          </p:cNvSpPr>
          <p:nvPr/>
        </p:nvSpPr>
        <p:spPr bwMode="auto">
          <a:xfrm flipV="1">
            <a:off x="7124704" y="2521742"/>
            <a:ext cx="177800" cy="1397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86" name="Line 50"/>
          <p:cNvSpPr>
            <a:spLocks noChangeShapeType="1"/>
          </p:cNvSpPr>
          <p:nvPr/>
        </p:nvSpPr>
        <p:spPr bwMode="auto">
          <a:xfrm flipV="1">
            <a:off x="7124704" y="2521742"/>
            <a:ext cx="177800" cy="1397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98" name="Line 62"/>
          <p:cNvSpPr>
            <a:spLocks noChangeShapeType="1"/>
          </p:cNvSpPr>
          <p:nvPr/>
        </p:nvSpPr>
        <p:spPr bwMode="auto">
          <a:xfrm flipV="1">
            <a:off x="7620004" y="2026442"/>
            <a:ext cx="266700" cy="22860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99" name="Rectangle 63"/>
          <p:cNvSpPr>
            <a:spLocks noChangeArrowheads="1"/>
          </p:cNvSpPr>
          <p:nvPr/>
        </p:nvSpPr>
        <p:spPr bwMode="auto">
          <a:xfrm>
            <a:off x="7037391" y="2158205"/>
            <a:ext cx="606186" cy="322741"/>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687" dirty="0">
                <a:solidFill>
                  <a:schemeClr val="bg1"/>
                </a:solidFill>
                <a:latin typeface="+mn-ea"/>
                <a:ea typeface="+mn-ea"/>
              </a:rPr>
              <a:t>Paris</a:t>
            </a:r>
          </a:p>
        </p:txBody>
      </p:sp>
      <p:sp>
        <p:nvSpPr>
          <p:cNvPr id="91200" name="Oval 64"/>
          <p:cNvSpPr>
            <a:spLocks noChangeArrowheads="1"/>
          </p:cNvSpPr>
          <p:nvPr/>
        </p:nvSpPr>
        <p:spPr bwMode="auto">
          <a:xfrm>
            <a:off x="7092954" y="2648743"/>
            <a:ext cx="50800" cy="50800"/>
          </a:xfrm>
          <a:prstGeom prst="ellipse">
            <a:avLst/>
          </a:prstGeom>
          <a:solidFill>
            <a:srgbClr val="000000"/>
          </a:solidFill>
          <a:ln>
            <a:noFill/>
          </a:ln>
          <a:effectLst/>
          <a:extLst>
            <a:ext uri="{91240B29-F687-4f45-9708-019B960494DF}">
              <a14:hiddenLine xmlns:a14="http://schemas.microsoft.com/office/drawing/2010/main" xmlns="" w="12700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201" name="Oval 65"/>
          <p:cNvSpPr>
            <a:spLocks noChangeArrowheads="1"/>
          </p:cNvSpPr>
          <p:nvPr/>
        </p:nvSpPr>
        <p:spPr bwMode="auto">
          <a:xfrm>
            <a:off x="7099304" y="2655093"/>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202" name="Oval 66"/>
          <p:cNvSpPr>
            <a:spLocks noChangeArrowheads="1"/>
          </p:cNvSpPr>
          <p:nvPr/>
        </p:nvSpPr>
        <p:spPr bwMode="auto">
          <a:xfrm>
            <a:off x="7099304" y="2655093"/>
            <a:ext cx="38100" cy="38100"/>
          </a:xfrm>
          <a:prstGeom prst="ellipse">
            <a:avLst/>
          </a:prstGeom>
          <a:noFill/>
          <a:ln w="12700">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203" name="Oval 67"/>
          <p:cNvSpPr>
            <a:spLocks noChangeArrowheads="1"/>
          </p:cNvSpPr>
          <p:nvPr/>
        </p:nvSpPr>
        <p:spPr bwMode="auto">
          <a:xfrm>
            <a:off x="5454654" y="2623343"/>
            <a:ext cx="50800" cy="50800"/>
          </a:xfrm>
          <a:prstGeom prst="ellipse">
            <a:avLst/>
          </a:prstGeom>
          <a:solidFill>
            <a:srgbClr val="000000"/>
          </a:solidFill>
          <a:ln>
            <a:noFill/>
          </a:ln>
          <a:effectLst/>
          <a:extLst>
            <a:ext uri="{91240B29-F687-4f45-9708-019B960494DF}">
              <a14:hiddenLine xmlns:a14="http://schemas.microsoft.com/office/drawing/2010/main" xmlns="" w="1270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204" name="Oval 68"/>
          <p:cNvSpPr>
            <a:spLocks noChangeArrowheads="1"/>
          </p:cNvSpPr>
          <p:nvPr/>
        </p:nvSpPr>
        <p:spPr bwMode="auto">
          <a:xfrm>
            <a:off x="5473703" y="2642393"/>
            <a:ext cx="38100" cy="38100"/>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205" name="Oval 69"/>
          <p:cNvSpPr>
            <a:spLocks noChangeArrowheads="1"/>
          </p:cNvSpPr>
          <p:nvPr/>
        </p:nvSpPr>
        <p:spPr bwMode="auto">
          <a:xfrm>
            <a:off x="5461004" y="2655093"/>
            <a:ext cx="38100" cy="38100"/>
          </a:xfrm>
          <a:prstGeom prst="ellipse">
            <a:avLst/>
          </a:prstGeom>
          <a:noFill/>
          <a:ln w="12700">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206" name="Rectangle 70"/>
          <p:cNvSpPr>
            <a:spLocks noChangeArrowheads="1"/>
          </p:cNvSpPr>
          <p:nvPr/>
        </p:nvSpPr>
        <p:spPr bwMode="auto">
          <a:xfrm>
            <a:off x="5938841" y="1454943"/>
            <a:ext cx="714375" cy="393700"/>
          </a:xfrm>
          <a:prstGeom prst="rect">
            <a:avLst/>
          </a:prstGeom>
          <a:solidFill>
            <a:srgbClr val="F50BD4"/>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207" name="Rectangle 71"/>
          <p:cNvSpPr>
            <a:spLocks noChangeArrowheads="1"/>
          </p:cNvSpPr>
          <p:nvPr/>
        </p:nvSpPr>
        <p:spPr bwMode="auto">
          <a:xfrm>
            <a:off x="5095878" y="4482306"/>
            <a:ext cx="542065" cy="582363"/>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687" dirty="0">
                <a:solidFill>
                  <a:schemeClr val="bg1"/>
                </a:solidFill>
                <a:latin typeface="+mn-ea"/>
                <a:ea typeface="+mn-ea"/>
              </a:rPr>
              <a:t>New</a:t>
            </a:r>
          </a:p>
          <a:p>
            <a:r>
              <a:rPr lang="en-US" sz="1687" dirty="0">
                <a:solidFill>
                  <a:schemeClr val="bg1"/>
                </a:solidFill>
                <a:latin typeface="+mn-ea"/>
                <a:ea typeface="+mn-ea"/>
              </a:rPr>
              <a:t>York</a:t>
            </a:r>
          </a:p>
        </p:txBody>
      </p:sp>
      <p:sp>
        <p:nvSpPr>
          <p:cNvPr id="91208" name="Rectangle 72"/>
          <p:cNvSpPr>
            <a:spLocks noChangeArrowheads="1"/>
          </p:cNvSpPr>
          <p:nvPr/>
        </p:nvSpPr>
        <p:spPr bwMode="auto">
          <a:xfrm>
            <a:off x="3995404" y="3548855"/>
            <a:ext cx="1502265" cy="647509"/>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266" dirty="0">
                <a:solidFill>
                  <a:schemeClr val="hlink"/>
                </a:solidFill>
                <a:latin typeface="+mn-ea"/>
                <a:ea typeface="+mn-ea"/>
              </a:rPr>
              <a:t>Boston projects</a:t>
            </a:r>
          </a:p>
          <a:p>
            <a:r>
              <a:rPr lang="en-US" sz="1266" dirty="0">
                <a:solidFill>
                  <a:schemeClr val="hlink"/>
                </a:solidFill>
                <a:latin typeface="+mn-ea"/>
                <a:ea typeface="+mn-ea"/>
              </a:rPr>
              <a:t>Boston employees</a:t>
            </a:r>
          </a:p>
          <a:p>
            <a:r>
              <a:rPr lang="en-US" sz="1266" dirty="0">
                <a:solidFill>
                  <a:schemeClr val="hlink"/>
                </a:solidFill>
                <a:latin typeface="+mn-ea"/>
                <a:ea typeface="+mn-ea"/>
              </a:rPr>
              <a:t>Boston assignments</a:t>
            </a:r>
          </a:p>
        </p:txBody>
      </p:sp>
      <p:sp>
        <p:nvSpPr>
          <p:cNvPr id="91209" name="Rectangle 73"/>
          <p:cNvSpPr>
            <a:spLocks noChangeArrowheads="1"/>
          </p:cNvSpPr>
          <p:nvPr/>
        </p:nvSpPr>
        <p:spPr bwMode="auto">
          <a:xfrm>
            <a:off x="4630424" y="5018434"/>
            <a:ext cx="1670579" cy="842306"/>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266" dirty="0">
                <a:solidFill>
                  <a:schemeClr val="hlink"/>
                </a:solidFill>
                <a:latin typeface="+mn-ea"/>
                <a:ea typeface="+mn-ea"/>
              </a:rPr>
              <a:t>Boston projects</a:t>
            </a:r>
            <a:endParaRPr lang="en-US" sz="1266" dirty="0">
              <a:solidFill>
                <a:srgbClr val="000000"/>
              </a:solidFill>
              <a:latin typeface="+mn-ea"/>
              <a:ea typeface="+mn-ea"/>
            </a:endParaRPr>
          </a:p>
          <a:p>
            <a:r>
              <a:rPr lang="en-US" sz="1266" dirty="0">
                <a:solidFill>
                  <a:schemeClr val="tx2"/>
                </a:solidFill>
                <a:latin typeface="+mn-ea"/>
                <a:ea typeface="+mn-ea"/>
              </a:rPr>
              <a:t>New York employees</a:t>
            </a:r>
          </a:p>
          <a:p>
            <a:r>
              <a:rPr lang="en-US" sz="1266" dirty="0">
                <a:solidFill>
                  <a:schemeClr val="tx2"/>
                </a:solidFill>
                <a:latin typeface="+mn-ea"/>
                <a:ea typeface="+mn-ea"/>
              </a:rPr>
              <a:t>New York projects</a:t>
            </a:r>
          </a:p>
          <a:p>
            <a:r>
              <a:rPr lang="en-US" sz="1266" dirty="0">
                <a:solidFill>
                  <a:schemeClr val="tx2"/>
                </a:solidFill>
                <a:latin typeface="+mn-ea"/>
                <a:ea typeface="+mn-ea"/>
              </a:rPr>
              <a:t>New York assignments</a:t>
            </a:r>
          </a:p>
        </p:txBody>
      </p:sp>
      <p:sp>
        <p:nvSpPr>
          <p:cNvPr id="91210" name="Line 74"/>
          <p:cNvSpPr>
            <a:spLocks noChangeShapeType="1"/>
          </p:cNvSpPr>
          <p:nvPr/>
        </p:nvSpPr>
        <p:spPr bwMode="auto">
          <a:xfrm>
            <a:off x="4889503" y="2604292"/>
            <a:ext cx="0" cy="3429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211" name="Rectangle 75"/>
          <p:cNvSpPr>
            <a:spLocks noChangeArrowheads="1"/>
          </p:cNvSpPr>
          <p:nvPr/>
        </p:nvSpPr>
        <p:spPr bwMode="auto">
          <a:xfrm>
            <a:off x="5924553" y="1467642"/>
            <a:ext cx="679924" cy="322741"/>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3624" tIns="31254" rIns="63624" bIns="31254">
            <a:spAutoFit/>
          </a:bodyPr>
          <a:lstStyle/>
          <a:p>
            <a:r>
              <a:rPr lang="en-US" sz="1687" dirty="0">
                <a:solidFill>
                  <a:schemeClr val="bg1"/>
                </a:solidFill>
                <a:latin typeface="+mn-ea"/>
                <a:ea typeface="+mn-ea"/>
              </a:rPr>
              <a:t>Tokyo</a:t>
            </a:r>
          </a:p>
        </p:txBody>
      </p:sp>
      <p:grpSp>
        <p:nvGrpSpPr>
          <p:cNvPr id="6" name="Group 5"/>
          <p:cNvGrpSpPr/>
          <p:nvPr/>
        </p:nvGrpSpPr>
        <p:grpSpPr>
          <a:xfrm>
            <a:off x="8378226" y="4105008"/>
            <a:ext cx="484798" cy="534455"/>
            <a:chOff x="3660180" y="6219552"/>
            <a:chExt cx="689490" cy="760114"/>
          </a:xfrm>
        </p:grpSpPr>
        <p:sp>
          <p:nvSpPr>
            <p:cNvPr id="91163" name="Line 27"/>
            <p:cNvSpPr>
              <a:spLocks noChangeShapeType="1"/>
            </p:cNvSpPr>
            <p:nvPr/>
          </p:nvSpPr>
          <p:spPr bwMode="auto">
            <a:xfrm>
              <a:off x="4349670" y="6257652"/>
              <a:ext cx="0" cy="632178"/>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nvGrpSpPr>
            <p:cNvPr id="5" name="Group 4"/>
            <p:cNvGrpSpPr/>
            <p:nvPr/>
          </p:nvGrpSpPr>
          <p:grpSpPr>
            <a:xfrm>
              <a:off x="3665563" y="6880324"/>
              <a:ext cx="684107" cy="99342"/>
              <a:chOff x="6594973" y="5707663"/>
              <a:chExt cx="684107" cy="99342"/>
            </a:xfrm>
          </p:grpSpPr>
          <p:sp>
            <p:nvSpPr>
              <p:cNvPr id="91164" name="Arc 28"/>
              <p:cNvSpPr>
                <a:spLocks/>
              </p:cNvSpPr>
              <p:nvPr/>
            </p:nvSpPr>
            <p:spPr bwMode="auto">
              <a:xfrm>
                <a:off x="6594973" y="5707663"/>
                <a:ext cx="352213" cy="9934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close/>
                  </a:path>
                </a:pathLst>
              </a:custGeom>
              <a:noFill/>
              <a:ln w="12700" cap="rnd">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165" name="Arc 29"/>
              <p:cNvSpPr>
                <a:spLocks/>
              </p:cNvSpPr>
              <p:nvPr/>
            </p:nvSpPr>
            <p:spPr bwMode="auto">
              <a:xfrm>
                <a:off x="6926867" y="5707663"/>
                <a:ext cx="352213" cy="9934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12700" cap="rnd">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sp>
          <p:nvSpPr>
            <p:cNvPr id="80" name="Oval 24"/>
            <p:cNvSpPr>
              <a:spLocks noChangeArrowheads="1"/>
            </p:cNvSpPr>
            <p:nvPr/>
          </p:nvSpPr>
          <p:spPr bwMode="auto">
            <a:xfrm>
              <a:off x="3663305" y="6219552"/>
              <a:ext cx="686365" cy="90311"/>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81" name="Line 27"/>
            <p:cNvSpPr>
              <a:spLocks noChangeShapeType="1"/>
            </p:cNvSpPr>
            <p:nvPr/>
          </p:nvSpPr>
          <p:spPr bwMode="auto">
            <a:xfrm>
              <a:off x="3660180" y="6257652"/>
              <a:ext cx="0" cy="632178"/>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grpSp>
        <p:nvGrpSpPr>
          <p:cNvPr id="85" name="Group 84"/>
          <p:cNvGrpSpPr/>
          <p:nvPr/>
        </p:nvGrpSpPr>
        <p:grpSpPr>
          <a:xfrm>
            <a:off x="4268216" y="4510053"/>
            <a:ext cx="484798" cy="534455"/>
            <a:chOff x="3660180" y="6219552"/>
            <a:chExt cx="689490" cy="760114"/>
          </a:xfrm>
        </p:grpSpPr>
        <p:sp>
          <p:nvSpPr>
            <p:cNvPr id="86" name="Line 27"/>
            <p:cNvSpPr>
              <a:spLocks noChangeShapeType="1"/>
            </p:cNvSpPr>
            <p:nvPr/>
          </p:nvSpPr>
          <p:spPr bwMode="auto">
            <a:xfrm>
              <a:off x="4349670" y="6257652"/>
              <a:ext cx="0" cy="632178"/>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nvGrpSpPr>
            <p:cNvPr id="87" name="Group 86"/>
            <p:cNvGrpSpPr/>
            <p:nvPr/>
          </p:nvGrpSpPr>
          <p:grpSpPr>
            <a:xfrm>
              <a:off x="3665563" y="6880324"/>
              <a:ext cx="684107" cy="99342"/>
              <a:chOff x="6594973" y="5707663"/>
              <a:chExt cx="684107" cy="99342"/>
            </a:xfrm>
          </p:grpSpPr>
          <p:sp>
            <p:nvSpPr>
              <p:cNvPr id="90" name="Arc 28"/>
              <p:cNvSpPr>
                <a:spLocks/>
              </p:cNvSpPr>
              <p:nvPr/>
            </p:nvSpPr>
            <p:spPr bwMode="auto">
              <a:xfrm>
                <a:off x="6594973" y="5707663"/>
                <a:ext cx="352213" cy="9934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close/>
                  </a:path>
                </a:pathLst>
              </a:custGeom>
              <a:noFill/>
              <a:ln w="12700" cap="rnd">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1" name="Arc 29"/>
              <p:cNvSpPr>
                <a:spLocks/>
              </p:cNvSpPr>
              <p:nvPr/>
            </p:nvSpPr>
            <p:spPr bwMode="auto">
              <a:xfrm>
                <a:off x="6926867" y="5707663"/>
                <a:ext cx="352213" cy="9934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12700" cap="rnd">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sp>
          <p:nvSpPr>
            <p:cNvPr id="88" name="Oval 24"/>
            <p:cNvSpPr>
              <a:spLocks noChangeArrowheads="1"/>
            </p:cNvSpPr>
            <p:nvPr/>
          </p:nvSpPr>
          <p:spPr bwMode="auto">
            <a:xfrm>
              <a:off x="3663305" y="6219552"/>
              <a:ext cx="686365" cy="90311"/>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89" name="Line 27"/>
            <p:cNvSpPr>
              <a:spLocks noChangeShapeType="1"/>
            </p:cNvSpPr>
            <p:nvPr/>
          </p:nvSpPr>
          <p:spPr bwMode="auto">
            <a:xfrm>
              <a:off x="3660180" y="6257652"/>
              <a:ext cx="0" cy="632178"/>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grpSp>
        <p:nvGrpSpPr>
          <p:cNvPr id="92" name="Group 91"/>
          <p:cNvGrpSpPr/>
          <p:nvPr/>
        </p:nvGrpSpPr>
        <p:grpSpPr>
          <a:xfrm>
            <a:off x="7895762" y="1775999"/>
            <a:ext cx="484798" cy="534455"/>
            <a:chOff x="3660180" y="6219552"/>
            <a:chExt cx="689490" cy="760114"/>
          </a:xfrm>
        </p:grpSpPr>
        <p:sp>
          <p:nvSpPr>
            <p:cNvPr id="93" name="Line 27"/>
            <p:cNvSpPr>
              <a:spLocks noChangeShapeType="1"/>
            </p:cNvSpPr>
            <p:nvPr/>
          </p:nvSpPr>
          <p:spPr bwMode="auto">
            <a:xfrm>
              <a:off x="4349670" y="6257652"/>
              <a:ext cx="0" cy="632178"/>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nvGrpSpPr>
            <p:cNvPr id="94" name="Group 93"/>
            <p:cNvGrpSpPr/>
            <p:nvPr/>
          </p:nvGrpSpPr>
          <p:grpSpPr>
            <a:xfrm>
              <a:off x="3665563" y="6880324"/>
              <a:ext cx="684107" cy="99342"/>
              <a:chOff x="6594973" y="5707663"/>
              <a:chExt cx="684107" cy="99342"/>
            </a:xfrm>
          </p:grpSpPr>
          <p:sp>
            <p:nvSpPr>
              <p:cNvPr id="97" name="Arc 28"/>
              <p:cNvSpPr>
                <a:spLocks/>
              </p:cNvSpPr>
              <p:nvPr/>
            </p:nvSpPr>
            <p:spPr bwMode="auto">
              <a:xfrm>
                <a:off x="6594973" y="5707663"/>
                <a:ext cx="352213" cy="9934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close/>
                  </a:path>
                </a:pathLst>
              </a:custGeom>
              <a:noFill/>
              <a:ln w="12700" cap="rnd">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8" name="Arc 29"/>
              <p:cNvSpPr>
                <a:spLocks/>
              </p:cNvSpPr>
              <p:nvPr/>
            </p:nvSpPr>
            <p:spPr bwMode="auto">
              <a:xfrm>
                <a:off x="6926867" y="5707663"/>
                <a:ext cx="352213" cy="9934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12700" cap="rnd">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sp>
          <p:nvSpPr>
            <p:cNvPr id="95" name="Oval 24"/>
            <p:cNvSpPr>
              <a:spLocks noChangeArrowheads="1"/>
            </p:cNvSpPr>
            <p:nvPr/>
          </p:nvSpPr>
          <p:spPr bwMode="auto">
            <a:xfrm>
              <a:off x="3663305" y="6219552"/>
              <a:ext cx="686365" cy="90311"/>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96" name="Line 27"/>
            <p:cNvSpPr>
              <a:spLocks noChangeShapeType="1"/>
            </p:cNvSpPr>
            <p:nvPr/>
          </p:nvSpPr>
          <p:spPr bwMode="auto">
            <a:xfrm>
              <a:off x="3660180" y="6257652"/>
              <a:ext cx="0" cy="632178"/>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grpSp>
        <p:nvGrpSpPr>
          <p:cNvPr id="99" name="Group 98"/>
          <p:cNvGrpSpPr/>
          <p:nvPr/>
        </p:nvGrpSpPr>
        <p:grpSpPr>
          <a:xfrm>
            <a:off x="4649420" y="2940503"/>
            <a:ext cx="484798" cy="534455"/>
            <a:chOff x="3660180" y="6219552"/>
            <a:chExt cx="689490" cy="760114"/>
          </a:xfrm>
        </p:grpSpPr>
        <p:sp>
          <p:nvSpPr>
            <p:cNvPr id="100" name="Line 27"/>
            <p:cNvSpPr>
              <a:spLocks noChangeShapeType="1"/>
            </p:cNvSpPr>
            <p:nvPr/>
          </p:nvSpPr>
          <p:spPr bwMode="auto">
            <a:xfrm>
              <a:off x="4349670" y="6257652"/>
              <a:ext cx="0" cy="632178"/>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nvGrpSpPr>
            <p:cNvPr id="101" name="Group 100"/>
            <p:cNvGrpSpPr/>
            <p:nvPr/>
          </p:nvGrpSpPr>
          <p:grpSpPr>
            <a:xfrm>
              <a:off x="3665563" y="6880324"/>
              <a:ext cx="684107" cy="99342"/>
              <a:chOff x="6594973" y="5707663"/>
              <a:chExt cx="684107" cy="99342"/>
            </a:xfrm>
          </p:grpSpPr>
          <p:sp>
            <p:nvSpPr>
              <p:cNvPr id="104" name="Arc 28"/>
              <p:cNvSpPr>
                <a:spLocks/>
              </p:cNvSpPr>
              <p:nvPr/>
            </p:nvSpPr>
            <p:spPr bwMode="auto">
              <a:xfrm>
                <a:off x="6594973" y="5707663"/>
                <a:ext cx="352213" cy="9934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close/>
                  </a:path>
                </a:pathLst>
              </a:custGeom>
              <a:noFill/>
              <a:ln w="12700" cap="rnd">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105" name="Arc 29"/>
              <p:cNvSpPr>
                <a:spLocks/>
              </p:cNvSpPr>
              <p:nvPr/>
            </p:nvSpPr>
            <p:spPr bwMode="auto">
              <a:xfrm>
                <a:off x="6926867" y="5707663"/>
                <a:ext cx="352213" cy="9934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12700" cap="rnd">
                <a:solidFill>
                  <a:srgbClr val="000000"/>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sp>
          <p:nvSpPr>
            <p:cNvPr id="102" name="Oval 24"/>
            <p:cNvSpPr>
              <a:spLocks noChangeArrowheads="1"/>
            </p:cNvSpPr>
            <p:nvPr/>
          </p:nvSpPr>
          <p:spPr bwMode="auto">
            <a:xfrm>
              <a:off x="3663305" y="6219552"/>
              <a:ext cx="686365" cy="90311"/>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sp>
          <p:nvSpPr>
            <p:cNvPr id="103" name="Line 27"/>
            <p:cNvSpPr>
              <a:spLocks noChangeShapeType="1"/>
            </p:cNvSpPr>
            <p:nvPr/>
          </p:nvSpPr>
          <p:spPr bwMode="auto">
            <a:xfrm>
              <a:off x="3660180" y="6257652"/>
              <a:ext cx="0" cy="632178"/>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mn-ea"/>
                <a:ea typeface="+mn-ea"/>
              </a:endParaRPr>
            </a:p>
          </p:txBody>
        </p:sp>
      </p:grpSp>
      <p:sp>
        <p:nvSpPr>
          <p:cNvPr id="2" name="Footer Placeholder 1">
            <a:extLst>
              <a:ext uri="{FF2B5EF4-FFF2-40B4-BE49-F238E27FC236}">
                <a16:creationId xmlns:a16="http://schemas.microsoft.com/office/drawing/2014/main" id="{DFDC34C8-559F-5D4C-A706-E6E636627AAF}"/>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F8BAE438-4822-994B-8345-B2C93DE81752}"/>
              </a:ext>
            </a:extLst>
          </p:cNvPr>
          <p:cNvSpPr>
            <a:spLocks noGrp="1"/>
          </p:cNvSpPr>
          <p:nvPr>
            <p:ph type="sldNum" sz="quarter" idx="4"/>
          </p:nvPr>
        </p:nvSpPr>
        <p:spPr/>
        <p:txBody>
          <a:bodyPr/>
          <a:lstStyle/>
          <a:p>
            <a:fld id="{FD96158B-4539-3C43-9DE5-94C547866200}" type="slidenum">
              <a:rPr lang="en-US" smtClean="0"/>
              <a:t>24</a:t>
            </a:fld>
            <a:endParaRPr lang="en-US"/>
          </a:p>
        </p:txBody>
      </p:sp>
    </p:spTree>
    <p:extLst>
      <p:ext uri="{BB962C8B-B14F-4D97-AF65-F5344CB8AC3E}">
        <p14:creationId xmlns:p14="http://schemas.microsoft.com/office/powerpoint/2010/main" val="32523837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139"/>
                                        </p:tgtEl>
                                        <p:attrNameLst>
                                          <p:attrName>style.visibility</p:attrName>
                                        </p:attrNameLst>
                                      </p:cBhvr>
                                      <p:to>
                                        <p:strVal val="visible"/>
                                      </p:to>
                                    </p:set>
                                    <p:anim calcmode="lin" valueType="num">
                                      <p:cBhvr additive="base">
                                        <p:cTn id="7" dur="500" fill="hold"/>
                                        <p:tgtEl>
                                          <p:spTgt spid="91139"/>
                                        </p:tgtEl>
                                        <p:attrNameLst>
                                          <p:attrName>ppt_x</p:attrName>
                                        </p:attrNameLst>
                                      </p:cBhvr>
                                      <p:tavLst>
                                        <p:tav tm="0">
                                          <p:val>
                                            <p:strVal val="0-#ppt_w/2"/>
                                          </p:val>
                                        </p:tav>
                                        <p:tav tm="100000">
                                          <p:val>
                                            <p:strVal val="#ppt_x"/>
                                          </p:val>
                                        </p:tav>
                                      </p:tavLst>
                                    </p:anim>
                                    <p:anim calcmode="lin" valueType="num">
                                      <p:cBhvr additive="base">
                                        <p:cTn id="8" dur="500" fill="hold"/>
                                        <p:tgtEl>
                                          <p:spTgt spid="911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lstStyle/>
          <a:p>
            <a:r>
              <a:rPr lang="en-US" dirty="0"/>
              <a:t>Distributed Database - User View</a:t>
            </a:r>
          </a:p>
        </p:txBody>
      </p:sp>
      <p:sp>
        <p:nvSpPr>
          <p:cNvPr id="93187" name="Line 3"/>
          <p:cNvSpPr>
            <a:spLocks noChangeShapeType="1"/>
          </p:cNvSpPr>
          <p:nvPr/>
        </p:nvSpPr>
        <p:spPr bwMode="auto">
          <a:xfrm>
            <a:off x="2130425" y="2141762"/>
            <a:ext cx="730250" cy="75247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88" name="Line 4"/>
          <p:cNvSpPr>
            <a:spLocks noChangeShapeType="1"/>
          </p:cNvSpPr>
          <p:nvPr/>
        </p:nvSpPr>
        <p:spPr bwMode="auto">
          <a:xfrm>
            <a:off x="4699000" y="1771874"/>
            <a:ext cx="0" cy="66516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89" name="Line 5"/>
          <p:cNvSpPr>
            <a:spLocks noChangeShapeType="1"/>
          </p:cNvSpPr>
          <p:nvPr/>
        </p:nvSpPr>
        <p:spPr bwMode="auto">
          <a:xfrm flipH="1">
            <a:off x="6696075" y="2025874"/>
            <a:ext cx="501650" cy="8382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0" name="Line 6"/>
          <p:cNvSpPr>
            <a:spLocks noChangeShapeType="1"/>
          </p:cNvSpPr>
          <p:nvPr/>
        </p:nvSpPr>
        <p:spPr bwMode="auto">
          <a:xfrm flipH="1" flipV="1">
            <a:off x="6802439" y="4549999"/>
            <a:ext cx="585787" cy="69056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1" name="Line 7"/>
          <p:cNvSpPr>
            <a:spLocks noChangeShapeType="1"/>
          </p:cNvSpPr>
          <p:nvPr/>
        </p:nvSpPr>
        <p:spPr bwMode="auto">
          <a:xfrm flipV="1">
            <a:off x="4919663" y="5029424"/>
            <a:ext cx="0" cy="2603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2" name="Oval 8"/>
          <p:cNvSpPr>
            <a:spLocks noChangeArrowheads="1"/>
          </p:cNvSpPr>
          <p:nvPr/>
        </p:nvSpPr>
        <p:spPr bwMode="auto">
          <a:xfrm>
            <a:off x="2306638" y="2462436"/>
            <a:ext cx="5089525" cy="2554287"/>
          </a:xfrm>
          <a:prstGeom prst="ellipse">
            <a:avLst/>
          </a:prstGeom>
          <a:noFill/>
          <a:ln w="508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3" name="Oval 9"/>
          <p:cNvSpPr>
            <a:spLocks noChangeArrowheads="1"/>
          </p:cNvSpPr>
          <p:nvPr/>
        </p:nvSpPr>
        <p:spPr bwMode="auto">
          <a:xfrm>
            <a:off x="3194051" y="2979962"/>
            <a:ext cx="214313" cy="217487"/>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4" name="Oval 10"/>
          <p:cNvSpPr>
            <a:spLocks noChangeArrowheads="1"/>
          </p:cNvSpPr>
          <p:nvPr/>
        </p:nvSpPr>
        <p:spPr bwMode="auto">
          <a:xfrm>
            <a:off x="6294439" y="3746723"/>
            <a:ext cx="214312" cy="217488"/>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5" name="Oval 11"/>
          <p:cNvSpPr>
            <a:spLocks noChangeArrowheads="1"/>
          </p:cNvSpPr>
          <p:nvPr/>
        </p:nvSpPr>
        <p:spPr bwMode="auto">
          <a:xfrm>
            <a:off x="5689601" y="2979962"/>
            <a:ext cx="214313" cy="217487"/>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6" name="Oval 12"/>
          <p:cNvSpPr>
            <a:spLocks noChangeArrowheads="1"/>
          </p:cNvSpPr>
          <p:nvPr/>
        </p:nvSpPr>
        <p:spPr bwMode="auto">
          <a:xfrm>
            <a:off x="2816226" y="3592737"/>
            <a:ext cx="214313" cy="217487"/>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7" name="Oval 13"/>
          <p:cNvSpPr>
            <a:spLocks noChangeArrowheads="1"/>
          </p:cNvSpPr>
          <p:nvPr/>
        </p:nvSpPr>
        <p:spPr bwMode="auto">
          <a:xfrm>
            <a:off x="4479926" y="2749773"/>
            <a:ext cx="212725" cy="217488"/>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8" name="Oval 14"/>
          <p:cNvSpPr>
            <a:spLocks noChangeArrowheads="1"/>
          </p:cNvSpPr>
          <p:nvPr/>
        </p:nvSpPr>
        <p:spPr bwMode="auto">
          <a:xfrm>
            <a:off x="5613401" y="4589686"/>
            <a:ext cx="214313" cy="215900"/>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199" name="Oval 15"/>
          <p:cNvSpPr>
            <a:spLocks noChangeArrowheads="1"/>
          </p:cNvSpPr>
          <p:nvPr/>
        </p:nvSpPr>
        <p:spPr bwMode="auto">
          <a:xfrm>
            <a:off x="2816226" y="3976911"/>
            <a:ext cx="214313" cy="215900"/>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0" name="Oval 16"/>
          <p:cNvSpPr>
            <a:spLocks noChangeArrowheads="1"/>
          </p:cNvSpPr>
          <p:nvPr/>
        </p:nvSpPr>
        <p:spPr bwMode="auto">
          <a:xfrm>
            <a:off x="3497263" y="4435698"/>
            <a:ext cx="214312" cy="217488"/>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1" name="Oval 17"/>
          <p:cNvSpPr>
            <a:spLocks noChangeArrowheads="1"/>
          </p:cNvSpPr>
          <p:nvPr/>
        </p:nvSpPr>
        <p:spPr bwMode="auto">
          <a:xfrm>
            <a:off x="4933950" y="3056162"/>
            <a:ext cx="212725" cy="217487"/>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2" name="Oval 18"/>
          <p:cNvSpPr>
            <a:spLocks noChangeArrowheads="1"/>
          </p:cNvSpPr>
          <p:nvPr/>
        </p:nvSpPr>
        <p:spPr bwMode="auto">
          <a:xfrm>
            <a:off x="6218238" y="3056162"/>
            <a:ext cx="214312" cy="217487"/>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3" name="Oval 19"/>
          <p:cNvSpPr>
            <a:spLocks noChangeArrowheads="1"/>
          </p:cNvSpPr>
          <p:nvPr/>
        </p:nvSpPr>
        <p:spPr bwMode="auto">
          <a:xfrm>
            <a:off x="3724275" y="3210148"/>
            <a:ext cx="212725" cy="215900"/>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4" name="Oval 20"/>
          <p:cNvSpPr>
            <a:spLocks noChangeArrowheads="1"/>
          </p:cNvSpPr>
          <p:nvPr/>
        </p:nvSpPr>
        <p:spPr bwMode="auto">
          <a:xfrm>
            <a:off x="5010150" y="3746723"/>
            <a:ext cx="212725" cy="217488"/>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5" name="Oval 21"/>
          <p:cNvSpPr>
            <a:spLocks noChangeArrowheads="1"/>
          </p:cNvSpPr>
          <p:nvPr/>
        </p:nvSpPr>
        <p:spPr bwMode="auto">
          <a:xfrm>
            <a:off x="5084763" y="4589686"/>
            <a:ext cx="214312" cy="215900"/>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6" name="Oval 22"/>
          <p:cNvSpPr>
            <a:spLocks noChangeArrowheads="1"/>
          </p:cNvSpPr>
          <p:nvPr/>
        </p:nvSpPr>
        <p:spPr bwMode="auto">
          <a:xfrm>
            <a:off x="3497263" y="2902173"/>
            <a:ext cx="214312" cy="217488"/>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7" name="Oval 23"/>
          <p:cNvSpPr>
            <a:spLocks noChangeArrowheads="1"/>
          </p:cNvSpPr>
          <p:nvPr/>
        </p:nvSpPr>
        <p:spPr bwMode="auto">
          <a:xfrm>
            <a:off x="5916614" y="4589686"/>
            <a:ext cx="214312" cy="215900"/>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8" name="Oval 24"/>
          <p:cNvSpPr>
            <a:spLocks noChangeArrowheads="1"/>
          </p:cNvSpPr>
          <p:nvPr/>
        </p:nvSpPr>
        <p:spPr bwMode="auto">
          <a:xfrm>
            <a:off x="5916614" y="3286348"/>
            <a:ext cx="214312" cy="215900"/>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09" name="Oval 25"/>
          <p:cNvSpPr>
            <a:spLocks noChangeArrowheads="1"/>
          </p:cNvSpPr>
          <p:nvPr/>
        </p:nvSpPr>
        <p:spPr bwMode="auto">
          <a:xfrm>
            <a:off x="3798888" y="4435698"/>
            <a:ext cx="214312" cy="217488"/>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0" name="Oval 26"/>
          <p:cNvSpPr>
            <a:spLocks noChangeArrowheads="1"/>
          </p:cNvSpPr>
          <p:nvPr/>
        </p:nvSpPr>
        <p:spPr bwMode="auto">
          <a:xfrm>
            <a:off x="5010150" y="2673573"/>
            <a:ext cx="212725" cy="215900"/>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1" name="Oval 27"/>
          <p:cNvSpPr>
            <a:spLocks noChangeArrowheads="1"/>
          </p:cNvSpPr>
          <p:nvPr/>
        </p:nvSpPr>
        <p:spPr bwMode="auto">
          <a:xfrm>
            <a:off x="6521451" y="4129312"/>
            <a:ext cx="214313" cy="217487"/>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2" name="Oval 28"/>
          <p:cNvSpPr>
            <a:spLocks noChangeArrowheads="1"/>
          </p:cNvSpPr>
          <p:nvPr/>
        </p:nvSpPr>
        <p:spPr bwMode="auto">
          <a:xfrm>
            <a:off x="3949700" y="3822923"/>
            <a:ext cx="215900" cy="217488"/>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3" name="Oval 29"/>
          <p:cNvSpPr>
            <a:spLocks noChangeArrowheads="1"/>
          </p:cNvSpPr>
          <p:nvPr/>
        </p:nvSpPr>
        <p:spPr bwMode="auto">
          <a:xfrm>
            <a:off x="3346450" y="3286348"/>
            <a:ext cx="212725" cy="215900"/>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4" name="Oval 30"/>
          <p:cNvSpPr>
            <a:spLocks noChangeArrowheads="1"/>
          </p:cNvSpPr>
          <p:nvPr/>
        </p:nvSpPr>
        <p:spPr bwMode="auto">
          <a:xfrm>
            <a:off x="5235576" y="3438749"/>
            <a:ext cx="214313" cy="217488"/>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5" name="Oval 31"/>
          <p:cNvSpPr>
            <a:spLocks noChangeArrowheads="1"/>
          </p:cNvSpPr>
          <p:nvPr/>
        </p:nvSpPr>
        <p:spPr bwMode="auto">
          <a:xfrm>
            <a:off x="3270251" y="4281712"/>
            <a:ext cx="214313" cy="219075"/>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6" name="Oval 32"/>
          <p:cNvSpPr>
            <a:spLocks noChangeArrowheads="1"/>
          </p:cNvSpPr>
          <p:nvPr/>
        </p:nvSpPr>
        <p:spPr bwMode="auto">
          <a:xfrm>
            <a:off x="5537200" y="4129312"/>
            <a:ext cx="215900" cy="217487"/>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7" name="Oval 33"/>
          <p:cNvSpPr>
            <a:spLocks noChangeArrowheads="1"/>
          </p:cNvSpPr>
          <p:nvPr/>
        </p:nvSpPr>
        <p:spPr bwMode="auto">
          <a:xfrm>
            <a:off x="6596064" y="3822923"/>
            <a:ext cx="214312" cy="217488"/>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8" name="Oval 34"/>
          <p:cNvSpPr>
            <a:spLocks noChangeArrowheads="1"/>
          </p:cNvSpPr>
          <p:nvPr/>
        </p:nvSpPr>
        <p:spPr bwMode="auto">
          <a:xfrm>
            <a:off x="5991226" y="2902173"/>
            <a:ext cx="214313" cy="217488"/>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19" name="Oval 35"/>
          <p:cNvSpPr>
            <a:spLocks noChangeArrowheads="1"/>
          </p:cNvSpPr>
          <p:nvPr/>
        </p:nvSpPr>
        <p:spPr bwMode="auto">
          <a:xfrm>
            <a:off x="4556125" y="3132362"/>
            <a:ext cx="212725" cy="219075"/>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0" name="Oval 36"/>
          <p:cNvSpPr>
            <a:spLocks noChangeArrowheads="1"/>
          </p:cNvSpPr>
          <p:nvPr/>
        </p:nvSpPr>
        <p:spPr bwMode="auto">
          <a:xfrm>
            <a:off x="3648076" y="4205512"/>
            <a:ext cx="214313" cy="217487"/>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1" name="Oval 37"/>
          <p:cNvSpPr>
            <a:spLocks noChangeArrowheads="1"/>
          </p:cNvSpPr>
          <p:nvPr/>
        </p:nvSpPr>
        <p:spPr bwMode="auto">
          <a:xfrm>
            <a:off x="2514601" y="3822923"/>
            <a:ext cx="214313" cy="217488"/>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2" name="Oval 38"/>
          <p:cNvSpPr>
            <a:spLocks noChangeArrowheads="1"/>
          </p:cNvSpPr>
          <p:nvPr/>
        </p:nvSpPr>
        <p:spPr bwMode="auto">
          <a:xfrm>
            <a:off x="4178301" y="2825973"/>
            <a:ext cx="212725" cy="217488"/>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3" name="Oval 39"/>
          <p:cNvSpPr>
            <a:spLocks noChangeArrowheads="1"/>
          </p:cNvSpPr>
          <p:nvPr/>
        </p:nvSpPr>
        <p:spPr bwMode="auto">
          <a:xfrm>
            <a:off x="3497263" y="3822923"/>
            <a:ext cx="214312" cy="217488"/>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4" name="Oval 40"/>
          <p:cNvSpPr>
            <a:spLocks noChangeArrowheads="1"/>
          </p:cNvSpPr>
          <p:nvPr/>
        </p:nvSpPr>
        <p:spPr bwMode="auto">
          <a:xfrm>
            <a:off x="4403726" y="4281712"/>
            <a:ext cx="214313" cy="219075"/>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5" name="Oval 41"/>
          <p:cNvSpPr>
            <a:spLocks noChangeArrowheads="1"/>
          </p:cNvSpPr>
          <p:nvPr/>
        </p:nvSpPr>
        <p:spPr bwMode="auto">
          <a:xfrm>
            <a:off x="4630739" y="3746723"/>
            <a:ext cx="214312" cy="217488"/>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6" name="Oval 42"/>
          <p:cNvSpPr>
            <a:spLocks noChangeArrowheads="1"/>
          </p:cNvSpPr>
          <p:nvPr/>
        </p:nvSpPr>
        <p:spPr bwMode="auto">
          <a:xfrm>
            <a:off x="5311775" y="4359498"/>
            <a:ext cx="212725" cy="217488"/>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7" name="Oval 43"/>
          <p:cNvSpPr>
            <a:spLocks noChangeArrowheads="1"/>
          </p:cNvSpPr>
          <p:nvPr/>
        </p:nvSpPr>
        <p:spPr bwMode="auto">
          <a:xfrm>
            <a:off x="5387976" y="2979962"/>
            <a:ext cx="212725" cy="217487"/>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8" name="Oval 44"/>
          <p:cNvSpPr>
            <a:spLocks noChangeArrowheads="1"/>
          </p:cNvSpPr>
          <p:nvPr/>
        </p:nvSpPr>
        <p:spPr bwMode="auto">
          <a:xfrm>
            <a:off x="6596064" y="3364136"/>
            <a:ext cx="214312" cy="215900"/>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29" name="Oval 45"/>
          <p:cNvSpPr>
            <a:spLocks noChangeArrowheads="1"/>
          </p:cNvSpPr>
          <p:nvPr/>
        </p:nvSpPr>
        <p:spPr bwMode="auto">
          <a:xfrm>
            <a:off x="6899276" y="3976911"/>
            <a:ext cx="214313" cy="215900"/>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0" name="Oval 46"/>
          <p:cNvSpPr>
            <a:spLocks noChangeArrowheads="1"/>
          </p:cNvSpPr>
          <p:nvPr/>
        </p:nvSpPr>
        <p:spPr bwMode="auto">
          <a:xfrm>
            <a:off x="3875088" y="2673573"/>
            <a:ext cx="214312" cy="215900"/>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1" name="Oval 47"/>
          <p:cNvSpPr>
            <a:spLocks noChangeArrowheads="1"/>
          </p:cNvSpPr>
          <p:nvPr/>
        </p:nvSpPr>
        <p:spPr bwMode="auto">
          <a:xfrm>
            <a:off x="3119438" y="3822923"/>
            <a:ext cx="214312" cy="217488"/>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2" name="Oval 48"/>
          <p:cNvSpPr>
            <a:spLocks noChangeArrowheads="1"/>
          </p:cNvSpPr>
          <p:nvPr/>
        </p:nvSpPr>
        <p:spPr bwMode="auto">
          <a:xfrm>
            <a:off x="2816226" y="3210148"/>
            <a:ext cx="214313" cy="215900"/>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3" name="Oval 49"/>
          <p:cNvSpPr>
            <a:spLocks noChangeArrowheads="1"/>
          </p:cNvSpPr>
          <p:nvPr/>
        </p:nvSpPr>
        <p:spPr bwMode="auto">
          <a:xfrm>
            <a:off x="6067426" y="4129312"/>
            <a:ext cx="214313" cy="217487"/>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4" name="Oval 50"/>
          <p:cNvSpPr>
            <a:spLocks noChangeArrowheads="1"/>
          </p:cNvSpPr>
          <p:nvPr/>
        </p:nvSpPr>
        <p:spPr bwMode="auto">
          <a:xfrm>
            <a:off x="5613401" y="3822923"/>
            <a:ext cx="214313" cy="217488"/>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5" name="Oval 51"/>
          <p:cNvSpPr>
            <a:spLocks noChangeArrowheads="1"/>
          </p:cNvSpPr>
          <p:nvPr/>
        </p:nvSpPr>
        <p:spPr bwMode="auto">
          <a:xfrm>
            <a:off x="4102101" y="3514949"/>
            <a:ext cx="212725" cy="219075"/>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6" name="Oval 52"/>
          <p:cNvSpPr>
            <a:spLocks noChangeArrowheads="1"/>
          </p:cNvSpPr>
          <p:nvPr/>
        </p:nvSpPr>
        <p:spPr bwMode="auto">
          <a:xfrm>
            <a:off x="4556125" y="4665887"/>
            <a:ext cx="212725" cy="217487"/>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7" name="Oval 53"/>
          <p:cNvSpPr>
            <a:spLocks noChangeArrowheads="1"/>
          </p:cNvSpPr>
          <p:nvPr/>
        </p:nvSpPr>
        <p:spPr bwMode="auto">
          <a:xfrm>
            <a:off x="4252914" y="3899123"/>
            <a:ext cx="214312" cy="217488"/>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8" name="Oval 54"/>
          <p:cNvSpPr>
            <a:spLocks noChangeArrowheads="1"/>
          </p:cNvSpPr>
          <p:nvPr/>
        </p:nvSpPr>
        <p:spPr bwMode="auto">
          <a:xfrm>
            <a:off x="6973889" y="3592737"/>
            <a:ext cx="214312" cy="217487"/>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39" name="Oval 55"/>
          <p:cNvSpPr>
            <a:spLocks noChangeArrowheads="1"/>
          </p:cNvSpPr>
          <p:nvPr/>
        </p:nvSpPr>
        <p:spPr bwMode="auto">
          <a:xfrm>
            <a:off x="4933950" y="4205512"/>
            <a:ext cx="212725" cy="217487"/>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0" name="Oval 56"/>
          <p:cNvSpPr>
            <a:spLocks noChangeArrowheads="1"/>
          </p:cNvSpPr>
          <p:nvPr/>
        </p:nvSpPr>
        <p:spPr bwMode="auto">
          <a:xfrm>
            <a:off x="4102101" y="4589686"/>
            <a:ext cx="212725" cy="215900"/>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1" name="Oval 57"/>
          <p:cNvSpPr>
            <a:spLocks noChangeArrowheads="1"/>
          </p:cNvSpPr>
          <p:nvPr/>
        </p:nvSpPr>
        <p:spPr bwMode="auto">
          <a:xfrm>
            <a:off x="2514601" y="3438749"/>
            <a:ext cx="214313" cy="217488"/>
          </a:xfrm>
          <a:prstGeom prst="ellipse">
            <a:avLst/>
          </a:prstGeom>
          <a:solidFill>
            <a:srgbClr val="FAFD00"/>
          </a:solid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2" name="Oval 58"/>
          <p:cNvSpPr>
            <a:spLocks noChangeArrowheads="1"/>
          </p:cNvSpPr>
          <p:nvPr/>
        </p:nvSpPr>
        <p:spPr bwMode="auto">
          <a:xfrm>
            <a:off x="3724275" y="3514949"/>
            <a:ext cx="212725" cy="219075"/>
          </a:xfrm>
          <a:prstGeom prst="ellipse">
            <a:avLst/>
          </a:prstGeom>
          <a:solidFill>
            <a:srgbClr val="FAFD00"/>
          </a:solid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3" name="Oval 59"/>
          <p:cNvSpPr>
            <a:spLocks noChangeArrowheads="1"/>
          </p:cNvSpPr>
          <p:nvPr/>
        </p:nvSpPr>
        <p:spPr bwMode="auto">
          <a:xfrm>
            <a:off x="4102101" y="3132362"/>
            <a:ext cx="212725" cy="219075"/>
          </a:xfrm>
          <a:prstGeom prst="ellipse">
            <a:avLst/>
          </a:prstGeom>
          <a:solidFill>
            <a:srgbClr val="FAFD00"/>
          </a:solid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4" name="Oval 60"/>
          <p:cNvSpPr>
            <a:spLocks noChangeArrowheads="1"/>
          </p:cNvSpPr>
          <p:nvPr/>
        </p:nvSpPr>
        <p:spPr bwMode="auto">
          <a:xfrm>
            <a:off x="5840413" y="4281712"/>
            <a:ext cx="214312" cy="219075"/>
          </a:xfrm>
          <a:prstGeom prst="ellipse">
            <a:avLst/>
          </a:prstGeom>
          <a:solidFill>
            <a:srgbClr val="FAFD00"/>
          </a:solid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5" name="Oval 61" descr="90%"/>
          <p:cNvSpPr>
            <a:spLocks noChangeArrowheads="1"/>
          </p:cNvSpPr>
          <p:nvPr/>
        </p:nvSpPr>
        <p:spPr bwMode="auto">
          <a:xfrm>
            <a:off x="4705350" y="2519587"/>
            <a:ext cx="215900" cy="217487"/>
          </a:xfrm>
          <a:prstGeom prst="ellipse">
            <a:avLst/>
          </a:prstGeom>
          <a:pattFill prst="pct90">
            <a:fgClr>
              <a:srgbClr val="FAFD00"/>
            </a:fgClr>
            <a:bgClr>
              <a:schemeClr val="bg1"/>
            </a:bgClr>
          </a:patt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6" name="Oval 62"/>
          <p:cNvSpPr>
            <a:spLocks noChangeArrowheads="1"/>
          </p:cNvSpPr>
          <p:nvPr/>
        </p:nvSpPr>
        <p:spPr bwMode="auto">
          <a:xfrm>
            <a:off x="6596064" y="3056162"/>
            <a:ext cx="214312" cy="217487"/>
          </a:xfrm>
          <a:prstGeom prst="ellipse">
            <a:avLst/>
          </a:prstGeom>
          <a:solidFill>
            <a:srgbClr val="FAFD00"/>
          </a:solid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7" name="Oval 63"/>
          <p:cNvSpPr>
            <a:spLocks noChangeArrowheads="1"/>
          </p:cNvSpPr>
          <p:nvPr/>
        </p:nvSpPr>
        <p:spPr bwMode="auto">
          <a:xfrm>
            <a:off x="4933950" y="3364136"/>
            <a:ext cx="212725" cy="215900"/>
          </a:xfrm>
          <a:prstGeom prst="ellipse">
            <a:avLst/>
          </a:prstGeom>
          <a:solidFill>
            <a:srgbClr val="FAFD00"/>
          </a:solid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8" name="Oval 64"/>
          <p:cNvSpPr>
            <a:spLocks noChangeArrowheads="1"/>
          </p:cNvSpPr>
          <p:nvPr/>
        </p:nvSpPr>
        <p:spPr bwMode="auto">
          <a:xfrm>
            <a:off x="5916614" y="3668937"/>
            <a:ext cx="214312" cy="217487"/>
          </a:xfrm>
          <a:prstGeom prst="ellipse">
            <a:avLst/>
          </a:prstGeom>
          <a:solidFill>
            <a:srgbClr val="FAFD00"/>
          </a:solid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49" name="Oval 65"/>
          <p:cNvSpPr>
            <a:spLocks noChangeArrowheads="1"/>
          </p:cNvSpPr>
          <p:nvPr/>
        </p:nvSpPr>
        <p:spPr bwMode="auto">
          <a:xfrm>
            <a:off x="5613401" y="2749773"/>
            <a:ext cx="214313" cy="217488"/>
          </a:xfrm>
          <a:prstGeom prst="ellipse">
            <a:avLst/>
          </a:prstGeom>
          <a:solidFill>
            <a:srgbClr val="FAFD00"/>
          </a:solidFill>
          <a:ln w="127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0" name="Oval 66"/>
          <p:cNvSpPr>
            <a:spLocks noChangeArrowheads="1"/>
          </p:cNvSpPr>
          <p:nvPr/>
        </p:nvSpPr>
        <p:spPr bwMode="auto">
          <a:xfrm>
            <a:off x="5537200" y="3438749"/>
            <a:ext cx="215900" cy="217488"/>
          </a:xfrm>
          <a:prstGeom prst="ellipse">
            <a:avLst/>
          </a:prstGeom>
          <a:solidFill>
            <a:srgbClr val="DC0081"/>
          </a:solidFill>
          <a:ln w="12700">
            <a:solidFill>
              <a:srgbClr val="DC008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1" name="Oval 67"/>
          <p:cNvSpPr>
            <a:spLocks noChangeArrowheads="1"/>
          </p:cNvSpPr>
          <p:nvPr/>
        </p:nvSpPr>
        <p:spPr bwMode="auto">
          <a:xfrm>
            <a:off x="2967039" y="4281712"/>
            <a:ext cx="214312" cy="219075"/>
          </a:xfrm>
          <a:prstGeom prst="ellipse">
            <a:avLst/>
          </a:prstGeom>
          <a:solidFill>
            <a:srgbClr val="DC0081"/>
          </a:solidFill>
          <a:ln w="12700">
            <a:solidFill>
              <a:srgbClr val="DC008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2" name="Oval 68"/>
          <p:cNvSpPr>
            <a:spLocks noChangeArrowheads="1"/>
          </p:cNvSpPr>
          <p:nvPr/>
        </p:nvSpPr>
        <p:spPr bwMode="auto">
          <a:xfrm>
            <a:off x="4705350" y="4435698"/>
            <a:ext cx="215900" cy="217488"/>
          </a:xfrm>
          <a:prstGeom prst="ellipse">
            <a:avLst/>
          </a:prstGeom>
          <a:solidFill>
            <a:srgbClr val="DC0081"/>
          </a:solidFill>
          <a:ln w="12700">
            <a:solidFill>
              <a:srgbClr val="DC008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3" name="Oval 69"/>
          <p:cNvSpPr>
            <a:spLocks noChangeArrowheads="1"/>
          </p:cNvSpPr>
          <p:nvPr/>
        </p:nvSpPr>
        <p:spPr bwMode="auto">
          <a:xfrm>
            <a:off x="4403726" y="3438749"/>
            <a:ext cx="214313" cy="217488"/>
          </a:xfrm>
          <a:prstGeom prst="ellipse">
            <a:avLst/>
          </a:prstGeom>
          <a:solidFill>
            <a:srgbClr val="DC0081"/>
          </a:solidFill>
          <a:ln w="12700">
            <a:solidFill>
              <a:srgbClr val="DC008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4" name="Oval 70"/>
          <p:cNvSpPr>
            <a:spLocks noChangeArrowheads="1"/>
          </p:cNvSpPr>
          <p:nvPr/>
        </p:nvSpPr>
        <p:spPr bwMode="auto">
          <a:xfrm>
            <a:off x="6218238" y="3438749"/>
            <a:ext cx="214312" cy="217488"/>
          </a:xfrm>
          <a:prstGeom prst="ellipse">
            <a:avLst/>
          </a:prstGeom>
          <a:solidFill>
            <a:srgbClr val="DC0081"/>
          </a:solidFill>
          <a:ln w="12700">
            <a:solidFill>
              <a:srgbClr val="DC008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5" name="Oval 71"/>
          <p:cNvSpPr>
            <a:spLocks noChangeArrowheads="1"/>
          </p:cNvSpPr>
          <p:nvPr/>
        </p:nvSpPr>
        <p:spPr bwMode="auto">
          <a:xfrm>
            <a:off x="5235576" y="3976911"/>
            <a:ext cx="214313" cy="215900"/>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6" name="Oval 72"/>
          <p:cNvSpPr>
            <a:spLocks noChangeArrowheads="1"/>
          </p:cNvSpPr>
          <p:nvPr/>
        </p:nvSpPr>
        <p:spPr bwMode="auto">
          <a:xfrm>
            <a:off x="4630739" y="4053111"/>
            <a:ext cx="214312" cy="215900"/>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7" name="Line 73"/>
          <p:cNvSpPr>
            <a:spLocks noChangeShapeType="1"/>
          </p:cNvSpPr>
          <p:nvPr/>
        </p:nvSpPr>
        <p:spPr bwMode="auto">
          <a:xfrm flipV="1">
            <a:off x="2293939" y="4507137"/>
            <a:ext cx="503237" cy="53498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687" dirty="0">
              <a:latin typeface="Book Antiqua"/>
            </a:endParaRPr>
          </a:p>
        </p:txBody>
      </p:sp>
      <p:sp>
        <p:nvSpPr>
          <p:cNvPr id="93258" name="Rectangle 74"/>
          <p:cNvSpPr>
            <a:spLocks noChangeArrowheads="1"/>
          </p:cNvSpPr>
          <p:nvPr/>
        </p:nvSpPr>
        <p:spPr bwMode="auto">
          <a:xfrm>
            <a:off x="3524541" y="3586387"/>
            <a:ext cx="2375648" cy="315277"/>
          </a:xfrm>
          <a:prstGeom prst="rect">
            <a:avLst/>
          </a:prstGeom>
          <a:solidFill>
            <a:schemeClr val="bg1">
              <a:lumMod val="20000"/>
              <a:lumOff val="80000"/>
            </a:schemeClr>
          </a:solidFill>
          <a:ln>
            <a:noFill/>
          </a:ln>
          <a:effectLst/>
        </p:spPr>
        <p:txBody>
          <a:bodyPr wrap="none" lIns="69849" tIns="28574" rIns="69849" bIns="28574">
            <a:spAutoFit/>
          </a:bodyPr>
          <a:lstStyle/>
          <a:p>
            <a:pPr defTabSz="1006424">
              <a:lnSpc>
                <a:spcPct val="85000"/>
              </a:lnSpc>
            </a:pPr>
            <a:r>
              <a:rPr lang="en-US" sz="1969" b="1" dirty="0">
                <a:latin typeface="+mn-ea"/>
                <a:ea typeface="+mn-ea"/>
              </a:rPr>
              <a:t>Distributed Database</a:t>
            </a:r>
          </a:p>
        </p:txBody>
      </p:sp>
      <p:pic>
        <p:nvPicPr>
          <p:cNvPr id="93259"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0650" y="1359124"/>
            <a:ext cx="1090613" cy="866775"/>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93260" name="Picture 7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4201" y="5188174"/>
            <a:ext cx="1090613" cy="866775"/>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93261" name="Picture 7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8926" y="1052736"/>
            <a:ext cx="1268413" cy="914400"/>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93262" name="Picture 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9276" y="5040536"/>
            <a:ext cx="1268413" cy="914400"/>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nvGrpSpPr>
          <p:cNvPr id="93263" name="Group 79"/>
          <p:cNvGrpSpPr>
            <a:grpSpLocks/>
          </p:cNvGrpSpPr>
          <p:nvPr/>
        </p:nvGrpSpPr>
        <p:grpSpPr bwMode="auto">
          <a:xfrm>
            <a:off x="6805613" y="1295623"/>
            <a:ext cx="946150" cy="749300"/>
            <a:chOff x="4287" y="1078"/>
            <a:chExt cx="596" cy="472"/>
          </a:xfrm>
        </p:grpSpPr>
        <p:grpSp>
          <p:nvGrpSpPr>
            <p:cNvPr id="93264" name="Group 80"/>
            <p:cNvGrpSpPr>
              <a:grpSpLocks/>
            </p:cNvGrpSpPr>
            <p:nvPr/>
          </p:nvGrpSpPr>
          <p:grpSpPr bwMode="auto">
            <a:xfrm>
              <a:off x="4287" y="1472"/>
              <a:ext cx="596" cy="78"/>
              <a:chOff x="4287" y="1472"/>
              <a:chExt cx="596" cy="78"/>
            </a:xfrm>
          </p:grpSpPr>
          <p:sp>
            <p:nvSpPr>
              <p:cNvPr id="93265" name="Rectangle 81"/>
              <p:cNvSpPr>
                <a:spLocks noChangeArrowheads="1"/>
              </p:cNvSpPr>
              <p:nvPr/>
            </p:nvSpPr>
            <p:spPr bwMode="auto">
              <a:xfrm>
                <a:off x="4292" y="1542"/>
                <a:ext cx="586" cy="8"/>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Book Antiqua"/>
                </a:endParaRPr>
              </a:p>
            </p:txBody>
          </p:sp>
          <p:sp>
            <p:nvSpPr>
              <p:cNvPr id="93266" name="Freeform 82"/>
              <p:cNvSpPr>
                <a:spLocks/>
              </p:cNvSpPr>
              <p:nvPr/>
            </p:nvSpPr>
            <p:spPr bwMode="auto">
              <a:xfrm>
                <a:off x="4287" y="1472"/>
                <a:ext cx="596" cy="67"/>
              </a:xfrm>
              <a:custGeom>
                <a:avLst/>
                <a:gdLst>
                  <a:gd name="T0" fmla="*/ 0 w 596"/>
                  <a:gd name="T1" fmla="*/ 66 h 67"/>
                  <a:gd name="T2" fmla="*/ 595 w 596"/>
                  <a:gd name="T3" fmla="*/ 66 h 67"/>
                  <a:gd name="T4" fmla="*/ 561 w 596"/>
                  <a:gd name="T5" fmla="*/ 0 h 67"/>
                  <a:gd name="T6" fmla="*/ 43 w 596"/>
                  <a:gd name="T7" fmla="*/ 0 h 67"/>
                  <a:gd name="T8" fmla="*/ 0 w 596"/>
                  <a:gd name="T9" fmla="*/ 66 h 67"/>
                </a:gdLst>
                <a:ahLst/>
                <a:cxnLst>
                  <a:cxn ang="0">
                    <a:pos x="T0" y="T1"/>
                  </a:cxn>
                  <a:cxn ang="0">
                    <a:pos x="T2" y="T3"/>
                  </a:cxn>
                  <a:cxn ang="0">
                    <a:pos x="T4" y="T5"/>
                  </a:cxn>
                  <a:cxn ang="0">
                    <a:pos x="T6" y="T7"/>
                  </a:cxn>
                  <a:cxn ang="0">
                    <a:pos x="T8" y="T9"/>
                  </a:cxn>
                </a:cxnLst>
                <a:rect l="0" t="0" r="r" b="b"/>
                <a:pathLst>
                  <a:path w="596" h="67">
                    <a:moveTo>
                      <a:pt x="0" y="66"/>
                    </a:moveTo>
                    <a:lnTo>
                      <a:pt x="595" y="66"/>
                    </a:lnTo>
                    <a:lnTo>
                      <a:pt x="561" y="0"/>
                    </a:lnTo>
                    <a:lnTo>
                      <a:pt x="43" y="0"/>
                    </a:lnTo>
                    <a:lnTo>
                      <a:pt x="0" y="66"/>
                    </a:lnTo>
                  </a:path>
                </a:pathLst>
              </a:custGeom>
              <a:solidFill>
                <a:srgbClr val="C0C0C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67" name="Freeform 83"/>
              <p:cNvSpPr>
                <a:spLocks/>
              </p:cNvSpPr>
              <p:nvPr/>
            </p:nvSpPr>
            <p:spPr bwMode="auto">
              <a:xfrm>
                <a:off x="4305" y="1479"/>
                <a:ext cx="558" cy="53"/>
              </a:xfrm>
              <a:custGeom>
                <a:avLst/>
                <a:gdLst>
                  <a:gd name="T0" fmla="*/ 32 w 558"/>
                  <a:gd name="T1" fmla="*/ 0 h 53"/>
                  <a:gd name="T2" fmla="*/ 0 w 558"/>
                  <a:gd name="T3" fmla="*/ 52 h 53"/>
                  <a:gd name="T4" fmla="*/ 557 w 558"/>
                  <a:gd name="T5" fmla="*/ 52 h 53"/>
                  <a:gd name="T6" fmla="*/ 532 w 558"/>
                  <a:gd name="T7" fmla="*/ 0 h 53"/>
                </a:gdLst>
                <a:ahLst/>
                <a:cxnLst>
                  <a:cxn ang="0">
                    <a:pos x="T0" y="T1"/>
                  </a:cxn>
                  <a:cxn ang="0">
                    <a:pos x="T2" y="T3"/>
                  </a:cxn>
                  <a:cxn ang="0">
                    <a:pos x="T4" y="T5"/>
                  </a:cxn>
                  <a:cxn ang="0">
                    <a:pos x="T6" y="T7"/>
                  </a:cxn>
                </a:cxnLst>
                <a:rect l="0" t="0" r="r" b="b"/>
                <a:pathLst>
                  <a:path w="558" h="53">
                    <a:moveTo>
                      <a:pt x="32" y="0"/>
                    </a:moveTo>
                    <a:lnTo>
                      <a:pt x="0" y="52"/>
                    </a:lnTo>
                    <a:lnTo>
                      <a:pt x="557" y="52"/>
                    </a:lnTo>
                    <a:lnTo>
                      <a:pt x="532"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268" name="Group 84"/>
            <p:cNvGrpSpPr>
              <a:grpSpLocks/>
            </p:cNvGrpSpPr>
            <p:nvPr/>
          </p:nvGrpSpPr>
          <p:grpSpPr bwMode="auto">
            <a:xfrm>
              <a:off x="4353" y="1479"/>
              <a:ext cx="469" cy="14"/>
              <a:chOff x="4353" y="1479"/>
              <a:chExt cx="469" cy="14"/>
            </a:xfrm>
          </p:grpSpPr>
          <p:sp>
            <p:nvSpPr>
              <p:cNvPr id="93269" name="Freeform 85"/>
              <p:cNvSpPr>
                <a:spLocks/>
              </p:cNvSpPr>
              <p:nvPr/>
            </p:nvSpPr>
            <p:spPr bwMode="auto">
              <a:xfrm>
                <a:off x="4353" y="1479"/>
                <a:ext cx="19" cy="10"/>
              </a:xfrm>
              <a:custGeom>
                <a:avLst/>
                <a:gdLst>
                  <a:gd name="T0" fmla="*/ 5 w 19"/>
                  <a:gd name="T1" fmla="*/ 0 h 10"/>
                  <a:gd name="T2" fmla="*/ 18 w 19"/>
                  <a:gd name="T3" fmla="*/ 0 h 10"/>
                  <a:gd name="T4" fmla="*/ 14 w 19"/>
                  <a:gd name="T5" fmla="*/ 9 h 10"/>
                  <a:gd name="T6" fmla="*/ 0 w 19"/>
                  <a:gd name="T7" fmla="*/ 9 h 10"/>
                  <a:gd name="T8" fmla="*/ 5 w 19"/>
                  <a:gd name="T9" fmla="*/ 0 h 10"/>
                </a:gdLst>
                <a:ahLst/>
                <a:cxnLst>
                  <a:cxn ang="0">
                    <a:pos x="T0" y="T1"/>
                  </a:cxn>
                  <a:cxn ang="0">
                    <a:pos x="T2" y="T3"/>
                  </a:cxn>
                  <a:cxn ang="0">
                    <a:pos x="T4" y="T5"/>
                  </a:cxn>
                  <a:cxn ang="0">
                    <a:pos x="T6" y="T7"/>
                  </a:cxn>
                  <a:cxn ang="0">
                    <a:pos x="T8" y="T9"/>
                  </a:cxn>
                </a:cxnLst>
                <a:rect l="0" t="0" r="r" b="b"/>
                <a:pathLst>
                  <a:path w="19" h="10">
                    <a:moveTo>
                      <a:pt x="5" y="0"/>
                    </a:moveTo>
                    <a:lnTo>
                      <a:pt x="18" y="0"/>
                    </a:lnTo>
                    <a:lnTo>
                      <a:pt x="14" y="9"/>
                    </a:lnTo>
                    <a:lnTo>
                      <a:pt x="0" y="9"/>
                    </a:lnTo>
                    <a:lnTo>
                      <a:pt x="5"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70" name="Freeform 86"/>
              <p:cNvSpPr>
                <a:spLocks/>
              </p:cNvSpPr>
              <p:nvPr/>
            </p:nvSpPr>
            <p:spPr bwMode="auto">
              <a:xfrm>
                <a:off x="4398" y="1479"/>
                <a:ext cx="75" cy="9"/>
              </a:xfrm>
              <a:custGeom>
                <a:avLst/>
                <a:gdLst>
                  <a:gd name="T0" fmla="*/ 3 w 75"/>
                  <a:gd name="T1" fmla="*/ 0 h 9"/>
                  <a:gd name="T2" fmla="*/ 74 w 75"/>
                  <a:gd name="T3" fmla="*/ 0 h 9"/>
                  <a:gd name="T4" fmla="*/ 71 w 75"/>
                  <a:gd name="T5" fmla="*/ 8 h 9"/>
                  <a:gd name="T6" fmla="*/ 0 w 75"/>
                  <a:gd name="T7" fmla="*/ 8 h 9"/>
                  <a:gd name="T8" fmla="*/ 3 w 75"/>
                  <a:gd name="T9" fmla="*/ 0 h 9"/>
                </a:gdLst>
                <a:ahLst/>
                <a:cxnLst>
                  <a:cxn ang="0">
                    <a:pos x="T0" y="T1"/>
                  </a:cxn>
                  <a:cxn ang="0">
                    <a:pos x="T2" y="T3"/>
                  </a:cxn>
                  <a:cxn ang="0">
                    <a:pos x="T4" y="T5"/>
                  </a:cxn>
                  <a:cxn ang="0">
                    <a:pos x="T6" y="T7"/>
                  </a:cxn>
                  <a:cxn ang="0">
                    <a:pos x="T8" y="T9"/>
                  </a:cxn>
                </a:cxnLst>
                <a:rect l="0" t="0" r="r" b="b"/>
                <a:pathLst>
                  <a:path w="75" h="9">
                    <a:moveTo>
                      <a:pt x="3" y="0"/>
                    </a:moveTo>
                    <a:lnTo>
                      <a:pt x="74" y="0"/>
                    </a:lnTo>
                    <a:lnTo>
                      <a:pt x="71" y="8"/>
                    </a:lnTo>
                    <a:lnTo>
                      <a:pt x="0" y="8"/>
                    </a:lnTo>
                    <a:lnTo>
                      <a:pt x="3"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71" name="Freeform 87"/>
              <p:cNvSpPr>
                <a:spLocks/>
              </p:cNvSpPr>
              <p:nvPr/>
            </p:nvSpPr>
            <p:spPr bwMode="auto">
              <a:xfrm>
                <a:off x="4493" y="1479"/>
                <a:ext cx="72" cy="10"/>
              </a:xfrm>
              <a:custGeom>
                <a:avLst/>
                <a:gdLst>
                  <a:gd name="T0" fmla="*/ 2 w 72"/>
                  <a:gd name="T1" fmla="*/ 0 h 10"/>
                  <a:gd name="T2" fmla="*/ 71 w 72"/>
                  <a:gd name="T3" fmla="*/ 0 h 10"/>
                  <a:gd name="T4" fmla="*/ 71 w 72"/>
                  <a:gd name="T5" fmla="*/ 9 h 10"/>
                  <a:gd name="T6" fmla="*/ 0 w 72"/>
                  <a:gd name="T7" fmla="*/ 9 h 10"/>
                  <a:gd name="T8" fmla="*/ 2 w 72"/>
                  <a:gd name="T9" fmla="*/ 0 h 10"/>
                </a:gdLst>
                <a:ahLst/>
                <a:cxnLst>
                  <a:cxn ang="0">
                    <a:pos x="T0" y="T1"/>
                  </a:cxn>
                  <a:cxn ang="0">
                    <a:pos x="T2" y="T3"/>
                  </a:cxn>
                  <a:cxn ang="0">
                    <a:pos x="T4" y="T5"/>
                  </a:cxn>
                  <a:cxn ang="0">
                    <a:pos x="T6" y="T7"/>
                  </a:cxn>
                  <a:cxn ang="0">
                    <a:pos x="T8" y="T9"/>
                  </a:cxn>
                </a:cxnLst>
                <a:rect l="0" t="0" r="r" b="b"/>
                <a:pathLst>
                  <a:path w="72" h="10">
                    <a:moveTo>
                      <a:pt x="2" y="0"/>
                    </a:moveTo>
                    <a:lnTo>
                      <a:pt x="71" y="0"/>
                    </a:lnTo>
                    <a:lnTo>
                      <a:pt x="71" y="9"/>
                    </a:lnTo>
                    <a:lnTo>
                      <a:pt x="0" y="9"/>
                    </a:lnTo>
                    <a:lnTo>
                      <a:pt x="2"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72" name="Freeform 88"/>
              <p:cNvSpPr>
                <a:spLocks/>
              </p:cNvSpPr>
              <p:nvPr/>
            </p:nvSpPr>
            <p:spPr bwMode="auto">
              <a:xfrm>
                <a:off x="4578" y="1479"/>
                <a:ext cx="72" cy="10"/>
              </a:xfrm>
              <a:custGeom>
                <a:avLst/>
                <a:gdLst>
                  <a:gd name="T0" fmla="*/ 0 w 72"/>
                  <a:gd name="T1" fmla="*/ 0 h 10"/>
                  <a:gd name="T2" fmla="*/ 71 w 72"/>
                  <a:gd name="T3" fmla="*/ 0 h 10"/>
                  <a:gd name="T4" fmla="*/ 71 w 72"/>
                  <a:gd name="T5" fmla="*/ 9 h 10"/>
                  <a:gd name="T6" fmla="*/ 0 w 72"/>
                  <a:gd name="T7" fmla="*/ 9 h 10"/>
                  <a:gd name="T8" fmla="*/ 0 w 72"/>
                  <a:gd name="T9" fmla="*/ 0 h 10"/>
                </a:gdLst>
                <a:ahLst/>
                <a:cxnLst>
                  <a:cxn ang="0">
                    <a:pos x="T0" y="T1"/>
                  </a:cxn>
                  <a:cxn ang="0">
                    <a:pos x="T2" y="T3"/>
                  </a:cxn>
                  <a:cxn ang="0">
                    <a:pos x="T4" y="T5"/>
                  </a:cxn>
                  <a:cxn ang="0">
                    <a:pos x="T6" y="T7"/>
                  </a:cxn>
                  <a:cxn ang="0">
                    <a:pos x="T8" y="T9"/>
                  </a:cxn>
                </a:cxnLst>
                <a:rect l="0" t="0" r="r" b="b"/>
                <a:pathLst>
                  <a:path w="72" h="10">
                    <a:moveTo>
                      <a:pt x="0" y="0"/>
                    </a:moveTo>
                    <a:lnTo>
                      <a:pt x="71" y="0"/>
                    </a:lnTo>
                    <a:lnTo>
                      <a:pt x="71" y="9"/>
                    </a:lnTo>
                    <a:lnTo>
                      <a:pt x="0" y="9"/>
                    </a:lnTo>
                    <a:lnTo>
                      <a:pt x="0"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73" name="Freeform 89"/>
              <p:cNvSpPr>
                <a:spLocks/>
              </p:cNvSpPr>
              <p:nvPr/>
            </p:nvSpPr>
            <p:spPr bwMode="auto">
              <a:xfrm>
                <a:off x="4665" y="1479"/>
                <a:ext cx="64" cy="11"/>
              </a:xfrm>
              <a:custGeom>
                <a:avLst/>
                <a:gdLst>
                  <a:gd name="T0" fmla="*/ 0 w 64"/>
                  <a:gd name="T1" fmla="*/ 0 h 11"/>
                  <a:gd name="T2" fmla="*/ 61 w 64"/>
                  <a:gd name="T3" fmla="*/ 0 h 11"/>
                  <a:gd name="T4" fmla="*/ 63 w 64"/>
                  <a:gd name="T5" fmla="*/ 10 h 11"/>
                  <a:gd name="T6" fmla="*/ 0 w 64"/>
                  <a:gd name="T7" fmla="*/ 10 h 11"/>
                  <a:gd name="T8" fmla="*/ 0 w 64"/>
                  <a:gd name="T9" fmla="*/ 0 h 11"/>
                </a:gdLst>
                <a:ahLst/>
                <a:cxnLst>
                  <a:cxn ang="0">
                    <a:pos x="T0" y="T1"/>
                  </a:cxn>
                  <a:cxn ang="0">
                    <a:pos x="T2" y="T3"/>
                  </a:cxn>
                  <a:cxn ang="0">
                    <a:pos x="T4" y="T5"/>
                  </a:cxn>
                  <a:cxn ang="0">
                    <a:pos x="T6" y="T7"/>
                  </a:cxn>
                  <a:cxn ang="0">
                    <a:pos x="T8" y="T9"/>
                  </a:cxn>
                </a:cxnLst>
                <a:rect l="0" t="0" r="r" b="b"/>
                <a:pathLst>
                  <a:path w="64" h="11">
                    <a:moveTo>
                      <a:pt x="0" y="0"/>
                    </a:moveTo>
                    <a:lnTo>
                      <a:pt x="61" y="0"/>
                    </a:lnTo>
                    <a:lnTo>
                      <a:pt x="63" y="10"/>
                    </a:lnTo>
                    <a:lnTo>
                      <a:pt x="0" y="10"/>
                    </a:lnTo>
                    <a:lnTo>
                      <a:pt x="0"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74" name="Freeform 90"/>
              <p:cNvSpPr>
                <a:spLocks/>
              </p:cNvSpPr>
              <p:nvPr/>
            </p:nvSpPr>
            <p:spPr bwMode="auto">
              <a:xfrm>
                <a:off x="4743" y="1484"/>
                <a:ext cx="79" cy="9"/>
              </a:xfrm>
              <a:custGeom>
                <a:avLst/>
                <a:gdLst>
                  <a:gd name="T0" fmla="*/ 0 w 79"/>
                  <a:gd name="T1" fmla="*/ 0 h 9"/>
                  <a:gd name="T2" fmla="*/ 71 w 79"/>
                  <a:gd name="T3" fmla="*/ 0 h 9"/>
                  <a:gd name="T4" fmla="*/ 78 w 79"/>
                  <a:gd name="T5" fmla="*/ 8 h 9"/>
                  <a:gd name="T6" fmla="*/ 3 w 79"/>
                  <a:gd name="T7" fmla="*/ 8 h 9"/>
                  <a:gd name="T8" fmla="*/ 0 w 79"/>
                  <a:gd name="T9" fmla="*/ 0 h 9"/>
                </a:gdLst>
                <a:ahLst/>
                <a:cxnLst>
                  <a:cxn ang="0">
                    <a:pos x="T0" y="T1"/>
                  </a:cxn>
                  <a:cxn ang="0">
                    <a:pos x="T2" y="T3"/>
                  </a:cxn>
                  <a:cxn ang="0">
                    <a:pos x="T4" y="T5"/>
                  </a:cxn>
                  <a:cxn ang="0">
                    <a:pos x="T6" y="T7"/>
                  </a:cxn>
                  <a:cxn ang="0">
                    <a:pos x="T8" y="T9"/>
                  </a:cxn>
                </a:cxnLst>
                <a:rect l="0" t="0" r="r" b="b"/>
                <a:pathLst>
                  <a:path w="79" h="9">
                    <a:moveTo>
                      <a:pt x="0" y="0"/>
                    </a:moveTo>
                    <a:lnTo>
                      <a:pt x="71" y="0"/>
                    </a:lnTo>
                    <a:lnTo>
                      <a:pt x="78" y="8"/>
                    </a:lnTo>
                    <a:lnTo>
                      <a:pt x="3" y="8"/>
                    </a:lnTo>
                    <a:lnTo>
                      <a:pt x="0"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275" name="Group 91"/>
            <p:cNvGrpSpPr>
              <a:grpSpLocks/>
            </p:cNvGrpSpPr>
            <p:nvPr/>
          </p:nvGrpSpPr>
          <p:grpSpPr bwMode="auto">
            <a:xfrm>
              <a:off x="4335" y="1496"/>
              <a:ext cx="494" cy="28"/>
              <a:chOff x="4335" y="1496"/>
              <a:chExt cx="494" cy="28"/>
            </a:xfrm>
          </p:grpSpPr>
          <p:grpSp>
            <p:nvGrpSpPr>
              <p:cNvPr id="93276" name="Group 92"/>
              <p:cNvGrpSpPr>
                <a:grpSpLocks/>
              </p:cNvGrpSpPr>
              <p:nvPr/>
            </p:nvGrpSpPr>
            <p:grpSpPr bwMode="auto">
              <a:xfrm>
                <a:off x="4377" y="1497"/>
                <a:ext cx="245" cy="25"/>
                <a:chOff x="4377" y="1497"/>
                <a:chExt cx="245" cy="25"/>
              </a:xfrm>
            </p:grpSpPr>
            <p:sp>
              <p:nvSpPr>
                <p:cNvPr id="93277" name="Freeform 93"/>
                <p:cNvSpPr>
                  <a:spLocks/>
                </p:cNvSpPr>
                <p:nvPr/>
              </p:nvSpPr>
              <p:spPr bwMode="auto">
                <a:xfrm>
                  <a:off x="4377" y="1497"/>
                  <a:ext cx="231" cy="1"/>
                </a:xfrm>
                <a:custGeom>
                  <a:avLst/>
                  <a:gdLst>
                    <a:gd name="T0" fmla="*/ 0 w 231"/>
                    <a:gd name="T1" fmla="*/ 0 h 1"/>
                    <a:gd name="T2" fmla="*/ 230 w 231"/>
                    <a:gd name="T3" fmla="*/ 0 h 1"/>
                  </a:gdLst>
                  <a:ahLst/>
                  <a:cxnLst>
                    <a:cxn ang="0">
                      <a:pos x="T0" y="T1"/>
                    </a:cxn>
                    <a:cxn ang="0">
                      <a:pos x="T2" y="T3"/>
                    </a:cxn>
                  </a:cxnLst>
                  <a:rect l="0" t="0" r="r" b="b"/>
                  <a:pathLst>
                    <a:path w="231" h="1">
                      <a:moveTo>
                        <a:pt x="0" y="0"/>
                      </a:moveTo>
                      <a:lnTo>
                        <a:pt x="23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78" name="Freeform 94"/>
                <p:cNvSpPr>
                  <a:spLocks/>
                </p:cNvSpPr>
                <p:nvPr/>
              </p:nvSpPr>
              <p:spPr bwMode="auto">
                <a:xfrm>
                  <a:off x="4386" y="1505"/>
                  <a:ext cx="236" cy="1"/>
                </a:xfrm>
                <a:custGeom>
                  <a:avLst/>
                  <a:gdLst>
                    <a:gd name="T0" fmla="*/ 0 w 236"/>
                    <a:gd name="T1" fmla="*/ 0 h 1"/>
                    <a:gd name="T2" fmla="*/ 235 w 236"/>
                    <a:gd name="T3" fmla="*/ 0 h 1"/>
                  </a:gdLst>
                  <a:ahLst/>
                  <a:cxnLst>
                    <a:cxn ang="0">
                      <a:pos x="T0" y="T1"/>
                    </a:cxn>
                    <a:cxn ang="0">
                      <a:pos x="T2" y="T3"/>
                    </a:cxn>
                  </a:cxnLst>
                  <a:rect l="0" t="0" r="r" b="b"/>
                  <a:pathLst>
                    <a:path w="236" h="1">
                      <a:moveTo>
                        <a:pt x="0" y="0"/>
                      </a:moveTo>
                      <a:lnTo>
                        <a:pt x="235"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79" name="Freeform 95"/>
                <p:cNvSpPr>
                  <a:spLocks/>
                </p:cNvSpPr>
                <p:nvPr/>
              </p:nvSpPr>
              <p:spPr bwMode="auto">
                <a:xfrm>
                  <a:off x="4390" y="1512"/>
                  <a:ext cx="205" cy="1"/>
                </a:xfrm>
                <a:custGeom>
                  <a:avLst/>
                  <a:gdLst>
                    <a:gd name="T0" fmla="*/ 0 w 205"/>
                    <a:gd name="T1" fmla="*/ 0 h 1"/>
                    <a:gd name="T2" fmla="*/ 204 w 205"/>
                    <a:gd name="T3" fmla="*/ 0 h 1"/>
                  </a:gdLst>
                  <a:ahLst/>
                  <a:cxnLst>
                    <a:cxn ang="0">
                      <a:pos x="T0" y="T1"/>
                    </a:cxn>
                    <a:cxn ang="0">
                      <a:pos x="T2" y="T3"/>
                    </a:cxn>
                  </a:cxnLst>
                  <a:rect l="0" t="0" r="r" b="b"/>
                  <a:pathLst>
                    <a:path w="205" h="1">
                      <a:moveTo>
                        <a:pt x="0" y="0"/>
                      </a:moveTo>
                      <a:lnTo>
                        <a:pt x="204"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80" name="Freeform 96"/>
                <p:cNvSpPr>
                  <a:spLocks/>
                </p:cNvSpPr>
                <p:nvPr/>
              </p:nvSpPr>
              <p:spPr bwMode="auto">
                <a:xfrm>
                  <a:off x="4394" y="1521"/>
                  <a:ext cx="29" cy="1"/>
                </a:xfrm>
                <a:custGeom>
                  <a:avLst/>
                  <a:gdLst>
                    <a:gd name="T0" fmla="*/ 0 w 29"/>
                    <a:gd name="T1" fmla="*/ 0 h 1"/>
                    <a:gd name="T2" fmla="*/ 28 w 29"/>
                    <a:gd name="T3" fmla="*/ 0 h 1"/>
                  </a:gdLst>
                  <a:ahLst/>
                  <a:cxnLst>
                    <a:cxn ang="0">
                      <a:pos x="T0" y="T1"/>
                    </a:cxn>
                    <a:cxn ang="0">
                      <a:pos x="T2" y="T3"/>
                    </a:cxn>
                  </a:cxnLst>
                  <a:rect l="0" t="0" r="r" b="b"/>
                  <a:pathLst>
                    <a:path w="29" h="1">
                      <a:moveTo>
                        <a:pt x="0" y="0"/>
                      </a:moveTo>
                      <a:lnTo>
                        <a:pt x="28"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281" name="Group 97"/>
              <p:cNvGrpSpPr>
                <a:grpSpLocks/>
              </p:cNvGrpSpPr>
              <p:nvPr/>
            </p:nvGrpSpPr>
            <p:grpSpPr bwMode="auto">
              <a:xfrm>
                <a:off x="4335" y="1501"/>
                <a:ext cx="41" cy="16"/>
                <a:chOff x="4335" y="1501"/>
                <a:chExt cx="41" cy="16"/>
              </a:xfrm>
            </p:grpSpPr>
            <p:sp>
              <p:nvSpPr>
                <p:cNvPr id="93282" name="Freeform 98"/>
                <p:cNvSpPr>
                  <a:spLocks/>
                </p:cNvSpPr>
                <p:nvPr/>
              </p:nvSpPr>
              <p:spPr bwMode="auto">
                <a:xfrm>
                  <a:off x="4345" y="1501"/>
                  <a:ext cx="24" cy="1"/>
                </a:xfrm>
                <a:custGeom>
                  <a:avLst/>
                  <a:gdLst>
                    <a:gd name="T0" fmla="*/ 0 w 24"/>
                    <a:gd name="T1" fmla="*/ 0 h 1"/>
                    <a:gd name="T2" fmla="*/ 23 w 24"/>
                    <a:gd name="T3" fmla="*/ 0 h 1"/>
                  </a:gdLst>
                  <a:ahLst/>
                  <a:cxnLst>
                    <a:cxn ang="0">
                      <a:pos x="T0" y="T1"/>
                    </a:cxn>
                    <a:cxn ang="0">
                      <a:pos x="T2" y="T3"/>
                    </a:cxn>
                  </a:cxnLst>
                  <a:rect l="0" t="0" r="r" b="b"/>
                  <a:pathLst>
                    <a:path w="24" h="1">
                      <a:moveTo>
                        <a:pt x="0" y="0"/>
                      </a:moveTo>
                      <a:lnTo>
                        <a:pt x="23"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83" name="Freeform 99"/>
                <p:cNvSpPr>
                  <a:spLocks/>
                </p:cNvSpPr>
                <p:nvPr/>
              </p:nvSpPr>
              <p:spPr bwMode="auto">
                <a:xfrm>
                  <a:off x="4341" y="1508"/>
                  <a:ext cx="23" cy="1"/>
                </a:xfrm>
                <a:custGeom>
                  <a:avLst/>
                  <a:gdLst>
                    <a:gd name="T0" fmla="*/ 0 w 23"/>
                    <a:gd name="T1" fmla="*/ 0 h 1"/>
                    <a:gd name="T2" fmla="*/ 22 w 23"/>
                    <a:gd name="T3" fmla="*/ 0 h 1"/>
                  </a:gdLst>
                  <a:ahLst/>
                  <a:cxnLst>
                    <a:cxn ang="0">
                      <a:pos x="T0" y="T1"/>
                    </a:cxn>
                    <a:cxn ang="0">
                      <a:pos x="T2" y="T3"/>
                    </a:cxn>
                  </a:cxnLst>
                  <a:rect l="0" t="0" r="r" b="b"/>
                  <a:pathLst>
                    <a:path w="23" h="1">
                      <a:moveTo>
                        <a:pt x="0" y="0"/>
                      </a:moveTo>
                      <a:lnTo>
                        <a:pt x="22"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84" name="Freeform 100"/>
                <p:cNvSpPr>
                  <a:spLocks/>
                </p:cNvSpPr>
                <p:nvPr/>
              </p:nvSpPr>
              <p:spPr bwMode="auto">
                <a:xfrm>
                  <a:off x="4335" y="1516"/>
                  <a:ext cx="41" cy="1"/>
                </a:xfrm>
                <a:custGeom>
                  <a:avLst/>
                  <a:gdLst>
                    <a:gd name="T0" fmla="*/ 0 w 41"/>
                    <a:gd name="T1" fmla="*/ 0 h 1"/>
                    <a:gd name="T2" fmla="*/ 40 w 41"/>
                    <a:gd name="T3" fmla="*/ 0 h 1"/>
                  </a:gdLst>
                  <a:ahLst/>
                  <a:cxnLst>
                    <a:cxn ang="0">
                      <a:pos x="T0" y="T1"/>
                    </a:cxn>
                    <a:cxn ang="0">
                      <a:pos x="T2" y="T3"/>
                    </a:cxn>
                  </a:cxnLst>
                  <a:rect l="0" t="0" r="r" b="b"/>
                  <a:pathLst>
                    <a:path w="41" h="1">
                      <a:moveTo>
                        <a:pt x="0" y="0"/>
                      </a:moveTo>
                      <a:lnTo>
                        <a:pt x="4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285" name="Group 101"/>
              <p:cNvGrpSpPr>
                <a:grpSpLocks/>
              </p:cNvGrpSpPr>
              <p:nvPr/>
            </p:nvGrpSpPr>
            <p:grpSpPr bwMode="auto">
              <a:xfrm>
                <a:off x="4430" y="1496"/>
                <a:ext cx="224" cy="26"/>
                <a:chOff x="4430" y="1496"/>
                <a:chExt cx="224" cy="26"/>
              </a:xfrm>
            </p:grpSpPr>
            <p:sp>
              <p:nvSpPr>
                <p:cNvPr id="93286" name="Freeform 102"/>
                <p:cNvSpPr>
                  <a:spLocks/>
                </p:cNvSpPr>
                <p:nvPr/>
              </p:nvSpPr>
              <p:spPr bwMode="auto">
                <a:xfrm>
                  <a:off x="4430" y="1521"/>
                  <a:ext cx="139" cy="1"/>
                </a:xfrm>
                <a:custGeom>
                  <a:avLst/>
                  <a:gdLst>
                    <a:gd name="T0" fmla="*/ 0 w 139"/>
                    <a:gd name="T1" fmla="*/ 0 h 1"/>
                    <a:gd name="T2" fmla="*/ 138 w 139"/>
                    <a:gd name="T3" fmla="*/ 0 h 1"/>
                  </a:gdLst>
                  <a:ahLst/>
                  <a:cxnLst>
                    <a:cxn ang="0">
                      <a:pos x="T0" y="T1"/>
                    </a:cxn>
                    <a:cxn ang="0">
                      <a:pos x="T2" y="T3"/>
                    </a:cxn>
                  </a:cxnLst>
                  <a:rect l="0" t="0" r="r" b="b"/>
                  <a:pathLst>
                    <a:path w="139" h="1">
                      <a:moveTo>
                        <a:pt x="0" y="0"/>
                      </a:moveTo>
                      <a:lnTo>
                        <a:pt x="138"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87" name="Freeform 103"/>
                <p:cNvSpPr>
                  <a:spLocks/>
                </p:cNvSpPr>
                <p:nvPr/>
              </p:nvSpPr>
              <p:spPr bwMode="auto">
                <a:xfrm>
                  <a:off x="4619" y="1496"/>
                  <a:ext cx="33" cy="1"/>
                </a:xfrm>
                <a:custGeom>
                  <a:avLst/>
                  <a:gdLst>
                    <a:gd name="T0" fmla="*/ 0 w 33"/>
                    <a:gd name="T1" fmla="*/ 0 h 1"/>
                    <a:gd name="T2" fmla="*/ 32 w 33"/>
                    <a:gd name="T3" fmla="*/ 0 h 1"/>
                  </a:gdLst>
                  <a:ahLst/>
                  <a:cxnLst>
                    <a:cxn ang="0">
                      <a:pos x="T0" y="T1"/>
                    </a:cxn>
                    <a:cxn ang="0">
                      <a:pos x="T2" y="T3"/>
                    </a:cxn>
                  </a:cxnLst>
                  <a:rect l="0" t="0" r="r" b="b"/>
                  <a:pathLst>
                    <a:path w="33" h="1">
                      <a:moveTo>
                        <a:pt x="0" y="0"/>
                      </a:moveTo>
                      <a:lnTo>
                        <a:pt x="32"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88" name="Freeform 104"/>
                <p:cNvSpPr>
                  <a:spLocks/>
                </p:cNvSpPr>
                <p:nvPr/>
              </p:nvSpPr>
              <p:spPr bwMode="auto">
                <a:xfrm>
                  <a:off x="4628" y="1505"/>
                  <a:ext cx="26" cy="1"/>
                </a:xfrm>
                <a:custGeom>
                  <a:avLst/>
                  <a:gdLst>
                    <a:gd name="T0" fmla="*/ 0 w 26"/>
                    <a:gd name="T1" fmla="*/ 0 h 1"/>
                    <a:gd name="T2" fmla="*/ 25 w 26"/>
                    <a:gd name="T3" fmla="*/ 0 h 1"/>
                  </a:gdLst>
                  <a:ahLst/>
                  <a:cxnLst>
                    <a:cxn ang="0">
                      <a:pos x="T0" y="T1"/>
                    </a:cxn>
                    <a:cxn ang="0">
                      <a:pos x="T2" y="T3"/>
                    </a:cxn>
                  </a:cxnLst>
                  <a:rect l="0" t="0" r="r" b="b"/>
                  <a:pathLst>
                    <a:path w="26" h="1">
                      <a:moveTo>
                        <a:pt x="0" y="0"/>
                      </a:moveTo>
                      <a:lnTo>
                        <a:pt x="25"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89" name="Freeform 105"/>
                <p:cNvSpPr>
                  <a:spLocks/>
                </p:cNvSpPr>
                <p:nvPr/>
              </p:nvSpPr>
              <p:spPr bwMode="auto">
                <a:xfrm>
                  <a:off x="4610" y="1513"/>
                  <a:ext cx="44" cy="1"/>
                </a:xfrm>
                <a:custGeom>
                  <a:avLst/>
                  <a:gdLst>
                    <a:gd name="T0" fmla="*/ 0 w 44"/>
                    <a:gd name="T1" fmla="*/ 0 h 1"/>
                    <a:gd name="T2" fmla="*/ 43 w 44"/>
                    <a:gd name="T3" fmla="*/ 0 h 1"/>
                  </a:gdLst>
                  <a:ahLst/>
                  <a:cxnLst>
                    <a:cxn ang="0">
                      <a:pos x="T0" y="T1"/>
                    </a:cxn>
                    <a:cxn ang="0">
                      <a:pos x="T2" y="T3"/>
                    </a:cxn>
                  </a:cxnLst>
                  <a:rect l="0" t="0" r="r" b="b"/>
                  <a:pathLst>
                    <a:path w="44" h="1">
                      <a:moveTo>
                        <a:pt x="0" y="0"/>
                      </a:moveTo>
                      <a:lnTo>
                        <a:pt x="43"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90" name="Freeform 106"/>
                <p:cNvSpPr>
                  <a:spLocks/>
                </p:cNvSpPr>
                <p:nvPr/>
              </p:nvSpPr>
              <p:spPr bwMode="auto">
                <a:xfrm>
                  <a:off x="4574" y="1521"/>
                  <a:ext cx="24" cy="1"/>
                </a:xfrm>
                <a:custGeom>
                  <a:avLst/>
                  <a:gdLst>
                    <a:gd name="T0" fmla="*/ 0 w 24"/>
                    <a:gd name="T1" fmla="*/ 0 h 1"/>
                    <a:gd name="T2" fmla="*/ 23 w 24"/>
                    <a:gd name="T3" fmla="*/ 0 h 1"/>
                  </a:gdLst>
                  <a:ahLst/>
                  <a:cxnLst>
                    <a:cxn ang="0">
                      <a:pos x="T0" y="T1"/>
                    </a:cxn>
                    <a:cxn ang="0">
                      <a:pos x="T2" y="T3"/>
                    </a:cxn>
                  </a:cxnLst>
                  <a:rect l="0" t="0" r="r" b="b"/>
                  <a:pathLst>
                    <a:path w="24" h="1">
                      <a:moveTo>
                        <a:pt x="0" y="0"/>
                      </a:moveTo>
                      <a:lnTo>
                        <a:pt x="23"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91" name="Freeform 107"/>
                <p:cNvSpPr>
                  <a:spLocks/>
                </p:cNvSpPr>
                <p:nvPr/>
              </p:nvSpPr>
              <p:spPr bwMode="auto">
                <a:xfrm>
                  <a:off x="4603" y="1521"/>
                  <a:ext cx="49" cy="1"/>
                </a:xfrm>
                <a:custGeom>
                  <a:avLst/>
                  <a:gdLst>
                    <a:gd name="T0" fmla="*/ 0 w 49"/>
                    <a:gd name="T1" fmla="*/ 0 h 1"/>
                    <a:gd name="T2" fmla="*/ 48 w 49"/>
                    <a:gd name="T3" fmla="*/ 0 h 1"/>
                  </a:gdLst>
                  <a:ahLst/>
                  <a:cxnLst>
                    <a:cxn ang="0">
                      <a:pos x="T0" y="T1"/>
                    </a:cxn>
                    <a:cxn ang="0">
                      <a:pos x="T2" y="T3"/>
                    </a:cxn>
                  </a:cxnLst>
                  <a:rect l="0" t="0" r="r" b="b"/>
                  <a:pathLst>
                    <a:path w="49" h="1">
                      <a:moveTo>
                        <a:pt x="0" y="0"/>
                      </a:moveTo>
                      <a:lnTo>
                        <a:pt x="48"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292" name="Group 108"/>
              <p:cNvGrpSpPr>
                <a:grpSpLocks/>
              </p:cNvGrpSpPr>
              <p:nvPr/>
            </p:nvGrpSpPr>
            <p:grpSpPr bwMode="auto">
              <a:xfrm>
                <a:off x="4663" y="1501"/>
                <a:ext cx="71" cy="21"/>
                <a:chOff x="4663" y="1501"/>
                <a:chExt cx="71" cy="21"/>
              </a:xfrm>
            </p:grpSpPr>
            <p:sp>
              <p:nvSpPr>
                <p:cNvPr id="93293" name="Freeform 109"/>
                <p:cNvSpPr>
                  <a:spLocks/>
                </p:cNvSpPr>
                <p:nvPr/>
              </p:nvSpPr>
              <p:spPr bwMode="auto">
                <a:xfrm>
                  <a:off x="4663" y="1501"/>
                  <a:ext cx="67" cy="1"/>
                </a:xfrm>
                <a:custGeom>
                  <a:avLst/>
                  <a:gdLst>
                    <a:gd name="T0" fmla="*/ 0 w 67"/>
                    <a:gd name="T1" fmla="*/ 0 h 1"/>
                    <a:gd name="T2" fmla="*/ 66 w 67"/>
                    <a:gd name="T3" fmla="*/ 0 h 1"/>
                  </a:gdLst>
                  <a:ahLst/>
                  <a:cxnLst>
                    <a:cxn ang="0">
                      <a:pos x="T0" y="T1"/>
                    </a:cxn>
                    <a:cxn ang="0">
                      <a:pos x="T2" y="T3"/>
                    </a:cxn>
                  </a:cxnLst>
                  <a:rect l="0" t="0" r="r" b="b"/>
                  <a:pathLst>
                    <a:path w="67" h="1">
                      <a:moveTo>
                        <a:pt x="0" y="0"/>
                      </a:moveTo>
                      <a:lnTo>
                        <a:pt x="66"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94" name="Freeform 110"/>
                <p:cNvSpPr>
                  <a:spLocks/>
                </p:cNvSpPr>
                <p:nvPr/>
              </p:nvSpPr>
              <p:spPr bwMode="auto">
                <a:xfrm>
                  <a:off x="4673" y="1509"/>
                  <a:ext cx="58" cy="1"/>
                </a:xfrm>
                <a:custGeom>
                  <a:avLst/>
                  <a:gdLst>
                    <a:gd name="T0" fmla="*/ 0 w 58"/>
                    <a:gd name="T1" fmla="*/ 0 h 1"/>
                    <a:gd name="T2" fmla="*/ 57 w 58"/>
                    <a:gd name="T3" fmla="*/ 0 h 1"/>
                  </a:gdLst>
                  <a:ahLst/>
                  <a:cxnLst>
                    <a:cxn ang="0">
                      <a:pos x="T0" y="T1"/>
                    </a:cxn>
                    <a:cxn ang="0">
                      <a:pos x="T2" y="T3"/>
                    </a:cxn>
                  </a:cxnLst>
                  <a:rect l="0" t="0" r="r" b="b"/>
                  <a:pathLst>
                    <a:path w="58" h="1">
                      <a:moveTo>
                        <a:pt x="0" y="0"/>
                      </a:moveTo>
                      <a:lnTo>
                        <a:pt x="57"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95" name="Freeform 111"/>
                <p:cNvSpPr>
                  <a:spLocks/>
                </p:cNvSpPr>
                <p:nvPr/>
              </p:nvSpPr>
              <p:spPr bwMode="auto">
                <a:xfrm>
                  <a:off x="4673" y="1521"/>
                  <a:ext cx="61" cy="1"/>
                </a:xfrm>
                <a:custGeom>
                  <a:avLst/>
                  <a:gdLst>
                    <a:gd name="T0" fmla="*/ 0 w 61"/>
                    <a:gd name="T1" fmla="*/ 0 h 1"/>
                    <a:gd name="T2" fmla="*/ 60 w 61"/>
                    <a:gd name="T3" fmla="*/ 0 h 1"/>
                  </a:gdLst>
                  <a:ahLst/>
                  <a:cxnLst>
                    <a:cxn ang="0">
                      <a:pos x="T0" y="T1"/>
                    </a:cxn>
                    <a:cxn ang="0">
                      <a:pos x="T2" y="T3"/>
                    </a:cxn>
                  </a:cxnLst>
                  <a:rect l="0" t="0" r="r" b="b"/>
                  <a:pathLst>
                    <a:path w="61" h="1">
                      <a:moveTo>
                        <a:pt x="0" y="0"/>
                      </a:moveTo>
                      <a:lnTo>
                        <a:pt x="6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296" name="Group 112"/>
              <p:cNvGrpSpPr>
                <a:grpSpLocks/>
              </p:cNvGrpSpPr>
              <p:nvPr/>
            </p:nvGrpSpPr>
            <p:grpSpPr bwMode="auto">
              <a:xfrm>
                <a:off x="4745" y="1501"/>
                <a:ext cx="84" cy="23"/>
                <a:chOff x="4745" y="1501"/>
                <a:chExt cx="84" cy="23"/>
              </a:xfrm>
            </p:grpSpPr>
            <p:sp>
              <p:nvSpPr>
                <p:cNvPr id="93297" name="Freeform 113"/>
                <p:cNvSpPr>
                  <a:spLocks/>
                </p:cNvSpPr>
                <p:nvPr/>
              </p:nvSpPr>
              <p:spPr bwMode="auto">
                <a:xfrm>
                  <a:off x="4751" y="1501"/>
                  <a:ext cx="63" cy="1"/>
                </a:xfrm>
                <a:custGeom>
                  <a:avLst/>
                  <a:gdLst>
                    <a:gd name="T0" fmla="*/ 0 w 63"/>
                    <a:gd name="T1" fmla="*/ 0 h 1"/>
                    <a:gd name="T2" fmla="*/ 62 w 63"/>
                    <a:gd name="T3" fmla="*/ 0 h 1"/>
                  </a:gdLst>
                  <a:ahLst/>
                  <a:cxnLst>
                    <a:cxn ang="0">
                      <a:pos x="T0" y="T1"/>
                    </a:cxn>
                    <a:cxn ang="0">
                      <a:pos x="T2" y="T3"/>
                    </a:cxn>
                  </a:cxnLst>
                  <a:rect l="0" t="0" r="r" b="b"/>
                  <a:pathLst>
                    <a:path w="63" h="1">
                      <a:moveTo>
                        <a:pt x="0" y="0"/>
                      </a:moveTo>
                      <a:lnTo>
                        <a:pt x="62"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98" name="Freeform 114"/>
                <p:cNvSpPr>
                  <a:spLocks/>
                </p:cNvSpPr>
                <p:nvPr/>
              </p:nvSpPr>
              <p:spPr bwMode="auto">
                <a:xfrm>
                  <a:off x="4745" y="1509"/>
                  <a:ext cx="52" cy="1"/>
                </a:xfrm>
                <a:custGeom>
                  <a:avLst/>
                  <a:gdLst>
                    <a:gd name="T0" fmla="*/ 0 w 52"/>
                    <a:gd name="T1" fmla="*/ 0 h 1"/>
                    <a:gd name="T2" fmla="*/ 51 w 52"/>
                    <a:gd name="T3" fmla="*/ 0 h 1"/>
                  </a:gdLst>
                  <a:ahLst/>
                  <a:cxnLst>
                    <a:cxn ang="0">
                      <a:pos x="T0" y="T1"/>
                    </a:cxn>
                    <a:cxn ang="0">
                      <a:pos x="T2" y="T3"/>
                    </a:cxn>
                  </a:cxnLst>
                  <a:rect l="0" t="0" r="r" b="b"/>
                  <a:pathLst>
                    <a:path w="52" h="1">
                      <a:moveTo>
                        <a:pt x="0" y="0"/>
                      </a:moveTo>
                      <a:lnTo>
                        <a:pt x="51"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299" name="Freeform 115"/>
                <p:cNvSpPr>
                  <a:spLocks/>
                </p:cNvSpPr>
                <p:nvPr/>
              </p:nvSpPr>
              <p:spPr bwMode="auto">
                <a:xfrm>
                  <a:off x="4751" y="1516"/>
                  <a:ext cx="48" cy="1"/>
                </a:xfrm>
                <a:custGeom>
                  <a:avLst/>
                  <a:gdLst>
                    <a:gd name="T0" fmla="*/ 0 w 48"/>
                    <a:gd name="T1" fmla="*/ 0 h 1"/>
                    <a:gd name="T2" fmla="*/ 47 w 48"/>
                    <a:gd name="T3" fmla="*/ 0 h 1"/>
                  </a:gdLst>
                  <a:ahLst/>
                  <a:cxnLst>
                    <a:cxn ang="0">
                      <a:pos x="T0" y="T1"/>
                    </a:cxn>
                    <a:cxn ang="0">
                      <a:pos x="T2" y="T3"/>
                    </a:cxn>
                  </a:cxnLst>
                  <a:rect l="0" t="0" r="r" b="b"/>
                  <a:pathLst>
                    <a:path w="48" h="1">
                      <a:moveTo>
                        <a:pt x="0" y="0"/>
                      </a:moveTo>
                      <a:lnTo>
                        <a:pt x="47"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00" name="Freeform 116"/>
                <p:cNvSpPr>
                  <a:spLocks/>
                </p:cNvSpPr>
                <p:nvPr/>
              </p:nvSpPr>
              <p:spPr bwMode="auto">
                <a:xfrm>
                  <a:off x="4749" y="1523"/>
                  <a:ext cx="60" cy="1"/>
                </a:xfrm>
                <a:custGeom>
                  <a:avLst/>
                  <a:gdLst>
                    <a:gd name="T0" fmla="*/ 0 w 60"/>
                    <a:gd name="T1" fmla="*/ 0 h 1"/>
                    <a:gd name="T2" fmla="*/ 59 w 60"/>
                    <a:gd name="T3" fmla="*/ 0 h 1"/>
                  </a:gdLst>
                  <a:ahLst/>
                  <a:cxnLst>
                    <a:cxn ang="0">
                      <a:pos x="T0" y="T1"/>
                    </a:cxn>
                    <a:cxn ang="0">
                      <a:pos x="T2" y="T3"/>
                    </a:cxn>
                  </a:cxnLst>
                  <a:rect l="0" t="0" r="r" b="b"/>
                  <a:pathLst>
                    <a:path w="60" h="1">
                      <a:moveTo>
                        <a:pt x="0" y="0"/>
                      </a:moveTo>
                      <a:lnTo>
                        <a:pt x="59"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01" name="Freeform 117"/>
                <p:cNvSpPr>
                  <a:spLocks/>
                </p:cNvSpPr>
                <p:nvPr/>
              </p:nvSpPr>
              <p:spPr bwMode="auto">
                <a:xfrm>
                  <a:off x="4806" y="1509"/>
                  <a:ext cx="17" cy="1"/>
                </a:xfrm>
                <a:custGeom>
                  <a:avLst/>
                  <a:gdLst>
                    <a:gd name="T0" fmla="*/ 0 w 17"/>
                    <a:gd name="T1" fmla="*/ 0 h 1"/>
                    <a:gd name="T2" fmla="*/ 16 w 17"/>
                    <a:gd name="T3" fmla="*/ 0 h 1"/>
                  </a:gdLst>
                  <a:ahLst/>
                  <a:cxnLst>
                    <a:cxn ang="0">
                      <a:pos x="T0" y="T1"/>
                    </a:cxn>
                    <a:cxn ang="0">
                      <a:pos x="T2" y="T3"/>
                    </a:cxn>
                  </a:cxnLst>
                  <a:rect l="0" t="0" r="r" b="b"/>
                  <a:pathLst>
                    <a:path w="17" h="1">
                      <a:moveTo>
                        <a:pt x="0" y="0"/>
                      </a:moveTo>
                      <a:lnTo>
                        <a:pt x="16"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02" name="Freeform 118"/>
                <p:cNvSpPr>
                  <a:spLocks/>
                </p:cNvSpPr>
                <p:nvPr/>
              </p:nvSpPr>
              <p:spPr bwMode="auto">
                <a:xfrm>
                  <a:off x="4812" y="1519"/>
                  <a:ext cx="17" cy="1"/>
                </a:xfrm>
                <a:custGeom>
                  <a:avLst/>
                  <a:gdLst>
                    <a:gd name="T0" fmla="*/ 0 w 17"/>
                    <a:gd name="T1" fmla="*/ 0 h 1"/>
                    <a:gd name="T2" fmla="*/ 16 w 17"/>
                    <a:gd name="T3" fmla="*/ 0 h 1"/>
                  </a:gdLst>
                  <a:ahLst/>
                  <a:cxnLst>
                    <a:cxn ang="0">
                      <a:pos x="T0" y="T1"/>
                    </a:cxn>
                    <a:cxn ang="0">
                      <a:pos x="T2" y="T3"/>
                    </a:cxn>
                  </a:cxnLst>
                  <a:rect l="0" t="0" r="r" b="b"/>
                  <a:pathLst>
                    <a:path w="17" h="1">
                      <a:moveTo>
                        <a:pt x="0" y="0"/>
                      </a:moveTo>
                      <a:lnTo>
                        <a:pt x="16"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sp>
          <p:nvSpPr>
            <p:cNvPr id="93303" name="Freeform 119"/>
            <p:cNvSpPr>
              <a:spLocks/>
            </p:cNvSpPr>
            <p:nvPr/>
          </p:nvSpPr>
          <p:spPr bwMode="auto">
            <a:xfrm>
              <a:off x="4329" y="1078"/>
              <a:ext cx="512" cy="389"/>
            </a:xfrm>
            <a:custGeom>
              <a:avLst/>
              <a:gdLst>
                <a:gd name="T0" fmla="*/ 0 w 512"/>
                <a:gd name="T1" fmla="*/ 19 h 389"/>
                <a:gd name="T2" fmla="*/ 0 w 512"/>
                <a:gd name="T3" fmla="*/ 365 h 389"/>
                <a:gd name="T4" fmla="*/ 0 w 512"/>
                <a:gd name="T5" fmla="*/ 368 h 389"/>
                <a:gd name="T6" fmla="*/ 1 w 512"/>
                <a:gd name="T7" fmla="*/ 371 h 389"/>
                <a:gd name="T8" fmla="*/ 2 w 512"/>
                <a:gd name="T9" fmla="*/ 373 h 389"/>
                <a:gd name="T10" fmla="*/ 3 w 512"/>
                <a:gd name="T11" fmla="*/ 375 h 389"/>
                <a:gd name="T12" fmla="*/ 5 w 512"/>
                <a:gd name="T13" fmla="*/ 377 h 389"/>
                <a:gd name="T14" fmla="*/ 7 w 512"/>
                <a:gd name="T15" fmla="*/ 378 h 389"/>
                <a:gd name="T16" fmla="*/ 9 w 512"/>
                <a:gd name="T17" fmla="*/ 379 h 389"/>
                <a:gd name="T18" fmla="*/ 11 w 512"/>
                <a:gd name="T19" fmla="*/ 380 h 389"/>
                <a:gd name="T20" fmla="*/ 120 w 512"/>
                <a:gd name="T21" fmla="*/ 386 h 389"/>
                <a:gd name="T22" fmla="*/ 255 w 512"/>
                <a:gd name="T23" fmla="*/ 388 h 389"/>
                <a:gd name="T24" fmla="*/ 381 w 512"/>
                <a:gd name="T25" fmla="*/ 386 h 389"/>
                <a:gd name="T26" fmla="*/ 498 w 512"/>
                <a:gd name="T27" fmla="*/ 380 h 389"/>
                <a:gd name="T28" fmla="*/ 502 w 512"/>
                <a:gd name="T29" fmla="*/ 379 h 389"/>
                <a:gd name="T30" fmla="*/ 505 w 512"/>
                <a:gd name="T31" fmla="*/ 378 h 389"/>
                <a:gd name="T32" fmla="*/ 508 w 512"/>
                <a:gd name="T33" fmla="*/ 376 h 389"/>
                <a:gd name="T34" fmla="*/ 510 w 512"/>
                <a:gd name="T35" fmla="*/ 373 h 389"/>
                <a:gd name="T36" fmla="*/ 511 w 512"/>
                <a:gd name="T37" fmla="*/ 369 h 389"/>
                <a:gd name="T38" fmla="*/ 511 w 512"/>
                <a:gd name="T39" fmla="*/ 366 h 389"/>
                <a:gd name="T40" fmla="*/ 511 w 512"/>
                <a:gd name="T41" fmla="*/ 363 h 389"/>
                <a:gd name="T42" fmla="*/ 511 w 512"/>
                <a:gd name="T43" fmla="*/ 19 h 389"/>
                <a:gd name="T44" fmla="*/ 511 w 512"/>
                <a:gd name="T45" fmla="*/ 16 h 389"/>
                <a:gd name="T46" fmla="*/ 509 w 512"/>
                <a:gd name="T47" fmla="*/ 12 h 389"/>
                <a:gd name="T48" fmla="*/ 507 w 512"/>
                <a:gd name="T49" fmla="*/ 9 h 389"/>
                <a:gd name="T50" fmla="*/ 504 w 512"/>
                <a:gd name="T51" fmla="*/ 7 h 389"/>
                <a:gd name="T52" fmla="*/ 500 w 512"/>
                <a:gd name="T53" fmla="*/ 6 h 389"/>
                <a:gd name="T54" fmla="*/ 497 w 512"/>
                <a:gd name="T55" fmla="*/ 6 h 389"/>
                <a:gd name="T56" fmla="*/ 378 w 512"/>
                <a:gd name="T57" fmla="*/ 1 h 389"/>
                <a:gd name="T58" fmla="*/ 255 w 512"/>
                <a:gd name="T59" fmla="*/ 0 h 389"/>
                <a:gd name="T60" fmla="*/ 132 w 512"/>
                <a:gd name="T61" fmla="*/ 2 h 389"/>
                <a:gd name="T62" fmla="*/ 16 w 512"/>
                <a:gd name="T63" fmla="*/ 6 h 389"/>
                <a:gd name="T64" fmla="*/ 13 w 512"/>
                <a:gd name="T65" fmla="*/ 6 h 389"/>
                <a:gd name="T66" fmla="*/ 10 w 512"/>
                <a:gd name="T67" fmla="*/ 6 h 389"/>
                <a:gd name="T68" fmla="*/ 7 w 512"/>
                <a:gd name="T69" fmla="*/ 7 h 389"/>
                <a:gd name="T70" fmla="*/ 4 w 512"/>
                <a:gd name="T71" fmla="*/ 9 h 389"/>
                <a:gd name="T72" fmla="*/ 3 w 512"/>
                <a:gd name="T73" fmla="*/ 11 h 389"/>
                <a:gd name="T74" fmla="*/ 1 w 512"/>
                <a:gd name="T75" fmla="*/ 14 h 389"/>
                <a:gd name="T76" fmla="*/ 0 w 512"/>
                <a:gd name="T77" fmla="*/ 16 h 389"/>
                <a:gd name="T78" fmla="*/ 0 w 512"/>
                <a:gd name="T79" fmla="*/ 1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 h="389">
                  <a:moveTo>
                    <a:pt x="0" y="19"/>
                  </a:moveTo>
                  <a:lnTo>
                    <a:pt x="0" y="365"/>
                  </a:lnTo>
                  <a:lnTo>
                    <a:pt x="0" y="368"/>
                  </a:lnTo>
                  <a:lnTo>
                    <a:pt x="1" y="371"/>
                  </a:lnTo>
                  <a:lnTo>
                    <a:pt x="2" y="373"/>
                  </a:lnTo>
                  <a:lnTo>
                    <a:pt x="3" y="375"/>
                  </a:lnTo>
                  <a:lnTo>
                    <a:pt x="5" y="377"/>
                  </a:lnTo>
                  <a:lnTo>
                    <a:pt x="7" y="378"/>
                  </a:lnTo>
                  <a:lnTo>
                    <a:pt x="9" y="379"/>
                  </a:lnTo>
                  <a:lnTo>
                    <a:pt x="11" y="380"/>
                  </a:lnTo>
                  <a:lnTo>
                    <a:pt x="120" y="386"/>
                  </a:lnTo>
                  <a:lnTo>
                    <a:pt x="255" y="388"/>
                  </a:lnTo>
                  <a:lnTo>
                    <a:pt x="381" y="386"/>
                  </a:lnTo>
                  <a:lnTo>
                    <a:pt x="498" y="380"/>
                  </a:lnTo>
                  <a:lnTo>
                    <a:pt x="502" y="379"/>
                  </a:lnTo>
                  <a:lnTo>
                    <a:pt x="505" y="378"/>
                  </a:lnTo>
                  <a:lnTo>
                    <a:pt x="508" y="376"/>
                  </a:lnTo>
                  <a:lnTo>
                    <a:pt x="510" y="373"/>
                  </a:lnTo>
                  <a:lnTo>
                    <a:pt x="511" y="369"/>
                  </a:lnTo>
                  <a:lnTo>
                    <a:pt x="511" y="366"/>
                  </a:lnTo>
                  <a:lnTo>
                    <a:pt x="511" y="363"/>
                  </a:lnTo>
                  <a:lnTo>
                    <a:pt x="511" y="19"/>
                  </a:lnTo>
                  <a:lnTo>
                    <a:pt x="511" y="16"/>
                  </a:lnTo>
                  <a:lnTo>
                    <a:pt x="509" y="12"/>
                  </a:lnTo>
                  <a:lnTo>
                    <a:pt x="507" y="9"/>
                  </a:lnTo>
                  <a:lnTo>
                    <a:pt x="504" y="7"/>
                  </a:lnTo>
                  <a:lnTo>
                    <a:pt x="500" y="6"/>
                  </a:lnTo>
                  <a:lnTo>
                    <a:pt x="497" y="6"/>
                  </a:lnTo>
                  <a:lnTo>
                    <a:pt x="378" y="1"/>
                  </a:lnTo>
                  <a:lnTo>
                    <a:pt x="255" y="0"/>
                  </a:lnTo>
                  <a:lnTo>
                    <a:pt x="132" y="2"/>
                  </a:lnTo>
                  <a:lnTo>
                    <a:pt x="16" y="6"/>
                  </a:lnTo>
                  <a:lnTo>
                    <a:pt x="13" y="6"/>
                  </a:lnTo>
                  <a:lnTo>
                    <a:pt x="10" y="6"/>
                  </a:lnTo>
                  <a:lnTo>
                    <a:pt x="7" y="7"/>
                  </a:lnTo>
                  <a:lnTo>
                    <a:pt x="4" y="9"/>
                  </a:lnTo>
                  <a:lnTo>
                    <a:pt x="3" y="11"/>
                  </a:lnTo>
                  <a:lnTo>
                    <a:pt x="1" y="14"/>
                  </a:lnTo>
                  <a:lnTo>
                    <a:pt x="0" y="16"/>
                  </a:lnTo>
                  <a:lnTo>
                    <a:pt x="0" y="19"/>
                  </a:lnTo>
                </a:path>
              </a:pathLst>
            </a:custGeom>
            <a:solidFill>
              <a:srgbClr val="DFD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nvGrpSpPr>
            <p:cNvPr id="93304" name="Group 120"/>
            <p:cNvGrpSpPr>
              <a:grpSpLocks/>
            </p:cNvGrpSpPr>
            <p:nvPr/>
          </p:nvGrpSpPr>
          <p:grpSpPr bwMode="auto">
            <a:xfrm>
              <a:off x="4379" y="1119"/>
              <a:ext cx="412" cy="305"/>
              <a:chOff x="4379" y="1119"/>
              <a:chExt cx="412" cy="305"/>
            </a:xfrm>
          </p:grpSpPr>
          <p:sp>
            <p:nvSpPr>
              <p:cNvPr id="93305" name="Freeform 121"/>
              <p:cNvSpPr>
                <a:spLocks/>
              </p:cNvSpPr>
              <p:nvPr/>
            </p:nvSpPr>
            <p:spPr bwMode="auto">
              <a:xfrm>
                <a:off x="4379" y="1119"/>
                <a:ext cx="412" cy="305"/>
              </a:xfrm>
              <a:custGeom>
                <a:avLst/>
                <a:gdLst>
                  <a:gd name="T0" fmla="*/ 0 w 412"/>
                  <a:gd name="T1" fmla="*/ 15 h 305"/>
                  <a:gd name="T2" fmla="*/ 0 w 412"/>
                  <a:gd name="T3" fmla="*/ 286 h 305"/>
                  <a:gd name="T4" fmla="*/ 0 w 412"/>
                  <a:gd name="T5" fmla="*/ 288 h 305"/>
                  <a:gd name="T6" fmla="*/ 1 w 412"/>
                  <a:gd name="T7" fmla="*/ 290 h 305"/>
                  <a:gd name="T8" fmla="*/ 2 w 412"/>
                  <a:gd name="T9" fmla="*/ 292 h 305"/>
                  <a:gd name="T10" fmla="*/ 3 w 412"/>
                  <a:gd name="T11" fmla="*/ 294 h 305"/>
                  <a:gd name="T12" fmla="*/ 4 w 412"/>
                  <a:gd name="T13" fmla="*/ 295 h 305"/>
                  <a:gd name="T14" fmla="*/ 6 w 412"/>
                  <a:gd name="T15" fmla="*/ 296 h 305"/>
                  <a:gd name="T16" fmla="*/ 7 w 412"/>
                  <a:gd name="T17" fmla="*/ 297 h 305"/>
                  <a:gd name="T18" fmla="*/ 9 w 412"/>
                  <a:gd name="T19" fmla="*/ 297 h 305"/>
                  <a:gd name="T20" fmla="*/ 97 w 412"/>
                  <a:gd name="T21" fmla="*/ 302 h 305"/>
                  <a:gd name="T22" fmla="*/ 205 w 412"/>
                  <a:gd name="T23" fmla="*/ 304 h 305"/>
                  <a:gd name="T24" fmla="*/ 307 w 412"/>
                  <a:gd name="T25" fmla="*/ 302 h 305"/>
                  <a:gd name="T26" fmla="*/ 400 w 412"/>
                  <a:gd name="T27" fmla="*/ 297 h 305"/>
                  <a:gd name="T28" fmla="*/ 403 w 412"/>
                  <a:gd name="T29" fmla="*/ 297 h 305"/>
                  <a:gd name="T30" fmla="*/ 406 w 412"/>
                  <a:gd name="T31" fmla="*/ 296 h 305"/>
                  <a:gd name="T32" fmla="*/ 408 w 412"/>
                  <a:gd name="T33" fmla="*/ 294 h 305"/>
                  <a:gd name="T34" fmla="*/ 410 w 412"/>
                  <a:gd name="T35" fmla="*/ 292 h 305"/>
                  <a:gd name="T36" fmla="*/ 411 w 412"/>
                  <a:gd name="T37" fmla="*/ 289 h 305"/>
                  <a:gd name="T38" fmla="*/ 411 w 412"/>
                  <a:gd name="T39" fmla="*/ 287 h 305"/>
                  <a:gd name="T40" fmla="*/ 411 w 412"/>
                  <a:gd name="T41" fmla="*/ 284 h 305"/>
                  <a:gd name="T42" fmla="*/ 411 w 412"/>
                  <a:gd name="T43" fmla="*/ 15 h 305"/>
                  <a:gd name="T44" fmla="*/ 411 w 412"/>
                  <a:gd name="T45" fmla="*/ 12 h 305"/>
                  <a:gd name="T46" fmla="*/ 410 w 412"/>
                  <a:gd name="T47" fmla="*/ 9 h 305"/>
                  <a:gd name="T48" fmla="*/ 408 w 412"/>
                  <a:gd name="T49" fmla="*/ 7 h 305"/>
                  <a:gd name="T50" fmla="*/ 405 w 412"/>
                  <a:gd name="T51" fmla="*/ 6 h 305"/>
                  <a:gd name="T52" fmla="*/ 402 w 412"/>
                  <a:gd name="T53" fmla="*/ 5 h 305"/>
                  <a:gd name="T54" fmla="*/ 399 w 412"/>
                  <a:gd name="T55" fmla="*/ 5 h 305"/>
                  <a:gd name="T56" fmla="*/ 304 w 412"/>
                  <a:gd name="T57" fmla="*/ 1 h 305"/>
                  <a:gd name="T58" fmla="*/ 205 w 412"/>
                  <a:gd name="T59" fmla="*/ 0 h 305"/>
                  <a:gd name="T60" fmla="*/ 106 w 412"/>
                  <a:gd name="T61" fmla="*/ 2 h 305"/>
                  <a:gd name="T62" fmla="*/ 13 w 412"/>
                  <a:gd name="T63" fmla="*/ 5 h 305"/>
                  <a:gd name="T64" fmla="*/ 10 w 412"/>
                  <a:gd name="T65" fmla="*/ 5 h 305"/>
                  <a:gd name="T66" fmla="*/ 8 w 412"/>
                  <a:gd name="T67" fmla="*/ 5 h 305"/>
                  <a:gd name="T68" fmla="*/ 6 w 412"/>
                  <a:gd name="T69" fmla="*/ 6 h 305"/>
                  <a:gd name="T70" fmla="*/ 4 w 412"/>
                  <a:gd name="T71" fmla="*/ 7 h 305"/>
                  <a:gd name="T72" fmla="*/ 2 w 412"/>
                  <a:gd name="T73" fmla="*/ 9 h 305"/>
                  <a:gd name="T74" fmla="*/ 1 w 412"/>
                  <a:gd name="T75" fmla="*/ 11 h 305"/>
                  <a:gd name="T76" fmla="*/ 0 w 412"/>
                  <a:gd name="T77" fmla="*/ 13 h 305"/>
                  <a:gd name="T78" fmla="*/ 0 w 412"/>
                  <a:gd name="T79" fmla="*/ 15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2" h="305">
                    <a:moveTo>
                      <a:pt x="0" y="15"/>
                    </a:moveTo>
                    <a:lnTo>
                      <a:pt x="0" y="286"/>
                    </a:lnTo>
                    <a:lnTo>
                      <a:pt x="0" y="288"/>
                    </a:lnTo>
                    <a:lnTo>
                      <a:pt x="1" y="290"/>
                    </a:lnTo>
                    <a:lnTo>
                      <a:pt x="2" y="292"/>
                    </a:lnTo>
                    <a:lnTo>
                      <a:pt x="3" y="294"/>
                    </a:lnTo>
                    <a:lnTo>
                      <a:pt x="4" y="295"/>
                    </a:lnTo>
                    <a:lnTo>
                      <a:pt x="6" y="296"/>
                    </a:lnTo>
                    <a:lnTo>
                      <a:pt x="7" y="297"/>
                    </a:lnTo>
                    <a:lnTo>
                      <a:pt x="9" y="297"/>
                    </a:lnTo>
                    <a:lnTo>
                      <a:pt x="97" y="302"/>
                    </a:lnTo>
                    <a:lnTo>
                      <a:pt x="205" y="304"/>
                    </a:lnTo>
                    <a:lnTo>
                      <a:pt x="307" y="302"/>
                    </a:lnTo>
                    <a:lnTo>
                      <a:pt x="400" y="297"/>
                    </a:lnTo>
                    <a:lnTo>
                      <a:pt x="403" y="297"/>
                    </a:lnTo>
                    <a:lnTo>
                      <a:pt x="406" y="296"/>
                    </a:lnTo>
                    <a:lnTo>
                      <a:pt x="408" y="294"/>
                    </a:lnTo>
                    <a:lnTo>
                      <a:pt x="410" y="292"/>
                    </a:lnTo>
                    <a:lnTo>
                      <a:pt x="411" y="289"/>
                    </a:lnTo>
                    <a:lnTo>
                      <a:pt x="411" y="287"/>
                    </a:lnTo>
                    <a:lnTo>
                      <a:pt x="411" y="284"/>
                    </a:lnTo>
                    <a:lnTo>
                      <a:pt x="411" y="15"/>
                    </a:lnTo>
                    <a:lnTo>
                      <a:pt x="411" y="12"/>
                    </a:lnTo>
                    <a:lnTo>
                      <a:pt x="410" y="9"/>
                    </a:lnTo>
                    <a:lnTo>
                      <a:pt x="408" y="7"/>
                    </a:lnTo>
                    <a:lnTo>
                      <a:pt x="405" y="6"/>
                    </a:lnTo>
                    <a:lnTo>
                      <a:pt x="402" y="5"/>
                    </a:lnTo>
                    <a:lnTo>
                      <a:pt x="399" y="5"/>
                    </a:lnTo>
                    <a:lnTo>
                      <a:pt x="304" y="1"/>
                    </a:lnTo>
                    <a:lnTo>
                      <a:pt x="205" y="0"/>
                    </a:lnTo>
                    <a:lnTo>
                      <a:pt x="106" y="2"/>
                    </a:lnTo>
                    <a:lnTo>
                      <a:pt x="13" y="5"/>
                    </a:lnTo>
                    <a:lnTo>
                      <a:pt x="10" y="5"/>
                    </a:lnTo>
                    <a:lnTo>
                      <a:pt x="8" y="5"/>
                    </a:lnTo>
                    <a:lnTo>
                      <a:pt x="6" y="6"/>
                    </a:lnTo>
                    <a:lnTo>
                      <a:pt x="4" y="7"/>
                    </a:lnTo>
                    <a:lnTo>
                      <a:pt x="2" y="9"/>
                    </a:lnTo>
                    <a:lnTo>
                      <a:pt x="1" y="11"/>
                    </a:lnTo>
                    <a:lnTo>
                      <a:pt x="0" y="13"/>
                    </a:lnTo>
                    <a:lnTo>
                      <a:pt x="0" y="15"/>
                    </a:lnTo>
                  </a:path>
                </a:pathLst>
              </a:custGeom>
              <a:solidFill>
                <a:srgbClr val="00DFC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06" name="Freeform 122"/>
              <p:cNvSpPr>
                <a:spLocks/>
              </p:cNvSpPr>
              <p:nvPr/>
            </p:nvSpPr>
            <p:spPr bwMode="auto">
              <a:xfrm>
                <a:off x="4380" y="1271"/>
                <a:ext cx="411" cy="153"/>
              </a:xfrm>
              <a:custGeom>
                <a:avLst/>
                <a:gdLst>
                  <a:gd name="T0" fmla="*/ 0 w 411"/>
                  <a:gd name="T1" fmla="*/ 140 h 153"/>
                  <a:gd name="T2" fmla="*/ 1 w 411"/>
                  <a:gd name="T3" fmla="*/ 142 h 153"/>
                  <a:gd name="T4" fmla="*/ 3 w 411"/>
                  <a:gd name="T5" fmla="*/ 143 h 153"/>
                  <a:gd name="T6" fmla="*/ 4 w 411"/>
                  <a:gd name="T7" fmla="*/ 144 h 153"/>
                  <a:gd name="T8" fmla="*/ 6 w 411"/>
                  <a:gd name="T9" fmla="*/ 145 h 153"/>
                  <a:gd name="T10" fmla="*/ 7 w 411"/>
                  <a:gd name="T11" fmla="*/ 145 h 153"/>
                  <a:gd name="T12" fmla="*/ 96 w 411"/>
                  <a:gd name="T13" fmla="*/ 150 h 153"/>
                  <a:gd name="T14" fmla="*/ 205 w 411"/>
                  <a:gd name="T15" fmla="*/ 152 h 153"/>
                  <a:gd name="T16" fmla="*/ 306 w 411"/>
                  <a:gd name="T17" fmla="*/ 150 h 153"/>
                  <a:gd name="T18" fmla="*/ 400 w 411"/>
                  <a:gd name="T19" fmla="*/ 145 h 153"/>
                  <a:gd name="T20" fmla="*/ 403 w 411"/>
                  <a:gd name="T21" fmla="*/ 145 h 153"/>
                  <a:gd name="T22" fmla="*/ 406 w 411"/>
                  <a:gd name="T23" fmla="*/ 144 h 153"/>
                  <a:gd name="T24" fmla="*/ 409 w 411"/>
                  <a:gd name="T25" fmla="*/ 142 h 153"/>
                  <a:gd name="T26" fmla="*/ 410 w 411"/>
                  <a:gd name="T27" fmla="*/ 140 h 153"/>
                  <a:gd name="T28" fmla="*/ 205 w 411"/>
                  <a:gd name="T29" fmla="*/ 0 h 153"/>
                  <a:gd name="T30" fmla="*/ 0 w 411"/>
                  <a:gd name="T31" fmla="*/ 14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1" h="153">
                    <a:moveTo>
                      <a:pt x="0" y="140"/>
                    </a:moveTo>
                    <a:lnTo>
                      <a:pt x="1" y="142"/>
                    </a:lnTo>
                    <a:lnTo>
                      <a:pt x="3" y="143"/>
                    </a:lnTo>
                    <a:lnTo>
                      <a:pt x="4" y="144"/>
                    </a:lnTo>
                    <a:lnTo>
                      <a:pt x="6" y="145"/>
                    </a:lnTo>
                    <a:lnTo>
                      <a:pt x="7" y="145"/>
                    </a:lnTo>
                    <a:lnTo>
                      <a:pt x="96" y="150"/>
                    </a:lnTo>
                    <a:lnTo>
                      <a:pt x="205" y="152"/>
                    </a:lnTo>
                    <a:lnTo>
                      <a:pt x="306" y="150"/>
                    </a:lnTo>
                    <a:lnTo>
                      <a:pt x="400" y="145"/>
                    </a:lnTo>
                    <a:lnTo>
                      <a:pt x="403" y="145"/>
                    </a:lnTo>
                    <a:lnTo>
                      <a:pt x="406" y="144"/>
                    </a:lnTo>
                    <a:lnTo>
                      <a:pt x="409" y="142"/>
                    </a:lnTo>
                    <a:lnTo>
                      <a:pt x="410" y="140"/>
                    </a:lnTo>
                    <a:lnTo>
                      <a:pt x="205" y="0"/>
                    </a:lnTo>
                    <a:lnTo>
                      <a:pt x="0" y="140"/>
                    </a:lnTo>
                  </a:path>
                </a:pathLst>
              </a:custGeom>
              <a:solidFill>
                <a:srgbClr val="00DFC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07" name="Freeform 123"/>
              <p:cNvSpPr>
                <a:spLocks/>
              </p:cNvSpPr>
              <p:nvPr/>
            </p:nvSpPr>
            <p:spPr bwMode="auto">
              <a:xfrm>
                <a:off x="4381" y="1119"/>
                <a:ext cx="407" cy="153"/>
              </a:xfrm>
              <a:custGeom>
                <a:avLst/>
                <a:gdLst>
                  <a:gd name="T0" fmla="*/ 204 w 407"/>
                  <a:gd name="T1" fmla="*/ 152 h 153"/>
                  <a:gd name="T2" fmla="*/ 406 w 407"/>
                  <a:gd name="T3" fmla="*/ 7 h 153"/>
                  <a:gd name="T4" fmla="*/ 403 w 407"/>
                  <a:gd name="T5" fmla="*/ 5 h 153"/>
                  <a:gd name="T6" fmla="*/ 401 w 407"/>
                  <a:gd name="T7" fmla="*/ 5 h 153"/>
                  <a:gd name="T8" fmla="*/ 398 w 407"/>
                  <a:gd name="T9" fmla="*/ 5 h 153"/>
                  <a:gd name="T10" fmla="*/ 302 w 407"/>
                  <a:gd name="T11" fmla="*/ 1 h 153"/>
                  <a:gd name="T12" fmla="*/ 204 w 407"/>
                  <a:gd name="T13" fmla="*/ 0 h 153"/>
                  <a:gd name="T14" fmla="*/ 104 w 407"/>
                  <a:gd name="T15" fmla="*/ 2 h 153"/>
                  <a:gd name="T16" fmla="*/ 10 w 407"/>
                  <a:gd name="T17" fmla="*/ 5 h 153"/>
                  <a:gd name="T18" fmla="*/ 8 w 407"/>
                  <a:gd name="T19" fmla="*/ 5 h 153"/>
                  <a:gd name="T20" fmla="*/ 6 w 407"/>
                  <a:gd name="T21" fmla="*/ 5 h 153"/>
                  <a:gd name="T22" fmla="*/ 4 w 407"/>
                  <a:gd name="T23" fmla="*/ 6 h 153"/>
                  <a:gd name="T24" fmla="*/ 1 w 407"/>
                  <a:gd name="T25" fmla="*/ 7 h 153"/>
                  <a:gd name="T26" fmla="*/ 0 w 407"/>
                  <a:gd name="T27" fmla="*/ 9 h 153"/>
                  <a:gd name="T28" fmla="*/ 204 w 407"/>
                  <a:gd name="T29" fmla="*/ 15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7" h="153">
                    <a:moveTo>
                      <a:pt x="204" y="152"/>
                    </a:moveTo>
                    <a:lnTo>
                      <a:pt x="406" y="7"/>
                    </a:lnTo>
                    <a:lnTo>
                      <a:pt x="403" y="5"/>
                    </a:lnTo>
                    <a:lnTo>
                      <a:pt x="401" y="5"/>
                    </a:lnTo>
                    <a:lnTo>
                      <a:pt x="398" y="5"/>
                    </a:lnTo>
                    <a:lnTo>
                      <a:pt x="302" y="1"/>
                    </a:lnTo>
                    <a:lnTo>
                      <a:pt x="204" y="0"/>
                    </a:lnTo>
                    <a:lnTo>
                      <a:pt x="104" y="2"/>
                    </a:lnTo>
                    <a:lnTo>
                      <a:pt x="10" y="5"/>
                    </a:lnTo>
                    <a:lnTo>
                      <a:pt x="8" y="5"/>
                    </a:lnTo>
                    <a:lnTo>
                      <a:pt x="6" y="5"/>
                    </a:lnTo>
                    <a:lnTo>
                      <a:pt x="4" y="6"/>
                    </a:lnTo>
                    <a:lnTo>
                      <a:pt x="1" y="7"/>
                    </a:lnTo>
                    <a:lnTo>
                      <a:pt x="0" y="9"/>
                    </a:lnTo>
                    <a:lnTo>
                      <a:pt x="204" y="152"/>
                    </a:lnTo>
                  </a:path>
                </a:pathLst>
              </a:custGeom>
              <a:solidFill>
                <a:srgbClr val="00DFC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08" name="Freeform 124"/>
              <p:cNvSpPr>
                <a:spLocks/>
              </p:cNvSpPr>
              <p:nvPr/>
            </p:nvSpPr>
            <p:spPr bwMode="auto">
              <a:xfrm>
                <a:off x="4392" y="1129"/>
                <a:ext cx="386" cy="284"/>
              </a:xfrm>
              <a:custGeom>
                <a:avLst/>
                <a:gdLst>
                  <a:gd name="T0" fmla="*/ 0 w 386"/>
                  <a:gd name="T1" fmla="*/ 14 h 284"/>
                  <a:gd name="T2" fmla="*/ 0 w 386"/>
                  <a:gd name="T3" fmla="*/ 266 h 284"/>
                  <a:gd name="T4" fmla="*/ 0 w 386"/>
                  <a:gd name="T5" fmla="*/ 269 h 284"/>
                  <a:gd name="T6" fmla="*/ 1 w 386"/>
                  <a:gd name="T7" fmla="*/ 271 h 284"/>
                  <a:gd name="T8" fmla="*/ 1 w 386"/>
                  <a:gd name="T9" fmla="*/ 272 h 284"/>
                  <a:gd name="T10" fmla="*/ 3 w 386"/>
                  <a:gd name="T11" fmla="*/ 274 h 284"/>
                  <a:gd name="T12" fmla="*/ 4 w 386"/>
                  <a:gd name="T13" fmla="*/ 275 h 284"/>
                  <a:gd name="T14" fmla="*/ 5 w 386"/>
                  <a:gd name="T15" fmla="*/ 276 h 284"/>
                  <a:gd name="T16" fmla="*/ 7 w 386"/>
                  <a:gd name="T17" fmla="*/ 277 h 284"/>
                  <a:gd name="T18" fmla="*/ 8 w 386"/>
                  <a:gd name="T19" fmla="*/ 277 h 284"/>
                  <a:gd name="T20" fmla="*/ 91 w 386"/>
                  <a:gd name="T21" fmla="*/ 282 h 284"/>
                  <a:gd name="T22" fmla="*/ 192 w 386"/>
                  <a:gd name="T23" fmla="*/ 283 h 284"/>
                  <a:gd name="T24" fmla="*/ 287 w 386"/>
                  <a:gd name="T25" fmla="*/ 282 h 284"/>
                  <a:gd name="T26" fmla="*/ 375 w 386"/>
                  <a:gd name="T27" fmla="*/ 277 h 284"/>
                  <a:gd name="T28" fmla="*/ 378 w 386"/>
                  <a:gd name="T29" fmla="*/ 277 h 284"/>
                  <a:gd name="T30" fmla="*/ 381 w 386"/>
                  <a:gd name="T31" fmla="*/ 276 h 284"/>
                  <a:gd name="T32" fmla="*/ 382 w 386"/>
                  <a:gd name="T33" fmla="*/ 274 h 284"/>
                  <a:gd name="T34" fmla="*/ 384 w 386"/>
                  <a:gd name="T35" fmla="*/ 272 h 284"/>
                  <a:gd name="T36" fmla="*/ 385 w 386"/>
                  <a:gd name="T37" fmla="*/ 269 h 284"/>
                  <a:gd name="T38" fmla="*/ 385 w 386"/>
                  <a:gd name="T39" fmla="*/ 267 h 284"/>
                  <a:gd name="T40" fmla="*/ 385 w 386"/>
                  <a:gd name="T41" fmla="*/ 265 h 284"/>
                  <a:gd name="T42" fmla="*/ 385 w 386"/>
                  <a:gd name="T43" fmla="*/ 14 h 284"/>
                  <a:gd name="T44" fmla="*/ 385 w 386"/>
                  <a:gd name="T45" fmla="*/ 11 h 284"/>
                  <a:gd name="T46" fmla="*/ 384 w 386"/>
                  <a:gd name="T47" fmla="*/ 9 h 284"/>
                  <a:gd name="T48" fmla="*/ 382 w 386"/>
                  <a:gd name="T49" fmla="*/ 7 h 284"/>
                  <a:gd name="T50" fmla="*/ 379 w 386"/>
                  <a:gd name="T51" fmla="*/ 5 h 284"/>
                  <a:gd name="T52" fmla="*/ 377 w 386"/>
                  <a:gd name="T53" fmla="*/ 4 h 284"/>
                  <a:gd name="T54" fmla="*/ 374 w 386"/>
                  <a:gd name="T55" fmla="*/ 4 h 284"/>
                  <a:gd name="T56" fmla="*/ 285 w 386"/>
                  <a:gd name="T57" fmla="*/ 1 h 284"/>
                  <a:gd name="T58" fmla="*/ 192 w 386"/>
                  <a:gd name="T59" fmla="*/ 0 h 284"/>
                  <a:gd name="T60" fmla="*/ 99 w 386"/>
                  <a:gd name="T61" fmla="*/ 1 h 284"/>
                  <a:gd name="T62" fmla="*/ 12 w 386"/>
                  <a:gd name="T63" fmla="*/ 4 h 284"/>
                  <a:gd name="T64" fmla="*/ 10 w 386"/>
                  <a:gd name="T65" fmla="*/ 4 h 284"/>
                  <a:gd name="T66" fmla="*/ 7 w 386"/>
                  <a:gd name="T67" fmla="*/ 5 h 284"/>
                  <a:gd name="T68" fmla="*/ 6 w 386"/>
                  <a:gd name="T69" fmla="*/ 6 h 284"/>
                  <a:gd name="T70" fmla="*/ 3 w 386"/>
                  <a:gd name="T71" fmla="*/ 7 h 284"/>
                  <a:gd name="T72" fmla="*/ 2 w 386"/>
                  <a:gd name="T73" fmla="*/ 8 h 284"/>
                  <a:gd name="T74" fmla="*/ 1 w 386"/>
                  <a:gd name="T75" fmla="*/ 10 h 284"/>
                  <a:gd name="T76" fmla="*/ 0 w 386"/>
                  <a:gd name="T77" fmla="*/ 12 h 284"/>
                  <a:gd name="T78" fmla="*/ 0 w 386"/>
                  <a:gd name="T79" fmla="*/ 1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6" h="284">
                    <a:moveTo>
                      <a:pt x="0" y="14"/>
                    </a:moveTo>
                    <a:lnTo>
                      <a:pt x="0" y="266"/>
                    </a:lnTo>
                    <a:lnTo>
                      <a:pt x="0" y="269"/>
                    </a:lnTo>
                    <a:lnTo>
                      <a:pt x="1" y="271"/>
                    </a:lnTo>
                    <a:lnTo>
                      <a:pt x="1" y="272"/>
                    </a:lnTo>
                    <a:lnTo>
                      <a:pt x="3" y="274"/>
                    </a:lnTo>
                    <a:lnTo>
                      <a:pt x="4" y="275"/>
                    </a:lnTo>
                    <a:lnTo>
                      <a:pt x="5" y="276"/>
                    </a:lnTo>
                    <a:lnTo>
                      <a:pt x="7" y="277"/>
                    </a:lnTo>
                    <a:lnTo>
                      <a:pt x="8" y="277"/>
                    </a:lnTo>
                    <a:lnTo>
                      <a:pt x="91" y="282"/>
                    </a:lnTo>
                    <a:lnTo>
                      <a:pt x="192" y="283"/>
                    </a:lnTo>
                    <a:lnTo>
                      <a:pt x="287" y="282"/>
                    </a:lnTo>
                    <a:lnTo>
                      <a:pt x="375" y="277"/>
                    </a:lnTo>
                    <a:lnTo>
                      <a:pt x="378" y="277"/>
                    </a:lnTo>
                    <a:lnTo>
                      <a:pt x="381" y="276"/>
                    </a:lnTo>
                    <a:lnTo>
                      <a:pt x="382" y="274"/>
                    </a:lnTo>
                    <a:lnTo>
                      <a:pt x="384" y="272"/>
                    </a:lnTo>
                    <a:lnTo>
                      <a:pt x="385" y="269"/>
                    </a:lnTo>
                    <a:lnTo>
                      <a:pt x="385" y="267"/>
                    </a:lnTo>
                    <a:lnTo>
                      <a:pt x="385" y="265"/>
                    </a:lnTo>
                    <a:lnTo>
                      <a:pt x="385" y="14"/>
                    </a:lnTo>
                    <a:lnTo>
                      <a:pt x="385" y="11"/>
                    </a:lnTo>
                    <a:lnTo>
                      <a:pt x="384" y="9"/>
                    </a:lnTo>
                    <a:lnTo>
                      <a:pt x="382" y="7"/>
                    </a:lnTo>
                    <a:lnTo>
                      <a:pt x="379" y="5"/>
                    </a:lnTo>
                    <a:lnTo>
                      <a:pt x="377" y="4"/>
                    </a:lnTo>
                    <a:lnTo>
                      <a:pt x="374" y="4"/>
                    </a:lnTo>
                    <a:lnTo>
                      <a:pt x="285" y="1"/>
                    </a:lnTo>
                    <a:lnTo>
                      <a:pt x="192" y="0"/>
                    </a:lnTo>
                    <a:lnTo>
                      <a:pt x="99" y="1"/>
                    </a:lnTo>
                    <a:lnTo>
                      <a:pt x="12" y="4"/>
                    </a:lnTo>
                    <a:lnTo>
                      <a:pt x="10" y="4"/>
                    </a:lnTo>
                    <a:lnTo>
                      <a:pt x="7" y="5"/>
                    </a:lnTo>
                    <a:lnTo>
                      <a:pt x="6" y="6"/>
                    </a:lnTo>
                    <a:lnTo>
                      <a:pt x="3" y="7"/>
                    </a:lnTo>
                    <a:lnTo>
                      <a:pt x="2" y="8"/>
                    </a:lnTo>
                    <a:lnTo>
                      <a:pt x="1" y="10"/>
                    </a:lnTo>
                    <a:lnTo>
                      <a:pt x="0" y="12"/>
                    </a:lnTo>
                    <a:lnTo>
                      <a:pt x="0" y="14"/>
                    </a:lnTo>
                  </a:path>
                </a:pathLst>
              </a:custGeom>
              <a:solidFill>
                <a:srgbClr val="00DFC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sp>
          <p:nvSpPr>
            <p:cNvPr id="93309" name="Freeform 125"/>
            <p:cNvSpPr>
              <a:spLocks/>
            </p:cNvSpPr>
            <p:nvPr/>
          </p:nvSpPr>
          <p:spPr bwMode="auto">
            <a:xfrm>
              <a:off x="4753" y="1437"/>
              <a:ext cx="18" cy="7"/>
            </a:xfrm>
            <a:custGeom>
              <a:avLst/>
              <a:gdLst>
                <a:gd name="T0" fmla="*/ 0 w 18"/>
                <a:gd name="T1" fmla="*/ 0 h 7"/>
                <a:gd name="T2" fmla="*/ 17 w 18"/>
                <a:gd name="T3" fmla="*/ 0 h 7"/>
                <a:gd name="T4" fmla="*/ 17 w 18"/>
                <a:gd name="T5" fmla="*/ 6 h 7"/>
                <a:gd name="T6" fmla="*/ 0 w 18"/>
                <a:gd name="T7" fmla="*/ 6 h 7"/>
                <a:gd name="T8" fmla="*/ 0 w 18"/>
                <a:gd name="T9" fmla="*/ 0 h 7"/>
              </a:gdLst>
              <a:ahLst/>
              <a:cxnLst>
                <a:cxn ang="0">
                  <a:pos x="T0" y="T1"/>
                </a:cxn>
                <a:cxn ang="0">
                  <a:pos x="T2" y="T3"/>
                </a:cxn>
                <a:cxn ang="0">
                  <a:pos x="T4" y="T5"/>
                </a:cxn>
                <a:cxn ang="0">
                  <a:pos x="T6" y="T7"/>
                </a:cxn>
                <a:cxn ang="0">
                  <a:pos x="T8" y="T9"/>
                </a:cxn>
              </a:cxnLst>
              <a:rect l="0" t="0" r="r" b="b"/>
              <a:pathLst>
                <a:path w="18" h="7">
                  <a:moveTo>
                    <a:pt x="0" y="0"/>
                  </a:moveTo>
                  <a:lnTo>
                    <a:pt x="17" y="0"/>
                  </a:lnTo>
                  <a:lnTo>
                    <a:pt x="17" y="6"/>
                  </a:lnTo>
                  <a:lnTo>
                    <a:pt x="0" y="6"/>
                  </a:lnTo>
                  <a:lnTo>
                    <a:pt x="0" y="0"/>
                  </a:lnTo>
                </a:path>
              </a:pathLst>
            </a:custGeom>
            <a:solidFill>
              <a:srgbClr val="00FF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310" name="Group 126"/>
          <p:cNvGrpSpPr>
            <a:grpSpLocks/>
          </p:cNvGrpSpPr>
          <p:nvPr/>
        </p:nvGrpSpPr>
        <p:grpSpPr bwMode="auto">
          <a:xfrm>
            <a:off x="1471613" y="5023074"/>
            <a:ext cx="946150" cy="749300"/>
            <a:chOff x="927" y="3426"/>
            <a:chExt cx="596" cy="472"/>
          </a:xfrm>
        </p:grpSpPr>
        <p:grpSp>
          <p:nvGrpSpPr>
            <p:cNvPr id="93311" name="Group 127"/>
            <p:cNvGrpSpPr>
              <a:grpSpLocks/>
            </p:cNvGrpSpPr>
            <p:nvPr/>
          </p:nvGrpSpPr>
          <p:grpSpPr bwMode="auto">
            <a:xfrm>
              <a:off x="927" y="3820"/>
              <a:ext cx="596" cy="78"/>
              <a:chOff x="927" y="3820"/>
              <a:chExt cx="596" cy="78"/>
            </a:xfrm>
          </p:grpSpPr>
          <p:sp>
            <p:nvSpPr>
              <p:cNvPr id="93312" name="Rectangle 128"/>
              <p:cNvSpPr>
                <a:spLocks noChangeArrowheads="1"/>
              </p:cNvSpPr>
              <p:nvPr/>
            </p:nvSpPr>
            <p:spPr bwMode="auto">
              <a:xfrm>
                <a:off x="932" y="3890"/>
                <a:ext cx="586" cy="8"/>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87" dirty="0">
                  <a:latin typeface="Book Antiqua"/>
                </a:endParaRPr>
              </a:p>
            </p:txBody>
          </p:sp>
          <p:sp>
            <p:nvSpPr>
              <p:cNvPr id="93313" name="Freeform 129"/>
              <p:cNvSpPr>
                <a:spLocks/>
              </p:cNvSpPr>
              <p:nvPr/>
            </p:nvSpPr>
            <p:spPr bwMode="auto">
              <a:xfrm>
                <a:off x="927" y="3820"/>
                <a:ext cx="596" cy="67"/>
              </a:xfrm>
              <a:custGeom>
                <a:avLst/>
                <a:gdLst>
                  <a:gd name="T0" fmla="*/ 0 w 596"/>
                  <a:gd name="T1" fmla="*/ 66 h 67"/>
                  <a:gd name="T2" fmla="*/ 595 w 596"/>
                  <a:gd name="T3" fmla="*/ 66 h 67"/>
                  <a:gd name="T4" fmla="*/ 561 w 596"/>
                  <a:gd name="T5" fmla="*/ 0 h 67"/>
                  <a:gd name="T6" fmla="*/ 43 w 596"/>
                  <a:gd name="T7" fmla="*/ 0 h 67"/>
                  <a:gd name="T8" fmla="*/ 0 w 596"/>
                  <a:gd name="T9" fmla="*/ 66 h 67"/>
                </a:gdLst>
                <a:ahLst/>
                <a:cxnLst>
                  <a:cxn ang="0">
                    <a:pos x="T0" y="T1"/>
                  </a:cxn>
                  <a:cxn ang="0">
                    <a:pos x="T2" y="T3"/>
                  </a:cxn>
                  <a:cxn ang="0">
                    <a:pos x="T4" y="T5"/>
                  </a:cxn>
                  <a:cxn ang="0">
                    <a:pos x="T6" y="T7"/>
                  </a:cxn>
                  <a:cxn ang="0">
                    <a:pos x="T8" y="T9"/>
                  </a:cxn>
                </a:cxnLst>
                <a:rect l="0" t="0" r="r" b="b"/>
                <a:pathLst>
                  <a:path w="596" h="67">
                    <a:moveTo>
                      <a:pt x="0" y="66"/>
                    </a:moveTo>
                    <a:lnTo>
                      <a:pt x="595" y="66"/>
                    </a:lnTo>
                    <a:lnTo>
                      <a:pt x="561" y="0"/>
                    </a:lnTo>
                    <a:lnTo>
                      <a:pt x="43" y="0"/>
                    </a:lnTo>
                    <a:lnTo>
                      <a:pt x="0" y="66"/>
                    </a:lnTo>
                  </a:path>
                </a:pathLst>
              </a:custGeom>
              <a:solidFill>
                <a:srgbClr val="C0C0C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14" name="Freeform 130"/>
              <p:cNvSpPr>
                <a:spLocks/>
              </p:cNvSpPr>
              <p:nvPr/>
            </p:nvSpPr>
            <p:spPr bwMode="auto">
              <a:xfrm>
                <a:off x="945" y="3827"/>
                <a:ext cx="558" cy="53"/>
              </a:xfrm>
              <a:custGeom>
                <a:avLst/>
                <a:gdLst>
                  <a:gd name="T0" fmla="*/ 32 w 558"/>
                  <a:gd name="T1" fmla="*/ 0 h 53"/>
                  <a:gd name="T2" fmla="*/ 0 w 558"/>
                  <a:gd name="T3" fmla="*/ 52 h 53"/>
                  <a:gd name="T4" fmla="*/ 557 w 558"/>
                  <a:gd name="T5" fmla="*/ 52 h 53"/>
                  <a:gd name="T6" fmla="*/ 532 w 558"/>
                  <a:gd name="T7" fmla="*/ 0 h 53"/>
                </a:gdLst>
                <a:ahLst/>
                <a:cxnLst>
                  <a:cxn ang="0">
                    <a:pos x="T0" y="T1"/>
                  </a:cxn>
                  <a:cxn ang="0">
                    <a:pos x="T2" y="T3"/>
                  </a:cxn>
                  <a:cxn ang="0">
                    <a:pos x="T4" y="T5"/>
                  </a:cxn>
                  <a:cxn ang="0">
                    <a:pos x="T6" y="T7"/>
                  </a:cxn>
                </a:cxnLst>
                <a:rect l="0" t="0" r="r" b="b"/>
                <a:pathLst>
                  <a:path w="558" h="53">
                    <a:moveTo>
                      <a:pt x="32" y="0"/>
                    </a:moveTo>
                    <a:lnTo>
                      <a:pt x="0" y="52"/>
                    </a:lnTo>
                    <a:lnTo>
                      <a:pt x="557" y="52"/>
                    </a:lnTo>
                    <a:lnTo>
                      <a:pt x="532"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315" name="Group 131"/>
            <p:cNvGrpSpPr>
              <a:grpSpLocks/>
            </p:cNvGrpSpPr>
            <p:nvPr/>
          </p:nvGrpSpPr>
          <p:grpSpPr bwMode="auto">
            <a:xfrm>
              <a:off x="993" y="3827"/>
              <a:ext cx="469" cy="14"/>
              <a:chOff x="993" y="3827"/>
              <a:chExt cx="469" cy="14"/>
            </a:xfrm>
          </p:grpSpPr>
          <p:sp>
            <p:nvSpPr>
              <p:cNvPr id="93316" name="Freeform 132"/>
              <p:cNvSpPr>
                <a:spLocks/>
              </p:cNvSpPr>
              <p:nvPr/>
            </p:nvSpPr>
            <p:spPr bwMode="auto">
              <a:xfrm>
                <a:off x="993" y="3827"/>
                <a:ext cx="19" cy="10"/>
              </a:xfrm>
              <a:custGeom>
                <a:avLst/>
                <a:gdLst>
                  <a:gd name="T0" fmla="*/ 5 w 19"/>
                  <a:gd name="T1" fmla="*/ 0 h 10"/>
                  <a:gd name="T2" fmla="*/ 18 w 19"/>
                  <a:gd name="T3" fmla="*/ 0 h 10"/>
                  <a:gd name="T4" fmla="*/ 14 w 19"/>
                  <a:gd name="T5" fmla="*/ 9 h 10"/>
                  <a:gd name="T6" fmla="*/ 0 w 19"/>
                  <a:gd name="T7" fmla="*/ 9 h 10"/>
                  <a:gd name="T8" fmla="*/ 5 w 19"/>
                  <a:gd name="T9" fmla="*/ 0 h 10"/>
                </a:gdLst>
                <a:ahLst/>
                <a:cxnLst>
                  <a:cxn ang="0">
                    <a:pos x="T0" y="T1"/>
                  </a:cxn>
                  <a:cxn ang="0">
                    <a:pos x="T2" y="T3"/>
                  </a:cxn>
                  <a:cxn ang="0">
                    <a:pos x="T4" y="T5"/>
                  </a:cxn>
                  <a:cxn ang="0">
                    <a:pos x="T6" y="T7"/>
                  </a:cxn>
                  <a:cxn ang="0">
                    <a:pos x="T8" y="T9"/>
                  </a:cxn>
                </a:cxnLst>
                <a:rect l="0" t="0" r="r" b="b"/>
                <a:pathLst>
                  <a:path w="19" h="10">
                    <a:moveTo>
                      <a:pt x="5" y="0"/>
                    </a:moveTo>
                    <a:lnTo>
                      <a:pt x="18" y="0"/>
                    </a:lnTo>
                    <a:lnTo>
                      <a:pt x="14" y="9"/>
                    </a:lnTo>
                    <a:lnTo>
                      <a:pt x="0" y="9"/>
                    </a:lnTo>
                    <a:lnTo>
                      <a:pt x="5"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17" name="Freeform 133"/>
              <p:cNvSpPr>
                <a:spLocks/>
              </p:cNvSpPr>
              <p:nvPr/>
            </p:nvSpPr>
            <p:spPr bwMode="auto">
              <a:xfrm>
                <a:off x="1038" y="3827"/>
                <a:ext cx="75" cy="9"/>
              </a:xfrm>
              <a:custGeom>
                <a:avLst/>
                <a:gdLst>
                  <a:gd name="T0" fmla="*/ 3 w 75"/>
                  <a:gd name="T1" fmla="*/ 0 h 9"/>
                  <a:gd name="T2" fmla="*/ 74 w 75"/>
                  <a:gd name="T3" fmla="*/ 0 h 9"/>
                  <a:gd name="T4" fmla="*/ 71 w 75"/>
                  <a:gd name="T5" fmla="*/ 8 h 9"/>
                  <a:gd name="T6" fmla="*/ 0 w 75"/>
                  <a:gd name="T7" fmla="*/ 8 h 9"/>
                  <a:gd name="T8" fmla="*/ 3 w 75"/>
                  <a:gd name="T9" fmla="*/ 0 h 9"/>
                </a:gdLst>
                <a:ahLst/>
                <a:cxnLst>
                  <a:cxn ang="0">
                    <a:pos x="T0" y="T1"/>
                  </a:cxn>
                  <a:cxn ang="0">
                    <a:pos x="T2" y="T3"/>
                  </a:cxn>
                  <a:cxn ang="0">
                    <a:pos x="T4" y="T5"/>
                  </a:cxn>
                  <a:cxn ang="0">
                    <a:pos x="T6" y="T7"/>
                  </a:cxn>
                  <a:cxn ang="0">
                    <a:pos x="T8" y="T9"/>
                  </a:cxn>
                </a:cxnLst>
                <a:rect l="0" t="0" r="r" b="b"/>
                <a:pathLst>
                  <a:path w="75" h="9">
                    <a:moveTo>
                      <a:pt x="3" y="0"/>
                    </a:moveTo>
                    <a:lnTo>
                      <a:pt x="74" y="0"/>
                    </a:lnTo>
                    <a:lnTo>
                      <a:pt x="71" y="8"/>
                    </a:lnTo>
                    <a:lnTo>
                      <a:pt x="0" y="8"/>
                    </a:lnTo>
                    <a:lnTo>
                      <a:pt x="3"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18" name="Freeform 134"/>
              <p:cNvSpPr>
                <a:spLocks/>
              </p:cNvSpPr>
              <p:nvPr/>
            </p:nvSpPr>
            <p:spPr bwMode="auto">
              <a:xfrm>
                <a:off x="1133" y="3827"/>
                <a:ext cx="72" cy="10"/>
              </a:xfrm>
              <a:custGeom>
                <a:avLst/>
                <a:gdLst>
                  <a:gd name="T0" fmla="*/ 2 w 72"/>
                  <a:gd name="T1" fmla="*/ 0 h 10"/>
                  <a:gd name="T2" fmla="*/ 71 w 72"/>
                  <a:gd name="T3" fmla="*/ 0 h 10"/>
                  <a:gd name="T4" fmla="*/ 71 w 72"/>
                  <a:gd name="T5" fmla="*/ 9 h 10"/>
                  <a:gd name="T6" fmla="*/ 0 w 72"/>
                  <a:gd name="T7" fmla="*/ 9 h 10"/>
                  <a:gd name="T8" fmla="*/ 2 w 72"/>
                  <a:gd name="T9" fmla="*/ 0 h 10"/>
                </a:gdLst>
                <a:ahLst/>
                <a:cxnLst>
                  <a:cxn ang="0">
                    <a:pos x="T0" y="T1"/>
                  </a:cxn>
                  <a:cxn ang="0">
                    <a:pos x="T2" y="T3"/>
                  </a:cxn>
                  <a:cxn ang="0">
                    <a:pos x="T4" y="T5"/>
                  </a:cxn>
                  <a:cxn ang="0">
                    <a:pos x="T6" y="T7"/>
                  </a:cxn>
                  <a:cxn ang="0">
                    <a:pos x="T8" y="T9"/>
                  </a:cxn>
                </a:cxnLst>
                <a:rect l="0" t="0" r="r" b="b"/>
                <a:pathLst>
                  <a:path w="72" h="10">
                    <a:moveTo>
                      <a:pt x="2" y="0"/>
                    </a:moveTo>
                    <a:lnTo>
                      <a:pt x="71" y="0"/>
                    </a:lnTo>
                    <a:lnTo>
                      <a:pt x="71" y="9"/>
                    </a:lnTo>
                    <a:lnTo>
                      <a:pt x="0" y="9"/>
                    </a:lnTo>
                    <a:lnTo>
                      <a:pt x="2"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19" name="Freeform 135"/>
              <p:cNvSpPr>
                <a:spLocks/>
              </p:cNvSpPr>
              <p:nvPr/>
            </p:nvSpPr>
            <p:spPr bwMode="auto">
              <a:xfrm>
                <a:off x="1218" y="3827"/>
                <a:ext cx="72" cy="10"/>
              </a:xfrm>
              <a:custGeom>
                <a:avLst/>
                <a:gdLst>
                  <a:gd name="T0" fmla="*/ 0 w 72"/>
                  <a:gd name="T1" fmla="*/ 0 h 10"/>
                  <a:gd name="T2" fmla="*/ 71 w 72"/>
                  <a:gd name="T3" fmla="*/ 0 h 10"/>
                  <a:gd name="T4" fmla="*/ 71 w 72"/>
                  <a:gd name="T5" fmla="*/ 9 h 10"/>
                  <a:gd name="T6" fmla="*/ 0 w 72"/>
                  <a:gd name="T7" fmla="*/ 9 h 10"/>
                  <a:gd name="T8" fmla="*/ 0 w 72"/>
                  <a:gd name="T9" fmla="*/ 0 h 10"/>
                </a:gdLst>
                <a:ahLst/>
                <a:cxnLst>
                  <a:cxn ang="0">
                    <a:pos x="T0" y="T1"/>
                  </a:cxn>
                  <a:cxn ang="0">
                    <a:pos x="T2" y="T3"/>
                  </a:cxn>
                  <a:cxn ang="0">
                    <a:pos x="T4" y="T5"/>
                  </a:cxn>
                  <a:cxn ang="0">
                    <a:pos x="T6" y="T7"/>
                  </a:cxn>
                  <a:cxn ang="0">
                    <a:pos x="T8" y="T9"/>
                  </a:cxn>
                </a:cxnLst>
                <a:rect l="0" t="0" r="r" b="b"/>
                <a:pathLst>
                  <a:path w="72" h="10">
                    <a:moveTo>
                      <a:pt x="0" y="0"/>
                    </a:moveTo>
                    <a:lnTo>
                      <a:pt x="71" y="0"/>
                    </a:lnTo>
                    <a:lnTo>
                      <a:pt x="71" y="9"/>
                    </a:lnTo>
                    <a:lnTo>
                      <a:pt x="0" y="9"/>
                    </a:lnTo>
                    <a:lnTo>
                      <a:pt x="0"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20" name="Freeform 136"/>
              <p:cNvSpPr>
                <a:spLocks/>
              </p:cNvSpPr>
              <p:nvPr/>
            </p:nvSpPr>
            <p:spPr bwMode="auto">
              <a:xfrm>
                <a:off x="1305" y="3827"/>
                <a:ext cx="64" cy="11"/>
              </a:xfrm>
              <a:custGeom>
                <a:avLst/>
                <a:gdLst>
                  <a:gd name="T0" fmla="*/ 0 w 64"/>
                  <a:gd name="T1" fmla="*/ 0 h 11"/>
                  <a:gd name="T2" fmla="*/ 61 w 64"/>
                  <a:gd name="T3" fmla="*/ 0 h 11"/>
                  <a:gd name="T4" fmla="*/ 63 w 64"/>
                  <a:gd name="T5" fmla="*/ 10 h 11"/>
                  <a:gd name="T6" fmla="*/ 0 w 64"/>
                  <a:gd name="T7" fmla="*/ 10 h 11"/>
                  <a:gd name="T8" fmla="*/ 0 w 64"/>
                  <a:gd name="T9" fmla="*/ 0 h 11"/>
                </a:gdLst>
                <a:ahLst/>
                <a:cxnLst>
                  <a:cxn ang="0">
                    <a:pos x="T0" y="T1"/>
                  </a:cxn>
                  <a:cxn ang="0">
                    <a:pos x="T2" y="T3"/>
                  </a:cxn>
                  <a:cxn ang="0">
                    <a:pos x="T4" y="T5"/>
                  </a:cxn>
                  <a:cxn ang="0">
                    <a:pos x="T6" y="T7"/>
                  </a:cxn>
                  <a:cxn ang="0">
                    <a:pos x="T8" y="T9"/>
                  </a:cxn>
                </a:cxnLst>
                <a:rect l="0" t="0" r="r" b="b"/>
                <a:pathLst>
                  <a:path w="64" h="11">
                    <a:moveTo>
                      <a:pt x="0" y="0"/>
                    </a:moveTo>
                    <a:lnTo>
                      <a:pt x="61" y="0"/>
                    </a:lnTo>
                    <a:lnTo>
                      <a:pt x="63" y="10"/>
                    </a:lnTo>
                    <a:lnTo>
                      <a:pt x="0" y="10"/>
                    </a:lnTo>
                    <a:lnTo>
                      <a:pt x="0"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21" name="Freeform 137"/>
              <p:cNvSpPr>
                <a:spLocks/>
              </p:cNvSpPr>
              <p:nvPr/>
            </p:nvSpPr>
            <p:spPr bwMode="auto">
              <a:xfrm>
                <a:off x="1383" y="3832"/>
                <a:ext cx="79" cy="9"/>
              </a:xfrm>
              <a:custGeom>
                <a:avLst/>
                <a:gdLst>
                  <a:gd name="T0" fmla="*/ 0 w 79"/>
                  <a:gd name="T1" fmla="*/ 0 h 9"/>
                  <a:gd name="T2" fmla="*/ 71 w 79"/>
                  <a:gd name="T3" fmla="*/ 0 h 9"/>
                  <a:gd name="T4" fmla="*/ 78 w 79"/>
                  <a:gd name="T5" fmla="*/ 8 h 9"/>
                  <a:gd name="T6" fmla="*/ 3 w 79"/>
                  <a:gd name="T7" fmla="*/ 8 h 9"/>
                  <a:gd name="T8" fmla="*/ 0 w 79"/>
                  <a:gd name="T9" fmla="*/ 0 h 9"/>
                </a:gdLst>
                <a:ahLst/>
                <a:cxnLst>
                  <a:cxn ang="0">
                    <a:pos x="T0" y="T1"/>
                  </a:cxn>
                  <a:cxn ang="0">
                    <a:pos x="T2" y="T3"/>
                  </a:cxn>
                  <a:cxn ang="0">
                    <a:pos x="T4" y="T5"/>
                  </a:cxn>
                  <a:cxn ang="0">
                    <a:pos x="T6" y="T7"/>
                  </a:cxn>
                  <a:cxn ang="0">
                    <a:pos x="T8" y="T9"/>
                  </a:cxn>
                </a:cxnLst>
                <a:rect l="0" t="0" r="r" b="b"/>
                <a:pathLst>
                  <a:path w="79" h="9">
                    <a:moveTo>
                      <a:pt x="0" y="0"/>
                    </a:moveTo>
                    <a:lnTo>
                      <a:pt x="71" y="0"/>
                    </a:lnTo>
                    <a:lnTo>
                      <a:pt x="78" y="8"/>
                    </a:lnTo>
                    <a:lnTo>
                      <a:pt x="3" y="8"/>
                    </a:lnTo>
                    <a:lnTo>
                      <a:pt x="0" y="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322" name="Group 138"/>
            <p:cNvGrpSpPr>
              <a:grpSpLocks/>
            </p:cNvGrpSpPr>
            <p:nvPr/>
          </p:nvGrpSpPr>
          <p:grpSpPr bwMode="auto">
            <a:xfrm>
              <a:off x="975" y="3844"/>
              <a:ext cx="494" cy="28"/>
              <a:chOff x="975" y="3844"/>
              <a:chExt cx="494" cy="28"/>
            </a:xfrm>
          </p:grpSpPr>
          <p:grpSp>
            <p:nvGrpSpPr>
              <p:cNvPr id="93323" name="Group 139"/>
              <p:cNvGrpSpPr>
                <a:grpSpLocks/>
              </p:cNvGrpSpPr>
              <p:nvPr/>
            </p:nvGrpSpPr>
            <p:grpSpPr bwMode="auto">
              <a:xfrm>
                <a:off x="1017" y="3845"/>
                <a:ext cx="245" cy="25"/>
                <a:chOff x="1017" y="3845"/>
                <a:chExt cx="245" cy="25"/>
              </a:xfrm>
            </p:grpSpPr>
            <p:sp>
              <p:nvSpPr>
                <p:cNvPr id="93324" name="Freeform 140"/>
                <p:cNvSpPr>
                  <a:spLocks/>
                </p:cNvSpPr>
                <p:nvPr/>
              </p:nvSpPr>
              <p:spPr bwMode="auto">
                <a:xfrm>
                  <a:off x="1017" y="3845"/>
                  <a:ext cx="231" cy="1"/>
                </a:xfrm>
                <a:custGeom>
                  <a:avLst/>
                  <a:gdLst>
                    <a:gd name="T0" fmla="*/ 0 w 231"/>
                    <a:gd name="T1" fmla="*/ 0 h 1"/>
                    <a:gd name="T2" fmla="*/ 230 w 231"/>
                    <a:gd name="T3" fmla="*/ 0 h 1"/>
                  </a:gdLst>
                  <a:ahLst/>
                  <a:cxnLst>
                    <a:cxn ang="0">
                      <a:pos x="T0" y="T1"/>
                    </a:cxn>
                    <a:cxn ang="0">
                      <a:pos x="T2" y="T3"/>
                    </a:cxn>
                  </a:cxnLst>
                  <a:rect l="0" t="0" r="r" b="b"/>
                  <a:pathLst>
                    <a:path w="231" h="1">
                      <a:moveTo>
                        <a:pt x="0" y="0"/>
                      </a:moveTo>
                      <a:lnTo>
                        <a:pt x="23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25" name="Freeform 141"/>
                <p:cNvSpPr>
                  <a:spLocks/>
                </p:cNvSpPr>
                <p:nvPr/>
              </p:nvSpPr>
              <p:spPr bwMode="auto">
                <a:xfrm>
                  <a:off x="1026" y="3853"/>
                  <a:ext cx="236" cy="1"/>
                </a:xfrm>
                <a:custGeom>
                  <a:avLst/>
                  <a:gdLst>
                    <a:gd name="T0" fmla="*/ 0 w 236"/>
                    <a:gd name="T1" fmla="*/ 0 h 1"/>
                    <a:gd name="T2" fmla="*/ 235 w 236"/>
                    <a:gd name="T3" fmla="*/ 0 h 1"/>
                  </a:gdLst>
                  <a:ahLst/>
                  <a:cxnLst>
                    <a:cxn ang="0">
                      <a:pos x="T0" y="T1"/>
                    </a:cxn>
                    <a:cxn ang="0">
                      <a:pos x="T2" y="T3"/>
                    </a:cxn>
                  </a:cxnLst>
                  <a:rect l="0" t="0" r="r" b="b"/>
                  <a:pathLst>
                    <a:path w="236" h="1">
                      <a:moveTo>
                        <a:pt x="0" y="0"/>
                      </a:moveTo>
                      <a:lnTo>
                        <a:pt x="235"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26" name="Freeform 142"/>
                <p:cNvSpPr>
                  <a:spLocks/>
                </p:cNvSpPr>
                <p:nvPr/>
              </p:nvSpPr>
              <p:spPr bwMode="auto">
                <a:xfrm>
                  <a:off x="1030" y="3860"/>
                  <a:ext cx="205" cy="1"/>
                </a:xfrm>
                <a:custGeom>
                  <a:avLst/>
                  <a:gdLst>
                    <a:gd name="T0" fmla="*/ 0 w 205"/>
                    <a:gd name="T1" fmla="*/ 0 h 1"/>
                    <a:gd name="T2" fmla="*/ 204 w 205"/>
                    <a:gd name="T3" fmla="*/ 0 h 1"/>
                  </a:gdLst>
                  <a:ahLst/>
                  <a:cxnLst>
                    <a:cxn ang="0">
                      <a:pos x="T0" y="T1"/>
                    </a:cxn>
                    <a:cxn ang="0">
                      <a:pos x="T2" y="T3"/>
                    </a:cxn>
                  </a:cxnLst>
                  <a:rect l="0" t="0" r="r" b="b"/>
                  <a:pathLst>
                    <a:path w="205" h="1">
                      <a:moveTo>
                        <a:pt x="0" y="0"/>
                      </a:moveTo>
                      <a:lnTo>
                        <a:pt x="204"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27" name="Freeform 143"/>
                <p:cNvSpPr>
                  <a:spLocks/>
                </p:cNvSpPr>
                <p:nvPr/>
              </p:nvSpPr>
              <p:spPr bwMode="auto">
                <a:xfrm>
                  <a:off x="1034" y="3869"/>
                  <a:ext cx="29" cy="1"/>
                </a:xfrm>
                <a:custGeom>
                  <a:avLst/>
                  <a:gdLst>
                    <a:gd name="T0" fmla="*/ 0 w 29"/>
                    <a:gd name="T1" fmla="*/ 0 h 1"/>
                    <a:gd name="T2" fmla="*/ 28 w 29"/>
                    <a:gd name="T3" fmla="*/ 0 h 1"/>
                  </a:gdLst>
                  <a:ahLst/>
                  <a:cxnLst>
                    <a:cxn ang="0">
                      <a:pos x="T0" y="T1"/>
                    </a:cxn>
                    <a:cxn ang="0">
                      <a:pos x="T2" y="T3"/>
                    </a:cxn>
                  </a:cxnLst>
                  <a:rect l="0" t="0" r="r" b="b"/>
                  <a:pathLst>
                    <a:path w="29" h="1">
                      <a:moveTo>
                        <a:pt x="0" y="0"/>
                      </a:moveTo>
                      <a:lnTo>
                        <a:pt x="28"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328" name="Group 144"/>
              <p:cNvGrpSpPr>
                <a:grpSpLocks/>
              </p:cNvGrpSpPr>
              <p:nvPr/>
            </p:nvGrpSpPr>
            <p:grpSpPr bwMode="auto">
              <a:xfrm>
                <a:off x="975" y="3849"/>
                <a:ext cx="41" cy="16"/>
                <a:chOff x="975" y="3849"/>
                <a:chExt cx="41" cy="16"/>
              </a:xfrm>
            </p:grpSpPr>
            <p:sp>
              <p:nvSpPr>
                <p:cNvPr id="93329" name="Freeform 145"/>
                <p:cNvSpPr>
                  <a:spLocks/>
                </p:cNvSpPr>
                <p:nvPr/>
              </p:nvSpPr>
              <p:spPr bwMode="auto">
                <a:xfrm>
                  <a:off x="985" y="3849"/>
                  <a:ext cx="24" cy="1"/>
                </a:xfrm>
                <a:custGeom>
                  <a:avLst/>
                  <a:gdLst>
                    <a:gd name="T0" fmla="*/ 0 w 24"/>
                    <a:gd name="T1" fmla="*/ 0 h 1"/>
                    <a:gd name="T2" fmla="*/ 23 w 24"/>
                    <a:gd name="T3" fmla="*/ 0 h 1"/>
                  </a:gdLst>
                  <a:ahLst/>
                  <a:cxnLst>
                    <a:cxn ang="0">
                      <a:pos x="T0" y="T1"/>
                    </a:cxn>
                    <a:cxn ang="0">
                      <a:pos x="T2" y="T3"/>
                    </a:cxn>
                  </a:cxnLst>
                  <a:rect l="0" t="0" r="r" b="b"/>
                  <a:pathLst>
                    <a:path w="24" h="1">
                      <a:moveTo>
                        <a:pt x="0" y="0"/>
                      </a:moveTo>
                      <a:lnTo>
                        <a:pt x="23"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30" name="Freeform 146"/>
                <p:cNvSpPr>
                  <a:spLocks/>
                </p:cNvSpPr>
                <p:nvPr/>
              </p:nvSpPr>
              <p:spPr bwMode="auto">
                <a:xfrm>
                  <a:off x="981" y="3856"/>
                  <a:ext cx="23" cy="1"/>
                </a:xfrm>
                <a:custGeom>
                  <a:avLst/>
                  <a:gdLst>
                    <a:gd name="T0" fmla="*/ 0 w 23"/>
                    <a:gd name="T1" fmla="*/ 0 h 1"/>
                    <a:gd name="T2" fmla="*/ 22 w 23"/>
                    <a:gd name="T3" fmla="*/ 0 h 1"/>
                  </a:gdLst>
                  <a:ahLst/>
                  <a:cxnLst>
                    <a:cxn ang="0">
                      <a:pos x="T0" y="T1"/>
                    </a:cxn>
                    <a:cxn ang="0">
                      <a:pos x="T2" y="T3"/>
                    </a:cxn>
                  </a:cxnLst>
                  <a:rect l="0" t="0" r="r" b="b"/>
                  <a:pathLst>
                    <a:path w="23" h="1">
                      <a:moveTo>
                        <a:pt x="0" y="0"/>
                      </a:moveTo>
                      <a:lnTo>
                        <a:pt x="22"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31" name="Freeform 147"/>
                <p:cNvSpPr>
                  <a:spLocks/>
                </p:cNvSpPr>
                <p:nvPr/>
              </p:nvSpPr>
              <p:spPr bwMode="auto">
                <a:xfrm>
                  <a:off x="975" y="3864"/>
                  <a:ext cx="41" cy="1"/>
                </a:xfrm>
                <a:custGeom>
                  <a:avLst/>
                  <a:gdLst>
                    <a:gd name="T0" fmla="*/ 0 w 41"/>
                    <a:gd name="T1" fmla="*/ 0 h 1"/>
                    <a:gd name="T2" fmla="*/ 40 w 41"/>
                    <a:gd name="T3" fmla="*/ 0 h 1"/>
                  </a:gdLst>
                  <a:ahLst/>
                  <a:cxnLst>
                    <a:cxn ang="0">
                      <a:pos x="T0" y="T1"/>
                    </a:cxn>
                    <a:cxn ang="0">
                      <a:pos x="T2" y="T3"/>
                    </a:cxn>
                  </a:cxnLst>
                  <a:rect l="0" t="0" r="r" b="b"/>
                  <a:pathLst>
                    <a:path w="41" h="1">
                      <a:moveTo>
                        <a:pt x="0" y="0"/>
                      </a:moveTo>
                      <a:lnTo>
                        <a:pt x="4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332" name="Group 148"/>
              <p:cNvGrpSpPr>
                <a:grpSpLocks/>
              </p:cNvGrpSpPr>
              <p:nvPr/>
            </p:nvGrpSpPr>
            <p:grpSpPr bwMode="auto">
              <a:xfrm>
                <a:off x="1070" y="3844"/>
                <a:ext cx="224" cy="26"/>
                <a:chOff x="1070" y="3844"/>
                <a:chExt cx="224" cy="26"/>
              </a:xfrm>
            </p:grpSpPr>
            <p:sp>
              <p:nvSpPr>
                <p:cNvPr id="93333" name="Freeform 149"/>
                <p:cNvSpPr>
                  <a:spLocks/>
                </p:cNvSpPr>
                <p:nvPr/>
              </p:nvSpPr>
              <p:spPr bwMode="auto">
                <a:xfrm>
                  <a:off x="1070" y="3869"/>
                  <a:ext cx="139" cy="1"/>
                </a:xfrm>
                <a:custGeom>
                  <a:avLst/>
                  <a:gdLst>
                    <a:gd name="T0" fmla="*/ 0 w 139"/>
                    <a:gd name="T1" fmla="*/ 0 h 1"/>
                    <a:gd name="T2" fmla="*/ 138 w 139"/>
                    <a:gd name="T3" fmla="*/ 0 h 1"/>
                  </a:gdLst>
                  <a:ahLst/>
                  <a:cxnLst>
                    <a:cxn ang="0">
                      <a:pos x="T0" y="T1"/>
                    </a:cxn>
                    <a:cxn ang="0">
                      <a:pos x="T2" y="T3"/>
                    </a:cxn>
                  </a:cxnLst>
                  <a:rect l="0" t="0" r="r" b="b"/>
                  <a:pathLst>
                    <a:path w="139" h="1">
                      <a:moveTo>
                        <a:pt x="0" y="0"/>
                      </a:moveTo>
                      <a:lnTo>
                        <a:pt x="138"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34" name="Freeform 150"/>
                <p:cNvSpPr>
                  <a:spLocks/>
                </p:cNvSpPr>
                <p:nvPr/>
              </p:nvSpPr>
              <p:spPr bwMode="auto">
                <a:xfrm>
                  <a:off x="1259" y="3844"/>
                  <a:ext cx="33" cy="1"/>
                </a:xfrm>
                <a:custGeom>
                  <a:avLst/>
                  <a:gdLst>
                    <a:gd name="T0" fmla="*/ 0 w 33"/>
                    <a:gd name="T1" fmla="*/ 0 h 1"/>
                    <a:gd name="T2" fmla="*/ 32 w 33"/>
                    <a:gd name="T3" fmla="*/ 0 h 1"/>
                  </a:gdLst>
                  <a:ahLst/>
                  <a:cxnLst>
                    <a:cxn ang="0">
                      <a:pos x="T0" y="T1"/>
                    </a:cxn>
                    <a:cxn ang="0">
                      <a:pos x="T2" y="T3"/>
                    </a:cxn>
                  </a:cxnLst>
                  <a:rect l="0" t="0" r="r" b="b"/>
                  <a:pathLst>
                    <a:path w="33" h="1">
                      <a:moveTo>
                        <a:pt x="0" y="0"/>
                      </a:moveTo>
                      <a:lnTo>
                        <a:pt x="32"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35" name="Freeform 151"/>
                <p:cNvSpPr>
                  <a:spLocks/>
                </p:cNvSpPr>
                <p:nvPr/>
              </p:nvSpPr>
              <p:spPr bwMode="auto">
                <a:xfrm>
                  <a:off x="1268" y="3853"/>
                  <a:ext cx="26" cy="1"/>
                </a:xfrm>
                <a:custGeom>
                  <a:avLst/>
                  <a:gdLst>
                    <a:gd name="T0" fmla="*/ 0 w 26"/>
                    <a:gd name="T1" fmla="*/ 0 h 1"/>
                    <a:gd name="T2" fmla="*/ 25 w 26"/>
                    <a:gd name="T3" fmla="*/ 0 h 1"/>
                  </a:gdLst>
                  <a:ahLst/>
                  <a:cxnLst>
                    <a:cxn ang="0">
                      <a:pos x="T0" y="T1"/>
                    </a:cxn>
                    <a:cxn ang="0">
                      <a:pos x="T2" y="T3"/>
                    </a:cxn>
                  </a:cxnLst>
                  <a:rect l="0" t="0" r="r" b="b"/>
                  <a:pathLst>
                    <a:path w="26" h="1">
                      <a:moveTo>
                        <a:pt x="0" y="0"/>
                      </a:moveTo>
                      <a:lnTo>
                        <a:pt x="25"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36" name="Freeform 152"/>
                <p:cNvSpPr>
                  <a:spLocks/>
                </p:cNvSpPr>
                <p:nvPr/>
              </p:nvSpPr>
              <p:spPr bwMode="auto">
                <a:xfrm>
                  <a:off x="1250" y="3861"/>
                  <a:ext cx="44" cy="1"/>
                </a:xfrm>
                <a:custGeom>
                  <a:avLst/>
                  <a:gdLst>
                    <a:gd name="T0" fmla="*/ 0 w 44"/>
                    <a:gd name="T1" fmla="*/ 0 h 1"/>
                    <a:gd name="T2" fmla="*/ 43 w 44"/>
                    <a:gd name="T3" fmla="*/ 0 h 1"/>
                  </a:gdLst>
                  <a:ahLst/>
                  <a:cxnLst>
                    <a:cxn ang="0">
                      <a:pos x="T0" y="T1"/>
                    </a:cxn>
                    <a:cxn ang="0">
                      <a:pos x="T2" y="T3"/>
                    </a:cxn>
                  </a:cxnLst>
                  <a:rect l="0" t="0" r="r" b="b"/>
                  <a:pathLst>
                    <a:path w="44" h="1">
                      <a:moveTo>
                        <a:pt x="0" y="0"/>
                      </a:moveTo>
                      <a:lnTo>
                        <a:pt x="43"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37" name="Freeform 153"/>
                <p:cNvSpPr>
                  <a:spLocks/>
                </p:cNvSpPr>
                <p:nvPr/>
              </p:nvSpPr>
              <p:spPr bwMode="auto">
                <a:xfrm>
                  <a:off x="1214" y="3869"/>
                  <a:ext cx="24" cy="1"/>
                </a:xfrm>
                <a:custGeom>
                  <a:avLst/>
                  <a:gdLst>
                    <a:gd name="T0" fmla="*/ 0 w 24"/>
                    <a:gd name="T1" fmla="*/ 0 h 1"/>
                    <a:gd name="T2" fmla="*/ 23 w 24"/>
                    <a:gd name="T3" fmla="*/ 0 h 1"/>
                  </a:gdLst>
                  <a:ahLst/>
                  <a:cxnLst>
                    <a:cxn ang="0">
                      <a:pos x="T0" y="T1"/>
                    </a:cxn>
                    <a:cxn ang="0">
                      <a:pos x="T2" y="T3"/>
                    </a:cxn>
                  </a:cxnLst>
                  <a:rect l="0" t="0" r="r" b="b"/>
                  <a:pathLst>
                    <a:path w="24" h="1">
                      <a:moveTo>
                        <a:pt x="0" y="0"/>
                      </a:moveTo>
                      <a:lnTo>
                        <a:pt x="23"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38" name="Freeform 154"/>
                <p:cNvSpPr>
                  <a:spLocks/>
                </p:cNvSpPr>
                <p:nvPr/>
              </p:nvSpPr>
              <p:spPr bwMode="auto">
                <a:xfrm>
                  <a:off x="1243" y="3869"/>
                  <a:ext cx="49" cy="1"/>
                </a:xfrm>
                <a:custGeom>
                  <a:avLst/>
                  <a:gdLst>
                    <a:gd name="T0" fmla="*/ 0 w 49"/>
                    <a:gd name="T1" fmla="*/ 0 h 1"/>
                    <a:gd name="T2" fmla="*/ 48 w 49"/>
                    <a:gd name="T3" fmla="*/ 0 h 1"/>
                  </a:gdLst>
                  <a:ahLst/>
                  <a:cxnLst>
                    <a:cxn ang="0">
                      <a:pos x="T0" y="T1"/>
                    </a:cxn>
                    <a:cxn ang="0">
                      <a:pos x="T2" y="T3"/>
                    </a:cxn>
                  </a:cxnLst>
                  <a:rect l="0" t="0" r="r" b="b"/>
                  <a:pathLst>
                    <a:path w="49" h="1">
                      <a:moveTo>
                        <a:pt x="0" y="0"/>
                      </a:moveTo>
                      <a:lnTo>
                        <a:pt x="48"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339" name="Group 155"/>
              <p:cNvGrpSpPr>
                <a:grpSpLocks/>
              </p:cNvGrpSpPr>
              <p:nvPr/>
            </p:nvGrpSpPr>
            <p:grpSpPr bwMode="auto">
              <a:xfrm>
                <a:off x="1303" y="3849"/>
                <a:ext cx="71" cy="21"/>
                <a:chOff x="1303" y="3849"/>
                <a:chExt cx="71" cy="21"/>
              </a:xfrm>
            </p:grpSpPr>
            <p:sp>
              <p:nvSpPr>
                <p:cNvPr id="93340" name="Freeform 156"/>
                <p:cNvSpPr>
                  <a:spLocks/>
                </p:cNvSpPr>
                <p:nvPr/>
              </p:nvSpPr>
              <p:spPr bwMode="auto">
                <a:xfrm>
                  <a:off x="1303" y="3849"/>
                  <a:ext cx="67" cy="1"/>
                </a:xfrm>
                <a:custGeom>
                  <a:avLst/>
                  <a:gdLst>
                    <a:gd name="T0" fmla="*/ 0 w 67"/>
                    <a:gd name="T1" fmla="*/ 0 h 1"/>
                    <a:gd name="T2" fmla="*/ 66 w 67"/>
                    <a:gd name="T3" fmla="*/ 0 h 1"/>
                  </a:gdLst>
                  <a:ahLst/>
                  <a:cxnLst>
                    <a:cxn ang="0">
                      <a:pos x="T0" y="T1"/>
                    </a:cxn>
                    <a:cxn ang="0">
                      <a:pos x="T2" y="T3"/>
                    </a:cxn>
                  </a:cxnLst>
                  <a:rect l="0" t="0" r="r" b="b"/>
                  <a:pathLst>
                    <a:path w="67" h="1">
                      <a:moveTo>
                        <a:pt x="0" y="0"/>
                      </a:moveTo>
                      <a:lnTo>
                        <a:pt x="66"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41" name="Freeform 157"/>
                <p:cNvSpPr>
                  <a:spLocks/>
                </p:cNvSpPr>
                <p:nvPr/>
              </p:nvSpPr>
              <p:spPr bwMode="auto">
                <a:xfrm>
                  <a:off x="1313" y="3857"/>
                  <a:ext cx="58" cy="1"/>
                </a:xfrm>
                <a:custGeom>
                  <a:avLst/>
                  <a:gdLst>
                    <a:gd name="T0" fmla="*/ 0 w 58"/>
                    <a:gd name="T1" fmla="*/ 0 h 1"/>
                    <a:gd name="T2" fmla="*/ 57 w 58"/>
                    <a:gd name="T3" fmla="*/ 0 h 1"/>
                  </a:gdLst>
                  <a:ahLst/>
                  <a:cxnLst>
                    <a:cxn ang="0">
                      <a:pos x="T0" y="T1"/>
                    </a:cxn>
                    <a:cxn ang="0">
                      <a:pos x="T2" y="T3"/>
                    </a:cxn>
                  </a:cxnLst>
                  <a:rect l="0" t="0" r="r" b="b"/>
                  <a:pathLst>
                    <a:path w="58" h="1">
                      <a:moveTo>
                        <a:pt x="0" y="0"/>
                      </a:moveTo>
                      <a:lnTo>
                        <a:pt x="57"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42" name="Freeform 158"/>
                <p:cNvSpPr>
                  <a:spLocks/>
                </p:cNvSpPr>
                <p:nvPr/>
              </p:nvSpPr>
              <p:spPr bwMode="auto">
                <a:xfrm>
                  <a:off x="1313" y="3869"/>
                  <a:ext cx="61" cy="1"/>
                </a:xfrm>
                <a:custGeom>
                  <a:avLst/>
                  <a:gdLst>
                    <a:gd name="T0" fmla="*/ 0 w 61"/>
                    <a:gd name="T1" fmla="*/ 0 h 1"/>
                    <a:gd name="T2" fmla="*/ 60 w 61"/>
                    <a:gd name="T3" fmla="*/ 0 h 1"/>
                  </a:gdLst>
                  <a:ahLst/>
                  <a:cxnLst>
                    <a:cxn ang="0">
                      <a:pos x="T0" y="T1"/>
                    </a:cxn>
                    <a:cxn ang="0">
                      <a:pos x="T2" y="T3"/>
                    </a:cxn>
                  </a:cxnLst>
                  <a:rect l="0" t="0" r="r" b="b"/>
                  <a:pathLst>
                    <a:path w="61" h="1">
                      <a:moveTo>
                        <a:pt x="0" y="0"/>
                      </a:moveTo>
                      <a:lnTo>
                        <a:pt x="6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nvGrpSpPr>
              <p:cNvPr id="93343" name="Group 159"/>
              <p:cNvGrpSpPr>
                <a:grpSpLocks/>
              </p:cNvGrpSpPr>
              <p:nvPr/>
            </p:nvGrpSpPr>
            <p:grpSpPr bwMode="auto">
              <a:xfrm>
                <a:off x="1385" y="3849"/>
                <a:ext cx="84" cy="23"/>
                <a:chOff x="1385" y="3849"/>
                <a:chExt cx="84" cy="23"/>
              </a:xfrm>
            </p:grpSpPr>
            <p:sp>
              <p:nvSpPr>
                <p:cNvPr id="93344" name="Freeform 160"/>
                <p:cNvSpPr>
                  <a:spLocks/>
                </p:cNvSpPr>
                <p:nvPr/>
              </p:nvSpPr>
              <p:spPr bwMode="auto">
                <a:xfrm>
                  <a:off x="1391" y="3849"/>
                  <a:ext cx="63" cy="1"/>
                </a:xfrm>
                <a:custGeom>
                  <a:avLst/>
                  <a:gdLst>
                    <a:gd name="T0" fmla="*/ 0 w 63"/>
                    <a:gd name="T1" fmla="*/ 0 h 1"/>
                    <a:gd name="T2" fmla="*/ 62 w 63"/>
                    <a:gd name="T3" fmla="*/ 0 h 1"/>
                  </a:gdLst>
                  <a:ahLst/>
                  <a:cxnLst>
                    <a:cxn ang="0">
                      <a:pos x="T0" y="T1"/>
                    </a:cxn>
                    <a:cxn ang="0">
                      <a:pos x="T2" y="T3"/>
                    </a:cxn>
                  </a:cxnLst>
                  <a:rect l="0" t="0" r="r" b="b"/>
                  <a:pathLst>
                    <a:path w="63" h="1">
                      <a:moveTo>
                        <a:pt x="0" y="0"/>
                      </a:moveTo>
                      <a:lnTo>
                        <a:pt x="62"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45" name="Freeform 161"/>
                <p:cNvSpPr>
                  <a:spLocks/>
                </p:cNvSpPr>
                <p:nvPr/>
              </p:nvSpPr>
              <p:spPr bwMode="auto">
                <a:xfrm>
                  <a:off x="1385" y="3857"/>
                  <a:ext cx="52" cy="1"/>
                </a:xfrm>
                <a:custGeom>
                  <a:avLst/>
                  <a:gdLst>
                    <a:gd name="T0" fmla="*/ 0 w 52"/>
                    <a:gd name="T1" fmla="*/ 0 h 1"/>
                    <a:gd name="T2" fmla="*/ 51 w 52"/>
                    <a:gd name="T3" fmla="*/ 0 h 1"/>
                  </a:gdLst>
                  <a:ahLst/>
                  <a:cxnLst>
                    <a:cxn ang="0">
                      <a:pos x="T0" y="T1"/>
                    </a:cxn>
                    <a:cxn ang="0">
                      <a:pos x="T2" y="T3"/>
                    </a:cxn>
                  </a:cxnLst>
                  <a:rect l="0" t="0" r="r" b="b"/>
                  <a:pathLst>
                    <a:path w="52" h="1">
                      <a:moveTo>
                        <a:pt x="0" y="0"/>
                      </a:moveTo>
                      <a:lnTo>
                        <a:pt x="51"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46" name="Freeform 162"/>
                <p:cNvSpPr>
                  <a:spLocks/>
                </p:cNvSpPr>
                <p:nvPr/>
              </p:nvSpPr>
              <p:spPr bwMode="auto">
                <a:xfrm>
                  <a:off x="1391" y="3864"/>
                  <a:ext cx="48" cy="1"/>
                </a:xfrm>
                <a:custGeom>
                  <a:avLst/>
                  <a:gdLst>
                    <a:gd name="T0" fmla="*/ 0 w 48"/>
                    <a:gd name="T1" fmla="*/ 0 h 1"/>
                    <a:gd name="T2" fmla="*/ 47 w 48"/>
                    <a:gd name="T3" fmla="*/ 0 h 1"/>
                  </a:gdLst>
                  <a:ahLst/>
                  <a:cxnLst>
                    <a:cxn ang="0">
                      <a:pos x="T0" y="T1"/>
                    </a:cxn>
                    <a:cxn ang="0">
                      <a:pos x="T2" y="T3"/>
                    </a:cxn>
                  </a:cxnLst>
                  <a:rect l="0" t="0" r="r" b="b"/>
                  <a:pathLst>
                    <a:path w="48" h="1">
                      <a:moveTo>
                        <a:pt x="0" y="0"/>
                      </a:moveTo>
                      <a:lnTo>
                        <a:pt x="47"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47" name="Freeform 163"/>
                <p:cNvSpPr>
                  <a:spLocks/>
                </p:cNvSpPr>
                <p:nvPr/>
              </p:nvSpPr>
              <p:spPr bwMode="auto">
                <a:xfrm>
                  <a:off x="1389" y="3871"/>
                  <a:ext cx="60" cy="1"/>
                </a:xfrm>
                <a:custGeom>
                  <a:avLst/>
                  <a:gdLst>
                    <a:gd name="T0" fmla="*/ 0 w 60"/>
                    <a:gd name="T1" fmla="*/ 0 h 1"/>
                    <a:gd name="T2" fmla="*/ 59 w 60"/>
                    <a:gd name="T3" fmla="*/ 0 h 1"/>
                  </a:gdLst>
                  <a:ahLst/>
                  <a:cxnLst>
                    <a:cxn ang="0">
                      <a:pos x="T0" y="T1"/>
                    </a:cxn>
                    <a:cxn ang="0">
                      <a:pos x="T2" y="T3"/>
                    </a:cxn>
                  </a:cxnLst>
                  <a:rect l="0" t="0" r="r" b="b"/>
                  <a:pathLst>
                    <a:path w="60" h="1">
                      <a:moveTo>
                        <a:pt x="0" y="0"/>
                      </a:moveTo>
                      <a:lnTo>
                        <a:pt x="59"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48" name="Freeform 164"/>
                <p:cNvSpPr>
                  <a:spLocks/>
                </p:cNvSpPr>
                <p:nvPr/>
              </p:nvSpPr>
              <p:spPr bwMode="auto">
                <a:xfrm>
                  <a:off x="1446" y="3857"/>
                  <a:ext cx="17" cy="1"/>
                </a:xfrm>
                <a:custGeom>
                  <a:avLst/>
                  <a:gdLst>
                    <a:gd name="T0" fmla="*/ 0 w 17"/>
                    <a:gd name="T1" fmla="*/ 0 h 1"/>
                    <a:gd name="T2" fmla="*/ 16 w 17"/>
                    <a:gd name="T3" fmla="*/ 0 h 1"/>
                  </a:gdLst>
                  <a:ahLst/>
                  <a:cxnLst>
                    <a:cxn ang="0">
                      <a:pos x="T0" y="T1"/>
                    </a:cxn>
                    <a:cxn ang="0">
                      <a:pos x="T2" y="T3"/>
                    </a:cxn>
                  </a:cxnLst>
                  <a:rect l="0" t="0" r="r" b="b"/>
                  <a:pathLst>
                    <a:path w="17" h="1">
                      <a:moveTo>
                        <a:pt x="0" y="0"/>
                      </a:moveTo>
                      <a:lnTo>
                        <a:pt x="16"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49" name="Freeform 165"/>
                <p:cNvSpPr>
                  <a:spLocks/>
                </p:cNvSpPr>
                <p:nvPr/>
              </p:nvSpPr>
              <p:spPr bwMode="auto">
                <a:xfrm>
                  <a:off x="1452" y="3867"/>
                  <a:ext cx="17" cy="1"/>
                </a:xfrm>
                <a:custGeom>
                  <a:avLst/>
                  <a:gdLst>
                    <a:gd name="T0" fmla="*/ 0 w 17"/>
                    <a:gd name="T1" fmla="*/ 0 h 1"/>
                    <a:gd name="T2" fmla="*/ 16 w 17"/>
                    <a:gd name="T3" fmla="*/ 0 h 1"/>
                  </a:gdLst>
                  <a:ahLst/>
                  <a:cxnLst>
                    <a:cxn ang="0">
                      <a:pos x="T0" y="T1"/>
                    </a:cxn>
                    <a:cxn ang="0">
                      <a:pos x="T2" y="T3"/>
                    </a:cxn>
                  </a:cxnLst>
                  <a:rect l="0" t="0" r="r" b="b"/>
                  <a:pathLst>
                    <a:path w="17" h="1">
                      <a:moveTo>
                        <a:pt x="0" y="0"/>
                      </a:moveTo>
                      <a:lnTo>
                        <a:pt x="16"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grpSp>
        <p:sp>
          <p:nvSpPr>
            <p:cNvPr id="93350" name="Freeform 166"/>
            <p:cNvSpPr>
              <a:spLocks/>
            </p:cNvSpPr>
            <p:nvPr/>
          </p:nvSpPr>
          <p:spPr bwMode="auto">
            <a:xfrm>
              <a:off x="969" y="3426"/>
              <a:ext cx="512" cy="389"/>
            </a:xfrm>
            <a:custGeom>
              <a:avLst/>
              <a:gdLst>
                <a:gd name="T0" fmla="*/ 0 w 512"/>
                <a:gd name="T1" fmla="*/ 19 h 389"/>
                <a:gd name="T2" fmla="*/ 0 w 512"/>
                <a:gd name="T3" fmla="*/ 365 h 389"/>
                <a:gd name="T4" fmla="*/ 0 w 512"/>
                <a:gd name="T5" fmla="*/ 368 h 389"/>
                <a:gd name="T6" fmla="*/ 1 w 512"/>
                <a:gd name="T7" fmla="*/ 371 h 389"/>
                <a:gd name="T8" fmla="*/ 2 w 512"/>
                <a:gd name="T9" fmla="*/ 373 h 389"/>
                <a:gd name="T10" fmla="*/ 3 w 512"/>
                <a:gd name="T11" fmla="*/ 375 h 389"/>
                <a:gd name="T12" fmla="*/ 5 w 512"/>
                <a:gd name="T13" fmla="*/ 377 h 389"/>
                <a:gd name="T14" fmla="*/ 7 w 512"/>
                <a:gd name="T15" fmla="*/ 378 h 389"/>
                <a:gd name="T16" fmla="*/ 9 w 512"/>
                <a:gd name="T17" fmla="*/ 379 h 389"/>
                <a:gd name="T18" fmla="*/ 11 w 512"/>
                <a:gd name="T19" fmla="*/ 380 h 389"/>
                <a:gd name="T20" fmla="*/ 120 w 512"/>
                <a:gd name="T21" fmla="*/ 386 h 389"/>
                <a:gd name="T22" fmla="*/ 255 w 512"/>
                <a:gd name="T23" fmla="*/ 388 h 389"/>
                <a:gd name="T24" fmla="*/ 381 w 512"/>
                <a:gd name="T25" fmla="*/ 386 h 389"/>
                <a:gd name="T26" fmla="*/ 498 w 512"/>
                <a:gd name="T27" fmla="*/ 380 h 389"/>
                <a:gd name="T28" fmla="*/ 502 w 512"/>
                <a:gd name="T29" fmla="*/ 379 h 389"/>
                <a:gd name="T30" fmla="*/ 505 w 512"/>
                <a:gd name="T31" fmla="*/ 378 h 389"/>
                <a:gd name="T32" fmla="*/ 508 w 512"/>
                <a:gd name="T33" fmla="*/ 376 h 389"/>
                <a:gd name="T34" fmla="*/ 510 w 512"/>
                <a:gd name="T35" fmla="*/ 373 h 389"/>
                <a:gd name="T36" fmla="*/ 511 w 512"/>
                <a:gd name="T37" fmla="*/ 369 h 389"/>
                <a:gd name="T38" fmla="*/ 511 w 512"/>
                <a:gd name="T39" fmla="*/ 366 h 389"/>
                <a:gd name="T40" fmla="*/ 511 w 512"/>
                <a:gd name="T41" fmla="*/ 363 h 389"/>
                <a:gd name="T42" fmla="*/ 511 w 512"/>
                <a:gd name="T43" fmla="*/ 19 h 389"/>
                <a:gd name="T44" fmla="*/ 511 w 512"/>
                <a:gd name="T45" fmla="*/ 16 h 389"/>
                <a:gd name="T46" fmla="*/ 509 w 512"/>
                <a:gd name="T47" fmla="*/ 12 h 389"/>
                <a:gd name="T48" fmla="*/ 507 w 512"/>
                <a:gd name="T49" fmla="*/ 9 h 389"/>
                <a:gd name="T50" fmla="*/ 504 w 512"/>
                <a:gd name="T51" fmla="*/ 7 h 389"/>
                <a:gd name="T52" fmla="*/ 500 w 512"/>
                <a:gd name="T53" fmla="*/ 6 h 389"/>
                <a:gd name="T54" fmla="*/ 497 w 512"/>
                <a:gd name="T55" fmla="*/ 6 h 389"/>
                <a:gd name="T56" fmla="*/ 378 w 512"/>
                <a:gd name="T57" fmla="*/ 1 h 389"/>
                <a:gd name="T58" fmla="*/ 255 w 512"/>
                <a:gd name="T59" fmla="*/ 0 h 389"/>
                <a:gd name="T60" fmla="*/ 132 w 512"/>
                <a:gd name="T61" fmla="*/ 2 h 389"/>
                <a:gd name="T62" fmla="*/ 16 w 512"/>
                <a:gd name="T63" fmla="*/ 6 h 389"/>
                <a:gd name="T64" fmla="*/ 13 w 512"/>
                <a:gd name="T65" fmla="*/ 6 h 389"/>
                <a:gd name="T66" fmla="*/ 10 w 512"/>
                <a:gd name="T67" fmla="*/ 6 h 389"/>
                <a:gd name="T68" fmla="*/ 7 w 512"/>
                <a:gd name="T69" fmla="*/ 7 h 389"/>
                <a:gd name="T70" fmla="*/ 4 w 512"/>
                <a:gd name="T71" fmla="*/ 9 h 389"/>
                <a:gd name="T72" fmla="*/ 3 w 512"/>
                <a:gd name="T73" fmla="*/ 11 h 389"/>
                <a:gd name="T74" fmla="*/ 1 w 512"/>
                <a:gd name="T75" fmla="*/ 14 h 389"/>
                <a:gd name="T76" fmla="*/ 0 w 512"/>
                <a:gd name="T77" fmla="*/ 16 h 389"/>
                <a:gd name="T78" fmla="*/ 0 w 512"/>
                <a:gd name="T79" fmla="*/ 1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 h="389">
                  <a:moveTo>
                    <a:pt x="0" y="19"/>
                  </a:moveTo>
                  <a:lnTo>
                    <a:pt x="0" y="365"/>
                  </a:lnTo>
                  <a:lnTo>
                    <a:pt x="0" y="368"/>
                  </a:lnTo>
                  <a:lnTo>
                    <a:pt x="1" y="371"/>
                  </a:lnTo>
                  <a:lnTo>
                    <a:pt x="2" y="373"/>
                  </a:lnTo>
                  <a:lnTo>
                    <a:pt x="3" y="375"/>
                  </a:lnTo>
                  <a:lnTo>
                    <a:pt x="5" y="377"/>
                  </a:lnTo>
                  <a:lnTo>
                    <a:pt x="7" y="378"/>
                  </a:lnTo>
                  <a:lnTo>
                    <a:pt x="9" y="379"/>
                  </a:lnTo>
                  <a:lnTo>
                    <a:pt x="11" y="380"/>
                  </a:lnTo>
                  <a:lnTo>
                    <a:pt x="120" y="386"/>
                  </a:lnTo>
                  <a:lnTo>
                    <a:pt x="255" y="388"/>
                  </a:lnTo>
                  <a:lnTo>
                    <a:pt x="381" y="386"/>
                  </a:lnTo>
                  <a:lnTo>
                    <a:pt x="498" y="380"/>
                  </a:lnTo>
                  <a:lnTo>
                    <a:pt x="502" y="379"/>
                  </a:lnTo>
                  <a:lnTo>
                    <a:pt x="505" y="378"/>
                  </a:lnTo>
                  <a:lnTo>
                    <a:pt x="508" y="376"/>
                  </a:lnTo>
                  <a:lnTo>
                    <a:pt x="510" y="373"/>
                  </a:lnTo>
                  <a:lnTo>
                    <a:pt x="511" y="369"/>
                  </a:lnTo>
                  <a:lnTo>
                    <a:pt x="511" y="366"/>
                  </a:lnTo>
                  <a:lnTo>
                    <a:pt x="511" y="363"/>
                  </a:lnTo>
                  <a:lnTo>
                    <a:pt x="511" y="19"/>
                  </a:lnTo>
                  <a:lnTo>
                    <a:pt x="511" y="16"/>
                  </a:lnTo>
                  <a:lnTo>
                    <a:pt x="509" y="12"/>
                  </a:lnTo>
                  <a:lnTo>
                    <a:pt x="507" y="9"/>
                  </a:lnTo>
                  <a:lnTo>
                    <a:pt x="504" y="7"/>
                  </a:lnTo>
                  <a:lnTo>
                    <a:pt x="500" y="6"/>
                  </a:lnTo>
                  <a:lnTo>
                    <a:pt x="497" y="6"/>
                  </a:lnTo>
                  <a:lnTo>
                    <a:pt x="378" y="1"/>
                  </a:lnTo>
                  <a:lnTo>
                    <a:pt x="255" y="0"/>
                  </a:lnTo>
                  <a:lnTo>
                    <a:pt x="132" y="2"/>
                  </a:lnTo>
                  <a:lnTo>
                    <a:pt x="16" y="6"/>
                  </a:lnTo>
                  <a:lnTo>
                    <a:pt x="13" y="6"/>
                  </a:lnTo>
                  <a:lnTo>
                    <a:pt x="10" y="6"/>
                  </a:lnTo>
                  <a:lnTo>
                    <a:pt x="7" y="7"/>
                  </a:lnTo>
                  <a:lnTo>
                    <a:pt x="4" y="9"/>
                  </a:lnTo>
                  <a:lnTo>
                    <a:pt x="3" y="11"/>
                  </a:lnTo>
                  <a:lnTo>
                    <a:pt x="1" y="14"/>
                  </a:lnTo>
                  <a:lnTo>
                    <a:pt x="0" y="16"/>
                  </a:lnTo>
                  <a:lnTo>
                    <a:pt x="0" y="19"/>
                  </a:lnTo>
                </a:path>
              </a:pathLst>
            </a:custGeom>
            <a:solidFill>
              <a:srgbClr val="DFD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nvGrpSpPr>
            <p:cNvPr id="93351" name="Group 167"/>
            <p:cNvGrpSpPr>
              <a:grpSpLocks/>
            </p:cNvGrpSpPr>
            <p:nvPr/>
          </p:nvGrpSpPr>
          <p:grpSpPr bwMode="auto">
            <a:xfrm>
              <a:off x="1019" y="3467"/>
              <a:ext cx="412" cy="305"/>
              <a:chOff x="1019" y="3467"/>
              <a:chExt cx="412" cy="305"/>
            </a:xfrm>
          </p:grpSpPr>
          <p:sp>
            <p:nvSpPr>
              <p:cNvPr id="93352" name="Freeform 168"/>
              <p:cNvSpPr>
                <a:spLocks/>
              </p:cNvSpPr>
              <p:nvPr/>
            </p:nvSpPr>
            <p:spPr bwMode="auto">
              <a:xfrm>
                <a:off x="1019" y="3467"/>
                <a:ext cx="412" cy="305"/>
              </a:xfrm>
              <a:custGeom>
                <a:avLst/>
                <a:gdLst>
                  <a:gd name="T0" fmla="*/ 0 w 412"/>
                  <a:gd name="T1" fmla="*/ 15 h 305"/>
                  <a:gd name="T2" fmla="*/ 0 w 412"/>
                  <a:gd name="T3" fmla="*/ 286 h 305"/>
                  <a:gd name="T4" fmla="*/ 0 w 412"/>
                  <a:gd name="T5" fmla="*/ 288 h 305"/>
                  <a:gd name="T6" fmla="*/ 1 w 412"/>
                  <a:gd name="T7" fmla="*/ 290 h 305"/>
                  <a:gd name="T8" fmla="*/ 2 w 412"/>
                  <a:gd name="T9" fmla="*/ 292 h 305"/>
                  <a:gd name="T10" fmla="*/ 3 w 412"/>
                  <a:gd name="T11" fmla="*/ 294 h 305"/>
                  <a:gd name="T12" fmla="*/ 4 w 412"/>
                  <a:gd name="T13" fmla="*/ 295 h 305"/>
                  <a:gd name="T14" fmla="*/ 6 w 412"/>
                  <a:gd name="T15" fmla="*/ 296 h 305"/>
                  <a:gd name="T16" fmla="*/ 7 w 412"/>
                  <a:gd name="T17" fmla="*/ 297 h 305"/>
                  <a:gd name="T18" fmla="*/ 9 w 412"/>
                  <a:gd name="T19" fmla="*/ 297 h 305"/>
                  <a:gd name="T20" fmla="*/ 97 w 412"/>
                  <a:gd name="T21" fmla="*/ 302 h 305"/>
                  <a:gd name="T22" fmla="*/ 205 w 412"/>
                  <a:gd name="T23" fmla="*/ 304 h 305"/>
                  <a:gd name="T24" fmla="*/ 307 w 412"/>
                  <a:gd name="T25" fmla="*/ 302 h 305"/>
                  <a:gd name="T26" fmla="*/ 400 w 412"/>
                  <a:gd name="T27" fmla="*/ 297 h 305"/>
                  <a:gd name="T28" fmla="*/ 403 w 412"/>
                  <a:gd name="T29" fmla="*/ 297 h 305"/>
                  <a:gd name="T30" fmla="*/ 406 w 412"/>
                  <a:gd name="T31" fmla="*/ 296 h 305"/>
                  <a:gd name="T32" fmla="*/ 408 w 412"/>
                  <a:gd name="T33" fmla="*/ 294 h 305"/>
                  <a:gd name="T34" fmla="*/ 410 w 412"/>
                  <a:gd name="T35" fmla="*/ 292 h 305"/>
                  <a:gd name="T36" fmla="*/ 411 w 412"/>
                  <a:gd name="T37" fmla="*/ 289 h 305"/>
                  <a:gd name="T38" fmla="*/ 411 w 412"/>
                  <a:gd name="T39" fmla="*/ 287 h 305"/>
                  <a:gd name="T40" fmla="*/ 411 w 412"/>
                  <a:gd name="T41" fmla="*/ 284 h 305"/>
                  <a:gd name="T42" fmla="*/ 411 w 412"/>
                  <a:gd name="T43" fmla="*/ 15 h 305"/>
                  <a:gd name="T44" fmla="*/ 411 w 412"/>
                  <a:gd name="T45" fmla="*/ 12 h 305"/>
                  <a:gd name="T46" fmla="*/ 410 w 412"/>
                  <a:gd name="T47" fmla="*/ 9 h 305"/>
                  <a:gd name="T48" fmla="*/ 408 w 412"/>
                  <a:gd name="T49" fmla="*/ 7 h 305"/>
                  <a:gd name="T50" fmla="*/ 405 w 412"/>
                  <a:gd name="T51" fmla="*/ 6 h 305"/>
                  <a:gd name="T52" fmla="*/ 402 w 412"/>
                  <a:gd name="T53" fmla="*/ 5 h 305"/>
                  <a:gd name="T54" fmla="*/ 399 w 412"/>
                  <a:gd name="T55" fmla="*/ 5 h 305"/>
                  <a:gd name="T56" fmla="*/ 304 w 412"/>
                  <a:gd name="T57" fmla="*/ 1 h 305"/>
                  <a:gd name="T58" fmla="*/ 205 w 412"/>
                  <a:gd name="T59" fmla="*/ 0 h 305"/>
                  <a:gd name="T60" fmla="*/ 106 w 412"/>
                  <a:gd name="T61" fmla="*/ 2 h 305"/>
                  <a:gd name="T62" fmla="*/ 13 w 412"/>
                  <a:gd name="T63" fmla="*/ 5 h 305"/>
                  <a:gd name="T64" fmla="*/ 10 w 412"/>
                  <a:gd name="T65" fmla="*/ 5 h 305"/>
                  <a:gd name="T66" fmla="*/ 8 w 412"/>
                  <a:gd name="T67" fmla="*/ 5 h 305"/>
                  <a:gd name="T68" fmla="*/ 6 w 412"/>
                  <a:gd name="T69" fmla="*/ 6 h 305"/>
                  <a:gd name="T70" fmla="*/ 4 w 412"/>
                  <a:gd name="T71" fmla="*/ 7 h 305"/>
                  <a:gd name="T72" fmla="*/ 2 w 412"/>
                  <a:gd name="T73" fmla="*/ 9 h 305"/>
                  <a:gd name="T74" fmla="*/ 1 w 412"/>
                  <a:gd name="T75" fmla="*/ 11 h 305"/>
                  <a:gd name="T76" fmla="*/ 0 w 412"/>
                  <a:gd name="T77" fmla="*/ 13 h 305"/>
                  <a:gd name="T78" fmla="*/ 0 w 412"/>
                  <a:gd name="T79" fmla="*/ 15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2" h="305">
                    <a:moveTo>
                      <a:pt x="0" y="15"/>
                    </a:moveTo>
                    <a:lnTo>
                      <a:pt x="0" y="286"/>
                    </a:lnTo>
                    <a:lnTo>
                      <a:pt x="0" y="288"/>
                    </a:lnTo>
                    <a:lnTo>
                      <a:pt x="1" y="290"/>
                    </a:lnTo>
                    <a:lnTo>
                      <a:pt x="2" y="292"/>
                    </a:lnTo>
                    <a:lnTo>
                      <a:pt x="3" y="294"/>
                    </a:lnTo>
                    <a:lnTo>
                      <a:pt x="4" y="295"/>
                    </a:lnTo>
                    <a:lnTo>
                      <a:pt x="6" y="296"/>
                    </a:lnTo>
                    <a:lnTo>
                      <a:pt x="7" y="297"/>
                    </a:lnTo>
                    <a:lnTo>
                      <a:pt x="9" y="297"/>
                    </a:lnTo>
                    <a:lnTo>
                      <a:pt x="97" y="302"/>
                    </a:lnTo>
                    <a:lnTo>
                      <a:pt x="205" y="304"/>
                    </a:lnTo>
                    <a:lnTo>
                      <a:pt x="307" y="302"/>
                    </a:lnTo>
                    <a:lnTo>
                      <a:pt x="400" y="297"/>
                    </a:lnTo>
                    <a:lnTo>
                      <a:pt x="403" y="297"/>
                    </a:lnTo>
                    <a:lnTo>
                      <a:pt x="406" y="296"/>
                    </a:lnTo>
                    <a:lnTo>
                      <a:pt x="408" y="294"/>
                    </a:lnTo>
                    <a:lnTo>
                      <a:pt x="410" y="292"/>
                    </a:lnTo>
                    <a:lnTo>
                      <a:pt x="411" y="289"/>
                    </a:lnTo>
                    <a:lnTo>
                      <a:pt x="411" y="287"/>
                    </a:lnTo>
                    <a:lnTo>
                      <a:pt x="411" y="284"/>
                    </a:lnTo>
                    <a:lnTo>
                      <a:pt x="411" y="15"/>
                    </a:lnTo>
                    <a:lnTo>
                      <a:pt x="411" y="12"/>
                    </a:lnTo>
                    <a:lnTo>
                      <a:pt x="410" y="9"/>
                    </a:lnTo>
                    <a:lnTo>
                      <a:pt x="408" y="7"/>
                    </a:lnTo>
                    <a:lnTo>
                      <a:pt x="405" y="6"/>
                    </a:lnTo>
                    <a:lnTo>
                      <a:pt x="402" y="5"/>
                    </a:lnTo>
                    <a:lnTo>
                      <a:pt x="399" y="5"/>
                    </a:lnTo>
                    <a:lnTo>
                      <a:pt x="304" y="1"/>
                    </a:lnTo>
                    <a:lnTo>
                      <a:pt x="205" y="0"/>
                    </a:lnTo>
                    <a:lnTo>
                      <a:pt x="106" y="2"/>
                    </a:lnTo>
                    <a:lnTo>
                      <a:pt x="13" y="5"/>
                    </a:lnTo>
                    <a:lnTo>
                      <a:pt x="10" y="5"/>
                    </a:lnTo>
                    <a:lnTo>
                      <a:pt x="8" y="5"/>
                    </a:lnTo>
                    <a:lnTo>
                      <a:pt x="6" y="6"/>
                    </a:lnTo>
                    <a:lnTo>
                      <a:pt x="4" y="7"/>
                    </a:lnTo>
                    <a:lnTo>
                      <a:pt x="2" y="9"/>
                    </a:lnTo>
                    <a:lnTo>
                      <a:pt x="1" y="11"/>
                    </a:lnTo>
                    <a:lnTo>
                      <a:pt x="0" y="13"/>
                    </a:lnTo>
                    <a:lnTo>
                      <a:pt x="0" y="15"/>
                    </a:lnTo>
                  </a:path>
                </a:pathLst>
              </a:custGeom>
              <a:solidFill>
                <a:srgbClr val="00DFC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53" name="Freeform 169"/>
              <p:cNvSpPr>
                <a:spLocks/>
              </p:cNvSpPr>
              <p:nvPr/>
            </p:nvSpPr>
            <p:spPr bwMode="auto">
              <a:xfrm>
                <a:off x="1020" y="3619"/>
                <a:ext cx="411" cy="153"/>
              </a:xfrm>
              <a:custGeom>
                <a:avLst/>
                <a:gdLst>
                  <a:gd name="T0" fmla="*/ 0 w 411"/>
                  <a:gd name="T1" fmla="*/ 140 h 153"/>
                  <a:gd name="T2" fmla="*/ 1 w 411"/>
                  <a:gd name="T3" fmla="*/ 142 h 153"/>
                  <a:gd name="T4" fmla="*/ 3 w 411"/>
                  <a:gd name="T5" fmla="*/ 143 h 153"/>
                  <a:gd name="T6" fmla="*/ 4 w 411"/>
                  <a:gd name="T7" fmla="*/ 144 h 153"/>
                  <a:gd name="T8" fmla="*/ 6 w 411"/>
                  <a:gd name="T9" fmla="*/ 145 h 153"/>
                  <a:gd name="T10" fmla="*/ 7 w 411"/>
                  <a:gd name="T11" fmla="*/ 145 h 153"/>
                  <a:gd name="T12" fmla="*/ 96 w 411"/>
                  <a:gd name="T13" fmla="*/ 150 h 153"/>
                  <a:gd name="T14" fmla="*/ 205 w 411"/>
                  <a:gd name="T15" fmla="*/ 152 h 153"/>
                  <a:gd name="T16" fmla="*/ 306 w 411"/>
                  <a:gd name="T17" fmla="*/ 150 h 153"/>
                  <a:gd name="T18" fmla="*/ 400 w 411"/>
                  <a:gd name="T19" fmla="*/ 145 h 153"/>
                  <a:gd name="T20" fmla="*/ 403 w 411"/>
                  <a:gd name="T21" fmla="*/ 145 h 153"/>
                  <a:gd name="T22" fmla="*/ 406 w 411"/>
                  <a:gd name="T23" fmla="*/ 144 h 153"/>
                  <a:gd name="T24" fmla="*/ 409 w 411"/>
                  <a:gd name="T25" fmla="*/ 142 h 153"/>
                  <a:gd name="T26" fmla="*/ 410 w 411"/>
                  <a:gd name="T27" fmla="*/ 140 h 153"/>
                  <a:gd name="T28" fmla="*/ 205 w 411"/>
                  <a:gd name="T29" fmla="*/ 0 h 153"/>
                  <a:gd name="T30" fmla="*/ 0 w 411"/>
                  <a:gd name="T31" fmla="*/ 14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1" h="153">
                    <a:moveTo>
                      <a:pt x="0" y="140"/>
                    </a:moveTo>
                    <a:lnTo>
                      <a:pt x="1" y="142"/>
                    </a:lnTo>
                    <a:lnTo>
                      <a:pt x="3" y="143"/>
                    </a:lnTo>
                    <a:lnTo>
                      <a:pt x="4" y="144"/>
                    </a:lnTo>
                    <a:lnTo>
                      <a:pt x="6" y="145"/>
                    </a:lnTo>
                    <a:lnTo>
                      <a:pt x="7" y="145"/>
                    </a:lnTo>
                    <a:lnTo>
                      <a:pt x="96" y="150"/>
                    </a:lnTo>
                    <a:lnTo>
                      <a:pt x="205" y="152"/>
                    </a:lnTo>
                    <a:lnTo>
                      <a:pt x="306" y="150"/>
                    </a:lnTo>
                    <a:lnTo>
                      <a:pt x="400" y="145"/>
                    </a:lnTo>
                    <a:lnTo>
                      <a:pt x="403" y="145"/>
                    </a:lnTo>
                    <a:lnTo>
                      <a:pt x="406" y="144"/>
                    </a:lnTo>
                    <a:lnTo>
                      <a:pt x="409" y="142"/>
                    </a:lnTo>
                    <a:lnTo>
                      <a:pt x="410" y="140"/>
                    </a:lnTo>
                    <a:lnTo>
                      <a:pt x="205" y="0"/>
                    </a:lnTo>
                    <a:lnTo>
                      <a:pt x="0" y="140"/>
                    </a:lnTo>
                  </a:path>
                </a:pathLst>
              </a:custGeom>
              <a:solidFill>
                <a:srgbClr val="00DFC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54" name="Freeform 170"/>
              <p:cNvSpPr>
                <a:spLocks/>
              </p:cNvSpPr>
              <p:nvPr/>
            </p:nvSpPr>
            <p:spPr bwMode="auto">
              <a:xfrm>
                <a:off x="1021" y="3467"/>
                <a:ext cx="407" cy="153"/>
              </a:xfrm>
              <a:custGeom>
                <a:avLst/>
                <a:gdLst>
                  <a:gd name="T0" fmla="*/ 204 w 407"/>
                  <a:gd name="T1" fmla="*/ 152 h 153"/>
                  <a:gd name="T2" fmla="*/ 406 w 407"/>
                  <a:gd name="T3" fmla="*/ 7 h 153"/>
                  <a:gd name="T4" fmla="*/ 403 w 407"/>
                  <a:gd name="T5" fmla="*/ 5 h 153"/>
                  <a:gd name="T6" fmla="*/ 401 w 407"/>
                  <a:gd name="T7" fmla="*/ 5 h 153"/>
                  <a:gd name="T8" fmla="*/ 398 w 407"/>
                  <a:gd name="T9" fmla="*/ 5 h 153"/>
                  <a:gd name="T10" fmla="*/ 302 w 407"/>
                  <a:gd name="T11" fmla="*/ 1 h 153"/>
                  <a:gd name="T12" fmla="*/ 204 w 407"/>
                  <a:gd name="T13" fmla="*/ 0 h 153"/>
                  <a:gd name="T14" fmla="*/ 104 w 407"/>
                  <a:gd name="T15" fmla="*/ 2 h 153"/>
                  <a:gd name="T16" fmla="*/ 10 w 407"/>
                  <a:gd name="T17" fmla="*/ 5 h 153"/>
                  <a:gd name="T18" fmla="*/ 8 w 407"/>
                  <a:gd name="T19" fmla="*/ 5 h 153"/>
                  <a:gd name="T20" fmla="*/ 6 w 407"/>
                  <a:gd name="T21" fmla="*/ 5 h 153"/>
                  <a:gd name="T22" fmla="*/ 4 w 407"/>
                  <a:gd name="T23" fmla="*/ 6 h 153"/>
                  <a:gd name="T24" fmla="*/ 1 w 407"/>
                  <a:gd name="T25" fmla="*/ 7 h 153"/>
                  <a:gd name="T26" fmla="*/ 0 w 407"/>
                  <a:gd name="T27" fmla="*/ 9 h 153"/>
                  <a:gd name="T28" fmla="*/ 204 w 407"/>
                  <a:gd name="T29" fmla="*/ 15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7" h="153">
                    <a:moveTo>
                      <a:pt x="204" y="152"/>
                    </a:moveTo>
                    <a:lnTo>
                      <a:pt x="406" y="7"/>
                    </a:lnTo>
                    <a:lnTo>
                      <a:pt x="403" y="5"/>
                    </a:lnTo>
                    <a:lnTo>
                      <a:pt x="401" y="5"/>
                    </a:lnTo>
                    <a:lnTo>
                      <a:pt x="398" y="5"/>
                    </a:lnTo>
                    <a:lnTo>
                      <a:pt x="302" y="1"/>
                    </a:lnTo>
                    <a:lnTo>
                      <a:pt x="204" y="0"/>
                    </a:lnTo>
                    <a:lnTo>
                      <a:pt x="104" y="2"/>
                    </a:lnTo>
                    <a:lnTo>
                      <a:pt x="10" y="5"/>
                    </a:lnTo>
                    <a:lnTo>
                      <a:pt x="8" y="5"/>
                    </a:lnTo>
                    <a:lnTo>
                      <a:pt x="6" y="5"/>
                    </a:lnTo>
                    <a:lnTo>
                      <a:pt x="4" y="6"/>
                    </a:lnTo>
                    <a:lnTo>
                      <a:pt x="1" y="7"/>
                    </a:lnTo>
                    <a:lnTo>
                      <a:pt x="0" y="9"/>
                    </a:lnTo>
                    <a:lnTo>
                      <a:pt x="204" y="152"/>
                    </a:lnTo>
                  </a:path>
                </a:pathLst>
              </a:custGeom>
              <a:solidFill>
                <a:srgbClr val="00DFC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sp>
            <p:nvSpPr>
              <p:cNvPr id="93355" name="Freeform 171"/>
              <p:cNvSpPr>
                <a:spLocks/>
              </p:cNvSpPr>
              <p:nvPr/>
            </p:nvSpPr>
            <p:spPr bwMode="auto">
              <a:xfrm>
                <a:off x="1032" y="3477"/>
                <a:ext cx="386" cy="284"/>
              </a:xfrm>
              <a:custGeom>
                <a:avLst/>
                <a:gdLst>
                  <a:gd name="T0" fmla="*/ 0 w 386"/>
                  <a:gd name="T1" fmla="*/ 14 h 284"/>
                  <a:gd name="T2" fmla="*/ 0 w 386"/>
                  <a:gd name="T3" fmla="*/ 266 h 284"/>
                  <a:gd name="T4" fmla="*/ 0 w 386"/>
                  <a:gd name="T5" fmla="*/ 269 h 284"/>
                  <a:gd name="T6" fmla="*/ 1 w 386"/>
                  <a:gd name="T7" fmla="*/ 271 h 284"/>
                  <a:gd name="T8" fmla="*/ 1 w 386"/>
                  <a:gd name="T9" fmla="*/ 272 h 284"/>
                  <a:gd name="T10" fmla="*/ 3 w 386"/>
                  <a:gd name="T11" fmla="*/ 274 h 284"/>
                  <a:gd name="T12" fmla="*/ 4 w 386"/>
                  <a:gd name="T13" fmla="*/ 275 h 284"/>
                  <a:gd name="T14" fmla="*/ 5 w 386"/>
                  <a:gd name="T15" fmla="*/ 276 h 284"/>
                  <a:gd name="T16" fmla="*/ 7 w 386"/>
                  <a:gd name="T17" fmla="*/ 277 h 284"/>
                  <a:gd name="T18" fmla="*/ 8 w 386"/>
                  <a:gd name="T19" fmla="*/ 277 h 284"/>
                  <a:gd name="T20" fmla="*/ 91 w 386"/>
                  <a:gd name="T21" fmla="*/ 282 h 284"/>
                  <a:gd name="T22" fmla="*/ 192 w 386"/>
                  <a:gd name="T23" fmla="*/ 283 h 284"/>
                  <a:gd name="T24" fmla="*/ 287 w 386"/>
                  <a:gd name="T25" fmla="*/ 282 h 284"/>
                  <a:gd name="T26" fmla="*/ 375 w 386"/>
                  <a:gd name="T27" fmla="*/ 277 h 284"/>
                  <a:gd name="T28" fmla="*/ 378 w 386"/>
                  <a:gd name="T29" fmla="*/ 277 h 284"/>
                  <a:gd name="T30" fmla="*/ 381 w 386"/>
                  <a:gd name="T31" fmla="*/ 276 h 284"/>
                  <a:gd name="T32" fmla="*/ 382 w 386"/>
                  <a:gd name="T33" fmla="*/ 274 h 284"/>
                  <a:gd name="T34" fmla="*/ 384 w 386"/>
                  <a:gd name="T35" fmla="*/ 272 h 284"/>
                  <a:gd name="T36" fmla="*/ 385 w 386"/>
                  <a:gd name="T37" fmla="*/ 269 h 284"/>
                  <a:gd name="T38" fmla="*/ 385 w 386"/>
                  <a:gd name="T39" fmla="*/ 267 h 284"/>
                  <a:gd name="T40" fmla="*/ 385 w 386"/>
                  <a:gd name="T41" fmla="*/ 265 h 284"/>
                  <a:gd name="T42" fmla="*/ 385 w 386"/>
                  <a:gd name="T43" fmla="*/ 14 h 284"/>
                  <a:gd name="T44" fmla="*/ 385 w 386"/>
                  <a:gd name="T45" fmla="*/ 11 h 284"/>
                  <a:gd name="T46" fmla="*/ 384 w 386"/>
                  <a:gd name="T47" fmla="*/ 9 h 284"/>
                  <a:gd name="T48" fmla="*/ 382 w 386"/>
                  <a:gd name="T49" fmla="*/ 7 h 284"/>
                  <a:gd name="T50" fmla="*/ 379 w 386"/>
                  <a:gd name="T51" fmla="*/ 5 h 284"/>
                  <a:gd name="T52" fmla="*/ 377 w 386"/>
                  <a:gd name="T53" fmla="*/ 4 h 284"/>
                  <a:gd name="T54" fmla="*/ 374 w 386"/>
                  <a:gd name="T55" fmla="*/ 4 h 284"/>
                  <a:gd name="T56" fmla="*/ 285 w 386"/>
                  <a:gd name="T57" fmla="*/ 1 h 284"/>
                  <a:gd name="T58" fmla="*/ 192 w 386"/>
                  <a:gd name="T59" fmla="*/ 0 h 284"/>
                  <a:gd name="T60" fmla="*/ 99 w 386"/>
                  <a:gd name="T61" fmla="*/ 1 h 284"/>
                  <a:gd name="T62" fmla="*/ 12 w 386"/>
                  <a:gd name="T63" fmla="*/ 4 h 284"/>
                  <a:gd name="T64" fmla="*/ 10 w 386"/>
                  <a:gd name="T65" fmla="*/ 4 h 284"/>
                  <a:gd name="T66" fmla="*/ 7 w 386"/>
                  <a:gd name="T67" fmla="*/ 5 h 284"/>
                  <a:gd name="T68" fmla="*/ 6 w 386"/>
                  <a:gd name="T69" fmla="*/ 6 h 284"/>
                  <a:gd name="T70" fmla="*/ 3 w 386"/>
                  <a:gd name="T71" fmla="*/ 7 h 284"/>
                  <a:gd name="T72" fmla="*/ 2 w 386"/>
                  <a:gd name="T73" fmla="*/ 8 h 284"/>
                  <a:gd name="T74" fmla="*/ 1 w 386"/>
                  <a:gd name="T75" fmla="*/ 10 h 284"/>
                  <a:gd name="T76" fmla="*/ 0 w 386"/>
                  <a:gd name="T77" fmla="*/ 12 h 284"/>
                  <a:gd name="T78" fmla="*/ 0 w 386"/>
                  <a:gd name="T79" fmla="*/ 1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6" h="284">
                    <a:moveTo>
                      <a:pt x="0" y="14"/>
                    </a:moveTo>
                    <a:lnTo>
                      <a:pt x="0" y="266"/>
                    </a:lnTo>
                    <a:lnTo>
                      <a:pt x="0" y="269"/>
                    </a:lnTo>
                    <a:lnTo>
                      <a:pt x="1" y="271"/>
                    </a:lnTo>
                    <a:lnTo>
                      <a:pt x="1" y="272"/>
                    </a:lnTo>
                    <a:lnTo>
                      <a:pt x="3" y="274"/>
                    </a:lnTo>
                    <a:lnTo>
                      <a:pt x="4" y="275"/>
                    </a:lnTo>
                    <a:lnTo>
                      <a:pt x="5" y="276"/>
                    </a:lnTo>
                    <a:lnTo>
                      <a:pt x="7" y="277"/>
                    </a:lnTo>
                    <a:lnTo>
                      <a:pt x="8" y="277"/>
                    </a:lnTo>
                    <a:lnTo>
                      <a:pt x="91" y="282"/>
                    </a:lnTo>
                    <a:lnTo>
                      <a:pt x="192" y="283"/>
                    </a:lnTo>
                    <a:lnTo>
                      <a:pt x="287" y="282"/>
                    </a:lnTo>
                    <a:lnTo>
                      <a:pt x="375" y="277"/>
                    </a:lnTo>
                    <a:lnTo>
                      <a:pt x="378" y="277"/>
                    </a:lnTo>
                    <a:lnTo>
                      <a:pt x="381" y="276"/>
                    </a:lnTo>
                    <a:lnTo>
                      <a:pt x="382" y="274"/>
                    </a:lnTo>
                    <a:lnTo>
                      <a:pt x="384" y="272"/>
                    </a:lnTo>
                    <a:lnTo>
                      <a:pt x="385" y="269"/>
                    </a:lnTo>
                    <a:lnTo>
                      <a:pt x="385" y="267"/>
                    </a:lnTo>
                    <a:lnTo>
                      <a:pt x="385" y="265"/>
                    </a:lnTo>
                    <a:lnTo>
                      <a:pt x="385" y="14"/>
                    </a:lnTo>
                    <a:lnTo>
                      <a:pt x="385" y="11"/>
                    </a:lnTo>
                    <a:lnTo>
                      <a:pt x="384" y="9"/>
                    </a:lnTo>
                    <a:lnTo>
                      <a:pt x="382" y="7"/>
                    </a:lnTo>
                    <a:lnTo>
                      <a:pt x="379" y="5"/>
                    </a:lnTo>
                    <a:lnTo>
                      <a:pt x="377" y="4"/>
                    </a:lnTo>
                    <a:lnTo>
                      <a:pt x="374" y="4"/>
                    </a:lnTo>
                    <a:lnTo>
                      <a:pt x="285" y="1"/>
                    </a:lnTo>
                    <a:lnTo>
                      <a:pt x="192" y="0"/>
                    </a:lnTo>
                    <a:lnTo>
                      <a:pt x="99" y="1"/>
                    </a:lnTo>
                    <a:lnTo>
                      <a:pt x="12" y="4"/>
                    </a:lnTo>
                    <a:lnTo>
                      <a:pt x="10" y="4"/>
                    </a:lnTo>
                    <a:lnTo>
                      <a:pt x="7" y="5"/>
                    </a:lnTo>
                    <a:lnTo>
                      <a:pt x="6" y="6"/>
                    </a:lnTo>
                    <a:lnTo>
                      <a:pt x="3" y="7"/>
                    </a:lnTo>
                    <a:lnTo>
                      <a:pt x="2" y="8"/>
                    </a:lnTo>
                    <a:lnTo>
                      <a:pt x="1" y="10"/>
                    </a:lnTo>
                    <a:lnTo>
                      <a:pt x="0" y="12"/>
                    </a:lnTo>
                    <a:lnTo>
                      <a:pt x="0" y="14"/>
                    </a:lnTo>
                  </a:path>
                </a:pathLst>
              </a:custGeom>
              <a:solidFill>
                <a:srgbClr val="00DFC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sp>
          <p:nvSpPr>
            <p:cNvPr id="93356" name="Freeform 172"/>
            <p:cNvSpPr>
              <a:spLocks/>
            </p:cNvSpPr>
            <p:nvPr/>
          </p:nvSpPr>
          <p:spPr bwMode="auto">
            <a:xfrm>
              <a:off x="1393" y="3785"/>
              <a:ext cx="18" cy="7"/>
            </a:xfrm>
            <a:custGeom>
              <a:avLst/>
              <a:gdLst>
                <a:gd name="T0" fmla="*/ 0 w 18"/>
                <a:gd name="T1" fmla="*/ 0 h 7"/>
                <a:gd name="T2" fmla="*/ 17 w 18"/>
                <a:gd name="T3" fmla="*/ 0 h 7"/>
                <a:gd name="T4" fmla="*/ 17 w 18"/>
                <a:gd name="T5" fmla="*/ 6 h 7"/>
                <a:gd name="T6" fmla="*/ 0 w 18"/>
                <a:gd name="T7" fmla="*/ 6 h 7"/>
                <a:gd name="T8" fmla="*/ 0 w 18"/>
                <a:gd name="T9" fmla="*/ 0 h 7"/>
              </a:gdLst>
              <a:ahLst/>
              <a:cxnLst>
                <a:cxn ang="0">
                  <a:pos x="T0" y="T1"/>
                </a:cxn>
                <a:cxn ang="0">
                  <a:pos x="T2" y="T3"/>
                </a:cxn>
                <a:cxn ang="0">
                  <a:pos x="T4" y="T5"/>
                </a:cxn>
                <a:cxn ang="0">
                  <a:pos x="T6" y="T7"/>
                </a:cxn>
                <a:cxn ang="0">
                  <a:pos x="T8" y="T9"/>
                </a:cxn>
              </a:cxnLst>
              <a:rect l="0" t="0" r="r" b="b"/>
              <a:pathLst>
                <a:path w="18" h="7">
                  <a:moveTo>
                    <a:pt x="0" y="0"/>
                  </a:moveTo>
                  <a:lnTo>
                    <a:pt x="17" y="0"/>
                  </a:lnTo>
                  <a:lnTo>
                    <a:pt x="17" y="6"/>
                  </a:lnTo>
                  <a:lnTo>
                    <a:pt x="0" y="6"/>
                  </a:lnTo>
                  <a:lnTo>
                    <a:pt x="0" y="0"/>
                  </a:lnTo>
                </a:path>
              </a:pathLst>
            </a:custGeom>
            <a:solidFill>
              <a:srgbClr val="00FF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sz="1687" dirty="0">
                <a:latin typeface="Book Antiqua"/>
              </a:endParaRPr>
            </a:p>
          </p:txBody>
        </p:sp>
      </p:grpSp>
      <p:sp>
        <p:nvSpPr>
          <p:cNvPr id="2" name="Footer Placeholder 1">
            <a:extLst>
              <a:ext uri="{FF2B5EF4-FFF2-40B4-BE49-F238E27FC236}">
                <a16:creationId xmlns:a16="http://schemas.microsoft.com/office/drawing/2014/main" id="{DCEF31F8-9F59-3A4F-9854-A4CB18043F9A}"/>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C13B532A-52F1-D54B-BECA-22AFCD581883}"/>
              </a:ext>
            </a:extLst>
          </p:cNvPr>
          <p:cNvSpPr>
            <a:spLocks noGrp="1"/>
          </p:cNvSpPr>
          <p:nvPr>
            <p:ph type="sldNum" sz="quarter" idx="4"/>
          </p:nvPr>
        </p:nvSpPr>
        <p:spPr/>
        <p:txBody>
          <a:bodyPr/>
          <a:lstStyle/>
          <a:p>
            <a:fld id="{FD96158B-4539-3C43-9DE5-94C547866200}" type="slidenum">
              <a:rPr lang="en-US" smtClean="0"/>
              <a:t>25</a:t>
            </a:fld>
            <a:endParaRPr lang="en-US"/>
          </a:p>
        </p:txBody>
      </p:sp>
    </p:spTree>
    <p:extLst>
      <p:ext uri="{BB962C8B-B14F-4D97-AF65-F5344CB8AC3E}">
        <p14:creationId xmlns:p14="http://schemas.microsoft.com/office/powerpoint/2010/main" val="2928545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Line 2"/>
          <p:cNvSpPr>
            <a:spLocks noChangeShapeType="1"/>
          </p:cNvSpPr>
          <p:nvPr/>
        </p:nvSpPr>
        <p:spPr bwMode="auto">
          <a:xfrm>
            <a:off x="3154342" y="2295999"/>
            <a:ext cx="491351" cy="501777"/>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35" name="Line 3"/>
          <p:cNvSpPr>
            <a:spLocks noChangeShapeType="1"/>
          </p:cNvSpPr>
          <p:nvPr/>
        </p:nvSpPr>
        <p:spPr bwMode="auto">
          <a:xfrm flipV="1">
            <a:off x="6003926" y="2701044"/>
            <a:ext cx="390777" cy="296756"/>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36" name="Line 4"/>
          <p:cNvSpPr>
            <a:spLocks noChangeShapeType="1"/>
          </p:cNvSpPr>
          <p:nvPr/>
        </p:nvSpPr>
        <p:spPr bwMode="auto">
          <a:xfrm>
            <a:off x="5121276" y="4169332"/>
            <a:ext cx="257175" cy="436562"/>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37" name="Line 5"/>
          <p:cNvSpPr>
            <a:spLocks noChangeShapeType="1"/>
          </p:cNvSpPr>
          <p:nvPr/>
        </p:nvSpPr>
        <p:spPr bwMode="auto">
          <a:xfrm flipV="1">
            <a:off x="2799928" y="3785200"/>
            <a:ext cx="577478" cy="434763"/>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38" name="Rectangle 6"/>
          <p:cNvSpPr>
            <a:spLocks noGrp="1" noChangeArrowheads="1"/>
          </p:cNvSpPr>
          <p:nvPr>
            <p:ph type="title"/>
          </p:nvPr>
        </p:nvSpPr>
        <p:spPr>
          <a:noFill/>
          <a:ln/>
        </p:spPr>
        <p:txBody>
          <a:bodyPr/>
          <a:lstStyle/>
          <a:p>
            <a:r>
              <a:rPr lang="en-US"/>
              <a:t>Distributed DBMS - Reality</a:t>
            </a:r>
          </a:p>
        </p:txBody>
      </p:sp>
      <p:sp>
        <p:nvSpPr>
          <p:cNvPr id="95239" name="Oval 7"/>
          <p:cNvSpPr>
            <a:spLocks noChangeArrowheads="1"/>
          </p:cNvSpPr>
          <p:nvPr/>
        </p:nvSpPr>
        <p:spPr bwMode="auto">
          <a:xfrm>
            <a:off x="3213100" y="2592989"/>
            <a:ext cx="2967038" cy="1589087"/>
          </a:xfrm>
          <a:prstGeom prst="ellipse">
            <a:avLst/>
          </a:prstGeom>
          <a:solidFill>
            <a:srgbClr val="00DFCA"/>
          </a:solidFill>
          <a:ln w="508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pPr algn="ctr"/>
            <a:endParaRPr lang="en-US" sz="1406" dirty="0">
              <a:latin typeface="+mn-ea"/>
              <a:ea typeface="+mn-ea"/>
            </a:endParaRPr>
          </a:p>
        </p:txBody>
      </p:sp>
      <p:sp>
        <p:nvSpPr>
          <p:cNvPr id="95240" name="Rectangle 8"/>
          <p:cNvSpPr>
            <a:spLocks noChangeArrowheads="1"/>
          </p:cNvSpPr>
          <p:nvPr/>
        </p:nvSpPr>
        <p:spPr bwMode="auto">
          <a:xfrm>
            <a:off x="3851920" y="3140676"/>
            <a:ext cx="1768111" cy="572847"/>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algn="ctr" defTabSz="1006424">
              <a:lnSpc>
                <a:spcPct val="85000"/>
              </a:lnSpc>
            </a:pPr>
            <a:r>
              <a:rPr lang="en-US" sz="1969" b="1" dirty="0">
                <a:latin typeface="+mn-ea"/>
                <a:ea typeface="+mn-ea"/>
              </a:rPr>
              <a:t>Communication</a:t>
            </a:r>
          </a:p>
          <a:p>
            <a:pPr algn="ctr" defTabSz="1006424">
              <a:lnSpc>
                <a:spcPct val="85000"/>
              </a:lnSpc>
            </a:pPr>
            <a:r>
              <a:rPr lang="en-US" sz="1969" b="1" dirty="0">
                <a:latin typeface="+mn-ea"/>
                <a:ea typeface="+mn-ea"/>
              </a:rPr>
              <a:t>Subsystem</a:t>
            </a:r>
          </a:p>
        </p:txBody>
      </p:sp>
      <p:sp>
        <p:nvSpPr>
          <p:cNvPr id="95250" name="Line 18"/>
          <p:cNvSpPr>
            <a:spLocks noChangeShapeType="1"/>
          </p:cNvSpPr>
          <p:nvPr/>
        </p:nvSpPr>
        <p:spPr bwMode="auto">
          <a:xfrm flipH="1">
            <a:off x="2867025" y="3374038"/>
            <a:ext cx="31115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51" name="Line 19"/>
          <p:cNvSpPr>
            <a:spLocks noChangeShapeType="1"/>
          </p:cNvSpPr>
          <p:nvPr/>
        </p:nvSpPr>
        <p:spPr bwMode="auto">
          <a:xfrm flipH="1">
            <a:off x="1509709" y="3388325"/>
            <a:ext cx="41910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nvGrpSpPr>
          <p:cNvPr id="8" name="Group 7"/>
          <p:cNvGrpSpPr/>
          <p:nvPr/>
        </p:nvGrpSpPr>
        <p:grpSpPr>
          <a:xfrm>
            <a:off x="545362" y="2861835"/>
            <a:ext cx="964473" cy="1046263"/>
            <a:chOff x="378177" y="4283005"/>
            <a:chExt cx="1531903" cy="1661812"/>
          </a:xfrm>
        </p:grpSpPr>
        <p:sp>
          <p:nvSpPr>
            <p:cNvPr id="95241" name="Oval 9"/>
            <p:cNvSpPr>
              <a:spLocks noChangeArrowheads="1"/>
            </p:cNvSpPr>
            <p:nvPr/>
          </p:nvSpPr>
          <p:spPr bwMode="auto">
            <a:xfrm>
              <a:off x="379307" y="4283005"/>
              <a:ext cx="1530773" cy="349955"/>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42" name="Oval 10"/>
            <p:cNvSpPr>
              <a:spLocks noChangeArrowheads="1"/>
            </p:cNvSpPr>
            <p:nvPr/>
          </p:nvSpPr>
          <p:spPr bwMode="auto">
            <a:xfrm>
              <a:off x="379307" y="5592604"/>
              <a:ext cx="1530773" cy="352213"/>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43" name="Line 11"/>
            <p:cNvSpPr>
              <a:spLocks noChangeShapeType="1"/>
            </p:cNvSpPr>
            <p:nvPr/>
          </p:nvSpPr>
          <p:spPr bwMode="auto">
            <a:xfrm>
              <a:off x="378177" y="4448952"/>
              <a:ext cx="0" cy="1334347"/>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44" name="Line 12"/>
            <p:cNvSpPr>
              <a:spLocks noChangeShapeType="1"/>
            </p:cNvSpPr>
            <p:nvPr/>
          </p:nvSpPr>
          <p:spPr bwMode="auto">
            <a:xfrm>
              <a:off x="1910080" y="4474918"/>
              <a:ext cx="0" cy="1332089"/>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52" name="Oval 20"/>
            <p:cNvSpPr>
              <a:spLocks noChangeArrowheads="1"/>
            </p:cNvSpPr>
            <p:nvPr/>
          </p:nvSpPr>
          <p:spPr bwMode="auto">
            <a:xfrm>
              <a:off x="1034063" y="4842934"/>
              <a:ext cx="284480" cy="295768"/>
            </a:xfrm>
            <a:prstGeom prst="ellipse">
              <a:avLst/>
            </a:prstGeom>
            <a:solidFill>
              <a:srgbClr val="FAFD00"/>
            </a:solidFill>
            <a:ln w="508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53" name="Oval 21"/>
            <p:cNvSpPr>
              <a:spLocks noChangeArrowheads="1"/>
            </p:cNvSpPr>
            <p:nvPr/>
          </p:nvSpPr>
          <p:spPr bwMode="auto">
            <a:xfrm>
              <a:off x="496712" y="5414151"/>
              <a:ext cx="284480" cy="298027"/>
            </a:xfrm>
            <a:prstGeom prst="ellipse">
              <a:avLst/>
            </a:prstGeom>
            <a:solidFill>
              <a:srgbClr val="FAFD00"/>
            </a:solidFill>
            <a:ln w="508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54" name="Oval 22"/>
            <p:cNvSpPr>
              <a:spLocks noChangeArrowheads="1"/>
            </p:cNvSpPr>
            <p:nvPr/>
          </p:nvSpPr>
          <p:spPr bwMode="auto">
            <a:xfrm>
              <a:off x="1343378" y="5122898"/>
              <a:ext cx="340924" cy="349955"/>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55" name="Oval 23"/>
            <p:cNvSpPr>
              <a:spLocks noChangeArrowheads="1"/>
            </p:cNvSpPr>
            <p:nvPr/>
          </p:nvSpPr>
          <p:spPr bwMode="auto">
            <a:xfrm>
              <a:off x="1483361" y="4630703"/>
              <a:ext cx="338667" cy="349955"/>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56" name="Oval 24"/>
            <p:cNvSpPr>
              <a:spLocks noChangeArrowheads="1"/>
            </p:cNvSpPr>
            <p:nvPr/>
          </p:nvSpPr>
          <p:spPr bwMode="auto">
            <a:xfrm>
              <a:off x="946009" y="5450276"/>
              <a:ext cx="340924" cy="349956"/>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57" name="Oval 25"/>
            <p:cNvSpPr>
              <a:spLocks noChangeArrowheads="1"/>
            </p:cNvSpPr>
            <p:nvPr/>
          </p:nvSpPr>
          <p:spPr bwMode="auto">
            <a:xfrm>
              <a:off x="469618" y="4772942"/>
              <a:ext cx="338667" cy="352213"/>
            </a:xfrm>
            <a:prstGeom prst="ellipse">
              <a:avLst/>
            </a:prstGeom>
            <a:solidFill>
              <a:srgbClr val="DC0081"/>
            </a:solidFill>
            <a:ln w="12700">
              <a:solidFill>
                <a:srgbClr val="DC008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58" name="Oval 26"/>
            <p:cNvSpPr>
              <a:spLocks noChangeArrowheads="1"/>
            </p:cNvSpPr>
            <p:nvPr/>
          </p:nvSpPr>
          <p:spPr bwMode="auto">
            <a:xfrm>
              <a:off x="1463041" y="5551876"/>
              <a:ext cx="338667" cy="349955"/>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sp>
        <p:nvSpPr>
          <p:cNvPr id="95260" name="Line 28"/>
          <p:cNvSpPr>
            <a:spLocks noChangeShapeType="1"/>
          </p:cNvSpPr>
          <p:nvPr/>
        </p:nvSpPr>
        <p:spPr bwMode="auto">
          <a:xfrm>
            <a:off x="2004751" y="2295999"/>
            <a:ext cx="238125"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nvGrpSpPr>
          <p:cNvPr id="95261" name="Group 29"/>
          <p:cNvGrpSpPr>
            <a:grpSpLocks/>
          </p:cNvGrpSpPr>
          <p:nvPr/>
        </p:nvGrpSpPr>
        <p:grpSpPr bwMode="auto">
          <a:xfrm>
            <a:off x="1072474" y="1739063"/>
            <a:ext cx="928339" cy="1043199"/>
            <a:chOff x="699" y="865"/>
            <a:chExt cx="687" cy="772"/>
          </a:xfrm>
        </p:grpSpPr>
        <p:sp>
          <p:nvSpPr>
            <p:cNvPr id="95262" name="Oval 30"/>
            <p:cNvSpPr>
              <a:spLocks noChangeArrowheads="1"/>
            </p:cNvSpPr>
            <p:nvPr/>
          </p:nvSpPr>
          <p:spPr bwMode="auto">
            <a:xfrm>
              <a:off x="703" y="865"/>
              <a:ext cx="679" cy="155"/>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63" name="Oval 31"/>
            <p:cNvSpPr>
              <a:spLocks noChangeArrowheads="1"/>
            </p:cNvSpPr>
            <p:nvPr/>
          </p:nvSpPr>
          <p:spPr bwMode="auto">
            <a:xfrm>
              <a:off x="703" y="1481"/>
              <a:ext cx="679" cy="156"/>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64" name="Line 32"/>
            <p:cNvSpPr>
              <a:spLocks noChangeShapeType="1"/>
            </p:cNvSpPr>
            <p:nvPr/>
          </p:nvSpPr>
          <p:spPr bwMode="auto">
            <a:xfrm>
              <a:off x="699" y="946"/>
              <a:ext cx="0" cy="59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65" name="Line 33"/>
            <p:cNvSpPr>
              <a:spLocks noChangeShapeType="1"/>
            </p:cNvSpPr>
            <p:nvPr/>
          </p:nvSpPr>
          <p:spPr bwMode="auto">
            <a:xfrm>
              <a:off x="1386" y="965"/>
              <a:ext cx="0" cy="59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66" name="Oval 34"/>
            <p:cNvSpPr>
              <a:spLocks noChangeArrowheads="1"/>
            </p:cNvSpPr>
            <p:nvPr/>
          </p:nvSpPr>
          <p:spPr bwMode="auto">
            <a:xfrm>
              <a:off x="1014" y="1457"/>
              <a:ext cx="127" cy="131"/>
            </a:xfrm>
            <a:prstGeom prst="ellipse">
              <a:avLst/>
            </a:prstGeom>
            <a:solidFill>
              <a:srgbClr val="FAFD00"/>
            </a:solidFill>
            <a:ln w="508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67" name="Oval 35"/>
            <p:cNvSpPr>
              <a:spLocks noChangeArrowheads="1"/>
            </p:cNvSpPr>
            <p:nvPr/>
          </p:nvSpPr>
          <p:spPr bwMode="auto">
            <a:xfrm>
              <a:off x="1041" y="1094"/>
              <a:ext cx="126" cy="132"/>
            </a:xfrm>
            <a:prstGeom prst="ellipse">
              <a:avLst/>
            </a:prstGeom>
            <a:solidFill>
              <a:srgbClr val="FAFD00"/>
            </a:solidFill>
            <a:ln w="508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68" name="Oval 36"/>
            <p:cNvSpPr>
              <a:spLocks noChangeArrowheads="1"/>
            </p:cNvSpPr>
            <p:nvPr/>
          </p:nvSpPr>
          <p:spPr bwMode="auto">
            <a:xfrm>
              <a:off x="730" y="1237"/>
              <a:ext cx="150" cy="155"/>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69" name="Oval 37"/>
            <p:cNvSpPr>
              <a:spLocks noChangeArrowheads="1"/>
            </p:cNvSpPr>
            <p:nvPr/>
          </p:nvSpPr>
          <p:spPr bwMode="auto">
            <a:xfrm>
              <a:off x="1187" y="1436"/>
              <a:ext cx="151" cy="155"/>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70" name="Oval 38"/>
            <p:cNvSpPr>
              <a:spLocks noChangeArrowheads="1"/>
            </p:cNvSpPr>
            <p:nvPr/>
          </p:nvSpPr>
          <p:spPr bwMode="auto">
            <a:xfrm>
              <a:off x="818" y="1055"/>
              <a:ext cx="150" cy="155"/>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71" name="Oval 39"/>
            <p:cNvSpPr>
              <a:spLocks noChangeArrowheads="1"/>
            </p:cNvSpPr>
            <p:nvPr/>
          </p:nvSpPr>
          <p:spPr bwMode="auto">
            <a:xfrm>
              <a:off x="1178" y="1255"/>
              <a:ext cx="151" cy="155"/>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72" name="Oval 40"/>
            <p:cNvSpPr>
              <a:spLocks noChangeArrowheads="1"/>
            </p:cNvSpPr>
            <p:nvPr/>
          </p:nvSpPr>
          <p:spPr bwMode="auto">
            <a:xfrm>
              <a:off x="1214" y="1064"/>
              <a:ext cx="150" cy="155"/>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73" name="Oval 41"/>
            <p:cNvSpPr>
              <a:spLocks noChangeArrowheads="1"/>
            </p:cNvSpPr>
            <p:nvPr/>
          </p:nvSpPr>
          <p:spPr bwMode="auto">
            <a:xfrm>
              <a:off x="809" y="1445"/>
              <a:ext cx="150" cy="155"/>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sp>
          <p:nvSpPr>
            <p:cNvPr id="95274" name="Oval 42"/>
            <p:cNvSpPr>
              <a:spLocks noChangeArrowheads="1"/>
            </p:cNvSpPr>
            <p:nvPr/>
          </p:nvSpPr>
          <p:spPr bwMode="auto">
            <a:xfrm>
              <a:off x="976" y="1255"/>
              <a:ext cx="150" cy="155"/>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406" dirty="0">
                <a:latin typeface="+mn-ea"/>
                <a:ea typeface="+mn-ea"/>
              </a:endParaRPr>
            </a:p>
          </p:txBody>
        </p:sp>
      </p:grpSp>
      <p:sp>
        <p:nvSpPr>
          <p:cNvPr id="95281" name="Line 49"/>
          <p:cNvSpPr>
            <a:spLocks noChangeShapeType="1"/>
          </p:cNvSpPr>
          <p:nvPr/>
        </p:nvSpPr>
        <p:spPr bwMode="auto">
          <a:xfrm>
            <a:off x="3190061" y="2194738"/>
            <a:ext cx="393700" cy="19685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82" name="Line 50"/>
          <p:cNvSpPr>
            <a:spLocks noChangeShapeType="1"/>
          </p:cNvSpPr>
          <p:nvPr/>
        </p:nvSpPr>
        <p:spPr bwMode="auto">
          <a:xfrm flipV="1">
            <a:off x="3204973" y="1840324"/>
            <a:ext cx="414337" cy="2762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nvGrpSpPr>
          <p:cNvPr id="4" name="Group 3"/>
          <p:cNvGrpSpPr/>
          <p:nvPr/>
        </p:nvGrpSpPr>
        <p:grpSpPr>
          <a:xfrm>
            <a:off x="4892950" y="4574189"/>
            <a:ext cx="954830" cy="686636"/>
            <a:chOff x="6958862" y="6820748"/>
            <a:chExt cx="1357981" cy="976549"/>
          </a:xfrm>
        </p:grpSpPr>
        <p:sp>
          <p:nvSpPr>
            <p:cNvPr id="95283" name="Rectangle 51"/>
            <p:cNvSpPr>
              <a:spLocks noChangeArrowheads="1"/>
            </p:cNvSpPr>
            <p:nvPr/>
          </p:nvSpPr>
          <p:spPr bwMode="auto">
            <a:xfrm>
              <a:off x="6961426" y="6820748"/>
              <a:ext cx="1355417" cy="976549"/>
            </a:xfrm>
            <a:prstGeom prst="rect">
              <a:avLst/>
            </a:prstGeom>
            <a:solidFill>
              <a:srgbClr val="FF5008"/>
            </a:solidFill>
            <a:ln w="12700">
              <a:solidFill>
                <a:schemeClr val="tx1"/>
              </a:solidFill>
              <a:miter lim="800000"/>
              <a:headEnd/>
              <a:tailEnd/>
            </a:ln>
            <a:effectLst>
              <a:outerShdw blurRad="63500" dist="107763" dir="2700000" algn="ctr" rotWithShape="0">
                <a:schemeClr val="bg1">
                  <a:alpha val="75000"/>
                </a:schemeClr>
              </a:outerShdw>
            </a:effectLst>
          </p:spPr>
          <p:txBody>
            <a:bodyPr wrap="none" lIns="91439" tIns="45719" rIns="91439" bIns="45719" anchor="ctr"/>
            <a:lstStyle/>
            <a:p>
              <a:endParaRPr lang="en-US" sz="1547" dirty="0">
                <a:latin typeface="+mn-ea"/>
                <a:ea typeface="+mn-ea"/>
              </a:endParaRPr>
            </a:p>
          </p:txBody>
        </p:sp>
        <p:sp>
          <p:nvSpPr>
            <p:cNvPr id="95284" name="Rectangle 52"/>
            <p:cNvSpPr>
              <a:spLocks noChangeArrowheads="1"/>
            </p:cNvSpPr>
            <p:nvPr/>
          </p:nvSpPr>
          <p:spPr bwMode="auto">
            <a:xfrm>
              <a:off x="6958862" y="6988422"/>
              <a:ext cx="1263022" cy="691605"/>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547" b="1" dirty="0">
                  <a:latin typeface="+mn-ea"/>
                  <a:ea typeface="+mn-ea"/>
                </a:rPr>
                <a:t>DBMS</a:t>
              </a:r>
            </a:p>
            <a:p>
              <a:pPr defTabSz="1006424">
                <a:lnSpc>
                  <a:spcPct val="90000"/>
                </a:lnSpc>
              </a:pPr>
              <a:r>
                <a:rPr lang="en-US" sz="1547" b="1" dirty="0">
                  <a:latin typeface="+mn-ea"/>
                  <a:ea typeface="+mn-ea"/>
                </a:rPr>
                <a:t>Software</a:t>
              </a:r>
            </a:p>
          </p:txBody>
        </p:sp>
      </p:grpSp>
      <p:grpSp>
        <p:nvGrpSpPr>
          <p:cNvPr id="3" name="Group 2"/>
          <p:cNvGrpSpPr/>
          <p:nvPr/>
        </p:nvGrpSpPr>
        <p:grpSpPr>
          <a:xfrm>
            <a:off x="6040288" y="5107250"/>
            <a:ext cx="876414" cy="986046"/>
            <a:chOff x="8901289" y="7434863"/>
            <a:chExt cx="1534160" cy="1726072"/>
          </a:xfrm>
        </p:grpSpPr>
        <p:sp>
          <p:nvSpPr>
            <p:cNvPr id="95245" name="Oval 13"/>
            <p:cNvSpPr>
              <a:spLocks noChangeArrowheads="1"/>
            </p:cNvSpPr>
            <p:nvPr/>
          </p:nvSpPr>
          <p:spPr bwMode="auto">
            <a:xfrm>
              <a:off x="8902419" y="7434863"/>
              <a:ext cx="1533030" cy="349955"/>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46" name="Oval 14"/>
            <p:cNvSpPr>
              <a:spLocks noChangeArrowheads="1"/>
            </p:cNvSpPr>
            <p:nvPr/>
          </p:nvSpPr>
          <p:spPr bwMode="auto">
            <a:xfrm>
              <a:off x="8902419" y="8810979"/>
              <a:ext cx="1533030" cy="349956"/>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47" name="Line 15"/>
            <p:cNvSpPr>
              <a:spLocks noChangeShapeType="1"/>
            </p:cNvSpPr>
            <p:nvPr/>
          </p:nvSpPr>
          <p:spPr bwMode="auto">
            <a:xfrm>
              <a:off x="8901289" y="7636934"/>
              <a:ext cx="0" cy="1332089"/>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48" name="Line 16"/>
            <p:cNvSpPr>
              <a:spLocks noChangeShapeType="1"/>
            </p:cNvSpPr>
            <p:nvPr/>
          </p:nvSpPr>
          <p:spPr bwMode="auto">
            <a:xfrm>
              <a:off x="10435449" y="7643708"/>
              <a:ext cx="0" cy="1332089"/>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85" name="Oval 53"/>
            <p:cNvSpPr>
              <a:spLocks noChangeArrowheads="1"/>
            </p:cNvSpPr>
            <p:nvPr/>
          </p:nvSpPr>
          <p:spPr bwMode="auto">
            <a:xfrm>
              <a:off x="9509761" y="7886418"/>
              <a:ext cx="338667" cy="349955"/>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86" name="Oval 54"/>
            <p:cNvSpPr>
              <a:spLocks noChangeArrowheads="1"/>
            </p:cNvSpPr>
            <p:nvPr/>
          </p:nvSpPr>
          <p:spPr bwMode="auto">
            <a:xfrm>
              <a:off x="9708445" y="8764694"/>
              <a:ext cx="338667" cy="352213"/>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87" name="Oval 55"/>
            <p:cNvSpPr>
              <a:spLocks noChangeArrowheads="1"/>
            </p:cNvSpPr>
            <p:nvPr/>
          </p:nvSpPr>
          <p:spPr bwMode="auto">
            <a:xfrm>
              <a:off x="8972410" y="7823201"/>
              <a:ext cx="340925" cy="352213"/>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88" name="Oval 56"/>
            <p:cNvSpPr>
              <a:spLocks noChangeArrowheads="1"/>
            </p:cNvSpPr>
            <p:nvPr/>
          </p:nvSpPr>
          <p:spPr bwMode="auto">
            <a:xfrm>
              <a:off x="10065174" y="8396676"/>
              <a:ext cx="340925" cy="349955"/>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89" name="Oval 57"/>
            <p:cNvSpPr>
              <a:spLocks noChangeArrowheads="1"/>
            </p:cNvSpPr>
            <p:nvPr/>
          </p:nvSpPr>
          <p:spPr bwMode="auto">
            <a:xfrm>
              <a:off x="9530081" y="8376356"/>
              <a:ext cx="338667" cy="349956"/>
            </a:xfrm>
            <a:prstGeom prst="ellipse">
              <a:avLst/>
            </a:prstGeom>
            <a:solidFill>
              <a:srgbClr val="DC0081"/>
            </a:solidFill>
            <a:ln w="12700">
              <a:solidFill>
                <a:srgbClr val="DC008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90" name="Oval 58"/>
            <p:cNvSpPr>
              <a:spLocks noChangeArrowheads="1"/>
            </p:cNvSpPr>
            <p:nvPr/>
          </p:nvSpPr>
          <p:spPr bwMode="auto">
            <a:xfrm>
              <a:off x="9112392" y="8683414"/>
              <a:ext cx="338667" cy="349956"/>
            </a:xfrm>
            <a:prstGeom prst="ellipse">
              <a:avLst/>
            </a:prstGeom>
            <a:solidFill>
              <a:srgbClr val="FF5008"/>
            </a:solidFill>
            <a:ln w="12700">
              <a:solidFill>
                <a:srgbClr val="FF500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91" name="Oval 59"/>
            <p:cNvSpPr>
              <a:spLocks noChangeArrowheads="1"/>
            </p:cNvSpPr>
            <p:nvPr/>
          </p:nvSpPr>
          <p:spPr bwMode="auto">
            <a:xfrm>
              <a:off x="9974863" y="7913512"/>
              <a:ext cx="284480" cy="295768"/>
            </a:xfrm>
            <a:prstGeom prst="ellipse">
              <a:avLst/>
            </a:prstGeom>
            <a:solidFill>
              <a:srgbClr val="FAFD00"/>
            </a:solidFill>
            <a:ln w="508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92" name="Oval 60"/>
            <p:cNvSpPr>
              <a:spLocks noChangeArrowheads="1"/>
            </p:cNvSpPr>
            <p:nvPr/>
          </p:nvSpPr>
          <p:spPr bwMode="auto">
            <a:xfrm>
              <a:off x="9019823" y="8281529"/>
              <a:ext cx="286737" cy="295770"/>
            </a:xfrm>
            <a:prstGeom prst="ellipse">
              <a:avLst/>
            </a:prstGeom>
            <a:solidFill>
              <a:srgbClr val="FAFD00"/>
            </a:solidFill>
            <a:ln w="508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grpSp>
        <p:nvGrpSpPr>
          <p:cNvPr id="5" name="Group 4"/>
          <p:cNvGrpSpPr/>
          <p:nvPr/>
        </p:nvGrpSpPr>
        <p:grpSpPr>
          <a:xfrm>
            <a:off x="6165362" y="4141637"/>
            <a:ext cx="1067986" cy="534002"/>
            <a:chOff x="8998734" y="6308231"/>
            <a:chExt cx="1518913" cy="759469"/>
          </a:xfrm>
        </p:grpSpPr>
        <p:sp>
          <p:nvSpPr>
            <p:cNvPr id="95293" name="AutoShape 61"/>
            <p:cNvSpPr>
              <a:spLocks noChangeArrowheads="1"/>
            </p:cNvSpPr>
            <p:nvPr/>
          </p:nvSpPr>
          <p:spPr bwMode="auto">
            <a:xfrm>
              <a:off x="9027216" y="6308231"/>
              <a:ext cx="1490431" cy="759469"/>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94" name="Rectangle 62"/>
            <p:cNvSpPr>
              <a:spLocks noChangeArrowheads="1"/>
            </p:cNvSpPr>
            <p:nvPr/>
          </p:nvSpPr>
          <p:spPr bwMode="auto">
            <a:xfrm>
              <a:off x="8998734" y="6367366"/>
              <a:ext cx="1381572" cy="635978"/>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508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406" dirty="0">
                  <a:latin typeface="+mn-ea"/>
                  <a:ea typeface="+mn-ea"/>
                </a:rPr>
                <a:t>User</a:t>
              </a:r>
            </a:p>
            <a:p>
              <a:pPr defTabSz="1006424">
                <a:lnSpc>
                  <a:spcPct val="90000"/>
                </a:lnSpc>
              </a:pPr>
              <a:r>
                <a:rPr lang="en-US" sz="1406" dirty="0">
                  <a:latin typeface="+mn-ea"/>
                  <a:ea typeface="+mn-ea"/>
                </a:rPr>
                <a:t>Application</a:t>
              </a:r>
            </a:p>
          </p:txBody>
        </p:sp>
      </p:grpSp>
      <p:sp>
        <p:nvSpPr>
          <p:cNvPr id="95295" name="Line 63"/>
          <p:cNvSpPr>
            <a:spLocks noChangeShapeType="1"/>
          </p:cNvSpPr>
          <p:nvPr/>
        </p:nvSpPr>
        <p:spPr bwMode="auto">
          <a:xfrm>
            <a:off x="5638801" y="5247488"/>
            <a:ext cx="401487" cy="39013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96" name="Line 64"/>
          <p:cNvSpPr>
            <a:spLocks noChangeShapeType="1"/>
          </p:cNvSpPr>
          <p:nvPr/>
        </p:nvSpPr>
        <p:spPr bwMode="auto">
          <a:xfrm flipH="1">
            <a:off x="5837766" y="4422486"/>
            <a:ext cx="349250" cy="376237"/>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nvGrpSpPr>
          <p:cNvPr id="2" name="Group 1"/>
          <p:cNvGrpSpPr/>
          <p:nvPr/>
        </p:nvGrpSpPr>
        <p:grpSpPr>
          <a:xfrm>
            <a:off x="3630487" y="4348043"/>
            <a:ext cx="968332" cy="494101"/>
            <a:chOff x="5134248" y="6681617"/>
            <a:chExt cx="1377183" cy="702721"/>
          </a:xfrm>
        </p:grpSpPr>
        <p:sp>
          <p:nvSpPr>
            <p:cNvPr id="95297" name="AutoShape 65"/>
            <p:cNvSpPr>
              <a:spLocks noChangeArrowheads="1"/>
            </p:cNvSpPr>
            <p:nvPr/>
          </p:nvSpPr>
          <p:spPr bwMode="auto">
            <a:xfrm>
              <a:off x="5134248" y="6681617"/>
              <a:ext cx="1377183" cy="702721"/>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298" name="Rectangle 66"/>
            <p:cNvSpPr>
              <a:spLocks noChangeArrowheads="1"/>
            </p:cNvSpPr>
            <p:nvPr/>
          </p:nvSpPr>
          <p:spPr bwMode="auto">
            <a:xfrm>
              <a:off x="5360976" y="6712378"/>
              <a:ext cx="850374" cy="635978"/>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508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406" dirty="0">
                  <a:latin typeface="+mn-ea"/>
                  <a:ea typeface="+mn-ea"/>
                </a:rPr>
                <a:t>User</a:t>
              </a:r>
            </a:p>
            <a:p>
              <a:pPr defTabSz="1006424">
                <a:lnSpc>
                  <a:spcPct val="90000"/>
                </a:lnSpc>
              </a:pPr>
              <a:r>
                <a:rPr lang="en-US" sz="1406" dirty="0">
                  <a:latin typeface="+mn-ea"/>
                  <a:ea typeface="+mn-ea"/>
                </a:rPr>
                <a:t>Query</a:t>
              </a:r>
            </a:p>
          </p:txBody>
        </p:sp>
      </p:grpSp>
      <p:sp>
        <p:nvSpPr>
          <p:cNvPr id="95299" name="Line 67"/>
          <p:cNvSpPr>
            <a:spLocks noChangeShapeType="1"/>
          </p:cNvSpPr>
          <p:nvPr/>
        </p:nvSpPr>
        <p:spPr bwMode="auto">
          <a:xfrm>
            <a:off x="4602957" y="4557520"/>
            <a:ext cx="280988" cy="39052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04" name="Line 72"/>
          <p:cNvSpPr>
            <a:spLocks noChangeShapeType="1"/>
          </p:cNvSpPr>
          <p:nvPr/>
        </p:nvSpPr>
        <p:spPr bwMode="auto">
          <a:xfrm flipH="1">
            <a:off x="1989838" y="4922167"/>
            <a:ext cx="514689" cy="4623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nvGrpSpPr>
          <p:cNvPr id="7" name="Group 6"/>
          <p:cNvGrpSpPr/>
          <p:nvPr/>
        </p:nvGrpSpPr>
        <p:grpSpPr>
          <a:xfrm>
            <a:off x="6381543" y="2335557"/>
            <a:ext cx="943474" cy="669271"/>
            <a:chOff x="9224543" y="3504073"/>
            <a:chExt cx="1341829" cy="951852"/>
          </a:xfrm>
        </p:grpSpPr>
        <p:sp>
          <p:nvSpPr>
            <p:cNvPr id="95309" name="Rectangle 77"/>
            <p:cNvSpPr>
              <a:spLocks noChangeArrowheads="1"/>
            </p:cNvSpPr>
            <p:nvPr/>
          </p:nvSpPr>
          <p:spPr bwMode="auto">
            <a:xfrm>
              <a:off x="9243259" y="3504073"/>
              <a:ext cx="1323113" cy="951852"/>
            </a:xfrm>
            <a:prstGeom prst="rect">
              <a:avLst/>
            </a:prstGeom>
            <a:solidFill>
              <a:srgbClr val="FF5008"/>
            </a:solidFill>
            <a:ln w="12700">
              <a:solidFill>
                <a:schemeClr val="tx1"/>
              </a:solidFill>
              <a:miter lim="800000"/>
              <a:headEnd/>
              <a:tailEnd/>
            </a:ln>
            <a:effectLst>
              <a:outerShdw blurRad="63500" dist="107763" dir="2700000" algn="ctr" rotWithShape="0">
                <a:schemeClr val="bg1">
                  <a:alpha val="75000"/>
                </a:schemeClr>
              </a:outerShdw>
            </a:effectLst>
          </p:spPr>
          <p:txBody>
            <a:bodyPr wrap="none" lIns="91439" tIns="45719" rIns="91439" bIns="45719" anchor="ctr"/>
            <a:lstStyle/>
            <a:p>
              <a:endParaRPr lang="en-US" sz="1547" dirty="0">
                <a:latin typeface="+mn-ea"/>
                <a:ea typeface="+mn-ea"/>
              </a:endParaRPr>
            </a:p>
          </p:txBody>
        </p:sp>
        <p:sp>
          <p:nvSpPr>
            <p:cNvPr id="95310" name="Rectangle 78"/>
            <p:cNvSpPr>
              <a:spLocks noChangeArrowheads="1"/>
            </p:cNvSpPr>
            <p:nvPr/>
          </p:nvSpPr>
          <p:spPr bwMode="auto">
            <a:xfrm>
              <a:off x="9224543" y="3655343"/>
              <a:ext cx="1263021" cy="691605"/>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547" b="1" dirty="0">
                  <a:latin typeface="+mn-ea"/>
                  <a:ea typeface="+mn-ea"/>
                </a:rPr>
                <a:t>DBMS</a:t>
              </a:r>
            </a:p>
            <a:p>
              <a:pPr defTabSz="1006424">
                <a:lnSpc>
                  <a:spcPct val="90000"/>
                </a:lnSpc>
              </a:pPr>
              <a:r>
                <a:rPr lang="en-US" sz="1547" b="1" dirty="0">
                  <a:latin typeface="+mn-ea"/>
                  <a:ea typeface="+mn-ea"/>
                </a:rPr>
                <a:t>Software</a:t>
              </a:r>
            </a:p>
          </p:txBody>
        </p:sp>
      </p:grpSp>
      <p:grpSp>
        <p:nvGrpSpPr>
          <p:cNvPr id="6" name="Group 5"/>
          <p:cNvGrpSpPr/>
          <p:nvPr/>
        </p:nvGrpSpPr>
        <p:grpSpPr>
          <a:xfrm>
            <a:off x="7711099" y="1840324"/>
            <a:ext cx="936061" cy="1028632"/>
            <a:chOff x="11147777" y="2113281"/>
            <a:chExt cx="1531903" cy="1683399"/>
          </a:xfrm>
        </p:grpSpPr>
        <p:sp>
          <p:nvSpPr>
            <p:cNvPr id="95305" name="Oval 73"/>
            <p:cNvSpPr>
              <a:spLocks noChangeArrowheads="1"/>
            </p:cNvSpPr>
            <p:nvPr/>
          </p:nvSpPr>
          <p:spPr bwMode="auto">
            <a:xfrm>
              <a:off x="11148907" y="2113281"/>
              <a:ext cx="1530773" cy="349956"/>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06" name="Oval 74"/>
            <p:cNvSpPr>
              <a:spLocks noChangeArrowheads="1"/>
            </p:cNvSpPr>
            <p:nvPr/>
          </p:nvSpPr>
          <p:spPr bwMode="auto">
            <a:xfrm>
              <a:off x="11148907" y="3446724"/>
              <a:ext cx="1530773" cy="349956"/>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07" name="Line 75"/>
            <p:cNvSpPr>
              <a:spLocks noChangeShapeType="1"/>
            </p:cNvSpPr>
            <p:nvPr/>
          </p:nvSpPr>
          <p:spPr bwMode="auto">
            <a:xfrm>
              <a:off x="11147777" y="2296161"/>
              <a:ext cx="0" cy="1334346"/>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08" name="Line 76"/>
            <p:cNvSpPr>
              <a:spLocks noChangeShapeType="1"/>
            </p:cNvSpPr>
            <p:nvPr/>
          </p:nvSpPr>
          <p:spPr bwMode="auto">
            <a:xfrm>
              <a:off x="12679680" y="2302935"/>
              <a:ext cx="0" cy="1334346"/>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11" name="Oval 79"/>
            <p:cNvSpPr>
              <a:spLocks noChangeArrowheads="1"/>
            </p:cNvSpPr>
            <p:nvPr/>
          </p:nvSpPr>
          <p:spPr bwMode="auto">
            <a:xfrm>
              <a:off x="11722383" y="3398498"/>
              <a:ext cx="284480" cy="295770"/>
            </a:xfrm>
            <a:prstGeom prst="ellipse">
              <a:avLst/>
            </a:prstGeom>
            <a:solidFill>
              <a:srgbClr val="FAFD00"/>
            </a:solidFill>
            <a:ln w="508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12" name="Oval 80"/>
            <p:cNvSpPr>
              <a:spLocks noChangeArrowheads="1"/>
            </p:cNvSpPr>
            <p:nvPr/>
          </p:nvSpPr>
          <p:spPr bwMode="auto">
            <a:xfrm>
              <a:off x="12210148" y="3364632"/>
              <a:ext cx="340924" cy="349956"/>
            </a:xfrm>
            <a:prstGeom prst="ellipse">
              <a:avLst/>
            </a:prstGeom>
            <a:solidFill>
              <a:srgbClr val="438E00"/>
            </a:solidFill>
            <a:ln w="12700">
              <a:solidFill>
                <a:srgbClr val="438E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13" name="Oval 81"/>
            <p:cNvSpPr>
              <a:spLocks noChangeArrowheads="1"/>
            </p:cNvSpPr>
            <p:nvPr/>
          </p:nvSpPr>
          <p:spPr bwMode="auto">
            <a:xfrm>
              <a:off x="12318436" y="2815450"/>
              <a:ext cx="284480" cy="295768"/>
            </a:xfrm>
            <a:prstGeom prst="ellipse">
              <a:avLst/>
            </a:prstGeom>
            <a:solidFill>
              <a:srgbClr val="FAFD00"/>
            </a:solidFill>
            <a:ln w="50800">
              <a:solidFill>
                <a:srgbClr val="FAFD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14" name="Oval 82"/>
            <p:cNvSpPr>
              <a:spLocks noChangeArrowheads="1"/>
            </p:cNvSpPr>
            <p:nvPr/>
          </p:nvSpPr>
          <p:spPr bwMode="auto">
            <a:xfrm>
              <a:off x="11338561" y="3176694"/>
              <a:ext cx="338667" cy="349955"/>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15" name="Oval 83"/>
            <p:cNvSpPr>
              <a:spLocks noChangeArrowheads="1"/>
            </p:cNvSpPr>
            <p:nvPr/>
          </p:nvSpPr>
          <p:spPr bwMode="auto">
            <a:xfrm>
              <a:off x="11934614" y="3054774"/>
              <a:ext cx="338667" cy="349955"/>
            </a:xfrm>
            <a:prstGeom prst="ellipse">
              <a:avLst/>
            </a:prstGeom>
            <a:solidFill>
              <a:srgbClr val="00DFCA"/>
            </a:solidFill>
            <a:ln w="12700">
              <a:solidFill>
                <a:srgbClr val="00DFCA"/>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16" name="Oval 84"/>
            <p:cNvSpPr>
              <a:spLocks noChangeArrowheads="1"/>
            </p:cNvSpPr>
            <p:nvPr/>
          </p:nvSpPr>
          <p:spPr bwMode="auto">
            <a:xfrm>
              <a:off x="11616268" y="2747716"/>
              <a:ext cx="338667" cy="349955"/>
            </a:xfrm>
            <a:prstGeom prst="ellipse">
              <a:avLst/>
            </a:prstGeom>
            <a:solidFill>
              <a:srgbClr val="FC0128"/>
            </a:solidFill>
            <a:ln w="12700">
              <a:solidFill>
                <a:srgbClr val="FC0128"/>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17" name="Oval 85"/>
            <p:cNvSpPr>
              <a:spLocks noChangeArrowheads="1"/>
            </p:cNvSpPr>
            <p:nvPr/>
          </p:nvSpPr>
          <p:spPr bwMode="auto">
            <a:xfrm>
              <a:off x="11218899" y="2666436"/>
              <a:ext cx="338667" cy="349955"/>
            </a:xfrm>
            <a:prstGeom prst="ellipse">
              <a:avLst/>
            </a:prstGeom>
            <a:solidFill>
              <a:srgbClr val="DC0081"/>
            </a:solidFill>
            <a:ln w="12700">
              <a:solidFill>
                <a:srgbClr val="DC008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95318" name="Oval 86"/>
            <p:cNvSpPr>
              <a:spLocks noChangeArrowheads="1"/>
            </p:cNvSpPr>
            <p:nvPr/>
          </p:nvSpPr>
          <p:spPr bwMode="auto">
            <a:xfrm>
              <a:off x="11972996" y="2501619"/>
              <a:ext cx="340924" cy="349956"/>
            </a:xfrm>
            <a:prstGeom prst="ellipse">
              <a:avLst/>
            </a:prstGeom>
            <a:solidFill>
              <a:srgbClr val="8901F3"/>
            </a:solidFill>
            <a:ln w="12700">
              <a:solidFill>
                <a:srgbClr val="8901F3"/>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sp>
        <p:nvSpPr>
          <p:cNvPr id="95319" name="Line 87"/>
          <p:cNvSpPr>
            <a:spLocks noChangeShapeType="1"/>
          </p:cNvSpPr>
          <p:nvPr/>
        </p:nvSpPr>
        <p:spPr bwMode="auto">
          <a:xfrm flipV="1">
            <a:off x="7306054" y="2397260"/>
            <a:ext cx="405045" cy="271801"/>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grpSp>
        <p:nvGrpSpPr>
          <p:cNvPr id="94" name="Group 93"/>
          <p:cNvGrpSpPr/>
          <p:nvPr/>
        </p:nvGrpSpPr>
        <p:grpSpPr>
          <a:xfrm>
            <a:off x="2190558" y="4219963"/>
            <a:ext cx="954830" cy="686636"/>
            <a:chOff x="6958862" y="6820748"/>
            <a:chExt cx="1357981" cy="976549"/>
          </a:xfrm>
          <a:effectLst>
            <a:outerShdw blurRad="50800" dist="50800" dir="5400000" algn="ctr" rotWithShape="0">
              <a:schemeClr val="bg1"/>
            </a:outerShdw>
          </a:effectLst>
        </p:grpSpPr>
        <p:sp>
          <p:nvSpPr>
            <p:cNvPr id="95" name="Rectangle 51"/>
            <p:cNvSpPr>
              <a:spLocks noChangeArrowheads="1"/>
            </p:cNvSpPr>
            <p:nvPr/>
          </p:nvSpPr>
          <p:spPr bwMode="auto">
            <a:xfrm>
              <a:off x="6961426" y="6820748"/>
              <a:ext cx="1355417" cy="976549"/>
            </a:xfrm>
            <a:prstGeom prst="rect">
              <a:avLst/>
            </a:prstGeom>
            <a:solidFill>
              <a:srgbClr val="FF5008"/>
            </a:solidFill>
            <a:ln w="12700">
              <a:solidFill>
                <a:schemeClr val="tx1"/>
              </a:solidFill>
              <a:miter lim="800000"/>
              <a:headEnd/>
              <a:tailEnd/>
            </a:ln>
            <a:effectLst>
              <a:outerShdw blurRad="63500" dist="107763" dir="2700000" algn="ctr" rotWithShape="0">
                <a:schemeClr val="bg1">
                  <a:alpha val="75000"/>
                </a:schemeClr>
              </a:outerShdw>
            </a:effectLst>
          </p:spPr>
          <p:txBody>
            <a:bodyPr wrap="none" lIns="91439" tIns="45719" rIns="91439" bIns="45719" anchor="ctr"/>
            <a:lstStyle/>
            <a:p>
              <a:endParaRPr lang="en-US" sz="1547" dirty="0">
                <a:latin typeface="+mn-ea"/>
                <a:ea typeface="+mn-ea"/>
              </a:endParaRPr>
            </a:p>
          </p:txBody>
        </p:sp>
        <p:sp>
          <p:nvSpPr>
            <p:cNvPr id="96" name="Rectangle 52"/>
            <p:cNvSpPr>
              <a:spLocks noChangeArrowheads="1"/>
            </p:cNvSpPr>
            <p:nvPr/>
          </p:nvSpPr>
          <p:spPr bwMode="auto">
            <a:xfrm>
              <a:off x="6958862" y="6988422"/>
              <a:ext cx="1263022" cy="691605"/>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547" b="1" dirty="0">
                  <a:latin typeface="+mn-ea"/>
                  <a:ea typeface="+mn-ea"/>
                </a:rPr>
                <a:t>DBMS</a:t>
              </a:r>
            </a:p>
            <a:p>
              <a:pPr defTabSz="1006424">
                <a:lnSpc>
                  <a:spcPct val="90000"/>
                </a:lnSpc>
              </a:pPr>
              <a:r>
                <a:rPr lang="en-US" sz="1547" b="1" dirty="0">
                  <a:latin typeface="+mn-ea"/>
                  <a:ea typeface="+mn-ea"/>
                </a:rPr>
                <a:t>Software</a:t>
              </a:r>
            </a:p>
          </p:txBody>
        </p:sp>
      </p:grpSp>
      <p:grpSp>
        <p:nvGrpSpPr>
          <p:cNvPr id="97" name="Group 96"/>
          <p:cNvGrpSpPr/>
          <p:nvPr/>
        </p:nvGrpSpPr>
        <p:grpSpPr>
          <a:xfrm>
            <a:off x="1937405" y="3055459"/>
            <a:ext cx="954830" cy="686636"/>
            <a:chOff x="6958862" y="6820748"/>
            <a:chExt cx="1357981" cy="976549"/>
          </a:xfrm>
          <a:effectLst>
            <a:outerShdw blurRad="50800" dist="50800" dir="5400000" algn="ctr" rotWithShape="0">
              <a:schemeClr val="bg1"/>
            </a:outerShdw>
          </a:effectLst>
        </p:grpSpPr>
        <p:sp>
          <p:nvSpPr>
            <p:cNvPr id="98" name="Rectangle 51"/>
            <p:cNvSpPr>
              <a:spLocks noChangeArrowheads="1"/>
            </p:cNvSpPr>
            <p:nvPr/>
          </p:nvSpPr>
          <p:spPr bwMode="auto">
            <a:xfrm>
              <a:off x="6961426" y="6820748"/>
              <a:ext cx="1355417" cy="976549"/>
            </a:xfrm>
            <a:prstGeom prst="rect">
              <a:avLst/>
            </a:prstGeom>
            <a:solidFill>
              <a:srgbClr val="FF5008"/>
            </a:solidFill>
            <a:ln w="12700">
              <a:solidFill>
                <a:schemeClr val="tx1"/>
              </a:solidFill>
              <a:miter lim="800000"/>
              <a:headEnd/>
              <a:tailEnd/>
            </a:ln>
            <a:effectLst>
              <a:outerShdw blurRad="63500" dist="107763" dir="2700000" algn="ctr" rotWithShape="0">
                <a:schemeClr val="bg1">
                  <a:alpha val="75000"/>
                </a:schemeClr>
              </a:outerShdw>
            </a:effectLst>
          </p:spPr>
          <p:txBody>
            <a:bodyPr wrap="none" lIns="91439" tIns="45719" rIns="91439" bIns="45719" anchor="ctr"/>
            <a:lstStyle/>
            <a:p>
              <a:endParaRPr lang="en-US" sz="1547" dirty="0">
                <a:latin typeface="+mn-ea"/>
                <a:ea typeface="+mn-ea"/>
              </a:endParaRPr>
            </a:p>
          </p:txBody>
        </p:sp>
        <p:sp>
          <p:nvSpPr>
            <p:cNvPr id="99" name="Rectangle 52"/>
            <p:cNvSpPr>
              <a:spLocks noChangeArrowheads="1"/>
            </p:cNvSpPr>
            <p:nvPr/>
          </p:nvSpPr>
          <p:spPr bwMode="auto">
            <a:xfrm>
              <a:off x="6958862" y="6988422"/>
              <a:ext cx="1263022" cy="691605"/>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547" b="1" dirty="0">
                  <a:latin typeface="+mn-ea"/>
                  <a:ea typeface="+mn-ea"/>
                </a:rPr>
                <a:t>DBMS</a:t>
              </a:r>
            </a:p>
            <a:p>
              <a:pPr defTabSz="1006424">
                <a:lnSpc>
                  <a:spcPct val="90000"/>
                </a:lnSpc>
              </a:pPr>
              <a:r>
                <a:rPr lang="en-US" sz="1547" b="1" dirty="0">
                  <a:latin typeface="+mn-ea"/>
                  <a:ea typeface="+mn-ea"/>
                </a:rPr>
                <a:t>Software</a:t>
              </a:r>
            </a:p>
          </p:txBody>
        </p:sp>
      </p:grpSp>
      <p:grpSp>
        <p:nvGrpSpPr>
          <p:cNvPr id="101" name="Group 100"/>
          <p:cNvGrpSpPr/>
          <p:nvPr/>
        </p:nvGrpSpPr>
        <p:grpSpPr>
          <a:xfrm>
            <a:off x="1483532" y="5384467"/>
            <a:ext cx="968332" cy="494101"/>
            <a:chOff x="5134248" y="6681617"/>
            <a:chExt cx="1377183" cy="702721"/>
          </a:xfrm>
        </p:grpSpPr>
        <p:sp>
          <p:nvSpPr>
            <p:cNvPr id="102" name="AutoShape 65"/>
            <p:cNvSpPr>
              <a:spLocks noChangeArrowheads="1"/>
            </p:cNvSpPr>
            <p:nvPr/>
          </p:nvSpPr>
          <p:spPr bwMode="auto">
            <a:xfrm>
              <a:off x="5134248" y="6681617"/>
              <a:ext cx="1377183" cy="702721"/>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103" name="Rectangle 66"/>
            <p:cNvSpPr>
              <a:spLocks noChangeArrowheads="1"/>
            </p:cNvSpPr>
            <p:nvPr/>
          </p:nvSpPr>
          <p:spPr bwMode="auto">
            <a:xfrm>
              <a:off x="5360976" y="6712378"/>
              <a:ext cx="850374" cy="635978"/>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508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406" dirty="0">
                  <a:latin typeface="+mn-ea"/>
                  <a:ea typeface="+mn-ea"/>
                </a:rPr>
                <a:t>User</a:t>
              </a:r>
            </a:p>
            <a:p>
              <a:pPr defTabSz="1006424">
                <a:lnSpc>
                  <a:spcPct val="90000"/>
                </a:lnSpc>
              </a:pPr>
              <a:r>
                <a:rPr lang="en-US" sz="1406" dirty="0">
                  <a:latin typeface="+mn-ea"/>
                  <a:ea typeface="+mn-ea"/>
                </a:rPr>
                <a:t>Query</a:t>
              </a:r>
            </a:p>
          </p:txBody>
        </p:sp>
      </p:grpSp>
      <p:grpSp>
        <p:nvGrpSpPr>
          <p:cNvPr id="104" name="Group 103"/>
          <p:cNvGrpSpPr/>
          <p:nvPr/>
        </p:nvGrpSpPr>
        <p:grpSpPr>
          <a:xfrm>
            <a:off x="2241189" y="1992216"/>
            <a:ext cx="954830" cy="686636"/>
            <a:chOff x="6958862" y="6820748"/>
            <a:chExt cx="1357981" cy="976549"/>
          </a:xfrm>
          <a:effectLst>
            <a:outerShdw blurRad="50800" dist="50800" dir="5400000" algn="ctr" rotWithShape="0">
              <a:schemeClr val="bg1"/>
            </a:outerShdw>
          </a:effectLst>
        </p:grpSpPr>
        <p:sp>
          <p:nvSpPr>
            <p:cNvPr id="105" name="Rectangle 51"/>
            <p:cNvSpPr>
              <a:spLocks noChangeArrowheads="1"/>
            </p:cNvSpPr>
            <p:nvPr/>
          </p:nvSpPr>
          <p:spPr bwMode="auto">
            <a:xfrm>
              <a:off x="6961426" y="6820748"/>
              <a:ext cx="1355417" cy="976549"/>
            </a:xfrm>
            <a:prstGeom prst="rect">
              <a:avLst/>
            </a:prstGeom>
            <a:solidFill>
              <a:srgbClr val="FF5008"/>
            </a:solidFill>
            <a:ln w="12700">
              <a:solidFill>
                <a:schemeClr val="tx1"/>
              </a:solidFill>
              <a:miter lim="800000"/>
              <a:headEnd/>
              <a:tailEnd/>
            </a:ln>
            <a:effectLst>
              <a:outerShdw blurRad="63500" dist="107763" dir="2700000" algn="ctr" rotWithShape="0">
                <a:schemeClr val="bg1">
                  <a:alpha val="75000"/>
                </a:schemeClr>
              </a:outerShdw>
            </a:effectLst>
          </p:spPr>
          <p:txBody>
            <a:bodyPr wrap="none" lIns="91439" tIns="45719" rIns="91439" bIns="45719" anchor="ctr"/>
            <a:lstStyle/>
            <a:p>
              <a:endParaRPr lang="en-US" sz="1547" dirty="0">
                <a:latin typeface="+mn-ea"/>
                <a:ea typeface="+mn-ea"/>
              </a:endParaRPr>
            </a:p>
          </p:txBody>
        </p:sp>
        <p:sp>
          <p:nvSpPr>
            <p:cNvPr id="106" name="Rectangle 52"/>
            <p:cNvSpPr>
              <a:spLocks noChangeArrowheads="1"/>
            </p:cNvSpPr>
            <p:nvPr/>
          </p:nvSpPr>
          <p:spPr bwMode="auto">
            <a:xfrm>
              <a:off x="6958862" y="6988422"/>
              <a:ext cx="1263022" cy="691605"/>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547" b="1" dirty="0">
                  <a:latin typeface="+mn-ea"/>
                  <a:ea typeface="+mn-ea"/>
                </a:rPr>
                <a:t>DBMS</a:t>
              </a:r>
            </a:p>
            <a:p>
              <a:pPr defTabSz="1006424">
                <a:lnSpc>
                  <a:spcPct val="90000"/>
                </a:lnSpc>
              </a:pPr>
              <a:r>
                <a:rPr lang="en-US" sz="1547" b="1" dirty="0">
                  <a:latin typeface="+mn-ea"/>
                  <a:ea typeface="+mn-ea"/>
                </a:rPr>
                <a:t>Software</a:t>
              </a:r>
            </a:p>
          </p:txBody>
        </p:sp>
      </p:grpSp>
      <p:grpSp>
        <p:nvGrpSpPr>
          <p:cNvPr id="107" name="Group 106"/>
          <p:cNvGrpSpPr/>
          <p:nvPr/>
        </p:nvGrpSpPr>
        <p:grpSpPr>
          <a:xfrm>
            <a:off x="3610018" y="1435279"/>
            <a:ext cx="968332" cy="494101"/>
            <a:chOff x="5134248" y="6681617"/>
            <a:chExt cx="1377183" cy="702721"/>
          </a:xfrm>
        </p:grpSpPr>
        <p:sp>
          <p:nvSpPr>
            <p:cNvPr id="108" name="AutoShape 65"/>
            <p:cNvSpPr>
              <a:spLocks noChangeArrowheads="1"/>
            </p:cNvSpPr>
            <p:nvPr/>
          </p:nvSpPr>
          <p:spPr bwMode="auto">
            <a:xfrm>
              <a:off x="5134248" y="6681617"/>
              <a:ext cx="1377183" cy="702721"/>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109" name="Rectangle 66"/>
            <p:cNvSpPr>
              <a:spLocks noChangeArrowheads="1"/>
            </p:cNvSpPr>
            <p:nvPr/>
          </p:nvSpPr>
          <p:spPr bwMode="auto">
            <a:xfrm>
              <a:off x="5360976" y="6712378"/>
              <a:ext cx="850374" cy="635978"/>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508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406" dirty="0">
                  <a:latin typeface="+mn-ea"/>
                  <a:ea typeface="+mn-ea"/>
                </a:rPr>
                <a:t>User</a:t>
              </a:r>
            </a:p>
            <a:p>
              <a:pPr defTabSz="1006424">
                <a:lnSpc>
                  <a:spcPct val="90000"/>
                </a:lnSpc>
              </a:pPr>
              <a:r>
                <a:rPr lang="en-US" sz="1406" dirty="0">
                  <a:latin typeface="+mn-ea"/>
                  <a:ea typeface="+mn-ea"/>
                </a:rPr>
                <a:t>Query</a:t>
              </a:r>
            </a:p>
          </p:txBody>
        </p:sp>
      </p:grpSp>
      <p:grpSp>
        <p:nvGrpSpPr>
          <p:cNvPr id="110" name="Group 109"/>
          <p:cNvGrpSpPr/>
          <p:nvPr/>
        </p:nvGrpSpPr>
        <p:grpSpPr>
          <a:xfrm>
            <a:off x="3559388" y="1992215"/>
            <a:ext cx="1067986" cy="534002"/>
            <a:chOff x="8998734" y="6308231"/>
            <a:chExt cx="1518913" cy="759469"/>
          </a:xfrm>
        </p:grpSpPr>
        <p:sp>
          <p:nvSpPr>
            <p:cNvPr id="111" name="AutoShape 61"/>
            <p:cNvSpPr>
              <a:spLocks noChangeArrowheads="1"/>
            </p:cNvSpPr>
            <p:nvPr/>
          </p:nvSpPr>
          <p:spPr bwMode="auto">
            <a:xfrm>
              <a:off x="9027216" y="6308231"/>
              <a:ext cx="1490431" cy="759469"/>
            </a:xfrm>
            <a:prstGeom prst="roundRect">
              <a:avLst>
                <a:gd name="adj" fmla="val 12495"/>
              </a:avLst>
            </a:prstGeom>
            <a:noFill/>
            <a:ln w="12700">
              <a:solidFill>
                <a:schemeClr val="tx1"/>
              </a:solidFill>
              <a:round/>
              <a:headEnd/>
              <a:tailEnd/>
            </a:ln>
            <a:effectLst/>
            <a:extLst>
              <a:ext uri="{909E8E84-426E-40dd-AFC4-6F175D3DCCD1}">
                <a14:hiddenFill xmlns:a14="http://schemas.microsoft.com/office/drawing/2010/main" xmlns="">
                  <a:solidFill>
                    <a:srgbClr val="000000"/>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1439" tIns="45719" rIns="91439" bIns="45719" anchor="ctr"/>
            <a:lstStyle/>
            <a:p>
              <a:endParaRPr lang="en-US" sz="1406" dirty="0">
                <a:latin typeface="+mn-ea"/>
                <a:ea typeface="+mn-ea"/>
              </a:endParaRPr>
            </a:p>
          </p:txBody>
        </p:sp>
        <p:sp>
          <p:nvSpPr>
            <p:cNvPr id="112" name="Rectangle 62"/>
            <p:cNvSpPr>
              <a:spLocks noChangeArrowheads="1"/>
            </p:cNvSpPr>
            <p:nvPr/>
          </p:nvSpPr>
          <p:spPr bwMode="auto">
            <a:xfrm>
              <a:off x="8998734" y="6367366"/>
              <a:ext cx="1381572" cy="635978"/>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508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69849" tIns="28574" rIns="69849" bIns="28574">
              <a:spAutoFit/>
            </a:bodyPr>
            <a:lstStyle/>
            <a:p>
              <a:pPr defTabSz="1006424">
                <a:lnSpc>
                  <a:spcPct val="90000"/>
                </a:lnSpc>
              </a:pPr>
              <a:r>
                <a:rPr lang="en-US" sz="1406" dirty="0">
                  <a:latin typeface="+mn-ea"/>
                  <a:ea typeface="+mn-ea"/>
                </a:rPr>
                <a:t>User</a:t>
              </a:r>
            </a:p>
            <a:p>
              <a:pPr defTabSz="1006424">
                <a:lnSpc>
                  <a:spcPct val="90000"/>
                </a:lnSpc>
              </a:pPr>
              <a:r>
                <a:rPr lang="en-US" sz="1406" dirty="0">
                  <a:latin typeface="+mn-ea"/>
                  <a:ea typeface="+mn-ea"/>
                </a:rPr>
                <a:t>Application</a:t>
              </a:r>
            </a:p>
          </p:txBody>
        </p:sp>
      </p:grpSp>
      <p:sp>
        <p:nvSpPr>
          <p:cNvPr id="9" name="Footer Placeholder 8">
            <a:extLst>
              <a:ext uri="{FF2B5EF4-FFF2-40B4-BE49-F238E27FC236}">
                <a16:creationId xmlns:a16="http://schemas.microsoft.com/office/drawing/2014/main" id="{1D93D432-30E6-4F47-8F76-F37A3FDB6CC3}"/>
              </a:ext>
            </a:extLst>
          </p:cNvPr>
          <p:cNvSpPr>
            <a:spLocks noGrp="1"/>
          </p:cNvSpPr>
          <p:nvPr>
            <p:ph type="ftr" sz="quarter" idx="3"/>
          </p:nvPr>
        </p:nvSpPr>
        <p:spPr/>
        <p:txBody>
          <a:bodyPr/>
          <a:lstStyle/>
          <a:p>
            <a:r>
              <a:rPr lang="en-US"/>
              <a:t>© 2020, M.T. Özsu &amp; P. Valduriez TS. Pan Thị Hà_PTIT</a:t>
            </a:r>
            <a:endParaRPr lang="en-US" dirty="0"/>
          </a:p>
        </p:txBody>
      </p:sp>
      <p:sp>
        <p:nvSpPr>
          <p:cNvPr id="10" name="Slide Number Placeholder 9">
            <a:extLst>
              <a:ext uri="{FF2B5EF4-FFF2-40B4-BE49-F238E27FC236}">
                <a16:creationId xmlns:a16="http://schemas.microsoft.com/office/drawing/2014/main" id="{C5002736-412D-3D47-B2A1-9184E763DE55}"/>
              </a:ext>
            </a:extLst>
          </p:cNvPr>
          <p:cNvSpPr>
            <a:spLocks noGrp="1"/>
          </p:cNvSpPr>
          <p:nvPr>
            <p:ph type="sldNum" sz="quarter" idx="4"/>
          </p:nvPr>
        </p:nvSpPr>
        <p:spPr/>
        <p:txBody>
          <a:bodyPr/>
          <a:lstStyle/>
          <a:p>
            <a:fld id="{FD96158B-4539-3C43-9DE5-94C547866200}" type="slidenum">
              <a:rPr lang="en-US" smtClean="0"/>
              <a:t>26</a:t>
            </a:fld>
            <a:endParaRPr lang="en-US"/>
          </a:p>
        </p:txBody>
      </p:sp>
    </p:spTree>
    <p:extLst>
      <p:ext uri="{BB962C8B-B14F-4D97-AF65-F5344CB8AC3E}">
        <p14:creationId xmlns:p14="http://schemas.microsoft.com/office/powerpoint/2010/main" val="2485158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Transparency</a:t>
            </a:r>
          </a:p>
        </p:txBody>
      </p:sp>
      <p:sp>
        <p:nvSpPr>
          <p:cNvPr id="5" name="Content Placeholder 4"/>
          <p:cNvSpPr>
            <a:spLocks noGrp="1"/>
          </p:cNvSpPr>
          <p:nvPr>
            <p:ph idx="1"/>
          </p:nvPr>
        </p:nvSpPr>
        <p:spPr/>
        <p:txBody>
          <a:bodyPr/>
          <a:lstStyle/>
          <a:p>
            <a:r>
              <a:rPr lang="en-US" dirty="0"/>
              <a:t>Data independence</a:t>
            </a:r>
          </a:p>
          <a:p>
            <a:r>
              <a:rPr lang="en-US" dirty="0"/>
              <a:t>Network transparency (or distribution transparency)</a:t>
            </a:r>
          </a:p>
          <a:p>
            <a:pPr lvl="1"/>
            <a:r>
              <a:rPr lang="en-US" dirty="0"/>
              <a:t>Location transparency</a:t>
            </a:r>
          </a:p>
          <a:p>
            <a:pPr lvl="1"/>
            <a:r>
              <a:rPr lang="en-US" dirty="0"/>
              <a:t>Fragmentation transparency</a:t>
            </a:r>
          </a:p>
          <a:p>
            <a:r>
              <a:rPr lang="en-US" dirty="0"/>
              <a:t>Fragmentation transparency</a:t>
            </a:r>
          </a:p>
          <a:p>
            <a:r>
              <a:rPr lang="en-US" dirty="0"/>
              <a:t>Replication transparency</a:t>
            </a:r>
          </a:p>
        </p:txBody>
      </p:sp>
      <p:sp>
        <p:nvSpPr>
          <p:cNvPr id="3" name="Footer Placeholder 2">
            <a:extLst>
              <a:ext uri="{FF2B5EF4-FFF2-40B4-BE49-F238E27FC236}">
                <a16:creationId xmlns:a16="http://schemas.microsoft.com/office/drawing/2014/main" id="{F8939A7A-BA87-6D46-9F20-D1FECA455DC4}"/>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C4C8C76C-4E83-2F43-9E5E-4284E83A9D65}"/>
              </a:ext>
            </a:extLst>
          </p:cNvPr>
          <p:cNvSpPr>
            <a:spLocks noGrp="1"/>
          </p:cNvSpPr>
          <p:nvPr>
            <p:ph type="sldNum" sz="quarter" idx="4"/>
          </p:nvPr>
        </p:nvSpPr>
        <p:spPr/>
        <p:txBody>
          <a:bodyPr/>
          <a:lstStyle/>
          <a:p>
            <a:fld id="{FD96158B-4539-3C43-9DE5-94C547866200}" type="slidenum">
              <a:rPr lang="en-US" smtClean="0"/>
              <a:t>27</a:t>
            </a:fld>
            <a:endParaRPr lang="en-US"/>
          </a:p>
        </p:txBody>
      </p:sp>
    </p:spTree>
    <p:extLst>
      <p:ext uri="{BB962C8B-B14F-4D97-AF65-F5344CB8AC3E}">
        <p14:creationId xmlns:p14="http://schemas.microsoft.com/office/powerpoint/2010/main" val="1978719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 Through Transactions</a:t>
            </a:r>
          </a:p>
        </p:txBody>
      </p:sp>
      <p:sp>
        <p:nvSpPr>
          <p:cNvPr id="3" name="Content Placeholder 2"/>
          <p:cNvSpPr>
            <a:spLocks noGrp="1"/>
          </p:cNvSpPr>
          <p:nvPr>
            <p:ph idx="1"/>
          </p:nvPr>
        </p:nvSpPr>
        <p:spPr>
          <a:xfrm>
            <a:off x="217766" y="1808820"/>
            <a:ext cx="8643938" cy="4759523"/>
          </a:xfrm>
        </p:spPr>
        <p:txBody>
          <a:bodyPr/>
          <a:lstStyle/>
          <a:p>
            <a:r>
              <a:rPr lang="en-US" dirty="0"/>
              <a:t>Replicated components and data should make distributed DBMS more reliable.</a:t>
            </a:r>
          </a:p>
          <a:p>
            <a:r>
              <a:rPr lang="en-US" dirty="0"/>
              <a:t>Distributed transactions provide</a:t>
            </a:r>
          </a:p>
          <a:p>
            <a:pPr lvl="1"/>
            <a:r>
              <a:rPr lang="en-US" dirty="0"/>
              <a:t>Concurrency transparency</a:t>
            </a:r>
          </a:p>
          <a:p>
            <a:pPr lvl="1"/>
            <a:r>
              <a:rPr lang="en-US" dirty="0"/>
              <a:t>Failure atomicity</a:t>
            </a:r>
          </a:p>
          <a:p>
            <a:pPr marL="258952" lvl="1">
              <a:buSzPct val="150000"/>
              <a:buFont typeface="Palatino" charset="0"/>
              <a:buChar char="•"/>
            </a:pPr>
            <a:r>
              <a:rPr lang="en-US" dirty="0"/>
              <a:t>Distributed transaction support requires implementation of </a:t>
            </a:r>
          </a:p>
          <a:p>
            <a:pPr lvl="1"/>
            <a:r>
              <a:rPr lang="en-US" dirty="0"/>
              <a:t>Distributed concurrency control protocols</a:t>
            </a:r>
          </a:p>
          <a:p>
            <a:pPr lvl="1"/>
            <a:r>
              <a:rPr lang="en-US" dirty="0"/>
              <a:t>Commit protocols</a:t>
            </a:r>
          </a:p>
          <a:p>
            <a:r>
              <a:rPr lang="en-US" dirty="0"/>
              <a:t>Data replication</a:t>
            </a:r>
          </a:p>
          <a:p>
            <a:pPr lvl="1"/>
            <a:r>
              <a:rPr lang="en-US" dirty="0"/>
              <a:t>Great for read-intensive workloads, problematic for updates</a:t>
            </a:r>
          </a:p>
          <a:p>
            <a:pPr lvl="1"/>
            <a:r>
              <a:rPr lang="en-US" dirty="0"/>
              <a:t>Replication protocols</a:t>
            </a:r>
          </a:p>
        </p:txBody>
      </p:sp>
      <p:sp>
        <p:nvSpPr>
          <p:cNvPr id="4" name="Footer Placeholder 3">
            <a:extLst>
              <a:ext uri="{FF2B5EF4-FFF2-40B4-BE49-F238E27FC236}">
                <a16:creationId xmlns:a16="http://schemas.microsoft.com/office/drawing/2014/main" id="{0A287F12-5F17-F048-8C13-E93B0AF4A1C6}"/>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4D6919EC-EE51-9449-B27B-D9345A15CEC2}"/>
              </a:ext>
            </a:extLst>
          </p:cNvPr>
          <p:cNvSpPr>
            <a:spLocks noGrp="1"/>
          </p:cNvSpPr>
          <p:nvPr>
            <p:ph type="sldNum" sz="quarter" idx="4"/>
          </p:nvPr>
        </p:nvSpPr>
        <p:spPr/>
        <p:txBody>
          <a:bodyPr/>
          <a:lstStyle/>
          <a:p>
            <a:fld id="{FD96158B-4539-3C43-9DE5-94C547866200}" type="slidenum">
              <a:rPr lang="en-US" smtClean="0"/>
              <a:t>28</a:t>
            </a:fld>
            <a:endParaRPr lang="en-US"/>
          </a:p>
        </p:txBody>
      </p:sp>
    </p:spTree>
    <p:extLst>
      <p:ext uri="{BB962C8B-B14F-4D97-AF65-F5344CB8AC3E}">
        <p14:creationId xmlns:p14="http://schemas.microsoft.com/office/powerpoint/2010/main" val="3298988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noFill/>
          <a:ln/>
        </p:spPr>
        <p:txBody>
          <a:bodyPr/>
          <a:lstStyle/>
          <a:p>
            <a:r>
              <a:rPr lang="en-US" dirty="0"/>
              <a:t>Potentially Improved Performance</a:t>
            </a:r>
          </a:p>
        </p:txBody>
      </p:sp>
      <p:sp>
        <p:nvSpPr>
          <p:cNvPr id="97283" name="Rectangle 3"/>
          <p:cNvSpPr>
            <a:spLocks noGrp="1" noChangeArrowheads="1"/>
          </p:cNvSpPr>
          <p:nvPr>
            <p:ph idx="1"/>
          </p:nvPr>
        </p:nvSpPr>
        <p:spPr>
          <a:noFill/>
          <a:ln/>
        </p:spPr>
        <p:txBody>
          <a:bodyPr/>
          <a:lstStyle/>
          <a:p>
            <a:pPr>
              <a:lnSpc>
                <a:spcPct val="100000"/>
              </a:lnSpc>
              <a:spcBef>
                <a:spcPct val="100000"/>
              </a:spcBef>
            </a:pPr>
            <a:r>
              <a:rPr lang="en-US" dirty="0"/>
              <a:t>Proximity of data to its points of use</a:t>
            </a:r>
          </a:p>
          <a:p>
            <a:pPr lvl="1">
              <a:lnSpc>
                <a:spcPct val="100000"/>
              </a:lnSpc>
              <a:spcBef>
                <a:spcPct val="100000"/>
              </a:spcBef>
            </a:pPr>
            <a:r>
              <a:rPr lang="en-US" dirty="0"/>
              <a:t>Requires some support for fragmentation and replication</a:t>
            </a:r>
          </a:p>
          <a:p>
            <a:pPr>
              <a:lnSpc>
                <a:spcPct val="100000"/>
              </a:lnSpc>
              <a:spcBef>
                <a:spcPct val="100000"/>
              </a:spcBef>
            </a:pPr>
            <a:r>
              <a:rPr lang="en-US" dirty="0"/>
              <a:t>Parallelism in execution</a:t>
            </a:r>
          </a:p>
          <a:p>
            <a:pPr lvl="1">
              <a:lnSpc>
                <a:spcPct val="100000"/>
              </a:lnSpc>
              <a:spcBef>
                <a:spcPct val="100000"/>
              </a:spcBef>
            </a:pPr>
            <a:r>
              <a:rPr lang="en-US" dirty="0"/>
              <a:t>Inter-query parallelism</a:t>
            </a:r>
          </a:p>
          <a:p>
            <a:pPr marL="457200" lvl="1" indent="0">
              <a:lnSpc>
                <a:spcPct val="100000"/>
              </a:lnSpc>
              <a:spcBef>
                <a:spcPts val="1200"/>
              </a:spcBef>
              <a:buNone/>
            </a:pPr>
            <a:endParaRPr lang="en-US" dirty="0"/>
          </a:p>
          <a:p>
            <a:pPr marL="457200" lvl="1" indent="0">
              <a:lnSpc>
                <a:spcPct val="100000"/>
              </a:lnSpc>
              <a:spcBef>
                <a:spcPts val="1200"/>
              </a:spcBef>
              <a:buNone/>
            </a:pPr>
            <a:endParaRPr lang="en-US" dirty="0"/>
          </a:p>
          <a:p>
            <a:pPr lvl="1">
              <a:lnSpc>
                <a:spcPct val="100000"/>
              </a:lnSpc>
              <a:spcBef>
                <a:spcPct val="100000"/>
              </a:spcBef>
            </a:pPr>
            <a:r>
              <a:rPr lang="en-US" dirty="0"/>
              <a:t>Intra-query parallelism</a:t>
            </a:r>
          </a:p>
        </p:txBody>
      </p:sp>
      <p:sp>
        <p:nvSpPr>
          <p:cNvPr id="2" name="Footer Placeholder 1">
            <a:extLst>
              <a:ext uri="{FF2B5EF4-FFF2-40B4-BE49-F238E27FC236}">
                <a16:creationId xmlns:a16="http://schemas.microsoft.com/office/drawing/2014/main" id="{39063608-3F9F-3746-B738-55CD95A6F0FA}"/>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12A67102-E86A-184B-92B1-E3C0912D2524}"/>
              </a:ext>
            </a:extLst>
          </p:cNvPr>
          <p:cNvSpPr>
            <a:spLocks noGrp="1"/>
          </p:cNvSpPr>
          <p:nvPr>
            <p:ph type="sldNum" sz="quarter" idx="4"/>
          </p:nvPr>
        </p:nvSpPr>
        <p:spPr/>
        <p:txBody>
          <a:bodyPr/>
          <a:lstStyle/>
          <a:p>
            <a:fld id="{FD96158B-4539-3C43-9DE5-94C547866200}" type="slidenum">
              <a:rPr lang="en-US" smtClean="0"/>
              <a:t>29</a:t>
            </a:fld>
            <a:endParaRPr lang="en-US"/>
          </a:p>
        </p:txBody>
      </p:sp>
      <p:pic>
        <p:nvPicPr>
          <p:cNvPr id="5" name="Picture 4" descr="A close up of a clock&#10;&#10;Description automatically generated">
            <a:extLst>
              <a:ext uri="{FF2B5EF4-FFF2-40B4-BE49-F238E27FC236}">
                <a16:creationId xmlns:a16="http://schemas.microsoft.com/office/drawing/2014/main" id="{23517444-EA30-D045-952E-430738D8765E}"/>
              </a:ext>
            </a:extLst>
          </p:cNvPr>
          <p:cNvPicPr>
            <a:picLocks noChangeAspect="1"/>
          </p:cNvPicPr>
          <p:nvPr/>
        </p:nvPicPr>
        <p:blipFill>
          <a:blip r:embed="rId3"/>
          <a:stretch>
            <a:fillRect/>
          </a:stretch>
        </p:blipFill>
        <p:spPr>
          <a:xfrm>
            <a:off x="5469012" y="4725144"/>
            <a:ext cx="3217788" cy="1330918"/>
          </a:xfrm>
          <a:prstGeom prst="rect">
            <a:avLst/>
          </a:prstGeom>
        </p:spPr>
      </p:pic>
      <p:pic>
        <p:nvPicPr>
          <p:cNvPr id="7" name="Picture 6" descr="A picture containing clock, drawing&#10;&#10;Description automatically generated">
            <a:extLst>
              <a:ext uri="{FF2B5EF4-FFF2-40B4-BE49-F238E27FC236}">
                <a16:creationId xmlns:a16="http://schemas.microsoft.com/office/drawing/2014/main" id="{B018B0FE-53A8-284F-BFCB-3D4C303CA50B}"/>
              </a:ext>
            </a:extLst>
          </p:cNvPr>
          <p:cNvPicPr>
            <a:picLocks noChangeAspect="1"/>
          </p:cNvPicPr>
          <p:nvPr/>
        </p:nvPicPr>
        <p:blipFill>
          <a:blip r:embed="rId4"/>
          <a:stretch>
            <a:fillRect/>
          </a:stretch>
        </p:blipFill>
        <p:spPr>
          <a:xfrm>
            <a:off x="6138317" y="3400341"/>
            <a:ext cx="1879178" cy="1162378"/>
          </a:xfrm>
          <a:prstGeom prst="rect">
            <a:avLst/>
          </a:prstGeom>
        </p:spPr>
      </p:pic>
    </p:spTree>
    <p:extLst>
      <p:ext uri="{BB962C8B-B14F-4D97-AF65-F5344CB8AC3E}">
        <p14:creationId xmlns:p14="http://schemas.microsoft.com/office/powerpoint/2010/main" val="1423638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64A2-CC15-3DEF-C3E6-6900D30CD93D}"/>
              </a:ext>
            </a:extLst>
          </p:cNvPr>
          <p:cNvSpPr>
            <a:spLocks noGrp="1"/>
          </p:cNvSpPr>
          <p:nvPr>
            <p:ph type="title"/>
          </p:nvPr>
        </p:nvSpPr>
        <p:spPr/>
        <p:txBody>
          <a:bodyPr/>
          <a:lstStyle/>
          <a:p>
            <a:r>
              <a:rPr lang="en-US" b="0" i="0" dirty="0">
                <a:solidFill>
                  <a:srgbClr val="374151"/>
                </a:solidFill>
                <a:effectLst/>
                <a:latin typeface="Söhne"/>
              </a:rPr>
              <a:t>Easy to expand</a:t>
            </a:r>
            <a:endParaRPr lang="en-US" dirty="0"/>
          </a:p>
        </p:txBody>
      </p:sp>
      <p:sp>
        <p:nvSpPr>
          <p:cNvPr id="3" name="Content Placeholder 2">
            <a:extLst>
              <a:ext uri="{FF2B5EF4-FFF2-40B4-BE49-F238E27FC236}">
                <a16:creationId xmlns:a16="http://schemas.microsoft.com/office/drawing/2014/main" id="{B2CE0324-4DAF-26F3-AD5D-3CF9E5B5A385}"/>
              </a:ext>
            </a:extLst>
          </p:cNvPr>
          <p:cNvSpPr>
            <a:spLocks noGrp="1"/>
          </p:cNvSpPr>
          <p:nvPr>
            <p:ph idx="1"/>
          </p:nvPr>
        </p:nvSpPr>
        <p:spPr/>
        <p:txBody>
          <a:bodyPr/>
          <a:lstStyle/>
          <a:p>
            <a:r>
              <a:rPr lang="en-US" b="0" i="0" dirty="0">
                <a:solidFill>
                  <a:srgbClr val="374151"/>
                </a:solidFill>
                <a:effectLst/>
                <a:latin typeface="Söhne"/>
              </a:rPr>
              <a:t>Easily Scalable Data by Increasing the Storage and Processing Capacity of the Network. Dependent on the Cost of Distribution. However, the ability to easily expand the system has an economic impact and reduces cost.</a:t>
            </a:r>
            <a:endParaRPr lang="en-US" dirty="0"/>
          </a:p>
        </p:txBody>
      </p:sp>
      <p:sp>
        <p:nvSpPr>
          <p:cNvPr id="4" name="Footer Placeholder 3">
            <a:extLst>
              <a:ext uri="{FF2B5EF4-FFF2-40B4-BE49-F238E27FC236}">
                <a16:creationId xmlns:a16="http://schemas.microsoft.com/office/drawing/2014/main" id="{54CD3ED4-648E-50FB-0024-42D817BEAE95}"/>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9BB1B1F0-56CF-2695-C6CE-49A7C5C67005}"/>
              </a:ext>
            </a:extLst>
          </p:cNvPr>
          <p:cNvSpPr>
            <a:spLocks noGrp="1"/>
          </p:cNvSpPr>
          <p:nvPr>
            <p:ph type="sldNum" sz="quarter" idx="4"/>
          </p:nvPr>
        </p:nvSpPr>
        <p:spPr/>
        <p:txBody>
          <a:bodyPr/>
          <a:lstStyle/>
          <a:p>
            <a:fld id="{FD96158B-4539-3C43-9DE5-94C547866200}" type="slidenum">
              <a:rPr lang="en-US" smtClean="0"/>
              <a:t>30</a:t>
            </a:fld>
            <a:endParaRPr lang="en-US"/>
          </a:p>
        </p:txBody>
      </p:sp>
    </p:spTree>
    <p:extLst>
      <p:ext uri="{BB962C8B-B14F-4D97-AF65-F5344CB8AC3E}">
        <p14:creationId xmlns:p14="http://schemas.microsoft.com/office/powerpoint/2010/main" val="3044553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1093D-A686-B718-2BDC-3353E2C3D322}"/>
              </a:ext>
            </a:extLst>
          </p:cNvPr>
          <p:cNvSpPr>
            <a:spLocks noGrp="1"/>
          </p:cNvSpPr>
          <p:nvPr>
            <p:ph type="title"/>
          </p:nvPr>
        </p:nvSpPr>
        <p:spPr/>
        <p:txBody>
          <a:bodyPr/>
          <a:lstStyle/>
          <a:p>
            <a:r>
              <a:rPr lang="en-US" b="0" i="0" dirty="0">
                <a:solidFill>
                  <a:srgbClr val="374151"/>
                </a:solidFill>
                <a:effectLst/>
                <a:latin typeface="Söhne"/>
              </a:rPr>
              <a:t>Centralized Control</a:t>
            </a:r>
            <a:endParaRPr lang="en-US" dirty="0"/>
          </a:p>
        </p:txBody>
      </p:sp>
      <p:sp>
        <p:nvSpPr>
          <p:cNvPr id="3" name="Content Placeholder 2">
            <a:extLst>
              <a:ext uri="{FF2B5EF4-FFF2-40B4-BE49-F238E27FC236}">
                <a16:creationId xmlns:a16="http://schemas.microsoft.com/office/drawing/2014/main" id="{DEBB6DCA-57D9-769D-14B2-161026E9C1D0}"/>
              </a:ext>
            </a:extLst>
          </p:cNvPr>
          <p:cNvSpPr>
            <a:spLocks noGrp="1"/>
          </p:cNvSpPr>
          <p:nvPr>
            <p:ph idx="1"/>
          </p:nvPr>
        </p:nvSpPr>
        <p:spPr/>
        <p:txBody>
          <a:bodyPr/>
          <a:lstStyle/>
          <a:p>
            <a:r>
              <a:rPr lang="en-US" b="0" i="0" dirty="0">
                <a:solidFill>
                  <a:srgbClr val="374151"/>
                </a:solidFill>
                <a:effectLst/>
                <a:latin typeface="Söhne"/>
              </a:rPr>
              <a:t>Centralized Database: Ensures the independence of data, avoids data redundancy, data is managed centrally, controlled by the Centralized Database Administrator (CDA), the CDA ensures the security of data </a:t>
            </a:r>
          </a:p>
          <a:p>
            <a:r>
              <a:rPr lang="en-US" b="0" i="0" dirty="0">
                <a:solidFill>
                  <a:srgbClr val="374151"/>
                </a:solidFill>
                <a:effectLst/>
                <a:latin typeface="Söhne"/>
              </a:rPr>
              <a:t>Distributed Database: Does not emphasize centralized control. Control is carried out by the Global Database Administrator (GDA) and the Local Database Administrator (LDA). The LDA has the independence to locate.</a:t>
            </a:r>
            <a:endParaRPr lang="en-US" dirty="0"/>
          </a:p>
        </p:txBody>
      </p:sp>
      <p:sp>
        <p:nvSpPr>
          <p:cNvPr id="4" name="Footer Placeholder 3">
            <a:extLst>
              <a:ext uri="{FF2B5EF4-FFF2-40B4-BE49-F238E27FC236}">
                <a16:creationId xmlns:a16="http://schemas.microsoft.com/office/drawing/2014/main" id="{522EC699-A042-EEB5-E034-607F2F1864E2}"/>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7AC2E258-2479-241C-3365-F24816D6B80B}"/>
              </a:ext>
            </a:extLst>
          </p:cNvPr>
          <p:cNvSpPr>
            <a:spLocks noGrp="1"/>
          </p:cNvSpPr>
          <p:nvPr>
            <p:ph type="sldNum" sz="quarter" idx="4"/>
          </p:nvPr>
        </p:nvSpPr>
        <p:spPr/>
        <p:txBody>
          <a:bodyPr/>
          <a:lstStyle/>
          <a:p>
            <a:fld id="{FD96158B-4539-3C43-9DE5-94C547866200}" type="slidenum">
              <a:rPr lang="en-US" smtClean="0"/>
              <a:t>31</a:t>
            </a:fld>
            <a:endParaRPr lang="en-US"/>
          </a:p>
        </p:txBody>
      </p:sp>
    </p:spTree>
    <p:extLst>
      <p:ext uri="{BB962C8B-B14F-4D97-AF65-F5344CB8AC3E}">
        <p14:creationId xmlns:p14="http://schemas.microsoft.com/office/powerpoint/2010/main" val="1823601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63C5F-EB86-0292-0C3B-547A0C5E9B05}"/>
              </a:ext>
            </a:extLst>
          </p:cNvPr>
          <p:cNvSpPr>
            <a:spLocks noGrp="1"/>
          </p:cNvSpPr>
          <p:nvPr>
            <p:ph type="title"/>
          </p:nvPr>
        </p:nvSpPr>
        <p:spPr/>
        <p:txBody>
          <a:bodyPr/>
          <a:lstStyle/>
          <a:p>
            <a:r>
              <a:rPr lang="en-US" b="0" i="0" dirty="0">
                <a:solidFill>
                  <a:srgbClr val="374151"/>
                </a:solidFill>
                <a:effectLst/>
                <a:latin typeface="Söhne"/>
              </a:rPr>
              <a:t>Reducing data redundancy</a:t>
            </a:r>
            <a:endParaRPr lang="en-US" dirty="0"/>
          </a:p>
        </p:txBody>
      </p:sp>
      <p:sp>
        <p:nvSpPr>
          <p:cNvPr id="4" name="Footer Placeholder 3">
            <a:extLst>
              <a:ext uri="{FF2B5EF4-FFF2-40B4-BE49-F238E27FC236}">
                <a16:creationId xmlns:a16="http://schemas.microsoft.com/office/drawing/2014/main" id="{E6C715D7-A1C5-11D2-AD2A-FBA2EAFD01B7}"/>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E05C2AA8-B47B-5535-2D98-63543CFC23F9}"/>
              </a:ext>
            </a:extLst>
          </p:cNvPr>
          <p:cNvSpPr>
            <a:spLocks noGrp="1"/>
          </p:cNvSpPr>
          <p:nvPr>
            <p:ph type="sldNum" sz="quarter" idx="4"/>
          </p:nvPr>
        </p:nvSpPr>
        <p:spPr/>
        <p:txBody>
          <a:bodyPr/>
          <a:lstStyle/>
          <a:p>
            <a:fld id="{FD96158B-4539-3C43-9DE5-94C547866200}" type="slidenum">
              <a:rPr lang="en-US" smtClean="0"/>
              <a:t>32</a:t>
            </a:fld>
            <a:endParaRPr lang="en-US"/>
          </a:p>
        </p:txBody>
      </p:sp>
      <p:sp>
        <p:nvSpPr>
          <p:cNvPr id="6" name="Rectangle 1">
            <a:extLst>
              <a:ext uri="{FF2B5EF4-FFF2-40B4-BE49-F238E27FC236}">
                <a16:creationId xmlns:a16="http://schemas.microsoft.com/office/drawing/2014/main" id="{432CAB48-EDC5-9188-B6A8-ADD5A5D5623D}"/>
              </a:ext>
            </a:extLst>
          </p:cNvPr>
          <p:cNvSpPr>
            <a:spLocks noGrp="1" noChangeArrowheads="1"/>
          </p:cNvSpPr>
          <p:nvPr>
            <p:ph idx="1"/>
          </p:nvPr>
        </p:nvSpPr>
        <p:spPr bwMode="auto">
          <a:xfrm>
            <a:off x="478972" y="921219"/>
            <a:ext cx="8332439"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-In a centralized database, data redundancy is minimized, avoiding inconsistencies in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 -In a distributed database, redundancy has the following </a:t>
            </a:r>
            <a:r>
              <a:rPr kumimoji="0" lang="en-US" altLang="en-US" sz="3200" b="0" i="0" u="none" strike="noStrike" cap="none" normalizeH="0" baseline="0" dirty="0" err="1">
                <a:ln>
                  <a:noFill/>
                </a:ln>
                <a:solidFill>
                  <a:schemeClr val="tx1"/>
                </a:solidFill>
                <a:effectLst/>
                <a:latin typeface="Arial" panose="020B0604020202020204" pitchFamily="34" charset="0"/>
              </a:rPr>
              <a:t>meanigs</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dirty="0"/>
              <a:t>	+</a:t>
            </a:r>
            <a:r>
              <a:rPr kumimoji="0" lang="en-US" altLang="en-US" sz="3200" b="0" i="0" u="none" strike="noStrike" cap="none" normalizeH="0" baseline="0" dirty="0">
                <a:ln>
                  <a:noFill/>
                </a:ln>
                <a:solidFill>
                  <a:schemeClr val="tx1"/>
                </a:solidFill>
                <a:effectLst/>
                <a:latin typeface="Arial" panose="020B0604020202020204" pitchFamily="34" charset="0"/>
              </a:rPr>
              <a:t>Increased local processing: Local applications perform faster if data is duplicated at all locations.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	+Increased availability: If one location has a problem, the operation of applications in other locations will not be disrupted if data is duplicated. </a:t>
            </a:r>
          </a:p>
        </p:txBody>
      </p:sp>
    </p:spTree>
    <p:extLst>
      <p:ext uri="{BB962C8B-B14F-4D97-AF65-F5344CB8AC3E}">
        <p14:creationId xmlns:p14="http://schemas.microsoft.com/office/powerpoint/2010/main" val="1177706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BD6A-94A0-1E47-0555-4114771A49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6C8CB3-96B3-C825-B24E-D4EF73AF6D8A}"/>
              </a:ext>
            </a:extLst>
          </p:cNvPr>
          <p:cNvSpPr>
            <a:spLocks noGrp="1"/>
          </p:cNvSpPr>
          <p:nvPr>
            <p:ph idx="1"/>
          </p:nvPr>
        </p:nvSpPr>
        <p:spPr>
          <a:xfrm>
            <a:off x="457200" y="136526"/>
            <a:ext cx="8229600" cy="5994400"/>
          </a:xfrm>
        </p:spPr>
        <p:txBody>
          <a:bodyPr/>
          <a:lstStyle/>
          <a:p>
            <a:r>
              <a:rPr lang="en-US" sz="3200" b="0" i="0" dirty="0">
                <a:solidFill>
                  <a:srgbClr val="374151"/>
                </a:solidFill>
                <a:effectLst/>
                <a:latin typeface="Söhne"/>
              </a:rPr>
              <a:t>Data replication is based on two basic applications: read-only applications and update applications. </a:t>
            </a:r>
          </a:p>
          <a:p>
            <a:r>
              <a:rPr lang="en-US" sz="3200" b="0" i="0" dirty="0">
                <a:solidFill>
                  <a:srgbClr val="374151"/>
                </a:solidFill>
                <a:effectLst/>
                <a:latin typeface="Söhne"/>
              </a:rPr>
              <a:t>Replication helps read-only applications to perform faster, but update applications perform slower because they need to be updated at different locations. </a:t>
            </a:r>
          </a:p>
          <a:p>
            <a:r>
              <a:rPr lang="en-US" sz="3200" b="0" i="0" dirty="0">
                <a:solidFill>
                  <a:srgbClr val="374151"/>
                </a:solidFill>
                <a:effectLst/>
                <a:latin typeface="Söhne"/>
              </a:rPr>
              <a:t>So, data replication will be an advantage if the system has many read-only applications and few update applications. On the other hand, data replication is a disadvantage if the opposite is the case.</a:t>
            </a:r>
            <a:endParaRPr lang="en-US" sz="3200" dirty="0"/>
          </a:p>
        </p:txBody>
      </p:sp>
      <p:sp>
        <p:nvSpPr>
          <p:cNvPr id="4" name="Footer Placeholder 3">
            <a:extLst>
              <a:ext uri="{FF2B5EF4-FFF2-40B4-BE49-F238E27FC236}">
                <a16:creationId xmlns:a16="http://schemas.microsoft.com/office/drawing/2014/main" id="{E765FE30-9AC3-C82A-D8E4-D67B4A8642DA}"/>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F598661B-0281-D496-7B9E-5B0BF000578D}"/>
              </a:ext>
            </a:extLst>
          </p:cNvPr>
          <p:cNvSpPr>
            <a:spLocks noGrp="1"/>
          </p:cNvSpPr>
          <p:nvPr>
            <p:ph type="sldNum" sz="quarter" idx="4"/>
          </p:nvPr>
        </p:nvSpPr>
        <p:spPr/>
        <p:txBody>
          <a:bodyPr/>
          <a:lstStyle/>
          <a:p>
            <a:fld id="{FD96158B-4539-3C43-9DE5-94C547866200}" type="slidenum">
              <a:rPr lang="en-US" smtClean="0"/>
              <a:t>33</a:t>
            </a:fld>
            <a:endParaRPr lang="en-US"/>
          </a:p>
        </p:txBody>
      </p:sp>
    </p:spTree>
    <p:extLst>
      <p:ext uri="{BB962C8B-B14F-4D97-AF65-F5344CB8AC3E}">
        <p14:creationId xmlns:p14="http://schemas.microsoft.com/office/powerpoint/2010/main" val="2913005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26"/>
          <p:cNvSpPr>
            <a:spLocks noGrp="1" noChangeArrowheads="1"/>
          </p:cNvSpPr>
          <p:nvPr>
            <p:ph type="title"/>
          </p:nvPr>
        </p:nvSpPr>
        <p:spPr>
          <a:noFill/>
          <a:ln/>
        </p:spPr>
        <p:txBody>
          <a:bodyPr/>
          <a:lstStyle/>
          <a:p>
            <a:r>
              <a:rPr lang="en-US" dirty="0"/>
              <a:t>Scalability</a:t>
            </a:r>
          </a:p>
        </p:txBody>
      </p:sp>
      <p:sp>
        <p:nvSpPr>
          <p:cNvPr id="101379" name="Rectangle 1027"/>
          <p:cNvSpPr>
            <a:spLocks noGrp="1" noChangeArrowheads="1"/>
          </p:cNvSpPr>
          <p:nvPr>
            <p:ph idx="1"/>
          </p:nvPr>
        </p:nvSpPr>
        <p:spPr>
          <a:noFill/>
          <a:ln/>
        </p:spPr>
        <p:txBody>
          <a:bodyPr/>
          <a:lstStyle/>
          <a:p>
            <a:pPr>
              <a:lnSpc>
                <a:spcPct val="100000"/>
              </a:lnSpc>
              <a:spcBef>
                <a:spcPct val="100000"/>
              </a:spcBef>
            </a:pPr>
            <a:r>
              <a:rPr lang="en-US" dirty="0"/>
              <a:t>Issue is database scaling and workload scaling</a:t>
            </a:r>
          </a:p>
          <a:p>
            <a:pPr>
              <a:lnSpc>
                <a:spcPct val="100000"/>
              </a:lnSpc>
              <a:spcBef>
                <a:spcPct val="100000"/>
              </a:spcBef>
            </a:pPr>
            <a:r>
              <a:rPr lang="en-US" dirty="0"/>
              <a:t>Adding </a:t>
            </a:r>
            <a:r>
              <a:rPr lang="en-US" dirty="0">
                <a:solidFill>
                  <a:srgbClr val="0432FF"/>
                </a:solidFill>
              </a:rPr>
              <a:t>processing</a:t>
            </a:r>
            <a:r>
              <a:rPr lang="en-US" dirty="0"/>
              <a:t> and </a:t>
            </a:r>
            <a:r>
              <a:rPr lang="en-US" dirty="0">
                <a:solidFill>
                  <a:srgbClr val="0432FF"/>
                </a:solidFill>
              </a:rPr>
              <a:t>storage</a:t>
            </a:r>
            <a:r>
              <a:rPr lang="en-US" dirty="0"/>
              <a:t> power</a:t>
            </a:r>
          </a:p>
          <a:p>
            <a:pPr>
              <a:lnSpc>
                <a:spcPct val="100000"/>
              </a:lnSpc>
              <a:spcBef>
                <a:spcPct val="100000"/>
              </a:spcBef>
            </a:pPr>
            <a:r>
              <a:rPr lang="en-US" dirty="0"/>
              <a:t>Scale-out: add more servers</a:t>
            </a:r>
          </a:p>
          <a:p>
            <a:pPr lvl="1">
              <a:spcBef>
                <a:spcPct val="100000"/>
              </a:spcBef>
            </a:pPr>
            <a:r>
              <a:rPr lang="en-US" dirty="0"/>
              <a:t>Scale-up: increase the capacity of one server → has limits</a:t>
            </a:r>
          </a:p>
        </p:txBody>
      </p:sp>
      <p:sp>
        <p:nvSpPr>
          <p:cNvPr id="2" name="Footer Placeholder 1">
            <a:extLst>
              <a:ext uri="{FF2B5EF4-FFF2-40B4-BE49-F238E27FC236}">
                <a16:creationId xmlns:a16="http://schemas.microsoft.com/office/drawing/2014/main" id="{9B561D55-4090-E442-9166-8DA459ABE43A}"/>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CD36C400-2099-344F-933E-C40A1A8677BA}"/>
              </a:ext>
            </a:extLst>
          </p:cNvPr>
          <p:cNvSpPr>
            <a:spLocks noGrp="1"/>
          </p:cNvSpPr>
          <p:nvPr>
            <p:ph type="sldNum" sz="quarter" idx="4"/>
          </p:nvPr>
        </p:nvSpPr>
        <p:spPr/>
        <p:txBody>
          <a:bodyPr/>
          <a:lstStyle/>
          <a:p>
            <a:fld id="{FD96158B-4539-3C43-9DE5-94C547866200}" type="slidenum">
              <a:rPr lang="en-US" smtClean="0"/>
              <a:t>34</a:t>
            </a:fld>
            <a:endParaRPr lang="en-US"/>
          </a:p>
        </p:txBody>
      </p:sp>
    </p:spTree>
    <p:extLst>
      <p:ext uri="{BB962C8B-B14F-4D97-AF65-F5344CB8AC3E}">
        <p14:creationId xmlns:p14="http://schemas.microsoft.com/office/powerpoint/2010/main" val="3637751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dirty="0"/>
              <a:t>Outline</a:t>
            </a:r>
          </a:p>
        </p:txBody>
      </p:sp>
      <p:sp>
        <p:nvSpPr>
          <p:cNvPr id="15362" name="Rectangle 2"/>
          <p:cNvSpPr>
            <a:spLocks noGrp="1" noChangeArrowheads="1"/>
          </p:cNvSpPr>
          <p:nvPr>
            <p:ph idx="1"/>
          </p:nvPr>
        </p:nvSpPr>
        <p:spPr>
          <a:xfrm>
            <a:off x="457200" y="1268760"/>
            <a:ext cx="8229600" cy="4862165"/>
          </a:xfrm>
          <a:ln/>
        </p:spPr>
        <p:txBody>
          <a:bodyPr>
            <a:normAutofit/>
          </a:bodyPr>
          <a:lstStyle/>
          <a:p>
            <a:r>
              <a:rPr lang="en-US" dirty="0">
                <a:solidFill>
                  <a:srgbClr val="1771A9"/>
                </a:solidFill>
                <a:cs typeface="Book Antiqua"/>
              </a:rPr>
              <a:t>Introduction</a:t>
            </a:r>
          </a:p>
          <a:p>
            <a:pPr lvl="1"/>
            <a:r>
              <a:rPr lang="en-US" dirty="0">
                <a:solidFill>
                  <a:srgbClr val="1771A9">
                    <a:alpha val="25000"/>
                  </a:srgbClr>
                </a:solidFill>
                <a:cs typeface="Book Antiqua"/>
              </a:rPr>
              <a:t>What is a distributed DBMS</a:t>
            </a:r>
          </a:p>
          <a:p>
            <a:pPr lvl="1"/>
            <a:r>
              <a:rPr lang="en-US" dirty="0">
                <a:solidFill>
                  <a:srgbClr val="1771A9">
                    <a:alpha val="25000"/>
                  </a:srgbClr>
                </a:solidFill>
                <a:cs typeface="Book Antiqua"/>
              </a:rPr>
              <a:t>History</a:t>
            </a:r>
          </a:p>
          <a:p>
            <a:pPr lvl="1"/>
            <a:r>
              <a:rPr lang="en-US" dirty="0">
                <a:solidFill>
                  <a:srgbClr val="1771A9">
                    <a:alpha val="25000"/>
                  </a:srgbClr>
                </a:solidFill>
                <a:cs typeface="Book Antiqua"/>
              </a:rPr>
              <a:t>Distributed DBMS promises</a:t>
            </a:r>
          </a:p>
          <a:p>
            <a:pPr lvl="1"/>
            <a:r>
              <a:rPr lang="en-US" dirty="0">
                <a:solidFill>
                  <a:srgbClr val="1771A9"/>
                </a:solidFill>
                <a:cs typeface="Book Antiqua"/>
              </a:rPr>
              <a:t>Design issues</a:t>
            </a:r>
          </a:p>
          <a:p>
            <a:pPr lvl="1"/>
            <a:r>
              <a:rPr lang="en-US" dirty="0">
                <a:solidFill>
                  <a:srgbClr val="1771A9">
                    <a:alpha val="25000"/>
                  </a:srgbClr>
                </a:solidFill>
                <a:cs typeface="Book Antiqua"/>
              </a:rPr>
              <a:t>Distributed DBMS architecture</a:t>
            </a:r>
          </a:p>
        </p:txBody>
      </p:sp>
      <p:sp>
        <p:nvSpPr>
          <p:cNvPr id="2" name="Footer Placeholder 1">
            <a:extLst>
              <a:ext uri="{FF2B5EF4-FFF2-40B4-BE49-F238E27FC236}">
                <a16:creationId xmlns:a16="http://schemas.microsoft.com/office/drawing/2014/main" id="{351B72E8-7C79-424E-A232-677D185C1BED}"/>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61C3681F-B44B-9F40-96A9-7695DC0EC710}"/>
              </a:ext>
            </a:extLst>
          </p:cNvPr>
          <p:cNvSpPr>
            <a:spLocks noGrp="1"/>
          </p:cNvSpPr>
          <p:nvPr>
            <p:ph type="sldNum" sz="quarter" idx="4"/>
          </p:nvPr>
        </p:nvSpPr>
        <p:spPr/>
        <p:txBody>
          <a:bodyPr/>
          <a:lstStyle/>
          <a:p>
            <a:fld id="{FD96158B-4539-3C43-9DE5-94C547866200}" type="slidenum">
              <a:rPr lang="en-US" smtClean="0"/>
              <a:t>35</a:t>
            </a:fld>
            <a:endParaRPr lang="en-US"/>
          </a:p>
        </p:txBody>
      </p:sp>
    </p:spTree>
    <p:extLst>
      <p:ext uri="{BB962C8B-B14F-4D97-AF65-F5344CB8AC3E}">
        <p14:creationId xmlns:p14="http://schemas.microsoft.com/office/powerpoint/2010/main" val="11501180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a:lstStyle/>
          <a:p>
            <a:r>
              <a:rPr lang="en-US" dirty="0"/>
              <a:t>Distributed DBMS Issues </a:t>
            </a:r>
          </a:p>
        </p:txBody>
      </p:sp>
      <p:sp>
        <p:nvSpPr>
          <p:cNvPr id="35843" name="Rectangle 3"/>
          <p:cNvSpPr>
            <a:spLocks noGrp="1" noChangeArrowheads="1"/>
          </p:cNvSpPr>
          <p:nvPr>
            <p:ph idx="1"/>
          </p:nvPr>
        </p:nvSpPr>
        <p:spPr>
          <a:noFill/>
          <a:ln/>
        </p:spPr>
        <p:txBody>
          <a:bodyPr/>
          <a:lstStyle/>
          <a:p>
            <a:pPr>
              <a:lnSpc>
                <a:spcPct val="100000"/>
              </a:lnSpc>
              <a:spcBef>
                <a:spcPct val="45000"/>
              </a:spcBef>
            </a:pPr>
            <a:r>
              <a:rPr lang="en-US" dirty="0">
                <a:solidFill>
                  <a:srgbClr val="0432FF"/>
                </a:solidFill>
              </a:rPr>
              <a:t>Distributed database design</a:t>
            </a:r>
          </a:p>
          <a:p>
            <a:pPr lvl="1">
              <a:lnSpc>
                <a:spcPct val="100000"/>
              </a:lnSpc>
              <a:spcBef>
                <a:spcPct val="45000"/>
              </a:spcBef>
            </a:pPr>
            <a:r>
              <a:rPr lang="en-US" dirty="0"/>
              <a:t>How to distribute the database</a:t>
            </a:r>
          </a:p>
          <a:p>
            <a:pPr lvl="1">
              <a:lnSpc>
                <a:spcPct val="100000"/>
              </a:lnSpc>
              <a:spcBef>
                <a:spcPct val="45000"/>
              </a:spcBef>
            </a:pPr>
            <a:r>
              <a:rPr lang="en-US" dirty="0"/>
              <a:t>Replicated &amp; non-replicated database distribution</a:t>
            </a:r>
          </a:p>
          <a:p>
            <a:pPr lvl="1">
              <a:lnSpc>
                <a:spcPct val="100000"/>
              </a:lnSpc>
              <a:spcBef>
                <a:spcPct val="45000"/>
              </a:spcBef>
            </a:pPr>
            <a:r>
              <a:rPr lang="en-US" dirty="0"/>
              <a:t>A related problem in directory management</a:t>
            </a:r>
          </a:p>
          <a:p>
            <a:pPr>
              <a:lnSpc>
                <a:spcPct val="100000"/>
              </a:lnSpc>
              <a:spcBef>
                <a:spcPct val="45000"/>
              </a:spcBef>
            </a:pPr>
            <a:r>
              <a:rPr lang="en-US" dirty="0">
                <a:solidFill>
                  <a:srgbClr val="0432FF"/>
                </a:solidFill>
              </a:rPr>
              <a:t>Distributed query processing</a:t>
            </a:r>
          </a:p>
          <a:p>
            <a:pPr lvl="1">
              <a:lnSpc>
                <a:spcPct val="100000"/>
              </a:lnSpc>
              <a:spcBef>
                <a:spcPct val="45000"/>
              </a:spcBef>
            </a:pPr>
            <a:r>
              <a:rPr lang="en-US" dirty="0"/>
              <a:t>Convert user transactions to data manipulation instructions</a:t>
            </a:r>
          </a:p>
          <a:p>
            <a:pPr lvl="1">
              <a:lnSpc>
                <a:spcPct val="100000"/>
              </a:lnSpc>
              <a:spcBef>
                <a:spcPct val="45000"/>
              </a:spcBef>
            </a:pPr>
            <a:r>
              <a:rPr lang="en-US" dirty="0"/>
              <a:t>Optimization problem</a:t>
            </a:r>
          </a:p>
          <a:p>
            <a:pPr lvl="2">
              <a:spcBef>
                <a:spcPct val="45000"/>
              </a:spcBef>
            </a:pPr>
            <a:r>
              <a:rPr lang="en-US" dirty="0"/>
              <a:t>min{cost = data transmission + local processing}</a:t>
            </a:r>
          </a:p>
          <a:p>
            <a:pPr lvl="1">
              <a:lnSpc>
                <a:spcPct val="100000"/>
              </a:lnSpc>
              <a:spcBef>
                <a:spcPct val="45000"/>
              </a:spcBef>
            </a:pPr>
            <a:r>
              <a:rPr lang="en-US" dirty="0"/>
              <a:t>General formulation is NP-hard</a:t>
            </a:r>
          </a:p>
        </p:txBody>
      </p:sp>
      <p:sp>
        <p:nvSpPr>
          <p:cNvPr id="2" name="Footer Placeholder 1">
            <a:extLst>
              <a:ext uri="{FF2B5EF4-FFF2-40B4-BE49-F238E27FC236}">
                <a16:creationId xmlns:a16="http://schemas.microsoft.com/office/drawing/2014/main" id="{C6C1B75A-B1C3-1A4A-B97B-8681D6648467}"/>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EEE941ED-29D3-7D46-BD05-EB7B6B883DC4}"/>
              </a:ext>
            </a:extLst>
          </p:cNvPr>
          <p:cNvSpPr>
            <a:spLocks noGrp="1"/>
          </p:cNvSpPr>
          <p:nvPr>
            <p:ph type="sldNum" sz="quarter" idx="4"/>
          </p:nvPr>
        </p:nvSpPr>
        <p:spPr/>
        <p:txBody>
          <a:bodyPr/>
          <a:lstStyle/>
          <a:p>
            <a:fld id="{FD96158B-4539-3C43-9DE5-94C547866200}" type="slidenum">
              <a:rPr lang="en-US" smtClean="0"/>
              <a:t>36</a:t>
            </a:fld>
            <a:endParaRPr lang="en-US"/>
          </a:p>
        </p:txBody>
      </p:sp>
    </p:spTree>
    <p:extLst>
      <p:ext uri="{BB962C8B-B14F-4D97-AF65-F5344CB8AC3E}">
        <p14:creationId xmlns:p14="http://schemas.microsoft.com/office/powerpoint/2010/main" val="17298549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a:lstStyle/>
          <a:p>
            <a:r>
              <a:rPr lang="en-US"/>
              <a:t>Distributed DBMS Issues</a:t>
            </a:r>
          </a:p>
        </p:txBody>
      </p:sp>
      <p:sp>
        <p:nvSpPr>
          <p:cNvPr id="37891" name="Rectangle 3"/>
          <p:cNvSpPr>
            <a:spLocks noGrp="1" noChangeArrowheads="1"/>
          </p:cNvSpPr>
          <p:nvPr>
            <p:ph idx="1"/>
          </p:nvPr>
        </p:nvSpPr>
        <p:spPr>
          <a:noFill/>
          <a:ln/>
        </p:spPr>
        <p:txBody>
          <a:bodyPr/>
          <a:lstStyle/>
          <a:p>
            <a:pPr>
              <a:lnSpc>
                <a:spcPct val="100000"/>
              </a:lnSpc>
              <a:spcBef>
                <a:spcPct val="50000"/>
              </a:spcBef>
            </a:pPr>
            <a:r>
              <a:rPr lang="en-US" dirty="0">
                <a:solidFill>
                  <a:srgbClr val="0432FF"/>
                </a:solidFill>
              </a:rPr>
              <a:t>Distributed concurrency control</a:t>
            </a:r>
          </a:p>
          <a:p>
            <a:pPr lvl="1">
              <a:lnSpc>
                <a:spcPct val="100000"/>
              </a:lnSpc>
              <a:spcBef>
                <a:spcPct val="50000"/>
              </a:spcBef>
            </a:pPr>
            <a:r>
              <a:rPr lang="en-US" dirty="0"/>
              <a:t>Synchronization of concurrent accesses</a:t>
            </a:r>
          </a:p>
          <a:p>
            <a:pPr lvl="1">
              <a:lnSpc>
                <a:spcPct val="100000"/>
              </a:lnSpc>
              <a:spcBef>
                <a:spcPct val="50000"/>
              </a:spcBef>
            </a:pPr>
            <a:r>
              <a:rPr lang="en-US" dirty="0"/>
              <a:t>Consistency and isolation of transactions' effects</a:t>
            </a:r>
          </a:p>
          <a:p>
            <a:pPr lvl="1">
              <a:lnSpc>
                <a:spcPct val="100000"/>
              </a:lnSpc>
              <a:spcBef>
                <a:spcPct val="50000"/>
              </a:spcBef>
            </a:pPr>
            <a:r>
              <a:rPr lang="en-US" dirty="0"/>
              <a:t>Deadlock management</a:t>
            </a:r>
          </a:p>
          <a:p>
            <a:pPr>
              <a:lnSpc>
                <a:spcPct val="100000"/>
              </a:lnSpc>
              <a:spcBef>
                <a:spcPct val="50000"/>
              </a:spcBef>
            </a:pPr>
            <a:r>
              <a:rPr lang="en-US" b="1" dirty="0"/>
              <a:t> </a:t>
            </a:r>
            <a:r>
              <a:rPr lang="en-US" dirty="0">
                <a:solidFill>
                  <a:srgbClr val="0432FF"/>
                </a:solidFill>
              </a:rPr>
              <a:t>Reliability</a:t>
            </a:r>
          </a:p>
          <a:p>
            <a:pPr lvl="1">
              <a:lnSpc>
                <a:spcPct val="100000"/>
              </a:lnSpc>
              <a:spcBef>
                <a:spcPct val="50000"/>
              </a:spcBef>
            </a:pPr>
            <a:r>
              <a:rPr lang="en-US" dirty="0"/>
              <a:t>How to make the system resilient to failures</a:t>
            </a:r>
          </a:p>
          <a:p>
            <a:pPr lvl="1">
              <a:lnSpc>
                <a:spcPct val="100000"/>
              </a:lnSpc>
              <a:spcBef>
                <a:spcPct val="50000"/>
              </a:spcBef>
            </a:pPr>
            <a:r>
              <a:rPr lang="en-US" dirty="0"/>
              <a:t>Atomicity and durability</a:t>
            </a:r>
          </a:p>
        </p:txBody>
      </p:sp>
      <p:sp>
        <p:nvSpPr>
          <p:cNvPr id="2" name="Footer Placeholder 1">
            <a:extLst>
              <a:ext uri="{FF2B5EF4-FFF2-40B4-BE49-F238E27FC236}">
                <a16:creationId xmlns:a16="http://schemas.microsoft.com/office/drawing/2014/main" id="{AFAFAC80-B290-0941-8558-F57C0879B2CE}"/>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9C179A51-B329-804D-B824-A8159C66E885}"/>
              </a:ext>
            </a:extLst>
          </p:cNvPr>
          <p:cNvSpPr>
            <a:spLocks noGrp="1"/>
          </p:cNvSpPr>
          <p:nvPr>
            <p:ph type="sldNum" sz="quarter" idx="4"/>
          </p:nvPr>
        </p:nvSpPr>
        <p:spPr/>
        <p:txBody>
          <a:bodyPr/>
          <a:lstStyle/>
          <a:p>
            <a:fld id="{FD96158B-4539-3C43-9DE5-94C547866200}" type="slidenum">
              <a:rPr lang="en-US" smtClean="0"/>
              <a:t>37</a:t>
            </a:fld>
            <a:endParaRPr lang="en-US"/>
          </a:p>
        </p:txBody>
      </p:sp>
    </p:spTree>
    <p:extLst>
      <p:ext uri="{BB962C8B-B14F-4D97-AF65-F5344CB8AC3E}">
        <p14:creationId xmlns:p14="http://schemas.microsoft.com/office/powerpoint/2010/main" val="3245283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B276F-7269-6342-A510-B690AE27F7CF}"/>
              </a:ext>
            </a:extLst>
          </p:cNvPr>
          <p:cNvSpPr>
            <a:spLocks noGrp="1"/>
          </p:cNvSpPr>
          <p:nvPr>
            <p:ph type="title"/>
          </p:nvPr>
        </p:nvSpPr>
        <p:spPr/>
        <p:txBody>
          <a:bodyPr/>
          <a:lstStyle/>
          <a:p>
            <a:r>
              <a:rPr lang="en-US" dirty="0"/>
              <a:t>Distributed DBMS Issues</a:t>
            </a:r>
          </a:p>
        </p:txBody>
      </p:sp>
      <p:sp>
        <p:nvSpPr>
          <p:cNvPr id="3" name="Content Placeholder 2">
            <a:extLst>
              <a:ext uri="{FF2B5EF4-FFF2-40B4-BE49-F238E27FC236}">
                <a16:creationId xmlns:a16="http://schemas.microsoft.com/office/drawing/2014/main" id="{76FD94C2-6BAA-1048-8AB0-67E2B11B6BFA}"/>
              </a:ext>
            </a:extLst>
          </p:cNvPr>
          <p:cNvSpPr>
            <a:spLocks noGrp="1"/>
          </p:cNvSpPr>
          <p:nvPr>
            <p:ph idx="1"/>
          </p:nvPr>
        </p:nvSpPr>
        <p:spPr/>
        <p:txBody>
          <a:bodyPr/>
          <a:lstStyle/>
          <a:p>
            <a:r>
              <a:rPr lang="en-US" dirty="0">
                <a:solidFill>
                  <a:srgbClr val="0432FF"/>
                </a:solidFill>
              </a:rPr>
              <a:t>Replication</a:t>
            </a:r>
          </a:p>
          <a:p>
            <a:pPr lvl="1"/>
            <a:r>
              <a:rPr lang="en-US" dirty="0"/>
              <a:t>Mutual consistency</a:t>
            </a:r>
          </a:p>
          <a:p>
            <a:pPr lvl="1"/>
            <a:r>
              <a:rPr lang="en-US" dirty="0"/>
              <a:t>Freshness of copies</a:t>
            </a:r>
          </a:p>
          <a:p>
            <a:pPr lvl="1"/>
            <a:r>
              <a:rPr lang="en-US" dirty="0"/>
              <a:t>Eager vs lazy</a:t>
            </a:r>
          </a:p>
          <a:p>
            <a:pPr lvl="1"/>
            <a:r>
              <a:rPr lang="en-US" dirty="0"/>
              <a:t>Centralized vs distributed</a:t>
            </a:r>
          </a:p>
          <a:p>
            <a:r>
              <a:rPr lang="en-US" dirty="0">
                <a:solidFill>
                  <a:srgbClr val="0432FF"/>
                </a:solidFill>
              </a:rPr>
              <a:t>Parallel DBMS</a:t>
            </a:r>
          </a:p>
          <a:p>
            <a:pPr lvl="1"/>
            <a:r>
              <a:rPr lang="en-US" dirty="0"/>
              <a:t>Objectives: high scalability and performance</a:t>
            </a:r>
          </a:p>
          <a:p>
            <a:pPr lvl="1"/>
            <a:r>
              <a:rPr lang="en-US" dirty="0"/>
              <a:t>Not geo-distributed</a:t>
            </a:r>
          </a:p>
          <a:p>
            <a:pPr lvl="1"/>
            <a:r>
              <a:rPr lang="en-US" dirty="0"/>
              <a:t>Cluster computing</a:t>
            </a:r>
          </a:p>
        </p:txBody>
      </p:sp>
      <p:sp>
        <p:nvSpPr>
          <p:cNvPr id="4" name="Footer Placeholder 3">
            <a:extLst>
              <a:ext uri="{FF2B5EF4-FFF2-40B4-BE49-F238E27FC236}">
                <a16:creationId xmlns:a16="http://schemas.microsoft.com/office/drawing/2014/main" id="{21B21ABB-5A09-6A4E-8358-0E3BF6AAC488}"/>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4102A4C7-66ED-7846-A8F6-DB53FE61DB2C}"/>
              </a:ext>
            </a:extLst>
          </p:cNvPr>
          <p:cNvSpPr>
            <a:spLocks noGrp="1"/>
          </p:cNvSpPr>
          <p:nvPr>
            <p:ph type="sldNum" sz="quarter" idx="4"/>
          </p:nvPr>
        </p:nvSpPr>
        <p:spPr/>
        <p:txBody>
          <a:bodyPr/>
          <a:lstStyle/>
          <a:p>
            <a:fld id="{FD96158B-4539-3C43-9DE5-94C547866200}" type="slidenum">
              <a:rPr lang="en-US" smtClean="0"/>
              <a:t>38</a:t>
            </a:fld>
            <a:endParaRPr lang="en-US"/>
          </a:p>
        </p:txBody>
      </p:sp>
    </p:spTree>
    <p:extLst>
      <p:ext uri="{BB962C8B-B14F-4D97-AF65-F5344CB8AC3E}">
        <p14:creationId xmlns:p14="http://schemas.microsoft.com/office/powerpoint/2010/main" val="3982363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title"/>
          </p:nvPr>
        </p:nvSpPr>
        <p:spPr>
          <a:noFill/>
          <a:ln/>
        </p:spPr>
        <p:txBody>
          <a:bodyPr/>
          <a:lstStyle/>
          <a:p>
            <a:r>
              <a:rPr lang="en-US"/>
              <a:t>Related Issues</a:t>
            </a:r>
          </a:p>
        </p:txBody>
      </p:sp>
      <p:sp>
        <p:nvSpPr>
          <p:cNvPr id="41986" name="Rectangle 2"/>
          <p:cNvSpPr>
            <a:spLocks noGrp="1" noChangeArrowheads="1"/>
          </p:cNvSpPr>
          <p:nvPr>
            <p:ph idx="1"/>
          </p:nvPr>
        </p:nvSpPr>
        <p:spPr>
          <a:xfrm>
            <a:off x="457200" y="1600200"/>
            <a:ext cx="8229600" cy="4565104"/>
          </a:xfrm>
          <a:noFill/>
          <a:ln/>
        </p:spPr>
        <p:txBody>
          <a:bodyPr/>
          <a:lstStyle/>
          <a:p>
            <a:r>
              <a:rPr lang="en-US" dirty="0">
                <a:solidFill>
                  <a:srgbClr val="0432FF"/>
                </a:solidFill>
              </a:rPr>
              <a:t>Alternative distribution approaches</a:t>
            </a:r>
          </a:p>
          <a:p>
            <a:pPr lvl="1"/>
            <a:r>
              <a:rPr lang="en-US" dirty="0"/>
              <a:t>Modern P2P</a:t>
            </a:r>
          </a:p>
          <a:p>
            <a:pPr lvl="1"/>
            <a:r>
              <a:rPr lang="en-US" dirty="0"/>
              <a:t>World Wide Web (WWW or Web)</a:t>
            </a:r>
          </a:p>
          <a:p>
            <a:r>
              <a:rPr lang="en-US" dirty="0">
                <a:solidFill>
                  <a:srgbClr val="0432FF"/>
                </a:solidFill>
              </a:rPr>
              <a:t>Big data processing</a:t>
            </a:r>
          </a:p>
          <a:p>
            <a:pPr lvl="1"/>
            <a:r>
              <a:rPr lang="en-US" dirty="0"/>
              <a:t>4V: volume, variety, velocity, veracity</a:t>
            </a:r>
          </a:p>
          <a:p>
            <a:pPr lvl="1"/>
            <a:r>
              <a:rPr lang="en-US" dirty="0"/>
              <a:t>MapReduce &amp; Spark</a:t>
            </a:r>
          </a:p>
          <a:p>
            <a:pPr lvl="1"/>
            <a:r>
              <a:rPr lang="en-US" dirty="0"/>
              <a:t>Stream data</a:t>
            </a:r>
          </a:p>
          <a:p>
            <a:pPr lvl="1"/>
            <a:r>
              <a:rPr lang="en-US" dirty="0"/>
              <a:t>Graph analytics</a:t>
            </a:r>
          </a:p>
          <a:p>
            <a:pPr lvl="1"/>
            <a:r>
              <a:rPr lang="en-US" dirty="0" err="1"/>
              <a:t>NoSQL</a:t>
            </a:r>
            <a:endParaRPr lang="en-US" dirty="0"/>
          </a:p>
          <a:p>
            <a:pPr lvl="1"/>
            <a:r>
              <a:rPr lang="en-US" dirty="0" err="1"/>
              <a:t>NewSQL</a:t>
            </a:r>
            <a:endParaRPr lang="en-US" dirty="0"/>
          </a:p>
          <a:p>
            <a:pPr lvl="1"/>
            <a:r>
              <a:rPr lang="en-US" dirty="0" err="1"/>
              <a:t>Polystores</a:t>
            </a:r>
            <a:endParaRPr lang="en-US" dirty="0"/>
          </a:p>
        </p:txBody>
      </p:sp>
      <p:sp>
        <p:nvSpPr>
          <p:cNvPr id="2" name="Footer Placeholder 1">
            <a:extLst>
              <a:ext uri="{FF2B5EF4-FFF2-40B4-BE49-F238E27FC236}">
                <a16:creationId xmlns:a16="http://schemas.microsoft.com/office/drawing/2014/main" id="{672AB1D2-B5CF-994A-AC00-7744B3E83056}"/>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61AD7D43-9C9A-7640-B963-D05675A6EDBF}"/>
              </a:ext>
            </a:extLst>
          </p:cNvPr>
          <p:cNvSpPr>
            <a:spLocks noGrp="1"/>
          </p:cNvSpPr>
          <p:nvPr>
            <p:ph type="sldNum" sz="quarter" idx="4"/>
          </p:nvPr>
        </p:nvSpPr>
        <p:spPr/>
        <p:txBody>
          <a:bodyPr/>
          <a:lstStyle/>
          <a:p>
            <a:fld id="{FD96158B-4539-3C43-9DE5-94C547866200}" type="slidenum">
              <a:rPr lang="en-US" smtClean="0"/>
              <a:t>39</a:t>
            </a:fld>
            <a:endParaRPr lang="en-US"/>
          </a:p>
        </p:txBody>
      </p:sp>
    </p:spTree>
    <p:extLst>
      <p:ext uri="{BB962C8B-B14F-4D97-AF65-F5344CB8AC3E}">
        <p14:creationId xmlns:p14="http://schemas.microsoft.com/office/powerpoint/2010/main" val="1514058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dirty="0"/>
              <a:t>Outline</a:t>
            </a:r>
          </a:p>
        </p:txBody>
      </p:sp>
      <p:sp>
        <p:nvSpPr>
          <p:cNvPr id="15362" name="Rectangle 2"/>
          <p:cNvSpPr>
            <a:spLocks noGrp="1" noChangeArrowheads="1"/>
          </p:cNvSpPr>
          <p:nvPr>
            <p:ph idx="1"/>
          </p:nvPr>
        </p:nvSpPr>
        <p:spPr>
          <a:xfrm>
            <a:off x="457200" y="1268760"/>
            <a:ext cx="8229600" cy="4862165"/>
          </a:xfrm>
          <a:ln/>
        </p:spPr>
        <p:txBody>
          <a:bodyPr>
            <a:normAutofit/>
          </a:bodyPr>
          <a:lstStyle/>
          <a:p>
            <a:r>
              <a:rPr lang="en-US" dirty="0">
                <a:solidFill>
                  <a:srgbClr val="1771A9"/>
                </a:solidFill>
                <a:cs typeface="Book Antiqua"/>
              </a:rPr>
              <a:t>Introduction</a:t>
            </a:r>
          </a:p>
          <a:p>
            <a:pPr lvl="1"/>
            <a:r>
              <a:rPr lang="en-US" dirty="0">
                <a:solidFill>
                  <a:srgbClr val="1771A9">
                    <a:alpha val="25000"/>
                  </a:srgbClr>
                </a:solidFill>
                <a:cs typeface="Book Antiqua"/>
              </a:rPr>
              <a:t>What is a distributed DBMS</a:t>
            </a:r>
          </a:p>
          <a:p>
            <a:pPr lvl="1"/>
            <a:r>
              <a:rPr lang="en-US" dirty="0">
                <a:solidFill>
                  <a:srgbClr val="1771A9">
                    <a:alpha val="25000"/>
                  </a:srgbClr>
                </a:solidFill>
                <a:cs typeface="Book Antiqua"/>
              </a:rPr>
              <a:t>History</a:t>
            </a:r>
          </a:p>
          <a:p>
            <a:pPr lvl="1"/>
            <a:r>
              <a:rPr lang="en-US" dirty="0">
                <a:solidFill>
                  <a:srgbClr val="1771A9">
                    <a:alpha val="25000"/>
                  </a:srgbClr>
                </a:solidFill>
                <a:cs typeface="Book Antiqua"/>
              </a:rPr>
              <a:t>Distributed DBMS promises</a:t>
            </a:r>
          </a:p>
          <a:p>
            <a:pPr lvl="1"/>
            <a:r>
              <a:rPr lang="en-US" dirty="0">
                <a:solidFill>
                  <a:srgbClr val="1771A9">
                    <a:alpha val="25000"/>
                  </a:srgbClr>
                </a:solidFill>
                <a:cs typeface="Book Antiqua"/>
              </a:rPr>
              <a:t>Design issues</a:t>
            </a:r>
          </a:p>
          <a:p>
            <a:pPr lvl="1"/>
            <a:r>
              <a:rPr lang="en-US" dirty="0">
                <a:solidFill>
                  <a:srgbClr val="1771A9"/>
                </a:solidFill>
                <a:cs typeface="Book Antiqua"/>
              </a:rPr>
              <a:t>Distributed DBMS architecture</a:t>
            </a:r>
          </a:p>
        </p:txBody>
      </p:sp>
      <p:sp>
        <p:nvSpPr>
          <p:cNvPr id="2" name="Footer Placeholder 1">
            <a:extLst>
              <a:ext uri="{FF2B5EF4-FFF2-40B4-BE49-F238E27FC236}">
                <a16:creationId xmlns:a16="http://schemas.microsoft.com/office/drawing/2014/main" id="{351B72E8-7C79-424E-A232-677D185C1BED}"/>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61C3681F-B44B-9F40-96A9-7695DC0EC710}"/>
              </a:ext>
            </a:extLst>
          </p:cNvPr>
          <p:cNvSpPr>
            <a:spLocks noGrp="1"/>
          </p:cNvSpPr>
          <p:nvPr>
            <p:ph type="sldNum" sz="quarter" idx="4"/>
          </p:nvPr>
        </p:nvSpPr>
        <p:spPr/>
        <p:txBody>
          <a:bodyPr/>
          <a:lstStyle/>
          <a:p>
            <a:fld id="{FD96158B-4539-3C43-9DE5-94C547866200}" type="slidenum">
              <a:rPr lang="en-US" smtClean="0"/>
              <a:t>40</a:t>
            </a:fld>
            <a:endParaRPr lang="en-US"/>
          </a:p>
        </p:txBody>
      </p:sp>
    </p:spTree>
    <p:extLst>
      <p:ext uri="{BB962C8B-B14F-4D97-AF65-F5344CB8AC3E}">
        <p14:creationId xmlns:p14="http://schemas.microsoft.com/office/powerpoint/2010/main" val="34060773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50031" y="320335"/>
            <a:ext cx="8893969" cy="1134070"/>
          </a:xfrm>
        </p:spPr>
        <p:txBody>
          <a:bodyPr/>
          <a:lstStyle/>
          <a:p>
            <a:r>
              <a:rPr lang="en-US" dirty="0"/>
              <a:t>DBMS Implementation Alternatives</a:t>
            </a:r>
          </a:p>
        </p:txBody>
      </p:sp>
      <p:sp>
        <p:nvSpPr>
          <p:cNvPr id="2" name="Footer Placeholder 1">
            <a:extLst>
              <a:ext uri="{FF2B5EF4-FFF2-40B4-BE49-F238E27FC236}">
                <a16:creationId xmlns:a16="http://schemas.microsoft.com/office/drawing/2014/main" id="{E78A8474-2E96-8C4C-8A7A-031B005CD955}"/>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C93414DE-E5EB-024B-8787-A4972BC474CD}"/>
              </a:ext>
            </a:extLst>
          </p:cNvPr>
          <p:cNvSpPr>
            <a:spLocks noGrp="1"/>
          </p:cNvSpPr>
          <p:nvPr>
            <p:ph type="sldNum" sz="quarter" idx="4"/>
          </p:nvPr>
        </p:nvSpPr>
        <p:spPr/>
        <p:txBody>
          <a:bodyPr/>
          <a:lstStyle/>
          <a:p>
            <a:fld id="{FD96158B-4539-3C43-9DE5-94C547866200}" type="slidenum">
              <a:rPr lang="en-US" smtClean="0"/>
              <a:t>41</a:t>
            </a:fld>
            <a:endParaRPr lang="en-US"/>
          </a:p>
        </p:txBody>
      </p:sp>
      <p:pic>
        <p:nvPicPr>
          <p:cNvPr id="6" name="Picture 5" descr="A close up of a map&#10;&#10;Description automatically generated">
            <a:extLst>
              <a:ext uri="{FF2B5EF4-FFF2-40B4-BE49-F238E27FC236}">
                <a16:creationId xmlns:a16="http://schemas.microsoft.com/office/drawing/2014/main" id="{18190C74-4265-344D-83F0-A89855255AB0}"/>
              </a:ext>
            </a:extLst>
          </p:cNvPr>
          <p:cNvPicPr>
            <a:picLocks noChangeAspect="1"/>
          </p:cNvPicPr>
          <p:nvPr/>
        </p:nvPicPr>
        <p:blipFill>
          <a:blip r:embed="rId3"/>
          <a:stretch>
            <a:fillRect/>
          </a:stretch>
        </p:blipFill>
        <p:spPr>
          <a:xfrm>
            <a:off x="1763688" y="1489971"/>
            <a:ext cx="5616624" cy="4565896"/>
          </a:xfrm>
          <a:prstGeom prst="rect">
            <a:avLst/>
          </a:prstGeom>
        </p:spPr>
      </p:pic>
    </p:spTree>
    <p:extLst>
      <p:ext uri="{BB962C8B-B14F-4D97-AF65-F5344CB8AC3E}">
        <p14:creationId xmlns:p14="http://schemas.microsoft.com/office/powerpoint/2010/main" val="15528266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a:lstStyle/>
          <a:p>
            <a:r>
              <a:rPr lang="en-US"/>
              <a:t>Dimensions of the Problem</a:t>
            </a:r>
          </a:p>
        </p:txBody>
      </p:sp>
      <p:sp>
        <p:nvSpPr>
          <p:cNvPr id="31747" name="Rectangle 3"/>
          <p:cNvSpPr>
            <a:spLocks noGrp="1" noChangeArrowheads="1"/>
          </p:cNvSpPr>
          <p:nvPr>
            <p:ph idx="1"/>
          </p:nvPr>
        </p:nvSpPr>
        <p:spPr>
          <a:xfrm>
            <a:off x="457200" y="1412776"/>
            <a:ext cx="8229600" cy="4853136"/>
          </a:xfrm>
          <a:noFill/>
          <a:ln/>
        </p:spPr>
        <p:txBody>
          <a:bodyPr>
            <a:normAutofit fontScale="85000" lnSpcReduction="20000"/>
          </a:bodyPr>
          <a:lstStyle/>
          <a:p>
            <a:pPr>
              <a:lnSpc>
                <a:spcPct val="120000"/>
              </a:lnSpc>
              <a:spcBef>
                <a:spcPct val="20000"/>
              </a:spcBef>
            </a:pPr>
            <a:r>
              <a:rPr lang="en-US" dirty="0"/>
              <a:t>Distribution</a:t>
            </a:r>
          </a:p>
          <a:p>
            <a:pPr lvl="1">
              <a:lnSpc>
                <a:spcPct val="120000"/>
              </a:lnSpc>
              <a:spcBef>
                <a:spcPct val="20000"/>
              </a:spcBef>
            </a:pPr>
            <a:r>
              <a:rPr lang="en-US" dirty="0"/>
              <a:t>Whether the components of the system are located on the same machine or not</a:t>
            </a:r>
          </a:p>
          <a:p>
            <a:pPr>
              <a:lnSpc>
                <a:spcPct val="120000"/>
              </a:lnSpc>
              <a:spcBef>
                <a:spcPct val="20000"/>
              </a:spcBef>
            </a:pPr>
            <a:r>
              <a:rPr lang="en-US" dirty="0"/>
              <a:t>Heterogeneity</a:t>
            </a:r>
          </a:p>
          <a:p>
            <a:pPr lvl="1">
              <a:lnSpc>
                <a:spcPct val="120000"/>
              </a:lnSpc>
              <a:spcBef>
                <a:spcPct val="20000"/>
              </a:spcBef>
            </a:pPr>
            <a:r>
              <a:rPr lang="en-US" dirty="0"/>
              <a:t>Various levels (hardware, communications, operating system)</a:t>
            </a:r>
          </a:p>
          <a:p>
            <a:pPr lvl="1">
              <a:lnSpc>
                <a:spcPct val="120000"/>
              </a:lnSpc>
              <a:spcBef>
                <a:spcPct val="20000"/>
              </a:spcBef>
            </a:pPr>
            <a:r>
              <a:rPr lang="en-US" dirty="0"/>
              <a:t>DBMS important one</a:t>
            </a:r>
          </a:p>
          <a:p>
            <a:pPr lvl="2">
              <a:lnSpc>
                <a:spcPct val="120000"/>
              </a:lnSpc>
              <a:spcBef>
                <a:spcPct val="20000"/>
              </a:spcBef>
            </a:pPr>
            <a:r>
              <a:rPr lang="en-US" dirty="0"/>
              <a:t>data model, query </a:t>
            </a:r>
            <a:r>
              <a:rPr lang="en-US" dirty="0" err="1"/>
              <a:t>language,transaction</a:t>
            </a:r>
            <a:r>
              <a:rPr lang="en-US" dirty="0"/>
              <a:t> management algorithms</a:t>
            </a:r>
          </a:p>
          <a:p>
            <a:pPr>
              <a:lnSpc>
                <a:spcPct val="120000"/>
              </a:lnSpc>
              <a:spcBef>
                <a:spcPct val="20000"/>
              </a:spcBef>
            </a:pPr>
            <a:r>
              <a:rPr lang="en-US" dirty="0"/>
              <a:t>Autonomy</a:t>
            </a:r>
          </a:p>
          <a:p>
            <a:pPr lvl="1">
              <a:lnSpc>
                <a:spcPct val="120000"/>
              </a:lnSpc>
              <a:spcBef>
                <a:spcPct val="20000"/>
              </a:spcBef>
            </a:pPr>
            <a:r>
              <a:rPr lang="en-US" dirty="0"/>
              <a:t>Not well understood and most troublesome</a:t>
            </a:r>
          </a:p>
          <a:p>
            <a:pPr lvl="1">
              <a:lnSpc>
                <a:spcPct val="120000"/>
              </a:lnSpc>
              <a:spcBef>
                <a:spcPct val="20000"/>
              </a:spcBef>
            </a:pPr>
            <a:r>
              <a:rPr lang="en-US" dirty="0"/>
              <a:t>Various versions</a:t>
            </a:r>
          </a:p>
          <a:p>
            <a:pPr lvl="2">
              <a:lnSpc>
                <a:spcPct val="120000"/>
              </a:lnSpc>
            </a:pPr>
            <a:r>
              <a:rPr lang="en-US" dirty="0">
                <a:solidFill>
                  <a:schemeClr val="tx2"/>
                </a:solidFill>
              </a:rPr>
              <a:t>Design autonomy</a:t>
            </a:r>
            <a:r>
              <a:rPr lang="en-US" dirty="0"/>
              <a:t>: Ability of a component DBMS to decide on issues related to its own design.</a:t>
            </a:r>
          </a:p>
          <a:p>
            <a:pPr lvl="2">
              <a:lnSpc>
                <a:spcPct val="120000"/>
              </a:lnSpc>
            </a:pPr>
            <a:r>
              <a:rPr lang="en-US" dirty="0">
                <a:solidFill>
                  <a:schemeClr val="tx2"/>
                </a:solidFill>
              </a:rPr>
              <a:t>Communication autonomy</a:t>
            </a:r>
            <a:r>
              <a:rPr lang="en-US" dirty="0"/>
              <a:t>: Ability of a component DBMS to decide whether and how to communicate with other DBMSs.</a:t>
            </a:r>
          </a:p>
          <a:p>
            <a:pPr lvl="2">
              <a:lnSpc>
                <a:spcPct val="120000"/>
              </a:lnSpc>
            </a:pPr>
            <a:r>
              <a:rPr lang="en-US" dirty="0">
                <a:solidFill>
                  <a:schemeClr val="tx2"/>
                </a:solidFill>
              </a:rPr>
              <a:t>Execution autonomy</a:t>
            </a:r>
            <a:r>
              <a:rPr lang="en-US" dirty="0"/>
              <a:t>: Ability of a component DBMS to execute local operations in any manner it wants to.</a:t>
            </a:r>
          </a:p>
        </p:txBody>
      </p:sp>
      <p:sp>
        <p:nvSpPr>
          <p:cNvPr id="2" name="Footer Placeholder 1">
            <a:extLst>
              <a:ext uri="{FF2B5EF4-FFF2-40B4-BE49-F238E27FC236}">
                <a16:creationId xmlns:a16="http://schemas.microsoft.com/office/drawing/2014/main" id="{3BC98616-5D36-F841-84E4-E671C2DF851B}"/>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A635C5EF-8EE8-C545-91A9-110C93B6EB38}"/>
              </a:ext>
            </a:extLst>
          </p:cNvPr>
          <p:cNvSpPr>
            <a:spLocks noGrp="1"/>
          </p:cNvSpPr>
          <p:nvPr>
            <p:ph type="sldNum" sz="quarter" idx="4"/>
          </p:nvPr>
        </p:nvSpPr>
        <p:spPr/>
        <p:txBody>
          <a:bodyPr/>
          <a:lstStyle/>
          <a:p>
            <a:fld id="{FD96158B-4539-3C43-9DE5-94C547866200}" type="slidenum">
              <a:rPr lang="en-US" smtClean="0"/>
              <a:t>42</a:t>
            </a:fld>
            <a:endParaRPr lang="en-US"/>
          </a:p>
        </p:txBody>
      </p:sp>
    </p:spTree>
    <p:extLst>
      <p:ext uri="{BB962C8B-B14F-4D97-AF65-F5344CB8AC3E}">
        <p14:creationId xmlns:p14="http://schemas.microsoft.com/office/powerpoint/2010/main" val="33121843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E3C65-BC0D-670C-9DD5-980EEEC01934}"/>
              </a:ext>
            </a:extLst>
          </p:cNvPr>
          <p:cNvSpPr>
            <a:spLocks noGrp="1"/>
          </p:cNvSpPr>
          <p:nvPr>
            <p:ph type="title"/>
          </p:nvPr>
        </p:nvSpPr>
        <p:spPr/>
        <p:txBody>
          <a:bodyPr/>
          <a:lstStyle/>
          <a:p>
            <a:r>
              <a:rPr lang="en-US" dirty="0"/>
              <a:t>Client/Server System</a:t>
            </a:r>
          </a:p>
        </p:txBody>
      </p:sp>
      <p:sp>
        <p:nvSpPr>
          <p:cNvPr id="3" name="Content Placeholder 2">
            <a:extLst>
              <a:ext uri="{FF2B5EF4-FFF2-40B4-BE49-F238E27FC236}">
                <a16:creationId xmlns:a16="http://schemas.microsoft.com/office/drawing/2014/main" id="{31C44414-F474-B882-3E88-667154A0BDC1}"/>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D88A1711-C1E1-C468-AC06-72EA2527D0C9}"/>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C80FEC2A-1DEC-8719-DCE7-BCD28D8D594E}"/>
              </a:ext>
            </a:extLst>
          </p:cNvPr>
          <p:cNvSpPr>
            <a:spLocks noGrp="1"/>
          </p:cNvSpPr>
          <p:nvPr>
            <p:ph type="sldNum" sz="quarter" idx="4"/>
          </p:nvPr>
        </p:nvSpPr>
        <p:spPr/>
        <p:txBody>
          <a:bodyPr/>
          <a:lstStyle/>
          <a:p>
            <a:fld id="{FD96158B-4539-3C43-9DE5-94C547866200}" type="slidenum">
              <a:rPr lang="en-US" smtClean="0"/>
              <a:t>43</a:t>
            </a:fld>
            <a:endParaRPr lang="en-US"/>
          </a:p>
        </p:txBody>
      </p:sp>
    </p:spTree>
    <p:extLst>
      <p:ext uri="{BB962C8B-B14F-4D97-AF65-F5344CB8AC3E}">
        <p14:creationId xmlns:p14="http://schemas.microsoft.com/office/powerpoint/2010/main" val="24291129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 System</a:t>
            </a:r>
            <a:br>
              <a:rPr lang="en-US" dirty="0"/>
            </a:br>
            <a:r>
              <a:rPr lang="en-US" dirty="0"/>
              <a:t>Client/Server Architecture</a:t>
            </a:r>
          </a:p>
        </p:txBody>
      </p:sp>
      <p:sp>
        <p:nvSpPr>
          <p:cNvPr id="3" name="Footer Placeholder 2">
            <a:extLst>
              <a:ext uri="{FF2B5EF4-FFF2-40B4-BE49-F238E27FC236}">
                <a16:creationId xmlns:a16="http://schemas.microsoft.com/office/drawing/2014/main" id="{76C834D4-CE13-AF42-A9DA-E41CB2E27EE5}"/>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4C2295EB-D944-F74E-B242-0FB505604ABB}"/>
              </a:ext>
            </a:extLst>
          </p:cNvPr>
          <p:cNvSpPr>
            <a:spLocks noGrp="1"/>
          </p:cNvSpPr>
          <p:nvPr>
            <p:ph type="sldNum" sz="quarter" idx="4"/>
          </p:nvPr>
        </p:nvSpPr>
        <p:spPr/>
        <p:txBody>
          <a:bodyPr/>
          <a:lstStyle/>
          <a:p>
            <a:fld id="{FD96158B-4539-3C43-9DE5-94C547866200}" type="slidenum">
              <a:rPr lang="en-US" smtClean="0"/>
              <a:t>44</a:t>
            </a:fld>
            <a:endParaRPr lang="en-US"/>
          </a:p>
        </p:txBody>
      </p:sp>
      <p:pic>
        <p:nvPicPr>
          <p:cNvPr id="6" name="Picture 5" descr="A screenshot of a cell phone&#10;&#10;Description automatically generated">
            <a:extLst>
              <a:ext uri="{FF2B5EF4-FFF2-40B4-BE49-F238E27FC236}">
                <a16:creationId xmlns:a16="http://schemas.microsoft.com/office/drawing/2014/main" id="{59950219-EADD-F845-95C2-9C19281A3724}"/>
              </a:ext>
            </a:extLst>
          </p:cNvPr>
          <p:cNvPicPr>
            <a:picLocks noChangeAspect="1"/>
          </p:cNvPicPr>
          <p:nvPr/>
        </p:nvPicPr>
        <p:blipFill>
          <a:blip r:embed="rId2"/>
          <a:stretch>
            <a:fillRect/>
          </a:stretch>
        </p:blipFill>
        <p:spPr>
          <a:xfrm>
            <a:off x="3131840" y="1268760"/>
            <a:ext cx="3312368" cy="4874806"/>
          </a:xfrm>
          <a:prstGeom prst="rect">
            <a:avLst/>
          </a:prstGeom>
        </p:spPr>
      </p:pic>
    </p:spTree>
    <p:extLst>
      <p:ext uri="{BB962C8B-B14F-4D97-AF65-F5344CB8AC3E}">
        <p14:creationId xmlns:p14="http://schemas.microsoft.com/office/powerpoint/2010/main" val="5510783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a:lstStyle/>
          <a:p>
            <a:r>
              <a:rPr lang="en-US" dirty="0"/>
              <a:t>Advantages of Client-Server Architectures</a:t>
            </a:r>
          </a:p>
        </p:txBody>
      </p:sp>
      <p:sp>
        <p:nvSpPr>
          <p:cNvPr id="44035" name="Rectangle 3"/>
          <p:cNvSpPr>
            <a:spLocks noGrp="1" noChangeArrowheads="1"/>
          </p:cNvSpPr>
          <p:nvPr>
            <p:ph idx="1"/>
          </p:nvPr>
        </p:nvSpPr>
        <p:spPr>
          <a:xfrm>
            <a:off x="457200" y="1816224"/>
            <a:ext cx="8229600" cy="4205064"/>
          </a:xfrm>
          <a:noFill/>
          <a:ln/>
        </p:spPr>
        <p:txBody>
          <a:bodyPr/>
          <a:lstStyle/>
          <a:p>
            <a:pPr>
              <a:lnSpc>
                <a:spcPct val="100000"/>
              </a:lnSpc>
              <a:spcBef>
                <a:spcPct val="40000"/>
              </a:spcBef>
            </a:pPr>
            <a:r>
              <a:rPr lang="en-US" dirty="0"/>
              <a:t>More efficient division of labor </a:t>
            </a:r>
          </a:p>
          <a:p>
            <a:pPr>
              <a:lnSpc>
                <a:spcPct val="100000"/>
              </a:lnSpc>
              <a:spcBef>
                <a:spcPct val="40000"/>
              </a:spcBef>
            </a:pPr>
            <a:r>
              <a:rPr lang="en-US" dirty="0"/>
              <a:t>Horizontal and vertical scaling of resources</a:t>
            </a:r>
          </a:p>
          <a:p>
            <a:pPr>
              <a:lnSpc>
                <a:spcPct val="100000"/>
              </a:lnSpc>
              <a:spcBef>
                <a:spcPct val="40000"/>
              </a:spcBef>
            </a:pPr>
            <a:r>
              <a:rPr lang="en-US" dirty="0"/>
              <a:t>Better price/performance on client machines</a:t>
            </a:r>
          </a:p>
          <a:p>
            <a:pPr>
              <a:lnSpc>
                <a:spcPct val="100000"/>
              </a:lnSpc>
              <a:spcBef>
                <a:spcPct val="40000"/>
              </a:spcBef>
            </a:pPr>
            <a:r>
              <a:rPr lang="en-US" dirty="0"/>
              <a:t>Ability to use familiar tools on client machines</a:t>
            </a:r>
          </a:p>
          <a:p>
            <a:pPr>
              <a:lnSpc>
                <a:spcPct val="100000"/>
              </a:lnSpc>
              <a:spcBef>
                <a:spcPct val="40000"/>
              </a:spcBef>
            </a:pPr>
            <a:r>
              <a:rPr lang="en-US" dirty="0"/>
              <a:t>Client access to remote data (via standards)</a:t>
            </a:r>
          </a:p>
          <a:p>
            <a:pPr>
              <a:lnSpc>
                <a:spcPct val="100000"/>
              </a:lnSpc>
              <a:spcBef>
                <a:spcPct val="40000"/>
              </a:spcBef>
            </a:pPr>
            <a:r>
              <a:rPr lang="en-US" dirty="0"/>
              <a:t>Full DBMS functionality provided to client workstations</a:t>
            </a:r>
          </a:p>
          <a:p>
            <a:pPr>
              <a:lnSpc>
                <a:spcPct val="100000"/>
              </a:lnSpc>
              <a:spcBef>
                <a:spcPct val="40000"/>
              </a:spcBef>
            </a:pPr>
            <a:r>
              <a:rPr lang="en-US" dirty="0"/>
              <a:t>Overall better system price/performance</a:t>
            </a:r>
          </a:p>
        </p:txBody>
      </p:sp>
      <p:sp>
        <p:nvSpPr>
          <p:cNvPr id="2" name="Footer Placeholder 1">
            <a:extLst>
              <a:ext uri="{FF2B5EF4-FFF2-40B4-BE49-F238E27FC236}">
                <a16:creationId xmlns:a16="http://schemas.microsoft.com/office/drawing/2014/main" id="{8043FEE0-7CE0-BF45-B2F8-F6B33D1D1835}"/>
              </a:ext>
            </a:extLst>
          </p:cNvPr>
          <p:cNvSpPr>
            <a:spLocks noGrp="1"/>
          </p:cNvSpPr>
          <p:nvPr>
            <p:ph type="ftr" sz="quarter" idx="3"/>
          </p:nvPr>
        </p:nvSpPr>
        <p:spPr/>
        <p:txBody>
          <a:bodyPr/>
          <a:lstStyle/>
          <a:p>
            <a:r>
              <a:rPr lang="en-US"/>
              <a:t>© 2020, M.T. Özsu &amp; P. Valduriez TS. Pan Thị Hà_PTIT</a:t>
            </a:r>
            <a:endParaRPr lang="en-US" dirty="0"/>
          </a:p>
        </p:txBody>
      </p:sp>
      <p:sp>
        <p:nvSpPr>
          <p:cNvPr id="3" name="Slide Number Placeholder 2">
            <a:extLst>
              <a:ext uri="{FF2B5EF4-FFF2-40B4-BE49-F238E27FC236}">
                <a16:creationId xmlns:a16="http://schemas.microsoft.com/office/drawing/2014/main" id="{138FB51D-3FD4-0640-A468-A1F153E94D13}"/>
              </a:ext>
            </a:extLst>
          </p:cNvPr>
          <p:cNvSpPr>
            <a:spLocks noGrp="1"/>
          </p:cNvSpPr>
          <p:nvPr>
            <p:ph type="sldNum" sz="quarter" idx="4"/>
          </p:nvPr>
        </p:nvSpPr>
        <p:spPr/>
        <p:txBody>
          <a:bodyPr/>
          <a:lstStyle/>
          <a:p>
            <a:fld id="{FD96158B-4539-3C43-9DE5-94C547866200}" type="slidenum">
              <a:rPr lang="en-US" smtClean="0"/>
              <a:t>45</a:t>
            </a:fld>
            <a:endParaRPr lang="en-US"/>
          </a:p>
        </p:txBody>
      </p:sp>
    </p:spTree>
    <p:extLst>
      <p:ext uri="{BB962C8B-B14F-4D97-AF65-F5344CB8AC3E}">
        <p14:creationId xmlns:p14="http://schemas.microsoft.com/office/powerpoint/2010/main" val="42324132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Server</a:t>
            </a:r>
          </a:p>
        </p:txBody>
      </p:sp>
      <p:pic>
        <p:nvPicPr>
          <p:cNvPr id="4" name="Picture 3" descr="Fig-1-12.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9816" y="1196752"/>
            <a:ext cx="4364367" cy="4839071"/>
          </a:xfrm>
          <a:prstGeom prst="rect">
            <a:avLst/>
          </a:prstGeom>
        </p:spPr>
      </p:pic>
      <p:sp>
        <p:nvSpPr>
          <p:cNvPr id="3" name="Footer Placeholder 2">
            <a:extLst>
              <a:ext uri="{FF2B5EF4-FFF2-40B4-BE49-F238E27FC236}">
                <a16:creationId xmlns:a16="http://schemas.microsoft.com/office/drawing/2014/main" id="{837BDCE2-975A-2748-B32C-60B8FBA22E90}"/>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0386520F-74B7-B44F-A7F3-DC0A04FC0E03}"/>
              </a:ext>
            </a:extLst>
          </p:cNvPr>
          <p:cNvSpPr>
            <a:spLocks noGrp="1"/>
          </p:cNvSpPr>
          <p:nvPr>
            <p:ph type="sldNum" sz="quarter" idx="4"/>
          </p:nvPr>
        </p:nvSpPr>
        <p:spPr/>
        <p:txBody>
          <a:bodyPr/>
          <a:lstStyle/>
          <a:p>
            <a:fld id="{FD96158B-4539-3C43-9DE5-94C547866200}" type="slidenum">
              <a:rPr lang="en-US" smtClean="0"/>
              <a:t>46</a:t>
            </a:fld>
            <a:endParaRPr lang="en-US"/>
          </a:p>
        </p:txBody>
      </p:sp>
    </p:spTree>
    <p:extLst>
      <p:ext uri="{BB962C8B-B14F-4D97-AF65-F5344CB8AC3E}">
        <p14:creationId xmlns:p14="http://schemas.microsoft.com/office/powerpoint/2010/main" val="3057787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Database Servers</a:t>
            </a:r>
          </a:p>
        </p:txBody>
      </p:sp>
      <p:sp>
        <p:nvSpPr>
          <p:cNvPr id="3" name="Footer Placeholder 2">
            <a:extLst>
              <a:ext uri="{FF2B5EF4-FFF2-40B4-BE49-F238E27FC236}">
                <a16:creationId xmlns:a16="http://schemas.microsoft.com/office/drawing/2014/main" id="{829BC7F5-2D52-B64A-AA04-8B2A98E31678}"/>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F81E5D8F-3127-224B-B490-63EC6AE3595B}"/>
              </a:ext>
            </a:extLst>
          </p:cNvPr>
          <p:cNvSpPr>
            <a:spLocks noGrp="1"/>
          </p:cNvSpPr>
          <p:nvPr>
            <p:ph type="sldNum" sz="quarter" idx="4"/>
          </p:nvPr>
        </p:nvSpPr>
        <p:spPr/>
        <p:txBody>
          <a:bodyPr/>
          <a:lstStyle/>
          <a:p>
            <a:fld id="{FD96158B-4539-3C43-9DE5-94C547866200}" type="slidenum">
              <a:rPr lang="en-US" smtClean="0"/>
              <a:t>47</a:t>
            </a:fld>
            <a:endParaRPr lang="en-US"/>
          </a:p>
        </p:txBody>
      </p:sp>
      <p:pic>
        <p:nvPicPr>
          <p:cNvPr id="8" name="Picture 7" descr="A screenshot of a cell phone&#10;&#10;Description automatically generated">
            <a:extLst>
              <a:ext uri="{FF2B5EF4-FFF2-40B4-BE49-F238E27FC236}">
                <a16:creationId xmlns:a16="http://schemas.microsoft.com/office/drawing/2014/main" id="{34CE00D1-4A2A-A144-9DB1-0A2B026C7CE4}"/>
              </a:ext>
            </a:extLst>
          </p:cNvPr>
          <p:cNvPicPr>
            <a:picLocks noChangeAspect="1"/>
          </p:cNvPicPr>
          <p:nvPr/>
        </p:nvPicPr>
        <p:blipFill>
          <a:blip r:embed="rId3"/>
          <a:stretch>
            <a:fillRect/>
          </a:stretch>
        </p:blipFill>
        <p:spPr>
          <a:xfrm>
            <a:off x="1619672" y="1196752"/>
            <a:ext cx="5904656" cy="4920547"/>
          </a:xfrm>
          <a:prstGeom prst="rect">
            <a:avLst/>
          </a:prstGeom>
        </p:spPr>
      </p:pic>
    </p:spTree>
    <p:extLst>
      <p:ext uri="{BB962C8B-B14F-4D97-AF65-F5344CB8AC3E}">
        <p14:creationId xmlns:p14="http://schemas.microsoft.com/office/powerpoint/2010/main" val="23558665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FBAB3-6FA0-C32B-6AD0-1432E1FBA82F}"/>
              </a:ext>
            </a:extLst>
          </p:cNvPr>
          <p:cNvSpPr>
            <a:spLocks noGrp="1"/>
          </p:cNvSpPr>
          <p:nvPr>
            <p:ph type="title"/>
          </p:nvPr>
        </p:nvSpPr>
        <p:spPr/>
        <p:txBody>
          <a:bodyPr/>
          <a:lstStyle/>
          <a:p>
            <a:r>
              <a:rPr lang="en-US" dirty="0"/>
              <a:t>P2P System</a:t>
            </a:r>
          </a:p>
        </p:txBody>
      </p:sp>
      <p:sp>
        <p:nvSpPr>
          <p:cNvPr id="3" name="Footer Placeholder 2">
            <a:extLst>
              <a:ext uri="{FF2B5EF4-FFF2-40B4-BE49-F238E27FC236}">
                <a16:creationId xmlns:a16="http://schemas.microsoft.com/office/drawing/2014/main" id="{B01E4FBF-3EA2-E474-7DDB-A7A013E20458}"/>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B73936A5-1B0A-DB48-55A4-6E86F725C3AD}"/>
              </a:ext>
            </a:extLst>
          </p:cNvPr>
          <p:cNvSpPr>
            <a:spLocks noGrp="1"/>
          </p:cNvSpPr>
          <p:nvPr>
            <p:ph type="sldNum" sz="quarter" idx="4"/>
          </p:nvPr>
        </p:nvSpPr>
        <p:spPr/>
        <p:txBody>
          <a:bodyPr/>
          <a:lstStyle/>
          <a:p>
            <a:fld id="{FD96158B-4539-3C43-9DE5-94C547866200}" type="slidenum">
              <a:rPr lang="en-US" smtClean="0"/>
              <a:t>48</a:t>
            </a:fld>
            <a:endParaRPr lang="en-US"/>
          </a:p>
        </p:txBody>
      </p:sp>
      <p:pic>
        <p:nvPicPr>
          <p:cNvPr id="6" name="Picture 5">
            <a:extLst>
              <a:ext uri="{FF2B5EF4-FFF2-40B4-BE49-F238E27FC236}">
                <a16:creationId xmlns:a16="http://schemas.microsoft.com/office/drawing/2014/main" id="{CCE5F8CF-FE9D-9BE8-8518-7D725C24771C}"/>
              </a:ext>
            </a:extLst>
          </p:cNvPr>
          <p:cNvPicPr>
            <a:picLocks noChangeAspect="1"/>
          </p:cNvPicPr>
          <p:nvPr/>
        </p:nvPicPr>
        <p:blipFill>
          <a:blip r:embed="rId2"/>
          <a:stretch>
            <a:fillRect/>
          </a:stretch>
        </p:blipFill>
        <p:spPr>
          <a:xfrm>
            <a:off x="1295400" y="1385887"/>
            <a:ext cx="6553200" cy="4086225"/>
          </a:xfrm>
          <a:prstGeom prst="rect">
            <a:avLst/>
          </a:prstGeom>
        </p:spPr>
      </p:pic>
    </p:spTree>
    <p:extLst>
      <p:ext uri="{BB962C8B-B14F-4D97-AF65-F5344CB8AC3E}">
        <p14:creationId xmlns:p14="http://schemas.microsoft.com/office/powerpoint/2010/main" val="13507644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AF320-E643-6A09-FD46-DFADF7CA440B}"/>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03B4DB19-4DC4-46DF-69DB-2AB78C9829DB}"/>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5C0DDA53-F25C-671A-403F-B2A25838034D}"/>
              </a:ext>
            </a:extLst>
          </p:cNvPr>
          <p:cNvSpPr>
            <a:spLocks noGrp="1"/>
          </p:cNvSpPr>
          <p:nvPr>
            <p:ph type="sldNum" sz="quarter" idx="4"/>
          </p:nvPr>
        </p:nvSpPr>
        <p:spPr/>
        <p:txBody>
          <a:bodyPr/>
          <a:lstStyle/>
          <a:p>
            <a:fld id="{FD96158B-4539-3C43-9DE5-94C547866200}" type="slidenum">
              <a:rPr lang="en-US" smtClean="0"/>
              <a:t>49</a:t>
            </a:fld>
            <a:endParaRPr lang="en-US"/>
          </a:p>
        </p:txBody>
      </p:sp>
      <p:pic>
        <p:nvPicPr>
          <p:cNvPr id="6" name="Picture 5">
            <a:extLst>
              <a:ext uri="{FF2B5EF4-FFF2-40B4-BE49-F238E27FC236}">
                <a16:creationId xmlns:a16="http://schemas.microsoft.com/office/drawing/2014/main" id="{8E1C4A34-7206-62CE-3CF2-D1AFE789C304}"/>
              </a:ext>
            </a:extLst>
          </p:cNvPr>
          <p:cNvPicPr>
            <a:picLocks noChangeAspect="1"/>
          </p:cNvPicPr>
          <p:nvPr/>
        </p:nvPicPr>
        <p:blipFill>
          <a:blip r:embed="rId2"/>
          <a:stretch>
            <a:fillRect/>
          </a:stretch>
        </p:blipFill>
        <p:spPr>
          <a:xfrm>
            <a:off x="107504" y="1176337"/>
            <a:ext cx="8856984" cy="5754606"/>
          </a:xfrm>
          <a:prstGeom prst="rect">
            <a:avLst/>
          </a:prstGeom>
        </p:spPr>
      </p:pic>
    </p:spTree>
    <p:extLst>
      <p:ext uri="{BB962C8B-B14F-4D97-AF65-F5344CB8AC3E}">
        <p14:creationId xmlns:p14="http://schemas.microsoft.com/office/powerpoint/2010/main" val="12865933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noFill/>
          <a:ln/>
        </p:spPr>
        <p:txBody>
          <a:bodyPr/>
          <a:lstStyle/>
          <a:p>
            <a:r>
              <a:rPr lang="en-US" dirty="0"/>
              <a:t>Peer-to-Peer Component Architecture</a:t>
            </a:r>
          </a:p>
        </p:txBody>
      </p:sp>
      <p:sp>
        <p:nvSpPr>
          <p:cNvPr id="2" name="Footer Placeholder 1">
            <a:extLst>
              <a:ext uri="{FF2B5EF4-FFF2-40B4-BE49-F238E27FC236}">
                <a16:creationId xmlns:a16="http://schemas.microsoft.com/office/drawing/2014/main" id="{7C34E965-22C9-0D41-B395-32A2ACAEFA56}"/>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92F54471-D78C-C242-8AD4-B03EA5BF87C2}"/>
              </a:ext>
            </a:extLst>
          </p:cNvPr>
          <p:cNvSpPr>
            <a:spLocks noGrp="1"/>
          </p:cNvSpPr>
          <p:nvPr>
            <p:ph type="sldNum" sz="quarter" idx="4"/>
          </p:nvPr>
        </p:nvSpPr>
        <p:spPr/>
        <p:txBody>
          <a:bodyPr/>
          <a:lstStyle/>
          <a:p>
            <a:fld id="{FD96158B-4539-3C43-9DE5-94C547866200}" type="slidenum">
              <a:rPr lang="en-US" smtClean="0"/>
              <a:t>50</a:t>
            </a:fld>
            <a:endParaRPr lang="en-US"/>
          </a:p>
        </p:txBody>
      </p:sp>
      <p:pic>
        <p:nvPicPr>
          <p:cNvPr id="6" name="Picture 5" descr="A picture containing screenshot&#10;&#10;Description automatically generated">
            <a:extLst>
              <a:ext uri="{FF2B5EF4-FFF2-40B4-BE49-F238E27FC236}">
                <a16:creationId xmlns:a16="http://schemas.microsoft.com/office/drawing/2014/main" id="{F1D5EF73-9A98-7B48-B583-09D9B0246475}"/>
              </a:ext>
            </a:extLst>
          </p:cNvPr>
          <p:cNvPicPr>
            <a:picLocks noChangeAspect="1"/>
          </p:cNvPicPr>
          <p:nvPr/>
        </p:nvPicPr>
        <p:blipFill>
          <a:blip r:embed="rId3">
            <a:clrChange>
              <a:clrFrom>
                <a:srgbClr val="FEFFFF"/>
              </a:clrFrom>
              <a:clrTo>
                <a:srgbClr val="FEFFFF">
                  <a:alpha val="0"/>
                </a:srgbClr>
              </a:clrTo>
            </a:clrChange>
          </a:blip>
          <a:stretch>
            <a:fillRect/>
          </a:stretch>
        </p:blipFill>
        <p:spPr>
          <a:xfrm>
            <a:off x="2381414" y="1052736"/>
            <a:ext cx="4350826" cy="5184576"/>
          </a:xfrm>
          <a:prstGeom prst="rect">
            <a:avLst/>
          </a:prstGeom>
        </p:spPr>
      </p:pic>
    </p:spTree>
    <p:extLst>
      <p:ext uri="{BB962C8B-B14F-4D97-AF65-F5344CB8AC3E}">
        <p14:creationId xmlns:p14="http://schemas.microsoft.com/office/powerpoint/2010/main" val="1865264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AB9D-44F7-E876-C490-44CC5C004933}"/>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73E36917-2D40-62C8-BB93-32650CDB94F8}"/>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4E02E708-420E-8BC5-3BED-60B93AE8DC09}"/>
              </a:ext>
            </a:extLst>
          </p:cNvPr>
          <p:cNvSpPr>
            <a:spLocks noGrp="1"/>
          </p:cNvSpPr>
          <p:nvPr>
            <p:ph type="sldNum" sz="quarter" idx="4"/>
          </p:nvPr>
        </p:nvSpPr>
        <p:spPr/>
        <p:txBody>
          <a:bodyPr/>
          <a:lstStyle/>
          <a:p>
            <a:fld id="{FD96158B-4539-3C43-9DE5-94C547866200}" type="slidenum">
              <a:rPr lang="en-US" smtClean="0"/>
              <a:t>51</a:t>
            </a:fld>
            <a:endParaRPr lang="en-US"/>
          </a:p>
        </p:txBody>
      </p:sp>
      <p:pic>
        <p:nvPicPr>
          <p:cNvPr id="6" name="Picture 5">
            <a:extLst>
              <a:ext uri="{FF2B5EF4-FFF2-40B4-BE49-F238E27FC236}">
                <a16:creationId xmlns:a16="http://schemas.microsoft.com/office/drawing/2014/main" id="{997B991A-F651-1D64-483F-5A619A911806}"/>
              </a:ext>
            </a:extLst>
          </p:cNvPr>
          <p:cNvPicPr>
            <a:picLocks noChangeAspect="1"/>
          </p:cNvPicPr>
          <p:nvPr/>
        </p:nvPicPr>
        <p:blipFill>
          <a:blip r:embed="rId3"/>
          <a:stretch>
            <a:fillRect/>
          </a:stretch>
        </p:blipFill>
        <p:spPr>
          <a:xfrm>
            <a:off x="876300" y="1228725"/>
            <a:ext cx="7391400" cy="4400550"/>
          </a:xfrm>
          <a:prstGeom prst="rect">
            <a:avLst/>
          </a:prstGeom>
        </p:spPr>
      </p:pic>
    </p:spTree>
    <p:extLst>
      <p:ext uri="{BB962C8B-B14F-4D97-AF65-F5344CB8AC3E}">
        <p14:creationId xmlns:p14="http://schemas.microsoft.com/office/powerpoint/2010/main" val="1395599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50031" y="312539"/>
            <a:ext cx="8777464" cy="1134070"/>
          </a:xfrm>
          <a:noFill/>
          <a:ln/>
        </p:spPr>
        <p:txBody>
          <a:bodyPr vert="horz" wrap="square" lIns="90487" tIns="45720" rIns="90487" bIns="45720" numCol="1" anchor="t" anchorCtr="0" compatLnSpc="1">
            <a:prstTxWarp prst="textNoShape">
              <a:avLst/>
            </a:prstTxWarp>
          </a:bodyPr>
          <a:lstStyle/>
          <a:p>
            <a:r>
              <a:rPr lang="en-US" dirty="0"/>
              <a:t>MDBS Components &amp; </a:t>
            </a:r>
            <a:r>
              <a:rPr lang="en-US" dirty="0" smtClean="0"/>
              <a:t>Execution</a:t>
            </a:r>
            <a:r>
              <a:rPr lang="en-US" dirty="0"/>
              <a:t/>
            </a:r>
            <a:br>
              <a:rPr lang="en-US" dirty="0"/>
            </a:br>
            <a:r>
              <a:rPr lang="en-US" dirty="0" smtClean="0"/>
              <a:t>(</a:t>
            </a:r>
            <a:r>
              <a:rPr lang="en-US" b="1" dirty="0" smtClean="0"/>
              <a:t>Multimodal </a:t>
            </a:r>
            <a:r>
              <a:rPr lang="en-US" b="1" dirty="0"/>
              <a:t>Database </a:t>
            </a:r>
            <a:r>
              <a:rPr lang="en-US" b="1" dirty="0" smtClean="0"/>
              <a:t>System)</a:t>
            </a:r>
            <a:endParaRPr lang="en-US" dirty="0"/>
          </a:p>
        </p:txBody>
      </p:sp>
      <p:sp>
        <p:nvSpPr>
          <p:cNvPr id="5" name="Footer Placeholder 4">
            <a:extLst>
              <a:ext uri="{FF2B5EF4-FFF2-40B4-BE49-F238E27FC236}">
                <a16:creationId xmlns:a16="http://schemas.microsoft.com/office/drawing/2014/main" id="{967293AB-0D70-474B-81FA-F80492E486AF}"/>
              </a:ext>
            </a:extLst>
          </p:cNvPr>
          <p:cNvSpPr>
            <a:spLocks noGrp="1"/>
          </p:cNvSpPr>
          <p:nvPr>
            <p:ph type="ftr" sz="quarter" idx="3"/>
          </p:nvPr>
        </p:nvSpPr>
        <p:spPr/>
        <p:txBody>
          <a:bodyPr/>
          <a:lstStyle/>
          <a:p>
            <a:r>
              <a:rPr lang="en-US"/>
              <a:t>© 2020, M.T. Özsu &amp; P. Valduriez TS. Pan Thị Hà_PTIT</a:t>
            </a:r>
            <a:endParaRPr lang="en-US" dirty="0"/>
          </a:p>
        </p:txBody>
      </p:sp>
      <p:sp>
        <p:nvSpPr>
          <p:cNvPr id="6" name="Slide Number Placeholder 5">
            <a:extLst>
              <a:ext uri="{FF2B5EF4-FFF2-40B4-BE49-F238E27FC236}">
                <a16:creationId xmlns:a16="http://schemas.microsoft.com/office/drawing/2014/main" id="{A3256DC0-0BF1-5744-BE6E-9AAA7334CCFE}"/>
              </a:ext>
            </a:extLst>
          </p:cNvPr>
          <p:cNvSpPr>
            <a:spLocks noGrp="1"/>
          </p:cNvSpPr>
          <p:nvPr>
            <p:ph type="sldNum" sz="quarter" idx="4"/>
          </p:nvPr>
        </p:nvSpPr>
        <p:spPr/>
        <p:txBody>
          <a:bodyPr/>
          <a:lstStyle/>
          <a:p>
            <a:fld id="{FD96158B-4539-3C43-9DE5-94C547866200}" type="slidenum">
              <a:rPr lang="en-US" smtClean="0"/>
              <a:t>52</a:t>
            </a:fld>
            <a:endParaRPr lang="en-US"/>
          </a:p>
        </p:txBody>
      </p:sp>
      <p:pic>
        <p:nvPicPr>
          <p:cNvPr id="9" name="Picture 8" descr="A screenshot of a cell phone&#10;&#10;Description automatically generated">
            <a:extLst>
              <a:ext uri="{FF2B5EF4-FFF2-40B4-BE49-F238E27FC236}">
                <a16:creationId xmlns:a16="http://schemas.microsoft.com/office/drawing/2014/main" id="{6564FCB0-B7D3-9042-95B4-6EB176F2AF94}"/>
              </a:ext>
            </a:extLst>
          </p:cNvPr>
          <p:cNvPicPr>
            <a:picLocks noChangeAspect="1"/>
          </p:cNvPicPr>
          <p:nvPr/>
        </p:nvPicPr>
        <p:blipFill>
          <a:blip r:embed="rId3"/>
          <a:stretch>
            <a:fillRect/>
          </a:stretch>
        </p:blipFill>
        <p:spPr>
          <a:xfrm>
            <a:off x="1354379" y="1567079"/>
            <a:ext cx="6457981" cy="4382201"/>
          </a:xfrm>
          <a:prstGeom prst="rect">
            <a:avLst/>
          </a:prstGeom>
        </p:spPr>
      </p:pic>
    </p:spTree>
    <p:extLst>
      <p:ext uri="{BB962C8B-B14F-4D97-AF65-F5344CB8AC3E}">
        <p14:creationId xmlns:p14="http://schemas.microsoft.com/office/powerpoint/2010/main" val="2944970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727"/>
            <a:ext cx="8229600" cy="1139825"/>
          </a:xfrm>
        </p:spPr>
        <p:txBody>
          <a:bodyPr/>
          <a:lstStyle/>
          <a:p>
            <a:r>
              <a:rPr lang="en-US" dirty="0"/>
              <a:t>Mediator/Wrapper Architecture</a:t>
            </a:r>
          </a:p>
        </p:txBody>
      </p:sp>
      <p:sp>
        <p:nvSpPr>
          <p:cNvPr id="3" name="Footer Placeholder 2">
            <a:extLst>
              <a:ext uri="{FF2B5EF4-FFF2-40B4-BE49-F238E27FC236}">
                <a16:creationId xmlns:a16="http://schemas.microsoft.com/office/drawing/2014/main" id="{E4106975-1028-4243-8484-2C7860792329}"/>
              </a:ext>
            </a:extLst>
          </p:cNvPr>
          <p:cNvSpPr>
            <a:spLocks noGrp="1"/>
          </p:cNvSpPr>
          <p:nvPr>
            <p:ph type="ftr" sz="quarter" idx="3"/>
          </p:nvPr>
        </p:nvSpPr>
        <p:spPr/>
        <p:txBody>
          <a:bodyPr/>
          <a:lstStyle/>
          <a:p>
            <a:r>
              <a:rPr lang="en-US"/>
              <a:t>© 2020, M.T. Özsu &amp; P. Valduriez TS. Pan Thị Hà_PTIT</a:t>
            </a:r>
            <a:endParaRPr lang="en-US" dirty="0"/>
          </a:p>
        </p:txBody>
      </p:sp>
      <p:sp>
        <p:nvSpPr>
          <p:cNvPr id="5" name="Slide Number Placeholder 4">
            <a:extLst>
              <a:ext uri="{FF2B5EF4-FFF2-40B4-BE49-F238E27FC236}">
                <a16:creationId xmlns:a16="http://schemas.microsoft.com/office/drawing/2014/main" id="{7BAB7295-B311-9541-994E-6EE505A02289}"/>
              </a:ext>
            </a:extLst>
          </p:cNvPr>
          <p:cNvSpPr>
            <a:spLocks noGrp="1"/>
          </p:cNvSpPr>
          <p:nvPr>
            <p:ph type="sldNum" sz="quarter" idx="4"/>
          </p:nvPr>
        </p:nvSpPr>
        <p:spPr/>
        <p:txBody>
          <a:bodyPr/>
          <a:lstStyle/>
          <a:p>
            <a:fld id="{FD96158B-4539-3C43-9DE5-94C547866200}" type="slidenum">
              <a:rPr lang="en-US" smtClean="0"/>
              <a:t>53</a:t>
            </a:fld>
            <a:endParaRPr lang="en-US"/>
          </a:p>
        </p:txBody>
      </p:sp>
      <p:pic>
        <p:nvPicPr>
          <p:cNvPr id="7" name="Picture 6" descr="A close up of a logo&#10;&#10;Description automatically generated">
            <a:extLst>
              <a:ext uri="{FF2B5EF4-FFF2-40B4-BE49-F238E27FC236}">
                <a16:creationId xmlns:a16="http://schemas.microsoft.com/office/drawing/2014/main" id="{BFF6F9DF-1873-774B-BAE2-9028CFB941F4}"/>
              </a:ext>
            </a:extLst>
          </p:cNvPr>
          <p:cNvPicPr>
            <a:picLocks noChangeAspect="1"/>
          </p:cNvPicPr>
          <p:nvPr/>
        </p:nvPicPr>
        <p:blipFill>
          <a:blip r:embed="rId3"/>
          <a:stretch>
            <a:fillRect/>
          </a:stretch>
        </p:blipFill>
        <p:spPr>
          <a:xfrm>
            <a:off x="2483768" y="980728"/>
            <a:ext cx="4032448" cy="5117320"/>
          </a:xfrm>
          <a:prstGeom prst="rect">
            <a:avLst/>
          </a:prstGeom>
        </p:spPr>
      </p:pic>
    </p:spTree>
    <p:extLst>
      <p:ext uri="{BB962C8B-B14F-4D97-AF65-F5344CB8AC3E}">
        <p14:creationId xmlns:p14="http://schemas.microsoft.com/office/powerpoint/2010/main" val="14052711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79F-0FAD-654E-9553-6C96B0666627}"/>
              </a:ext>
            </a:extLst>
          </p:cNvPr>
          <p:cNvSpPr>
            <a:spLocks noGrp="1"/>
          </p:cNvSpPr>
          <p:nvPr>
            <p:ph type="title"/>
          </p:nvPr>
        </p:nvSpPr>
        <p:spPr/>
        <p:txBody>
          <a:bodyPr/>
          <a:lstStyle/>
          <a:p>
            <a:r>
              <a:rPr lang="en-US" dirty="0"/>
              <a:t>Cloud Computing</a:t>
            </a:r>
          </a:p>
        </p:txBody>
      </p:sp>
      <p:sp>
        <p:nvSpPr>
          <p:cNvPr id="3" name="Footer Placeholder 2">
            <a:extLst>
              <a:ext uri="{FF2B5EF4-FFF2-40B4-BE49-F238E27FC236}">
                <a16:creationId xmlns:a16="http://schemas.microsoft.com/office/drawing/2014/main" id="{2E79E595-A02F-2143-AB54-EB1FEC8D0D80}"/>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79DEA08A-B005-6540-A788-59071672052F}"/>
              </a:ext>
            </a:extLst>
          </p:cNvPr>
          <p:cNvSpPr>
            <a:spLocks noGrp="1"/>
          </p:cNvSpPr>
          <p:nvPr>
            <p:ph type="sldNum" sz="quarter" idx="4"/>
          </p:nvPr>
        </p:nvSpPr>
        <p:spPr/>
        <p:txBody>
          <a:bodyPr/>
          <a:lstStyle/>
          <a:p>
            <a:fld id="{FD96158B-4539-3C43-9DE5-94C547866200}" type="slidenum">
              <a:rPr lang="en-US" smtClean="0"/>
              <a:t>54</a:t>
            </a:fld>
            <a:endParaRPr lang="en-US"/>
          </a:p>
        </p:txBody>
      </p:sp>
      <p:sp>
        <p:nvSpPr>
          <p:cNvPr id="5" name="Content Placeholder 8">
            <a:extLst>
              <a:ext uri="{FF2B5EF4-FFF2-40B4-BE49-F238E27FC236}">
                <a16:creationId xmlns:a16="http://schemas.microsoft.com/office/drawing/2014/main" id="{5DC05C15-87D5-1641-AAF8-211AF46DEE30}"/>
              </a:ext>
            </a:extLst>
          </p:cNvPr>
          <p:cNvSpPr txBox="1">
            <a:spLocks/>
          </p:cNvSpPr>
          <p:nvPr/>
        </p:nvSpPr>
        <p:spPr>
          <a:xfrm>
            <a:off x="457200" y="1600201"/>
            <a:ext cx="8229600" cy="1684784"/>
          </a:xfrm>
          <a:prstGeom prst="rect">
            <a:avLst/>
          </a:prstGeom>
        </p:spPr>
        <p:txBody>
          <a:bodyPr/>
          <a:lstStyle>
            <a:lvl1pPr marL="342900" indent="-342900" algn="l" rtl="0" eaLnBrk="1" fontAlgn="base" hangingPunct="1">
              <a:spcBef>
                <a:spcPct val="20000"/>
              </a:spcBef>
              <a:spcAft>
                <a:spcPct val="0"/>
              </a:spcAft>
              <a:buClr>
                <a:srgbClr val="CC9900"/>
              </a:buClr>
              <a:buSzPct val="65000"/>
              <a:buFont typeface="Wingdings" pitchFamily="-108" charset="2"/>
              <a:buChar char="n"/>
              <a:defRPr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238038"/>
              </a:buClr>
              <a:buSzPct val="60000"/>
              <a:buFont typeface="Wingdings" pitchFamily="-108" charset="2"/>
              <a:buChar char="q"/>
              <a:defRPr sz="2000">
                <a:solidFill>
                  <a:schemeClr val="tx1"/>
                </a:solidFill>
                <a:latin typeface="+mn-lt"/>
                <a:ea typeface="+mn-ea"/>
              </a:defRPr>
            </a:lvl2pPr>
            <a:lvl3pPr marL="1143000" indent="-228600" algn="l" rtl="0" eaLnBrk="1" fontAlgn="base" hangingPunct="1">
              <a:spcBef>
                <a:spcPct val="20000"/>
              </a:spcBef>
              <a:spcAft>
                <a:spcPct val="0"/>
              </a:spcAft>
              <a:buClr>
                <a:srgbClr val="CC9900"/>
              </a:buClr>
              <a:buSzPct val="65000"/>
              <a:buFont typeface="Wingdings" pitchFamily="-108" charset="2"/>
              <a:buChar char="n"/>
              <a:defRPr sz="1800">
                <a:solidFill>
                  <a:schemeClr val="tx1"/>
                </a:solidFill>
                <a:latin typeface="+mn-lt"/>
                <a:ea typeface="+mn-ea"/>
              </a:defRPr>
            </a:lvl3pPr>
            <a:lvl4pPr marL="1600200" indent="-228600" algn="l" rtl="0" eaLnBrk="1" fontAlgn="base" hangingPunct="1">
              <a:spcBef>
                <a:spcPct val="20000"/>
              </a:spcBef>
              <a:spcAft>
                <a:spcPct val="0"/>
              </a:spcAft>
              <a:buClr>
                <a:srgbClr val="238038"/>
              </a:buClr>
              <a:buSzPct val="70000"/>
              <a:buFont typeface="Wingdings" pitchFamily="-108" charset="2"/>
              <a:buChar char="q"/>
              <a:defRPr sz="1600">
                <a:solidFill>
                  <a:schemeClr val="tx1"/>
                </a:solidFill>
                <a:latin typeface="+mn-lt"/>
                <a:ea typeface="+mn-ea"/>
              </a:defRPr>
            </a:lvl4pPr>
            <a:lvl5pPr marL="2057400" indent="-228600" algn="l" rtl="0" eaLnBrk="1" fontAlgn="base" hangingPunct="1">
              <a:spcBef>
                <a:spcPct val="20000"/>
              </a:spcBef>
              <a:spcAft>
                <a:spcPct val="0"/>
              </a:spcAft>
              <a:buClr>
                <a:srgbClr val="CC9900"/>
              </a:buClr>
              <a:buSzPct val="75000"/>
              <a:buFont typeface="Wingdings" pitchFamily="-108" charset="2"/>
              <a:defRPr sz="1600">
                <a:solidFill>
                  <a:schemeClr val="tx1"/>
                </a:solidFill>
                <a:latin typeface="+mn-lt"/>
                <a:ea typeface="+mn-ea"/>
              </a:defRPr>
            </a:lvl5pPr>
            <a:lvl6pPr marL="2514600" indent="-228600" algn="l" rtl="0" eaLnBrk="1" fontAlgn="base" hangingPunct="1">
              <a:spcBef>
                <a:spcPct val="20000"/>
              </a:spcBef>
              <a:spcAft>
                <a:spcPct val="0"/>
              </a:spcAft>
              <a:buClr>
                <a:srgbClr val="CC9900"/>
              </a:buClr>
              <a:buSzPct val="75000"/>
              <a:buFont typeface="Wingdings" pitchFamily="-108" charset="2"/>
              <a:defRPr sz="2000">
                <a:solidFill>
                  <a:schemeClr val="tx1"/>
                </a:solidFill>
                <a:latin typeface="+mn-lt"/>
                <a:ea typeface="+mn-ea"/>
              </a:defRPr>
            </a:lvl6pPr>
            <a:lvl7pPr marL="2971800" indent="-228600" algn="l" rtl="0" eaLnBrk="1" fontAlgn="base" hangingPunct="1">
              <a:spcBef>
                <a:spcPct val="20000"/>
              </a:spcBef>
              <a:spcAft>
                <a:spcPct val="0"/>
              </a:spcAft>
              <a:buClr>
                <a:srgbClr val="CC9900"/>
              </a:buClr>
              <a:buSzPct val="75000"/>
              <a:buFont typeface="Wingdings" pitchFamily="-108" charset="2"/>
              <a:defRPr sz="2000">
                <a:solidFill>
                  <a:schemeClr val="tx1"/>
                </a:solidFill>
                <a:latin typeface="+mn-lt"/>
                <a:ea typeface="+mn-ea"/>
              </a:defRPr>
            </a:lvl7pPr>
            <a:lvl8pPr marL="3429000" indent="-228600" algn="l" rtl="0" eaLnBrk="1" fontAlgn="base" hangingPunct="1">
              <a:spcBef>
                <a:spcPct val="20000"/>
              </a:spcBef>
              <a:spcAft>
                <a:spcPct val="0"/>
              </a:spcAft>
              <a:buClr>
                <a:srgbClr val="CC9900"/>
              </a:buClr>
              <a:buSzPct val="75000"/>
              <a:buFont typeface="Wingdings" pitchFamily="-108" charset="2"/>
              <a:defRPr sz="2000">
                <a:solidFill>
                  <a:schemeClr val="tx1"/>
                </a:solidFill>
                <a:latin typeface="+mn-lt"/>
                <a:ea typeface="+mn-ea"/>
              </a:defRPr>
            </a:lvl8pPr>
            <a:lvl9pPr marL="3886200" indent="-228600" algn="l" rtl="0" eaLnBrk="1" fontAlgn="base" hangingPunct="1">
              <a:spcBef>
                <a:spcPct val="20000"/>
              </a:spcBef>
              <a:spcAft>
                <a:spcPct val="0"/>
              </a:spcAft>
              <a:buClr>
                <a:srgbClr val="CC9900"/>
              </a:buClr>
              <a:buSzPct val="75000"/>
              <a:buFont typeface="Wingdings" pitchFamily="-108" charset="2"/>
              <a:defRPr sz="2000">
                <a:solidFill>
                  <a:schemeClr val="tx1"/>
                </a:solidFill>
                <a:latin typeface="+mn-lt"/>
                <a:ea typeface="+mn-ea"/>
              </a:defRPr>
            </a:lvl9pPr>
          </a:lstStyle>
          <a:p>
            <a:pPr marL="0" indent="0">
              <a:buNone/>
            </a:pPr>
            <a:r>
              <a:rPr lang="en-US" kern="0" dirty="0"/>
              <a:t>On-demand, reliable services provided over the Internet in a cost-efficient manner</a:t>
            </a:r>
          </a:p>
          <a:p>
            <a:r>
              <a:rPr lang="en-US" kern="0" dirty="0"/>
              <a:t>IaaS – Infrastructure-as-a-Service</a:t>
            </a:r>
          </a:p>
          <a:p>
            <a:r>
              <a:rPr lang="en-US" kern="0" dirty="0"/>
              <a:t>PaaS – Platform-as-a-Service</a:t>
            </a:r>
          </a:p>
          <a:p>
            <a:r>
              <a:rPr lang="en-US" kern="0" dirty="0"/>
              <a:t>SaaS – Software-as-a-Service </a:t>
            </a:r>
          </a:p>
          <a:p>
            <a:r>
              <a:rPr lang="en-US" kern="0" dirty="0" err="1"/>
              <a:t>DaaS</a:t>
            </a:r>
            <a:r>
              <a:rPr lang="en-US" kern="0" dirty="0"/>
              <a:t> – Database-as-a-Service</a:t>
            </a:r>
          </a:p>
        </p:txBody>
      </p:sp>
    </p:spTree>
    <p:extLst>
      <p:ext uri="{BB962C8B-B14F-4D97-AF65-F5344CB8AC3E}">
        <p14:creationId xmlns:p14="http://schemas.microsoft.com/office/powerpoint/2010/main" val="31047936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6652A-8CAF-EF44-BC2C-BE23C3AEA589}"/>
              </a:ext>
            </a:extLst>
          </p:cNvPr>
          <p:cNvSpPr>
            <a:spLocks noGrp="1"/>
          </p:cNvSpPr>
          <p:nvPr>
            <p:ph type="title"/>
          </p:nvPr>
        </p:nvSpPr>
        <p:spPr/>
        <p:txBody>
          <a:bodyPr/>
          <a:lstStyle/>
          <a:p>
            <a:r>
              <a:rPr lang="en-US" dirty="0"/>
              <a:t>Simplified Cloud Architecture</a:t>
            </a:r>
          </a:p>
        </p:txBody>
      </p:sp>
      <p:sp>
        <p:nvSpPr>
          <p:cNvPr id="3" name="Footer Placeholder 2">
            <a:extLst>
              <a:ext uri="{FF2B5EF4-FFF2-40B4-BE49-F238E27FC236}">
                <a16:creationId xmlns:a16="http://schemas.microsoft.com/office/drawing/2014/main" id="{366F5728-C236-AC48-BBAF-63CE293D2C1B}"/>
              </a:ext>
            </a:extLst>
          </p:cNvPr>
          <p:cNvSpPr>
            <a:spLocks noGrp="1"/>
          </p:cNvSpPr>
          <p:nvPr>
            <p:ph type="ftr" sz="quarter" idx="3"/>
          </p:nvPr>
        </p:nvSpPr>
        <p:spPr/>
        <p:txBody>
          <a:bodyPr/>
          <a:lstStyle/>
          <a:p>
            <a:r>
              <a:rPr lang="en-US"/>
              <a:t>© 2020, M.T. Özsu &amp; P. Valduriez TS. Pan Thị Hà_PTIT</a:t>
            </a:r>
            <a:endParaRPr lang="en-US" dirty="0"/>
          </a:p>
        </p:txBody>
      </p:sp>
      <p:sp>
        <p:nvSpPr>
          <p:cNvPr id="4" name="Slide Number Placeholder 3">
            <a:extLst>
              <a:ext uri="{FF2B5EF4-FFF2-40B4-BE49-F238E27FC236}">
                <a16:creationId xmlns:a16="http://schemas.microsoft.com/office/drawing/2014/main" id="{FCDEA7CA-3B31-B048-8482-02DCDCF4F5FD}"/>
              </a:ext>
            </a:extLst>
          </p:cNvPr>
          <p:cNvSpPr>
            <a:spLocks noGrp="1"/>
          </p:cNvSpPr>
          <p:nvPr>
            <p:ph type="sldNum" sz="quarter" idx="4"/>
          </p:nvPr>
        </p:nvSpPr>
        <p:spPr/>
        <p:txBody>
          <a:bodyPr/>
          <a:lstStyle/>
          <a:p>
            <a:fld id="{FD96158B-4539-3C43-9DE5-94C547866200}" type="slidenum">
              <a:rPr lang="en-US" smtClean="0"/>
              <a:t>55</a:t>
            </a:fld>
            <a:endParaRPr lang="en-US"/>
          </a:p>
        </p:txBody>
      </p:sp>
      <p:pic>
        <p:nvPicPr>
          <p:cNvPr id="6" name="Picture 5" descr="A close up of a map&#10;&#10;Description automatically generated">
            <a:extLst>
              <a:ext uri="{FF2B5EF4-FFF2-40B4-BE49-F238E27FC236}">
                <a16:creationId xmlns:a16="http://schemas.microsoft.com/office/drawing/2014/main" id="{6A2BE0C7-B8F6-5848-AA52-DFB5E2883E77}"/>
              </a:ext>
            </a:extLst>
          </p:cNvPr>
          <p:cNvPicPr>
            <a:picLocks noChangeAspect="1"/>
          </p:cNvPicPr>
          <p:nvPr/>
        </p:nvPicPr>
        <p:blipFill>
          <a:blip r:embed="rId2"/>
          <a:stretch>
            <a:fillRect/>
          </a:stretch>
        </p:blipFill>
        <p:spPr>
          <a:xfrm>
            <a:off x="1682790" y="1628800"/>
            <a:ext cx="5893988" cy="3672408"/>
          </a:xfrm>
          <a:prstGeom prst="rect">
            <a:avLst/>
          </a:prstGeom>
        </p:spPr>
      </p:pic>
    </p:spTree>
    <p:extLst>
      <p:ext uri="{BB962C8B-B14F-4D97-AF65-F5344CB8AC3E}">
        <p14:creationId xmlns:p14="http://schemas.microsoft.com/office/powerpoint/2010/main" val="2326725619"/>
      </p:ext>
    </p:extLst>
  </p:cSld>
  <p:clrMapOvr>
    <a:masterClrMapping/>
  </p:clrMapOvr>
</p:sld>
</file>

<file path=ppt/theme/theme1.xml><?xml version="1.0" encoding="utf-8"?>
<a:theme xmlns:a="http://schemas.openxmlformats.org/drawingml/2006/main" name="Office Theme">
  <a:themeElements>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fontScheme name="Office Theme">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8" charset="0"/>
            <a:ea typeface="ＭＳ Ｐゴシック" pitchFamily="-108" charset="-128"/>
            <a:cs typeface="ＭＳ Ｐゴシック" pitchFamily="-10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8" charset="0"/>
            <a:ea typeface="ＭＳ Ｐゴシック" pitchFamily="-108" charset="-128"/>
            <a:cs typeface="ＭＳ Ｐゴシック" pitchFamily="-108" charset="-128"/>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3" id="{1AA6435C-28F2-C941-8311-EE08610FCB39}" vid="{FD4022B5-BADD-D345-B79C-9EAFC5BFF5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3840</TotalTime>
  <Words>3785</Words>
  <Application>Microsoft Office PowerPoint</Application>
  <PresentationFormat>On-screen Show (4:3)</PresentationFormat>
  <Paragraphs>556</Paragraphs>
  <Slides>55</Slides>
  <Notes>37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55</vt:i4>
      </vt:variant>
    </vt:vector>
  </HeadingPairs>
  <TitlesOfParts>
    <vt:vector size="68" baseType="lpstr">
      <vt:lpstr>ＭＳ Ｐゴシック</vt:lpstr>
      <vt:lpstr>Arial</vt:lpstr>
      <vt:lpstr>Book Antiqua</vt:lpstr>
      <vt:lpstr>Calibri</vt:lpstr>
      <vt:lpstr>Courier New</vt:lpstr>
      <vt:lpstr>Monotype Sorts</vt:lpstr>
      <vt:lpstr>Palatino</vt:lpstr>
      <vt:lpstr>Roboto</vt:lpstr>
      <vt:lpstr>Söhne</vt:lpstr>
      <vt:lpstr>Times New Roman</vt:lpstr>
      <vt:lpstr>Wingdings</vt:lpstr>
      <vt:lpstr>ヒラギノ明朝 ProN W3</vt:lpstr>
      <vt:lpstr>Office Theme</vt:lpstr>
      <vt:lpstr>Principles of Distributed Database Systems</vt:lpstr>
      <vt:lpstr>Outline</vt:lpstr>
      <vt:lpstr>Outline</vt:lpstr>
      <vt:lpstr>Distributed Computing</vt:lpstr>
      <vt:lpstr>Current Distribution – Geographically Distributed Data Centers</vt:lpstr>
      <vt:lpstr>distributed processing models</vt:lpstr>
      <vt:lpstr>What is a Distributed Database System?</vt:lpstr>
      <vt:lpstr>What is not a DDBS?</vt:lpstr>
      <vt:lpstr>Distributed DBMS Environment</vt:lpstr>
      <vt:lpstr>Implicit Assumptions</vt:lpstr>
      <vt:lpstr>Important Point</vt:lpstr>
      <vt:lpstr>Outline</vt:lpstr>
      <vt:lpstr>History – File Systems</vt:lpstr>
      <vt:lpstr>History – Database Management</vt:lpstr>
      <vt:lpstr>History – Early Distribution</vt:lpstr>
      <vt:lpstr>History – Client/Server</vt:lpstr>
      <vt:lpstr>History – Data Integration</vt:lpstr>
      <vt:lpstr>History – Cloud Computing</vt:lpstr>
      <vt:lpstr>Data Delivery Alternatives</vt:lpstr>
      <vt:lpstr>Outline</vt:lpstr>
      <vt:lpstr>Distributed DBMS Promises</vt:lpstr>
      <vt:lpstr>Transparency: Trong suốt</vt:lpstr>
      <vt:lpstr>Example</vt:lpstr>
      <vt:lpstr>Transparent Access</vt:lpstr>
      <vt:lpstr>Distributed Database - User View</vt:lpstr>
      <vt:lpstr>Distributed DBMS - Reality</vt:lpstr>
      <vt:lpstr>Types of Transparency</vt:lpstr>
      <vt:lpstr>Reliability Through Transactions</vt:lpstr>
      <vt:lpstr>Potentially Improved Performance</vt:lpstr>
      <vt:lpstr>Easy to expand</vt:lpstr>
      <vt:lpstr>Centralized Control</vt:lpstr>
      <vt:lpstr>Reducing data redundancy</vt:lpstr>
      <vt:lpstr>PowerPoint Presentation</vt:lpstr>
      <vt:lpstr>Scalability</vt:lpstr>
      <vt:lpstr>Outline</vt:lpstr>
      <vt:lpstr>Distributed DBMS Issues </vt:lpstr>
      <vt:lpstr>Distributed DBMS Issues</vt:lpstr>
      <vt:lpstr>Distributed DBMS Issues</vt:lpstr>
      <vt:lpstr>Related Issues</vt:lpstr>
      <vt:lpstr>Outline</vt:lpstr>
      <vt:lpstr>DBMS Implementation Alternatives</vt:lpstr>
      <vt:lpstr>Dimensions of the Problem</vt:lpstr>
      <vt:lpstr>Client/Server System</vt:lpstr>
      <vt:lpstr>Client/Server System Client/Server Architecture</vt:lpstr>
      <vt:lpstr>Advantages of Client-Server Architectures</vt:lpstr>
      <vt:lpstr>Database Server</vt:lpstr>
      <vt:lpstr>Distributed Database Servers</vt:lpstr>
      <vt:lpstr>P2P System</vt:lpstr>
      <vt:lpstr>PowerPoint Presentation</vt:lpstr>
      <vt:lpstr>Peer-to-Peer Component Architecture</vt:lpstr>
      <vt:lpstr>PowerPoint Presentation</vt:lpstr>
      <vt:lpstr>MDBS Components &amp; Execution (Multimodal Database System)</vt:lpstr>
      <vt:lpstr>Mediator/Wrapper Architecture</vt:lpstr>
      <vt:lpstr>Cloud Computing</vt:lpstr>
      <vt:lpstr>Simplified Cloud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Distributed Database Systems</dc:title>
  <dc:creator>Tamer Ozsu</dc:creator>
  <cp:lastModifiedBy>Admin</cp:lastModifiedBy>
  <cp:revision>41</cp:revision>
  <dcterms:created xsi:type="dcterms:W3CDTF">2020-02-05T23:19:38Z</dcterms:created>
  <dcterms:modified xsi:type="dcterms:W3CDTF">2024-01-21T13:00:56Z</dcterms:modified>
</cp:coreProperties>
</file>