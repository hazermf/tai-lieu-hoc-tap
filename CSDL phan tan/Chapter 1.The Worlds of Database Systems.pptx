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16"/>
    <p:sldId id="274" r:id="rId17"/>
    <p:sldId id="275" r:id="rId18"/>
    <p:sldId id="276" r:id="rId19"/>
    <p:sldId id="277" r:id="rId20"/>
    <p:sldId id="278" r:id="rId21"/>
    <p:sldId id="279"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457" autoAdjust="0"/>
  </p:normalViewPr>
  <p:slideViewPr>
    <p:cSldViewPr snapToGrid="0">
      <p:cViewPr varScale="1">
        <p:scale>
          <a:sx n="61" d="100"/>
          <a:sy n="61" d="100"/>
        </p:scale>
        <p:origin x="1440" y="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554DCC-1239-4029-BFC2-99F046633A25}" type="datetimeFigureOut">
              <a:rPr lang="vi-VN" smtClean="0"/>
              <a:t>06/03/2025</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9ACA45-0AFC-4A45-93F3-076781FEEA9B}" type="slidenum">
              <a:rPr lang="vi-VN" smtClean="0"/>
              <a:t>‹#›</a:t>
            </a:fld>
            <a:endParaRPr lang="vi-VN"/>
          </a:p>
        </p:txBody>
      </p:sp>
    </p:spTree>
    <p:extLst>
      <p:ext uri="{BB962C8B-B14F-4D97-AF65-F5344CB8AC3E}">
        <p14:creationId xmlns:p14="http://schemas.microsoft.com/office/powerpoint/2010/main" val="3397998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a:t>
            </a:r>
          </a:p>
          <a:p>
            <a:pPr marL="171450" indent="-171450">
              <a:buFontTx/>
              <a:buChar char="-"/>
            </a:pPr>
            <a:r>
              <a:rPr lang="en-US" dirty="0"/>
              <a:t>Raw fact of things</a:t>
            </a:r>
          </a:p>
          <a:p>
            <a:pPr marL="171450" indent="-171450">
              <a:buFontTx/>
              <a:buChar char="-"/>
            </a:pPr>
            <a:r>
              <a:rPr lang="en-US" dirty="0"/>
              <a:t>No contextual meaning</a:t>
            </a:r>
          </a:p>
          <a:p>
            <a:pPr marL="171450" indent="-171450">
              <a:buFontTx/>
              <a:buChar char="-"/>
            </a:pPr>
            <a:r>
              <a:rPr lang="en-US" dirty="0"/>
              <a:t>Number, text,…</a:t>
            </a:r>
          </a:p>
          <a:p>
            <a:pPr marL="171450" indent="-171450">
              <a:buFontTx/>
              <a:buChar char="-"/>
            </a:pPr>
            <a:endParaRPr lang="en-US" dirty="0"/>
          </a:p>
          <a:p>
            <a:pPr marL="0" indent="0">
              <a:buFontTx/>
              <a:buNone/>
            </a:pPr>
            <a:r>
              <a:rPr lang="en-US" dirty="0"/>
              <a:t>Information:</a:t>
            </a:r>
          </a:p>
          <a:p>
            <a:pPr marL="0" indent="0">
              <a:buFontTx/>
              <a:buNone/>
            </a:pPr>
            <a:r>
              <a:rPr lang="en-US" dirty="0"/>
              <a:t> - Data with exact meaning</a:t>
            </a:r>
          </a:p>
          <a:p>
            <a:pPr marL="0" indent="0">
              <a:buFontTx/>
              <a:buNone/>
            </a:pPr>
            <a:r>
              <a:rPr lang="en-US" dirty="0"/>
              <a:t> - Processed data and organized context</a:t>
            </a:r>
          </a:p>
        </p:txBody>
      </p:sp>
      <p:sp>
        <p:nvSpPr>
          <p:cNvPr id="4" name="Slide Number Placeholder 3"/>
          <p:cNvSpPr>
            <a:spLocks noGrp="1"/>
          </p:cNvSpPr>
          <p:nvPr>
            <p:ph type="sldNum" sz="quarter" idx="5"/>
          </p:nvPr>
        </p:nvSpPr>
        <p:spPr/>
        <p:txBody>
          <a:bodyPr/>
          <a:lstStyle/>
          <a:p>
            <a:fld id="{8A9ACA45-0AFC-4A45-93F3-076781FEEA9B}" type="slidenum">
              <a:rPr lang="vi-VN" smtClean="0"/>
              <a:t>4</a:t>
            </a:fld>
            <a:endParaRPr lang="vi-VN"/>
          </a:p>
        </p:txBody>
      </p:sp>
    </p:spTree>
    <p:extLst>
      <p:ext uri="{BB962C8B-B14F-4D97-AF65-F5344CB8AC3E}">
        <p14:creationId xmlns:p14="http://schemas.microsoft.com/office/powerpoint/2010/main" val="4124896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b="1" dirty="0"/>
              <a:t>Hệ thống ngày càng nhỏ hơn</a:t>
            </a:r>
            <a:endParaRPr lang="vi-VN" dirty="0"/>
          </a:p>
          <a:p>
            <a:pPr>
              <a:buFont typeface="Arial" panose="020B0604020202020204" pitchFamily="34" charset="0"/>
              <a:buChar char="•"/>
            </a:pPr>
            <a:r>
              <a:rPr lang="vi-VN" dirty="0"/>
              <a:t>Ban đầu, các hệ quản trị cơ sở dữ liệu (DBMS) là phần mềm lớn và đắt đỏ, chạy trên các máy tính lớn.</a:t>
            </a:r>
          </a:p>
          <a:p>
            <a:pPr>
              <a:buFont typeface="Arial" panose="020B0604020202020204" pitchFamily="34" charset="0"/>
              <a:buChar char="•"/>
            </a:pPr>
            <a:r>
              <a:rPr lang="vi-VN" dirty="0"/>
              <a:t>Ngày nay, DBMS có thể chạy trên PC, điện thoại di động,...</a:t>
            </a:r>
          </a:p>
          <a:p>
            <a:pPr>
              <a:buFont typeface="Arial" panose="020B0604020202020204" pitchFamily="34" charset="0"/>
              <a:buChar char="•"/>
            </a:pPr>
            <a:r>
              <a:rPr lang="vi-VN" b="1" dirty="0"/>
              <a:t>⇒ Các hệ thống cơ sở dữ liệu dựa trên mô hình quan hệ hiện đã có sẵn cho cả những máy rất nhỏ.</a:t>
            </a:r>
            <a:endParaRPr lang="vi-VN" dirty="0"/>
          </a:p>
          <a:p>
            <a:r>
              <a:rPr lang="vi-VN" b="1" dirty="0"/>
              <a:t>Hệ thống ngày càng lớn hơn</a:t>
            </a:r>
            <a:endParaRPr lang="vi-VN" dirty="0"/>
          </a:p>
          <a:p>
            <a:pPr>
              <a:buFont typeface="Arial" panose="020B0604020202020204" pitchFamily="34" charset="0"/>
              <a:buChar char="•"/>
            </a:pPr>
            <a:r>
              <a:rPr lang="vi-VN" dirty="0"/>
              <a:t>Kích thước dữ liệu đang không ngừng gia tăng.</a:t>
            </a:r>
          </a:p>
          <a:p>
            <a:pPr>
              <a:buFont typeface="Arial" panose="020B0604020202020204" pitchFamily="34" charset="0"/>
              <a:buChar char="•"/>
            </a:pPr>
            <a:r>
              <a:rPr lang="vi-VN" dirty="0"/>
              <a:t>Nhiều cơ sở dữ liệu lưu trữ dữ liệu ở mức petabyte và phục vụ toàn bộ cho người dùng.</a:t>
            </a:r>
          </a:p>
          <a:p>
            <a:pPr>
              <a:buFontTx/>
              <a:buChar char="-"/>
            </a:pPr>
            <a:endParaRPr lang="en-US" dirty="0"/>
          </a:p>
        </p:txBody>
      </p:sp>
      <p:sp>
        <p:nvSpPr>
          <p:cNvPr id="4" name="Slide Number Placeholder 3"/>
          <p:cNvSpPr>
            <a:spLocks noGrp="1"/>
          </p:cNvSpPr>
          <p:nvPr>
            <p:ph type="sldNum" sz="quarter" idx="10"/>
          </p:nvPr>
        </p:nvSpPr>
        <p:spPr/>
        <p:txBody>
          <a:bodyPr/>
          <a:lstStyle/>
          <a:p>
            <a:fld id="{9430208A-165B-49AC-A8B4-F43E85076B99}" type="slidenum">
              <a:rPr lang="en-US" smtClean="0"/>
              <a:pPr/>
              <a:t>12</a:t>
            </a:fld>
            <a:endParaRPr lang="en-US"/>
          </a:p>
        </p:txBody>
      </p:sp>
    </p:spTree>
    <p:extLst>
      <p:ext uri="{BB962C8B-B14F-4D97-AF65-F5344CB8AC3E}">
        <p14:creationId xmlns:p14="http://schemas.microsoft.com/office/powerpoint/2010/main" val="2250072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r>
              <a:rPr lang="vi-VN" b="1" dirty="0"/>
              <a:t>Tích hợp thông tin</a:t>
            </a:r>
            <a:endParaRPr lang="vi-VN" dirty="0"/>
          </a:p>
          <a:p>
            <a:pPr>
              <a:buFont typeface="Arial" panose="020B0604020202020204" pitchFamily="34" charset="0"/>
              <a:buChar char="•"/>
            </a:pPr>
            <a:r>
              <a:rPr lang="vi-VN" dirty="0"/>
              <a:t>Kết hợp thông tin có trong nhiều cơ sở dữ liệu liên quan thành một thể thống nhất.</a:t>
            </a:r>
          </a:p>
          <a:p>
            <a:pPr>
              <a:buFont typeface="Arial" panose="020B0604020202020204" pitchFamily="34" charset="0"/>
              <a:buChar char="•"/>
            </a:pPr>
            <a:r>
              <a:rPr lang="vi-VN" b="1" dirty="0"/>
              <a:t>Ví dụ</a:t>
            </a:r>
            <a:r>
              <a:rPr lang="vi-VN" dirty="0"/>
              <a:t>: Một công ty lớn có nhiều bộ phận, mỗi bộ phận xây dựng cơ sở dữ liệu riêng về sản phẩm và nhân viên, sử dụng các hệ quản trị cơ sở dữ liệu (DBMS) và cấu trúc khác nhau.</a:t>
            </a:r>
          </a:p>
          <a:p>
            <a:pPr>
              <a:buFont typeface="Arial" panose="020B0604020202020204" pitchFamily="34" charset="0"/>
              <a:buChar char="•"/>
            </a:pPr>
            <a:r>
              <a:rPr lang="vi-VN" dirty="0"/>
              <a:t>Làm thế nào để kết hợp các cơ sở dữ liệu này mà không gặp vấn đề gì?</a:t>
            </a:r>
          </a:p>
          <a:p>
            <a:pPr>
              <a:buFont typeface="Arial" panose="020B0604020202020204" pitchFamily="34" charset="0"/>
              <a:buChar char="•"/>
            </a:pPr>
            <a:r>
              <a:rPr lang="vi-VN" dirty="0"/>
              <a:t>Cần xây dựng các cấu trúc bên trên các cơ sở dữ liệu hiện có, nhằm mục đích tích hợp thông tin được phân tán giữa chúng.</a:t>
            </a:r>
          </a:p>
          <a:p>
            <a:pPr>
              <a:buFontTx/>
              <a:buChar char="-"/>
            </a:pPr>
            <a:endParaRPr lang="en-US" dirty="0"/>
          </a:p>
        </p:txBody>
      </p:sp>
      <p:sp>
        <p:nvSpPr>
          <p:cNvPr id="4" name="Slide Number Placeholder 3"/>
          <p:cNvSpPr>
            <a:spLocks noGrp="1"/>
          </p:cNvSpPr>
          <p:nvPr>
            <p:ph type="sldNum" sz="quarter" idx="10"/>
          </p:nvPr>
        </p:nvSpPr>
        <p:spPr/>
        <p:txBody>
          <a:bodyPr/>
          <a:lstStyle/>
          <a:p>
            <a:fld id="{9430208A-165B-49AC-A8B4-F43E85076B99}" type="slidenum">
              <a:rPr lang="en-US" smtClean="0"/>
              <a:pPr/>
              <a:t>13</a:t>
            </a:fld>
            <a:endParaRPr lang="en-US"/>
          </a:p>
        </p:txBody>
      </p:sp>
    </p:spTree>
    <p:extLst>
      <p:ext uri="{BB962C8B-B14F-4D97-AF65-F5344CB8AC3E}">
        <p14:creationId xmlns:p14="http://schemas.microsoft.com/office/powerpoint/2010/main" val="698562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r>
              <a:rPr lang="vi-VN" b="1" dirty="0"/>
              <a:t>Hai cách tiếp cận phổ biến</a:t>
            </a:r>
            <a:endParaRPr lang="vi-VN" dirty="0"/>
          </a:p>
          <a:p>
            <a:pPr>
              <a:buFont typeface="Arial" panose="020B0604020202020204" pitchFamily="34" charset="0"/>
              <a:buChar char="•"/>
            </a:pPr>
            <a:r>
              <a:rPr lang="vi-VN" dirty="0"/>
              <a:t>Tạo </a:t>
            </a:r>
            <a:r>
              <a:rPr lang="vi-VN" b="1" dirty="0"/>
              <a:t>kho dữ liệu</a:t>
            </a:r>
            <a:r>
              <a:rPr lang="vi-VN" dirty="0"/>
              <a:t> (data warehouse), nơi thông tin từ nhiều cơ sở dữ liệu được sao chép định kỳ, với các bước dịch phù hợp, vào một cơ sở dữ liệu trung tâm.</a:t>
            </a:r>
          </a:p>
          <a:p>
            <a:pPr>
              <a:buFont typeface="Arial" panose="020B0604020202020204" pitchFamily="34" charset="0"/>
              <a:buChar char="•"/>
            </a:pPr>
            <a:r>
              <a:rPr lang="vi-VN" dirty="0"/>
              <a:t>Triển khai một </a:t>
            </a:r>
            <a:r>
              <a:rPr lang="vi-VN" b="1" dirty="0"/>
              <a:t>phần mềm trung gian</a:t>
            </a:r>
            <a:r>
              <a:rPr lang="vi-VN" dirty="0"/>
              <a:t> (middleware hoặc mediator) hỗ trợ một mô hình tích hợp dữ liệu từ các cơ sở dữ liệu khác nhau, đồng thời chuyển đổi giữa mô hình này và các mô hình thực tế được sử dụng bởi từng cơ sở dữ liệu.</a:t>
            </a:r>
          </a:p>
          <a:p>
            <a:pPr>
              <a:buFontTx/>
              <a:buChar char="-"/>
            </a:pPr>
            <a:endParaRPr lang="en-US" dirty="0"/>
          </a:p>
        </p:txBody>
      </p:sp>
      <p:sp>
        <p:nvSpPr>
          <p:cNvPr id="4" name="Slide Number Placeholder 3"/>
          <p:cNvSpPr>
            <a:spLocks noGrp="1"/>
          </p:cNvSpPr>
          <p:nvPr>
            <p:ph type="sldNum" sz="quarter" idx="10"/>
          </p:nvPr>
        </p:nvSpPr>
        <p:spPr/>
        <p:txBody>
          <a:bodyPr/>
          <a:lstStyle/>
          <a:p>
            <a:fld id="{9430208A-165B-49AC-A8B4-F43E85076B99}" type="slidenum">
              <a:rPr lang="en-US" smtClean="0"/>
              <a:pPr/>
              <a:t>14</a:t>
            </a:fld>
            <a:endParaRPr lang="en-US"/>
          </a:p>
        </p:txBody>
      </p:sp>
    </p:spTree>
    <p:extLst>
      <p:ext uri="{BB962C8B-B14F-4D97-AF65-F5344CB8AC3E}">
        <p14:creationId xmlns:p14="http://schemas.microsoft.com/office/powerpoint/2010/main" val="3575987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r>
              <a:rPr lang="vi-VN" b="1" dirty="0"/>
              <a:t>Người dùng cơ sở dữ liệu</a:t>
            </a:r>
            <a:endParaRPr lang="vi-VN" dirty="0"/>
          </a:p>
          <a:p>
            <a:pPr>
              <a:buFont typeface="Arial" panose="020B0604020202020204" pitchFamily="34" charset="0"/>
              <a:buChar char="•"/>
            </a:pPr>
            <a:r>
              <a:rPr lang="vi-VN" b="1" dirty="0"/>
              <a:t>Quản trị viên cơ sở dữ liệu</a:t>
            </a:r>
            <a:r>
              <a:rPr lang="vi-VN" dirty="0"/>
              <a:t> (Database Administrators): Cấp quyền truy cập vào cơ sở dữ liệu, điều phối, giám sát việc sử dụng, mua sắm phần mềm và tài nguyên phần cứng, ...</a:t>
            </a:r>
          </a:p>
          <a:p>
            <a:pPr>
              <a:buFont typeface="Arial" panose="020B0604020202020204" pitchFamily="34" charset="0"/>
              <a:buChar char="•"/>
            </a:pPr>
            <a:r>
              <a:rPr lang="vi-VN" b="1" dirty="0"/>
              <a:t>Người thiết kế cơ sở dữ liệu</a:t>
            </a:r>
            <a:r>
              <a:rPr lang="vi-VN" dirty="0"/>
              <a:t> (Database Designers): Xác định nội dung, cấu trúc, các ràng buộc, và các chức năng hoặc giao dịch liên quan đến cơ sở dữ liệu.</a:t>
            </a:r>
          </a:p>
          <a:p>
            <a:pPr>
              <a:buFont typeface="Arial" panose="020B0604020202020204" pitchFamily="34" charset="0"/>
              <a:buChar char="•"/>
            </a:pPr>
            <a:r>
              <a:rPr lang="vi-VN" b="1" dirty="0"/>
              <a:t>Người dùng cuối cơ sở dữ liệu</a:t>
            </a:r>
            <a:r>
              <a:rPr lang="vi-VN" dirty="0"/>
              <a:t> (Database End Users): Sử dụng dữ liệu để truy vấn, tạo báo cáo và một số người dùng thực hiện việc cập nhật nội dung cơ sở dữ liệu.</a:t>
            </a:r>
          </a:p>
          <a:p>
            <a:pPr>
              <a:buFontTx/>
              <a:buChar char="-"/>
            </a:pPr>
            <a:endParaRPr lang="en-US" dirty="0"/>
          </a:p>
        </p:txBody>
      </p:sp>
      <p:sp>
        <p:nvSpPr>
          <p:cNvPr id="4" name="Slide Number Placeholder 3"/>
          <p:cNvSpPr>
            <a:spLocks noGrp="1"/>
          </p:cNvSpPr>
          <p:nvPr>
            <p:ph type="sldNum" sz="quarter" idx="10"/>
          </p:nvPr>
        </p:nvSpPr>
        <p:spPr/>
        <p:txBody>
          <a:bodyPr/>
          <a:lstStyle/>
          <a:p>
            <a:fld id="{9430208A-165B-49AC-A8B4-F43E85076B99}" type="slidenum">
              <a:rPr lang="en-US" smtClean="0"/>
              <a:pPr/>
              <a:t>17</a:t>
            </a:fld>
            <a:endParaRPr lang="en-US"/>
          </a:p>
        </p:txBody>
      </p:sp>
    </p:spTree>
    <p:extLst>
      <p:ext uri="{BB962C8B-B14F-4D97-AF65-F5344CB8AC3E}">
        <p14:creationId xmlns:p14="http://schemas.microsoft.com/office/powerpoint/2010/main" val="3359927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p>
        </p:txBody>
      </p:sp>
      <p:sp>
        <p:nvSpPr>
          <p:cNvPr id="4" name="Slide Number Placeholder 3"/>
          <p:cNvSpPr>
            <a:spLocks noGrp="1"/>
          </p:cNvSpPr>
          <p:nvPr>
            <p:ph type="sldNum" sz="quarter" idx="10"/>
          </p:nvPr>
        </p:nvSpPr>
        <p:spPr/>
        <p:txBody>
          <a:bodyPr/>
          <a:lstStyle/>
          <a:p>
            <a:fld id="{9430208A-165B-49AC-A8B4-F43E85076B99}" type="slidenum">
              <a:rPr lang="en-US" smtClean="0"/>
              <a:pPr/>
              <a:t>18</a:t>
            </a:fld>
            <a:endParaRPr lang="en-US"/>
          </a:p>
        </p:txBody>
      </p:sp>
    </p:spTree>
    <p:extLst>
      <p:ext uri="{BB962C8B-B14F-4D97-AF65-F5344CB8AC3E}">
        <p14:creationId xmlns:p14="http://schemas.microsoft.com/office/powerpoint/2010/main" val="925351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p>
        </p:txBody>
      </p:sp>
      <p:sp>
        <p:nvSpPr>
          <p:cNvPr id="4" name="Slide Number Placeholder 3"/>
          <p:cNvSpPr>
            <a:spLocks noGrp="1"/>
          </p:cNvSpPr>
          <p:nvPr>
            <p:ph type="sldNum" sz="quarter" idx="10"/>
          </p:nvPr>
        </p:nvSpPr>
        <p:spPr/>
        <p:txBody>
          <a:bodyPr/>
          <a:lstStyle/>
          <a:p>
            <a:fld id="{9430208A-165B-49AC-A8B4-F43E85076B99}" type="slidenum">
              <a:rPr lang="en-US" smtClean="0"/>
              <a:pPr/>
              <a:t>19</a:t>
            </a:fld>
            <a:endParaRPr lang="en-US"/>
          </a:p>
        </p:txBody>
      </p:sp>
    </p:spTree>
    <p:extLst>
      <p:ext uri="{BB962C8B-B14F-4D97-AF65-F5344CB8AC3E}">
        <p14:creationId xmlns:p14="http://schemas.microsoft.com/office/powerpoint/2010/main" val="1943548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baseline="0" dirty="0"/>
              <a:t> </a:t>
            </a:r>
          </a:p>
        </p:txBody>
      </p:sp>
      <p:sp>
        <p:nvSpPr>
          <p:cNvPr id="4" name="Slide Number Placeholder 3"/>
          <p:cNvSpPr>
            <a:spLocks noGrp="1"/>
          </p:cNvSpPr>
          <p:nvPr>
            <p:ph type="sldNum" sz="quarter" idx="10"/>
          </p:nvPr>
        </p:nvSpPr>
        <p:spPr/>
        <p:txBody>
          <a:bodyPr/>
          <a:lstStyle/>
          <a:p>
            <a:fld id="{9430208A-165B-49AC-A8B4-F43E85076B99}" type="slidenum">
              <a:rPr lang="en-US" smtClean="0"/>
              <a:pPr/>
              <a:t>20</a:t>
            </a:fld>
            <a:endParaRPr lang="en-US"/>
          </a:p>
        </p:txBody>
      </p:sp>
    </p:spTree>
    <p:extLst>
      <p:ext uri="{BB962C8B-B14F-4D97-AF65-F5344CB8AC3E}">
        <p14:creationId xmlns:p14="http://schemas.microsoft.com/office/powerpoint/2010/main" val="40170006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17251" y="618656"/>
            <a:ext cx="8282866" cy="3706456"/>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17251" y="4455621"/>
            <a:ext cx="8282865"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F3EB6F-AE70-4531-B98A-C83A0659409F}" type="datetime1">
              <a:rPr lang="vi-VN" smtClean="0"/>
              <a:t>06/03/2025</a:t>
            </a:fld>
            <a:endParaRPr lang="vi-VN"/>
          </a:p>
        </p:txBody>
      </p:sp>
      <p:sp>
        <p:nvSpPr>
          <p:cNvPr id="5" name="Footer Placeholder 4"/>
          <p:cNvSpPr>
            <a:spLocks noGrp="1"/>
          </p:cNvSpPr>
          <p:nvPr>
            <p:ph type="ftr" sz="quarter" idx="11"/>
          </p:nvPr>
        </p:nvSpPr>
        <p:spPr/>
        <p:txBody>
          <a:bodyPr/>
          <a:lstStyle/>
          <a:p>
            <a:r>
              <a:rPr lang="en-US"/>
              <a:t>Phan Thi Ha</a:t>
            </a:r>
            <a:endParaRPr lang="vi-VN"/>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logo.png">
            <a:extLst>
              <a:ext uri="{FF2B5EF4-FFF2-40B4-BE49-F238E27FC236}">
                <a16:creationId xmlns:a16="http://schemas.microsoft.com/office/drawing/2014/main" id="{A0963C1F-7CE9-4F9E-B7FD-0800F8B125E4}"/>
              </a:ext>
            </a:extLst>
          </p:cNvPr>
          <p:cNvPicPr>
            <a:picLocks noChangeAspect="1"/>
          </p:cNvPicPr>
          <p:nvPr userDrawn="1"/>
        </p:nvPicPr>
        <p:blipFill>
          <a:blip r:embed="rId2" cstate="print">
            <a:lum bright="34000" contrast="-51000"/>
          </a:blip>
          <a:stretch>
            <a:fillRect/>
          </a:stretch>
        </p:blipFill>
        <p:spPr>
          <a:xfrm>
            <a:off x="96463" y="66287"/>
            <a:ext cx="914402" cy="440149"/>
          </a:xfrm>
          <a:prstGeom prst="rect">
            <a:avLst/>
          </a:prstGeom>
        </p:spPr>
      </p:pic>
    </p:spTree>
    <p:extLst>
      <p:ext uri="{BB962C8B-B14F-4D97-AF65-F5344CB8AC3E}">
        <p14:creationId xmlns:p14="http://schemas.microsoft.com/office/powerpoint/2010/main" val="3001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5925" y="286605"/>
            <a:ext cx="7936637" cy="1062801"/>
          </a:xfrm>
        </p:spPr>
        <p:txBody>
          <a:bodyPr/>
          <a:lstStyle/>
          <a:p>
            <a:r>
              <a:rPr lang="en-US" dirty="0"/>
              <a:t>Click to edit Master title style</a:t>
            </a:r>
          </a:p>
        </p:txBody>
      </p:sp>
      <p:sp>
        <p:nvSpPr>
          <p:cNvPr id="3" name="Content Placeholder 2"/>
          <p:cNvSpPr>
            <a:spLocks noGrp="1"/>
          </p:cNvSpPr>
          <p:nvPr>
            <p:ph idx="1"/>
          </p:nvPr>
        </p:nvSpPr>
        <p:spPr>
          <a:xfrm>
            <a:off x="585925" y="1349407"/>
            <a:ext cx="7936637" cy="47229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3E97BB-B48A-4863-95B8-BE20B4E5CAE2}" type="datetime1">
              <a:rPr lang="vi-VN" smtClean="0"/>
              <a:t>06/03/2025</a:t>
            </a:fld>
            <a:endParaRPr lang="vi-VN"/>
          </a:p>
        </p:txBody>
      </p:sp>
      <p:sp>
        <p:nvSpPr>
          <p:cNvPr id="5" name="Footer Placeholder 4"/>
          <p:cNvSpPr>
            <a:spLocks noGrp="1"/>
          </p:cNvSpPr>
          <p:nvPr>
            <p:ph type="ftr" sz="quarter" idx="11"/>
          </p:nvPr>
        </p:nvSpPr>
        <p:spPr/>
        <p:txBody>
          <a:bodyPr/>
          <a:lstStyle/>
          <a:p>
            <a:r>
              <a:rPr lang="en-US"/>
              <a:t>Phan Thi Ha</a:t>
            </a:r>
            <a:endParaRPr lang="vi-VN"/>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201690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4C9D93-40C6-45A0-A0B6-95A15CE370F7}" type="datetime1">
              <a:rPr lang="vi-VN" smtClean="0"/>
              <a:t>06/03/2025</a:t>
            </a:fld>
            <a:endParaRPr lang="vi-VN"/>
          </a:p>
        </p:txBody>
      </p:sp>
      <p:sp>
        <p:nvSpPr>
          <p:cNvPr id="5" name="Footer Placeholder 4"/>
          <p:cNvSpPr>
            <a:spLocks noGrp="1"/>
          </p:cNvSpPr>
          <p:nvPr>
            <p:ph type="ftr" sz="quarter" idx="11"/>
          </p:nvPr>
        </p:nvSpPr>
        <p:spPr/>
        <p:txBody>
          <a:bodyPr/>
          <a:lstStyle/>
          <a:p>
            <a:r>
              <a:rPr lang="en-US"/>
              <a:t>Phan Thi Ha</a:t>
            </a:r>
            <a:endParaRPr lang="vi-VN"/>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logo.png">
            <a:extLst>
              <a:ext uri="{FF2B5EF4-FFF2-40B4-BE49-F238E27FC236}">
                <a16:creationId xmlns:a16="http://schemas.microsoft.com/office/drawing/2014/main" id="{96DB7A77-F6F6-43E1-AF5E-6D9EF7D9A774}"/>
              </a:ext>
            </a:extLst>
          </p:cNvPr>
          <p:cNvPicPr>
            <a:picLocks noChangeAspect="1"/>
          </p:cNvPicPr>
          <p:nvPr userDrawn="1"/>
        </p:nvPicPr>
        <p:blipFill>
          <a:blip r:embed="rId2" cstate="print">
            <a:lum bright="34000" contrast="-51000"/>
          </a:blip>
          <a:stretch>
            <a:fillRect/>
          </a:stretch>
        </p:blipFill>
        <p:spPr>
          <a:xfrm>
            <a:off x="96463" y="66287"/>
            <a:ext cx="914402" cy="440149"/>
          </a:xfrm>
          <a:prstGeom prst="rect">
            <a:avLst/>
          </a:prstGeom>
        </p:spPr>
      </p:pic>
    </p:spTree>
    <p:extLst>
      <p:ext uri="{BB962C8B-B14F-4D97-AF65-F5344CB8AC3E}">
        <p14:creationId xmlns:p14="http://schemas.microsoft.com/office/powerpoint/2010/main" val="1325449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BB586B-D6DE-4B70-BDD8-AD369EA3E156}" type="datetime1">
              <a:rPr lang="vi-VN" smtClean="0"/>
              <a:t>06/03/2025</a:t>
            </a:fld>
            <a:endParaRPr lang="vi-VN"/>
          </a:p>
        </p:txBody>
      </p:sp>
      <p:sp>
        <p:nvSpPr>
          <p:cNvPr id="6" name="Footer Placeholder 5"/>
          <p:cNvSpPr>
            <a:spLocks noGrp="1"/>
          </p:cNvSpPr>
          <p:nvPr>
            <p:ph type="ftr" sz="quarter" idx="11"/>
          </p:nvPr>
        </p:nvSpPr>
        <p:spPr/>
        <p:txBody>
          <a:bodyPr/>
          <a:lstStyle/>
          <a:p>
            <a:r>
              <a:rPr lang="en-US"/>
              <a:t>Phan Thi Ha</a:t>
            </a:r>
            <a:endParaRPr lang="vi-VN"/>
          </a:p>
        </p:txBody>
      </p:sp>
      <p:sp>
        <p:nvSpPr>
          <p:cNvPr id="7" name="Slide Number Placeholder 6"/>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2553920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309D9F-CFF2-454D-9434-028CE9763F09}" type="datetime1">
              <a:rPr lang="vi-VN" smtClean="0"/>
              <a:t>06/03/2025</a:t>
            </a:fld>
            <a:endParaRPr lang="vi-VN"/>
          </a:p>
        </p:txBody>
      </p:sp>
      <p:sp>
        <p:nvSpPr>
          <p:cNvPr id="8" name="Footer Placeholder 7"/>
          <p:cNvSpPr>
            <a:spLocks noGrp="1"/>
          </p:cNvSpPr>
          <p:nvPr>
            <p:ph type="ftr" sz="quarter" idx="11"/>
          </p:nvPr>
        </p:nvSpPr>
        <p:spPr/>
        <p:txBody>
          <a:bodyPr/>
          <a:lstStyle/>
          <a:p>
            <a:r>
              <a:rPr lang="en-US"/>
              <a:t>Phan Thi Ha</a:t>
            </a:r>
            <a:endParaRPr lang="vi-VN"/>
          </a:p>
        </p:txBody>
      </p:sp>
      <p:sp>
        <p:nvSpPr>
          <p:cNvPr id="9" name="Slide Number Placeholder 8"/>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3541054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59589A-EDA9-4A73-BFF9-3F36F5F49CD4}" type="datetime1">
              <a:rPr lang="vi-VN" smtClean="0"/>
              <a:t>06/03/2025</a:t>
            </a:fld>
            <a:endParaRPr lang="vi-VN"/>
          </a:p>
        </p:txBody>
      </p:sp>
      <p:sp>
        <p:nvSpPr>
          <p:cNvPr id="4" name="Footer Placeholder 3"/>
          <p:cNvSpPr>
            <a:spLocks noGrp="1"/>
          </p:cNvSpPr>
          <p:nvPr>
            <p:ph type="ftr" sz="quarter" idx="11"/>
          </p:nvPr>
        </p:nvSpPr>
        <p:spPr/>
        <p:txBody>
          <a:bodyPr/>
          <a:lstStyle/>
          <a:p>
            <a:r>
              <a:rPr lang="en-US"/>
              <a:t>Phan Thi Ha</a:t>
            </a:r>
            <a:endParaRPr lang="vi-VN"/>
          </a:p>
        </p:txBody>
      </p:sp>
      <p:sp>
        <p:nvSpPr>
          <p:cNvPr id="5" name="Slide Number Placeholder 4"/>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358166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9B1E074-8087-431E-A130-E555EBA9AF0C}" type="datetime1">
              <a:rPr lang="vi-VN" smtClean="0"/>
              <a:t>06/03/2025</a:t>
            </a:fld>
            <a:endParaRPr lang="vi-V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Phan Thi Ha</a:t>
            </a:r>
            <a:endParaRPr lang="vi-VN"/>
          </a:p>
        </p:txBody>
      </p:sp>
      <p:sp>
        <p:nvSpPr>
          <p:cNvPr id="9" name="Slide Number Placeholder 8"/>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673483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D2214663-7C20-4C4B-8985-0764CCD90025}" type="datetime1">
              <a:rPr lang="vi-VN" smtClean="0"/>
              <a:t>06/03/2025</a:t>
            </a:fld>
            <a:endParaRPr lang="vi-VN"/>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Phan Thi Ha</a:t>
            </a:r>
            <a:endParaRPr lang="vi-V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2FDD2D-D1AD-4AA7-93C2-8410BB90945D}" type="slidenum">
              <a:rPr lang="vi-VN" smtClean="0"/>
              <a:t>‹#›</a:t>
            </a:fld>
            <a:endParaRPr lang="vi-VN"/>
          </a:p>
        </p:txBody>
      </p:sp>
    </p:spTree>
    <p:extLst>
      <p:ext uri="{BB962C8B-B14F-4D97-AF65-F5344CB8AC3E}">
        <p14:creationId xmlns:p14="http://schemas.microsoft.com/office/powerpoint/2010/main" val="295597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39DDBC-E660-4484-B876-D579DC35947F}" type="datetime1">
              <a:rPr lang="vi-VN" smtClean="0"/>
              <a:t>06/03/2025</a:t>
            </a:fld>
            <a:endParaRPr lang="vi-VN"/>
          </a:p>
        </p:txBody>
      </p:sp>
      <p:sp>
        <p:nvSpPr>
          <p:cNvPr id="6" name="Footer Placeholder 5"/>
          <p:cNvSpPr>
            <a:spLocks noGrp="1"/>
          </p:cNvSpPr>
          <p:nvPr>
            <p:ph type="ftr" sz="quarter" idx="11"/>
          </p:nvPr>
        </p:nvSpPr>
        <p:spPr/>
        <p:txBody>
          <a:bodyPr/>
          <a:lstStyle/>
          <a:p>
            <a:r>
              <a:rPr lang="en-US"/>
              <a:t>Phan Thi Ha</a:t>
            </a:r>
            <a:endParaRPr lang="vi-VN"/>
          </a:p>
        </p:txBody>
      </p:sp>
      <p:sp>
        <p:nvSpPr>
          <p:cNvPr id="7" name="Slide Number Placeholder 6"/>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260644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23CF4E-5EF3-4883-97B3-C4E54CFC07BC}" type="datetime1">
              <a:rPr lang="vi-VN" smtClean="0"/>
              <a:t>06/03/2025</a:t>
            </a:fld>
            <a:endParaRPr lang="vi-VN"/>
          </a:p>
        </p:txBody>
      </p:sp>
      <p:sp>
        <p:nvSpPr>
          <p:cNvPr id="5" name="Footer Placeholder 4"/>
          <p:cNvSpPr>
            <a:spLocks noGrp="1"/>
          </p:cNvSpPr>
          <p:nvPr>
            <p:ph type="ftr" sz="quarter" idx="11"/>
          </p:nvPr>
        </p:nvSpPr>
        <p:spPr/>
        <p:txBody>
          <a:bodyPr/>
          <a:lstStyle/>
          <a:p>
            <a:r>
              <a:rPr lang="en-US"/>
              <a:t>Phan Thi Ha</a:t>
            </a:r>
            <a:endParaRPr lang="vi-VN"/>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3202569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041420-5311-4D20-88BF-3CD517D48B66}" type="datetime1">
              <a:rPr lang="vi-VN" smtClean="0"/>
              <a:t>06/03/2025</a:t>
            </a:fld>
            <a:endParaRPr lang="vi-VN"/>
          </a:p>
        </p:txBody>
      </p:sp>
      <p:sp>
        <p:nvSpPr>
          <p:cNvPr id="5" name="Footer Placeholder 4"/>
          <p:cNvSpPr>
            <a:spLocks noGrp="1"/>
          </p:cNvSpPr>
          <p:nvPr>
            <p:ph type="ftr" sz="quarter" idx="11"/>
          </p:nvPr>
        </p:nvSpPr>
        <p:spPr/>
        <p:txBody>
          <a:bodyPr/>
          <a:lstStyle/>
          <a:p>
            <a:r>
              <a:rPr lang="en-US"/>
              <a:t>Phan Thi Ha</a:t>
            </a:r>
            <a:endParaRPr lang="vi-VN"/>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4279536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603683" y="286604"/>
            <a:ext cx="7963268" cy="113381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03683" y="1420423"/>
            <a:ext cx="7963268" cy="4814797"/>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D7974FA4-F118-4E2D-8579-5B3A3D31F6EC}" type="datetime1">
              <a:rPr lang="vi-VN" smtClean="0"/>
              <a:t>06/03/2025</a:t>
            </a:fld>
            <a:endParaRPr lang="vi-VN"/>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Phan Thi Ha</a:t>
            </a:r>
            <a:endParaRPr lang="vi-VN"/>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C2FDD2D-D1AD-4AA7-93C2-8410BB90945D}" type="slidenum">
              <a:rPr lang="vi-VN" smtClean="0"/>
              <a:t>‹#›</a:t>
            </a:fld>
            <a:endParaRPr lang="vi-VN"/>
          </a:p>
        </p:txBody>
      </p:sp>
      <p:pic>
        <p:nvPicPr>
          <p:cNvPr id="11" name="Picture 10" descr="logo.png">
            <a:extLst>
              <a:ext uri="{FF2B5EF4-FFF2-40B4-BE49-F238E27FC236}">
                <a16:creationId xmlns:a16="http://schemas.microsoft.com/office/drawing/2014/main" id="{385FDECA-9367-45BB-913D-DF7A0DC13504}"/>
              </a:ext>
            </a:extLst>
          </p:cNvPr>
          <p:cNvPicPr>
            <a:picLocks noChangeAspect="1"/>
          </p:cNvPicPr>
          <p:nvPr userDrawn="1"/>
        </p:nvPicPr>
        <p:blipFill>
          <a:blip r:embed="rId13" cstate="print">
            <a:lum bright="34000" contrast="-51000"/>
          </a:blip>
          <a:stretch>
            <a:fillRect/>
          </a:stretch>
        </p:blipFill>
        <p:spPr>
          <a:xfrm>
            <a:off x="96463" y="66287"/>
            <a:ext cx="914402" cy="440149"/>
          </a:xfrm>
          <a:prstGeom prst="rect">
            <a:avLst/>
          </a:prstGeom>
        </p:spPr>
      </p:pic>
    </p:spTree>
    <p:extLst>
      <p:ext uri="{BB962C8B-B14F-4D97-AF65-F5344CB8AC3E}">
        <p14:creationId xmlns:p14="http://schemas.microsoft.com/office/powerpoint/2010/main" val="39049583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3600" b="1" kern="1200" spc="-50" baseline="0">
          <a:solidFill>
            <a:schemeClr val="tx1">
              <a:lumMod val="75000"/>
              <a:lumOff val="25000"/>
            </a:schemeClr>
          </a:solidFill>
          <a:latin typeface="Arial" panose="020B0604020202020204" pitchFamily="34" charset="0"/>
          <a:ea typeface="+mj-ea"/>
          <a:cs typeface="Arial" panose="020B0604020202020204" pitchFamily="34" charset="0"/>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A%20Relational%20Model%20of%20Data%20for%20Large%20Shared%20Data%20Banks_Edgar%20F.%20Codd.pdf"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988C1-F61A-438E-898F-A77A30BDF22F}"/>
              </a:ext>
            </a:extLst>
          </p:cNvPr>
          <p:cNvSpPr>
            <a:spLocks noGrp="1"/>
          </p:cNvSpPr>
          <p:nvPr>
            <p:ph type="ctrTitle"/>
          </p:nvPr>
        </p:nvSpPr>
        <p:spPr/>
        <p:txBody>
          <a:bodyPr anchor="t">
            <a:normAutofit fontScale="90000"/>
          </a:bodyPr>
          <a:lstStyle/>
          <a:p>
            <a:pPr algn="ctr"/>
            <a:r>
              <a:rPr lang="en-US" sz="4600" dirty="0"/>
              <a:t>Chapter 1</a:t>
            </a:r>
            <a:r>
              <a:rPr lang="en-US" dirty="0"/>
              <a:t> </a:t>
            </a:r>
            <a:br>
              <a:rPr lang="en-US" dirty="0"/>
            </a:br>
            <a:r>
              <a:rPr lang="en-US" sz="5100" dirty="0"/>
              <a:t>The Worlds of Database Systems</a:t>
            </a:r>
            <a:br>
              <a:rPr lang="en-US" sz="5100" dirty="0"/>
            </a:br>
            <a:br>
              <a:rPr lang="en-US" sz="5100" dirty="0"/>
            </a:br>
            <a:endParaRPr lang="vi-VN" sz="5100" dirty="0"/>
          </a:p>
        </p:txBody>
      </p:sp>
      <p:sp>
        <p:nvSpPr>
          <p:cNvPr id="3" name="Subtitle 2">
            <a:extLst>
              <a:ext uri="{FF2B5EF4-FFF2-40B4-BE49-F238E27FC236}">
                <a16:creationId xmlns:a16="http://schemas.microsoft.com/office/drawing/2014/main" id="{FE06C04D-9352-4FC5-8156-7D2520ADCB2E}"/>
              </a:ext>
            </a:extLst>
          </p:cNvPr>
          <p:cNvSpPr>
            <a:spLocks noGrp="1"/>
          </p:cNvSpPr>
          <p:nvPr>
            <p:ph type="subTitle" idx="1"/>
          </p:nvPr>
        </p:nvSpPr>
        <p:spPr/>
        <p:txBody>
          <a:bodyPr/>
          <a:lstStyle/>
          <a:p>
            <a:endParaRPr lang="vi-VN" dirty="0"/>
          </a:p>
        </p:txBody>
      </p:sp>
      <p:sp>
        <p:nvSpPr>
          <p:cNvPr id="4" name="Footer Placeholder 3">
            <a:extLst>
              <a:ext uri="{FF2B5EF4-FFF2-40B4-BE49-F238E27FC236}">
                <a16:creationId xmlns:a16="http://schemas.microsoft.com/office/drawing/2014/main" id="{D402B428-232F-4513-87A1-7EE1C36BEFD3}"/>
              </a:ext>
            </a:extLst>
          </p:cNvPr>
          <p:cNvSpPr>
            <a:spLocks noGrp="1"/>
          </p:cNvSpPr>
          <p:nvPr>
            <p:ph type="ftr" sz="quarter" idx="11"/>
          </p:nvPr>
        </p:nvSpPr>
        <p:spPr/>
        <p:txBody>
          <a:bodyPr/>
          <a:lstStyle/>
          <a:p>
            <a:r>
              <a:rPr lang="en-US"/>
              <a:t>Phan Thi Ha</a:t>
            </a:r>
            <a:endParaRPr lang="vi-VN" dirty="0"/>
          </a:p>
        </p:txBody>
      </p:sp>
    </p:spTree>
    <p:extLst>
      <p:ext uri="{BB962C8B-B14F-4D97-AF65-F5344CB8AC3E}">
        <p14:creationId xmlns:p14="http://schemas.microsoft.com/office/powerpoint/2010/main" val="1760081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82C54-B1A4-4D95-A29A-A70FE84C9296}"/>
              </a:ext>
            </a:extLst>
          </p:cNvPr>
          <p:cNvSpPr>
            <a:spLocks noGrp="1"/>
          </p:cNvSpPr>
          <p:nvPr>
            <p:ph type="title"/>
          </p:nvPr>
        </p:nvSpPr>
        <p:spPr/>
        <p:txBody>
          <a:bodyPr/>
          <a:lstStyle/>
          <a:p>
            <a:pPr algn="ctr"/>
            <a:r>
              <a:rPr lang="en-US" dirty="0"/>
              <a:t>Objectives</a:t>
            </a:r>
            <a:endParaRPr lang="vi-VN" dirty="0"/>
          </a:p>
        </p:txBody>
      </p:sp>
      <p:sp>
        <p:nvSpPr>
          <p:cNvPr id="3" name="Content Placeholder 2">
            <a:extLst>
              <a:ext uri="{FF2B5EF4-FFF2-40B4-BE49-F238E27FC236}">
                <a16:creationId xmlns:a16="http://schemas.microsoft.com/office/drawing/2014/main" id="{8917CB85-4AAA-4D53-9630-987FA07D0194}"/>
              </a:ext>
            </a:extLst>
          </p:cNvPr>
          <p:cNvSpPr>
            <a:spLocks noGrp="1"/>
          </p:cNvSpPr>
          <p:nvPr>
            <p:ph idx="1"/>
          </p:nvPr>
        </p:nvSpPr>
        <p:spPr>
          <a:xfrm>
            <a:off x="603681" y="1455547"/>
            <a:ext cx="7936637" cy="4678531"/>
          </a:xfrm>
        </p:spPr>
        <p:txBody>
          <a:bodyPr/>
          <a:lstStyle/>
          <a:p>
            <a:r>
              <a:rPr lang="en-US" dirty="0"/>
              <a:t>Understand concepts of:</a:t>
            </a:r>
          </a:p>
          <a:p>
            <a:pPr lvl="1">
              <a:buFont typeface="Wingdings" panose="05000000000000000000" pitchFamily="2" charset="2"/>
              <a:buChar char="§"/>
            </a:pPr>
            <a:r>
              <a:rPr lang="en-US" dirty="0"/>
              <a:t>Information, Data, Database</a:t>
            </a:r>
          </a:p>
          <a:p>
            <a:pPr lvl="1">
              <a:buFont typeface="Wingdings" panose="05000000000000000000" pitchFamily="2" charset="2"/>
              <a:buChar char="§"/>
            </a:pPr>
            <a:r>
              <a:rPr lang="en-US" dirty="0"/>
              <a:t>Database Management System (DBMS)</a:t>
            </a:r>
          </a:p>
          <a:p>
            <a:pPr lvl="1">
              <a:buFont typeface="Wingdings" panose="05000000000000000000" pitchFamily="2" charset="2"/>
              <a:buChar char="§"/>
            </a:pPr>
            <a:r>
              <a:rPr lang="en-US" dirty="0"/>
              <a:t>Database System</a:t>
            </a:r>
          </a:p>
          <a:p>
            <a:endParaRPr lang="vi-VN" dirty="0"/>
          </a:p>
        </p:txBody>
      </p:sp>
      <p:sp>
        <p:nvSpPr>
          <p:cNvPr id="4" name="Footer Placeholder 3">
            <a:extLst>
              <a:ext uri="{FF2B5EF4-FFF2-40B4-BE49-F238E27FC236}">
                <a16:creationId xmlns:a16="http://schemas.microsoft.com/office/drawing/2014/main" id="{7A276FE7-6F45-4BCA-BFDA-16259D260D4D}"/>
              </a:ext>
            </a:extLst>
          </p:cNvPr>
          <p:cNvSpPr>
            <a:spLocks noGrp="1"/>
          </p:cNvSpPr>
          <p:nvPr>
            <p:ph type="ftr" sz="quarter" idx="11"/>
          </p:nvPr>
        </p:nvSpPr>
        <p:spPr/>
        <p:txBody>
          <a:bodyPr/>
          <a:lstStyle/>
          <a:p>
            <a:r>
              <a:rPr lang="en-US"/>
              <a:t>Phan Thi Ha</a:t>
            </a:r>
            <a:endParaRPr lang="vi-VN"/>
          </a:p>
        </p:txBody>
      </p:sp>
    </p:spTree>
    <p:extLst>
      <p:ext uri="{BB962C8B-B14F-4D97-AF65-F5344CB8AC3E}">
        <p14:creationId xmlns:p14="http://schemas.microsoft.com/office/powerpoint/2010/main" val="651242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B81BE-1F9F-44F1-B005-D51C490A3FD5}"/>
              </a:ext>
            </a:extLst>
          </p:cNvPr>
          <p:cNvSpPr>
            <a:spLocks noGrp="1"/>
          </p:cNvSpPr>
          <p:nvPr>
            <p:ph type="title"/>
          </p:nvPr>
        </p:nvSpPr>
        <p:spPr/>
        <p:txBody>
          <a:bodyPr/>
          <a:lstStyle/>
          <a:p>
            <a:pPr algn="ctr"/>
            <a:r>
              <a:rPr lang="en-US" dirty="0"/>
              <a:t>Contents</a:t>
            </a:r>
            <a:endParaRPr lang="vi-VN" dirty="0"/>
          </a:p>
        </p:txBody>
      </p:sp>
      <p:sp>
        <p:nvSpPr>
          <p:cNvPr id="3" name="Content Placeholder 2">
            <a:extLst>
              <a:ext uri="{FF2B5EF4-FFF2-40B4-BE49-F238E27FC236}">
                <a16:creationId xmlns:a16="http://schemas.microsoft.com/office/drawing/2014/main" id="{445911B9-6708-4544-ADAD-7B64E6519F0E}"/>
              </a:ext>
            </a:extLst>
          </p:cNvPr>
          <p:cNvSpPr>
            <a:spLocks noGrp="1"/>
          </p:cNvSpPr>
          <p:nvPr>
            <p:ph idx="1"/>
          </p:nvPr>
        </p:nvSpPr>
        <p:spPr>
          <a:xfrm>
            <a:off x="585924" y="1516344"/>
            <a:ext cx="7936637" cy="4678531"/>
          </a:xfrm>
        </p:spPr>
        <p:txBody>
          <a:bodyPr/>
          <a:lstStyle/>
          <a:p>
            <a:r>
              <a:rPr lang="en-US" dirty="0"/>
              <a:t>1.1 The Evolution of Database Systems</a:t>
            </a:r>
          </a:p>
          <a:p>
            <a:r>
              <a:rPr lang="en-US" dirty="0"/>
              <a:t>1.2 Overview of Database Management System</a:t>
            </a:r>
          </a:p>
          <a:p>
            <a:endParaRPr lang="vi-VN" dirty="0"/>
          </a:p>
        </p:txBody>
      </p:sp>
      <p:sp>
        <p:nvSpPr>
          <p:cNvPr id="4" name="Footer Placeholder 3">
            <a:extLst>
              <a:ext uri="{FF2B5EF4-FFF2-40B4-BE49-F238E27FC236}">
                <a16:creationId xmlns:a16="http://schemas.microsoft.com/office/drawing/2014/main" id="{1BC68F62-EFA2-4AB7-A9B4-DEBC58270168}"/>
              </a:ext>
            </a:extLst>
          </p:cNvPr>
          <p:cNvSpPr>
            <a:spLocks noGrp="1"/>
          </p:cNvSpPr>
          <p:nvPr>
            <p:ph type="ftr" sz="quarter" idx="11"/>
          </p:nvPr>
        </p:nvSpPr>
        <p:spPr/>
        <p:txBody>
          <a:bodyPr/>
          <a:lstStyle/>
          <a:p>
            <a:r>
              <a:rPr lang="en-US"/>
              <a:t>Phan Thi Ha</a:t>
            </a:r>
            <a:endParaRPr lang="vi-VN"/>
          </a:p>
        </p:txBody>
      </p:sp>
    </p:spTree>
    <p:extLst>
      <p:ext uri="{BB962C8B-B14F-4D97-AF65-F5344CB8AC3E}">
        <p14:creationId xmlns:p14="http://schemas.microsoft.com/office/powerpoint/2010/main" val="3142115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64F71-1C6D-449B-B79E-BEE39A71052D}"/>
              </a:ext>
            </a:extLst>
          </p:cNvPr>
          <p:cNvSpPr>
            <a:spLocks noGrp="1"/>
          </p:cNvSpPr>
          <p:nvPr>
            <p:ph type="title"/>
          </p:nvPr>
        </p:nvSpPr>
        <p:spPr>
          <a:xfrm>
            <a:off x="621438" y="452740"/>
            <a:ext cx="7936637" cy="1107190"/>
          </a:xfrm>
        </p:spPr>
        <p:txBody>
          <a:bodyPr>
            <a:normAutofit fontScale="90000"/>
          </a:bodyPr>
          <a:lstStyle/>
          <a:p>
            <a:pPr algn="ctr"/>
            <a:r>
              <a:rPr lang="en-US" dirty="0"/>
              <a:t>1.1 The Evolution of Database Systems</a:t>
            </a:r>
            <a:br>
              <a:rPr lang="en-US" dirty="0"/>
            </a:br>
            <a:endParaRPr lang="vi-VN" dirty="0"/>
          </a:p>
        </p:txBody>
      </p:sp>
      <p:sp>
        <p:nvSpPr>
          <p:cNvPr id="3" name="Content Placeholder 2">
            <a:extLst>
              <a:ext uri="{FF2B5EF4-FFF2-40B4-BE49-F238E27FC236}">
                <a16:creationId xmlns:a16="http://schemas.microsoft.com/office/drawing/2014/main" id="{C09AF740-FE01-417B-BF27-6AB99558E0FD}"/>
              </a:ext>
            </a:extLst>
          </p:cNvPr>
          <p:cNvSpPr>
            <a:spLocks noGrp="1"/>
          </p:cNvSpPr>
          <p:nvPr>
            <p:ph idx="1"/>
          </p:nvPr>
        </p:nvSpPr>
        <p:spPr/>
        <p:txBody>
          <a:bodyPr/>
          <a:lstStyle/>
          <a:p>
            <a:pPr>
              <a:buFont typeface="Wingdings" panose="05000000000000000000" pitchFamily="2" charset="2"/>
              <a:buChar char="§"/>
            </a:pPr>
            <a:r>
              <a:rPr lang="en-US" dirty="0"/>
              <a:t> Data</a:t>
            </a:r>
          </a:p>
          <a:p>
            <a:pPr>
              <a:buFont typeface="Wingdings" panose="05000000000000000000" pitchFamily="2" charset="2"/>
              <a:buChar char="§"/>
            </a:pPr>
            <a:r>
              <a:rPr lang="en-US" dirty="0"/>
              <a:t> Information</a:t>
            </a:r>
          </a:p>
          <a:p>
            <a:pPr>
              <a:buFont typeface="Wingdings" panose="05000000000000000000" pitchFamily="2" charset="2"/>
              <a:buChar char="§"/>
            </a:pPr>
            <a:r>
              <a:rPr lang="en-US" dirty="0"/>
              <a:t> What are the differences between data and information?</a:t>
            </a:r>
          </a:p>
        </p:txBody>
      </p:sp>
      <p:sp>
        <p:nvSpPr>
          <p:cNvPr id="4" name="Footer Placeholder 3">
            <a:extLst>
              <a:ext uri="{FF2B5EF4-FFF2-40B4-BE49-F238E27FC236}">
                <a16:creationId xmlns:a16="http://schemas.microsoft.com/office/drawing/2014/main" id="{D03F76A6-043E-4787-9DDA-81AEE78CBC21}"/>
              </a:ext>
            </a:extLst>
          </p:cNvPr>
          <p:cNvSpPr>
            <a:spLocks noGrp="1"/>
          </p:cNvSpPr>
          <p:nvPr>
            <p:ph type="ftr" sz="quarter" idx="11"/>
          </p:nvPr>
        </p:nvSpPr>
        <p:spPr/>
        <p:txBody>
          <a:bodyPr/>
          <a:lstStyle/>
          <a:p>
            <a:r>
              <a:rPr lang="en-US"/>
              <a:t>Phan Thi Ha</a:t>
            </a:r>
            <a:endParaRPr lang="vi-VN"/>
          </a:p>
        </p:txBody>
      </p:sp>
      <p:pic>
        <p:nvPicPr>
          <p:cNvPr id="7" name="Picture 6" descr="Chart, funnel chart&#10;&#10;Description automatically generated">
            <a:extLst>
              <a:ext uri="{FF2B5EF4-FFF2-40B4-BE49-F238E27FC236}">
                <a16:creationId xmlns:a16="http://schemas.microsoft.com/office/drawing/2014/main" id="{27A53B19-2F1F-414F-BD4B-252A99F2F8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4910" y="3244645"/>
            <a:ext cx="5655362" cy="2827681"/>
          </a:xfrm>
          <a:prstGeom prst="rect">
            <a:avLst/>
          </a:prstGeom>
        </p:spPr>
      </p:pic>
    </p:spTree>
    <p:extLst>
      <p:ext uri="{BB962C8B-B14F-4D97-AF65-F5344CB8AC3E}">
        <p14:creationId xmlns:p14="http://schemas.microsoft.com/office/powerpoint/2010/main" val="2316202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243A5-06EF-4D00-A175-FC7CFE44BDD7}"/>
              </a:ext>
            </a:extLst>
          </p:cNvPr>
          <p:cNvSpPr>
            <a:spLocks noGrp="1"/>
          </p:cNvSpPr>
          <p:nvPr>
            <p:ph type="title"/>
          </p:nvPr>
        </p:nvSpPr>
        <p:spPr/>
        <p:txBody>
          <a:bodyPr/>
          <a:lstStyle/>
          <a:p>
            <a:pPr algn="ctr"/>
            <a:r>
              <a:rPr lang="en-US" dirty="0"/>
              <a:t>1.1 The Evolution of Database Systems</a:t>
            </a:r>
            <a:endParaRPr lang="vi-VN" dirty="0"/>
          </a:p>
        </p:txBody>
      </p:sp>
      <p:sp>
        <p:nvSpPr>
          <p:cNvPr id="3" name="Content Placeholder 2">
            <a:extLst>
              <a:ext uri="{FF2B5EF4-FFF2-40B4-BE49-F238E27FC236}">
                <a16:creationId xmlns:a16="http://schemas.microsoft.com/office/drawing/2014/main" id="{9C594255-FC6B-4760-8116-C30A761BD965}"/>
              </a:ext>
            </a:extLst>
          </p:cNvPr>
          <p:cNvSpPr>
            <a:spLocks noGrp="1"/>
          </p:cNvSpPr>
          <p:nvPr>
            <p:ph sz="half" idx="1"/>
          </p:nvPr>
        </p:nvSpPr>
        <p:spPr>
          <a:xfrm>
            <a:off x="147484" y="1356852"/>
            <a:ext cx="4378796" cy="4984954"/>
          </a:xfrm>
        </p:spPr>
        <p:txBody>
          <a:bodyPr>
            <a:normAutofit fontScale="92500" lnSpcReduction="10000"/>
          </a:bodyPr>
          <a:lstStyle/>
          <a:p>
            <a:r>
              <a:rPr lang="en-US" sz="1800" dirty="0"/>
              <a:t> </a:t>
            </a:r>
            <a:r>
              <a:rPr lang="en-US" sz="1800" b="1" dirty="0">
                <a:solidFill>
                  <a:srgbClr val="FF0000"/>
                </a:solidFill>
              </a:rPr>
              <a:t>Database</a:t>
            </a:r>
          </a:p>
          <a:p>
            <a:pPr lvl="1">
              <a:lnSpc>
                <a:spcPct val="120000"/>
              </a:lnSpc>
              <a:buFont typeface="Wingdings" panose="05000000000000000000" pitchFamily="2" charset="2"/>
              <a:buChar char="§"/>
            </a:pPr>
            <a:r>
              <a:rPr lang="en-US" sz="2000" dirty="0"/>
              <a:t>A collection of information that exists over a long period of time.</a:t>
            </a:r>
          </a:p>
          <a:p>
            <a:pPr lvl="1">
              <a:lnSpc>
                <a:spcPct val="120000"/>
              </a:lnSpc>
              <a:buFont typeface="Wingdings" panose="05000000000000000000" pitchFamily="2" charset="2"/>
              <a:buChar char="§"/>
            </a:pPr>
            <a:r>
              <a:rPr lang="en-US" sz="2000" dirty="0"/>
              <a:t>A collection of related data.</a:t>
            </a:r>
          </a:p>
          <a:p>
            <a:pPr lvl="1">
              <a:lnSpc>
                <a:spcPct val="120000"/>
              </a:lnSpc>
              <a:buFont typeface="Wingdings" panose="05000000000000000000" pitchFamily="2" charset="2"/>
              <a:buChar char="§"/>
            </a:pPr>
            <a:r>
              <a:rPr lang="en-US" sz="2000" dirty="0"/>
              <a:t>managed by a DBMS</a:t>
            </a:r>
          </a:p>
          <a:p>
            <a:r>
              <a:rPr lang="en-US" sz="1800" b="1" dirty="0">
                <a:solidFill>
                  <a:srgbClr val="FF0000"/>
                </a:solidFill>
              </a:rPr>
              <a:t>Database Management System (DBMS)</a:t>
            </a:r>
          </a:p>
          <a:p>
            <a:pPr lvl="1">
              <a:lnSpc>
                <a:spcPct val="120000"/>
              </a:lnSpc>
              <a:buFont typeface="Wingdings" panose="05000000000000000000" pitchFamily="2" charset="2"/>
              <a:buChar char="§"/>
            </a:pPr>
            <a:r>
              <a:rPr lang="en-US" sz="2000" dirty="0"/>
              <a:t>A software package/system to facilitate the creation and maintenance of a computerized database</a:t>
            </a:r>
          </a:p>
          <a:p>
            <a:r>
              <a:rPr lang="en-US" sz="1800" b="1" dirty="0">
                <a:solidFill>
                  <a:srgbClr val="FF0000"/>
                </a:solidFill>
              </a:rPr>
              <a:t>Database System</a:t>
            </a:r>
            <a:endParaRPr lang="en-US" sz="1800" dirty="0"/>
          </a:p>
          <a:p>
            <a:pPr lvl="1">
              <a:lnSpc>
                <a:spcPct val="120000"/>
              </a:lnSpc>
            </a:pPr>
            <a:r>
              <a:rPr lang="en-US" sz="2000" dirty="0"/>
              <a:t>The DBMS software together with the data itself. Sometimes, the applications are also included.</a:t>
            </a:r>
          </a:p>
          <a:p>
            <a:pPr lvl="1">
              <a:buFont typeface="Wingdings" panose="05000000000000000000" pitchFamily="2" charset="2"/>
              <a:buChar char="§"/>
            </a:pPr>
            <a:endParaRPr lang="en-US" sz="1800" dirty="0"/>
          </a:p>
          <a:p>
            <a:pPr lvl="1">
              <a:buFont typeface="Wingdings" panose="05000000000000000000" pitchFamily="2" charset="2"/>
              <a:buChar char="§"/>
            </a:pPr>
            <a:endParaRPr lang="en-US" sz="1800" dirty="0"/>
          </a:p>
          <a:p>
            <a:pPr lvl="1">
              <a:buFont typeface="Wingdings" panose="05000000000000000000" pitchFamily="2" charset="2"/>
              <a:buChar char="§"/>
            </a:pPr>
            <a:endParaRPr lang="en-US" sz="1800" dirty="0"/>
          </a:p>
          <a:p>
            <a:pPr>
              <a:buFont typeface="Wingdings" panose="05000000000000000000" pitchFamily="2" charset="2"/>
              <a:buChar char="§"/>
            </a:pPr>
            <a:endParaRPr lang="en-US" sz="1800" dirty="0"/>
          </a:p>
          <a:p>
            <a:endParaRPr lang="vi-VN" sz="1800" dirty="0"/>
          </a:p>
        </p:txBody>
      </p:sp>
      <p:sp>
        <p:nvSpPr>
          <p:cNvPr id="4" name="Footer Placeholder 3">
            <a:extLst>
              <a:ext uri="{FF2B5EF4-FFF2-40B4-BE49-F238E27FC236}">
                <a16:creationId xmlns:a16="http://schemas.microsoft.com/office/drawing/2014/main" id="{25A13231-C138-4FDE-ADD1-5E1BE2718132}"/>
              </a:ext>
            </a:extLst>
          </p:cNvPr>
          <p:cNvSpPr>
            <a:spLocks noGrp="1"/>
          </p:cNvSpPr>
          <p:nvPr>
            <p:ph type="ftr" sz="quarter" idx="11"/>
          </p:nvPr>
        </p:nvSpPr>
        <p:spPr/>
        <p:txBody>
          <a:bodyPr/>
          <a:lstStyle/>
          <a:p>
            <a:r>
              <a:rPr lang="en-US"/>
              <a:t>Phan Thi Ha</a:t>
            </a:r>
            <a:endParaRPr lang="vi-VN"/>
          </a:p>
        </p:txBody>
      </p:sp>
      <p:pic>
        <p:nvPicPr>
          <p:cNvPr id="7" name="Picture 2">
            <a:extLst>
              <a:ext uri="{FF2B5EF4-FFF2-40B4-BE49-F238E27FC236}">
                <a16:creationId xmlns:a16="http://schemas.microsoft.com/office/drawing/2014/main" id="{8E20A2DC-9F54-413D-9D29-2EFFF48451EB}"/>
              </a:ext>
            </a:extLst>
          </p:cNvPr>
          <p:cNvPicPr>
            <a:picLocks noGrp="1" noChangeAspect="1" noChangeArrowheads="1"/>
          </p:cNvPicPr>
          <p:nvPr>
            <p:ph sz="half" idx="2"/>
          </p:nvPr>
        </p:nvPicPr>
        <p:blipFill>
          <a:blip r:embed="rId2" cstate="print"/>
          <a:srcRect/>
          <a:stretch>
            <a:fillRect/>
          </a:stretch>
        </p:blipFill>
        <p:spPr bwMode="auto">
          <a:xfrm>
            <a:off x="4664074" y="1356852"/>
            <a:ext cx="4234119" cy="4886632"/>
          </a:xfrm>
          <a:prstGeom prst="rect">
            <a:avLst/>
          </a:prstGeom>
          <a:noFill/>
          <a:ln w="9525">
            <a:noFill/>
            <a:miter lim="800000"/>
            <a:headEnd/>
            <a:tailEnd/>
          </a:ln>
        </p:spPr>
      </p:pic>
    </p:spTree>
    <p:extLst>
      <p:ext uri="{BB962C8B-B14F-4D97-AF65-F5344CB8AC3E}">
        <p14:creationId xmlns:p14="http://schemas.microsoft.com/office/powerpoint/2010/main" val="861106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878816D-9F92-4D8F-9568-26722E0D64E9}"/>
              </a:ext>
            </a:extLst>
          </p:cNvPr>
          <p:cNvSpPr>
            <a:spLocks noGrp="1"/>
          </p:cNvSpPr>
          <p:nvPr>
            <p:ph type="title"/>
          </p:nvPr>
        </p:nvSpPr>
        <p:spPr/>
        <p:txBody>
          <a:bodyPr/>
          <a:lstStyle/>
          <a:p>
            <a:pPr algn="ctr"/>
            <a:r>
              <a:rPr lang="en-US" dirty="0"/>
              <a:t>1.1 The Evolution of Database Systems</a:t>
            </a:r>
            <a:endParaRPr lang="vi-VN" dirty="0"/>
          </a:p>
        </p:txBody>
      </p:sp>
      <p:sp>
        <p:nvSpPr>
          <p:cNvPr id="5" name="Footer Placeholder 4">
            <a:extLst>
              <a:ext uri="{FF2B5EF4-FFF2-40B4-BE49-F238E27FC236}">
                <a16:creationId xmlns:a16="http://schemas.microsoft.com/office/drawing/2014/main" id="{6536F5ED-64C7-425D-94B5-FF79964503C3}"/>
              </a:ext>
            </a:extLst>
          </p:cNvPr>
          <p:cNvSpPr>
            <a:spLocks noGrp="1"/>
          </p:cNvSpPr>
          <p:nvPr>
            <p:ph type="ftr" sz="quarter" idx="11"/>
          </p:nvPr>
        </p:nvSpPr>
        <p:spPr/>
        <p:txBody>
          <a:bodyPr/>
          <a:lstStyle/>
          <a:p>
            <a:r>
              <a:rPr lang="en-US"/>
              <a:t>Phan Thi Ha</a:t>
            </a:r>
            <a:endParaRPr lang="vi-VN"/>
          </a:p>
        </p:txBody>
      </p:sp>
      <p:sp>
        <p:nvSpPr>
          <p:cNvPr id="9" name="Content Placeholder 2">
            <a:extLst>
              <a:ext uri="{FF2B5EF4-FFF2-40B4-BE49-F238E27FC236}">
                <a16:creationId xmlns:a16="http://schemas.microsoft.com/office/drawing/2014/main" id="{13B36687-37AD-43A4-B341-FEBC3ABDE362}"/>
              </a:ext>
            </a:extLst>
          </p:cNvPr>
          <p:cNvSpPr>
            <a:spLocks noGrp="1"/>
          </p:cNvSpPr>
          <p:nvPr>
            <p:ph idx="1"/>
          </p:nvPr>
        </p:nvSpPr>
        <p:spPr>
          <a:xfrm>
            <a:off x="585925" y="1488586"/>
            <a:ext cx="4343400" cy="5082809"/>
          </a:xfrm>
        </p:spPr>
        <p:txBody>
          <a:bodyPr>
            <a:normAutofit/>
          </a:bodyPr>
          <a:lstStyle/>
          <a:p>
            <a:r>
              <a:rPr lang="en-US" sz="2400" dirty="0"/>
              <a:t>The DBMS is expected to</a:t>
            </a:r>
          </a:p>
          <a:p>
            <a:pPr marL="678942" indent="-514350">
              <a:buFont typeface="+mj-lt"/>
              <a:buAutoNum type="arabicParenR"/>
            </a:pPr>
            <a:r>
              <a:rPr lang="en-US" sz="2400" dirty="0"/>
              <a:t>Allow users to create new databases and specify their schemas</a:t>
            </a:r>
          </a:p>
          <a:p>
            <a:pPr marL="678942" indent="-514350">
              <a:buFont typeface="+mj-lt"/>
              <a:buAutoNum type="arabicParenR"/>
            </a:pPr>
            <a:r>
              <a:rPr lang="en-US" sz="2400" dirty="0"/>
              <a:t>Give users the ability to query the data</a:t>
            </a:r>
          </a:p>
          <a:p>
            <a:pPr marL="678942" indent="-514350">
              <a:buFont typeface="+mj-lt"/>
              <a:buAutoNum type="arabicParenR"/>
            </a:pPr>
            <a:r>
              <a:rPr lang="en-US" sz="2400" dirty="0"/>
              <a:t>Support the storage of very large amounts of data</a:t>
            </a:r>
          </a:p>
          <a:p>
            <a:pPr marL="678942" indent="-514350">
              <a:buFont typeface="+mj-lt"/>
              <a:buAutoNum type="arabicParenR"/>
            </a:pPr>
            <a:r>
              <a:rPr lang="en-US" sz="2400" dirty="0"/>
              <a:t>Enable durability</a:t>
            </a:r>
          </a:p>
          <a:p>
            <a:pPr marL="678942" indent="-514350">
              <a:buFont typeface="+mj-lt"/>
              <a:buAutoNum type="arabicParenR"/>
            </a:pPr>
            <a:r>
              <a:rPr lang="en-US" sz="2400" dirty="0"/>
              <a:t>Control access to data from many users at once</a:t>
            </a:r>
          </a:p>
        </p:txBody>
      </p:sp>
      <p:sp>
        <p:nvSpPr>
          <p:cNvPr id="10" name="Content Placeholder 2">
            <a:extLst>
              <a:ext uri="{FF2B5EF4-FFF2-40B4-BE49-F238E27FC236}">
                <a16:creationId xmlns:a16="http://schemas.microsoft.com/office/drawing/2014/main" id="{4BC7458C-5B01-4C91-A07C-9A00D5C6BEB3}"/>
              </a:ext>
            </a:extLst>
          </p:cNvPr>
          <p:cNvSpPr txBox="1">
            <a:spLocks/>
          </p:cNvSpPr>
          <p:nvPr/>
        </p:nvSpPr>
        <p:spPr>
          <a:xfrm>
            <a:off x="4724400" y="1317991"/>
            <a:ext cx="4343400" cy="5082809"/>
          </a:xfrm>
          <a:prstGeom prst="rect">
            <a:avLst/>
          </a:prstGeom>
        </p:spPr>
        <p:txBody>
          <a:bodyPr vert="horz" lIns="54864" tIns="91440" rtlCol="0">
            <a:normAutofit/>
          </a:bodyPr>
          <a:lstStyle/>
          <a:p>
            <a:pPr marL="438912" lvl="0" indent="-320040">
              <a:lnSpc>
                <a:spcPct val="150000"/>
              </a:lnSpc>
              <a:buClr>
                <a:schemeClr val="accent1"/>
              </a:buClr>
              <a:buSzPct val="80000"/>
              <a:buFont typeface="Wingdings 2"/>
              <a:buChar char=""/>
              <a:defRPr/>
            </a:pPr>
            <a:r>
              <a:rPr lang="en-US" sz="2400" dirty="0">
                <a:solidFill>
                  <a:srgbClr val="0070C0"/>
                </a:solidFill>
                <a:latin typeface="Arial" pitchFamily="34" charset="0"/>
                <a:cs typeface="Arial" pitchFamily="34" charset="0"/>
              </a:rPr>
              <a:t>Early DBMS</a:t>
            </a:r>
          </a:p>
          <a:p>
            <a:pPr marL="971550" lvl="1" indent="-514350">
              <a:lnSpc>
                <a:spcPct val="150000"/>
              </a:lnSpc>
              <a:spcBef>
                <a:spcPct val="20000"/>
              </a:spcBef>
              <a:buClr>
                <a:schemeClr val="accent2"/>
              </a:buClr>
              <a:buSzPct val="90000"/>
              <a:buFont typeface="Arial" pitchFamily="34" charset="0"/>
              <a:buChar char="•"/>
            </a:pPr>
            <a:r>
              <a:rPr lang="en-US" sz="2000" dirty="0">
                <a:solidFill>
                  <a:srgbClr val="0070C0"/>
                </a:solidFill>
                <a:latin typeface="Arial" pitchFamily="34" charset="0"/>
                <a:cs typeface="Arial" pitchFamily="34" charset="0"/>
              </a:rPr>
              <a:t>1960s, the first DBMS based on file system</a:t>
            </a:r>
          </a:p>
        </p:txBody>
      </p:sp>
      <p:graphicFrame>
        <p:nvGraphicFramePr>
          <p:cNvPr id="11" name="Table 10">
            <a:extLst>
              <a:ext uri="{FF2B5EF4-FFF2-40B4-BE49-F238E27FC236}">
                <a16:creationId xmlns:a16="http://schemas.microsoft.com/office/drawing/2014/main" id="{78C8C1C9-00FB-4B1C-96B2-035644CF828F}"/>
              </a:ext>
            </a:extLst>
          </p:cNvPr>
          <p:cNvGraphicFramePr>
            <a:graphicFrameLocks noGrp="1"/>
          </p:cNvGraphicFramePr>
          <p:nvPr/>
        </p:nvGraphicFramePr>
        <p:xfrm>
          <a:off x="5334000" y="3048000"/>
          <a:ext cx="3581400" cy="2763520"/>
        </p:xfrm>
        <a:graphic>
          <a:graphicData uri="http://schemas.openxmlformats.org/drawingml/2006/table">
            <a:tbl>
              <a:tblPr firstRow="1" bandRow="1">
                <a:tableStyleId>{5C22544A-7EE6-4342-B048-85BDC9FD1C3A}</a:tableStyleId>
              </a:tblPr>
              <a:tblGrid>
                <a:gridCol w="17907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tblGrid>
              <a:tr h="370840">
                <a:tc>
                  <a:txBody>
                    <a:bodyPr/>
                    <a:lstStyle/>
                    <a:p>
                      <a:pPr algn="ctr"/>
                      <a:r>
                        <a:rPr lang="en-US" dirty="0"/>
                        <a:t>Responsibility</a:t>
                      </a:r>
                    </a:p>
                  </a:txBody>
                  <a:tcPr/>
                </a:tc>
                <a:tc>
                  <a:txBody>
                    <a:bodyPr/>
                    <a:lstStyle/>
                    <a:p>
                      <a:pPr algn="ctr"/>
                      <a:r>
                        <a:rPr lang="en-US" dirty="0"/>
                        <a:t>Yes/No</a:t>
                      </a:r>
                    </a:p>
                  </a:txBody>
                  <a:tcPr/>
                </a:tc>
                <a:extLst>
                  <a:ext uri="{0D108BD9-81ED-4DB2-BD59-A6C34878D82A}">
                    <a16:rowId xmlns:a16="http://schemas.microsoft.com/office/drawing/2014/main" val="10000"/>
                  </a:ext>
                </a:extLst>
              </a:tr>
              <a:tr h="370840">
                <a:tc>
                  <a:txBody>
                    <a:bodyPr/>
                    <a:lstStyle/>
                    <a:p>
                      <a:pPr algn="ctr"/>
                      <a:r>
                        <a:rPr lang="en-US" dirty="0"/>
                        <a:t>(1)</a:t>
                      </a:r>
                    </a:p>
                  </a:txBody>
                  <a:tcPr/>
                </a:tc>
                <a:tc>
                  <a:txBody>
                    <a:bodyPr/>
                    <a:lstStyle/>
                    <a:p>
                      <a:r>
                        <a:rPr lang="en-US" dirty="0"/>
                        <a:t>Limited</a:t>
                      </a:r>
                    </a:p>
                  </a:txBody>
                  <a:tcPr/>
                </a:tc>
                <a:extLst>
                  <a:ext uri="{0D108BD9-81ED-4DB2-BD59-A6C34878D82A}">
                    <a16:rowId xmlns:a16="http://schemas.microsoft.com/office/drawing/2014/main" val="10001"/>
                  </a:ext>
                </a:extLst>
              </a:tr>
              <a:tr h="370840">
                <a:tc>
                  <a:txBody>
                    <a:bodyPr/>
                    <a:lstStyle/>
                    <a:p>
                      <a:pPr algn="ctr"/>
                      <a:r>
                        <a:rPr lang="en-US" dirty="0"/>
                        <a:t>(2)</a:t>
                      </a:r>
                    </a:p>
                  </a:txBody>
                  <a:tcPr/>
                </a:tc>
                <a:tc>
                  <a:txBody>
                    <a:bodyPr/>
                    <a:lstStyle/>
                    <a:p>
                      <a:r>
                        <a:rPr lang="en-US" dirty="0"/>
                        <a:t>Not directly</a:t>
                      </a:r>
                      <a:r>
                        <a:rPr lang="en-US" baseline="0" dirty="0"/>
                        <a:t> supported</a:t>
                      </a:r>
                      <a:endParaRPr lang="en-US" dirty="0"/>
                    </a:p>
                  </a:txBody>
                  <a:tcPr/>
                </a:tc>
                <a:extLst>
                  <a:ext uri="{0D108BD9-81ED-4DB2-BD59-A6C34878D82A}">
                    <a16:rowId xmlns:a16="http://schemas.microsoft.com/office/drawing/2014/main" val="10002"/>
                  </a:ext>
                </a:extLst>
              </a:tr>
              <a:tr h="370840">
                <a:tc>
                  <a:txBody>
                    <a:bodyPr/>
                    <a:lstStyle/>
                    <a:p>
                      <a:pPr algn="ctr"/>
                      <a:r>
                        <a:rPr lang="en-US" dirty="0"/>
                        <a:t>(3)</a:t>
                      </a:r>
                    </a:p>
                  </a:txBody>
                  <a:tcPr/>
                </a:tc>
                <a:tc>
                  <a:txBody>
                    <a:bodyPr/>
                    <a:lstStyle/>
                    <a:p>
                      <a:r>
                        <a:rPr lang="en-US" dirty="0"/>
                        <a:t>Yes</a:t>
                      </a:r>
                    </a:p>
                  </a:txBody>
                  <a:tcPr/>
                </a:tc>
                <a:extLst>
                  <a:ext uri="{0D108BD9-81ED-4DB2-BD59-A6C34878D82A}">
                    <a16:rowId xmlns:a16="http://schemas.microsoft.com/office/drawing/2014/main" val="10003"/>
                  </a:ext>
                </a:extLst>
              </a:tr>
              <a:tr h="370840">
                <a:tc>
                  <a:txBody>
                    <a:bodyPr/>
                    <a:lstStyle/>
                    <a:p>
                      <a:pPr algn="ctr"/>
                      <a:r>
                        <a:rPr lang="en-US" dirty="0"/>
                        <a:t>(4)</a:t>
                      </a:r>
                    </a:p>
                  </a:txBody>
                  <a:tcPr/>
                </a:tc>
                <a:tc>
                  <a:txBody>
                    <a:bodyPr/>
                    <a:lstStyle/>
                    <a:p>
                      <a:r>
                        <a:rPr lang="en-US" dirty="0"/>
                        <a:t>Not always supported</a:t>
                      </a:r>
                    </a:p>
                  </a:txBody>
                  <a:tcPr/>
                </a:tc>
                <a:extLst>
                  <a:ext uri="{0D108BD9-81ED-4DB2-BD59-A6C34878D82A}">
                    <a16:rowId xmlns:a16="http://schemas.microsoft.com/office/drawing/2014/main" val="10004"/>
                  </a:ext>
                </a:extLst>
              </a:tr>
              <a:tr h="370840">
                <a:tc>
                  <a:txBody>
                    <a:bodyPr/>
                    <a:lstStyle/>
                    <a:p>
                      <a:pPr algn="ctr"/>
                      <a:r>
                        <a:rPr lang="en-US" dirty="0"/>
                        <a:t>(5)</a:t>
                      </a:r>
                    </a:p>
                  </a:txBody>
                  <a:tcPr/>
                </a:tc>
                <a:tc>
                  <a:txBody>
                    <a:bodyPr/>
                    <a:lstStyle/>
                    <a:p>
                      <a:r>
                        <a:rPr lang="en-US" dirty="0"/>
                        <a:t>No</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26350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0682D-6BB9-4B43-9C4A-49878E27BD95}"/>
              </a:ext>
            </a:extLst>
          </p:cNvPr>
          <p:cNvSpPr>
            <a:spLocks noGrp="1"/>
          </p:cNvSpPr>
          <p:nvPr>
            <p:ph type="title"/>
          </p:nvPr>
        </p:nvSpPr>
        <p:spPr/>
        <p:txBody>
          <a:bodyPr/>
          <a:lstStyle/>
          <a:p>
            <a:pPr algn="ctr"/>
            <a:r>
              <a:rPr lang="en-US" dirty="0"/>
              <a:t>1.1 The Evolution of Database Systems</a:t>
            </a:r>
            <a:endParaRPr lang="vi-VN" dirty="0"/>
          </a:p>
        </p:txBody>
      </p:sp>
      <p:sp>
        <p:nvSpPr>
          <p:cNvPr id="4" name="Footer Placeholder 3">
            <a:extLst>
              <a:ext uri="{FF2B5EF4-FFF2-40B4-BE49-F238E27FC236}">
                <a16:creationId xmlns:a16="http://schemas.microsoft.com/office/drawing/2014/main" id="{D2DD9340-C56F-4BBE-98D2-5192ABCDB9B9}"/>
              </a:ext>
            </a:extLst>
          </p:cNvPr>
          <p:cNvSpPr>
            <a:spLocks noGrp="1"/>
          </p:cNvSpPr>
          <p:nvPr>
            <p:ph type="ftr" sz="quarter" idx="11"/>
          </p:nvPr>
        </p:nvSpPr>
        <p:spPr/>
        <p:txBody>
          <a:bodyPr/>
          <a:lstStyle/>
          <a:p>
            <a:r>
              <a:rPr lang="en-US"/>
              <a:t>Phan Thi Ha</a:t>
            </a:r>
            <a:endParaRPr lang="vi-VN"/>
          </a:p>
        </p:txBody>
      </p:sp>
      <p:sp>
        <p:nvSpPr>
          <p:cNvPr id="6" name="Content Placeholder 1">
            <a:extLst>
              <a:ext uri="{FF2B5EF4-FFF2-40B4-BE49-F238E27FC236}">
                <a16:creationId xmlns:a16="http://schemas.microsoft.com/office/drawing/2014/main" id="{7BEC17D2-0F75-436E-9405-13DD81EB49FD}"/>
              </a:ext>
            </a:extLst>
          </p:cNvPr>
          <p:cNvSpPr>
            <a:spLocks noGrp="1"/>
          </p:cNvSpPr>
          <p:nvPr>
            <p:ph idx="1"/>
          </p:nvPr>
        </p:nvSpPr>
        <p:spPr>
          <a:xfrm>
            <a:off x="270655" y="1189694"/>
            <a:ext cx="7937500" cy="4722813"/>
          </a:xfrm>
        </p:spPr>
        <p:txBody>
          <a:bodyPr>
            <a:normAutofit/>
          </a:bodyPr>
          <a:lstStyle/>
          <a:p>
            <a:r>
              <a:rPr lang="en-US" b="1" dirty="0"/>
              <a:t>Hierarchical data model (tree-based model)</a:t>
            </a:r>
          </a:p>
          <a:p>
            <a:pPr lvl="1">
              <a:buFont typeface="Wingdings" panose="05000000000000000000" pitchFamily="2" charset="2"/>
              <a:buChar char="§"/>
            </a:pPr>
            <a:r>
              <a:rPr lang="en-US" dirty="0"/>
              <a:t>Was used in early mainframe DBMS</a:t>
            </a:r>
          </a:p>
          <a:p>
            <a:pPr lvl="1">
              <a:buFont typeface="Wingdings" panose="05000000000000000000" pitchFamily="2" charset="2"/>
              <a:buChar char="§"/>
            </a:pPr>
            <a:r>
              <a:rPr lang="en-US" dirty="0"/>
              <a:t>The IBM Information Management System (IMS) is example of a hierarchical database system</a:t>
            </a:r>
          </a:p>
        </p:txBody>
      </p:sp>
      <p:grpSp>
        <p:nvGrpSpPr>
          <p:cNvPr id="7" name="Group 3">
            <a:extLst>
              <a:ext uri="{FF2B5EF4-FFF2-40B4-BE49-F238E27FC236}">
                <a16:creationId xmlns:a16="http://schemas.microsoft.com/office/drawing/2014/main" id="{A44C1493-DB91-4A86-B559-E21365E7FFAA}"/>
              </a:ext>
            </a:extLst>
          </p:cNvPr>
          <p:cNvGrpSpPr>
            <a:grpSpLocks/>
          </p:cNvGrpSpPr>
          <p:nvPr/>
        </p:nvGrpSpPr>
        <p:grpSpPr bwMode="auto">
          <a:xfrm>
            <a:off x="990600" y="3951287"/>
            <a:ext cx="1536700" cy="2452196"/>
            <a:chOff x="528" y="2834"/>
            <a:chExt cx="968" cy="914"/>
          </a:xfrm>
        </p:grpSpPr>
        <p:sp>
          <p:nvSpPr>
            <p:cNvPr id="8" name="Text Box 4">
              <a:extLst>
                <a:ext uri="{FF2B5EF4-FFF2-40B4-BE49-F238E27FC236}">
                  <a16:creationId xmlns:a16="http://schemas.microsoft.com/office/drawing/2014/main" id="{EE27B0A4-6D6B-49A4-8CBB-B0857CE72F44}"/>
                </a:ext>
              </a:extLst>
            </p:cNvPr>
            <p:cNvSpPr txBox="1">
              <a:spLocks noChangeArrowheads="1"/>
            </p:cNvSpPr>
            <p:nvPr/>
          </p:nvSpPr>
          <p:spPr bwMode="auto">
            <a:xfrm>
              <a:off x="602" y="2834"/>
              <a:ext cx="764" cy="172"/>
            </a:xfrm>
            <a:prstGeom prst="rect">
              <a:avLst/>
            </a:prstGeom>
            <a:noFill/>
            <a:ln w="9525">
              <a:noFill/>
              <a:miter lim="800000"/>
              <a:headEnd/>
              <a:tailEnd/>
            </a:ln>
          </p:spPr>
          <p:txBody>
            <a:bodyPr wrap="none">
              <a:spAutoFit/>
            </a:bodyPr>
            <a:lstStyle/>
            <a:p>
              <a:r>
                <a:rPr lang="en-US" sz="2400" b="1" dirty="0">
                  <a:solidFill>
                    <a:srgbClr val="0070C0"/>
                  </a:solidFill>
                  <a:latin typeface="Times New Roman" pitchFamily="18" charset="0"/>
                  <a:cs typeface="Arial" charset="0"/>
                </a:rPr>
                <a:t>Student</a:t>
              </a:r>
            </a:p>
          </p:txBody>
        </p:sp>
        <p:sp>
          <p:nvSpPr>
            <p:cNvPr id="9" name="Text Box 5">
              <a:extLst>
                <a:ext uri="{FF2B5EF4-FFF2-40B4-BE49-F238E27FC236}">
                  <a16:creationId xmlns:a16="http://schemas.microsoft.com/office/drawing/2014/main" id="{C70BCCCC-3F73-4E12-A954-13A19F2836D6}"/>
                </a:ext>
              </a:extLst>
            </p:cNvPr>
            <p:cNvSpPr txBox="1">
              <a:spLocks noChangeArrowheads="1"/>
            </p:cNvSpPr>
            <p:nvPr/>
          </p:nvSpPr>
          <p:spPr bwMode="auto">
            <a:xfrm>
              <a:off x="576" y="3192"/>
              <a:ext cx="709" cy="172"/>
            </a:xfrm>
            <a:prstGeom prst="rect">
              <a:avLst/>
            </a:prstGeom>
            <a:noFill/>
            <a:ln w="9525">
              <a:noFill/>
              <a:miter lim="800000"/>
              <a:headEnd/>
              <a:tailEnd/>
            </a:ln>
          </p:spPr>
          <p:txBody>
            <a:bodyPr wrap="none">
              <a:spAutoFit/>
            </a:bodyPr>
            <a:lstStyle/>
            <a:p>
              <a:r>
                <a:rPr lang="en-US" sz="2400" b="1">
                  <a:solidFill>
                    <a:srgbClr val="0070C0"/>
                  </a:solidFill>
                  <a:latin typeface="Times New Roman" pitchFamily="18" charset="0"/>
                  <a:cs typeface="Arial" charset="0"/>
                </a:rPr>
                <a:t>Course</a:t>
              </a:r>
            </a:p>
          </p:txBody>
        </p:sp>
        <p:sp>
          <p:nvSpPr>
            <p:cNvPr id="10" name="Text Box 6">
              <a:extLst>
                <a:ext uri="{FF2B5EF4-FFF2-40B4-BE49-F238E27FC236}">
                  <a16:creationId xmlns:a16="http://schemas.microsoft.com/office/drawing/2014/main" id="{71EF8810-3A52-4BA3-8253-176169E0EE77}"/>
                </a:ext>
              </a:extLst>
            </p:cNvPr>
            <p:cNvSpPr txBox="1">
              <a:spLocks noChangeArrowheads="1"/>
            </p:cNvSpPr>
            <p:nvPr/>
          </p:nvSpPr>
          <p:spPr bwMode="auto">
            <a:xfrm>
              <a:off x="528" y="3576"/>
              <a:ext cx="968" cy="172"/>
            </a:xfrm>
            <a:prstGeom prst="rect">
              <a:avLst/>
            </a:prstGeom>
            <a:noFill/>
            <a:ln w="9525">
              <a:noFill/>
              <a:miter lim="800000"/>
              <a:headEnd/>
              <a:tailEnd/>
            </a:ln>
          </p:spPr>
          <p:txBody>
            <a:bodyPr wrap="none">
              <a:spAutoFit/>
            </a:bodyPr>
            <a:lstStyle/>
            <a:p>
              <a:r>
                <a:rPr lang="en-US" sz="2400" b="1">
                  <a:solidFill>
                    <a:srgbClr val="0070C0"/>
                  </a:solidFill>
                  <a:latin typeface="Times New Roman" pitchFamily="18" charset="0"/>
                  <a:cs typeface="Arial" charset="0"/>
                </a:rPr>
                <a:t>Instructor</a:t>
              </a:r>
            </a:p>
          </p:txBody>
        </p:sp>
        <p:sp>
          <p:nvSpPr>
            <p:cNvPr id="11" name="Line 7">
              <a:extLst>
                <a:ext uri="{FF2B5EF4-FFF2-40B4-BE49-F238E27FC236}">
                  <a16:creationId xmlns:a16="http://schemas.microsoft.com/office/drawing/2014/main" id="{0EC4D356-8E58-4137-93F0-57154D78F645}"/>
                </a:ext>
              </a:extLst>
            </p:cNvPr>
            <p:cNvSpPr>
              <a:spLocks noChangeShapeType="1"/>
            </p:cNvSpPr>
            <p:nvPr/>
          </p:nvSpPr>
          <p:spPr bwMode="auto">
            <a:xfrm>
              <a:off x="900" y="3009"/>
              <a:ext cx="0" cy="192"/>
            </a:xfrm>
            <a:prstGeom prst="line">
              <a:avLst/>
            </a:prstGeom>
            <a:noFill/>
            <a:ln w="9525">
              <a:solidFill>
                <a:schemeClr val="tx1"/>
              </a:solidFill>
              <a:round/>
              <a:headEnd/>
              <a:tailEnd type="triangle" w="med" len="med"/>
            </a:ln>
          </p:spPr>
          <p:txBody>
            <a:bodyPr/>
            <a:lstStyle/>
            <a:p>
              <a:endParaRPr lang="en-US" b="1">
                <a:solidFill>
                  <a:srgbClr val="0070C0"/>
                </a:solidFill>
              </a:endParaRPr>
            </a:p>
          </p:txBody>
        </p:sp>
        <p:sp>
          <p:nvSpPr>
            <p:cNvPr id="12" name="Line 8">
              <a:extLst>
                <a:ext uri="{FF2B5EF4-FFF2-40B4-BE49-F238E27FC236}">
                  <a16:creationId xmlns:a16="http://schemas.microsoft.com/office/drawing/2014/main" id="{7F1D310E-0487-49E4-9A65-F598F91A64E1}"/>
                </a:ext>
              </a:extLst>
            </p:cNvPr>
            <p:cNvSpPr>
              <a:spLocks noChangeShapeType="1"/>
            </p:cNvSpPr>
            <p:nvPr/>
          </p:nvSpPr>
          <p:spPr bwMode="auto">
            <a:xfrm>
              <a:off x="910" y="3373"/>
              <a:ext cx="0" cy="192"/>
            </a:xfrm>
            <a:prstGeom prst="line">
              <a:avLst/>
            </a:prstGeom>
            <a:noFill/>
            <a:ln w="9525">
              <a:solidFill>
                <a:schemeClr val="tx1"/>
              </a:solidFill>
              <a:round/>
              <a:headEnd/>
              <a:tailEnd type="triangle" w="med" len="med"/>
            </a:ln>
          </p:spPr>
          <p:txBody>
            <a:bodyPr/>
            <a:lstStyle/>
            <a:p>
              <a:endParaRPr lang="en-US" b="1">
                <a:solidFill>
                  <a:srgbClr val="0070C0"/>
                </a:solidFill>
              </a:endParaRPr>
            </a:p>
          </p:txBody>
        </p:sp>
      </p:grpSp>
      <p:grpSp>
        <p:nvGrpSpPr>
          <p:cNvPr id="13" name="Group 9">
            <a:extLst>
              <a:ext uri="{FF2B5EF4-FFF2-40B4-BE49-F238E27FC236}">
                <a16:creationId xmlns:a16="http://schemas.microsoft.com/office/drawing/2014/main" id="{B13EF1BE-8BA2-4B88-9998-565ABFD4D86A}"/>
              </a:ext>
            </a:extLst>
          </p:cNvPr>
          <p:cNvGrpSpPr>
            <a:grpSpLocks/>
          </p:cNvGrpSpPr>
          <p:nvPr/>
        </p:nvGrpSpPr>
        <p:grpSpPr bwMode="auto">
          <a:xfrm>
            <a:off x="2895600" y="3910012"/>
            <a:ext cx="5682403" cy="2441051"/>
            <a:chOff x="2213" y="2690"/>
            <a:chExt cx="2658" cy="1152"/>
          </a:xfrm>
        </p:grpSpPr>
        <p:sp>
          <p:nvSpPr>
            <p:cNvPr id="14" name="Line 10">
              <a:extLst>
                <a:ext uri="{FF2B5EF4-FFF2-40B4-BE49-F238E27FC236}">
                  <a16:creationId xmlns:a16="http://schemas.microsoft.com/office/drawing/2014/main" id="{F8C996B2-6CF3-4F4B-8A4B-D5E71A87387E}"/>
                </a:ext>
              </a:extLst>
            </p:cNvPr>
            <p:cNvSpPr>
              <a:spLocks noChangeShapeType="1"/>
            </p:cNvSpPr>
            <p:nvPr/>
          </p:nvSpPr>
          <p:spPr bwMode="auto">
            <a:xfrm>
              <a:off x="4164" y="2952"/>
              <a:ext cx="0" cy="240"/>
            </a:xfrm>
            <a:prstGeom prst="line">
              <a:avLst/>
            </a:prstGeom>
            <a:noFill/>
            <a:ln w="9525">
              <a:solidFill>
                <a:schemeClr val="tx1"/>
              </a:solidFill>
              <a:round/>
              <a:headEnd/>
              <a:tailEnd/>
            </a:ln>
          </p:spPr>
          <p:txBody>
            <a:bodyPr/>
            <a:lstStyle/>
            <a:p>
              <a:endParaRPr lang="en-US" b="1">
                <a:solidFill>
                  <a:srgbClr val="0070C0"/>
                </a:solidFill>
              </a:endParaRPr>
            </a:p>
          </p:txBody>
        </p:sp>
        <p:grpSp>
          <p:nvGrpSpPr>
            <p:cNvPr id="15" name="Group 11">
              <a:extLst>
                <a:ext uri="{FF2B5EF4-FFF2-40B4-BE49-F238E27FC236}">
                  <a16:creationId xmlns:a16="http://schemas.microsoft.com/office/drawing/2014/main" id="{A4D92544-32C9-4AC2-ABA2-F02AE384B3F6}"/>
                </a:ext>
              </a:extLst>
            </p:cNvPr>
            <p:cNvGrpSpPr>
              <a:grpSpLocks/>
            </p:cNvGrpSpPr>
            <p:nvPr/>
          </p:nvGrpSpPr>
          <p:grpSpPr bwMode="auto">
            <a:xfrm>
              <a:off x="2213" y="2690"/>
              <a:ext cx="2658" cy="1152"/>
              <a:chOff x="2213" y="2690"/>
              <a:chExt cx="2658" cy="1152"/>
            </a:xfrm>
          </p:grpSpPr>
          <p:sp>
            <p:nvSpPr>
              <p:cNvPr id="16" name="Text Box 12">
                <a:extLst>
                  <a:ext uri="{FF2B5EF4-FFF2-40B4-BE49-F238E27FC236}">
                    <a16:creationId xmlns:a16="http://schemas.microsoft.com/office/drawing/2014/main" id="{239D502B-0084-4641-BC9E-0B8032C927DE}"/>
                  </a:ext>
                </a:extLst>
              </p:cNvPr>
              <p:cNvSpPr txBox="1">
                <a:spLocks noChangeArrowheads="1"/>
              </p:cNvSpPr>
              <p:nvPr/>
            </p:nvSpPr>
            <p:spPr bwMode="auto">
              <a:xfrm>
                <a:off x="2580" y="2690"/>
                <a:ext cx="237" cy="216"/>
              </a:xfrm>
              <a:prstGeom prst="rect">
                <a:avLst/>
              </a:prstGeom>
              <a:noFill/>
              <a:ln w="9525">
                <a:noFill/>
                <a:miter lim="800000"/>
                <a:headEnd/>
                <a:tailEnd/>
              </a:ln>
            </p:spPr>
            <p:txBody>
              <a:bodyPr wrap="none">
                <a:spAutoFit/>
              </a:bodyPr>
              <a:lstStyle/>
              <a:p>
                <a:r>
                  <a:rPr lang="en-US" sz="2400" b="1" dirty="0">
                    <a:solidFill>
                      <a:srgbClr val="0070C0"/>
                    </a:solidFill>
                    <a:latin typeface="Times New Roman" pitchFamily="18" charset="0"/>
                    <a:cs typeface="Arial" charset="0"/>
                  </a:rPr>
                  <a:t>S1</a:t>
                </a:r>
              </a:p>
            </p:txBody>
          </p:sp>
          <p:sp>
            <p:nvSpPr>
              <p:cNvPr id="17" name="Text Box 13">
                <a:extLst>
                  <a:ext uri="{FF2B5EF4-FFF2-40B4-BE49-F238E27FC236}">
                    <a16:creationId xmlns:a16="http://schemas.microsoft.com/office/drawing/2014/main" id="{D8A424BF-8A6D-4471-9471-FA00851706E5}"/>
                  </a:ext>
                </a:extLst>
              </p:cNvPr>
              <p:cNvSpPr txBox="1">
                <a:spLocks noChangeArrowheads="1"/>
              </p:cNvSpPr>
              <p:nvPr/>
            </p:nvSpPr>
            <p:spPr bwMode="auto">
              <a:xfrm>
                <a:off x="2213" y="3144"/>
                <a:ext cx="263" cy="218"/>
              </a:xfrm>
              <a:prstGeom prst="rect">
                <a:avLst/>
              </a:prstGeom>
              <a:noFill/>
              <a:ln w="9525">
                <a:noFill/>
                <a:miter lim="800000"/>
                <a:headEnd/>
                <a:tailEnd/>
              </a:ln>
            </p:spPr>
            <p:txBody>
              <a:bodyPr wrap="none">
                <a:spAutoFit/>
              </a:bodyPr>
              <a:lstStyle/>
              <a:p>
                <a:r>
                  <a:rPr lang="en-US" sz="2400" b="1">
                    <a:solidFill>
                      <a:srgbClr val="0070C0"/>
                    </a:solidFill>
                    <a:latin typeface="Times New Roman" pitchFamily="18" charset="0"/>
                    <a:cs typeface="Arial" charset="0"/>
                  </a:rPr>
                  <a:t>C1</a:t>
                </a:r>
              </a:p>
            </p:txBody>
          </p:sp>
          <p:sp>
            <p:nvSpPr>
              <p:cNvPr id="18" name="Text Box 14">
                <a:extLst>
                  <a:ext uri="{FF2B5EF4-FFF2-40B4-BE49-F238E27FC236}">
                    <a16:creationId xmlns:a16="http://schemas.microsoft.com/office/drawing/2014/main" id="{68850DED-39B1-44A0-BB6E-1D6E56D33E76}"/>
                  </a:ext>
                </a:extLst>
              </p:cNvPr>
              <p:cNvSpPr txBox="1">
                <a:spLocks noChangeArrowheads="1"/>
              </p:cNvSpPr>
              <p:nvPr/>
            </p:nvSpPr>
            <p:spPr bwMode="auto">
              <a:xfrm>
                <a:off x="2868" y="3144"/>
                <a:ext cx="263" cy="218"/>
              </a:xfrm>
              <a:prstGeom prst="rect">
                <a:avLst/>
              </a:prstGeom>
              <a:noFill/>
              <a:ln w="9525">
                <a:noFill/>
                <a:miter lim="800000"/>
                <a:headEnd/>
                <a:tailEnd/>
              </a:ln>
            </p:spPr>
            <p:txBody>
              <a:bodyPr wrap="none">
                <a:spAutoFit/>
              </a:bodyPr>
              <a:lstStyle/>
              <a:p>
                <a:r>
                  <a:rPr lang="en-US" sz="2400" b="1">
                    <a:solidFill>
                      <a:srgbClr val="0070C0"/>
                    </a:solidFill>
                    <a:latin typeface="Times New Roman" pitchFamily="18" charset="0"/>
                    <a:cs typeface="Arial" charset="0"/>
                  </a:rPr>
                  <a:t>C2</a:t>
                </a:r>
              </a:p>
            </p:txBody>
          </p:sp>
          <p:sp>
            <p:nvSpPr>
              <p:cNvPr id="19" name="Text Box 15">
                <a:extLst>
                  <a:ext uri="{FF2B5EF4-FFF2-40B4-BE49-F238E27FC236}">
                    <a16:creationId xmlns:a16="http://schemas.microsoft.com/office/drawing/2014/main" id="{610FFC04-16C8-42B2-805C-91F73748EF52}"/>
                  </a:ext>
                </a:extLst>
              </p:cNvPr>
              <p:cNvSpPr txBox="1">
                <a:spLocks noChangeArrowheads="1"/>
              </p:cNvSpPr>
              <p:nvPr/>
            </p:nvSpPr>
            <p:spPr bwMode="auto">
              <a:xfrm>
                <a:off x="2244" y="3624"/>
                <a:ext cx="215" cy="218"/>
              </a:xfrm>
              <a:prstGeom prst="rect">
                <a:avLst/>
              </a:prstGeom>
              <a:noFill/>
              <a:ln w="9525">
                <a:noFill/>
                <a:miter lim="800000"/>
                <a:headEnd/>
                <a:tailEnd/>
              </a:ln>
            </p:spPr>
            <p:txBody>
              <a:bodyPr wrap="none">
                <a:spAutoFit/>
              </a:bodyPr>
              <a:lstStyle/>
              <a:p>
                <a:r>
                  <a:rPr lang="en-US" sz="2400" b="1">
                    <a:solidFill>
                      <a:srgbClr val="0070C0"/>
                    </a:solidFill>
                    <a:latin typeface="Times New Roman" pitchFamily="18" charset="0"/>
                    <a:cs typeface="Arial" charset="0"/>
                  </a:rPr>
                  <a:t>I1</a:t>
                </a:r>
              </a:p>
            </p:txBody>
          </p:sp>
          <p:sp>
            <p:nvSpPr>
              <p:cNvPr id="20" name="Text Box 16">
                <a:extLst>
                  <a:ext uri="{FF2B5EF4-FFF2-40B4-BE49-F238E27FC236}">
                    <a16:creationId xmlns:a16="http://schemas.microsoft.com/office/drawing/2014/main" id="{28321CA9-9C7B-40A3-8985-0056145BBB48}"/>
                  </a:ext>
                </a:extLst>
              </p:cNvPr>
              <p:cNvSpPr txBox="1">
                <a:spLocks noChangeArrowheads="1"/>
              </p:cNvSpPr>
              <p:nvPr/>
            </p:nvSpPr>
            <p:spPr bwMode="auto">
              <a:xfrm>
                <a:off x="2932" y="3624"/>
                <a:ext cx="215" cy="218"/>
              </a:xfrm>
              <a:prstGeom prst="rect">
                <a:avLst/>
              </a:prstGeom>
              <a:noFill/>
              <a:ln w="9525">
                <a:noFill/>
                <a:miter lim="800000"/>
                <a:headEnd/>
                <a:tailEnd/>
              </a:ln>
            </p:spPr>
            <p:txBody>
              <a:bodyPr wrap="none">
                <a:spAutoFit/>
              </a:bodyPr>
              <a:lstStyle/>
              <a:p>
                <a:r>
                  <a:rPr lang="en-US" sz="2400" b="1">
                    <a:solidFill>
                      <a:srgbClr val="0070C0"/>
                    </a:solidFill>
                    <a:latin typeface="Times New Roman" pitchFamily="18" charset="0"/>
                    <a:cs typeface="Arial" charset="0"/>
                  </a:rPr>
                  <a:t>I2</a:t>
                </a:r>
              </a:p>
            </p:txBody>
          </p:sp>
          <p:sp>
            <p:nvSpPr>
              <p:cNvPr id="21" name="Text Box 17">
                <a:extLst>
                  <a:ext uri="{FF2B5EF4-FFF2-40B4-BE49-F238E27FC236}">
                    <a16:creationId xmlns:a16="http://schemas.microsoft.com/office/drawing/2014/main" id="{6A190F28-93F3-4A23-B256-7526F8EA3456}"/>
                  </a:ext>
                </a:extLst>
              </p:cNvPr>
              <p:cNvSpPr txBox="1">
                <a:spLocks noChangeArrowheads="1"/>
              </p:cNvSpPr>
              <p:nvPr/>
            </p:nvSpPr>
            <p:spPr bwMode="auto">
              <a:xfrm>
                <a:off x="3989" y="2690"/>
                <a:ext cx="237" cy="216"/>
              </a:xfrm>
              <a:prstGeom prst="rect">
                <a:avLst/>
              </a:prstGeom>
              <a:noFill/>
              <a:ln w="9525">
                <a:noFill/>
                <a:miter lim="800000"/>
                <a:headEnd/>
                <a:tailEnd/>
              </a:ln>
            </p:spPr>
            <p:txBody>
              <a:bodyPr wrap="none">
                <a:spAutoFit/>
              </a:bodyPr>
              <a:lstStyle/>
              <a:p>
                <a:r>
                  <a:rPr lang="en-US" sz="2400" b="1">
                    <a:solidFill>
                      <a:srgbClr val="0070C0"/>
                    </a:solidFill>
                    <a:latin typeface="Times New Roman" pitchFamily="18" charset="0"/>
                    <a:cs typeface="Arial" charset="0"/>
                  </a:rPr>
                  <a:t>S2</a:t>
                </a:r>
              </a:p>
            </p:txBody>
          </p:sp>
          <p:sp>
            <p:nvSpPr>
              <p:cNvPr id="22" name="Text Box 18">
                <a:extLst>
                  <a:ext uri="{FF2B5EF4-FFF2-40B4-BE49-F238E27FC236}">
                    <a16:creationId xmlns:a16="http://schemas.microsoft.com/office/drawing/2014/main" id="{52EA3A15-2899-4B23-83CF-5629F16F51AF}"/>
                  </a:ext>
                </a:extLst>
              </p:cNvPr>
              <p:cNvSpPr txBox="1">
                <a:spLocks noChangeArrowheads="1"/>
              </p:cNvSpPr>
              <p:nvPr/>
            </p:nvSpPr>
            <p:spPr bwMode="auto">
              <a:xfrm>
                <a:off x="3457" y="3144"/>
                <a:ext cx="263" cy="218"/>
              </a:xfrm>
              <a:prstGeom prst="rect">
                <a:avLst/>
              </a:prstGeom>
              <a:noFill/>
              <a:ln w="9525">
                <a:noFill/>
                <a:miter lim="800000"/>
                <a:headEnd/>
                <a:tailEnd/>
              </a:ln>
            </p:spPr>
            <p:txBody>
              <a:bodyPr wrap="none">
                <a:spAutoFit/>
              </a:bodyPr>
              <a:lstStyle/>
              <a:p>
                <a:r>
                  <a:rPr lang="en-US" sz="2400" b="1">
                    <a:solidFill>
                      <a:srgbClr val="0070C0"/>
                    </a:solidFill>
                    <a:latin typeface="Times New Roman" pitchFamily="18" charset="0"/>
                    <a:cs typeface="Arial" charset="0"/>
                  </a:rPr>
                  <a:t>C2</a:t>
                </a:r>
              </a:p>
            </p:txBody>
          </p:sp>
          <p:sp>
            <p:nvSpPr>
              <p:cNvPr id="23" name="Text Box 19">
                <a:extLst>
                  <a:ext uri="{FF2B5EF4-FFF2-40B4-BE49-F238E27FC236}">
                    <a16:creationId xmlns:a16="http://schemas.microsoft.com/office/drawing/2014/main" id="{C6085F6D-0702-4E70-A438-A2C6537849FA}"/>
                  </a:ext>
                </a:extLst>
              </p:cNvPr>
              <p:cNvSpPr txBox="1">
                <a:spLocks noChangeArrowheads="1"/>
              </p:cNvSpPr>
              <p:nvPr/>
            </p:nvSpPr>
            <p:spPr bwMode="auto">
              <a:xfrm>
                <a:off x="4020" y="3144"/>
                <a:ext cx="263" cy="218"/>
              </a:xfrm>
              <a:prstGeom prst="rect">
                <a:avLst/>
              </a:prstGeom>
              <a:noFill/>
              <a:ln w="9525">
                <a:noFill/>
                <a:miter lim="800000"/>
                <a:headEnd/>
                <a:tailEnd/>
              </a:ln>
            </p:spPr>
            <p:txBody>
              <a:bodyPr wrap="none">
                <a:spAutoFit/>
              </a:bodyPr>
              <a:lstStyle/>
              <a:p>
                <a:r>
                  <a:rPr lang="en-US" sz="2400" b="1">
                    <a:solidFill>
                      <a:srgbClr val="0070C0"/>
                    </a:solidFill>
                    <a:latin typeface="Times New Roman" pitchFamily="18" charset="0"/>
                    <a:cs typeface="Arial" charset="0"/>
                  </a:rPr>
                  <a:t>C3</a:t>
                </a:r>
              </a:p>
            </p:txBody>
          </p:sp>
          <p:sp>
            <p:nvSpPr>
              <p:cNvPr id="24" name="Text Box 20">
                <a:extLst>
                  <a:ext uri="{FF2B5EF4-FFF2-40B4-BE49-F238E27FC236}">
                    <a16:creationId xmlns:a16="http://schemas.microsoft.com/office/drawing/2014/main" id="{935C4DC2-EAAA-49A3-886F-0F2DF45872C4}"/>
                  </a:ext>
                </a:extLst>
              </p:cNvPr>
              <p:cNvSpPr txBox="1">
                <a:spLocks noChangeArrowheads="1"/>
              </p:cNvSpPr>
              <p:nvPr/>
            </p:nvSpPr>
            <p:spPr bwMode="auto">
              <a:xfrm>
                <a:off x="3488" y="3624"/>
                <a:ext cx="215" cy="218"/>
              </a:xfrm>
              <a:prstGeom prst="rect">
                <a:avLst/>
              </a:prstGeom>
              <a:noFill/>
              <a:ln w="9525">
                <a:noFill/>
                <a:miter lim="800000"/>
                <a:headEnd/>
                <a:tailEnd/>
              </a:ln>
            </p:spPr>
            <p:txBody>
              <a:bodyPr wrap="none">
                <a:spAutoFit/>
              </a:bodyPr>
              <a:lstStyle/>
              <a:p>
                <a:r>
                  <a:rPr lang="en-US" sz="2400" b="1">
                    <a:solidFill>
                      <a:srgbClr val="0070C0"/>
                    </a:solidFill>
                    <a:latin typeface="Times New Roman" pitchFamily="18" charset="0"/>
                    <a:cs typeface="Arial" charset="0"/>
                  </a:rPr>
                  <a:t>I2</a:t>
                </a:r>
              </a:p>
            </p:txBody>
          </p:sp>
          <p:sp>
            <p:nvSpPr>
              <p:cNvPr id="25" name="Text Box 21">
                <a:extLst>
                  <a:ext uri="{FF2B5EF4-FFF2-40B4-BE49-F238E27FC236}">
                    <a16:creationId xmlns:a16="http://schemas.microsoft.com/office/drawing/2014/main" id="{4E4E599A-D1D1-4978-8D1C-B654CEC7EED9}"/>
                  </a:ext>
                </a:extLst>
              </p:cNvPr>
              <p:cNvSpPr txBox="1">
                <a:spLocks noChangeArrowheads="1"/>
              </p:cNvSpPr>
              <p:nvPr/>
            </p:nvSpPr>
            <p:spPr bwMode="auto">
              <a:xfrm>
                <a:off x="4084" y="3624"/>
                <a:ext cx="215" cy="218"/>
              </a:xfrm>
              <a:prstGeom prst="rect">
                <a:avLst/>
              </a:prstGeom>
              <a:noFill/>
              <a:ln w="9525">
                <a:noFill/>
                <a:miter lim="800000"/>
                <a:headEnd/>
                <a:tailEnd/>
              </a:ln>
            </p:spPr>
            <p:txBody>
              <a:bodyPr wrap="none">
                <a:spAutoFit/>
              </a:bodyPr>
              <a:lstStyle/>
              <a:p>
                <a:r>
                  <a:rPr lang="en-US" sz="2400" b="1">
                    <a:solidFill>
                      <a:srgbClr val="0070C0"/>
                    </a:solidFill>
                    <a:latin typeface="Times New Roman" pitchFamily="18" charset="0"/>
                    <a:cs typeface="Arial" charset="0"/>
                  </a:rPr>
                  <a:t>I3</a:t>
                </a:r>
              </a:p>
            </p:txBody>
          </p:sp>
          <p:sp>
            <p:nvSpPr>
              <p:cNvPr id="26" name="Text Box 22">
                <a:extLst>
                  <a:ext uri="{FF2B5EF4-FFF2-40B4-BE49-F238E27FC236}">
                    <a16:creationId xmlns:a16="http://schemas.microsoft.com/office/drawing/2014/main" id="{B096D2E6-A428-416D-A24F-1AA5DC9AD49C}"/>
                  </a:ext>
                </a:extLst>
              </p:cNvPr>
              <p:cNvSpPr txBox="1">
                <a:spLocks noChangeArrowheads="1"/>
              </p:cNvSpPr>
              <p:nvPr/>
            </p:nvSpPr>
            <p:spPr bwMode="auto">
              <a:xfrm>
                <a:off x="4592" y="3144"/>
                <a:ext cx="263" cy="218"/>
              </a:xfrm>
              <a:prstGeom prst="rect">
                <a:avLst/>
              </a:prstGeom>
              <a:noFill/>
              <a:ln w="9525">
                <a:noFill/>
                <a:miter lim="800000"/>
                <a:headEnd/>
                <a:tailEnd/>
              </a:ln>
            </p:spPr>
            <p:txBody>
              <a:bodyPr wrap="none">
                <a:spAutoFit/>
              </a:bodyPr>
              <a:lstStyle/>
              <a:p>
                <a:r>
                  <a:rPr lang="en-US" sz="2400" b="1">
                    <a:solidFill>
                      <a:srgbClr val="0070C0"/>
                    </a:solidFill>
                    <a:latin typeface="Times New Roman" pitchFamily="18" charset="0"/>
                    <a:cs typeface="Arial" charset="0"/>
                  </a:rPr>
                  <a:t>C4</a:t>
                </a:r>
              </a:p>
            </p:txBody>
          </p:sp>
          <p:sp>
            <p:nvSpPr>
              <p:cNvPr id="27" name="Text Box 23">
                <a:extLst>
                  <a:ext uri="{FF2B5EF4-FFF2-40B4-BE49-F238E27FC236}">
                    <a16:creationId xmlns:a16="http://schemas.microsoft.com/office/drawing/2014/main" id="{2BE2A667-B4EE-4A0C-9CCB-4A5605D51879}"/>
                  </a:ext>
                </a:extLst>
              </p:cNvPr>
              <p:cNvSpPr txBox="1">
                <a:spLocks noChangeArrowheads="1"/>
              </p:cNvSpPr>
              <p:nvPr/>
            </p:nvSpPr>
            <p:spPr bwMode="auto">
              <a:xfrm>
                <a:off x="4656" y="3624"/>
                <a:ext cx="215" cy="218"/>
              </a:xfrm>
              <a:prstGeom prst="rect">
                <a:avLst/>
              </a:prstGeom>
              <a:noFill/>
              <a:ln w="9525">
                <a:noFill/>
                <a:miter lim="800000"/>
                <a:headEnd/>
                <a:tailEnd/>
              </a:ln>
            </p:spPr>
            <p:txBody>
              <a:bodyPr wrap="none">
                <a:spAutoFit/>
              </a:bodyPr>
              <a:lstStyle/>
              <a:p>
                <a:r>
                  <a:rPr lang="en-US" sz="2400" b="1">
                    <a:solidFill>
                      <a:srgbClr val="0070C0"/>
                    </a:solidFill>
                    <a:latin typeface="Times New Roman" pitchFamily="18" charset="0"/>
                    <a:cs typeface="Arial" charset="0"/>
                  </a:rPr>
                  <a:t>I1</a:t>
                </a:r>
              </a:p>
            </p:txBody>
          </p:sp>
          <p:sp>
            <p:nvSpPr>
              <p:cNvPr id="28" name="Line 24">
                <a:extLst>
                  <a:ext uri="{FF2B5EF4-FFF2-40B4-BE49-F238E27FC236}">
                    <a16:creationId xmlns:a16="http://schemas.microsoft.com/office/drawing/2014/main" id="{09B82AFF-7DA8-47F7-8AA5-32D935570366}"/>
                  </a:ext>
                </a:extLst>
              </p:cNvPr>
              <p:cNvSpPr>
                <a:spLocks noChangeShapeType="1"/>
              </p:cNvSpPr>
              <p:nvPr/>
            </p:nvSpPr>
            <p:spPr bwMode="auto">
              <a:xfrm flipH="1">
                <a:off x="2436" y="2952"/>
                <a:ext cx="240" cy="240"/>
              </a:xfrm>
              <a:prstGeom prst="line">
                <a:avLst/>
              </a:prstGeom>
              <a:noFill/>
              <a:ln w="9525">
                <a:solidFill>
                  <a:schemeClr val="tx1"/>
                </a:solidFill>
                <a:round/>
                <a:headEnd/>
                <a:tailEnd/>
              </a:ln>
            </p:spPr>
            <p:txBody>
              <a:bodyPr/>
              <a:lstStyle/>
              <a:p>
                <a:endParaRPr lang="en-US" b="1">
                  <a:solidFill>
                    <a:srgbClr val="0070C0"/>
                  </a:solidFill>
                </a:endParaRPr>
              </a:p>
            </p:txBody>
          </p:sp>
          <p:sp>
            <p:nvSpPr>
              <p:cNvPr id="29" name="Line 25">
                <a:extLst>
                  <a:ext uri="{FF2B5EF4-FFF2-40B4-BE49-F238E27FC236}">
                    <a16:creationId xmlns:a16="http://schemas.microsoft.com/office/drawing/2014/main" id="{D7AEE3E2-CFB9-4D4A-AE8E-BC713303628E}"/>
                  </a:ext>
                </a:extLst>
              </p:cNvPr>
              <p:cNvSpPr>
                <a:spLocks noChangeShapeType="1"/>
              </p:cNvSpPr>
              <p:nvPr/>
            </p:nvSpPr>
            <p:spPr bwMode="auto">
              <a:xfrm flipH="1">
                <a:off x="3732" y="2952"/>
                <a:ext cx="240" cy="240"/>
              </a:xfrm>
              <a:prstGeom prst="line">
                <a:avLst/>
              </a:prstGeom>
              <a:noFill/>
              <a:ln w="9525">
                <a:solidFill>
                  <a:schemeClr val="tx1"/>
                </a:solidFill>
                <a:round/>
                <a:headEnd/>
                <a:tailEnd/>
              </a:ln>
            </p:spPr>
            <p:txBody>
              <a:bodyPr/>
              <a:lstStyle/>
              <a:p>
                <a:endParaRPr lang="en-US" b="1">
                  <a:solidFill>
                    <a:srgbClr val="0070C0"/>
                  </a:solidFill>
                </a:endParaRPr>
              </a:p>
            </p:txBody>
          </p:sp>
          <p:sp>
            <p:nvSpPr>
              <p:cNvPr id="30" name="Line 26">
                <a:extLst>
                  <a:ext uri="{FF2B5EF4-FFF2-40B4-BE49-F238E27FC236}">
                    <a16:creationId xmlns:a16="http://schemas.microsoft.com/office/drawing/2014/main" id="{1BAF4B46-E65D-4843-A70C-F05ACEBF5373}"/>
                  </a:ext>
                </a:extLst>
              </p:cNvPr>
              <p:cNvSpPr>
                <a:spLocks noChangeShapeType="1"/>
              </p:cNvSpPr>
              <p:nvPr/>
            </p:nvSpPr>
            <p:spPr bwMode="auto">
              <a:xfrm>
                <a:off x="4356" y="2952"/>
                <a:ext cx="240" cy="240"/>
              </a:xfrm>
              <a:prstGeom prst="line">
                <a:avLst/>
              </a:prstGeom>
              <a:noFill/>
              <a:ln w="9525">
                <a:solidFill>
                  <a:schemeClr val="tx1"/>
                </a:solidFill>
                <a:round/>
                <a:headEnd/>
                <a:tailEnd/>
              </a:ln>
            </p:spPr>
            <p:txBody>
              <a:bodyPr/>
              <a:lstStyle/>
              <a:p>
                <a:endParaRPr lang="en-US" b="1">
                  <a:solidFill>
                    <a:srgbClr val="0070C0"/>
                  </a:solidFill>
                </a:endParaRPr>
              </a:p>
            </p:txBody>
          </p:sp>
          <p:sp>
            <p:nvSpPr>
              <p:cNvPr id="31" name="Line 27">
                <a:extLst>
                  <a:ext uri="{FF2B5EF4-FFF2-40B4-BE49-F238E27FC236}">
                    <a16:creationId xmlns:a16="http://schemas.microsoft.com/office/drawing/2014/main" id="{16FD0C10-90E9-4FB1-A9D4-FDFC5F92E31F}"/>
                  </a:ext>
                </a:extLst>
              </p:cNvPr>
              <p:cNvSpPr>
                <a:spLocks noChangeShapeType="1"/>
              </p:cNvSpPr>
              <p:nvPr/>
            </p:nvSpPr>
            <p:spPr bwMode="auto">
              <a:xfrm>
                <a:off x="2772" y="2952"/>
                <a:ext cx="240" cy="240"/>
              </a:xfrm>
              <a:prstGeom prst="line">
                <a:avLst/>
              </a:prstGeom>
              <a:noFill/>
              <a:ln w="9525">
                <a:solidFill>
                  <a:schemeClr val="tx1"/>
                </a:solidFill>
                <a:round/>
                <a:headEnd/>
                <a:tailEnd/>
              </a:ln>
            </p:spPr>
            <p:txBody>
              <a:bodyPr/>
              <a:lstStyle/>
              <a:p>
                <a:endParaRPr lang="en-US" b="1">
                  <a:solidFill>
                    <a:srgbClr val="0070C0"/>
                  </a:solidFill>
                </a:endParaRPr>
              </a:p>
            </p:txBody>
          </p:sp>
          <p:sp>
            <p:nvSpPr>
              <p:cNvPr id="32" name="Line 28">
                <a:extLst>
                  <a:ext uri="{FF2B5EF4-FFF2-40B4-BE49-F238E27FC236}">
                    <a16:creationId xmlns:a16="http://schemas.microsoft.com/office/drawing/2014/main" id="{1B3EE829-61ED-4169-9D71-69FED2A3B7CA}"/>
                  </a:ext>
                </a:extLst>
              </p:cNvPr>
              <p:cNvSpPr>
                <a:spLocks noChangeShapeType="1"/>
              </p:cNvSpPr>
              <p:nvPr/>
            </p:nvSpPr>
            <p:spPr bwMode="auto">
              <a:xfrm>
                <a:off x="2340" y="3432"/>
                <a:ext cx="0" cy="240"/>
              </a:xfrm>
              <a:prstGeom prst="line">
                <a:avLst/>
              </a:prstGeom>
              <a:noFill/>
              <a:ln w="9525">
                <a:solidFill>
                  <a:schemeClr val="tx1"/>
                </a:solidFill>
                <a:round/>
                <a:headEnd/>
                <a:tailEnd/>
              </a:ln>
            </p:spPr>
            <p:txBody>
              <a:bodyPr/>
              <a:lstStyle/>
              <a:p>
                <a:endParaRPr lang="en-US" b="1">
                  <a:solidFill>
                    <a:srgbClr val="0070C0"/>
                  </a:solidFill>
                </a:endParaRPr>
              </a:p>
            </p:txBody>
          </p:sp>
          <p:sp>
            <p:nvSpPr>
              <p:cNvPr id="33" name="Line 29">
                <a:extLst>
                  <a:ext uri="{FF2B5EF4-FFF2-40B4-BE49-F238E27FC236}">
                    <a16:creationId xmlns:a16="http://schemas.microsoft.com/office/drawing/2014/main" id="{8C666CC0-FE8B-4AF5-BE55-F7CE7A51587D}"/>
                  </a:ext>
                </a:extLst>
              </p:cNvPr>
              <p:cNvSpPr>
                <a:spLocks noChangeShapeType="1"/>
              </p:cNvSpPr>
              <p:nvPr/>
            </p:nvSpPr>
            <p:spPr bwMode="auto">
              <a:xfrm>
                <a:off x="3060" y="3432"/>
                <a:ext cx="0" cy="240"/>
              </a:xfrm>
              <a:prstGeom prst="line">
                <a:avLst/>
              </a:prstGeom>
              <a:noFill/>
              <a:ln w="9525">
                <a:solidFill>
                  <a:schemeClr val="tx1"/>
                </a:solidFill>
                <a:round/>
                <a:headEnd/>
                <a:tailEnd/>
              </a:ln>
            </p:spPr>
            <p:txBody>
              <a:bodyPr/>
              <a:lstStyle/>
              <a:p>
                <a:endParaRPr lang="en-US" b="1">
                  <a:solidFill>
                    <a:srgbClr val="0070C0"/>
                  </a:solidFill>
                </a:endParaRPr>
              </a:p>
            </p:txBody>
          </p:sp>
          <p:sp>
            <p:nvSpPr>
              <p:cNvPr id="34" name="Line 30">
                <a:extLst>
                  <a:ext uri="{FF2B5EF4-FFF2-40B4-BE49-F238E27FC236}">
                    <a16:creationId xmlns:a16="http://schemas.microsoft.com/office/drawing/2014/main" id="{469DCD63-66DA-4C0A-A30B-339D540477E9}"/>
                  </a:ext>
                </a:extLst>
              </p:cNvPr>
              <p:cNvSpPr>
                <a:spLocks noChangeShapeType="1"/>
              </p:cNvSpPr>
              <p:nvPr/>
            </p:nvSpPr>
            <p:spPr bwMode="auto">
              <a:xfrm>
                <a:off x="3636" y="3432"/>
                <a:ext cx="0" cy="240"/>
              </a:xfrm>
              <a:prstGeom prst="line">
                <a:avLst/>
              </a:prstGeom>
              <a:noFill/>
              <a:ln w="9525">
                <a:solidFill>
                  <a:schemeClr val="tx1"/>
                </a:solidFill>
                <a:round/>
                <a:headEnd/>
                <a:tailEnd/>
              </a:ln>
            </p:spPr>
            <p:txBody>
              <a:bodyPr/>
              <a:lstStyle/>
              <a:p>
                <a:endParaRPr lang="en-US" b="1">
                  <a:solidFill>
                    <a:srgbClr val="0070C0"/>
                  </a:solidFill>
                </a:endParaRPr>
              </a:p>
            </p:txBody>
          </p:sp>
          <p:sp>
            <p:nvSpPr>
              <p:cNvPr id="35" name="Line 31">
                <a:extLst>
                  <a:ext uri="{FF2B5EF4-FFF2-40B4-BE49-F238E27FC236}">
                    <a16:creationId xmlns:a16="http://schemas.microsoft.com/office/drawing/2014/main" id="{DF9F0ABD-3CE8-473C-AC5E-B74EF20FAE22}"/>
                  </a:ext>
                </a:extLst>
              </p:cNvPr>
              <p:cNvSpPr>
                <a:spLocks noChangeShapeType="1"/>
              </p:cNvSpPr>
              <p:nvPr/>
            </p:nvSpPr>
            <p:spPr bwMode="auto">
              <a:xfrm>
                <a:off x="4164" y="3432"/>
                <a:ext cx="0" cy="240"/>
              </a:xfrm>
              <a:prstGeom prst="line">
                <a:avLst/>
              </a:prstGeom>
              <a:noFill/>
              <a:ln w="9525">
                <a:solidFill>
                  <a:schemeClr val="tx1"/>
                </a:solidFill>
                <a:round/>
                <a:headEnd/>
                <a:tailEnd/>
              </a:ln>
            </p:spPr>
            <p:txBody>
              <a:bodyPr/>
              <a:lstStyle/>
              <a:p>
                <a:endParaRPr lang="en-US" b="1">
                  <a:solidFill>
                    <a:srgbClr val="0070C0"/>
                  </a:solidFill>
                </a:endParaRPr>
              </a:p>
            </p:txBody>
          </p:sp>
          <p:sp>
            <p:nvSpPr>
              <p:cNvPr id="36" name="Line 32">
                <a:extLst>
                  <a:ext uri="{FF2B5EF4-FFF2-40B4-BE49-F238E27FC236}">
                    <a16:creationId xmlns:a16="http://schemas.microsoft.com/office/drawing/2014/main" id="{48671B75-A975-4217-B384-28D175F12415}"/>
                  </a:ext>
                </a:extLst>
              </p:cNvPr>
              <p:cNvSpPr>
                <a:spLocks noChangeShapeType="1"/>
              </p:cNvSpPr>
              <p:nvPr/>
            </p:nvSpPr>
            <p:spPr bwMode="auto">
              <a:xfrm>
                <a:off x="4740" y="3432"/>
                <a:ext cx="0" cy="240"/>
              </a:xfrm>
              <a:prstGeom prst="line">
                <a:avLst/>
              </a:prstGeom>
              <a:noFill/>
              <a:ln w="9525">
                <a:solidFill>
                  <a:schemeClr val="tx1"/>
                </a:solidFill>
                <a:round/>
                <a:headEnd/>
                <a:tailEnd/>
              </a:ln>
            </p:spPr>
            <p:txBody>
              <a:bodyPr/>
              <a:lstStyle/>
              <a:p>
                <a:endParaRPr lang="en-US" b="1">
                  <a:solidFill>
                    <a:srgbClr val="0070C0"/>
                  </a:solidFill>
                </a:endParaRPr>
              </a:p>
            </p:txBody>
          </p:sp>
        </p:grpSp>
      </p:grpSp>
    </p:spTree>
    <p:extLst>
      <p:ext uri="{BB962C8B-B14F-4D97-AF65-F5344CB8AC3E}">
        <p14:creationId xmlns:p14="http://schemas.microsoft.com/office/powerpoint/2010/main" val="3653904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0682D-6BB9-4B43-9C4A-49878E27BD95}"/>
              </a:ext>
            </a:extLst>
          </p:cNvPr>
          <p:cNvSpPr>
            <a:spLocks noGrp="1"/>
          </p:cNvSpPr>
          <p:nvPr>
            <p:ph type="title"/>
          </p:nvPr>
        </p:nvSpPr>
        <p:spPr/>
        <p:txBody>
          <a:bodyPr/>
          <a:lstStyle/>
          <a:p>
            <a:pPr algn="ctr"/>
            <a:r>
              <a:rPr lang="en-US" dirty="0"/>
              <a:t>1.1 The Evolution of Database Systems</a:t>
            </a:r>
            <a:endParaRPr lang="vi-VN" dirty="0"/>
          </a:p>
        </p:txBody>
      </p:sp>
      <p:sp>
        <p:nvSpPr>
          <p:cNvPr id="3" name="Content Placeholder 2">
            <a:extLst>
              <a:ext uri="{FF2B5EF4-FFF2-40B4-BE49-F238E27FC236}">
                <a16:creationId xmlns:a16="http://schemas.microsoft.com/office/drawing/2014/main" id="{9AA197D3-D2A2-4E16-B684-880002348F91}"/>
              </a:ext>
            </a:extLst>
          </p:cNvPr>
          <p:cNvSpPr>
            <a:spLocks noGrp="1"/>
          </p:cNvSpPr>
          <p:nvPr>
            <p:ph idx="1"/>
          </p:nvPr>
        </p:nvSpPr>
        <p:spPr>
          <a:xfrm>
            <a:off x="585926" y="1349407"/>
            <a:ext cx="4340036" cy="4722920"/>
          </a:xfrm>
        </p:spPr>
        <p:txBody>
          <a:bodyPr/>
          <a:lstStyle/>
          <a:p>
            <a:r>
              <a:rPr lang="en-US" b="1" dirty="0"/>
              <a:t>Network data model (graph-based model)</a:t>
            </a:r>
          </a:p>
          <a:p>
            <a:pPr lvl="1">
              <a:buFont typeface="Wingdings" panose="05000000000000000000" pitchFamily="2" charset="2"/>
              <a:buChar char="§"/>
            </a:pPr>
            <a:r>
              <a:rPr lang="en-US" sz="2000" dirty="0"/>
              <a:t>Charles Bachman invented in the late </a:t>
            </a:r>
            <a:r>
              <a:rPr lang="en-US" sz="2000" dirty="0" err="1"/>
              <a:t>1960s</a:t>
            </a:r>
            <a:endParaRPr lang="en-US" sz="2000" dirty="0"/>
          </a:p>
          <a:p>
            <a:pPr lvl="1">
              <a:buFont typeface="Wingdings" panose="05000000000000000000" pitchFamily="2" charset="2"/>
              <a:buChar char="§"/>
            </a:pPr>
            <a:r>
              <a:rPr lang="en-US" sz="2000" dirty="0"/>
              <a:t>standard specification published in 1969 by the Conference on Data Systems Languages (</a:t>
            </a:r>
            <a:r>
              <a:rPr lang="en-US" sz="2000" dirty="0" err="1"/>
              <a:t>CODASYL</a:t>
            </a:r>
            <a:r>
              <a:rPr lang="en-US" sz="2000" dirty="0"/>
              <a:t>) Consortium</a:t>
            </a:r>
          </a:p>
          <a:p>
            <a:pPr lvl="1">
              <a:buFont typeface="Wingdings" panose="05000000000000000000" pitchFamily="2" charset="2"/>
              <a:buChar char="§"/>
            </a:pPr>
            <a:r>
              <a:rPr lang="en-US" sz="2000" dirty="0"/>
              <a:t>The network model allows each record to have multiple parent and child records</a:t>
            </a:r>
          </a:p>
          <a:p>
            <a:r>
              <a:rPr lang="en-US" sz="2800" dirty="0">
                <a:solidFill>
                  <a:srgbClr val="FF0000"/>
                </a:solidFill>
                <a:sym typeface="Wingdings" pitchFamily="2" charset="2"/>
              </a:rPr>
              <a:t> </a:t>
            </a:r>
            <a:r>
              <a:rPr lang="en-US" sz="2800" dirty="0">
                <a:solidFill>
                  <a:srgbClr val="FF0000"/>
                </a:solidFill>
              </a:rPr>
              <a:t>Not support high-level query language</a:t>
            </a:r>
          </a:p>
          <a:p>
            <a:endParaRPr lang="vi-VN" dirty="0"/>
          </a:p>
        </p:txBody>
      </p:sp>
      <p:sp>
        <p:nvSpPr>
          <p:cNvPr id="4" name="Footer Placeholder 3">
            <a:extLst>
              <a:ext uri="{FF2B5EF4-FFF2-40B4-BE49-F238E27FC236}">
                <a16:creationId xmlns:a16="http://schemas.microsoft.com/office/drawing/2014/main" id="{D2DD9340-C56F-4BBE-98D2-5192ABCDB9B9}"/>
              </a:ext>
            </a:extLst>
          </p:cNvPr>
          <p:cNvSpPr>
            <a:spLocks noGrp="1"/>
          </p:cNvSpPr>
          <p:nvPr>
            <p:ph type="ftr" sz="quarter" idx="11"/>
          </p:nvPr>
        </p:nvSpPr>
        <p:spPr/>
        <p:txBody>
          <a:bodyPr/>
          <a:lstStyle/>
          <a:p>
            <a:r>
              <a:rPr lang="en-US"/>
              <a:t>Phan Thi Ha</a:t>
            </a:r>
            <a:endParaRPr lang="vi-VN"/>
          </a:p>
        </p:txBody>
      </p:sp>
      <p:pic>
        <p:nvPicPr>
          <p:cNvPr id="6" name="Picture 4" descr="http://creately.com/blog/wp-content/uploads/2012/06/database-design-network-model.png">
            <a:extLst>
              <a:ext uri="{FF2B5EF4-FFF2-40B4-BE49-F238E27FC236}">
                <a16:creationId xmlns:a16="http://schemas.microsoft.com/office/drawing/2014/main" id="{6ED68B57-64B8-4B70-9459-3F87ECE28635}"/>
              </a:ext>
            </a:extLst>
          </p:cNvPr>
          <p:cNvPicPr>
            <a:picLocks noChangeAspect="1" noChangeArrowheads="1"/>
          </p:cNvPicPr>
          <p:nvPr/>
        </p:nvPicPr>
        <p:blipFill>
          <a:blip r:embed="rId2" cstate="print"/>
          <a:srcRect/>
          <a:stretch>
            <a:fillRect/>
          </a:stretch>
        </p:blipFill>
        <p:spPr bwMode="auto">
          <a:xfrm>
            <a:off x="5195809" y="1578147"/>
            <a:ext cx="3617103" cy="3495297"/>
          </a:xfrm>
          <a:prstGeom prst="rect">
            <a:avLst/>
          </a:prstGeom>
          <a:noFill/>
        </p:spPr>
      </p:pic>
    </p:spTree>
    <p:extLst>
      <p:ext uri="{BB962C8B-B14F-4D97-AF65-F5344CB8AC3E}">
        <p14:creationId xmlns:p14="http://schemas.microsoft.com/office/powerpoint/2010/main" val="346521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6525E-8F2B-4F67-AF89-182212142656}"/>
              </a:ext>
            </a:extLst>
          </p:cNvPr>
          <p:cNvSpPr>
            <a:spLocks noGrp="1"/>
          </p:cNvSpPr>
          <p:nvPr>
            <p:ph type="title"/>
          </p:nvPr>
        </p:nvSpPr>
        <p:spPr/>
        <p:txBody>
          <a:bodyPr/>
          <a:lstStyle/>
          <a:p>
            <a:pPr algn="ctr"/>
            <a:r>
              <a:rPr lang="en-US" dirty="0"/>
              <a:t>1.1 The Evolution of Database Systems</a:t>
            </a:r>
            <a:endParaRPr lang="vi-VN" dirty="0"/>
          </a:p>
        </p:txBody>
      </p:sp>
      <p:sp>
        <p:nvSpPr>
          <p:cNvPr id="3" name="Content Placeholder 2">
            <a:extLst>
              <a:ext uri="{FF2B5EF4-FFF2-40B4-BE49-F238E27FC236}">
                <a16:creationId xmlns:a16="http://schemas.microsoft.com/office/drawing/2014/main" id="{BB4F1B67-8BCF-470E-86AF-C1C82768A3E6}"/>
              </a:ext>
            </a:extLst>
          </p:cNvPr>
          <p:cNvSpPr>
            <a:spLocks noGrp="1"/>
          </p:cNvSpPr>
          <p:nvPr>
            <p:ph idx="1"/>
          </p:nvPr>
        </p:nvSpPr>
        <p:spPr/>
        <p:txBody>
          <a:bodyPr/>
          <a:lstStyle/>
          <a:p>
            <a:r>
              <a:rPr lang="en-US" dirty="0"/>
              <a:t>Relational Database Systems</a:t>
            </a:r>
          </a:p>
          <a:p>
            <a:pPr lvl="1">
              <a:buFont typeface="Wingdings" panose="05000000000000000000" pitchFamily="2" charset="2"/>
              <a:buChar char="§"/>
            </a:pPr>
            <a:r>
              <a:rPr lang="en-US" dirty="0" err="1"/>
              <a:t>1970s</a:t>
            </a:r>
            <a:r>
              <a:rPr lang="en-US" dirty="0"/>
              <a:t>, Edgar Frank "Ted" Codd defined relational model based on relations (</a:t>
            </a:r>
            <a:r>
              <a:rPr lang="en-US" dirty="0">
                <a:hlinkClick r:id="rId2" action="ppaction://hlinkfile"/>
              </a:rPr>
              <a:t>*</a:t>
            </a:r>
            <a:r>
              <a:rPr lang="en-US" dirty="0"/>
              <a:t>)</a:t>
            </a:r>
          </a:p>
          <a:p>
            <a:pPr lvl="2">
              <a:buFont typeface="Wingdings" panose="05000000000000000000" pitchFamily="2" charset="2"/>
              <a:buChar char="§"/>
            </a:pPr>
            <a:r>
              <a:rPr lang="en-US" dirty="0"/>
              <a:t>Revolutionary idea of DBMS activity</a:t>
            </a:r>
          </a:p>
          <a:p>
            <a:pPr lvl="2">
              <a:buFont typeface="Wingdings" panose="05000000000000000000" pitchFamily="2" charset="2"/>
              <a:buChar char="§"/>
            </a:pPr>
            <a:r>
              <a:rPr lang="en-US" dirty="0"/>
              <a:t>at IBM (System R, </a:t>
            </a:r>
            <a:r>
              <a:rPr lang="en-US" dirty="0" err="1"/>
              <a:t>DB2</a:t>
            </a:r>
            <a:r>
              <a:rPr lang="en-US" dirty="0"/>
              <a:t>)</a:t>
            </a:r>
          </a:p>
          <a:p>
            <a:pPr lvl="2">
              <a:buFont typeface="Wingdings" panose="05000000000000000000" pitchFamily="2" charset="2"/>
              <a:buChar char="§"/>
            </a:pPr>
            <a:r>
              <a:rPr lang="en-US" dirty="0"/>
              <a:t>at Universities like Berkeley (Ingres)</a:t>
            </a:r>
          </a:p>
          <a:p>
            <a:pPr lvl="1">
              <a:buFont typeface="Wingdings" panose="05000000000000000000" pitchFamily="2" charset="2"/>
              <a:buChar char="§"/>
            </a:pPr>
            <a:r>
              <a:rPr lang="en-US" dirty="0"/>
              <a:t>SQL, the most important query language, was developed by IBM in 1974</a:t>
            </a:r>
          </a:p>
          <a:p>
            <a:pPr lvl="1">
              <a:buFont typeface="Wingdings" panose="05000000000000000000" pitchFamily="2" charset="2"/>
              <a:buChar char="§"/>
            </a:pPr>
            <a:r>
              <a:rPr lang="en-US" dirty="0"/>
              <a:t>1979, Oracle </a:t>
            </a:r>
            <a:r>
              <a:rPr lang="en-US" dirty="0" err="1"/>
              <a:t>v.2</a:t>
            </a:r>
            <a:r>
              <a:rPr lang="en-US" dirty="0"/>
              <a:t>, the first commercial RDBMS product using SQL</a:t>
            </a:r>
          </a:p>
          <a:p>
            <a:endParaRPr lang="vi-VN" dirty="0"/>
          </a:p>
        </p:txBody>
      </p:sp>
      <p:sp>
        <p:nvSpPr>
          <p:cNvPr id="4" name="Footer Placeholder 3">
            <a:extLst>
              <a:ext uri="{FF2B5EF4-FFF2-40B4-BE49-F238E27FC236}">
                <a16:creationId xmlns:a16="http://schemas.microsoft.com/office/drawing/2014/main" id="{10A0F540-43E7-4701-9E83-CB8D1ABDB42D}"/>
              </a:ext>
            </a:extLst>
          </p:cNvPr>
          <p:cNvSpPr>
            <a:spLocks noGrp="1"/>
          </p:cNvSpPr>
          <p:nvPr>
            <p:ph type="ftr" sz="quarter" idx="11"/>
          </p:nvPr>
        </p:nvSpPr>
        <p:spPr/>
        <p:txBody>
          <a:bodyPr/>
          <a:lstStyle/>
          <a:p>
            <a:r>
              <a:rPr lang="en-US"/>
              <a:t>Phan Thi Ha</a:t>
            </a:r>
            <a:endParaRPr lang="vi-VN"/>
          </a:p>
        </p:txBody>
      </p:sp>
    </p:spTree>
    <p:extLst>
      <p:ext uri="{BB962C8B-B14F-4D97-AF65-F5344CB8AC3E}">
        <p14:creationId xmlns:p14="http://schemas.microsoft.com/office/powerpoint/2010/main" val="1272022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2DCA8-B5B3-4D8E-9961-83C9F9D4934C}"/>
              </a:ext>
            </a:extLst>
          </p:cNvPr>
          <p:cNvSpPr>
            <a:spLocks noGrp="1"/>
          </p:cNvSpPr>
          <p:nvPr>
            <p:ph type="title"/>
          </p:nvPr>
        </p:nvSpPr>
        <p:spPr>
          <a:xfrm>
            <a:off x="603681" y="89960"/>
            <a:ext cx="7936637" cy="1062801"/>
          </a:xfrm>
        </p:spPr>
        <p:txBody>
          <a:bodyPr/>
          <a:lstStyle/>
          <a:p>
            <a:pPr algn="ctr"/>
            <a:r>
              <a:rPr lang="en-US" dirty="0"/>
              <a:t>1.1 The Evolution of Database Systems</a:t>
            </a:r>
            <a:endParaRPr lang="vi-VN" dirty="0"/>
          </a:p>
        </p:txBody>
      </p:sp>
      <p:sp>
        <p:nvSpPr>
          <p:cNvPr id="3" name="Content Placeholder 2">
            <a:extLst>
              <a:ext uri="{FF2B5EF4-FFF2-40B4-BE49-F238E27FC236}">
                <a16:creationId xmlns:a16="http://schemas.microsoft.com/office/drawing/2014/main" id="{06020802-76A4-4D72-9529-F59E7A79749C}"/>
              </a:ext>
            </a:extLst>
          </p:cNvPr>
          <p:cNvSpPr>
            <a:spLocks noGrp="1"/>
          </p:cNvSpPr>
          <p:nvPr>
            <p:ph idx="1"/>
          </p:nvPr>
        </p:nvSpPr>
        <p:spPr>
          <a:xfrm>
            <a:off x="399113" y="1251084"/>
            <a:ext cx="7936637" cy="4722920"/>
          </a:xfrm>
        </p:spPr>
        <p:txBody>
          <a:bodyPr/>
          <a:lstStyle/>
          <a:p>
            <a:r>
              <a:rPr lang="en-US" sz="2400" b="1" dirty="0"/>
              <a:t>Book relation example </a:t>
            </a:r>
          </a:p>
          <a:p>
            <a:endParaRPr lang="vi-VN" dirty="0"/>
          </a:p>
        </p:txBody>
      </p:sp>
      <p:sp>
        <p:nvSpPr>
          <p:cNvPr id="4" name="Footer Placeholder 3">
            <a:extLst>
              <a:ext uri="{FF2B5EF4-FFF2-40B4-BE49-F238E27FC236}">
                <a16:creationId xmlns:a16="http://schemas.microsoft.com/office/drawing/2014/main" id="{A85FB06B-9537-4EE4-986F-B4F24D048CE3}"/>
              </a:ext>
            </a:extLst>
          </p:cNvPr>
          <p:cNvSpPr>
            <a:spLocks noGrp="1"/>
          </p:cNvSpPr>
          <p:nvPr>
            <p:ph type="ftr" sz="quarter" idx="11"/>
          </p:nvPr>
        </p:nvSpPr>
        <p:spPr/>
        <p:txBody>
          <a:bodyPr/>
          <a:lstStyle/>
          <a:p>
            <a:r>
              <a:rPr lang="en-US"/>
              <a:t>Phan Thi Ha</a:t>
            </a:r>
            <a:endParaRPr lang="vi-VN"/>
          </a:p>
        </p:txBody>
      </p:sp>
      <p:pic>
        <p:nvPicPr>
          <p:cNvPr id="6" name="Picture 3">
            <a:extLst>
              <a:ext uri="{FF2B5EF4-FFF2-40B4-BE49-F238E27FC236}">
                <a16:creationId xmlns:a16="http://schemas.microsoft.com/office/drawing/2014/main" id="{DCA27FBC-0B25-4523-8916-92A1F821DFE0}"/>
              </a:ext>
            </a:extLst>
          </p:cNvPr>
          <p:cNvPicPr>
            <a:picLocks noChangeAspect="1" noChangeArrowheads="1"/>
          </p:cNvPicPr>
          <p:nvPr/>
        </p:nvPicPr>
        <p:blipFill>
          <a:blip r:embed="rId2" cstate="print"/>
          <a:srcRect/>
          <a:stretch>
            <a:fillRect/>
          </a:stretch>
        </p:blipFill>
        <p:spPr bwMode="auto">
          <a:xfrm>
            <a:off x="152400" y="1651350"/>
            <a:ext cx="8839200" cy="4710113"/>
          </a:xfrm>
          <a:prstGeom prst="rect">
            <a:avLst/>
          </a:prstGeom>
          <a:noFill/>
          <a:ln w="9525">
            <a:noFill/>
            <a:miter lim="800000"/>
            <a:headEnd/>
            <a:tailEnd/>
          </a:ln>
        </p:spPr>
      </p:pic>
    </p:spTree>
    <p:extLst>
      <p:ext uri="{BB962C8B-B14F-4D97-AF65-F5344CB8AC3E}">
        <p14:creationId xmlns:p14="http://schemas.microsoft.com/office/powerpoint/2010/main" val="3888775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EE428-9331-4858-901B-508BE41E9D2A}"/>
              </a:ext>
            </a:extLst>
          </p:cNvPr>
          <p:cNvSpPr>
            <a:spLocks noGrp="1"/>
          </p:cNvSpPr>
          <p:nvPr>
            <p:ph type="title"/>
          </p:nvPr>
        </p:nvSpPr>
        <p:spPr/>
        <p:txBody>
          <a:bodyPr/>
          <a:lstStyle/>
          <a:p>
            <a:pPr algn="ctr"/>
            <a:r>
              <a:rPr lang="en-US" dirty="0"/>
              <a:t>1.1 The Evolution of Database Systems</a:t>
            </a:r>
            <a:endParaRPr lang="vi-VN" dirty="0"/>
          </a:p>
        </p:txBody>
      </p:sp>
      <p:sp>
        <p:nvSpPr>
          <p:cNvPr id="4" name="Footer Placeholder 3">
            <a:extLst>
              <a:ext uri="{FF2B5EF4-FFF2-40B4-BE49-F238E27FC236}">
                <a16:creationId xmlns:a16="http://schemas.microsoft.com/office/drawing/2014/main" id="{63D1004C-1837-4FB4-9B95-0ED2BB868004}"/>
              </a:ext>
            </a:extLst>
          </p:cNvPr>
          <p:cNvSpPr>
            <a:spLocks noGrp="1"/>
          </p:cNvSpPr>
          <p:nvPr>
            <p:ph type="ftr" sz="quarter" idx="11"/>
          </p:nvPr>
        </p:nvSpPr>
        <p:spPr/>
        <p:txBody>
          <a:bodyPr/>
          <a:lstStyle/>
          <a:p>
            <a:r>
              <a:rPr lang="en-US"/>
              <a:t>Phan Thi Ha</a:t>
            </a:r>
            <a:endParaRPr lang="vi-VN"/>
          </a:p>
        </p:txBody>
      </p:sp>
      <p:pic>
        <p:nvPicPr>
          <p:cNvPr id="6" name="Picture 3">
            <a:extLst>
              <a:ext uri="{FF2B5EF4-FFF2-40B4-BE49-F238E27FC236}">
                <a16:creationId xmlns:a16="http://schemas.microsoft.com/office/drawing/2014/main" id="{1D4C2DC4-3D90-4A0A-A873-F80205AB75A1}"/>
              </a:ext>
            </a:extLst>
          </p:cNvPr>
          <p:cNvPicPr>
            <a:picLocks noGrp="1" noChangeAspect="1" noChangeArrowheads="1"/>
          </p:cNvPicPr>
          <p:nvPr>
            <p:ph idx="1"/>
          </p:nvPr>
        </p:nvPicPr>
        <p:blipFill>
          <a:blip r:embed="rId2" cstate="print"/>
          <a:srcRect/>
          <a:stretch>
            <a:fillRect/>
          </a:stretch>
        </p:blipFill>
        <p:spPr bwMode="auto">
          <a:xfrm>
            <a:off x="1112420" y="1366612"/>
            <a:ext cx="7296943" cy="3244717"/>
          </a:xfrm>
          <a:prstGeom prst="rect">
            <a:avLst/>
          </a:prstGeom>
          <a:noFill/>
        </p:spPr>
      </p:pic>
      <p:sp>
        <p:nvSpPr>
          <p:cNvPr id="7" name="Content Placeholder 2">
            <a:extLst>
              <a:ext uri="{FF2B5EF4-FFF2-40B4-BE49-F238E27FC236}">
                <a16:creationId xmlns:a16="http://schemas.microsoft.com/office/drawing/2014/main" id="{9D0BC38F-4465-46FE-8712-B9D49BD8A377}"/>
              </a:ext>
            </a:extLst>
          </p:cNvPr>
          <p:cNvSpPr txBox="1">
            <a:spLocks/>
          </p:cNvSpPr>
          <p:nvPr/>
        </p:nvSpPr>
        <p:spPr>
          <a:xfrm>
            <a:off x="585925" y="4967749"/>
            <a:ext cx="8458200" cy="12954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Calibri" panose="020F0502020204030204" pitchFamily="34" charset="0"/>
              <a:buNone/>
            </a:pPr>
            <a:r>
              <a:rPr lang="en-US" dirty="0">
                <a:sym typeface="Wingdings" pitchFamily="2" charset="2"/>
              </a:rPr>
              <a:t> </a:t>
            </a:r>
            <a:r>
              <a:rPr lang="en-US" dirty="0" err="1"/>
              <a:t>2000s</a:t>
            </a:r>
            <a:r>
              <a:rPr lang="en-US" dirty="0"/>
              <a:t>-now: NoSQL , </a:t>
            </a:r>
            <a:r>
              <a:rPr lang="en-US" dirty="0" err="1"/>
              <a:t>newSQL</a:t>
            </a:r>
            <a:endParaRPr lang="en-US" dirty="0"/>
          </a:p>
        </p:txBody>
      </p:sp>
    </p:spTree>
    <p:extLst>
      <p:ext uri="{BB962C8B-B14F-4D97-AF65-F5344CB8AC3E}">
        <p14:creationId xmlns:p14="http://schemas.microsoft.com/office/powerpoint/2010/main" val="3696031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Smaller and Smaller Systems</a:t>
            </a:r>
          </a:p>
          <a:p>
            <a:pPr lvl="1">
              <a:buFont typeface="Wingdings" panose="05000000000000000000" pitchFamily="2" charset="2"/>
              <a:buChar char="§"/>
            </a:pPr>
            <a:r>
              <a:rPr lang="en-US" dirty="0"/>
              <a:t>Originally, </a:t>
            </a:r>
            <a:r>
              <a:rPr lang="en-US" dirty="0" err="1"/>
              <a:t>DBMS’s</a:t>
            </a:r>
            <a:r>
              <a:rPr lang="en-US" dirty="0"/>
              <a:t> were large, expensive software running on large computers</a:t>
            </a:r>
          </a:p>
          <a:p>
            <a:pPr lvl="1">
              <a:buFont typeface="Wingdings" panose="05000000000000000000" pitchFamily="2" charset="2"/>
              <a:buChar char="§"/>
            </a:pPr>
            <a:r>
              <a:rPr lang="en-US" dirty="0"/>
              <a:t>Today, DBMS can run on PC, Mobile, …</a:t>
            </a:r>
          </a:p>
          <a:p>
            <a:pPr lvl="1">
              <a:buNone/>
            </a:pPr>
            <a:r>
              <a:rPr lang="en-US" dirty="0">
                <a:sym typeface="Symbol"/>
              </a:rPr>
              <a:t>DB systems based on the relational model are available for even very small machines</a:t>
            </a:r>
          </a:p>
          <a:p>
            <a:r>
              <a:rPr lang="en-US" b="1" dirty="0">
                <a:sym typeface="Symbol"/>
              </a:rPr>
              <a:t>Bigger and Bigger Systems</a:t>
            </a:r>
          </a:p>
          <a:p>
            <a:pPr lvl="1">
              <a:buFont typeface="Wingdings" panose="05000000000000000000" pitchFamily="2" charset="2"/>
              <a:buChar char="§"/>
            </a:pPr>
            <a:r>
              <a:rPr lang="en-US" dirty="0">
                <a:sym typeface="Symbol"/>
              </a:rPr>
              <a:t>Size of data has been increasingly continuously</a:t>
            </a:r>
          </a:p>
          <a:p>
            <a:pPr lvl="1">
              <a:buFont typeface="Wingdings" panose="05000000000000000000" pitchFamily="2" charset="2"/>
              <a:buChar char="§"/>
            </a:pPr>
            <a:r>
              <a:rPr lang="en-US" dirty="0">
                <a:sym typeface="Symbol"/>
              </a:rPr>
              <a:t>Many databases store </a:t>
            </a:r>
            <a:r>
              <a:rPr lang="en-US" dirty="0" err="1">
                <a:sym typeface="Symbol"/>
              </a:rPr>
              <a:t>petabytes</a:t>
            </a:r>
            <a:r>
              <a:rPr lang="en-US" dirty="0">
                <a:sym typeface="Symbol"/>
              </a:rPr>
              <a:t> and serve it all to users</a:t>
            </a:r>
          </a:p>
        </p:txBody>
      </p:sp>
      <p:sp>
        <p:nvSpPr>
          <p:cNvPr id="4" name="Title 3"/>
          <p:cNvSpPr>
            <a:spLocks noGrp="1"/>
          </p:cNvSpPr>
          <p:nvPr>
            <p:ph type="title"/>
          </p:nvPr>
        </p:nvSpPr>
        <p:spPr/>
        <p:txBody>
          <a:bodyPr>
            <a:normAutofit/>
          </a:bodyPr>
          <a:lstStyle/>
          <a:p>
            <a:pPr algn="ctr"/>
            <a:r>
              <a:rPr lang="en-US" dirty="0"/>
              <a:t>1.1 The Evolution of Database systems</a:t>
            </a:r>
          </a:p>
        </p:txBody>
      </p:sp>
      <p:sp>
        <p:nvSpPr>
          <p:cNvPr id="2" name="Footer Placeholder 1">
            <a:extLst>
              <a:ext uri="{FF2B5EF4-FFF2-40B4-BE49-F238E27FC236}">
                <a16:creationId xmlns:a16="http://schemas.microsoft.com/office/drawing/2014/main" id="{F41AF0FA-4F73-421B-9A2F-A767E8071C7C}"/>
              </a:ext>
            </a:extLst>
          </p:cNvPr>
          <p:cNvSpPr>
            <a:spLocks noGrp="1"/>
          </p:cNvSpPr>
          <p:nvPr>
            <p:ph type="ftr" sz="quarter" idx="11"/>
          </p:nvPr>
        </p:nvSpPr>
        <p:spPr/>
        <p:txBody>
          <a:bodyPr/>
          <a:lstStyle/>
          <a:p>
            <a:r>
              <a:rPr lang="en-US"/>
              <a:t>Phan Thi Ha</a:t>
            </a:r>
            <a:endParaRPr lang="vi-V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Information Integration</a:t>
            </a:r>
          </a:p>
          <a:p>
            <a:pPr lvl="1">
              <a:buFont typeface="Wingdings" panose="05000000000000000000" pitchFamily="2" charset="2"/>
              <a:buChar char="§"/>
            </a:pPr>
            <a:r>
              <a:rPr lang="en-US" dirty="0"/>
              <a:t>Join the information contained in many related databases into a whole</a:t>
            </a:r>
          </a:p>
          <a:p>
            <a:pPr lvl="2">
              <a:buFont typeface="Wingdings" panose="05000000000000000000" pitchFamily="2" charset="2"/>
              <a:buChar char="§"/>
            </a:pPr>
            <a:r>
              <a:rPr lang="en-US" dirty="0"/>
              <a:t>Example: a large company has many divisions, each division have built its own database of products and employees on different </a:t>
            </a:r>
            <a:r>
              <a:rPr lang="en-US" dirty="0" err="1"/>
              <a:t>DBMS’s</a:t>
            </a:r>
            <a:r>
              <a:rPr lang="en-US" dirty="0"/>
              <a:t> and different structures</a:t>
            </a:r>
          </a:p>
          <a:p>
            <a:pPr lvl="2">
              <a:buFont typeface="Wingdings" panose="05000000000000000000" pitchFamily="2" charset="2"/>
              <a:buChar char="§"/>
            </a:pPr>
            <a:r>
              <a:rPr lang="en-US" dirty="0"/>
              <a:t>How we join these databases without any matters</a:t>
            </a:r>
          </a:p>
          <a:p>
            <a:pPr lvl="1">
              <a:buFont typeface="Wingdings" panose="05000000000000000000" pitchFamily="2" charset="2"/>
              <a:buChar char="§"/>
            </a:pPr>
            <a:r>
              <a:rPr lang="en-US" dirty="0"/>
              <a:t>Need to build structures on top of existing databases, with the goal of integrating the information distributed among them</a:t>
            </a:r>
          </a:p>
        </p:txBody>
      </p:sp>
      <p:sp>
        <p:nvSpPr>
          <p:cNvPr id="4" name="Title 3"/>
          <p:cNvSpPr>
            <a:spLocks noGrp="1"/>
          </p:cNvSpPr>
          <p:nvPr>
            <p:ph type="title"/>
          </p:nvPr>
        </p:nvSpPr>
        <p:spPr/>
        <p:txBody>
          <a:bodyPr>
            <a:normAutofit/>
          </a:bodyPr>
          <a:lstStyle/>
          <a:p>
            <a:pPr algn="ctr"/>
            <a:r>
              <a:rPr lang="en-US" dirty="0"/>
              <a:t>1.1 The Evolution of Database systems</a:t>
            </a:r>
          </a:p>
        </p:txBody>
      </p:sp>
      <p:sp>
        <p:nvSpPr>
          <p:cNvPr id="2" name="Footer Placeholder 1">
            <a:extLst>
              <a:ext uri="{FF2B5EF4-FFF2-40B4-BE49-F238E27FC236}">
                <a16:creationId xmlns:a16="http://schemas.microsoft.com/office/drawing/2014/main" id="{FD12131F-A2E1-4C3F-B56C-50598966ED63}"/>
              </a:ext>
            </a:extLst>
          </p:cNvPr>
          <p:cNvSpPr>
            <a:spLocks noGrp="1"/>
          </p:cNvSpPr>
          <p:nvPr>
            <p:ph type="ftr" sz="quarter" idx="11"/>
          </p:nvPr>
        </p:nvSpPr>
        <p:spPr/>
        <p:txBody>
          <a:bodyPr/>
          <a:lstStyle/>
          <a:p>
            <a:r>
              <a:rPr lang="en-US"/>
              <a:t>Phan Thi Ha</a:t>
            </a:r>
            <a:endParaRPr lang="vi-V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Information Integration (</a:t>
            </a:r>
            <a:r>
              <a:rPr lang="en-US" b="1" dirty="0" err="1"/>
              <a:t>con’t</a:t>
            </a:r>
            <a:r>
              <a:rPr lang="en-US" b="1" dirty="0"/>
              <a:t>.)</a:t>
            </a:r>
          </a:p>
          <a:p>
            <a:pPr lvl="1"/>
            <a:r>
              <a:rPr lang="en-US" dirty="0"/>
              <a:t>Two popular approaches</a:t>
            </a:r>
          </a:p>
          <a:p>
            <a:pPr lvl="2">
              <a:buFont typeface="Wingdings" panose="05000000000000000000" pitchFamily="2" charset="2"/>
              <a:buChar char="§"/>
            </a:pPr>
            <a:r>
              <a:rPr lang="en-US" dirty="0"/>
              <a:t>Creation of </a:t>
            </a:r>
            <a:r>
              <a:rPr lang="en-US" b="1" dirty="0">
                <a:solidFill>
                  <a:srgbClr val="FF0000"/>
                </a:solidFill>
              </a:rPr>
              <a:t>data warehouses</a:t>
            </a:r>
            <a:r>
              <a:rPr lang="en-US" dirty="0"/>
              <a:t>, where information from many databases is copied periodically, with the appropriate translation, to a central database</a:t>
            </a:r>
          </a:p>
          <a:p>
            <a:pPr lvl="2">
              <a:buFont typeface="Wingdings" panose="05000000000000000000" pitchFamily="2" charset="2"/>
              <a:buChar char="§"/>
            </a:pPr>
            <a:r>
              <a:rPr lang="en-US" dirty="0"/>
              <a:t>Implementation of a middleware (mediator) that support an integrated model of the data of the various databases, while translating between this model and the actual models used by each database</a:t>
            </a:r>
          </a:p>
        </p:txBody>
      </p:sp>
      <p:sp>
        <p:nvSpPr>
          <p:cNvPr id="4" name="Title 3"/>
          <p:cNvSpPr>
            <a:spLocks noGrp="1"/>
          </p:cNvSpPr>
          <p:nvPr>
            <p:ph type="title"/>
          </p:nvPr>
        </p:nvSpPr>
        <p:spPr/>
        <p:txBody>
          <a:bodyPr>
            <a:normAutofit/>
          </a:bodyPr>
          <a:lstStyle/>
          <a:p>
            <a:pPr algn="ctr"/>
            <a:r>
              <a:rPr lang="en-US" dirty="0"/>
              <a:t>1.1 The Evolution of Database systems</a:t>
            </a:r>
          </a:p>
        </p:txBody>
      </p:sp>
      <p:sp>
        <p:nvSpPr>
          <p:cNvPr id="2" name="Footer Placeholder 1">
            <a:extLst>
              <a:ext uri="{FF2B5EF4-FFF2-40B4-BE49-F238E27FC236}">
                <a16:creationId xmlns:a16="http://schemas.microsoft.com/office/drawing/2014/main" id="{EC2A611F-8FA0-429F-BDA8-E25A78D9E525}"/>
              </a:ext>
            </a:extLst>
          </p:cNvPr>
          <p:cNvSpPr>
            <a:spLocks noGrp="1"/>
          </p:cNvSpPr>
          <p:nvPr>
            <p:ph type="ftr" sz="quarter" idx="11"/>
          </p:nvPr>
        </p:nvSpPr>
        <p:spPr/>
        <p:txBody>
          <a:bodyPr/>
          <a:lstStyle/>
          <a:p>
            <a:r>
              <a:rPr lang="en-US"/>
              <a:t>Phan Thi Ha</a:t>
            </a:r>
            <a:endParaRPr lang="vi-V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Database Management System</a:t>
            </a:r>
          </a:p>
          <a:p>
            <a:endParaRPr lang="en-US" b="1" dirty="0"/>
          </a:p>
          <a:p>
            <a:pPr lvl="1">
              <a:buFont typeface="Wingdings" panose="05000000000000000000" pitchFamily="2" charset="2"/>
              <a:buChar char="§"/>
            </a:pPr>
            <a:r>
              <a:rPr lang="en-US" dirty="0"/>
              <a:t>DBMS components</a:t>
            </a:r>
          </a:p>
          <a:p>
            <a:pPr lvl="1">
              <a:buFont typeface="Wingdings" panose="05000000000000000000" pitchFamily="2" charset="2"/>
              <a:buChar char="§"/>
            </a:pPr>
            <a:r>
              <a:rPr lang="en-US" dirty="0"/>
              <a:t>Database Users</a:t>
            </a:r>
          </a:p>
          <a:p>
            <a:pPr lvl="1">
              <a:buFont typeface="Wingdings" panose="05000000000000000000" pitchFamily="2" charset="2"/>
              <a:buChar char="§"/>
            </a:pPr>
            <a:r>
              <a:rPr lang="en-US" dirty="0"/>
              <a:t>Database language</a:t>
            </a:r>
          </a:p>
          <a:p>
            <a:pPr lvl="1">
              <a:buFont typeface="Wingdings" panose="05000000000000000000" pitchFamily="2" charset="2"/>
              <a:buChar char="§"/>
            </a:pPr>
            <a:r>
              <a:rPr lang="en-US" dirty="0"/>
              <a:t>Relational databases</a:t>
            </a:r>
          </a:p>
        </p:txBody>
      </p:sp>
      <p:sp>
        <p:nvSpPr>
          <p:cNvPr id="3" name="Title 2"/>
          <p:cNvSpPr>
            <a:spLocks noGrp="1"/>
          </p:cNvSpPr>
          <p:nvPr>
            <p:ph type="title"/>
          </p:nvPr>
        </p:nvSpPr>
        <p:spPr/>
        <p:txBody>
          <a:bodyPr/>
          <a:lstStyle/>
          <a:p>
            <a:pPr algn="ctr"/>
            <a:r>
              <a:rPr lang="en-US" dirty="0"/>
              <a:t>1.2 Overview of DBMS</a:t>
            </a:r>
          </a:p>
        </p:txBody>
      </p:sp>
      <p:sp>
        <p:nvSpPr>
          <p:cNvPr id="4" name="Footer Placeholder 3">
            <a:extLst>
              <a:ext uri="{FF2B5EF4-FFF2-40B4-BE49-F238E27FC236}">
                <a16:creationId xmlns:a16="http://schemas.microsoft.com/office/drawing/2014/main" id="{828146B5-99AB-4A8F-BEF7-45D6F7B6CCA9}"/>
              </a:ext>
            </a:extLst>
          </p:cNvPr>
          <p:cNvSpPr>
            <a:spLocks noGrp="1"/>
          </p:cNvSpPr>
          <p:nvPr>
            <p:ph type="ftr" sz="quarter" idx="11"/>
          </p:nvPr>
        </p:nvSpPr>
        <p:spPr/>
        <p:txBody>
          <a:bodyPr/>
          <a:lstStyle/>
          <a:p>
            <a:r>
              <a:rPr lang="en-US"/>
              <a:t>Phan Thi Ha</a:t>
            </a:r>
            <a:endParaRPr lang="vi-V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317991"/>
            <a:ext cx="4191000" cy="5082809"/>
          </a:xfrm>
        </p:spPr>
        <p:txBody>
          <a:bodyPr>
            <a:normAutofit/>
          </a:bodyPr>
          <a:lstStyle/>
          <a:p>
            <a:r>
              <a:rPr lang="en-US" b="1" dirty="0"/>
              <a:t>DBMS components</a:t>
            </a:r>
          </a:p>
          <a:p>
            <a:endParaRPr lang="en-US" dirty="0"/>
          </a:p>
          <a:p>
            <a:pPr lvl="1">
              <a:buFont typeface="Wingdings" panose="05000000000000000000" pitchFamily="2" charset="2"/>
              <a:buChar char="§"/>
            </a:pPr>
            <a:r>
              <a:rPr lang="en-US" dirty="0"/>
              <a:t>Single box: system component</a:t>
            </a:r>
          </a:p>
          <a:p>
            <a:pPr lvl="1">
              <a:buFont typeface="Wingdings" panose="05000000000000000000" pitchFamily="2" charset="2"/>
              <a:buChar char="§"/>
            </a:pPr>
            <a:r>
              <a:rPr lang="en-US" dirty="0"/>
              <a:t>Double box: memory data structure</a:t>
            </a:r>
          </a:p>
          <a:p>
            <a:pPr lvl="1">
              <a:buFont typeface="Wingdings" panose="05000000000000000000" pitchFamily="2" charset="2"/>
              <a:buChar char="§"/>
            </a:pPr>
            <a:r>
              <a:rPr lang="en-US" dirty="0"/>
              <a:t>Solid line: control &amp; data flow</a:t>
            </a:r>
          </a:p>
          <a:p>
            <a:pPr lvl="1">
              <a:buFont typeface="Wingdings" panose="05000000000000000000" pitchFamily="2" charset="2"/>
              <a:buChar char="§"/>
            </a:pPr>
            <a:r>
              <a:rPr lang="en-US" dirty="0"/>
              <a:t>Dashed line: data flow only</a:t>
            </a:r>
          </a:p>
        </p:txBody>
      </p:sp>
      <p:sp>
        <p:nvSpPr>
          <p:cNvPr id="3" name="Title 2"/>
          <p:cNvSpPr>
            <a:spLocks noGrp="1"/>
          </p:cNvSpPr>
          <p:nvPr>
            <p:ph type="title"/>
          </p:nvPr>
        </p:nvSpPr>
        <p:spPr/>
        <p:txBody>
          <a:bodyPr/>
          <a:lstStyle/>
          <a:p>
            <a:pPr algn="ctr"/>
            <a:r>
              <a:rPr lang="en-US" dirty="0"/>
              <a:t>1.2 Overview of DBMS</a:t>
            </a:r>
          </a:p>
        </p:txBody>
      </p:sp>
      <p:pic>
        <p:nvPicPr>
          <p:cNvPr id="4" name="Picture 4"/>
          <p:cNvPicPr>
            <a:picLocks noChangeAspect="1" noChangeArrowheads="1"/>
          </p:cNvPicPr>
          <p:nvPr/>
        </p:nvPicPr>
        <p:blipFill>
          <a:blip r:embed="rId2" cstate="print"/>
          <a:srcRect/>
          <a:stretch>
            <a:fillRect/>
          </a:stretch>
        </p:blipFill>
        <p:spPr bwMode="auto">
          <a:xfrm>
            <a:off x="4724400" y="1371600"/>
            <a:ext cx="4248150" cy="4953000"/>
          </a:xfrm>
          <a:prstGeom prst="rect">
            <a:avLst/>
          </a:prstGeom>
          <a:noFill/>
        </p:spPr>
      </p:pic>
      <p:sp>
        <p:nvSpPr>
          <p:cNvPr id="5" name="Footer Placeholder 4">
            <a:extLst>
              <a:ext uri="{FF2B5EF4-FFF2-40B4-BE49-F238E27FC236}">
                <a16:creationId xmlns:a16="http://schemas.microsoft.com/office/drawing/2014/main" id="{7554F79C-8D3F-464C-9F60-2C63BB310FB8}"/>
              </a:ext>
            </a:extLst>
          </p:cNvPr>
          <p:cNvSpPr>
            <a:spLocks noGrp="1"/>
          </p:cNvSpPr>
          <p:nvPr>
            <p:ph type="ftr" sz="quarter" idx="11"/>
          </p:nvPr>
        </p:nvSpPr>
        <p:spPr/>
        <p:txBody>
          <a:bodyPr/>
          <a:lstStyle/>
          <a:p>
            <a:r>
              <a:rPr lang="en-US"/>
              <a:t>Phan Thi Ha</a:t>
            </a:r>
            <a:endParaRPr lang="vi-V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5925" y="1101213"/>
            <a:ext cx="7936637" cy="4971114"/>
          </a:xfrm>
        </p:spPr>
        <p:txBody>
          <a:bodyPr>
            <a:normAutofit/>
          </a:bodyPr>
          <a:lstStyle/>
          <a:p>
            <a:r>
              <a:rPr lang="en-US" b="1" dirty="0"/>
              <a:t>Database Users</a:t>
            </a:r>
          </a:p>
          <a:p>
            <a:pPr lvl="1">
              <a:buFont typeface="Wingdings" panose="05000000000000000000" pitchFamily="2" charset="2"/>
              <a:buChar char="§"/>
            </a:pPr>
            <a:r>
              <a:rPr lang="en-US" b="1" dirty="0">
                <a:solidFill>
                  <a:srgbClr val="FF0000"/>
                </a:solidFill>
              </a:rPr>
              <a:t>Database Administrators</a:t>
            </a:r>
            <a:r>
              <a:rPr lang="en-US" dirty="0"/>
              <a:t>, authorize access to database, coordinate, monitor its use, acquiring software, and hardware resources, …</a:t>
            </a:r>
          </a:p>
          <a:p>
            <a:pPr lvl="1">
              <a:buFont typeface="Wingdings" panose="05000000000000000000" pitchFamily="2" charset="2"/>
              <a:buChar char="§"/>
            </a:pPr>
            <a:r>
              <a:rPr lang="en-US" b="1" dirty="0">
                <a:solidFill>
                  <a:srgbClr val="FF0000"/>
                </a:solidFill>
              </a:rPr>
              <a:t>Database Designers</a:t>
            </a:r>
            <a:r>
              <a:rPr lang="en-US" dirty="0"/>
              <a:t>, define the content, the structure, the constraints, and functions or transactions against the database</a:t>
            </a:r>
          </a:p>
          <a:p>
            <a:pPr lvl="1">
              <a:buFont typeface="Wingdings" panose="05000000000000000000" pitchFamily="2" charset="2"/>
              <a:buChar char="§"/>
            </a:pPr>
            <a:r>
              <a:rPr lang="en-US" b="1" dirty="0">
                <a:solidFill>
                  <a:srgbClr val="FF0000"/>
                </a:solidFill>
              </a:rPr>
              <a:t>Database End users</a:t>
            </a:r>
            <a:r>
              <a:rPr lang="en-US" dirty="0"/>
              <a:t>, use data for queries, reports and some of them actually update the database content</a:t>
            </a:r>
          </a:p>
          <a:p>
            <a:pPr lvl="1"/>
            <a:endParaRPr lang="en-US" dirty="0"/>
          </a:p>
        </p:txBody>
      </p:sp>
      <p:sp>
        <p:nvSpPr>
          <p:cNvPr id="4" name="Title 3"/>
          <p:cNvSpPr>
            <a:spLocks noGrp="1"/>
          </p:cNvSpPr>
          <p:nvPr>
            <p:ph type="title"/>
          </p:nvPr>
        </p:nvSpPr>
        <p:spPr/>
        <p:txBody>
          <a:bodyPr/>
          <a:lstStyle/>
          <a:p>
            <a:pPr algn="ctr"/>
            <a:r>
              <a:rPr lang="en-US" dirty="0"/>
              <a:t>1.2 Overview of DBMS</a:t>
            </a:r>
          </a:p>
        </p:txBody>
      </p:sp>
      <p:sp>
        <p:nvSpPr>
          <p:cNvPr id="2" name="Footer Placeholder 1">
            <a:extLst>
              <a:ext uri="{FF2B5EF4-FFF2-40B4-BE49-F238E27FC236}">
                <a16:creationId xmlns:a16="http://schemas.microsoft.com/office/drawing/2014/main" id="{1EBE2963-5F54-4E20-B998-530AFD5B3099}"/>
              </a:ext>
            </a:extLst>
          </p:cNvPr>
          <p:cNvSpPr>
            <a:spLocks noGrp="1"/>
          </p:cNvSpPr>
          <p:nvPr>
            <p:ph type="ftr" sz="quarter" idx="11"/>
          </p:nvPr>
        </p:nvSpPr>
        <p:spPr/>
        <p:txBody>
          <a:bodyPr/>
          <a:lstStyle/>
          <a:p>
            <a:r>
              <a:rPr lang="en-US"/>
              <a:t>Phan Thi Ha</a:t>
            </a:r>
            <a:endParaRPr lang="vi-V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DDL - Data Definition Language Commands</a:t>
            </a:r>
          </a:p>
          <a:p>
            <a:pPr lvl="1">
              <a:buFont typeface="Wingdings" panose="05000000000000000000" pitchFamily="2" charset="2"/>
              <a:buChar char="§"/>
            </a:pPr>
            <a:r>
              <a:rPr lang="en-US" dirty="0" err="1"/>
              <a:t>DBA</a:t>
            </a:r>
            <a:r>
              <a:rPr lang="en-US" dirty="0"/>
              <a:t> needs special authority to execute schema-altering commands</a:t>
            </a:r>
          </a:p>
          <a:p>
            <a:pPr lvl="1">
              <a:buFont typeface="Wingdings" panose="05000000000000000000" pitchFamily="2" charset="2"/>
              <a:buChar char="§"/>
            </a:pPr>
            <a:r>
              <a:rPr lang="en-US" dirty="0"/>
              <a:t>Schema-altering commands are known as </a:t>
            </a:r>
            <a:r>
              <a:rPr lang="en-US" dirty="0" err="1"/>
              <a:t>DDL</a:t>
            </a:r>
            <a:r>
              <a:rPr lang="en-US" dirty="0"/>
              <a:t> commands, and used for defining data structure</a:t>
            </a:r>
          </a:p>
          <a:p>
            <a:pPr lvl="1">
              <a:buFont typeface="Wingdings" panose="05000000000000000000" pitchFamily="2" charset="2"/>
              <a:buChar char="§"/>
            </a:pPr>
            <a:r>
              <a:rPr lang="en-US" dirty="0"/>
              <a:t>These commands are parsed by a DDL compiler and passed to the execution engine, then goes through the index/file/record manager to alter the metadata (schema information for the database)</a:t>
            </a:r>
          </a:p>
          <a:p>
            <a:pPr lvl="1">
              <a:buFont typeface="Wingdings" panose="05000000000000000000" pitchFamily="2" charset="2"/>
              <a:buChar char="§"/>
            </a:pPr>
            <a:r>
              <a:rPr lang="en-US" dirty="0"/>
              <a:t>Examples: CREATE, ALTER, DROP</a:t>
            </a:r>
          </a:p>
        </p:txBody>
      </p:sp>
      <p:sp>
        <p:nvSpPr>
          <p:cNvPr id="4" name="Title 3"/>
          <p:cNvSpPr>
            <a:spLocks noGrp="1"/>
          </p:cNvSpPr>
          <p:nvPr>
            <p:ph type="title"/>
          </p:nvPr>
        </p:nvSpPr>
        <p:spPr/>
        <p:txBody>
          <a:bodyPr/>
          <a:lstStyle/>
          <a:p>
            <a:pPr algn="ctr"/>
            <a:r>
              <a:rPr lang="en-US" dirty="0"/>
              <a:t>1.2 Overview of DBMS</a:t>
            </a:r>
          </a:p>
        </p:txBody>
      </p:sp>
      <p:sp>
        <p:nvSpPr>
          <p:cNvPr id="2" name="Footer Placeholder 1">
            <a:extLst>
              <a:ext uri="{FF2B5EF4-FFF2-40B4-BE49-F238E27FC236}">
                <a16:creationId xmlns:a16="http://schemas.microsoft.com/office/drawing/2014/main" id="{DCB9757F-883D-42AE-9E4B-6889130A750E}"/>
              </a:ext>
            </a:extLst>
          </p:cNvPr>
          <p:cNvSpPr>
            <a:spLocks noGrp="1"/>
          </p:cNvSpPr>
          <p:nvPr>
            <p:ph type="ftr" sz="quarter" idx="11"/>
          </p:nvPr>
        </p:nvSpPr>
        <p:spPr/>
        <p:txBody>
          <a:bodyPr/>
          <a:lstStyle/>
          <a:p>
            <a:r>
              <a:rPr lang="en-US"/>
              <a:t>Phan Thi Ha</a:t>
            </a:r>
            <a:endParaRPr lang="vi-V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5925" y="1349407"/>
            <a:ext cx="7936637" cy="4923574"/>
          </a:xfrm>
        </p:spPr>
        <p:txBody>
          <a:bodyPr>
            <a:normAutofit/>
          </a:bodyPr>
          <a:lstStyle/>
          <a:p>
            <a:r>
              <a:rPr lang="en-US" b="1" dirty="0"/>
              <a:t>DML - Data Manipulation Language Commands</a:t>
            </a:r>
          </a:p>
          <a:p>
            <a:pPr lvl="1">
              <a:buFont typeface="Wingdings" panose="05000000000000000000" pitchFamily="2" charset="2"/>
              <a:buChar char="§"/>
            </a:pPr>
            <a:r>
              <a:rPr lang="en-US" dirty="0"/>
              <a:t>Are used by computer programs or DB users to retrieve, insert, delete, and update data</a:t>
            </a:r>
          </a:p>
          <a:p>
            <a:pPr lvl="1">
              <a:buFont typeface="Wingdings" panose="05000000000000000000" pitchFamily="2" charset="2"/>
              <a:buChar char="§"/>
            </a:pPr>
            <a:r>
              <a:rPr lang="en-US" dirty="0"/>
              <a:t>Not affect the schema of the database, but affect the content of the database or extract data from database</a:t>
            </a:r>
          </a:p>
          <a:p>
            <a:pPr lvl="1">
              <a:buFont typeface="Wingdings" panose="05000000000000000000" pitchFamily="2" charset="2"/>
              <a:buChar char="§"/>
            </a:pPr>
            <a:r>
              <a:rPr lang="en-US" dirty="0" err="1"/>
              <a:t>DML</a:t>
            </a:r>
            <a:r>
              <a:rPr lang="en-US" dirty="0"/>
              <a:t> has two separate subsystems</a:t>
            </a:r>
          </a:p>
          <a:p>
            <a:pPr lvl="2">
              <a:buFont typeface="Wingdings" panose="05000000000000000000" pitchFamily="2" charset="2"/>
              <a:buChar char="§"/>
            </a:pPr>
            <a:r>
              <a:rPr lang="en-US" dirty="0"/>
              <a:t>Answering the query</a:t>
            </a:r>
          </a:p>
          <a:p>
            <a:pPr lvl="2">
              <a:buFont typeface="Wingdings" panose="05000000000000000000" pitchFamily="2" charset="2"/>
              <a:buChar char="§"/>
            </a:pPr>
            <a:r>
              <a:rPr lang="en-US" dirty="0"/>
              <a:t>Transaction processing</a:t>
            </a:r>
          </a:p>
          <a:p>
            <a:pPr lvl="1"/>
            <a:endParaRPr lang="en-US" dirty="0"/>
          </a:p>
        </p:txBody>
      </p:sp>
      <p:sp>
        <p:nvSpPr>
          <p:cNvPr id="4" name="Title 3"/>
          <p:cNvSpPr>
            <a:spLocks noGrp="1"/>
          </p:cNvSpPr>
          <p:nvPr>
            <p:ph type="title"/>
          </p:nvPr>
        </p:nvSpPr>
        <p:spPr/>
        <p:txBody>
          <a:bodyPr/>
          <a:lstStyle/>
          <a:p>
            <a:pPr algn="ctr"/>
            <a:r>
              <a:rPr lang="en-US" dirty="0"/>
              <a:t>1.2 Overview of DBMS</a:t>
            </a:r>
          </a:p>
        </p:txBody>
      </p:sp>
      <p:sp>
        <p:nvSpPr>
          <p:cNvPr id="2" name="Footer Placeholder 1">
            <a:extLst>
              <a:ext uri="{FF2B5EF4-FFF2-40B4-BE49-F238E27FC236}">
                <a16:creationId xmlns:a16="http://schemas.microsoft.com/office/drawing/2014/main" id="{30216458-7C0F-4083-8406-4B59E3EA74BB}"/>
              </a:ext>
            </a:extLst>
          </p:cNvPr>
          <p:cNvSpPr>
            <a:spLocks noGrp="1"/>
          </p:cNvSpPr>
          <p:nvPr>
            <p:ph type="ftr" sz="quarter" idx="11"/>
          </p:nvPr>
        </p:nvSpPr>
        <p:spPr/>
        <p:txBody>
          <a:bodyPr/>
          <a:lstStyle/>
          <a:p>
            <a:r>
              <a:rPr lang="en-US"/>
              <a:t>Phan Thi Ha</a:t>
            </a:r>
            <a:endParaRPr lang="vi-V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5925" y="1349407"/>
            <a:ext cx="8351598" cy="4923574"/>
          </a:xfrm>
        </p:spPr>
        <p:txBody>
          <a:bodyPr>
            <a:normAutofit/>
          </a:bodyPr>
          <a:lstStyle/>
          <a:p>
            <a:pPr marL="0" indent="0">
              <a:buNone/>
            </a:pPr>
            <a:r>
              <a:rPr lang="en-US" b="1" dirty="0"/>
              <a:t>1. Answering the query</a:t>
            </a:r>
          </a:p>
          <a:p>
            <a:pPr lvl="1">
              <a:buFont typeface="Wingdings" panose="05000000000000000000" pitchFamily="2" charset="2"/>
              <a:buChar char="§"/>
            </a:pPr>
            <a:r>
              <a:rPr lang="en-US" dirty="0"/>
              <a:t>Query is parsed and optimized by the </a:t>
            </a:r>
            <a:r>
              <a:rPr lang="en-US" i="1" dirty="0"/>
              <a:t>query compiler</a:t>
            </a:r>
            <a:r>
              <a:rPr lang="en-US" dirty="0"/>
              <a:t> </a:t>
            </a:r>
            <a:r>
              <a:rPr lang="en-US" dirty="0">
                <a:sym typeface="Wingdings" pitchFamily="2" charset="2"/>
              </a:rPr>
              <a:t>which the result is </a:t>
            </a:r>
            <a:r>
              <a:rPr lang="en-US" i="1" dirty="0">
                <a:sym typeface="Wingdings" pitchFamily="2" charset="2"/>
              </a:rPr>
              <a:t>query plan</a:t>
            </a:r>
          </a:p>
          <a:p>
            <a:pPr lvl="1">
              <a:buFont typeface="Wingdings" panose="05000000000000000000" pitchFamily="2" charset="2"/>
              <a:buChar char="§"/>
            </a:pPr>
            <a:r>
              <a:rPr lang="en-US" i="1" dirty="0"/>
              <a:t>Query plan</a:t>
            </a:r>
            <a:r>
              <a:rPr lang="en-US" dirty="0"/>
              <a:t> is passed to execution engine to execute</a:t>
            </a:r>
          </a:p>
          <a:p>
            <a:pPr marL="0" indent="0">
              <a:buNone/>
            </a:pPr>
            <a:r>
              <a:rPr lang="en-US" b="1" dirty="0"/>
              <a:t>2. Transaction processing (</a:t>
            </a:r>
            <a:r>
              <a:rPr lang="en-US" b="1" dirty="0">
                <a:solidFill>
                  <a:srgbClr val="FF0000"/>
                </a:solidFill>
              </a:rPr>
              <a:t>will be discussed in the next chapters</a:t>
            </a:r>
            <a:r>
              <a:rPr lang="en-US" b="1" dirty="0"/>
              <a:t>)</a:t>
            </a:r>
          </a:p>
          <a:p>
            <a:pPr lvl="1">
              <a:buFont typeface="Wingdings" panose="05000000000000000000" pitchFamily="2" charset="2"/>
              <a:buChar char="§"/>
            </a:pPr>
            <a:r>
              <a:rPr lang="en-US" dirty="0"/>
              <a:t>Transaction is a group of some database operations.</a:t>
            </a:r>
          </a:p>
          <a:p>
            <a:pPr lvl="1">
              <a:buFont typeface="Wingdings" panose="05000000000000000000" pitchFamily="2" charset="2"/>
              <a:buChar char="§"/>
            </a:pPr>
            <a:r>
              <a:rPr lang="en-US" dirty="0"/>
              <a:t>Transaction is processed by </a:t>
            </a:r>
            <a:r>
              <a:rPr lang="en-US" i="1" dirty="0"/>
              <a:t>transaction manager</a:t>
            </a:r>
            <a:r>
              <a:rPr lang="en-US" dirty="0"/>
              <a:t>.</a:t>
            </a:r>
          </a:p>
          <a:p>
            <a:pPr lvl="1"/>
            <a:endParaRPr lang="en-US" dirty="0"/>
          </a:p>
          <a:p>
            <a:pPr lvl="1"/>
            <a:endParaRPr lang="en-US" dirty="0"/>
          </a:p>
        </p:txBody>
      </p:sp>
      <p:sp>
        <p:nvSpPr>
          <p:cNvPr id="4" name="Title 3"/>
          <p:cNvSpPr>
            <a:spLocks noGrp="1"/>
          </p:cNvSpPr>
          <p:nvPr>
            <p:ph type="title"/>
          </p:nvPr>
        </p:nvSpPr>
        <p:spPr/>
        <p:txBody>
          <a:bodyPr/>
          <a:lstStyle/>
          <a:p>
            <a:pPr algn="ctr"/>
            <a:r>
              <a:rPr lang="en-US" dirty="0"/>
              <a:t>1.2 Overview of DBMS</a:t>
            </a:r>
          </a:p>
        </p:txBody>
      </p:sp>
      <p:sp>
        <p:nvSpPr>
          <p:cNvPr id="2" name="Footer Placeholder 1">
            <a:extLst>
              <a:ext uri="{FF2B5EF4-FFF2-40B4-BE49-F238E27FC236}">
                <a16:creationId xmlns:a16="http://schemas.microsoft.com/office/drawing/2014/main" id="{8E14FBBD-6715-4370-88E1-1BD37616D2C9}"/>
              </a:ext>
            </a:extLst>
          </p:cNvPr>
          <p:cNvSpPr>
            <a:spLocks noGrp="1"/>
          </p:cNvSpPr>
          <p:nvPr>
            <p:ph type="ftr" sz="quarter" idx="11"/>
          </p:nvPr>
        </p:nvSpPr>
        <p:spPr/>
        <p:txBody>
          <a:bodyPr/>
          <a:lstStyle/>
          <a:p>
            <a:r>
              <a:rPr lang="en-US"/>
              <a:t>Phan Thi Ha</a:t>
            </a:r>
            <a:endParaRPr lang="vi-V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6E538-4381-4CD8-BFB3-C95D447D8F7A}"/>
              </a:ext>
            </a:extLst>
          </p:cNvPr>
          <p:cNvSpPr>
            <a:spLocks noGrp="1"/>
          </p:cNvSpPr>
          <p:nvPr>
            <p:ph type="title"/>
          </p:nvPr>
        </p:nvSpPr>
        <p:spPr/>
        <p:txBody>
          <a:bodyPr/>
          <a:lstStyle/>
          <a:p>
            <a:pPr algn="ctr"/>
            <a:r>
              <a:rPr lang="en-US" dirty="0"/>
              <a:t>The trends of DB design and DBMS</a:t>
            </a:r>
            <a:endParaRPr lang="vi-VN" dirty="0"/>
          </a:p>
        </p:txBody>
      </p:sp>
      <p:sp>
        <p:nvSpPr>
          <p:cNvPr id="3" name="Content Placeholder 2">
            <a:extLst>
              <a:ext uri="{FF2B5EF4-FFF2-40B4-BE49-F238E27FC236}">
                <a16:creationId xmlns:a16="http://schemas.microsoft.com/office/drawing/2014/main" id="{7EAE7A39-0EA1-4F60-9441-70CD0917C0DB}"/>
              </a:ext>
            </a:extLst>
          </p:cNvPr>
          <p:cNvSpPr>
            <a:spLocks noGrp="1"/>
          </p:cNvSpPr>
          <p:nvPr>
            <p:ph idx="1"/>
          </p:nvPr>
        </p:nvSpPr>
        <p:spPr/>
        <p:txBody>
          <a:bodyPr/>
          <a:lstStyle/>
          <a:p>
            <a:pPr>
              <a:buFont typeface="Wingdings" panose="05000000000000000000" pitchFamily="2" charset="2"/>
              <a:buChar char="§"/>
            </a:pPr>
            <a:r>
              <a:rPr lang="en-US" dirty="0"/>
              <a:t> Non relational databases (NoSQL)</a:t>
            </a:r>
          </a:p>
          <a:p>
            <a:pPr lvl="2">
              <a:buFont typeface="Wingdings" panose="05000000000000000000" pitchFamily="2" charset="2"/>
              <a:buChar char="§"/>
            </a:pPr>
            <a:r>
              <a:rPr lang="en-US" dirty="0"/>
              <a:t>MongoDB</a:t>
            </a:r>
          </a:p>
          <a:p>
            <a:pPr lvl="2">
              <a:buFont typeface="Wingdings" panose="05000000000000000000" pitchFamily="2" charset="2"/>
              <a:buChar char="§"/>
            </a:pPr>
            <a:r>
              <a:rPr lang="en-US" dirty="0"/>
              <a:t>Redis</a:t>
            </a:r>
          </a:p>
          <a:p>
            <a:pPr>
              <a:buFont typeface="Wingdings" panose="05000000000000000000" pitchFamily="2" charset="2"/>
              <a:buChar char="§"/>
            </a:pPr>
            <a:r>
              <a:rPr lang="en-US" dirty="0"/>
              <a:t> Multi-model databases</a:t>
            </a:r>
          </a:p>
          <a:p>
            <a:pPr lvl="2">
              <a:buFont typeface="Wingdings" panose="05000000000000000000" pitchFamily="2" charset="2"/>
              <a:buChar char="§"/>
            </a:pPr>
            <a:r>
              <a:rPr lang="en-US" dirty="0"/>
              <a:t>Oracle database</a:t>
            </a:r>
          </a:p>
          <a:p>
            <a:pPr lvl="2">
              <a:buFont typeface="Wingdings" panose="05000000000000000000" pitchFamily="2" charset="2"/>
              <a:buChar char="§"/>
            </a:pPr>
            <a:r>
              <a:rPr lang="en-US" dirty="0"/>
              <a:t>Arango DB</a:t>
            </a:r>
          </a:p>
          <a:p>
            <a:pPr>
              <a:buFont typeface="Wingdings" panose="05000000000000000000" pitchFamily="2" charset="2"/>
              <a:buChar char="§"/>
            </a:pPr>
            <a:endParaRPr lang="vi-VN" dirty="0"/>
          </a:p>
        </p:txBody>
      </p:sp>
      <p:sp>
        <p:nvSpPr>
          <p:cNvPr id="4" name="Footer Placeholder 3">
            <a:extLst>
              <a:ext uri="{FF2B5EF4-FFF2-40B4-BE49-F238E27FC236}">
                <a16:creationId xmlns:a16="http://schemas.microsoft.com/office/drawing/2014/main" id="{D5E5E2DE-B644-42F1-8387-82277F8D3876}"/>
              </a:ext>
            </a:extLst>
          </p:cNvPr>
          <p:cNvSpPr>
            <a:spLocks noGrp="1"/>
          </p:cNvSpPr>
          <p:nvPr>
            <p:ph type="ftr" sz="quarter" idx="11"/>
          </p:nvPr>
        </p:nvSpPr>
        <p:spPr/>
        <p:txBody>
          <a:bodyPr/>
          <a:lstStyle/>
          <a:p>
            <a:r>
              <a:rPr lang="en-US"/>
              <a:t>Phan Thi Ha</a:t>
            </a:r>
            <a:endParaRPr lang="vi-VN"/>
          </a:p>
        </p:txBody>
      </p:sp>
    </p:spTree>
    <p:extLst>
      <p:ext uri="{BB962C8B-B14F-4D97-AF65-F5344CB8AC3E}">
        <p14:creationId xmlns:p14="http://schemas.microsoft.com/office/powerpoint/2010/main" val="306557583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116</TotalTime>
  <Words>1519</Words>
  <Application>Microsoft Office PowerPoint</Application>
  <PresentationFormat>On-screen Show (4:3)</PresentationFormat>
  <Paragraphs>207</Paragraphs>
  <Slides>21</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Symbol</vt:lpstr>
      <vt:lpstr>Times New Roman</vt:lpstr>
      <vt:lpstr>Wingdings</vt:lpstr>
      <vt:lpstr>Wingdings 2</vt:lpstr>
      <vt:lpstr>Retrospect</vt:lpstr>
      <vt:lpstr>Chapter 1  The Worlds of Database Systems  </vt:lpstr>
      <vt:lpstr>Objectives</vt:lpstr>
      <vt:lpstr>Contents</vt:lpstr>
      <vt:lpstr>1.1 The Evolution of Database Systems </vt:lpstr>
      <vt:lpstr>1.1 The Evolution of Database Systems</vt:lpstr>
      <vt:lpstr>1.1 The Evolution of Database Systems</vt:lpstr>
      <vt:lpstr>1.1 The Evolution of Database Systems</vt:lpstr>
      <vt:lpstr>1.1 The Evolution of Database Systems</vt:lpstr>
      <vt:lpstr>1.1 The Evolution of Database Systems</vt:lpstr>
      <vt:lpstr>1.1 The Evolution of Database Systems</vt:lpstr>
      <vt:lpstr>1.1 The Evolution of Database Systems</vt:lpstr>
      <vt:lpstr>1.1 The Evolution of Database systems</vt:lpstr>
      <vt:lpstr>1.1 The Evolution of Database systems</vt:lpstr>
      <vt:lpstr>1.1 The Evolution of Database systems</vt:lpstr>
      <vt:lpstr>1.2 Overview of DBMS</vt:lpstr>
      <vt:lpstr>1.2 Overview of DBMS</vt:lpstr>
      <vt:lpstr>1.2 Overview of DBMS</vt:lpstr>
      <vt:lpstr>1.2 Overview of DBMS</vt:lpstr>
      <vt:lpstr>1.2 Overview of DBMS</vt:lpstr>
      <vt:lpstr>1.2 Overview of DBMS</vt:lpstr>
      <vt:lpstr>The trends of DB design and DBMS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Admin</cp:lastModifiedBy>
  <cp:revision>67</cp:revision>
  <dcterms:created xsi:type="dcterms:W3CDTF">2020-12-02T06:50:22Z</dcterms:created>
  <dcterms:modified xsi:type="dcterms:W3CDTF">2025-03-06T01:06:25Z</dcterms:modified>
</cp:coreProperties>
</file>