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3"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5143500" type="screen16x9"/>
  <p:notesSz cx="6858000" cy="9144000"/>
  <p:embeddedFontLst>
    <p:embeddedFont>
      <p:font typeface="Georgia" panose="02040502050405020303" pitchFamily="18" charset="0"/>
      <p:regular r:id="rId56"/>
      <p:bold r:id="rId57"/>
      <p:italic r:id="rId58"/>
      <p:boldItalic r:id="rId59"/>
    </p:embeddedFont>
    <p:embeddedFont>
      <p:font typeface="Raleway" pitchFamily="2" charset="0"/>
      <p:regular r:id="rId60"/>
      <p:bold r:id="rId61"/>
      <p:italic r:id="rId62"/>
      <p:boldItalic r:id="rId63"/>
    </p:embeddedFont>
    <p:embeddedFont>
      <p:font typeface="Roboto" panose="02000000000000000000" pitchFamily="2" charset="0"/>
      <p:regular r:id="rId64"/>
      <p:bold r:id="rId65"/>
      <p:italic r:id="rId66"/>
      <p:boldItalic r:id="rId67"/>
    </p:embeddedFont>
    <p:embeddedFont>
      <p:font typeface="Roboto Mono" panose="00000009000000000000" pitchFamily="49" charset="0"/>
      <p:regular r:id="rId68"/>
      <p:bold r:id="rId69"/>
      <p:italic r:id="rId70"/>
      <p:boldItalic r:id="rId71"/>
    </p:embeddedFont>
    <p:embeddedFont>
      <p:font typeface="Source Sans Pro" panose="020B0503030403020204" pitchFamily="34" charset="0"/>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454" autoAdjust="0"/>
  </p:normalViewPr>
  <p:slideViewPr>
    <p:cSldViewPr snapToGrid="0">
      <p:cViewPr varScale="1">
        <p:scale>
          <a:sx n="96" d="100"/>
          <a:sy n="96" d="100"/>
        </p:scale>
        <p:origin x="824" y="6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68" Type="http://schemas.openxmlformats.org/officeDocument/2006/relationships/font" Target="fonts/font13.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font" Target="fonts/font19.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font" Target="fonts/font18.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16.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f1eedad6d5_0_2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f1eedad6d5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f1eedad6d5_0_2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f1eedad6d5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f1dcfa677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f1dcfa677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f1dcfa677d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f1dcfa677d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f1eedad6d5_0_2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f1eedad6d5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f1dcfa677d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f1dcfa677d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f1eedad6d5_0_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f1eedad6d5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f1dcfa677d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f1dcfa677d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f1eedad6d5_0_2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f1eedad6d5_0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f1eedad6d5_0_2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f1eedad6d5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CA" sz="1300" b="1">
                <a:solidFill>
                  <a:schemeClr val="dk1"/>
                </a:solidFill>
              </a:rPr>
              <a:t>1. Ý nghĩa tổng quát của slide</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Slide này minh họa cách hiểu khái niệm </a:t>
            </a:r>
            <a:r>
              <a:rPr lang="en-CA" b="1">
                <a:solidFill>
                  <a:schemeClr val="dk1"/>
                </a:solidFill>
              </a:rPr>
              <a:t>Internet of Things</a:t>
            </a:r>
            <a:r>
              <a:rPr lang="en-CA">
                <a:solidFill>
                  <a:schemeClr val="dk1"/>
                </a:solidFill>
              </a:rPr>
              <a:t> bằng cách tách cụm từ thành hai phần chính:</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b="1">
                <a:solidFill>
                  <a:schemeClr val="dk1"/>
                </a:solidFill>
              </a:rPr>
              <a:t>Internet</a:t>
            </a:r>
            <a:r>
              <a:rPr lang="en-CA">
                <a:solidFill>
                  <a:schemeClr val="dk1"/>
                </a:solidFill>
              </a:rPr>
              <a:t> → phần "mạng kết nối toàn cầu".</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a:solidFill>
                  <a:schemeClr val="dk1"/>
                </a:solidFill>
              </a:rPr>
              <a:t>Things</a:t>
            </a:r>
            <a:r>
              <a:rPr lang="en-CA">
                <a:solidFill>
                  <a:schemeClr val="dk1"/>
                </a:solidFill>
              </a:rPr>
              <a:t> → các "vật" hay "đối tượng" trong thế giới thực.</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Mục tiêu là giúp sinh viên hình dung IoT thực chất là </a:t>
            </a:r>
            <a:r>
              <a:rPr lang="en-CA" b="1">
                <a:solidFill>
                  <a:schemeClr val="dk1"/>
                </a:solidFill>
              </a:rPr>
              <a:t>sự kết nối giữa Internet và các đối tượng vật lý</a:t>
            </a:r>
            <a:r>
              <a:rPr lang="en-CA">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CA" sz="1300" b="1">
                <a:solidFill>
                  <a:schemeClr val="dk1"/>
                </a:solidFill>
              </a:rPr>
              <a:t>2. Giải thích chi tiết</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b="1">
                <a:solidFill>
                  <a:schemeClr val="dk1"/>
                </a:solidFill>
              </a:rPr>
              <a:t>Internet? (Mũi tên đỏ)</a:t>
            </a:r>
            <a:br>
              <a:rPr lang="en-CA" b="1">
                <a:solidFill>
                  <a:schemeClr val="dk1"/>
                </a:solidFill>
              </a:rPr>
            </a:br>
            <a:r>
              <a:rPr lang="en-CA">
                <a:solidFill>
                  <a:schemeClr val="dk1"/>
                </a:solidFill>
              </a:rPr>
              <a:t> Internet chính là </a:t>
            </a:r>
            <a:r>
              <a:rPr lang="en-CA" b="1">
                <a:solidFill>
                  <a:schemeClr val="dk1"/>
                </a:solidFill>
              </a:rPr>
              <a:t>hạ tầng kết nối</a:t>
            </a:r>
            <a:r>
              <a:rPr lang="en-CA">
                <a:solidFill>
                  <a:schemeClr val="dk1"/>
                </a:solidFill>
              </a:rPr>
              <a:t>. Nó cung cấp:</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Mạng truyền thông toàn cầu (các giao thức TCP/IP, HTTP, MQTT, CoAP…).</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Khả năng cho phép thiết bị ở bất cứ đâu </a:t>
            </a:r>
            <a:r>
              <a:rPr lang="en-CA" b="1">
                <a:solidFill>
                  <a:schemeClr val="dk1"/>
                </a:solidFill>
              </a:rPr>
              <a:t>truyền/nhận dữ liệu</a:t>
            </a:r>
            <a:r>
              <a:rPr lang="en-CA">
                <a:solidFill>
                  <a:schemeClr val="dk1"/>
                </a:solidFill>
              </a:rPr>
              <a:t> với độ tin cậy.</a:t>
            </a:r>
            <a:br>
              <a:rPr lang="en-CA">
                <a:solidFill>
                  <a:schemeClr val="dk1"/>
                </a:solidFill>
              </a:rPr>
            </a:br>
            <a:r>
              <a:rPr lang="en-CA">
                <a:solidFill>
                  <a:schemeClr val="dk1"/>
                </a:solidFill>
              </a:rPr>
              <a:t> → Internet đóng vai trò là </a:t>
            </a:r>
            <a:r>
              <a:rPr lang="en-CA" b="1">
                <a:solidFill>
                  <a:schemeClr val="dk1"/>
                </a:solidFill>
              </a:rPr>
              <a:t>cầu nối</a:t>
            </a:r>
            <a:r>
              <a:rPr lang="en-CA">
                <a:solidFill>
                  <a:schemeClr val="dk1"/>
                </a:solidFill>
              </a:rPr>
              <a:t> để các “Things” có thể liên lạc và chia sẻ thông tin.</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a:solidFill>
                  <a:schemeClr val="dk1"/>
                </a:solidFill>
              </a:rPr>
              <a:t>Things? (Mũi tên xanh)</a:t>
            </a:r>
            <a:br>
              <a:rPr lang="en-CA" b="1">
                <a:solidFill>
                  <a:schemeClr val="dk1"/>
                </a:solidFill>
              </a:rPr>
            </a:br>
            <a:r>
              <a:rPr lang="en-CA">
                <a:solidFill>
                  <a:schemeClr val="dk1"/>
                </a:solidFill>
              </a:rPr>
              <a:t> Things chính là </a:t>
            </a:r>
            <a:r>
              <a:rPr lang="en-CA" b="1">
                <a:solidFill>
                  <a:schemeClr val="dk1"/>
                </a:solidFill>
              </a:rPr>
              <a:t>các đối tượng/vật thể thông minh</a:t>
            </a:r>
            <a:r>
              <a:rPr lang="en-CA">
                <a:solidFill>
                  <a:schemeClr val="dk1"/>
                </a:solidFill>
              </a:rPr>
              <a:t> được gắn thêm cảm biến, bộ vi xử lý, hoặc kết nối mạng. Ví dụ:</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Đèn thông minh, đồng hồ thông minh, cảm biến nhiệt độ, camera, xe tự lái, máy móc công nghiệp.</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“Things” có khả năng </a:t>
            </a:r>
            <a:r>
              <a:rPr lang="en-CA" b="1">
                <a:solidFill>
                  <a:schemeClr val="dk1"/>
                </a:solidFill>
              </a:rPr>
              <a:t>thu thập dữ liệu từ môi trường</a:t>
            </a:r>
            <a:r>
              <a:rPr lang="en-CA">
                <a:solidFill>
                  <a:schemeClr val="dk1"/>
                </a:solidFill>
              </a:rPr>
              <a:t>, </a:t>
            </a:r>
            <a:r>
              <a:rPr lang="en-CA" b="1">
                <a:solidFill>
                  <a:schemeClr val="dk1"/>
                </a:solidFill>
              </a:rPr>
              <a:t>truyền dữ liệu qua Internet</a:t>
            </a:r>
            <a:r>
              <a:rPr lang="en-CA">
                <a:solidFill>
                  <a:schemeClr val="dk1"/>
                </a:solidFill>
              </a:rPr>
              <a:t>, và </a:t>
            </a:r>
            <a:r>
              <a:rPr lang="en-CA" b="1">
                <a:solidFill>
                  <a:schemeClr val="dk1"/>
                </a:solidFill>
              </a:rPr>
              <a:t>tương tác với nhau hoặc với con người</a:t>
            </a:r>
            <a:r>
              <a:rPr lang="en-CA">
                <a:solidFill>
                  <a:schemeClr val="dk1"/>
                </a:solidFill>
              </a:rPr>
              <a:t>.</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CA" sz="1300" b="1">
                <a:solidFill>
                  <a:schemeClr val="dk1"/>
                </a:solidFill>
              </a:rPr>
              <a:t>3. Kết hợp “Internet” và “Things”</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Khi “Internet” (mạng kết nối) kết hợp với “Things” (các đối tượng vật lý), ta có:</a:t>
            </a:r>
            <a:br>
              <a:rPr lang="en-CA">
                <a:solidFill>
                  <a:schemeClr val="dk1"/>
                </a:solidFill>
              </a:rPr>
            </a:br>
            <a:r>
              <a:rPr lang="en-CA">
                <a:solidFill>
                  <a:schemeClr val="dk1"/>
                </a:solidFill>
              </a:rPr>
              <a:t> </a:t>
            </a:r>
            <a:r>
              <a:rPr lang="en-CA" b="1">
                <a:solidFill>
                  <a:schemeClr val="dk1"/>
                </a:solidFill>
              </a:rPr>
              <a:t>Internet of Things = Mạng lưới các đối tượng được kết nối, có khả năng thu thập, trao đổi và xử lý dữ liệu.</a:t>
            </a:r>
            <a:br>
              <a:rPr lang="en-CA" b="1">
                <a:solidFill>
                  <a:schemeClr val="dk1"/>
                </a:solidFill>
              </a:rPr>
            </a:br>
            <a:endParaRPr b="1">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IoT giúp thế giới vật lý (physical world) được số hóa và liên kết với thế giới số (digital world).</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 Như vậy, slide này không chỉ đặt câu hỏi “Internet là gì?” và “Things là gì?” mà còn định hướng cho sinh viên hiểu rằng: </a:t>
            </a:r>
            <a:r>
              <a:rPr lang="en-CA" b="1">
                <a:solidFill>
                  <a:schemeClr val="dk1"/>
                </a:solidFill>
              </a:rPr>
              <a:t>IoT không phải là công nghệ mới hoàn toàn, mà là sự tích hợp của hạ tầng Internet với các đối tượng thông minh trong thực tế.</a:t>
            </a:r>
            <a:endParaRPr b="1">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f1dcfa677d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f1dcfa677d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1400"/>
              </a:spcBef>
              <a:spcAft>
                <a:spcPts val="0"/>
              </a:spcAft>
              <a:buClr>
                <a:schemeClr val="dk1"/>
              </a:buClr>
              <a:buSzPts val="1100"/>
              <a:buFont typeface="Arial"/>
              <a:buNone/>
            </a:pPr>
            <a:r>
              <a:rPr lang="en-CA" sz="1350">
                <a:solidFill>
                  <a:srgbClr val="404040"/>
                </a:solidFill>
                <a:highlight>
                  <a:srgbClr val="FFFFFF"/>
                </a:highlight>
                <a:latin typeface="Roboto"/>
                <a:ea typeface="Roboto"/>
                <a:cs typeface="Roboto"/>
                <a:sym typeface="Roboto"/>
              </a:rPr>
              <a:t>Giải thích Timeline Internet &amp; Tiền đề của IoT</a:t>
            </a:r>
            <a:endParaRPr sz="1350">
              <a:solidFill>
                <a:srgbClr val="404040"/>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404040"/>
              </a:buClr>
              <a:buSzPts val="1200"/>
              <a:buFont typeface="Roboto"/>
              <a:buAutoNum type="arabicPeriod"/>
            </a:pPr>
            <a:r>
              <a:rPr lang="en-CA" sz="1200">
                <a:solidFill>
                  <a:srgbClr val="404040"/>
                </a:solidFill>
                <a:highlight>
                  <a:srgbClr val="FFFFFF"/>
                </a:highlight>
                <a:latin typeface="Roboto"/>
                <a:ea typeface="Roboto"/>
                <a:cs typeface="Roboto"/>
                <a:sym typeface="Roboto"/>
              </a:rPr>
              <a:t>1969: Sự ra đời của Internet</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Mạng ARPANET (tiền thân của Internet) được tạo ra bởi Bộ Quốc phòng Mỹ, kết nối 4 trường đại học đầu tiên → Nền tảng kết nối mạng toàn cầu bắt đầu.</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AutoNum type="arabicPeriod"/>
            </a:pPr>
            <a:r>
              <a:rPr lang="en-CA" sz="1200">
                <a:solidFill>
                  <a:srgbClr val="404040"/>
                </a:solidFill>
                <a:highlight>
                  <a:srgbClr val="FFFFFF"/>
                </a:highlight>
                <a:latin typeface="Roboto"/>
                <a:ea typeface="Roboto"/>
                <a:cs typeface="Roboto"/>
                <a:sym typeface="Roboto"/>
              </a:rPr>
              <a:t>1974: Giao thức TCP/IP được thông qua</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TCP/IP trở thành "ngôn ngữ chung" giúp các thiết bị khác nhau giao tiếp được với nhau → Cơ sở kỹ thuật cho IoT sau này (thiết bị đa dạng cần "hiểu" nhau).</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AutoNum type="arabicPeriod"/>
            </a:pPr>
            <a:r>
              <a:rPr lang="en-CA" sz="1200">
                <a:solidFill>
                  <a:srgbClr val="404040"/>
                </a:solidFill>
                <a:highlight>
                  <a:srgbClr val="FFFFFF"/>
                </a:highlight>
                <a:latin typeface="Roboto"/>
                <a:ea typeface="Roboto"/>
                <a:cs typeface="Roboto"/>
                <a:sym typeface="Roboto"/>
              </a:rPr>
              <a:t>1984: DNS ra đời</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Hệ thống Tên miền (DNS) giúp định danh địa chỉ máy chủ (ví dụ: </a:t>
            </a:r>
            <a:r>
              <a:rPr lang="en-CA" sz="1050">
                <a:solidFill>
                  <a:srgbClr val="404040"/>
                </a:solidFill>
                <a:highlight>
                  <a:srgbClr val="ECECEC"/>
                </a:highlight>
                <a:latin typeface="Roboto Mono"/>
                <a:ea typeface="Roboto Mono"/>
                <a:cs typeface="Roboto Mono"/>
                <a:sym typeface="Roboto Mono"/>
              </a:rPr>
              <a:t>google.com</a:t>
            </a:r>
            <a:r>
              <a:rPr lang="en-CA" sz="1200">
                <a:solidFill>
                  <a:srgbClr val="404040"/>
                </a:solidFill>
                <a:highlight>
                  <a:srgbClr val="FFFFFF"/>
                </a:highlight>
                <a:latin typeface="Roboto"/>
                <a:ea typeface="Roboto"/>
                <a:cs typeface="Roboto"/>
                <a:sym typeface="Roboto"/>
              </a:rPr>
              <a:t> thay vì dãy số IP) → Tạo ra cách quản lý tài nguyên mạng thân thiện, tiền đề cho kết nối thiết bị IoT qua tên miền.</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AutoNum type="arabicPeriod"/>
            </a:pPr>
            <a:r>
              <a:rPr lang="en-CA" sz="1200">
                <a:solidFill>
                  <a:srgbClr val="404040"/>
                </a:solidFill>
                <a:highlight>
                  <a:srgbClr val="FFFFFF"/>
                </a:highlight>
                <a:latin typeface="Roboto"/>
                <a:ea typeface="Roboto"/>
                <a:cs typeface="Roboto"/>
                <a:sym typeface="Roboto"/>
              </a:rPr>
              <a:t>1990: Sự ra đời của World Wide Web (WWW) và HTML</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Tim Berners-Lee phát minh ra Web, biến Internet từ công cụ chuyên ngành thành mạng lưới thông tin toàn cầu trực quan → Mở đường cho ứng dụng web quản lý IoT sau này.</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AutoNum type="arabicPeriod"/>
            </a:pPr>
            <a:r>
              <a:rPr lang="en-CA" sz="1200">
                <a:solidFill>
                  <a:srgbClr val="404040"/>
                </a:solidFill>
                <a:highlight>
                  <a:srgbClr val="FFFFFF"/>
                </a:highlight>
                <a:latin typeface="Roboto"/>
                <a:ea typeface="Roboto"/>
                <a:cs typeface="Roboto"/>
                <a:sym typeface="Roboto"/>
              </a:rPr>
              <a:t>1993: Trình duyệt web đầu tiên (Mosaic)</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Internet trở nên dễ tiếp cận với người dùng phổ thông → Bùng nổ dữ liệu và nhu cầu tương tác thiết bị.</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AutoNum type="arabicPeriod"/>
            </a:pPr>
            <a:r>
              <a:rPr lang="en-CA" sz="1200">
                <a:solidFill>
                  <a:srgbClr val="404040"/>
                </a:solidFill>
                <a:highlight>
                  <a:srgbClr val="FFFFFF"/>
                </a:highlight>
                <a:latin typeface="Roboto"/>
                <a:ea typeface="Roboto"/>
                <a:cs typeface="Roboto"/>
                <a:sym typeface="Roboto"/>
              </a:rPr>
              <a:t>2000: Internet trở thành "Siêu xa lộ thông tin"</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Tốc độ phát triển ứng dụng (thương mại điện tử, MXH...) → Cơ sở hạ tầng mạng đủ mạnh để kết nối vạn vật (điều kiện tiên quyết cho IoT).</a:t>
            </a:r>
            <a:endParaRPr sz="1200">
              <a:solidFill>
                <a:srgbClr val="404040"/>
              </a:solidFill>
              <a:highlight>
                <a:srgbClr val="FFFFFF"/>
              </a:highlight>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endParaRPr sz="1200">
              <a:solidFill>
                <a:srgbClr val="404040"/>
              </a:solidFill>
              <a:highlight>
                <a:srgbClr val="FFFFFF"/>
              </a:highlight>
              <a:latin typeface="Roboto"/>
              <a:ea typeface="Roboto"/>
              <a:cs typeface="Roboto"/>
              <a:sym typeface="Roboto"/>
            </a:endParaRPr>
          </a:p>
          <a:p>
            <a:pPr marL="0" lvl="0" indent="0" algn="l" rtl="0">
              <a:lnSpc>
                <a:spcPct val="150000"/>
              </a:lnSpc>
              <a:spcBef>
                <a:spcPts val="1400"/>
              </a:spcBef>
              <a:spcAft>
                <a:spcPts val="0"/>
              </a:spcAft>
              <a:buClr>
                <a:schemeClr val="dk1"/>
              </a:buClr>
              <a:buSzPts val="1100"/>
              <a:buFont typeface="Arial"/>
              <a:buNone/>
            </a:pPr>
            <a:r>
              <a:rPr lang="en-CA" sz="1350">
                <a:solidFill>
                  <a:srgbClr val="404040"/>
                </a:solidFill>
                <a:highlight>
                  <a:srgbClr val="FFFFFF"/>
                </a:highlight>
                <a:latin typeface="Roboto"/>
                <a:ea typeface="Roboto"/>
                <a:cs typeface="Roboto"/>
                <a:sym typeface="Roboto"/>
              </a:rPr>
              <a:t>Kết nối với IoT</a:t>
            </a:r>
            <a:endParaRPr sz="1350">
              <a:solidFill>
                <a:srgbClr val="404040"/>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IoT kế thừa toàn bộ nền tảng trên:</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Sử dụng TCP/IP để kết nối thiết bị (cảm biến, camera, đồ gia dụng...).</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Dùng DNS để định danh thiết bị thay vì địa chỉ IP phức tạp.</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Web/HTML tạo giao diện quản lý thiết bị IoT từ xa.</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Dữ liệu từ IoT được xử lý trên nền tảng điện toán đám mây (phát triển sau 2000).</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Định nghĩa IoT trong bối cảnh này:</a:t>
            </a:r>
            <a:br>
              <a:rPr lang="en-CA" sz="1200">
                <a:solidFill>
                  <a:srgbClr val="404040"/>
                </a:solidFill>
                <a:highlight>
                  <a:srgbClr val="FFFFFF"/>
                </a:highlight>
                <a:latin typeface="Roboto"/>
                <a:ea typeface="Roboto"/>
                <a:cs typeface="Roboto"/>
                <a:sym typeface="Roboto"/>
              </a:rPr>
            </a:br>
            <a:r>
              <a:rPr lang="en-CA" sz="1200" i="1">
                <a:solidFill>
                  <a:srgbClr val="404040"/>
                </a:solidFill>
                <a:highlight>
                  <a:srgbClr val="FFFFFF"/>
                </a:highlight>
                <a:latin typeface="Roboto"/>
                <a:ea typeface="Roboto"/>
                <a:cs typeface="Roboto"/>
                <a:sym typeface="Roboto"/>
              </a:rPr>
              <a:t>"IoT là sự mở rộng của Internet truyền thống, cho phép kết nối thế giới vật lý (thiết bị, cảm biến) vào mạng lưới để thu thập, chia sẻ và xử lý dữ liệu mà không cần sự can thiệp trực tiếp của con người."</a:t>
            </a:r>
            <a:endParaRPr sz="1200" i="1">
              <a:solidFill>
                <a:srgbClr val="404040"/>
              </a:solidFill>
              <a:highlight>
                <a:srgbClr val="FFFFFF"/>
              </a:highlight>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endParaRPr sz="1200" i="1">
              <a:solidFill>
                <a:srgbClr val="404040"/>
              </a:solidFill>
              <a:highlight>
                <a:srgbClr val="FFFFFF"/>
              </a:highlight>
              <a:latin typeface="Roboto"/>
              <a:ea typeface="Roboto"/>
              <a:cs typeface="Roboto"/>
              <a:sym typeface="Roboto"/>
            </a:endParaRPr>
          </a:p>
          <a:p>
            <a:pPr marL="0" lvl="0" indent="0" algn="l" rtl="0">
              <a:lnSpc>
                <a:spcPct val="150000"/>
              </a:lnSpc>
              <a:spcBef>
                <a:spcPts val="1400"/>
              </a:spcBef>
              <a:spcAft>
                <a:spcPts val="0"/>
              </a:spcAft>
              <a:buClr>
                <a:schemeClr val="dk1"/>
              </a:buClr>
              <a:buSzPts val="1100"/>
              <a:buFont typeface="Arial"/>
              <a:buNone/>
            </a:pPr>
            <a:r>
              <a:rPr lang="en-CA" sz="1350">
                <a:solidFill>
                  <a:srgbClr val="404040"/>
                </a:solidFill>
                <a:highlight>
                  <a:srgbClr val="FFFFFF"/>
                </a:highlight>
                <a:latin typeface="Roboto"/>
                <a:ea typeface="Roboto"/>
                <a:cs typeface="Roboto"/>
                <a:sym typeface="Roboto"/>
              </a:rPr>
              <a:t>Vì sao lịch sử Internet quan trọng với IoT?</a:t>
            </a:r>
            <a:endParaRPr sz="1350">
              <a:solidFill>
                <a:srgbClr val="404040"/>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IoT không thể tồn tại nếu không có:</a:t>
            </a:r>
            <a:br>
              <a:rPr lang="en-CA" sz="1200">
                <a:solidFill>
                  <a:srgbClr val="404040"/>
                </a:solidFill>
                <a:highlight>
                  <a:srgbClr val="FFFFFF"/>
                </a:highlight>
                <a:latin typeface="Roboto"/>
                <a:ea typeface="Roboto"/>
                <a:cs typeface="Roboto"/>
                <a:sym typeface="Roboto"/>
              </a:rPr>
            </a:br>
            <a:r>
              <a:rPr lang="en-CA" sz="1200">
                <a:solidFill>
                  <a:srgbClr val="404040"/>
                </a:solidFill>
                <a:highlight>
                  <a:srgbClr val="FFFFFF"/>
                </a:highlight>
                <a:latin typeface="Roboto"/>
                <a:ea typeface="Roboto"/>
                <a:cs typeface="Roboto"/>
                <a:sym typeface="Roboto"/>
              </a:rPr>
              <a:t>✅ Giao thức TCP/IP (kết nối đa nền tảng)</a:t>
            </a:r>
            <a:br>
              <a:rPr lang="en-CA" sz="1200">
                <a:solidFill>
                  <a:srgbClr val="404040"/>
                </a:solidFill>
                <a:highlight>
                  <a:srgbClr val="FFFFFF"/>
                </a:highlight>
                <a:latin typeface="Roboto"/>
                <a:ea typeface="Roboto"/>
                <a:cs typeface="Roboto"/>
                <a:sym typeface="Roboto"/>
              </a:rPr>
            </a:br>
            <a:r>
              <a:rPr lang="en-CA" sz="1200">
                <a:solidFill>
                  <a:srgbClr val="404040"/>
                </a:solidFill>
                <a:highlight>
                  <a:srgbClr val="FFFFFF"/>
                </a:highlight>
                <a:latin typeface="Roboto"/>
                <a:ea typeface="Roboto"/>
                <a:cs typeface="Roboto"/>
                <a:sym typeface="Roboto"/>
              </a:rPr>
              <a:t>✅ Hạ tầng mạng băng rộng (truyền dữ liệu thời gian thực)</a:t>
            </a:r>
            <a:br>
              <a:rPr lang="en-CA" sz="1200">
                <a:solidFill>
                  <a:srgbClr val="404040"/>
                </a:solidFill>
                <a:highlight>
                  <a:srgbClr val="FFFFFF"/>
                </a:highlight>
                <a:latin typeface="Roboto"/>
                <a:ea typeface="Roboto"/>
                <a:cs typeface="Roboto"/>
                <a:sym typeface="Roboto"/>
              </a:rPr>
            </a:br>
            <a:r>
              <a:rPr lang="en-CA" sz="1200">
                <a:solidFill>
                  <a:srgbClr val="404040"/>
                </a:solidFill>
                <a:highlight>
                  <a:srgbClr val="FFFFFF"/>
                </a:highlight>
                <a:latin typeface="Roboto"/>
                <a:ea typeface="Roboto"/>
                <a:cs typeface="Roboto"/>
                <a:sym typeface="Roboto"/>
              </a:rPr>
              <a:t>✅ Công nghệ web (hiển thị và điều khiển thiết bị)</a:t>
            </a:r>
            <a:br>
              <a:rPr lang="en-CA" sz="1200">
                <a:solidFill>
                  <a:srgbClr val="404040"/>
                </a:solidFill>
                <a:highlight>
                  <a:srgbClr val="FFFFFF"/>
                </a:highlight>
                <a:latin typeface="Roboto"/>
                <a:ea typeface="Roboto"/>
                <a:cs typeface="Roboto"/>
                <a:sym typeface="Roboto"/>
              </a:rPr>
            </a:br>
            <a:r>
              <a:rPr lang="en-CA" sz="1200">
                <a:solidFill>
                  <a:srgbClr val="404040"/>
                </a:solidFill>
                <a:highlight>
                  <a:srgbClr val="FFFFFF"/>
                </a:highlight>
                <a:latin typeface="Roboto"/>
                <a:ea typeface="Roboto"/>
                <a:cs typeface="Roboto"/>
                <a:sym typeface="Roboto"/>
              </a:rPr>
              <a:t>✅ Điện toán đám mây (lưu trữ/xử lý dữ liệu khổng lồ từ cảm biến).</a:t>
            </a:r>
            <a:endParaRPr sz="1200">
              <a:solidFill>
                <a:srgbClr val="404040"/>
              </a:solidFill>
              <a:highlight>
                <a:srgbClr val="FFFFFF"/>
              </a:highlight>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endParaRPr sz="1200">
              <a:solidFill>
                <a:srgbClr val="404040"/>
              </a:solidFill>
              <a:highlight>
                <a:srgbClr val="FFFFFF"/>
              </a:highlight>
              <a:latin typeface="Roboto"/>
              <a:ea typeface="Roboto"/>
              <a:cs typeface="Roboto"/>
              <a:sym typeface="Roboto"/>
            </a:endParaRPr>
          </a:p>
          <a:p>
            <a:pPr marL="0" lvl="0" indent="0" algn="l" rtl="0">
              <a:lnSpc>
                <a:spcPct val="150000"/>
              </a:lnSpc>
              <a:spcBef>
                <a:spcPts val="1400"/>
              </a:spcBef>
              <a:spcAft>
                <a:spcPts val="0"/>
              </a:spcAft>
              <a:buClr>
                <a:schemeClr val="dk1"/>
              </a:buClr>
              <a:buSzPts val="1100"/>
              <a:buFont typeface="Arial"/>
              <a:buNone/>
            </a:pPr>
            <a:r>
              <a:rPr lang="en-CA" sz="1350">
                <a:solidFill>
                  <a:srgbClr val="404040"/>
                </a:solidFill>
                <a:highlight>
                  <a:srgbClr val="FFFFFF"/>
                </a:highlight>
                <a:latin typeface="Roboto"/>
                <a:ea typeface="Roboto"/>
                <a:cs typeface="Roboto"/>
                <a:sym typeface="Roboto"/>
              </a:rPr>
              <a:t>Tài liệu tham khảo</a:t>
            </a:r>
            <a:endParaRPr sz="1350">
              <a:solidFill>
                <a:srgbClr val="404040"/>
              </a:solidFill>
              <a:highlight>
                <a:srgbClr val="FFFFFF"/>
              </a:highlight>
              <a:latin typeface="Roboto"/>
              <a:ea typeface="Roboto"/>
              <a:cs typeface="Roboto"/>
              <a:sym typeface="Roboto"/>
            </a:endParaRPr>
          </a:p>
          <a:p>
            <a:pPr marL="0" lvl="0" indent="0" algn="l" rtl="0">
              <a:lnSpc>
                <a:spcPct val="178593"/>
              </a:lnSpc>
              <a:spcBef>
                <a:spcPts val="1000"/>
              </a:spcBef>
              <a:spcAft>
                <a:spcPts val="0"/>
              </a:spcAft>
              <a:buClr>
                <a:schemeClr val="dk1"/>
              </a:buClr>
              <a:buSzPts val="1100"/>
              <a:buFont typeface="Arial"/>
              <a:buNone/>
            </a:pPr>
            <a:r>
              <a:rPr lang="en-CA" sz="1200">
                <a:solidFill>
                  <a:srgbClr val="404040"/>
                </a:solidFill>
                <a:highlight>
                  <a:srgbClr val="FFFFFF"/>
                </a:highlight>
                <a:latin typeface="Roboto"/>
                <a:ea typeface="Roboto"/>
                <a:cs typeface="Roboto"/>
                <a:sym typeface="Roboto"/>
              </a:rPr>
              <a:t>Remondino, Fabio. </a:t>
            </a:r>
            <a:r>
              <a:rPr lang="en-CA" sz="1200" i="1">
                <a:solidFill>
                  <a:srgbClr val="404040"/>
                </a:solidFill>
                <a:highlight>
                  <a:srgbClr val="FFFFFF"/>
                </a:highlight>
                <a:latin typeface="Roboto"/>
                <a:ea typeface="Roboto"/>
                <a:cs typeface="Roboto"/>
                <a:sym typeface="Roboto"/>
              </a:rPr>
              <a:t>35 YEARS OF INTERNET, 10 YEARS OF ISPRS ONLINE</a:t>
            </a:r>
            <a:r>
              <a:rPr lang="en-CA" sz="1200">
                <a:solidFill>
                  <a:srgbClr val="404040"/>
                </a:solidFill>
                <a:highlight>
                  <a:srgbClr val="FFFFFF"/>
                </a:highlight>
                <a:latin typeface="Roboto"/>
                <a:ea typeface="Roboto"/>
                <a:cs typeface="Roboto"/>
                <a:sym typeface="Roboto"/>
              </a:rPr>
              <a:t> → Xác nhận tính học thuật của timeline.</a:t>
            </a:r>
            <a:endParaRPr sz="1200">
              <a:solidFill>
                <a:srgbClr val="404040"/>
              </a:solidFill>
              <a:highlight>
                <a:srgbClr val="FFFFFF"/>
              </a:highlight>
              <a:latin typeface="Roboto"/>
              <a:ea typeface="Roboto"/>
              <a:cs typeface="Roboto"/>
              <a:sym typeface="Roboto"/>
            </a:endParaRPr>
          </a:p>
          <a:p>
            <a:pPr marL="177800" lvl="0" indent="0" algn="l" rtl="0">
              <a:lnSpc>
                <a:spcPct val="178593"/>
              </a:lnSpc>
              <a:spcBef>
                <a:spcPts val="1000"/>
              </a:spcBef>
              <a:spcAft>
                <a:spcPts val="0"/>
              </a:spcAft>
              <a:buClr>
                <a:schemeClr val="dk1"/>
              </a:buClr>
              <a:buSzPts val="1100"/>
              <a:buFont typeface="Arial"/>
              <a:buNone/>
            </a:pPr>
            <a:r>
              <a:rPr lang="en-CA" sz="1200">
                <a:solidFill>
                  <a:srgbClr val="404040"/>
                </a:solidFill>
                <a:highlight>
                  <a:srgbClr val="FFFFFF"/>
                </a:highlight>
                <a:latin typeface="Roboto"/>
                <a:ea typeface="Roboto"/>
                <a:cs typeface="Roboto"/>
                <a:sym typeface="Roboto"/>
              </a:rPr>
              <a:t>💡 Câu hỏi mở cho sinh viên: </a:t>
            </a:r>
            <a:r>
              <a:rPr lang="en-CA" sz="1200" i="1">
                <a:solidFill>
                  <a:srgbClr val="404040"/>
                </a:solidFill>
                <a:highlight>
                  <a:srgbClr val="FFFFFF"/>
                </a:highlight>
                <a:latin typeface="Roboto"/>
                <a:ea typeface="Roboto"/>
                <a:cs typeface="Roboto"/>
                <a:sym typeface="Roboto"/>
              </a:rPr>
              <a:t>"Theo các em, tại sao IoT chỉ bùng nổ sau năm 2010 dù Internet đã phát triển từ 1969?"</a:t>
            </a:r>
            <a:r>
              <a:rPr lang="en-CA" sz="1200">
                <a:solidFill>
                  <a:srgbClr val="404040"/>
                </a:solidFill>
                <a:highlight>
                  <a:srgbClr val="FFFFFF"/>
                </a:highlight>
                <a:latin typeface="Roboto"/>
                <a:ea typeface="Roboto"/>
                <a:cs typeface="Roboto"/>
                <a:sym typeface="Roboto"/>
              </a:rPr>
              <a:t> (Gợi ý: Liên quan đến công nghệ cảm biến giá rẻ, điện toán đám mây và AI!).</a:t>
            </a:r>
            <a:endParaRPr sz="1200">
              <a:solidFill>
                <a:srgbClr val="404040"/>
              </a:solidFill>
              <a:highlight>
                <a:srgbClr val="FFFFFF"/>
              </a:highlight>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f1dcfa677d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f1dcfa677d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CA" sz="1350">
                <a:solidFill>
                  <a:srgbClr val="404040"/>
                </a:solidFill>
                <a:highlight>
                  <a:srgbClr val="FFFFFF"/>
                </a:highlight>
                <a:latin typeface="Roboto"/>
                <a:ea typeface="Roboto"/>
                <a:cs typeface="Roboto"/>
                <a:sym typeface="Roboto"/>
              </a:rPr>
              <a:t>Giải thích Hình ảnh về Sự Phát triển của Vi xử lý và Định luật Moore</a:t>
            </a:r>
            <a:endParaRPr sz="1350">
              <a:solidFill>
                <a:srgbClr val="404040"/>
              </a:solidFill>
              <a:highlight>
                <a:srgbClr val="FFFFFF"/>
              </a:highlight>
              <a:latin typeface="Roboto"/>
              <a:ea typeface="Roboto"/>
              <a:cs typeface="Roboto"/>
              <a:sym typeface="Roboto"/>
            </a:endParaRPr>
          </a:p>
          <a:p>
            <a:pPr marL="0" lvl="0" indent="0" algn="l" rtl="0">
              <a:lnSpc>
                <a:spcPct val="178593"/>
              </a:lnSpc>
              <a:spcBef>
                <a:spcPts val="1400"/>
              </a:spcBef>
              <a:spcAft>
                <a:spcPts val="0"/>
              </a:spcAft>
              <a:buClr>
                <a:schemeClr val="dk1"/>
              </a:buClr>
              <a:buSzPts val="1100"/>
              <a:buFont typeface="Arial"/>
              <a:buNone/>
            </a:pPr>
            <a:r>
              <a:rPr lang="en-CA" sz="1200">
                <a:solidFill>
                  <a:srgbClr val="404040"/>
                </a:solidFill>
                <a:highlight>
                  <a:srgbClr val="FFFFFF"/>
                </a:highlight>
                <a:latin typeface="Roboto"/>
                <a:ea typeface="Roboto"/>
                <a:cs typeface="Roboto"/>
                <a:sym typeface="Roboto"/>
              </a:rPr>
              <a:t>1. Timeline Mật độ Transistor qua các Thập kỷ</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1950s: Transistor silicon đầu tiên (1 transistor) - Khởi nguồn cách mạng bán dẫn</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1960s: Cổng logic TTL (16 transistors) - Tiền thân vi mạch tích hợp</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1970s: Vi xử lý 8-bit (4,500 transistors - VD: Intel 8008) - Máy tính cá nhân ra đời</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1980s: Vi xử lý 32-bit đầu tiên (275,000 transistors - VD: Motorola 68020)</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1990s: Vi xử lý 32-bit tiên tiến (3.1 triệu transistors - VD: Intel Pentium Pro)</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2000s: Vi xử lý 64-bit (592 triệu transistors - VD: Intel Itanium 2)</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2010s: GPU đa nhân (8 tỷ transistors - VD: NVIDIA Tesla)</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2020s: Hệ thống trên chip (92 tỷ transistors - VD: Apple M3 Max)</a:t>
            </a:r>
            <a:endParaRPr sz="1200">
              <a:solidFill>
                <a:srgbClr val="404040"/>
              </a:solidFill>
              <a:highlight>
                <a:srgbClr val="FFFFFF"/>
              </a:highlight>
              <a:latin typeface="Roboto"/>
              <a:ea typeface="Roboto"/>
              <a:cs typeface="Roboto"/>
              <a:sym typeface="Roboto"/>
            </a:endParaRPr>
          </a:p>
          <a:p>
            <a:pPr marL="0" lvl="0" indent="0" algn="l" rtl="0">
              <a:lnSpc>
                <a:spcPct val="178593"/>
              </a:lnSpc>
              <a:spcBef>
                <a:spcPts val="1400"/>
              </a:spcBef>
              <a:spcAft>
                <a:spcPts val="0"/>
              </a:spcAft>
              <a:buClr>
                <a:schemeClr val="dk1"/>
              </a:buClr>
              <a:buSzPts val="1100"/>
              <a:buFont typeface="Arial"/>
              <a:buNone/>
            </a:pPr>
            <a:r>
              <a:rPr lang="en-CA" sz="1200">
                <a:solidFill>
                  <a:srgbClr val="404040"/>
                </a:solidFill>
                <a:highlight>
                  <a:srgbClr val="FFFFFF"/>
                </a:highlight>
                <a:latin typeface="Roboto"/>
                <a:ea typeface="Roboto"/>
                <a:cs typeface="Roboto"/>
                <a:sym typeface="Roboto"/>
              </a:rPr>
              <a:t>2. Định luật Moore (Gordon Moore, 1965)</a:t>
            </a:r>
            <a:endParaRPr sz="1200">
              <a:solidFill>
                <a:srgbClr val="404040"/>
              </a:solidFill>
              <a:highlight>
                <a:srgbClr val="FFFFFF"/>
              </a:highlight>
              <a:latin typeface="Roboto"/>
              <a:ea typeface="Roboto"/>
              <a:cs typeface="Roboto"/>
              <a:sym typeface="Roboto"/>
            </a:endParaRPr>
          </a:p>
          <a:p>
            <a:pPr marL="177800" lvl="0" indent="0" algn="l" rtl="0">
              <a:lnSpc>
                <a:spcPct val="178593"/>
              </a:lnSpc>
              <a:spcBef>
                <a:spcPts val="1000"/>
              </a:spcBef>
              <a:spcAft>
                <a:spcPts val="0"/>
              </a:spcAft>
              <a:buClr>
                <a:schemeClr val="dk1"/>
              </a:buClr>
              <a:buSzPts val="1100"/>
              <a:buFont typeface="Arial"/>
              <a:buNone/>
            </a:pPr>
            <a:r>
              <a:rPr lang="en-CA" sz="1200">
                <a:solidFill>
                  <a:srgbClr val="404040"/>
                </a:solidFill>
                <a:highlight>
                  <a:srgbClr val="FFFFFF"/>
                </a:highlight>
                <a:latin typeface="Roboto"/>
                <a:ea typeface="Roboto"/>
                <a:cs typeface="Roboto"/>
                <a:sym typeface="Roboto"/>
              </a:rPr>
              <a:t>"Mật độ transistor trên chip tăng gấp đôi mỗi 2 năm"</a:t>
            </a:r>
            <a:br>
              <a:rPr lang="en-CA" sz="1200">
                <a:solidFill>
                  <a:srgbClr val="404040"/>
                </a:solidFill>
                <a:highlight>
                  <a:srgbClr val="FFFFFF"/>
                </a:highlight>
                <a:latin typeface="Roboto"/>
                <a:ea typeface="Roboto"/>
                <a:cs typeface="Roboto"/>
                <a:sym typeface="Roboto"/>
              </a:rPr>
            </a:br>
            <a:r>
              <a:rPr lang="en-CA" sz="1200">
                <a:solidFill>
                  <a:srgbClr val="404040"/>
                </a:solidFill>
                <a:highlight>
                  <a:srgbClr val="FFFFFF"/>
                </a:highlight>
                <a:latin typeface="Roboto"/>
                <a:ea typeface="Roboto"/>
                <a:cs typeface="Roboto"/>
                <a:sym typeface="Roboto"/>
              </a:rPr>
              <a:t>→ Tốc độ tăng trưởng theo cấp số nhân: Từ 1 transistor (1954) lên 92 tỷ (2023) = Tăng 92 tỷ lần sau 70 năm!</a:t>
            </a:r>
            <a:endParaRPr sz="1200">
              <a:solidFill>
                <a:srgbClr val="404040"/>
              </a:solidFill>
              <a:highlight>
                <a:srgbClr val="FFFFFF"/>
              </a:highlight>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f1dcfa677d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2f1dcfa677d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CA" sz="1350">
                <a:solidFill>
                  <a:srgbClr val="404040"/>
                </a:solidFill>
                <a:highlight>
                  <a:srgbClr val="FFFFFF"/>
                </a:highlight>
                <a:latin typeface="Roboto"/>
                <a:ea typeface="Roboto"/>
                <a:cs typeface="Roboto"/>
                <a:sym typeface="Roboto"/>
              </a:rPr>
              <a:t>Giải thích Hình ảnh về Lịch sử Phát triển Linh kiện Điện tử và Ứng dụng IoT</a:t>
            </a:r>
            <a:endParaRPr sz="1350">
              <a:solidFill>
                <a:srgbClr val="404040"/>
              </a:solidFill>
              <a:highlight>
                <a:srgbClr val="FFFFFF"/>
              </a:highlight>
              <a:latin typeface="Roboto"/>
              <a:ea typeface="Roboto"/>
              <a:cs typeface="Roboto"/>
              <a:sym typeface="Roboto"/>
            </a:endParaRPr>
          </a:p>
          <a:p>
            <a:pPr marL="0" lvl="0" indent="0" algn="l" rtl="0">
              <a:lnSpc>
                <a:spcPct val="178593"/>
              </a:lnSpc>
              <a:spcBef>
                <a:spcPts val="1400"/>
              </a:spcBef>
              <a:spcAft>
                <a:spcPts val="0"/>
              </a:spcAft>
              <a:buClr>
                <a:schemeClr val="dk1"/>
              </a:buClr>
              <a:buSzPts val="1100"/>
              <a:buFont typeface="Arial"/>
              <a:buNone/>
            </a:pPr>
            <a:r>
              <a:rPr lang="en-CA" sz="1200">
                <a:solidFill>
                  <a:srgbClr val="404040"/>
                </a:solidFill>
                <a:highlight>
                  <a:srgbClr val="FFFFFF"/>
                </a:highlight>
                <a:latin typeface="Roboto"/>
                <a:ea typeface="Roboto"/>
                <a:cs typeface="Roboto"/>
                <a:sym typeface="Roboto"/>
              </a:rPr>
              <a:t>1. Dòng thời gian công nghệ (1950s - nay)</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1950s: Transistor silicon ra đời → Thay thế đèn chân không, mở đường cho kỷ nguyên thu nhỏ hóa</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1960s: Radio transistor (radio bán dẫn) → Thiết bị điện tử tiêu dùng di động đầu tiên</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1970s:</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Máy tính cá nhân (Personal computer)</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DRAM 1Kbit (Bộ nhớ động đầu tiên - 1024 bit)</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1980s:</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Điện thoại di động (Mobile phone - thiết bị không dây đầu tiên)</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DRAM 64Kbit (Tăng 64 lần dung lượng sau 10 năm)</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1990s:</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Trò chơi điện tử (Video game - xử lý đồ họa)</a:t>
            </a:r>
            <a:endParaRPr sz="1200">
              <a:solidFill>
                <a:srgbClr val="404040"/>
              </a:solidFill>
              <a:highlight>
                <a:srgbClr val="FFFFFF"/>
              </a:highlight>
              <a:latin typeface="Roboto"/>
              <a:ea typeface="Roboto"/>
              <a:cs typeface="Roboto"/>
              <a:sym typeface="Roboto"/>
            </a:endParaRPr>
          </a:p>
          <a:p>
            <a:pPr marL="914400" lvl="1"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DRAM 1Gbit (Dung lượng tăng gấp 15,000 lần so với 1970s)</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2000s: Điện thoại thông minh (Smart phone - tích hợp cảm biến, kết nối internet)</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2010-nay: Tiến tới IoT toàn diện (vạn vật kết nối)</a:t>
            </a:r>
            <a:endParaRPr sz="1200">
              <a:solidFill>
                <a:srgbClr val="404040"/>
              </a:solidFill>
              <a:highlight>
                <a:srgbClr val="FFFFFF"/>
              </a:highlight>
              <a:latin typeface="Roboto"/>
              <a:ea typeface="Roboto"/>
              <a:cs typeface="Roboto"/>
              <a:sym typeface="Roboto"/>
            </a:endParaRPr>
          </a:p>
          <a:p>
            <a:pPr marL="0" lvl="0" indent="0" algn="l" rtl="0">
              <a:spcBef>
                <a:spcPts val="1000"/>
              </a:spcBef>
              <a:spcAft>
                <a:spcPts val="0"/>
              </a:spcAft>
              <a:buNone/>
            </a:pPr>
            <a:r>
              <a:rPr lang="en-CA"/>
              <a:t>3. Tác động đến IoT</a:t>
            </a:r>
            <a:endParaRPr/>
          </a:p>
          <a:p>
            <a:pPr marL="0" lvl="0" indent="0" algn="l" rtl="0">
              <a:spcBef>
                <a:spcPts val="0"/>
              </a:spcBef>
              <a:spcAft>
                <a:spcPts val="0"/>
              </a:spcAft>
              <a:buNone/>
            </a:pPr>
            <a:r>
              <a:rPr lang="en-CA"/>
              <a:t>Công nghệ nền tảng		Vai trò với IoT</a:t>
            </a:r>
            <a:endParaRPr/>
          </a:p>
          <a:p>
            <a:pPr marL="0" lvl="0" indent="0" algn="l" rtl="0">
              <a:spcBef>
                <a:spcPts val="0"/>
              </a:spcBef>
              <a:spcAft>
                <a:spcPts val="0"/>
              </a:spcAft>
              <a:buNone/>
            </a:pPr>
            <a:r>
              <a:rPr lang="en-CA"/>
              <a:t>Thu nhỏ transistor		Cho phép nhúng chip vào mọi vật dụng (từ đồng hồ đến nông cụ)</a:t>
            </a:r>
            <a:endParaRPr/>
          </a:p>
          <a:p>
            <a:pPr marL="0" lvl="0" indent="0" algn="l" rtl="0">
              <a:spcBef>
                <a:spcPts val="0"/>
              </a:spcBef>
              <a:spcAft>
                <a:spcPts val="0"/>
              </a:spcAft>
              <a:buNone/>
            </a:pPr>
            <a:r>
              <a:rPr lang="en-CA"/>
              <a:t>DRAM dung lượng cao	Xử lý dữ liệu cảm biến tại chỗ (ví dụ: camera IoT nhận diện đối tượng)</a:t>
            </a:r>
            <a:endParaRPr/>
          </a:p>
          <a:p>
            <a:pPr marL="0" lvl="0" indent="0" algn="l" rtl="0">
              <a:spcBef>
                <a:spcPts val="0"/>
              </a:spcBef>
              <a:spcAft>
                <a:spcPts val="0"/>
              </a:spcAft>
              <a:buNone/>
            </a:pPr>
            <a:r>
              <a:rPr lang="en-CA"/>
              <a:t>Điện thoại di động		Tiền thân của thiết bị IoT: tích hợp cảm biến + kết nối không dây</a:t>
            </a:r>
            <a:endParaRPr/>
          </a:p>
          <a:p>
            <a:pPr marL="0" lvl="0" indent="0" algn="l" rtl="0">
              <a:spcBef>
                <a:spcPts val="0"/>
              </a:spcBef>
              <a:spcAft>
                <a:spcPts val="0"/>
              </a:spcAft>
              <a:buNone/>
            </a:pPr>
            <a:r>
              <a:rPr lang="en-CA"/>
              <a:t>Smart phone			Mô hình thu nhỏ của hệ sinh thái IoT: cảm biến, xử lý, truyền dữ liệu, giao diện người dùng</a:t>
            </a:r>
            <a:endParaRPr/>
          </a:p>
          <a:p>
            <a:pPr marL="0" lvl="0" indent="0" algn="l" rtl="0">
              <a:spcBef>
                <a:spcPts val="0"/>
              </a:spcBef>
              <a:spcAft>
                <a:spcPts val="0"/>
              </a:spcAft>
              <a:buNone/>
            </a:pPr>
            <a:endParaRPr/>
          </a:p>
          <a:p>
            <a:pPr marL="0" lvl="0" indent="0" algn="l" rtl="0">
              <a:lnSpc>
                <a:spcPct val="178593"/>
              </a:lnSpc>
              <a:spcBef>
                <a:spcPts val="1400"/>
              </a:spcBef>
              <a:spcAft>
                <a:spcPts val="0"/>
              </a:spcAft>
              <a:buClr>
                <a:schemeClr val="dk1"/>
              </a:buClr>
              <a:buSzPts val="1100"/>
              <a:buFont typeface="Arial"/>
              <a:buNone/>
            </a:pPr>
            <a:r>
              <a:rPr lang="en-CA" sz="1200">
                <a:solidFill>
                  <a:srgbClr val="404040"/>
                </a:solidFill>
                <a:highlight>
                  <a:srgbClr val="FFFFFF"/>
                </a:highlight>
                <a:latin typeface="Roboto"/>
                <a:ea typeface="Roboto"/>
                <a:cs typeface="Roboto"/>
                <a:sym typeface="Roboto"/>
              </a:rPr>
              <a:t>4. Ví dụ ứng dụng IoT kế thừa công nghệ</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Từ radio transistor → Cảm biến không dây trong nông nghiệp (đo độ ẩm đất)</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Từ DRAM 1Gbit → Trí tuệ nhân tạo biên (Edge AI) xử lý dữ liệu ngay trên camera an ninh</a:t>
            </a:r>
            <a:endParaRPr sz="1200">
              <a:solidFill>
                <a:srgbClr val="404040"/>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404040"/>
              </a:buClr>
              <a:buSzPts val="1200"/>
              <a:buFont typeface="Roboto"/>
              <a:buChar char="●"/>
            </a:pPr>
            <a:r>
              <a:rPr lang="en-CA" sz="1200">
                <a:solidFill>
                  <a:srgbClr val="404040"/>
                </a:solidFill>
                <a:highlight>
                  <a:srgbClr val="FFFFFF"/>
                </a:highlight>
                <a:latin typeface="Roboto"/>
                <a:ea typeface="Roboto"/>
                <a:cs typeface="Roboto"/>
                <a:sym typeface="Roboto"/>
              </a:rPr>
              <a:t>Từ smart phone → Hệ thống nhà thông minh: điều khiển đèn, nhiệt độ qua điện thoại</a:t>
            </a:r>
            <a:endParaRPr sz="1200">
              <a:solidFill>
                <a:srgbClr val="404040"/>
              </a:solidFill>
              <a:highlight>
                <a:srgbClr val="FFFFFF"/>
              </a:highlight>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endParaRPr sz="1200">
              <a:solidFill>
                <a:srgbClr val="404040"/>
              </a:solidFill>
              <a:highlight>
                <a:srgbClr val="FFFFFF"/>
              </a:highlight>
              <a:latin typeface="Roboto"/>
              <a:ea typeface="Roboto"/>
              <a:cs typeface="Roboto"/>
              <a:sym typeface="Roboto"/>
            </a:endParaRPr>
          </a:p>
          <a:p>
            <a:pPr marL="0" lvl="0" indent="0" algn="l" rtl="0">
              <a:lnSpc>
                <a:spcPct val="178593"/>
              </a:lnSpc>
              <a:spcBef>
                <a:spcPts val="1400"/>
              </a:spcBef>
              <a:spcAft>
                <a:spcPts val="0"/>
              </a:spcAft>
              <a:buClr>
                <a:schemeClr val="dk1"/>
              </a:buClr>
              <a:buSzPts val="1100"/>
              <a:buFont typeface="Arial"/>
              <a:buNone/>
            </a:pPr>
            <a:r>
              <a:rPr lang="en-CA" sz="1200">
                <a:solidFill>
                  <a:srgbClr val="404040"/>
                </a:solidFill>
                <a:highlight>
                  <a:srgbClr val="FFFFFF"/>
                </a:highlight>
                <a:latin typeface="Roboto"/>
                <a:ea typeface="Roboto"/>
                <a:cs typeface="Roboto"/>
                <a:sym typeface="Roboto"/>
              </a:rPr>
              <a:t>5. Bài học quan trọng</a:t>
            </a:r>
            <a:endParaRPr sz="1200">
              <a:solidFill>
                <a:srgbClr val="404040"/>
              </a:solidFill>
              <a:highlight>
                <a:srgbClr val="FFFFFF"/>
              </a:highlight>
              <a:latin typeface="Roboto"/>
              <a:ea typeface="Roboto"/>
              <a:cs typeface="Roboto"/>
              <a:sym typeface="Roboto"/>
            </a:endParaRPr>
          </a:p>
          <a:p>
            <a:pPr marL="177800" lvl="0" indent="0" algn="l" rtl="0">
              <a:lnSpc>
                <a:spcPct val="178593"/>
              </a:lnSpc>
              <a:spcBef>
                <a:spcPts val="1000"/>
              </a:spcBef>
              <a:spcAft>
                <a:spcPts val="0"/>
              </a:spcAft>
              <a:buClr>
                <a:schemeClr val="dk1"/>
              </a:buClr>
              <a:buSzPts val="1100"/>
              <a:buFont typeface="Arial"/>
              <a:buNone/>
            </a:pPr>
            <a:r>
              <a:rPr lang="en-CA" sz="1200">
                <a:solidFill>
                  <a:srgbClr val="404040"/>
                </a:solidFill>
                <a:highlight>
                  <a:srgbClr val="FFFFFF"/>
                </a:highlight>
                <a:latin typeface="Roboto"/>
                <a:ea typeface="Roboto"/>
                <a:cs typeface="Roboto"/>
                <a:sym typeface="Roboto"/>
              </a:rPr>
              <a:t>"IoT không phải là công nghệ mới, mà là sự hội tụ của 3 dòng chảy:</a:t>
            </a:r>
            <a:endParaRPr sz="1200">
              <a:solidFill>
                <a:srgbClr val="404040"/>
              </a:solidFill>
              <a:highlight>
                <a:srgbClr val="FFFFFF"/>
              </a:highlight>
              <a:latin typeface="Roboto"/>
              <a:ea typeface="Roboto"/>
              <a:cs typeface="Roboto"/>
              <a:sym typeface="Roboto"/>
            </a:endParaRPr>
          </a:p>
          <a:p>
            <a:pPr marL="635000" lvl="0" indent="-304800" algn="l" rtl="0">
              <a:lnSpc>
                <a:spcPct val="115000"/>
              </a:lnSpc>
              <a:spcBef>
                <a:spcPts val="1000"/>
              </a:spcBef>
              <a:spcAft>
                <a:spcPts val="0"/>
              </a:spcAft>
              <a:buClr>
                <a:srgbClr val="404040"/>
              </a:buClr>
              <a:buSzPts val="1200"/>
              <a:buFont typeface="Roboto"/>
              <a:buAutoNum type="arabicPeriod"/>
            </a:pPr>
            <a:r>
              <a:rPr lang="en-CA" sz="1200">
                <a:solidFill>
                  <a:srgbClr val="404040"/>
                </a:solidFill>
                <a:highlight>
                  <a:srgbClr val="FFFFFF"/>
                </a:highlight>
                <a:latin typeface="Roboto"/>
                <a:ea typeface="Roboto"/>
                <a:cs typeface="Roboto"/>
                <a:sym typeface="Roboto"/>
              </a:rPr>
              <a:t>Thu nhỏ linh kiện (từ transistor silicon)</a:t>
            </a:r>
            <a:endParaRPr sz="1200">
              <a:solidFill>
                <a:srgbClr val="404040"/>
              </a:solidFill>
              <a:highlight>
                <a:srgbClr val="FFFFFF"/>
              </a:highlight>
              <a:latin typeface="Roboto"/>
              <a:ea typeface="Roboto"/>
              <a:cs typeface="Roboto"/>
              <a:sym typeface="Roboto"/>
            </a:endParaRPr>
          </a:p>
          <a:p>
            <a:pPr marL="635000" lvl="0" indent="-304800" algn="l" rtl="0">
              <a:lnSpc>
                <a:spcPct val="115000"/>
              </a:lnSpc>
              <a:spcBef>
                <a:spcPts val="0"/>
              </a:spcBef>
              <a:spcAft>
                <a:spcPts val="0"/>
              </a:spcAft>
              <a:buClr>
                <a:srgbClr val="404040"/>
              </a:buClr>
              <a:buSzPts val="1200"/>
              <a:buFont typeface="Roboto"/>
              <a:buAutoNum type="arabicPeriod"/>
            </a:pPr>
            <a:r>
              <a:rPr lang="en-CA" sz="1200">
                <a:solidFill>
                  <a:srgbClr val="404040"/>
                </a:solidFill>
                <a:highlight>
                  <a:srgbClr val="FFFFFF"/>
                </a:highlight>
                <a:latin typeface="Roboto"/>
                <a:ea typeface="Roboto"/>
                <a:cs typeface="Roboto"/>
                <a:sym typeface="Roboto"/>
              </a:rPr>
              <a:t>Tăng sức mạnh xử lý (từ DRAM 1Kbit → 1Gbit)</a:t>
            </a:r>
            <a:endParaRPr sz="1200">
              <a:solidFill>
                <a:srgbClr val="404040"/>
              </a:solidFill>
              <a:highlight>
                <a:srgbClr val="FFFFFF"/>
              </a:highlight>
              <a:latin typeface="Roboto"/>
              <a:ea typeface="Roboto"/>
              <a:cs typeface="Roboto"/>
              <a:sym typeface="Roboto"/>
            </a:endParaRPr>
          </a:p>
          <a:p>
            <a:pPr marL="635000" lvl="0" indent="-304800" algn="l" rtl="0">
              <a:lnSpc>
                <a:spcPct val="115000"/>
              </a:lnSpc>
              <a:spcBef>
                <a:spcPts val="0"/>
              </a:spcBef>
              <a:spcAft>
                <a:spcPts val="0"/>
              </a:spcAft>
              <a:buClr>
                <a:srgbClr val="404040"/>
              </a:buClr>
              <a:buSzPts val="1200"/>
              <a:buFont typeface="Roboto"/>
              <a:buAutoNum type="arabicPeriod"/>
            </a:pPr>
            <a:r>
              <a:rPr lang="en-CA" sz="1200">
                <a:solidFill>
                  <a:srgbClr val="404040"/>
                </a:solidFill>
                <a:highlight>
                  <a:srgbClr val="FFFFFF"/>
                </a:highlight>
                <a:latin typeface="Roboto"/>
                <a:ea typeface="Roboto"/>
                <a:cs typeface="Roboto"/>
                <a:sym typeface="Roboto"/>
              </a:rPr>
              <a:t>Kết nối không dây (từ mobile phone)</a:t>
            </a:r>
            <a:br>
              <a:rPr lang="en-CA" sz="1200">
                <a:solidFill>
                  <a:srgbClr val="404040"/>
                </a:solidFill>
                <a:highlight>
                  <a:srgbClr val="FFFFFF"/>
                </a:highlight>
                <a:latin typeface="Roboto"/>
                <a:ea typeface="Roboto"/>
                <a:cs typeface="Roboto"/>
                <a:sym typeface="Roboto"/>
              </a:rPr>
            </a:br>
            <a:r>
              <a:rPr lang="en-CA" sz="1200">
                <a:solidFill>
                  <a:srgbClr val="404040"/>
                </a:solidFill>
                <a:highlight>
                  <a:srgbClr val="FFFFFF"/>
                </a:highlight>
                <a:latin typeface="Roboto"/>
                <a:ea typeface="Roboto"/>
                <a:cs typeface="Roboto"/>
                <a:sym typeface="Roboto"/>
              </a:rPr>
              <a:t>→ Khi đủ chín muồi, chúng sinh ra kỷ nguyên IoT!"</a:t>
            </a:r>
            <a:endParaRPr sz="1200">
              <a:solidFill>
                <a:srgbClr val="404040"/>
              </a:solidFill>
              <a:highlight>
                <a:srgbClr val="FFFFFF"/>
              </a:highlight>
              <a:latin typeface="Roboto"/>
              <a:ea typeface="Roboto"/>
              <a:cs typeface="Roboto"/>
              <a:sym typeface="Roboto"/>
            </a:endParaRPr>
          </a:p>
          <a:p>
            <a:pPr marL="0" lvl="0" indent="0" algn="l" rtl="0">
              <a:spcBef>
                <a:spcPts val="100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f1dcfa677d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f1dcfa677d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CA" sz="1300" b="1">
                <a:solidFill>
                  <a:schemeClr val="dk1"/>
                </a:solidFill>
              </a:rPr>
              <a:t>Phân tích từng thành phần:</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CA" b="1">
                <a:solidFill>
                  <a:schemeClr val="dk1"/>
                </a:solidFill>
              </a:rPr>
              <a:t>A network of physical devices, vehicles, appliances, and other physical objects</a:t>
            </a:r>
            <a:br>
              <a:rPr lang="en-CA" b="1">
                <a:solidFill>
                  <a:schemeClr val="dk1"/>
                </a:solidFill>
              </a:rPr>
            </a:b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IoT là </a:t>
            </a:r>
            <a:r>
              <a:rPr lang="en-CA" b="1">
                <a:solidFill>
                  <a:schemeClr val="dk1"/>
                </a:solidFill>
              </a:rPr>
              <a:t>mạng lưới kết nối</a:t>
            </a:r>
            <a:r>
              <a:rPr lang="en-CA">
                <a:solidFill>
                  <a:schemeClr val="dk1"/>
                </a:solidFill>
              </a:rPr>
              <a:t> không chỉ gồm </a:t>
            </a:r>
            <a:r>
              <a:rPr lang="en-CA" b="1">
                <a:solidFill>
                  <a:schemeClr val="dk1"/>
                </a:solidFill>
              </a:rPr>
              <a:t>máy tính hay điện thoại</a:t>
            </a:r>
            <a:r>
              <a:rPr lang="en-CA">
                <a:solidFill>
                  <a:schemeClr val="dk1"/>
                </a:solidFill>
              </a:rPr>
              <a:t>, mà còn bao gồm </a:t>
            </a:r>
            <a:r>
              <a:rPr lang="en-CA" b="1">
                <a:solidFill>
                  <a:schemeClr val="dk1"/>
                </a:solidFill>
              </a:rPr>
              <a:t>mọi vật thể trong đời sống</a:t>
            </a:r>
            <a:r>
              <a:rPr lang="en-CA">
                <a:solidFill>
                  <a:schemeClr val="dk1"/>
                </a:solidFill>
              </a:rPr>
              <a:t>:</a:t>
            </a:r>
            <a:br>
              <a:rPr lang="en-CA">
                <a:solidFill>
                  <a:schemeClr val="dk1"/>
                </a:solidFill>
              </a:rPr>
            </a:b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CA">
                <a:solidFill>
                  <a:schemeClr val="dk1"/>
                </a:solidFill>
              </a:rPr>
              <a:t>Thiết bị: cảm biến nhiệt độ, đồng hồ thông minh.</a:t>
            </a:r>
            <a:br>
              <a:rPr lang="en-CA">
                <a:solidFill>
                  <a:schemeClr val="dk1"/>
                </a:solidFill>
              </a:rPr>
            </a:b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CA">
                <a:solidFill>
                  <a:schemeClr val="dk1"/>
                </a:solidFill>
              </a:rPr>
              <a:t>Phương tiện: xe ô tô, xe buýt.</a:t>
            </a:r>
            <a:br>
              <a:rPr lang="en-CA">
                <a:solidFill>
                  <a:schemeClr val="dk1"/>
                </a:solidFill>
              </a:rPr>
            </a:b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CA">
                <a:solidFill>
                  <a:schemeClr val="dk1"/>
                </a:solidFill>
              </a:rPr>
              <a:t>Đồ gia dụng: tủ lạnh, máy giặt, điều hòa.</a:t>
            </a:r>
            <a:br>
              <a:rPr lang="en-CA">
                <a:solidFill>
                  <a:schemeClr val="dk1"/>
                </a:solidFill>
              </a:rPr>
            </a:b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CA">
                <a:solidFill>
                  <a:schemeClr val="dk1"/>
                </a:solidFill>
              </a:rPr>
              <a:t>Các vật thể khác: hệ thống chiếu sáng, máy móc công nghiệp.</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CA" b="1">
                <a:solidFill>
                  <a:schemeClr val="dk1"/>
                </a:solidFill>
              </a:rPr>
              <a:t>Embedded with sensors, software, and network connectivity</a:t>
            </a:r>
            <a:br>
              <a:rPr lang="en-CA" b="1">
                <a:solidFill>
                  <a:schemeClr val="dk1"/>
                </a:solidFill>
              </a:rPr>
            </a:b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Những vật thể này </a:t>
            </a:r>
            <a:r>
              <a:rPr lang="en-CA" b="1">
                <a:solidFill>
                  <a:schemeClr val="dk1"/>
                </a:solidFill>
              </a:rPr>
              <a:t>không còn “thụ động”</a:t>
            </a:r>
            <a:r>
              <a:rPr lang="en-CA">
                <a:solidFill>
                  <a:schemeClr val="dk1"/>
                </a:solidFill>
              </a:rPr>
              <a:t> nữa, mà được gắn thêm:</a:t>
            </a:r>
            <a:br>
              <a:rPr lang="en-CA">
                <a:solidFill>
                  <a:schemeClr val="dk1"/>
                </a:solidFill>
              </a:rPr>
            </a:b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CA" b="1">
                <a:solidFill>
                  <a:schemeClr val="dk1"/>
                </a:solidFill>
              </a:rPr>
              <a:t>Cảm biến (sensors):</a:t>
            </a:r>
            <a:r>
              <a:rPr lang="en-CA">
                <a:solidFill>
                  <a:schemeClr val="dk1"/>
                </a:solidFill>
              </a:rPr>
              <a:t> thu thập dữ liệu (nhiệt độ, độ ẩm, chuyển động, vị trí GPS…).</a:t>
            </a:r>
            <a:br>
              <a:rPr lang="en-CA">
                <a:solidFill>
                  <a:schemeClr val="dk1"/>
                </a:solidFill>
              </a:rPr>
            </a:b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CA" b="1">
                <a:solidFill>
                  <a:schemeClr val="dk1"/>
                </a:solidFill>
              </a:rPr>
              <a:t>Phần mềm (software):</a:t>
            </a:r>
            <a:r>
              <a:rPr lang="en-CA">
                <a:solidFill>
                  <a:schemeClr val="dk1"/>
                </a:solidFill>
              </a:rPr>
              <a:t> xử lý dữ liệu, đưa ra quyết định cục bộ.</a:t>
            </a:r>
            <a:br>
              <a:rPr lang="en-CA">
                <a:solidFill>
                  <a:schemeClr val="dk1"/>
                </a:solidFill>
              </a:rPr>
            </a:b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CA" b="1">
                <a:solidFill>
                  <a:schemeClr val="dk1"/>
                </a:solidFill>
              </a:rPr>
              <a:t>Kết nối mạng (network connectivity):</a:t>
            </a:r>
            <a:r>
              <a:rPr lang="en-CA">
                <a:solidFill>
                  <a:schemeClr val="dk1"/>
                </a:solidFill>
              </a:rPr>
              <a:t> truyền dữ liệu lên Internet qua Wi-Fi, 4G/5G, Bluetooth, Zigbee…</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CA" b="1">
                <a:solidFill>
                  <a:schemeClr val="dk1"/>
                </a:solidFill>
              </a:rPr>
              <a:t>Allowing them to collect and share data</a:t>
            </a:r>
            <a:br>
              <a:rPr lang="en-CA" b="1">
                <a:solidFill>
                  <a:schemeClr val="dk1"/>
                </a:solidFill>
              </a:rPr>
            </a:b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Nhờ các thành phần trên, các “Things” có thể:</a:t>
            </a:r>
            <a:br>
              <a:rPr lang="en-CA">
                <a:solidFill>
                  <a:schemeClr val="dk1"/>
                </a:solidFill>
              </a:rPr>
            </a:b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CA" b="1">
                <a:solidFill>
                  <a:schemeClr val="dk1"/>
                </a:solidFill>
              </a:rPr>
              <a:t>Thu thập dữ liệu</a:t>
            </a:r>
            <a:r>
              <a:rPr lang="en-CA">
                <a:solidFill>
                  <a:schemeClr val="dk1"/>
                </a:solidFill>
              </a:rPr>
              <a:t> từ môi trường (ví dụ: nhiệt độ phòng).</a:t>
            </a:r>
            <a:br>
              <a:rPr lang="en-CA">
                <a:solidFill>
                  <a:schemeClr val="dk1"/>
                </a:solidFill>
              </a:rPr>
            </a:b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CA" b="1">
                <a:solidFill>
                  <a:schemeClr val="dk1"/>
                </a:solidFill>
              </a:rPr>
              <a:t>Chia sẻ dữ liệu</a:t>
            </a:r>
            <a:r>
              <a:rPr lang="en-CA">
                <a:solidFill>
                  <a:schemeClr val="dk1"/>
                </a:solidFill>
              </a:rPr>
              <a:t> với các hệ thống khác hoặc lên </a:t>
            </a:r>
            <a:r>
              <a:rPr lang="en-CA" b="1">
                <a:solidFill>
                  <a:schemeClr val="dk1"/>
                </a:solidFill>
              </a:rPr>
              <a:t>đám mây (cloud)</a:t>
            </a:r>
            <a:r>
              <a:rPr lang="en-CA">
                <a:solidFill>
                  <a:schemeClr val="dk1"/>
                </a:solidFill>
              </a:rPr>
              <a:t> để lưu trữ và phân tích.</a:t>
            </a:r>
            <a:br>
              <a:rPr lang="en-CA">
                <a:solidFill>
                  <a:schemeClr val="dk1"/>
                </a:solidFill>
              </a:rPr>
            </a:b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CA" b="1">
                <a:solidFill>
                  <a:schemeClr val="dk1"/>
                </a:solidFill>
              </a:rPr>
              <a:t>Tương tác với nhau</a:t>
            </a:r>
            <a:r>
              <a:rPr lang="en-CA">
                <a:solidFill>
                  <a:schemeClr val="dk1"/>
                </a:solidFill>
              </a:rPr>
              <a:t> hoặc với con người (ví dụ: cảm biến chuyển động bật đèn khi bạn bước vào phòng).</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CA" sz="1300" b="1">
                <a:solidFill>
                  <a:schemeClr val="dk1"/>
                </a:solidFill>
              </a:rPr>
              <a:t>📌 Giải thích đơn giản hơn cho sinh viên</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IoT có thể hiểu ngắn gọn là:</a:t>
            </a:r>
            <a:br>
              <a:rPr lang="en-CA">
                <a:solidFill>
                  <a:schemeClr val="dk1"/>
                </a:solidFill>
              </a:rPr>
            </a:br>
            <a:r>
              <a:rPr lang="en-CA">
                <a:solidFill>
                  <a:schemeClr val="dk1"/>
                </a:solidFill>
              </a:rPr>
              <a:t> 👉 </a:t>
            </a:r>
            <a:r>
              <a:rPr lang="en-CA" b="1">
                <a:solidFill>
                  <a:schemeClr val="dk1"/>
                </a:solidFill>
              </a:rPr>
              <a:t>Biến những vật thể bình thường (things) thành “vật thể thông minh” nhờ cảm biến, phần mềm và Internet.</a:t>
            </a:r>
            <a:br>
              <a:rPr lang="en-CA" b="1">
                <a:solidFill>
                  <a:schemeClr val="dk1"/>
                </a:solidFill>
              </a:rPr>
            </a:br>
            <a:r>
              <a:rPr lang="en-CA">
                <a:solidFill>
                  <a:schemeClr val="dk1"/>
                </a:solidFill>
              </a:rPr>
              <a:t> Những vật thể này có thể </a:t>
            </a:r>
            <a:r>
              <a:rPr lang="en-CA" b="1">
                <a:solidFill>
                  <a:schemeClr val="dk1"/>
                </a:solidFill>
              </a:rPr>
              <a:t>tự động thu thập, chia sẻ, và sử dụng dữ liệu</a:t>
            </a:r>
            <a:r>
              <a:rPr lang="en-CA">
                <a:solidFill>
                  <a:schemeClr val="dk1"/>
                </a:solidFill>
              </a:rPr>
              <a:t> để mang lại giá trị mới cho cuộc sống và công việc.</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CA" sz="1300" b="1">
                <a:solidFill>
                  <a:schemeClr val="dk1"/>
                </a:solidFill>
              </a:rPr>
              <a:t>🌍 Ví dụ minh họa:</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b="1">
                <a:solidFill>
                  <a:schemeClr val="dk1"/>
                </a:solidFill>
              </a:rPr>
              <a:t>Ngôi nhà thông minh (Smart Home):</a:t>
            </a:r>
            <a:r>
              <a:rPr lang="en-CA">
                <a:solidFill>
                  <a:schemeClr val="dk1"/>
                </a:solidFill>
              </a:rPr>
              <a:t> đèn tự bật khi bạn về nhà, điều hòa tự điều chỉnh theo nhiệt độ môi trường, camera an ninh gửi cảnh báo qua điện thoại.</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a:solidFill>
                  <a:schemeClr val="dk1"/>
                </a:solidFill>
              </a:rPr>
              <a:t>Xe thông minh:</a:t>
            </a:r>
            <a:r>
              <a:rPr lang="en-CA">
                <a:solidFill>
                  <a:schemeClr val="dk1"/>
                </a:solidFill>
              </a:rPr>
              <a:t> xe có cảm biến cảnh báo va chạm, tự kết nối Internet để cập nhật bản đồ giao thông.</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a:solidFill>
                  <a:schemeClr val="dk1"/>
                </a:solidFill>
              </a:rPr>
              <a:t>Nông nghiệp thông minh:</a:t>
            </a:r>
            <a:r>
              <a:rPr lang="en-CA">
                <a:solidFill>
                  <a:schemeClr val="dk1"/>
                </a:solidFill>
              </a:rPr>
              <a:t> cảm biến độ ẩm đất gửi dữ liệu về hệ thống, hệ thống tự động bật tưới nước khi đất khô.</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 Tóm lại: IoT không chỉ là “Internet + Things” mà là </a:t>
            </a:r>
            <a:r>
              <a:rPr lang="en-CA" b="1">
                <a:solidFill>
                  <a:schemeClr val="dk1"/>
                </a:solidFill>
              </a:rPr>
              <a:t>một hệ sinh thái thông minh</a:t>
            </a:r>
            <a:r>
              <a:rPr lang="en-CA">
                <a:solidFill>
                  <a:schemeClr val="dk1"/>
                </a:solidFill>
              </a:rPr>
              <a:t>, nơi các vật thể trong đời sống hàng ngày được </a:t>
            </a:r>
            <a:r>
              <a:rPr lang="en-CA" b="1">
                <a:solidFill>
                  <a:schemeClr val="dk1"/>
                </a:solidFill>
              </a:rPr>
              <a:t>kết nối, thu thập và chia sẻ dữ liệu</a:t>
            </a:r>
            <a:r>
              <a:rPr lang="en-CA">
                <a:solidFill>
                  <a:schemeClr val="dk1"/>
                </a:solidFill>
              </a:rPr>
              <a:t>, phục vụ con người và xã hội.</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u="sng">
                <a:solidFill>
                  <a:schemeClr val="dk1"/>
                </a:solidFill>
              </a:rPr>
              <a:t>mối quan hệ cốt lõi của IoT như sau:</a:t>
            </a:r>
            <a:r>
              <a:rPr lang="en-CA">
                <a:solidFill>
                  <a:schemeClr val="dk1"/>
                </a:solidFill>
              </a:rPr>
              <a:t> </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Things (Vật thể): Thiết bị vật lý có cảm biến (đèn, xe, đồng hồ, máy móc...) → Thu thập dữ liệu thực tế.</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Data (Dữ liệu): Thông số từ cảm biến (nhiệt độ, vị trí, trạng thái...) → Nguyên liệu thô của IoT.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Internet: Nền tảng lưu trữ/xử lý (cloud, AI) → Biến dữ liệu thành thông tin có giá trị.</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3. Đặc điểm then chốt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Yếu tố		Vai trò trong IoT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Things		Giao điểm giữa thế giới thực và kỹ thuật số</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Data		"Nhiên liệu" quyết định giá trị IoT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Internet	Cầu nối cục bộ (local) → toàn cầu (Internet)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 Kết luận: IoT không chỉ là "vạn vật kết nối Internet", mà là hệ tuần hoàn khép kín: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Thế giới thực (Things) → Kết nối (Internet) → Sinh ra dữ liệu (Data) → Xử lý thông minh và Tác động ngược lại thế giới thực</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789eb9c381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789eb9c38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789eb9c381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789eb9c381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CA">
                <a:solidFill>
                  <a:schemeClr val="dk1"/>
                </a:solidFill>
              </a:rPr>
              <a:t>Giải thích Timeline Lịch sử IoT &amp; RFID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b="1">
                <a:solidFill>
                  <a:schemeClr val="dk1"/>
                </a:solidFill>
              </a:rPr>
              <a:t>1. Giai đoạn Tiền thân (1940-1999): Công nghệ RFID định hình</a:t>
            </a:r>
            <a:endParaRPr b="1">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1940: Radar công nghệ đầu tiên (nền tảng RFID)</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 Ứng dụng quân sự, tiền đề nhận diện vật thể bằng sóng vô tuyến</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1966: Thẻ chống trộm RFID</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 Ứng dụng dân sự đầu tiên: theo dõi hàng hóa</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1979: RFID nhúng vào vật thể</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 Cách mạng hóa quản lý chuỗi cung ứng (đặt nền móng cho "Things" trong IoT)</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1999: Kevin Ashton đặt tên "Internet of Things"</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 Định danh cho kỷ nguyên kết nối vạn vật khi nghiên cứu RFID tại P&amp;G</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b="1">
                <a:solidFill>
                  <a:schemeClr val="dk1"/>
                </a:solidFill>
              </a:rPr>
              <a:t>2. Giai đoạn Bùng nổ (2006-2018): IoT trưởng thành</a:t>
            </a:r>
            <a:endParaRPr b="1">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Năm	Sự kiện				Ý nghĩa với IoT</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2006	Hội nghị IoT châu Âu đầu tiên	Công nhận IoT là lĩnh vực học thuật</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2008	IPSO phát triển IP cho thiết bị	Giải quyết thiếu địa chỉ IP (mở đường cho IPv6)</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2010	12.5 tỷ thiết bị kết nối			Vượt dân số thế giới → Kỷ nguyên siêu kết nối</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2013	Intel thành lập nhóm IoT		Tập đoàn lớn đầu tư → Đẩy nhanh phát triển phần cứng</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2014	Thiết bị di động &gt; dân số		Điện thoại trở thành "remote control" cho IoT</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2015	Google phát triển OS IoT		Giải quyết phân mảnh hệ điều hành (Android Things)</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2016	- Tấn công Mirai botnet</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 Quần áo thông minh	Cảnh báo an ninh IoT + Xu hướng wearable</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2017	Smart TV thống trị thị trường		Thiết bị gia đình thành "cửa ngõ IoT"</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2018	&gt;50% lưu lượng Internet từ thiết bị không phải PC	IoT chính thức thống trị mạng</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3. Bài học quan trọng</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RFID là "cha đẻ" của IoT:</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 Công nghệ nhận diện vật thể (1940s) → Cảm biến IoT hiện đại</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Bước ngoặt 1999:</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"Tên gọi 'IoT' biến ý tưởng thành một lĩnh vực nghiên cứu toàn cầu"</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An ninh IoT là thách thức lớn:</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 Vụ tấn công Mirai (2016) sử dụng camera IoT làm botnet cảnh báo rủi ro bảo mật</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Xu hướng tương lai:</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 Thiết bị đeo thông minh thay thế wearable truyền thống</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 Giao thức IP cho thiết bị nhỏ (IPSO) → Kết nối liền mạch</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 Kết luận: IoT không xuất hiện đột ngột, mà là kết quả của:</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80 năm phát triển công nghệ (từ radar 1940 → AIoT 2020s)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Sự hội tụ của RFID, Internet, điện toán đám mây và trí tuệ nhân tạo.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789eb9c381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789eb9c381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789eb9c381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789eb9c381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789eb9c38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789eb9c38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789eb9c38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789eb9c38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f1dcfa677d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f1dcfa677d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Giải thích kiến trúc hệ thống IoT (vai trò giảng viên)</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Chúng ta đọc sơ đồ từ </a:t>
            </a:r>
            <a:r>
              <a:rPr lang="en-CA" b="1">
                <a:solidFill>
                  <a:schemeClr val="dk1"/>
                </a:solidFill>
              </a:rPr>
              <a:t>dưới lên</a:t>
            </a:r>
            <a:r>
              <a:rPr lang="en-CA">
                <a:solidFill>
                  <a:schemeClr val="dk1"/>
                </a:solidFill>
              </a:rPr>
              <a:t> — dữ liệu/điều khiển sinh ra ở lớp thấp nhất và được xử lý/hiển thị ở lớp cao nhất. Bên phải là các thành phần ngang (cross-cutting) hỗ trợ quản trị, bảo mật và quản lý thiết bị.</a:t>
            </a: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1. Lớp dưới cùng — IoT Devices</a:t>
            </a:r>
            <a:endParaRPr sz="2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Bao gồm: cảm biến, actuator, camera, đồng hồ thông minh, thiết bị công nghiệp, xe, v.v.</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Chức năng: </a:t>
            </a:r>
            <a:r>
              <a:rPr lang="en-CA" b="1">
                <a:solidFill>
                  <a:schemeClr val="dk1"/>
                </a:solidFill>
              </a:rPr>
              <a:t>thu thập dữ liệu</a:t>
            </a:r>
            <a:r>
              <a:rPr lang="en-CA">
                <a:solidFill>
                  <a:schemeClr val="dk1"/>
                </a:solidFill>
              </a:rPr>
              <a:t> (nhiệt độ, vị trí, vận tốc, trạng thái...) hoặc </a:t>
            </a:r>
            <a:r>
              <a:rPr lang="en-CA" b="1">
                <a:solidFill>
                  <a:schemeClr val="dk1"/>
                </a:solidFill>
              </a:rPr>
              <a:t>thực hiện hành động</a:t>
            </a:r>
            <a:r>
              <a:rPr lang="en-CA">
                <a:solidFill>
                  <a:schemeClr val="dk1"/>
                </a:solidFill>
              </a:rPr>
              <a:t> (bật/tắt motor, mở van...).</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Thực tế: thiết bị có MCU/SoC nhỏ, firmware, có thể dùng Bluetooth, Zigbee, LoRa, NB-IoT, Wi-Fi, LTE/5G để kết nối.</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2. Communications: MQTT / HTTP (kênh truyền)</a:t>
            </a:r>
            <a:endParaRPr sz="2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Là các </a:t>
            </a:r>
            <a:r>
              <a:rPr lang="en-CA" b="1">
                <a:solidFill>
                  <a:schemeClr val="dk1"/>
                </a:solidFill>
              </a:rPr>
              <a:t>giao thức truyền dữ liệu</a:t>
            </a:r>
            <a:r>
              <a:rPr lang="en-CA">
                <a:solidFill>
                  <a:schemeClr val="dk1"/>
                </a:solidFill>
              </a:rPr>
              <a:t> giữa thiết bị và phần còn lại của hệ thống.</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a:solidFill>
                  <a:schemeClr val="dk1"/>
                </a:solidFill>
              </a:rPr>
              <a:t>MQTT</a:t>
            </a:r>
            <a:r>
              <a:rPr lang="en-CA">
                <a:solidFill>
                  <a:schemeClr val="dk1"/>
                </a:solidFill>
              </a:rPr>
              <a:t>: nhẹ, publish/subscribe, phù hợp thiết bị yếu và mạng không ổn định.</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a:solidFill>
                  <a:schemeClr val="dk1"/>
                </a:solidFill>
              </a:rPr>
              <a:t>HTTP/REST</a:t>
            </a:r>
            <a:r>
              <a:rPr lang="en-CA">
                <a:solidFill>
                  <a:schemeClr val="dk1"/>
                </a:solidFill>
              </a:rPr>
              <a:t>: phổ biến, dễ tích hợp với web services, nhưng nặng hơn.</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Ngoài ra còn có </a:t>
            </a:r>
            <a:r>
              <a:rPr lang="en-CA" b="1">
                <a:solidFill>
                  <a:schemeClr val="dk1"/>
                </a:solidFill>
              </a:rPr>
              <a:t>CoAP, AMQP, WebSocket, LwM2M</a:t>
            </a:r>
            <a:r>
              <a:rPr lang="en-CA">
                <a:solidFill>
                  <a:schemeClr val="dk1"/>
                </a:solidFill>
              </a:rPr>
              <a:t> tuỳ trường hợp.</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3. IoT Gateway (Aggregation Layer)</a:t>
            </a:r>
            <a:endParaRPr sz="2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Vị trí trung gian giữa thiết bị và cloud/edge: gom, chuyển giao, tiền xử lý dữ liệu.</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Nhiệm vụ:</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Chuyển giao giao thức (gateway protocol translation).</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Lọc/ghép/gộp (aggregation), nén, mã hoá, buffering khi mất mạng.</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Thực hiện edge computing nhỏ (rule, anomaly detection, latency-sensitive action).</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Ví dụ: Raspberry Pi, edge appliance, vendor gateway.</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4. Processing Engine / Event Processing Layer</a:t>
            </a:r>
            <a:endParaRPr sz="2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Xử lý luồng dữ liệu theo thời gian thực hoặc gần thời gian thực.</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Chức năng:</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Stream processing (rule evaluation, complex event processing).</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Lưu trữ vào DB (time-series DB, data lake), ghi nhận logs.</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Machine learning inference / analytics.</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Công nghệ tiêu biểu: message broker (Kafka, RabbitMQ), stream engines (Flink, Spark Streaming), cloud services tương đương.</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5. Application Layer / API Management</a:t>
            </a:r>
            <a:endParaRPr sz="2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Lớp cao nhất: giao diện cho người dùng và hệ thống khác.</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Thành phần:</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b="1">
                <a:solidFill>
                  <a:schemeClr val="dk1"/>
                </a:solidFill>
              </a:rPr>
              <a:t>Web Portal / Dashboard</a:t>
            </a:r>
            <a:r>
              <a:rPr lang="en-CA">
                <a:solidFill>
                  <a:schemeClr val="dk1"/>
                </a:solidFill>
              </a:rPr>
              <a:t>: hiển thị dữ liệu, biểu đồ, cảnh báo.</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b="1">
                <a:solidFill>
                  <a:schemeClr val="dk1"/>
                </a:solidFill>
              </a:rPr>
              <a:t>API Management</a:t>
            </a:r>
            <a:r>
              <a:rPr lang="en-CA">
                <a:solidFill>
                  <a:schemeClr val="dk1"/>
                </a:solidFill>
              </a:rPr>
              <a:t>: expose API (REST/GraphQL) để tích hợp với ứng dụng, mobile app, bên thứ ba.</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Ở đây diễn ra business logic, workflow, báo cáo, và quyết định cuối cùng.</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6. Thành phần ngang (Cross-cutting)</a:t>
            </a:r>
            <a:endParaRPr sz="2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b="1">
                <a:solidFill>
                  <a:schemeClr val="dk1"/>
                </a:solidFill>
              </a:rPr>
              <a:t>Devices Manager</a:t>
            </a:r>
            <a:r>
              <a:rPr lang="en-CA">
                <a:solidFill>
                  <a:schemeClr val="dk1"/>
                </a:solidFill>
              </a:rPr>
              <a:t>:</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Quản lý vòng đời thiết bị: đăng ký, cấu hình, giám sát, OTA firmware updates, de-commission.</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a:solidFill>
                  <a:schemeClr val="dk1"/>
                </a:solidFill>
              </a:rPr>
              <a:t>Identity and Access Manager (IAM)</a:t>
            </a:r>
            <a:r>
              <a:rPr lang="en-CA">
                <a:solidFill>
                  <a:schemeClr val="dk1"/>
                </a:solidFill>
              </a:rPr>
              <a:t>:</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Xác thực, ủy quyền, quản lý chứng chỉ/keys, chính sách truy cập.</a:t>
            </a:r>
            <a:br>
              <a:rPr lang="en-CA">
                <a:solidFill>
                  <a:schemeClr val="dk1"/>
                </a:solidFill>
              </a:rPr>
            </a:b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CA">
                <a:solidFill>
                  <a:schemeClr val="dk1"/>
                </a:solidFill>
              </a:rPr>
              <a:t>Rất quan trọng để bảo mật toàn hệ thống (mutual TLS, token, role-based access).</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7. Luồng dữ liệu (tóm tắt)</a:t>
            </a:r>
            <a:endParaRPr sz="2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CA">
                <a:solidFill>
                  <a:schemeClr val="dk1"/>
                </a:solidFill>
              </a:rPr>
              <a:t>Thiết bị thu thập dữ liệu → gửi qua MQTT/HTTP.</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CA">
                <a:solidFill>
                  <a:schemeClr val="dk1"/>
                </a:solidFill>
              </a:rPr>
              <a:t>Gateway nhận, tiền xử lý → forward lên Processing Engine.</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CA">
                <a:solidFill>
                  <a:schemeClr val="dk1"/>
                </a:solidFill>
              </a:rPr>
              <a:t>Processing Engine xử lý stream → lưu trữ/khởi tạo cảnh báo → cung cấp dữ liệu cho Application Layer.</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CA">
                <a:solidFill>
                  <a:schemeClr val="dk1"/>
                </a:solidFill>
              </a:rPr>
              <a:t>Dashboard + API phục vụ người dùng hoặc hệ thống bên ngoài.</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CA">
                <a:solidFill>
                  <a:schemeClr val="dk1"/>
                </a:solidFill>
              </a:rPr>
              <a:t>Devices Manager &amp; IAM vận hành liên tục song song.</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8. Vấn đề quan trọng giảng dạy (điểm nhấn)</a:t>
            </a:r>
            <a:endParaRPr sz="2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b="1">
                <a:solidFill>
                  <a:schemeClr val="dk1"/>
                </a:solidFill>
              </a:rPr>
              <a:t>Bảo mật</a:t>
            </a:r>
            <a:r>
              <a:rPr lang="en-CA">
                <a:solidFill>
                  <a:schemeClr val="dk1"/>
                </a:solidFill>
              </a:rPr>
              <a:t>: xác thực thiết bị, mã hoá dữ liệu, cập nhật firmware an toàn.</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a:solidFill>
                  <a:schemeClr val="dk1"/>
                </a:solidFill>
              </a:rPr>
              <a:t>Độ trễ &amp; tính sẵn sàng</a:t>
            </a:r>
            <a:r>
              <a:rPr lang="en-CA">
                <a:solidFill>
                  <a:schemeClr val="dk1"/>
                </a:solidFill>
              </a:rPr>
              <a:t>: quyết định xử lý ở edge hay cloud.</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a:solidFill>
                  <a:schemeClr val="dk1"/>
                </a:solidFill>
              </a:rPr>
              <a:t>Khả năng mở rộng</a:t>
            </a:r>
            <a:r>
              <a:rPr lang="en-CA">
                <a:solidFill>
                  <a:schemeClr val="dk1"/>
                </a:solidFill>
              </a:rPr>
              <a:t>: message broker, sharding, load balancing.</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a:solidFill>
                  <a:schemeClr val="dk1"/>
                </a:solidFill>
              </a:rPr>
              <a:t>Độ tin cậy dữ liệu</a:t>
            </a:r>
            <a:r>
              <a:rPr lang="en-CA">
                <a:solidFill>
                  <a:schemeClr val="dk1"/>
                </a:solidFill>
              </a:rPr>
              <a:t>: QoS ở MQTT, buffering, retry policies.</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a:solidFill>
                  <a:schemeClr val="dk1"/>
                </a:solidFill>
              </a:rPr>
              <a:t>Quản lý thiết bị</a:t>
            </a:r>
            <a:r>
              <a:rPr lang="en-CA">
                <a:solidFill>
                  <a:schemeClr val="dk1"/>
                </a:solidFill>
              </a:rPr>
              <a:t>: provisioning và OTA là bắt buộc trong triển khai thực tế.</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9. Ví dụ thực tế mapping</a:t>
            </a:r>
            <a:endParaRPr sz="2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Gateway → Raspberry Pi / Cisco IoT Gateway.</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Processing Engine → Kafka + Flink / Cloud IoT Core + Cloud Functions.</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Application Layer → React dashboard + REST API (API Gateway).</a:t>
            </a:r>
            <a:br>
              <a:rPr lang="en-CA">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Devices Manager &amp; IAM → AWS IoT Device Management / Azure IoT Hub + Azure AD.</a:t>
            </a:r>
            <a:br>
              <a:rPr lang="en-CA">
                <a:solidFill>
                  <a:schemeClr val="dk1"/>
                </a:solidFill>
              </a:rPr>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Kết luận ngắn</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a:solidFill>
                  <a:schemeClr val="dk1"/>
                </a:solidFill>
              </a:rPr>
              <a:t>Sơ đồ mô tả một hệ thống IoT đầy đủ: từ </a:t>
            </a:r>
            <a:r>
              <a:rPr lang="en-CA" b="1">
                <a:solidFill>
                  <a:schemeClr val="dk1"/>
                </a:solidFill>
              </a:rPr>
              <a:t>thiết bị vật lý</a:t>
            </a:r>
            <a:r>
              <a:rPr lang="en-CA">
                <a:solidFill>
                  <a:schemeClr val="dk1"/>
                </a:solidFill>
              </a:rPr>
              <a:t> đến </a:t>
            </a:r>
            <a:r>
              <a:rPr lang="en-CA" b="1">
                <a:solidFill>
                  <a:schemeClr val="dk1"/>
                </a:solidFill>
              </a:rPr>
              <a:t>ứng dụng người dùng</a:t>
            </a:r>
            <a:r>
              <a:rPr lang="en-CA">
                <a:solidFill>
                  <a:schemeClr val="dk1"/>
                </a:solidFill>
              </a:rPr>
              <a:t>, kèm theo các chức năng quản trị và bảo mật xuyên suốt. Khi dạy, hãy minh hoạ bằng một case cụ thể (ví dụ: smart-home hoặc predictive maintenance) và cho sinh viên làm lab: </a:t>
            </a:r>
            <a:r>
              <a:rPr lang="en-CA" b="1">
                <a:solidFill>
                  <a:schemeClr val="dk1"/>
                </a:solidFill>
              </a:rPr>
              <a:t>kết nối cảm biến → gateway → gửi MQTT → xử lý → hiển thị trên dashboard</a:t>
            </a:r>
            <a:r>
              <a:rPr lang="en-CA">
                <a:solidFill>
                  <a:schemeClr val="dk1"/>
                </a:solidFill>
              </a:rPr>
              <a:t>.</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789eb9c381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789eb9c381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CA" dirty="0" err="1">
                <a:solidFill>
                  <a:schemeClr val="dk1"/>
                </a:solidFill>
              </a:rPr>
              <a:t>Các</a:t>
            </a:r>
            <a:r>
              <a:rPr lang="en-CA" dirty="0">
                <a:solidFill>
                  <a:schemeClr val="dk1"/>
                </a:solidFill>
              </a:rPr>
              <a:t> </a:t>
            </a:r>
            <a:r>
              <a:rPr lang="en-CA" dirty="0" err="1">
                <a:solidFill>
                  <a:schemeClr val="dk1"/>
                </a:solidFill>
              </a:rPr>
              <a:t>mức</a:t>
            </a:r>
            <a:r>
              <a:rPr lang="en-CA" dirty="0">
                <a:solidFill>
                  <a:schemeClr val="dk1"/>
                </a:solidFill>
              </a:rPr>
              <a:t> </a:t>
            </a:r>
            <a:r>
              <a:rPr lang="en-CA" dirty="0" err="1">
                <a:solidFill>
                  <a:schemeClr val="dk1"/>
                </a:solidFill>
              </a:rPr>
              <a:t>độ</a:t>
            </a:r>
            <a:r>
              <a:rPr lang="en-CA" dirty="0">
                <a:solidFill>
                  <a:schemeClr val="dk1"/>
                </a:solidFill>
              </a:rPr>
              <a:t> </a:t>
            </a:r>
            <a:r>
              <a:rPr lang="en-CA" dirty="0" err="1">
                <a:solidFill>
                  <a:schemeClr val="dk1"/>
                </a:solidFill>
              </a:rPr>
              <a:t>phát</a:t>
            </a:r>
            <a:r>
              <a:rPr lang="en-CA" dirty="0">
                <a:solidFill>
                  <a:schemeClr val="dk1"/>
                </a:solidFill>
              </a:rPr>
              <a:t> </a:t>
            </a:r>
            <a:r>
              <a:rPr lang="en-CA" dirty="0" err="1">
                <a:solidFill>
                  <a:schemeClr val="dk1"/>
                </a:solidFill>
              </a:rPr>
              <a:t>triển</a:t>
            </a:r>
            <a:r>
              <a:rPr lang="en-CA" dirty="0">
                <a:solidFill>
                  <a:schemeClr val="dk1"/>
                </a:solidFill>
              </a:rPr>
              <a:t> </a:t>
            </a:r>
            <a:r>
              <a:rPr lang="en-CA" dirty="0" err="1">
                <a:solidFill>
                  <a:schemeClr val="dk1"/>
                </a:solidFill>
              </a:rPr>
              <a:t>của</a:t>
            </a:r>
            <a:r>
              <a:rPr lang="en-CA" dirty="0">
                <a:solidFill>
                  <a:schemeClr val="dk1"/>
                </a:solidFill>
              </a:rPr>
              <a:t> </a:t>
            </a:r>
            <a:r>
              <a:rPr lang="en-CA" dirty="0" err="1">
                <a:solidFill>
                  <a:schemeClr val="dk1"/>
                </a:solidFill>
              </a:rPr>
              <a:t>hệ</a:t>
            </a:r>
            <a:r>
              <a:rPr lang="en-CA" dirty="0">
                <a:solidFill>
                  <a:schemeClr val="dk1"/>
                </a:solidFill>
              </a:rPr>
              <a:t> </a:t>
            </a:r>
            <a:r>
              <a:rPr lang="en-CA" dirty="0" err="1">
                <a:solidFill>
                  <a:schemeClr val="dk1"/>
                </a:solidFill>
              </a:rPr>
              <a:t>thống</a:t>
            </a:r>
            <a:r>
              <a:rPr lang="en-CA" dirty="0">
                <a:solidFill>
                  <a:schemeClr val="dk1"/>
                </a:solidFill>
              </a:rPr>
              <a:t> IoT </a:t>
            </a:r>
            <a:r>
              <a:rPr lang="en-CA" dirty="0" err="1">
                <a:solidFill>
                  <a:schemeClr val="dk1"/>
                </a:solidFill>
              </a:rPr>
              <a:t>được</a:t>
            </a:r>
            <a:r>
              <a:rPr lang="en-CA" dirty="0">
                <a:solidFill>
                  <a:schemeClr val="dk1"/>
                </a:solidFill>
              </a:rPr>
              <a:t> </a:t>
            </a:r>
            <a:r>
              <a:rPr lang="en-CA" dirty="0" err="1">
                <a:solidFill>
                  <a:schemeClr val="dk1"/>
                </a:solidFill>
              </a:rPr>
              <a:t>phân</a:t>
            </a:r>
            <a:r>
              <a:rPr lang="en-CA" dirty="0">
                <a:solidFill>
                  <a:schemeClr val="dk1"/>
                </a:solidFill>
              </a:rPr>
              <a:t> </a:t>
            </a:r>
            <a:r>
              <a:rPr lang="en-CA" dirty="0" err="1">
                <a:solidFill>
                  <a:schemeClr val="dk1"/>
                </a:solidFill>
              </a:rPr>
              <a:t>thành</a:t>
            </a:r>
            <a:r>
              <a:rPr lang="en-CA" dirty="0">
                <a:solidFill>
                  <a:schemeClr val="dk1"/>
                </a:solidFill>
              </a:rPr>
              <a:t> 6 </a:t>
            </a:r>
            <a:r>
              <a:rPr lang="en-CA" dirty="0" err="1">
                <a:solidFill>
                  <a:schemeClr val="dk1"/>
                </a:solidFill>
              </a:rPr>
              <a:t>cấp</a:t>
            </a:r>
            <a:r>
              <a:rPr lang="en-CA" dirty="0">
                <a:solidFill>
                  <a:schemeClr val="dk1"/>
                </a:solidFill>
              </a:rPr>
              <a:t> </a:t>
            </a:r>
            <a:r>
              <a:rPr lang="en-CA" dirty="0" err="1">
                <a:solidFill>
                  <a:schemeClr val="dk1"/>
                </a:solidFill>
              </a:rPr>
              <a:t>độ</a:t>
            </a:r>
            <a:r>
              <a:rPr lang="en-CA" dirty="0">
                <a:solidFill>
                  <a:schemeClr val="dk1"/>
                </a:solidFill>
              </a:rPr>
              <a:t> (Level 1 → Level 6) </a:t>
            </a:r>
            <a:r>
              <a:rPr lang="en-CA" dirty="0" err="1">
                <a:solidFill>
                  <a:schemeClr val="dk1"/>
                </a:solidFill>
              </a:rPr>
              <a:t>như</a:t>
            </a:r>
            <a:r>
              <a:rPr lang="en-CA" dirty="0">
                <a:solidFill>
                  <a:schemeClr val="dk1"/>
                </a:solidFill>
              </a:rPr>
              <a:t> </a:t>
            </a:r>
            <a:r>
              <a:rPr lang="en-CA" dirty="0" err="1">
                <a:solidFill>
                  <a:schemeClr val="dk1"/>
                </a:solidFill>
              </a:rPr>
              <a:t>một</a:t>
            </a:r>
            <a:r>
              <a:rPr lang="en-CA" dirty="0">
                <a:solidFill>
                  <a:schemeClr val="dk1"/>
                </a:solidFill>
              </a:rPr>
              <a:t> </a:t>
            </a:r>
            <a:r>
              <a:rPr lang="en-CA" b="1" dirty="0" err="1">
                <a:solidFill>
                  <a:schemeClr val="dk1"/>
                </a:solidFill>
              </a:rPr>
              <a:t>dải</a:t>
            </a:r>
            <a:r>
              <a:rPr lang="en-CA" b="1" dirty="0">
                <a:solidFill>
                  <a:schemeClr val="dk1"/>
                </a:solidFill>
              </a:rPr>
              <a:t> </a:t>
            </a:r>
            <a:r>
              <a:rPr lang="en-CA" b="1" dirty="0" err="1">
                <a:solidFill>
                  <a:schemeClr val="dk1"/>
                </a:solidFill>
              </a:rPr>
              <a:t>tiến</a:t>
            </a:r>
            <a:r>
              <a:rPr lang="en-CA" b="1" dirty="0">
                <a:solidFill>
                  <a:schemeClr val="dk1"/>
                </a:solidFill>
              </a:rPr>
              <a:t> </a:t>
            </a:r>
            <a:r>
              <a:rPr lang="en-CA" b="1" dirty="0" err="1">
                <a:solidFill>
                  <a:schemeClr val="dk1"/>
                </a:solidFill>
              </a:rPr>
              <a:t>hoá</a:t>
            </a:r>
            <a:r>
              <a:rPr lang="en-CA" b="1" dirty="0">
                <a:solidFill>
                  <a:schemeClr val="dk1"/>
                </a:solidFill>
              </a:rPr>
              <a:t> </a:t>
            </a:r>
            <a:r>
              <a:rPr lang="en-CA" b="1" dirty="0" err="1">
                <a:solidFill>
                  <a:schemeClr val="dk1"/>
                </a:solidFill>
              </a:rPr>
              <a:t>kiến</a:t>
            </a:r>
            <a:r>
              <a:rPr lang="en-CA" b="1" dirty="0">
                <a:solidFill>
                  <a:schemeClr val="dk1"/>
                </a:solidFill>
              </a:rPr>
              <a:t> </a:t>
            </a:r>
            <a:r>
              <a:rPr lang="en-CA" b="1" dirty="0" err="1">
                <a:solidFill>
                  <a:schemeClr val="dk1"/>
                </a:solidFill>
              </a:rPr>
              <a:t>trúc</a:t>
            </a:r>
            <a:r>
              <a:rPr lang="en-CA" dirty="0">
                <a:solidFill>
                  <a:schemeClr val="dk1"/>
                </a:solidFill>
              </a:rPr>
              <a:t> — </a:t>
            </a:r>
            <a:r>
              <a:rPr lang="en-CA" dirty="0" err="1">
                <a:solidFill>
                  <a:schemeClr val="dk1"/>
                </a:solidFill>
              </a:rPr>
              <a:t>từ</a:t>
            </a:r>
            <a:r>
              <a:rPr lang="en-CA" dirty="0">
                <a:solidFill>
                  <a:schemeClr val="dk1"/>
                </a:solidFill>
              </a:rPr>
              <a:t> </a:t>
            </a:r>
            <a:r>
              <a:rPr lang="en-CA" dirty="0" err="1">
                <a:solidFill>
                  <a:schemeClr val="dk1"/>
                </a:solidFill>
              </a:rPr>
              <a:t>hệ</a:t>
            </a:r>
            <a:r>
              <a:rPr lang="en-CA" dirty="0">
                <a:solidFill>
                  <a:schemeClr val="dk1"/>
                </a:solidFill>
              </a:rPr>
              <a:t> </a:t>
            </a:r>
            <a:r>
              <a:rPr lang="en-CA" dirty="0" err="1">
                <a:solidFill>
                  <a:schemeClr val="dk1"/>
                </a:solidFill>
              </a:rPr>
              <a:t>thống</a:t>
            </a:r>
            <a:r>
              <a:rPr lang="en-CA" dirty="0">
                <a:solidFill>
                  <a:schemeClr val="dk1"/>
                </a:solidFill>
              </a:rPr>
              <a:t> </a:t>
            </a:r>
            <a:r>
              <a:rPr lang="en-CA" dirty="0" err="1">
                <a:solidFill>
                  <a:schemeClr val="dk1"/>
                </a:solidFill>
              </a:rPr>
              <a:t>rất</a:t>
            </a:r>
            <a:r>
              <a:rPr lang="en-CA" dirty="0">
                <a:solidFill>
                  <a:schemeClr val="dk1"/>
                </a:solidFill>
              </a:rPr>
              <a:t> </a:t>
            </a:r>
            <a:r>
              <a:rPr lang="en-CA" dirty="0" err="1">
                <a:solidFill>
                  <a:schemeClr val="dk1"/>
                </a:solidFill>
              </a:rPr>
              <a:t>đơn</a:t>
            </a:r>
            <a:r>
              <a:rPr lang="en-CA" dirty="0">
                <a:solidFill>
                  <a:schemeClr val="dk1"/>
                </a:solidFill>
              </a:rPr>
              <a:t> </a:t>
            </a:r>
            <a:r>
              <a:rPr lang="en-CA" dirty="0" err="1">
                <a:solidFill>
                  <a:schemeClr val="dk1"/>
                </a:solidFill>
              </a:rPr>
              <a:t>giản</a:t>
            </a:r>
            <a:r>
              <a:rPr lang="en-CA" dirty="0">
                <a:solidFill>
                  <a:schemeClr val="dk1"/>
                </a:solidFill>
              </a:rPr>
              <a:t>, </a:t>
            </a:r>
            <a:r>
              <a:rPr lang="en-CA" dirty="0" err="1">
                <a:solidFill>
                  <a:schemeClr val="dk1"/>
                </a:solidFill>
              </a:rPr>
              <a:t>toàn</a:t>
            </a:r>
            <a:r>
              <a:rPr lang="en-CA" dirty="0">
                <a:solidFill>
                  <a:schemeClr val="dk1"/>
                </a:solidFill>
              </a:rPr>
              <a:t> </a:t>
            </a:r>
            <a:r>
              <a:rPr lang="en-CA" dirty="0" err="1">
                <a:solidFill>
                  <a:schemeClr val="dk1"/>
                </a:solidFill>
              </a:rPr>
              <a:t>cục</a:t>
            </a:r>
            <a:r>
              <a:rPr lang="en-CA" dirty="0">
                <a:solidFill>
                  <a:schemeClr val="dk1"/>
                </a:solidFill>
              </a:rPr>
              <a:t>-local, </a:t>
            </a:r>
            <a:r>
              <a:rPr lang="en-CA" dirty="0" err="1">
                <a:solidFill>
                  <a:schemeClr val="dk1"/>
                </a:solidFill>
              </a:rPr>
              <a:t>đến</a:t>
            </a:r>
            <a:r>
              <a:rPr lang="en-CA" dirty="0">
                <a:solidFill>
                  <a:schemeClr val="dk1"/>
                </a:solidFill>
              </a:rPr>
              <a:t> </a:t>
            </a:r>
            <a:r>
              <a:rPr lang="en-CA" dirty="0" err="1">
                <a:solidFill>
                  <a:schemeClr val="dk1"/>
                </a:solidFill>
              </a:rPr>
              <a:t>hệ</a:t>
            </a:r>
            <a:r>
              <a:rPr lang="en-CA" dirty="0">
                <a:solidFill>
                  <a:schemeClr val="dk1"/>
                </a:solidFill>
              </a:rPr>
              <a:t> </a:t>
            </a:r>
            <a:r>
              <a:rPr lang="en-CA" dirty="0" err="1">
                <a:solidFill>
                  <a:schemeClr val="dk1"/>
                </a:solidFill>
              </a:rPr>
              <a:t>sinh</a:t>
            </a:r>
            <a:r>
              <a:rPr lang="en-CA" dirty="0">
                <a:solidFill>
                  <a:schemeClr val="dk1"/>
                </a:solidFill>
              </a:rPr>
              <a:t> </a:t>
            </a:r>
            <a:r>
              <a:rPr lang="en-CA" dirty="0" err="1">
                <a:solidFill>
                  <a:schemeClr val="dk1"/>
                </a:solidFill>
              </a:rPr>
              <a:t>thái</a:t>
            </a:r>
            <a:r>
              <a:rPr lang="en-CA" dirty="0">
                <a:solidFill>
                  <a:schemeClr val="dk1"/>
                </a:solidFill>
              </a:rPr>
              <a:t> </a:t>
            </a:r>
            <a:r>
              <a:rPr lang="en-CA" dirty="0" err="1">
                <a:solidFill>
                  <a:schemeClr val="dk1"/>
                </a:solidFill>
              </a:rPr>
              <a:t>phân</a:t>
            </a:r>
            <a:r>
              <a:rPr lang="en-CA" dirty="0">
                <a:solidFill>
                  <a:schemeClr val="dk1"/>
                </a:solidFill>
              </a:rPr>
              <a:t> </a:t>
            </a:r>
            <a:r>
              <a:rPr lang="en-CA" dirty="0" err="1">
                <a:solidFill>
                  <a:schemeClr val="dk1"/>
                </a:solidFill>
              </a:rPr>
              <a:t>lớp</a:t>
            </a:r>
            <a:r>
              <a:rPr lang="en-CA" dirty="0">
                <a:solidFill>
                  <a:schemeClr val="dk1"/>
                </a:solidFill>
              </a:rPr>
              <a:t> </a:t>
            </a:r>
            <a:r>
              <a:rPr lang="en-CA" dirty="0" err="1">
                <a:solidFill>
                  <a:schemeClr val="dk1"/>
                </a:solidFill>
              </a:rPr>
              <a:t>kết</a:t>
            </a:r>
            <a:r>
              <a:rPr lang="en-CA" dirty="0">
                <a:solidFill>
                  <a:schemeClr val="dk1"/>
                </a:solidFill>
              </a:rPr>
              <a:t> </a:t>
            </a:r>
            <a:r>
              <a:rPr lang="en-CA" dirty="0" err="1">
                <a:solidFill>
                  <a:schemeClr val="dk1"/>
                </a:solidFill>
              </a:rPr>
              <a:t>hợp</a:t>
            </a:r>
            <a:r>
              <a:rPr lang="en-CA" dirty="0">
                <a:solidFill>
                  <a:schemeClr val="dk1"/>
                </a:solidFill>
              </a:rPr>
              <a:t> </a:t>
            </a:r>
            <a:r>
              <a:rPr lang="en-CA" b="1" dirty="0">
                <a:solidFill>
                  <a:schemeClr val="dk1"/>
                </a:solidFill>
              </a:rPr>
              <a:t>local (edge)</a:t>
            </a:r>
            <a:r>
              <a:rPr lang="en-CA" dirty="0">
                <a:solidFill>
                  <a:schemeClr val="dk1"/>
                </a:solidFill>
              </a:rPr>
              <a:t> </a:t>
            </a:r>
            <a:r>
              <a:rPr lang="en-CA" dirty="0" err="1">
                <a:solidFill>
                  <a:schemeClr val="dk1"/>
                </a:solidFill>
              </a:rPr>
              <a:t>và</a:t>
            </a:r>
            <a:r>
              <a:rPr lang="en-CA" dirty="0">
                <a:solidFill>
                  <a:schemeClr val="dk1"/>
                </a:solidFill>
              </a:rPr>
              <a:t> </a:t>
            </a:r>
            <a:r>
              <a:rPr lang="en-CA" b="1" dirty="0">
                <a:solidFill>
                  <a:schemeClr val="dk1"/>
                </a:solidFill>
              </a:rPr>
              <a:t>cloud</a:t>
            </a:r>
            <a:r>
              <a:rPr lang="en-CA" dirty="0">
                <a:solidFill>
                  <a:schemeClr val="dk1"/>
                </a:solidFill>
              </a:rPr>
              <a:t> </a:t>
            </a:r>
            <a:r>
              <a:rPr lang="en-CA" dirty="0" err="1">
                <a:solidFill>
                  <a:schemeClr val="dk1"/>
                </a:solidFill>
              </a:rPr>
              <a:t>với</a:t>
            </a:r>
            <a:r>
              <a:rPr lang="en-CA" dirty="0">
                <a:solidFill>
                  <a:schemeClr val="dk1"/>
                </a:solidFill>
              </a:rPr>
              <a:t> </a:t>
            </a:r>
            <a:r>
              <a:rPr lang="en-CA" dirty="0" err="1">
                <a:solidFill>
                  <a:schemeClr val="dk1"/>
                </a:solidFill>
              </a:rPr>
              <a:t>điều</a:t>
            </a:r>
            <a:r>
              <a:rPr lang="en-CA" dirty="0">
                <a:solidFill>
                  <a:schemeClr val="dk1"/>
                </a:solidFill>
              </a:rPr>
              <a:t> </a:t>
            </a:r>
            <a:r>
              <a:rPr lang="en-CA" dirty="0" err="1">
                <a:solidFill>
                  <a:schemeClr val="dk1"/>
                </a:solidFill>
              </a:rPr>
              <a:t>khiển</a:t>
            </a:r>
            <a:r>
              <a:rPr lang="en-CA" dirty="0">
                <a:solidFill>
                  <a:schemeClr val="dk1"/>
                </a:solidFill>
              </a:rPr>
              <a:t>/</a:t>
            </a:r>
            <a:r>
              <a:rPr lang="en-CA" dirty="0" err="1">
                <a:solidFill>
                  <a:schemeClr val="dk1"/>
                </a:solidFill>
              </a:rPr>
              <a:t>tổng</a:t>
            </a:r>
            <a:r>
              <a:rPr lang="en-CA" dirty="0">
                <a:solidFill>
                  <a:schemeClr val="dk1"/>
                </a:solidFill>
              </a:rPr>
              <a:t> </a:t>
            </a:r>
            <a:r>
              <a:rPr lang="en-CA" dirty="0" err="1">
                <a:solidFill>
                  <a:schemeClr val="dk1"/>
                </a:solidFill>
              </a:rPr>
              <a:t>hợp</a:t>
            </a:r>
            <a:r>
              <a:rPr lang="en-CA" dirty="0">
                <a:solidFill>
                  <a:schemeClr val="dk1"/>
                </a:solidFill>
              </a:rPr>
              <a:t> </a:t>
            </a:r>
            <a:r>
              <a:rPr lang="en-CA" dirty="0" err="1">
                <a:solidFill>
                  <a:schemeClr val="dk1"/>
                </a:solidFill>
              </a:rPr>
              <a:t>trung</a:t>
            </a:r>
            <a:r>
              <a:rPr lang="en-CA" dirty="0">
                <a:solidFill>
                  <a:schemeClr val="dk1"/>
                </a:solidFill>
              </a:rPr>
              <a:t> </a:t>
            </a:r>
            <a:r>
              <a:rPr lang="en-CA" dirty="0" err="1">
                <a:solidFill>
                  <a:schemeClr val="dk1"/>
                </a:solidFill>
              </a:rPr>
              <a:t>tâm</a:t>
            </a:r>
            <a:r>
              <a:rPr lang="en-CA" dirty="0">
                <a:solidFill>
                  <a:schemeClr val="dk1"/>
                </a:solidFill>
              </a:rPr>
              <a:t>. </a:t>
            </a:r>
            <a:r>
              <a:rPr lang="en-CA" dirty="0" err="1">
                <a:solidFill>
                  <a:schemeClr val="dk1"/>
                </a:solidFill>
              </a:rPr>
              <a:t>Mỗi</a:t>
            </a:r>
            <a:r>
              <a:rPr lang="en-CA" dirty="0">
                <a:solidFill>
                  <a:schemeClr val="dk1"/>
                </a:solidFill>
              </a:rPr>
              <a:t> “level” </a:t>
            </a:r>
            <a:r>
              <a:rPr lang="en-CA" dirty="0" err="1">
                <a:solidFill>
                  <a:schemeClr val="dk1"/>
                </a:solidFill>
              </a:rPr>
              <a:t>thể</a:t>
            </a:r>
            <a:r>
              <a:rPr lang="en-CA" dirty="0">
                <a:solidFill>
                  <a:schemeClr val="dk1"/>
                </a:solidFill>
              </a:rPr>
              <a:t> </a:t>
            </a:r>
            <a:r>
              <a:rPr lang="en-CA" dirty="0" err="1">
                <a:solidFill>
                  <a:schemeClr val="dk1"/>
                </a:solidFill>
              </a:rPr>
              <a:t>hiện</a:t>
            </a:r>
            <a:r>
              <a:rPr lang="en-CA" dirty="0">
                <a:solidFill>
                  <a:schemeClr val="dk1"/>
                </a:solidFill>
              </a:rPr>
              <a:t> </a:t>
            </a:r>
            <a:r>
              <a:rPr lang="en-CA" dirty="0" err="1">
                <a:solidFill>
                  <a:schemeClr val="dk1"/>
                </a:solidFill>
              </a:rPr>
              <a:t>mức</a:t>
            </a:r>
            <a:r>
              <a:rPr lang="en-CA" dirty="0">
                <a:solidFill>
                  <a:schemeClr val="dk1"/>
                </a:solidFill>
              </a:rPr>
              <a:t> </a:t>
            </a:r>
            <a:r>
              <a:rPr lang="en-CA" dirty="0" err="1">
                <a:solidFill>
                  <a:schemeClr val="dk1"/>
                </a:solidFill>
              </a:rPr>
              <a:t>độ</a:t>
            </a:r>
            <a:r>
              <a:rPr lang="en-CA" dirty="0">
                <a:solidFill>
                  <a:schemeClr val="dk1"/>
                </a:solidFill>
              </a:rPr>
              <a:t> </a:t>
            </a:r>
            <a:r>
              <a:rPr lang="en-CA" dirty="0" err="1">
                <a:solidFill>
                  <a:schemeClr val="dk1"/>
                </a:solidFill>
              </a:rPr>
              <a:t>phân</a:t>
            </a:r>
            <a:r>
              <a:rPr lang="en-CA" dirty="0">
                <a:solidFill>
                  <a:schemeClr val="dk1"/>
                </a:solidFill>
              </a:rPr>
              <a:t> </a:t>
            </a:r>
            <a:r>
              <a:rPr lang="en-CA" dirty="0" err="1">
                <a:solidFill>
                  <a:schemeClr val="dk1"/>
                </a:solidFill>
              </a:rPr>
              <a:t>tán</a:t>
            </a:r>
            <a:r>
              <a:rPr lang="en-CA" dirty="0">
                <a:solidFill>
                  <a:schemeClr val="dk1"/>
                </a:solidFill>
              </a:rPr>
              <a:t>, </a:t>
            </a:r>
            <a:r>
              <a:rPr lang="en-CA" dirty="0" err="1">
                <a:solidFill>
                  <a:schemeClr val="dk1"/>
                </a:solidFill>
              </a:rPr>
              <a:t>phối</a:t>
            </a:r>
            <a:r>
              <a:rPr lang="en-CA" dirty="0">
                <a:solidFill>
                  <a:schemeClr val="dk1"/>
                </a:solidFill>
              </a:rPr>
              <a:t> </a:t>
            </a:r>
            <a:r>
              <a:rPr lang="en-CA" dirty="0" err="1">
                <a:solidFill>
                  <a:schemeClr val="dk1"/>
                </a:solidFill>
              </a:rPr>
              <a:t>hợp</a:t>
            </a:r>
            <a:r>
              <a:rPr lang="en-CA" dirty="0">
                <a:solidFill>
                  <a:schemeClr val="dk1"/>
                </a:solidFill>
              </a:rPr>
              <a:t>, </a:t>
            </a:r>
            <a:r>
              <a:rPr lang="en-CA" dirty="0" err="1">
                <a:solidFill>
                  <a:schemeClr val="dk1"/>
                </a:solidFill>
              </a:rPr>
              <a:t>phụ</a:t>
            </a:r>
            <a:r>
              <a:rPr lang="en-CA" dirty="0">
                <a:solidFill>
                  <a:schemeClr val="dk1"/>
                </a:solidFill>
              </a:rPr>
              <a:t> </a:t>
            </a:r>
            <a:r>
              <a:rPr lang="en-CA" dirty="0" err="1">
                <a:solidFill>
                  <a:schemeClr val="dk1"/>
                </a:solidFill>
              </a:rPr>
              <a:t>thuộc</a:t>
            </a:r>
            <a:r>
              <a:rPr lang="en-CA" dirty="0">
                <a:solidFill>
                  <a:schemeClr val="dk1"/>
                </a:solidFill>
              </a:rPr>
              <a:t> </a:t>
            </a:r>
            <a:r>
              <a:rPr lang="en-CA" dirty="0" err="1">
                <a:solidFill>
                  <a:schemeClr val="dk1"/>
                </a:solidFill>
              </a:rPr>
              <a:t>vào</a:t>
            </a:r>
            <a:r>
              <a:rPr lang="en-CA" dirty="0">
                <a:solidFill>
                  <a:schemeClr val="dk1"/>
                </a:solidFill>
              </a:rPr>
              <a:t> cloud </a:t>
            </a:r>
            <a:r>
              <a:rPr lang="en-CA" dirty="0" err="1">
                <a:solidFill>
                  <a:schemeClr val="dk1"/>
                </a:solidFill>
              </a:rPr>
              <a:t>và</a:t>
            </a:r>
            <a:r>
              <a:rPr lang="en-CA" dirty="0">
                <a:solidFill>
                  <a:schemeClr val="dk1"/>
                </a:solidFill>
              </a:rPr>
              <a:t> </a:t>
            </a:r>
            <a:r>
              <a:rPr lang="en-CA" dirty="0" err="1">
                <a:solidFill>
                  <a:schemeClr val="dk1"/>
                </a:solidFill>
              </a:rPr>
              <a:t>khả</a:t>
            </a:r>
            <a:r>
              <a:rPr lang="en-CA" dirty="0">
                <a:solidFill>
                  <a:schemeClr val="dk1"/>
                </a:solidFill>
              </a:rPr>
              <a:t> </a:t>
            </a:r>
            <a:r>
              <a:rPr lang="en-CA" dirty="0" err="1">
                <a:solidFill>
                  <a:schemeClr val="dk1"/>
                </a:solidFill>
              </a:rPr>
              <a:t>năng</a:t>
            </a:r>
            <a:r>
              <a:rPr lang="en-CA" dirty="0">
                <a:solidFill>
                  <a:schemeClr val="dk1"/>
                </a:solidFill>
              </a:rPr>
              <a:t> </a:t>
            </a:r>
            <a:r>
              <a:rPr lang="en-CA" dirty="0" err="1">
                <a:solidFill>
                  <a:schemeClr val="dk1"/>
                </a:solidFill>
              </a:rPr>
              <a:t>điều</a:t>
            </a:r>
            <a:r>
              <a:rPr lang="en-CA" dirty="0">
                <a:solidFill>
                  <a:schemeClr val="dk1"/>
                </a:solidFill>
              </a:rPr>
              <a:t> </a:t>
            </a:r>
            <a:r>
              <a:rPr lang="en-CA" dirty="0" err="1">
                <a:solidFill>
                  <a:schemeClr val="dk1"/>
                </a:solidFill>
              </a:rPr>
              <a:t>khiển</a:t>
            </a:r>
            <a:r>
              <a:rPr lang="en-CA" dirty="0">
                <a:solidFill>
                  <a:schemeClr val="dk1"/>
                </a:solidFill>
              </a:rPr>
              <a:t> </a:t>
            </a:r>
            <a:r>
              <a:rPr lang="en-CA" dirty="0" err="1">
                <a:solidFill>
                  <a:schemeClr val="dk1"/>
                </a:solidFill>
              </a:rPr>
              <a:t>tập</a:t>
            </a:r>
            <a:r>
              <a:rPr lang="en-CA" dirty="0">
                <a:solidFill>
                  <a:schemeClr val="dk1"/>
                </a:solidFill>
              </a:rPr>
              <a:t> </a:t>
            </a:r>
            <a:r>
              <a:rPr lang="en-CA" dirty="0" err="1">
                <a:solidFill>
                  <a:schemeClr val="dk1"/>
                </a:solidFill>
              </a:rPr>
              <a:t>trung</a:t>
            </a:r>
            <a:r>
              <a:rPr lang="en-CA" dirty="0">
                <a:solidFill>
                  <a:schemeClr val="dk1"/>
                </a:solidFill>
              </a:rPr>
              <a:t>. </a:t>
            </a:r>
            <a:r>
              <a:rPr lang="en-CA" dirty="0" err="1">
                <a:solidFill>
                  <a:schemeClr val="dk1"/>
                </a:solidFill>
              </a:rPr>
              <a:t>Dưới</a:t>
            </a:r>
            <a:r>
              <a:rPr lang="en-CA" dirty="0">
                <a:solidFill>
                  <a:schemeClr val="dk1"/>
                </a:solidFill>
              </a:rPr>
              <a:t> </a:t>
            </a:r>
            <a:r>
              <a:rPr lang="en-CA" dirty="0" err="1">
                <a:solidFill>
                  <a:schemeClr val="dk1"/>
                </a:solidFill>
              </a:rPr>
              <a:t>đây</a:t>
            </a:r>
            <a:r>
              <a:rPr lang="en-CA" dirty="0">
                <a:solidFill>
                  <a:schemeClr val="dk1"/>
                </a:solidFill>
              </a:rPr>
              <a:t> </a:t>
            </a:r>
            <a:r>
              <a:rPr lang="en-CA" dirty="0" err="1">
                <a:solidFill>
                  <a:schemeClr val="dk1"/>
                </a:solidFill>
              </a:rPr>
              <a:t>là</a:t>
            </a:r>
            <a:r>
              <a:rPr lang="en-CA" dirty="0">
                <a:solidFill>
                  <a:schemeClr val="dk1"/>
                </a:solidFill>
              </a:rPr>
              <a:t> </a:t>
            </a:r>
            <a:r>
              <a:rPr lang="en-CA" dirty="0" err="1">
                <a:solidFill>
                  <a:schemeClr val="dk1"/>
                </a:solidFill>
              </a:rPr>
              <a:t>giải</a:t>
            </a:r>
            <a:r>
              <a:rPr lang="en-CA" dirty="0">
                <a:solidFill>
                  <a:schemeClr val="dk1"/>
                </a:solidFill>
              </a:rPr>
              <a:t> </a:t>
            </a:r>
            <a:r>
              <a:rPr lang="en-CA" dirty="0" err="1">
                <a:solidFill>
                  <a:schemeClr val="dk1"/>
                </a:solidFill>
              </a:rPr>
              <a:t>thích</a:t>
            </a:r>
            <a:r>
              <a:rPr lang="en-CA" dirty="0">
                <a:solidFill>
                  <a:schemeClr val="dk1"/>
                </a:solidFill>
              </a:rPr>
              <a:t> </a:t>
            </a:r>
            <a:r>
              <a:rPr lang="en-CA" dirty="0" err="1">
                <a:solidFill>
                  <a:schemeClr val="dk1"/>
                </a:solidFill>
              </a:rPr>
              <a:t>từng</a:t>
            </a:r>
            <a:r>
              <a:rPr lang="en-CA" dirty="0">
                <a:solidFill>
                  <a:schemeClr val="dk1"/>
                </a:solidFill>
              </a:rPr>
              <a:t> </a:t>
            </a:r>
            <a:r>
              <a:rPr lang="en-CA" dirty="0" err="1">
                <a:solidFill>
                  <a:schemeClr val="dk1"/>
                </a:solidFill>
              </a:rPr>
              <a:t>mức</a:t>
            </a:r>
            <a:r>
              <a:rPr lang="en-CA" dirty="0">
                <a:solidFill>
                  <a:schemeClr val="dk1"/>
                </a:solidFill>
              </a:rPr>
              <a:t>, </a:t>
            </a:r>
            <a:r>
              <a:rPr lang="en-CA" dirty="0" err="1">
                <a:solidFill>
                  <a:schemeClr val="dk1"/>
                </a:solidFill>
              </a:rPr>
              <a:t>kèm</a:t>
            </a:r>
            <a:r>
              <a:rPr lang="en-CA" dirty="0">
                <a:solidFill>
                  <a:schemeClr val="dk1"/>
                </a:solidFill>
              </a:rPr>
              <a:t> ý </a:t>
            </a:r>
            <a:r>
              <a:rPr lang="en-CA" dirty="0" err="1">
                <a:solidFill>
                  <a:schemeClr val="dk1"/>
                </a:solidFill>
              </a:rPr>
              <a:t>nghĩa</a:t>
            </a:r>
            <a:r>
              <a:rPr lang="en-CA" dirty="0">
                <a:solidFill>
                  <a:schemeClr val="dk1"/>
                </a:solidFill>
              </a:rPr>
              <a:t>, </a:t>
            </a:r>
            <a:r>
              <a:rPr lang="en-CA" dirty="0" err="1">
                <a:solidFill>
                  <a:schemeClr val="dk1"/>
                </a:solidFill>
              </a:rPr>
              <a:t>ví</a:t>
            </a:r>
            <a:r>
              <a:rPr lang="en-CA" dirty="0">
                <a:solidFill>
                  <a:schemeClr val="dk1"/>
                </a:solidFill>
              </a:rPr>
              <a:t> </a:t>
            </a:r>
            <a:r>
              <a:rPr lang="en-CA" dirty="0" err="1">
                <a:solidFill>
                  <a:schemeClr val="dk1"/>
                </a:solidFill>
              </a:rPr>
              <a:t>dụ</a:t>
            </a:r>
            <a:r>
              <a:rPr lang="en-CA" dirty="0">
                <a:solidFill>
                  <a:schemeClr val="dk1"/>
                </a:solidFill>
              </a:rPr>
              <a:t> </a:t>
            </a:r>
            <a:r>
              <a:rPr lang="en-CA" dirty="0" err="1">
                <a:solidFill>
                  <a:schemeClr val="dk1"/>
                </a:solidFill>
              </a:rPr>
              <a:t>và</a:t>
            </a:r>
            <a:r>
              <a:rPr lang="en-CA" dirty="0">
                <a:solidFill>
                  <a:schemeClr val="dk1"/>
                </a:solidFill>
              </a:rPr>
              <a:t> </a:t>
            </a:r>
            <a:r>
              <a:rPr lang="en-CA" dirty="0" err="1">
                <a:solidFill>
                  <a:schemeClr val="dk1"/>
                </a:solidFill>
              </a:rPr>
              <a:t>ưu</a:t>
            </a:r>
            <a:r>
              <a:rPr lang="en-CA" dirty="0">
                <a:solidFill>
                  <a:schemeClr val="dk1"/>
                </a:solidFill>
              </a:rPr>
              <a:t>/</a:t>
            </a:r>
            <a:r>
              <a:rPr lang="en-CA">
                <a:solidFill>
                  <a:schemeClr val="dk1"/>
                </a:solidFill>
              </a:rPr>
              <a:t>nhược</a:t>
            </a:r>
            <a:r>
              <a:rPr lang="en-CA" dirty="0">
                <a:solidFill>
                  <a:schemeClr val="dk1"/>
                </a:solidFill>
              </a:rPr>
              <a:t> </a:t>
            </a:r>
            <a:r>
              <a:rPr lang="en-CA" dirty="0" err="1">
                <a:solidFill>
                  <a:schemeClr val="dk1"/>
                </a:solidFill>
              </a:rPr>
              <a:t>điểm</a:t>
            </a:r>
            <a:r>
              <a:rPr lang="en-CA" dirty="0">
                <a:solidFill>
                  <a:schemeClr val="dk1"/>
                </a:solidFill>
              </a:rPr>
              <a:t>.</a:t>
            </a:r>
            <a:endParaRPr dirty="0">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CA" sz="2300" b="1" dirty="0" err="1">
                <a:solidFill>
                  <a:schemeClr val="dk1"/>
                </a:solidFill>
              </a:rPr>
              <a:t>Tổng</a:t>
            </a:r>
            <a:r>
              <a:rPr lang="en-CA" sz="2300" b="1" dirty="0">
                <a:solidFill>
                  <a:schemeClr val="dk1"/>
                </a:solidFill>
              </a:rPr>
              <a:t> </a:t>
            </a:r>
            <a:r>
              <a:rPr lang="en-CA" sz="2300" b="1" dirty="0" err="1">
                <a:solidFill>
                  <a:schemeClr val="dk1"/>
                </a:solidFill>
              </a:rPr>
              <a:t>quan</a:t>
            </a:r>
            <a:r>
              <a:rPr lang="en-CA" sz="2300" b="1" dirty="0">
                <a:solidFill>
                  <a:schemeClr val="dk1"/>
                </a:solidFill>
              </a:rPr>
              <a:t> </a:t>
            </a:r>
            <a:r>
              <a:rPr lang="en-CA" sz="2300" b="1" dirty="0" err="1">
                <a:solidFill>
                  <a:schemeClr val="dk1"/>
                </a:solidFill>
              </a:rPr>
              <a:t>ngắn</a:t>
            </a:r>
            <a:endParaRPr sz="23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b="1" dirty="0">
                <a:solidFill>
                  <a:schemeClr val="dk1"/>
                </a:solidFill>
              </a:rPr>
              <a:t>Local</a:t>
            </a:r>
            <a:r>
              <a:rPr lang="en-CA" dirty="0">
                <a:solidFill>
                  <a:schemeClr val="dk1"/>
                </a:solidFill>
              </a:rPr>
              <a:t>: </a:t>
            </a:r>
            <a:r>
              <a:rPr lang="en-CA" dirty="0" err="1">
                <a:solidFill>
                  <a:schemeClr val="dk1"/>
                </a:solidFill>
              </a:rPr>
              <a:t>xử</a:t>
            </a:r>
            <a:r>
              <a:rPr lang="en-CA" dirty="0">
                <a:solidFill>
                  <a:schemeClr val="dk1"/>
                </a:solidFill>
              </a:rPr>
              <a:t> </a:t>
            </a:r>
            <a:r>
              <a:rPr lang="en-CA" dirty="0" err="1">
                <a:solidFill>
                  <a:schemeClr val="dk1"/>
                </a:solidFill>
              </a:rPr>
              <a:t>lý</a:t>
            </a:r>
            <a:r>
              <a:rPr lang="en-CA" dirty="0">
                <a:solidFill>
                  <a:schemeClr val="dk1"/>
                </a:solidFill>
              </a:rPr>
              <a:t>/</a:t>
            </a:r>
            <a:r>
              <a:rPr lang="en-CA" dirty="0" err="1">
                <a:solidFill>
                  <a:schemeClr val="dk1"/>
                </a:solidFill>
              </a:rPr>
              <a:t>điều</a:t>
            </a:r>
            <a:r>
              <a:rPr lang="en-CA" dirty="0">
                <a:solidFill>
                  <a:schemeClr val="dk1"/>
                </a:solidFill>
              </a:rPr>
              <a:t> </a:t>
            </a:r>
            <a:r>
              <a:rPr lang="en-CA" dirty="0" err="1">
                <a:solidFill>
                  <a:schemeClr val="dk1"/>
                </a:solidFill>
              </a:rPr>
              <a:t>khiển</a:t>
            </a:r>
            <a:r>
              <a:rPr lang="en-CA" dirty="0">
                <a:solidFill>
                  <a:schemeClr val="dk1"/>
                </a:solidFill>
              </a:rPr>
              <a:t> </a:t>
            </a:r>
            <a:r>
              <a:rPr lang="en-CA" dirty="0" err="1">
                <a:solidFill>
                  <a:schemeClr val="dk1"/>
                </a:solidFill>
              </a:rPr>
              <a:t>gần</a:t>
            </a:r>
            <a:r>
              <a:rPr lang="en-CA" dirty="0">
                <a:solidFill>
                  <a:schemeClr val="dk1"/>
                </a:solidFill>
              </a:rPr>
              <a:t> </a:t>
            </a:r>
            <a:r>
              <a:rPr lang="en-CA" dirty="0" err="1">
                <a:solidFill>
                  <a:schemeClr val="dk1"/>
                </a:solidFill>
              </a:rPr>
              <a:t>thiết</a:t>
            </a:r>
            <a:r>
              <a:rPr lang="en-CA" dirty="0">
                <a:solidFill>
                  <a:schemeClr val="dk1"/>
                </a:solidFill>
              </a:rPr>
              <a:t> </a:t>
            </a:r>
            <a:r>
              <a:rPr lang="en-CA" dirty="0" err="1">
                <a:solidFill>
                  <a:schemeClr val="dk1"/>
                </a:solidFill>
              </a:rPr>
              <a:t>bị</a:t>
            </a:r>
            <a:r>
              <a:rPr lang="en-CA" dirty="0">
                <a:solidFill>
                  <a:schemeClr val="dk1"/>
                </a:solidFill>
              </a:rPr>
              <a:t> (</a:t>
            </a:r>
            <a:r>
              <a:rPr lang="en-CA" dirty="0" err="1">
                <a:solidFill>
                  <a:schemeClr val="dk1"/>
                </a:solidFill>
              </a:rPr>
              <a:t>tốc</a:t>
            </a:r>
            <a:r>
              <a:rPr lang="en-CA" dirty="0">
                <a:solidFill>
                  <a:schemeClr val="dk1"/>
                </a:solidFill>
              </a:rPr>
              <a:t> </a:t>
            </a:r>
            <a:r>
              <a:rPr lang="en-CA" dirty="0" err="1">
                <a:solidFill>
                  <a:schemeClr val="dk1"/>
                </a:solidFill>
              </a:rPr>
              <a:t>độ</a:t>
            </a:r>
            <a:r>
              <a:rPr lang="en-CA" dirty="0">
                <a:solidFill>
                  <a:schemeClr val="dk1"/>
                </a:solidFill>
              </a:rPr>
              <a:t> </a:t>
            </a:r>
            <a:r>
              <a:rPr lang="en-CA" dirty="0" err="1">
                <a:solidFill>
                  <a:schemeClr val="dk1"/>
                </a:solidFill>
              </a:rPr>
              <a:t>thấp</a:t>
            </a:r>
            <a:r>
              <a:rPr lang="en-CA" dirty="0">
                <a:solidFill>
                  <a:schemeClr val="dk1"/>
                </a:solidFill>
              </a:rPr>
              <a:t>, </a:t>
            </a:r>
            <a:r>
              <a:rPr lang="en-CA" dirty="0" err="1">
                <a:solidFill>
                  <a:schemeClr val="dk1"/>
                </a:solidFill>
              </a:rPr>
              <a:t>không</a:t>
            </a:r>
            <a:r>
              <a:rPr lang="en-CA" dirty="0">
                <a:solidFill>
                  <a:schemeClr val="dk1"/>
                </a:solidFill>
              </a:rPr>
              <a:t> </a:t>
            </a:r>
            <a:r>
              <a:rPr lang="en-CA" dirty="0" err="1">
                <a:solidFill>
                  <a:schemeClr val="dk1"/>
                </a:solidFill>
              </a:rPr>
              <a:t>cần</a:t>
            </a:r>
            <a:r>
              <a:rPr lang="en-CA" dirty="0">
                <a:solidFill>
                  <a:schemeClr val="dk1"/>
                </a:solidFill>
              </a:rPr>
              <a:t> cloud).</a:t>
            </a:r>
            <a:br>
              <a:rPr lang="en-CA" dirty="0">
                <a:solidFill>
                  <a:schemeClr val="dk1"/>
                </a:solidFill>
              </a:rPr>
            </a:b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dirty="0">
                <a:solidFill>
                  <a:schemeClr val="dk1"/>
                </a:solidFill>
              </a:rPr>
              <a:t>Cloud</a:t>
            </a:r>
            <a:r>
              <a:rPr lang="en-CA" dirty="0">
                <a:solidFill>
                  <a:schemeClr val="dk1"/>
                </a:solidFill>
              </a:rPr>
              <a:t>: </a:t>
            </a:r>
            <a:r>
              <a:rPr lang="en-CA" dirty="0" err="1">
                <a:solidFill>
                  <a:schemeClr val="dk1"/>
                </a:solidFill>
              </a:rPr>
              <a:t>xử</a:t>
            </a:r>
            <a:r>
              <a:rPr lang="en-CA" dirty="0">
                <a:solidFill>
                  <a:schemeClr val="dk1"/>
                </a:solidFill>
              </a:rPr>
              <a:t> </a:t>
            </a:r>
            <a:r>
              <a:rPr lang="en-CA" dirty="0" err="1">
                <a:solidFill>
                  <a:schemeClr val="dk1"/>
                </a:solidFill>
              </a:rPr>
              <a:t>lý</a:t>
            </a:r>
            <a:r>
              <a:rPr lang="en-CA" dirty="0">
                <a:solidFill>
                  <a:schemeClr val="dk1"/>
                </a:solidFill>
              </a:rPr>
              <a:t>, </a:t>
            </a:r>
            <a:r>
              <a:rPr lang="en-CA" dirty="0" err="1">
                <a:solidFill>
                  <a:schemeClr val="dk1"/>
                </a:solidFill>
              </a:rPr>
              <a:t>lưu</a:t>
            </a:r>
            <a:r>
              <a:rPr lang="en-CA" dirty="0">
                <a:solidFill>
                  <a:schemeClr val="dk1"/>
                </a:solidFill>
              </a:rPr>
              <a:t> </a:t>
            </a:r>
            <a:r>
              <a:rPr lang="en-CA" dirty="0" err="1">
                <a:solidFill>
                  <a:schemeClr val="dk1"/>
                </a:solidFill>
              </a:rPr>
              <a:t>trữ</a:t>
            </a:r>
            <a:r>
              <a:rPr lang="en-CA" dirty="0">
                <a:solidFill>
                  <a:schemeClr val="dk1"/>
                </a:solidFill>
              </a:rPr>
              <a:t>, </a:t>
            </a:r>
            <a:r>
              <a:rPr lang="en-CA" dirty="0" err="1">
                <a:solidFill>
                  <a:schemeClr val="dk1"/>
                </a:solidFill>
              </a:rPr>
              <a:t>giao</a:t>
            </a:r>
            <a:r>
              <a:rPr lang="en-CA" dirty="0">
                <a:solidFill>
                  <a:schemeClr val="dk1"/>
                </a:solidFill>
              </a:rPr>
              <a:t> </a:t>
            </a:r>
            <a:r>
              <a:rPr lang="en-CA" dirty="0" err="1">
                <a:solidFill>
                  <a:schemeClr val="dk1"/>
                </a:solidFill>
              </a:rPr>
              <a:t>diện</a:t>
            </a:r>
            <a:r>
              <a:rPr lang="en-CA" dirty="0">
                <a:solidFill>
                  <a:schemeClr val="dk1"/>
                </a:solidFill>
              </a:rPr>
              <a:t> </a:t>
            </a:r>
            <a:r>
              <a:rPr lang="en-CA" dirty="0" err="1">
                <a:solidFill>
                  <a:schemeClr val="dk1"/>
                </a:solidFill>
              </a:rPr>
              <a:t>người</a:t>
            </a:r>
            <a:r>
              <a:rPr lang="en-CA" dirty="0">
                <a:solidFill>
                  <a:schemeClr val="dk1"/>
                </a:solidFill>
              </a:rPr>
              <a:t> </a:t>
            </a:r>
            <a:r>
              <a:rPr lang="en-CA" dirty="0" err="1">
                <a:solidFill>
                  <a:schemeClr val="dk1"/>
                </a:solidFill>
              </a:rPr>
              <a:t>dùng</a:t>
            </a:r>
            <a:r>
              <a:rPr lang="en-CA" dirty="0">
                <a:solidFill>
                  <a:schemeClr val="dk1"/>
                </a:solidFill>
              </a:rPr>
              <a:t>, </a:t>
            </a:r>
            <a:r>
              <a:rPr lang="en-CA" dirty="0" err="1">
                <a:solidFill>
                  <a:schemeClr val="dk1"/>
                </a:solidFill>
              </a:rPr>
              <a:t>phân</a:t>
            </a:r>
            <a:r>
              <a:rPr lang="en-CA" dirty="0">
                <a:solidFill>
                  <a:schemeClr val="dk1"/>
                </a:solidFill>
              </a:rPr>
              <a:t> </a:t>
            </a:r>
            <a:r>
              <a:rPr lang="en-CA" dirty="0" err="1">
                <a:solidFill>
                  <a:schemeClr val="dk1"/>
                </a:solidFill>
              </a:rPr>
              <a:t>tích</a:t>
            </a:r>
            <a:r>
              <a:rPr lang="en-CA" dirty="0">
                <a:solidFill>
                  <a:schemeClr val="dk1"/>
                </a:solidFill>
              </a:rPr>
              <a:t> </a:t>
            </a:r>
            <a:r>
              <a:rPr lang="en-CA" dirty="0" err="1">
                <a:solidFill>
                  <a:schemeClr val="dk1"/>
                </a:solidFill>
              </a:rPr>
              <a:t>tập</a:t>
            </a:r>
            <a:r>
              <a:rPr lang="en-CA" dirty="0">
                <a:solidFill>
                  <a:schemeClr val="dk1"/>
                </a:solidFill>
              </a:rPr>
              <a:t> </a:t>
            </a:r>
            <a:r>
              <a:rPr lang="en-CA" dirty="0" err="1">
                <a:solidFill>
                  <a:schemeClr val="dk1"/>
                </a:solidFill>
              </a:rPr>
              <a:t>trung</a:t>
            </a:r>
            <a:r>
              <a:rPr lang="en-CA" dirty="0">
                <a:solidFill>
                  <a:schemeClr val="dk1"/>
                </a:solidFill>
              </a:rPr>
              <a:t>.</a:t>
            </a:r>
            <a:br>
              <a:rPr lang="en-CA" dirty="0">
                <a:solidFill>
                  <a:schemeClr val="dk1"/>
                </a:solidFill>
              </a:rPr>
            </a:b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dirty="0">
                <a:solidFill>
                  <a:schemeClr val="dk1"/>
                </a:solidFill>
              </a:rPr>
              <a:t>Observer node</a:t>
            </a:r>
            <a:r>
              <a:rPr lang="en-CA" dirty="0">
                <a:solidFill>
                  <a:schemeClr val="dk1"/>
                </a:solidFill>
              </a:rPr>
              <a:t>: node </a:t>
            </a:r>
            <a:r>
              <a:rPr lang="en-CA" dirty="0" err="1">
                <a:solidFill>
                  <a:schemeClr val="dk1"/>
                </a:solidFill>
              </a:rPr>
              <a:t>giám</a:t>
            </a:r>
            <a:r>
              <a:rPr lang="en-CA" dirty="0">
                <a:solidFill>
                  <a:schemeClr val="dk1"/>
                </a:solidFill>
              </a:rPr>
              <a:t> </a:t>
            </a:r>
            <a:r>
              <a:rPr lang="en-CA" dirty="0" err="1">
                <a:solidFill>
                  <a:schemeClr val="dk1"/>
                </a:solidFill>
              </a:rPr>
              <a:t>sát</a:t>
            </a:r>
            <a:r>
              <a:rPr lang="en-CA" dirty="0">
                <a:solidFill>
                  <a:schemeClr val="dk1"/>
                </a:solidFill>
              </a:rPr>
              <a:t> (</a:t>
            </a:r>
            <a:r>
              <a:rPr lang="en-CA" dirty="0" err="1">
                <a:solidFill>
                  <a:schemeClr val="dk1"/>
                </a:solidFill>
              </a:rPr>
              <a:t>theo</a:t>
            </a:r>
            <a:r>
              <a:rPr lang="en-CA" dirty="0">
                <a:solidFill>
                  <a:schemeClr val="dk1"/>
                </a:solidFill>
              </a:rPr>
              <a:t> </a:t>
            </a:r>
            <a:r>
              <a:rPr lang="en-CA" dirty="0" err="1">
                <a:solidFill>
                  <a:schemeClr val="dk1"/>
                </a:solidFill>
              </a:rPr>
              <a:t>dõi</a:t>
            </a:r>
            <a:r>
              <a:rPr lang="en-CA" dirty="0">
                <a:solidFill>
                  <a:schemeClr val="dk1"/>
                </a:solidFill>
              </a:rPr>
              <a:t> logs, </a:t>
            </a:r>
            <a:r>
              <a:rPr lang="en-CA" dirty="0" err="1">
                <a:solidFill>
                  <a:schemeClr val="dk1"/>
                </a:solidFill>
              </a:rPr>
              <a:t>tình</a:t>
            </a:r>
            <a:r>
              <a:rPr lang="en-CA" dirty="0">
                <a:solidFill>
                  <a:schemeClr val="dk1"/>
                </a:solidFill>
              </a:rPr>
              <a:t> </a:t>
            </a:r>
            <a:r>
              <a:rPr lang="en-CA" dirty="0" err="1">
                <a:solidFill>
                  <a:schemeClr val="dk1"/>
                </a:solidFill>
              </a:rPr>
              <a:t>trạng</a:t>
            </a:r>
            <a:r>
              <a:rPr lang="en-CA" dirty="0">
                <a:solidFill>
                  <a:schemeClr val="dk1"/>
                </a:solidFill>
              </a:rPr>
              <a:t>).</a:t>
            </a:r>
            <a:br>
              <a:rPr lang="en-CA" dirty="0">
                <a:solidFill>
                  <a:schemeClr val="dk1"/>
                </a:solidFill>
              </a:rPr>
            </a:b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CA" b="1" dirty="0">
                <a:solidFill>
                  <a:schemeClr val="dk1"/>
                </a:solidFill>
              </a:rPr>
              <a:t>Coordinator / Centralized controller</a:t>
            </a:r>
            <a:r>
              <a:rPr lang="en-CA" dirty="0">
                <a:solidFill>
                  <a:schemeClr val="dk1"/>
                </a:solidFill>
              </a:rPr>
              <a:t>: </a:t>
            </a:r>
            <a:r>
              <a:rPr lang="en-CA" dirty="0" err="1">
                <a:solidFill>
                  <a:schemeClr val="dk1"/>
                </a:solidFill>
              </a:rPr>
              <a:t>nút</a:t>
            </a:r>
            <a:r>
              <a:rPr lang="en-CA" dirty="0">
                <a:solidFill>
                  <a:schemeClr val="dk1"/>
                </a:solidFill>
              </a:rPr>
              <a:t> </a:t>
            </a:r>
            <a:r>
              <a:rPr lang="en-CA" dirty="0" err="1">
                <a:solidFill>
                  <a:schemeClr val="dk1"/>
                </a:solidFill>
              </a:rPr>
              <a:t>điều</a:t>
            </a:r>
            <a:r>
              <a:rPr lang="en-CA" dirty="0">
                <a:solidFill>
                  <a:schemeClr val="dk1"/>
                </a:solidFill>
              </a:rPr>
              <a:t> </a:t>
            </a:r>
            <a:r>
              <a:rPr lang="en-CA" dirty="0" err="1">
                <a:solidFill>
                  <a:schemeClr val="dk1"/>
                </a:solidFill>
              </a:rPr>
              <a:t>phối</a:t>
            </a:r>
            <a:r>
              <a:rPr lang="en-CA" dirty="0">
                <a:solidFill>
                  <a:schemeClr val="dk1"/>
                </a:solidFill>
              </a:rPr>
              <a:t>/</a:t>
            </a:r>
            <a:r>
              <a:rPr lang="en-CA" dirty="0" err="1">
                <a:solidFill>
                  <a:schemeClr val="dk1"/>
                </a:solidFill>
              </a:rPr>
              <a:t>điều</a:t>
            </a:r>
            <a:r>
              <a:rPr lang="en-CA" dirty="0">
                <a:solidFill>
                  <a:schemeClr val="dk1"/>
                </a:solidFill>
              </a:rPr>
              <a:t> </a:t>
            </a:r>
            <a:r>
              <a:rPr lang="en-CA" dirty="0" err="1">
                <a:solidFill>
                  <a:schemeClr val="dk1"/>
                </a:solidFill>
              </a:rPr>
              <a:t>khiển</a:t>
            </a:r>
            <a:r>
              <a:rPr lang="en-CA" dirty="0">
                <a:solidFill>
                  <a:schemeClr val="dk1"/>
                </a:solidFill>
              </a:rPr>
              <a:t> </a:t>
            </a:r>
            <a:r>
              <a:rPr lang="en-CA" dirty="0" err="1">
                <a:solidFill>
                  <a:schemeClr val="dk1"/>
                </a:solidFill>
              </a:rPr>
              <a:t>tập</a:t>
            </a:r>
            <a:r>
              <a:rPr lang="en-CA" dirty="0">
                <a:solidFill>
                  <a:schemeClr val="dk1"/>
                </a:solidFill>
              </a:rPr>
              <a:t> </a:t>
            </a:r>
            <a:r>
              <a:rPr lang="en-CA" dirty="0" err="1">
                <a:solidFill>
                  <a:schemeClr val="dk1"/>
                </a:solidFill>
              </a:rPr>
              <a:t>trung</a:t>
            </a:r>
            <a:r>
              <a:rPr lang="en-CA" dirty="0">
                <a:solidFill>
                  <a:schemeClr val="dk1"/>
                </a:solidFill>
              </a:rPr>
              <a:t> (</a:t>
            </a:r>
            <a:r>
              <a:rPr lang="en-CA" dirty="0" err="1">
                <a:solidFill>
                  <a:schemeClr val="dk1"/>
                </a:solidFill>
              </a:rPr>
              <a:t>có</a:t>
            </a:r>
            <a:r>
              <a:rPr lang="en-CA" dirty="0">
                <a:solidFill>
                  <a:schemeClr val="dk1"/>
                </a:solidFill>
              </a:rPr>
              <a:t> </a:t>
            </a:r>
            <a:r>
              <a:rPr lang="en-CA" dirty="0" err="1">
                <a:solidFill>
                  <a:schemeClr val="dk1"/>
                </a:solidFill>
              </a:rPr>
              <a:t>thể</a:t>
            </a:r>
            <a:r>
              <a:rPr lang="en-CA" dirty="0">
                <a:solidFill>
                  <a:schemeClr val="dk1"/>
                </a:solidFill>
              </a:rPr>
              <a:t> local </a:t>
            </a:r>
            <a:r>
              <a:rPr lang="en-CA" dirty="0" err="1">
                <a:solidFill>
                  <a:schemeClr val="dk1"/>
                </a:solidFill>
              </a:rPr>
              <a:t>hoặc</a:t>
            </a:r>
            <a:r>
              <a:rPr lang="en-CA" dirty="0">
                <a:solidFill>
                  <a:schemeClr val="dk1"/>
                </a:solidFill>
              </a:rPr>
              <a:t> cloud).</a:t>
            </a:r>
            <a:endParaRPr dirty="0">
              <a:solidFill>
                <a:schemeClr val="dk1"/>
              </a:solidFill>
            </a:endParaRPr>
          </a:p>
          <a:p>
            <a:pPr marL="0" lvl="0" indent="0" algn="l" rtl="0">
              <a:lnSpc>
                <a:spcPct val="115000"/>
              </a:lnSpc>
              <a:spcBef>
                <a:spcPts val="2400"/>
              </a:spcBef>
              <a:spcAft>
                <a:spcPts val="0"/>
              </a:spcAft>
              <a:buNone/>
            </a:pPr>
            <a:r>
              <a:rPr lang="en-CA" sz="2300" b="1" dirty="0">
                <a:solidFill>
                  <a:schemeClr val="dk1"/>
                </a:solidFill>
              </a:rPr>
              <a:t>Level 1 — </a:t>
            </a:r>
            <a:r>
              <a:rPr lang="en-CA" sz="2300" b="1" dirty="0" err="1">
                <a:solidFill>
                  <a:schemeClr val="dk1"/>
                </a:solidFill>
              </a:rPr>
              <a:t>Toàn</a:t>
            </a:r>
            <a:r>
              <a:rPr lang="en-CA" sz="2300" b="1" dirty="0">
                <a:solidFill>
                  <a:schemeClr val="dk1"/>
                </a:solidFill>
              </a:rPr>
              <a:t> </a:t>
            </a:r>
            <a:r>
              <a:rPr lang="en-CA" sz="2300" b="1" dirty="0" err="1">
                <a:solidFill>
                  <a:schemeClr val="dk1"/>
                </a:solidFill>
              </a:rPr>
              <a:t>bộ</a:t>
            </a:r>
            <a:r>
              <a:rPr lang="en-CA" sz="2300" b="1" dirty="0">
                <a:solidFill>
                  <a:schemeClr val="dk1"/>
                </a:solidFill>
              </a:rPr>
              <a:t> local (Standalone)</a:t>
            </a:r>
            <a:endParaRPr sz="2300" b="1" dirty="0">
              <a:solidFill>
                <a:schemeClr val="dk1"/>
              </a:solidFill>
            </a:endParaRPr>
          </a:p>
          <a:p>
            <a:pPr marL="0" lvl="0" indent="0" algn="l" rtl="0">
              <a:lnSpc>
                <a:spcPct val="115000"/>
              </a:lnSpc>
              <a:spcBef>
                <a:spcPts val="1200"/>
              </a:spcBef>
              <a:spcAft>
                <a:spcPts val="0"/>
              </a:spcAft>
              <a:buNone/>
            </a:pPr>
            <a:r>
              <a:rPr lang="en-CA" b="1" dirty="0" err="1">
                <a:solidFill>
                  <a:schemeClr val="dk1"/>
                </a:solidFill>
              </a:rPr>
              <a:t>Kiến</a:t>
            </a:r>
            <a:r>
              <a:rPr lang="en-CA" b="1" dirty="0">
                <a:solidFill>
                  <a:schemeClr val="dk1"/>
                </a:solidFill>
              </a:rPr>
              <a:t> </a:t>
            </a:r>
            <a:r>
              <a:rPr lang="en-CA" b="1" dirty="0" err="1">
                <a:solidFill>
                  <a:schemeClr val="dk1"/>
                </a:solidFill>
              </a:rPr>
              <a:t>trúc</a:t>
            </a:r>
            <a:r>
              <a:rPr lang="en-CA" b="1" dirty="0">
                <a:solidFill>
                  <a:schemeClr val="dk1"/>
                </a:solidFill>
              </a:rPr>
              <a:t> (</a:t>
            </a:r>
            <a:r>
              <a:rPr lang="en-CA" b="1" dirty="0" err="1">
                <a:solidFill>
                  <a:schemeClr val="dk1"/>
                </a:solidFill>
              </a:rPr>
              <a:t>tóm</a:t>
            </a:r>
            <a:r>
              <a:rPr lang="en-CA" b="1" dirty="0">
                <a:solidFill>
                  <a:schemeClr val="dk1"/>
                </a:solidFill>
              </a:rPr>
              <a:t> </a:t>
            </a:r>
            <a:r>
              <a:rPr lang="en-CA" b="1" dirty="0" err="1">
                <a:solidFill>
                  <a:schemeClr val="dk1"/>
                </a:solidFill>
              </a:rPr>
              <a:t>tắt</a:t>
            </a:r>
            <a:r>
              <a:rPr lang="en-CA" b="1" dirty="0">
                <a:solidFill>
                  <a:schemeClr val="dk1"/>
                </a:solidFill>
              </a:rPr>
              <a:t>):</a:t>
            </a:r>
            <a:r>
              <a:rPr lang="en-CA" dirty="0">
                <a:solidFill>
                  <a:schemeClr val="dk1"/>
                </a:solidFill>
              </a:rPr>
              <a:t> Device → Sensor → Controller → Network Services → Web Services / DB / Application (</a:t>
            </a:r>
            <a:r>
              <a:rPr lang="en-CA" dirty="0" err="1">
                <a:solidFill>
                  <a:schemeClr val="dk1"/>
                </a:solidFill>
              </a:rPr>
              <a:t>chạy</a:t>
            </a:r>
            <a:r>
              <a:rPr lang="en-CA" dirty="0">
                <a:solidFill>
                  <a:schemeClr val="dk1"/>
                </a:solidFill>
              </a:rPr>
              <a:t> local)</a:t>
            </a:r>
            <a:endParaRPr dirty="0">
              <a:solidFill>
                <a:schemeClr val="dk1"/>
              </a:solidFill>
            </a:endParaRPr>
          </a:p>
          <a:p>
            <a:pPr marL="0" lvl="0" indent="0" algn="l" rtl="0">
              <a:lnSpc>
                <a:spcPct val="115000"/>
              </a:lnSpc>
              <a:spcBef>
                <a:spcPts val="1200"/>
              </a:spcBef>
              <a:spcAft>
                <a:spcPts val="0"/>
              </a:spcAft>
              <a:buNone/>
            </a:pPr>
            <a:r>
              <a:rPr lang="en-CA" b="1" dirty="0" err="1">
                <a:solidFill>
                  <a:schemeClr val="dk1"/>
                </a:solidFill>
              </a:rPr>
              <a:t>Đặc</a:t>
            </a:r>
            <a:r>
              <a:rPr lang="en-CA" b="1" dirty="0">
                <a:solidFill>
                  <a:schemeClr val="dk1"/>
                </a:solidFill>
              </a:rPr>
              <a:t> </a:t>
            </a:r>
            <a:r>
              <a:rPr lang="en-CA" b="1" dirty="0" err="1">
                <a:solidFill>
                  <a:schemeClr val="dk1"/>
                </a:solidFill>
              </a:rPr>
              <a:t>điểm</a:t>
            </a:r>
            <a:r>
              <a:rPr lang="en-CA" b="1" dirty="0">
                <a:solidFill>
                  <a:schemeClr val="dk1"/>
                </a:solidFill>
              </a:rPr>
              <a:t> </a:t>
            </a:r>
            <a:r>
              <a:rPr lang="en-CA" b="1" dirty="0" err="1">
                <a:solidFill>
                  <a:schemeClr val="dk1"/>
                </a:solidFill>
              </a:rPr>
              <a:t>chính</a:t>
            </a:r>
            <a:r>
              <a:rPr lang="en-CA" b="1" dirty="0">
                <a:solidFill>
                  <a:schemeClr val="dk1"/>
                </a:solidFill>
              </a:rPr>
              <a:t>:</a:t>
            </a:r>
            <a:endParaRPr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dirty="0" err="1">
                <a:solidFill>
                  <a:schemeClr val="dk1"/>
                </a:solidFill>
              </a:rPr>
              <a:t>Toàn</a:t>
            </a:r>
            <a:r>
              <a:rPr lang="en-CA" dirty="0">
                <a:solidFill>
                  <a:schemeClr val="dk1"/>
                </a:solidFill>
              </a:rPr>
              <a:t> </a:t>
            </a:r>
            <a:r>
              <a:rPr lang="en-CA" dirty="0" err="1">
                <a:solidFill>
                  <a:schemeClr val="dk1"/>
                </a:solidFill>
              </a:rPr>
              <a:t>bộ</a:t>
            </a:r>
            <a:r>
              <a:rPr lang="en-CA" dirty="0">
                <a:solidFill>
                  <a:schemeClr val="dk1"/>
                </a:solidFill>
              </a:rPr>
              <a:t> </a:t>
            </a:r>
            <a:r>
              <a:rPr lang="en-CA" dirty="0" err="1">
                <a:solidFill>
                  <a:schemeClr val="dk1"/>
                </a:solidFill>
              </a:rPr>
              <a:t>xử</a:t>
            </a:r>
            <a:r>
              <a:rPr lang="en-CA" dirty="0">
                <a:solidFill>
                  <a:schemeClr val="dk1"/>
                </a:solidFill>
              </a:rPr>
              <a:t> </a:t>
            </a:r>
            <a:r>
              <a:rPr lang="en-CA" dirty="0" err="1">
                <a:solidFill>
                  <a:schemeClr val="dk1"/>
                </a:solidFill>
              </a:rPr>
              <a:t>lý</a:t>
            </a:r>
            <a:r>
              <a:rPr lang="en-CA" dirty="0">
                <a:solidFill>
                  <a:schemeClr val="dk1"/>
                </a:solidFill>
              </a:rPr>
              <a:t> </a:t>
            </a:r>
            <a:r>
              <a:rPr lang="en-CA" dirty="0" err="1">
                <a:solidFill>
                  <a:schemeClr val="dk1"/>
                </a:solidFill>
              </a:rPr>
              <a:t>và</a:t>
            </a:r>
            <a:r>
              <a:rPr lang="en-CA" dirty="0">
                <a:solidFill>
                  <a:schemeClr val="dk1"/>
                </a:solidFill>
              </a:rPr>
              <a:t> </a:t>
            </a:r>
            <a:r>
              <a:rPr lang="en-CA" dirty="0" err="1">
                <a:solidFill>
                  <a:schemeClr val="dk1"/>
                </a:solidFill>
              </a:rPr>
              <a:t>lưu</a:t>
            </a:r>
            <a:r>
              <a:rPr lang="en-CA" dirty="0">
                <a:solidFill>
                  <a:schemeClr val="dk1"/>
                </a:solidFill>
              </a:rPr>
              <a:t> </a:t>
            </a:r>
            <a:r>
              <a:rPr lang="en-CA" dirty="0" err="1">
                <a:solidFill>
                  <a:schemeClr val="dk1"/>
                </a:solidFill>
              </a:rPr>
              <a:t>trữ</a:t>
            </a:r>
            <a:r>
              <a:rPr lang="en-CA" dirty="0">
                <a:solidFill>
                  <a:schemeClr val="dk1"/>
                </a:solidFill>
              </a:rPr>
              <a:t> </a:t>
            </a:r>
            <a:r>
              <a:rPr lang="en-CA" dirty="0" err="1">
                <a:solidFill>
                  <a:schemeClr val="dk1"/>
                </a:solidFill>
              </a:rPr>
              <a:t>nằm</a:t>
            </a:r>
            <a:r>
              <a:rPr lang="en-CA" dirty="0">
                <a:solidFill>
                  <a:schemeClr val="dk1"/>
                </a:solidFill>
              </a:rPr>
              <a:t> </a:t>
            </a:r>
            <a:r>
              <a:rPr lang="en-CA" dirty="0" err="1">
                <a:solidFill>
                  <a:schemeClr val="dk1"/>
                </a:solidFill>
              </a:rPr>
              <a:t>trong</a:t>
            </a:r>
            <a:r>
              <a:rPr lang="en-CA" dirty="0">
                <a:solidFill>
                  <a:schemeClr val="dk1"/>
                </a:solidFill>
              </a:rPr>
              <a:t> </a:t>
            </a:r>
            <a:r>
              <a:rPr lang="en-CA" dirty="0" err="1">
                <a:solidFill>
                  <a:schemeClr val="dk1"/>
                </a:solidFill>
              </a:rPr>
              <a:t>mạng</a:t>
            </a:r>
            <a:r>
              <a:rPr lang="en-CA" dirty="0">
                <a:solidFill>
                  <a:schemeClr val="dk1"/>
                </a:solidFill>
              </a:rPr>
              <a:t> </a:t>
            </a:r>
            <a:r>
              <a:rPr lang="en-CA" dirty="0" err="1">
                <a:solidFill>
                  <a:schemeClr val="dk1"/>
                </a:solidFill>
              </a:rPr>
              <a:t>nội</a:t>
            </a:r>
            <a:r>
              <a:rPr lang="en-CA" dirty="0">
                <a:solidFill>
                  <a:schemeClr val="dk1"/>
                </a:solidFill>
              </a:rPr>
              <a:t> </a:t>
            </a:r>
            <a:r>
              <a:rPr lang="en-CA" dirty="0" err="1">
                <a:solidFill>
                  <a:schemeClr val="dk1"/>
                </a:solidFill>
              </a:rPr>
              <a:t>bộ</a:t>
            </a:r>
            <a:r>
              <a:rPr lang="en-CA" dirty="0">
                <a:solidFill>
                  <a:schemeClr val="dk1"/>
                </a:solidFill>
              </a:rPr>
              <a:t>.</a:t>
            </a: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CA" dirty="0" err="1">
                <a:solidFill>
                  <a:schemeClr val="dk1"/>
                </a:solidFill>
              </a:rPr>
              <a:t>Không</a:t>
            </a:r>
            <a:r>
              <a:rPr lang="en-CA" dirty="0">
                <a:solidFill>
                  <a:schemeClr val="dk1"/>
                </a:solidFill>
              </a:rPr>
              <a:t> </a:t>
            </a:r>
            <a:r>
              <a:rPr lang="en-CA" dirty="0" err="1">
                <a:solidFill>
                  <a:schemeClr val="dk1"/>
                </a:solidFill>
              </a:rPr>
              <a:t>phụ</a:t>
            </a:r>
            <a:r>
              <a:rPr lang="en-CA" dirty="0">
                <a:solidFill>
                  <a:schemeClr val="dk1"/>
                </a:solidFill>
              </a:rPr>
              <a:t> </a:t>
            </a:r>
            <a:r>
              <a:rPr lang="en-CA" dirty="0" err="1">
                <a:solidFill>
                  <a:schemeClr val="dk1"/>
                </a:solidFill>
              </a:rPr>
              <a:t>thuộc</a:t>
            </a:r>
            <a:r>
              <a:rPr lang="en-CA" dirty="0">
                <a:solidFill>
                  <a:schemeClr val="dk1"/>
                </a:solidFill>
              </a:rPr>
              <a:t> cloud.</a:t>
            </a:r>
            <a:endParaRPr dirty="0">
              <a:solidFill>
                <a:schemeClr val="dk1"/>
              </a:solidFill>
            </a:endParaRPr>
          </a:p>
          <a:p>
            <a:pPr marL="0" lvl="0" indent="0" algn="l" rtl="0">
              <a:lnSpc>
                <a:spcPct val="115000"/>
              </a:lnSpc>
              <a:spcBef>
                <a:spcPts val="1200"/>
              </a:spcBef>
              <a:spcAft>
                <a:spcPts val="0"/>
              </a:spcAft>
              <a:buNone/>
            </a:pPr>
            <a:r>
              <a:rPr lang="en-CA" b="1" dirty="0" err="1">
                <a:solidFill>
                  <a:schemeClr val="dk1"/>
                </a:solidFill>
              </a:rPr>
              <a:t>Ưu</a:t>
            </a:r>
            <a:r>
              <a:rPr lang="en-CA" b="1" dirty="0">
                <a:solidFill>
                  <a:schemeClr val="dk1"/>
                </a:solidFill>
              </a:rPr>
              <a:t> </a:t>
            </a:r>
            <a:r>
              <a:rPr lang="en-CA" b="1" dirty="0" err="1">
                <a:solidFill>
                  <a:schemeClr val="dk1"/>
                </a:solidFill>
              </a:rPr>
              <a:t>điểm</a:t>
            </a:r>
            <a:r>
              <a:rPr lang="en-CA" b="1" dirty="0">
                <a:solidFill>
                  <a:schemeClr val="dk1"/>
                </a:solidFill>
              </a:rPr>
              <a:t>:</a:t>
            </a:r>
            <a:endParaRPr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dirty="0" err="1">
                <a:solidFill>
                  <a:schemeClr val="dk1"/>
                </a:solidFill>
              </a:rPr>
              <a:t>Độ</a:t>
            </a:r>
            <a:r>
              <a:rPr lang="en-CA" dirty="0">
                <a:solidFill>
                  <a:schemeClr val="dk1"/>
                </a:solidFill>
              </a:rPr>
              <a:t> </a:t>
            </a:r>
            <a:r>
              <a:rPr lang="en-CA" dirty="0" err="1">
                <a:solidFill>
                  <a:schemeClr val="dk1"/>
                </a:solidFill>
              </a:rPr>
              <a:t>trễ</a:t>
            </a:r>
            <a:r>
              <a:rPr lang="en-CA" dirty="0">
                <a:solidFill>
                  <a:schemeClr val="dk1"/>
                </a:solidFill>
              </a:rPr>
              <a:t> </a:t>
            </a:r>
            <a:r>
              <a:rPr lang="en-CA" dirty="0" err="1">
                <a:solidFill>
                  <a:schemeClr val="dk1"/>
                </a:solidFill>
              </a:rPr>
              <a:t>thấp</a:t>
            </a:r>
            <a:r>
              <a:rPr lang="en-CA" dirty="0">
                <a:solidFill>
                  <a:schemeClr val="dk1"/>
                </a:solidFill>
              </a:rPr>
              <a:t>, tin </a:t>
            </a:r>
            <a:r>
              <a:rPr lang="en-CA" dirty="0" err="1">
                <a:solidFill>
                  <a:schemeClr val="dk1"/>
                </a:solidFill>
              </a:rPr>
              <a:t>cậy</a:t>
            </a:r>
            <a:r>
              <a:rPr lang="en-CA" dirty="0">
                <a:solidFill>
                  <a:schemeClr val="dk1"/>
                </a:solidFill>
              </a:rPr>
              <a:t> </a:t>
            </a:r>
            <a:r>
              <a:rPr lang="en-CA" dirty="0" err="1">
                <a:solidFill>
                  <a:schemeClr val="dk1"/>
                </a:solidFill>
              </a:rPr>
              <a:t>khi</a:t>
            </a:r>
            <a:r>
              <a:rPr lang="en-CA" dirty="0">
                <a:solidFill>
                  <a:schemeClr val="dk1"/>
                </a:solidFill>
              </a:rPr>
              <a:t> </a:t>
            </a:r>
            <a:r>
              <a:rPr lang="en-CA" dirty="0" err="1">
                <a:solidFill>
                  <a:schemeClr val="dk1"/>
                </a:solidFill>
              </a:rPr>
              <a:t>mất</a:t>
            </a:r>
            <a:r>
              <a:rPr lang="en-CA" dirty="0">
                <a:solidFill>
                  <a:schemeClr val="dk1"/>
                </a:solidFill>
              </a:rPr>
              <a:t> </a:t>
            </a:r>
            <a:r>
              <a:rPr lang="en-CA" dirty="0" err="1">
                <a:solidFill>
                  <a:schemeClr val="dk1"/>
                </a:solidFill>
              </a:rPr>
              <a:t>kết</a:t>
            </a:r>
            <a:r>
              <a:rPr lang="en-CA" dirty="0">
                <a:solidFill>
                  <a:schemeClr val="dk1"/>
                </a:solidFill>
              </a:rPr>
              <a:t> </a:t>
            </a:r>
            <a:r>
              <a:rPr lang="en-CA" dirty="0" err="1">
                <a:solidFill>
                  <a:schemeClr val="dk1"/>
                </a:solidFill>
              </a:rPr>
              <a:t>nối</a:t>
            </a:r>
            <a:r>
              <a:rPr lang="en-CA" dirty="0">
                <a:solidFill>
                  <a:schemeClr val="dk1"/>
                </a:solidFill>
              </a:rPr>
              <a:t> Internet.</a:t>
            </a: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CA" dirty="0" err="1">
                <a:solidFill>
                  <a:schemeClr val="dk1"/>
                </a:solidFill>
              </a:rPr>
              <a:t>Bảo</a:t>
            </a:r>
            <a:r>
              <a:rPr lang="en-CA" dirty="0">
                <a:solidFill>
                  <a:schemeClr val="dk1"/>
                </a:solidFill>
              </a:rPr>
              <a:t> </a:t>
            </a:r>
            <a:r>
              <a:rPr lang="en-CA" dirty="0" err="1">
                <a:solidFill>
                  <a:schemeClr val="dk1"/>
                </a:solidFill>
              </a:rPr>
              <a:t>mật</a:t>
            </a:r>
            <a:r>
              <a:rPr lang="en-CA" dirty="0">
                <a:solidFill>
                  <a:schemeClr val="dk1"/>
                </a:solidFill>
              </a:rPr>
              <a:t> </a:t>
            </a:r>
            <a:r>
              <a:rPr lang="en-CA" dirty="0" err="1">
                <a:solidFill>
                  <a:schemeClr val="dk1"/>
                </a:solidFill>
              </a:rPr>
              <a:t>vật</a:t>
            </a:r>
            <a:r>
              <a:rPr lang="en-CA" dirty="0">
                <a:solidFill>
                  <a:schemeClr val="dk1"/>
                </a:solidFill>
              </a:rPr>
              <a:t> </a:t>
            </a:r>
            <a:r>
              <a:rPr lang="en-CA" dirty="0" err="1">
                <a:solidFill>
                  <a:schemeClr val="dk1"/>
                </a:solidFill>
              </a:rPr>
              <a:t>lý</a:t>
            </a:r>
            <a:r>
              <a:rPr lang="en-CA" dirty="0">
                <a:solidFill>
                  <a:schemeClr val="dk1"/>
                </a:solidFill>
              </a:rPr>
              <a:t> </a:t>
            </a:r>
            <a:r>
              <a:rPr lang="en-CA" dirty="0" err="1">
                <a:solidFill>
                  <a:schemeClr val="dk1"/>
                </a:solidFill>
              </a:rPr>
              <a:t>dễ</a:t>
            </a:r>
            <a:r>
              <a:rPr lang="en-CA" dirty="0">
                <a:solidFill>
                  <a:schemeClr val="dk1"/>
                </a:solidFill>
              </a:rPr>
              <a:t> </a:t>
            </a:r>
            <a:r>
              <a:rPr lang="en-CA" dirty="0" err="1">
                <a:solidFill>
                  <a:schemeClr val="dk1"/>
                </a:solidFill>
              </a:rPr>
              <a:t>kiểm</a:t>
            </a:r>
            <a:r>
              <a:rPr lang="en-CA" dirty="0">
                <a:solidFill>
                  <a:schemeClr val="dk1"/>
                </a:solidFill>
              </a:rPr>
              <a:t> </a:t>
            </a:r>
            <a:r>
              <a:rPr lang="en-CA" dirty="0" err="1">
                <a:solidFill>
                  <a:schemeClr val="dk1"/>
                </a:solidFill>
              </a:rPr>
              <a:t>soát</a:t>
            </a:r>
            <a:r>
              <a:rPr lang="en-CA" dirty="0">
                <a:solidFill>
                  <a:schemeClr val="dk1"/>
                </a:solidFill>
              </a:rPr>
              <a:t>.</a:t>
            </a:r>
            <a:endParaRPr dirty="0">
              <a:solidFill>
                <a:schemeClr val="dk1"/>
              </a:solidFill>
            </a:endParaRPr>
          </a:p>
          <a:p>
            <a:pPr marL="0" lvl="0" indent="0" algn="l" rtl="0">
              <a:lnSpc>
                <a:spcPct val="115000"/>
              </a:lnSpc>
              <a:spcBef>
                <a:spcPts val="1200"/>
              </a:spcBef>
              <a:spcAft>
                <a:spcPts val="0"/>
              </a:spcAft>
              <a:buNone/>
            </a:pPr>
            <a:r>
              <a:rPr lang="en-CA" b="1" dirty="0" err="1">
                <a:solidFill>
                  <a:schemeClr val="dk1"/>
                </a:solidFill>
              </a:rPr>
              <a:t>Nhược</a:t>
            </a:r>
            <a:r>
              <a:rPr lang="en-CA" b="1" dirty="0">
                <a:solidFill>
                  <a:schemeClr val="dk1"/>
                </a:solidFill>
              </a:rPr>
              <a:t> </a:t>
            </a:r>
            <a:r>
              <a:rPr lang="en-CA" b="1" dirty="0" err="1">
                <a:solidFill>
                  <a:schemeClr val="dk1"/>
                </a:solidFill>
              </a:rPr>
              <a:t>điểm</a:t>
            </a:r>
            <a:r>
              <a:rPr lang="en-CA" b="1" dirty="0">
                <a:solidFill>
                  <a:schemeClr val="dk1"/>
                </a:solidFill>
              </a:rPr>
              <a:t>:</a:t>
            </a:r>
            <a:endParaRPr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dirty="0" err="1">
                <a:solidFill>
                  <a:schemeClr val="dk1"/>
                </a:solidFill>
              </a:rPr>
              <a:t>Khó</a:t>
            </a:r>
            <a:r>
              <a:rPr lang="en-CA" dirty="0">
                <a:solidFill>
                  <a:schemeClr val="dk1"/>
                </a:solidFill>
              </a:rPr>
              <a:t> </a:t>
            </a:r>
            <a:r>
              <a:rPr lang="en-CA" dirty="0" err="1">
                <a:solidFill>
                  <a:schemeClr val="dk1"/>
                </a:solidFill>
              </a:rPr>
              <a:t>truy</a:t>
            </a:r>
            <a:r>
              <a:rPr lang="en-CA" dirty="0">
                <a:solidFill>
                  <a:schemeClr val="dk1"/>
                </a:solidFill>
              </a:rPr>
              <a:t> </a:t>
            </a:r>
            <a:r>
              <a:rPr lang="en-CA" dirty="0" err="1">
                <a:solidFill>
                  <a:schemeClr val="dk1"/>
                </a:solidFill>
              </a:rPr>
              <a:t>cập</a:t>
            </a:r>
            <a:r>
              <a:rPr lang="en-CA" dirty="0">
                <a:solidFill>
                  <a:schemeClr val="dk1"/>
                </a:solidFill>
              </a:rPr>
              <a:t>/</a:t>
            </a:r>
            <a:r>
              <a:rPr lang="en-CA" dirty="0" err="1">
                <a:solidFill>
                  <a:schemeClr val="dk1"/>
                </a:solidFill>
              </a:rPr>
              <a:t>giám</a:t>
            </a:r>
            <a:r>
              <a:rPr lang="en-CA" dirty="0">
                <a:solidFill>
                  <a:schemeClr val="dk1"/>
                </a:solidFill>
              </a:rPr>
              <a:t> </a:t>
            </a:r>
            <a:r>
              <a:rPr lang="en-CA" dirty="0" err="1">
                <a:solidFill>
                  <a:schemeClr val="dk1"/>
                </a:solidFill>
              </a:rPr>
              <a:t>sát</a:t>
            </a:r>
            <a:r>
              <a:rPr lang="en-CA" dirty="0">
                <a:solidFill>
                  <a:schemeClr val="dk1"/>
                </a:solidFill>
              </a:rPr>
              <a:t> </a:t>
            </a:r>
            <a:r>
              <a:rPr lang="en-CA" dirty="0" err="1">
                <a:solidFill>
                  <a:schemeClr val="dk1"/>
                </a:solidFill>
              </a:rPr>
              <a:t>từ</a:t>
            </a:r>
            <a:r>
              <a:rPr lang="en-CA" dirty="0">
                <a:solidFill>
                  <a:schemeClr val="dk1"/>
                </a:solidFill>
              </a:rPr>
              <a:t> </a:t>
            </a:r>
            <a:r>
              <a:rPr lang="en-CA" dirty="0" err="1">
                <a:solidFill>
                  <a:schemeClr val="dk1"/>
                </a:solidFill>
              </a:rPr>
              <a:t>xa</a:t>
            </a:r>
            <a:r>
              <a:rPr lang="en-CA" dirty="0">
                <a:solidFill>
                  <a:schemeClr val="dk1"/>
                </a:solidFill>
              </a:rPr>
              <a:t>.</a:t>
            </a: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CA" dirty="0" err="1">
                <a:solidFill>
                  <a:schemeClr val="dk1"/>
                </a:solidFill>
              </a:rPr>
              <a:t>Khả</a:t>
            </a:r>
            <a:r>
              <a:rPr lang="en-CA" dirty="0">
                <a:solidFill>
                  <a:schemeClr val="dk1"/>
                </a:solidFill>
              </a:rPr>
              <a:t> </a:t>
            </a:r>
            <a:r>
              <a:rPr lang="en-CA" dirty="0" err="1">
                <a:solidFill>
                  <a:schemeClr val="dk1"/>
                </a:solidFill>
              </a:rPr>
              <a:t>năng</a:t>
            </a:r>
            <a:r>
              <a:rPr lang="en-CA" dirty="0">
                <a:solidFill>
                  <a:schemeClr val="dk1"/>
                </a:solidFill>
              </a:rPr>
              <a:t> </a:t>
            </a:r>
            <a:r>
              <a:rPr lang="en-CA" dirty="0" err="1">
                <a:solidFill>
                  <a:schemeClr val="dk1"/>
                </a:solidFill>
              </a:rPr>
              <a:t>phân</a:t>
            </a:r>
            <a:r>
              <a:rPr lang="en-CA" dirty="0">
                <a:solidFill>
                  <a:schemeClr val="dk1"/>
                </a:solidFill>
              </a:rPr>
              <a:t> </a:t>
            </a:r>
            <a:r>
              <a:rPr lang="en-CA" dirty="0" err="1">
                <a:solidFill>
                  <a:schemeClr val="dk1"/>
                </a:solidFill>
              </a:rPr>
              <a:t>tích</a:t>
            </a:r>
            <a:r>
              <a:rPr lang="en-CA" dirty="0">
                <a:solidFill>
                  <a:schemeClr val="dk1"/>
                </a:solidFill>
              </a:rPr>
              <a:t>/</a:t>
            </a:r>
            <a:r>
              <a:rPr lang="en-CA" dirty="0" err="1">
                <a:solidFill>
                  <a:schemeClr val="dk1"/>
                </a:solidFill>
              </a:rPr>
              <a:t>tổng</a:t>
            </a:r>
            <a:r>
              <a:rPr lang="en-CA" dirty="0">
                <a:solidFill>
                  <a:schemeClr val="dk1"/>
                </a:solidFill>
              </a:rPr>
              <a:t> </a:t>
            </a:r>
            <a:r>
              <a:rPr lang="en-CA" dirty="0" err="1">
                <a:solidFill>
                  <a:schemeClr val="dk1"/>
                </a:solidFill>
              </a:rPr>
              <a:t>hợp</a:t>
            </a:r>
            <a:r>
              <a:rPr lang="en-CA" dirty="0">
                <a:solidFill>
                  <a:schemeClr val="dk1"/>
                </a:solidFill>
              </a:rPr>
              <a:t> </a:t>
            </a:r>
            <a:r>
              <a:rPr lang="en-CA" dirty="0" err="1">
                <a:solidFill>
                  <a:schemeClr val="dk1"/>
                </a:solidFill>
              </a:rPr>
              <a:t>hạn</a:t>
            </a:r>
            <a:r>
              <a:rPr lang="en-CA" dirty="0">
                <a:solidFill>
                  <a:schemeClr val="dk1"/>
                </a:solidFill>
              </a:rPr>
              <a:t> </a:t>
            </a:r>
            <a:r>
              <a:rPr lang="en-CA" dirty="0" err="1">
                <a:solidFill>
                  <a:schemeClr val="dk1"/>
                </a:solidFill>
              </a:rPr>
              <a:t>chế</a:t>
            </a:r>
            <a:r>
              <a:rPr lang="en-CA" dirty="0">
                <a:solidFill>
                  <a:schemeClr val="dk1"/>
                </a:solidFill>
              </a:rPr>
              <a:t>.</a:t>
            </a:r>
            <a:endParaRPr dirty="0">
              <a:solidFill>
                <a:schemeClr val="dk1"/>
              </a:solidFill>
            </a:endParaRPr>
          </a:p>
          <a:p>
            <a:pPr marL="0" lvl="0" indent="0" algn="l" rtl="0">
              <a:lnSpc>
                <a:spcPct val="115000"/>
              </a:lnSpc>
              <a:spcBef>
                <a:spcPts val="1200"/>
              </a:spcBef>
              <a:spcAft>
                <a:spcPts val="0"/>
              </a:spcAft>
              <a:buNone/>
            </a:pPr>
            <a:r>
              <a:rPr lang="en-CA" b="1" dirty="0" err="1">
                <a:solidFill>
                  <a:schemeClr val="dk1"/>
                </a:solidFill>
              </a:rPr>
              <a:t>Ví</a:t>
            </a:r>
            <a:r>
              <a:rPr lang="en-CA" b="1" dirty="0">
                <a:solidFill>
                  <a:schemeClr val="dk1"/>
                </a:solidFill>
              </a:rPr>
              <a:t> </a:t>
            </a:r>
            <a:r>
              <a:rPr lang="en-CA" b="1" dirty="0" err="1">
                <a:solidFill>
                  <a:schemeClr val="dk1"/>
                </a:solidFill>
              </a:rPr>
              <a:t>dụ</a:t>
            </a:r>
            <a:r>
              <a:rPr lang="en-CA" b="1" dirty="0">
                <a:solidFill>
                  <a:schemeClr val="dk1"/>
                </a:solidFill>
              </a:rPr>
              <a:t>:</a:t>
            </a:r>
            <a:r>
              <a:rPr lang="en-CA" dirty="0">
                <a:solidFill>
                  <a:schemeClr val="dk1"/>
                </a:solidFill>
              </a:rPr>
              <a:t> PLC </a:t>
            </a:r>
            <a:r>
              <a:rPr lang="en-CA" dirty="0" err="1">
                <a:solidFill>
                  <a:schemeClr val="dk1"/>
                </a:solidFill>
              </a:rPr>
              <a:t>trong</a:t>
            </a:r>
            <a:r>
              <a:rPr lang="en-CA" dirty="0">
                <a:solidFill>
                  <a:schemeClr val="dk1"/>
                </a:solidFill>
              </a:rPr>
              <a:t> </a:t>
            </a:r>
            <a:r>
              <a:rPr lang="en-CA" dirty="0" err="1">
                <a:solidFill>
                  <a:schemeClr val="dk1"/>
                </a:solidFill>
              </a:rPr>
              <a:t>nhà</a:t>
            </a:r>
            <a:r>
              <a:rPr lang="en-CA" dirty="0">
                <a:solidFill>
                  <a:schemeClr val="dk1"/>
                </a:solidFill>
              </a:rPr>
              <a:t> </a:t>
            </a:r>
            <a:r>
              <a:rPr lang="en-CA" dirty="0" err="1">
                <a:solidFill>
                  <a:schemeClr val="dk1"/>
                </a:solidFill>
              </a:rPr>
              <a:t>máy</a:t>
            </a:r>
            <a:r>
              <a:rPr lang="en-CA" dirty="0">
                <a:solidFill>
                  <a:schemeClr val="dk1"/>
                </a:solidFill>
              </a:rPr>
              <a:t>, </a:t>
            </a:r>
            <a:r>
              <a:rPr lang="en-CA" dirty="0" err="1">
                <a:solidFill>
                  <a:schemeClr val="dk1"/>
                </a:solidFill>
              </a:rPr>
              <a:t>hệ</a:t>
            </a:r>
            <a:r>
              <a:rPr lang="en-CA" dirty="0">
                <a:solidFill>
                  <a:schemeClr val="dk1"/>
                </a:solidFill>
              </a:rPr>
              <a:t> </a:t>
            </a:r>
            <a:r>
              <a:rPr lang="en-CA" dirty="0" err="1">
                <a:solidFill>
                  <a:schemeClr val="dk1"/>
                </a:solidFill>
              </a:rPr>
              <a:t>thống</a:t>
            </a:r>
            <a:r>
              <a:rPr lang="en-CA" dirty="0">
                <a:solidFill>
                  <a:schemeClr val="dk1"/>
                </a:solidFill>
              </a:rPr>
              <a:t> </a:t>
            </a:r>
            <a:r>
              <a:rPr lang="en-CA" dirty="0" err="1">
                <a:solidFill>
                  <a:schemeClr val="dk1"/>
                </a:solidFill>
              </a:rPr>
              <a:t>báo</a:t>
            </a:r>
            <a:r>
              <a:rPr lang="en-CA" dirty="0">
                <a:solidFill>
                  <a:schemeClr val="dk1"/>
                </a:solidFill>
              </a:rPr>
              <a:t> </a:t>
            </a:r>
            <a:r>
              <a:rPr lang="en-CA" dirty="0" err="1">
                <a:solidFill>
                  <a:schemeClr val="dk1"/>
                </a:solidFill>
              </a:rPr>
              <a:t>cháy</a:t>
            </a:r>
            <a:r>
              <a:rPr lang="en-CA" dirty="0">
                <a:solidFill>
                  <a:schemeClr val="dk1"/>
                </a:solidFill>
              </a:rPr>
              <a:t> </a:t>
            </a:r>
            <a:r>
              <a:rPr lang="en-CA" dirty="0" err="1">
                <a:solidFill>
                  <a:schemeClr val="dk1"/>
                </a:solidFill>
              </a:rPr>
              <a:t>tòa</a:t>
            </a:r>
            <a:r>
              <a:rPr lang="en-CA" dirty="0">
                <a:solidFill>
                  <a:schemeClr val="dk1"/>
                </a:solidFill>
              </a:rPr>
              <a:t> </a:t>
            </a:r>
            <a:r>
              <a:rPr lang="en-CA" dirty="0" err="1">
                <a:solidFill>
                  <a:schemeClr val="dk1"/>
                </a:solidFill>
              </a:rPr>
              <a:t>nhà</a:t>
            </a:r>
            <a:r>
              <a:rPr lang="en-CA" dirty="0">
                <a:solidFill>
                  <a:schemeClr val="dk1"/>
                </a:solidFill>
              </a:rPr>
              <a:t> </a:t>
            </a:r>
            <a:r>
              <a:rPr lang="en-CA" dirty="0" err="1">
                <a:solidFill>
                  <a:schemeClr val="dk1"/>
                </a:solidFill>
              </a:rPr>
              <a:t>nội</a:t>
            </a:r>
            <a:r>
              <a:rPr lang="en-CA" dirty="0">
                <a:solidFill>
                  <a:schemeClr val="dk1"/>
                </a:solidFill>
              </a:rPr>
              <a:t> </a:t>
            </a:r>
            <a:r>
              <a:rPr lang="en-CA" dirty="0" err="1">
                <a:solidFill>
                  <a:schemeClr val="dk1"/>
                </a:solidFill>
              </a:rPr>
              <a:t>bộ</a:t>
            </a:r>
            <a:r>
              <a:rPr lang="en-CA" dirty="0">
                <a:solidFill>
                  <a:schemeClr val="dk1"/>
                </a:solidFill>
              </a:rPr>
              <a:t>.</a:t>
            </a:r>
            <a:endParaRPr dirty="0">
              <a:solidFill>
                <a:schemeClr val="dk1"/>
              </a:solidFill>
            </a:endParaRPr>
          </a:p>
          <a:p>
            <a:pPr marL="0" lvl="0" indent="0" algn="l" rtl="0">
              <a:lnSpc>
                <a:spcPct val="115000"/>
              </a:lnSpc>
              <a:spcBef>
                <a:spcPts val="1200"/>
              </a:spcBef>
              <a:spcAft>
                <a:spcPts val="0"/>
              </a:spcAft>
              <a:buNone/>
            </a:pPr>
            <a:r>
              <a:rPr lang="en-CA" b="1" dirty="0" err="1">
                <a:solidFill>
                  <a:schemeClr val="dk1"/>
                </a:solidFill>
              </a:rPr>
              <a:t>Ghi</a:t>
            </a:r>
            <a:r>
              <a:rPr lang="en-CA" b="1" dirty="0">
                <a:solidFill>
                  <a:schemeClr val="dk1"/>
                </a:solidFill>
              </a:rPr>
              <a:t> </a:t>
            </a:r>
            <a:r>
              <a:rPr lang="en-CA" b="1" dirty="0" err="1">
                <a:solidFill>
                  <a:schemeClr val="dk1"/>
                </a:solidFill>
              </a:rPr>
              <a:t>chú</a:t>
            </a:r>
            <a:r>
              <a:rPr lang="en-CA" b="1" dirty="0">
                <a:solidFill>
                  <a:schemeClr val="dk1"/>
                </a:solidFill>
              </a:rPr>
              <a:t> </a:t>
            </a:r>
            <a:r>
              <a:rPr lang="en-CA" b="1" dirty="0" err="1">
                <a:solidFill>
                  <a:schemeClr val="dk1"/>
                </a:solidFill>
              </a:rPr>
              <a:t>giảng</a:t>
            </a:r>
            <a:r>
              <a:rPr lang="en-CA" b="1" dirty="0">
                <a:solidFill>
                  <a:schemeClr val="dk1"/>
                </a:solidFill>
              </a:rPr>
              <a:t> </a:t>
            </a:r>
            <a:r>
              <a:rPr lang="en-CA" b="1" dirty="0" err="1">
                <a:solidFill>
                  <a:schemeClr val="dk1"/>
                </a:solidFill>
              </a:rPr>
              <a:t>viên</a:t>
            </a:r>
            <a:r>
              <a:rPr lang="en-CA" b="1" dirty="0">
                <a:solidFill>
                  <a:schemeClr val="dk1"/>
                </a:solidFill>
              </a:rPr>
              <a:t>:</a:t>
            </a:r>
            <a:r>
              <a:rPr lang="en-CA" dirty="0">
                <a:solidFill>
                  <a:schemeClr val="dk1"/>
                </a:solidFill>
              </a:rPr>
              <a:t> </a:t>
            </a:r>
            <a:r>
              <a:rPr lang="en-CA" dirty="0" err="1">
                <a:solidFill>
                  <a:schemeClr val="dk1"/>
                </a:solidFill>
              </a:rPr>
              <a:t>Nhấn</a:t>
            </a:r>
            <a:r>
              <a:rPr lang="en-CA" dirty="0">
                <a:solidFill>
                  <a:schemeClr val="dk1"/>
                </a:solidFill>
              </a:rPr>
              <a:t> </a:t>
            </a:r>
            <a:r>
              <a:rPr lang="en-CA" dirty="0" err="1">
                <a:solidFill>
                  <a:schemeClr val="dk1"/>
                </a:solidFill>
              </a:rPr>
              <a:t>mạnh</a:t>
            </a:r>
            <a:r>
              <a:rPr lang="en-CA" dirty="0">
                <a:solidFill>
                  <a:schemeClr val="dk1"/>
                </a:solidFill>
              </a:rPr>
              <a:t> </a:t>
            </a:r>
            <a:r>
              <a:rPr lang="en-CA" dirty="0" err="1">
                <a:solidFill>
                  <a:schemeClr val="dk1"/>
                </a:solidFill>
              </a:rPr>
              <a:t>tính</a:t>
            </a:r>
            <a:r>
              <a:rPr lang="en-CA" dirty="0">
                <a:solidFill>
                  <a:schemeClr val="dk1"/>
                </a:solidFill>
              </a:rPr>
              <a:t> offline-first </a:t>
            </a:r>
            <a:r>
              <a:rPr lang="en-CA" dirty="0" err="1">
                <a:solidFill>
                  <a:schemeClr val="dk1"/>
                </a:solidFill>
              </a:rPr>
              <a:t>và</a:t>
            </a:r>
            <a:r>
              <a:rPr lang="en-CA" dirty="0">
                <a:solidFill>
                  <a:schemeClr val="dk1"/>
                </a:solidFill>
              </a:rPr>
              <a:t> </a:t>
            </a:r>
            <a:r>
              <a:rPr lang="en-CA" dirty="0" err="1">
                <a:solidFill>
                  <a:schemeClr val="dk1"/>
                </a:solidFill>
              </a:rPr>
              <a:t>lý</a:t>
            </a:r>
            <a:r>
              <a:rPr lang="en-CA" dirty="0">
                <a:solidFill>
                  <a:schemeClr val="dk1"/>
                </a:solidFill>
              </a:rPr>
              <a:t> do </a:t>
            </a:r>
            <a:r>
              <a:rPr lang="en-CA" dirty="0" err="1">
                <a:solidFill>
                  <a:schemeClr val="dk1"/>
                </a:solidFill>
              </a:rPr>
              <a:t>các</a:t>
            </a:r>
            <a:r>
              <a:rPr lang="en-CA" dirty="0">
                <a:solidFill>
                  <a:schemeClr val="dk1"/>
                </a:solidFill>
              </a:rPr>
              <a:t> </a:t>
            </a:r>
            <a:r>
              <a:rPr lang="en-CA" dirty="0" err="1">
                <a:solidFill>
                  <a:schemeClr val="dk1"/>
                </a:solidFill>
              </a:rPr>
              <a:t>hệ</a:t>
            </a:r>
            <a:r>
              <a:rPr lang="en-CA" dirty="0">
                <a:solidFill>
                  <a:schemeClr val="dk1"/>
                </a:solidFill>
              </a:rPr>
              <a:t> OT </a:t>
            </a:r>
            <a:r>
              <a:rPr lang="en-CA" dirty="0" err="1">
                <a:solidFill>
                  <a:schemeClr val="dk1"/>
                </a:solidFill>
              </a:rPr>
              <a:t>thường</a:t>
            </a:r>
            <a:r>
              <a:rPr lang="en-CA" dirty="0">
                <a:solidFill>
                  <a:schemeClr val="dk1"/>
                </a:solidFill>
              </a:rPr>
              <a:t> </a:t>
            </a:r>
            <a:r>
              <a:rPr lang="en-CA" dirty="0" err="1">
                <a:solidFill>
                  <a:schemeClr val="dk1"/>
                </a:solidFill>
              </a:rPr>
              <a:t>vẫn</a:t>
            </a:r>
            <a:r>
              <a:rPr lang="en-CA" dirty="0">
                <a:solidFill>
                  <a:schemeClr val="dk1"/>
                </a:solidFill>
              </a:rPr>
              <a:t> </a:t>
            </a:r>
            <a:r>
              <a:rPr lang="en-CA" dirty="0" err="1">
                <a:solidFill>
                  <a:schemeClr val="dk1"/>
                </a:solidFill>
              </a:rPr>
              <a:t>theo</a:t>
            </a:r>
            <a:r>
              <a:rPr lang="en-CA" dirty="0">
                <a:solidFill>
                  <a:schemeClr val="dk1"/>
                </a:solidFill>
              </a:rPr>
              <a:t> </a:t>
            </a:r>
            <a:r>
              <a:rPr lang="en-CA" dirty="0" err="1">
                <a:solidFill>
                  <a:schemeClr val="dk1"/>
                </a:solidFill>
              </a:rPr>
              <a:t>mô</a:t>
            </a:r>
            <a:r>
              <a:rPr lang="en-CA" dirty="0">
                <a:solidFill>
                  <a:schemeClr val="dk1"/>
                </a:solidFill>
              </a:rPr>
              <a:t> </a:t>
            </a:r>
            <a:r>
              <a:rPr lang="en-CA" dirty="0" err="1">
                <a:solidFill>
                  <a:schemeClr val="dk1"/>
                </a:solidFill>
              </a:rPr>
              <a:t>hình</a:t>
            </a:r>
            <a:r>
              <a:rPr lang="en-CA" dirty="0">
                <a:solidFill>
                  <a:schemeClr val="dk1"/>
                </a:solidFill>
              </a:rPr>
              <a:t> </a:t>
            </a:r>
            <a:r>
              <a:rPr lang="en-CA" dirty="0" err="1">
                <a:solidFill>
                  <a:schemeClr val="dk1"/>
                </a:solidFill>
              </a:rPr>
              <a:t>này</a:t>
            </a:r>
            <a:r>
              <a:rPr lang="en-CA"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b="1" dirty="0">
              <a:solidFill>
                <a:schemeClr val="dk1"/>
              </a:solidFill>
            </a:endParaRPr>
          </a:p>
          <a:p>
            <a:pPr marL="0" lvl="0" indent="0" algn="l" rtl="0">
              <a:spcBef>
                <a:spcPts val="120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789eb9c381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789eb9c381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2400"/>
              </a:spcBef>
              <a:spcAft>
                <a:spcPts val="0"/>
              </a:spcAft>
              <a:buNone/>
            </a:pPr>
            <a:r>
              <a:rPr lang="en-CA" sz="2300" b="1">
                <a:solidFill>
                  <a:schemeClr val="dk1"/>
                </a:solidFill>
              </a:rPr>
              <a:t>Level 2 — Cloud cho App &amp; DB, thiết bị vẫn local</a:t>
            </a:r>
            <a:endParaRPr sz="2300" b="1">
              <a:solidFill>
                <a:schemeClr val="dk1"/>
              </a:solidFill>
            </a:endParaRPr>
          </a:p>
          <a:p>
            <a:pPr marL="0" lvl="0" indent="0" algn="l" rtl="0">
              <a:lnSpc>
                <a:spcPct val="115000"/>
              </a:lnSpc>
              <a:spcBef>
                <a:spcPts val="1200"/>
              </a:spcBef>
              <a:spcAft>
                <a:spcPts val="0"/>
              </a:spcAft>
              <a:buNone/>
            </a:pPr>
            <a:r>
              <a:rPr lang="en-CA" b="1">
                <a:solidFill>
                  <a:schemeClr val="dk1"/>
                </a:solidFill>
              </a:rPr>
              <a:t>Kiến trúc (tóm tắt):</a:t>
            </a:r>
            <a:r>
              <a:rPr lang="en-CA">
                <a:solidFill>
                  <a:schemeClr val="dk1"/>
                </a:solidFill>
              </a:rPr>
              <a:t> Device/Controller (local) ↔ Web Services (cloud) ↔ Database &amp; Application (cloud)</a:t>
            </a:r>
            <a:endParaRPr>
              <a:solidFill>
                <a:schemeClr val="dk1"/>
              </a:solidFill>
            </a:endParaRPr>
          </a:p>
          <a:p>
            <a:pPr marL="0" lvl="0" indent="0" algn="l" rtl="0">
              <a:lnSpc>
                <a:spcPct val="115000"/>
              </a:lnSpc>
              <a:spcBef>
                <a:spcPts val="1200"/>
              </a:spcBef>
              <a:spcAft>
                <a:spcPts val="0"/>
              </a:spcAft>
              <a:buNone/>
            </a:pPr>
            <a:r>
              <a:rPr lang="en-CA" b="1">
                <a:solidFill>
                  <a:schemeClr val="dk1"/>
                </a:solidFill>
              </a:rPr>
              <a:t>Đặc điểm chính:</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Thiết bị giao tiếp với web service trên cloud để lưu và hiển thị.</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Logic điều khiển cục bộ vẫn còn tại controller.</a:t>
            </a:r>
            <a:endParaRPr>
              <a:solidFill>
                <a:schemeClr val="dk1"/>
              </a:solidFill>
            </a:endParaRPr>
          </a:p>
          <a:p>
            <a:pPr marL="0" lvl="0" indent="0" algn="l" rtl="0">
              <a:lnSpc>
                <a:spcPct val="115000"/>
              </a:lnSpc>
              <a:spcBef>
                <a:spcPts val="1200"/>
              </a:spcBef>
              <a:spcAft>
                <a:spcPts val="0"/>
              </a:spcAft>
              <a:buNone/>
            </a:pPr>
            <a:r>
              <a:rPr lang="en-CA" b="1">
                <a:solidFill>
                  <a:schemeClr val="dk1"/>
                </a:solidFill>
              </a:rPr>
              <a:t>Ưu điểm:</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Truy cập từ xa, dễ quản lý và cập nhật.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Phân tích dữ liệu tập trung hơn.</a:t>
            </a:r>
            <a:endParaRPr>
              <a:solidFill>
                <a:schemeClr val="dk1"/>
              </a:solidFill>
            </a:endParaRPr>
          </a:p>
          <a:p>
            <a:pPr marL="0" lvl="0" indent="0" algn="l" rtl="0">
              <a:lnSpc>
                <a:spcPct val="115000"/>
              </a:lnSpc>
              <a:spcBef>
                <a:spcPts val="1200"/>
              </a:spcBef>
              <a:spcAft>
                <a:spcPts val="0"/>
              </a:spcAft>
              <a:buNone/>
            </a:pPr>
            <a:r>
              <a:rPr lang="en-CA" b="1">
                <a:solidFill>
                  <a:schemeClr val="dk1"/>
                </a:solidFill>
              </a:rPr>
              <a:t>Nhược điểm:</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Phụ thuộc kết nối Internet; tăng yêu cầu bảo mật kênh truyền.</a:t>
            </a:r>
            <a:endParaRPr>
              <a:solidFill>
                <a:schemeClr val="dk1"/>
              </a:solidFill>
            </a:endParaRPr>
          </a:p>
          <a:p>
            <a:pPr marL="0" lvl="0" indent="0" algn="l" rtl="0">
              <a:lnSpc>
                <a:spcPct val="115000"/>
              </a:lnSpc>
              <a:spcBef>
                <a:spcPts val="1200"/>
              </a:spcBef>
              <a:spcAft>
                <a:spcPts val="0"/>
              </a:spcAft>
              <a:buNone/>
            </a:pPr>
            <a:r>
              <a:rPr lang="en-CA" b="1">
                <a:solidFill>
                  <a:schemeClr val="dk1"/>
                </a:solidFill>
              </a:rPr>
              <a:t>Ví dụ:</a:t>
            </a:r>
            <a:r>
              <a:rPr lang="en-CA">
                <a:solidFill>
                  <a:schemeClr val="dk1"/>
                </a:solidFill>
              </a:rPr>
              <a:t> Camera an ninh upload video/alerts lên cloud.</a:t>
            </a:r>
            <a:endParaRPr>
              <a:solidFill>
                <a:schemeClr val="dk1"/>
              </a:solidFill>
            </a:endParaRPr>
          </a:p>
          <a:p>
            <a:pPr marL="0" lvl="0" indent="0" algn="l" rtl="0">
              <a:lnSpc>
                <a:spcPct val="115000"/>
              </a:lnSpc>
              <a:spcBef>
                <a:spcPts val="1200"/>
              </a:spcBef>
              <a:spcAft>
                <a:spcPts val="0"/>
              </a:spcAft>
              <a:buNone/>
            </a:pPr>
            <a:r>
              <a:rPr lang="en-CA" b="1">
                <a:solidFill>
                  <a:schemeClr val="dk1"/>
                </a:solidFill>
              </a:rPr>
              <a:t>Ghi chú giảng viên:</a:t>
            </a:r>
            <a:r>
              <a:rPr lang="en-CA">
                <a:solidFill>
                  <a:schemeClr val="dk1"/>
                </a:solidFill>
              </a:rPr>
              <a:t> So sánh QoS/chi phí giữa truyền toàn bộ dữ liệu lên cloud vs gửi summary.</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b="1">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789eb9c381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789eb9c381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2400"/>
              </a:spcBef>
              <a:spcAft>
                <a:spcPts val="0"/>
              </a:spcAft>
              <a:buNone/>
            </a:pPr>
            <a:r>
              <a:rPr lang="en-CA" sz="2300" b="1">
                <a:solidFill>
                  <a:schemeClr val="dk1"/>
                </a:solidFill>
              </a:rPr>
              <a:t>Level 3 — Network Services đẩy mạnh trên Cloud</a:t>
            </a:r>
            <a:endParaRPr sz="2300" b="1">
              <a:solidFill>
                <a:schemeClr val="dk1"/>
              </a:solidFill>
            </a:endParaRPr>
          </a:p>
          <a:p>
            <a:pPr marL="0" lvl="0" indent="0" algn="l" rtl="0">
              <a:lnSpc>
                <a:spcPct val="115000"/>
              </a:lnSpc>
              <a:spcBef>
                <a:spcPts val="1200"/>
              </a:spcBef>
              <a:spcAft>
                <a:spcPts val="0"/>
              </a:spcAft>
              <a:buNone/>
            </a:pPr>
            <a:r>
              <a:rPr lang="en-CA" b="1">
                <a:solidFill>
                  <a:schemeClr val="dk1"/>
                </a:solidFill>
              </a:rPr>
              <a:t>Kiến trúc (tóm tắt):</a:t>
            </a:r>
            <a:r>
              <a:rPr lang="en-CA">
                <a:solidFill>
                  <a:schemeClr val="dk1"/>
                </a:solidFill>
              </a:rPr>
              <a:t> Controller local ↔ Network Services (Cloud) ↔ Web Services / DB / App</a:t>
            </a:r>
            <a:endParaRPr>
              <a:solidFill>
                <a:schemeClr val="dk1"/>
              </a:solidFill>
            </a:endParaRPr>
          </a:p>
          <a:p>
            <a:pPr marL="0" lvl="0" indent="0" algn="l" rtl="0">
              <a:lnSpc>
                <a:spcPct val="115000"/>
              </a:lnSpc>
              <a:spcBef>
                <a:spcPts val="1200"/>
              </a:spcBef>
              <a:spcAft>
                <a:spcPts val="0"/>
              </a:spcAft>
              <a:buNone/>
            </a:pPr>
            <a:r>
              <a:rPr lang="en-CA" b="1">
                <a:solidFill>
                  <a:schemeClr val="dk1"/>
                </a:solidFill>
              </a:rPr>
              <a:t>Đặc điểm chính:</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Cloud đảm nhiệm routing, identity, message broker, xử lý phần lớn dịch vụ mạng.</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Local còn xử lý hành vi thời thực, nhưng trao đổi qua cloud.</a:t>
            </a:r>
            <a:endParaRPr>
              <a:solidFill>
                <a:schemeClr val="dk1"/>
              </a:solidFill>
            </a:endParaRPr>
          </a:p>
          <a:p>
            <a:pPr marL="0" lvl="0" indent="0" algn="l" rtl="0">
              <a:lnSpc>
                <a:spcPct val="115000"/>
              </a:lnSpc>
              <a:spcBef>
                <a:spcPts val="1200"/>
              </a:spcBef>
              <a:spcAft>
                <a:spcPts val="0"/>
              </a:spcAft>
              <a:buNone/>
            </a:pPr>
            <a:r>
              <a:rPr lang="en-CA" b="1">
                <a:solidFill>
                  <a:schemeClr val="dk1"/>
                </a:solidFill>
              </a:rPr>
              <a:t>Ưu điểm:</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Quản lý tập trung, dễ scale hạ tầng messaging và auth.</a:t>
            </a:r>
            <a:endParaRPr>
              <a:solidFill>
                <a:schemeClr val="dk1"/>
              </a:solidFill>
            </a:endParaRPr>
          </a:p>
          <a:p>
            <a:pPr marL="0" lvl="0" indent="0" algn="l" rtl="0">
              <a:lnSpc>
                <a:spcPct val="115000"/>
              </a:lnSpc>
              <a:spcBef>
                <a:spcPts val="1200"/>
              </a:spcBef>
              <a:spcAft>
                <a:spcPts val="0"/>
              </a:spcAft>
              <a:buNone/>
            </a:pPr>
            <a:r>
              <a:rPr lang="en-CA" b="1">
                <a:solidFill>
                  <a:schemeClr val="dk1"/>
                </a:solidFill>
              </a:rPr>
              <a:t>Nhược điểm:</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Tăng phụ thuộc cloud cho các chức năng nền tảng.</a:t>
            </a:r>
            <a:endParaRPr>
              <a:solidFill>
                <a:schemeClr val="dk1"/>
              </a:solidFill>
            </a:endParaRPr>
          </a:p>
          <a:p>
            <a:pPr marL="0" lvl="0" indent="0" algn="l" rtl="0">
              <a:lnSpc>
                <a:spcPct val="115000"/>
              </a:lnSpc>
              <a:spcBef>
                <a:spcPts val="1200"/>
              </a:spcBef>
              <a:spcAft>
                <a:spcPts val="0"/>
              </a:spcAft>
              <a:buNone/>
            </a:pPr>
            <a:r>
              <a:rPr lang="en-CA" b="1">
                <a:solidFill>
                  <a:schemeClr val="dk1"/>
                </a:solidFill>
              </a:rPr>
              <a:t>Ví dụ:</a:t>
            </a:r>
            <a:r>
              <a:rPr lang="en-CA">
                <a:solidFill>
                  <a:schemeClr val="dk1"/>
                </a:solidFill>
              </a:rPr>
              <a:t> Hệ thống telemetry dùng MQTT qua cloud broker với quản lý device tập trung.</a:t>
            </a:r>
            <a:endParaRPr>
              <a:solidFill>
                <a:schemeClr val="dk1"/>
              </a:solidFill>
            </a:endParaRPr>
          </a:p>
          <a:p>
            <a:pPr marL="0" lvl="0" indent="0" algn="l" rtl="0">
              <a:lnSpc>
                <a:spcPct val="115000"/>
              </a:lnSpc>
              <a:spcBef>
                <a:spcPts val="1200"/>
              </a:spcBef>
              <a:spcAft>
                <a:spcPts val="0"/>
              </a:spcAft>
              <a:buNone/>
            </a:pPr>
            <a:r>
              <a:rPr lang="en-CA" b="1">
                <a:solidFill>
                  <a:schemeClr val="dk1"/>
                </a:solidFill>
              </a:rPr>
              <a:t>Ghi chú giảng viên:</a:t>
            </a:r>
            <a:r>
              <a:rPr lang="en-CA">
                <a:solidFill>
                  <a:schemeClr val="dk1"/>
                </a:solidFill>
              </a:rPr>
              <a:t> Thảo luận trade-off giữa latency và lợi ích quản trị tập trung.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b="1">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789eb9c381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789eb9c381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Level 4 — Nhiều controller local + Observer/monitoring trên Cloud</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Kiến trúc (tóm tắt):</a:t>
            </a:r>
            <a:r>
              <a:rPr lang="en-CA">
                <a:solidFill>
                  <a:schemeClr val="dk1"/>
                </a:solidFill>
              </a:rPr>
              <a:t> Nhiều cụm Device→Sensor→Controller (local). Controllers gửi telemetry lên Web Services (cloud). Cloud có Observer nodes, DB, Dashboard.</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Đặc điểm chính:</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Mô hình phân tán theo cụm; cloud dùng cho giám sát, logs, analytics.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Các cụm local vận hành độc lập nhưng báo cáo về cloud.</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Ưu điểm:</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Tăng khả năng mở rộng; cloud tổng hợp dữ liệu cho phân tích.</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Nhược điểm:</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Cần đồng bộ hóa, thiết kế retry/buffering khi mất mạng.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Ví dụ:</a:t>
            </a:r>
            <a:r>
              <a:rPr lang="en-CA">
                <a:solidFill>
                  <a:schemeClr val="dk1"/>
                </a:solidFill>
              </a:rPr>
              <a:t> Hệ sensor nhiều vị trí trong nhà máy, cloud tổng hợp performance metrics.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Ghi chú giảng viên:</a:t>
            </a:r>
            <a:r>
              <a:rPr lang="en-CA">
                <a:solidFill>
                  <a:schemeClr val="dk1"/>
                </a:solidFill>
              </a:rPr>
              <a:t> Cho bài tập: thiết kế cơ chế buffering cho cụm khi mất kết nối.</a:t>
            </a:r>
            <a:endParaRPr>
              <a:solidFill>
                <a:schemeClr val="dk1"/>
              </a:solidFill>
            </a:endParaRPr>
          </a:p>
          <a:p>
            <a:pPr marL="0" lvl="0" indent="0" algn="l" rtl="0">
              <a:spcBef>
                <a:spcPts val="1200"/>
              </a:spcBef>
              <a:spcAft>
                <a:spcPts val="0"/>
              </a:spcAft>
              <a:buNone/>
            </a:pPr>
            <a:endParaRPr sz="2300" b="1">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789eb9c381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789eb9c381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Level 5 — Coordinator Device (Edge coordination) + Hybrid Cloud</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Kiến trúc (tóm tắt):</a:t>
            </a:r>
            <a:r>
              <a:rPr lang="en-CA">
                <a:solidFill>
                  <a:schemeClr val="dk1"/>
                </a:solidFill>
              </a:rPr>
              <a:t> Các controller/sensor trong local có 1 Coordinator Device chịu aggregation/logic; Coordinator ↔ Cloud (Web Services/DB)</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Đặc điểm chính:</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Edge coordinator thực hiện aggregation, pre-processing, quyết định latency-sensitive.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Cloud nhận summary, thực hiện analytics/long-term storage.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Ưu điểm:</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Giảm traffic lên cloud, đáp ứng thời thực nhanh hơn.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CA">
                <a:solidFill>
                  <a:schemeClr val="dk1"/>
                </a:solidFill>
              </a:rPr>
              <a:t>Tối ưu băng thông và chi phí.</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Nhược điểm:</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Tạo điểm lỗi mới (coordinator); cần cơ chế failover và bảo mật coordinator.</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Ví dụ:</a:t>
            </a:r>
            <a:r>
              <a:rPr lang="en-CA">
                <a:solidFill>
                  <a:schemeClr val="dk1"/>
                </a:solidFill>
              </a:rPr>
              <a:t> Gateway Zigbee/Z-Wave trong smart-home hoặc edge gateway trong nông nghiệp.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Ghi chú giảng viên:</a:t>
            </a:r>
            <a:r>
              <a:rPr lang="en-CA">
                <a:solidFill>
                  <a:schemeClr val="dk1"/>
                </a:solidFill>
              </a:rPr>
              <a:t> Bàn về chiến lược partitioning logic giữa edge và cloud.</a:t>
            </a:r>
            <a:endParaRPr>
              <a:solidFill>
                <a:schemeClr val="dk1"/>
              </a:solidFill>
            </a:endParaRPr>
          </a:p>
          <a:p>
            <a:pPr marL="0" lvl="0" indent="0" algn="l" rtl="0">
              <a:spcBef>
                <a:spcPts val="1200"/>
              </a:spcBef>
              <a:spcAft>
                <a:spcPts val="0"/>
              </a:spcAft>
              <a:buNone/>
            </a:pPr>
            <a:endParaRPr sz="2300" b="1">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789eb9c381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789eb9c381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2400"/>
              </a:spcBef>
              <a:spcAft>
                <a:spcPts val="0"/>
              </a:spcAft>
              <a:buClr>
                <a:schemeClr val="dk1"/>
              </a:buClr>
              <a:buSzPts val="1100"/>
              <a:buFont typeface="Arial"/>
              <a:buNone/>
            </a:pPr>
            <a:r>
              <a:rPr lang="en-CA" sz="2300" b="1">
                <a:solidFill>
                  <a:schemeClr val="dk1"/>
                </a:solidFill>
              </a:rPr>
              <a:t>Level 6 — Centralized Controller (Cloud-driven orchestration) + Local execution</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Kiến trúc (tóm tắt):</a:t>
            </a:r>
            <a:r>
              <a:rPr lang="en-CA">
                <a:solidFill>
                  <a:schemeClr val="dk1"/>
                </a:solidFill>
              </a:rPr>
              <a:t> Local controllers tồn tại nhưng </a:t>
            </a:r>
            <a:r>
              <a:rPr lang="en-CA" b="1">
                <a:solidFill>
                  <a:schemeClr val="dk1"/>
                </a:solidFill>
              </a:rPr>
              <a:t>Centralized Controller</a:t>
            </a:r>
            <a:r>
              <a:rPr lang="en-CA">
                <a:solidFill>
                  <a:schemeClr val="dk1"/>
                </a:solidFill>
              </a:rPr>
              <a:t> (cloud) điều phối, gửi policy/lệnh; Observer &amp; Web Services trên cloud.</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Đặc điểm chính:</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Cloud thực thi orchestration, ML, policy toàn hệ thống; local chỉ thực hiện theo lệnh và fallback khi cần.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Ưu điểm:</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Toàn cảnh hệ thống, tối ưu hoá dựa trên dữ liệu lớn, dễ cập nhật chính sách.</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Nhược điểm:</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CA">
                <a:solidFill>
                  <a:schemeClr val="dk1"/>
                </a:solidFill>
              </a:rPr>
              <a:t>Phụ thuộc mạng; rủi ro single point of control nếu không có fallback địa phương.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Ví dụ:</a:t>
            </a:r>
            <a:r>
              <a:rPr lang="en-CA">
                <a:solidFill>
                  <a:schemeClr val="dk1"/>
                </a:solidFill>
              </a:rPr>
              <a:t> Hệ quản lý năng lượng lưới điện, hệ điều hành flota giao thông quốc gia.</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CA" b="1">
                <a:solidFill>
                  <a:schemeClr val="dk1"/>
                </a:solidFill>
              </a:rPr>
              <a:t>Ghi chú giảng viên:</a:t>
            </a:r>
            <a:r>
              <a:rPr lang="en-CA">
                <a:solidFill>
                  <a:schemeClr val="dk1"/>
                </a:solidFill>
              </a:rPr>
              <a:t> Thảo luận thiết kế fallback: làm sao local vẫn an toàn khi cloud không khả dụng.</a:t>
            </a:r>
            <a:endParaRPr>
              <a:solidFill>
                <a:schemeClr val="dk1"/>
              </a:solidFill>
            </a:endParaRPr>
          </a:p>
          <a:p>
            <a:pPr marL="0" lvl="0" indent="0" algn="l" rtl="0">
              <a:spcBef>
                <a:spcPts val="1200"/>
              </a:spcBef>
              <a:spcAft>
                <a:spcPts val="0"/>
              </a:spcAft>
              <a:buNone/>
            </a:pPr>
            <a:endParaRPr sz="2300" b="1">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789eb9c381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789eb9c38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vi-VN" b="1" i="0" dirty="0">
                <a:solidFill>
                  <a:srgbClr val="404040"/>
                </a:solidFill>
                <a:effectLst/>
                <a:latin typeface="quote-cjk-patch"/>
              </a:rPr>
              <a:t>1. Giao thông &amp; Logistics (Transport &amp; Logistics)</a:t>
            </a:r>
            <a:endParaRPr lang="vi-VN" b="0" i="0" dirty="0">
              <a:solidFill>
                <a:srgbClr val="404040"/>
              </a:solidFill>
              <a:effectLst/>
              <a:latin typeface="quote-cjk-patch"/>
            </a:endParaRPr>
          </a:p>
          <a:p>
            <a:pPr lvl="1" algn="l">
              <a:buFont typeface="Arial" panose="020B0604020202020204" pitchFamily="34" charset="0"/>
              <a:buChar char="•"/>
            </a:pPr>
            <a:r>
              <a:rPr lang="vi-VN" b="1" i="0" dirty="0">
                <a:solidFill>
                  <a:srgbClr val="404040"/>
                </a:solidFill>
                <a:effectLst/>
                <a:latin typeface="quote-cjk-patch"/>
              </a:rPr>
              <a:t>Quản lý đội xe (Fleet management)</a:t>
            </a:r>
            <a:r>
              <a:rPr lang="vi-VN" b="0" i="0" dirty="0">
                <a:solidFill>
                  <a:srgbClr val="404040"/>
                </a:solidFill>
                <a:effectLst/>
                <a:latin typeface="quote-cjk-patch"/>
              </a:rPr>
              <a:t>: IoT giám sát vị trí, tốc độ, tình trạng xe, lộ trình tối ưu → Giảm chi phí, tăng hiệu suất.</a:t>
            </a:r>
          </a:p>
          <a:p>
            <a:pPr lvl="1" algn="l">
              <a:buFont typeface="Arial" panose="020B0604020202020204" pitchFamily="34" charset="0"/>
              <a:buChar char="•"/>
            </a:pPr>
            <a:r>
              <a:rPr lang="vi-VN" b="1" i="0" dirty="0">
                <a:solidFill>
                  <a:srgbClr val="404040"/>
                </a:solidFill>
                <a:effectLst/>
                <a:latin typeface="quote-cjk-patch"/>
              </a:rPr>
              <a:t>Theo dõi hàng hóa (Goods tracking)</a:t>
            </a:r>
            <a:r>
              <a:rPr lang="vi-VN" b="0" i="0" dirty="0">
                <a:solidFill>
                  <a:srgbClr val="404040"/>
                </a:solidFill>
                <a:effectLst/>
                <a:latin typeface="quote-cjk-patch"/>
              </a:rPr>
              <a:t>: Cảm biến IoT trên container/kiện hàng → Theo dõi nhiệt độ, độ ẩm, vị trí → Đảm bảo an toàn hàng hóa, chống thất lạc.</a:t>
            </a:r>
          </a:p>
          <a:p>
            <a:pPr lvl="1" algn="l">
              <a:buFont typeface="Arial" panose="020B0604020202020204" pitchFamily="34" charset="0"/>
              <a:buChar char="•"/>
            </a:pPr>
            <a:r>
              <a:rPr lang="vi-VN" b="0" i="1" dirty="0">
                <a:solidFill>
                  <a:srgbClr val="404040"/>
                </a:solidFill>
                <a:effectLst/>
                <a:latin typeface="quote-cjk-patch"/>
              </a:rPr>
              <a:t>Ví dụ: Hệ thống GPS + cảm biến trên xe tải, drone giao hàng.</a:t>
            </a:r>
            <a:endParaRPr lang="vi-VN" b="0" i="0" dirty="0">
              <a:solidFill>
                <a:srgbClr val="404040"/>
              </a:solidFill>
              <a:effectLst/>
              <a:latin typeface="quote-cjk-patch"/>
            </a:endParaRPr>
          </a:p>
          <a:p>
            <a:pPr algn="l"/>
            <a:r>
              <a:rPr lang="vi-VN" b="1" i="0" dirty="0">
                <a:solidFill>
                  <a:srgbClr val="404040"/>
                </a:solidFill>
                <a:effectLst/>
                <a:latin typeface="quote-cjk-patch"/>
              </a:rPr>
              <a:t>2. Tiện ích (Utilities)</a:t>
            </a:r>
            <a:endParaRPr lang="vi-VN" b="0" i="0" dirty="0">
              <a:solidFill>
                <a:srgbClr val="404040"/>
              </a:solidFill>
              <a:effectLst/>
              <a:latin typeface="quote-cjk-patch"/>
            </a:endParaRPr>
          </a:p>
          <a:p>
            <a:pPr lvl="1" algn="l">
              <a:buFont typeface="Arial" panose="020B0604020202020204" pitchFamily="34" charset="0"/>
              <a:buChar char="•"/>
            </a:pPr>
            <a:r>
              <a:rPr lang="vi-VN" b="1" i="0" dirty="0">
                <a:solidFill>
                  <a:srgbClr val="404040"/>
                </a:solidFill>
                <a:effectLst/>
                <a:latin typeface="quote-cjk-patch"/>
              </a:rPr>
              <a:t>Đồng hồ đo thông minh (Smart metering)</a:t>
            </a:r>
            <a:r>
              <a:rPr lang="vi-VN" b="0" i="0" dirty="0">
                <a:solidFill>
                  <a:srgbClr val="404040"/>
                </a:solidFill>
                <a:effectLst/>
                <a:latin typeface="quote-cjk-patch"/>
              </a:rPr>
              <a:t>: Tự động gửi dữ liệu điện/nước/gas → Giảm sai sót, cảnh báo rò rỉ, định giá linh hoạt.</a:t>
            </a:r>
          </a:p>
          <a:p>
            <a:pPr lvl="1" algn="l">
              <a:buFont typeface="Arial" panose="020B0604020202020204" pitchFamily="34" charset="0"/>
              <a:buChar char="•"/>
            </a:pPr>
            <a:r>
              <a:rPr lang="vi-VN" b="1" i="0" dirty="0">
                <a:solidFill>
                  <a:srgbClr val="404040"/>
                </a:solidFill>
                <a:effectLst/>
                <a:latin typeface="quote-cjk-patch"/>
              </a:rPr>
              <a:t>Quản lý lưới điện thông minh (Smart grid management)</a:t>
            </a:r>
            <a:r>
              <a:rPr lang="vi-VN" b="0" i="0" dirty="0">
                <a:solidFill>
                  <a:srgbClr val="404040"/>
                </a:solidFill>
                <a:effectLst/>
                <a:latin typeface="quote-cjk-patch"/>
              </a:rPr>
              <a:t>: Cân bằng tải điện, phát hiện sự cố → Tối ưu hóa phân phối điện.</a:t>
            </a:r>
          </a:p>
          <a:p>
            <a:pPr lvl="1" algn="l">
              <a:buFont typeface="Arial" panose="020B0604020202020204" pitchFamily="34" charset="0"/>
              <a:buChar char="•"/>
            </a:pPr>
            <a:r>
              <a:rPr lang="vi-VN" b="0" i="1" dirty="0">
                <a:solidFill>
                  <a:srgbClr val="404040"/>
                </a:solidFill>
                <a:effectLst/>
                <a:latin typeface="quote-cjk-patch"/>
              </a:rPr>
              <a:t>Ví dụ: Hệ thống đo điện thông minh của EVN.</a:t>
            </a:r>
            <a:endParaRPr lang="vi-VN" b="0" i="0" dirty="0">
              <a:solidFill>
                <a:srgbClr val="404040"/>
              </a:solidFill>
              <a:effectLst/>
              <a:latin typeface="quote-cjk-patch"/>
            </a:endParaRPr>
          </a:p>
          <a:p>
            <a:pPr algn="l"/>
            <a:r>
              <a:rPr lang="vi-VN" b="1" i="0" dirty="0">
                <a:solidFill>
                  <a:srgbClr val="404040"/>
                </a:solidFill>
                <a:effectLst/>
                <a:latin typeface="quote-cjk-patch"/>
              </a:rPr>
              <a:t>3. Thành phố thông minh (Smart cities)</a:t>
            </a:r>
            <a:endParaRPr lang="vi-VN" b="0" i="0" dirty="0">
              <a:solidFill>
                <a:srgbClr val="404040"/>
              </a:solidFill>
              <a:effectLst/>
              <a:latin typeface="quote-cjk-patch"/>
            </a:endParaRPr>
          </a:p>
          <a:p>
            <a:pPr lvl="1" algn="l">
              <a:buFont typeface="Arial" panose="020B0604020202020204" pitchFamily="34" charset="0"/>
              <a:buChar char="•"/>
            </a:pPr>
            <a:r>
              <a:rPr lang="vi-VN" b="1" i="0" dirty="0">
                <a:solidFill>
                  <a:srgbClr val="404040"/>
                </a:solidFill>
                <a:effectLst/>
                <a:latin typeface="quote-cjk-patch"/>
              </a:rPr>
              <a:t>Cảm biến đỗ xe (Parking sensors)</a:t>
            </a:r>
            <a:r>
              <a:rPr lang="vi-VN" b="0" i="0" dirty="0">
                <a:solidFill>
                  <a:srgbClr val="404040"/>
                </a:solidFill>
                <a:effectLst/>
                <a:latin typeface="quote-cjk-patch"/>
              </a:rPr>
              <a:t>: Hướng dẫn lái xe tìm chỗ đỗ trống → Giảm ùn tắc.</a:t>
            </a:r>
          </a:p>
          <a:p>
            <a:pPr lvl="1" algn="l">
              <a:buFont typeface="Arial" panose="020B0604020202020204" pitchFamily="34" charset="0"/>
              <a:buChar char="•"/>
            </a:pPr>
            <a:r>
              <a:rPr lang="vi-VN" b="1" i="0" dirty="0">
                <a:solidFill>
                  <a:srgbClr val="404040"/>
                </a:solidFill>
                <a:effectLst/>
                <a:latin typeface="quote-cjk-patch"/>
              </a:rPr>
              <a:t>Quản lý rác thải (Waste management)</a:t>
            </a:r>
            <a:r>
              <a:rPr lang="vi-VN" b="0" i="0" dirty="0">
                <a:solidFill>
                  <a:srgbClr val="404040"/>
                </a:solidFill>
                <a:effectLst/>
                <a:latin typeface="quote-cjk-patch"/>
              </a:rPr>
              <a:t>: Thùng rác thông minh báo đầy → Tối ưu lộ trình thu gom.</a:t>
            </a:r>
          </a:p>
          <a:p>
            <a:pPr lvl="1" algn="l">
              <a:buFont typeface="Arial" panose="020B0604020202020204" pitchFamily="34" charset="0"/>
              <a:buChar char="•"/>
            </a:pPr>
            <a:r>
              <a:rPr lang="vi-VN" b="0" i="1" dirty="0">
                <a:solidFill>
                  <a:srgbClr val="404040"/>
                </a:solidFill>
                <a:effectLst/>
                <a:latin typeface="quote-cjk-patch"/>
              </a:rPr>
              <a:t>Ví dụ khác: Đèn đường tự điều chỉnh độ sáng, hệ thống giám sát môi trường.</a:t>
            </a:r>
            <a:endParaRPr lang="vi-VN" b="0" i="0" dirty="0">
              <a:solidFill>
                <a:srgbClr val="404040"/>
              </a:solidFill>
              <a:effectLst/>
              <a:latin typeface="quote-cjk-patch"/>
            </a:endParaRPr>
          </a:p>
          <a:p>
            <a:pPr algn="l"/>
            <a:r>
              <a:rPr lang="vi-VN" b="1" i="0" dirty="0">
                <a:solidFill>
                  <a:srgbClr val="404040"/>
                </a:solidFill>
                <a:effectLst/>
                <a:latin typeface="quote-cjk-patch"/>
              </a:rPr>
              <a:t>4. Tòa nhà thông minh (Smart building)</a:t>
            </a:r>
            <a:endParaRPr lang="vi-VN" b="0" i="0" dirty="0">
              <a:solidFill>
                <a:srgbClr val="404040"/>
              </a:solidFill>
              <a:effectLst/>
              <a:latin typeface="quote-cjk-patch"/>
            </a:endParaRPr>
          </a:p>
          <a:p>
            <a:pPr lvl="1" algn="l">
              <a:buFont typeface="Arial" panose="020B0604020202020204" pitchFamily="34" charset="0"/>
              <a:buChar char="•"/>
            </a:pPr>
            <a:r>
              <a:rPr lang="vi-VN" b="1" i="0" dirty="0">
                <a:solidFill>
                  <a:srgbClr val="404040"/>
                </a:solidFill>
                <a:effectLst/>
                <a:latin typeface="quote-cjk-patch"/>
              </a:rPr>
              <a:t>Báo cháy (Smoke detector)</a:t>
            </a:r>
            <a:r>
              <a:rPr lang="vi-VN" b="0" i="0" dirty="0">
                <a:solidFill>
                  <a:srgbClr val="404040"/>
                </a:solidFill>
                <a:effectLst/>
                <a:latin typeface="quote-cjk-patch"/>
              </a:rPr>
              <a:t>: Cảm biến phát hiện khói/nhiệt → Gửi cảnh báo tức thì.</a:t>
            </a:r>
          </a:p>
          <a:p>
            <a:pPr lvl="1" algn="l">
              <a:buFont typeface="Arial" panose="020B0604020202020204" pitchFamily="34" charset="0"/>
              <a:buChar char="•"/>
            </a:pPr>
            <a:r>
              <a:rPr lang="vi-VN" b="1" i="0" dirty="0">
                <a:solidFill>
                  <a:srgbClr val="404040"/>
                </a:solidFill>
                <a:effectLst/>
                <a:latin typeface="quote-cjk-patch"/>
              </a:rPr>
              <a:t>Tự động hóa gia đình (Home automation)</a:t>
            </a:r>
            <a:r>
              <a:rPr lang="vi-VN" b="0" i="0" dirty="0">
                <a:solidFill>
                  <a:srgbClr val="404040"/>
                </a:solidFill>
                <a:effectLst/>
                <a:latin typeface="quote-cjk-patch"/>
              </a:rPr>
              <a:t>: Điều khiển đèn, điều hòa, an ninh từ xa → Tiết kiệm năng lượng, tăng tiện nghi.</a:t>
            </a:r>
          </a:p>
          <a:p>
            <a:pPr lvl="1" algn="l">
              <a:buFont typeface="Arial" panose="020B0604020202020204" pitchFamily="34" charset="0"/>
              <a:buChar char="•"/>
            </a:pPr>
            <a:r>
              <a:rPr lang="vi-VN" b="0" i="1" dirty="0">
                <a:solidFill>
                  <a:srgbClr val="404040"/>
                </a:solidFill>
                <a:effectLst/>
                <a:latin typeface="quote-cjk-patch"/>
              </a:rPr>
              <a:t>Ví dụ: Hệ thống nhà thông minh (Smart Home) dùng Google Home/Alexa.</a:t>
            </a:r>
            <a:endParaRPr lang="vi-VN" b="0" i="0" dirty="0">
              <a:solidFill>
                <a:srgbClr val="404040"/>
              </a:solidFill>
              <a:effectLst/>
              <a:latin typeface="quote-cjk-patch"/>
            </a:endParaRPr>
          </a:p>
          <a:p>
            <a:pPr algn="l"/>
            <a:r>
              <a:rPr lang="vi-VN" b="1" i="0" dirty="0">
                <a:solidFill>
                  <a:srgbClr val="404040"/>
                </a:solidFill>
                <a:effectLst/>
                <a:latin typeface="quote-cjk-patch"/>
              </a:rPr>
              <a:t>5. Người tiêu dùng (Consumers)</a:t>
            </a:r>
            <a:endParaRPr lang="vi-VN" b="0" i="0" dirty="0">
              <a:solidFill>
                <a:srgbClr val="404040"/>
              </a:solidFill>
              <a:effectLst/>
              <a:latin typeface="quote-cjk-patch"/>
            </a:endParaRPr>
          </a:p>
          <a:p>
            <a:pPr lvl="1" algn="l">
              <a:buFont typeface="Arial" panose="020B0604020202020204" pitchFamily="34" charset="0"/>
              <a:buChar char="•"/>
            </a:pPr>
            <a:r>
              <a:rPr lang="vi-VN" b="1" i="0" dirty="0">
                <a:solidFill>
                  <a:srgbClr val="404040"/>
                </a:solidFill>
                <a:effectLst/>
                <a:latin typeface="quote-cjk-patch"/>
              </a:rPr>
              <a:t>Thiết bị đeo (Wearables)</a:t>
            </a:r>
            <a:r>
              <a:rPr lang="vi-VN" b="0" i="0" dirty="0">
                <a:solidFill>
                  <a:srgbClr val="404040"/>
                </a:solidFill>
                <a:effectLst/>
                <a:latin typeface="quote-cjk-patch"/>
              </a:rPr>
              <a:t>: Smartwatch theo dõi sức khỏe, vận động → Cá nhân hóa chăm sóc.</a:t>
            </a:r>
          </a:p>
          <a:p>
            <a:pPr lvl="1" algn="l">
              <a:buFont typeface="Arial" panose="020B0604020202020204" pitchFamily="34" charset="0"/>
              <a:buChar char="•"/>
            </a:pPr>
            <a:r>
              <a:rPr lang="vi-VN" b="1" i="0" dirty="0">
                <a:solidFill>
                  <a:srgbClr val="404040"/>
                </a:solidFill>
                <a:effectLst/>
                <a:latin typeface="quote-cjk-patch"/>
              </a:rPr>
              <a:t>Theo dõi trẻ em/người già (Kids/senior tracker)</a:t>
            </a:r>
            <a:r>
              <a:rPr lang="vi-VN" b="0" i="0" dirty="0">
                <a:solidFill>
                  <a:srgbClr val="404040"/>
                </a:solidFill>
                <a:effectLst/>
                <a:latin typeface="quote-cjk-patch"/>
              </a:rPr>
              <a:t>: Vòng đeo tay GPS → Đảm bảo an toàn, định vị khẩn cấp.</a:t>
            </a:r>
          </a:p>
          <a:p>
            <a:pPr lvl="1" algn="l">
              <a:buFont typeface="Arial" panose="020B0604020202020204" pitchFamily="34" charset="0"/>
              <a:buChar char="•"/>
            </a:pPr>
            <a:r>
              <a:rPr lang="vi-VN" b="0" i="1" dirty="0">
                <a:solidFill>
                  <a:srgbClr val="404040"/>
                </a:solidFill>
                <a:effectLst/>
                <a:latin typeface="quote-cjk-patch"/>
              </a:rPr>
              <a:t>Ví dụ: Apple Watch, vòng định vị trẻ em.</a:t>
            </a:r>
            <a:endParaRPr lang="vi-VN" b="0" i="0" dirty="0">
              <a:solidFill>
                <a:srgbClr val="404040"/>
              </a:solidFill>
              <a:effectLst/>
              <a:latin typeface="quote-cjk-patch"/>
            </a:endParaRPr>
          </a:p>
          <a:p>
            <a:pPr algn="l"/>
            <a:r>
              <a:rPr lang="vi-VN" b="1" i="0" dirty="0">
                <a:solidFill>
                  <a:srgbClr val="404040"/>
                </a:solidFill>
                <a:effectLst/>
                <a:latin typeface="quote-cjk-patch"/>
              </a:rPr>
              <a:t>6. Công nghiệp (Industrial)</a:t>
            </a:r>
            <a:endParaRPr lang="vi-VN" b="0" i="0" dirty="0">
              <a:solidFill>
                <a:srgbClr val="404040"/>
              </a:solidFill>
              <a:effectLst/>
              <a:latin typeface="quote-cjk-patch"/>
            </a:endParaRPr>
          </a:p>
          <a:p>
            <a:pPr lvl="1" algn="l">
              <a:buFont typeface="Arial" panose="020B0604020202020204" pitchFamily="34" charset="0"/>
              <a:buChar char="•"/>
            </a:pPr>
            <a:r>
              <a:rPr lang="vi-VN" b="1" i="0" dirty="0">
                <a:solidFill>
                  <a:srgbClr val="404040"/>
                </a:solidFill>
                <a:effectLst/>
                <a:latin typeface="quote-cjk-patch"/>
              </a:rPr>
              <a:t>Giám sát &amp; điều khiển quy trình (Process monitoring &amp; control)</a:t>
            </a:r>
            <a:r>
              <a:rPr lang="vi-VN" b="0" i="0" dirty="0">
                <a:solidFill>
                  <a:srgbClr val="404040"/>
                </a:solidFill>
                <a:effectLst/>
                <a:latin typeface="quote-cjk-patch"/>
              </a:rPr>
              <a:t>: Cảm biến IoT trên dây chuyền → Tự động hóa, tối ưu sản xuất.</a:t>
            </a:r>
          </a:p>
          <a:p>
            <a:pPr lvl="1" algn="l">
              <a:buFont typeface="Arial" panose="020B0604020202020204" pitchFamily="34" charset="0"/>
              <a:buChar char="•"/>
            </a:pPr>
            <a:r>
              <a:rPr lang="vi-VN" b="1" i="0" dirty="0">
                <a:solidFill>
                  <a:srgbClr val="404040"/>
                </a:solidFill>
                <a:effectLst/>
                <a:latin typeface="quote-cjk-patch"/>
              </a:rPr>
              <a:t>Giám sát bảo trì (Maintenance monitoring)</a:t>
            </a:r>
            <a:r>
              <a:rPr lang="vi-VN" b="0" i="0" dirty="0">
                <a:solidFill>
                  <a:srgbClr val="404040"/>
                </a:solidFill>
                <a:effectLst/>
                <a:latin typeface="quote-cjk-patch"/>
              </a:rPr>
              <a:t>: Dự đoán hỏng hóc máy móc → Giảm thời gian ngừng hoạt động.</a:t>
            </a:r>
          </a:p>
          <a:p>
            <a:pPr lvl="1" algn="l">
              <a:buFont typeface="Arial" panose="020B0604020202020204" pitchFamily="34" charset="0"/>
              <a:buChar char="•"/>
            </a:pPr>
            <a:r>
              <a:rPr lang="vi-VN" b="0" i="1" dirty="0">
                <a:solidFill>
                  <a:srgbClr val="404040"/>
                </a:solidFill>
                <a:effectLst/>
                <a:latin typeface="quote-cjk-patch"/>
              </a:rPr>
              <a:t>Ví dụ: Nhà máy thông minh (Smart Factory) trong Công nghiệp 4.0.</a:t>
            </a:r>
            <a:endParaRPr lang="vi-VN" b="0" i="0" dirty="0">
              <a:solidFill>
                <a:srgbClr val="404040"/>
              </a:solidFill>
              <a:effectLst/>
              <a:latin typeface="quote-cjk-patch"/>
            </a:endParaRPr>
          </a:p>
          <a:p>
            <a:pPr algn="l"/>
            <a:r>
              <a:rPr lang="vi-VN" b="1" i="0" dirty="0">
                <a:solidFill>
                  <a:srgbClr val="404040"/>
                </a:solidFill>
                <a:effectLst/>
                <a:latin typeface="quote-cjk-patch"/>
              </a:rPr>
              <a:t>7. Môi trường (Environment)</a:t>
            </a:r>
            <a:endParaRPr lang="vi-VN" b="0" i="0" dirty="0">
              <a:solidFill>
                <a:srgbClr val="404040"/>
              </a:solidFill>
              <a:effectLst/>
              <a:latin typeface="quote-cjk-patch"/>
            </a:endParaRPr>
          </a:p>
          <a:p>
            <a:pPr lvl="1" algn="l">
              <a:buFont typeface="Arial" panose="020B0604020202020204" pitchFamily="34" charset="0"/>
              <a:buChar char="•"/>
            </a:pPr>
            <a:r>
              <a:rPr lang="vi-VN" b="1" i="0" dirty="0">
                <a:solidFill>
                  <a:srgbClr val="404040"/>
                </a:solidFill>
                <a:effectLst/>
                <a:latin typeface="quote-cjk-patch"/>
              </a:rPr>
              <a:t>Giám sát thực phẩm (Food monitoring/alerts)</a:t>
            </a:r>
            <a:r>
              <a:rPr lang="vi-VN" b="0" i="0" dirty="0">
                <a:solidFill>
                  <a:srgbClr val="404040"/>
                </a:solidFill>
                <a:effectLst/>
                <a:latin typeface="quote-cjk-patch"/>
              </a:rPr>
              <a:t>: Cảm biến nhiệt độ trong kho lạnh → Cảnh báo hư hỏng thực phẩm.</a:t>
            </a:r>
          </a:p>
          <a:p>
            <a:pPr lvl="1" algn="l">
              <a:buFont typeface="Arial" panose="020B0604020202020204" pitchFamily="34" charset="0"/>
              <a:buChar char="•"/>
            </a:pPr>
            <a:r>
              <a:rPr lang="vi-VN" b="1" i="0" dirty="0">
                <a:solidFill>
                  <a:srgbClr val="404040"/>
                </a:solidFill>
                <a:effectLst/>
                <a:latin typeface="quote-cjk-patch"/>
              </a:rPr>
              <a:t>Giám sát môi trường (Environmental monitoring)</a:t>
            </a:r>
            <a:r>
              <a:rPr lang="vi-VN" b="0" i="0" dirty="0">
                <a:solidFill>
                  <a:srgbClr val="404040"/>
                </a:solidFill>
                <a:effectLst/>
                <a:latin typeface="quote-cjk-patch"/>
              </a:rPr>
              <a:t>: Đo chất lượng không khí, nước → Phát hiện ô nhiễm.</a:t>
            </a:r>
          </a:p>
          <a:p>
            <a:pPr lvl="1" algn="l">
              <a:buFont typeface="Arial" panose="020B0604020202020204" pitchFamily="34" charset="0"/>
              <a:buChar char="•"/>
            </a:pPr>
            <a:r>
              <a:rPr lang="vi-VN" b="0" i="1" dirty="0">
                <a:solidFill>
                  <a:srgbClr val="404040"/>
                </a:solidFill>
                <a:effectLst/>
                <a:latin typeface="quote-cjk-patch"/>
              </a:rPr>
              <a:t>Ví dụ: Hệ thống cảm biến chống ngập lụt tại TP.HCM.</a:t>
            </a:r>
            <a:endParaRPr lang="vi-VN" b="0" i="0" dirty="0">
              <a:solidFill>
                <a:srgbClr val="404040"/>
              </a:solidFill>
              <a:effectLst/>
              <a:latin typeface="quote-cjk-patch"/>
            </a:endParaRPr>
          </a:p>
          <a:p>
            <a:pPr algn="l"/>
            <a:r>
              <a:rPr lang="vi-VN" b="1" i="0" dirty="0">
                <a:solidFill>
                  <a:srgbClr val="404040"/>
                </a:solidFill>
                <a:effectLst/>
                <a:latin typeface="quote-cjk-patch"/>
              </a:rPr>
              <a:t>8. Nông nghiệp (Agriculture)</a:t>
            </a:r>
            <a:endParaRPr lang="vi-VN" b="0" i="0" dirty="0">
              <a:solidFill>
                <a:srgbClr val="404040"/>
              </a:solidFill>
              <a:effectLst/>
              <a:latin typeface="quote-cjk-patch"/>
            </a:endParaRPr>
          </a:p>
          <a:p>
            <a:pPr lvl="1" algn="l">
              <a:buFont typeface="Arial" panose="020B0604020202020204" pitchFamily="34" charset="0"/>
              <a:buChar char="•"/>
            </a:pPr>
            <a:r>
              <a:rPr lang="vi-VN" b="1" i="0" dirty="0">
                <a:solidFill>
                  <a:srgbClr val="404040"/>
                </a:solidFill>
                <a:effectLst/>
                <a:latin typeface="quote-cjk-patch"/>
              </a:rPr>
              <a:t>Giám sát khí hậu/nông nghiệp (Climate/agriculture monitoring)</a:t>
            </a:r>
            <a:r>
              <a:rPr lang="vi-VN" b="0" i="0" dirty="0">
                <a:solidFill>
                  <a:srgbClr val="404040"/>
                </a:solidFill>
                <a:effectLst/>
                <a:latin typeface="quote-cjk-patch"/>
              </a:rPr>
              <a:t>: Cảm biến đất, thời tiết → Tưới tiêu thông minh, phòng bệnh cây trồng.</a:t>
            </a:r>
          </a:p>
          <a:p>
            <a:pPr lvl="1" algn="l">
              <a:buFont typeface="Arial" panose="020B0604020202020204" pitchFamily="34" charset="0"/>
              <a:buChar char="•"/>
            </a:pPr>
            <a:r>
              <a:rPr lang="vi-VN" b="1" i="0" dirty="0">
                <a:solidFill>
                  <a:srgbClr val="404040"/>
                </a:solidFill>
                <a:effectLst/>
                <a:latin typeface="quote-cjk-patch"/>
              </a:rPr>
              <a:t>Theo dõi gia súc (Livestock tracking)</a:t>
            </a:r>
            <a:r>
              <a:rPr lang="vi-VN" b="0" i="0" dirty="0">
                <a:solidFill>
                  <a:srgbClr val="404040"/>
                </a:solidFill>
                <a:effectLst/>
                <a:latin typeface="quote-cjk-patch"/>
              </a:rPr>
              <a:t>: Vòng cổ IoT → Quản lý sức khỏe, vị trí vật nuôi.</a:t>
            </a:r>
          </a:p>
          <a:p>
            <a:pPr lvl="1" algn="l">
              <a:buFont typeface="Arial" panose="020B0604020202020204" pitchFamily="34" charset="0"/>
              <a:buChar char="•"/>
            </a:pPr>
            <a:r>
              <a:rPr lang="vi-VN" b="0" i="1" dirty="0">
                <a:solidFill>
                  <a:srgbClr val="404040"/>
                </a:solidFill>
                <a:effectLst/>
                <a:latin typeface="quote-cjk-patch"/>
              </a:rPr>
              <a:t>Ví dụ: Nông trại thông minh (Smart Farm) dùng drone và cảm biến.</a:t>
            </a:r>
            <a:endParaRPr lang="vi-VN" b="0" i="0" dirty="0">
              <a:solidFill>
                <a:srgbClr val="404040"/>
              </a:solidFill>
              <a:effectLst/>
              <a:latin typeface="quote-cjk-patch"/>
            </a:endParaRPr>
          </a:p>
          <a:p>
            <a:pPr algn="l"/>
            <a:r>
              <a:rPr lang="vi-VN" b="1" i="0" dirty="0">
                <a:solidFill>
                  <a:srgbClr val="404040"/>
                </a:solidFill>
                <a:effectLst/>
                <a:latin typeface="quote-cjk-patch"/>
              </a:rPr>
              <a:t>Tại sao IoT quan trọng?</a:t>
            </a:r>
            <a:endParaRPr lang="vi-VN" b="0" i="0" dirty="0">
              <a:solidFill>
                <a:srgbClr val="404040"/>
              </a:solidFill>
              <a:effectLst/>
              <a:latin typeface="quote-cjk-patch"/>
            </a:endParaRPr>
          </a:p>
          <a:p>
            <a:pPr lvl="1" algn="l">
              <a:buFont typeface="Arial" panose="020B0604020202020204" pitchFamily="34" charset="0"/>
              <a:buChar char="•"/>
            </a:pPr>
            <a:r>
              <a:rPr lang="vi-VN" b="1" i="0" dirty="0">
                <a:solidFill>
                  <a:srgbClr val="404040"/>
                </a:solidFill>
                <a:effectLst/>
                <a:latin typeface="quote-cjk-patch"/>
              </a:rPr>
              <a:t>Kết nối vạn vật</a:t>
            </a:r>
            <a:r>
              <a:rPr lang="vi-VN" b="0" i="0" dirty="0">
                <a:solidFill>
                  <a:srgbClr val="404040"/>
                </a:solidFill>
                <a:effectLst/>
                <a:latin typeface="quote-cjk-patch"/>
              </a:rPr>
              <a:t>: Thiết bị → Dữ liệu → Phân tích → Ra quyết định tự động.</a:t>
            </a:r>
          </a:p>
          <a:p>
            <a:pPr lvl="1" algn="l">
              <a:buFont typeface="Arial" panose="020B0604020202020204" pitchFamily="34" charset="0"/>
              <a:buChar char="•"/>
            </a:pPr>
            <a:r>
              <a:rPr lang="vi-VN" b="1" i="0" dirty="0">
                <a:solidFill>
                  <a:srgbClr val="404040"/>
                </a:solidFill>
                <a:effectLst/>
                <a:latin typeface="quote-cjk-patch"/>
              </a:rPr>
              <a:t>Lợi ích</a:t>
            </a:r>
            <a:r>
              <a:rPr lang="vi-VN" b="0" i="0" dirty="0">
                <a:solidFill>
                  <a:srgbClr val="404040"/>
                </a:solidFill>
                <a:effectLst/>
                <a:latin typeface="quote-cjk-patch"/>
              </a:rPr>
              <a:t>: Tiết kiệm chi phí, tăng hiệu suất, giảm rủi ro, nâng cao chất lượng sống.</a:t>
            </a:r>
          </a:p>
          <a:p>
            <a:pPr lvl="1" algn="l">
              <a:buFont typeface="Arial" panose="020B0604020202020204" pitchFamily="34" charset="0"/>
              <a:buChar char="•"/>
            </a:pPr>
            <a:r>
              <a:rPr lang="vi-VN" b="1" i="0" dirty="0">
                <a:solidFill>
                  <a:srgbClr val="404040"/>
                </a:solidFill>
                <a:effectLst/>
                <a:latin typeface="quote-cjk-patch"/>
              </a:rPr>
              <a:t>Xu hướng</a:t>
            </a:r>
            <a:r>
              <a:rPr lang="vi-VN" b="0" i="0" dirty="0">
                <a:solidFill>
                  <a:srgbClr val="404040"/>
                </a:solidFill>
                <a:effectLst/>
                <a:latin typeface="quote-cjk-patch"/>
              </a:rPr>
              <a:t>: Nền tảng của Cách mạng Công nghiệp 4.0, AI, Big Data.</a:t>
            </a:r>
          </a:p>
          <a:p>
            <a:pPr algn="l"/>
            <a:r>
              <a:rPr lang="vi-VN" b="1" i="0" dirty="0">
                <a:solidFill>
                  <a:srgbClr val="404040"/>
                </a:solidFill>
                <a:effectLst/>
                <a:latin typeface="quote-cjk-patch"/>
              </a:rPr>
              <a:t>Câu hỏi thảo luận</a:t>
            </a:r>
            <a:endParaRPr lang="vi-VN" b="0" i="0" dirty="0">
              <a:solidFill>
                <a:srgbClr val="404040"/>
              </a:solidFill>
              <a:effectLst/>
              <a:latin typeface="quote-cjk-patch"/>
            </a:endParaRPr>
          </a:p>
          <a:p>
            <a:pPr algn="l">
              <a:buFont typeface="+mj-lt"/>
              <a:buAutoNum type="arabicPeriod"/>
            </a:pPr>
            <a:r>
              <a:rPr lang="vi-VN" b="0" i="0" dirty="0">
                <a:solidFill>
                  <a:srgbClr val="404040"/>
                </a:solidFill>
                <a:effectLst/>
                <a:latin typeface="quote-cjk-patch"/>
              </a:rPr>
              <a:t>IoT có thể giải quyết thách thức nào tại Việt Nam? (Vd: ngập lụt, nông nghiệp, giao thông)</a:t>
            </a:r>
          </a:p>
          <a:p>
            <a:pPr algn="l">
              <a:buFont typeface="+mj-lt"/>
              <a:buAutoNum type="arabicPeriod"/>
            </a:pPr>
            <a:r>
              <a:rPr lang="vi-VN" b="0" i="0" dirty="0">
                <a:solidFill>
                  <a:srgbClr val="404040"/>
                </a:solidFill>
                <a:effectLst/>
                <a:latin typeface="quote-cjk-patch"/>
              </a:rPr>
              <a:t>Kể tên 1 ứng dụng IoT bạn đã sử dụng. Nó thay đổi cuộc sống của bạn thế nào?</a:t>
            </a:r>
          </a:p>
          <a:p>
            <a:pPr algn="l">
              <a:buFont typeface="+mj-lt"/>
              <a:buAutoNum type="arabicPeriod"/>
            </a:pPr>
            <a:r>
              <a:rPr lang="vi-VN" b="0" i="0" dirty="0">
                <a:solidFill>
                  <a:srgbClr val="404040"/>
                </a:solidFill>
                <a:effectLst/>
                <a:latin typeface="quote-cjk-patch"/>
              </a:rPr>
              <a:t>Đâu là rào cản lớn nhất khi triển khai IoT? (Chi phí, bảo mật, hạ tầng?)</a:t>
            </a:r>
          </a:p>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789eb9c381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789eb9c381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789eb9c381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789eb9c381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789eb9c381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789eb9c381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789eb9c381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789eb9c381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789eb9c381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789eb9c381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789eb9c381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789eb9c381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789eb9c381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789eb9c381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789eb9c381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789eb9c381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789eb9c381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3789eb9c381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789eb9c381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789eb9c381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789eb9c381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789eb9c381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789eb9c381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789eb9c381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789eb9c381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789eb9c381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789eb9c381_0_2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789eb9c381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f1dcfa677d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2f1dcfa677d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2f1dcfa677d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2f1dcfa677d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f1dcfa677d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f1dcfa677d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2f1dcfa677d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2f1dcfa677d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2f1dcfa677d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2f1dcfa677d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2f1dcfa677d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2f1dcfa677d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2f1eedad6d5_0_2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2f1eedad6d5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f1dcfa677d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2f1dcfa677d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2f1dcfa677d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2f1dcfa677d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2f1dcfa677d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2f1dcfa677d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2" name="Google Shape;12;p2"/>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a:p>
        </p:txBody>
      </p:sp>
      <p:sp>
        <p:nvSpPr>
          <p:cNvPr id="13" name="Google Shape;13;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9" name="Google Shape;29;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2"/>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6" name="Google Shape;36;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0" name="Google Shape;40;p9"/>
          <p:cNvSpPr txBox="1">
            <a:spLocks noGrp="1"/>
          </p:cNvSpPr>
          <p:nvPr>
            <p:ph type="title"/>
          </p:nvPr>
        </p:nvSpPr>
        <p:spPr>
          <a:xfrm>
            <a:off x="265500" y="1181700"/>
            <a:ext cx="4045200" cy="15336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1" name="Google Shape;41;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2" name="Google Shape;42;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3" name="Google Shape;43;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6" name="Google Shape;46;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1"/>
          <p:cNvSpPr txBox="1">
            <a:spLocks noGrp="1"/>
          </p:cNvSpPr>
          <p:nvPr>
            <p:ph type="title" hasCustomPrompt="1"/>
          </p:nvPr>
        </p:nvSpPr>
        <p:spPr>
          <a:xfrm>
            <a:off x="311700" y="743001"/>
            <a:ext cx="8520600" cy="200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a:spLocks noGrp="1"/>
          </p:cNvSpPr>
          <p:nvPr>
            <p:ph type="body" idx="1"/>
          </p:nvPr>
        </p:nvSpPr>
        <p:spPr>
          <a:xfrm>
            <a:off x="311700" y="2845182"/>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51" name="Google Shape;51;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l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marL="914400" lvl="1"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marL="1371600" lvl="2"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marL="1828800" lvl="3"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marL="2286000" lvl="4"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marL="2743200" lvl="5"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marL="3200400" lvl="6"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marL="3657600" lvl="7"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marL="4114800" lvl="8"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C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achkim@ptit.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bachkn@ptit.edu.vn"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CA"/>
              <a:t>IoT và Ứng Dụng</a:t>
            </a:r>
            <a:endParaRPr/>
          </a:p>
        </p:txBody>
      </p:sp>
      <p:sp>
        <p:nvSpPr>
          <p:cNvPr id="59" name="Google Shape;59;p13"/>
          <p:cNvSpPr txBox="1">
            <a:spLocks noGrp="1"/>
          </p:cNvSpPr>
          <p:nvPr>
            <p:ph type="subTitle" idx="1"/>
          </p:nvPr>
        </p:nvSpPr>
        <p:spPr>
          <a:xfrm>
            <a:off x="485875" y="1631485"/>
            <a:ext cx="4242600" cy="738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a:t>INT14149</a:t>
            </a:r>
            <a:endParaRPr/>
          </a:p>
        </p:txBody>
      </p:sp>
      <p:sp>
        <p:nvSpPr>
          <p:cNvPr id="60" name="Google Shape;60;p13"/>
          <p:cNvSpPr txBox="1"/>
          <p:nvPr/>
        </p:nvSpPr>
        <p:spPr>
          <a:xfrm>
            <a:off x="5788375" y="3309875"/>
            <a:ext cx="3000000" cy="1139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CA" sz="2400">
                <a:solidFill>
                  <a:schemeClr val="lt1"/>
                </a:solidFill>
                <a:latin typeface="Source Sans Pro"/>
                <a:ea typeface="Source Sans Pro"/>
                <a:cs typeface="Source Sans Pro"/>
                <a:sym typeface="Source Sans Pro"/>
              </a:rPr>
              <a:t>Kim Ngọc Bách</a:t>
            </a:r>
            <a:endParaRPr sz="2400">
              <a:solidFill>
                <a:schemeClr val="lt1"/>
              </a:solidFill>
              <a:latin typeface="Source Sans Pro"/>
              <a:ea typeface="Source Sans Pro"/>
              <a:cs typeface="Source Sans Pro"/>
              <a:sym typeface="Source Sans Pro"/>
            </a:endParaRPr>
          </a:p>
          <a:p>
            <a:pPr marL="0" lvl="0" indent="0" algn="l" rtl="0">
              <a:spcBef>
                <a:spcPts val="0"/>
              </a:spcBef>
              <a:spcAft>
                <a:spcPts val="0"/>
              </a:spcAft>
              <a:buNone/>
            </a:pPr>
            <a:r>
              <a:rPr lang="en-CA" sz="2400" u="sng">
                <a:solidFill>
                  <a:srgbClr val="009688"/>
                </a:solidFill>
                <a:latin typeface="Source Sans Pro"/>
                <a:ea typeface="Source Sans Pro"/>
                <a:cs typeface="Source Sans Pro"/>
                <a:sym typeface="Source Sans Pro"/>
                <a:hlinkClick r:id="rId3">
                  <a:extLst>
                    <a:ext uri="{A12FA001-AC4F-418D-AE19-62706E023703}">
                      <ahyp:hlinkClr xmlns:ahyp="http://schemas.microsoft.com/office/drawing/2018/hyperlinkcolor" val="tx"/>
                    </a:ext>
                  </a:extLst>
                </a:hlinkClick>
              </a:rPr>
              <a:t>bachkim@ptit.edu.vn</a:t>
            </a:r>
            <a:endParaRPr sz="2400">
              <a:solidFill>
                <a:schemeClr val="lt1"/>
              </a:solidFill>
              <a:latin typeface="Source Sans Pro"/>
              <a:ea typeface="Source Sans Pro"/>
              <a:cs typeface="Source Sans Pro"/>
              <a:sym typeface="Source Sans Pro"/>
            </a:endParaRPr>
          </a:p>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Chap 0: Giới Thiệu Môn Học</a:t>
            </a:r>
            <a:endParaRPr/>
          </a:p>
        </p:txBody>
      </p:sp>
      <p:sp>
        <p:nvSpPr>
          <p:cNvPr id="66" name="Google Shape;66;p14"/>
          <p:cNvSpPr txBox="1">
            <a:spLocks noGrp="1"/>
          </p:cNvSpPr>
          <p:nvPr>
            <p:ph type="body" idx="1"/>
          </p:nvPr>
        </p:nvSpPr>
        <p:spPr>
          <a:xfrm>
            <a:off x="311700" y="1540800"/>
            <a:ext cx="8520600" cy="3143100"/>
          </a:xfrm>
          <a:prstGeom prst="rect">
            <a:avLst/>
          </a:prstGeom>
        </p:spPr>
        <p:txBody>
          <a:bodyPr spcFirstLastPara="1" wrap="square" lIns="91425" tIns="91425" rIns="91425" bIns="91425" anchor="t" anchorCtr="0">
            <a:normAutofit/>
          </a:bodyPr>
          <a:lstStyle/>
          <a:p>
            <a:pPr marL="457200" lvl="0" indent="-374650" algn="l" rtl="0">
              <a:spcBef>
                <a:spcPts val="0"/>
              </a:spcBef>
              <a:spcAft>
                <a:spcPts val="0"/>
              </a:spcAft>
              <a:buSzPts val="2300"/>
              <a:buChar char="-"/>
            </a:pPr>
            <a:r>
              <a:rPr lang="en-CA" sz="2300"/>
              <a:t>IoT và Ứng Dụng</a:t>
            </a:r>
            <a:endParaRPr sz="2300"/>
          </a:p>
          <a:p>
            <a:pPr marL="457200" lvl="0" indent="-374650" algn="l" rtl="0">
              <a:spcBef>
                <a:spcPts val="0"/>
              </a:spcBef>
              <a:spcAft>
                <a:spcPts val="0"/>
              </a:spcAft>
              <a:buSzPts val="2300"/>
              <a:buChar char="-"/>
            </a:pPr>
            <a:r>
              <a:rPr lang="en-CA" sz="2300"/>
              <a:t>Số tín chỉ: 3</a:t>
            </a:r>
            <a:endParaRPr sz="2300"/>
          </a:p>
          <a:p>
            <a:pPr marL="457200" lvl="0" indent="-374650" algn="l" rtl="0">
              <a:spcBef>
                <a:spcPts val="0"/>
              </a:spcBef>
              <a:spcAft>
                <a:spcPts val="0"/>
              </a:spcAft>
              <a:buSzPts val="2300"/>
              <a:buChar char="-"/>
            </a:pPr>
            <a:r>
              <a:rPr lang="en-CA" sz="2300"/>
              <a:t>Thông Tin Giảng Viên:</a:t>
            </a:r>
            <a:endParaRPr sz="2300"/>
          </a:p>
          <a:p>
            <a:pPr marL="914400" lvl="1" indent="-336550" algn="l" rtl="0">
              <a:spcBef>
                <a:spcPts val="0"/>
              </a:spcBef>
              <a:spcAft>
                <a:spcPts val="0"/>
              </a:spcAft>
              <a:buSzPts val="1700"/>
              <a:buChar char="-"/>
            </a:pPr>
            <a:r>
              <a:rPr lang="en-CA" sz="1700"/>
              <a:t>TS. Kim Ngọc Bách</a:t>
            </a:r>
            <a:endParaRPr sz="1700"/>
          </a:p>
          <a:p>
            <a:pPr marL="914400" lvl="1" indent="-336550" algn="l" rtl="0">
              <a:spcBef>
                <a:spcPts val="0"/>
              </a:spcBef>
              <a:spcAft>
                <a:spcPts val="0"/>
              </a:spcAft>
              <a:buSzPts val="1700"/>
              <a:buChar char="-"/>
            </a:pPr>
            <a:r>
              <a:rPr lang="en-CA" sz="1700" u="sng">
                <a:solidFill>
                  <a:schemeClr val="hlink"/>
                </a:solidFill>
                <a:hlinkClick r:id="rId3"/>
              </a:rPr>
              <a:t>bachkn@ptit.edu.vn</a:t>
            </a:r>
            <a:endParaRPr sz="1700"/>
          </a:p>
          <a:p>
            <a:pPr marL="914400" lvl="1" indent="-336550" algn="l" rtl="0">
              <a:spcBef>
                <a:spcPts val="0"/>
              </a:spcBef>
              <a:spcAft>
                <a:spcPts val="0"/>
              </a:spcAft>
              <a:buSzPts val="1700"/>
              <a:buChar char="-"/>
            </a:pPr>
            <a:r>
              <a:rPr lang="en-CA" sz="1700"/>
              <a:t>Zalo: 0828191269</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Chap 0: Giới Thiệu Môn Học</a:t>
            </a:r>
            <a:endParaRPr/>
          </a:p>
          <a:p>
            <a:pPr marL="0" lvl="0" indent="0" algn="l" rtl="0">
              <a:spcBef>
                <a:spcPts val="0"/>
              </a:spcBef>
              <a:spcAft>
                <a:spcPts val="0"/>
              </a:spcAft>
              <a:buClr>
                <a:schemeClr val="dk2"/>
              </a:buClr>
              <a:buSzPct val="36666"/>
              <a:buFont typeface="Arial"/>
              <a:buNone/>
            </a:pPr>
            <a:endParaRPr/>
          </a:p>
          <a:p>
            <a:pPr marL="0" lvl="0" indent="0" algn="l" rtl="0">
              <a:spcBef>
                <a:spcPts val="0"/>
              </a:spcBef>
              <a:spcAft>
                <a:spcPts val="0"/>
              </a:spcAft>
              <a:buNone/>
            </a:pPr>
            <a:endParaRPr/>
          </a:p>
        </p:txBody>
      </p:sp>
      <p:sp>
        <p:nvSpPr>
          <p:cNvPr id="72" name="Google Shape;72;p15"/>
          <p:cNvSpPr txBox="1">
            <a:spLocks noGrp="1"/>
          </p:cNvSpPr>
          <p:nvPr>
            <p:ph type="body" idx="1"/>
          </p:nvPr>
        </p:nvSpPr>
        <p:spPr>
          <a:xfrm>
            <a:off x="311700" y="1152475"/>
            <a:ext cx="8520600" cy="3927600"/>
          </a:xfrm>
          <a:prstGeom prst="rect">
            <a:avLst/>
          </a:prstGeom>
        </p:spPr>
        <p:txBody>
          <a:bodyPr spcFirstLastPara="1" wrap="square" lIns="91425" tIns="91425" rIns="91425" bIns="91425" anchor="t" anchorCtr="0">
            <a:normAutofit lnSpcReduction="20000"/>
          </a:bodyPr>
          <a:lstStyle/>
          <a:p>
            <a:pPr marL="457200" lvl="0" indent="-406400" algn="l" rtl="0">
              <a:spcBef>
                <a:spcPts val="0"/>
              </a:spcBef>
              <a:spcAft>
                <a:spcPts val="0"/>
              </a:spcAft>
              <a:buSzPts val="2800"/>
              <a:buChar char="-"/>
            </a:pPr>
            <a:r>
              <a:rPr lang="en-CA" sz="2800"/>
              <a:t>Môn này học gì?</a:t>
            </a:r>
            <a:endParaRPr sz="2800"/>
          </a:p>
          <a:p>
            <a:pPr marL="914400" lvl="1" indent="-381000" algn="l" rtl="0">
              <a:spcBef>
                <a:spcPts val="0"/>
              </a:spcBef>
              <a:spcAft>
                <a:spcPts val="0"/>
              </a:spcAft>
              <a:buSzPts val="2400"/>
              <a:buChar char="-"/>
            </a:pPr>
            <a:r>
              <a:rPr lang="en-CA" sz="2400"/>
              <a:t>Các khái niệm, kiến trúc và thành phần của hệ thống IoT.</a:t>
            </a:r>
            <a:endParaRPr sz="2400"/>
          </a:p>
          <a:p>
            <a:pPr marL="914400" lvl="1" indent="-381000" algn="l" rtl="0">
              <a:spcBef>
                <a:spcPts val="0"/>
              </a:spcBef>
              <a:spcAft>
                <a:spcPts val="0"/>
              </a:spcAft>
              <a:buSzPts val="2400"/>
              <a:buChar char="-"/>
            </a:pPr>
            <a:r>
              <a:rPr lang="en-CA" sz="2400"/>
              <a:t>Cảm biến, thu thập và xử lý tín hiệu/ dữ liệu.</a:t>
            </a:r>
            <a:endParaRPr sz="2400"/>
          </a:p>
          <a:p>
            <a:pPr marL="914400" lvl="1" indent="-381000" algn="l" rtl="0">
              <a:spcBef>
                <a:spcPts val="0"/>
              </a:spcBef>
              <a:spcAft>
                <a:spcPts val="0"/>
              </a:spcAft>
              <a:buSzPts val="2400"/>
              <a:buChar char="-"/>
            </a:pPr>
            <a:r>
              <a:rPr lang="en-CA" sz="2400"/>
              <a:t>Các giao thức mạng trong hệ thống IoT.</a:t>
            </a:r>
            <a:endParaRPr sz="2400"/>
          </a:p>
          <a:p>
            <a:pPr marL="914400" lvl="1" indent="-381000" algn="l" rtl="0">
              <a:spcBef>
                <a:spcPts val="0"/>
              </a:spcBef>
              <a:spcAft>
                <a:spcPts val="0"/>
              </a:spcAft>
              <a:buSzPts val="2400"/>
              <a:buChar char="-"/>
            </a:pPr>
            <a:r>
              <a:rPr lang="en-CA" sz="2400"/>
              <a:t>Thiết kế và phát triển hệ thống IoT</a:t>
            </a:r>
            <a:endParaRPr sz="2400"/>
          </a:p>
          <a:p>
            <a:pPr marL="457200" lvl="0" indent="-406400" algn="l" rtl="0">
              <a:spcBef>
                <a:spcPts val="0"/>
              </a:spcBef>
              <a:spcAft>
                <a:spcPts val="0"/>
              </a:spcAft>
              <a:buSzPts val="2800"/>
              <a:buChar char="-"/>
            </a:pPr>
            <a:r>
              <a:rPr lang="en-CA" sz="2800"/>
              <a:t>Tài liệu tham khảo</a:t>
            </a:r>
            <a:endParaRPr sz="2800"/>
          </a:p>
          <a:p>
            <a:pPr marL="0" lvl="0" indent="0" algn="l" rtl="0">
              <a:spcBef>
                <a:spcPts val="1200"/>
              </a:spcBef>
              <a:spcAft>
                <a:spcPts val="0"/>
              </a:spcAft>
              <a:buNone/>
            </a:pPr>
            <a:r>
              <a:rPr lang="en-CA" sz="1591">
                <a:solidFill>
                  <a:schemeClr val="dk2"/>
                </a:solidFill>
              </a:rPr>
              <a:t>[1]. A. Bahga, V. Madisetti, </a:t>
            </a:r>
            <a:r>
              <a:rPr lang="en-CA" sz="1591" i="1">
                <a:solidFill>
                  <a:schemeClr val="dk2"/>
                </a:solidFill>
              </a:rPr>
              <a:t>Internet-of-things A hands-on approach</a:t>
            </a:r>
            <a:r>
              <a:rPr lang="en-CA" sz="1591">
                <a:solidFill>
                  <a:schemeClr val="dk2"/>
                </a:solidFill>
              </a:rPr>
              <a:t>, 2019</a:t>
            </a:r>
            <a:endParaRPr sz="1591">
              <a:solidFill>
                <a:schemeClr val="dk2"/>
              </a:solidFill>
            </a:endParaRPr>
          </a:p>
          <a:p>
            <a:pPr marL="0" lvl="0" indent="0" algn="l" rtl="0">
              <a:spcBef>
                <a:spcPts val="1200"/>
              </a:spcBef>
              <a:spcAft>
                <a:spcPts val="0"/>
              </a:spcAft>
              <a:buNone/>
            </a:pPr>
            <a:r>
              <a:rPr lang="en-CA" sz="1591">
                <a:solidFill>
                  <a:schemeClr val="dk2"/>
                </a:solidFill>
              </a:rPr>
              <a:t>[2]. </a:t>
            </a:r>
            <a:r>
              <a:rPr lang="en-CA" sz="1591">
                <a:solidFill>
                  <a:schemeClr val="dk2"/>
                </a:solidFill>
                <a:highlight>
                  <a:srgbClr val="FFFFFF"/>
                </a:highlight>
              </a:rPr>
              <a:t>BK Tripathy, J Anuradha</a:t>
            </a:r>
            <a:r>
              <a:rPr lang="en-CA" sz="1591">
                <a:solidFill>
                  <a:schemeClr val="dk2"/>
                </a:solidFill>
              </a:rPr>
              <a:t>, </a:t>
            </a:r>
            <a:r>
              <a:rPr lang="en-CA" sz="1591" i="1">
                <a:solidFill>
                  <a:schemeClr val="dk2"/>
                </a:solidFill>
              </a:rPr>
              <a:t>Internet of Things (IoT) Technologies, Applications, Challenges and Solutions</a:t>
            </a:r>
            <a:r>
              <a:rPr lang="en-CA" sz="1591">
                <a:solidFill>
                  <a:schemeClr val="dk2"/>
                </a:solidFill>
              </a:rPr>
              <a:t>, CRC Press. 2020</a:t>
            </a:r>
            <a:endParaRPr sz="1591">
              <a:solidFill>
                <a:schemeClr val="dk2"/>
              </a:solidFill>
            </a:endParaRPr>
          </a:p>
          <a:p>
            <a:pPr marL="0" lvl="0" indent="0" algn="l" rtl="0">
              <a:spcBef>
                <a:spcPts val="1200"/>
              </a:spcBef>
              <a:spcAft>
                <a:spcPts val="1200"/>
              </a:spcAft>
              <a:buNone/>
            </a:pP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Chap 0: Giới Thiệu Môn Học</a:t>
            </a:r>
            <a:endParaRPr/>
          </a:p>
          <a:p>
            <a:pPr marL="0" lvl="0" indent="0" algn="l" rtl="0">
              <a:spcBef>
                <a:spcPts val="0"/>
              </a:spcBef>
              <a:spcAft>
                <a:spcPts val="0"/>
              </a:spcAft>
              <a:buNone/>
            </a:pPr>
            <a:endParaRPr/>
          </a:p>
        </p:txBody>
      </p:sp>
      <p:sp>
        <p:nvSpPr>
          <p:cNvPr id="78" name="Google Shape;78;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457200" lvl="0" indent="-400050" algn="l" rtl="0">
              <a:spcBef>
                <a:spcPts val="0"/>
              </a:spcBef>
              <a:spcAft>
                <a:spcPts val="0"/>
              </a:spcAft>
              <a:buSzPts val="2700"/>
              <a:buChar char="-"/>
            </a:pPr>
            <a:r>
              <a:rPr lang="en-CA" sz="2700"/>
              <a:t>Tại sao học môn này?</a:t>
            </a:r>
            <a:endParaRPr sz="2700"/>
          </a:p>
          <a:p>
            <a:pPr marL="914400" lvl="1" indent="-374650" algn="l" rtl="0">
              <a:spcBef>
                <a:spcPts val="0"/>
              </a:spcBef>
              <a:spcAft>
                <a:spcPts val="0"/>
              </a:spcAft>
              <a:buSzPts val="2300"/>
              <a:buChar char="-"/>
            </a:pPr>
            <a:r>
              <a:rPr lang="en-CA" sz="2300"/>
              <a:t>Là học phần bắt buộc.</a:t>
            </a:r>
            <a:endParaRPr sz="2300"/>
          </a:p>
          <a:p>
            <a:pPr marL="914400" lvl="0" indent="0" algn="l" rtl="0">
              <a:spcBef>
                <a:spcPts val="1200"/>
              </a:spcBef>
              <a:spcAft>
                <a:spcPts val="0"/>
              </a:spcAft>
              <a:buNone/>
            </a:pPr>
            <a:endParaRPr sz="2300"/>
          </a:p>
          <a:p>
            <a:pPr marL="914400" lvl="1" indent="-374650" algn="l" rtl="0">
              <a:spcBef>
                <a:spcPts val="1200"/>
              </a:spcBef>
              <a:spcAft>
                <a:spcPts val="0"/>
              </a:spcAft>
              <a:buSzPts val="2300"/>
              <a:buChar char="-"/>
            </a:pPr>
            <a:r>
              <a:rPr lang="en-CA" sz="2300"/>
              <a:t>Mở rộng kiến thức - nắm bắt xu hướng công nghệ.</a:t>
            </a:r>
            <a:endParaRPr sz="2300"/>
          </a:p>
          <a:p>
            <a:pPr marL="914400" lvl="0" indent="0" algn="l" rtl="0">
              <a:spcBef>
                <a:spcPts val="1200"/>
              </a:spcBef>
              <a:spcAft>
                <a:spcPts val="0"/>
              </a:spcAft>
              <a:buNone/>
            </a:pPr>
            <a:endParaRPr sz="2300"/>
          </a:p>
          <a:p>
            <a:pPr marL="914400" lvl="1" indent="-374650" algn="l" rtl="0">
              <a:spcBef>
                <a:spcPts val="1200"/>
              </a:spcBef>
              <a:spcAft>
                <a:spcPts val="0"/>
              </a:spcAft>
              <a:buSzPts val="2300"/>
              <a:buChar char="-"/>
            </a:pPr>
            <a:r>
              <a:rPr lang="en-CA" sz="2300"/>
              <a:t>Nhu cầu thị trường.</a:t>
            </a:r>
            <a:endParaRPr sz="2300"/>
          </a:p>
          <a:p>
            <a:pPr marL="457200" lvl="0" indent="0" algn="l" rtl="0">
              <a:spcBef>
                <a:spcPts val="120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Chap 0: Giới Thiệu Môn Học</a:t>
            </a:r>
            <a:endParaRPr/>
          </a:p>
          <a:p>
            <a:pPr marL="0" lvl="0" indent="0" algn="l" rtl="0">
              <a:spcBef>
                <a:spcPts val="0"/>
              </a:spcBef>
              <a:spcAft>
                <a:spcPts val="0"/>
              </a:spcAft>
              <a:buNone/>
            </a:pPr>
            <a:endParaRPr/>
          </a:p>
        </p:txBody>
      </p:sp>
      <p:sp>
        <p:nvSpPr>
          <p:cNvPr id="84" name="Google Shape;84;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93700" algn="l" rtl="0">
              <a:spcBef>
                <a:spcPts val="0"/>
              </a:spcBef>
              <a:spcAft>
                <a:spcPts val="0"/>
              </a:spcAft>
              <a:buSzPts val="2600"/>
              <a:buChar char="-"/>
            </a:pPr>
            <a:r>
              <a:rPr lang="en-CA" sz="2600"/>
              <a:t>Môn này học như thế nào?</a:t>
            </a:r>
            <a:endParaRPr sz="2600"/>
          </a:p>
          <a:p>
            <a:pPr marL="914400" lvl="1" indent="-368300" algn="l" rtl="0">
              <a:spcBef>
                <a:spcPts val="0"/>
              </a:spcBef>
              <a:spcAft>
                <a:spcPts val="0"/>
              </a:spcAft>
              <a:buSzPts val="2200"/>
              <a:buChar char="-"/>
            </a:pPr>
            <a:r>
              <a:rPr lang="en-CA" sz="2200"/>
              <a:t>Lý thuyết - 15 buổi</a:t>
            </a:r>
            <a:endParaRPr sz="2200"/>
          </a:p>
          <a:p>
            <a:pPr marL="914400" lvl="1" indent="-368300" algn="l" rtl="0">
              <a:spcBef>
                <a:spcPts val="0"/>
              </a:spcBef>
              <a:spcAft>
                <a:spcPts val="0"/>
              </a:spcAft>
              <a:buSzPts val="2200"/>
              <a:buChar char="-"/>
            </a:pPr>
            <a:r>
              <a:rPr lang="en-CA" sz="2200"/>
              <a:t>Thực hành - 3 buổi</a:t>
            </a:r>
            <a:endParaRPr sz="2200"/>
          </a:p>
          <a:p>
            <a:pPr marL="914400" lvl="1" indent="-368300" algn="l" rtl="0">
              <a:spcBef>
                <a:spcPts val="0"/>
              </a:spcBef>
              <a:spcAft>
                <a:spcPts val="0"/>
              </a:spcAft>
              <a:buSzPts val="2200"/>
              <a:buChar char="-"/>
            </a:pPr>
            <a:r>
              <a:rPr lang="en-CA" sz="2200"/>
              <a:t>Tự học - không giới hạn.</a:t>
            </a:r>
            <a:endParaRPr sz="2200"/>
          </a:p>
          <a:p>
            <a:pPr marL="457200" lvl="0" indent="0" algn="l" rtl="0">
              <a:spcBef>
                <a:spcPts val="1200"/>
              </a:spcBef>
              <a:spcAft>
                <a:spcPts val="12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Chap 0: Giới Thiệu Môn Học</a:t>
            </a:r>
            <a:endParaRPr/>
          </a:p>
          <a:p>
            <a:pPr marL="0" lvl="0" indent="0" algn="l" rtl="0">
              <a:spcBef>
                <a:spcPts val="0"/>
              </a:spcBef>
              <a:spcAft>
                <a:spcPts val="0"/>
              </a:spcAft>
              <a:buClr>
                <a:schemeClr val="dk2"/>
              </a:buClr>
              <a:buSzPct val="36666"/>
              <a:buFont typeface="Arial"/>
              <a:buNone/>
            </a:pPr>
            <a:endParaRPr/>
          </a:p>
          <a:p>
            <a:pPr marL="0" lvl="0" indent="0" algn="l" rtl="0">
              <a:spcBef>
                <a:spcPts val="0"/>
              </a:spcBef>
              <a:spcAft>
                <a:spcPts val="0"/>
              </a:spcAft>
              <a:buNone/>
            </a:pPr>
            <a:endParaRPr/>
          </a:p>
        </p:txBody>
      </p:sp>
      <p:sp>
        <p:nvSpPr>
          <p:cNvPr id="90" name="Google Shape;90;p18"/>
          <p:cNvSpPr txBox="1">
            <a:spLocks noGrp="1"/>
          </p:cNvSpPr>
          <p:nvPr>
            <p:ph type="body" idx="1"/>
          </p:nvPr>
        </p:nvSpPr>
        <p:spPr>
          <a:xfrm>
            <a:off x="311700" y="1152475"/>
            <a:ext cx="8520600" cy="3990900"/>
          </a:xfrm>
          <a:prstGeom prst="rect">
            <a:avLst/>
          </a:prstGeom>
        </p:spPr>
        <p:txBody>
          <a:bodyPr spcFirstLastPara="1" wrap="square" lIns="91425" tIns="91425" rIns="91425" bIns="91425" anchor="t" anchorCtr="0">
            <a:normAutofit/>
          </a:bodyPr>
          <a:lstStyle/>
          <a:p>
            <a:pPr marL="457200" lvl="0" indent="-406400" algn="l" rtl="0">
              <a:spcBef>
                <a:spcPts val="0"/>
              </a:spcBef>
              <a:spcAft>
                <a:spcPts val="0"/>
              </a:spcAft>
              <a:buSzPts val="2800"/>
              <a:buChar char="-"/>
            </a:pPr>
            <a:r>
              <a:rPr lang="en-CA" sz="2800"/>
              <a:t>Hình thức kiểm tra và đánh giá</a:t>
            </a:r>
            <a:endParaRPr sz="2800"/>
          </a:p>
          <a:p>
            <a:pPr marL="914400" lvl="1" indent="-381000" algn="l" rtl="0">
              <a:spcBef>
                <a:spcPts val="0"/>
              </a:spcBef>
              <a:spcAft>
                <a:spcPts val="0"/>
              </a:spcAft>
              <a:buSzPts val="2400"/>
              <a:buChar char="-"/>
            </a:pPr>
            <a:r>
              <a:rPr lang="en-CA" sz="2400"/>
              <a:t>Bài tập lớn: Xây dựng hệ thống IoT</a:t>
            </a:r>
            <a:endParaRPr sz="2400"/>
          </a:p>
          <a:p>
            <a:pPr marL="914400" lvl="1" indent="-381000" algn="l" rtl="0">
              <a:spcBef>
                <a:spcPts val="0"/>
              </a:spcBef>
              <a:spcAft>
                <a:spcPts val="0"/>
              </a:spcAft>
              <a:buSzPts val="2400"/>
              <a:buChar char="-"/>
            </a:pPr>
            <a:r>
              <a:rPr lang="en-CA" sz="2400"/>
              <a:t>Thực hiện theo nhóm 3-4 sinh viên.</a:t>
            </a:r>
            <a:endParaRPr sz="2400"/>
          </a:p>
          <a:p>
            <a:pPr marL="914400" lvl="1" indent="-381000" algn="l" rtl="0">
              <a:spcBef>
                <a:spcPts val="0"/>
              </a:spcBef>
              <a:spcAft>
                <a:spcPts val="0"/>
              </a:spcAft>
              <a:buSzPts val="2400"/>
              <a:buChar char="-"/>
            </a:pPr>
            <a:r>
              <a:rPr lang="en-CA" sz="2400"/>
              <a:t>Đề tài: tự chọn.</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Chap 0: Giới Thiệu Môn Học</a:t>
            </a:r>
            <a:endParaRPr/>
          </a:p>
          <a:p>
            <a:pPr marL="0" lvl="0" indent="0" algn="l" rtl="0">
              <a:spcBef>
                <a:spcPts val="0"/>
              </a:spcBef>
              <a:spcAft>
                <a:spcPts val="0"/>
              </a:spcAft>
              <a:buClr>
                <a:schemeClr val="dk2"/>
              </a:buClr>
              <a:buSzPct val="36666"/>
              <a:buFont typeface="Arial"/>
              <a:buNone/>
            </a:pPr>
            <a:endParaRPr/>
          </a:p>
          <a:p>
            <a:pPr marL="0" lvl="0" indent="0" algn="l" rtl="0">
              <a:spcBef>
                <a:spcPts val="0"/>
              </a:spcBef>
              <a:spcAft>
                <a:spcPts val="0"/>
              </a:spcAft>
              <a:buNone/>
            </a:pPr>
            <a:endParaRPr/>
          </a:p>
        </p:txBody>
      </p:sp>
      <p:sp>
        <p:nvSpPr>
          <p:cNvPr id="96" name="Google Shape;96;p19"/>
          <p:cNvSpPr txBox="1">
            <a:spLocks noGrp="1"/>
          </p:cNvSpPr>
          <p:nvPr>
            <p:ph type="body" idx="1"/>
          </p:nvPr>
        </p:nvSpPr>
        <p:spPr>
          <a:xfrm>
            <a:off x="311700" y="1152475"/>
            <a:ext cx="8520600" cy="3990900"/>
          </a:xfrm>
          <a:prstGeom prst="rect">
            <a:avLst/>
          </a:prstGeom>
        </p:spPr>
        <p:txBody>
          <a:bodyPr spcFirstLastPara="1" wrap="square" lIns="91425" tIns="91425" rIns="91425" bIns="91425" anchor="t" anchorCtr="0">
            <a:normAutofit/>
          </a:bodyPr>
          <a:lstStyle/>
          <a:p>
            <a:pPr marL="457200" lvl="0" indent="-393700" algn="l" rtl="0">
              <a:spcBef>
                <a:spcPts val="0"/>
              </a:spcBef>
              <a:spcAft>
                <a:spcPts val="0"/>
              </a:spcAft>
              <a:buSzPts val="2600"/>
              <a:buChar char="-"/>
            </a:pPr>
            <a:r>
              <a:rPr lang="en-CA" sz="2600"/>
              <a:t>Hình thức kiểm tra và đánh giá</a:t>
            </a:r>
            <a:endParaRPr sz="2200"/>
          </a:p>
          <a:p>
            <a:pPr marL="914400" lvl="1" indent="-368300" algn="l" rtl="0">
              <a:spcBef>
                <a:spcPts val="0"/>
              </a:spcBef>
              <a:spcAft>
                <a:spcPts val="0"/>
              </a:spcAft>
              <a:buSzPts val="2200"/>
              <a:buChar char="-"/>
            </a:pPr>
            <a:r>
              <a:rPr lang="en-CA" sz="2200"/>
              <a:t>Yêu cầu:</a:t>
            </a:r>
            <a:endParaRPr sz="2200"/>
          </a:p>
          <a:p>
            <a:pPr marL="1371600" lvl="2" indent="-368300" algn="l" rtl="0">
              <a:spcBef>
                <a:spcPts val="0"/>
              </a:spcBef>
              <a:spcAft>
                <a:spcPts val="0"/>
              </a:spcAft>
              <a:buSzPts val="2200"/>
              <a:buChar char="-"/>
            </a:pPr>
            <a:r>
              <a:rPr lang="en-CA" sz="2200"/>
              <a:t>Xây dựng một hệ thống IoT hoàn chỉnh.</a:t>
            </a:r>
            <a:endParaRPr sz="2200"/>
          </a:p>
          <a:p>
            <a:pPr marL="1371600" lvl="2" indent="-368300" algn="l" rtl="0">
              <a:spcBef>
                <a:spcPts val="0"/>
              </a:spcBef>
              <a:spcAft>
                <a:spcPts val="0"/>
              </a:spcAft>
              <a:buSzPts val="2200"/>
              <a:buChar char="-"/>
            </a:pPr>
            <a:r>
              <a:rPr lang="en-CA" sz="2200"/>
              <a:t>Giao tiếp với hệ thống các sensors.</a:t>
            </a:r>
            <a:endParaRPr sz="2200"/>
          </a:p>
          <a:p>
            <a:pPr marL="1371600" lvl="2" indent="-368300" algn="l" rtl="0">
              <a:spcBef>
                <a:spcPts val="0"/>
              </a:spcBef>
              <a:spcAft>
                <a:spcPts val="0"/>
              </a:spcAft>
              <a:buSzPts val="2200"/>
              <a:buChar char="-"/>
            </a:pPr>
            <a:r>
              <a:rPr lang="en-CA" sz="2200"/>
              <a:t>Giao tiếp và điều khiển các thiết bị.</a:t>
            </a:r>
            <a:endParaRPr sz="2200"/>
          </a:p>
          <a:p>
            <a:pPr marL="1371600" lvl="2" indent="-368300" algn="l" rtl="0">
              <a:spcBef>
                <a:spcPts val="0"/>
              </a:spcBef>
              <a:spcAft>
                <a:spcPts val="0"/>
              </a:spcAft>
              <a:buSzPts val="2200"/>
              <a:buChar char="-"/>
            </a:pPr>
            <a:r>
              <a:rPr lang="en-CA" sz="2200"/>
              <a:t>Hệ thống backend điều khiển và quản lý sensors và thiết bị.</a:t>
            </a:r>
            <a:endParaRPr sz="2200"/>
          </a:p>
          <a:p>
            <a:pPr marL="1371600" lvl="2" indent="-368300" algn="l" rtl="0">
              <a:spcBef>
                <a:spcPts val="0"/>
              </a:spcBef>
              <a:spcAft>
                <a:spcPts val="0"/>
              </a:spcAft>
              <a:buSzPts val="2200"/>
              <a:buChar char="-"/>
            </a:pPr>
            <a:r>
              <a:rPr lang="en-CA" sz="2200"/>
              <a:t>Hệ thống frontend cho bảng hiển thị, thiết lập thông số và điều khiển (WebApp hoặc MobileApp).</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Chap 0: Giới Thiệu Môn Học</a:t>
            </a:r>
            <a:endParaRPr/>
          </a:p>
          <a:p>
            <a:pPr marL="0" lvl="0" indent="0" algn="l" rtl="0">
              <a:spcBef>
                <a:spcPts val="0"/>
              </a:spcBef>
              <a:spcAft>
                <a:spcPts val="0"/>
              </a:spcAft>
              <a:buClr>
                <a:schemeClr val="dk2"/>
              </a:buClr>
              <a:buSzPct val="36666"/>
              <a:buFont typeface="Arial"/>
              <a:buNone/>
            </a:pPr>
            <a:endParaRPr/>
          </a:p>
          <a:p>
            <a:pPr marL="0" lvl="0" indent="0" algn="l" rtl="0">
              <a:spcBef>
                <a:spcPts val="0"/>
              </a:spcBef>
              <a:spcAft>
                <a:spcPts val="0"/>
              </a:spcAft>
              <a:buNone/>
            </a:pPr>
            <a:endParaRPr/>
          </a:p>
        </p:txBody>
      </p:sp>
      <p:sp>
        <p:nvSpPr>
          <p:cNvPr id="102" name="Google Shape;102;p20"/>
          <p:cNvSpPr txBox="1">
            <a:spLocks noGrp="1"/>
          </p:cNvSpPr>
          <p:nvPr>
            <p:ph type="body" idx="1"/>
          </p:nvPr>
        </p:nvSpPr>
        <p:spPr>
          <a:xfrm>
            <a:off x="311700" y="1152475"/>
            <a:ext cx="8520600" cy="3990900"/>
          </a:xfrm>
          <a:prstGeom prst="rect">
            <a:avLst/>
          </a:prstGeom>
        </p:spPr>
        <p:txBody>
          <a:bodyPr spcFirstLastPara="1" wrap="square" lIns="91425" tIns="91425" rIns="91425" bIns="91425" anchor="t" anchorCtr="0">
            <a:noAutofit/>
          </a:bodyPr>
          <a:lstStyle/>
          <a:p>
            <a:pPr marL="457200" lvl="0" indent="-400366" algn="l" rtl="0">
              <a:lnSpc>
                <a:spcPct val="95000"/>
              </a:lnSpc>
              <a:spcBef>
                <a:spcPts val="0"/>
              </a:spcBef>
              <a:spcAft>
                <a:spcPts val="0"/>
              </a:spcAft>
              <a:buSzPts val="2705"/>
              <a:buChar char="-"/>
            </a:pPr>
            <a:r>
              <a:rPr lang="en-CA" sz="2704"/>
              <a:t>Hình thức kiểm tra và đánh giá</a:t>
            </a:r>
            <a:endParaRPr sz="2704"/>
          </a:p>
          <a:p>
            <a:pPr marL="914400" lvl="1" indent="-382586" algn="l" rtl="0">
              <a:lnSpc>
                <a:spcPct val="95000"/>
              </a:lnSpc>
              <a:spcBef>
                <a:spcPts val="0"/>
              </a:spcBef>
              <a:spcAft>
                <a:spcPts val="0"/>
              </a:spcAft>
              <a:buSzPts val="2425"/>
              <a:buChar char="-"/>
            </a:pPr>
            <a:r>
              <a:rPr lang="en-CA" sz="2424"/>
              <a:t>Thực Hành - 3 buổi - 20%</a:t>
            </a:r>
            <a:endParaRPr sz="2424"/>
          </a:p>
          <a:p>
            <a:pPr marL="914400" lvl="1" indent="-382586" algn="l" rtl="0">
              <a:lnSpc>
                <a:spcPct val="95000"/>
              </a:lnSpc>
              <a:spcBef>
                <a:spcPts val="0"/>
              </a:spcBef>
              <a:spcAft>
                <a:spcPts val="0"/>
              </a:spcAft>
              <a:buSzPts val="2425"/>
              <a:buChar char="-"/>
            </a:pPr>
            <a:r>
              <a:rPr lang="en-CA" sz="2424"/>
              <a:t>Báo cáo giữa kỳ - 20%</a:t>
            </a:r>
            <a:endParaRPr sz="2424"/>
          </a:p>
          <a:p>
            <a:pPr marL="1371600" lvl="2" indent="-382586" algn="l" rtl="0">
              <a:lnSpc>
                <a:spcPct val="95000"/>
              </a:lnSpc>
              <a:spcBef>
                <a:spcPts val="0"/>
              </a:spcBef>
              <a:spcAft>
                <a:spcPts val="0"/>
              </a:spcAft>
              <a:buSzPts val="2425"/>
              <a:buChar char="-"/>
            </a:pPr>
            <a:r>
              <a:rPr lang="en-CA" sz="2424"/>
              <a:t>Đề xuất đề tài.</a:t>
            </a:r>
            <a:endParaRPr sz="2424"/>
          </a:p>
          <a:p>
            <a:pPr marL="1371600" lvl="2" indent="-382586" algn="l" rtl="0">
              <a:lnSpc>
                <a:spcPct val="95000"/>
              </a:lnSpc>
              <a:spcBef>
                <a:spcPts val="0"/>
              </a:spcBef>
              <a:spcAft>
                <a:spcPts val="0"/>
              </a:spcAft>
              <a:buSzPts val="2425"/>
              <a:buChar char="-"/>
            </a:pPr>
            <a:r>
              <a:rPr lang="en-CA" sz="2424"/>
              <a:t>Tự tìm hiểu các kiến thức cần thiết.</a:t>
            </a:r>
            <a:endParaRPr sz="2424"/>
          </a:p>
          <a:p>
            <a:pPr marL="1371600" lvl="2" indent="-382586" algn="l" rtl="0">
              <a:lnSpc>
                <a:spcPct val="95000"/>
              </a:lnSpc>
              <a:spcBef>
                <a:spcPts val="0"/>
              </a:spcBef>
              <a:spcAft>
                <a:spcPts val="0"/>
              </a:spcAft>
              <a:buSzPts val="2425"/>
              <a:buChar char="-"/>
            </a:pPr>
            <a:r>
              <a:rPr lang="en-CA" sz="2424"/>
              <a:t>Phân tích và thiết kế hệ thống (sơ bộ).</a:t>
            </a:r>
            <a:endParaRPr sz="2424"/>
          </a:p>
          <a:p>
            <a:pPr marL="1371600" lvl="2" indent="-382586" algn="l" rtl="0">
              <a:lnSpc>
                <a:spcPct val="95000"/>
              </a:lnSpc>
              <a:spcBef>
                <a:spcPts val="0"/>
              </a:spcBef>
              <a:spcAft>
                <a:spcPts val="0"/>
              </a:spcAft>
              <a:buSzPts val="2425"/>
              <a:buChar char="-"/>
            </a:pPr>
            <a:r>
              <a:rPr lang="en-CA" sz="2424"/>
              <a:t>Lập kế hoạch thực hiện dự án.</a:t>
            </a:r>
            <a:endParaRPr sz="2424"/>
          </a:p>
          <a:p>
            <a:pPr marL="1371600" lvl="2" indent="-382586" algn="l" rtl="0">
              <a:lnSpc>
                <a:spcPct val="95000"/>
              </a:lnSpc>
              <a:spcBef>
                <a:spcPts val="0"/>
              </a:spcBef>
              <a:spcAft>
                <a:spcPts val="0"/>
              </a:spcAft>
              <a:buSzPts val="2425"/>
              <a:buChar char="-"/>
            </a:pPr>
            <a:r>
              <a:rPr lang="en-CA" sz="2424"/>
              <a:t>Phân chia công việc giữa các thành viên.</a:t>
            </a:r>
            <a:endParaRPr sz="2424"/>
          </a:p>
          <a:p>
            <a:pPr marL="914400" lvl="0" indent="0" algn="l" rtl="0">
              <a:lnSpc>
                <a:spcPct val="95000"/>
              </a:lnSpc>
              <a:spcBef>
                <a:spcPts val="1200"/>
              </a:spcBef>
              <a:spcAft>
                <a:spcPts val="0"/>
              </a:spcAft>
              <a:buSzPts val="770"/>
              <a:buNone/>
            </a:pPr>
            <a:endParaRPr sz="2424"/>
          </a:p>
          <a:p>
            <a:pPr marL="0" lvl="0" indent="0" algn="l" rtl="0">
              <a:lnSpc>
                <a:spcPct val="95000"/>
              </a:lnSpc>
              <a:spcBef>
                <a:spcPts val="1200"/>
              </a:spcBef>
              <a:spcAft>
                <a:spcPts val="0"/>
              </a:spcAft>
              <a:buSzPts val="770"/>
              <a:buNone/>
            </a:pPr>
            <a:endParaRPr sz="1460"/>
          </a:p>
          <a:p>
            <a:pPr marL="0" lvl="0" indent="0" algn="l" rtl="0">
              <a:lnSpc>
                <a:spcPct val="95000"/>
              </a:lnSpc>
              <a:spcBef>
                <a:spcPts val="1200"/>
              </a:spcBef>
              <a:spcAft>
                <a:spcPts val="1200"/>
              </a:spcAft>
              <a:buSzPts val="770"/>
              <a:buNone/>
            </a:pPr>
            <a:endParaRPr sz="146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Chap 0: Giới Thiệu Môn Học</a:t>
            </a:r>
            <a:endParaRPr/>
          </a:p>
          <a:p>
            <a:pPr marL="0" lvl="0" indent="0" algn="l" rtl="0">
              <a:spcBef>
                <a:spcPts val="0"/>
              </a:spcBef>
              <a:spcAft>
                <a:spcPts val="0"/>
              </a:spcAft>
              <a:buClr>
                <a:schemeClr val="dk2"/>
              </a:buClr>
              <a:buSzPct val="36666"/>
              <a:buFont typeface="Arial"/>
              <a:buNone/>
            </a:pPr>
            <a:endParaRPr/>
          </a:p>
          <a:p>
            <a:pPr marL="0" lvl="0" indent="0" algn="l" rtl="0">
              <a:spcBef>
                <a:spcPts val="0"/>
              </a:spcBef>
              <a:spcAft>
                <a:spcPts val="0"/>
              </a:spcAft>
              <a:buNone/>
            </a:pPr>
            <a:endParaRPr/>
          </a:p>
        </p:txBody>
      </p:sp>
      <p:sp>
        <p:nvSpPr>
          <p:cNvPr id="108" name="Google Shape;108;p21"/>
          <p:cNvSpPr txBox="1">
            <a:spLocks noGrp="1"/>
          </p:cNvSpPr>
          <p:nvPr>
            <p:ph type="body" idx="1"/>
          </p:nvPr>
        </p:nvSpPr>
        <p:spPr>
          <a:xfrm>
            <a:off x="311700" y="1152475"/>
            <a:ext cx="8520600" cy="3990900"/>
          </a:xfrm>
          <a:prstGeom prst="rect">
            <a:avLst/>
          </a:prstGeom>
        </p:spPr>
        <p:txBody>
          <a:bodyPr spcFirstLastPara="1" wrap="square" lIns="91425" tIns="91425" rIns="91425" bIns="91425" anchor="t" anchorCtr="0">
            <a:normAutofit/>
          </a:bodyPr>
          <a:lstStyle/>
          <a:p>
            <a:pPr marL="457200" lvl="0" indent="-455837" algn="l" rtl="0">
              <a:spcBef>
                <a:spcPts val="0"/>
              </a:spcBef>
              <a:spcAft>
                <a:spcPts val="0"/>
              </a:spcAft>
              <a:buSzPts val="3579"/>
              <a:buChar char="-"/>
            </a:pPr>
            <a:r>
              <a:rPr lang="en-CA" sz="3578"/>
              <a:t>Hình thức kiểm tra và đánh giá</a:t>
            </a:r>
            <a:endParaRPr sz="3178"/>
          </a:p>
          <a:p>
            <a:pPr marL="914400" lvl="1" indent="-430437" algn="l" rtl="0">
              <a:spcBef>
                <a:spcPts val="0"/>
              </a:spcBef>
              <a:spcAft>
                <a:spcPts val="0"/>
              </a:spcAft>
              <a:buSzPts val="3179"/>
              <a:buChar char="-"/>
            </a:pPr>
            <a:r>
              <a:rPr lang="en-CA" sz="3178"/>
              <a:t>Báo cuối kỳ - 20%</a:t>
            </a:r>
            <a:endParaRPr sz="3178"/>
          </a:p>
          <a:p>
            <a:pPr marL="1371600" lvl="2" indent="-430437" algn="l" rtl="0">
              <a:spcBef>
                <a:spcPts val="0"/>
              </a:spcBef>
              <a:spcAft>
                <a:spcPts val="0"/>
              </a:spcAft>
              <a:buSzPts val="3179"/>
              <a:buChar char="-"/>
            </a:pPr>
            <a:r>
              <a:rPr lang="en-CA" sz="3178"/>
              <a:t>Báo cáo kết quả dự án.</a:t>
            </a:r>
            <a:endParaRPr sz="3178"/>
          </a:p>
          <a:p>
            <a:pPr marL="914400" lvl="1" indent="-430437" algn="l" rtl="0">
              <a:spcBef>
                <a:spcPts val="0"/>
              </a:spcBef>
              <a:spcAft>
                <a:spcPts val="0"/>
              </a:spcAft>
              <a:buSzPts val="3179"/>
              <a:buChar char="-"/>
            </a:pPr>
            <a:r>
              <a:rPr lang="en-CA" sz="3178"/>
              <a:t>Demo sản phẩm - 10%</a:t>
            </a:r>
            <a:endParaRPr sz="3178"/>
          </a:p>
          <a:p>
            <a:pPr marL="914400" lvl="1" indent="-430437" algn="l" rtl="0">
              <a:spcBef>
                <a:spcPts val="0"/>
              </a:spcBef>
              <a:spcAft>
                <a:spcPts val="0"/>
              </a:spcAft>
              <a:buSzPts val="3179"/>
              <a:buChar char="-"/>
            </a:pPr>
            <a:r>
              <a:rPr lang="en-CA" sz="3178"/>
              <a:t>Thuyết trình + Vấn đáp - 30%.</a:t>
            </a:r>
            <a:endParaRPr sz="3178"/>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ctrTitle"/>
          </p:nvPr>
        </p:nvSpPr>
        <p:spPr>
          <a:xfrm>
            <a:off x="367000" y="1183825"/>
            <a:ext cx="8183700" cy="1473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CA"/>
              <a:t>Chapter 1: Tổng Quan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1. Khái Niệm IoT</a:t>
            </a:r>
            <a:endParaRPr/>
          </a:p>
          <a:p>
            <a:pPr marL="0" lvl="0" indent="0" algn="l" rtl="0">
              <a:spcBef>
                <a:spcPts val="0"/>
              </a:spcBef>
              <a:spcAft>
                <a:spcPts val="0"/>
              </a:spcAft>
              <a:buNone/>
            </a:pPr>
            <a:endParaRPr/>
          </a:p>
        </p:txBody>
      </p:sp>
      <p:sp>
        <p:nvSpPr>
          <p:cNvPr id="119" name="Google Shape;119;p23"/>
          <p:cNvSpPr txBox="1">
            <a:spLocks noGrp="1"/>
          </p:cNvSpPr>
          <p:nvPr>
            <p:ph type="body" idx="1"/>
          </p:nvPr>
        </p:nvSpPr>
        <p:spPr>
          <a:xfrm>
            <a:off x="1911325" y="1152475"/>
            <a:ext cx="5120100" cy="696600"/>
          </a:xfrm>
          <a:prstGeom prst="rect">
            <a:avLst/>
          </a:prstGeom>
        </p:spPr>
        <p:txBody>
          <a:bodyPr spcFirstLastPara="1" wrap="square" lIns="91425" tIns="91425" rIns="91425" bIns="91425" anchor="t" anchorCtr="0">
            <a:noAutofit/>
          </a:bodyPr>
          <a:lstStyle/>
          <a:p>
            <a:pPr marL="457200" lvl="0" indent="0" algn="l" rtl="0">
              <a:lnSpc>
                <a:spcPct val="95000"/>
              </a:lnSpc>
              <a:spcBef>
                <a:spcPts val="0"/>
              </a:spcBef>
              <a:spcAft>
                <a:spcPts val="0"/>
              </a:spcAft>
              <a:buSzPts val="605"/>
              <a:buNone/>
            </a:pPr>
            <a:r>
              <a:rPr lang="en-CA" sz="3590" b="1">
                <a:solidFill>
                  <a:srgbClr val="1155CC"/>
                </a:solidFill>
              </a:rPr>
              <a:t>INTERNET of THINGS</a:t>
            </a:r>
            <a:endParaRPr sz="3590" b="1">
              <a:solidFill>
                <a:srgbClr val="1155CC"/>
              </a:solidFill>
            </a:endParaRPr>
          </a:p>
          <a:p>
            <a:pPr marL="0" lvl="0" indent="0" algn="l" rtl="0">
              <a:lnSpc>
                <a:spcPct val="95000"/>
              </a:lnSpc>
              <a:spcBef>
                <a:spcPts val="1200"/>
              </a:spcBef>
              <a:spcAft>
                <a:spcPts val="1200"/>
              </a:spcAft>
              <a:buSzPts val="605"/>
              <a:buNone/>
            </a:pPr>
            <a:endParaRPr sz="989"/>
          </a:p>
        </p:txBody>
      </p:sp>
      <p:sp>
        <p:nvSpPr>
          <p:cNvPr id="120" name="Google Shape;120;p23"/>
          <p:cNvSpPr txBox="1"/>
          <p:nvPr/>
        </p:nvSpPr>
        <p:spPr>
          <a:xfrm>
            <a:off x="1157650" y="3045700"/>
            <a:ext cx="1802700" cy="49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700" b="1" i="1">
                <a:solidFill>
                  <a:srgbClr val="FF0000"/>
                </a:solidFill>
                <a:latin typeface="Source Sans Pro"/>
                <a:ea typeface="Source Sans Pro"/>
                <a:cs typeface="Source Sans Pro"/>
                <a:sym typeface="Source Sans Pro"/>
              </a:rPr>
              <a:t>Internet ?</a:t>
            </a:r>
            <a:endParaRPr sz="2700" b="1" i="1">
              <a:solidFill>
                <a:srgbClr val="FF0000"/>
              </a:solidFill>
              <a:latin typeface="Source Sans Pro"/>
              <a:ea typeface="Source Sans Pro"/>
              <a:cs typeface="Source Sans Pro"/>
              <a:sym typeface="Source Sans Pro"/>
            </a:endParaRPr>
          </a:p>
        </p:txBody>
      </p:sp>
      <p:sp>
        <p:nvSpPr>
          <p:cNvPr id="121" name="Google Shape;121;p23"/>
          <p:cNvSpPr txBox="1"/>
          <p:nvPr/>
        </p:nvSpPr>
        <p:spPr>
          <a:xfrm>
            <a:off x="6554575" y="3045700"/>
            <a:ext cx="1429500" cy="49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700" b="1" i="1">
                <a:solidFill>
                  <a:srgbClr val="38761D"/>
                </a:solidFill>
                <a:latin typeface="Source Sans Pro"/>
                <a:ea typeface="Source Sans Pro"/>
                <a:cs typeface="Source Sans Pro"/>
                <a:sym typeface="Source Sans Pro"/>
              </a:rPr>
              <a:t>Things ?</a:t>
            </a:r>
            <a:endParaRPr sz="2700" b="1" i="1">
              <a:solidFill>
                <a:srgbClr val="38761D"/>
              </a:solidFill>
              <a:latin typeface="Source Sans Pro"/>
              <a:ea typeface="Source Sans Pro"/>
              <a:cs typeface="Source Sans Pro"/>
              <a:sym typeface="Source Sans Pro"/>
            </a:endParaRPr>
          </a:p>
        </p:txBody>
      </p:sp>
      <p:cxnSp>
        <p:nvCxnSpPr>
          <p:cNvPr id="122" name="Google Shape;122;p23"/>
          <p:cNvCxnSpPr>
            <a:stCxn id="119" idx="2"/>
            <a:endCxn id="120" idx="0"/>
          </p:cNvCxnSpPr>
          <p:nvPr/>
        </p:nvCxnSpPr>
        <p:spPr>
          <a:xfrm flipH="1">
            <a:off x="2059075" y="1849075"/>
            <a:ext cx="2412300" cy="1196700"/>
          </a:xfrm>
          <a:prstGeom prst="straightConnector1">
            <a:avLst/>
          </a:prstGeom>
          <a:noFill/>
          <a:ln w="38100" cap="flat" cmpd="sng">
            <a:solidFill>
              <a:srgbClr val="FF0000"/>
            </a:solidFill>
            <a:prstDash val="solid"/>
            <a:round/>
            <a:headEnd type="none" w="med" len="med"/>
            <a:tailEnd type="triangle" w="med" len="med"/>
          </a:ln>
        </p:spPr>
      </p:cxnSp>
      <p:cxnSp>
        <p:nvCxnSpPr>
          <p:cNvPr id="123" name="Google Shape;123;p23"/>
          <p:cNvCxnSpPr>
            <a:stCxn id="119" idx="2"/>
            <a:endCxn id="121" idx="0"/>
          </p:cNvCxnSpPr>
          <p:nvPr/>
        </p:nvCxnSpPr>
        <p:spPr>
          <a:xfrm>
            <a:off x="4471375" y="1849075"/>
            <a:ext cx="2798100" cy="1196700"/>
          </a:xfrm>
          <a:prstGeom prst="straightConnector1">
            <a:avLst/>
          </a:prstGeom>
          <a:noFill/>
          <a:ln w="38100" cap="flat" cmpd="sng">
            <a:solidFill>
              <a:srgbClr val="38761D"/>
            </a:solidFill>
            <a:prstDash val="solid"/>
            <a:round/>
            <a:headEnd type="none" w="med" len="med"/>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1. Khái Niệm IoT</a:t>
            </a:r>
            <a:endParaRPr/>
          </a:p>
          <a:p>
            <a:pPr marL="0" lvl="0" indent="0" algn="l" rtl="0">
              <a:spcBef>
                <a:spcPts val="0"/>
              </a:spcBef>
              <a:spcAft>
                <a:spcPts val="0"/>
              </a:spcAft>
              <a:buNone/>
            </a:pPr>
            <a:endParaRPr/>
          </a:p>
        </p:txBody>
      </p:sp>
      <p:sp>
        <p:nvSpPr>
          <p:cNvPr id="129" name="Google Shape;129;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30" name="Google Shape;130;p24"/>
          <p:cNvPicPr preferRelativeResize="0"/>
          <p:nvPr/>
        </p:nvPicPr>
        <p:blipFill>
          <a:blip r:embed="rId3">
            <a:alphaModFix/>
          </a:blip>
          <a:stretch>
            <a:fillRect/>
          </a:stretch>
        </p:blipFill>
        <p:spPr>
          <a:xfrm>
            <a:off x="660725" y="1068413"/>
            <a:ext cx="8096250" cy="2809875"/>
          </a:xfrm>
          <a:prstGeom prst="rect">
            <a:avLst/>
          </a:prstGeom>
          <a:noFill/>
          <a:ln>
            <a:noFill/>
          </a:ln>
        </p:spPr>
      </p:pic>
      <p:sp>
        <p:nvSpPr>
          <p:cNvPr id="131" name="Google Shape;131;p24"/>
          <p:cNvSpPr txBox="1"/>
          <p:nvPr/>
        </p:nvSpPr>
        <p:spPr>
          <a:xfrm>
            <a:off x="2012350" y="3878300"/>
            <a:ext cx="5640900" cy="89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800">
                <a:solidFill>
                  <a:schemeClr val="dk2"/>
                </a:solidFill>
                <a:latin typeface="Source Sans Pro"/>
                <a:ea typeface="Source Sans Pro"/>
                <a:cs typeface="Source Sans Pro"/>
                <a:sym typeface="Source Sans Pro"/>
              </a:rPr>
              <a:t>Lịch sử phát triển của internet</a:t>
            </a:r>
            <a:endParaRPr sz="1800">
              <a:solidFill>
                <a:schemeClr val="dk2"/>
              </a:solidFill>
              <a:latin typeface="Source Sans Pro"/>
              <a:ea typeface="Source Sans Pro"/>
              <a:cs typeface="Source Sans Pro"/>
              <a:sym typeface="Source Sans Pro"/>
            </a:endParaRPr>
          </a:p>
          <a:p>
            <a:pPr marL="0" lvl="0" indent="0" algn="l" rtl="0">
              <a:spcBef>
                <a:spcPts val="0"/>
              </a:spcBef>
              <a:spcAft>
                <a:spcPts val="0"/>
              </a:spcAft>
              <a:buNone/>
            </a:pPr>
            <a:r>
              <a:rPr lang="en-CA" sz="1300">
                <a:solidFill>
                  <a:schemeClr val="lt2"/>
                </a:solidFill>
                <a:latin typeface="Source Sans Pro"/>
                <a:ea typeface="Source Sans Pro"/>
                <a:cs typeface="Source Sans Pro"/>
                <a:sym typeface="Source Sans Pro"/>
              </a:rPr>
              <a:t>[*] Remondino, Fabio. </a:t>
            </a:r>
            <a:r>
              <a:rPr lang="en-CA" sz="1300" i="1">
                <a:solidFill>
                  <a:schemeClr val="lt2"/>
                </a:solidFill>
                <a:latin typeface="Source Sans Pro"/>
                <a:ea typeface="Source Sans Pro"/>
                <a:cs typeface="Source Sans Pro"/>
                <a:sym typeface="Source Sans Pro"/>
              </a:rPr>
              <a:t>35 YEARS OF INTERNET, 10 YEARS OF ISPRS ONLINE.</a:t>
            </a:r>
            <a:r>
              <a:rPr lang="en-CA" sz="1300">
                <a:solidFill>
                  <a:schemeClr val="lt2"/>
                </a:solidFill>
                <a:latin typeface="Source Sans Pro"/>
                <a:ea typeface="Source Sans Pro"/>
                <a:cs typeface="Source Sans Pro"/>
                <a:sym typeface="Source Sans Pro"/>
              </a:rPr>
              <a:t> </a:t>
            </a:r>
            <a:endParaRPr sz="1300">
              <a:solidFill>
                <a:schemeClr val="lt2"/>
              </a:solidFill>
              <a:latin typeface="Source Sans Pro"/>
              <a:ea typeface="Source Sans Pro"/>
              <a:cs typeface="Source Sans Pro"/>
              <a:sym typeface="Source Sans Pr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1. Khái Niệm IoT</a:t>
            </a:r>
            <a:endParaRPr/>
          </a:p>
          <a:p>
            <a:pPr marL="0" lvl="0" indent="0" algn="l" rtl="0">
              <a:spcBef>
                <a:spcPts val="0"/>
              </a:spcBef>
              <a:spcAft>
                <a:spcPts val="0"/>
              </a:spcAft>
              <a:buNone/>
            </a:pPr>
            <a:endParaRPr/>
          </a:p>
        </p:txBody>
      </p:sp>
      <p:sp>
        <p:nvSpPr>
          <p:cNvPr id="137" name="Google Shape;137;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38" name="Google Shape;138;p25"/>
          <p:cNvPicPr preferRelativeResize="0"/>
          <p:nvPr/>
        </p:nvPicPr>
        <p:blipFill>
          <a:blip r:embed="rId3">
            <a:alphaModFix/>
          </a:blip>
          <a:stretch>
            <a:fillRect/>
          </a:stretch>
        </p:blipFill>
        <p:spPr>
          <a:xfrm>
            <a:off x="-2" y="1180975"/>
            <a:ext cx="5911776" cy="2863450"/>
          </a:xfrm>
          <a:prstGeom prst="rect">
            <a:avLst/>
          </a:prstGeom>
          <a:noFill/>
          <a:ln>
            <a:noFill/>
          </a:ln>
        </p:spPr>
      </p:pic>
      <p:sp>
        <p:nvSpPr>
          <p:cNvPr id="139" name="Google Shape;139;p25"/>
          <p:cNvSpPr txBox="1"/>
          <p:nvPr/>
        </p:nvSpPr>
        <p:spPr>
          <a:xfrm>
            <a:off x="598275" y="4103625"/>
            <a:ext cx="5640900" cy="89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300">
                <a:solidFill>
                  <a:schemeClr val="lt2"/>
                </a:solidFill>
                <a:latin typeface="Source Sans Pro"/>
                <a:ea typeface="Source Sans Pro"/>
                <a:cs typeface="Source Sans Pro"/>
                <a:sym typeface="Source Sans Pro"/>
              </a:rPr>
              <a:t>[*] https://www.computerhistory.org/siliconengine/</a:t>
            </a:r>
            <a:endParaRPr sz="1300">
              <a:solidFill>
                <a:schemeClr val="lt2"/>
              </a:solidFill>
              <a:latin typeface="Source Sans Pro"/>
              <a:ea typeface="Source Sans Pro"/>
              <a:cs typeface="Source Sans Pro"/>
              <a:sym typeface="Source Sans Pro"/>
            </a:endParaRPr>
          </a:p>
        </p:txBody>
      </p:sp>
      <p:sp>
        <p:nvSpPr>
          <p:cNvPr id="140" name="Google Shape;140;p25"/>
          <p:cNvSpPr txBox="1"/>
          <p:nvPr/>
        </p:nvSpPr>
        <p:spPr>
          <a:xfrm>
            <a:off x="5990400" y="1152475"/>
            <a:ext cx="2626200" cy="201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200" i="1">
                <a:solidFill>
                  <a:schemeClr val="accent1"/>
                </a:solidFill>
                <a:highlight>
                  <a:srgbClr val="FFFFFF"/>
                </a:highlight>
                <a:latin typeface="Georgia"/>
                <a:ea typeface="Georgia"/>
                <a:cs typeface="Georgia"/>
                <a:sym typeface="Georgia"/>
              </a:rPr>
              <a:t>Moore’s Law: "Transistor density on integrated circuits doubles about every two years."</a:t>
            </a:r>
            <a:endParaRPr sz="3000">
              <a:solidFill>
                <a:schemeClr val="lt2"/>
              </a:solidFill>
              <a:latin typeface="Source Sans Pro"/>
              <a:ea typeface="Source Sans Pro"/>
              <a:cs typeface="Source Sans Pro"/>
              <a:sym typeface="Source Sans Pro"/>
            </a:endParaRPr>
          </a:p>
          <a:p>
            <a:pPr marL="0" lvl="0" indent="0" algn="l" rtl="0">
              <a:spcBef>
                <a:spcPts val="0"/>
              </a:spcBef>
              <a:spcAft>
                <a:spcPts val="0"/>
              </a:spcAft>
              <a:buNone/>
            </a:pP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1. Khái Niệm IoT</a:t>
            </a:r>
            <a:endParaRPr/>
          </a:p>
          <a:p>
            <a:pPr marL="0" lvl="0" indent="0" algn="l" rtl="0">
              <a:spcBef>
                <a:spcPts val="0"/>
              </a:spcBef>
              <a:spcAft>
                <a:spcPts val="0"/>
              </a:spcAft>
              <a:buNone/>
            </a:pPr>
            <a:endParaRPr/>
          </a:p>
        </p:txBody>
      </p:sp>
      <p:sp>
        <p:nvSpPr>
          <p:cNvPr id="146" name="Google Shape;146;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7" name="Google Shape;147;p26"/>
          <p:cNvPicPr preferRelativeResize="0"/>
          <p:nvPr/>
        </p:nvPicPr>
        <p:blipFill>
          <a:blip r:embed="rId3">
            <a:alphaModFix/>
          </a:blip>
          <a:stretch>
            <a:fillRect/>
          </a:stretch>
        </p:blipFill>
        <p:spPr>
          <a:xfrm>
            <a:off x="2110050" y="1152463"/>
            <a:ext cx="5048250" cy="2924175"/>
          </a:xfrm>
          <a:prstGeom prst="rect">
            <a:avLst/>
          </a:prstGeom>
          <a:noFill/>
          <a:ln>
            <a:noFill/>
          </a:ln>
        </p:spPr>
      </p:pic>
      <p:sp>
        <p:nvSpPr>
          <p:cNvPr id="148" name="Google Shape;148;p26"/>
          <p:cNvSpPr txBox="1"/>
          <p:nvPr/>
        </p:nvSpPr>
        <p:spPr>
          <a:xfrm>
            <a:off x="217550" y="4312150"/>
            <a:ext cx="7932900" cy="48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a:solidFill>
                  <a:schemeClr val="lt2"/>
                </a:solidFill>
                <a:latin typeface="Source Sans Pro"/>
                <a:ea typeface="Source Sans Pro"/>
                <a:cs typeface="Source Sans Pro"/>
                <a:sym typeface="Source Sans Pro"/>
              </a:rPr>
              <a:t>[*] https://www.hitachi-hightech.com/global/en/knowledge/semiconductor/room/about/history.html</a:t>
            </a:r>
            <a:endParaRPr>
              <a:solidFill>
                <a:schemeClr val="lt2"/>
              </a:solidFill>
              <a:latin typeface="Source Sans Pro"/>
              <a:ea typeface="Source Sans Pro"/>
              <a:cs typeface="Source Sans Pro"/>
              <a:sym typeface="Source Sans Pr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1. Khái Niệm IoT</a:t>
            </a:r>
            <a:endParaRPr/>
          </a:p>
          <a:p>
            <a:pPr marL="0" lvl="0" indent="0" algn="l" rtl="0">
              <a:spcBef>
                <a:spcPts val="0"/>
              </a:spcBef>
              <a:spcAft>
                <a:spcPts val="0"/>
              </a:spcAft>
              <a:buNone/>
            </a:pPr>
            <a:endParaRPr/>
          </a:p>
        </p:txBody>
      </p:sp>
      <p:sp>
        <p:nvSpPr>
          <p:cNvPr id="154" name="Google Shape;154;p27"/>
          <p:cNvSpPr txBox="1">
            <a:spLocks noGrp="1"/>
          </p:cNvSpPr>
          <p:nvPr>
            <p:ph type="body" idx="1"/>
          </p:nvPr>
        </p:nvSpPr>
        <p:spPr>
          <a:xfrm>
            <a:off x="311700" y="1152475"/>
            <a:ext cx="8520600" cy="2988600"/>
          </a:xfrm>
          <a:prstGeom prst="rect">
            <a:avLst/>
          </a:prstGeom>
        </p:spPr>
        <p:txBody>
          <a:bodyPr spcFirstLastPara="1" wrap="square" lIns="91425" tIns="91425" rIns="91425" bIns="91425" anchor="t" anchorCtr="0">
            <a:normAutofit/>
          </a:bodyPr>
          <a:lstStyle/>
          <a:p>
            <a:pPr marL="457200" lvl="0" indent="0" algn="just" rtl="0">
              <a:spcBef>
                <a:spcPts val="0"/>
              </a:spcBef>
              <a:spcAft>
                <a:spcPts val="0"/>
              </a:spcAft>
              <a:buNone/>
            </a:pPr>
            <a:r>
              <a:rPr lang="en-CA" sz="2300" b="1" i="1">
                <a:solidFill>
                  <a:schemeClr val="dk2"/>
                </a:solidFill>
              </a:rPr>
              <a:t>“</a:t>
            </a:r>
            <a:r>
              <a:rPr lang="en-CA" sz="2300" b="1" i="1">
                <a:solidFill>
                  <a:schemeClr val="dk2"/>
                </a:solidFill>
                <a:highlight>
                  <a:srgbClr val="FFFFFF"/>
                </a:highlight>
              </a:rPr>
              <a:t>The Internet of Things (IoT) refers to a network of physical devices, vehicles, appliances, and other physical objects that are embedded with sensors, software, and network connectivity, allowing them to collect and share data.”</a:t>
            </a:r>
            <a:endParaRPr sz="2300" b="1" i="1">
              <a:solidFill>
                <a:schemeClr val="dk2"/>
              </a:solidFill>
              <a:highlight>
                <a:srgbClr val="FFFFFF"/>
              </a:highlight>
            </a:endParaRPr>
          </a:p>
          <a:p>
            <a:pPr marL="457200" lvl="0" indent="0" algn="r" rtl="0">
              <a:spcBef>
                <a:spcPts val="1200"/>
              </a:spcBef>
              <a:spcAft>
                <a:spcPts val="0"/>
              </a:spcAft>
              <a:buNone/>
            </a:pPr>
            <a:r>
              <a:rPr lang="en-CA" sz="1600">
                <a:solidFill>
                  <a:srgbClr val="666666"/>
                </a:solidFill>
                <a:highlight>
                  <a:srgbClr val="FFFFFF"/>
                </a:highlight>
              </a:rPr>
              <a:t>[3]. https://www.ibm.com/topics/internet-of-things</a:t>
            </a:r>
            <a:endParaRPr sz="1600">
              <a:solidFill>
                <a:srgbClr val="666666"/>
              </a:solidFill>
              <a:highlight>
                <a:srgbClr val="FFFFFF"/>
              </a:highlight>
            </a:endParaRPr>
          </a:p>
          <a:p>
            <a:pPr marL="0" lvl="0" indent="0" algn="l" rtl="0">
              <a:spcBef>
                <a:spcPts val="1200"/>
              </a:spcBef>
              <a:spcAft>
                <a:spcPts val="1200"/>
              </a:spcAft>
              <a:buNone/>
            </a:pPr>
            <a:endParaRPr/>
          </a:p>
        </p:txBody>
      </p:sp>
      <p:pic>
        <p:nvPicPr>
          <p:cNvPr id="155" name="Google Shape;155;p27"/>
          <p:cNvPicPr preferRelativeResize="0"/>
          <p:nvPr/>
        </p:nvPicPr>
        <p:blipFill>
          <a:blip r:embed="rId3">
            <a:alphaModFix/>
          </a:blip>
          <a:stretch>
            <a:fillRect/>
          </a:stretch>
        </p:blipFill>
        <p:spPr>
          <a:xfrm>
            <a:off x="1072200" y="2845446"/>
            <a:ext cx="2116950" cy="2151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1. Khái Niệm IoT</a:t>
            </a:r>
            <a:endParaRPr/>
          </a:p>
          <a:p>
            <a:pPr marL="0" lvl="0" indent="0" algn="l" rtl="0">
              <a:spcBef>
                <a:spcPts val="0"/>
              </a:spcBef>
              <a:spcAft>
                <a:spcPts val="0"/>
              </a:spcAft>
              <a:buNone/>
            </a:pPr>
            <a:endParaRPr/>
          </a:p>
        </p:txBody>
      </p:sp>
      <p:sp>
        <p:nvSpPr>
          <p:cNvPr id="161" name="Google Shape;161;p28"/>
          <p:cNvSpPr txBox="1">
            <a:spLocks noGrp="1"/>
          </p:cNvSpPr>
          <p:nvPr>
            <p:ph type="body" idx="1"/>
          </p:nvPr>
        </p:nvSpPr>
        <p:spPr>
          <a:xfrm>
            <a:off x="311700" y="1152475"/>
            <a:ext cx="8520600" cy="3809700"/>
          </a:xfrm>
          <a:prstGeom prst="rect">
            <a:avLst/>
          </a:prstGeom>
        </p:spPr>
        <p:txBody>
          <a:bodyPr spcFirstLastPara="1" wrap="square" lIns="91425" tIns="91425" rIns="91425" bIns="91425" anchor="t" anchorCtr="0">
            <a:normAutofit lnSpcReduction="10000"/>
          </a:bodyPr>
          <a:lstStyle/>
          <a:p>
            <a:pPr marL="0" lvl="0" indent="0" algn="l" rtl="0">
              <a:lnSpc>
                <a:spcPct val="90000"/>
              </a:lnSpc>
              <a:spcBef>
                <a:spcPts val="1000"/>
              </a:spcBef>
              <a:spcAft>
                <a:spcPts val="0"/>
              </a:spcAft>
              <a:buClr>
                <a:schemeClr val="dk2"/>
              </a:buClr>
              <a:buSzPts val="1100"/>
              <a:buFont typeface="Arial"/>
              <a:buNone/>
            </a:pPr>
            <a:r>
              <a:rPr lang="en-CA" sz="2800" u="sng">
                <a:solidFill>
                  <a:schemeClr val="dk2"/>
                </a:solidFill>
              </a:rPr>
              <a:t>Lịch sử phát triển</a:t>
            </a:r>
            <a:endParaRPr sz="2800" u="sng">
              <a:solidFill>
                <a:schemeClr val="dk2"/>
              </a:solidFill>
            </a:endParaRPr>
          </a:p>
          <a:p>
            <a:pPr marL="0" lvl="0" indent="0" algn="just" rtl="0">
              <a:lnSpc>
                <a:spcPct val="90000"/>
              </a:lnSpc>
              <a:spcBef>
                <a:spcPts val="1000"/>
              </a:spcBef>
              <a:spcAft>
                <a:spcPts val="0"/>
              </a:spcAft>
              <a:buClr>
                <a:schemeClr val="dk2"/>
              </a:buClr>
              <a:buSzPts val="1100"/>
              <a:buFont typeface="Arial"/>
              <a:buNone/>
            </a:pPr>
            <a:r>
              <a:rPr lang="en-CA" sz="2400">
                <a:solidFill>
                  <a:schemeClr val="dk2"/>
                </a:solidFill>
              </a:rPr>
              <a:t>-Ý tưởng về một mạng lưới các thiết bị thông minh đã được thảo luận từ </a:t>
            </a:r>
            <a:r>
              <a:rPr lang="en-CA" sz="2400">
                <a:solidFill>
                  <a:srgbClr val="FF0000"/>
                </a:solidFill>
              </a:rPr>
              <a:t>1982</a:t>
            </a:r>
            <a:r>
              <a:rPr lang="en-CA" sz="2400">
                <a:solidFill>
                  <a:schemeClr val="dk2"/>
                </a:solidFill>
              </a:rPr>
              <a:t>, với một máy bán nước Coca-Cola tại Đại học Carnegie Mellon được tùy chỉnh khiến nó đã trở thành thiết bị đầu tiên được kết nối Internet, có khả năng báo cáo kiểm kho và báo cáo độ lạnh của những chai nước mới bỏ vào máy.</a:t>
            </a:r>
            <a:endParaRPr sz="2400">
              <a:solidFill>
                <a:schemeClr val="dk2"/>
              </a:solidFill>
            </a:endParaRPr>
          </a:p>
          <a:p>
            <a:pPr marL="0" lvl="0" indent="0" algn="just" rtl="0">
              <a:lnSpc>
                <a:spcPct val="90000"/>
              </a:lnSpc>
              <a:spcBef>
                <a:spcPts val="1000"/>
              </a:spcBef>
              <a:spcAft>
                <a:spcPts val="0"/>
              </a:spcAft>
              <a:buClr>
                <a:schemeClr val="dk2"/>
              </a:buClr>
              <a:buSzPts val="1100"/>
              <a:buFont typeface="Arial"/>
              <a:buNone/>
            </a:pPr>
            <a:r>
              <a:rPr lang="en-CA" sz="2400">
                <a:solidFill>
                  <a:schemeClr val="dk2"/>
                </a:solidFill>
              </a:rPr>
              <a:t>-Năm </a:t>
            </a:r>
            <a:r>
              <a:rPr lang="en-CA" sz="2400">
                <a:solidFill>
                  <a:srgbClr val="FF0000"/>
                </a:solidFill>
              </a:rPr>
              <a:t>1999</a:t>
            </a:r>
            <a:r>
              <a:rPr lang="en-CA" sz="2400">
                <a:solidFill>
                  <a:schemeClr val="dk2"/>
                </a:solidFill>
              </a:rPr>
              <a:t>, Kevin Ashton đã đưa ra cụm từ </a:t>
            </a:r>
            <a:r>
              <a:rPr lang="en-CA" sz="2400" b="1">
                <a:solidFill>
                  <a:schemeClr val="dk2"/>
                </a:solidFill>
                <a:highlight>
                  <a:srgbClr val="FFFF00"/>
                </a:highlight>
              </a:rPr>
              <a:t>Internet of Things</a:t>
            </a:r>
            <a:r>
              <a:rPr lang="en-CA" sz="2400">
                <a:solidFill>
                  <a:schemeClr val="dk2"/>
                </a:solidFill>
              </a:rPr>
              <a:t> nhằm để chỉ các đối tượng có thể được nhận biết cũng như sự tồn tại của chúng.</a:t>
            </a:r>
            <a:endParaRPr sz="2400">
              <a:solidFill>
                <a:schemeClr val="dk2"/>
              </a:solidFill>
            </a:endParaRPr>
          </a:p>
          <a:p>
            <a:pPr marL="0" lvl="0" indent="0" algn="l" rtl="0">
              <a:spcBef>
                <a:spcPts val="0"/>
              </a:spcBef>
              <a:spcAft>
                <a:spcPts val="120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1. Khái Niệm IoT</a:t>
            </a:r>
            <a:endParaRPr/>
          </a:p>
          <a:p>
            <a:pPr marL="0" lvl="0" indent="0" algn="l" rtl="0">
              <a:spcBef>
                <a:spcPts val="0"/>
              </a:spcBef>
              <a:spcAft>
                <a:spcPts val="0"/>
              </a:spcAft>
              <a:buNone/>
            </a:pPr>
            <a:endParaRPr/>
          </a:p>
        </p:txBody>
      </p:sp>
      <p:sp>
        <p:nvSpPr>
          <p:cNvPr id="167" name="Google Shape;167;p29"/>
          <p:cNvSpPr txBox="1">
            <a:spLocks noGrp="1"/>
          </p:cNvSpPr>
          <p:nvPr>
            <p:ph type="body" idx="1"/>
          </p:nvPr>
        </p:nvSpPr>
        <p:spPr>
          <a:xfrm>
            <a:off x="311700" y="1152475"/>
            <a:ext cx="8520600" cy="3809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8" name="Google Shape;168;p29"/>
          <p:cNvPicPr preferRelativeResize="0"/>
          <p:nvPr/>
        </p:nvPicPr>
        <p:blipFill>
          <a:blip r:embed="rId3">
            <a:alphaModFix/>
          </a:blip>
          <a:stretch>
            <a:fillRect/>
          </a:stretch>
        </p:blipFill>
        <p:spPr>
          <a:xfrm>
            <a:off x="1379592" y="1049350"/>
            <a:ext cx="6274282" cy="40159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2. </a:t>
            </a:r>
            <a:r>
              <a:rPr lang="en-CA" dirty="0" err="1"/>
              <a:t>Các</a:t>
            </a:r>
            <a:r>
              <a:rPr lang="en-CA" dirty="0"/>
              <a:t> </a:t>
            </a:r>
            <a:r>
              <a:rPr lang="en-CA" dirty="0" err="1"/>
              <a:t>đặc</a:t>
            </a:r>
            <a:r>
              <a:rPr lang="en-CA" dirty="0"/>
              <a:t> </a:t>
            </a:r>
            <a:r>
              <a:rPr lang="en-CA" dirty="0" err="1"/>
              <a:t>điểm</a:t>
            </a:r>
            <a:r>
              <a:rPr lang="en-CA" dirty="0"/>
              <a:t> </a:t>
            </a:r>
            <a:r>
              <a:rPr lang="en-CA" dirty="0" err="1"/>
              <a:t>của</a:t>
            </a:r>
            <a:r>
              <a:rPr lang="en-CA" dirty="0"/>
              <a:t> IoT</a:t>
            </a:r>
            <a:endParaRPr dirty="0"/>
          </a:p>
        </p:txBody>
      </p:sp>
      <p:sp>
        <p:nvSpPr>
          <p:cNvPr id="182" name="Google Shape;182;p31"/>
          <p:cNvSpPr txBox="1">
            <a:spLocks noGrp="1"/>
          </p:cNvSpPr>
          <p:nvPr>
            <p:ph type="body" idx="1"/>
          </p:nvPr>
        </p:nvSpPr>
        <p:spPr>
          <a:xfrm>
            <a:off x="311700" y="1152475"/>
            <a:ext cx="8520600" cy="3666900"/>
          </a:xfrm>
          <a:prstGeom prst="rect">
            <a:avLst/>
          </a:prstGeom>
        </p:spPr>
        <p:txBody>
          <a:bodyPr spcFirstLastPara="1" wrap="square" lIns="91425" tIns="91425" rIns="91425" bIns="91425" anchor="t" anchorCtr="0">
            <a:normAutofit/>
          </a:bodyPr>
          <a:lstStyle/>
          <a:p>
            <a:pPr marL="0" lvl="0" indent="0" algn="just" rtl="0">
              <a:lnSpc>
                <a:spcPct val="90000"/>
              </a:lnSpc>
              <a:spcBef>
                <a:spcPts val="1000"/>
              </a:spcBef>
              <a:spcAft>
                <a:spcPts val="0"/>
              </a:spcAft>
              <a:buClr>
                <a:schemeClr val="dk2"/>
              </a:buClr>
              <a:buSzPts val="1100"/>
              <a:buFont typeface="Arial"/>
              <a:buNone/>
            </a:pPr>
            <a:r>
              <a:rPr lang="en-CA" sz="2800" u="sng">
                <a:solidFill>
                  <a:schemeClr val="dk2"/>
                </a:solidFill>
              </a:rPr>
              <a:t>Hoạt động động &amp; tự động thích nghi (Dynamic &amp; Self-Adapting)</a:t>
            </a:r>
            <a:endParaRPr sz="2800" u="sng">
              <a:solidFill>
                <a:schemeClr val="dk2"/>
              </a:solidFill>
            </a:endParaRPr>
          </a:p>
          <a:p>
            <a:pPr marL="12700" lvl="0" indent="0" algn="just" rtl="0">
              <a:lnSpc>
                <a:spcPct val="90000"/>
              </a:lnSpc>
              <a:spcBef>
                <a:spcPts val="500"/>
              </a:spcBef>
              <a:spcAft>
                <a:spcPts val="0"/>
              </a:spcAft>
              <a:buClr>
                <a:schemeClr val="dk2"/>
              </a:buClr>
              <a:buSzPts val="1100"/>
              <a:buFont typeface="Arial"/>
              <a:buNone/>
            </a:pPr>
            <a:r>
              <a:rPr lang="en-CA" sz="2400">
                <a:solidFill>
                  <a:schemeClr val="dk2"/>
                </a:solidFill>
              </a:rPr>
              <a:t>•VD: Hệ thống camera giám sát có thể:</a:t>
            </a:r>
            <a:endParaRPr sz="2400">
              <a:solidFill>
                <a:schemeClr val="dk2"/>
              </a:solidFill>
            </a:endParaRPr>
          </a:p>
          <a:p>
            <a:pPr marL="12700" lvl="0" indent="444500" algn="just" rtl="0">
              <a:lnSpc>
                <a:spcPct val="90000"/>
              </a:lnSpc>
              <a:spcBef>
                <a:spcPts val="500"/>
              </a:spcBef>
              <a:spcAft>
                <a:spcPts val="0"/>
              </a:spcAft>
              <a:buClr>
                <a:schemeClr val="dk2"/>
              </a:buClr>
              <a:buSzPts val="1100"/>
              <a:buFont typeface="Arial"/>
              <a:buNone/>
            </a:pPr>
            <a:r>
              <a:rPr lang="en-CA" sz="2000">
                <a:solidFill>
                  <a:schemeClr val="dk2"/>
                </a:solidFill>
              </a:rPr>
              <a:t>•	Thay đổi chế độ hoạt động tùy theo ngày hay đêm (normal or infrared night modes) =&gt; Dynamic</a:t>
            </a:r>
            <a:endParaRPr sz="2000">
              <a:solidFill>
                <a:schemeClr val="dk2"/>
              </a:solidFill>
            </a:endParaRPr>
          </a:p>
          <a:p>
            <a:pPr marL="12700" lvl="0" indent="444500" algn="just" rtl="0">
              <a:lnSpc>
                <a:spcPct val="90000"/>
              </a:lnSpc>
              <a:spcBef>
                <a:spcPts val="500"/>
              </a:spcBef>
              <a:spcAft>
                <a:spcPts val="0"/>
              </a:spcAft>
              <a:buClr>
                <a:schemeClr val="dk2"/>
              </a:buClr>
              <a:buSzPts val="1100"/>
              <a:buFont typeface="Arial"/>
              <a:buNone/>
            </a:pPr>
            <a:r>
              <a:rPr lang="en-CA" sz="2000">
                <a:solidFill>
                  <a:schemeClr val="dk2"/>
                </a:solidFill>
              </a:rPr>
              <a:t>•	Thay đổi từ độ phân giải thấp sang cao khi phát hiện đối tượng chuyển động và cảnh báo tiếp cận  =&gt; Self-Adapting</a:t>
            </a:r>
            <a:endParaRPr sz="2000">
              <a:solidFill>
                <a:schemeClr val="dk2"/>
              </a:solidFill>
            </a:endParaRPr>
          </a:p>
          <a:p>
            <a:pPr marL="0" lvl="0" indent="0" algn="just" rtl="0">
              <a:lnSpc>
                <a:spcPct val="90000"/>
              </a:lnSpc>
              <a:spcBef>
                <a:spcPts val="500"/>
              </a:spcBef>
              <a:spcAft>
                <a:spcPts val="0"/>
              </a:spcAft>
              <a:buClr>
                <a:schemeClr val="dk2"/>
              </a:buClr>
              <a:buSzPts val="1100"/>
              <a:buFont typeface="Arial"/>
              <a:buNone/>
            </a:pPr>
            <a:r>
              <a:rPr lang="en-CA" sz="2000">
                <a:solidFill>
                  <a:schemeClr val="dk2"/>
                </a:solidFill>
              </a:rPr>
              <a:t>=&gt; </a:t>
            </a:r>
            <a:r>
              <a:rPr lang="en-CA" sz="2000" i="1">
                <a:solidFill>
                  <a:schemeClr val="dk2"/>
                </a:solidFill>
              </a:rPr>
              <a:t>Thay đổi dựa trên ngữ cảnh (context) và điều kiện làm việc (conditions)</a:t>
            </a:r>
            <a:endParaRPr sz="2000" i="1">
              <a:solidFill>
                <a:schemeClr val="dk2"/>
              </a:solidFill>
            </a:endParaRPr>
          </a:p>
          <a:p>
            <a:pPr marL="0" lvl="0" indent="0" algn="l" rtl="0">
              <a:spcBef>
                <a:spcPts val="0"/>
              </a:spcBef>
              <a:spcAft>
                <a:spcPts val="12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2. </a:t>
            </a:r>
            <a:r>
              <a:rPr lang="en-CA" dirty="0" err="1"/>
              <a:t>Các</a:t>
            </a:r>
            <a:r>
              <a:rPr lang="en-CA" dirty="0"/>
              <a:t> </a:t>
            </a:r>
            <a:r>
              <a:rPr lang="en-CA" dirty="0" err="1"/>
              <a:t>đặc</a:t>
            </a:r>
            <a:r>
              <a:rPr lang="en-CA" dirty="0"/>
              <a:t> </a:t>
            </a:r>
            <a:r>
              <a:rPr lang="en-CA" dirty="0" err="1"/>
              <a:t>điểm</a:t>
            </a:r>
            <a:r>
              <a:rPr lang="en-CA" dirty="0"/>
              <a:t> </a:t>
            </a:r>
            <a:r>
              <a:rPr lang="en-CA" dirty="0" err="1"/>
              <a:t>của</a:t>
            </a:r>
            <a:r>
              <a:rPr lang="en-CA" dirty="0"/>
              <a:t> IoT</a:t>
            </a:r>
            <a:endParaRPr dirty="0"/>
          </a:p>
        </p:txBody>
      </p:sp>
      <p:sp>
        <p:nvSpPr>
          <p:cNvPr id="188" name="Google Shape;188;p32"/>
          <p:cNvSpPr txBox="1">
            <a:spLocks noGrp="1"/>
          </p:cNvSpPr>
          <p:nvPr>
            <p:ph type="body" idx="1"/>
          </p:nvPr>
        </p:nvSpPr>
        <p:spPr>
          <a:xfrm>
            <a:off x="311700" y="1152475"/>
            <a:ext cx="8520600" cy="3666900"/>
          </a:xfrm>
          <a:prstGeom prst="rect">
            <a:avLst/>
          </a:prstGeom>
        </p:spPr>
        <p:txBody>
          <a:bodyPr spcFirstLastPara="1" wrap="square" lIns="91425" tIns="91425" rIns="91425" bIns="91425" anchor="t" anchorCtr="0">
            <a:normAutofit fontScale="85000" lnSpcReduction="20000"/>
          </a:bodyPr>
          <a:lstStyle/>
          <a:p>
            <a:pPr marL="0" lvl="0" indent="0" algn="just" rtl="0">
              <a:lnSpc>
                <a:spcPct val="90000"/>
              </a:lnSpc>
              <a:spcBef>
                <a:spcPts val="1000"/>
              </a:spcBef>
              <a:spcAft>
                <a:spcPts val="0"/>
              </a:spcAft>
              <a:buClr>
                <a:schemeClr val="dk2"/>
              </a:buClr>
              <a:buSzPct val="39285"/>
              <a:buFont typeface="Arial"/>
              <a:buNone/>
            </a:pPr>
            <a:r>
              <a:rPr lang="en-CA" sz="2800" u="sng">
                <a:solidFill>
                  <a:schemeClr val="dk2"/>
                </a:solidFill>
              </a:rPr>
              <a:t>Tự động cấu hình (Self-Configuring)</a:t>
            </a:r>
            <a:endParaRPr sz="2800" u="sng">
              <a:solidFill>
                <a:schemeClr val="dk2"/>
              </a:solidFill>
            </a:endParaRPr>
          </a:p>
          <a:p>
            <a:pPr marL="12700" lvl="0" indent="0" algn="just" rtl="0">
              <a:lnSpc>
                <a:spcPct val="90000"/>
              </a:lnSpc>
              <a:spcBef>
                <a:spcPts val="500"/>
              </a:spcBef>
              <a:spcAft>
                <a:spcPts val="0"/>
              </a:spcAft>
              <a:buClr>
                <a:schemeClr val="dk2"/>
              </a:buClr>
              <a:buSzPct val="45833"/>
              <a:buFont typeface="Arial"/>
              <a:buNone/>
            </a:pPr>
            <a:r>
              <a:rPr lang="en-CA" sz="2400">
                <a:solidFill>
                  <a:schemeClr val="dk2"/>
                </a:solidFill>
              </a:rPr>
              <a:t>•VD: Hệ thống giám sát thời tiết</a:t>
            </a:r>
            <a:endParaRPr sz="2400">
              <a:solidFill>
                <a:schemeClr val="dk2"/>
              </a:solidFill>
            </a:endParaRPr>
          </a:p>
          <a:p>
            <a:pPr marL="12700" lvl="0" indent="444500" algn="just" rtl="0">
              <a:lnSpc>
                <a:spcPct val="90000"/>
              </a:lnSpc>
              <a:spcBef>
                <a:spcPts val="500"/>
              </a:spcBef>
              <a:spcAft>
                <a:spcPts val="0"/>
              </a:spcAft>
              <a:buClr>
                <a:schemeClr val="dk2"/>
              </a:buClr>
              <a:buSzPct val="55000"/>
              <a:buFont typeface="Arial"/>
              <a:buNone/>
            </a:pPr>
            <a:r>
              <a:rPr lang="en-CA" sz="2000">
                <a:solidFill>
                  <a:schemeClr val="dk2"/>
                </a:solidFill>
              </a:rPr>
              <a:t>•	Các cảm biến có thể làm việc với chức năng định sẵn</a:t>
            </a:r>
            <a:endParaRPr sz="2000">
              <a:solidFill>
                <a:schemeClr val="dk2"/>
              </a:solidFill>
            </a:endParaRPr>
          </a:p>
          <a:p>
            <a:pPr marL="12700" lvl="0" indent="444500" algn="just" rtl="0">
              <a:lnSpc>
                <a:spcPct val="90000"/>
              </a:lnSpc>
              <a:spcBef>
                <a:spcPts val="500"/>
              </a:spcBef>
              <a:spcAft>
                <a:spcPts val="0"/>
              </a:spcAft>
              <a:buClr>
                <a:schemeClr val="dk2"/>
              </a:buClr>
              <a:buSzPct val="55000"/>
              <a:buFont typeface="Arial"/>
              <a:buNone/>
            </a:pPr>
            <a:r>
              <a:rPr lang="en-CA" sz="2000">
                <a:solidFill>
                  <a:schemeClr val="dk2"/>
                </a:solidFill>
              </a:rPr>
              <a:t>•	Có thể thay đổi chức năng hoạt động, thiết lập lại mạng, nhận phần mềm cập nhận với rất ít sự can thiệp của con người (khả năng FOTA-Firmware Over The Air của ESP32).</a:t>
            </a:r>
            <a:endParaRPr sz="2000">
              <a:solidFill>
                <a:schemeClr val="dk2"/>
              </a:solidFill>
            </a:endParaRPr>
          </a:p>
          <a:p>
            <a:pPr marL="0" lvl="0" indent="0" algn="just" rtl="0">
              <a:lnSpc>
                <a:spcPct val="90000"/>
              </a:lnSpc>
              <a:spcBef>
                <a:spcPts val="1000"/>
              </a:spcBef>
              <a:spcAft>
                <a:spcPts val="0"/>
              </a:spcAft>
              <a:buClr>
                <a:schemeClr val="dk2"/>
              </a:buClr>
              <a:buSzPct val="39285"/>
              <a:buFont typeface="Arial"/>
              <a:buNone/>
            </a:pPr>
            <a:r>
              <a:rPr lang="en-CA" sz="2800">
                <a:solidFill>
                  <a:schemeClr val="dk2"/>
                </a:solidFill>
              </a:rPr>
              <a:t>Các giao thức truyền thông có thể tương tác (Interoperable Communication Protocols)</a:t>
            </a:r>
            <a:endParaRPr sz="2800">
              <a:solidFill>
                <a:schemeClr val="dk2"/>
              </a:solidFill>
            </a:endParaRPr>
          </a:p>
          <a:p>
            <a:pPr marL="12700" lvl="0" indent="444500" algn="just" rtl="0">
              <a:lnSpc>
                <a:spcPct val="90000"/>
              </a:lnSpc>
              <a:spcBef>
                <a:spcPts val="500"/>
              </a:spcBef>
              <a:spcAft>
                <a:spcPts val="0"/>
              </a:spcAft>
              <a:buClr>
                <a:schemeClr val="dk2"/>
              </a:buClr>
              <a:buSzPct val="45833"/>
              <a:buFont typeface="Arial"/>
              <a:buNone/>
            </a:pPr>
            <a:r>
              <a:rPr lang="en-CA" sz="2400">
                <a:solidFill>
                  <a:schemeClr val="dk2"/>
                </a:solidFill>
              </a:rPr>
              <a:t>•	Các thiết bị IoT có thể hỗ trợ một số các giao thức truyền thông tương tác được (interoperable) để có thể trao đổi thông tin với các thiết bị khác cũng như cơ sở hạ tầng IoT</a:t>
            </a:r>
            <a:endParaRPr sz="2400">
              <a:solidFill>
                <a:schemeClr val="dk2"/>
              </a:solidFill>
            </a:endParaRPr>
          </a:p>
          <a:p>
            <a:pPr marL="0" lvl="0" indent="0" algn="l" rtl="0">
              <a:spcBef>
                <a:spcPts val="0"/>
              </a:spcBef>
              <a:spcAft>
                <a:spcPts val="1200"/>
              </a:spcAft>
              <a:buNone/>
            </a:pPr>
            <a:endParaRPr sz="2800" u="sng">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2. </a:t>
            </a:r>
            <a:r>
              <a:rPr lang="en-CA" dirty="0" err="1"/>
              <a:t>Các</a:t>
            </a:r>
            <a:r>
              <a:rPr lang="en-CA" dirty="0"/>
              <a:t> </a:t>
            </a:r>
            <a:r>
              <a:rPr lang="en-CA" dirty="0" err="1"/>
              <a:t>đặc</a:t>
            </a:r>
            <a:r>
              <a:rPr lang="en-CA" dirty="0"/>
              <a:t> </a:t>
            </a:r>
            <a:r>
              <a:rPr lang="en-CA" dirty="0" err="1"/>
              <a:t>điểm</a:t>
            </a:r>
            <a:r>
              <a:rPr lang="en-CA" dirty="0"/>
              <a:t> </a:t>
            </a:r>
            <a:r>
              <a:rPr lang="en-CA" dirty="0" err="1"/>
              <a:t>của</a:t>
            </a:r>
            <a:r>
              <a:rPr lang="en-CA" dirty="0"/>
              <a:t> IoT</a:t>
            </a:r>
            <a:endParaRPr dirty="0"/>
          </a:p>
        </p:txBody>
      </p:sp>
      <p:sp>
        <p:nvSpPr>
          <p:cNvPr id="194" name="Google Shape;194;p33"/>
          <p:cNvSpPr txBox="1">
            <a:spLocks noGrp="1"/>
          </p:cNvSpPr>
          <p:nvPr>
            <p:ph type="body" idx="1"/>
          </p:nvPr>
        </p:nvSpPr>
        <p:spPr>
          <a:xfrm>
            <a:off x="311700" y="1152475"/>
            <a:ext cx="8520600" cy="3666900"/>
          </a:xfrm>
          <a:prstGeom prst="rect">
            <a:avLst/>
          </a:prstGeom>
        </p:spPr>
        <p:txBody>
          <a:bodyPr spcFirstLastPara="1" wrap="square" lIns="91425" tIns="91425" rIns="91425" bIns="91425" anchor="t" anchorCtr="0">
            <a:normAutofit lnSpcReduction="10000"/>
          </a:bodyPr>
          <a:lstStyle/>
          <a:p>
            <a:pPr marL="0" lvl="0" indent="0" algn="just" rtl="0">
              <a:lnSpc>
                <a:spcPct val="90000"/>
              </a:lnSpc>
              <a:spcBef>
                <a:spcPts val="1000"/>
              </a:spcBef>
              <a:spcAft>
                <a:spcPts val="0"/>
              </a:spcAft>
              <a:buClr>
                <a:schemeClr val="dk2"/>
              </a:buClr>
              <a:buSzPts val="1100"/>
              <a:buFont typeface="Arial"/>
              <a:buNone/>
            </a:pPr>
            <a:r>
              <a:rPr lang="en-CA" sz="2800" u="sng">
                <a:solidFill>
                  <a:schemeClr val="dk2"/>
                </a:solidFill>
              </a:rPr>
              <a:t>Định danh duy nhất (Unique Identity)</a:t>
            </a:r>
            <a:endParaRPr sz="2800" u="sng">
              <a:solidFill>
                <a:schemeClr val="dk2"/>
              </a:solidFill>
            </a:endParaRPr>
          </a:p>
          <a:p>
            <a:pPr marL="12700" lvl="0" indent="0" algn="just" rtl="0">
              <a:lnSpc>
                <a:spcPct val="90000"/>
              </a:lnSpc>
              <a:spcBef>
                <a:spcPts val="500"/>
              </a:spcBef>
              <a:spcAft>
                <a:spcPts val="0"/>
              </a:spcAft>
              <a:buClr>
                <a:schemeClr val="dk2"/>
              </a:buClr>
              <a:buSzPts val="1100"/>
              <a:buFont typeface="Arial"/>
              <a:buNone/>
            </a:pPr>
            <a:r>
              <a:rPr lang="en-CA" sz="2400">
                <a:solidFill>
                  <a:schemeClr val="dk2"/>
                </a:solidFill>
              </a:rPr>
              <a:t>•	Mỗi thiết bị IoT có thể có giao diện thông minh có tính năng tự thích nghi, tự cấu hình, cho phép trao đổi thông tin với người dùng và ngữ cảnh, hoàn cảnh môi trường.</a:t>
            </a:r>
            <a:endParaRPr sz="2400">
              <a:solidFill>
                <a:schemeClr val="dk2"/>
              </a:solidFill>
            </a:endParaRPr>
          </a:p>
          <a:p>
            <a:pPr marL="12700" lvl="0" indent="0" algn="just" rtl="0">
              <a:lnSpc>
                <a:spcPct val="90000"/>
              </a:lnSpc>
              <a:spcBef>
                <a:spcPts val="500"/>
              </a:spcBef>
              <a:spcAft>
                <a:spcPts val="0"/>
              </a:spcAft>
              <a:buClr>
                <a:schemeClr val="dk2"/>
              </a:buClr>
              <a:buSzPts val="1100"/>
              <a:buFont typeface="Arial"/>
              <a:buNone/>
            </a:pPr>
            <a:r>
              <a:rPr lang="en-CA" sz="2400">
                <a:solidFill>
                  <a:schemeClr val="dk2"/>
                </a:solidFill>
              </a:rPr>
              <a:t>•	Người dùng có thể truy vấn 1 thiết bị IoT, giám sát, điều khiển từ xa kết hợp với việc cấu hình và quản lý cơ sở hạ tầng IoT.</a:t>
            </a:r>
            <a:endParaRPr sz="2400">
              <a:solidFill>
                <a:schemeClr val="dk2"/>
              </a:solidFill>
            </a:endParaRPr>
          </a:p>
          <a:p>
            <a:pPr marL="12700" lvl="0" indent="0" algn="just" rtl="0">
              <a:lnSpc>
                <a:spcPct val="90000"/>
              </a:lnSpc>
              <a:spcBef>
                <a:spcPts val="500"/>
              </a:spcBef>
              <a:spcAft>
                <a:spcPts val="0"/>
              </a:spcAft>
              <a:buClr>
                <a:schemeClr val="dk2"/>
              </a:buClr>
              <a:buSzPts val="1100"/>
              <a:buFont typeface="Arial"/>
              <a:buNone/>
            </a:pPr>
            <a:r>
              <a:rPr lang="en-CA" sz="2400">
                <a:solidFill>
                  <a:schemeClr val="dk2"/>
                </a:solidFill>
              </a:rPr>
              <a:t>=&gt; Mỗi thiết bị IoT phải có một định danh duy nhất</a:t>
            </a:r>
            <a:endParaRPr sz="2400">
              <a:solidFill>
                <a:schemeClr val="dk2"/>
              </a:solidFill>
            </a:endParaRPr>
          </a:p>
          <a:p>
            <a:pPr marL="457200" lvl="0" indent="0" algn="just" rtl="0">
              <a:lnSpc>
                <a:spcPct val="90000"/>
              </a:lnSpc>
              <a:spcBef>
                <a:spcPts val="500"/>
              </a:spcBef>
              <a:spcAft>
                <a:spcPts val="0"/>
              </a:spcAft>
              <a:buClr>
                <a:schemeClr val="dk2"/>
              </a:buClr>
              <a:buSzPts val="1100"/>
              <a:buFont typeface="Arial"/>
              <a:buNone/>
            </a:pPr>
            <a:r>
              <a:rPr lang="en-CA" sz="2400">
                <a:solidFill>
                  <a:schemeClr val="dk2"/>
                </a:solidFill>
              </a:rPr>
              <a:t>VD: IP hoặc URI (Uniform Resource Identifier)</a:t>
            </a:r>
            <a:endParaRPr sz="2400">
              <a:solidFill>
                <a:schemeClr val="dk2"/>
              </a:solidFill>
            </a:endParaRPr>
          </a:p>
          <a:p>
            <a:pPr marL="0" lvl="0" indent="0" algn="l" rtl="0">
              <a:spcBef>
                <a:spcPts val="0"/>
              </a:spcBef>
              <a:spcAft>
                <a:spcPts val="1200"/>
              </a:spcAft>
              <a:buNone/>
            </a:pPr>
            <a:endParaRPr sz="2800" u="sng">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2. </a:t>
            </a:r>
            <a:r>
              <a:rPr lang="en-CA" dirty="0" err="1"/>
              <a:t>Các</a:t>
            </a:r>
            <a:r>
              <a:rPr lang="en-CA" dirty="0"/>
              <a:t> </a:t>
            </a:r>
            <a:r>
              <a:rPr lang="en-CA" dirty="0" err="1"/>
              <a:t>đặc</a:t>
            </a:r>
            <a:r>
              <a:rPr lang="en-CA" dirty="0"/>
              <a:t> </a:t>
            </a:r>
            <a:r>
              <a:rPr lang="en-CA" dirty="0" err="1"/>
              <a:t>điểm</a:t>
            </a:r>
            <a:r>
              <a:rPr lang="en-CA" dirty="0"/>
              <a:t> </a:t>
            </a:r>
            <a:r>
              <a:rPr lang="en-CA" dirty="0" err="1"/>
              <a:t>của</a:t>
            </a:r>
            <a:r>
              <a:rPr lang="en-CA" dirty="0"/>
              <a:t> IoT</a:t>
            </a:r>
            <a:endParaRPr dirty="0"/>
          </a:p>
        </p:txBody>
      </p:sp>
      <p:sp>
        <p:nvSpPr>
          <p:cNvPr id="200" name="Google Shape;200;p34"/>
          <p:cNvSpPr txBox="1">
            <a:spLocks noGrp="1"/>
          </p:cNvSpPr>
          <p:nvPr>
            <p:ph type="body" idx="1"/>
          </p:nvPr>
        </p:nvSpPr>
        <p:spPr>
          <a:xfrm>
            <a:off x="311700" y="1152475"/>
            <a:ext cx="8520600" cy="3666900"/>
          </a:xfrm>
          <a:prstGeom prst="rect">
            <a:avLst/>
          </a:prstGeom>
        </p:spPr>
        <p:txBody>
          <a:bodyPr spcFirstLastPara="1" wrap="square" lIns="91425" tIns="91425" rIns="91425" bIns="91425" anchor="t" anchorCtr="0">
            <a:normAutofit fontScale="92500" lnSpcReduction="20000"/>
          </a:bodyPr>
          <a:lstStyle/>
          <a:p>
            <a:pPr marL="0" lvl="0" indent="0" algn="just" rtl="0">
              <a:lnSpc>
                <a:spcPct val="90000"/>
              </a:lnSpc>
              <a:spcBef>
                <a:spcPts val="1000"/>
              </a:spcBef>
              <a:spcAft>
                <a:spcPts val="0"/>
              </a:spcAft>
              <a:buClr>
                <a:schemeClr val="dk2"/>
              </a:buClr>
              <a:buSzPct val="39285"/>
              <a:buFont typeface="Arial"/>
              <a:buNone/>
            </a:pPr>
            <a:r>
              <a:rPr lang="en-CA" sz="2800" u="sng">
                <a:solidFill>
                  <a:schemeClr val="dk2"/>
                </a:solidFill>
              </a:rPr>
              <a:t>Được tích hợp vào trong mạng thông tin (Integrated into Information Network)</a:t>
            </a:r>
            <a:endParaRPr sz="2800" u="sng">
              <a:solidFill>
                <a:schemeClr val="dk2"/>
              </a:solidFill>
            </a:endParaRPr>
          </a:p>
          <a:p>
            <a:pPr marL="12700" lvl="0" indent="0" algn="just" rtl="0">
              <a:lnSpc>
                <a:spcPct val="90000"/>
              </a:lnSpc>
              <a:spcBef>
                <a:spcPts val="500"/>
              </a:spcBef>
              <a:spcAft>
                <a:spcPts val="0"/>
              </a:spcAft>
              <a:buClr>
                <a:schemeClr val="dk2"/>
              </a:buClr>
              <a:buSzPct val="45833"/>
              <a:buFont typeface="Arial"/>
              <a:buNone/>
            </a:pPr>
            <a:r>
              <a:rPr lang="en-CA" sz="2400">
                <a:solidFill>
                  <a:schemeClr val="dk2"/>
                </a:solidFill>
              </a:rPr>
              <a:t>•	Các thiết bị IoT thường được tích hợp vào trong mạng để trao đổi thông tin, dữ liệu với hệ thống hoặc với các thiết bị khác. Chúng có thể được nhận biết động trong mạng bởi các thiết bị khác hoặc bởi mạng.</a:t>
            </a:r>
            <a:endParaRPr sz="2400">
              <a:solidFill>
                <a:schemeClr val="dk2"/>
              </a:solidFill>
            </a:endParaRPr>
          </a:p>
          <a:p>
            <a:pPr marL="12700" lvl="0" indent="0" algn="just" rtl="0">
              <a:lnSpc>
                <a:spcPct val="90000"/>
              </a:lnSpc>
              <a:spcBef>
                <a:spcPts val="500"/>
              </a:spcBef>
              <a:spcAft>
                <a:spcPts val="0"/>
              </a:spcAft>
              <a:buClr>
                <a:schemeClr val="dk2"/>
              </a:buClr>
              <a:buSzPct val="55000"/>
              <a:buFont typeface="Arial"/>
              <a:buNone/>
            </a:pPr>
            <a:r>
              <a:rPr lang="en-CA" sz="2000">
                <a:solidFill>
                  <a:schemeClr val="dk2"/>
                </a:solidFill>
              </a:rPr>
              <a:t>•	VD: Một node trong mạng IoT giám sát thời tiết có thể “mô tả” khả năng giám sát của bản thân với một node khác được kết nối với nó, do vậy chúng có thể trao đổi thông tin và dữ liệu với nhau. Từ đó dữ liệu thời tiết từ một số lượng lớn node trong mạng được tổng hợp lại và phân tích để dự đoán thời tiết.</a:t>
            </a:r>
            <a:endParaRPr sz="2000">
              <a:solidFill>
                <a:schemeClr val="dk2"/>
              </a:solidFill>
            </a:endParaRPr>
          </a:p>
          <a:p>
            <a:pPr marL="0" lvl="0" indent="0" algn="just" rtl="0">
              <a:lnSpc>
                <a:spcPct val="90000"/>
              </a:lnSpc>
              <a:spcBef>
                <a:spcPts val="500"/>
              </a:spcBef>
              <a:spcAft>
                <a:spcPts val="0"/>
              </a:spcAft>
              <a:buClr>
                <a:schemeClr val="dk2"/>
              </a:buClr>
              <a:buSzPct val="55000"/>
              <a:buFont typeface="Arial"/>
              <a:buNone/>
            </a:pPr>
            <a:r>
              <a:rPr lang="en-CA" sz="2000">
                <a:solidFill>
                  <a:schemeClr val="dk2"/>
                </a:solidFill>
              </a:rPr>
              <a:t>=&gt; </a:t>
            </a:r>
            <a:r>
              <a:rPr lang="en-CA" sz="2000">
                <a:solidFill>
                  <a:srgbClr val="FF0000"/>
                </a:solidFill>
              </a:rPr>
              <a:t>Tích hợp vào trong mạng sẽ khiến hệ thống IoT “thông minh” hơn do sự tổng hợp “trí tuệ” của các thiết bị riêng lẻ kết hợp với cơ sở hạ tầng IoT</a:t>
            </a:r>
            <a:r>
              <a:rPr lang="en-CA" sz="2000">
                <a:solidFill>
                  <a:schemeClr val="dk2"/>
                </a:solidFill>
              </a:rPr>
              <a:t>.</a:t>
            </a:r>
            <a:endParaRPr sz="2000">
              <a:solidFill>
                <a:schemeClr val="dk2"/>
              </a:solidFill>
            </a:endParaRPr>
          </a:p>
          <a:p>
            <a:pPr marL="0" lvl="0" indent="0" algn="l" rtl="0">
              <a:spcBef>
                <a:spcPts val="0"/>
              </a:spcBef>
              <a:spcAft>
                <a:spcPts val="1200"/>
              </a:spcAft>
              <a:buNone/>
            </a:pPr>
            <a:endParaRPr sz="2800" u="sng">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3. </a:t>
            </a:r>
            <a:r>
              <a:rPr lang="en-CA" dirty="0" err="1"/>
              <a:t>Kiến</a:t>
            </a:r>
            <a:r>
              <a:rPr lang="en-CA" dirty="0"/>
              <a:t> </a:t>
            </a:r>
            <a:r>
              <a:rPr lang="en-CA" dirty="0" err="1"/>
              <a:t>trúc</a:t>
            </a:r>
            <a:r>
              <a:rPr lang="en-CA" dirty="0"/>
              <a:t> </a:t>
            </a:r>
            <a:r>
              <a:rPr lang="en-CA" dirty="0" err="1"/>
              <a:t>của</a:t>
            </a:r>
            <a:r>
              <a:rPr lang="en-CA" dirty="0"/>
              <a:t> </a:t>
            </a:r>
            <a:r>
              <a:rPr lang="en-CA" dirty="0" err="1"/>
              <a:t>hệ</a:t>
            </a:r>
            <a:r>
              <a:rPr lang="en-CA" dirty="0"/>
              <a:t> </a:t>
            </a:r>
            <a:r>
              <a:rPr lang="en-CA" dirty="0" err="1"/>
              <a:t>thống</a:t>
            </a:r>
            <a:r>
              <a:rPr lang="en-CA" dirty="0"/>
              <a:t> IoT</a:t>
            </a:r>
            <a:endParaRPr dirty="0"/>
          </a:p>
        </p:txBody>
      </p:sp>
      <p:sp>
        <p:nvSpPr>
          <p:cNvPr id="174" name="Google Shape;174;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175" name="Google Shape;175;p30"/>
          <p:cNvSpPr txBox="1"/>
          <p:nvPr/>
        </p:nvSpPr>
        <p:spPr>
          <a:xfrm>
            <a:off x="1243150" y="4420925"/>
            <a:ext cx="68217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a:solidFill>
                  <a:schemeClr val="lt2"/>
                </a:solidFill>
                <a:latin typeface="Source Sans Pro"/>
                <a:ea typeface="Source Sans Pro"/>
                <a:cs typeface="Source Sans Pro"/>
                <a:sym typeface="Source Sans Pro"/>
              </a:rPr>
              <a:t>Kiến trúc thiết bị của hệ thống IoT</a:t>
            </a:r>
            <a:endParaRPr sz="1800">
              <a:solidFill>
                <a:schemeClr val="lt2"/>
              </a:solidFill>
              <a:latin typeface="Source Sans Pro"/>
              <a:ea typeface="Source Sans Pro"/>
              <a:cs typeface="Source Sans Pro"/>
              <a:sym typeface="Source Sans Pro"/>
            </a:endParaRPr>
          </a:p>
          <a:p>
            <a:pPr marL="0" lvl="0" indent="0" algn="ctr" rtl="0">
              <a:spcBef>
                <a:spcPts val="0"/>
              </a:spcBef>
              <a:spcAft>
                <a:spcPts val="0"/>
              </a:spcAft>
              <a:buNone/>
            </a:pPr>
            <a:r>
              <a:rPr lang="en-CA" sz="1300">
                <a:solidFill>
                  <a:schemeClr val="lt2"/>
                </a:solidFill>
                <a:latin typeface="Source Sans Pro"/>
                <a:ea typeface="Source Sans Pro"/>
                <a:cs typeface="Source Sans Pro"/>
                <a:sym typeface="Source Sans Pro"/>
              </a:rPr>
              <a:t>[*]https://www.simplilearn.com/learn-iot-basics-skillup</a:t>
            </a:r>
            <a:endParaRPr sz="1300">
              <a:solidFill>
                <a:schemeClr val="lt2"/>
              </a:solidFill>
              <a:latin typeface="Source Sans Pro"/>
              <a:ea typeface="Source Sans Pro"/>
              <a:cs typeface="Source Sans Pro"/>
              <a:sym typeface="Source Sans Pro"/>
            </a:endParaRPr>
          </a:p>
        </p:txBody>
      </p:sp>
      <p:pic>
        <p:nvPicPr>
          <p:cNvPr id="176" name="Google Shape;176;p30"/>
          <p:cNvPicPr preferRelativeResize="0"/>
          <p:nvPr/>
        </p:nvPicPr>
        <p:blipFill>
          <a:blip r:embed="rId3">
            <a:alphaModFix/>
          </a:blip>
          <a:stretch>
            <a:fillRect/>
          </a:stretch>
        </p:blipFill>
        <p:spPr>
          <a:xfrm>
            <a:off x="1759141" y="1147000"/>
            <a:ext cx="5785161" cy="3195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3. </a:t>
            </a:r>
            <a:r>
              <a:rPr lang="en-CA" dirty="0" err="1"/>
              <a:t>Kiến</a:t>
            </a:r>
            <a:r>
              <a:rPr lang="en-CA" dirty="0"/>
              <a:t> </a:t>
            </a:r>
            <a:r>
              <a:rPr lang="en-CA" dirty="0" err="1"/>
              <a:t>trúc</a:t>
            </a:r>
            <a:r>
              <a:rPr lang="en-CA" dirty="0"/>
              <a:t> </a:t>
            </a:r>
            <a:r>
              <a:rPr lang="en-CA" dirty="0" err="1"/>
              <a:t>của</a:t>
            </a:r>
            <a:r>
              <a:rPr lang="en-CA" dirty="0"/>
              <a:t> </a:t>
            </a:r>
            <a:r>
              <a:rPr lang="en-CA" dirty="0" err="1"/>
              <a:t>hệ</a:t>
            </a:r>
            <a:r>
              <a:rPr lang="en-CA" dirty="0"/>
              <a:t> </a:t>
            </a:r>
            <a:r>
              <a:rPr lang="en-CA" dirty="0" err="1"/>
              <a:t>thống</a:t>
            </a:r>
            <a:r>
              <a:rPr lang="en-CA" dirty="0"/>
              <a:t> IoT</a:t>
            </a:r>
            <a:endParaRPr dirty="0"/>
          </a:p>
        </p:txBody>
      </p:sp>
      <p:sp>
        <p:nvSpPr>
          <p:cNvPr id="206" name="Google Shape;206;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lvl="0" indent="0" algn="l" rtl="0">
              <a:spcBef>
                <a:spcPts val="0"/>
              </a:spcBef>
              <a:spcAft>
                <a:spcPts val="0"/>
              </a:spcAft>
              <a:buSzPts val="1800"/>
              <a:buNone/>
            </a:pPr>
            <a:r>
              <a:rPr lang="en-CA" b="1" u="sng" dirty="0" err="1"/>
              <a:t>Các</a:t>
            </a:r>
            <a:r>
              <a:rPr lang="en-CA" b="1" u="sng" dirty="0"/>
              <a:t> </a:t>
            </a:r>
            <a:r>
              <a:rPr lang="en-CA" b="1" u="sng" dirty="0" err="1"/>
              <a:t>mức</a:t>
            </a:r>
            <a:r>
              <a:rPr lang="en-CA" b="1" u="sng" dirty="0"/>
              <a:t> </a:t>
            </a:r>
            <a:r>
              <a:rPr lang="en-CA" b="1" u="sng" dirty="0" err="1"/>
              <a:t>độ</a:t>
            </a:r>
            <a:r>
              <a:rPr lang="en-CA" b="1" u="sng" dirty="0"/>
              <a:t> </a:t>
            </a:r>
            <a:r>
              <a:rPr lang="en-CA" b="1" u="sng" dirty="0" err="1"/>
              <a:t>của</a:t>
            </a:r>
            <a:r>
              <a:rPr lang="en-CA" b="1" u="sng" dirty="0"/>
              <a:t> </a:t>
            </a:r>
            <a:r>
              <a:rPr lang="en-CA" b="1" u="sng" dirty="0" err="1"/>
              <a:t>hệ</a:t>
            </a:r>
            <a:r>
              <a:rPr lang="en-CA" b="1" u="sng" dirty="0"/>
              <a:t> </a:t>
            </a:r>
            <a:r>
              <a:rPr lang="en-CA" b="1" u="sng" dirty="0" err="1"/>
              <a:t>thống</a:t>
            </a:r>
            <a:r>
              <a:rPr lang="en-CA" b="1" u="sng" dirty="0"/>
              <a:t> IoT </a:t>
            </a:r>
          </a:p>
          <a:p>
            <a:pPr marL="457200" lvl="0" indent="-342900" algn="l" rtl="0">
              <a:spcBef>
                <a:spcPts val="0"/>
              </a:spcBef>
              <a:spcAft>
                <a:spcPts val="0"/>
              </a:spcAft>
              <a:buSzPts val="1800"/>
              <a:buChar char="-"/>
            </a:pPr>
            <a:r>
              <a:rPr lang="en-CA" dirty="0"/>
              <a:t>Level 1:</a:t>
            </a:r>
            <a:endParaRPr dirty="0"/>
          </a:p>
        </p:txBody>
      </p:sp>
      <p:pic>
        <p:nvPicPr>
          <p:cNvPr id="207" name="Google Shape;207;p35"/>
          <p:cNvPicPr preferRelativeResize="0"/>
          <p:nvPr/>
        </p:nvPicPr>
        <p:blipFill>
          <a:blip r:embed="rId3">
            <a:alphaModFix/>
          </a:blip>
          <a:stretch>
            <a:fillRect/>
          </a:stretch>
        </p:blipFill>
        <p:spPr>
          <a:xfrm>
            <a:off x="1996796" y="1590260"/>
            <a:ext cx="5225639" cy="3114885"/>
          </a:xfrm>
          <a:prstGeom prst="rect">
            <a:avLst/>
          </a:prstGeom>
          <a:noFill/>
          <a:ln>
            <a:noFill/>
          </a:ln>
        </p:spPr>
      </p:pic>
      <p:sp>
        <p:nvSpPr>
          <p:cNvPr id="208" name="Google Shape;208;p35"/>
          <p:cNvSpPr txBox="1"/>
          <p:nvPr/>
        </p:nvSpPr>
        <p:spPr>
          <a:xfrm>
            <a:off x="2093400" y="4652925"/>
            <a:ext cx="4957200" cy="20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300">
                <a:solidFill>
                  <a:schemeClr val="lt2"/>
                </a:solidFill>
                <a:latin typeface="Source Sans Pro"/>
                <a:ea typeface="Source Sans Pro"/>
                <a:cs typeface="Source Sans Pro"/>
                <a:sym typeface="Source Sans Pro"/>
              </a:rPr>
              <a:t>[*]https://www.ourtutorials.in/iot/iot_levels.php</a:t>
            </a:r>
            <a:endParaRPr sz="1300">
              <a:solidFill>
                <a:schemeClr val="lt2"/>
              </a:solidFill>
              <a:latin typeface="Source Sans Pro"/>
              <a:ea typeface="Source Sans Pro"/>
              <a:cs typeface="Source Sans Pro"/>
              <a:sym typeface="Source Sans Pr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3. </a:t>
            </a:r>
            <a:r>
              <a:rPr lang="en-CA" dirty="0" err="1"/>
              <a:t>Kiến</a:t>
            </a:r>
            <a:r>
              <a:rPr lang="en-CA" dirty="0"/>
              <a:t> </a:t>
            </a:r>
            <a:r>
              <a:rPr lang="en-CA" dirty="0" err="1"/>
              <a:t>trúc</a:t>
            </a:r>
            <a:r>
              <a:rPr lang="en-CA" dirty="0"/>
              <a:t> </a:t>
            </a:r>
            <a:r>
              <a:rPr lang="en-CA" dirty="0" err="1"/>
              <a:t>của</a:t>
            </a:r>
            <a:r>
              <a:rPr lang="en-CA" dirty="0"/>
              <a:t> </a:t>
            </a:r>
            <a:r>
              <a:rPr lang="en-CA" dirty="0" err="1"/>
              <a:t>hệ</a:t>
            </a:r>
            <a:r>
              <a:rPr lang="en-CA" dirty="0"/>
              <a:t> </a:t>
            </a:r>
            <a:r>
              <a:rPr lang="en-CA" dirty="0" err="1"/>
              <a:t>thống</a:t>
            </a:r>
            <a:r>
              <a:rPr lang="en-CA" dirty="0"/>
              <a:t> IoT</a:t>
            </a:r>
            <a:endParaRPr dirty="0"/>
          </a:p>
        </p:txBody>
      </p:sp>
      <p:sp>
        <p:nvSpPr>
          <p:cNvPr id="214" name="Google Shape;214;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a:t>Level 2:</a:t>
            </a:r>
            <a:endParaRPr/>
          </a:p>
        </p:txBody>
      </p:sp>
      <p:sp>
        <p:nvSpPr>
          <p:cNvPr id="215" name="Google Shape;215;p36"/>
          <p:cNvSpPr txBox="1"/>
          <p:nvPr/>
        </p:nvSpPr>
        <p:spPr>
          <a:xfrm>
            <a:off x="2093400" y="4652925"/>
            <a:ext cx="4957200" cy="20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300">
                <a:solidFill>
                  <a:schemeClr val="lt2"/>
                </a:solidFill>
                <a:latin typeface="Source Sans Pro"/>
                <a:ea typeface="Source Sans Pro"/>
                <a:cs typeface="Source Sans Pro"/>
                <a:sym typeface="Source Sans Pro"/>
              </a:rPr>
              <a:t>[*]https://www.ourtutorials.in/iot/iot_levels.php</a:t>
            </a:r>
            <a:endParaRPr sz="1300">
              <a:solidFill>
                <a:schemeClr val="lt2"/>
              </a:solidFill>
              <a:latin typeface="Source Sans Pro"/>
              <a:ea typeface="Source Sans Pro"/>
              <a:cs typeface="Source Sans Pro"/>
              <a:sym typeface="Source Sans Pro"/>
            </a:endParaRPr>
          </a:p>
        </p:txBody>
      </p:sp>
      <p:pic>
        <p:nvPicPr>
          <p:cNvPr id="216" name="Google Shape;216;p36"/>
          <p:cNvPicPr preferRelativeResize="0"/>
          <p:nvPr/>
        </p:nvPicPr>
        <p:blipFill>
          <a:blip r:embed="rId3">
            <a:alphaModFix/>
          </a:blip>
          <a:stretch>
            <a:fillRect/>
          </a:stretch>
        </p:blipFill>
        <p:spPr>
          <a:xfrm>
            <a:off x="1732650" y="1359700"/>
            <a:ext cx="6550899" cy="3152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3. </a:t>
            </a:r>
            <a:r>
              <a:rPr lang="en-CA" dirty="0" err="1"/>
              <a:t>Kiến</a:t>
            </a:r>
            <a:r>
              <a:rPr lang="en-CA" dirty="0"/>
              <a:t> </a:t>
            </a:r>
            <a:r>
              <a:rPr lang="en-CA" dirty="0" err="1"/>
              <a:t>trúc</a:t>
            </a:r>
            <a:r>
              <a:rPr lang="en-CA" dirty="0"/>
              <a:t> </a:t>
            </a:r>
            <a:r>
              <a:rPr lang="en-CA" dirty="0" err="1"/>
              <a:t>của</a:t>
            </a:r>
            <a:r>
              <a:rPr lang="en-CA" dirty="0"/>
              <a:t> </a:t>
            </a:r>
            <a:r>
              <a:rPr lang="en-CA" dirty="0" err="1"/>
              <a:t>hệ</a:t>
            </a:r>
            <a:r>
              <a:rPr lang="en-CA" dirty="0"/>
              <a:t> </a:t>
            </a:r>
            <a:r>
              <a:rPr lang="en-CA" dirty="0" err="1"/>
              <a:t>thống</a:t>
            </a:r>
            <a:r>
              <a:rPr lang="en-CA" dirty="0"/>
              <a:t> IoT</a:t>
            </a:r>
            <a:endParaRPr dirty="0"/>
          </a:p>
        </p:txBody>
      </p:sp>
      <p:sp>
        <p:nvSpPr>
          <p:cNvPr id="222" name="Google Shape;222;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a:t>Level 3:</a:t>
            </a:r>
            <a:endParaRPr/>
          </a:p>
        </p:txBody>
      </p:sp>
      <p:sp>
        <p:nvSpPr>
          <p:cNvPr id="223" name="Google Shape;223;p37"/>
          <p:cNvSpPr txBox="1"/>
          <p:nvPr/>
        </p:nvSpPr>
        <p:spPr>
          <a:xfrm>
            <a:off x="2093400" y="4652925"/>
            <a:ext cx="4957200" cy="20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300">
                <a:solidFill>
                  <a:schemeClr val="lt2"/>
                </a:solidFill>
                <a:latin typeface="Source Sans Pro"/>
                <a:ea typeface="Source Sans Pro"/>
                <a:cs typeface="Source Sans Pro"/>
                <a:sym typeface="Source Sans Pro"/>
              </a:rPr>
              <a:t>[*]https://www.ourtutorials.in/iot/iot_levels.php</a:t>
            </a:r>
            <a:endParaRPr sz="1300">
              <a:solidFill>
                <a:schemeClr val="lt2"/>
              </a:solidFill>
              <a:latin typeface="Source Sans Pro"/>
              <a:ea typeface="Source Sans Pro"/>
              <a:cs typeface="Source Sans Pro"/>
              <a:sym typeface="Source Sans Pro"/>
            </a:endParaRPr>
          </a:p>
        </p:txBody>
      </p:sp>
      <p:pic>
        <p:nvPicPr>
          <p:cNvPr id="224" name="Google Shape;224;p37"/>
          <p:cNvPicPr preferRelativeResize="0"/>
          <p:nvPr/>
        </p:nvPicPr>
        <p:blipFill>
          <a:blip r:embed="rId3">
            <a:alphaModFix/>
          </a:blip>
          <a:stretch>
            <a:fillRect/>
          </a:stretch>
        </p:blipFill>
        <p:spPr>
          <a:xfrm>
            <a:off x="1856950" y="1300000"/>
            <a:ext cx="5967075" cy="33213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3. </a:t>
            </a:r>
            <a:r>
              <a:rPr lang="en-CA" dirty="0" err="1"/>
              <a:t>Kiến</a:t>
            </a:r>
            <a:r>
              <a:rPr lang="en-CA" dirty="0"/>
              <a:t> </a:t>
            </a:r>
            <a:r>
              <a:rPr lang="en-CA" dirty="0" err="1"/>
              <a:t>trúc</a:t>
            </a:r>
            <a:r>
              <a:rPr lang="en-CA" dirty="0"/>
              <a:t> </a:t>
            </a:r>
            <a:r>
              <a:rPr lang="en-CA" dirty="0" err="1"/>
              <a:t>của</a:t>
            </a:r>
            <a:r>
              <a:rPr lang="en-CA" dirty="0"/>
              <a:t> </a:t>
            </a:r>
            <a:r>
              <a:rPr lang="en-CA" dirty="0" err="1"/>
              <a:t>hệ</a:t>
            </a:r>
            <a:r>
              <a:rPr lang="en-CA" dirty="0"/>
              <a:t> </a:t>
            </a:r>
            <a:r>
              <a:rPr lang="en-CA" dirty="0" err="1"/>
              <a:t>thống</a:t>
            </a:r>
            <a:r>
              <a:rPr lang="en-CA" dirty="0"/>
              <a:t> IoT</a:t>
            </a:r>
            <a:endParaRPr dirty="0"/>
          </a:p>
        </p:txBody>
      </p:sp>
      <p:sp>
        <p:nvSpPr>
          <p:cNvPr id="230" name="Google Shape;230;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a:t>Level 4:</a:t>
            </a:r>
            <a:endParaRPr/>
          </a:p>
        </p:txBody>
      </p:sp>
      <p:sp>
        <p:nvSpPr>
          <p:cNvPr id="231" name="Google Shape;231;p38"/>
          <p:cNvSpPr txBox="1"/>
          <p:nvPr/>
        </p:nvSpPr>
        <p:spPr>
          <a:xfrm>
            <a:off x="2093400" y="4652925"/>
            <a:ext cx="4957200" cy="20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300">
                <a:solidFill>
                  <a:schemeClr val="lt2"/>
                </a:solidFill>
                <a:latin typeface="Source Sans Pro"/>
                <a:ea typeface="Source Sans Pro"/>
                <a:cs typeface="Source Sans Pro"/>
                <a:sym typeface="Source Sans Pro"/>
              </a:rPr>
              <a:t>[*]https://www.ourtutorials.in/iot/iot_levels.php</a:t>
            </a:r>
            <a:endParaRPr sz="1300">
              <a:solidFill>
                <a:schemeClr val="lt2"/>
              </a:solidFill>
              <a:latin typeface="Source Sans Pro"/>
              <a:ea typeface="Source Sans Pro"/>
              <a:cs typeface="Source Sans Pro"/>
              <a:sym typeface="Source Sans Pro"/>
            </a:endParaRPr>
          </a:p>
        </p:txBody>
      </p:sp>
      <p:pic>
        <p:nvPicPr>
          <p:cNvPr id="232" name="Google Shape;232;p38"/>
          <p:cNvPicPr preferRelativeResize="0"/>
          <p:nvPr/>
        </p:nvPicPr>
        <p:blipFill>
          <a:blip r:embed="rId3">
            <a:alphaModFix/>
          </a:blip>
          <a:stretch>
            <a:fillRect/>
          </a:stretch>
        </p:blipFill>
        <p:spPr>
          <a:xfrm>
            <a:off x="1681600" y="1229250"/>
            <a:ext cx="6030924" cy="34791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3. </a:t>
            </a:r>
            <a:r>
              <a:rPr lang="en-CA" dirty="0" err="1"/>
              <a:t>Kiến</a:t>
            </a:r>
            <a:r>
              <a:rPr lang="en-CA" dirty="0"/>
              <a:t> </a:t>
            </a:r>
            <a:r>
              <a:rPr lang="en-CA" dirty="0" err="1"/>
              <a:t>trúc</a:t>
            </a:r>
            <a:r>
              <a:rPr lang="en-CA" dirty="0"/>
              <a:t> </a:t>
            </a:r>
            <a:r>
              <a:rPr lang="en-CA" dirty="0" err="1"/>
              <a:t>của</a:t>
            </a:r>
            <a:r>
              <a:rPr lang="en-CA" dirty="0"/>
              <a:t> </a:t>
            </a:r>
            <a:r>
              <a:rPr lang="en-CA" dirty="0" err="1"/>
              <a:t>hệ</a:t>
            </a:r>
            <a:r>
              <a:rPr lang="en-CA" dirty="0"/>
              <a:t> </a:t>
            </a:r>
            <a:r>
              <a:rPr lang="en-CA" dirty="0" err="1"/>
              <a:t>thống</a:t>
            </a:r>
            <a:r>
              <a:rPr lang="en-CA" dirty="0"/>
              <a:t> IoT</a:t>
            </a:r>
            <a:endParaRPr dirty="0"/>
          </a:p>
        </p:txBody>
      </p:sp>
      <p:sp>
        <p:nvSpPr>
          <p:cNvPr id="238" name="Google Shape;238;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a:t>Level 5:</a:t>
            </a:r>
            <a:endParaRPr/>
          </a:p>
        </p:txBody>
      </p:sp>
      <p:sp>
        <p:nvSpPr>
          <p:cNvPr id="239" name="Google Shape;239;p39"/>
          <p:cNvSpPr txBox="1"/>
          <p:nvPr/>
        </p:nvSpPr>
        <p:spPr>
          <a:xfrm>
            <a:off x="2093400" y="4652925"/>
            <a:ext cx="4957200" cy="20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300">
                <a:solidFill>
                  <a:schemeClr val="lt2"/>
                </a:solidFill>
                <a:latin typeface="Source Sans Pro"/>
                <a:ea typeface="Source Sans Pro"/>
                <a:cs typeface="Source Sans Pro"/>
                <a:sym typeface="Source Sans Pro"/>
              </a:rPr>
              <a:t>[*]https://www.ourtutorials.in/iot/iot_levels.php</a:t>
            </a:r>
            <a:endParaRPr sz="1300">
              <a:solidFill>
                <a:schemeClr val="lt2"/>
              </a:solidFill>
              <a:latin typeface="Source Sans Pro"/>
              <a:ea typeface="Source Sans Pro"/>
              <a:cs typeface="Source Sans Pro"/>
              <a:sym typeface="Source Sans Pro"/>
            </a:endParaRPr>
          </a:p>
        </p:txBody>
      </p:sp>
      <p:pic>
        <p:nvPicPr>
          <p:cNvPr id="240" name="Google Shape;240;p39"/>
          <p:cNvPicPr preferRelativeResize="0"/>
          <p:nvPr/>
        </p:nvPicPr>
        <p:blipFill>
          <a:blip r:embed="rId3">
            <a:alphaModFix/>
          </a:blip>
          <a:stretch>
            <a:fillRect/>
          </a:stretch>
        </p:blipFill>
        <p:spPr>
          <a:xfrm>
            <a:off x="1779250" y="1201925"/>
            <a:ext cx="6371074" cy="3451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3. </a:t>
            </a:r>
            <a:r>
              <a:rPr lang="en-CA" dirty="0" err="1"/>
              <a:t>Kiến</a:t>
            </a:r>
            <a:r>
              <a:rPr lang="en-CA" dirty="0"/>
              <a:t> </a:t>
            </a:r>
            <a:r>
              <a:rPr lang="en-CA" dirty="0" err="1"/>
              <a:t>trúc</a:t>
            </a:r>
            <a:r>
              <a:rPr lang="en-CA" dirty="0"/>
              <a:t> </a:t>
            </a:r>
            <a:r>
              <a:rPr lang="en-CA" dirty="0" err="1"/>
              <a:t>của</a:t>
            </a:r>
            <a:r>
              <a:rPr lang="en-CA" dirty="0"/>
              <a:t> </a:t>
            </a:r>
            <a:r>
              <a:rPr lang="en-CA" dirty="0" err="1"/>
              <a:t>hệ</a:t>
            </a:r>
            <a:r>
              <a:rPr lang="en-CA" dirty="0"/>
              <a:t> </a:t>
            </a:r>
            <a:r>
              <a:rPr lang="en-CA" dirty="0" err="1"/>
              <a:t>thống</a:t>
            </a:r>
            <a:r>
              <a:rPr lang="en-CA" dirty="0"/>
              <a:t> IoT</a:t>
            </a:r>
            <a:endParaRPr dirty="0"/>
          </a:p>
        </p:txBody>
      </p:sp>
      <p:sp>
        <p:nvSpPr>
          <p:cNvPr id="246" name="Google Shape;246;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a:t>Level 6:</a:t>
            </a:r>
            <a:endParaRPr/>
          </a:p>
        </p:txBody>
      </p:sp>
      <p:sp>
        <p:nvSpPr>
          <p:cNvPr id="247" name="Google Shape;247;p40"/>
          <p:cNvSpPr txBox="1"/>
          <p:nvPr/>
        </p:nvSpPr>
        <p:spPr>
          <a:xfrm>
            <a:off x="2093400" y="4652925"/>
            <a:ext cx="4957200" cy="20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300">
                <a:solidFill>
                  <a:schemeClr val="lt2"/>
                </a:solidFill>
                <a:latin typeface="Source Sans Pro"/>
                <a:ea typeface="Source Sans Pro"/>
                <a:cs typeface="Source Sans Pro"/>
                <a:sym typeface="Source Sans Pro"/>
              </a:rPr>
              <a:t>[*]https://www.ourtutorials.in/iot/iot_levels.php</a:t>
            </a:r>
            <a:endParaRPr sz="1300">
              <a:solidFill>
                <a:schemeClr val="lt2"/>
              </a:solidFill>
              <a:latin typeface="Source Sans Pro"/>
              <a:ea typeface="Source Sans Pro"/>
              <a:cs typeface="Source Sans Pro"/>
              <a:sym typeface="Source Sans Pro"/>
            </a:endParaRPr>
          </a:p>
        </p:txBody>
      </p:sp>
      <p:pic>
        <p:nvPicPr>
          <p:cNvPr id="248" name="Google Shape;248;p40"/>
          <p:cNvPicPr preferRelativeResize="0"/>
          <p:nvPr/>
        </p:nvPicPr>
        <p:blipFill>
          <a:blip r:embed="rId3">
            <a:alphaModFix/>
          </a:blip>
          <a:stretch>
            <a:fillRect/>
          </a:stretch>
        </p:blipFill>
        <p:spPr>
          <a:xfrm>
            <a:off x="1678250" y="1299125"/>
            <a:ext cx="6547594" cy="3416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254" name="Google Shape;254;p41"/>
          <p:cNvSpPr txBox="1">
            <a:spLocks noGrp="1"/>
          </p:cNvSpPr>
          <p:nvPr>
            <p:ph type="body" idx="1"/>
          </p:nvPr>
        </p:nvSpPr>
        <p:spPr>
          <a:xfrm>
            <a:off x="311700" y="1152475"/>
            <a:ext cx="8520600" cy="3666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sz="2800" u="sng">
              <a:solidFill>
                <a:schemeClr val="dk2"/>
              </a:solidFill>
            </a:endParaRPr>
          </a:p>
        </p:txBody>
      </p:sp>
      <p:pic>
        <p:nvPicPr>
          <p:cNvPr id="255" name="Google Shape;255;p41"/>
          <p:cNvPicPr preferRelativeResize="0"/>
          <p:nvPr/>
        </p:nvPicPr>
        <p:blipFill>
          <a:blip r:embed="rId3">
            <a:alphaModFix/>
          </a:blip>
          <a:stretch>
            <a:fillRect/>
          </a:stretch>
        </p:blipFill>
        <p:spPr>
          <a:xfrm>
            <a:off x="703250" y="1152476"/>
            <a:ext cx="7556700" cy="3778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261" name="Google Shape;261;p42"/>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Clr>
                <a:schemeClr val="dk2"/>
              </a:buClr>
              <a:buSzPts val="1100"/>
              <a:buFont typeface="Arial"/>
              <a:buNone/>
            </a:pPr>
            <a:r>
              <a:rPr lang="en-CA" sz="2400" b="1" u="sng">
                <a:solidFill>
                  <a:schemeClr val="dk2"/>
                </a:solidFill>
              </a:rPr>
              <a:t>Smart Home</a:t>
            </a:r>
            <a:endParaRPr sz="2400" b="1" u="sng">
              <a:solidFill>
                <a:schemeClr val="dk2"/>
              </a:solidFill>
            </a:endParaRPr>
          </a:p>
          <a:p>
            <a:pPr marL="12700" lvl="0" indent="0" algn="l" rtl="0">
              <a:lnSpc>
                <a:spcPct val="90000"/>
              </a:lnSpc>
              <a:spcBef>
                <a:spcPts val="500"/>
              </a:spcBef>
              <a:spcAft>
                <a:spcPts val="0"/>
              </a:spcAft>
              <a:buClr>
                <a:schemeClr val="dk2"/>
              </a:buClr>
              <a:buSzPts val="1100"/>
              <a:buFont typeface="Arial"/>
              <a:buNone/>
            </a:pPr>
            <a:r>
              <a:rPr lang="en-CA" sz="2000">
                <a:solidFill>
                  <a:schemeClr val="dk2"/>
                </a:solidFill>
              </a:rPr>
              <a:t>•</a:t>
            </a:r>
            <a:r>
              <a:rPr lang="en-CA" sz="2000" b="1">
                <a:solidFill>
                  <a:schemeClr val="dk2"/>
                </a:solidFill>
              </a:rPr>
              <a:t>Smart Lighting </a:t>
            </a:r>
            <a:r>
              <a:rPr lang="en-CA" sz="2000">
                <a:solidFill>
                  <a:schemeClr val="dk2"/>
                </a:solidFill>
              </a:rPr>
              <a:t>(chiếu sáng thông minh)</a:t>
            </a:r>
            <a:endParaRPr sz="2000">
              <a:solidFill>
                <a:schemeClr val="dk2"/>
              </a:solidFill>
            </a:endParaRPr>
          </a:p>
          <a:p>
            <a:pPr marL="12700" lvl="0" indent="0" algn="l" rtl="0">
              <a:lnSpc>
                <a:spcPct val="90000"/>
              </a:lnSpc>
              <a:spcBef>
                <a:spcPts val="500"/>
              </a:spcBef>
              <a:spcAft>
                <a:spcPts val="0"/>
              </a:spcAft>
              <a:buClr>
                <a:schemeClr val="dk2"/>
              </a:buClr>
              <a:buSzPts val="1100"/>
              <a:buFont typeface="Arial"/>
              <a:buNone/>
            </a:pPr>
            <a:r>
              <a:rPr lang="en-CA" sz="1600">
                <a:solidFill>
                  <a:schemeClr val="dk2"/>
                </a:solidFill>
              </a:rPr>
              <a:t>•LED light + IP enabled light =&gt; đèn thông minh</a:t>
            </a:r>
            <a:endParaRPr sz="1600">
              <a:solidFill>
                <a:schemeClr val="dk2"/>
              </a:solidFill>
            </a:endParaRPr>
          </a:p>
          <a:p>
            <a:pPr marL="12700" lvl="0" indent="0" algn="l" rtl="0">
              <a:lnSpc>
                <a:spcPct val="90000"/>
              </a:lnSpc>
              <a:spcBef>
                <a:spcPts val="500"/>
              </a:spcBef>
              <a:spcAft>
                <a:spcPts val="0"/>
              </a:spcAft>
              <a:buNone/>
            </a:pPr>
            <a:r>
              <a:rPr lang="en-CA" sz="1600">
                <a:solidFill>
                  <a:schemeClr val="dk2"/>
                </a:solidFill>
              </a:rPr>
              <a:t>•Tiết kiệm năng lượng, điều khiển từ xa qua IP, cải tiến chức năng,…</a:t>
            </a:r>
            <a:endParaRPr sz="2800" u="sng">
              <a:solidFill>
                <a:schemeClr val="dk2"/>
              </a:solidFill>
            </a:endParaRPr>
          </a:p>
        </p:txBody>
      </p:sp>
      <p:pic>
        <p:nvPicPr>
          <p:cNvPr id="262" name="Google Shape;262;p42"/>
          <p:cNvPicPr preferRelativeResize="0"/>
          <p:nvPr/>
        </p:nvPicPr>
        <p:blipFill>
          <a:blip r:embed="rId3">
            <a:alphaModFix/>
          </a:blip>
          <a:stretch>
            <a:fillRect/>
          </a:stretch>
        </p:blipFill>
        <p:spPr>
          <a:xfrm>
            <a:off x="4681100" y="1068425"/>
            <a:ext cx="4151209" cy="3770274"/>
          </a:xfrm>
          <a:prstGeom prst="rect">
            <a:avLst/>
          </a:prstGeom>
          <a:noFill/>
          <a:ln>
            <a:noFill/>
          </a:ln>
        </p:spPr>
      </p:pic>
      <p:pic>
        <p:nvPicPr>
          <p:cNvPr id="263" name="Google Shape;263;p42"/>
          <p:cNvPicPr preferRelativeResize="0"/>
          <p:nvPr/>
        </p:nvPicPr>
        <p:blipFill>
          <a:blip r:embed="rId4">
            <a:alphaModFix/>
          </a:blip>
          <a:stretch>
            <a:fillRect/>
          </a:stretch>
        </p:blipFill>
        <p:spPr>
          <a:xfrm>
            <a:off x="749925" y="3412225"/>
            <a:ext cx="3006950" cy="16129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269" name="Google Shape;269;p43"/>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r>
              <a:rPr lang="en-CA" sz="2400" b="1" u="sng">
                <a:solidFill>
                  <a:schemeClr val="dk2"/>
                </a:solidFill>
              </a:rPr>
              <a:t>Smart Home</a:t>
            </a:r>
            <a:endParaRPr sz="2400" b="1" u="sng">
              <a:solidFill>
                <a:schemeClr val="dk2"/>
              </a:solidFill>
            </a:endParaRPr>
          </a:p>
          <a:p>
            <a:pPr marL="12700" lvl="0" indent="0" algn="l" rtl="0">
              <a:lnSpc>
                <a:spcPct val="90000"/>
              </a:lnSpc>
              <a:spcBef>
                <a:spcPts val="500"/>
              </a:spcBef>
              <a:spcAft>
                <a:spcPts val="0"/>
              </a:spcAft>
              <a:buNone/>
            </a:pPr>
            <a:r>
              <a:rPr lang="en-CA" sz="2000">
                <a:solidFill>
                  <a:schemeClr val="dk2"/>
                </a:solidFill>
              </a:rPr>
              <a:t>•</a:t>
            </a:r>
            <a:r>
              <a:rPr lang="en-CA" sz="2000" b="1">
                <a:solidFill>
                  <a:schemeClr val="dk2"/>
                </a:solidFill>
              </a:rPr>
              <a:t>Smart Appliance </a:t>
            </a:r>
            <a:r>
              <a:rPr lang="en-CA" sz="2000">
                <a:solidFill>
                  <a:schemeClr val="dk2"/>
                </a:solidFill>
              </a:rPr>
              <a:t>(Thiết bị thông minh)</a:t>
            </a:r>
            <a:endParaRPr sz="2000">
              <a:solidFill>
                <a:schemeClr val="dk2"/>
              </a:solidFill>
            </a:endParaRPr>
          </a:p>
          <a:p>
            <a:pPr marL="12700" lvl="0" indent="0" algn="l" rtl="0">
              <a:lnSpc>
                <a:spcPct val="90000"/>
              </a:lnSpc>
              <a:spcBef>
                <a:spcPts val="500"/>
              </a:spcBef>
              <a:spcAft>
                <a:spcPts val="0"/>
              </a:spcAft>
              <a:buNone/>
            </a:pPr>
            <a:r>
              <a:rPr lang="en-CA" sz="1600">
                <a:solidFill>
                  <a:schemeClr val="dk2"/>
                </a:solidFill>
              </a:rPr>
              <a:t>•TV, tủ lạnh, điều hòa, máy giặt, thiết bị âm thanh, camera giám sát, lò vi sóng,…</a:t>
            </a:r>
            <a:endParaRPr sz="1600">
              <a:solidFill>
                <a:schemeClr val="dk2"/>
              </a:solidFill>
            </a:endParaRPr>
          </a:p>
          <a:p>
            <a:pPr marL="12700" lvl="0" indent="0" algn="l" rtl="0">
              <a:lnSpc>
                <a:spcPct val="90000"/>
              </a:lnSpc>
              <a:spcBef>
                <a:spcPts val="500"/>
              </a:spcBef>
              <a:spcAft>
                <a:spcPts val="0"/>
              </a:spcAft>
              <a:buNone/>
            </a:pPr>
            <a:endParaRPr sz="2400" b="1" u="sng">
              <a:solidFill>
                <a:schemeClr val="dk2"/>
              </a:solidFill>
            </a:endParaRPr>
          </a:p>
        </p:txBody>
      </p:sp>
      <p:pic>
        <p:nvPicPr>
          <p:cNvPr id="270" name="Google Shape;270;p43"/>
          <p:cNvPicPr preferRelativeResize="0"/>
          <p:nvPr/>
        </p:nvPicPr>
        <p:blipFill>
          <a:blip r:embed="rId3">
            <a:alphaModFix/>
          </a:blip>
          <a:stretch>
            <a:fillRect/>
          </a:stretch>
        </p:blipFill>
        <p:spPr>
          <a:xfrm>
            <a:off x="4489500" y="1220825"/>
            <a:ext cx="3868876" cy="37702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276" name="Google Shape;276;p44"/>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r>
              <a:rPr lang="en-CA" sz="2400" b="1" u="sng">
                <a:solidFill>
                  <a:schemeClr val="dk2"/>
                </a:solidFill>
              </a:rPr>
              <a:t>Smart Home</a:t>
            </a:r>
            <a:endParaRPr sz="2400" b="1" u="sng">
              <a:solidFill>
                <a:schemeClr val="dk2"/>
              </a:solidFill>
            </a:endParaRPr>
          </a:p>
          <a:p>
            <a:pPr marL="12700" lvl="0" indent="0" algn="l" rtl="0">
              <a:lnSpc>
                <a:spcPct val="90000"/>
              </a:lnSpc>
              <a:spcBef>
                <a:spcPts val="500"/>
              </a:spcBef>
              <a:spcAft>
                <a:spcPts val="0"/>
              </a:spcAft>
              <a:buNone/>
            </a:pPr>
            <a:r>
              <a:rPr lang="en-CA" sz="2000">
                <a:solidFill>
                  <a:schemeClr val="dk2"/>
                </a:solidFill>
              </a:rPr>
              <a:t>•</a:t>
            </a:r>
            <a:r>
              <a:rPr lang="en-CA" sz="2000" b="1">
                <a:solidFill>
                  <a:schemeClr val="dk2"/>
                </a:solidFill>
              </a:rPr>
              <a:t>Intrusion detection </a:t>
            </a:r>
            <a:r>
              <a:rPr lang="en-CA" sz="2000">
                <a:solidFill>
                  <a:schemeClr val="dk2"/>
                </a:solidFill>
              </a:rPr>
              <a:t>(Phát hiện xâm nhập)</a:t>
            </a:r>
            <a:endParaRPr sz="2000">
              <a:solidFill>
                <a:schemeClr val="dk2"/>
              </a:solidFill>
            </a:endParaRPr>
          </a:p>
          <a:p>
            <a:pPr marL="12700" lvl="0" indent="0" algn="l" rtl="0">
              <a:lnSpc>
                <a:spcPct val="90000"/>
              </a:lnSpc>
              <a:spcBef>
                <a:spcPts val="500"/>
              </a:spcBef>
              <a:spcAft>
                <a:spcPts val="0"/>
              </a:spcAft>
              <a:buNone/>
            </a:pPr>
            <a:r>
              <a:rPr lang="en-CA" sz="1600">
                <a:solidFill>
                  <a:schemeClr val="dk2"/>
                </a:solidFill>
              </a:rPr>
              <a:t>•Sử dụng cảm biến PIR, siêu âm, camera, hồng ngoại,.. laser.., cảm biến chuyển động,…vv</a:t>
            </a:r>
            <a:endParaRPr sz="1600">
              <a:solidFill>
                <a:schemeClr val="dk2"/>
              </a:solidFill>
            </a:endParaRPr>
          </a:p>
          <a:p>
            <a:pPr marL="12700" lvl="0" indent="0" algn="l" rtl="0">
              <a:lnSpc>
                <a:spcPct val="90000"/>
              </a:lnSpc>
              <a:spcBef>
                <a:spcPts val="500"/>
              </a:spcBef>
              <a:spcAft>
                <a:spcPts val="0"/>
              </a:spcAft>
              <a:buNone/>
            </a:pPr>
            <a:r>
              <a:rPr lang="en-CA" sz="1600">
                <a:solidFill>
                  <a:schemeClr val="dk2"/>
                </a:solidFill>
              </a:rPr>
              <a:t>•Cảnh báo bằng âm thanh, capture hình ảnh, mail, message,…cuộc gọi thoại, ..vv</a:t>
            </a:r>
            <a:endParaRPr sz="1600">
              <a:solidFill>
                <a:schemeClr val="dk2"/>
              </a:solidFill>
            </a:endParaRPr>
          </a:p>
          <a:p>
            <a:pPr marL="0" lvl="0" indent="0" algn="l" rtl="0">
              <a:lnSpc>
                <a:spcPct val="90000"/>
              </a:lnSpc>
              <a:spcBef>
                <a:spcPts val="500"/>
              </a:spcBef>
              <a:spcAft>
                <a:spcPts val="0"/>
              </a:spcAft>
              <a:buNone/>
            </a:pPr>
            <a:endParaRPr sz="2400" b="1">
              <a:solidFill>
                <a:schemeClr val="dk2"/>
              </a:solidFill>
            </a:endParaRPr>
          </a:p>
        </p:txBody>
      </p:sp>
      <p:pic>
        <p:nvPicPr>
          <p:cNvPr id="277" name="Google Shape;277;p44"/>
          <p:cNvPicPr preferRelativeResize="0"/>
          <p:nvPr/>
        </p:nvPicPr>
        <p:blipFill>
          <a:blip r:embed="rId3">
            <a:alphaModFix/>
          </a:blip>
          <a:stretch>
            <a:fillRect/>
          </a:stretch>
        </p:blipFill>
        <p:spPr>
          <a:xfrm>
            <a:off x="4489500" y="1220825"/>
            <a:ext cx="4502099" cy="294387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283" name="Google Shape;283;p45"/>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r>
              <a:rPr lang="en-CA" sz="2400" b="1" u="sng">
                <a:solidFill>
                  <a:schemeClr val="dk2"/>
                </a:solidFill>
              </a:rPr>
              <a:t>Smart Cities</a:t>
            </a:r>
            <a:endParaRPr sz="2400" b="1" u="sng">
              <a:solidFill>
                <a:schemeClr val="dk2"/>
              </a:solidFill>
            </a:endParaRPr>
          </a:p>
          <a:p>
            <a:pPr marL="12700" lvl="0" indent="0" algn="l" rtl="0">
              <a:lnSpc>
                <a:spcPct val="90000"/>
              </a:lnSpc>
              <a:spcBef>
                <a:spcPts val="500"/>
              </a:spcBef>
              <a:spcAft>
                <a:spcPts val="0"/>
              </a:spcAft>
              <a:buNone/>
            </a:pPr>
            <a:r>
              <a:rPr lang="en-CA" sz="2000">
                <a:solidFill>
                  <a:schemeClr val="dk2"/>
                </a:solidFill>
              </a:rPr>
              <a:t>•</a:t>
            </a:r>
            <a:r>
              <a:rPr lang="en-CA" sz="2000" b="1">
                <a:solidFill>
                  <a:schemeClr val="dk2"/>
                </a:solidFill>
              </a:rPr>
              <a:t>Smart parking </a:t>
            </a:r>
            <a:r>
              <a:rPr lang="en-CA" sz="2000">
                <a:solidFill>
                  <a:schemeClr val="dk2"/>
                </a:solidFill>
              </a:rPr>
              <a:t>(đỗ xe thông minh)</a:t>
            </a:r>
            <a:endParaRPr sz="2000">
              <a:solidFill>
                <a:schemeClr val="dk2"/>
              </a:solidFill>
            </a:endParaRPr>
          </a:p>
          <a:p>
            <a:pPr marL="12700" lvl="0" indent="444500" algn="l" rtl="0">
              <a:lnSpc>
                <a:spcPct val="90000"/>
              </a:lnSpc>
              <a:spcBef>
                <a:spcPts val="500"/>
              </a:spcBef>
              <a:spcAft>
                <a:spcPts val="0"/>
              </a:spcAft>
              <a:buNone/>
            </a:pPr>
            <a:r>
              <a:rPr lang="en-CA" sz="1600">
                <a:solidFill>
                  <a:schemeClr val="dk2"/>
                </a:solidFill>
              </a:rPr>
              <a:t>• Phát hiện chỗ đỗ xe còn trống trong thành phố và gửi thông tin lên internet cho người dùng.</a:t>
            </a:r>
            <a:endParaRPr sz="1600">
              <a:solidFill>
                <a:schemeClr val="dk2"/>
              </a:solidFill>
            </a:endParaRPr>
          </a:p>
          <a:p>
            <a:pPr marL="12700" lvl="0" indent="444500" algn="l" rtl="0">
              <a:lnSpc>
                <a:spcPct val="90000"/>
              </a:lnSpc>
              <a:spcBef>
                <a:spcPts val="500"/>
              </a:spcBef>
              <a:spcAft>
                <a:spcPts val="0"/>
              </a:spcAft>
              <a:buNone/>
            </a:pPr>
            <a:r>
              <a:rPr lang="en-CA" sz="1600">
                <a:solidFill>
                  <a:schemeClr val="dk2"/>
                </a:solidFill>
              </a:rPr>
              <a:t>• Tiết kiệm thời gian, giảm ùn tắc, giảm chi phí xây dựng cơ sở hạ tầng giao thông.</a:t>
            </a:r>
            <a:endParaRPr sz="1600">
              <a:solidFill>
                <a:schemeClr val="dk2"/>
              </a:solidFill>
            </a:endParaRPr>
          </a:p>
          <a:p>
            <a:pPr marL="12700" lvl="0" indent="0" algn="l" rtl="0">
              <a:lnSpc>
                <a:spcPct val="90000"/>
              </a:lnSpc>
              <a:spcBef>
                <a:spcPts val="500"/>
              </a:spcBef>
              <a:spcAft>
                <a:spcPts val="0"/>
              </a:spcAft>
              <a:buNone/>
            </a:pPr>
            <a:endParaRPr sz="2400" b="1">
              <a:solidFill>
                <a:schemeClr val="dk2"/>
              </a:solidFill>
            </a:endParaRPr>
          </a:p>
        </p:txBody>
      </p:sp>
      <p:pic>
        <p:nvPicPr>
          <p:cNvPr id="284" name="Google Shape;284;p45"/>
          <p:cNvPicPr preferRelativeResize="0"/>
          <p:nvPr/>
        </p:nvPicPr>
        <p:blipFill>
          <a:blip r:embed="rId3">
            <a:alphaModFix/>
          </a:blip>
          <a:stretch>
            <a:fillRect/>
          </a:stretch>
        </p:blipFill>
        <p:spPr>
          <a:xfrm>
            <a:off x="4489500" y="1220825"/>
            <a:ext cx="4502098" cy="36077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290" name="Google Shape;290;p46"/>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r>
              <a:rPr lang="en-CA" sz="2400" b="1" u="sng" dirty="0">
                <a:solidFill>
                  <a:schemeClr val="dk2"/>
                </a:solidFill>
              </a:rPr>
              <a:t>Smart Cities</a:t>
            </a:r>
            <a:endParaRPr sz="2400" b="1" u="sng" dirty="0">
              <a:solidFill>
                <a:schemeClr val="dk2"/>
              </a:solidFill>
            </a:endParaRPr>
          </a:p>
          <a:p>
            <a:pPr marL="12700" lvl="0" indent="0" algn="l" rtl="0">
              <a:lnSpc>
                <a:spcPct val="90000"/>
              </a:lnSpc>
              <a:spcBef>
                <a:spcPts val="500"/>
              </a:spcBef>
              <a:spcAft>
                <a:spcPts val="0"/>
              </a:spcAft>
              <a:buNone/>
            </a:pPr>
            <a:r>
              <a:rPr lang="en-CA" sz="2000" dirty="0">
                <a:solidFill>
                  <a:schemeClr val="dk2"/>
                </a:solidFill>
              </a:rPr>
              <a:t>•</a:t>
            </a:r>
            <a:r>
              <a:rPr lang="en-CA" sz="2000" b="1" dirty="0">
                <a:solidFill>
                  <a:schemeClr val="dk2"/>
                </a:solidFill>
              </a:rPr>
              <a:t>Smart Lighting </a:t>
            </a:r>
            <a:r>
              <a:rPr lang="en-CA" sz="2000" dirty="0">
                <a:solidFill>
                  <a:schemeClr val="dk2"/>
                </a:solidFill>
              </a:rPr>
              <a:t>(</a:t>
            </a:r>
            <a:r>
              <a:rPr lang="en-CA" sz="2000" dirty="0" err="1">
                <a:solidFill>
                  <a:schemeClr val="dk2"/>
                </a:solidFill>
              </a:rPr>
              <a:t>chiếu</a:t>
            </a:r>
            <a:r>
              <a:rPr lang="en-CA" sz="2000" dirty="0">
                <a:solidFill>
                  <a:schemeClr val="dk2"/>
                </a:solidFill>
              </a:rPr>
              <a:t> </a:t>
            </a:r>
            <a:r>
              <a:rPr lang="en-CA" sz="2000" dirty="0" err="1">
                <a:solidFill>
                  <a:schemeClr val="dk2"/>
                </a:solidFill>
              </a:rPr>
              <a:t>sáng</a:t>
            </a:r>
            <a:r>
              <a:rPr lang="en-CA" sz="2000" dirty="0">
                <a:solidFill>
                  <a:schemeClr val="dk2"/>
                </a:solidFill>
              </a:rPr>
              <a:t> </a:t>
            </a:r>
            <a:r>
              <a:rPr lang="en-CA" sz="2000" dirty="0" err="1">
                <a:solidFill>
                  <a:schemeClr val="dk2"/>
                </a:solidFill>
              </a:rPr>
              <a:t>thông</a:t>
            </a:r>
            <a:r>
              <a:rPr lang="en-CA" sz="2000" dirty="0">
                <a:solidFill>
                  <a:schemeClr val="dk2"/>
                </a:solidFill>
              </a:rPr>
              <a:t> </a:t>
            </a:r>
            <a:r>
              <a:rPr lang="en-CA" sz="2000" dirty="0" err="1">
                <a:solidFill>
                  <a:schemeClr val="dk2"/>
                </a:solidFill>
              </a:rPr>
              <a:t>minh</a:t>
            </a:r>
            <a:r>
              <a:rPr lang="en-CA" sz="2000" dirty="0">
                <a:solidFill>
                  <a:schemeClr val="dk2"/>
                </a:solidFill>
              </a:rPr>
              <a:t>)</a:t>
            </a:r>
            <a:endParaRPr sz="2000" dirty="0">
              <a:solidFill>
                <a:schemeClr val="dk2"/>
              </a:solidFill>
            </a:endParaRPr>
          </a:p>
        </p:txBody>
      </p:sp>
      <p:pic>
        <p:nvPicPr>
          <p:cNvPr id="291" name="Google Shape;291;p46"/>
          <p:cNvPicPr preferRelativeResize="0"/>
          <p:nvPr/>
        </p:nvPicPr>
        <p:blipFill>
          <a:blip r:embed="rId3">
            <a:alphaModFix/>
          </a:blip>
          <a:stretch>
            <a:fillRect/>
          </a:stretch>
        </p:blipFill>
        <p:spPr>
          <a:xfrm>
            <a:off x="5324775" y="1068425"/>
            <a:ext cx="2991836" cy="37702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297" name="Google Shape;297;p47"/>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r>
              <a:rPr lang="en-CA" sz="2400" b="1" u="sng" dirty="0">
                <a:solidFill>
                  <a:schemeClr val="dk2"/>
                </a:solidFill>
              </a:rPr>
              <a:t>Smart Cities</a:t>
            </a:r>
            <a:endParaRPr sz="2400" b="1" u="sng" dirty="0">
              <a:solidFill>
                <a:schemeClr val="dk2"/>
              </a:solidFill>
            </a:endParaRPr>
          </a:p>
          <a:p>
            <a:pPr marL="12700" lvl="0" indent="0" algn="l" rtl="0">
              <a:lnSpc>
                <a:spcPct val="90000"/>
              </a:lnSpc>
              <a:spcBef>
                <a:spcPts val="500"/>
              </a:spcBef>
              <a:spcAft>
                <a:spcPts val="0"/>
              </a:spcAft>
              <a:buNone/>
            </a:pPr>
            <a:r>
              <a:rPr lang="en-CA" sz="2000" dirty="0">
                <a:solidFill>
                  <a:schemeClr val="dk2"/>
                </a:solidFill>
              </a:rPr>
              <a:t>•</a:t>
            </a:r>
            <a:r>
              <a:rPr lang="en-CA" sz="2000" b="1" dirty="0">
                <a:solidFill>
                  <a:schemeClr val="dk2"/>
                </a:solidFill>
              </a:rPr>
              <a:t>Smart Road</a:t>
            </a:r>
            <a:r>
              <a:rPr lang="en-CA" sz="2000" dirty="0">
                <a:solidFill>
                  <a:schemeClr val="dk2"/>
                </a:solidFill>
              </a:rPr>
              <a:t> (</a:t>
            </a:r>
            <a:r>
              <a:rPr lang="en-CA" sz="2000" dirty="0" err="1">
                <a:solidFill>
                  <a:schemeClr val="dk2"/>
                </a:solidFill>
              </a:rPr>
              <a:t>giao</a:t>
            </a:r>
            <a:r>
              <a:rPr lang="en-CA" sz="2000" dirty="0">
                <a:solidFill>
                  <a:schemeClr val="dk2"/>
                </a:solidFill>
              </a:rPr>
              <a:t> </a:t>
            </a:r>
            <a:r>
              <a:rPr lang="en-CA" sz="2000" dirty="0" err="1">
                <a:solidFill>
                  <a:schemeClr val="dk2"/>
                </a:solidFill>
              </a:rPr>
              <a:t>thông</a:t>
            </a:r>
            <a:r>
              <a:rPr lang="en-CA" sz="2000" dirty="0">
                <a:solidFill>
                  <a:schemeClr val="dk2"/>
                </a:solidFill>
              </a:rPr>
              <a:t> </a:t>
            </a:r>
            <a:r>
              <a:rPr lang="en-CA" sz="2000" dirty="0" err="1">
                <a:solidFill>
                  <a:schemeClr val="dk2"/>
                </a:solidFill>
              </a:rPr>
              <a:t>thông</a:t>
            </a:r>
            <a:r>
              <a:rPr lang="en-CA" sz="2000" dirty="0">
                <a:solidFill>
                  <a:schemeClr val="dk2"/>
                </a:solidFill>
              </a:rPr>
              <a:t> </a:t>
            </a:r>
            <a:r>
              <a:rPr lang="en-CA" sz="2000" dirty="0" err="1">
                <a:solidFill>
                  <a:schemeClr val="dk2"/>
                </a:solidFill>
              </a:rPr>
              <a:t>minh</a:t>
            </a:r>
            <a:r>
              <a:rPr lang="en-CA" sz="2000" dirty="0">
                <a:solidFill>
                  <a:schemeClr val="dk2"/>
                </a:solidFill>
              </a:rPr>
              <a:t>)</a:t>
            </a:r>
            <a:endParaRPr sz="2000" dirty="0">
              <a:solidFill>
                <a:schemeClr val="dk2"/>
              </a:solidFill>
            </a:endParaRPr>
          </a:p>
          <a:p>
            <a:pPr marL="12700" lvl="0" indent="0" algn="l" rtl="0">
              <a:lnSpc>
                <a:spcPct val="90000"/>
              </a:lnSpc>
              <a:spcBef>
                <a:spcPts val="500"/>
              </a:spcBef>
              <a:spcAft>
                <a:spcPts val="0"/>
              </a:spcAft>
              <a:buNone/>
            </a:pPr>
            <a:r>
              <a:rPr lang="en-CA" dirty="0">
                <a:solidFill>
                  <a:schemeClr val="dk2"/>
                </a:solidFill>
                <a:latin typeface="Arial"/>
                <a:ea typeface="Arial"/>
                <a:cs typeface="Arial"/>
                <a:sym typeface="Arial"/>
              </a:rPr>
              <a:t>•</a:t>
            </a:r>
            <a:r>
              <a:rPr lang="en-CA" b="1" dirty="0">
                <a:solidFill>
                  <a:schemeClr val="dk2"/>
                </a:solidFill>
                <a:latin typeface="Arial"/>
                <a:ea typeface="Arial"/>
                <a:cs typeface="Arial"/>
                <a:sym typeface="Arial"/>
              </a:rPr>
              <a:t>Structural Health Monitoring </a:t>
            </a:r>
            <a:r>
              <a:rPr lang="en-CA" dirty="0">
                <a:solidFill>
                  <a:schemeClr val="dk2"/>
                </a:solidFill>
                <a:latin typeface="Arial"/>
                <a:ea typeface="Arial"/>
                <a:cs typeface="Arial"/>
                <a:sym typeface="Arial"/>
              </a:rPr>
              <a:t>(</a:t>
            </a:r>
            <a:r>
              <a:rPr lang="en-CA" dirty="0" err="1">
                <a:solidFill>
                  <a:schemeClr val="dk2"/>
                </a:solidFill>
                <a:latin typeface="Arial"/>
                <a:ea typeface="Arial"/>
                <a:cs typeface="Arial"/>
                <a:sym typeface="Arial"/>
              </a:rPr>
              <a:t>giám</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sát</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độ</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bền</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cấu</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trúc</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xây</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dựng</a:t>
            </a:r>
            <a:r>
              <a:rPr lang="en-CA" dirty="0">
                <a:solidFill>
                  <a:schemeClr val="dk2"/>
                </a:solidFill>
                <a:latin typeface="Arial"/>
                <a:ea typeface="Arial"/>
                <a:cs typeface="Arial"/>
                <a:sym typeface="Arial"/>
              </a:rPr>
              <a:t>)</a:t>
            </a:r>
            <a:endParaRPr dirty="0">
              <a:solidFill>
                <a:schemeClr val="dk2"/>
              </a:solidFill>
              <a:latin typeface="Arial"/>
              <a:ea typeface="Arial"/>
              <a:cs typeface="Arial"/>
              <a:sym typeface="Arial"/>
            </a:endParaRPr>
          </a:p>
          <a:p>
            <a:pPr marL="12700" lvl="0" indent="0" algn="l" rtl="0">
              <a:lnSpc>
                <a:spcPct val="90000"/>
              </a:lnSpc>
              <a:spcBef>
                <a:spcPts val="500"/>
              </a:spcBef>
              <a:spcAft>
                <a:spcPts val="0"/>
              </a:spcAft>
              <a:buNone/>
            </a:pPr>
            <a:r>
              <a:rPr lang="en-CA" dirty="0">
                <a:solidFill>
                  <a:schemeClr val="dk2"/>
                </a:solidFill>
                <a:latin typeface="Arial"/>
                <a:ea typeface="Arial"/>
                <a:cs typeface="Arial"/>
                <a:sym typeface="Arial"/>
              </a:rPr>
              <a:t>•</a:t>
            </a:r>
            <a:r>
              <a:rPr lang="en-CA" b="1" dirty="0">
                <a:solidFill>
                  <a:schemeClr val="dk2"/>
                </a:solidFill>
                <a:latin typeface="Arial"/>
                <a:ea typeface="Arial"/>
                <a:cs typeface="Arial"/>
                <a:sym typeface="Arial"/>
              </a:rPr>
              <a:t>Surveillance</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theo</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dõi</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giám</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sát</a:t>
            </a:r>
            <a:r>
              <a:rPr lang="en-CA" dirty="0">
                <a:solidFill>
                  <a:schemeClr val="dk2"/>
                </a:solidFill>
                <a:latin typeface="Arial"/>
                <a:ea typeface="Arial"/>
                <a:cs typeface="Arial"/>
                <a:sym typeface="Arial"/>
              </a:rPr>
              <a:t>)</a:t>
            </a:r>
            <a:endParaRPr dirty="0">
              <a:solidFill>
                <a:schemeClr val="dk2"/>
              </a:solidFill>
              <a:latin typeface="Arial"/>
              <a:ea typeface="Arial"/>
              <a:cs typeface="Arial"/>
              <a:sym typeface="Arial"/>
            </a:endParaRPr>
          </a:p>
          <a:p>
            <a:pPr marL="12700" lvl="0" indent="0" algn="l" rtl="0">
              <a:lnSpc>
                <a:spcPct val="90000"/>
              </a:lnSpc>
              <a:spcBef>
                <a:spcPts val="500"/>
              </a:spcBef>
              <a:spcAft>
                <a:spcPts val="0"/>
              </a:spcAft>
              <a:buNone/>
            </a:pPr>
            <a:r>
              <a:rPr lang="en-CA" dirty="0">
                <a:solidFill>
                  <a:schemeClr val="dk2"/>
                </a:solidFill>
                <a:latin typeface="Arial"/>
                <a:ea typeface="Arial"/>
                <a:cs typeface="Arial"/>
                <a:sym typeface="Arial"/>
              </a:rPr>
              <a:t>•</a:t>
            </a:r>
            <a:r>
              <a:rPr lang="en-CA" b="1" dirty="0">
                <a:solidFill>
                  <a:schemeClr val="dk2"/>
                </a:solidFill>
                <a:latin typeface="Arial"/>
                <a:ea typeface="Arial"/>
                <a:cs typeface="Arial"/>
                <a:sym typeface="Arial"/>
              </a:rPr>
              <a:t>Emergency Response</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cảnh</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báo</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khẩn</a:t>
            </a:r>
            <a:r>
              <a:rPr lang="en-CA" dirty="0">
                <a:solidFill>
                  <a:schemeClr val="dk2"/>
                </a:solidFill>
                <a:latin typeface="Arial"/>
                <a:ea typeface="Arial"/>
                <a:cs typeface="Arial"/>
                <a:sym typeface="Arial"/>
              </a:rPr>
              <a:t> </a:t>
            </a:r>
            <a:r>
              <a:rPr lang="en-CA" dirty="0" err="1">
                <a:solidFill>
                  <a:schemeClr val="dk2"/>
                </a:solidFill>
                <a:latin typeface="Arial"/>
                <a:ea typeface="Arial"/>
                <a:cs typeface="Arial"/>
                <a:sym typeface="Arial"/>
              </a:rPr>
              <a:t>cấp</a:t>
            </a:r>
            <a:r>
              <a:rPr lang="en-CA" dirty="0">
                <a:solidFill>
                  <a:schemeClr val="dk2"/>
                </a:solidFill>
                <a:latin typeface="Arial"/>
                <a:ea typeface="Arial"/>
                <a:cs typeface="Arial"/>
                <a:sym typeface="Arial"/>
              </a:rPr>
              <a:t>)</a:t>
            </a:r>
            <a:endParaRPr dirty="0">
              <a:solidFill>
                <a:schemeClr val="dk2"/>
              </a:solidFill>
              <a:latin typeface="Arial"/>
              <a:ea typeface="Arial"/>
              <a:cs typeface="Arial"/>
              <a:sym typeface="Arial"/>
            </a:endParaRPr>
          </a:p>
          <a:p>
            <a:pPr marL="12700" lvl="0" indent="0" algn="l" rtl="0">
              <a:lnSpc>
                <a:spcPct val="90000"/>
              </a:lnSpc>
              <a:spcBef>
                <a:spcPts val="500"/>
              </a:spcBef>
              <a:spcAft>
                <a:spcPts val="0"/>
              </a:spcAft>
              <a:buNone/>
            </a:pPr>
            <a:endParaRPr sz="2000" dirty="0">
              <a:solidFill>
                <a:schemeClr val="dk2"/>
              </a:solidFill>
            </a:endParaRPr>
          </a:p>
        </p:txBody>
      </p:sp>
      <p:pic>
        <p:nvPicPr>
          <p:cNvPr id="298" name="Google Shape;298;p47"/>
          <p:cNvPicPr preferRelativeResize="0"/>
          <p:nvPr/>
        </p:nvPicPr>
        <p:blipFill>
          <a:blip r:embed="rId3">
            <a:alphaModFix/>
          </a:blip>
          <a:stretch>
            <a:fillRect/>
          </a:stretch>
        </p:blipFill>
        <p:spPr>
          <a:xfrm>
            <a:off x="4489500" y="1220825"/>
            <a:ext cx="4502101" cy="337766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304" name="Google Shape;304;p48"/>
          <p:cNvSpPr txBox="1">
            <a:spLocks noGrp="1"/>
          </p:cNvSpPr>
          <p:nvPr>
            <p:ph type="body" idx="1"/>
          </p:nvPr>
        </p:nvSpPr>
        <p:spPr>
          <a:xfrm>
            <a:off x="311700" y="1152475"/>
            <a:ext cx="8421600" cy="1963500"/>
          </a:xfrm>
          <a:prstGeom prst="rect">
            <a:avLst/>
          </a:prstGeom>
        </p:spPr>
        <p:txBody>
          <a:bodyPr spcFirstLastPara="1" wrap="square" lIns="91425" tIns="91425" rIns="91425" bIns="91425" anchor="t" anchorCtr="0">
            <a:normAutofit lnSpcReduction="20000"/>
          </a:bodyPr>
          <a:lstStyle/>
          <a:p>
            <a:pPr marL="0" lvl="0" indent="0" algn="l" rtl="0">
              <a:lnSpc>
                <a:spcPct val="90000"/>
              </a:lnSpc>
              <a:spcBef>
                <a:spcPts val="1000"/>
              </a:spcBef>
              <a:spcAft>
                <a:spcPts val="0"/>
              </a:spcAft>
              <a:buNone/>
            </a:pPr>
            <a:r>
              <a:rPr lang="en-CA" sz="2400" b="1" u="sng">
                <a:solidFill>
                  <a:schemeClr val="dk2"/>
                </a:solidFill>
              </a:rPr>
              <a:t>Environment (Môi trường)</a:t>
            </a:r>
            <a:endParaRPr sz="2400" b="1" u="sng">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Weather Monitoring </a:t>
            </a:r>
            <a:r>
              <a:rPr lang="en-CA">
                <a:solidFill>
                  <a:schemeClr val="dk2"/>
                </a:solidFill>
              </a:rPr>
              <a:t>(theo dõi thời tiết)</a:t>
            </a:r>
            <a:endParaRPr>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Air Pollution Monitoring </a:t>
            </a:r>
            <a:r>
              <a:rPr lang="en-CA">
                <a:solidFill>
                  <a:schemeClr val="dk2"/>
                </a:solidFill>
              </a:rPr>
              <a:t>(giám sát độ ô nhiễm môi trường)</a:t>
            </a:r>
            <a:endParaRPr>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Noise Pollution Monitoring </a:t>
            </a:r>
            <a:r>
              <a:rPr lang="en-CA">
                <a:solidFill>
                  <a:schemeClr val="dk2"/>
                </a:solidFill>
              </a:rPr>
              <a:t>(giám sát tiếng ồn môi trường)</a:t>
            </a:r>
            <a:endParaRPr>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Forest Fire detection</a:t>
            </a:r>
            <a:r>
              <a:rPr lang="en-CA">
                <a:solidFill>
                  <a:schemeClr val="dk2"/>
                </a:solidFill>
              </a:rPr>
              <a:t> (phát hiện cháy rừng)</a:t>
            </a:r>
            <a:endParaRPr>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River Floods Detection </a:t>
            </a:r>
            <a:r>
              <a:rPr lang="en-CA">
                <a:solidFill>
                  <a:schemeClr val="dk2"/>
                </a:solidFill>
              </a:rPr>
              <a:t>(phát hiện lũ lụt)</a:t>
            </a:r>
            <a:endParaRPr sz="2400" b="1">
              <a:solidFill>
                <a:schemeClr val="dk2"/>
              </a:solidFill>
            </a:endParaRPr>
          </a:p>
        </p:txBody>
      </p:sp>
      <p:pic>
        <p:nvPicPr>
          <p:cNvPr id="305" name="Google Shape;305;p48"/>
          <p:cNvPicPr preferRelativeResize="0"/>
          <p:nvPr/>
        </p:nvPicPr>
        <p:blipFill>
          <a:blip r:embed="rId3">
            <a:alphaModFix/>
          </a:blip>
          <a:stretch>
            <a:fillRect/>
          </a:stretch>
        </p:blipFill>
        <p:spPr>
          <a:xfrm>
            <a:off x="1453299" y="3259925"/>
            <a:ext cx="2896725" cy="1731175"/>
          </a:xfrm>
          <a:prstGeom prst="rect">
            <a:avLst/>
          </a:prstGeom>
          <a:noFill/>
          <a:ln>
            <a:noFill/>
          </a:ln>
        </p:spPr>
      </p:pic>
      <p:pic>
        <p:nvPicPr>
          <p:cNvPr id="306" name="Google Shape;306;p48"/>
          <p:cNvPicPr preferRelativeResize="0"/>
          <p:nvPr/>
        </p:nvPicPr>
        <p:blipFill>
          <a:blip r:embed="rId4">
            <a:alphaModFix/>
          </a:blip>
          <a:stretch>
            <a:fillRect/>
          </a:stretch>
        </p:blipFill>
        <p:spPr>
          <a:xfrm>
            <a:off x="5073924" y="3198800"/>
            <a:ext cx="3105475" cy="1792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312" name="Google Shape;312;p49"/>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r>
              <a:rPr lang="en-CA" sz="2400" b="1" u="sng" dirty="0">
                <a:solidFill>
                  <a:schemeClr val="dk2"/>
                </a:solidFill>
              </a:rPr>
              <a:t>Energy (</a:t>
            </a:r>
            <a:r>
              <a:rPr lang="en-CA" sz="2400" b="1" u="sng" dirty="0" err="1">
                <a:solidFill>
                  <a:schemeClr val="dk2"/>
                </a:solidFill>
              </a:rPr>
              <a:t>Năng</a:t>
            </a:r>
            <a:r>
              <a:rPr lang="en-CA" sz="2400" b="1" u="sng" dirty="0">
                <a:solidFill>
                  <a:schemeClr val="dk2"/>
                </a:solidFill>
              </a:rPr>
              <a:t> </a:t>
            </a:r>
            <a:r>
              <a:rPr lang="en-CA" sz="2400" b="1" u="sng" dirty="0" err="1">
                <a:solidFill>
                  <a:schemeClr val="dk2"/>
                </a:solidFill>
              </a:rPr>
              <a:t>lượng</a:t>
            </a:r>
            <a:r>
              <a:rPr lang="en-CA" sz="2400" b="1" u="sng" dirty="0">
                <a:solidFill>
                  <a:schemeClr val="dk2"/>
                </a:solidFill>
              </a:rPr>
              <a:t>)</a:t>
            </a:r>
            <a:endParaRPr sz="2400" b="1" u="sng" dirty="0">
              <a:solidFill>
                <a:schemeClr val="dk2"/>
              </a:solidFill>
            </a:endParaRPr>
          </a:p>
          <a:p>
            <a:pPr marL="12700" lvl="0" indent="0" algn="l" rtl="0">
              <a:lnSpc>
                <a:spcPct val="90000"/>
              </a:lnSpc>
              <a:spcBef>
                <a:spcPts val="500"/>
              </a:spcBef>
              <a:spcAft>
                <a:spcPts val="0"/>
              </a:spcAft>
              <a:buNone/>
            </a:pPr>
            <a:r>
              <a:rPr lang="en-CA" dirty="0">
                <a:solidFill>
                  <a:schemeClr val="dk2"/>
                </a:solidFill>
              </a:rPr>
              <a:t>•</a:t>
            </a:r>
            <a:r>
              <a:rPr lang="en-CA" b="1" dirty="0">
                <a:solidFill>
                  <a:schemeClr val="dk2"/>
                </a:solidFill>
              </a:rPr>
              <a:t>Smart Grid </a:t>
            </a:r>
            <a:r>
              <a:rPr lang="en-CA" dirty="0">
                <a:solidFill>
                  <a:schemeClr val="dk2"/>
                </a:solidFill>
              </a:rPr>
              <a:t>(</a:t>
            </a:r>
            <a:r>
              <a:rPr lang="en-CA" dirty="0" err="1">
                <a:solidFill>
                  <a:schemeClr val="dk2"/>
                </a:solidFill>
              </a:rPr>
              <a:t>Mạng</a:t>
            </a:r>
            <a:r>
              <a:rPr lang="en-CA" dirty="0">
                <a:solidFill>
                  <a:schemeClr val="dk2"/>
                </a:solidFill>
              </a:rPr>
              <a:t> </a:t>
            </a:r>
            <a:r>
              <a:rPr lang="en-CA" dirty="0" err="1">
                <a:solidFill>
                  <a:schemeClr val="dk2"/>
                </a:solidFill>
              </a:rPr>
              <a:t>điện</a:t>
            </a:r>
            <a:r>
              <a:rPr lang="en-CA" dirty="0">
                <a:solidFill>
                  <a:schemeClr val="dk2"/>
                </a:solidFill>
              </a:rPr>
              <a:t> </a:t>
            </a:r>
            <a:r>
              <a:rPr lang="en-CA" dirty="0" err="1">
                <a:solidFill>
                  <a:schemeClr val="dk2"/>
                </a:solidFill>
              </a:rPr>
              <a:t>thông</a:t>
            </a:r>
            <a:r>
              <a:rPr lang="en-CA" dirty="0">
                <a:solidFill>
                  <a:schemeClr val="dk2"/>
                </a:solidFill>
              </a:rPr>
              <a:t> </a:t>
            </a:r>
            <a:r>
              <a:rPr lang="en-CA" dirty="0" err="1">
                <a:solidFill>
                  <a:schemeClr val="dk2"/>
                </a:solidFill>
              </a:rPr>
              <a:t>minh</a:t>
            </a:r>
            <a:r>
              <a:rPr lang="en-CA" dirty="0">
                <a:solidFill>
                  <a:schemeClr val="dk2"/>
                </a:solidFill>
              </a:rPr>
              <a:t>) à </a:t>
            </a:r>
            <a:r>
              <a:rPr lang="en-CA" dirty="0" err="1">
                <a:solidFill>
                  <a:schemeClr val="dk2"/>
                </a:solidFill>
              </a:rPr>
              <a:t>Truyền</a:t>
            </a:r>
            <a:r>
              <a:rPr lang="en-CA" dirty="0">
                <a:solidFill>
                  <a:schemeClr val="dk2"/>
                </a:solidFill>
              </a:rPr>
              <a:t> </a:t>
            </a:r>
            <a:r>
              <a:rPr lang="en-CA" dirty="0" err="1">
                <a:solidFill>
                  <a:schemeClr val="dk2"/>
                </a:solidFill>
              </a:rPr>
              <a:t>dữ</a:t>
            </a:r>
            <a:r>
              <a:rPr lang="en-CA" dirty="0">
                <a:solidFill>
                  <a:schemeClr val="dk2"/>
                </a:solidFill>
              </a:rPr>
              <a:t> </a:t>
            </a:r>
            <a:r>
              <a:rPr lang="en-CA" dirty="0" err="1">
                <a:solidFill>
                  <a:schemeClr val="dk2"/>
                </a:solidFill>
              </a:rPr>
              <a:t>liệu</a:t>
            </a:r>
            <a:r>
              <a:rPr lang="en-CA" dirty="0">
                <a:solidFill>
                  <a:schemeClr val="dk2"/>
                </a:solidFill>
              </a:rPr>
              <a:t> </a:t>
            </a:r>
            <a:r>
              <a:rPr lang="en-CA" dirty="0" err="1">
                <a:solidFill>
                  <a:schemeClr val="dk2"/>
                </a:solidFill>
              </a:rPr>
              <a:t>trên</a:t>
            </a:r>
            <a:r>
              <a:rPr lang="en-CA" dirty="0">
                <a:solidFill>
                  <a:schemeClr val="dk2"/>
                </a:solidFill>
              </a:rPr>
              <a:t> </a:t>
            </a:r>
            <a:r>
              <a:rPr lang="en-CA" dirty="0" err="1">
                <a:solidFill>
                  <a:schemeClr val="dk2"/>
                </a:solidFill>
              </a:rPr>
              <a:t>mạng</a:t>
            </a:r>
            <a:r>
              <a:rPr lang="en-CA" dirty="0">
                <a:solidFill>
                  <a:schemeClr val="dk2"/>
                </a:solidFill>
              </a:rPr>
              <a:t> </a:t>
            </a:r>
            <a:r>
              <a:rPr lang="en-CA" dirty="0" err="1">
                <a:solidFill>
                  <a:schemeClr val="dk2"/>
                </a:solidFill>
              </a:rPr>
              <a:t>điện</a:t>
            </a:r>
            <a:r>
              <a:rPr lang="en-CA" dirty="0">
                <a:solidFill>
                  <a:schemeClr val="dk2"/>
                </a:solidFill>
              </a:rPr>
              <a:t>,…</a:t>
            </a:r>
            <a:endParaRPr dirty="0">
              <a:solidFill>
                <a:schemeClr val="dk2"/>
              </a:solidFill>
            </a:endParaRPr>
          </a:p>
          <a:p>
            <a:pPr marL="12700" lvl="0" indent="0" algn="l" rtl="0">
              <a:lnSpc>
                <a:spcPct val="90000"/>
              </a:lnSpc>
              <a:spcBef>
                <a:spcPts val="500"/>
              </a:spcBef>
              <a:spcAft>
                <a:spcPts val="0"/>
              </a:spcAft>
              <a:buNone/>
            </a:pPr>
            <a:r>
              <a:rPr lang="en-CA" dirty="0">
                <a:solidFill>
                  <a:schemeClr val="dk2"/>
                </a:solidFill>
              </a:rPr>
              <a:t>•</a:t>
            </a:r>
            <a:r>
              <a:rPr lang="en-CA" b="1" dirty="0">
                <a:solidFill>
                  <a:schemeClr val="dk2"/>
                </a:solidFill>
              </a:rPr>
              <a:t>Renewable Energy </a:t>
            </a:r>
            <a:r>
              <a:rPr lang="en-CA" dirty="0">
                <a:solidFill>
                  <a:schemeClr val="dk2"/>
                </a:solidFill>
              </a:rPr>
              <a:t>(</a:t>
            </a:r>
            <a:r>
              <a:rPr lang="en-CA" dirty="0" err="1">
                <a:solidFill>
                  <a:schemeClr val="dk2"/>
                </a:solidFill>
              </a:rPr>
              <a:t>Năng</a:t>
            </a:r>
            <a:r>
              <a:rPr lang="en-CA" dirty="0">
                <a:solidFill>
                  <a:schemeClr val="dk2"/>
                </a:solidFill>
              </a:rPr>
              <a:t> </a:t>
            </a:r>
            <a:r>
              <a:rPr lang="en-CA" dirty="0" err="1">
                <a:solidFill>
                  <a:schemeClr val="dk2"/>
                </a:solidFill>
              </a:rPr>
              <a:t>lượng</a:t>
            </a:r>
            <a:r>
              <a:rPr lang="en-CA" dirty="0">
                <a:solidFill>
                  <a:schemeClr val="dk2"/>
                </a:solidFill>
              </a:rPr>
              <a:t> </a:t>
            </a:r>
            <a:r>
              <a:rPr lang="en-CA" dirty="0" err="1">
                <a:solidFill>
                  <a:schemeClr val="dk2"/>
                </a:solidFill>
              </a:rPr>
              <a:t>tái</a:t>
            </a:r>
            <a:r>
              <a:rPr lang="en-CA" dirty="0">
                <a:solidFill>
                  <a:schemeClr val="dk2"/>
                </a:solidFill>
              </a:rPr>
              <a:t> </a:t>
            </a:r>
            <a:r>
              <a:rPr lang="en-CA" dirty="0" err="1">
                <a:solidFill>
                  <a:schemeClr val="dk2"/>
                </a:solidFill>
              </a:rPr>
              <a:t>tạo</a:t>
            </a:r>
            <a:r>
              <a:rPr lang="en-CA" dirty="0">
                <a:solidFill>
                  <a:schemeClr val="dk2"/>
                </a:solidFill>
              </a:rPr>
              <a:t>) =&gt; </a:t>
            </a:r>
            <a:r>
              <a:rPr lang="en-CA" dirty="0" err="1">
                <a:solidFill>
                  <a:schemeClr val="dk2"/>
                </a:solidFill>
              </a:rPr>
              <a:t>gió</a:t>
            </a:r>
            <a:r>
              <a:rPr lang="en-CA" dirty="0">
                <a:solidFill>
                  <a:schemeClr val="dk2"/>
                </a:solidFill>
              </a:rPr>
              <a:t>, </a:t>
            </a:r>
            <a:r>
              <a:rPr lang="en-CA" dirty="0" err="1">
                <a:solidFill>
                  <a:schemeClr val="dk2"/>
                </a:solidFill>
              </a:rPr>
              <a:t>nắng</a:t>
            </a:r>
            <a:endParaRPr dirty="0">
              <a:solidFill>
                <a:schemeClr val="dk2"/>
              </a:solidFill>
            </a:endParaRPr>
          </a:p>
          <a:p>
            <a:pPr marL="12700" lvl="0" indent="0" algn="l" rtl="0">
              <a:lnSpc>
                <a:spcPct val="90000"/>
              </a:lnSpc>
              <a:spcBef>
                <a:spcPts val="500"/>
              </a:spcBef>
              <a:spcAft>
                <a:spcPts val="0"/>
              </a:spcAft>
              <a:buNone/>
            </a:pPr>
            <a:r>
              <a:rPr lang="en-CA" dirty="0">
                <a:solidFill>
                  <a:schemeClr val="dk2"/>
                </a:solidFill>
              </a:rPr>
              <a:t>•</a:t>
            </a:r>
            <a:r>
              <a:rPr lang="en-CA" b="1" dirty="0">
                <a:solidFill>
                  <a:schemeClr val="dk2"/>
                </a:solidFill>
              </a:rPr>
              <a:t>Prognostics</a:t>
            </a:r>
            <a:r>
              <a:rPr lang="en-CA" dirty="0">
                <a:solidFill>
                  <a:schemeClr val="dk2"/>
                </a:solidFill>
              </a:rPr>
              <a:t> (</a:t>
            </a:r>
            <a:r>
              <a:rPr lang="en-CA" dirty="0" err="1">
                <a:solidFill>
                  <a:schemeClr val="dk2"/>
                </a:solidFill>
              </a:rPr>
              <a:t>dự</a:t>
            </a:r>
            <a:r>
              <a:rPr lang="en-CA" dirty="0">
                <a:solidFill>
                  <a:schemeClr val="dk2"/>
                </a:solidFill>
              </a:rPr>
              <a:t> </a:t>
            </a:r>
            <a:r>
              <a:rPr lang="en-CA" dirty="0" err="1">
                <a:solidFill>
                  <a:schemeClr val="dk2"/>
                </a:solidFill>
              </a:rPr>
              <a:t>đoán</a:t>
            </a:r>
            <a:r>
              <a:rPr lang="en-CA" dirty="0">
                <a:solidFill>
                  <a:schemeClr val="dk2"/>
                </a:solidFill>
              </a:rPr>
              <a:t> </a:t>
            </a:r>
            <a:r>
              <a:rPr lang="en-CA" dirty="0" err="1">
                <a:solidFill>
                  <a:schemeClr val="dk2"/>
                </a:solidFill>
              </a:rPr>
              <a:t>hỏng</a:t>
            </a:r>
            <a:r>
              <a:rPr lang="en-CA" dirty="0">
                <a:solidFill>
                  <a:schemeClr val="dk2"/>
                </a:solidFill>
              </a:rPr>
              <a:t> </a:t>
            </a:r>
            <a:r>
              <a:rPr lang="en-CA" dirty="0" err="1">
                <a:solidFill>
                  <a:schemeClr val="dk2"/>
                </a:solidFill>
              </a:rPr>
              <a:t>hóc</a:t>
            </a:r>
            <a:r>
              <a:rPr lang="en-CA" dirty="0">
                <a:solidFill>
                  <a:schemeClr val="dk2"/>
                </a:solidFill>
              </a:rPr>
              <a:t>) =&gt; </a:t>
            </a:r>
            <a:r>
              <a:rPr lang="en-CA" dirty="0" err="1">
                <a:solidFill>
                  <a:schemeClr val="dk2"/>
                </a:solidFill>
              </a:rPr>
              <a:t>dự</a:t>
            </a:r>
            <a:r>
              <a:rPr lang="en-CA" dirty="0">
                <a:solidFill>
                  <a:schemeClr val="dk2"/>
                </a:solidFill>
              </a:rPr>
              <a:t> </a:t>
            </a:r>
            <a:r>
              <a:rPr lang="en-CA" dirty="0" err="1">
                <a:solidFill>
                  <a:schemeClr val="dk2"/>
                </a:solidFill>
              </a:rPr>
              <a:t>đoán</a:t>
            </a:r>
            <a:r>
              <a:rPr lang="en-CA" dirty="0">
                <a:solidFill>
                  <a:schemeClr val="dk2"/>
                </a:solidFill>
              </a:rPr>
              <a:t> </a:t>
            </a:r>
            <a:r>
              <a:rPr lang="en-CA" dirty="0" err="1">
                <a:solidFill>
                  <a:schemeClr val="dk2"/>
                </a:solidFill>
              </a:rPr>
              <a:t>hỏng</a:t>
            </a:r>
            <a:r>
              <a:rPr lang="en-CA" dirty="0">
                <a:solidFill>
                  <a:schemeClr val="dk2"/>
                </a:solidFill>
              </a:rPr>
              <a:t> </a:t>
            </a:r>
            <a:r>
              <a:rPr lang="en-CA" dirty="0" err="1">
                <a:solidFill>
                  <a:schemeClr val="dk2"/>
                </a:solidFill>
              </a:rPr>
              <a:t>hóc</a:t>
            </a:r>
            <a:r>
              <a:rPr lang="en-CA" dirty="0">
                <a:solidFill>
                  <a:schemeClr val="dk2"/>
                </a:solidFill>
              </a:rPr>
              <a:t> </a:t>
            </a:r>
            <a:r>
              <a:rPr lang="en-CA" dirty="0" err="1">
                <a:solidFill>
                  <a:schemeClr val="dk2"/>
                </a:solidFill>
              </a:rPr>
              <a:t>của</a:t>
            </a:r>
            <a:r>
              <a:rPr lang="en-CA" dirty="0">
                <a:solidFill>
                  <a:schemeClr val="dk2"/>
                </a:solidFill>
              </a:rPr>
              <a:t> </a:t>
            </a:r>
            <a:r>
              <a:rPr lang="en-CA" dirty="0" err="1">
                <a:solidFill>
                  <a:schemeClr val="dk2"/>
                </a:solidFill>
              </a:rPr>
              <a:t>các</a:t>
            </a:r>
            <a:r>
              <a:rPr lang="en-CA" dirty="0">
                <a:solidFill>
                  <a:schemeClr val="dk2"/>
                </a:solidFill>
              </a:rPr>
              <a:t> </a:t>
            </a:r>
            <a:r>
              <a:rPr lang="en-CA" dirty="0" err="1">
                <a:solidFill>
                  <a:schemeClr val="dk2"/>
                </a:solidFill>
              </a:rPr>
              <a:t>thiết</a:t>
            </a:r>
            <a:r>
              <a:rPr lang="en-CA" dirty="0">
                <a:solidFill>
                  <a:schemeClr val="dk2"/>
                </a:solidFill>
              </a:rPr>
              <a:t> </a:t>
            </a:r>
            <a:r>
              <a:rPr lang="en-CA" dirty="0" err="1">
                <a:solidFill>
                  <a:schemeClr val="dk2"/>
                </a:solidFill>
              </a:rPr>
              <a:t>bị</a:t>
            </a:r>
            <a:r>
              <a:rPr lang="en-CA" dirty="0">
                <a:solidFill>
                  <a:schemeClr val="dk2"/>
                </a:solidFill>
              </a:rPr>
              <a:t> </a:t>
            </a:r>
            <a:r>
              <a:rPr lang="en-CA" dirty="0" err="1">
                <a:solidFill>
                  <a:schemeClr val="dk2"/>
                </a:solidFill>
              </a:rPr>
              <a:t>trong</a:t>
            </a:r>
            <a:r>
              <a:rPr lang="en-CA" dirty="0">
                <a:solidFill>
                  <a:schemeClr val="dk2"/>
                </a:solidFill>
              </a:rPr>
              <a:t> </a:t>
            </a:r>
            <a:r>
              <a:rPr lang="en-CA" dirty="0" err="1">
                <a:solidFill>
                  <a:schemeClr val="dk2"/>
                </a:solidFill>
              </a:rPr>
              <a:t>hệ</a:t>
            </a:r>
            <a:r>
              <a:rPr lang="en-CA" dirty="0">
                <a:solidFill>
                  <a:schemeClr val="dk2"/>
                </a:solidFill>
              </a:rPr>
              <a:t> </a:t>
            </a:r>
            <a:r>
              <a:rPr lang="en-CA" dirty="0" err="1">
                <a:solidFill>
                  <a:schemeClr val="dk2"/>
                </a:solidFill>
              </a:rPr>
              <a:t>thống</a:t>
            </a:r>
            <a:r>
              <a:rPr lang="en-CA" dirty="0">
                <a:solidFill>
                  <a:schemeClr val="dk2"/>
                </a:solidFill>
              </a:rPr>
              <a:t> </a:t>
            </a:r>
            <a:r>
              <a:rPr lang="en-CA" dirty="0" err="1">
                <a:solidFill>
                  <a:schemeClr val="dk2"/>
                </a:solidFill>
              </a:rPr>
              <a:t>máy</a:t>
            </a:r>
            <a:r>
              <a:rPr lang="en-CA" dirty="0">
                <a:solidFill>
                  <a:schemeClr val="dk2"/>
                </a:solidFill>
              </a:rPr>
              <a:t> </a:t>
            </a:r>
            <a:r>
              <a:rPr lang="en-CA" dirty="0" err="1">
                <a:solidFill>
                  <a:schemeClr val="dk2"/>
                </a:solidFill>
              </a:rPr>
              <a:t>móc</a:t>
            </a:r>
            <a:r>
              <a:rPr lang="en-CA" dirty="0">
                <a:solidFill>
                  <a:schemeClr val="dk2"/>
                </a:solidFill>
              </a:rPr>
              <a:t>.</a:t>
            </a:r>
            <a:endParaRPr dirty="0">
              <a:solidFill>
                <a:schemeClr val="dk2"/>
              </a:solidFill>
            </a:endParaRPr>
          </a:p>
          <a:p>
            <a:pPr marL="12700" lvl="0" indent="0" algn="l" rtl="0">
              <a:lnSpc>
                <a:spcPct val="90000"/>
              </a:lnSpc>
              <a:spcBef>
                <a:spcPts val="500"/>
              </a:spcBef>
              <a:spcAft>
                <a:spcPts val="0"/>
              </a:spcAft>
              <a:buNone/>
            </a:pPr>
            <a:endParaRPr sz="2400" b="1" u="sng" dirty="0">
              <a:solidFill>
                <a:schemeClr val="dk2"/>
              </a:solidFill>
            </a:endParaRPr>
          </a:p>
        </p:txBody>
      </p:sp>
      <p:pic>
        <p:nvPicPr>
          <p:cNvPr id="313" name="Google Shape;313;p49"/>
          <p:cNvPicPr preferRelativeResize="0"/>
          <p:nvPr/>
        </p:nvPicPr>
        <p:blipFill>
          <a:blip r:embed="rId3">
            <a:alphaModFix/>
          </a:blip>
          <a:stretch>
            <a:fillRect/>
          </a:stretch>
        </p:blipFill>
        <p:spPr>
          <a:xfrm>
            <a:off x="4489500" y="1220825"/>
            <a:ext cx="4502099" cy="328556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5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319" name="Google Shape;319;p50"/>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r>
              <a:rPr lang="en-CA" sz="2400" b="1" u="sng">
                <a:solidFill>
                  <a:schemeClr val="dk2"/>
                </a:solidFill>
              </a:rPr>
              <a:t>Retail (bán lẻ)</a:t>
            </a:r>
            <a:endParaRPr sz="2400" b="1" u="sng">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Inventory management </a:t>
            </a:r>
            <a:r>
              <a:rPr lang="en-CA">
                <a:solidFill>
                  <a:schemeClr val="dk2"/>
                </a:solidFill>
              </a:rPr>
              <a:t>(quản lý hàng tồn kho)</a:t>
            </a:r>
            <a:endParaRPr>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Smart Payments </a:t>
            </a:r>
            <a:r>
              <a:rPr lang="en-CA">
                <a:solidFill>
                  <a:schemeClr val="dk2"/>
                </a:solidFill>
              </a:rPr>
              <a:t>(Thanh toán thông minh)</a:t>
            </a:r>
            <a:endParaRPr>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Smart Vending Machine</a:t>
            </a:r>
            <a:r>
              <a:rPr lang="en-CA">
                <a:solidFill>
                  <a:schemeClr val="dk2"/>
                </a:solidFill>
              </a:rPr>
              <a:t> (máy bán hàng tự động thông minh).</a:t>
            </a:r>
            <a:endParaRPr>
              <a:solidFill>
                <a:schemeClr val="dk2"/>
              </a:solidFill>
            </a:endParaRPr>
          </a:p>
          <a:p>
            <a:pPr marL="12700" lvl="0" indent="0" algn="l" rtl="0">
              <a:lnSpc>
                <a:spcPct val="90000"/>
              </a:lnSpc>
              <a:spcBef>
                <a:spcPts val="500"/>
              </a:spcBef>
              <a:spcAft>
                <a:spcPts val="0"/>
              </a:spcAft>
              <a:buNone/>
            </a:pPr>
            <a:endParaRPr sz="2400" b="1" u="sng">
              <a:solidFill>
                <a:schemeClr val="dk2"/>
              </a:solidFill>
            </a:endParaRPr>
          </a:p>
        </p:txBody>
      </p:sp>
      <p:pic>
        <p:nvPicPr>
          <p:cNvPr id="320" name="Google Shape;320;p50"/>
          <p:cNvPicPr preferRelativeResize="0"/>
          <p:nvPr/>
        </p:nvPicPr>
        <p:blipFill>
          <a:blip r:embed="rId3">
            <a:alphaModFix/>
          </a:blip>
          <a:stretch>
            <a:fillRect/>
          </a:stretch>
        </p:blipFill>
        <p:spPr>
          <a:xfrm>
            <a:off x="4489500" y="1220825"/>
            <a:ext cx="4502099" cy="341013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326" name="Google Shape;326;p51"/>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r>
              <a:rPr lang="en-CA" sz="2400" b="1" u="sng">
                <a:solidFill>
                  <a:schemeClr val="dk2"/>
                </a:solidFill>
              </a:rPr>
              <a:t>Logistics (hậu cần)</a:t>
            </a:r>
            <a:endParaRPr sz="2400" b="1" u="sng">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Route generation and Scheduling </a:t>
            </a:r>
            <a:r>
              <a:rPr lang="en-CA">
                <a:solidFill>
                  <a:schemeClr val="dk2"/>
                </a:solidFill>
              </a:rPr>
              <a:t>(tạo lộ trình và lập lịch trình)</a:t>
            </a:r>
            <a:endParaRPr>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Fleed Tracking </a:t>
            </a:r>
            <a:r>
              <a:rPr lang="en-CA">
                <a:solidFill>
                  <a:schemeClr val="dk2"/>
                </a:solidFill>
              </a:rPr>
              <a:t>(Theo dõi các phương tiện vận tải)</a:t>
            </a:r>
            <a:endParaRPr>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Shipment Monitoring </a:t>
            </a:r>
            <a:r>
              <a:rPr lang="en-CA">
                <a:solidFill>
                  <a:schemeClr val="dk2"/>
                </a:solidFill>
              </a:rPr>
              <a:t>(giám sát các lô hàng)</a:t>
            </a:r>
            <a:endParaRPr>
              <a:solidFill>
                <a:schemeClr val="dk2"/>
              </a:solidFill>
            </a:endParaRPr>
          </a:p>
          <a:p>
            <a:pPr marL="12700" lvl="0" indent="0" algn="l" rtl="0">
              <a:lnSpc>
                <a:spcPct val="90000"/>
              </a:lnSpc>
              <a:spcBef>
                <a:spcPts val="500"/>
              </a:spcBef>
              <a:spcAft>
                <a:spcPts val="0"/>
              </a:spcAft>
              <a:buNone/>
            </a:pPr>
            <a:r>
              <a:rPr lang="en-CA">
                <a:solidFill>
                  <a:schemeClr val="dk2"/>
                </a:solidFill>
              </a:rPr>
              <a:t>•</a:t>
            </a:r>
            <a:r>
              <a:rPr lang="en-CA" b="1">
                <a:solidFill>
                  <a:schemeClr val="dk2"/>
                </a:solidFill>
              </a:rPr>
              <a:t>Remote Vehicle Diagnostics </a:t>
            </a:r>
            <a:r>
              <a:rPr lang="en-CA">
                <a:solidFill>
                  <a:schemeClr val="dk2"/>
                </a:solidFill>
              </a:rPr>
              <a:t>(chẩn đoán hỏng hóc xe cộ từ xa)</a:t>
            </a:r>
            <a:endParaRPr>
              <a:solidFill>
                <a:schemeClr val="dk2"/>
              </a:solidFill>
            </a:endParaRPr>
          </a:p>
          <a:p>
            <a:pPr marL="12700" lvl="0" indent="0" algn="l" rtl="0">
              <a:lnSpc>
                <a:spcPct val="90000"/>
              </a:lnSpc>
              <a:spcBef>
                <a:spcPts val="500"/>
              </a:spcBef>
              <a:spcAft>
                <a:spcPts val="0"/>
              </a:spcAft>
              <a:buNone/>
            </a:pPr>
            <a:endParaRPr sz="2400" b="1" u="sng">
              <a:solidFill>
                <a:schemeClr val="dk2"/>
              </a:solidFill>
            </a:endParaRPr>
          </a:p>
        </p:txBody>
      </p:sp>
      <p:pic>
        <p:nvPicPr>
          <p:cNvPr id="327" name="Google Shape;327;p51"/>
          <p:cNvPicPr preferRelativeResize="0"/>
          <p:nvPr/>
        </p:nvPicPr>
        <p:blipFill>
          <a:blip r:embed="rId3">
            <a:alphaModFix/>
          </a:blip>
          <a:stretch>
            <a:fillRect/>
          </a:stretch>
        </p:blipFill>
        <p:spPr>
          <a:xfrm>
            <a:off x="4489500" y="1220825"/>
            <a:ext cx="4502099" cy="260322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333" name="Google Shape;333;p52"/>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r>
              <a:rPr lang="en-CA" sz="2400" b="1" u="sng">
                <a:solidFill>
                  <a:schemeClr val="dk2"/>
                </a:solidFill>
              </a:rPr>
              <a:t>Agriculture (nông nghiệp)</a:t>
            </a:r>
            <a:endParaRPr sz="2400" b="1" u="sng">
              <a:solidFill>
                <a:schemeClr val="dk2"/>
              </a:solidFill>
            </a:endParaRPr>
          </a:p>
          <a:p>
            <a:pPr marL="12700" lvl="0" indent="0" algn="l" rtl="0">
              <a:lnSpc>
                <a:spcPct val="90000"/>
              </a:lnSpc>
              <a:spcBef>
                <a:spcPts val="500"/>
              </a:spcBef>
              <a:spcAft>
                <a:spcPts val="0"/>
              </a:spcAft>
              <a:buNone/>
            </a:pPr>
            <a:r>
              <a:rPr lang="en-CA" sz="2000">
                <a:solidFill>
                  <a:schemeClr val="dk2"/>
                </a:solidFill>
              </a:rPr>
              <a:t>•</a:t>
            </a:r>
            <a:r>
              <a:rPr lang="en-CA" sz="2000" b="1">
                <a:solidFill>
                  <a:schemeClr val="dk2"/>
                </a:solidFill>
              </a:rPr>
              <a:t>Smart Irrigation </a:t>
            </a:r>
            <a:r>
              <a:rPr lang="en-CA" sz="2000">
                <a:solidFill>
                  <a:schemeClr val="dk2"/>
                </a:solidFill>
              </a:rPr>
              <a:t>(tưới tiêu thông minh)</a:t>
            </a:r>
            <a:endParaRPr sz="2000">
              <a:solidFill>
                <a:schemeClr val="dk2"/>
              </a:solidFill>
            </a:endParaRPr>
          </a:p>
          <a:p>
            <a:pPr marL="12700" lvl="0" indent="0" algn="l" rtl="0">
              <a:lnSpc>
                <a:spcPct val="90000"/>
              </a:lnSpc>
              <a:spcBef>
                <a:spcPts val="500"/>
              </a:spcBef>
              <a:spcAft>
                <a:spcPts val="0"/>
              </a:spcAft>
              <a:buNone/>
            </a:pPr>
            <a:r>
              <a:rPr lang="en-CA" sz="2000">
                <a:solidFill>
                  <a:schemeClr val="dk2"/>
                </a:solidFill>
              </a:rPr>
              <a:t>•</a:t>
            </a:r>
            <a:r>
              <a:rPr lang="en-CA" sz="2000" b="1">
                <a:solidFill>
                  <a:schemeClr val="dk2"/>
                </a:solidFill>
              </a:rPr>
              <a:t>Greenhouse control </a:t>
            </a:r>
            <a:r>
              <a:rPr lang="en-CA" sz="2000">
                <a:solidFill>
                  <a:schemeClr val="dk2"/>
                </a:solidFill>
              </a:rPr>
              <a:t>(điều khiển nhà kính)</a:t>
            </a:r>
            <a:endParaRPr sz="2000">
              <a:solidFill>
                <a:schemeClr val="dk2"/>
              </a:solidFill>
            </a:endParaRPr>
          </a:p>
          <a:p>
            <a:pPr marL="0" lvl="0" indent="0" algn="l" rtl="0">
              <a:lnSpc>
                <a:spcPct val="90000"/>
              </a:lnSpc>
              <a:spcBef>
                <a:spcPts val="500"/>
              </a:spcBef>
              <a:spcAft>
                <a:spcPts val="0"/>
              </a:spcAft>
              <a:buNone/>
            </a:pPr>
            <a:endParaRPr sz="2400" b="1" u="sng">
              <a:solidFill>
                <a:schemeClr val="dk2"/>
              </a:solidFill>
            </a:endParaRPr>
          </a:p>
        </p:txBody>
      </p:sp>
      <p:pic>
        <p:nvPicPr>
          <p:cNvPr id="334" name="Google Shape;334;p52"/>
          <p:cNvPicPr preferRelativeResize="0"/>
          <p:nvPr/>
        </p:nvPicPr>
        <p:blipFill>
          <a:blip r:embed="rId3">
            <a:alphaModFix/>
          </a:blip>
          <a:stretch>
            <a:fillRect/>
          </a:stretch>
        </p:blipFill>
        <p:spPr>
          <a:xfrm>
            <a:off x="4489500" y="1220825"/>
            <a:ext cx="4502101" cy="264308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5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340" name="Google Shape;340;p53"/>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r>
              <a:rPr lang="en-CA" sz="2400" b="1" u="sng">
                <a:solidFill>
                  <a:schemeClr val="dk2"/>
                </a:solidFill>
              </a:rPr>
              <a:t>Industry (công nghiệp)</a:t>
            </a:r>
            <a:endParaRPr sz="2400" b="1" u="sng">
              <a:solidFill>
                <a:schemeClr val="dk2"/>
              </a:solidFill>
            </a:endParaRPr>
          </a:p>
          <a:p>
            <a:pPr marL="12700" lvl="0" indent="0" algn="l" rtl="0">
              <a:lnSpc>
                <a:spcPct val="90000"/>
              </a:lnSpc>
              <a:spcBef>
                <a:spcPts val="500"/>
              </a:spcBef>
              <a:spcAft>
                <a:spcPts val="0"/>
              </a:spcAft>
              <a:buNone/>
            </a:pPr>
            <a:r>
              <a:rPr lang="en-CA" sz="2000">
                <a:solidFill>
                  <a:schemeClr val="dk2"/>
                </a:solidFill>
              </a:rPr>
              <a:t>•</a:t>
            </a:r>
            <a:r>
              <a:rPr lang="en-CA" sz="2000" b="1">
                <a:solidFill>
                  <a:schemeClr val="dk2"/>
                </a:solidFill>
              </a:rPr>
              <a:t>Machine Diagnosis &amp; Prognosis </a:t>
            </a:r>
            <a:r>
              <a:rPr lang="en-CA" sz="2000">
                <a:solidFill>
                  <a:schemeClr val="dk2"/>
                </a:solidFill>
              </a:rPr>
              <a:t>(chẩn đoán và tiên lượng hỏng hóc của máy móc trong nhà máy).</a:t>
            </a:r>
            <a:endParaRPr sz="2000">
              <a:solidFill>
                <a:schemeClr val="dk2"/>
              </a:solidFill>
            </a:endParaRPr>
          </a:p>
          <a:p>
            <a:pPr marL="12700" lvl="0" indent="0" algn="l" rtl="0">
              <a:lnSpc>
                <a:spcPct val="90000"/>
              </a:lnSpc>
              <a:spcBef>
                <a:spcPts val="500"/>
              </a:spcBef>
              <a:spcAft>
                <a:spcPts val="0"/>
              </a:spcAft>
              <a:buNone/>
            </a:pPr>
            <a:r>
              <a:rPr lang="en-CA" sz="2000">
                <a:solidFill>
                  <a:schemeClr val="dk2"/>
                </a:solidFill>
              </a:rPr>
              <a:t>•</a:t>
            </a:r>
            <a:r>
              <a:rPr lang="en-CA" sz="2000" b="1">
                <a:solidFill>
                  <a:schemeClr val="dk2"/>
                </a:solidFill>
              </a:rPr>
              <a:t>Indoor Air Quality Monitoring</a:t>
            </a:r>
            <a:r>
              <a:rPr lang="en-CA" sz="2000">
                <a:solidFill>
                  <a:schemeClr val="dk2"/>
                </a:solidFill>
              </a:rPr>
              <a:t> (giám sát chất lượng không khí trong nhà máy)</a:t>
            </a:r>
            <a:endParaRPr sz="2000">
              <a:solidFill>
                <a:schemeClr val="dk2"/>
              </a:solidFill>
            </a:endParaRPr>
          </a:p>
          <a:p>
            <a:pPr marL="0" lvl="0" indent="0" algn="l" rtl="0">
              <a:lnSpc>
                <a:spcPct val="90000"/>
              </a:lnSpc>
              <a:spcBef>
                <a:spcPts val="500"/>
              </a:spcBef>
              <a:spcAft>
                <a:spcPts val="0"/>
              </a:spcAft>
              <a:buNone/>
            </a:pPr>
            <a:endParaRPr sz="2400" b="1" u="sng">
              <a:solidFill>
                <a:schemeClr val="dk2"/>
              </a:solidFill>
            </a:endParaRPr>
          </a:p>
        </p:txBody>
      </p:sp>
      <p:pic>
        <p:nvPicPr>
          <p:cNvPr id="341" name="Google Shape;341;p53"/>
          <p:cNvPicPr preferRelativeResize="0"/>
          <p:nvPr/>
        </p:nvPicPr>
        <p:blipFill>
          <a:blip r:embed="rId3">
            <a:alphaModFix/>
          </a:blip>
          <a:stretch>
            <a:fillRect/>
          </a:stretch>
        </p:blipFill>
        <p:spPr>
          <a:xfrm>
            <a:off x="4489500" y="1220825"/>
            <a:ext cx="4502099" cy="310909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4. </a:t>
            </a:r>
            <a:r>
              <a:rPr lang="en-CA" dirty="0" err="1"/>
              <a:t>Ứng</a:t>
            </a:r>
            <a:r>
              <a:rPr lang="en-CA" dirty="0"/>
              <a:t> </a:t>
            </a:r>
            <a:r>
              <a:rPr lang="en-CA" dirty="0" err="1"/>
              <a:t>dụng</a:t>
            </a:r>
            <a:r>
              <a:rPr lang="en-CA" dirty="0"/>
              <a:t> </a:t>
            </a:r>
            <a:r>
              <a:rPr lang="en-CA" dirty="0" err="1"/>
              <a:t>của</a:t>
            </a:r>
            <a:r>
              <a:rPr lang="en-CA" dirty="0"/>
              <a:t> IoT </a:t>
            </a:r>
            <a:r>
              <a:rPr lang="en-CA" dirty="0" err="1"/>
              <a:t>trong</a:t>
            </a:r>
            <a:r>
              <a:rPr lang="en-CA" dirty="0"/>
              <a:t> </a:t>
            </a:r>
            <a:r>
              <a:rPr lang="en-CA" dirty="0" err="1"/>
              <a:t>một</a:t>
            </a:r>
            <a:r>
              <a:rPr lang="en-CA" dirty="0"/>
              <a:t> </a:t>
            </a:r>
            <a:r>
              <a:rPr lang="en-CA" dirty="0" err="1"/>
              <a:t>số</a:t>
            </a:r>
            <a:r>
              <a:rPr lang="en-CA" dirty="0"/>
              <a:t> </a:t>
            </a:r>
            <a:r>
              <a:rPr lang="en-CA" dirty="0" err="1"/>
              <a:t>lĩnh</a:t>
            </a:r>
            <a:r>
              <a:rPr lang="en-CA" dirty="0"/>
              <a:t> </a:t>
            </a:r>
            <a:r>
              <a:rPr lang="en-CA" dirty="0" err="1"/>
              <a:t>vực</a:t>
            </a:r>
            <a:endParaRPr dirty="0"/>
          </a:p>
        </p:txBody>
      </p:sp>
      <p:sp>
        <p:nvSpPr>
          <p:cNvPr id="347" name="Google Shape;347;p54"/>
          <p:cNvSpPr txBox="1">
            <a:spLocks noGrp="1"/>
          </p:cNvSpPr>
          <p:nvPr>
            <p:ph type="body" idx="1"/>
          </p:nvPr>
        </p:nvSpPr>
        <p:spPr>
          <a:xfrm>
            <a:off x="311700" y="1152475"/>
            <a:ext cx="4025400" cy="36669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r>
              <a:rPr lang="en-CA" sz="2400" b="1" u="sng">
                <a:solidFill>
                  <a:schemeClr val="dk2"/>
                </a:solidFill>
              </a:rPr>
              <a:t>Health &amp; Lifestyle (sức khỏe và phong cách sống)</a:t>
            </a:r>
            <a:endParaRPr sz="2400" b="1" u="sng">
              <a:solidFill>
                <a:schemeClr val="dk2"/>
              </a:solidFill>
            </a:endParaRPr>
          </a:p>
          <a:p>
            <a:pPr marL="12700" lvl="0" indent="0" algn="l" rtl="0">
              <a:lnSpc>
                <a:spcPct val="90000"/>
              </a:lnSpc>
              <a:spcBef>
                <a:spcPts val="500"/>
              </a:spcBef>
              <a:spcAft>
                <a:spcPts val="0"/>
              </a:spcAft>
              <a:buNone/>
            </a:pPr>
            <a:r>
              <a:rPr lang="en-CA" sz="2000">
                <a:solidFill>
                  <a:schemeClr val="dk2"/>
                </a:solidFill>
              </a:rPr>
              <a:t>•</a:t>
            </a:r>
            <a:r>
              <a:rPr lang="en-CA" sz="2000" b="1">
                <a:solidFill>
                  <a:schemeClr val="dk2"/>
                </a:solidFill>
              </a:rPr>
              <a:t>Health and Fitness monitoring </a:t>
            </a:r>
            <a:r>
              <a:rPr lang="en-CA" sz="2000">
                <a:solidFill>
                  <a:schemeClr val="dk2"/>
                </a:solidFill>
              </a:rPr>
              <a:t>(theo dõi sức khỏe và thể chất)</a:t>
            </a:r>
            <a:endParaRPr sz="2000">
              <a:solidFill>
                <a:schemeClr val="dk2"/>
              </a:solidFill>
            </a:endParaRPr>
          </a:p>
          <a:p>
            <a:pPr marL="12700" lvl="0" indent="0" algn="l" rtl="0">
              <a:lnSpc>
                <a:spcPct val="90000"/>
              </a:lnSpc>
              <a:spcBef>
                <a:spcPts val="500"/>
              </a:spcBef>
              <a:spcAft>
                <a:spcPts val="0"/>
              </a:spcAft>
              <a:buNone/>
            </a:pPr>
            <a:r>
              <a:rPr lang="en-CA" sz="2000">
                <a:solidFill>
                  <a:schemeClr val="dk2"/>
                </a:solidFill>
              </a:rPr>
              <a:t>•</a:t>
            </a:r>
            <a:r>
              <a:rPr lang="en-CA" sz="2000" b="1">
                <a:solidFill>
                  <a:schemeClr val="dk2"/>
                </a:solidFill>
              </a:rPr>
              <a:t>Wearable Electronics </a:t>
            </a:r>
            <a:r>
              <a:rPr lang="en-CA" sz="2000">
                <a:solidFill>
                  <a:schemeClr val="dk2"/>
                </a:solidFill>
              </a:rPr>
              <a:t>(các thiết bị đeo điện tử)</a:t>
            </a:r>
            <a:endParaRPr sz="2000">
              <a:solidFill>
                <a:schemeClr val="dk2"/>
              </a:solidFill>
            </a:endParaRPr>
          </a:p>
          <a:p>
            <a:pPr marL="0" lvl="0" indent="0" algn="l" rtl="0">
              <a:lnSpc>
                <a:spcPct val="90000"/>
              </a:lnSpc>
              <a:spcBef>
                <a:spcPts val="500"/>
              </a:spcBef>
              <a:spcAft>
                <a:spcPts val="0"/>
              </a:spcAft>
              <a:buNone/>
            </a:pPr>
            <a:endParaRPr sz="2400" b="1" u="sng">
              <a:solidFill>
                <a:schemeClr val="dk2"/>
              </a:solidFill>
            </a:endParaRPr>
          </a:p>
        </p:txBody>
      </p:sp>
      <p:pic>
        <p:nvPicPr>
          <p:cNvPr id="348" name="Google Shape;348;p54"/>
          <p:cNvPicPr preferRelativeResize="0"/>
          <p:nvPr/>
        </p:nvPicPr>
        <p:blipFill>
          <a:blip r:embed="rId3">
            <a:alphaModFix/>
          </a:blip>
          <a:stretch>
            <a:fillRect/>
          </a:stretch>
        </p:blipFill>
        <p:spPr>
          <a:xfrm>
            <a:off x="4489500" y="1220825"/>
            <a:ext cx="4318768" cy="3770275"/>
          </a:xfrm>
          <a:prstGeom prst="rect">
            <a:avLst/>
          </a:prstGeom>
          <a:noFill/>
          <a:ln>
            <a:noFill/>
          </a:ln>
        </p:spPr>
      </p:pic>
      <p:pic>
        <p:nvPicPr>
          <p:cNvPr id="349" name="Google Shape;349;p54"/>
          <p:cNvPicPr preferRelativeResize="0"/>
          <p:nvPr/>
        </p:nvPicPr>
        <p:blipFill>
          <a:blip r:embed="rId4">
            <a:alphaModFix/>
          </a:blip>
          <a:stretch>
            <a:fillRect/>
          </a:stretch>
        </p:blipFill>
        <p:spPr>
          <a:xfrm>
            <a:off x="521325" y="3430000"/>
            <a:ext cx="2954225" cy="15611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sz="4400" b="0">
                <a:latin typeface="Source Sans Pro"/>
                <a:ea typeface="Source Sans Pro"/>
                <a:cs typeface="Source Sans Pro"/>
                <a:sym typeface="Source Sans Pro"/>
              </a:rPr>
              <a:t>TÀI LIỆU THAM KHẢO</a:t>
            </a:r>
            <a:endParaRPr>
              <a:latin typeface="Source Sans Pro"/>
              <a:ea typeface="Source Sans Pro"/>
              <a:cs typeface="Source Sans Pro"/>
              <a:sym typeface="Source Sans Pro"/>
            </a:endParaRPr>
          </a:p>
        </p:txBody>
      </p:sp>
      <p:sp>
        <p:nvSpPr>
          <p:cNvPr id="355" name="Google Shape;355;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12700" lvl="0" indent="0" algn="just" rtl="0">
              <a:lnSpc>
                <a:spcPct val="90000"/>
              </a:lnSpc>
              <a:spcBef>
                <a:spcPts val="1000"/>
              </a:spcBef>
              <a:spcAft>
                <a:spcPts val="0"/>
              </a:spcAft>
              <a:buClr>
                <a:schemeClr val="dk2"/>
              </a:buClr>
              <a:buSzPct val="47826"/>
              <a:buFont typeface="Arial"/>
              <a:buNone/>
            </a:pPr>
            <a:r>
              <a:rPr lang="en-CA" sz="2300">
                <a:solidFill>
                  <a:schemeClr val="dk2"/>
                </a:solidFill>
              </a:rPr>
              <a:t>1.A.</a:t>
            </a:r>
            <a:r>
              <a:rPr lang="en-CA" sz="2800">
                <a:solidFill>
                  <a:srgbClr val="4472C4"/>
                </a:solidFill>
              </a:rPr>
              <a:t> </a:t>
            </a:r>
            <a:r>
              <a:rPr lang="en-CA" sz="2300">
                <a:solidFill>
                  <a:schemeClr val="dk2"/>
                </a:solidFill>
              </a:rPr>
              <a:t>Bahga, V. Madisetti, Internet-of-things A hands-on approach, 2019;  </a:t>
            </a:r>
            <a:endParaRPr sz="2300">
              <a:solidFill>
                <a:schemeClr val="dk2"/>
              </a:solidFill>
            </a:endParaRPr>
          </a:p>
          <a:p>
            <a:pPr marL="12700" lvl="0" indent="0" algn="just" rtl="0">
              <a:lnSpc>
                <a:spcPct val="90000"/>
              </a:lnSpc>
              <a:spcBef>
                <a:spcPts val="1000"/>
              </a:spcBef>
              <a:spcAft>
                <a:spcPts val="0"/>
              </a:spcAft>
              <a:buClr>
                <a:schemeClr val="dk2"/>
              </a:buClr>
              <a:buSzPct val="47826"/>
              <a:buFont typeface="Arial"/>
              <a:buNone/>
            </a:pPr>
            <a:r>
              <a:rPr lang="en-CA" sz="2300">
                <a:solidFill>
                  <a:schemeClr val="dk2"/>
                </a:solidFill>
              </a:rPr>
              <a:t>2.BK Tripathy, J Anuradha, Internet of Things (IoT) Technologies, Applications, Challenges and Solutions, CRC Press. 2020</a:t>
            </a:r>
            <a:endParaRPr sz="2300">
              <a:solidFill>
                <a:schemeClr val="dk2"/>
              </a:solidFill>
            </a:endParaRPr>
          </a:p>
          <a:p>
            <a:pPr marL="12700" lvl="0" indent="0" algn="just" rtl="0">
              <a:lnSpc>
                <a:spcPct val="90000"/>
              </a:lnSpc>
              <a:spcBef>
                <a:spcPts val="1000"/>
              </a:spcBef>
              <a:spcAft>
                <a:spcPts val="0"/>
              </a:spcAft>
              <a:buClr>
                <a:schemeClr val="dk2"/>
              </a:buClr>
              <a:buSzPct val="47826"/>
              <a:buFont typeface="Arial"/>
              <a:buNone/>
            </a:pPr>
            <a:r>
              <a:rPr lang="en-CA" sz="2300">
                <a:solidFill>
                  <a:schemeClr val="dk2"/>
                </a:solidFill>
              </a:rPr>
              <a:t>3.Amita Kapoor, </a:t>
            </a:r>
            <a:r>
              <a:rPr lang="en-CA" sz="2300" i="1">
                <a:solidFill>
                  <a:schemeClr val="dk2"/>
                </a:solidFill>
              </a:rPr>
              <a:t>Hands-on Artificial Intelligence for IoT: Expert machine learning and deep learning techniques for developing smarter IoT systems</a:t>
            </a:r>
            <a:r>
              <a:rPr lang="en-CA" sz="2300">
                <a:solidFill>
                  <a:schemeClr val="dk2"/>
                </a:solidFill>
              </a:rPr>
              <a:t>, Packt publishing, 2019.</a:t>
            </a:r>
            <a:endParaRPr sz="2300">
              <a:solidFill>
                <a:schemeClr val="dk2"/>
              </a:solidFill>
            </a:endParaRPr>
          </a:p>
          <a:p>
            <a:pPr marL="12700" lvl="0" indent="0" algn="just" rtl="0">
              <a:lnSpc>
                <a:spcPct val="90000"/>
              </a:lnSpc>
              <a:spcBef>
                <a:spcPts val="1000"/>
              </a:spcBef>
              <a:spcAft>
                <a:spcPts val="0"/>
              </a:spcAft>
              <a:buClr>
                <a:schemeClr val="dk2"/>
              </a:buClr>
              <a:buSzPct val="47826"/>
              <a:buFont typeface="Arial"/>
              <a:buNone/>
            </a:pPr>
            <a:r>
              <a:rPr lang="en-CA" sz="2300">
                <a:solidFill>
                  <a:schemeClr val="dk2"/>
                </a:solidFill>
              </a:rPr>
              <a:t>4.Rolando Herrero - </a:t>
            </a:r>
            <a:r>
              <a:rPr lang="en-CA" sz="2300" i="1">
                <a:solidFill>
                  <a:schemeClr val="dk2"/>
                </a:solidFill>
              </a:rPr>
              <a:t>Fundamentals of IoT Communication Technologies, </a:t>
            </a:r>
            <a:r>
              <a:rPr lang="en-CA" sz="2300">
                <a:solidFill>
                  <a:schemeClr val="dk2"/>
                </a:solidFill>
              </a:rPr>
              <a:t>Springer, 2021.</a:t>
            </a:r>
            <a:endParaRPr sz="2300">
              <a:solidFill>
                <a:schemeClr val="dk2"/>
              </a:solidFill>
            </a:endParaRPr>
          </a:p>
          <a:p>
            <a:pPr marL="12700" lvl="0" indent="0" algn="just" rtl="0">
              <a:lnSpc>
                <a:spcPct val="90000"/>
              </a:lnSpc>
              <a:spcBef>
                <a:spcPts val="1000"/>
              </a:spcBef>
              <a:spcAft>
                <a:spcPts val="0"/>
              </a:spcAft>
              <a:buClr>
                <a:schemeClr val="dk2"/>
              </a:buClr>
              <a:buSzPct val="47826"/>
              <a:buFont typeface="Arial"/>
              <a:buNone/>
            </a:pPr>
            <a:r>
              <a:rPr lang="en-CA" sz="2300">
                <a:solidFill>
                  <a:schemeClr val="dk2"/>
                </a:solidFill>
              </a:rPr>
              <a:t>5.Jun Huang and Kun Hua, </a:t>
            </a:r>
            <a:r>
              <a:rPr lang="en-CA" sz="2300" i="1">
                <a:solidFill>
                  <a:schemeClr val="dk2"/>
                </a:solidFill>
              </a:rPr>
              <a:t>Managing the Internet of Things.  Architectures, Theories and Applications, </a:t>
            </a:r>
            <a:r>
              <a:rPr lang="en-CA" sz="2300">
                <a:solidFill>
                  <a:schemeClr val="dk2"/>
                </a:solidFill>
              </a:rPr>
              <a:t>The Institution of Engineering and Technology, 2016.</a:t>
            </a:r>
            <a:endParaRPr sz="2300">
              <a:solidFill>
                <a:schemeClr val="dk2"/>
              </a:solidFill>
            </a:endParaRPr>
          </a:p>
          <a:p>
            <a:pPr marL="12700" lvl="0" indent="0" algn="just" rtl="0">
              <a:lnSpc>
                <a:spcPct val="90000"/>
              </a:lnSpc>
              <a:spcBef>
                <a:spcPts val="1000"/>
              </a:spcBef>
              <a:spcAft>
                <a:spcPts val="0"/>
              </a:spcAft>
              <a:buClr>
                <a:schemeClr val="dk2"/>
              </a:buClr>
              <a:buSzPct val="47826"/>
              <a:buFont typeface="Arial"/>
              <a:buNone/>
            </a:pPr>
            <a:r>
              <a:rPr lang="en-CA" sz="2300">
                <a:solidFill>
                  <a:schemeClr val="dk2"/>
                </a:solidFill>
              </a:rPr>
              <a:t>6.Gaston C. Hillar, </a:t>
            </a:r>
            <a:r>
              <a:rPr lang="en-CA" sz="2300" i="1">
                <a:solidFill>
                  <a:schemeClr val="dk2"/>
                </a:solidFill>
              </a:rPr>
              <a:t>Internet of Things with Python Interact with the world and rapidly prototype IoT applications using Python,</a:t>
            </a:r>
            <a:r>
              <a:rPr lang="en-CA" sz="2300">
                <a:solidFill>
                  <a:schemeClr val="dk2"/>
                </a:solidFill>
              </a:rPr>
              <a:t> Packt publishing, 2016</a:t>
            </a:r>
            <a:r>
              <a:rPr lang="en-CA" sz="2300" i="1">
                <a:solidFill>
                  <a:schemeClr val="dk2"/>
                </a:solidFill>
              </a:rPr>
              <a:t>.</a:t>
            </a:r>
            <a:endParaRPr sz="2300" i="1">
              <a:solidFill>
                <a:schemeClr val="dk2"/>
              </a:solidFill>
            </a:endParaRPr>
          </a:p>
          <a:p>
            <a:pPr marL="12700" lvl="0" indent="0" algn="just" rtl="0">
              <a:lnSpc>
                <a:spcPct val="90000"/>
              </a:lnSpc>
              <a:spcBef>
                <a:spcPts val="1000"/>
              </a:spcBef>
              <a:spcAft>
                <a:spcPts val="0"/>
              </a:spcAft>
              <a:buClr>
                <a:schemeClr val="dk2"/>
              </a:buClr>
              <a:buSzPct val="47826"/>
              <a:buFont typeface="Arial"/>
              <a:buNone/>
            </a:pPr>
            <a:r>
              <a:rPr lang="en-CA" sz="2300">
                <a:solidFill>
                  <a:schemeClr val="dk2"/>
                </a:solidFill>
              </a:rPr>
              <a:t>7.</a:t>
            </a:r>
            <a:r>
              <a:rPr lang="en-CA" sz="2300" i="1">
                <a:solidFill>
                  <a:schemeClr val="dk2"/>
                </a:solidFill>
              </a:rPr>
              <a:t>……..on the Internet !</a:t>
            </a:r>
            <a:endParaRPr sz="2300" i="1">
              <a:solidFill>
                <a:schemeClr val="dk2"/>
              </a:solidFill>
            </a:endParaRPr>
          </a:p>
          <a:p>
            <a:pPr marL="0" lvl="0" indent="0" algn="l" rtl="0">
              <a:spcBef>
                <a:spcPts val="0"/>
              </a:spcBef>
              <a:spcAft>
                <a:spcPts val="120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359"/>
        <p:cNvGrpSpPr/>
        <p:nvPr/>
      </p:nvGrpSpPr>
      <p:grpSpPr>
        <a:xfrm>
          <a:off x="0" y="0"/>
          <a:ext cx="0" cy="0"/>
          <a:chOff x="0" y="0"/>
          <a:chExt cx="0" cy="0"/>
        </a:xfrm>
      </p:grpSpPr>
      <p:sp>
        <p:nvSpPr>
          <p:cNvPr id="360" name="Google Shape;360;p5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2. Các kiến trúc của hệ thống IoT</a:t>
            </a:r>
            <a:endParaRPr/>
          </a:p>
          <a:p>
            <a:pPr marL="0" lvl="0" indent="0" algn="l" rtl="0">
              <a:spcBef>
                <a:spcPts val="0"/>
              </a:spcBef>
              <a:spcAft>
                <a:spcPts val="0"/>
              </a:spcAft>
              <a:buNone/>
            </a:pPr>
            <a:endParaRPr/>
          </a:p>
        </p:txBody>
      </p:sp>
      <p:sp>
        <p:nvSpPr>
          <p:cNvPr id="361" name="Google Shape;361;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62" name="Google Shape;362;p56"/>
          <p:cNvPicPr preferRelativeResize="0"/>
          <p:nvPr/>
        </p:nvPicPr>
        <p:blipFill>
          <a:blip r:embed="rId3">
            <a:alphaModFix/>
          </a:blip>
          <a:stretch>
            <a:fillRect/>
          </a:stretch>
        </p:blipFill>
        <p:spPr>
          <a:xfrm>
            <a:off x="1880225" y="1134975"/>
            <a:ext cx="5120200" cy="3451400"/>
          </a:xfrm>
          <a:prstGeom prst="rect">
            <a:avLst/>
          </a:prstGeom>
          <a:noFill/>
          <a:ln>
            <a:noFill/>
          </a:ln>
        </p:spPr>
      </p:pic>
      <p:sp>
        <p:nvSpPr>
          <p:cNvPr id="363" name="Google Shape;363;p56"/>
          <p:cNvSpPr txBox="1"/>
          <p:nvPr/>
        </p:nvSpPr>
        <p:spPr>
          <a:xfrm>
            <a:off x="1243150" y="4568875"/>
            <a:ext cx="68217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300">
                <a:solidFill>
                  <a:schemeClr val="lt2"/>
                </a:solidFill>
                <a:latin typeface="Source Sans Pro"/>
                <a:ea typeface="Source Sans Pro"/>
                <a:cs typeface="Source Sans Pro"/>
                <a:sym typeface="Source Sans Pro"/>
              </a:rPr>
              <a:t>[*]https://www.simplilearn.com/learn-iot-basics-skillup</a:t>
            </a:r>
            <a:endParaRPr sz="1300">
              <a:solidFill>
                <a:schemeClr val="lt2"/>
              </a:solidFill>
              <a:latin typeface="Source Sans Pro"/>
              <a:ea typeface="Source Sans Pro"/>
              <a:cs typeface="Source Sans Pro"/>
              <a:sym typeface="Source Sans Pr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Shape 367"/>
        <p:cNvGrpSpPr/>
        <p:nvPr/>
      </p:nvGrpSpPr>
      <p:grpSpPr>
        <a:xfrm>
          <a:off x="0" y="0"/>
          <a:ext cx="0" cy="0"/>
          <a:chOff x="0" y="0"/>
          <a:chExt cx="0" cy="0"/>
        </a:xfrm>
      </p:grpSpPr>
      <p:sp>
        <p:nvSpPr>
          <p:cNvPr id="368" name="Google Shape;368;p5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2. Các kiến trúc của hệ thống IoT</a:t>
            </a:r>
            <a:endParaRPr/>
          </a:p>
          <a:p>
            <a:pPr marL="0" lvl="0" indent="0" algn="l" rtl="0">
              <a:spcBef>
                <a:spcPts val="0"/>
              </a:spcBef>
              <a:spcAft>
                <a:spcPts val="0"/>
              </a:spcAft>
              <a:buNone/>
            </a:pPr>
            <a:endParaRPr/>
          </a:p>
        </p:txBody>
      </p:sp>
      <p:sp>
        <p:nvSpPr>
          <p:cNvPr id="369" name="Google Shape;369;p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70" name="Google Shape;370;p57"/>
          <p:cNvPicPr preferRelativeResize="0"/>
          <p:nvPr/>
        </p:nvPicPr>
        <p:blipFill>
          <a:blip r:embed="rId3">
            <a:alphaModFix/>
          </a:blip>
          <a:stretch>
            <a:fillRect/>
          </a:stretch>
        </p:blipFill>
        <p:spPr>
          <a:xfrm>
            <a:off x="770525" y="1573550"/>
            <a:ext cx="7696200" cy="2762250"/>
          </a:xfrm>
          <a:prstGeom prst="rect">
            <a:avLst/>
          </a:prstGeom>
          <a:noFill/>
          <a:ln>
            <a:noFill/>
          </a:ln>
        </p:spPr>
      </p:pic>
      <p:sp>
        <p:nvSpPr>
          <p:cNvPr id="371" name="Google Shape;371;p57"/>
          <p:cNvSpPr txBox="1"/>
          <p:nvPr/>
        </p:nvSpPr>
        <p:spPr>
          <a:xfrm>
            <a:off x="1207775" y="4397950"/>
            <a:ext cx="68217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300">
                <a:solidFill>
                  <a:schemeClr val="lt2"/>
                </a:solidFill>
                <a:latin typeface="Source Sans Pro"/>
                <a:ea typeface="Source Sans Pro"/>
                <a:cs typeface="Source Sans Pro"/>
                <a:sym typeface="Source Sans Pro"/>
              </a:rPr>
              <a:t>[*]https://www.simplilearn.com/learn-iot-basics-skillup</a:t>
            </a:r>
            <a:endParaRPr sz="1300">
              <a:solidFill>
                <a:schemeClr val="lt2"/>
              </a:solidFill>
              <a:latin typeface="Source Sans Pro"/>
              <a:ea typeface="Source Sans Pro"/>
              <a:cs typeface="Source Sans Pro"/>
              <a:sym typeface="Source Sans Pr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375"/>
        <p:cNvGrpSpPr/>
        <p:nvPr/>
      </p:nvGrpSpPr>
      <p:grpSpPr>
        <a:xfrm>
          <a:off x="0" y="0"/>
          <a:ext cx="0" cy="0"/>
          <a:chOff x="0" y="0"/>
          <a:chExt cx="0" cy="0"/>
        </a:xfrm>
      </p:grpSpPr>
      <p:sp>
        <p:nvSpPr>
          <p:cNvPr id="376" name="Google Shape;376;p5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2. Các kiến trúc của hệ thống IoT</a:t>
            </a:r>
            <a:endParaRPr/>
          </a:p>
          <a:p>
            <a:pPr marL="0" lvl="0" indent="0" algn="l" rtl="0">
              <a:spcBef>
                <a:spcPts val="0"/>
              </a:spcBef>
              <a:spcAft>
                <a:spcPts val="0"/>
              </a:spcAft>
              <a:buNone/>
            </a:pPr>
            <a:endParaRPr/>
          </a:p>
        </p:txBody>
      </p:sp>
      <p:sp>
        <p:nvSpPr>
          <p:cNvPr id="377" name="Google Shape;377;p5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78" name="Google Shape;378;p58"/>
          <p:cNvPicPr preferRelativeResize="0"/>
          <p:nvPr/>
        </p:nvPicPr>
        <p:blipFill>
          <a:blip r:embed="rId3">
            <a:alphaModFix/>
          </a:blip>
          <a:stretch>
            <a:fillRect/>
          </a:stretch>
        </p:blipFill>
        <p:spPr>
          <a:xfrm>
            <a:off x="116575" y="1135275"/>
            <a:ext cx="7104826" cy="3502474"/>
          </a:xfrm>
          <a:prstGeom prst="rect">
            <a:avLst/>
          </a:prstGeom>
          <a:noFill/>
          <a:ln>
            <a:noFill/>
          </a:ln>
        </p:spPr>
      </p:pic>
      <p:sp>
        <p:nvSpPr>
          <p:cNvPr id="379" name="Google Shape;379;p58"/>
          <p:cNvSpPr txBox="1"/>
          <p:nvPr/>
        </p:nvSpPr>
        <p:spPr>
          <a:xfrm>
            <a:off x="258138" y="4704600"/>
            <a:ext cx="68217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300">
                <a:solidFill>
                  <a:schemeClr val="lt2"/>
                </a:solidFill>
                <a:latin typeface="Source Sans Pro"/>
                <a:ea typeface="Source Sans Pro"/>
                <a:cs typeface="Source Sans Pro"/>
                <a:sym typeface="Source Sans Pro"/>
              </a:rPr>
              <a:t>[*]https://www.simplilearn.com/learn-iot-basics-skillup</a:t>
            </a:r>
            <a:endParaRPr sz="1300">
              <a:solidFill>
                <a:schemeClr val="lt2"/>
              </a:solidFill>
              <a:latin typeface="Source Sans Pro"/>
              <a:ea typeface="Source Sans Pro"/>
              <a:cs typeface="Source Sans Pro"/>
              <a:sym typeface="Source Sans Pro"/>
            </a:endParaRPr>
          </a:p>
        </p:txBody>
      </p:sp>
      <p:sp>
        <p:nvSpPr>
          <p:cNvPr id="380" name="Google Shape;380;p58"/>
          <p:cNvSpPr txBox="1"/>
          <p:nvPr/>
        </p:nvSpPr>
        <p:spPr>
          <a:xfrm>
            <a:off x="7357850" y="1344150"/>
            <a:ext cx="1631700" cy="110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800">
                <a:solidFill>
                  <a:schemeClr val="lt2"/>
                </a:solidFill>
                <a:latin typeface="Source Sans Pro"/>
                <a:ea typeface="Source Sans Pro"/>
                <a:cs typeface="Source Sans Pro"/>
                <a:sym typeface="Source Sans Pro"/>
              </a:rPr>
              <a:t>Cross-layer functions</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384"/>
        <p:cNvGrpSpPr/>
        <p:nvPr/>
      </p:nvGrpSpPr>
      <p:grpSpPr>
        <a:xfrm>
          <a:off x="0" y="0"/>
          <a:ext cx="0" cy="0"/>
          <a:chOff x="0" y="0"/>
          <a:chExt cx="0" cy="0"/>
        </a:xfrm>
      </p:grpSpPr>
      <p:sp>
        <p:nvSpPr>
          <p:cNvPr id="385" name="Google Shape;385;p5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3. Các chuẩn IoT</a:t>
            </a:r>
            <a:endParaRPr/>
          </a:p>
        </p:txBody>
      </p:sp>
      <p:sp>
        <p:nvSpPr>
          <p:cNvPr id="386" name="Google Shape;386;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n-CA" sz="1300"/>
              <a:t>[*]https://www.simplilearn.com/learn-iot-basics-skillup</a:t>
            </a:r>
            <a:endParaRPr sz="1300"/>
          </a:p>
          <a:p>
            <a:pPr marL="0" lvl="0" indent="0" algn="l" rtl="0">
              <a:spcBef>
                <a:spcPts val="0"/>
              </a:spcBef>
              <a:spcAft>
                <a:spcPts val="1200"/>
              </a:spcAft>
              <a:buNone/>
            </a:pPr>
            <a:endParaRPr/>
          </a:p>
        </p:txBody>
      </p:sp>
      <p:pic>
        <p:nvPicPr>
          <p:cNvPr id="387" name="Google Shape;387;p59"/>
          <p:cNvPicPr preferRelativeResize="0"/>
          <p:nvPr/>
        </p:nvPicPr>
        <p:blipFill>
          <a:blip r:embed="rId3">
            <a:alphaModFix/>
          </a:blip>
          <a:stretch>
            <a:fillRect/>
          </a:stretch>
        </p:blipFill>
        <p:spPr>
          <a:xfrm>
            <a:off x="2472325" y="1614175"/>
            <a:ext cx="4199350" cy="22473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391"/>
        <p:cNvGrpSpPr/>
        <p:nvPr/>
      </p:nvGrpSpPr>
      <p:grpSpPr>
        <a:xfrm>
          <a:off x="0" y="0"/>
          <a:ext cx="0" cy="0"/>
          <a:chOff x="0" y="0"/>
          <a:chExt cx="0" cy="0"/>
        </a:xfrm>
      </p:grpSpPr>
      <p:sp>
        <p:nvSpPr>
          <p:cNvPr id="392" name="Google Shape;392;p6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3. Các chuẩn IoT</a:t>
            </a:r>
            <a:endParaRPr/>
          </a:p>
        </p:txBody>
      </p:sp>
      <p:sp>
        <p:nvSpPr>
          <p:cNvPr id="393" name="Google Shape;393;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94" name="Google Shape;394;p60"/>
          <p:cNvPicPr preferRelativeResize="0"/>
          <p:nvPr/>
        </p:nvPicPr>
        <p:blipFill>
          <a:blip r:embed="rId3">
            <a:alphaModFix/>
          </a:blip>
          <a:stretch>
            <a:fillRect/>
          </a:stretch>
        </p:blipFill>
        <p:spPr>
          <a:xfrm>
            <a:off x="971263" y="1068413"/>
            <a:ext cx="7667625" cy="3724275"/>
          </a:xfrm>
          <a:prstGeom prst="rect">
            <a:avLst/>
          </a:prstGeom>
          <a:noFill/>
          <a:ln>
            <a:noFill/>
          </a:ln>
        </p:spPr>
      </p:pic>
      <p:sp>
        <p:nvSpPr>
          <p:cNvPr id="395" name="Google Shape;395;p60"/>
          <p:cNvSpPr txBox="1"/>
          <p:nvPr/>
        </p:nvSpPr>
        <p:spPr>
          <a:xfrm>
            <a:off x="1246625" y="4792700"/>
            <a:ext cx="68217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300">
                <a:solidFill>
                  <a:schemeClr val="lt2"/>
                </a:solidFill>
                <a:latin typeface="Source Sans Pro"/>
                <a:ea typeface="Source Sans Pro"/>
                <a:cs typeface="Source Sans Pro"/>
                <a:sym typeface="Source Sans Pro"/>
              </a:rPr>
              <a:t>[*]https://www.simplilearn.com/learn-iot-basics-skillup</a:t>
            </a:r>
            <a:endParaRPr sz="1300">
              <a:solidFill>
                <a:schemeClr val="lt2"/>
              </a:solidFill>
              <a:latin typeface="Source Sans Pro"/>
              <a:ea typeface="Source Sans Pro"/>
              <a:cs typeface="Source Sans Pro"/>
              <a:sym typeface="Source Sans Pro"/>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399"/>
        <p:cNvGrpSpPr/>
        <p:nvPr/>
      </p:nvGrpSpPr>
      <p:grpSpPr>
        <a:xfrm>
          <a:off x="0" y="0"/>
          <a:ext cx="0" cy="0"/>
          <a:chOff x="0" y="0"/>
          <a:chExt cx="0" cy="0"/>
        </a:xfrm>
      </p:grpSpPr>
      <p:sp>
        <p:nvSpPr>
          <p:cNvPr id="400" name="Google Shape;400;p6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4. Các thách thức</a:t>
            </a:r>
            <a:endParaRPr/>
          </a:p>
        </p:txBody>
      </p:sp>
      <p:sp>
        <p:nvSpPr>
          <p:cNvPr id="401" name="Google Shape;401;p6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02" name="Google Shape;402;p61"/>
          <p:cNvPicPr preferRelativeResize="0"/>
          <p:nvPr/>
        </p:nvPicPr>
        <p:blipFill>
          <a:blip r:embed="rId3">
            <a:alphaModFix/>
          </a:blip>
          <a:stretch>
            <a:fillRect/>
          </a:stretch>
        </p:blipFill>
        <p:spPr>
          <a:xfrm>
            <a:off x="2171175" y="1152475"/>
            <a:ext cx="4599649" cy="1137800"/>
          </a:xfrm>
          <a:prstGeom prst="rect">
            <a:avLst/>
          </a:prstGeom>
          <a:noFill/>
          <a:ln>
            <a:noFill/>
          </a:ln>
        </p:spPr>
      </p:pic>
      <p:pic>
        <p:nvPicPr>
          <p:cNvPr id="403" name="Google Shape;403;p61"/>
          <p:cNvPicPr preferRelativeResize="0"/>
          <p:nvPr/>
        </p:nvPicPr>
        <p:blipFill>
          <a:blip r:embed="rId4">
            <a:alphaModFix/>
          </a:blip>
          <a:stretch>
            <a:fillRect/>
          </a:stretch>
        </p:blipFill>
        <p:spPr>
          <a:xfrm>
            <a:off x="135525" y="2665006"/>
            <a:ext cx="2171700" cy="2224088"/>
          </a:xfrm>
          <a:prstGeom prst="rect">
            <a:avLst/>
          </a:prstGeom>
          <a:noFill/>
          <a:ln>
            <a:noFill/>
          </a:ln>
        </p:spPr>
      </p:pic>
      <p:pic>
        <p:nvPicPr>
          <p:cNvPr id="404" name="Google Shape;404;p61"/>
          <p:cNvPicPr preferRelativeResize="0"/>
          <p:nvPr/>
        </p:nvPicPr>
        <p:blipFill>
          <a:blip r:embed="rId5">
            <a:alphaModFix/>
          </a:blip>
          <a:stretch>
            <a:fillRect/>
          </a:stretch>
        </p:blipFill>
        <p:spPr>
          <a:xfrm>
            <a:off x="2821275" y="2665000"/>
            <a:ext cx="2862120" cy="2224100"/>
          </a:xfrm>
          <a:prstGeom prst="rect">
            <a:avLst/>
          </a:prstGeom>
          <a:noFill/>
          <a:ln>
            <a:noFill/>
          </a:ln>
        </p:spPr>
      </p:pic>
      <p:pic>
        <p:nvPicPr>
          <p:cNvPr id="405" name="Google Shape;405;p61"/>
          <p:cNvPicPr preferRelativeResize="0"/>
          <p:nvPr/>
        </p:nvPicPr>
        <p:blipFill>
          <a:blip r:embed="rId6">
            <a:alphaModFix/>
          </a:blip>
          <a:stretch>
            <a:fillRect/>
          </a:stretch>
        </p:blipFill>
        <p:spPr>
          <a:xfrm>
            <a:off x="6127549" y="2921374"/>
            <a:ext cx="2760550" cy="1549350"/>
          </a:xfrm>
          <a:prstGeom prst="rect">
            <a:avLst/>
          </a:prstGeom>
          <a:noFill/>
          <a:ln>
            <a:noFill/>
          </a:ln>
        </p:spPr>
      </p:pic>
      <p:sp>
        <p:nvSpPr>
          <p:cNvPr id="406" name="Google Shape;406;p61"/>
          <p:cNvSpPr txBox="1"/>
          <p:nvPr/>
        </p:nvSpPr>
        <p:spPr>
          <a:xfrm>
            <a:off x="615538" y="4824900"/>
            <a:ext cx="68217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300">
                <a:solidFill>
                  <a:schemeClr val="lt2"/>
                </a:solidFill>
                <a:latin typeface="Source Sans Pro"/>
                <a:ea typeface="Source Sans Pro"/>
                <a:cs typeface="Source Sans Pro"/>
                <a:sym typeface="Source Sans Pro"/>
              </a:rPr>
              <a:t>[*]https://www.simplilearn.com/learn-iot-basics-skillup</a:t>
            </a:r>
            <a:endParaRPr sz="1300">
              <a:solidFill>
                <a:schemeClr val="lt2"/>
              </a:solidFill>
              <a:latin typeface="Source Sans Pro"/>
              <a:ea typeface="Source Sans Pro"/>
              <a:cs typeface="Source Sans Pro"/>
              <a:sym typeface="Source Sans Pr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410"/>
        <p:cNvGrpSpPr/>
        <p:nvPr/>
      </p:nvGrpSpPr>
      <p:grpSpPr>
        <a:xfrm>
          <a:off x="0" y="0"/>
          <a:ext cx="0" cy="0"/>
          <a:chOff x="0" y="0"/>
          <a:chExt cx="0" cy="0"/>
        </a:xfrm>
      </p:grpSpPr>
      <p:sp>
        <p:nvSpPr>
          <p:cNvPr id="411" name="Google Shape;411;p6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 Các thách thức</a:t>
            </a:r>
            <a:endParaRPr/>
          </a:p>
          <a:p>
            <a:pPr marL="0" lvl="0" indent="0" algn="l" rtl="0">
              <a:spcBef>
                <a:spcPts val="0"/>
              </a:spcBef>
              <a:spcAft>
                <a:spcPts val="0"/>
              </a:spcAft>
              <a:buNone/>
            </a:pPr>
            <a:endParaRPr/>
          </a:p>
        </p:txBody>
      </p:sp>
      <p:sp>
        <p:nvSpPr>
          <p:cNvPr id="412" name="Google Shape;412;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13" name="Google Shape;413;p62"/>
          <p:cNvPicPr preferRelativeResize="0"/>
          <p:nvPr/>
        </p:nvPicPr>
        <p:blipFill>
          <a:blip r:embed="rId3">
            <a:alphaModFix/>
          </a:blip>
          <a:stretch>
            <a:fillRect/>
          </a:stretch>
        </p:blipFill>
        <p:spPr>
          <a:xfrm>
            <a:off x="806450" y="1107000"/>
            <a:ext cx="7701300" cy="3507350"/>
          </a:xfrm>
          <a:prstGeom prst="rect">
            <a:avLst/>
          </a:prstGeom>
          <a:noFill/>
          <a:ln>
            <a:noFill/>
          </a:ln>
        </p:spPr>
      </p:pic>
      <p:sp>
        <p:nvSpPr>
          <p:cNvPr id="414" name="Google Shape;414;p62"/>
          <p:cNvSpPr txBox="1"/>
          <p:nvPr/>
        </p:nvSpPr>
        <p:spPr>
          <a:xfrm>
            <a:off x="1686038" y="4712375"/>
            <a:ext cx="68217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300">
                <a:solidFill>
                  <a:schemeClr val="lt2"/>
                </a:solidFill>
                <a:latin typeface="Source Sans Pro"/>
                <a:ea typeface="Source Sans Pro"/>
                <a:cs typeface="Source Sans Pro"/>
                <a:sym typeface="Source Sans Pro"/>
              </a:rPr>
              <a:t>[*]https://www.simplilearn.com/learn-iot-basics-skillup</a:t>
            </a:r>
            <a:endParaRPr sz="1300">
              <a:solidFill>
                <a:schemeClr val="lt2"/>
              </a:solidFill>
              <a:latin typeface="Source Sans Pro"/>
              <a:ea typeface="Source Sans Pro"/>
              <a:cs typeface="Source Sans Pro"/>
              <a:sym typeface="Source Sans Pr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418"/>
        <p:cNvGrpSpPr/>
        <p:nvPr/>
      </p:nvGrpSpPr>
      <p:grpSpPr>
        <a:xfrm>
          <a:off x="0" y="0"/>
          <a:ext cx="0" cy="0"/>
          <a:chOff x="0" y="0"/>
          <a:chExt cx="0" cy="0"/>
        </a:xfrm>
      </p:grpSpPr>
      <p:sp>
        <p:nvSpPr>
          <p:cNvPr id="419" name="Google Shape;419;p6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5. Các Yếu Tố Cần Quan Tâm Khi Thiết Kế Hệ IoT</a:t>
            </a:r>
            <a:endParaRPr/>
          </a:p>
        </p:txBody>
      </p:sp>
      <p:sp>
        <p:nvSpPr>
          <p:cNvPr id="420" name="Google Shape;420;p6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21" name="Google Shape;421;p63"/>
          <p:cNvPicPr preferRelativeResize="0"/>
          <p:nvPr/>
        </p:nvPicPr>
        <p:blipFill>
          <a:blip r:embed="rId3">
            <a:alphaModFix/>
          </a:blip>
          <a:stretch>
            <a:fillRect/>
          </a:stretch>
        </p:blipFill>
        <p:spPr>
          <a:xfrm>
            <a:off x="612875" y="1214624"/>
            <a:ext cx="8219424" cy="2780750"/>
          </a:xfrm>
          <a:prstGeom prst="rect">
            <a:avLst/>
          </a:prstGeom>
          <a:noFill/>
          <a:ln>
            <a:noFill/>
          </a:ln>
        </p:spPr>
      </p:pic>
      <p:sp>
        <p:nvSpPr>
          <p:cNvPr id="422" name="Google Shape;422;p63"/>
          <p:cNvSpPr txBox="1"/>
          <p:nvPr/>
        </p:nvSpPr>
        <p:spPr>
          <a:xfrm>
            <a:off x="1311725" y="4250275"/>
            <a:ext cx="68217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2000">
                <a:solidFill>
                  <a:schemeClr val="lt2"/>
                </a:solidFill>
                <a:latin typeface="Source Sans Pro"/>
                <a:ea typeface="Source Sans Pro"/>
                <a:cs typeface="Source Sans Pro"/>
                <a:sym typeface="Source Sans Pro"/>
              </a:rPr>
              <a:t>4 Bước của giải pháp IoT</a:t>
            </a:r>
            <a:endParaRPr sz="2000">
              <a:solidFill>
                <a:schemeClr val="lt2"/>
              </a:solidFill>
              <a:latin typeface="Source Sans Pro"/>
              <a:ea typeface="Source Sans Pro"/>
              <a:cs typeface="Source Sans Pro"/>
              <a:sym typeface="Source Sans Pro"/>
            </a:endParaRPr>
          </a:p>
          <a:p>
            <a:pPr marL="0" lvl="0" indent="0" algn="ctr" rtl="0">
              <a:spcBef>
                <a:spcPts val="0"/>
              </a:spcBef>
              <a:spcAft>
                <a:spcPts val="0"/>
              </a:spcAft>
              <a:buNone/>
            </a:pPr>
            <a:r>
              <a:rPr lang="en-CA" sz="1300">
                <a:solidFill>
                  <a:schemeClr val="lt2"/>
                </a:solidFill>
                <a:latin typeface="Source Sans Pro"/>
                <a:ea typeface="Source Sans Pro"/>
                <a:cs typeface="Source Sans Pro"/>
                <a:sym typeface="Source Sans Pro"/>
              </a:rPr>
              <a:t>[*]https://www.simplilearn.com/learn-iot-basics-skillup</a:t>
            </a:r>
            <a:endParaRPr sz="1300">
              <a:solidFill>
                <a:schemeClr val="lt2"/>
              </a:solidFill>
              <a:latin typeface="Source Sans Pro"/>
              <a:ea typeface="Source Sans Pro"/>
              <a:cs typeface="Source Sans Pro"/>
              <a:sym typeface="Source Sans Pro"/>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426"/>
        <p:cNvGrpSpPr/>
        <p:nvPr/>
      </p:nvGrpSpPr>
      <p:grpSpPr>
        <a:xfrm>
          <a:off x="0" y="0"/>
          <a:ext cx="0" cy="0"/>
          <a:chOff x="0" y="0"/>
          <a:chExt cx="0" cy="0"/>
        </a:xfrm>
      </p:grpSpPr>
      <p:sp>
        <p:nvSpPr>
          <p:cNvPr id="427" name="Google Shape;427;p6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5. Các Yếu Tố Cần Quan Tâm Khi Thiết Kế Hệ IoT</a:t>
            </a:r>
            <a:endParaRPr/>
          </a:p>
          <a:p>
            <a:pPr marL="0" lvl="0" indent="0" algn="l" rtl="0">
              <a:spcBef>
                <a:spcPts val="0"/>
              </a:spcBef>
              <a:spcAft>
                <a:spcPts val="0"/>
              </a:spcAft>
              <a:buNone/>
            </a:pPr>
            <a:endParaRPr/>
          </a:p>
        </p:txBody>
      </p:sp>
      <p:sp>
        <p:nvSpPr>
          <p:cNvPr id="428" name="Google Shape;428;p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29" name="Google Shape;429;p64"/>
          <p:cNvPicPr preferRelativeResize="0"/>
          <p:nvPr/>
        </p:nvPicPr>
        <p:blipFill>
          <a:blip r:embed="rId3">
            <a:alphaModFix/>
          </a:blip>
          <a:stretch>
            <a:fillRect/>
          </a:stretch>
        </p:blipFill>
        <p:spPr>
          <a:xfrm>
            <a:off x="870200" y="1127725"/>
            <a:ext cx="7489076" cy="3465900"/>
          </a:xfrm>
          <a:prstGeom prst="rect">
            <a:avLst/>
          </a:prstGeom>
          <a:noFill/>
          <a:ln>
            <a:noFill/>
          </a:ln>
        </p:spPr>
      </p:pic>
      <p:sp>
        <p:nvSpPr>
          <p:cNvPr id="430" name="Google Shape;430;p64"/>
          <p:cNvSpPr txBox="1"/>
          <p:nvPr/>
        </p:nvSpPr>
        <p:spPr>
          <a:xfrm>
            <a:off x="1288400" y="4514500"/>
            <a:ext cx="68217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2000">
                <a:solidFill>
                  <a:schemeClr val="lt2"/>
                </a:solidFill>
                <a:latin typeface="Source Sans Pro"/>
                <a:ea typeface="Source Sans Pro"/>
                <a:cs typeface="Source Sans Pro"/>
                <a:sym typeface="Source Sans Pro"/>
              </a:rPr>
              <a:t>Kiến trúc phân chia theo 3 lớp</a:t>
            </a:r>
            <a:endParaRPr sz="2000">
              <a:solidFill>
                <a:schemeClr val="lt2"/>
              </a:solidFill>
              <a:latin typeface="Source Sans Pro"/>
              <a:ea typeface="Source Sans Pro"/>
              <a:cs typeface="Source Sans Pro"/>
              <a:sym typeface="Source Sans Pro"/>
            </a:endParaRPr>
          </a:p>
          <a:p>
            <a:pPr marL="0" lvl="0" indent="0" algn="ctr" rtl="0">
              <a:spcBef>
                <a:spcPts val="0"/>
              </a:spcBef>
              <a:spcAft>
                <a:spcPts val="0"/>
              </a:spcAft>
              <a:buNone/>
            </a:pPr>
            <a:r>
              <a:rPr lang="en-CA" sz="1300">
                <a:solidFill>
                  <a:schemeClr val="lt2"/>
                </a:solidFill>
                <a:latin typeface="Source Sans Pro"/>
                <a:ea typeface="Source Sans Pro"/>
                <a:cs typeface="Source Sans Pro"/>
                <a:sym typeface="Source Sans Pro"/>
              </a:rPr>
              <a:t>[*]https://www.simplilearn.com/learn-iot-basics-skillup</a:t>
            </a:r>
            <a:endParaRPr sz="1300">
              <a:solidFill>
                <a:schemeClr val="lt2"/>
              </a:solidFill>
              <a:latin typeface="Source Sans Pro"/>
              <a:ea typeface="Source Sans Pro"/>
              <a:cs typeface="Source Sans Pro"/>
              <a:sym typeface="Source Sans Pro"/>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434"/>
        <p:cNvGrpSpPr/>
        <p:nvPr/>
      </p:nvGrpSpPr>
      <p:grpSpPr>
        <a:xfrm>
          <a:off x="0" y="0"/>
          <a:ext cx="0" cy="0"/>
          <a:chOff x="0" y="0"/>
          <a:chExt cx="0" cy="0"/>
        </a:xfrm>
      </p:grpSpPr>
      <p:sp>
        <p:nvSpPr>
          <p:cNvPr id="435" name="Google Shape;435;p6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5. Các Yếu Tố Cần Quan Tâm Khi Thiết Kế Hệ IoT</a:t>
            </a:r>
            <a:endParaRPr/>
          </a:p>
          <a:p>
            <a:pPr marL="0" lvl="0" indent="0" algn="l" rtl="0">
              <a:spcBef>
                <a:spcPts val="0"/>
              </a:spcBef>
              <a:spcAft>
                <a:spcPts val="0"/>
              </a:spcAft>
              <a:buNone/>
            </a:pPr>
            <a:endParaRPr/>
          </a:p>
        </p:txBody>
      </p:sp>
      <p:sp>
        <p:nvSpPr>
          <p:cNvPr id="436" name="Google Shape;436;p6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37" name="Google Shape;437;p65"/>
          <p:cNvPicPr preferRelativeResize="0"/>
          <p:nvPr/>
        </p:nvPicPr>
        <p:blipFill>
          <a:blip r:embed="rId3">
            <a:alphaModFix/>
          </a:blip>
          <a:stretch>
            <a:fillRect/>
          </a:stretch>
        </p:blipFill>
        <p:spPr>
          <a:xfrm>
            <a:off x="1310938" y="1037325"/>
            <a:ext cx="6522137" cy="3570375"/>
          </a:xfrm>
          <a:prstGeom prst="rect">
            <a:avLst/>
          </a:prstGeom>
          <a:noFill/>
          <a:ln>
            <a:noFill/>
          </a:ln>
        </p:spPr>
      </p:pic>
      <p:sp>
        <p:nvSpPr>
          <p:cNvPr id="438" name="Google Shape;438;p65"/>
          <p:cNvSpPr txBox="1"/>
          <p:nvPr/>
        </p:nvSpPr>
        <p:spPr>
          <a:xfrm>
            <a:off x="1288400" y="4514500"/>
            <a:ext cx="68217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2000">
                <a:solidFill>
                  <a:schemeClr val="lt2"/>
                </a:solidFill>
                <a:latin typeface="Source Sans Pro"/>
                <a:ea typeface="Source Sans Pro"/>
                <a:cs typeface="Source Sans Pro"/>
                <a:sym typeface="Source Sans Pro"/>
              </a:rPr>
              <a:t>Mô hình hoạt động</a:t>
            </a:r>
            <a:endParaRPr sz="2000">
              <a:solidFill>
                <a:schemeClr val="lt2"/>
              </a:solidFill>
              <a:latin typeface="Source Sans Pro"/>
              <a:ea typeface="Source Sans Pro"/>
              <a:cs typeface="Source Sans Pro"/>
              <a:sym typeface="Source Sans Pro"/>
            </a:endParaRPr>
          </a:p>
          <a:p>
            <a:pPr marL="0" lvl="0" indent="0" algn="ctr" rtl="0">
              <a:spcBef>
                <a:spcPts val="0"/>
              </a:spcBef>
              <a:spcAft>
                <a:spcPts val="0"/>
              </a:spcAft>
              <a:buNone/>
            </a:pPr>
            <a:r>
              <a:rPr lang="en-CA" sz="1300">
                <a:solidFill>
                  <a:schemeClr val="lt2"/>
                </a:solidFill>
                <a:latin typeface="Source Sans Pro"/>
                <a:ea typeface="Source Sans Pro"/>
                <a:cs typeface="Source Sans Pro"/>
                <a:sym typeface="Source Sans Pro"/>
              </a:rPr>
              <a:t>[*]https://www.simplilearn.com/learn-iot-basics-skillup</a:t>
            </a:r>
            <a:endParaRPr sz="1300">
              <a:solidFill>
                <a:schemeClr val="lt2"/>
              </a:solidFill>
              <a:latin typeface="Source Sans Pro"/>
              <a:ea typeface="Source Sans Pro"/>
              <a:cs typeface="Source Sans Pro"/>
              <a:sym typeface="Source Sans Pro"/>
            </a:endParaRPr>
          </a:p>
        </p:txBody>
      </p:sp>
    </p:spTree>
  </p:cSld>
  <p:clrMapOvr>
    <a:masterClrMapping/>
  </p:clrMapOvr>
</p:sld>
</file>

<file path=ppt/theme/theme1.xml><?xml version="1.0" encoding="utf-8"?>
<a:theme xmlns:a="http://schemas.openxmlformats.org/drawingml/2006/main"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8142</Words>
  <Application>Microsoft Office PowerPoint</Application>
  <PresentationFormat>On-screen Show (16:9)</PresentationFormat>
  <Paragraphs>584</Paragraphs>
  <Slides>53</Slides>
  <Notes>53</Notes>
  <HiddenSlides>19</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Source Sans Pro</vt:lpstr>
      <vt:lpstr>Roboto Mono</vt:lpstr>
      <vt:lpstr>quote-cjk-patch</vt:lpstr>
      <vt:lpstr>Raleway</vt:lpstr>
      <vt:lpstr>Arial</vt:lpstr>
      <vt:lpstr>Georgia</vt:lpstr>
      <vt:lpstr>Roboto</vt:lpstr>
      <vt:lpstr>Plum</vt:lpstr>
      <vt:lpstr>IoT và Ứng Dụng</vt:lpstr>
      <vt:lpstr>Chap 0: Giới Thiệu Môn Học</vt:lpstr>
      <vt:lpstr>Chap 0: Giới Thiệu Môn Học  </vt:lpstr>
      <vt:lpstr>Chap 0: Giới Thiệu Môn Học </vt:lpstr>
      <vt:lpstr>Chap 0: Giới Thiệu Môn Học </vt:lpstr>
      <vt:lpstr>Chap 0: Giới Thiệu Môn Học  </vt:lpstr>
      <vt:lpstr>Chap 0: Giới Thiệu Môn Học  </vt:lpstr>
      <vt:lpstr>Chap 0: Giới Thiệu Môn Học  </vt:lpstr>
      <vt:lpstr>Chap 0: Giới Thiệu Môn Học  </vt:lpstr>
      <vt:lpstr>Chapter 1: Tổng Quan</vt:lpstr>
      <vt:lpstr>1. Khái Niệm IoT </vt:lpstr>
      <vt:lpstr>1. Khái Niệm IoT </vt:lpstr>
      <vt:lpstr>1. Khái Niệm IoT </vt:lpstr>
      <vt:lpstr>1. Khái Niệm IoT </vt:lpstr>
      <vt:lpstr>1. Khái Niệm IoT </vt:lpstr>
      <vt:lpstr>1. Khái Niệm IoT </vt:lpstr>
      <vt:lpstr>1. Khái Niệm IoT </vt:lpstr>
      <vt:lpstr>2. Các đặc điểm của IoT</vt:lpstr>
      <vt:lpstr>2. Các đặc điểm của IoT</vt:lpstr>
      <vt:lpstr>2. Các đặc điểm của IoT</vt:lpstr>
      <vt:lpstr>2. Các đặc điểm của IoT</vt:lpstr>
      <vt:lpstr>3. Kiến trúc của hệ thống IoT</vt:lpstr>
      <vt:lpstr>3. Kiến trúc của hệ thống IoT</vt:lpstr>
      <vt:lpstr>3. Kiến trúc của hệ thống IoT</vt:lpstr>
      <vt:lpstr>3. Kiến trúc của hệ thống IoT</vt:lpstr>
      <vt:lpstr>3. Kiến trúc của hệ thống IoT</vt:lpstr>
      <vt:lpstr>3. Kiến trúc của hệ thống IoT</vt:lpstr>
      <vt:lpstr>3. Kiến trúc của hệ thống IoT</vt:lpstr>
      <vt:lpstr>4. Ứng dụng của IoT trong một số lĩnh vực</vt:lpstr>
      <vt:lpstr>4. Ứng dụng của IoT trong một số lĩnh vực</vt:lpstr>
      <vt:lpstr>4. Ứng dụng của IoT trong một số lĩnh vực</vt:lpstr>
      <vt:lpstr>4. Ứng dụng của IoT trong một số lĩnh vực</vt:lpstr>
      <vt:lpstr>4. Ứng dụng của IoT trong một số lĩnh vực</vt:lpstr>
      <vt:lpstr>4. Ứng dụng của IoT trong một số lĩnh vực</vt:lpstr>
      <vt:lpstr>4. Ứng dụng của IoT trong một số lĩnh vực</vt:lpstr>
      <vt:lpstr>4. Ứng dụng của IoT trong một số lĩnh vực</vt:lpstr>
      <vt:lpstr>4. Ứng dụng của IoT trong một số lĩnh vực</vt:lpstr>
      <vt:lpstr>4. Ứng dụng của IoT trong một số lĩnh vực</vt:lpstr>
      <vt:lpstr>4. Ứng dụng của IoT trong một số lĩnh vực</vt:lpstr>
      <vt:lpstr>4. Ứng dụng của IoT trong một số lĩnh vực</vt:lpstr>
      <vt:lpstr>4. Ứng dụng của IoT trong một số lĩnh vực</vt:lpstr>
      <vt:lpstr>4. Ứng dụng của IoT trong một số lĩnh vực</vt:lpstr>
      <vt:lpstr>TÀI LIỆU THAM KHẢO</vt:lpstr>
      <vt:lpstr>2. Các kiến trúc của hệ thống IoT </vt:lpstr>
      <vt:lpstr>2. Các kiến trúc của hệ thống IoT </vt:lpstr>
      <vt:lpstr>2. Các kiến trúc của hệ thống IoT </vt:lpstr>
      <vt:lpstr>3. Các chuẩn IoT</vt:lpstr>
      <vt:lpstr>3. Các chuẩn IoT</vt:lpstr>
      <vt:lpstr>4. Các thách thức</vt:lpstr>
      <vt:lpstr>4. Các thách thức </vt:lpstr>
      <vt:lpstr>5. Các Yếu Tố Cần Quan Tâm Khi Thiết Kế Hệ IoT</vt:lpstr>
      <vt:lpstr>5. Các Yếu Tố Cần Quan Tâm Khi Thiết Kế Hệ IoT </vt:lpstr>
      <vt:lpstr>5. Các Yếu Tố Cần Quan Tâm Khi Thiết Kế Hệ IoT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và Ứng Dụng</dc:title>
  <cp:lastModifiedBy>Admin</cp:lastModifiedBy>
  <cp:revision>3</cp:revision>
  <dcterms:modified xsi:type="dcterms:W3CDTF">2025-08-18T03:15:27Z</dcterms:modified>
</cp:coreProperties>
</file>