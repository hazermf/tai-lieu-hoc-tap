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4" r:id="rId14"/>
    <p:sldId id="285" r:id="rId15"/>
    <p:sldId id="286" r:id="rId16"/>
    <p:sldId id="287" r:id="rId17"/>
    <p:sldId id="288" r:id="rId18"/>
    <p:sldId id="289" r:id="rId19"/>
    <p:sldId id="292" r:id="rId20"/>
    <p:sldId id="293" r:id="rId21"/>
    <p:sldId id="296" r:id="rId22"/>
    <p:sldId id="297" r:id="rId23"/>
    <p:sldId id="298" r:id="rId24"/>
    <p:sldId id="299" r:id="rId25"/>
    <p:sldId id="300" r:id="rId26"/>
    <p:sldId id="301" r:id="rId27"/>
    <p:sldId id="302" r:id="rId28"/>
    <p:sldId id="303" r:id="rId29"/>
    <p:sldId id="304" r:id="rId30"/>
    <p:sldId id="305" r:id="rId31"/>
    <p:sldId id="306" r:id="rId32"/>
    <p:sldId id="290" r:id="rId33"/>
    <p:sldId id="291" r:id="rId34"/>
    <p:sldId id="307" r:id="rId35"/>
    <p:sldId id="308" r:id="rId36"/>
    <p:sldId id="309" r:id="rId37"/>
    <p:sldId id="310" r:id="rId38"/>
  </p:sldIdLst>
  <p:sldSz cx="9144000" cy="5143500" type="screen16x9"/>
  <p:notesSz cx="6858000" cy="9144000"/>
  <p:embeddedFontLst>
    <p:embeddedFont>
      <p:font typeface="Raleway" pitchFamily="2" charset="0"/>
      <p:regular r:id="rId40"/>
      <p:bold r:id="rId41"/>
      <p:italic r:id="rId42"/>
      <p:boldItalic r:id="rId43"/>
    </p:embeddedFont>
    <p:embeddedFont>
      <p:font typeface="Source Sans Pro" panose="020B0503030403020204" pitchFamily="34" charset="0"/>
      <p:regular r:id="rId44"/>
      <p:bold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C39805-4841-410F-9584-35A720F471AA}">
  <a:tblStyle styleId="{F2C39805-4841-410F-9584-35A720F471A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EB1554E-4753-4D66-A238-E3C3D0A04358}"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24818" autoAdjust="0"/>
  </p:normalViewPr>
  <p:slideViewPr>
    <p:cSldViewPr snapToGrid="0">
      <p:cViewPr varScale="1">
        <p:scale>
          <a:sx n="36" d="100"/>
          <a:sy n="36" d="100"/>
        </p:scale>
        <p:origin x="3774" y="42"/>
      </p:cViewPr>
      <p:guideLst>
        <p:guide orient="horz" pos="1620"/>
        <p:guide pos="2880"/>
      </p:guideLst>
    </p:cSldViewPr>
  </p:slideViewPr>
  <p:notesTextViewPr>
    <p:cViewPr>
      <p:scale>
        <a:sx n="1" d="1"/>
        <a:sy n="1" d="1"/>
      </p:scale>
      <p:origin x="0" y="-1632"/>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f9119afc4f_0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f9119afc4f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9119afc4f_0_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9119afc4f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1" dirty="0"/>
              <a:t>1. </a:t>
            </a:r>
            <a:r>
              <a:rPr lang="vi-VN" b="1" dirty="0"/>
              <a:t>Khái niệm cơ bản</a:t>
            </a:r>
          </a:p>
          <a:p>
            <a:pPr marL="158750" indent="0">
              <a:buFontTx/>
              <a:buNone/>
            </a:pPr>
            <a:r>
              <a:rPr lang="vi-VN" b="1" dirty="0"/>
              <a:t>Quản lý thiết bị IoT (IoT Device Management)</a:t>
            </a:r>
            <a:r>
              <a:rPr lang="vi-VN" dirty="0"/>
              <a:t> là quá trình </a:t>
            </a:r>
            <a:r>
              <a:rPr lang="vi-VN" b="1" dirty="0"/>
              <a:t>theo dõi, điều khiển và bảo trì toàn bộ vòng đời của thiết bị IoT</a:t>
            </a:r>
            <a:r>
              <a:rPr lang="vi-VN" dirty="0"/>
              <a:t>, từ khi triển khai đến khi ngừng hoạt động.</a:t>
            </a:r>
            <a:br>
              <a:rPr lang="vi-VN" dirty="0"/>
            </a:br>
            <a:r>
              <a:rPr lang="en-US" dirty="0"/>
              <a:t>=&gt; </a:t>
            </a:r>
            <a:r>
              <a:rPr lang="vi-VN" dirty="0"/>
              <a:t>Mục tiêu là </a:t>
            </a:r>
            <a:r>
              <a:rPr lang="vi-VN" b="1" dirty="0"/>
              <a:t>đảm bảo các thiết bị luôn kết nối ổn định, an toàn và hoạt động đúng chức năng</a:t>
            </a:r>
            <a:r>
              <a:rPr lang="vi-VN" dirty="0"/>
              <a:t>.</a:t>
            </a:r>
          </a:p>
          <a:p>
            <a:pPr marL="158750" indent="0">
              <a:buFontTx/>
              <a:buNone/>
            </a:pPr>
            <a:endParaRPr lang="en-US" b="1" dirty="0"/>
          </a:p>
          <a:p>
            <a:pPr marL="158750" indent="0">
              <a:buFontTx/>
              <a:buNone/>
            </a:pPr>
            <a:r>
              <a:rPr lang="en-US" b="1" dirty="0"/>
              <a:t>2. </a:t>
            </a:r>
            <a:r>
              <a:rPr lang="vi-VN" b="1" dirty="0"/>
              <a:t>Tại sao cần quản lý thiết bị IoT</a:t>
            </a:r>
          </a:p>
          <a:p>
            <a:pPr marL="158750" indent="0">
              <a:buFontTx/>
              <a:buNone/>
            </a:pPr>
            <a:r>
              <a:rPr lang="vi-VN" dirty="0"/>
              <a:t>Trong một hệ sinh thái IoT có </a:t>
            </a:r>
            <a:r>
              <a:rPr lang="vi-VN" b="1" dirty="0"/>
              <a:t>hàng trăm hoặc hàng nghìn cảm biến và thiết bị</a:t>
            </a:r>
            <a:r>
              <a:rPr lang="vi-VN" dirty="0"/>
              <a:t>, việc giám sát thủ công là </a:t>
            </a:r>
            <a:r>
              <a:rPr lang="vi-VN" b="1" dirty="0"/>
              <a:t>không khả thi</a:t>
            </a:r>
            <a:r>
              <a:rPr lang="vi-VN" dirty="0"/>
              <a:t>.</a:t>
            </a:r>
          </a:p>
          <a:p>
            <a:pPr marL="158750" indent="0">
              <a:buFontTx/>
              <a:buNone/>
            </a:pPr>
            <a:r>
              <a:rPr lang="vi-VN" dirty="0"/>
              <a:t>Các thiết bị có thể:</a:t>
            </a:r>
          </a:p>
          <a:p>
            <a:pPr marL="457200" lvl="1" indent="0">
              <a:buFontTx/>
              <a:buNone/>
            </a:pPr>
            <a:r>
              <a:rPr lang="vi-VN" dirty="0"/>
              <a:t>Gặp sự cố (mất kết nối, hết pin, lỗi phần mềm),</a:t>
            </a:r>
          </a:p>
          <a:p>
            <a:pPr marL="457200" lvl="1" indent="0">
              <a:buFontTx/>
              <a:buNone/>
            </a:pPr>
            <a:r>
              <a:rPr lang="vi-VN" dirty="0"/>
              <a:t>Bị tấn công mạng,</a:t>
            </a:r>
          </a:p>
          <a:p>
            <a:pPr marL="457200" lvl="1" indent="0">
              <a:buFontTx/>
              <a:buNone/>
            </a:pPr>
            <a:r>
              <a:rPr lang="vi-VN" dirty="0"/>
              <a:t>Hoặc cần cập nhật firmware định kỳ.</a:t>
            </a:r>
            <a:br>
              <a:rPr lang="vi-VN" dirty="0"/>
            </a:br>
            <a:r>
              <a:rPr lang="en-US" dirty="0"/>
              <a:t>=&gt;</a:t>
            </a:r>
            <a:r>
              <a:rPr lang="vi-VN" dirty="0"/>
              <a:t> </a:t>
            </a:r>
            <a:r>
              <a:rPr lang="vi-VN" b="1" dirty="0"/>
              <a:t>Hệ thống quản lý thiết bị IoT</a:t>
            </a:r>
            <a:r>
              <a:rPr lang="vi-VN" dirty="0"/>
              <a:t> giúp giải quyết các vấn đề này thông qua </a:t>
            </a:r>
            <a:r>
              <a:rPr lang="vi-VN" b="1" dirty="0"/>
              <a:t>một trung tâm điều khiển thống nhất (IoT Device Manager Dashboard).</a:t>
            </a:r>
            <a:endParaRPr lang="vi-VN" dirty="0"/>
          </a:p>
          <a:p>
            <a:pPr marL="158750" indent="0">
              <a:buFontTx/>
              <a:buNone/>
            </a:pPr>
            <a:endParaRPr lang="en-US" b="1" dirty="0"/>
          </a:p>
          <a:p>
            <a:pPr marL="158750" indent="0">
              <a:buFontTx/>
              <a:buNone/>
            </a:pPr>
            <a:r>
              <a:rPr lang="en-US" b="1" dirty="0"/>
              <a:t>3. </a:t>
            </a:r>
            <a:r>
              <a:rPr lang="vi-VN" b="1" dirty="0"/>
              <a:t>Vai trò như “hệ thần kinh trung ương”</a:t>
            </a:r>
          </a:p>
          <a:p>
            <a:pPr marL="158750" indent="0">
              <a:buFontTx/>
              <a:buNone/>
            </a:pPr>
            <a:r>
              <a:rPr lang="vi-VN" dirty="0"/>
              <a:t>Hệ thống quản lý thiết bị hoạt động như </a:t>
            </a:r>
            <a:r>
              <a:rPr lang="vi-VN" b="1" dirty="0"/>
              <a:t>bộ não điều phối toàn bộ mạng IoT</a:t>
            </a:r>
            <a:r>
              <a:rPr lang="vi-VN" dirty="0"/>
              <a:t>, giúp:</a:t>
            </a:r>
          </a:p>
          <a:p>
            <a:pPr marL="457200" lvl="1" indent="0">
              <a:buFontTx/>
              <a:buNone/>
            </a:pPr>
            <a:r>
              <a:rPr lang="vi-VN" b="1" dirty="0"/>
              <a:t>Theo dõi tình trạng thiết bị</a:t>
            </a:r>
            <a:r>
              <a:rPr lang="vi-VN" dirty="0"/>
              <a:t> (online/offline, pin, dữ liệu),</a:t>
            </a:r>
          </a:p>
          <a:p>
            <a:pPr marL="457200" lvl="1" indent="0">
              <a:buFontTx/>
              <a:buNone/>
            </a:pPr>
            <a:r>
              <a:rPr lang="vi-VN" b="1" dirty="0"/>
              <a:t>Cập nhật và cấu hình từ xa</a:t>
            </a:r>
            <a:r>
              <a:rPr lang="vi-VN" dirty="0"/>
              <a:t> (firmware update, reset, thay đổi tham số),</a:t>
            </a:r>
          </a:p>
          <a:p>
            <a:pPr marL="457200" lvl="1" indent="0">
              <a:buFontTx/>
              <a:buNone/>
            </a:pPr>
            <a:r>
              <a:rPr lang="vi-VN" b="1" dirty="0"/>
              <a:t>Đảm bảo bảo mật</a:t>
            </a:r>
            <a:r>
              <a:rPr lang="vi-VN" dirty="0"/>
              <a:t> (xác thực, mã hóa, phân quyền truy cập),</a:t>
            </a:r>
          </a:p>
          <a:p>
            <a:pPr marL="457200" lvl="1" indent="0">
              <a:buFontTx/>
              <a:buNone/>
            </a:pPr>
            <a:r>
              <a:rPr lang="vi-VN" b="1" dirty="0"/>
              <a:t>Thu thập và phân tích dữ liệu</a:t>
            </a:r>
            <a:r>
              <a:rPr lang="vi-VN" dirty="0"/>
              <a:t> để hỗ trợ ra quyết định thông minh.</a:t>
            </a:r>
            <a:br>
              <a:rPr lang="vi-VN" dirty="0"/>
            </a:br>
            <a:r>
              <a:rPr lang="en-US" dirty="0"/>
              <a:t>=&gt;</a:t>
            </a:r>
            <a:r>
              <a:rPr lang="vi-VN" dirty="0"/>
              <a:t> Giống như </a:t>
            </a:r>
            <a:r>
              <a:rPr lang="vi-VN" b="1" dirty="0"/>
              <a:t>hệ thần kinh trung ương trong cơ thể</a:t>
            </a:r>
            <a:r>
              <a:rPr lang="vi-VN" dirty="0"/>
              <a:t>, nó kết nối và điều khiển tất cả các “bộ phận” (các thiết bị IoT).</a:t>
            </a: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f9119afc4f_0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f9119afc4f_0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dirty="0"/>
              <a:t>Hình mô tả </a:t>
            </a:r>
            <a:r>
              <a:rPr lang="vi-VN" b="1" dirty="0"/>
              <a:t>các giai đoạn chức năng chính trong việc quản lý thiết bị IoT</a:t>
            </a:r>
            <a:r>
              <a:rPr lang="vi-VN" dirty="0"/>
              <a:t>, từ khi thiết bị được thêm mới vào hệ thống (onboarding) cho đến khi ngừng hoạt động (retirement).</a:t>
            </a:r>
            <a:br>
              <a:rPr lang="vi-VN" dirty="0"/>
            </a:br>
            <a:r>
              <a:rPr lang="vi-VN" dirty="0"/>
              <a:t>Mục tiêu là đảm bảo </a:t>
            </a:r>
            <a:r>
              <a:rPr lang="vi-VN" b="1" dirty="0"/>
              <a:t>thiết bị hoạt động ổn định, bảo mật và được giám sát xuyên suốt vòng đời</a:t>
            </a:r>
            <a:r>
              <a:rPr lang="vi-VN" dirty="0"/>
              <a:t>.</a:t>
            </a:r>
          </a:p>
          <a:p>
            <a:pPr marL="158750" indent="0">
              <a:buFontTx/>
              <a:buNone/>
            </a:pPr>
            <a:endParaRPr lang="en-US" b="1" dirty="0"/>
          </a:p>
          <a:p>
            <a:pPr marL="158750" indent="0">
              <a:buFontTx/>
              <a:buNone/>
            </a:pPr>
            <a:r>
              <a:rPr lang="vi-VN" b="1" dirty="0"/>
              <a:t>1. Onboarding (Kết nối ban đầu)</a:t>
            </a:r>
          </a:p>
          <a:p>
            <a:pPr marL="158750" indent="0">
              <a:buFontTx/>
              <a:buNone/>
            </a:pPr>
            <a:r>
              <a:rPr lang="vi-VN" dirty="0"/>
              <a:t>Là giai đoạn </a:t>
            </a:r>
            <a:r>
              <a:rPr lang="vi-VN" b="1" dirty="0"/>
              <a:t>đưa thiết bị IoT mới vào hệ thống</a:t>
            </a:r>
            <a:r>
              <a:rPr lang="vi-VN" dirty="0"/>
              <a:t>.</a:t>
            </a:r>
          </a:p>
          <a:p>
            <a:pPr marL="158750" indent="0">
              <a:buFontTx/>
              <a:buNone/>
            </a:pPr>
            <a:r>
              <a:rPr lang="vi-VN" dirty="0"/>
              <a:t>Bao gồm: xác thực danh tính thiết bị, đăng ký vào mạng, và gán thông tin nhận dạng duy nhất (ID).</a:t>
            </a:r>
          </a:p>
          <a:p>
            <a:pPr marL="158750" indent="0">
              <a:buFontTx/>
              <a:buNone/>
            </a:pPr>
            <a:r>
              <a:rPr lang="vi-VN" dirty="0"/>
              <a:t>Ví dụ: thêm cảm biến nhiệt độ mới vào gateway hoặc cloud platform.</a:t>
            </a:r>
          </a:p>
          <a:p>
            <a:pPr marL="158750" indent="0">
              <a:buFontTx/>
              <a:buNone/>
            </a:pPr>
            <a:endParaRPr lang="en-US" b="1" dirty="0"/>
          </a:p>
          <a:p>
            <a:pPr marL="158750" indent="0">
              <a:buFontTx/>
              <a:buNone/>
            </a:pPr>
            <a:r>
              <a:rPr lang="en-US" b="1" dirty="0"/>
              <a:t>2. </a:t>
            </a:r>
            <a:r>
              <a:rPr lang="vi-VN" b="1" dirty="0"/>
              <a:t>Viewing (Giám sát tổng quan)</a:t>
            </a:r>
          </a:p>
          <a:p>
            <a:pPr marL="158750" indent="0">
              <a:buFontTx/>
              <a:buNone/>
            </a:pPr>
            <a:r>
              <a:rPr lang="vi-VN" dirty="0"/>
              <a:t>Cho phép người quản trị </a:t>
            </a:r>
            <a:r>
              <a:rPr lang="vi-VN" b="1" dirty="0"/>
              <a:t>xem danh sách và trạng thái hoạt động của thiết bị</a:t>
            </a:r>
            <a:r>
              <a:rPr lang="vi-VN" dirty="0"/>
              <a:t>.</a:t>
            </a:r>
          </a:p>
          <a:p>
            <a:pPr marL="158750" indent="0">
              <a:buFontTx/>
              <a:buNone/>
            </a:pPr>
            <a:r>
              <a:rPr lang="vi-VN" dirty="0"/>
              <a:t>Thường thể hiện qua dashboard hoặc ứng dụng quản lý: online/offline, mức pin, dữ liệu cảm biến...</a:t>
            </a:r>
          </a:p>
          <a:p>
            <a:pPr marL="158750" indent="0">
              <a:buFontTx/>
              <a:buNone/>
            </a:pPr>
            <a:endParaRPr lang="en-US" b="1" dirty="0"/>
          </a:p>
          <a:p>
            <a:pPr marL="158750" indent="0">
              <a:buFontTx/>
              <a:buNone/>
            </a:pPr>
            <a:r>
              <a:rPr lang="en-US" b="1" dirty="0"/>
              <a:t>3. </a:t>
            </a:r>
            <a:r>
              <a:rPr lang="vi-VN" b="1" dirty="0"/>
              <a:t>Configuration (Cấu hình thiết bị)</a:t>
            </a:r>
          </a:p>
          <a:p>
            <a:pPr marL="158750" indent="0">
              <a:buFontTx/>
              <a:buNone/>
            </a:pPr>
            <a:r>
              <a:rPr lang="vi-VN" dirty="0"/>
              <a:t>Quản trị viên có thể </a:t>
            </a:r>
            <a:r>
              <a:rPr lang="vi-VN" b="1" dirty="0"/>
              <a:t>thiết lập các thông số hoạt động</a:t>
            </a:r>
            <a:r>
              <a:rPr lang="vi-VN" dirty="0"/>
              <a:t> cho từng thiết bị: tần suất gửi dữ liệu, địa chỉ máy chủ, ngưỡng cảnh báo...</a:t>
            </a:r>
          </a:p>
          <a:p>
            <a:pPr marL="158750" indent="0">
              <a:buFontTx/>
              <a:buNone/>
            </a:pPr>
            <a:r>
              <a:rPr lang="vi-VN" dirty="0"/>
              <a:t>Có thể được cấu hình </a:t>
            </a:r>
            <a:r>
              <a:rPr lang="vi-VN" b="1" dirty="0"/>
              <a:t>từ xa</a:t>
            </a:r>
            <a:r>
              <a:rPr lang="vi-VN" dirty="0"/>
              <a:t> thông qua cloud hoặc gateway.</a:t>
            </a:r>
          </a:p>
          <a:p>
            <a:pPr marL="158750" indent="0">
              <a:buFontTx/>
              <a:buNone/>
            </a:pPr>
            <a:endParaRPr lang="en-US" b="1" dirty="0"/>
          </a:p>
          <a:p>
            <a:pPr marL="158750" indent="0">
              <a:buFontTx/>
              <a:buNone/>
            </a:pPr>
            <a:r>
              <a:rPr lang="en-US" b="1" dirty="0"/>
              <a:t>4. </a:t>
            </a:r>
            <a:r>
              <a:rPr lang="vi-VN" b="1" dirty="0"/>
              <a:t>Grouping (Nhóm thiết bị)</a:t>
            </a:r>
          </a:p>
          <a:p>
            <a:pPr marL="158750" indent="0">
              <a:buFontTx/>
              <a:buNone/>
            </a:pPr>
            <a:r>
              <a:rPr lang="vi-VN" dirty="0"/>
              <a:t>Cho phép </a:t>
            </a:r>
            <a:r>
              <a:rPr lang="vi-VN" b="1" dirty="0"/>
              <a:t>phân nhóm các thiết bị</a:t>
            </a:r>
            <a:r>
              <a:rPr lang="vi-VN" dirty="0"/>
              <a:t> theo khu vực, loại, hoặc chức năng.</a:t>
            </a:r>
          </a:p>
          <a:p>
            <a:pPr marL="158750" indent="0">
              <a:buFontTx/>
              <a:buNone/>
            </a:pPr>
            <a:r>
              <a:rPr lang="vi-VN" dirty="0"/>
              <a:t>Mục đích: dễ quản lý, cập nhật hàng loạt và phân quyền truy cập.</a:t>
            </a:r>
          </a:p>
          <a:p>
            <a:pPr marL="158750" indent="0">
              <a:buFontTx/>
              <a:buNone/>
            </a:pPr>
            <a:r>
              <a:rPr lang="vi-VN" dirty="0"/>
              <a:t>Ví dụ: nhóm cảm biến độ ẩm theo từng khu vườn trong nông trại thông minh.</a:t>
            </a:r>
          </a:p>
          <a:p>
            <a:pPr marL="158750" indent="0">
              <a:buFontTx/>
              <a:buNone/>
            </a:pPr>
            <a:endParaRPr lang="en-US" b="1" dirty="0"/>
          </a:p>
          <a:p>
            <a:pPr marL="158750" indent="0">
              <a:buFontTx/>
              <a:buNone/>
            </a:pPr>
            <a:r>
              <a:rPr lang="en-US" b="1" dirty="0"/>
              <a:t>5. </a:t>
            </a:r>
            <a:r>
              <a:rPr lang="vi-VN" b="1" dirty="0"/>
              <a:t>Diagnostics (Chuẩn đoán lỗi)</a:t>
            </a:r>
          </a:p>
          <a:p>
            <a:pPr marL="158750" indent="0">
              <a:buFontTx/>
              <a:buNone/>
            </a:pPr>
            <a:r>
              <a:rPr lang="vi-VN" dirty="0"/>
              <a:t>Kiểm tra, phát hiện và </a:t>
            </a:r>
            <a:r>
              <a:rPr lang="vi-VN" b="1" dirty="0"/>
              <a:t>phân tích nguyên nhân sự cố</a:t>
            </a:r>
            <a:r>
              <a:rPr lang="vi-VN" dirty="0"/>
              <a:t> trên thiết bị (lỗi kết nối, pin yếu, cảm biến hỏng...).</a:t>
            </a:r>
          </a:p>
          <a:p>
            <a:pPr marL="158750" indent="0">
              <a:buFontTx/>
              <a:buNone/>
            </a:pPr>
            <a:r>
              <a:rPr lang="vi-VN" dirty="0"/>
              <a:t>Hệ thống có thể tự động gửi cảnh báo hoặc gợi ý hướng khắc phục.</a:t>
            </a:r>
          </a:p>
          <a:p>
            <a:pPr marL="158750" indent="0">
              <a:buFontTx/>
              <a:buNone/>
            </a:pPr>
            <a:endParaRPr lang="en-US" b="1" dirty="0"/>
          </a:p>
          <a:p>
            <a:pPr marL="158750" indent="0">
              <a:buFontTx/>
              <a:buNone/>
            </a:pPr>
            <a:r>
              <a:rPr lang="en-US" b="1" dirty="0"/>
              <a:t>6. </a:t>
            </a:r>
            <a:r>
              <a:rPr lang="vi-VN" b="1" dirty="0"/>
              <a:t>Status Monitoring (Giám sát trạng thái)</a:t>
            </a:r>
          </a:p>
          <a:p>
            <a:pPr marL="158750" indent="0">
              <a:buFontTx/>
              <a:buNone/>
            </a:pPr>
            <a:r>
              <a:rPr lang="vi-VN" dirty="0"/>
              <a:t>Theo dõi tình trạng hoạt động </a:t>
            </a:r>
            <a:r>
              <a:rPr lang="vi-VN" b="1" dirty="0"/>
              <a:t>theo thời gian thực (real-time)</a:t>
            </a:r>
            <a:r>
              <a:rPr lang="vi-VN" dirty="0"/>
              <a:t>.</a:t>
            </a:r>
          </a:p>
          <a:p>
            <a:pPr marL="158750" indent="0">
              <a:buFontTx/>
              <a:buNone/>
            </a:pPr>
            <a:r>
              <a:rPr lang="vi-VN" dirty="0"/>
              <a:t>Giúp đảm bảo hệ thống hoạt động ổn định và phát hiện bất thường sớm.</a:t>
            </a:r>
          </a:p>
          <a:p>
            <a:pPr marL="158750" indent="0">
              <a:buFontTx/>
              <a:buNone/>
            </a:pPr>
            <a:r>
              <a:rPr lang="vi-VN" dirty="0"/>
              <a:t>Dữ liệu từ đây có thể dùng để tối ưu hiệu suất hoặc bảo trì dự đoán.</a:t>
            </a:r>
          </a:p>
          <a:p>
            <a:pPr marL="158750" indent="0">
              <a:buFontTx/>
              <a:buNone/>
            </a:pPr>
            <a:endParaRPr lang="en-US" b="1" dirty="0"/>
          </a:p>
          <a:p>
            <a:pPr marL="158750" indent="0">
              <a:buFontTx/>
              <a:buNone/>
            </a:pPr>
            <a:r>
              <a:rPr lang="en-US" b="1" dirty="0"/>
              <a:t>7. </a:t>
            </a:r>
            <a:r>
              <a:rPr lang="vi-VN" b="1" dirty="0"/>
              <a:t>Security (Bảo mật)</a:t>
            </a:r>
          </a:p>
          <a:p>
            <a:pPr marL="158750" indent="0">
              <a:buFontTx/>
              <a:buNone/>
            </a:pPr>
            <a:r>
              <a:rPr lang="vi-VN" dirty="0"/>
              <a:t>Quản lý xác thực, mã hóa, và quyền truy cập cho từng thiết bị.</a:t>
            </a:r>
          </a:p>
          <a:p>
            <a:pPr marL="158750" indent="0">
              <a:buFontTx/>
              <a:buNone/>
            </a:pPr>
            <a:r>
              <a:rPr lang="vi-VN" dirty="0"/>
              <a:t>Ngăn chặn truy cập trái phép hoặc tấn công mạng IoT.</a:t>
            </a:r>
          </a:p>
          <a:p>
            <a:pPr marL="158750" indent="0">
              <a:buFontTx/>
              <a:buNone/>
            </a:pPr>
            <a:r>
              <a:rPr lang="vi-VN" dirty="0"/>
              <a:t>Bao gồm cả việc quản lý </a:t>
            </a:r>
            <a:r>
              <a:rPr lang="vi-VN" b="1" dirty="0"/>
              <a:t>chứng chỉ, khóa mã hóa và cập nhật bảo mật định kỳ</a:t>
            </a:r>
            <a:r>
              <a:rPr lang="vi-VN" dirty="0"/>
              <a:t>.</a:t>
            </a:r>
          </a:p>
          <a:p>
            <a:pPr marL="158750" indent="0">
              <a:buFontTx/>
              <a:buNone/>
            </a:pPr>
            <a:endParaRPr lang="en-US" b="1" dirty="0"/>
          </a:p>
          <a:p>
            <a:pPr marL="158750" indent="0">
              <a:buFontTx/>
              <a:buNone/>
            </a:pPr>
            <a:r>
              <a:rPr lang="en-US" b="1" dirty="0"/>
              <a:t>8. </a:t>
            </a:r>
            <a:r>
              <a:rPr lang="vi-VN" b="1" dirty="0"/>
              <a:t>Updates (Cập nhật phần mềm)</a:t>
            </a:r>
          </a:p>
          <a:p>
            <a:pPr marL="158750" indent="0">
              <a:buFontTx/>
              <a:buNone/>
            </a:pPr>
            <a:r>
              <a:rPr lang="vi-VN" dirty="0"/>
              <a:t>Cho phép </a:t>
            </a:r>
            <a:r>
              <a:rPr lang="vi-VN" b="1" dirty="0"/>
              <a:t>nâng cấp firmware hoặc phần mềm từ xa (OTA – Over-the-Air Update)</a:t>
            </a:r>
            <a:r>
              <a:rPr lang="vi-VN" dirty="0"/>
              <a:t>.</a:t>
            </a:r>
          </a:p>
          <a:p>
            <a:pPr marL="158750" indent="0">
              <a:buFontTx/>
              <a:buNone/>
            </a:pPr>
            <a:r>
              <a:rPr lang="vi-VN" dirty="0"/>
              <a:t>Giúp cải thiện hiệu năng, vá lỗi bảo mật, và bổ sung tính năng mới cho thiết bị mà không cần can thiệp vật lý.</a:t>
            </a:r>
          </a:p>
          <a:p>
            <a:pPr marL="158750" indent="0">
              <a:buFontTx/>
              <a:buNone/>
            </a:pPr>
            <a:endParaRPr lang="en-US" b="1" dirty="0"/>
          </a:p>
          <a:p>
            <a:pPr marL="158750" indent="0">
              <a:buFontTx/>
              <a:buNone/>
            </a:pPr>
            <a:r>
              <a:rPr lang="en-US" b="1" dirty="0"/>
              <a:t>9. </a:t>
            </a:r>
            <a:r>
              <a:rPr lang="vi-VN" b="1" dirty="0"/>
              <a:t>Data Integration (Tích hợp dữ liệu)</a:t>
            </a:r>
          </a:p>
          <a:p>
            <a:pPr marL="158750" indent="0">
              <a:buFontTx/>
              <a:buNone/>
            </a:pPr>
            <a:r>
              <a:rPr lang="vi-VN" dirty="0"/>
              <a:t>Dữ liệu thu thập từ thiết bị được </a:t>
            </a:r>
            <a:r>
              <a:rPr lang="vi-VN" b="1" dirty="0"/>
              <a:t>tích hợp với hệ thống phân tích hoặc nền tảng đám mây</a:t>
            </a:r>
            <a:r>
              <a:rPr lang="vi-VN" dirty="0"/>
              <a:t>.</a:t>
            </a:r>
          </a:p>
          <a:p>
            <a:pPr marL="158750" indent="0">
              <a:buFontTx/>
              <a:buNone/>
            </a:pPr>
            <a:r>
              <a:rPr lang="vi-VN" dirty="0"/>
              <a:t>Giúp xây dựng dashboard, báo cáo, và hỗ trợ ra quyết định thông minh (data-driven decisions).</a:t>
            </a:r>
          </a:p>
          <a:p>
            <a:pPr marL="158750" indent="0">
              <a:buFontTx/>
              <a:buNone/>
            </a:pPr>
            <a:endParaRPr lang="en-US" b="1" dirty="0"/>
          </a:p>
          <a:p>
            <a:pPr marL="158750" indent="0">
              <a:buFontTx/>
              <a:buNone/>
            </a:pPr>
            <a:r>
              <a:rPr lang="en-US" b="1" dirty="0"/>
              <a:t>10. </a:t>
            </a:r>
            <a:r>
              <a:rPr lang="vi-VN" b="1" dirty="0"/>
              <a:t>Retirement (Ngừng hoạt động / Thu hồi thiết bị)</a:t>
            </a:r>
          </a:p>
          <a:p>
            <a:pPr marL="158750" indent="0">
              <a:buFontTx/>
              <a:buNone/>
            </a:pPr>
            <a:r>
              <a:rPr lang="vi-VN" dirty="0"/>
              <a:t>Khi thiết bị </a:t>
            </a:r>
            <a:r>
              <a:rPr lang="vi-VN" b="1" dirty="0"/>
              <a:t>hết vòng đời</a:t>
            </a:r>
            <a:r>
              <a:rPr lang="vi-VN" dirty="0"/>
              <a:t>, nó cần được xóa khỏi hệ thống an toàn.</a:t>
            </a:r>
          </a:p>
          <a:p>
            <a:pPr marL="158750" indent="0">
              <a:buFontTx/>
              <a:buNone/>
            </a:pPr>
            <a:r>
              <a:rPr lang="vi-VN" dirty="0"/>
              <a:t>Bao gồm: gỡ đăng ký, xóa dữ liệu, thu hồi chứng chỉ bảo mật.</a:t>
            </a:r>
          </a:p>
          <a:p>
            <a:pPr marL="158750" indent="0">
              <a:buFontTx/>
              <a:buNone/>
            </a:pPr>
            <a:r>
              <a:rPr lang="vi-VN" dirty="0"/>
              <a:t>Đảm bảo không để lại lỗ hổng hoặc rủi ro bảo mật sau khi ngừng sử dụng.</a:t>
            </a:r>
          </a:p>
          <a:p>
            <a:pPr marL="0" lvl="0" indent="0" algn="l" rtl="0">
              <a:spcBef>
                <a:spcPts val="0"/>
              </a:spcBef>
              <a:spcAft>
                <a:spcPts val="0"/>
              </a:spcAft>
              <a:buFontTx/>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f9119afc4f_0_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f9119afc4f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en-US" b="1" dirty="0"/>
              <a:t>1. </a:t>
            </a:r>
            <a:r>
              <a:rPr lang="vi-VN" b="1" dirty="0"/>
              <a:t>Kết nối thiết bị (Device Onboarding)</a:t>
            </a:r>
          </a:p>
          <a:p>
            <a:pPr marL="158750" indent="0">
              <a:buFontTx/>
              <a:buNone/>
            </a:pPr>
            <a:r>
              <a:rPr lang="vi-VN" b="1" dirty="0"/>
              <a:t>Khái niệm</a:t>
            </a:r>
          </a:p>
          <a:p>
            <a:pPr marL="158750" indent="0">
              <a:buFontTx/>
              <a:buNone/>
            </a:pPr>
            <a:r>
              <a:rPr lang="vi-VN" dirty="0"/>
              <a:t>Đây là </a:t>
            </a:r>
            <a:r>
              <a:rPr lang="vi-VN" b="1" dirty="0"/>
              <a:t>bước đầu tiên</a:t>
            </a:r>
            <a:r>
              <a:rPr lang="vi-VN" dirty="0"/>
              <a:t> trong quá trình đưa một thiết bị IoT mới vào hệ thống.</a:t>
            </a:r>
          </a:p>
          <a:p>
            <a:pPr marL="158750" indent="0">
              <a:buFontTx/>
              <a:buNone/>
            </a:pPr>
            <a:r>
              <a:rPr lang="vi-VN" dirty="0"/>
              <a:t>Thiết bị cần được </a:t>
            </a:r>
            <a:r>
              <a:rPr lang="vi-VN" b="1" dirty="0"/>
              <a:t>xác thực, đăng ký, và cấu hình thông tin mạng</a:t>
            </a:r>
            <a:r>
              <a:rPr lang="vi-VN" dirty="0"/>
              <a:t> (Wi-Fi, MQTT broker, API key, chứng chỉ bảo mật, v.v.) để có thể kết nối an toàn với nền tảng quản lý trung tâm.</a:t>
            </a:r>
          </a:p>
          <a:p>
            <a:pPr marL="158750" indent="0">
              <a:buFontTx/>
              <a:buNone/>
            </a:pPr>
            <a:r>
              <a:rPr lang="vi-VN" b="1" dirty="0"/>
              <a:t>Ý nghĩa trong hệ thống IoT</a:t>
            </a:r>
          </a:p>
          <a:p>
            <a:pPr marL="158750" indent="0">
              <a:buFontTx/>
              <a:buNone/>
            </a:pPr>
            <a:r>
              <a:rPr lang="vi-VN" dirty="0"/>
              <a:t>Đảm bảo mỗi thiết bị </a:t>
            </a:r>
            <a:r>
              <a:rPr lang="vi-VN" b="1" dirty="0"/>
              <a:t>có danh tính riêng (Device ID)</a:t>
            </a:r>
            <a:r>
              <a:rPr lang="vi-VN" dirty="0"/>
              <a:t> để hệ thống phân biệt và theo dõi chính xác.</a:t>
            </a:r>
          </a:p>
          <a:p>
            <a:pPr marL="158750" indent="0">
              <a:buFontTx/>
              <a:buNone/>
            </a:pPr>
            <a:r>
              <a:rPr lang="vi-VN" dirty="0"/>
              <a:t>Giúp thiết bị </a:t>
            </a:r>
            <a:r>
              <a:rPr lang="vi-VN" b="1" dirty="0"/>
              <a:t>kết nối liền mạch</a:t>
            </a:r>
            <a:r>
              <a:rPr lang="vi-VN" dirty="0"/>
              <a:t> với gateway hoặc cloud mà không cần cấu hình thủ công từng phần.</a:t>
            </a:r>
          </a:p>
          <a:p>
            <a:pPr marL="158750" indent="0">
              <a:buFontTx/>
              <a:buNone/>
            </a:pPr>
            <a:r>
              <a:rPr lang="vi-VN" b="1" dirty="0"/>
              <a:t>Tăng cường bảo mật:</a:t>
            </a:r>
            <a:r>
              <a:rPr lang="vi-VN" dirty="0"/>
              <a:t> thông tin đăng nhập, token, hoặc khóa mã hóa (encryption key) được cấp phát an toàn để ngăn thiết bị giả mạo.</a:t>
            </a:r>
          </a:p>
          <a:p>
            <a:pPr marL="158750" indent="0">
              <a:buFontTx/>
              <a:buNone/>
            </a:pPr>
            <a:r>
              <a:rPr lang="vi-VN" b="1" dirty="0"/>
              <a:t>Ví dụ thực tế</a:t>
            </a:r>
          </a:p>
          <a:p>
            <a:pPr marL="158750" indent="0">
              <a:buFontTx/>
              <a:buNone/>
            </a:pPr>
            <a:r>
              <a:rPr lang="vi-VN" dirty="0"/>
              <a:t>Khi thêm cảm biến mới vào hệ thống Smart Home, ứng dụng sẽ:</a:t>
            </a:r>
          </a:p>
          <a:p>
            <a:pPr marL="457200" lvl="1" indent="0">
              <a:buFontTx/>
              <a:buNone/>
            </a:pPr>
            <a:r>
              <a:rPr lang="vi-VN" dirty="0"/>
              <a:t>Quét mã QR để xác định ID của thiết bị.</a:t>
            </a:r>
          </a:p>
          <a:p>
            <a:pPr marL="457200" lvl="1" indent="0">
              <a:buFontTx/>
              <a:buNone/>
            </a:pPr>
            <a:r>
              <a:rPr lang="vi-VN" dirty="0"/>
              <a:t>Cấp quyền truy cập Wi-Fi và gửi thông tin cấu hình ban đầu.</a:t>
            </a:r>
          </a:p>
          <a:p>
            <a:pPr marL="457200" lvl="1" indent="0">
              <a:buFontTx/>
              <a:buNone/>
            </a:pPr>
            <a:r>
              <a:rPr lang="vi-VN" dirty="0"/>
              <a:t>Tự động đăng ký vào nền tảng cloud và hiển thị trong danh sách thiết bị.</a:t>
            </a:r>
          </a:p>
          <a:p>
            <a:pPr marL="158750" indent="0">
              <a:buFontTx/>
              <a:buNone/>
            </a:pPr>
            <a:endParaRPr lang="en-US" b="1" dirty="0"/>
          </a:p>
          <a:p>
            <a:pPr marL="158750" indent="0">
              <a:buFontTx/>
              <a:buNone/>
            </a:pPr>
            <a:r>
              <a:rPr lang="en-US" b="1" dirty="0"/>
              <a:t>2. </a:t>
            </a:r>
            <a:r>
              <a:rPr lang="vi-VN" b="1" dirty="0"/>
              <a:t>Xem thiết bị (Device Viewing)</a:t>
            </a:r>
          </a:p>
          <a:p>
            <a:pPr marL="158750" indent="0">
              <a:buFontTx/>
              <a:buNone/>
            </a:pPr>
            <a:r>
              <a:rPr lang="vi-VN" b="1" dirty="0"/>
              <a:t>Khái niệm</a:t>
            </a:r>
          </a:p>
          <a:p>
            <a:pPr marL="158750" indent="0">
              <a:buFontTx/>
              <a:buNone/>
            </a:pPr>
            <a:r>
              <a:rPr lang="vi-VN" dirty="0"/>
              <a:t>Cung cấp </a:t>
            </a:r>
            <a:r>
              <a:rPr lang="vi-VN" b="1" dirty="0"/>
              <a:t>giao diện quản lý tập trung (dashboard)</a:t>
            </a:r>
            <a:r>
              <a:rPr lang="vi-VN" dirty="0"/>
              <a:t> hiển thị toàn bộ các thiết bị IoT trong hệ thống.</a:t>
            </a:r>
          </a:p>
          <a:p>
            <a:pPr marL="158750" indent="0">
              <a:buFontTx/>
              <a:buNone/>
            </a:pPr>
            <a:r>
              <a:rPr lang="vi-VN" dirty="0"/>
              <a:t>Người quản trị có thể xem:</a:t>
            </a:r>
          </a:p>
          <a:p>
            <a:pPr marL="457200" lvl="1" indent="0">
              <a:buFontTx/>
              <a:buNone/>
            </a:pPr>
            <a:r>
              <a:rPr lang="vi-VN" dirty="0"/>
              <a:t>Tên và loại thiết bị</a:t>
            </a:r>
          </a:p>
          <a:p>
            <a:pPr marL="457200" lvl="1" indent="0">
              <a:buFontTx/>
              <a:buNone/>
            </a:pPr>
            <a:r>
              <a:rPr lang="vi-VN" dirty="0"/>
              <a:t>Trạng thái hoạt động (online/offline)</a:t>
            </a:r>
          </a:p>
          <a:p>
            <a:pPr marL="457200" lvl="1" indent="0">
              <a:buFontTx/>
              <a:buNone/>
            </a:pPr>
            <a:r>
              <a:rPr lang="vi-VN" dirty="0"/>
              <a:t>Vị trí, thông số cảm biến, và cảnh báo</a:t>
            </a:r>
          </a:p>
          <a:p>
            <a:pPr marL="158750" indent="0">
              <a:buFontTx/>
              <a:buNone/>
            </a:pPr>
            <a:r>
              <a:rPr lang="vi-VN" b="1" dirty="0"/>
              <a:t>Ý nghĩa</a:t>
            </a:r>
          </a:p>
          <a:p>
            <a:pPr marL="158750" indent="0">
              <a:buFontTx/>
              <a:buNone/>
            </a:pPr>
            <a:r>
              <a:rPr lang="vi-VN" dirty="0"/>
              <a:t>Giúp theo dõi </a:t>
            </a:r>
            <a:r>
              <a:rPr lang="vi-VN" b="1" dirty="0"/>
              <a:t>tình trạng hoạt động và hiệu năng</a:t>
            </a:r>
            <a:r>
              <a:rPr lang="vi-VN" dirty="0"/>
              <a:t> của hệ thống theo thời gian thực.</a:t>
            </a:r>
          </a:p>
          <a:p>
            <a:pPr marL="158750" indent="0">
              <a:buFontTx/>
              <a:buNone/>
            </a:pPr>
            <a:r>
              <a:rPr lang="vi-VN" dirty="0"/>
              <a:t>Cho phép </a:t>
            </a:r>
            <a:r>
              <a:rPr lang="vi-VN" b="1" dirty="0"/>
              <a:t>phát hiện nhanh thiết bị gặp sự cố</a:t>
            </a:r>
            <a:r>
              <a:rPr lang="vi-VN" dirty="0"/>
              <a:t> (mất kết nối, pin yếu, sai số dữ liệu).</a:t>
            </a:r>
          </a:p>
          <a:p>
            <a:pPr marL="158750" indent="0">
              <a:buFontTx/>
              <a:buNone/>
            </a:pPr>
            <a:r>
              <a:rPr lang="vi-VN" dirty="0"/>
              <a:t>Là cơ sở để thực hiện </a:t>
            </a:r>
            <a:r>
              <a:rPr lang="vi-VN" b="1" dirty="0"/>
              <a:t>các hành động quản trị hoặc bảo trì kịp thời.</a:t>
            </a:r>
            <a:endParaRPr lang="vi-VN" dirty="0"/>
          </a:p>
          <a:p>
            <a:pPr marL="158750" indent="0">
              <a:buFontTx/>
              <a:buNone/>
            </a:pPr>
            <a:r>
              <a:rPr lang="vi-VN" b="1" dirty="0"/>
              <a:t>Ví dụ</a:t>
            </a:r>
          </a:p>
          <a:p>
            <a:pPr marL="158750" indent="0">
              <a:buFontTx/>
              <a:buNone/>
            </a:pPr>
            <a:r>
              <a:rPr lang="vi-VN" dirty="0"/>
              <a:t>Trong hệ thống giám sát môi trường, giao diện “Device View” có thể hiển thị:</a:t>
            </a:r>
          </a:p>
          <a:p>
            <a:pPr marL="457200" lvl="1" indent="0">
              <a:buFontTx/>
              <a:buNone/>
            </a:pPr>
            <a:r>
              <a:rPr lang="vi-VN" dirty="0"/>
              <a:t>Cảm biến nhiệt độ tại từng khu vực</a:t>
            </a:r>
          </a:p>
          <a:p>
            <a:pPr marL="457200" lvl="1" indent="0">
              <a:buFontTx/>
              <a:buNone/>
            </a:pPr>
            <a:r>
              <a:rPr lang="vi-VN" dirty="0"/>
              <a:t>Biểu đồ dữ liệu theo thời gian</a:t>
            </a:r>
          </a:p>
          <a:p>
            <a:pPr marL="457200" lvl="1" indent="0">
              <a:buFontTx/>
              <a:buNone/>
            </a:pPr>
            <a:r>
              <a:rPr lang="vi-VN" dirty="0"/>
              <a:t>Cảnh báo khi vượt ngưỡng</a:t>
            </a:r>
          </a:p>
          <a:p>
            <a:pPr marL="158750" indent="0">
              <a:buFontTx/>
              <a:buNone/>
            </a:pPr>
            <a:endParaRPr lang="en-US" b="1" dirty="0"/>
          </a:p>
          <a:p>
            <a:pPr marL="158750" indent="0">
              <a:buFontTx/>
              <a:buNone/>
            </a:pPr>
            <a:r>
              <a:rPr lang="en-US" b="1" dirty="0"/>
              <a:t>3. </a:t>
            </a:r>
            <a:r>
              <a:rPr lang="vi-VN" b="1" dirty="0"/>
              <a:t>Cấu hình thiết bị (Device Configuration)</a:t>
            </a:r>
          </a:p>
          <a:p>
            <a:pPr marL="158750" indent="0">
              <a:buFontTx/>
              <a:buNone/>
            </a:pPr>
            <a:r>
              <a:rPr lang="vi-VN" b="1" dirty="0"/>
              <a:t>Khái niệm</a:t>
            </a:r>
          </a:p>
          <a:p>
            <a:pPr marL="158750" indent="0">
              <a:buFontTx/>
              <a:buNone/>
            </a:pPr>
            <a:r>
              <a:rPr lang="vi-VN" dirty="0"/>
              <a:t>Là chức năng cho phép </a:t>
            </a:r>
            <a:r>
              <a:rPr lang="vi-VN" b="1" dirty="0"/>
              <a:t>quản trị viên thay đổi hoặc cập nhật thiết lập của thiết bị từ xa</a:t>
            </a:r>
            <a:r>
              <a:rPr lang="vi-VN" dirty="0"/>
              <a:t>, không cần tiếp xúc trực tiếp.</a:t>
            </a:r>
          </a:p>
          <a:p>
            <a:pPr marL="158750" indent="0">
              <a:buFontTx/>
              <a:buNone/>
            </a:pPr>
            <a:r>
              <a:rPr lang="vi-VN" dirty="0"/>
              <a:t>Bao gồm:</a:t>
            </a:r>
          </a:p>
          <a:p>
            <a:pPr marL="457200" lvl="1" indent="0">
              <a:buFontTx/>
              <a:buNone/>
            </a:pPr>
            <a:r>
              <a:rPr lang="vi-VN" dirty="0"/>
              <a:t>Cập nhật tham số đo (tần suất gửi dữ liệu, ngưỡng cảnh báo).</a:t>
            </a:r>
          </a:p>
          <a:p>
            <a:pPr marL="457200" lvl="1" indent="0">
              <a:buFontTx/>
              <a:buNone/>
            </a:pPr>
            <a:r>
              <a:rPr lang="vi-VN" dirty="0"/>
              <a:t>Cấu hình mạng (Wi-Fi, MQTT broker, HTTP endpoint).</a:t>
            </a:r>
          </a:p>
          <a:p>
            <a:pPr marL="457200" lvl="1" indent="0">
              <a:buFontTx/>
              <a:buNone/>
            </a:pPr>
            <a:r>
              <a:rPr lang="vi-VN" dirty="0"/>
              <a:t>Cập nhật firmware hoặc thay đổi vai trò trong hệ thống (ví dụ: cảm biến → actuator).</a:t>
            </a:r>
          </a:p>
          <a:p>
            <a:pPr marL="158750" indent="0">
              <a:buFontTx/>
              <a:buNone/>
            </a:pPr>
            <a:r>
              <a:rPr lang="vi-VN" b="1" dirty="0"/>
              <a:t>Ý nghĩa</a:t>
            </a:r>
          </a:p>
          <a:p>
            <a:pPr marL="158750" indent="0">
              <a:buFontTx/>
              <a:buNone/>
            </a:pPr>
            <a:r>
              <a:rPr lang="vi-VN" dirty="0"/>
              <a:t>Giúp tiết kiệm thời gian khi có </a:t>
            </a:r>
            <a:r>
              <a:rPr lang="vi-VN" b="1" dirty="0"/>
              <a:t>hàng trăm hoặc hàng nghìn thiết bị</a:t>
            </a:r>
            <a:r>
              <a:rPr lang="vi-VN" dirty="0"/>
              <a:t> phân tán ở nhiều địa điểm.</a:t>
            </a:r>
          </a:p>
          <a:p>
            <a:pPr marL="158750" indent="0">
              <a:buFontTx/>
              <a:buNone/>
            </a:pPr>
            <a:r>
              <a:rPr lang="vi-VN" b="1" dirty="0"/>
              <a:t>Tăng tính linh hoạt và khả năng mở rộng</a:t>
            </a:r>
            <a:r>
              <a:rPr lang="vi-VN" dirty="0"/>
              <a:t> của hệ thống IoT.</a:t>
            </a:r>
          </a:p>
          <a:p>
            <a:pPr marL="158750" indent="0">
              <a:buFontTx/>
              <a:buNone/>
            </a:pPr>
            <a:r>
              <a:rPr lang="vi-VN" dirty="0"/>
              <a:t>Cho phép </a:t>
            </a:r>
            <a:r>
              <a:rPr lang="vi-VN" b="1" dirty="0"/>
              <a:t>điều chỉnh động</a:t>
            </a:r>
            <a:r>
              <a:rPr lang="vi-VN" dirty="0"/>
              <a:t> (dynamic configuration) để tối ưu hiệu năng và năng lượng tiêu thụ.</a:t>
            </a:r>
          </a:p>
          <a:p>
            <a:pPr marL="158750" indent="0">
              <a:buFontTx/>
              <a:buNone/>
            </a:pPr>
            <a:r>
              <a:rPr lang="vi-VN" b="1" dirty="0"/>
              <a:t>Ví dụ</a:t>
            </a:r>
          </a:p>
          <a:p>
            <a:pPr marL="158750" indent="0">
              <a:buFontTx/>
              <a:buNone/>
            </a:pPr>
            <a:r>
              <a:rPr lang="vi-VN" dirty="0"/>
              <a:t>Quản trị viên có thể qua dashboard gửi lệnh:</a:t>
            </a:r>
          </a:p>
          <a:p>
            <a:pPr marL="457200" lvl="1" indent="0">
              <a:buFontTx/>
              <a:buNone/>
            </a:pPr>
            <a:r>
              <a:rPr lang="vi-VN" dirty="0"/>
              <a:t>“Tăng chu kỳ gửi dữ liệu của cảm biến lên 5 phút một lần.”</a:t>
            </a:r>
          </a:p>
          <a:p>
            <a:pPr marL="457200" lvl="1" indent="0">
              <a:buFontTx/>
              <a:buNone/>
            </a:pPr>
            <a:r>
              <a:rPr lang="vi-VN" dirty="0"/>
              <a:t>“Bật chế độ tiết kiệm năng lượng cho các thiết bị chạy pin.”</a:t>
            </a:r>
          </a:p>
          <a:p>
            <a:pPr marL="457200" lvl="1" indent="0">
              <a:buFontTx/>
              <a:buNone/>
            </a:pPr>
            <a:r>
              <a:rPr lang="vi-VN" dirty="0"/>
              <a:t>“Cập nhật firmware mới cho toàn bộ cảm biến độ ẩm trong nhà kính.”</a:t>
            </a:r>
          </a:p>
          <a:p>
            <a:pPr marL="0" lvl="0" indent="0" algn="l" rtl="0">
              <a:spcBef>
                <a:spcPts val="0"/>
              </a:spcBef>
              <a:spcAft>
                <a:spcPts val="0"/>
              </a:spcAft>
              <a:buFontTx/>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f9119afc4f_0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f9119afc4f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1. Nhóm thiết bị (Device Grouping)</a:t>
            </a:r>
          </a:p>
          <a:p>
            <a:pPr marL="158750" indent="0">
              <a:buFontTx/>
              <a:buNone/>
            </a:pPr>
            <a:r>
              <a:rPr lang="vi-VN" b="1" dirty="0"/>
              <a:t>Khái niệm</a:t>
            </a:r>
          </a:p>
          <a:p>
            <a:pPr marL="158750" indent="0">
              <a:buFontTx/>
              <a:buNone/>
            </a:pPr>
            <a:r>
              <a:rPr lang="vi-VN" dirty="0"/>
              <a:t>Đây là chức năng cho phép </a:t>
            </a:r>
            <a:r>
              <a:rPr lang="vi-VN" b="1" dirty="0"/>
              <a:t>tổ chức và sắp xếp thiết bị IoT theo các tiêu chí logic</a:t>
            </a:r>
            <a:r>
              <a:rPr lang="vi-VN" dirty="0"/>
              <a:t> để việc quản lý được dễ dàng, trực quan và hiệu quả hơn.</a:t>
            </a:r>
          </a:p>
          <a:p>
            <a:pPr marL="158750" indent="0">
              <a:buFontTx/>
              <a:buNone/>
            </a:pPr>
            <a:r>
              <a:rPr lang="vi-VN" dirty="0"/>
              <a:t>Các tiêu chí nhóm có thể dựa trên:</a:t>
            </a:r>
          </a:p>
          <a:p>
            <a:pPr marL="457200" lvl="1" indent="0">
              <a:buFontTx/>
              <a:buNone/>
            </a:pPr>
            <a:r>
              <a:rPr lang="vi-VN" b="1" dirty="0"/>
              <a:t>Chức năng</a:t>
            </a:r>
            <a:r>
              <a:rPr lang="vi-VN" dirty="0"/>
              <a:t> (ví dụ: nhóm tất cả bộ điều chỉnh nhiệt, cảm biến ánh sáng, hoặc camera giám sát).</a:t>
            </a:r>
          </a:p>
          <a:p>
            <a:pPr marL="457200" lvl="1" indent="0">
              <a:buFontTx/>
              <a:buNone/>
            </a:pPr>
            <a:r>
              <a:rPr lang="vi-VN" b="1" dirty="0"/>
              <a:t>Vị trí địa lý</a:t>
            </a:r>
            <a:r>
              <a:rPr lang="vi-VN" dirty="0"/>
              <a:t> (ví dụ: nhóm cảm biến của tòa nhà A, khu nhà kính số 2).</a:t>
            </a:r>
          </a:p>
          <a:p>
            <a:pPr marL="457200" lvl="1" indent="0">
              <a:buFontTx/>
              <a:buNone/>
            </a:pPr>
            <a:r>
              <a:rPr lang="vi-VN" b="1" dirty="0"/>
              <a:t>Loại thiết bị hoặc nhà sản xuất</a:t>
            </a:r>
            <a:r>
              <a:rPr lang="vi-VN" dirty="0"/>
              <a:t>.</a:t>
            </a:r>
          </a:p>
          <a:p>
            <a:pPr marL="457200" lvl="1" indent="0">
              <a:buFontTx/>
              <a:buNone/>
            </a:pPr>
            <a:r>
              <a:rPr lang="vi-VN" b="1" dirty="0"/>
              <a:t>Mức ưu tiên hoặc trạng thái hoạt động.</a:t>
            </a:r>
            <a:endParaRPr lang="vi-VN" dirty="0"/>
          </a:p>
          <a:p>
            <a:pPr marL="158750" indent="0">
              <a:buFontTx/>
              <a:buNone/>
            </a:pPr>
            <a:r>
              <a:rPr lang="vi-VN" b="1" dirty="0"/>
              <a:t>Ý nghĩa</a:t>
            </a:r>
          </a:p>
          <a:p>
            <a:pPr marL="158750" indent="0">
              <a:buFontTx/>
              <a:buNone/>
            </a:pPr>
            <a:r>
              <a:rPr lang="vi-VN" dirty="0"/>
              <a:t>Giúp người quản trị </a:t>
            </a:r>
            <a:r>
              <a:rPr lang="vi-VN" b="1" dirty="0"/>
              <a:t>thực hiện thao tác hàng loạt</a:t>
            </a:r>
            <a:r>
              <a:rPr lang="vi-VN" dirty="0"/>
              <a:t> (ví dụ: cập nhật firmware hoặc thay đổi cấu hình cho toàn bộ nhóm).</a:t>
            </a:r>
          </a:p>
          <a:p>
            <a:pPr marL="158750" indent="0">
              <a:buFontTx/>
              <a:buNone/>
            </a:pPr>
            <a:r>
              <a:rPr lang="vi-VN" dirty="0"/>
              <a:t>Dễ dàng </a:t>
            </a:r>
            <a:r>
              <a:rPr lang="vi-VN" b="1" dirty="0"/>
              <a:t>giám sát theo khu vực hoặc hệ thống con</a:t>
            </a:r>
            <a:r>
              <a:rPr lang="vi-VN" dirty="0"/>
              <a:t>.</a:t>
            </a:r>
          </a:p>
          <a:p>
            <a:pPr marL="158750" indent="0">
              <a:buFontTx/>
              <a:buNone/>
            </a:pPr>
            <a:r>
              <a:rPr lang="vi-VN" dirty="0"/>
              <a:t>Nâng cao khả năng </a:t>
            </a:r>
            <a:r>
              <a:rPr lang="vi-VN" b="1" dirty="0"/>
              <a:t>quản lý linh hoạt trong các hệ thống IoT lớn</a:t>
            </a:r>
            <a:r>
              <a:rPr lang="vi-VN" dirty="0"/>
              <a:t>, nơi hàng ngàn thiết bị hoạt động song song.</a:t>
            </a:r>
          </a:p>
          <a:p>
            <a:pPr marL="158750" indent="0">
              <a:buFontTx/>
              <a:buNone/>
            </a:pPr>
            <a:r>
              <a:rPr lang="vi-VN" b="1" dirty="0"/>
              <a:t>Ví dụ</a:t>
            </a:r>
          </a:p>
          <a:p>
            <a:pPr marL="158750" indent="0">
              <a:buFontTx/>
              <a:buNone/>
            </a:pPr>
            <a:r>
              <a:rPr lang="vi-VN" dirty="0"/>
              <a:t>Trong một </a:t>
            </a:r>
            <a:r>
              <a:rPr lang="vi-VN" b="1" dirty="0"/>
              <a:t>nhà máy thông minh</a:t>
            </a:r>
            <a:r>
              <a:rPr lang="vi-VN" dirty="0"/>
              <a:t>, kỹ sư có thể:</a:t>
            </a:r>
          </a:p>
          <a:p>
            <a:pPr marL="457200" lvl="1" indent="0">
              <a:buFontTx/>
              <a:buNone/>
            </a:pPr>
            <a:r>
              <a:rPr lang="vi-VN" dirty="0"/>
              <a:t>Nhóm tất cả các cảm biến rung của dây chuyền sản xuất số 3 để theo dõi riêng.</a:t>
            </a:r>
          </a:p>
          <a:p>
            <a:pPr marL="457200" lvl="1" indent="0">
              <a:buFontTx/>
              <a:buNone/>
            </a:pPr>
            <a:r>
              <a:rPr lang="vi-VN" dirty="0"/>
              <a:t>Khi cần, có thể gửi lệnh kiểm tra đồng thời cho toàn nhóm đó.</a:t>
            </a:r>
          </a:p>
          <a:p>
            <a:pPr marL="158750" indent="0">
              <a:buFontTx/>
              <a:buNone/>
            </a:pPr>
            <a:endParaRPr lang="en-US" b="1" dirty="0"/>
          </a:p>
          <a:p>
            <a:pPr marL="158750" indent="0">
              <a:buFontTx/>
              <a:buNone/>
            </a:pPr>
            <a:r>
              <a:rPr lang="en-US" b="1" dirty="0"/>
              <a:t>2. </a:t>
            </a:r>
            <a:r>
              <a:rPr lang="vi-VN" b="1" dirty="0"/>
              <a:t>Chẩn đoán (Diagnostics)</a:t>
            </a:r>
          </a:p>
          <a:p>
            <a:pPr marL="158750" indent="0">
              <a:buFontTx/>
              <a:buNone/>
            </a:pPr>
            <a:r>
              <a:rPr lang="vi-VN" b="1" dirty="0"/>
              <a:t>Khái niệm</a:t>
            </a:r>
          </a:p>
          <a:p>
            <a:pPr marL="158750" indent="0">
              <a:buFontTx/>
              <a:buNone/>
            </a:pPr>
            <a:r>
              <a:rPr lang="vi-VN" dirty="0"/>
              <a:t>Chức năng này giúp </a:t>
            </a:r>
            <a:r>
              <a:rPr lang="vi-VN" b="1" dirty="0"/>
              <a:t>giám sát liên tục hiệu suất thiết bị</a:t>
            </a:r>
            <a:r>
              <a:rPr lang="vi-VN" dirty="0"/>
              <a:t> và </a:t>
            </a:r>
            <a:r>
              <a:rPr lang="vi-VN" b="1" dirty="0"/>
              <a:t>phát hiện sớm các vấn đề tiềm ẩn</a:t>
            </a:r>
            <a:r>
              <a:rPr lang="vi-VN" dirty="0"/>
              <a:t>.</a:t>
            </a:r>
          </a:p>
          <a:p>
            <a:pPr marL="158750" indent="0">
              <a:buFontTx/>
              <a:buNone/>
            </a:pPr>
            <a:r>
              <a:rPr lang="vi-VN" dirty="0"/>
              <a:t>Hệ thống sẽ tự động thu thập thông tin về trạng thái hoạt động, pin, lỗi kết nối, hoặc sai số dữ liệu cảm biến.</a:t>
            </a:r>
          </a:p>
          <a:p>
            <a:pPr marL="158750" indent="0">
              <a:buFontTx/>
              <a:buNone/>
            </a:pPr>
            <a:r>
              <a:rPr lang="vi-VN" b="1" dirty="0"/>
              <a:t>Ý nghĩa</a:t>
            </a:r>
          </a:p>
          <a:p>
            <a:pPr marL="158750" indent="0">
              <a:buFontTx/>
              <a:buNone/>
            </a:pPr>
            <a:r>
              <a:rPr lang="vi-VN" dirty="0"/>
              <a:t>Cho phép hệ thống </a:t>
            </a:r>
            <a:r>
              <a:rPr lang="vi-VN" b="1" dirty="0"/>
              <a:t>tự kiểm tra (self-diagnostic)</a:t>
            </a:r>
            <a:r>
              <a:rPr lang="vi-VN" dirty="0"/>
              <a:t> nhằm phát hiện bất thường trước khi thiết bị ngừng hoạt động.</a:t>
            </a:r>
          </a:p>
          <a:p>
            <a:pPr marL="158750" indent="0">
              <a:buFontTx/>
              <a:buNone/>
            </a:pPr>
            <a:r>
              <a:rPr lang="vi-VN" dirty="0"/>
              <a:t>Giảm thời gian ngừng hệ thống (downtime) nhờ </a:t>
            </a:r>
            <a:r>
              <a:rPr lang="vi-VN" b="1" dirty="0"/>
              <a:t>bảo trì chủ động (predictive maintenance)</a:t>
            </a:r>
            <a:r>
              <a:rPr lang="vi-VN" dirty="0"/>
              <a:t>.</a:t>
            </a:r>
          </a:p>
          <a:p>
            <a:pPr marL="158750" indent="0">
              <a:buFontTx/>
              <a:buNone/>
            </a:pPr>
            <a:r>
              <a:rPr lang="vi-VN" dirty="0"/>
              <a:t>Cải thiện độ tin cậy và tuổi thọ của thiết bị IoT.</a:t>
            </a:r>
          </a:p>
          <a:p>
            <a:pPr marL="158750" indent="0">
              <a:buFontTx/>
              <a:buNone/>
            </a:pPr>
            <a:r>
              <a:rPr lang="vi-VN" b="1" dirty="0"/>
              <a:t>Ví dụ</a:t>
            </a:r>
          </a:p>
          <a:p>
            <a:pPr marL="158750" indent="0">
              <a:buFontTx/>
              <a:buNone/>
            </a:pPr>
            <a:r>
              <a:rPr lang="vi-VN" dirty="0"/>
              <a:t>Hệ thống có thể gửi cảnh báo:</a:t>
            </a:r>
          </a:p>
          <a:p>
            <a:pPr marL="457200" lvl="1" indent="0">
              <a:buFontTx/>
              <a:buNone/>
            </a:pPr>
            <a:r>
              <a:rPr lang="vi-VN" dirty="0"/>
              <a:t>“Cảm biến độ ẩm khu vực A hoạt động bất thường.”</a:t>
            </a:r>
          </a:p>
          <a:p>
            <a:pPr marL="457200" lvl="1" indent="0">
              <a:buFontTx/>
              <a:buNone/>
            </a:pPr>
            <a:r>
              <a:rPr lang="vi-VN" dirty="0"/>
              <a:t>“Pin của thiết bị đo nhiệt độ ở nhà kính sắp hết, cần thay thế.”</a:t>
            </a:r>
          </a:p>
          <a:p>
            <a:pPr marL="457200" lvl="1" indent="0">
              <a:buFontTx/>
              <a:buNone/>
            </a:pPr>
            <a:r>
              <a:rPr lang="vi-VN" dirty="0"/>
              <a:t>“Kết nối Wi-Fi bị mất ở nhóm cảm biến tầng 3.”</a:t>
            </a:r>
          </a:p>
          <a:p>
            <a:pPr marL="158750" indent="0">
              <a:buFontTx/>
              <a:buNone/>
            </a:pPr>
            <a:endParaRPr lang="en-US" b="1" dirty="0"/>
          </a:p>
          <a:p>
            <a:pPr marL="158750" indent="0">
              <a:buFontTx/>
              <a:buNone/>
            </a:pPr>
            <a:r>
              <a:rPr lang="en-US" b="1" dirty="0"/>
              <a:t>3. </a:t>
            </a:r>
            <a:r>
              <a:rPr lang="vi-VN" b="1" dirty="0"/>
              <a:t>Giám sát trạng thái (Status Monitoring)</a:t>
            </a:r>
          </a:p>
          <a:p>
            <a:pPr marL="158750" indent="0">
              <a:buFontTx/>
              <a:buNone/>
            </a:pPr>
            <a:r>
              <a:rPr lang="vi-VN" b="1" dirty="0"/>
              <a:t>Khái niệm</a:t>
            </a:r>
          </a:p>
          <a:p>
            <a:pPr marL="158750" indent="0">
              <a:buFontTx/>
              <a:buNone/>
            </a:pPr>
            <a:r>
              <a:rPr lang="vi-VN" dirty="0"/>
              <a:t>Cung cấp </a:t>
            </a:r>
            <a:r>
              <a:rPr lang="vi-VN" b="1" dirty="0"/>
              <a:t>dữ liệu thời gian thực (real-time)</a:t>
            </a:r>
            <a:r>
              <a:rPr lang="vi-VN" dirty="0"/>
              <a:t> về </a:t>
            </a:r>
            <a:r>
              <a:rPr lang="vi-VN" b="1" dirty="0"/>
              <a:t>tình trạng hoạt động và “sức khỏe” của từng thiết bị IoT</a:t>
            </a:r>
            <a:r>
              <a:rPr lang="vi-VN" dirty="0"/>
              <a:t>.</a:t>
            </a:r>
          </a:p>
          <a:p>
            <a:pPr marL="158750" indent="0">
              <a:buFontTx/>
              <a:buNone/>
            </a:pPr>
            <a:r>
              <a:rPr lang="vi-VN" dirty="0"/>
              <a:t>Bao gồm: trạng thái kết nối (online/offline), tốc độ phản hồi, mức pin, tín hiệu mạng, và hiệu suất đo lường.</a:t>
            </a:r>
          </a:p>
          <a:p>
            <a:pPr marL="158750" indent="0">
              <a:buFontTx/>
              <a:buNone/>
            </a:pPr>
            <a:r>
              <a:rPr lang="vi-VN" b="1" dirty="0"/>
              <a:t>Ý nghĩa</a:t>
            </a:r>
          </a:p>
          <a:p>
            <a:pPr marL="158750" indent="0">
              <a:buFontTx/>
              <a:buNone/>
            </a:pPr>
            <a:r>
              <a:rPr lang="vi-VN" dirty="0"/>
              <a:t>Cho phép người quản trị </a:t>
            </a:r>
            <a:r>
              <a:rPr lang="vi-VN" b="1" dirty="0"/>
              <a:t>theo dõi toàn bộ hệ thống trên một bảng điều khiển duy nhất (dashboard)</a:t>
            </a:r>
            <a:r>
              <a:rPr lang="vi-VN" dirty="0"/>
              <a:t>.</a:t>
            </a:r>
          </a:p>
          <a:p>
            <a:pPr marL="158750" indent="0">
              <a:buFontTx/>
              <a:buNone/>
            </a:pPr>
            <a:r>
              <a:rPr lang="vi-VN" dirty="0"/>
              <a:t>Phát hiện sớm các sự cố để xử lý kịp thời, tránh gián đoạn hoạt động.</a:t>
            </a:r>
          </a:p>
          <a:p>
            <a:pPr marL="158750" indent="0">
              <a:buFontTx/>
              <a:buNone/>
            </a:pPr>
            <a:r>
              <a:rPr lang="vi-VN" dirty="0"/>
              <a:t>Tích hợp dữ liệu với </a:t>
            </a:r>
            <a:r>
              <a:rPr lang="vi-VN" b="1" dirty="0"/>
              <a:t>các hệ thống phân tích (analytics)</a:t>
            </a:r>
            <a:r>
              <a:rPr lang="vi-VN" dirty="0"/>
              <a:t> để đánh giá hiệu năng hoặc tối ưu năng lượng.</a:t>
            </a:r>
          </a:p>
          <a:p>
            <a:pPr marL="158750" indent="0">
              <a:buFontTx/>
              <a:buNone/>
            </a:pPr>
            <a:r>
              <a:rPr lang="vi-VN" b="1" dirty="0"/>
              <a:t>Ví dụ</a:t>
            </a:r>
          </a:p>
          <a:p>
            <a:pPr marL="158750" indent="0">
              <a:buFontTx/>
              <a:buNone/>
            </a:pPr>
            <a:r>
              <a:rPr lang="vi-VN" dirty="0"/>
              <a:t>Trong hệ thống </a:t>
            </a:r>
            <a:r>
              <a:rPr lang="vi-VN" b="1" dirty="0"/>
              <a:t>thành phố thông minh (Smart City)</a:t>
            </a:r>
            <a:r>
              <a:rPr lang="vi-VN" dirty="0"/>
              <a:t>:</a:t>
            </a:r>
          </a:p>
          <a:p>
            <a:pPr marL="457200" lvl="1" indent="0">
              <a:buFontTx/>
              <a:buNone/>
            </a:pPr>
            <a:r>
              <a:rPr lang="vi-VN" dirty="0"/>
              <a:t>Giám sát đèn đường, cảm biến giao thông, và camera theo thời gian thực.</a:t>
            </a:r>
          </a:p>
          <a:p>
            <a:pPr marL="457200" lvl="1" indent="0">
              <a:buFontTx/>
              <a:buNone/>
            </a:pPr>
            <a:r>
              <a:rPr lang="vi-VN" dirty="0"/>
              <a:t>Nếu một đèn đường mất tín hiệu, hệ thống tự động gửi cảnh báo để đội bảo trì xử lý.</a:t>
            </a:r>
          </a:p>
          <a:p>
            <a:pPr marL="0" lvl="0" indent="0" algn="l" rtl="0">
              <a:spcBef>
                <a:spcPts val="0"/>
              </a:spcBef>
              <a:spcAft>
                <a:spcPts val="0"/>
              </a:spcAft>
              <a:buFontTx/>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f9119afc4f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f9119afc4f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1. Bảo mật thiết bị (Device Security)</a:t>
            </a:r>
          </a:p>
          <a:p>
            <a:pPr marL="158750" indent="0">
              <a:buFontTx/>
              <a:buNone/>
            </a:pPr>
            <a:r>
              <a:rPr lang="vi-VN" b="1" dirty="0"/>
              <a:t>Khái niệm</a:t>
            </a:r>
          </a:p>
          <a:p>
            <a:pPr marL="158750" indent="0">
              <a:buFontTx/>
              <a:buNone/>
            </a:pPr>
            <a:r>
              <a:rPr lang="vi-VN" dirty="0"/>
              <a:t>Là quá trình </a:t>
            </a:r>
            <a:r>
              <a:rPr lang="vi-VN" b="1" dirty="0"/>
              <a:t>bảo vệ các thiết bị IoT khỏi các mối đe dọa an ninh mạng</a:t>
            </a:r>
            <a:r>
              <a:rPr lang="vi-VN" dirty="0"/>
              <a:t>, đảm bảo dữ liệu và hoạt động không bị xâm phạm.</a:t>
            </a:r>
          </a:p>
          <a:p>
            <a:pPr marL="158750" indent="0">
              <a:buFontTx/>
              <a:buNone/>
            </a:pPr>
            <a:r>
              <a:rPr lang="vi-VN" dirty="0"/>
              <a:t>Bảo mật thiết bị bao gồm việc:</a:t>
            </a:r>
          </a:p>
          <a:p>
            <a:pPr marL="457200" lvl="1" indent="0">
              <a:buFontTx/>
              <a:buNone/>
            </a:pPr>
            <a:r>
              <a:rPr lang="vi-VN" b="1" dirty="0"/>
              <a:t>Theo dõi liên tục</a:t>
            </a:r>
            <a:r>
              <a:rPr lang="vi-VN" dirty="0"/>
              <a:t> các lỗ hổng và hoạt động bất thường.</a:t>
            </a:r>
          </a:p>
          <a:p>
            <a:pPr marL="457200" lvl="1" indent="0">
              <a:buFontTx/>
              <a:buNone/>
            </a:pPr>
            <a:r>
              <a:rPr lang="vi-VN" b="1" dirty="0"/>
              <a:t>Phát hiện truy cập trái phép</a:t>
            </a:r>
            <a:r>
              <a:rPr lang="vi-VN" dirty="0"/>
              <a:t> hoặc các hành vi đáng ngờ (như gửi dữ liệu bất thường, tần suất cao bất thường).</a:t>
            </a:r>
          </a:p>
          <a:p>
            <a:pPr marL="457200" lvl="1" indent="0">
              <a:buFontTx/>
              <a:buNone/>
            </a:pPr>
            <a:r>
              <a:rPr lang="vi-VN" b="1" dirty="0"/>
              <a:t>Cập nhật từ xa</a:t>
            </a:r>
            <a:r>
              <a:rPr lang="vi-VN" dirty="0"/>
              <a:t> để vá lỗi hoặc cải thiện tính năng bảo mật của thiết bị.</a:t>
            </a:r>
          </a:p>
          <a:p>
            <a:pPr marL="158750" indent="0">
              <a:buFontTx/>
              <a:buNone/>
            </a:pPr>
            <a:r>
              <a:rPr lang="vi-VN" b="1" dirty="0"/>
              <a:t>Ý nghĩa</a:t>
            </a:r>
          </a:p>
          <a:p>
            <a:pPr marL="158750" indent="0">
              <a:buFontTx/>
              <a:buNone/>
            </a:pPr>
            <a:r>
              <a:rPr lang="vi-VN" dirty="0"/>
              <a:t>Các thiết bị IoT thường là </a:t>
            </a:r>
            <a:r>
              <a:rPr lang="vi-VN" b="1" dirty="0"/>
              <a:t>mục tiêu dễ bị tấn công</a:t>
            </a:r>
            <a:r>
              <a:rPr lang="vi-VN" dirty="0"/>
              <a:t> do tài nguyên giới hạn (CPU, RAM) và kết nối liên tục với mạng.</a:t>
            </a:r>
          </a:p>
          <a:p>
            <a:pPr marL="158750" indent="0">
              <a:buFontTx/>
              <a:buNone/>
            </a:pPr>
            <a:r>
              <a:rPr lang="vi-VN" dirty="0"/>
              <a:t>Quản lý bảo mật giúp:</a:t>
            </a:r>
          </a:p>
          <a:p>
            <a:pPr marL="457200" lvl="1" indent="0">
              <a:buFontTx/>
              <a:buNone/>
            </a:pPr>
            <a:r>
              <a:rPr lang="vi-VN" dirty="0"/>
              <a:t>Ngăn chặn </a:t>
            </a:r>
            <a:r>
              <a:rPr lang="vi-VN" b="1" dirty="0"/>
              <a:t>tấn công DDoS</a:t>
            </a:r>
            <a:r>
              <a:rPr lang="vi-VN" dirty="0"/>
              <a:t>, </a:t>
            </a:r>
            <a:r>
              <a:rPr lang="vi-VN" b="1" dirty="0"/>
              <a:t>xâm nhập firmware</a:t>
            </a:r>
            <a:r>
              <a:rPr lang="vi-VN" dirty="0"/>
              <a:t>, hoặc </a:t>
            </a:r>
            <a:r>
              <a:rPr lang="vi-VN" b="1" dirty="0"/>
              <a:t>chiếm quyền điều khiển thiết bị</a:t>
            </a:r>
            <a:r>
              <a:rPr lang="vi-VN" dirty="0"/>
              <a:t>.</a:t>
            </a:r>
          </a:p>
          <a:p>
            <a:pPr marL="457200" lvl="1" indent="0">
              <a:buFontTx/>
              <a:buNone/>
            </a:pPr>
            <a:r>
              <a:rPr lang="vi-VN" dirty="0"/>
              <a:t>Đảm bảo hệ thống </a:t>
            </a:r>
            <a:r>
              <a:rPr lang="vi-VN" b="1" dirty="0"/>
              <a:t>đáp ứng tiêu chuẩn an toàn thông tin</a:t>
            </a:r>
            <a:r>
              <a:rPr lang="vi-VN" dirty="0"/>
              <a:t> (như ISO/IEC 27001 hoặc NIST).</a:t>
            </a:r>
          </a:p>
          <a:p>
            <a:pPr marL="457200" lvl="1" indent="0">
              <a:buFontTx/>
              <a:buNone/>
            </a:pPr>
            <a:r>
              <a:rPr lang="vi-VN" dirty="0"/>
              <a:t>Giữ cho </a:t>
            </a:r>
            <a:r>
              <a:rPr lang="vi-VN" b="1" dirty="0"/>
              <a:t>dữ liệu người dùng và doanh nghiệp được bảo mật</a:t>
            </a:r>
            <a:r>
              <a:rPr lang="vi-VN" dirty="0"/>
              <a:t> trong suốt quá trình truyền tải.</a:t>
            </a:r>
          </a:p>
          <a:p>
            <a:pPr marL="158750" indent="0">
              <a:buFontTx/>
              <a:buNone/>
            </a:pPr>
            <a:r>
              <a:rPr lang="vi-VN" b="1" dirty="0"/>
              <a:t>Ví dụ thực tế</a:t>
            </a:r>
          </a:p>
          <a:p>
            <a:pPr marL="158750" indent="0">
              <a:buFontTx/>
              <a:buNone/>
            </a:pPr>
            <a:r>
              <a:rPr lang="vi-VN" dirty="0"/>
              <a:t>Một camera IoT được hệ thống phát hiện </a:t>
            </a:r>
            <a:r>
              <a:rPr lang="vi-VN" b="1" dirty="0"/>
              <a:t>gửi dữ liệu ra ngoài địa chỉ IP lạ</a:t>
            </a:r>
            <a:r>
              <a:rPr lang="vi-VN" dirty="0"/>
              <a:t> → nền tảng tự động cô lập thiết bị khỏi mạng.</a:t>
            </a:r>
          </a:p>
          <a:p>
            <a:pPr marL="158750" indent="0">
              <a:buFontTx/>
              <a:buNone/>
            </a:pPr>
            <a:r>
              <a:rPr lang="vi-VN" dirty="0"/>
              <a:t>Một thiết bị cảm biến cũ có lỗ hổng firmware → hệ thống </a:t>
            </a:r>
            <a:r>
              <a:rPr lang="vi-VN" b="1" dirty="0"/>
              <a:t>tự động tải bản vá OTA (Over-The-Air)</a:t>
            </a:r>
            <a:r>
              <a:rPr lang="vi-VN" dirty="0"/>
              <a:t> để khắc phục.</a:t>
            </a:r>
          </a:p>
          <a:p>
            <a:pPr marL="158750" indent="0">
              <a:buFontTx/>
              <a:buNone/>
            </a:pPr>
            <a:endParaRPr lang="en-US" b="1" dirty="0"/>
          </a:p>
          <a:p>
            <a:pPr marL="158750" indent="0">
              <a:buFontTx/>
              <a:buNone/>
            </a:pPr>
            <a:r>
              <a:rPr lang="en-US" b="1" dirty="0"/>
              <a:t>2. </a:t>
            </a:r>
            <a:r>
              <a:rPr lang="vi-VN" b="1" dirty="0"/>
              <a:t>Cập nhật thiết bị (Device Update)</a:t>
            </a:r>
          </a:p>
          <a:p>
            <a:pPr marL="158750" indent="0">
              <a:buFontTx/>
              <a:buNone/>
            </a:pPr>
            <a:r>
              <a:rPr lang="vi-VN" b="1" dirty="0"/>
              <a:t>Khái niệm</a:t>
            </a:r>
          </a:p>
          <a:p>
            <a:pPr marL="158750" indent="0">
              <a:buFontTx/>
              <a:buNone/>
            </a:pPr>
            <a:r>
              <a:rPr lang="vi-VN" dirty="0"/>
              <a:t>Đây là chức năng giúp </a:t>
            </a:r>
            <a:r>
              <a:rPr lang="vi-VN" b="1" dirty="0"/>
              <a:t>triển khai các bản cập nhật phần mềm hoặc firmware từ xa</a:t>
            </a:r>
            <a:r>
              <a:rPr lang="vi-VN" dirty="0"/>
              <a:t> cho các thiết bị IoT.</a:t>
            </a:r>
          </a:p>
          <a:p>
            <a:pPr marL="158750" indent="0">
              <a:buFontTx/>
              <a:buNone/>
            </a:pPr>
            <a:r>
              <a:rPr lang="vi-VN" dirty="0"/>
              <a:t>Cập nhật có thể bao gồm:</a:t>
            </a:r>
          </a:p>
          <a:p>
            <a:pPr marL="457200" lvl="1" indent="0">
              <a:buFontTx/>
              <a:buNone/>
            </a:pPr>
            <a:r>
              <a:rPr lang="vi-VN" dirty="0"/>
              <a:t>Vá lỗi bảo mật.</a:t>
            </a:r>
          </a:p>
          <a:p>
            <a:pPr marL="457200" lvl="1" indent="0">
              <a:buFontTx/>
              <a:buNone/>
            </a:pPr>
            <a:r>
              <a:rPr lang="vi-VN" dirty="0"/>
              <a:t>Cải thiện hiệu năng và tuổi thọ pin.</a:t>
            </a:r>
          </a:p>
          <a:p>
            <a:pPr marL="457200" lvl="1" indent="0">
              <a:buFontTx/>
              <a:buNone/>
            </a:pPr>
            <a:r>
              <a:rPr lang="vi-VN" dirty="0"/>
              <a:t>Thêm hoặc tinh chỉnh các tính năng mới.</a:t>
            </a:r>
          </a:p>
          <a:p>
            <a:pPr marL="158750" indent="0">
              <a:buFontTx/>
              <a:buNone/>
            </a:pPr>
            <a:r>
              <a:rPr lang="vi-VN" b="1" dirty="0"/>
              <a:t>Ý nghĩa</a:t>
            </a:r>
          </a:p>
          <a:p>
            <a:pPr marL="158750" indent="0">
              <a:buFontTx/>
              <a:buNone/>
            </a:pPr>
            <a:r>
              <a:rPr lang="vi-VN" dirty="0"/>
              <a:t>Giúp </a:t>
            </a:r>
            <a:r>
              <a:rPr lang="vi-VN" b="1" dirty="0"/>
              <a:t>duy trì hệ thống IoT luôn ổn định và an toàn</a:t>
            </a:r>
            <a:r>
              <a:rPr lang="vi-VN" dirty="0"/>
              <a:t>, đặc biệt khi có nhiều thiết bị phân tán ở nhiều vị trí.</a:t>
            </a:r>
          </a:p>
          <a:p>
            <a:pPr marL="158750" indent="0">
              <a:buFontTx/>
              <a:buNone/>
            </a:pPr>
            <a:r>
              <a:rPr lang="vi-VN" dirty="0"/>
              <a:t>Hỗ trợ quản trị viên:</a:t>
            </a:r>
          </a:p>
          <a:p>
            <a:pPr marL="457200" lvl="1" indent="0">
              <a:buFontTx/>
              <a:buNone/>
            </a:pPr>
            <a:r>
              <a:rPr lang="vi-VN" b="1" dirty="0"/>
              <a:t>Triển khai đồng loạt</a:t>
            </a:r>
            <a:r>
              <a:rPr lang="vi-VN" dirty="0"/>
              <a:t> trên toàn hệ thống hoặc theo từng nhóm thiết bị.</a:t>
            </a:r>
          </a:p>
          <a:p>
            <a:pPr marL="457200" lvl="1" indent="0">
              <a:buFontTx/>
              <a:buNone/>
            </a:pPr>
            <a:r>
              <a:rPr lang="vi-VN" b="1" dirty="0"/>
              <a:t>Giảm thời gian bảo trì</a:t>
            </a:r>
            <a:r>
              <a:rPr lang="vi-VN" dirty="0"/>
              <a:t> và </a:t>
            </a:r>
            <a:r>
              <a:rPr lang="vi-VN" b="1" dirty="0"/>
              <a:t>chi phí vận hành</a:t>
            </a:r>
            <a:r>
              <a:rPr lang="vi-VN" dirty="0"/>
              <a:t>, vì không cần can thiệp vật lý.</a:t>
            </a:r>
          </a:p>
          <a:p>
            <a:pPr marL="457200" lvl="1" indent="0">
              <a:buFontTx/>
              <a:buNone/>
            </a:pPr>
            <a:r>
              <a:rPr lang="vi-VN" dirty="0"/>
              <a:t>Đảm bảo </a:t>
            </a:r>
            <a:r>
              <a:rPr lang="vi-VN" b="1" dirty="0"/>
              <a:t>tính tương thích</a:t>
            </a:r>
            <a:r>
              <a:rPr lang="vi-VN" dirty="0"/>
              <a:t> giữa các thiết bị và nền tảng cloud.</a:t>
            </a:r>
          </a:p>
          <a:p>
            <a:pPr marL="158750" indent="0">
              <a:buFontTx/>
              <a:buNone/>
            </a:pPr>
            <a:r>
              <a:rPr lang="vi-VN" b="1" dirty="0"/>
              <a:t>Ví dụ thực tế</a:t>
            </a:r>
          </a:p>
          <a:p>
            <a:pPr marL="158750" indent="0">
              <a:buFontTx/>
              <a:buNone/>
            </a:pPr>
            <a:r>
              <a:rPr lang="vi-VN" dirty="0"/>
              <a:t>Hệ thống nông nghiệp thông minh có hàng trăm cảm biến đo độ ẩm → quản trị viên gửi bản cập nhật OTA giúp:</a:t>
            </a:r>
          </a:p>
          <a:p>
            <a:pPr marL="457200" lvl="1" indent="0">
              <a:buFontTx/>
              <a:buNone/>
            </a:pPr>
            <a:r>
              <a:rPr lang="vi-VN" dirty="0"/>
              <a:t>Giảm tần suất gửi dữ liệu để tiết kiệm pin.</a:t>
            </a:r>
          </a:p>
          <a:p>
            <a:pPr marL="457200" lvl="1" indent="0">
              <a:buFontTx/>
              <a:buNone/>
            </a:pPr>
            <a:r>
              <a:rPr lang="vi-VN" dirty="0"/>
              <a:t>Vá lỗi sai lệch trong phép đo.</a:t>
            </a:r>
          </a:p>
          <a:p>
            <a:pPr marL="158750" indent="0">
              <a:buFontTx/>
              <a:buNone/>
            </a:pPr>
            <a:r>
              <a:rPr lang="vi-VN" dirty="0"/>
              <a:t>Hoặc trong </a:t>
            </a:r>
            <a:r>
              <a:rPr lang="vi-VN" b="1" dirty="0"/>
              <a:t>nhà máy thông minh</a:t>
            </a:r>
            <a:r>
              <a:rPr lang="vi-VN" dirty="0"/>
              <a:t>, hệ thống tự động cập nhật firmware cho robot để </a:t>
            </a:r>
            <a:r>
              <a:rPr lang="vi-VN" b="1" dirty="0"/>
              <a:t>nâng cao độ chính xác trong sản xuất</a:t>
            </a:r>
            <a:r>
              <a:rPr lang="vi-VN" dirty="0"/>
              <a:t>.</a:t>
            </a:r>
          </a:p>
          <a:p>
            <a:pPr marL="0" lvl="0" indent="0" algn="l" rtl="0">
              <a:spcBef>
                <a:spcPts val="0"/>
              </a:spcBef>
              <a:spcAft>
                <a:spcPts val="0"/>
              </a:spcAft>
              <a:buFontTx/>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06b1a8280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06b1a8280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1. Tích hợp dữ liệu (Data Integration)</a:t>
            </a:r>
          </a:p>
          <a:p>
            <a:pPr marL="158750" indent="0">
              <a:buFontTx/>
              <a:buNone/>
            </a:pPr>
            <a:r>
              <a:rPr lang="vi-VN" b="1" dirty="0"/>
              <a:t>Khái niệm</a:t>
            </a:r>
          </a:p>
          <a:p>
            <a:pPr marL="158750" indent="0">
              <a:buFontTx/>
              <a:buNone/>
            </a:pPr>
            <a:r>
              <a:rPr lang="vi-VN" dirty="0"/>
              <a:t>Là quá trình </a:t>
            </a:r>
            <a:r>
              <a:rPr lang="vi-VN" b="1" dirty="0"/>
              <a:t>thu thập dữ liệu từ tất cả các thiết bị IoT</a:t>
            </a:r>
            <a:r>
              <a:rPr lang="vi-VN" dirty="0"/>
              <a:t>, sau đó </a:t>
            </a:r>
            <a:r>
              <a:rPr lang="vi-VN" b="1" dirty="0"/>
              <a:t>chuyển đổi và chuẩn hóa</a:t>
            </a:r>
            <a:r>
              <a:rPr lang="vi-VN" dirty="0"/>
              <a:t> chúng thành một </a:t>
            </a:r>
            <a:r>
              <a:rPr lang="vi-VN" b="1" dirty="0"/>
              <a:t>định dạng thống nhất</a:t>
            </a:r>
            <a:r>
              <a:rPr lang="vi-VN" dirty="0"/>
              <a:t>, trước khi </a:t>
            </a:r>
            <a:r>
              <a:rPr lang="vi-VN" b="1" dirty="0"/>
              <a:t>lưu trữ và phân tích</a:t>
            </a:r>
            <a:r>
              <a:rPr lang="vi-VN" dirty="0"/>
              <a:t>.</a:t>
            </a:r>
          </a:p>
          <a:p>
            <a:pPr marL="158750" indent="0">
              <a:buFontTx/>
              <a:buNone/>
            </a:pPr>
            <a:r>
              <a:rPr lang="vi-VN" dirty="0"/>
              <a:t>Mỗi thiết bị IoT (cảm biến, gateway, thiết bị biên, v.v.) có thể tạo ra dữ liệu với </a:t>
            </a:r>
            <a:r>
              <a:rPr lang="vi-VN" b="1" dirty="0"/>
              <a:t>định dạng, tần suất và giao thức khác nhau</a:t>
            </a:r>
            <a:r>
              <a:rPr lang="vi-VN" dirty="0"/>
              <a:t> — do đó cần một lớp trung gian để hợp nhất dữ liệu này.</a:t>
            </a:r>
          </a:p>
          <a:p>
            <a:pPr marL="158750" indent="0">
              <a:buFontTx/>
              <a:buNone/>
            </a:pPr>
            <a:r>
              <a:rPr lang="vi-VN" b="1" dirty="0"/>
              <a:t>Ý nghĩa</a:t>
            </a:r>
          </a:p>
          <a:p>
            <a:pPr marL="158750" indent="0">
              <a:buFontTx/>
              <a:buNone/>
            </a:pPr>
            <a:r>
              <a:rPr lang="vi-VN" b="1" dirty="0"/>
              <a:t>Chuẩn hóa dữ liệu:</a:t>
            </a:r>
            <a:r>
              <a:rPr lang="vi-VN" dirty="0"/>
              <a:t> giúp dữ liệu từ nhiều loại cảm biến (nhiệt độ, độ ẩm, vị trí, tốc độ, v.v.) có thể hiểu và xử lý được trong cùng một hệ thống.</a:t>
            </a:r>
          </a:p>
          <a:p>
            <a:pPr marL="158750" indent="0">
              <a:buFontTx/>
              <a:buNone/>
            </a:pPr>
            <a:r>
              <a:rPr lang="vi-VN" b="1" dirty="0"/>
              <a:t>Đảm bảo tính toàn vẹn và nhất quán:</a:t>
            </a:r>
            <a:r>
              <a:rPr lang="vi-VN" dirty="0"/>
              <a:t> tránh trùng lặp, mất mát, hoặc sai lệch trong quá trình truyền nhận.</a:t>
            </a:r>
          </a:p>
          <a:p>
            <a:pPr marL="158750" indent="0">
              <a:buFontTx/>
              <a:buNone/>
            </a:pPr>
            <a:r>
              <a:rPr lang="vi-VN" b="1" dirty="0"/>
              <a:t>Tạo nền tảng cho phân tích thông minh:</a:t>
            </a:r>
            <a:r>
              <a:rPr lang="vi-VN" dirty="0"/>
              <a:t> sau khi tích hợp, dữ liệu có thể được gửi đến các nền tảng phân tích, AI, hoặc hệ thống cảnh báo để hỗ trợ ra quyết định.</a:t>
            </a:r>
          </a:p>
          <a:p>
            <a:pPr marL="158750" indent="0">
              <a:buFontTx/>
              <a:buNone/>
            </a:pPr>
            <a:r>
              <a:rPr lang="vi-VN" b="1" dirty="0"/>
              <a:t>Tăng khả năng mở rộng:</a:t>
            </a:r>
            <a:r>
              <a:rPr lang="vi-VN" dirty="0"/>
              <a:t> hệ thống có thể dễ dàng thêm thiết bị mới mà không cần thay đổi cấu trúc xử lý dữ liệu.</a:t>
            </a:r>
          </a:p>
          <a:p>
            <a:pPr marL="158750" indent="0">
              <a:buFontTx/>
              <a:buNone/>
            </a:pPr>
            <a:r>
              <a:rPr lang="vi-VN" b="1" dirty="0"/>
              <a:t>Ví dụ thực tế</a:t>
            </a:r>
          </a:p>
          <a:p>
            <a:pPr marL="158750" indent="0">
              <a:buFontTx/>
              <a:buNone/>
            </a:pPr>
            <a:r>
              <a:rPr lang="vi-VN" dirty="0"/>
              <a:t>Trong hệ thống </a:t>
            </a:r>
            <a:r>
              <a:rPr lang="vi-VN" b="1" dirty="0"/>
              <a:t>Smart City</a:t>
            </a:r>
            <a:r>
              <a:rPr lang="vi-VN" dirty="0"/>
              <a:t>, dữ liệu từ camera, cảm biến giao thông, cảm biến môi trường được:</a:t>
            </a:r>
          </a:p>
          <a:p>
            <a:pPr marL="457200" lvl="1" indent="0">
              <a:buFontTx/>
              <a:buNone/>
            </a:pPr>
            <a:r>
              <a:rPr lang="vi-VN" dirty="0"/>
              <a:t>Thu thập về </a:t>
            </a:r>
            <a:r>
              <a:rPr lang="vi-VN" b="1" dirty="0"/>
              <a:t>gateway trung tâm</a:t>
            </a:r>
            <a:r>
              <a:rPr lang="vi-VN" dirty="0"/>
              <a:t>;</a:t>
            </a:r>
          </a:p>
          <a:p>
            <a:pPr marL="457200" lvl="1" indent="0">
              <a:buFontTx/>
              <a:buNone/>
            </a:pPr>
            <a:r>
              <a:rPr lang="vi-VN" dirty="0"/>
              <a:t>Chuyển đổi sang </a:t>
            </a:r>
            <a:r>
              <a:rPr lang="vi-VN" b="1" dirty="0"/>
              <a:t>định dạng JSON thống nhất</a:t>
            </a:r>
            <a:r>
              <a:rPr lang="vi-VN" dirty="0"/>
              <a:t>;</a:t>
            </a:r>
          </a:p>
          <a:p>
            <a:pPr marL="457200" lvl="1" indent="0">
              <a:buFontTx/>
              <a:buNone/>
            </a:pPr>
            <a:r>
              <a:rPr lang="vi-VN" dirty="0"/>
              <a:t>Lưu trữ trên </a:t>
            </a:r>
            <a:r>
              <a:rPr lang="vi-VN" b="1" dirty="0"/>
              <a:t>cloud</a:t>
            </a:r>
            <a:r>
              <a:rPr lang="vi-VN" dirty="0"/>
              <a:t> để phục vụ cho </a:t>
            </a:r>
            <a:r>
              <a:rPr lang="vi-VN" b="1" dirty="0"/>
              <a:t>hệ thống phân tích hành vi giao thông và cảnh báo ô nhiễm.</a:t>
            </a:r>
            <a:endParaRPr lang="vi-VN" dirty="0"/>
          </a:p>
          <a:p>
            <a:pPr marL="158750" indent="0">
              <a:buFontTx/>
              <a:buNone/>
            </a:pPr>
            <a:endParaRPr lang="en-US" b="1" dirty="0"/>
          </a:p>
          <a:p>
            <a:pPr marL="158750" indent="0">
              <a:buFontTx/>
              <a:buNone/>
            </a:pPr>
            <a:r>
              <a:rPr lang="en-US" b="1" dirty="0"/>
              <a:t>2. </a:t>
            </a:r>
            <a:r>
              <a:rPr lang="vi-VN" b="1" dirty="0"/>
              <a:t>Ngừng hoạt động thiết bị (Device Retirement)</a:t>
            </a:r>
          </a:p>
          <a:p>
            <a:pPr marL="158750" indent="0">
              <a:buFontTx/>
              <a:buNone/>
            </a:pPr>
            <a:r>
              <a:rPr lang="vi-VN" b="1" dirty="0"/>
              <a:t>Khái niệm</a:t>
            </a:r>
          </a:p>
          <a:p>
            <a:pPr marL="158750" indent="0">
              <a:buFontTx/>
              <a:buNone/>
            </a:pPr>
            <a:r>
              <a:rPr lang="vi-VN" dirty="0"/>
              <a:t>Là giai đoạn </a:t>
            </a:r>
            <a:r>
              <a:rPr lang="vi-VN" b="1" dirty="0"/>
              <a:t>kết thúc vòng đời của thiết bị IoT</a:t>
            </a:r>
            <a:r>
              <a:rPr lang="vi-VN" dirty="0"/>
              <a:t>, khi nó không còn cần thiết, bị hư hỏng, hoặc được thay thế.</a:t>
            </a:r>
          </a:p>
          <a:p>
            <a:pPr marL="158750" indent="0">
              <a:buFontTx/>
              <a:buNone/>
            </a:pPr>
            <a:r>
              <a:rPr lang="vi-VN" dirty="0"/>
              <a:t>Chức năng này cho phép người quản trị </a:t>
            </a:r>
            <a:r>
              <a:rPr lang="vi-VN" b="1" dirty="0"/>
              <a:t>vô hiệu hóa hoặc xóa an toàn</a:t>
            </a:r>
            <a:r>
              <a:rPr lang="vi-VN" dirty="0"/>
              <a:t> thiết bị khỏi hệ thống.</a:t>
            </a:r>
          </a:p>
          <a:p>
            <a:pPr marL="158750" indent="0">
              <a:buFontTx/>
              <a:buNone/>
            </a:pPr>
            <a:r>
              <a:rPr lang="vi-VN" b="1" dirty="0"/>
              <a:t>Ý nghĩa</a:t>
            </a:r>
          </a:p>
          <a:p>
            <a:pPr marL="158750" indent="0">
              <a:buFontTx/>
              <a:buNone/>
            </a:pPr>
            <a:r>
              <a:rPr lang="vi-VN" b="1" dirty="0"/>
              <a:t>Đảm bảo an toàn bảo mật:</a:t>
            </a:r>
            <a:r>
              <a:rPr lang="vi-VN" dirty="0"/>
              <a:t> khi thiết bị bị loại bỏ, các thông tin định danh (ID, khóa mã hóa, chứng chỉ) phải được thu hồi để tránh rủi ro bị tấn công hoặc giả mạo.</a:t>
            </a:r>
          </a:p>
          <a:p>
            <a:pPr marL="158750" indent="0">
              <a:buFontTx/>
              <a:buNone/>
            </a:pPr>
            <a:r>
              <a:rPr lang="vi-VN" b="1" dirty="0"/>
              <a:t>Giảm tải hệ thống:</a:t>
            </a:r>
            <a:r>
              <a:rPr lang="vi-VN" dirty="0"/>
              <a:t> loại bỏ thiết bị không còn hoạt động giúp tiết kiệm tài nguyên lưu trữ, băng thông, và chi phí quản lý.</a:t>
            </a:r>
          </a:p>
          <a:p>
            <a:pPr marL="158750" indent="0">
              <a:buFontTx/>
              <a:buNone/>
            </a:pPr>
            <a:r>
              <a:rPr lang="vi-VN" b="1" dirty="0"/>
              <a:t>Quản lý vòng đời thiết bị (Lifecycle Management):</a:t>
            </a:r>
            <a:r>
              <a:rPr lang="vi-VN" dirty="0"/>
              <a:t> duy trì danh sách thiết bị luôn chính xác, cập nhật, và dễ kiểm soát.</a:t>
            </a:r>
          </a:p>
          <a:p>
            <a:pPr marL="158750" indent="0">
              <a:buFontTx/>
              <a:buNone/>
            </a:pPr>
            <a:r>
              <a:rPr lang="vi-VN" b="1" dirty="0"/>
              <a:t>Ví dụ thực tế</a:t>
            </a:r>
          </a:p>
          <a:p>
            <a:pPr marL="158750" indent="0">
              <a:buFontTx/>
              <a:buNone/>
            </a:pPr>
            <a:r>
              <a:rPr lang="vi-VN" dirty="0"/>
              <a:t>Trong một </a:t>
            </a:r>
            <a:r>
              <a:rPr lang="vi-VN" b="1" dirty="0"/>
              <a:t>hệ thống nông nghiệp thông minh</a:t>
            </a:r>
            <a:r>
              <a:rPr lang="vi-VN" dirty="0"/>
              <a:t>, khi một cảm biến độ ẩm bị hỏng, hệ thống IoT:</a:t>
            </a:r>
          </a:p>
          <a:p>
            <a:pPr marL="457200" lvl="1" indent="0">
              <a:buFontTx/>
              <a:buNone/>
            </a:pPr>
            <a:r>
              <a:rPr lang="vi-VN" dirty="0"/>
              <a:t>Gửi lệnh “retire device” để ngắt kết nối thiết bị khỏi mạng.</a:t>
            </a:r>
          </a:p>
          <a:p>
            <a:pPr marL="457200" lvl="1" indent="0">
              <a:buFontTx/>
              <a:buNone/>
            </a:pPr>
            <a:r>
              <a:rPr lang="vi-VN" dirty="0"/>
              <a:t>Xóa thông tin xác thực (token, certificate).</a:t>
            </a:r>
          </a:p>
          <a:p>
            <a:pPr marL="457200" lvl="1" indent="0">
              <a:buFontTx/>
              <a:buNone/>
            </a:pPr>
            <a:r>
              <a:rPr lang="vi-VN" dirty="0"/>
              <a:t>Ghi nhận sự kiện trong nhật ký bảo trì và kích hoạt thiết bị thay thế mới.</a:t>
            </a:r>
          </a:p>
          <a:p>
            <a:pPr marL="0" lvl="0" indent="0" algn="l" rtl="0">
              <a:spcBef>
                <a:spcPts val="0"/>
              </a:spcBef>
              <a:spcAft>
                <a:spcPts val="0"/>
              </a:spcAft>
              <a:buFontTx/>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f9119afc4f_0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f9119afc4f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1. Đơn giản hóa quy trình thay đổi và cập nhật thiết bị</a:t>
            </a:r>
          </a:p>
          <a:p>
            <a:pPr marL="158750" indent="0">
              <a:buFontTx/>
              <a:buNone/>
            </a:pPr>
            <a:r>
              <a:rPr lang="vi-VN" dirty="0"/>
              <a:t>Hệ thống quản lý thiết bị giúp </a:t>
            </a:r>
            <a:r>
              <a:rPr lang="vi-VN" b="1" dirty="0"/>
              <a:t>tự động hóa</a:t>
            </a:r>
            <a:r>
              <a:rPr lang="vi-VN" dirty="0"/>
              <a:t> việc thêm mới, thay thế, hoặc cập nhật firmware mà không cần thao tác thủ công.</a:t>
            </a:r>
          </a:p>
          <a:p>
            <a:pPr marL="158750" indent="0">
              <a:buFontTx/>
              <a:buNone/>
            </a:pPr>
            <a:r>
              <a:rPr lang="vi-VN" dirty="0"/>
              <a:t>Giảm thiểu sai sót trong cấu hình thiết bị, giúp </a:t>
            </a:r>
            <a:r>
              <a:rPr lang="vi-VN" b="1" dirty="0"/>
              <a:t>rút ngắn thời gian triển khai và bảo trì</a:t>
            </a:r>
            <a:r>
              <a:rPr lang="vi-VN" dirty="0"/>
              <a:t>.</a:t>
            </a:r>
          </a:p>
          <a:p>
            <a:pPr marL="158750" indent="0">
              <a:buFontTx/>
              <a:buNone/>
            </a:pPr>
            <a:r>
              <a:rPr lang="vi-VN" dirty="0"/>
              <a:t>Các thao tác có thể được thực hiện hàng loạt qua </a:t>
            </a:r>
            <a:r>
              <a:rPr lang="vi-VN" b="1" dirty="0"/>
              <a:t>giao diện quản trị trung tâm</a:t>
            </a:r>
            <a:r>
              <a:rPr lang="vi-VN" dirty="0"/>
              <a:t> thay vì cấu hình từng thiết bị riêng lẻ.</a:t>
            </a:r>
          </a:p>
          <a:p>
            <a:pPr marL="158750" indent="0">
              <a:buFontTx/>
              <a:buNone/>
            </a:pPr>
            <a:endParaRPr lang="en-US" b="1" dirty="0"/>
          </a:p>
          <a:p>
            <a:pPr marL="158750" indent="0">
              <a:buFontTx/>
              <a:buNone/>
            </a:pPr>
            <a:r>
              <a:rPr lang="en-US" b="1" dirty="0"/>
              <a:t>2. </a:t>
            </a:r>
            <a:r>
              <a:rPr lang="vi-VN" b="1" dirty="0"/>
              <a:t>Tăng cường bảo mật</a:t>
            </a:r>
          </a:p>
          <a:p>
            <a:pPr marL="158750" indent="0">
              <a:buFontTx/>
              <a:buNone/>
            </a:pPr>
            <a:r>
              <a:rPr lang="vi-VN" dirty="0"/>
              <a:t>Hệ thống cho phép </a:t>
            </a:r>
            <a:r>
              <a:rPr lang="vi-VN" b="1" dirty="0"/>
              <a:t>quản lý danh tính thiết bị (device identity)</a:t>
            </a:r>
            <a:r>
              <a:rPr lang="vi-VN" dirty="0"/>
              <a:t>, xác thực kết nối và phân quyền truy cập rõ ràng.</a:t>
            </a:r>
          </a:p>
          <a:p>
            <a:pPr marL="158750" indent="0">
              <a:buFontTx/>
              <a:buNone/>
            </a:pPr>
            <a:r>
              <a:rPr lang="vi-VN" dirty="0"/>
              <a:t>Dễ dàng </a:t>
            </a:r>
            <a:r>
              <a:rPr lang="vi-VN" b="1" dirty="0"/>
              <a:t>phát hiện và vá các lỗ hổng bảo mật</a:t>
            </a:r>
            <a:r>
              <a:rPr lang="vi-VN" dirty="0"/>
              <a:t> qua việc giám sát và cập nhật phần mềm từ xa.</a:t>
            </a:r>
          </a:p>
          <a:p>
            <a:pPr marL="158750" indent="0">
              <a:buFontTx/>
              <a:buNone/>
            </a:pPr>
            <a:r>
              <a:rPr lang="vi-VN" dirty="0"/>
              <a:t>Giảm thiểu nguy cơ bị tấn công hoặc xâm nhập trái phép thông qua quản lý chứng chỉ, khóa mã hóa và xác thực.</a:t>
            </a:r>
          </a:p>
          <a:p>
            <a:pPr marL="158750" indent="0">
              <a:buFontTx/>
              <a:buNone/>
            </a:pPr>
            <a:endParaRPr lang="en-US" b="1" dirty="0"/>
          </a:p>
          <a:p>
            <a:pPr marL="158750" indent="0">
              <a:buFontTx/>
              <a:buNone/>
            </a:pPr>
            <a:r>
              <a:rPr lang="en-US" b="1" dirty="0"/>
              <a:t>3. </a:t>
            </a:r>
            <a:r>
              <a:rPr lang="vi-VN" b="1" dirty="0"/>
              <a:t>Cải thiện độ tin cậy và ổn định của thiết bị IoT</a:t>
            </a:r>
          </a:p>
          <a:p>
            <a:pPr marL="158750" indent="0">
              <a:buFontTx/>
              <a:buNone/>
            </a:pPr>
            <a:r>
              <a:rPr lang="vi-VN" dirty="0"/>
              <a:t>Giám sát liên tục tình trạng thiết bị giúp </a:t>
            </a:r>
            <a:r>
              <a:rPr lang="vi-VN" b="1" dirty="0"/>
              <a:t>phát hiện lỗi sớm</a:t>
            </a:r>
            <a:r>
              <a:rPr lang="vi-VN" dirty="0"/>
              <a:t>, từ đó bảo trì chủ động (predictive maintenance).</a:t>
            </a:r>
          </a:p>
          <a:p>
            <a:pPr marL="158750" indent="0">
              <a:buFontTx/>
              <a:buNone/>
            </a:pPr>
            <a:r>
              <a:rPr lang="vi-VN" dirty="0"/>
              <a:t>Tăng khả năng sẵn sàng của hệ thống, đảm bảo dữ liệu được truyền tải ổn định và chính xác.</a:t>
            </a:r>
          </a:p>
          <a:p>
            <a:pPr marL="158750" indent="0">
              <a:buFontTx/>
              <a:buNone/>
            </a:pPr>
            <a:r>
              <a:rPr lang="vi-VN" dirty="0"/>
              <a:t>Giúp toàn bộ mạng IoT hoạt động mượt mà hơn, đặc biệt trong các hệ thống quy mô lớn.</a:t>
            </a:r>
          </a:p>
          <a:p>
            <a:pPr marL="158750" indent="0">
              <a:buFontTx/>
              <a:buNone/>
            </a:pPr>
            <a:endParaRPr lang="en-US" b="1" dirty="0"/>
          </a:p>
          <a:p>
            <a:pPr marL="158750" indent="0">
              <a:buFontTx/>
              <a:buNone/>
            </a:pPr>
            <a:r>
              <a:rPr lang="en-US" b="1" dirty="0"/>
              <a:t>4. </a:t>
            </a:r>
            <a:r>
              <a:rPr lang="vi-VN" b="1" dirty="0"/>
              <a:t>Thích ứng với mô hình kinh doanh thay đổi nhanh</a:t>
            </a:r>
          </a:p>
          <a:p>
            <a:pPr marL="158750" indent="0">
              <a:buFontTx/>
              <a:buNone/>
            </a:pPr>
            <a:r>
              <a:rPr lang="vi-VN" dirty="0"/>
              <a:t>Trong bối cảnh </a:t>
            </a:r>
            <a:r>
              <a:rPr lang="vi-VN" b="1" dirty="0"/>
              <a:t>doanh nghiệp IoT mở rộng hoặc thay đổi chiến lược</a:t>
            </a:r>
            <a:r>
              <a:rPr lang="vi-VN" dirty="0"/>
              <a:t>, quản lý thiết bị cho phép:</a:t>
            </a:r>
          </a:p>
          <a:p>
            <a:pPr marL="457200" lvl="1" indent="0">
              <a:buFontTx/>
              <a:buNone/>
            </a:pPr>
            <a:r>
              <a:rPr lang="vi-VN" dirty="0"/>
              <a:t>Thêm, loại bỏ hoặc tái cấu hình thiết bị nhanh chóng.</a:t>
            </a:r>
          </a:p>
          <a:p>
            <a:pPr marL="457200" lvl="1" indent="0">
              <a:buFontTx/>
              <a:buNone/>
            </a:pPr>
            <a:r>
              <a:rPr lang="vi-VN" dirty="0"/>
              <a:t>Dễ dàng mở rộng sang </a:t>
            </a:r>
            <a:r>
              <a:rPr lang="vi-VN" b="1" dirty="0"/>
              <a:t>mô hình dịch vụ mới</a:t>
            </a:r>
            <a:r>
              <a:rPr lang="vi-VN" dirty="0"/>
              <a:t> (ví dụ: smart home, smart city, hoặc công nghiệp 4.0).</a:t>
            </a:r>
          </a:p>
          <a:p>
            <a:pPr marL="158750" indent="0">
              <a:buFontTx/>
              <a:buNone/>
            </a:pPr>
            <a:r>
              <a:rPr lang="vi-VN" dirty="0"/>
              <a:t>Đảm bảo hệ thống có thể </a:t>
            </a:r>
            <a:r>
              <a:rPr lang="vi-VN" b="1" dirty="0"/>
              <a:t>linh hoạt thích ứng với nhu cầu thị trường và người dùng</a:t>
            </a:r>
            <a:r>
              <a:rPr lang="vi-VN" dirty="0"/>
              <a:t>.</a:t>
            </a:r>
          </a:p>
          <a:p>
            <a:pPr marL="158750" indent="0">
              <a:buFontTx/>
              <a:buNone/>
            </a:pPr>
            <a:endParaRPr lang="en-US" b="1" dirty="0"/>
          </a:p>
          <a:p>
            <a:pPr marL="158750" indent="0">
              <a:buFontTx/>
              <a:buNone/>
            </a:pPr>
            <a:r>
              <a:rPr lang="vi-VN" b="1" dirty="0"/>
              <a:t>5. Đăng ký thiết bị nhanh hơn (Faster Onboarding)</a:t>
            </a:r>
          </a:p>
          <a:p>
            <a:pPr marL="158750" indent="0">
              <a:buFontTx/>
              <a:buNone/>
            </a:pPr>
            <a:r>
              <a:rPr lang="vi-VN" dirty="0"/>
              <a:t>Tự động hóa quy trình đăng ký (provisioning) giúp:</a:t>
            </a:r>
          </a:p>
          <a:p>
            <a:pPr marL="457200" lvl="1" indent="0">
              <a:buFontTx/>
              <a:buNone/>
            </a:pPr>
            <a:r>
              <a:rPr lang="vi-VN" dirty="0"/>
              <a:t>Thiết bị mới </a:t>
            </a:r>
            <a:r>
              <a:rPr lang="vi-VN" b="1" dirty="0"/>
              <a:t>kết nối an toàn</a:t>
            </a:r>
            <a:r>
              <a:rPr lang="vi-VN" dirty="0"/>
              <a:t> và </a:t>
            </a:r>
            <a:r>
              <a:rPr lang="vi-VN" b="1" dirty="0"/>
              <a:t>bắt đầu hoạt động ngay lập tức</a:t>
            </a:r>
            <a:r>
              <a:rPr lang="vi-VN" dirty="0"/>
              <a:t>.</a:t>
            </a:r>
          </a:p>
          <a:p>
            <a:pPr marL="457200" lvl="1" indent="0">
              <a:buFontTx/>
              <a:buNone/>
            </a:pPr>
            <a:r>
              <a:rPr lang="vi-VN" dirty="0"/>
              <a:t>Giảm khối lượng công việc thủ công cho đội kỹ thuật.</a:t>
            </a:r>
          </a:p>
          <a:p>
            <a:pPr marL="158750" indent="0">
              <a:buFontTx/>
              <a:buNone/>
            </a:pPr>
            <a:r>
              <a:rPr lang="vi-VN" dirty="0"/>
              <a:t>Hệ thống có thể </a:t>
            </a:r>
            <a:r>
              <a:rPr lang="vi-VN" b="1" dirty="0"/>
              <a:t>gán danh tính, cấp quyền, và cấu hình</a:t>
            </a:r>
            <a:r>
              <a:rPr lang="vi-VN" dirty="0"/>
              <a:t> chỉ trong vài giây.</a:t>
            </a:r>
          </a:p>
          <a:p>
            <a:pPr marL="158750" indent="0">
              <a:buFontTx/>
              <a:buNone/>
            </a:pPr>
            <a:endParaRPr lang="en-US" b="1" dirty="0"/>
          </a:p>
          <a:p>
            <a:pPr marL="158750" indent="0">
              <a:buFontTx/>
              <a:buNone/>
            </a:pPr>
            <a:r>
              <a:rPr lang="en-US" b="1" dirty="0"/>
              <a:t>6. </a:t>
            </a:r>
            <a:r>
              <a:rPr lang="vi-VN" b="1" dirty="0"/>
              <a:t>Tổ chức thiết bị tốt hơn</a:t>
            </a:r>
          </a:p>
          <a:p>
            <a:pPr marL="158750" indent="0">
              <a:buFontTx/>
              <a:buNone/>
            </a:pPr>
            <a:r>
              <a:rPr lang="vi-VN" dirty="0"/>
              <a:t>Quản lý thiết bị giúp </a:t>
            </a:r>
            <a:r>
              <a:rPr lang="vi-VN" b="1" dirty="0"/>
              <a:t>phân nhóm theo khu vực, chức năng hoặc loại thiết bị</a:t>
            </a:r>
            <a:r>
              <a:rPr lang="vi-VN" dirty="0"/>
              <a:t>, giúp việc theo dõi và điều khiển hiệu quả hơn.</a:t>
            </a:r>
          </a:p>
          <a:p>
            <a:pPr marL="158750" indent="0">
              <a:buFontTx/>
              <a:buNone/>
            </a:pPr>
            <a:r>
              <a:rPr lang="vi-VN" dirty="0"/>
              <a:t>Dễ dàng áp dụng </a:t>
            </a:r>
            <a:r>
              <a:rPr lang="vi-VN" b="1" dirty="0"/>
              <a:t>chính sách vận hành riêng</a:t>
            </a:r>
            <a:r>
              <a:rPr lang="vi-VN" dirty="0"/>
              <a:t> cho từng nhóm thiết bị.</a:t>
            </a:r>
          </a:p>
          <a:p>
            <a:pPr marL="158750" indent="0">
              <a:buFontTx/>
              <a:buNone/>
            </a:pPr>
            <a:r>
              <a:rPr lang="vi-VN" dirty="0"/>
              <a:t>Cải thiện khả năng phân tích và ra quyết định dựa trên dữ liệu thiết bị.</a:t>
            </a:r>
          </a:p>
          <a:p>
            <a:pPr marL="158750" indent="0">
              <a:buFontTx/>
              <a:buNone/>
            </a:pPr>
            <a:endParaRPr lang="en-US" b="1" dirty="0"/>
          </a:p>
          <a:p>
            <a:pPr marL="158750" indent="0">
              <a:buFontTx/>
              <a:buNone/>
            </a:pPr>
            <a:r>
              <a:rPr lang="en-US" b="1" dirty="0"/>
              <a:t>7. </a:t>
            </a:r>
            <a:r>
              <a:rPr lang="vi-VN" b="1" dirty="0"/>
              <a:t>Quản lý thiết bị từ xa dễ dàng hơn</a:t>
            </a:r>
          </a:p>
          <a:p>
            <a:pPr marL="158750" indent="0">
              <a:buFontTx/>
              <a:buNone/>
            </a:pPr>
            <a:r>
              <a:rPr lang="vi-VN" dirty="0"/>
              <a:t>Toàn bộ hệ thống thiết bị có thể được điều khiển và giám sát từ </a:t>
            </a:r>
            <a:r>
              <a:rPr lang="vi-VN" b="1" dirty="0"/>
              <a:t>một bảng điều khiển trung tâm (dashboard)</a:t>
            </a:r>
            <a:r>
              <a:rPr lang="vi-VN" dirty="0"/>
              <a:t>.</a:t>
            </a:r>
          </a:p>
          <a:p>
            <a:pPr marL="158750" indent="0">
              <a:buFontTx/>
              <a:buNone/>
            </a:pPr>
            <a:r>
              <a:rPr lang="vi-VN" dirty="0"/>
              <a:t>Hỗ trợ </a:t>
            </a:r>
            <a:r>
              <a:rPr lang="vi-VN" b="1" dirty="0"/>
              <a:t>cập nhật, khởi động lại, cấu hình lại hoặc chẩn đoán lỗi từ xa</a:t>
            </a:r>
            <a:r>
              <a:rPr lang="vi-VN" dirty="0"/>
              <a:t>.</a:t>
            </a:r>
          </a:p>
          <a:p>
            <a:pPr marL="158750" indent="0">
              <a:buFontTx/>
              <a:buNone/>
            </a:pPr>
            <a:r>
              <a:rPr lang="vi-VN" dirty="0"/>
              <a:t>Đặc biệt hữu ích trong các hệ thống có thiết bị phân tán ở nhiều địa điểm — ví dụ: nông nghiệp thông minh, giám sát năng lượng, logistics,…</a:t>
            </a:r>
          </a:p>
          <a:p>
            <a:pPr marL="158750" indent="0">
              <a:buFontTx/>
              <a:buNone/>
            </a:pPr>
            <a:endParaRPr lang="en-US" b="1" dirty="0"/>
          </a:p>
          <a:p>
            <a:pPr marL="158750" indent="0">
              <a:buFontTx/>
              <a:buNone/>
            </a:pPr>
            <a:r>
              <a:rPr lang="vi-VN" b="1" dirty="0"/>
              <a:t>Tổng kết</a:t>
            </a:r>
          </a:p>
          <a:p>
            <a:pPr marL="158750" indent="0">
              <a:buFontTx/>
              <a:buNone/>
            </a:pPr>
            <a:r>
              <a:rPr lang="vi-VN" dirty="0"/>
              <a:t>Quản lý thiết bị IoT mang lại lợi ích kép:</a:t>
            </a:r>
          </a:p>
          <a:p>
            <a:pPr marL="158750" indent="0">
              <a:buFontTx/>
              <a:buNone/>
            </a:pPr>
            <a:r>
              <a:rPr lang="vi-VN" b="1" dirty="0"/>
              <a:t>Cho doanh nghiệp:</a:t>
            </a:r>
            <a:r>
              <a:rPr lang="vi-VN" dirty="0"/>
              <a:t> tiết kiệm chi phí vận hành, giảm thời gian triển khai và tăng hiệu suất.</a:t>
            </a:r>
          </a:p>
          <a:p>
            <a:pPr marL="158750" indent="0">
              <a:buFontTx/>
              <a:buNone/>
            </a:pPr>
            <a:r>
              <a:rPr lang="vi-VN" b="1" dirty="0"/>
              <a:t>Cho người dùng:</a:t>
            </a:r>
            <a:r>
              <a:rPr lang="vi-VN" dirty="0"/>
              <a:t> đảm bảo thiết bị hoạt động ổn định, bảo mật và dễ bảo trì.</a:t>
            </a:r>
          </a:p>
          <a:p>
            <a:pPr marL="158750" indent="0">
              <a:buFontTx/>
              <a:buNone/>
            </a:pPr>
            <a:r>
              <a:rPr lang="en-US" dirty="0"/>
              <a:t>=&gt;</a:t>
            </a:r>
            <a:r>
              <a:rPr lang="vi-VN" dirty="0"/>
              <a:t> Có thể xem </a:t>
            </a:r>
            <a:r>
              <a:rPr lang="vi-VN" b="1" dirty="0"/>
              <a:t>IoT Device Management</a:t>
            </a:r>
            <a:r>
              <a:rPr lang="vi-VN" dirty="0"/>
              <a:t> như “</a:t>
            </a:r>
            <a:r>
              <a:rPr lang="vi-VN" b="1" dirty="0"/>
              <a:t>bộ não điều hành toàn bộ hệ sinh thái thiết bị kết nối</a:t>
            </a:r>
            <a:r>
              <a:rPr lang="vi-VN" dirty="0"/>
              <a:t>”, giúp hệ thống IoT vận hành bền vững và linh hoạt trong suốt vòng đời thiết bị.</a:t>
            </a:r>
          </a:p>
          <a:p>
            <a:pPr marL="0" lvl="0" indent="0" algn="l" rtl="0">
              <a:spcBef>
                <a:spcPts val="0"/>
              </a:spcBef>
              <a:spcAft>
                <a:spcPts val="0"/>
              </a:spcAft>
              <a:buFontTx/>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f9119afc4f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f9119afc4f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1. Dữ liệu phân tán (Distributed Data)</a:t>
            </a:r>
          </a:p>
          <a:p>
            <a:pPr marL="158750" indent="0">
              <a:buFontTx/>
              <a:buNone/>
            </a:pPr>
            <a:r>
              <a:rPr lang="vi-VN" dirty="0"/>
              <a:t>Trong hệ thống IoT, dữ liệu được sinh ra </a:t>
            </a:r>
            <a:r>
              <a:rPr lang="vi-VN" b="1" dirty="0"/>
              <a:t>liên tục từ hàng nghìn thiết bị</a:t>
            </a:r>
            <a:r>
              <a:rPr lang="vi-VN" dirty="0"/>
              <a:t> đặt ở nhiều vị trí khác nhau.</a:t>
            </a:r>
          </a:p>
          <a:p>
            <a:pPr marL="158750" indent="0">
              <a:buFontTx/>
              <a:buNone/>
            </a:pPr>
            <a:r>
              <a:rPr lang="vi-VN" dirty="0"/>
              <a:t>Điều này khiến việc </a:t>
            </a:r>
            <a:r>
              <a:rPr lang="vi-VN" b="1" dirty="0"/>
              <a:t>thu thập, đồng bộ và lưu trữ dữ liệu</a:t>
            </a:r>
            <a:r>
              <a:rPr lang="vi-VN" dirty="0"/>
              <a:t> trở nên phức tạp.</a:t>
            </a:r>
          </a:p>
          <a:p>
            <a:pPr marL="158750" indent="0">
              <a:buFontTx/>
              <a:buNone/>
            </a:pPr>
            <a:r>
              <a:rPr lang="vi-VN" dirty="0"/>
              <a:t>Ngoài ra, dữ liệu có thể ở </a:t>
            </a:r>
            <a:r>
              <a:rPr lang="vi-VN" b="1" dirty="0"/>
              <a:t>nhiều định dạng và giao thức khác nhau</a:t>
            </a:r>
            <a:r>
              <a:rPr lang="vi-VN" dirty="0"/>
              <a:t>, làm tăng chi phí và độ khó khi tích hợp.</a:t>
            </a:r>
            <a:br>
              <a:rPr lang="vi-VN" dirty="0"/>
            </a:br>
            <a:r>
              <a:rPr lang="en-US" dirty="0"/>
              <a:t>=&gt; </a:t>
            </a:r>
            <a:r>
              <a:rPr lang="vi-VN" b="1" dirty="0"/>
              <a:t>Thách thức:</a:t>
            </a:r>
            <a:r>
              <a:rPr lang="vi-VN" dirty="0"/>
              <a:t> đảm bảo dữ liệu được </a:t>
            </a:r>
            <a:r>
              <a:rPr lang="vi-VN" b="1" dirty="0"/>
              <a:t>chuẩn hóa, đồng bộ và truyền an toàn</a:t>
            </a:r>
            <a:r>
              <a:rPr lang="vi-VN" dirty="0"/>
              <a:t> giữa các tầng thiết bị, gateway và cloud.</a:t>
            </a:r>
          </a:p>
          <a:p>
            <a:pPr marL="158750" indent="0">
              <a:buFontTx/>
              <a:buNone/>
            </a:pPr>
            <a:endParaRPr lang="en-US" b="1" dirty="0"/>
          </a:p>
          <a:p>
            <a:pPr marL="158750" indent="0">
              <a:buFontTx/>
              <a:buNone/>
            </a:pPr>
            <a:r>
              <a:rPr lang="en-US" b="1" dirty="0"/>
              <a:t>2. </a:t>
            </a:r>
            <a:r>
              <a:rPr lang="vi-VN" b="1" dirty="0"/>
              <a:t>Kiểm soát truy cập (Access Control)</a:t>
            </a:r>
          </a:p>
          <a:p>
            <a:pPr marL="158750" indent="0">
              <a:buFontTx/>
              <a:buNone/>
            </a:pPr>
            <a:r>
              <a:rPr lang="vi-VN" dirty="0"/>
              <a:t>Khi số lượng thiết bị tăng, việc </a:t>
            </a:r>
            <a:r>
              <a:rPr lang="vi-VN" b="1" dirty="0"/>
              <a:t>xác định ai hoặc thiết bị nào được quyền truy cập vào hệ thống</a:t>
            </a:r>
            <a:r>
              <a:rPr lang="vi-VN" dirty="0"/>
              <a:t> trở nên quan trọng.</a:t>
            </a:r>
          </a:p>
          <a:p>
            <a:pPr marL="158750" indent="0">
              <a:buFontTx/>
              <a:buNone/>
            </a:pPr>
            <a:r>
              <a:rPr lang="vi-VN" dirty="0"/>
              <a:t>Nếu không có cơ chế xác thực mạnh, hacker có thể </a:t>
            </a:r>
            <a:r>
              <a:rPr lang="vi-VN" b="1" dirty="0"/>
              <a:t>xâm nhập và chiếm quyền điều khiển thiết bị</a:t>
            </a:r>
            <a:r>
              <a:rPr lang="vi-VN" dirty="0"/>
              <a:t>.</a:t>
            </a:r>
          </a:p>
          <a:p>
            <a:pPr marL="158750" indent="0">
              <a:buFontTx/>
              <a:buNone/>
            </a:pPr>
            <a:r>
              <a:rPr lang="vi-VN" dirty="0"/>
              <a:t>Quản lý truy cập cần đảm bảo:</a:t>
            </a:r>
          </a:p>
          <a:p>
            <a:pPr marL="457200" lvl="1" indent="0">
              <a:buFontTx/>
              <a:buNone/>
            </a:pPr>
            <a:r>
              <a:rPr lang="vi-VN" dirty="0"/>
              <a:t>Mỗi thiết bị có </a:t>
            </a:r>
            <a:r>
              <a:rPr lang="vi-VN" b="1" dirty="0"/>
              <a:t>ID duy nhất</a:t>
            </a:r>
            <a:r>
              <a:rPr lang="vi-VN" dirty="0"/>
              <a:t>;</a:t>
            </a:r>
          </a:p>
          <a:p>
            <a:pPr marL="457200" lvl="1" indent="0">
              <a:buFontTx/>
              <a:buNone/>
            </a:pPr>
            <a:r>
              <a:rPr lang="vi-VN" dirty="0"/>
              <a:t>Kết nối được </a:t>
            </a:r>
            <a:r>
              <a:rPr lang="vi-VN" b="1" dirty="0"/>
              <a:t>mã hóa và xác thực hai chiều</a:t>
            </a:r>
            <a:r>
              <a:rPr lang="vi-VN" dirty="0"/>
              <a:t> (mutual authentication).</a:t>
            </a:r>
            <a:br>
              <a:rPr lang="vi-VN" dirty="0"/>
            </a:br>
            <a:r>
              <a:rPr lang="en-US" dirty="0"/>
              <a:t>=&gt; </a:t>
            </a:r>
            <a:r>
              <a:rPr lang="vi-VN" b="1" dirty="0"/>
              <a:t>Thách thức:</a:t>
            </a:r>
            <a:r>
              <a:rPr lang="vi-VN" dirty="0"/>
              <a:t> cân bằng giữa </a:t>
            </a:r>
            <a:r>
              <a:rPr lang="vi-VN" b="1" dirty="0"/>
              <a:t>tính bảo mật</a:t>
            </a:r>
            <a:r>
              <a:rPr lang="vi-VN" dirty="0"/>
              <a:t> và </a:t>
            </a:r>
            <a:r>
              <a:rPr lang="vi-VN" b="1" dirty="0"/>
              <a:t>hiệu năng xử lý</a:t>
            </a:r>
            <a:r>
              <a:rPr lang="vi-VN" dirty="0"/>
              <a:t>, đặc biệt trên các thiết bị có tài nguyên hạn chế.</a:t>
            </a:r>
          </a:p>
          <a:p>
            <a:pPr marL="158750" indent="0">
              <a:buFontTx/>
              <a:buNone/>
            </a:pPr>
            <a:endParaRPr lang="en-US" b="1" dirty="0"/>
          </a:p>
          <a:p>
            <a:pPr marL="158750" indent="0">
              <a:buFontTx/>
              <a:buNone/>
            </a:pPr>
            <a:r>
              <a:rPr lang="en-US" b="1" dirty="0"/>
              <a:t>3. </a:t>
            </a:r>
            <a:r>
              <a:rPr lang="vi-VN" b="1" dirty="0"/>
              <a:t>Sự gia tăng của thiết bị (Device Proliferation)</a:t>
            </a:r>
          </a:p>
          <a:p>
            <a:pPr marL="158750" indent="0">
              <a:buFontTx/>
              <a:buNone/>
            </a:pPr>
            <a:r>
              <a:rPr lang="vi-VN" dirty="0"/>
              <a:t>Hệ sinh thái IoT đang mở rộng cực nhanh — từ vài chục đến hàng triệu thiết bị trong cùng một mạng.</a:t>
            </a:r>
          </a:p>
          <a:p>
            <a:pPr marL="158750" indent="0">
              <a:buFontTx/>
              <a:buNone/>
            </a:pPr>
            <a:r>
              <a:rPr lang="vi-VN" dirty="0"/>
              <a:t>Khi số lượng tăng, </a:t>
            </a:r>
            <a:r>
              <a:rPr lang="vi-VN" b="1" dirty="0"/>
              <a:t>gánh nặng quản lý, bảo trì và cập nhật</a:t>
            </a:r>
            <a:r>
              <a:rPr lang="vi-VN" dirty="0"/>
              <a:t> cũng tăng theo.</a:t>
            </a:r>
          </a:p>
          <a:p>
            <a:pPr marL="158750" indent="0">
              <a:buFontTx/>
              <a:buNone/>
            </a:pPr>
            <a:r>
              <a:rPr lang="vi-VN" dirty="0"/>
              <a:t>Cần có cơ chế tự động </a:t>
            </a:r>
            <a:r>
              <a:rPr lang="vi-VN" b="1" dirty="0"/>
              <a:t>phát hiện, cấu hình và đăng ký thiết bị mới</a:t>
            </a:r>
            <a:r>
              <a:rPr lang="vi-VN" dirty="0"/>
              <a:t> (auto-provisioning).</a:t>
            </a:r>
            <a:br>
              <a:rPr lang="vi-VN" dirty="0"/>
            </a:br>
            <a:r>
              <a:rPr lang="en-US" dirty="0"/>
              <a:t>=&gt; </a:t>
            </a:r>
            <a:r>
              <a:rPr lang="vi-VN" b="1" dirty="0"/>
              <a:t>Thách thức:</a:t>
            </a:r>
            <a:r>
              <a:rPr lang="vi-VN" dirty="0"/>
              <a:t> duy trì hiệu suất ổn định khi mạng phát triển mà </a:t>
            </a:r>
            <a:r>
              <a:rPr lang="vi-VN" b="1" dirty="0"/>
              <a:t>không làm quá tải hệ thống quản lý trung tâm</a:t>
            </a:r>
            <a:r>
              <a:rPr lang="vi-VN" dirty="0"/>
              <a:t>.</a:t>
            </a:r>
          </a:p>
          <a:p>
            <a:pPr marL="158750" indent="0">
              <a:buFontTx/>
              <a:buNone/>
            </a:pPr>
            <a:endParaRPr lang="en-US" b="1" dirty="0"/>
          </a:p>
          <a:p>
            <a:pPr marL="158750" indent="0">
              <a:buFontTx/>
              <a:buNone/>
            </a:pPr>
            <a:r>
              <a:rPr lang="en-US" b="1" dirty="0"/>
              <a:t>4. </a:t>
            </a:r>
            <a:r>
              <a:rPr lang="vi-VN" b="1" dirty="0"/>
              <a:t>Quy mô và độ phức tạp của hệ sinh thái thiết bị IoT</a:t>
            </a:r>
          </a:p>
          <a:p>
            <a:pPr marL="158750" indent="0">
              <a:buFontTx/>
              <a:buNone/>
            </a:pPr>
            <a:r>
              <a:rPr lang="vi-VN" dirty="0"/>
              <a:t>Mỗi thiết bị có </a:t>
            </a:r>
            <a:r>
              <a:rPr lang="vi-VN" b="1" dirty="0"/>
              <a:t>chức năng, giao thức và thông số khác nhau</a:t>
            </a:r>
            <a:r>
              <a:rPr lang="vi-VN" dirty="0"/>
              <a:t>, khiến việc tương tác và đồng bộ khó khăn.</a:t>
            </a:r>
          </a:p>
          <a:p>
            <a:pPr marL="158750" indent="0">
              <a:buFontTx/>
              <a:buNone/>
            </a:pPr>
            <a:r>
              <a:rPr lang="vi-VN" dirty="0"/>
              <a:t>Trong các hệ thống đa nền tảng (multi-vendor), </a:t>
            </a:r>
            <a:r>
              <a:rPr lang="vi-VN" b="1" dirty="0"/>
              <a:t>thiếu tiêu chuẩn chung</a:t>
            </a:r>
            <a:r>
              <a:rPr lang="vi-VN" dirty="0"/>
              <a:t> làm giảm khả năng tương thích.</a:t>
            </a:r>
            <a:br>
              <a:rPr lang="vi-VN" dirty="0"/>
            </a:br>
            <a:r>
              <a:rPr lang="en-US" dirty="0"/>
              <a:t>=&gt; </a:t>
            </a:r>
            <a:r>
              <a:rPr lang="vi-VN" b="1" dirty="0"/>
              <a:t>Thách thức:</a:t>
            </a:r>
            <a:r>
              <a:rPr lang="vi-VN" dirty="0"/>
              <a:t> thiết kế hệ thống quản lý có thể </a:t>
            </a:r>
            <a:r>
              <a:rPr lang="vi-VN" b="1" dirty="0"/>
              <a:t>mở rộng linh hoạt</a:t>
            </a:r>
            <a:r>
              <a:rPr lang="vi-VN" dirty="0"/>
              <a:t>, hỗ trợ nhiều loại thiết bị, nhưng vẫn đảm bảo tính toàn vẹn dữ liệu và khả năng tương tác.</a:t>
            </a:r>
          </a:p>
          <a:p>
            <a:pPr marL="158750" indent="0">
              <a:buFontTx/>
              <a:buNone/>
            </a:pPr>
            <a:endParaRPr lang="en-US" b="1" dirty="0"/>
          </a:p>
          <a:p>
            <a:pPr marL="158750" indent="0">
              <a:buFontTx/>
              <a:buNone/>
            </a:pPr>
            <a:r>
              <a:rPr lang="vi-VN" b="1" dirty="0"/>
              <a:t>5. Hiệu suất mạng và khả năng tương tác (Network Performance &amp; Interoperability)</a:t>
            </a:r>
          </a:p>
          <a:p>
            <a:pPr marL="158750" indent="0">
              <a:buFontTx/>
              <a:buNone/>
            </a:pPr>
            <a:r>
              <a:rPr lang="vi-VN" dirty="0"/>
              <a:t>Thiết bị IoT thường sử dụng </a:t>
            </a:r>
            <a:r>
              <a:rPr lang="vi-VN" b="1" dirty="0"/>
              <a:t>mạng không dây (Wi-Fi, ZigBee, LoRa, LTE, BLE...)</a:t>
            </a:r>
            <a:r>
              <a:rPr lang="vi-VN" dirty="0"/>
              <a:t>, có thể bị ảnh hưởng bởi nhiễu, mất kết nối hoặc độ trễ.</a:t>
            </a:r>
          </a:p>
          <a:p>
            <a:pPr marL="158750" indent="0">
              <a:buFontTx/>
              <a:buNone/>
            </a:pPr>
            <a:r>
              <a:rPr lang="vi-VN" dirty="0"/>
              <a:t>Ngoài ra, nhiều giao thức khác nhau (HTTP, MQTT, CoAP, AMQP...) làm phức tạp việc tích hợp và truyền dữ liệu.</a:t>
            </a:r>
            <a:br>
              <a:rPr lang="vi-VN" dirty="0"/>
            </a:br>
            <a:r>
              <a:rPr lang="en-US" dirty="0"/>
              <a:t>=&gt; </a:t>
            </a:r>
            <a:r>
              <a:rPr lang="vi-VN" b="1" dirty="0"/>
              <a:t>Thách thức:</a:t>
            </a:r>
            <a:r>
              <a:rPr lang="vi-VN" dirty="0"/>
              <a:t> tối ưu hiệu suất truyền thông, </a:t>
            </a:r>
            <a:r>
              <a:rPr lang="vi-VN" b="1" dirty="0"/>
              <a:t>đảm bảo kết nối ổn định và giao tiếp mượt mà giữa các tầng IoT</a:t>
            </a:r>
            <a:r>
              <a:rPr lang="vi-VN" dirty="0"/>
              <a:t> (device – gateway – cloud).</a:t>
            </a:r>
          </a:p>
          <a:p>
            <a:pPr marL="158750" indent="0">
              <a:buFontTx/>
              <a:buNone/>
            </a:pPr>
            <a:endParaRPr lang="en-US" b="1" dirty="0"/>
          </a:p>
          <a:p>
            <a:pPr marL="158750" indent="0">
              <a:buFontTx/>
              <a:buNone/>
            </a:pPr>
            <a:r>
              <a:rPr lang="en-US" b="1" dirty="0"/>
              <a:t>6. </a:t>
            </a:r>
            <a:r>
              <a:rPr lang="vi-VN" b="1" dirty="0"/>
              <a:t>Cập nhật firmware và software (Firmware &amp; Software Updates)</a:t>
            </a:r>
          </a:p>
          <a:p>
            <a:pPr marL="158750" indent="0">
              <a:buFontTx/>
              <a:buNone/>
            </a:pPr>
            <a:r>
              <a:rPr lang="vi-VN" dirty="0"/>
              <a:t>Việc cập nhật phần mềm trên </a:t>
            </a:r>
            <a:r>
              <a:rPr lang="vi-VN" b="1" dirty="0"/>
              <a:t>thiết bị phân tán toàn cầu</a:t>
            </a:r>
            <a:r>
              <a:rPr lang="vi-VN" dirty="0"/>
              <a:t> là một vấn đề khó:</a:t>
            </a:r>
          </a:p>
          <a:p>
            <a:pPr marL="457200" lvl="1" indent="0">
              <a:buFontTx/>
              <a:buNone/>
            </a:pPr>
            <a:r>
              <a:rPr lang="vi-VN" dirty="0"/>
              <a:t>Phải </a:t>
            </a:r>
            <a:r>
              <a:rPr lang="vi-VN" b="1" dirty="0"/>
              <a:t>đảm bảo tính an toàn</a:t>
            </a:r>
            <a:r>
              <a:rPr lang="vi-VN" dirty="0"/>
              <a:t> trong quá trình tải và cài đặt.</a:t>
            </a:r>
          </a:p>
          <a:p>
            <a:pPr marL="457200" lvl="1" indent="0">
              <a:buFontTx/>
              <a:buNone/>
            </a:pPr>
            <a:r>
              <a:rPr lang="vi-VN" dirty="0"/>
              <a:t>Phải tránh gây gián đoạn hoạt động hệ thống.</a:t>
            </a:r>
          </a:p>
          <a:p>
            <a:pPr marL="158750" indent="0">
              <a:buFontTx/>
              <a:buNone/>
            </a:pPr>
            <a:r>
              <a:rPr lang="vi-VN" dirty="0"/>
              <a:t>Nếu không cập nhật kịp thời, thiết bị có thể:</a:t>
            </a:r>
          </a:p>
          <a:p>
            <a:pPr marL="457200" lvl="1" indent="0">
              <a:buFontTx/>
              <a:buNone/>
            </a:pPr>
            <a:r>
              <a:rPr lang="vi-VN" dirty="0"/>
              <a:t>Gặp </a:t>
            </a:r>
            <a:r>
              <a:rPr lang="vi-VN" b="1" dirty="0"/>
              <a:t>lỗ hổng bảo mật</a:t>
            </a:r>
            <a:r>
              <a:rPr lang="vi-VN" dirty="0"/>
              <a:t>;</a:t>
            </a:r>
          </a:p>
          <a:p>
            <a:pPr marL="457200" lvl="1" indent="0">
              <a:buFontTx/>
              <a:buNone/>
            </a:pPr>
            <a:r>
              <a:rPr lang="vi-VN" dirty="0"/>
              <a:t>Không tương thích với hệ thống mới.</a:t>
            </a:r>
            <a:br>
              <a:rPr lang="vi-VN" dirty="0"/>
            </a:br>
            <a:r>
              <a:rPr lang="en-US" dirty="0"/>
              <a:t>=&gt; </a:t>
            </a:r>
            <a:r>
              <a:rPr lang="vi-VN" b="1" dirty="0"/>
              <a:t>Thách thức:</a:t>
            </a:r>
            <a:r>
              <a:rPr lang="vi-VN" dirty="0"/>
              <a:t> phát triển cơ chế </a:t>
            </a:r>
            <a:r>
              <a:rPr lang="vi-VN" b="1" dirty="0"/>
              <a:t>cập nhật từ xa (Over-the-Air)</a:t>
            </a:r>
            <a:r>
              <a:rPr lang="vi-VN" dirty="0"/>
              <a:t> an toàn, ổn định và có khả năng phục hồi khi lỗi xảy ra.</a:t>
            </a:r>
          </a:p>
          <a:p>
            <a:pPr marL="158750" indent="0">
              <a:buFontTx/>
              <a:buNone/>
            </a:pPr>
            <a:endParaRPr lang="en-US" b="1" dirty="0"/>
          </a:p>
          <a:p>
            <a:pPr marL="158750" indent="0">
              <a:buFontTx/>
              <a:buNone/>
            </a:pPr>
            <a:r>
              <a:rPr lang="vi-VN" b="1" dirty="0"/>
              <a:t>Tổng kết</a:t>
            </a:r>
          </a:p>
          <a:p>
            <a:pPr marL="158750" indent="0">
              <a:buFontTx/>
              <a:buNone/>
            </a:pPr>
            <a:r>
              <a:rPr lang="vi-VN" dirty="0"/>
              <a:t>Quản lý thiết bị IoT đối mặt với </a:t>
            </a:r>
            <a:r>
              <a:rPr lang="vi-VN" b="1" dirty="0"/>
              <a:t>thách thức kép</a:t>
            </a:r>
            <a:r>
              <a:rPr lang="vi-VN" dirty="0"/>
              <a:t>:</a:t>
            </a:r>
          </a:p>
          <a:p>
            <a:pPr marL="158750" indent="0">
              <a:buFontTx/>
              <a:buNone/>
            </a:pPr>
            <a:r>
              <a:rPr lang="vi-VN" dirty="0"/>
              <a:t>Một mặt phải </a:t>
            </a:r>
            <a:r>
              <a:rPr lang="vi-VN" b="1" dirty="0"/>
              <a:t>đảm bảo bảo mật, hiệu năng và tính tin cậy</a:t>
            </a:r>
            <a:r>
              <a:rPr lang="vi-VN" dirty="0"/>
              <a:t>,</a:t>
            </a:r>
          </a:p>
          <a:p>
            <a:pPr marL="158750" indent="0">
              <a:buFontTx/>
              <a:buNone/>
            </a:pPr>
            <a:r>
              <a:rPr lang="vi-VN" dirty="0"/>
              <a:t>Mặt khác phải </a:t>
            </a:r>
            <a:r>
              <a:rPr lang="vi-VN" b="1" dirty="0"/>
              <a:t>duy trì khả năng mở rộng và tương thích</a:t>
            </a:r>
            <a:r>
              <a:rPr lang="vi-VN" dirty="0"/>
              <a:t> khi số lượng thiết bị và lượng dữ liệu tăng nhanh.</a:t>
            </a:r>
          </a:p>
          <a:p>
            <a:pPr marL="158750" indent="0">
              <a:buFontTx/>
              <a:buNone/>
            </a:pPr>
            <a:r>
              <a:rPr lang="en-US" dirty="0"/>
              <a:t>=&gt;</a:t>
            </a:r>
            <a:r>
              <a:rPr lang="vi-VN" dirty="0"/>
              <a:t> Giải pháp hiệu quả thường bao gồm:</a:t>
            </a:r>
          </a:p>
          <a:p>
            <a:pPr marL="158750" indent="0">
              <a:buFontTx/>
              <a:buNone/>
            </a:pPr>
            <a:r>
              <a:rPr lang="vi-VN" b="1" dirty="0"/>
              <a:t>Hạ tầng quản lý tập trung (IoT Device Management Platform)</a:t>
            </a:r>
            <a:r>
              <a:rPr lang="vi-VN" dirty="0"/>
              <a:t>,</a:t>
            </a:r>
          </a:p>
          <a:p>
            <a:pPr marL="158750" indent="0">
              <a:buFontTx/>
              <a:buNone/>
            </a:pPr>
            <a:r>
              <a:rPr lang="vi-VN" b="1" dirty="0"/>
              <a:t>Cơ chế xác thực và mã hóa mạnh</a:t>
            </a:r>
            <a:r>
              <a:rPr lang="vi-VN" dirty="0"/>
              <a:t>,</a:t>
            </a:r>
          </a:p>
          <a:p>
            <a:pPr marL="158750" indent="0">
              <a:buFontTx/>
              <a:buNone/>
            </a:pPr>
            <a:r>
              <a:rPr lang="vi-VN" b="1" dirty="0"/>
              <a:t>Hệ thống giám sát thông minh và cập nhật tự động</a:t>
            </a:r>
            <a:r>
              <a:rPr lang="vi-VN" dirty="0"/>
              <a:t>,</a:t>
            </a:r>
            <a:br>
              <a:rPr lang="vi-VN" dirty="0"/>
            </a:br>
            <a:r>
              <a:rPr lang="vi-VN" dirty="0"/>
              <a:t>nhằm đảm bảo hệ sinh thái IoT hoạt động </a:t>
            </a:r>
            <a:r>
              <a:rPr lang="vi-VN" b="1" dirty="0"/>
              <a:t>an toàn – ổn định – linh hoạt.</a:t>
            </a:r>
            <a:endParaRPr lang="vi-VN" dirty="0"/>
          </a:p>
          <a:p>
            <a:pPr marL="0" lvl="0" indent="0" algn="l" rtl="0">
              <a:spcBef>
                <a:spcPts val="0"/>
              </a:spcBef>
              <a:spcAft>
                <a:spcPts val="0"/>
              </a:spcAft>
              <a:buFontTx/>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f9119afc4f_0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f9119afc4f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giải thích chi tiết</a:t>
            </a:r>
            <a:r>
              <a:rPr lang="vi-VN" dirty="0"/>
              <a:t> cho hình “Best Practices (Thực hành tốt nhất) cho Quản lý Thiết bị IoT” — giúp sinh viên hiểu rõ cách áp dụng các nguyên tắc này trong triển khai và vận hành hệ thống IoT thực tế:</a:t>
            </a:r>
          </a:p>
          <a:p>
            <a:pPr marL="158750" indent="0">
              <a:buFontTx/>
              <a:buNone/>
            </a:pPr>
            <a:endParaRPr lang="en-US" b="1" dirty="0"/>
          </a:p>
          <a:p>
            <a:pPr marL="158750" indent="0">
              <a:buFontTx/>
              <a:buNone/>
            </a:pPr>
            <a:r>
              <a:rPr lang="en-US" b="1" dirty="0"/>
              <a:t>1. </a:t>
            </a:r>
            <a:r>
              <a:rPr lang="vi-VN" b="1" dirty="0"/>
              <a:t>Implement device monitoring &amp; control mechanisms (Triển khai cơ chế giám sát và điều khiển thiết bị)</a:t>
            </a:r>
          </a:p>
          <a:p>
            <a:pPr marL="158750" indent="0">
              <a:buFontTx/>
              <a:buNone/>
            </a:pPr>
            <a:r>
              <a:rPr lang="en-US" b="1" dirty="0"/>
              <a:t>- </a:t>
            </a:r>
            <a:r>
              <a:rPr lang="vi-VN" b="1" dirty="0"/>
              <a:t>Remote monitoring tools (Công cụ giám sát từ xa)</a:t>
            </a:r>
          </a:p>
          <a:p>
            <a:pPr marL="158750" indent="0">
              <a:buFontTx/>
              <a:buNone/>
            </a:pPr>
            <a:r>
              <a:rPr lang="vi-VN" dirty="0"/>
              <a:t>Cho phép </a:t>
            </a:r>
            <a:r>
              <a:rPr lang="vi-VN" b="1" dirty="0"/>
              <a:t>theo dõi trạng thái thiết bị IoT theo thời gian thực</a:t>
            </a:r>
            <a:r>
              <a:rPr lang="vi-VN" dirty="0"/>
              <a:t> từ trung tâm điều khiển.</a:t>
            </a:r>
          </a:p>
          <a:p>
            <a:pPr marL="158750" indent="0">
              <a:buFontTx/>
              <a:buNone/>
            </a:pPr>
            <a:r>
              <a:rPr lang="vi-VN" dirty="0"/>
              <a:t>Giúp phát hiện nhanh sự cố (mất kết nối, pin yếu, lỗi cảm biến).</a:t>
            </a:r>
          </a:p>
          <a:p>
            <a:pPr marL="158750" indent="0">
              <a:buFontTx/>
              <a:buNone/>
            </a:pPr>
            <a:r>
              <a:rPr lang="vi-VN" dirty="0"/>
              <a:t>Ví dụ: dashboard hiển thị nhiệt độ, độ ẩm, hoặc tín hiệu mạng của từng thiết bị.</a:t>
            </a:r>
          </a:p>
          <a:p>
            <a:pPr marL="158750" indent="0">
              <a:buFontTx/>
              <a:buNone/>
            </a:pPr>
            <a:r>
              <a:rPr lang="en-US" b="1" dirty="0"/>
              <a:t>-</a:t>
            </a:r>
            <a:r>
              <a:rPr lang="vi-VN" b="1" dirty="0"/>
              <a:t> Alert systems (Hệ thống cảnh báo)</a:t>
            </a:r>
          </a:p>
          <a:p>
            <a:pPr marL="158750" indent="0">
              <a:buFontTx/>
              <a:buNone/>
            </a:pPr>
            <a:r>
              <a:rPr lang="vi-VN" dirty="0"/>
              <a:t>Tự động gửi thông báo khi thiết bị gặp vấn đề.</a:t>
            </a:r>
          </a:p>
          <a:p>
            <a:pPr marL="158750" indent="0">
              <a:buFontTx/>
              <a:buNone/>
            </a:pPr>
            <a:r>
              <a:rPr lang="vi-VN" dirty="0"/>
              <a:t>Có thể tích hợp email, SMS, hoặc ứng dụng di động.</a:t>
            </a:r>
          </a:p>
          <a:p>
            <a:pPr marL="158750" indent="0">
              <a:buFontTx/>
              <a:buNone/>
            </a:pPr>
            <a:r>
              <a:rPr lang="vi-VN" dirty="0"/>
              <a:t>Giúp </a:t>
            </a:r>
            <a:r>
              <a:rPr lang="vi-VN" b="1" dirty="0"/>
              <a:t>kỹ sư phản ứng nhanh</a:t>
            </a:r>
            <a:r>
              <a:rPr lang="vi-VN" dirty="0"/>
              <a:t> khi có sự cố phát sinh.</a:t>
            </a:r>
          </a:p>
          <a:p>
            <a:pPr marL="158750" indent="0">
              <a:buFontTx/>
              <a:buNone/>
            </a:pPr>
            <a:r>
              <a:rPr lang="en-US" b="1" dirty="0"/>
              <a:t>- </a:t>
            </a:r>
            <a:r>
              <a:rPr lang="vi-VN" b="1" dirty="0"/>
              <a:t>Control mechanisms (Cơ chế điều khiển)</a:t>
            </a:r>
          </a:p>
          <a:p>
            <a:pPr marL="158750" indent="0">
              <a:buFontTx/>
              <a:buNone/>
            </a:pPr>
            <a:r>
              <a:rPr lang="vi-VN" dirty="0"/>
              <a:t>Cho phép điều khiển hoặc cập nhật thiết bị từ xa (ví dụ: khởi động lại, thay đổi cấu hình, cập nhật firmware).</a:t>
            </a:r>
          </a:p>
          <a:p>
            <a:pPr marL="158750" indent="0">
              <a:buFontTx/>
              <a:buNone/>
            </a:pPr>
            <a:r>
              <a:rPr lang="vi-VN" dirty="0"/>
              <a:t>Giúp tiết kiệm chi phí vận hành, đặc biệt khi thiết bị đặt ở vị trí xa hoặc khó tiếp cận.</a:t>
            </a:r>
          </a:p>
          <a:p>
            <a:pPr marL="158750" indent="0">
              <a:buFontTx/>
              <a:buNone/>
            </a:pPr>
            <a:endParaRPr lang="en-US" b="1" dirty="0"/>
          </a:p>
          <a:p>
            <a:pPr marL="158750" indent="0">
              <a:buFontTx/>
              <a:buNone/>
            </a:pPr>
            <a:r>
              <a:rPr lang="en-US" b="1" dirty="0"/>
              <a:t>2. </a:t>
            </a:r>
            <a:r>
              <a:rPr lang="vi-VN" b="1" dirty="0"/>
              <a:t>Maintain security throughout the device lifecycle (Duy trì bảo mật trong suốt vòng đời thiết bị)</a:t>
            </a:r>
          </a:p>
          <a:p>
            <a:pPr marL="158750" indent="0">
              <a:buFontTx/>
              <a:buNone/>
            </a:pPr>
            <a:r>
              <a:rPr lang="en-US" b="1" dirty="0"/>
              <a:t>- </a:t>
            </a:r>
            <a:r>
              <a:rPr lang="vi-VN" b="1" dirty="0"/>
              <a:t>Authentication &amp; access control (Xác thực và kiểm soát truy cập)</a:t>
            </a:r>
          </a:p>
          <a:p>
            <a:pPr marL="158750" indent="0">
              <a:buFontTx/>
              <a:buNone/>
            </a:pPr>
            <a:r>
              <a:rPr lang="vi-VN" dirty="0"/>
              <a:t>Mỗi thiết bị phải có </a:t>
            </a:r>
            <a:r>
              <a:rPr lang="vi-VN" b="1" dirty="0"/>
              <a:t>danh tính (ID)</a:t>
            </a:r>
            <a:r>
              <a:rPr lang="vi-VN" dirty="0"/>
              <a:t> duy nhất và được xác thực khi truy cập hệ thống.</a:t>
            </a:r>
          </a:p>
          <a:p>
            <a:pPr marL="158750" indent="0">
              <a:buFontTx/>
              <a:buNone/>
            </a:pPr>
            <a:r>
              <a:rPr lang="vi-VN" dirty="0"/>
              <a:t>Phân quyền rõ ràng giữa người dùng, thiết bị, và dịch vụ cloud để ngăn truy cập trái phép.</a:t>
            </a:r>
          </a:p>
          <a:p>
            <a:pPr marL="158750" indent="0">
              <a:buFontTx/>
              <a:buNone/>
            </a:pPr>
            <a:r>
              <a:rPr lang="en-US" b="1" dirty="0"/>
              <a:t>- </a:t>
            </a:r>
            <a:r>
              <a:rPr lang="vi-VN" b="1" dirty="0"/>
              <a:t>Encryption &amp; data protection (Mã hóa và bảo vệ dữ liệu)</a:t>
            </a:r>
          </a:p>
          <a:p>
            <a:pPr marL="158750" indent="0">
              <a:buFontTx/>
              <a:buNone/>
            </a:pPr>
            <a:r>
              <a:rPr lang="vi-VN" dirty="0"/>
              <a:t>Mọi dữ liệu truyền đi phải được </a:t>
            </a:r>
            <a:r>
              <a:rPr lang="vi-VN" b="1" dirty="0"/>
              <a:t>mã hóa (TLS/SSL)</a:t>
            </a:r>
            <a:r>
              <a:rPr lang="vi-VN" dirty="0"/>
              <a:t> để ngăn chặn đánh cắp thông tin.</a:t>
            </a:r>
          </a:p>
          <a:p>
            <a:pPr marL="158750" indent="0">
              <a:buFontTx/>
              <a:buNone/>
            </a:pPr>
            <a:r>
              <a:rPr lang="vi-VN" dirty="0"/>
              <a:t>Bảo mật dữ liệu trong quá trình lưu trữ (data at rest) và khi truyền tải (data in transit).</a:t>
            </a:r>
          </a:p>
          <a:p>
            <a:pPr marL="158750" indent="0">
              <a:buFontTx/>
              <a:buNone/>
            </a:pPr>
            <a:r>
              <a:rPr lang="en-US" b="1" dirty="0"/>
              <a:t>- </a:t>
            </a:r>
            <a:r>
              <a:rPr lang="vi-VN" b="1" dirty="0"/>
              <a:t>Regular security updates (Cập nhật bảo mật thường xuyên)</a:t>
            </a:r>
          </a:p>
          <a:p>
            <a:pPr marL="158750" indent="0">
              <a:buFontTx/>
              <a:buNone/>
            </a:pPr>
            <a:r>
              <a:rPr lang="vi-VN" dirty="0"/>
              <a:t>Cập nhật firmware và phần mềm để vá các lỗ hổng bảo mật mới phát hiện.</a:t>
            </a:r>
          </a:p>
          <a:p>
            <a:pPr marL="158750" indent="0">
              <a:buFontTx/>
              <a:buNone/>
            </a:pPr>
            <a:r>
              <a:rPr lang="vi-VN" dirty="0"/>
              <a:t>Đảm bảo thiết bị luôn hoạt động an toàn trong môi trường IoT đang thay đổi liên tục.</a:t>
            </a:r>
          </a:p>
          <a:p>
            <a:pPr marL="158750" indent="0">
              <a:buFontTx/>
              <a:buNone/>
            </a:pPr>
            <a:endParaRPr lang="en-US" b="1" dirty="0"/>
          </a:p>
          <a:p>
            <a:pPr marL="158750" indent="0">
              <a:buFontTx/>
              <a:buNone/>
            </a:pPr>
            <a:r>
              <a:rPr lang="en-US" b="1" dirty="0"/>
              <a:t>3. </a:t>
            </a:r>
            <a:r>
              <a:rPr lang="vi-VN" b="1" dirty="0"/>
              <a:t>Establish effective asset tracking &amp; management (Thiết lập quản lý và theo dõi tài sản hiệu quả)</a:t>
            </a:r>
          </a:p>
          <a:p>
            <a:pPr marL="158750" indent="0">
              <a:buFontTx/>
              <a:buNone/>
            </a:pPr>
            <a:r>
              <a:rPr lang="en-US" b="1" dirty="0"/>
              <a:t>- </a:t>
            </a:r>
            <a:r>
              <a:rPr lang="vi-VN" b="1" dirty="0"/>
              <a:t>Device inventory &amp; identification (Danh mục và nhận dạng thiết bị)</a:t>
            </a:r>
          </a:p>
          <a:p>
            <a:pPr marL="158750" indent="0">
              <a:buFontTx/>
              <a:buNone/>
            </a:pPr>
            <a:r>
              <a:rPr lang="vi-VN" dirty="0"/>
              <a:t>Lưu trữ thông tin chi tiết về từng thiết bị: ID, model, phiên bản firmware, vị trí, trạng thái.</a:t>
            </a:r>
          </a:p>
          <a:p>
            <a:pPr marL="158750" indent="0">
              <a:buFontTx/>
              <a:buNone/>
            </a:pPr>
            <a:r>
              <a:rPr lang="vi-VN" dirty="0"/>
              <a:t>Giúp quản trị viên nhanh chóng </a:t>
            </a:r>
            <a:r>
              <a:rPr lang="vi-VN" b="1" dirty="0"/>
              <a:t>xác định, định vị và giám sát toàn bộ hệ thống.</a:t>
            </a:r>
            <a:endParaRPr lang="vi-VN" dirty="0"/>
          </a:p>
          <a:p>
            <a:pPr marL="158750" indent="0">
              <a:buFontTx/>
              <a:buNone/>
            </a:pPr>
            <a:r>
              <a:rPr lang="en-US" b="1" dirty="0"/>
              <a:t>- </a:t>
            </a:r>
            <a:r>
              <a:rPr lang="vi-VN" b="1" dirty="0"/>
              <a:t>Asset tracking systems (Hệ thống theo dõi tài sản)</a:t>
            </a:r>
          </a:p>
          <a:p>
            <a:pPr marL="158750" indent="0">
              <a:buFontTx/>
              <a:buNone/>
            </a:pPr>
            <a:r>
              <a:rPr lang="vi-VN" dirty="0"/>
              <a:t>Sử dụng GPS, RFID hoặc mạng IoT (NB-IoT, LoRa) để </a:t>
            </a:r>
            <a:r>
              <a:rPr lang="vi-VN" b="1" dirty="0"/>
              <a:t>theo dõi vị trí thiết bị vật lý</a:t>
            </a:r>
            <a:r>
              <a:rPr lang="vi-VN" dirty="0"/>
              <a:t> trong thời gian thực.</a:t>
            </a:r>
          </a:p>
          <a:p>
            <a:pPr marL="158750" indent="0">
              <a:buFontTx/>
              <a:buNone/>
            </a:pPr>
            <a:r>
              <a:rPr lang="vi-VN" dirty="0"/>
              <a:t>Giảm thất thoát, hỗ trợ bảo trì, và quản lý tài sản hiệu quả hơn.</a:t>
            </a:r>
          </a:p>
          <a:p>
            <a:pPr marL="158750" indent="0">
              <a:buFontTx/>
              <a:buNone/>
            </a:pPr>
            <a:r>
              <a:rPr lang="en-US" b="1" dirty="0"/>
              <a:t>-</a:t>
            </a:r>
            <a:r>
              <a:rPr lang="vi-VN" b="1" dirty="0"/>
              <a:t> Lifecycle management (Quản lý vòng đời thiết bị)</a:t>
            </a:r>
          </a:p>
          <a:p>
            <a:pPr marL="158750" indent="0">
              <a:buFontTx/>
              <a:buNone/>
            </a:pPr>
            <a:r>
              <a:rPr lang="vi-VN" dirty="0"/>
              <a:t>Bao gồm toàn bộ quy trình: </a:t>
            </a:r>
            <a:r>
              <a:rPr lang="vi-VN" b="1" dirty="0"/>
              <a:t>đăng ký – giám sát – cập nhật – ngừng hoạt động.</a:t>
            </a:r>
            <a:endParaRPr lang="vi-VN" dirty="0"/>
          </a:p>
          <a:p>
            <a:pPr marL="158750" indent="0">
              <a:buFontTx/>
              <a:buNone/>
            </a:pPr>
            <a:r>
              <a:rPr lang="vi-VN" dirty="0"/>
              <a:t>Đảm bảo mỗi thiết bị được quản lý xuyên suốt từ lúc triển khai đến khi loại bỏ.</a:t>
            </a:r>
          </a:p>
          <a:p>
            <a:pPr marL="158750" indent="0">
              <a:buFontTx/>
              <a:buNone/>
            </a:pPr>
            <a:endParaRPr lang="en-US" b="1" dirty="0"/>
          </a:p>
          <a:p>
            <a:pPr marL="158750" indent="0">
              <a:buFontTx/>
              <a:buNone/>
            </a:pPr>
            <a:r>
              <a:rPr lang="vi-VN" b="1" dirty="0"/>
              <a:t>Tổng kết</a:t>
            </a:r>
          </a:p>
          <a:p>
            <a:pPr marL="158750" indent="0">
              <a:buFontTx/>
              <a:buNone/>
            </a:pPr>
            <a:r>
              <a:rPr lang="vi-VN" dirty="0"/>
              <a:t>Ba nhóm thực hành tốt nhất giúp </a:t>
            </a:r>
            <a:r>
              <a:rPr lang="vi-VN" b="1" dirty="0"/>
              <a:t>xây dựng một hệ thống quản lý thiết bị IoT hiệu quả và bền vững</a:t>
            </a:r>
            <a:r>
              <a:rPr lang="vi-VN" dirty="0"/>
              <a:t>:</a:t>
            </a:r>
          </a:p>
          <a:p>
            <a:pPr marL="158750" indent="0">
              <a:buFontTx/>
              <a:buNone/>
            </a:pPr>
            <a:r>
              <a:rPr lang="vi-VN" b="1" dirty="0"/>
              <a:t>Giám sát &amp; kiểm soát</a:t>
            </a:r>
            <a:r>
              <a:rPr lang="vi-VN" dirty="0"/>
              <a:t> để đảm bảo tính khả dụng.</a:t>
            </a:r>
          </a:p>
          <a:p>
            <a:pPr marL="158750" indent="0">
              <a:buFontTx/>
              <a:buNone/>
            </a:pPr>
            <a:r>
              <a:rPr lang="vi-VN" b="1" dirty="0"/>
              <a:t>Bảo mật toàn diện</a:t>
            </a:r>
            <a:r>
              <a:rPr lang="vi-VN" dirty="0"/>
              <a:t> để giảm rủi ro tấn công.</a:t>
            </a:r>
          </a:p>
          <a:p>
            <a:pPr marL="158750" indent="0">
              <a:buFontTx/>
              <a:buNone/>
            </a:pPr>
            <a:r>
              <a:rPr lang="vi-VN" b="1" dirty="0"/>
              <a:t>Quản lý tài sản &amp; vòng đời</a:t>
            </a:r>
            <a:r>
              <a:rPr lang="vi-VN" dirty="0"/>
              <a:t> để duy trì tính ổn định và tối ưu chi phí vận hành.</a:t>
            </a:r>
          </a:p>
          <a:p>
            <a:pPr marL="158750" indent="0">
              <a:buFontTx/>
              <a:buNone/>
            </a:pPr>
            <a:r>
              <a:rPr lang="en-US" dirty="0"/>
              <a:t>=&gt;</a:t>
            </a:r>
            <a:r>
              <a:rPr lang="vi-VN" dirty="0"/>
              <a:t> Đây là các nguyên tắc </a:t>
            </a:r>
            <a:r>
              <a:rPr lang="vi-VN" b="1" dirty="0"/>
              <a:t>chuẩn quốc tế</a:t>
            </a:r>
            <a:r>
              <a:rPr lang="vi-VN" dirty="0"/>
              <a:t>, được khuyến nghị bởi các tổ chức như </a:t>
            </a:r>
            <a:r>
              <a:rPr lang="vi-VN" b="1" dirty="0"/>
              <a:t>ISO/IEC 30141, NIST, và KaaIoT</a:t>
            </a:r>
            <a:r>
              <a:rPr lang="vi-VN" dirty="0"/>
              <a:t>, giúp đảm bảo IoT được vận hành </a:t>
            </a:r>
            <a:r>
              <a:rPr lang="vi-VN" b="1" dirty="0"/>
              <a:t>an toàn – ổn định – linh hoạt</a:t>
            </a:r>
            <a:r>
              <a:rPr lang="vi-VN" dirty="0"/>
              <a:t>.</a:t>
            </a:r>
          </a:p>
          <a:p>
            <a:pPr marL="0" lvl="0" indent="0" algn="l" rtl="0">
              <a:spcBef>
                <a:spcPts val="0"/>
              </a:spcBef>
              <a:spcAft>
                <a:spcPts val="0"/>
              </a:spcAft>
              <a:buFontTx/>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f9119afc4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2f9119afc4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f9119afc4f_0_3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f9119afc4f_0_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IoT – Mạng lưới kết nối thông minh</a:t>
            </a:r>
          </a:p>
          <a:p>
            <a:pPr marL="158750" indent="0">
              <a:buFontTx/>
              <a:buNone/>
            </a:pPr>
            <a:r>
              <a:rPr lang="vi-VN" b="1" dirty="0"/>
              <a:t>Internet of Things (IoT)</a:t>
            </a:r>
            <a:r>
              <a:rPr lang="vi-VN" dirty="0"/>
              <a:t> là mạng lưới khổng lồ kết nối </a:t>
            </a:r>
            <a:r>
              <a:rPr lang="vi-VN" b="1" dirty="0"/>
              <a:t>các thiết bị vật lý</a:t>
            </a:r>
            <a:r>
              <a:rPr lang="vi-VN" dirty="0"/>
              <a:t> như cảm biến, máy đo, robot, xe hơi, hệ thống điều khiển,…</a:t>
            </a:r>
          </a:p>
          <a:p>
            <a:pPr marL="158750" indent="0">
              <a:buFontTx/>
              <a:buNone/>
            </a:pPr>
            <a:r>
              <a:rPr lang="vi-VN" dirty="0"/>
              <a:t>Các thiết bị này có khả năng </a:t>
            </a:r>
            <a:r>
              <a:rPr lang="vi-VN" b="1" dirty="0"/>
              <a:t>thu thập, trao đổi và phân tích dữ liệu</a:t>
            </a:r>
            <a:r>
              <a:rPr lang="vi-VN" dirty="0"/>
              <a:t> qua Internet, tạo thành </a:t>
            </a:r>
            <a:r>
              <a:rPr lang="vi-VN" b="1" dirty="0"/>
              <a:t>một hệ thống thông minh</a:t>
            </a:r>
            <a:r>
              <a:rPr lang="vi-VN" dirty="0"/>
              <a:t> phục vụ cho sản xuất, y tế, thành phố thông minh, nhà thông minh,…</a:t>
            </a:r>
          </a:p>
          <a:p>
            <a:pPr marL="158750" indent="0">
              <a:buFontTx/>
              <a:buNone/>
            </a:pPr>
            <a:r>
              <a:rPr lang="vi-VN" dirty="0"/>
              <a:t>Ví dụ:</a:t>
            </a:r>
          </a:p>
          <a:p>
            <a:pPr marL="158750" indent="0">
              <a:buFontTx/>
              <a:buNone/>
            </a:pPr>
            <a:r>
              <a:rPr lang="vi-VN" dirty="0"/>
              <a:t>Cảm biến nhiệt độ gửi dữ liệu về trung tâm điều khiển để điều chỉnh điều hòa.</a:t>
            </a:r>
          </a:p>
          <a:p>
            <a:pPr marL="158750" indent="0">
              <a:buFontTx/>
              <a:buNone/>
            </a:pPr>
            <a:r>
              <a:rPr lang="vi-VN" dirty="0"/>
              <a:t>Đồng hồ thông minh theo dõi sức khỏe người dùng và gửi dữ liệu lên cloud.</a:t>
            </a:r>
          </a:p>
          <a:p>
            <a:pPr marL="158750" indent="0">
              <a:buFontTx/>
              <a:buNone/>
            </a:pPr>
            <a:endParaRPr lang="en-US" b="1" dirty="0"/>
          </a:p>
          <a:p>
            <a:pPr marL="158750" indent="0">
              <a:buFontTx/>
              <a:buNone/>
            </a:pPr>
            <a:r>
              <a:rPr lang="vi-VN" b="1" dirty="0"/>
              <a:t>2. Rủi ro an toàn thông tin trong IoT</a:t>
            </a:r>
          </a:p>
          <a:p>
            <a:pPr marL="158750" indent="0">
              <a:buFontTx/>
              <a:buNone/>
            </a:pPr>
            <a:r>
              <a:rPr lang="vi-VN" dirty="0"/>
              <a:t>Việc </a:t>
            </a:r>
            <a:r>
              <a:rPr lang="vi-VN" b="1" dirty="0"/>
              <a:t>mở rộng kết nối giữa hàng tỷ thiết bị</a:t>
            </a:r>
            <a:r>
              <a:rPr lang="vi-VN" dirty="0"/>
              <a:t> cũng đồng nghĩa với việc </a:t>
            </a:r>
            <a:r>
              <a:rPr lang="vi-VN" b="1" dirty="0"/>
              <a:t>mở rộng bề mặt tấn công (attack surface)</a:t>
            </a:r>
            <a:r>
              <a:rPr lang="vi-VN" dirty="0"/>
              <a:t>.</a:t>
            </a:r>
          </a:p>
          <a:p>
            <a:pPr marL="158750" indent="0">
              <a:buFontTx/>
              <a:buNone/>
            </a:pPr>
            <a:r>
              <a:rPr lang="vi-VN" dirty="0"/>
              <a:t>Mỗi thiết bị IoT (như camera, cảm biến, router, đồng hồ thông minh…) có thể trở thành </a:t>
            </a:r>
            <a:r>
              <a:rPr lang="vi-VN" b="1" dirty="0"/>
              <a:t>điểm yếu bảo mật</a:t>
            </a:r>
            <a:r>
              <a:rPr lang="vi-VN" dirty="0"/>
              <a:t>, bị tin tặc khai thác để:</a:t>
            </a:r>
          </a:p>
          <a:p>
            <a:pPr marL="457200" lvl="1" indent="0">
              <a:buFontTx/>
              <a:buNone/>
            </a:pPr>
            <a:r>
              <a:rPr lang="vi-VN" dirty="0"/>
              <a:t>Truy cập trái phép vào mạng nội bộ.</a:t>
            </a:r>
          </a:p>
          <a:p>
            <a:pPr marL="457200" lvl="1" indent="0">
              <a:buFontTx/>
              <a:buNone/>
            </a:pPr>
            <a:r>
              <a:rPr lang="vi-VN" dirty="0"/>
              <a:t>Đánh cắp dữ liệu người dùng.</a:t>
            </a:r>
          </a:p>
          <a:p>
            <a:pPr marL="457200" lvl="1" indent="0">
              <a:buFontTx/>
              <a:buNone/>
            </a:pPr>
            <a:r>
              <a:rPr lang="vi-VN" dirty="0"/>
              <a:t>Điều khiển hoặc làm gián đoạn hệ thống.</a:t>
            </a:r>
          </a:p>
          <a:p>
            <a:pPr marL="158750" indent="0">
              <a:buFontTx/>
              <a:buNone/>
            </a:pPr>
            <a:r>
              <a:rPr lang="vi-VN" dirty="0"/>
              <a:t>Ví dụ thực tế:</a:t>
            </a:r>
          </a:p>
          <a:p>
            <a:pPr marL="158750" indent="0">
              <a:buFontTx/>
              <a:buNone/>
            </a:pPr>
            <a:r>
              <a:rPr lang="vi-VN" dirty="0"/>
              <a:t>Các vụ tấn công </a:t>
            </a:r>
            <a:r>
              <a:rPr lang="vi-VN" b="1" dirty="0"/>
              <a:t>botnet Mirai</a:t>
            </a:r>
            <a:r>
              <a:rPr lang="vi-VN" dirty="0"/>
              <a:t> (2016) đã lợi dụng hàng triệu camera IP và router IoT để tạo ra tấn công DDoS quy mô toàn cầu.</a:t>
            </a:r>
          </a:p>
          <a:p>
            <a:pPr marL="158750" indent="0">
              <a:buFontTx/>
              <a:buNone/>
            </a:pPr>
            <a:r>
              <a:rPr lang="vi-VN" dirty="0"/>
              <a:t>Những thiết bị không cập nhật firmware hoặc không được mã hóa thường là mục tiêu dễ bị xâm nhập.</a:t>
            </a:r>
          </a:p>
          <a:p>
            <a:pPr marL="158750" indent="0">
              <a:buFontTx/>
              <a:buNone/>
            </a:pPr>
            <a:endParaRPr lang="en-US" b="1" dirty="0"/>
          </a:p>
          <a:p>
            <a:pPr marL="158750" indent="0">
              <a:buFontTx/>
              <a:buNone/>
            </a:pPr>
            <a:r>
              <a:rPr lang="en-US" b="1" dirty="0"/>
              <a:t>3. </a:t>
            </a:r>
            <a:r>
              <a:rPr lang="vi-VN" b="1" dirty="0"/>
              <a:t>Vai trò của đạo đức nghề nghiệp trong IoT</a:t>
            </a:r>
          </a:p>
          <a:p>
            <a:pPr marL="158750" indent="0">
              <a:buFontTx/>
              <a:buNone/>
            </a:pPr>
            <a:r>
              <a:rPr lang="vi-VN" dirty="0"/>
              <a:t>Ngoài khía cạnh kỹ thuật, </a:t>
            </a:r>
            <a:r>
              <a:rPr lang="vi-VN" b="1" dirty="0"/>
              <a:t>đạo đức nghề nghiệp</a:t>
            </a:r>
            <a:r>
              <a:rPr lang="vi-VN" dirty="0"/>
              <a:t> đóng vai trò </a:t>
            </a:r>
            <a:r>
              <a:rPr lang="vi-VN" b="1" dirty="0"/>
              <a:t>cốt lõi</a:t>
            </a:r>
            <a:r>
              <a:rPr lang="vi-VN" dirty="0"/>
              <a:t> trong việc phát triển và vận hành hệ thống IoT.</a:t>
            </a:r>
          </a:p>
          <a:p>
            <a:pPr marL="158750" indent="0">
              <a:buFontTx/>
              <a:buNone/>
            </a:pPr>
            <a:r>
              <a:rPr lang="vi-VN" dirty="0"/>
              <a:t>Kỹ sư, nhà thiết kế và doanh nghiệp cần tuân thủ:</a:t>
            </a:r>
          </a:p>
          <a:p>
            <a:pPr marL="457200" lvl="1" indent="0">
              <a:buFontTx/>
              <a:buNone/>
            </a:pPr>
            <a:r>
              <a:rPr lang="vi-VN" b="1" dirty="0"/>
              <a:t>Nguyên tắc minh bạch:</a:t>
            </a:r>
            <a:r>
              <a:rPr lang="vi-VN" dirty="0"/>
              <a:t> thông báo rõ ràng cách thu thập và sử dụng dữ liệu.</a:t>
            </a:r>
          </a:p>
          <a:p>
            <a:pPr marL="457200" lvl="1" indent="0">
              <a:buFontTx/>
              <a:buNone/>
            </a:pPr>
            <a:r>
              <a:rPr lang="vi-VN" b="1" dirty="0"/>
              <a:t>Nguyên tắc tôn trọng quyền riêng tư:</a:t>
            </a:r>
            <a:r>
              <a:rPr lang="vi-VN" dirty="0"/>
              <a:t> chỉ thu thập những dữ liệu cần thiết, tránh lạm dụng thông tin cá nhân.</a:t>
            </a:r>
          </a:p>
          <a:p>
            <a:pPr marL="457200" lvl="1" indent="0">
              <a:buFontTx/>
              <a:buNone/>
            </a:pPr>
            <a:r>
              <a:rPr lang="vi-VN" b="1" dirty="0"/>
              <a:t>Trách nhiệm nghề nghiệp:</a:t>
            </a:r>
            <a:r>
              <a:rPr lang="vi-VN" dirty="0"/>
              <a:t> báo cáo và khắc phục sự cố bảo mật trung thực, không che giấu rủi ro.</a:t>
            </a:r>
          </a:p>
          <a:p>
            <a:pPr marL="158750" indent="0">
              <a:buFontTx/>
              <a:buNone/>
            </a:pPr>
            <a:r>
              <a:rPr lang="vi-VN" dirty="0"/>
              <a:t>Mục tiêu là </a:t>
            </a:r>
            <a:r>
              <a:rPr lang="vi-VN" b="1" dirty="0"/>
              <a:t>duy trì niềm tin của người dùng</a:t>
            </a:r>
            <a:r>
              <a:rPr lang="vi-VN" dirty="0"/>
              <a:t>, đảm bảo các công nghệ IoT </a:t>
            </a:r>
            <a:r>
              <a:rPr lang="vi-VN" b="1" dirty="0"/>
              <a:t>an toàn, nhân văn và bền vững</a:t>
            </a:r>
            <a:r>
              <a:rPr lang="vi-VN" dirty="0"/>
              <a:t>.</a:t>
            </a:r>
          </a:p>
          <a:p>
            <a:pPr marL="158750" indent="0">
              <a:buFontTx/>
              <a:buNone/>
            </a:pPr>
            <a:endParaRPr lang="en-US" b="1" dirty="0"/>
          </a:p>
          <a:p>
            <a:pPr marL="158750" indent="0">
              <a:buFontTx/>
              <a:buNone/>
            </a:pPr>
            <a:r>
              <a:rPr lang="vi-VN" b="1" dirty="0"/>
              <a:t>Tóm lại</a:t>
            </a:r>
          </a:p>
          <a:p>
            <a:pPr marL="158750" indent="0">
              <a:buFontTx/>
              <a:buNone/>
            </a:pPr>
            <a:r>
              <a:rPr lang="vi-VN" dirty="0"/>
              <a:t>“IoT mang lại tiện ích to lớn — nhưng an toàn thông tin và đạo đức nghề nghiệp là nền tảng để hệ sinh thái đó phát triển bền vững.”</a:t>
            </a:r>
            <a:br>
              <a:rPr lang="vi-VN" dirty="0"/>
            </a:br>
            <a:r>
              <a:rPr lang="vi-VN" dirty="0"/>
              <a:t>Kỹ sư IoT không chỉ là người thiết kế thiết bị, mà còn là </a:t>
            </a:r>
            <a:r>
              <a:rPr lang="vi-VN" b="1" dirty="0"/>
              <a:t>người bảo vệ dữ liệu và niềm tin số</a:t>
            </a:r>
            <a:r>
              <a:rPr lang="vi-VN" dirty="0"/>
              <a:t> của người dùng trong thế giới kết nối.</a:t>
            </a:r>
          </a:p>
          <a:p>
            <a:pPr marL="158750" indent="0">
              <a:buFontTx/>
              <a:buNone/>
            </a:pPr>
            <a:endParaRPr lang="en-US" dirty="0"/>
          </a:p>
        </p:txBody>
      </p:sp>
    </p:spTree>
    <p:extLst>
      <p:ext uri="{BB962C8B-B14F-4D97-AF65-F5344CB8AC3E}">
        <p14:creationId xmlns:p14="http://schemas.microsoft.com/office/powerpoint/2010/main" val="2434620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en-US" b="1" dirty="0"/>
              <a:t>1. </a:t>
            </a:r>
            <a:r>
              <a:rPr lang="vi-VN" b="1" dirty="0"/>
              <a:t>Mức thiết bị (Device Layer) – Tuyến đầu của an toàn IoT</a:t>
            </a:r>
          </a:p>
          <a:p>
            <a:pPr marL="158750" indent="0">
              <a:buFontTx/>
              <a:buNone/>
            </a:pPr>
            <a:r>
              <a:rPr lang="vi-VN" dirty="0"/>
              <a:t>Trong mô hình hệ thống IoT, </a:t>
            </a:r>
            <a:r>
              <a:rPr lang="vi-VN" b="1" dirty="0"/>
              <a:t>mức thiết bị</a:t>
            </a:r>
            <a:r>
              <a:rPr lang="vi-VN" dirty="0"/>
              <a:t> (Device Layer) bao gồm </a:t>
            </a:r>
            <a:r>
              <a:rPr lang="vi-VN" b="1" dirty="0"/>
              <a:t>các cảm biến, bộ vi điều khiển, camera, thiết bị đo, bộ truyền động (actuators)</a:t>
            </a:r>
            <a:r>
              <a:rPr lang="vi-VN" dirty="0"/>
              <a:t>,…</a:t>
            </a:r>
            <a:br>
              <a:rPr lang="vi-VN" dirty="0"/>
            </a:br>
            <a:r>
              <a:rPr lang="vi-VN" dirty="0"/>
              <a:t>Đây là </a:t>
            </a:r>
            <a:r>
              <a:rPr lang="vi-VN" b="1" dirty="0"/>
              <a:t>lớp thấp nhất</a:t>
            </a:r>
            <a:r>
              <a:rPr lang="vi-VN" dirty="0"/>
              <a:t>, trực tiếp thu thập dữ liệu và giao tiếp với môi trường vật lý.</a:t>
            </a:r>
          </a:p>
          <a:p>
            <a:pPr marL="158750" indent="0">
              <a:buFontTx/>
              <a:buNone/>
            </a:pPr>
            <a:r>
              <a:rPr lang="vi-VN" dirty="0"/>
              <a:t>Chính vì vậy, nếu </a:t>
            </a:r>
            <a:r>
              <a:rPr lang="vi-VN" b="1" dirty="0"/>
              <a:t>thiết bị không an toàn</a:t>
            </a:r>
            <a:r>
              <a:rPr lang="vi-VN" dirty="0"/>
              <a:t>, toàn bộ hệ thống IoT có thể bị tấn công hoặc bị điều khiển sai lệch.</a:t>
            </a:r>
          </a:p>
          <a:p>
            <a:pPr marL="158750" indent="0">
              <a:buFontTx/>
              <a:buNone/>
            </a:pPr>
            <a:endParaRPr lang="en-US" b="1" dirty="0"/>
          </a:p>
          <a:p>
            <a:pPr marL="158750" indent="0">
              <a:buFontTx/>
              <a:buNone/>
            </a:pPr>
            <a:r>
              <a:rPr lang="vi-VN" b="1" dirty="0"/>
              <a:t>2. Nguy cơ bảo mật phổ biến ở mức thiết bị</a:t>
            </a:r>
          </a:p>
          <a:p>
            <a:pPr marL="158750" indent="0">
              <a:buFontTx/>
              <a:buNone/>
            </a:pPr>
            <a:r>
              <a:rPr lang="vi-VN" b="1" dirty="0"/>
              <a:t>a) Firmware lỗi thời (Outdated Firmware)</a:t>
            </a:r>
          </a:p>
          <a:p>
            <a:pPr marL="158750" indent="0">
              <a:buFontTx/>
              <a:buNone/>
            </a:pPr>
            <a:r>
              <a:rPr lang="vi-VN" dirty="0"/>
              <a:t>Firmware là phần mềm chạy trực tiếp trên phần cứng thiết bị IoT.</a:t>
            </a:r>
          </a:p>
          <a:p>
            <a:pPr marL="158750" indent="0">
              <a:buFontTx/>
              <a:buNone/>
            </a:pPr>
            <a:r>
              <a:rPr lang="vi-VN" dirty="0"/>
              <a:t>Nhiều thiết bị không được cập nhật thường xuyên → chứa </a:t>
            </a:r>
            <a:r>
              <a:rPr lang="vi-VN" b="1" dirty="0"/>
              <a:t>lỗ hổng bảo mật cũ</a:t>
            </a:r>
            <a:r>
              <a:rPr lang="vi-VN" dirty="0"/>
              <a:t> mà tin tặc có thể khai thác.</a:t>
            </a:r>
          </a:p>
          <a:p>
            <a:pPr marL="158750" indent="0">
              <a:buFontTx/>
              <a:buNone/>
            </a:pPr>
            <a:r>
              <a:rPr lang="vi-VN" b="1" dirty="0"/>
              <a:t>b) Mật khẩu mặc định (Default Credentials)</a:t>
            </a:r>
          </a:p>
          <a:p>
            <a:pPr marL="158750" indent="0">
              <a:buFontTx/>
              <a:buNone/>
            </a:pPr>
            <a:r>
              <a:rPr lang="vi-VN" dirty="0"/>
              <a:t>Một số thiết bị khi xuất xưởng dùng mật khẩu mặc định như “admin” hoặc “1234”.</a:t>
            </a:r>
          </a:p>
          <a:p>
            <a:pPr marL="158750" indent="0">
              <a:buFontTx/>
              <a:buNone/>
            </a:pPr>
            <a:r>
              <a:rPr lang="vi-VN" dirty="0"/>
              <a:t>Người dùng không đổi mật khẩu → hacker có thể truy cập dễ dàng bằng cách thử các mật khẩu phổ biến.</a:t>
            </a:r>
          </a:p>
          <a:p>
            <a:pPr marL="158750" indent="0">
              <a:buFontTx/>
              <a:buNone/>
            </a:pPr>
            <a:r>
              <a:rPr lang="vi-VN" b="1" dirty="0"/>
              <a:t>c) Không mã hóa dữ liệu (Unencrypted Communication)</a:t>
            </a:r>
          </a:p>
          <a:p>
            <a:pPr marL="158750" indent="0">
              <a:buFontTx/>
              <a:buNone/>
            </a:pPr>
            <a:r>
              <a:rPr lang="vi-VN" dirty="0"/>
              <a:t>Nhiều thiết bị truyền dữ liệu </a:t>
            </a:r>
            <a:r>
              <a:rPr lang="vi-VN" b="1" dirty="0"/>
              <a:t>dưới dạng văn bản rõ (plaintext)</a:t>
            </a:r>
            <a:r>
              <a:rPr lang="vi-VN" dirty="0"/>
              <a:t>, không có bảo vệ.</a:t>
            </a:r>
          </a:p>
          <a:p>
            <a:pPr marL="158750" indent="0">
              <a:buFontTx/>
              <a:buNone/>
            </a:pPr>
            <a:r>
              <a:rPr lang="vi-VN" dirty="0"/>
              <a:t>Hacker có thể </a:t>
            </a:r>
            <a:r>
              <a:rPr lang="vi-VN" b="1" dirty="0"/>
              <a:t>chặn bắt (sniffing)</a:t>
            </a:r>
            <a:r>
              <a:rPr lang="vi-VN" dirty="0"/>
              <a:t> dữ liệu trên mạng, dẫn đến rò rỉ thông tin nhạy cảm.</a:t>
            </a:r>
          </a:p>
          <a:p>
            <a:pPr marL="158750" indent="0">
              <a:buFontTx/>
              <a:buNone/>
            </a:pPr>
            <a:endParaRPr lang="en-US" b="1" dirty="0"/>
          </a:p>
          <a:p>
            <a:pPr marL="158750" indent="0">
              <a:buFontTx/>
              <a:buNone/>
            </a:pPr>
            <a:r>
              <a:rPr lang="en-US" b="1" dirty="0"/>
              <a:t>3. </a:t>
            </a:r>
            <a:r>
              <a:rPr lang="vi-VN" b="1" dirty="0"/>
              <a:t>Ví dụ minh họa thực tế</a:t>
            </a:r>
          </a:p>
          <a:p>
            <a:pPr marL="158750" indent="0">
              <a:buFontTx/>
              <a:buNone/>
            </a:pPr>
            <a:r>
              <a:rPr lang="vi-VN" dirty="0"/>
              <a:t>Một ví dụ điển hình là:</a:t>
            </a:r>
          </a:p>
          <a:p>
            <a:pPr marL="158750" indent="0">
              <a:buFontTx/>
              <a:buNone/>
            </a:pPr>
            <a:r>
              <a:rPr lang="vi-VN" b="1" dirty="0"/>
              <a:t>Camera IP bị chiếm quyền điều khiển từ xa.</a:t>
            </a:r>
            <a:endParaRPr lang="vi-VN" dirty="0"/>
          </a:p>
          <a:p>
            <a:pPr marL="158750" indent="0">
              <a:buFontTx/>
              <a:buNone/>
            </a:pPr>
            <a:r>
              <a:rPr lang="vi-VN" dirty="0"/>
              <a:t>Nếu camera không mã hóa luồng dữ liệu video, hoặc dùng mật khẩu mặc định, hacker có thể:</a:t>
            </a:r>
          </a:p>
          <a:p>
            <a:pPr marL="457200" lvl="1" indent="0">
              <a:buFontTx/>
              <a:buNone/>
            </a:pPr>
            <a:r>
              <a:rPr lang="vi-VN" dirty="0"/>
              <a:t>Xem video trái phép,</a:t>
            </a:r>
          </a:p>
          <a:p>
            <a:pPr marL="457200" lvl="1" indent="0">
              <a:buFontTx/>
              <a:buNone/>
            </a:pPr>
            <a:r>
              <a:rPr lang="vi-VN" dirty="0"/>
              <a:t>Điều khiển góc quay, hoặc</a:t>
            </a:r>
          </a:p>
          <a:p>
            <a:pPr marL="457200" lvl="1" indent="0">
              <a:buFontTx/>
              <a:buNone/>
            </a:pPr>
            <a:r>
              <a:rPr lang="vi-VN" dirty="0"/>
              <a:t>Tham gia vào mạng botnet để tấn công DDoS.</a:t>
            </a:r>
          </a:p>
          <a:p>
            <a:pPr marL="158750" indent="0">
              <a:buFontTx/>
              <a:buNone/>
            </a:pPr>
            <a:endParaRPr lang="en-US" b="1" dirty="0"/>
          </a:p>
          <a:p>
            <a:pPr marL="158750" indent="0">
              <a:buFontTx/>
              <a:buNone/>
            </a:pPr>
            <a:r>
              <a:rPr lang="en-US" b="1" dirty="0"/>
              <a:t>4. </a:t>
            </a:r>
            <a:r>
              <a:rPr lang="vi-VN" b="1" dirty="0"/>
              <a:t>Giải pháp an toàn cho thiết bị IoT</a:t>
            </a:r>
          </a:p>
          <a:p>
            <a:pPr marL="158750" indent="0">
              <a:buFontTx/>
              <a:buNone/>
            </a:pPr>
            <a:r>
              <a:rPr lang="vi-VN" b="1" dirty="0"/>
              <a:t>Cập nhật firmware định kỳ</a:t>
            </a:r>
            <a:r>
              <a:rPr lang="en-US" b="1" dirty="0"/>
              <a:t>:</a:t>
            </a:r>
            <a:endParaRPr lang="vi-VN" b="1" dirty="0"/>
          </a:p>
          <a:p>
            <a:pPr marL="158750" indent="0">
              <a:buFontTx/>
              <a:buNone/>
            </a:pPr>
            <a:r>
              <a:rPr lang="vi-VN" dirty="0"/>
              <a:t>Nhà sản xuất và người dùng cần thường xuyên cập nhật firmware để:</a:t>
            </a:r>
          </a:p>
          <a:p>
            <a:pPr marL="457200" lvl="1" indent="0">
              <a:buFontTx/>
              <a:buNone/>
            </a:pPr>
            <a:r>
              <a:rPr lang="vi-VN" dirty="0"/>
              <a:t>Vá các lỗ hổng bảo mật.</a:t>
            </a:r>
          </a:p>
          <a:p>
            <a:pPr marL="457200" lvl="1" indent="0">
              <a:buFontTx/>
              <a:buNone/>
            </a:pPr>
            <a:r>
              <a:rPr lang="vi-VN" dirty="0"/>
              <a:t>Nâng cao hiệu năng và tương thích với các giao thức mới.</a:t>
            </a:r>
          </a:p>
          <a:p>
            <a:pPr marL="158750" indent="0">
              <a:buFontTx/>
              <a:buNone/>
            </a:pPr>
            <a:r>
              <a:rPr lang="vi-VN" b="1" dirty="0"/>
              <a:t>Mã hóa dữ liệu tại nguồn (AES, TLS)</a:t>
            </a:r>
            <a:r>
              <a:rPr lang="en-US" b="1" dirty="0"/>
              <a:t>:</a:t>
            </a:r>
            <a:endParaRPr lang="vi-VN" b="1" dirty="0"/>
          </a:p>
          <a:p>
            <a:pPr marL="158750" indent="0">
              <a:buFontTx/>
              <a:buNone/>
            </a:pPr>
            <a:r>
              <a:rPr lang="vi-VN" dirty="0"/>
              <a:t>Sử dụng thuật toán </a:t>
            </a:r>
            <a:r>
              <a:rPr lang="vi-VN" b="1" dirty="0"/>
              <a:t>AES (Advanced Encryption Standard)</a:t>
            </a:r>
            <a:r>
              <a:rPr lang="vi-VN" dirty="0"/>
              <a:t> để bảo vệ dữ liệu lưu trữ.</a:t>
            </a:r>
          </a:p>
          <a:p>
            <a:pPr marL="158750" indent="0">
              <a:buFontTx/>
              <a:buNone/>
            </a:pPr>
            <a:r>
              <a:rPr lang="vi-VN" dirty="0"/>
              <a:t>Sử dụng </a:t>
            </a:r>
            <a:r>
              <a:rPr lang="vi-VN" b="1" dirty="0"/>
              <a:t>TLS (Transport Layer Security)</a:t>
            </a:r>
            <a:r>
              <a:rPr lang="vi-VN" dirty="0"/>
              <a:t> để bảo mật kết nối khi truyền dữ liệu lên server hoặc cloud.</a:t>
            </a:r>
            <a:br>
              <a:rPr lang="vi-VN" dirty="0"/>
            </a:br>
            <a:r>
              <a:rPr lang="vi-VN" dirty="0"/>
              <a:t>→ Đảm bảo dữ liệu </a:t>
            </a:r>
            <a:r>
              <a:rPr lang="vi-VN" b="1" dirty="0"/>
              <a:t>không bị đọc hoặc sửa đổi</a:t>
            </a:r>
            <a:r>
              <a:rPr lang="vi-VN" dirty="0"/>
              <a:t> trên đường truyền.</a:t>
            </a:r>
          </a:p>
          <a:p>
            <a:pPr marL="158750" indent="0">
              <a:buFontTx/>
              <a:buNone/>
            </a:pPr>
            <a:r>
              <a:rPr lang="vi-VN" b="1" dirty="0"/>
              <a:t>Cấu hình xác thực mạnh (Multi-factor Authentication – MFA)</a:t>
            </a:r>
            <a:r>
              <a:rPr lang="en-US" b="1" dirty="0"/>
              <a:t>:</a:t>
            </a:r>
            <a:endParaRPr lang="vi-VN" b="1" dirty="0"/>
          </a:p>
          <a:p>
            <a:pPr marL="158750" indent="0">
              <a:buFontTx/>
              <a:buNone/>
            </a:pPr>
            <a:r>
              <a:rPr lang="vi-VN" dirty="0"/>
              <a:t>Yêu cầu nhiều yếu tố xác minh (ví dụ: mật khẩu + mã OTP).</a:t>
            </a:r>
          </a:p>
          <a:p>
            <a:pPr marL="158750" indent="0">
              <a:buFontTx/>
              <a:buNone/>
            </a:pPr>
            <a:r>
              <a:rPr lang="vi-VN" dirty="0"/>
              <a:t>Giúp </a:t>
            </a:r>
            <a:r>
              <a:rPr lang="vi-VN" b="1" dirty="0"/>
              <a:t>ngăn chặn truy cập trái phép</a:t>
            </a:r>
            <a:r>
              <a:rPr lang="vi-VN" dirty="0"/>
              <a:t>, đặc biệt khi mật khẩu bị lộ.</a:t>
            </a:r>
          </a:p>
          <a:p>
            <a:pPr marL="158750" indent="0">
              <a:buFontTx/>
              <a:buNone/>
            </a:pPr>
            <a:endParaRPr lang="en-US" dirty="0"/>
          </a:p>
        </p:txBody>
      </p:sp>
    </p:spTree>
    <p:extLst>
      <p:ext uri="{BB962C8B-B14F-4D97-AF65-F5344CB8AC3E}">
        <p14:creationId xmlns:p14="http://schemas.microsoft.com/office/powerpoint/2010/main" val="21869900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Mức mạng (Network Layer) là gì?</a:t>
            </a:r>
          </a:p>
          <a:p>
            <a:pPr marL="158750" indent="0">
              <a:buFontTx/>
              <a:buNone/>
            </a:pPr>
            <a:r>
              <a:rPr lang="vi-VN" dirty="0"/>
              <a:t>Mức mạng trong hệ thống IoT chịu trách nhiệm cho </a:t>
            </a:r>
            <a:r>
              <a:rPr lang="vi-VN" b="1" dirty="0"/>
              <a:t>truyền thông giữa các thiết bị (IoT Devices), Gateway, và Cloud</a:t>
            </a:r>
            <a:r>
              <a:rPr lang="vi-VN" dirty="0"/>
              <a:t>.</a:t>
            </a:r>
            <a:br>
              <a:rPr lang="vi-VN" dirty="0"/>
            </a:br>
            <a:r>
              <a:rPr lang="vi-VN" dirty="0"/>
              <a:t>Tại lớp này, dữ liệu được gửi qua các giao thức như </a:t>
            </a:r>
            <a:r>
              <a:rPr lang="vi-VN" b="1" dirty="0"/>
              <a:t>HTTP, MQTT, CoAP, hoặc TCP/IP</a:t>
            </a:r>
            <a:r>
              <a:rPr lang="vi-VN" dirty="0"/>
              <a:t>.</a:t>
            </a:r>
          </a:p>
          <a:p>
            <a:pPr marL="158750" indent="0">
              <a:buFontTx/>
              <a:buNone/>
            </a:pPr>
            <a:r>
              <a:rPr lang="vi-VN" dirty="0"/>
              <a:t>Chính vì dữ liệu được truyền đi qua mạng, nên </a:t>
            </a:r>
            <a:r>
              <a:rPr lang="vi-VN" b="1" dirty="0"/>
              <a:t>mức mạng là mục tiêu tấn công phổ biến nhất</a:t>
            </a:r>
            <a:r>
              <a:rPr lang="vi-VN" dirty="0"/>
              <a:t> trong IoT, đặc biệt khi kết nối không được mã hóa hoặc xác thực đúng cách.</a:t>
            </a:r>
            <a:endParaRPr lang="en-US" dirty="0"/>
          </a:p>
          <a:p>
            <a:pPr marL="158750" indent="0">
              <a:buFontTx/>
              <a:buNone/>
            </a:pPr>
            <a:endParaRPr lang="en-US" b="1" dirty="0"/>
          </a:p>
          <a:p>
            <a:pPr marL="158750" indent="0">
              <a:buFontTx/>
              <a:buNone/>
            </a:pPr>
            <a:r>
              <a:rPr lang="vi-VN" b="1" dirty="0"/>
              <a:t>2. Các nguy cơ bảo mật thường gặp</a:t>
            </a:r>
          </a:p>
          <a:p>
            <a:pPr marL="158750" indent="0">
              <a:buFontTx/>
              <a:buNone/>
            </a:pPr>
            <a:r>
              <a:rPr lang="vi-VN" b="1" dirty="0"/>
              <a:t>a) Tấn công Man-in-the-Middle (MITM)</a:t>
            </a:r>
          </a:p>
          <a:p>
            <a:pPr marL="158750" indent="0">
              <a:buFontTx/>
              <a:buNone/>
            </a:pPr>
            <a:r>
              <a:rPr lang="vi-VN" dirty="0"/>
              <a:t>Kẻ tấn công </a:t>
            </a:r>
            <a:r>
              <a:rPr lang="vi-VN" b="1" dirty="0"/>
              <a:t>chen vào giữa</a:t>
            </a:r>
            <a:r>
              <a:rPr lang="vi-VN" dirty="0"/>
              <a:t> luồng giao tiếp giữa thiết bị và máy chủ.</a:t>
            </a:r>
          </a:p>
          <a:p>
            <a:pPr marL="158750" indent="0">
              <a:buFontTx/>
              <a:buNone/>
            </a:pPr>
            <a:r>
              <a:rPr lang="vi-VN" dirty="0"/>
              <a:t>Chúng có thể:</a:t>
            </a:r>
          </a:p>
          <a:p>
            <a:pPr marL="457200" lvl="1" indent="0">
              <a:buFontTx/>
              <a:buNone/>
            </a:pPr>
            <a:r>
              <a:rPr lang="vi-VN" dirty="0"/>
              <a:t>Nghe lén dữ liệu đang được truyền,</a:t>
            </a:r>
          </a:p>
          <a:p>
            <a:pPr marL="457200" lvl="1" indent="0">
              <a:buFontTx/>
              <a:buNone/>
            </a:pPr>
            <a:r>
              <a:rPr lang="vi-VN" dirty="0"/>
              <a:t>Giả mạo thông điệp, hoặc</a:t>
            </a:r>
          </a:p>
          <a:p>
            <a:pPr marL="457200" lvl="1" indent="0">
              <a:buFontTx/>
              <a:buNone/>
            </a:pPr>
            <a:r>
              <a:rPr lang="vi-VN" dirty="0"/>
              <a:t>Sửa đổi nội dung trước khi đến đích.</a:t>
            </a:r>
          </a:p>
          <a:p>
            <a:pPr marL="158750" indent="0">
              <a:buFontTx/>
              <a:buNone/>
            </a:pPr>
            <a:r>
              <a:rPr lang="vi-VN" dirty="0"/>
              <a:t>Ví dụ: Hacker chặn gói MQTT để thay đổi lệnh điều khiển thiết bị (bật/tắt đèn, mở khóa cửa...).</a:t>
            </a:r>
          </a:p>
          <a:p>
            <a:pPr marL="158750" indent="0">
              <a:buFontTx/>
              <a:buNone/>
            </a:pPr>
            <a:r>
              <a:rPr lang="vi-VN" b="1" dirty="0"/>
              <a:t>b) Giả mạo gói tin (Packet Spoofing)</a:t>
            </a:r>
          </a:p>
          <a:p>
            <a:pPr marL="158750" indent="0">
              <a:buFontTx/>
              <a:buNone/>
            </a:pPr>
            <a:r>
              <a:rPr lang="vi-VN" dirty="0"/>
              <a:t>Kẻ tấn công tạo ra các gói tin “giả” để lừa thiết bị hoặc server rằng chúng đến từ nguồn hợp lệ.</a:t>
            </a:r>
          </a:p>
          <a:p>
            <a:pPr marL="158750" indent="0">
              <a:buFontTx/>
              <a:buNone/>
            </a:pPr>
            <a:r>
              <a:rPr lang="vi-VN" dirty="0"/>
              <a:t>Điều này có thể gây </a:t>
            </a:r>
            <a:r>
              <a:rPr lang="vi-VN" b="1" dirty="0"/>
              <a:t>rối loạn hệ thống</a:t>
            </a:r>
            <a:r>
              <a:rPr lang="vi-VN" dirty="0"/>
              <a:t>, khiến thiết bị phản hồi sai lệnh hoặc tắt đột ngột.</a:t>
            </a:r>
          </a:p>
          <a:p>
            <a:pPr marL="158750" indent="0">
              <a:buFontTx/>
              <a:buNone/>
            </a:pPr>
            <a:r>
              <a:rPr lang="vi-VN" b="1" dirty="0"/>
              <a:t>c) Nghe lén dữ liệu (Eavesdropping)</a:t>
            </a:r>
          </a:p>
          <a:p>
            <a:pPr marL="158750" indent="0">
              <a:buFontTx/>
              <a:buNone/>
            </a:pPr>
            <a:r>
              <a:rPr lang="vi-VN" dirty="0"/>
              <a:t>Khi dữ liệu không được mã hóa, hacker có thể </a:t>
            </a:r>
            <a:r>
              <a:rPr lang="vi-VN" b="1" dirty="0"/>
              <a:t>dùng công cụ như Wireshark</a:t>
            </a:r>
            <a:r>
              <a:rPr lang="vi-VN" dirty="0"/>
              <a:t> để thu thập thông tin MQTT hoặc HTTP, bao gồm:</a:t>
            </a:r>
          </a:p>
          <a:p>
            <a:pPr marL="457200" lvl="1" indent="0">
              <a:buFontTx/>
              <a:buNone/>
            </a:pPr>
            <a:r>
              <a:rPr lang="vi-VN" dirty="0"/>
              <a:t>Dữ liệu cảm biến,</a:t>
            </a:r>
          </a:p>
          <a:p>
            <a:pPr marL="457200" lvl="1" indent="0">
              <a:buFontTx/>
              <a:buNone/>
            </a:pPr>
            <a:r>
              <a:rPr lang="vi-VN" dirty="0"/>
              <a:t>Thông tin đăng nhập,</a:t>
            </a:r>
          </a:p>
          <a:p>
            <a:pPr marL="457200" lvl="1" indent="0">
              <a:buFontTx/>
              <a:buNone/>
            </a:pPr>
            <a:r>
              <a:rPr lang="vi-VN" dirty="0"/>
              <a:t>Lệnh điều khiển.</a:t>
            </a:r>
          </a:p>
          <a:p>
            <a:pPr marL="158750" indent="0">
              <a:buFontTx/>
              <a:buNone/>
            </a:pPr>
            <a:r>
              <a:rPr lang="en-US" b="1" dirty="0"/>
              <a:t>3. </a:t>
            </a:r>
            <a:r>
              <a:rPr lang="vi-VN" b="1" dirty="0"/>
              <a:t>Giải pháp bảo mật cho mức mạng</a:t>
            </a:r>
          </a:p>
          <a:p>
            <a:pPr marL="158750" indent="0">
              <a:buFontTx/>
              <a:buNone/>
            </a:pPr>
            <a:r>
              <a:rPr lang="en-US" b="1" dirty="0"/>
              <a:t>a) </a:t>
            </a:r>
            <a:r>
              <a:rPr lang="vi-VN" b="1" dirty="0"/>
              <a:t>Dùng giao thức an toàn (MQTTS, HTTPS)</a:t>
            </a:r>
          </a:p>
          <a:p>
            <a:pPr marL="158750" indent="0">
              <a:buFontTx/>
              <a:buNone/>
            </a:pPr>
            <a:r>
              <a:rPr lang="vi-VN" b="1" dirty="0"/>
              <a:t>MQTTS (MQTT over SSL/TLS)</a:t>
            </a:r>
            <a:r>
              <a:rPr lang="vi-VN" dirty="0"/>
              <a:t> và </a:t>
            </a:r>
            <a:r>
              <a:rPr lang="vi-VN" b="1" dirty="0"/>
              <a:t>HTTPS</a:t>
            </a:r>
            <a:r>
              <a:rPr lang="vi-VN" dirty="0"/>
              <a:t> đảm bảo rằng dữ liệu được mã hóa khi truyền.</a:t>
            </a:r>
          </a:p>
          <a:p>
            <a:pPr marL="158750" indent="0">
              <a:buFontTx/>
              <a:buNone/>
            </a:pPr>
            <a:r>
              <a:rPr lang="vi-VN" dirty="0"/>
              <a:t>TLS (Transport Layer Security) giúp:</a:t>
            </a:r>
          </a:p>
          <a:p>
            <a:pPr marL="457200" lvl="1" indent="0">
              <a:buFontTx/>
              <a:buNone/>
            </a:pPr>
            <a:r>
              <a:rPr lang="vi-VN" dirty="0"/>
              <a:t>Ngăn nghe lén (confidentiality),</a:t>
            </a:r>
          </a:p>
          <a:p>
            <a:pPr marL="457200" lvl="1" indent="0">
              <a:buFontTx/>
              <a:buNone/>
            </a:pPr>
            <a:r>
              <a:rPr lang="vi-VN" dirty="0"/>
              <a:t>Phát hiện thay đổi dữ liệu (integrity),</a:t>
            </a:r>
          </a:p>
          <a:p>
            <a:pPr marL="457200" lvl="1" indent="0">
              <a:buFontTx/>
              <a:buNone/>
            </a:pPr>
            <a:r>
              <a:rPr lang="vi-VN" dirty="0"/>
              <a:t>Xác minh danh tính máy chủ (authentication).</a:t>
            </a:r>
          </a:p>
          <a:p>
            <a:pPr marL="158750" indent="0">
              <a:buFontTx/>
              <a:buNone/>
            </a:pPr>
            <a:r>
              <a:rPr lang="vi-VN" dirty="0"/>
              <a:t>Đây là giải pháp </a:t>
            </a:r>
            <a:r>
              <a:rPr lang="vi-VN" b="1" dirty="0"/>
              <a:t>bắt buộc</a:t>
            </a:r>
            <a:r>
              <a:rPr lang="vi-VN" dirty="0"/>
              <a:t> trong mọi hệ thống IoT hiện đại.</a:t>
            </a:r>
          </a:p>
          <a:p>
            <a:pPr marL="158750" indent="0">
              <a:buFontTx/>
              <a:buNone/>
            </a:pPr>
            <a:r>
              <a:rPr lang="en-US" b="1" dirty="0"/>
              <a:t>b) </a:t>
            </a:r>
            <a:r>
              <a:rPr lang="vi-VN" b="1" dirty="0"/>
              <a:t>Thiết lập VPN hoặc tường lửa cho IoT Gateway</a:t>
            </a:r>
          </a:p>
          <a:p>
            <a:pPr marL="158750" indent="0">
              <a:buFontTx/>
              <a:buNone/>
            </a:pPr>
            <a:r>
              <a:rPr lang="vi-VN" b="1" dirty="0"/>
              <a:t>VPN (Virtual Private Network)</a:t>
            </a:r>
            <a:r>
              <a:rPr lang="vi-VN" dirty="0"/>
              <a:t> giúp tạo </a:t>
            </a:r>
            <a:r>
              <a:rPr lang="vi-VN" b="1" dirty="0"/>
              <a:t>kênh truyền bảo mật riêng biệt</a:t>
            </a:r>
            <a:r>
              <a:rPr lang="vi-VN" dirty="0"/>
              <a:t> giữa thiết bị và server.</a:t>
            </a:r>
          </a:p>
          <a:p>
            <a:pPr marL="158750" indent="0">
              <a:buFontTx/>
              <a:buNone/>
            </a:pPr>
            <a:r>
              <a:rPr lang="vi-VN" b="1" dirty="0"/>
              <a:t>Firewall (tường lửa)</a:t>
            </a:r>
            <a:r>
              <a:rPr lang="vi-VN" dirty="0"/>
              <a:t> tại gateway lọc các kết nối đáng ngờ, ngăn chặn truy cập trái phép.</a:t>
            </a:r>
          </a:p>
          <a:p>
            <a:pPr marL="158750" indent="0">
              <a:buFontTx/>
              <a:buNone/>
            </a:pPr>
            <a:r>
              <a:rPr lang="vi-VN" dirty="0"/>
              <a:t>Gateway cũng nên áp dụng </a:t>
            </a:r>
            <a:r>
              <a:rPr lang="vi-VN" b="1" dirty="0"/>
              <a:t>Access Control Lists (ACLs)</a:t>
            </a:r>
            <a:r>
              <a:rPr lang="vi-VN" dirty="0"/>
              <a:t> để giới hạn thiết bị được phép truy cập.</a:t>
            </a:r>
          </a:p>
          <a:p>
            <a:pPr marL="158750" indent="0">
              <a:buFontTx/>
              <a:buNone/>
            </a:pPr>
            <a:endParaRPr lang="en-US" b="1" dirty="0"/>
          </a:p>
          <a:p>
            <a:pPr marL="158750" indent="0">
              <a:buFontTx/>
              <a:buNone/>
            </a:pPr>
            <a:r>
              <a:rPr lang="en-US" b="1" dirty="0"/>
              <a:t>3) </a:t>
            </a:r>
            <a:r>
              <a:rPr lang="vi-VN" b="1" dirty="0"/>
              <a:t>Giám sát lưu lượng bất thường (Intrusion Detection System – IDS)</a:t>
            </a:r>
          </a:p>
          <a:p>
            <a:pPr marL="158750" indent="0">
              <a:buFontTx/>
              <a:buNone/>
            </a:pPr>
            <a:r>
              <a:rPr lang="vi-VN" dirty="0"/>
              <a:t>Hệ thống IDS giúp:</a:t>
            </a:r>
          </a:p>
          <a:p>
            <a:pPr marL="457200" lvl="1" indent="0">
              <a:buFontTx/>
              <a:buNone/>
            </a:pPr>
            <a:r>
              <a:rPr lang="vi-VN" dirty="0"/>
              <a:t>Phát hiện hành vi bất thường (ví dụ: tăng đột biến lưu lượng, gói tin lạ).</a:t>
            </a:r>
          </a:p>
          <a:p>
            <a:pPr marL="457200" lvl="1" indent="0">
              <a:buFontTx/>
              <a:buNone/>
            </a:pPr>
            <a:r>
              <a:rPr lang="vi-VN" dirty="0"/>
              <a:t>Cảnh báo quản trị viên về khả năng có </a:t>
            </a:r>
            <a:r>
              <a:rPr lang="vi-VN" b="1" dirty="0"/>
              <a:t>tấn công DDoS hoặc xâm nhập</a:t>
            </a:r>
            <a:r>
              <a:rPr lang="vi-VN" dirty="0"/>
              <a:t>.</a:t>
            </a:r>
          </a:p>
          <a:p>
            <a:pPr marL="158750" indent="0">
              <a:buFontTx/>
              <a:buNone/>
            </a:pPr>
            <a:r>
              <a:rPr lang="vi-VN" dirty="0"/>
              <a:t>Các công cụ phổ biến: </a:t>
            </a:r>
            <a:r>
              <a:rPr lang="vi-VN" b="1" dirty="0"/>
              <a:t>Snort, Suricata, Zeek (Bro IDS)</a:t>
            </a:r>
            <a:r>
              <a:rPr lang="vi-VN" dirty="0"/>
              <a:t>.</a:t>
            </a:r>
          </a:p>
          <a:p>
            <a:pPr marL="158750" indent="0">
              <a:buFontTx/>
              <a:buNone/>
            </a:pPr>
            <a:endParaRPr lang="en-US" dirty="0"/>
          </a:p>
        </p:txBody>
      </p:sp>
    </p:spTree>
    <p:extLst>
      <p:ext uri="{BB962C8B-B14F-4D97-AF65-F5344CB8AC3E}">
        <p14:creationId xmlns:p14="http://schemas.microsoft.com/office/powerpoint/2010/main" val="39940282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Mức ứng dụng &amp; dữ liệu (Application Layer) là gì?</a:t>
            </a:r>
          </a:p>
          <a:p>
            <a:pPr marL="158750" indent="0">
              <a:buFontTx/>
              <a:buNone/>
            </a:pPr>
            <a:r>
              <a:rPr lang="vi-VN" dirty="0"/>
              <a:t>Đây là </a:t>
            </a:r>
            <a:r>
              <a:rPr lang="vi-VN" b="1" dirty="0"/>
              <a:t>lớp cao nhất trong kiến trúc IoT</a:t>
            </a:r>
            <a:r>
              <a:rPr lang="vi-VN" dirty="0"/>
              <a:t>, nơi dữ liệu được:</a:t>
            </a:r>
          </a:p>
          <a:p>
            <a:pPr marL="158750" indent="0">
              <a:buFontTx/>
              <a:buNone/>
            </a:pPr>
            <a:r>
              <a:rPr lang="vi-VN" dirty="0"/>
              <a:t>Xử lý, hiển thị cho người dùng,</a:t>
            </a:r>
          </a:p>
          <a:p>
            <a:pPr marL="158750" indent="0">
              <a:buFontTx/>
              <a:buNone/>
            </a:pPr>
            <a:r>
              <a:rPr lang="vi-VN" dirty="0"/>
              <a:t>Tích hợp với các dịch vụ khác (AI, phân tích dữ liệu, dashboard, v.v.),</a:t>
            </a:r>
          </a:p>
          <a:p>
            <a:pPr marL="158750" indent="0">
              <a:buFontTx/>
              <a:buNone/>
            </a:pPr>
            <a:r>
              <a:rPr lang="vi-VN" dirty="0"/>
              <a:t>Và lưu trữ trên </a:t>
            </a:r>
            <a:r>
              <a:rPr lang="vi-VN" b="1" dirty="0"/>
              <a:t>máy chủ hoặc nền tảng cloud</a:t>
            </a:r>
            <a:r>
              <a:rPr lang="vi-VN" dirty="0"/>
              <a:t>.</a:t>
            </a:r>
          </a:p>
          <a:p>
            <a:pPr marL="158750" indent="0">
              <a:buFontTx/>
              <a:buNone/>
            </a:pPr>
            <a:r>
              <a:rPr lang="vi-VN" dirty="0"/>
              <a:t>Mức này cũng bao gồm các </a:t>
            </a:r>
            <a:r>
              <a:rPr lang="vi-VN" b="1" dirty="0"/>
              <a:t>ứng dụng điều khiển (app/web)</a:t>
            </a:r>
            <a:r>
              <a:rPr lang="vi-VN" dirty="0"/>
              <a:t> mà người dùng tương tác trực tiếp.</a:t>
            </a:r>
            <a:br>
              <a:rPr lang="vi-VN" dirty="0"/>
            </a:br>
            <a:r>
              <a:rPr lang="en-US" dirty="0"/>
              <a:t>=&gt; </a:t>
            </a:r>
            <a:r>
              <a:rPr lang="vi-VN" dirty="0"/>
              <a:t>Vì vậy, đây là lớp </a:t>
            </a:r>
            <a:r>
              <a:rPr lang="vi-VN" b="1" dirty="0"/>
              <a:t>chứa nhiều thông tin nhạy cảm nhất</a:t>
            </a:r>
            <a:r>
              <a:rPr lang="vi-VN" dirty="0"/>
              <a:t> — đặc biệt là </a:t>
            </a:r>
            <a:r>
              <a:rPr lang="vi-VN" b="1" dirty="0"/>
              <a:t>dữ liệu cá nhân</a:t>
            </a:r>
            <a:r>
              <a:rPr lang="vi-VN" dirty="0"/>
              <a:t>.</a:t>
            </a:r>
          </a:p>
          <a:p>
            <a:pPr marL="158750" indent="0">
              <a:buFontTx/>
              <a:buNone/>
            </a:pPr>
            <a:endParaRPr lang="en-US" b="1" dirty="0"/>
          </a:p>
          <a:p>
            <a:pPr marL="158750" indent="0">
              <a:buFontTx/>
              <a:buNone/>
            </a:pPr>
            <a:r>
              <a:rPr lang="vi-VN" b="1" dirty="0"/>
              <a:t>2. Các nguy cơ bảo mật phổ biến</a:t>
            </a:r>
          </a:p>
          <a:p>
            <a:pPr marL="158750" indent="0">
              <a:buFontTx/>
              <a:buNone/>
            </a:pPr>
            <a:r>
              <a:rPr lang="vi-VN" b="1" dirty="0"/>
              <a:t>a) Rò rỉ dữ liệu cá nhân (Data Leakage)</a:t>
            </a:r>
          </a:p>
          <a:p>
            <a:pPr marL="158750" indent="0">
              <a:buFontTx/>
              <a:buNone/>
            </a:pPr>
            <a:r>
              <a:rPr lang="vi-VN" dirty="0"/>
              <a:t>Dữ liệu người dùng như vị trí, hành vi, hình ảnh, thông tin sức khỏe... có thể bị </a:t>
            </a:r>
            <a:r>
              <a:rPr lang="vi-VN" b="1" dirty="0"/>
              <a:t>rò rỉ do lỗi ứng dụng, cấu hình sai hoặc tấn công mạng</a:t>
            </a:r>
            <a:r>
              <a:rPr lang="vi-VN" dirty="0"/>
              <a:t>.</a:t>
            </a:r>
          </a:p>
          <a:p>
            <a:pPr marL="158750" indent="0">
              <a:buFontTx/>
              <a:buNone/>
            </a:pPr>
            <a:r>
              <a:rPr lang="vi-VN" dirty="0"/>
              <a:t>Ví dụ: hệ thống IoT y tế để lộ dữ liệu bệnh nhân, hoặc camera lưu trữ hình ảnh không mã hóa trên cloud.</a:t>
            </a:r>
          </a:p>
          <a:p>
            <a:pPr marL="158750" indent="0">
              <a:buFontTx/>
              <a:buNone/>
            </a:pPr>
            <a:r>
              <a:rPr lang="vi-VN" b="1" dirty="0"/>
              <a:t>b) Khai thác dữ liệu vượt quyền (Unauthorized Access)</a:t>
            </a:r>
          </a:p>
          <a:p>
            <a:pPr marL="158750" indent="0">
              <a:buFontTx/>
              <a:buNone/>
            </a:pPr>
            <a:r>
              <a:rPr lang="vi-VN" dirty="0"/>
              <a:t>Khi ứng dụng hoặc API không kiểm soát quyền truy cập chặt chẽ, hacker có thể:</a:t>
            </a:r>
          </a:p>
          <a:p>
            <a:pPr marL="457200" lvl="1" indent="0">
              <a:buFontTx/>
              <a:buNone/>
            </a:pPr>
            <a:r>
              <a:rPr lang="vi-VN" dirty="0"/>
              <a:t>Xem dữ liệu của người dùng khác,</a:t>
            </a:r>
          </a:p>
          <a:p>
            <a:pPr marL="457200" lvl="1" indent="0">
              <a:buFontTx/>
              <a:buNone/>
            </a:pPr>
            <a:r>
              <a:rPr lang="vi-VN" dirty="0"/>
              <a:t>Hoặc gửi yêu cầu giả mạo đến server (API abuse).</a:t>
            </a:r>
          </a:p>
          <a:p>
            <a:pPr marL="158750" indent="0">
              <a:buFontTx/>
              <a:buNone/>
            </a:pPr>
            <a:r>
              <a:rPr lang="vi-VN" b="1" dirty="0"/>
              <a:t>c) Thiếu kiểm soát truy cập (Access Control Failure)</a:t>
            </a:r>
          </a:p>
          <a:p>
            <a:pPr marL="158750" indent="0">
              <a:buFontTx/>
              <a:buNone/>
            </a:pPr>
            <a:r>
              <a:rPr lang="vi-VN" dirty="0"/>
              <a:t>Một lỗi phổ biến là </a:t>
            </a:r>
            <a:r>
              <a:rPr lang="vi-VN" b="1" dirty="0"/>
              <a:t>mọi người dùng đều có quyền truy cập dữ liệu giống nhau</a:t>
            </a:r>
            <a:r>
              <a:rPr lang="vi-VN" dirty="0"/>
              <a:t>, hoặc không giới hạn hành động (xem, xóa, thay đổi).</a:t>
            </a:r>
          </a:p>
          <a:p>
            <a:pPr marL="158750" indent="0">
              <a:buFontTx/>
              <a:buNone/>
            </a:pPr>
            <a:r>
              <a:rPr lang="vi-VN" dirty="0"/>
              <a:t>Điều này dẫn đến rủi ro mất dữ liệu hoặc thao túng dữ liệu sai mục đích.</a:t>
            </a:r>
          </a:p>
          <a:p>
            <a:pPr marL="158750" indent="0">
              <a:buFontTx/>
              <a:buNone/>
            </a:pPr>
            <a:endParaRPr lang="en-US" b="1" dirty="0"/>
          </a:p>
          <a:p>
            <a:pPr marL="158750" indent="0">
              <a:buFontTx/>
              <a:buNone/>
            </a:pPr>
            <a:r>
              <a:rPr lang="en-US" b="1" dirty="0"/>
              <a:t>3. </a:t>
            </a:r>
            <a:r>
              <a:rPr lang="vi-VN" b="1" dirty="0"/>
              <a:t>Giải pháp bảo mật cho mức ứng dụng &amp; dữ liệu</a:t>
            </a:r>
          </a:p>
          <a:p>
            <a:pPr marL="158750" indent="0">
              <a:buFontTx/>
              <a:buNone/>
            </a:pPr>
            <a:r>
              <a:rPr lang="en-US" b="1" dirty="0"/>
              <a:t>a) </a:t>
            </a:r>
            <a:r>
              <a:rPr lang="vi-VN" b="1" dirty="0"/>
              <a:t>Ẩn danh hóa dữ liệu người dùng (Anonymization)</a:t>
            </a:r>
          </a:p>
          <a:p>
            <a:pPr marL="158750" indent="0">
              <a:buFontTx/>
              <a:buNone/>
            </a:pPr>
            <a:r>
              <a:rPr lang="vi-VN" dirty="0"/>
              <a:t>Loại bỏ hoặc thay thế các thông tin định danh cá nhân (như tên, số điện thoại, ID, tọa độ).</a:t>
            </a:r>
          </a:p>
          <a:p>
            <a:pPr marL="158750" indent="0">
              <a:buFontTx/>
              <a:buNone/>
            </a:pPr>
            <a:r>
              <a:rPr lang="vi-VN" dirty="0"/>
              <a:t>Dữ liệu vẫn hữu ích cho phân tích, nhưng </a:t>
            </a:r>
            <a:r>
              <a:rPr lang="vi-VN" b="1" dirty="0"/>
              <a:t>không thể truy ngược đến cá nhân cụ thể</a:t>
            </a:r>
            <a:r>
              <a:rPr lang="vi-VN" dirty="0"/>
              <a:t>.</a:t>
            </a:r>
          </a:p>
          <a:p>
            <a:pPr marL="158750" indent="0">
              <a:buFontTx/>
              <a:buNone/>
            </a:pPr>
            <a:r>
              <a:rPr lang="vi-VN" dirty="0"/>
              <a:t>Kỹ thuật phổ biến: </a:t>
            </a:r>
            <a:r>
              <a:rPr lang="vi-VN" b="1" dirty="0"/>
              <a:t>pseudonymization, differential privacy</a:t>
            </a:r>
            <a:r>
              <a:rPr lang="vi-VN" dirty="0"/>
              <a:t>.</a:t>
            </a:r>
          </a:p>
          <a:p>
            <a:pPr marL="158750" indent="0">
              <a:buFontTx/>
              <a:buNone/>
            </a:pPr>
            <a:r>
              <a:rPr lang="en-US" dirty="0"/>
              <a:t>=&gt; </a:t>
            </a:r>
            <a:r>
              <a:rPr lang="vi-VN" dirty="0"/>
              <a:t>Ứng dụng: Trong hệ thống IoT y tế, thay vì lưu “Nguyễn Văn A – 65 tuổi”, hệ thống lưu “Bệnh nhân #1023 – nhóm tuổi 60–70”.</a:t>
            </a:r>
          </a:p>
          <a:p>
            <a:pPr marL="158750" indent="0">
              <a:buFontTx/>
              <a:buNone/>
            </a:pPr>
            <a:r>
              <a:rPr lang="en-US" b="1" dirty="0"/>
              <a:t>b) </a:t>
            </a:r>
            <a:r>
              <a:rPr lang="vi-VN" b="1" dirty="0"/>
              <a:t>Kiểm soát quyền truy cập theo vai trò (Role-Based Access Control – RBAC)</a:t>
            </a:r>
          </a:p>
          <a:p>
            <a:pPr marL="158750" indent="0">
              <a:buFontTx/>
              <a:buNone/>
            </a:pPr>
            <a:r>
              <a:rPr lang="vi-VN" dirty="0"/>
              <a:t>Mỗi người dùng (admin, kỹ sư, người dùng cuối, v.v.) chỉ có thể truy cập </a:t>
            </a:r>
            <a:r>
              <a:rPr lang="vi-VN" b="1" dirty="0"/>
              <a:t>các tài nguyên được phân quyền</a:t>
            </a:r>
            <a:r>
              <a:rPr lang="vi-VN" dirty="0"/>
              <a:t>.</a:t>
            </a:r>
          </a:p>
          <a:p>
            <a:pPr marL="158750" indent="0">
              <a:buFontTx/>
              <a:buNone/>
            </a:pPr>
            <a:r>
              <a:rPr lang="vi-VN" dirty="0"/>
              <a:t>Giúp ngăn:</a:t>
            </a:r>
          </a:p>
          <a:p>
            <a:pPr marL="457200" lvl="1" indent="0">
              <a:buFontTx/>
              <a:buNone/>
            </a:pPr>
            <a:r>
              <a:rPr lang="vi-VN" dirty="0"/>
              <a:t>Nhân viên kỹ thuật xem dữ liệu cá nhân,</a:t>
            </a:r>
          </a:p>
          <a:p>
            <a:pPr marL="457200" lvl="1" indent="0">
              <a:buFontTx/>
              <a:buNone/>
            </a:pPr>
            <a:r>
              <a:rPr lang="vi-VN" dirty="0"/>
              <a:t>Người dùng thường can thiệp vào cấu hình hệ thống.</a:t>
            </a:r>
          </a:p>
          <a:p>
            <a:pPr marL="158750" indent="0">
              <a:buFontTx/>
              <a:buNone/>
            </a:pPr>
            <a:r>
              <a:rPr lang="vi-VN" dirty="0"/>
              <a:t>Có thể kết hợp với xác thực đa yếu tố (MFA) để tăng bảo mật.</a:t>
            </a:r>
          </a:p>
          <a:p>
            <a:pPr marL="158750" indent="0">
              <a:buFontTx/>
              <a:buNone/>
            </a:pPr>
            <a:r>
              <a:rPr lang="en-US" b="1" dirty="0"/>
              <a:t>c</a:t>
            </a:r>
            <a:r>
              <a:rPr lang="vi-VN" b="1" dirty="0"/>
              <a:t>) Lưu trữ dữ liệu nhạy cảm trên cloud bảo mật cao</a:t>
            </a:r>
          </a:p>
          <a:p>
            <a:pPr marL="158750" indent="0">
              <a:buFontTx/>
              <a:buNone/>
            </a:pPr>
            <a:r>
              <a:rPr lang="vi-VN" dirty="0"/>
              <a:t>Dữ liệu nên được lưu trữ trên </a:t>
            </a:r>
            <a:r>
              <a:rPr lang="vi-VN" b="1" dirty="0"/>
              <a:t>hạ tầng đạt chuẩn bảo mật quốc tế</a:t>
            </a:r>
            <a:r>
              <a:rPr lang="vi-VN" dirty="0"/>
              <a:t> (ISO 27001, GDPR, HIPAA,…).</a:t>
            </a:r>
          </a:p>
          <a:p>
            <a:pPr marL="158750" indent="0">
              <a:buFontTx/>
              <a:buNone/>
            </a:pPr>
            <a:r>
              <a:rPr lang="vi-VN" dirty="0"/>
              <a:t>Các cloud như </a:t>
            </a:r>
            <a:r>
              <a:rPr lang="vi-VN" b="1" dirty="0"/>
              <a:t>AWS IoT Core, Azure IoT Hub, Google Cloud IoT</a:t>
            </a:r>
            <a:r>
              <a:rPr lang="vi-VN" dirty="0"/>
              <a:t> hỗ trợ:</a:t>
            </a:r>
          </a:p>
          <a:p>
            <a:pPr marL="457200" lvl="1" indent="0">
              <a:buFontTx/>
              <a:buNone/>
            </a:pPr>
            <a:r>
              <a:rPr lang="vi-VN" dirty="0"/>
              <a:t>Mã hóa dữ liệu khi lưu trữ và truyền tải,</a:t>
            </a:r>
          </a:p>
          <a:p>
            <a:pPr marL="457200" lvl="1" indent="0">
              <a:buFontTx/>
              <a:buNone/>
            </a:pPr>
            <a:r>
              <a:rPr lang="vi-VN" dirty="0"/>
              <a:t>Quản lý khóa mã hóa (Key Management Service),</a:t>
            </a:r>
          </a:p>
          <a:p>
            <a:pPr marL="457200" lvl="1" indent="0">
              <a:buFontTx/>
              <a:buNone/>
            </a:pPr>
            <a:r>
              <a:rPr lang="vi-VN" dirty="0"/>
              <a:t>Giám sát truy cập và nhật ký hoạt động (Audit Logs).</a:t>
            </a:r>
          </a:p>
          <a:p>
            <a:pPr marL="158750" indent="0">
              <a:buFontTx/>
              <a:buNone/>
            </a:pPr>
            <a:endParaRPr lang="en-US" dirty="0"/>
          </a:p>
        </p:txBody>
      </p:sp>
    </p:spTree>
    <p:extLst>
      <p:ext uri="{BB962C8B-B14F-4D97-AF65-F5344CB8AC3E}">
        <p14:creationId xmlns:p14="http://schemas.microsoft.com/office/powerpoint/2010/main" val="5647845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Các kiểu tấn công phổ biến và biện pháp phòng chống</a:t>
            </a:r>
          </a:p>
          <a:p>
            <a:pPr marL="158750" indent="0">
              <a:buFontTx/>
              <a:buNone/>
            </a:pPr>
            <a:endParaRPr lang="en-US" b="1" dirty="0"/>
          </a:p>
          <a:p>
            <a:pPr marL="158750" indent="0">
              <a:buFontTx/>
              <a:buNone/>
            </a:pPr>
            <a:r>
              <a:rPr lang="en-US" b="1" dirty="0"/>
              <a:t>(1) </a:t>
            </a:r>
            <a:r>
              <a:rPr lang="vi-VN" b="1" dirty="0"/>
              <a:t>Botnet Attack</a:t>
            </a:r>
          </a:p>
          <a:p>
            <a:pPr marL="158750" indent="0">
              <a:buFontTx/>
              <a:buNone/>
            </a:pPr>
            <a:r>
              <a:rPr lang="vi-VN" b="1" dirty="0"/>
              <a:t>Khái niệm:</a:t>
            </a:r>
            <a:r>
              <a:rPr lang="vi-VN" dirty="0"/>
              <a:t> Botnet là mạng lưới gồm hàng ngàn thiết bị IoT (như camera, router, cảm biến...) bị hacker chiếm quyền điều khiển thông qua malware.</a:t>
            </a:r>
          </a:p>
          <a:p>
            <a:pPr marL="158750" indent="0">
              <a:buFontTx/>
              <a:buNone/>
            </a:pPr>
            <a:r>
              <a:rPr lang="vi-VN" dirty="0"/>
              <a:t>Các thiết bị này sau đó bị lợi dụng để:</a:t>
            </a:r>
          </a:p>
          <a:p>
            <a:pPr marL="457200" lvl="1" indent="0">
              <a:buFontTx/>
              <a:buNone/>
            </a:pPr>
            <a:r>
              <a:rPr lang="vi-VN" dirty="0"/>
              <a:t>Tấn công </a:t>
            </a:r>
            <a:r>
              <a:rPr lang="vi-VN" b="1" dirty="0"/>
              <a:t>DDoS (Distributed Denial of Service)</a:t>
            </a:r>
            <a:r>
              <a:rPr lang="vi-VN" dirty="0"/>
              <a:t> vào website hoặc dịch vụ.</a:t>
            </a:r>
          </a:p>
          <a:p>
            <a:pPr marL="457200" lvl="1" indent="0">
              <a:buFontTx/>
              <a:buNone/>
            </a:pPr>
            <a:r>
              <a:rPr lang="vi-VN" dirty="0"/>
              <a:t>Phát tán virus, spam, hoặc thu thập dữ liệu người dùng.</a:t>
            </a:r>
          </a:p>
          <a:p>
            <a:pPr marL="158750" indent="0">
              <a:buFontTx/>
              <a:buNone/>
            </a:pPr>
            <a:r>
              <a:rPr lang="vi-VN" i="1" dirty="0"/>
              <a:t>Ví dụ nổi tiếng:</a:t>
            </a:r>
            <a:r>
              <a:rPr lang="vi-VN" dirty="0"/>
              <a:t> Cuộc tấn công </a:t>
            </a:r>
            <a:r>
              <a:rPr lang="vi-VN" b="1" dirty="0"/>
              <a:t>Mirai Botnet (2016)</a:t>
            </a:r>
            <a:r>
              <a:rPr lang="vi-VN" dirty="0"/>
              <a:t> đã làm sập nhiều dịch vụ Internet lớn như Twitter, Netflix, Reddit bằng cách dùng hàng trăm ngàn camera IoT bị nhiễm mã độc.</a:t>
            </a:r>
          </a:p>
          <a:p>
            <a:pPr marL="158750" indent="0">
              <a:buFontTx/>
              <a:buNone/>
            </a:pPr>
            <a:r>
              <a:rPr lang="vi-VN" b="1" dirty="0"/>
              <a:t>Giải pháp:</a:t>
            </a:r>
            <a:endParaRPr lang="vi-VN" dirty="0"/>
          </a:p>
          <a:p>
            <a:pPr marL="158750" indent="0">
              <a:buFontTx/>
              <a:buNone/>
            </a:pPr>
            <a:r>
              <a:rPr lang="vi-VN" b="1" dirty="0"/>
              <a:t>Cập nhật firmware định kỳ:</a:t>
            </a:r>
            <a:r>
              <a:rPr lang="vi-VN" dirty="0"/>
              <a:t> vá các lỗ hổng bảo mật đã biết.</a:t>
            </a:r>
          </a:p>
          <a:p>
            <a:pPr marL="158750" indent="0">
              <a:buFontTx/>
              <a:buNone/>
            </a:pPr>
            <a:r>
              <a:rPr lang="vi-VN" b="1" dirty="0"/>
              <a:t>Xác thực mạnh (Strong Authentication):</a:t>
            </a:r>
            <a:r>
              <a:rPr lang="vi-VN" dirty="0"/>
              <a:t> sử dụng mật khẩu phức tạp, không để mặc định.</a:t>
            </a:r>
          </a:p>
          <a:p>
            <a:pPr marL="158750" indent="0">
              <a:buFontTx/>
              <a:buNone/>
            </a:pPr>
            <a:endParaRPr lang="en-US" b="1" dirty="0"/>
          </a:p>
          <a:p>
            <a:pPr marL="158750" indent="0">
              <a:buFontTx/>
              <a:buNone/>
            </a:pPr>
            <a:r>
              <a:rPr lang="en-US" b="1" dirty="0"/>
              <a:t>(2) </a:t>
            </a:r>
            <a:r>
              <a:rPr lang="vi-VN" b="1" dirty="0"/>
              <a:t>Spoofing Attack (Giả mạo danh tính)</a:t>
            </a:r>
          </a:p>
          <a:p>
            <a:pPr marL="158750" indent="0">
              <a:buFontTx/>
              <a:buNone/>
            </a:pPr>
            <a:r>
              <a:rPr lang="vi-VN" b="1" dirty="0"/>
              <a:t>Khái niệm:</a:t>
            </a:r>
            <a:r>
              <a:rPr lang="vi-VN" dirty="0"/>
              <a:t> Hacker </a:t>
            </a:r>
            <a:r>
              <a:rPr lang="vi-VN" b="1" dirty="0"/>
              <a:t>giả mạo danh tính thiết bị</a:t>
            </a:r>
            <a:r>
              <a:rPr lang="vi-VN" dirty="0"/>
              <a:t> hoặc server để đánh lừa hệ thống IoT.</a:t>
            </a:r>
          </a:p>
          <a:p>
            <a:pPr marL="158750" indent="0">
              <a:buFontTx/>
              <a:buNone/>
            </a:pPr>
            <a:r>
              <a:rPr lang="vi-VN" dirty="0"/>
              <a:t>Hậu quả:</a:t>
            </a:r>
          </a:p>
          <a:p>
            <a:pPr marL="457200" lvl="1" indent="0">
              <a:buFontTx/>
              <a:buNone/>
            </a:pPr>
            <a:r>
              <a:rPr lang="vi-VN" dirty="0"/>
              <a:t>Dữ liệu bị gửi đến kẻ tấn công thay vì đến máy chủ thật.</a:t>
            </a:r>
          </a:p>
          <a:p>
            <a:pPr marL="457200" lvl="1" indent="0">
              <a:buFontTx/>
              <a:buNone/>
            </a:pPr>
            <a:r>
              <a:rPr lang="vi-VN" dirty="0"/>
              <a:t>Hacker có thể ra lệnh sai cho thiết bị (ví dụ: tắt cảm biến an toàn, mở khóa cửa...).</a:t>
            </a:r>
          </a:p>
          <a:p>
            <a:pPr marL="158750" indent="0">
              <a:buFontTx/>
              <a:buNone/>
            </a:pPr>
            <a:r>
              <a:rPr lang="vi-VN" b="1" dirty="0"/>
              <a:t>Giải pháp:</a:t>
            </a:r>
            <a:endParaRPr lang="vi-VN" dirty="0"/>
          </a:p>
          <a:p>
            <a:pPr marL="158750" indent="0">
              <a:buFontTx/>
              <a:buNone/>
            </a:pPr>
            <a:r>
              <a:rPr lang="vi-VN" b="1" dirty="0"/>
              <a:t>Sử dụng chứng thực số (Digital Certificates):</a:t>
            </a:r>
            <a:r>
              <a:rPr lang="vi-VN" dirty="0"/>
              <a:t> đảm bảo thiết bị và máy chủ đều được xác minh danh tính qua PKI (Public Key Infrastructure).</a:t>
            </a:r>
          </a:p>
          <a:p>
            <a:pPr marL="158750" indent="0">
              <a:buFontTx/>
              <a:buNone/>
            </a:pPr>
            <a:r>
              <a:rPr lang="vi-VN" b="1" dirty="0"/>
              <a:t>Mã hóa kết nối (TLS/SSL)</a:t>
            </a:r>
            <a:r>
              <a:rPr lang="vi-VN" dirty="0"/>
              <a:t> để ngăn kẻ tấn công can thiệp vào quá trình xác thực.</a:t>
            </a:r>
          </a:p>
          <a:p>
            <a:pPr marL="158750" indent="0">
              <a:buFontTx/>
              <a:buNone/>
            </a:pPr>
            <a:endParaRPr lang="en-US" b="1" dirty="0"/>
          </a:p>
          <a:p>
            <a:pPr marL="158750" indent="0">
              <a:buFontTx/>
              <a:buNone/>
            </a:pPr>
            <a:r>
              <a:rPr lang="en-US" b="1" dirty="0"/>
              <a:t>(3) </a:t>
            </a:r>
            <a:r>
              <a:rPr lang="vi-VN" b="1" dirty="0"/>
              <a:t>Sniffing Attack (Nghe lén dữ liệu)</a:t>
            </a:r>
          </a:p>
          <a:p>
            <a:pPr marL="158750" indent="0">
              <a:buFontTx/>
              <a:buNone/>
            </a:pPr>
            <a:r>
              <a:rPr lang="vi-VN" b="1" dirty="0"/>
              <a:t>Khái niệm:</a:t>
            </a:r>
            <a:r>
              <a:rPr lang="vi-VN" dirty="0"/>
              <a:t> Hacker sử dụng công cụ (như Wireshark, tcpdump) để </a:t>
            </a:r>
            <a:r>
              <a:rPr lang="vi-VN" b="1" dirty="0"/>
              <a:t>chặn bắt và đọc gói tin</a:t>
            </a:r>
            <a:r>
              <a:rPr lang="vi-VN" dirty="0"/>
              <a:t> truyền qua mạng không mã hóa.</a:t>
            </a:r>
          </a:p>
          <a:p>
            <a:pPr marL="158750" indent="0">
              <a:buFontTx/>
              <a:buNone/>
            </a:pPr>
            <a:r>
              <a:rPr lang="vi-VN" dirty="0"/>
              <a:t>Có thể thu thập:</a:t>
            </a:r>
          </a:p>
          <a:p>
            <a:pPr marL="457200" lvl="1" indent="0">
              <a:buFontTx/>
              <a:buNone/>
            </a:pPr>
            <a:r>
              <a:rPr lang="vi-VN" dirty="0"/>
              <a:t>Dữ liệu cảm biến (nhiệt độ, vị trí, hình ảnh),</a:t>
            </a:r>
          </a:p>
          <a:p>
            <a:pPr marL="457200" lvl="1" indent="0">
              <a:buFontTx/>
              <a:buNone/>
            </a:pPr>
            <a:r>
              <a:rPr lang="vi-VN" dirty="0"/>
              <a:t>Thông tin đăng nhập, hoặc</a:t>
            </a:r>
          </a:p>
          <a:p>
            <a:pPr marL="457200" lvl="1" indent="0">
              <a:buFontTx/>
              <a:buNone/>
            </a:pPr>
            <a:r>
              <a:rPr lang="vi-VN" dirty="0"/>
              <a:t>Mã lệnh điều khiển thiết bị.</a:t>
            </a:r>
          </a:p>
          <a:p>
            <a:pPr marL="158750" indent="0">
              <a:buFontTx/>
              <a:buNone/>
            </a:pPr>
            <a:r>
              <a:rPr lang="vi-VN" b="1" dirty="0"/>
              <a:t>Giải pháp:</a:t>
            </a:r>
            <a:endParaRPr lang="vi-VN" dirty="0"/>
          </a:p>
          <a:p>
            <a:pPr marL="158750" indent="0">
              <a:buFontTx/>
              <a:buNone/>
            </a:pPr>
            <a:r>
              <a:rPr lang="vi-VN" b="1" dirty="0"/>
              <a:t>Sử dụng giao thức bảo mật TLS/SSL</a:t>
            </a:r>
            <a:r>
              <a:rPr lang="vi-VN" dirty="0"/>
              <a:t> để mã hóa toàn bộ dữ liệu khi truyền.</a:t>
            </a:r>
          </a:p>
          <a:p>
            <a:pPr marL="158750" indent="0">
              <a:buFontTx/>
              <a:buNone/>
            </a:pPr>
            <a:r>
              <a:rPr lang="vi-VN" b="1" dirty="0"/>
              <a:t>Triển khai VPN hoặc Private Network</a:t>
            </a:r>
            <a:r>
              <a:rPr lang="vi-VN" dirty="0"/>
              <a:t> cho các thiết bị IoT.</a:t>
            </a:r>
          </a:p>
          <a:p>
            <a:pPr marL="158750" indent="0">
              <a:buFontTx/>
              <a:buNone/>
            </a:pPr>
            <a:endParaRPr lang="en-US" b="1" dirty="0"/>
          </a:p>
          <a:p>
            <a:pPr marL="158750" indent="0">
              <a:buFontTx/>
              <a:buNone/>
            </a:pPr>
            <a:r>
              <a:rPr lang="vi-VN" b="1" dirty="0"/>
              <a:t>(4) Side-Channel Attack (Tấn công kênh bên)</a:t>
            </a:r>
          </a:p>
          <a:p>
            <a:pPr marL="158750" indent="0">
              <a:buFontTx/>
              <a:buNone/>
            </a:pPr>
            <a:r>
              <a:rPr lang="vi-VN" b="1" dirty="0"/>
              <a:t>Khái niệm:</a:t>
            </a:r>
            <a:r>
              <a:rPr lang="vi-VN" dirty="0"/>
              <a:t> Không tấn công vào phần mềm hay giao thức, mà khai thác </a:t>
            </a:r>
            <a:r>
              <a:rPr lang="vi-VN" b="1" dirty="0"/>
              <a:t>thông tin vật lý</a:t>
            </a:r>
            <a:r>
              <a:rPr lang="vi-VN" dirty="0"/>
              <a:t> như:</a:t>
            </a:r>
          </a:p>
          <a:p>
            <a:pPr marL="457200" lvl="1" indent="0">
              <a:buFontTx/>
              <a:buNone/>
            </a:pPr>
            <a:r>
              <a:rPr lang="vi-VN" dirty="0"/>
              <a:t>Mức tiêu thụ điện năng,</a:t>
            </a:r>
          </a:p>
          <a:p>
            <a:pPr marL="457200" lvl="1" indent="0">
              <a:buFontTx/>
              <a:buNone/>
            </a:pPr>
            <a:r>
              <a:rPr lang="vi-VN" dirty="0"/>
              <a:t>Nhiệt độ, hoặc</a:t>
            </a:r>
          </a:p>
          <a:p>
            <a:pPr marL="457200" lvl="1" indent="0">
              <a:buFontTx/>
              <a:buNone/>
            </a:pPr>
            <a:r>
              <a:rPr lang="vi-VN" dirty="0"/>
              <a:t>Tín hiệu điện từ của thiết bị để suy ra khóa mã hóa hoặc dữ liệu.</a:t>
            </a:r>
          </a:p>
          <a:p>
            <a:pPr marL="158750" indent="0">
              <a:buFontTx/>
              <a:buNone/>
            </a:pPr>
            <a:r>
              <a:rPr lang="vi-VN" i="1" dirty="0"/>
              <a:t>Ví dụ:</a:t>
            </a:r>
            <a:r>
              <a:rPr lang="vi-VN" dirty="0"/>
              <a:t> Một hacker có thể phân tích dao động điện năng khi thiết bị đang mã hóa dữ liệu để đoán ra khóa AES.</a:t>
            </a:r>
          </a:p>
          <a:p>
            <a:pPr marL="158750" indent="0">
              <a:buFontTx/>
              <a:buNone/>
            </a:pPr>
            <a:r>
              <a:rPr lang="vi-VN" b="1" dirty="0"/>
              <a:t>Giải pháp:</a:t>
            </a:r>
            <a:endParaRPr lang="vi-VN" dirty="0"/>
          </a:p>
          <a:p>
            <a:pPr marL="158750" indent="0">
              <a:buFontTx/>
              <a:buNone/>
            </a:pPr>
            <a:r>
              <a:rPr lang="vi-VN" b="1" dirty="0"/>
              <a:t>Che chắn vật lý (Physical Shielding):</a:t>
            </a:r>
            <a:r>
              <a:rPr lang="vi-VN" dirty="0"/>
              <a:t> ngăn rò rỉ tín hiệu điện từ.</a:t>
            </a:r>
          </a:p>
          <a:p>
            <a:pPr marL="158750" indent="0">
              <a:buFontTx/>
              <a:buNone/>
            </a:pPr>
            <a:r>
              <a:rPr lang="vi-VN" b="1" dirty="0"/>
              <a:t>Tạo nhiễu ngẫu nhiên (Random Noise):</a:t>
            </a:r>
            <a:r>
              <a:rPr lang="vi-VN" dirty="0"/>
              <a:t> làm sai lệch dữ liệu vật lý mà hacker thu thập.</a:t>
            </a:r>
          </a:p>
          <a:p>
            <a:pPr marL="158750" indent="0">
              <a:buFontTx/>
              <a:buNone/>
            </a:pPr>
            <a:endParaRPr lang="en-US" dirty="0"/>
          </a:p>
          <a:p>
            <a:pPr marL="158750" indent="0">
              <a:buFontTx/>
              <a:buNone/>
            </a:pPr>
            <a:r>
              <a:rPr lang="en-US" dirty="0" err="1"/>
              <a:t>Kết</a:t>
            </a:r>
            <a:r>
              <a:rPr lang="en-US" dirty="0"/>
              <a:t> </a:t>
            </a:r>
            <a:r>
              <a:rPr lang="en-US" dirty="0" err="1"/>
              <a:t>Luận</a:t>
            </a:r>
            <a:r>
              <a:rPr lang="en-US" dirty="0"/>
              <a:t>: </a:t>
            </a:r>
            <a:r>
              <a:rPr lang="vi-VN" dirty="0"/>
              <a:t>An toàn thông tin trong IoT không chỉ dừng ở phần mềm hay mạng, mà </a:t>
            </a:r>
            <a:r>
              <a:rPr lang="vi-VN" b="1" dirty="0"/>
              <a:t>bao phủ toàn bộ vòng đời thiết bị — từ phần cứng, firmware, đến dữ liệu truyền tải.</a:t>
            </a:r>
            <a:br>
              <a:rPr lang="vi-VN" dirty="0"/>
            </a:br>
            <a:r>
              <a:rPr lang="vi-VN" dirty="0"/>
              <a:t>Để bảo vệ hệ thống, kỹ sư IoT cần:</a:t>
            </a:r>
          </a:p>
          <a:p>
            <a:pPr marL="158750" indent="0">
              <a:buFontTx/>
              <a:buNone/>
            </a:pPr>
            <a:r>
              <a:rPr lang="en-US" dirty="0"/>
              <a:t>- </a:t>
            </a:r>
            <a:r>
              <a:rPr lang="vi-VN" dirty="0"/>
              <a:t>Kết hợp </a:t>
            </a:r>
            <a:r>
              <a:rPr lang="vi-VN" b="1" dirty="0"/>
              <a:t>nhiều lớp bảo vệ (multi-layer security)</a:t>
            </a:r>
            <a:r>
              <a:rPr lang="vi-VN" dirty="0"/>
              <a:t>,</a:t>
            </a:r>
          </a:p>
          <a:p>
            <a:pPr marL="158750" indent="0">
              <a:buFontTx/>
              <a:buNone/>
            </a:pPr>
            <a:r>
              <a:rPr lang="en-US" dirty="0"/>
              <a:t>- </a:t>
            </a:r>
            <a:r>
              <a:rPr lang="vi-VN" dirty="0"/>
              <a:t>Cập nhật định kỳ,</a:t>
            </a:r>
          </a:p>
          <a:p>
            <a:pPr marL="158750" indent="0">
              <a:buFontTx/>
              <a:buNone/>
            </a:pPr>
            <a:r>
              <a:rPr lang="en-US" dirty="0"/>
              <a:t>- </a:t>
            </a:r>
            <a:r>
              <a:rPr lang="vi-VN" dirty="0"/>
              <a:t>Và thực hành </a:t>
            </a:r>
            <a:r>
              <a:rPr lang="vi-VN" b="1" dirty="0"/>
              <a:t>“Security by Design”</a:t>
            </a:r>
            <a:r>
              <a:rPr lang="vi-VN" dirty="0"/>
              <a:t> ngay từ giai đoạn phát triển.</a:t>
            </a:r>
          </a:p>
          <a:p>
            <a:pPr marL="158750" indent="0">
              <a:buFontTx/>
              <a:buNone/>
            </a:pPr>
            <a:endParaRPr lang="en-US" dirty="0"/>
          </a:p>
        </p:txBody>
      </p:sp>
    </p:spTree>
    <p:extLst>
      <p:ext uri="{BB962C8B-B14F-4D97-AF65-F5344CB8AC3E}">
        <p14:creationId xmlns:p14="http://schemas.microsoft.com/office/powerpoint/2010/main" val="28543808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Quyền riêng tư trong IoT là gì?</a:t>
            </a:r>
          </a:p>
          <a:p>
            <a:pPr marL="158750" indent="0">
              <a:buFontTx/>
              <a:buNone/>
            </a:pPr>
            <a:r>
              <a:rPr lang="vi-VN" dirty="0"/>
              <a:t>Trong hệ sinh thái </a:t>
            </a:r>
            <a:r>
              <a:rPr lang="vi-VN" b="1" dirty="0"/>
              <a:t>Internet of Things (IoT)</a:t>
            </a:r>
            <a:r>
              <a:rPr lang="vi-VN" dirty="0"/>
              <a:t>, hàng tỷ thiết bị (cảm biến, camera, đồng hồ thông minh, thiết bị y tế, xe thông minh, v.v.) </a:t>
            </a:r>
            <a:r>
              <a:rPr lang="vi-VN" b="1" dirty="0"/>
              <a:t>liên tục thu thập và truyền dữ liệu cá nhân</a:t>
            </a:r>
            <a:r>
              <a:rPr lang="vi-VN" dirty="0"/>
              <a:t> của người dùng.</a:t>
            </a:r>
            <a:br>
              <a:rPr lang="vi-VN" dirty="0"/>
            </a:br>
            <a:r>
              <a:rPr lang="vi-VN" dirty="0"/>
              <a:t>Những dữ liệu này phản ánh </a:t>
            </a:r>
            <a:r>
              <a:rPr lang="vi-VN" b="1" dirty="0"/>
              <a:t>rất rõ ràng cuộc sống, hành vi, thói quen và tình trạng sức khỏe</a:t>
            </a:r>
            <a:r>
              <a:rPr lang="vi-VN" dirty="0"/>
              <a:t> của con người.</a:t>
            </a:r>
          </a:p>
          <a:p>
            <a:pPr marL="158750" indent="0">
              <a:buFontTx/>
              <a:buNone/>
            </a:pPr>
            <a:r>
              <a:rPr lang="vi-VN" dirty="0"/>
              <a:t>Vì vậy, </a:t>
            </a:r>
            <a:r>
              <a:rPr lang="vi-VN" b="1" dirty="0"/>
              <a:t>bảo vệ quyền riêng tư</a:t>
            </a:r>
            <a:r>
              <a:rPr lang="vi-VN" dirty="0"/>
              <a:t> (privacy protection) là một trong những vấn đề trọng tâm trong phát triển và vận hành hệ thống IoT hiện nay.</a:t>
            </a:r>
          </a:p>
          <a:p>
            <a:pPr marL="158750" indent="0">
              <a:buFontTx/>
              <a:buNone/>
            </a:pPr>
            <a:endParaRPr lang="en-US" b="1" dirty="0"/>
          </a:p>
          <a:p>
            <a:pPr marL="158750" indent="0">
              <a:buFontTx/>
              <a:buNone/>
            </a:pPr>
            <a:r>
              <a:rPr lang="en-US" b="1" dirty="0"/>
              <a:t>2. </a:t>
            </a:r>
            <a:r>
              <a:rPr lang="vi-VN" b="1" dirty="0"/>
              <a:t>Các loại dữ liệu cá nhân mà thiết bị IoT thường thu thập</a:t>
            </a:r>
          </a:p>
          <a:p>
            <a:pPr marL="158750" indent="0">
              <a:buFontTx/>
              <a:buNone/>
            </a:pPr>
            <a:r>
              <a:rPr lang="en-US" b="1" dirty="0"/>
              <a:t>a. </a:t>
            </a:r>
            <a:r>
              <a:rPr lang="vi-VN" b="1" dirty="0"/>
              <a:t>Vị trí địa lý (Geolocation data)</a:t>
            </a:r>
          </a:p>
          <a:p>
            <a:pPr marL="158750" indent="0">
              <a:buFontTx/>
              <a:buNone/>
            </a:pPr>
            <a:r>
              <a:rPr lang="vi-VN" dirty="0"/>
              <a:t>Các thiết bị có GPS hoặc kết nối mạng như </a:t>
            </a:r>
            <a:r>
              <a:rPr lang="vi-VN" b="1" dirty="0"/>
              <a:t>điện thoại, thiết bị đeo tay, xe hơi, drone</a:t>
            </a:r>
            <a:r>
              <a:rPr lang="vi-VN" dirty="0"/>
              <a:t>... đều theo dõi vị trí thời gian thực của người dùng.</a:t>
            </a:r>
          </a:p>
          <a:p>
            <a:pPr marL="158750" indent="0">
              <a:buFontTx/>
              <a:buNone/>
            </a:pPr>
            <a:r>
              <a:rPr lang="vi-VN" dirty="0"/>
              <a:t>Dữ liệu này có thể tiết lộ:</a:t>
            </a:r>
          </a:p>
          <a:p>
            <a:pPr marL="457200" lvl="1" indent="0">
              <a:buFontTx/>
              <a:buNone/>
            </a:pPr>
            <a:r>
              <a:rPr lang="vi-VN" dirty="0"/>
              <a:t>Lộ trình di chuyển hàng ngày,</a:t>
            </a:r>
          </a:p>
          <a:p>
            <a:pPr marL="457200" lvl="1" indent="0">
              <a:buFontTx/>
              <a:buNone/>
            </a:pPr>
            <a:r>
              <a:rPr lang="vi-VN" dirty="0"/>
              <a:t>Nơi ở, nơi làm việc,</a:t>
            </a:r>
          </a:p>
          <a:p>
            <a:pPr marL="457200" lvl="1" indent="0">
              <a:buFontTx/>
              <a:buNone/>
            </a:pPr>
            <a:r>
              <a:rPr lang="vi-VN" dirty="0"/>
              <a:t>Thói quen sinh hoạt (ví dụ: giờ đi làm, địa điểm thường lui tới).</a:t>
            </a:r>
          </a:p>
          <a:p>
            <a:pPr marL="158750" indent="0">
              <a:buFontTx/>
              <a:buNone/>
            </a:pPr>
            <a:r>
              <a:rPr lang="en-US" b="1" dirty="0"/>
              <a:t>b. </a:t>
            </a:r>
            <a:r>
              <a:rPr lang="vi-VN" b="1" dirty="0"/>
              <a:t>Hành vi sinh hoạt</a:t>
            </a:r>
          </a:p>
          <a:p>
            <a:pPr marL="158750" indent="0">
              <a:buFontTx/>
              <a:buNone/>
            </a:pPr>
            <a:r>
              <a:rPr lang="vi-VN" dirty="0"/>
              <a:t>Các thiết bị </a:t>
            </a:r>
            <a:r>
              <a:rPr lang="vi-VN" b="1" dirty="0"/>
              <a:t>gia đình thông minh (smart home)</a:t>
            </a:r>
            <a:r>
              <a:rPr lang="vi-VN" dirty="0"/>
              <a:t> như camera, loa thông minh, cảm biến chuyển động, hoặc điều hòa kết nối mạng có thể ghi lại:</a:t>
            </a:r>
          </a:p>
          <a:p>
            <a:pPr marL="457200" lvl="1" indent="0">
              <a:buFontTx/>
              <a:buNone/>
            </a:pPr>
            <a:r>
              <a:rPr lang="vi-VN" dirty="0"/>
              <a:t>Thời gian người dùng ở nhà,</a:t>
            </a:r>
          </a:p>
          <a:p>
            <a:pPr marL="457200" lvl="1" indent="0">
              <a:buFontTx/>
              <a:buNone/>
            </a:pPr>
            <a:r>
              <a:rPr lang="vi-VN" dirty="0"/>
              <a:t>Mức độ sử dụng điện, ánh sáng, nhiệt độ,</a:t>
            </a:r>
          </a:p>
          <a:p>
            <a:pPr marL="457200" lvl="1" indent="0">
              <a:buFontTx/>
              <a:buNone/>
            </a:pPr>
            <a:r>
              <a:rPr lang="vi-VN" dirty="0"/>
              <a:t>Thậm chí </a:t>
            </a:r>
            <a:r>
              <a:rPr lang="vi-VN" b="1" dirty="0"/>
              <a:t>âm thanh, hình ảnh, hoặc giọng nói</a:t>
            </a:r>
            <a:r>
              <a:rPr lang="vi-VN" dirty="0"/>
              <a:t> trong nhà.</a:t>
            </a:r>
          </a:p>
          <a:p>
            <a:pPr marL="158750" indent="0">
              <a:buFontTx/>
              <a:buNone/>
            </a:pPr>
            <a:r>
              <a:rPr lang="vi-VN" dirty="0"/>
              <a:t>Dữ liệu này, nếu bị khai thác, có thể </a:t>
            </a:r>
            <a:r>
              <a:rPr lang="vi-VN" b="1" dirty="0"/>
              <a:t>xâm phạm sâu sắc vào đời sống riêng tư</a:t>
            </a:r>
            <a:r>
              <a:rPr lang="vi-VN" dirty="0"/>
              <a:t>.</a:t>
            </a:r>
          </a:p>
          <a:p>
            <a:pPr marL="158750" indent="0">
              <a:buFontTx/>
              <a:buNone/>
            </a:pPr>
            <a:r>
              <a:rPr lang="en-US" b="1" dirty="0"/>
              <a:t>c.</a:t>
            </a:r>
            <a:r>
              <a:rPr lang="vi-VN" b="1" dirty="0"/>
              <a:t> Sức khỏe và sinh lý</a:t>
            </a:r>
          </a:p>
          <a:p>
            <a:pPr marL="158750" indent="0">
              <a:buFontTx/>
              <a:buNone/>
            </a:pPr>
            <a:r>
              <a:rPr lang="vi-VN" dirty="0"/>
              <a:t>Các thiết bị y tế IoT như </a:t>
            </a:r>
            <a:r>
              <a:rPr lang="vi-VN" b="1" dirty="0"/>
              <a:t>đồng hồ đo nhịp tim, cảm biến huyết áp, máy theo dõi giấc ngủ</a:t>
            </a:r>
            <a:r>
              <a:rPr lang="vi-VN" dirty="0"/>
              <a:t>... thu thập dữ liệu sinh học chi tiết: nhịp tim, huyết áp, thời lượng ngủ, stress, v.v.</a:t>
            </a:r>
          </a:p>
          <a:p>
            <a:pPr marL="158750" indent="0">
              <a:buFontTx/>
              <a:buNone/>
            </a:pPr>
            <a:r>
              <a:rPr lang="vi-VN" dirty="0"/>
              <a:t>Đây là </a:t>
            </a:r>
            <a:r>
              <a:rPr lang="vi-VN" b="1" dirty="0"/>
              <a:t>loại dữ liệu nhạy cảm nhất</a:t>
            </a:r>
            <a:r>
              <a:rPr lang="vi-VN" dirty="0"/>
              <a:t>, vì có thể bị dùng để </a:t>
            </a:r>
            <a:r>
              <a:rPr lang="vi-VN" b="1" dirty="0"/>
              <a:t>phân biệt đối xử trong bảo hiểm, tuyển dụng, hoặc marketing y tế.</a:t>
            </a:r>
            <a:endParaRPr lang="vi-VN" dirty="0"/>
          </a:p>
          <a:p>
            <a:pPr marL="158750" indent="0">
              <a:buFontTx/>
              <a:buNone/>
            </a:pPr>
            <a:endParaRPr lang="en-US" b="1" dirty="0"/>
          </a:p>
          <a:p>
            <a:pPr marL="158750" indent="0">
              <a:buFontTx/>
              <a:buNone/>
            </a:pPr>
            <a:r>
              <a:rPr lang="vi-VN" b="1" dirty="0"/>
              <a:t>3. Rủi ro khi dữ liệu cá nhân bị rò rỉ hoặc sử dụng sai mục đích</a:t>
            </a:r>
          </a:p>
          <a:p>
            <a:pPr marL="158750" indent="0">
              <a:buFontTx/>
              <a:buNone/>
            </a:pPr>
            <a:r>
              <a:rPr lang="en-US" b="1" dirty="0"/>
              <a:t>a. </a:t>
            </a:r>
            <a:r>
              <a:rPr lang="vi-VN" b="1" dirty="0"/>
              <a:t>Xâm phạm đời tư người dùng</a:t>
            </a:r>
          </a:p>
          <a:p>
            <a:pPr marL="158750" indent="0">
              <a:buFontTx/>
              <a:buNone/>
            </a:pPr>
            <a:r>
              <a:rPr lang="vi-VN" dirty="0"/>
              <a:t>Hacker hoặc bên thứ ba có thể truy cập vào hình ảnh, vị trí hoặc thói quen của người dùng mà không có sự cho phép.</a:t>
            </a:r>
          </a:p>
          <a:p>
            <a:pPr marL="158750" indent="0">
              <a:buFontTx/>
              <a:buNone/>
            </a:pPr>
            <a:r>
              <a:rPr lang="vi-VN" dirty="0"/>
              <a:t>Ví dụ: rò rỉ hình ảnh từ camera IP, ghi âm từ loa thông minh.</a:t>
            </a:r>
          </a:p>
          <a:p>
            <a:pPr marL="158750" indent="0">
              <a:buFontTx/>
              <a:buNone/>
            </a:pPr>
            <a:r>
              <a:rPr lang="en-US" b="1" dirty="0"/>
              <a:t>b. </a:t>
            </a:r>
            <a:r>
              <a:rPr lang="vi-VN" b="1" dirty="0"/>
              <a:t>Lừa đảo, tống tiền, hoặc phân biệt đối xử</a:t>
            </a:r>
          </a:p>
          <a:p>
            <a:pPr marL="158750" indent="0">
              <a:buFontTx/>
              <a:buNone/>
            </a:pPr>
            <a:r>
              <a:rPr lang="vi-VN" dirty="0"/>
              <a:t>Dữ liệu vị trí hoặc hành vi có thể bị </a:t>
            </a:r>
            <a:r>
              <a:rPr lang="vi-VN" b="1" dirty="0"/>
              <a:t>dùng cho mục đích xấu</a:t>
            </a:r>
            <a:r>
              <a:rPr lang="vi-VN" dirty="0"/>
              <a:t>, như:</a:t>
            </a:r>
          </a:p>
          <a:p>
            <a:pPr marL="457200" lvl="1" indent="0">
              <a:buFontTx/>
              <a:buNone/>
            </a:pPr>
            <a:r>
              <a:rPr lang="vi-VN" dirty="0"/>
              <a:t>Theo dõi, tống tiền người dùng,</a:t>
            </a:r>
          </a:p>
          <a:p>
            <a:pPr marL="457200" lvl="1" indent="0">
              <a:buFontTx/>
              <a:buNone/>
            </a:pPr>
            <a:r>
              <a:rPr lang="vi-VN" dirty="0"/>
              <a:t>Lợi dụng thông tin sức khỏe để </a:t>
            </a:r>
            <a:r>
              <a:rPr lang="vi-VN" b="1" dirty="0"/>
              <a:t>bán thuốc hoặc dịch vụ không cần thiết</a:t>
            </a:r>
            <a:r>
              <a:rPr lang="vi-VN" dirty="0"/>
              <a:t>,</a:t>
            </a:r>
          </a:p>
          <a:p>
            <a:pPr marL="457200" lvl="1" indent="0">
              <a:buFontTx/>
              <a:buNone/>
            </a:pPr>
            <a:r>
              <a:rPr lang="vi-VN" dirty="0"/>
              <a:t>Phân biệt đối xử trong tuyển dụng hoặc bảo hiểm.</a:t>
            </a:r>
          </a:p>
          <a:p>
            <a:pPr marL="158750" indent="0">
              <a:buFontTx/>
              <a:buNone/>
            </a:pPr>
            <a:r>
              <a:rPr lang="en-US" b="1" dirty="0"/>
              <a:t>c.</a:t>
            </a:r>
            <a:r>
              <a:rPr lang="vi-VN" b="1" dirty="0"/>
              <a:t> Thiệt hại danh tiếng và pháp lý cho doanh nghiệp IoT</a:t>
            </a:r>
          </a:p>
          <a:p>
            <a:pPr marL="158750" indent="0">
              <a:buFontTx/>
              <a:buNone/>
            </a:pPr>
            <a:r>
              <a:rPr lang="vi-VN" dirty="0"/>
              <a:t>Khi rò rỉ dữ liệu người dùng, doanh nghiệp có thể bị:</a:t>
            </a:r>
          </a:p>
          <a:p>
            <a:pPr marL="457200" lvl="1" indent="0">
              <a:buFontTx/>
              <a:buNone/>
            </a:pPr>
            <a:r>
              <a:rPr lang="vi-VN" b="1" dirty="0"/>
              <a:t>Mất niềm tin khách hàng</a:t>
            </a:r>
            <a:r>
              <a:rPr lang="vi-VN" dirty="0"/>
              <a:t>, ảnh hưởng nghiêm trọng đến thương hiệu,</a:t>
            </a:r>
          </a:p>
          <a:p>
            <a:pPr marL="457200" lvl="1" indent="0">
              <a:buFontTx/>
              <a:buNone/>
            </a:pPr>
            <a:r>
              <a:rPr lang="vi-VN" b="1" dirty="0"/>
              <a:t>Xử phạt theo quy định pháp lý</a:t>
            </a:r>
            <a:r>
              <a:rPr lang="vi-VN" dirty="0"/>
              <a:t>, ví dụ:</a:t>
            </a:r>
          </a:p>
          <a:p>
            <a:pPr marL="914400" lvl="2" indent="0">
              <a:buFontTx/>
              <a:buNone/>
            </a:pPr>
            <a:r>
              <a:rPr lang="vi-VN" b="1" dirty="0"/>
              <a:t>GDPR (Châu Âu):</a:t>
            </a:r>
            <a:r>
              <a:rPr lang="vi-VN" dirty="0"/>
              <a:t> phạt tới 4% doanh thu toàn cầu,</a:t>
            </a:r>
          </a:p>
          <a:p>
            <a:pPr marL="914400" lvl="2" indent="0">
              <a:buFontTx/>
              <a:buNone/>
            </a:pPr>
            <a:r>
              <a:rPr lang="vi-VN" b="1" dirty="0"/>
              <a:t>Nghị định 13/2023/NĐ-CP (Việt Nam):</a:t>
            </a:r>
            <a:r>
              <a:rPr lang="vi-VN" dirty="0"/>
              <a:t> yêu cầu doanh nghiệp thông báo và bảo vệ dữ liệu cá nhân người dùng.</a:t>
            </a:r>
          </a:p>
          <a:p>
            <a:pPr marL="158750" indent="0">
              <a:buFontTx/>
              <a:buNone/>
            </a:pPr>
            <a:endParaRPr lang="en-US" b="1" dirty="0"/>
          </a:p>
          <a:p>
            <a:pPr marL="158750" indent="0">
              <a:buFontTx/>
              <a:buNone/>
            </a:pPr>
            <a:r>
              <a:rPr lang="en-US" b="1" dirty="0"/>
              <a:t>4. </a:t>
            </a:r>
            <a:r>
              <a:rPr lang="vi-VN" b="1" dirty="0"/>
              <a:t>Kết luận</a:t>
            </a:r>
          </a:p>
          <a:p>
            <a:pPr marL="158750" indent="0">
              <a:buFontTx/>
              <a:buNone/>
            </a:pPr>
            <a:r>
              <a:rPr lang="vi-VN" dirty="0"/>
              <a:t>Quyền riêng tư là </a:t>
            </a:r>
            <a:r>
              <a:rPr lang="vi-VN" b="1" dirty="0"/>
              <a:t>nền tảng của niềm tin trong IoT</a:t>
            </a:r>
            <a:r>
              <a:rPr lang="vi-VN" dirty="0"/>
              <a:t>.</a:t>
            </a:r>
            <a:br>
              <a:rPr lang="vi-VN" dirty="0"/>
            </a:br>
            <a:r>
              <a:rPr lang="vi-VN" dirty="0"/>
              <a:t>Nếu người dùng không tin rằng dữ liệu của họ được bảo vệ, họ sẽ </a:t>
            </a:r>
            <a:r>
              <a:rPr lang="vi-VN" b="1" dirty="0"/>
              <a:t>ngần ngại sử dụng thiết bị IoT</a:t>
            </a:r>
            <a:r>
              <a:rPr lang="vi-VN" dirty="0"/>
              <a:t>.</a:t>
            </a:r>
          </a:p>
          <a:p>
            <a:pPr marL="158750" indent="0">
              <a:buFontTx/>
              <a:buNone/>
            </a:pPr>
            <a:r>
              <a:rPr lang="vi-VN" dirty="0"/>
              <a:t>Do đó, kỹ sư và nhà phát triển IoT cần:</a:t>
            </a:r>
          </a:p>
          <a:p>
            <a:pPr marL="158750" indent="0">
              <a:buFontTx/>
              <a:buNone/>
            </a:pPr>
            <a:r>
              <a:rPr lang="vi-VN" b="1" dirty="0"/>
              <a:t>Thiết kế hệ thống “Privacy by Design”</a:t>
            </a:r>
            <a:r>
              <a:rPr lang="vi-VN" dirty="0"/>
              <a:t>,</a:t>
            </a:r>
          </a:p>
          <a:p>
            <a:pPr marL="158750" indent="0">
              <a:buFontTx/>
              <a:buNone/>
            </a:pPr>
            <a:r>
              <a:rPr lang="vi-VN" b="1" dirty="0"/>
              <a:t>Giới hạn việc thu thập dữ liệu</a:t>
            </a:r>
            <a:r>
              <a:rPr lang="vi-VN" dirty="0"/>
              <a:t>,</a:t>
            </a:r>
          </a:p>
          <a:p>
            <a:pPr marL="158750" indent="0">
              <a:buFontTx/>
              <a:buNone/>
            </a:pPr>
            <a:r>
              <a:rPr lang="vi-VN" b="1" dirty="0"/>
              <a:t>Minh bạch về mục đích sử dụng</a:t>
            </a:r>
            <a:r>
              <a:rPr lang="vi-VN" dirty="0"/>
              <a:t>,</a:t>
            </a:r>
          </a:p>
          <a:p>
            <a:pPr marL="158750" indent="0">
              <a:buFontTx/>
              <a:buNone/>
            </a:pPr>
            <a:r>
              <a:rPr lang="vi-VN" dirty="0"/>
              <a:t>Và </a:t>
            </a:r>
            <a:r>
              <a:rPr lang="vi-VN" b="1" dirty="0"/>
              <a:t>tuân thủ pháp luật về bảo vệ dữ liệu cá nhân.</a:t>
            </a:r>
            <a:endParaRPr lang="vi-VN" dirty="0"/>
          </a:p>
          <a:p>
            <a:pPr marL="158750" indent="0">
              <a:buFontTx/>
              <a:buNone/>
            </a:pPr>
            <a:endParaRPr lang="en-US" dirty="0"/>
          </a:p>
        </p:txBody>
      </p:sp>
    </p:spTree>
    <p:extLst>
      <p:ext uri="{BB962C8B-B14F-4D97-AF65-F5344CB8AC3E}">
        <p14:creationId xmlns:p14="http://schemas.microsoft.com/office/powerpoint/2010/main" val="42393217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Giới thiệu về GDPR</a:t>
            </a:r>
          </a:p>
          <a:p>
            <a:pPr marL="158750" indent="0">
              <a:buFontTx/>
              <a:buNone/>
            </a:pPr>
            <a:r>
              <a:rPr lang="vi-VN" b="1" dirty="0"/>
              <a:t>GDPR (General Data Protection Regulation)</a:t>
            </a:r>
            <a:r>
              <a:rPr lang="vi-VN" dirty="0"/>
              <a:t> là </a:t>
            </a:r>
            <a:r>
              <a:rPr lang="vi-VN" b="1" dirty="0"/>
              <a:t>quy định bảo vệ dữ liệu cá nhân của Liên minh Châu Âu (EU)</a:t>
            </a:r>
            <a:r>
              <a:rPr lang="vi-VN" dirty="0"/>
              <a:t>, có hiệu lực từ </a:t>
            </a:r>
            <a:r>
              <a:rPr lang="vi-VN" b="1" dirty="0"/>
              <a:t>ngày 25/5/2018</a:t>
            </a:r>
            <a:r>
              <a:rPr lang="vi-VN" dirty="0"/>
              <a:t>.</a:t>
            </a:r>
            <a:br>
              <a:rPr lang="vi-VN" dirty="0"/>
            </a:br>
            <a:r>
              <a:rPr lang="vi-VN" dirty="0"/>
              <a:t>Đây là </a:t>
            </a:r>
            <a:r>
              <a:rPr lang="vi-VN" b="1" dirty="0"/>
              <a:t>bộ luật toàn diện nhất thế giới</a:t>
            </a:r>
            <a:r>
              <a:rPr lang="vi-VN" dirty="0"/>
              <a:t> về </a:t>
            </a:r>
            <a:r>
              <a:rPr lang="vi-VN" b="1" dirty="0"/>
              <a:t>quyền riêng tư và bảo vệ dữ liệu cá nhân</a:t>
            </a:r>
            <a:r>
              <a:rPr lang="vi-VN" dirty="0"/>
              <a:t>, ảnh hưởng đến mọi tổ chức, doanh nghiệp </a:t>
            </a:r>
            <a:r>
              <a:rPr lang="vi-VN" b="1" dirty="0"/>
              <a:t>xử lý dữ liệu công dân EU</a:t>
            </a:r>
            <a:r>
              <a:rPr lang="vi-VN" dirty="0"/>
              <a:t>, dù công ty đó đặt ở châu Âu hay ở quốc gia khác.</a:t>
            </a:r>
          </a:p>
          <a:p>
            <a:pPr marL="158750" indent="0">
              <a:buFontTx/>
              <a:buNone/>
            </a:pPr>
            <a:r>
              <a:rPr lang="vi-VN" dirty="0"/>
              <a:t>Trong lĩnh vực </a:t>
            </a:r>
            <a:r>
              <a:rPr lang="vi-VN" b="1" dirty="0"/>
              <a:t>IoT</a:t>
            </a:r>
            <a:r>
              <a:rPr lang="vi-VN" dirty="0"/>
              <a:t>, nơi các thiết bị liên tục thu thập, xử lý và chia sẻ dữ liệu người dùng, </a:t>
            </a:r>
            <a:r>
              <a:rPr lang="vi-VN" b="1" dirty="0"/>
              <a:t>GDPR đóng vai trò nền tảng pháp lý quan trọng</a:t>
            </a:r>
            <a:r>
              <a:rPr lang="vi-VN" dirty="0"/>
              <a:t> để đảm bảo rằng việc xử lý dữ liệu được thực hiện </a:t>
            </a:r>
            <a:r>
              <a:rPr lang="vi-VN" b="1" dirty="0"/>
              <a:t>minh bạch, có sự đồng ý và an toàn.</a:t>
            </a:r>
            <a:endParaRPr lang="vi-VN" dirty="0"/>
          </a:p>
          <a:p>
            <a:pPr marL="158750" indent="0">
              <a:buFontTx/>
              <a:buNone/>
            </a:pPr>
            <a:endParaRPr lang="en-US" b="1" dirty="0"/>
          </a:p>
          <a:p>
            <a:pPr marL="158750" indent="0">
              <a:buFontTx/>
              <a:buNone/>
            </a:pPr>
            <a:r>
              <a:rPr lang="en-US" b="1" dirty="0"/>
              <a:t>2. </a:t>
            </a:r>
            <a:r>
              <a:rPr lang="vi-VN" b="1" dirty="0"/>
              <a:t>Mục tiêu của GDPR trong bối cảnh IoT</a:t>
            </a:r>
          </a:p>
          <a:p>
            <a:pPr marL="158750" indent="0">
              <a:buFontTx/>
              <a:buNone/>
            </a:pPr>
            <a:r>
              <a:rPr lang="vi-VN" dirty="0"/>
              <a:t>Bảo vệ </a:t>
            </a:r>
            <a:r>
              <a:rPr lang="vi-VN" b="1" dirty="0"/>
              <a:t>quyền riêng tư và quyền kiểm soát dữ liệu cá nhân</a:t>
            </a:r>
            <a:r>
              <a:rPr lang="vi-VN" dirty="0"/>
              <a:t> của người dùng IoT.</a:t>
            </a:r>
          </a:p>
          <a:p>
            <a:pPr marL="158750" indent="0">
              <a:buFontTx/>
              <a:buNone/>
            </a:pPr>
            <a:r>
              <a:rPr lang="vi-VN" dirty="0"/>
              <a:t>Ép buộc các tổ chức IoT phải </a:t>
            </a:r>
            <a:r>
              <a:rPr lang="vi-VN" b="1" dirty="0"/>
              <a:t>thiết kế hệ thống theo hướng “Privacy by Design”</a:t>
            </a:r>
            <a:r>
              <a:rPr lang="vi-VN" dirty="0"/>
              <a:t> – tức là tích hợp cơ chế bảo mật và riêng tư ngay từ giai đoạn thiết kế sản phẩm, thay vì vá lỗi sau này.</a:t>
            </a:r>
          </a:p>
          <a:p>
            <a:pPr marL="158750" indent="0">
              <a:buFontTx/>
              <a:buNone/>
            </a:pPr>
            <a:r>
              <a:rPr lang="vi-VN" dirty="0"/>
              <a:t>Giảm rủi ro </a:t>
            </a:r>
            <a:r>
              <a:rPr lang="vi-VN" b="1" dirty="0"/>
              <a:t>rò rỉ, khai thác trái phép, hoặc mua bán dữ liệu cá nhân</a:t>
            </a:r>
            <a:r>
              <a:rPr lang="vi-VN" dirty="0"/>
              <a:t> giữa các bên thứ ba.</a:t>
            </a:r>
          </a:p>
          <a:p>
            <a:pPr marL="158750" indent="0">
              <a:buFontTx/>
              <a:buNone/>
            </a:pPr>
            <a:endParaRPr lang="en-US" b="1" dirty="0"/>
          </a:p>
          <a:p>
            <a:pPr marL="158750" indent="0">
              <a:buFontTx/>
              <a:buNone/>
            </a:pPr>
            <a:r>
              <a:rPr lang="en-US" b="1" dirty="0"/>
              <a:t>3. </a:t>
            </a:r>
            <a:r>
              <a:rPr lang="vi-VN" b="1" dirty="0"/>
              <a:t>Các yêu cầu chính đối với tổ chức IoT theo GDPR</a:t>
            </a:r>
          </a:p>
          <a:p>
            <a:pPr marL="158750" indent="0">
              <a:buFontTx/>
              <a:buNone/>
            </a:pPr>
            <a:r>
              <a:rPr lang="en-US" b="1" dirty="0"/>
              <a:t>(</a:t>
            </a:r>
            <a:r>
              <a:rPr lang="vi-VN" b="1" dirty="0"/>
              <a:t>a) Xin sự đồng ý rõ ràng (Explicit Consent)</a:t>
            </a:r>
          </a:p>
          <a:p>
            <a:pPr marL="158750" indent="0">
              <a:buFontTx/>
              <a:buNone/>
            </a:pPr>
            <a:r>
              <a:rPr lang="vi-VN" dirty="0"/>
              <a:t>Trước khi thu thập dữ liệu cá nhân (ví dụ: vị trí, giọng nói, dữ liệu sức khỏe), hệ thống phải </a:t>
            </a:r>
            <a:r>
              <a:rPr lang="vi-VN" b="1" dirty="0"/>
              <a:t>hiển thị thông báo rõ ràng và dễ hiểu</a:t>
            </a:r>
            <a:r>
              <a:rPr lang="vi-VN" dirty="0"/>
              <a:t>, yêu cầu người dùng </a:t>
            </a:r>
            <a:r>
              <a:rPr lang="vi-VN" b="1" dirty="0"/>
              <a:t>đồng ý một cách tự nguyện</a:t>
            </a:r>
            <a:r>
              <a:rPr lang="vi-VN" dirty="0"/>
              <a:t>.</a:t>
            </a:r>
          </a:p>
          <a:p>
            <a:pPr marL="158750" indent="0">
              <a:buFontTx/>
              <a:buNone/>
            </a:pPr>
            <a:r>
              <a:rPr lang="vi-VN" dirty="0"/>
              <a:t>Không được dùng “mặc định đồng ý” hoặc “ẩn điều khoản trong hợp đồng”.</a:t>
            </a:r>
          </a:p>
          <a:p>
            <a:pPr marL="158750" indent="0">
              <a:buFontTx/>
              <a:buNone/>
            </a:pPr>
            <a:r>
              <a:rPr lang="vi-VN" dirty="0"/>
              <a:t>Người dùng có quyền </a:t>
            </a:r>
            <a:r>
              <a:rPr lang="vi-VN" b="1" dirty="0"/>
              <a:t>rút lại sự đồng ý bất cứ lúc nào</a:t>
            </a:r>
            <a:r>
              <a:rPr lang="vi-VN" dirty="0"/>
              <a:t>.</a:t>
            </a:r>
          </a:p>
          <a:p>
            <a:pPr marL="158750" indent="0">
              <a:buFontTx/>
              <a:buNone/>
            </a:pPr>
            <a:r>
              <a:rPr lang="vi-VN" i="1" dirty="0"/>
              <a:t>Ví dụ:</a:t>
            </a:r>
            <a:r>
              <a:rPr lang="vi-VN" dirty="0"/>
              <a:t> Ứng dụng theo dõi sức khỏe trên smartwatch phải hiển thị tùy chọn “Tôi đồng ý chia sẻ dữ liệu nhịp tim của mình để phân tích sức khỏe” — thay vì thu thập ngầm.</a:t>
            </a:r>
          </a:p>
          <a:p>
            <a:pPr marL="158750" indent="0">
              <a:buFontTx/>
              <a:buNone/>
            </a:pPr>
            <a:endParaRPr lang="en-US" b="1" dirty="0"/>
          </a:p>
          <a:p>
            <a:pPr marL="158750" indent="0">
              <a:buFontTx/>
              <a:buNone/>
            </a:pPr>
            <a:r>
              <a:rPr lang="en-US" b="1" dirty="0"/>
              <a:t>(</a:t>
            </a:r>
            <a:r>
              <a:rPr lang="vi-VN" b="1" dirty="0"/>
              <a:t>b) Quyền của người dùng (Data Subject Rights)</a:t>
            </a:r>
          </a:p>
          <a:p>
            <a:pPr marL="158750" indent="0">
              <a:buFontTx/>
              <a:buNone/>
            </a:pPr>
            <a:r>
              <a:rPr lang="vi-VN" dirty="0"/>
              <a:t>Người dùng có </a:t>
            </a:r>
            <a:r>
              <a:rPr lang="vi-VN" b="1" dirty="0"/>
              <a:t>toàn quyền kiểm soát dữ liệu cá nhân của họ</a:t>
            </a:r>
            <a:r>
              <a:rPr lang="vi-VN" dirty="0"/>
              <a:t>, bao gồm quyền:</a:t>
            </a:r>
          </a:p>
          <a:p>
            <a:pPr marL="158750" indent="0">
              <a:buFontTx/>
              <a:buNone/>
            </a:pPr>
            <a:r>
              <a:rPr lang="vi-VN" b="1" dirty="0"/>
              <a:t>Truy cập (Access):</a:t>
            </a:r>
            <a:r>
              <a:rPr lang="vi-VN" dirty="0"/>
              <a:t> xem dữ liệu mà hệ thống đang lưu.</a:t>
            </a:r>
          </a:p>
          <a:p>
            <a:pPr marL="158750" indent="0">
              <a:buFontTx/>
              <a:buNone/>
            </a:pPr>
            <a:r>
              <a:rPr lang="vi-VN" b="1" dirty="0"/>
              <a:t>Chỉnh sửa (Rectify):</a:t>
            </a:r>
            <a:r>
              <a:rPr lang="vi-VN" dirty="0"/>
              <a:t> cập nhật thông tin sai.</a:t>
            </a:r>
          </a:p>
          <a:p>
            <a:pPr marL="158750" indent="0">
              <a:buFontTx/>
              <a:buNone/>
            </a:pPr>
            <a:r>
              <a:rPr lang="vi-VN" b="1" dirty="0"/>
              <a:t>Xóa (Erase / Right to be Forgotten):</a:t>
            </a:r>
            <a:r>
              <a:rPr lang="vi-VN" dirty="0"/>
              <a:t> yêu cầu xóa hoàn toàn dữ liệu khi không còn cần thiết.</a:t>
            </a:r>
          </a:p>
          <a:p>
            <a:pPr marL="158750" indent="0">
              <a:buFontTx/>
              <a:buNone/>
            </a:pPr>
            <a:r>
              <a:rPr lang="vi-VN" b="1" dirty="0"/>
              <a:t>Hạn chế xử lý (Restrict Processing):</a:t>
            </a:r>
            <a:r>
              <a:rPr lang="vi-VN" dirty="0"/>
              <a:t> tạm dừng việc xử lý dữ liệu.</a:t>
            </a:r>
          </a:p>
          <a:p>
            <a:pPr marL="158750" indent="0">
              <a:buFontTx/>
              <a:buNone/>
            </a:pPr>
            <a:r>
              <a:rPr lang="vi-VN" b="1" dirty="0"/>
              <a:t>Di chuyển dữ liệu (Data Portability):</a:t>
            </a:r>
            <a:r>
              <a:rPr lang="vi-VN" dirty="0"/>
              <a:t> xuất dữ liệu sang nền tảng khác.</a:t>
            </a:r>
          </a:p>
          <a:p>
            <a:pPr marL="158750" indent="0">
              <a:buFontTx/>
              <a:buNone/>
            </a:pPr>
            <a:r>
              <a:rPr lang="vi-VN" i="1" dirty="0"/>
              <a:t>Ví dụ:</a:t>
            </a:r>
            <a:r>
              <a:rPr lang="vi-VN" dirty="0"/>
              <a:t> Người dùng có thể yêu cầu xóa toàn bộ dữ liệu từ thiết bị IoT khi ngừng sử dụng dịch vụ.</a:t>
            </a:r>
          </a:p>
          <a:p>
            <a:pPr marL="158750" indent="0">
              <a:buFontTx/>
              <a:buNone/>
            </a:pPr>
            <a:endParaRPr lang="en-US" b="1" dirty="0"/>
          </a:p>
          <a:p>
            <a:pPr marL="158750" indent="0">
              <a:buFontTx/>
              <a:buNone/>
            </a:pPr>
            <a:r>
              <a:rPr lang="en-US" b="1" dirty="0"/>
              <a:t>(</a:t>
            </a:r>
            <a:r>
              <a:rPr lang="vi-VN" b="1" dirty="0"/>
              <a:t>c) Báo cáo sự cố rò rỉ dữ liệu (Data Breach Notification)</a:t>
            </a:r>
          </a:p>
          <a:p>
            <a:pPr marL="158750" indent="0">
              <a:buFontTx/>
              <a:buNone/>
            </a:pPr>
            <a:r>
              <a:rPr lang="vi-VN" dirty="0"/>
              <a:t>Khi xảy ra rò rỉ dữ liệu cá nhân, tổ chức phải </a:t>
            </a:r>
            <a:r>
              <a:rPr lang="vi-VN" b="1" dirty="0"/>
              <a:t>báo cáo cho cơ quan quản lý trong vòng 72 giờ</a:t>
            </a:r>
            <a:r>
              <a:rPr lang="vi-VN" dirty="0"/>
              <a:t> kể từ khi phát hiện.</a:t>
            </a:r>
          </a:p>
          <a:p>
            <a:pPr marL="158750" indent="0">
              <a:buFontTx/>
              <a:buNone/>
            </a:pPr>
            <a:r>
              <a:rPr lang="vi-VN" dirty="0"/>
              <a:t>Đồng thời, phải </a:t>
            </a:r>
            <a:r>
              <a:rPr lang="vi-VN" b="1" dirty="0"/>
              <a:t>thông báo cho người dùng bị ảnh hưởng</a:t>
            </a:r>
            <a:r>
              <a:rPr lang="vi-VN" dirty="0"/>
              <a:t>, trừ khi dữ liệu đã được mã hóa và an toàn.</a:t>
            </a:r>
          </a:p>
          <a:p>
            <a:pPr marL="158750" indent="0">
              <a:buFontTx/>
              <a:buNone/>
            </a:pPr>
            <a:r>
              <a:rPr lang="vi-VN" i="1" dirty="0"/>
              <a:t>Mục tiêu:</a:t>
            </a:r>
            <a:r>
              <a:rPr lang="vi-VN" dirty="0"/>
              <a:t> đảm bảo minh bạch, giúp người dùng kịp thời phản ứng (như thay đổi mật khẩu, tạm khóa tài khoản).</a:t>
            </a:r>
          </a:p>
          <a:p>
            <a:pPr marL="158750" indent="0">
              <a:buFontTx/>
              <a:buNone/>
            </a:pPr>
            <a:endParaRPr lang="en-US" b="1" dirty="0"/>
          </a:p>
          <a:p>
            <a:pPr marL="158750" indent="0">
              <a:buFontTx/>
              <a:buNone/>
            </a:pPr>
            <a:r>
              <a:rPr lang="en-US" b="1" dirty="0"/>
              <a:t>4. </a:t>
            </a:r>
            <a:r>
              <a:rPr lang="vi-VN" b="1" dirty="0"/>
              <a:t>Mức xử phạt cực kỳ nghiêm khắc</a:t>
            </a:r>
          </a:p>
          <a:p>
            <a:pPr marL="158750" indent="0">
              <a:buFontTx/>
              <a:buNone/>
            </a:pPr>
            <a:r>
              <a:rPr lang="vi-VN" dirty="0"/>
              <a:t>Vi phạm GDPR có thể bị phạt:</a:t>
            </a:r>
          </a:p>
          <a:p>
            <a:pPr marL="457200" lvl="1" indent="0">
              <a:buFontTx/>
              <a:buNone/>
            </a:pPr>
            <a:r>
              <a:rPr lang="vi-VN" b="1" dirty="0"/>
              <a:t>Lên tới 4% doanh thu toàn cầu</a:t>
            </a:r>
            <a:r>
              <a:rPr lang="vi-VN" dirty="0"/>
              <a:t> của doanh nghiệp, hoặc</a:t>
            </a:r>
          </a:p>
          <a:p>
            <a:pPr marL="457200" lvl="1" indent="0">
              <a:buFontTx/>
              <a:buNone/>
            </a:pPr>
            <a:r>
              <a:rPr lang="vi-VN" b="1" dirty="0"/>
              <a:t>20 triệu euro</a:t>
            </a:r>
            <a:r>
              <a:rPr lang="vi-VN" dirty="0"/>
              <a:t> — </a:t>
            </a:r>
            <a:r>
              <a:rPr lang="vi-VN" i="1" dirty="0"/>
              <a:t>tùy mức nào cao hơn</a:t>
            </a:r>
            <a:r>
              <a:rPr lang="vi-VN" dirty="0"/>
              <a:t>.</a:t>
            </a:r>
          </a:p>
          <a:p>
            <a:pPr marL="158750" indent="0">
              <a:buFontTx/>
              <a:buNone/>
            </a:pPr>
            <a:r>
              <a:rPr lang="vi-VN" dirty="0"/>
              <a:t>Ngoài tiền phạt, còn có thể bị </a:t>
            </a:r>
            <a:r>
              <a:rPr lang="vi-VN" b="1" dirty="0"/>
              <a:t>mất uy tín, bị cấm xử lý dữ liệu tại EU</a:t>
            </a:r>
            <a:r>
              <a:rPr lang="vi-VN" dirty="0"/>
              <a:t>, hoặc </a:t>
            </a:r>
            <a:r>
              <a:rPr lang="vi-VN" b="1" dirty="0"/>
              <a:t>mất khách hàng quốc tế</a:t>
            </a:r>
            <a:r>
              <a:rPr lang="vi-VN" dirty="0"/>
              <a:t>.</a:t>
            </a:r>
          </a:p>
          <a:p>
            <a:pPr marL="158750" indent="0">
              <a:buFontTx/>
              <a:buNone/>
            </a:pPr>
            <a:r>
              <a:rPr lang="vi-VN" i="1" dirty="0"/>
              <a:t>Ví dụ:</a:t>
            </a:r>
            <a:endParaRPr lang="vi-VN" dirty="0"/>
          </a:p>
          <a:p>
            <a:pPr marL="158750" indent="0">
              <a:buFontTx/>
              <a:buNone/>
            </a:pPr>
            <a:r>
              <a:rPr lang="vi-VN" dirty="0"/>
              <a:t>British Airways bị phạt </a:t>
            </a:r>
            <a:r>
              <a:rPr lang="vi-VN" b="1" dirty="0"/>
              <a:t>204 triệu EUR (2019)</a:t>
            </a:r>
            <a:r>
              <a:rPr lang="vi-VN" dirty="0"/>
              <a:t> do rò rỉ dữ liệu hơn 500.000 khách hàng.</a:t>
            </a:r>
          </a:p>
          <a:p>
            <a:pPr marL="158750" indent="0">
              <a:buFontTx/>
              <a:buNone/>
            </a:pPr>
            <a:r>
              <a:rPr lang="vi-VN" dirty="0"/>
              <a:t>Google và Meta cũng từng bị phạt hàng chục triệu euro do vi phạm quy định về đồng ý người dùng.</a:t>
            </a:r>
          </a:p>
          <a:p>
            <a:pPr marL="158750" indent="0">
              <a:buFontTx/>
              <a:buNone/>
            </a:pPr>
            <a:endParaRPr lang="en-US" b="1" dirty="0"/>
          </a:p>
          <a:p>
            <a:pPr marL="158750" indent="0">
              <a:buFontTx/>
              <a:buNone/>
            </a:pPr>
            <a:r>
              <a:rPr lang="en-US" b="1" dirty="0"/>
              <a:t>5. </a:t>
            </a:r>
            <a:r>
              <a:rPr lang="vi-VN" b="1" dirty="0"/>
              <a:t>Ý nghĩa của GDPR đối với hệ thống IoT</a:t>
            </a:r>
          </a:p>
          <a:p>
            <a:pPr marL="158750" indent="0">
              <a:buFontTx/>
              <a:buNone/>
            </a:pPr>
            <a:r>
              <a:rPr lang="vi-VN" dirty="0"/>
              <a:t>Định hướng các công ty IoT </a:t>
            </a:r>
            <a:r>
              <a:rPr lang="vi-VN" b="1" dirty="0"/>
              <a:t>tuân thủ quy trình bảo mật ngay từ thiết kế sản phẩm.</a:t>
            </a:r>
            <a:endParaRPr lang="vi-VN" dirty="0"/>
          </a:p>
          <a:p>
            <a:pPr marL="158750" indent="0">
              <a:buFontTx/>
              <a:buNone/>
            </a:pPr>
            <a:r>
              <a:rPr lang="vi-VN" dirty="0"/>
              <a:t>Nâng cao </a:t>
            </a:r>
            <a:r>
              <a:rPr lang="vi-VN" b="1" dirty="0"/>
              <a:t>niềm tin người dùng</a:t>
            </a:r>
            <a:r>
              <a:rPr lang="vi-VN" dirty="0"/>
              <a:t> đối với thiết bị thông minh.</a:t>
            </a:r>
          </a:p>
          <a:p>
            <a:pPr marL="158750" indent="0">
              <a:buFontTx/>
              <a:buNone/>
            </a:pPr>
            <a:r>
              <a:rPr lang="vi-VN" dirty="0"/>
              <a:t>Tạo </a:t>
            </a:r>
            <a:r>
              <a:rPr lang="vi-VN" b="1" dirty="0"/>
              <a:t>chuẩn mực toàn cầu</a:t>
            </a:r>
            <a:r>
              <a:rPr lang="vi-VN" dirty="0"/>
              <a:t> cho các quốc gia khác (như Việt Nam với </a:t>
            </a:r>
            <a:r>
              <a:rPr lang="vi-VN" b="1" dirty="0"/>
              <a:t>Nghị định 13/2023/NĐ-CP</a:t>
            </a:r>
            <a:r>
              <a:rPr lang="vi-VN" dirty="0"/>
              <a:t> về bảo vệ dữ liệu cá nhân).</a:t>
            </a:r>
          </a:p>
          <a:p>
            <a:pPr marL="158750" indent="0">
              <a:buFontTx/>
              <a:buNone/>
            </a:pPr>
            <a:endParaRPr lang="en-US" dirty="0"/>
          </a:p>
        </p:txBody>
      </p:sp>
    </p:spTree>
    <p:extLst>
      <p:ext uri="{BB962C8B-B14F-4D97-AF65-F5344CB8AC3E}">
        <p14:creationId xmlns:p14="http://schemas.microsoft.com/office/powerpoint/2010/main" val="1367791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Giới thiệu về HIPAA</a:t>
            </a:r>
          </a:p>
          <a:p>
            <a:pPr marL="158750" indent="0">
              <a:buFontTx/>
              <a:buNone/>
            </a:pPr>
            <a:r>
              <a:rPr lang="vi-VN" b="1" dirty="0"/>
              <a:t>HIPAA</a:t>
            </a:r>
            <a:r>
              <a:rPr lang="vi-VN" dirty="0"/>
              <a:t> (Health Insurance Portability and Accountability Act) là </a:t>
            </a:r>
            <a:r>
              <a:rPr lang="vi-VN" b="1" dirty="0"/>
              <a:t>đạo luật bảo vệ thông tin sức khỏe cá nhân (PHI – Patient Health Information)</a:t>
            </a:r>
            <a:r>
              <a:rPr lang="vi-VN" dirty="0"/>
              <a:t> của người dân Hoa Kỳ, được ban hành năm </a:t>
            </a:r>
            <a:r>
              <a:rPr lang="vi-VN" b="1" dirty="0"/>
              <a:t>1996</a:t>
            </a:r>
            <a:r>
              <a:rPr lang="vi-VN" dirty="0"/>
              <a:t>.</a:t>
            </a:r>
            <a:br>
              <a:rPr lang="vi-VN" dirty="0"/>
            </a:br>
            <a:r>
              <a:rPr lang="vi-VN" dirty="0"/>
              <a:t>Mục tiêu của HIPAA là đảm bảo rằng </a:t>
            </a:r>
            <a:r>
              <a:rPr lang="vi-VN" b="1" dirty="0"/>
              <a:t>mọi dữ liệu y tế điện tử đều được bảo mật, lưu trữ và truyền tải an toàn</a:t>
            </a:r>
            <a:r>
              <a:rPr lang="vi-VN" dirty="0"/>
              <a:t>, đồng thời </a:t>
            </a:r>
            <a:r>
              <a:rPr lang="vi-VN" b="1" dirty="0"/>
              <a:t>giới hạn quyền truy cập</a:t>
            </a:r>
            <a:r>
              <a:rPr lang="vi-VN" dirty="0"/>
              <a:t> chỉ cho những người có thẩm quyền.</a:t>
            </a:r>
          </a:p>
          <a:p>
            <a:pPr marL="158750" indent="0">
              <a:buFontTx/>
              <a:buNone/>
            </a:pPr>
            <a:r>
              <a:rPr lang="vi-VN" dirty="0"/>
              <a:t>Trong bối cảnh </a:t>
            </a:r>
            <a:r>
              <a:rPr lang="vi-VN" b="1" dirty="0"/>
              <a:t>IoT y tế (Medical IoT – Internet of Medical Things)</a:t>
            </a:r>
            <a:r>
              <a:rPr lang="vi-VN" dirty="0"/>
              <a:t>, HIPAA đặc biệt quan trọng vì các thiết bị như:</a:t>
            </a:r>
          </a:p>
          <a:p>
            <a:pPr marL="158750" indent="0">
              <a:buFontTx/>
              <a:buNone/>
            </a:pPr>
            <a:r>
              <a:rPr lang="vi-VN" dirty="0"/>
              <a:t>đồng hồ thông minh (smartwatch),</a:t>
            </a:r>
          </a:p>
          <a:p>
            <a:pPr marL="158750" indent="0">
              <a:buFontTx/>
              <a:buNone/>
            </a:pPr>
            <a:r>
              <a:rPr lang="vi-VN" dirty="0"/>
              <a:t>cảm biến đo tim mạch,</a:t>
            </a:r>
          </a:p>
          <a:p>
            <a:pPr marL="158750" indent="0">
              <a:buFontTx/>
              <a:buNone/>
            </a:pPr>
            <a:r>
              <a:rPr lang="vi-VN" dirty="0"/>
              <a:t>máy theo dõi bệnh nhân từ xa,</a:t>
            </a:r>
          </a:p>
          <a:p>
            <a:pPr marL="158750" indent="0">
              <a:buFontTx/>
              <a:buNone/>
            </a:pPr>
            <a:r>
              <a:rPr lang="vi-VN" dirty="0"/>
              <a:t>thiết bị y tế đeo người (wearables)</a:t>
            </a:r>
            <a:br>
              <a:rPr lang="vi-VN" dirty="0"/>
            </a:br>
            <a:r>
              <a:rPr lang="vi-VN" dirty="0"/>
              <a:t>đều thu thập và truyền dữ liệu sức khỏe cá nhân liên tục.</a:t>
            </a:r>
          </a:p>
          <a:p>
            <a:pPr marL="158750" indent="0">
              <a:buFontTx/>
              <a:buNone/>
            </a:pPr>
            <a:endParaRPr lang="en-US" b="1" dirty="0"/>
          </a:p>
          <a:p>
            <a:pPr marL="158750" indent="0">
              <a:buFontTx/>
              <a:buNone/>
            </a:pPr>
            <a:r>
              <a:rPr lang="en-US" b="1" dirty="0"/>
              <a:t>2. </a:t>
            </a:r>
            <a:r>
              <a:rPr lang="vi-VN" b="1" dirty="0"/>
              <a:t>Phạm vi áp dụng</a:t>
            </a:r>
          </a:p>
          <a:p>
            <a:pPr marL="158750" indent="0">
              <a:buFontTx/>
              <a:buNone/>
            </a:pPr>
            <a:r>
              <a:rPr lang="vi-VN" dirty="0"/>
              <a:t>HIPAA áp dụng cho </a:t>
            </a:r>
            <a:r>
              <a:rPr lang="vi-VN" b="1" dirty="0"/>
              <a:t>mọi tổ chức và cá nhân</a:t>
            </a:r>
            <a:r>
              <a:rPr lang="vi-VN" dirty="0"/>
              <a:t> có liên quan đến việc xử lý dữ liệu y tế, bao gồm:</a:t>
            </a:r>
          </a:p>
          <a:p>
            <a:pPr marL="158750" indent="0">
              <a:buFontTx/>
              <a:buNone/>
            </a:pPr>
            <a:r>
              <a:rPr lang="vi-VN" b="1" dirty="0"/>
              <a:t>Các cơ sở chăm sóc sức khỏe:</a:t>
            </a:r>
            <a:r>
              <a:rPr lang="vi-VN" dirty="0"/>
              <a:t> bệnh viện, phòng khám, bác sĩ.</a:t>
            </a:r>
          </a:p>
          <a:p>
            <a:pPr marL="158750" indent="0">
              <a:buFontTx/>
              <a:buNone/>
            </a:pPr>
            <a:r>
              <a:rPr lang="vi-VN" b="1" dirty="0"/>
              <a:t>Các công ty bảo hiểm y tế.</a:t>
            </a:r>
            <a:endParaRPr lang="vi-VN" dirty="0"/>
          </a:p>
          <a:p>
            <a:pPr marL="158750" indent="0">
              <a:buFontTx/>
              <a:buNone/>
            </a:pPr>
            <a:r>
              <a:rPr lang="vi-VN" b="1" dirty="0"/>
              <a:t>Các đối tác công nghệ y tế</a:t>
            </a:r>
            <a:r>
              <a:rPr lang="vi-VN" dirty="0"/>
              <a:t>, đặc biệt là </a:t>
            </a:r>
            <a:r>
              <a:rPr lang="vi-VN" b="1" dirty="0"/>
              <a:t>nhà phát triển thiết bị IoT hoặc phần mềm y tế</a:t>
            </a:r>
            <a:r>
              <a:rPr lang="vi-VN" dirty="0"/>
              <a:t> có lưu trữ hoặc xử lý thông tin bệnh nhân.</a:t>
            </a:r>
          </a:p>
          <a:p>
            <a:pPr marL="158750" indent="0">
              <a:buFontTx/>
              <a:buNone/>
            </a:pPr>
            <a:r>
              <a:rPr lang="vi-VN" dirty="0"/>
              <a:t>Nói cách khác, nếu một thiết bị IoT thu thập dữ liệu sức khỏe của người dùng tại Mỹ (ví dụ: nhịp tim, huyết áp, đường huyết...), thì </a:t>
            </a:r>
            <a:r>
              <a:rPr lang="vi-VN" b="1" dirty="0"/>
              <a:t>phải tuân thủ HIPAA</a:t>
            </a:r>
            <a:r>
              <a:rPr lang="vi-VN" dirty="0"/>
              <a:t>.</a:t>
            </a:r>
          </a:p>
          <a:p>
            <a:pPr marL="158750" indent="0">
              <a:buFontTx/>
              <a:buNone/>
            </a:pPr>
            <a:endParaRPr lang="en-US" b="1" dirty="0"/>
          </a:p>
          <a:p>
            <a:pPr marL="158750" indent="0">
              <a:buFontTx/>
              <a:buNone/>
            </a:pPr>
            <a:r>
              <a:rPr lang="en-US" b="1" dirty="0"/>
              <a:t>3. </a:t>
            </a:r>
            <a:r>
              <a:rPr lang="vi-VN" b="1" dirty="0"/>
              <a:t>Các yêu cầu chính trong HIPAA</a:t>
            </a:r>
          </a:p>
          <a:p>
            <a:pPr marL="158750" indent="0">
              <a:buFontTx/>
              <a:buNone/>
            </a:pPr>
            <a:r>
              <a:rPr lang="vi-VN" b="1" dirty="0"/>
              <a:t>(a) Bảo mật dữ liệu bệnh nhân (Patient Health Information – PHI)</a:t>
            </a:r>
          </a:p>
          <a:p>
            <a:pPr marL="158750" indent="0">
              <a:buFontTx/>
              <a:buNone/>
            </a:pPr>
            <a:r>
              <a:rPr lang="vi-VN" dirty="0"/>
              <a:t>PHI bao gồm mọi thông tin giúp </a:t>
            </a:r>
            <a:r>
              <a:rPr lang="vi-VN" b="1" dirty="0"/>
              <a:t>xác định danh tính và tình trạng sức khỏe của bệnh nhân</a:t>
            </a:r>
            <a:r>
              <a:rPr lang="vi-VN" dirty="0"/>
              <a:t>, như:</a:t>
            </a:r>
            <a:br>
              <a:rPr lang="vi-VN" dirty="0"/>
            </a:br>
            <a:r>
              <a:rPr lang="vi-VN" dirty="0"/>
              <a:t>tên, địa chỉ, ngày sinh, mã số bệnh án, kết quả xét nghiệm, hình ảnh y học, v.v.</a:t>
            </a:r>
          </a:p>
          <a:p>
            <a:pPr marL="158750" indent="0">
              <a:buFontTx/>
              <a:buNone/>
            </a:pPr>
            <a:r>
              <a:rPr lang="vi-VN" dirty="0"/>
              <a:t>Các thiết bị IoT y tế cần:</a:t>
            </a:r>
          </a:p>
          <a:p>
            <a:pPr marL="457200" lvl="1" indent="0">
              <a:buFontTx/>
              <a:buNone/>
            </a:pPr>
            <a:r>
              <a:rPr lang="vi-VN" dirty="0"/>
              <a:t>Mã hóa dữ liệu trước khi gửi lên máy chủ.</a:t>
            </a:r>
          </a:p>
          <a:p>
            <a:pPr marL="457200" lvl="1" indent="0">
              <a:buFontTx/>
              <a:buNone/>
            </a:pPr>
            <a:r>
              <a:rPr lang="vi-VN" dirty="0"/>
              <a:t>Lưu trữ an toàn trên cloud hoặc trong hệ thống nội bộ tuân thủ chuẩn HIPAA.</a:t>
            </a:r>
          </a:p>
          <a:p>
            <a:pPr marL="457200" lvl="1" indent="0">
              <a:buFontTx/>
              <a:buNone/>
            </a:pPr>
            <a:r>
              <a:rPr lang="vi-VN" dirty="0"/>
              <a:t>Bảo đảm chỉ người có quyền hợp pháp mới có thể truy cập hoặc chia sẻ dữ liệu.</a:t>
            </a:r>
          </a:p>
          <a:p>
            <a:pPr marL="158750" indent="0">
              <a:buFontTx/>
              <a:buNone/>
            </a:pPr>
            <a:r>
              <a:rPr lang="vi-VN" i="1" dirty="0"/>
              <a:t>Ví dụ:</a:t>
            </a:r>
            <a:r>
              <a:rPr lang="vi-VN" dirty="0"/>
              <a:t> Dữ liệu nhịp tim của bệnh nhân được đo bằng thiết bị đeo tay phải được mã hóa (AES, TLS) trước khi truyền về bệnh viện.</a:t>
            </a:r>
          </a:p>
          <a:p>
            <a:pPr marL="158750" indent="0">
              <a:buFontTx/>
              <a:buNone/>
            </a:pPr>
            <a:r>
              <a:rPr lang="vi-VN" b="1" dirty="0"/>
              <a:t>(b) Giới hạn quyền truy cập (Access Control)</a:t>
            </a:r>
          </a:p>
          <a:p>
            <a:pPr marL="158750" indent="0">
              <a:buFontTx/>
              <a:buNone/>
            </a:pPr>
            <a:r>
              <a:rPr lang="vi-VN" dirty="0"/>
              <a:t>Chỉ </a:t>
            </a:r>
            <a:r>
              <a:rPr lang="vi-VN" b="1" dirty="0"/>
              <a:t>nhân viên hoặc bác sĩ được ủy quyền</a:t>
            </a:r>
            <a:r>
              <a:rPr lang="vi-VN" dirty="0"/>
              <a:t> mới có quyền xem, chỉnh sửa hoặc tải dữ liệu y tế.</a:t>
            </a:r>
          </a:p>
          <a:p>
            <a:pPr marL="158750" indent="0">
              <a:buFontTx/>
              <a:buNone/>
            </a:pPr>
            <a:r>
              <a:rPr lang="vi-VN" dirty="0"/>
              <a:t>Mỗi người dùng được cấp </a:t>
            </a:r>
            <a:r>
              <a:rPr lang="vi-VN" b="1" dirty="0"/>
              <a:t>tài khoản định danh riêng</a:t>
            </a:r>
            <a:r>
              <a:rPr lang="vi-VN" dirty="0"/>
              <a:t>, có phân quyền cụ thể (role-based access).</a:t>
            </a:r>
          </a:p>
          <a:p>
            <a:pPr marL="158750" indent="0">
              <a:buFontTx/>
              <a:buNone/>
            </a:pPr>
            <a:r>
              <a:rPr lang="vi-VN" dirty="0"/>
              <a:t>Cần lưu nhật ký (log) truy cập để theo dõi mọi hành động liên quan đến dữ liệu bệnh nhân.</a:t>
            </a:r>
          </a:p>
          <a:p>
            <a:pPr marL="158750" indent="0">
              <a:buFontTx/>
              <a:buNone/>
            </a:pPr>
            <a:r>
              <a:rPr lang="vi-VN" i="1" dirty="0"/>
              <a:t>Ví dụ:</a:t>
            </a:r>
            <a:r>
              <a:rPr lang="vi-VN" dirty="0"/>
              <a:t> Một y tá có thể xem dữ liệu theo dõi của bệnh nhân mình phụ trách, nhưng không thể truy cập hồ sơ của các bệnh nhân khác.</a:t>
            </a:r>
          </a:p>
          <a:p>
            <a:pPr marL="158750" indent="0">
              <a:buFontTx/>
              <a:buNone/>
            </a:pPr>
            <a:r>
              <a:rPr lang="vi-VN" b="1" dirty="0"/>
              <a:t>(c) Mã hóa dữ liệu truyền và lưu trữ (Encryption and Security)</a:t>
            </a:r>
          </a:p>
          <a:p>
            <a:pPr marL="158750" indent="0">
              <a:buFontTx/>
              <a:buNone/>
            </a:pPr>
            <a:r>
              <a:rPr lang="vi-VN" dirty="0"/>
              <a:t>Dữ liệu y tế khi truyền qua Internet hoặc lưu trữ trong cơ sở dữ liệu </a:t>
            </a:r>
            <a:r>
              <a:rPr lang="vi-VN" b="1" dirty="0"/>
              <a:t>phải được mã hóa</a:t>
            </a:r>
            <a:r>
              <a:rPr lang="vi-VN" dirty="0"/>
              <a:t> bằng các chuẩn mạnh như </a:t>
            </a:r>
            <a:r>
              <a:rPr lang="vi-VN" b="1" dirty="0"/>
              <a:t>AES (Advanced Encryption Standard)</a:t>
            </a:r>
            <a:r>
              <a:rPr lang="vi-VN" dirty="0"/>
              <a:t> hoặc </a:t>
            </a:r>
            <a:r>
              <a:rPr lang="vi-VN" b="1" dirty="0"/>
              <a:t>TLS (Transport Layer Security)</a:t>
            </a:r>
            <a:r>
              <a:rPr lang="vi-VN" dirty="0"/>
              <a:t>.</a:t>
            </a:r>
          </a:p>
          <a:p>
            <a:pPr marL="158750" indent="0">
              <a:buFontTx/>
              <a:buNone/>
            </a:pPr>
            <a:r>
              <a:rPr lang="vi-VN" dirty="0"/>
              <a:t>Hệ thống cần có </a:t>
            </a:r>
            <a:r>
              <a:rPr lang="vi-VN" b="1" dirty="0"/>
              <a:t>cơ chế phát hiện truy cập bất hợp pháp</a:t>
            </a:r>
            <a:r>
              <a:rPr lang="vi-VN" dirty="0"/>
              <a:t>, sao lưu dữ liệu định kỳ, và phục hồi dữ liệu an toàn khi xảy ra sự cố.</a:t>
            </a:r>
          </a:p>
          <a:p>
            <a:pPr marL="158750" indent="0">
              <a:buFontTx/>
              <a:buNone/>
            </a:pPr>
            <a:r>
              <a:rPr lang="vi-VN" i="1" dirty="0"/>
              <a:t>Ví dụ:</a:t>
            </a:r>
            <a:r>
              <a:rPr lang="vi-VN" dirty="0"/>
              <a:t> Thiết bị cảm biến nhịp tim gửi dữ liệu qua giao thức HTTPS thay vì HTTP để đảm bảo bảo mật kênh truyền.</a:t>
            </a:r>
          </a:p>
          <a:p>
            <a:pPr marL="158750" indent="0">
              <a:buFontTx/>
              <a:buNone/>
            </a:pPr>
            <a:endParaRPr lang="en-US" b="1" dirty="0"/>
          </a:p>
          <a:p>
            <a:pPr marL="158750" indent="0">
              <a:buFontTx/>
              <a:buNone/>
            </a:pPr>
            <a:r>
              <a:rPr lang="vi-VN" b="1" dirty="0"/>
              <a:t>4. Hậu quả khi vi phạm HIPAA</a:t>
            </a:r>
          </a:p>
          <a:p>
            <a:pPr marL="158750" indent="0">
              <a:buFontTx/>
              <a:buNone/>
            </a:pPr>
            <a:r>
              <a:rPr lang="vi-VN" dirty="0"/>
              <a:t>Tổ chức hoặc doanh nghiệp vi phạm HIPAA có thể bị:</a:t>
            </a:r>
          </a:p>
          <a:p>
            <a:pPr marL="158750" indent="0">
              <a:buFontTx/>
              <a:buNone/>
            </a:pPr>
            <a:r>
              <a:rPr lang="vi-VN" b="1" dirty="0"/>
              <a:t>Phạt tiền từ 100 đến 50.000 USD cho mỗi vi phạm</a:t>
            </a:r>
            <a:r>
              <a:rPr lang="vi-VN" dirty="0"/>
              <a:t>, tùy mức độ nghiêm trọng.</a:t>
            </a:r>
          </a:p>
          <a:p>
            <a:pPr marL="158750" indent="0">
              <a:buFontTx/>
              <a:buNone/>
            </a:pPr>
            <a:r>
              <a:rPr lang="vi-VN" dirty="0"/>
              <a:t>Trong trường hợp cố ý rò rỉ dữ liệu bệnh nhân, </a:t>
            </a:r>
            <a:r>
              <a:rPr lang="vi-VN" b="1" dirty="0"/>
              <a:t>mức phạt có thể lên đến 1,5 triệu USD mỗi năm</a:t>
            </a:r>
            <a:r>
              <a:rPr lang="vi-VN" dirty="0"/>
              <a:t> hoặc </a:t>
            </a:r>
            <a:r>
              <a:rPr lang="vi-VN" b="1" dirty="0"/>
              <a:t>truy tố hình sự</a:t>
            </a:r>
            <a:r>
              <a:rPr lang="vi-VN" dirty="0"/>
              <a:t>.</a:t>
            </a:r>
          </a:p>
          <a:p>
            <a:pPr marL="158750" indent="0">
              <a:buFontTx/>
              <a:buNone/>
            </a:pPr>
            <a:r>
              <a:rPr lang="vi-VN" dirty="0"/>
              <a:t>Ngoài ra, uy tín và niềm tin của bệnh nhân đối với tổ chức cũng sẽ bị ảnh hưởng nghiêm trọng.</a:t>
            </a:r>
          </a:p>
          <a:p>
            <a:pPr marL="158750" indent="0">
              <a:buFontTx/>
              <a:buNone/>
            </a:pPr>
            <a:endParaRPr lang="en-US" dirty="0"/>
          </a:p>
          <a:p>
            <a:pPr marL="158750" indent="0">
              <a:buFontTx/>
              <a:buNone/>
            </a:pPr>
            <a:r>
              <a:rPr lang="en-US" b="1" dirty="0"/>
              <a:t>5</a:t>
            </a:r>
            <a:r>
              <a:rPr lang="vi-VN" b="1" dirty="0"/>
              <a:t>. Kết luận</a:t>
            </a:r>
          </a:p>
          <a:p>
            <a:pPr marL="158750" indent="0">
              <a:buFontTx/>
              <a:buNone/>
            </a:pPr>
            <a:r>
              <a:rPr lang="vi-VN" dirty="0"/>
              <a:t>HIPAA không chỉ là một khung pháp lý, mà còn là </a:t>
            </a:r>
            <a:r>
              <a:rPr lang="vi-VN" b="1" dirty="0"/>
              <a:t>chuẩn đạo đức trong phát triển IoT y tế</a:t>
            </a:r>
            <a:r>
              <a:rPr lang="vi-VN" dirty="0"/>
              <a:t>.</a:t>
            </a:r>
            <a:br>
              <a:rPr lang="vi-VN" dirty="0"/>
            </a:br>
            <a:r>
              <a:rPr lang="vi-VN" dirty="0"/>
              <a:t>Nó buộc các kỹ sư, nhà sản xuất thiết bị và doanh nghiệp:</a:t>
            </a:r>
          </a:p>
          <a:p>
            <a:pPr marL="158750" indent="0">
              <a:buFontTx/>
              <a:buNone/>
            </a:pPr>
            <a:r>
              <a:rPr lang="en-US" b="1" dirty="0"/>
              <a:t>- </a:t>
            </a:r>
            <a:r>
              <a:rPr lang="vi-VN" b="1" dirty="0"/>
              <a:t>Đặt người bệnh ở trung tâm</a:t>
            </a:r>
            <a:r>
              <a:rPr lang="vi-VN" dirty="0"/>
              <a:t>,</a:t>
            </a:r>
          </a:p>
          <a:p>
            <a:pPr marL="158750" indent="0">
              <a:buFontTx/>
              <a:buNone/>
            </a:pPr>
            <a:r>
              <a:rPr lang="en-US" b="1" dirty="0"/>
              <a:t>- </a:t>
            </a:r>
            <a:r>
              <a:rPr lang="vi-VN" b="1" dirty="0"/>
              <a:t>Thiết kế hệ thống bảo mật ngay từ đầu (“Security by Design”)</a:t>
            </a:r>
            <a:r>
              <a:rPr lang="vi-VN" dirty="0"/>
              <a:t>,</a:t>
            </a:r>
          </a:p>
          <a:p>
            <a:pPr marL="158750" indent="0">
              <a:buFontTx/>
              <a:buNone/>
            </a:pPr>
            <a:r>
              <a:rPr lang="en-US" dirty="0"/>
              <a:t>- </a:t>
            </a:r>
            <a:r>
              <a:rPr lang="vi-VN" dirty="0"/>
              <a:t>Và đảm bảo </a:t>
            </a:r>
            <a:r>
              <a:rPr lang="vi-VN" b="1" dirty="0"/>
              <a:t>mọi dữ liệu sức khỏe được bảo vệ tuyệt đối</a:t>
            </a:r>
            <a:r>
              <a:rPr lang="vi-VN" dirty="0"/>
              <a:t>, từ cảm biến trên người bệnh đến hệ thống cloud quản lý trung tâm.</a:t>
            </a:r>
          </a:p>
          <a:p>
            <a:pPr marL="158750" indent="0">
              <a:buFontTx/>
              <a:buNone/>
            </a:pPr>
            <a:endParaRPr lang="en-US" dirty="0"/>
          </a:p>
        </p:txBody>
      </p:sp>
    </p:spTree>
    <p:extLst>
      <p:ext uri="{BB962C8B-B14F-4D97-AF65-F5344CB8AC3E}">
        <p14:creationId xmlns:p14="http://schemas.microsoft.com/office/powerpoint/2010/main" val="31470473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en-US" b="1" dirty="0"/>
              <a:t>1. </a:t>
            </a:r>
            <a:r>
              <a:rPr lang="vi-VN" b="1" dirty="0"/>
              <a:t>Khái niệm “Privacy by Design” là gì?</a:t>
            </a:r>
          </a:p>
          <a:p>
            <a:pPr marL="158750" indent="0">
              <a:buFontTx/>
              <a:buNone/>
            </a:pPr>
            <a:r>
              <a:rPr lang="vi-VN" b="1" dirty="0"/>
              <a:t>Privacy by Design (PbD)</a:t>
            </a:r>
            <a:r>
              <a:rPr lang="vi-VN" dirty="0"/>
              <a:t> là một </a:t>
            </a:r>
            <a:r>
              <a:rPr lang="vi-VN" b="1" dirty="0"/>
              <a:t>nguyên tắc thiết kế hệ thống</a:t>
            </a:r>
            <a:r>
              <a:rPr lang="vi-VN" dirty="0"/>
              <a:t> trong đó </a:t>
            </a:r>
            <a:r>
              <a:rPr lang="vi-VN" b="1" dirty="0"/>
              <a:t>bảo mật và quyền riêng tư của người dùng</a:t>
            </a:r>
            <a:r>
              <a:rPr lang="vi-VN" dirty="0"/>
              <a:t> được </a:t>
            </a:r>
            <a:r>
              <a:rPr lang="vi-VN" b="1" dirty="0"/>
              <a:t>tích hợp ngay từ giai đoạn đầu của quá trình phát triển</a:t>
            </a:r>
            <a:r>
              <a:rPr lang="vi-VN" dirty="0"/>
              <a:t>, thay vì chỉ thêm vào hoặc “vá lỗi” sau khi sản phẩm đã được triển khai.</a:t>
            </a:r>
          </a:p>
          <a:p>
            <a:pPr marL="158750" indent="0">
              <a:buFontTx/>
              <a:buNone/>
            </a:pPr>
            <a:r>
              <a:rPr lang="vi-VN" dirty="0"/>
              <a:t>Nguyên tắc này được đề xuất lần đầu bởi </a:t>
            </a:r>
            <a:r>
              <a:rPr lang="vi-VN" b="1" dirty="0"/>
              <a:t>Tiến sĩ Ann Cavoukian (Canada)</a:t>
            </a:r>
            <a:r>
              <a:rPr lang="vi-VN" dirty="0"/>
              <a:t> vào những năm 1990, và sau đó được </a:t>
            </a:r>
            <a:r>
              <a:rPr lang="vi-VN" b="1" dirty="0"/>
              <a:t>Liên minh Châu Âu (EU)</a:t>
            </a:r>
            <a:r>
              <a:rPr lang="vi-VN" dirty="0"/>
              <a:t> chính thức công nhận và đưa vào </a:t>
            </a:r>
            <a:r>
              <a:rPr lang="vi-VN" b="1" dirty="0"/>
              <a:t>GDPR</a:t>
            </a:r>
            <a:r>
              <a:rPr lang="vi-VN" dirty="0"/>
              <a:t> như một </a:t>
            </a:r>
            <a:r>
              <a:rPr lang="vi-VN" b="1" dirty="0"/>
              <a:t>yêu cầu pháp lý bắt buộc</a:t>
            </a:r>
            <a:r>
              <a:rPr lang="vi-VN" dirty="0"/>
              <a:t> đối với các hệ thống xử lý dữ liệu cá nhân — đặc biệt là trong </a:t>
            </a:r>
            <a:r>
              <a:rPr lang="vi-VN" b="1" dirty="0"/>
              <a:t>IoT, AI, và Cloud Computing</a:t>
            </a:r>
            <a:r>
              <a:rPr lang="vi-VN" dirty="0"/>
              <a:t>.</a:t>
            </a:r>
          </a:p>
          <a:p>
            <a:pPr marL="158750" indent="0">
              <a:buFontTx/>
              <a:buNone/>
            </a:pPr>
            <a:r>
              <a:rPr lang="vi-VN" dirty="0"/>
              <a:t>Trong </a:t>
            </a:r>
            <a:r>
              <a:rPr lang="vi-VN" b="1" dirty="0"/>
              <a:t>hệ thống IoT</a:t>
            </a:r>
            <a:r>
              <a:rPr lang="vi-VN" dirty="0"/>
              <a:t>, nơi hàng triệu thiết bị kết nối liên tục thu thập, lưu trữ và chia sẻ dữ liệu, việc áp dụng Privacy by Design giúp:</a:t>
            </a:r>
          </a:p>
          <a:p>
            <a:pPr marL="158750" indent="0">
              <a:buFontTx/>
              <a:buNone/>
            </a:pPr>
            <a:r>
              <a:rPr lang="vi-VN" b="1" dirty="0"/>
              <a:t>Ngăn chặn rủi ro bảo mật từ sớm.</a:t>
            </a:r>
            <a:endParaRPr lang="vi-VN" dirty="0"/>
          </a:p>
          <a:p>
            <a:pPr marL="158750" indent="0">
              <a:buFontTx/>
              <a:buNone/>
            </a:pPr>
            <a:r>
              <a:rPr lang="vi-VN" b="1" dirty="0"/>
              <a:t>Giảm thiểu thiệt hại khi xảy ra sự cố.</a:t>
            </a:r>
            <a:endParaRPr lang="vi-VN" dirty="0"/>
          </a:p>
          <a:p>
            <a:pPr marL="158750" indent="0">
              <a:buFontTx/>
              <a:buNone/>
            </a:pPr>
            <a:r>
              <a:rPr lang="vi-VN" b="1" dirty="0"/>
              <a:t>Tăng niềm tin của người dùng</a:t>
            </a:r>
            <a:r>
              <a:rPr lang="vi-VN" dirty="0"/>
              <a:t> đối với thiết bị và nền tảng.</a:t>
            </a:r>
          </a:p>
          <a:p>
            <a:pPr marL="158750" indent="0">
              <a:buFontTx/>
              <a:buNone/>
            </a:pPr>
            <a:endParaRPr lang="en-US" b="1" dirty="0"/>
          </a:p>
          <a:p>
            <a:pPr marL="158750" indent="0">
              <a:buFontTx/>
              <a:buNone/>
            </a:pPr>
            <a:r>
              <a:rPr lang="en-US" b="1" dirty="0"/>
              <a:t>2. </a:t>
            </a:r>
            <a:r>
              <a:rPr lang="vi-VN" b="1" dirty="0"/>
              <a:t>Tư tưởng cốt lõi của Privacy by Design</a:t>
            </a:r>
          </a:p>
          <a:p>
            <a:pPr marL="158750" indent="0">
              <a:buFontTx/>
              <a:buNone/>
            </a:pPr>
            <a:r>
              <a:rPr lang="vi-VN" dirty="0"/>
              <a:t>“</a:t>
            </a:r>
            <a:r>
              <a:rPr lang="vi-VN" b="1" dirty="0"/>
              <a:t>Bảo mật không phải là một tính năng thêm vào, mà là một phần cốt lõi trong thiết kế.</a:t>
            </a:r>
            <a:r>
              <a:rPr lang="vi-VN" dirty="0"/>
              <a:t>”</a:t>
            </a:r>
          </a:p>
          <a:p>
            <a:pPr marL="158750" indent="0">
              <a:buFontTx/>
              <a:buNone/>
            </a:pPr>
            <a:r>
              <a:rPr lang="vi-VN" dirty="0"/>
              <a:t>Điều đó có nghĩa là:</a:t>
            </a:r>
          </a:p>
          <a:p>
            <a:pPr marL="158750" indent="0">
              <a:buFontTx/>
              <a:buNone/>
            </a:pPr>
            <a:r>
              <a:rPr lang="vi-VN" dirty="0"/>
              <a:t>Các kỹ sư phải </a:t>
            </a:r>
            <a:r>
              <a:rPr lang="vi-VN" b="1" dirty="0"/>
              <a:t>tích hợp bảo mật và quyền riêng tư ngay từ khâu kiến trúc phần mềm, phần cứng, mạng, và dữ liệu.</a:t>
            </a:r>
            <a:endParaRPr lang="vi-VN" dirty="0"/>
          </a:p>
          <a:p>
            <a:pPr marL="158750" indent="0">
              <a:buFontTx/>
              <a:buNone/>
            </a:pPr>
            <a:r>
              <a:rPr lang="vi-VN" dirty="0"/>
              <a:t>Không chờ đến khi có sự cố (như rò rỉ dữ liệu, bị hack) mới thêm lớp bảo vệ.</a:t>
            </a:r>
          </a:p>
          <a:p>
            <a:pPr marL="158750" indent="0">
              <a:buFontTx/>
              <a:buNone/>
            </a:pPr>
            <a:r>
              <a:rPr lang="vi-VN" dirty="0"/>
              <a:t>Mọi quy trình, từ thu thập, xử lý đến chia sẻ dữ liệu đều </a:t>
            </a:r>
            <a:r>
              <a:rPr lang="vi-VN" b="1" dirty="0"/>
              <a:t>tuân thủ nguyên tắc “minh bạch – tối thiểu – kiểm soát được.”</a:t>
            </a:r>
            <a:endParaRPr lang="vi-VN" dirty="0"/>
          </a:p>
          <a:p>
            <a:pPr marL="158750" indent="0">
              <a:buFontTx/>
              <a:buNone/>
            </a:pPr>
            <a:endParaRPr lang="en-US" b="1" dirty="0"/>
          </a:p>
          <a:p>
            <a:pPr marL="158750" indent="0">
              <a:buFontTx/>
              <a:buNone/>
            </a:pPr>
            <a:r>
              <a:rPr lang="en-US" b="1" dirty="0"/>
              <a:t>3. </a:t>
            </a:r>
            <a:r>
              <a:rPr lang="vi-VN" b="1" dirty="0"/>
              <a:t>Các yêu cầu chính trong thiết kế IoT an toàn theo Privacy by Design</a:t>
            </a:r>
          </a:p>
          <a:p>
            <a:pPr marL="158750" indent="0">
              <a:buFontTx/>
              <a:buNone/>
            </a:pPr>
            <a:r>
              <a:rPr lang="en-US" b="1" dirty="0"/>
              <a:t>(1) </a:t>
            </a:r>
            <a:r>
              <a:rPr lang="vi-VN" b="1" dirty="0"/>
              <a:t>Mã hóa dữ liệu đầu-cuối (End-to-End Encryption)</a:t>
            </a:r>
          </a:p>
          <a:p>
            <a:pPr marL="158750" indent="0">
              <a:buFontTx/>
              <a:buNone/>
            </a:pPr>
            <a:r>
              <a:rPr lang="vi-VN" dirty="0"/>
              <a:t>Toàn bộ dữ liệu được mã hóa </a:t>
            </a:r>
            <a:r>
              <a:rPr lang="vi-VN" b="1" dirty="0"/>
              <a:t>từ lúc thu thập trên thiết bị (sensors)</a:t>
            </a:r>
            <a:r>
              <a:rPr lang="vi-VN" dirty="0"/>
              <a:t> → </a:t>
            </a:r>
            <a:r>
              <a:rPr lang="vi-VN" b="1" dirty="0"/>
              <a:t>truyền qua mạng (gateway)</a:t>
            </a:r>
            <a:r>
              <a:rPr lang="vi-VN" dirty="0"/>
              <a:t> → </a:t>
            </a:r>
            <a:r>
              <a:rPr lang="vi-VN" b="1" dirty="0"/>
              <a:t>lưu trữ trên cloud/server.</a:t>
            </a:r>
            <a:endParaRPr lang="vi-VN" dirty="0"/>
          </a:p>
          <a:p>
            <a:pPr marL="158750" indent="0">
              <a:buFontTx/>
              <a:buNone/>
            </a:pPr>
            <a:r>
              <a:rPr lang="vi-VN" dirty="0"/>
              <a:t>Đảm bảo </a:t>
            </a:r>
            <a:r>
              <a:rPr lang="vi-VN" b="1" dirty="0"/>
              <a:t>bên thứ ba không thể đọc được dữ liệu</a:t>
            </a:r>
            <a:r>
              <a:rPr lang="vi-VN" dirty="0"/>
              <a:t>, ngay cả khi bị chặn trong quá trình truyền.</a:t>
            </a:r>
          </a:p>
          <a:p>
            <a:pPr marL="158750" indent="0">
              <a:buFontTx/>
              <a:buNone/>
            </a:pPr>
            <a:r>
              <a:rPr lang="vi-VN" i="1" dirty="0"/>
              <a:t>Ví dụ:</a:t>
            </a:r>
            <a:r>
              <a:rPr lang="vi-VN" dirty="0"/>
              <a:t> Dữ liệu đo nhịp tim từ đồng hồ thông minh được mã hóa bằng </a:t>
            </a:r>
            <a:r>
              <a:rPr lang="vi-VN" b="1" dirty="0"/>
              <a:t>AES hoặc TLS</a:t>
            </a:r>
            <a:r>
              <a:rPr lang="vi-VN" dirty="0"/>
              <a:t> trước khi gửi lên server của nhà cung cấp.</a:t>
            </a:r>
          </a:p>
          <a:p>
            <a:pPr marL="158750" indent="0">
              <a:buFontTx/>
              <a:buNone/>
            </a:pPr>
            <a:r>
              <a:rPr lang="en-US" b="1" dirty="0"/>
              <a:t>(2) </a:t>
            </a:r>
            <a:r>
              <a:rPr lang="vi-VN" b="1" dirty="0"/>
              <a:t>Giới hạn thu thập dữ liệu ở mức tối thiểu cần thiết (Data Minimization)</a:t>
            </a:r>
          </a:p>
          <a:p>
            <a:pPr marL="158750" indent="0">
              <a:buFontTx/>
              <a:buNone/>
            </a:pPr>
            <a:r>
              <a:rPr lang="vi-VN" dirty="0"/>
              <a:t>Chỉ thu thập </a:t>
            </a:r>
            <a:r>
              <a:rPr lang="vi-VN" b="1" dirty="0"/>
              <a:t>những thông tin thực sự cần thiết</a:t>
            </a:r>
            <a:r>
              <a:rPr lang="vi-VN" dirty="0"/>
              <a:t> cho mục tiêu hoạt động của thiết bị.</a:t>
            </a:r>
          </a:p>
          <a:p>
            <a:pPr marL="158750" indent="0">
              <a:buFontTx/>
              <a:buNone/>
            </a:pPr>
            <a:r>
              <a:rPr lang="vi-VN" dirty="0"/>
              <a:t>Không lưu hoặc chia sẻ dữ liệu dư thừa (như vị trí, âm thanh, hình ảnh) nếu không liên quan đến chức năng chính.</a:t>
            </a:r>
          </a:p>
          <a:p>
            <a:pPr marL="158750" indent="0">
              <a:buFontTx/>
              <a:buNone/>
            </a:pPr>
            <a:r>
              <a:rPr lang="vi-VN" i="1" dirty="0"/>
              <a:t>Ví dụ:</a:t>
            </a:r>
            <a:r>
              <a:rPr lang="vi-VN" dirty="0"/>
              <a:t> Cảm biến đo nhiệt độ trong nông nghiệp chỉ cần thu thập nhiệt độ và độ ẩm, không cần dữ liệu GPS hoặc nhận dạng người dùng.</a:t>
            </a:r>
          </a:p>
          <a:p>
            <a:pPr marL="158750" indent="0">
              <a:buFontTx/>
              <a:buNone/>
            </a:pPr>
            <a:r>
              <a:rPr lang="en-US" b="1" dirty="0"/>
              <a:t>(3) </a:t>
            </a:r>
            <a:r>
              <a:rPr lang="vi-VN" b="1" dirty="0"/>
              <a:t>Ẩn danh hóa hoặc mã hóa dữ liệu người dùng (Anonymization &amp; Pseudonymization)</a:t>
            </a:r>
          </a:p>
          <a:p>
            <a:pPr marL="158750" indent="0">
              <a:buFontTx/>
              <a:buNone/>
            </a:pPr>
            <a:r>
              <a:rPr lang="vi-VN" dirty="0"/>
              <a:t>Loại bỏ hoặc mã hóa các thông tin có thể </a:t>
            </a:r>
            <a:r>
              <a:rPr lang="vi-VN" b="1" dirty="0"/>
              <a:t>xác định danh tính cá nhân</a:t>
            </a:r>
            <a:r>
              <a:rPr lang="vi-VN" dirty="0"/>
              <a:t>, như tên, địa chỉ, số điện thoại, ID thiết bị.</a:t>
            </a:r>
          </a:p>
          <a:p>
            <a:pPr marL="158750" indent="0">
              <a:buFontTx/>
              <a:buNone/>
            </a:pPr>
            <a:r>
              <a:rPr lang="vi-VN" dirty="0"/>
              <a:t>Giúp </a:t>
            </a:r>
            <a:r>
              <a:rPr lang="vi-VN" b="1" dirty="0"/>
              <a:t>ngăn chặn việc theo dõi cá nhân hoặc tái nhận dạng người dùng</a:t>
            </a:r>
            <a:r>
              <a:rPr lang="vi-VN" dirty="0"/>
              <a:t> trong trường hợp dữ liệu bị lộ.</a:t>
            </a:r>
          </a:p>
          <a:p>
            <a:pPr marL="158750" indent="0">
              <a:buFontTx/>
              <a:buNone/>
            </a:pPr>
            <a:r>
              <a:rPr lang="vi-VN" i="1" dirty="0"/>
              <a:t>Ví dụ:</a:t>
            </a:r>
            <a:r>
              <a:rPr lang="vi-VN" dirty="0"/>
              <a:t> Dữ liệu thu thập từ hàng ngàn thiết bị đo nhịp tim sẽ chỉ được lưu với mã định danh “Device_12345” thay vì “Nguyễn Văn A”.</a:t>
            </a:r>
          </a:p>
          <a:p>
            <a:pPr marL="158750" indent="0">
              <a:buFontTx/>
              <a:buNone/>
            </a:pPr>
            <a:r>
              <a:rPr lang="en-US" b="1" dirty="0"/>
              <a:t>(4) </a:t>
            </a:r>
            <a:r>
              <a:rPr lang="vi-VN" b="1" dirty="0"/>
              <a:t>Cho phép người dùng quản lý và kiểm soát dữ liệu của chính họ (User Data Control)</a:t>
            </a:r>
          </a:p>
          <a:p>
            <a:pPr marL="158750" indent="0">
              <a:buFontTx/>
              <a:buNone/>
            </a:pPr>
            <a:r>
              <a:rPr lang="vi-VN" dirty="0"/>
              <a:t>Người dùng phải có khả năng:</a:t>
            </a:r>
          </a:p>
          <a:p>
            <a:pPr marL="457200" lvl="1" indent="0">
              <a:buFontTx/>
              <a:buNone/>
            </a:pPr>
            <a:r>
              <a:rPr lang="vi-VN" b="1" dirty="0"/>
              <a:t>Xem</a:t>
            </a:r>
            <a:r>
              <a:rPr lang="vi-VN" dirty="0"/>
              <a:t> dữ liệu mà thiết bị thu thập.</a:t>
            </a:r>
          </a:p>
          <a:p>
            <a:pPr marL="457200" lvl="1" indent="0">
              <a:buFontTx/>
              <a:buNone/>
            </a:pPr>
            <a:r>
              <a:rPr lang="vi-VN" b="1" dirty="0"/>
              <a:t>Quản lý hoặc xóa</a:t>
            </a:r>
            <a:r>
              <a:rPr lang="vi-VN" dirty="0"/>
              <a:t> dữ liệu khi không còn sử dụng.</a:t>
            </a:r>
          </a:p>
          <a:p>
            <a:pPr marL="457200" lvl="1" indent="0">
              <a:buFontTx/>
              <a:buNone/>
            </a:pPr>
            <a:r>
              <a:rPr lang="vi-VN" b="1" dirty="0"/>
              <a:t>Từ chối hoặc rút lại quyền chia sẻ dữ liệu.</a:t>
            </a:r>
            <a:endParaRPr lang="vi-VN" dirty="0"/>
          </a:p>
          <a:p>
            <a:pPr marL="158750" indent="0">
              <a:buFontTx/>
              <a:buNone/>
            </a:pPr>
            <a:r>
              <a:rPr lang="vi-VN" dirty="0"/>
              <a:t>Giao diện người dùng cần minh bạch, cung cấp tùy chọn “Opt-in / Opt-out” rõ ràng.</a:t>
            </a:r>
          </a:p>
          <a:p>
            <a:pPr marL="158750" indent="0">
              <a:buFontTx/>
              <a:buNone/>
            </a:pPr>
            <a:r>
              <a:rPr lang="vi-VN" i="1" dirty="0"/>
              <a:t>Ví dụ:</a:t>
            </a:r>
            <a:r>
              <a:rPr lang="vi-VN" dirty="0"/>
              <a:t> Ứng dụng IoT cho phép người dùng tắt tính năng “theo dõi vị trí” bất cứ lúc nào.</a:t>
            </a:r>
          </a:p>
          <a:p>
            <a:pPr marL="158750" indent="0">
              <a:buFontTx/>
              <a:buNone/>
            </a:pPr>
            <a:endParaRPr lang="en-US" b="1" dirty="0"/>
          </a:p>
          <a:p>
            <a:pPr marL="158750" indent="0">
              <a:buFontTx/>
              <a:buNone/>
            </a:pPr>
            <a:r>
              <a:rPr lang="vi-VN" b="1" dirty="0"/>
              <a:t>4. Tại sao Privacy by Design quan trọng với IoT?</a:t>
            </a:r>
          </a:p>
          <a:p>
            <a:pPr marL="158750" indent="0">
              <a:buFontTx/>
              <a:buNone/>
            </a:pPr>
            <a:r>
              <a:rPr lang="vi-VN" dirty="0"/>
              <a:t>Lý do</a:t>
            </a:r>
            <a:r>
              <a:rPr lang="en-US" dirty="0"/>
              <a:t>					</a:t>
            </a:r>
            <a:r>
              <a:rPr lang="vi-VN" dirty="0"/>
              <a:t>Giải thích</a:t>
            </a:r>
            <a:endParaRPr lang="en-US" dirty="0"/>
          </a:p>
          <a:p>
            <a:pPr marL="158750" indent="0">
              <a:buFontTx/>
              <a:buNone/>
            </a:pPr>
            <a:r>
              <a:rPr lang="vi-VN" b="1" dirty="0"/>
              <a:t>IoT có quy mô lớn, khó kiểm soát</a:t>
            </a:r>
            <a:r>
              <a:rPr lang="en-US" b="1" dirty="0"/>
              <a:t>			</a:t>
            </a:r>
            <a:r>
              <a:rPr lang="vi-VN" dirty="0"/>
              <a:t>Hàng triệu thiết bị kết nối → dễ bị tấn công nếu không thiết kế an toàn từ đầu.</a:t>
            </a:r>
            <a:endParaRPr lang="en-US" dirty="0"/>
          </a:p>
          <a:p>
            <a:pPr marL="158750" indent="0">
              <a:buFontTx/>
              <a:buNone/>
            </a:pPr>
            <a:r>
              <a:rPr lang="vi-VN" b="1" dirty="0"/>
              <a:t>Dữ liệu IoT thường là dữ liệu cá nhân nhạy cảm</a:t>
            </a:r>
            <a:r>
              <a:rPr lang="en-US" b="1" dirty="0"/>
              <a:t>		</a:t>
            </a:r>
            <a:r>
              <a:rPr lang="vi-VN" dirty="0"/>
              <a:t>Ví dụ: dữ liệu y tế, vị trí, hình ảnh, âm thanh, hành vi sinh hoạt.</a:t>
            </a:r>
            <a:endParaRPr lang="en-US" dirty="0"/>
          </a:p>
          <a:p>
            <a:pPr marL="158750" indent="0">
              <a:buFontTx/>
              <a:buNone/>
            </a:pPr>
            <a:r>
              <a:rPr lang="vi-VN" b="1" dirty="0"/>
              <a:t>Chi phí khắc phục sau sự cố cao hơn nhiều so với phòng ngừa</a:t>
            </a:r>
            <a:r>
              <a:rPr lang="en-US" b="1" dirty="0"/>
              <a:t>	</a:t>
            </a:r>
            <a:r>
              <a:rPr lang="vi-VN" dirty="0"/>
              <a:t>Vá lỗi bảo mật sau khi triển khai có thể gây thiệt hại hàng triệu USD và mất uy tín.</a:t>
            </a:r>
            <a:endParaRPr lang="en-US" dirty="0"/>
          </a:p>
          <a:p>
            <a:pPr marL="158750" indent="0">
              <a:buFontTx/>
              <a:buNone/>
            </a:pPr>
            <a:r>
              <a:rPr lang="vi-VN" b="1" dirty="0"/>
              <a:t>Tuân thủ pháp lý (GDPR, NĐ 13/2023/NĐ-CP)</a:t>
            </a:r>
            <a:r>
              <a:rPr lang="en-US" b="1" dirty="0"/>
              <a:t>		</a:t>
            </a:r>
            <a:r>
              <a:rPr lang="vi-VN" dirty="0"/>
              <a:t>Privacy by Design là yêu cầu bắt buộc trong nhiều quy định quốc tế và Việt Nam.</a:t>
            </a:r>
          </a:p>
          <a:p>
            <a:pPr marL="158750" indent="0">
              <a:buFontTx/>
              <a:buNone/>
            </a:pPr>
            <a:endParaRPr lang="en-US" dirty="0"/>
          </a:p>
        </p:txBody>
      </p:sp>
    </p:spTree>
    <p:extLst>
      <p:ext uri="{BB962C8B-B14F-4D97-AF65-F5344CB8AC3E}">
        <p14:creationId xmlns:p14="http://schemas.microsoft.com/office/powerpoint/2010/main" val="14332873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en-US" b="1" dirty="0"/>
              <a:t>1. </a:t>
            </a:r>
            <a:r>
              <a:rPr lang="vi-VN" b="1" dirty="0"/>
              <a:t>Khái niệm “Data Minimization” (Giảm thiểu dữ liệu)</a:t>
            </a:r>
          </a:p>
          <a:p>
            <a:pPr marL="158750" indent="0">
              <a:buFontTx/>
              <a:buNone/>
            </a:pPr>
            <a:r>
              <a:rPr lang="vi-VN" b="1" dirty="0"/>
              <a:t>Data Minimization</a:t>
            </a:r>
            <a:r>
              <a:rPr lang="vi-VN" dirty="0"/>
              <a:t> là nguyên tắc quan trọng trong bảo vệ dữ liệu cá nhân và an toàn thông tin.</a:t>
            </a:r>
            <a:br>
              <a:rPr lang="vi-VN" dirty="0"/>
            </a:br>
            <a:r>
              <a:rPr lang="vi-VN" dirty="0"/>
              <a:t>Nó có nghĩa là:</a:t>
            </a:r>
          </a:p>
          <a:p>
            <a:pPr marL="158750" indent="0">
              <a:buFontTx/>
              <a:buNone/>
            </a:pPr>
            <a:r>
              <a:rPr lang="vi-VN" b="1" dirty="0"/>
              <a:t>“Thu thập ít – Rủi ro thấp”</a:t>
            </a:r>
            <a:br>
              <a:rPr lang="vi-VN" dirty="0"/>
            </a:br>
            <a:r>
              <a:rPr lang="vi-VN" dirty="0"/>
              <a:t>Chỉ thu thập, xử lý và lưu trữ </a:t>
            </a:r>
            <a:r>
              <a:rPr lang="vi-VN" b="1" dirty="0"/>
              <a:t>lượng dữ liệu tối thiểu cần thiết</a:t>
            </a:r>
            <a:r>
              <a:rPr lang="vi-VN" dirty="0"/>
              <a:t> để phục vụ mục đích nghiệp vụ hoặc kỹ thuật của hệ thống.</a:t>
            </a:r>
          </a:p>
          <a:p>
            <a:pPr marL="158750" indent="0">
              <a:buFontTx/>
              <a:buNone/>
            </a:pPr>
            <a:r>
              <a:rPr lang="vi-VN" dirty="0"/>
              <a:t>Điều này giúp:</a:t>
            </a:r>
          </a:p>
          <a:p>
            <a:pPr marL="158750" indent="0">
              <a:buFontTx/>
              <a:buNone/>
            </a:pPr>
            <a:r>
              <a:rPr lang="vi-VN" b="1" dirty="0"/>
              <a:t>Giảm nguy cơ rò rỉ thông tin cá nhân</a:t>
            </a:r>
            <a:r>
              <a:rPr lang="vi-VN" dirty="0"/>
              <a:t> nếu xảy ra tấn công mạng.</a:t>
            </a:r>
          </a:p>
          <a:p>
            <a:pPr marL="158750" indent="0">
              <a:buFontTx/>
              <a:buNone/>
            </a:pPr>
            <a:r>
              <a:rPr lang="vi-VN" b="1" dirty="0"/>
              <a:t>Giảm chi phí bảo mật và lưu trữ.</a:t>
            </a:r>
            <a:endParaRPr lang="vi-VN" dirty="0"/>
          </a:p>
          <a:p>
            <a:pPr marL="158750" indent="0">
              <a:buFontTx/>
              <a:buNone/>
            </a:pPr>
            <a:r>
              <a:rPr lang="vi-VN" b="1" dirty="0"/>
              <a:t>Tuân thủ các quy định pháp lý</a:t>
            </a:r>
            <a:r>
              <a:rPr lang="vi-VN" dirty="0"/>
              <a:t> như GDPR (EU) hay Nghị định 13/2023/NĐ-CP (Việt Nam).</a:t>
            </a:r>
          </a:p>
          <a:p>
            <a:pPr marL="158750" indent="0">
              <a:buFontTx/>
              <a:buNone/>
            </a:pPr>
            <a:endParaRPr lang="en-US" b="1" dirty="0"/>
          </a:p>
          <a:p>
            <a:pPr marL="158750" indent="0">
              <a:buFontTx/>
              <a:buNone/>
            </a:pPr>
            <a:r>
              <a:rPr lang="en-US" b="1" dirty="0"/>
              <a:t>2. </a:t>
            </a:r>
            <a:r>
              <a:rPr lang="vi-VN" b="1" dirty="0"/>
              <a:t>Mục tiêu của nguyên tắc này trong hệ thống IoT</a:t>
            </a:r>
          </a:p>
          <a:p>
            <a:pPr marL="158750" indent="0">
              <a:buFontTx/>
              <a:buNone/>
            </a:pPr>
            <a:r>
              <a:rPr lang="vi-VN" dirty="0"/>
              <a:t>Trong môi trường IoT, mỗi thiết bị đều có khả năng:</a:t>
            </a:r>
          </a:p>
          <a:p>
            <a:pPr marL="158750" indent="0">
              <a:buFontTx/>
              <a:buNone/>
            </a:pPr>
            <a:r>
              <a:rPr lang="vi-VN" dirty="0"/>
              <a:t>Thu thập dữ liệu liên tục (ví dụ: cảm biến, camera, thiết bị đeo tay).</a:t>
            </a:r>
          </a:p>
          <a:p>
            <a:pPr marL="158750" indent="0">
              <a:buFontTx/>
              <a:buNone/>
            </a:pPr>
            <a:r>
              <a:rPr lang="vi-VN" dirty="0"/>
              <a:t>Gửi dữ liệu về máy chủ hoặc nền tảng đám mây (cloud).</a:t>
            </a:r>
          </a:p>
          <a:p>
            <a:pPr marL="158750" indent="0">
              <a:buFontTx/>
              <a:buNone/>
            </a:pPr>
            <a:r>
              <a:rPr lang="vi-VN" dirty="0"/>
              <a:t>Nếu thu thập quá nhiều dữ liệu (như vị trí, giọng nói, hành vi người dùng) mà không thực sự cần thiết, hệ thống sẽ:</a:t>
            </a:r>
          </a:p>
          <a:p>
            <a:pPr marL="158750" indent="0">
              <a:buFontTx/>
              <a:buNone/>
            </a:pPr>
            <a:r>
              <a:rPr lang="vi-VN" b="1" dirty="0"/>
              <a:t>Tăng rủi ro xâm phạm quyền riêng tư.</a:t>
            </a:r>
            <a:endParaRPr lang="vi-VN" dirty="0"/>
          </a:p>
          <a:p>
            <a:pPr marL="158750" indent="0">
              <a:buFontTx/>
              <a:buNone/>
            </a:pPr>
            <a:r>
              <a:rPr lang="vi-VN" b="1" dirty="0"/>
              <a:t>Khó kiểm soát và bảo vệ toàn bộ dữ liệu.</a:t>
            </a:r>
            <a:endParaRPr lang="vi-VN" dirty="0"/>
          </a:p>
          <a:p>
            <a:pPr marL="158750" indent="0">
              <a:buFontTx/>
              <a:buNone/>
            </a:pPr>
            <a:r>
              <a:rPr lang="vi-VN" b="1" dirty="0"/>
              <a:t>Gây lo ngại cho người dùng và vi phạm quy định pháp lý.</a:t>
            </a:r>
            <a:endParaRPr lang="vi-VN" dirty="0"/>
          </a:p>
          <a:p>
            <a:pPr marL="158750" indent="0">
              <a:buFontTx/>
              <a:buNone/>
            </a:pPr>
            <a:r>
              <a:rPr lang="vi-VN" dirty="0"/>
              <a:t>Do đó, </a:t>
            </a:r>
            <a:r>
              <a:rPr lang="vi-VN" b="1" dirty="0"/>
              <a:t>Data Minimization</a:t>
            </a:r>
            <a:r>
              <a:rPr lang="vi-VN" dirty="0"/>
              <a:t> đảm bảo rằng:</a:t>
            </a:r>
          </a:p>
          <a:p>
            <a:pPr marL="158750" indent="0">
              <a:buFontTx/>
              <a:buNone/>
            </a:pPr>
            <a:r>
              <a:rPr lang="vi-VN" dirty="0"/>
              <a:t>Hệ thống IoT chỉ thu thập </a:t>
            </a:r>
            <a:r>
              <a:rPr lang="vi-VN" b="1" dirty="0"/>
              <a:t>những gì cần cho chức năng của thiết bị</a:t>
            </a:r>
            <a:r>
              <a:rPr lang="vi-VN" dirty="0"/>
              <a:t>, không hơn.</a:t>
            </a:r>
          </a:p>
          <a:p>
            <a:pPr marL="158750" indent="0">
              <a:buFontTx/>
              <a:buNone/>
            </a:pPr>
            <a:endParaRPr lang="en-US" b="1" dirty="0"/>
          </a:p>
          <a:p>
            <a:pPr marL="158750" indent="0">
              <a:buFontTx/>
              <a:buNone/>
            </a:pPr>
            <a:r>
              <a:rPr lang="vi-VN" b="1" dirty="0"/>
              <a:t>3. Các sai phạm cần tránh</a:t>
            </a:r>
          </a:p>
          <a:p>
            <a:pPr marL="158750" indent="0">
              <a:buFontTx/>
              <a:buNone/>
            </a:pPr>
            <a:r>
              <a:rPr lang="en-US" b="1" dirty="0"/>
              <a:t>(1) </a:t>
            </a:r>
            <a:r>
              <a:rPr lang="vi-VN" b="1" dirty="0"/>
              <a:t>Lưu dữ liệu lâu hơn cần thiết</a:t>
            </a:r>
          </a:p>
          <a:p>
            <a:pPr marL="158750" indent="0">
              <a:buFontTx/>
              <a:buNone/>
            </a:pPr>
            <a:r>
              <a:rPr lang="vi-VN" dirty="0"/>
              <a:t>Việc lưu trữ dữ liệu trong thời gian dài mà không có lý do hợp pháp làm tăng nguy cơ:</a:t>
            </a:r>
          </a:p>
          <a:p>
            <a:pPr marL="457200" lvl="1" indent="0">
              <a:buFontTx/>
              <a:buNone/>
            </a:pPr>
            <a:r>
              <a:rPr lang="vi-VN" dirty="0"/>
              <a:t>Bị hacker tấn công hoặc đánh cắp.</a:t>
            </a:r>
          </a:p>
          <a:p>
            <a:pPr marL="457200" lvl="1" indent="0">
              <a:buFontTx/>
              <a:buNone/>
            </a:pPr>
            <a:r>
              <a:rPr lang="vi-VN" dirty="0"/>
              <a:t>Vi phạm quy định bảo vệ dữ liệu cá nhân.</a:t>
            </a:r>
          </a:p>
          <a:p>
            <a:pPr marL="158750" indent="0">
              <a:buFontTx/>
              <a:buNone/>
            </a:pPr>
            <a:r>
              <a:rPr lang="vi-VN" i="1" dirty="0"/>
              <a:t>Ví dụ:</a:t>
            </a:r>
            <a:br>
              <a:rPr lang="vi-VN" dirty="0"/>
            </a:br>
            <a:r>
              <a:rPr lang="vi-VN" dirty="0"/>
              <a:t>Thiết bị camera IoT chỉ cần lưu video trong </a:t>
            </a:r>
            <a:r>
              <a:rPr lang="vi-VN" b="1" dirty="0"/>
              <a:t>7 ngày gần nhất</a:t>
            </a:r>
            <a:r>
              <a:rPr lang="vi-VN" dirty="0"/>
              <a:t>, không nên lưu cả năm nếu không có mục đích rõ ràng.</a:t>
            </a:r>
          </a:p>
          <a:p>
            <a:pPr marL="158750" indent="0">
              <a:buFontTx/>
              <a:buNone/>
            </a:pPr>
            <a:r>
              <a:rPr lang="en-US" b="1" dirty="0"/>
              <a:t>(2) </a:t>
            </a:r>
            <a:r>
              <a:rPr lang="vi-VN" b="1" dirty="0"/>
              <a:t>Gộp dữ liệu từ nhiều nguồn mà không có sự đồng ý</a:t>
            </a:r>
          </a:p>
          <a:p>
            <a:pPr marL="158750" indent="0">
              <a:buFontTx/>
              <a:buNone/>
            </a:pPr>
            <a:r>
              <a:rPr lang="vi-VN" dirty="0"/>
              <a:t>Kết hợp thông tin từ nhiều thiết bị hoặc hệ thống khác nhau (ví dụ: camera, GPS, cảm biến sức khỏe) </a:t>
            </a:r>
            <a:r>
              <a:rPr lang="vi-VN" b="1" dirty="0"/>
              <a:t>có thể tiết lộ hành vi cá nhân</a:t>
            </a:r>
            <a:r>
              <a:rPr lang="vi-VN" dirty="0"/>
              <a:t> nếu không được người dùng cho phép.</a:t>
            </a:r>
          </a:p>
          <a:p>
            <a:pPr marL="158750" indent="0">
              <a:buFontTx/>
              <a:buNone/>
            </a:pPr>
            <a:r>
              <a:rPr lang="vi-VN" i="1" dirty="0"/>
              <a:t>Ví dụ:</a:t>
            </a:r>
            <a:br>
              <a:rPr lang="vi-VN" dirty="0"/>
            </a:br>
            <a:r>
              <a:rPr lang="vi-VN" dirty="0"/>
              <a:t>Một công ty không nên tự động ghép dữ liệu từ </a:t>
            </a:r>
            <a:r>
              <a:rPr lang="vi-VN" b="1" dirty="0"/>
              <a:t>thiết bị theo dõi giấc ngủ</a:t>
            </a:r>
            <a:r>
              <a:rPr lang="vi-VN" dirty="0"/>
              <a:t> với </a:t>
            </a:r>
            <a:r>
              <a:rPr lang="vi-VN" b="1" dirty="0"/>
              <a:t>vị trí GPS từ điện thoại</a:t>
            </a:r>
            <a:r>
              <a:rPr lang="vi-VN" dirty="0"/>
              <a:t>, nếu người dùng chưa đồng ý — vì điều đó có thể tiết lộ thời gian sinh hoạt riêng tư.</a:t>
            </a:r>
          </a:p>
          <a:p>
            <a:pPr marL="158750" indent="0">
              <a:buFontTx/>
              <a:buNone/>
            </a:pPr>
            <a:endParaRPr lang="en-US" b="1" dirty="0"/>
          </a:p>
          <a:p>
            <a:pPr marL="158750" indent="0">
              <a:buFontTx/>
              <a:buNone/>
            </a:pPr>
            <a:r>
              <a:rPr lang="en-US" b="1" dirty="0"/>
              <a:t>4. </a:t>
            </a:r>
            <a:r>
              <a:rPr lang="vi-VN" b="1" dirty="0"/>
              <a:t>Ví dụ minh họa</a:t>
            </a:r>
          </a:p>
          <a:p>
            <a:pPr marL="158750" indent="0">
              <a:buFontTx/>
              <a:buNone/>
            </a:pPr>
            <a:r>
              <a:rPr lang="vi-VN" dirty="0"/>
              <a:t>“Thiết bị IoT theo dõi thời gian ngủ không cần lưu dữ liệu GPS của người dùng.”</a:t>
            </a:r>
          </a:p>
          <a:p>
            <a:pPr marL="615950" lvl="1" indent="0">
              <a:buFontTx/>
              <a:buNone/>
            </a:pPr>
            <a:r>
              <a:rPr lang="en-US" dirty="0"/>
              <a:t>- </a:t>
            </a:r>
            <a:r>
              <a:rPr lang="vi-VN" dirty="0"/>
              <a:t>Giải thích:</a:t>
            </a:r>
            <a:br>
              <a:rPr lang="vi-VN" dirty="0"/>
            </a:br>
            <a:r>
              <a:rPr lang="vi-VN" dirty="0"/>
              <a:t>Thiết bị này chỉ cần đo:</a:t>
            </a:r>
          </a:p>
          <a:p>
            <a:pPr marL="615950" lvl="1" indent="0">
              <a:buFontTx/>
              <a:buNone/>
            </a:pPr>
            <a:r>
              <a:rPr lang="vi-VN" dirty="0"/>
              <a:t>Nhịp tim,</a:t>
            </a:r>
          </a:p>
          <a:p>
            <a:pPr marL="615950" lvl="1" indent="0">
              <a:buFontTx/>
              <a:buNone/>
            </a:pPr>
            <a:r>
              <a:rPr lang="vi-VN" dirty="0"/>
              <a:t>Cử động cơ thể,</a:t>
            </a:r>
          </a:p>
          <a:p>
            <a:pPr marL="615950" lvl="1" indent="0">
              <a:buFontTx/>
              <a:buNone/>
            </a:pPr>
            <a:r>
              <a:rPr lang="vi-VN" dirty="0"/>
              <a:t>Thời gian ngủ/ngủ sâu,</a:t>
            </a:r>
          </a:p>
          <a:p>
            <a:pPr marL="615950" lvl="1" indent="0">
              <a:buFontTx/>
              <a:buNone/>
            </a:pPr>
            <a:r>
              <a:rPr lang="vi-VN" dirty="0"/>
              <a:t>… để phân tích chất lượng giấc ngủ.</a:t>
            </a:r>
            <a:br>
              <a:rPr lang="vi-VN" dirty="0"/>
            </a:br>
            <a:r>
              <a:rPr lang="vi-VN" dirty="0"/>
              <a:t>Dữ liệu vị trí GPS </a:t>
            </a:r>
            <a:r>
              <a:rPr lang="vi-VN" b="1" dirty="0"/>
              <a:t>không liên quan trực tiếp</a:t>
            </a:r>
            <a:r>
              <a:rPr lang="vi-VN" dirty="0"/>
              <a:t> đến mục tiêu đó, nên việc thu thập sẽ:</a:t>
            </a:r>
          </a:p>
          <a:p>
            <a:pPr marL="615950" lvl="1" indent="0">
              <a:buFontTx/>
              <a:buNone/>
            </a:pPr>
            <a:r>
              <a:rPr lang="vi-VN" b="1" dirty="0"/>
              <a:t>Tăng rủi ro bảo mật</a:t>
            </a:r>
            <a:r>
              <a:rPr lang="vi-VN" dirty="0"/>
              <a:t>,</a:t>
            </a:r>
          </a:p>
          <a:p>
            <a:pPr marL="615950" lvl="1" indent="0">
              <a:buFontTx/>
              <a:buNone/>
            </a:pPr>
            <a:r>
              <a:rPr lang="vi-VN" b="1" dirty="0"/>
              <a:t>Xâm phạm quyền riêng tư</a:t>
            </a:r>
            <a:r>
              <a:rPr lang="vi-VN" dirty="0"/>
              <a:t>,</a:t>
            </a:r>
          </a:p>
          <a:p>
            <a:pPr marL="615950" lvl="1" indent="0">
              <a:buFontTx/>
              <a:buNone/>
            </a:pPr>
            <a:r>
              <a:rPr lang="vi-VN" b="1" dirty="0"/>
              <a:t>Không mang lại giá trị phân tích bổ sung.</a:t>
            </a:r>
            <a:endParaRPr lang="vi-VN" dirty="0"/>
          </a:p>
          <a:p>
            <a:pPr marL="158750" indent="0">
              <a:buFontTx/>
              <a:buNone/>
            </a:pPr>
            <a:endParaRPr lang="en-US" b="1" dirty="0"/>
          </a:p>
          <a:p>
            <a:pPr marL="158750" indent="0">
              <a:buFontTx/>
              <a:buNone/>
            </a:pPr>
            <a:r>
              <a:rPr lang="en-US" b="1" dirty="0"/>
              <a:t>5. </a:t>
            </a:r>
            <a:r>
              <a:rPr lang="vi-VN" b="1" dirty="0"/>
              <a:t>Lợi ích của Data Minimization trong thiết kế IoT an toàn</a:t>
            </a:r>
          </a:p>
          <a:p>
            <a:pPr marL="158750" indent="0">
              <a:buFontTx/>
              <a:buNone/>
            </a:pPr>
            <a:r>
              <a:rPr lang="vi-VN" dirty="0"/>
              <a:t>Lợi ích</a:t>
            </a:r>
            <a:r>
              <a:rPr lang="en-US" dirty="0"/>
              <a:t>			</a:t>
            </a:r>
            <a:r>
              <a:rPr lang="vi-VN" dirty="0"/>
              <a:t>Giải thích</a:t>
            </a:r>
            <a:endParaRPr lang="en-US" dirty="0"/>
          </a:p>
          <a:p>
            <a:pPr marL="158750" indent="0">
              <a:buFontTx/>
              <a:buNone/>
            </a:pPr>
            <a:r>
              <a:rPr lang="vi-VN" b="1" dirty="0"/>
              <a:t>Giảm rủi ro rò rỉ dữ liệu</a:t>
            </a:r>
            <a:r>
              <a:rPr lang="en-US" b="1" dirty="0"/>
              <a:t>		</a:t>
            </a:r>
            <a:r>
              <a:rPr lang="vi-VN" dirty="0"/>
              <a:t>Ít dữ liệu → phạm vi tấn công nhỏ hơn</a:t>
            </a:r>
            <a:endParaRPr lang="en-US" dirty="0"/>
          </a:p>
          <a:p>
            <a:pPr marL="158750" indent="0">
              <a:buFontTx/>
              <a:buNone/>
            </a:pPr>
            <a:r>
              <a:rPr lang="vi-VN" b="1" dirty="0"/>
              <a:t>Tiết kiệm tài nguyên lưu trữ</a:t>
            </a:r>
            <a:r>
              <a:rPr lang="en-US" b="1" dirty="0"/>
              <a:t>	</a:t>
            </a:r>
            <a:r>
              <a:rPr lang="vi-VN" dirty="0"/>
              <a:t>Giảm tải cho cloud và thiết bị biên</a:t>
            </a:r>
            <a:endParaRPr lang="en-US" dirty="0"/>
          </a:p>
          <a:p>
            <a:pPr marL="158750" indent="0">
              <a:buFontTx/>
              <a:buNone/>
            </a:pPr>
            <a:r>
              <a:rPr lang="vi-VN" b="1" dirty="0"/>
              <a:t>Tăng tính tuân thủ pháp lý</a:t>
            </a:r>
            <a:r>
              <a:rPr lang="en-US" b="1" dirty="0"/>
              <a:t>	</a:t>
            </a:r>
            <a:r>
              <a:rPr lang="vi-VN" dirty="0"/>
              <a:t>Phù hợp với GDPR và Nghị định 13/2023/NĐ-CP</a:t>
            </a:r>
            <a:endParaRPr lang="en-US" dirty="0"/>
          </a:p>
          <a:p>
            <a:pPr marL="158750" indent="0">
              <a:buFontTx/>
              <a:buNone/>
            </a:pPr>
            <a:r>
              <a:rPr lang="vi-VN" b="1" dirty="0"/>
              <a:t>Tăng niềm tin người dùng</a:t>
            </a:r>
            <a:r>
              <a:rPr lang="en-US" b="1" dirty="0"/>
              <a:t>	</a:t>
            </a:r>
            <a:r>
              <a:rPr lang="vi-VN" dirty="0"/>
              <a:t>Người dùng cảm thấy dữ liệu được tôn trọng và bảo vệ</a:t>
            </a:r>
          </a:p>
          <a:p>
            <a:pPr marL="158750" indent="0">
              <a:buFontTx/>
              <a:buNone/>
            </a:pPr>
            <a:endParaRPr lang="en-US" b="1" dirty="0"/>
          </a:p>
          <a:p>
            <a:pPr marL="158750" indent="0">
              <a:buFontTx/>
              <a:buNone/>
            </a:pPr>
            <a:r>
              <a:rPr lang="en-US" b="1" dirty="0"/>
              <a:t>6. </a:t>
            </a:r>
            <a:r>
              <a:rPr lang="vi-VN" b="1" dirty="0"/>
              <a:t>Kết luận</a:t>
            </a:r>
          </a:p>
          <a:p>
            <a:pPr marL="158750" indent="0">
              <a:buFontTx/>
              <a:buNone/>
            </a:pPr>
            <a:r>
              <a:rPr lang="vi-VN" dirty="0"/>
              <a:t>“Data Minimization” là </a:t>
            </a:r>
            <a:r>
              <a:rPr lang="vi-VN" b="1" dirty="0"/>
              <a:t>nguyên tắc vàng</a:t>
            </a:r>
            <a:r>
              <a:rPr lang="vi-VN" dirty="0"/>
              <a:t> trong thiết kế hệ thống IoT hiện đại.</a:t>
            </a:r>
          </a:p>
          <a:p>
            <a:pPr marL="158750" indent="0">
              <a:buFontTx/>
              <a:buNone/>
            </a:pPr>
            <a:r>
              <a:rPr lang="vi-VN" dirty="0"/>
              <a:t>Thay vì “thu thập càng nhiều càng tốt”, nhà thiết kế nên:</a:t>
            </a:r>
          </a:p>
          <a:p>
            <a:pPr marL="158750" indent="0">
              <a:buFontTx/>
              <a:buNone/>
            </a:pPr>
            <a:r>
              <a:rPr lang="vi-VN" b="1" dirty="0"/>
              <a:t>Xác định rõ mục tiêu nghiệp vụ.</a:t>
            </a:r>
            <a:endParaRPr lang="vi-VN" dirty="0"/>
          </a:p>
          <a:p>
            <a:pPr marL="158750" indent="0">
              <a:buFontTx/>
              <a:buNone/>
            </a:pPr>
            <a:r>
              <a:rPr lang="vi-VN" b="1" dirty="0"/>
              <a:t>Giới hạn dữ liệu ở mức tối thiểu cần thiết.</a:t>
            </a:r>
            <a:endParaRPr lang="vi-VN" dirty="0"/>
          </a:p>
          <a:p>
            <a:pPr marL="158750" indent="0">
              <a:buFontTx/>
              <a:buNone/>
            </a:pPr>
            <a:r>
              <a:rPr lang="vi-VN" b="1" dirty="0"/>
              <a:t>Thiết kế cơ chế xóa, ẩn danh hoặc mã hóa dữ liệu tự động.</a:t>
            </a:r>
            <a:endParaRPr lang="vi-VN" dirty="0"/>
          </a:p>
          <a:p>
            <a:pPr marL="158750" indent="0">
              <a:buFontTx/>
              <a:buNone/>
            </a:pPr>
            <a:r>
              <a:rPr lang="vi-VN" dirty="0"/>
              <a:t>Như vậy, hệ thống IoT vừa đảm bảo </a:t>
            </a:r>
            <a:r>
              <a:rPr lang="vi-VN" b="1" dirty="0"/>
              <a:t>hiệu quả hoạt động</a:t>
            </a:r>
            <a:r>
              <a:rPr lang="vi-VN" dirty="0"/>
              <a:t>, vừa </a:t>
            </a:r>
            <a:r>
              <a:rPr lang="vi-VN" b="1" dirty="0"/>
              <a:t>an toàn và tuân thủ pháp lý</a:t>
            </a:r>
            <a:r>
              <a:rPr lang="vi-VN" dirty="0"/>
              <a:t> trong kỷ nguyên kết nối vạn vật.</a:t>
            </a:r>
          </a:p>
          <a:p>
            <a:pPr marL="158750" indent="0">
              <a:buFontTx/>
              <a:buNone/>
            </a:pPr>
            <a:endParaRPr lang="en-US" dirty="0"/>
          </a:p>
        </p:txBody>
      </p:sp>
    </p:spTree>
    <p:extLst>
      <p:ext uri="{BB962C8B-B14F-4D97-AF65-F5344CB8AC3E}">
        <p14:creationId xmlns:p14="http://schemas.microsoft.com/office/powerpoint/2010/main" val="11807531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Tổng quan</a:t>
            </a:r>
          </a:p>
          <a:p>
            <a:pPr marL="158750" indent="0">
              <a:buFontTx/>
              <a:buNone/>
            </a:pPr>
            <a:r>
              <a:rPr lang="vi-VN" dirty="0"/>
              <a:t>Trong hệ sinh thái </a:t>
            </a:r>
            <a:r>
              <a:rPr lang="vi-VN" b="1" dirty="0"/>
              <a:t>Internet of Things (IoT)</a:t>
            </a:r>
            <a:r>
              <a:rPr lang="vi-VN" dirty="0"/>
              <a:t>, hàng tỷ thiết bị thông minh (từ đồng hồ đeo tay, cảm biến nhà thông minh, camera giám sát, đến xe tự lái) liên tục thu thập, xử lý và chia sẻ dữ liệu.</a:t>
            </a:r>
            <a:br>
              <a:rPr lang="vi-VN" dirty="0"/>
            </a:br>
            <a:r>
              <a:rPr lang="vi-VN" dirty="0"/>
              <a:t>Tuy nhiên, việc bảo vệ </a:t>
            </a:r>
            <a:r>
              <a:rPr lang="vi-VN" b="1" dirty="0"/>
              <a:t>an toàn thông tin và quyền riêng tư cá nhân</a:t>
            </a:r>
            <a:r>
              <a:rPr lang="vi-VN" dirty="0"/>
              <a:t> trong môi trường phức tạp và phi tập trung này </a:t>
            </a:r>
            <a:r>
              <a:rPr lang="vi-VN" b="1" dirty="0"/>
              <a:t>đối mặt với nhiều thách thức thực tế</a:t>
            </a:r>
            <a:r>
              <a:rPr lang="vi-VN" dirty="0"/>
              <a:t>.</a:t>
            </a:r>
          </a:p>
          <a:p>
            <a:pPr marL="158750" indent="0">
              <a:buFontTx/>
              <a:buNone/>
            </a:pPr>
            <a:r>
              <a:rPr lang="vi-VN" dirty="0"/>
              <a:t>Các thách thức này không chỉ đến từ </a:t>
            </a:r>
            <a:r>
              <a:rPr lang="vi-VN" b="1" dirty="0"/>
              <a:t>yếu tố kỹ thuật</a:t>
            </a:r>
            <a:r>
              <a:rPr lang="vi-VN" dirty="0"/>
              <a:t>, mà còn từ </a:t>
            </a:r>
            <a:r>
              <a:rPr lang="vi-VN" b="1" dirty="0"/>
              <a:t>nhận thức của người dùng</a:t>
            </a:r>
            <a:r>
              <a:rPr lang="vi-VN" dirty="0"/>
              <a:t> và </a:t>
            </a:r>
            <a:r>
              <a:rPr lang="vi-VN" b="1" dirty="0"/>
              <a:t>sự thiếu đồng bộ trong tiêu chuẩn an ninh toàn cầu</a:t>
            </a:r>
            <a:r>
              <a:rPr lang="vi-VN" dirty="0"/>
              <a:t>.</a:t>
            </a:r>
          </a:p>
          <a:p>
            <a:pPr marL="158750" indent="0">
              <a:buFontTx/>
              <a:buNone/>
            </a:pPr>
            <a:endParaRPr lang="en-US" b="1" dirty="0"/>
          </a:p>
          <a:p>
            <a:pPr marL="158750" indent="0">
              <a:buFontTx/>
              <a:buNone/>
            </a:pPr>
            <a:r>
              <a:rPr lang="en-US" b="1" dirty="0"/>
              <a:t>2. </a:t>
            </a:r>
            <a:r>
              <a:rPr lang="vi-VN" b="1" dirty="0"/>
              <a:t>Khối lượng dữ liệu khổng lồ → Khó quản lý và giám sát toàn diện</a:t>
            </a:r>
          </a:p>
          <a:p>
            <a:pPr marL="158750" indent="0">
              <a:buFontTx/>
              <a:buNone/>
            </a:pPr>
            <a:r>
              <a:rPr lang="vi-VN" dirty="0"/>
              <a:t>Các thiết bị IoT tạo ra </a:t>
            </a:r>
            <a:r>
              <a:rPr lang="vi-VN" b="1" dirty="0"/>
              <a:t>lượng dữ liệu khổng lồ (Big Data)</a:t>
            </a:r>
            <a:r>
              <a:rPr lang="vi-VN" dirty="0"/>
              <a:t> mỗi ngày:</a:t>
            </a:r>
          </a:p>
          <a:p>
            <a:pPr marL="158750" indent="0">
              <a:buFontTx/>
              <a:buNone/>
            </a:pPr>
            <a:r>
              <a:rPr lang="vi-VN" dirty="0"/>
              <a:t>Cảm biến thu thập liên tục thông tin nhiệt độ, vị trí, hình ảnh, giọng nói, v.v.</a:t>
            </a:r>
          </a:p>
          <a:p>
            <a:pPr marL="158750" indent="0">
              <a:buFontTx/>
              <a:buNone/>
            </a:pPr>
            <a:r>
              <a:rPr lang="vi-VN" dirty="0"/>
              <a:t>Hệ thống lưu trữ phân tán ở nhiều khu vực, trên nhiều nền tảng đám mây khác nhau.</a:t>
            </a:r>
          </a:p>
          <a:p>
            <a:pPr marL="158750" indent="0">
              <a:buFontTx/>
              <a:buNone/>
            </a:pPr>
            <a:r>
              <a:rPr lang="en-US" dirty="0"/>
              <a:t>=&gt;</a:t>
            </a:r>
            <a:r>
              <a:rPr lang="vi-VN" dirty="0"/>
              <a:t> </a:t>
            </a:r>
            <a:r>
              <a:rPr lang="vi-VN" b="1" dirty="0"/>
              <a:t>Hệ quả:</a:t>
            </a:r>
            <a:endParaRPr lang="vi-VN" dirty="0"/>
          </a:p>
          <a:p>
            <a:pPr marL="158750" indent="0">
              <a:buFontTx/>
              <a:buNone/>
            </a:pPr>
            <a:r>
              <a:rPr lang="vi-VN" dirty="0"/>
              <a:t>Rất khó theo dõi toàn bộ luồng dữ liệu — dữ liệu có thể bị </a:t>
            </a:r>
            <a:r>
              <a:rPr lang="vi-VN" b="1" dirty="0"/>
              <a:t>rò rỉ, nhân bản, hoặc truyền sai nơi.</a:t>
            </a:r>
            <a:endParaRPr lang="vi-VN" dirty="0"/>
          </a:p>
          <a:p>
            <a:pPr marL="158750" indent="0">
              <a:buFontTx/>
              <a:buNone/>
            </a:pPr>
            <a:r>
              <a:rPr lang="vi-VN" dirty="0"/>
              <a:t>Việc </a:t>
            </a:r>
            <a:r>
              <a:rPr lang="vi-VN" b="1" dirty="0"/>
              <a:t>xác định trách nhiệm</a:t>
            </a:r>
            <a:r>
              <a:rPr lang="vi-VN" dirty="0"/>
              <a:t> (ai đang nắm, xử lý, chia sẻ dữ liệu) trở nên mơ hồ.</a:t>
            </a:r>
          </a:p>
          <a:p>
            <a:pPr marL="158750" indent="0">
              <a:buFontTx/>
              <a:buNone/>
            </a:pPr>
            <a:r>
              <a:rPr lang="vi-VN" i="1" dirty="0"/>
              <a:t>Ví dụ:</a:t>
            </a:r>
            <a:br>
              <a:rPr lang="vi-VN" dirty="0"/>
            </a:br>
            <a:r>
              <a:rPr lang="vi-VN" dirty="0"/>
              <a:t>Một hệ thống camera an ninh thông minh lưu video cả ở máy chủ trong nước và dịch vụ cloud nước ngoài — việc kiểm soát quyền truy cập và giám sát truy vết dữ liệu rất phức tạp.</a:t>
            </a:r>
          </a:p>
          <a:p>
            <a:pPr marL="158750" indent="0">
              <a:buFontTx/>
              <a:buNone/>
            </a:pPr>
            <a:endParaRPr lang="en-US" b="1" dirty="0"/>
          </a:p>
          <a:p>
            <a:pPr marL="158750" indent="0">
              <a:buFontTx/>
              <a:buNone/>
            </a:pPr>
            <a:r>
              <a:rPr lang="en-US" b="1" dirty="0"/>
              <a:t>3. </a:t>
            </a:r>
            <a:r>
              <a:rPr lang="vi-VN" b="1" dirty="0"/>
              <a:t>Đa nhà sản xuất → Tiêu chuẩn bảo mật không đồng nhất</a:t>
            </a:r>
          </a:p>
          <a:p>
            <a:pPr marL="158750" indent="0">
              <a:buFontTx/>
              <a:buNone/>
            </a:pPr>
            <a:r>
              <a:rPr lang="vi-VN" dirty="0"/>
              <a:t>Mỗi nhà sản xuất thiết bị IoT có:</a:t>
            </a:r>
          </a:p>
          <a:p>
            <a:pPr marL="158750" indent="0">
              <a:buFontTx/>
              <a:buNone/>
            </a:pPr>
            <a:r>
              <a:rPr lang="vi-VN" b="1" dirty="0"/>
              <a:t>Hệ điều hành riêng,</a:t>
            </a:r>
            <a:endParaRPr lang="vi-VN" dirty="0"/>
          </a:p>
          <a:p>
            <a:pPr marL="158750" indent="0">
              <a:buFontTx/>
              <a:buNone/>
            </a:pPr>
            <a:r>
              <a:rPr lang="vi-VN" b="1" dirty="0"/>
              <a:t>Cách mã hóa và giao thức truyền dữ liệu riêng,</a:t>
            </a:r>
            <a:endParaRPr lang="vi-VN" dirty="0"/>
          </a:p>
          <a:p>
            <a:pPr marL="158750" indent="0">
              <a:buFontTx/>
              <a:buNone/>
            </a:pPr>
            <a:r>
              <a:rPr lang="vi-VN" b="1" dirty="0"/>
              <a:t>Chính sách cập nhật khác nhau.</a:t>
            </a:r>
            <a:endParaRPr lang="vi-VN" dirty="0"/>
          </a:p>
          <a:p>
            <a:pPr marL="158750" indent="0">
              <a:buFontTx/>
              <a:buNone/>
            </a:pPr>
            <a:r>
              <a:rPr lang="en-US" dirty="0"/>
              <a:t>=&gt;</a:t>
            </a:r>
            <a:r>
              <a:rPr lang="vi-VN" dirty="0"/>
              <a:t> </a:t>
            </a:r>
            <a:r>
              <a:rPr lang="vi-VN" b="1" dirty="0"/>
              <a:t>Hệ quả:</a:t>
            </a:r>
            <a:endParaRPr lang="vi-VN" dirty="0"/>
          </a:p>
          <a:p>
            <a:pPr marL="158750" indent="0">
              <a:buFontTx/>
              <a:buNone/>
            </a:pPr>
            <a:r>
              <a:rPr lang="vi-VN" dirty="0"/>
              <a:t>Không có </a:t>
            </a:r>
            <a:r>
              <a:rPr lang="vi-VN" b="1" dirty="0"/>
              <a:t>chuẩn bảo mật chung</a:t>
            </a:r>
            <a:r>
              <a:rPr lang="vi-VN" dirty="0"/>
              <a:t> giữa các hãng → khó bảo đảm tính tương thích và an toàn toàn hệ thống.</a:t>
            </a:r>
          </a:p>
          <a:p>
            <a:pPr marL="158750" indent="0">
              <a:buFontTx/>
              <a:buNone/>
            </a:pPr>
            <a:r>
              <a:rPr lang="vi-VN" dirty="0"/>
              <a:t>Một thiết bị yếu kém có thể trở thành </a:t>
            </a:r>
            <a:r>
              <a:rPr lang="vi-VN" b="1" dirty="0"/>
              <a:t>“điểm yếu bảo mật” (vulnerability point)</a:t>
            </a:r>
            <a:r>
              <a:rPr lang="vi-VN" dirty="0"/>
              <a:t> khiến cả mạng IoT bị tấn công dây chuyền.</a:t>
            </a:r>
          </a:p>
          <a:p>
            <a:pPr marL="158750" indent="0">
              <a:buFontTx/>
              <a:buNone/>
            </a:pPr>
            <a:r>
              <a:rPr lang="vi-VN" i="1" dirty="0"/>
              <a:t>Ví dụ:</a:t>
            </a:r>
            <a:br>
              <a:rPr lang="vi-VN" dirty="0"/>
            </a:br>
            <a:r>
              <a:rPr lang="vi-VN" dirty="0"/>
              <a:t>Trong một ngôi nhà thông minh, nếu </a:t>
            </a:r>
            <a:r>
              <a:rPr lang="vi-VN" b="1" dirty="0"/>
              <a:t>bóng đèn Wi-Fi giá rẻ</a:t>
            </a:r>
            <a:r>
              <a:rPr lang="vi-VN" dirty="0"/>
              <a:t> bị hacker chiếm quyền điều khiển, chúng có thể lợi dụng để tấn công </a:t>
            </a:r>
            <a:r>
              <a:rPr lang="vi-VN" b="1" dirty="0"/>
              <a:t>router</a:t>
            </a:r>
            <a:r>
              <a:rPr lang="vi-VN" dirty="0"/>
              <a:t> hoặc </a:t>
            </a:r>
            <a:r>
              <a:rPr lang="vi-VN" b="1" dirty="0"/>
              <a:t>camera giám sát</a:t>
            </a:r>
            <a:r>
              <a:rPr lang="vi-VN" dirty="0"/>
              <a:t> cùng mạng nội bộ.</a:t>
            </a:r>
          </a:p>
          <a:p>
            <a:pPr marL="158750" indent="0">
              <a:buFontTx/>
              <a:buNone/>
            </a:pPr>
            <a:endParaRPr lang="en-US" b="1" dirty="0"/>
          </a:p>
          <a:p>
            <a:pPr marL="158750" indent="0">
              <a:buFontTx/>
              <a:buNone/>
            </a:pPr>
            <a:r>
              <a:rPr lang="en-US" b="1" dirty="0"/>
              <a:t>4. </a:t>
            </a:r>
            <a:r>
              <a:rPr lang="vi-VN" b="1" dirty="0"/>
              <a:t>Thiết bị giá rẻ thường không có cập nhật bảo mật</a:t>
            </a:r>
          </a:p>
          <a:p>
            <a:pPr marL="158750" indent="0">
              <a:buFontTx/>
              <a:buNone/>
            </a:pPr>
            <a:r>
              <a:rPr lang="vi-VN" dirty="0"/>
              <a:t>Các thiết bị IoT giá rẻ (đặc biệt từ các nhà sản xuất nhỏ hoặc vô danh) thường:</a:t>
            </a:r>
          </a:p>
          <a:p>
            <a:pPr marL="158750" indent="0">
              <a:buFontTx/>
              <a:buNone/>
            </a:pPr>
            <a:r>
              <a:rPr lang="vi-VN" dirty="0"/>
              <a:t>Không được </a:t>
            </a:r>
            <a:r>
              <a:rPr lang="vi-VN" b="1" dirty="0"/>
              <a:t>vá lỗi bảo mật (firmware update)</a:t>
            </a:r>
            <a:r>
              <a:rPr lang="vi-VN" dirty="0"/>
              <a:t> thường xuyên.</a:t>
            </a:r>
          </a:p>
          <a:p>
            <a:pPr marL="158750" indent="0">
              <a:buFontTx/>
              <a:buNone/>
            </a:pPr>
            <a:r>
              <a:rPr lang="vi-VN" dirty="0"/>
              <a:t>Sử dụng </a:t>
            </a:r>
            <a:r>
              <a:rPr lang="vi-VN" b="1" dirty="0"/>
              <a:t>mật khẩu mặc định</a:t>
            </a:r>
            <a:r>
              <a:rPr lang="vi-VN" dirty="0"/>
              <a:t>, hoặc </a:t>
            </a:r>
            <a:r>
              <a:rPr lang="vi-VN" b="1" dirty="0"/>
              <a:t>không có mã hóa dữ liệu.</a:t>
            </a:r>
            <a:endParaRPr lang="vi-VN" dirty="0"/>
          </a:p>
          <a:p>
            <a:pPr marL="158750" indent="0">
              <a:buFontTx/>
              <a:buNone/>
            </a:pPr>
            <a:r>
              <a:rPr lang="vi-VN" dirty="0"/>
              <a:t>Không có cơ chế xác thực người dùng an toàn.</a:t>
            </a:r>
          </a:p>
          <a:p>
            <a:pPr marL="158750" indent="0">
              <a:buFontTx/>
              <a:buNone/>
            </a:pPr>
            <a:r>
              <a:rPr lang="en-US" dirty="0"/>
              <a:t>=&gt;</a:t>
            </a:r>
            <a:r>
              <a:rPr lang="vi-VN" dirty="0"/>
              <a:t> </a:t>
            </a:r>
            <a:r>
              <a:rPr lang="vi-VN" b="1" dirty="0"/>
              <a:t>Hệ quả:</a:t>
            </a:r>
            <a:endParaRPr lang="vi-VN" dirty="0"/>
          </a:p>
          <a:p>
            <a:pPr marL="158750" indent="0">
              <a:buFontTx/>
              <a:buNone/>
            </a:pPr>
            <a:r>
              <a:rPr lang="vi-VN" dirty="0"/>
              <a:t>Các thiết bị này dễ dàng trở thành </a:t>
            </a:r>
            <a:r>
              <a:rPr lang="vi-VN" b="1" dirty="0"/>
              <a:t>“bot” trong mạng Botnet</a:t>
            </a:r>
            <a:r>
              <a:rPr lang="vi-VN" dirty="0"/>
              <a:t>, bị lợi dụng để phát tán mã độc hoặc tấn công DDoS.</a:t>
            </a:r>
          </a:p>
          <a:p>
            <a:pPr marL="158750" indent="0">
              <a:buFontTx/>
              <a:buNone/>
            </a:pPr>
            <a:r>
              <a:rPr lang="vi-VN" dirty="0"/>
              <a:t>Người dùng ít khi nhận ra lỗ hổng vì thiết bị vẫn “hoạt động bình thường”.</a:t>
            </a:r>
          </a:p>
          <a:p>
            <a:pPr marL="158750" indent="0">
              <a:buFontTx/>
              <a:buNone/>
            </a:pPr>
            <a:r>
              <a:rPr lang="vi-VN" i="1" dirty="0"/>
              <a:t>Ví dụ:</a:t>
            </a:r>
            <a:br>
              <a:rPr lang="vi-VN" dirty="0"/>
            </a:br>
            <a:r>
              <a:rPr lang="vi-VN" dirty="0"/>
              <a:t>Sự kiện </a:t>
            </a:r>
            <a:r>
              <a:rPr lang="vi-VN" b="1" dirty="0"/>
              <a:t>Mirai Botnet (2016)</a:t>
            </a:r>
            <a:r>
              <a:rPr lang="vi-VN" dirty="0"/>
              <a:t> — hàng triệu camera IoT giá rẻ bị tấn công và biến thành công cụ tấn công mạng toàn cầu.</a:t>
            </a:r>
          </a:p>
          <a:p>
            <a:pPr marL="158750" indent="0">
              <a:buFontTx/>
              <a:buNone/>
            </a:pPr>
            <a:endParaRPr lang="en-US" b="1" dirty="0"/>
          </a:p>
          <a:p>
            <a:pPr marL="158750" indent="0">
              <a:buFontTx/>
              <a:buNone/>
            </a:pPr>
            <a:r>
              <a:rPr lang="en-US" b="1" dirty="0"/>
              <a:t>5. </a:t>
            </a:r>
            <a:r>
              <a:rPr lang="vi-VN" b="1" dirty="0"/>
              <a:t>Người dùng ít nhận thức về quyền riêng tư và rủi ro dữ liệu cá nhân</a:t>
            </a:r>
          </a:p>
          <a:p>
            <a:pPr marL="158750" indent="0">
              <a:buFontTx/>
              <a:buNone/>
            </a:pPr>
            <a:r>
              <a:rPr lang="vi-VN" dirty="0"/>
              <a:t>Phần lớn người dùng:</a:t>
            </a:r>
          </a:p>
          <a:p>
            <a:pPr marL="158750" indent="0">
              <a:buFontTx/>
              <a:buNone/>
            </a:pPr>
            <a:r>
              <a:rPr lang="vi-VN" b="1" dirty="0"/>
              <a:t>Không đọc kỹ điều khoản bảo mật</a:t>
            </a:r>
            <a:r>
              <a:rPr lang="vi-VN" dirty="0"/>
              <a:t> khi sử dụng thiết bị.</a:t>
            </a:r>
          </a:p>
          <a:p>
            <a:pPr marL="158750" indent="0">
              <a:buFontTx/>
              <a:buNone/>
            </a:pPr>
            <a:r>
              <a:rPr lang="vi-VN" b="1" dirty="0"/>
              <a:t>Không thay đổi mật khẩu mặc định</a:t>
            </a:r>
            <a:r>
              <a:rPr lang="vi-VN" dirty="0"/>
              <a:t> hoặc </a:t>
            </a:r>
            <a:r>
              <a:rPr lang="vi-VN" b="1" dirty="0"/>
              <a:t>không cập nhật firmware.</a:t>
            </a:r>
            <a:endParaRPr lang="vi-VN" dirty="0"/>
          </a:p>
          <a:p>
            <a:pPr marL="158750" indent="0">
              <a:buFontTx/>
              <a:buNone/>
            </a:pPr>
            <a:r>
              <a:rPr lang="vi-VN" b="1" dirty="0"/>
              <a:t>Không hiểu rõ dữ liệu nào đang bị thu thập và gửi đi.</a:t>
            </a:r>
            <a:endParaRPr lang="vi-VN" dirty="0"/>
          </a:p>
          <a:p>
            <a:pPr marL="158750" indent="0">
              <a:buFontTx/>
              <a:buNone/>
            </a:pPr>
            <a:r>
              <a:rPr lang="en-US" dirty="0"/>
              <a:t>=&gt;</a:t>
            </a:r>
            <a:r>
              <a:rPr lang="vi-VN" dirty="0"/>
              <a:t> </a:t>
            </a:r>
            <a:r>
              <a:rPr lang="vi-VN" b="1" dirty="0"/>
              <a:t>Hệ quả:</a:t>
            </a:r>
            <a:endParaRPr lang="vi-VN" dirty="0"/>
          </a:p>
          <a:p>
            <a:pPr marL="158750" indent="0">
              <a:buFontTx/>
              <a:buNone/>
            </a:pPr>
            <a:r>
              <a:rPr lang="vi-VN" dirty="0"/>
              <a:t>Dữ liệu cá nhân (vị trí, thói quen sinh hoạt, thông tin sức khỏe) có thể bị </a:t>
            </a:r>
            <a:r>
              <a:rPr lang="vi-VN" b="1" dirty="0"/>
              <a:t>khai thác, rò rỉ hoặc bán cho bên thứ ba</a:t>
            </a:r>
            <a:r>
              <a:rPr lang="vi-VN" dirty="0"/>
              <a:t> mà người dùng không hề hay biết.</a:t>
            </a:r>
          </a:p>
          <a:p>
            <a:pPr marL="158750" indent="0">
              <a:buFontTx/>
              <a:buNone/>
            </a:pPr>
            <a:r>
              <a:rPr lang="vi-VN" dirty="0"/>
              <a:t>Dẫn đến </a:t>
            </a:r>
            <a:r>
              <a:rPr lang="vi-VN" b="1" dirty="0"/>
              <a:t>nguy cơ mất quyền kiểm soát thông tin cá nhân</a:t>
            </a:r>
            <a:r>
              <a:rPr lang="vi-VN" dirty="0"/>
              <a:t>, thậm chí bị </a:t>
            </a:r>
            <a:r>
              <a:rPr lang="vi-VN" b="1" dirty="0"/>
              <a:t>lừa đảo, giám sát hoặc tống tiền</a:t>
            </a:r>
            <a:r>
              <a:rPr lang="vi-VN" dirty="0"/>
              <a:t>.</a:t>
            </a:r>
          </a:p>
          <a:p>
            <a:pPr marL="158750" indent="0">
              <a:buFontTx/>
              <a:buNone/>
            </a:pPr>
            <a:r>
              <a:rPr lang="vi-VN" i="1" dirty="0"/>
              <a:t>Ví dụ:</a:t>
            </a:r>
            <a:br>
              <a:rPr lang="vi-VN" dirty="0"/>
            </a:br>
            <a:r>
              <a:rPr lang="vi-VN" dirty="0"/>
              <a:t>Một ứng dụng đồng hồ thông minh gửi dữ liệu nhịp tim và vị trí người dùng đến máy chủ nước ngoài để “phân tích sức khỏe” nhưng lại dùng dữ liệu này cho quảng cáo hoặc nghiên cứu thương mại mà không xin phép.</a:t>
            </a:r>
          </a:p>
          <a:p>
            <a:pPr marL="158750" indent="0">
              <a:buFontTx/>
              <a:buNone/>
            </a:pPr>
            <a:endParaRPr lang="en-US" dirty="0"/>
          </a:p>
        </p:txBody>
      </p:sp>
    </p:spTree>
    <p:extLst>
      <p:ext uri="{BB962C8B-B14F-4D97-AF65-F5344CB8AC3E}">
        <p14:creationId xmlns:p14="http://schemas.microsoft.com/office/powerpoint/2010/main" val="105276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Tổng quan</a:t>
            </a:r>
          </a:p>
          <a:p>
            <a:pPr marL="158750" indent="0">
              <a:buFontTx/>
              <a:buNone/>
            </a:pPr>
            <a:r>
              <a:rPr lang="vi-VN" dirty="0"/>
              <a:t>Trong thời đại </a:t>
            </a:r>
            <a:r>
              <a:rPr lang="vi-VN" b="1" dirty="0"/>
              <a:t>Internet of Things (IoT)</a:t>
            </a:r>
            <a:r>
              <a:rPr lang="vi-VN" dirty="0"/>
              <a:t>, hàng tỷ thiết bị thông minh đang thu thập và xử lý dữ liệu của con người trong hầu hết mọi lĩnh vực: từ y tế, giao thông, sản xuất đến đời sống cá nhân.</a:t>
            </a:r>
            <a:br>
              <a:rPr lang="vi-VN" dirty="0"/>
            </a:br>
            <a:r>
              <a:rPr lang="vi-VN" dirty="0"/>
              <a:t>Sự phát triển này mang lại </a:t>
            </a:r>
            <a:r>
              <a:rPr lang="vi-VN" b="1" dirty="0"/>
              <a:t>lợi ích to lớn</a:t>
            </a:r>
            <a:r>
              <a:rPr lang="vi-VN" dirty="0"/>
              <a:t>, nhưng đồng thời đặt ra </a:t>
            </a:r>
            <a:r>
              <a:rPr lang="vi-VN" b="1" dirty="0"/>
              <a:t>trách nhiệm đạo đức và pháp lý nghiêm ngặt</a:t>
            </a:r>
            <a:r>
              <a:rPr lang="vi-VN" dirty="0"/>
              <a:t> đối với các tổ chức, doanh nghiệp và nhà phát triển IoT.</a:t>
            </a:r>
          </a:p>
          <a:p>
            <a:pPr marL="158750" indent="0">
              <a:buFontTx/>
              <a:buNone/>
            </a:pPr>
            <a:r>
              <a:rPr lang="vi-VN" dirty="0"/>
              <a:t>Vì vậy, để IoT phát triển </a:t>
            </a:r>
            <a:r>
              <a:rPr lang="vi-VN" b="1" dirty="0"/>
              <a:t>bền vững và đáng tin cậy</a:t>
            </a:r>
            <a:r>
              <a:rPr lang="vi-VN" dirty="0"/>
              <a:t>, các tổ chức cần </a:t>
            </a:r>
            <a:r>
              <a:rPr lang="vi-VN" b="1" dirty="0"/>
              <a:t>tuân thủ đồng thời ba yếu tố cốt lõi</a:t>
            </a:r>
            <a:r>
              <a:rPr lang="vi-VN" dirty="0"/>
              <a:t>:</a:t>
            </a:r>
          </a:p>
          <a:p>
            <a:pPr marL="158750" indent="0">
              <a:buFontTx/>
              <a:buNone/>
            </a:pPr>
            <a:r>
              <a:rPr lang="vi-VN" b="1" dirty="0"/>
              <a:t>Pháp lý</a:t>
            </a:r>
            <a:r>
              <a:rPr lang="vi-VN" dirty="0"/>
              <a:t>,</a:t>
            </a:r>
          </a:p>
          <a:p>
            <a:pPr marL="158750" indent="0">
              <a:buFontTx/>
              <a:buNone/>
            </a:pPr>
            <a:r>
              <a:rPr lang="vi-VN" b="1" dirty="0"/>
              <a:t>Kỹ thuật</a:t>
            </a:r>
            <a:r>
              <a:rPr lang="vi-VN" dirty="0"/>
              <a:t>,</a:t>
            </a:r>
          </a:p>
          <a:p>
            <a:pPr marL="158750" indent="0">
              <a:buFontTx/>
              <a:buNone/>
            </a:pPr>
            <a:r>
              <a:rPr lang="vi-VN" b="1" dirty="0"/>
              <a:t>Đạo đức nghề nghiệp</a:t>
            </a:r>
            <a:r>
              <a:rPr lang="vi-VN" dirty="0"/>
              <a:t>.</a:t>
            </a:r>
          </a:p>
          <a:p>
            <a:pPr marL="158750" indent="0">
              <a:buFontTx/>
              <a:buNone/>
            </a:pPr>
            <a:endParaRPr lang="en-US" b="1" dirty="0"/>
          </a:p>
          <a:p>
            <a:pPr marL="158750" indent="0">
              <a:buFontTx/>
              <a:buNone/>
            </a:pPr>
            <a:r>
              <a:rPr lang="vi-VN" b="1" dirty="0"/>
              <a:t>2. Yếu tố Pháp lý (Legal Responsibility)</a:t>
            </a:r>
          </a:p>
          <a:p>
            <a:pPr marL="158750" indent="0">
              <a:buFontTx/>
              <a:buNone/>
            </a:pPr>
            <a:r>
              <a:rPr lang="vi-VN" dirty="0"/>
              <a:t>Các tổ chức và doanh nghiệp triển khai IoT phải </a:t>
            </a:r>
            <a:r>
              <a:rPr lang="vi-VN" b="1" dirty="0"/>
              <a:t>tuân thủ nghiêm túc các luật và quy định về bảo vệ dữ liệu cá nhân</a:t>
            </a:r>
            <a:r>
              <a:rPr lang="vi-VN" dirty="0"/>
              <a:t>, ở cả </a:t>
            </a:r>
            <a:r>
              <a:rPr lang="vi-VN" b="1" dirty="0"/>
              <a:t>cấp quốc gia và quốc tế</a:t>
            </a:r>
            <a:r>
              <a:rPr lang="vi-VN" dirty="0"/>
              <a:t>.</a:t>
            </a:r>
          </a:p>
          <a:p>
            <a:pPr marL="158750" indent="0">
              <a:buFontTx/>
              <a:buNone/>
            </a:pPr>
            <a:r>
              <a:rPr lang="vi-VN" b="1" i="1" dirty="0"/>
              <a:t>Ví dụ về quy định pháp lý:</a:t>
            </a:r>
          </a:p>
          <a:p>
            <a:pPr marL="158750" indent="0">
              <a:buFontTx/>
              <a:buNone/>
            </a:pPr>
            <a:r>
              <a:rPr lang="vi-VN" b="1" i="1" dirty="0"/>
              <a:t>GDPR (EU)</a:t>
            </a:r>
            <a:r>
              <a:rPr lang="vi-VN" i="1" dirty="0"/>
              <a:t>: Yêu cầu các tổ chức phải có sự </a:t>
            </a:r>
            <a:r>
              <a:rPr lang="vi-VN" b="1" i="1" dirty="0"/>
              <a:t>đồng ý rõ ràng (explicit consent)</a:t>
            </a:r>
            <a:r>
              <a:rPr lang="vi-VN" i="1" dirty="0"/>
              <a:t> trước khi thu thập dữ liệu, đồng thời cho phép người dùng </a:t>
            </a:r>
            <a:r>
              <a:rPr lang="vi-VN" b="1" i="1" dirty="0"/>
              <a:t>truy cập, chỉnh sửa và xóa dữ liệu của họ</a:t>
            </a:r>
            <a:r>
              <a:rPr lang="vi-VN" i="1" dirty="0"/>
              <a:t>.</a:t>
            </a:r>
          </a:p>
          <a:p>
            <a:pPr marL="158750" indent="0">
              <a:buFontTx/>
              <a:buNone/>
            </a:pPr>
            <a:r>
              <a:rPr lang="vi-VN" b="1" i="1" dirty="0"/>
              <a:t>HIPAA (Mỹ)</a:t>
            </a:r>
            <a:r>
              <a:rPr lang="vi-VN" i="1" dirty="0"/>
              <a:t>: Bảo vệ dữ liệu y tế điện tử (PHI) trong các hệ thống IoT y tế.</a:t>
            </a:r>
          </a:p>
          <a:p>
            <a:pPr marL="158750" indent="0">
              <a:buFontTx/>
              <a:buNone/>
            </a:pPr>
            <a:r>
              <a:rPr lang="vi-VN" b="1" i="1" dirty="0"/>
              <a:t>Nghị định 13/2023/NĐ-CP (Việt Nam)</a:t>
            </a:r>
            <a:r>
              <a:rPr lang="vi-VN" i="1" dirty="0"/>
              <a:t>: Là quy định đầu tiên tại Việt Nam bảo vệ dữ liệu cá nhân, áp dụng cho mọi tổ chức, cá nhân trong và ngoài nước có liên quan đến xử lý dữ liệu cá nhân.</a:t>
            </a:r>
          </a:p>
          <a:p>
            <a:pPr marL="158750" indent="0">
              <a:buFontTx/>
              <a:buNone/>
            </a:pPr>
            <a:r>
              <a:rPr lang="vi-VN" b="1" i="0" dirty="0"/>
              <a:t>Ý nghĩa:</a:t>
            </a:r>
          </a:p>
          <a:p>
            <a:pPr marL="158750" indent="0">
              <a:buFontTx/>
              <a:buNone/>
            </a:pPr>
            <a:r>
              <a:rPr lang="vi-VN" dirty="0"/>
              <a:t>Tuân thủ pháp lý giúp:</a:t>
            </a:r>
          </a:p>
          <a:p>
            <a:pPr marL="158750" indent="0">
              <a:buFontTx/>
              <a:buNone/>
            </a:pPr>
            <a:r>
              <a:rPr lang="vi-VN" b="1" dirty="0"/>
              <a:t>Ngăn chặn vi phạm quyền riêng tư</a:t>
            </a:r>
            <a:r>
              <a:rPr lang="vi-VN" dirty="0"/>
              <a:t>.</a:t>
            </a:r>
          </a:p>
          <a:p>
            <a:pPr marL="158750" indent="0">
              <a:buFontTx/>
              <a:buNone/>
            </a:pPr>
            <a:r>
              <a:rPr lang="vi-VN" b="1" dirty="0"/>
              <a:t>Giảm thiểu rủi ro kiện tụng và phạt hành chính</a:t>
            </a:r>
            <a:r>
              <a:rPr lang="vi-VN" dirty="0"/>
              <a:t>.</a:t>
            </a:r>
          </a:p>
          <a:p>
            <a:pPr marL="158750" indent="0">
              <a:buFontTx/>
              <a:buNone/>
            </a:pPr>
            <a:r>
              <a:rPr lang="vi-VN" b="1" dirty="0"/>
              <a:t>Tăng uy tín và niềm tin của khách hàng.</a:t>
            </a:r>
            <a:endParaRPr lang="vi-VN" dirty="0"/>
          </a:p>
          <a:p>
            <a:pPr marL="158750" indent="0">
              <a:buFontTx/>
              <a:buNone/>
            </a:pPr>
            <a:endParaRPr lang="en-US" b="1" dirty="0"/>
          </a:p>
          <a:p>
            <a:pPr marL="158750" indent="0">
              <a:buFontTx/>
              <a:buNone/>
            </a:pPr>
            <a:r>
              <a:rPr lang="en-US" b="1" dirty="0"/>
              <a:t>3. </a:t>
            </a:r>
            <a:r>
              <a:rPr lang="vi-VN" b="1" dirty="0"/>
              <a:t>Yếu tố Kỹ thuật (Technical Responsibility)</a:t>
            </a:r>
          </a:p>
          <a:p>
            <a:pPr marL="158750" indent="0">
              <a:buFontTx/>
              <a:buNone/>
            </a:pPr>
            <a:r>
              <a:rPr lang="vi-VN" dirty="0"/>
              <a:t>Công nghệ là </a:t>
            </a:r>
            <a:r>
              <a:rPr lang="vi-VN" b="1" dirty="0"/>
              <a:t>nền tảng cốt lõi</a:t>
            </a:r>
            <a:r>
              <a:rPr lang="vi-VN" dirty="0"/>
              <a:t> để bảo vệ an toàn dữ liệu IoT.</a:t>
            </a:r>
            <a:br>
              <a:rPr lang="vi-VN" dirty="0"/>
            </a:br>
            <a:r>
              <a:rPr lang="vi-VN" dirty="0"/>
              <a:t>Các biện pháp kỹ thuật giúp đảm bảo dữ liệu được </a:t>
            </a:r>
            <a:r>
              <a:rPr lang="vi-VN" b="1" dirty="0"/>
              <a:t>mã hóa, xác thực, giám sát và bảo vệ suốt vòng đời</a:t>
            </a:r>
            <a:r>
              <a:rPr lang="vi-VN" dirty="0"/>
              <a:t> của thiết bị.</a:t>
            </a:r>
          </a:p>
          <a:p>
            <a:pPr marL="158750" indent="0">
              <a:buFontTx/>
              <a:buNone/>
            </a:pPr>
            <a:r>
              <a:rPr lang="vi-VN" b="1" dirty="0"/>
              <a:t>Các biện pháp kỹ thuật quan trọng:</a:t>
            </a:r>
          </a:p>
          <a:p>
            <a:pPr marL="158750" indent="0">
              <a:buFontTx/>
              <a:buNone/>
            </a:pPr>
            <a:r>
              <a:rPr lang="vi-VN" b="1" dirty="0"/>
              <a:t>Mã hóa dữ liệu (Encryption):</a:t>
            </a:r>
            <a:r>
              <a:rPr lang="vi-VN" dirty="0"/>
              <a:t> Dữ liệu được bảo vệ khi lưu trữ và truyền đi, ngăn chặn truy cập trái phép.</a:t>
            </a:r>
          </a:p>
          <a:p>
            <a:pPr marL="158750" indent="0">
              <a:buFontTx/>
              <a:buNone/>
            </a:pPr>
            <a:r>
              <a:rPr lang="vi-VN" b="1" dirty="0"/>
              <a:t>Xác thực (Authentication):</a:t>
            </a:r>
            <a:r>
              <a:rPr lang="vi-VN" dirty="0"/>
              <a:t> Chỉ những thiết bị hoặc người dùng hợp lệ mới được quyền truy cập.</a:t>
            </a:r>
          </a:p>
          <a:p>
            <a:pPr marL="158750" indent="0">
              <a:buFontTx/>
              <a:buNone/>
            </a:pPr>
            <a:r>
              <a:rPr lang="vi-VN" b="1" dirty="0"/>
              <a:t>Giám sát an ninh (Security Monitoring):</a:t>
            </a:r>
            <a:r>
              <a:rPr lang="vi-VN" dirty="0"/>
              <a:t> Hệ thống phát hiện xâm nhập (IDS), tường lửa IoT và phân tích lưu lượng mạng để nhận biết hành vi bất thường.</a:t>
            </a:r>
          </a:p>
          <a:p>
            <a:pPr marL="158750" indent="0">
              <a:buFontTx/>
              <a:buNone/>
            </a:pPr>
            <a:r>
              <a:rPr lang="vi-VN" b="1" i="1" dirty="0"/>
              <a:t>Ví dụ:</a:t>
            </a:r>
          </a:p>
          <a:p>
            <a:pPr marL="158750" indent="0">
              <a:buFontTx/>
              <a:buNone/>
            </a:pPr>
            <a:r>
              <a:rPr lang="vi-VN" i="1" dirty="0"/>
              <a:t>Một hệ thống </a:t>
            </a:r>
            <a:r>
              <a:rPr lang="vi-VN" b="1" i="1" dirty="0"/>
              <a:t>IoT trong bệnh viện</a:t>
            </a:r>
            <a:r>
              <a:rPr lang="vi-VN" i="1" dirty="0"/>
              <a:t> cần mã hóa dữ liệu bệnh nhân (AES-256, TLS 1.3), sử dụng </a:t>
            </a:r>
            <a:r>
              <a:rPr lang="vi-VN" b="1" i="1" dirty="0"/>
              <a:t>xác thực hai lớp (2FA)</a:t>
            </a:r>
            <a:r>
              <a:rPr lang="vi-VN" i="1" dirty="0"/>
              <a:t> và </a:t>
            </a:r>
            <a:r>
              <a:rPr lang="vi-VN" b="1" i="1" dirty="0"/>
              <a:t>giám sát truy cập theo thời gian thực</a:t>
            </a:r>
            <a:r>
              <a:rPr lang="vi-VN" i="1" dirty="0"/>
              <a:t> để tránh rò rỉ thông tin</a:t>
            </a:r>
            <a:r>
              <a:rPr lang="vi-VN" dirty="0"/>
              <a:t>.</a:t>
            </a:r>
          </a:p>
          <a:p>
            <a:pPr marL="158750" indent="0">
              <a:buFontTx/>
              <a:buNone/>
            </a:pPr>
            <a:endParaRPr lang="en-US" b="1" dirty="0"/>
          </a:p>
          <a:p>
            <a:pPr marL="158750" indent="0">
              <a:buFontTx/>
              <a:buNone/>
            </a:pPr>
            <a:r>
              <a:rPr lang="en-US" b="1" dirty="0"/>
              <a:t>4. </a:t>
            </a:r>
            <a:r>
              <a:rPr lang="vi-VN" b="1" dirty="0"/>
              <a:t>Yếu tố Đạo đức nghề nghiệp (Ethical Responsibility)</a:t>
            </a:r>
          </a:p>
          <a:p>
            <a:pPr marL="158750" indent="0">
              <a:buFontTx/>
              <a:buNone/>
            </a:pPr>
            <a:r>
              <a:rPr lang="vi-VN" dirty="0"/>
              <a:t>Đây là yếu tố </a:t>
            </a:r>
            <a:r>
              <a:rPr lang="vi-VN" b="1" dirty="0"/>
              <a:t>mềm nhưng quan trọng nhất</a:t>
            </a:r>
            <a:r>
              <a:rPr lang="vi-VN" dirty="0"/>
              <a:t>, đảm bảo rằng công nghệ IoT không chỉ </a:t>
            </a:r>
            <a:r>
              <a:rPr lang="vi-VN" b="1" dirty="0"/>
              <a:t>hợp pháp</a:t>
            </a:r>
            <a:r>
              <a:rPr lang="vi-VN" dirty="0"/>
              <a:t>, mà còn </a:t>
            </a:r>
            <a:r>
              <a:rPr lang="vi-VN" b="1" dirty="0"/>
              <a:t>minh bạch, nhân văn và có trách nhiệm với xã hội</a:t>
            </a:r>
            <a:r>
              <a:rPr lang="vi-VN" dirty="0"/>
              <a:t>.</a:t>
            </a:r>
          </a:p>
          <a:p>
            <a:pPr marL="158750" indent="0">
              <a:buFontTx/>
              <a:buNone/>
            </a:pPr>
            <a:r>
              <a:rPr lang="vi-VN" b="1" dirty="0"/>
              <a:t>Các nguyên tắc đạo đức:</a:t>
            </a:r>
          </a:p>
          <a:p>
            <a:pPr marL="158750" indent="0">
              <a:buFontTx/>
              <a:buNone/>
            </a:pPr>
            <a:r>
              <a:rPr lang="vi-VN" b="1" dirty="0"/>
              <a:t>Minh bạch (Transparency):</a:t>
            </a:r>
            <a:r>
              <a:rPr lang="vi-VN" dirty="0"/>
              <a:t> Thông báo rõ ràng cho người dùng về loại dữ liệu được thu thập và mục đích sử dụng.</a:t>
            </a:r>
          </a:p>
          <a:p>
            <a:pPr marL="158750" indent="0">
              <a:buFontTx/>
              <a:buNone/>
            </a:pPr>
            <a:r>
              <a:rPr lang="vi-VN" b="1" dirty="0"/>
              <a:t>Tôn trọng người dùng (Respect for Users):</a:t>
            </a:r>
            <a:r>
              <a:rPr lang="vi-VN" dirty="0"/>
              <a:t> Không ép buộc chia sẻ dữ liệu hoặc sử dụng dữ liệu vượt phạm vi cho phép.</a:t>
            </a:r>
          </a:p>
          <a:p>
            <a:pPr marL="158750" indent="0">
              <a:buFontTx/>
              <a:buNone/>
            </a:pPr>
            <a:r>
              <a:rPr lang="vi-VN" b="1" dirty="0"/>
              <a:t>Không thu thập quá mức (Non-Excessive Data Collection):</a:t>
            </a:r>
            <a:r>
              <a:rPr lang="vi-VN" dirty="0"/>
              <a:t> Chỉ lấy dữ liệu cần thiết cho mục tiêu nghiệp vụ, đúng theo nguyên tắc “Data Minimization”.</a:t>
            </a:r>
          </a:p>
          <a:p>
            <a:pPr marL="158750" indent="0">
              <a:buFontTx/>
              <a:buNone/>
            </a:pPr>
            <a:r>
              <a:rPr lang="vi-VN" b="1" dirty="0"/>
              <a:t>Trách nhiệm xã hội (Social Accountability):</a:t>
            </a:r>
            <a:r>
              <a:rPr lang="vi-VN" dirty="0"/>
              <a:t> Đảm bảo IoT phục vụ lợi ích cộng đồng, không gây hại hoặc bị lợi dụng vào mục đích xấu.</a:t>
            </a:r>
          </a:p>
          <a:p>
            <a:pPr marL="158750" indent="0">
              <a:buFontTx/>
              <a:buNone/>
            </a:pPr>
            <a:r>
              <a:rPr lang="vi-VN" b="1" dirty="0"/>
              <a:t>Ví dụ:</a:t>
            </a:r>
          </a:p>
          <a:p>
            <a:pPr marL="158750" indent="0">
              <a:buFontTx/>
              <a:buNone/>
            </a:pPr>
            <a:r>
              <a:rPr lang="vi-VN" dirty="0"/>
              <a:t>Một nhà sản xuất thiết bị </a:t>
            </a:r>
            <a:r>
              <a:rPr lang="vi-VN" b="1" dirty="0"/>
              <a:t>IoT gia đình</a:t>
            </a:r>
            <a:r>
              <a:rPr lang="vi-VN" dirty="0"/>
              <a:t> nên:</a:t>
            </a:r>
          </a:p>
          <a:p>
            <a:pPr marL="158750" indent="0">
              <a:buFontTx/>
              <a:buNone/>
            </a:pPr>
            <a:r>
              <a:rPr lang="vi-VN" dirty="0"/>
              <a:t>Cho phép người dùng </a:t>
            </a:r>
            <a:r>
              <a:rPr lang="vi-VN" b="1" dirty="0"/>
              <a:t>tắt cảm biến camera/micro khi muốn.</a:t>
            </a:r>
            <a:endParaRPr lang="vi-VN" dirty="0"/>
          </a:p>
          <a:p>
            <a:pPr marL="158750" indent="0">
              <a:buFontTx/>
              <a:buNone/>
            </a:pPr>
            <a:r>
              <a:rPr lang="vi-VN" dirty="0"/>
              <a:t>Không sử dụng dữ liệu giọng nói để phục vụ quảng cáo mà không có sự đồng ý.</a:t>
            </a:r>
          </a:p>
          <a:p>
            <a:pPr marL="158750" indent="0">
              <a:buFontTx/>
              <a:buNone/>
            </a:pPr>
            <a:endParaRPr lang="en-US" b="1" dirty="0"/>
          </a:p>
          <a:p>
            <a:pPr marL="158750" indent="0">
              <a:buFontTx/>
              <a:buNone/>
            </a:pPr>
            <a:r>
              <a:rPr lang="en-US" b="1" dirty="0"/>
              <a:t>5. </a:t>
            </a:r>
            <a:r>
              <a:rPr lang="vi-VN" b="1" dirty="0"/>
              <a:t>Kết luận</a:t>
            </a:r>
          </a:p>
          <a:p>
            <a:pPr marL="158750" indent="0">
              <a:buFontTx/>
              <a:buNone/>
            </a:pPr>
            <a:r>
              <a:rPr lang="vi-VN" b="1" dirty="0"/>
              <a:t>Trách nhiệm đạo đức trong phát triển IoT không chỉ là tuân thủ luật pháp, mà còn là sự cam kết bảo vệ con người và xã hội.</a:t>
            </a:r>
            <a:endParaRPr lang="vi-VN" dirty="0"/>
          </a:p>
          <a:p>
            <a:pPr marL="158750" indent="0">
              <a:buFontTx/>
              <a:buNone/>
            </a:pPr>
            <a:r>
              <a:rPr lang="vi-VN" dirty="0"/>
              <a:t>Một tổ chức IoT phát triển bền vững cần:</a:t>
            </a:r>
          </a:p>
          <a:p>
            <a:pPr marL="158750" indent="0">
              <a:buFontTx/>
              <a:buNone/>
            </a:pPr>
            <a:r>
              <a:rPr lang="vi-VN" b="1" dirty="0"/>
              <a:t>Xây dựng văn hóa an toàn dữ liệu.</a:t>
            </a:r>
            <a:endParaRPr lang="vi-VN" dirty="0"/>
          </a:p>
          <a:p>
            <a:pPr marL="158750" indent="0">
              <a:buFontTx/>
              <a:buNone/>
            </a:pPr>
            <a:r>
              <a:rPr lang="vi-VN" b="1" dirty="0"/>
              <a:t>Thiết kế hệ thống theo nguyên tắc “Privacy by Design”.</a:t>
            </a:r>
            <a:endParaRPr lang="vi-VN" dirty="0"/>
          </a:p>
          <a:p>
            <a:pPr marL="158750" indent="0">
              <a:buFontTx/>
              <a:buNone/>
            </a:pPr>
            <a:r>
              <a:rPr lang="vi-VN" b="1" dirty="0"/>
              <a:t>Tôn trọng quyền riêng tư người dùng ở mọi giai đoạn.</a:t>
            </a:r>
            <a:endParaRPr lang="vi-VN" dirty="0"/>
          </a:p>
          <a:p>
            <a:pPr marL="158750" indent="0">
              <a:buFontTx/>
              <a:buNone/>
            </a:pPr>
            <a:r>
              <a:rPr lang="vi-VN" dirty="0"/>
              <a:t>Khi đó, IoT mới thật sự trở thành </a:t>
            </a:r>
            <a:r>
              <a:rPr lang="vi-VN" b="1" dirty="0"/>
              <a:t>nền tảng của “Internet of Trust” – Internet của niềm tin.</a:t>
            </a:r>
            <a:endParaRPr lang="vi-VN" dirty="0"/>
          </a:p>
          <a:p>
            <a:pPr marL="158750" indent="0">
              <a:buFontTx/>
              <a:buNone/>
            </a:pPr>
            <a:endParaRPr lang="en-US" dirty="0"/>
          </a:p>
        </p:txBody>
      </p:sp>
    </p:spTree>
    <p:extLst>
      <p:ext uri="{BB962C8B-B14F-4D97-AF65-F5344CB8AC3E}">
        <p14:creationId xmlns:p14="http://schemas.microsoft.com/office/powerpoint/2010/main" val="3398877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Vai trò của kỹ sư IoT trong kỷ nguyên kết nối</a:t>
            </a:r>
          </a:p>
          <a:p>
            <a:pPr marL="158750" indent="0">
              <a:buFontTx/>
              <a:buNone/>
            </a:pPr>
            <a:r>
              <a:rPr lang="vi-VN" dirty="0"/>
              <a:t>Kỹ sư IoT (Internet of Things Engineer) là người chịu trách nhiệm </a:t>
            </a:r>
            <a:r>
              <a:rPr lang="vi-VN" b="1" dirty="0"/>
              <a:t>thiết kế, phát triển, triển khai và bảo trì các hệ thống IoT</a:t>
            </a:r>
            <a:r>
              <a:rPr lang="vi-VN" dirty="0"/>
              <a:t>, nơi hàng triệu thiết bị thông minh kết nối và trao đổi dữ liệu.</a:t>
            </a:r>
            <a:br>
              <a:rPr lang="vi-VN" dirty="0"/>
            </a:br>
            <a:r>
              <a:rPr lang="vi-VN" dirty="0"/>
              <a:t>Do đặc thù công việc liên quan trực tiếp đến </a:t>
            </a:r>
            <a:r>
              <a:rPr lang="vi-VN" b="1" dirty="0"/>
              <a:t>dữ liệu cá nhân, thiết bị vật lý và an ninh mạng</a:t>
            </a:r>
            <a:r>
              <a:rPr lang="vi-VN" dirty="0"/>
              <a:t>, kỹ sư IoT không chỉ phải giỏi kỹ thuật mà còn cần </a:t>
            </a:r>
            <a:r>
              <a:rPr lang="vi-VN" b="1" dirty="0"/>
              <a:t>tuân thủ các nguyên tắc đạo đức và pháp lý nghiêm ngặt</a:t>
            </a:r>
            <a:r>
              <a:rPr lang="vi-VN" dirty="0"/>
              <a:t>.</a:t>
            </a:r>
          </a:p>
          <a:p>
            <a:pPr marL="158750" indent="0">
              <a:buFontTx/>
              <a:buNone/>
            </a:pPr>
            <a:r>
              <a:rPr lang="vi-VN" dirty="0"/>
              <a:t>Ba trách nhiệm chính được nêu trong slide phản ánh </a:t>
            </a:r>
            <a:r>
              <a:rPr lang="vi-VN" b="1" dirty="0"/>
              <a:t>bộ tiêu chuẩn nghề nghiệp cần thiết</a:t>
            </a:r>
            <a:r>
              <a:rPr lang="vi-VN" dirty="0"/>
              <a:t> để đảm bảo IoT phát triển bền vững và đáng tin cậy.</a:t>
            </a:r>
          </a:p>
          <a:p>
            <a:pPr marL="158750" indent="0">
              <a:buFontTx/>
              <a:buNone/>
            </a:pPr>
            <a:endParaRPr lang="en-US" b="1" dirty="0"/>
          </a:p>
          <a:p>
            <a:pPr marL="158750" indent="0">
              <a:buFontTx/>
              <a:buNone/>
            </a:pPr>
            <a:r>
              <a:rPr lang="en-US" b="1" dirty="0"/>
              <a:t>2. </a:t>
            </a:r>
            <a:r>
              <a:rPr lang="vi-VN" b="1" dirty="0"/>
              <a:t>Thiết kế sản phẩm an toàn, bảo mật và minh bạch</a:t>
            </a:r>
          </a:p>
          <a:p>
            <a:pPr marL="158750" indent="0">
              <a:buFontTx/>
              <a:buNone/>
            </a:pPr>
            <a:r>
              <a:rPr lang="vi-VN" b="1" dirty="0"/>
              <a:t>Giải thích:</a:t>
            </a:r>
          </a:p>
          <a:p>
            <a:pPr marL="158750" indent="0">
              <a:buFontTx/>
              <a:buNone/>
            </a:pPr>
            <a:r>
              <a:rPr lang="vi-VN" dirty="0"/>
              <a:t>Kỹ sư IoT phải đảm bảo rằng ngay từ giai đoạn thiết kế (design phase), sản phẩm </a:t>
            </a:r>
            <a:r>
              <a:rPr lang="vi-VN" b="1" dirty="0"/>
              <a:t>được xây dựng với nguyên tắc an toàn và bảo mật mặc định</a:t>
            </a:r>
            <a:r>
              <a:rPr lang="vi-VN" dirty="0"/>
              <a:t> — gọi là </a:t>
            </a:r>
            <a:r>
              <a:rPr lang="vi-VN" b="1" dirty="0"/>
              <a:t>“Security &amp; Privacy by Design”</a:t>
            </a:r>
            <a:r>
              <a:rPr lang="vi-VN" dirty="0"/>
              <a:t>.</a:t>
            </a:r>
            <a:br>
              <a:rPr lang="vi-VN" dirty="0"/>
            </a:br>
            <a:r>
              <a:rPr lang="vi-VN" dirty="0"/>
              <a:t>Điều này nghĩa là:</a:t>
            </a:r>
          </a:p>
          <a:p>
            <a:pPr marL="158750" indent="0">
              <a:buFontTx/>
              <a:buNone/>
            </a:pPr>
            <a:r>
              <a:rPr lang="vi-VN" dirty="0"/>
              <a:t>Thiết bị có </a:t>
            </a:r>
            <a:r>
              <a:rPr lang="vi-VN" b="1" dirty="0"/>
              <a:t>mã hóa dữ liệu (end-to-end encryption)</a:t>
            </a:r>
            <a:r>
              <a:rPr lang="vi-VN" dirty="0"/>
              <a:t> khi truyền và lưu trữ.</a:t>
            </a:r>
          </a:p>
          <a:p>
            <a:pPr marL="158750" indent="0">
              <a:buFontTx/>
              <a:buNone/>
            </a:pPr>
            <a:r>
              <a:rPr lang="vi-VN" dirty="0"/>
              <a:t>Cơ chế </a:t>
            </a:r>
            <a:r>
              <a:rPr lang="vi-VN" b="1" dirty="0"/>
              <a:t>xác thực (authentication)</a:t>
            </a:r>
            <a:r>
              <a:rPr lang="vi-VN" dirty="0"/>
              <a:t> để ngăn truy cập trái phép.</a:t>
            </a:r>
          </a:p>
          <a:p>
            <a:pPr marL="158750" indent="0">
              <a:buFontTx/>
              <a:buNone/>
            </a:pPr>
            <a:r>
              <a:rPr lang="vi-VN" dirty="0"/>
              <a:t>Giao tiếp mạng </a:t>
            </a:r>
            <a:r>
              <a:rPr lang="vi-VN" b="1" dirty="0"/>
              <a:t>an toàn (MQTTS, HTTPS)</a:t>
            </a:r>
            <a:r>
              <a:rPr lang="vi-VN" dirty="0"/>
              <a:t>.</a:t>
            </a:r>
          </a:p>
          <a:p>
            <a:pPr marL="158750" indent="0">
              <a:buFontTx/>
              <a:buNone/>
            </a:pPr>
            <a:r>
              <a:rPr lang="vi-VN" dirty="0"/>
              <a:t>Giao diện minh bạch: thông báo rõ cho người dùng </a:t>
            </a:r>
            <a:r>
              <a:rPr lang="vi-VN" b="1" dirty="0"/>
              <a:t>loại dữ liệu nào được thu thập và vì mục đích gì</a:t>
            </a:r>
            <a:r>
              <a:rPr lang="vi-VN" dirty="0"/>
              <a:t>.</a:t>
            </a:r>
          </a:p>
          <a:p>
            <a:pPr marL="158750" indent="0">
              <a:buFontTx/>
              <a:buNone/>
            </a:pPr>
            <a:r>
              <a:rPr lang="vi-VN" b="1" dirty="0"/>
              <a:t>Ví dụ:</a:t>
            </a:r>
          </a:p>
          <a:p>
            <a:pPr marL="158750" indent="0">
              <a:buFontTx/>
              <a:buNone/>
            </a:pPr>
            <a:r>
              <a:rPr lang="vi-VN" dirty="0"/>
              <a:t>Một kỹ sư thiết kế </a:t>
            </a:r>
            <a:r>
              <a:rPr lang="vi-VN" b="1" dirty="0"/>
              <a:t>camera giám sát thông minh</a:t>
            </a:r>
            <a:r>
              <a:rPr lang="vi-VN" dirty="0"/>
              <a:t> phải:</a:t>
            </a:r>
          </a:p>
          <a:p>
            <a:pPr marL="158750" indent="0">
              <a:buFontTx/>
              <a:buNone/>
            </a:pPr>
            <a:r>
              <a:rPr lang="vi-VN" dirty="0"/>
              <a:t>Mã hóa luồng video để tránh bị nghe lén.</a:t>
            </a:r>
          </a:p>
          <a:p>
            <a:pPr marL="158750" indent="0">
              <a:buFontTx/>
              <a:buNone/>
            </a:pPr>
            <a:r>
              <a:rPr lang="vi-VN" dirty="0"/>
              <a:t>Không cho phép người thứ ba truy cập hình ảnh mà không có quyền.</a:t>
            </a:r>
          </a:p>
          <a:p>
            <a:pPr marL="158750" indent="0">
              <a:buFontTx/>
              <a:buNone/>
            </a:pPr>
            <a:r>
              <a:rPr lang="vi-VN" dirty="0"/>
              <a:t>Hiển thị chính sách bảo mật minh bạch trong ứng dụng điều khiển.</a:t>
            </a:r>
          </a:p>
          <a:p>
            <a:pPr marL="158750" indent="0">
              <a:buFontTx/>
              <a:buNone/>
            </a:pPr>
            <a:endParaRPr lang="en-US" b="1" dirty="0"/>
          </a:p>
          <a:p>
            <a:pPr marL="158750" indent="0">
              <a:buFontTx/>
              <a:buNone/>
            </a:pPr>
            <a:r>
              <a:rPr lang="en-US" b="1" dirty="0"/>
              <a:t>3. </a:t>
            </a:r>
            <a:r>
              <a:rPr lang="vi-VN" b="1" dirty="0"/>
              <a:t>Không thu thập dữ liệu người dùng khi chưa được phép</a:t>
            </a:r>
          </a:p>
          <a:p>
            <a:pPr marL="158750" indent="0">
              <a:buFontTx/>
              <a:buNone/>
            </a:pPr>
            <a:r>
              <a:rPr lang="vi-VN" b="1" dirty="0"/>
              <a:t>Giải thích:</a:t>
            </a:r>
          </a:p>
          <a:p>
            <a:pPr marL="158750" indent="0">
              <a:buFontTx/>
              <a:buNone/>
            </a:pPr>
            <a:r>
              <a:rPr lang="vi-VN" dirty="0"/>
              <a:t>Đây là nguyên tắc cốt lõi về </a:t>
            </a:r>
            <a:r>
              <a:rPr lang="vi-VN" b="1" dirty="0"/>
              <a:t>quyền riêng tư (privacy)</a:t>
            </a:r>
            <a:r>
              <a:rPr lang="vi-VN" dirty="0"/>
              <a:t>.</a:t>
            </a:r>
            <a:br>
              <a:rPr lang="vi-VN" dirty="0"/>
            </a:br>
            <a:r>
              <a:rPr lang="vi-VN" dirty="0"/>
              <a:t>Mọi dữ liệu người dùng — từ vị trí GPS, giọng nói, hình ảnh, đến thói quen sử dụng — đều được coi là </a:t>
            </a:r>
            <a:r>
              <a:rPr lang="vi-VN" b="1" dirty="0"/>
              <a:t>dữ liệu cá nhân nhạy cảm</a:t>
            </a:r>
            <a:r>
              <a:rPr lang="vi-VN" dirty="0"/>
              <a:t>, và chỉ có thể thu thập nếu:</a:t>
            </a:r>
          </a:p>
          <a:p>
            <a:pPr marL="158750" indent="0">
              <a:buFontTx/>
              <a:buNone/>
            </a:pPr>
            <a:r>
              <a:rPr lang="vi-VN" dirty="0"/>
              <a:t>Người dùng </a:t>
            </a:r>
            <a:r>
              <a:rPr lang="vi-VN" b="1" dirty="0"/>
              <a:t>đồng ý rõ ràng (explicit consent)</a:t>
            </a:r>
            <a:r>
              <a:rPr lang="vi-VN" dirty="0"/>
              <a:t>,</a:t>
            </a:r>
          </a:p>
          <a:p>
            <a:pPr marL="158750" indent="0">
              <a:buFontTx/>
              <a:buNone/>
            </a:pPr>
            <a:r>
              <a:rPr lang="vi-VN" dirty="0"/>
              <a:t>Dữ liệu phục vụ </a:t>
            </a:r>
            <a:r>
              <a:rPr lang="vi-VN" b="1" dirty="0"/>
              <a:t>mục đích hợp pháp, minh bạch</a:t>
            </a:r>
            <a:r>
              <a:rPr lang="vi-VN" dirty="0"/>
              <a:t>,</a:t>
            </a:r>
          </a:p>
          <a:p>
            <a:pPr marL="158750" indent="0">
              <a:buFontTx/>
              <a:buNone/>
            </a:pPr>
            <a:r>
              <a:rPr lang="vi-VN" dirty="0"/>
              <a:t>Và </a:t>
            </a:r>
            <a:r>
              <a:rPr lang="vi-VN" b="1" dirty="0"/>
              <a:t>chỉ trong phạm vi được thông báo.</a:t>
            </a:r>
            <a:endParaRPr lang="vi-VN" dirty="0"/>
          </a:p>
          <a:p>
            <a:pPr marL="158750" indent="0">
              <a:buFontTx/>
              <a:buNone/>
            </a:pPr>
            <a:r>
              <a:rPr lang="vi-VN" b="1" dirty="0"/>
              <a:t>Nếu vi phạm:</a:t>
            </a:r>
          </a:p>
          <a:p>
            <a:pPr marL="158750" indent="0">
              <a:buFontTx/>
              <a:buNone/>
            </a:pPr>
            <a:r>
              <a:rPr lang="vi-VN" dirty="0"/>
              <a:t>Có thể gây </a:t>
            </a:r>
            <a:r>
              <a:rPr lang="vi-VN" b="1" dirty="0"/>
              <a:t>mất lòng tin người dùng</a:t>
            </a:r>
            <a:r>
              <a:rPr lang="vi-VN" dirty="0"/>
              <a:t>,</a:t>
            </a:r>
          </a:p>
          <a:p>
            <a:pPr marL="158750" indent="0">
              <a:buFontTx/>
              <a:buNone/>
            </a:pPr>
            <a:r>
              <a:rPr lang="vi-VN" dirty="0"/>
              <a:t>Dẫn đến </a:t>
            </a:r>
            <a:r>
              <a:rPr lang="vi-VN" b="1" dirty="0"/>
              <a:t>vi phạm pháp lý</a:t>
            </a:r>
            <a:r>
              <a:rPr lang="vi-VN" dirty="0"/>
              <a:t> (ví dụ theo GDPR, Nghị định 13/2023/NĐ-CP tại Việt Nam),</a:t>
            </a:r>
          </a:p>
          <a:p>
            <a:pPr marL="158750" indent="0">
              <a:buFontTx/>
              <a:buNone/>
            </a:pPr>
            <a:r>
              <a:rPr lang="vi-VN" dirty="0"/>
              <a:t>Và bị xử phạt nặng nề.</a:t>
            </a:r>
          </a:p>
          <a:p>
            <a:pPr marL="158750" indent="0">
              <a:buFontTx/>
              <a:buNone/>
            </a:pPr>
            <a:r>
              <a:rPr lang="vi-VN" b="1" dirty="0"/>
              <a:t>Ví dụ:</a:t>
            </a:r>
          </a:p>
          <a:p>
            <a:pPr marL="158750" indent="0">
              <a:buFontTx/>
              <a:buNone/>
            </a:pPr>
            <a:r>
              <a:rPr lang="vi-VN" dirty="0"/>
              <a:t>Kỹ sư phát triển </a:t>
            </a:r>
            <a:r>
              <a:rPr lang="vi-VN" b="1" dirty="0"/>
              <a:t>đồng hồ theo dõi sức khỏe</a:t>
            </a:r>
            <a:r>
              <a:rPr lang="vi-VN" dirty="0"/>
              <a:t> không được phép thu thập dữ liệu vị trí hoặc micro của người dùng nếu không liên quan đến chức năng đo nhịp tim hoặc theo dõi sức khỏe — trừ khi người dùng chủ động bật.</a:t>
            </a:r>
          </a:p>
          <a:p>
            <a:pPr marL="158750" indent="0">
              <a:buFontTx/>
              <a:buNone/>
            </a:pPr>
            <a:endParaRPr lang="en-US" b="1" dirty="0"/>
          </a:p>
          <a:p>
            <a:pPr marL="158750" indent="0">
              <a:buFontTx/>
              <a:buNone/>
            </a:pPr>
            <a:r>
              <a:rPr lang="en-US" b="1" dirty="0"/>
              <a:t>4. </a:t>
            </a:r>
            <a:r>
              <a:rPr lang="vi-VN" b="1" dirty="0"/>
              <a:t>Báo cáo trung thực và chịu trách nhiệm với lỗi kỹ thuật</a:t>
            </a:r>
          </a:p>
          <a:p>
            <a:pPr marL="158750" indent="0">
              <a:buFontTx/>
              <a:buNone/>
            </a:pPr>
            <a:r>
              <a:rPr lang="vi-VN" b="1" dirty="0"/>
              <a:t>Giải thích:</a:t>
            </a:r>
          </a:p>
          <a:p>
            <a:pPr marL="158750" indent="0">
              <a:buFontTx/>
              <a:buNone/>
            </a:pPr>
            <a:r>
              <a:rPr lang="vi-VN" dirty="0"/>
              <a:t>Kỹ sư IoT cần có </a:t>
            </a:r>
            <a:r>
              <a:rPr lang="vi-VN" b="1" dirty="0"/>
              <a:t>đạo đức nghề nghiệp và tinh thần trách nhiệm cao</a:t>
            </a:r>
            <a:r>
              <a:rPr lang="vi-VN" dirty="0"/>
              <a:t>.</a:t>
            </a:r>
            <a:br>
              <a:rPr lang="vi-VN" dirty="0"/>
            </a:br>
            <a:r>
              <a:rPr lang="vi-VN" dirty="0"/>
              <a:t>Trong quá trình phát triển hoặc vận hành hệ thống, nếu phát hiện:</a:t>
            </a:r>
          </a:p>
          <a:p>
            <a:pPr marL="158750" indent="0">
              <a:buFontTx/>
              <a:buNone/>
            </a:pPr>
            <a:r>
              <a:rPr lang="vi-VN" b="1" dirty="0"/>
              <a:t>Lỗi bảo mật (security vulnerability)</a:t>
            </a:r>
            <a:r>
              <a:rPr lang="vi-VN" dirty="0"/>
              <a:t>,</a:t>
            </a:r>
          </a:p>
          <a:p>
            <a:pPr marL="158750" indent="0">
              <a:buFontTx/>
              <a:buNone/>
            </a:pPr>
            <a:r>
              <a:rPr lang="vi-VN" b="1" dirty="0"/>
              <a:t>Lỗi phần mềm (software bug)</a:t>
            </a:r>
            <a:r>
              <a:rPr lang="vi-VN" dirty="0"/>
              <a:t>,</a:t>
            </a:r>
          </a:p>
          <a:p>
            <a:pPr marL="158750" indent="0">
              <a:buFontTx/>
              <a:buNone/>
            </a:pPr>
            <a:r>
              <a:rPr lang="vi-VN" dirty="0"/>
              <a:t>Hoặc </a:t>
            </a:r>
            <a:r>
              <a:rPr lang="vi-VN" b="1" dirty="0"/>
              <a:t>hành vi thu thập dữ liệu không đúng quy định</a:t>
            </a:r>
            <a:r>
              <a:rPr lang="vi-VN" dirty="0"/>
              <a:t>,</a:t>
            </a:r>
          </a:p>
          <a:p>
            <a:pPr marL="158750" indent="0">
              <a:buFontTx/>
              <a:buNone/>
            </a:pPr>
            <a:r>
              <a:rPr lang="vi-VN" dirty="0"/>
              <a:t>→ Họ phải </a:t>
            </a:r>
            <a:r>
              <a:rPr lang="vi-VN" b="1" dirty="0"/>
              <a:t>báo cáo trung thực và kịp thời</a:t>
            </a:r>
            <a:r>
              <a:rPr lang="vi-VN" dirty="0"/>
              <a:t> với đội ngũ quản lý hoặc cơ quan liên quan, </a:t>
            </a:r>
            <a:r>
              <a:rPr lang="vi-VN" b="1" dirty="0"/>
              <a:t>không được che giấu hay bỏ qua.</a:t>
            </a:r>
            <a:endParaRPr lang="vi-VN" dirty="0"/>
          </a:p>
          <a:p>
            <a:pPr marL="158750" indent="0">
              <a:buFontTx/>
              <a:buNone/>
            </a:pPr>
            <a:r>
              <a:rPr lang="vi-VN" dirty="0"/>
              <a:t>Điều này thể hiện sự chuyên nghiệp, bảo vệ người dùng và giúp tổ chức xử lý sự cố sớm, tránh rủi ro lan rộng.</a:t>
            </a:r>
          </a:p>
          <a:p>
            <a:pPr marL="158750" indent="0">
              <a:buFontTx/>
              <a:buNone/>
            </a:pPr>
            <a:r>
              <a:rPr lang="vi-VN" b="1" dirty="0"/>
              <a:t>Ví dụ:</a:t>
            </a:r>
          </a:p>
          <a:p>
            <a:pPr marL="158750" indent="0">
              <a:buFontTx/>
              <a:buNone/>
            </a:pPr>
            <a:r>
              <a:rPr lang="vi-VN" dirty="0"/>
              <a:t>Một kỹ sư phát hiện cảm biến IoT bị lỗi khiến dữ liệu truyền đi không được mã hóa — họ cần </a:t>
            </a:r>
            <a:r>
              <a:rPr lang="vi-VN" b="1" dirty="0"/>
              <a:t>báo cáo ngay</a:t>
            </a:r>
            <a:r>
              <a:rPr lang="vi-VN" dirty="0"/>
              <a:t> để khắc phục, thay vì trì hoãn hoặc che giấu vì sợ ảnh hưởng tiến độ.</a:t>
            </a:r>
          </a:p>
          <a:p>
            <a:pPr marL="158750" indent="0">
              <a:buFontTx/>
              <a:buNone/>
            </a:pPr>
            <a:endParaRPr lang="en-US" b="1" dirty="0"/>
          </a:p>
          <a:p>
            <a:pPr marL="158750" indent="0">
              <a:buFontTx/>
              <a:buNone/>
            </a:pPr>
            <a:r>
              <a:rPr lang="en-US" b="1" dirty="0"/>
              <a:t>5. </a:t>
            </a:r>
            <a:r>
              <a:rPr lang="vi-VN" b="1" dirty="0"/>
              <a:t>Kết luận</a:t>
            </a:r>
          </a:p>
          <a:p>
            <a:pPr marL="158750" indent="0">
              <a:buFontTx/>
              <a:buNone/>
            </a:pPr>
            <a:r>
              <a:rPr lang="vi-VN" dirty="0"/>
              <a:t>“Kỹ sư IoT không chỉ là người tạo ra công nghệ, mà còn là người bảo vệ niềm tin.”</a:t>
            </a:r>
          </a:p>
          <a:p>
            <a:pPr marL="158750" indent="0">
              <a:buFontTx/>
              <a:buNone/>
            </a:pPr>
            <a:r>
              <a:rPr lang="vi-VN" dirty="0"/>
              <a:t>Để trở thành một </a:t>
            </a:r>
            <a:r>
              <a:rPr lang="vi-VN" b="1" dirty="0"/>
              <a:t>kỹ sư IoT có trách nhiệm</a:t>
            </a:r>
            <a:r>
              <a:rPr lang="vi-VN" dirty="0"/>
              <a:t>, mỗi cá nhân cần:</a:t>
            </a:r>
          </a:p>
          <a:p>
            <a:pPr marL="158750" indent="0">
              <a:buFontTx/>
              <a:buNone/>
            </a:pPr>
            <a:r>
              <a:rPr lang="vi-VN" dirty="0"/>
              <a:t>Thiết kế sản phẩm </a:t>
            </a:r>
            <a:r>
              <a:rPr lang="vi-VN" b="1" dirty="0"/>
              <a:t>vì lợi ích cộng đồng</a:t>
            </a:r>
            <a:r>
              <a:rPr lang="vi-VN" dirty="0"/>
              <a:t>,</a:t>
            </a:r>
          </a:p>
          <a:p>
            <a:pPr marL="158750" indent="0">
              <a:buFontTx/>
              <a:buNone/>
            </a:pPr>
            <a:r>
              <a:rPr lang="vi-VN" dirty="0"/>
              <a:t>Tôn trọng </a:t>
            </a:r>
            <a:r>
              <a:rPr lang="vi-VN" b="1" dirty="0"/>
              <a:t>quyền riêng tư người dùng</a:t>
            </a:r>
            <a:r>
              <a:rPr lang="vi-VN" dirty="0"/>
              <a:t>,</a:t>
            </a:r>
          </a:p>
          <a:p>
            <a:pPr marL="158750" indent="0">
              <a:buFontTx/>
              <a:buNone/>
            </a:pPr>
            <a:r>
              <a:rPr lang="vi-VN" dirty="0"/>
              <a:t>Hành xử </a:t>
            </a:r>
            <a:r>
              <a:rPr lang="vi-VN" b="1" dirty="0"/>
              <a:t>minh bạch, trung thực và có đạo đức nghề nghiệp.</a:t>
            </a:r>
            <a:endParaRPr lang="vi-VN" dirty="0"/>
          </a:p>
          <a:p>
            <a:pPr marL="158750" indent="0">
              <a:buFontTx/>
              <a:buNone/>
            </a:pPr>
            <a:r>
              <a:rPr lang="vi-VN" dirty="0"/>
              <a:t>Đó chính là nền tảng để phát triển </a:t>
            </a:r>
            <a:r>
              <a:rPr lang="vi-VN" b="1" dirty="0"/>
              <a:t>IoT an toàn, bền vững và nhân văn</a:t>
            </a:r>
            <a:r>
              <a:rPr lang="vi-VN" dirty="0"/>
              <a:t> trong thời đại số.</a:t>
            </a:r>
          </a:p>
          <a:p>
            <a:pPr marL="158750" indent="0">
              <a:buFontTx/>
              <a:buNone/>
            </a:pPr>
            <a:endParaRPr lang="en-US" dirty="0"/>
          </a:p>
        </p:txBody>
      </p:sp>
    </p:spTree>
    <p:extLst>
      <p:ext uri="{BB962C8B-B14F-4D97-AF65-F5344CB8AC3E}">
        <p14:creationId xmlns:p14="http://schemas.microsoft.com/office/powerpoint/2010/main" val="23879929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Ý nghĩa của nguyên tắc Trách nhiệm trong IoT</a:t>
            </a:r>
          </a:p>
          <a:p>
            <a:pPr marL="158750" indent="0">
              <a:buFontTx/>
              <a:buNone/>
            </a:pPr>
            <a:r>
              <a:rPr lang="vi-VN" dirty="0"/>
              <a:t>Nguyên tắc </a:t>
            </a:r>
            <a:r>
              <a:rPr lang="vi-VN" b="1" dirty="0"/>
              <a:t>Trách nhiệm (Responsibility)</a:t>
            </a:r>
            <a:r>
              <a:rPr lang="vi-VN" dirty="0"/>
              <a:t> là nền tảng đầu tiên trong bộ quy tắc đạo đức nghề nghiệp của kỹ sư IoT.</a:t>
            </a:r>
            <a:br>
              <a:rPr lang="vi-VN" dirty="0"/>
            </a:br>
            <a:r>
              <a:rPr lang="vi-VN" dirty="0"/>
              <a:t>Nguyên tắc này nhấn mạnh rằng </a:t>
            </a:r>
            <a:r>
              <a:rPr lang="vi-VN" b="1" dirty="0"/>
              <a:t>mọi hành động kỹ thuật đều mang lại hệ quả thực tế</a:t>
            </a:r>
            <a:r>
              <a:rPr lang="vi-VN" dirty="0"/>
              <a:t>, và người kỹ sư phải </a:t>
            </a:r>
            <a:r>
              <a:rPr lang="vi-VN" b="1" dirty="0"/>
              <a:t>dự đoán, đánh giá, và chịu trách nhiệm</a:t>
            </a:r>
            <a:r>
              <a:rPr lang="vi-VN" dirty="0"/>
              <a:t> với những tác động mà sản phẩm hoặc hệ thống IoT của mình gây ra.</a:t>
            </a:r>
          </a:p>
          <a:p>
            <a:pPr marL="158750" indent="0">
              <a:buFontTx/>
              <a:buNone/>
            </a:pPr>
            <a:r>
              <a:rPr lang="vi-VN" dirty="0"/>
              <a:t>IoT không chỉ là phần mềm — nó gắn trực tiếp với </a:t>
            </a:r>
            <a:r>
              <a:rPr lang="vi-VN" b="1" dirty="0"/>
              <a:t>môi trường vật lý, con người và xã hội</a:t>
            </a:r>
            <a:r>
              <a:rPr lang="vi-VN" dirty="0"/>
              <a:t>.</a:t>
            </a:r>
            <a:br>
              <a:rPr lang="vi-VN" dirty="0"/>
            </a:br>
            <a:r>
              <a:rPr lang="vi-VN" dirty="0"/>
              <a:t>Vì vậy, một sai sót trong thiết kế hoặc vận hành có thể dẫn đến </a:t>
            </a:r>
            <a:r>
              <a:rPr lang="vi-VN" b="1" dirty="0"/>
              <a:t>hậu quả nghiêm trọng về an toàn, quyền riêng tư, và đạo đức xã hội.</a:t>
            </a:r>
            <a:endParaRPr lang="vi-VN" dirty="0"/>
          </a:p>
          <a:p>
            <a:pPr marL="158750" indent="0">
              <a:buFontTx/>
              <a:buNone/>
            </a:pPr>
            <a:endParaRPr lang="en-US" b="1" dirty="0"/>
          </a:p>
          <a:p>
            <a:pPr marL="158750" indent="0">
              <a:buFontTx/>
              <a:buNone/>
            </a:pPr>
            <a:r>
              <a:rPr lang="en-US" b="1" dirty="0"/>
              <a:t>2. </a:t>
            </a:r>
            <a:r>
              <a:rPr lang="vi-VN" b="1" dirty="0"/>
              <a:t>Trách nhiệm của kỹ sư IoT</a:t>
            </a:r>
          </a:p>
          <a:p>
            <a:pPr marL="158750" indent="0">
              <a:buFontTx/>
              <a:buNone/>
            </a:pPr>
            <a:r>
              <a:rPr lang="vi-VN" b="1" dirty="0"/>
              <a:t>a. Dự đoán hậu quả của công nghệ</a:t>
            </a:r>
          </a:p>
          <a:p>
            <a:pPr marL="158750" indent="0">
              <a:buFontTx/>
              <a:buNone/>
            </a:pPr>
            <a:r>
              <a:rPr lang="vi-VN" dirty="0"/>
              <a:t>Kỹ sư cần có </a:t>
            </a:r>
            <a:r>
              <a:rPr lang="vi-VN" b="1" dirty="0"/>
              <a:t>tầm nhìn dự đoán rủi ro</a:t>
            </a:r>
            <a:r>
              <a:rPr lang="vi-VN" dirty="0"/>
              <a:t>, không chỉ tập trung vào tính năng mà còn cân nhắc:</a:t>
            </a:r>
          </a:p>
          <a:p>
            <a:pPr marL="158750" indent="0">
              <a:buFontTx/>
              <a:buNone/>
            </a:pPr>
            <a:r>
              <a:rPr lang="vi-VN" dirty="0"/>
              <a:t>Sản phẩm có thể bị </a:t>
            </a:r>
            <a:r>
              <a:rPr lang="vi-VN" b="1" dirty="0"/>
              <a:t>lạm dụng</a:t>
            </a:r>
            <a:r>
              <a:rPr lang="vi-VN" dirty="0"/>
              <a:t> hay không?</a:t>
            </a:r>
          </a:p>
          <a:p>
            <a:pPr marL="158750" indent="0">
              <a:buFontTx/>
              <a:buNone/>
            </a:pPr>
            <a:r>
              <a:rPr lang="vi-VN" dirty="0"/>
              <a:t>Có nguy cơ </a:t>
            </a:r>
            <a:r>
              <a:rPr lang="vi-VN" b="1" dirty="0"/>
              <a:t>rò rỉ dữ liệu</a:t>
            </a:r>
            <a:r>
              <a:rPr lang="vi-VN" dirty="0"/>
              <a:t> hay </a:t>
            </a:r>
            <a:r>
              <a:rPr lang="vi-VN" b="1" dirty="0"/>
              <a:t>xâm phạm quyền riêng tư</a:t>
            </a:r>
            <a:r>
              <a:rPr lang="vi-VN" dirty="0"/>
              <a:t> của người khác không?</a:t>
            </a:r>
          </a:p>
          <a:p>
            <a:pPr marL="158750" indent="0">
              <a:buFontTx/>
              <a:buNone/>
            </a:pPr>
            <a:r>
              <a:rPr lang="vi-VN" dirty="0"/>
              <a:t>Nếu hệ thống gặp sự cố, ai sẽ bị ảnh hưởng và mức độ ra sao?</a:t>
            </a:r>
          </a:p>
          <a:p>
            <a:pPr marL="158750" indent="0">
              <a:buFontTx/>
              <a:buNone/>
            </a:pPr>
            <a:r>
              <a:rPr lang="vi-VN" i="1" dirty="0"/>
              <a:t>Ví dụ:</a:t>
            </a:r>
            <a:br>
              <a:rPr lang="vi-VN" dirty="0"/>
            </a:br>
            <a:r>
              <a:rPr lang="vi-VN" dirty="0"/>
              <a:t>Một hệ thống cảm biến môi trường có thể bị khai thác để theo dõi vị trí con người — kỹ sư phải nhận biết và hạn chế khả năng đó bằng biện pháp mã hóa hoặc ẩn danh dữ liệu.</a:t>
            </a:r>
          </a:p>
          <a:p>
            <a:pPr marL="158750" indent="0">
              <a:buFontTx/>
              <a:buNone/>
            </a:pPr>
            <a:r>
              <a:rPr lang="vi-VN" b="1" dirty="0"/>
              <a:t>b. Chịu trách nhiệm cho hậu quả của sản phẩm</a:t>
            </a:r>
          </a:p>
          <a:p>
            <a:pPr marL="158750" indent="0">
              <a:buFontTx/>
              <a:buNone/>
            </a:pPr>
            <a:r>
              <a:rPr lang="vi-VN" dirty="0"/>
              <a:t>Trách nhiệm không dừng lại ở việc “làm đúng kỹ thuật”, mà còn ở việc </a:t>
            </a:r>
            <a:r>
              <a:rPr lang="vi-VN" b="1" dirty="0"/>
              <a:t>chịu trách nhiệm về ảnh hưởng của công nghệ đối với xã hội</a:t>
            </a:r>
            <a:r>
              <a:rPr lang="vi-VN" dirty="0"/>
              <a:t>.</a:t>
            </a:r>
            <a:br>
              <a:rPr lang="vi-VN" dirty="0"/>
            </a:br>
            <a:r>
              <a:rPr lang="vi-VN" dirty="0"/>
              <a:t>Nếu một thiết bị IoT gây mất an toàn hoặc bị lợi dụng sai mục đích, nhà phát triển cần:</a:t>
            </a:r>
          </a:p>
          <a:p>
            <a:pPr marL="158750" indent="0">
              <a:buFontTx/>
              <a:buNone/>
            </a:pPr>
            <a:r>
              <a:rPr lang="vi-VN" b="1" dirty="0"/>
              <a:t>Thừa nhận lỗi,</a:t>
            </a:r>
            <a:endParaRPr lang="vi-VN" dirty="0"/>
          </a:p>
          <a:p>
            <a:pPr marL="158750" indent="0">
              <a:buFontTx/>
              <a:buNone/>
            </a:pPr>
            <a:r>
              <a:rPr lang="vi-VN" b="1" dirty="0"/>
              <a:t>Khắc phục nhanh chóng,</a:t>
            </a:r>
            <a:endParaRPr lang="vi-VN" dirty="0"/>
          </a:p>
          <a:p>
            <a:pPr marL="158750" indent="0">
              <a:buFontTx/>
              <a:buNone/>
            </a:pPr>
            <a:r>
              <a:rPr lang="vi-VN" dirty="0"/>
              <a:t>Và </a:t>
            </a:r>
            <a:r>
              <a:rPr lang="vi-VN" b="1" dirty="0"/>
              <a:t>đảm bảo không tái diễn.</a:t>
            </a:r>
            <a:endParaRPr lang="vi-VN" dirty="0"/>
          </a:p>
          <a:p>
            <a:pPr marL="158750" indent="0">
              <a:buFontTx/>
              <a:buNone/>
            </a:pPr>
            <a:r>
              <a:rPr lang="vi-VN" i="1" dirty="0"/>
              <a:t>Ví dụ:</a:t>
            </a:r>
            <a:br>
              <a:rPr lang="vi-VN" dirty="0"/>
            </a:br>
            <a:r>
              <a:rPr lang="vi-VN" dirty="0"/>
              <a:t>Nếu hệ thống camera IoT bị tấn công, kỹ sư không thể chỉ đổ lỗi cho người dùng “không đổi mật khẩu” — mà phải xem lại lỗ hổng thiết kế, cập nhật firmware, và cải thiện quy trình bảo mật.</a:t>
            </a:r>
          </a:p>
          <a:p>
            <a:pPr marL="158750" indent="0">
              <a:buFontTx/>
              <a:buNone/>
            </a:pPr>
            <a:endParaRPr lang="en-US" b="1" dirty="0"/>
          </a:p>
          <a:p>
            <a:pPr marL="158750" indent="0">
              <a:buFontTx/>
              <a:buNone/>
            </a:pPr>
            <a:r>
              <a:rPr lang="en-US" b="1" dirty="0"/>
              <a:t>3. </a:t>
            </a:r>
            <a:r>
              <a:rPr lang="vi-VN" b="1" dirty="0"/>
              <a:t>Trách nhiệm xã hội của hệ thống IoT</a:t>
            </a:r>
          </a:p>
          <a:p>
            <a:pPr marL="158750" indent="0">
              <a:buFontTx/>
              <a:buNone/>
            </a:pPr>
            <a:r>
              <a:rPr lang="vi-VN" dirty="0"/>
              <a:t>Các hệ thống IoT không chỉ hoạt động trong không gian ảo mà còn </a:t>
            </a:r>
            <a:r>
              <a:rPr lang="vi-VN" b="1" dirty="0"/>
              <a:t>tác động trực tiếp đến thế giới thực</a:t>
            </a:r>
            <a:r>
              <a:rPr lang="vi-VN" dirty="0"/>
              <a:t>, bao gồm:</a:t>
            </a:r>
          </a:p>
          <a:p>
            <a:pPr marL="158750" indent="0">
              <a:buFontTx/>
              <a:buNone/>
            </a:pPr>
            <a:r>
              <a:rPr lang="vi-VN" b="1" dirty="0"/>
              <a:t>Môi trường vật lý:</a:t>
            </a:r>
            <a:r>
              <a:rPr lang="vi-VN" dirty="0"/>
              <a:t> cảm biến, drone, xe tự hành, robot công nghiệp, v.v.</a:t>
            </a:r>
          </a:p>
          <a:p>
            <a:pPr marL="158750" indent="0">
              <a:buFontTx/>
              <a:buNone/>
            </a:pPr>
            <a:r>
              <a:rPr lang="vi-VN" b="1" dirty="0"/>
              <a:t>An toàn cộng đồng:</a:t>
            </a:r>
            <a:r>
              <a:rPr lang="vi-VN" dirty="0"/>
              <a:t> hệ thống giao thông thông minh, thiết bị y tế, năng lượng.</a:t>
            </a:r>
          </a:p>
          <a:p>
            <a:pPr marL="158750" indent="0">
              <a:buFontTx/>
              <a:buNone/>
            </a:pPr>
            <a:r>
              <a:rPr lang="vi-VN" b="1" dirty="0"/>
              <a:t>Quyền riêng tư cá nhân:</a:t>
            </a:r>
            <a:r>
              <a:rPr lang="vi-VN" dirty="0"/>
              <a:t> dữ liệu hình ảnh, âm thanh, vị trí, hành vi người dùng.</a:t>
            </a:r>
          </a:p>
          <a:p>
            <a:pPr marL="158750" indent="0">
              <a:buFontTx/>
              <a:buNone/>
            </a:pPr>
            <a:r>
              <a:rPr lang="vi-VN" dirty="0"/>
              <a:t>Do đó, kỹ sư IoT cần có </a:t>
            </a:r>
            <a:r>
              <a:rPr lang="vi-VN" b="1" dirty="0"/>
              <a:t>trách nhiệm xã hội</a:t>
            </a:r>
            <a:r>
              <a:rPr lang="vi-VN" dirty="0"/>
              <a:t> — nghĩa là không chỉ tạo ra công nghệ hoạt động tốt, mà còn đảm bảo nó </a:t>
            </a:r>
            <a:r>
              <a:rPr lang="vi-VN" b="1" dirty="0"/>
              <a:t>phục vụ con người và không gây hại.</a:t>
            </a:r>
            <a:endParaRPr lang="vi-VN" dirty="0"/>
          </a:p>
          <a:p>
            <a:pPr marL="158750" indent="0">
              <a:buFontTx/>
              <a:buNone/>
            </a:pPr>
            <a:r>
              <a:rPr lang="vi-VN" i="1" dirty="0"/>
              <a:t>Ví dụ minh họa trong slide:</a:t>
            </a:r>
            <a:endParaRPr lang="vi-VN" dirty="0"/>
          </a:p>
          <a:p>
            <a:pPr marL="158750" indent="0">
              <a:buFontTx/>
              <a:buNone/>
            </a:pPr>
            <a:r>
              <a:rPr lang="vi-VN" dirty="0"/>
              <a:t>“Drone giám sát phải tuân thủ quy định về quyền riêng tư và không gian bay.”</a:t>
            </a:r>
          </a:p>
          <a:p>
            <a:pPr marL="158750" indent="0">
              <a:buFontTx/>
              <a:buNone/>
            </a:pPr>
            <a:r>
              <a:rPr lang="vi-VN" dirty="0"/>
              <a:t>Giải thích:</a:t>
            </a:r>
          </a:p>
          <a:p>
            <a:pPr marL="158750" indent="0">
              <a:buFontTx/>
              <a:buNone/>
            </a:pPr>
            <a:r>
              <a:rPr lang="vi-VN" dirty="0"/>
              <a:t>Drone là thiết bị có khả năng ghi hình, thu âm, hoặc theo dõi vị trí, dễ xâm phạm quyền riêng tư.</a:t>
            </a:r>
          </a:p>
          <a:p>
            <a:pPr marL="158750" indent="0">
              <a:buFontTx/>
              <a:buNone/>
            </a:pPr>
            <a:r>
              <a:rPr lang="vi-VN" dirty="0"/>
              <a:t>Do đó, kỹ sư phải:</a:t>
            </a:r>
          </a:p>
          <a:p>
            <a:pPr marL="457200" lvl="1" indent="0">
              <a:buFontTx/>
              <a:buNone/>
            </a:pPr>
            <a:r>
              <a:rPr lang="vi-VN" dirty="0"/>
              <a:t>Giới hạn khu vực bay (theo pháp luật và cấp phép).</a:t>
            </a:r>
          </a:p>
          <a:p>
            <a:pPr marL="457200" lvl="1" indent="0">
              <a:buFontTx/>
              <a:buNone/>
            </a:pPr>
            <a:r>
              <a:rPr lang="vi-VN" dirty="0"/>
              <a:t>Không lưu trữ hoặc phát tán hình ảnh mà không có sự đồng ý của cá nhân liên quan.</a:t>
            </a:r>
          </a:p>
          <a:p>
            <a:pPr marL="457200" lvl="1" indent="0">
              <a:buFontTx/>
              <a:buNone/>
            </a:pPr>
            <a:r>
              <a:rPr lang="vi-VN" dirty="0"/>
              <a:t>Tuân thủ quy định hàng không dân dụng và quy định về bảo mật dữ liệu.</a:t>
            </a:r>
          </a:p>
          <a:p>
            <a:pPr marL="158750" indent="0">
              <a:buFontTx/>
              <a:buNone/>
            </a:pPr>
            <a:endParaRPr lang="en-US" b="1" dirty="0"/>
          </a:p>
          <a:p>
            <a:pPr marL="158750" indent="0">
              <a:buFontTx/>
              <a:buNone/>
            </a:pPr>
            <a:r>
              <a:rPr lang="en-US" b="1" dirty="0"/>
              <a:t>5. </a:t>
            </a:r>
            <a:r>
              <a:rPr lang="vi-VN" b="1" dirty="0"/>
              <a:t>Kết luận</a:t>
            </a:r>
          </a:p>
          <a:p>
            <a:pPr marL="158750" indent="0">
              <a:buFontTx/>
              <a:buNone/>
            </a:pPr>
            <a:r>
              <a:rPr lang="vi-VN" dirty="0"/>
              <a:t>“Làm kỹ sư IoT không chỉ là tạo ra công nghệ thông minh, mà là tạo ra công nghệ có trách nhiệm.”</a:t>
            </a:r>
          </a:p>
          <a:p>
            <a:pPr marL="158750" indent="0">
              <a:buFontTx/>
              <a:buNone/>
            </a:pPr>
            <a:r>
              <a:rPr lang="vi-VN" dirty="0"/>
              <a:t>Nguyên tắc </a:t>
            </a:r>
            <a:r>
              <a:rPr lang="vi-VN" b="1" dirty="0"/>
              <a:t>Trách nhiệm</a:t>
            </a:r>
            <a:r>
              <a:rPr lang="vi-VN" dirty="0"/>
              <a:t> nhắc nhở rằng:</a:t>
            </a:r>
          </a:p>
          <a:p>
            <a:pPr marL="158750" indent="0">
              <a:buFontTx/>
              <a:buNone/>
            </a:pPr>
            <a:r>
              <a:rPr lang="vi-VN" dirty="0"/>
              <a:t>Mỗi quyết định thiết kế, mỗi dòng code, mỗi cảm biến gắn lên thiết bị </a:t>
            </a:r>
            <a:r>
              <a:rPr lang="vi-VN" b="1" dirty="0"/>
              <a:t>đều mang theo tác động xã hội thực tế.</a:t>
            </a:r>
            <a:endParaRPr lang="vi-VN" dirty="0"/>
          </a:p>
          <a:p>
            <a:pPr marL="158750" indent="0">
              <a:buFontTx/>
              <a:buNone/>
            </a:pPr>
            <a:r>
              <a:rPr lang="vi-VN" dirty="0"/>
              <a:t>Kỹ sư IoT phải </a:t>
            </a:r>
            <a:r>
              <a:rPr lang="vi-VN" b="1" dirty="0"/>
              <a:t>dự đoán, phòng ngừa, và chịu trách nhiệm</a:t>
            </a:r>
            <a:r>
              <a:rPr lang="vi-VN" dirty="0"/>
              <a:t> với những hệ quả đó — từ góc độ kỹ thuật, pháp lý, và đạo đức.</a:t>
            </a:r>
          </a:p>
          <a:p>
            <a:pPr marL="158750" indent="0">
              <a:buFontTx/>
              <a:buNone/>
            </a:pPr>
            <a:r>
              <a:rPr lang="vi-VN" dirty="0"/>
              <a:t>IoT chỉ thực sự thông minh khi </a:t>
            </a:r>
            <a:r>
              <a:rPr lang="vi-VN" b="1" dirty="0"/>
              <a:t>nó phục vụ con người một cách an toàn, minh bạch và có trách nhiệm.</a:t>
            </a:r>
            <a:endParaRPr lang="vi-VN" dirty="0"/>
          </a:p>
          <a:p>
            <a:pPr marL="158750" indent="0">
              <a:buFontTx/>
              <a:buNone/>
            </a:pPr>
            <a:endParaRPr lang="en-US" dirty="0"/>
          </a:p>
        </p:txBody>
      </p:sp>
    </p:spTree>
    <p:extLst>
      <p:ext uri="{BB962C8B-B14F-4D97-AF65-F5344CB8AC3E}">
        <p14:creationId xmlns:p14="http://schemas.microsoft.com/office/powerpoint/2010/main" val="12833269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Ý nghĩa của nguyên tắc “Tôn trọng quyền riêng tư”</a:t>
            </a:r>
          </a:p>
          <a:p>
            <a:pPr marL="158750" indent="0">
              <a:buFontTx/>
              <a:buNone/>
            </a:pPr>
            <a:r>
              <a:rPr lang="vi-VN" dirty="0"/>
              <a:t>Nguyên tắc </a:t>
            </a:r>
            <a:r>
              <a:rPr lang="vi-VN" b="1" dirty="0"/>
              <a:t>Tôn trọng quyền riêng tư (Privacy Respect)</a:t>
            </a:r>
            <a:r>
              <a:rPr lang="vi-VN" dirty="0"/>
              <a:t> là trụ cột quan trọng nhất trong đạo đức nghề nghiệp của kỹ sư và tổ chức phát triển hệ thống IoT.</a:t>
            </a:r>
            <a:br>
              <a:rPr lang="vi-VN" dirty="0"/>
            </a:br>
            <a:r>
              <a:rPr lang="vi-VN" dirty="0"/>
              <a:t>Nó khẳng định rằng </a:t>
            </a:r>
            <a:r>
              <a:rPr lang="vi-VN" b="1" dirty="0"/>
              <a:t>dữ liệu cá nhân của người dùng là tài sản riêng biệt, cần được bảo vệ tuyệt đối</a:t>
            </a:r>
            <a:r>
              <a:rPr lang="vi-VN" dirty="0"/>
              <a:t>, tương tự như tài sản vật chất của họ.</a:t>
            </a:r>
          </a:p>
          <a:p>
            <a:pPr marL="158750" indent="0">
              <a:buFontTx/>
              <a:buNone/>
            </a:pPr>
            <a:r>
              <a:rPr lang="vi-VN" dirty="0"/>
              <a:t>Trong bối cảnh IoT, nơi mọi thiết bị — từ đồng hồ thông minh, camera, tủ lạnh đến xe hơi — đều có khả năng thu thập và truyền dữ liệu, việc tôn trọng quyền riêng tư là </a:t>
            </a:r>
            <a:r>
              <a:rPr lang="vi-VN" b="1" dirty="0"/>
              <a:t>điều kiện tiên quyết để duy trì niềm tin giữa công nghệ và con người.</a:t>
            </a:r>
            <a:endParaRPr lang="vi-VN" dirty="0"/>
          </a:p>
          <a:p>
            <a:pPr marL="158750" indent="0">
              <a:buFontTx/>
              <a:buNone/>
            </a:pPr>
            <a:endParaRPr lang="en-US" b="1" dirty="0"/>
          </a:p>
          <a:p>
            <a:pPr marL="158750" indent="0">
              <a:buFontTx/>
              <a:buNone/>
            </a:pPr>
            <a:r>
              <a:rPr lang="en-US" b="1" dirty="0"/>
              <a:t>2. </a:t>
            </a:r>
            <a:r>
              <a:rPr lang="vi-VN" b="1" dirty="0"/>
              <a:t>Xem dữ liệu người dùng là tài sản cá nhân cần bảo vệ</a:t>
            </a:r>
          </a:p>
          <a:p>
            <a:pPr marL="158750" indent="0">
              <a:buFontTx/>
              <a:buNone/>
            </a:pPr>
            <a:r>
              <a:rPr lang="vi-VN" b="1" dirty="0"/>
              <a:t>Giải thích:</a:t>
            </a:r>
          </a:p>
          <a:p>
            <a:pPr marL="158750" indent="0">
              <a:buFontTx/>
              <a:buNone/>
            </a:pPr>
            <a:r>
              <a:rPr lang="vi-VN" dirty="0"/>
              <a:t>Dữ liệu người dùng (User Data) bao gồm:</a:t>
            </a:r>
          </a:p>
          <a:p>
            <a:pPr marL="158750" indent="0">
              <a:buFontTx/>
              <a:buNone/>
            </a:pPr>
            <a:r>
              <a:rPr lang="vi-VN" b="1" dirty="0"/>
              <a:t>Thông tin cá nhân:</a:t>
            </a:r>
            <a:r>
              <a:rPr lang="vi-VN" dirty="0"/>
              <a:t> họ tên, tuổi, địa chỉ, giới tính.</a:t>
            </a:r>
          </a:p>
          <a:p>
            <a:pPr marL="158750" indent="0">
              <a:buFontTx/>
              <a:buNone/>
            </a:pPr>
            <a:r>
              <a:rPr lang="vi-VN" b="1" dirty="0"/>
              <a:t>Dữ liệu hành vi:</a:t>
            </a:r>
            <a:r>
              <a:rPr lang="vi-VN" dirty="0"/>
              <a:t> thói quen, vị trí GPS, lịch sử sử dụng thiết bị.</a:t>
            </a:r>
          </a:p>
          <a:p>
            <a:pPr marL="158750" indent="0">
              <a:buFontTx/>
              <a:buNone/>
            </a:pPr>
            <a:r>
              <a:rPr lang="vi-VN" b="1" dirty="0"/>
              <a:t>Dữ liệu sinh học:</a:t>
            </a:r>
            <a:r>
              <a:rPr lang="vi-VN" dirty="0"/>
              <a:t> nhịp tim, giấc ngủ, bước chân, tình trạng sức khỏe.</a:t>
            </a:r>
          </a:p>
          <a:p>
            <a:pPr marL="158750" indent="0">
              <a:buFontTx/>
              <a:buNone/>
            </a:pPr>
            <a:r>
              <a:rPr lang="vi-VN" dirty="0"/>
              <a:t>Kỹ sư IoT cần </a:t>
            </a:r>
            <a:r>
              <a:rPr lang="vi-VN" b="1" dirty="0"/>
              <a:t>xem các dữ liệu này như tài sản riêng của người dùng</a:t>
            </a:r>
            <a:r>
              <a:rPr lang="vi-VN" dirty="0"/>
              <a:t>, không được sử dụng, chia sẻ, hoặc bán cho bên thứ ba nếu không có </a:t>
            </a:r>
            <a:r>
              <a:rPr lang="vi-VN" b="1" dirty="0"/>
              <a:t>sự đồng ý rõ ràng (explicit consent)</a:t>
            </a:r>
            <a:r>
              <a:rPr lang="vi-VN" dirty="0"/>
              <a:t>.</a:t>
            </a:r>
            <a:br>
              <a:rPr lang="vi-VN" dirty="0"/>
            </a:br>
            <a:r>
              <a:rPr lang="vi-VN" dirty="0"/>
              <a:t>Mỗi hành động truy cập, lưu trữ, hoặc xử lý dữ liệu đều phải được </a:t>
            </a:r>
            <a:r>
              <a:rPr lang="vi-VN" b="1" dirty="0"/>
              <a:t>minh bạch và có mục đích chính đáng.</a:t>
            </a:r>
            <a:endParaRPr lang="vi-VN" dirty="0"/>
          </a:p>
          <a:p>
            <a:pPr marL="158750" indent="0">
              <a:buFontTx/>
              <a:buNone/>
            </a:pPr>
            <a:r>
              <a:rPr lang="vi-VN" b="1" dirty="0"/>
              <a:t>Ví dụ:</a:t>
            </a:r>
          </a:p>
          <a:p>
            <a:pPr marL="158750" indent="0">
              <a:buFontTx/>
              <a:buNone/>
            </a:pPr>
            <a:r>
              <a:rPr lang="vi-VN" dirty="0"/>
              <a:t>Một công ty phát triển ứng dụng theo dõi giấc ngủ </a:t>
            </a:r>
            <a:r>
              <a:rPr lang="vi-VN" b="1" dirty="0"/>
              <a:t>không được phép gửi dữ liệu người dùng đến các công ty bảo hiểm</a:t>
            </a:r>
            <a:r>
              <a:rPr lang="vi-VN" dirty="0"/>
              <a:t> hoặc </a:t>
            </a:r>
            <a:r>
              <a:rPr lang="vi-VN" b="1" dirty="0"/>
              <a:t>nhà quảng cáo</a:t>
            </a:r>
            <a:r>
              <a:rPr lang="vi-VN" dirty="0"/>
              <a:t> mà không có sự chấp thuận.</a:t>
            </a:r>
          </a:p>
          <a:p>
            <a:pPr marL="158750" indent="0">
              <a:buFontTx/>
              <a:buNone/>
            </a:pPr>
            <a:endParaRPr lang="en-US" b="1" dirty="0"/>
          </a:p>
          <a:p>
            <a:pPr marL="158750" indent="0">
              <a:buFontTx/>
              <a:buNone/>
            </a:pPr>
            <a:r>
              <a:rPr lang="vi-VN" b="1" dirty="0"/>
              <a:t>3. Chỉ thu thập và xử lý dữ liệu thật sự cần thiết</a:t>
            </a:r>
          </a:p>
          <a:p>
            <a:pPr marL="158750" indent="0">
              <a:buFontTx/>
              <a:buNone/>
            </a:pPr>
            <a:r>
              <a:rPr lang="vi-VN" b="1" dirty="0"/>
              <a:t>Giải thích:</a:t>
            </a:r>
          </a:p>
          <a:p>
            <a:pPr marL="158750" indent="0">
              <a:buFontTx/>
              <a:buNone/>
            </a:pPr>
            <a:r>
              <a:rPr lang="vi-VN" dirty="0"/>
              <a:t>Đây là nguyên tắc </a:t>
            </a:r>
            <a:r>
              <a:rPr lang="vi-VN" b="1" dirty="0"/>
              <a:t>“Data Minimization”</a:t>
            </a:r>
            <a:r>
              <a:rPr lang="vi-VN" dirty="0"/>
              <a:t> — thu thập ít dữ liệu nhất có thể để giảm rủi ro rò rỉ và lạm dụng.</a:t>
            </a:r>
            <a:br>
              <a:rPr lang="vi-VN" dirty="0"/>
            </a:br>
            <a:r>
              <a:rPr lang="vi-VN" dirty="0"/>
              <a:t>Kỹ sư IoT cần đảm bảo:</a:t>
            </a:r>
          </a:p>
          <a:p>
            <a:pPr marL="158750" indent="0">
              <a:buFontTx/>
              <a:buNone/>
            </a:pPr>
            <a:r>
              <a:rPr lang="vi-VN" dirty="0"/>
              <a:t>Không thu thập </a:t>
            </a:r>
            <a:r>
              <a:rPr lang="vi-VN" b="1" dirty="0"/>
              <a:t>dữ liệu thừa</a:t>
            </a:r>
            <a:r>
              <a:rPr lang="vi-VN" dirty="0"/>
              <a:t> ngoài mục đích hoạt động của thiết bị.</a:t>
            </a:r>
          </a:p>
          <a:p>
            <a:pPr marL="158750" indent="0">
              <a:buFontTx/>
              <a:buNone/>
            </a:pPr>
            <a:r>
              <a:rPr lang="vi-VN" dirty="0"/>
              <a:t>Không kết hợp dữ liệu từ nhiều nguồn mà người dùng không biết.</a:t>
            </a:r>
          </a:p>
          <a:p>
            <a:pPr marL="158750" indent="0">
              <a:buFontTx/>
              <a:buNone/>
            </a:pPr>
            <a:r>
              <a:rPr lang="vi-VN" dirty="0"/>
              <a:t>Không lưu trữ dữ liệu </a:t>
            </a:r>
            <a:r>
              <a:rPr lang="vi-VN" b="1" dirty="0"/>
              <a:t>lâu hơn thời gian cần thiết.</a:t>
            </a:r>
            <a:endParaRPr lang="vi-VN" dirty="0"/>
          </a:p>
          <a:p>
            <a:pPr marL="158750" indent="0">
              <a:buFontTx/>
              <a:buNone/>
            </a:pPr>
            <a:r>
              <a:rPr lang="vi-VN" dirty="0"/>
              <a:t>Nguyên tắc này giúp:</a:t>
            </a:r>
          </a:p>
          <a:p>
            <a:pPr marL="158750" indent="0">
              <a:buFontTx/>
              <a:buNone/>
            </a:pPr>
            <a:r>
              <a:rPr lang="vi-VN" b="1" dirty="0"/>
              <a:t>Giảm nguy cơ vi phạm quyền riêng tư.</a:t>
            </a:r>
            <a:endParaRPr lang="vi-VN" dirty="0"/>
          </a:p>
          <a:p>
            <a:pPr marL="158750" indent="0">
              <a:buFontTx/>
              <a:buNone/>
            </a:pPr>
            <a:r>
              <a:rPr lang="vi-VN" b="1" dirty="0"/>
              <a:t>Giảm chi phí và gánh nặng bảo mật.</a:t>
            </a:r>
            <a:endParaRPr lang="vi-VN" dirty="0"/>
          </a:p>
          <a:p>
            <a:pPr marL="158750" indent="0">
              <a:buFontTx/>
              <a:buNone/>
            </a:pPr>
            <a:r>
              <a:rPr lang="vi-VN" b="1" dirty="0"/>
              <a:t>Tăng sự minh bạch trong thiết kế hệ thống.</a:t>
            </a:r>
            <a:endParaRPr lang="vi-VN" dirty="0"/>
          </a:p>
          <a:p>
            <a:pPr marL="158750" indent="0">
              <a:buFontTx/>
              <a:buNone/>
            </a:pPr>
            <a:r>
              <a:rPr lang="vi-VN" b="1" dirty="0"/>
              <a:t>Ví dụ:</a:t>
            </a:r>
          </a:p>
          <a:p>
            <a:pPr marL="158750" indent="0">
              <a:buFontTx/>
              <a:buNone/>
            </a:pPr>
            <a:r>
              <a:rPr lang="vi-VN" dirty="0"/>
              <a:t>Một </a:t>
            </a:r>
            <a:r>
              <a:rPr lang="vi-VN" b="1" dirty="0"/>
              <a:t>thiết bị IoT giám sát sức khỏe</a:t>
            </a:r>
            <a:r>
              <a:rPr lang="vi-VN" dirty="0"/>
              <a:t> chỉ nên thu thập các chỉ số cần thiết như nhịp tim và giấc ngủ, </a:t>
            </a:r>
            <a:r>
              <a:rPr lang="vi-VN" b="1" dirty="0"/>
              <a:t>không nên lưu dữ liệu vị trí GPS hoặc danh bạ người dùng</a:t>
            </a:r>
            <a:r>
              <a:rPr lang="vi-VN" dirty="0"/>
              <a:t> nếu không phục vụ cho mục tiêu y tế.</a:t>
            </a:r>
          </a:p>
          <a:p>
            <a:pPr marL="158750" indent="0">
              <a:buFontTx/>
              <a:buNone/>
            </a:pPr>
            <a:endParaRPr lang="en-US" b="1" dirty="0"/>
          </a:p>
          <a:p>
            <a:pPr marL="158750" indent="0">
              <a:buFontTx/>
              <a:buNone/>
            </a:pPr>
            <a:r>
              <a:rPr lang="en-US" b="1" dirty="0"/>
              <a:t>4. </a:t>
            </a:r>
            <a:r>
              <a:rPr lang="vi-VN" b="1" dirty="0"/>
              <a:t>Ví dụ thực tế: Vòng đeo tay sức khỏe và vấn đề chia sẻ dữ liệu</a:t>
            </a:r>
          </a:p>
          <a:p>
            <a:pPr marL="158750" indent="0">
              <a:buFontTx/>
              <a:buNone/>
            </a:pPr>
            <a:r>
              <a:rPr lang="vi-VN" dirty="0"/>
              <a:t>Trong ví dụ của slide:</a:t>
            </a:r>
          </a:p>
          <a:p>
            <a:pPr marL="158750" indent="0">
              <a:buFontTx/>
              <a:buNone/>
            </a:pPr>
            <a:r>
              <a:rPr lang="vi-VN" dirty="0"/>
              <a:t>“Vòng đeo tay sức khỏe không được chia sẻ dữ liệu cho bên quảng cáo nếu chưa có sự đồng ý.”</a:t>
            </a:r>
          </a:p>
          <a:p>
            <a:pPr marL="158750" indent="0">
              <a:buFontTx/>
              <a:buNone/>
            </a:pPr>
            <a:r>
              <a:rPr lang="vi-VN" b="1" dirty="0"/>
              <a:t>Giải thích:</a:t>
            </a:r>
          </a:p>
          <a:p>
            <a:pPr marL="158750" indent="0">
              <a:buFontTx/>
              <a:buNone/>
            </a:pPr>
            <a:r>
              <a:rPr lang="vi-VN" dirty="0"/>
              <a:t>Vòng đeo tay sức khỏe thu thập </a:t>
            </a:r>
            <a:r>
              <a:rPr lang="vi-VN" b="1" dirty="0"/>
              <a:t>dữ liệu sinh lý cá nhân (như nhịp tim, vận động, giấc ngủ)</a:t>
            </a:r>
            <a:r>
              <a:rPr lang="vi-VN" dirty="0"/>
              <a:t> — đây là dữ liệu </a:t>
            </a:r>
            <a:r>
              <a:rPr lang="vi-VN" b="1" dirty="0"/>
              <a:t>nhạy cảm</a:t>
            </a:r>
            <a:r>
              <a:rPr lang="vi-VN" dirty="0"/>
              <a:t>.</a:t>
            </a:r>
          </a:p>
          <a:p>
            <a:pPr marL="158750" indent="0">
              <a:buFontTx/>
              <a:buNone/>
            </a:pPr>
            <a:r>
              <a:rPr lang="vi-VN" dirty="0"/>
              <a:t>Nếu công ty chia sẻ các dữ liệu này với </a:t>
            </a:r>
            <a:r>
              <a:rPr lang="vi-VN" b="1" dirty="0"/>
              <a:t>bên quảng cáo, công ty bảo hiểm hoặc nhà thuốc</a:t>
            </a:r>
            <a:r>
              <a:rPr lang="vi-VN" dirty="0"/>
              <a:t> mà không có sự cho phép, điều đó vi phạm quyền riêng tư của người dùng.</a:t>
            </a:r>
          </a:p>
          <a:p>
            <a:pPr marL="158750" indent="0">
              <a:buFontTx/>
              <a:buNone/>
            </a:pPr>
            <a:r>
              <a:rPr lang="vi-VN" dirty="0"/>
              <a:t>Người dùng phải </a:t>
            </a:r>
            <a:r>
              <a:rPr lang="vi-VN" b="1" dirty="0"/>
              <a:t>được thông báo rõ ràng</a:t>
            </a:r>
            <a:r>
              <a:rPr lang="vi-VN" dirty="0"/>
              <a:t> và có </a:t>
            </a:r>
            <a:r>
              <a:rPr lang="vi-VN" b="1" dirty="0"/>
              <a:t>quyền từ chối (opt-out)</a:t>
            </a:r>
            <a:r>
              <a:rPr lang="vi-VN" dirty="0"/>
              <a:t> việc chia sẻ đó.</a:t>
            </a:r>
          </a:p>
          <a:p>
            <a:pPr marL="158750" indent="0">
              <a:buFontTx/>
              <a:buNone/>
            </a:pPr>
            <a:r>
              <a:rPr lang="vi-VN" b="1" dirty="0"/>
              <a:t>Hậu quả nếu vi phạm:</a:t>
            </a:r>
          </a:p>
          <a:p>
            <a:pPr marL="158750" indent="0">
              <a:buFontTx/>
              <a:buNone/>
            </a:pPr>
            <a:r>
              <a:rPr lang="vi-VN" b="1" dirty="0"/>
              <a:t>Mất lòng tin người dùng.</a:t>
            </a:r>
            <a:endParaRPr lang="vi-VN" dirty="0"/>
          </a:p>
          <a:p>
            <a:pPr marL="158750" indent="0">
              <a:buFontTx/>
              <a:buNone/>
            </a:pPr>
            <a:r>
              <a:rPr lang="vi-VN" b="1" dirty="0"/>
              <a:t>Vi phạm luật bảo vệ dữ liệu (như GDPR hoặc Nghị định 13/2023/NĐ-CP).</a:t>
            </a:r>
            <a:endParaRPr lang="vi-VN" dirty="0"/>
          </a:p>
          <a:p>
            <a:pPr marL="158750" indent="0">
              <a:buFontTx/>
              <a:buNone/>
            </a:pPr>
            <a:r>
              <a:rPr lang="vi-VN" b="1" dirty="0"/>
              <a:t>Rủi ro pháp lý và thiệt hại uy tín nghiêm trọng.</a:t>
            </a:r>
            <a:endParaRPr lang="vi-VN" dirty="0"/>
          </a:p>
          <a:p>
            <a:pPr marL="158750" indent="0">
              <a:buFontTx/>
              <a:buNone/>
            </a:pPr>
            <a:endParaRPr lang="en-US" b="1" dirty="0"/>
          </a:p>
          <a:p>
            <a:pPr marL="158750" indent="0">
              <a:buFontTx/>
              <a:buNone/>
            </a:pPr>
            <a:r>
              <a:rPr lang="vi-VN" b="1" dirty="0"/>
              <a:t>5. Liên hệ với luật pháp quốc tế và Việt Nam</a:t>
            </a:r>
          </a:p>
          <a:p>
            <a:pPr marL="158750" indent="0">
              <a:buFontTx/>
              <a:buNone/>
            </a:pPr>
            <a:r>
              <a:rPr lang="vi-VN" b="1" dirty="0"/>
              <a:t>GDPR (EU):</a:t>
            </a:r>
            <a:r>
              <a:rPr lang="vi-VN" dirty="0"/>
              <a:t> Yêu cầu có “consent” trước khi thu thập dữ liệu, cho phép người dùng quyền truy cập và xóa dữ liệu.</a:t>
            </a:r>
          </a:p>
          <a:p>
            <a:pPr marL="158750" indent="0">
              <a:buFontTx/>
              <a:buNone/>
            </a:pPr>
            <a:r>
              <a:rPr lang="vi-VN" b="1" dirty="0"/>
              <a:t>HIPAA (Mỹ):</a:t>
            </a:r>
            <a:r>
              <a:rPr lang="vi-VN" dirty="0"/>
              <a:t> Bảo vệ dữ liệu y tế và giới hạn quyền truy cập chỉ cho nhân viên được ủy quyền.</a:t>
            </a:r>
          </a:p>
          <a:p>
            <a:pPr marL="158750" indent="0">
              <a:buFontTx/>
              <a:buNone/>
            </a:pPr>
            <a:r>
              <a:rPr lang="vi-VN" b="1" dirty="0"/>
              <a:t>Nghị định 13/2023/NĐ-CP (Việt Nam):</a:t>
            </a:r>
            <a:r>
              <a:rPr lang="vi-VN" dirty="0"/>
              <a:t> Đặt ra quy định rõ ràng về việc thu thập, xử lý và chia sẻ dữ liệu cá nhân tại Việt Nam.</a:t>
            </a:r>
          </a:p>
          <a:p>
            <a:pPr marL="158750" indent="0">
              <a:buFontTx/>
              <a:buNone/>
            </a:pPr>
            <a:r>
              <a:rPr lang="vi-VN" dirty="0"/>
              <a:t>Tất cả các khung pháp lý này đều xoay quanh một nguyên tắc cốt lõi:</a:t>
            </a:r>
          </a:p>
          <a:p>
            <a:pPr marL="158750" indent="0">
              <a:buFontTx/>
              <a:buNone/>
            </a:pPr>
            <a:r>
              <a:rPr lang="vi-VN" b="1" dirty="0"/>
              <a:t>“Dữ liệu cá nhân là quyền của người dùng — không phải tài nguyên của doanh nghiệp.”</a:t>
            </a:r>
            <a:endParaRPr lang="vi-VN" dirty="0"/>
          </a:p>
          <a:p>
            <a:pPr marL="158750" indent="0">
              <a:buFontTx/>
              <a:buNone/>
            </a:pPr>
            <a:endParaRPr lang="en-US" b="1" dirty="0"/>
          </a:p>
          <a:p>
            <a:pPr marL="158750" indent="0">
              <a:buFontTx/>
              <a:buNone/>
            </a:pPr>
            <a:r>
              <a:rPr lang="en-US" b="1" dirty="0"/>
              <a:t>6. </a:t>
            </a:r>
            <a:r>
              <a:rPr lang="vi-VN" b="1" dirty="0"/>
              <a:t>Kết luận</a:t>
            </a:r>
          </a:p>
          <a:p>
            <a:pPr marL="158750" indent="0">
              <a:buFontTx/>
              <a:buNone/>
            </a:pPr>
            <a:r>
              <a:rPr lang="vi-VN" dirty="0"/>
              <a:t>Nguyên tắc </a:t>
            </a:r>
            <a:r>
              <a:rPr lang="vi-VN" b="1" dirty="0"/>
              <a:t>Tôn trọng quyền riêng tư (Privacy Respect)</a:t>
            </a:r>
            <a:r>
              <a:rPr lang="vi-VN" dirty="0"/>
              <a:t> là thước đo đạo đức trong thiết kế và vận hành hệ thống IoT.</a:t>
            </a:r>
            <a:br>
              <a:rPr lang="vi-VN" dirty="0"/>
            </a:br>
            <a:r>
              <a:rPr lang="vi-VN" dirty="0"/>
              <a:t>Khi kỹ sư tuân thủ nguyên tắc này:</a:t>
            </a:r>
          </a:p>
          <a:p>
            <a:pPr marL="158750" indent="0">
              <a:buFontTx/>
              <a:buNone/>
            </a:pPr>
            <a:r>
              <a:rPr lang="vi-VN" dirty="0"/>
              <a:t>Họ </a:t>
            </a:r>
            <a:r>
              <a:rPr lang="vi-VN" b="1" dirty="0"/>
              <a:t>bảo vệ người dùng khỏi bị theo dõi hoặc khai thác trái phép.</a:t>
            </a:r>
            <a:endParaRPr lang="vi-VN" dirty="0"/>
          </a:p>
          <a:p>
            <a:pPr marL="158750" indent="0">
              <a:buFontTx/>
              <a:buNone/>
            </a:pPr>
            <a:r>
              <a:rPr lang="vi-VN" dirty="0"/>
              <a:t>Họ </a:t>
            </a:r>
            <a:r>
              <a:rPr lang="vi-VN" b="1" dirty="0"/>
              <a:t>xây dựng niềm tin lâu dài</a:t>
            </a:r>
            <a:r>
              <a:rPr lang="vi-VN" dirty="0"/>
              <a:t> cho thương hiệu và cộng đồng công nghệ.</a:t>
            </a:r>
          </a:p>
          <a:p>
            <a:pPr marL="158750" indent="0">
              <a:buFontTx/>
              <a:buNone/>
            </a:pPr>
            <a:r>
              <a:rPr lang="vi-VN" dirty="0"/>
              <a:t>Và quan trọng nhất, họ </a:t>
            </a:r>
            <a:r>
              <a:rPr lang="vi-VN" b="1" dirty="0"/>
              <a:t>đặt con người ở trung tâm của công nghệ.</a:t>
            </a:r>
            <a:endParaRPr lang="vi-VN" dirty="0"/>
          </a:p>
          <a:p>
            <a:pPr marL="158750" indent="0">
              <a:buFontTx/>
              <a:buNone/>
            </a:pPr>
            <a:r>
              <a:rPr lang="en-US" b="1" dirty="0"/>
              <a:t>=&gt; </a:t>
            </a:r>
            <a:r>
              <a:rPr lang="vi-VN" b="1" dirty="0"/>
              <a:t>Tóm lại:</a:t>
            </a:r>
            <a:r>
              <a:rPr lang="vi-VN" dirty="0"/>
              <a:t> Một hệ thống IoT thông minh không chỉ thu thập dữ liệu giỏi — mà phải </a:t>
            </a:r>
            <a:r>
              <a:rPr lang="vi-VN" b="1" dirty="0"/>
              <a:t>biết giới hạn và tôn trọng người dùng.</a:t>
            </a:r>
            <a:endParaRPr lang="vi-VN" dirty="0"/>
          </a:p>
          <a:p>
            <a:pPr marL="158750" indent="0">
              <a:buFontTx/>
              <a:buNone/>
            </a:pPr>
            <a:endParaRPr lang="en-US" dirty="0"/>
          </a:p>
        </p:txBody>
      </p:sp>
    </p:spTree>
    <p:extLst>
      <p:ext uri="{BB962C8B-B14F-4D97-AF65-F5344CB8AC3E}">
        <p14:creationId xmlns:p14="http://schemas.microsoft.com/office/powerpoint/2010/main" val="5311950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Ý nghĩa của nguyên tắc Trung thực (Integrity)</a:t>
            </a:r>
          </a:p>
          <a:p>
            <a:pPr marL="158750" indent="0">
              <a:buFontTx/>
              <a:buNone/>
            </a:pPr>
            <a:r>
              <a:rPr lang="vi-VN" dirty="0"/>
              <a:t>Nguyên tắc </a:t>
            </a:r>
            <a:r>
              <a:rPr lang="vi-VN" b="1" dirty="0"/>
              <a:t>Trung thực</a:t>
            </a:r>
            <a:r>
              <a:rPr lang="vi-VN" dirty="0"/>
              <a:t> là yếu tố cốt lõi trong đạo đức nghề nghiệp của kỹ sư và nhà nghiên cứu công nghệ, đặc biệt trong lĩnh vực </a:t>
            </a:r>
            <a:r>
              <a:rPr lang="vi-VN" b="1" dirty="0"/>
              <a:t>IoT (Internet of Things)</a:t>
            </a:r>
            <a:r>
              <a:rPr lang="vi-VN" dirty="0"/>
              <a:t> — nơi mà thiết bị, dữ liệu và con người đều gắn kết chặt chẽ.</a:t>
            </a:r>
            <a:br>
              <a:rPr lang="vi-VN" dirty="0"/>
            </a:br>
            <a:r>
              <a:rPr lang="vi-VN" dirty="0"/>
              <a:t>Trung thực ở đây không chỉ là nói thật, mà còn là </a:t>
            </a:r>
            <a:r>
              <a:rPr lang="vi-VN" b="1" dirty="0"/>
              <a:t>minh bạch trong thiết kế, báo cáo, thử nghiệm, và khắc phục lỗi</a:t>
            </a:r>
            <a:r>
              <a:rPr lang="vi-VN" dirty="0"/>
              <a:t>.</a:t>
            </a:r>
            <a:br>
              <a:rPr lang="vi-VN" dirty="0"/>
            </a:br>
            <a:r>
              <a:rPr lang="vi-VN" dirty="0"/>
              <a:t>Một kỹ sư IoT có đạo đức cần </a:t>
            </a:r>
            <a:r>
              <a:rPr lang="vi-VN" b="1" dirty="0"/>
              <a:t>trình bày sự thật về hiệu năng, bảo mật và rủi ro của hệ thống</a:t>
            </a:r>
            <a:r>
              <a:rPr lang="vi-VN" dirty="0"/>
              <a:t>, dù điều đó có thể gây bất lợi tạm thời cho tổ chức.</a:t>
            </a:r>
          </a:p>
          <a:p>
            <a:pPr marL="158750" indent="0">
              <a:buFontTx/>
              <a:buNone/>
            </a:pPr>
            <a:endParaRPr lang="en-US" b="1" dirty="0"/>
          </a:p>
          <a:p>
            <a:pPr marL="158750" indent="0">
              <a:buFontTx/>
              <a:buNone/>
            </a:pPr>
            <a:r>
              <a:rPr lang="en-US" b="1" dirty="0"/>
              <a:t>2. </a:t>
            </a:r>
            <a:r>
              <a:rPr lang="vi-VN" b="1" dirty="0"/>
              <a:t>Báo cáo, thử nghiệm và công bố kết quả trung thực, minh bạch</a:t>
            </a:r>
          </a:p>
          <a:p>
            <a:pPr marL="158750" indent="0">
              <a:buFontTx/>
              <a:buNone/>
            </a:pPr>
            <a:r>
              <a:rPr lang="vi-VN" b="1" dirty="0"/>
              <a:t>Giải thích:</a:t>
            </a:r>
          </a:p>
          <a:p>
            <a:pPr marL="158750" indent="0">
              <a:buFontTx/>
              <a:buNone/>
            </a:pPr>
            <a:r>
              <a:rPr lang="vi-VN" dirty="0"/>
              <a:t>Trong quy trình phát triển hoặc nghiên cứu IoT, kỹ sư thường phải:</a:t>
            </a:r>
          </a:p>
          <a:p>
            <a:pPr marL="158750" indent="0">
              <a:buFontTx/>
              <a:buNone/>
            </a:pPr>
            <a:r>
              <a:rPr lang="vi-VN" dirty="0"/>
              <a:t>Thực hiện </a:t>
            </a:r>
            <a:r>
              <a:rPr lang="vi-VN" b="1" dirty="0"/>
              <a:t>thử nghiệm phần cứng, firmware, cảm biến</a:t>
            </a:r>
            <a:r>
              <a:rPr lang="vi-VN" dirty="0"/>
              <a:t>.</a:t>
            </a:r>
          </a:p>
          <a:p>
            <a:pPr marL="158750" indent="0">
              <a:buFontTx/>
              <a:buNone/>
            </a:pPr>
            <a:r>
              <a:rPr lang="vi-VN" dirty="0"/>
              <a:t>Đánh giá </a:t>
            </a:r>
            <a:r>
              <a:rPr lang="vi-VN" b="1" dirty="0"/>
              <a:t>độ tin cậy, độ trễ, tính bảo mật của thiết bị</a:t>
            </a:r>
            <a:r>
              <a:rPr lang="vi-VN" dirty="0"/>
              <a:t>.</a:t>
            </a:r>
          </a:p>
          <a:p>
            <a:pPr marL="158750" indent="0">
              <a:buFontTx/>
              <a:buNone/>
            </a:pPr>
            <a:r>
              <a:rPr lang="vi-VN" dirty="0"/>
              <a:t>Gửi </a:t>
            </a:r>
            <a:r>
              <a:rPr lang="vi-VN" b="1" dirty="0"/>
              <a:t>báo cáo kỹ thuật, bài nghiên cứu, hoặc công bố kết quả</a:t>
            </a:r>
            <a:r>
              <a:rPr lang="vi-VN" dirty="0"/>
              <a:t>.</a:t>
            </a:r>
          </a:p>
          <a:p>
            <a:pPr marL="158750" indent="0">
              <a:buFontTx/>
              <a:buNone/>
            </a:pPr>
            <a:r>
              <a:rPr lang="vi-VN" dirty="0"/>
              <a:t>Nguyên tắc “Trung thực” yêu cầu rằng </a:t>
            </a:r>
            <a:r>
              <a:rPr lang="vi-VN" b="1" dirty="0"/>
              <a:t>tất cả số liệu, kết quả và giới hạn hệ thống phải được trình bày chính xác</a:t>
            </a:r>
            <a:r>
              <a:rPr lang="vi-VN" dirty="0"/>
              <a:t>, không làm sai lệch để tạo ấn tượng tốt hoặc đạt mục tiêu thương mại.</a:t>
            </a:r>
          </a:p>
          <a:p>
            <a:pPr marL="158750" indent="0">
              <a:buFontTx/>
              <a:buNone/>
            </a:pPr>
            <a:r>
              <a:rPr lang="vi-VN" b="1" dirty="0"/>
              <a:t>Ví dụ:</a:t>
            </a:r>
          </a:p>
          <a:p>
            <a:pPr marL="158750" indent="0">
              <a:buFontTx/>
              <a:buNone/>
            </a:pPr>
            <a:r>
              <a:rPr lang="vi-VN" dirty="0"/>
              <a:t>Nếu một cảm biến nhiệt độ có sai số ±3°C, kỹ sư phải ghi đúng con số đó, </a:t>
            </a:r>
            <a:r>
              <a:rPr lang="vi-VN" b="1" dirty="0"/>
              <a:t>không được báo cáo sai lệch để đạt chuẩn ±1°C</a:t>
            </a:r>
            <a:r>
              <a:rPr lang="vi-VN" dirty="0"/>
              <a:t>.</a:t>
            </a:r>
          </a:p>
          <a:p>
            <a:pPr marL="158750" indent="0">
              <a:buFontTx/>
              <a:buNone/>
            </a:pPr>
            <a:r>
              <a:rPr lang="vi-VN" dirty="0"/>
              <a:t>Khi công bố kết quả nghiên cứu IoT, không được </a:t>
            </a:r>
            <a:r>
              <a:rPr lang="vi-VN" b="1" dirty="0"/>
              <a:t>loại bỏ dữ liệu không thuận lợi</a:t>
            </a:r>
            <a:r>
              <a:rPr lang="vi-VN" dirty="0"/>
              <a:t> để làm đẹp biểu đồ.</a:t>
            </a:r>
          </a:p>
          <a:p>
            <a:pPr marL="158750" indent="0">
              <a:buFontTx/>
              <a:buNone/>
            </a:pPr>
            <a:endParaRPr lang="en-US" b="1" dirty="0"/>
          </a:p>
          <a:p>
            <a:pPr marL="158750" indent="0">
              <a:buFontTx/>
              <a:buNone/>
            </a:pPr>
            <a:r>
              <a:rPr lang="vi-VN" b="1" dirty="0"/>
              <a:t>3. Không che giấu lỗi hệ thống hoặc làm sai lệch kết quả nghiên cứu</a:t>
            </a:r>
          </a:p>
          <a:p>
            <a:pPr marL="158750" indent="0">
              <a:buFontTx/>
              <a:buNone/>
            </a:pPr>
            <a:r>
              <a:rPr lang="vi-VN" b="1" dirty="0"/>
              <a:t>Giải thích:</a:t>
            </a:r>
          </a:p>
          <a:p>
            <a:pPr marL="158750" indent="0">
              <a:buFontTx/>
              <a:buNone/>
            </a:pPr>
            <a:r>
              <a:rPr lang="vi-VN" dirty="0"/>
              <a:t>Trong hệ thống IoT, lỗi có thể phát sinh từ:</a:t>
            </a:r>
          </a:p>
          <a:p>
            <a:pPr marL="158750" indent="0">
              <a:buFontTx/>
              <a:buNone/>
            </a:pPr>
            <a:r>
              <a:rPr lang="vi-VN" b="1" dirty="0"/>
              <a:t>Firmware lỗi thời hoặc chứa lỗ hổng bảo mật</a:t>
            </a:r>
            <a:r>
              <a:rPr lang="vi-VN" dirty="0"/>
              <a:t>,</a:t>
            </a:r>
          </a:p>
          <a:p>
            <a:pPr marL="158750" indent="0">
              <a:buFontTx/>
              <a:buNone/>
            </a:pPr>
            <a:r>
              <a:rPr lang="vi-VN" b="1" dirty="0"/>
              <a:t>Thiết bị truyền sai dữ liệu</a:t>
            </a:r>
            <a:r>
              <a:rPr lang="vi-VN" dirty="0"/>
              <a:t>,</a:t>
            </a:r>
          </a:p>
          <a:p>
            <a:pPr marL="158750" indent="0">
              <a:buFontTx/>
              <a:buNone/>
            </a:pPr>
            <a:r>
              <a:rPr lang="vi-VN" dirty="0"/>
              <a:t>Hoặc </a:t>
            </a:r>
            <a:r>
              <a:rPr lang="vi-VN" b="1" dirty="0"/>
              <a:t>hệ thống backend không xử lý chính xác dữ liệu cảm biến.</a:t>
            </a:r>
            <a:endParaRPr lang="vi-VN" dirty="0"/>
          </a:p>
          <a:p>
            <a:pPr marL="158750" indent="0">
              <a:buFontTx/>
              <a:buNone/>
            </a:pPr>
            <a:r>
              <a:rPr lang="vi-VN" dirty="0"/>
              <a:t>Một kỹ sư trung thực cần:</a:t>
            </a:r>
          </a:p>
          <a:p>
            <a:pPr marL="158750" indent="0">
              <a:buFontTx/>
              <a:buNone/>
            </a:pPr>
            <a:r>
              <a:rPr lang="vi-VN" b="1" dirty="0"/>
              <a:t>Báo cáo lỗi kịp thời</a:t>
            </a:r>
            <a:r>
              <a:rPr lang="vi-VN" dirty="0"/>
              <a:t>,</a:t>
            </a:r>
          </a:p>
          <a:p>
            <a:pPr marL="158750" indent="0">
              <a:buFontTx/>
              <a:buNone/>
            </a:pPr>
            <a:r>
              <a:rPr lang="vi-VN" b="1" dirty="0"/>
              <a:t>Đề xuất cách khắc phục</a:t>
            </a:r>
            <a:r>
              <a:rPr lang="vi-VN" dirty="0"/>
              <a:t>,</a:t>
            </a:r>
          </a:p>
          <a:p>
            <a:pPr marL="158750" indent="0">
              <a:buFontTx/>
              <a:buNone/>
            </a:pPr>
            <a:r>
              <a:rPr lang="vi-VN" dirty="0"/>
              <a:t>Và </a:t>
            </a:r>
            <a:r>
              <a:rPr lang="vi-VN" b="1" dirty="0"/>
              <a:t>không che giấu lỗi để tránh trách nhiệm.</a:t>
            </a:r>
            <a:endParaRPr lang="vi-VN" dirty="0"/>
          </a:p>
          <a:p>
            <a:pPr marL="158750" indent="0">
              <a:buFontTx/>
              <a:buNone/>
            </a:pPr>
            <a:r>
              <a:rPr lang="vi-VN" dirty="0"/>
              <a:t>Điều này thể hiện tinh thần trách nhiệm và giúp </a:t>
            </a:r>
            <a:r>
              <a:rPr lang="vi-VN" b="1" dirty="0"/>
              <a:t>tăng độ tin cậy của toàn hệ thống</a:t>
            </a:r>
            <a:r>
              <a:rPr lang="vi-VN" dirty="0"/>
              <a:t>.</a:t>
            </a:r>
          </a:p>
          <a:p>
            <a:pPr marL="158750" indent="0">
              <a:buFontTx/>
              <a:buNone/>
            </a:pPr>
            <a:r>
              <a:rPr lang="vi-VN" b="1" dirty="0"/>
              <a:t>Nếu vi phạm:</a:t>
            </a:r>
          </a:p>
          <a:p>
            <a:pPr marL="158750" indent="0">
              <a:buFontTx/>
              <a:buNone/>
            </a:pPr>
            <a:r>
              <a:rPr lang="vi-VN" dirty="0"/>
              <a:t>Hậu quả có thể nghiêm trọng: rò rỉ dữ liệu, mất an toàn người dùng, tổn hại thương hiệu, và vi phạm đạo đức nghề nghiệp.</a:t>
            </a:r>
          </a:p>
          <a:p>
            <a:pPr marL="158750" indent="0">
              <a:buFontTx/>
              <a:buNone/>
            </a:pPr>
            <a:endParaRPr lang="en-US" b="1" dirty="0"/>
          </a:p>
          <a:p>
            <a:pPr marL="158750" indent="0">
              <a:buFontTx/>
              <a:buNone/>
            </a:pPr>
            <a:r>
              <a:rPr lang="en-US" b="1" dirty="0"/>
              <a:t>4. </a:t>
            </a:r>
            <a:r>
              <a:rPr lang="vi-VN" b="1" dirty="0"/>
              <a:t>Ví dụ: Xử lý lỗi firmware minh bạch</a:t>
            </a:r>
          </a:p>
          <a:p>
            <a:pPr marL="158750" indent="0">
              <a:buFontTx/>
              <a:buNone/>
            </a:pPr>
            <a:r>
              <a:rPr lang="vi-VN" dirty="0"/>
              <a:t>“Khi phát hiện lỗi firmware, cần thông báo công khai và phát hành bản vá.”</a:t>
            </a:r>
          </a:p>
          <a:p>
            <a:pPr marL="158750" indent="0">
              <a:buFontTx/>
              <a:buNone/>
            </a:pPr>
            <a:r>
              <a:rPr lang="vi-VN" b="1" dirty="0"/>
              <a:t>Giải thích:</a:t>
            </a:r>
          </a:p>
          <a:p>
            <a:pPr marL="158750" indent="0">
              <a:buFontTx/>
              <a:buNone/>
            </a:pPr>
            <a:r>
              <a:rPr lang="vi-VN" dirty="0"/>
              <a:t>Firmware là “bộ não” điều khiển thiết bị IoT. Nếu có lỗ hổng (bug hoặc bảo mật), hệ thống có thể bị:</a:t>
            </a:r>
          </a:p>
          <a:p>
            <a:pPr marL="158750" indent="0">
              <a:buFontTx/>
              <a:buNone/>
            </a:pPr>
            <a:r>
              <a:rPr lang="vi-VN" dirty="0"/>
              <a:t>Hacker khai thác để chiếm quyền điều khiển.</a:t>
            </a:r>
          </a:p>
          <a:p>
            <a:pPr marL="158750" indent="0">
              <a:buFontTx/>
              <a:buNone/>
            </a:pPr>
            <a:r>
              <a:rPr lang="vi-VN" dirty="0"/>
              <a:t>Thiết bị hoạt động sai, gửi dữ liệu sai hoặc ngừng kết nối.</a:t>
            </a:r>
          </a:p>
          <a:p>
            <a:pPr marL="158750" indent="0">
              <a:buFontTx/>
              <a:buNone/>
            </a:pPr>
            <a:r>
              <a:rPr lang="vi-VN" dirty="0"/>
              <a:t>Khi phát hiện ra vấn đề:</a:t>
            </a:r>
          </a:p>
          <a:p>
            <a:pPr marL="158750" indent="0">
              <a:buFontTx/>
              <a:buNone/>
            </a:pPr>
            <a:r>
              <a:rPr lang="vi-VN" dirty="0"/>
              <a:t>Kỹ sư phải </a:t>
            </a:r>
            <a:r>
              <a:rPr lang="vi-VN" b="1" dirty="0"/>
              <a:t>thông báo cho người dùng hoặc cộng đồng phát triển</a:t>
            </a:r>
            <a:r>
              <a:rPr lang="vi-VN" dirty="0"/>
              <a:t>.</a:t>
            </a:r>
          </a:p>
          <a:p>
            <a:pPr marL="158750" indent="0">
              <a:buFontTx/>
              <a:buNone/>
            </a:pPr>
            <a:r>
              <a:rPr lang="vi-VN" b="1" dirty="0"/>
              <a:t>Phát hành bản vá (firmware update)</a:t>
            </a:r>
            <a:r>
              <a:rPr lang="vi-VN" dirty="0"/>
              <a:t> kịp thời.</a:t>
            </a:r>
          </a:p>
          <a:p>
            <a:pPr marL="158750" indent="0">
              <a:buFontTx/>
              <a:buNone/>
            </a:pPr>
            <a:r>
              <a:rPr lang="vi-VN" dirty="0"/>
              <a:t>Ghi rõ </a:t>
            </a:r>
            <a:r>
              <a:rPr lang="vi-VN" b="1" dirty="0"/>
              <a:t>thay đổi và rủi ro</a:t>
            </a:r>
            <a:r>
              <a:rPr lang="vi-VN" dirty="0"/>
              <a:t> trong tài liệu công khai (release note).</a:t>
            </a:r>
          </a:p>
          <a:p>
            <a:pPr marL="158750" indent="0">
              <a:buFontTx/>
              <a:buNone/>
            </a:pPr>
            <a:r>
              <a:rPr lang="vi-VN" b="1" dirty="0"/>
              <a:t>Ví dụ thực tế:</a:t>
            </a:r>
          </a:p>
          <a:p>
            <a:pPr marL="158750" indent="0">
              <a:buFontTx/>
              <a:buNone/>
            </a:pPr>
            <a:r>
              <a:rPr lang="vi-VN" dirty="0"/>
              <a:t>Một công ty sản xuất camera IoT phát hiện lỗ hổng cho phép hacker truy cập video trực tiếp. Thay vì âm thầm sửa, họ nên:</a:t>
            </a:r>
          </a:p>
          <a:p>
            <a:pPr marL="158750" indent="0">
              <a:buFontTx/>
              <a:buNone/>
            </a:pPr>
            <a:r>
              <a:rPr lang="vi-VN" dirty="0"/>
              <a:t>Thông báo cho khách hàng về rủi ro.</a:t>
            </a:r>
          </a:p>
          <a:p>
            <a:pPr marL="158750" indent="0">
              <a:buFontTx/>
              <a:buNone/>
            </a:pPr>
            <a:r>
              <a:rPr lang="vi-VN" dirty="0"/>
              <a:t>Cung cấp bản cập nhật firmware an toàn.</a:t>
            </a:r>
          </a:p>
          <a:p>
            <a:pPr marL="158750" indent="0">
              <a:buFontTx/>
              <a:buNone/>
            </a:pPr>
            <a:r>
              <a:rPr lang="vi-VN" dirty="0"/>
              <a:t>Hướng dẫn người dùng thay đổi mật khẩu hoặc xác thực 2 lớp.</a:t>
            </a:r>
          </a:p>
          <a:p>
            <a:pPr marL="158750" indent="0">
              <a:buFontTx/>
              <a:buNone/>
            </a:pPr>
            <a:r>
              <a:rPr lang="vi-VN" dirty="0"/>
              <a:t>Điều đó thể hiện </a:t>
            </a:r>
            <a:r>
              <a:rPr lang="vi-VN" b="1" dirty="0"/>
              <a:t>trung thực và trách nhiệm đạo đức</a:t>
            </a:r>
            <a:r>
              <a:rPr lang="vi-VN" dirty="0"/>
              <a:t>, đồng thời </a:t>
            </a:r>
            <a:r>
              <a:rPr lang="vi-VN" b="1" dirty="0"/>
              <a:t>giữ niềm tin người dùng</a:t>
            </a:r>
            <a:r>
              <a:rPr lang="vi-VN" dirty="0"/>
              <a:t>.</a:t>
            </a:r>
          </a:p>
          <a:p>
            <a:pPr marL="158750" indent="0">
              <a:buFontTx/>
              <a:buNone/>
            </a:pPr>
            <a:endParaRPr lang="en-US" b="1" dirty="0"/>
          </a:p>
          <a:p>
            <a:pPr marL="158750" indent="0">
              <a:buFontTx/>
              <a:buNone/>
            </a:pPr>
            <a:r>
              <a:rPr lang="en-US" b="1" dirty="0"/>
              <a:t>5</a:t>
            </a:r>
            <a:r>
              <a:rPr lang="vi-VN" b="1" dirty="0"/>
              <a:t>. Kết luận</a:t>
            </a:r>
          </a:p>
          <a:p>
            <a:pPr marL="158750" indent="0">
              <a:buFontTx/>
              <a:buNone/>
            </a:pPr>
            <a:r>
              <a:rPr lang="vi-VN" dirty="0"/>
              <a:t>“Trung thực là nền tảng của niềm tin – và niềm tin là nền tảng của IoT.”</a:t>
            </a:r>
          </a:p>
          <a:p>
            <a:pPr marL="158750" indent="0">
              <a:buFontTx/>
              <a:buNone/>
            </a:pPr>
            <a:r>
              <a:rPr lang="vi-VN" dirty="0"/>
              <a:t>Một hệ sinh thái IoT an toàn không chỉ dựa trên </a:t>
            </a:r>
            <a:r>
              <a:rPr lang="vi-VN" b="1" dirty="0"/>
              <a:t>công nghệ mã hóa, giao thức bảo mật</a:t>
            </a:r>
            <a:r>
              <a:rPr lang="vi-VN" dirty="0"/>
              <a:t>, mà còn dựa trên </a:t>
            </a:r>
            <a:r>
              <a:rPr lang="vi-VN" b="1" dirty="0"/>
              <a:t>sự trung thực của con người</a:t>
            </a:r>
            <a:r>
              <a:rPr lang="vi-VN" dirty="0"/>
              <a:t> đứng sau nó.</a:t>
            </a:r>
            <a:br>
              <a:rPr lang="vi-VN" dirty="0"/>
            </a:br>
            <a:r>
              <a:rPr lang="vi-VN" dirty="0"/>
              <a:t>Khi kỹ sư IoT trung thực:</a:t>
            </a:r>
          </a:p>
          <a:p>
            <a:pPr marL="158750" indent="0">
              <a:buFontTx/>
              <a:buNone/>
            </a:pPr>
            <a:r>
              <a:rPr lang="vi-VN" dirty="0"/>
              <a:t>Họ giúp </a:t>
            </a:r>
            <a:r>
              <a:rPr lang="vi-VN" b="1" dirty="0"/>
              <a:t>ngăn chặn rủi ro từ gốc</a:t>
            </a:r>
            <a:r>
              <a:rPr lang="vi-VN" dirty="0"/>
              <a:t>.</a:t>
            </a:r>
          </a:p>
          <a:p>
            <a:pPr marL="158750" indent="0">
              <a:buFontTx/>
              <a:buNone/>
            </a:pPr>
            <a:r>
              <a:rPr lang="vi-VN" dirty="0"/>
              <a:t>Họ xây dựng </a:t>
            </a:r>
            <a:r>
              <a:rPr lang="vi-VN" b="1" dirty="0"/>
              <a:t>môi trường hợp tác minh bạch</a:t>
            </a:r>
            <a:r>
              <a:rPr lang="vi-VN" dirty="0"/>
              <a:t>.</a:t>
            </a:r>
          </a:p>
          <a:p>
            <a:pPr marL="158750" indent="0">
              <a:buFontTx/>
              <a:buNone/>
            </a:pPr>
            <a:r>
              <a:rPr lang="vi-VN" dirty="0"/>
              <a:t>Và họ góp phần tạo nên </a:t>
            </a:r>
            <a:r>
              <a:rPr lang="vi-VN" b="1" dirty="0"/>
              <a:t>niềm tin xã hội vào công nghệ kết nối.</a:t>
            </a:r>
            <a:endParaRPr lang="vi-VN" dirty="0"/>
          </a:p>
          <a:p>
            <a:pPr marL="158750" indent="0">
              <a:buFontTx/>
              <a:buNone/>
            </a:pPr>
            <a:r>
              <a:rPr lang="en-US" dirty="0"/>
              <a:t>🧠 </a:t>
            </a:r>
            <a:r>
              <a:rPr lang="vi-VN" b="1" dirty="0"/>
              <a:t>Tóm lại:</a:t>
            </a:r>
            <a:br>
              <a:rPr lang="vi-VN" dirty="0"/>
            </a:br>
            <a:r>
              <a:rPr lang="vi-VN" dirty="0"/>
              <a:t>Trung thực trong IoT không chỉ là đạo đức cá nhân, mà là </a:t>
            </a:r>
            <a:r>
              <a:rPr lang="vi-VN" b="1" dirty="0"/>
              <a:t>nguyên tắc sống còn</a:t>
            </a:r>
            <a:r>
              <a:rPr lang="vi-VN" dirty="0"/>
              <a:t> để đảm bảo hệ thống công nghệ phục vụ con người một cách </a:t>
            </a:r>
            <a:r>
              <a:rPr lang="vi-VN" b="1" dirty="0"/>
              <a:t>an toàn, minh bạch và bền vững.</a:t>
            </a:r>
            <a:endParaRPr lang="vi-VN" dirty="0"/>
          </a:p>
          <a:p>
            <a:pPr marL="158750" indent="0">
              <a:buFontTx/>
              <a:buNone/>
            </a:pPr>
            <a:endParaRPr lang="en-US" dirty="0"/>
          </a:p>
        </p:txBody>
      </p:sp>
    </p:spTree>
    <p:extLst>
      <p:ext uri="{BB962C8B-B14F-4D97-AF65-F5344CB8AC3E}">
        <p14:creationId xmlns:p14="http://schemas.microsoft.com/office/powerpoint/2010/main" val="8084682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Ý nghĩa của nguyên tắc Công bằng (Fairness)</a:t>
            </a:r>
          </a:p>
          <a:p>
            <a:pPr marL="158750" indent="0">
              <a:buFontTx/>
              <a:buNone/>
            </a:pPr>
            <a:r>
              <a:rPr lang="vi-VN" dirty="0"/>
              <a:t>Nguyên tắc </a:t>
            </a:r>
            <a:r>
              <a:rPr lang="vi-VN" b="1" dirty="0"/>
              <a:t>Công bằng</a:t>
            </a:r>
            <a:r>
              <a:rPr lang="vi-VN" dirty="0"/>
              <a:t> trong đạo đức nghề nghiệp của kỹ sư IoT nhấn mạnh rằng:</a:t>
            </a:r>
          </a:p>
          <a:p>
            <a:pPr marL="158750" indent="0">
              <a:buFontTx/>
              <a:buNone/>
            </a:pPr>
            <a:r>
              <a:rPr lang="vi-VN" dirty="0"/>
              <a:t>“Công nghệ phải phục vụ tất cả mọi người một cách bình đẳng, không thiên vị, không phân biệt đối xử.”</a:t>
            </a:r>
          </a:p>
          <a:p>
            <a:pPr marL="158750" indent="0">
              <a:buFontTx/>
              <a:buNone/>
            </a:pPr>
            <a:r>
              <a:rPr lang="vi-VN" dirty="0"/>
              <a:t>Trong bối cảnh IoT (Internet of Things), dữ liệu và thuật toán có thể </a:t>
            </a:r>
            <a:r>
              <a:rPr lang="vi-VN" b="1" dirty="0"/>
              <a:t>vô tình tạo ra sự bất công</a:t>
            </a:r>
            <a:r>
              <a:rPr lang="vi-VN" dirty="0"/>
              <a:t> nếu được thiết kế hoặc huấn luyện không cẩn thận — ví dụ như dữ liệu chỉ phản ánh một nhóm người hoặc vùng địa lý nhất định.</a:t>
            </a:r>
            <a:br>
              <a:rPr lang="vi-VN" dirty="0"/>
            </a:br>
            <a:r>
              <a:rPr lang="vi-VN" dirty="0"/>
              <a:t>Do đó, kỹ sư IoT cần đảm bảo rằng </a:t>
            </a:r>
            <a:r>
              <a:rPr lang="vi-VN" b="1" dirty="0"/>
              <a:t>mọi hệ thống, cảm biến và mô hình phân tích đều hoạt động công bằng, chính xác cho mọi đối tượng người dùng.</a:t>
            </a:r>
            <a:endParaRPr lang="vi-VN" dirty="0"/>
          </a:p>
          <a:p>
            <a:pPr marL="158750" indent="0">
              <a:buFontTx/>
              <a:buNone/>
            </a:pPr>
            <a:endParaRPr lang="en-US" b="1" dirty="0"/>
          </a:p>
          <a:p>
            <a:pPr marL="158750" indent="0">
              <a:buFontTx/>
              <a:buNone/>
            </a:pPr>
            <a:r>
              <a:rPr lang="en-US" b="1" dirty="0"/>
              <a:t>2. </a:t>
            </a:r>
            <a:r>
              <a:rPr lang="vi-VN" b="1" dirty="0"/>
              <a:t>Đảm bảo công nghệ không tạo ra sự phân biệt đối xử</a:t>
            </a:r>
          </a:p>
          <a:p>
            <a:pPr marL="158750" indent="0">
              <a:buFontTx/>
              <a:buNone/>
            </a:pPr>
            <a:r>
              <a:rPr lang="vi-VN" b="1" dirty="0"/>
              <a:t>Giải thích:</a:t>
            </a:r>
          </a:p>
          <a:p>
            <a:pPr marL="158750" indent="0">
              <a:buFontTx/>
              <a:buNone/>
            </a:pPr>
            <a:r>
              <a:rPr lang="vi-VN" dirty="0"/>
              <a:t>Một hệ thống IoT công bằng phải đảm bảo:</a:t>
            </a:r>
          </a:p>
          <a:p>
            <a:pPr marL="158750" indent="0">
              <a:buFontTx/>
              <a:buNone/>
            </a:pPr>
            <a:r>
              <a:rPr lang="vi-VN" dirty="0"/>
              <a:t>Mọi người dùng đều </a:t>
            </a:r>
            <a:r>
              <a:rPr lang="vi-VN" b="1" dirty="0"/>
              <a:t>được tiếp cận dịch vụ hoặc dữ liệu như nhau</a:t>
            </a:r>
            <a:r>
              <a:rPr lang="vi-VN" dirty="0"/>
              <a:t>, không phụ thuộc giới tính, tuổi tác, vị trí địa lý hay điều kiện kinh tế.</a:t>
            </a:r>
          </a:p>
          <a:p>
            <a:pPr marL="158750" indent="0">
              <a:buFontTx/>
              <a:buNone/>
            </a:pPr>
            <a:r>
              <a:rPr lang="vi-VN" dirty="0"/>
              <a:t>Các thuật toán </a:t>
            </a:r>
            <a:r>
              <a:rPr lang="vi-VN" b="1" dirty="0"/>
              <a:t>không được ưu tiên</a:t>
            </a:r>
            <a:r>
              <a:rPr lang="vi-VN" dirty="0"/>
              <a:t> hay </a:t>
            </a:r>
            <a:r>
              <a:rPr lang="vi-VN" b="1" dirty="0"/>
              <a:t>bỏ qua</a:t>
            </a:r>
            <a:r>
              <a:rPr lang="vi-VN" dirty="0"/>
              <a:t> một nhóm đối tượng nào đó.</a:t>
            </a:r>
          </a:p>
          <a:p>
            <a:pPr marL="158750" indent="0">
              <a:buFontTx/>
              <a:buNone/>
            </a:pPr>
            <a:r>
              <a:rPr lang="vi-VN" dirty="0"/>
              <a:t>Ví dụ, trong hệ thống </a:t>
            </a:r>
            <a:r>
              <a:rPr lang="vi-VN" b="1" dirty="0"/>
              <a:t>IoT y tế</a:t>
            </a:r>
            <a:r>
              <a:rPr lang="vi-VN" dirty="0"/>
              <a:t>, thiết bị đo nhịp tim hoặc huyết áp phải cho kết quả chính xác với </a:t>
            </a:r>
            <a:r>
              <a:rPr lang="vi-VN" b="1" dirty="0"/>
              <a:t>mọi nhóm dân số</a:t>
            </a:r>
            <a:r>
              <a:rPr lang="vi-VN" dirty="0"/>
              <a:t>, chứ không chỉ với dữ liệu huấn luyện của người ở khu vực đô thị.</a:t>
            </a:r>
          </a:p>
          <a:p>
            <a:pPr marL="158750" indent="0">
              <a:buFontTx/>
              <a:buNone/>
            </a:pPr>
            <a:r>
              <a:rPr lang="vi-VN" b="1" dirty="0"/>
              <a:t>Tại sao điều này quan trọng:</a:t>
            </a:r>
          </a:p>
          <a:p>
            <a:pPr marL="158750" indent="0">
              <a:buFontTx/>
              <a:buNone/>
            </a:pPr>
            <a:r>
              <a:rPr lang="vi-VN" dirty="0"/>
              <a:t>Nếu công nghệ thiên vị, nó có thể:</a:t>
            </a:r>
          </a:p>
          <a:p>
            <a:pPr marL="158750" indent="0">
              <a:buFontTx/>
              <a:buNone/>
            </a:pPr>
            <a:r>
              <a:rPr lang="vi-VN" b="1" dirty="0"/>
              <a:t>Làm sai lệch quyết định tự động</a:t>
            </a:r>
            <a:r>
              <a:rPr lang="vi-VN" dirty="0"/>
              <a:t>, ví dụ: hệ thống cảnh báo y tế chỉ hiệu quả với người trẻ, bỏ qua người cao tuổi.</a:t>
            </a:r>
          </a:p>
          <a:p>
            <a:pPr marL="158750" indent="0">
              <a:buFontTx/>
              <a:buNone/>
            </a:pPr>
            <a:r>
              <a:rPr lang="vi-VN" b="1" dirty="0"/>
              <a:t>Tạo ra bất công xã hội</a:t>
            </a:r>
            <a:r>
              <a:rPr lang="vi-VN" dirty="0"/>
              <a:t>, khi dữ liệu IoT ở nông thôn kém chính xác hơn đô thị, dẫn đến chính sách sai lệch.</a:t>
            </a:r>
          </a:p>
          <a:p>
            <a:pPr marL="158750" indent="0">
              <a:buFontTx/>
              <a:buNone/>
            </a:pPr>
            <a:endParaRPr lang="en-US" b="1" dirty="0"/>
          </a:p>
          <a:p>
            <a:pPr marL="158750" indent="0">
              <a:buFontTx/>
              <a:buNone/>
            </a:pPr>
            <a:r>
              <a:rPr lang="en-US" b="1" dirty="0"/>
              <a:t>3. </a:t>
            </a:r>
            <a:r>
              <a:rPr lang="vi-VN" b="1" dirty="0"/>
              <a:t>Tránh thiên vị dữ liệu hoặc thuật toán</a:t>
            </a:r>
          </a:p>
          <a:p>
            <a:pPr marL="158750" indent="0">
              <a:buFontTx/>
              <a:buNone/>
            </a:pPr>
            <a:r>
              <a:rPr lang="vi-VN" b="1" dirty="0"/>
              <a:t>Giải thích:</a:t>
            </a:r>
          </a:p>
          <a:p>
            <a:pPr marL="158750" indent="0">
              <a:buFontTx/>
              <a:buNone/>
            </a:pPr>
            <a:r>
              <a:rPr lang="vi-VN" dirty="0"/>
              <a:t>Thiên vị (bias) có thể phát sinh từ:</a:t>
            </a:r>
          </a:p>
          <a:p>
            <a:pPr marL="158750" indent="0">
              <a:buFontTx/>
              <a:buNone/>
            </a:pPr>
            <a:r>
              <a:rPr lang="vi-VN" b="1" dirty="0"/>
              <a:t>Dữ liệu đầu vào không cân bằng</a:t>
            </a:r>
            <a:r>
              <a:rPr lang="vi-VN" dirty="0"/>
              <a:t> (ví dụ: cảm biến chỉ thu thập từ một khu vực cụ thể).</a:t>
            </a:r>
          </a:p>
          <a:p>
            <a:pPr marL="158750" indent="0">
              <a:buFontTx/>
              <a:buNone/>
            </a:pPr>
            <a:r>
              <a:rPr lang="vi-VN" b="1" dirty="0"/>
              <a:t>Thuật toán hoặc mô hình học máy</a:t>
            </a:r>
            <a:r>
              <a:rPr lang="vi-VN" dirty="0"/>
              <a:t> được huấn luyện trên dữ liệu thiên lệch.</a:t>
            </a:r>
          </a:p>
          <a:p>
            <a:pPr marL="158750" indent="0">
              <a:buFontTx/>
              <a:buNone/>
            </a:pPr>
            <a:r>
              <a:rPr lang="vi-VN" b="1" dirty="0"/>
              <a:t>Các giả định thiết kế sai lầm</a:t>
            </a:r>
            <a:r>
              <a:rPr lang="vi-VN" dirty="0"/>
              <a:t> (ví dụ: chọn ngưỡng cảm biến chỉ phù hợp với môi trường nhất định).</a:t>
            </a:r>
          </a:p>
          <a:p>
            <a:pPr marL="158750" indent="0">
              <a:buFontTx/>
              <a:buNone/>
            </a:pPr>
            <a:r>
              <a:rPr lang="vi-VN" dirty="0"/>
              <a:t>Do đó, kỹ sư IoT cần:</a:t>
            </a:r>
          </a:p>
          <a:p>
            <a:pPr marL="158750" indent="0">
              <a:buFontTx/>
              <a:buNone/>
            </a:pPr>
            <a:r>
              <a:rPr lang="vi-VN" dirty="0"/>
              <a:t>Kiểm tra </a:t>
            </a:r>
            <a:r>
              <a:rPr lang="vi-VN" b="1" dirty="0"/>
              <a:t>đa dạng nguồn dữ liệu</a:t>
            </a:r>
            <a:r>
              <a:rPr lang="vi-VN" dirty="0"/>
              <a:t>, tránh chỉ lấy mẫu từ một nhóm nhỏ.</a:t>
            </a:r>
          </a:p>
          <a:p>
            <a:pPr marL="158750" indent="0">
              <a:buFontTx/>
              <a:buNone/>
            </a:pPr>
            <a:r>
              <a:rPr lang="vi-VN" dirty="0"/>
              <a:t>Đánh giá </a:t>
            </a:r>
            <a:r>
              <a:rPr lang="vi-VN" b="1" dirty="0"/>
              <a:t>độ chính xác mô hình trên nhiều đối tượng khác nhau</a:t>
            </a:r>
            <a:r>
              <a:rPr lang="vi-VN" dirty="0"/>
              <a:t>.</a:t>
            </a:r>
          </a:p>
          <a:p>
            <a:pPr marL="158750" indent="0">
              <a:buFontTx/>
              <a:buNone/>
            </a:pPr>
            <a:r>
              <a:rPr lang="vi-VN" dirty="0"/>
              <a:t>Thiết kế </a:t>
            </a:r>
            <a:r>
              <a:rPr lang="vi-VN" b="1" dirty="0"/>
              <a:t>quy trình kiểm thử (validation)</a:t>
            </a:r>
            <a:r>
              <a:rPr lang="vi-VN" dirty="0"/>
              <a:t> có tính bao quát và khách quan.</a:t>
            </a:r>
          </a:p>
          <a:p>
            <a:pPr marL="158750" indent="0">
              <a:buFontTx/>
              <a:buNone/>
            </a:pPr>
            <a:r>
              <a:rPr lang="vi-VN" b="1" dirty="0"/>
              <a:t>Ví dụ:</a:t>
            </a:r>
          </a:p>
          <a:p>
            <a:pPr marL="158750" indent="0">
              <a:buFontTx/>
              <a:buNone/>
            </a:pPr>
            <a:r>
              <a:rPr lang="vi-VN" dirty="0"/>
              <a:t>Một mô hình dự đoán lượng nước tưới cho cây trồng nếu chỉ học từ dữ liệu vùng đồng bằng sẽ không chính xác khi áp dụng ở vùng núi.</a:t>
            </a:r>
            <a:br>
              <a:rPr lang="vi-VN" dirty="0"/>
            </a:br>
            <a:r>
              <a:rPr lang="vi-VN" dirty="0"/>
              <a:t>Vì vậy, </a:t>
            </a:r>
            <a:r>
              <a:rPr lang="vi-VN" b="1" dirty="0"/>
              <a:t>IoT nông nghiệp</a:t>
            </a:r>
            <a:r>
              <a:rPr lang="vi-VN" dirty="0"/>
              <a:t> phải thu thập dữ liệu từ </a:t>
            </a:r>
            <a:r>
              <a:rPr lang="vi-VN" b="1" dirty="0"/>
              <a:t>nhiều vùng khí hậu, đất đai khác nhau</a:t>
            </a:r>
            <a:r>
              <a:rPr lang="vi-VN" dirty="0"/>
              <a:t> để đảm bảo công bằng cho nông dân ở mọi miền.</a:t>
            </a:r>
          </a:p>
          <a:p>
            <a:pPr marL="158750" indent="0">
              <a:buFontTx/>
              <a:buNone/>
            </a:pPr>
            <a:endParaRPr lang="en-US" b="1" dirty="0"/>
          </a:p>
          <a:p>
            <a:pPr marL="158750" indent="0">
              <a:buFontTx/>
              <a:buNone/>
            </a:pPr>
            <a:r>
              <a:rPr lang="en-US" b="1" dirty="0"/>
              <a:t>4. </a:t>
            </a:r>
            <a:r>
              <a:rPr lang="vi-VN" b="1" dirty="0"/>
              <a:t>Ví dụ thực tế: IoT nông nghiệp và công bằng vùng miền</a:t>
            </a:r>
          </a:p>
          <a:p>
            <a:pPr marL="158750" indent="0">
              <a:buFontTx/>
              <a:buNone/>
            </a:pPr>
            <a:r>
              <a:rPr lang="vi-VN" dirty="0"/>
              <a:t>“Hệ thống IoT nông nghiệp phải cung cấp dữ liệu công bằng cho mọi vùng miền.”</a:t>
            </a:r>
          </a:p>
          <a:p>
            <a:pPr marL="158750" indent="0">
              <a:buFontTx/>
              <a:buNone/>
            </a:pPr>
            <a:r>
              <a:rPr lang="vi-VN" b="1" dirty="0"/>
              <a:t>Giải thích:</a:t>
            </a:r>
          </a:p>
          <a:p>
            <a:pPr marL="158750" indent="0">
              <a:buFontTx/>
              <a:buNone/>
            </a:pPr>
            <a:r>
              <a:rPr lang="vi-VN" dirty="0"/>
              <a:t>Trong nông nghiệp thông minh (Smart Agriculture), cảm biến IoT được dùng để đo </a:t>
            </a:r>
            <a:r>
              <a:rPr lang="vi-VN" b="1" dirty="0"/>
              <a:t>độ ẩm đất, nhiệt độ, lượng mưa, dinh dưỡng cây trồng</a:t>
            </a:r>
            <a:r>
              <a:rPr lang="vi-VN" dirty="0"/>
              <a:t>,…</a:t>
            </a:r>
          </a:p>
          <a:p>
            <a:pPr marL="158750" indent="0">
              <a:buFontTx/>
              <a:buNone/>
            </a:pPr>
            <a:r>
              <a:rPr lang="vi-VN" dirty="0"/>
              <a:t>Nếu hệ thống chỉ được hiệu chỉnh hoặc huấn luyện dựa trên dữ liệu ở vùng đồng bằng hoặc khu vực có hạ tầng mạnh, nó sẽ </a:t>
            </a:r>
            <a:r>
              <a:rPr lang="vi-VN" b="1" dirty="0"/>
              <a:t>không chính xác khi áp dụng ở vùng núi, cao nguyên hoặc hải đảo</a:t>
            </a:r>
            <a:r>
              <a:rPr lang="vi-VN" dirty="0"/>
              <a:t>.</a:t>
            </a:r>
          </a:p>
          <a:p>
            <a:pPr marL="158750" indent="0">
              <a:buFontTx/>
              <a:buNone/>
            </a:pPr>
            <a:r>
              <a:rPr lang="vi-VN" dirty="0"/>
              <a:t>Do đó, tính </a:t>
            </a:r>
            <a:r>
              <a:rPr lang="vi-VN" b="1" dirty="0"/>
              <a:t>công bằng dữ liệu (data fairness)</a:t>
            </a:r>
            <a:r>
              <a:rPr lang="vi-VN" dirty="0"/>
              <a:t> yêu cầu:</a:t>
            </a:r>
          </a:p>
          <a:p>
            <a:pPr marL="158750" indent="0">
              <a:buFontTx/>
              <a:buNone/>
            </a:pPr>
            <a:r>
              <a:rPr lang="vi-VN" b="1" dirty="0"/>
              <a:t>Phân phối cảm biến đồng đều</a:t>
            </a:r>
            <a:r>
              <a:rPr lang="vi-VN" dirty="0"/>
              <a:t>, không chỉ ở nơi giàu tài nguyên.</a:t>
            </a:r>
          </a:p>
          <a:p>
            <a:pPr marL="158750" indent="0">
              <a:buFontTx/>
              <a:buNone/>
            </a:pPr>
            <a:r>
              <a:rPr lang="vi-VN" b="1" dirty="0"/>
              <a:t>Đảm bảo độ chính xác tương đương</a:t>
            </a:r>
            <a:r>
              <a:rPr lang="vi-VN" dirty="0"/>
              <a:t> giữa các vùng.</a:t>
            </a:r>
          </a:p>
          <a:p>
            <a:pPr marL="158750" indent="0">
              <a:buFontTx/>
              <a:buNone/>
            </a:pPr>
            <a:r>
              <a:rPr lang="vi-VN" b="1" dirty="0"/>
              <a:t>Hỗ trợ ngôn ngữ, điều kiện kỹ thuật và kết nối phù hợp</a:t>
            </a:r>
            <a:r>
              <a:rPr lang="vi-VN" dirty="0"/>
              <a:t> với từng khu vực.</a:t>
            </a:r>
          </a:p>
          <a:p>
            <a:pPr marL="158750" indent="0">
              <a:buFontTx/>
              <a:buNone/>
            </a:pPr>
            <a:r>
              <a:rPr lang="vi-VN" dirty="0"/>
              <a:t>Điều này giúp nông dân ở mọi nơi đều </a:t>
            </a:r>
            <a:r>
              <a:rPr lang="vi-VN" b="1" dirty="0"/>
              <a:t>được hưởng lợi công bằng từ công nghệ IoT</a:t>
            </a:r>
            <a:r>
              <a:rPr lang="vi-VN" dirty="0"/>
              <a:t>, tránh tình trạng “IoT chỉ dành cho thành phố”.</a:t>
            </a:r>
          </a:p>
          <a:p>
            <a:pPr marL="158750" indent="0">
              <a:buFontTx/>
              <a:buNone/>
            </a:pPr>
            <a:endParaRPr lang="en-US" b="1" dirty="0"/>
          </a:p>
          <a:p>
            <a:pPr marL="158750" indent="0">
              <a:buFontTx/>
              <a:buNone/>
            </a:pPr>
            <a:r>
              <a:rPr lang="en-US" b="1" dirty="0"/>
              <a:t>5</a:t>
            </a:r>
            <a:r>
              <a:rPr lang="vi-VN" b="1" dirty="0"/>
              <a:t>. Kết luận</a:t>
            </a:r>
          </a:p>
          <a:p>
            <a:pPr marL="158750" indent="0">
              <a:buFontTx/>
              <a:buNone/>
            </a:pPr>
            <a:r>
              <a:rPr lang="vi-VN" dirty="0"/>
              <a:t>Nguyên tắc </a:t>
            </a:r>
            <a:r>
              <a:rPr lang="vi-VN" b="1" dirty="0"/>
              <a:t>Công bằng (Fairness)</a:t>
            </a:r>
            <a:r>
              <a:rPr lang="vi-VN" dirty="0"/>
              <a:t> là lời nhắc rằng:</a:t>
            </a:r>
          </a:p>
          <a:p>
            <a:pPr marL="158750" indent="0">
              <a:buFontTx/>
              <a:buNone/>
            </a:pPr>
            <a:r>
              <a:rPr lang="vi-VN" dirty="0"/>
              <a:t>“Công nghệ chỉ thực sự thông minh khi nó công bằng với tất cả mọi người.”</a:t>
            </a:r>
          </a:p>
          <a:p>
            <a:pPr marL="158750" indent="0">
              <a:buFontTx/>
              <a:buNone/>
            </a:pPr>
            <a:r>
              <a:rPr lang="vi-VN" dirty="0"/>
              <a:t>Kỹ sư IoT có trách nhiệm:</a:t>
            </a:r>
          </a:p>
          <a:p>
            <a:pPr marL="158750" indent="0">
              <a:buFontTx/>
              <a:buNone/>
            </a:pPr>
            <a:r>
              <a:rPr lang="vi-VN" b="1" dirty="0"/>
              <a:t>Đảm bảo hệ thống phục vụ đồng đều cho mọi nhóm người</a:t>
            </a:r>
            <a:r>
              <a:rPr lang="vi-VN" dirty="0"/>
              <a:t>, không loại trừ vùng miền, giới tính hay hoàn cảnh.</a:t>
            </a:r>
          </a:p>
          <a:p>
            <a:pPr marL="158750" indent="0">
              <a:buFontTx/>
              <a:buNone/>
            </a:pPr>
            <a:r>
              <a:rPr lang="vi-VN" b="1" dirty="0"/>
              <a:t>Thiết kế và huấn luyện mô hình không thiên lệch.</a:t>
            </a:r>
            <a:endParaRPr lang="vi-VN" dirty="0"/>
          </a:p>
          <a:p>
            <a:pPr marL="158750" indent="0">
              <a:buFontTx/>
              <a:buNone/>
            </a:pPr>
            <a:r>
              <a:rPr lang="vi-VN" b="1" dirty="0"/>
              <a:t>Công bố kết quả minh bạch và kiểm thử rộng rãi</a:t>
            </a:r>
            <a:r>
              <a:rPr lang="vi-VN" dirty="0"/>
              <a:t> để phát hiện sai lệch tiềm ẩn.</a:t>
            </a:r>
          </a:p>
          <a:p>
            <a:pPr marL="158750" indent="0">
              <a:buFontTx/>
              <a:buNone/>
            </a:pPr>
            <a:r>
              <a:rPr lang="en-US" dirty="0"/>
              <a:t>=&gt; </a:t>
            </a:r>
            <a:r>
              <a:rPr lang="vi-VN" dirty="0"/>
              <a:t>Khi công bằng được đảm bảo, </a:t>
            </a:r>
            <a:r>
              <a:rPr lang="vi-VN" b="1" dirty="0"/>
              <a:t>IoT trở thành công cụ thúc đẩy bình đẳng xã hội</a:t>
            </a:r>
            <a:r>
              <a:rPr lang="vi-VN" dirty="0"/>
              <a:t>, giúp mọi người – dù ở đâu – đều có cơ hội tiếp cận tri thức và lợi ích từ dữ liệu thông minh.</a:t>
            </a:r>
          </a:p>
          <a:p>
            <a:pPr marL="158750" indent="0">
              <a:buFontTx/>
              <a:buNone/>
            </a:pPr>
            <a:endParaRPr lang="en-US" dirty="0"/>
          </a:p>
        </p:txBody>
      </p:sp>
    </p:spTree>
    <p:extLst>
      <p:ext uri="{BB962C8B-B14F-4D97-AF65-F5344CB8AC3E}">
        <p14:creationId xmlns:p14="http://schemas.microsoft.com/office/powerpoint/2010/main" val="42381941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FontTx/>
              <a:buNone/>
            </a:pPr>
            <a:r>
              <a:rPr lang="vi-VN" b="1" dirty="0"/>
              <a:t>1. Ý nghĩa của nguyên tắc An toàn (Safety)</a:t>
            </a:r>
          </a:p>
          <a:p>
            <a:pPr marL="158750" indent="0">
              <a:buFontTx/>
              <a:buNone/>
            </a:pPr>
            <a:r>
              <a:rPr lang="vi-VN" dirty="0"/>
              <a:t>Nguyên tắc </a:t>
            </a:r>
            <a:r>
              <a:rPr lang="vi-VN" b="1" dirty="0"/>
              <a:t>An toàn</a:t>
            </a:r>
            <a:r>
              <a:rPr lang="vi-VN" dirty="0"/>
              <a:t> nhấn mạnh rằng:</a:t>
            </a:r>
          </a:p>
          <a:p>
            <a:pPr marL="158750" indent="0">
              <a:buFontTx/>
              <a:buNone/>
            </a:pPr>
            <a:r>
              <a:rPr lang="vi-VN" dirty="0"/>
              <a:t>“Công nghệ IoT phải được thiết kế và vận hành nhằm bảo vệ con người, tài sản và môi trường khỏi mọi rủi ro có thể dự đoán được.”</a:t>
            </a:r>
          </a:p>
          <a:p>
            <a:pPr marL="158750" indent="0">
              <a:buFontTx/>
              <a:buNone/>
            </a:pPr>
            <a:r>
              <a:rPr lang="vi-VN" dirty="0"/>
              <a:t>IoT (Internet of Things) kết nối hàng tỷ thiết bị vật lý — từ cảm biến, robot, xe tự hành đến thiết bị y tế — nên </a:t>
            </a:r>
            <a:r>
              <a:rPr lang="vi-VN" b="1" dirty="0"/>
              <a:t>mọi sai sót trong thiết kế, truyền dữ liệu hay vận hành đều có thể dẫn đến hậu quả nghiêm trọng</a:t>
            </a:r>
            <a:r>
              <a:rPr lang="vi-VN" dirty="0"/>
              <a:t>, bao gồm thiệt hại về người, môi trường hoặc tài chính.</a:t>
            </a:r>
            <a:br>
              <a:rPr lang="vi-VN" dirty="0"/>
            </a:br>
            <a:r>
              <a:rPr lang="vi-VN" dirty="0"/>
              <a:t>Do đó, kỹ sư IoT cần đặt </a:t>
            </a:r>
            <a:r>
              <a:rPr lang="vi-VN" b="1" dirty="0"/>
              <a:t>an toàn</a:t>
            </a:r>
            <a:r>
              <a:rPr lang="vi-VN" dirty="0"/>
              <a:t> là ưu tiên hàng đầu trong mọi giai đoạn: </a:t>
            </a:r>
            <a:r>
              <a:rPr lang="vi-VN" b="1" dirty="0"/>
              <a:t>thiết kế, triển khai, thử nghiệm và bảo trì.</a:t>
            </a:r>
            <a:endParaRPr lang="vi-VN" dirty="0"/>
          </a:p>
          <a:p>
            <a:pPr marL="158750" indent="0">
              <a:buFontTx/>
              <a:buNone/>
            </a:pPr>
            <a:endParaRPr lang="en-US" b="1" dirty="0"/>
          </a:p>
          <a:p>
            <a:pPr marL="158750" indent="0">
              <a:buFontTx/>
              <a:buNone/>
            </a:pPr>
            <a:r>
              <a:rPr lang="en-US" b="1" dirty="0"/>
              <a:t>2. </a:t>
            </a:r>
            <a:r>
              <a:rPr lang="vi-VN" b="1" dirty="0"/>
              <a:t>Bảo vệ tính mạng, tài sản và môi trường</a:t>
            </a:r>
          </a:p>
          <a:p>
            <a:pPr marL="158750" indent="0">
              <a:buFontTx/>
              <a:buNone/>
            </a:pPr>
            <a:r>
              <a:rPr lang="vi-VN" b="1" dirty="0"/>
              <a:t>Giải thích:</a:t>
            </a:r>
          </a:p>
          <a:p>
            <a:pPr marL="158750" indent="0">
              <a:buFontTx/>
              <a:buNone/>
            </a:pPr>
            <a:r>
              <a:rPr lang="vi-VN" dirty="0"/>
              <a:t>An toàn trong IoT không chỉ là vấn đề kỹ thuật mà còn là </a:t>
            </a:r>
            <a:r>
              <a:rPr lang="vi-VN" b="1" dirty="0"/>
              <a:t>trách nhiệm đạo đức</a:t>
            </a:r>
            <a:r>
              <a:rPr lang="vi-VN" dirty="0"/>
              <a:t>.</a:t>
            </a:r>
            <a:br>
              <a:rPr lang="vi-VN" dirty="0"/>
            </a:br>
            <a:r>
              <a:rPr lang="vi-VN" dirty="0"/>
              <a:t>Hệ thống phải được thiết kế để:</a:t>
            </a:r>
          </a:p>
          <a:p>
            <a:pPr marL="158750" indent="0">
              <a:buFontTx/>
              <a:buNone/>
            </a:pPr>
            <a:r>
              <a:rPr lang="vi-VN" b="1" dirty="0"/>
              <a:t>Bảo vệ tính mạng con người:</a:t>
            </a:r>
            <a:r>
              <a:rPr lang="vi-VN" dirty="0"/>
              <a:t> Tránh gây thương tích hoặc ảnh hưởng sức khỏe (ví dụ thiết bị y tế, xe tự hành, robot công nghiệp).</a:t>
            </a:r>
          </a:p>
          <a:p>
            <a:pPr marL="158750" indent="0">
              <a:buFontTx/>
              <a:buNone/>
            </a:pPr>
            <a:r>
              <a:rPr lang="vi-VN" b="1" dirty="0"/>
              <a:t>Bảo vệ tài sản:</a:t>
            </a:r>
            <a:r>
              <a:rPr lang="vi-VN" dirty="0"/>
              <a:t> Ngăn hư hại hoặc mất mát do lỗi hệ thống hoặc tấn công mạng.</a:t>
            </a:r>
          </a:p>
          <a:p>
            <a:pPr marL="158750" indent="0">
              <a:buFontTx/>
              <a:buNone/>
            </a:pPr>
            <a:r>
              <a:rPr lang="vi-VN" b="1" dirty="0"/>
              <a:t>Bảo vệ môi trường:</a:t>
            </a:r>
            <a:r>
              <a:rPr lang="vi-VN" dirty="0"/>
              <a:t> Giảm nguy cơ ô nhiễm, cháy nổ, rò rỉ hóa chất hay khí độc.</a:t>
            </a:r>
          </a:p>
          <a:p>
            <a:pPr marL="158750" indent="0">
              <a:buFontTx/>
              <a:buNone/>
            </a:pPr>
            <a:r>
              <a:rPr lang="vi-VN" b="1" dirty="0"/>
              <a:t>Ví dụ:</a:t>
            </a:r>
          </a:p>
          <a:p>
            <a:pPr marL="158750" indent="0">
              <a:buFontTx/>
              <a:buNone/>
            </a:pPr>
            <a:r>
              <a:rPr lang="vi-VN" dirty="0"/>
              <a:t>Một </a:t>
            </a:r>
            <a:r>
              <a:rPr lang="vi-VN" b="1" dirty="0"/>
              <a:t>thiết bị IoT giám sát nhiệt độ trong kho lạnh y tế</a:t>
            </a:r>
            <a:r>
              <a:rPr lang="vi-VN" dirty="0"/>
              <a:t> cần đảm bảo độ chính xác cao; nếu sai lệch, vaccine có thể bị hỏng, gây thiệt hại lớn.</a:t>
            </a:r>
          </a:p>
          <a:p>
            <a:pPr marL="158750" indent="0">
              <a:buFontTx/>
              <a:buNone/>
            </a:pPr>
            <a:r>
              <a:rPr lang="vi-VN" dirty="0"/>
              <a:t>Hệ thống </a:t>
            </a:r>
            <a:r>
              <a:rPr lang="vi-VN" b="1" dirty="0"/>
              <a:t>IoT quản lý năng lượng trong nhà máy</a:t>
            </a:r>
            <a:r>
              <a:rPr lang="vi-VN" dirty="0"/>
              <a:t> phải tránh quá tải điện gây cháy.</a:t>
            </a:r>
          </a:p>
          <a:p>
            <a:pPr marL="158750" indent="0">
              <a:buFontTx/>
              <a:buNone/>
            </a:pPr>
            <a:endParaRPr lang="en-US" b="1" dirty="0"/>
          </a:p>
          <a:p>
            <a:pPr marL="158750" indent="0">
              <a:buFontTx/>
              <a:buNone/>
            </a:pPr>
            <a:r>
              <a:rPr lang="en-US" b="1" dirty="0"/>
              <a:t>3. </a:t>
            </a:r>
            <a:r>
              <a:rPr lang="vi-VN" b="1" dirty="0"/>
              <a:t>Thiết kế thiết bị có cơ chế phòng ngừa rủi ro và cảnh báo sớm</a:t>
            </a:r>
          </a:p>
          <a:p>
            <a:pPr marL="158750" indent="0">
              <a:buFontTx/>
              <a:buNone/>
            </a:pPr>
            <a:r>
              <a:rPr lang="vi-VN" b="1" dirty="0"/>
              <a:t>Giải thích:</a:t>
            </a:r>
          </a:p>
          <a:p>
            <a:pPr marL="158750" indent="0">
              <a:buFontTx/>
              <a:buNone/>
            </a:pPr>
            <a:r>
              <a:rPr lang="vi-VN" dirty="0"/>
              <a:t>Hệ thống IoT cần được thiết kế theo nguyên tắc </a:t>
            </a:r>
            <a:r>
              <a:rPr lang="vi-VN" b="1" dirty="0"/>
              <a:t>“Safety by Design”</a:t>
            </a:r>
            <a:r>
              <a:rPr lang="vi-VN" dirty="0"/>
              <a:t> – nghĩa là </a:t>
            </a:r>
            <a:r>
              <a:rPr lang="vi-VN" b="1" dirty="0"/>
              <a:t>ngay từ đầu phải tính đến các cơ chế bảo vệ</a:t>
            </a:r>
            <a:r>
              <a:rPr lang="vi-VN" dirty="0"/>
              <a:t>, không đợi đến khi xảy ra sự cố mới khắc phục.</a:t>
            </a:r>
            <a:br>
              <a:rPr lang="vi-VN" dirty="0"/>
            </a:br>
            <a:r>
              <a:rPr lang="vi-VN" dirty="0"/>
              <a:t>Điều này bao gồm:</a:t>
            </a:r>
          </a:p>
          <a:p>
            <a:pPr marL="158750" indent="0">
              <a:buFontTx/>
              <a:buNone/>
            </a:pPr>
            <a:r>
              <a:rPr lang="vi-VN" b="1" dirty="0"/>
              <a:t>Cảm biến cảnh báo sớm:</a:t>
            </a:r>
            <a:r>
              <a:rPr lang="vi-VN" dirty="0"/>
              <a:t> phát hiện nguy cơ cháy, rò rỉ, tràn, va chạm…</a:t>
            </a:r>
          </a:p>
          <a:p>
            <a:pPr marL="158750" indent="0">
              <a:buFontTx/>
              <a:buNone/>
            </a:pPr>
            <a:r>
              <a:rPr lang="vi-VN" b="1" dirty="0"/>
              <a:t>Cơ chế tự ngắt (fail-safe):</a:t>
            </a:r>
            <a:r>
              <a:rPr lang="vi-VN" dirty="0"/>
              <a:t> nếu hệ thống lỗi, thiết bị phải tự dừng hoặc chuyển về trạng thái an toàn.</a:t>
            </a:r>
          </a:p>
          <a:p>
            <a:pPr marL="158750" indent="0">
              <a:buFontTx/>
              <a:buNone/>
            </a:pPr>
            <a:r>
              <a:rPr lang="vi-VN" b="1" dirty="0"/>
              <a:t>Cơ chế dự phòng (redundancy):</a:t>
            </a:r>
            <a:r>
              <a:rPr lang="vi-VN" dirty="0"/>
              <a:t> có đường truyền hoặc cảm biến thay thế khi xảy ra sự cố.</a:t>
            </a:r>
          </a:p>
          <a:p>
            <a:pPr marL="158750" indent="0">
              <a:buFontTx/>
              <a:buNone/>
            </a:pPr>
            <a:r>
              <a:rPr lang="vi-VN" b="1" dirty="0"/>
              <a:t>Ghi log và thông báo:</a:t>
            </a:r>
            <a:r>
              <a:rPr lang="vi-VN" dirty="0"/>
              <a:t> để người vận hành kịp thời xử lý.</a:t>
            </a:r>
          </a:p>
          <a:p>
            <a:pPr marL="158750" indent="0">
              <a:buFontTx/>
              <a:buNone/>
            </a:pPr>
            <a:r>
              <a:rPr lang="vi-VN" b="1" dirty="0"/>
              <a:t>Ví dụ:</a:t>
            </a:r>
          </a:p>
          <a:p>
            <a:pPr marL="158750" indent="0">
              <a:buFontTx/>
              <a:buNone/>
            </a:pPr>
            <a:r>
              <a:rPr lang="vi-VN" dirty="0"/>
              <a:t>Một </a:t>
            </a:r>
            <a:r>
              <a:rPr lang="vi-VN" b="1" dirty="0"/>
              <a:t>hệ thống IoT giám sát cầu đường</a:t>
            </a:r>
            <a:r>
              <a:rPr lang="vi-VN" dirty="0"/>
              <a:t> cần cảnh báo sớm khi rung chấn vượt ngưỡng; hoặc </a:t>
            </a:r>
            <a:r>
              <a:rPr lang="vi-VN" b="1" dirty="0"/>
              <a:t>xe tự hành</a:t>
            </a:r>
            <a:r>
              <a:rPr lang="vi-VN" dirty="0"/>
              <a:t> cần có cảm biến dự phòng để tránh va chạm nếu camera chính bị lỗi.</a:t>
            </a:r>
          </a:p>
          <a:p>
            <a:pPr marL="158750" indent="0">
              <a:buFontTx/>
              <a:buNone/>
            </a:pPr>
            <a:endParaRPr lang="en-US" b="1" dirty="0"/>
          </a:p>
          <a:p>
            <a:pPr marL="158750" indent="0">
              <a:buFontTx/>
              <a:buNone/>
            </a:pPr>
            <a:r>
              <a:rPr lang="en-US" b="1" dirty="0"/>
              <a:t>4. </a:t>
            </a:r>
            <a:r>
              <a:rPr lang="vi-VN" b="1" dirty="0"/>
              <a:t>Ví dụ: Cảm biến khí gas và cảnh báo cháy nổ</a:t>
            </a:r>
          </a:p>
          <a:p>
            <a:pPr marL="158750" indent="0">
              <a:buFontTx/>
              <a:buNone/>
            </a:pPr>
            <a:r>
              <a:rPr lang="vi-VN" dirty="0"/>
              <a:t>“Cảm biến khí gas phải cảnh báo chính xác để tránh cháy nổ.”</a:t>
            </a:r>
          </a:p>
          <a:p>
            <a:pPr marL="158750" indent="0">
              <a:buFontTx/>
              <a:buNone/>
            </a:pPr>
            <a:r>
              <a:rPr lang="vi-VN" b="1" dirty="0"/>
              <a:t>Giải thích:</a:t>
            </a:r>
          </a:p>
          <a:p>
            <a:pPr marL="158750" indent="0">
              <a:buFontTx/>
              <a:buNone/>
            </a:pPr>
            <a:r>
              <a:rPr lang="vi-VN" dirty="0"/>
              <a:t>Cảm biến khí gas IoT thường được dùng trong nhà bếp, nhà máy hoặc trạm xăng để phát hiện </a:t>
            </a:r>
            <a:r>
              <a:rPr lang="vi-VN" b="1" dirty="0"/>
              <a:t>rò rỉ khí dễ cháy (như LPG, methane, CO)</a:t>
            </a:r>
            <a:r>
              <a:rPr lang="vi-VN" dirty="0"/>
              <a:t>.</a:t>
            </a:r>
          </a:p>
          <a:p>
            <a:pPr marL="158750" indent="0">
              <a:buFontTx/>
              <a:buNone/>
            </a:pPr>
            <a:r>
              <a:rPr lang="vi-VN" dirty="0"/>
              <a:t>Nếu thiết bị hoạt động không ổn định — </a:t>
            </a:r>
            <a:r>
              <a:rPr lang="vi-VN" b="1" dirty="0"/>
              <a:t>báo sai hoặc không báo</a:t>
            </a:r>
            <a:r>
              <a:rPr lang="vi-VN" dirty="0"/>
              <a:t> — có thể gây cháy nổ, thiệt hại nghiêm trọng đến người và tài sản.</a:t>
            </a:r>
          </a:p>
          <a:p>
            <a:pPr marL="158750" indent="0">
              <a:buFontTx/>
              <a:buNone/>
            </a:pPr>
            <a:r>
              <a:rPr lang="vi-VN" b="1" dirty="0"/>
              <a:t>Để đảm bảo an toàn:</a:t>
            </a:r>
          </a:p>
          <a:p>
            <a:pPr marL="158750" indent="0">
              <a:buFontTx/>
              <a:buNone/>
            </a:pPr>
            <a:r>
              <a:rPr lang="vi-VN" dirty="0"/>
              <a:t>Kỹ sư cần </a:t>
            </a:r>
            <a:r>
              <a:rPr lang="vi-VN" b="1" dirty="0"/>
              <a:t>hiệu chuẩn cảm biến định kỳ</a:t>
            </a:r>
            <a:r>
              <a:rPr lang="vi-VN" dirty="0"/>
              <a:t>.</a:t>
            </a:r>
          </a:p>
          <a:p>
            <a:pPr marL="158750" indent="0">
              <a:buFontTx/>
              <a:buNone/>
            </a:pPr>
            <a:r>
              <a:rPr lang="vi-VN" dirty="0"/>
              <a:t>Thiết kế hệ thống </a:t>
            </a:r>
            <a:r>
              <a:rPr lang="vi-VN" b="1" dirty="0"/>
              <a:t>cảnh báo cả bằng âm thanh và kết nối mạng (IoT Alert)</a:t>
            </a:r>
            <a:r>
              <a:rPr lang="vi-VN" dirty="0"/>
              <a:t>.</a:t>
            </a:r>
          </a:p>
          <a:p>
            <a:pPr marL="158750" indent="0">
              <a:buFontTx/>
              <a:buNone/>
            </a:pPr>
            <a:r>
              <a:rPr lang="vi-VN" dirty="0"/>
              <a:t>Có </a:t>
            </a:r>
            <a:r>
              <a:rPr lang="vi-VN" b="1" dirty="0"/>
              <a:t>cơ chế tự ngắt nguồn gas</a:t>
            </a:r>
            <a:r>
              <a:rPr lang="vi-VN" dirty="0"/>
              <a:t> hoặc </a:t>
            </a:r>
            <a:r>
              <a:rPr lang="vi-VN" b="1" dirty="0"/>
              <a:t>kích hoạt quạt thông khí tự động</a:t>
            </a:r>
            <a:r>
              <a:rPr lang="vi-VN" dirty="0"/>
              <a:t> khi phát hiện rò rỉ.</a:t>
            </a:r>
          </a:p>
          <a:p>
            <a:pPr marL="158750" indent="0">
              <a:buFontTx/>
              <a:buNone/>
            </a:pPr>
            <a:r>
              <a:rPr lang="vi-VN" dirty="0"/>
              <a:t>Đây là ví dụ điển hình cho thấy:</a:t>
            </a:r>
          </a:p>
          <a:p>
            <a:pPr marL="158750" indent="0">
              <a:buFontTx/>
              <a:buNone/>
            </a:pPr>
            <a:r>
              <a:rPr lang="vi-VN" dirty="0"/>
              <a:t>“Một sai sót nhỏ trong thiết kế IoT có thể gây hậu quả lớn trong thế giới vật lý.”</a:t>
            </a:r>
          </a:p>
          <a:p>
            <a:pPr marL="158750" indent="0">
              <a:buFontTx/>
              <a:buNone/>
            </a:pPr>
            <a:endParaRPr lang="en-US" b="1" dirty="0"/>
          </a:p>
          <a:p>
            <a:pPr marL="158750" indent="0">
              <a:buFontTx/>
              <a:buNone/>
            </a:pPr>
            <a:r>
              <a:rPr lang="en-US" b="1" dirty="0"/>
              <a:t>5</a:t>
            </a:r>
            <a:r>
              <a:rPr lang="vi-VN" b="1" dirty="0"/>
              <a:t>. Kết luận</a:t>
            </a:r>
          </a:p>
          <a:p>
            <a:pPr marL="158750" indent="0">
              <a:buFontTx/>
              <a:buNone/>
            </a:pPr>
            <a:r>
              <a:rPr lang="vi-VN" dirty="0"/>
              <a:t>Nguyên tắc </a:t>
            </a:r>
            <a:r>
              <a:rPr lang="vi-VN" b="1" dirty="0"/>
              <a:t>An toàn (Safety)</a:t>
            </a:r>
            <a:r>
              <a:rPr lang="vi-VN" dirty="0"/>
              <a:t> là trụ cột cuối cùng nhưng quan trọng nhất trong các nguyên tắc đạo đức IoT.</a:t>
            </a:r>
            <a:br>
              <a:rPr lang="vi-VN" dirty="0"/>
            </a:br>
            <a:r>
              <a:rPr lang="vi-VN" dirty="0"/>
              <a:t>Một kỹ sư IoT có đạo đức phải:</a:t>
            </a:r>
          </a:p>
          <a:p>
            <a:pPr marL="158750" indent="0">
              <a:buFontTx/>
              <a:buNone/>
            </a:pPr>
            <a:r>
              <a:rPr lang="vi-VN" b="1" dirty="0"/>
              <a:t>Dự đoán và phòng ngừa rủi ro</a:t>
            </a:r>
            <a:r>
              <a:rPr lang="vi-VN" dirty="0"/>
              <a:t> ngay từ giai đoạn thiết kế.</a:t>
            </a:r>
          </a:p>
          <a:p>
            <a:pPr marL="158750" indent="0">
              <a:buFontTx/>
              <a:buNone/>
            </a:pPr>
            <a:r>
              <a:rPr lang="vi-VN" b="1" dirty="0"/>
              <a:t>Ưu tiên bảo vệ con người và môi trường hơn lợi nhuận.</a:t>
            </a:r>
            <a:endParaRPr lang="vi-VN" dirty="0"/>
          </a:p>
          <a:p>
            <a:pPr marL="158750" indent="0">
              <a:buFontTx/>
              <a:buNone/>
            </a:pPr>
            <a:r>
              <a:rPr lang="vi-VN" b="1" dirty="0"/>
              <a:t>Minh bạch khi phát hiện lỗi hoặc rủi ro bảo mật.</a:t>
            </a:r>
            <a:endParaRPr lang="vi-VN" dirty="0"/>
          </a:p>
          <a:p>
            <a:pPr marL="158750" indent="0">
              <a:buFontTx/>
              <a:buNone/>
            </a:pPr>
            <a:r>
              <a:rPr lang="en-US"/>
              <a:t>=&gt; </a:t>
            </a:r>
            <a:r>
              <a:rPr lang="vi-VN" b="1" dirty="0"/>
              <a:t>Tóm lại:</a:t>
            </a:r>
            <a:br>
              <a:rPr lang="vi-VN" dirty="0"/>
            </a:br>
            <a:r>
              <a:rPr lang="vi-VN" dirty="0"/>
              <a:t>“IoT thông minh không chỉ là kết nối vạn vật — mà là kết nối an toàn giữa con người, công nghệ và hành tinh.”</a:t>
            </a:r>
          </a:p>
          <a:p>
            <a:pPr marL="158750" indent="0">
              <a:buFontTx/>
              <a:buNone/>
            </a:pPr>
            <a:endParaRPr lang="en-US" dirty="0"/>
          </a:p>
        </p:txBody>
      </p:sp>
    </p:spTree>
    <p:extLst>
      <p:ext uri="{BB962C8B-B14F-4D97-AF65-F5344CB8AC3E}">
        <p14:creationId xmlns:p14="http://schemas.microsoft.com/office/powerpoint/2010/main" val="908944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485875" y="264475"/>
            <a:ext cx="8183700" cy="14736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2" name="Google Shape;12;p2"/>
          <p:cNvSpPr txBox="1">
            <a:spLocks noGrp="1"/>
          </p:cNvSpPr>
          <p:nvPr>
            <p:ph type="subTitle" idx="1"/>
          </p:nvPr>
        </p:nvSpPr>
        <p:spPr>
          <a:xfrm>
            <a:off x="485875" y="1738075"/>
            <a:ext cx="8183700" cy="861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a:endParaRPr/>
          </a:p>
        </p:txBody>
      </p:sp>
      <p:sp>
        <p:nvSpPr>
          <p:cNvPr id="13" name="Google Shape;13;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7" name="Google Shape;17;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9" name="Google Shape;29;p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2"/>
        </a:solid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6" name="Google Shape;36;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0" name="Google Shape;40;p9"/>
          <p:cNvSpPr txBox="1">
            <a:spLocks noGrp="1"/>
          </p:cNvSpPr>
          <p:nvPr>
            <p:ph type="title"/>
          </p:nvPr>
        </p:nvSpPr>
        <p:spPr>
          <a:xfrm>
            <a:off x="265500" y="1181700"/>
            <a:ext cx="4045200" cy="15336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1" name="Google Shape;41;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2" name="Google Shape;42;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3" name="Google Shape;43;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6" name="Google Shape;46;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1"/>
          <p:cNvSpPr txBox="1">
            <a:spLocks noGrp="1"/>
          </p:cNvSpPr>
          <p:nvPr>
            <p:ph type="title" hasCustomPrompt="1"/>
          </p:nvPr>
        </p:nvSpPr>
        <p:spPr>
          <a:xfrm>
            <a:off x="311700" y="743001"/>
            <a:ext cx="8520600" cy="200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a:spLocks noGrp="1"/>
          </p:cNvSpPr>
          <p:nvPr>
            <p:ph type="body" idx="1"/>
          </p:nvPr>
        </p:nvSpPr>
        <p:spPr>
          <a:xfrm>
            <a:off x="311700" y="2845182"/>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51" name="Google Shape;51;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l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23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marL="914400" lvl="1"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marL="1371600" lvl="2"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marL="1828800" lvl="3"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marL="2286000" lvl="4"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marL="2743200" lvl="5"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marL="3200400" lvl="6"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marL="3657600" lvl="7"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marL="4114800" lvl="8"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C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333100" y="1125475"/>
            <a:ext cx="8183700" cy="1473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CA"/>
              <a:t>Chap 5: Quản lý thiết bị và </a:t>
            </a:r>
            <a:endParaRPr/>
          </a:p>
          <a:p>
            <a:pPr marL="0" lvl="0" indent="0" algn="l" rtl="0">
              <a:spcBef>
                <a:spcPts val="0"/>
              </a:spcBef>
              <a:spcAft>
                <a:spcPts val="0"/>
              </a:spcAft>
              <a:buNone/>
            </a:pPr>
            <a:r>
              <a:rPr lang="en-CA"/>
              <a:t>An toàn thông tin IoT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Quản</a:t>
            </a:r>
            <a:r>
              <a:rPr lang="en-CA" dirty="0"/>
              <a:t> </a:t>
            </a:r>
            <a:r>
              <a:rPr lang="en-CA" dirty="0" err="1"/>
              <a:t>lý</a:t>
            </a:r>
            <a:r>
              <a:rPr lang="en-CA" dirty="0"/>
              <a:t> </a:t>
            </a:r>
            <a:r>
              <a:rPr lang="en-CA" dirty="0" err="1"/>
              <a:t>thiết</a:t>
            </a:r>
            <a:r>
              <a:rPr lang="en-CA" dirty="0"/>
              <a:t> </a:t>
            </a:r>
            <a:r>
              <a:rPr lang="en-CA" dirty="0" err="1"/>
              <a:t>bị</a:t>
            </a:r>
            <a:endParaRPr dirty="0"/>
          </a:p>
        </p:txBody>
      </p:sp>
      <p:sp>
        <p:nvSpPr>
          <p:cNvPr id="64" name="Google Shape;64;p14"/>
          <p:cNvSpPr txBox="1">
            <a:spLocks noGrp="1"/>
          </p:cNvSpPr>
          <p:nvPr>
            <p:ph type="body" idx="1"/>
          </p:nvPr>
        </p:nvSpPr>
        <p:spPr>
          <a:xfrm>
            <a:off x="311700" y="1152475"/>
            <a:ext cx="8520600" cy="3874500"/>
          </a:xfrm>
          <a:prstGeom prst="rect">
            <a:avLst/>
          </a:prstGeom>
        </p:spPr>
        <p:txBody>
          <a:bodyPr spcFirstLastPara="1" wrap="square" lIns="91425" tIns="91425" rIns="91425" bIns="91425" anchor="t" anchorCtr="0">
            <a:normAutofit fontScale="92500" lnSpcReduction="20000"/>
          </a:bodyPr>
          <a:lstStyle/>
          <a:p>
            <a:pPr marL="457200" lvl="0" indent="-334327" algn="l" rtl="0">
              <a:spcBef>
                <a:spcPts val="0"/>
              </a:spcBef>
              <a:spcAft>
                <a:spcPts val="0"/>
              </a:spcAft>
              <a:buSzPct val="100000"/>
              <a:buChar char="-"/>
            </a:pPr>
            <a:r>
              <a:rPr lang="en-CA" dirty="0" err="1"/>
              <a:t>Quản</a:t>
            </a:r>
            <a:r>
              <a:rPr lang="en-CA" dirty="0"/>
              <a:t> </a:t>
            </a:r>
            <a:r>
              <a:rPr lang="en-CA" dirty="0" err="1"/>
              <a:t>lý</a:t>
            </a:r>
            <a:r>
              <a:rPr lang="en-CA" dirty="0"/>
              <a:t> </a:t>
            </a:r>
            <a:r>
              <a:rPr lang="en-CA" dirty="0" err="1"/>
              <a:t>thiết</a:t>
            </a:r>
            <a:r>
              <a:rPr lang="en-CA" dirty="0"/>
              <a:t> </a:t>
            </a:r>
            <a:r>
              <a:rPr lang="en-CA" dirty="0" err="1"/>
              <a:t>bị</a:t>
            </a:r>
            <a:r>
              <a:rPr lang="en-CA" dirty="0"/>
              <a:t> IoT </a:t>
            </a:r>
            <a:r>
              <a:rPr lang="en-CA" dirty="0" err="1"/>
              <a:t>là</a:t>
            </a:r>
            <a:r>
              <a:rPr lang="en-CA" dirty="0"/>
              <a:t> </a:t>
            </a:r>
            <a:r>
              <a:rPr lang="en-CA" dirty="0" err="1"/>
              <a:t>quá</a:t>
            </a:r>
            <a:r>
              <a:rPr lang="en-CA" dirty="0"/>
              <a:t> </a:t>
            </a:r>
            <a:r>
              <a:rPr lang="en-CA" dirty="0" err="1"/>
              <a:t>trình</a:t>
            </a:r>
            <a:r>
              <a:rPr lang="en-CA" dirty="0"/>
              <a:t> </a:t>
            </a:r>
            <a:r>
              <a:rPr lang="en-CA" dirty="0" err="1"/>
              <a:t>theo</a:t>
            </a:r>
            <a:r>
              <a:rPr lang="en-CA" dirty="0"/>
              <a:t> </a:t>
            </a:r>
            <a:r>
              <a:rPr lang="en-CA" dirty="0" err="1"/>
              <a:t>dõi</a:t>
            </a:r>
            <a:r>
              <a:rPr lang="en-CA" dirty="0"/>
              <a:t> </a:t>
            </a:r>
            <a:r>
              <a:rPr lang="en-CA" dirty="0" err="1"/>
              <a:t>và</a:t>
            </a:r>
            <a:r>
              <a:rPr lang="en-CA" dirty="0"/>
              <a:t> </a:t>
            </a:r>
            <a:r>
              <a:rPr lang="en-CA" dirty="0" err="1"/>
              <a:t>quản</a:t>
            </a:r>
            <a:r>
              <a:rPr lang="en-CA" dirty="0"/>
              <a:t> </a:t>
            </a:r>
            <a:r>
              <a:rPr lang="en-CA" dirty="0" err="1"/>
              <a:t>lý</a:t>
            </a:r>
            <a:r>
              <a:rPr lang="en-CA" dirty="0"/>
              <a:t> </a:t>
            </a:r>
            <a:r>
              <a:rPr lang="en-CA" dirty="0" err="1"/>
              <a:t>vòng</a:t>
            </a:r>
            <a:r>
              <a:rPr lang="en-CA" dirty="0"/>
              <a:t> </a:t>
            </a:r>
            <a:r>
              <a:rPr lang="en-CA" dirty="0" err="1"/>
              <a:t>đời</a:t>
            </a:r>
            <a:r>
              <a:rPr lang="en-CA" dirty="0"/>
              <a:t> </a:t>
            </a:r>
            <a:r>
              <a:rPr lang="en-CA" dirty="0" err="1"/>
              <a:t>của</a:t>
            </a:r>
            <a:r>
              <a:rPr lang="en-CA" dirty="0"/>
              <a:t> </a:t>
            </a:r>
            <a:r>
              <a:rPr lang="en-CA" dirty="0" err="1"/>
              <a:t>các</a:t>
            </a:r>
            <a:r>
              <a:rPr lang="en-CA" dirty="0"/>
              <a:t> </a:t>
            </a:r>
            <a:r>
              <a:rPr lang="en-CA" dirty="0" err="1"/>
              <a:t>thiết</a:t>
            </a:r>
            <a:r>
              <a:rPr lang="en-CA" dirty="0"/>
              <a:t> </a:t>
            </a:r>
            <a:r>
              <a:rPr lang="en-CA" dirty="0" err="1"/>
              <a:t>bị</a:t>
            </a:r>
            <a:r>
              <a:rPr lang="en-CA" dirty="0"/>
              <a:t> IoT </a:t>
            </a:r>
            <a:r>
              <a:rPr lang="en-CA" dirty="0" err="1"/>
              <a:t>trong</a:t>
            </a:r>
            <a:r>
              <a:rPr lang="en-CA" dirty="0"/>
              <a:t> </a:t>
            </a:r>
            <a:r>
              <a:rPr lang="en-CA" dirty="0" err="1"/>
              <a:t>một</a:t>
            </a:r>
            <a:r>
              <a:rPr lang="en-CA" dirty="0"/>
              <a:t> </a:t>
            </a:r>
            <a:r>
              <a:rPr lang="en-CA" dirty="0" err="1"/>
              <a:t>hệ</a:t>
            </a:r>
            <a:r>
              <a:rPr lang="en-CA" dirty="0"/>
              <a:t> </a:t>
            </a:r>
            <a:r>
              <a:rPr lang="en-CA" dirty="0" err="1"/>
              <a:t>sinh</a:t>
            </a:r>
            <a:r>
              <a:rPr lang="en-CA" dirty="0"/>
              <a:t> </a:t>
            </a:r>
            <a:r>
              <a:rPr lang="en-CA" dirty="0" err="1"/>
              <a:t>thái</a:t>
            </a:r>
            <a:r>
              <a:rPr lang="en-CA" dirty="0"/>
              <a:t>.</a:t>
            </a:r>
            <a:endParaRPr dirty="0"/>
          </a:p>
          <a:p>
            <a:pPr marL="457200" lvl="0" indent="0" algn="l" rtl="0">
              <a:spcBef>
                <a:spcPts val="1200"/>
              </a:spcBef>
              <a:spcAft>
                <a:spcPts val="0"/>
              </a:spcAft>
              <a:buNone/>
            </a:pPr>
            <a:endParaRPr dirty="0"/>
          </a:p>
          <a:p>
            <a:pPr marL="457200" lvl="0" indent="-334327" algn="l" rtl="0">
              <a:spcBef>
                <a:spcPts val="1200"/>
              </a:spcBef>
              <a:spcAft>
                <a:spcPts val="0"/>
              </a:spcAft>
              <a:buSzPct val="100000"/>
              <a:buChar char="-"/>
            </a:pPr>
            <a:r>
              <a:rPr lang="en-CA" dirty="0" err="1"/>
              <a:t>Việc</a:t>
            </a:r>
            <a:r>
              <a:rPr lang="en-CA" dirty="0"/>
              <a:t> </a:t>
            </a:r>
            <a:r>
              <a:rPr lang="en-CA" dirty="0" err="1"/>
              <a:t>quản</a:t>
            </a:r>
            <a:r>
              <a:rPr lang="en-CA" dirty="0"/>
              <a:t> </a:t>
            </a:r>
            <a:r>
              <a:rPr lang="en-CA" dirty="0" err="1"/>
              <a:t>lý</a:t>
            </a:r>
            <a:r>
              <a:rPr lang="en-CA" dirty="0"/>
              <a:t> </a:t>
            </a:r>
            <a:r>
              <a:rPr lang="en-CA" dirty="0" err="1"/>
              <a:t>một</a:t>
            </a:r>
            <a:r>
              <a:rPr lang="en-CA" dirty="0"/>
              <a:t> </a:t>
            </a:r>
            <a:r>
              <a:rPr lang="en-CA" dirty="0" err="1"/>
              <a:t>mạng</a:t>
            </a:r>
            <a:r>
              <a:rPr lang="en-CA" dirty="0"/>
              <a:t> </a:t>
            </a:r>
            <a:r>
              <a:rPr lang="en-CA" dirty="0" err="1"/>
              <a:t>lưới</a:t>
            </a:r>
            <a:r>
              <a:rPr lang="en-CA" dirty="0"/>
              <a:t> </a:t>
            </a:r>
            <a:r>
              <a:rPr lang="en-CA" dirty="0" err="1"/>
              <a:t>cảm</a:t>
            </a:r>
            <a:r>
              <a:rPr lang="en-CA" dirty="0"/>
              <a:t> </a:t>
            </a:r>
            <a:r>
              <a:rPr lang="en-CA" dirty="0" err="1"/>
              <a:t>biến</a:t>
            </a:r>
            <a:r>
              <a:rPr lang="en-CA" dirty="0"/>
              <a:t> </a:t>
            </a:r>
            <a:r>
              <a:rPr lang="en-CA" dirty="0" err="1"/>
              <a:t>và</a:t>
            </a:r>
            <a:r>
              <a:rPr lang="en-CA" dirty="0"/>
              <a:t> </a:t>
            </a:r>
            <a:r>
              <a:rPr lang="en-CA" dirty="0" err="1"/>
              <a:t>thiết</a:t>
            </a:r>
            <a:r>
              <a:rPr lang="en-CA" dirty="0"/>
              <a:t> </a:t>
            </a:r>
            <a:r>
              <a:rPr lang="en-CA" dirty="0" err="1"/>
              <a:t>bị</a:t>
            </a:r>
            <a:r>
              <a:rPr lang="en-CA" dirty="0"/>
              <a:t> </a:t>
            </a:r>
            <a:r>
              <a:rPr lang="en-CA" dirty="0" err="1"/>
              <a:t>ngày</a:t>
            </a:r>
            <a:r>
              <a:rPr lang="en-CA" dirty="0"/>
              <a:t> </a:t>
            </a:r>
            <a:r>
              <a:rPr lang="en-CA" dirty="0" err="1"/>
              <a:t>càng</a:t>
            </a:r>
            <a:r>
              <a:rPr lang="en-CA" dirty="0"/>
              <a:t> </a:t>
            </a:r>
            <a:r>
              <a:rPr lang="en-CA" dirty="0" err="1"/>
              <a:t>lớn</a:t>
            </a:r>
            <a:r>
              <a:rPr lang="en-CA" dirty="0"/>
              <a:t> </a:t>
            </a:r>
            <a:r>
              <a:rPr lang="en-CA" dirty="0" err="1"/>
              <a:t>có</a:t>
            </a:r>
            <a:r>
              <a:rPr lang="en-CA" dirty="0"/>
              <a:t> </a:t>
            </a:r>
            <a:r>
              <a:rPr lang="en-CA" dirty="0" err="1"/>
              <a:t>thể</a:t>
            </a:r>
            <a:r>
              <a:rPr lang="en-CA" dirty="0"/>
              <a:t> </a:t>
            </a:r>
            <a:r>
              <a:rPr lang="en-CA" dirty="0" err="1"/>
              <a:t>trở</a:t>
            </a:r>
            <a:r>
              <a:rPr lang="en-CA" dirty="0"/>
              <a:t> </a:t>
            </a:r>
            <a:r>
              <a:rPr lang="en-CA" dirty="0" err="1"/>
              <a:t>nên</a:t>
            </a:r>
            <a:r>
              <a:rPr lang="en-CA" dirty="0"/>
              <a:t> </a:t>
            </a:r>
            <a:r>
              <a:rPr lang="en-CA" dirty="0" err="1"/>
              <a:t>phức</a:t>
            </a:r>
            <a:r>
              <a:rPr lang="en-CA" dirty="0"/>
              <a:t> </a:t>
            </a:r>
            <a:r>
              <a:rPr lang="en-CA" dirty="0" err="1"/>
              <a:t>tạp</a:t>
            </a:r>
            <a:r>
              <a:rPr lang="en-CA" dirty="0"/>
              <a:t>.</a:t>
            </a:r>
            <a:endParaRPr dirty="0"/>
          </a:p>
          <a:p>
            <a:pPr marL="457200" lvl="0" indent="0" algn="l" rtl="0">
              <a:spcBef>
                <a:spcPts val="1200"/>
              </a:spcBef>
              <a:spcAft>
                <a:spcPts val="0"/>
              </a:spcAft>
              <a:buNone/>
            </a:pPr>
            <a:endParaRPr dirty="0"/>
          </a:p>
          <a:p>
            <a:pPr marL="457200" lvl="0" indent="-334327" algn="l" rtl="0">
              <a:spcBef>
                <a:spcPts val="1200"/>
              </a:spcBef>
              <a:spcAft>
                <a:spcPts val="0"/>
              </a:spcAft>
              <a:buSzPct val="100000"/>
              <a:buChar char="-"/>
            </a:pPr>
            <a:r>
              <a:rPr lang="en-CA" dirty="0" err="1"/>
              <a:t>Quản</a:t>
            </a:r>
            <a:r>
              <a:rPr lang="en-CA" dirty="0"/>
              <a:t> </a:t>
            </a:r>
            <a:r>
              <a:rPr lang="en-CA" dirty="0" err="1"/>
              <a:t>lý</a:t>
            </a:r>
            <a:r>
              <a:rPr lang="en-CA" dirty="0"/>
              <a:t> </a:t>
            </a:r>
            <a:r>
              <a:rPr lang="en-CA" dirty="0" err="1"/>
              <a:t>Thiết</a:t>
            </a:r>
            <a:r>
              <a:rPr lang="en-CA" dirty="0"/>
              <a:t> </a:t>
            </a:r>
            <a:r>
              <a:rPr lang="en-CA" dirty="0" err="1"/>
              <a:t>bị</a:t>
            </a:r>
            <a:r>
              <a:rPr lang="en-CA" dirty="0"/>
              <a:t> IoT </a:t>
            </a:r>
            <a:r>
              <a:rPr lang="en-CA" dirty="0" err="1"/>
              <a:t>giải</a:t>
            </a:r>
            <a:r>
              <a:rPr lang="en-CA" dirty="0"/>
              <a:t> </a:t>
            </a:r>
            <a:r>
              <a:rPr lang="en-CA" dirty="0" err="1"/>
              <a:t>quyết</a:t>
            </a:r>
            <a:r>
              <a:rPr lang="en-CA" dirty="0"/>
              <a:t> </a:t>
            </a:r>
            <a:r>
              <a:rPr lang="en-CA" dirty="0" err="1"/>
              <a:t>thách</a:t>
            </a:r>
            <a:r>
              <a:rPr lang="en-CA" dirty="0"/>
              <a:t> </a:t>
            </a:r>
            <a:r>
              <a:rPr lang="en-CA" dirty="0" err="1"/>
              <a:t>thức</a:t>
            </a:r>
            <a:r>
              <a:rPr lang="en-CA" dirty="0"/>
              <a:t> </a:t>
            </a:r>
            <a:r>
              <a:rPr lang="en-CA" dirty="0" err="1"/>
              <a:t>này</a:t>
            </a:r>
            <a:r>
              <a:rPr lang="en-CA" dirty="0"/>
              <a:t> </a:t>
            </a:r>
            <a:r>
              <a:rPr lang="en-CA" dirty="0" err="1"/>
              <a:t>bằng</a:t>
            </a:r>
            <a:r>
              <a:rPr lang="en-CA" dirty="0"/>
              <a:t> </a:t>
            </a:r>
            <a:r>
              <a:rPr lang="en-CA" dirty="0" err="1"/>
              <a:t>cách</a:t>
            </a:r>
            <a:r>
              <a:rPr lang="en-CA" dirty="0"/>
              <a:t> </a:t>
            </a:r>
            <a:r>
              <a:rPr lang="en-CA" dirty="0" err="1"/>
              <a:t>cung</a:t>
            </a:r>
            <a:r>
              <a:rPr lang="en-CA" dirty="0"/>
              <a:t> </a:t>
            </a:r>
            <a:r>
              <a:rPr lang="en-CA" dirty="0" err="1"/>
              <a:t>cấp</a:t>
            </a:r>
            <a:r>
              <a:rPr lang="en-CA" dirty="0"/>
              <a:t> </a:t>
            </a:r>
            <a:r>
              <a:rPr lang="en-CA" dirty="0" err="1"/>
              <a:t>một</a:t>
            </a:r>
            <a:r>
              <a:rPr lang="en-CA" dirty="0"/>
              <a:t> </a:t>
            </a:r>
            <a:r>
              <a:rPr lang="en-CA" dirty="0" err="1"/>
              <a:t>trung</a:t>
            </a:r>
            <a:r>
              <a:rPr lang="en-CA" dirty="0"/>
              <a:t> </a:t>
            </a:r>
            <a:r>
              <a:rPr lang="en-CA" dirty="0" err="1"/>
              <a:t>tâm</a:t>
            </a:r>
            <a:r>
              <a:rPr lang="en-CA" dirty="0"/>
              <a:t> </a:t>
            </a:r>
            <a:r>
              <a:rPr lang="en-CA" dirty="0" err="1"/>
              <a:t>điều</a:t>
            </a:r>
            <a:r>
              <a:rPr lang="en-CA" dirty="0"/>
              <a:t> </a:t>
            </a:r>
            <a:r>
              <a:rPr lang="en-CA" dirty="0" err="1"/>
              <a:t>khiển</a:t>
            </a:r>
            <a:r>
              <a:rPr lang="en-CA" dirty="0"/>
              <a:t> </a:t>
            </a:r>
            <a:r>
              <a:rPr lang="en-CA" dirty="0" err="1"/>
              <a:t>để</a:t>
            </a:r>
            <a:r>
              <a:rPr lang="en-CA" dirty="0"/>
              <a:t> </a:t>
            </a:r>
            <a:r>
              <a:rPr lang="en-CA" dirty="0" err="1"/>
              <a:t>giám</a:t>
            </a:r>
            <a:r>
              <a:rPr lang="en-CA" dirty="0"/>
              <a:t> </a:t>
            </a:r>
            <a:r>
              <a:rPr lang="en-CA" dirty="0" err="1"/>
              <a:t>sát</a:t>
            </a:r>
            <a:r>
              <a:rPr lang="en-CA" dirty="0"/>
              <a:t> </a:t>
            </a:r>
            <a:r>
              <a:rPr lang="en-CA" dirty="0" err="1"/>
              <a:t>toàn</a:t>
            </a:r>
            <a:r>
              <a:rPr lang="en-CA" dirty="0"/>
              <a:t> </a:t>
            </a:r>
            <a:r>
              <a:rPr lang="en-CA" dirty="0" err="1"/>
              <a:t>bộ</a:t>
            </a:r>
            <a:r>
              <a:rPr lang="en-CA" dirty="0"/>
              <a:t> </a:t>
            </a:r>
            <a:r>
              <a:rPr lang="en-CA" dirty="0" err="1"/>
              <a:t>hệ</a:t>
            </a:r>
            <a:r>
              <a:rPr lang="en-CA" dirty="0"/>
              <a:t> </a:t>
            </a:r>
            <a:r>
              <a:rPr lang="en-CA" dirty="0" err="1"/>
              <a:t>thống</a:t>
            </a:r>
            <a:endParaRPr dirty="0"/>
          </a:p>
          <a:p>
            <a:pPr marL="457200" lvl="0" indent="0" algn="l" rtl="0">
              <a:spcBef>
                <a:spcPts val="1200"/>
              </a:spcBef>
              <a:spcAft>
                <a:spcPts val="0"/>
              </a:spcAft>
              <a:buNone/>
            </a:pPr>
            <a:endParaRPr dirty="0"/>
          </a:p>
          <a:p>
            <a:pPr marL="457200" lvl="0" indent="-334327" algn="l" rtl="0">
              <a:spcBef>
                <a:spcPts val="1200"/>
              </a:spcBef>
              <a:spcAft>
                <a:spcPts val="0"/>
              </a:spcAft>
              <a:buSzPct val="100000"/>
              <a:buChar char="-"/>
            </a:pPr>
            <a:r>
              <a:rPr lang="en-CA" dirty="0" err="1"/>
              <a:t>Tóm</a:t>
            </a:r>
            <a:r>
              <a:rPr lang="en-CA" dirty="0"/>
              <a:t> </a:t>
            </a:r>
            <a:r>
              <a:rPr lang="en-CA" dirty="0" err="1"/>
              <a:t>lại</a:t>
            </a:r>
            <a:r>
              <a:rPr lang="en-CA" dirty="0"/>
              <a:t>, </a:t>
            </a:r>
            <a:r>
              <a:rPr lang="en-CA" dirty="0" err="1"/>
              <a:t>Quản</a:t>
            </a:r>
            <a:r>
              <a:rPr lang="en-CA" dirty="0"/>
              <a:t> </a:t>
            </a:r>
            <a:r>
              <a:rPr lang="en-CA" dirty="0" err="1"/>
              <a:t>lý</a:t>
            </a:r>
            <a:r>
              <a:rPr lang="en-CA" dirty="0"/>
              <a:t> </a:t>
            </a:r>
            <a:r>
              <a:rPr lang="en-CA" dirty="0" err="1"/>
              <a:t>Thiết</a:t>
            </a:r>
            <a:r>
              <a:rPr lang="en-CA" dirty="0"/>
              <a:t> </a:t>
            </a:r>
            <a:r>
              <a:rPr lang="en-CA" dirty="0" err="1"/>
              <a:t>bị</a:t>
            </a:r>
            <a:r>
              <a:rPr lang="en-CA" dirty="0"/>
              <a:t> IoT </a:t>
            </a:r>
            <a:r>
              <a:rPr lang="en-CA" dirty="0" err="1"/>
              <a:t>đóng</a:t>
            </a:r>
            <a:r>
              <a:rPr lang="en-CA" dirty="0"/>
              <a:t> </a:t>
            </a:r>
            <a:r>
              <a:rPr lang="en-CA" dirty="0" err="1"/>
              <a:t>vai</a:t>
            </a:r>
            <a:r>
              <a:rPr lang="en-CA" dirty="0"/>
              <a:t> </a:t>
            </a:r>
            <a:r>
              <a:rPr lang="en-CA" dirty="0" err="1"/>
              <a:t>trò</a:t>
            </a:r>
            <a:r>
              <a:rPr lang="en-CA" dirty="0"/>
              <a:t> </a:t>
            </a:r>
            <a:r>
              <a:rPr lang="en-CA" dirty="0" err="1"/>
              <a:t>như</a:t>
            </a:r>
            <a:r>
              <a:rPr lang="en-CA" dirty="0"/>
              <a:t> </a:t>
            </a:r>
            <a:r>
              <a:rPr lang="en-CA" dirty="0" err="1"/>
              <a:t>hệ</a:t>
            </a:r>
            <a:r>
              <a:rPr lang="en-CA" dirty="0"/>
              <a:t> </a:t>
            </a:r>
            <a:r>
              <a:rPr lang="en-CA" dirty="0" err="1"/>
              <a:t>thần</a:t>
            </a:r>
            <a:r>
              <a:rPr lang="en-CA" dirty="0"/>
              <a:t> </a:t>
            </a:r>
            <a:r>
              <a:rPr lang="en-CA" dirty="0" err="1"/>
              <a:t>kinh</a:t>
            </a:r>
            <a:r>
              <a:rPr lang="en-CA" dirty="0"/>
              <a:t> </a:t>
            </a:r>
            <a:r>
              <a:rPr lang="en-CA" dirty="0" err="1"/>
              <a:t>trung</a:t>
            </a:r>
            <a:r>
              <a:rPr lang="en-CA" dirty="0"/>
              <a:t> </a:t>
            </a:r>
            <a:r>
              <a:rPr lang="en-CA" dirty="0" err="1"/>
              <a:t>ương</a:t>
            </a:r>
            <a:r>
              <a:rPr lang="en-CA" dirty="0"/>
              <a:t> </a:t>
            </a:r>
            <a:r>
              <a:rPr lang="en-CA" dirty="0" err="1"/>
              <a:t>cho</a:t>
            </a:r>
            <a:r>
              <a:rPr lang="en-CA" dirty="0"/>
              <a:t> </a:t>
            </a:r>
            <a:r>
              <a:rPr lang="en-CA" dirty="0" err="1"/>
              <a:t>các</a:t>
            </a:r>
            <a:r>
              <a:rPr lang="en-CA" dirty="0"/>
              <a:t> </a:t>
            </a:r>
            <a:r>
              <a:rPr lang="en-CA" dirty="0" err="1"/>
              <a:t>thiết</a:t>
            </a:r>
            <a:r>
              <a:rPr lang="en-CA" dirty="0"/>
              <a:t> </a:t>
            </a:r>
            <a:r>
              <a:rPr lang="en-CA" dirty="0" err="1"/>
              <a:t>bị</a:t>
            </a:r>
            <a:r>
              <a:rPr lang="en-CA" dirty="0"/>
              <a:t> </a:t>
            </a:r>
            <a:r>
              <a:rPr lang="en-CA" dirty="0" err="1"/>
              <a:t>kết</a:t>
            </a:r>
            <a:r>
              <a:rPr lang="en-CA" dirty="0"/>
              <a:t> </a:t>
            </a:r>
            <a:r>
              <a:rPr lang="en-CA" dirty="0" err="1"/>
              <a:t>nối</a:t>
            </a:r>
            <a:r>
              <a:rPr lang="en-CA" dirty="0"/>
              <a:t> </a:t>
            </a:r>
            <a:r>
              <a:rPr lang="en-CA" dirty="0" err="1"/>
              <a:t>của</a:t>
            </a:r>
            <a:r>
              <a:rPr lang="en-CA" dirty="0"/>
              <a:t> </a:t>
            </a:r>
            <a:r>
              <a:rPr lang="en-CA" dirty="0" err="1"/>
              <a:t>bạn</a:t>
            </a:r>
            <a:r>
              <a:rPr lang="en-CA" dirty="0"/>
              <a:t>, </a:t>
            </a:r>
            <a:r>
              <a:rPr lang="en-CA" dirty="0" err="1"/>
              <a:t>đảm</a:t>
            </a:r>
            <a:r>
              <a:rPr lang="en-CA" dirty="0"/>
              <a:t> </a:t>
            </a:r>
            <a:r>
              <a:rPr lang="en-CA" dirty="0" err="1"/>
              <a:t>bảo</a:t>
            </a:r>
            <a:r>
              <a:rPr lang="en-CA" dirty="0"/>
              <a:t> </a:t>
            </a:r>
            <a:r>
              <a:rPr lang="en-CA" dirty="0" err="1"/>
              <a:t>chúng</a:t>
            </a:r>
            <a:r>
              <a:rPr lang="en-CA" dirty="0"/>
              <a:t> </a:t>
            </a:r>
            <a:r>
              <a:rPr lang="en-CA" dirty="0" err="1"/>
              <a:t>hoạt</a:t>
            </a:r>
            <a:r>
              <a:rPr lang="en-CA" dirty="0"/>
              <a:t> </a:t>
            </a:r>
            <a:r>
              <a:rPr lang="en-CA" dirty="0" err="1"/>
              <a:t>động</a:t>
            </a:r>
            <a:r>
              <a:rPr lang="en-CA" dirty="0"/>
              <a:t> an </a:t>
            </a:r>
            <a:r>
              <a:rPr lang="en-CA" dirty="0" err="1"/>
              <a:t>toàn</a:t>
            </a:r>
            <a:r>
              <a:rPr lang="en-CA" dirty="0"/>
              <a:t>, </a:t>
            </a:r>
            <a:r>
              <a:rPr lang="en-CA" dirty="0" err="1"/>
              <a:t>hiệu</a:t>
            </a:r>
            <a:r>
              <a:rPr lang="en-CA" dirty="0"/>
              <a:t> </a:t>
            </a:r>
            <a:r>
              <a:rPr lang="en-CA" dirty="0" err="1"/>
              <a:t>quả</a:t>
            </a:r>
            <a:r>
              <a:rPr lang="en-CA" dirty="0"/>
              <a:t> </a:t>
            </a:r>
            <a:r>
              <a:rPr lang="en-CA" dirty="0" err="1"/>
              <a:t>và</a:t>
            </a:r>
            <a:r>
              <a:rPr lang="en-CA" dirty="0"/>
              <a:t> </a:t>
            </a:r>
            <a:r>
              <a:rPr lang="en-CA" dirty="0" err="1"/>
              <a:t>cung</a:t>
            </a:r>
            <a:r>
              <a:rPr lang="en-CA" dirty="0"/>
              <a:t> </a:t>
            </a:r>
            <a:r>
              <a:rPr lang="en-CA" dirty="0" err="1"/>
              <a:t>cấp</a:t>
            </a:r>
            <a:r>
              <a:rPr lang="en-CA" dirty="0"/>
              <a:t> </a:t>
            </a:r>
            <a:r>
              <a:rPr lang="en-CA" dirty="0" err="1"/>
              <a:t>dữ</a:t>
            </a:r>
            <a:r>
              <a:rPr lang="en-CA" dirty="0"/>
              <a:t> </a:t>
            </a:r>
            <a:r>
              <a:rPr lang="en-CA" dirty="0" err="1"/>
              <a:t>liệu</a:t>
            </a:r>
            <a:r>
              <a:rPr lang="en-CA" dirty="0"/>
              <a:t> </a:t>
            </a:r>
            <a:r>
              <a:rPr lang="en-CA" dirty="0" err="1"/>
              <a:t>giá</a:t>
            </a:r>
            <a:r>
              <a:rPr lang="en-CA" dirty="0"/>
              <a:t> </a:t>
            </a:r>
            <a:r>
              <a:rPr lang="en-CA" dirty="0" err="1"/>
              <a:t>trị</a:t>
            </a:r>
            <a:r>
              <a:rPr lang="en-CA" dirty="0"/>
              <a:t> </a:t>
            </a:r>
            <a:r>
              <a:rPr lang="en-CA" dirty="0" err="1"/>
              <a:t>để</a:t>
            </a:r>
            <a:r>
              <a:rPr lang="en-CA" dirty="0"/>
              <a:t> </a:t>
            </a:r>
            <a:r>
              <a:rPr lang="en-CA" dirty="0" err="1"/>
              <a:t>hỗ</a:t>
            </a:r>
            <a:r>
              <a:rPr lang="en-CA" dirty="0"/>
              <a:t> </a:t>
            </a:r>
            <a:r>
              <a:rPr lang="en-CA" dirty="0" err="1"/>
              <a:t>trợ</a:t>
            </a:r>
            <a:r>
              <a:rPr lang="en-CA" dirty="0"/>
              <a:t> </a:t>
            </a:r>
            <a:r>
              <a:rPr lang="en-CA" dirty="0" err="1"/>
              <a:t>việc</a:t>
            </a:r>
            <a:r>
              <a:rPr lang="en-CA" dirty="0"/>
              <a:t> </a:t>
            </a:r>
            <a:r>
              <a:rPr lang="en-CA" dirty="0" err="1"/>
              <a:t>ra</a:t>
            </a:r>
            <a:r>
              <a:rPr lang="en-CA" dirty="0"/>
              <a:t> </a:t>
            </a:r>
            <a:r>
              <a:rPr lang="en-CA" dirty="0" err="1"/>
              <a:t>quyết</a:t>
            </a:r>
            <a:r>
              <a:rPr lang="en-CA" dirty="0"/>
              <a:t> </a:t>
            </a:r>
            <a:r>
              <a:rPr lang="en-CA" dirty="0" err="1"/>
              <a:t>định</a:t>
            </a:r>
            <a:r>
              <a:rPr lang="en-CA" dirty="0"/>
              <a:t>.</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a:t>Quản lý thiết bị</a:t>
            </a:r>
            <a:endParaRPr/>
          </a:p>
        </p:txBody>
      </p:sp>
      <p:sp>
        <p:nvSpPr>
          <p:cNvPr id="70" name="Google Shape;70;p15"/>
          <p:cNvSpPr txBox="1">
            <a:spLocks noGrp="1"/>
          </p:cNvSpPr>
          <p:nvPr>
            <p:ph type="body" idx="1"/>
          </p:nvPr>
        </p:nvSpPr>
        <p:spPr>
          <a:xfrm>
            <a:off x="311700" y="1152475"/>
            <a:ext cx="8520600" cy="3874500"/>
          </a:xfrm>
          <a:prstGeom prst="rect">
            <a:avLst/>
          </a:prstGeom>
        </p:spPr>
        <p:txBody>
          <a:bodyPr spcFirstLastPara="1" wrap="square" lIns="91425" tIns="91425" rIns="91425" bIns="91425" anchor="t" anchorCtr="0">
            <a:normAutofit/>
          </a:bodyPr>
          <a:lstStyle/>
          <a:p>
            <a:pPr marL="457200" lvl="0" indent="0" algn="l" rtl="0">
              <a:spcBef>
                <a:spcPts val="0"/>
              </a:spcBef>
              <a:spcAft>
                <a:spcPts val="1200"/>
              </a:spcAft>
              <a:buNone/>
            </a:pPr>
            <a:endParaRPr/>
          </a:p>
        </p:txBody>
      </p:sp>
      <p:pic>
        <p:nvPicPr>
          <p:cNvPr id="71" name="Google Shape;71;p15"/>
          <p:cNvPicPr preferRelativeResize="0"/>
          <p:nvPr/>
        </p:nvPicPr>
        <p:blipFill>
          <a:blip r:embed="rId3">
            <a:alphaModFix/>
          </a:blip>
          <a:stretch>
            <a:fillRect/>
          </a:stretch>
        </p:blipFill>
        <p:spPr>
          <a:xfrm>
            <a:off x="147625" y="1260813"/>
            <a:ext cx="8848725" cy="3190875"/>
          </a:xfrm>
          <a:prstGeom prst="rect">
            <a:avLst/>
          </a:prstGeom>
          <a:noFill/>
          <a:ln>
            <a:noFill/>
          </a:ln>
        </p:spPr>
      </p:pic>
      <p:sp>
        <p:nvSpPr>
          <p:cNvPr id="72" name="Google Shape;72;p15"/>
          <p:cNvSpPr txBox="1"/>
          <p:nvPr/>
        </p:nvSpPr>
        <p:spPr>
          <a:xfrm>
            <a:off x="116550" y="4529700"/>
            <a:ext cx="8445600" cy="41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000">
                <a:solidFill>
                  <a:schemeClr val="lt2"/>
                </a:solidFill>
                <a:latin typeface="Source Sans Pro"/>
                <a:ea typeface="Source Sans Pro"/>
                <a:cs typeface="Source Sans Pro"/>
                <a:sym typeface="Source Sans Pro"/>
              </a:rPr>
              <a:t>[*] https://www.softwareag.com/en_corporate/resources/iot/article/iot-device-management.html</a:t>
            </a:r>
            <a:endParaRPr sz="1000">
              <a:solidFill>
                <a:schemeClr val="lt2"/>
              </a:solidFill>
              <a:latin typeface="Source Sans Pro"/>
              <a:ea typeface="Source Sans Pro"/>
              <a:cs typeface="Source Sans Pro"/>
              <a:sym typeface="Source Sans P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a:t>Quản lý thiết bị</a:t>
            </a:r>
            <a:endParaRPr/>
          </a:p>
        </p:txBody>
      </p:sp>
      <p:sp>
        <p:nvSpPr>
          <p:cNvPr id="78" name="Google Shape;78;p16"/>
          <p:cNvSpPr txBox="1">
            <a:spLocks noGrp="1"/>
          </p:cNvSpPr>
          <p:nvPr>
            <p:ph type="body" idx="1"/>
          </p:nvPr>
        </p:nvSpPr>
        <p:spPr>
          <a:xfrm>
            <a:off x="311700" y="1152475"/>
            <a:ext cx="8520600" cy="38745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Clr>
                <a:schemeClr val="dk2"/>
              </a:buClr>
              <a:buSzPts val="1900"/>
              <a:buChar char="-"/>
            </a:pPr>
            <a:r>
              <a:rPr lang="en-CA" sz="1900" b="1" dirty="0" err="1">
                <a:solidFill>
                  <a:schemeClr val="dk2"/>
                </a:solidFill>
              </a:rPr>
              <a:t>Các</a:t>
            </a:r>
            <a:r>
              <a:rPr lang="en-CA" sz="1900" b="1" dirty="0">
                <a:solidFill>
                  <a:schemeClr val="dk2"/>
                </a:solidFill>
              </a:rPr>
              <a:t> </a:t>
            </a:r>
            <a:r>
              <a:rPr lang="en-CA" sz="1900" b="1" dirty="0" err="1">
                <a:solidFill>
                  <a:schemeClr val="dk2"/>
                </a:solidFill>
              </a:rPr>
              <a:t>chức</a:t>
            </a:r>
            <a:r>
              <a:rPr lang="en-CA" sz="1900" b="1" dirty="0">
                <a:solidFill>
                  <a:schemeClr val="dk2"/>
                </a:solidFill>
              </a:rPr>
              <a:t> </a:t>
            </a:r>
            <a:r>
              <a:rPr lang="en-CA" sz="1900" b="1" dirty="0" err="1">
                <a:solidFill>
                  <a:schemeClr val="dk2"/>
                </a:solidFill>
              </a:rPr>
              <a:t>năng</a:t>
            </a:r>
            <a:r>
              <a:rPr lang="en-CA" sz="1900" b="1" dirty="0">
                <a:solidFill>
                  <a:schemeClr val="dk2"/>
                </a:solidFill>
              </a:rPr>
              <a:t> </a:t>
            </a:r>
            <a:r>
              <a:rPr lang="en-CA" sz="1900" b="1" dirty="0" err="1">
                <a:solidFill>
                  <a:schemeClr val="dk2"/>
                </a:solidFill>
              </a:rPr>
              <a:t>chính</a:t>
            </a:r>
            <a:r>
              <a:rPr lang="en-CA" sz="1900" b="1" dirty="0">
                <a:solidFill>
                  <a:schemeClr val="dk2"/>
                </a:solidFill>
              </a:rPr>
              <a:t> </a:t>
            </a:r>
            <a:r>
              <a:rPr lang="en-CA" sz="1900" b="1" dirty="0" err="1">
                <a:solidFill>
                  <a:schemeClr val="dk2"/>
                </a:solidFill>
              </a:rPr>
              <a:t>của</a:t>
            </a:r>
            <a:r>
              <a:rPr lang="en-CA" sz="1900" b="1" dirty="0">
                <a:solidFill>
                  <a:schemeClr val="dk2"/>
                </a:solidFill>
              </a:rPr>
              <a:t> </a:t>
            </a:r>
            <a:r>
              <a:rPr lang="en-CA" sz="1900" b="1" dirty="0" err="1">
                <a:solidFill>
                  <a:schemeClr val="dk2"/>
                </a:solidFill>
              </a:rPr>
              <a:t>khối</a:t>
            </a:r>
            <a:r>
              <a:rPr lang="en-CA" sz="1900" b="1" dirty="0">
                <a:solidFill>
                  <a:schemeClr val="dk2"/>
                </a:solidFill>
              </a:rPr>
              <a:t> </a:t>
            </a:r>
            <a:r>
              <a:rPr lang="en-CA" sz="1900" b="1" dirty="0" err="1">
                <a:solidFill>
                  <a:schemeClr val="dk2"/>
                </a:solidFill>
              </a:rPr>
              <a:t>quản</a:t>
            </a:r>
            <a:r>
              <a:rPr lang="en-CA" sz="1900" b="1" dirty="0">
                <a:solidFill>
                  <a:schemeClr val="dk2"/>
                </a:solidFill>
              </a:rPr>
              <a:t> </a:t>
            </a:r>
            <a:r>
              <a:rPr lang="en-CA" sz="1900" b="1" dirty="0" err="1">
                <a:solidFill>
                  <a:schemeClr val="dk2"/>
                </a:solidFill>
              </a:rPr>
              <a:t>lý</a:t>
            </a:r>
            <a:r>
              <a:rPr lang="en-CA" sz="1900" b="1" dirty="0">
                <a:solidFill>
                  <a:schemeClr val="dk2"/>
                </a:solidFill>
              </a:rPr>
              <a:t> </a:t>
            </a:r>
            <a:r>
              <a:rPr lang="en-CA" sz="1900" b="1" dirty="0" err="1">
                <a:solidFill>
                  <a:schemeClr val="dk2"/>
                </a:solidFill>
              </a:rPr>
              <a:t>thiết</a:t>
            </a:r>
            <a:r>
              <a:rPr lang="en-CA" sz="1900" b="1" dirty="0">
                <a:solidFill>
                  <a:schemeClr val="dk2"/>
                </a:solidFill>
              </a:rPr>
              <a:t> </a:t>
            </a:r>
            <a:r>
              <a:rPr lang="en-CA" sz="1900" b="1" dirty="0" err="1">
                <a:solidFill>
                  <a:schemeClr val="dk2"/>
                </a:solidFill>
              </a:rPr>
              <a:t>bị</a:t>
            </a:r>
            <a:r>
              <a:rPr lang="en-CA" sz="1900" b="1" dirty="0">
                <a:solidFill>
                  <a:schemeClr val="dk2"/>
                </a:solidFill>
              </a:rPr>
              <a:t>:</a:t>
            </a:r>
            <a:endParaRPr sz="1900" b="1" dirty="0">
              <a:solidFill>
                <a:schemeClr val="dk2"/>
              </a:solidFill>
            </a:endParaRPr>
          </a:p>
          <a:p>
            <a:pPr marL="914400" lvl="1" indent="-361950" algn="l" rtl="0">
              <a:spcBef>
                <a:spcPts val="0"/>
              </a:spcBef>
              <a:spcAft>
                <a:spcPts val="0"/>
              </a:spcAft>
              <a:buSzPts val="2100"/>
              <a:buChar char="-"/>
            </a:pPr>
            <a:r>
              <a:rPr lang="en-CA" sz="1800" b="1" dirty="0" err="1"/>
              <a:t>Kết</a:t>
            </a:r>
            <a:r>
              <a:rPr lang="en-CA" sz="1800" b="1" dirty="0"/>
              <a:t> </a:t>
            </a:r>
            <a:r>
              <a:rPr lang="en-CA" sz="1800" b="1" dirty="0" err="1"/>
              <a:t>nối</a:t>
            </a:r>
            <a:r>
              <a:rPr lang="en-CA" sz="1800" b="1" dirty="0"/>
              <a:t> </a:t>
            </a:r>
            <a:r>
              <a:rPr lang="en-CA" sz="1800" b="1" dirty="0" err="1"/>
              <a:t>thiết</a:t>
            </a:r>
            <a:r>
              <a:rPr lang="en-CA" sz="1800" b="1" dirty="0"/>
              <a:t> </a:t>
            </a:r>
            <a:r>
              <a:rPr lang="en-CA" sz="1800" b="1" dirty="0" err="1"/>
              <a:t>bị</a:t>
            </a:r>
            <a:r>
              <a:rPr lang="en-CA" sz="1800" dirty="0"/>
              <a:t> </a:t>
            </a:r>
          </a:p>
          <a:p>
            <a:pPr lvl="2" indent="-361950">
              <a:buSzPts val="2100"/>
              <a:buChar char="-"/>
            </a:pPr>
            <a:r>
              <a:rPr lang="en-CA" sz="1800" dirty="0" err="1"/>
              <a:t>Kết</a:t>
            </a:r>
            <a:r>
              <a:rPr lang="en-CA" sz="1800" dirty="0"/>
              <a:t> </a:t>
            </a:r>
            <a:r>
              <a:rPr lang="en-CA" sz="1800" dirty="0" err="1"/>
              <a:t>nối</a:t>
            </a:r>
            <a:r>
              <a:rPr lang="en-CA" sz="1800" dirty="0"/>
              <a:t> an </a:t>
            </a:r>
            <a:r>
              <a:rPr lang="en-CA" sz="1800" dirty="0" err="1"/>
              <a:t>toàn</a:t>
            </a:r>
            <a:r>
              <a:rPr lang="en-CA" sz="1800" dirty="0"/>
              <a:t> </a:t>
            </a:r>
            <a:r>
              <a:rPr lang="en-CA" sz="1800" dirty="0" err="1"/>
              <a:t>các</a:t>
            </a:r>
            <a:r>
              <a:rPr lang="en-CA" sz="1800" dirty="0"/>
              <a:t> </a:t>
            </a:r>
            <a:r>
              <a:rPr lang="en-CA" sz="1800" dirty="0" err="1"/>
              <a:t>thiết</a:t>
            </a:r>
            <a:r>
              <a:rPr lang="en-CA" sz="1800" dirty="0"/>
              <a:t> </a:t>
            </a:r>
            <a:r>
              <a:rPr lang="en-CA" sz="1800" dirty="0" err="1"/>
              <a:t>bị</a:t>
            </a:r>
            <a:r>
              <a:rPr lang="en-CA" sz="1800" dirty="0"/>
              <a:t> </a:t>
            </a:r>
            <a:r>
              <a:rPr lang="en-CA" sz="1800" dirty="0" err="1"/>
              <a:t>mới</a:t>
            </a:r>
            <a:r>
              <a:rPr lang="en-CA" sz="1800" dirty="0"/>
              <a:t>, </a:t>
            </a:r>
            <a:r>
              <a:rPr lang="en-CA" sz="1800" dirty="0" err="1"/>
              <a:t>cung</a:t>
            </a:r>
            <a:r>
              <a:rPr lang="en-CA" sz="1800" dirty="0"/>
              <a:t> </a:t>
            </a:r>
            <a:r>
              <a:rPr lang="en-CA" sz="1800" dirty="0" err="1"/>
              <a:t>cấp</a:t>
            </a:r>
            <a:r>
              <a:rPr lang="en-CA" sz="1800" dirty="0"/>
              <a:t> </a:t>
            </a:r>
            <a:r>
              <a:rPr lang="en-CA" sz="1800" dirty="0" err="1"/>
              <a:t>cho</a:t>
            </a:r>
            <a:r>
              <a:rPr lang="en-CA" sz="1800" dirty="0"/>
              <a:t> </a:t>
            </a:r>
            <a:r>
              <a:rPr lang="en-CA" sz="1800" dirty="0" err="1"/>
              <a:t>chúng</a:t>
            </a:r>
            <a:r>
              <a:rPr lang="en-CA" sz="1800" dirty="0"/>
              <a:t> </a:t>
            </a:r>
            <a:r>
              <a:rPr lang="en-CA" sz="1800" dirty="0" err="1"/>
              <a:t>thông</a:t>
            </a:r>
            <a:r>
              <a:rPr lang="en-CA" sz="1800" dirty="0"/>
              <a:t> tin </a:t>
            </a:r>
            <a:r>
              <a:rPr lang="en-CA" sz="1800" dirty="0" err="1"/>
              <a:t>đăng</a:t>
            </a:r>
            <a:r>
              <a:rPr lang="en-CA" sz="1800" dirty="0"/>
              <a:t> </a:t>
            </a:r>
            <a:r>
              <a:rPr lang="en-CA" sz="1800" dirty="0" err="1"/>
              <a:t>nhập</a:t>
            </a:r>
            <a:r>
              <a:rPr lang="en-CA" sz="1800" dirty="0"/>
              <a:t> </a:t>
            </a:r>
            <a:r>
              <a:rPr lang="en-CA" sz="1800" dirty="0" err="1"/>
              <a:t>và</a:t>
            </a:r>
            <a:r>
              <a:rPr lang="en-CA" sz="1800" dirty="0"/>
              <a:t> </a:t>
            </a:r>
            <a:r>
              <a:rPr lang="en-CA" sz="1800" dirty="0" err="1"/>
              <a:t>cấu</a:t>
            </a:r>
            <a:r>
              <a:rPr lang="en-CA" sz="1800" dirty="0"/>
              <a:t> </a:t>
            </a:r>
            <a:r>
              <a:rPr lang="en-CA" sz="1800" dirty="0" err="1"/>
              <a:t>hình</a:t>
            </a:r>
            <a:r>
              <a:rPr lang="en-CA" sz="1800" dirty="0"/>
              <a:t> </a:t>
            </a:r>
            <a:r>
              <a:rPr lang="en-CA" sz="1800" dirty="0" err="1"/>
              <a:t>cần</a:t>
            </a:r>
            <a:r>
              <a:rPr lang="en-CA" sz="1800" dirty="0"/>
              <a:t> </a:t>
            </a:r>
            <a:r>
              <a:rPr lang="en-CA" sz="1800" dirty="0" err="1"/>
              <a:t>thiết</a:t>
            </a:r>
            <a:r>
              <a:rPr lang="en-CA" sz="1800" dirty="0"/>
              <a:t> </a:t>
            </a:r>
            <a:r>
              <a:rPr lang="en-CA" sz="1800" dirty="0" err="1"/>
              <a:t>để</a:t>
            </a:r>
            <a:r>
              <a:rPr lang="en-CA" sz="1800" dirty="0"/>
              <a:t> </a:t>
            </a:r>
            <a:r>
              <a:rPr lang="en-CA" sz="1800" dirty="0" err="1"/>
              <a:t>kết</a:t>
            </a:r>
            <a:r>
              <a:rPr lang="en-CA" sz="1800" dirty="0"/>
              <a:t> </a:t>
            </a:r>
            <a:r>
              <a:rPr lang="en-CA" sz="1800" dirty="0" err="1"/>
              <a:t>nối</a:t>
            </a:r>
            <a:r>
              <a:rPr lang="en-CA" sz="1800" dirty="0"/>
              <a:t> </a:t>
            </a:r>
            <a:r>
              <a:rPr lang="en-CA" sz="1800" dirty="0" err="1"/>
              <a:t>và</a:t>
            </a:r>
            <a:r>
              <a:rPr lang="en-CA" sz="1800" dirty="0"/>
              <a:t> </a:t>
            </a:r>
            <a:r>
              <a:rPr lang="en-CA" sz="1800" dirty="0" err="1"/>
              <a:t>hoạt</a:t>
            </a:r>
            <a:r>
              <a:rPr lang="en-CA" sz="1800" dirty="0"/>
              <a:t> </a:t>
            </a:r>
            <a:r>
              <a:rPr lang="en-CA" sz="1800" dirty="0" err="1"/>
              <a:t>động</a:t>
            </a:r>
            <a:r>
              <a:rPr lang="en-CA" sz="1800" dirty="0"/>
              <a:t> </a:t>
            </a:r>
            <a:r>
              <a:rPr lang="en-CA" sz="1800" dirty="0" err="1"/>
              <a:t>liền</a:t>
            </a:r>
            <a:r>
              <a:rPr lang="en-CA" sz="1800" dirty="0"/>
              <a:t> </a:t>
            </a:r>
            <a:r>
              <a:rPr lang="en-CA" sz="1800" dirty="0" err="1"/>
              <a:t>mạch</a:t>
            </a:r>
            <a:r>
              <a:rPr lang="en-CA" sz="1800" dirty="0"/>
              <a:t> </a:t>
            </a:r>
            <a:r>
              <a:rPr lang="en-CA" sz="1800" dirty="0" err="1"/>
              <a:t>trong</a:t>
            </a:r>
            <a:r>
              <a:rPr lang="en-CA" sz="1800" dirty="0"/>
              <a:t> </a:t>
            </a:r>
            <a:r>
              <a:rPr lang="en-CA" sz="1800" dirty="0" err="1"/>
              <a:t>hệ</a:t>
            </a:r>
            <a:r>
              <a:rPr lang="en-CA" sz="1800" dirty="0"/>
              <a:t> </a:t>
            </a:r>
            <a:r>
              <a:rPr lang="en-CA" sz="1800" dirty="0" err="1"/>
              <a:t>thống</a:t>
            </a:r>
            <a:r>
              <a:rPr lang="en-CA" sz="1800" dirty="0"/>
              <a:t>.</a:t>
            </a:r>
            <a:endParaRPr dirty="0"/>
          </a:p>
          <a:p>
            <a:pPr marL="914400" lvl="1" indent="-342900" algn="l" rtl="0">
              <a:spcBef>
                <a:spcPts val="1200"/>
              </a:spcBef>
              <a:spcAft>
                <a:spcPts val="0"/>
              </a:spcAft>
              <a:buSzPts val="1800"/>
              <a:buFont typeface="Arial"/>
              <a:buChar char="-"/>
            </a:pPr>
            <a:r>
              <a:rPr lang="en-CA" sz="1800" b="1" dirty="0" err="1"/>
              <a:t>Xem</a:t>
            </a:r>
            <a:r>
              <a:rPr lang="en-CA" sz="1800" b="1" dirty="0"/>
              <a:t> </a:t>
            </a:r>
            <a:r>
              <a:rPr lang="en-CA" sz="1800" b="1" dirty="0" err="1"/>
              <a:t>thiết</a:t>
            </a:r>
            <a:r>
              <a:rPr lang="en-CA" sz="1800" b="1" dirty="0"/>
              <a:t> </a:t>
            </a:r>
            <a:r>
              <a:rPr lang="en-CA" sz="1800" b="1" dirty="0" err="1"/>
              <a:t>bị</a:t>
            </a:r>
            <a:endParaRPr lang="en-CA" sz="1800" b="1" dirty="0"/>
          </a:p>
          <a:p>
            <a:pPr lvl="2" indent="-342900">
              <a:spcBef>
                <a:spcPts val="1200"/>
              </a:spcBef>
              <a:buSzPts val="1800"/>
              <a:buFont typeface="Arial"/>
              <a:buChar char="-"/>
            </a:pPr>
            <a:r>
              <a:rPr lang="en-CA" sz="1800" dirty="0"/>
              <a:t>Cung </a:t>
            </a:r>
            <a:r>
              <a:rPr lang="en-CA" sz="1800" dirty="0" err="1"/>
              <a:t>cấp</a:t>
            </a:r>
            <a:r>
              <a:rPr lang="en-CA" sz="1800" dirty="0"/>
              <a:t> </a:t>
            </a:r>
            <a:r>
              <a:rPr lang="en-CA" sz="1800" dirty="0" err="1"/>
              <a:t>giao</a:t>
            </a:r>
            <a:r>
              <a:rPr lang="en-CA" sz="1800" dirty="0"/>
              <a:t> </a:t>
            </a:r>
            <a:r>
              <a:rPr lang="en-CA" sz="1800" dirty="0" err="1"/>
              <a:t>diện</a:t>
            </a:r>
            <a:r>
              <a:rPr lang="en-CA" sz="1800" dirty="0"/>
              <a:t> </a:t>
            </a:r>
            <a:r>
              <a:rPr lang="en-CA" sz="1800" dirty="0" err="1"/>
              <a:t>xem</a:t>
            </a:r>
            <a:r>
              <a:rPr lang="en-CA" sz="1800" dirty="0"/>
              <a:t> </a:t>
            </a:r>
            <a:r>
              <a:rPr lang="en-CA" sz="1800" dirty="0" err="1"/>
              <a:t>thiết</a:t>
            </a:r>
            <a:r>
              <a:rPr lang="en-CA" sz="1800" dirty="0"/>
              <a:t> </a:t>
            </a:r>
            <a:r>
              <a:rPr lang="en-CA" sz="1800" dirty="0" err="1"/>
              <a:t>bị</a:t>
            </a:r>
            <a:r>
              <a:rPr lang="en-CA" sz="1800" dirty="0"/>
              <a:t> </a:t>
            </a:r>
            <a:r>
              <a:rPr lang="en-CA" sz="1800" dirty="0" err="1"/>
              <a:t>tập</a:t>
            </a:r>
            <a:r>
              <a:rPr lang="en-CA" sz="1800" dirty="0"/>
              <a:t> </a:t>
            </a:r>
            <a:r>
              <a:rPr lang="en-CA" sz="1800" dirty="0" err="1"/>
              <a:t>trung</a:t>
            </a:r>
            <a:r>
              <a:rPr lang="en-CA" sz="1800" dirty="0"/>
              <a:t>. </a:t>
            </a:r>
            <a:endParaRPr dirty="0"/>
          </a:p>
          <a:p>
            <a:pPr marL="914400" lvl="1" indent="-342900" algn="l" rtl="0">
              <a:spcBef>
                <a:spcPts val="1200"/>
              </a:spcBef>
              <a:spcAft>
                <a:spcPts val="0"/>
              </a:spcAft>
              <a:buSzPts val="1800"/>
              <a:buFont typeface="Arial"/>
              <a:buChar char="-"/>
            </a:pPr>
            <a:r>
              <a:rPr lang="en-CA" sz="1800" b="1" dirty="0" err="1"/>
              <a:t>Cấu</a:t>
            </a:r>
            <a:r>
              <a:rPr lang="en-CA" sz="1800" b="1" dirty="0"/>
              <a:t> </a:t>
            </a:r>
            <a:r>
              <a:rPr lang="en-CA" sz="1800" b="1" dirty="0" err="1"/>
              <a:t>hình</a:t>
            </a:r>
            <a:r>
              <a:rPr lang="en-CA" sz="1800" b="1" dirty="0"/>
              <a:t> </a:t>
            </a:r>
            <a:r>
              <a:rPr lang="en-CA" sz="1800" b="1" dirty="0" err="1"/>
              <a:t>thiết</a:t>
            </a:r>
            <a:r>
              <a:rPr lang="en-CA" sz="1800" b="1" dirty="0"/>
              <a:t> </a:t>
            </a:r>
            <a:r>
              <a:rPr lang="en-CA" sz="1800" b="1" dirty="0" err="1"/>
              <a:t>bị</a:t>
            </a:r>
            <a:endParaRPr lang="en-CA" sz="1800" b="1" dirty="0"/>
          </a:p>
          <a:p>
            <a:pPr lvl="2" indent="-342900">
              <a:spcBef>
                <a:spcPts val="1200"/>
              </a:spcBef>
              <a:buSzPts val="1800"/>
              <a:buFont typeface="Arial"/>
              <a:buChar char="-"/>
            </a:pPr>
            <a:r>
              <a:rPr lang="en-CA" sz="1800" dirty="0" err="1"/>
              <a:t>Cấu</a:t>
            </a:r>
            <a:r>
              <a:rPr lang="en-CA" sz="1800" dirty="0"/>
              <a:t> </a:t>
            </a:r>
            <a:r>
              <a:rPr lang="en-CA" sz="1800" dirty="0" err="1"/>
              <a:t>hình</a:t>
            </a:r>
            <a:r>
              <a:rPr lang="en-CA" sz="1800" dirty="0"/>
              <a:t> </a:t>
            </a:r>
            <a:r>
              <a:rPr lang="en-CA" sz="1800" dirty="0" err="1"/>
              <a:t>thiết</a:t>
            </a:r>
            <a:r>
              <a:rPr lang="en-CA" sz="1800" dirty="0"/>
              <a:t> </a:t>
            </a:r>
            <a:r>
              <a:rPr lang="en-CA" sz="1800" dirty="0" err="1"/>
              <a:t>bị</a:t>
            </a:r>
            <a:r>
              <a:rPr lang="en-CA" sz="1800" dirty="0"/>
              <a:t> </a:t>
            </a:r>
            <a:r>
              <a:rPr lang="en-CA" sz="1800" dirty="0" err="1"/>
              <a:t>cho</a:t>
            </a:r>
            <a:r>
              <a:rPr lang="en-CA" sz="1800" dirty="0"/>
              <a:t> </a:t>
            </a:r>
            <a:r>
              <a:rPr lang="en-CA" sz="1800" dirty="0" err="1"/>
              <a:t>phép</a:t>
            </a:r>
            <a:r>
              <a:rPr lang="en-CA" sz="1800" dirty="0"/>
              <a:t> </a:t>
            </a:r>
            <a:r>
              <a:rPr lang="en-CA" sz="1800" dirty="0" err="1"/>
              <a:t>bạn</a:t>
            </a:r>
            <a:r>
              <a:rPr lang="en-CA" sz="1800" dirty="0"/>
              <a:t> </a:t>
            </a:r>
            <a:r>
              <a:rPr lang="en-CA" sz="1800" dirty="0" err="1"/>
              <a:t>quản</a:t>
            </a:r>
            <a:r>
              <a:rPr lang="en-CA" sz="1800" dirty="0"/>
              <a:t> </a:t>
            </a:r>
            <a:r>
              <a:rPr lang="en-CA" sz="1800" dirty="0" err="1"/>
              <a:t>lý</a:t>
            </a:r>
            <a:r>
              <a:rPr lang="en-CA" sz="1800" dirty="0"/>
              <a:t> </a:t>
            </a:r>
            <a:r>
              <a:rPr lang="en-CA" sz="1800" dirty="0" err="1"/>
              <a:t>các</a:t>
            </a:r>
            <a:r>
              <a:rPr lang="en-CA" sz="1800" dirty="0"/>
              <a:t> </a:t>
            </a:r>
            <a:r>
              <a:rPr lang="en-CA" sz="1800" dirty="0" err="1"/>
              <a:t>cài</a:t>
            </a:r>
            <a:r>
              <a:rPr lang="en-CA" sz="1800" dirty="0"/>
              <a:t> </a:t>
            </a:r>
            <a:r>
              <a:rPr lang="en-CA" sz="1800" dirty="0" err="1"/>
              <a:t>đặt</a:t>
            </a:r>
            <a:r>
              <a:rPr lang="en-CA" sz="1800" dirty="0"/>
              <a:t> </a:t>
            </a:r>
            <a:r>
              <a:rPr lang="en-CA" sz="1800" dirty="0" err="1"/>
              <a:t>và</a:t>
            </a:r>
            <a:r>
              <a:rPr lang="en-CA" sz="1800" dirty="0"/>
              <a:t> </a:t>
            </a:r>
            <a:r>
              <a:rPr lang="en-CA" sz="1800" dirty="0" err="1"/>
              <a:t>thông</a:t>
            </a:r>
            <a:r>
              <a:rPr lang="en-CA" sz="1800" dirty="0"/>
              <a:t> </a:t>
            </a:r>
            <a:r>
              <a:rPr lang="en-CA" sz="1800" dirty="0" err="1"/>
              <a:t>số</a:t>
            </a:r>
            <a:r>
              <a:rPr lang="en-CA" sz="1800" dirty="0"/>
              <a:t> </a:t>
            </a:r>
            <a:r>
              <a:rPr lang="en-CA" sz="1800" dirty="0" err="1"/>
              <a:t>trên</a:t>
            </a:r>
            <a:r>
              <a:rPr lang="en-CA" sz="1800" dirty="0"/>
              <a:t> </a:t>
            </a:r>
            <a:r>
              <a:rPr lang="en-CA" sz="1800" dirty="0" err="1"/>
              <a:t>tất</a:t>
            </a:r>
            <a:r>
              <a:rPr lang="en-CA" sz="1800" dirty="0"/>
              <a:t> </a:t>
            </a:r>
            <a:r>
              <a:rPr lang="en-CA" sz="1800" dirty="0" err="1"/>
              <a:t>cả</a:t>
            </a:r>
            <a:r>
              <a:rPr lang="en-CA" sz="1800" dirty="0"/>
              <a:t> </a:t>
            </a:r>
            <a:r>
              <a:rPr lang="en-CA" sz="1800" dirty="0" err="1"/>
              <a:t>các</a:t>
            </a:r>
            <a:r>
              <a:rPr lang="en-CA" sz="1800" dirty="0"/>
              <a:t> </a:t>
            </a:r>
            <a:r>
              <a:rPr lang="en-CA" sz="1800" dirty="0" err="1"/>
              <a:t>thiết</a:t>
            </a:r>
            <a:r>
              <a:rPr lang="en-CA" sz="1800" dirty="0"/>
              <a:t> </a:t>
            </a:r>
            <a:r>
              <a:rPr lang="en-CA" sz="1800" dirty="0" err="1"/>
              <a:t>bị</a:t>
            </a:r>
            <a:r>
              <a:rPr lang="en-CA" sz="1800" dirty="0"/>
              <a:t> </a:t>
            </a:r>
            <a:r>
              <a:rPr lang="en-CA" sz="1800" dirty="0" err="1"/>
              <a:t>mà</a:t>
            </a:r>
            <a:r>
              <a:rPr lang="en-CA" sz="1800" dirty="0"/>
              <a:t> </a:t>
            </a:r>
            <a:r>
              <a:rPr lang="en-CA" sz="1800" dirty="0" err="1"/>
              <a:t>không</a:t>
            </a:r>
            <a:r>
              <a:rPr lang="en-CA" sz="1800" dirty="0"/>
              <a:t> </a:t>
            </a:r>
            <a:r>
              <a:rPr lang="en-CA" sz="1800" dirty="0" err="1"/>
              <a:t>cần</a:t>
            </a:r>
            <a:r>
              <a:rPr lang="en-CA" sz="1800" dirty="0"/>
              <a:t> </a:t>
            </a:r>
            <a:r>
              <a:rPr lang="en-CA" sz="1800" dirty="0" err="1"/>
              <a:t>tương</a:t>
            </a:r>
            <a:r>
              <a:rPr lang="en-CA" sz="1800" dirty="0"/>
              <a:t> </a:t>
            </a:r>
            <a:r>
              <a:rPr lang="en-CA" sz="1800" dirty="0" err="1"/>
              <a:t>tác</a:t>
            </a:r>
            <a:r>
              <a:rPr lang="en-CA" sz="1800" dirty="0"/>
              <a:t> </a:t>
            </a:r>
            <a:r>
              <a:rPr lang="en-CA" sz="1800" dirty="0" err="1"/>
              <a:t>trực</a:t>
            </a:r>
            <a:r>
              <a:rPr lang="en-CA" sz="1800" dirty="0"/>
              <a:t> </a:t>
            </a:r>
            <a:r>
              <a:rPr lang="en-CA" sz="1800" dirty="0" err="1"/>
              <a:t>tiếp</a:t>
            </a:r>
            <a:r>
              <a:rPr lang="en-CA" sz="1800" dirty="0"/>
              <a:t> </a:t>
            </a:r>
            <a:r>
              <a:rPr lang="en-CA" sz="1800" dirty="0" err="1"/>
              <a:t>với</a:t>
            </a:r>
            <a:r>
              <a:rPr lang="en-CA" sz="1800" dirty="0"/>
              <a:t> </a:t>
            </a:r>
            <a:r>
              <a:rPr lang="en-CA" sz="1800" dirty="0" err="1"/>
              <a:t>chúng</a:t>
            </a:r>
            <a:r>
              <a:rPr lang="en-CA" sz="1800" dirty="0"/>
              <a:t>.</a:t>
            </a:r>
            <a:endParaRPr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a:t>Quản lý thiết bị</a:t>
            </a:r>
            <a:endParaRPr/>
          </a:p>
        </p:txBody>
      </p:sp>
      <p:sp>
        <p:nvSpPr>
          <p:cNvPr id="84" name="Google Shape;84;p17"/>
          <p:cNvSpPr txBox="1">
            <a:spLocks noGrp="1"/>
          </p:cNvSpPr>
          <p:nvPr>
            <p:ph type="body" idx="1"/>
          </p:nvPr>
        </p:nvSpPr>
        <p:spPr>
          <a:xfrm>
            <a:off x="311700" y="1068425"/>
            <a:ext cx="8520600" cy="3958500"/>
          </a:xfrm>
          <a:prstGeom prst="rect">
            <a:avLst/>
          </a:prstGeom>
        </p:spPr>
        <p:txBody>
          <a:bodyPr spcFirstLastPara="1" wrap="square" lIns="91425" tIns="91425" rIns="91425" bIns="91425" anchor="t" anchorCtr="0">
            <a:normAutofit fontScale="92500" lnSpcReduction="20000"/>
          </a:bodyPr>
          <a:lstStyle/>
          <a:p>
            <a:pPr marL="457200" lvl="0" indent="-362832" algn="l" rtl="0">
              <a:spcBef>
                <a:spcPts val="0"/>
              </a:spcBef>
              <a:spcAft>
                <a:spcPts val="0"/>
              </a:spcAft>
              <a:buClr>
                <a:schemeClr val="dk2"/>
              </a:buClr>
              <a:buSzPct val="100000"/>
              <a:buChar char="-"/>
            </a:pPr>
            <a:r>
              <a:rPr lang="en-CA" sz="2285" b="1" dirty="0" err="1">
                <a:solidFill>
                  <a:schemeClr val="dk2"/>
                </a:solidFill>
              </a:rPr>
              <a:t>Các</a:t>
            </a:r>
            <a:r>
              <a:rPr lang="en-CA" sz="2285" b="1" dirty="0">
                <a:solidFill>
                  <a:schemeClr val="dk2"/>
                </a:solidFill>
              </a:rPr>
              <a:t> </a:t>
            </a:r>
            <a:r>
              <a:rPr lang="en-CA" sz="2285" b="1" dirty="0" err="1">
                <a:solidFill>
                  <a:schemeClr val="dk2"/>
                </a:solidFill>
              </a:rPr>
              <a:t>chức</a:t>
            </a:r>
            <a:r>
              <a:rPr lang="en-CA" sz="2285" b="1" dirty="0">
                <a:solidFill>
                  <a:schemeClr val="dk2"/>
                </a:solidFill>
              </a:rPr>
              <a:t> </a:t>
            </a:r>
            <a:r>
              <a:rPr lang="en-CA" sz="2285" b="1" dirty="0" err="1">
                <a:solidFill>
                  <a:schemeClr val="dk2"/>
                </a:solidFill>
              </a:rPr>
              <a:t>năng</a:t>
            </a:r>
            <a:r>
              <a:rPr lang="en-CA" sz="2285" b="1" dirty="0">
                <a:solidFill>
                  <a:schemeClr val="dk2"/>
                </a:solidFill>
              </a:rPr>
              <a:t> </a:t>
            </a:r>
            <a:r>
              <a:rPr lang="en-CA" sz="2285" b="1" dirty="0" err="1">
                <a:solidFill>
                  <a:schemeClr val="dk2"/>
                </a:solidFill>
              </a:rPr>
              <a:t>chính</a:t>
            </a:r>
            <a:r>
              <a:rPr lang="en-CA" sz="2285" b="1" dirty="0">
                <a:solidFill>
                  <a:schemeClr val="dk2"/>
                </a:solidFill>
              </a:rPr>
              <a:t> </a:t>
            </a:r>
            <a:r>
              <a:rPr lang="en-CA" sz="2285" b="1" dirty="0" err="1">
                <a:solidFill>
                  <a:schemeClr val="dk2"/>
                </a:solidFill>
              </a:rPr>
              <a:t>của</a:t>
            </a:r>
            <a:r>
              <a:rPr lang="en-CA" sz="2285" b="1" dirty="0">
                <a:solidFill>
                  <a:schemeClr val="dk2"/>
                </a:solidFill>
              </a:rPr>
              <a:t> </a:t>
            </a:r>
            <a:r>
              <a:rPr lang="en-CA" sz="2285" b="1" dirty="0" err="1">
                <a:solidFill>
                  <a:schemeClr val="dk2"/>
                </a:solidFill>
              </a:rPr>
              <a:t>khối</a:t>
            </a:r>
            <a:r>
              <a:rPr lang="en-CA" sz="2285" b="1" dirty="0">
                <a:solidFill>
                  <a:schemeClr val="dk2"/>
                </a:solidFill>
              </a:rPr>
              <a:t> </a:t>
            </a:r>
            <a:r>
              <a:rPr lang="en-CA" sz="2285" b="1" dirty="0" err="1">
                <a:solidFill>
                  <a:schemeClr val="dk2"/>
                </a:solidFill>
              </a:rPr>
              <a:t>quản</a:t>
            </a:r>
            <a:r>
              <a:rPr lang="en-CA" sz="2285" b="1" dirty="0">
                <a:solidFill>
                  <a:schemeClr val="dk2"/>
                </a:solidFill>
              </a:rPr>
              <a:t> </a:t>
            </a:r>
            <a:r>
              <a:rPr lang="en-CA" sz="2285" b="1" dirty="0" err="1">
                <a:solidFill>
                  <a:schemeClr val="dk2"/>
                </a:solidFill>
              </a:rPr>
              <a:t>lý</a:t>
            </a:r>
            <a:r>
              <a:rPr lang="en-CA" sz="2285" b="1" dirty="0">
                <a:solidFill>
                  <a:schemeClr val="dk2"/>
                </a:solidFill>
              </a:rPr>
              <a:t> </a:t>
            </a:r>
            <a:r>
              <a:rPr lang="en-CA" sz="2285" b="1" dirty="0" err="1">
                <a:solidFill>
                  <a:schemeClr val="dk2"/>
                </a:solidFill>
              </a:rPr>
              <a:t>thiết</a:t>
            </a:r>
            <a:r>
              <a:rPr lang="en-CA" sz="2285" b="1" dirty="0">
                <a:solidFill>
                  <a:schemeClr val="dk2"/>
                </a:solidFill>
              </a:rPr>
              <a:t> </a:t>
            </a:r>
            <a:r>
              <a:rPr lang="en-CA" sz="2285" b="1" dirty="0" err="1">
                <a:solidFill>
                  <a:schemeClr val="dk2"/>
                </a:solidFill>
              </a:rPr>
              <a:t>bị</a:t>
            </a:r>
            <a:r>
              <a:rPr lang="en-CA" sz="2285" b="1" dirty="0">
                <a:solidFill>
                  <a:schemeClr val="dk2"/>
                </a:solidFill>
              </a:rPr>
              <a:t>:</a:t>
            </a:r>
            <a:endParaRPr sz="2285" b="1" dirty="0">
              <a:solidFill>
                <a:schemeClr val="dk2"/>
              </a:solidFill>
            </a:endParaRPr>
          </a:p>
          <a:p>
            <a:pPr marL="914400" lvl="1" indent="-346075" algn="l" rtl="0">
              <a:spcBef>
                <a:spcPts val="0"/>
              </a:spcBef>
              <a:spcAft>
                <a:spcPts val="0"/>
              </a:spcAft>
              <a:buSzPct val="100000"/>
              <a:buFont typeface="Arial"/>
              <a:buChar char="-"/>
            </a:pPr>
            <a:r>
              <a:rPr lang="en-CA" sz="2000" b="1" dirty="0" err="1"/>
              <a:t>Nhóm</a:t>
            </a:r>
            <a:r>
              <a:rPr lang="en-CA" sz="2000" b="1" dirty="0"/>
              <a:t> </a:t>
            </a:r>
            <a:r>
              <a:rPr lang="en-CA" sz="2000" b="1" dirty="0" err="1"/>
              <a:t>thiết</a:t>
            </a:r>
            <a:r>
              <a:rPr lang="en-CA" sz="2000" b="1" dirty="0"/>
              <a:t> </a:t>
            </a:r>
            <a:r>
              <a:rPr lang="en-CA" sz="2000" b="1" dirty="0" err="1"/>
              <a:t>bị</a:t>
            </a:r>
            <a:r>
              <a:rPr lang="en-CA" sz="2000" dirty="0"/>
              <a:t> </a:t>
            </a:r>
          </a:p>
          <a:p>
            <a:pPr lvl="2" indent="-346075">
              <a:buSzPct val="100000"/>
              <a:buFont typeface="Arial"/>
              <a:buChar char="-"/>
            </a:pPr>
            <a:r>
              <a:rPr lang="en-CA" sz="2000" dirty="0" err="1"/>
              <a:t>Nhóm</a:t>
            </a:r>
            <a:r>
              <a:rPr lang="en-CA" sz="2000" dirty="0"/>
              <a:t> </a:t>
            </a:r>
            <a:r>
              <a:rPr lang="en-CA" sz="2000" dirty="0" err="1"/>
              <a:t>thiết</a:t>
            </a:r>
            <a:r>
              <a:rPr lang="en-CA" sz="2000" dirty="0"/>
              <a:t> </a:t>
            </a:r>
            <a:r>
              <a:rPr lang="en-CA" sz="2000" dirty="0" err="1"/>
              <a:t>bị</a:t>
            </a:r>
            <a:r>
              <a:rPr lang="en-CA" sz="2000" dirty="0"/>
              <a:t> </a:t>
            </a:r>
            <a:r>
              <a:rPr lang="en-CA" sz="2000" dirty="0" err="1"/>
              <a:t>cho</a:t>
            </a:r>
            <a:r>
              <a:rPr lang="en-CA" sz="2000" dirty="0"/>
              <a:t> </a:t>
            </a:r>
            <a:r>
              <a:rPr lang="en-CA" sz="2000" dirty="0" err="1"/>
              <a:t>phép</a:t>
            </a:r>
            <a:r>
              <a:rPr lang="en-CA" sz="2000" dirty="0"/>
              <a:t> </a:t>
            </a:r>
            <a:r>
              <a:rPr lang="en-CA" sz="2000" dirty="0" err="1"/>
              <a:t>bạn</a:t>
            </a:r>
            <a:r>
              <a:rPr lang="en-CA" sz="2000" dirty="0"/>
              <a:t> </a:t>
            </a:r>
            <a:r>
              <a:rPr lang="en-CA" sz="2000" dirty="0" err="1"/>
              <a:t>tổ</a:t>
            </a:r>
            <a:r>
              <a:rPr lang="en-CA" sz="2000" dirty="0"/>
              <a:t> </a:t>
            </a:r>
            <a:r>
              <a:rPr lang="en-CA" sz="2000" dirty="0" err="1"/>
              <a:t>chức</a:t>
            </a:r>
            <a:r>
              <a:rPr lang="en-CA" sz="2000" dirty="0"/>
              <a:t> </a:t>
            </a:r>
            <a:r>
              <a:rPr lang="en-CA" sz="2000" dirty="0" err="1"/>
              <a:t>các</a:t>
            </a:r>
            <a:r>
              <a:rPr lang="en-CA" sz="2000" dirty="0"/>
              <a:t> </a:t>
            </a:r>
            <a:r>
              <a:rPr lang="en-CA" sz="2000" dirty="0" err="1"/>
              <a:t>thiết</a:t>
            </a:r>
            <a:r>
              <a:rPr lang="en-CA" sz="2000" dirty="0"/>
              <a:t> </a:t>
            </a:r>
            <a:r>
              <a:rPr lang="en-CA" sz="2000" dirty="0" err="1"/>
              <a:t>bị</a:t>
            </a:r>
            <a:r>
              <a:rPr lang="en-CA" sz="2000" dirty="0"/>
              <a:t> </a:t>
            </a:r>
            <a:r>
              <a:rPr lang="en-CA" sz="2000" dirty="0" err="1"/>
              <a:t>một</a:t>
            </a:r>
            <a:r>
              <a:rPr lang="en-CA" sz="2000" dirty="0"/>
              <a:t> </a:t>
            </a:r>
            <a:r>
              <a:rPr lang="en-CA" sz="2000" dirty="0" err="1"/>
              <a:t>cách</a:t>
            </a:r>
            <a:r>
              <a:rPr lang="en-CA" sz="2000" dirty="0"/>
              <a:t> logic </a:t>
            </a:r>
            <a:r>
              <a:rPr lang="en-CA" sz="2000" dirty="0" err="1"/>
              <a:t>theo</a:t>
            </a:r>
            <a:r>
              <a:rPr lang="en-CA" sz="2000" dirty="0"/>
              <a:t> </a:t>
            </a:r>
            <a:r>
              <a:rPr lang="en-CA" sz="2000" dirty="0" err="1"/>
              <a:t>chức</a:t>
            </a:r>
            <a:r>
              <a:rPr lang="en-CA" sz="2000" dirty="0"/>
              <a:t> </a:t>
            </a:r>
            <a:r>
              <a:rPr lang="en-CA" sz="2000" dirty="0" err="1"/>
              <a:t>năng</a:t>
            </a:r>
            <a:r>
              <a:rPr lang="en-CA" sz="2000" dirty="0"/>
              <a:t> (</a:t>
            </a:r>
            <a:r>
              <a:rPr lang="en-CA" sz="2000" dirty="0" err="1"/>
              <a:t>ví</a:t>
            </a:r>
            <a:r>
              <a:rPr lang="en-CA" sz="2000" dirty="0"/>
              <a:t> </a:t>
            </a:r>
            <a:r>
              <a:rPr lang="en-CA" sz="2000" dirty="0" err="1"/>
              <a:t>dụ</a:t>
            </a:r>
            <a:r>
              <a:rPr lang="en-CA" sz="2000" dirty="0"/>
              <a:t>: </a:t>
            </a:r>
            <a:r>
              <a:rPr lang="en-CA" sz="2000" dirty="0" err="1"/>
              <a:t>tất</a:t>
            </a:r>
            <a:r>
              <a:rPr lang="en-CA" sz="2000" dirty="0"/>
              <a:t> </a:t>
            </a:r>
            <a:r>
              <a:rPr lang="en-CA" sz="2000" dirty="0" err="1"/>
              <a:t>cả</a:t>
            </a:r>
            <a:r>
              <a:rPr lang="en-CA" sz="2000" dirty="0"/>
              <a:t> </a:t>
            </a:r>
            <a:r>
              <a:rPr lang="en-CA" sz="2000" dirty="0" err="1"/>
              <a:t>các</a:t>
            </a:r>
            <a:r>
              <a:rPr lang="en-CA" sz="2000" dirty="0"/>
              <a:t> </a:t>
            </a:r>
            <a:r>
              <a:rPr lang="en-CA" sz="2000" dirty="0" err="1"/>
              <a:t>bộ</a:t>
            </a:r>
            <a:r>
              <a:rPr lang="en-CA" sz="2000" dirty="0"/>
              <a:t> </a:t>
            </a:r>
            <a:r>
              <a:rPr lang="en-CA" sz="2000" dirty="0" err="1"/>
              <a:t>điều</a:t>
            </a:r>
            <a:r>
              <a:rPr lang="en-CA" sz="2000" dirty="0"/>
              <a:t> </a:t>
            </a:r>
            <a:r>
              <a:rPr lang="en-CA" sz="2000" dirty="0" err="1"/>
              <a:t>chỉnh</a:t>
            </a:r>
            <a:r>
              <a:rPr lang="en-CA" sz="2000" dirty="0"/>
              <a:t> </a:t>
            </a:r>
            <a:r>
              <a:rPr lang="en-CA" sz="2000" dirty="0" err="1"/>
              <a:t>nhiệt</a:t>
            </a:r>
            <a:r>
              <a:rPr lang="en-CA" sz="2000" dirty="0"/>
              <a:t>), </a:t>
            </a:r>
            <a:r>
              <a:rPr lang="en-CA" sz="2000" dirty="0" err="1"/>
              <a:t>vị</a:t>
            </a:r>
            <a:r>
              <a:rPr lang="en-CA" sz="2000" dirty="0"/>
              <a:t> </a:t>
            </a:r>
            <a:r>
              <a:rPr lang="en-CA" sz="2000" dirty="0" err="1"/>
              <a:t>trí</a:t>
            </a:r>
            <a:r>
              <a:rPr lang="en-CA" sz="2000" dirty="0"/>
              <a:t> (</a:t>
            </a:r>
            <a:r>
              <a:rPr lang="en-CA" sz="2000" dirty="0" err="1"/>
              <a:t>ví</a:t>
            </a:r>
            <a:r>
              <a:rPr lang="en-CA" sz="2000" dirty="0"/>
              <a:t> </a:t>
            </a:r>
            <a:r>
              <a:rPr lang="en-CA" sz="2000" dirty="0" err="1"/>
              <a:t>dụ</a:t>
            </a:r>
            <a:r>
              <a:rPr lang="en-CA" sz="2000" dirty="0"/>
              <a:t>: </a:t>
            </a:r>
            <a:r>
              <a:rPr lang="en-CA" sz="2000" dirty="0" err="1"/>
              <a:t>cảm</a:t>
            </a:r>
            <a:r>
              <a:rPr lang="en-CA" sz="2000" dirty="0"/>
              <a:t> </a:t>
            </a:r>
            <a:r>
              <a:rPr lang="en-CA" sz="2000" dirty="0" err="1"/>
              <a:t>biến</a:t>
            </a:r>
            <a:r>
              <a:rPr lang="en-CA" sz="2000" dirty="0"/>
              <a:t> </a:t>
            </a:r>
            <a:r>
              <a:rPr lang="en-CA" sz="2000" dirty="0" err="1"/>
              <a:t>tòa</a:t>
            </a:r>
            <a:r>
              <a:rPr lang="en-CA" sz="2000" dirty="0"/>
              <a:t> </a:t>
            </a:r>
            <a:r>
              <a:rPr lang="en-CA" sz="2000" dirty="0" err="1"/>
              <a:t>nhà</a:t>
            </a:r>
            <a:r>
              <a:rPr lang="en-CA" sz="2000" dirty="0"/>
              <a:t>), </a:t>
            </a:r>
            <a:r>
              <a:rPr lang="en-CA" sz="2000" dirty="0" err="1"/>
              <a:t>hoặc</a:t>
            </a:r>
            <a:r>
              <a:rPr lang="en-CA" sz="2000" dirty="0"/>
              <a:t> </a:t>
            </a:r>
            <a:r>
              <a:rPr lang="en-CA" sz="2000" dirty="0" err="1"/>
              <a:t>bất</a:t>
            </a:r>
            <a:r>
              <a:rPr lang="en-CA" sz="2000" dirty="0"/>
              <a:t> </a:t>
            </a:r>
            <a:r>
              <a:rPr lang="en-CA" sz="2000" dirty="0" err="1"/>
              <a:t>kỳ</a:t>
            </a:r>
            <a:r>
              <a:rPr lang="en-CA" sz="2000" dirty="0"/>
              <a:t> </a:t>
            </a:r>
            <a:r>
              <a:rPr lang="en-CA" sz="2000" dirty="0" err="1"/>
              <a:t>tiêu</a:t>
            </a:r>
            <a:r>
              <a:rPr lang="en-CA" sz="2000" dirty="0"/>
              <a:t> </a:t>
            </a:r>
            <a:r>
              <a:rPr lang="en-CA" sz="2000" dirty="0" err="1"/>
              <a:t>chí</a:t>
            </a:r>
            <a:r>
              <a:rPr lang="en-CA" sz="2000" dirty="0"/>
              <a:t> </a:t>
            </a:r>
            <a:r>
              <a:rPr lang="en-CA" sz="2000" dirty="0" err="1"/>
              <a:t>nào</a:t>
            </a:r>
            <a:r>
              <a:rPr lang="en-CA" sz="2000" dirty="0"/>
              <a:t> </a:t>
            </a:r>
            <a:r>
              <a:rPr lang="en-CA" sz="2000" dirty="0" err="1"/>
              <a:t>khác</a:t>
            </a:r>
            <a:r>
              <a:rPr lang="en-CA" sz="2000" dirty="0"/>
              <a:t>. </a:t>
            </a:r>
            <a:endParaRPr sz="2000" dirty="0"/>
          </a:p>
          <a:p>
            <a:pPr marL="914400" lvl="1" indent="-346075" algn="l" rtl="0">
              <a:spcBef>
                <a:spcPts val="1200"/>
              </a:spcBef>
              <a:spcAft>
                <a:spcPts val="0"/>
              </a:spcAft>
              <a:buSzPct val="100000"/>
              <a:buFont typeface="Arial"/>
              <a:buChar char="-"/>
            </a:pPr>
            <a:r>
              <a:rPr lang="en-CA" sz="2000" b="1" dirty="0" err="1"/>
              <a:t>Chẩn</a:t>
            </a:r>
            <a:r>
              <a:rPr lang="en-CA" sz="2000" b="1" dirty="0"/>
              <a:t> </a:t>
            </a:r>
            <a:r>
              <a:rPr lang="en-CA" sz="2000" b="1" dirty="0" err="1"/>
              <a:t>đoán</a:t>
            </a:r>
            <a:r>
              <a:rPr lang="en-CA" sz="2000" dirty="0"/>
              <a:t> </a:t>
            </a:r>
          </a:p>
          <a:p>
            <a:pPr lvl="2" indent="-346075">
              <a:spcBef>
                <a:spcPts val="1200"/>
              </a:spcBef>
              <a:buSzPct val="100000"/>
              <a:buFont typeface="Arial"/>
              <a:buChar char="-"/>
            </a:pPr>
            <a:r>
              <a:rPr lang="en-CA" sz="2000" dirty="0" err="1"/>
              <a:t>Chẩn</a:t>
            </a:r>
            <a:r>
              <a:rPr lang="en-CA" sz="2000" dirty="0"/>
              <a:t> </a:t>
            </a:r>
            <a:r>
              <a:rPr lang="en-CA" sz="2000" dirty="0" err="1"/>
              <a:t>đoán</a:t>
            </a:r>
            <a:r>
              <a:rPr lang="en-CA" sz="2000" dirty="0"/>
              <a:t> </a:t>
            </a:r>
            <a:r>
              <a:rPr lang="en-CA" sz="2000" dirty="0" err="1"/>
              <a:t>giám</a:t>
            </a:r>
            <a:r>
              <a:rPr lang="en-CA" sz="2000" dirty="0"/>
              <a:t> </a:t>
            </a:r>
            <a:r>
              <a:rPr lang="en-CA" sz="2000" dirty="0" err="1"/>
              <a:t>sát</a:t>
            </a:r>
            <a:r>
              <a:rPr lang="en-CA" sz="2000" dirty="0"/>
              <a:t> </a:t>
            </a:r>
            <a:r>
              <a:rPr lang="en-CA" sz="2000" dirty="0" err="1"/>
              <a:t>liên</a:t>
            </a:r>
            <a:r>
              <a:rPr lang="en-CA" sz="2000" dirty="0"/>
              <a:t> </a:t>
            </a:r>
            <a:r>
              <a:rPr lang="en-CA" sz="2000" dirty="0" err="1"/>
              <a:t>tục</a:t>
            </a:r>
            <a:r>
              <a:rPr lang="en-CA" sz="2000" dirty="0"/>
              <a:t> </a:t>
            </a:r>
            <a:r>
              <a:rPr lang="en-CA" sz="2000" dirty="0" err="1"/>
              <a:t>hiệu</a:t>
            </a:r>
            <a:r>
              <a:rPr lang="en-CA" sz="2000" dirty="0"/>
              <a:t> </a:t>
            </a:r>
            <a:r>
              <a:rPr lang="en-CA" sz="2000" dirty="0" err="1"/>
              <a:t>suất</a:t>
            </a:r>
            <a:r>
              <a:rPr lang="en-CA" sz="2000" dirty="0"/>
              <a:t> </a:t>
            </a:r>
            <a:r>
              <a:rPr lang="en-CA" sz="2000" dirty="0" err="1"/>
              <a:t>thiết</a:t>
            </a:r>
            <a:r>
              <a:rPr lang="en-CA" sz="2000" dirty="0"/>
              <a:t> </a:t>
            </a:r>
            <a:r>
              <a:rPr lang="en-CA" sz="2000" dirty="0" err="1"/>
              <a:t>bị</a:t>
            </a:r>
            <a:r>
              <a:rPr lang="en-CA" sz="2000" dirty="0"/>
              <a:t> </a:t>
            </a:r>
            <a:r>
              <a:rPr lang="en-CA" sz="2000" dirty="0" err="1"/>
              <a:t>và</a:t>
            </a:r>
            <a:r>
              <a:rPr lang="en-CA" sz="2000" dirty="0"/>
              <a:t> </a:t>
            </a:r>
            <a:r>
              <a:rPr lang="en-CA" sz="2000" dirty="0" err="1"/>
              <a:t>phát</a:t>
            </a:r>
            <a:r>
              <a:rPr lang="en-CA" sz="2000" dirty="0"/>
              <a:t> </a:t>
            </a:r>
            <a:r>
              <a:rPr lang="en-CA" sz="2000" dirty="0" err="1"/>
              <a:t>hiện</a:t>
            </a:r>
            <a:r>
              <a:rPr lang="en-CA" sz="2000" dirty="0"/>
              <a:t> </a:t>
            </a:r>
            <a:r>
              <a:rPr lang="en-CA" sz="2000" dirty="0" err="1"/>
              <a:t>các</a:t>
            </a:r>
            <a:r>
              <a:rPr lang="en-CA" sz="2000" dirty="0"/>
              <a:t> </a:t>
            </a:r>
            <a:r>
              <a:rPr lang="en-CA" sz="2000" dirty="0" err="1"/>
              <a:t>vấn</a:t>
            </a:r>
            <a:r>
              <a:rPr lang="en-CA" sz="2000" dirty="0"/>
              <a:t> </a:t>
            </a:r>
            <a:r>
              <a:rPr lang="en-CA" sz="2000" dirty="0" err="1"/>
              <a:t>đề</a:t>
            </a:r>
            <a:r>
              <a:rPr lang="en-CA" sz="2000" dirty="0"/>
              <a:t> </a:t>
            </a:r>
            <a:r>
              <a:rPr lang="en-CA" sz="2000" dirty="0" err="1"/>
              <a:t>tiềm</a:t>
            </a:r>
            <a:r>
              <a:rPr lang="en-CA" sz="2000" dirty="0"/>
              <a:t> </a:t>
            </a:r>
            <a:r>
              <a:rPr lang="en-CA" sz="2000" dirty="0" err="1"/>
              <a:t>ẩn</a:t>
            </a:r>
            <a:r>
              <a:rPr lang="en-CA" sz="2000" dirty="0"/>
              <a:t> </a:t>
            </a:r>
            <a:r>
              <a:rPr lang="en-CA" sz="2000" dirty="0" err="1"/>
              <a:t>như</a:t>
            </a:r>
            <a:r>
              <a:rPr lang="en-CA" sz="2000" dirty="0"/>
              <a:t> </a:t>
            </a:r>
            <a:r>
              <a:rPr lang="en-CA" sz="2000" dirty="0" err="1"/>
              <a:t>cảnh</a:t>
            </a:r>
            <a:r>
              <a:rPr lang="en-CA" sz="2000" dirty="0"/>
              <a:t> </a:t>
            </a:r>
            <a:r>
              <a:rPr lang="en-CA" sz="2000" dirty="0" err="1"/>
              <a:t>báo</a:t>
            </a:r>
            <a:r>
              <a:rPr lang="en-CA" sz="2000" dirty="0"/>
              <a:t> pin </a:t>
            </a:r>
            <a:r>
              <a:rPr lang="en-CA" sz="2000" dirty="0" err="1"/>
              <a:t>yếu</a:t>
            </a:r>
            <a:r>
              <a:rPr lang="en-CA" sz="2000" dirty="0"/>
              <a:t>, </a:t>
            </a:r>
            <a:r>
              <a:rPr lang="en-CA" sz="2000" dirty="0" err="1"/>
              <a:t>thông</a:t>
            </a:r>
            <a:r>
              <a:rPr lang="en-CA" sz="2000" dirty="0"/>
              <a:t> </a:t>
            </a:r>
            <a:r>
              <a:rPr lang="en-CA" sz="2000" dirty="0" err="1"/>
              <a:t>báo</a:t>
            </a:r>
            <a:r>
              <a:rPr lang="en-CA" sz="2000" dirty="0"/>
              <a:t> </a:t>
            </a:r>
            <a:r>
              <a:rPr lang="en-CA" sz="2000" dirty="0" err="1"/>
              <a:t>lỗi</a:t>
            </a:r>
            <a:r>
              <a:rPr lang="en-CA" sz="2000" dirty="0"/>
              <a:t>, </a:t>
            </a:r>
            <a:r>
              <a:rPr lang="en-CA" sz="2000" dirty="0" err="1"/>
              <a:t>hoặc</a:t>
            </a:r>
            <a:r>
              <a:rPr lang="en-CA" sz="2000" dirty="0"/>
              <a:t> </a:t>
            </a:r>
            <a:r>
              <a:rPr lang="en-CA" sz="2000" dirty="0" err="1"/>
              <a:t>lỗi</a:t>
            </a:r>
            <a:r>
              <a:rPr lang="en-CA" sz="2000" dirty="0"/>
              <a:t> </a:t>
            </a:r>
            <a:r>
              <a:rPr lang="en-CA" sz="2000" dirty="0" err="1"/>
              <a:t>cảm</a:t>
            </a:r>
            <a:r>
              <a:rPr lang="en-CA" sz="2000" dirty="0"/>
              <a:t> </a:t>
            </a:r>
            <a:r>
              <a:rPr lang="en-CA" sz="2000" dirty="0" err="1"/>
              <a:t>biến</a:t>
            </a:r>
            <a:r>
              <a:rPr lang="en-CA" sz="2000" dirty="0"/>
              <a:t>. </a:t>
            </a:r>
            <a:endParaRPr sz="2000" dirty="0"/>
          </a:p>
          <a:p>
            <a:pPr marL="914400" lvl="1" indent="-346075" algn="l" rtl="0">
              <a:spcBef>
                <a:spcPts val="1200"/>
              </a:spcBef>
              <a:spcAft>
                <a:spcPts val="0"/>
              </a:spcAft>
              <a:buSzPct val="100000"/>
              <a:buFont typeface="Arial"/>
              <a:buChar char="-"/>
            </a:pPr>
            <a:r>
              <a:rPr lang="en-CA" sz="2000" b="1" dirty="0" err="1"/>
              <a:t>Giám</a:t>
            </a:r>
            <a:r>
              <a:rPr lang="en-CA" sz="2000" b="1" dirty="0"/>
              <a:t> </a:t>
            </a:r>
            <a:r>
              <a:rPr lang="en-CA" sz="2000" b="1" dirty="0" err="1"/>
              <a:t>sát</a:t>
            </a:r>
            <a:r>
              <a:rPr lang="en-CA" sz="2000" b="1" dirty="0"/>
              <a:t> </a:t>
            </a:r>
            <a:r>
              <a:rPr lang="en-CA" sz="2000" b="1" dirty="0" err="1"/>
              <a:t>trạng</a:t>
            </a:r>
            <a:r>
              <a:rPr lang="en-CA" sz="2000" b="1" dirty="0"/>
              <a:t> </a:t>
            </a:r>
            <a:r>
              <a:rPr lang="en-CA" sz="2000" b="1" dirty="0" err="1"/>
              <a:t>thái</a:t>
            </a:r>
            <a:endParaRPr lang="en-CA" sz="2000" b="1" dirty="0"/>
          </a:p>
          <a:p>
            <a:pPr lvl="2" indent="-346075">
              <a:spcBef>
                <a:spcPts val="1200"/>
              </a:spcBef>
              <a:buSzPct val="100000"/>
              <a:buFont typeface="Arial"/>
              <a:buChar char="-"/>
            </a:pPr>
            <a:r>
              <a:rPr lang="en-CA" sz="2000" dirty="0"/>
              <a:t>Cung </a:t>
            </a:r>
            <a:r>
              <a:rPr lang="en-CA" sz="2000" dirty="0" err="1"/>
              <a:t>cấp</a:t>
            </a:r>
            <a:r>
              <a:rPr lang="en-CA" sz="2000" dirty="0"/>
              <a:t> </a:t>
            </a:r>
            <a:r>
              <a:rPr lang="en-CA" sz="2000" dirty="0" err="1"/>
              <a:t>dữ</a:t>
            </a:r>
            <a:r>
              <a:rPr lang="en-CA" sz="2000" dirty="0"/>
              <a:t> </a:t>
            </a:r>
            <a:r>
              <a:rPr lang="en-CA" sz="2000" dirty="0" err="1"/>
              <a:t>liệu</a:t>
            </a:r>
            <a:r>
              <a:rPr lang="en-CA" sz="2000" dirty="0"/>
              <a:t> </a:t>
            </a:r>
            <a:r>
              <a:rPr lang="en-CA" sz="2000" dirty="0" err="1"/>
              <a:t>theo</a:t>
            </a:r>
            <a:r>
              <a:rPr lang="en-CA" sz="2000" dirty="0"/>
              <a:t> </a:t>
            </a:r>
            <a:r>
              <a:rPr lang="en-CA" sz="2000" dirty="0" err="1"/>
              <a:t>thời</a:t>
            </a:r>
            <a:r>
              <a:rPr lang="en-CA" sz="2000" dirty="0"/>
              <a:t> </a:t>
            </a:r>
            <a:r>
              <a:rPr lang="en-CA" sz="2000" dirty="0" err="1"/>
              <a:t>gian</a:t>
            </a:r>
            <a:r>
              <a:rPr lang="en-CA" sz="2000" dirty="0"/>
              <a:t> </a:t>
            </a:r>
            <a:r>
              <a:rPr lang="en-CA" sz="2000" dirty="0" err="1"/>
              <a:t>thực</a:t>
            </a:r>
            <a:r>
              <a:rPr lang="en-CA" sz="2000" dirty="0"/>
              <a:t> </a:t>
            </a:r>
            <a:r>
              <a:rPr lang="en-CA" sz="2000" dirty="0" err="1"/>
              <a:t>về</a:t>
            </a:r>
            <a:r>
              <a:rPr lang="en-CA" sz="2000" dirty="0"/>
              <a:t> </a:t>
            </a:r>
            <a:r>
              <a:rPr lang="en-CA" sz="2000" dirty="0" err="1"/>
              <a:t>tình</a:t>
            </a:r>
            <a:r>
              <a:rPr lang="en-CA" sz="2000" dirty="0"/>
              <a:t> </a:t>
            </a:r>
            <a:r>
              <a:rPr lang="en-CA" sz="2000" dirty="0" err="1"/>
              <a:t>trạng</a:t>
            </a:r>
            <a:r>
              <a:rPr lang="en-CA" sz="2000" dirty="0"/>
              <a:t> </a:t>
            </a:r>
            <a:r>
              <a:rPr lang="en-CA" sz="2000" dirty="0" err="1"/>
              <a:t>sức</a:t>
            </a:r>
            <a:r>
              <a:rPr lang="en-CA" sz="2000" dirty="0"/>
              <a:t> </a:t>
            </a:r>
            <a:r>
              <a:rPr lang="en-CA" sz="2000" dirty="0" err="1"/>
              <a:t>khỏe</a:t>
            </a:r>
            <a:r>
              <a:rPr lang="en-CA" sz="2000" dirty="0"/>
              <a:t> </a:t>
            </a:r>
            <a:r>
              <a:rPr lang="en-CA" sz="2000" dirty="0" err="1"/>
              <a:t>của</a:t>
            </a:r>
            <a:r>
              <a:rPr lang="en-CA" sz="2000" dirty="0"/>
              <a:t> </a:t>
            </a:r>
            <a:r>
              <a:rPr lang="en-CA" sz="2000" dirty="0" err="1"/>
              <a:t>từng</a:t>
            </a:r>
            <a:r>
              <a:rPr lang="en-CA" sz="2000" dirty="0"/>
              <a:t> </a:t>
            </a:r>
            <a:r>
              <a:rPr lang="en-CA" sz="2000" dirty="0" err="1"/>
              <a:t>thiết</a:t>
            </a:r>
            <a:r>
              <a:rPr lang="en-CA" sz="2000" dirty="0"/>
              <a:t> </a:t>
            </a:r>
            <a:r>
              <a:rPr lang="en-CA" sz="2000" dirty="0" err="1"/>
              <a:t>bị</a:t>
            </a:r>
            <a:r>
              <a:rPr lang="en-CA" sz="2000" dirty="0"/>
              <a:t>. </a:t>
            </a:r>
            <a:endParaRPr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a:t>Quản lý thiết bị</a:t>
            </a:r>
            <a:endParaRPr/>
          </a:p>
        </p:txBody>
      </p:sp>
      <p:sp>
        <p:nvSpPr>
          <p:cNvPr id="90" name="Google Shape;90;p18"/>
          <p:cNvSpPr txBox="1">
            <a:spLocks noGrp="1"/>
          </p:cNvSpPr>
          <p:nvPr>
            <p:ph type="body" idx="1"/>
          </p:nvPr>
        </p:nvSpPr>
        <p:spPr>
          <a:xfrm>
            <a:off x="311700" y="1152475"/>
            <a:ext cx="8520600" cy="3874500"/>
          </a:xfrm>
          <a:prstGeom prst="rect">
            <a:avLst/>
          </a:prstGeom>
        </p:spPr>
        <p:txBody>
          <a:bodyPr spcFirstLastPara="1" wrap="square" lIns="91425" tIns="91425" rIns="91425" bIns="91425" anchor="t" anchorCtr="0">
            <a:normAutofit lnSpcReduction="10000"/>
          </a:bodyPr>
          <a:lstStyle/>
          <a:p>
            <a:pPr marL="457200" lvl="0" indent="-361950" algn="l" rtl="0">
              <a:spcBef>
                <a:spcPts val="0"/>
              </a:spcBef>
              <a:spcAft>
                <a:spcPts val="0"/>
              </a:spcAft>
              <a:buClr>
                <a:schemeClr val="dk2"/>
              </a:buClr>
              <a:buSzPts val="2100"/>
              <a:buChar char="-"/>
            </a:pPr>
            <a:r>
              <a:rPr lang="en-CA" sz="2100" b="1" dirty="0" err="1">
                <a:solidFill>
                  <a:schemeClr val="dk2"/>
                </a:solidFill>
              </a:rPr>
              <a:t>Các</a:t>
            </a:r>
            <a:r>
              <a:rPr lang="en-CA" sz="2100" b="1" dirty="0">
                <a:solidFill>
                  <a:schemeClr val="dk2"/>
                </a:solidFill>
              </a:rPr>
              <a:t> </a:t>
            </a:r>
            <a:r>
              <a:rPr lang="en-CA" sz="2100" b="1" dirty="0" err="1">
                <a:solidFill>
                  <a:schemeClr val="dk2"/>
                </a:solidFill>
              </a:rPr>
              <a:t>chức</a:t>
            </a:r>
            <a:r>
              <a:rPr lang="en-CA" sz="2100" b="1" dirty="0">
                <a:solidFill>
                  <a:schemeClr val="dk2"/>
                </a:solidFill>
              </a:rPr>
              <a:t> </a:t>
            </a:r>
            <a:r>
              <a:rPr lang="en-CA" sz="2100" b="1" dirty="0" err="1">
                <a:solidFill>
                  <a:schemeClr val="dk2"/>
                </a:solidFill>
              </a:rPr>
              <a:t>năng</a:t>
            </a:r>
            <a:r>
              <a:rPr lang="en-CA" sz="2100" b="1" dirty="0">
                <a:solidFill>
                  <a:schemeClr val="dk2"/>
                </a:solidFill>
              </a:rPr>
              <a:t> </a:t>
            </a:r>
            <a:r>
              <a:rPr lang="en-CA" sz="2100" b="1" dirty="0" err="1">
                <a:solidFill>
                  <a:schemeClr val="dk2"/>
                </a:solidFill>
              </a:rPr>
              <a:t>chính</a:t>
            </a:r>
            <a:r>
              <a:rPr lang="en-CA" sz="2100" b="1" dirty="0">
                <a:solidFill>
                  <a:schemeClr val="dk2"/>
                </a:solidFill>
              </a:rPr>
              <a:t> </a:t>
            </a:r>
            <a:r>
              <a:rPr lang="en-CA" sz="2100" b="1" dirty="0" err="1">
                <a:solidFill>
                  <a:schemeClr val="dk2"/>
                </a:solidFill>
              </a:rPr>
              <a:t>của</a:t>
            </a:r>
            <a:r>
              <a:rPr lang="en-CA" sz="2100" b="1" dirty="0">
                <a:solidFill>
                  <a:schemeClr val="dk2"/>
                </a:solidFill>
              </a:rPr>
              <a:t> </a:t>
            </a:r>
            <a:r>
              <a:rPr lang="en-CA" sz="2100" b="1" dirty="0" err="1">
                <a:solidFill>
                  <a:schemeClr val="dk2"/>
                </a:solidFill>
              </a:rPr>
              <a:t>khối</a:t>
            </a:r>
            <a:r>
              <a:rPr lang="en-CA" sz="2100" b="1" dirty="0">
                <a:solidFill>
                  <a:schemeClr val="dk2"/>
                </a:solidFill>
              </a:rPr>
              <a:t> </a:t>
            </a:r>
            <a:r>
              <a:rPr lang="en-CA" sz="2100" b="1" dirty="0" err="1">
                <a:solidFill>
                  <a:schemeClr val="dk2"/>
                </a:solidFill>
              </a:rPr>
              <a:t>quản</a:t>
            </a:r>
            <a:r>
              <a:rPr lang="en-CA" sz="2100" b="1" dirty="0">
                <a:solidFill>
                  <a:schemeClr val="dk2"/>
                </a:solidFill>
              </a:rPr>
              <a:t> </a:t>
            </a:r>
            <a:r>
              <a:rPr lang="en-CA" sz="2100" b="1" dirty="0" err="1">
                <a:solidFill>
                  <a:schemeClr val="dk2"/>
                </a:solidFill>
              </a:rPr>
              <a:t>lý</a:t>
            </a:r>
            <a:r>
              <a:rPr lang="en-CA" sz="2100" b="1" dirty="0">
                <a:solidFill>
                  <a:schemeClr val="dk2"/>
                </a:solidFill>
              </a:rPr>
              <a:t> </a:t>
            </a:r>
            <a:r>
              <a:rPr lang="en-CA" sz="2100" b="1" dirty="0" err="1">
                <a:solidFill>
                  <a:schemeClr val="dk2"/>
                </a:solidFill>
              </a:rPr>
              <a:t>thiết</a:t>
            </a:r>
            <a:r>
              <a:rPr lang="en-CA" sz="2100" b="1" dirty="0">
                <a:solidFill>
                  <a:schemeClr val="dk2"/>
                </a:solidFill>
              </a:rPr>
              <a:t> </a:t>
            </a:r>
            <a:r>
              <a:rPr lang="en-CA" sz="2100" b="1" dirty="0" err="1">
                <a:solidFill>
                  <a:schemeClr val="dk2"/>
                </a:solidFill>
              </a:rPr>
              <a:t>bị</a:t>
            </a:r>
            <a:r>
              <a:rPr lang="en-CA" sz="2100" b="1" dirty="0">
                <a:solidFill>
                  <a:schemeClr val="dk2"/>
                </a:solidFill>
              </a:rPr>
              <a:t>:</a:t>
            </a:r>
            <a:endParaRPr sz="2100" b="1" dirty="0">
              <a:solidFill>
                <a:schemeClr val="dk2"/>
              </a:solidFill>
            </a:endParaRPr>
          </a:p>
          <a:p>
            <a:pPr marL="914400" lvl="1" indent="-345032" algn="l" rtl="0">
              <a:spcBef>
                <a:spcPts val="0"/>
              </a:spcBef>
              <a:spcAft>
                <a:spcPts val="0"/>
              </a:spcAft>
              <a:buSzPts val="1834"/>
              <a:buFont typeface="Arial"/>
              <a:buChar char="-"/>
            </a:pPr>
            <a:r>
              <a:rPr lang="en-CA" sz="1833" b="1" dirty="0" err="1"/>
              <a:t>Bảo</a:t>
            </a:r>
            <a:r>
              <a:rPr lang="en-CA" sz="1833" b="1" dirty="0"/>
              <a:t> </a:t>
            </a:r>
            <a:r>
              <a:rPr lang="en-CA" sz="1833" b="1" dirty="0" err="1"/>
              <a:t>mật</a:t>
            </a:r>
            <a:r>
              <a:rPr lang="en-CA" sz="1833" b="1" dirty="0"/>
              <a:t> </a:t>
            </a:r>
            <a:r>
              <a:rPr lang="en-CA" sz="1833" b="1" dirty="0" err="1"/>
              <a:t>thiết</a:t>
            </a:r>
            <a:r>
              <a:rPr lang="en-CA" sz="1833" b="1" dirty="0"/>
              <a:t> </a:t>
            </a:r>
            <a:r>
              <a:rPr lang="en-CA" sz="1833" b="1" dirty="0" err="1"/>
              <a:t>bị</a:t>
            </a:r>
            <a:endParaRPr lang="en-CA" sz="1833" b="1" dirty="0"/>
          </a:p>
          <a:p>
            <a:pPr lvl="2" indent="-345032">
              <a:buSzPts val="1834"/>
              <a:buFont typeface="Arial"/>
              <a:buChar char="-"/>
            </a:pPr>
            <a:r>
              <a:rPr lang="en-CA" sz="1833" dirty="0"/>
              <a:t>Liên </a:t>
            </a:r>
            <a:r>
              <a:rPr lang="en-CA" sz="1833" dirty="0" err="1"/>
              <a:t>tục</a:t>
            </a:r>
            <a:r>
              <a:rPr lang="en-CA" sz="1833" dirty="0"/>
              <a:t> </a:t>
            </a:r>
            <a:r>
              <a:rPr lang="en-CA" sz="1833" dirty="0" err="1"/>
              <a:t>theo</a:t>
            </a:r>
            <a:r>
              <a:rPr lang="en-CA" sz="1833" dirty="0"/>
              <a:t> </a:t>
            </a:r>
            <a:r>
              <a:rPr lang="en-CA" sz="1833" dirty="0" err="1"/>
              <a:t>dõi</a:t>
            </a:r>
            <a:r>
              <a:rPr lang="en-CA" sz="1833" dirty="0"/>
              <a:t> </a:t>
            </a:r>
            <a:r>
              <a:rPr lang="en-CA" sz="1833" dirty="0" err="1"/>
              <a:t>các</a:t>
            </a:r>
            <a:r>
              <a:rPr lang="en-CA" sz="1833" dirty="0"/>
              <a:t> </a:t>
            </a:r>
            <a:r>
              <a:rPr lang="en-CA" sz="1833" dirty="0" err="1"/>
              <a:t>lỗ</a:t>
            </a:r>
            <a:r>
              <a:rPr lang="en-CA" sz="1833" dirty="0"/>
              <a:t> </a:t>
            </a:r>
            <a:r>
              <a:rPr lang="en-CA" sz="1833" dirty="0" err="1"/>
              <a:t>hổng</a:t>
            </a:r>
            <a:r>
              <a:rPr lang="en-CA" sz="1833" dirty="0"/>
              <a:t>, </a:t>
            </a:r>
            <a:r>
              <a:rPr lang="en-CA" sz="1833" dirty="0" err="1"/>
              <a:t>nhận</a:t>
            </a:r>
            <a:r>
              <a:rPr lang="en-CA" sz="1833" dirty="0"/>
              <a:t> </a:t>
            </a:r>
            <a:r>
              <a:rPr lang="en-CA" sz="1833" dirty="0" err="1"/>
              <a:t>diện</a:t>
            </a:r>
            <a:r>
              <a:rPr lang="en-CA" sz="1833" dirty="0"/>
              <a:t> </a:t>
            </a:r>
            <a:r>
              <a:rPr lang="en-CA" sz="1833" dirty="0" err="1"/>
              <a:t>hoạt</a:t>
            </a:r>
            <a:r>
              <a:rPr lang="en-CA" sz="1833" dirty="0"/>
              <a:t> </a:t>
            </a:r>
            <a:r>
              <a:rPr lang="en-CA" sz="1833" dirty="0" err="1"/>
              <a:t>động</a:t>
            </a:r>
            <a:r>
              <a:rPr lang="en-CA" sz="1833" dirty="0"/>
              <a:t> </a:t>
            </a:r>
            <a:r>
              <a:rPr lang="en-CA" sz="1833" dirty="0" err="1"/>
              <a:t>đáng</a:t>
            </a:r>
            <a:r>
              <a:rPr lang="en-CA" sz="1833" dirty="0"/>
              <a:t> </a:t>
            </a:r>
            <a:r>
              <a:rPr lang="en-CA" sz="1833" dirty="0" err="1"/>
              <a:t>ngờ</a:t>
            </a:r>
            <a:r>
              <a:rPr lang="en-CA" sz="1833" dirty="0"/>
              <a:t>, </a:t>
            </a:r>
            <a:r>
              <a:rPr lang="en-CA" sz="1833" dirty="0" err="1"/>
              <a:t>và</a:t>
            </a:r>
            <a:r>
              <a:rPr lang="en-CA" sz="1833" dirty="0"/>
              <a:t> </a:t>
            </a:r>
            <a:r>
              <a:rPr lang="en-CA" sz="1833" dirty="0" err="1"/>
              <a:t>cho</a:t>
            </a:r>
            <a:r>
              <a:rPr lang="en-CA" sz="1833" dirty="0"/>
              <a:t> </a:t>
            </a:r>
            <a:r>
              <a:rPr lang="en-CA" sz="1833" dirty="0" err="1"/>
              <a:t>phép</a:t>
            </a:r>
            <a:r>
              <a:rPr lang="en-CA" sz="1833" dirty="0"/>
              <a:t> </a:t>
            </a:r>
            <a:r>
              <a:rPr lang="en-CA" sz="1833" dirty="0" err="1"/>
              <a:t>cập</a:t>
            </a:r>
            <a:r>
              <a:rPr lang="en-CA" sz="1833" dirty="0"/>
              <a:t> </a:t>
            </a:r>
            <a:r>
              <a:rPr lang="en-CA" sz="1833" dirty="0" err="1"/>
              <a:t>nhật</a:t>
            </a:r>
            <a:r>
              <a:rPr lang="en-CA" sz="1833" dirty="0"/>
              <a:t> </a:t>
            </a:r>
            <a:r>
              <a:rPr lang="en-CA" sz="1833" dirty="0" err="1"/>
              <a:t>từ</a:t>
            </a:r>
            <a:r>
              <a:rPr lang="en-CA" sz="1833" dirty="0"/>
              <a:t> </a:t>
            </a:r>
            <a:r>
              <a:rPr lang="en-CA" sz="1833" dirty="0" err="1"/>
              <a:t>xa</a:t>
            </a:r>
            <a:r>
              <a:rPr lang="en-CA" sz="1833" dirty="0"/>
              <a:t> </a:t>
            </a:r>
            <a:r>
              <a:rPr lang="en-CA" sz="1833" dirty="0" err="1"/>
              <a:t>để</a:t>
            </a:r>
            <a:r>
              <a:rPr lang="en-CA" sz="1833" dirty="0"/>
              <a:t> </a:t>
            </a:r>
            <a:r>
              <a:rPr lang="en-CA" sz="1833" dirty="0" err="1"/>
              <a:t>giữ</a:t>
            </a:r>
            <a:r>
              <a:rPr lang="en-CA" sz="1833" dirty="0"/>
              <a:t> </a:t>
            </a:r>
            <a:r>
              <a:rPr lang="en-CA" sz="1833" dirty="0" err="1"/>
              <a:t>thiết</a:t>
            </a:r>
            <a:r>
              <a:rPr lang="en-CA" sz="1833" dirty="0"/>
              <a:t> </a:t>
            </a:r>
            <a:r>
              <a:rPr lang="en-CA" sz="1833" dirty="0" err="1"/>
              <a:t>bị</a:t>
            </a:r>
            <a:r>
              <a:rPr lang="en-CA" sz="1833" dirty="0"/>
              <a:t> </a:t>
            </a:r>
            <a:r>
              <a:rPr lang="en-CA" sz="1833" dirty="0" err="1"/>
              <a:t>được</a:t>
            </a:r>
            <a:r>
              <a:rPr lang="en-CA" sz="1833" dirty="0"/>
              <a:t> </a:t>
            </a:r>
            <a:r>
              <a:rPr lang="en-CA" sz="1833" dirty="0" err="1"/>
              <a:t>bảo</a:t>
            </a:r>
            <a:r>
              <a:rPr lang="en-CA" sz="1833" dirty="0"/>
              <a:t> </a:t>
            </a:r>
            <a:r>
              <a:rPr lang="en-CA" sz="1833" dirty="0" err="1"/>
              <a:t>vệ</a:t>
            </a:r>
            <a:r>
              <a:rPr lang="en-CA" sz="1833" dirty="0"/>
              <a:t> </a:t>
            </a:r>
            <a:r>
              <a:rPr lang="en-CA" sz="1833" dirty="0" err="1"/>
              <a:t>khỏi</a:t>
            </a:r>
            <a:r>
              <a:rPr lang="en-CA" sz="1833" dirty="0"/>
              <a:t> </a:t>
            </a:r>
            <a:r>
              <a:rPr lang="en-CA" sz="1833" dirty="0" err="1"/>
              <a:t>các</a:t>
            </a:r>
            <a:r>
              <a:rPr lang="en-CA" sz="1833" dirty="0"/>
              <a:t> </a:t>
            </a:r>
            <a:r>
              <a:rPr lang="en-CA" sz="1833" dirty="0" err="1"/>
              <a:t>mối</a:t>
            </a:r>
            <a:r>
              <a:rPr lang="en-CA" sz="1833" dirty="0"/>
              <a:t> </a:t>
            </a:r>
            <a:r>
              <a:rPr lang="en-CA" sz="1833" dirty="0" err="1"/>
              <a:t>đe</a:t>
            </a:r>
            <a:r>
              <a:rPr lang="en-CA" sz="1833" dirty="0"/>
              <a:t> </a:t>
            </a:r>
            <a:r>
              <a:rPr lang="en-CA" sz="1833" dirty="0" err="1"/>
              <a:t>dọa</a:t>
            </a:r>
            <a:r>
              <a:rPr lang="en-CA" sz="1833" dirty="0"/>
              <a:t> an </a:t>
            </a:r>
            <a:r>
              <a:rPr lang="en-CA" sz="1833" dirty="0" err="1"/>
              <a:t>ninh</a:t>
            </a:r>
            <a:r>
              <a:rPr lang="en-CA" sz="1833" dirty="0"/>
              <a:t> </a:t>
            </a:r>
            <a:r>
              <a:rPr lang="en-CA" sz="1833" dirty="0" err="1"/>
              <a:t>mạng</a:t>
            </a:r>
            <a:r>
              <a:rPr lang="en-CA" sz="1833" dirty="0"/>
              <a:t>. </a:t>
            </a:r>
            <a:endParaRPr sz="1833" dirty="0"/>
          </a:p>
          <a:p>
            <a:pPr marL="914400" lvl="0" indent="0" algn="l" rtl="0">
              <a:spcBef>
                <a:spcPts val="1200"/>
              </a:spcBef>
              <a:spcAft>
                <a:spcPts val="0"/>
              </a:spcAft>
              <a:buNone/>
            </a:pPr>
            <a:endParaRPr sz="1833" dirty="0"/>
          </a:p>
          <a:p>
            <a:pPr marL="914400" lvl="1" indent="-345032" algn="l" rtl="0">
              <a:spcBef>
                <a:spcPts val="1200"/>
              </a:spcBef>
              <a:spcAft>
                <a:spcPts val="0"/>
              </a:spcAft>
              <a:buSzPts val="1834"/>
              <a:buFont typeface="Arial"/>
              <a:buChar char="-"/>
            </a:pPr>
            <a:r>
              <a:rPr lang="en-CA" sz="1833" b="1" dirty="0" err="1"/>
              <a:t>Cập</a:t>
            </a:r>
            <a:r>
              <a:rPr lang="en-CA" sz="1833" b="1" dirty="0"/>
              <a:t> </a:t>
            </a:r>
            <a:r>
              <a:rPr lang="en-CA" sz="1833" b="1" dirty="0" err="1"/>
              <a:t>nhật</a:t>
            </a:r>
            <a:r>
              <a:rPr lang="en-CA" sz="1833" b="1" dirty="0"/>
              <a:t> </a:t>
            </a:r>
            <a:r>
              <a:rPr lang="en-CA" sz="1833" b="1" dirty="0" err="1"/>
              <a:t>thiết</a:t>
            </a:r>
            <a:r>
              <a:rPr lang="en-CA" sz="1833" b="1" dirty="0"/>
              <a:t> </a:t>
            </a:r>
            <a:r>
              <a:rPr lang="en-CA" sz="1833" b="1" dirty="0" err="1"/>
              <a:t>bị</a:t>
            </a:r>
            <a:r>
              <a:rPr lang="en-CA" sz="1833" dirty="0"/>
              <a:t> </a:t>
            </a:r>
          </a:p>
          <a:p>
            <a:pPr lvl="2" indent="-345032">
              <a:spcBef>
                <a:spcPts val="1200"/>
              </a:spcBef>
              <a:buSzPts val="1834"/>
              <a:buFont typeface="Arial"/>
              <a:buChar char="-"/>
            </a:pPr>
            <a:r>
              <a:rPr lang="en-CA" sz="1833" dirty="0" err="1"/>
              <a:t>Quản</a:t>
            </a:r>
            <a:r>
              <a:rPr lang="en-CA" sz="1833" dirty="0"/>
              <a:t> </a:t>
            </a:r>
            <a:r>
              <a:rPr lang="en-CA" sz="1833" dirty="0" err="1"/>
              <a:t>lý</a:t>
            </a:r>
            <a:r>
              <a:rPr lang="en-CA" sz="1833" dirty="0"/>
              <a:t> </a:t>
            </a:r>
            <a:r>
              <a:rPr lang="en-CA" sz="1833" dirty="0" err="1"/>
              <a:t>Thiết</a:t>
            </a:r>
            <a:r>
              <a:rPr lang="en-CA" sz="1833" dirty="0"/>
              <a:t> </a:t>
            </a:r>
            <a:r>
              <a:rPr lang="en-CA" sz="1833" dirty="0" err="1"/>
              <a:t>bị</a:t>
            </a:r>
            <a:r>
              <a:rPr lang="en-CA" sz="1833" dirty="0"/>
              <a:t> IoT </a:t>
            </a:r>
            <a:r>
              <a:rPr lang="en-CA" sz="1833" dirty="0" err="1"/>
              <a:t>giữ</a:t>
            </a:r>
            <a:r>
              <a:rPr lang="en-CA" sz="1833" dirty="0"/>
              <a:t> </a:t>
            </a:r>
            <a:r>
              <a:rPr lang="en-CA" sz="1833" dirty="0" err="1"/>
              <a:t>cho</a:t>
            </a:r>
            <a:r>
              <a:rPr lang="en-CA" sz="1833" dirty="0"/>
              <a:t> </a:t>
            </a:r>
            <a:r>
              <a:rPr lang="en-CA" sz="1833" dirty="0" err="1"/>
              <a:t>các</a:t>
            </a:r>
            <a:r>
              <a:rPr lang="en-CA" sz="1833" dirty="0"/>
              <a:t> </a:t>
            </a:r>
            <a:r>
              <a:rPr lang="en-CA" sz="1833" dirty="0" err="1"/>
              <a:t>thiết</a:t>
            </a:r>
            <a:r>
              <a:rPr lang="en-CA" sz="1833" dirty="0"/>
              <a:t> </a:t>
            </a:r>
            <a:r>
              <a:rPr lang="en-CA" sz="1833" dirty="0" err="1"/>
              <a:t>bị</a:t>
            </a:r>
            <a:r>
              <a:rPr lang="en-CA" sz="1833" dirty="0"/>
              <a:t> </a:t>
            </a:r>
            <a:r>
              <a:rPr lang="en-CA" sz="1833" dirty="0" err="1"/>
              <a:t>được</a:t>
            </a:r>
            <a:r>
              <a:rPr lang="en-CA" sz="1833" dirty="0"/>
              <a:t> </a:t>
            </a:r>
            <a:r>
              <a:rPr lang="en-CA" sz="1833" dirty="0" err="1"/>
              <a:t>cập</a:t>
            </a:r>
            <a:r>
              <a:rPr lang="en-CA" sz="1833" dirty="0"/>
              <a:t> </a:t>
            </a:r>
            <a:r>
              <a:rPr lang="en-CA" sz="1833" dirty="0" err="1"/>
              <a:t>nhật</a:t>
            </a:r>
            <a:r>
              <a:rPr lang="en-CA" sz="1833" dirty="0"/>
              <a:t> </a:t>
            </a:r>
            <a:r>
              <a:rPr lang="en-CA" sz="1833" dirty="0" err="1"/>
              <a:t>bằng</a:t>
            </a:r>
            <a:r>
              <a:rPr lang="en-CA" sz="1833" dirty="0"/>
              <a:t> </a:t>
            </a:r>
            <a:r>
              <a:rPr lang="en-CA" sz="1833" dirty="0" err="1"/>
              <a:t>cách</a:t>
            </a:r>
            <a:r>
              <a:rPr lang="en-CA" sz="1833" dirty="0"/>
              <a:t> </a:t>
            </a:r>
            <a:r>
              <a:rPr lang="en-CA" sz="1833" dirty="0" err="1"/>
              <a:t>triển</a:t>
            </a:r>
            <a:r>
              <a:rPr lang="en-CA" sz="1833" dirty="0"/>
              <a:t> </a:t>
            </a:r>
            <a:r>
              <a:rPr lang="en-CA" sz="1833" dirty="0" err="1"/>
              <a:t>khai</a:t>
            </a:r>
            <a:r>
              <a:rPr lang="en-CA" sz="1833" dirty="0"/>
              <a:t> </a:t>
            </a:r>
            <a:r>
              <a:rPr lang="en-CA" sz="1833" dirty="0" err="1"/>
              <a:t>từ</a:t>
            </a:r>
            <a:r>
              <a:rPr lang="en-CA" sz="1833" dirty="0"/>
              <a:t> </a:t>
            </a:r>
            <a:r>
              <a:rPr lang="en-CA" sz="1833" dirty="0" err="1"/>
              <a:t>xa</a:t>
            </a:r>
            <a:r>
              <a:rPr lang="en-CA" sz="1833" dirty="0"/>
              <a:t> </a:t>
            </a:r>
            <a:r>
              <a:rPr lang="en-CA" sz="1833" dirty="0" err="1"/>
              <a:t>các</a:t>
            </a:r>
            <a:r>
              <a:rPr lang="en-CA" sz="1833" dirty="0"/>
              <a:t> </a:t>
            </a:r>
            <a:r>
              <a:rPr lang="en-CA" sz="1833" dirty="0" err="1"/>
              <a:t>bản</a:t>
            </a:r>
            <a:r>
              <a:rPr lang="en-CA" sz="1833" dirty="0"/>
              <a:t> </a:t>
            </a:r>
            <a:r>
              <a:rPr lang="en-CA" sz="1833" dirty="0" err="1"/>
              <a:t>cập</a:t>
            </a:r>
            <a:r>
              <a:rPr lang="en-CA" sz="1833" dirty="0"/>
              <a:t> </a:t>
            </a:r>
            <a:r>
              <a:rPr lang="en-CA" sz="1833" dirty="0" err="1"/>
              <a:t>nhật</a:t>
            </a:r>
            <a:r>
              <a:rPr lang="en-CA" sz="1833" dirty="0"/>
              <a:t> </a:t>
            </a:r>
            <a:r>
              <a:rPr lang="en-CA" sz="1833" dirty="0" err="1"/>
              <a:t>phần</a:t>
            </a:r>
            <a:r>
              <a:rPr lang="en-CA" sz="1833" dirty="0"/>
              <a:t> </a:t>
            </a:r>
            <a:r>
              <a:rPr lang="en-CA" sz="1833" dirty="0" err="1"/>
              <a:t>mềm</a:t>
            </a:r>
            <a:r>
              <a:rPr lang="en-CA" sz="1833" dirty="0"/>
              <a:t> </a:t>
            </a:r>
            <a:r>
              <a:rPr lang="en-CA" sz="1833" dirty="0" err="1"/>
              <a:t>hoặc</a:t>
            </a:r>
            <a:r>
              <a:rPr lang="en-CA" sz="1833" dirty="0"/>
              <a:t> firmware </a:t>
            </a:r>
            <a:r>
              <a:rPr lang="en-CA" sz="1833" dirty="0" err="1"/>
              <a:t>mới</a:t>
            </a:r>
            <a:r>
              <a:rPr lang="en-CA" sz="1833" dirty="0"/>
              <a:t> </a:t>
            </a:r>
            <a:r>
              <a:rPr lang="en-CA" sz="1833" dirty="0" err="1"/>
              <a:t>trên</a:t>
            </a:r>
            <a:r>
              <a:rPr lang="en-CA" sz="1833" dirty="0"/>
              <a:t> </a:t>
            </a:r>
            <a:r>
              <a:rPr lang="en-CA" sz="1833" dirty="0" err="1"/>
              <a:t>toàn</a:t>
            </a:r>
            <a:r>
              <a:rPr lang="en-CA" sz="1833" dirty="0"/>
              <a:t> </a:t>
            </a:r>
            <a:r>
              <a:rPr lang="en-CA" sz="1833" dirty="0" err="1"/>
              <a:t>bộ</a:t>
            </a:r>
            <a:r>
              <a:rPr lang="en-CA" sz="1833" dirty="0"/>
              <a:t> </a:t>
            </a:r>
            <a:r>
              <a:rPr lang="en-CA" sz="1833" dirty="0" err="1"/>
              <a:t>mạng</a:t>
            </a:r>
            <a:r>
              <a:rPr lang="en-CA" sz="1833" dirty="0"/>
              <a:t> </a:t>
            </a:r>
            <a:r>
              <a:rPr lang="en-CA" sz="1833" dirty="0" err="1"/>
              <a:t>lưới</a:t>
            </a:r>
            <a:r>
              <a:rPr lang="en-CA" sz="1833" dirty="0"/>
              <a:t> </a:t>
            </a:r>
            <a:r>
              <a:rPr lang="en-CA" sz="1833" dirty="0" err="1"/>
              <a:t>hoặc</a:t>
            </a:r>
            <a:r>
              <a:rPr lang="en-CA" sz="1833" dirty="0"/>
              <a:t> </a:t>
            </a:r>
            <a:r>
              <a:rPr lang="en-CA" sz="1833" dirty="0" err="1"/>
              <a:t>nhóm</a:t>
            </a:r>
            <a:r>
              <a:rPr lang="en-CA" sz="1833" dirty="0"/>
              <a:t> </a:t>
            </a:r>
            <a:r>
              <a:rPr lang="en-CA" sz="1833" dirty="0" err="1"/>
              <a:t>thiết</a:t>
            </a:r>
            <a:r>
              <a:rPr lang="en-CA" sz="1833" dirty="0"/>
              <a:t> </a:t>
            </a:r>
            <a:r>
              <a:rPr lang="en-CA" sz="1833" dirty="0" err="1"/>
              <a:t>bị</a:t>
            </a:r>
            <a:r>
              <a:rPr lang="en-CA" sz="1833" dirty="0"/>
              <a:t> </a:t>
            </a:r>
            <a:r>
              <a:rPr lang="en-CA" sz="1833" dirty="0" err="1"/>
              <a:t>cụ</a:t>
            </a:r>
            <a:r>
              <a:rPr lang="en-CA" sz="1833" dirty="0"/>
              <a:t> </a:t>
            </a:r>
            <a:r>
              <a:rPr lang="en-CA" sz="1833" dirty="0" err="1"/>
              <a:t>thể</a:t>
            </a:r>
            <a:r>
              <a:rPr lang="en-CA" sz="1833" dirty="0"/>
              <a:t>.</a:t>
            </a:r>
            <a:endParaRPr sz="1833" dirty="0"/>
          </a:p>
          <a:p>
            <a:pPr marL="0" lvl="0" indent="0" algn="l" rtl="0">
              <a:spcBef>
                <a:spcPts val="1200"/>
              </a:spcBef>
              <a:spcAft>
                <a:spcPts val="1200"/>
              </a:spcAft>
              <a:buNone/>
            </a:pPr>
            <a:endParaRPr sz="260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a:t>Quản lý thiết bị</a:t>
            </a:r>
            <a:endParaRPr/>
          </a:p>
        </p:txBody>
      </p:sp>
      <p:sp>
        <p:nvSpPr>
          <p:cNvPr id="96" name="Google Shape;96;p19"/>
          <p:cNvSpPr txBox="1">
            <a:spLocks noGrp="1"/>
          </p:cNvSpPr>
          <p:nvPr>
            <p:ph type="body" idx="1"/>
          </p:nvPr>
        </p:nvSpPr>
        <p:spPr>
          <a:xfrm>
            <a:off x="311700" y="1152475"/>
            <a:ext cx="8520600" cy="38745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Clr>
                <a:schemeClr val="dk2"/>
              </a:buClr>
              <a:buSzPts val="2100"/>
              <a:buChar char="-"/>
            </a:pPr>
            <a:r>
              <a:rPr lang="en-CA" sz="2100" b="1" dirty="0" err="1">
                <a:solidFill>
                  <a:schemeClr val="dk2"/>
                </a:solidFill>
              </a:rPr>
              <a:t>Các</a:t>
            </a:r>
            <a:r>
              <a:rPr lang="en-CA" sz="2100" b="1" dirty="0">
                <a:solidFill>
                  <a:schemeClr val="dk2"/>
                </a:solidFill>
              </a:rPr>
              <a:t> </a:t>
            </a:r>
            <a:r>
              <a:rPr lang="en-CA" sz="2100" b="1" dirty="0" err="1">
                <a:solidFill>
                  <a:schemeClr val="dk2"/>
                </a:solidFill>
              </a:rPr>
              <a:t>chức</a:t>
            </a:r>
            <a:r>
              <a:rPr lang="en-CA" sz="2100" b="1" dirty="0">
                <a:solidFill>
                  <a:schemeClr val="dk2"/>
                </a:solidFill>
              </a:rPr>
              <a:t> </a:t>
            </a:r>
            <a:r>
              <a:rPr lang="en-CA" sz="2100" b="1" dirty="0" err="1">
                <a:solidFill>
                  <a:schemeClr val="dk2"/>
                </a:solidFill>
              </a:rPr>
              <a:t>năng</a:t>
            </a:r>
            <a:r>
              <a:rPr lang="en-CA" sz="2100" b="1" dirty="0">
                <a:solidFill>
                  <a:schemeClr val="dk2"/>
                </a:solidFill>
              </a:rPr>
              <a:t> </a:t>
            </a:r>
            <a:r>
              <a:rPr lang="en-CA" sz="2100" b="1" dirty="0" err="1">
                <a:solidFill>
                  <a:schemeClr val="dk2"/>
                </a:solidFill>
              </a:rPr>
              <a:t>chính</a:t>
            </a:r>
            <a:r>
              <a:rPr lang="en-CA" sz="2100" b="1" dirty="0">
                <a:solidFill>
                  <a:schemeClr val="dk2"/>
                </a:solidFill>
              </a:rPr>
              <a:t> </a:t>
            </a:r>
            <a:r>
              <a:rPr lang="en-CA" sz="2100" b="1" dirty="0" err="1">
                <a:solidFill>
                  <a:schemeClr val="dk2"/>
                </a:solidFill>
              </a:rPr>
              <a:t>của</a:t>
            </a:r>
            <a:r>
              <a:rPr lang="en-CA" sz="2100" b="1" dirty="0">
                <a:solidFill>
                  <a:schemeClr val="dk2"/>
                </a:solidFill>
              </a:rPr>
              <a:t> </a:t>
            </a:r>
            <a:r>
              <a:rPr lang="en-CA" sz="2100" b="1" dirty="0" err="1">
                <a:solidFill>
                  <a:schemeClr val="dk2"/>
                </a:solidFill>
              </a:rPr>
              <a:t>khối</a:t>
            </a:r>
            <a:r>
              <a:rPr lang="en-CA" sz="2100" b="1" dirty="0">
                <a:solidFill>
                  <a:schemeClr val="dk2"/>
                </a:solidFill>
              </a:rPr>
              <a:t> </a:t>
            </a:r>
            <a:r>
              <a:rPr lang="en-CA" sz="2100" b="1" dirty="0" err="1">
                <a:solidFill>
                  <a:schemeClr val="dk2"/>
                </a:solidFill>
              </a:rPr>
              <a:t>quản</a:t>
            </a:r>
            <a:r>
              <a:rPr lang="en-CA" sz="2100" b="1" dirty="0">
                <a:solidFill>
                  <a:schemeClr val="dk2"/>
                </a:solidFill>
              </a:rPr>
              <a:t> </a:t>
            </a:r>
            <a:r>
              <a:rPr lang="en-CA" sz="2100" b="1" dirty="0" err="1">
                <a:solidFill>
                  <a:schemeClr val="dk2"/>
                </a:solidFill>
              </a:rPr>
              <a:t>lý</a:t>
            </a:r>
            <a:r>
              <a:rPr lang="en-CA" sz="2100" b="1" dirty="0">
                <a:solidFill>
                  <a:schemeClr val="dk2"/>
                </a:solidFill>
              </a:rPr>
              <a:t> </a:t>
            </a:r>
            <a:r>
              <a:rPr lang="en-CA" sz="2100" b="1" dirty="0" err="1">
                <a:solidFill>
                  <a:schemeClr val="dk2"/>
                </a:solidFill>
              </a:rPr>
              <a:t>thiết</a:t>
            </a:r>
            <a:r>
              <a:rPr lang="en-CA" sz="2100" b="1" dirty="0">
                <a:solidFill>
                  <a:schemeClr val="dk2"/>
                </a:solidFill>
              </a:rPr>
              <a:t> </a:t>
            </a:r>
            <a:r>
              <a:rPr lang="en-CA" sz="2100" b="1" dirty="0" err="1">
                <a:solidFill>
                  <a:schemeClr val="dk2"/>
                </a:solidFill>
              </a:rPr>
              <a:t>bị</a:t>
            </a:r>
            <a:r>
              <a:rPr lang="en-CA" sz="2100" b="1" dirty="0">
                <a:solidFill>
                  <a:schemeClr val="dk2"/>
                </a:solidFill>
              </a:rPr>
              <a:t>:</a:t>
            </a:r>
            <a:endParaRPr sz="2100" dirty="0"/>
          </a:p>
          <a:p>
            <a:pPr marL="914400" lvl="1" indent="-342900" algn="l" rtl="0">
              <a:spcBef>
                <a:spcPts val="0"/>
              </a:spcBef>
              <a:spcAft>
                <a:spcPts val="0"/>
              </a:spcAft>
              <a:buSzPts val="1800"/>
              <a:buFont typeface="Arial"/>
              <a:buChar char="-"/>
            </a:pPr>
            <a:r>
              <a:rPr lang="en-CA" sz="1800" b="1" dirty="0" err="1"/>
              <a:t>Tích</a:t>
            </a:r>
            <a:r>
              <a:rPr lang="en-CA" sz="1800" b="1" dirty="0"/>
              <a:t> </a:t>
            </a:r>
            <a:r>
              <a:rPr lang="en-CA" sz="1800" b="1" dirty="0" err="1"/>
              <a:t>hợp</a:t>
            </a:r>
            <a:r>
              <a:rPr lang="en-CA" sz="1800" b="1" dirty="0"/>
              <a:t> </a:t>
            </a:r>
            <a:r>
              <a:rPr lang="en-CA" sz="1800" b="1" dirty="0" err="1"/>
              <a:t>dữ</a:t>
            </a:r>
            <a:r>
              <a:rPr lang="en-CA" sz="1800" b="1" dirty="0"/>
              <a:t> </a:t>
            </a:r>
            <a:r>
              <a:rPr lang="en-CA" sz="1800" b="1" dirty="0" err="1"/>
              <a:t>liệu</a:t>
            </a:r>
            <a:r>
              <a:rPr lang="en-CA" sz="1800" dirty="0"/>
              <a:t> </a:t>
            </a:r>
          </a:p>
          <a:p>
            <a:pPr lvl="2" indent="-342900">
              <a:buSzPts val="1800"/>
              <a:buFont typeface="Arial"/>
              <a:buChar char="-"/>
            </a:pPr>
            <a:r>
              <a:rPr lang="en-CA" sz="1800" dirty="0"/>
              <a:t>Thu </a:t>
            </a:r>
            <a:r>
              <a:rPr lang="en-CA" sz="1800" dirty="0" err="1"/>
              <a:t>thập</a:t>
            </a:r>
            <a:r>
              <a:rPr lang="en-CA" sz="1800" dirty="0"/>
              <a:t> </a:t>
            </a:r>
            <a:r>
              <a:rPr lang="en-CA" sz="1800" dirty="0" err="1"/>
              <a:t>thông</a:t>
            </a:r>
            <a:r>
              <a:rPr lang="en-CA" sz="1800" dirty="0"/>
              <a:t> tin </a:t>
            </a:r>
            <a:r>
              <a:rPr lang="en-CA" sz="1800" dirty="0" err="1"/>
              <a:t>từ</a:t>
            </a:r>
            <a:r>
              <a:rPr lang="en-CA" sz="1800" dirty="0"/>
              <a:t> </a:t>
            </a:r>
            <a:r>
              <a:rPr lang="en-CA" sz="1800" dirty="0" err="1"/>
              <a:t>tất</a:t>
            </a:r>
            <a:r>
              <a:rPr lang="en-CA" sz="1800" dirty="0"/>
              <a:t> </a:t>
            </a:r>
            <a:r>
              <a:rPr lang="en-CA" sz="1800" dirty="0" err="1"/>
              <a:t>cả</a:t>
            </a:r>
            <a:r>
              <a:rPr lang="en-CA" sz="1800" dirty="0"/>
              <a:t> </a:t>
            </a:r>
            <a:r>
              <a:rPr lang="en-CA" sz="1800" dirty="0" err="1"/>
              <a:t>các</a:t>
            </a:r>
            <a:r>
              <a:rPr lang="en-CA" sz="1800" dirty="0"/>
              <a:t> </a:t>
            </a:r>
            <a:r>
              <a:rPr lang="en-CA" sz="1800" dirty="0" err="1"/>
              <a:t>thiết</a:t>
            </a:r>
            <a:r>
              <a:rPr lang="en-CA" sz="1800" dirty="0"/>
              <a:t> </a:t>
            </a:r>
            <a:r>
              <a:rPr lang="en-CA" sz="1800" dirty="0" err="1"/>
              <a:t>bị</a:t>
            </a:r>
            <a:r>
              <a:rPr lang="en-CA" sz="1800" dirty="0"/>
              <a:t>, </a:t>
            </a:r>
            <a:r>
              <a:rPr lang="en-CA" sz="1800" dirty="0" err="1"/>
              <a:t>chuyển</a:t>
            </a:r>
            <a:r>
              <a:rPr lang="en-CA" sz="1800" dirty="0"/>
              <a:t> </a:t>
            </a:r>
            <a:r>
              <a:rPr lang="en-CA" sz="1800" dirty="0" err="1"/>
              <a:t>đổi</a:t>
            </a:r>
            <a:r>
              <a:rPr lang="en-CA" sz="1800" dirty="0"/>
              <a:t> </a:t>
            </a:r>
            <a:r>
              <a:rPr lang="en-CA" sz="1800" dirty="0" err="1"/>
              <a:t>nó</a:t>
            </a:r>
            <a:r>
              <a:rPr lang="en-CA" sz="1800" dirty="0"/>
              <a:t> </a:t>
            </a:r>
            <a:r>
              <a:rPr lang="en-CA" sz="1800" dirty="0" err="1"/>
              <a:t>thành</a:t>
            </a:r>
            <a:r>
              <a:rPr lang="en-CA" sz="1800" dirty="0"/>
              <a:t> </a:t>
            </a:r>
            <a:r>
              <a:rPr lang="en-CA" sz="1800" dirty="0" err="1"/>
              <a:t>một</a:t>
            </a:r>
            <a:r>
              <a:rPr lang="en-CA" sz="1800" dirty="0"/>
              <a:t> </a:t>
            </a:r>
            <a:r>
              <a:rPr lang="en-CA" sz="1800" dirty="0" err="1"/>
              <a:t>định</a:t>
            </a:r>
            <a:r>
              <a:rPr lang="en-CA" sz="1800" dirty="0"/>
              <a:t> </a:t>
            </a:r>
            <a:r>
              <a:rPr lang="en-CA" sz="1800" dirty="0" err="1"/>
              <a:t>dạng</a:t>
            </a:r>
            <a:r>
              <a:rPr lang="en-CA" sz="1800" dirty="0"/>
              <a:t> </a:t>
            </a:r>
            <a:r>
              <a:rPr lang="en-CA" sz="1800" dirty="0" err="1"/>
              <a:t>thống</a:t>
            </a:r>
            <a:r>
              <a:rPr lang="en-CA" sz="1800" dirty="0"/>
              <a:t> </a:t>
            </a:r>
            <a:r>
              <a:rPr lang="en-CA" sz="1800" dirty="0" err="1"/>
              <a:t>nhất</a:t>
            </a:r>
            <a:r>
              <a:rPr lang="en-CA" sz="1800" dirty="0"/>
              <a:t> </a:t>
            </a:r>
            <a:r>
              <a:rPr lang="en-CA" sz="1800" dirty="0" err="1"/>
              <a:t>và</a:t>
            </a:r>
            <a:r>
              <a:rPr lang="en-CA" sz="1800" dirty="0"/>
              <a:t> </a:t>
            </a:r>
            <a:r>
              <a:rPr lang="en-CA" sz="1800" dirty="0" err="1"/>
              <a:t>lưu</a:t>
            </a:r>
            <a:r>
              <a:rPr lang="en-CA" sz="1800" dirty="0"/>
              <a:t> </a:t>
            </a:r>
            <a:r>
              <a:rPr lang="en-CA" sz="1800" dirty="0" err="1"/>
              <a:t>trữ</a:t>
            </a:r>
            <a:r>
              <a:rPr lang="en-CA" sz="1800" dirty="0"/>
              <a:t>. </a:t>
            </a:r>
            <a:endParaRPr sz="1800" dirty="0"/>
          </a:p>
          <a:p>
            <a:pPr marL="914400" lvl="0" indent="0" algn="l" rtl="0">
              <a:spcBef>
                <a:spcPts val="1200"/>
              </a:spcBef>
              <a:spcAft>
                <a:spcPts val="0"/>
              </a:spcAft>
              <a:buNone/>
            </a:pPr>
            <a:endParaRPr dirty="0"/>
          </a:p>
          <a:p>
            <a:pPr marL="914400" lvl="1" indent="-342900" algn="l" rtl="0">
              <a:spcBef>
                <a:spcPts val="1200"/>
              </a:spcBef>
              <a:spcAft>
                <a:spcPts val="0"/>
              </a:spcAft>
              <a:buSzPts val="1800"/>
              <a:buFont typeface="Arial"/>
              <a:buChar char="-"/>
            </a:pPr>
            <a:r>
              <a:rPr lang="en-CA" sz="1800" b="1" dirty="0" err="1"/>
              <a:t>Ngưng</a:t>
            </a:r>
            <a:r>
              <a:rPr lang="en-CA" sz="1800" b="1" dirty="0"/>
              <a:t> </a:t>
            </a:r>
            <a:r>
              <a:rPr lang="en-CA" sz="1800" b="1" dirty="0" err="1"/>
              <a:t>hoạt</a:t>
            </a:r>
            <a:r>
              <a:rPr lang="en-CA" sz="1800" b="1" dirty="0"/>
              <a:t> </a:t>
            </a:r>
            <a:r>
              <a:rPr lang="en-CA" sz="1800" b="1" dirty="0" err="1"/>
              <a:t>động</a:t>
            </a:r>
            <a:r>
              <a:rPr lang="en-CA" sz="1800" b="1" dirty="0"/>
              <a:t> </a:t>
            </a:r>
            <a:r>
              <a:rPr lang="en-CA" sz="1800" b="1" dirty="0" err="1"/>
              <a:t>thiết</a:t>
            </a:r>
            <a:r>
              <a:rPr lang="en-CA" sz="1800" b="1" dirty="0"/>
              <a:t> </a:t>
            </a:r>
            <a:r>
              <a:rPr lang="en-CA" sz="1800" b="1" dirty="0" err="1"/>
              <a:t>bị</a:t>
            </a:r>
            <a:endParaRPr lang="en-CA" sz="1800" b="1" dirty="0"/>
          </a:p>
          <a:p>
            <a:pPr lvl="2" indent="-342900">
              <a:spcBef>
                <a:spcPts val="1200"/>
              </a:spcBef>
              <a:buSzPts val="1800"/>
              <a:buFont typeface="Arial"/>
              <a:buChar char="-"/>
            </a:pPr>
            <a:r>
              <a:rPr lang="en-CA" sz="1800" dirty="0" err="1"/>
              <a:t>Quản</a:t>
            </a:r>
            <a:r>
              <a:rPr lang="en-CA" sz="1800" dirty="0"/>
              <a:t> </a:t>
            </a:r>
            <a:r>
              <a:rPr lang="en-CA" sz="1800" dirty="0" err="1"/>
              <a:t>lý</a:t>
            </a:r>
            <a:r>
              <a:rPr lang="en-CA" sz="1800" dirty="0"/>
              <a:t> </a:t>
            </a:r>
            <a:r>
              <a:rPr lang="en-CA" sz="1800" dirty="0" err="1"/>
              <a:t>Thiết</a:t>
            </a:r>
            <a:r>
              <a:rPr lang="en-CA" sz="1800" dirty="0"/>
              <a:t> </a:t>
            </a:r>
            <a:r>
              <a:rPr lang="en-CA" sz="1800" dirty="0" err="1"/>
              <a:t>bị</a:t>
            </a:r>
            <a:r>
              <a:rPr lang="en-CA" sz="1800" dirty="0"/>
              <a:t> IoT </a:t>
            </a:r>
            <a:r>
              <a:rPr lang="en-CA" sz="1800" dirty="0" err="1"/>
              <a:t>giúp</a:t>
            </a:r>
            <a:r>
              <a:rPr lang="en-CA" sz="1800" dirty="0"/>
              <a:t> </a:t>
            </a:r>
            <a:r>
              <a:rPr lang="en-CA" sz="1800" dirty="0" err="1"/>
              <a:t>bạn</a:t>
            </a:r>
            <a:r>
              <a:rPr lang="en-CA" sz="1800" dirty="0"/>
              <a:t> </a:t>
            </a:r>
            <a:r>
              <a:rPr lang="en-CA" sz="1800" dirty="0" err="1"/>
              <a:t>dễ</a:t>
            </a:r>
            <a:r>
              <a:rPr lang="en-CA" sz="1800" dirty="0"/>
              <a:t> </a:t>
            </a:r>
            <a:r>
              <a:rPr lang="en-CA" sz="1800" dirty="0" err="1"/>
              <a:t>dàng</a:t>
            </a:r>
            <a:r>
              <a:rPr lang="en-CA" sz="1800" dirty="0"/>
              <a:t> </a:t>
            </a:r>
            <a:r>
              <a:rPr lang="en-CA" sz="1800" dirty="0" err="1"/>
              <a:t>ngưng</a:t>
            </a:r>
            <a:r>
              <a:rPr lang="en-CA" sz="1800" dirty="0"/>
              <a:t> </a:t>
            </a:r>
            <a:r>
              <a:rPr lang="en-CA" sz="1800" dirty="0" err="1"/>
              <a:t>hoạt</a:t>
            </a:r>
            <a:r>
              <a:rPr lang="en-CA" sz="1800" dirty="0"/>
              <a:t> </a:t>
            </a:r>
            <a:r>
              <a:rPr lang="en-CA" sz="1800" dirty="0" err="1"/>
              <a:t>động</a:t>
            </a:r>
            <a:r>
              <a:rPr lang="en-CA" sz="1800" dirty="0"/>
              <a:t> </a:t>
            </a:r>
            <a:r>
              <a:rPr lang="en-CA" sz="1800" dirty="0" err="1"/>
              <a:t>thiết</a:t>
            </a:r>
            <a:r>
              <a:rPr lang="en-CA" sz="1800" dirty="0"/>
              <a:t> </a:t>
            </a:r>
            <a:r>
              <a:rPr lang="en-CA" sz="1800" dirty="0" err="1"/>
              <a:t>bị</a:t>
            </a:r>
            <a:r>
              <a:rPr lang="en-CA" sz="1800" dirty="0"/>
              <a:t> </a:t>
            </a:r>
            <a:r>
              <a:rPr lang="en-CA" sz="1800" dirty="0" err="1"/>
              <a:t>khi</a:t>
            </a:r>
            <a:r>
              <a:rPr lang="en-CA" sz="1800" dirty="0"/>
              <a:t> </a:t>
            </a:r>
            <a:r>
              <a:rPr lang="en-CA" sz="1800" dirty="0" err="1"/>
              <a:t>cần</a:t>
            </a:r>
            <a:r>
              <a:rPr lang="en-CA" sz="1800" dirty="0"/>
              <a:t>.</a:t>
            </a:r>
            <a:endParaRPr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a:t>Quản lý thiết bị</a:t>
            </a:r>
            <a:endParaRPr/>
          </a:p>
        </p:txBody>
      </p:sp>
      <p:sp>
        <p:nvSpPr>
          <p:cNvPr id="102" name="Google Shape;102;p20"/>
          <p:cNvSpPr txBox="1">
            <a:spLocks noGrp="1"/>
          </p:cNvSpPr>
          <p:nvPr>
            <p:ph type="body" idx="1"/>
          </p:nvPr>
        </p:nvSpPr>
        <p:spPr>
          <a:xfrm>
            <a:off x="311700" y="1152475"/>
            <a:ext cx="8520600" cy="38745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Clr>
                <a:schemeClr val="dk2"/>
              </a:buClr>
              <a:buSzPts val="2100"/>
              <a:buChar char="-"/>
            </a:pPr>
            <a:r>
              <a:rPr lang="en-CA" sz="2100" b="1" dirty="0" err="1">
                <a:solidFill>
                  <a:schemeClr val="dk2"/>
                </a:solidFill>
              </a:rPr>
              <a:t>Lợi</a:t>
            </a:r>
            <a:r>
              <a:rPr lang="en-CA" sz="2100" b="1" dirty="0">
                <a:solidFill>
                  <a:schemeClr val="dk2"/>
                </a:solidFill>
              </a:rPr>
              <a:t> </a:t>
            </a:r>
            <a:r>
              <a:rPr lang="en-CA" sz="2100" b="1" dirty="0" err="1">
                <a:solidFill>
                  <a:schemeClr val="dk2"/>
                </a:solidFill>
              </a:rPr>
              <a:t>ích</a:t>
            </a:r>
            <a:r>
              <a:rPr lang="en-CA" sz="2100" b="1" dirty="0">
                <a:solidFill>
                  <a:schemeClr val="dk2"/>
                </a:solidFill>
              </a:rPr>
              <a:t> </a:t>
            </a:r>
            <a:r>
              <a:rPr lang="en-CA" sz="2100" b="1" dirty="0" err="1">
                <a:solidFill>
                  <a:schemeClr val="dk2"/>
                </a:solidFill>
              </a:rPr>
              <a:t>của</a:t>
            </a:r>
            <a:r>
              <a:rPr lang="en-CA" sz="2100" b="1" dirty="0">
                <a:solidFill>
                  <a:schemeClr val="dk2"/>
                </a:solidFill>
              </a:rPr>
              <a:t> </a:t>
            </a:r>
            <a:r>
              <a:rPr lang="en-CA" sz="2100" b="1" dirty="0" err="1">
                <a:solidFill>
                  <a:schemeClr val="dk2"/>
                </a:solidFill>
              </a:rPr>
              <a:t>quản</a:t>
            </a:r>
            <a:r>
              <a:rPr lang="en-CA" sz="2100" b="1" dirty="0">
                <a:solidFill>
                  <a:schemeClr val="dk2"/>
                </a:solidFill>
              </a:rPr>
              <a:t> </a:t>
            </a:r>
            <a:r>
              <a:rPr lang="en-CA" sz="2100" b="1" dirty="0" err="1">
                <a:solidFill>
                  <a:schemeClr val="dk2"/>
                </a:solidFill>
              </a:rPr>
              <a:t>lý</a:t>
            </a:r>
            <a:r>
              <a:rPr lang="en-CA" sz="2100" b="1" dirty="0">
                <a:solidFill>
                  <a:schemeClr val="dk2"/>
                </a:solidFill>
              </a:rPr>
              <a:t> </a:t>
            </a:r>
            <a:r>
              <a:rPr lang="en-CA" sz="2100" b="1" dirty="0" err="1">
                <a:solidFill>
                  <a:schemeClr val="dk2"/>
                </a:solidFill>
              </a:rPr>
              <a:t>thiết</a:t>
            </a:r>
            <a:r>
              <a:rPr lang="en-CA" sz="2100" b="1" dirty="0">
                <a:solidFill>
                  <a:schemeClr val="dk2"/>
                </a:solidFill>
              </a:rPr>
              <a:t> </a:t>
            </a:r>
            <a:r>
              <a:rPr lang="en-CA" sz="2100" b="1" dirty="0" err="1">
                <a:solidFill>
                  <a:schemeClr val="dk2"/>
                </a:solidFill>
              </a:rPr>
              <a:t>bị</a:t>
            </a:r>
            <a:r>
              <a:rPr lang="en-CA" sz="2100" b="1" dirty="0">
                <a:solidFill>
                  <a:schemeClr val="dk2"/>
                </a:solidFill>
              </a:rPr>
              <a:t> IoT:</a:t>
            </a:r>
            <a:endParaRPr sz="2100" b="1" dirty="0">
              <a:solidFill>
                <a:schemeClr val="dk2"/>
              </a:solidFill>
            </a:endParaRPr>
          </a:p>
          <a:p>
            <a:pPr marL="914400" lvl="1" indent="-342900" algn="l" rtl="0">
              <a:spcBef>
                <a:spcPts val="0"/>
              </a:spcBef>
              <a:spcAft>
                <a:spcPts val="0"/>
              </a:spcAft>
              <a:buSzPts val="1800"/>
              <a:buFont typeface="Arial"/>
              <a:buChar char="-"/>
            </a:pPr>
            <a:r>
              <a:rPr lang="en-CA" sz="1800" dirty="0" err="1"/>
              <a:t>Đơn</a:t>
            </a:r>
            <a:r>
              <a:rPr lang="en-CA" sz="1800" dirty="0"/>
              <a:t> </a:t>
            </a:r>
            <a:r>
              <a:rPr lang="en-CA" sz="1800" dirty="0" err="1"/>
              <a:t>giản</a:t>
            </a:r>
            <a:r>
              <a:rPr lang="en-CA" sz="1800" dirty="0"/>
              <a:t> </a:t>
            </a:r>
            <a:r>
              <a:rPr lang="en-CA" sz="1800" dirty="0" err="1"/>
              <a:t>hóa</a:t>
            </a:r>
            <a:r>
              <a:rPr lang="en-CA" sz="1800" dirty="0"/>
              <a:t> </a:t>
            </a:r>
            <a:r>
              <a:rPr lang="en-CA" sz="1800" dirty="0" err="1"/>
              <a:t>quy</a:t>
            </a:r>
            <a:r>
              <a:rPr lang="en-CA" sz="1800" dirty="0"/>
              <a:t> </a:t>
            </a:r>
            <a:r>
              <a:rPr lang="en-CA" sz="1800" dirty="0" err="1"/>
              <a:t>trình</a:t>
            </a:r>
            <a:r>
              <a:rPr lang="en-CA" sz="1800" dirty="0"/>
              <a:t> </a:t>
            </a:r>
            <a:r>
              <a:rPr lang="en-CA" sz="1800" dirty="0" err="1"/>
              <a:t>cho</a:t>
            </a:r>
            <a:r>
              <a:rPr lang="en-CA" sz="1800" dirty="0"/>
              <a:t> </a:t>
            </a:r>
            <a:r>
              <a:rPr lang="en-CA" sz="1800" dirty="0" err="1"/>
              <a:t>việc</a:t>
            </a:r>
            <a:r>
              <a:rPr lang="en-CA" sz="1800" dirty="0"/>
              <a:t> </a:t>
            </a:r>
            <a:r>
              <a:rPr lang="en-CA" sz="1800" dirty="0" err="1"/>
              <a:t>thay</a:t>
            </a:r>
            <a:r>
              <a:rPr lang="en-CA" sz="1800" dirty="0"/>
              <a:t> </a:t>
            </a:r>
            <a:r>
              <a:rPr lang="en-CA" sz="1800" dirty="0" err="1"/>
              <a:t>đổi</a:t>
            </a:r>
            <a:r>
              <a:rPr lang="en-CA" sz="1800" dirty="0"/>
              <a:t> </a:t>
            </a:r>
            <a:r>
              <a:rPr lang="en-CA" sz="1800" dirty="0" err="1"/>
              <a:t>và</a:t>
            </a:r>
            <a:r>
              <a:rPr lang="en-CA" sz="1800" dirty="0"/>
              <a:t> </a:t>
            </a:r>
            <a:r>
              <a:rPr lang="en-CA" sz="1800" dirty="0" err="1"/>
              <a:t>cập</a:t>
            </a:r>
            <a:r>
              <a:rPr lang="en-CA" sz="1800" dirty="0"/>
              <a:t> </a:t>
            </a:r>
            <a:r>
              <a:rPr lang="en-CA" sz="1800" dirty="0" err="1"/>
              <a:t>nhật</a:t>
            </a:r>
            <a:r>
              <a:rPr lang="en-CA" sz="1800" dirty="0"/>
              <a:t> </a:t>
            </a:r>
            <a:r>
              <a:rPr lang="en-CA" sz="1800" dirty="0" err="1"/>
              <a:t>thiết</a:t>
            </a:r>
            <a:r>
              <a:rPr lang="en-CA" sz="1800" dirty="0"/>
              <a:t> </a:t>
            </a:r>
            <a:r>
              <a:rPr lang="en-CA" sz="1800" dirty="0" err="1"/>
              <a:t>bị</a:t>
            </a:r>
            <a:endParaRPr sz="1800" dirty="0"/>
          </a:p>
          <a:p>
            <a:pPr marL="914400" lvl="1" indent="-342900" algn="l" rtl="0">
              <a:spcBef>
                <a:spcPts val="0"/>
              </a:spcBef>
              <a:spcAft>
                <a:spcPts val="0"/>
              </a:spcAft>
              <a:buSzPts val="1800"/>
              <a:buFont typeface="Arial"/>
              <a:buChar char="-"/>
            </a:pPr>
            <a:r>
              <a:rPr lang="en-CA" sz="1800" dirty="0" err="1"/>
              <a:t>Tăng</a:t>
            </a:r>
            <a:r>
              <a:rPr lang="en-CA" sz="1800" dirty="0"/>
              <a:t> </a:t>
            </a:r>
            <a:r>
              <a:rPr lang="en-CA" sz="1800" dirty="0" err="1"/>
              <a:t>cường</a:t>
            </a:r>
            <a:r>
              <a:rPr lang="en-CA" sz="1800" dirty="0"/>
              <a:t> </a:t>
            </a:r>
            <a:r>
              <a:rPr lang="en-CA" sz="1800" dirty="0" err="1"/>
              <a:t>bảo</a:t>
            </a:r>
            <a:r>
              <a:rPr lang="en-CA" sz="1800" dirty="0"/>
              <a:t> </a:t>
            </a:r>
            <a:r>
              <a:rPr lang="en-CA" sz="1800" dirty="0" err="1"/>
              <a:t>mật</a:t>
            </a:r>
            <a:endParaRPr sz="1800" dirty="0"/>
          </a:p>
          <a:p>
            <a:pPr marL="914400" lvl="1" indent="-342900" algn="l" rtl="0">
              <a:spcBef>
                <a:spcPts val="0"/>
              </a:spcBef>
              <a:spcAft>
                <a:spcPts val="0"/>
              </a:spcAft>
              <a:buSzPts val="1800"/>
              <a:buChar char="-"/>
            </a:pPr>
            <a:r>
              <a:rPr lang="en-CA" sz="1800" dirty="0" err="1"/>
              <a:t>Cải</a:t>
            </a:r>
            <a:r>
              <a:rPr lang="en-CA" sz="1800" dirty="0"/>
              <a:t> </a:t>
            </a:r>
            <a:r>
              <a:rPr lang="en-CA" sz="1800" dirty="0" err="1"/>
              <a:t>thiện</a:t>
            </a:r>
            <a:r>
              <a:rPr lang="en-CA" sz="1800" dirty="0"/>
              <a:t> </a:t>
            </a:r>
            <a:r>
              <a:rPr lang="en-CA" sz="1800" dirty="0" err="1"/>
              <a:t>độ</a:t>
            </a:r>
            <a:r>
              <a:rPr lang="en-CA" sz="1800" dirty="0"/>
              <a:t> tin </a:t>
            </a:r>
            <a:r>
              <a:rPr lang="en-CA" sz="1800" dirty="0" err="1"/>
              <a:t>cậy</a:t>
            </a:r>
            <a:r>
              <a:rPr lang="en-CA" sz="1800" dirty="0"/>
              <a:t> </a:t>
            </a:r>
            <a:r>
              <a:rPr lang="en-CA" sz="1800" dirty="0" err="1"/>
              <a:t>và</a:t>
            </a:r>
            <a:r>
              <a:rPr lang="en-CA" sz="1800" dirty="0"/>
              <a:t> </a:t>
            </a:r>
            <a:r>
              <a:rPr lang="en-CA" sz="1800" dirty="0" err="1"/>
              <a:t>ổn</a:t>
            </a:r>
            <a:r>
              <a:rPr lang="en-CA" sz="1800" dirty="0"/>
              <a:t> </a:t>
            </a:r>
            <a:r>
              <a:rPr lang="en-CA" sz="1800" dirty="0" err="1"/>
              <a:t>định</a:t>
            </a:r>
            <a:r>
              <a:rPr lang="en-CA" sz="1800" dirty="0"/>
              <a:t> </a:t>
            </a:r>
            <a:r>
              <a:rPr lang="en-CA" sz="1800" dirty="0" err="1"/>
              <a:t>của</a:t>
            </a:r>
            <a:r>
              <a:rPr lang="en-CA" sz="1800" dirty="0"/>
              <a:t> </a:t>
            </a:r>
            <a:r>
              <a:rPr lang="en-CA" sz="1800" dirty="0" err="1"/>
              <a:t>thiết</a:t>
            </a:r>
            <a:r>
              <a:rPr lang="en-CA" sz="1800" dirty="0"/>
              <a:t> </a:t>
            </a:r>
            <a:r>
              <a:rPr lang="en-CA" sz="1800" dirty="0" err="1"/>
              <a:t>bị</a:t>
            </a:r>
            <a:r>
              <a:rPr lang="en-CA" sz="1800" dirty="0"/>
              <a:t> IoT</a:t>
            </a:r>
            <a:endParaRPr sz="1800" dirty="0"/>
          </a:p>
          <a:p>
            <a:pPr marL="914400" lvl="1" indent="-342900" algn="l" rtl="0">
              <a:spcBef>
                <a:spcPts val="0"/>
              </a:spcBef>
              <a:spcAft>
                <a:spcPts val="0"/>
              </a:spcAft>
              <a:buSzPts val="1800"/>
              <a:buChar char="-"/>
            </a:pPr>
            <a:r>
              <a:rPr lang="en-CA" sz="1800" dirty="0"/>
              <a:t>Thích </a:t>
            </a:r>
            <a:r>
              <a:rPr lang="en-CA" sz="1800" dirty="0" err="1"/>
              <a:t>ứng</a:t>
            </a:r>
            <a:r>
              <a:rPr lang="en-CA" sz="1800" dirty="0"/>
              <a:t> </a:t>
            </a:r>
            <a:r>
              <a:rPr lang="en-CA" sz="1800" dirty="0" err="1"/>
              <a:t>với</a:t>
            </a:r>
            <a:r>
              <a:rPr lang="en-CA" sz="1800" dirty="0"/>
              <a:t> </a:t>
            </a:r>
            <a:r>
              <a:rPr lang="en-CA" sz="1800" dirty="0" err="1"/>
              <a:t>các</a:t>
            </a:r>
            <a:r>
              <a:rPr lang="en-CA" sz="1800" dirty="0"/>
              <a:t> </a:t>
            </a:r>
            <a:r>
              <a:rPr lang="en-CA" sz="1800" dirty="0" err="1"/>
              <a:t>mô</a:t>
            </a:r>
            <a:r>
              <a:rPr lang="en-CA" sz="1800" dirty="0"/>
              <a:t> </a:t>
            </a:r>
            <a:r>
              <a:rPr lang="en-CA" sz="1800" dirty="0" err="1"/>
              <a:t>hình</a:t>
            </a:r>
            <a:r>
              <a:rPr lang="en-CA" sz="1800" dirty="0"/>
              <a:t> </a:t>
            </a:r>
            <a:r>
              <a:rPr lang="en-CA" sz="1800" dirty="0" err="1"/>
              <a:t>kinh</a:t>
            </a:r>
            <a:r>
              <a:rPr lang="en-CA" sz="1800" dirty="0"/>
              <a:t> </a:t>
            </a:r>
            <a:r>
              <a:rPr lang="en-CA" sz="1800" dirty="0" err="1"/>
              <a:t>doanh</a:t>
            </a:r>
            <a:r>
              <a:rPr lang="en-CA" sz="1800" dirty="0"/>
              <a:t> </a:t>
            </a:r>
            <a:r>
              <a:rPr lang="en-CA" sz="1800" dirty="0" err="1"/>
              <a:t>thay</a:t>
            </a:r>
            <a:r>
              <a:rPr lang="en-CA" sz="1800" dirty="0"/>
              <a:t> </a:t>
            </a:r>
            <a:r>
              <a:rPr lang="en-CA" sz="1800" dirty="0" err="1"/>
              <a:t>đổi</a:t>
            </a:r>
            <a:r>
              <a:rPr lang="en-CA" sz="1800" dirty="0"/>
              <a:t> </a:t>
            </a:r>
            <a:r>
              <a:rPr lang="en-CA" sz="1800" dirty="0" err="1"/>
              <a:t>nhanh</a:t>
            </a:r>
            <a:r>
              <a:rPr lang="en-CA" sz="1800" dirty="0"/>
              <a:t> </a:t>
            </a:r>
            <a:r>
              <a:rPr lang="en-CA" sz="1800" dirty="0" err="1"/>
              <a:t>chóng</a:t>
            </a:r>
            <a:endParaRPr sz="1800" dirty="0"/>
          </a:p>
          <a:p>
            <a:pPr marL="914400" lvl="1" indent="-342900" algn="l" rtl="0">
              <a:spcBef>
                <a:spcPts val="0"/>
              </a:spcBef>
              <a:spcAft>
                <a:spcPts val="0"/>
              </a:spcAft>
              <a:buSzPts val="1800"/>
              <a:buChar char="-"/>
            </a:pPr>
            <a:r>
              <a:rPr lang="en-CA" sz="1800" dirty="0" err="1"/>
              <a:t>Đăng</a:t>
            </a:r>
            <a:r>
              <a:rPr lang="en-CA" sz="1800" dirty="0"/>
              <a:t> </a:t>
            </a:r>
            <a:r>
              <a:rPr lang="en-CA" sz="1800" dirty="0" err="1"/>
              <a:t>ký</a:t>
            </a:r>
            <a:r>
              <a:rPr lang="en-CA" sz="1800" dirty="0"/>
              <a:t> </a:t>
            </a:r>
            <a:r>
              <a:rPr lang="en-CA" sz="1800" dirty="0" err="1"/>
              <a:t>thiết</a:t>
            </a:r>
            <a:r>
              <a:rPr lang="en-CA" sz="1800" dirty="0"/>
              <a:t> </a:t>
            </a:r>
            <a:r>
              <a:rPr lang="en-CA" sz="1800" dirty="0" err="1"/>
              <a:t>bị</a:t>
            </a:r>
            <a:r>
              <a:rPr lang="en-CA" sz="1800" dirty="0"/>
              <a:t> </a:t>
            </a:r>
            <a:r>
              <a:rPr lang="en-CA" sz="1800" dirty="0" err="1"/>
              <a:t>nhanh</a:t>
            </a:r>
            <a:r>
              <a:rPr lang="en-CA" sz="1800" dirty="0"/>
              <a:t> </a:t>
            </a:r>
            <a:r>
              <a:rPr lang="en-CA" sz="1800" dirty="0" err="1"/>
              <a:t>hơn</a:t>
            </a:r>
            <a:endParaRPr sz="1800" dirty="0"/>
          </a:p>
          <a:p>
            <a:pPr marL="914400" lvl="1" indent="-342900" algn="l" rtl="0">
              <a:spcBef>
                <a:spcPts val="0"/>
              </a:spcBef>
              <a:spcAft>
                <a:spcPts val="0"/>
              </a:spcAft>
              <a:buSzPts val="1800"/>
              <a:buChar char="-"/>
            </a:pPr>
            <a:r>
              <a:rPr lang="en-CA" sz="1800" dirty="0" err="1"/>
              <a:t>Tổ</a:t>
            </a:r>
            <a:r>
              <a:rPr lang="en-CA" sz="1800" dirty="0"/>
              <a:t> </a:t>
            </a:r>
            <a:r>
              <a:rPr lang="en-CA" sz="1800" dirty="0" err="1"/>
              <a:t>chức</a:t>
            </a:r>
            <a:r>
              <a:rPr lang="en-CA" sz="1800" dirty="0"/>
              <a:t> </a:t>
            </a:r>
            <a:r>
              <a:rPr lang="en-CA" sz="1800" dirty="0" err="1"/>
              <a:t>thiết</a:t>
            </a:r>
            <a:r>
              <a:rPr lang="en-CA" sz="1800" dirty="0"/>
              <a:t> </a:t>
            </a:r>
            <a:r>
              <a:rPr lang="en-CA" sz="1800" dirty="0" err="1"/>
              <a:t>bị</a:t>
            </a:r>
            <a:r>
              <a:rPr lang="en-CA" sz="1800" dirty="0"/>
              <a:t> </a:t>
            </a:r>
            <a:r>
              <a:rPr lang="en-CA" sz="1800" dirty="0" err="1"/>
              <a:t>tốt</a:t>
            </a:r>
            <a:r>
              <a:rPr lang="en-CA" sz="1800" dirty="0"/>
              <a:t> </a:t>
            </a:r>
            <a:r>
              <a:rPr lang="en-CA" sz="1800" dirty="0" err="1"/>
              <a:t>hơn</a:t>
            </a:r>
            <a:endParaRPr sz="1800" dirty="0"/>
          </a:p>
          <a:p>
            <a:pPr marL="914400" lvl="1" indent="-342900" algn="l" rtl="0">
              <a:spcBef>
                <a:spcPts val="0"/>
              </a:spcBef>
              <a:spcAft>
                <a:spcPts val="0"/>
              </a:spcAft>
              <a:buSzPts val="1800"/>
              <a:buChar char="-"/>
            </a:pPr>
            <a:r>
              <a:rPr lang="en-CA" sz="1800" dirty="0" err="1"/>
              <a:t>Quản</a:t>
            </a:r>
            <a:r>
              <a:rPr lang="en-CA" sz="1800" dirty="0"/>
              <a:t> </a:t>
            </a:r>
            <a:r>
              <a:rPr lang="en-CA" sz="1800" dirty="0" err="1"/>
              <a:t>lý</a:t>
            </a:r>
            <a:r>
              <a:rPr lang="en-CA" sz="1800" dirty="0"/>
              <a:t> </a:t>
            </a:r>
            <a:r>
              <a:rPr lang="en-CA" sz="1800" dirty="0" err="1"/>
              <a:t>thiết</a:t>
            </a:r>
            <a:r>
              <a:rPr lang="en-CA" sz="1800" dirty="0"/>
              <a:t> </a:t>
            </a:r>
            <a:r>
              <a:rPr lang="en-CA" sz="1800" dirty="0" err="1"/>
              <a:t>bị</a:t>
            </a:r>
            <a:r>
              <a:rPr lang="en-CA" sz="1800" dirty="0"/>
              <a:t> </a:t>
            </a:r>
            <a:r>
              <a:rPr lang="en-CA" sz="1800" dirty="0" err="1"/>
              <a:t>từ</a:t>
            </a:r>
            <a:r>
              <a:rPr lang="en-CA" sz="1800" dirty="0"/>
              <a:t> </a:t>
            </a:r>
            <a:r>
              <a:rPr lang="en-CA" sz="1800" dirty="0" err="1"/>
              <a:t>xa</a:t>
            </a:r>
            <a:r>
              <a:rPr lang="en-CA" sz="1800" dirty="0"/>
              <a:t> </a:t>
            </a:r>
            <a:r>
              <a:rPr lang="en-CA" sz="1800" dirty="0" err="1"/>
              <a:t>dễ</a:t>
            </a:r>
            <a:r>
              <a:rPr lang="en-CA" sz="1800" dirty="0"/>
              <a:t> </a:t>
            </a:r>
            <a:r>
              <a:rPr lang="en-CA" sz="1800" dirty="0" err="1"/>
              <a:t>dàng</a:t>
            </a:r>
            <a:r>
              <a:rPr lang="en-CA" sz="1800" dirty="0"/>
              <a:t> </a:t>
            </a:r>
            <a:r>
              <a:rPr lang="en-CA" sz="1800" dirty="0" err="1"/>
              <a:t>hơn</a:t>
            </a:r>
            <a:r>
              <a:rPr lang="en-CA" sz="1800" dirty="0"/>
              <a:t>.</a:t>
            </a:r>
            <a:endParaRPr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a:t>Quản lý thiết bị</a:t>
            </a:r>
            <a:endParaRPr/>
          </a:p>
        </p:txBody>
      </p:sp>
      <p:sp>
        <p:nvSpPr>
          <p:cNvPr id="108" name="Google Shape;108;p21"/>
          <p:cNvSpPr txBox="1">
            <a:spLocks noGrp="1"/>
          </p:cNvSpPr>
          <p:nvPr>
            <p:ph type="body" idx="1"/>
          </p:nvPr>
        </p:nvSpPr>
        <p:spPr>
          <a:xfrm>
            <a:off x="311700" y="1152475"/>
            <a:ext cx="8520600" cy="38745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Clr>
                <a:schemeClr val="dk2"/>
              </a:buClr>
              <a:buSzPts val="2100"/>
              <a:buChar char="-"/>
            </a:pPr>
            <a:r>
              <a:rPr lang="en-CA" sz="2100" b="1" dirty="0" err="1">
                <a:solidFill>
                  <a:schemeClr val="dk2"/>
                </a:solidFill>
              </a:rPr>
              <a:t>Thách</a:t>
            </a:r>
            <a:r>
              <a:rPr lang="en-CA" sz="2100" b="1" dirty="0">
                <a:solidFill>
                  <a:schemeClr val="dk2"/>
                </a:solidFill>
              </a:rPr>
              <a:t> </a:t>
            </a:r>
            <a:r>
              <a:rPr lang="en-CA" sz="2100" b="1" dirty="0" err="1">
                <a:solidFill>
                  <a:schemeClr val="dk2"/>
                </a:solidFill>
              </a:rPr>
              <a:t>thức</a:t>
            </a:r>
            <a:r>
              <a:rPr lang="en-CA" sz="2100" b="1" dirty="0">
                <a:solidFill>
                  <a:schemeClr val="dk2"/>
                </a:solidFill>
              </a:rPr>
              <a:t> </a:t>
            </a:r>
            <a:r>
              <a:rPr lang="en-CA" sz="2100" b="1" dirty="0" err="1">
                <a:solidFill>
                  <a:schemeClr val="dk2"/>
                </a:solidFill>
              </a:rPr>
              <a:t>trong</a:t>
            </a:r>
            <a:r>
              <a:rPr lang="en-CA" sz="2100" b="1" dirty="0">
                <a:solidFill>
                  <a:schemeClr val="dk2"/>
                </a:solidFill>
              </a:rPr>
              <a:t> </a:t>
            </a:r>
            <a:r>
              <a:rPr lang="en-CA" sz="2100" b="1" dirty="0" err="1">
                <a:solidFill>
                  <a:schemeClr val="dk2"/>
                </a:solidFill>
              </a:rPr>
              <a:t>quản</a:t>
            </a:r>
            <a:r>
              <a:rPr lang="en-CA" sz="2100" b="1" dirty="0">
                <a:solidFill>
                  <a:schemeClr val="dk2"/>
                </a:solidFill>
              </a:rPr>
              <a:t> </a:t>
            </a:r>
            <a:r>
              <a:rPr lang="en-CA" sz="2100" b="1" dirty="0" err="1">
                <a:solidFill>
                  <a:schemeClr val="dk2"/>
                </a:solidFill>
              </a:rPr>
              <a:t>lý</a:t>
            </a:r>
            <a:r>
              <a:rPr lang="en-CA" sz="2100" b="1" dirty="0">
                <a:solidFill>
                  <a:schemeClr val="dk2"/>
                </a:solidFill>
              </a:rPr>
              <a:t> </a:t>
            </a:r>
            <a:r>
              <a:rPr lang="en-CA" sz="2100" b="1" dirty="0" err="1">
                <a:solidFill>
                  <a:schemeClr val="dk2"/>
                </a:solidFill>
              </a:rPr>
              <a:t>thiết</a:t>
            </a:r>
            <a:r>
              <a:rPr lang="en-CA" sz="2100" b="1" dirty="0">
                <a:solidFill>
                  <a:schemeClr val="dk2"/>
                </a:solidFill>
              </a:rPr>
              <a:t> </a:t>
            </a:r>
            <a:r>
              <a:rPr lang="en-CA" sz="2100" b="1" dirty="0" err="1">
                <a:solidFill>
                  <a:schemeClr val="dk2"/>
                </a:solidFill>
              </a:rPr>
              <a:t>bị</a:t>
            </a:r>
            <a:r>
              <a:rPr lang="en-CA" sz="2100" b="1" dirty="0">
                <a:solidFill>
                  <a:schemeClr val="dk2"/>
                </a:solidFill>
              </a:rPr>
              <a:t> IoT:</a:t>
            </a:r>
            <a:endParaRPr sz="2100" b="1" dirty="0">
              <a:solidFill>
                <a:schemeClr val="dk2"/>
              </a:solidFill>
            </a:endParaRPr>
          </a:p>
          <a:p>
            <a:pPr marL="914400" lvl="1" indent="-342900" algn="l" rtl="0">
              <a:spcBef>
                <a:spcPts val="0"/>
              </a:spcBef>
              <a:spcAft>
                <a:spcPts val="0"/>
              </a:spcAft>
              <a:buSzPts val="1800"/>
              <a:buChar char="-"/>
            </a:pPr>
            <a:r>
              <a:rPr lang="en-CA" sz="1800" dirty="0" err="1"/>
              <a:t>Dữ</a:t>
            </a:r>
            <a:r>
              <a:rPr lang="en-CA" sz="1800" dirty="0"/>
              <a:t> </a:t>
            </a:r>
            <a:r>
              <a:rPr lang="en-CA" sz="1800" dirty="0" err="1"/>
              <a:t>liệu</a:t>
            </a:r>
            <a:r>
              <a:rPr lang="en-CA" sz="1800" dirty="0"/>
              <a:t> </a:t>
            </a:r>
            <a:r>
              <a:rPr lang="en-CA" sz="1800" dirty="0" err="1"/>
              <a:t>phân</a:t>
            </a:r>
            <a:r>
              <a:rPr lang="en-CA" sz="1800" dirty="0"/>
              <a:t> </a:t>
            </a:r>
            <a:r>
              <a:rPr lang="en-CA" sz="1800" dirty="0" err="1"/>
              <a:t>tán</a:t>
            </a:r>
            <a:endParaRPr sz="1800" dirty="0"/>
          </a:p>
          <a:p>
            <a:pPr marL="914400" lvl="1" indent="-342900" algn="l" rtl="0">
              <a:spcBef>
                <a:spcPts val="0"/>
              </a:spcBef>
              <a:spcAft>
                <a:spcPts val="0"/>
              </a:spcAft>
              <a:buSzPts val="1800"/>
              <a:buChar char="-"/>
            </a:pPr>
            <a:r>
              <a:rPr lang="en-CA" sz="1800" dirty="0" err="1"/>
              <a:t>Kiểm</a:t>
            </a:r>
            <a:r>
              <a:rPr lang="en-CA" sz="1800" dirty="0"/>
              <a:t> </a:t>
            </a:r>
            <a:r>
              <a:rPr lang="en-CA" sz="1800" dirty="0" err="1"/>
              <a:t>soát</a:t>
            </a:r>
            <a:r>
              <a:rPr lang="en-CA" sz="1800" dirty="0"/>
              <a:t> </a:t>
            </a:r>
            <a:r>
              <a:rPr lang="en-CA" sz="1800" dirty="0" err="1"/>
              <a:t>truy</a:t>
            </a:r>
            <a:r>
              <a:rPr lang="en-CA" sz="1800" dirty="0"/>
              <a:t> </a:t>
            </a:r>
            <a:r>
              <a:rPr lang="en-CA" sz="1800" dirty="0" err="1"/>
              <a:t>cập</a:t>
            </a:r>
            <a:endParaRPr sz="1800" dirty="0"/>
          </a:p>
          <a:p>
            <a:pPr marL="914400" lvl="1" indent="-342900" algn="l" rtl="0">
              <a:spcBef>
                <a:spcPts val="0"/>
              </a:spcBef>
              <a:spcAft>
                <a:spcPts val="0"/>
              </a:spcAft>
              <a:buSzPts val="1800"/>
              <a:buChar char="-"/>
            </a:pPr>
            <a:r>
              <a:rPr lang="en-CA" sz="1800" dirty="0" err="1"/>
              <a:t>Sự</a:t>
            </a:r>
            <a:r>
              <a:rPr lang="en-CA" sz="1800" dirty="0"/>
              <a:t> </a:t>
            </a:r>
            <a:r>
              <a:rPr lang="en-CA" sz="1800" dirty="0" err="1"/>
              <a:t>gia</a:t>
            </a:r>
            <a:r>
              <a:rPr lang="en-CA" sz="1800" dirty="0"/>
              <a:t> </a:t>
            </a:r>
            <a:r>
              <a:rPr lang="en-CA" sz="1800" dirty="0" err="1"/>
              <a:t>tăng</a:t>
            </a:r>
            <a:r>
              <a:rPr lang="en-CA" sz="1800" dirty="0"/>
              <a:t> </a:t>
            </a:r>
            <a:r>
              <a:rPr lang="en-CA" sz="1800" dirty="0" err="1"/>
              <a:t>của</a:t>
            </a:r>
            <a:r>
              <a:rPr lang="en-CA" sz="1800" dirty="0"/>
              <a:t> </a:t>
            </a:r>
            <a:r>
              <a:rPr lang="en-CA" sz="1800" dirty="0" err="1"/>
              <a:t>thiết</a:t>
            </a:r>
            <a:r>
              <a:rPr lang="en-CA" sz="1800" dirty="0"/>
              <a:t> </a:t>
            </a:r>
            <a:r>
              <a:rPr lang="en-CA" sz="1800" dirty="0" err="1"/>
              <a:t>bị</a:t>
            </a:r>
            <a:endParaRPr sz="1800" dirty="0"/>
          </a:p>
          <a:p>
            <a:pPr marL="914400" lvl="1" indent="-342900" algn="l" rtl="0">
              <a:spcBef>
                <a:spcPts val="0"/>
              </a:spcBef>
              <a:spcAft>
                <a:spcPts val="0"/>
              </a:spcAft>
              <a:buSzPts val="1800"/>
              <a:buChar char="-"/>
            </a:pPr>
            <a:r>
              <a:rPr lang="en-CA" sz="1800" dirty="0"/>
              <a:t>Quy </a:t>
            </a:r>
            <a:r>
              <a:rPr lang="en-CA" sz="1800" dirty="0" err="1"/>
              <a:t>mô</a:t>
            </a:r>
            <a:r>
              <a:rPr lang="en-CA" sz="1800" dirty="0"/>
              <a:t> </a:t>
            </a:r>
            <a:r>
              <a:rPr lang="en-CA" sz="1800" dirty="0" err="1"/>
              <a:t>và</a:t>
            </a:r>
            <a:r>
              <a:rPr lang="en-CA" sz="1800" dirty="0"/>
              <a:t> </a:t>
            </a:r>
            <a:r>
              <a:rPr lang="en-CA" sz="1800" dirty="0" err="1"/>
              <a:t>độ</a:t>
            </a:r>
            <a:r>
              <a:rPr lang="en-CA" sz="1800" dirty="0"/>
              <a:t> </a:t>
            </a:r>
            <a:r>
              <a:rPr lang="en-CA" sz="1800" dirty="0" err="1"/>
              <a:t>phức</a:t>
            </a:r>
            <a:r>
              <a:rPr lang="en-CA" sz="1800" dirty="0"/>
              <a:t> </a:t>
            </a:r>
            <a:r>
              <a:rPr lang="en-CA" sz="1800" dirty="0" err="1"/>
              <a:t>tạp</a:t>
            </a:r>
            <a:r>
              <a:rPr lang="en-CA" sz="1800" dirty="0"/>
              <a:t> </a:t>
            </a:r>
            <a:r>
              <a:rPr lang="en-CA" sz="1800" dirty="0" err="1"/>
              <a:t>của</a:t>
            </a:r>
            <a:r>
              <a:rPr lang="en-CA" sz="1800" dirty="0"/>
              <a:t> </a:t>
            </a:r>
            <a:r>
              <a:rPr lang="en-CA" sz="1800" dirty="0" err="1"/>
              <a:t>hệ</a:t>
            </a:r>
            <a:r>
              <a:rPr lang="en-CA" sz="1800" dirty="0"/>
              <a:t> </a:t>
            </a:r>
            <a:r>
              <a:rPr lang="en-CA" sz="1800" dirty="0" err="1"/>
              <a:t>sinh</a:t>
            </a:r>
            <a:r>
              <a:rPr lang="en-CA" sz="1800" dirty="0"/>
              <a:t> </a:t>
            </a:r>
            <a:r>
              <a:rPr lang="en-CA" sz="1800" dirty="0" err="1"/>
              <a:t>thái</a:t>
            </a:r>
            <a:r>
              <a:rPr lang="en-CA" sz="1800" dirty="0"/>
              <a:t> </a:t>
            </a:r>
            <a:r>
              <a:rPr lang="en-CA" sz="1800" dirty="0" err="1"/>
              <a:t>thiết</a:t>
            </a:r>
            <a:r>
              <a:rPr lang="en-CA" sz="1800" dirty="0"/>
              <a:t> </a:t>
            </a:r>
            <a:r>
              <a:rPr lang="en-CA" sz="1800" dirty="0" err="1"/>
              <a:t>bị</a:t>
            </a:r>
            <a:r>
              <a:rPr lang="en-CA" sz="1800" dirty="0"/>
              <a:t> IoT</a:t>
            </a:r>
            <a:endParaRPr sz="1800" dirty="0"/>
          </a:p>
          <a:p>
            <a:pPr marL="914400" lvl="1" indent="-342900" algn="l" rtl="0">
              <a:spcBef>
                <a:spcPts val="0"/>
              </a:spcBef>
              <a:spcAft>
                <a:spcPts val="0"/>
              </a:spcAft>
              <a:buSzPts val="1800"/>
              <a:buChar char="-"/>
            </a:pPr>
            <a:r>
              <a:rPr lang="en-CA" sz="1800" dirty="0" err="1"/>
              <a:t>Hiệu</a:t>
            </a:r>
            <a:r>
              <a:rPr lang="en-CA" sz="1800" dirty="0"/>
              <a:t> </a:t>
            </a:r>
            <a:r>
              <a:rPr lang="en-CA" sz="1800" dirty="0" err="1"/>
              <a:t>suất</a:t>
            </a:r>
            <a:r>
              <a:rPr lang="en-CA" sz="1800" dirty="0"/>
              <a:t> </a:t>
            </a:r>
            <a:r>
              <a:rPr lang="en-CA" sz="1800" dirty="0" err="1"/>
              <a:t>mạng</a:t>
            </a:r>
            <a:r>
              <a:rPr lang="en-CA" sz="1800" dirty="0"/>
              <a:t> </a:t>
            </a:r>
            <a:r>
              <a:rPr lang="en-CA" sz="1800" dirty="0" err="1"/>
              <a:t>và</a:t>
            </a:r>
            <a:r>
              <a:rPr lang="en-CA" sz="1800" dirty="0"/>
              <a:t> </a:t>
            </a:r>
            <a:r>
              <a:rPr lang="en-CA" sz="1800" dirty="0" err="1"/>
              <a:t>khả</a:t>
            </a:r>
            <a:r>
              <a:rPr lang="en-CA" sz="1800" dirty="0"/>
              <a:t> </a:t>
            </a:r>
            <a:r>
              <a:rPr lang="en-CA" sz="1800" dirty="0" err="1"/>
              <a:t>năng</a:t>
            </a:r>
            <a:r>
              <a:rPr lang="en-CA" sz="1800" dirty="0"/>
              <a:t> </a:t>
            </a:r>
            <a:r>
              <a:rPr lang="en-CA" sz="1800" dirty="0" err="1"/>
              <a:t>tương</a:t>
            </a:r>
            <a:r>
              <a:rPr lang="en-CA" sz="1800" dirty="0"/>
              <a:t> </a:t>
            </a:r>
            <a:r>
              <a:rPr lang="en-CA" sz="1800" dirty="0" err="1"/>
              <a:t>tác</a:t>
            </a:r>
            <a:endParaRPr sz="1800" dirty="0"/>
          </a:p>
          <a:p>
            <a:pPr marL="914400" lvl="1" indent="-342900" algn="l" rtl="0">
              <a:spcBef>
                <a:spcPts val="0"/>
              </a:spcBef>
              <a:spcAft>
                <a:spcPts val="0"/>
              </a:spcAft>
              <a:buSzPts val="1800"/>
              <a:buChar char="-"/>
            </a:pPr>
            <a:r>
              <a:rPr lang="en-CA" sz="1800" dirty="0" err="1"/>
              <a:t>Cập</a:t>
            </a:r>
            <a:r>
              <a:rPr lang="en-CA" sz="1800" dirty="0"/>
              <a:t> </a:t>
            </a:r>
            <a:r>
              <a:rPr lang="en-CA" sz="1800" dirty="0" err="1"/>
              <a:t>nhật</a:t>
            </a:r>
            <a:r>
              <a:rPr lang="en-CA" sz="1800" dirty="0"/>
              <a:t> firmware </a:t>
            </a:r>
            <a:r>
              <a:rPr lang="en-CA" sz="1800" dirty="0" err="1"/>
              <a:t>và</a:t>
            </a:r>
            <a:r>
              <a:rPr lang="en-CA" sz="1800" dirty="0"/>
              <a:t> software</a:t>
            </a:r>
            <a:endParaRPr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a:t>Quản lý thiết bị</a:t>
            </a:r>
            <a:endParaRPr/>
          </a:p>
        </p:txBody>
      </p:sp>
      <p:sp>
        <p:nvSpPr>
          <p:cNvPr id="114" name="Google Shape;114;p22"/>
          <p:cNvSpPr txBox="1">
            <a:spLocks noGrp="1"/>
          </p:cNvSpPr>
          <p:nvPr>
            <p:ph type="body" idx="1"/>
          </p:nvPr>
        </p:nvSpPr>
        <p:spPr>
          <a:xfrm>
            <a:off x="311700" y="1152475"/>
            <a:ext cx="8520600" cy="38745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Clr>
                <a:schemeClr val="dk2"/>
              </a:buClr>
              <a:buSzPts val="2100"/>
              <a:buChar char="-"/>
            </a:pPr>
            <a:r>
              <a:rPr lang="en-CA" sz="2100" b="1" dirty="0">
                <a:solidFill>
                  <a:schemeClr val="dk2"/>
                </a:solidFill>
              </a:rPr>
              <a:t>Best Practices (</a:t>
            </a:r>
            <a:r>
              <a:rPr lang="en-CA" sz="2100" b="1" dirty="0" err="1">
                <a:solidFill>
                  <a:schemeClr val="dk2"/>
                </a:solidFill>
              </a:rPr>
              <a:t>Thực</a:t>
            </a:r>
            <a:r>
              <a:rPr lang="en-CA" sz="2100" b="1" dirty="0">
                <a:solidFill>
                  <a:schemeClr val="dk2"/>
                </a:solidFill>
              </a:rPr>
              <a:t> </a:t>
            </a:r>
            <a:r>
              <a:rPr lang="en-CA" sz="2100" b="1" dirty="0" err="1">
                <a:solidFill>
                  <a:schemeClr val="dk2"/>
                </a:solidFill>
              </a:rPr>
              <a:t>hành</a:t>
            </a:r>
            <a:r>
              <a:rPr lang="en-CA" sz="2100" b="1" dirty="0">
                <a:solidFill>
                  <a:schemeClr val="dk2"/>
                </a:solidFill>
              </a:rPr>
              <a:t> </a:t>
            </a:r>
            <a:r>
              <a:rPr lang="en-CA" sz="2100" b="1" dirty="0" err="1">
                <a:solidFill>
                  <a:schemeClr val="dk2"/>
                </a:solidFill>
              </a:rPr>
              <a:t>tốt</a:t>
            </a:r>
            <a:r>
              <a:rPr lang="en-CA" sz="2100" b="1" dirty="0">
                <a:solidFill>
                  <a:schemeClr val="dk2"/>
                </a:solidFill>
              </a:rPr>
              <a:t> </a:t>
            </a:r>
            <a:r>
              <a:rPr lang="en-CA" sz="2100" b="1" dirty="0" err="1">
                <a:solidFill>
                  <a:schemeClr val="dk2"/>
                </a:solidFill>
              </a:rPr>
              <a:t>nhất</a:t>
            </a:r>
            <a:r>
              <a:rPr lang="en-CA" sz="2100" b="1" dirty="0">
                <a:solidFill>
                  <a:schemeClr val="dk2"/>
                </a:solidFill>
              </a:rPr>
              <a:t>) </a:t>
            </a:r>
            <a:r>
              <a:rPr lang="en-CA" sz="2100" b="1" dirty="0" err="1">
                <a:solidFill>
                  <a:schemeClr val="dk2"/>
                </a:solidFill>
              </a:rPr>
              <a:t>cho</a:t>
            </a:r>
            <a:r>
              <a:rPr lang="en-CA" sz="2100" b="1" dirty="0">
                <a:solidFill>
                  <a:schemeClr val="dk2"/>
                </a:solidFill>
              </a:rPr>
              <a:t> </a:t>
            </a:r>
            <a:r>
              <a:rPr lang="en-CA" sz="2100" b="1" dirty="0" err="1">
                <a:solidFill>
                  <a:schemeClr val="dk2"/>
                </a:solidFill>
              </a:rPr>
              <a:t>Quản</a:t>
            </a:r>
            <a:r>
              <a:rPr lang="en-CA" sz="2100" b="1" dirty="0">
                <a:solidFill>
                  <a:schemeClr val="dk2"/>
                </a:solidFill>
              </a:rPr>
              <a:t> </a:t>
            </a:r>
            <a:r>
              <a:rPr lang="en-CA" sz="2100" b="1" dirty="0" err="1">
                <a:solidFill>
                  <a:schemeClr val="dk2"/>
                </a:solidFill>
              </a:rPr>
              <a:t>lý</a:t>
            </a:r>
            <a:r>
              <a:rPr lang="en-CA" sz="2100" b="1" dirty="0">
                <a:solidFill>
                  <a:schemeClr val="dk2"/>
                </a:solidFill>
              </a:rPr>
              <a:t> </a:t>
            </a:r>
            <a:r>
              <a:rPr lang="en-CA" sz="2100" b="1" dirty="0" err="1">
                <a:solidFill>
                  <a:schemeClr val="dk2"/>
                </a:solidFill>
              </a:rPr>
              <a:t>Thiết</a:t>
            </a:r>
            <a:r>
              <a:rPr lang="en-CA" sz="2100" b="1" dirty="0">
                <a:solidFill>
                  <a:schemeClr val="dk2"/>
                </a:solidFill>
              </a:rPr>
              <a:t> </a:t>
            </a:r>
            <a:r>
              <a:rPr lang="en-CA" sz="2100" b="1" dirty="0" err="1">
                <a:solidFill>
                  <a:schemeClr val="dk2"/>
                </a:solidFill>
              </a:rPr>
              <a:t>bị</a:t>
            </a:r>
            <a:r>
              <a:rPr lang="en-CA" sz="2100" b="1" dirty="0">
                <a:solidFill>
                  <a:schemeClr val="dk2"/>
                </a:solidFill>
              </a:rPr>
              <a:t> IoT:</a:t>
            </a:r>
            <a:endParaRPr sz="2100" b="1" dirty="0">
              <a:solidFill>
                <a:schemeClr val="dk2"/>
              </a:solidFill>
            </a:endParaRPr>
          </a:p>
          <a:p>
            <a:pPr marL="914400" lvl="0" indent="0" algn="l" rtl="0">
              <a:spcBef>
                <a:spcPts val="1200"/>
              </a:spcBef>
              <a:spcAft>
                <a:spcPts val="1200"/>
              </a:spcAft>
              <a:buNone/>
            </a:pPr>
            <a:endParaRPr sz="1700" dirty="0"/>
          </a:p>
        </p:txBody>
      </p:sp>
      <p:pic>
        <p:nvPicPr>
          <p:cNvPr id="115" name="Google Shape;115;p22"/>
          <p:cNvPicPr preferRelativeResize="0"/>
          <p:nvPr/>
        </p:nvPicPr>
        <p:blipFill>
          <a:blip r:embed="rId3">
            <a:alphaModFix/>
          </a:blip>
          <a:stretch>
            <a:fillRect/>
          </a:stretch>
        </p:blipFill>
        <p:spPr>
          <a:xfrm>
            <a:off x="452425" y="1732213"/>
            <a:ext cx="8239125" cy="2276475"/>
          </a:xfrm>
          <a:prstGeom prst="rect">
            <a:avLst/>
          </a:prstGeom>
          <a:noFill/>
          <a:ln>
            <a:noFill/>
          </a:ln>
        </p:spPr>
      </p:pic>
      <p:sp>
        <p:nvSpPr>
          <p:cNvPr id="116" name="Google Shape;116;p22"/>
          <p:cNvSpPr txBox="1"/>
          <p:nvPr/>
        </p:nvSpPr>
        <p:spPr>
          <a:xfrm>
            <a:off x="1435225" y="4152675"/>
            <a:ext cx="5748300" cy="34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000">
                <a:solidFill>
                  <a:schemeClr val="lt2"/>
                </a:solidFill>
                <a:latin typeface="Source Sans Pro"/>
                <a:ea typeface="Source Sans Pro"/>
                <a:cs typeface="Source Sans Pro"/>
                <a:sym typeface="Source Sans Pro"/>
              </a:rPr>
              <a:t>[*]https://www.kaaiot.com/blog/understanding-iot-device-management</a:t>
            </a:r>
            <a:endParaRPr sz="1000">
              <a:solidFill>
                <a:schemeClr val="lt2"/>
              </a:solidFill>
              <a:latin typeface="Source Sans Pro"/>
              <a:ea typeface="Source Sans Pro"/>
              <a:cs typeface="Source Sans Pro"/>
              <a:sym typeface="Source Sans Pr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120"/>
        <p:cNvGrpSpPr/>
        <p:nvPr/>
      </p:nvGrpSpPr>
      <p:grpSpPr>
        <a:xfrm>
          <a:off x="0" y="0"/>
          <a:ext cx="0" cy="0"/>
          <a:chOff x="0" y="0"/>
          <a:chExt cx="0" cy="0"/>
        </a:xfrm>
      </p:grpSpPr>
      <p:sp>
        <p:nvSpPr>
          <p:cNvPr id="121" name="Google Shape;121;p23"/>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a:t>Quản lý thiết bị</a:t>
            </a:r>
            <a:endParaRPr/>
          </a:p>
        </p:txBody>
      </p:sp>
      <p:sp>
        <p:nvSpPr>
          <p:cNvPr id="122" name="Google Shape;122;p23"/>
          <p:cNvSpPr txBox="1">
            <a:spLocks noGrp="1"/>
          </p:cNvSpPr>
          <p:nvPr>
            <p:ph type="body" idx="1"/>
          </p:nvPr>
        </p:nvSpPr>
        <p:spPr>
          <a:xfrm>
            <a:off x="311700" y="1152475"/>
            <a:ext cx="8520600" cy="3874500"/>
          </a:xfrm>
          <a:prstGeom prst="rect">
            <a:avLst/>
          </a:prstGeom>
        </p:spPr>
        <p:txBody>
          <a:bodyPr spcFirstLastPara="1" wrap="square" lIns="91425" tIns="91425" rIns="91425" bIns="91425" anchor="t" anchorCtr="0">
            <a:normAutofit lnSpcReduction="10000"/>
          </a:bodyPr>
          <a:lstStyle/>
          <a:p>
            <a:pPr marL="457200" lvl="0" indent="-349250" algn="l" rtl="0">
              <a:spcBef>
                <a:spcPts val="0"/>
              </a:spcBef>
              <a:spcAft>
                <a:spcPts val="0"/>
              </a:spcAft>
              <a:buClr>
                <a:schemeClr val="dk2"/>
              </a:buClr>
              <a:buSzPts val="1900"/>
              <a:buChar char="-"/>
            </a:pPr>
            <a:r>
              <a:rPr lang="en-CA" sz="1900" b="1">
                <a:solidFill>
                  <a:schemeClr val="dk2"/>
                </a:solidFill>
              </a:rPr>
              <a:t>Thực hành tốt nhất (Best practice) cho Quản lý Thiết bị IoT:</a:t>
            </a:r>
            <a:endParaRPr sz="1900" b="1">
              <a:solidFill>
                <a:schemeClr val="dk2"/>
              </a:solidFill>
            </a:endParaRPr>
          </a:p>
          <a:p>
            <a:pPr marL="914400" lvl="1" indent="-336550" algn="l" rtl="0">
              <a:spcBef>
                <a:spcPts val="0"/>
              </a:spcBef>
              <a:spcAft>
                <a:spcPts val="0"/>
              </a:spcAft>
              <a:buSzPts val="1700"/>
              <a:buChar char="-"/>
            </a:pPr>
            <a:r>
              <a:rPr lang="en-CA" sz="1700" b="1"/>
              <a:t>Triển khai các cơ chế giám sát và kiểm soát thiết bị:</a:t>
            </a:r>
            <a:endParaRPr sz="1700" b="1"/>
          </a:p>
          <a:p>
            <a:pPr marL="1371600" lvl="2" indent="-336550" algn="l" rtl="0">
              <a:spcBef>
                <a:spcPts val="0"/>
              </a:spcBef>
              <a:spcAft>
                <a:spcPts val="0"/>
              </a:spcAft>
              <a:buSzPts val="1700"/>
              <a:buChar char="-"/>
            </a:pPr>
            <a:r>
              <a:rPr lang="en-CA" sz="1700"/>
              <a:t>Công cụ giám sát từ xa.</a:t>
            </a:r>
            <a:endParaRPr sz="1700"/>
          </a:p>
          <a:p>
            <a:pPr marL="1371600" lvl="2" indent="-336550" algn="l" rtl="0">
              <a:spcBef>
                <a:spcPts val="0"/>
              </a:spcBef>
              <a:spcAft>
                <a:spcPts val="0"/>
              </a:spcAft>
              <a:buSzPts val="1700"/>
              <a:buChar char="-"/>
            </a:pPr>
            <a:r>
              <a:rPr lang="en-CA" sz="1700"/>
              <a:t>Hệ thống cảnh báo.</a:t>
            </a:r>
            <a:endParaRPr sz="1700"/>
          </a:p>
          <a:p>
            <a:pPr marL="1371600" lvl="2" indent="-336550" algn="l" rtl="0">
              <a:spcBef>
                <a:spcPts val="0"/>
              </a:spcBef>
              <a:spcAft>
                <a:spcPts val="0"/>
              </a:spcAft>
              <a:buSzPts val="1700"/>
              <a:buChar char="-"/>
            </a:pPr>
            <a:r>
              <a:rPr lang="en-CA" sz="1700"/>
              <a:t>Cơ chế kiểm soát.</a:t>
            </a:r>
            <a:endParaRPr sz="1700"/>
          </a:p>
          <a:p>
            <a:pPr marL="914400" lvl="1" indent="-336550" algn="l" rtl="0">
              <a:spcBef>
                <a:spcPts val="0"/>
              </a:spcBef>
              <a:spcAft>
                <a:spcPts val="0"/>
              </a:spcAft>
              <a:buSzPts val="1700"/>
              <a:buChar char="-"/>
            </a:pPr>
            <a:r>
              <a:rPr lang="en-CA" sz="1700" b="1"/>
              <a:t>Duy trì bảo mật trong suốt vòng đời của thiết bị:</a:t>
            </a:r>
            <a:endParaRPr sz="1700" b="1"/>
          </a:p>
          <a:p>
            <a:pPr marL="1371600" lvl="2" indent="-336550" algn="l" rtl="0">
              <a:spcBef>
                <a:spcPts val="0"/>
              </a:spcBef>
              <a:spcAft>
                <a:spcPts val="0"/>
              </a:spcAft>
              <a:buSzPts val="1700"/>
              <a:buChar char="-"/>
            </a:pPr>
            <a:r>
              <a:rPr lang="en-CA" sz="1700"/>
              <a:t>Xác thực và kiểm soát truy cập</a:t>
            </a:r>
            <a:endParaRPr sz="1700"/>
          </a:p>
          <a:p>
            <a:pPr marL="1371600" lvl="2" indent="-336550" algn="l" rtl="0">
              <a:spcBef>
                <a:spcPts val="0"/>
              </a:spcBef>
              <a:spcAft>
                <a:spcPts val="0"/>
              </a:spcAft>
              <a:buSzPts val="1700"/>
              <a:buChar char="-"/>
            </a:pPr>
            <a:r>
              <a:rPr lang="en-CA" sz="1700"/>
              <a:t>Mã hóa và bảo vệ dữ liệu. </a:t>
            </a:r>
            <a:endParaRPr sz="1700"/>
          </a:p>
          <a:p>
            <a:pPr marL="1371600" lvl="2" indent="-336550" algn="l" rtl="0">
              <a:spcBef>
                <a:spcPts val="0"/>
              </a:spcBef>
              <a:spcAft>
                <a:spcPts val="0"/>
              </a:spcAft>
              <a:buSzPts val="1700"/>
              <a:buChar char="-"/>
            </a:pPr>
            <a:r>
              <a:rPr lang="en-CA" sz="1700"/>
              <a:t>Cập nhật bảo mật thường xuyên. </a:t>
            </a:r>
            <a:endParaRPr sz="1700"/>
          </a:p>
          <a:p>
            <a:pPr marL="914400" lvl="1" indent="-336550" algn="l" rtl="0">
              <a:spcBef>
                <a:spcPts val="0"/>
              </a:spcBef>
              <a:spcAft>
                <a:spcPts val="0"/>
              </a:spcAft>
              <a:buSzPts val="1700"/>
              <a:buChar char="-"/>
            </a:pPr>
            <a:r>
              <a:rPr lang="en-CA" sz="1700" b="1"/>
              <a:t>Thiết lập hệ thống theo dõi và quản lý tài sản hiệu quả:</a:t>
            </a:r>
            <a:endParaRPr sz="1700" b="1"/>
          </a:p>
          <a:p>
            <a:pPr marL="1371600" lvl="2" indent="-336550" algn="l" rtl="0">
              <a:spcBef>
                <a:spcPts val="0"/>
              </a:spcBef>
              <a:spcAft>
                <a:spcPts val="0"/>
              </a:spcAft>
              <a:buSzPts val="1700"/>
              <a:buChar char="-"/>
            </a:pPr>
            <a:r>
              <a:rPr lang="en-CA" sz="1700"/>
              <a:t>Kiểm kê và nhận dạng thiết bị.</a:t>
            </a:r>
            <a:endParaRPr sz="1700"/>
          </a:p>
          <a:p>
            <a:pPr marL="1371600" lvl="2" indent="-336550" algn="l" rtl="0">
              <a:spcBef>
                <a:spcPts val="0"/>
              </a:spcBef>
              <a:spcAft>
                <a:spcPts val="0"/>
              </a:spcAft>
              <a:buSzPts val="1700"/>
              <a:buChar char="-"/>
            </a:pPr>
            <a:r>
              <a:rPr lang="en-CA" sz="1700"/>
              <a:t>Hệ thống theo dõi tài sản.</a:t>
            </a:r>
            <a:endParaRPr sz="1700"/>
          </a:p>
          <a:p>
            <a:pPr marL="1371600" lvl="2" indent="-336550" algn="l" rtl="0">
              <a:spcBef>
                <a:spcPts val="0"/>
              </a:spcBef>
              <a:spcAft>
                <a:spcPts val="0"/>
              </a:spcAft>
              <a:buSzPts val="1700"/>
              <a:buChar char="-"/>
            </a:pPr>
            <a:r>
              <a:rPr lang="en-CA" sz="1700"/>
              <a:t>Quản lý vòng đời.</a:t>
            </a:r>
            <a:endParaRPr sz="17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126"/>
        <p:cNvGrpSpPr/>
        <p:nvPr/>
      </p:nvGrpSpPr>
      <p:grpSpPr>
        <a:xfrm>
          <a:off x="0" y="0"/>
          <a:ext cx="0" cy="0"/>
          <a:chOff x="0" y="0"/>
          <a:chExt cx="0" cy="0"/>
        </a:xfrm>
      </p:grpSpPr>
      <p:sp>
        <p:nvSpPr>
          <p:cNvPr id="127" name="Google Shape;127;p2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a:t>Quản lý thiết bị</a:t>
            </a:r>
            <a:endParaRPr/>
          </a:p>
        </p:txBody>
      </p:sp>
      <p:sp>
        <p:nvSpPr>
          <p:cNvPr id="128" name="Google Shape;128;p24"/>
          <p:cNvSpPr txBox="1">
            <a:spLocks noGrp="1"/>
          </p:cNvSpPr>
          <p:nvPr>
            <p:ph type="body" idx="1"/>
          </p:nvPr>
        </p:nvSpPr>
        <p:spPr>
          <a:xfrm>
            <a:off x="311700" y="1152475"/>
            <a:ext cx="8520600" cy="38745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Clr>
                <a:schemeClr val="dk2"/>
              </a:buClr>
              <a:buSzPts val="2100"/>
              <a:buChar char="-"/>
            </a:pPr>
            <a:r>
              <a:rPr lang="en-CA" sz="2100" b="1">
                <a:solidFill>
                  <a:schemeClr val="dk2"/>
                </a:solidFill>
              </a:rPr>
              <a:t>Các Thành Phần của Quản Lý Thiết Bị IoT:</a:t>
            </a:r>
            <a:endParaRPr sz="2100" b="1">
              <a:solidFill>
                <a:schemeClr val="dk2"/>
              </a:solidFill>
            </a:endParaRPr>
          </a:p>
          <a:p>
            <a:pPr marL="914400" lvl="1" indent="-342900" algn="l" rtl="0">
              <a:spcBef>
                <a:spcPts val="0"/>
              </a:spcBef>
              <a:spcAft>
                <a:spcPts val="0"/>
              </a:spcAft>
              <a:buSzPts val="1800"/>
              <a:buChar char="-"/>
            </a:pPr>
            <a:r>
              <a:rPr lang="en-CA" sz="1800"/>
              <a:t>Cảm biến và bộ điều khiển - thiết bị</a:t>
            </a:r>
            <a:endParaRPr sz="1800"/>
          </a:p>
          <a:p>
            <a:pPr marL="914400" lvl="1" indent="-342900" algn="l" rtl="0">
              <a:spcBef>
                <a:spcPts val="0"/>
              </a:spcBef>
              <a:spcAft>
                <a:spcPts val="0"/>
              </a:spcAft>
              <a:buSzPts val="1800"/>
              <a:buChar char="-"/>
            </a:pPr>
            <a:r>
              <a:rPr lang="en-CA" sz="1800"/>
              <a:t>Cloud</a:t>
            </a:r>
            <a:endParaRPr sz="1800"/>
          </a:p>
          <a:p>
            <a:pPr marL="914400" lvl="1" indent="-342900" algn="l" rtl="0">
              <a:spcBef>
                <a:spcPts val="0"/>
              </a:spcBef>
              <a:spcAft>
                <a:spcPts val="0"/>
              </a:spcAft>
              <a:buSzPts val="1800"/>
              <a:buChar char="-"/>
            </a:pPr>
            <a:r>
              <a:rPr lang="en-CA" sz="1800"/>
              <a:t>Kết nối</a:t>
            </a:r>
            <a:endParaRPr sz="1800"/>
          </a:p>
          <a:p>
            <a:pPr marL="914400" lvl="1" indent="-342900" algn="l" rtl="0">
              <a:spcBef>
                <a:spcPts val="0"/>
              </a:spcBef>
              <a:spcAft>
                <a:spcPts val="0"/>
              </a:spcAft>
              <a:buSzPts val="1800"/>
              <a:buChar char="-"/>
            </a:pPr>
            <a:r>
              <a:rPr lang="en-CA" sz="1800"/>
              <a:t>Phân tích dữ liệu</a:t>
            </a:r>
            <a:endParaRPr sz="1800"/>
          </a:p>
          <a:p>
            <a:pPr marL="914400" lvl="1" indent="-342900" algn="l" rtl="0">
              <a:spcBef>
                <a:spcPts val="0"/>
              </a:spcBef>
              <a:spcAft>
                <a:spcPts val="0"/>
              </a:spcAft>
              <a:buSzPts val="1800"/>
              <a:buChar char="-"/>
            </a:pPr>
            <a:r>
              <a:rPr lang="en-CA" sz="1800"/>
              <a:t>Giao diện người dùng</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2. An </a:t>
            </a:r>
            <a:r>
              <a:rPr lang="en-US" dirty="0" err="1"/>
              <a:t>toàn</a:t>
            </a:r>
            <a:r>
              <a:rPr lang="en-US" dirty="0"/>
              <a:t> </a:t>
            </a:r>
            <a:r>
              <a:rPr lang="en-US" dirty="0" err="1"/>
              <a:t>thông</a:t>
            </a:r>
            <a:r>
              <a:rPr lang="en-US" dirty="0"/>
              <a:t> tin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p:txBody>
          <a:bodyPr/>
          <a:lstStyle/>
          <a:p>
            <a:r>
              <a:rPr lang="vi-VN" dirty="0"/>
              <a:t>Internet of Things (IoT) kết nối hàng tỷ thiết bị, cảm biến, hệ thống điều khiển… tạo nên mạng lưới thông minh.</a:t>
            </a:r>
          </a:p>
          <a:p>
            <a:endParaRPr lang="vi-VN" dirty="0"/>
          </a:p>
          <a:p>
            <a:r>
              <a:rPr lang="vi-VN" dirty="0"/>
              <a:t>Tuy nhiên, mở rộng kết nối đồng nghĩa mở rộng rủi ro — mỗi thiết bị IoT có thể trở thành điểm yếu bảo mật.</a:t>
            </a:r>
          </a:p>
          <a:p>
            <a:endParaRPr lang="vi-VN" dirty="0"/>
          </a:p>
          <a:p>
            <a:r>
              <a:rPr lang="vi-VN" dirty="0"/>
              <a:t>Đồng thời, đạo đức nghề nghiệp trong phát triển và vận hành IoT là yếu tố cốt lõi để duy trì niềm tin, an toàn và quyền riêng tư của người dùng.</a:t>
            </a:r>
            <a:endParaRPr lang="en-US" dirty="0"/>
          </a:p>
        </p:txBody>
      </p:sp>
    </p:spTree>
    <p:extLst>
      <p:ext uri="{BB962C8B-B14F-4D97-AF65-F5344CB8AC3E}">
        <p14:creationId xmlns:p14="http://schemas.microsoft.com/office/powerpoint/2010/main" val="4094234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2. An </a:t>
            </a:r>
            <a:r>
              <a:rPr lang="en-US" dirty="0" err="1"/>
              <a:t>toàn</a:t>
            </a:r>
            <a:r>
              <a:rPr lang="en-US" dirty="0"/>
              <a:t> </a:t>
            </a:r>
            <a:r>
              <a:rPr lang="en-US" dirty="0" err="1"/>
              <a:t>thông</a:t>
            </a:r>
            <a:r>
              <a:rPr lang="en-US" dirty="0"/>
              <a:t> tin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rmAutofit/>
          </a:bodyPr>
          <a:lstStyle/>
          <a:p>
            <a:pPr marL="114300" indent="0">
              <a:buNone/>
            </a:pPr>
            <a:r>
              <a:rPr lang="en-US" b="1" u="sng" dirty="0" err="1"/>
              <a:t>Các</a:t>
            </a:r>
            <a:r>
              <a:rPr lang="en-US" b="1" u="sng" dirty="0"/>
              <a:t> </a:t>
            </a:r>
            <a:r>
              <a:rPr lang="en-US" b="1" u="sng" dirty="0" err="1"/>
              <a:t>vấn</a:t>
            </a:r>
            <a:r>
              <a:rPr lang="en-US" b="1" u="sng" dirty="0"/>
              <a:t> </a:t>
            </a:r>
            <a:r>
              <a:rPr lang="en-US" b="1" u="sng" dirty="0" err="1"/>
              <a:t>đề</a:t>
            </a:r>
            <a:r>
              <a:rPr lang="en-US" b="1" u="sng" dirty="0"/>
              <a:t> an </a:t>
            </a:r>
            <a:r>
              <a:rPr lang="en-US" b="1" u="sng" dirty="0" err="1"/>
              <a:t>toàn</a:t>
            </a:r>
            <a:r>
              <a:rPr lang="en-US" b="1" u="sng" dirty="0"/>
              <a:t> </a:t>
            </a:r>
            <a:r>
              <a:rPr lang="en-US" b="1" u="sng" dirty="0" err="1"/>
              <a:t>thông</a:t>
            </a:r>
            <a:r>
              <a:rPr lang="en-US" b="1" u="sng" dirty="0"/>
              <a:t> tin </a:t>
            </a:r>
            <a:r>
              <a:rPr lang="en-US" b="1" u="sng" dirty="0" err="1"/>
              <a:t>trong</a:t>
            </a:r>
            <a:r>
              <a:rPr lang="en-US" b="1" u="sng" dirty="0"/>
              <a:t> IoT</a:t>
            </a:r>
          </a:p>
          <a:p>
            <a:r>
              <a:rPr lang="vi-VN" dirty="0"/>
              <a:t>Mức thiết bị (Device Layer)</a:t>
            </a:r>
            <a:endParaRPr lang="en-US" dirty="0"/>
          </a:p>
          <a:p>
            <a:pPr marL="114300" indent="0">
              <a:buNone/>
            </a:pPr>
            <a:endParaRPr lang="vi-VN" dirty="0"/>
          </a:p>
          <a:p>
            <a:pPr lvl="1"/>
            <a:r>
              <a:rPr lang="vi-VN" sz="1800" dirty="0"/>
              <a:t>Nguy cơ: firmware lỗi thời, mật khẩu mặc định, không mã hóa dữ liệu.</a:t>
            </a:r>
            <a:endParaRPr lang="en-US" sz="1800" dirty="0"/>
          </a:p>
          <a:p>
            <a:pPr lvl="1"/>
            <a:endParaRPr lang="vi-VN" sz="1800" dirty="0"/>
          </a:p>
          <a:p>
            <a:pPr lvl="1"/>
            <a:r>
              <a:rPr lang="vi-VN" sz="1800" dirty="0"/>
              <a:t>Ví dụ: camera IP bị chiếm quyền điều khiển từ xa.</a:t>
            </a:r>
            <a:endParaRPr lang="en-US" sz="1800" dirty="0"/>
          </a:p>
          <a:p>
            <a:pPr lvl="1"/>
            <a:endParaRPr lang="vi-VN" sz="1800" dirty="0"/>
          </a:p>
          <a:p>
            <a:pPr lvl="1"/>
            <a:r>
              <a:rPr lang="vi-VN" sz="1800" dirty="0"/>
              <a:t>Giải pháp:</a:t>
            </a:r>
          </a:p>
          <a:p>
            <a:pPr lvl="2"/>
            <a:r>
              <a:rPr lang="vi-VN" sz="1800" dirty="0"/>
              <a:t>Cập nhật firmware định kỳ.</a:t>
            </a:r>
          </a:p>
          <a:p>
            <a:pPr lvl="2"/>
            <a:r>
              <a:rPr lang="vi-VN" sz="1800" dirty="0"/>
              <a:t>Mã hóa dữ liệu tại nguồn (AES, TLS).</a:t>
            </a:r>
          </a:p>
          <a:p>
            <a:pPr lvl="2"/>
            <a:r>
              <a:rPr lang="vi-VN" sz="1800" dirty="0"/>
              <a:t>Cấu hình xác thực mạnh (multi-factor).</a:t>
            </a:r>
            <a:endParaRPr lang="en-US" sz="1800" dirty="0"/>
          </a:p>
        </p:txBody>
      </p:sp>
    </p:spTree>
    <p:extLst>
      <p:ext uri="{BB962C8B-B14F-4D97-AF65-F5344CB8AC3E}">
        <p14:creationId xmlns:p14="http://schemas.microsoft.com/office/powerpoint/2010/main" val="414263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2. An </a:t>
            </a:r>
            <a:r>
              <a:rPr lang="en-US" dirty="0" err="1"/>
              <a:t>toàn</a:t>
            </a:r>
            <a:r>
              <a:rPr lang="en-US" dirty="0"/>
              <a:t> </a:t>
            </a:r>
            <a:r>
              <a:rPr lang="en-US" dirty="0" err="1"/>
              <a:t>thông</a:t>
            </a:r>
            <a:r>
              <a:rPr lang="en-US" dirty="0"/>
              <a:t> tin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en-US" b="1" u="sng" dirty="0" err="1"/>
              <a:t>Các</a:t>
            </a:r>
            <a:r>
              <a:rPr lang="en-US" b="1" u="sng" dirty="0"/>
              <a:t> </a:t>
            </a:r>
            <a:r>
              <a:rPr lang="en-US" b="1" u="sng" dirty="0" err="1"/>
              <a:t>vấn</a:t>
            </a:r>
            <a:r>
              <a:rPr lang="en-US" b="1" u="sng" dirty="0"/>
              <a:t> </a:t>
            </a:r>
            <a:r>
              <a:rPr lang="en-US" b="1" u="sng" dirty="0" err="1"/>
              <a:t>đề</a:t>
            </a:r>
            <a:r>
              <a:rPr lang="en-US" b="1" u="sng" dirty="0"/>
              <a:t> an </a:t>
            </a:r>
            <a:r>
              <a:rPr lang="en-US" b="1" u="sng" dirty="0" err="1"/>
              <a:t>toàn</a:t>
            </a:r>
            <a:r>
              <a:rPr lang="en-US" b="1" u="sng" dirty="0"/>
              <a:t> </a:t>
            </a:r>
            <a:r>
              <a:rPr lang="en-US" b="1" u="sng" dirty="0" err="1"/>
              <a:t>thông</a:t>
            </a:r>
            <a:r>
              <a:rPr lang="en-US" b="1" u="sng" dirty="0"/>
              <a:t> tin </a:t>
            </a:r>
            <a:r>
              <a:rPr lang="en-US" b="1" u="sng" dirty="0" err="1"/>
              <a:t>trong</a:t>
            </a:r>
            <a:r>
              <a:rPr lang="en-US" b="1" u="sng" dirty="0"/>
              <a:t> IoT</a:t>
            </a:r>
          </a:p>
          <a:p>
            <a:r>
              <a:rPr lang="vi-VN" dirty="0"/>
              <a:t>Mức mạng (Network Layer)</a:t>
            </a:r>
          </a:p>
          <a:p>
            <a:endParaRPr lang="vi-VN" dirty="0"/>
          </a:p>
          <a:p>
            <a:pPr lvl="1"/>
            <a:r>
              <a:rPr lang="vi-VN" sz="1800" dirty="0"/>
              <a:t>Nguy cơ: tấn công Man-in-the-Middle, giả mạo gói tin, nghe lén dữ liệu MQTT/HTTP.</a:t>
            </a:r>
          </a:p>
          <a:p>
            <a:endParaRPr lang="vi-VN" dirty="0"/>
          </a:p>
          <a:p>
            <a:pPr lvl="1"/>
            <a:r>
              <a:rPr lang="vi-VN" sz="1800" dirty="0"/>
              <a:t>Giải pháp:</a:t>
            </a:r>
            <a:endParaRPr lang="vi-VN" dirty="0"/>
          </a:p>
          <a:p>
            <a:pPr lvl="2"/>
            <a:r>
              <a:rPr lang="vi-VN" sz="1800" dirty="0"/>
              <a:t>Dùng giao thức an toàn (MQTTS, HTTPS).</a:t>
            </a:r>
            <a:endParaRPr lang="vi-VN" dirty="0"/>
          </a:p>
          <a:p>
            <a:pPr lvl="2"/>
            <a:r>
              <a:rPr lang="vi-VN" sz="1800" dirty="0"/>
              <a:t>Thiết lập VPN hoặc tường lửa IoT Gateway.</a:t>
            </a:r>
            <a:endParaRPr lang="vi-VN" dirty="0"/>
          </a:p>
          <a:p>
            <a:pPr lvl="2"/>
            <a:r>
              <a:rPr lang="vi-VN" sz="1800" dirty="0"/>
              <a:t>Giám sát lưu lượng bất thường (Intrusion Detection).</a:t>
            </a:r>
            <a:endParaRPr lang="en-US" sz="1800" dirty="0"/>
          </a:p>
        </p:txBody>
      </p:sp>
    </p:spTree>
    <p:extLst>
      <p:ext uri="{BB962C8B-B14F-4D97-AF65-F5344CB8AC3E}">
        <p14:creationId xmlns:p14="http://schemas.microsoft.com/office/powerpoint/2010/main" val="202033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2. An </a:t>
            </a:r>
            <a:r>
              <a:rPr lang="en-US" dirty="0" err="1"/>
              <a:t>toàn</a:t>
            </a:r>
            <a:r>
              <a:rPr lang="en-US" dirty="0"/>
              <a:t> </a:t>
            </a:r>
            <a:r>
              <a:rPr lang="en-US" dirty="0" err="1"/>
              <a:t>thông</a:t>
            </a:r>
            <a:r>
              <a:rPr lang="en-US" dirty="0"/>
              <a:t> tin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en-US" b="1" u="sng" dirty="0" err="1"/>
              <a:t>Các</a:t>
            </a:r>
            <a:r>
              <a:rPr lang="en-US" b="1" u="sng" dirty="0"/>
              <a:t> </a:t>
            </a:r>
            <a:r>
              <a:rPr lang="en-US" b="1" u="sng" dirty="0" err="1"/>
              <a:t>vấn</a:t>
            </a:r>
            <a:r>
              <a:rPr lang="en-US" b="1" u="sng" dirty="0"/>
              <a:t> </a:t>
            </a:r>
            <a:r>
              <a:rPr lang="en-US" b="1" u="sng" dirty="0" err="1"/>
              <a:t>đề</a:t>
            </a:r>
            <a:r>
              <a:rPr lang="en-US" b="1" u="sng" dirty="0"/>
              <a:t> an </a:t>
            </a:r>
            <a:r>
              <a:rPr lang="en-US" b="1" u="sng" dirty="0" err="1"/>
              <a:t>toàn</a:t>
            </a:r>
            <a:r>
              <a:rPr lang="en-US" b="1" u="sng" dirty="0"/>
              <a:t> </a:t>
            </a:r>
            <a:r>
              <a:rPr lang="en-US" b="1" u="sng" dirty="0" err="1"/>
              <a:t>thông</a:t>
            </a:r>
            <a:r>
              <a:rPr lang="en-US" b="1" u="sng" dirty="0"/>
              <a:t> tin </a:t>
            </a:r>
            <a:r>
              <a:rPr lang="en-US" b="1" u="sng" dirty="0" err="1"/>
              <a:t>trong</a:t>
            </a:r>
            <a:r>
              <a:rPr lang="en-US" b="1" u="sng" dirty="0"/>
              <a:t> IoT</a:t>
            </a:r>
          </a:p>
          <a:p>
            <a:r>
              <a:rPr lang="vi-VN" dirty="0"/>
              <a:t>Mức ứng dụng &amp; dữ liệu (Application Layer)</a:t>
            </a:r>
          </a:p>
          <a:p>
            <a:endParaRPr lang="vi-VN" dirty="0"/>
          </a:p>
          <a:p>
            <a:pPr lvl="1"/>
            <a:r>
              <a:rPr lang="vi-VN" sz="1800" dirty="0"/>
              <a:t>Nguy cơ: rò rỉ dữ liệu cá nhân, khai thác dữ liệu vượt quyền, thiếu kiểm soát truy cập.</a:t>
            </a:r>
          </a:p>
          <a:p>
            <a:endParaRPr lang="vi-VN" dirty="0"/>
          </a:p>
          <a:p>
            <a:pPr lvl="1"/>
            <a:r>
              <a:rPr lang="vi-VN" sz="1800" dirty="0"/>
              <a:t>Giải pháp:</a:t>
            </a:r>
            <a:endParaRPr lang="vi-VN" dirty="0"/>
          </a:p>
          <a:p>
            <a:pPr lvl="2"/>
            <a:r>
              <a:rPr lang="vi-VN" sz="1800" dirty="0"/>
              <a:t>Ẩn danh hóa (anonymization) dữ liệu người dùng.</a:t>
            </a:r>
            <a:endParaRPr lang="vi-VN" dirty="0"/>
          </a:p>
          <a:p>
            <a:pPr lvl="2"/>
            <a:r>
              <a:rPr lang="vi-VN" sz="1800" dirty="0"/>
              <a:t>Kiểm soát quyền truy cập theo vai trò (RBAC).</a:t>
            </a:r>
            <a:endParaRPr lang="vi-VN" dirty="0"/>
          </a:p>
          <a:p>
            <a:pPr lvl="2"/>
            <a:r>
              <a:rPr lang="vi-VN" sz="1800" dirty="0"/>
              <a:t>Lưu trữ dữ liệu nhạy cảm trên cloud bảo mật cao.</a:t>
            </a:r>
            <a:endParaRPr lang="en-US" sz="1800" dirty="0"/>
          </a:p>
        </p:txBody>
      </p:sp>
    </p:spTree>
    <p:extLst>
      <p:ext uri="{BB962C8B-B14F-4D97-AF65-F5344CB8AC3E}">
        <p14:creationId xmlns:p14="http://schemas.microsoft.com/office/powerpoint/2010/main" val="561582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2. An </a:t>
            </a:r>
            <a:r>
              <a:rPr lang="en-US" dirty="0" err="1"/>
              <a:t>toàn</a:t>
            </a:r>
            <a:r>
              <a:rPr lang="en-US" dirty="0"/>
              <a:t> </a:t>
            </a:r>
            <a:r>
              <a:rPr lang="en-US" dirty="0" err="1"/>
              <a:t>thông</a:t>
            </a:r>
            <a:r>
              <a:rPr lang="en-US" dirty="0"/>
              <a:t> tin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en-US" b="1" u="sng" dirty="0" err="1"/>
              <a:t>Các</a:t>
            </a:r>
            <a:r>
              <a:rPr lang="en-US" b="1" u="sng" dirty="0"/>
              <a:t> </a:t>
            </a:r>
            <a:r>
              <a:rPr lang="en-US" b="1" u="sng" dirty="0" err="1"/>
              <a:t>vấn</a:t>
            </a:r>
            <a:r>
              <a:rPr lang="en-US" b="1" u="sng" dirty="0"/>
              <a:t> </a:t>
            </a:r>
            <a:r>
              <a:rPr lang="en-US" b="1" u="sng" dirty="0" err="1"/>
              <a:t>đề</a:t>
            </a:r>
            <a:r>
              <a:rPr lang="en-US" b="1" u="sng" dirty="0"/>
              <a:t> an </a:t>
            </a:r>
            <a:r>
              <a:rPr lang="en-US" b="1" u="sng" dirty="0" err="1"/>
              <a:t>toàn</a:t>
            </a:r>
            <a:r>
              <a:rPr lang="en-US" b="1" u="sng" dirty="0"/>
              <a:t> </a:t>
            </a:r>
            <a:r>
              <a:rPr lang="en-US" b="1" u="sng" dirty="0" err="1"/>
              <a:t>thông</a:t>
            </a:r>
            <a:r>
              <a:rPr lang="en-US" b="1" u="sng" dirty="0"/>
              <a:t> tin </a:t>
            </a:r>
            <a:r>
              <a:rPr lang="en-US" b="1" u="sng" dirty="0" err="1"/>
              <a:t>trong</a:t>
            </a:r>
            <a:r>
              <a:rPr lang="en-US" b="1" u="sng" dirty="0"/>
              <a:t> IoT</a:t>
            </a:r>
          </a:p>
          <a:p>
            <a:pPr marL="114300" indent="0">
              <a:buNone/>
            </a:pPr>
            <a:endParaRPr lang="en-US" b="1" u="sng" dirty="0"/>
          </a:p>
          <a:p>
            <a:r>
              <a:rPr lang="vi-VN" dirty="0"/>
              <a:t>Các kiểu tấn công phổ biến trong IoT</a:t>
            </a:r>
          </a:p>
          <a:p>
            <a:pPr lvl="1"/>
            <a:r>
              <a:rPr lang="vi-VN" sz="1800" dirty="0"/>
              <a:t>Botnet</a:t>
            </a:r>
            <a:endParaRPr lang="en-US" sz="1800" dirty="0"/>
          </a:p>
          <a:p>
            <a:pPr lvl="2"/>
            <a:r>
              <a:rPr lang="en-US" dirty="0" err="1"/>
              <a:t>Cập</a:t>
            </a:r>
            <a:r>
              <a:rPr lang="en-US" dirty="0"/>
              <a:t> </a:t>
            </a:r>
            <a:r>
              <a:rPr lang="en-US" dirty="0" err="1"/>
              <a:t>nhật</a:t>
            </a:r>
            <a:r>
              <a:rPr lang="en-US" dirty="0"/>
              <a:t> firmware, </a:t>
            </a:r>
            <a:r>
              <a:rPr lang="en-US" dirty="0" err="1"/>
              <a:t>xác</a:t>
            </a:r>
            <a:r>
              <a:rPr lang="en-US" dirty="0"/>
              <a:t> </a:t>
            </a:r>
            <a:r>
              <a:rPr lang="en-US" dirty="0" err="1"/>
              <a:t>thực</a:t>
            </a:r>
            <a:r>
              <a:rPr lang="en-US" dirty="0"/>
              <a:t> </a:t>
            </a:r>
            <a:r>
              <a:rPr lang="en-US" dirty="0" err="1"/>
              <a:t>mạnh</a:t>
            </a:r>
            <a:endParaRPr lang="vi-VN" dirty="0"/>
          </a:p>
          <a:p>
            <a:pPr lvl="1"/>
            <a:r>
              <a:rPr lang="en-US" sz="1800" dirty="0"/>
              <a:t>Spoofing</a:t>
            </a:r>
          </a:p>
          <a:p>
            <a:pPr lvl="2"/>
            <a:r>
              <a:rPr lang="en-US" dirty="0" err="1"/>
              <a:t>Chứng</a:t>
            </a:r>
            <a:r>
              <a:rPr lang="en-US" dirty="0"/>
              <a:t> </a:t>
            </a:r>
            <a:r>
              <a:rPr lang="en-US" dirty="0" err="1"/>
              <a:t>thực</a:t>
            </a:r>
            <a:r>
              <a:rPr lang="en-US" dirty="0"/>
              <a:t> </a:t>
            </a:r>
            <a:r>
              <a:rPr lang="en-US" dirty="0" err="1"/>
              <a:t>số</a:t>
            </a:r>
            <a:endParaRPr lang="en-US" dirty="0"/>
          </a:p>
          <a:p>
            <a:pPr lvl="1"/>
            <a:r>
              <a:rPr lang="en-US" sz="1800" dirty="0"/>
              <a:t>Sniffing</a:t>
            </a:r>
          </a:p>
          <a:p>
            <a:pPr lvl="2"/>
            <a:r>
              <a:rPr lang="en-US" dirty="0" err="1"/>
              <a:t>Sử</a:t>
            </a:r>
            <a:r>
              <a:rPr lang="en-US" dirty="0"/>
              <a:t> </a:t>
            </a:r>
            <a:r>
              <a:rPr lang="en-US" dirty="0" err="1"/>
              <a:t>dụng</a:t>
            </a:r>
            <a:r>
              <a:rPr lang="en-US" dirty="0"/>
              <a:t> TLS/SSL</a:t>
            </a:r>
          </a:p>
          <a:p>
            <a:pPr lvl="1"/>
            <a:r>
              <a:rPr lang="en-US" sz="1800" dirty="0"/>
              <a:t>Side-channel attack</a:t>
            </a:r>
          </a:p>
          <a:p>
            <a:pPr lvl="2"/>
            <a:r>
              <a:rPr lang="en-US" dirty="0"/>
              <a:t>Che </a:t>
            </a:r>
            <a:r>
              <a:rPr lang="en-US" dirty="0" err="1"/>
              <a:t>chắn</a:t>
            </a:r>
            <a:r>
              <a:rPr lang="en-US" dirty="0"/>
              <a:t> </a:t>
            </a:r>
            <a:r>
              <a:rPr lang="en-US" dirty="0" err="1"/>
              <a:t>vật</a:t>
            </a:r>
            <a:r>
              <a:rPr lang="en-US" dirty="0"/>
              <a:t> </a:t>
            </a:r>
            <a:r>
              <a:rPr lang="en-US" dirty="0" err="1"/>
              <a:t>lý</a:t>
            </a:r>
            <a:r>
              <a:rPr lang="en-US" dirty="0"/>
              <a:t>, </a:t>
            </a:r>
            <a:r>
              <a:rPr lang="en-US" dirty="0" err="1"/>
              <a:t>nhiễu</a:t>
            </a:r>
            <a:r>
              <a:rPr lang="en-US" dirty="0"/>
              <a:t> </a:t>
            </a:r>
            <a:r>
              <a:rPr lang="en-US" dirty="0" err="1"/>
              <a:t>ngẫu</a:t>
            </a:r>
            <a:r>
              <a:rPr lang="en-US" dirty="0"/>
              <a:t> </a:t>
            </a:r>
            <a:r>
              <a:rPr lang="en-US" dirty="0" err="1"/>
              <a:t>nhiên</a:t>
            </a:r>
            <a:endParaRPr lang="en-US" dirty="0"/>
          </a:p>
        </p:txBody>
      </p:sp>
      <p:pic>
        <p:nvPicPr>
          <p:cNvPr id="1026" name="Picture 2">
            <a:extLst>
              <a:ext uri="{FF2B5EF4-FFF2-40B4-BE49-F238E27FC236}">
                <a16:creationId xmlns:a16="http://schemas.microsoft.com/office/drawing/2014/main" id="{304C7A4B-972C-5DDD-9A81-162FF4EBC1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622976"/>
            <a:ext cx="4432434" cy="2855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4099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3. </a:t>
            </a:r>
            <a:r>
              <a:rPr lang="en-US" dirty="0" err="1"/>
              <a:t>Quyền</a:t>
            </a:r>
            <a:r>
              <a:rPr lang="en-US" dirty="0"/>
              <a:t> </a:t>
            </a:r>
            <a:r>
              <a:rPr lang="en-US" dirty="0" err="1"/>
              <a:t>riêng</a:t>
            </a:r>
            <a:r>
              <a:rPr lang="en-US" dirty="0"/>
              <a:t> </a:t>
            </a:r>
            <a:r>
              <a:rPr lang="en-US" dirty="0" err="1"/>
              <a:t>tư</a:t>
            </a:r>
            <a:r>
              <a:rPr lang="en-US" dirty="0"/>
              <a:t> </a:t>
            </a:r>
            <a:r>
              <a:rPr lang="en-US" dirty="0" err="1"/>
              <a:t>và</a:t>
            </a:r>
            <a:r>
              <a:rPr lang="en-US" dirty="0"/>
              <a:t> </a:t>
            </a:r>
            <a:r>
              <a:rPr lang="en-US" dirty="0" err="1"/>
              <a:t>pháp</a:t>
            </a:r>
            <a:r>
              <a:rPr lang="en-US" dirty="0"/>
              <a:t> </a:t>
            </a:r>
            <a:r>
              <a:rPr lang="en-US" dirty="0" err="1"/>
              <a:t>lý</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vi-VN" b="1" u="sng" dirty="0"/>
              <a:t>Tầm quan trọng của quyền riêng tư trong IoT</a:t>
            </a:r>
            <a:endParaRPr lang="vi-VN" dirty="0"/>
          </a:p>
          <a:p>
            <a:r>
              <a:rPr lang="vi-VN" dirty="0"/>
              <a:t>Thiết bị IoT thường thu thập dữ liệu cá nhân nhạy cảm:</a:t>
            </a:r>
          </a:p>
          <a:p>
            <a:pPr lvl="1"/>
            <a:r>
              <a:rPr lang="vi-VN" sz="1800" dirty="0"/>
              <a:t>Vị trí địa lý (GPS, thiết bị đeo tay).</a:t>
            </a:r>
          </a:p>
          <a:p>
            <a:pPr lvl="1"/>
            <a:r>
              <a:rPr lang="vi-VN" sz="1800" dirty="0"/>
              <a:t>Hành vi sinh hoạt (thiết bị gia đình thông minh, camera, micro).</a:t>
            </a:r>
          </a:p>
          <a:p>
            <a:pPr lvl="1"/>
            <a:r>
              <a:rPr lang="vi-VN" sz="1800" dirty="0"/>
              <a:t>Sức khỏe và sinh lý (đồng hồ đo nhịp tim, cảm biến y tế, thiết bị đeo theo dõi giấc ngủ).</a:t>
            </a:r>
            <a:endParaRPr lang="en-US" sz="1800" dirty="0"/>
          </a:p>
          <a:p>
            <a:pPr marL="596900" lvl="1" indent="0">
              <a:buNone/>
            </a:pPr>
            <a:endParaRPr lang="vi-VN" sz="1800" dirty="0"/>
          </a:p>
          <a:p>
            <a:r>
              <a:rPr lang="vi-VN" dirty="0"/>
              <a:t>Những dữ liệu này nếu bị rò rỉ hoặc sử dụng sai mục đích có thể:</a:t>
            </a:r>
          </a:p>
          <a:p>
            <a:pPr lvl="1"/>
            <a:r>
              <a:rPr lang="vi-VN" sz="1800" dirty="0"/>
              <a:t>Xâm phạm đời tư người dùng.</a:t>
            </a:r>
          </a:p>
          <a:p>
            <a:pPr lvl="1"/>
            <a:r>
              <a:rPr lang="vi-VN" sz="1800" dirty="0"/>
              <a:t>Dẫn đến lừa đảo, tống tiền, hoặc phân biệt đối xử.</a:t>
            </a:r>
          </a:p>
          <a:p>
            <a:pPr lvl="1"/>
            <a:r>
              <a:rPr lang="vi-VN" sz="1800" dirty="0"/>
              <a:t>Gây thiệt hại danh tiếng và pháp lý cho doanh nghiệp phát triển IoT.</a:t>
            </a:r>
            <a:endParaRPr lang="en-US" sz="1800" dirty="0"/>
          </a:p>
        </p:txBody>
      </p:sp>
    </p:spTree>
    <p:extLst>
      <p:ext uri="{BB962C8B-B14F-4D97-AF65-F5344CB8AC3E}">
        <p14:creationId xmlns:p14="http://schemas.microsoft.com/office/powerpoint/2010/main" val="74136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3. </a:t>
            </a:r>
            <a:r>
              <a:rPr lang="en-US" dirty="0" err="1"/>
              <a:t>Quyền</a:t>
            </a:r>
            <a:r>
              <a:rPr lang="en-US" dirty="0"/>
              <a:t> </a:t>
            </a:r>
            <a:r>
              <a:rPr lang="en-US" dirty="0" err="1"/>
              <a:t>riêng</a:t>
            </a:r>
            <a:r>
              <a:rPr lang="en-US" dirty="0"/>
              <a:t> </a:t>
            </a:r>
            <a:r>
              <a:rPr lang="en-US" dirty="0" err="1"/>
              <a:t>tư</a:t>
            </a:r>
            <a:r>
              <a:rPr lang="en-US" dirty="0"/>
              <a:t> </a:t>
            </a:r>
            <a:r>
              <a:rPr lang="en-US" dirty="0" err="1"/>
              <a:t>và</a:t>
            </a:r>
            <a:r>
              <a:rPr lang="en-US" dirty="0"/>
              <a:t> </a:t>
            </a:r>
            <a:r>
              <a:rPr lang="en-US" dirty="0" err="1"/>
              <a:t>pháp</a:t>
            </a:r>
            <a:r>
              <a:rPr lang="en-US" dirty="0"/>
              <a:t> </a:t>
            </a:r>
            <a:r>
              <a:rPr lang="en-US" dirty="0" err="1"/>
              <a:t>lý</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en-US" b="1" u="sng" dirty="0" err="1"/>
              <a:t>Các</a:t>
            </a:r>
            <a:r>
              <a:rPr lang="en-US" b="1" u="sng" dirty="0"/>
              <a:t> </a:t>
            </a:r>
            <a:r>
              <a:rPr lang="en-US" b="1" u="sng" dirty="0" err="1"/>
              <a:t>khung</a:t>
            </a:r>
            <a:r>
              <a:rPr lang="en-US" b="1" u="sng" dirty="0"/>
              <a:t> </a:t>
            </a:r>
            <a:r>
              <a:rPr lang="en-US" b="1" u="sng" dirty="0" err="1"/>
              <a:t>pháp</a:t>
            </a:r>
            <a:r>
              <a:rPr lang="en-US" b="1" u="sng" dirty="0"/>
              <a:t> </a:t>
            </a:r>
            <a:r>
              <a:rPr lang="en-US" b="1" u="sng" dirty="0" err="1"/>
              <a:t>lý</a:t>
            </a:r>
            <a:r>
              <a:rPr lang="en-US" b="1" u="sng" dirty="0"/>
              <a:t> </a:t>
            </a:r>
            <a:r>
              <a:rPr lang="en-US" b="1" u="sng" dirty="0" err="1"/>
              <a:t>quốc</a:t>
            </a:r>
            <a:r>
              <a:rPr lang="en-US" b="1" u="sng" dirty="0"/>
              <a:t> </a:t>
            </a:r>
            <a:r>
              <a:rPr lang="en-US" b="1" u="sng" dirty="0" err="1"/>
              <a:t>tế</a:t>
            </a:r>
            <a:r>
              <a:rPr lang="en-US" b="1" u="sng" dirty="0"/>
              <a:t> </a:t>
            </a:r>
            <a:r>
              <a:rPr lang="en-US" b="1" u="sng" dirty="0" err="1"/>
              <a:t>liên</a:t>
            </a:r>
            <a:r>
              <a:rPr lang="en-US" b="1" u="sng" dirty="0"/>
              <a:t> </a:t>
            </a:r>
            <a:r>
              <a:rPr lang="en-US" b="1" u="sng" dirty="0" err="1"/>
              <a:t>quan</a:t>
            </a:r>
            <a:endParaRPr lang="en-US" b="1" u="sng" dirty="0"/>
          </a:p>
          <a:p>
            <a:r>
              <a:rPr lang="vi-VN" dirty="0"/>
              <a:t>GDPR (General Data Protection Regulation – EU)</a:t>
            </a:r>
          </a:p>
          <a:p>
            <a:pPr lvl="1"/>
            <a:r>
              <a:rPr lang="vi-VN" sz="1800" dirty="0"/>
              <a:t>Là chuẩn bảo vệ dữ liệu cá nhân toàn diện của Liên minh Châu Âu (EU).</a:t>
            </a:r>
          </a:p>
          <a:p>
            <a:pPr lvl="1"/>
            <a:r>
              <a:rPr lang="vi-VN" sz="1800" dirty="0"/>
              <a:t>Yêu cầu các tổ chức IoT:</a:t>
            </a:r>
          </a:p>
          <a:p>
            <a:pPr lvl="2"/>
            <a:r>
              <a:rPr lang="vi-VN" sz="1800" dirty="0"/>
              <a:t>Xin sự đồng ý rõ ràng (explicit consent) trước khi thu thập dữ liệu.</a:t>
            </a:r>
          </a:p>
          <a:p>
            <a:pPr lvl="2"/>
            <a:r>
              <a:rPr lang="vi-VN" sz="1800" dirty="0"/>
              <a:t>Cho phép người dùng quyền truy cập, chỉnh sửa và xóa dữ liệu.</a:t>
            </a:r>
          </a:p>
          <a:p>
            <a:pPr lvl="2"/>
            <a:r>
              <a:rPr lang="vi-VN" sz="1800" dirty="0"/>
              <a:t>Báo cáo sự cố rò rỉ dữ liệu trong 72 giờ.</a:t>
            </a:r>
          </a:p>
          <a:p>
            <a:pPr lvl="1"/>
            <a:r>
              <a:rPr lang="vi-VN" sz="1800" dirty="0"/>
              <a:t>Phạt rất nặng: có thể lên đến 4% doanh thu toàn cầu hoặc 20 triệu EUR (tùy mức cao hơn).</a:t>
            </a:r>
          </a:p>
        </p:txBody>
      </p:sp>
    </p:spTree>
    <p:extLst>
      <p:ext uri="{BB962C8B-B14F-4D97-AF65-F5344CB8AC3E}">
        <p14:creationId xmlns:p14="http://schemas.microsoft.com/office/powerpoint/2010/main" val="1594821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3. </a:t>
            </a:r>
            <a:r>
              <a:rPr lang="en-US" dirty="0" err="1"/>
              <a:t>Quyền</a:t>
            </a:r>
            <a:r>
              <a:rPr lang="en-US" dirty="0"/>
              <a:t> </a:t>
            </a:r>
            <a:r>
              <a:rPr lang="en-US" dirty="0" err="1"/>
              <a:t>riêng</a:t>
            </a:r>
            <a:r>
              <a:rPr lang="en-US" dirty="0"/>
              <a:t> </a:t>
            </a:r>
            <a:r>
              <a:rPr lang="en-US" dirty="0" err="1"/>
              <a:t>tư</a:t>
            </a:r>
            <a:r>
              <a:rPr lang="en-US" dirty="0"/>
              <a:t> </a:t>
            </a:r>
            <a:r>
              <a:rPr lang="en-US" dirty="0" err="1"/>
              <a:t>và</a:t>
            </a:r>
            <a:r>
              <a:rPr lang="en-US" dirty="0"/>
              <a:t> </a:t>
            </a:r>
            <a:r>
              <a:rPr lang="en-US" dirty="0" err="1"/>
              <a:t>pháp</a:t>
            </a:r>
            <a:r>
              <a:rPr lang="en-US" dirty="0"/>
              <a:t> </a:t>
            </a:r>
            <a:r>
              <a:rPr lang="en-US" dirty="0" err="1"/>
              <a:t>lý</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en-US" b="1" u="sng" dirty="0" err="1"/>
              <a:t>Các</a:t>
            </a:r>
            <a:r>
              <a:rPr lang="en-US" b="1" u="sng" dirty="0"/>
              <a:t> </a:t>
            </a:r>
            <a:r>
              <a:rPr lang="en-US" b="1" u="sng" dirty="0" err="1"/>
              <a:t>khung</a:t>
            </a:r>
            <a:r>
              <a:rPr lang="en-US" b="1" u="sng" dirty="0"/>
              <a:t> </a:t>
            </a:r>
            <a:r>
              <a:rPr lang="en-US" b="1" u="sng" dirty="0" err="1"/>
              <a:t>pháp</a:t>
            </a:r>
            <a:r>
              <a:rPr lang="en-US" b="1" u="sng" dirty="0"/>
              <a:t> </a:t>
            </a:r>
            <a:r>
              <a:rPr lang="en-US" b="1" u="sng" dirty="0" err="1"/>
              <a:t>lý</a:t>
            </a:r>
            <a:r>
              <a:rPr lang="en-US" b="1" u="sng" dirty="0"/>
              <a:t> </a:t>
            </a:r>
            <a:r>
              <a:rPr lang="en-US" b="1" u="sng" dirty="0" err="1"/>
              <a:t>quốc</a:t>
            </a:r>
            <a:r>
              <a:rPr lang="en-US" b="1" u="sng" dirty="0"/>
              <a:t> </a:t>
            </a:r>
            <a:r>
              <a:rPr lang="en-US" b="1" u="sng" dirty="0" err="1"/>
              <a:t>tế</a:t>
            </a:r>
            <a:r>
              <a:rPr lang="en-US" b="1" u="sng" dirty="0"/>
              <a:t> </a:t>
            </a:r>
            <a:r>
              <a:rPr lang="en-US" b="1" u="sng" dirty="0" err="1"/>
              <a:t>liên</a:t>
            </a:r>
            <a:r>
              <a:rPr lang="en-US" b="1" u="sng" dirty="0"/>
              <a:t> </a:t>
            </a:r>
            <a:r>
              <a:rPr lang="en-US" b="1" u="sng" dirty="0" err="1"/>
              <a:t>quan</a:t>
            </a:r>
            <a:endParaRPr lang="en-US" b="1" u="sng" dirty="0"/>
          </a:p>
          <a:p>
            <a:pPr marL="114300" indent="0">
              <a:buNone/>
            </a:pPr>
            <a:endParaRPr lang="en-US" b="1" u="sng" dirty="0"/>
          </a:p>
          <a:p>
            <a:r>
              <a:rPr lang="vi-VN" dirty="0"/>
              <a:t>HIPAA (Health Insurance Portability and Accountability Act – Mỹ)</a:t>
            </a:r>
          </a:p>
          <a:p>
            <a:pPr lvl="1"/>
            <a:r>
              <a:rPr lang="vi-VN" sz="1800" dirty="0"/>
              <a:t>Áp dụng cho hệ thống y tế điện tử và thiết bị IoT trong chăm sóc sức khỏe.</a:t>
            </a:r>
          </a:p>
          <a:p>
            <a:pPr lvl="1"/>
            <a:r>
              <a:rPr lang="vi-VN" sz="1800" dirty="0"/>
              <a:t>Yêu cầu:</a:t>
            </a:r>
          </a:p>
          <a:p>
            <a:pPr lvl="2"/>
            <a:r>
              <a:rPr lang="vi-VN" sz="1800" dirty="0"/>
              <a:t>Bảo mật dữ liệu bệnh nhân (Patient Health Information – PHI).</a:t>
            </a:r>
          </a:p>
          <a:p>
            <a:pPr lvl="2"/>
            <a:r>
              <a:rPr lang="vi-VN" sz="1800" dirty="0"/>
              <a:t>Giới hạn quyền truy cập chỉ cho nhân viên được ủy quyền.</a:t>
            </a:r>
          </a:p>
          <a:p>
            <a:pPr lvl="2"/>
            <a:r>
              <a:rPr lang="vi-VN" sz="1800" dirty="0"/>
              <a:t>Mã hóa dữ liệu truyền và lưu trữ.</a:t>
            </a:r>
            <a:endParaRPr lang="en-US" sz="1800" dirty="0"/>
          </a:p>
        </p:txBody>
      </p:sp>
    </p:spTree>
    <p:extLst>
      <p:ext uri="{BB962C8B-B14F-4D97-AF65-F5344CB8AC3E}">
        <p14:creationId xmlns:p14="http://schemas.microsoft.com/office/powerpoint/2010/main" val="3664513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3. </a:t>
            </a:r>
            <a:r>
              <a:rPr lang="en-US" dirty="0" err="1"/>
              <a:t>Quyền</a:t>
            </a:r>
            <a:r>
              <a:rPr lang="en-US" dirty="0"/>
              <a:t> </a:t>
            </a:r>
            <a:r>
              <a:rPr lang="en-US" dirty="0" err="1"/>
              <a:t>riêng</a:t>
            </a:r>
            <a:r>
              <a:rPr lang="en-US" dirty="0"/>
              <a:t> </a:t>
            </a:r>
            <a:r>
              <a:rPr lang="en-US" dirty="0" err="1"/>
              <a:t>tư</a:t>
            </a:r>
            <a:r>
              <a:rPr lang="en-US" dirty="0"/>
              <a:t> </a:t>
            </a:r>
            <a:r>
              <a:rPr lang="en-US" dirty="0" err="1"/>
              <a:t>và</a:t>
            </a:r>
            <a:r>
              <a:rPr lang="en-US" dirty="0"/>
              <a:t> </a:t>
            </a:r>
            <a:r>
              <a:rPr lang="en-US" dirty="0" err="1"/>
              <a:t>pháp</a:t>
            </a:r>
            <a:r>
              <a:rPr lang="en-US" dirty="0"/>
              <a:t> </a:t>
            </a:r>
            <a:r>
              <a:rPr lang="en-US" dirty="0" err="1"/>
              <a:t>lý</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en-US" b="1" u="sng" dirty="0" err="1"/>
              <a:t>Các</a:t>
            </a:r>
            <a:r>
              <a:rPr lang="en-US" b="1" u="sng" dirty="0"/>
              <a:t> </a:t>
            </a:r>
            <a:r>
              <a:rPr lang="en-US" b="1" u="sng" dirty="0" err="1"/>
              <a:t>khung</a:t>
            </a:r>
            <a:r>
              <a:rPr lang="en-US" b="1" u="sng" dirty="0"/>
              <a:t> </a:t>
            </a:r>
            <a:r>
              <a:rPr lang="en-US" b="1" u="sng" dirty="0" err="1"/>
              <a:t>pháp</a:t>
            </a:r>
            <a:r>
              <a:rPr lang="en-US" b="1" u="sng" dirty="0"/>
              <a:t> </a:t>
            </a:r>
            <a:r>
              <a:rPr lang="en-US" b="1" u="sng" dirty="0" err="1"/>
              <a:t>lý</a:t>
            </a:r>
            <a:r>
              <a:rPr lang="en-US" b="1" u="sng" dirty="0"/>
              <a:t> </a:t>
            </a:r>
            <a:r>
              <a:rPr lang="en-US" b="1" u="sng" dirty="0" err="1"/>
              <a:t>quốc</a:t>
            </a:r>
            <a:r>
              <a:rPr lang="en-US" b="1" u="sng" dirty="0"/>
              <a:t> </a:t>
            </a:r>
            <a:r>
              <a:rPr lang="en-US" b="1" u="sng" dirty="0" err="1"/>
              <a:t>tế</a:t>
            </a:r>
            <a:r>
              <a:rPr lang="en-US" b="1" u="sng" dirty="0"/>
              <a:t> </a:t>
            </a:r>
            <a:r>
              <a:rPr lang="en-US" b="1" u="sng" dirty="0" err="1"/>
              <a:t>liên</a:t>
            </a:r>
            <a:r>
              <a:rPr lang="en-US" b="1" u="sng" dirty="0"/>
              <a:t> </a:t>
            </a:r>
            <a:r>
              <a:rPr lang="en-US" b="1" u="sng" dirty="0" err="1"/>
              <a:t>quan</a:t>
            </a:r>
            <a:endParaRPr lang="en-US" b="1" u="sng" dirty="0"/>
          </a:p>
          <a:p>
            <a:r>
              <a:rPr lang="vi-VN" dirty="0"/>
              <a:t>Nghị định 13/2023/NĐ‑CP</a:t>
            </a:r>
            <a:endParaRPr lang="en-US" dirty="0"/>
          </a:p>
          <a:p>
            <a:pPr lvl="1"/>
            <a:r>
              <a:rPr lang="vi-VN" sz="1800" dirty="0"/>
              <a:t>Thông tin cơ bản</a:t>
            </a:r>
            <a:r>
              <a:rPr lang="en-US" sz="1800" dirty="0"/>
              <a:t>:</a:t>
            </a:r>
            <a:endParaRPr lang="vi-VN" sz="1800" dirty="0"/>
          </a:p>
          <a:p>
            <a:pPr lvl="2"/>
            <a:r>
              <a:rPr lang="vi-VN" sz="1800" dirty="0"/>
              <a:t>Ban hành: ngày 17 / 04 / 2023. </a:t>
            </a:r>
          </a:p>
          <a:p>
            <a:pPr lvl="2"/>
            <a:r>
              <a:rPr lang="vi-VN" sz="1800" dirty="0"/>
              <a:t>Chính thức có hiệu lực: ngày 01 / 07 / 2023. </a:t>
            </a:r>
          </a:p>
          <a:p>
            <a:pPr lvl="2"/>
            <a:r>
              <a:rPr lang="vi-VN" sz="1800" dirty="0"/>
              <a:t>Là nghị định chuyên biệt đầu tiên của Việt Nam về bảo vệ dữ liệu cá nhân (DLCN). </a:t>
            </a:r>
          </a:p>
          <a:p>
            <a:pPr lvl="2"/>
            <a:r>
              <a:rPr lang="vi-VN" sz="1800" dirty="0"/>
              <a:t>Áp dụng với mọi cơ quan, tổ chức, cá nhân trong và ngoài nước liên quan tới xử lý </a:t>
            </a:r>
            <a:r>
              <a:rPr lang="en-US" sz="1800" dirty="0" err="1"/>
              <a:t>dữ</a:t>
            </a:r>
            <a:r>
              <a:rPr lang="en-US" sz="1800" dirty="0"/>
              <a:t> </a:t>
            </a:r>
            <a:r>
              <a:rPr lang="en-US" sz="1800" dirty="0" err="1"/>
              <a:t>liệu</a:t>
            </a:r>
            <a:r>
              <a:rPr lang="en-US" sz="1800" dirty="0"/>
              <a:t> </a:t>
            </a:r>
            <a:r>
              <a:rPr lang="en-US" sz="1800" dirty="0" err="1"/>
              <a:t>cá</a:t>
            </a:r>
            <a:r>
              <a:rPr lang="en-US" sz="1800" dirty="0"/>
              <a:t> </a:t>
            </a:r>
            <a:r>
              <a:rPr lang="en-US" sz="1800" dirty="0" err="1"/>
              <a:t>nhân</a:t>
            </a:r>
            <a:r>
              <a:rPr lang="vi-VN" sz="1800" dirty="0"/>
              <a:t> tại Việt Nam. </a:t>
            </a:r>
          </a:p>
        </p:txBody>
      </p:sp>
    </p:spTree>
    <p:extLst>
      <p:ext uri="{BB962C8B-B14F-4D97-AF65-F5344CB8AC3E}">
        <p14:creationId xmlns:p14="http://schemas.microsoft.com/office/powerpoint/2010/main" val="846060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3. </a:t>
            </a:r>
            <a:r>
              <a:rPr lang="en-US" dirty="0" err="1"/>
              <a:t>Quyền</a:t>
            </a:r>
            <a:r>
              <a:rPr lang="en-US" dirty="0"/>
              <a:t> </a:t>
            </a:r>
            <a:r>
              <a:rPr lang="en-US" dirty="0" err="1"/>
              <a:t>riêng</a:t>
            </a:r>
            <a:r>
              <a:rPr lang="en-US" dirty="0"/>
              <a:t> </a:t>
            </a:r>
            <a:r>
              <a:rPr lang="en-US" dirty="0" err="1"/>
              <a:t>tư</a:t>
            </a:r>
            <a:r>
              <a:rPr lang="en-US" dirty="0"/>
              <a:t> </a:t>
            </a:r>
            <a:r>
              <a:rPr lang="en-US" dirty="0" err="1"/>
              <a:t>và</a:t>
            </a:r>
            <a:r>
              <a:rPr lang="en-US" dirty="0"/>
              <a:t> </a:t>
            </a:r>
            <a:r>
              <a:rPr lang="en-US" dirty="0" err="1"/>
              <a:t>pháp</a:t>
            </a:r>
            <a:r>
              <a:rPr lang="en-US" dirty="0"/>
              <a:t> </a:t>
            </a:r>
            <a:r>
              <a:rPr lang="en-US" dirty="0" err="1"/>
              <a:t>lý</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en-US" b="1" u="sng" dirty="0" err="1"/>
              <a:t>Các</a:t>
            </a:r>
            <a:r>
              <a:rPr lang="en-US" b="1" u="sng" dirty="0"/>
              <a:t> </a:t>
            </a:r>
            <a:r>
              <a:rPr lang="en-US" b="1" u="sng" dirty="0" err="1"/>
              <a:t>khung</a:t>
            </a:r>
            <a:r>
              <a:rPr lang="en-US" b="1" u="sng" dirty="0"/>
              <a:t> </a:t>
            </a:r>
            <a:r>
              <a:rPr lang="en-US" b="1" u="sng" dirty="0" err="1"/>
              <a:t>pháp</a:t>
            </a:r>
            <a:r>
              <a:rPr lang="en-US" b="1" u="sng" dirty="0"/>
              <a:t> </a:t>
            </a:r>
            <a:r>
              <a:rPr lang="en-US" b="1" u="sng" dirty="0" err="1"/>
              <a:t>lý</a:t>
            </a:r>
            <a:r>
              <a:rPr lang="en-US" b="1" u="sng" dirty="0"/>
              <a:t> </a:t>
            </a:r>
            <a:r>
              <a:rPr lang="en-US" b="1" u="sng" dirty="0" err="1"/>
              <a:t>quốc</a:t>
            </a:r>
            <a:r>
              <a:rPr lang="en-US" b="1" u="sng" dirty="0"/>
              <a:t> </a:t>
            </a:r>
            <a:r>
              <a:rPr lang="en-US" b="1" u="sng" dirty="0" err="1"/>
              <a:t>tế</a:t>
            </a:r>
            <a:r>
              <a:rPr lang="en-US" b="1" u="sng" dirty="0"/>
              <a:t> </a:t>
            </a:r>
            <a:r>
              <a:rPr lang="en-US" b="1" u="sng" dirty="0" err="1"/>
              <a:t>liên</a:t>
            </a:r>
            <a:r>
              <a:rPr lang="en-US" b="1" u="sng" dirty="0"/>
              <a:t> </a:t>
            </a:r>
            <a:r>
              <a:rPr lang="en-US" b="1" u="sng" dirty="0" err="1"/>
              <a:t>quan</a:t>
            </a:r>
            <a:endParaRPr lang="en-US" b="1" u="sng" dirty="0"/>
          </a:p>
          <a:p>
            <a:r>
              <a:rPr lang="vi-VN" dirty="0"/>
              <a:t>Nghị định 13/2023/NĐ‑CP</a:t>
            </a:r>
            <a:endParaRPr lang="en-US" dirty="0"/>
          </a:p>
          <a:p>
            <a:pPr lvl="1"/>
            <a:r>
              <a:rPr lang="vi-VN" sz="1800" dirty="0"/>
              <a:t>Phạm vi &amp; đối tượng áp dụng</a:t>
            </a:r>
            <a:r>
              <a:rPr lang="en-US" sz="1800" dirty="0"/>
              <a:t>:</a:t>
            </a:r>
            <a:endParaRPr lang="vi-VN" sz="1800" dirty="0"/>
          </a:p>
          <a:p>
            <a:pPr lvl="2"/>
            <a:r>
              <a:rPr lang="vi-VN" sz="1800" dirty="0"/>
              <a:t>“Dữ liệu cá nhân” được định nghĩa là thông tin dưới dạng ký hiệu, chữ viết, chữ số, hình ảnh, âm thanh hoặc dạng tương tự, liên quan tới một con người cụ thể hoặc có khả năng xác định được một con người cụ thể. </a:t>
            </a:r>
          </a:p>
          <a:p>
            <a:pPr lvl="2"/>
            <a:r>
              <a:rPr lang="vi-VN" sz="1800" dirty="0"/>
              <a:t>Đối tượng chịu nghĩa vụ:</a:t>
            </a:r>
          </a:p>
          <a:p>
            <a:pPr lvl="3"/>
            <a:r>
              <a:rPr lang="vi-VN" sz="1800" dirty="0"/>
              <a:t>Bên kiểm soát dữ liệu cá nhân (data controller) – tổ chức hoặc cá nhân quyết định mục đích, phương thức xử lý.</a:t>
            </a:r>
          </a:p>
          <a:p>
            <a:pPr lvl="3"/>
            <a:r>
              <a:rPr lang="vi-VN" sz="1800" dirty="0"/>
              <a:t>Bên xử lý dữ liệu cá nhân (data processor) – tổ chức hoặc cá nhân xử lý dữ liệu thay cho bên kiểm soát.</a:t>
            </a:r>
          </a:p>
          <a:p>
            <a:pPr lvl="3"/>
            <a:r>
              <a:rPr lang="vi-VN" sz="1800" dirty="0"/>
              <a:t>Bên thứ ba có liên quan. </a:t>
            </a:r>
          </a:p>
        </p:txBody>
      </p:sp>
    </p:spTree>
    <p:extLst>
      <p:ext uri="{BB962C8B-B14F-4D97-AF65-F5344CB8AC3E}">
        <p14:creationId xmlns:p14="http://schemas.microsoft.com/office/powerpoint/2010/main" val="2772071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3. </a:t>
            </a:r>
            <a:r>
              <a:rPr lang="en-US" dirty="0" err="1"/>
              <a:t>Quyền</a:t>
            </a:r>
            <a:r>
              <a:rPr lang="en-US" dirty="0"/>
              <a:t> </a:t>
            </a:r>
            <a:r>
              <a:rPr lang="en-US" dirty="0" err="1"/>
              <a:t>riêng</a:t>
            </a:r>
            <a:r>
              <a:rPr lang="en-US" dirty="0"/>
              <a:t> </a:t>
            </a:r>
            <a:r>
              <a:rPr lang="en-US" dirty="0" err="1"/>
              <a:t>tư</a:t>
            </a:r>
            <a:r>
              <a:rPr lang="en-US" dirty="0"/>
              <a:t> </a:t>
            </a:r>
            <a:r>
              <a:rPr lang="en-US" dirty="0" err="1"/>
              <a:t>và</a:t>
            </a:r>
            <a:r>
              <a:rPr lang="en-US" dirty="0"/>
              <a:t> </a:t>
            </a:r>
            <a:r>
              <a:rPr lang="en-US" dirty="0" err="1"/>
              <a:t>pháp</a:t>
            </a:r>
            <a:r>
              <a:rPr lang="en-US" dirty="0"/>
              <a:t> </a:t>
            </a:r>
            <a:r>
              <a:rPr lang="en-US" dirty="0" err="1"/>
              <a:t>lý</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en-US" b="1" u="sng" dirty="0" err="1"/>
              <a:t>Các</a:t>
            </a:r>
            <a:r>
              <a:rPr lang="en-US" b="1" u="sng" dirty="0"/>
              <a:t> </a:t>
            </a:r>
            <a:r>
              <a:rPr lang="en-US" b="1" u="sng" dirty="0" err="1"/>
              <a:t>khung</a:t>
            </a:r>
            <a:r>
              <a:rPr lang="en-US" b="1" u="sng" dirty="0"/>
              <a:t> </a:t>
            </a:r>
            <a:r>
              <a:rPr lang="en-US" b="1" u="sng" dirty="0" err="1"/>
              <a:t>pháp</a:t>
            </a:r>
            <a:r>
              <a:rPr lang="en-US" b="1" u="sng" dirty="0"/>
              <a:t> </a:t>
            </a:r>
            <a:r>
              <a:rPr lang="en-US" b="1" u="sng" dirty="0" err="1"/>
              <a:t>lý</a:t>
            </a:r>
            <a:r>
              <a:rPr lang="en-US" b="1" u="sng" dirty="0"/>
              <a:t> </a:t>
            </a:r>
            <a:r>
              <a:rPr lang="en-US" b="1" u="sng" dirty="0" err="1"/>
              <a:t>quốc</a:t>
            </a:r>
            <a:r>
              <a:rPr lang="en-US" b="1" u="sng" dirty="0"/>
              <a:t> </a:t>
            </a:r>
            <a:r>
              <a:rPr lang="en-US" b="1" u="sng" dirty="0" err="1"/>
              <a:t>tế</a:t>
            </a:r>
            <a:r>
              <a:rPr lang="en-US" b="1" u="sng" dirty="0"/>
              <a:t> </a:t>
            </a:r>
            <a:r>
              <a:rPr lang="en-US" b="1" u="sng" dirty="0" err="1"/>
              <a:t>liên</a:t>
            </a:r>
            <a:r>
              <a:rPr lang="en-US" b="1" u="sng" dirty="0"/>
              <a:t> </a:t>
            </a:r>
            <a:r>
              <a:rPr lang="en-US" b="1" u="sng" dirty="0" err="1"/>
              <a:t>quan</a:t>
            </a:r>
            <a:endParaRPr lang="en-US" b="1" u="sng" dirty="0"/>
          </a:p>
          <a:p>
            <a:r>
              <a:rPr lang="vi-VN" dirty="0"/>
              <a:t>Nghị định 13/2023/NĐ‑CP</a:t>
            </a:r>
            <a:endParaRPr lang="en-US" dirty="0"/>
          </a:p>
          <a:p>
            <a:pPr lvl="1"/>
            <a:r>
              <a:rPr lang="vi-VN" sz="1800" dirty="0"/>
              <a:t>Một số quyền cơ bản được quy định trong Nghị định:</a:t>
            </a:r>
          </a:p>
          <a:p>
            <a:pPr lvl="2"/>
            <a:r>
              <a:rPr lang="vi-VN" sz="1800" dirty="0"/>
              <a:t>Quyền được biết về việc dữ liệu cá nhân của mình được xử lý. </a:t>
            </a:r>
          </a:p>
          <a:p>
            <a:pPr lvl="2"/>
            <a:r>
              <a:rPr lang="vi-VN" sz="1800" dirty="0"/>
              <a:t>Quyền đồng ý trước khi dữ liệu cá nhân được thu thập hoặc xử lý.</a:t>
            </a:r>
          </a:p>
          <a:p>
            <a:pPr lvl="2"/>
            <a:r>
              <a:rPr lang="vi-VN" sz="1800" dirty="0"/>
              <a:t>Quyền truy cập, chỉnh sửa, xóa dữ liệu cá nhân của mình. </a:t>
            </a:r>
          </a:p>
          <a:p>
            <a:pPr lvl="2"/>
            <a:r>
              <a:rPr lang="vi-VN" sz="1800" dirty="0"/>
              <a:t>Quyền hạn chế xử lý dữ liệu, quyền phản đối việc xử lý.</a:t>
            </a:r>
          </a:p>
          <a:p>
            <a:pPr lvl="2"/>
            <a:r>
              <a:rPr lang="vi-VN" sz="1800" dirty="0"/>
              <a:t>Quyền rút lại sự đồng ý, quyền khiếu nại, tố cáo và quyền yêu cầu bồi thường thiệt hại.</a:t>
            </a:r>
          </a:p>
        </p:txBody>
      </p:sp>
    </p:spTree>
    <p:extLst>
      <p:ext uri="{BB962C8B-B14F-4D97-AF65-F5344CB8AC3E}">
        <p14:creationId xmlns:p14="http://schemas.microsoft.com/office/powerpoint/2010/main" val="2036482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3. </a:t>
            </a:r>
            <a:r>
              <a:rPr lang="en-US" dirty="0" err="1"/>
              <a:t>Quyền</a:t>
            </a:r>
            <a:r>
              <a:rPr lang="en-US" dirty="0"/>
              <a:t> </a:t>
            </a:r>
            <a:r>
              <a:rPr lang="en-US" dirty="0" err="1"/>
              <a:t>riêng</a:t>
            </a:r>
            <a:r>
              <a:rPr lang="en-US" dirty="0"/>
              <a:t> </a:t>
            </a:r>
            <a:r>
              <a:rPr lang="en-US" dirty="0" err="1"/>
              <a:t>tư</a:t>
            </a:r>
            <a:r>
              <a:rPr lang="en-US" dirty="0"/>
              <a:t> </a:t>
            </a:r>
            <a:r>
              <a:rPr lang="en-US" dirty="0" err="1"/>
              <a:t>và</a:t>
            </a:r>
            <a:r>
              <a:rPr lang="en-US" dirty="0"/>
              <a:t> </a:t>
            </a:r>
            <a:r>
              <a:rPr lang="en-US" dirty="0" err="1"/>
              <a:t>pháp</a:t>
            </a:r>
            <a:r>
              <a:rPr lang="en-US" dirty="0"/>
              <a:t> </a:t>
            </a:r>
            <a:r>
              <a:rPr lang="en-US" dirty="0" err="1"/>
              <a:t>lý</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en-US" b="1" u="sng" dirty="0" err="1"/>
              <a:t>Các</a:t>
            </a:r>
            <a:r>
              <a:rPr lang="en-US" b="1" u="sng" dirty="0"/>
              <a:t> </a:t>
            </a:r>
            <a:r>
              <a:rPr lang="en-US" b="1" u="sng" dirty="0" err="1"/>
              <a:t>khung</a:t>
            </a:r>
            <a:r>
              <a:rPr lang="en-US" b="1" u="sng" dirty="0"/>
              <a:t> </a:t>
            </a:r>
            <a:r>
              <a:rPr lang="en-US" b="1" u="sng" dirty="0" err="1"/>
              <a:t>pháp</a:t>
            </a:r>
            <a:r>
              <a:rPr lang="en-US" b="1" u="sng" dirty="0"/>
              <a:t> </a:t>
            </a:r>
            <a:r>
              <a:rPr lang="en-US" b="1" u="sng" dirty="0" err="1"/>
              <a:t>lý</a:t>
            </a:r>
            <a:r>
              <a:rPr lang="en-US" b="1" u="sng" dirty="0"/>
              <a:t> </a:t>
            </a:r>
            <a:r>
              <a:rPr lang="en-US" b="1" u="sng" dirty="0" err="1"/>
              <a:t>quốc</a:t>
            </a:r>
            <a:r>
              <a:rPr lang="en-US" b="1" u="sng" dirty="0"/>
              <a:t> </a:t>
            </a:r>
            <a:r>
              <a:rPr lang="en-US" b="1" u="sng" dirty="0" err="1"/>
              <a:t>tế</a:t>
            </a:r>
            <a:r>
              <a:rPr lang="en-US" b="1" u="sng" dirty="0"/>
              <a:t> </a:t>
            </a:r>
            <a:r>
              <a:rPr lang="en-US" b="1" u="sng" dirty="0" err="1"/>
              <a:t>liên</a:t>
            </a:r>
            <a:r>
              <a:rPr lang="en-US" b="1" u="sng" dirty="0"/>
              <a:t> </a:t>
            </a:r>
            <a:r>
              <a:rPr lang="en-US" b="1" u="sng" dirty="0" err="1"/>
              <a:t>quan</a:t>
            </a:r>
            <a:endParaRPr lang="en-US" b="1" u="sng" dirty="0"/>
          </a:p>
          <a:p>
            <a:r>
              <a:rPr lang="vi-VN" dirty="0"/>
              <a:t>Nghị định 13/2023/NĐ‑CP</a:t>
            </a:r>
            <a:endParaRPr lang="en-US" dirty="0"/>
          </a:p>
          <a:p>
            <a:pPr lvl="1"/>
            <a:r>
              <a:rPr lang="vi-VN" sz="1800" dirty="0"/>
              <a:t>Nghĩa vụ của các bên xử lý dữ liệu cá nhân</a:t>
            </a:r>
          </a:p>
          <a:p>
            <a:pPr lvl="2"/>
            <a:r>
              <a:rPr lang="vi-VN" sz="1800" dirty="0"/>
              <a:t>Bên kiểm soát dữ liệu: phải đảm bảo các biện pháp tổ chức và kỹ thuật phù hợp để bảo vệ dữ liệu, lưu trữ nhật ký hệ thống, chỉ chọn bên xử lý phù hợp. </a:t>
            </a:r>
          </a:p>
          <a:p>
            <a:pPr lvl="2"/>
            <a:r>
              <a:rPr lang="vi-VN" sz="1800" dirty="0"/>
              <a:t>Bên xử lý dữ liệu: chỉ tiếp nhận dữ liệu sau khi có hợp đồng hoặc thỏa thuận rõ ràng với bên kiểm soát, xử lý đúng mục đích, có biện pháp bảo vệ và chịu trách nhiệm về thiệt hại nếu có. </a:t>
            </a:r>
          </a:p>
          <a:p>
            <a:pPr lvl="2"/>
            <a:r>
              <a:rPr lang="vi-VN" sz="1800" dirty="0"/>
              <a:t>Các tổ chức, cá nhân khác: có trách nhiệm bảo vệ dữ liệu cá nhân của mình, phối hợp với cơ quan quản lý khi có vi phạm.</a:t>
            </a:r>
          </a:p>
        </p:txBody>
      </p:sp>
    </p:spTree>
    <p:extLst>
      <p:ext uri="{BB962C8B-B14F-4D97-AF65-F5344CB8AC3E}">
        <p14:creationId xmlns:p14="http://schemas.microsoft.com/office/powerpoint/2010/main" val="213278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3. </a:t>
            </a:r>
            <a:r>
              <a:rPr lang="en-US" dirty="0" err="1"/>
              <a:t>Quyền</a:t>
            </a:r>
            <a:r>
              <a:rPr lang="en-US" dirty="0"/>
              <a:t> </a:t>
            </a:r>
            <a:r>
              <a:rPr lang="en-US" dirty="0" err="1"/>
              <a:t>riêng</a:t>
            </a:r>
            <a:r>
              <a:rPr lang="en-US" dirty="0"/>
              <a:t> </a:t>
            </a:r>
            <a:r>
              <a:rPr lang="en-US" dirty="0" err="1"/>
              <a:t>tư</a:t>
            </a:r>
            <a:r>
              <a:rPr lang="en-US" dirty="0"/>
              <a:t> </a:t>
            </a:r>
            <a:r>
              <a:rPr lang="en-US" dirty="0" err="1"/>
              <a:t>và</a:t>
            </a:r>
            <a:r>
              <a:rPr lang="en-US" dirty="0"/>
              <a:t> </a:t>
            </a:r>
            <a:r>
              <a:rPr lang="en-US" dirty="0" err="1"/>
              <a:t>pháp</a:t>
            </a:r>
            <a:r>
              <a:rPr lang="en-US" dirty="0"/>
              <a:t> </a:t>
            </a:r>
            <a:r>
              <a:rPr lang="en-US" dirty="0" err="1"/>
              <a:t>lý</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en-US" b="1" u="sng" dirty="0" err="1"/>
              <a:t>Các</a:t>
            </a:r>
            <a:r>
              <a:rPr lang="en-US" b="1" u="sng" dirty="0"/>
              <a:t> </a:t>
            </a:r>
            <a:r>
              <a:rPr lang="en-US" b="1" u="sng" dirty="0" err="1"/>
              <a:t>khung</a:t>
            </a:r>
            <a:r>
              <a:rPr lang="en-US" b="1" u="sng" dirty="0"/>
              <a:t> </a:t>
            </a:r>
            <a:r>
              <a:rPr lang="en-US" b="1" u="sng" dirty="0" err="1"/>
              <a:t>pháp</a:t>
            </a:r>
            <a:r>
              <a:rPr lang="en-US" b="1" u="sng" dirty="0"/>
              <a:t> </a:t>
            </a:r>
            <a:r>
              <a:rPr lang="en-US" b="1" u="sng" dirty="0" err="1"/>
              <a:t>lý</a:t>
            </a:r>
            <a:r>
              <a:rPr lang="en-US" b="1" u="sng" dirty="0"/>
              <a:t> </a:t>
            </a:r>
            <a:r>
              <a:rPr lang="en-US" b="1" u="sng" dirty="0" err="1"/>
              <a:t>quốc</a:t>
            </a:r>
            <a:r>
              <a:rPr lang="en-US" b="1" u="sng" dirty="0"/>
              <a:t> </a:t>
            </a:r>
            <a:r>
              <a:rPr lang="en-US" b="1" u="sng" dirty="0" err="1"/>
              <a:t>tế</a:t>
            </a:r>
            <a:r>
              <a:rPr lang="en-US" b="1" u="sng" dirty="0"/>
              <a:t> </a:t>
            </a:r>
            <a:r>
              <a:rPr lang="en-US" b="1" u="sng" dirty="0" err="1"/>
              <a:t>liên</a:t>
            </a:r>
            <a:r>
              <a:rPr lang="en-US" b="1" u="sng" dirty="0"/>
              <a:t> </a:t>
            </a:r>
            <a:r>
              <a:rPr lang="en-US" b="1" u="sng" dirty="0" err="1"/>
              <a:t>quan</a:t>
            </a:r>
            <a:endParaRPr lang="en-US" b="1" u="sng" dirty="0"/>
          </a:p>
          <a:p>
            <a:r>
              <a:rPr lang="vi-VN" dirty="0"/>
              <a:t>Nghị định 13/2023/NĐ‑CP</a:t>
            </a:r>
            <a:endParaRPr lang="en-US" dirty="0"/>
          </a:p>
          <a:p>
            <a:pPr lvl="1"/>
            <a:r>
              <a:rPr lang="vi-VN" sz="1800" dirty="0"/>
              <a:t>Biện pháp và tiêu chuẩn bảo vệ dữ liệu</a:t>
            </a:r>
          </a:p>
          <a:p>
            <a:pPr lvl="2"/>
            <a:r>
              <a:rPr lang="vi-VN" sz="1800" dirty="0"/>
              <a:t>Nghị định yêu cầu áp dụng các biện pháp kỹ thuật và tổ chức để bảo vệ dữ liệu cá nhân. </a:t>
            </a:r>
          </a:p>
          <a:p>
            <a:pPr lvl="2"/>
            <a:r>
              <a:rPr lang="vi-VN" sz="1800" dirty="0"/>
              <a:t>Đối với dữ liệu cá nhân nhạy cảm, có thêm yêu cầu cụ thể hơn: chỉ xử lý khi có căn cứ pháp lý, phải chỉ định bộ phận chịu trách nhiệm, thông báo cho chủ thể dữ liệu. </a:t>
            </a:r>
          </a:p>
          <a:p>
            <a:pPr lvl="2"/>
            <a:r>
              <a:rPr lang="vi-VN" sz="1800" dirty="0"/>
              <a:t>Tổ chức, cá nhân phải xây dựng Hồ sơ đánh giá tác động việc xử lý dữ liệu cá nhân (DPIA) khi xử lý dữ liệu với mức độ rủi ro cao</a:t>
            </a:r>
          </a:p>
        </p:txBody>
      </p:sp>
    </p:spTree>
    <p:extLst>
      <p:ext uri="{BB962C8B-B14F-4D97-AF65-F5344CB8AC3E}">
        <p14:creationId xmlns:p14="http://schemas.microsoft.com/office/powerpoint/2010/main" val="1752470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3. </a:t>
            </a:r>
            <a:r>
              <a:rPr lang="en-US" dirty="0" err="1"/>
              <a:t>Quyền</a:t>
            </a:r>
            <a:r>
              <a:rPr lang="en-US" dirty="0"/>
              <a:t> </a:t>
            </a:r>
            <a:r>
              <a:rPr lang="en-US" dirty="0" err="1"/>
              <a:t>riêng</a:t>
            </a:r>
            <a:r>
              <a:rPr lang="en-US" dirty="0"/>
              <a:t> </a:t>
            </a:r>
            <a:r>
              <a:rPr lang="en-US" dirty="0" err="1"/>
              <a:t>tư</a:t>
            </a:r>
            <a:r>
              <a:rPr lang="en-US" dirty="0"/>
              <a:t> </a:t>
            </a:r>
            <a:r>
              <a:rPr lang="en-US" dirty="0" err="1"/>
              <a:t>và</a:t>
            </a:r>
            <a:r>
              <a:rPr lang="en-US" dirty="0"/>
              <a:t> </a:t>
            </a:r>
            <a:r>
              <a:rPr lang="en-US" dirty="0" err="1"/>
              <a:t>pháp</a:t>
            </a:r>
            <a:r>
              <a:rPr lang="en-US" dirty="0"/>
              <a:t> </a:t>
            </a:r>
            <a:r>
              <a:rPr lang="en-US" dirty="0" err="1"/>
              <a:t>lý</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en-US" b="1" u="sng" dirty="0" err="1"/>
              <a:t>Các</a:t>
            </a:r>
            <a:r>
              <a:rPr lang="en-US" b="1" u="sng" dirty="0"/>
              <a:t> </a:t>
            </a:r>
            <a:r>
              <a:rPr lang="en-US" b="1" u="sng" dirty="0" err="1"/>
              <a:t>khung</a:t>
            </a:r>
            <a:r>
              <a:rPr lang="en-US" b="1" u="sng" dirty="0"/>
              <a:t> </a:t>
            </a:r>
            <a:r>
              <a:rPr lang="en-US" b="1" u="sng" dirty="0" err="1"/>
              <a:t>pháp</a:t>
            </a:r>
            <a:r>
              <a:rPr lang="en-US" b="1" u="sng" dirty="0"/>
              <a:t> </a:t>
            </a:r>
            <a:r>
              <a:rPr lang="en-US" b="1" u="sng" dirty="0" err="1"/>
              <a:t>lý</a:t>
            </a:r>
            <a:r>
              <a:rPr lang="en-US" b="1" u="sng" dirty="0"/>
              <a:t> </a:t>
            </a:r>
            <a:r>
              <a:rPr lang="en-US" b="1" u="sng" dirty="0" err="1"/>
              <a:t>quốc</a:t>
            </a:r>
            <a:r>
              <a:rPr lang="en-US" b="1" u="sng" dirty="0"/>
              <a:t> </a:t>
            </a:r>
            <a:r>
              <a:rPr lang="en-US" b="1" u="sng" dirty="0" err="1"/>
              <a:t>tế</a:t>
            </a:r>
            <a:r>
              <a:rPr lang="en-US" b="1" u="sng" dirty="0"/>
              <a:t> </a:t>
            </a:r>
            <a:r>
              <a:rPr lang="en-US" b="1" u="sng" dirty="0" err="1"/>
              <a:t>liên</a:t>
            </a:r>
            <a:r>
              <a:rPr lang="en-US" b="1" u="sng" dirty="0"/>
              <a:t> </a:t>
            </a:r>
            <a:r>
              <a:rPr lang="en-US" b="1" u="sng" dirty="0" err="1"/>
              <a:t>quan</a:t>
            </a:r>
            <a:endParaRPr lang="en-US" b="1" u="sng" dirty="0"/>
          </a:p>
          <a:p>
            <a:r>
              <a:rPr lang="vi-VN" dirty="0"/>
              <a:t>Nghị định 13/2023/NĐ‑CP</a:t>
            </a:r>
            <a:endParaRPr lang="en-US" dirty="0"/>
          </a:p>
          <a:p>
            <a:pPr lvl="1"/>
            <a:r>
              <a:rPr lang="vi-VN" sz="1800" dirty="0"/>
              <a:t>Hành vi bị nghiêm cấm</a:t>
            </a:r>
          </a:p>
          <a:p>
            <a:pPr lvl="2"/>
            <a:r>
              <a:rPr lang="vi-VN" sz="1800" dirty="0"/>
              <a:t>Một số hành vi bị cấm theo Nghị định:</a:t>
            </a:r>
          </a:p>
          <a:p>
            <a:pPr lvl="2"/>
            <a:r>
              <a:rPr lang="vi-VN" sz="1800" dirty="0"/>
              <a:t>Xử lý dữ liệu cá nhân trái với quy định pháp luật. </a:t>
            </a:r>
          </a:p>
          <a:p>
            <a:pPr lvl="2"/>
            <a:r>
              <a:rPr lang="vi-VN" sz="1800" dirty="0"/>
              <a:t>Xử lý dữ liệu cá nhân nhằm chống lại Nhà nước, ảnh hưởng tới an ninh quốc gia, trật tự an toàn xã hội.</a:t>
            </a:r>
          </a:p>
          <a:p>
            <a:pPr lvl="2"/>
            <a:r>
              <a:rPr lang="vi-VN" sz="1800" dirty="0"/>
              <a:t>Cản trở hoạt động bảo vệ dữ liệu cá nhân của cơ quan có thẩm quyền.</a:t>
            </a:r>
          </a:p>
          <a:p>
            <a:pPr lvl="2"/>
            <a:r>
              <a:rPr lang="vi-VN" sz="1800" dirty="0"/>
              <a:t>Lợi dụng bảo vệ dữ liệu cá nhân để vi phạm pháp luật.</a:t>
            </a:r>
          </a:p>
        </p:txBody>
      </p:sp>
    </p:spTree>
    <p:extLst>
      <p:ext uri="{BB962C8B-B14F-4D97-AF65-F5344CB8AC3E}">
        <p14:creationId xmlns:p14="http://schemas.microsoft.com/office/powerpoint/2010/main" val="9554325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3. </a:t>
            </a:r>
            <a:r>
              <a:rPr lang="en-US" dirty="0" err="1"/>
              <a:t>Quyền</a:t>
            </a:r>
            <a:r>
              <a:rPr lang="en-US" dirty="0"/>
              <a:t> </a:t>
            </a:r>
            <a:r>
              <a:rPr lang="en-US" dirty="0" err="1"/>
              <a:t>riêng</a:t>
            </a:r>
            <a:r>
              <a:rPr lang="en-US" dirty="0"/>
              <a:t> </a:t>
            </a:r>
            <a:r>
              <a:rPr lang="en-US" dirty="0" err="1"/>
              <a:t>tư</a:t>
            </a:r>
            <a:r>
              <a:rPr lang="en-US" dirty="0"/>
              <a:t> </a:t>
            </a:r>
            <a:r>
              <a:rPr lang="en-US" dirty="0" err="1"/>
              <a:t>và</a:t>
            </a:r>
            <a:r>
              <a:rPr lang="en-US" dirty="0"/>
              <a:t> </a:t>
            </a:r>
            <a:r>
              <a:rPr lang="en-US" dirty="0" err="1"/>
              <a:t>pháp</a:t>
            </a:r>
            <a:r>
              <a:rPr lang="en-US" dirty="0"/>
              <a:t> </a:t>
            </a:r>
            <a:r>
              <a:rPr lang="en-US" dirty="0" err="1"/>
              <a:t>lý</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en-US" b="1" u="sng" dirty="0" err="1"/>
              <a:t>Các</a:t>
            </a:r>
            <a:r>
              <a:rPr lang="en-US" b="1" u="sng" dirty="0"/>
              <a:t> </a:t>
            </a:r>
            <a:r>
              <a:rPr lang="en-US" b="1" u="sng" dirty="0" err="1"/>
              <a:t>khung</a:t>
            </a:r>
            <a:r>
              <a:rPr lang="en-US" b="1" u="sng" dirty="0"/>
              <a:t> </a:t>
            </a:r>
            <a:r>
              <a:rPr lang="en-US" b="1" u="sng" dirty="0" err="1"/>
              <a:t>pháp</a:t>
            </a:r>
            <a:r>
              <a:rPr lang="en-US" b="1" u="sng" dirty="0"/>
              <a:t> </a:t>
            </a:r>
            <a:r>
              <a:rPr lang="en-US" b="1" u="sng" dirty="0" err="1"/>
              <a:t>lý</a:t>
            </a:r>
            <a:r>
              <a:rPr lang="en-US" b="1" u="sng" dirty="0"/>
              <a:t> </a:t>
            </a:r>
            <a:r>
              <a:rPr lang="en-US" b="1" u="sng" dirty="0" err="1"/>
              <a:t>quốc</a:t>
            </a:r>
            <a:r>
              <a:rPr lang="en-US" b="1" u="sng" dirty="0"/>
              <a:t> </a:t>
            </a:r>
            <a:r>
              <a:rPr lang="en-US" b="1" u="sng" dirty="0" err="1"/>
              <a:t>tế</a:t>
            </a:r>
            <a:r>
              <a:rPr lang="en-US" b="1" u="sng" dirty="0"/>
              <a:t> </a:t>
            </a:r>
            <a:r>
              <a:rPr lang="en-US" b="1" u="sng" dirty="0" err="1"/>
              <a:t>liên</a:t>
            </a:r>
            <a:r>
              <a:rPr lang="en-US" b="1" u="sng" dirty="0"/>
              <a:t> </a:t>
            </a:r>
            <a:r>
              <a:rPr lang="en-US" b="1" u="sng" dirty="0" err="1"/>
              <a:t>quan</a:t>
            </a:r>
            <a:endParaRPr lang="en-US" b="1" u="sng" dirty="0"/>
          </a:p>
          <a:p>
            <a:r>
              <a:rPr lang="vi-VN" dirty="0"/>
              <a:t>Nghị định 13/2023/NĐ‑CP</a:t>
            </a:r>
            <a:endParaRPr lang="en-US" dirty="0"/>
          </a:p>
          <a:p>
            <a:pPr lvl="1"/>
            <a:r>
              <a:rPr lang="vi-VN" sz="1800" dirty="0"/>
              <a:t>Liên hệ với IoT và hệ thống xử lý dữ liệu</a:t>
            </a:r>
          </a:p>
          <a:p>
            <a:pPr lvl="2"/>
            <a:r>
              <a:rPr lang="vi-VN" sz="1800" dirty="0"/>
              <a:t>Thiết bị IoT thu thập rất nhiều dữ liệu cá nhân (vị trí, sức khỏe, sinh hoạt) → phải tuân thủ Nghị định 13.</a:t>
            </a:r>
          </a:p>
          <a:p>
            <a:pPr lvl="2"/>
            <a:r>
              <a:rPr lang="vi-VN" sz="1800" dirty="0"/>
              <a:t>Khi thiết kế hệ thống IoT:</a:t>
            </a:r>
          </a:p>
          <a:p>
            <a:pPr lvl="3"/>
            <a:r>
              <a:rPr lang="vi-VN" sz="1800" dirty="0"/>
              <a:t>Phải đảm bảo thu thập có sự đồng ý chủ thể dữ liệu.</a:t>
            </a:r>
          </a:p>
          <a:p>
            <a:pPr lvl="3"/>
            <a:r>
              <a:rPr lang="vi-VN" sz="1800" dirty="0"/>
              <a:t>Dữ liệu nhạy cảm phải mã hóa, định danh an toàn.</a:t>
            </a:r>
          </a:p>
          <a:p>
            <a:pPr lvl="3"/>
            <a:r>
              <a:rPr lang="vi-VN" sz="1800" dirty="0"/>
              <a:t>Hệ thống xử lý dữ liệu cần có hồ sơ đánh giá tác động, đảm bảo chỉ xử lý đúng mục đích.</a:t>
            </a:r>
          </a:p>
          <a:p>
            <a:pPr lvl="3"/>
            <a:r>
              <a:rPr lang="vi-VN" sz="1800" dirty="0"/>
              <a:t>Tổ chức cần xác định vai trò bên kiểm soát và bên xử lý dữ liệu, đảm bảo trách nhiệm rõ ràng.</a:t>
            </a:r>
          </a:p>
        </p:txBody>
      </p:sp>
    </p:spTree>
    <p:extLst>
      <p:ext uri="{BB962C8B-B14F-4D97-AF65-F5344CB8AC3E}">
        <p14:creationId xmlns:p14="http://schemas.microsoft.com/office/powerpoint/2010/main" val="14702727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3. </a:t>
            </a:r>
            <a:r>
              <a:rPr lang="en-US" dirty="0" err="1"/>
              <a:t>Quyền</a:t>
            </a:r>
            <a:r>
              <a:rPr lang="en-US" dirty="0"/>
              <a:t> </a:t>
            </a:r>
            <a:r>
              <a:rPr lang="en-US" dirty="0" err="1"/>
              <a:t>riêng</a:t>
            </a:r>
            <a:r>
              <a:rPr lang="en-US" dirty="0"/>
              <a:t> </a:t>
            </a:r>
            <a:r>
              <a:rPr lang="en-US" dirty="0" err="1"/>
              <a:t>tư</a:t>
            </a:r>
            <a:r>
              <a:rPr lang="en-US" dirty="0"/>
              <a:t> </a:t>
            </a:r>
            <a:r>
              <a:rPr lang="en-US" dirty="0" err="1"/>
              <a:t>và</a:t>
            </a:r>
            <a:r>
              <a:rPr lang="en-US" dirty="0"/>
              <a:t> </a:t>
            </a:r>
            <a:r>
              <a:rPr lang="en-US" dirty="0" err="1"/>
              <a:t>pháp</a:t>
            </a:r>
            <a:r>
              <a:rPr lang="en-US" dirty="0"/>
              <a:t> </a:t>
            </a:r>
            <a:r>
              <a:rPr lang="en-US" dirty="0" err="1"/>
              <a:t>lý</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vi-VN" b="1" u="sng" dirty="0"/>
              <a:t>Nguyên tắc khi thiết kế hệ thống IoT an toàn</a:t>
            </a:r>
          </a:p>
          <a:p>
            <a:r>
              <a:rPr lang="vi-VN" dirty="0"/>
              <a:t>Privacy by Design</a:t>
            </a:r>
          </a:p>
          <a:p>
            <a:pPr lvl="1"/>
            <a:r>
              <a:rPr lang="vi-VN" sz="1800" dirty="0"/>
              <a:t>Tích hợp cơ chế bảo mật và bảo vệ quyền riêng tư ngay từ giai đoạn thiết kế hệ thống, không phải “vá” sau khi triển khai.</a:t>
            </a:r>
          </a:p>
          <a:p>
            <a:pPr lvl="1"/>
            <a:r>
              <a:rPr lang="vi-VN" sz="1800" dirty="0"/>
              <a:t>Các yêu cầu:</a:t>
            </a:r>
          </a:p>
          <a:p>
            <a:pPr lvl="2"/>
            <a:r>
              <a:rPr lang="vi-VN" sz="1800" dirty="0"/>
              <a:t>Mã hóa dữ liệu đầu-cuối.</a:t>
            </a:r>
          </a:p>
          <a:p>
            <a:pPr lvl="2"/>
            <a:r>
              <a:rPr lang="vi-VN" sz="1800" dirty="0"/>
              <a:t>Giới hạn thu thập dữ liệu ở mức tối thiểu cần thiết.</a:t>
            </a:r>
          </a:p>
          <a:p>
            <a:pPr lvl="2"/>
            <a:r>
              <a:rPr lang="vi-VN" sz="1800" dirty="0"/>
              <a:t>Ẩn danh hóa hoặc mã hóa dữ liệu người dùng.</a:t>
            </a:r>
          </a:p>
          <a:p>
            <a:pPr lvl="2"/>
            <a:r>
              <a:rPr lang="vi-VN" sz="1800" dirty="0"/>
              <a:t>Cho phép người dùng quản lý và kiểm soát dữ liệu của chính họ.</a:t>
            </a:r>
          </a:p>
          <a:p>
            <a:pPr marL="114300" indent="0">
              <a:buNone/>
            </a:pPr>
            <a:endParaRPr lang="vi-VN" dirty="0"/>
          </a:p>
        </p:txBody>
      </p:sp>
    </p:spTree>
    <p:extLst>
      <p:ext uri="{BB962C8B-B14F-4D97-AF65-F5344CB8AC3E}">
        <p14:creationId xmlns:p14="http://schemas.microsoft.com/office/powerpoint/2010/main" val="6308229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3. </a:t>
            </a:r>
            <a:r>
              <a:rPr lang="en-US" dirty="0" err="1"/>
              <a:t>Quyền</a:t>
            </a:r>
            <a:r>
              <a:rPr lang="en-US" dirty="0"/>
              <a:t> </a:t>
            </a:r>
            <a:r>
              <a:rPr lang="en-US" dirty="0" err="1"/>
              <a:t>riêng</a:t>
            </a:r>
            <a:r>
              <a:rPr lang="en-US" dirty="0"/>
              <a:t> </a:t>
            </a:r>
            <a:r>
              <a:rPr lang="en-US" dirty="0" err="1"/>
              <a:t>tư</a:t>
            </a:r>
            <a:r>
              <a:rPr lang="en-US" dirty="0"/>
              <a:t> </a:t>
            </a:r>
            <a:r>
              <a:rPr lang="en-US" dirty="0" err="1"/>
              <a:t>và</a:t>
            </a:r>
            <a:r>
              <a:rPr lang="en-US" dirty="0"/>
              <a:t> </a:t>
            </a:r>
            <a:r>
              <a:rPr lang="en-US" dirty="0" err="1"/>
              <a:t>pháp</a:t>
            </a:r>
            <a:r>
              <a:rPr lang="en-US" dirty="0"/>
              <a:t> </a:t>
            </a:r>
            <a:r>
              <a:rPr lang="en-US" dirty="0" err="1"/>
              <a:t>lý</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vi-VN" b="1" u="sng" dirty="0"/>
              <a:t>Nguyên tắc khi thiết kế hệ thống IoT an toàn</a:t>
            </a:r>
          </a:p>
          <a:p>
            <a:pPr marL="114300" indent="0">
              <a:buNone/>
            </a:pPr>
            <a:endParaRPr lang="vi-VN" dirty="0"/>
          </a:p>
          <a:p>
            <a:r>
              <a:rPr lang="vi-VN" dirty="0"/>
              <a:t>Data Minimization</a:t>
            </a:r>
          </a:p>
          <a:p>
            <a:pPr lvl="1"/>
            <a:r>
              <a:rPr lang="vi-VN" sz="1800" dirty="0"/>
              <a:t>“Thu thập ít – Rủi ro thấp”: chỉ thu thập dữ liệu phục vụ đúng mục đích nghiệp vụ.</a:t>
            </a:r>
          </a:p>
          <a:p>
            <a:pPr lvl="1"/>
            <a:r>
              <a:rPr lang="vi-VN" sz="1800" dirty="0"/>
              <a:t>Tránh:</a:t>
            </a:r>
          </a:p>
          <a:p>
            <a:pPr lvl="2"/>
            <a:r>
              <a:rPr lang="vi-VN" sz="1800" dirty="0"/>
              <a:t>Lưu dữ liệu lâu hơn cần thiết.</a:t>
            </a:r>
          </a:p>
          <a:p>
            <a:pPr lvl="2"/>
            <a:r>
              <a:rPr lang="vi-VN" sz="1800" dirty="0"/>
              <a:t>Gộp dữ liệu từ nhiều nguồn mà không có sự đồng ý.</a:t>
            </a:r>
          </a:p>
          <a:p>
            <a:pPr lvl="1"/>
            <a:r>
              <a:rPr lang="vi-VN" sz="1800" dirty="0"/>
              <a:t>Ví dụ:</a:t>
            </a:r>
          </a:p>
          <a:p>
            <a:pPr lvl="2"/>
            <a:r>
              <a:rPr lang="vi-VN" sz="1800" dirty="0"/>
              <a:t>Thiết bị IoT theo dõi thời gian ngủ không cần lưu dữ liệu GPS của người dùng.</a:t>
            </a:r>
            <a:endParaRPr lang="en-US" sz="1800" dirty="0"/>
          </a:p>
        </p:txBody>
      </p:sp>
    </p:spTree>
    <p:extLst>
      <p:ext uri="{BB962C8B-B14F-4D97-AF65-F5344CB8AC3E}">
        <p14:creationId xmlns:p14="http://schemas.microsoft.com/office/powerpoint/2010/main" val="32804658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3. </a:t>
            </a:r>
            <a:r>
              <a:rPr lang="en-US" dirty="0" err="1"/>
              <a:t>Quyền</a:t>
            </a:r>
            <a:r>
              <a:rPr lang="en-US" dirty="0"/>
              <a:t> </a:t>
            </a:r>
            <a:r>
              <a:rPr lang="en-US" dirty="0" err="1"/>
              <a:t>riêng</a:t>
            </a:r>
            <a:r>
              <a:rPr lang="en-US" dirty="0"/>
              <a:t> </a:t>
            </a:r>
            <a:r>
              <a:rPr lang="en-US" dirty="0" err="1"/>
              <a:t>tư</a:t>
            </a:r>
            <a:r>
              <a:rPr lang="en-US" dirty="0"/>
              <a:t> </a:t>
            </a:r>
            <a:r>
              <a:rPr lang="en-US" dirty="0" err="1"/>
              <a:t>và</a:t>
            </a:r>
            <a:r>
              <a:rPr lang="en-US" dirty="0"/>
              <a:t> </a:t>
            </a:r>
            <a:r>
              <a:rPr lang="en-US" dirty="0" err="1"/>
              <a:t>pháp</a:t>
            </a:r>
            <a:r>
              <a:rPr lang="en-US" dirty="0"/>
              <a:t> </a:t>
            </a:r>
            <a:r>
              <a:rPr lang="en-US" dirty="0" err="1"/>
              <a:t>lý</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vi-VN" b="1" u="sng" dirty="0"/>
              <a:t>Thách thức thực tế trong bảo vệ quyền riêng tư IoT</a:t>
            </a:r>
          </a:p>
          <a:p>
            <a:endParaRPr lang="vi-VN" dirty="0"/>
          </a:p>
          <a:p>
            <a:r>
              <a:rPr lang="vi-VN" dirty="0"/>
              <a:t>Khối lượng dữ liệu khổng lồ → khó quản lý và giám sát toàn diện.</a:t>
            </a:r>
          </a:p>
          <a:p>
            <a:endParaRPr lang="vi-VN" dirty="0"/>
          </a:p>
          <a:p>
            <a:r>
              <a:rPr lang="vi-VN" dirty="0"/>
              <a:t>Đa nhà sản xuất → tiêu chuẩn bảo mật không đồng nhất.</a:t>
            </a:r>
          </a:p>
          <a:p>
            <a:endParaRPr lang="vi-VN" dirty="0"/>
          </a:p>
          <a:p>
            <a:r>
              <a:rPr lang="vi-VN" dirty="0"/>
              <a:t>Thiết bị giá rẻ thường không có cập nhật bảo mật.</a:t>
            </a:r>
          </a:p>
          <a:p>
            <a:endParaRPr lang="vi-VN" dirty="0"/>
          </a:p>
          <a:p>
            <a:r>
              <a:rPr lang="vi-VN" dirty="0"/>
              <a:t>Người dùng ít nhận thức về quyền riêng tư và nguy cơ dữ liệu cá nhân bị khai thác.</a:t>
            </a:r>
            <a:endParaRPr lang="en-US" sz="1800" dirty="0"/>
          </a:p>
        </p:txBody>
      </p:sp>
    </p:spTree>
    <p:extLst>
      <p:ext uri="{BB962C8B-B14F-4D97-AF65-F5344CB8AC3E}">
        <p14:creationId xmlns:p14="http://schemas.microsoft.com/office/powerpoint/2010/main" val="20365826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3. </a:t>
            </a:r>
            <a:r>
              <a:rPr lang="en-US" dirty="0" err="1"/>
              <a:t>Quyền</a:t>
            </a:r>
            <a:r>
              <a:rPr lang="en-US" dirty="0"/>
              <a:t> </a:t>
            </a:r>
            <a:r>
              <a:rPr lang="en-US" dirty="0" err="1"/>
              <a:t>riêng</a:t>
            </a:r>
            <a:r>
              <a:rPr lang="en-US" dirty="0"/>
              <a:t> </a:t>
            </a:r>
            <a:r>
              <a:rPr lang="en-US" dirty="0" err="1"/>
              <a:t>tư</a:t>
            </a:r>
            <a:r>
              <a:rPr lang="en-US" dirty="0"/>
              <a:t> </a:t>
            </a:r>
            <a:r>
              <a:rPr lang="en-US" dirty="0" err="1"/>
              <a:t>và</a:t>
            </a:r>
            <a:r>
              <a:rPr lang="en-US" dirty="0"/>
              <a:t> </a:t>
            </a:r>
            <a:r>
              <a:rPr lang="en-US" dirty="0" err="1"/>
              <a:t>pháp</a:t>
            </a:r>
            <a:r>
              <a:rPr lang="en-US" dirty="0"/>
              <a:t> </a:t>
            </a:r>
            <a:r>
              <a:rPr lang="en-US" dirty="0" err="1"/>
              <a:t>lý</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vi-VN" b="1" u="sng" dirty="0"/>
              <a:t>Hướng phát triển và trách nhiệm đạo đức</a:t>
            </a:r>
          </a:p>
          <a:p>
            <a:endParaRPr lang="vi-VN" dirty="0"/>
          </a:p>
          <a:p>
            <a:r>
              <a:rPr lang="vi-VN" dirty="0"/>
              <a:t>Các tổ chức IoT cần tuân thủ ba yếu tố:</a:t>
            </a:r>
          </a:p>
          <a:p>
            <a:endParaRPr lang="vi-VN" dirty="0"/>
          </a:p>
          <a:p>
            <a:pPr lvl="1"/>
            <a:r>
              <a:rPr lang="vi-VN" sz="1800" dirty="0"/>
              <a:t>Pháp lý: tuân theo luật dữ liệu quốc gia và quốc tế.</a:t>
            </a:r>
          </a:p>
          <a:p>
            <a:endParaRPr lang="vi-VN" dirty="0"/>
          </a:p>
          <a:p>
            <a:pPr lvl="1"/>
            <a:r>
              <a:rPr lang="vi-VN" sz="1800" dirty="0"/>
              <a:t>Kỹ thuật: triển khai mã hóa, xác thực, và giám sát an ninh.</a:t>
            </a:r>
          </a:p>
          <a:p>
            <a:endParaRPr lang="vi-VN" dirty="0"/>
          </a:p>
          <a:p>
            <a:pPr lvl="1"/>
            <a:r>
              <a:rPr lang="vi-VN" sz="1800" dirty="0"/>
              <a:t>Đạo đức nghề nghiệp: minh bạch, tôn trọng người dùng, không thu thập dữ liệu vượt phạm vi cho phép.</a:t>
            </a:r>
            <a:endParaRPr lang="en-US" sz="1800" dirty="0"/>
          </a:p>
        </p:txBody>
      </p:sp>
    </p:spTree>
    <p:extLst>
      <p:ext uri="{BB962C8B-B14F-4D97-AF65-F5344CB8AC3E}">
        <p14:creationId xmlns:p14="http://schemas.microsoft.com/office/powerpoint/2010/main" val="2355260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4. </a:t>
            </a:r>
            <a:r>
              <a:rPr lang="en-US" dirty="0" err="1"/>
              <a:t>Đạo</a:t>
            </a:r>
            <a:r>
              <a:rPr lang="en-US" dirty="0"/>
              <a:t> </a:t>
            </a:r>
            <a:r>
              <a:rPr lang="en-US" dirty="0" err="1"/>
              <a:t>đức</a:t>
            </a:r>
            <a:r>
              <a:rPr lang="en-US" dirty="0"/>
              <a:t> </a:t>
            </a:r>
            <a:r>
              <a:rPr lang="en-US" dirty="0" err="1"/>
              <a:t>nghề</a:t>
            </a:r>
            <a:r>
              <a:rPr lang="en-US" dirty="0"/>
              <a:t> </a:t>
            </a:r>
            <a:r>
              <a:rPr lang="en-US" dirty="0" err="1"/>
              <a:t>nghiệp</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vi-VN" b="1" u="sng" dirty="0"/>
              <a:t>Trách nhiệm của kỹ sư IoT</a:t>
            </a:r>
          </a:p>
          <a:p>
            <a:endParaRPr lang="vi-VN" dirty="0"/>
          </a:p>
          <a:p>
            <a:r>
              <a:rPr lang="vi-VN" dirty="0"/>
              <a:t>Thiết kế sản phẩm an toàn, bảo mật và minh bạch.</a:t>
            </a:r>
          </a:p>
          <a:p>
            <a:endParaRPr lang="vi-VN" dirty="0"/>
          </a:p>
          <a:p>
            <a:r>
              <a:rPr lang="vi-VN" dirty="0"/>
              <a:t>Không thu thập dữ liệu người dùng khi chưa được phép.</a:t>
            </a:r>
          </a:p>
          <a:p>
            <a:endParaRPr lang="vi-VN" dirty="0"/>
          </a:p>
          <a:p>
            <a:r>
              <a:rPr lang="vi-VN" dirty="0"/>
              <a:t>Báo cáo trung thực và chịu trách nhiệm với lỗi kỹ thuật.</a:t>
            </a:r>
            <a:endParaRPr lang="en-US" sz="1800" dirty="0"/>
          </a:p>
        </p:txBody>
      </p:sp>
    </p:spTree>
    <p:extLst>
      <p:ext uri="{BB962C8B-B14F-4D97-AF65-F5344CB8AC3E}">
        <p14:creationId xmlns:p14="http://schemas.microsoft.com/office/powerpoint/2010/main" val="21932667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4. </a:t>
            </a:r>
            <a:r>
              <a:rPr lang="en-US" dirty="0" err="1"/>
              <a:t>Đạo</a:t>
            </a:r>
            <a:r>
              <a:rPr lang="en-US" dirty="0"/>
              <a:t> </a:t>
            </a:r>
            <a:r>
              <a:rPr lang="en-US" dirty="0" err="1"/>
              <a:t>đức</a:t>
            </a:r>
            <a:r>
              <a:rPr lang="en-US" dirty="0"/>
              <a:t> </a:t>
            </a:r>
            <a:r>
              <a:rPr lang="en-US" dirty="0" err="1"/>
              <a:t>nghề</a:t>
            </a:r>
            <a:r>
              <a:rPr lang="en-US" dirty="0"/>
              <a:t> </a:t>
            </a:r>
            <a:r>
              <a:rPr lang="en-US" dirty="0" err="1"/>
              <a:t>nghiệp</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vi-VN" b="1" u="sng" dirty="0"/>
              <a:t>Các nguyên tắc đạo đức cốt lõi</a:t>
            </a:r>
            <a:endParaRPr lang="vi-VN" dirty="0"/>
          </a:p>
          <a:p>
            <a:r>
              <a:rPr lang="vi-VN" dirty="0"/>
              <a:t>Nguyên tắc 1 – Trách nhiệm (Responsibility)</a:t>
            </a:r>
          </a:p>
          <a:p>
            <a:pPr lvl="1"/>
            <a:r>
              <a:rPr lang="vi-VN" sz="1800" dirty="0"/>
              <a:t>Kỹ sư phải dự đoán và chịu trách nhiệm cho hậu quả của công nghệ do mình tạo ra.</a:t>
            </a:r>
          </a:p>
          <a:p>
            <a:endParaRPr lang="vi-VN" dirty="0"/>
          </a:p>
          <a:p>
            <a:pPr lvl="1"/>
            <a:r>
              <a:rPr lang="en-US" sz="1800" dirty="0" err="1"/>
              <a:t>Hệ</a:t>
            </a:r>
            <a:r>
              <a:rPr lang="en-US" sz="1800" dirty="0"/>
              <a:t> </a:t>
            </a:r>
            <a:r>
              <a:rPr lang="en-US" sz="1800" dirty="0" err="1"/>
              <a:t>thống</a:t>
            </a:r>
            <a:r>
              <a:rPr lang="en-US" sz="1800" dirty="0"/>
              <a:t> </a:t>
            </a:r>
            <a:r>
              <a:rPr lang="vi-VN" sz="1800" dirty="0"/>
              <a:t>IoT ảnh hưởng đến môi trường vật lý, quyền riêng tư và an toàn → cần có trách nhiệm xã hội.</a:t>
            </a:r>
          </a:p>
          <a:p>
            <a:endParaRPr lang="vi-VN" dirty="0"/>
          </a:p>
          <a:p>
            <a:pPr lvl="1"/>
            <a:r>
              <a:rPr lang="vi-VN" sz="1800" dirty="0"/>
              <a:t>Ví dụ: Drone giám sát phải tuân thủ quy định về quyền riêng tư và không gian bay.</a:t>
            </a:r>
            <a:endParaRPr lang="en-US" sz="1800" dirty="0"/>
          </a:p>
        </p:txBody>
      </p:sp>
    </p:spTree>
    <p:extLst>
      <p:ext uri="{BB962C8B-B14F-4D97-AF65-F5344CB8AC3E}">
        <p14:creationId xmlns:p14="http://schemas.microsoft.com/office/powerpoint/2010/main" val="32625720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4. </a:t>
            </a:r>
            <a:r>
              <a:rPr lang="en-US" dirty="0" err="1"/>
              <a:t>Đạo</a:t>
            </a:r>
            <a:r>
              <a:rPr lang="en-US" dirty="0"/>
              <a:t> </a:t>
            </a:r>
            <a:r>
              <a:rPr lang="en-US" dirty="0" err="1"/>
              <a:t>đức</a:t>
            </a:r>
            <a:r>
              <a:rPr lang="en-US" dirty="0"/>
              <a:t> </a:t>
            </a:r>
            <a:r>
              <a:rPr lang="en-US" dirty="0" err="1"/>
              <a:t>nghề</a:t>
            </a:r>
            <a:r>
              <a:rPr lang="en-US" dirty="0"/>
              <a:t> </a:t>
            </a:r>
            <a:r>
              <a:rPr lang="en-US" dirty="0" err="1"/>
              <a:t>nghiệp</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vi-VN" b="1" u="sng" dirty="0"/>
              <a:t>Các nguyên tắc đạo đức cốt lõi</a:t>
            </a:r>
            <a:endParaRPr lang="vi-VN" dirty="0"/>
          </a:p>
          <a:p>
            <a:r>
              <a:rPr lang="vi-VN" dirty="0"/>
              <a:t>Nguyên tắc 2 – Tôn trọng Quyền Riêng tư (Privacy Respect)</a:t>
            </a:r>
          </a:p>
          <a:p>
            <a:endParaRPr lang="vi-VN" dirty="0"/>
          </a:p>
          <a:p>
            <a:pPr lvl="1"/>
            <a:r>
              <a:rPr lang="vi-VN" sz="1800" dirty="0"/>
              <a:t>Xem dữ liệu người dùng là tài sản cá nhân cần bảo vệ.</a:t>
            </a:r>
          </a:p>
          <a:p>
            <a:endParaRPr lang="vi-VN" dirty="0"/>
          </a:p>
          <a:p>
            <a:pPr lvl="1"/>
            <a:r>
              <a:rPr lang="vi-VN" sz="1800" dirty="0"/>
              <a:t>Chỉ thu thập và xử lý dữ liệu thật sự cần thiết.</a:t>
            </a:r>
          </a:p>
          <a:p>
            <a:endParaRPr lang="vi-VN" dirty="0"/>
          </a:p>
          <a:p>
            <a:pPr lvl="1"/>
            <a:r>
              <a:rPr lang="vi-VN" sz="1800" dirty="0"/>
              <a:t>Ví dụ: Vòng đeo tay sức khỏe không được chia sẻ dữ liệu cho bên quảng cáo nếu chưa có sự đồng ý.</a:t>
            </a:r>
            <a:endParaRPr lang="en-US" sz="1800" dirty="0"/>
          </a:p>
        </p:txBody>
      </p:sp>
    </p:spTree>
    <p:extLst>
      <p:ext uri="{BB962C8B-B14F-4D97-AF65-F5344CB8AC3E}">
        <p14:creationId xmlns:p14="http://schemas.microsoft.com/office/powerpoint/2010/main" val="19136796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4. </a:t>
            </a:r>
            <a:r>
              <a:rPr lang="en-US" dirty="0" err="1"/>
              <a:t>Đạo</a:t>
            </a:r>
            <a:r>
              <a:rPr lang="en-US" dirty="0"/>
              <a:t> </a:t>
            </a:r>
            <a:r>
              <a:rPr lang="en-US" dirty="0" err="1"/>
              <a:t>đức</a:t>
            </a:r>
            <a:r>
              <a:rPr lang="en-US" dirty="0"/>
              <a:t> </a:t>
            </a:r>
            <a:r>
              <a:rPr lang="en-US" dirty="0" err="1"/>
              <a:t>nghề</a:t>
            </a:r>
            <a:r>
              <a:rPr lang="en-US" dirty="0"/>
              <a:t> </a:t>
            </a:r>
            <a:r>
              <a:rPr lang="en-US" dirty="0" err="1"/>
              <a:t>nghiệp</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vi-VN" b="1" u="sng" dirty="0"/>
              <a:t>Các nguyên tắc đạo đức cốt lõi</a:t>
            </a:r>
            <a:endParaRPr lang="vi-VN" dirty="0"/>
          </a:p>
          <a:p>
            <a:r>
              <a:rPr lang="vi-VN" dirty="0"/>
              <a:t>Nguyên tắc 3 – Trung thực (Integrity)</a:t>
            </a:r>
          </a:p>
          <a:p>
            <a:endParaRPr lang="vi-VN" dirty="0"/>
          </a:p>
          <a:p>
            <a:pPr lvl="1"/>
            <a:r>
              <a:rPr lang="vi-VN" sz="1800" dirty="0"/>
              <a:t>Báo cáo, thử nghiệm và công bố kết quả trung thực, minh bạch.</a:t>
            </a:r>
          </a:p>
          <a:p>
            <a:endParaRPr lang="vi-VN" dirty="0"/>
          </a:p>
          <a:p>
            <a:pPr lvl="1"/>
            <a:r>
              <a:rPr lang="vi-VN" sz="1800" dirty="0"/>
              <a:t>Không che giấu lỗi hệ thống hoặc làm sai lệch kết quả nghiên cứu.</a:t>
            </a:r>
          </a:p>
          <a:p>
            <a:endParaRPr lang="vi-VN" dirty="0"/>
          </a:p>
          <a:p>
            <a:pPr lvl="1"/>
            <a:r>
              <a:rPr lang="vi-VN" sz="1800" dirty="0"/>
              <a:t>Ví dụ: Khi phát hiện lỗi firmware, cần thông báo công khai và phát hành bản vá.</a:t>
            </a:r>
            <a:endParaRPr lang="en-US" sz="1800" dirty="0"/>
          </a:p>
        </p:txBody>
      </p:sp>
    </p:spTree>
    <p:extLst>
      <p:ext uri="{BB962C8B-B14F-4D97-AF65-F5344CB8AC3E}">
        <p14:creationId xmlns:p14="http://schemas.microsoft.com/office/powerpoint/2010/main" val="1372361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4. </a:t>
            </a:r>
            <a:r>
              <a:rPr lang="en-US" dirty="0" err="1"/>
              <a:t>Đạo</a:t>
            </a:r>
            <a:r>
              <a:rPr lang="en-US" dirty="0"/>
              <a:t> </a:t>
            </a:r>
            <a:r>
              <a:rPr lang="en-US" dirty="0" err="1"/>
              <a:t>đức</a:t>
            </a:r>
            <a:r>
              <a:rPr lang="en-US" dirty="0"/>
              <a:t> </a:t>
            </a:r>
            <a:r>
              <a:rPr lang="en-US" dirty="0" err="1"/>
              <a:t>nghề</a:t>
            </a:r>
            <a:r>
              <a:rPr lang="en-US" dirty="0"/>
              <a:t> </a:t>
            </a:r>
            <a:r>
              <a:rPr lang="en-US" dirty="0" err="1"/>
              <a:t>nghiệp</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vi-VN" b="1" u="sng" dirty="0"/>
              <a:t>Các nguyên tắc đạo đức cốt lõi</a:t>
            </a:r>
            <a:endParaRPr lang="vi-VN" dirty="0"/>
          </a:p>
          <a:p>
            <a:r>
              <a:rPr lang="vi-VN" dirty="0"/>
              <a:t>Nguyên tắc 4 – Công bằng (Fairness)</a:t>
            </a:r>
          </a:p>
          <a:p>
            <a:endParaRPr lang="vi-VN" dirty="0"/>
          </a:p>
          <a:p>
            <a:pPr lvl="1"/>
            <a:r>
              <a:rPr lang="vi-VN" sz="1800" dirty="0"/>
              <a:t>Đảm bảo công nghệ không tạo ra sự phân biệt đối xử.</a:t>
            </a:r>
          </a:p>
          <a:p>
            <a:endParaRPr lang="vi-VN" dirty="0"/>
          </a:p>
          <a:p>
            <a:pPr lvl="1"/>
            <a:r>
              <a:rPr lang="vi-VN" sz="1800" dirty="0"/>
              <a:t>Tránh thiên vị dữ liệu hoặc thuật toán.</a:t>
            </a:r>
          </a:p>
          <a:p>
            <a:endParaRPr lang="vi-VN" dirty="0"/>
          </a:p>
          <a:p>
            <a:pPr lvl="1"/>
            <a:r>
              <a:rPr lang="vi-VN" sz="1800" dirty="0"/>
              <a:t>Ví dụ: Hệ thống IoT nông nghiệp phải cung cấp dữ liệu công bằng cho mọi vùng miền.</a:t>
            </a:r>
            <a:endParaRPr lang="en-US" sz="1800" dirty="0"/>
          </a:p>
        </p:txBody>
      </p:sp>
    </p:spTree>
    <p:extLst>
      <p:ext uri="{BB962C8B-B14F-4D97-AF65-F5344CB8AC3E}">
        <p14:creationId xmlns:p14="http://schemas.microsoft.com/office/powerpoint/2010/main" val="31185479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2E41-0187-EAAF-2546-D0A187845A5D}"/>
              </a:ext>
            </a:extLst>
          </p:cNvPr>
          <p:cNvSpPr>
            <a:spLocks noGrp="1"/>
          </p:cNvSpPr>
          <p:nvPr>
            <p:ph type="title"/>
          </p:nvPr>
        </p:nvSpPr>
        <p:spPr/>
        <p:txBody>
          <a:bodyPr>
            <a:normAutofit fontScale="90000"/>
          </a:bodyPr>
          <a:lstStyle/>
          <a:p>
            <a:r>
              <a:rPr lang="en-US" dirty="0"/>
              <a:t>4. </a:t>
            </a:r>
            <a:r>
              <a:rPr lang="en-US" dirty="0" err="1"/>
              <a:t>Đạo</a:t>
            </a:r>
            <a:r>
              <a:rPr lang="en-US" dirty="0"/>
              <a:t> </a:t>
            </a:r>
            <a:r>
              <a:rPr lang="en-US" dirty="0" err="1"/>
              <a:t>đức</a:t>
            </a:r>
            <a:r>
              <a:rPr lang="en-US" dirty="0"/>
              <a:t> </a:t>
            </a:r>
            <a:r>
              <a:rPr lang="en-US" dirty="0" err="1"/>
              <a:t>nghề</a:t>
            </a:r>
            <a:r>
              <a:rPr lang="en-US" dirty="0"/>
              <a:t> </a:t>
            </a:r>
            <a:r>
              <a:rPr lang="en-US" dirty="0" err="1"/>
              <a:t>nghiệp</a:t>
            </a:r>
            <a:r>
              <a:rPr lang="en-US" dirty="0"/>
              <a:t> </a:t>
            </a:r>
            <a:r>
              <a:rPr lang="en-US" dirty="0" err="1"/>
              <a:t>trong</a:t>
            </a:r>
            <a:r>
              <a:rPr lang="en-US" dirty="0"/>
              <a:t> IoT</a:t>
            </a:r>
          </a:p>
        </p:txBody>
      </p:sp>
      <p:sp>
        <p:nvSpPr>
          <p:cNvPr id="3" name="Text Placeholder 2">
            <a:extLst>
              <a:ext uri="{FF2B5EF4-FFF2-40B4-BE49-F238E27FC236}">
                <a16:creationId xmlns:a16="http://schemas.microsoft.com/office/drawing/2014/main" id="{E46DE6C2-B81C-5BA0-1843-CB87395FFF9D}"/>
              </a:ext>
            </a:extLst>
          </p:cNvPr>
          <p:cNvSpPr>
            <a:spLocks noGrp="1"/>
          </p:cNvSpPr>
          <p:nvPr>
            <p:ph type="body" idx="1"/>
          </p:nvPr>
        </p:nvSpPr>
        <p:spPr>
          <a:xfrm>
            <a:off x="311700" y="1152474"/>
            <a:ext cx="8520600" cy="3796453"/>
          </a:xfrm>
        </p:spPr>
        <p:txBody>
          <a:bodyPr>
            <a:noAutofit/>
          </a:bodyPr>
          <a:lstStyle/>
          <a:p>
            <a:pPr marL="114300" indent="0">
              <a:buNone/>
            </a:pPr>
            <a:r>
              <a:rPr lang="vi-VN" b="1" u="sng" dirty="0"/>
              <a:t>Các nguyên tắc đạo đức cốt lõi</a:t>
            </a:r>
            <a:endParaRPr lang="vi-VN" dirty="0"/>
          </a:p>
          <a:p>
            <a:r>
              <a:rPr lang="vi-VN" dirty="0"/>
              <a:t>Nguyên tắc 5 – An toàn (Safety)</a:t>
            </a:r>
          </a:p>
          <a:p>
            <a:endParaRPr lang="vi-VN" dirty="0"/>
          </a:p>
          <a:p>
            <a:pPr lvl="1"/>
            <a:r>
              <a:rPr lang="vi-VN" sz="1800" dirty="0"/>
              <a:t>Bảo vệ tính mạng, tài sản và môi trường.</a:t>
            </a:r>
          </a:p>
          <a:p>
            <a:endParaRPr lang="vi-VN" dirty="0"/>
          </a:p>
          <a:p>
            <a:pPr lvl="1"/>
            <a:r>
              <a:rPr lang="vi-VN" sz="1800" dirty="0"/>
              <a:t>Thiết kế thiết bị có cơ chế phòng ngừa rủi ro và cảnh báo sớm.</a:t>
            </a:r>
          </a:p>
          <a:p>
            <a:endParaRPr lang="vi-VN" dirty="0"/>
          </a:p>
          <a:p>
            <a:pPr lvl="1"/>
            <a:r>
              <a:rPr lang="vi-VN" sz="1800" dirty="0"/>
              <a:t>Ví dụ: Cảm biến khí gas phải cảnh báo chính xác để tránh cháy nổ.</a:t>
            </a:r>
            <a:endParaRPr lang="en-US" sz="1800" dirty="0"/>
          </a:p>
        </p:txBody>
      </p:sp>
    </p:spTree>
    <p:extLst>
      <p:ext uri="{BB962C8B-B14F-4D97-AF65-F5344CB8AC3E}">
        <p14:creationId xmlns:p14="http://schemas.microsoft.com/office/powerpoint/2010/main" val="183296329"/>
      </p:ext>
    </p:extLst>
  </p:cSld>
  <p:clrMapOvr>
    <a:masterClrMapping/>
  </p:clrMapOvr>
</p:sld>
</file>

<file path=ppt/theme/theme1.xml><?xml version="1.0" encoding="utf-8"?>
<a:theme xmlns:a="http://schemas.openxmlformats.org/drawingml/2006/main"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22082</Words>
  <Application>Microsoft Office PowerPoint</Application>
  <PresentationFormat>On-screen Show (16:9)</PresentationFormat>
  <Paragraphs>1432</Paragraphs>
  <Slides>37</Slides>
  <Notes>30</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Source Sans Pro</vt:lpstr>
      <vt:lpstr>Raleway</vt:lpstr>
      <vt:lpstr>Plum</vt:lpstr>
      <vt:lpstr>Chap 5: Quản lý thiết bị và  An toàn thông tin IoT</vt:lpstr>
      <vt:lpstr>Quản lý thiết bị</vt:lpstr>
      <vt:lpstr>Quản lý thiết bị</vt:lpstr>
      <vt:lpstr>Quản lý thiết bị</vt:lpstr>
      <vt:lpstr>Quản lý thiết bị</vt:lpstr>
      <vt:lpstr>Quản lý thiết bị</vt:lpstr>
      <vt:lpstr>Quản lý thiết bị</vt:lpstr>
      <vt:lpstr>Quản lý thiết bị</vt:lpstr>
      <vt:lpstr>Quản lý thiết bị</vt:lpstr>
      <vt:lpstr>Quản lý thiết bị</vt:lpstr>
      <vt:lpstr>Quản lý thiết bị</vt:lpstr>
      <vt:lpstr>Quản lý thiết bị</vt:lpstr>
      <vt:lpstr>2. An toàn thông tin trong IoT</vt:lpstr>
      <vt:lpstr>2. An toàn thông tin trong IoT</vt:lpstr>
      <vt:lpstr>2. An toàn thông tin trong IoT</vt:lpstr>
      <vt:lpstr>2. An toàn thông tin trong IoT</vt:lpstr>
      <vt:lpstr>2. An toàn thông tin trong IoT</vt:lpstr>
      <vt:lpstr>3. Quyền riêng tư và pháp lý trong IoT</vt:lpstr>
      <vt:lpstr>3. Quyền riêng tư và pháp lý trong IoT</vt:lpstr>
      <vt:lpstr>3. Quyền riêng tư và pháp lý trong IoT</vt:lpstr>
      <vt:lpstr>3. Quyền riêng tư và pháp lý trong IoT</vt:lpstr>
      <vt:lpstr>3. Quyền riêng tư và pháp lý trong IoT</vt:lpstr>
      <vt:lpstr>3. Quyền riêng tư và pháp lý trong IoT</vt:lpstr>
      <vt:lpstr>3. Quyền riêng tư và pháp lý trong IoT</vt:lpstr>
      <vt:lpstr>3. Quyền riêng tư và pháp lý trong IoT</vt:lpstr>
      <vt:lpstr>3. Quyền riêng tư và pháp lý trong IoT</vt:lpstr>
      <vt:lpstr>3. Quyền riêng tư và pháp lý trong IoT</vt:lpstr>
      <vt:lpstr>3. Quyền riêng tư và pháp lý trong IoT</vt:lpstr>
      <vt:lpstr>3. Quyền riêng tư và pháp lý trong IoT</vt:lpstr>
      <vt:lpstr>3. Quyền riêng tư và pháp lý trong IoT</vt:lpstr>
      <vt:lpstr>3. Quyền riêng tư và pháp lý trong IoT</vt:lpstr>
      <vt:lpstr>4. Đạo đức nghề nghiệp trong IoT</vt:lpstr>
      <vt:lpstr>4. Đạo đức nghề nghiệp trong IoT</vt:lpstr>
      <vt:lpstr>4. Đạo đức nghề nghiệp trong IoT</vt:lpstr>
      <vt:lpstr>4. Đạo đức nghề nghiệp trong IoT</vt:lpstr>
      <vt:lpstr>4. Đạo đức nghề nghiệp trong IoT</vt:lpstr>
      <vt:lpstr>4. Đạo đức nghề nghiệp trong IoT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 5: Quản lý thiết bị và  An toàn thông tin IoT</dc:title>
  <cp:lastModifiedBy>Admin</cp:lastModifiedBy>
  <cp:revision>44</cp:revision>
  <dcterms:modified xsi:type="dcterms:W3CDTF">2025-10-19T12:51:19Z</dcterms:modified>
</cp:coreProperties>
</file>