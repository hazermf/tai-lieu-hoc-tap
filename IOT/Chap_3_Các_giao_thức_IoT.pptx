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95" r:id="rId13"/>
    <p:sldId id="267" r:id="rId14"/>
    <p:sldId id="296" r:id="rId15"/>
    <p:sldId id="297" r:id="rId16"/>
    <p:sldId id="298" r:id="rId17"/>
    <p:sldId id="299" r:id="rId18"/>
    <p:sldId id="300" r:id="rId19"/>
    <p:sldId id="301" r:id="rId20"/>
    <p:sldId id="302" r:id="rId21"/>
    <p:sldId id="268" r:id="rId22"/>
    <p:sldId id="269" r:id="rId23"/>
    <p:sldId id="270" r:id="rId24"/>
    <p:sldId id="271" r:id="rId25"/>
    <p:sldId id="272" r:id="rId26"/>
    <p:sldId id="273" r:id="rId27"/>
    <p:sldId id="274" r:id="rId28"/>
    <p:sldId id="275" r:id="rId29"/>
    <p:sldId id="276" r:id="rId30"/>
    <p:sldId id="277" r:id="rId31"/>
    <p:sldId id="278" r:id="rId32"/>
    <p:sldId id="303" r:id="rId33"/>
    <p:sldId id="304" r:id="rId34"/>
    <p:sldId id="305" r:id="rId35"/>
    <p:sldId id="306" r:id="rId36"/>
    <p:sldId id="307" r:id="rId37"/>
    <p:sldId id="279" r:id="rId38"/>
    <p:sldId id="280" r:id="rId39"/>
    <p:sldId id="281" r:id="rId40"/>
    <p:sldId id="282" r:id="rId41"/>
    <p:sldId id="283" r:id="rId42"/>
    <p:sldId id="308" r:id="rId43"/>
    <p:sldId id="309" r:id="rId44"/>
    <p:sldId id="310" r:id="rId45"/>
    <p:sldId id="284" r:id="rId46"/>
    <p:sldId id="311" r:id="rId47"/>
    <p:sldId id="312" r:id="rId48"/>
    <p:sldId id="313" r:id="rId49"/>
    <p:sldId id="285" r:id="rId50"/>
    <p:sldId id="314" r:id="rId51"/>
    <p:sldId id="315" r:id="rId52"/>
    <p:sldId id="316" r:id="rId53"/>
    <p:sldId id="317" r:id="rId54"/>
    <p:sldId id="324" r:id="rId55"/>
    <p:sldId id="318" r:id="rId56"/>
    <p:sldId id="319" r:id="rId57"/>
    <p:sldId id="320" r:id="rId58"/>
    <p:sldId id="321" r:id="rId59"/>
    <p:sldId id="322" r:id="rId60"/>
    <p:sldId id="323" r:id="rId61"/>
    <p:sldId id="286" r:id="rId62"/>
    <p:sldId id="287" r:id="rId63"/>
    <p:sldId id="288" r:id="rId64"/>
    <p:sldId id="289" r:id="rId65"/>
    <p:sldId id="290" r:id="rId66"/>
    <p:sldId id="291" r:id="rId67"/>
    <p:sldId id="292" r:id="rId68"/>
    <p:sldId id="293" r:id="rId69"/>
    <p:sldId id="325" r:id="rId70"/>
    <p:sldId id="326" r:id="rId71"/>
    <p:sldId id="327" r:id="rId72"/>
    <p:sldId id="328" r:id="rId73"/>
    <p:sldId id="294" r:id="rId74"/>
    <p:sldId id="329" r:id="rId75"/>
    <p:sldId id="330" r:id="rId76"/>
    <p:sldId id="331" r:id="rId77"/>
    <p:sldId id="332" r:id="rId78"/>
    <p:sldId id="334" r:id="rId79"/>
  </p:sldIdLst>
  <p:sldSz cx="9144000" cy="5143500" type="screen16x9"/>
  <p:notesSz cx="6858000" cy="9144000"/>
  <p:embeddedFontLst>
    <p:embeddedFont>
      <p:font typeface="Nunito" pitchFamily="2" charset="0"/>
      <p:regular r:id="rId81"/>
      <p:bold r:id="rId82"/>
      <p:italic r:id="rId83"/>
      <p:boldItalic r:id="rId84"/>
    </p:embeddedFont>
    <p:embeddedFont>
      <p:font typeface="Raleway" pitchFamily="2" charset="0"/>
      <p:regular r:id="rId85"/>
      <p:bold r:id="rId86"/>
      <p:italic r:id="rId87"/>
      <p:boldItalic r:id="rId88"/>
    </p:embeddedFont>
    <p:embeddedFont>
      <p:font typeface="Roboto" panose="02000000000000000000" pitchFamily="2" charset="0"/>
      <p:regular r:id="rId89"/>
      <p:bold r:id="rId90"/>
      <p:italic r:id="rId91"/>
      <p:boldItalic r:id="rId92"/>
    </p:embeddedFont>
    <p:embeddedFont>
      <p:font typeface="Source Sans Pro" panose="020B0503030403020204" pitchFamily="34" charset="0"/>
      <p:regular r:id="rId93"/>
      <p:bold r:id="rId94"/>
      <p:italic r:id="rId95"/>
      <p:boldItalic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89B71F-FDE0-4053-8CEB-07D1FD352F78}">
  <a:tblStyle styleId="{0989B71F-FDE0-4053-8CEB-07D1FD352F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246" autoAdjust="0"/>
  </p:normalViewPr>
  <p:slideViewPr>
    <p:cSldViewPr snapToGrid="0">
      <p:cViewPr varScale="1">
        <p:scale>
          <a:sx n="86" d="100"/>
          <a:sy n="86" d="100"/>
        </p:scale>
        <p:origin x="2334" y="78"/>
      </p:cViewPr>
      <p:guideLst>
        <p:guide orient="horz" pos="1620"/>
        <p:guide pos="2880"/>
      </p:guideLst>
    </p:cSldViewPr>
  </p:slideViewPr>
  <p:notesTextViewPr>
    <p:cViewPr>
      <p:scale>
        <a:sx n="1" d="1"/>
        <a:sy n="1" d="1"/>
      </p:scale>
      <p:origin x="0" y="-3402"/>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10.fntdata"/><Relationship Id="rId95" Type="http://schemas.openxmlformats.org/officeDocument/2006/relationships/font" Target="fonts/font1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font" Target="fonts/font14.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3.fntdata"/><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khuenguyencreator.com/tat-tan-tat-ve-giao-thuc-http-va-https/"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81433b00ed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81433b00ed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81433b00ed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81433b00ed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b="1" dirty="0"/>
              <a:t>1. Tại sao giao thức quan trọng?</a:t>
            </a:r>
          </a:p>
          <a:p>
            <a:pPr marL="158750" indent="0">
              <a:buFont typeface="Arial" panose="020B0604020202020204" pitchFamily="34" charset="0"/>
              <a:buNone/>
            </a:pPr>
            <a:r>
              <a:rPr lang="vi-VN" dirty="0"/>
              <a:t>Trong IoT, có hàng tỷ thiết bị đến từ nhiều nhà sản xuất khác nhau. Nếu không có </a:t>
            </a:r>
            <a:r>
              <a:rPr lang="vi-VN" b="1" dirty="0"/>
              <a:t>giao thức chung</a:t>
            </a:r>
            <a:r>
              <a:rPr lang="vi-VN" dirty="0"/>
              <a:t>, các thiết bị sẽ “nói những ngôn ngữ khác nhau” và không thể hiểu nhau.</a:t>
            </a:r>
          </a:p>
          <a:p>
            <a:pPr>
              <a:buFont typeface="Arial" panose="020B0604020202020204" pitchFamily="34" charset="0"/>
              <a:buChar char="•"/>
            </a:pPr>
            <a:r>
              <a:rPr lang="vi-VN" b="1" dirty="0"/>
              <a:t>Giao thức (protocol)</a:t>
            </a:r>
            <a:r>
              <a:rPr lang="vi-VN" dirty="0"/>
              <a:t> chính là </a:t>
            </a:r>
            <a:r>
              <a:rPr lang="vi-VN" b="1" dirty="0"/>
              <a:t>bộ quy tắc</a:t>
            </a:r>
            <a:r>
              <a:rPr lang="vi-VN" dirty="0"/>
              <a:t> định nghĩa:</a:t>
            </a:r>
          </a:p>
          <a:p>
            <a:pPr marL="742950" lvl="1" indent="-285750">
              <a:buFont typeface="Arial" panose="020B0604020202020204" pitchFamily="34" charset="0"/>
              <a:buChar char="•"/>
            </a:pPr>
            <a:r>
              <a:rPr lang="vi-VN" dirty="0"/>
              <a:t>Cách </a:t>
            </a:r>
            <a:r>
              <a:rPr lang="vi-VN" b="1" dirty="0"/>
              <a:t>định dạng dữ liệu</a:t>
            </a:r>
            <a:r>
              <a:rPr lang="vi-VN" dirty="0"/>
              <a:t> khi gửi/nhận.</a:t>
            </a:r>
          </a:p>
          <a:p>
            <a:pPr marL="742950" lvl="1" indent="-285750">
              <a:buFont typeface="Arial" panose="020B0604020202020204" pitchFamily="34" charset="0"/>
              <a:buChar char="•"/>
            </a:pPr>
            <a:r>
              <a:rPr lang="vi-VN" dirty="0"/>
              <a:t>Cách </a:t>
            </a:r>
            <a:r>
              <a:rPr lang="vi-VN" b="1" dirty="0"/>
              <a:t>xác nhận dữ liệu đến đúng nơi</a:t>
            </a:r>
            <a:r>
              <a:rPr lang="vi-VN" dirty="0"/>
              <a:t>.</a:t>
            </a:r>
          </a:p>
          <a:p>
            <a:pPr marL="742950" lvl="1" indent="-285750">
              <a:buFont typeface="Arial" panose="020B0604020202020204" pitchFamily="34" charset="0"/>
              <a:buChar char="•"/>
            </a:pPr>
            <a:r>
              <a:rPr lang="vi-VN" dirty="0"/>
              <a:t>Cách </a:t>
            </a:r>
            <a:r>
              <a:rPr lang="vi-VN" b="1" dirty="0"/>
              <a:t>xử lý lỗi và đồng bộ</a:t>
            </a:r>
            <a:r>
              <a:rPr lang="vi-VN" dirty="0"/>
              <a:t> khi truyền tin.</a:t>
            </a:r>
          </a:p>
          <a:p>
            <a:pPr marL="158750" indent="0">
              <a:buFont typeface="Arial" panose="020B0604020202020204" pitchFamily="34" charset="0"/>
              <a:buNone/>
            </a:pPr>
            <a:r>
              <a:rPr lang="vi-VN" dirty="0"/>
              <a:t>Nói cách khác, giao thức giúp đảm bảo thiết bị </a:t>
            </a:r>
            <a:r>
              <a:rPr lang="vi-VN" b="1" dirty="0"/>
              <a:t>kết nối, giao tiếp, và phối hợp hoạt động</a:t>
            </a:r>
            <a:r>
              <a:rPr lang="vi-VN" dirty="0"/>
              <a:t> một cách đáng tin cậy.</a:t>
            </a:r>
          </a:p>
          <a:p>
            <a:pPr marL="158750" indent="0">
              <a:buNone/>
            </a:pPr>
            <a:r>
              <a:rPr lang="en-US" dirty="0"/>
              <a:t>👉 </a:t>
            </a:r>
            <a:r>
              <a:rPr lang="vi-VN" dirty="0"/>
              <a:t>Ví dụ: nếu một cảm biến nhiệt độ dùng chuẩn </a:t>
            </a:r>
            <a:r>
              <a:rPr lang="vi-VN" b="1" dirty="0"/>
              <a:t>MQTT</a:t>
            </a:r>
            <a:r>
              <a:rPr lang="vi-VN" dirty="0"/>
              <a:t>, thì server/cloud phải hỗ trợ </a:t>
            </a:r>
            <a:r>
              <a:rPr lang="vi-VN" b="1" dirty="0"/>
              <a:t>MQTT</a:t>
            </a:r>
            <a:r>
              <a:rPr lang="vi-VN" dirty="0"/>
              <a:t> mới nhận được dữ liệu đúng định dạng.</a:t>
            </a:r>
          </a:p>
          <a:p>
            <a:pPr marL="158750" indent="0">
              <a:buNone/>
            </a:pPr>
            <a:r>
              <a:rPr lang="vi-VN" b="1" dirty="0"/>
              <a:t>2. Có bao nhiêu giao thức?</a:t>
            </a:r>
          </a:p>
          <a:p>
            <a:pPr marL="158750" indent="0">
              <a:buFont typeface="Arial" panose="020B0604020202020204" pitchFamily="34" charset="0"/>
              <a:buNone/>
            </a:pPr>
            <a:r>
              <a:rPr lang="vi-VN" dirty="0"/>
              <a:t>Câu trả lời ngắn gọn: </a:t>
            </a:r>
            <a:r>
              <a:rPr lang="vi-VN" b="1" dirty="0"/>
              <a:t>“Rất nhiều…”</a:t>
            </a:r>
            <a:r>
              <a:rPr lang="vi-VN" dirty="0"/>
              <a:t> </a:t>
            </a:r>
            <a:r>
              <a:rPr lang="en-US" dirty="0"/>
              <a:t>😂</a:t>
            </a:r>
          </a:p>
          <a:p>
            <a:pPr marL="158750" indent="0">
              <a:buFont typeface="Arial" panose="020B0604020202020204" pitchFamily="34" charset="0"/>
              <a:buNone/>
            </a:pPr>
            <a:r>
              <a:rPr lang="vi-VN" dirty="0"/>
              <a:t>Bởi vì IoT hoạt động trong </a:t>
            </a:r>
            <a:r>
              <a:rPr lang="vi-VN" b="1" dirty="0"/>
              <a:t>nhiều ngữ cảnh khác nhau</a:t>
            </a:r>
            <a:r>
              <a:rPr lang="vi-VN" dirty="0"/>
              <a:t>: trong nhà, ngoài trời, công nghiệp, nông nghiệp, smart city… → mỗi môi trường lại có yêu cầu riêng về:</a:t>
            </a:r>
          </a:p>
          <a:p>
            <a:pPr marL="742950" lvl="1" indent="-285750">
              <a:buFont typeface="Arial" panose="020B0604020202020204" pitchFamily="34" charset="0"/>
              <a:buChar char="•"/>
            </a:pPr>
            <a:r>
              <a:rPr lang="vi-VN" dirty="0"/>
              <a:t>Băng thông (cao hay thấp).</a:t>
            </a:r>
          </a:p>
          <a:p>
            <a:pPr marL="742950" lvl="1" indent="-285750">
              <a:buFont typeface="Arial" panose="020B0604020202020204" pitchFamily="34" charset="0"/>
              <a:buChar char="•"/>
            </a:pPr>
            <a:r>
              <a:rPr lang="vi-VN" dirty="0"/>
              <a:t>Độ trễ (real-time hay không).</a:t>
            </a:r>
          </a:p>
          <a:p>
            <a:pPr marL="742950" lvl="1" indent="-285750">
              <a:buFont typeface="Arial" panose="020B0604020202020204" pitchFamily="34" charset="0"/>
              <a:buChar char="•"/>
            </a:pPr>
            <a:r>
              <a:rPr lang="vi-VN" dirty="0"/>
              <a:t>Tiêu thụ năng lượng (pin hay nguồn điện trực tiếp).</a:t>
            </a:r>
          </a:p>
          <a:p>
            <a:pPr marL="742950" lvl="1" indent="-285750">
              <a:buFont typeface="Arial" panose="020B0604020202020204" pitchFamily="34" charset="0"/>
              <a:buChar char="•"/>
            </a:pPr>
            <a:r>
              <a:rPr lang="vi-VN" dirty="0"/>
              <a:t>Khoảng cách truyền (ngắn như Bluetooth, xa như LoRaWAN).</a:t>
            </a:r>
          </a:p>
          <a:p>
            <a:pPr marL="158750" indent="0">
              <a:buFont typeface="Arial" panose="020B0604020202020204" pitchFamily="34" charset="0"/>
              <a:buNone/>
            </a:pPr>
            <a:r>
              <a:rPr lang="vi-VN" dirty="0"/>
              <a:t>Do đó, đã hình thành rất nhiều giao thức, ở nhiều lớp khác nhau:</a:t>
            </a:r>
          </a:p>
          <a:p>
            <a:pPr marL="158750" indent="0">
              <a:buNone/>
            </a:pPr>
            <a:r>
              <a:rPr lang="vi-VN" b="1" dirty="0"/>
              <a:t>a. Giao thức mạng tầng vật lý / MAC</a:t>
            </a:r>
          </a:p>
          <a:p>
            <a:pPr marL="158750" indent="0">
              <a:buFont typeface="Arial" panose="020B0604020202020204" pitchFamily="34" charset="0"/>
              <a:buNone/>
            </a:pPr>
            <a:r>
              <a:rPr lang="en-US" dirty="0"/>
              <a:t>	</a:t>
            </a:r>
            <a:r>
              <a:rPr lang="vi-VN" dirty="0"/>
              <a:t>Zigbee, Z-Wave, LoRaWAN, NB-IoT, Bluetooth, Wi-Fi.</a:t>
            </a:r>
          </a:p>
          <a:p>
            <a:pPr marL="158750" indent="0">
              <a:buNone/>
            </a:pPr>
            <a:r>
              <a:rPr lang="vi-VN" b="1" dirty="0"/>
              <a:t>b. Giao thức truyền dữ liệu ứng dụng</a:t>
            </a:r>
          </a:p>
          <a:p>
            <a:pPr marL="158750" indent="0">
              <a:buFont typeface="Arial" panose="020B0604020202020204" pitchFamily="34" charset="0"/>
              <a:buNone/>
            </a:pPr>
            <a:r>
              <a:rPr lang="en-US" dirty="0"/>
              <a:t>	</a:t>
            </a:r>
            <a:r>
              <a:rPr lang="vi-VN" dirty="0"/>
              <a:t>MQTT (publish/subscribe, nhẹ, phổ biến trong IoT).</a:t>
            </a:r>
          </a:p>
          <a:p>
            <a:pPr marL="158750" indent="0">
              <a:buFont typeface="Arial" panose="020B0604020202020204" pitchFamily="34" charset="0"/>
              <a:buNone/>
            </a:pPr>
            <a:r>
              <a:rPr lang="en-US" dirty="0"/>
              <a:t>	</a:t>
            </a:r>
            <a:r>
              <a:rPr lang="vi-VN" dirty="0"/>
              <a:t>CoAP (giống HTTP nhưng nhẹ, dùng UDP).</a:t>
            </a:r>
          </a:p>
          <a:p>
            <a:pPr marL="158750" indent="0">
              <a:buFont typeface="Arial" panose="020B0604020202020204" pitchFamily="34" charset="0"/>
              <a:buNone/>
            </a:pPr>
            <a:r>
              <a:rPr lang="en-US" dirty="0"/>
              <a:t>	</a:t>
            </a:r>
            <a:r>
              <a:rPr lang="vi-VN" dirty="0"/>
              <a:t>AMQP, DDS, XMPP.</a:t>
            </a:r>
          </a:p>
          <a:p>
            <a:pPr marL="158750" indent="0">
              <a:buFont typeface="Arial" panose="020B0604020202020204" pitchFamily="34" charset="0"/>
              <a:buNone/>
            </a:pPr>
            <a:r>
              <a:rPr lang="en-US" dirty="0"/>
              <a:t>	</a:t>
            </a:r>
            <a:r>
              <a:rPr lang="vi-VN" dirty="0"/>
              <a:t>HTTP/HTTPS (dễ triển khai, nhưng nặng hơn).</a:t>
            </a:r>
          </a:p>
          <a:p>
            <a:pPr marL="158750" indent="0">
              <a:buNone/>
            </a:pPr>
            <a:r>
              <a:rPr lang="vi-VN" b="1" dirty="0"/>
              <a:t>3. Thông điệp cho sinh viên</a:t>
            </a:r>
          </a:p>
          <a:p>
            <a:pPr marL="158750" indent="0">
              <a:buFont typeface="Arial" panose="020B0604020202020204" pitchFamily="34" charset="0"/>
              <a:buNone/>
            </a:pPr>
            <a:r>
              <a:rPr lang="en-US" b="1" dirty="0"/>
              <a:t>	</a:t>
            </a:r>
            <a:r>
              <a:rPr lang="vi-VN" b="1" dirty="0"/>
              <a:t>Không có một giao thức IoT “chuẩn duy nhất”</a:t>
            </a:r>
            <a:r>
              <a:rPr lang="vi-VN" dirty="0"/>
              <a:t> cho mọi tình huống.</a:t>
            </a:r>
          </a:p>
          <a:p>
            <a:pPr marL="158750" indent="0">
              <a:buFont typeface="Arial" panose="020B0604020202020204" pitchFamily="34" charset="0"/>
              <a:buNone/>
            </a:pPr>
            <a:r>
              <a:rPr lang="en-US" dirty="0"/>
              <a:t>	</a:t>
            </a:r>
            <a:r>
              <a:rPr lang="vi-VN" dirty="0"/>
              <a:t>Người thiết kế hệ thống IoT phải </a:t>
            </a:r>
            <a:r>
              <a:rPr lang="vi-VN" b="1" dirty="0"/>
              <a:t>chọn giao thức phù hợp</a:t>
            </a:r>
            <a:r>
              <a:rPr lang="vi-VN" dirty="0"/>
              <a:t> dựa trên yêu cầu về năng lượng, độ trễ, độ tin cậy và chi phí.</a:t>
            </a:r>
          </a:p>
          <a:p>
            <a:pPr marL="158750" indent="0">
              <a:buFont typeface="Arial" panose="020B0604020202020204" pitchFamily="34" charset="0"/>
              <a:buNone/>
            </a:pPr>
            <a:r>
              <a:rPr lang="en-US" dirty="0"/>
              <a:t>	</a:t>
            </a:r>
            <a:r>
              <a:rPr lang="vi-VN" dirty="0"/>
              <a:t>Cần hiểu rằng: giao thức chính là </a:t>
            </a:r>
            <a:r>
              <a:rPr lang="vi-VN" b="1" dirty="0"/>
              <a:t>“ngôn ngữ chung”</a:t>
            </a:r>
            <a:r>
              <a:rPr lang="vi-VN" dirty="0"/>
              <a:t> để thiết bị IoT có thể “trò chuyện” với nhau và với cloud.</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81433b00ed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81433b00ed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81433b00ed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81433b00ed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81433b00ed_0_2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81433b00ed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1741197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1741197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Định nghĩa cơ bản</a:t>
            </a:r>
          </a:p>
          <a:p>
            <a:pPr>
              <a:buFont typeface="Arial" panose="020B0604020202020204" pitchFamily="34" charset="0"/>
              <a:buChar char="•"/>
            </a:pPr>
            <a:r>
              <a:rPr lang="vi-VN" dirty="0"/>
              <a:t>“Bluetooth is an open wireless technology standard for transmitting fixed and mobile electronic device data over short distances. Bluetooth was introduced in 1994 as a wireless substitute for RS-232 cables.”</a:t>
            </a:r>
            <a:br>
              <a:rPr lang="vi-VN" dirty="0"/>
            </a:br>
            <a:r>
              <a:rPr lang="en-US" dirty="0"/>
              <a:t>👉 </a:t>
            </a:r>
            <a:r>
              <a:rPr lang="vi-VN" dirty="0"/>
              <a:t>Tạm dịch:</a:t>
            </a:r>
            <a:br>
              <a:rPr lang="vi-VN" dirty="0"/>
            </a:br>
            <a:r>
              <a:rPr lang="vi-VN" b="1" dirty="0"/>
              <a:t>Bluetooth là một chuẩn công nghệ không dây mở, dùng để truyền dữ liệu giữa các thiết bị điện tử cố định hoặc di động trong khoảng cách ngắn. Bluetooth được giới thiệu năm 1994 như một giải pháp thay thế cho cáp RS-232.</a:t>
            </a:r>
            <a:endParaRPr lang="vi-VN" dirty="0"/>
          </a:p>
          <a:p>
            <a:r>
              <a:rPr lang="vi-VN" b="1" dirty="0"/>
              <a:t>2. Ý nghĩa của từng phần trong định nghĩa</a:t>
            </a:r>
          </a:p>
          <a:p>
            <a:pPr>
              <a:buFont typeface="Arial" panose="020B0604020202020204" pitchFamily="34" charset="0"/>
              <a:buChar char="•"/>
            </a:pPr>
            <a:r>
              <a:rPr lang="vi-VN" b="1" dirty="0"/>
              <a:t>“Open wireless technology standard”</a:t>
            </a:r>
            <a:r>
              <a:rPr lang="vi-VN" dirty="0"/>
              <a:t>:</a:t>
            </a:r>
          </a:p>
          <a:p>
            <a:pPr marL="742950" lvl="1" indent="-285750">
              <a:buFont typeface="Arial" panose="020B0604020202020204" pitchFamily="34" charset="0"/>
              <a:buChar char="•"/>
            </a:pPr>
            <a:r>
              <a:rPr lang="vi-VN" dirty="0"/>
              <a:t>Bluetooth là </a:t>
            </a:r>
            <a:r>
              <a:rPr lang="vi-VN" b="1" dirty="0"/>
              <a:t>chuẩn mở</a:t>
            </a:r>
            <a:r>
              <a:rPr lang="vi-VN" dirty="0"/>
              <a:t>, nghĩa là được chuẩn hóa và có thể được nhiều nhà sản xuất sử dụng.</a:t>
            </a:r>
          </a:p>
          <a:p>
            <a:pPr marL="742950" lvl="1" indent="-285750">
              <a:buFont typeface="Arial" panose="020B0604020202020204" pitchFamily="34" charset="0"/>
              <a:buChar char="•"/>
            </a:pPr>
            <a:r>
              <a:rPr lang="vi-VN" dirty="0"/>
              <a:t>Nó dùng sóng </a:t>
            </a:r>
            <a:r>
              <a:rPr lang="vi-VN" b="1" dirty="0"/>
              <a:t>radio tần số 2.4 GHz</a:t>
            </a:r>
            <a:r>
              <a:rPr lang="vi-VN" dirty="0"/>
              <a:t> (ISM band), miễn phí trên toàn cầu.</a:t>
            </a:r>
          </a:p>
          <a:p>
            <a:pPr>
              <a:buFont typeface="Arial" panose="020B0604020202020204" pitchFamily="34" charset="0"/>
              <a:buChar char="•"/>
            </a:pPr>
            <a:r>
              <a:rPr lang="vi-VN" b="1" dirty="0"/>
              <a:t>“For transmitting fixed and mobile electronic device data”</a:t>
            </a:r>
            <a:r>
              <a:rPr lang="vi-VN" dirty="0"/>
              <a:t>:</a:t>
            </a:r>
          </a:p>
          <a:p>
            <a:pPr marL="742950" lvl="1" indent="-285750">
              <a:buFont typeface="Arial" panose="020B0604020202020204" pitchFamily="34" charset="0"/>
              <a:buChar char="•"/>
            </a:pPr>
            <a:r>
              <a:rPr lang="vi-VN" dirty="0"/>
              <a:t>Có thể dùng cho </a:t>
            </a:r>
            <a:r>
              <a:rPr lang="vi-VN" b="1" dirty="0"/>
              <a:t>thiết bị cố định</a:t>
            </a:r>
            <a:r>
              <a:rPr lang="vi-VN" dirty="0"/>
              <a:t> (desktop, loa, TV) và </a:t>
            </a:r>
            <a:r>
              <a:rPr lang="vi-VN" b="1" dirty="0"/>
              <a:t>thiết bị di động</a:t>
            </a:r>
            <a:r>
              <a:rPr lang="vi-VN" dirty="0"/>
              <a:t> (smartphone, laptop, smartwatch).</a:t>
            </a:r>
          </a:p>
          <a:p>
            <a:pPr marL="742950" lvl="1" indent="-285750">
              <a:buFont typeface="Arial" panose="020B0604020202020204" pitchFamily="34" charset="0"/>
              <a:buChar char="•"/>
            </a:pPr>
            <a:r>
              <a:rPr lang="vi-VN" dirty="0"/>
              <a:t>Dữ liệu truyền có thể là </a:t>
            </a:r>
            <a:r>
              <a:rPr lang="vi-VN" b="1" dirty="0"/>
              <a:t>file, âm thanh, tín hiệu điều khiển, telemetry IoT</a:t>
            </a:r>
            <a:r>
              <a:rPr lang="vi-VN" dirty="0"/>
              <a:t>.</a:t>
            </a:r>
          </a:p>
          <a:p>
            <a:pPr>
              <a:buFont typeface="Arial" panose="020B0604020202020204" pitchFamily="34" charset="0"/>
              <a:buChar char="•"/>
            </a:pPr>
            <a:r>
              <a:rPr lang="vi-VN" b="1" dirty="0"/>
              <a:t>“Over short distances”</a:t>
            </a:r>
            <a:r>
              <a:rPr lang="vi-VN" dirty="0"/>
              <a:t>:</a:t>
            </a:r>
          </a:p>
          <a:p>
            <a:pPr marL="742950" lvl="1" indent="-285750">
              <a:buFont typeface="Arial" panose="020B0604020202020204" pitchFamily="34" charset="0"/>
              <a:buChar char="•"/>
            </a:pPr>
            <a:r>
              <a:rPr lang="vi-VN" dirty="0"/>
              <a:t>Bluetooth được thiết kế cho </a:t>
            </a:r>
            <a:r>
              <a:rPr lang="vi-VN" b="1" dirty="0"/>
              <a:t>kết nối tầm ngắn</a:t>
            </a:r>
            <a:r>
              <a:rPr lang="vi-VN" dirty="0"/>
              <a:t> (thường 10m – 100m tuỳ phiên bản và công suất).</a:t>
            </a:r>
          </a:p>
          <a:p>
            <a:pPr marL="742950" lvl="1" indent="-285750">
              <a:buFont typeface="Arial" panose="020B0604020202020204" pitchFamily="34" charset="0"/>
              <a:buChar char="•"/>
            </a:pPr>
            <a:r>
              <a:rPr lang="vi-VN" dirty="0"/>
              <a:t>Ưu điểm: tiết kiệm năng lượng, dễ kết nối, không cần hạ tầng phức tạp.</a:t>
            </a:r>
          </a:p>
          <a:p>
            <a:pPr>
              <a:buFont typeface="Arial" panose="020B0604020202020204" pitchFamily="34" charset="0"/>
              <a:buChar char="•"/>
            </a:pPr>
            <a:r>
              <a:rPr lang="vi-VN" b="1" dirty="0"/>
              <a:t>“Introduced in 1994 as a wireless substitute for RS-232 cables”</a:t>
            </a:r>
            <a:r>
              <a:rPr lang="vi-VN" dirty="0"/>
              <a:t>:</a:t>
            </a:r>
          </a:p>
          <a:p>
            <a:pPr marL="742950" lvl="1" indent="-285750">
              <a:buFont typeface="Arial" panose="020B0604020202020204" pitchFamily="34" charset="0"/>
              <a:buChar char="•"/>
            </a:pPr>
            <a:r>
              <a:rPr lang="vi-VN" b="1" dirty="0"/>
              <a:t>RS-232</a:t>
            </a:r>
            <a:r>
              <a:rPr lang="vi-VN" dirty="0"/>
              <a:t> là chuẩn kết nối nối tiếp có dây phổ biến trước đây (ví dụ: kết nối máy tính với modem hoặc thiết bị ngoại vi).</a:t>
            </a:r>
          </a:p>
          <a:p>
            <a:pPr marL="742950" lvl="1" indent="-285750">
              <a:buFont typeface="Arial" panose="020B0604020202020204" pitchFamily="34" charset="0"/>
              <a:buChar char="•"/>
            </a:pPr>
            <a:r>
              <a:rPr lang="vi-VN" dirty="0"/>
              <a:t>Bluetooth ban đầu ra đời để </a:t>
            </a:r>
            <a:r>
              <a:rPr lang="vi-VN" b="1" dirty="0"/>
              <a:t>loại bỏ dây cáp</a:t>
            </a:r>
            <a:r>
              <a:rPr lang="vi-VN" dirty="0"/>
              <a:t>, giúp kết nối </a:t>
            </a:r>
            <a:r>
              <a:rPr lang="vi-VN" b="1" dirty="0"/>
              <a:t>không dây</a:t>
            </a:r>
            <a:r>
              <a:rPr lang="vi-VN" dirty="0"/>
              <a:t> thuận tiện hơn.</a:t>
            </a:r>
          </a:p>
          <a:p>
            <a:r>
              <a:rPr lang="vi-VN" b="1" dirty="0"/>
              <a:t>3. Ứng dụng trong IoT</a:t>
            </a:r>
          </a:p>
          <a:p>
            <a:pPr>
              <a:buFont typeface="Arial" panose="020B0604020202020204" pitchFamily="34" charset="0"/>
              <a:buChar char="•"/>
            </a:pPr>
            <a:r>
              <a:rPr lang="vi-VN" b="1" dirty="0"/>
              <a:t>Kết nối thiết bị cá nhân (wearable IoT):</a:t>
            </a:r>
            <a:r>
              <a:rPr lang="vi-VN" dirty="0"/>
              <a:t> smartwatch, vòng đeo tay sức khỏe gửi dữ liệu sang điện thoại.</a:t>
            </a:r>
          </a:p>
          <a:p>
            <a:pPr>
              <a:buFont typeface="Arial" panose="020B0604020202020204" pitchFamily="34" charset="0"/>
              <a:buChar char="•"/>
            </a:pPr>
            <a:r>
              <a:rPr lang="vi-VN" b="1" dirty="0"/>
              <a:t>Smart home:</a:t>
            </a:r>
            <a:r>
              <a:rPr lang="vi-VN" dirty="0"/>
              <a:t> điều khiển đèn, loa, cảm biến qua Bluetooth Low Energy (BLE).</a:t>
            </a:r>
          </a:p>
          <a:p>
            <a:pPr>
              <a:buFont typeface="Arial" panose="020B0604020202020204" pitchFamily="34" charset="0"/>
              <a:buChar char="•"/>
            </a:pPr>
            <a:r>
              <a:rPr lang="vi-VN" b="1" dirty="0"/>
              <a:t>Công nghiệp:</a:t>
            </a:r>
            <a:r>
              <a:rPr lang="vi-VN" dirty="0"/>
              <a:t> các cảm biến BLE thu thập dữ liệu máy móc, gửi về gateway gần đó.</a:t>
            </a:r>
          </a:p>
          <a:p>
            <a:pPr>
              <a:buFont typeface="Arial" panose="020B0604020202020204" pitchFamily="34" charset="0"/>
              <a:buChar char="•"/>
            </a:pPr>
            <a:r>
              <a:rPr lang="vi-VN" b="1" dirty="0"/>
              <a:t>Y tế thông minh:</a:t>
            </a:r>
            <a:r>
              <a:rPr lang="vi-VN" dirty="0"/>
              <a:t> thiết bị đo nhịp tim, đường huyết kết nối không dây đến app di động.</a:t>
            </a:r>
            <a:endParaRPr lang="en-US" dirty="0"/>
          </a:p>
          <a:p>
            <a:pPr>
              <a:buFont typeface="Arial" panose="020B0604020202020204" pitchFamily="34" charset="0"/>
              <a:buChar char="•"/>
            </a:pPr>
            <a:r>
              <a:rPr lang="en-US" dirty="0"/>
              <a:t>-----------------------------------------------------------------------------------------------------</a:t>
            </a:r>
            <a:endParaRPr lang="vi-VN" dirty="0"/>
          </a:p>
          <a:p>
            <a:r>
              <a:rPr lang="vi-VN" b="1" i="1" dirty="0"/>
              <a:t>4. Điểm mạnh và hạn chế</a:t>
            </a:r>
          </a:p>
          <a:p>
            <a:pPr>
              <a:buFont typeface="Arial" panose="020B0604020202020204" pitchFamily="34" charset="0"/>
              <a:buChar char="•"/>
            </a:pPr>
            <a:r>
              <a:rPr lang="vi-VN" b="1" i="1" dirty="0"/>
              <a:t>Ưu điểm:</a:t>
            </a:r>
            <a:endParaRPr lang="vi-VN" i="1" dirty="0"/>
          </a:p>
          <a:p>
            <a:pPr marL="742950" lvl="1" indent="-285750">
              <a:buFont typeface="Arial" panose="020B0604020202020204" pitchFamily="34" charset="0"/>
              <a:buChar char="•"/>
            </a:pPr>
            <a:r>
              <a:rPr lang="vi-VN" i="1" dirty="0"/>
              <a:t>Chuẩn mở, dễ tích hợp.</a:t>
            </a:r>
          </a:p>
          <a:p>
            <a:pPr marL="742950" lvl="1" indent="-285750">
              <a:buFont typeface="Arial" panose="020B0604020202020204" pitchFamily="34" charset="0"/>
              <a:buChar char="•"/>
            </a:pPr>
            <a:r>
              <a:rPr lang="vi-VN" i="1" dirty="0"/>
              <a:t>Tiết kiệm năng lượng (đặc biệt với </a:t>
            </a:r>
            <a:r>
              <a:rPr lang="vi-VN" b="1" i="1" dirty="0"/>
              <a:t>Bluetooth Low Energy – BLE</a:t>
            </a:r>
            <a:r>
              <a:rPr lang="vi-VN" i="1" dirty="0"/>
              <a:t>).</a:t>
            </a:r>
          </a:p>
          <a:p>
            <a:pPr marL="742950" lvl="1" indent="-285750">
              <a:buFont typeface="Arial" panose="020B0604020202020204" pitchFamily="34" charset="0"/>
              <a:buChar char="•"/>
            </a:pPr>
            <a:r>
              <a:rPr lang="vi-VN" i="1" dirty="0"/>
              <a:t>Không cần hạ tầng phức tạp, chỉ cần thiết bị hỗ trợ Bluetooth.</a:t>
            </a:r>
          </a:p>
          <a:p>
            <a:pPr>
              <a:buFont typeface="Arial" panose="020B0604020202020204" pitchFamily="34" charset="0"/>
              <a:buChar char="•"/>
            </a:pPr>
            <a:r>
              <a:rPr lang="vi-VN" b="1" i="1" dirty="0"/>
              <a:t>Hạn chế:</a:t>
            </a:r>
            <a:endParaRPr lang="vi-VN" i="1" dirty="0"/>
          </a:p>
          <a:p>
            <a:pPr marL="742950" lvl="1" indent="-285750">
              <a:buFont typeface="Arial" panose="020B0604020202020204" pitchFamily="34" charset="0"/>
              <a:buChar char="•"/>
            </a:pPr>
            <a:r>
              <a:rPr lang="vi-VN" i="1" dirty="0"/>
              <a:t>Phạm vi ngắn (không phù hợp cho mạng diện rộng).</a:t>
            </a:r>
          </a:p>
          <a:p>
            <a:pPr marL="742950" lvl="1" indent="-285750">
              <a:buFont typeface="Arial" panose="020B0604020202020204" pitchFamily="34" charset="0"/>
              <a:buChar char="•"/>
            </a:pPr>
            <a:r>
              <a:rPr lang="vi-VN" i="1" dirty="0"/>
              <a:t>Tốc độ truyền dữ liệu thấp hơn Wi-Fi.</a:t>
            </a:r>
          </a:p>
          <a:p>
            <a:pPr marL="742950" lvl="1" indent="-285750">
              <a:buFont typeface="Arial" panose="020B0604020202020204" pitchFamily="34" charset="0"/>
              <a:buChar char="•"/>
            </a:pPr>
            <a:r>
              <a:rPr lang="vi-VN" i="1" dirty="0"/>
              <a:t>Có thể bị nhiễu trong băng tần 2.4 GHz (trùng với Wi-Fi, lò vi sóng).</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8177afd77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8177afd77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Băng tần: 2.4 GHz</a:t>
            </a:r>
          </a:p>
          <a:p>
            <a:pPr>
              <a:buFont typeface="Arial" panose="020B0604020202020204" pitchFamily="34" charset="0"/>
              <a:buChar char="•"/>
            </a:pPr>
            <a:r>
              <a:rPr lang="vi-VN" dirty="0"/>
              <a:t>Bluetooth hoạt động trong băng tần </a:t>
            </a:r>
            <a:r>
              <a:rPr lang="vi-VN" b="1" dirty="0"/>
              <a:t>ISM 2.4 GHz</a:t>
            </a:r>
            <a:r>
              <a:rPr lang="vi-VN" dirty="0"/>
              <a:t> (Industrial, Scientific, Medical), miễn phí toàn cầu.</a:t>
            </a:r>
          </a:p>
          <a:p>
            <a:pPr>
              <a:buFont typeface="Arial" panose="020B0604020202020204" pitchFamily="34" charset="0"/>
              <a:buChar char="•"/>
            </a:pPr>
            <a:r>
              <a:rPr lang="vi-VN" dirty="0"/>
              <a:t>Đây cũng là băng tần mà Wi-Fi, Zigbee sử dụng → có khả năng bị nhiễu, nhưng Bluetooth có kỹ thuật </a:t>
            </a:r>
            <a:r>
              <a:rPr lang="vi-VN" b="1" dirty="0"/>
              <a:t>nhảy tần (frequency hopping)</a:t>
            </a:r>
            <a:r>
              <a:rPr lang="vi-VN" dirty="0"/>
              <a:t> để giảm xung đột.</a:t>
            </a:r>
          </a:p>
          <a:p>
            <a:r>
              <a:rPr lang="vi-VN" b="1" dirty="0"/>
              <a:t>2. Tốc độ truyền dữ liệu</a:t>
            </a:r>
          </a:p>
          <a:p>
            <a:pPr>
              <a:buFont typeface="Arial" panose="020B0604020202020204" pitchFamily="34" charset="0"/>
              <a:buChar char="•"/>
            </a:pPr>
            <a:r>
              <a:rPr lang="vi-VN" b="1" dirty="0"/>
              <a:t>Bluetooth cổ điển (Classic):</a:t>
            </a:r>
            <a:r>
              <a:rPr lang="vi-VN" dirty="0"/>
              <a:t> tốc độ tối đa khoảng </a:t>
            </a:r>
            <a:r>
              <a:rPr lang="vi-VN" b="1" dirty="0"/>
              <a:t>2.1 Mbps</a:t>
            </a:r>
            <a:r>
              <a:rPr lang="vi-VN" dirty="0"/>
              <a:t>.</a:t>
            </a:r>
          </a:p>
          <a:p>
            <a:pPr>
              <a:buFont typeface="Arial" panose="020B0604020202020204" pitchFamily="34" charset="0"/>
              <a:buChar char="•"/>
            </a:pPr>
            <a:r>
              <a:rPr lang="vi-VN" b="1" dirty="0"/>
              <a:t>Bluetooth Low Energy (BLE):</a:t>
            </a:r>
            <a:r>
              <a:rPr lang="vi-VN" dirty="0"/>
              <a:t> tối ưu cho tiết kiệm năng lượng, tốc độ truyền thấp hơn (</a:t>
            </a:r>
            <a:r>
              <a:rPr lang="vi-VN" b="1" dirty="0"/>
              <a:t>~1 Mbps</a:t>
            </a:r>
            <a:r>
              <a:rPr lang="vi-VN" dirty="0"/>
              <a:t>), nhưng đủ cho telemetry IoT (cảm biến, tín hiệu điều khiển).</a:t>
            </a:r>
            <a:br>
              <a:rPr lang="vi-VN" dirty="0"/>
            </a:br>
            <a:r>
              <a:rPr lang="en-US" dirty="0"/>
              <a:t>👉 </a:t>
            </a:r>
            <a:r>
              <a:rPr lang="vi-VN" dirty="0"/>
              <a:t>Ý nghĩa: Bluetooth phù hợp để truyền dữ liệu nhỏ, không phải file dung lượng lớn như video.</a:t>
            </a:r>
          </a:p>
          <a:p>
            <a:r>
              <a:rPr lang="vi-VN" b="1" dirty="0"/>
              <a:t>3. Khoảng cách truyền</a:t>
            </a:r>
          </a:p>
          <a:p>
            <a:pPr>
              <a:buFont typeface="Arial" panose="020B0604020202020204" pitchFamily="34" charset="0"/>
              <a:buChar char="•"/>
            </a:pPr>
            <a:r>
              <a:rPr lang="vi-VN" dirty="0"/>
              <a:t>Khoảng cách điển hình: </a:t>
            </a:r>
            <a:r>
              <a:rPr lang="vi-VN" b="1" dirty="0"/>
              <a:t>10 – 30 mét</a:t>
            </a:r>
            <a:r>
              <a:rPr lang="vi-VN" dirty="0"/>
              <a:t>.</a:t>
            </a:r>
          </a:p>
          <a:p>
            <a:pPr>
              <a:buFont typeface="Arial" panose="020B0604020202020204" pitchFamily="34" charset="0"/>
              <a:buChar char="•"/>
            </a:pPr>
            <a:r>
              <a:rPr lang="vi-VN" dirty="0"/>
              <a:t>Trong điều kiện lý tưởng, Bluetooth có thể đạt </a:t>
            </a:r>
            <a:r>
              <a:rPr lang="vi-VN" b="1" dirty="0"/>
              <a:t>tối đa ~100 mét</a:t>
            </a:r>
            <a:r>
              <a:rPr lang="vi-VN" dirty="0"/>
              <a:t> (Class 1).</a:t>
            </a:r>
          </a:p>
          <a:p>
            <a:pPr>
              <a:buFont typeface="Arial" panose="020B0604020202020204" pitchFamily="34" charset="0"/>
              <a:buChar char="•"/>
            </a:pPr>
            <a:r>
              <a:rPr lang="vi-VN" dirty="0"/>
              <a:t>Thực tế phụ thuộc vào môi trường (vật cản, nhiễu sóng, loại module).</a:t>
            </a:r>
          </a:p>
          <a:p>
            <a:r>
              <a:rPr lang="vi-VN" b="1" dirty="0"/>
              <a:t>4. Tiêu thụ năng lượng thấp</a:t>
            </a:r>
          </a:p>
          <a:p>
            <a:pPr>
              <a:buFont typeface="Arial" panose="020B0604020202020204" pitchFamily="34" charset="0"/>
              <a:buChar char="•"/>
            </a:pPr>
            <a:r>
              <a:rPr lang="vi-VN" dirty="0"/>
              <a:t>Điểm mạnh lớn nhất của Bluetooth, đặc biệt là </a:t>
            </a:r>
            <a:r>
              <a:rPr lang="vi-VN" b="1" dirty="0"/>
              <a:t>Bluetooth Low Energy (BLE)</a:t>
            </a:r>
            <a:r>
              <a:rPr lang="vi-VN" dirty="0"/>
              <a:t>.</a:t>
            </a:r>
          </a:p>
          <a:p>
            <a:pPr>
              <a:buFont typeface="Arial" panose="020B0604020202020204" pitchFamily="34" charset="0"/>
              <a:buChar char="•"/>
            </a:pPr>
            <a:r>
              <a:rPr lang="vi-VN" dirty="0"/>
              <a:t>Cho phép thiết bị chạy bằng pin nhỏ trong nhiều tháng, thậm chí nhiều năm.</a:t>
            </a:r>
            <a:br>
              <a:rPr lang="vi-VN" dirty="0"/>
            </a:br>
            <a:r>
              <a:rPr lang="en-US" dirty="0"/>
              <a:t>👉 </a:t>
            </a:r>
            <a:r>
              <a:rPr lang="vi-VN" dirty="0"/>
              <a:t>Đây là lý do BLE rất phổ biến trong </a:t>
            </a:r>
            <a:r>
              <a:rPr lang="vi-VN" b="1" dirty="0"/>
              <a:t>wearables (thiết bị đeo), cảm biến IoT, smart home</a:t>
            </a:r>
            <a:r>
              <a:rPr lang="vi-VN" dirty="0"/>
              <a:t>.</a:t>
            </a:r>
          </a:p>
          <a:p>
            <a:r>
              <a:rPr lang="vi-VN" b="1" dirty="0"/>
              <a:t>5. Giá thành rẻ</a:t>
            </a:r>
          </a:p>
          <a:p>
            <a:pPr>
              <a:buFont typeface="Arial" panose="020B0604020202020204" pitchFamily="34" charset="0"/>
              <a:buChar char="•"/>
            </a:pPr>
            <a:r>
              <a:rPr lang="vi-VN" dirty="0"/>
              <a:t>Module Bluetooth (như HC-05, HM-10, BLE chip) có giá rất thấp, dễ tích hợp.</a:t>
            </a:r>
          </a:p>
          <a:p>
            <a:pPr>
              <a:buFont typeface="Arial" panose="020B0604020202020204" pitchFamily="34" charset="0"/>
              <a:buChar char="•"/>
            </a:pPr>
            <a:r>
              <a:rPr lang="vi-VN" dirty="0"/>
              <a:t>Điều này giúp Bluetooth trở thành một trong những giao thức phổ biến nhất cho thiết bị IoT giá rẻ.</a:t>
            </a:r>
          </a:p>
          <a:p>
            <a:r>
              <a:rPr lang="vi-VN" b="1" dirty="0"/>
              <a:t>6. Ứng dụng rộng rãi</a:t>
            </a:r>
          </a:p>
          <a:p>
            <a:pPr>
              <a:buFont typeface="Arial" panose="020B0604020202020204" pitchFamily="34" charset="0"/>
              <a:buChar char="•"/>
            </a:pPr>
            <a:r>
              <a:rPr lang="vi-VN" dirty="0"/>
              <a:t>Bluetooth được tích hợp trong hầu hết các </a:t>
            </a:r>
            <a:r>
              <a:rPr lang="vi-VN" b="1" dirty="0"/>
              <a:t>thiết bị di động, laptop, loa, tai nghe, smartwatch, cảm biến IoT</a:t>
            </a:r>
            <a:r>
              <a:rPr lang="vi-VN" dirty="0"/>
              <a:t>.</a:t>
            </a:r>
          </a:p>
          <a:p>
            <a:pPr>
              <a:buFont typeface="Arial" panose="020B0604020202020204" pitchFamily="34" charset="0"/>
              <a:buChar char="•"/>
            </a:pPr>
            <a:r>
              <a:rPr lang="vi-VN" dirty="0"/>
              <a:t>Là cầu nối quan trọng giữa </a:t>
            </a:r>
            <a:r>
              <a:rPr lang="vi-VN" b="1" dirty="0"/>
              <a:t>thiết bị IoT và smartphone</a:t>
            </a:r>
            <a:r>
              <a:rPr lang="vi-VN" dirty="0"/>
              <a:t> → một hệ sinh thái quen thuộc với người dùng.</a:t>
            </a:r>
          </a:p>
          <a:p>
            <a:r>
              <a:rPr lang="vi-VN" b="1" dirty="0"/>
              <a:t>7. An toàn và bảo mật cao</a:t>
            </a:r>
          </a:p>
          <a:p>
            <a:pPr>
              <a:buFont typeface="Arial" panose="020B0604020202020204" pitchFamily="34" charset="0"/>
              <a:buChar char="•"/>
            </a:pPr>
            <a:r>
              <a:rPr lang="vi-VN" dirty="0"/>
              <a:t>Bluetooth hỗ trợ nhiều lớp </a:t>
            </a:r>
            <a:r>
              <a:rPr lang="vi-VN" b="1" dirty="0"/>
              <a:t>mã hóa (encryption), xác thực (authentication), và quản lý khóa (key management)</a:t>
            </a:r>
            <a:r>
              <a:rPr lang="vi-VN" dirty="0"/>
              <a:t>.</a:t>
            </a:r>
          </a:p>
          <a:p>
            <a:pPr>
              <a:buFont typeface="Arial" panose="020B0604020202020204" pitchFamily="34" charset="0"/>
              <a:buChar char="•"/>
            </a:pPr>
            <a:r>
              <a:rPr lang="vi-VN" dirty="0"/>
              <a:t>Đặc biệt trong BLE, có nhiều chế độ bảo mật phù hợp cho thiết bị IoT (pairing, bonding).</a:t>
            </a:r>
          </a:p>
          <a:p>
            <a:pPr>
              <a:buFont typeface="Arial" panose="020B0604020202020204" pitchFamily="34" charset="0"/>
              <a:buChar char="•"/>
            </a:pPr>
            <a:r>
              <a:rPr lang="vi-VN" dirty="0"/>
              <a:t>Tuy nhiên, cần chú ý cập nhật firmware để tránh các lỗ hổng bảo mật (ví dụ: BlueBorne).</a:t>
            </a:r>
          </a:p>
          <a:p>
            <a:r>
              <a:rPr lang="en-US" b="1" dirty="0"/>
              <a:t>📌 </a:t>
            </a:r>
            <a:r>
              <a:rPr lang="vi-VN" b="1" dirty="0"/>
              <a:t>Kết luận cho sinh viên</a:t>
            </a:r>
          </a:p>
          <a:p>
            <a:r>
              <a:rPr lang="vi-VN" dirty="0"/>
              <a:t>Bluetooth là một </a:t>
            </a:r>
            <a:r>
              <a:rPr lang="vi-VN" b="1" dirty="0"/>
              <a:t>chuẩn kết nối không dây tầm ngắn</a:t>
            </a:r>
            <a:r>
              <a:rPr lang="vi-VN" dirty="0"/>
              <a:t> với các đặc điểm:</a:t>
            </a:r>
          </a:p>
          <a:p>
            <a:pPr>
              <a:buFont typeface="Arial" panose="020B0604020202020204" pitchFamily="34" charset="0"/>
              <a:buChar char="•"/>
            </a:pPr>
            <a:r>
              <a:rPr lang="vi-VN" b="1" dirty="0"/>
              <a:t>Hoạt động ở băng tần 2.4 GHz.</a:t>
            </a:r>
            <a:endParaRPr lang="vi-VN" dirty="0"/>
          </a:p>
          <a:p>
            <a:pPr>
              <a:buFont typeface="Arial" panose="020B0604020202020204" pitchFamily="34" charset="0"/>
              <a:buChar char="•"/>
            </a:pPr>
            <a:r>
              <a:rPr lang="vi-VN" b="1" dirty="0"/>
              <a:t>Tốc độ vừa phải (2.1 Mbps – 1 Mbps).</a:t>
            </a:r>
            <a:endParaRPr lang="vi-VN" dirty="0"/>
          </a:p>
          <a:p>
            <a:pPr>
              <a:buFont typeface="Arial" panose="020B0604020202020204" pitchFamily="34" charset="0"/>
              <a:buChar char="•"/>
            </a:pPr>
            <a:r>
              <a:rPr lang="vi-VN" b="1" dirty="0"/>
              <a:t>Khoảng cách ngắn, tiết kiệm năng lượng, chi phí thấp.</a:t>
            </a:r>
            <a:endParaRPr lang="vi-VN" dirty="0"/>
          </a:p>
          <a:p>
            <a:pPr>
              <a:buFont typeface="Arial" panose="020B0604020202020204" pitchFamily="34" charset="0"/>
              <a:buChar char="•"/>
            </a:pPr>
            <a:r>
              <a:rPr lang="vi-VN" b="1" dirty="0"/>
              <a:t>Được ứng dụng rộng rãi, bảo mật tốt.</a:t>
            </a:r>
            <a:endParaRPr lang="vi-VN" dirty="0"/>
          </a:p>
          <a:p>
            <a:r>
              <a:rPr lang="en-US" dirty="0"/>
              <a:t>👉 </a:t>
            </a:r>
            <a:r>
              <a:rPr lang="vi-VN" dirty="0"/>
              <a:t>Trong hệ thống IoT, Bluetooth đặc biệt thích hợp cho </a:t>
            </a:r>
            <a:r>
              <a:rPr lang="vi-VN" b="1" dirty="0"/>
              <a:t>thiết bị đeo, smart home, cảm biến cá nhân</a:t>
            </a:r>
            <a:r>
              <a:rPr lang="vi-VN" dirty="0"/>
              <a:t>, nơi yêu cầu </a:t>
            </a:r>
            <a:r>
              <a:rPr lang="vi-VN" b="1" dirty="0"/>
              <a:t>tiết kiệm pin, kết nối đơn giản, chi phí thấp</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8177afd77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8177afd77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Giao </a:t>
            </a:r>
            <a:r>
              <a:rPr lang="en-US" dirty="0" err="1"/>
              <a:t>thức</a:t>
            </a:r>
            <a:r>
              <a:rPr lang="en-US" dirty="0"/>
              <a:t> Bluetooth </a:t>
            </a:r>
            <a:r>
              <a:rPr lang="en-US" dirty="0" err="1"/>
              <a:t>kết</a:t>
            </a:r>
            <a:r>
              <a:rPr lang="en-US" dirty="0"/>
              <a:t> </a:t>
            </a:r>
            <a:r>
              <a:rPr lang="en-US" dirty="0" err="1"/>
              <a:t>nối</a:t>
            </a:r>
            <a:r>
              <a:rPr lang="en-US" dirty="0"/>
              <a:t> </a:t>
            </a:r>
            <a:r>
              <a:rPr lang="en-US" dirty="0" err="1"/>
              <a:t>dữ</a:t>
            </a:r>
            <a:r>
              <a:rPr lang="en-US" dirty="0"/>
              <a:t> </a:t>
            </a:r>
            <a:r>
              <a:rPr lang="en-US" dirty="0" err="1"/>
              <a:t>liệu</a:t>
            </a:r>
            <a:r>
              <a:rPr lang="en-US" dirty="0"/>
              <a:t> </a:t>
            </a:r>
            <a:r>
              <a:rPr lang="en-US" dirty="0" err="1"/>
              <a:t>theo</a:t>
            </a:r>
            <a:r>
              <a:rPr lang="en-US" dirty="0"/>
              <a:t> </a:t>
            </a:r>
            <a:r>
              <a:rPr lang="en-US" dirty="0" err="1"/>
              <a:t>mô</a:t>
            </a:r>
            <a:r>
              <a:rPr lang="en-US" dirty="0"/>
              <a:t> </a:t>
            </a:r>
            <a:r>
              <a:rPr lang="en-US" dirty="0" err="1"/>
              <a:t>hình</a:t>
            </a:r>
            <a:r>
              <a:rPr lang="en-US" dirty="0"/>
              <a:t> Master-Slave</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8177afd77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8177afd77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Khái niệm cơ bản</a:t>
            </a:r>
          </a:p>
          <a:p>
            <a:pPr>
              <a:buFont typeface="Arial" panose="020B0604020202020204" pitchFamily="34" charset="0"/>
              <a:buChar char="•"/>
            </a:pPr>
            <a:r>
              <a:rPr lang="vi-VN" dirty="0"/>
              <a:t>Trong Bluetooth cổ điển (Classic), các thiết bị được kết nối trong một nhóm gọi là </a:t>
            </a:r>
            <a:r>
              <a:rPr lang="vi-VN" b="1" dirty="0"/>
              <a:t>piconet</a:t>
            </a:r>
            <a:r>
              <a:rPr lang="vi-VN" dirty="0"/>
              <a:t>.</a:t>
            </a:r>
          </a:p>
          <a:p>
            <a:pPr>
              <a:buFont typeface="Arial" panose="020B0604020202020204" pitchFamily="34" charset="0"/>
              <a:buChar char="•"/>
            </a:pPr>
            <a:r>
              <a:rPr lang="vi-VN" dirty="0"/>
              <a:t>Một piconet có thể có </a:t>
            </a:r>
            <a:r>
              <a:rPr lang="vi-VN" b="1" dirty="0"/>
              <a:t>1 thiết bị Master</a:t>
            </a:r>
            <a:r>
              <a:rPr lang="vi-VN" dirty="0"/>
              <a:t> và tối đa </a:t>
            </a:r>
            <a:r>
              <a:rPr lang="vi-VN" b="1" dirty="0"/>
              <a:t>7 thiết bị Slave</a:t>
            </a:r>
            <a:r>
              <a:rPr lang="vi-VN" dirty="0"/>
              <a:t> hoạt động đồng thời.</a:t>
            </a:r>
          </a:p>
          <a:p>
            <a:pPr>
              <a:buFont typeface="Arial" panose="020B0604020202020204" pitchFamily="34" charset="0"/>
              <a:buChar char="•"/>
            </a:pPr>
            <a:r>
              <a:rPr lang="vi-VN" b="1" dirty="0"/>
              <a:t>Master</a:t>
            </a:r>
            <a:r>
              <a:rPr lang="vi-VN" dirty="0"/>
              <a:t> là thiết bị đóng vai trò điều phối liên lạc, trong khi </a:t>
            </a:r>
            <a:r>
              <a:rPr lang="vi-VN" b="1" dirty="0"/>
              <a:t>Slave</a:t>
            </a:r>
            <a:r>
              <a:rPr lang="vi-VN" dirty="0"/>
              <a:t> là các thiết bị phụ thuộc, chỉ giao tiếp khi được Master cho phép.</a:t>
            </a:r>
          </a:p>
          <a:p>
            <a:r>
              <a:rPr lang="vi-VN" b="1" dirty="0"/>
              <a:t>2. Vai trò của Master</a:t>
            </a:r>
          </a:p>
          <a:p>
            <a:pPr>
              <a:buFont typeface="Arial" panose="020B0604020202020204" pitchFamily="34" charset="0"/>
              <a:buChar char="•"/>
            </a:pPr>
            <a:r>
              <a:rPr lang="vi-VN" b="1" dirty="0"/>
              <a:t>Khởi tạo kết nối:</a:t>
            </a:r>
            <a:r>
              <a:rPr lang="vi-VN" dirty="0"/>
              <a:t> Master phát tín hiệu (inquiry) để tìm và kết nối với Slave.</a:t>
            </a:r>
          </a:p>
          <a:p>
            <a:pPr>
              <a:buFont typeface="Arial" panose="020B0604020202020204" pitchFamily="34" charset="0"/>
              <a:buChar char="•"/>
            </a:pPr>
            <a:r>
              <a:rPr lang="vi-VN" b="1" dirty="0"/>
              <a:t>Điều phối thời gian:</a:t>
            </a:r>
            <a:r>
              <a:rPr lang="vi-VN" dirty="0"/>
              <a:t> Master cấp phát khe thời gian (time slots) cho từng Slave, tránh xung đột truyền dữ liệu.</a:t>
            </a:r>
          </a:p>
          <a:p>
            <a:pPr>
              <a:buFont typeface="Arial" panose="020B0604020202020204" pitchFamily="34" charset="0"/>
              <a:buChar char="•"/>
            </a:pPr>
            <a:r>
              <a:rPr lang="vi-VN" b="1" dirty="0"/>
              <a:t>Đồng bộ:</a:t>
            </a:r>
            <a:r>
              <a:rPr lang="vi-VN" dirty="0"/>
              <a:t> Master quyết định tần số nhảy (frequency hopping) và đảm bảo tất cả Slave tuân theo.</a:t>
            </a:r>
            <a:br>
              <a:rPr lang="vi-VN" dirty="0"/>
            </a:br>
            <a:r>
              <a:rPr lang="en-US" dirty="0"/>
              <a:t>👉 </a:t>
            </a:r>
            <a:r>
              <a:rPr lang="vi-VN" dirty="0"/>
              <a:t>Ví dụ: điện thoại thông minh (Master) kết nối và điều khiển tai nghe Bluetooth (Slave).</a:t>
            </a:r>
          </a:p>
          <a:p>
            <a:r>
              <a:rPr lang="vi-VN" b="1" dirty="0"/>
              <a:t>3. Vai trò của Slave</a:t>
            </a:r>
          </a:p>
          <a:p>
            <a:pPr>
              <a:buFont typeface="Arial" panose="020B0604020202020204" pitchFamily="34" charset="0"/>
              <a:buChar char="•"/>
            </a:pPr>
            <a:r>
              <a:rPr lang="vi-VN" b="1" dirty="0"/>
              <a:t>Phản hồi kết nối:</a:t>
            </a:r>
            <a:r>
              <a:rPr lang="vi-VN" dirty="0"/>
              <a:t> chỉ phản hồi khi nhận tín hiệu từ Master.</a:t>
            </a:r>
          </a:p>
          <a:p>
            <a:pPr>
              <a:buFont typeface="Arial" panose="020B0604020202020204" pitchFamily="34" charset="0"/>
              <a:buChar char="•"/>
            </a:pPr>
            <a:r>
              <a:rPr lang="vi-VN" b="1" dirty="0"/>
              <a:t>Gửi/nhận dữ liệu:</a:t>
            </a:r>
            <a:r>
              <a:rPr lang="vi-VN" dirty="0"/>
              <a:t> chỉ được phép truyền dữ liệu khi Master cấp quyền trong khe thời gian.</a:t>
            </a:r>
          </a:p>
          <a:p>
            <a:pPr>
              <a:buFont typeface="Arial" panose="020B0604020202020204" pitchFamily="34" charset="0"/>
              <a:buChar char="•"/>
            </a:pPr>
            <a:r>
              <a:rPr lang="vi-VN" b="1" dirty="0"/>
              <a:t>Đơn giản, tiết kiệm năng lượng:</a:t>
            </a:r>
            <a:r>
              <a:rPr lang="vi-VN" dirty="0"/>
              <a:t> vì không cần điều phối mạng.</a:t>
            </a:r>
          </a:p>
          <a:p>
            <a:r>
              <a:rPr lang="vi-VN" b="1" dirty="0"/>
              <a:t>4. Đặc điểm của mô hình Master – Slave</a:t>
            </a:r>
          </a:p>
          <a:p>
            <a:pPr>
              <a:buFont typeface="Arial" panose="020B0604020202020204" pitchFamily="34" charset="0"/>
              <a:buChar char="•"/>
            </a:pPr>
            <a:r>
              <a:rPr lang="vi-VN" b="1" dirty="0"/>
              <a:t>Cấu trúc:</a:t>
            </a:r>
            <a:r>
              <a:rPr lang="vi-VN" dirty="0"/>
              <a:t> 1 Master + tối đa 7 Slave trong cùng một piconet.</a:t>
            </a:r>
          </a:p>
          <a:p>
            <a:pPr>
              <a:buFont typeface="Arial" panose="020B0604020202020204" pitchFamily="34" charset="0"/>
              <a:buChar char="•"/>
            </a:pPr>
            <a:r>
              <a:rPr lang="vi-VN" b="1" dirty="0"/>
              <a:t>Mở rộng:</a:t>
            </a:r>
            <a:r>
              <a:rPr lang="vi-VN" dirty="0"/>
              <a:t> nhiều piconet có thể kết nối thành </a:t>
            </a:r>
            <a:r>
              <a:rPr lang="vi-VN" b="1" dirty="0"/>
              <a:t>scatternet</a:t>
            </a:r>
            <a:r>
              <a:rPr lang="vi-VN" dirty="0"/>
              <a:t> (một thiết bị có thể là Slave trong piconet này, đồng thời là Master trong piconet khác).</a:t>
            </a:r>
          </a:p>
          <a:p>
            <a:pPr>
              <a:buFont typeface="Arial" panose="020B0604020202020204" pitchFamily="34" charset="0"/>
              <a:buChar char="•"/>
            </a:pPr>
            <a:r>
              <a:rPr lang="vi-VN" b="1" dirty="0"/>
              <a:t>Ưu điểm:</a:t>
            </a:r>
            <a:endParaRPr lang="vi-VN" dirty="0"/>
          </a:p>
          <a:p>
            <a:pPr marL="742950" lvl="1" indent="-285750">
              <a:buFont typeface="Arial" panose="020B0604020202020204" pitchFamily="34" charset="0"/>
              <a:buChar char="•"/>
            </a:pPr>
            <a:r>
              <a:rPr lang="vi-VN" dirty="0"/>
              <a:t>Quản lý kết nối đơn giản.</a:t>
            </a:r>
          </a:p>
          <a:p>
            <a:pPr marL="742950" lvl="1" indent="-285750">
              <a:buFont typeface="Arial" panose="020B0604020202020204" pitchFamily="34" charset="0"/>
              <a:buChar char="•"/>
            </a:pPr>
            <a:r>
              <a:rPr lang="vi-VN" dirty="0"/>
              <a:t>Giảm xung đột dữ liệu do có điều phối tập trung.</a:t>
            </a:r>
          </a:p>
          <a:p>
            <a:pPr>
              <a:buFont typeface="Arial" panose="020B0604020202020204" pitchFamily="34" charset="0"/>
              <a:buChar char="•"/>
            </a:pPr>
            <a:r>
              <a:rPr lang="vi-VN" b="1" dirty="0"/>
              <a:t>Nhược điểm:</a:t>
            </a:r>
            <a:endParaRPr lang="vi-VN" dirty="0"/>
          </a:p>
          <a:p>
            <a:pPr marL="742950" lvl="1" indent="-285750">
              <a:buFont typeface="Arial" panose="020B0604020202020204" pitchFamily="34" charset="0"/>
              <a:buChar char="•"/>
            </a:pPr>
            <a:r>
              <a:rPr lang="vi-VN" dirty="0"/>
              <a:t>Phụ thuộc vào Master: nếu Master hỏng, toàn bộ mạng dừng hoạt động.</a:t>
            </a:r>
          </a:p>
          <a:p>
            <a:pPr marL="742950" lvl="1" indent="-285750">
              <a:buFont typeface="Arial" panose="020B0604020202020204" pitchFamily="34" charset="0"/>
              <a:buChar char="•"/>
            </a:pPr>
            <a:r>
              <a:rPr lang="vi-VN" dirty="0"/>
              <a:t>Khả năng mở rộng hạn chế (chỉ 7 Slave hoạt động đồng thời).</a:t>
            </a:r>
          </a:p>
          <a:p>
            <a:r>
              <a:rPr lang="vi-VN" b="1" dirty="0"/>
              <a:t>5. Ứng dụng trong IoT</a:t>
            </a:r>
          </a:p>
          <a:p>
            <a:pPr>
              <a:buFont typeface="Arial" panose="020B0604020202020204" pitchFamily="34" charset="0"/>
              <a:buChar char="•"/>
            </a:pPr>
            <a:r>
              <a:rPr lang="vi-VN" b="1" dirty="0"/>
              <a:t>Tai nghe Bluetooth</a:t>
            </a:r>
            <a:r>
              <a:rPr lang="vi-VN" dirty="0"/>
              <a:t>: Điện thoại (Master) ↔ Tai nghe (Slave).</a:t>
            </a:r>
          </a:p>
          <a:p>
            <a:pPr>
              <a:buFont typeface="Arial" panose="020B0604020202020204" pitchFamily="34" charset="0"/>
              <a:buChar char="•"/>
            </a:pPr>
            <a:r>
              <a:rPr lang="vi-VN" b="1" dirty="0"/>
              <a:t>Smart Home:</a:t>
            </a:r>
            <a:r>
              <a:rPr lang="vi-VN" dirty="0"/>
              <a:t> Điện thoại (Master) ↔ nhiều thiết bị gia dụng (Slave).</a:t>
            </a:r>
          </a:p>
          <a:p>
            <a:pPr>
              <a:buFont typeface="Arial" panose="020B0604020202020204" pitchFamily="34" charset="0"/>
              <a:buChar char="•"/>
            </a:pPr>
            <a:r>
              <a:rPr lang="vi-VN" b="1" dirty="0"/>
              <a:t>Thiết bị y tế đeo trên người:</a:t>
            </a:r>
            <a:r>
              <a:rPr lang="vi-VN" dirty="0"/>
              <a:t> Điện thoại làm Master để thu thập dữ liệu từ nhiều cảm biến sức khỏe (Slave).</a:t>
            </a:r>
          </a:p>
          <a:p>
            <a:r>
              <a:rPr lang="en-US" b="1" dirty="0"/>
              <a:t>📌 </a:t>
            </a:r>
            <a:r>
              <a:rPr lang="vi-VN" b="1" dirty="0"/>
              <a:t>Kết luận cho sinh viên</a:t>
            </a:r>
          </a:p>
          <a:p>
            <a:pPr>
              <a:buFont typeface="Arial" panose="020B0604020202020204" pitchFamily="34" charset="0"/>
              <a:buChar char="•"/>
            </a:pPr>
            <a:r>
              <a:rPr lang="vi-VN" dirty="0"/>
              <a:t>Mô hình </a:t>
            </a:r>
            <a:r>
              <a:rPr lang="vi-VN" b="1" dirty="0"/>
              <a:t>Master – Slave</a:t>
            </a:r>
            <a:r>
              <a:rPr lang="vi-VN" dirty="0"/>
              <a:t> trong Bluetooth đảm bảo sự </a:t>
            </a:r>
            <a:r>
              <a:rPr lang="vi-VN" b="1" dirty="0"/>
              <a:t>đơn giản và đồng bộ</a:t>
            </a:r>
            <a:r>
              <a:rPr lang="vi-VN" dirty="0"/>
              <a:t> trong truyền thông IoT tầm ngắn.</a:t>
            </a:r>
          </a:p>
          <a:p>
            <a:pPr>
              <a:buFont typeface="Arial" panose="020B0604020202020204" pitchFamily="34" charset="0"/>
              <a:buChar char="•"/>
            </a:pPr>
            <a:r>
              <a:rPr lang="vi-VN" dirty="0"/>
              <a:t>Đây là nền tảng giúp nhiều thiết bị nhỏ, rẻ, tiết kiệm năng lượng có thể kết nối với một thiết bị trung tâm mạnh hơn (thường là smartphone hoặc gateway).</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8177afd77b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8177afd77b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Scatternet</a:t>
            </a:r>
          </a:p>
          <a:p>
            <a:pPr>
              <a:buFont typeface="Arial" panose="020B0604020202020204" pitchFamily="34" charset="0"/>
              <a:buChar char="•"/>
            </a:pPr>
            <a:r>
              <a:rPr lang="vi-VN" b="1" dirty="0"/>
              <a:t>Định nghĩa:</a:t>
            </a:r>
            <a:endParaRPr lang="vi-VN" dirty="0"/>
          </a:p>
          <a:p>
            <a:pPr marL="742950" lvl="1" indent="-285750">
              <a:buFont typeface="Arial" panose="020B0604020202020204" pitchFamily="34" charset="0"/>
              <a:buChar char="•"/>
            </a:pPr>
            <a:r>
              <a:rPr lang="vi-VN" dirty="0"/>
              <a:t>Scatternet là mạng Bluetooth lớn hơn, được hình thành khi </a:t>
            </a:r>
            <a:r>
              <a:rPr lang="vi-VN" b="1" dirty="0"/>
              <a:t>nhiều piconet chồng chéo hoặc kết nối với nhau</a:t>
            </a:r>
            <a:r>
              <a:rPr lang="vi-VN" dirty="0"/>
              <a:t>.</a:t>
            </a:r>
          </a:p>
          <a:p>
            <a:pPr marL="742950" lvl="1" indent="-285750">
              <a:buFont typeface="Arial" panose="020B0604020202020204" pitchFamily="34" charset="0"/>
              <a:buChar char="•"/>
            </a:pPr>
            <a:r>
              <a:rPr lang="vi-VN" dirty="0"/>
              <a:t>Một thiết bị có thể đóng vai trò </a:t>
            </a:r>
            <a:r>
              <a:rPr lang="vi-VN" b="1" dirty="0"/>
              <a:t>Slave trong piconet này</a:t>
            </a:r>
            <a:r>
              <a:rPr lang="vi-VN" dirty="0"/>
              <a:t> và </a:t>
            </a:r>
            <a:r>
              <a:rPr lang="vi-VN" b="1" dirty="0"/>
              <a:t>Master trong piconet khác</a:t>
            </a:r>
            <a:r>
              <a:rPr lang="vi-VN" dirty="0"/>
              <a:t>, giúp nối các mạng lại với nhau.</a:t>
            </a:r>
          </a:p>
          <a:p>
            <a:pPr>
              <a:buFont typeface="Arial" panose="020B0604020202020204" pitchFamily="34" charset="0"/>
              <a:buChar char="•"/>
            </a:pPr>
            <a:r>
              <a:rPr lang="vi-VN" b="1" dirty="0"/>
              <a:t>Đặc điểm chính:</a:t>
            </a:r>
            <a:endParaRPr lang="vi-VN" dirty="0"/>
          </a:p>
          <a:p>
            <a:pPr marL="742950" lvl="1" indent="-285750">
              <a:buFont typeface="Arial" panose="020B0604020202020204" pitchFamily="34" charset="0"/>
              <a:buChar char="•"/>
            </a:pPr>
            <a:r>
              <a:rPr lang="vi-VN" dirty="0"/>
              <a:t>Cho phép mở rộng số lượng thiết bị tham gia mạng Bluetooth.</a:t>
            </a:r>
          </a:p>
          <a:p>
            <a:pPr marL="742950" lvl="1" indent="-285750">
              <a:buFont typeface="Arial" panose="020B0604020202020204" pitchFamily="34" charset="0"/>
              <a:buChar char="•"/>
            </a:pPr>
            <a:r>
              <a:rPr lang="vi-VN" dirty="0"/>
              <a:t>Giúp dữ liệu có thể truyền từ piconet này sang piconet khác.</a:t>
            </a:r>
          </a:p>
          <a:p>
            <a:pPr marL="742950" lvl="1" indent="-285750">
              <a:buFont typeface="Arial" panose="020B0604020202020204" pitchFamily="34" charset="0"/>
              <a:buChar char="•"/>
            </a:pPr>
            <a:r>
              <a:rPr lang="vi-VN" dirty="0"/>
              <a:t>Tuy nhiên, thiết kế và quản lý scatternet phức tạp hơn vì cần điều phối thời gian và tránh xung đột nhảy tần.</a:t>
            </a:r>
          </a:p>
          <a:p>
            <a:pPr>
              <a:buFont typeface="Arial" panose="020B0604020202020204" pitchFamily="34" charset="0"/>
              <a:buChar char="•"/>
            </a:pPr>
            <a:r>
              <a:rPr lang="vi-VN" b="1" dirty="0"/>
              <a:t>Ví dụ:</a:t>
            </a:r>
            <a:endParaRPr lang="vi-VN" dirty="0"/>
          </a:p>
          <a:p>
            <a:pPr marL="742950" lvl="1" indent="-285750">
              <a:buFont typeface="Arial" panose="020B0604020202020204" pitchFamily="34" charset="0"/>
              <a:buChar char="•"/>
            </a:pPr>
            <a:r>
              <a:rPr lang="vi-VN" dirty="0"/>
              <a:t>Một smartphone (Master của piconet 1) kết nối với tai nghe và đồng hồ thông minh.</a:t>
            </a:r>
          </a:p>
          <a:p>
            <a:pPr marL="742950" lvl="1" indent="-285750">
              <a:buFont typeface="Arial" panose="020B0604020202020204" pitchFamily="34" charset="0"/>
              <a:buChar char="•"/>
            </a:pPr>
            <a:r>
              <a:rPr lang="vi-VN" dirty="0"/>
              <a:t>Đồng thời, đồng hồ thông minh lại là Master của piconet 2 để kết nối với cảm biến đo nhịp tim → tạo thành scatternet.</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8177afd77b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8177afd77b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Bluetooth Profiles là gì?</a:t>
            </a:r>
          </a:p>
          <a:p>
            <a:pPr>
              <a:buFont typeface="Arial" panose="020B0604020202020204" pitchFamily="34" charset="0"/>
              <a:buChar char="•"/>
            </a:pPr>
            <a:r>
              <a:rPr lang="vi-VN" b="1" dirty="0"/>
              <a:t>Bluetooth Profile</a:t>
            </a:r>
            <a:r>
              <a:rPr lang="vi-VN" dirty="0"/>
              <a:t> là một </a:t>
            </a:r>
            <a:r>
              <a:rPr lang="vi-VN" b="1" dirty="0"/>
              <a:t>tập hợp các quy tắc và thủ tục chuẩn hóa</a:t>
            </a:r>
            <a:r>
              <a:rPr lang="vi-VN" dirty="0"/>
              <a:t> được định nghĩa để hai thiết bị Bluetooth có thể giao tiếp với nhau cho một </a:t>
            </a:r>
            <a:r>
              <a:rPr lang="vi-VN" b="1" dirty="0"/>
              <a:t>mục đích cụ thể</a:t>
            </a:r>
            <a:r>
              <a:rPr lang="vi-VN" dirty="0"/>
              <a:t>.</a:t>
            </a:r>
          </a:p>
          <a:p>
            <a:pPr>
              <a:buFont typeface="Arial" panose="020B0604020202020204" pitchFamily="34" charset="0"/>
              <a:buChar char="•"/>
            </a:pPr>
            <a:r>
              <a:rPr lang="vi-VN" dirty="0"/>
              <a:t>Nếu giao thức Bluetooth là </a:t>
            </a:r>
            <a:r>
              <a:rPr lang="vi-VN" b="1" dirty="0"/>
              <a:t>ngôn ngữ chung</a:t>
            </a:r>
            <a:r>
              <a:rPr lang="vi-VN" dirty="0"/>
              <a:t>, thì profile giống như </a:t>
            </a:r>
            <a:r>
              <a:rPr lang="vi-VN" b="1" dirty="0"/>
              <a:t>bộ từ điển và ngữ pháp chuyên biệt</a:t>
            </a:r>
            <a:r>
              <a:rPr lang="vi-VN" dirty="0"/>
              <a:t> cho từng lĩnh vực ứng dụng.</a:t>
            </a:r>
          </a:p>
          <a:p>
            <a:pPr>
              <a:buFont typeface="Arial" panose="020B0604020202020204" pitchFamily="34" charset="0"/>
              <a:buChar char="•"/>
            </a:pPr>
            <a:r>
              <a:rPr lang="vi-VN" dirty="0"/>
              <a:t>Mỗi profile xác định:</a:t>
            </a:r>
          </a:p>
          <a:p>
            <a:pPr marL="742950" lvl="1" indent="-285750">
              <a:buFont typeface="Arial" panose="020B0604020202020204" pitchFamily="34" charset="0"/>
              <a:buChar char="•"/>
            </a:pPr>
            <a:r>
              <a:rPr lang="vi-VN" dirty="0"/>
              <a:t>Loại dữ liệu nào sẽ được truyền.</a:t>
            </a:r>
          </a:p>
          <a:p>
            <a:pPr marL="742950" lvl="1" indent="-285750">
              <a:buFont typeface="Arial" panose="020B0604020202020204" pitchFamily="34" charset="0"/>
              <a:buChar char="•"/>
            </a:pPr>
            <a:r>
              <a:rPr lang="vi-VN" dirty="0"/>
              <a:t>Cách thức truyền dữ liệu.</a:t>
            </a:r>
          </a:p>
          <a:p>
            <a:pPr marL="742950" lvl="1" indent="-285750">
              <a:buFont typeface="Arial" panose="020B0604020202020204" pitchFamily="34" charset="0"/>
              <a:buChar char="•"/>
            </a:pPr>
            <a:r>
              <a:rPr lang="vi-VN" dirty="0"/>
              <a:t>Vai trò của từng thiết bị trong kết nối.</a:t>
            </a:r>
          </a:p>
          <a:p>
            <a:r>
              <a:rPr lang="vi-VN" b="1" dirty="0"/>
              <a:t>2. Tại sao cần Bluetooth Profiles?</a:t>
            </a:r>
          </a:p>
          <a:p>
            <a:pPr>
              <a:buFont typeface="Arial" panose="020B0604020202020204" pitchFamily="34" charset="0"/>
              <a:buChar char="•"/>
            </a:pPr>
            <a:r>
              <a:rPr lang="vi-VN" dirty="0"/>
              <a:t>Có hàng nghìn loại thiết bị Bluetooth: tai nghe, loa, điện thoại, đồng hồ thông minh, máy in, cảm biến IoT…</a:t>
            </a:r>
          </a:p>
          <a:p>
            <a:pPr>
              <a:buFont typeface="Arial" panose="020B0604020202020204" pitchFamily="34" charset="0"/>
              <a:buChar char="•"/>
            </a:pPr>
            <a:r>
              <a:rPr lang="vi-VN" dirty="0"/>
              <a:t>Nếu không có profile, mỗi nhà sản xuất có thể tạo cách giao tiếp riêng → các thiết bị sẽ </a:t>
            </a:r>
            <a:r>
              <a:rPr lang="vi-VN" b="1" dirty="0"/>
              <a:t>không tương thích với nhau</a:t>
            </a:r>
            <a:r>
              <a:rPr lang="vi-VN" dirty="0"/>
              <a:t>.</a:t>
            </a:r>
          </a:p>
          <a:p>
            <a:pPr>
              <a:buFont typeface="Arial" panose="020B0604020202020204" pitchFamily="34" charset="0"/>
              <a:buChar char="•"/>
            </a:pPr>
            <a:r>
              <a:rPr lang="vi-VN" dirty="0"/>
              <a:t>Bluetooth Profiles giúp đảm bảo:</a:t>
            </a:r>
          </a:p>
          <a:p>
            <a:pPr marL="742950" lvl="1" indent="-285750">
              <a:buFont typeface="Arial" panose="020B0604020202020204" pitchFamily="34" charset="0"/>
              <a:buChar char="•"/>
            </a:pPr>
            <a:r>
              <a:rPr lang="vi-VN" dirty="0"/>
              <a:t>Các thiết bị </a:t>
            </a:r>
            <a:r>
              <a:rPr lang="vi-VN" b="1" dirty="0"/>
              <a:t>cùng hỗ trợ một profile</a:t>
            </a:r>
            <a:r>
              <a:rPr lang="vi-VN" dirty="0"/>
              <a:t> có thể “nói chuyện” được.</a:t>
            </a:r>
          </a:p>
          <a:p>
            <a:pPr marL="742950" lvl="1" indent="-285750">
              <a:buFont typeface="Arial" panose="020B0604020202020204" pitchFamily="34" charset="0"/>
              <a:buChar char="•"/>
            </a:pPr>
            <a:r>
              <a:rPr lang="vi-VN" dirty="0"/>
              <a:t>Ví dụ: mọi tai nghe Bluetooth có hỗ trợ </a:t>
            </a:r>
            <a:r>
              <a:rPr lang="vi-VN" b="1" dirty="0"/>
              <a:t>A2DP Profile</a:t>
            </a:r>
            <a:r>
              <a:rPr lang="vi-VN" dirty="0"/>
              <a:t> đều có thể phát nhạc từ bất kỳ điện thoại hỗ trợ A2DP.</a:t>
            </a:r>
          </a:p>
          <a:p>
            <a:r>
              <a:rPr lang="vi-VN" b="1" dirty="0"/>
              <a:t>3. Một số Bluetooth Profiles phổ biến</a:t>
            </a:r>
          </a:p>
          <a:p>
            <a:pPr>
              <a:buFont typeface="Arial" panose="020B0604020202020204" pitchFamily="34" charset="0"/>
              <a:buChar char="•"/>
            </a:pPr>
            <a:r>
              <a:rPr lang="vi-VN" b="1" dirty="0"/>
              <a:t>HSP (Headset Profile):</a:t>
            </a:r>
            <a:r>
              <a:rPr lang="vi-VN" dirty="0"/>
              <a:t> kết nối tai nghe với điện thoại.</a:t>
            </a:r>
          </a:p>
          <a:p>
            <a:pPr>
              <a:buFont typeface="Arial" panose="020B0604020202020204" pitchFamily="34" charset="0"/>
              <a:buChar char="•"/>
            </a:pPr>
            <a:r>
              <a:rPr lang="vi-VN" b="1" dirty="0"/>
              <a:t>A2DP (Advanced Audio Distribution Profile):</a:t>
            </a:r>
            <a:r>
              <a:rPr lang="vi-VN" dirty="0"/>
              <a:t> truyền nhạc stereo chất lượng cao (ví dụ: điện thoại → loa Bluetooth).</a:t>
            </a:r>
          </a:p>
          <a:p>
            <a:pPr>
              <a:buFont typeface="Arial" panose="020B0604020202020204" pitchFamily="34" charset="0"/>
              <a:buChar char="•"/>
            </a:pPr>
            <a:r>
              <a:rPr lang="vi-VN" b="1" dirty="0"/>
              <a:t>HFP (Hands-Free Profile):</a:t>
            </a:r>
            <a:r>
              <a:rPr lang="vi-VN" dirty="0"/>
              <a:t> dùng cho gọi điện rảnh tay trong xe hơi.</a:t>
            </a:r>
          </a:p>
          <a:p>
            <a:pPr>
              <a:buFont typeface="Arial" panose="020B0604020202020204" pitchFamily="34" charset="0"/>
              <a:buChar char="•"/>
            </a:pPr>
            <a:r>
              <a:rPr lang="vi-VN" b="1" dirty="0"/>
              <a:t>OBEX/OPP (Object Push Profile):</a:t>
            </a:r>
            <a:r>
              <a:rPr lang="vi-VN" dirty="0"/>
              <a:t> gửi file giữa hai thiết bị (ví dụ: gửi ảnh qua Bluetooth).</a:t>
            </a:r>
          </a:p>
          <a:p>
            <a:pPr>
              <a:buFont typeface="Arial" panose="020B0604020202020204" pitchFamily="34" charset="0"/>
              <a:buChar char="•"/>
            </a:pPr>
            <a:r>
              <a:rPr lang="vi-VN" b="1" dirty="0"/>
              <a:t>HID (Human Interface Device):</a:t>
            </a:r>
            <a:r>
              <a:rPr lang="vi-VN" dirty="0"/>
              <a:t> kết nối bàn phím, chuột Bluetooth với máy tính.</a:t>
            </a:r>
          </a:p>
          <a:p>
            <a:pPr>
              <a:buFont typeface="Arial" panose="020B0604020202020204" pitchFamily="34" charset="0"/>
              <a:buChar char="•"/>
            </a:pPr>
            <a:r>
              <a:rPr lang="vi-VN" b="1" dirty="0"/>
              <a:t>GATT (Generic Attribute Profile – BLE):</a:t>
            </a:r>
            <a:r>
              <a:rPr lang="vi-VN" dirty="0"/>
              <a:t> chuẩn trong Bluetooth Low Energy, dùng nhiều trong IoT (kết nối smartwatch, cảm biến sức khỏe với điện thoại).</a:t>
            </a:r>
          </a:p>
          <a:p>
            <a:r>
              <a:rPr lang="vi-VN" b="1" dirty="0"/>
              <a:t>4. Ứng dụng trong IoT</a:t>
            </a:r>
          </a:p>
          <a:p>
            <a:pPr>
              <a:buFont typeface="Arial" panose="020B0604020202020204" pitchFamily="34" charset="0"/>
              <a:buChar char="•"/>
            </a:pPr>
            <a:r>
              <a:rPr lang="vi-VN" dirty="0"/>
              <a:t>Trong IoT, </a:t>
            </a:r>
            <a:r>
              <a:rPr lang="vi-VN" b="1" dirty="0"/>
              <a:t>GATT Profile (BLE)</a:t>
            </a:r>
            <a:r>
              <a:rPr lang="vi-VN" dirty="0"/>
              <a:t> là quan trọng nhất:</a:t>
            </a:r>
          </a:p>
          <a:p>
            <a:pPr marL="742950" lvl="1" indent="-285750">
              <a:buFont typeface="Arial" panose="020B0604020202020204" pitchFamily="34" charset="0"/>
              <a:buChar char="•"/>
            </a:pPr>
            <a:r>
              <a:rPr lang="vi-VN" dirty="0"/>
              <a:t>Cho phép định nghĩa </a:t>
            </a:r>
            <a:r>
              <a:rPr lang="vi-VN" b="1" dirty="0"/>
              <a:t>dịch vụ (services)</a:t>
            </a:r>
            <a:r>
              <a:rPr lang="vi-VN" dirty="0"/>
              <a:t> và </a:t>
            </a:r>
            <a:r>
              <a:rPr lang="vi-VN" b="1" dirty="0"/>
              <a:t>đặc tính (characteristics)</a:t>
            </a:r>
            <a:r>
              <a:rPr lang="vi-VN" dirty="0"/>
              <a:t> để thiết bị IoT trao đổi dữ liệu.</a:t>
            </a:r>
          </a:p>
          <a:p>
            <a:pPr marL="742950" lvl="1" indent="-285750">
              <a:buFont typeface="Arial" panose="020B0604020202020204" pitchFamily="34" charset="0"/>
              <a:buChar char="•"/>
            </a:pPr>
            <a:r>
              <a:rPr lang="vi-VN" dirty="0"/>
              <a:t>Ví dụ: smartwatch gửi nhịp tim, cảm biến nhiệt độ gửi dữ liệu về ứng dụng trên smartphone.</a:t>
            </a:r>
          </a:p>
          <a:p>
            <a:pPr>
              <a:buFont typeface="Arial" panose="020B0604020202020204" pitchFamily="34" charset="0"/>
              <a:buChar char="•"/>
            </a:pPr>
            <a:r>
              <a:rPr lang="vi-VN" dirty="0"/>
              <a:t>Nhờ profiles, thiết bị IoT từ nhiều hãng khác nhau có thể </a:t>
            </a:r>
            <a:r>
              <a:rPr lang="vi-VN" b="1" dirty="0"/>
              <a:t>tương thích</a:t>
            </a:r>
            <a:r>
              <a:rPr lang="vi-VN" dirty="0"/>
              <a:t> và hoạt động trong cùng hệ sinh thái.</a:t>
            </a:r>
          </a:p>
          <a:p>
            <a:r>
              <a:rPr lang="en-US" b="1" dirty="0"/>
              <a:t>📌 </a:t>
            </a:r>
            <a:r>
              <a:rPr lang="vi-VN" b="1" dirty="0"/>
              <a:t>Kết luận cho sinh viên</a:t>
            </a:r>
          </a:p>
          <a:p>
            <a:pPr>
              <a:buFont typeface="Arial" panose="020B0604020202020204" pitchFamily="34" charset="0"/>
              <a:buChar char="•"/>
            </a:pPr>
            <a:r>
              <a:rPr lang="vi-VN" b="1" dirty="0"/>
              <a:t>Bluetooth Profiles</a:t>
            </a:r>
            <a:r>
              <a:rPr lang="vi-VN" dirty="0"/>
              <a:t> chính là </a:t>
            </a:r>
            <a:r>
              <a:rPr lang="vi-VN" b="1" dirty="0"/>
              <a:t>bản hợp đồng “ngữ nghĩa”</a:t>
            </a:r>
            <a:r>
              <a:rPr lang="vi-VN" dirty="0"/>
              <a:t> giúp các thiết bị Bluetooth hiểu và giao tiếp đúng mục đích.</a:t>
            </a:r>
          </a:p>
          <a:p>
            <a:pPr>
              <a:buFont typeface="Arial" panose="020B0604020202020204" pitchFamily="34" charset="0"/>
              <a:buChar char="•"/>
            </a:pPr>
            <a:r>
              <a:rPr lang="vi-VN" dirty="0"/>
              <a:t>Nhờ profiles, Bluetooth trở thành một công nghệ </a:t>
            </a:r>
            <a:r>
              <a:rPr lang="vi-VN" b="1" dirty="0"/>
              <a:t>phổ biến, linh hoạt, tương thích rộng rãi</a:t>
            </a:r>
            <a:r>
              <a:rPr lang="vi-VN" dirty="0"/>
              <a:t>, đặc biệt trong </a:t>
            </a:r>
            <a:r>
              <a:rPr lang="vi-VN" b="1" dirty="0"/>
              <a:t>thiết bị cá nhân (wearables), smart home, và IoT y tế</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8177afd77b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8177afd77b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BLE là gì?</a:t>
            </a:r>
          </a:p>
          <a:p>
            <a:pPr>
              <a:buFont typeface="Arial" panose="020B0604020202020204" pitchFamily="34" charset="0"/>
              <a:buChar char="•"/>
            </a:pPr>
            <a:r>
              <a:rPr lang="vi-VN" dirty="0"/>
              <a:t>BLE (</a:t>
            </a:r>
            <a:r>
              <a:rPr lang="vi-VN" b="1" dirty="0"/>
              <a:t>Bluetooth Low Energy</a:t>
            </a:r>
            <a:r>
              <a:rPr lang="vi-VN" dirty="0"/>
              <a:t>) là một chuẩn kết nối không dây thuộc họ Bluetooth, ra đời năm 2010 (Bluetooth 4.0).</a:t>
            </a:r>
          </a:p>
          <a:p>
            <a:pPr>
              <a:buFont typeface="Arial" panose="020B0604020202020204" pitchFamily="34" charset="0"/>
              <a:buChar char="•"/>
            </a:pPr>
            <a:r>
              <a:rPr lang="vi-VN" dirty="0"/>
              <a:t>Được thiết kế </a:t>
            </a:r>
            <a:r>
              <a:rPr lang="vi-VN" b="1" dirty="0"/>
              <a:t>tối ưu cho thiết bị IoT, cảm biến, và thiết bị đeo (wearables)</a:t>
            </a:r>
            <a:r>
              <a:rPr lang="vi-VN" dirty="0"/>
              <a:t> – những nơi mà </a:t>
            </a:r>
            <a:r>
              <a:rPr lang="vi-VN" b="1" dirty="0"/>
              <a:t>tiết kiệm năng lượng</a:t>
            </a:r>
            <a:r>
              <a:rPr lang="vi-VN" dirty="0"/>
              <a:t> là yếu tố sống còn.</a:t>
            </a:r>
          </a:p>
          <a:p>
            <a:pPr>
              <a:buFont typeface="Arial" panose="020B0604020202020204" pitchFamily="34" charset="0"/>
              <a:buChar char="•"/>
            </a:pPr>
            <a:r>
              <a:rPr lang="vi-VN" dirty="0"/>
              <a:t>BLE khác với Bluetooth Classic ở chỗ nó </a:t>
            </a:r>
            <a:r>
              <a:rPr lang="vi-VN" b="1" dirty="0"/>
              <a:t>ưu tiên năng lượng thấp</a:t>
            </a:r>
            <a:r>
              <a:rPr lang="vi-VN" dirty="0"/>
              <a:t> hơn là tốc độ truyền cao.</a:t>
            </a:r>
          </a:p>
          <a:p>
            <a:r>
              <a:rPr lang="vi-VN" b="1" dirty="0"/>
              <a:t>2. Tiêu thụ điện năng cực thấp</a:t>
            </a:r>
          </a:p>
          <a:p>
            <a:pPr>
              <a:buFont typeface="Arial" panose="020B0604020202020204" pitchFamily="34" charset="0"/>
              <a:buChar char="•"/>
            </a:pPr>
            <a:r>
              <a:rPr lang="vi-VN" dirty="0"/>
              <a:t>BLE sử dụng cơ chế </a:t>
            </a:r>
            <a:r>
              <a:rPr lang="vi-VN" b="1" dirty="0"/>
              <a:t>sleep mode hầu hết thời gian</a:t>
            </a:r>
            <a:r>
              <a:rPr lang="vi-VN" dirty="0"/>
              <a:t>, chỉ </a:t>
            </a:r>
            <a:r>
              <a:rPr lang="vi-VN" b="1" dirty="0"/>
              <a:t>wake-up</a:t>
            </a:r>
            <a:r>
              <a:rPr lang="vi-VN" dirty="0"/>
              <a:t> để gửi gói dữ liệu ngắn rồi lại ngủ.</a:t>
            </a:r>
          </a:p>
          <a:p>
            <a:pPr>
              <a:buFont typeface="Arial" panose="020B0604020202020204" pitchFamily="34" charset="0"/>
              <a:buChar char="•"/>
            </a:pPr>
            <a:r>
              <a:rPr lang="vi-VN" dirty="0"/>
              <a:t>Nhờ đó, cảm biến IoT chạy bằng pin cúc áo hoặc pin nhỏ có thể hoạt động </a:t>
            </a:r>
            <a:r>
              <a:rPr lang="vi-VN" b="1" dirty="0"/>
              <a:t>nhiều tháng đến vài năm</a:t>
            </a:r>
            <a:r>
              <a:rPr lang="vi-VN" dirty="0"/>
              <a:t> mà không cần thay pin.</a:t>
            </a:r>
            <a:br>
              <a:rPr lang="vi-VN" dirty="0"/>
            </a:br>
            <a:r>
              <a:rPr lang="en-US" dirty="0"/>
              <a:t>👉 </a:t>
            </a:r>
            <a:r>
              <a:rPr lang="vi-VN" dirty="0"/>
              <a:t>Ví dụ: cảm biến nhiệt độ BLE trong smart home gửi dữ liệu vài phút/lần nhưng pin có thể dùng hơn 1 năm.</a:t>
            </a:r>
          </a:p>
          <a:p>
            <a:r>
              <a:rPr lang="vi-VN" b="1" dirty="0"/>
              <a:t>3. Tốc độ truyền dữ liệu</a:t>
            </a:r>
          </a:p>
          <a:p>
            <a:pPr>
              <a:buFont typeface="Arial" panose="020B0604020202020204" pitchFamily="34" charset="0"/>
              <a:buChar char="•"/>
            </a:pPr>
            <a:r>
              <a:rPr lang="vi-VN" dirty="0"/>
              <a:t>BLE có tốc độ truyền dữ liệu </a:t>
            </a:r>
            <a:r>
              <a:rPr lang="vi-VN" b="1" dirty="0"/>
              <a:t>thấp hơn Bluetooth Classic</a:t>
            </a:r>
            <a:r>
              <a:rPr lang="vi-VN" dirty="0"/>
              <a:t>, khoảng </a:t>
            </a:r>
            <a:r>
              <a:rPr lang="vi-VN" b="1" dirty="0"/>
              <a:t>1 Mbps</a:t>
            </a:r>
            <a:r>
              <a:rPr lang="vi-VN" dirty="0"/>
              <a:t>.</a:t>
            </a:r>
          </a:p>
          <a:p>
            <a:pPr>
              <a:buFont typeface="Arial" panose="020B0604020202020204" pitchFamily="34" charset="0"/>
              <a:buChar char="•"/>
            </a:pPr>
            <a:r>
              <a:rPr lang="vi-VN" dirty="0"/>
              <a:t>Đây là tốc độ vừa đủ để truyền </a:t>
            </a:r>
            <a:r>
              <a:rPr lang="vi-VN" b="1" dirty="0"/>
              <a:t>telemetry IoT, trạng thái thiết bị, dữ liệu sức khỏe</a:t>
            </a:r>
            <a:r>
              <a:rPr lang="vi-VN" dirty="0"/>
              <a:t> (nhịp tim, bước chân), nhưng không phù hợp cho </a:t>
            </a:r>
            <a:r>
              <a:rPr lang="vi-VN" b="1" dirty="0"/>
              <a:t>stream nhạc hoặc video</a:t>
            </a:r>
            <a:r>
              <a:rPr lang="vi-VN" dirty="0"/>
              <a:t>.</a:t>
            </a:r>
          </a:p>
          <a:p>
            <a:r>
              <a:rPr lang="vi-VN" b="1" dirty="0"/>
              <a:t>4. Độ trễ rất nhỏ</a:t>
            </a:r>
          </a:p>
          <a:p>
            <a:pPr>
              <a:buFont typeface="Arial" panose="020B0604020202020204" pitchFamily="34" charset="0"/>
              <a:buChar char="•"/>
            </a:pPr>
            <a:r>
              <a:rPr lang="vi-VN" dirty="0"/>
              <a:t>BLE có khả năng </a:t>
            </a:r>
            <a:r>
              <a:rPr lang="vi-VN" b="1" dirty="0"/>
              <a:t>kết nối và phản hồi cực nhanh</a:t>
            </a:r>
            <a:r>
              <a:rPr lang="vi-VN" dirty="0"/>
              <a:t> (low latency).</a:t>
            </a:r>
          </a:p>
          <a:p>
            <a:pPr>
              <a:buFont typeface="Arial" panose="020B0604020202020204" pitchFamily="34" charset="0"/>
              <a:buChar char="•"/>
            </a:pPr>
            <a:r>
              <a:rPr lang="vi-VN" dirty="0"/>
              <a:t>Điều này giúp BLE lý tưởng cho </a:t>
            </a:r>
            <a:r>
              <a:rPr lang="vi-VN" b="1" dirty="0"/>
              <a:t>các kết nối ngắn, gián đoạn</a:t>
            </a:r>
            <a:r>
              <a:rPr lang="vi-VN" dirty="0"/>
              <a:t>: thiết bị chỉ cần truyền một lượng nhỏ dữ liệu (ví dụ vài byte nhịp tim, nhiệt độ) rồi ngắt kết nối.</a:t>
            </a:r>
          </a:p>
          <a:p>
            <a:r>
              <a:rPr lang="vi-VN" b="1" dirty="0"/>
              <a:t>5. Ứng dụng thực tế</a:t>
            </a:r>
          </a:p>
          <a:p>
            <a:pPr>
              <a:buFont typeface="Arial" panose="020B0604020202020204" pitchFamily="34" charset="0"/>
              <a:buChar char="•"/>
            </a:pPr>
            <a:r>
              <a:rPr lang="vi-VN" b="1" dirty="0"/>
              <a:t>Thiết bị đeo (Wearables):</a:t>
            </a:r>
            <a:r>
              <a:rPr lang="vi-VN" dirty="0"/>
              <a:t> đồng hồ thông minh, vòng đeo tay sức khỏe.</a:t>
            </a:r>
          </a:p>
          <a:p>
            <a:pPr>
              <a:buFont typeface="Arial" panose="020B0604020202020204" pitchFamily="34" charset="0"/>
              <a:buChar char="•"/>
            </a:pPr>
            <a:r>
              <a:rPr lang="vi-VN" b="1" dirty="0"/>
              <a:t>Smart Home:</a:t>
            </a:r>
            <a:r>
              <a:rPr lang="vi-VN" dirty="0"/>
              <a:t> cảm biến cửa, đèn, công tắc.</a:t>
            </a:r>
          </a:p>
          <a:p>
            <a:pPr>
              <a:buFont typeface="Arial" panose="020B0604020202020204" pitchFamily="34" charset="0"/>
              <a:buChar char="•"/>
            </a:pPr>
            <a:r>
              <a:rPr lang="vi-VN" b="1" dirty="0"/>
              <a:t>Y tế thông minh:</a:t>
            </a:r>
            <a:r>
              <a:rPr lang="vi-VN" dirty="0"/>
              <a:t> nhiệt kế BLE, cảm biến đo nhịp tim, đo SpO₂.</a:t>
            </a:r>
          </a:p>
          <a:p>
            <a:pPr>
              <a:buFont typeface="Arial" panose="020B0604020202020204" pitchFamily="34" charset="0"/>
              <a:buChar char="•"/>
            </a:pPr>
            <a:r>
              <a:rPr lang="vi-VN" b="1" dirty="0"/>
              <a:t>Công nghiệp:</a:t>
            </a:r>
            <a:r>
              <a:rPr lang="vi-VN" dirty="0"/>
              <a:t> beacon định vị BLE trong nhà xưởng, kho hàng.</a:t>
            </a:r>
          </a:p>
          <a:p>
            <a:r>
              <a:rPr lang="en-US" b="1" dirty="0"/>
              <a:t>📌 </a:t>
            </a:r>
            <a:r>
              <a:rPr lang="vi-VN" b="1" dirty="0"/>
              <a:t>Kết luận cho sinh viên</a:t>
            </a:r>
          </a:p>
          <a:p>
            <a:pPr>
              <a:buFont typeface="Arial" panose="020B0604020202020204" pitchFamily="34" charset="0"/>
              <a:buChar char="•"/>
            </a:pPr>
            <a:r>
              <a:rPr lang="vi-VN" dirty="0"/>
              <a:t>BLE = </a:t>
            </a:r>
            <a:r>
              <a:rPr lang="vi-VN" b="1" dirty="0"/>
              <a:t>Bluetooth tiết kiệm năng lượng</a:t>
            </a:r>
            <a:r>
              <a:rPr lang="vi-VN" dirty="0"/>
              <a:t>, thiết kế cho IoT.</a:t>
            </a:r>
          </a:p>
          <a:p>
            <a:pPr>
              <a:buFont typeface="Arial" panose="020B0604020202020204" pitchFamily="34" charset="0"/>
              <a:buChar char="•"/>
            </a:pPr>
            <a:r>
              <a:rPr lang="vi-VN" b="1" dirty="0"/>
              <a:t>Ưu điểm:</a:t>
            </a:r>
            <a:r>
              <a:rPr lang="vi-VN" dirty="0"/>
              <a:t> tiết kiệm pin, độ trễ thấp, chi phí rẻ, tích hợp sẵn trong hầu hết smartphone.</a:t>
            </a:r>
          </a:p>
          <a:p>
            <a:pPr>
              <a:buFont typeface="Arial" panose="020B0604020202020204" pitchFamily="34" charset="0"/>
              <a:buChar char="•"/>
            </a:pPr>
            <a:r>
              <a:rPr lang="vi-VN" b="1" dirty="0"/>
              <a:t>Hạn chế:</a:t>
            </a:r>
            <a:r>
              <a:rPr lang="vi-VN" dirty="0"/>
              <a:t> tốc độ thấp, phạm vi truyền ngắn (10–50m), không phù hợp với ứng dụng cần băng thông cao.</a:t>
            </a:r>
          </a:p>
          <a:p>
            <a:r>
              <a:rPr lang="en-US" dirty="0"/>
              <a:t>👉 </a:t>
            </a:r>
            <a:r>
              <a:rPr lang="vi-VN" dirty="0"/>
              <a:t>Chính vì vậy, BLE là </a:t>
            </a:r>
            <a:r>
              <a:rPr lang="vi-VN" b="1" dirty="0"/>
              <a:t>chuẩn giao tiếp “vừa đủ”</a:t>
            </a:r>
            <a:r>
              <a:rPr lang="vi-VN" dirty="0"/>
              <a:t> cho IoT – nơi dữ liệu thường nhỏ nhưng yêu cầu kết nối ổn định, tiết kiệm năng lượng.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80984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833874ed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833874ed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dirty="0"/>
              <a:t>Thư viện dùng: BluetoothSerial.h </a:t>
            </a:r>
          </a:p>
          <a:p>
            <a:endParaRPr lang="vi-VN" dirty="0"/>
          </a:p>
          <a:p>
            <a:r>
              <a:rPr lang="vi-VN" dirty="0"/>
              <a:t>Tên thiết bị Bluetooth do người dùng đặt: ví dụ "ESP32test" </a:t>
            </a:r>
          </a:p>
          <a:p>
            <a:endParaRPr lang="vi-VN" dirty="0"/>
          </a:p>
          <a:p>
            <a:r>
              <a:rPr lang="vi-VN" dirty="0"/>
              <a:t>Khởi tạo Serial Monitor ở 115200 bauds </a:t>
            </a:r>
          </a:p>
          <a:p>
            <a:endParaRPr lang="vi-VN" dirty="0"/>
          </a:p>
          <a:p>
            <a:r>
              <a:rPr lang="vi-VN" dirty="0"/>
              <a:t>Trong loop():</a:t>
            </a:r>
          </a:p>
          <a:p>
            <a:r>
              <a:rPr lang="vi-VN" dirty="0"/>
              <a:t>• nếu có dữ liệu từ Serial PC → gửi tới Bluetooth</a:t>
            </a:r>
          </a:p>
          <a:p>
            <a:r>
              <a:rPr lang="vi-VN" dirty="0"/>
              <a:t>• nếu có dữ liệu từ Bluetooth → gửi về Serial Monitor </a:t>
            </a:r>
          </a:p>
          <a:p>
            <a:endParaRPr lang="en-US" dirty="0"/>
          </a:p>
        </p:txBody>
      </p:sp>
    </p:spTree>
    <p:extLst>
      <p:ext uri="{BB962C8B-B14F-4D97-AF65-F5344CB8AC3E}">
        <p14:creationId xmlns:p14="http://schemas.microsoft.com/office/powerpoint/2010/main" val="2888579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817411976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817411976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Định nghĩa và nguồn gốc</a:t>
            </a:r>
          </a:p>
          <a:p>
            <a:pPr>
              <a:buFont typeface="Arial" panose="020B0604020202020204" pitchFamily="34" charset="0"/>
              <a:buChar char="•"/>
            </a:pPr>
            <a:r>
              <a:rPr lang="vi-VN" dirty="0"/>
              <a:t>ZigBee là một </a:t>
            </a:r>
            <a:r>
              <a:rPr lang="vi-VN" b="1" dirty="0"/>
              <a:t>chuẩn công nghệ mạng cá nhân không dây (Wireless Personal Area Network – WPAN)</a:t>
            </a:r>
            <a:r>
              <a:rPr lang="vi-VN" dirty="0"/>
              <a:t>, thuộc nhóm </a:t>
            </a:r>
            <a:r>
              <a:rPr lang="vi-VN" b="1" dirty="0"/>
              <a:t>IEEE 802.15.4 (Low Rate WPAN – Task Group 4)</a:t>
            </a:r>
            <a:r>
              <a:rPr lang="vi-VN" dirty="0"/>
              <a:t>.</a:t>
            </a:r>
          </a:p>
          <a:p>
            <a:pPr>
              <a:buFont typeface="Arial" panose="020B0604020202020204" pitchFamily="34" charset="0"/>
              <a:buChar char="•"/>
            </a:pPr>
            <a:r>
              <a:rPr lang="vi-VN" dirty="0"/>
              <a:t>Được phát triển bởi </a:t>
            </a:r>
            <a:r>
              <a:rPr lang="vi-VN" b="1" dirty="0"/>
              <a:t>ZigBee Alliance</a:t>
            </a:r>
            <a:r>
              <a:rPr lang="vi-VN" dirty="0"/>
              <a:t> (nay là </a:t>
            </a:r>
            <a:r>
              <a:rPr lang="vi-VN" b="1" dirty="0"/>
              <a:t>Connectivity Standards Alliance – CSA</a:t>
            </a:r>
            <a:r>
              <a:rPr lang="vi-VN" dirty="0"/>
              <a:t>).</a:t>
            </a:r>
          </a:p>
          <a:p>
            <a:pPr>
              <a:buFont typeface="Arial" panose="020B0604020202020204" pitchFamily="34" charset="0"/>
              <a:buChar char="•"/>
            </a:pPr>
            <a:r>
              <a:rPr lang="vi-VN" dirty="0"/>
              <a:t>Mục tiêu: tạo ra một chuẩn </a:t>
            </a:r>
            <a:r>
              <a:rPr lang="vi-VN" b="1" dirty="0"/>
              <a:t>giá rẻ, tiết kiệm năng lượng, băng thông thấp</a:t>
            </a:r>
            <a:r>
              <a:rPr lang="vi-VN" dirty="0"/>
              <a:t>, chuyên dùng cho </a:t>
            </a:r>
            <a:r>
              <a:rPr lang="vi-VN" b="1" dirty="0"/>
              <a:t>các ứng dụng điều khiển và giám sát</a:t>
            </a:r>
            <a:r>
              <a:rPr lang="vi-VN" dirty="0"/>
              <a:t> trong IoT.</a:t>
            </a:r>
          </a:p>
          <a:p>
            <a:r>
              <a:rPr lang="vi-VN" b="1" dirty="0"/>
              <a:t>2. Đặc trưng công nghệ</a:t>
            </a:r>
          </a:p>
          <a:p>
            <a:pPr>
              <a:buFont typeface="Arial" panose="020B0604020202020204" pitchFamily="34" charset="0"/>
              <a:buChar char="•"/>
            </a:pPr>
            <a:r>
              <a:rPr lang="vi-VN" b="1" dirty="0"/>
              <a:t>Low cost (giá rẻ):</a:t>
            </a:r>
            <a:r>
              <a:rPr lang="vi-VN" dirty="0"/>
              <a:t> phần cứng ZigBee thường rẻ hơn Wi-Fi hoặc Bluetooth, phù hợp lắp đặt hàng loạt trong hệ thống IoT.</a:t>
            </a:r>
          </a:p>
          <a:p>
            <a:pPr>
              <a:buFont typeface="Arial" panose="020B0604020202020204" pitchFamily="34" charset="0"/>
              <a:buChar char="•"/>
            </a:pPr>
            <a:r>
              <a:rPr lang="vi-VN" b="1" dirty="0"/>
              <a:t>Low energy (tiêu thụ năng lượng thấp):</a:t>
            </a:r>
            <a:r>
              <a:rPr lang="vi-VN" dirty="0"/>
              <a:t> các nút ZigBee có thể chạy bằng pin nhỏ trong </a:t>
            </a:r>
            <a:r>
              <a:rPr lang="vi-VN" b="1" dirty="0"/>
              <a:t>vài tháng đến vài năm</a:t>
            </a:r>
            <a:r>
              <a:rPr lang="vi-VN" dirty="0"/>
              <a:t>, nhờ thiết kế tối ưu năng lượng.</a:t>
            </a:r>
          </a:p>
          <a:p>
            <a:pPr>
              <a:buFont typeface="Arial" panose="020B0604020202020204" pitchFamily="34" charset="0"/>
              <a:buChar char="•"/>
            </a:pPr>
            <a:r>
              <a:rPr lang="vi-VN" b="1" dirty="0"/>
              <a:t>Low bandwidth (băng thông thấp):</a:t>
            </a:r>
            <a:r>
              <a:rPr lang="vi-VN" dirty="0"/>
              <a:t> tốc độ truyền dữ liệu khoảng </a:t>
            </a:r>
            <a:r>
              <a:rPr lang="vi-VN" b="1" dirty="0"/>
              <a:t>20–250 kbps</a:t>
            </a:r>
            <a:r>
              <a:rPr lang="vi-VN" dirty="0"/>
              <a:t>, thấp hơn nhiều so với Wi-Fi → phù hợp cho </a:t>
            </a:r>
            <a:r>
              <a:rPr lang="vi-VN" b="1" dirty="0"/>
              <a:t>dữ liệu cảm biến nhỏ</a:t>
            </a:r>
            <a:r>
              <a:rPr lang="vi-VN" dirty="0"/>
              <a:t> chứ không phải truyền video.</a:t>
            </a:r>
          </a:p>
          <a:p>
            <a:pPr>
              <a:buFont typeface="Arial" panose="020B0604020202020204" pitchFamily="34" charset="0"/>
              <a:buChar char="•"/>
            </a:pPr>
            <a:r>
              <a:rPr lang="vi-VN" b="1" dirty="0"/>
              <a:t>Khoảng cách:</a:t>
            </a:r>
            <a:r>
              <a:rPr lang="vi-VN" dirty="0"/>
              <a:t> mỗi nút ZigBee thường kết nối 10–100m, nhưng nhờ cơ chế mạng lưới (mesh network) mà toàn mạng có thể mở rộng rất xa.</a:t>
            </a:r>
          </a:p>
          <a:p>
            <a:r>
              <a:rPr lang="vi-VN" b="1" dirty="0"/>
              <a:t>3. Kiến trúc mạng ZigBee</a:t>
            </a:r>
          </a:p>
          <a:p>
            <a:pPr>
              <a:buFont typeface="Arial" panose="020B0604020202020204" pitchFamily="34" charset="0"/>
              <a:buChar char="•"/>
            </a:pPr>
            <a:r>
              <a:rPr lang="vi-VN" b="1" dirty="0"/>
              <a:t>Thiết bị điều phối (Coordinator):</a:t>
            </a:r>
            <a:r>
              <a:rPr lang="vi-VN" dirty="0"/>
              <a:t> trung tâm của mạng, khởi tạo và quản lý cấu trúc mạng.</a:t>
            </a:r>
          </a:p>
          <a:p>
            <a:pPr>
              <a:buFont typeface="Arial" panose="020B0604020202020204" pitchFamily="34" charset="0"/>
              <a:buChar char="•"/>
            </a:pPr>
            <a:r>
              <a:rPr lang="vi-VN" b="1" dirty="0"/>
              <a:t>Router:</a:t>
            </a:r>
            <a:r>
              <a:rPr lang="vi-VN" dirty="0"/>
              <a:t> trung gian, mở rộng vùng phủ sóng bằng cách chuyển tiếp dữ liệu.</a:t>
            </a:r>
          </a:p>
          <a:p>
            <a:pPr>
              <a:buFont typeface="Arial" panose="020B0604020202020204" pitchFamily="34" charset="0"/>
              <a:buChar char="•"/>
            </a:pPr>
            <a:r>
              <a:rPr lang="vi-VN" b="1" dirty="0"/>
              <a:t>End Device:</a:t>
            </a:r>
            <a:r>
              <a:rPr lang="vi-VN" dirty="0"/>
              <a:t> thiết bị cuối (ví dụ: cảm biến, công tắc), tiết kiệm năng lượng, thường chỉ giao tiếp với router hoặc coordinator.</a:t>
            </a:r>
            <a:br>
              <a:rPr lang="vi-VN" dirty="0"/>
            </a:br>
            <a:r>
              <a:rPr lang="en-US" dirty="0"/>
              <a:t>👉 </a:t>
            </a:r>
            <a:r>
              <a:rPr lang="vi-VN" dirty="0"/>
              <a:t>Mô hình mạng </a:t>
            </a:r>
            <a:r>
              <a:rPr lang="vi-VN" b="1" dirty="0"/>
              <a:t>Mesh</a:t>
            </a:r>
            <a:r>
              <a:rPr lang="vi-VN" dirty="0"/>
              <a:t> của ZigBee giúp hệ thống </a:t>
            </a:r>
            <a:r>
              <a:rPr lang="vi-VN" b="1" dirty="0"/>
              <a:t>ổn định, tự phục hồi (self-healing)</a:t>
            </a:r>
            <a:r>
              <a:rPr lang="vi-VN" dirty="0"/>
              <a:t> khi một nút bị hỏng.</a:t>
            </a:r>
          </a:p>
          <a:p>
            <a:r>
              <a:rPr lang="vi-VN" b="1" dirty="0"/>
              <a:t>4. Ứng dụng thực tế</a:t>
            </a:r>
          </a:p>
          <a:p>
            <a:pPr>
              <a:buFont typeface="Arial" panose="020B0604020202020204" pitchFamily="34" charset="0"/>
              <a:buChar char="•"/>
            </a:pPr>
            <a:r>
              <a:rPr lang="vi-VN" b="1" dirty="0"/>
              <a:t>Smart Home:</a:t>
            </a:r>
            <a:r>
              <a:rPr lang="vi-VN" dirty="0"/>
              <a:t> đèn thông minh, công tắc, ổ cắm, cảm biến cửa, cảm biến chuyển động (ví dụ: Philips Hue, Xiaomi Smart Home).</a:t>
            </a:r>
          </a:p>
          <a:p>
            <a:pPr>
              <a:buFont typeface="Arial" panose="020B0604020202020204" pitchFamily="34" charset="0"/>
              <a:buChar char="•"/>
            </a:pPr>
            <a:r>
              <a:rPr lang="vi-VN" b="1" dirty="0"/>
              <a:t>Công nghiệp:</a:t>
            </a:r>
            <a:r>
              <a:rPr lang="vi-VN" dirty="0"/>
              <a:t> giám sát thiết bị, theo dõi năng lượng, cảm biến trong nhà máy.</a:t>
            </a:r>
          </a:p>
          <a:p>
            <a:pPr>
              <a:buFont typeface="Arial" panose="020B0604020202020204" pitchFamily="34" charset="0"/>
              <a:buChar char="•"/>
            </a:pPr>
            <a:r>
              <a:rPr lang="vi-VN" b="1" dirty="0"/>
              <a:t>Y tế:</a:t>
            </a:r>
            <a:r>
              <a:rPr lang="vi-VN" dirty="0"/>
              <a:t> thiết bị theo dõi bệnh nhân truyền dữ liệu nhịp tim, nhiệt độ.</a:t>
            </a:r>
          </a:p>
          <a:p>
            <a:pPr>
              <a:buFont typeface="Arial" panose="020B0604020202020204" pitchFamily="34" charset="0"/>
              <a:buChar char="•"/>
            </a:pPr>
            <a:r>
              <a:rPr lang="vi-VN" b="1" dirty="0"/>
              <a:t>Smart city:</a:t>
            </a:r>
            <a:r>
              <a:rPr lang="vi-VN" dirty="0"/>
              <a:t> đèn đường thông minh, cảm biến môi trường.</a:t>
            </a:r>
          </a:p>
          <a:p>
            <a:r>
              <a:rPr lang="en-US" b="1" dirty="0"/>
              <a:t>📌 </a:t>
            </a:r>
            <a:r>
              <a:rPr lang="vi-VN" b="1" dirty="0"/>
              <a:t>Kết luận cho sinh viên</a:t>
            </a:r>
          </a:p>
          <a:p>
            <a:pPr>
              <a:buFont typeface="Arial" panose="020B0604020202020204" pitchFamily="34" charset="0"/>
              <a:buChar char="•"/>
            </a:pPr>
            <a:r>
              <a:rPr lang="vi-VN" dirty="0"/>
              <a:t>ZigBee là công nghệ </a:t>
            </a:r>
            <a:r>
              <a:rPr lang="vi-VN" b="1" dirty="0"/>
              <a:t>không dây ngắn tầm, chi phí thấp, tiết kiệm năng lượng</a:t>
            </a:r>
            <a:r>
              <a:rPr lang="vi-VN" dirty="0"/>
              <a:t>, băng thông nhỏ, phù hợp cho </a:t>
            </a:r>
            <a:r>
              <a:rPr lang="vi-VN" b="1" dirty="0"/>
              <a:t>các ứng dụng IoT cần nhiều thiết bị cảm biến hoạt động lâu dài</a:t>
            </a:r>
            <a:r>
              <a:rPr lang="vi-VN" dirty="0"/>
              <a:t>.</a:t>
            </a:r>
          </a:p>
          <a:p>
            <a:pPr>
              <a:buFont typeface="Arial" panose="020B0604020202020204" pitchFamily="34" charset="0"/>
              <a:buChar char="•"/>
            </a:pPr>
            <a:r>
              <a:rPr lang="vi-VN" dirty="0"/>
              <a:t>Điểm mạnh của ZigBee là khả năng </a:t>
            </a:r>
            <a:r>
              <a:rPr lang="vi-VN" b="1" dirty="0"/>
              <a:t>tạo mạng lưới mesh ổn định và mở rộng quy mô dễ dàng</a:t>
            </a:r>
            <a:r>
              <a:rPr lang="vi-VN" dirty="0"/>
              <a:t>.</a:t>
            </a:r>
            <a:br>
              <a:rPr lang="vi-VN" dirty="0"/>
            </a:br>
            <a:r>
              <a:rPr lang="en-US" dirty="0"/>
              <a:t>👉 </a:t>
            </a:r>
            <a:r>
              <a:rPr lang="vi-VN" dirty="0"/>
              <a:t>Trong hệ sinh thái IoT, ZigBee thường được dùng trong </a:t>
            </a:r>
            <a:r>
              <a:rPr lang="vi-VN" b="1" dirty="0"/>
              <a:t>smart home</a:t>
            </a:r>
            <a:r>
              <a:rPr lang="vi-VN" dirty="0"/>
              <a:t> và </a:t>
            </a:r>
            <a:r>
              <a:rPr lang="vi-VN" b="1" dirty="0"/>
              <a:t>industrial IoT</a:t>
            </a:r>
            <a:r>
              <a:rPr lang="vi-VN" dirty="0"/>
              <a:t> như một giải pháp </a:t>
            </a:r>
            <a:r>
              <a:rPr lang="vi-VN" b="1" dirty="0"/>
              <a:t>tin cậy – tiết kiệm – quy mô lớn</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833874ed6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833874ed6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dirty="0"/>
              <a:t>Sơ đồ trong hình minh họa </a:t>
            </a:r>
            <a:r>
              <a:rPr lang="vi-VN" b="1" dirty="0"/>
              <a:t>kiến trúc mạng ZigBee</a:t>
            </a:r>
            <a:r>
              <a:rPr lang="vi-VN" dirty="0"/>
              <a:t> với ba loại thiết bị chính: </a:t>
            </a:r>
            <a:r>
              <a:rPr lang="vi-VN" b="1" dirty="0"/>
              <a:t>Coordinator, Router, và End Device</a:t>
            </a:r>
            <a:r>
              <a:rPr lang="vi-VN" dirty="0"/>
              <a:t>. Ta có thể giải thích như sau:</a:t>
            </a:r>
          </a:p>
          <a:p>
            <a:r>
              <a:rPr lang="vi-VN" b="1" dirty="0"/>
              <a:t>1. ZigBee Coordinator (FFD – Full Function Device)</a:t>
            </a:r>
          </a:p>
          <a:p>
            <a:pPr>
              <a:buFont typeface="Arial" panose="020B0604020202020204" pitchFamily="34" charset="0"/>
              <a:buChar char="•"/>
            </a:pPr>
            <a:r>
              <a:rPr lang="vi-VN" dirty="0"/>
              <a:t>Ký hiệu: vòng tròn </a:t>
            </a:r>
            <a:r>
              <a:rPr lang="vi-VN" b="1" dirty="0"/>
              <a:t>màu hồng đậm</a:t>
            </a:r>
            <a:r>
              <a:rPr lang="vi-VN" dirty="0"/>
              <a:t>.</a:t>
            </a:r>
          </a:p>
          <a:p>
            <a:pPr>
              <a:buFont typeface="Arial" panose="020B0604020202020204" pitchFamily="34" charset="0"/>
              <a:buChar char="•"/>
            </a:pPr>
            <a:r>
              <a:rPr lang="vi-VN" dirty="0"/>
              <a:t>Là </a:t>
            </a:r>
            <a:r>
              <a:rPr lang="vi-VN" b="1" dirty="0"/>
              <a:t>trung tâm quản lý</a:t>
            </a:r>
            <a:r>
              <a:rPr lang="vi-VN" dirty="0"/>
              <a:t> của mạng ZigBee.</a:t>
            </a:r>
          </a:p>
          <a:p>
            <a:pPr>
              <a:buFont typeface="Arial" panose="020B0604020202020204" pitchFamily="34" charset="0"/>
              <a:buChar char="•"/>
            </a:pPr>
            <a:r>
              <a:rPr lang="vi-VN" dirty="0"/>
              <a:t>Chức năng:</a:t>
            </a:r>
          </a:p>
          <a:p>
            <a:pPr marL="742950" lvl="1" indent="-285750">
              <a:buFont typeface="Arial" panose="020B0604020202020204" pitchFamily="34" charset="0"/>
              <a:buChar char="•"/>
            </a:pPr>
            <a:r>
              <a:rPr lang="vi-VN" dirty="0"/>
              <a:t>Khởi tạo và duy trì mạng.</a:t>
            </a:r>
          </a:p>
          <a:p>
            <a:pPr marL="742950" lvl="1" indent="-285750">
              <a:buFont typeface="Arial" panose="020B0604020202020204" pitchFamily="34" charset="0"/>
              <a:buChar char="•"/>
            </a:pPr>
            <a:r>
              <a:rPr lang="vi-VN" dirty="0"/>
              <a:t>Phân phát địa chỉ mạng cho các thiết bị khác.</a:t>
            </a:r>
          </a:p>
          <a:p>
            <a:pPr marL="742950" lvl="1" indent="-285750">
              <a:buFont typeface="Arial" panose="020B0604020202020204" pitchFamily="34" charset="0"/>
              <a:buChar char="•"/>
            </a:pPr>
            <a:r>
              <a:rPr lang="vi-VN" dirty="0"/>
              <a:t>Quản lý thông tin bảo mật, đồng bộ.</a:t>
            </a:r>
          </a:p>
          <a:p>
            <a:pPr>
              <a:buFont typeface="Arial" panose="020B0604020202020204" pitchFamily="34" charset="0"/>
              <a:buChar char="•"/>
            </a:pPr>
            <a:r>
              <a:rPr lang="vi-VN" dirty="0"/>
              <a:t>Trong một mạng ZigBee </a:t>
            </a:r>
            <a:r>
              <a:rPr lang="vi-VN" b="1" dirty="0"/>
              <a:t>chỉ có duy nhất 1 Coordinator</a:t>
            </a:r>
            <a:r>
              <a:rPr lang="vi-VN" dirty="0"/>
              <a:t>.</a:t>
            </a:r>
          </a:p>
          <a:p>
            <a:r>
              <a:rPr lang="vi-VN" b="1" dirty="0"/>
              <a:t>2. ZigBee Router (FFD)</a:t>
            </a:r>
          </a:p>
          <a:p>
            <a:pPr>
              <a:buFont typeface="Arial" panose="020B0604020202020204" pitchFamily="34" charset="0"/>
              <a:buChar char="•"/>
            </a:pPr>
            <a:r>
              <a:rPr lang="vi-VN" dirty="0"/>
              <a:t>Ký hiệu: vòng tròn </a:t>
            </a:r>
            <a:r>
              <a:rPr lang="vi-VN" b="1" dirty="0"/>
              <a:t>màu tím</a:t>
            </a:r>
            <a:r>
              <a:rPr lang="vi-VN" dirty="0"/>
              <a:t>.</a:t>
            </a:r>
          </a:p>
          <a:p>
            <a:pPr>
              <a:buFont typeface="Arial" panose="020B0604020202020204" pitchFamily="34" charset="0"/>
              <a:buChar char="•"/>
            </a:pPr>
            <a:r>
              <a:rPr lang="vi-VN" dirty="0"/>
              <a:t>Có thể hoạt động như một </a:t>
            </a:r>
            <a:r>
              <a:rPr lang="vi-VN" b="1" dirty="0"/>
              <a:t>trạm trung gian</a:t>
            </a:r>
            <a:r>
              <a:rPr lang="vi-VN" dirty="0"/>
              <a:t> để chuyển tiếp dữ liệu giữa các thiết bị.</a:t>
            </a:r>
          </a:p>
          <a:p>
            <a:pPr>
              <a:buFont typeface="Arial" panose="020B0604020202020204" pitchFamily="34" charset="0"/>
              <a:buChar char="•"/>
            </a:pPr>
            <a:r>
              <a:rPr lang="vi-VN" dirty="0"/>
              <a:t>Ngoài chức năng định tuyến, router còn có thể:</a:t>
            </a:r>
          </a:p>
          <a:p>
            <a:pPr marL="742950" lvl="1" indent="-285750">
              <a:buFont typeface="Arial" panose="020B0604020202020204" pitchFamily="34" charset="0"/>
              <a:buChar char="•"/>
            </a:pPr>
            <a:r>
              <a:rPr lang="vi-VN" dirty="0"/>
              <a:t>Kết nối thêm </a:t>
            </a:r>
            <a:r>
              <a:rPr lang="vi-VN" b="1" dirty="0"/>
              <a:t>End Device</a:t>
            </a:r>
            <a:r>
              <a:rPr lang="vi-VN" dirty="0"/>
              <a:t>.</a:t>
            </a:r>
          </a:p>
          <a:p>
            <a:pPr marL="742950" lvl="1" indent="-285750">
              <a:buFont typeface="Arial" panose="020B0604020202020204" pitchFamily="34" charset="0"/>
              <a:buChar char="•"/>
            </a:pPr>
            <a:r>
              <a:rPr lang="vi-VN" dirty="0"/>
              <a:t>Mở rộng phạm vi phủ sóng của mạng.</a:t>
            </a:r>
          </a:p>
          <a:p>
            <a:pPr>
              <a:buFont typeface="Arial" panose="020B0604020202020204" pitchFamily="34" charset="0"/>
              <a:buChar char="•"/>
            </a:pPr>
            <a:r>
              <a:rPr lang="vi-VN" dirty="0"/>
              <a:t>Một mạng ZigBee có thể có </a:t>
            </a:r>
            <a:r>
              <a:rPr lang="vi-VN" b="1" dirty="0"/>
              <a:t>nhiều router</a:t>
            </a:r>
            <a:r>
              <a:rPr lang="vi-VN" dirty="0"/>
              <a:t> → tạo thành cấu trúc </a:t>
            </a:r>
            <a:r>
              <a:rPr lang="vi-VN" b="1" dirty="0"/>
              <a:t>mesh network</a:t>
            </a:r>
            <a:r>
              <a:rPr lang="vi-VN" dirty="0"/>
              <a:t>.</a:t>
            </a:r>
          </a:p>
          <a:p>
            <a:r>
              <a:rPr lang="vi-VN" b="1" dirty="0"/>
              <a:t>3. ZigBee End Device (RFD – Reduced Function Device)</a:t>
            </a:r>
          </a:p>
          <a:p>
            <a:pPr>
              <a:buFont typeface="Arial" panose="020B0604020202020204" pitchFamily="34" charset="0"/>
              <a:buChar char="•"/>
            </a:pPr>
            <a:r>
              <a:rPr lang="vi-VN" dirty="0"/>
              <a:t>Ký hiệu: vòng tròn </a:t>
            </a:r>
            <a:r>
              <a:rPr lang="vi-VN" b="1" dirty="0"/>
              <a:t>màu đỏ nhạt, nhỏ</a:t>
            </a:r>
            <a:r>
              <a:rPr lang="vi-VN" dirty="0"/>
              <a:t>.</a:t>
            </a:r>
          </a:p>
          <a:p>
            <a:pPr>
              <a:buFont typeface="Arial" panose="020B0604020202020204" pitchFamily="34" charset="0"/>
              <a:buChar char="•"/>
            </a:pPr>
            <a:r>
              <a:rPr lang="vi-VN" dirty="0"/>
              <a:t>Thiết bị đầu cuối, ví dụ: cảm biến nhiệt độ, cảm biến ánh sáng, công tắc thông minh.</a:t>
            </a:r>
          </a:p>
          <a:p>
            <a:pPr>
              <a:buFont typeface="Arial" panose="020B0604020202020204" pitchFamily="34" charset="0"/>
              <a:buChar char="•"/>
            </a:pPr>
            <a:r>
              <a:rPr lang="vi-VN" dirty="0"/>
              <a:t>Đặc điểm:</a:t>
            </a:r>
          </a:p>
          <a:p>
            <a:pPr marL="742950" lvl="1" indent="-285750">
              <a:buFont typeface="Arial" panose="020B0604020202020204" pitchFamily="34" charset="0"/>
              <a:buChar char="•"/>
            </a:pPr>
            <a:r>
              <a:rPr lang="vi-VN" dirty="0"/>
              <a:t>Chỉ giao tiếp với </a:t>
            </a:r>
            <a:r>
              <a:rPr lang="vi-VN" b="1" dirty="0"/>
              <a:t>một Router hoặc Coordinator</a:t>
            </a:r>
            <a:r>
              <a:rPr lang="vi-VN" dirty="0"/>
              <a:t>.</a:t>
            </a:r>
          </a:p>
          <a:p>
            <a:pPr marL="742950" lvl="1" indent="-285750">
              <a:buFont typeface="Arial" panose="020B0604020202020204" pitchFamily="34" charset="0"/>
              <a:buChar char="•"/>
            </a:pPr>
            <a:r>
              <a:rPr lang="vi-VN" dirty="0"/>
              <a:t>Không chuyển tiếp dữ liệu → giúp tiết kiệm năng lượng.</a:t>
            </a:r>
          </a:p>
          <a:p>
            <a:pPr marL="742950" lvl="1" indent="-285750">
              <a:buFont typeface="Arial" panose="020B0604020202020204" pitchFamily="34" charset="0"/>
              <a:buChar char="•"/>
            </a:pPr>
            <a:r>
              <a:rPr lang="vi-VN" dirty="0"/>
              <a:t>Phù hợp cho các thiết bị chạy pin.</a:t>
            </a:r>
          </a:p>
          <a:p>
            <a:r>
              <a:rPr lang="vi-VN" b="1" dirty="0"/>
              <a:t>4. Tổng thể mạng ZigBee</a:t>
            </a:r>
          </a:p>
          <a:p>
            <a:pPr>
              <a:buFont typeface="Arial" panose="020B0604020202020204" pitchFamily="34" charset="0"/>
              <a:buChar char="•"/>
            </a:pPr>
            <a:r>
              <a:rPr lang="vi-VN" b="1" dirty="0"/>
              <a:t>Coordinator</a:t>
            </a:r>
            <a:r>
              <a:rPr lang="vi-VN" dirty="0"/>
              <a:t> tạo mạng → các </a:t>
            </a:r>
            <a:r>
              <a:rPr lang="vi-VN" b="1" dirty="0"/>
              <a:t>Router</a:t>
            </a:r>
            <a:r>
              <a:rPr lang="vi-VN" dirty="0"/>
              <a:t> nối vào → </a:t>
            </a:r>
            <a:r>
              <a:rPr lang="vi-VN" b="1" dirty="0"/>
              <a:t>End Device</a:t>
            </a:r>
            <a:r>
              <a:rPr lang="vi-VN" dirty="0"/>
              <a:t> kết nối vào Router hoặc Coordinator.</a:t>
            </a:r>
          </a:p>
          <a:p>
            <a:pPr>
              <a:buFont typeface="Arial" panose="020B0604020202020204" pitchFamily="34" charset="0"/>
              <a:buChar char="•"/>
            </a:pPr>
            <a:r>
              <a:rPr lang="vi-VN" dirty="0"/>
              <a:t>Sơ đồ cho thấy cấu trúc dạng </a:t>
            </a:r>
            <a:r>
              <a:rPr lang="vi-VN" b="1" dirty="0"/>
              <a:t>mesh</a:t>
            </a:r>
            <a:r>
              <a:rPr lang="vi-VN" dirty="0"/>
              <a:t>:</a:t>
            </a:r>
          </a:p>
          <a:p>
            <a:pPr marL="742950" lvl="1" indent="-285750">
              <a:buFont typeface="Arial" panose="020B0604020202020204" pitchFamily="34" charset="0"/>
              <a:buChar char="•"/>
            </a:pPr>
            <a:r>
              <a:rPr lang="vi-VN" dirty="0"/>
              <a:t>Dữ liệu có thể đi qua nhiều tuyến đường khác nhau.</a:t>
            </a:r>
          </a:p>
          <a:p>
            <a:pPr marL="742950" lvl="1" indent="-285750">
              <a:buFont typeface="Arial" panose="020B0604020202020204" pitchFamily="34" charset="0"/>
              <a:buChar char="•"/>
            </a:pPr>
            <a:r>
              <a:rPr lang="vi-VN" dirty="0"/>
              <a:t>Nếu một router bị lỗi, mạng vẫn hoạt động nhờ các đường thay thế.</a:t>
            </a:r>
          </a:p>
          <a:p>
            <a:pPr>
              <a:buFont typeface="Arial" panose="020B0604020202020204" pitchFamily="34" charset="0"/>
              <a:buChar char="•"/>
            </a:pPr>
            <a:r>
              <a:rPr lang="vi-VN" dirty="0"/>
              <a:t>Ưu điểm: </a:t>
            </a:r>
            <a:r>
              <a:rPr lang="vi-VN" b="1" dirty="0"/>
              <a:t>linh hoạt, mở rộng dễ dàng, tiết kiệm năng lượng</a:t>
            </a:r>
            <a:r>
              <a:rPr lang="vi-VN" dirty="0"/>
              <a:t>.</a:t>
            </a:r>
          </a:p>
          <a:p>
            <a:r>
              <a:rPr lang="en-US" dirty="0"/>
              <a:t>👉 </a:t>
            </a:r>
            <a:r>
              <a:rPr lang="vi-VN" dirty="0"/>
              <a:t>Tóm lại, sơ đồ thể hiện rằng:</a:t>
            </a:r>
          </a:p>
          <a:p>
            <a:pPr>
              <a:buFont typeface="Arial" panose="020B0604020202020204" pitchFamily="34" charset="0"/>
              <a:buChar char="•"/>
            </a:pPr>
            <a:r>
              <a:rPr lang="vi-VN" dirty="0"/>
              <a:t>Coordinator = "trái tim" quản lý.</a:t>
            </a:r>
          </a:p>
          <a:p>
            <a:pPr>
              <a:buFont typeface="Arial" panose="020B0604020202020204" pitchFamily="34" charset="0"/>
              <a:buChar char="•"/>
            </a:pPr>
            <a:r>
              <a:rPr lang="vi-VN" dirty="0"/>
              <a:t>Router = "xương sống" định tuyến.</a:t>
            </a:r>
          </a:p>
          <a:p>
            <a:pPr>
              <a:buFont typeface="Arial" panose="020B0604020202020204" pitchFamily="34" charset="0"/>
              <a:buChar char="•"/>
            </a:pPr>
            <a:r>
              <a:rPr lang="vi-VN" dirty="0"/>
              <a:t>End Device = "thiết bị ngoại vi" thu thập dữ liệu/điều khiển.</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833874ed6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833874ed6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Tiêu thụ điện năng thấp</a:t>
            </a:r>
          </a:p>
          <a:p>
            <a:pPr>
              <a:buFont typeface="Arial" panose="020B0604020202020204" pitchFamily="34" charset="0"/>
              <a:buChar char="•"/>
            </a:pPr>
            <a:r>
              <a:rPr lang="vi-VN" dirty="0"/>
              <a:t>ZigBee được thiết kế để </a:t>
            </a:r>
            <a:r>
              <a:rPr lang="vi-VN" b="1" dirty="0"/>
              <a:t>các node IoT chạy bằng pin nhỏ</a:t>
            </a:r>
            <a:r>
              <a:rPr lang="vi-VN" dirty="0"/>
              <a:t> trong thời gian dài (từ vài tháng đến vài năm).</a:t>
            </a:r>
          </a:p>
          <a:p>
            <a:pPr>
              <a:buFont typeface="Arial" panose="020B0604020202020204" pitchFamily="34" charset="0"/>
              <a:buChar char="•"/>
            </a:pPr>
            <a:r>
              <a:rPr lang="vi-VN" dirty="0"/>
              <a:t>Lý do: node phần lớn thời gian ở chế độ </a:t>
            </a:r>
            <a:r>
              <a:rPr lang="vi-VN" b="1" dirty="0"/>
              <a:t>ngủ (sleep mode)</a:t>
            </a:r>
            <a:r>
              <a:rPr lang="vi-VN" dirty="0"/>
              <a:t>, chỉ thức dậy khi cần gửi/nhận dữ liệu.</a:t>
            </a:r>
            <a:br>
              <a:rPr lang="vi-VN" dirty="0"/>
            </a:br>
            <a:r>
              <a:rPr lang="en-US" dirty="0"/>
              <a:t>👉 </a:t>
            </a:r>
            <a:r>
              <a:rPr lang="vi-VN" dirty="0"/>
              <a:t>Đây là ưu điểm lớn trong các ứng dụng </a:t>
            </a:r>
            <a:r>
              <a:rPr lang="vi-VN" b="1" dirty="0"/>
              <a:t>nông nghiệp, smart home</a:t>
            </a:r>
            <a:r>
              <a:rPr lang="vi-VN" dirty="0"/>
              <a:t>, nơi việc thay pin thường xuyên là bất tiện.</a:t>
            </a:r>
          </a:p>
          <a:p>
            <a:r>
              <a:rPr lang="vi-VN" b="1" dirty="0"/>
              <a:t>2. Tốc độ truyền dữ liệu thấp (20–250 kbps)</a:t>
            </a:r>
          </a:p>
          <a:p>
            <a:pPr>
              <a:buFont typeface="Arial" panose="020B0604020202020204" pitchFamily="34" charset="0"/>
              <a:buChar char="•"/>
            </a:pPr>
            <a:r>
              <a:rPr lang="vi-VN" dirty="0"/>
              <a:t>Băng thông thấp hơn nhiều so với Wi-Fi hay Bluetooth Classic.</a:t>
            </a:r>
          </a:p>
          <a:p>
            <a:pPr>
              <a:buFont typeface="Arial" panose="020B0604020202020204" pitchFamily="34" charset="0"/>
              <a:buChar char="•"/>
            </a:pPr>
            <a:r>
              <a:rPr lang="vi-VN" dirty="0"/>
              <a:t>Tuy nhiên, điều này là </a:t>
            </a:r>
            <a:r>
              <a:rPr lang="vi-VN" b="1" dirty="0"/>
              <a:t>đủ cho dữ liệu IoT</a:t>
            </a:r>
            <a:r>
              <a:rPr lang="vi-VN" dirty="0"/>
              <a:t> (nhiệt độ, độ ẩm, trạng thái thiết bị, lệnh điều khiển).</a:t>
            </a:r>
            <a:br>
              <a:rPr lang="vi-VN" dirty="0"/>
            </a:br>
            <a:r>
              <a:rPr lang="en-US" dirty="0"/>
              <a:t>👉 </a:t>
            </a:r>
            <a:r>
              <a:rPr lang="vi-VN" dirty="0"/>
              <a:t>ZigBee không dùng để truyền video hay âm thanh, mà tối ưu cho </a:t>
            </a:r>
            <a:r>
              <a:rPr lang="vi-VN" b="1" dirty="0"/>
              <a:t>gói tin nhỏ, ngắn, định kỳ</a:t>
            </a:r>
            <a:r>
              <a:rPr lang="vi-VN" dirty="0"/>
              <a:t>.</a:t>
            </a:r>
          </a:p>
          <a:p>
            <a:r>
              <a:rPr lang="vi-VN" b="1" dirty="0"/>
              <a:t>3. Cự ly ngắn (&lt;100m)</a:t>
            </a:r>
          </a:p>
          <a:p>
            <a:pPr>
              <a:buFont typeface="Arial" panose="020B0604020202020204" pitchFamily="34" charset="0"/>
              <a:buChar char="•"/>
            </a:pPr>
            <a:r>
              <a:rPr lang="vi-VN" dirty="0"/>
              <a:t>ZigBee thường chỉ truyền hiệu quả trong phạm vi </a:t>
            </a:r>
            <a:r>
              <a:rPr lang="vi-VN" b="1" dirty="0"/>
              <a:t>10–100m</a:t>
            </a:r>
            <a:r>
              <a:rPr lang="vi-VN" dirty="0"/>
              <a:t> tùy môi trường.</a:t>
            </a:r>
          </a:p>
          <a:p>
            <a:pPr>
              <a:buFont typeface="Arial" panose="020B0604020202020204" pitchFamily="34" charset="0"/>
              <a:buChar char="•"/>
            </a:pPr>
            <a:r>
              <a:rPr lang="vi-VN" dirty="0"/>
              <a:t>Nhưng nhờ </a:t>
            </a:r>
            <a:r>
              <a:rPr lang="vi-VN" b="1" dirty="0"/>
              <a:t>mô hình mạng lưới (mesh network)</a:t>
            </a:r>
            <a:r>
              <a:rPr lang="vi-VN" dirty="0"/>
              <a:t>, các node có thể </a:t>
            </a:r>
            <a:r>
              <a:rPr lang="vi-VN" b="1" dirty="0"/>
              <a:t>chuyển tiếp dữ liệu</a:t>
            </a:r>
            <a:r>
              <a:rPr lang="vi-VN" dirty="0"/>
              <a:t>, mở rộng phạm vi phủ sóng toàn hệ thống.</a:t>
            </a:r>
            <a:br>
              <a:rPr lang="vi-VN" dirty="0"/>
            </a:br>
            <a:r>
              <a:rPr lang="en-US" dirty="0"/>
              <a:t>👉 </a:t>
            </a:r>
            <a:r>
              <a:rPr lang="vi-VN" dirty="0"/>
              <a:t>Ví dụ: một cảm biến xa gateway có thể gửi dữ liệu qua các node trung gian.</a:t>
            </a:r>
          </a:p>
          <a:p>
            <a:r>
              <a:rPr lang="vi-VN" b="1" dirty="0"/>
              <a:t>4. Hỗ trợ số lượng lớn các node mạng (tối đa ~65.000)</a:t>
            </a:r>
          </a:p>
          <a:p>
            <a:pPr>
              <a:buFont typeface="Arial" panose="020B0604020202020204" pitchFamily="34" charset="0"/>
              <a:buChar char="•"/>
            </a:pPr>
            <a:r>
              <a:rPr lang="vi-VN" dirty="0"/>
              <a:t>ZigBee hỗ trợ cấu trúc </a:t>
            </a:r>
            <a:r>
              <a:rPr lang="vi-VN" b="1" dirty="0"/>
              <a:t>hierarchical addressing</a:t>
            </a:r>
            <a:r>
              <a:rPr lang="vi-VN" dirty="0"/>
              <a:t>, cho phép lên đến </a:t>
            </a:r>
            <a:r>
              <a:rPr lang="vi-VN" b="1" dirty="0"/>
              <a:t>65.535 thiết bị trong một mạng</a:t>
            </a:r>
            <a:r>
              <a:rPr lang="vi-VN" dirty="0"/>
              <a:t>.</a:t>
            </a:r>
          </a:p>
          <a:p>
            <a:pPr>
              <a:buFont typeface="Arial" panose="020B0604020202020204" pitchFamily="34" charset="0"/>
              <a:buChar char="•"/>
            </a:pPr>
            <a:r>
              <a:rPr lang="vi-VN" dirty="0"/>
              <a:t>Đây là điểm mạnh so với Bluetooth hoặc Wi-Fi, vốn chỉ hỗ trợ số lượng thiết bị hạn chế.</a:t>
            </a:r>
            <a:br>
              <a:rPr lang="vi-VN" dirty="0"/>
            </a:br>
            <a:r>
              <a:rPr lang="en-US" dirty="0"/>
              <a:t>👉 </a:t>
            </a:r>
            <a:r>
              <a:rPr lang="vi-VN" dirty="0"/>
              <a:t>Rất phù hợp cho </a:t>
            </a:r>
            <a:r>
              <a:rPr lang="vi-VN" b="1" dirty="0"/>
              <a:t>smart city, smart factory</a:t>
            </a:r>
            <a:r>
              <a:rPr lang="vi-VN" dirty="0"/>
              <a:t>, nơi cần hàng ngàn cảm biến cùng kết nối.</a:t>
            </a:r>
          </a:p>
          <a:p>
            <a:r>
              <a:rPr lang="vi-VN" b="1" dirty="0"/>
              <a:t>5. Giao thức mã nguồn mở</a:t>
            </a:r>
          </a:p>
          <a:p>
            <a:pPr>
              <a:buFont typeface="Arial" panose="020B0604020202020204" pitchFamily="34" charset="0"/>
              <a:buChar char="•"/>
            </a:pPr>
            <a:r>
              <a:rPr lang="vi-VN" dirty="0"/>
              <a:t>ZigBee dựa trên chuẩn mở </a:t>
            </a:r>
            <a:r>
              <a:rPr lang="vi-VN" b="1" dirty="0"/>
              <a:t>IEEE 802.15.4</a:t>
            </a:r>
            <a:r>
              <a:rPr lang="vi-VN" dirty="0"/>
              <a:t>, nên có nhiều nhà sản xuất hỗ trợ.</a:t>
            </a:r>
          </a:p>
          <a:p>
            <a:pPr>
              <a:buFont typeface="Arial" panose="020B0604020202020204" pitchFamily="34" charset="0"/>
              <a:buChar char="•"/>
            </a:pPr>
            <a:r>
              <a:rPr lang="vi-VN" dirty="0"/>
              <a:t>Người thiết kế có thể </a:t>
            </a:r>
            <a:r>
              <a:rPr lang="vi-VN" b="1" dirty="0"/>
              <a:t>dễ dàng implement (triển khai)</a:t>
            </a:r>
            <a:r>
              <a:rPr lang="vi-VN" dirty="0"/>
              <a:t> trên phần cứng rẻ tiền.</a:t>
            </a:r>
          </a:p>
          <a:p>
            <a:pPr>
              <a:buFont typeface="Arial" panose="020B0604020202020204" pitchFamily="34" charset="0"/>
              <a:buChar char="•"/>
            </a:pPr>
            <a:r>
              <a:rPr lang="vi-VN" dirty="0"/>
              <a:t>Tính mở giúp giảm </a:t>
            </a:r>
            <a:r>
              <a:rPr lang="vi-VN" b="1" dirty="0"/>
              <a:t>chi phí bản quyền</a:t>
            </a:r>
            <a:r>
              <a:rPr lang="vi-VN" dirty="0"/>
              <a:t> so với một số công nghệ độc quyền.</a:t>
            </a:r>
          </a:p>
          <a:p>
            <a:r>
              <a:rPr lang="vi-VN" b="1" dirty="0"/>
              <a:t>6. Giá thành phát triển sản phẩm thấp</a:t>
            </a:r>
          </a:p>
          <a:p>
            <a:pPr>
              <a:buFont typeface="Arial" panose="020B0604020202020204" pitchFamily="34" charset="0"/>
              <a:buChar char="•"/>
            </a:pPr>
            <a:r>
              <a:rPr lang="vi-VN" dirty="0"/>
              <a:t>Module ZigBee giá rẻ, dễ tích hợp vào thiết bị IoT.</a:t>
            </a:r>
          </a:p>
          <a:p>
            <a:pPr>
              <a:buFont typeface="Arial" panose="020B0604020202020204" pitchFamily="34" charset="0"/>
              <a:buChar char="•"/>
            </a:pPr>
            <a:r>
              <a:rPr lang="vi-VN" dirty="0"/>
              <a:t>Tiết kiệm năng lượng → giảm chi phí bảo trì.</a:t>
            </a:r>
          </a:p>
          <a:p>
            <a:pPr>
              <a:buFont typeface="Arial" panose="020B0604020202020204" pitchFamily="34" charset="0"/>
              <a:buChar char="•"/>
            </a:pPr>
            <a:r>
              <a:rPr lang="vi-VN" dirty="0"/>
              <a:t>Chuẩn mở → nhiều vendor cung cấp linh kiện, tạo môi trường cạnh tranh giảm giá.</a:t>
            </a:r>
          </a:p>
          <a:p>
            <a:r>
              <a:rPr lang="en-US" b="1" dirty="0"/>
              <a:t>📌 </a:t>
            </a:r>
            <a:r>
              <a:rPr lang="vi-VN" b="1" dirty="0"/>
              <a:t>Kết luận cho sinh viên</a:t>
            </a:r>
          </a:p>
          <a:p>
            <a:r>
              <a:rPr lang="vi-VN" dirty="0"/>
              <a:t>ZigBee là lựa chọn tối ưu trong các hệ thống IoT:</a:t>
            </a:r>
          </a:p>
          <a:p>
            <a:pPr>
              <a:buFont typeface="Arial" panose="020B0604020202020204" pitchFamily="34" charset="0"/>
              <a:buChar char="•"/>
            </a:pPr>
            <a:r>
              <a:rPr lang="vi-VN" b="1" dirty="0"/>
              <a:t>Tiết kiệm năng lượng – Băng thông thấp – Phạm vi ngắn nhưng mở rộng bằng mesh.</a:t>
            </a:r>
            <a:endParaRPr lang="vi-VN" dirty="0"/>
          </a:p>
          <a:p>
            <a:pPr>
              <a:buFont typeface="Arial" panose="020B0604020202020204" pitchFamily="34" charset="0"/>
              <a:buChar char="•"/>
            </a:pPr>
            <a:r>
              <a:rPr lang="vi-VN" b="1" dirty="0"/>
              <a:t>Hỗ trợ số lượng thiết bị cực lớn.</a:t>
            </a:r>
            <a:endParaRPr lang="vi-VN" dirty="0"/>
          </a:p>
          <a:p>
            <a:pPr>
              <a:buFont typeface="Arial" panose="020B0604020202020204" pitchFamily="34" charset="0"/>
              <a:buChar char="•"/>
            </a:pPr>
            <a:r>
              <a:rPr lang="vi-VN" b="1" dirty="0"/>
              <a:t>Giá thành phát triển thấp, dễ triển khai thực tế.</a:t>
            </a:r>
            <a:endParaRPr lang="vi-VN" dirty="0"/>
          </a:p>
          <a:p>
            <a:r>
              <a:rPr lang="en-US" dirty="0"/>
              <a:t>👉 </a:t>
            </a:r>
            <a:r>
              <a:rPr lang="vi-VN" dirty="0"/>
              <a:t>Chính vì thế, ZigBee được ứng dụng nhiều trong </a:t>
            </a:r>
            <a:r>
              <a:rPr lang="vi-VN" b="1" dirty="0"/>
              <a:t>smart home (đèn, ổ cắm, công tắc thông minh), nông nghiệp thông minh, và các mạng cảm biến công nghiệp</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833874ed6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833874ed6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Stochastic Addressing (Địa chỉ ngẫu nhiên)</a:t>
            </a:r>
          </a:p>
          <a:p>
            <a:pPr>
              <a:buFont typeface="Arial" panose="020B0604020202020204" pitchFamily="34" charset="0"/>
              <a:buChar char="•"/>
            </a:pPr>
            <a:r>
              <a:rPr lang="vi-VN" dirty="0"/>
              <a:t>ZigBee sử dụng </a:t>
            </a:r>
            <a:r>
              <a:rPr lang="vi-VN" b="1" dirty="0"/>
              <a:t>địa chỉ 16-bit</a:t>
            </a:r>
            <a:r>
              <a:rPr lang="vi-VN" dirty="0"/>
              <a:t> cho các node trong mạng.</a:t>
            </a:r>
          </a:p>
          <a:p>
            <a:pPr>
              <a:buFont typeface="Arial" panose="020B0604020202020204" pitchFamily="34" charset="0"/>
              <a:buChar char="•"/>
            </a:pPr>
            <a:r>
              <a:rPr lang="vi-VN" dirty="0"/>
              <a:t>Khi một thiết bị mới tham gia, địa chỉ được </a:t>
            </a:r>
            <a:r>
              <a:rPr lang="vi-VN" b="1" dirty="0"/>
              <a:t>gán ngẫu nhiên và thông báo</a:t>
            </a:r>
            <a:r>
              <a:rPr lang="vi-VN" dirty="0"/>
              <a:t> trong mạng.</a:t>
            </a:r>
          </a:p>
          <a:p>
            <a:pPr>
              <a:buFont typeface="Arial" panose="020B0604020202020204" pitchFamily="34" charset="0"/>
              <a:buChar char="•"/>
            </a:pPr>
            <a:r>
              <a:rPr lang="vi-VN" dirty="0"/>
              <a:t>Có </a:t>
            </a:r>
            <a:r>
              <a:rPr lang="vi-VN" b="1" dirty="0"/>
              <a:t>cơ chế chống xung đột địa chỉ</a:t>
            </a:r>
            <a:r>
              <a:rPr lang="vi-VN" dirty="0"/>
              <a:t>, đảm bảo không có 2 node nào cùng một địa chỉ trong mạng.</a:t>
            </a:r>
          </a:p>
          <a:p>
            <a:pPr>
              <a:buFont typeface="Arial" panose="020B0604020202020204" pitchFamily="34" charset="0"/>
              <a:buChar char="•"/>
            </a:pPr>
            <a:r>
              <a:rPr lang="vi-VN" dirty="0"/>
              <a:t>Ưu điểm: </a:t>
            </a:r>
            <a:r>
              <a:rPr lang="vi-VN" b="1" dirty="0"/>
              <a:t>Node cha (Parent Node)</a:t>
            </a:r>
            <a:r>
              <a:rPr lang="vi-VN" dirty="0"/>
              <a:t> không cần phải duy trì một bảng địa chỉ phức tạp cho tất cả con → giảm tải bộ nhớ và đơn giản hóa thiết kế.</a:t>
            </a:r>
          </a:p>
          <a:p>
            <a:r>
              <a:rPr lang="vi-VN" b="1" dirty="0"/>
              <a:t>2. Link Management (Quản lý liên kết)</a:t>
            </a:r>
          </a:p>
          <a:p>
            <a:pPr>
              <a:buFont typeface="Arial" panose="020B0604020202020204" pitchFamily="34" charset="0"/>
              <a:buChar char="•"/>
            </a:pPr>
            <a:r>
              <a:rPr lang="vi-VN" dirty="0"/>
              <a:t>Mỗi node ZigBee </a:t>
            </a:r>
            <a:r>
              <a:rPr lang="vi-VN" b="1" dirty="0"/>
              <a:t>tự duy trì bảng các nút lân cận</a:t>
            </a:r>
            <a:r>
              <a:rPr lang="vi-VN" dirty="0"/>
              <a:t> mà nó có thể kết nối.</a:t>
            </a:r>
          </a:p>
          <a:p>
            <a:pPr>
              <a:buFont typeface="Arial" panose="020B0604020202020204" pitchFamily="34" charset="0"/>
              <a:buChar char="•"/>
            </a:pPr>
            <a:r>
              <a:rPr lang="vi-VN" dirty="0"/>
              <a:t>ZigBee thường đo </a:t>
            </a:r>
            <a:r>
              <a:rPr lang="vi-VN" b="1" dirty="0"/>
              <a:t>chất lượng tín hiệu (LQI – Link Quality Indicator)</a:t>
            </a:r>
            <a:r>
              <a:rPr lang="vi-VN" dirty="0"/>
              <a:t> hoặc tỷ lệ mất gói để đánh giá chất lượng liên kết.</a:t>
            </a:r>
          </a:p>
          <a:p>
            <a:pPr>
              <a:buFont typeface="Arial" panose="020B0604020202020204" pitchFamily="34" charset="0"/>
              <a:buChar char="•"/>
            </a:pPr>
            <a:r>
              <a:rPr lang="vi-VN" dirty="0"/>
              <a:t>Thông tin này được dùng trong </a:t>
            </a:r>
            <a:r>
              <a:rPr lang="vi-VN" b="1" dirty="0"/>
              <a:t>thuật toán định tuyến</a:t>
            </a:r>
            <a:r>
              <a:rPr lang="vi-VN" dirty="0"/>
              <a:t> (routing) để lựa chọn đường đi tốt nhất trong mạng lưới mesh.</a:t>
            </a:r>
            <a:br>
              <a:rPr lang="vi-VN" dirty="0"/>
            </a:br>
            <a:r>
              <a:rPr lang="en-US" dirty="0"/>
              <a:t>👉 </a:t>
            </a:r>
            <a:r>
              <a:rPr lang="vi-VN" dirty="0"/>
              <a:t>Điều này giúp mạng ZigBee </a:t>
            </a:r>
            <a:r>
              <a:rPr lang="vi-VN" b="1" dirty="0"/>
              <a:t>tự thích nghi và tự phục hồi</a:t>
            </a:r>
            <a:r>
              <a:rPr lang="vi-VN" dirty="0"/>
              <a:t> khi một nút bị hỏng hoặc tín hiệu yếu.</a:t>
            </a:r>
          </a:p>
          <a:p>
            <a:r>
              <a:rPr lang="vi-VN" b="1" dirty="0"/>
              <a:t>3. Frequency Agility (Tính linh hoạt tần số)</a:t>
            </a:r>
          </a:p>
          <a:p>
            <a:pPr>
              <a:buFont typeface="Arial" panose="020B0604020202020204" pitchFamily="34" charset="0"/>
              <a:buChar char="•"/>
            </a:pPr>
            <a:r>
              <a:rPr lang="vi-VN" dirty="0"/>
              <a:t>ZigBee hoạt động trong băng tần </a:t>
            </a:r>
            <a:r>
              <a:rPr lang="vi-VN" b="1" dirty="0"/>
              <a:t>2.4 GHz ISM</a:t>
            </a:r>
            <a:r>
              <a:rPr lang="vi-VN" dirty="0"/>
              <a:t>, vốn cũng được sử dụng bởi Wi-Fi, Bluetooth… → dễ bị nhiễu.</a:t>
            </a:r>
          </a:p>
          <a:p>
            <a:pPr>
              <a:buFont typeface="Arial" panose="020B0604020202020204" pitchFamily="34" charset="0"/>
              <a:buChar char="•"/>
            </a:pPr>
            <a:r>
              <a:rPr lang="vi-VN" dirty="0"/>
              <a:t>ZigBee có khả năng </a:t>
            </a:r>
            <a:r>
              <a:rPr lang="vi-VN" b="1" dirty="0"/>
              <a:t>tự động thay đổi kênh (frequency hopping)</a:t>
            </a:r>
            <a:r>
              <a:rPr lang="vi-VN" dirty="0"/>
              <a:t> khi phát hiện nhiễu, đảm bảo liên lạc ổn định.</a:t>
            </a:r>
            <a:br>
              <a:rPr lang="vi-VN" dirty="0"/>
            </a:br>
            <a:r>
              <a:rPr lang="en-US" dirty="0"/>
              <a:t>👉 </a:t>
            </a:r>
            <a:r>
              <a:rPr lang="vi-VN" dirty="0"/>
              <a:t>Đây là yếu tố quan trọng giúp ZigBee hoạt động tốt trong môi trường </a:t>
            </a:r>
            <a:r>
              <a:rPr lang="vi-VN" b="1" dirty="0"/>
              <a:t>nhiều thiết bị không dây</a:t>
            </a:r>
            <a:r>
              <a:rPr lang="vi-VN" dirty="0"/>
              <a:t> (smart home, nhà máy).</a:t>
            </a:r>
          </a:p>
          <a:p>
            <a:r>
              <a:rPr lang="vi-VN" b="1" dirty="0"/>
              <a:t>4. Asymmetric Link (Liên kết bất đối xứng)</a:t>
            </a:r>
          </a:p>
          <a:p>
            <a:pPr>
              <a:buFont typeface="Arial" panose="020B0604020202020204" pitchFamily="34" charset="0"/>
              <a:buChar char="•"/>
            </a:pPr>
            <a:r>
              <a:rPr lang="vi-VN" dirty="0"/>
              <a:t>Trong mạng ZigBee, </a:t>
            </a:r>
            <a:r>
              <a:rPr lang="vi-VN" b="1" dirty="0"/>
              <a:t>công suất phát và độ nhạy thu của mỗi node có thể khác nhau</a:t>
            </a:r>
            <a:r>
              <a:rPr lang="vi-VN" dirty="0"/>
              <a:t>.</a:t>
            </a:r>
          </a:p>
          <a:p>
            <a:pPr>
              <a:buFont typeface="Arial" panose="020B0604020202020204" pitchFamily="34" charset="0"/>
              <a:buChar char="•"/>
            </a:pPr>
            <a:r>
              <a:rPr lang="vi-VN" dirty="0"/>
              <a:t>Điều này dẫn đến tình huống: Node A có thể nghe Node B, nhưng Node B không nghe được Node A.</a:t>
            </a:r>
          </a:p>
          <a:p>
            <a:pPr>
              <a:buFont typeface="Arial" panose="020B0604020202020204" pitchFamily="34" charset="0"/>
              <a:buChar char="•"/>
            </a:pPr>
            <a:r>
              <a:rPr lang="vi-VN" dirty="0"/>
              <a:t>Đây gọi là </a:t>
            </a:r>
            <a:r>
              <a:rPr lang="vi-VN" b="1" dirty="0"/>
              <a:t>liên kết bất đối xứng (asymmetric link)</a:t>
            </a:r>
            <a:r>
              <a:rPr lang="vi-VN" dirty="0"/>
              <a:t>.</a:t>
            </a:r>
          </a:p>
          <a:p>
            <a:pPr>
              <a:buFont typeface="Arial" panose="020B0604020202020204" pitchFamily="34" charset="0"/>
              <a:buChar char="•"/>
            </a:pPr>
            <a:r>
              <a:rPr lang="vi-VN" dirty="0"/>
              <a:t>Hệ thống định tuyến của ZigBee phải có cơ chế để xử lý và tránh các liên kết bất đối xứng này, nhằm đảm bảo đường truyền dữ liệu tin cậy.</a:t>
            </a:r>
          </a:p>
          <a:p>
            <a:r>
              <a:rPr lang="vi-VN" b="1" dirty="0"/>
              <a:t>5. Power Management (Quản lý năng lượng)</a:t>
            </a:r>
          </a:p>
          <a:p>
            <a:pPr>
              <a:buFont typeface="Arial" panose="020B0604020202020204" pitchFamily="34" charset="0"/>
              <a:buChar char="•"/>
            </a:pPr>
            <a:r>
              <a:rPr lang="vi-VN" b="1" dirty="0"/>
              <a:t>Coordinator và Router</a:t>
            </a:r>
            <a:r>
              <a:rPr lang="vi-VN" dirty="0"/>
              <a:t>: thường cấp nguồn cố định (nguồn điện lưới), vì chúng hoạt động liên tục để duy trì mạng.</a:t>
            </a:r>
          </a:p>
          <a:p>
            <a:pPr>
              <a:buFont typeface="Arial" panose="020B0604020202020204" pitchFamily="34" charset="0"/>
              <a:buChar char="•"/>
            </a:pPr>
            <a:r>
              <a:rPr lang="vi-VN" b="1" dirty="0"/>
              <a:t>End Device (thiết bị cuối)</a:t>
            </a:r>
            <a:r>
              <a:rPr lang="vi-VN" dirty="0"/>
              <a:t>: thường dùng </a:t>
            </a:r>
            <a:r>
              <a:rPr lang="vi-VN" b="1" dirty="0"/>
              <a:t>pin</a:t>
            </a:r>
            <a:r>
              <a:rPr lang="vi-VN" dirty="0"/>
              <a:t> → có cơ chế tiết kiệm năng lượng (ngủ – sleep mode, chỉ thức dậy khi cần truyền dữ liệu).</a:t>
            </a:r>
          </a:p>
          <a:p>
            <a:pPr>
              <a:buFont typeface="Arial" panose="020B0604020202020204" pitchFamily="34" charset="0"/>
              <a:buChar char="•"/>
            </a:pPr>
            <a:r>
              <a:rPr lang="vi-VN" dirty="0"/>
              <a:t>Điều này giúp ZigBee vừa có </a:t>
            </a:r>
            <a:r>
              <a:rPr lang="vi-VN" b="1" dirty="0"/>
              <a:t>node mạnh (nguồn cố định) để duy trì mạng</a:t>
            </a:r>
            <a:r>
              <a:rPr lang="vi-VN" dirty="0"/>
              <a:t>, vừa có </a:t>
            </a:r>
            <a:r>
              <a:rPr lang="vi-VN" b="1" dirty="0"/>
              <a:t>node tiết kiệm năng lượng</a:t>
            </a:r>
            <a:r>
              <a:rPr lang="vi-VN" dirty="0"/>
              <a:t> để triển khai linh hoạt.</a:t>
            </a:r>
          </a:p>
          <a:p>
            <a:r>
              <a:rPr lang="en-US" b="1" dirty="0"/>
              <a:t>📌 </a:t>
            </a:r>
            <a:r>
              <a:rPr lang="vi-VN" b="1" dirty="0"/>
              <a:t>Kết luận cho sinh viên</a:t>
            </a:r>
          </a:p>
          <a:p>
            <a:pPr>
              <a:buFont typeface="Arial" panose="020B0604020202020204" pitchFamily="34" charset="0"/>
              <a:buChar char="•"/>
            </a:pPr>
            <a:r>
              <a:rPr lang="vi-VN" dirty="0"/>
              <a:t>ZigBee được thiết kế để </a:t>
            </a:r>
            <a:r>
              <a:rPr lang="vi-VN" b="1" dirty="0"/>
              <a:t>đơn giản, tiết kiệm, linh hoạt và mở rộng tốt</a:t>
            </a:r>
            <a:r>
              <a:rPr lang="vi-VN" dirty="0"/>
              <a:t>.</a:t>
            </a:r>
          </a:p>
          <a:p>
            <a:pPr>
              <a:buFont typeface="Arial" panose="020B0604020202020204" pitchFamily="34" charset="0"/>
              <a:buChar char="•"/>
            </a:pPr>
            <a:r>
              <a:rPr lang="vi-VN" dirty="0"/>
              <a:t>Nhờ các đặc điểm như: </a:t>
            </a:r>
            <a:r>
              <a:rPr lang="vi-VN" b="1" dirty="0"/>
              <a:t>gán địa chỉ ngẫu nhiên, quản lý liên kết động, thay đổi tần số khi nhiễu, xử lý liên kết bất đối xứng, và quản lý năng lượng thông minh</a:t>
            </a:r>
            <a:r>
              <a:rPr lang="vi-VN" dirty="0"/>
              <a:t>, ZigBee trở thành một chuẩn </a:t>
            </a:r>
            <a:r>
              <a:rPr lang="vi-VN" b="1" dirty="0"/>
              <a:t>lý tưởng cho mạng cảm biến và IoT</a:t>
            </a:r>
            <a:r>
              <a:rPr lang="vi-VN" dirty="0"/>
              <a:t> với hàng ngàn thiết bị hoạt động lâu dài.</a:t>
            </a:r>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833874ed67_4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833874ed67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Phạm vi ngắn (Short Range)</a:t>
            </a:r>
          </a:p>
          <a:p>
            <a:pPr>
              <a:buFont typeface="Arial" panose="020B0604020202020204" pitchFamily="34" charset="0"/>
              <a:buChar char="•"/>
            </a:pPr>
            <a:r>
              <a:rPr lang="vi-VN" dirty="0"/>
              <a:t>ZigBee hoạt động trong phạm vi </a:t>
            </a:r>
            <a:r>
              <a:rPr lang="vi-VN" b="1" dirty="0"/>
              <a:t>10 – 100m</a:t>
            </a:r>
            <a:r>
              <a:rPr lang="vi-VN" dirty="0"/>
              <a:t> tùy môi trường.</a:t>
            </a:r>
          </a:p>
          <a:p>
            <a:pPr>
              <a:buFont typeface="Arial" panose="020B0604020202020204" pitchFamily="34" charset="0"/>
              <a:buChar char="•"/>
            </a:pPr>
            <a:r>
              <a:rPr lang="vi-VN" dirty="0"/>
              <a:t>Trong thực tế, vật cản (tường, cửa kim loại, nhiễu sóng) có thể làm phạm vi nhỏ hơn nhiều.</a:t>
            </a:r>
          </a:p>
          <a:p>
            <a:pPr>
              <a:buFont typeface="Arial" panose="020B0604020202020204" pitchFamily="34" charset="0"/>
              <a:buChar char="•"/>
            </a:pPr>
            <a:r>
              <a:rPr lang="vi-VN" dirty="0"/>
              <a:t>So với Wi-Fi hoặc LPWAN (LoRa, NB-IoT), phạm vi của ZigBee khá hạn chế.</a:t>
            </a:r>
            <a:br>
              <a:rPr lang="vi-VN" dirty="0"/>
            </a:br>
            <a:r>
              <a:rPr lang="en-US" dirty="0"/>
              <a:t>👉 </a:t>
            </a:r>
            <a:r>
              <a:rPr lang="vi-VN" dirty="0"/>
              <a:t>Vì vậy, ZigBee phù hợp hơn cho </a:t>
            </a:r>
            <a:r>
              <a:rPr lang="vi-VN" b="1" dirty="0"/>
              <a:t>ứng dụng trong nhà, văn phòng, hoặc khu vực nhỏ</a:t>
            </a:r>
            <a:r>
              <a:rPr lang="vi-VN" dirty="0"/>
              <a:t> thay vì phạm vi rộng như thành phố.</a:t>
            </a:r>
          </a:p>
          <a:p>
            <a:r>
              <a:rPr lang="vi-VN" b="1" dirty="0"/>
              <a:t>2. Tốc độ thấp (Low Data Rate)</a:t>
            </a:r>
          </a:p>
          <a:p>
            <a:pPr>
              <a:buFont typeface="Arial" panose="020B0604020202020204" pitchFamily="34" charset="0"/>
              <a:buChar char="•"/>
            </a:pPr>
            <a:r>
              <a:rPr lang="vi-VN" dirty="0"/>
              <a:t>Tốc độ truyền dữ liệu của ZigBee chỉ khoảng </a:t>
            </a:r>
            <a:r>
              <a:rPr lang="vi-VN" b="1" dirty="0"/>
              <a:t>20–250 kbps</a:t>
            </a:r>
            <a:r>
              <a:rPr lang="vi-VN" dirty="0"/>
              <a:t>, thấp hơn nhiều so với Wi-Fi (hàng trăm Mbps) hoặc Bluetooth Classic (~2 Mbps).</a:t>
            </a:r>
          </a:p>
          <a:p>
            <a:pPr>
              <a:buFont typeface="Arial" panose="020B0604020202020204" pitchFamily="34" charset="0"/>
              <a:buChar char="•"/>
            </a:pPr>
            <a:r>
              <a:rPr lang="vi-VN" dirty="0"/>
              <a:t>Điều này khiến ZigBee </a:t>
            </a:r>
            <a:r>
              <a:rPr lang="vi-VN" b="1" dirty="0"/>
              <a:t>không phù hợp</a:t>
            </a:r>
            <a:r>
              <a:rPr lang="vi-VN" dirty="0"/>
              <a:t> cho truyền dữ liệu dung lượng lớn (như hình ảnh, video).</a:t>
            </a:r>
          </a:p>
          <a:p>
            <a:pPr>
              <a:buFont typeface="Arial" panose="020B0604020202020204" pitchFamily="34" charset="0"/>
              <a:buChar char="•"/>
            </a:pPr>
            <a:r>
              <a:rPr lang="vi-VN" dirty="0"/>
              <a:t>Tuy nhiên, tốc độ thấp lại phù hợp cho IoT vì dữ liệu cảm biến thường nhỏ (chỉ vài byte).</a:t>
            </a:r>
          </a:p>
          <a:p>
            <a:r>
              <a:rPr lang="vi-VN" b="1" dirty="0"/>
              <a:t>3. Interoperability (Khả năng tương thích)</a:t>
            </a:r>
          </a:p>
          <a:p>
            <a:pPr>
              <a:buFont typeface="Arial" panose="020B0604020202020204" pitchFamily="34" charset="0"/>
              <a:buChar char="•"/>
            </a:pPr>
            <a:r>
              <a:rPr lang="vi-VN" dirty="0"/>
              <a:t>Dù ZigBee dựa trên chuẩn mở IEEE 802.15.4, nhưng các </a:t>
            </a:r>
            <a:r>
              <a:rPr lang="vi-VN" b="1" dirty="0"/>
              <a:t>nhà sản xuất đôi khi tùy biến riêng</a:t>
            </a:r>
            <a:r>
              <a:rPr lang="vi-VN" dirty="0"/>
              <a:t> (profile riêng, firmware khác nhau).</a:t>
            </a:r>
          </a:p>
          <a:p>
            <a:pPr>
              <a:buFont typeface="Arial" panose="020B0604020202020204" pitchFamily="34" charset="0"/>
              <a:buChar char="•"/>
            </a:pPr>
            <a:r>
              <a:rPr lang="vi-VN" dirty="0"/>
              <a:t>Hậu quả: thiết bị ZigBee của hãng này có thể </a:t>
            </a:r>
            <a:r>
              <a:rPr lang="vi-VN" b="1" dirty="0"/>
              <a:t>không hoạt động tốt</a:t>
            </a:r>
            <a:r>
              <a:rPr lang="vi-VN" dirty="0"/>
              <a:t> với thiết bị của hãng khác.</a:t>
            </a:r>
            <a:br>
              <a:rPr lang="vi-VN" dirty="0"/>
            </a:br>
            <a:r>
              <a:rPr lang="en-US" dirty="0"/>
              <a:t>👉 </a:t>
            </a:r>
            <a:r>
              <a:rPr lang="vi-VN" dirty="0"/>
              <a:t>Đây là một thách thức trong việc xây dựng </a:t>
            </a:r>
            <a:r>
              <a:rPr lang="vi-VN" b="1" dirty="0"/>
              <a:t>hệ sinh thái IoT đa hãng</a:t>
            </a:r>
            <a:r>
              <a:rPr lang="vi-VN" dirty="0"/>
              <a:t>.</a:t>
            </a:r>
          </a:p>
          <a:p>
            <a:r>
              <a:rPr lang="vi-VN" b="1" dirty="0"/>
              <a:t>4. Security (Bảo mật)</a:t>
            </a:r>
          </a:p>
          <a:p>
            <a:pPr>
              <a:buFont typeface="Arial" panose="020B0604020202020204" pitchFamily="34" charset="0"/>
              <a:buChar char="•"/>
            </a:pPr>
            <a:r>
              <a:rPr lang="vi-VN" dirty="0"/>
              <a:t>ZigBee có hỗ trợ </a:t>
            </a:r>
            <a:r>
              <a:rPr lang="vi-VN" b="1" dirty="0"/>
              <a:t>mã hóa AES-128</a:t>
            </a:r>
            <a:r>
              <a:rPr lang="vi-VN" dirty="0"/>
              <a:t>, nhưng:</a:t>
            </a:r>
          </a:p>
          <a:p>
            <a:pPr marL="742950" lvl="1" indent="-285750">
              <a:buFont typeface="Arial" panose="020B0604020202020204" pitchFamily="34" charset="0"/>
              <a:buChar char="•"/>
            </a:pPr>
            <a:r>
              <a:rPr lang="vi-VN" dirty="0"/>
              <a:t>Quá trình cài đặt/bắt cặp (pairing) có thể bị tấn công nếu không an toàn.</a:t>
            </a:r>
          </a:p>
          <a:p>
            <a:pPr marL="742950" lvl="1" indent="-285750">
              <a:buFont typeface="Arial" panose="020B0604020202020204" pitchFamily="34" charset="0"/>
              <a:buChar char="•"/>
            </a:pPr>
            <a:r>
              <a:rPr lang="vi-VN" dirty="0"/>
              <a:t>Một số thiết bị ZigBee giá rẻ </a:t>
            </a:r>
            <a:r>
              <a:rPr lang="vi-VN" b="1" dirty="0"/>
              <a:t>không thực hiện đầy đủ các cơ chế bảo mật</a:t>
            </a:r>
            <a:r>
              <a:rPr lang="vi-VN" dirty="0"/>
              <a:t>.</a:t>
            </a:r>
          </a:p>
          <a:p>
            <a:pPr marL="742950" lvl="1" indent="-285750">
              <a:buFont typeface="Arial" panose="020B0604020202020204" pitchFamily="34" charset="0"/>
              <a:buChar char="•"/>
            </a:pPr>
            <a:r>
              <a:rPr lang="vi-VN" dirty="0"/>
              <a:t>ZigBee Mesh có thể bị khai thác bởi tấn công “man-in-the-middle” hoặc “key sniffing”.</a:t>
            </a:r>
            <a:br>
              <a:rPr lang="vi-VN" dirty="0"/>
            </a:br>
            <a:r>
              <a:rPr lang="en-US" dirty="0"/>
              <a:t>👉 </a:t>
            </a:r>
            <a:r>
              <a:rPr lang="vi-VN" dirty="0"/>
              <a:t>Do đó, trong các ứng dụng </a:t>
            </a:r>
            <a:r>
              <a:rPr lang="vi-VN" b="1" dirty="0"/>
              <a:t>an ninh, y tế, hoặc công nghiệp</a:t>
            </a:r>
            <a:r>
              <a:rPr lang="vi-VN" dirty="0"/>
              <a:t>, ZigBee cần kết hợp với các lớp bảo mật bổ sung.</a:t>
            </a:r>
          </a:p>
          <a:p>
            <a:r>
              <a:rPr lang="en-US" b="1" dirty="0"/>
              <a:t>📌 </a:t>
            </a:r>
            <a:r>
              <a:rPr lang="vi-VN" b="1" dirty="0"/>
              <a:t>Kết luận cho sinh viên</a:t>
            </a:r>
          </a:p>
          <a:p>
            <a:r>
              <a:rPr lang="vi-VN" dirty="0"/>
              <a:t>ZigBee là công nghệ </a:t>
            </a:r>
            <a:r>
              <a:rPr lang="vi-VN" b="1" dirty="0"/>
              <a:t>rất hữu ích cho IoT tầm ngắn, nhiều thiết bị, tiết kiệm năng lượng</a:t>
            </a:r>
            <a:r>
              <a:rPr lang="vi-VN" dirty="0"/>
              <a:t>, nhưng cũng có </a:t>
            </a:r>
            <a:r>
              <a:rPr lang="vi-VN" b="1" dirty="0"/>
              <a:t>những hạn chế</a:t>
            </a:r>
            <a:r>
              <a:rPr lang="vi-VN" dirty="0"/>
              <a:t>:</a:t>
            </a:r>
          </a:p>
          <a:p>
            <a:pPr>
              <a:buFont typeface="Arial" panose="020B0604020202020204" pitchFamily="34" charset="0"/>
              <a:buChar char="•"/>
            </a:pPr>
            <a:r>
              <a:rPr lang="vi-VN" b="1" dirty="0"/>
              <a:t>Phạm vi ngắn</a:t>
            </a:r>
            <a:r>
              <a:rPr lang="vi-VN" dirty="0"/>
              <a:t> → chỉ phù hợp trong không gian nhỏ.</a:t>
            </a:r>
          </a:p>
          <a:p>
            <a:pPr>
              <a:buFont typeface="Arial" panose="020B0604020202020204" pitchFamily="34" charset="0"/>
              <a:buChar char="•"/>
            </a:pPr>
            <a:r>
              <a:rPr lang="vi-VN" b="1" dirty="0"/>
              <a:t>Tốc độ thấp</a:t>
            </a:r>
            <a:r>
              <a:rPr lang="vi-VN" dirty="0"/>
              <a:t> → chỉ truyền dữ liệu cảm biến, không dùng cho multimedia.</a:t>
            </a:r>
          </a:p>
          <a:p>
            <a:pPr>
              <a:buFont typeface="Arial" panose="020B0604020202020204" pitchFamily="34" charset="0"/>
              <a:buChar char="•"/>
            </a:pPr>
            <a:r>
              <a:rPr lang="vi-VN" b="1" dirty="0"/>
              <a:t>Khả năng tương thích còn hạn chế</a:t>
            </a:r>
            <a:r>
              <a:rPr lang="vi-VN" dirty="0"/>
              <a:t> → cần chú ý chọn thiết bị từ hệ sinh thái cùng chuẩn.</a:t>
            </a:r>
          </a:p>
          <a:p>
            <a:pPr>
              <a:buFont typeface="Arial" panose="020B0604020202020204" pitchFamily="34" charset="0"/>
              <a:buChar char="•"/>
            </a:pPr>
            <a:r>
              <a:rPr lang="vi-VN" b="1" dirty="0"/>
              <a:t>Bảo mật chưa tuyệt đối</a:t>
            </a:r>
            <a:r>
              <a:rPr lang="vi-VN" dirty="0"/>
              <a:t> → cần cấu hình đúng và bổ sung giải pháp bảo mật.</a:t>
            </a:r>
          </a:p>
          <a:p>
            <a:r>
              <a:rPr lang="en-US" dirty="0"/>
              <a:t>👉 </a:t>
            </a:r>
            <a:r>
              <a:rPr lang="vi-VN" dirty="0"/>
              <a:t>Đây là lý do ZigBee thường được dùng trong </a:t>
            </a:r>
            <a:r>
              <a:rPr lang="vi-VN" b="1" dirty="0"/>
              <a:t>smart home</a:t>
            </a:r>
            <a:r>
              <a:rPr lang="vi-VN" dirty="0"/>
              <a:t> và </a:t>
            </a:r>
            <a:r>
              <a:rPr lang="vi-VN" b="1" dirty="0"/>
              <a:t>mạng cảm biến nhỏ</a:t>
            </a:r>
            <a:r>
              <a:rPr lang="vi-VN" dirty="0"/>
              <a:t>, nhưng ít dùng cho ứng dụng </a:t>
            </a:r>
            <a:r>
              <a:rPr lang="vi-VN" b="1" dirty="0"/>
              <a:t>IoT diện rộng hoặc đòi hỏi dữ liệu lớn</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833874ed67_4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833874ed67_4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817411976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817411976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1. Nguồn gốc và tên gọi</a:t>
            </a:r>
          </a:p>
          <a:p>
            <a:pPr>
              <a:buFont typeface="Arial" panose="020B0604020202020204" pitchFamily="34" charset="0"/>
              <a:buChar char="•"/>
            </a:pPr>
            <a:r>
              <a:rPr lang="vi-VN" b="1" dirty="0"/>
              <a:t>Wi-Fi</a:t>
            </a:r>
            <a:r>
              <a:rPr lang="vi-VN" dirty="0"/>
              <a:t> là tên thương hiệu được cấp bởi </a:t>
            </a:r>
            <a:r>
              <a:rPr lang="vi-VN" b="1" dirty="0"/>
              <a:t>Wi-Fi Alliance</a:t>
            </a:r>
            <a:r>
              <a:rPr lang="vi-VN" dirty="0"/>
              <a:t> (trước đây gọi là Wireless Ethernet Compatibility Alliance).</a:t>
            </a:r>
          </a:p>
          <a:p>
            <a:pPr>
              <a:buFont typeface="Arial" panose="020B0604020202020204" pitchFamily="34" charset="0"/>
              <a:buChar char="•"/>
            </a:pPr>
            <a:r>
              <a:rPr lang="vi-VN" dirty="0"/>
              <a:t>Trên thực tế, Wi-Fi là một </a:t>
            </a:r>
            <a:r>
              <a:rPr lang="vi-VN" b="1" dirty="0"/>
              <a:t>thuật ngữ chung</a:t>
            </a:r>
            <a:r>
              <a:rPr lang="vi-VN" dirty="0"/>
              <a:t> để chỉ công nghệ </a:t>
            </a:r>
            <a:r>
              <a:rPr lang="vi-VN" b="1" dirty="0"/>
              <a:t>mạng cục bộ không dây (WLAN – Wireless Local Area Network)</a:t>
            </a:r>
            <a:r>
              <a:rPr lang="vi-VN" dirty="0"/>
              <a:t>.</a:t>
            </a:r>
          </a:p>
          <a:p>
            <a:pPr>
              <a:buFont typeface="Arial" panose="020B0604020202020204" pitchFamily="34" charset="0"/>
              <a:buChar char="•"/>
            </a:pPr>
            <a:r>
              <a:rPr lang="vi-VN" dirty="0"/>
              <a:t>Tức là Wi-Fi cho phép các thiết bị </a:t>
            </a:r>
            <a:r>
              <a:rPr lang="vi-VN" b="1" dirty="0"/>
              <a:t>kết nối mạng mà không cần dùng dây cáp</a:t>
            </a:r>
            <a:r>
              <a:rPr lang="vi-VN" dirty="0"/>
              <a:t> như Ethernet truyền thống.</a:t>
            </a:r>
          </a:p>
          <a:p>
            <a:r>
              <a:rPr lang="vi-VN" b="1" dirty="0"/>
              <a:t>2. Chuẩn kỹ thuật</a:t>
            </a:r>
          </a:p>
          <a:p>
            <a:pPr>
              <a:buFont typeface="Arial" panose="020B0604020202020204" pitchFamily="34" charset="0"/>
              <a:buChar char="•"/>
            </a:pPr>
            <a:r>
              <a:rPr lang="vi-VN" dirty="0"/>
              <a:t>Wi-Fi dựa trên chuẩn truyền thông không dây </a:t>
            </a:r>
            <a:r>
              <a:rPr lang="vi-VN" b="1" dirty="0"/>
              <a:t>IEEE 802.11</a:t>
            </a:r>
            <a:r>
              <a:rPr lang="vi-VN" dirty="0"/>
              <a:t>.</a:t>
            </a:r>
          </a:p>
          <a:p>
            <a:pPr>
              <a:buFont typeface="Arial" panose="020B0604020202020204" pitchFamily="34" charset="0"/>
              <a:buChar char="•"/>
            </a:pPr>
            <a:r>
              <a:rPr lang="vi-VN" dirty="0"/>
              <a:t>Đây là tập hợp các chuẩn (802.11a/b/g/n/ac/ax…) quy định:</a:t>
            </a:r>
          </a:p>
          <a:p>
            <a:pPr marL="742950" lvl="1" indent="-285750">
              <a:buFont typeface="Arial" panose="020B0604020202020204" pitchFamily="34" charset="0"/>
              <a:buChar char="•"/>
            </a:pPr>
            <a:r>
              <a:rPr lang="vi-VN" dirty="0"/>
              <a:t>Tần số hoạt động (2.4 GHz, 5 GHz, 6 GHz).</a:t>
            </a:r>
          </a:p>
          <a:p>
            <a:pPr marL="742950" lvl="1" indent="-285750">
              <a:buFont typeface="Arial" panose="020B0604020202020204" pitchFamily="34" charset="0"/>
              <a:buChar char="•"/>
            </a:pPr>
            <a:r>
              <a:rPr lang="vi-VN" dirty="0"/>
              <a:t>Phương pháp điều chế tín hiệu.</a:t>
            </a:r>
          </a:p>
          <a:p>
            <a:pPr marL="742950" lvl="1" indent="-285750">
              <a:buFont typeface="Arial" panose="020B0604020202020204" pitchFamily="34" charset="0"/>
              <a:buChar char="•"/>
            </a:pPr>
            <a:r>
              <a:rPr lang="vi-VN" dirty="0"/>
              <a:t>Tốc độ truyền dữ liệu (từ vài Mbps đến hàng Gbps).</a:t>
            </a:r>
          </a:p>
          <a:p>
            <a:r>
              <a:rPr lang="vi-VN" b="1" dirty="0"/>
              <a:t>3. Nguyên lý hoạt động</a:t>
            </a:r>
          </a:p>
          <a:p>
            <a:pPr>
              <a:buFont typeface="Arial" panose="020B0604020202020204" pitchFamily="34" charset="0"/>
              <a:buChar char="•"/>
            </a:pPr>
            <a:r>
              <a:rPr lang="vi-VN" dirty="0"/>
              <a:t>Wi-Fi hoạt động dựa trên </a:t>
            </a:r>
            <a:r>
              <a:rPr lang="vi-VN" b="1" dirty="0"/>
              <a:t>hai tầng thấp của mô hình OSI</a:t>
            </a:r>
            <a:r>
              <a:rPr lang="vi-VN" dirty="0"/>
              <a:t>:</a:t>
            </a:r>
          </a:p>
          <a:p>
            <a:pPr marL="742950" lvl="1" indent="-285750">
              <a:buFont typeface="Arial" panose="020B0604020202020204" pitchFamily="34" charset="0"/>
              <a:buChar char="•"/>
            </a:pPr>
            <a:r>
              <a:rPr lang="vi-VN" b="1" dirty="0"/>
              <a:t>Physical Layer (Tầng vật lý):</a:t>
            </a:r>
            <a:r>
              <a:rPr lang="vi-VN" dirty="0"/>
              <a:t> xử lý sóng radio để truyền dữ liệu qua không khí.</a:t>
            </a:r>
          </a:p>
          <a:p>
            <a:pPr marL="742950" lvl="1" indent="-285750">
              <a:buFont typeface="Arial" panose="020B0604020202020204" pitchFamily="34" charset="0"/>
              <a:buChar char="•"/>
            </a:pPr>
            <a:r>
              <a:rPr lang="vi-VN" b="1" dirty="0"/>
              <a:t>Data Link Layer (Tầng liên kết dữ liệu):</a:t>
            </a:r>
            <a:r>
              <a:rPr lang="vi-VN" dirty="0"/>
              <a:t> chia dữ liệu thành các khung (frames), quản lý truy cập môi trường truyền (CSMA/CA), và đảm bảo truyền tin không va chạm.</a:t>
            </a:r>
          </a:p>
          <a:p>
            <a:pPr>
              <a:buFont typeface="Arial" panose="020B0604020202020204" pitchFamily="34" charset="0"/>
              <a:buChar char="•"/>
            </a:pPr>
            <a:r>
              <a:rPr lang="vi-VN" dirty="0"/>
              <a:t>Các thiết bị Wi-Fi kết nối với nhau thông qua </a:t>
            </a:r>
            <a:r>
              <a:rPr lang="vi-VN" b="1" dirty="0"/>
              <a:t>Access Point (AP)</a:t>
            </a:r>
            <a:r>
              <a:rPr lang="vi-VN" dirty="0"/>
              <a:t> hoặc có thể kết nối trực tiếp </a:t>
            </a:r>
            <a:r>
              <a:rPr lang="vi-VN" b="1" dirty="0"/>
              <a:t>(Ad-hoc mode)</a:t>
            </a:r>
            <a:r>
              <a:rPr lang="vi-VN" dirty="0"/>
              <a:t>.</a:t>
            </a:r>
          </a:p>
          <a:p>
            <a:r>
              <a:rPr lang="vi-VN" b="1" dirty="0"/>
              <a:t>4. Đặc trưng quan trọng</a:t>
            </a:r>
          </a:p>
          <a:p>
            <a:pPr>
              <a:buFont typeface="Arial" panose="020B0604020202020204" pitchFamily="34" charset="0"/>
              <a:buChar char="•"/>
            </a:pPr>
            <a:r>
              <a:rPr lang="vi-VN" b="1" dirty="0"/>
              <a:t>Không dây:</a:t>
            </a:r>
            <a:r>
              <a:rPr lang="vi-VN" dirty="0"/>
              <a:t> loại bỏ nhu cầu đi dây phức tạp.</a:t>
            </a:r>
          </a:p>
          <a:p>
            <a:pPr>
              <a:buFont typeface="Arial" panose="020B0604020202020204" pitchFamily="34" charset="0"/>
              <a:buChar char="•"/>
            </a:pPr>
            <a:r>
              <a:rPr lang="vi-VN" b="1" dirty="0"/>
              <a:t>Cự ly trung bình:</a:t>
            </a:r>
            <a:r>
              <a:rPr lang="vi-VN" dirty="0"/>
              <a:t> thường từ vài chục mét (indoor) đến hơn 100m (outdoor).</a:t>
            </a:r>
          </a:p>
          <a:p>
            <a:pPr>
              <a:buFont typeface="Arial" panose="020B0604020202020204" pitchFamily="34" charset="0"/>
              <a:buChar char="•"/>
            </a:pPr>
            <a:r>
              <a:rPr lang="vi-VN" b="1" dirty="0"/>
              <a:t>Tốc độ cao:</a:t>
            </a:r>
            <a:r>
              <a:rPr lang="vi-VN" dirty="0"/>
              <a:t> Wi-Fi hiện đại (802.11ac/ax) đạt tốc độ hàng Gbps, cao hơn nhiều so với ZigBee hay BLE.</a:t>
            </a:r>
          </a:p>
          <a:p>
            <a:pPr>
              <a:buFont typeface="Arial" panose="020B0604020202020204" pitchFamily="34" charset="0"/>
              <a:buChar char="•"/>
            </a:pPr>
            <a:r>
              <a:rPr lang="vi-VN" b="1" dirty="0"/>
              <a:t>Phổ biến:</a:t>
            </a:r>
            <a:r>
              <a:rPr lang="vi-VN" dirty="0"/>
              <a:t> hầu hết thiết bị thông minh (laptop, smartphone, IoT gateway) đều hỗ trợ.</a:t>
            </a:r>
          </a:p>
          <a:p>
            <a:r>
              <a:rPr lang="vi-VN" b="1" dirty="0"/>
              <a:t>5. Ứng dụng trong IoT</a:t>
            </a:r>
          </a:p>
          <a:p>
            <a:pPr>
              <a:buFont typeface="Arial" panose="020B0604020202020204" pitchFamily="34" charset="0"/>
              <a:buChar char="•"/>
            </a:pPr>
            <a:r>
              <a:rPr lang="vi-VN" dirty="0"/>
              <a:t>Wi-Fi thường được dùng cho </a:t>
            </a:r>
            <a:r>
              <a:rPr lang="vi-VN" b="1" dirty="0"/>
              <a:t>thiết bị IoT cần truyền dữ liệu nhiều hơn</a:t>
            </a:r>
            <a:r>
              <a:rPr lang="vi-VN" dirty="0"/>
              <a:t> (camera giám sát, loa thông minh, smart TV).</a:t>
            </a:r>
          </a:p>
          <a:p>
            <a:pPr>
              <a:buFont typeface="Arial" panose="020B0604020202020204" pitchFamily="34" charset="0"/>
              <a:buChar char="•"/>
            </a:pPr>
            <a:r>
              <a:rPr lang="vi-VN" dirty="0"/>
              <a:t>Nhược điểm: </a:t>
            </a:r>
            <a:r>
              <a:rPr lang="vi-VN" b="1" dirty="0"/>
              <a:t>tiêu thụ điện năng cao hơn</a:t>
            </a:r>
            <a:r>
              <a:rPr lang="vi-VN" dirty="0"/>
              <a:t>, do đó không phù hợp với cảm biến chạy pin nhỏ.</a:t>
            </a:r>
          </a:p>
          <a:p>
            <a:pPr>
              <a:buFont typeface="Arial" panose="020B0604020202020204" pitchFamily="34" charset="0"/>
              <a:buChar char="•"/>
            </a:pPr>
            <a:r>
              <a:rPr lang="vi-VN" dirty="0"/>
              <a:t>Trong IoT, Wi-Fi thường đóng vai trò </a:t>
            </a:r>
            <a:r>
              <a:rPr lang="vi-VN" b="1" dirty="0"/>
              <a:t>gateway trung tâm</a:t>
            </a:r>
            <a:r>
              <a:rPr lang="vi-VN" dirty="0"/>
              <a:t>, kết nối cảm biến tầm ngắn (ZigBee, BLE) ra Internet.</a:t>
            </a:r>
          </a:p>
          <a:p>
            <a:r>
              <a:rPr lang="en-US" b="1" dirty="0"/>
              <a:t>📌 </a:t>
            </a:r>
            <a:r>
              <a:rPr lang="vi-VN" b="1" dirty="0"/>
              <a:t>Kết luận cho sinh viên</a:t>
            </a:r>
          </a:p>
          <a:p>
            <a:pPr>
              <a:buFont typeface="Arial" panose="020B0604020202020204" pitchFamily="34" charset="0"/>
              <a:buChar char="•"/>
            </a:pPr>
            <a:r>
              <a:rPr lang="vi-VN" dirty="0"/>
              <a:t>Wi-Fi là công nghệ </a:t>
            </a:r>
            <a:r>
              <a:rPr lang="vi-VN" b="1" dirty="0"/>
              <a:t>mạng cục bộ không dây</a:t>
            </a:r>
            <a:r>
              <a:rPr lang="vi-VN" dirty="0"/>
              <a:t>, chuẩn hóa bởi IEEE 802.11, được thiết kế để thay thế Ethernet có dây.</a:t>
            </a:r>
          </a:p>
          <a:p>
            <a:pPr>
              <a:buFont typeface="Arial" panose="020B0604020202020204" pitchFamily="34" charset="0"/>
              <a:buChar char="•"/>
            </a:pPr>
            <a:r>
              <a:rPr lang="vi-VN" dirty="0"/>
              <a:t>Ưu điểm: tốc độ cao, phổ biến, dễ triển khai.</a:t>
            </a:r>
          </a:p>
          <a:p>
            <a:pPr>
              <a:buFont typeface="Arial" panose="020B0604020202020204" pitchFamily="34" charset="0"/>
              <a:buChar char="•"/>
            </a:pPr>
            <a:r>
              <a:rPr lang="vi-VN" dirty="0"/>
              <a:t>Hạn chế: tiêu thụ điện nhiều, phạm vi hạn chế hơn LPWAN.</a:t>
            </a:r>
            <a:br>
              <a:rPr lang="vi-VN" dirty="0"/>
            </a:br>
            <a:r>
              <a:rPr lang="en-US" dirty="0"/>
              <a:t>👉 </a:t>
            </a:r>
            <a:r>
              <a:rPr lang="vi-VN" dirty="0"/>
              <a:t>Trong IoT, Wi-Fi phù hợp cho các ứng dụng </a:t>
            </a:r>
            <a:r>
              <a:rPr lang="vi-VN" b="1" dirty="0"/>
              <a:t>yêu cầu băng thông lớn</a:t>
            </a:r>
            <a:r>
              <a:rPr lang="vi-VN" dirty="0"/>
              <a:t>, nhưng chưa tối ưu cho </a:t>
            </a:r>
            <a:r>
              <a:rPr lang="vi-VN" b="1" dirty="0"/>
              <a:t>thiết bị siêu tiết kiệm năng lượng</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833874ed67_4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833874ed67_4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dirty="0"/>
              <a:t>Bảng trong hình đính kèm mô tả sự phát triển của các chuẩn </a:t>
            </a:r>
            <a:r>
              <a:rPr lang="vi-VN" b="1" dirty="0"/>
              <a:t>Wi-Fi (IEEE 802.11)</a:t>
            </a:r>
            <a:r>
              <a:rPr lang="vi-VN" dirty="0"/>
              <a:t> qua từng giai đoạn. Ta có thể giải thích theo từng cột như sau:</a:t>
            </a:r>
          </a:p>
          <a:p>
            <a:r>
              <a:rPr lang="vi-VN" b="1" dirty="0"/>
              <a:t>1. Wi-Fi-1 (802.11b) – 1999</a:t>
            </a:r>
          </a:p>
          <a:p>
            <a:pPr>
              <a:buFont typeface="Arial" panose="020B0604020202020204" pitchFamily="34" charset="0"/>
              <a:buChar char="•"/>
            </a:pPr>
            <a:r>
              <a:rPr lang="vi-VN" dirty="0"/>
              <a:t>Hoạt động ở băng tần </a:t>
            </a:r>
            <a:r>
              <a:rPr lang="vi-VN" b="1" dirty="0"/>
              <a:t>2.4 GHz</a:t>
            </a:r>
            <a:r>
              <a:rPr lang="vi-VN" dirty="0"/>
              <a:t>.</a:t>
            </a:r>
          </a:p>
          <a:p>
            <a:pPr>
              <a:buFont typeface="Arial" panose="020B0604020202020204" pitchFamily="34" charset="0"/>
              <a:buChar char="•"/>
            </a:pPr>
            <a:r>
              <a:rPr lang="vi-VN" dirty="0"/>
              <a:t>Tốc độ từ </a:t>
            </a:r>
            <a:r>
              <a:rPr lang="vi-VN" b="1" dirty="0"/>
              <a:t>2 Mb/s đến 11 Mb/s</a:t>
            </a:r>
            <a:r>
              <a:rPr lang="vi-VN" dirty="0"/>
              <a:t>.</a:t>
            </a:r>
          </a:p>
          <a:p>
            <a:pPr>
              <a:buFont typeface="Arial" panose="020B0604020202020204" pitchFamily="34" charset="0"/>
              <a:buChar char="•"/>
            </a:pPr>
            <a:r>
              <a:rPr lang="vi-VN" dirty="0"/>
              <a:t>Đây là chuẩn phổ biến đầu tiên, tốc độ còn khá thấp.</a:t>
            </a:r>
          </a:p>
          <a:p>
            <a:r>
              <a:rPr lang="vi-VN" b="1" dirty="0"/>
              <a:t>2. Wi-Fi-2 (802.11a) – 1999</a:t>
            </a:r>
          </a:p>
          <a:p>
            <a:pPr>
              <a:buFont typeface="Arial" panose="020B0604020202020204" pitchFamily="34" charset="0"/>
              <a:buChar char="•"/>
            </a:pPr>
            <a:r>
              <a:rPr lang="vi-VN" dirty="0"/>
              <a:t>Ra mắt chỉ sau 802.11b một tháng.</a:t>
            </a:r>
          </a:p>
          <a:p>
            <a:pPr>
              <a:buFont typeface="Arial" panose="020B0604020202020204" pitchFamily="34" charset="0"/>
              <a:buChar char="•"/>
            </a:pPr>
            <a:r>
              <a:rPr lang="vi-VN" dirty="0"/>
              <a:t>Hoạt động ở băng tần </a:t>
            </a:r>
            <a:r>
              <a:rPr lang="vi-VN" b="1" dirty="0"/>
              <a:t>5 GHz</a:t>
            </a:r>
            <a:r>
              <a:rPr lang="vi-VN" dirty="0"/>
              <a:t>.</a:t>
            </a:r>
          </a:p>
          <a:p>
            <a:pPr>
              <a:buFont typeface="Arial" panose="020B0604020202020204" pitchFamily="34" charset="0"/>
              <a:buChar char="•"/>
            </a:pPr>
            <a:r>
              <a:rPr lang="vi-VN" dirty="0"/>
              <a:t>Hỗ trợ tốc độ cao hơn, </a:t>
            </a:r>
            <a:r>
              <a:rPr lang="vi-VN" b="1" dirty="0"/>
              <a:t>lên đến 54 Mb/s</a:t>
            </a:r>
            <a:r>
              <a:rPr lang="vi-VN" dirty="0"/>
              <a:t>.</a:t>
            </a:r>
          </a:p>
          <a:p>
            <a:pPr>
              <a:buFont typeface="Arial" panose="020B0604020202020204" pitchFamily="34" charset="0"/>
              <a:buChar char="•"/>
            </a:pPr>
            <a:r>
              <a:rPr lang="vi-VN" dirty="0"/>
              <a:t>Ưu điểm: ít nhiễu hơn băng 2.4 GHz nhưng phạm vi ngắn hơn.</a:t>
            </a:r>
          </a:p>
          <a:p>
            <a:r>
              <a:rPr lang="vi-VN" b="1" dirty="0"/>
              <a:t>3. Wi-Fi-3 (802.11g) – 2003</a:t>
            </a:r>
          </a:p>
          <a:p>
            <a:pPr>
              <a:buFont typeface="Arial" panose="020B0604020202020204" pitchFamily="34" charset="0"/>
              <a:buChar char="•"/>
            </a:pPr>
            <a:r>
              <a:rPr lang="vi-VN" dirty="0"/>
              <a:t>Kết hợp ưu điểm của 802.11a và b.</a:t>
            </a:r>
          </a:p>
          <a:p>
            <a:pPr>
              <a:buFont typeface="Arial" panose="020B0604020202020204" pitchFamily="34" charset="0"/>
              <a:buChar char="•"/>
            </a:pPr>
            <a:r>
              <a:rPr lang="vi-VN" dirty="0"/>
              <a:t>Dùng băng </a:t>
            </a:r>
            <a:r>
              <a:rPr lang="vi-VN" b="1" dirty="0"/>
              <a:t>2.4 GHz</a:t>
            </a:r>
            <a:r>
              <a:rPr lang="vi-VN" dirty="0"/>
              <a:t>, tốc độ tăng lên </a:t>
            </a:r>
            <a:r>
              <a:rPr lang="vi-VN" b="1" dirty="0"/>
              <a:t>54–108 Mb/s</a:t>
            </a:r>
            <a:r>
              <a:rPr lang="vi-VN" dirty="0"/>
              <a:t>.</a:t>
            </a:r>
          </a:p>
          <a:p>
            <a:pPr>
              <a:buFont typeface="Arial" panose="020B0604020202020204" pitchFamily="34" charset="0"/>
              <a:buChar char="•"/>
            </a:pPr>
            <a:r>
              <a:rPr lang="vi-VN" dirty="0"/>
              <a:t>Phạm vi rộng như 802.11b nhưng tốc độ cao như 802.11a.</a:t>
            </a:r>
          </a:p>
          <a:p>
            <a:r>
              <a:rPr lang="vi-VN" b="1" dirty="0"/>
              <a:t>4. 802.11i – 2004</a:t>
            </a:r>
          </a:p>
          <a:p>
            <a:pPr>
              <a:buFont typeface="Arial" panose="020B0604020202020204" pitchFamily="34" charset="0"/>
              <a:buChar char="•"/>
            </a:pPr>
            <a:r>
              <a:rPr lang="vi-VN" dirty="0"/>
              <a:t>Không tăng tốc độ, chủ yếu cải thiện </a:t>
            </a:r>
            <a:r>
              <a:rPr lang="vi-VN" b="1" dirty="0"/>
              <a:t>bảo mật</a:t>
            </a:r>
            <a:r>
              <a:rPr lang="vi-VN" dirty="0"/>
              <a:t> (WPA2).</a:t>
            </a:r>
          </a:p>
          <a:p>
            <a:pPr>
              <a:buFont typeface="Arial" panose="020B0604020202020204" pitchFamily="34" charset="0"/>
              <a:buChar char="•"/>
            </a:pPr>
            <a:r>
              <a:rPr lang="vi-VN" dirty="0"/>
              <a:t>Dựa trên 802.11g nhưng an toàn hơn.</a:t>
            </a:r>
          </a:p>
          <a:p>
            <a:r>
              <a:rPr lang="vi-VN" b="1" dirty="0"/>
              <a:t>5. 802.11e – 2004</a:t>
            </a:r>
          </a:p>
          <a:p>
            <a:pPr>
              <a:buFont typeface="Arial" panose="020B0604020202020204" pitchFamily="34" charset="0"/>
              <a:buChar char="•"/>
            </a:pPr>
            <a:r>
              <a:rPr lang="vi-VN" dirty="0"/>
              <a:t>Cũng dựa trên 802.11g.</a:t>
            </a:r>
          </a:p>
          <a:p>
            <a:pPr>
              <a:buFont typeface="Arial" panose="020B0604020202020204" pitchFamily="34" charset="0"/>
              <a:buChar char="•"/>
            </a:pPr>
            <a:r>
              <a:rPr lang="vi-VN" dirty="0"/>
              <a:t>Thêm tính năng </a:t>
            </a:r>
            <a:r>
              <a:rPr lang="vi-VN" b="1" dirty="0"/>
              <a:t>VoWLAN (Voice over Wireless LAN)</a:t>
            </a:r>
            <a:r>
              <a:rPr lang="vi-VN" dirty="0"/>
              <a:t> và hỗ trợ </a:t>
            </a:r>
            <a:r>
              <a:rPr lang="vi-VN" b="1" dirty="0"/>
              <a:t>streaming đa phương tiện</a:t>
            </a:r>
            <a:r>
              <a:rPr lang="vi-VN" dirty="0"/>
              <a:t>.</a:t>
            </a:r>
          </a:p>
          <a:p>
            <a:pPr>
              <a:buFont typeface="Arial" panose="020B0604020202020204" pitchFamily="34" charset="0"/>
              <a:buChar char="•"/>
            </a:pPr>
            <a:r>
              <a:rPr lang="vi-VN" dirty="0"/>
              <a:t>Tập trung vào chất lượng dịch vụ (QoS).</a:t>
            </a:r>
          </a:p>
          <a:p>
            <a:r>
              <a:rPr lang="vi-VN" b="1" dirty="0"/>
              <a:t>6. Wi-Fi-4 (802.11n) – 2009</a:t>
            </a:r>
          </a:p>
          <a:p>
            <a:pPr>
              <a:buFont typeface="Arial" panose="020B0604020202020204" pitchFamily="34" charset="0"/>
              <a:buChar char="•"/>
            </a:pPr>
            <a:r>
              <a:rPr lang="vi-VN" dirty="0"/>
              <a:t>Hoạt động trên cả </a:t>
            </a:r>
            <a:r>
              <a:rPr lang="vi-VN" b="1" dirty="0"/>
              <a:t>2.4 GHz và 5 GHz</a:t>
            </a:r>
            <a:r>
              <a:rPr lang="vi-VN" dirty="0"/>
              <a:t>.</a:t>
            </a:r>
          </a:p>
          <a:p>
            <a:pPr>
              <a:buFont typeface="Arial" panose="020B0604020202020204" pitchFamily="34" charset="0"/>
              <a:buChar char="•"/>
            </a:pPr>
            <a:r>
              <a:rPr lang="vi-VN" dirty="0"/>
              <a:t>Hỗ trợ kỹ thuật </a:t>
            </a:r>
            <a:r>
              <a:rPr lang="vi-VN" b="1" dirty="0"/>
              <a:t>MIMO (Multiple-Input Multiple-Output)</a:t>
            </a:r>
            <a:r>
              <a:rPr lang="vi-VN" dirty="0"/>
              <a:t>.</a:t>
            </a:r>
          </a:p>
          <a:p>
            <a:pPr>
              <a:buFont typeface="Arial" panose="020B0604020202020204" pitchFamily="34" charset="0"/>
              <a:buChar char="•"/>
            </a:pPr>
            <a:r>
              <a:rPr lang="vi-VN" dirty="0"/>
              <a:t>Tốc độ lên tới </a:t>
            </a:r>
            <a:r>
              <a:rPr lang="vi-VN" b="1" dirty="0"/>
              <a:t>72 – 600 Mb/s</a:t>
            </a:r>
            <a:r>
              <a:rPr lang="vi-VN" dirty="0"/>
              <a:t>, cải thiện đáng kể so với chuẩn cũ.</a:t>
            </a:r>
          </a:p>
          <a:p>
            <a:r>
              <a:rPr lang="vi-VN" b="1" dirty="0"/>
              <a:t>7. Wi-Fi-5 (802.11ac) – 2014</a:t>
            </a:r>
          </a:p>
          <a:p>
            <a:pPr>
              <a:buFont typeface="Arial" panose="020B0604020202020204" pitchFamily="34" charset="0"/>
              <a:buChar char="•"/>
            </a:pPr>
            <a:r>
              <a:rPr lang="vi-VN" dirty="0"/>
              <a:t>Chỉ hoạt động ở băng </a:t>
            </a:r>
            <a:r>
              <a:rPr lang="vi-VN" b="1" dirty="0"/>
              <a:t>5 GHz</a:t>
            </a:r>
            <a:r>
              <a:rPr lang="vi-VN" dirty="0"/>
              <a:t>.</a:t>
            </a:r>
          </a:p>
          <a:p>
            <a:pPr>
              <a:buFont typeface="Arial" panose="020B0604020202020204" pitchFamily="34" charset="0"/>
              <a:buChar char="•"/>
            </a:pPr>
            <a:r>
              <a:rPr lang="vi-VN" dirty="0"/>
              <a:t>Tốc độ tối đa </a:t>
            </a:r>
            <a:r>
              <a:rPr lang="vi-VN" b="1" dirty="0"/>
              <a:t>1733 Mb/s (≈1.7 Gb/s)</a:t>
            </a:r>
            <a:r>
              <a:rPr lang="vi-VN" dirty="0"/>
              <a:t>.</a:t>
            </a:r>
          </a:p>
          <a:p>
            <a:pPr>
              <a:buFont typeface="Arial" panose="020B0604020202020204" pitchFamily="34" charset="0"/>
              <a:buChar char="•"/>
            </a:pPr>
            <a:r>
              <a:rPr lang="vi-VN" dirty="0"/>
              <a:t>Tối ưu cho video HD, game online, và băng thông cao.</a:t>
            </a:r>
          </a:p>
          <a:p>
            <a:r>
              <a:rPr lang="en-US" dirty="0"/>
              <a:t>👉 </a:t>
            </a:r>
            <a:r>
              <a:rPr lang="vi-VN" b="1" dirty="0"/>
              <a:t>Kết luận:</a:t>
            </a:r>
            <a:br>
              <a:rPr lang="vi-VN" dirty="0"/>
            </a:br>
            <a:r>
              <a:rPr lang="vi-VN" dirty="0"/>
              <a:t>Qua bảng, có thể thấy Wi-Fi phát triển theo hướng:</a:t>
            </a:r>
          </a:p>
          <a:p>
            <a:pPr>
              <a:buFont typeface="Arial" panose="020B0604020202020204" pitchFamily="34" charset="0"/>
              <a:buChar char="•"/>
            </a:pPr>
            <a:r>
              <a:rPr lang="vi-VN" b="1" dirty="0"/>
              <a:t>Tăng tốc độ</a:t>
            </a:r>
            <a:r>
              <a:rPr lang="vi-VN" dirty="0"/>
              <a:t> (từ 2 Mb/s → 1.7 Gb/s).</a:t>
            </a:r>
          </a:p>
          <a:p>
            <a:pPr>
              <a:buFont typeface="Arial" panose="020B0604020202020204" pitchFamily="34" charset="0"/>
              <a:buChar char="•"/>
            </a:pPr>
            <a:r>
              <a:rPr lang="vi-VN" b="1" dirty="0"/>
              <a:t>Mở rộng băng tần</a:t>
            </a:r>
            <a:r>
              <a:rPr lang="vi-VN" dirty="0"/>
              <a:t> (2.4 GHz → 5 GHz, rồi hỗ trợ cả hai).</a:t>
            </a:r>
          </a:p>
          <a:p>
            <a:pPr>
              <a:buFont typeface="Arial" panose="020B0604020202020204" pitchFamily="34" charset="0"/>
              <a:buChar char="•"/>
            </a:pPr>
            <a:r>
              <a:rPr lang="vi-VN" b="1" dirty="0"/>
              <a:t>Bổ sung tính năng</a:t>
            </a:r>
            <a:r>
              <a:rPr lang="vi-VN" dirty="0"/>
              <a:t> (QoS, VoIP, multimedia, bảo mật WPA2).</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833874ed67_4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833874ed67_4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dirty="0"/>
              <a:t>Hình trong slide minh họa kiến trúc hoạt động cơ bản của </a:t>
            </a:r>
            <a:r>
              <a:rPr lang="vi-VN" b="1" dirty="0"/>
              <a:t>Wifi</a:t>
            </a:r>
            <a:r>
              <a:rPr lang="vi-VN" dirty="0"/>
              <a:t>. Ta có thể giải thích như sau:</a:t>
            </a:r>
          </a:p>
          <a:p>
            <a:r>
              <a:rPr lang="vi-VN" b="1" dirty="0"/>
              <a:t>1. Base Station Network / Ethernet Connection</a:t>
            </a:r>
          </a:p>
          <a:p>
            <a:pPr>
              <a:buFont typeface="Arial" panose="020B0604020202020204" pitchFamily="34" charset="0"/>
              <a:buChar char="•"/>
            </a:pPr>
            <a:r>
              <a:rPr lang="vi-VN" dirty="0"/>
              <a:t>Đây là nguồn mạng chính (thường là đường truyền Internet qua cáp quang hoặc Ethernet).</a:t>
            </a:r>
          </a:p>
          <a:p>
            <a:pPr>
              <a:buFont typeface="Arial" panose="020B0604020202020204" pitchFamily="34" charset="0"/>
              <a:buChar char="•"/>
            </a:pPr>
            <a:r>
              <a:rPr lang="vi-VN" dirty="0"/>
              <a:t>Base Station (trạm gốc) kết nối với </a:t>
            </a:r>
            <a:r>
              <a:rPr lang="vi-VN" b="1" dirty="0"/>
              <a:t>Router hoặc Access Point</a:t>
            </a:r>
            <a:r>
              <a:rPr lang="vi-VN" dirty="0"/>
              <a:t> bằng dây (wired connection).</a:t>
            </a:r>
          </a:p>
          <a:p>
            <a:pPr>
              <a:buFont typeface="Arial" panose="020B0604020202020204" pitchFamily="34" charset="0"/>
              <a:buChar char="•"/>
            </a:pPr>
            <a:r>
              <a:rPr lang="vi-VN" dirty="0"/>
              <a:t>Nó đóng vai trò cung cấp tín hiệu Internet ban đầu cho toàn hệ thống.</a:t>
            </a:r>
          </a:p>
          <a:p>
            <a:r>
              <a:rPr lang="vi-VN" b="1" dirty="0"/>
              <a:t>2. Wifi Access Point hoặc Router</a:t>
            </a:r>
          </a:p>
          <a:p>
            <a:pPr>
              <a:buFont typeface="Arial" panose="020B0604020202020204" pitchFamily="34" charset="0"/>
              <a:buChar char="•"/>
            </a:pPr>
            <a:r>
              <a:rPr lang="vi-VN" dirty="0"/>
              <a:t>Router/Access Point là thiết bị trung gian, nhận kết nối có dây từ </a:t>
            </a:r>
            <a:r>
              <a:rPr lang="vi-VN" b="1" dirty="0"/>
              <a:t>Base Station</a:t>
            </a:r>
            <a:r>
              <a:rPr lang="vi-VN" dirty="0"/>
              <a:t> rồi phát sóng </a:t>
            </a:r>
            <a:r>
              <a:rPr lang="vi-VN" b="1" dirty="0"/>
              <a:t>Wifi</a:t>
            </a:r>
            <a:r>
              <a:rPr lang="vi-VN" dirty="0"/>
              <a:t> ra không gian.</a:t>
            </a:r>
          </a:p>
          <a:p>
            <a:pPr>
              <a:buFont typeface="Arial" panose="020B0604020202020204" pitchFamily="34" charset="0"/>
              <a:buChar char="•"/>
            </a:pPr>
            <a:r>
              <a:rPr lang="vi-VN" dirty="0"/>
              <a:t>Các thiết bị đầu cuối có thể kết nối không dây vào Router để truy cập Internet.</a:t>
            </a:r>
          </a:p>
          <a:p>
            <a:pPr>
              <a:buFont typeface="Arial" panose="020B0604020202020204" pitchFamily="34" charset="0"/>
              <a:buChar char="•"/>
            </a:pPr>
            <a:r>
              <a:rPr lang="vi-VN" dirty="0"/>
              <a:t>Router có thể quản lý địa chỉ IP, chia sẻ băng thông, bảo mật mạng.</a:t>
            </a:r>
          </a:p>
          <a:p>
            <a:r>
              <a:rPr lang="vi-VN" b="1" dirty="0"/>
              <a:t>3. End Devices (Thiết bị đầu cuối)</a:t>
            </a:r>
          </a:p>
          <a:p>
            <a:pPr>
              <a:buFont typeface="Arial" panose="020B0604020202020204" pitchFamily="34" charset="0"/>
              <a:buChar char="•"/>
            </a:pPr>
            <a:r>
              <a:rPr lang="vi-VN" dirty="0"/>
              <a:t>Bao gồm laptop, smartphone, máy tính bảng… có khả năng bắt sóng Wifi.</a:t>
            </a:r>
          </a:p>
          <a:p>
            <a:pPr>
              <a:buFont typeface="Arial" panose="020B0604020202020204" pitchFamily="34" charset="0"/>
              <a:buChar char="•"/>
            </a:pPr>
            <a:r>
              <a:rPr lang="vi-VN" dirty="0"/>
              <a:t>Các thiết bị này kết nối trực tiếp đến Router hoặc Access Point để sử dụng Internet.</a:t>
            </a:r>
          </a:p>
          <a:p>
            <a:pPr>
              <a:buFont typeface="Arial" panose="020B0604020202020204" pitchFamily="34" charset="0"/>
              <a:buChar char="•"/>
            </a:pPr>
            <a:r>
              <a:rPr lang="vi-VN" dirty="0"/>
              <a:t>Có thể giao tiếp với nhau qua cùng một mạng Wifi.</a:t>
            </a:r>
          </a:p>
          <a:p>
            <a:r>
              <a:rPr lang="en-US" dirty="0"/>
              <a:t>👉 </a:t>
            </a:r>
            <a:r>
              <a:rPr lang="vi-VN" dirty="0"/>
              <a:t>Tóm lại:</a:t>
            </a:r>
            <a:br>
              <a:rPr lang="vi-VN" dirty="0"/>
            </a:br>
            <a:r>
              <a:rPr lang="vi-VN" dirty="0"/>
              <a:t>Dòng Internet từ </a:t>
            </a:r>
            <a:r>
              <a:rPr lang="vi-VN" b="1" dirty="0"/>
              <a:t>Base Station</a:t>
            </a:r>
            <a:r>
              <a:rPr lang="vi-VN" dirty="0"/>
              <a:t> đi qua </a:t>
            </a:r>
            <a:r>
              <a:rPr lang="vi-VN" b="1" dirty="0"/>
              <a:t>kết nối có dây</a:t>
            </a:r>
            <a:r>
              <a:rPr lang="vi-VN" dirty="0"/>
              <a:t> đến </a:t>
            </a:r>
            <a:r>
              <a:rPr lang="vi-VN" b="1" dirty="0"/>
              <a:t>Router</a:t>
            </a:r>
            <a:r>
              <a:rPr lang="vi-VN" dirty="0"/>
              <a:t>, từ đó được phát Wifi cho </a:t>
            </a:r>
            <a:r>
              <a:rPr lang="vi-VN" b="1" dirty="0"/>
              <a:t>các thiết bị đầu cuối</a:t>
            </a:r>
            <a:r>
              <a:rPr lang="vi-VN" dirty="0"/>
              <a:t>. Nhờ vậy, người dùng có thể kết nối mạng mà không cần dây dẫn phức tạp.</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833874ed67_4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833874ed67_4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dirty="0"/>
              <a:t>Bảng trong hình so sánh </a:t>
            </a:r>
            <a:r>
              <a:rPr lang="vi-VN" b="1" dirty="0"/>
              <a:t>lợi điểm</a:t>
            </a:r>
            <a:r>
              <a:rPr lang="vi-VN" dirty="0"/>
              <a:t> và </a:t>
            </a:r>
            <a:r>
              <a:rPr lang="vi-VN" b="1" dirty="0"/>
              <a:t>yếu điểm</a:t>
            </a:r>
            <a:r>
              <a:rPr lang="vi-VN" dirty="0"/>
              <a:t> của Wifi:</a:t>
            </a:r>
          </a:p>
          <a:p>
            <a:r>
              <a:rPr lang="vi-VN" b="1" dirty="0"/>
              <a:t>1. Lợi điểm</a:t>
            </a:r>
          </a:p>
          <a:p>
            <a:pPr>
              <a:buFont typeface="Arial" panose="020B0604020202020204" pitchFamily="34" charset="0"/>
              <a:buChar char="•"/>
            </a:pPr>
            <a:r>
              <a:rPr lang="vi-VN" b="1" dirty="0"/>
              <a:t>Linh hoạt</a:t>
            </a:r>
            <a:r>
              <a:rPr lang="vi-VN" dirty="0"/>
              <a:t>: có thể kết nối ở nhiều vị trí, không cần dây cáp.</a:t>
            </a:r>
          </a:p>
          <a:p>
            <a:pPr>
              <a:buFont typeface="Arial" panose="020B0604020202020204" pitchFamily="34" charset="0"/>
              <a:buChar char="•"/>
            </a:pPr>
            <a:r>
              <a:rPr lang="vi-VN" b="1" dirty="0"/>
              <a:t>Dễ mở rộng</a:t>
            </a:r>
            <a:r>
              <a:rPr lang="vi-VN" dirty="0"/>
              <a:t>: thêm nhiều thiết bị mới nhanh chóng.</a:t>
            </a:r>
          </a:p>
          <a:p>
            <a:pPr>
              <a:buFont typeface="Arial" panose="020B0604020202020204" pitchFamily="34" charset="0"/>
              <a:buChar char="•"/>
            </a:pPr>
            <a:r>
              <a:rPr lang="vi-VN" b="1" dirty="0"/>
              <a:t>Dễ setup</a:t>
            </a:r>
            <a:r>
              <a:rPr lang="vi-VN" dirty="0"/>
              <a:t>: chỉ cần router và thiết bị hỗ trợ, triển khai nhanh.</a:t>
            </a:r>
          </a:p>
          <a:p>
            <a:pPr>
              <a:buFont typeface="Arial" panose="020B0604020202020204" pitchFamily="34" charset="0"/>
              <a:buChar char="•"/>
            </a:pPr>
            <a:r>
              <a:rPr lang="vi-VN" b="1" dirty="0"/>
              <a:t>Bảo mật</a:t>
            </a:r>
            <a:r>
              <a:rPr lang="vi-VN" dirty="0"/>
              <a:t>: có các chuẩn mã hóa hiện đại (WPA2, WPA3).</a:t>
            </a:r>
          </a:p>
          <a:p>
            <a:pPr>
              <a:buFont typeface="Arial" panose="020B0604020202020204" pitchFamily="34" charset="0"/>
              <a:buChar char="•"/>
            </a:pPr>
            <a:r>
              <a:rPr lang="vi-VN" b="1" dirty="0"/>
              <a:t>Giá thành ngày càng rẻ</a:t>
            </a:r>
            <a:r>
              <a:rPr lang="vi-VN" dirty="0"/>
              <a:t>: thiết bị sản xuất nhiều, phổ biến nên chi phí giảm.</a:t>
            </a:r>
          </a:p>
          <a:p>
            <a:r>
              <a:rPr lang="vi-VN" b="1" dirty="0"/>
              <a:t>2. Yếu điểm</a:t>
            </a:r>
          </a:p>
          <a:p>
            <a:pPr>
              <a:buFont typeface="Arial" panose="020B0604020202020204" pitchFamily="34" charset="0"/>
              <a:buChar char="•"/>
            </a:pPr>
            <a:r>
              <a:rPr lang="vi-VN" b="1" dirty="0"/>
              <a:t>Tiêu thụ năng lượng cao</a:t>
            </a:r>
            <a:r>
              <a:rPr lang="vi-VN" dirty="0"/>
              <a:t>: đặc biệt với router, thiết bị phát sóng.</a:t>
            </a:r>
          </a:p>
          <a:p>
            <a:pPr>
              <a:buFont typeface="Arial" panose="020B0604020202020204" pitchFamily="34" charset="0"/>
              <a:buChar char="•"/>
            </a:pPr>
            <a:r>
              <a:rPr lang="vi-VN" b="1" dirty="0"/>
              <a:t>Tốc độ chậm hơn kết nối hữu tuyến</a:t>
            </a:r>
            <a:r>
              <a:rPr lang="vi-VN" dirty="0"/>
              <a:t> (Ethernet ổn định và nhanh hơn).</a:t>
            </a:r>
          </a:p>
          <a:p>
            <a:pPr>
              <a:buFont typeface="Arial" panose="020B0604020202020204" pitchFamily="34" charset="0"/>
              <a:buChar char="•"/>
            </a:pPr>
            <a:r>
              <a:rPr lang="vi-VN" b="1" dirty="0"/>
              <a:t>Ảnh hưởng đến sức khỏe và môi trường</a:t>
            </a:r>
            <a:r>
              <a:rPr lang="vi-VN" dirty="0"/>
              <a:t>: sóng vô tuyến của Wifi có thể gây lo ngại nếu dùng trong không gian hẹp hoặc thời gian dài.</a:t>
            </a:r>
          </a:p>
          <a:p>
            <a:r>
              <a:rPr lang="en-US" dirty="0"/>
              <a:t>👉 </a:t>
            </a:r>
            <a:r>
              <a:rPr lang="vi-VN" dirty="0"/>
              <a:t>Tóm lại: Wifi tiện lợi, dễ dùng và phổ biến, nhưng vẫn tồn tại nhược điểm về tốc độ, năng lượng và một số lo ngại về sóng điện từ.</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833874ed67_4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833874ed67_4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8174119761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817411976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833874ed67_4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833874ed67_4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833874ed67_4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833874ed67_4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8174119761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817411976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817411976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817411976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Request – Response (Yêu cầu – Phản hồi)</a:t>
            </a:r>
          </a:p>
          <a:p>
            <a:pPr marL="158750" indent="0">
              <a:buFontTx/>
              <a:buNone/>
            </a:pPr>
            <a:r>
              <a:rPr lang="vi-VN" dirty="0"/>
              <a:t>HTTP hoạt động theo mô hình </a:t>
            </a:r>
            <a:r>
              <a:rPr lang="vi-VN" b="1" dirty="0"/>
              <a:t>khách – chủ (client – server)</a:t>
            </a:r>
            <a:r>
              <a:rPr lang="vi-VN" dirty="0"/>
              <a:t>.</a:t>
            </a:r>
          </a:p>
          <a:p>
            <a:pPr marL="158750" indent="0">
              <a:buFontTx/>
              <a:buNone/>
            </a:pPr>
            <a:r>
              <a:rPr lang="vi-VN" b="1" dirty="0"/>
              <a:t>Client (ví dụ: trình duyệt, app IoT)</a:t>
            </a:r>
            <a:r>
              <a:rPr lang="vi-VN" dirty="0"/>
              <a:t> gửi </a:t>
            </a:r>
            <a:r>
              <a:rPr lang="vi-VN" b="1" dirty="0"/>
              <a:t>request</a:t>
            </a:r>
            <a:r>
              <a:rPr lang="vi-VN" dirty="0"/>
              <a:t> (yêu cầu) đến server.</a:t>
            </a:r>
          </a:p>
          <a:p>
            <a:pPr marL="158750" indent="0">
              <a:buFontTx/>
              <a:buNone/>
            </a:pPr>
            <a:r>
              <a:rPr lang="vi-VN" b="1" dirty="0"/>
              <a:t>Server</a:t>
            </a:r>
            <a:r>
              <a:rPr lang="vi-VN" dirty="0"/>
              <a:t> xử lý và trả về </a:t>
            </a:r>
            <a:r>
              <a:rPr lang="vi-VN" b="1" dirty="0"/>
              <a:t>response</a:t>
            </a:r>
            <a:r>
              <a:rPr lang="vi-VN" dirty="0"/>
              <a:t> (phản hồi).</a:t>
            </a:r>
            <a:br>
              <a:rPr lang="vi-VN" dirty="0"/>
            </a:br>
            <a:r>
              <a:rPr lang="en-US" dirty="0"/>
              <a:t>👉 </a:t>
            </a:r>
            <a:r>
              <a:rPr lang="vi-VN" dirty="0"/>
              <a:t>Ví dụ: ESP32 gửi yêu cầu GET đến server → server trả về dữ liệu JSON về nhiệt độ.</a:t>
            </a:r>
          </a:p>
          <a:p>
            <a:pPr marL="158750" indent="0">
              <a:buFontTx/>
              <a:buNone/>
            </a:pPr>
            <a:r>
              <a:rPr lang="vi-VN" b="1" dirty="0"/>
              <a:t>2. Connectionless (Không duy trì kết nối lâu dài)</a:t>
            </a:r>
          </a:p>
          <a:p>
            <a:pPr marL="158750" indent="0">
              <a:buFontTx/>
              <a:buNone/>
            </a:pPr>
            <a:r>
              <a:rPr lang="vi-VN" dirty="0"/>
              <a:t>HTTP </a:t>
            </a:r>
            <a:r>
              <a:rPr lang="vi-VN" b="1" dirty="0"/>
              <a:t>không giữ kết nối liên tục</a:t>
            </a:r>
            <a:r>
              <a:rPr lang="vi-VN" dirty="0"/>
              <a:t> giữa client và server.</a:t>
            </a:r>
          </a:p>
          <a:p>
            <a:pPr marL="158750" indent="0">
              <a:buFontTx/>
              <a:buNone/>
            </a:pPr>
            <a:r>
              <a:rPr lang="vi-VN" dirty="0"/>
              <a:t>Sau khi client gửi request và server trả response, kết nối được đóng lại.</a:t>
            </a:r>
          </a:p>
          <a:p>
            <a:pPr marL="158750" indent="0">
              <a:buFontTx/>
              <a:buNone/>
            </a:pPr>
            <a:r>
              <a:rPr lang="vi-VN" dirty="0"/>
              <a:t>Nếu client cần thêm dữ liệu, nó phải tạo kết nối mới.</a:t>
            </a:r>
            <a:br>
              <a:rPr lang="vi-VN" dirty="0"/>
            </a:br>
            <a:r>
              <a:rPr lang="en-US" dirty="0"/>
              <a:t>👉 </a:t>
            </a:r>
            <a:r>
              <a:rPr lang="vi-VN" dirty="0"/>
              <a:t>Điều này giúp </a:t>
            </a:r>
            <a:r>
              <a:rPr lang="vi-VN" b="1" dirty="0"/>
              <a:t>tiết kiệm tài nguyên mạng và server</a:t>
            </a:r>
            <a:r>
              <a:rPr lang="vi-VN" dirty="0"/>
              <a:t>, nhưng có thể gây trễ khi cần trao đổi thường xuyên.</a:t>
            </a:r>
          </a:p>
          <a:p>
            <a:pPr marL="158750" indent="0">
              <a:buFontTx/>
              <a:buNone/>
            </a:pPr>
            <a:r>
              <a:rPr lang="vi-VN" b="1" dirty="0"/>
              <a:t>3. Stateless (Không trạng thái)</a:t>
            </a:r>
          </a:p>
          <a:p>
            <a:pPr marL="158750" indent="0">
              <a:buFontTx/>
              <a:buNone/>
            </a:pPr>
            <a:r>
              <a:rPr lang="vi-VN" dirty="0"/>
              <a:t>HTTP </a:t>
            </a:r>
            <a:r>
              <a:rPr lang="vi-VN" b="1" dirty="0"/>
              <a:t>không nhớ trạng thái của phiên làm việc trước đó</a:t>
            </a:r>
            <a:r>
              <a:rPr lang="vi-VN" dirty="0"/>
              <a:t>.</a:t>
            </a:r>
          </a:p>
          <a:p>
            <a:pPr marL="158750" indent="0">
              <a:buFontTx/>
              <a:buNone/>
            </a:pPr>
            <a:r>
              <a:rPr lang="vi-VN" dirty="0"/>
              <a:t>Mỗi request là </a:t>
            </a:r>
            <a:r>
              <a:rPr lang="vi-VN" b="1" dirty="0"/>
              <a:t>độc lập</a:t>
            </a:r>
            <a:r>
              <a:rPr lang="vi-VN" dirty="0"/>
              <a:t> và server không biết client đã gửi gì trước đó.</a:t>
            </a:r>
          </a:p>
          <a:p>
            <a:pPr marL="158750" indent="0">
              <a:buFontTx/>
              <a:buNone/>
            </a:pPr>
            <a:r>
              <a:rPr lang="vi-VN" dirty="0"/>
              <a:t>Nếu cần duy trì trạng thái (ví dụ: đăng nhập người dùng), ta phải dùng </a:t>
            </a:r>
            <a:r>
              <a:rPr lang="vi-VN" b="1" dirty="0"/>
              <a:t>cookies, session, hoặc token</a:t>
            </a:r>
            <a:r>
              <a:rPr lang="vi-VN" dirty="0"/>
              <a:t>.</a:t>
            </a:r>
            <a:br>
              <a:rPr lang="vi-VN" dirty="0"/>
            </a:br>
            <a:r>
              <a:rPr lang="en-US" dirty="0"/>
              <a:t>👉 </a:t>
            </a:r>
            <a:r>
              <a:rPr lang="vi-VN" dirty="0"/>
              <a:t>Trong IoT: khi ESP32 gửi dữ liệu nhiều lần, server coi mỗi lần là một request mới, không lưu vết.</a:t>
            </a:r>
          </a:p>
          <a:p>
            <a:pPr marL="158750" indent="0">
              <a:buFontTx/>
              <a:buNone/>
            </a:pPr>
            <a:r>
              <a:rPr lang="vi-VN" b="1" dirty="0"/>
              <a:t>4. Media Independent (Độc lập phương tiện)</a:t>
            </a:r>
          </a:p>
          <a:p>
            <a:pPr marL="158750" indent="0">
              <a:buFontTx/>
              <a:buNone/>
            </a:pPr>
            <a:r>
              <a:rPr lang="vi-VN" dirty="0"/>
              <a:t>HTTP có thể truyền </a:t>
            </a:r>
            <a:r>
              <a:rPr lang="vi-VN" b="1" dirty="0"/>
              <a:t>mọi loại dữ liệu</a:t>
            </a:r>
            <a:r>
              <a:rPr lang="vi-VN" dirty="0"/>
              <a:t>, miễn là định dạng dữ liệu được mô tả trong </a:t>
            </a:r>
            <a:r>
              <a:rPr lang="vi-VN" b="1" dirty="0"/>
              <a:t>header Content-Type</a:t>
            </a:r>
            <a:r>
              <a:rPr lang="vi-VN" dirty="0"/>
              <a:t>.</a:t>
            </a:r>
          </a:p>
          <a:p>
            <a:pPr marL="158750" indent="0">
              <a:buFontTx/>
              <a:buNone/>
            </a:pPr>
            <a:r>
              <a:rPr lang="vi-VN" dirty="0"/>
              <a:t>Ví dụ: text/html, application/json, image/png, video/mp4…</a:t>
            </a:r>
            <a:br>
              <a:rPr lang="vi-VN" dirty="0"/>
            </a:br>
            <a:r>
              <a:rPr lang="en-US" dirty="0"/>
              <a:t>👉 </a:t>
            </a:r>
            <a:r>
              <a:rPr lang="vi-VN" dirty="0"/>
              <a:t>Điều này khiến HTTP </a:t>
            </a:r>
            <a:r>
              <a:rPr lang="vi-VN" b="1" dirty="0"/>
              <a:t>linh hoạt</a:t>
            </a:r>
            <a:r>
              <a:rPr lang="vi-VN" dirty="0"/>
              <a:t>, từ truyền file văn bản, hình ảnh đến dữ liệu IoT.</a:t>
            </a:r>
          </a:p>
          <a:p>
            <a:pPr marL="158750" indent="0">
              <a:buFontTx/>
              <a:buNone/>
            </a:pPr>
            <a:r>
              <a:rPr lang="en-US" b="1" dirty="0"/>
              <a:t>📌 </a:t>
            </a:r>
            <a:r>
              <a:rPr lang="vi-VN" b="1" dirty="0"/>
              <a:t>Kết luận cho sinh viên</a:t>
            </a:r>
          </a:p>
          <a:p>
            <a:pPr marL="158750" indent="0">
              <a:buFontTx/>
              <a:buNone/>
            </a:pPr>
            <a:r>
              <a:rPr lang="vi-VN" dirty="0"/>
              <a:t>HTTP là giao thức </a:t>
            </a:r>
            <a:r>
              <a:rPr lang="vi-VN" b="1" dirty="0"/>
              <a:t>đơn giản, phổ biến, linh hoạt</a:t>
            </a:r>
            <a:r>
              <a:rPr lang="vi-VN" dirty="0"/>
              <a:t> nhờ các đặc tính:</a:t>
            </a:r>
          </a:p>
          <a:p>
            <a:pPr marL="158750" indent="0">
              <a:buFontTx/>
              <a:buNone/>
            </a:pPr>
            <a:r>
              <a:rPr lang="vi-VN" b="1" dirty="0"/>
              <a:t>Request–Response:</a:t>
            </a:r>
            <a:r>
              <a:rPr lang="vi-VN" dirty="0"/>
              <a:t> dễ hình dung, client hỏi – server trả lời.</a:t>
            </a:r>
          </a:p>
          <a:p>
            <a:pPr marL="158750" indent="0">
              <a:buFontTx/>
              <a:buNone/>
            </a:pPr>
            <a:r>
              <a:rPr lang="vi-VN" b="1" dirty="0"/>
              <a:t>Connectionless:</a:t>
            </a:r>
            <a:r>
              <a:rPr lang="vi-VN" dirty="0"/>
              <a:t> tiết kiệm tài nguyên.</a:t>
            </a:r>
          </a:p>
          <a:p>
            <a:pPr marL="158750" indent="0">
              <a:buFontTx/>
              <a:buNone/>
            </a:pPr>
            <a:r>
              <a:rPr lang="vi-VN" b="1" dirty="0"/>
              <a:t>Stateless:</a:t>
            </a:r>
            <a:r>
              <a:rPr lang="vi-VN" dirty="0"/>
              <a:t> mỗi lần gửi là độc lập → dễ mở rộng.</a:t>
            </a:r>
          </a:p>
          <a:p>
            <a:pPr marL="158750" indent="0">
              <a:buFontTx/>
              <a:buNone/>
            </a:pPr>
            <a:r>
              <a:rPr lang="vi-VN" b="1" dirty="0"/>
              <a:t>Media Independent:</a:t>
            </a:r>
            <a:r>
              <a:rPr lang="vi-VN" dirty="0"/>
              <a:t> có thể truyền nhiều loại dữ liệu.</a:t>
            </a:r>
          </a:p>
          <a:p>
            <a:pPr marL="158750" indent="0">
              <a:buFontTx/>
              <a:buNone/>
            </a:pPr>
            <a:r>
              <a:rPr lang="en-US" dirty="0"/>
              <a:t>👉 </a:t>
            </a:r>
            <a:r>
              <a:rPr lang="vi-VN" dirty="0"/>
              <a:t>Tuy nhiên, chính vì connectionless + stateless, nên trong IoT </a:t>
            </a:r>
            <a:r>
              <a:rPr lang="vi-VN" b="1" dirty="0"/>
              <a:t>không phải lúc nào HTTP cũng tối ưu</a:t>
            </a:r>
            <a:r>
              <a:rPr lang="vi-VN" dirty="0"/>
              <a:t> → cần các giao thức nhẹ hơn như </a:t>
            </a:r>
            <a:r>
              <a:rPr lang="vi-VN" b="1" dirty="0"/>
              <a:t>MQTT</a:t>
            </a:r>
            <a:r>
              <a:rPr lang="vi-VN" dirty="0"/>
              <a:t> cho truyền dữ liệu cảm biến liên tục.</a:t>
            </a:r>
            <a:endParaRPr lang="en-US" dirty="0"/>
          </a:p>
          <a:p>
            <a:pPr marL="158750" indent="0">
              <a:buFontTx/>
              <a:buNone/>
            </a:pPr>
            <a:r>
              <a:rPr lang="en-US" dirty="0"/>
              <a:t>--------------------------------------------------</a:t>
            </a:r>
          </a:p>
          <a:p>
            <a:pPr marL="158750" indent="0">
              <a:buFontTx/>
              <a:buNone/>
            </a:pPr>
            <a:r>
              <a:rPr lang="vi-VN" b="1" dirty="0"/>
              <a:t>1. Cầu nối giữa thiết bị IoT và Web/Cloud</a:t>
            </a:r>
          </a:p>
          <a:p>
            <a:pPr marL="158750" indent="0">
              <a:buFontTx/>
              <a:buNone/>
            </a:pPr>
            <a:r>
              <a:rPr lang="vi-VN" dirty="0"/>
              <a:t>HTTP là giao thức phổ biến nhất của </a:t>
            </a:r>
            <a:r>
              <a:rPr lang="vi-VN" b="1" dirty="0"/>
              <a:t>World Wide Web</a:t>
            </a:r>
            <a:r>
              <a:rPr lang="vi-VN" dirty="0"/>
              <a:t>.</a:t>
            </a:r>
          </a:p>
          <a:p>
            <a:pPr marL="158750" indent="0">
              <a:buFontTx/>
              <a:buNone/>
            </a:pPr>
            <a:r>
              <a:rPr lang="vi-VN" dirty="0"/>
              <a:t>Nhiều thiết bị IoT (ví dụ: ESP32, Raspberry Pi) sử dụng HTTP để:</a:t>
            </a:r>
          </a:p>
          <a:p>
            <a:pPr marL="457200" lvl="1" indent="0">
              <a:buFontTx/>
              <a:buNone/>
            </a:pPr>
            <a:r>
              <a:rPr lang="vi-VN" dirty="0"/>
              <a:t>Gửi dữ liệu cảm biến lên </a:t>
            </a:r>
            <a:r>
              <a:rPr lang="vi-VN" b="1" dirty="0"/>
              <a:t>server/cloud</a:t>
            </a:r>
            <a:r>
              <a:rPr lang="vi-VN" dirty="0"/>
              <a:t>.</a:t>
            </a:r>
          </a:p>
          <a:p>
            <a:pPr marL="457200" lvl="1" indent="0">
              <a:buFontTx/>
              <a:buNone/>
            </a:pPr>
            <a:r>
              <a:rPr lang="vi-VN" dirty="0"/>
              <a:t>Nhận lệnh điều khiển từ </a:t>
            </a:r>
            <a:r>
              <a:rPr lang="vi-VN" b="1" dirty="0"/>
              <a:t>ứng dụng web hoặc mobile app</a:t>
            </a:r>
            <a:r>
              <a:rPr lang="vi-VN" dirty="0"/>
              <a:t>.</a:t>
            </a:r>
            <a:br>
              <a:rPr lang="vi-VN" dirty="0"/>
            </a:br>
            <a:r>
              <a:rPr lang="en-US" dirty="0"/>
              <a:t>👉 </a:t>
            </a:r>
            <a:r>
              <a:rPr lang="vi-VN" dirty="0"/>
              <a:t>HTTP giúp IoT </a:t>
            </a:r>
            <a:r>
              <a:rPr lang="vi-VN" b="1" dirty="0"/>
              <a:t>dễ dàng tích hợp với hạ tầng Internet sẵn có</a:t>
            </a:r>
            <a:r>
              <a:rPr lang="vi-VN" dirty="0"/>
              <a:t>.</a:t>
            </a:r>
          </a:p>
          <a:p>
            <a:pPr marL="158750" indent="0">
              <a:buFontTx/>
              <a:buNone/>
            </a:pPr>
            <a:r>
              <a:rPr lang="vi-VN" b="1" dirty="0"/>
              <a:t>2. Đơn giản và dễ triển khai</a:t>
            </a:r>
          </a:p>
          <a:p>
            <a:pPr marL="158750" indent="0">
              <a:buFontTx/>
              <a:buNone/>
            </a:pPr>
            <a:r>
              <a:rPr lang="vi-VN" dirty="0"/>
              <a:t>HTTP dựa trên mô hình </a:t>
            </a:r>
            <a:r>
              <a:rPr lang="vi-VN" b="1" dirty="0"/>
              <a:t>request–response</a:t>
            </a:r>
            <a:r>
              <a:rPr lang="vi-VN" dirty="0"/>
              <a:t> → dễ hiểu, dễ lập trình.</a:t>
            </a:r>
          </a:p>
          <a:p>
            <a:pPr marL="158750" indent="0">
              <a:buFontTx/>
              <a:buNone/>
            </a:pPr>
            <a:r>
              <a:rPr lang="vi-VN" dirty="0"/>
              <a:t>Các ngôn ngữ phổ biến (Python, C/C++, Java, Arduino IDE) đều có thư viện hỗ trợ HTTP.</a:t>
            </a:r>
          </a:p>
          <a:p>
            <a:pPr marL="158750" indent="0">
              <a:buFontTx/>
              <a:buNone/>
            </a:pPr>
            <a:r>
              <a:rPr lang="vi-VN" dirty="0"/>
              <a:t>Điều này giúp việc xây dựng ứng dụng IoT </a:t>
            </a:r>
            <a:r>
              <a:rPr lang="vi-VN" b="1" dirty="0"/>
              <a:t>nhanh chóng và chi phí thấp</a:t>
            </a:r>
            <a:r>
              <a:rPr lang="vi-VN" dirty="0"/>
              <a:t>.</a:t>
            </a:r>
          </a:p>
          <a:p>
            <a:pPr marL="158750" indent="0">
              <a:buFontTx/>
              <a:buNone/>
            </a:pPr>
            <a:r>
              <a:rPr lang="vi-VN" b="1" dirty="0"/>
              <a:t>3. Hỗ trợ giao tiếp RESTful API</a:t>
            </a:r>
          </a:p>
          <a:p>
            <a:pPr marL="158750" indent="0">
              <a:buFontTx/>
              <a:buNone/>
            </a:pPr>
            <a:r>
              <a:rPr lang="vi-VN" dirty="0"/>
              <a:t>HTTP thường được dùng làm nền tảng cho </a:t>
            </a:r>
            <a:r>
              <a:rPr lang="vi-VN" b="1" dirty="0"/>
              <a:t>RESTful API</a:t>
            </a:r>
            <a:r>
              <a:rPr lang="vi-VN" dirty="0"/>
              <a:t>, cho phép:</a:t>
            </a:r>
          </a:p>
          <a:p>
            <a:pPr marL="457200" lvl="1" indent="0">
              <a:buFontTx/>
              <a:buNone/>
            </a:pPr>
            <a:r>
              <a:rPr lang="vi-VN" dirty="0"/>
              <a:t>Thiết bị IoT gửi dữ liệu dạng </a:t>
            </a:r>
            <a:r>
              <a:rPr lang="vi-VN" b="1" dirty="0"/>
              <a:t>JSON/XML</a:t>
            </a:r>
            <a:r>
              <a:rPr lang="vi-VN" dirty="0"/>
              <a:t>.</a:t>
            </a:r>
          </a:p>
          <a:p>
            <a:pPr marL="457200" lvl="1" indent="0">
              <a:buFontTx/>
              <a:buNone/>
            </a:pPr>
            <a:r>
              <a:rPr lang="vi-VN" dirty="0"/>
              <a:t>Các ứng dụng khác dễ dàng truy cập, hiển thị, phân tích dữ liệu.</a:t>
            </a:r>
            <a:br>
              <a:rPr lang="vi-VN" dirty="0"/>
            </a:br>
            <a:r>
              <a:rPr lang="en-US" dirty="0"/>
              <a:t>👉 </a:t>
            </a:r>
            <a:r>
              <a:rPr lang="vi-VN" dirty="0"/>
              <a:t>RESTful API + HTTP là cách phổ biến nhất để kết nối IoT với </a:t>
            </a:r>
            <a:r>
              <a:rPr lang="vi-VN" b="1" dirty="0"/>
              <a:t>ứng dụng web, mobile, và hệ thống cloud</a:t>
            </a:r>
            <a:r>
              <a:rPr lang="vi-VN" dirty="0"/>
              <a:t>.</a:t>
            </a:r>
          </a:p>
          <a:p>
            <a:pPr marL="158750" indent="0">
              <a:buFontTx/>
              <a:buNone/>
            </a:pPr>
            <a:r>
              <a:rPr lang="vi-VN" b="1" dirty="0"/>
              <a:t>4. Tính độc lập và linh hoạt</a:t>
            </a:r>
          </a:p>
          <a:p>
            <a:pPr marL="158750" indent="0">
              <a:buFontTx/>
              <a:buNone/>
            </a:pPr>
            <a:r>
              <a:rPr lang="vi-VN" dirty="0"/>
              <a:t>HTTP là </a:t>
            </a:r>
            <a:r>
              <a:rPr lang="vi-VN" b="1" dirty="0"/>
              <a:t>media independent</a:t>
            </a:r>
            <a:r>
              <a:rPr lang="vi-VN" dirty="0"/>
              <a:t> → có thể truyền nhiều loại dữ liệu (văn bản, hình ảnh, video, dữ liệu nhịp tim, nhiệt độ…).</a:t>
            </a:r>
          </a:p>
          <a:p>
            <a:pPr marL="158750" indent="0">
              <a:buFontTx/>
              <a:buNone/>
            </a:pPr>
            <a:r>
              <a:rPr lang="vi-VN" dirty="0"/>
              <a:t>Cho phép IoT truyền tải thông tin đa dạng tùy ứng dụng: từ </a:t>
            </a:r>
            <a:r>
              <a:rPr lang="vi-VN" b="1" dirty="0"/>
              <a:t>cảm biến đơn giản</a:t>
            </a:r>
            <a:r>
              <a:rPr lang="vi-VN" dirty="0"/>
              <a:t> đến </a:t>
            </a:r>
            <a:r>
              <a:rPr lang="vi-VN" b="1" dirty="0"/>
              <a:t>camera giám sát</a:t>
            </a:r>
            <a:r>
              <a:rPr lang="vi-VN" dirty="0"/>
              <a:t>.</a:t>
            </a:r>
          </a:p>
          <a:p>
            <a:pPr marL="158750" indent="0">
              <a:buFontTx/>
              <a:buNone/>
            </a:pPr>
            <a:r>
              <a:rPr lang="vi-VN" b="1" dirty="0"/>
              <a:t>5. Hạn chế và giải pháp</a:t>
            </a:r>
          </a:p>
          <a:p>
            <a:pPr marL="158750" indent="0">
              <a:buFontTx/>
              <a:buNone/>
            </a:pPr>
            <a:r>
              <a:rPr lang="vi-VN" b="1" dirty="0"/>
              <a:t>Hạn chế:</a:t>
            </a:r>
            <a:endParaRPr lang="vi-VN" dirty="0"/>
          </a:p>
          <a:p>
            <a:pPr marL="457200" lvl="1" indent="0">
              <a:buFontTx/>
              <a:buNone/>
            </a:pPr>
            <a:r>
              <a:rPr lang="vi-VN" b="1" dirty="0"/>
              <a:t>Connectionless &amp; Stateless</a:t>
            </a:r>
            <a:r>
              <a:rPr lang="vi-VN" dirty="0"/>
              <a:t>: không duy trì kết nối lâu → không tối ưu cho truyền dữ liệu liên tục, thời gian thực.</a:t>
            </a:r>
          </a:p>
          <a:p>
            <a:pPr marL="457200" lvl="1" indent="0">
              <a:buFontTx/>
              <a:buNone/>
            </a:pPr>
            <a:r>
              <a:rPr lang="vi-VN" b="1" dirty="0"/>
              <a:t>Tiêu thụ nhiều năng lượng</a:t>
            </a:r>
            <a:r>
              <a:rPr lang="vi-VN" dirty="0"/>
              <a:t> → không phù hợp với thiết bị IoT chạy pin nhỏ.</a:t>
            </a:r>
          </a:p>
          <a:p>
            <a:pPr marL="158750" indent="0">
              <a:buFontTx/>
              <a:buNone/>
            </a:pPr>
            <a:r>
              <a:rPr lang="vi-VN" b="1" dirty="0"/>
              <a:t>Giải pháp:</a:t>
            </a:r>
            <a:endParaRPr lang="vi-VN" dirty="0"/>
          </a:p>
          <a:p>
            <a:pPr marL="457200" lvl="1" indent="0">
              <a:buFontTx/>
              <a:buNone/>
            </a:pPr>
            <a:r>
              <a:rPr lang="vi-VN" dirty="0"/>
              <a:t>Dùng HTTP cho </a:t>
            </a:r>
            <a:r>
              <a:rPr lang="vi-VN" b="1" dirty="0"/>
              <a:t>cấu hình, quản lý, API dữ liệu lớn</a:t>
            </a:r>
            <a:r>
              <a:rPr lang="vi-VN" dirty="0"/>
              <a:t>.</a:t>
            </a:r>
          </a:p>
          <a:p>
            <a:pPr marL="457200" lvl="1" indent="0">
              <a:buFontTx/>
              <a:buNone/>
            </a:pPr>
            <a:r>
              <a:rPr lang="vi-VN" dirty="0"/>
              <a:t>Dùng giao thức nhẹ hơn (MQTT, CoAP) cho </a:t>
            </a:r>
            <a:r>
              <a:rPr lang="vi-VN" b="1" dirty="0"/>
              <a:t>dữ liệu cảm biến nhỏ, thường xuyên</a:t>
            </a:r>
            <a:r>
              <a:rPr lang="vi-VN" dirty="0"/>
              <a:t>.</a:t>
            </a:r>
          </a:p>
          <a:p>
            <a:pPr marL="158750" indent="0">
              <a:buFontTx/>
              <a:buNone/>
            </a:pPr>
            <a:r>
              <a:rPr lang="en-US" b="1" dirty="0"/>
              <a:t>📌 </a:t>
            </a:r>
            <a:r>
              <a:rPr lang="vi-VN" b="1" dirty="0"/>
              <a:t>Kết luận cho sinh viên</a:t>
            </a:r>
          </a:p>
          <a:p>
            <a:pPr marL="158750" indent="0">
              <a:buFontTx/>
              <a:buNone/>
            </a:pPr>
            <a:r>
              <a:rPr lang="vi-VN" dirty="0"/>
              <a:t>HTTP đóng vai trò như </a:t>
            </a:r>
            <a:r>
              <a:rPr lang="vi-VN" b="1" dirty="0"/>
              <a:t>“ngôn ngữ chung”</a:t>
            </a:r>
            <a:r>
              <a:rPr lang="vi-VN" dirty="0"/>
              <a:t> giúp IoT hòa nhập với Internet và web services.</a:t>
            </a:r>
          </a:p>
          <a:p>
            <a:pPr marL="158750" indent="0">
              <a:buFontTx/>
              <a:buNone/>
            </a:pPr>
            <a:r>
              <a:rPr lang="vi-VN" b="1" dirty="0"/>
              <a:t>Ưu điểm:</a:t>
            </a:r>
            <a:r>
              <a:rPr lang="vi-VN" dirty="0"/>
              <a:t> phổ biến, dễ triển khai, tích hợp tốt với web/cloud.</a:t>
            </a:r>
          </a:p>
          <a:p>
            <a:pPr marL="158750" indent="0">
              <a:buFontTx/>
              <a:buNone/>
            </a:pPr>
            <a:r>
              <a:rPr lang="vi-VN" b="1" dirty="0"/>
              <a:t>Nhược điểm:</a:t>
            </a:r>
            <a:r>
              <a:rPr lang="vi-VN" dirty="0"/>
              <a:t> nặng, tiêu hao năng lượng.</a:t>
            </a:r>
            <a:br>
              <a:rPr lang="vi-VN" dirty="0"/>
            </a:br>
            <a:r>
              <a:rPr lang="en-US" dirty="0"/>
              <a:t>👉 </a:t>
            </a:r>
            <a:r>
              <a:rPr lang="vi-VN" dirty="0"/>
              <a:t>Trong IoT thực tế: HTTP thường được dùng cho </a:t>
            </a:r>
            <a:r>
              <a:rPr lang="vi-VN" b="1" dirty="0"/>
              <a:t>API, cấu hình, tích hợp web</a:t>
            </a:r>
            <a:r>
              <a:rPr lang="vi-VN" dirty="0"/>
              <a:t>, trong khi </a:t>
            </a:r>
            <a:r>
              <a:rPr lang="vi-VN" b="1" dirty="0"/>
              <a:t>MQTT hoặc CoAP</a:t>
            </a:r>
            <a:r>
              <a:rPr lang="vi-VN" dirty="0"/>
              <a:t> dùng để tối ưu cho </a:t>
            </a:r>
            <a:r>
              <a:rPr lang="vi-VN" b="1" dirty="0"/>
              <a:t>truyền dữ liệu cảm biến</a:t>
            </a:r>
            <a:r>
              <a:rPr lang="vi-VN" dirty="0"/>
              <a:t>.</a:t>
            </a:r>
          </a:p>
          <a:p>
            <a:pPr marL="158750" indent="0">
              <a:buFontTx/>
              <a:buNone/>
            </a:pPr>
            <a:endParaRPr lang="vi-VN" dirty="0"/>
          </a:p>
          <a:p>
            <a:pPr marL="0" lvl="0" indent="0" algn="l" rtl="0">
              <a:spcBef>
                <a:spcPts val="0"/>
              </a:spcBef>
              <a:spcAft>
                <a:spcPts val="0"/>
              </a:spcAft>
              <a:buFontTx/>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817411976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817411976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GET</a:t>
            </a:r>
          </a:p>
          <a:p>
            <a:pPr marL="158750" indent="0">
              <a:buFontTx/>
              <a:buNone/>
            </a:pPr>
            <a:r>
              <a:rPr lang="vi-VN" b="1" dirty="0"/>
              <a:t>Mục đích:</a:t>
            </a:r>
            <a:r>
              <a:rPr lang="vi-VN" dirty="0"/>
              <a:t> Lấy dữ liệu từ server.</a:t>
            </a:r>
          </a:p>
          <a:p>
            <a:pPr marL="158750" indent="0">
              <a:buFontTx/>
              <a:buNone/>
            </a:pPr>
            <a:r>
              <a:rPr lang="vi-VN" b="1" dirty="0"/>
              <a:t>Đặc điểm:</a:t>
            </a:r>
            <a:endParaRPr lang="vi-VN" dirty="0"/>
          </a:p>
          <a:p>
            <a:pPr marL="457200" lvl="1" indent="0">
              <a:buFontTx/>
              <a:buNone/>
            </a:pPr>
            <a:r>
              <a:rPr lang="vi-VN" dirty="0"/>
              <a:t>Dữ liệu được yêu cầu qua URL (tham số có thể kèm theo dạng query string).</a:t>
            </a:r>
          </a:p>
          <a:p>
            <a:pPr marL="457200" lvl="1" indent="0">
              <a:buFontTx/>
              <a:buNone/>
            </a:pPr>
            <a:r>
              <a:rPr lang="vi-VN" dirty="0"/>
              <a:t>Không làm thay đổi dữ liệu trên server.</a:t>
            </a:r>
          </a:p>
          <a:p>
            <a:pPr marL="457200" lvl="1" indent="0">
              <a:buFontTx/>
              <a:buNone/>
            </a:pPr>
            <a:r>
              <a:rPr lang="vi-VN" dirty="0"/>
              <a:t>Phản hồi thường được cache.</a:t>
            </a:r>
          </a:p>
          <a:p>
            <a:pPr marL="158750" indent="0">
              <a:buFontTx/>
              <a:buNone/>
            </a:pPr>
            <a:r>
              <a:rPr lang="vi-VN" b="1" dirty="0"/>
              <a:t>Ví dụ:</a:t>
            </a:r>
            <a:r>
              <a:rPr lang="vi-VN" dirty="0"/>
              <a:t> Một thiết bị IoT gửi GET /temperature để lấy dữ liệu nhiệt độ mới nhất từ server.</a:t>
            </a:r>
          </a:p>
          <a:p>
            <a:pPr marL="158750" indent="0">
              <a:buFontTx/>
              <a:buNone/>
            </a:pPr>
            <a:r>
              <a:rPr lang="vi-VN" b="1" dirty="0"/>
              <a:t>2. POST</a:t>
            </a:r>
          </a:p>
          <a:p>
            <a:pPr marL="158750" indent="0">
              <a:buFontTx/>
              <a:buNone/>
            </a:pPr>
            <a:r>
              <a:rPr lang="vi-VN" b="1" dirty="0"/>
              <a:t>Mục đích:</a:t>
            </a:r>
            <a:r>
              <a:rPr lang="vi-VN" dirty="0"/>
              <a:t> Gửi dữ liệu lên server để tạo mới hoặc xử lý tài nguyên.</a:t>
            </a:r>
          </a:p>
          <a:p>
            <a:pPr marL="158750" indent="0">
              <a:buFontTx/>
              <a:buNone/>
            </a:pPr>
            <a:r>
              <a:rPr lang="vi-VN" b="1" dirty="0"/>
              <a:t>Đặc điểm:</a:t>
            </a:r>
            <a:endParaRPr lang="vi-VN" dirty="0"/>
          </a:p>
          <a:p>
            <a:pPr marL="457200" lvl="1" indent="0">
              <a:buFontTx/>
              <a:buNone/>
            </a:pPr>
            <a:r>
              <a:rPr lang="vi-VN" dirty="0"/>
              <a:t>Dữ liệu được gửi trong </a:t>
            </a:r>
            <a:r>
              <a:rPr lang="vi-VN" b="1" dirty="0"/>
              <a:t>request body</a:t>
            </a:r>
            <a:r>
              <a:rPr lang="vi-VN" dirty="0"/>
              <a:t> (không nằm trong URL).</a:t>
            </a:r>
          </a:p>
          <a:p>
            <a:pPr marL="457200" lvl="1" indent="0">
              <a:buFontTx/>
              <a:buNone/>
            </a:pPr>
            <a:r>
              <a:rPr lang="vi-VN" dirty="0"/>
              <a:t>Thường dùng để gửi form, hoặc dữ liệu cảm biến lên cloud.</a:t>
            </a:r>
          </a:p>
          <a:p>
            <a:pPr marL="158750" indent="0">
              <a:buFontTx/>
              <a:buNone/>
            </a:pPr>
            <a:r>
              <a:rPr lang="vi-VN" b="1" dirty="0"/>
              <a:t>Ví dụ:</a:t>
            </a:r>
            <a:r>
              <a:rPr lang="vi-VN" dirty="0"/>
              <a:t> Cảm biến IoT gửi dữ liệu độ ẩm bằng POST /humidity với JSON {"value": 70}.</a:t>
            </a:r>
          </a:p>
          <a:p>
            <a:pPr marL="158750" indent="0">
              <a:buFontTx/>
              <a:buNone/>
            </a:pPr>
            <a:r>
              <a:rPr lang="vi-VN" b="1" dirty="0"/>
              <a:t>3. PUT</a:t>
            </a:r>
          </a:p>
          <a:p>
            <a:pPr marL="158750" indent="0">
              <a:buFontTx/>
              <a:buNone/>
            </a:pPr>
            <a:r>
              <a:rPr lang="vi-VN" b="1" dirty="0"/>
              <a:t>Mục đích:</a:t>
            </a:r>
            <a:r>
              <a:rPr lang="vi-VN" dirty="0"/>
              <a:t> Cập nhật một tài nguyên (hoặc tạo mới nếu chưa tồn tại).</a:t>
            </a:r>
          </a:p>
          <a:p>
            <a:pPr marL="158750" indent="0">
              <a:buFontTx/>
              <a:buNone/>
            </a:pPr>
            <a:r>
              <a:rPr lang="vi-VN" b="1" dirty="0"/>
              <a:t>Đặc điểm:</a:t>
            </a:r>
            <a:endParaRPr lang="vi-VN" dirty="0"/>
          </a:p>
          <a:p>
            <a:pPr marL="457200" lvl="1" indent="0">
              <a:buFontTx/>
              <a:buNone/>
            </a:pPr>
            <a:r>
              <a:rPr lang="vi-VN" dirty="0"/>
              <a:t>Dữ liệu trong request body chứa toàn bộ trạng thái mới của tài nguyên.</a:t>
            </a:r>
          </a:p>
          <a:p>
            <a:pPr marL="457200" lvl="1" indent="0">
              <a:buFontTx/>
              <a:buNone/>
            </a:pPr>
            <a:r>
              <a:rPr lang="vi-VN" b="1" dirty="0"/>
              <a:t>Idempotent</a:t>
            </a:r>
            <a:r>
              <a:rPr lang="vi-VN" dirty="0"/>
              <a:t>: gửi nhiều lần cùng một PUT với dữ liệu giống nhau thì kết quả không thay đổi.</a:t>
            </a:r>
          </a:p>
          <a:p>
            <a:pPr marL="158750" indent="0">
              <a:buFontTx/>
              <a:buNone/>
            </a:pPr>
            <a:r>
              <a:rPr lang="vi-VN" b="1" dirty="0"/>
              <a:t>Ví dụ:</a:t>
            </a:r>
            <a:r>
              <a:rPr lang="vi-VN" dirty="0"/>
              <a:t> Cập nhật cấu hình đèn thông minh PUT /light/1 với {"brightness": 80}.</a:t>
            </a:r>
          </a:p>
          <a:p>
            <a:pPr marL="158750" indent="0">
              <a:buFontTx/>
              <a:buNone/>
            </a:pPr>
            <a:r>
              <a:rPr lang="vi-VN" b="1" dirty="0"/>
              <a:t>4. DELETE</a:t>
            </a:r>
          </a:p>
          <a:p>
            <a:pPr marL="158750" indent="0">
              <a:buFontTx/>
              <a:buNone/>
            </a:pPr>
            <a:r>
              <a:rPr lang="vi-VN" b="1" dirty="0"/>
              <a:t>Mục đích:</a:t>
            </a:r>
            <a:r>
              <a:rPr lang="vi-VN" dirty="0"/>
              <a:t> Xóa một tài nguyên trên server.</a:t>
            </a:r>
          </a:p>
          <a:p>
            <a:pPr marL="158750" indent="0">
              <a:buFontTx/>
              <a:buNone/>
            </a:pPr>
            <a:r>
              <a:rPr lang="vi-VN" b="1" dirty="0"/>
              <a:t>Đặc điểm:</a:t>
            </a:r>
            <a:endParaRPr lang="vi-VN" dirty="0"/>
          </a:p>
          <a:p>
            <a:pPr marL="457200" lvl="1" indent="0">
              <a:buFontTx/>
              <a:buNone/>
            </a:pPr>
            <a:r>
              <a:rPr lang="vi-VN" b="1" dirty="0"/>
              <a:t>Idempotent</a:t>
            </a:r>
            <a:r>
              <a:rPr lang="vi-VN" dirty="0"/>
              <a:t>: gọi xóa nhiều lần cùng một tài nguyên thì kết quả như nhau (xóa xong thì không còn nữa).</a:t>
            </a:r>
          </a:p>
          <a:p>
            <a:pPr marL="158750" indent="0">
              <a:buFontTx/>
              <a:buNone/>
            </a:pPr>
            <a:r>
              <a:rPr lang="vi-VN" b="1" dirty="0"/>
              <a:t>Ví dụ:</a:t>
            </a:r>
            <a:r>
              <a:rPr lang="vi-VN" dirty="0"/>
              <a:t> DELETE /device/123 để xóa một thiết bị khỏi hệ thống IoT.</a:t>
            </a:r>
          </a:p>
          <a:p>
            <a:pPr marL="158750" indent="0">
              <a:buFontTx/>
              <a:buNone/>
            </a:pPr>
            <a:r>
              <a:rPr lang="vi-VN" b="1" dirty="0"/>
              <a:t>5. HEAD</a:t>
            </a:r>
          </a:p>
          <a:p>
            <a:pPr marL="158750" indent="0">
              <a:buFontTx/>
              <a:buNone/>
            </a:pPr>
            <a:r>
              <a:rPr lang="vi-VN" b="1" dirty="0"/>
              <a:t>Mục đích:</a:t>
            </a:r>
            <a:r>
              <a:rPr lang="vi-VN" dirty="0"/>
              <a:t> Giống GET nhưng chỉ lấy </a:t>
            </a:r>
            <a:r>
              <a:rPr lang="vi-VN" b="1" dirty="0"/>
              <a:t>header</a:t>
            </a:r>
            <a:r>
              <a:rPr lang="vi-VN" dirty="0"/>
              <a:t>, không lấy phần dữ liệu (body).</a:t>
            </a:r>
          </a:p>
          <a:p>
            <a:pPr marL="158750" indent="0">
              <a:buFontTx/>
              <a:buNone/>
            </a:pPr>
            <a:r>
              <a:rPr lang="vi-VN" b="1" dirty="0"/>
              <a:t>Ứng dụng:</a:t>
            </a:r>
            <a:r>
              <a:rPr lang="vi-VN" dirty="0"/>
              <a:t> Dùng để kiểm tra tài nguyên có tồn tại hay không, hoặc lấy metadata (loại file, dung lượng).</a:t>
            </a:r>
          </a:p>
          <a:p>
            <a:pPr marL="158750" indent="0">
              <a:buFontTx/>
              <a:buNone/>
            </a:pPr>
            <a:r>
              <a:rPr lang="vi-VN" b="1" dirty="0"/>
              <a:t>6. OPTIONS</a:t>
            </a:r>
          </a:p>
          <a:p>
            <a:pPr marL="158750" indent="0">
              <a:buFontTx/>
              <a:buNone/>
            </a:pPr>
            <a:r>
              <a:rPr lang="vi-VN" b="1" dirty="0"/>
              <a:t>Mục đích:</a:t>
            </a:r>
            <a:r>
              <a:rPr lang="vi-VN" dirty="0"/>
              <a:t> Hỏi server xem tài nguyên hỗ trợ những phương thức HTTP nào.</a:t>
            </a:r>
          </a:p>
          <a:p>
            <a:pPr marL="158750" indent="0">
              <a:buFontTx/>
              <a:buNone/>
            </a:pPr>
            <a:r>
              <a:rPr lang="vi-VN" b="1" dirty="0"/>
              <a:t>Ứng dụng:</a:t>
            </a:r>
            <a:r>
              <a:rPr lang="vi-VN" dirty="0"/>
              <a:t> Thường dùng trong </a:t>
            </a:r>
            <a:r>
              <a:rPr lang="vi-VN" b="1" dirty="0"/>
              <a:t>CORS (Cross-Origin Resource Sharing)</a:t>
            </a:r>
            <a:r>
              <a:rPr lang="vi-VN" dirty="0"/>
              <a:t>.</a:t>
            </a:r>
          </a:p>
          <a:p>
            <a:pPr marL="158750" indent="0">
              <a:buFontTx/>
              <a:buNone/>
            </a:pPr>
            <a:r>
              <a:rPr lang="vi-VN" b="1" dirty="0"/>
              <a:t>7. PATCH</a:t>
            </a:r>
          </a:p>
          <a:p>
            <a:pPr marL="158750" indent="0">
              <a:buFontTx/>
              <a:buNone/>
            </a:pPr>
            <a:r>
              <a:rPr lang="vi-VN" b="1" dirty="0"/>
              <a:t>Mục đích:</a:t>
            </a:r>
            <a:r>
              <a:rPr lang="vi-VN" dirty="0"/>
              <a:t> Cập nhật một phần tài nguyên.</a:t>
            </a:r>
          </a:p>
          <a:p>
            <a:pPr marL="158750" indent="0">
              <a:buFontTx/>
              <a:buNone/>
            </a:pPr>
            <a:r>
              <a:rPr lang="vi-VN" b="1" dirty="0"/>
              <a:t>Khác với PUT:</a:t>
            </a:r>
            <a:r>
              <a:rPr lang="vi-VN" dirty="0"/>
              <a:t> PUT thay thế toàn bộ tài nguyên, còn PATCH chỉ sửa một phần.</a:t>
            </a:r>
          </a:p>
          <a:p>
            <a:pPr marL="158750" indent="0">
              <a:buFontTx/>
              <a:buNone/>
            </a:pPr>
            <a:r>
              <a:rPr lang="vi-VN" b="1" dirty="0"/>
              <a:t>Ví dụ:</a:t>
            </a:r>
            <a:r>
              <a:rPr lang="vi-VN" dirty="0"/>
              <a:t> PATCH /light/1 với {"status": "off"} chỉ thay đổi trạng thái bật/tắt, không ảnh hưởng đến độ sáng.</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3382128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817411976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817411976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HTTP Response Code là gì?</a:t>
            </a:r>
          </a:p>
          <a:p>
            <a:pPr marL="158750" indent="0">
              <a:buFontTx/>
              <a:buNone/>
            </a:pPr>
            <a:r>
              <a:rPr lang="vi-VN" dirty="0"/>
              <a:t>Khi </a:t>
            </a:r>
            <a:r>
              <a:rPr lang="vi-VN" b="1" dirty="0"/>
              <a:t>client</a:t>
            </a:r>
            <a:r>
              <a:rPr lang="vi-VN" dirty="0"/>
              <a:t> (thiết bị IoT, trình duyệt, app) gửi </a:t>
            </a:r>
            <a:r>
              <a:rPr lang="vi-VN" b="1" dirty="0"/>
              <a:t>HTTP request</a:t>
            </a:r>
            <a:r>
              <a:rPr lang="vi-VN" dirty="0"/>
              <a:t> đến </a:t>
            </a:r>
            <a:r>
              <a:rPr lang="vi-VN" b="1" dirty="0"/>
              <a:t>server</a:t>
            </a:r>
            <a:r>
              <a:rPr lang="vi-VN" dirty="0"/>
              <a:t>, server sẽ trả về một </a:t>
            </a:r>
            <a:r>
              <a:rPr lang="vi-VN" b="1" dirty="0"/>
              <a:t>HTTP response</a:t>
            </a:r>
            <a:r>
              <a:rPr lang="vi-VN" dirty="0"/>
              <a:t>.</a:t>
            </a:r>
          </a:p>
          <a:p>
            <a:pPr marL="158750" indent="0">
              <a:buFontTx/>
              <a:buNone/>
            </a:pPr>
            <a:r>
              <a:rPr lang="vi-VN" dirty="0"/>
              <a:t>Phản hồi này gồm: </a:t>
            </a:r>
            <a:r>
              <a:rPr lang="vi-VN" b="1" dirty="0"/>
              <a:t>status line, header, body</a:t>
            </a:r>
            <a:r>
              <a:rPr lang="vi-VN" dirty="0"/>
              <a:t>.</a:t>
            </a:r>
          </a:p>
          <a:p>
            <a:pPr marL="158750" indent="0">
              <a:buFontTx/>
              <a:buNone/>
            </a:pPr>
            <a:r>
              <a:rPr lang="vi-VN" dirty="0"/>
              <a:t>Trong đó, </a:t>
            </a:r>
            <a:r>
              <a:rPr lang="vi-VN" b="1" dirty="0"/>
              <a:t>status code</a:t>
            </a:r>
            <a:r>
              <a:rPr lang="vi-VN" dirty="0"/>
              <a:t> (mã trạng thái) là một số </a:t>
            </a:r>
            <a:r>
              <a:rPr lang="vi-VN" b="1" dirty="0"/>
              <a:t>3 chữ số</a:t>
            </a:r>
            <a:r>
              <a:rPr lang="vi-VN" dirty="0"/>
              <a:t> cho biết </a:t>
            </a:r>
            <a:r>
              <a:rPr lang="vi-VN" b="1" dirty="0"/>
              <a:t>kết quả của request</a:t>
            </a:r>
            <a:r>
              <a:rPr lang="vi-VN" dirty="0"/>
              <a:t>.</a:t>
            </a:r>
          </a:p>
          <a:p>
            <a:pPr marL="158750" indent="0">
              <a:buFontTx/>
              <a:buNone/>
            </a:pPr>
            <a:r>
              <a:rPr lang="vi-VN" b="1" dirty="0"/>
              <a:t>2. Các nhóm mã HTTP cơ bản</a:t>
            </a:r>
          </a:p>
          <a:p>
            <a:pPr marL="158750" indent="0">
              <a:buFontTx/>
              <a:buNone/>
            </a:pPr>
            <a:r>
              <a:rPr lang="en-US" b="1" dirty="0"/>
              <a:t>🔹 1</a:t>
            </a:r>
            <a:r>
              <a:rPr lang="vi-VN" b="1" dirty="0"/>
              <a:t>xx – Informational (Thông tin)</a:t>
            </a:r>
          </a:p>
          <a:p>
            <a:pPr marL="158750" indent="0">
              <a:buFontTx/>
              <a:buNone/>
            </a:pPr>
            <a:r>
              <a:rPr lang="vi-VN" dirty="0"/>
              <a:t>Ý nghĩa: Request đã nhận, đang xử lý.</a:t>
            </a:r>
          </a:p>
          <a:p>
            <a:pPr marL="158750" indent="0">
              <a:buFontTx/>
              <a:buNone/>
            </a:pPr>
            <a:r>
              <a:rPr lang="vi-VN" dirty="0"/>
              <a:t>Ví dụ: 100 Continue – server báo có thể tiếp tục gửi request.</a:t>
            </a:r>
            <a:br>
              <a:rPr lang="vi-VN" dirty="0"/>
            </a:br>
            <a:r>
              <a:rPr lang="en-US" dirty="0"/>
              <a:t>👉 </a:t>
            </a:r>
            <a:r>
              <a:rPr lang="vi-VN" dirty="0"/>
              <a:t>Ít dùng trong IoT.</a:t>
            </a:r>
          </a:p>
          <a:p>
            <a:pPr marL="158750" indent="0">
              <a:buFontTx/>
              <a:buNone/>
            </a:pPr>
            <a:r>
              <a:rPr lang="en-US" b="1" dirty="0"/>
              <a:t>🔹 2</a:t>
            </a:r>
            <a:r>
              <a:rPr lang="vi-VN" b="1" dirty="0"/>
              <a:t>xx – Success (Thành công)</a:t>
            </a:r>
          </a:p>
          <a:p>
            <a:pPr marL="158750" indent="0">
              <a:buFontTx/>
              <a:buNone/>
            </a:pPr>
            <a:r>
              <a:rPr lang="vi-VN" dirty="0"/>
              <a:t>Request được xử lý thành công.</a:t>
            </a:r>
          </a:p>
          <a:p>
            <a:pPr marL="158750" indent="0">
              <a:buFontTx/>
              <a:buNone/>
            </a:pPr>
            <a:r>
              <a:rPr lang="vi-VN" dirty="0"/>
              <a:t>Quan trọng trong IoT vì thường xuyên dùng để xác nhận dữ liệu đã gửi đi.</a:t>
            </a:r>
          </a:p>
          <a:p>
            <a:pPr marL="158750" indent="0">
              <a:buFontTx/>
              <a:buNone/>
            </a:pPr>
            <a:r>
              <a:rPr lang="vi-VN" dirty="0"/>
              <a:t>Ví dụ:</a:t>
            </a:r>
          </a:p>
          <a:p>
            <a:pPr marL="457200" lvl="1" indent="0">
              <a:buFontTx/>
              <a:buNone/>
            </a:pPr>
            <a:r>
              <a:rPr lang="vi-VN" dirty="0"/>
              <a:t>200 OK – Request thành công, có dữ liệu trả về.</a:t>
            </a:r>
          </a:p>
          <a:p>
            <a:pPr marL="457200" lvl="1" indent="0">
              <a:buFontTx/>
              <a:buNone/>
            </a:pPr>
            <a:r>
              <a:rPr lang="vi-VN" dirty="0"/>
              <a:t>201 Created – Tài nguyên đã được tạo thành công (thường dùng với POST).</a:t>
            </a:r>
          </a:p>
          <a:p>
            <a:pPr marL="457200" lvl="1" indent="0">
              <a:buFontTx/>
              <a:buNone/>
            </a:pPr>
            <a:r>
              <a:rPr lang="vi-VN" dirty="0"/>
              <a:t>204 No Content – Thành công nhưng không có dữ liệu trả về (ví dụ: IoT gửi lệnh bật đèn, server không cần trả data).</a:t>
            </a:r>
          </a:p>
          <a:p>
            <a:pPr marL="158750" indent="0">
              <a:buFontTx/>
              <a:buNone/>
            </a:pPr>
            <a:r>
              <a:rPr lang="en-US" b="1" dirty="0"/>
              <a:t>🔹 3</a:t>
            </a:r>
            <a:r>
              <a:rPr lang="vi-VN" b="1" dirty="0"/>
              <a:t>xx – Redirection (Chuyển hướng)</a:t>
            </a:r>
          </a:p>
          <a:p>
            <a:pPr marL="158750" indent="0">
              <a:buFontTx/>
              <a:buNone/>
            </a:pPr>
            <a:r>
              <a:rPr lang="vi-VN" dirty="0"/>
              <a:t>Client cần thực hiện thêm bước để hoàn thành request.</a:t>
            </a:r>
          </a:p>
          <a:p>
            <a:pPr marL="158750" indent="0">
              <a:buFontTx/>
              <a:buNone/>
            </a:pPr>
            <a:r>
              <a:rPr lang="vi-VN" dirty="0"/>
              <a:t>Ví dụ:</a:t>
            </a:r>
          </a:p>
          <a:p>
            <a:pPr marL="457200" lvl="1" indent="0">
              <a:buFontTx/>
              <a:buNone/>
            </a:pPr>
            <a:r>
              <a:rPr lang="vi-VN" dirty="0"/>
              <a:t>301 Moved Permanently – tài nguyên đã chuyển hẳn sang URL khác.</a:t>
            </a:r>
          </a:p>
          <a:p>
            <a:pPr marL="457200" lvl="1" indent="0">
              <a:buFontTx/>
              <a:buNone/>
            </a:pPr>
            <a:r>
              <a:rPr lang="vi-VN" dirty="0"/>
              <a:t>302 Found – tài nguyên tạm thời ở URL khác.</a:t>
            </a:r>
            <a:br>
              <a:rPr lang="vi-VN" dirty="0"/>
            </a:br>
            <a:r>
              <a:rPr lang="en-US" dirty="0"/>
              <a:t>👉 </a:t>
            </a:r>
            <a:r>
              <a:rPr lang="vi-VN" dirty="0"/>
              <a:t>Trong IoT ít gặp, nhưng quan trọng nếu API thay đổi endpoint.</a:t>
            </a:r>
          </a:p>
          <a:p>
            <a:pPr marL="158750" indent="0">
              <a:buFontTx/>
              <a:buNone/>
            </a:pPr>
            <a:r>
              <a:rPr lang="en-US" b="1" dirty="0"/>
              <a:t>🔹 4</a:t>
            </a:r>
            <a:r>
              <a:rPr lang="vi-VN" b="1" dirty="0"/>
              <a:t>xx – Client Error (Lỗi phía client)</a:t>
            </a:r>
          </a:p>
          <a:p>
            <a:pPr marL="158750" indent="0">
              <a:buFontTx/>
              <a:buNone/>
            </a:pPr>
            <a:r>
              <a:rPr lang="vi-VN" dirty="0"/>
              <a:t>Client gửi request sai → server không xử lý được.</a:t>
            </a:r>
          </a:p>
          <a:p>
            <a:pPr marL="158750" indent="0">
              <a:buFontTx/>
              <a:buNone/>
            </a:pPr>
            <a:r>
              <a:rPr lang="vi-VN" dirty="0"/>
              <a:t>Ví dụ:</a:t>
            </a:r>
          </a:p>
          <a:p>
            <a:pPr marL="457200" lvl="1" indent="0">
              <a:buFontTx/>
              <a:buNone/>
            </a:pPr>
            <a:r>
              <a:rPr lang="vi-VN" dirty="0"/>
              <a:t>400 Bad Request – request sai cú pháp.</a:t>
            </a:r>
          </a:p>
        </p:txBody>
      </p:sp>
    </p:spTree>
    <p:extLst>
      <p:ext uri="{BB962C8B-B14F-4D97-AF65-F5344CB8AC3E}">
        <p14:creationId xmlns:p14="http://schemas.microsoft.com/office/powerpoint/2010/main" val="4091877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817411976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817411976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en-US" b="1" dirty="0"/>
              <a:t>🔹 4</a:t>
            </a:r>
            <a:r>
              <a:rPr lang="vi-VN" b="1" dirty="0"/>
              <a:t>xx – Client Error (Lỗi phía client)</a:t>
            </a:r>
          </a:p>
          <a:p>
            <a:pPr marL="158750" indent="0">
              <a:buFontTx/>
              <a:buNone/>
            </a:pPr>
            <a:r>
              <a:rPr lang="vi-VN" dirty="0"/>
              <a:t>Client gửi request sai → server không xử lý được.</a:t>
            </a:r>
          </a:p>
          <a:p>
            <a:pPr marL="158750" indent="0">
              <a:buFontTx/>
              <a:buNone/>
            </a:pPr>
            <a:r>
              <a:rPr lang="vi-VN" dirty="0"/>
              <a:t>Ví dụ:</a:t>
            </a:r>
          </a:p>
          <a:p>
            <a:pPr marL="457200" lvl="1" indent="0">
              <a:buFontTx/>
              <a:buNone/>
            </a:pPr>
            <a:r>
              <a:rPr lang="vi-VN" dirty="0"/>
              <a:t>400 Bad Request – request sai cú pháp.</a:t>
            </a:r>
          </a:p>
          <a:p>
            <a:pPr marL="457200" lvl="1" indent="0">
              <a:buFontTx/>
              <a:buNone/>
            </a:pPr>
            <a:r>
              <a:rPr lang="vi-VN" dirty="0"/>
              <a:t>401 Unauthorized – cần xác thực (ví dụ: IoT chưa gửi token).</a:t>
            </a:r>
          </a:p>
          <a:p>
            <a:pPr marL="457200" lvl="1" indent="0">
              <a:buFontTx/>
              <a:buNone/>
            </a:pPr>
            <a:r>
              <a:rPr lang="vi-VN" dirty="0"/>
              <a:t>403 Forbidden – bị từ chối truy cập.</a:t>
            </a:r>
          </a:p>
          <a:p>
            <a:pPr marL="457200" lvl="1" indent="0">
              <a:buFontTx/>
              <a:buNone/>
            </a:pPr>
            <a:r>
              <a:rPr lang="vi-VN" dirty="0"/>
              <a:t>404 Not Found – không tìm thấy tài nguyên.</a:t>
            </a:r>
            <a:br>
              <a:rPr lang="vi-VN" dirty="0"/>
            </a:br>
            <a:r>
              <a:rPr lang="en-US" dirty="0"/>
              <a:t>👉 </a:t>
            </a:r>
            <a:r>
              <a:rPr lang="vi-VN" dirty="0"/>
              <a:t>Trong IoT, thường xảy ra khi </a:t>
            </a:r>
            <a:r>
              <a:rPr lang="vi-VN" b="1" dirty="0"/>
              <a:t>sai API endpoint hoặc thiếu thông tin xác thực</a:t>
            </a:r>
            <a:r>
              <a:rPr lang="vi-VN" dirty="0"/>
              <a:t>.</a:t>
            </a:r>
          </a:p>
          <a:p>
            <a:pPr marL="158750" indent="0">
              <a:buFontTx/>
              <a:buNone/>
            </a:pPr>
            <a:r>
              <a:rPr lang="en-US" b="1" dirty="0"/>
              <a:t>🔹 5</a:t>
            </a:r>
            <a:r>
              <a:rPr lang="vi-VN" b="1" dirty="0"/>
              <a:t>xx – Server Error (Lỗi phía server)</a:t>
            </a:r>
          </a:p>
          <a:p>
            <a:pPr marL="158750" indent="0">
              <a:buFontTx/>
              <a:buNone/>
            </a:pPr>
            <a:r>
              <a:rPr lang="vi-VN" dirty="0"/>
              <a:t>Server gặp lỗi khi xử lý request đúng.</a:t>
            </a:r>
          </a:p>
          <a:p>
            <a:pPr marL="158750" indent="0">
              <a:buFontTx/>
              <a:buNone/>
            </a:pPr>
            <a:r>
              <a:rPr lang="vi-VN" dirty="0"/>
              <a:t>Ví dụ:</a:t>
            </a:r>
          </a:p>
          <a:p>
            <a:pPr marL="457200" lvl="1" indent="0">
              <a:buFontTx/>
              <a:buNone/>
            </a:pPr>
            <a:r>
              <a:rPr lang="vi-VN" dirty="0"/>
              <a:t>500 Internal Server Error – lỗi chung của server.</a:t>
            </a:r>
          </a:p>
          <a:p>
            <a:pPr marL="457200" lvl="1" indent="0">
              <a:buFontTx/>
              <a:buNone/>
            </a:pPr>
            <a:r>
              <a:rPr lang="vi-VN" dirty="0"/>
              <a:t>502 Bad Gateway – gateway nhận phản hồi lỗi từ upstream server.</a:t>
            </a:r>
          </a:p>
          <a:p>
            <a:pPr marL="457200" lvl="1" indent="0">
              <a:buFontTx/>
              <a:buNone/>
            </a:pPr>
            <a:r>
              <a:rPr lang="vi-VN" dirty="0"/>
              <a:t>503 Service Unavailable – server quá tải hoặc đang bảo trì.</a:t>
            </a:r>
            <a:br>
              <a:rPr lang="vi-VN" dirty="0"/>
            </a:br>
            <a:r>
              <a:rPr lang="en-US" dirty="0"/>
              <a:t>👉 </a:t>
            </a:r>
            <a:r>
              <a:rPr lang="vi-VN" dirty="0"/>
              <a:t>Trong IoT, có thể gây mất dữ liệu nếu thiết bị gửi lên cloud mà server đang down.</a:t>
            </a:r>
          </a:p>
          <a:p>
            <a:pPr marL="158750" indent="0">
              <a:buFontTx/>
              <a:buNone/>
            </a:pPr>
            <a:r>
              <a:rPr lang="vi-VN" b="1" dirty="0"/>
              <a:t>3. Ứng dụng trong IoT</a:t>
            </a:r>
          </a:p>
          <a:p>
            <a:pPr marL="158750" indent="0">
              <a:buFontTx/>
              <a:buNone/>
            </a:pPr>
            <a:r>
              <a:rPr lang="vi-VN" b="1" dirty="0"/>
              <a:t>Thiết bị IoT</a:t>
            </a:r>
            <a:r>
              <a:rPr lang="vi-VN" dirty="0"/>
              <a:t> (ví dụ: ESP32) thường gửi dữ liệu qua HTTP/REST API.</a:t>
            </a:r>
          </a:p>
          <a:p>
            <a:pPr marL="158750" indent="0">
              <a:buFontTx/>
              <a:buNone/>
            </a:pPr>
            <a:r>
              <a:rPr lang="vi-VN" dirty="0"/>
              <a:t>Dựa vào </a:t>
            </a:r>
            <a:r>
              <a:rPr lang="vi-VN" b="1" dirty="0"/>
              <a:t>status code</a:t>
            </a:r>
            <a:r>
              <a:rPr lang="vi-VN" dirty="0"/>
              <a:t>, thiết bị biết được:</a:t>
            </a:r>
          </a:p>
          <a:p>
            <a:pPr marL="457200" lvl="1" indent="0">
              <a:buFontTx/>
              <a:buNone/>
            </a:pPr>
            <a:r>
              <a:rPr lang="vi-VN" dirty="0"/>
              <a:t>200 OK → dữ liệu gửi thành công.</a:t>
            </a:r>
          </a:p>
          <a:p>
            <a:pPr marL="457200" lvl="1" indent="0">
              <a:buFontTx/>
              <a:buNone/>
            </a:pPr>
            <a:r>
              <a:rPr lang="vi-VN" dirty="0"/>
              <a:t>401 Unauthorized → cần gửi lại với token hợp lệ.</a:t>
            </a:r>
          </a:p>
          <a:p>
            <a:pPr marL="457200" lvl="1" indent="0">
              <a:buFontTx/>
              <a:buNone/>
            </a:pPr>
            <a:r>
              <a:rPr lang="vi-VN" dirty="0"/>
              <a:t>503 Service Unavailable → server bận, có thể </a:t>
            </a:r>
            <a:r>
              <a:rPr lang="vi-VN" b="1" dirty="0"/>
              <a:t>retry sau</a:t>
            </a:r>
            <a:r>
              <a:rPr lang="vi-VN" dirty="0"/>
              <a:t>.</a:t>
            </a:r>
          </a:p>
          <a:p>
            <a:pPr marL="158750" indent="0">
              <a:buFontTx/>
              <a:buNone/>
            </a:pPr>
            <a:r>
              <a:rPr lang="vi-VN" dirty="0"/>
              <a:t>Việc xử lý đúng response code giúp IoT </a:t>
            </a:r>
            <a:r>
              <a:rPr lang="vi-VN" b="1" dirty="0"/>
              <a:t>hoạt động tin cậy, không mất dữ liệu</a:t>
            </a:r>
            <a:r>
              <a:rPr lang="vi-VN" dirty="0"/>
              <a:t>.</a:t>
            </a:r>
          </a:p>
          <a:p>
            <a:pPr marL="158750" indent="0">
              <a:buFontTx/>
              <a:buNone/>
            </a:pPr>
            <a:r>
              <a:rPr lang="en-US" b="1" dirty="0"/>
              <a:t>📌 </a:t>
            </a:r>
            <a:r>
              <a:rPr lang="vi-VN" b="1" dirty="0"/>
              <a:t>Kết luận cho sinh viên</a:t>
            </a:r>
          </a:p>
          <a:p>
            <a:pPr marL="158750" indent="0">
              <a:buFontTx/>
              <a:buNone/>
            </a:pPr>
            <a:r>
              <a:rPr lang="vi-VN" dirty="0"/>
              <a:t>HTTP Response Code giống như </a:t>
            </a:r>
            <a:r>
              <a:rPr lang="vi-VN" b="1" dirty="0"/>
              <a:t>“tín hiệu trả lời”</a:t>
            </a:r>
            <a:r>
              <a:rPr lang="vi-VN" dirty="0"/>
              <a:t> của server.</a:t>
            </a:r>
          </a:p>
          <a:p>
            <a:pPr marL="158750" indent="0">
              <a:buFontTx/>
              <a:buNone/>
            </a:pPr>
            <a:r>
              <a:rPr lang="vi-VN" dirty="0"/>
              <a:t>Chia làm 5 nhóm: </a:t>
            </a:r>
            <a:r>
              <a:rPr lang="vi-VN" b="1" dirty="0"/>
              <a:t>1xx (info), 2xx (success), 3xx (redirect), 4xx (client error), 5xx (server error)</a:t>
            </a:r>
            <a:r>
              <a:rPr lang="vi-VN" dirty="0"/>
              <a:t>.</a:t>
            </a:r>
          </a:p>
          <a:p>
            <a:pPr marL="158750" indent="0">
              <a:buFontTx/>
              <a:buNone/>
            </a:pPr>
            <a:r>
              <a:rPr lang="vi-VN" dirty="0"/>
              <a:t>Trong IoT: thường gặp nhất là </a:t>
            </a:r>
            <a:r>
              <a:rPr lang="vi-VN" b="1" dirty="0"/>
              <a:t>200, 201, 400, 401, 404, 500, 503</a:t>
            </a:r>
            <a:r>
              <a:rPr lang="vi-VN" dirty="0"/>
              <a:t>.</a:t>
            </a:r>
            <a:br>
              <a:rPr lang="vi-VN" dirty="0"/>
            </a:br>
            <a:r>
              <a:rPr lang="en-US" dirty="0"/>
              <a:t>👉 </a:t>
            </a:r>
            <a:r>
              <a:rPr lang="vi-VN" dirty="0"/>
              <a:t>Việc hiểu và xử lý đúng các mã này giúp hệ thống IoT </a:t>
            </a:r>
            <a:r>
              <a:rPr lang="vi-VN" b="1" dirty="0"/>
              <a:t>an toàn, ổn định và đáng tin cậy</a:t>
            </a:r>
            <a:r>
              <a:rPr lang="vi-VN" dirty="0"/>
              <a:t>.</a:t>
            </a:r>
          </a:p>
        </p:txBody>
      </p:sp>
    </p:spTree>
    <p:extLst>
      <p:ext uri="{BB962C8B-B14F-4D97-AF65-F5344CB8AC3E}">
        <p14:creationId xmlns:p14="http://schemas.microsoft.com/office/powerpoint/2010/main" val="2005970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833874ed67_4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833874ed67_4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err="1">
                <a:solidFill>
                  <a:srgbClr val="0A0A0A"/>
                </a:solidFill>
                <a:effectLst/>
                <a:latin typeface="Mulish"/>
              </a:rPr>
              <a:t>lấy</a:t>
            </a:r>
            <a:r>
              <a:rPr lang="en-US" b="0" i="0" dirty="0">
                <a:solidFill>
                  <a:srgbClr val="0A0A0A"/>
                </a:solidFill>
                <a:effectLst/>
                <a:latin typeface="Mulish"/>
              </a:rPr>
              <a:t> </a:t>
            </a:r>
            <a:r>
              <a:rPr lang="en-US" b="0" i="0" dirty="0" err="1">
                <a:solidFill>
                  <a:srgbClr val="0A0A0A"/>
                </a:solidFill>
                <a:effectLst/>
                <a:latin typeface="Mulish"/>
              </a:rPr>
              <a:t>dữ</a:t>
            </a:r>
            <a:r>
              <a:rPr lang="en-US" b="0" i="0" dirty="0">
                <a:solidFill>
                  <a:srgbClr val="0A0A0A"/>
                </a:solidFill>
                <a:effectLst/>
                <a:latin typeface="Mulish"/>
              </a:rPr>
              <a:t> </a:t>
            </a:r>
            <a:r>
              <a:rPr lang="en-US" b="0" i="0" dirty="0" err="1">
                <a:solidFill>
                  <a:srgbClr val="0A0A0A"/>
                </a:solidFill>
                <a:effectLst/>
                <a:latin typeface="Mulish"/>
              </a:rPr>
              <a:t>liệu</a:t>
            </a:r>
            <a:r>
              <a:rPr lang="en-US" b="0" i="0" dirty="0">
                <a:solidFill>
                  <a:srgbClr val="0A0A0A"/>
                </a:solidFill>
                <a:effectLst/>
                <a:latin typeface="Mulish"/>
              </a:rPr>
              <a:t> </a:t>
            </a:r>
            <a:r>
              <a:rPr lang="en-US" b="0" i="0" dirty="0" err="1">
                <a:solidFill>
                  <a:srgbClr val="0A0A0A"/>
                </a:solidFill>
                <a:effectLst/>
                <a:latin typeface="Mulish"/>
              </a:rPr>
              <a:t>thời</a:t>
            </a:r>
            <a:r>
              <a:rPr lang="en-US" b="0" i="0" dirty="0">
                <a:solidFill>
                  <a:srgbClr val="0A0A0A"/>
                </a:solidFill>
                <a:effectLst/>
                <a:latin typeface="Mulish"/>
              </a:rPr>
              <a:t> </a:t>
            </a:r>
            <a:r>
              <a:rPr lang="en-US" b="0" i="0" dirty="0" err="1">
                <a:solidFill>
                  <a:srgbClr val="0A0A0A"/>
                </a:solidFill>
                <a:effectLst/>
                <a:latin typeface="Mulish"/>
              </a:rPr>
              <a:t>tiết</a:t>
            </a:r>
            <a:r>
              <a:rPr lang="en-US" b="0" i="0" dirty="0">
                <a:solidFill>
                  <a:srgbClr val="0A0A0A"/>
                </a:solidFill>
                <a:effectLst/>
                <a:latin typeface="Mulish"/>
              </a:rPr>
              <a:t> </a:t>
            </a:r>
            <a:r>
              <a:rPr lang="en-US" b="0" i="0" dirty="0" err="1">
                <a:solidFill>
                  <a:srgbClr val="0A0A0A"/>
                </a:solidFill>
                <a:effectLst/>
                <a:latin typeface="Mulish"/>
              </a:rPr>
              <a:t>trên</a:t>
            </a:r>
            <a:r>
              <a:rPr lang="en-US" b="0" i="0" dirty="0">
                <a:solidFill>
                  <a:srgbClr val="0A0A0A"/>
                </a:solidFill>
                <a:effectLst/>
                <a:latin typeface="Mulish"/>
              </a:rPr>
              <a:t> openweather.org </a:t>
            </a:r>
            <a:r>
              <a:rPr lang="en-US" b="0" i="0" dirty="0" err="1">
                <a:solidFill>
                  <a:srgbClr val="0A0A0A"/>
                </a:solidFill>
                <a:effectLst/>
                <a:latin typeface="Mulish"/>
              </a:rPr>
              <a:t>sử</a:t>
            </a:r>
            <a:r>
              <a:rPr lang="en-US" b="0" i="0" dirty="0">
                <a:solidFill>
                  <a:srgbClr val="0A0A0A"/>
                </a:solidFill>
                <a:effectLst/>
                <a:latin typeface="Mulish"/>
              </a:rPr>
              <a:t> </a:t>
            </a:r>
            <a:r>
              <a:rPr lang="en-US" b="0" i="0" dirty="0" err="1">
                <a:solidFill>
                  <a:srgbClr val="0A0A0A"/>
                </a:solidFill>
                <a:effectLst/>
                <a:latin typeface="Mulish"/>
              </a:rPr>
              <a:t>dụng</a:t>
            </a:r>
            <a:r>
              <a:rPr lang="en-US" b="0" i="0" dirty="0">
                <a:solidFill>
                  <a:srgbClr val="0A0A0A"/>
                </a:solidFill>
                <a:effectLst/>
                <a:latin typeface="Mulish"/>
              </a:rPr>
              <a:t> ESP32 HTTP Client </a:t>
            </a:r>
            <a:r>
              <a:rPr lang="en-US" b="0" i="0" dirty="0" err="1">
                <a:solidFill>
                  <a:srgbClr val="0A0A0A"/>
                </a:solidFill>
                <a:effectLst/>
                <a:latin typeface="Mulish"/>
              </a:rPr>
              <a:t>giao</a:t>
            </a:r>
            <a:r>
              <a:rPr lang="en-US" b="0" i="0" dirty="0">
                <a:solidFill>
                  <a:srgbClr val="0A0A0A"/>
                </a:solidFill>
                <a:effectLst/>
                <a:latin typeface="Mulish"/>
              </a:rPr>
              <a:t> </a:t>
            </a:r>
            <a:r>
              <a:rPr lang="en-US" b="0" i="0" dirty="0" err="1">
                <a:solidFill>
                  <a:srgbClr val="0A0A0A"/>
                </a:solidFill>
                <a:effectLst/>
                <a:latin typeface="Mulish"/>
              </a:rPr>
              <a:t>thức</a:t>
            </a:r>
            <a:r>
              <a:rPr lang="en-US" b="0" i="0" dirty="0">
                <a:solidFill>
                  <a:srgbClr val="0A0A0A"/>
                </a:solidFill>
                <a:effectLst/>
                <a:latin typeface="Mulish"/>
              </a:rPr>
              <a:t> Get.</a:t>
            </a:r>
          </a:p>
          <a:p>
            <a:pPr marL="0" lvl="0" indent="0" algn="l" rtl="0">
              <a:spcBef>
                <a:spcPts val="0"/>
              </a:spcBef>
              <a:spcAft>
                <a:spcPts val="0"/>
              </a:spcAft>
              <a:buFontTx/>
              <a:buNone/>
            </a:pPr>
            <a:endParaRPr lang="en-US" b="0" i="0" dirty="0">
              <a:solidFill>
                <a:srgbClr val="0A0A0A"/>
              </a:solidFill>
              <a:effectLst/>
              <a:latin typeface="Mulish"/>
            </a:endParaRPr>
          </a:p>
          <a:p>
            <a:pPr marL="158750" indent="0" algn="l">
              <a:buFontTx/>
              <a:buNone/>
            </a:pPr>
            <a:r>
              <a:rPr lang="vi-VN" b="0" i="0" dirty="0">
                <a:solidFill>
                  <a:srgbClr val="0A0A0A"/>
                </a:solidFill>
                <a:effectLst/>
                <a:latin typeface="Mulish"/>
              </a:rPr>
              <a:t>Chúng ta có thể call API theo nhiều kiểu, phổ biến nhất là</a:t>
            </a:r>
          </a:p>
          <a:p>
            <a:pPr marL="158750" indent="0" algn="l">
              <a:buFontTx/>
              <a:buNone/>
            </a:pPr>
            <a:r>
              <a:rPr lang="en-US" b="0" i="0" dirty="0">
                <a:solidFill>
                  <a:srgbClr val="333333"/>
                </a:solidFill>
                <a:effectLst/>
                <a:latin typeface="Mulish"/>
              </a:rPr>
              <a:t>	- </a:t>
            </a:r>
            <a:r>
              <a:rPr lang="vi-VN" b="0" i="0" dirty="0">
                <a:solidFill>
                  <a:srgbClr val="333333"/>
                </a:solidFill>
                <a:effectLst/>
                <a:latin typeface="Mulish"/>
              </a:rPr>
              <a:t>Sử dụng Tên thành phố: City name</a:t>
            </a:r>
            <a:endParaRPr lang="vi-VN" b="0" i="0" dirty="0">
              <a:solidFill>
                <a:srgbClr val="0A0A0A"/>
              </a:solidFill>
              <a:effectLst/>
              <a:latin typeface="Mulish"/>
            </a:endParaRP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Sử dụng County code</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Sử dụng zip code</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Sử dụng tọa độ lat long</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Trong bài này chúng ta sẽ sử dụng tên thành phố để kiểm tra thời tiết.</a:t>
            </a:r>
          </a:p>
          <a:p>
            <a:pPr marL="158750" indent="0" algn="l">
              <a:buFontTx/>
              <a:buNone/>
            </a:pPr>
            <a:r>
              <a:rPr lang="vi-VN" b="1" i="0" dirty="0">
                <a:solidFill>
                  <a:srgbClr val="008000"/>
                </a:solidFill>
                <a:effectLst/>
                <a:latin typeface="Mulish"/>
              </a:rPr>
              <a:t>Cách lấy dữ liệu từ server với giao thức http get</a:t>
            </a:r>
            <a:endParaRPr lang="vi-VN" b="1" i="0" dirty="0">
              <a:solidFill>
                <a:srgbClr val="1E1E1E"/>
              </a:solidFill>
              <a:effectLst/>
              <a:latin typeface="Mulish"/>
            </a:endParaRP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Get là phương thức phổ biến nhất khi sử dụng giao thức </a:t>
            </a:r>
            <a:r>
              <a:rPr lang="vi-VN" b="0" i="0" u="none" strike="noStrike" dirty="0">
                <a:solidFill>
                  <a:srgbClr val="E91010"/>
                </a:solidFill>
                <a:effectLst/>
                <a:latin typeface="Mulish"/>
                <a:hlinkClick r:id="rId3"/>
              </a:rPr>
              <a:t>HTTP</a:t>
            </a:r>
            <a:r>
              <a:rPr lang="vi-VN" b="0" i="0" dirty="0">
                <a:solidFill>
                  <a:srgbClr val="0A0A0A"/>
                </a:solidFill>
                <a:effectLst/>
                <a:latin typeface="Mulish"/>
              </a:rPr>
              <a:t>. Với GET chúng ta có thể lấy dữ liệu từ server về.</a:t>
            </a:r>
            <a:r>
              <a:rPr lang="en-US" b="0" i="0" dirty="0">
                <a:solidFill>
                  <a:srgbClr val="0A0A0A"/>
                </a:solidFill>
                <a:effectLst/>
                <a:latin typeface="Mulish"/>
              </a:rPr>
              <a:t> </a:t>
            </a:r>
            <a:r>
              <a:rPr lang="vi-VN" b="0" i="0" dirty="0">
                <a:solidFill>
                  <a:srgbClr val="0A0A0A"/>
                </a:solidFill>
                <a:effectLst/>
                <a:latin typeface="Mulish"/>
              </a:rPr>
              <a:t>Thực tế trình duyệt của bạn cũng sử dụng GET để lấy thông tin về website tương ứng với url.</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Để sử dụng được HTTP GET chúng ta cần có những thông tin sau:</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Url: Địa chỉ server mà chúng ta trỏ tới, nó có thể là IP và port hoặc domain tương ứng.</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Phương thức: Chọn phương thức giao tiếp là GET</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Query: sau kí tự ?q= thường sẽ truyền một tham số mà server yêu cầu. Ví dụ như App key, thành phố, id….</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Header: Truyền vào kiểu dư liệu trả về, kiểu kết nối, hoặc các dữ liệu liên quan khác</a:t>
            </a:r>
          </a:p>
          <a:p>
            <a:pPr marL="158750" indent="0" algn="l">
              <a:buFontTx/>
              <a:buNone/>
            </a:pPr>
            <a:r>
              <a:rPr lang="en-US" b="0" i="0" dirty="0">
                <a:solidFill>
                  <a:srgbClr val="0A0A0A"/>
                </a:solidFill>
                <a:effectLst/>
                <a:latin typeface="Mulish"/>
              </a:rPr>
              <a:t>		+ </a:t>
            </a:r>
            <a:r>
              <a:rPr lang="vi-VN" b="0" i="0" dirty="0">
                <a:solidFill>
                  <a:srgbClr val="0A0A0A"/>
                </a:solidFill>
                <a:effectLst/>
                <a:latin typeface="Mulish"/>
              </a:rPr>
              <a:t>Body: Với GET thường sẽ không truyền Body gì cả</a:t>
            </a:r>
          </a:p>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a:buNone/>
            </a:pPr>
            <a:r>
              <a:rPr lang="en-US" b="0" i="0" dirty="0" err="1">
                <a:solidFill>
                  <a:srgbClr val="0A0A0A"/>
                </a:solidFill>
                <a:effectLst/>
                <a:latin typeface="Mulish"/>
              </a:rPr>
              <a:t>Khai</a:t>
            </a:r>
            <a:r>
              <a:rPr lang="en-US" b="0" i="0" dirty="0">
                <a:solidFill>
                  <a:srgbClr val="0A0A0A"/>
                </a:solidFill>
                <a:effectLst/>
                <a:latin typeface="Mulish"/>
              </a:rPr>
              <a:t> </a:t>
            </a:r>
            <a:r>
              <a:rPr lang="en-US" b="0" i="0" dirty="0" err="1">
                <a:solidFill>
                  <a:srgbClr val="0A0A0A"/>
                </a:solidFill>
                <a:effectLst/>
                <a:latin typeface="Mulish"/>
              </a:rPr>
              <a:t>báo</a:t>
            </a:r>
            <a:r>
              <a:rPr lang="en-US" b="0" i="0" dirty="0">
                <a:solidFill>
                  <a:srgbClr val="0A0A0A"/>
                </a:solidFill>
                <a:effectLst/>
                <a:latin typeface="Mulish"/>
              </a:rPr>
              <a:t> </a:t>
            </a:r>
            <a:r>
              <a:rPr lang="en-US" b="0" i="0" dirty="0" err="1">
                <a:solidFill>
                  <a:srgbClr val="0A0A0A"/>
                </a:solidFill>
                <a:effectLst/>
                <a:latin typeface="Mulish"/>
              </a:rPr>
              <a:t>hàm</a:t>
            </a:r>
            <a:r>
              <a:rPr lang="en-US" b="0" i="0" dirty="0">
                <a:solidFill>
                  <a:srgbClr val="0A0A0A"/>
                </a:solidFill>
                <a:effectLst/>
                <a:latin typeface="Mulish"/>
              </a:rPr>
              <a:t> GET, ở </a:t>
            </a:r>
            <a:r>
              <a:rPr lang="en-US" b="0" i="0" dirty="0" err="1">
                <a:solidFill>
                  <a:srgbClr val="0A0A0A"/>
                </a:solidFill>
                <a:effectLst/>
                <a:latin typeface="Mulish"/>
              </a:rPr>
              <a:t>đây</a:t>
            </a:r>
            <a:r>
              <a:rPr lang="en-US" b="0" i="0" dirty="0">
                <a:solidFill>
                  <a:srgbClr val="0A0A0A"/>
                </a:solidFill>
                <a:effectLst/>
                <a:latin typeface="Mulish"/>
              </a:rPr>
              <a:t> </a:t>
            </a:r>
            <a:r>
              <a:rPr lang="en-US" b="0" i="0" dirty="0" err="1">
                <a:solidFill>
                  <a:srgbClr val="0A0A0A"/>
                </a:solidFill>
                <a:effectLst/>
                <a:latin typeface="Mulish"/>
              </a:rPr>
              <a:t>chúng</a:t>
            </a:r>
            <a:r>
              <a:rPr lang="en-US" b="0" i="0" dirty="0">
                <a:solidFill>
                  <a:srgbClr val="0A0A0A"/>
                </a:solidFill>
                <a:effectLst/>
                <a:latin typeface="Mulish"/>
              </a:rPr>
              <a:t> ta </a:t>
            </a:r>
            <a:r>
              <a:rPr lang="en-US" b="0" i="0" dirty="0" err="1">
                <a:solidFill>
                  <a:srgbClr val="0A0A0A"/>
                </a:solidFill>
                <a:effectLst/>
                <a:latin typeface="Mulish"/>
              </a:rPr>
              <a:t>sử</a:t>
            </a:r>
            <a:r>
              <a:rPr lang="en-US" b="0" i="0" dirty="0">
                <a:solidFill>
                  <a:srgbClr val="0A0A0A"/>
                </a:solidFill>
                <a:effectLst/>
                <a:latin typeface="Mulish"/>
              </a:rPr>
              <a:t> </a:t>
            </a:r>
            <a:r>
              <a:rPr lang="en-US" b="0" i="0" dirty="0" err="1">
                <a:solidFill>
                  <a:srgbClr val="0A0A0A"/>
                </a:solidFill>
                <a:effectLst/>
                <a:latin typeface="Mulish"/>
              </a:rPr>
              <a:t>dụng</a:t>
            </a:r>
            <a:r>
              <a:rPr lang="en-US" b="0" i="0" dirty="0">
                <a:solidFill>
                  <a:srgbClr val="0A0A0A"/>
                </a:solidFill>
                <a:effectLst/>
                <a:latin typeface="Mulish"/>
              </a:rPr>
              <a:t> </a:t>
            </a:r>
            <a:r>
              <a:rPr lang="en-US" b="0" i="0" dirty="0" err="1">
                <a:solidFill>
                  <a:srgbClr val="0A0A0A"/>
                </a:solidFill>
                <a:effectLst/>
                <a:latin typeface="Mulish"/>
              </a:rPr>
              <a:t>thư</a:t>
            </a:r>
            <a:r>
              <a:rPr lang="en-US" b="0" i="0" dirty="0">
                <a:solidFill>
                  <a:srgbClr val="0A0A0A"/>
                </a:solidFill>
                <a:effectLst/>
                <a:latin typeface="Mulish"/>
              </a:rPr>
              <a:t> </a:t>
            </a:r>
            <a:r>
              <a:rPr lang="en-US" b="0" i="0" dirty="0" err="1">
                <a:solidFill>
                  <a:srgbClr val="0A0A0A"/>
                </a:solidFill>
                <a:effectLst/>
                <a:latin typeface="Mulish"/>
              </a:rPr>
              <a:t>viện</a:t>
            </a:r>
            <a:r>
              <a:rPr lang="en-US" b="0" i="0" dirty="0">
                <a:solidFill>
                  <a:srgbClr val="0A0A0A"/>
                </a:solidFill>
                <a:effectLst/>
                <a:latin typeface="Mulish"/>
              </a:rPr>
              <a:t> </a:t>
            </a:r>
            <a:r>
              <a:rPr lang="en-US" b="0" i="0" dirty="0" err="1">
                <a:solidFill>
                  <a:srgbClr val="0A0A0A"/>
                </a:solidFill>
                <a:effectLst/>
                <a:latin typeface="Mulish"/>
              </a:rPr>
              <a:t>HTTPClient.h</a:t>
            </a:r>
            <a:endParaRPr lang="en-US" b="0" i="0" dirty="0">
              <a:solidFill>
                <a:srgbClr val="0A0A0A"/>
              </a:solidFill>
              <a:effectLst/>
              <a:latin typeface="Mulish"/>
            </a:endParaRPr>
          </a:p>
          <a:p>
            <a:pPr marL="158750" indent="0" algn="l">
              <a:buNone/>
            </a:pPr>
            <a:endParaRPr lang="en-US" b="0" i="0" dirty="0">
              <a:solidFill>
                <a:srgbClr val="0A0A0A"/>
              </a:solidFill>
              <a:effectLst/>
              <a:latin typeface="Mulish"/>
            </a:endParaRPr>
          </a:p>
          <a:p>
            <a:pPr marL="158750" indent="0" algn="l">
              <a:buNone/>
            </a:pPr>
            <a:r>
              <a:rPr lang="vi-VN" b="0" i="0" dirty="0">
                <a:solidFill>
                  <a:srgbClr val="0A0A0A"/>
                </a:solidFill>
                <a:effectLst/>
                <a:latin typeface="Mulish"/>
              </a:rPr>
              <a:t>Chuỗi trả về dạng String JSON, có rất nhiều dữ liệu trong đó, chúng ta chỉ cần mỗi nhiệt độ và độ ẩm thì làm như thế nào?</a:t>
            </a:r>
          </a:p>
          <a:p>
            <a:pPr marL="158750" indent="0">
              <a:buFontTx/>
              <a:buNone/>
            </a:pPr>
            <a:br>
              <a:rPr lang="vi-VN" dirty="0"/>
            </a:br>
            <a:r>
              <a:rPr lang="vi-VN" b="1" dirty="0"/>
              <a:t>Chức năng của hàm</a:t>
            </a:r>
          </a:p>
          <a:p>
            <a:pPr marL="158750" indent="0" rtl="0">
              <a:buFontTx/>
              <a:buNone/>
            </a:pPr>
            <a:r>
              <a:rPr lang="vi-VN" dirty="0"/>
              <a:t>String httpGETRequest(const char* Url) </a:t>
            </a:r>
          </a:p>
          <a:p>
            <a:pPr marL="158750" indent="0">
              <a:buFontTx/>
              <a:buNone/>
            </a:pPr>
            <a:r>
              <a:rPr lang="vi-VN" dirty="0"/>
              <a:t>Đây là hàm dùng để gửi </a:t>
            </a:r>
            <a:r>
              <a:rPr lang="vi-VN" b="1" dirty="0"/>
              <a:t>HTTP GET request</a:t>
            </a:r>
            <a:r>
              <a:rPr lang="vi-VN" dirty="0"/>
              <a:t> đến một server theo URL được truyền vào.</a:t>
            </a:r>
          </a:p>
          <a:p>
            <a:pPr marL="158750" indent="0">
              <a:buFontTx/>
              <a:buNone/>
            </a:pPr>
            <a:r>
              <a:rPr lang="vi-VN" dirty="0"/>
              <a:t>Kết quả (nội dung trả về từ server) sẽ được đọc và lưu vào một chuỗi </a:t>
            </a:r>
            <a:r>
              <a:rPr lang="vi-VN" b="1" dirty="0"/>
              <a:t>String</a:t>
            </a:r>
            <a:r>
              <a:rPr lang="vi-VN" dirty="0"/>
              <a:t>.</a:t>
            </a:r>
          </a:p>
          <a:p>
            <a:pPr marL="158750" indent="0">
              <a:buFontTx/>
              <a:buNone/>
            </a:pPr>
            <a:r>
              <a:rPr lang="vi-VN" dirty="0"/>
              <a:t>Sau đó, hàm trả về chuỗi này để chương trình chính sử dụng (ví dụ: dữ liệu thời tiết từ API).</a:t>
            </a:r>
          </a:p>
          <a:p>
            <a:pPr marL="158750" indent="0">
              <a:buFontTx/>
              <a:buNone/>
            </a:pPr>
            <a:endParaRPr lang="en-US" b="1" dirty="0"/>
          </a:p>
          <a:p>
            <a:pPr marL="158750" indent="0">
              <a:buFontTx/>
              <a:buNone/>
            </a:pPr>
            <a:r>
              <a:rPr lang="vi-VN" b="1" dirty="0"/>
              <a:t>Các bước chi tiết trong hàm</a:t>
            </a:r>
          </a:p>
          <a:p>
            <a:pPr marL="158750" indent="0">
              <a:buFontTx/>
              <a:buNone/>
            </a:pPr>
            <a:r>
              <a:rPr lang="vi-VN" b="1" dirty="0"/>
              <a:t>1. Khởi tạo HTTP client</a:t>
            </a:r>
          </a:p>
          <a:p>
            <a:pPr marL="158750" indent="0" rtl="0">
              <a:buFontTx/>
              <a:buNone/>
            </a:pPr>
            <a:r>
              <a:rPr lang="vi-VN" dirty="0"/>
              <a:t>HTTPClient http; http.begin(Url); </a:t>
            </a:r>
          </a:p>
          <a:p>
            <a:pPr marL="158750" indent="0">
              <a:buFontTx/>
              <a:buNone/>
            </a:pPr>
            <a:r>
              <a:rPr lang="vi-VN" dirty="0"/>
              <a:t>Tạo đối tượng http từ thư viện </a:t>
            </a:r>
            <a:r>
              <a:rPr lang="vi-VN" b="1" dirty="0"/>
              <a:t>HTTPClient</a:t>
            </a:r>
            <a:r>
              <a:rPr lang="vi-VN" dirty="0"/>
              <a:t>.</a:t>
            </a:r>
          </a:p>
          <a:p>
            <a:pPr marL="158750" indent="0">
              <a:buFontTx/>
              <a:buNone/>
            </a:pPr>
            <a:r>
              <a:rPr lang="vi-VN" dirty="0"/>
              <a:t>http.begin(Url) → mở kết nối HTTP đến địa chỉ URL đã cho (ví dụ: API OpenWeatherMap).</a:t>
            </a:r>
          </a:p>
          <a:p>
            <a:pPr marL="158750" indent="0">
              <a:buFontTx/>
              <a:buNone/>
            </a:pPr>
            <a:r>
              <a:rPr lang="vi-VN" b="1" dirty="0"/>
              <a:t>2. Gửi yêu cầu GET</a:t>
            </a:r>
          </a:p>
          <a:p>
            <a:pPr marL="158750" indent="0" rtl="0">
              <a:buFontTx/>
              <a:buNone/>
            </a:pPr>
            <a:r>
              <a:rPr lang="vi-VN" dirty="0"/>
              <a:t>int responseCode = http.GET(); </a:t>
            </a:r>
          </a:p>
          <a:p>
            <a:pPr marL="158750" indent="0">
              <a:buFontTx/>
              <a:buNone/>
            </a:pPr>
            <a:r>
              <a:rPr lang="vi-VN" dirty="0"/>
              <a:t>Gửi lệnh GET đến server.</a:t>
            </a:r>
          </a:p>
          <a:p>
            <a:pPr marL="158750" indent="0">
              <a:buFontTx/>
              <a:buNone/>
            </a:pPr>
            <a:r>
              <a:rPr lang="vi-VN" dirty="0"/>
              <a:t>responseCode lưu mã trạng thái HTTP trả về:</a:t>
            </a:r>
          </a:p>
          <a:p>
            <a:pPr marL="457200" lvl="1" indent="0">
              <a:buFontTx/>
              <a:buNone/>
            </a:pPr>
            <a:r>
              <a:rPr lang="vi-VN" dirty="0"/>
              <a:t>200 → thành công.</a:t>
            </a:r>
          </a:p>
          <a:p>
            <a:pPr marL="457200" lvl="1" indent="0">
              <a:buFontTx/>
              <a:buNone/>
            </a:pPr>
            <a:r>
              <a:rPr lang="vi-VN" dirty="0"/>
              <a:t>404 → không tìm thấy trang.</a:t>
            </a:r>
          </a:p>
          <a:p>
            <a:pPr marL="457200" lvl="1" indent="0">
              <a:buFontTx/>
              <a:buNone/>
            </a:pPr>
            <a:r>
              <a:rPr lang="vi-VN" dirty="0"/>
              <a:t>503 → server bận.</a:t>
            </a:r>
          </a:p>
          <a:p>
            <a:pPr marL="158750" indent="0">
              <a:buFontTx/>
              <a:buNone/>
            </a:pPr>
            <a:r>
              <a:rPr lang="vi-VN" b="1" dirty="0"/>
              <a:t>3. Xử lý kết quả</a:t>
            </a:r>
          </a:p>
          <a:p>
            <a:pPr marL="158750" indent="0" rtl="0">
              <a:buFontTx/>
              <a:buNone/>
            </a:pPr>
            <a:r>
              <a:rPr lang="vi-VN" dirty="0"/>
              <a:t>String responseBody = "{}"; if(responseCode &gt; 0) { Serial.print("responseCode:"); Serial.println(responseCode); responseBody = http.getString(); } else { Serial.print("Error Code: "); Serial.println(responseCode); } </a:t>
            </a:r>
          </a:p>
          <a:p>
            <a:pPr marL="158750" indent="0">
              <a:buFontTx/>
              <a:buNone/>
            </a:pPr>
            <a:r>
              <a:rPr lang="vi-VN" dirty="0"/>
              <a:t>Khởi tạo responseBody là {} (một JSON rỗng).</a:t>
            </a:r>
          </a:p>
          <a:p>
            <a:pPr marL="158750" indent="0">
              <a:buFontTx/>
              <a:buNone/>
            </a:pPr>
            <a:r>
              <a:rPr lang="vi-VN" dirty="0"/>
              <a:t>Nếu </a:t>
            </a:r>
            <a:r>
              <a:rPr lang="vi-VN" b="1" dirty="0"/>
              <a:t>responseCode &gt; 0</a:t>
            </a:r>
            <a:r>
              <a:rPr lang="vi-VN" dirty="0"/>
              <a:t> (tức có phản hồi từ server):</a:t>
            </a:r>
          </a:p>
          <a:p>
            <a:pPr marL="457200" lvl="1" indent="0">
              <a:buFontTx/>
              <a:buNone/>
            </a:pPr>
            <a:r>
              <a:rPr lang="vi-VN" dirty="0"/>
              <a:t>In ra mã phản hồi (responseCode) trên Serial Monitor để debug.</a:t>
            </a:r>
          </a:p>
          <a:p>
            <a:pPr marL="457200" lvl="1" indent="0">
              <a:buFontTx/>
              <a:buNone/>
            </a:pPr>
            <a:r>
              <a:rPr lang="vi-VN" dirty="0"/>
              <a:t>Dùng http.getString() để lấy toàn bộ </a:t>
            </a:r>
            <a:r>
              <a:rPr lang="vi-VN" b="1" dirty="0"/>
              <a:t>nội dung trả về từ server</a:t>
            </a:r>
            <a:r>
              <a:rPr lang="vi-VN" dirty="0"/>
              <a:t> (thường ở dạng JSON hoặc HTML).</a:t>
            </a:r>
          </a:p>
          <a:p>
            <a:pPr marL="158750" indent="0">
              <a:buFontTx/>
              <a:buNone/>
            </a:pPr>
            <a:r>
              <a:rPr lang="vi-VN" dirty="0"/>
              <a:t>Nếu </a:t>
            </a:r>
            <a:r>
              <a:rPr lang="vi-VN" b="1" dirty="0"/>
              <a:t>responseCode ≤ 0</a:t>
            </a:r>
            <a:r>
              <a:rPr lang="vi-VN" dirty="0"/>
              <a:t> → báo lỗi.</a:t>
            </a:r>
          </a:p>
          <a:p>
            <a:pPr marL="158750" indent="0">
              <a:buFontTx/>
              <a:buNone/>
            </a:pPr>
            <a:r>
              <a:rPr lang="vi-VN" b="1" dirty="0"/>
              <a:t>4. Đóng kết nối</a:t>
            </a:r>
          </a:p>
          <a:p>
            <a:pPr marL="158750" indent="0" rtl="0">
              <a:buFontTx/>
              <a:buNone/>
            </a:pPr>
            <a:r>
              <a:rPr lang="vi-VN" dirty="0"/>
              <a:t>http.end(); </a:t>
            </a:r>
          </a:p>
          <a:p>
            <a:pPr marL="158750" indent="0">
              <a:buFontTx/>
              <a:buNone/>
            </a:pPr>
            <a:r>
              <a:rPr lang="vi-VN" dirty="0"/>
              <a:t>Đóng kết nối HTTP để </a:t>
            </a:r>
            <a:r>
              <a:rPr lang="vi-VN" b="1" dirty="0"/>
              <a:t>giải phóng bộ nhớ và tài nguyên</a:t>
            </a:r>
            <a:r>
              <a:rPr lang="vi-VN" dirty="0"/>
              <a:t>.</a:t>
            </a:r>
          </a:p>
          <a:p>
            <a:pPr marL="158750" indent="0">
              <a:buFontTx/>
              <a:buNone/>
            </a:pPr>
            <a:r>
              <a:rPr lang="vi-VN" dirty="0"/>
              <a:t>Quan trọng trong IoT vì ESP32 có RAM hạn chế.</a:t>
            </a:r>
          </a:p>
          <a:p>
            <a:pPr marL="158750" indent="0">
              <a:buFontTx/>
              <a:buNone/>
            </a:pPr>
            <a:r>
              <a:rPr lang="vi-VN" b="1" dirty="0"/>
              <a:t>5. Trả về dữ liệu</a:t>
            </a:r>
          </a:p>
          <a:p>
            <a:pPr marL="158750" indent="0" rtl="0">
              <a:buFontTx/>
              <a:buNone/>
            </a:pPr>
            <a:r>
              <a:rPr lang="vi-VN" dirty="0"/>
              <a:t>return responseBody; </a:t>
            </a:r>
          </a:p>
          <a:p>
            <a:pPr marL="158750" indent="0">
              <a:buFontTx/>
              <a:buNone/>
            </a:pPr>
            <a:r>
              <a:rPr lang="vi-VN" dirty="0"/>
              <a:t>Trả chuỗi dữ liệu nhận được (JSON từ API).</a:t>
            </a:r>
          </a:p>
          <a:p>
            <a:pPr marL="158750" indent="0">
              <a:buFontTx/>
              <a:buNone/>
            </a:pPr>
            <a:r>
              <a:rPr lang="vi-VN" dirty="0"/>
              <a:t>Chương trình chính sẽ dùng chuỗi này để </a:t>
            </a:r>
            <a:r>
              <a:rPr lang="vi-VN" b="1" dirty="0"/>
              <a:t>phân tích và hiển thị thông tin</a:t>
            </a:r>
            <a:r>
              <a:rPr lang="vi-VN" dirty="0"/>
              <a:t> (ví dụ: nhiệt độ, độ ẩm, trạng thái thời tiết).</a:t>
            </a:r>
          </a:p>
          <a:p>
            <a:pPr marL="158750" indent="0">
              <a:buFontTx/>
              <a:buNone/>
            </a:pPr>
            <a:endParaRPr lang="en-US" b="1" dirty="0"/>
          </a:p>
          <a:p>
            <a:pPr marL="158750" indent="0">
              <a:buFontTx/>
              <a:buNone/>
            </a:pPr>
            <a:r>
              <a:rPr lang="vi-VN" b="1" dirty="0"/>
              <a:t>Tóm tắt</a:t>
            </a:r>
            <a:r>
              <a:rPr lang="en-US" b="1" dirty="0"/>
              <a:t>:</a:t>
            </a:r>
            <a:endParaRPr lang="vi-VN" b="1" dirty="0"/>
          </a:p>
          <a:p>
            <a:pPr marL="158750" indent="0">
              <a:buFontTx/>
              <a:buNone/>
            </a:pPr>
            <a:r>
              <a:rPr lang="vi-VN" dirty="0"/>
              <a:t>Hàm httpGETRequest giúp ESP32:</a:t>
            </a:r>
          </a:p>
          <a:p>
            <a:pPr marL="158750" indent="0">
              <a:buFontTx/>
              <a:buNone/>
            </a:pPr>
            <a:r>
              <a:rPr lang="vi-VN" dirty="0"/>
              <a:t>Kết nối đến server qua URL.</a:t>
            </a:r>
          </a:p>
          <a:p>
            <a:pPr marL="158750" indent="0">
              <a:buFontTx/>
              <a:buNone/>
            </a:pPr>
            <a:r>
              <a:rPr lang="vi-VN" dirty="0"/>
              <a:t>Gửi request GET.</a:t>
            </a:r>
          </a:p>
          <a:p>
            <a:pPr marL="158750" indent="0">
              <a:buFontTx/>
              <a:buNone/>
            </a:pPr>
            <a:r>
              <a:rPr lang="vi-VN" dirty="0"/>
              <a:t>Nhận và in ra mã phản hồi (HTTP response code).</a:t>
            </a:r>
          </a:p>
          <a:p>
            <a:pPr marL="158750" indent="0">
              <a:buFontTx/>
              <a:buNone/>
            </a:pPr>
            <a:r>
              <a:rPr lang="vi-VN" dirty="0"/>
              <a:t>Lấy nội dung phản hồi (thường là JSON).</a:t>
            </a:r>
          </a:p>
          <a:p>
            <a:pPr marL="158750" indent="0">
              <a:buFontTx/>
              <a:buNone/>
            </a:pPr>
            <a:r>
              <a:rPr lang="vi-VN" dirty="0"/>
              <a:t>Trả dữ liệu về để chương trình xử lý.</a:t>
            </a:r>
          </a:p>
          <a:p>
            <a:pPr marL="158750" indent="0">
              <a:buFontTx/>
              <a:buNone/>
            </a:pPr>
            <a:r>
              <a:rPr lang="en-US" dirty="0"/>
              <a:t>=&gt; </a:t>
            </a:r>
            <a:r>
              <a:rPr lang="vi-VN" dirty="0"/>
              <a:t>Đây là </a:t>
            </a:r>
            <a:r>
              <a:rPr lang="vi-VN" b="1" dirty="0"/>
              <a:t>cầu nối</a:t>
            </a:r>
            <a:r>
              <a:rPr lang="vi-VN" dirty="0"/>
              <a:t> giữa thiết bị IoT và dịch vụ web/cloud, minh họa cách ESP32 giao tiếp với Internet bằng giao thức HTTP.</a:t>
            </a:r>
          </a:p>
          <a:p>
            <a:pPr marL="158750" indent="0">
              <a:buNone/>
            </a:pPr>
            <a:endParaRPr lang="en-US" dirty="0"/>
          </a:p>
        </p:txBody>
      </p:sp>
    </p:spTree>
    <p:extLst>
      <p:ext uri="{BB962C8B-B14F-4D97-AF65-F5344CB8AC3E}">
        <p14:creationId xmlns:p14="http://schemas.microsoft.com/office/powerpoint/2010/main" val="9355817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vi-VN" b="0" i="0" dirty="0">
                <a:solidFill>
                  <a:srgbClr val="0A0A0A"/>
                </a:solidFill>
                <a:effectLst/>
                <a:latin typeface="Mulish"/>
              </a:rPr>
              <a:t>Trong loop, gọi hàm http get và lưu kết quả trả về vào weatherJsonBuffer , Tạo một biến JSONVar tên weatherJson. Sau đó phân tích các biến này ra.</a:t>
            </a:r>
          </a:p>
          <a:p>
            <a:pPr algn="l"/>
            <a:r>
              <a:rPr lang="vi-VN" b="0" i="0" dirty="0">
                <a:solidFill>
                  <a:srgbClr val="0A0A0A"/>
                </a:solidFill>
                <a:effectLst/>
                <a:latin typeface="Mulish"/>
              </a:rPr>
              <a:t>Dữ liệu nhiệt độ, độ ẩm nằm ở cụm main, vị trí temp và humi.</a:t>
            </a:r>
          </a:p>
          <a:p>
            <a:endParaRPr lang="en-US" dirty="0"/>
          </a:p>
        </p:txBody>
      </p:sp>
    </p:spTree>
    <p:extLst>
      <p:ext uri="{BB962C8B-B14F-4D97-AF65-F5344CB8AC3E}">
        <p14:creationId xmlns:p14="http://schemas.microsoft.com/office/powerpoint/2010/main" val="2935930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4472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817411976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817411976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WebSocket trong IoT</a:t>
            </a:r>
            <a:endParaRPr lang="en-US" b="1" dirty="0"/>
          </a:p>
          <a:p>
            <a:pPr marL="158750" indent="0">
              <a:buFontTx/>
              <a:buNone/>
            </a:pPr>
            <a:endParaRPr lang="en-US" b="1" dirty="0"/>
          </a:p>
          <a:p>
            <a:pPr marL="158750" indent="0" algn="l">
              <a:buFontTx/>
              <a:buNone/>
            </a:pPr>
            <a:r>
              <a:rPr lang="en-US" b="1" i="0" dirty="0">
                <a:solidFill>
                  <a:srgbClr val="008000"/>
                </a:solidFill>
                <a:effectLst/>
                <a:latin typeface="Mulish"/>
              </a:rPr>
              <a:t>1. </a:t>
            </a:r>
            <a:r>
              <a:rPr lang="vi-VN" b="1" i="0" dirty="0">
                <a:solidFill>
                  <a:srgbClr val="008000"/>
                </a:solidFill>
                <a:effectLst/>
                <a:latin typeface="Mulish"/>
              </a:rPr>
              <a:t>Websocket là gì?</a:t>
            </a:r>
            <a:endParaRPr lang="vi-VN" b="1" i="0" dirty="0">
              <a:solidFill>
                <a:srgbClr val="1E1E1E"/>
              </a:solidFill>
              <a:effectLst/>
              <a:latin typeface="Mulish"/>
            </a:endParaRPr>
          </a:p>
          <a:p>
            <a:pPr marL="158750" indent="0" algn="l">
              <a:buFontTx/>
              <a:buNone/>
            </a:pPr>
            <a:r>
              <a:rPr lang="vi-VN" b="0" i="0" dirty="0">
                <a:solidFill>
                  <a:srgbClr val="0A0A0A"/>
                </a:solidFill>
                <a:effectLst/>
                <a:latin typeface="Mulish"/>
              </a:rPr>
              <a:t>WebSocket là một giao thức giao tiếp máy tính, hỗ trợ các channel giao tiếp full-duplex qua một kết nối TCP. Giao thức WebSocket được IETF chuẩn hóa RFC 6455 vào năm 2011. Hiện nay, API WebSocket trong Web IDL cũng đang được chuẩn hóa bởi W3C.</a:t>
            </a:r>
          </a:p>
          <a:p>
            <a:pPr marL="158750" indent="0" algn="l">
              <a:buFontTx/>
              <a:buNone/>
            </a:pPr>
            <a:r>
              <a:rPr lang="vi-VN" b="0" i="0" dirty="0">
                <a:solidFill>
                  <a:srgbClr val="0A0A0A"/>
                </a:solidFill>
                <a:effectLst/>
                <a:latin typeface="Mulish"/>
              </a:rPr>
              <a:t>Sử dụng WebSockets, bạn có thể tạo một ứng dụng real-time đúng nghĩa như ứng dụng chat, </a:t>
            </a:r>
            <a:r>
              <a:rPr lang="en-US" b="0" i="0" dirty="0">
                <a:solidFill>
                  <a:srgbClr val="0A0A0A"/>
                </a:solidFill>
                <a:effectLst/>
                <a:latin typeface="Mulish"/>
              </a:rPr>
              <a:t>game online, </a:t>
            </a:r>
            <a:r>
              <a:rPr lang="en-US" b="0" i="0" dirty="0" err="1">
                <a:solidFill>
                  <a:srgbClr val="0A0A0A"/>
                </a:solidFill>
                <a:effectLst/>
                <a:latin typeface="Mulish"/>
              </a:rPr>
              <a:t>điều</a:t>
            </a:r>
            <a:r>
              <a:rPr lang="en-US" b="0" i="0" dirty="0">
                <a:solidFill>
                  <a:srgbClr val="0A0A0A"/>
                </a:solidFill>
                <a:effectLst/>
                <a:latin typeface="Mulish"/>
              </a:rPr>
              <a:t> </a:t>
            </a:r>
            <a:r>
              <a:rPr lang="en-US" b="0" i="0" dirty="0" err="1">
                <a:solidFill>
                  <a:srgbClr val="0A0A0A"/>
                </a:solidFill>
                <a:effectLst/>
                <a:latin typeface="Mulish"/>
              </a:rPr>
              <a:t>kiển</a:t>
            </a:r>
            <a:r>
              <a:rPr lang="en-US" b="0" i="0" dirty="0">
                <a:solidFill>
                  <a:srgbClr val="0A0A0A"/>
                </a:solidFill>
                <a:effectLst/>
                <a:latin typeface="Mulish"/>
              </a:rPr>
              <a:t> </a:t>
            </a:r>
            <a:r>
              <a:rPr lang="en-US" b="0" i="0" dirty="0" err="1">
                <a:solidFill>
                  <a:srgbClr val="0A0A0A"/>
                </a:solidFill>
                <a:effectLst/>
                <a:latin typeface="Mulish"/>
              </a:rPr>
              <a:t>thiết</a:t>
            </a:r>
            <a:r>
              <a:rPr lang="en-US" b="0" i="0" dirty="0">
                <a:solidFill>
                  <a:srgbClr val="0A0A0A"/>
                </a:solidFill>
                <a:effectLst/>
                <a:latin typeface="Mulish"/>
              </a:rPr>
              <a:t> </a:t>
            </a:r>
            <a:r>
              <a:rPr lang="en-US" b="0" i="0" dirty="0" err="1">
                <a:solidFill>
                  <a:srgbClr val="0A0A0A"/>
                </a:solidFill>
                <a:effectLst/>
                <a:latin typeface="Mulish"/>
              </a:rPr>
              <a:t>bị</a:t>
            </a:r>
            <a:r>
              <a:rPr lang="en-US" b="0" i="0" dirty="0">
                <a:solidFill>
                  <a:srgbClr val="0A0A0A"/>
                </a:solidFill>
                <a:effectLst/>
                <a:latin typeface="Mulish"/>
              </a:rPr>
              <a:t> </a:t>
            </a:r>
            <a:r>
              <a:rPr lang="en-US" b="0" i="0" dirty="0" err="1">
                <a:solidFill>
                  <a:srgbClr val="0A0A0A"/>
                </a:solidFill>
                <a:effectLst/>
                <a:latin typeface="Mulish"/>
              </a:rPr>
              <a:t>tức</a:t>
            </a:r>
            <a:r>
              <a:rPr lang="en-US" b="0" i="0" dirty="0">
                <a:solidFill>
                  <a:srgbClr val="0A0A0A"/>
                </a:solidFill>
                <a:effectLst/>
                <a:latin typeface="Mulish"/>
              </a:rPr>
              <a:t> </a:t>
            </a:r>
            <a:r>
              <a:rPr lang="en-US" b="0" i="0" dirty="0" err="1">
                <a:solidFill>
                  <a:srgbClr val="0A0A0A"/>
                </a:solidFill>
                <a:effectLst/>
                <a:latin typeface="Mulish"/>
              </a:rPr>
              <a:t>thời</a:t>
            </a:r>
            <a:r>
              <a:rPr lang="en-US" b="0" i="0" dirty="0">
                <a:solidFill>
                  <a:srgbClr val="0A0A0A"/>
                </a:solidFill>
                <a:effectLst/>
                <a:latin typeface="Mulish"/>
              </a:rPr>
              <a:t>.</a:t>
            </a:r>
            <a:endParaRPr lang="vi-VN" b="1" dirty="0"/>
          </a:p>
          <a:p>
            <a:pPr marL="158750" indent="0">
              <a:buFontTx/>
              <a:buNone/>
            </a:pPr>
            <a:r>
              <a:rPr lang="en-US" b="1" dirty="0"/>
              <a:t>2</a:t>
            </a:r>
            <a:r>
              <a:rPr lang="vi-VN" b="1" dirty="0"/>
              <a:t>. Vòng đời kết nối WebSocket</a:t>
            </a:r>
          </a:p>
          <a:p>
            <a:pPr marL="158750" indent="0">
              <a:buFontTx/>
              <a:buNone/>
            </a:pPr>
            <a:r>
              <a:rPr lang="vi-VN" b="1" dirty="0"/>
              <a:t>Handshake (HTTP Upgrade)</a:t>
            </a:r>
            <a:br>
              <a:rPr lang="vi-VN" dirty="0"/>
            </a:br>
            <a:r>
              <a:rPr lang="vi-VN" dirty="0"/>
              <a:t>Client (thiết bị IoT) gửi yêu cầu mở kết nối WebSocket.</a:t>
            </a:r>
            <a:br>
              <a:rPr lang="vi-VN" dirty="0"/>
            </a:br>
            <a:r>
              <a:rPr lang="vi-VN" dirty="0"/>
              <a:t>Server (nền tảng IoT/Cloud) chấp nhận yêu cầu.</a:t>
            </a:r>
          </a:p>
          <a:p>
            <a:pPr marL="158750" indent="0">
              <a:buFontTx/>
              <a:buNone/>
            </a:pPr>
            <a:r>
              <a:rPr lang="vi-VN" b="1" dirty="0"/>
              <a:t>Truyền dữ liệu hai chiều (Bi-directional, Full Duplex)</a:t>
            </a:r>
            <a:endParaRPr lang="vi-VN" dirty="0"/>
          </a:p>
          <a:p>
            <a:pPr marL="457200" lvl="1" indent="0">
              <a:buFontTx/>
              <a:buNone/>
            </a:pPr>
            <a:r>
              <a:rPr lang="vi-VN" dirty="0"/>
              <a:t>Sau khi kết nối thiết lập, dữ liệu có thể gửi </a:t>
            </a:r>
            <a:r>
              <a:rPr lang="vi-VN" b="1" dirty="0"/>
              <a:t>đồng thời 2 chiều</a:t>
            </a:r>
            <a:r>
              <a:rPr lang="vi-VN" dirty="0"/>
              <a:t>.</a:t>
            </a:r>
          </a:p>
          <a:p>
            <a:pPr marL="457200" lvl="1" indent="0">
              <a:buFontTx/>
              <a:buNone/>
            </a:pPr>
            <a:r>
              <a:rPr lang="vi-VN" dirty="0"/>
              <a:t>Client → Server: gửi dữ liệu cảm biến (nhiệt độ, độ ẩm, vị trí GPS, …).</a:t>
            </a:r>
          </a:p>
          <a:p>
            <a:pPr marL="457200" lvl="1" indent="0">
              <a:buFontTx/>
              <a:buNone/>
            </a:pPr>
            <a:r>
              <a:rPr lang="vi-VN" dirty="0"/>
              <a:t>Server → Client: gửi lệnh điều khiển (bật quạt, mở đèn, thay đổi cấu hình thiết bị…).</a:t>
            </a:r>
          </a:p>
          <a:p>
            <a:pPr marL="158750" indent="0">
              <a:buFontTx/>
              <a:buNone/>
            </a:pPr>
            <a:r>
              <a:rPr lang="vi-VN" b="1" dirty="0"/>
              <a:t>Đóng kết nối</a:t>
            </a:r>
            <a:br>
              <a:rPr lang="vi-VN" dirty="0"/>
            </a:br>
            <a:r>
              <a:rPr lang="vi-VN" dirty="0"/>
              <a:t>Khi không cần nữa, Client gửi yêu cầu đóng, Server xác nhận và kết thúc kết nối.</a:t>
            </a:r>
          </a:p>
          <a:p>
            <a:pPr marL="158750" indent="0">
              <a:buFontTx/>
              <a:buNone/>
            </a:pPr>
            <a:endParaRPr lang="en-US" b="1" dirty="0"/>
          </a:p>
          <a:p>
            <a:pPr marL="158750" indent="0">
              <a:buFontTx/>
              <a:buNone/>
            </a:pPr>
            <a:r>
              <a:rPr lang="en-US" b="1" dirty="0"/>
              <a:t>3</a:t>
            </a:r>
            <a:r>
              <a:rPr lang="vi-VN" b="1" dirty="0"/>
              <a:t>. Đặc điểm nổi bật</a:t>
            </a:r>
          </a:p>
          <a:p>
            <a:pPr marL="158750" indent="0">
              <a:buFontTx/>
              <a:buNone/>
            </a:pPr>
            <a:r>
              <a:rPr lang="en-US" dirty="0"/>
              <a:t>- </a:t>
            </a:r>
            <a:r>
              <a:rPr lang="vi-VN" b="1" dirty="0"/>
              <a:t>Kết nối l</a:t>
            </a:r>
            <a:r>
              <a:rPr lang="en-US" b="1" dirty="0" err="1"/>
              <a:t>iên</a:t>
            </a:r>
            <a:r>
              <a:rPr lang="en-US" b="1" dirty="0"/>
              <a:t> </a:t>
            </a:r>
            <a:r>
              <a:rPr lang="en-US" b="1" dirty="0" err="1"/>
              <a:t>tục</a:t>
            </a:r>
            <a:r>
              <a:rPr lang="vi-VN" dirty="0"/>
              <a:t> (persistent connection) – không cần tạo request mới cho mỗi lần gửi dữ liệu.</a:t>
            </a:r>
            <a:br>
              <a:rPr lang="vi-VN" dirty="0"/>
            </a:br>
            <a:r>
              <a:rPr lang="en-US" dirty="0"/>
              <a:t>- </a:t>
            </a:r>
            <a:r>
              <a:rPr lang="vi-VN" b="1" dirty="0"/>
              <a:t>Thời gian thực (real-time)</a:t>
            </a:r>
            <a:r>
              <a:rPr lang="vi-VN" dirty="0"/>
              <a:t> – dữ liệu đến ngay khi có sự kiện (không phải chờ polling).</a:t>
            </a:r>
            <a:br>
              <a:rPr lang="vi-VN" dirty="0"/>
            </a:br>
            <a:r>
              <a:rPr lang="en-US" dirty="0"/>
              <a:t>-  </a:t>
            </a:r>
            <a:r>
              <a:rPr lang="vi-VN" b="1" dirty="0"/>
              <a:t>Full duplex</a:t>
            </a:r>
            <a:r>
              <a:rPr lang="vi-VN" dirty="0"/>
              <a:t> – vừa giám sát, vừa điều khiển song song.</a:t>
            </a:r>
          </a:p>
          <a:p>
            <a:pPr marL="158750" indent="0">
              <a:buFontTx/>
              <a:buNone/>
            </a:pPr>
            <a:endParaRPr lang="en-US" b="1" dirty="0"/>
          </a:p>
          <a:p>
            <a:pPr marL="158750" indent="0">
              <a:buFontTx/>
              <a:buNone/>
            </a:pPr>
            <a:r>
              <a:rPr lang="en-US" b="1" dirty="0"/>
              <a:t>4</a:t>
            </a:r>
            <a:r>
              <a:rPr lang="vi-VN" b="1" dirty="0"/>
              <a:t>. Ví dụ ứng dụng trong IoT</a:t>
            </a:r>
          </a:p>
          <a:p>
            <a:pPr marL="158750" indent="0">
              <a:buFontTx/>
              <a:buNone/>
            </a:pPr>
            <a:r>
              <a:rPr lang="vi-VN" b="1" dirty="0"/>
              <a:t>Smart Home:</a:t>
            </a:r>
            <a:endParaRPr lang="vi-VN" dirty="0"/>
          </a:p>
          <a:p>
            <a:pPr marL="457200" lvl="1" indent="0">
              <a:buFontTx/>
              <a:buNone/>
            </a:pPr>
            <a:r>
              <a:rPr lang="vi-VN" dirty="0"/>
              <a:t>Cảm biến nhiệt độ gửi dữ liệu </a:t>
            </a:r>
            <a:r>
              <a:rPr lang="vi-VN" b="1" dirty="0"/>
              <a:t>real-time</a:t>
            </a:r>
            <a:r>
              <a:rPr lang="vi-VN" dirty="0"/>
              <a:t> qua WebSocket lên server.</a:t>
            </a:r>
          </a:p>
          <a:p>
            <a:pPr marL="457200" lvl="1" indent="0">
              <a:buFontTx/>
              <a:buNone/>
            </a:pPr>
            <a:r>
              <a:rPr lang="vi-VN" dirty="0"/>
              <a:t>Server phân tích và </a:t>
            </a:r>
            <a:r>
              <a:rPr lang="vi-VN" b="1" dirty="0"/>
              <a:t>ngay lập tức</a:t>
            </a:r>
            <a:r>
              <a:rPr lang="vi-VN" dirty="0"/>
              <a:t> gửi lệnh bật quạt thông minh.</a:t>
            </a:r>
          </a:p>
          <a:p>
            <a:pPr marL="158750" indent="0">
              <a:buFontTx/>
              <a:buNone/>
            </a:pPr>
            <a:r>
              <a:rPr lang="vi-VN" b="1" dirty="0"/>
              <a:t>Theo dõi xe GPS:</a:t>
            </a:r>
            <a:endParaRPr lang="vi-VN" dirty="0"/>
          </a:p>
          <a:p>
            <a:pPr marL="457200" lvl="1" indent="0">
              <a:buFontTx/>
              <a:buNone/>
            </a:pPr>
            <a:r>
              <a:rPr lang="vi-VN" dirty="0"/>
              <a:t>Thiết bị gắn trên xe gửi toạ độ liên tục qua WebSocket.</a:t>
            </a:r>
          </a:p>
          <a:p>
            <a:pPr marL="457200" lvl="1" indent="0">
              <a:buFontTx/>
              <a:buNone/>
            </a:pPr>
            <a:r>
              <a:rPr lang="vi-VN" dirty="0"/>
              <a:t>Server cập nhật bản đồ thời gian thực trên dashboard cho người quản lý.</a:t>
            </a:r>
          </a:p>
          <a:p>
            <a:pPr marL="158750" indent="0">
              <a:buFontTx/>
              <a:buNone/>
            </a:pPr>
            <a:endParaRPr lang="en-US" b="1" dirty="0"/>
          </a:p>
          <a:p>
            <a:pPr marL="158750" indent="0">
              <a:buFontTx/>
              <a:buNone/>
            </a:pPr>
            <a:r>
              <a:rPr lang="vi-VN" b="1" dirty="0"/>
              <a:t>Kết luận cho sinh viên:</a:t>
            </a:r>
            <a:br>
              <a:rPr lang="vi-VN" dirty="0"/>
            </a:br>
            <a:r>
              <a:rPr lang="vi-VN" dirty="0"/>
              <a:t>WebSocket là </a:t>
            </a:r>
            <a:r>
              <a:rPr lang="vi-VN" b="1" dirty="0"/>
              <a:t>giải pháp hiệu quả</a:t>
            </a:r>
            <a:r>
              <a:rPr lang="vi-VN" dirty="0"/>
              <a:t> cho IoT khi cần </a:t>
            </a:r>
            <a:r>
              <a:rPr lang="vi-VN" b="1" dirty="0"/>
              <a:t>truyền dữ liệu hai chiều, thời gian thực, liên tục</a:t>
            </a:r>
            <a:r>
              <a:rPr lang="vi-VN" dirty="0"/>
              <a:t> giữa thiết bị và hệ thống điều khiển.</a:t>
            </a:r>
          </a:p>
          <a:p>
            <a:pPr marL="0" lvl="0" indent="0" algn="l" rtl="0">
              <a:spcBef>
                <a:spcPts val="0"/>
              </a:spcBef>
              <a:spcAft>
                <a:spcPts val="0"/>
              </a:spcAft>
              <a:buFontTx/>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ESP32 development board</a:t>
            </a:r>
            <a:endParaRPr lang="en-US" dirty="0"/>
          </a:p>
          <a:p>
            <a:pPr marL="158750" indent="0">
              <a:buNone/>
            </a:pPr>
            <a:r>
              <a:rPr lang="en-US" b="1" dirty="0"/>
              <a:t>2 </a:t>
            </a:r>
            <a:r>
              <a:rPr lang="en-US" b="1" dirty="0" err="1"/>
              <a:t>đèn</a:t>
            </a:r>
            <a:r>
              <a:rPr lang="en-US" b="1" dirty="0"/>
              <a:t> LED + 2 </a:t>
            </a:r>
            <a:r>
              <a:rPr lang="en-US" b="1" dirty="0" err="1"/>
              <a:t>điện</a:t>
            </a:r>
            <a:r>
              <a:rPr lang="en-US" b="1" dirty="0"/>
              <a:t> </a:t>
            </a:r>
            <a:r>
              <a:rPr lang="en-US" b="1" dirty="0" err="1"/>
              <a:t>trở</a:t>
            </a:r>
            <a:r>
              <a:rPr lang="en-US" b="1" dirty="0"/>
              <a:t> 330</a:t>
            </a:r>
            <a:r>
              <a:rPr lang="el-GR" b="1" dirty="0"/>
              <a:t>Ω</a:t>
            </a:r>
            <a:endParaRPr lang="el-GR" dirty="0"/>
          </a:p>
          <a:p>
            <a:pPr marL="158750" indent="0">
              <a:buNone/>
            </a:pPr>
            <a:r>
              <a:rPr lang="en-US" b="1" dirty="0"/>
              <a:t>Breadboard + </a:t>
            </a:r>
            <a:r>
              <a:rPr lang="en-US" b="1" dirty="0" err="1"/>
              <a:t>dây</a:t>
            </a:r>
            <a:r>
              <a:rPr lang="en-US" b="1" dirty="0"/>
              <a:t> </a:t>
            </a:r>
            <a:r>
              <a:rPr lang="en-US" b="1" dirty="0" err="1"/>
              <a:t>cắm</a:t>
            </a:r>
            <a:br>
              <a:rPr lang="en-US" dirty="0"/>
            </a:br>
            <a:r>
              <a:rPr lang="en-US" dirty="0" err="1"/>
              <a:t>Mục</a:t>
            </a:r>
            <a:r>
              <a:rPr lang="en-US" dirty="0"/>
              <a:t> </a:t>
            </a:r>
            <a:r>
              <a:rPr lang="en-US" dirty="0" err="1"/>
              <a:t>tiêu</a:t>
            </a:r>
            <a:r>
              <a:rPr lang="en-US" dirty="0"/>
              <a:t>: </a:t>
            </a:r>
            <a:r>
              <a:rPr lang="en-US" dirty="0" err="1"/>
              <a:t>bật</a:t>
            </a:r>
            <a:r>
              <a:rPr lang="en-US" dirty="0"/>
              <a:t>/</a:t>
            </a:r>
            <a:r>
              <a:rPr lang="en-US" dirty="0" err="1"/>
              <a:t>tắt</a:t>
            </a:r>
            <a:r>
              <a:rPr lang="en-US" dirty="0"/>
              <a:t> LED qua WebSocket </a:t>
            </a:r>
            <a:r>
              <a:rPr lang="en-US" dirty="0" err="1"/>
              <a:t>từ</a:t>
            </a:r>
            <a:r>
              <a:rPr lang="en-US" dirty="0"/>
              <a:t> </a:t>
            </a:r>
            <a:r>
              <a:rPr lang="en-US" dirty="0" err="1"/>
              <a:t>trình</a:t>
            </a:r>
            <a:r>
              <a:rPr lang="en-US" dirty="0"/>
              <a:t> </a:t>
            </a:r>
            <a:r>
              <a:rPr lang="en-US" dirty="0" err="1"/>
              <a:t>duyệt</a:t>
            </a:r>
            <a:r>
              <a:rPr lang="en-US" dirty="0"/>
              <a:t>/</a:t>
            </a:r>
            <a:r>
              <a:rPr lang="en-US" dirty="0" err="1"/>
              <a:t>điện</a:t>
            </a:r>
            <a:r>
              <a:rPr lang="en-US" dirty="0"/>
              <a:t> </a:t>
            </a:r>
            <a:r>
              <a:rPr lang="en-US" dirty="0" err="1"/>
              <a:t>thoại</a:t>
            </a:r>
            <a:r>
              <a:rPr lang="en-US" dirty="0"/>
              <a:t>.</a:t>
            </a:r>
          </a:p>
          <a:p>
            <a:pPr marL="158750" indent="0">
              <a:buNone/>
            </a:pPr>
            <a:endParaRPr lang="en-US" dirty="0"/>
          </a:p>
        </p:txBody>
      </p:sp>
    </p:spTree>
    <p:extLst>
      <p:ext uri="{BB962C8B-B14F-4D97-AF65-F5344CB8AC3E}">
        <p14:creationId xmlns:p14="http://schemas.microsoft.com/office/powerpoint/2010/main" val="3081567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502193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91484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91434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Sử</a:t>
            </a:r>
            <a:r>
              <a:rPr lang="en-US" dirty="0"/>
              <a:t> </a:t>
            </a:r>
            <a:r>
              <a:rPr lang="en-US" dirty="0" err="1"/>
              <a:t>dụng</a:t>
            </a:r>
            <a:r>
              <a:rPr lang="en-US" dirty="0"/>
              <a:t> </a:t>
            </a:r>
            <a:r>
              <a:rPr lang="en-US" dirty="0" err="1"/>
              <a:t>thư</a:t>
            </a:r>
            <a:r>
              <a:rPr lang="en-US" dirty="0"/>
              <a:t> </a:t>
            </a:r>
            <a:r>
              <a:rPr lang="en-US" dirty="0" err="1"/>
              <a:t>viện</a:t>
            </a:r>
            <a:r>
              <a:rPr lang="en-US" dirty="0"/>
              <a:t> </a:t>
            </a:r>
            <a:r>
              <a:rPr lang="en-US" dirty="0" err="1"/>
              <a:t>AsyncTCp</a:t>
            </a:r>
            <a:r>
              <a:rPr lang="en-US" dirty="0"/>
              <a:t> </a:t>
            </a:r>
            <a:r>
              <a:rPr lang="en-US" dirty="0" err="1"/>
              <a:t>và</a:t>
            </a:r>
            <a:r>
              <a:rPr lang="en-US" dirty="0"/>
              <a:t> </a:t>
            </a:r>
            <a:r>
              <a:rPr lang="en-US" dirty="0" err="1"/>
              <a:t>ESPAsyncWebServer</a:t>
            </a:r>
            <a:r>
              <a:rPr lang="en-US" dirty="0"/>
              <a:t> </a:t>
            </a:r>
            <a:r>
              <a:rPr lang="en-US" dirty="0" err="1"/>
              <a:t>để</a:t>
            </a:r>
            <a:r>
              <a:rPr lang="en-US" dirty="0"/>
              <a:t> </a:t>
            </a:r>
            <a:r>
              <a:rPr lang="en-US" dirty="0" err="1"/>
              <a:t>lập</a:t>
            </a:r>
            <a:r>
              <a:rPr lang="en-US" dirty="0"/>
              <a:t> </a:t>
            </a:r>
            <a:r>
              <a:rPr lang="en-US" dirty="0" err="1"/>
              <a:t>trình</a:t>
            </a:r>
            <a:r>
              <a:rPr lang="en-US" dirty="0"/>
              <a:t> </a:t>
            </a:r>
            <a:r>
              <a:rPr lang="en-US" dirty="0" err="1"/>
              <a:t>websocket</a:t>
            </a:r>
            <a:r>
              <a:rPr lang="en-US" dirty="0"/>
              <a:t> </a:t>
            </a:r>
            <a:r>
              <a:rPr lang="en-US" dirty="0" err="1"/>
              <a:t>cho</a:t>
            </a:r>
            <a:r>
              <a:rPr lang="en-US" dirty="0"/>
              <a:t> ESP32</a:t>
            </a:r>
          </a:p>
        </p:txBody>
      </p:sp>
    </p:spTree>
    <p:extLst>
      <p:ext uri="{BB962C8B-B14F-4D97-AF65-F5344CB8AC3E}">
        <p14:creationId xmlns:p14="http://schemas.microsoft.com/office/powerpoint/2010/main" val="711253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0" i="0" dirty="0">
                <a:solidFill>
                  <a:srgbClr val="0A0A0A"/>
                </a:solidFill>
                <a:effectLst/>
                <a:latin typeface="Mulish"/>
              </a:rPr>
              <a:t>Trong Setup </a:t>
            </a:r>
            <a:r>
              <a:rPr lang="en-US" b="0" i="0" dirty="0" err="1">
                <a:solidFill>
                  <a:srgbClr val="0A0A0A"/>
                </a:solidFill>
                <a:effectLst/>
                <a:latin typeface="Mulish"/>
              </a:rPr>
              <a:t>chúng</a:t>
            </a:r>
            <a:r>
              <a:rPr lang="en-US" b="0" i="0" dirty="0">
                <a:solidFill>
                  <a:srgbClr val="0A0A0A"/>
                </a:solidFill>
                <a:effectLst/>
                <a:latin typeface="Mulish"/>
              </a:rPr>
              <a:t> ta </a:t>
            </a:r>
            <a:r>
              <a:rPr lang="en-US" b="0" i="0" dirty="0" err="1">
                <a:solidFill>
                  <a:srgbClr val="0A0A0A"/>
                </a:solidFill>
                <a:effectLst/>
                <a:latin typeface="Mulish"/>
              </a:rPr>
              <a:t>sẽ</a:t>
            </a:r>
            <a:r>
              <a:rPr lang="en-US" b="0" i="0" dirty="0">
                <a:solidFill>
                  <a:srgbClr val="0A0A0A"/>
                </a:solidFill>
                <a:effectLst/>
                <a:latin typeface="Mulish"/>
              </a:rPr>
              <a:t> </a:t>
            </a:r>
            <a:r>
              <a:rPr lang="en-US" b="0" i="0" dirty="0" err="1">
                <a:solidFill>
                  <a:srgbClr val="0A0A0A"/>
                </a:solidFill>
                <a:effectLst/>
                <a:latin typeface="Mulish"/>
              </a:rPr>
              <a:t>khởi</a:t>
            </a:r>
            <a:r>
              <a:rPr lang="en-US" b="0" i="0" dirty="0">
                <a:solidFill>
                  <a:srgbClr val="0A0A0A"/>
                </a:solidFill>
                <a:effectLst/>
                <a:latin typeface="Mulish"/>
              </a:rPr>
              <a:t> </a:t>
            </a:r>
            <a:r>
              <a:rPr lang="en-US" b="0" i="0" dirty="0" err="1">
                <a:solidFill>
                  <a:srgbClr val="0A0A0A"/>
                </a:solidFill>
                <a:effectLst/>
                <a:latin typeface="Mulish"/>
              </a:rPr>
              <a:t>tạo</a:t>
            </a:r>
            <a:r>
              <a:rPr lang="en-US" b="0" i="0" dirty="0">
                <a:solidFill>
                  <a:srgbClr val="0A0A0A"/>
                </a:solidFill>
                <a:effectLst/>
                <a:latin typeface="Mulish"/>
              </a:rPr>
              <a:t> </a:t>
            </a:r>
            <a:r>
              <a:rPr lang="en-US" b="0" i="0" dirty="0" err="1">
                <a:solidFill>
                  <a:srgbClr val="0A0A0A"/>
                </a:solidFill>
                <a:effectLst/>
                <a:latin typeface="Mulish"/>
              </a:rPr>
              <a:t>các</a:t>
            </a:r>
            <a:r>
              <a:rPr lang="en-US" b="0" i="0" dirty="0">
                <a:solidFill>
                  <a:srgbClr val="0A0A0A"/>
                </a:solidFill>
                <a:effectLst/>
                <a:latin typeface="Mulish"/>
              </a:rPr>
              <a:t> </a:t>
            </a:r>
            <a:r>
              <a:rPr lang="en-US" b="0" i="0" dirty="0" err="1">
                <a:solidFill>
                  <a:srgbClr val="0A0A0A"/>
                </a:solidFill>
                <a:effectLst/>
                <a:latin typeface="Mulish"/>
              </a:rPr>
              <a:t>chân</a:t>
            </a:r>
            <a:r>
              <a:rPr lang="en-US" b="0" i="0" dirty="0">
                <a:solidFill>
                  <a:srgbClr val="0A0A0A"/>
                </a:solidFill>
                <a:effectLst/>
                <a:latin typeface="Mulish"/>
              </a:rPr>
              <a:t> led, </a:t>
            </a:r>
            <a:r>
              <a:rPr lang="en-US" b="0" i="0" dirty="0" err="1">
                <a:solidFill>
                  <a:srgbClr val="0A0A0A"/>
                </a:solidFill>
                <a:effectLst/>
                <a:latin typeface="Mulish"/>
              </a:rPr>
              <a:t>kết</a:t>
            </a:r>
            <a:r>
              <a:rPr lang="en-US" b="0" i="0" dirty="0">
                <a:solidFill>
                  <a:srgbClr val="0A0A0A"/>
                </a:solidFill>
                <a:effectLst/>
                <a:latin typeface="Mulish"/>
              </a:rPr>
              <a:t> </a:t>
            </a:r>
            <a:r>
              <a:rPr lang="en-US" b="0" i="0" dirty="0" err="1">
                <a:solidFill>
                  <a:srgbClr val="0A0A0A"/>
                </a:solidFill>
                <a:effectLst/>
                <a:latin typeface="Mulish"/>
              </a:rPr>
              <a:t>nối</a:t>
            </a:r>
            <a:r>
              <a:rPr lang="en-US" b="0" i="0" dirty="0">
                <a:solidFill>
                  <a:srgbClr val="0A0A0A"/>
                </a:solidFill>
                <a:effectLst/>
                <a:latin typeface="Mulish"/>
              </a:rPr>
              <a:t> </a:t>
            </a:r>
            <a:r>
              <a:rPr lang="en-US" b="0" i="0" dirty="0" err="1">
                <a:solidFill>
                  <a:srgbClr val="0A0A0A"/>
                </a:solidFill>
                <a:effectLst/>
                <a:latin typeface="Mulish"/>
              </a:rPr>
              <a:t>tới</a:t>
            </a:r>
            <a:r>
              <a:rPr lang="en-US" b="0" i="0" dirty="0">
                <a:solidFill>
                  <a:srgbClr val="0A0A0A"/>
                </a:solidFill>
                <a:effectLst/>
                <a:latin typeface="Mulish"/>
              </a:rPr>
              <a:t> </a:t>
            </a:r>
            <a:r>
              <a:rPr lang="en-US" b="0" i="0" dirty="0" err="1">
                <a:solidFill>
                  <a:srgbClr val="0A0A0A"/>
                </a:solidFill>
                <a:effectLst/>
                <a:latin typeface="Mulish"/>
              </a:rPr>
              <a:t>wifi</a:t>
            </a:r>
            <a:endParaRPr lang="en-US" b="0" i="0" dirty="0">
              <a:solidFill>
                <a:srgbClr val="0A0A0A"/>
              </a:solidFill>
              <a:effectLst/>
              <a:latin typeface="Mulish"/>
            </a:endParaRPr>
          </a:p>
          <a:p>
            <a:br>
              <a:rPr lang="en-US" dirty="0"/>
            </a:br>
            <a:endParaRPr lang="en-US" dirty="0"/>
          </a:p>
        </p:txBody>
      </p:sp>
    </p:spTree>
    <p:extLst>
      <p:ext uri="{BB962C8B-B14F-4D97-AF65-F5344CB8AC3E}">
        <p14:creationId xmlns:p14="http://schemas.microsoft.com/office/powerpoint/2010/main" val="15923076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0" i="0" dirty="0" err="1">
                <a:solidFill>
                  <a:srgbClr val="0A0A0A"/>
                </a:solidFill>
                <a:effectLst/>
                <a:latin typeface="Mulish"/>
              </a:rPr>
              <a:t>Tiếp</a:t>
            </a:r>
            <a:r>
              <a:rPr lang="en-US" b="0" i="0" dirty="0">
                <a:solidFill>
                  <a:srgbClr val="0A0A0A"/>
                </a:solidFill>
                <a:effectLst/>
                <a:latin typeface="Mulish"/>
              </a:rPr>
              <a:t> </a:t>
            </a:r>
            <a:r>
              <a:rPr lang="en-US" b="0" i="0" dirty="0" err="1">
                <a:solidFill>
                  <a:srgbClr val="0A0A0A"/>
                </a:solidFill>
                <a:effectLst/>
                <a:latin typeface="Mulish"/>
              </a:rPr>
              <a:t>tới</a:t>
            </a:r>
            <a:r>
              <a:rPr lang="en-US" b="0" i="0" dirty="0">
                <a:solidFill>
                  <a:srgbClr val="0A0A0A"/>
                </a:solidFill>
                <a:effectLst/>
                <a:latin typeface="Mulish"/>
              </a:rPr>
              <a:t>, </a:t>
            </a:r>
            <a:r>
              <a:rPr lang="en-US" b="0" i="0" dirty="0" err="1">
                <a:solidFill>
                  <a:srgbClr val="0A0A0A"/>
                </a:solidFill>
                <a:effectLst/>
                <a:latin typeface="Mulish"/>
              </a:rPr>
              <a:t>khởi</a:t>
            </a:r>
            <a:r>
              <a:rPr lang="en-US" b="0" i="0" dirty="0">
                <a:solidFill>
                  <a:srgbClr val="0A0A0A"/>
                </a:solidFill>
                <a:effectLst/>
                <a:latin typeface="Mulish"/>
              </a:rPr>
              <a:t> </a:t>
            </a:r>
            <a:r>
              <a:rPr lang="en-US" b="0" i="0" dirty="0" err="1">
                <a:solidFill>
                  <a:srgbClr val="0A0A0A"/>
                </a:solidFill>
                <a:effectLst/>
                <a:latin typeface="Mulish"/>
              </a:rPr>
              <a:t>tạo</a:t>
            </a:r>
            <a:r>
              <a:rPr lang="en-US" b="0" i="0" dirty="0">
                <a:solidFill>
                  <a:srgbClr val="0A0A0A"/>
                </a:solidFill>
                <a:effectLst/>
                <a:latin typeface="Mulish"/>
              </a:rPr>
              <a:t> webserver </a:t>
            </a:r>
            <a:r>
              <a:rPr lang="en-US" b="0" i="0" dirty="0" err="1">
                <a:solidFill>
                  <a:srgbClr val="0A0A0A"/>
                </a:solidFill>
                <a:effectLst/>
                <a:latin typeface="Mulish"/>
              </a:rPr>
              <a:t>websocket</a:t>
            </a:r>
            <a:r>
              <a:rPr lang="en-US" b="0" i="0" dirty="0">
                <a:solidFill>
                  <a:srgbClr val="0A0A0A"/>
                </a:solidFill>
                <a:effectLst/>
                <a:latin typeface="Mulish"/>
              </a:rPr>
              <a:t>. </a:t>
            </a:r>
            <a:r>
              <a:rPr lang="en-US" b="0" i="0" dirty="0" err="1">
                <a:solidFill>
                  <a:srgbClr val="0A0A0A"/>
                </a:solidFill>
                <a:effectLst/>
                <a:latin typeface="Mulish"/>
              </a:rPr>
              <a:t>Sử</a:t>
            </a:r>
            <a:r>
              <a:rPr lang="en-US" b="0" i="0" dirty="0">
                <a:solidFill>
                  <a:srgbClr val="0A0A0A"/>
                </a:solidFill>
                <a:effectLst/>
                <a:latin typeface="Mulish"/>
              </a:rPr>
              <a:t> </a:t>
            </a:r>
            <a:r>
              <a:rPr lang="en-US" b="0" i="0" dirty="0" err="1">
                <a:solidFill>
                  <a:srgbClr val="0A0A0A"/>
                </a:solidFill>
                <a:effectLst/>
                <a:latin typeface="Mulish"/>
              </a:rPr>
              <a:t>dụng</a:t>
            </a:r>
            <a:r>
              <a:rPr lang="en-US" b="0" i="0" dirty="0">
                <a:solidFill>
                  <a:srgbClr val="0A0A0A"/>
                </a:solidFill>
                <a:effectLst/>
                <a:latin typeface="Mulish"/>
              </a:rPr>
              <a:t> </a:t>
            </a:r>
            <a:r>
              <a:rPr lang="en-US" b="0" i="0" dirty="0" err="1">
                <a:solidFill>
                  <a:srgbClr val="0A0A0A"/>
                </a:solidFill>
                <a:effectLst/>
                <a:latin typeface="Mulish"/>
              </a:rPr>
              <a:t>trang</a:t>
            </a:r>
            <a:r>
              <a:rPr lang="en-US" b="0" i="0" dirty="0">
                <a:solidFill>
                  <a:srgbClr val="0A0A0A"/>
                </a:solidFill>
                <a:effectLst/>
                <a:latin typeface="Mulish"/>
              </a:rPr>
              <a:t> </a:t>
            </a:r>
            <a:r>
              <a:rPr lang="en-US" b="0" i="0" dirty="0" err="1">
                <a:solidFill>
                  <a:srgbClr val="0A0A0A"/>
                </a:solidFill>
                <a:effectLst/>
                <a:latin typeface="Mulish"/>
              </a:rPr>
              <a:t>index_html</a:t>
            </a:r>
            <a:r>
              <a:rPr lang="en-US" b="0" i="0" dirty="0">
                <a:solidFill>
                  <a:srgbClr val="0A0A0A"/>
                </a:solidFill>
                <a:effectLst/>
                <a:latin typeface="Mulish"/>
              </a:rPr>
              <a:t> </a:t>
            </a:r>
            <a:r>
              <a:rPr lang="en-US" b="0" i="0" dirty="0" err="1">
                <a:solidFill>
                  <a:srgbClr val="0A0A0A"/>
                </a:solidFill>
                <a:effectLst/>
                <a:latin typeface="Mulish"/>
              </a:rPr>
              <a:t>đã</a:t>
            </a:r>
            <a:r>
              <a:rPr lang="en-US" b="0" i="0" dirty="0">
                <a:solidFill>
                  <a:srgbClr val="0A0A0A"/>
                </a:solidFill>
                <a:effectLst/>
                <a:latin typeface="Mulish"/>
              </a:rPr>
              <a:t> code </a:t>
            </a:r>
            <a:r>
              <a:rPr lang="en-US" b="0" i="0" dirty="0" err="1">
                <a:solidFill>
                  <a:srgbClr val="0A0A0A"/>
                </a:solidFill>
                <a:effectLst/>
                <a:latin typeface="Mulish"/>
              </a:rPr>
              <a:t>bên</a:t>
            </a:r>
            <a:r>
              <a:rPr lang="en-US" b="0" i="0" dirty="0">
                <a:solidFill>
                  <a:srgbClr val="0A0A0A"/>
                </a:solidFill>
                <a:effectLst/>
                <a:latin typeface="Mulish"/>
              </a:rPr>
              <a:t> </a:t>
            </a:r>
            <a:r>
              <a:rPr lang="en-US" b="0" i="0" dirty="0" err="1">
                <a:solidFill>
                  <a:srgbClr val="0A0A0A"/>
                </a:solidFill>
                <a:effectLst/>
                <a:latin typeface="Mulish"/>
              </a:rPr>
              <a:t>trên</a:t>
            </a:r>
            <a:r>
              <a:rPr lang="en-US" b="0" i="0" dirty="0">
                <a:solidFill>
                  <a:srgbClr val="0A0A0A"/>
                </a:solidFill>
                <a:effectLst/>
                <a:latin typeface="Mulish"/>
              </a:rPr>
              <a:t> </a:t>
            </a:r>
            <a:r>
              <a:rPr lang="en-US" b="0" i="0" dirty="0" err="1">
                <a:solidFill>
                  <a:srgbClr val="0A0A0A"/>
                </a:solidFill>
                <a:effectLst/>
                <a:latin typeface="Mulish"/>
              </a:rPr>
              <a:t>và</a:t>
            </a:r>
            <a:r>
              <a:rPr lang="en-US" b="0" i="0" dirty="0">
                <a:solidFill>
                  <a:srgbClr val="0A0A0A"/>
                </a:solidFill>
                <a:effectLst/>
                <a:latin typeface="Mulish"/>
              </a:rPr>
              <a:t> </a:t>
            </a:r>
            <a:r>
              <a:rPr lang="en-US" b="0" i="0" dirty="0" err="1">
                <a:solidFill>
                  <a:srgbClr val="0A0A0A"/>
                </a:solidFill>
                <a:effectLst/>
                <a:latin typeface="Mulish"/>
              </a:rPr>
              <a:t>hàm</a:t>
            </a:r>
            <a:r>
              <a:rPr lang="en-US" b="0" i="0" dirty="0">
                <a:solidFill>
                  <a:srgbClr val="0A0A0A"/>
                </a:solidFill>
                <a:effectLst/>
                <a:latin typeface="Mulish"/>
              </a:rPr>
              <a:t> processer </a:t>
            </a:r>
            <a:r>
              <a:rPr lang="en-US" b="0" i="0" dirty="0" err="1">
                <a:solidFill>
                  <a:srgbClr val="0A0A0A"/>
                </a:solidFill>
                <a:effectLst/>
                <a:latin typeface="Mulish"/>
              </a:rPr>
              <a:t>để</a:t>
            </a:r>
            <a:r>
              <a:rPr lang="en-US" b="0" i="0" dirty="0">
                <a:solidFill>
                  <a:srgbClr val="0A0A0A"/>
                </a:solidFill>
                <a:effectLst/>
                <a:latin typeface="Mulish"/>
              </a:rPr>
              <a:t> </a:t>
            </a:r>
            <a:r>
              <a:rPr lang="en-US" b="0" i="0" dirty="0" err="1">
                <a:solidFill>
                  <a:srgbClr val="0A0A0A"/>
                </a:solidFill>
                <a:effectLst/>
                <a:latin typeface="Mulish"/>
              </a:rPr>
              <a:t>xử</a:t>
            </a:r>
            <a:r>
              <a:rPr lang="en-US" b="0" i="0" dirty="0">
                <a:solidFill>
                  <a:srgbClr val="0A0A0A"/>
                </a:solidFill>
                <a:effectLst/>
                <a:latin typeface="Mulish"/>
              </a:rPr>
              <a:t> </a:t>
            </a:r>
            <a:r>
              <a:rPr lang="en-US" b="0" i="0" dirty="0" err="1">
                <a:solidFill>
                  <a:srgbClr val="0A0A0A"/>
                </a:solidFill>
                <a:effectLst/>
                <a:latin typeface="Mulish"/>
              </a:rPr>
              <a:t>lý</a:t>
            </a:r>
            <a:r>
              <a:rPr lang="en-US" b="0" i="0" dirty="0">
                <a:solidFill>
                  <a:srgbClr val="0A0A0A"/>
                </a:solidFill>
                <a:effectLst/>
                <a:latin typeface="Mulish"/>
              </a:rPr>
              <a:t> </a:t>
            </a:r>
            <a:r>
              <a:rPr lang="en-US" b="0" i="0" dirty="0" err="1">
                <a:solidFill>
                  <a:srgbClr val="0A0A0A"/>
                </a:solidFill>
                <a:effectLst/>
                <a:latin typeface="Mulish"/>
              </a:rPr>
              <a:t>dữ</a:t>
            </a:r>
            <a:r>
              <a:rPr lang="en-US" b="0" i="0" dirty="0">
                <a:solidFill>
                  <a:srgbClr val="0A0A0A"/>
                </a:solidFill>
                <a:effectLst/>
                <a:latin typeface="Mulish"/>
              </a:rPr>
              <a:t> </a:t>
            </a:r>
            <a:r>
              <a:rPr lang="en-US" b="0" i="0" dirty="0" err="1">
                <a:solidFill>
                  <a:srgbClr val="0A0A0A"/>
                </a:solidFill>
                <a:effectLst/>
                <a:latin typeface="Mulish"/>
              </a:rPr>
              <a:t>liệu</a:t>
            </a:r>
            <a:endParaRPr lang="en-US" b="0" i="0" dirty="0">
              <a:solidFill>
                <a:srgbClr val="0A0A0A"/>
              </a:solidFill>
              <a:effectLst/>
              <a:latin typeface="Mulish"/>
            </a:endParaRPr>
          </a:p>
          <a:p>
            <a:pPr algn="l"/>
            <a:r>
              <a:rPr lang="en-US" b="0" i="0" dirty="0">
                <a:solidFill>
                  <a:srgbClr val="0A0A0A"/>
                </a:solidFill>
                <a:effectLst/>
                <a:latin typeface="Mulish"/>
              </a:rPr>
              <a:t>Trong loop </a:t>
            </a:r>
            <a:r>
              <a:rPr lang="en-US" b="0" i="0" dirty="0" err="1">
                <a:solidFill>
                  <a:srgbClr val="0A0A0A"/>
                </a:solidFill>
                <a:effectLst/>
                <a:latin typeface="Mulish"/>
              </a:rPr>
              <a:t>chúng</a:t>
            </a:r>
            <a:r>
              <a:rPr lang="en-US" b="0" i="0" dirty="0">
                <a:solidFill>
                  <a:srgbClr val="0A0A0A"/>
                </a:solidFill>
                <a:effectLst/>
                <a:latin typeface="Mulish"/>
              </a:rPr>
              <a:t> ta </a:t>
            </a:r>
            <a:r>
              <a:rPr lang="en-US" b="0" i="0" dirty="0" err="1">
                <a:solidFill>
                  <a:srgbClr val="0A0A0A"/>
                </a:solidFill>
                <a:effectLst/>
                <a:latin typeface="Mulish"/>
              </a:rPr>
              <a:t>làm</a:t>
            </a:r>
            <a:r>
              <a:rPr lang="en-US" b="0" i="0" dirty="0">
                <a:solidFill>
                  <a:srgbClr val="0A0A0A"/>
                </a:solidFill>
                <a:effectLst/>
                <a:latin typeface="Mulish"/>
              </a:rPr>
              <a:t> </a:t>
            </a:r>
            <a:r>
              <a:rPr lang="en-US" b="0" i="0" dirty="0" err="1">
                <a:solidFill>
                  <a:srgbClr val="0A0A0A"/>
                </a:solidFill>
                <a:effectLst/>
                <a:latin typeface="Mulish"/>
              </a:rPr>
              <a:t>mới</a:t>
            </a:r>
            <a:r>
              <a:rPr lang="en-US" b="0" i="0" dirty="0">
                <a:solidFill>
                  <a:srgbClr val="0A0A0A"/>
                </a:solidFill>
                <a:effectLst/>
                <a:latin typeface="Mulish"/>
              </a:rPr>
              <a:t> </a:t>
            </a:r>
            <a:r>
              <a:rPr lang="en-US" b="0" i="0" dirty="0" err="1">
                <a:solidFill>
                  <a:srgbClr val="0A0A0A"/>
                </a:solidFill>
                <a:effectLst/>
                <a:latin typeface="Mulish"/>
              </a:rPr>
              <a:t>các</a:t>
            </a:r>
            <a:r>
              <a:rPr lang="en-US" b="0" i="0" dirty="0">
                <a:solidFill>
                  <a:srgbClr val="0A0A0A"/>
                </a:solidFill>
                <a:effectLst/>
                <a:latin typeface="Mulish"/>
              </a:rPr>
              <a:t> client </a:t>
            </a:r>
            <a:r>
              <a:rPr lang="en-US" b="0" i="0" dirty="0" err="1">
                <a:solidFill>
                  <a:srgbClr val="0A0A0A"/>
                </a:solidFill>
                <a:effectLst/>
                <a:latin typeface="Mulish"/>
              </a:rPr>
              <a:t>và</a:t>
            </a:r>
            <a:r>
              <a:rPr lang="en-US" b="0" i="0" dirty="0">
                <a:solidFill>
                  <a:srgbClr val="0A0A0A"/>
                </a:solidFill>
                <a:effectLst/>
                <a:latin typeface="Mulish"/>
              </a:rPr>
              <a:t> </a:t>
            </a:r>
            <a:r>
              <a:rPr lang="en-US" b="0" i="0" dirty="0" err="1">
                <a:solidFill>
                  <a:srgbClr val="0A0A0A"/>
                </a:solidFill>
                <a:effectLst/>
                <a:latin typeface="Mulish"/>
              </a:rPr>
              <a:t>ghi</a:t>
            </a:r>
            <a:r>
              <a:rPr lang="en-US" b="0" i="0" dirty="0">
                <a:solidFill>
                  <a:srgbClr val="0A0A0A"/>
                </a:solidFill>
                <a:effectLst/>
                <a:latin typeface="Mulish"/>
              </a:rPr>
              <a:t> </a:t>
            </a:r>
            <a:r>
              <a:rPr lang="en-US" b="0" i="0" dirty="0" err="1">
                <a:solidFill>
                  <a:srgbClr val="0A0A0A"/>
                </a:solidFill>
                <a:effectLst/>
                <a:latin typeface="Mulish"/>
              </a:rPr>
              <a:t>giá</a:t>
            </a:r>
            <a:r>
              <a:rPr lang="en-US" b="0" i="0" dirty="0">
                <a:solidFill>
                  <a:srgbClr val="0A0A0A"/>
                </a:solidFill>
                <a:effectLst/>
                <a:latin typeface="Mulish"/>
              </a:rPr>
              <a:t> </a:t>
            </a:r>
            <a:r>
              <a:rPr lang="en-US" b="0" i="0" dirty="0" err="1">
                <a:solidFill>
                  <a:srgbClr val="0A0A0A"/>
                </a:solidFill>
                <a:effectLst/>
                <a:latin typeface="Mulish"/>
              </a:rPr>
              <a:t>trị</a:t>
            </a:r>
            <a:r>
              <a:rPr lang="en-US" b="0" i="0" dirty="0">
                <a:solidFill>
                  <a:srgbClr val="0A0A0A"/>
                </a:solidFill>
                <a:effectLst/>
                <a:latin typeface="Mulish"/>
              </a:rPr>
              <a:t> </a:t>
            </a:r>
            <a:r>
              <a:rPr lang="en-US" b="0" i="0" dirty="0" err="1">
                <a:solidFill>
                  <a:srgbClr val="0A0A0A"/>
                </a:solidFill>
                <a:effectLst/>
                <a:latin typeface="Mulish"/>
              </a:rPr>
              <a:t>ra</a:t>
            </a:r>
            <a:r>
              <a:rPr lang="en-US" b="0" i="0" dirty="0">
                <a:solidFill>
                  <a:srgbClr val="0A0A0A"/>
                </a:solidFill>
                <a:effectLst/>
                <a:latin typeface="Mulish"/>
              </a:rPr>
              <a:t> led 1 </a:t>
            </a:r>
            <a:r>
              <a:rPr lang="en-US" b="0" i="0" dirty="0" err="1">
                <a:solidFill>
                  <a:srgbClr val="0A0A0A"/>
                </a:solidFill>
                <a:effectLst/>
                <a:latin typeface="Mulish"/>
              </a:rPr>
              <a:t>và</a:t>
            </a:r>
            <a:r>
              <a:rPr lang="en-US" b="0" i="0" dirty="0">
                <a:solidFill>
                  <a:srgbClr val="0A0A0A"/>
                </a:solidFill>
                <a:effectLst/>
                <a:latin typeface="Mulish"/>
              </a:rPr>
              <a:t> 2.</a:t>
            </a:r>
          </a:p>
          <a:p>
            <a:pPr marL="158750" indent="0">
              <a:buNone/>
            </a:pPr>
            <a:br>
              <a:rPr lang="en-US" dirty="0"/>
            </a:br>
            <a:endParaRPr lang="en-US" dirty="0"/>
          </a:p>
        </p:txBody>
      </p:sp>
    </p:spTree>
    <p:extLst>
      <p:ext uri="{BB962C8B-B14F-4D97-AF65-F5344CB8AC3E}">
        <p14:creationId xmlns:p14="http://schemas.microsoft.com/office/powerpoint/2010/main" val="1371215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vi-VN" b="0" i="0" dirty="0">
                <a:solidFill>
                  <a:srgbClr val="0A0A0A"/>
                </a:solidFill>
                <a:effectLst/>
                <a:latin typeface="Mulish"/>
              </a:rPr>
              <a:t>Một số hàm tự tạo để xử lý như.</a:t>
            </a:r>
          </a:p>
          <a:p>
            <a:pPr lvl="1" algn="l"/>
            <a:r>
              <a:rPr lang="vi-VN" b="0" i="0" dirty="0">
                <a:solidFill>
                  <a:srgbClr val="0A0A0A"/>
                </a:solidFill>
                <a:effectLst/>
                <a:latin typeface="Mulish"/>
              </a:rPr>
              <a:t>notifyClients: trả về giá trị của led và gửi về các client</a:t>
            </a:r>
          </a:p>
          <a:p>
            <a:pPr lvl="1" algn="l"/>
            <a:r>
              <a:rPr lang="vi-VN" b="0" i="0" dirty="0">
                <a:solidFill>
                  <a:srgbClr val="0A0A0A"/>
                </a:solidFill>
                <a:effectLst/>
                <a:latin typeface="Mulish"/>
              </a:rPr>
              <a:t>handleWebSocketMessage: Xử lý message của client, nếu có lệnh toggle1 và toggle 2 sẽ đảo trạng thái led và dùng notifyClients để gửi về client trạng thái led.</a:t>
            </a:r>
          </a:p>
          <a:p>
            <a:endParaRPr lang="en-US" dirty="0"/>
          </a:p>
        </p:txBody>
      </p:sp>
    </p:spTree>
    <p:extLst>
      <p:ext uri="{BB962C8B-B14F-4D97-AF65-F5344CB8AC3E}">
        <p14:creationId xmlns:p14="http://schemas.microsoft.com/office/powerpoint/2010/main" val="11822220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a:buNone/>
            </a:pPr>
            <a:r>
              <a:rPr lang="en-US" b="0" i="0" dirty="0" err="1">
                <a:solidFill>
                  <a:srgbClr val="0A0A0A"/>
                </a:solidFill>
                <a:effectLst/>
                <a:latin typeface="Mulish"/>
              </a:rPr>
              <a:t>Hàm</a:t>
            </a:r>
            <a:r>
              <a:rPr lang="en-US" b="0" i="0" dirty="0">
                <a:solidFill>
                  <a:srgbClr val="0A0A0A"/>
                </a:solidFill>
                <a:effectLst/>
                <a:latin typeface="Mulish"/>
              </a:rPr>
              <a:t> </a:t>
            </a:r>
            <a:r>
              <a:rPr lang="en-US" b="0" i="0" dirty="0" err="1">
                <a:solidFill>
                  <a:srgbClr val="0A0A0A"/>
                </a:solidFill>
                <a:effectLst/>
                <a:latin typeface="Mulish"/>
              </a:rPr>
              <a:t>onEvent</a:t>
            </a:r>
            <a:r>
              <a:rPr lang="en-US" b="0" i="0" dirty="0">
                <a:solidFill>
                  <a:srgbClr val="0A0A0A"/>
                </a:solidFill>
                <a:effectLst/>
                <a:latin typeface="Mulish"/>
              </a:rPr>
              <a:t> </a:t>
            </a:r>
            <a:r>
              <a:rPr lang="en-US" b="0" i="0" dirty="0" err="1">
                <a:solidFill>
                  <a:srgbClr val="0A0A0A"/>
                </a:solidFill>
                <a:effectLst/>
                <a:latin typeface="Mulish"/>
              </a:rPr>
              <a:t>để</a:t>
            </a:r>
            <a:r>
              <a:rPr lang="en-US" b="0" i="0" dirty="0">
                <a:solidFill>
                  <a:srgbClr val="0A0A0A"/>
                </a:solidFill>
                <a:effectLst/>
                <a:latin typeface="Mulish"/>
              </a:rPr>
              <a:t> </a:t>
            </a:r>
            <a:r>
              <a:rPr lang="en-US" b="0" i="0" dirty="0" err="1">
                <a:solidFill>
                  <a:srgbClr val="0A0A0A"/>
                </a:solidFill>
                <a:effectLst/>
                <a:latin typeface="Mulish"/>
              </a:rPr>
              <a:t>xử</a:t>
            </a:r>
            <a:r>
              <a:rPr lang="en-US" b="0" i="0" dirty="0">
                <a:solidFill>
                  <a:srgbClr val="0A0A0A"/>
                </a:solidFill>
                <a:effectLst/>
                <a:latin typeface="Mulish"/>
              </a:rPr>
              <a:t> </a:t>
            </a:r>
            <a:r>
              <a:rPr lang="en-US" b="0" i="0" dirty="0" err="1">
                <a:solidFill>
                  <a:srgbClr val="0A0A0A"/>
                </a:solidFill>
                <a:effectLst/>
                <a:latin typeface="Mulish"/>
              </a:rPr>
              <a:t>lý</a:t>
            </a:r>
            <a:r>
              <a:rPr lang="en-US" b="0" i="0" dirty="0">
                <a:solidFill>
                  <a:srgbClr val="0A0A0A"/>
                </a:solidFill>
                <a:effectLst/>
                <a:latin typeface="Mulish"/>
              </a:rPr>
              <a:t> </a:t>
            </a:r>
            <a:r>
              <a:rPr lang="en-US" b="0" i="0" dirty="0" err="1">
                <a:solidFill>
                  <a:srgbClr val="0A0A0A"/>
                </a:solidFill>
                <a:effectLst/>
                <a:latin typeface="Mulish"/>
              </a:rPr>
              <a:t>các</a:t>
            </a:r>
            <a:r>
              <a:rPr lang="en-US" b="0" i="0" dirty="0">
                <a:solidFill>
                  <a:srgbClr val="0A0A0A"/>
                </a:solidFill>
                <a:effectLst/>
                <a:latin typeface="Mulish"/>
              </a:rPr>
              <a:t> </a:t>
            </a:r>
            <a:r>
              <a:rPr lang="en-US" b="0" i="0" dirty="0" err="1">
                <a:solidFill>
                  <a:srgbClr val="0A0A0A"/>
                </a:solidFill>
                <a:effectLst/>
                <a:latin typeface="Mulish"/>
              </a:rPr>
              <a:t>sự</a:t>
            </a:r>
            <a:r>
              <a:rPr lang="en-US" b="0" i="0" dirty="0">
                <a:solidFill>
                  <a:srgbClr val="0A0A0A"/>
                </a:solidFill>
                <a:effectLst/>
                <a:latin typeface="Mulish"/>
              </a:rPr>
              <a:t> </a:t>
            </a:r>
            <a:r>
              <a:rPr lang="en-US" b="0" i="0" dirty="0" err="1">
                <a:solidFill>
                  <a:srgbClr val="0A0A0A"/>
                </a:solidFill>
                <a:effectLst/>
                <a:latin typeface="Mulish"/>
              </a:rPr>
              <a:t>kiện</a:t>
            </a:r>
            <a:r>
              <a:rPr lang="en-US" b="0" i="0" dirty="0">
                <a:solidFill>
                  <a:srgbClr val="0A0A0A"/>
                </a:solidFill>
                <a:effectLst/>
                <a:latin typeface="Mulish"/>
              </a:rPr>
              <a:t> </a:t>
            </a:r>
            <a:r>
              <a:rPr lang="en-US" b="0" i="0" dirty="0" err="1">
                <a:solidFill>
                  <a:srgbClr val="0A0A0A"/>
                </a:solidFill>
                <a:effectLst/>
                <a:latin typeface="Mulish"/>
              </a:rPr>
              <a:t>khi</a:t>
            </a:r>
            <a:r>
              <a:rPr lang="en-US" b="0" i="0" dirty="0">
                <a:solidFill>
                  <a:srgbClr val="0A0A0A"/>
                </a:solidFill>
                <a:effectLst/>
                <a:latin typeface="Mulish"/>
              </a:rPr>
              <a:t> </a:t>
            </a:r>
            <a:r>
              <a:rPr lang="en-US" b="0" i="0" dirty="0" err="1">
                <a:solidFill>
                  <a:srgbClr val="0A0A0A"/>
                </a:solidFill>
                <a:effectLst/>
                <a:latin typeface="Mulish"/>
              </a:rPr>
              <a:t>kết</a:t>
            </a:r>
            <a:r>
              <a:rPr lang="en-US" b="0" i="0" dirty="0">
                <a:solidFill>
                  <a:srgbClr val="0A0A0A"/>
                </a:solidFill>
                <a:effectLst/>
                <a:latin typeface="Mulish"/>
              </a:rPr>
              <a:t> </a:t>
            </a:r>
            <a:r>
              <a:rPr lang="en-US" b="0" i="0" dirty="0" err="1">
                <a:solidFill>
                  <a:srgbClr val="0A0A0A"/>
                </a:solidFill>
                <a:effectLst/>
                <a:latin typeface="Mulish"/>
              </a:rPr>
              <a:t>nối</a:t>
            </a:r>
            <a:r>
              <a:rPr lang="en-US" b="0" i="0" dirty="0">
                <a:solidFill>
                  <a:srgbClr val="0A0A0A"/>
                </a:solidFill>
                <a:effectLst/>
                <a:latin typeface="Mulish"/>
              </a:rPr>
              <a:t> </a:t>
            </a:r>
            <a:r>
              <a:rPr lang="en-US" b="0" i="0" dirty="0" err="1">
                <a:solidFill>
                  <a:srgbClr val="0A0A0A"/>
                </a:solidFill>
                <a:effectLst/>
                <a:latin typeface="Mulish"/>
              </a:rPr>
              <a:t>websocket</a:t>
            </a:r>
            <a:endParaRPr lang="en-US" b="0" i="0" dirty="0">
              <a:solidFill>
                <a:srgbClr val="0A0A0A"/>
              </a:solidFill>
              <a:effectLst/>
              <a:latin typeface="Mulish"/>
            </a:endParaRPr>
          </a:p>
          <a:p>
            <a:pPr marL="158750" indent="0">
              <a:buNone/>
            </a:pPr>
            <a:endParaRPr lang="en-US" dirty="0"/>
          </a:p>
        </p:txBody>
      </p:sp>
    </p:spTree>
    <p:extLst>
      <p:ext uri="{BB962C8B-B14F-4D97-AF65-F5344CB8AC3E}">
        <p14:creationId xmlns:p14="http://schemas.microsoft.com/office/powerpoint/2010/main" val="38582010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0" i="0" dirty="0" err="1">
                <a:solidFill>
                  <a:srgbClr val="0A0A0A"/>
                </a:solidFill>
                <a:effectLst/>
                <a:latin typeface="Mulish"/>
              </a:rPr>
              <a:t>Hàm</a:t>
            </a:r>
            <a:r>
              <a:rPr lang="en-US" b="0" i="0" dirty="0">
                <a:solidFill>
                  <a:srgbClr val="0A0A0A"/>
                </a:solidFill>
                <a:effectLst/>
                <a:latin typeface="Mulish"/>
              </a:rPr>
              <a:t> </a:t>
            </a:r>
            <a:r>
              <a:rPr lang="en-US" b="0" i="0" dirty="0" err="1">
                <a:solidFill>
                  <a:srgbClr val="0A0A0A"/>
                </a:solidFill>
                <a:effectLst/>
                <a:latin typeface="Mulish"/>
              </a:rPr>
              <a:t>initWebSocket</a:t>
            </a:r>
            <a:r>
              <a:rPr lang="en-US" b="0" i="0" dirty="0">
                <a:solidFill>
                  <a:srgbClr val="0A0A0A"/>
                </a:solidFill>
                <a:effectLst/>
                <a:latin typeface="Mulish"/>
              </a:rPr>
              <a:t> </a:t>
            </a:r>
            <a:r>
              <a:rPr lang="en-US" b="0" i="0" dirty="0" err="1">
                <a:solidFill>
                  <a:srgbClr val="0A0A0A"/>
                </a:solidFill>
                <a:effectLst/>
                <a:latin typeface="Mulish"/>
              </a:rPr>
              <a:t>để</a:t>
            </a:r>
            <a:r>
              <a:rPr lang="en-US" b="0" i="0" dirty="0">
                <a:solidFill>
                  <a:srgbClr val="0A0A0A"/>
                </a:solidFill>
                <a:effectLst/>
                <a:latin typeface="Mulish"/>
              </a:rPr>
              <a:t> </a:t>
            </a:r>
            <a:r>
              <a:rPr lang="en-US" b="0" i="0" dirty="0" err="1">
                <a:solidFill>
                  <a:srgbClr val="0A0A0A"/>
                </a:solidFill>
                <a:effectLst/>
                <a:latin typeface="Mulish"/>
              </a:rPr>
              <a:t>khởi</a:t>
            </a:r>
            <a:r>
              <a:rPr lang="en-US" b="0" i="0" dirty="0">
                <a:solidFill>
                  <a:srgbClr val="0A0A0A"/>
                </a:solidFill>
                <a:effectLst/>
                <a:latin typeface="Mulish"/>
              </a:rPr>
              <a:t> </a:t>
            </a:r>
            <a:r>
              <a:rPr lang="en-US" b="0" i="0" dirty="0" err="1">
                <a:solidFill>
                  <a:srgbClr val="0A0A0A"/>
                </a:solidFill>
                <a:effectLst/>
                <a:latin typeface="Mulish"/>
              </a:rPr>
              <a:t>tạo</a:t>
            </a:r>
            <a:endParaRPr lang="en-US" b="0" i="0" dirty="0">
              <a:solidFill>
                <a:srgbClr val="0A0A0A"/>
              </a:solidFill>
              <a:effectLst/>
              <a:latin typeface="Mulish"/>
            </a:endParaRPr>
          </a:p>
          <a:p>
            <a:pPr algn="l"/>
            <a:r>
              <a:rPr lang="en-US" b="0" i="0" dirty="0" err="1">
                <a:solidFill>
                  <a:srgbClr val="0A0A0A"/>
                </a:solidFill>
                <a:effectLst/>
                <a:latin typeface="Mulish"/>
              </a:rPr>
              <a:t>Hàm</a:t>
            </a:r>
            <a:r>
              <a:rPr lang="en-US" b="0" i="0" dirty="0">
                <a:solidFill>
                  <a:srgbClr val="0A0A0A"/>
                </a:solidFill>
                <a:effectLst/>
                <a:latin typeface="Mulish"/>
              </a:rPr>
              <a:t> processor </a:t>
            </a:r>
            <a:r>
              <a:rPr lang="en-US" b="0" i="0" dirty="0" err="1">
                <a:solidFill>
                  <a:srgbClr val="0A0A0A"/>
                </a:solidFill>
                <a:effectLst/>
                <a:latin typeface="Mulish"/>
              </a:rPr>
              <a:t>để</a:t>
            </a:r>
            <a:r>
              <a:rPr lang="en-US" b="0" i="0" dirty="0">
                <a:solidFill>
                  <a:srgbClr val="0A0A0A"/>
                </a:solidFill>
                <a:effectLst/>
                <a:latin typeface="Mulish"/>
              </a:rPr>
              <a:t> </a:t>
            </a:r>
            <a:r>
              <a:rPr lang="en-US" b="0" i="0" dirty="0" err="1">
                <a:solidFill>
                  <a:srgbClr val="0A0A0A"/>
                </a:solidFill>
                <a:effectLst/>
                <a:latin typeface="Mulish"/>
              </a:rPr>
              <a:t>sửa</a:t>
            </a:r>
            <a:r>
              <a:rPr lang="en-US" b="0" i="0" dirty="0">
                <a:solidFill>
                  <a:srgbClr val="0A0A0A"/>
                </a:solidFill>
                <a:effectLst/>
                <a:latin typeface="Mulish"/>
              </a:rPr>
              <a:t> </a:t>
            </a:r>
            <a:r>
              <a:rPr lang="en-US" b="0" i="0" dirty="0" err="1">
                <a:solidFill>
                  <a:srgbClr val="0A0A0A"/>
                </a:solidFill>
                <a:effectLst/>
                <a:latin typeface="Mulish"/>
              </a:rPr>
              <a:t>giá</a:t>
            </a:r>
            <a:r>
              <a:rPr lang="en-US" b="0" i="0" dirty="0">
                <a:solidFill>
                  <a:srgbClr val="0A0A0A"/>
                </a:solidFill>
                <a:effectLst/>
                <a:latin typeface="Mulish"/>
              </a:rPr>
              <a:t> </a:t>
            </a:r>
            <a:r>
              <a:rPr lang="en-US" b="0" i="0" dirty="0" err="1">
                <a:solidFill>
                  <a:srgbClr val="0A0A0A"/>
                </a:solidFill>
                <a:effectLst/>
                <a:latin typeface="Mulish"/>
              </a:rPr>
              <a:t>trị</a:t>
            </a:r>
            <a:r>
              <a:rPr lang="en-US" b="0" i="0" dirty="0">
                <a:solidFill>
                  <a:srgbClr val="0A0A0A"/>
                </a:solidFill>
                <a:effectLst/>
                <a:latin typeface="Mulish"/>
              </a:rPr>
              <a:t> </a:t>
            </a:r>
            <a:r>
              <a:rPr lang="en-US" b="0" i="0" dirty="0" err="1">
                <a:solidFill>
                  <a:srgbClr val="0A0A0A"/>
                </a:solidFill>
                <a:effectLst/>
                <a:latin typeface="Mulish"/>
              </a:rPr>
              <a:t>của</a:t>
            </a:r>
            <a:r>
              <a:rPr lang="en-US" b="0" i="0" dirty="0">
                <a:solidFill>
                  <a:srgbClr val="0A0A0A"/>
                </a:solidFill>
                <a:effectLst/>
                <a:latin typeface="Mulish"/>
              </a:rPr>
              <a:t> STATES1 </a:t>
            </a:r>
            <a:r>
              <a:rPr lang="en-US" b="0" i="0" dirty="0" err="1">
                <a:solidFill>
                  <a:srgbClr val="0A0A0A"/>
                </a:solidFill>
                <a:effectLst/>
                <a:latin typeface="Mulish"/>
              </a:rPr>
              <a:t>và</a:t>
            </a:r>
            <a:r>
              <a:rPr lang="en-US" b="0" i="0" dirty="0">
                <a:solidFill>
                  <a:srgbClr val="0A0A0A"/>
                </a:solidFill>
                <a:effectLst/>
                <a:latin typeface="Mulish"/>
              </a:rPr>
              <a:t> STATES 2 </a:t>
            </a:r>
            <a:r>
              <a:rPr lang="en-US" b="0" i="0" dirty="0" err="1">
                <a:solidFill>
                  <a:srgbClr val="0A0A0A"/>
                </a:solidFill>
                <a:effectLst/>
                <a:latin typeface="Mulish"/>
              </a:rPr>
              <a:t>trên</a:t>
            </a:r>
            <a:r>
              <a:rPr lang="en-US" b="0" i="0" dirty="0">
                <a:solidFill>
                  <a:srgbClr val="0A0A0A"/>
                </a:solidFill>
                <a:effectLst/>
                <a:latin typeface="Mulish"/>
              </a:rPr>
              <a:t> web</a:t>
            </a:r>
          </a:p>
          <a:p>
            <a:endParaRPr lang="en-US" dirty="0"/>
          </a:p>
        </p:txBody>
      </p:sp>
    </p:spTree>
    <p:extLst>
      <p:ext uri="{BB962C8B-B14F-4D97-AF65-F5344CB8AC3E}">
        <p14:creationId xmlns:p14="http://schemas.microsoft.com/office/powerpoint/2010/main" val="34465128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833874ed67_4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833874ed67_4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817411976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817411976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b="1" dirty="0"/>
              <a:t>1. Định nghĩa cơ bản</a:t>
            </a:r>
          </a:p>
          <a:p>
            <a:pPr marL="158750" indent="0">
              <a:buFont typeface="Arial" panose="020B0604020202020204" pitchFamily="34" charset="0"/>
              <a:buNone/>
            </a:pPr>
            <a:r>
              <a:rPr lang="vi-VN" dirty="0"/>
              <a:t>“MQTT is a lightweight publish/subscribe messaging protocol designed for M2M (machine to machine) telemetry in low bandwidth environments.”</a:t>
            </a:r>
            <a:br>
              <a:rPr lang="vi-VN" dirty="0"/>
            </a:br>
            <a:r>
              <a:rPr lang="en-US" dirty="0"/>
              <a:t>D</a:t>
            </a:r>
            <a:r>
              <a:rPr lang="vi-VN" dirty="0"/>
              <a:t>ịch:</a:t>
            </a:r>
            <a:br>
              <a:rPr lang="vi-VN" dirty="0"/>
            </a:br>
            <a:r>
              <a:rPr lang="vi-VN" b="1" dirty="0"/>
              <a:t>MQTT là một giao thức nhắn tin dạng publish/subscribe nhẹ, được thiết kế cho truyền thông M2M (máy–máy) trong môi trường băng thông thấp.</a:t>
            </a:r>
            <a:endParaRPr lang="vi-VN" dirty="0"/>
          </a:p>
          <a:p>
            <a:pPr marL="158750" indent="0">
              <a:buNone/>
            </a:pPr>
            <a:endParaRPr lang="en-US" b="1" dirty="0"/>
          </a:p>
          <a:p>
            <a:pPr marL="158750" indent="0">
              <a:buNone/>
            </a:pPr>
            <a:r>
              <a:rPr lang="vi-VN" b="1" dirty="0"/>
              <a:t>2. Lightweight protocol (Giao thức nhẹ)</a:t>
            </a:r>
          </a:p>
          <a:p>
            <a:pPr marL="158750" indent="0">
              <a:buFont typeface="Arial" panose="020B0604020202020204" pitchFamily="34" charset="0"/>
              <a:buNone/>
            </a:pPr>
            <a:r>
              <a:rPr lang="vi-VN" dirty="0"/>
              <a:t>MQTT được thiết kế </a:t>
            </a:r>
            <a:r>
              <a:rPr lang="vi-VN" b="1" dirty="0"/>
              <a:t>rất gọn nhẹ</a:t>
            </a:r>
            <a:r>
              <a:rPr lang="vi-VN" dirty="0"/>
              <a:t>:</a:t>
            </a:r>
          </a:p>
          <a:p>
            <a:pPr marL="457200" lvl="1" indent="0">
              <a:buFont typeface="Arial" panose="020B0604020202020204" pitchFamily="34" charset="0"/>
              <a:buNone/>
            </a:pPr>
            <a:r>
              <a:rPr lang="vi-VN" dirty="0"/>
              <a:t>Overhead (dữ liệu thừa trong gói tin) chỉ vài byte.</a:t>
            </a:r>
          </a:p>
          <a:p>
            <a:pPr marL="457200" lvl="1" indent="0">
              <a:buFont typeface="Arial" panose="020B0604020202020204" pitchFamily="34" charset="0"/>
              <a:buNone/>
            </a:pPr>
            <a:r>
              <a:rPr lang="vi-VN" dirty="0"/>
              <a:t>Phù hợp cho các thiết bị IoT có tài nguyên hạn chế (RAM, CPU, pin).</a:t>
            </a:r>
            <a:br>
              <a:rPr lang="vi-VN" dirty="0"/>
            </a:br>
            <a:r>
              <a:rPr lang="en-US" dirty="0"/>
              <a:t>=&gt; </a:t>
            </a:r>
            <a:r>
              <a:rPr lang="vi-VN" dirty="0"/>
              <a:t>Ví dụ: cảm biến nhiệt độ nhỏ chạy bằng pin có thể dùng MQTT mà không tốn nhiều năng lượng.</a:t>
            </a:r>
          </a:p>
          <a:p>
            <a:pPr marL="158750" indent="0">
              <a:buNone/>
            </a:pPr>
            <a:endParaRPr lang="en-US" b="1" dirty="0"/>
          </a:p>
          <a:p>
            <a:pPr marL="158750" indent="0">
              <a:buNone/>
            </a:pPr>
            <a:r>
              <a:rPr lang="vi-VN" b="1" dirty="0"/>
              <a:t>3. Publish/Subscribe (Mô hình xuất bản/đăng ký)</a:t>
            </a:r>
          </a:p>
          <a:p>
            <a:pPr marL="158750" indent="0">
              <a:buFont typeface="Arial" panose="020B0604020202020204" pitchFamily="34" charset="0"/>
              <a:buNone/>
            </a:pPr>
            <a:r>
              <a:rPr lang="vi-VN" dirty="0"/>
              <a:t>Khác với mô hình </a:t>
            </a:r>
            <a:r>
              <a:rPr lang="vi-VN" b="1" dirty="0"/>
              <a:t>client-server</a:t>
            </a:r>
            <a:r>
              <a:rPr lang="vi-VN" dirty="0"/>
              <a:t> của HTTP, MQTT dùng mô hình </a:t>
            </a:r>
            <a:r>
              <a:rPr lang="vi-VN" b="1" dirty="0"/>
              <a:t>Pub/Sub</a:t>
            </a:r>
            <a:r>
              <a:rPr lang="vi-VN" dirty="0"/>
              <a:t>:</a:t>
            </a:r>
          </a:p>
          <a:p>
            <a:pPr marL="457200" lvl="1" indent="0">
              <a:buFont typeface="Arial" panose="020B0604020202020204" pitchFamily="34" charset="0"/>
              <a:buNone/>
            </a:pPr>
            <a:r>
              <a:rPr lang="vi-VN" b="1" dirty="0"/>
              <a:t>Publisher:</a:t>
            </a:r>
            <a:r>
              <a:rPr lang="vi-VN" dirty="0"/>
              <a:t> gửi (publish) dữ liệu lên một </a:t>
            </a:r>
            <a:r>
              <a:rPr lang="vi-VN" b="1" dirty="0"/>
              <a:t>topic</a:t>
            </a:r>
            <a:r>
              <a:rPr lang="vi-VN" dirty="0"/>
              <a:t>.</a:t>
            </a:r>
          </a:p>
          <a:p>
            <a:pPr marL="457200" lvl="1" indent="0">
              <a:buFont typeface="Arial" panose="020B0604020202020204" pitchFamily="34" charset="0"/>
              <a:buNone/>
            </a:pPr>
            <a:r>
              <a:rPr lang="vi-VN" b="1" dirty="0"/>
              <a:t>Subscriber:</a:t>
            </a:r>
            <a:r>
              <a:rPr lang="vi-VN" dirty="0"/>
              <a:t> đăng ký (subscribe) topic để nhận dữ liệu.</a:t>
            </a:r>
          </a:p>
          <a:p>
            <a:pPr marL="457200" lvl="1" indent="0">
              <a:buFont typeface="Arial" panose="020B0604020202020204" pitchFamily="34" charset="0"/>
              <a:buNone/>
            </a:pPr>
            <a:r>
              <a:rPr lang="vi-VN" b="1" dirty="0"/>
              <a:t>Broker:</a:t>
            </a:r>
            <a:r>
              <a:rPr lang="vi-VN" dirty="0"/>
              <a:t> trung gian, phân phối dữ liệu từ publisher đến subscriber.</a:t>
            </a:r>
            <a:br>
              <a:rPr lang="vi-VN" dirty="0"/>
            </a:br>
            <a:r>
              <a:rPr lang="en-US" dirty="0"/>
              <a:t>=&gt; </a:t>
            </a:r>
            <a:r>
              <a:rPr lang="vi-VN" dirty="0"/>
              <a:t>Điều này giúp giảm độ phức tạp: publisher và subscriber </a:t>
            </a:r>
            <a:r>
              <a:rPr lang="vi-VN" b="1" dirty="0"/>
              <a:t>không cần biết nhau</a:t>
            </a:r>
            <a:r>
              <a:rPr lang="vi-VN" dirty="0"/>
              <a:t>, chỉ cần biết broker.</a:t>
            </a:r>
          </a:p>
          <a:p>
            <a:pPr marL="158750" indent="0">
              <a:buNone/>
            </a:pPr>
            <a:endParaRPr lang="en-US" b="1" dirty="0"/>
          </a:p>
          <a:p>
            <a:pPr marL="158750" indent="0">
              <a:buNone/>
            </a:pPr>
            <a:r>
              <a:rPr lang="vi-VN" b="1" dirty="0"/>
              <a:t>4. M2M – Machine to Machine</a:t>
            </a:r>
          </a:p>
          <a:p>
            <a:pPr marL="158750" indent="0">
              <a:buFont typeface="Arial" panose="020B0604020202020204" pitchFamily="34" charset="0"/>
              <a:buNone/>
            </a:pPr>
            <a:r>
              <a:rPr lang="vi-VN" dirty="0"/>
              <a:t>MQTT hướng đến </a:t>
            </a:r>
            <a:r>
              <a:rPr lang="vi-VN" b="1" dirty="0"/>
              <a:t>giao tiếp giữa máy với máy</a:t>
            </a:r>
            <a:r>
              <a:rPr lang="vi-VN" dirty="0"/>
              <a:t>, không cần sự can thiệp của con người.</a:t>
            </a:r>
          </a:p>
          <a:p>
            <a:pPr marL="158750" indent="0">
              <a:buFont typeface="Arial" panose="020B0604020202020204" pitchFamily="34" charset="0"/>
              <a:buNone/>
            </a:pPr>
            <a:r>
              <a:rPr lang="vi-VN" dirty="0"/>
              <a:t>Ví dụ: cảm biến IoT gửi dữ liệu về broker, và một thiết bị khác (như actuator hoặc dashboard) nhận dữ liệu để phản hồi ngay.</a:t>
            </a:r>
          </a:p>
          <a:p>
            <a:pPr marL="158750" indent="0">
              <a:buNone/>
            </a:pPr>
            <a:endParaRPr lang="en-US" b="1" dirty="0"/>
          </a:p>
          <a:p>
            <a:pPr marL="158750" indent="0">
              <a:buNone/>
            </a:pPr>
            <a:r>
              <a:rPr lang="vi-VN" b="1" dirty="0"/>
              <a:t>5. Telemetry trong môi trường băng thông thấp</a:t>
            </a:r>
          </a:p>
          <a:p>
            <a:pPr marL="158750" indent="0">
              <a:buFont typeface="Arial" panose="020B0604020202020204" pitchFamily="34" charset="0"/>
              <a:buNone/>
            </a:pPr>
            <a:r>
              <a:rPr lang="vi-VN" b="1" dirty="0"/>
              <a:t>Telemetry</a:t>
            </a:r>
            <a:r>
              <a:rPr lang="vi-VN" dirty="0"/>
              <a:t> = truyền dữ liệu đo lường từ xa (sensor readings).</a:t>
            </a:r>
          </a:p>
          <a:p>
            <a:pPr marL="158750" indent="0">
              <a:buFont typeface="Arial" panose="020B0604020202020204" pitchFamily="34" charset="0"/>
              <a:buNone/>
            </a:pPr>
            <a:r>
              <a:rPr lang="vi-VN" dirty="0"/>
              <a:t>MQTT được tối ưu cho </a:t>
            </a:r>
            <a:r>
              <a:rPr lang="vi-VN" b="1" dirty="0"/>
              <a:t>môi trường băng thông thấp, mạng không ổn định</a:t>
            </a:r>
            <a:r>
              <a:rPr lang="vi-VN" dirty="0"/>
              <a:t>:</a:t>
            </a:r>
          </a:p>
          <a:p>
            <a:pPr marL="457200" lvl="1" indent="0">
              <a:buFont typeface="Arial" panose="020B0604020202020204" pitchFamily="34" charset="0"/>
              <a:buNone/>
            </a:pPr>
            <a:r>
              <a:rPr lang="vi-VN" dirty="0"/>
              <a:t>Hỗ trợ </a:t>
            </a:r>
            <a:r>
              <a:rPr lang="vi-VN" b="1" dirty="0"/>
              <a:t>QoS (Quality of Service)</a:t>
            </a:r>
            <a:r>
              <a:rPr lang="vi-VN" dirty="0"/>
              <a:t> để đảm bảo độ tin cậy khi truyền dữ liệu.</a:t>
            </a:r>
          </a:p>
          <a:p>
            <a:pPr marL="457200" lvl="1" indent="0">
              <a:buFont typeface="Arial" panose="020B0604020202020204" pitchFamily="34" charset="0"/>
              <a:buNone/>
            </a:pPr>
            <a:r>
              <a:rPr lang="vi-VN" dirty="0"/>
              <a:t>Có thể hoạt động trong môi trường </a:t>
            </a:r>
            <a:r>
              <a:rPr lang="vi-VN" b="1" dirty="0"/>
              <a:t>2G/3G yếu, mạng không ổn định, vệ tinh, hoặc sensor chạy pin</a:t>
            </a:r>
            <a:r>
              <a:rPr lang="vi-VN" dirty="0"/>
              <a:t>.</a:t>
            </a:r>
          </a:p>
          <a:p>
            <a:pPr marL="158750" indent="0">
              <a:buNone/>
            </a:pPr>
            <a:endParaRPr lang="en-US" b="1" dirty="0"/>
          </a:p>
          <a:p>
            <a:pPr marL="158750" indent="0">
              <a:buNone/>
            </a:pPr>
            <a:r>
              <a:rPr lang="vi-VN" b="1" dirty="0"/>
              <a:t>Kết luận</a:t>
            </a:r>
            <a:r>
              <a:rPr lang="en-US" b="1" dirty="0"/>
              <a:t>:</a:t>
            </a:r>
            <a:endParaRPr lang="vi-VN" b="1" dirty="0"/>
          </a:p>
          <a:p>
            <a:pPr marL="158750" indent="0">
              <a:buFont typeface="Arial" panose="020B0604020202020204" pitchFamily="34" charset="0"/>
              <a:buNone/>
            </a:pPr>
            <a:r>
              <a:rPr lang="vi-VN" dirty="0"/>
              <a:t>MQTT là </a:t>
            </a:r>
            <a:r>
              <a:rPr lang="vi-VN" b="1" dirty="0"/>
              <a:t>chuẩn giao thức phổ biến nhất trong IoT</a:t>
            </a:r>
            <a:r>
              <a:rPr lang="vi-VN" dirty="0"/>
              <a:t> hiện nay.</a:t>
            </a:r>
          </a:p>
          <a:p>
            <a:pPr marL="158750" indent="0">
              <a:buFont typeface="Arial" panose="020B0604020202020204" pitchFamily="34" charset="0"/>
              <a:buNone/>
            </a:pPr>
            <a:r>
              <a:rPr lang="vi-VN" b="1" dirty="0"/>
              <a:t>Ưu điểm:</a:t>
            </a:r>
            <a:r>
              <a:rPr lang="vi-VN" dirty="0"/>
              <a:t> nhẹ, tiết kiệm năng lượng, hỗ trợ Pub/Sub, phù hợp cho M2M telemetry.</a:t>
            </a:r>
          </a:p>
          <a:p>
            <a:pPr marL="158750" indent="0">
              <a:buFont typeface="Arial" panose="020B0604020202020204" pitchFamily="34" charset="0"/>
              <a:buNone/>
            </a:pPr>
            <a:r>
              <a:rPr lang="vi-VN" b="1" dirty="0"/>
              <a:t>Ứng dụng:</a:t>
            </a:r>
            <a:r>
              <a:rPr lang="vi-VN" dirty="0"/>
              <a:t> smart home (điều khiển đèn, điều hòa), giám sát môi trường, nông nghiệp thông minh, xe kết nối.</a:t>
            </a:r>
          </a:p>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833874ed67_4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833874ed67_4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en-US" b="1" dirty="0"/>
              <a:t>1</a:t>
            </a:r>
            <a:r>
              <a:rPr lang="vi-VN" b="1" dirty="0"/>
              <a:t>. Lịch sử và nguồn gốc</a:t>
            </a:r>
          </a:p>
          <a:p>
            <a:pPr marL="158750" indent="0">
              <a:buFontTx/>
              <a:buNone/>
            </a:pPr>
            <a:r>
              <a:rPr lang="vi-VN" dirty="0"/>
              <a:t>MQTT được </a:t>
            </a:r>
            <a:r>
              <a:rPr lang="vi-VN" b="1" dirty="0"/>
              <a:t>thiết kế và phát triển vào năm 1999</a:t>
            </a:r>
            <a:r>
              <a:rPr lang="vi-VN" dirty="0"/>
              <a:t> bởi Andy Stanford-Clark (IBM) và Arlen Nipper (Arcom).</a:t>
            </a:r>
          </a:p>
          <a:p>
            <a:pPr marL="158750" indent="0">
              <a:buFontTx/>
              <a:buNone/>
            </a:pPr>
            <a:r>
              <a:rPr lang="vi-VN" dirty="0"/>
              <a:t>Mục tiêu ban đầu: hỗ trợ truyền dữ liệu cảm biến qua </a:t>
            </a:r>
            <a:r>
              <a:rPr lang="vi-VN" b="1" dirty="0"/>
              <a:t>kết nối vệ tinh</a:t>
            </a:r>
            <a:r>
              <a:rPr lang="vi-VN" dirty="0"/>
              <a:t> trong hệ thống đường ống dầu khí – nơi </a:t>
            </a:r>
            <a:r>
              <a:rPr lang="vi-VN" b="1" dirty="0"/>
              <a:t>băng thông hẹp, độ trễ cao, kết nối không ổn định</a:t>
            </a:r>
            <a:r>
              <a:rPr lang="vi-VN" dirty="0"/>
              <a:t>.</a:t>
            </a:r>
          </a:p>
          <a:p>
            <a:pPr marL="158750" indent="0">
              <a:buFontTx/>
              <a:buNone/>
            </a:pPr>
            <a:r>
              <a:rPr lang="vi-VN" dirty="0"/>
              <a:t>Chạy trên nền </a:t>
            </a:r>
            <a:r>
              <a:rPr lang="vi-VN" b="1" dirty="0"/>
              <a:t>TCP/IP</a:t>
            </a:r>
            <a:r>
              <a:rPr lang="vi-VN" dirty="0"/>
              <a:t>, đảm bảo độ tin cậy khi truyền dữ liệu.</a:t>
            </a:r>
          </a:p>
          <a:p>
            <a:pPr marL="158750" indent="0">
              <a:buFontTx/>
              <a:buNone/>
            </a:pPr>
            <a:endParaRPr lang="en-US" b="1" dirty="0"/>
          </a:p>
          <a:p>
            <a:pPr marL="158750" indent="0">
              <a:buFontTx/>
              <a:buNone/>
            </a:pPr>
            <a:r>
              <a:rPr lang="en-US" b="1" dirty="0"/>
              <a:t>2</a:t>
            </a:r>
            <a:r>
              <a:rPr lang="vi-VN" b="1" dirty="0"/>
              <a:t>. Sự phát triển và phổ biến</a:t>
            </a:r>
          </a:p>
          <a:p>
            <a:pPr marL="158750" indent="0">
              <a:buFontTx/>
              <a:buNone/>
            </a:pPr>
            <a:r>
              <a:rPr lang="vi-VN" dirty="0"/>
              <a:t>Sau khi ra đời, MQTT được cộng đồng nhanh chóng đón nhận vì:</a:t>
            </a:r>
          </a:p>
          <a:p>
            <a:pPr marL="457200" lvl="1" indent="0">
              <a:buFontTx/>
              <a:buNone/>
            </a:pPr>
            <a:r>
              <a:rPr lang="vi-VN" b="1" dirty="0"/>
              <a:t>Nhẹ, đơn giản</a:t>
            </a:r>
            <a:r>
              <a:rPr lang="vi-VN" dirty="0"/>
              <a:t> (header gói tin chỉ vài byte).</a:t>
            </a:r>
          </a:p>
          <a:p>
            <a:pPr marL="457200" lvl="1" indent="0">
              <a:buFontTx/>
              <a:buNone/>
            </a:pPr>
            <a:r>
              <a:rPr lang="vi-VN" b="1" dirty="0"/>
              <a:t>Tiết kiệm năng lượng</a:t>
            </a:r>
            <a:r>
              <a:rPr lang="vi-VN" dirty="0"/>
              <a:t> cho thiết bị IoT chạy pin.</a:t>
            </a:r>
          </a:p>
          <a:p>
            <a:pPr marL="457200" lvl="1" indent="0">
              <a:buFontTx/>
              <a:buNone/>
            </a:pPr>
            <a:r>
              <a:rPr lang="vi-VN" b="1" dirty="0"/>
              <a:t>Mô hình Pub/Sub linh hoạt</a:t>
            </a:r>
            <a:r>
              <a:rPr lang="vi-VN" dirty="0"/>
              <a:t> (publisher – broker – subscriber).</a:t>
            </a:r>
          </a:p>
          <a:p>
            <a:pPr marL="158750" indent="0">
              <a:buFontTx/>
              <a:buNone/>
            </a:pPr>
            <a:r>
              <a:rPr lang="vi-VN" dirty="0"/>
              <a:t>Hiện nay, MQTT là </a:t>
            </a:r>
            <a:r>
              <a:rPr lang="vi-VN" b="1" dirty="0"/>
              <a:t>một trong những giao thức chính của IoT</a:t>
            </a:r>
            <a:r>
              <a:rPr lang="vi-VN" dirty="0"/>
              <a:t>, được hỗ trợ bởi hầu hết các nền tảng lớn: AWS IoT, Google Cloud IoT, Microsoft Azure IoT Hub…</a:t>
            </a:r>
          </a:p>
          <a:p>
            <a:pPr marL="158750" indent="0">
              <a:buFontTx/>
              <a:buNone/>
            </a:pPr>
            <a:endParaRPr lang="en-US" b="1" dirty="0"/>
          </a:p>
          <a:p>
            <a:pPr marL="158750" indent="0">
              <a:buFontTx/>
              <a:buNone/>
            </a:pPr>
            <a:r>
              <a:rPr lang="en-US" b="1" dirty="0"/>
              <a:t>3</a:t>
            </a:r>
            <a:r>
              <a:rPr lang="vi-VN" b="1" dirty="0"/>
              <a:t>. Ý nghĩa đối với IoT</a:t>
            </a:r>
          </a:p>
          <a:p>
            <a:pPr marL="158750" indent="0">
              <a:buFontTx/>
              <a:buNone/>
            </a:pPr>
            <a:r>
              <a:rPr lang="vi-VN" b="1" dirty="0"/>
              <a:t>Tốc độ và độ tin cậy:</a:t>
            </a:r>
            <a:r>
              <a:rPr lang="vi-VN" dirty="0"/>
              <a:t> phù hợp truyền dữ liệu cảm biến theo thời gian thực.</a:t>
            </a:r>
          </a:p>
          <a:p>
            <a:pPr marL="158750" indent="0">
              <a:buFontTx/>
              <a:buNone/>
            </a:pPr>
            <a:r>
              <a:rPr lang="vi-VN" b="1" dirty="0"/>
              <a:t>Khả năng mở rộng:</a:t>
            </a:r>
            <a:r>
              <a:rPr lang="vi-VN" dirty="0"/>
              <a:t> hỗ trợ hàng ngàn thiết bị IoT kết nối đến cùng một broker.</a:t>
            </a:r>
          </a:p>
          <a:p>
            <a:pPr marL="158750" indent="0">
              <a:buFontTx/>
              <a:buNone/>
            </a:pPr>
            <a:r>
              <a:rPr lang="vi-VN" b="1" dirty="0"/>
              <a:t>Ứng dụng thực tế:</a:t>
            </a:r>
            <a:r>
              <a:rPr lang="vi-VN" dirty="0"/>
              <a:t> smart home (bật/tắt đèn, điều hòa), giám sát công nghiệp, nông nghiệp thông minh, theo dõi y tế từ xa.</a:t>
            </a:r>
          </a:p>
          <a:p>
            <a:pPr marL="158750" indent="0">
              <a:buFontTx/>
              <a:buNone/>
            </a:pPr>
            <a:endParaRPr lang="en-US" b="1" dirty="0"/>
          </a:p>
          <a:p>
            <a:pPr marL="158750" indent="0">
              <a:buFontTx/>
              <a:buNone/>
            </a:pPr>
            <a:r>
              <a:rPr lang="vi-VN" b="1" dirty="0"/>
              <a:t>Kết luận</a:t>
            </a:r>
          </a:p>
          <a:p>
            <a:pPr marL="158750" indent="0">
              <a:buFontTx/>
              <a:buNone/>
            </a:pPr>
            <a:r>
              <a:rPr lang="vi-VN" dirty="0"/>
              <a:t>MQTT </a:t>
            </a:r>
            <a:r>
              <a:rPr lang="vi-VN" b="1" dirty="0"/>
              <a:t>ra đời từ nhu cầu thực tiễn</a:t>
            </a:r>
            <a:r>
              <a:rPr lang="vi-VN" dirty="0"/>
              <a:t> trong môi trường khó khăn, nhưng đã phát triển thành chuẩn </a:t>
            </a:r>
            <a:r>
              <a:rPr lang="vi-VN" b="1" dirty="0"/>
              <a:t>chính thức và phổ biến nhất trong IoT hiện nay</a:t>
            </a:r>
            <a:r>
              <a:rPr lang="vi-VN" dirty="0"/>
              <a:t>.</a:t>
            </a:r>
          </a:p>
          <a:p>
            <a:pPr marL="158750" indent="0">
              <a:buFontTx/>
              <a:buNone/>
            </a:pPr>
            <a:r>
              <a:rPr lang="vi-VN" dirty="0"/>
              <a:t>Điểm mạnh: </a:t>
            </a:r>
            <a:r>
              <a:rPr lang="vi-VN" b="1" dirty="0"/>
              <a:t>nhẹ – nhanh – tiết kiệm – đáng tin cậy</a:t>
            </a:r>
            <a:r>
              <a:rPr lang="vi-VN" dirty="0"/>
              <a:t> → phù hợp với đúng bản chất của IoT.</a:t>
            </a:r>
          </a:p>
          <a:p>
            <a:pPr marL="0" lvl="0" indent="0" algn="l" rtl="0">
              <a:spcBef>
                <a:spcPts val="0"/>
              </a:spcBef>
              <a:spcAft>
                <a:spcPts val="0"/>
              </a:spcAft>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833874ed67_4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833874ed67_4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dirty="0"/>
              <a:t>Hình vẽ mô tả kiến trúc mạng </a:t>
            </a:r>
            <a:r>
              <a:rPr lang="vi-VN" b="1" dirty="0"/>
              <a:t>MQTT (Message Queuing Telemetry Transport)</a:t>
            </a:r>
            <a:r>
              <a:rPr lang="vi-VN" dirty="0"/>
              <a:t> – một giao thức </a:t>
            </a:r>
            <a:r>
              <a:rPr lang="vi-VN" b="1" dirty="0"/>
              <a:t>publish/subscribe</a:t>
            </a:r>
            <a:r>
              <a:rPr lang="vi-VN" dirty="0"/>
              <a:t> phổ biến trong IoT. Giải thích chi tiết như sau:</a:t>
            </a:r>
          </a:p>
          <a:p>
            <a:pPr marL="158750" indent="0">
              <a:buNone/>
            </a:pPr>
            <a:r>
              <a:rPr lang="vi-VN" b="1" dirty="0"/>
              <a:t>1. Publishers (Bên gửi dữ liệu)</a:t>
            </a:r>
          </a:p>
          <a:p>
            <a:pPr marL="158750" indent="0">
              <a:buFont typeface="Arial" panose="020B0604020202020204" pitchFamily="34" charset="0"/>
              <a:buNone/>
            </a:pPr>
            <a:r>
              <a:rPr lang="vi-VN" dirty="0"/>
              <a:t>Các </a:t>
            </a:r>
            <a:r>
              <a:rPr lang="vi-VN" b="1" dirty="0"/>
              <a:t>tam giác xanh</a:t>
            </a:r>
            <a:r>
              <a:rPr lang="vi-VN" dirty="0"/>
              <a:t> bên trái là </a:t>
            </a:r>
            <a:r>
              <a:rPr lang="vi-VN" b="1" dirty="0"/>
              <a:t>Publishers</a:t>
            </a:r>
            <a:r>
              <a:rPr lang="vi-VN" dirty="0"/>
              <a:t>.</a:t>
            </a:r>
          </a:p>
          <a:p>
            <a:pPr marL="158750" indent="0">
              <a:buFont typeface="Arial" panose="020B0604020202020204" pitchFamily="34" charset="0"/>
              <a:buNone/>
            </a:pPr>
            <a:r>
              <a:rPr lang="vi-VN" dirty="0"/>
              <a:t>Đây là các thiết bị IoT hoặc ứng dụng </a:t>
            </a:r>
            <a:r>
              <a:rPr lang="vi-VN" b="1" dirty="0"/>
              <a:t>gửi dữ liệu</a:t>
            </a:r>
            <a:r>
              <a:rPr lang="vi-VN" dirty="0"/>
              <a:t> (ví dụ: cảm biến nhiệt độ, độ ẩm, thiết bị đo nhịp tim...).</a:t>
            </a:r>
          </a:p>
          <a:p>
            <a:pPr marL="158750" indent="0">
              <a:buFont typeface="Arial" panose="020B0604020202020204" pitchFamily="34" charset="0"/>
              <a:buNone/>
            </a:pPr>
            <a:r>
              <a:rPr lang="vi-VN" dirty="0"/>
              <a:t>Publishers </a:t>
            </a:r>
            <a:r>
              <a:rPr lang="vi-VN" b="1" dirty="0"/>
              <a:t>không gửi dữ liệu trực tiếp</a:t>
            </a:r>
            <a:r>
              <a:rPr lang="vi-VN" dirty="0"/>
              <a:t> cho Subscribers, mà gửi đến </a:t>
            </a:r>
            <a:r>
              <a:rPr lang="vi-VN" b="1" dirty="0"/>
              <a:t>Broker</a:t>
            </a:r>
            <a:r>
              <a:rPr lang="vi-VN" dirty="0"/>
              <a:t>.</a:t>
            </a:r>
          </a:p>
          <a:p>
            <a:pPr marL="158750" indent="0">
              <a:buNone/>
            </a:pPr>
            <a:r>
              <a:rPr lang="vi-VN" b="1" dirty="0"/>
              <a:t>2. Broker (Máy chủ trung gian)</a:t>
            </a:r>
          </a:p>
          <a:p>
            <a:pPr marL="158750" indent="0">
              <a:buFont typeface="Arial" panose="020B0604020202020204" pitchFamily="34" charset="0"/>
              <a:buNone/>
            </a:pPr>
            <a:r>
              <a:rPr lang="vi-VN" b="1" dirty="0"/>
              <a:t>Vòng tròn màu xám</a:t>
            </a:r>
            <a:r>
              <a:rPr lang="vi-VN" dirty="0"/>
              <a:t> ở giữa là </a:t>
            </a:r>
            <a:r>
              <a:rPr lang="vi-VN" b="1" dirty="0"/>
              <a:t>Broker</a:t>
            </a:r>
            <a:r>
              <a:rPr lang="vi-VN" dirty="0"/>
              <a:t>.</a:t>
            </a:r>
          </a:p>
          <a:p>
            <a:pPr marL="158750" indent="0">
              <a:buFont typeface="Arial" panose="020B0604020202020204" pitchFamily="34" charset="0"/>
              <a:buNone/>
            </a:pPr>
            <a:r>
              <a:rPr lang="vi-VN" dirty="0"/>
              <a:t>Broker đóng vai trò </a:t>
            </a:r>
            <a:r>
              <a:rPr lang="vi-VN" b="1" dirty="0"/>
              <a:t>trung gian</a:t>
            </a:r>
            <a:r>
              <a:rPr lang="vi-VN" dirty="0"/>
              <a:t>, nhận dữ liệu từ các Publishers và phân phối đến các Subscribers phù hợp.</a:t>
            </a:r>
          </a:p>
          <a:p>
            <a:pPr marL="158750" indent="0">
              <a:buFont typeface="Arial" panose="020B0604020202020204" pitchFamily="34" charset="0"/>
              <a:buNone/>
            </a:pPr>
            <a:r>
              <a:rPr lang="vi-VN" dirty="0"/>
              <a:t>Broker quản lý dữ liệu dựa trên </a:t>
            </a:r>
            <a:r>
              <a:rPr lang="vi-VN" b="1" dirty="0"/>
              <a:t>Topic</a:t>
            </a:r>
            <a:r>
              <a:rPr lang="vi-VN" dirty="0"/>
              <a:t>.</a:t>
            </a:r>
          </a:p>
          <a:p>
            <a:pPr marL="158750" indent="0">
              <a:buNone/>
            </a:pPr>
            <a:r>
              <a:rPr lang="vi-VN" b="1" dirty="0"/>
              <a:t>3. Topic (Chủ đề)</a:t>
            </a:r>
          </a:p>
          <a:p>
            <a:pPr marL="158750" indent="0">
              <a:buFont typeface="Arial" panose="020B0604020202020204" pitchFamily="34" charset="0"/>
              <a:buNone/>
            </a:pPr>
            <a:r>
              <a:rPr lang="vi-VN" dirty="0"/>
              <a:t>Các </a:t>
            </a:r>
            <a:r>
              <a:rPr lang="vi-VN" b="1" dirty="0"/>
              <a:t>hình chữ nhật đỏ</a:t>
            </a:r>
            <a:r>
              <a:rPr lang="vi-VN" dirty="0"/>
              <a:t> (Topic 1, Topic 2, Topic n) biểu diễn các </a:t>
            </a:r>
            <a:r>
              <a:rPr lang="vi-VN" b="1" dirty="0"/>
              <a:t>chủ đề</a:t>
            </a:r>
            <a:r>
              <a:rPr lang="vi-VN" dirty="0"/>
              <a:t>.</a:t>
            </a:r>
          </a:p>
          <a:p>
            <a:pPr marL="158750" indent="0">
              <a:buFont typeface="Arial" panose="020B0604020202020204" pitchFamily="34" charset="0"/>
              <a:buNone/>
            </a:pPr>
            <a:r>
              <a:rPr lang="vi-VN" dirty="0"/>
              <a:t>Khi gửi dữ liệu, Publisher sẽ gắn thông tin với một </a:t>
            </a:r>
            <a:r>
              <a:rPr lang="vi-VN" b="1" dirty="0"/>
              <a:t>Topic</a:t>
            </a:r>
            <a:r>
              <a:rPr lang="vi-VN" dirty="0"/>
              <a:t> cụ thể (ví dụ: "sensor/temperature", "device/heartbeat").</a:t>
            </a:r>
          </a:p>
          <a:p>
            <a:pPr marL="158750" indent="0">
              <a:buFont typeface="Arial" panose="020B0604020202020204" pitchFamily="34" charset="0"/>
              <a:buNone/>
            </a:pPr>
            <a:r>
              <a:rPr lang="vi-VN" dirty="0"/>
              <a:t>Subscribers sẽ </a:t>
            </a:r>
            <a:r>
              <a:rPr lang="vi-VN" b="1" dirty="0"/>
              <a:t>đăng ký (subscribe)</a:t>
            </a:r>
            <a:r>
              <a:rPr lang="vi-VN" dirty="0"/>
              <a:t> đến các Topic mà họ quan tâm.</a:t>
            </a:r>
          </a:p>
          <a:p>
            <a:pPr marL="158750" indent="0">
              <a:buFont typeface="Arial" panose="020B0604020202020204" pitchFamily="34" charset="0"/>
              <a:buNone/>
            </a:pPr>
            <a:r>
              <a:rPr lang="vi-VN" dirty="0"/>
              <a:t>Broker dựa vào Topic để </a:t>
            </a:r>
            <a:r>
              <a:rPr lang="vi-VN" b="1" dirty="0"/>
              <a:t>chuyển dữ liệu đúng nơi</a:t>
            </a:r>
            <a:r>
              <a:rPr lang="vi-VN" dirty="0"/>
              <a:t>.</a:t>
            </a:r>
          </a:p>
          <a:p>
            <a:pPr marL="158750" indent="0">
              <a:buNone/>
            </a:pPr>
            <a:r>
              <a:rPr lang="vi-VN" b="1" dirty="0"/>
              <a:t>4. Subscribers (Bên nhận dữ liệu)</a:t>
            </a:r>
          </a:p>
          <a:p>
            <a:pPr marL="158750" indent="0">
              <a:buFont typeface="Arial" panose="020B0604020202020204" pitchFamily="34" charset="0"/>
              <a:buNone/>
            </a:pPr>
            <a:r>
              <a:rPr lang="vi-VN" dirty="0"/>
              <a:t>Các </a:t>
            </a:r>
            <a:r>
              <a:rPr lang="vi-VN" b="1" dirty="0"/>
              <a:t>hình thoi màu cam</a:t>
            </a:r>
            <a:r>
              <a:rPr lang="vi-VN" dirty="0"/>
              <a:t> bên phải là </a:t>
            </a:r>
            <a:r>
              <a:rPr lang="vi-VN" b="1" dirty="0"/>
              <a:t>Subscribers</a:t>
            </a:r>
            <a:r>
              <a:rPr lang="vi-VN" dirty="0"/>
              <a:t>.</a:t>
            </a:r>
          </a:p>
          <a:p>
            <a:pPr marL="158750" indent="0">
              <a:buFont typeface="Arial" panose="020B0604020202020204" pitchFamily="34" charset="0"/>
              <a:buNone/>
            </a:pPr>
            <a:r>
              <a:rPr lang="vi-VN" dirty="0"/>
              <a:t>Đây có thể là ứng dụng di động, dashboard, hoặc server phân tích dữ liệu.</a:t>
            </a:r>
          </a:p>
          <a:p>
            <a:pPr marL="158750" indent="0">
              <a:buFont typeface="Arial" panose="020B0604020202020204" pitchFamily="34" charset="0"/>
              <a:buNone/>
            </a:pPr>
            <a:r>
              <a:rPr lang="vi-VN" dirty="0"/>
              <a:t>Subscribers chỉ nhận dữ liệu từ </a:t>
            </a:r>
            <a:r>
              <a:rPr lang="vi-VN" b="1" dirty="0"/>
              <a:t>Topic đã đăng ký</a:t>
            </a:r>
            <a:r>
              <a:rPr lang="vi-VN" dirty="0"/>
              <a:t>, không nhận tất cả dữ liệu.</a:t>
            </a:r>
          </a:p>
          <a:p>
            <a:pPr marL="158750" indent="0">
              <a:buNone/>
            </a:pPr>
            <a:r>
              <a:rPr lang="vi-VN" b="1" dirty="0"/>
              <a:t>5. Nguyên lý hoạt động tổng quát</a:t>
            </a:r>
          </a:p>
          <a:p>
            <a:pPr marL="158750" indent="0">
              <a:buNone/>
            </a:pPr>
            <a:r>
              <a:rPr lang="vi-VN" dirty="0"/>
              <a:t>Publisher gửi dữ liệu → Broker.</a:t>
            </a:r>
          </a:p>
          <a:p>
            <a:pPr marL="158750" indent="0">
              <a:buNone/>
            </a:pPr>
            <a:r>
              <a:rPr lang="vi-VN" dirty="0"/>
              <a:t>Broker kiểm tra Topic dữ liệu.</a:t>
            </a:r>
          </a:p>
          <a:p>
            <a:pPr marL="158750" indent="0">
              <a:buNone/>
            </a:pPr>
            <a:r>
              <a:rPr lang="vi-VN" dirty="0"/>
              <a:t>Broker gửi dữ liệu đến tất cả Subscribers đã đăng ký Topic đó.</a:t>
            </a:r>
          </a:p>
          <a:p>
            <a:pPr marL="158750" indent="0">
              <a:buNone/>
            </a:pPr>
            <a:r>
              <a:rPr lang="en-US" dirty="0"/>
              <a:t>👉 </a:t>
            </a:r>
            <a:r>
              <a:rPr lang="vi-VN" dirty="0"/>
              <a:t>Nói cách khác: </a:t>
            </a:r>
            <a:r>
              <a:rPr lang="vi-VN" b="1" dirty="0"/>
              <a:t>Publishers không biết ai sẽ nhận dữ liệu, và Subscribers không cần biết ai gửi dữ liệu.</a:t>
            </a:r>
            <a:r>
              <a:rPr lang="vi-VN" dirty="0"/>
              <a:t> Mọi kết nối đều thông qua </a:t>
            </a:r>
            <a:r>
              <a:rPr lang="vi-VN" b="1" dirty="0"/>
              <a:t>Broker</a:t>
            </a:r>
            <a:r>
              <a:rPr lang="vi-VN" dirty="0"/>
              <a:t>, đảm bảo </a:t>
            </a:r>
            <a:r>
              <a:rPr lang="vi-VN" b="1" dirty="0"/>
              <a:t>tính linh hoạt, dễ mở rộng, và giảm tải kết nối trực tiếp</a:t>
            </a:r>
            <a:r>
              <a:rPr lang="vi-VN" dirty="0"/>
              <a:t>.</a:t>
            </a:r>
          </a:p>
          <a:p>
            <a:pPr marL="0" lvl="0" indent="0" algn="l" rtl="0">
              <a:spcBef>
                <a:spcPts val="0"/>
              </a:spcBef>
              <a:spcAft>
                <a:spcPts val="0"/>
              </a:spcAft>
              <a:buNone/>
            </a:pPr>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833874ed67_4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833874ed67_4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Clients không có địa chỉ và không gửi trực tiếp cho nhau</a:t>
            </a:r>
          </a:p>
          <a:p>
            <a:pPr marL="158750" indent="0">
              <a:buFontTx/>
              <a:buNone/>
            </a:pPr>
            <a:r>
              <a:rPr lang="vi-VN" dirty="0"/>
              <a:t>Trong MQTT, </a:t>
            </a:r>
            <a:r>
              <a:rPr lang="vi-VN" b="1" dirty="0"/>
              <a:t>các client (thiết bị IoT, ứng dụng)</a:t>
            </a:r>
            <a:r>
              <a:rPr lang="vi-VN" dirty="0"/>
              <a:t> </a:t>
            </a:r>
            <a:r>
              <a:rPr lang="vi-VN" b="1" dirty="0"/>
              <a:t>không giao tiếp trực tiếp</a:t>
            </a:r>
            <a:r>
              <a:rPr lang="vi-VN" dirty="0"/>
              <a:t> với nhau.</a:t>
            </a:r>
          </a:p>
          <a:p>
            <a:pPr marL="158750" indent="0">
              <a:buFontTx/>
              <a:buNone/>
            </a:pPr>
            <a:r>
              <a:rPr lang="vi-VN" dirty="0"/>
              <a:t>Khác với TCP/IP, nơi mỗi thiết bị cần một địa chỉ để kết nối, trong MQTT client chỉ cần biết địa chỉ </a:t>
            </a:r>
            <a:r>
              <a:rPr lang="vi-VN" b="1" dirty="0"/>
              <a:t>Broker</a:t>
            </a:r>
            <a:r>
              <a:rPr lang="vi-VN" dirty="0"/>
              <a:t>.</a:t>
            </a:r>
            <a:br>
              <a:rPr lang="vi-VN" dirty="0"/>
            </a:br>
            <a:r>
              <a:rPr lang="en-US" dirty="0"/>
              <a:t>=&gt; </a:t>
            </a:r>
            <a:r>
              <a:rPr lang="vi-VN" dirty="0"/>
              <a:t>Ví dụ: một cảm biến nhiệt độ không cần biết đèn thông minh ở đâu, chỉ cần gửi dữ liệu cho broker.</a:t>
            </a:r>
          </a:p>
          <a:p>
            <a:pPr marL="158750" indent="0">
              <a:buFontTx/>
              <a:buNone/>
            </a:pPr>
            <a:endParaRPr lang="en-US" b="1" dirty="0"/>
          </a:p>
          <a:p>
            <a:pPr marL="158750" indent="0">
              <a:buFontTx/>
              <a:buNone/>
            </a:pPr>
            <a:r>
              <a:rPr lang="vi-VN" b="1" dirty="0"/>
              <a:t>2. Message được truyền qua Broker</a:t>
            </a:r>
          </a:p>
          <a:p>
            <a:pPr marL="158750" indent="0">
              <a:buFontTx/>
              <a:buNone/>
            </a:pPr>
            <a:r>
              <a:rPr lang="vi-VN" b="1" dirty="0"/>
              <a:t>Broker</a:t>
            </a:r>
            <a:r>
              <a:rPr lang="vi-VN" dirty="0"/>
              <a:t> đóng vai trò trung tâm trong kiến trúc MQTT.</a:t>
            </a:r>
          </a:p>
          <a:p>
            <a:pPr marL="158750" indent="0">
              <a:buFontTx/>
              <a:buNone/>
            </a:pPr>
            <a:r>
              <a:rPr lang="vi-VN" dirty="0"/>
              <a:t>Mọi dữ liệu (message) mà client gửi đều được chuyển đến broker trước.</a:t>
            </a:r>
          </a:p>
          <a:p>
            <a:pPr marL="158750" indent="0">
              <a:buFontTx/>
              <a:buNone/>
            </a:pPr>
            <a:r>
              <a:rPr lang="vi-VN" dirty="0"/>
              <a:t>Broker sau đó sẽ quyết định phân phối dữ liệu này đến các client quan tâm.</a:t>
            </a:r>
            <a:br>
              <a:rPr lang="vi-VN" dirty="0"/>
            </a:br>
            <a:r>
              <a:rPr lang="en-US" dirty="0"/>
              <a:t>=&gt; </a:t>
            </a:r>
            <a:r>
              <a:rPr lang="vi-VN" dirty="0"/>
              <a:t>Điều này giúp hệ thống dễ mở rộng và tách biệt publisher–subscriber.</a:t>
            </a:r>
          </a:p>
          <a:p>
            <a:pPr marL="158750" indent="0">
              <a:buFontTx/>
              <a:buNone/>
            </a:pPr>
            <a:endParaRPr lang="en-US" b="1" dirty="0"/>
          </a:p>
          <a:p>
            <a:pPr marL="158750" indent="0">
              <a:buFontTx/>
              <a:buNone/>
            </a:pPr>
            <a:r>
              <a:rPr lang="vi-VN" b="1" dirty="0"/>
              <a:t>3. Broker phân phối thông qua Topics</a:t>
            </a:r>
          </a:p>
          <a:p>
            <a:pPr marL="158750" indent="0">
              <a:buFontTx/>
              <a:buNone/>
            </a:pPr>
            <a:r>
              <a:rPr lang="vi-VN" dirty="0"/>
              <a:t>MQTT sử dụng </a:t>
            </a:r>
            <a:r>
              <a:rPr lang="vi-VN" b="1" dirty="0"/>
              <a:t>topics</a:t>
            </a:r>
            <a:r>
              <a:rPr lang="vi-VN" dirty="0"/>
              <a:t> (chủ đề) để phân loại dữ liệu.</a:t>
            </a:r>
          </a:p>
          <a:p>
            <a:pPr marL="158750" indent="0">
              <a:buFontTx/>
              <a:buNone/>
            </a:pPr>
            <a:r>
              <a:rPr lang="vi-VN" b="1" dirty="0"/>
              <a:t>Publisher</a:t>
            </a:r>
            <a:r>
              <a:rPr lang="vi-VN" dirty="0"/>
              <a:t> gửi dữ liệu đến một topic.</a:t>
            </a:r>
          </a:p>
          <a:p>
            <a:pPr marL="158750" indent="0">
              <a:buFontTx/>
              <a:buNone/>
            </a:pPr>
            <a:r>
              <a:rPr lang="vi-VN" b="1" dirty="0"/>
              <a:t>Subscriber</a:t>
            </a:r>
            <a:r>
              <a:rPr lang="vi-VN" dirty="0"/>
              <a:t> đăng ký (subscribe) topic đó để nhận dữ liệu.</a:t>
            </a:r>
          </a:p>
          <a:p>
            <a:pPr marL="158750" indent="0">
              <a:buFontTx/>
              <a:buNone/>
            </a:pPr>
            <a:r>
              <a:rPr lang="vi-VN" dirty="0"/>
              <a:t>Broker sẽ dựa trên topic để phân phối message đến đúng các subscriber.</a:t>
            </a:r>
            <a:br>
              <a:rPr lang="vi-VN" dirty="0"/>
            </a:br>
            <a:r>
              <a:rPr lang="en-US" dirty="0"/>
              <a:t>=&gt; </a:t>
            </a:r>
            <a:r>
              <a:rPr lang="vi-VN" dirty="0"/>
              <a:t>Ví dụ:</a:t>
            </a:r>
          </a:p>
          <a:p>
            <a:pPr marL="457200" lvl="1" indent="0">
              <a:buFontTx/>
              <a:buNone/>
            </a:pPr>
            <a:r>
              <a:rPr lang="vi-VN" dirty="0"/>
              <a:t>Publisher gửi dữ liệu lên topic home/temperature.</a:t>
            </a:r>
          </a:p>
          <a:p>
            <a:pPr marL="457200" lvl="1" indent="0">
              <a:buFontTx/>
              <a:buNone/>
            </a:pPr>
            <a:r>
              <a:rPr lang="vi-VN" dirty="0"/>
              <a:t>Các client đăng ký home/temperature sẽ nhận được giá trị nhiệt độ mới.</a:t>
            </a:r>
          </a:p>
          <a:p>
            <a:pPr marL="158750" indent="0">
              <a:buFontTx/>
              <a:buNone/>
            </a:pPr>
            <a:endParaRPr lang="en-US" b="1" dirty="0"/>
          </a:p>
          <a:p>
            <a:pPr marL="158750" indent="0">
              <a:buFontTx/>
              <a:buNone/>
            </a:pPr>
            <a:r>
              <a:rPr lang="vi-VN" b="1" dirty="0"/>
              <a:t>4. Không có kết nối trực tiếp giữa các Clients</a:t>
            </a:r>
          </a:p>
          <a:p>
            <a:pPr marL="158750" indent="0">
              <a:buFontTx/>
              <a:buNone/>
            </a:pPr>
            <a:r>
              <a:rPr lang="vi-VN" dirty="0"/>
              <a:t>Do tất cả giao tiếp đều qua broker, nên </a:t>
            </a:r>
            <a:r>
              <a:rPr lang="vi-VN" b="1" dirty="0"/>
              <a:t>các client không cần biết nhau</a:t>
            </a:r>
            <a:r>
              <a:rPr lang="vi-VN" dirty="0"/>
              <a:t>.</a:t>
            </a:r>
          </a:p>
          <a:p>
            <a:pPr marL="158750" indent="0">
              <a:buFontTx/>
              <a:buNone/>
            </a:pPr>
            <a:r>
              <a:rPr lang="vi-VN" dirty="0"/>
              <a:t>Ưu điểm:</a:t>
            </a:r>
          </a:p>
          <a:p>
            <a:pPr marL="457200" lvl="1" indent="0">
              <a:buFontTx/>
              <a:buNone/>
            </a:pPr>
            <a:r>
              <a:rPr lang="vi-VN" dirty="0"/>
              <a:t>Hệ thống linh hoạt, dễ thêm bớt thiết bị.</a:t>
            </a:r>
          </a:p>
          <a:p>
            <a:pPr marL="457200" lvl="1" indent="0">
              <a:buFontTx/>
              <a:buNone/>
            </a:pPr>
            <a:r>
              <a:rPr lang="vi-VN" dirty="0"/>
              <a:t>Giảm tải cho client vì không phải quản lý nhiều kết nối.</a:t>
            </a:r>
          </a:p>
          <a:p>
            <a:pPr marL="158750" indent="0">
              <a:buFontTx/>
              <a:buNone/>
            </a:pPr>
            <a:endParaRPr lang="en-US" b="1" dirty="0"/>
          </a:p>
          <a:p>
            <a:pPr marL="158750" indent="0">
              <a:buFontTx/>
              <a:buNone/>
            </a:pPr>
            <a:r>
              <a:rPr lang="vi-VN" b="1" dirty="0"/>
              <a:t>5. Client vừa Publish vừa Subscribe</a:t>
            </a:r>
          </a:p>
          <a:p>
            <a:pPr marL="158750" indent="0">
              <a:buFontTx/>
              <a:buNone/>
            </a:pPr>
            <a:r>
              <a:rPr lang="vi-VN" dirty="0"/>
              <a:t>Một client có thể </a:t>
            </a:r>
            <a:r>
              <a:rPr lang="vi-VN" b="1" dirty="0"/>
              <a:t>vừa đóng vai trò Publisher vừa là Subscriber</a:t>
            </a:r>
            <a:r>
              <a:rPr lang="vi-VN" dirty="0"/>
              <a:t>:</a:t>
            </a:r>
          </a:p>
          <a:p>
            <a:pPr marL="457200" lvl="1" indent="0">
              <a:buFontTx/>
              <a:buNone/>
            </a:pPr>
            <a:r>
              <a:rPr lang="vi-VN" dirty="0"/>
              <a:t>Vừa gửi dữ liệu lên một topic.</a:t>
            </a:r>
          </a:p>
          <a:p>
            <a:pPr marL="457200" lvl="1" indent="0">
              <a:buFontTx/>
              <a:buNone/>
            </a:pPr>
            <a:r>
              <a:rPr lang="vi-VN" dirty="0"/>
              <a:t>Vừa nhận dữ liệu từ topic khác.</a:t>
            </a:r>
            <a:br>
              <a:rPr lang="vi-VN" dirty="0"/>
            </a:br>
            <a:r>
              <a:rPr lang="en-US" dirty="0"/>
              <a:t>=&gt; </a:t>
            </a:r>
            <a:r>
              <a:rPr lang="vi-VN" dirty="0"/>
              <a:t>Ví dụ:</a:t>
            </a:r>
          </a:p>
          <a:p>
            <a:pPr marL="457200" lvl="1" indent="0">
              <a:buFontTx/>
              <a:buNone/>
            </a:pPr>
            <a:r>
              <a:rPr lang="vi-VN" dirty="0"/>
              <a:t>Một </a:t>
            </a:r>
            <a:r>
              <a:rPr lang="vi-VN" b="1" dirty="0"/>
              <a:t>cảm biến nhiệt độ</a:t>
            </a:r>
            <a:r>
              <a:rPr lang="vi-VN" dirty="0"/>
              <a:t> vừa publish dữ liệu lên topic home/temperature.</a:t>
            </a:r>
          </a:p>
          <a:p>
            <a:pPr marL="457200" lvl="1" indent="0">
              <a:buFontTx/>
              <a:buNone/>
            </a:pPr>
            <a:r>
              <a:rPr lang="vi-VN" dirty="0"/>
              <a:t>Đồng thời nó cũng có thể subscribe topic home/command để nhận lệnh (ví dụ: yêu cầu hiệu chỉnh).</a:t>
            </a:r>
          </a:p>
          <a:p>
            <a:pPr marL="158750" indent="0">
              <a:buFontTx/>
              <a:buNone/>
            </a:pPr>
            <a:endParaRPr lang="en-US" b="1" dirty="0"/>
          </a:p>
          <a:p>
            <a:pPr marL="158750" indent="0">
              <a:buFontTx/>
              <a:buNone/>
            </a:pPr>
            <a:r>
              <a:rPr lang="vi-VN" b="1" dirty="0"/>
              <a:t>Kết luận</a:t>
            </a:r>
            <a:r>
              <a:rPr lang="en-US" b="1" dirty="0"/>
              <a:t>:</a:t>
            </a:r>
            <a:endParaRPr lang="vi-VN" b="1" dirty="0"/>
          </a:p>
          <a:p>
            <a:pPr marL="158750" indent="0">
              <a:buFontTx/>
              <a:buNone/>
            </a:pPr>
            <a:r>
              <a:rPr lang="vi-VN" dirty="0"/>
              <a:t>Kiến trúc </a:t>
            </a:r>
            <a:r>
              <a:rPr lang="vi-VN" b="1" dirty="0"/>
              <a:t>MQTT dựa trên Broker</a:t>
            </a:r>
            <a:r>
              <a:rPr lang="vi-VN" dirty="0"/>
              <a:t> giúp đơn giản hóa giao tiếp trong IoT.</a:t>
            </a:r>
          </a:p>
          <a:p>
            <a:pPr marL="158750" indent="0">
              <a:buFontTx/>
              <a:buNone/>
            </a:pPr>
            <a:r>
              <a:rPr lang="vi-VN" dirty="0"/>
              <a:t>Ưu điểm: </a:t>
            </a:r>
            <a:r>
              <a:rPr lang="vi-VN" b="1" dirty="0"/>
              <a:t>nhẹ, dễ mở rộng, không phụ thuộc vào địa chỉ thiết bị</a:t>
            </a:r>
            <a:r>
              <a:rPr lang="vi-VN" dirty="0"/>
              <a:t>.</a:t>
            </a:r>
          </a:p>
          <a:p>
            <a:pPr marL="158750" indent="0">
              <a:buFontTx/>
              <a:buNone/>
            </a:pPr>
            <a:r>
              <a:rPr lang="vi-VN" dirty="0"/>
              <a:t>Cơ chế </a:t>
            </a:r>
            <a:r>
              <a:rPr lang="vi-VN" b="1" dirty="0"/>
              <a:t>publish/subscribe với topics</a:t>
            </a:r>
            <a:r>
              <a:rPr lang="vi-VN" dirty="0"/>
              <a:t> là điểm cốt lõi, cho phép xây dựng hệ thống IoT </a:t>
            </a:r>
            <a:r>
              <a:rPr lang="vi-VN" b="1" dirty="0"/>
              <a:t>mở, linh hoạt và hiệu quả</a:t>
            </a:r>
            <a:r>
              <a:rPr lang="vi-VN" dirty="0"/>
              <a:t>.</a:t>
            </a:r>
          </a:p>
          <a:p>
            <a:pPr marL="0" lvl="0" indent="0" algn="l" rtl="0">
              <a:spcBef>
                <a:spcPts val="0"/>
              </a:spcBef>
              <a:spcAft>
                <a:spcPts val="0"/>
              </a:spcAft>
              <a:buFontTx/>
              <a:buNone/>
            </a:pPr>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833874ed67_4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833874ed67_4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b="1" dirty="0"/>
              <a:t>1. Client và Broker kết nối qua TCP/IP</a:t>
            </a:r>
          </a:p>
          <a:p>
            <a:pPr marL="158750" indent="0">
              <a:buFont typeface="Arial" panose="020B0604020202020204" pitchFamily="34" charset="0"/>
              <a:buNone/>
            </a:pPr>
            <a:r>
              <a:rPr lang="vi-VN" dirty="0"/>
              <a:t>MQTT không tạo ra một giao thức truyền tải mới mà </a:t>
            </a:r>
            <a:r>
              <a:rPr lang="vi-VN" b="1" dirty="0"/>
              <a:t>xây dựng trên nền TCP/IP</a:t>
            </a:r>
            <a:r>
              <a:rPr lang="vi-VN" dirty="0"/>
              <a:t>.</a:t>
            </a:r>
          </a:p>
          <a:p>
            <a:pPr marL="158750" indent="0">
              <a:buFont typeface="Arial" panose="020B0604020202020204" pitchFamily="34" charset="0"/>
              <a:buNone/>
            </a:pPr>
            <a:r>
              <a:rPr lang="vi-VN" dirty="0"/>
              <a:t>TCP đảm bảo dữ liệu được truyền </a:t>
            </a:r>
            <a:r>
              <a:rPr lang="vi-VN" b="1" dirty="0"/>
              <a:t>đúng thứ tự, không mất mát, có cơ chế kiểm soát lỗi</a:t>
            </a:r>
            <a:r>
              <a:rPr lang="vi-VN" dirty="0"/>
              <a:t>.</a:t>
            </a:r>
          </a:p>
          <a:p>
            <a:pPr marL="158750" indent="0">
              <a:buFont typeface="Arial" panose="020B0604020202020204" pitchFamily="34" charset="0"/>
              <a:buNone/>
            </a:pPr>
            <a:r>
              <a:rPr lang="vi-VN" dirty="0"/>
              <a:t>Nhờ đó, MQTT có thể tập trung vào việc </a:t>
            </a:r>
            <a:r>
              <a:rPr lang="vi-VN" b="1" dirty="0"/>
              <a:t>đơn giản hóa cấu trúc gói tin</a:t>
            </a:r>
            <a:r>
              <a:rPr lang="vi-VN" dirty="0"/>
              <a:t> và hỗ trợ Pub/Sub, thay vì lo về độ tin cậy.</a:t>
            </a:r>
            <a:br>
              <a:rPr lang="vi-VN" dirty="0"/>
            </a:br>
            <a:r>
              <a:rPr lang="en-US" dirty="0"/>
              <a:t>=&gt; </a:t>
            </a:r>
            <a:r>
              <a:rPr lang="vi-VN" dirty="0"/>
              <a:t>Ví dụ: ESP32 kết nối tới broker (Mosquitto) qua cổng TCP 1883.</a:t>
            </a:r>
          </a:p>
          <a:p>
            <a:pPr marL="158750" indent="0">
              <a:buNone/>
            </a:pPr>
            <a:endParaRPr lang="en-US" b="1" dirty="0"/>
          </a:p>
          <a:p>
            <a:pPr marL="158750" indent="0">
              <a:buNone/>
            </a:pPr>
            <a:r>
              <a:rPr lang="vi-VN" b="1" dirty="0"/>
              <a:t>2. Client duy trì kết nối liên tục</a:t>
            </a:r>
          </a:p>
          <a:p>
            <a:pPr marL="158750" indent="0">
              <a:buFont typeface="Arial" panose="020B0604020202020204" pitchFamily="34" charset="0"/>
              <a:buNone/>
            </a:pPr>
            <a:r>
              <a:rPr lang="vi-VN" dirty="0"/>
              <a:t>Khi một client (ví dụ: cảm biến IoT) kết nối đến broker, </a:t>
            </a:r>
            <a:r>
              <a:rPr lang="vi-VN" b="1" dirty="0"/>
              <a:t>kết nối TCP được giữ liên tục</a:t>
            </a:r>
            <a:r>
              <a:rPr lang="vi-VN" dirty="0"/>
              <a:t>, ngay cả khi </a:t>
            </a:r>
            <a:r>
              <a:rPr lang="vi-VN" b="1" dirty="0"/>
              <a:t>không có dữ liệu được gửi/nhận</a:t>
            </a:r>
            <a:r>
              <a:rPr lang="vi-VN" dirty="0"/>
              <a:t>.</a:t>
            </a:r>
          </a:p>
          <a:p>
            <a:pPr marL="158750" indent="0">
              <a:buFont typeface="Arial" panose="020B0604020202020204" pitchFamily="34" charset="0"/>
              <a:buNone/>
            </a:pPr>
            <a:r>
              <a:rPr lang="vi-VN" dirty="0"/>
              <a:t>Điều này giúp broker biết chắc chắn client còn hoạt động và sẵn sàng gửi/nhận dữ liệu bất kỳ lúc nào.</a:t>
            </a:r>
          </a:p>
          <a:p>
            <a:pPr marL="158750" indent="0">
              <a:buFont typeface="Arial" panose="020B0604020202020204" pitchFamily="34" charset="0"/>
              <a:buNone/>
            </a:pPr>
            <a:r>
              <a:rPr lang="vi-VN" dirty="0"/>
              <a:t>Ưu điểm: dữ liệu có thể được truyền </a:t>
            </a:r>
            <a:r>
              <a:rPr lang="vi-VN" b="1" dirty="0"/>
              <a:t>real-time</a:t>
            </a:r>
            <a:r>
              <a:rPr lang="vi-VN" dirty="0"/>
              <a:t> mà không cần thiết lập lại kết nối cho mỗi lần gửi (khác HTTP).</a:t>
            </a:r>
          </a:p>
          <a:p>
            <a:pPr marL="158750" indent="0">
              <a:buNone/>
            </a:pPr>
            <a:endParaRPr lang="en-US" b="1" dirty="0"/>
          </a:p>
          <a:p>
            <a:pPr marL="158750" indent="0">
              <a:buNone/>
            </a:pPr>
            <a:r>
              <a:rPr lang="vi-VN" b="1" dirty="0"/>
              <a:t>3. KeepAlive Message</a:t>
            </a:r>
          </a:p>
          <a:p>
            <a:pPr marL="158750" indent="0">
              <a:buFont typeface="Arial" panose="020B0604020202020204" pitchFamily="34" charset="0"/>
              <a:buNone/>
            </a:pPr>
            <a:r>
              <a:rPr lang="vi-VN" dirty="0"/>
              <a:t>Để duy trì kết nối, </a:t>
            </a:r>
            <a:r>
              <a:rPr lang="vi-VN" b="1" dirty="0"/>
              <a:t>client định kỳ gửi một gói tin nhỏ gọi là KeepAlive</a:t>
            </a:r>
            <a:r>
              <a:rPr lang="vi-VN" dirty="0"/>
              <a:t>.</a:t>
            </a:r>
          </a:p>
          <a:p>
            <a:pPr marL="158750" indent="0">
              <a:buFont typeface="Arial" panose="020B0604020202020204" pitchFamily="34" charset="0"/>
              <a:buNone/>
            </a:pPr>
            <a:r>
              <a:rPr lang="vi-VN" dirty="0"/>
              <a:t>Mục đích: báo cho broker biết client vẫn đang hoạt động và kết nối chưa bị mất.</a:t>
            </a:r>
          </a:p>
          <a:p>
            <a:pPr marL="158750" indent="0">
              <a:buFont typeface="Arial" panose="020B0604020202020204" pitchFamily="34" charset="0"/>
              <a:buNone/>
            </a:pPr>
            <a:r>
              <a:rPr lang="vi-VN" dirty="0"/>
              <a:t>Nếu broker </a:t>
            </a:r>
            <a:r>
              <a:rPr lang="vi-VN" b="1" dirty="0"/>
              <a:t>không nhận được KeepAlive trong thời gian quy định</a:t>
            </a:r>
            <a:r>
              <a:rPr lang="vi-VN" dirty="0"/>
              <a:t>, nó coi client đã </a:t>
            </a:r>
            <a:r>
              <a:rPr lang="vi-VN" b="1" dirty="0"/>
              <a:t>mất kết nối</a:t>
            </a:r>
            <a:r>
              <a:rPr lang="vi-VN" dirty="0"/>
              <a:t> và có thể:</a:t>
            </a:r>
          </a:p>
          <a:p>
            <a:pPr marL="457200" lvl="1" indent="0">
              <a:buFont typeface="Arial" panose="020B0604020202020204" pitchFamily="34" charset="0"/>
              <a:buNone/>
            </a:pPr>
            <a:r>
              <a:rPr lang="vi-VN" dirty="0"/>
              <a:t>Giải phóng tài nguyên cho client đó.</a:t>
            </a:r>
          </a:p>
          <a:p>
            <a:pPr marL="457200" lvl="1" indent="0">
              <a:buFont typeface="Arial" panose="020B0604020202020204" pitchFamily="34" charset="0"/>
              <a:buNone/>
            </a:pPr>
            <a:r>
              <a:rPr lang="vi-VN" dirty="0"/>
              <a:t>Thông báo cho các subscriber khác rằng client đã ngắt kết nối.</a:t>
            </a:r>
          </a:p>
          <a:p>
            <a:pPr marL="158750" indent="0">
              <a:buNone/>
            </a:pPr>
            <a:r>
              <a:rPr lang="en-US" dirty="0"/>
              <a:t>=&gt; </a:t>
            </a:r>
            <a:r>
              <a:rPr lang="vi-VN" dirty="0"/>
              <a:t>Ví dụ: ESP32 cấu hình KeepAlive = 60 giây → cứ 1 phút sẽ gửi tín hiệu “ping” cho broker để giữ kết nối.</a:t>
            </a:r>
          </a:p>
          <a:p>
            <a:pPr marL="158750" indent="0">
              <a:buNone/>
            </a:pPr>
            <a:endParaRPr lang="en-US" b="1" dirty="0"/>
          </a:p>
          <a:p>
            <a:pPr marL="158750" indent="0">
              <a:buNone/>
            </a:pPr>
            <a:r>
              <a:rPr lang="vi-VN" b="1" dirty="0"/>
              <a:t>Kết luận</a:t>
            </a:r>
          </a:p>
          <a:p>
            <a:pPr marL="158750" indent="0">
              <a:buFont typeface="Arial" panose="020B0604020202020204" pitchFamily="34" charset="0"/>
              <a:buNone/>
            </a:pPr>
            <a:r>
              <a:rPr lang="vi-VN" b="1" dirty="0"/>
              <a:t>MQTT Client ↔ Broker</a:t>
            </a:r>
            <a:r>
              <a:rPr lang="vi-VN" dirty="0"/>
              <a:t> luôn kết nối qua TCP/IP để đảm bảo độ tin cậy.</a:t>
            </a:r>
          </a:p>
          <a:p>
            <a:pPr marL="158750" indent="0">
              <a:buFont typeface="Arial" panose="020B0604020202020204" pitchFamily="34" charset="0"/>
              <a:buNone/>
            </a:pPr>
            <a:r>
              <a:rPr lang="vi-VN" b="1" dirty="0"/>
              <a:t>Kết nối được duy trì liên tục</a:t>
            </a:r>
            <a:r>
              <a:rPr lang="vi-VN" dirty="0"/>
              <a:t>, giúp dữ liệu IoT có thể truyền ngay khi cần.</a:t>
            </a:r>
          </a:p>
          <a:p>
            <a:pPr marL="158750" indent="0">
              <a:buFont typeface="Arial" panose="020B0604020202020204" pitchFamily="34" charset="0"/>
              <a:buNone/>
            </a:pPr>
            <a:r>
              <a:rPr lang="vi-VN" b="1" dirty="0"/>
              <a:t>KeepAlive message</a:t>
            </a:r>
            <a:r>
              <a:rPr lang="vi-VN" dirty="0"/>
              <a:t> là cơ chế quan trọng để broker phân biệt client còn hoạt động hay đã mất kết nối.</a:t>
            </a:r>
          </a:p>
          <a:p>
            <a:pPr marL="0" lvl="0" indent="0" algn="l" rtl="0">
              <a:spcBef>
                <a:spcPts val="0"/>
              </a:spcBef>
              <a:spcAft>
                <a:spcPts val="0"/>
              </a:spcAft>
              <a:buNone/>
            </a:pPr>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833874ed67_4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833874ed67_4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Mỗi client cần có tên/ID duy nhất</a:t>
            </a:r>
          </a:p>
          <a:p>
            <a:pPr marL="158750" indent="0">
              <a:buFontTx/>
              <a:buNone/>
            </a:pPr>
            <a:r>
              <a:rPr lang="vi-VN" dirty="0"/>
              <a:t>Khi một thiết bị IoT (client) kết nối đến </a:t>
            </a:r>
            <a:r>
              <a:rPr lang="vi-VN" b="1" dirty="0"/>
              <a:t>Broker MQTT</a:t>
            </a:r>
            <a:r>
              <a:rPr lang="vi-VN" dirty="0"/>
              <a:t>, nó phải cung cấp </a:t>
            </a:r>
            <a:r>
              <a:rPr lang="vi-VN" b="1" dirty="0"/>
              <a:t>Client ID</a:t>
            </a:r>
            <a:r>
              <a:rPr lang="vi-VN" dirty="0"/>
              <a:t>.</a:t>
            </a:r>
          </a:p>
          <a:p>
            <a:pPr marL="158750" indent="0">
              <a:buFontTx/>
              <a:buNone/>
            </a:pPr>
            <a:r>
              <a:rPr lang="vi-VN" b="1" dirty="0"/>
              <a:t>Client ID</a:t>
            </a:r>
            <a:r>
              <a:rPr lang="vi-VN" dirty="0"/>
              <a:t> hoạt động như </a:t>
            </a:r>
            <a:r>
              <a:rPr lang="vi-VN" b="1" dirty="0"/>
              <a:t>tên định danh duy nhất</a:t>
            </a:r>
            <a:r>
              <a:rPr lang="vi-VN" dirty="0"/>
              <a:t> trong mạng MQTT, giúp broker phân biệt các client khác nhau.</a:t>
            </a:r>
          </a:p>
          <a:p>
            <a:pPr marL="158750" indent="0">
              <a:buFontTx/>
              <a:buNone/>
            </a:pPr>
            <a:r>
              <a:rPr lang="vi-VN" dirty="0"/>
              <a:t>Nếu không có ID duy nhất, broker sẽ không thể quản lý chính xác từng kết nối.</a:t>
            </a:r>
          </a:p>
          <a:p>
            <a:pPr marL="158750" indent="0">
              <a:buFontTx/>
              <a:buNone/>
            </a:pPr>
            <a:r>
              <a:rPr lang="en-US" dirty="0"/>
              <a:t>=&gt; </a:t>
            </a:r>
            <a:r>
              <a:rPr lang="vi-VN" dirty="0"/>
              <a:t>Ví dụ:</a:t>
            </a:r>
          </a:p>
          <a:p>
            <a:pPr marL="158750" indent="0">
              <a:buFontTx/>
              <a:buNone/>
            </a:pPr>
            <a:r>
              <a:rPr lang="vi-VN" dirty="0"/>
              <a:t>Cảm biến nhiệt độ = clientID: sensor_temp_01</a:t>
            </a:r>
          </a:p>
          <a:p>
            <a:pPr marL="158750" indent="0">
              <a:buFontTx/>
              <a:buNone/>
            </a:pPr>
            <a:r>
              <a:rPr lang="vi-VN" dirty="0"/>
              <a:t>Đèn thông minh = clientID: light_01</a:t>
            </a:r>
          </a:p>
          <a:p>
            <a:pPr marL="158750" indent="0">
              <a:buFontTx/>
              <a:buNone/>
            </a:pPr>
            <a:endParaRPr lang="en-US" b="1" dirty="0"/>
          </a:p>
          <a:p>
            <a:pPr marL="158750" indent="0">
              <a:buFontTx/>
              <a:buNone/>
            </a:pPr>
            <a:r>
              <a:rPr lang="vi-VN" b="1" dirty="0"/>
              <a:t>2. Broker dùng Client ID để quản lý</a:t>
            </a:r>
          </a:p>
          <a:p>
            <a:pPr marL="158750" indent="0">
              <a:buFontTx/>
              <a:buNone/>
            </a:pPr>
            <a:r>
              <a:rPr lang="vi-VN" dirty="0"/>
              <a:t>Broker cần Client ID để:</a:t>
            </a:r>
          </a:p>
          <a:p>
            <a:pPr marL="457200" lvl="1" indent="0">
              <a:buFontTx/>
              <a:buNone/>
            </a:pPr>
            <a:r>
              <a:rPr lang="vi-VN" dirty="0"/>
              <a:t>Xác định </a:t>
            </a:r>
            <a:r>
              <a:rPr lang="vi-VN" b="1" dirty="0"/>
              <a:t>subscriber</a:t>
            </a:r>
            <a:r>
              <a:rPr lang="vi-VN" dirty="0"/>
              <a:t> nào đang đăng ký topic nào.</a:t>
            </a:r>
          </a:p>
          <a:p>
            <a:pPr marL="457200" lvl="1" indent="0">
              <a:buFontTx/>
              <a:buNone/>
            </a:pPr>
            <a:r>
              <a:rPr lang="vi-VN" dirty="0"/>
              <a:t>Quản lý </a:t>
            </a:r>
            <a:r>
              <a:rPr lang="vi-VN" b="1" dirty="0"/>
              <a:t>publisher</a:t>
            </a:r>
            <a:r>
              <a:rPr lang="vi-VN" dirty="0"/>
              <a:t> gửi dữ liệu từ đâu.</a:t>
            </a:r>
          </a:p>
          <a:p>
            <a:pPr marL="457200" lvl="1" indent="0">
              <a:buFontTx/>
              <a:buNone/>
            </a:pPr>
            <a:r>
              <a:rPr lang="vi-VN" dirty="0"/>
              <a:t>Theo dõi </a:t>
            </a:r>
            <a:r>
              <a:rPr lang="vi-VN" b="1" dirty="0"/>
              <a:t>trạng thái kết nối</a:t>
            </a:r>
            <a:r>
              <a:rPr lang="vi-VN" dirty="0"/>
              <a:t> (đang online hay offline).</a:t>
            </a:r>
          </a:p>
          <a:p>
            <a:pPr marL="158750" indent="0">
              <a:buFontTx/>
              <a:buNone/>
            </a:pPr>
            <a:r>
              <a:rPr lang="vi-VN" dirty="0"/>
              <a:t>Nhờ Client ID duy nhất, broker có thể gửi dữ liệu đến </a:t>
            </a:r>
            <a:r>
              <a:rPr lang="vi-VN" b="1" dirty="0"/>
              <a:t>đúng thiết bị</a:t>
            </a:r>
            <a:r>
              <a:rPr lang="vi-VN" dirty="0"/>
              <a:t> trong hệ thống IoT lớn.</a:t>
            </a:r>
          </a:p>
          <a:p>
            <a:pPr marL="158750" indent="0">
              <a:buFontTx/>
              <a:buNone/>
            </a:pPr>
            <a:endParaRPr lang="en-US" b="1" dirty="0"/>
          </a:p>
          <a:p>
            <a:pPr marL="158750" indent="0">
              <a:buFontTx/>
              <a:buNone/>
            </a:pPr>
            <a:r>
              <a:rPr lang="vi-VN" b="1" dirty="0"/>
              <a:t>3. Xử lý khi Client ID bị trùng</a:t>
            </a:r>
          </a:p>
          <a:p>
            <a:pPr marL="158750" indent="0">
              <a:buFontTx/>
              <a:buNone/>
            </a:pPr>
            <a:r>
              <a:rPr lang="vi-VN" dirty="0"/>
              <a:t>Nếu </a:t>
            </a:r>
            <a:r>
              <a:rPr lang="vi-VN" b="1" dirty="0"/>
              <a:t>hai client kết nối với cùng một Client ID</a:t>
            </a:r>
            <a:r>
              <a:rPr lang="vi-VN" dirty="0"/>
              <a:t>, broker sẽ coi đó là </a:t>
            </a:r>
            <a:r>
              <a:rPr lang="vi-VN" b="1" dirty="0"/>
              <a:t>cùng một thiết bị</a:t>
            </a:r>
            <a:r>
              <a:rPr lang="vi-VN" dirty="0"/>
              <a:t>.</a:t>
            </a:r>
          </a:p>
          <a:p>
            <a:pPr marL="158750" indent="0">
              <a:buFontTx/>
              <a:buNone/>
            </a:pPr>
            <a:r>
              <a:rPr lang="vi-VN" dirty="0"/>
              <a:t>Kết quả: </a:t>
            </a:r>
            <a:r>
              <a:rPr lang="vi-VN" b="1" dirty="0"/>
              <a:t>kết nối cũ sẽ bị ngắt</a:t>
            </a:r>
            <a:r>
              <a:rPr lang="vi-VN" dirty="0"/>
              <a:t> để nhường cho kết nối mới.</a:t>
            </a:r>
          </a:p>
          <a:p>
            <a:pPr marL="158750" indent="0">
              <a:buFontTx/>
              <a:buNone/>
            </a:pPr>
            <a:r>
              <a:rPr lang="vi-VN" dirty="0"/>
              <a:t>Điều này gây ra gián đoạn và lỗi trong hệ thống.</a:t>
            </a:r>
          </a:p>
          <a:p>
            <a:pPr marL="158750" indent="0">
              <a:buFontTx/>
              <a:buNone/>
            </a:pPr>
            <a:r>
              <a:rPr lang="en-US" dirty="0"/>
              <a:t>=&gt; </a:t>
            </a:r>
            <a:r>
              <a:rPr lang="vi-VN" dirty="0"/>
              <a:t>Ví dụ:</a:t>
            </a:r>
          </a:p>
          <a:p>
            <a:pPr marL="158750" indent="0">
              <a:buFontTx/>
              <a:buNone/>
            </a:pPr>
            <a:r>
              <a:rPr lang="vi-VN" dirty="0"/>
              <a:t>Nếu hai thiết bị cùng dùng ID sensor_temp_01, broker sẽ chỉ giữ một kết nối → thiết bị kia sẽ bị ngắt.</a:t>
            </a:r>
          </a:p>
          <a:p>
            <a:pPr marL="158750" indent="0">
              <a:buFontTx/>
              <a:buNone/>
            </a:pPr>
            <a:endParaRPr lang="en-US" b="1" dirty="0"/>
          </a:p>
          <a:p>
            <a:pPr marL="158750" indent="0">
              <a:buFontTx/>
              <a:buNone/>
            </a:pPr>
            <a:r>
              <a:rPr lang="vi-VN" b="1" dirty="0"/>
              <a:t>4. Ý nghĩa trong thực tế IoT</a:t>
            </a:r>
          </a:p>
          <a:p>
            <a:pPr marL="158750" indent="0">
              <a:buFontTx/>
              <a:buNone/>
            </a:pPr>
            <a:r>
              <a:rPr lang="vi-VN" dirty="0"/>
              <a:t>Trong hệ thống IoT có hàng trăm/thậm chí hàng ngàn thiết bị, việc gán </a:t>
            </a:r>
            <a:r>
              <a:rPr lang="vi-VN" b="1" dirty="0"/>
              <a:t>Client ID duy nhất</a:t>
            </a:r>
            <a:r>
              <a:rPr lang="vi-VN" dirty="0"/>
              <a:t> giúp:</a:t>
            </a:r>
          </a:p>
          <a:p>
            <a:pPr marL="457200" lvl="1" indent="0">
              <a:buFontTx/>
              <a:buNone/>
            </a:pPr>
            <a:r>
              <a:rPr lang="vi-VN" dirty="0"/>
              <a:t>Tránh xung đột, mất kết nối.</a:t>
            </a:r>
          </a:p>
          <a:p>
            <a:pPr marL="457200" lvl="1" indent="0">
              <a:buFontTx/>
              <a:buNone/>
            </a:pPr>
            <a:r>
              <a:rPr lang="vi-VN" dirty="0"/>
              <a:t>Dễ dàng quản lý, bảo trì và theo dõi log hoạt động.</a:t>
            </a:r>
          </a:p>
          <a:p>
            <a:pPr marL="457200" lvl="1" indent="0">
              <a:buFontTx/>
              <a:buNone/>
            </a:pPr>
            <a:r>
              <a:rPr lang="vi-VN" dirty="0"/>
              <a:t>Hỗ trợ cơ chế </a:t>
            </a:r>
            <a:r>
              <a:rPr lang="vi-VN" b="1" dirty="0"/>
              <a:t>Last Will Message</a:t>
            </a:r>
            <a:r>
              <a:rPr lang="vi-VN" dirty="0"/>
              <a:t> (broker thông báo khi một client mất kết nối).</a:t>
            </a:r>
          </a:p>
          <a:p>
            <a:pPr marL="158750" indent="0">
              <a:buFontTx/>
              <a:buNone/>
            </a:pPr>
            <a:endParaRPr lang="en-US" b="1" dirty="0"/>
          </a:p>
          <a:p>
            <a:pPr marL="158750" indent="0">
              <a:buFontTx/>
              <a:buNone/>
            </a:pPr>
            <a:r>
              <a:rPr lang="vi-VN" b="1" dirty="0"/>
              <a:t>Kết luận</a:t>
            </a:r>
          </a:p>
          <a:p>
            <a:pPr marL="158750" indent="0">
              <a:buFontTx/>
              <a:buNone/>
            </a:pPr>
            <a:r>
              <a:rPr lang="vi-VN" dirty="0"/>
              <a:t>Trong MQTT, </a:t>
            </a:r>
            <a:r>
              <a:rPr lang="vi-VN" b="1" dirty="0"/>
              <a:t>Client ID là bắt buộc và phải duy nhất</a:t>
            </a:r>
            <a:r>
              <a:rPr lang="vi-VN" dirty="0"/>
              <a:t>.</a:t>
            </a:r>
          </a:p>
          <a:p>
            <a:pPr marL="158750" indent="0">
              <a:buFontTx/>
              <a:buNone/>
            </a:pPr>
            <a:r>
              <a:rPr lang="vi-VN" dirty="0"/>
              <a:t>Broker dựa vào Client ID để quản lý </a:t>
            </a:r>
            <a:r>
              <a:rPr lang="vi-VN" b="1" dirty="0"/>
              <a:t>publisher</a:t>
            </a:r>
            <a:r>
              <a:rPr lang="vi-VN" dirty="0"/>
              <a:t> và </a:t>
            </a:r>
            <a:r>
              <a:rPr lang="vi-VN" b="1" dirty="0"/>
              <a:t>subscriber</a:t>
            </a:r>
            <a:r>
              <a:rPr lang="vi-VN" dirty="0"/>
              <a:t>.</a:t>
            </a:r>
          </a:p>
          <a:p>
            <a:pPr marL="158750" indent="0">
              <a:buFontTx/>
              <a:buNone/>
            </a:pPr>
            <a:r>
              <a:rPr lang="vi-VN" dirty="0"/>
              <a:t>Nếu trùng ID → kết nối trước sẽ bị ngắt → gây lỗi trong hệ thống.</a:t>
            </a:r>
            <a:endParaRPr lang="en-US" dirty="0"/>
          </a:p>
          <a:p>
            <a:pPr marL="158750" indent="0">
              <a:buFontTx/>
              <a:buNone/>
            </a:pPr>
            <a:r>
              <a:rPr lang="en-US" dirty="0"/>
              <a:t>=&gt; </a:t>
            </a:r>
            <a:r>
              <a:rPr lang="vi-VN" dirty="0"/>
              <a:t>Bài học: Khi lập trình IoT với MQTT, </a:t>
            </a:r>
            <a:r>
              <a:rPr lang="vi-VN" b="1" dirty="0"/>
              <a:t>luôn đặt Client ID riêng biệt cho mỗi thiết bị</a:t>
            </a:r>
            <a:r>
              <a:rPr lang="vi-VN" dirty="0"/>
              <a:t>.</a:t>
            </a:r>
          </a:p>
          <a:p>
            <a:pPr marL="0" lvl="0" indent="0" algn="l" rtl="0">
              <a:spcBef>
                <a:spcPts val="0"/>
              </a:spcBef>
              <a:spcAft>
                <a:spcPts val="0"/>
              </a:spcAft>
              <a:buFontTx/>
              <a:buNone/>
            </a:pPr>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833874ed67_4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833874ed67_4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QoS (Quality of Service) trong MQTT</a:t>
            </a:r>
          </a:p>
          <a:p>
            <a:pPr marL="158750" indent="0">
              <a:buFontTx/>
              <a:buNone/>
            </a:pPr>
            <a:r>
              <a:rPr lang="vi-VN" dirty="0"/>
              <a:t>QoS xác định </a:t>
            </a:r>
            <a:r>
              <a:rPr lang="vi-VN" b="1" dirty="0"/>
              <a:t>mức độ đảm bảo</a:t>
            </a:r>
            <a:r>
              <a:rPr lang="vi-VN" dirty="0"/>
              <a:t> trong việc truyền gói tin giữa </a:t>
            </a:r>
            <a:r>
              <a:rPr lang="vi-VN" b="1" dirty="0"/>
              <a:t>publisher – broker – subscriber</a:t>
            </a:r>
            <a:r>
              <a:rPr lang="vi-VN" dirty="0"/>
              <a:t>.</a:t>
            </a:r>
          </a:p>
          <a:p>
            <a:pPr marL="158750" indent="0">
              <a:buFontTx/>
              <a:buNone/>
            </a:pPr>
            <a:r>
              <a:rPr lang="vi-VN" dirty="0"/>
              <a:t>Có </a:t>
            </a:r>
            <a:r>
              <a:rPr lang="vi-VN" b="1" dirty="0"/>
              <a:t>3 mức QoS</a:t>
            </a:r>
            <a:r>
              <a:rPr lang="vi-VN" dirty="0"/>
              <a:t>:</a:t>
            </a:r>
          </a:p>
          <a:p>
            <a:pPr marL="158750" indent="0">
              <a:buFontTx/>
              <a:buNone/>
            </a:pPr>
            <a:r>
              <a:rPr lang="en-US" b="1" dirty="0"/>
              <a:t>a. </a:t>
            </a:r>
            <a:r>
              <a:rPr lang="vi-VN" b="1" dirty="0"/>
              <a:t>QoS 0 – At most once (Gửi tối đa 1 lần)</a:t>
            </a:r>
          </a:p>
          <a:p>
            <a:pPr marL="158750" indent="0">
              <a:buFontTx/>
              <a:buNone/>
            </a:pPr>
            <a:r>
              <a:rPr lang="vi-VN" dirty="0"/>
              <a:t>Gói tin chỉ được gửi </a:t>
            </a:r>
            <a:r>
              <a:rPr lang="vi-VN" b="1" dirty="0"/>
              <a:t>1 lần duy nhất</a:t>
            </a:r>
            <a:r>
              <a:rPr lang="vi-VN" dirty="0"/>
              <a:t>.</a:t>
            </a:r>
          </a:p>
          <a:p>
            <a:pPr marL="158750" indent="0">
              <a:buFontTx/>
              <a:buNone/>
            </a:pPr>
            <a:r>
              <a:rPr lang="vi-VN" dirty="0"/>
              <a:t>Không cần xác nhận từ phía nhận.</a:t>
            </a:r>
          </a:p>
          <a:p>
            <a:pPr marL="158750" indent="0">
              <a:buFontTx/>
              <a:buNone/>
            </a:pPr>
            <a:r>
              <a:rPr lang="vi-VN" dirty="0"/>
              <a:t>Nếu gói tin bị mất → dữ liệu không được truyền lại.</a:t>
            </a:r>
            <a:br>
              <a:rPr lang="vi-VN" dirty="0"/>
            </a:br>
            <a:r>
              <a:rPr lang="en-US" dirty="0"/>
              <a:t>=&gt; </a:t>
            </a:r>
            <a:r>
              <a:rPr lang="vi-VN" dirty="0"/>
              <a:t>Phù hợp cho dữ liệu </a:t>
            </a:r>
            <a:r>
              <a:rPr lang="vi-VN" b="1" dirty="0"/>
              <a:t>không quá quan trọng</a:t>
            </a:r>
            <a:r>
              <a:rPr lang="vi-VN" dirty="0"/>
              <a:t> (ví dụ: giá trị nhiệt độ cập nhật liên tục, mất 1 lần cũng không sao).</a:t>
            </a:r>
          </a:p>
          <a:p>
            <a:pPr marL="158750" indent="0">
              <a:buFontTx/>
              <a:buNone/>
            </a:pPr>
            <a:r>
              <a:rPr lang="en-US" b="1" dirty="0"/>
              <a:t>b. </a:t>
            </a:r>
            <a:r>
              <a:rPr lang="vi-VN" b="1" dirty="0"/>
              <a:t>QoS 1 – At least once (Ít nhất 1 lần)</a:t>
            </a:r>
          </a:p>
          <a:p>
            <a:pPr marL="158750" indent="0">
              <a:buFontTx/>
              <a:buNone/>
            </a:pPr>
            <a:r>
              <a:rPr lang="vi-VN" dirty="0"/>
              <a:t>Gói tin sẽ được gửi đi và yêu cầu </a:t>
            </a:r>
            <a:r>
              <a:rPr lang="vi-VN" b="1" dirty="0"/>
              <a:t>ít nhất 1 lần xác nhận</a:t>
            </a:r>
            <a:r>
              <a:rPr lang="vi-VN" dirty="0"/>
              <a:t> từ phía nhận.</a:t>
            </a:r>
          </a:p>
          <a:p>
            <a:pPr marL="158750" indent="0">
              <a:buFontTx/>
              <a:buNone/>
            </a:pPr>
            <a:r>
              <a:rPr lang="vi-VN" dirty="0"/>
              <a:t>Nếu không nhận ACK, gói tin sẽ được gửi lại.</a:t>
            </a:r>
          </a:p>
          <a:p>
            <a:pPr marL="158750" indent="0">
              <a:buFontTx/>
              <a:buNone/>
            </a:pPr>
            <a:r>
              <a:rPr lang="vi-VN" dirty="0"/>
              <a:t>Có thể xảy ra tình huống </a:t>
            </a:r>
            <a:r>
              <a:rPr lang="vi-VN" b="1" dirty="0"/>
              <a:t>trùng lặp dữ liệu</a:t>
            </a:r>
            <a:r>
              <a:rPr lang="vi-VN" dirty="0"/>
              <a:t> (cùng một gói tin đến nhiều lần).</a:t>
            </a:r>
            <a:br>
              <a:rPr lang="vi-VN" dirty="0"/>
            </a:br>
            <a:r>
              <a:rPr lang="en-US" dirty="0"/>
              <a:t>=&gt; </a:t>
            </a:r>
            <a:r>
              <a:rPr lang="vi-VN" dirty="0"/>
              <a:t>Dùng cho dữ liệu </a:t>
            </a:r>
            <a:r>
              <a:rPr lang="vi-VN" b="1" dirty="0"/>
              <a:t>cần đảm bảo đến nơi</a:t>
            </a:r>
            <a:r>
              <a:rPr lang="vi-VN" dirty="0"/>
              <a:t>, nhưng </a:t>
            </a:r>
            <a:r>
              <a:rPr lang="vi-VN" b="1" dirty="0"/>
              <a:t>chấp nhận trùng lặp</a:t>
            </a:r>
            <a:r>
              <a:rPr lang="vi-VN" dirty="0"/>
              <a:t> (ví dụ: cảnh báo cháy, thông báo sự kiện).</a:t>
            </a:r>
          </a:p>
          <a:p>
            <a:pPr marL="158750" indent="0">
              <a:buFontTx/>
              <a:buNone/>
            </a:pPr>
            <a:r>
              <a:rPr lang="en-US" b="1" dirty="0"/>
              <a:t>c. </a:t>
            </a:r>
            <a:r>
              <a:rPr lang="vi-VN" b="1" dirty="0"/>
              <a:t>QoS 2 – Exactly once (Chính xác 1 lần)</a:t>
            </a:r>
          </a:p>
          <a:p>
            <a:pPr marL="158750" indent="0">
              <a:buFontTx/>
              <a:buNone/>
            </a:pPr>
            <a:r>
              <a:rPr lang="vi-VN" dirty="0"/>
              <a:t>Đảm bảo gói tin được gửi và nhận </a:t>
            </a:r>
            <a:r>
              <a:rPr lang="vi-VN" b="1" dirty="0"/>
              <a:t>chính xác duy nhất 1 lần</a:t>
            </a:r>
            <a:r>
              <a:rPr lang="vi-VN" dirty="0"/>
              <a:t>.</a:t>
            </a:r>
          </a:p>
          <a:p>
            <a:pPr marL="158750" indent="0">
              <a:buFontTx/>
              <a:buNone/>
            </a:pPr>
            <a:r>
              <a:rPr lang="vi-VN" dirty="0"/>
              <a:t>Quá trình này yêu cầu </a:t>
            </a:r>
            <a:r>
              <a:rPr lang="vi-VN" b="1" dirty="0"/>
              <a:t>4 bước bắt tay (4-way handshake)</a:t>
            </a:r>
            <a:r>
              <a:rPr lang="vi-VN" dirty="0"/>
              <a:t> giữa publisher ↔ broker ↔ subscriber.</a:t>
            </a:r>
          </a:p>
          <a:p>
            <a:pPr marL="158750" indent="0">
              <a:buFontTx/>
              <a:buNone/>
            </a:pPr>
            <a:r>
              <a:rPr lang="vi-VN" dirty="0"/>
              <a:t>Độ tin cậy cao nhất nhưng </a:t>
            </a:r>
            <a:r>
              <a:rPr lang="vi-VN" b="1" dirty="0"/>
              <a:t>tốn tài nguyên và chậm hơn</a:t>
            </a:r>
            <a:r>
              <a:rPr lang="vi-VN" dirty="0"/>
              <a:t>.</a:t>
            </a:r>
            <a:br>
              <a:rPr lang="vi-VN" dirty="0"/>
            </a:br>
            <a:r>
              <a:rPr lang="en-US" dirty="0"/>
              <a:t>=&gt; </a:t>
            </a:r>
            <a:r>
              <a:rPr lang="vi-VN" dirty="0"/>
              <a:t>Dùng cho dữ liệu </a:t>
            </a:r>
            <a:r>
              <a:rPr lang="vi-VN" b="1" dirty="0"/>
              <a:t>rất quan trọng</a:t>
            </a:r>
            <a:r>
              <a:rPr lang="vi-VN" dirty="0"/>
              <a:t>, không được mất cũng không được trùng (ví dụ: giao dịch ngân hàng, điều khiển máy móc công nghiệp).</a:t>
            </a:r>
          </a:p>
          <a:p>
            <a:pPr marL="158750" indent="0">
              <a:buFontTx/>
              <a:buNone/>
            </a:pPr>
            <a:r>
              <a:rPr lang="en-US" b="1" dirty="0"/>
              <a:t>d. </a:t>
            </a:r>
            <a:r>
              <a:rPr lang="vi-VN" b="1" dirty="0"/>
              <a:t>Lưu ý quan trọng</a:t>
            </a:r>
          </a:p>
          <a:p>
            <a:pPr marL="158750" indent="0">
              <a:buFontTx/>
              <a:buNone/>
            </a:pPr>
            <a:r>
              <a:rPr lang="en-US" b="1" dirty="0"/>
              <a:t>	</a:t>
            </a:r>
            <a:r>
              <a:rPr lang="vi-VN" b="1" dirty="0"/>
              <a:t>Publisher có thể gửi với bất kỳ QoS nào.</a:t>
            </a:r>
            <a:endParaRPr lang="vi-VN" dirty="0"/>
          </a:p>
          <a:p>
            <a:pPr marL="158750" indent="0">
              <a:buFontTx/>
              <a:buNone/>
            </a:pPr>
            <a:r>
              <a:rPr lang="en-US" b="1" dirty="0"/>
              <a:t>	</a:t>
            </a:r>
            <a:r>
              <a:rPr lang="vi-VN" b="1" dirty="0"/>
              <a:t>Subscriber cũng có thể đăng ký với QoS khác.</a:t>
            </a:r>
            <a:endParaRPr lang="vi-VN" dirty="0"/>
          </a:p>
          <a:p>
            <a:pPr marL="158750" indent="0">
              <a:buFontTx/>
              <a:buNone/>
            </a:pPr>
            <a:r>
              <a:rPr lang="en-US" dirty="0"/>
              <a:t>	</a:t>
            </a:r>
            <a:r>
              <a:rPr lang="vi-VN" dirty="0"/>
              <a:t>Broker sẽ chọn </a:t>
            </a:r>
            <a:r>
              <a:rPr lang="vi-VN" b="1" dirty="0"/>
              <a:t>QoS thấp hơn</a:t>
            </a:r>
            <a:r>
              <a:rPr lang="vi-VN" dirty="0"/>
              <a:t> trong 2 mức để đảm bảo phù hợp cho cả hai bên.</a:t>
            </a:r>
          </a:p>
          <a:p>
            <a:pPr marL="158750" indent="0">
              <a:buFontTx/>
              <a:buNone/>
            </a:pPr>
            <a:endParaRPr lang="en-US" b="1" dirty="0"/>
          </a:p>
          <a:p>
            <a:pPr marL="158750" indent="0">
              <a:buFontTx/>
              <a:buNone/>
            </a:pPr>
            <a:r>
              <a:rPr lang="vi-VN" b="1" dirty="0"/>
              <a:t>2. Last Will Message</a:t>
            </a:r>
          </a:p>
          <a:p>
            <a:pPr marL="158750" indent="0">
              <a:buFontTx/>
              <a:buNone/>
            </a:pPr>
            <a:r>
              <a:rPr lang="vi-VN" dirty="0"/>
              <a:t>Là một tính năng đặc biệt của MQTT để xử lý khi </a:t>
            </a:r>
            <a:r>
              <a:rPr lang="vi-VN" b="1" dirty="0"/>
              <a:t>client đột ngột ngắt kết nối</a:t>
            </a:r>
            <a:r>
              <a:rPr lang="vi-VN" dirty="0"/>
              <a:t> (do mất điện, rớt mạng, crash…).</a:t>
            </a:r>
          </a:p>
          <a:p>
            <a:pPr marL="158750" indent="0">
              <a:buFontTx/>
              <a:buNone/>
            </a:pPr>
            <a:r>
              <a:rPr lang="vi-VN" dirty="0"/>
              <a:t>Khi client đăng ký với broker, nó có thể khai báo </a:t>
            </a:r>
            <a:r>
              <a:rPr lang="vi-VN" b="1" dirty="0"/>
              <a:t>Last Will Message</a:t>
            </a:r>
            <a:r>
              <a:rPr lang="vi-VN" dirty="0"/>
              <a:t> (thông điệp trăn trối).</a:t>
            </a:r>
          </a:p>
          <a:p>
            <a:pPr marL="158750" indent="0">
              <a:buFontTx/>
              <a:buNone/>
            </a:pPr>
            <a:r>
              <a:rPr lang="vi-VN" dirty="0"/>
              <a:t>Nếu client mất kết nối bất thường, broker sẽ </a:t>
            </a:r>
            <a:r>
              <a:rPr lang="vi-VN" b="1" dirty="0"/>
              <a:t>tự động gửi Last Will Message đến các subscriber</a:t>
            </a:r>
            <a:r>
              <a:rPr lang="vi-VN" dirty="0"/>
              <a:t> của topic đó.</a:t>
            </a:r>
          </a:p>
          <a:p>
            <a:pPr marL="158750" indent="0">
              <a:buFontTx/>
              <a:buNone/>
            </a:pPr>
            <a:r>
              <a:rPr lang="en-US" dirty="0"/>
              <a:t>=&gt; </a:t>
            </a:r>
            <a:r>
              <a:rPr lang="vi-VN" dirty="0"/>
              <a:t>Ví dụ:</a:t>
            </a:r>
          </a:p>
          <a:p>
            <a:pPr marL="158750" indent="0">
              <a:buFontTx/>
              <a:buNone/>
            </a:pPr>
            <a:r>
              <a:rPr lang="vi-VN" dirty="0"/>
              <a:t>Một cảm biến tim mạch trong y tế gửi dữ liệu qua MQTT.</a:t>
            </a:r>
          </a:p>
          <a:p>
            <a:pPr marL="158750" indent="0">
              <a:buFontTx/>
              <a:buNone/>
            </a:pPr>
            <a:r>
              <a:rPr lang="vi-VN" dirty="0"/>
              <a:t>Nếu cảm biến bị tắt nguồn, broker sẽ gửi Last Will Message "Sensor offline" đến ứng dụng giám sát.</a:t>
            </a:r>
          </a:p>
          <a:p>
            <a:pPr marL="158750" indent="0">
              <a:buFontTx/>
              <a:buNone/>
            </a:pPr>
            <a:r>
              <a:rPr lang="vi-VN" dirty="0"/>
              <a:t>Nhờ đó, người dùng hoặc hệ thống biết ngay thiết bị </a:t>
            </a:r>
            <a:r>
              <a:rPr lang="vi-VN" b="1" dirty="0"/>
              <a:t>đã ngắt kết nối</a:t>
            </a:r>
            <a:r>
              <a:rPr lang="vi-VN" dirty="0"/>
              <a:t>.</a:t>
            </a:r>
          </a:p>
          <a:p>
            <a:pPr marL="158750" indent="0">
              <a:buFontTx/>
              <a:buNone/>
            </a:pPr>
            <a:endParaRPr lang="en-US" b="1" dirty="0"/>
          </a:p>
          <a:p>
            <a:pPr marL="158750" indent="0">
              <a:buFontTx/>
              <a:buNone/>
            </a:pPr>
            <a:r>
              <a:rPr lang="vi-VN" b="1" dirty="0"/>
              <a:t>Kết luận</a:t>
            </a:r>
            <a:r>
              <a:rPr lang="en-US" b="1" dirty="0"/>
              <a:t>:</a:t>
            </a:r>
            <a:endParaRPr lang="vi-VN" b="1" dirty="0"/>
          </a:p>
          <a:p>
            <a:pPr marL="158750" indent="0">
              <a:buFontTx/>
              <a:buNone/>
            </a:pPr>
            <a:r>
              <a:rPr lang="vi-VN" b="1" dirty="0"/>
              <a:t>QoS</a:t>
            </a:r>
            <a:r>
              <a:rPr lang="vi-VN" dirty="0"/>
              <a:t>: giúp kiểm soát </a:t>
            </a:r>
            <a:r>
              <a:rPr lang="vi-VN" b="1" dirty="0"/>
              <a:t>độ tin cậy và hiệu năng</a:t>
            </a:r>
            <a:r>
              <a:rPr lang="vi-VN" dirty="0"/>
              <a:t> của việc truyền dữ liệu trong IoT.</a:t>
            </a:r>
          </a:p>
          <a:p>
            <a:pPr marL="457200" lvl="1" indent="0">
              <a:buFontTx/>
              <a:buNone/>
            </a:pPr>
            <a:r>
              <a:rPr lang="vi-VN" dirty="0"/>
              <a:t>QoS 0 → nhanh, gọn, có thể mất dữ liệu.</a:t>
            </a:r>
          </a:p>
          <a:p>
            <a:pPr marL="457200" lvl="1" indent="0">
              <a:buFontTx/>
              <a:buNone/>
            </a:pPr>
            <a:r>
              <a:rPr lang="vi-VN" dirty="0"/>
              <a:t>QoS 1 → đảm bảo đến nơi, có thể trùng lặp.</a:t>
            </a:r>
          </a:p>
          <a:p>
            <a:pPr marL="457200" lvl="1" indent="0">
              <a:buFontTx/>
              <a:buNone/>
            </a:pPr>
            <a:r>
              <a:rPr lang="vi-VN" dirty="0"/>
              <a:t>QoS 2 → chính xác tuyệt đối, nhưng tốn tài nguyên.</a:t>
            </a:r>
          </a:p>
          <a:p>
            <a:pPr marL="158750" indent="0">
              <a:buFontTx/>
              <a:buNone/>
            </a:pPr>
            <a:r>
              <a:rPr lang="vi-VN" b="1" dirty="0"/>
              <a:t>Last Will Message</a:t>
            </a:r>
            <a:r>
              <a:rPr lang="vi-VN" dirty="0"/>
              <a:t>: cơ chế </a:t>
            </a:r>
            <a:r>
              <a:rPr lang="vi-VN" b="1" dirty="0"/>
              <a:t>cảnh báo khi client chết bất thường</a:t>
            </a:r>
            <a:r>
              <a:rPr lang="vi-VN" dirty="0"/>
              <a:t>, giúp hệ thống IoT an toàn và đáng tin cậy hơn.</a:t>
            </a:r>
          </a:p>
          <a:p>
            <a:pPr marL="0" lvl="0" indent="0" algn="l" rtl="0">
              <a:spcBef>
                <a:spcPts val="0"/>
              </a:spcBef>
              <a:spcAft>
                <a:spcPts val="0"/>
              </a:spcAft>
              <a:buFontTx/>
              <a:buNone/>
            </a:pPr>
            <a:endParaRPr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a:buFontTx/>
              <a:buNone/>
            </a:pPr>
            <a:r>
              <a:rPr lang="vi-VN" b="1" dirty="0">
                <a:solidFill>
                  <a:srgbClr val="222529"/>
                </a:solidFill>
                <a:effectLst/>
                <a:latin typeface="Arial" panose="020B0604020202020204" pitchFamily="34" charset="0"/>
              </a:rPr>
              <a:t>Các loại MQTT Broker</a:t>
            </a:r>
          </a:p>
          <a:p>
            <a:pPr marL="158750" indent="0" algn="l">
              <a:buFontTx/>
              <a:buNone/>
            </a:pPr>
            <a:r>
              <a:rPr lang="vi-VN" b="0" i="0" dirty="0">
                <a:solidFill>
                  <a:srgbClr val="777777"/>
                </a:solidFill>
                <a:effectLst/>
                <a:latin typeface="Arial" panose="020B0604020202020204" pitchFamily="34" charset="0"/>
              </a:rPr>
              <a:t>Nhìn chung thì MQTT Broker chia làm 2 loại chính:</a:t>
            </a:r>
          </a:p>
          <a:p>
            <a:pPr marL="158750" indent="0" algn="l">
              <a:buFontTx/>
              <a:buNone/>
            </a:pPr>
            <a:r>
              <a:rPr lang="vi-VN" b="0" i="0" dirty="0">
                <a:solidFill>
                  <a:srgbClr val="777777"/>
                </a:solidFill>
                <a:effectLst/>
                <a:latin typeface="Arial" panose="020B0604020202020204" pitchFamily="34" charset="0"/>
              </a:rPr>
              <a:t>Managed Brokers (Brokers tự quản lý)</a:t>
            </a:r>
          </a:p>
          <a:p>
            <a:pPr marL="158750" indent="0" algn="l">
              <a:buFontTx/>
              <a:buNone/>
            </a:pPr>
            <a:r>
              <a:rPr lang="vi-VN" b="0" i="0" dirty="0">
                <a:solidFill>
                  <a:srgbClr val="777777"/>
                </a:solidFill>
                <a:effectLst/>
                <a:latin typeface="Arial" panose="020B0604020202020204" pitchFamily="34" charset="0"/>
              </a:rPr>
              <a:t>Self-Hosted Brokers (Brokers tự lưu trữ)</a:t>
            </a:r>
          </a:p>
          <a:p>
            <a:pPr marL="158750" indent="0" algn="l">
              <a:buFontTx/>
              <a:buNone/>
            </a:pPr>
            <a:r>
              <a:rPr lang="vi-VN" b="0" i="0" dirty="0">
                <a:solidFill>
                  <a:srgbClr val="777777"/>
                </a:solidFill>
                <a:effectLst/>
                <a:latin typeface="Arial" panose="020B0604020202020204" pitchFamily="34" charset="0"/>
              </a:rPr>
              <a:t>Dưới đây, hãy cùng mình tìm hiểu chi tiết về từng loại nhé:</a:t>
            </a:r>
          </a:p>
          <a:p>
            <a:pPr marL="158750" indent="0" algn="l">
              <a:buFontTx/>
              <a:buNone/>
            </a:pPr>
            <a:r>
              <a:rPr lang="vi-VN" b="1" dirty="0">
                <a:solidFill>
                  <a:srgbClr val="222529"/>
                </a:solidFill>
                <a:effectLst/>
                <a:latin typeface="Arial" panose="020B0604020202020204" pitchFamily="34" charset="0"/>
              </a:rPr>
              <a:t>Managed Brokers</a:t>
            </a:r>
          </a:p>
          <a:p>
            <a:pPr marL="158750" indent="0" algn="l">
              <a:buFontTx/>
              <a:buNone/>
            </a:pPr>
            <a:r>
              <a:rPr lang="vi-VN" b="0" i="0" dirty="0">
                <a:solidFill>
                  <a:srgbClr val="777777"/>
                </a:solidFill>
                <a:effectLst/>
                <a:latin typeface="Arial" panose="020B0604020202020204" pitchFamily="34" charset="0"/>
              </a:rPr>
              <a:t>Managed Brokers sẽ được tự động cấu hình sẵn, bạn không cần phải thiết lập thêm bất kỳ điều gì khác trên Server của mình để tiến hành giao tiếp qua MQTT. Các dịch vụ Managed Brokers cho phép bạn có thể sử dụng các Brokers có sẵn và áp dụng vào hệ tống của mình dễ dàng.</a:t>
            </a:r>
          </a:p>
          <a:p>
            <a:pPr marL="158750" indent="0" algn="l">
              <a:buFontTx/>
              <a:buNone/>
            </a:pPr>
            <a:r>
              <a:rPr lang="vi-VN" b="0" i="0" dirty="0">
                <a:solidFill>
                  <a:srgbClr val="777777"/>
                </a:solidFill>
                <a:effectLst/>
                <a:latin typeface="Arial" panose="020B0604020202020204" pitchFamily="34" charset="0"/>
              </a:rPr>
              <a:t>Một ví dụ điển hình của Managed Brokers là AWS IoT Core, bạn có thể tìm hiểu thêm thông tin trên Google để tham khảo.</a:t>
            </a:r>
          </a:p>
          <a:p>
            <a:pPr marL="158750" indent="0" algn="l">
              <a:buFontTx/>
              <a:buNone/>
            </a:pPr>
            <a:r>
              <a:rPr lang="vi-VN" b="0" i="1" dirty="0">
                <a:solidFill>
                  <a:srgbClr val="777777"/>
                </a:solidFill>
                <a:effectLst/>
                <a:latin typeface="Arial" panose="020B0604020202020204" pitchFamily="34" charset="0"/>
              </a:rPr>
              <a:t>Managed Brokers – AWS IoT Core</a:t>
            </a:r>
            <a:endParaRPr lang="vi-VN" b="0" i="0" dirty="0">
              <a:solidFill>
                <a:srgbClr val="777777"/>
              </a:solidFill>
              <a:effectLst/>
              <a:latin typeface="Arial" panose="020B0604020202020204" pitchFamily="34" charset="0"/>
            </a:endParaRPr>
          </a:p>
          <a:p>
            <a:pPr marL="158750" indent="0" algn="l">
              <a:buFontTx/>
              <a:buNone/>
            </a:pPr>
            <a:r>
              <a:rPr lang="vi-VN" b="1" dirty="0">
                <a:solidFill>
                  <a:srgbClr val="222529"/>
                </a:solidFill>
                <a:effectLst/>
                <a:latin typeface="Arial" panose="020B0604020202020204" pitchFamily="34" charset="0"/>
              </a:rPr>
              <a:t>Self-Hosted Brokers</a:t>
            </a:r>
          </a:p>
          <a:p>
            <a:pPr marL="158750" indent="0" algn="l">
              <a:buFontTx/>
              <a:buNone/>
            </a:pPr>
            <a:r>
              <a:rPr lang="vi-VN" b="0" i="0" dirty="0">
                <a:solidFill>
                  <a:srgbClr val="777777"/>
                </a:solidFill>
                <a:effectLst/>
                <a:latin typeface="Arial" panose="020B0604020202020204" pitchFamily="34" charset="0"/>
              </a:rPr>
              <a:t>Với loại Brokes này, bạn cần phải tự cài đặt Brokers trên VPS hoặc máy chủ của mình thông qua địa chỉ IP tĩnh. Theo mình đánh giá thì việc tự cài Brokes này sẽ không quá khó khăn, nhưng điều khó ở đây là chúng ta phải tự quản lý, cấu hình bảo mật và tự cấu hình mở rộng quy mô khi cần. Những công việc này sẽ yêu cầu một lượng lớn kiến thức chuyên môn.</a:t>
            </a:r>
          </a:p>
          <a:p>
            <a:pPr marL="158750" indent="0" algn="l">
              <a:buFontTx/>
              <a:buNone/>
            </a:pPr>
            <a:r>
              <a:rPr lang="vi-VN" b="0" i="0" dirty="0">
                <a:solidFill>
                  <a:srgbClr val="777777"/>
                </a:solidFill>
                <a:effectLst/>
                <a:latin typeface="Arial" panose="020B0604020202020204" pitchFamily="34" charset="0"/>
              </a:rPr>
              <a:t>Một số mã nguồn mở về thiết lập MQTT Broker phổ biến là Mosquitto và Hivemq. Dưới đây mình sẽ giới thiệu đến bạn một số loại nhé!</a:t>
            </a:r>
          </a:p>
          <a:p>
            <a:pPr marL="158750" indent="0">
              <a:buFontTx/>
              <a:buNone/>
            </a:pPr>
            <a:endParaRPr lang="en-US" dirty="0"/>
          </a:p>
        </p:txBody>
      </p:sp>
    </p:spTree>
    <p:extLst>
      <p:ext uri="{BB962C8B-B14F-4D97-AF65-F5344CB8AC3E}">
        <p14:creationId xmlns:p14="http://schemas.microsoft.com/office/powerpoint/2010/main" val="20463154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a:buFontTx/>
              <a:buNone/>
            </a:pPr>
            <a:r>
              <a:rPr lang="vi-VN" b="1" dirty="0">
                <a:solidFill>
                  <a:srgbClr val="222529"/>
                </a:solidFill>
                <a:effectLst/>
                <a:latin typeface="Arial" panose="020B0604020202020204" pitchFamily="34" charset="0"/>
              </a:rPr>
              <a:t>Các MQTT Broker mã nguồn mở phổ biến</a:t>
            </a:r>
          </a:p>
          <a:p>
            <a:pPr marL="158750" indent="0" algn="l">
              <a:buFontTx/>
              <a:buNone/>
            </a:pPr>
            <a:r>
              <a:rPr lang="vi-VN" b="1" dirty="0">
                <a:solidFill>
                  <a:srgbClr val="222529"/>
                </a:solidFill>
                <a:effectLst/>
                <a:latin typeface="Arial" panose="020B0604020202020204" pitchFamily="34" charset="0"/>
              </a:rPr>
              <a:t>Mosquitto</a:t>
            </a:r>
          </a:p>
          <a:p>
            <a:pPr marL="158750" indent="0" algn="l">
              <a:buFontTx/>
              <a:buNone/>
            </a:pPr>
            <a:r>
              <a:rPr lang="vi-VN" b="0" i="0" dirty="0">
                <a:solidFill>
                  <a:srgbClr val="777777"/>
                </a:solidFill>
                <a:effectLst/>
                <a:latin typeface="Arial" panose="020B0604020202020204" pitchFamily="34" charset="0"/>
              </a:rPr>
              <a:t>Eclipse Mosquitto là một MQTT Broker mã nguồn mở, phù hợp cho các giao thức MQTT ở phiên bản 5.0, 3.1 và 3.1.1. Nền tảng này khá nhẹ, có thể dùng được trên cả các mạch xử lý đơn, có công suất thấp.</a:t>
            </a:r>
          </a:p>
          <a:p>
            <a:pPr marL="158750" indent="0" algn="l">
              <a:buFontTx/>
              <a:buNone/>
            </a:pPr>
            <a:r>
              <a:rPr lang="vi-VN" b="0" i="0" dirty="0">
                <a:solidFill>
                  <a:srgbClr val="777777"/>
                </a:solidFill>
                <a:effectLst/>
                <a:latin typeface="Arial" panose="020B0604020202020204" pitchFamily="34" charset="0"/>
              </a:rPr>
              <a:t>Bạn có thể lập trình chúng bằng ngôn ngữ C hoặc triển khai trên các thiết bị MQTT Client có hỗ trợ thư viện C. Mosquitto tương thích với hệ điều hành Linux, Windows, Mac và Raspberrry Pi. Bên trong chúng cũng hỗ trợ PHP để bạn tạo các ứng dụng MQTT Client trong PHP.</a:t>
            </a:r>
          </a:p>
          <a:p>
            <a:pPr marL="158750" indent="0" algn="l">
              <a:buFontTx/>
              <a:buNone/>
            </a:pPr>
            <a:r>
              <a:rPr lang="vi-VN" b="1" dirty="0">
                <a:solidFill>
                  <a:srgbClr val="222529"/>
                </a:solidFill>
                <a:effectLst/>
                <a:latin typeface="Arial" panose="020B0604020202020204" pitchFamily="34" charset="0"/>
              </a:rPr>
              <a:t>EMQX</a:t>
            </a:r>
          </a:p>
          <a:p>
            <a:pPr marL="158750" indent="0" algn="l">
              <a:buFontTx/>
              <a:buNone/>
            </a:pPr>
            <a:r>
              <a:rPr lang="vi-VN" b="0" i="0" dirty="0">
                <a:solidFill>
                  <a:srgbClr val="777777"/>
                </a:solidFill>
                <a:effectLst/>
                <a:latin typeface="Arial" panose="020B0604020202020204" pitchFamily="34" charset="0"/>
              </a:rPr>
              <a:t>EMQX được xem là một trong các MQTT Broker có khả năng mở rộng cao nhất khi xây dựng các dự án IoT. Nền tảng này cho phép xử lý hàng triệu tin nhắn cùng lúc, với độ trễ dưới 1 phần ngàn giây và hỗ trợ mở rộng lên đến hơn 100 triệu Client trong cùng một cụm,</a:t>
            </a:r>
          </a:p>
          <a:p>
            <a:pPr marL="158750" indent="0" algn="l">
              <a:buFontTx/>
              <a:buNone/>
            </a:pPr>
            <a:r>
              <a:rPr lang="vi-VN" b="0" i="0" dirty="0">
                <a:solidFill>
                  <a:srgbClr val="777777"/>
                </a:solidFill>
                <a:effectLst/>
                <a:latin typeface="Arial" panose="020B0604020202020204" pitchFamily="34" charset="0"/>
              </a:rPr>
              <a:t>EMQX tương thích với các phiên bản MQTT 5.0 và 3.x, phù hợp cho các mạng IoT phân tán và có thể chạy trên cả các mạng đám mây như của Google Cloud, Microsoft Azure,…</a:t>
            </a:r>
          </a:p>
          <a:p>
            <a:pPr marL="158750" indent="0" algn="l">
              <a:buFontTx/>
              <a:buNone/>
            </a:pPr>
            <a:r>
              <a:rPr lang="vi-VN" b="1" dirty="0">
                <a:solidFill>
                  <a:srgbClr val="222529"/>
                </a:solidFill>
                <a:effectLst/>
                <a:latin typeface="Arial" panose="020B0604020202020204" pitchFamily="34" charset="0"/>
              </a:rPr>
              <a:t>NanoMQ</a:t>
            </a:r>
          </a:p>
          <a:p>
            <a:pPr marL="158750" indent="0" algn="l">
              <a:buFontTx/>
              <a:buNone/>
            </a:pPr>
            <a:r>
              <a:rPr lang="vi-VN" b="0" i="0" dirty="0">
                <a:solidFill>
                  <a:srgbClr val="777777"/>
                </a:solidFill>
                <a:effectLst/>
                <a:latin typeface="Arial" panose="020B0604020202020204" pitchFamily="34" charset="0"/>
              </a:rPr>
              <a:t>Đây là một trong các MQTT Broker nhanh và nhẹ, phù hợp cho các ứng dụng IoT Edge. Giống như Mosquitto, nền tảng này được chạy trên ngôn ngữ C, chúng tương thích với giao thức MQTT 3.1.1 và 5.0. Ưu điểm nổi bật của NanoMQ là có tính di động cao, tương thích POSIX.</a:t>
            </a:r>
          </a:p>
          <a:p>
            <a:pPr marL="158750" indent="0" algn="l">
              <a:buFontTx/>
              <a:buNone/>
            </a:pPr>
            <a:endParaRPr lang="en-US" b="0" i="0" dirty="0">
              <a:solidFill>
                <a:srgbClr val="777777"/>
              </a:solidFill>
              <a:effectLst/>
              <a:latin typeface="Arial" panose="020B0604020202020204" pitchFamily="34" charset="0"/>
            </a:endParaRPr>
          </a:p>
          <a:p>
            <a:pPr marL="158750" indent="0" algn="l">
              <a:buFontTx/>
              <a:buNone/>
            </a:pPr>
            <a:r>
              <a:rPr lang="vi-VN" b="0" i="0" dirty="0">
                <a:solidFill>
                  <a:srgbClr val="777777"/>
                </a:solidFill>
                <a:effectLst/>
                <a:latin typeface="Arial" panose="020B0604020202020204" pitchFamily="34" charset="0"/>
              </a:rPr>
              <a:t>Ngoài ra, trên thị trường hiện nay cũng có nhiều loại MQTT Broker khác mà bạn có thể quan tâm, ví dụ như AWS IoT Core MQTT, VerneMQ, </a:t>
            </a:r>
            <a:r>
              <a:rPr lang="vi-VN" b="1" i="0" dirty="0">
                <a:solidFill>
                  <a:srgbClr val="777777"/>
                </a:solidFill>
                <a:effectLst/>
                <a:latin typeface="Arial" panose="020B0604020202020204" pitchFamily="34" charset="0"/>
              </a:rPr>
              <a:t>HiveMQ</a:t>
            </a:r>
            <a:r>
              <a:rPr lang="vi-VN" b="0" i="0" dirty="0">
                <a:solidFill>
                  <a:srgbClr val="777777"/>
                </a:solidFill>
                <a:effectLst/>
                <a:latin typeface="Arial" panose="020B0604020202020204" pitchFamily="34" charset="0"/>
              </a:rPr>
              <a:t>, Azure IoT Hub, ejabberd.</a:t>
            </a:r>
          </a:p>
          <a:p>
            <a:pPr marL="158750" indent="0">
              <a:buFontTx/>
              <a:buNone/>
            </a:pPr>
            <a:endParaRPr lang="en-US" dirty="0"/>
          </a:p>
        </p:txBody>
      </p:sp>
    </p:spTree>
    <p:extLst>
      <p:ext uri="{BB962C8B-B14F-4D97-AF65-F5344CB8AC3E}">
        <p14:creationId xmlns:p14="http://schemas.microsoft.com/office/powerpoint/2010/main" val="26294845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endParaRPr lang="en-US" dirty="0"/>
          </a:p>
        </p:txBody>
      </p:sp>
    </p:spTree>
    <p:extLst>
      <p:ext uri="{BB962C8B-B14F-4D97-AF65-F5344CB8AC3E}">
        <p14:creationId xmlns:p14="http://schemas.microsoft.com/office/powerpoint/2010/main" val="17530040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Hỗ trợ chuẩn MQTT 3.x &amp; 5.0</a:t>
            </a:r>
          </a:p>
          <a:p>
            <a:pPr marL="158750" indent="0">
              <a:buFontTx/>
              <a:buNone/>
            </a:pPr>
            <a:r>
              <a:rPr lang="vi-VN" dirty="0"/>
              <a:t>HiveMQ tương thích đầy đủ với các phiên bản </a:t>
            </a:r>
            <a:r>
              <a:rPr lang="vi-VN" b="1" dirty="0"/>
              <a:t>MQTT 3.1, 3.1.1 và 5.0</a:t>
            </a:r>
            <a:r>
              <a:rPr lang="vi-VN" dirty="0"/>
              <a:t>.</a:t>
            </a:r>
          </a:p>
          <a:p>
            <a:pPr marL="158750" indent="0">
              <a:buFontTx/>
              <a:buNone/>
            </a:pPr>
            <a:r>
              <a:rPr lang="vi-VN" dirty="0"/>
              <a:t>Điều này đảm bảo HiveMQ có thể kết nối với hầu hết các MQTT client và thiết bị IoT hiện có.</a:t>
            </a:r>
            <a:br>
              <a:rPr lang="vi-VN" dirty="0"/>
            </a:br>
            <a:r>
              <a:rPr lang="en-US" dirty="0"/>
              <a:t>=&gt; </a:t>
            </a:r>
            <a:r>
              <a:rPr lang="vi-VN" dirty="0"/>
              <a:t>Nghĩa là hệ thống IoT sử dụng HiveMQ sẽ </a:t>
            </a:r>
            <a:r>
              <a:rPr lang="vi-VN" b="1" dirty="0"/>
              <a:t>tương thích rộng rãi, dễ tích hợp</a:t>
            </a:r>
            <a:r>
              <a:rPr lang="vi-VN" dirty="0"/>
              <a:t>.</a:t>
            </a:r>
          </a:p>
          <a:p>
            <a:pPr marL="158750" indent="0">
              <a:buFontTx/>
              <a:buNone/>
            </a:pPr>
            <a:r>
              <a:rPr lang="vi-VN" b="1" dirty="0"/>
              <a:t>2. Hiệu năng cao – Xử lý hàng triệu kết nối đồng thời</a:t>
            </a:r>
          </a:p>
          <a:p>
            <a:pPr marL="158750" indent="0">
              <a:buFontTx/>
              <a:buNone/>
            </a:pPr>
            <a:r>
              <a:rPr lang="vi-VN" dirty="0"/>
              <a:t>HiveMQ được thiết kế để mở rộng quy mô lớn, hỗ trợ </a:t>
            </a:r>
            <a:r>
              <a:rPr lang="vi-VN" b="1" dirty="0"/>
              <a:t>hàng triệu client kết nối đồng thời</a:t>
            </a:r>
            <a:r>
              <a:rPr lang="vi-VN" dirty="0"/>
              <a:t>.</a:t>
            </a:r>
          </a:p>
          <a:p>
            <a:pPr marL="158750" indent="0">
              <a:buFontTx/>
              <a:buNone/>
            </a:pPr>
            <a:r>
              <a:rPr lang="vi-VN" dirty="0"/>
              <a:t>Thích hợp cho các hệ thống IoT có quy mô </a:t>
            </a:r>
            <a:r>
              <a:rPr lang="vi-VN" b="1" dirty="0"/>
              <a:t>doanh nghiệp hoặc thành phố thông minh</a:t>
            </a:r>
            <a:r>
              <a:rPr lang="vi-VN" dirty="0"/>
              <a:t>.</a:t>
            </a:r>
          </a:p>
          <a:p>
            <a:pPr marL="158750" indent="0">
              <a:buFontTx/>
              <a:buNone/>
            </a:pPr>
            <a:r>
              <a:rPr lang="vi-VN" dirty="0"/>
              <a:t>Khả năng này đảm bảo </a:t>
            </a:r>
            <a:r>
              <a:rPr lang="vi-VN" b="1" dirty="0"/>
              <a:t>tính ổn định</a:t>
            </a:r>
            <a:r>
              <a:rPr lang="vi-VN" dirty="0"/>
              <a:t> và </a:t>
            </a:r>
            <a:r>
              <a:rPr lang="vi-VN" b="1" dirty="0"/>
              <a:t>không nghẽn mạng</a:t>
            </a:r>
            <a:r>
              <a:rPr lang="vi-VN" dirty="0"/>
              <a:t> khi có số lượng lớn thiết bị IoT cùng hoạt động.</a:t>
            </a:r>
          </a:p>
          <a:p>
            <a:pPr marL="158750" indent="0">
              <a:buFontTx/>
              <a:buNone/>
            </a:pPr>
            <a:r>
              <a:rPr lang="vi-VN" b="1" dirty="0"/>
              <a:t>3. Tích hợp tốt với Cloud Platforms và hệ thống Enterprise</a:t>
            </a:r>
          </a:p>
          <a:p>
            <a:pPr marL="158750" indent="0">
              <a:buFontTx/>
              <a:buNone/>
            </a:pPr>
            <a:r>
              <a:rPr lang="vi-VN" dirty="0"/>
              <a:t>HiveMQ dễ dàng tích hợp với:</a:t>
            </a:r>
          </a:p>
          <a:p>
            <a:pPr marL="457200" lvl="1" indent="0">
              <a:buFontTx/>
              <a:buNone/>
            </a:pPr>
            <a:r>
              <a:rPr lang="vi-VN" b="1" dirty="0"/>
              <a:t>Cloud IoT platforms</a:t>
            </a:r>
            <a:r>
              <a:rPr lang="vi-VN" dirty="0"/>
              <a:t> như AWS, Azure, Google Cloud.</a:t>
            </a:r>
          </a:p>
          <a:p>
            <a:pPr marL="457200" lvl="1" indent="0">
              <a:buFontTx/>
              <a:buNone/>
            </a:pPr>
            <a:r>
              <a:rPr lang="vi-VN" b="1" dirty="0"/>
              <a:t>Enterprise systems</a:t>
            </a:r>
            <a:r>
              <a:rPr lang="vi-VN" dirty="0"/>
              <a:t> như </a:t>
            </a:r>
            <a:r>
              <a:rPr lang="vi-VN" b="1" dirty="0"/>
              <a:t>Apache Kafka, databases, analytics tools</a:t>
            </a:r>
            <a:r>
              <a:rPr lang="vi-VN" dirty="0"/>
              <a:t>.</a:t>
            </a:r>
          </a:p>
          <a:p>
            <a:pPr marL="158750" indent="0">
              <a:buFontTx/>
              <a:buNone/>
            </a:pPr>
            <a:r>
              <a:rPr lang="vi-VN" dirty="0"/>
              <a:t>Điều này giúp dữ liệu IoT có thể được:</a:t>
            </a:r>
          </a:p>
          <a:p>
            <a:pPr marL="457200" lvl="1" indent="0">
              <a:buFontTx/>
              <a:buNone/>
            </a:pPr>
            <a:r>
              <a:rPr lang="vi-VN" dirty="0"/>
              <a:t>Lưu trữ dài hạn.</a:t>
            </a:r>
          </a:p>
          <a:p>
            <a:pPr marL="457200" lvl="1" indent="0">
              <a:buFontTx/>
              <a:buNone/>
            </a:pPr>
            <a:r>
              <a:rPr lang="vi-VN" dirty="0"/>
              <a:t>Phân tích real-time.</a:t>
            </a:r>
          </a:p>
          <a:p>
            <a:pPr marL="457200" lvl="1" indent="0">
              <a:buFontTx/>
              <a:buNone/>
            </a:pPr>
            <a:r>
              <a:rPr lang="vi-VN" dirty="0"/>
              <a:t>Kết hợp với các hệ thống doanh nghiệp khác (ERP, CRM, Big Data).</a:t>
            </a:r>
          </a:p>
          <a:p>
            <a:pPr marL="158750" indent="0">
              <a:buFontTx/>
              <a:buNone/>
            </a:pPr>
            <a:r>
              <a:rPr lang="vi-VN" b="1" dirty="0"/>
              <a:t>4. Bảo mật mạnh mẽ</a:t>
            </a:r>
          </a:p>
          <a:p>
            <a:pPr marL="158750" indent="0">
              <a:buFontTx/>
              <a:buNone/>
            </a:pPr>
            <a:r>
              <a:rPr lang="vi-VN" dirty="0"/>
              <a:t>HiveMQ hỗ trợ nhiều cơ chế bảo mật quan trọng:</a:t>
            </a:r>
          </a:p>
          <a:p>
            <a:pPr marL="0" lvl="0" indent="0">
              <a:buFontTx/>
              <a:buNone/>
            </a:pPr>
            <a:r>
              <a:rPr lang="en-US" b="1" dirty="0"/>
              <a:t>    </a:t>
            </a:r>
            <a:r>
              <a:rPr lang="vi-VN" b="1" dirty="0"/>
              <a:t>TLS/SSL</a:t>
            </a:r>
            <a:r>
              <a:rPr lang="vi-VN" dirty="0"/>
              <a:t>: mã hóa dữ liệu khi truyền qua mạng.</a:t>
            </a:r>
          </a:p>
          <a:p>
            <a:pPr marL="457200" lvl="1" indent="0">
              <a:buFontTx/>
              <a:buNone/>
            </a:pPr>
            <a:r>
              <a:rPr lang="vi-VN" b="1" dirty="0"/>
              <a:t>Authentication</a:t>
            </a:r>
            <a:r>
              <a:rPr lang="vi-VN" dirty="0"/>
              <a:t> (xác thực): chỉ thiết bị hợp lệ mới có thể kết nối.</a:t>
            </a:r>
          </a:p>
          <a:p>
            <a:pPr marL="457200" lvl="1" indent="0">
              <a:buFontTx/>
              <a:buNone/>
            </a:pPr>
            <a:r>
              <a:rPr lang="vi-VN" b="1" dirty="0"/>
              <a:t>Authorization</a:t>
            </a:r>
            <a:r>
              <a:rPr lang="vi-VN" dirty="0"/>
              <a:t> (phân quyền): quản lý thiết bị nào được phép publish/subscribe topic nào.</a:t>
            </a:r>
            <a:br>
              <a:rPr lang="vi-VN" dirty="0"/>
            </a:br>
            <a:r>
              <a:rPr lang="en-US" dirty="0"/>
              <a:t>=&gt; </a:t>
            </a:r>
            <a:r>
              <a:rPr lang="vi-VN" dirty="0"/>
              <a:t>Điều này đặc biệt quan trọng trong </a:t>
            </a:r>
            <a:r>
              <a:rPr lang="vi-VN" b="1" dirty="0"/>
              <a:t>IoT công nghiệp và y tế</a:t>
            </a:r>
            <a:r>
              <a:rPr lang="vi-VN" dirty="0"/>
              <a:t>, nơi dữ liệu nhạy cảm phải được bảo vệ.</a:t>
            </a:r>
          </a:p>
          <a:p>
            <a:pPr marL="158750" indent="0">
              <a:buFontTx/>
              <a:buNone/>
            </a:pPr>
            <a:r>
              <a:rPr lang="vi-VN" b="1" dirty="0"/>
              <a:t>5. Giao diện Web UI dễ quản lý và giám sát real-time</a:t>
            </a:r>
          </a:p>
          <a:p>
            <a:pPr marL="158750" indent="0">
              <a:buFontTx/>
              <a:buNone/>
            </a:pPr>
            <a:r>
              <a:rPr lang="vi-VN" dirty="0"/>
              <a:t>HiveMQ cung cấp một </a:t>
            </a:r>
            <a:r>
              <a:rPr lang="vi-VN" b="1" dirty="0"/>
              <a:t>bảng điều khiển Web (Web UI)</a:t>
            </a:r>
            <a:r>
              <a:rPr lang="vi-VN" dirty="0"/>
              <a:t> trực quan:</a:t>
            </a:r>
          </a:p>
          <a:p>
            <a:pPr marL="457200" lvl="1" indent="0">
              <a:buFontTx/>
              <a:buNone/>
            </a:pPr>
            <a:r>
              <a:rPr lang="vi-VN" dirty="0"/>
              <a:t>Giám sát trạng thái của các client kết nối.</a:t>
            </a:r>
          </a:p>
          <a:p>
            <a:pPr marL="457200" lvl="1" indent="0">
              <a:buFontTx/>
              <a:buNone/>
            </a:pPr>
            <a:r>
              <a:rPr lang="vi-VN" dirty="0"/>
              <a:t>Theo dõi lưu lượng dữ liệu theo thời gian thực.</a:t>
            </a:r>
          </a:p>
          <a:p>
            <a:pPr marL="457200" lvl="1" indent="0">
              <a:buFontTx/>
              <a:buNone/>
            </a:pPr>
            <a:r>
              <a:rPr lang="vi-VN" dirty="0"/>
              <a:t>Cấu hình và quản lý broker một cách dễ dàng mà không cần can thiệp trực tiếp vào file cấu hình.</a:t>
            </a:r>
            <a:br>
              <a:rPr lang="vi-VN" dirty="0"/>
            </a:br>
            <a:r>
              <a:rPr lang="en-US" dirty="0"/>
              <a:t>=&gt; </a:t>
            </a:r>
            <a:r>
              <a:rPr lang="vi-VN" dirty="0"/>
              <a:t>Điều này giúp </a:t>
            </a:r>
            <a:r>
              <a:rPr lang="vi-VN" b="1" dirty="0"/>
              <a:t>kỹ sư IoT, quản trị viên hệ thống</a:t>
            </a:r>
            <a:r>
              <a:rPr lang="vi-VN" dirty="0"/>
              <a:t> dễ dàng vận hành và bảo trì hệ thống IoT.</a:t>
            </a:r>
          </a:p>
          <a:p>
            <a:pPr marL="158750" indent="0">
              <a:buFontTx/>
              <a:buNone/>
            </a:pPr>
            <a:endParaRPr lang="en-US" b="1" dirty="0"/>
          </a:p>
          <a:p>
            <a:pPr marL="158750" indent="0">
              <a:buFontTx/>
              <a:buNone/>
            </a:pPr>
            <a:r>
              <a:rPr lang="vi-VN" b="1" dirty="0"/>
              <a:t>Kết luận</a:t>
            </a:r>
            <a:r>
              <a:rPr lang="en-US" b="1" dirty="0"/>
              <a:t>:</a:t>
            </a:r>
            <a:endParaRPr lang="vi-VN" b="1" dirty="0"/>
          </a:p>
          <a:p>
            <a:pPr marL="158750" indent="0">
              <a:buFontTx/>
              <a:buNone/>
            </a:pPr>
            <a:r>
              <a:rPr lang="vi-VN" b="1" dirty="0"/>
              <a:t>HiveMQ</a:t>
            </a:r>
            <a:r>
              <a:rPr lang="vi-VN" dirty="0"/>
              <a:t> là một MQTT Broker mạnh mẽ, phù hợp cho cả cộng đồng và doanh nghiệp.</a:t>
            </a:r>
          </a:p>
          <a:p>
            <a:pPr marL="158750" indent="0">
              <a:buFontTx/>
              <a:buNone/>
            </a:pPr>
            <a:r>
              <a:rPr lang="vi-VN" dirty="0"/>
              <a:t>Nó nổi bật nhờ:</a:t>
            </a:r>
          </a:p>
          <a:p>
            <a:pPr marL="457200" lvl="1" indent="0">
              <a:buFontTx/>
              <a:buNone/>
            </a:pPr>
            <a:r>
              <a:rPr lang="vi-VN" b="1" dirty="0"/>
              <a:t>Tương thích chuẩn</a:t>
            </a:r>
            <a:r>
              <a:rPr lang="vi-VN" dirty="0"/>
              <a:t> (MQTT 3.x &amp; 5.0).</a:t>
            </a:r>
          </a:p>
          <a:p>
            <a:pPr marL="457200" lvl="1" indent="0">
              <a:buFontTx/>
              <a:buNone/>
            </a:pPr>
            <a:r>
              <a:rPr lang="vi-VN" b="1" dirty="0"/>
              <a:t>Khả năng mở rộng</a:t>
            </a:r>
            <a:r>
              <a:rPr lang="vi-VN" dirty="0"/>
              <a:t> (hàng triệu kết nối).</a:t>
            </a:r>
          </a:p>
          <a:p>
            <a:pPr marL="457200" lvl="1" indent="0">
              <a:buFontTx/>
              <a:buNone/>
            </a:pPr>
            <a:r>
              <a:rPr lang="vi-VN" b="1" dirty="0"/>
              <a:t>Bảo mật chặt chẽ</a:t>
            </a:r>
            <a:r>
              <a:rPr lang="vi-VN" dirty="0"/>
              <a:t>.</a:t>
            </a:r>
          </a:p>
          <a:p>
            <a:pPr marL="457200" lvl="1" indent="0">
              <a:buFontTx/>
              <a:buNone/>
            </a:pPr>
            <a:r>
              <a:rPr lang="vi-VN" b="1" dirty="0"/>
              <a:t>Dễ tích hợp và giám sát</a:t>
            </a:r>
            <a:r>
              <a:rPr lang="vi-VN" dirty="0"/>
              <a:t>.</a:t>
            </a:r>
            <a:br>
              <a:rPr lang="vi-VN" dirty="0"/>
            </a:br>
            <a:r>
              <a:rPr lang="en-US" dirty="0"/>
              <a:t>👉 </a:t>
            </a:r>
            <a:r>
              <a:rPr lang="vi-VN" dirty="0"/>
              <a:t>Đây là một lựa chọn phổ biến cho các hệ thống </a:t>
            </a:r>
            <a:r>
              <a:rPr lang="vi-VN" b="1" dirty="0"/>
              <a:t>IoT quy mô lớn, yêu cầu bảo mật và tính ổn định cao</a:t>
            </a:r>
            <a:r>
              <a:rPr lang="vi-VN" dirty="0"/>
              <a:t>.</a:t>
            </a:r>
          </a:p>
          <a:p>
            <a:pPr marL="158750" indent="0">
              <a:buFontTx/>
              <a:buNone/>
            </a:pPr>
            <a:endParaRPr lang="en-US" dirty="0"/>
          </a:p>
        </p:txBody>
      </p:sp>
    </p:spTree>
    <p:extLst>
      <p:ext uri="{BB962C8B-B14F-4D97-AF65-F5344CB8AC3E}">
        <p14:creationId xmlns:p14="http://schemas.microsoft.com/office/powerpoint/2010/main" val="19383273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833874ed67_4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833874ed67_4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Chuẩn mở (Open Standard)</a:t>
            </a:r>
          </a:p>
          <a:p>
            <a:pPr marL="158750" indent="0">
              <a:buFontTx/>
              <a:buNone/>
            </a:pPr>
            <a:r>
              <a:rPr lang="vi-VN" dirty="0"/>
              <a:t>AMQP là </a:t>
            </a:r>
            <a:r>
              <a:rPr lang="vi-VN" b="1" dirty="0"/>
              <a:t>giao thức chuẩn hóa công khai</a:t>
            </a:r>
            <a:r>
              <a:rPr lang="vi-VN" dirty="0"/>
              <a:t>, không bị ràng buộc bởi một nhà cung cấp (vendor).</a:t>
            </a:r>
          </a:p>
          <a:p>
            <a:pPr marL="158750" indent="0">
              <a:buFontTx/>
              <a:buNone/>
            </a:pPr>
            <a:r>
              <a:rPr lang="vi-VN" dirty="0"/>
              <a:t>Điều này có nghĩa là bất kỳ ai cũng có thể triển khai broker hoặc client hỗ trợ AMQP.</a:t>
            </a:r>
          </a:p>
          <a:p>
            <a:pPr marL="158750" indent="0">
              <a:buFontTx/>
              <a:buNone/>
            </a:pPr>
            <a:r>
              <a:rPr lang="vi-VN" dirty="0"/>
              <a:t>Ưu điểm:</a:t>
            </a:r>
          </a:p>
          <a:p>
            <a:pPr marL="457200" lvl="1" indent="0">
              <a:buFontTx/>
              <a:buNone/>
            </a:pPr>
            <a:r>
              <a:rPr lang="vi-VN" dirty="0"/>
              <a:t>Dễ dàng tích hợp nhiều hệ thống khác nhau (Java, .NET, Python, C++...).</a:t>
            </a:r>
          </a:p>
          <a:p>
            <a:pPr marL="457200" lvl="1" indent="0">
              <a:buFontTx/>
              <a:buNone/>
            </a:pPr>
            <a:r>
              <a:rPr lang="vi-VN" dirty="0"/>
              <a:t>Tránh bị khóa chặt vào một nền tảng hay công nghệ độc quyền.</a:t>
            </a:r>
            <a:br>
              <a:rPr lang="vi-VN" dirty="0"/>
            </a:br>
            <a:r>
              <a:rPr lang="en-US" dirty="0"/>
              <a:t>=&gt; </a:t>
            </a:r>
            <a:r>
              <a:rPr lang="vi-VN" dirty="0"/>
              <a:t>Ví dụ: một ứng dụng IoT viết bằng Python có thể publish message, trong khi ứng dụng backend viết bằng Java có thể consume message, miễn đều tuân thủ AMQP.</a:t>
            </a:r>
          </a:p>
          <a:p>
            <a:pPr marL="158750" indent="0">
              <a:buFontTx/>
              <a:buNone/>
            </a:pPr>
            <a:r>
              <a:rPr lang="vi-VN" b="1" dirty="0"/>
              <a:t>2. Định hướng hàng đợi (Queue-based)</a:t>
            </a:r>
          </a:p>
          <a:p>
            <a:pPr marL="158750" indent="0">
              <a:buFontTx/>
              <a:buNone/>
            </a:pPr>
            <a:r>
              <a:rPr lang="vi-VN" dirty="0"/>
              <a:t>Thay vì gửi dữ liệu trực tiếp từ A đến B, AMQP sử dụng </a:t>
            </a:r>
            <a:r>
              <a:rPr lang="vi-VN" b="1" dirty="0"/>
              <a:t>hàng đợi (queue)</a:t>
            </a:r>
            <a:r>
              <a:rPr lang="vi-VN" dirty="0"/>
              <a:t> làm trung gian.</a:t>
            </a:r>
          </a:p>
          <a:p>
            <a:pPr marL="158750" indent="0">
              <a:buFontTx/>
              <a:buNone/>
            </a:pPr>
            <a:r>
              <a:rPr lang="vi-VN" b="1" dirty="0"/>
              <a:t>Producer</a:t>
            </a:r>
            <a:r>
              <a:rPr lang="vi-VN" dirty="0"/>
              <a:t> gửi thông điệp vào queue; </a:t>
            </a:r>
            <a:r>
              <a:rPr lang="vi-VN" b="1" dirty="0"/>
              <a:t>Consumer</a:t>
            </a:r>
            <a:r>
              <a:rPr lang="vi-VN" dirty="0"/>
              <a:t> nhận thông điệp từ queue khi sẵn sàng.</a:t>
            </a:r>
          </a:p>
          <a:p>
            <a:pPr marL="158750" indent="0">
              <a:buFontTx/>
              <a:buNone/>
            </a:pPr>
            <a:r>
              <a:rPr lang="vi-VN" dirty="0"/>
              <a:t>Ưu điểm:</a:t>
            </a:r>
          </a:p>
          <a:p>
            <a:pPr marL="457200" lvl="1" indent="0">
              <a:buFontTx/>
              <a:buNone/>
            </a:pPr>
            <a:r>
              <a:rPr lang="vi-VN" b="1" dirty="0"/>
              <a:t>Tách biệt (decoupling)</a:t>
            </a:r>
            <a:r>
              <a:rPr lang="vi-VN" dirty="0"/>
              <a:t>: bên gửi và bên nhận không cần online cùng lúc.</a:t>
            </a:r>
          </a:p>
          <a:p>
            <a:pPr marL="457200" lvl="1" indent="0">
              <a:buFontTx/>
              <a:buNone/>
            </a:pPr>
            <a:r>
              <a:rPr lang="vi-VN" b="1" dirty="0"/>
              <a:t>Chống quá tải</a:t>
            </a:r>
            <a:r>
              <a:rPr lang="vi-VN" dirty="0"/>
              <a:t>: nếu consumer chậm, message sẽ tạm lưu trong queue.</a:t>
            </a:r>
            <a:br>
              <a:rPr lang="vi-VN" dirty="0"/>
            </a:br>
            <a:r>
              <a:rPr lang="en-US" dirty="0"/>
              <a:t>=&gt; </a:t>
            </a:r>
            <a:r>
              <a:rPr lang="vi-VN" dirty="0"/>
              <a:t>Điều này rất quan trọng trong IoT khi dữ liệu cảm biến có thể nhiều hơn khả năng xử lý ngay của backend.</a:t>
            </a:r>
          </a:p>
          <a:p>
            <a:pPr marL="158750" indent="0">
              <a:buFontTx/>
              <a:buNone/>
            </a:pPr>
            <a:r>
              <a:rPr lang="vi-VN" b="1" dirty="0"/>
              <a:t>3. Bảo đảm độ tin cậy (Reliability)</a:t>
            </a:r>
          </a:p>
          <a:p>
            <a:pPr marL="158750" indent="0">
              <a:buFontTx/>
              <a:buNone/>
            </a:pPr>
            <a:r>
              <a:rPr lang="vi-VN" dirty="0"/>
              <a:t>AMQP hỗ trợ cơ chế </a:t>
            </a:r>
            <a:r>
              <a:rPr lang="vi-VN" b="1" dirty="0"/>
              <a:t>acknowledgement (ACK/NACK)</a:t>
            </a:r>
            <a:r>
              <a:rPr lang="vi-VN" dirty="0"/>
              <a:t>:</a:t>
            </a:r>
          </a:p>
          <a:p>
            <a:pPr marL="457200" lvl="1" indent="0">
              <a:buFontTx/>
              <a:buNone/>
            </a:pPr>
            <a:r>
              <a:rPr lang="vi-VN" dirty="0"/>
              <a:t>Khi consumer nhận và xử lý thành công, nó gửi </a:t>
            </a:r>
            <a:r>
              <a:rPr lang="vi-VN" b="1" dirty="0"/>
              <a:t>ACK</a:t>
            </a:r>
            <a:r>
              <a:rPr lang="vi-VN" dirty="0"/>
              <a:t> → broker xóa message khỏi queue.</a:t>
            </a:r>
          </a:p>
          <a:p>
            <a:pPr marL="457200" lvl="1" indent="0">
              <a:buFontTx/>
              <a:buNone/>
            </a:pPr>
            <a:r>
              <a:rPr lang="vi-VN" dirty="0"/>
              <a:t>Nếu có lỗi hoặc timeout, broker có thể </a:t>
            </a:r>
            <a:r>
              <a:rPr lang="vi-VN" b="1" dirty="0"/>
              <a:t>requeue</a:t>
            </a:r>
            <a:r>
              <a:rPr lang="vi-VN" dirty="0"/>
              <a:t> để gửi lại.</a:t>
            </a:r>
          </a:p>
          <a:p>
            <a:pPr marL="158750" indent="0">
              <a:buFontTx/>
              <a:buNone/>
            </a:pPr>
            <a:r>
              <a:rPr lang="vi-VN" dirty="0"/>
              <a:t>Nhờ vậy, dữ liệu </a:t>
            </a:r>
            <a:r>
              <a:rPr lang="vi-VN" b="1" dirty="0"/>
              <a:t>không bị mất</a:t>
            </a:r>
            <a:r>
              <a:rPr lang="vi-VN" dirty="0"/>
              <a:t> ngay cả khi có sự cố mạng hoặc lỗi ứng dụng.</a:t>
            </a:r>
            <a:br>
              <a:rPr lang="vi-VN" dirty="0"/>
            </a:br>
            <a:r>
              <a:rPr lang="en-US" dirty="0"/>
              <a:t>=&gt; </a:t>
            </a:r>
            <a:r>
              <a:rPr lang="vi-VN" dirty="0"/>
              <a:t>Ví dụ: dữ liệu giám sát y tế không thể mất giữa đường → AMQP đảm bảo sẽ đến nơi ít nhất một lần.</a:t>
            </a:r>
          </a:p>
          <a:p>
            <a:pPr marL="158750" indent="0">
              <a:buFontTx/>
              <a:buNone/>
            </a:pPr>
            <a:r>
              <a:rPr lang="vi-VN" b="1" dirty="0"/>
              <a:t>4. Hỗ trợ giao dịch (Transactions)</a:t>
            </a:r>
          </a:p>
          <a:p>
            <a:pPr marL="158750" indent="0">
              <a:buFontTx/>
              <a:buNone/>
            </a:pPr>
            <a:r>
              <a:rPr lang="vi-VN" dirty="0"/>
              <a:t>AMQP cho phép nhóm nhiều message trong một </a:t>
            </a:r>
            <a:r>
              <a:rPr lang="vi-VN" b="1" dirty="0"/>
              <a:t>transaction</a:t>
            </a:r>
            <a:r>
              <a:rPr lang="vi-VN" dirty="0"/>
              <a:t>:</a:t>
            </a:r>
          </a:p>
          <a:p>
            <a:pPr marL="457200" lvl="1" indent="0">
              <a:buFontTx/>
              <a:buNone/>
            </a:pPr>
            <a:r>
              <a:rPr lang="vi-VN" dirty="0"/>
              <a:t>Hoặc tất cả message trong nhóm được xử lý thành công,</a:t>
            </a:r>
          </a:p>
          <a:p>
            <a:pPr marL="457200" lvl="1" indent="0">
              <a:buFontTx/>
              <a:buNone/>
            </a:pPr>
            <a:r>
              <a:rPr lang="vi-VN" dirty="0"/>
              <a:t>Hoặc tất cả bị hủy (rollback).</a:t>
            </a:r>
          </a:p>
          <a:p>
            <a:pPr marL="158750" indent="0">
              <a:buFontTx/>
              <a:buNone/>
            </a:pPr>
            <a:r>
              <a:rPr lang="vi-VN" dirty="0"/>
              <a:t>Cơ chế này tương tự </a:t>
            </a:r>
            <a:r>
              <a:rPr lang="vi-VN" b="1" dirty="0"/>
              <a:t>ACID trong cơ sở dữ liệu</a:t>
            </a:r>
            <a:r>
              <a:rPr lang="vi-VN" dirty="0"/>
              <a:t>.</a:t>
            </a:r>
          </a:p>
          <a:p>
            <a:pPr marL="158750" indent="0">
              <a:buFontTx/>
              <a:buNone/>
            </a:pPr>
            <a:r>
              <a:rPr lang="vi-VN" dirty="0"/>
              <a:t>Phù hợp cho ứng dụng cần </a:t>
            </a:r>
            <a:r>
              <a:rPr lang="vi-VN" b="1" dirty="0"/>
              <a:t>tính toàn vẹn dữ liệu</a:t>
            </a:r>
            <a:r>
              <a:rPr lang="vi-VN" dirty="0"/>
              <a:t>.</a:t>
            </a:r>
            <a:br>
              <a:rPr lang="vi-VN" dirty="0"/>
            </a:br>
            <a:r>
              <a:rPr lang="en-US" dirty="0"/>
              <a:t>=&gt; </a:t>
            </a:r>
            <a:r>
              <a:rPr lang="vi-VN" dirty="0"/>
              <a:t>Ví dụ: trong hệ thống thanh toán IoT, nếu chỉ một phần message được xử lý, có thể gây sai lệch → transaction đảm bảo toàn vẹn.</a:t>
            </a:r>
          </a:p>
          <a:p>
            <a:pPr marL="158750" indent="0">
              <a:buFontTx/>
              <a:buNone/>
            </a:pPr>
            <a:r>
              <a:rPr lang="vi-VN" b="1" dirty="0"/>
              <a:t>5. Bảo mật (Security)</a:t>
            </a:r>
          </a:p>
          <a:p>
            <a:pPr marL="158750" indent="0">
              <a:buFontTx/>
              <a:buNone/>
            </a:pPr>
            <a:r>
              <a:rPr lang="vi-VN" dirty="0"/>
              <a:t>AMQP có thể chạy trên </a:t>
            </a:r>
            <a:r>
              <a:rPr lang="vi-VN" b="1" dirty="0"/>
              <a:t>TLS/SSL</a:t>
            </a:r>
            <a:r>
              <a:rPr lang="vi-VN" dirty="0"/>
              <a:t> để mã hóa dữ liệu, tránh nghe lén.</a:t>
            </a:r>
          </a:p>
          <a:p>
            <a:pPr marL="158750" indent="0">
              <a:buFontTx/>
              <a:buNone/>
            </a:pPr>
            <a:r>
              <a:rPr lang="vi-VN" dirty="0"/>
              <a:t>Hỗ trợ </a:t>
            </a:r>
            <a:r>
              <a:rPr lang="vi-VN" b="1" dirty="0"/>
              <a:t>authentication</a:t>
            </a:r>
            <a:r>
              <a:rPr lang="vi-VN" dirty="0"/>
              <a:t> (xác thực người dùng, mật khẩu, token).</a:t>
            </a:r>
          </a:p>
          <a:p>
            <a:pPr marL="158750" indent="0">
              <a:buFontTx/>
              <a:buNone/>
            </a:pPr>
            <a:r>
              <a:rPr lang="vi-VN" dirty="0"/>
              <a:t>Hỗ trợ </a:t>
            </a:r>
            <a:r>
              <a:rPr lang="vi-VN" b="1" dirty="0"/>
              <a:t>authorization</a:t>
            </a:r>
            <a:r>
              <a:rPr lang="vi-VN" dirty="0"/>
              <a:t> (phân quyền) để kiểm soát client nào được phép gửi/nhận message ở queue nào.</a:t>
            </a:r>
            <a:br>
              <a:rPr lang="vi-VN" dirty="0"/>
            </a:br>
            <a:r>
              <a:rPr lang="en-US" dirty="0"/>
              <a:t>=&gt; </a:t>
            </a:r>
            <a:r>
              <a:rPr lang="vi-VN" dirty="0"/>
              <a:t>Đây là điểm mạnh khi dùng AMQP cho IoT trong </a:t>
            </a:r>
            <a:r>
              <a:rPr lang="vi-VN" b="1" dirty="0"/>
              <a:t>doanh nghiệp, công nghiệp, y tế</a:t>
            </a:r>
            <a:r>
              <a:rPr lang="vi-VN" dirty="0"/>
              <a:t> – nơi bảo mật là yếu tố sống còn.</a:t>
            </a:r>
          </a:p>
          <a:p>
            <a:pPr marL="158750" indent="0">
              <a:buFontTx/>
              <a:buNone/>
            </a:pPr>
            <a:endParaRPr lang="en-US" b="1" dirty="0"/>
          </a:p>
          <a:p>
            <a:pPr marL="158750" indent="0">
              <a:buFontTx/>
              <a:buNone/>
            </a:pPr>
            <a:r>
              <a:rPr lang="vi-VN" b="1" dirty="0"/>
              <a:t>Kết luận</a:t>
            </a:r>
          </a:p>
          <a:p>
            <a:pPr marL="158750" indent="0">
              <a:buFontTx/>
              <a:buNone/>
            </a:pPr>
            <a:r>
              <a:rPr lang="vi-VN" dirty="0"/>
              <a:t>AMQP không chỉ là một giao thức nhắn tin, mà còn là một </a:t>
            </a:r>
            <a:r>
              <a:rPr lang="vi-VN" b="1" dirty="0"/>
              <a:t>chuẩn công nghiệp</a:t>
            </a:r>
            <a:r>
              <a:rPr lang="vi-VN" dirty="0"/>
              <a:t> mạnh mẽ cho hệ thống IoT và enterprise.</a:t>
            </a:r>
          </a:p>
          <a:p>
            <a:pPr marL="158750" indent="0">
              <a:buFontTx/>
              <a:buNone/>
            </a:pPr>
            <a:r>
              <a:rPr lang="vi-VN" dirty="0"/>
              <a:t>Các đặc tính: </a:t>
            </a:r>
            <a:r>
              <a:rPr lang="vi-VN" b="1" dirty="0"/>
              <a:t>mở, queue-based, tin cậy, hỗ trợ giao dịch, bảo mật</a:t>
            </a:r>
            <a:r>
              <a:rPr lang="vi-VN" dirty="0"/>
              <a:t> → khiến nó phù hợp với </a:t>
            </a:r>
            <a:r>
              <a:rPr lang="vi-VN" b="1" dirty="0"/>
              <a:t>ứng dụng quan trọng, quy mô lớn, đòi hỏi an toàn dữ liệu</a:t>
            </a:r>
            <a:r>
              <a:rPr lang="vi-VN" dirty="0"/>
              <a:t>.</a:t>
            </a:r>
          </a:p>
          <a:p>
            <a:pPr marL="158750" indent="0">
              <a:buFontTx/>
              <a:buNone/>
            </a:pPr>
            <a:endParaRPr lang="en-US" dirty="0"/>
          </a:p>
        </p:txBody>
      </p:sp>
    </p:spTree>
    <p:extLst>
      <p:ext uri="{BB962C8B-B14F-4D97-AF65-F5344CB8AC3E}">
        <p14:creationId xmlns:p14="http://schemas.microsoft.com/office/powerpoint/2010/main" val="4266624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Producer (Publisher) – Bên gửi thông điệp</a:t>
            </a:r>
          </a:p>
          <a:p>
            <a:pPr marL="158750" indent="0">
              <a:buFontTx/>
              <a:buNone/>
            </a:pPr>
            <a:r>
              <a:rPr lang="vi-VN" b="1" dirty="0"/>
              <a:t>Producer</a:t>
            </a:r>
            <a:r>
              <a:rPr lang="vi-VN" dirty="0"/>
              <a:t> là ứng dụng hoặc thiết bị tạo và gửi </a:t>
            </a:r>
            <a:r>
              <a:rPr lang="vi-VN" b="1" dirty="0"/>
              <a:t>message</a:t>
            </a:r>
            <a:r>
              <a:rPr lang="vi-VN" dirty="0"/>
              <a:t>.</a:t>
            </a:r>
          </a:p>
          <a:p>
            <a:pPr marL="158750" indent="0">
              <a:buFontTx/>
              <a:buNone/>
            </a:pPr>
            <a:r>
              <a:rPr lang="vi-VN" dirty="0"/>
              <a:t>Nó không cần biết “ai” sẽ nhận thông điệp; nhiệm vụ của Producer là gửi message cho </a:t>
            </a:r>
            <a:r>
              <a:rPr lang="vi-VN" b="1" dirty="0"/>
              <a:t>Broker</a:t>
            </a:r>
            <a:r>
              <a:rPr lang="vi-VN" dirty="0"/>
              <a:t>.</a:t>
            </a:r>
          </a:p>
          <a:p>
            <a:pPr marL="158750" indent="0">
              <a:buFontTx/>
              <a:buNone/>
            </a:pPr>
            <a:r>
              <a:rPr lang="vi-VN" dirty="0"/>
              <a:t>Ví dụ trong IoT:</a:t>
            </a:r>
          </a:p>
          <a:p>
            <a:pPr marL="457200" lvl="1" indent="0">
              <a:buFontTx/>
              <a:buNone/>
            </a:pPr>
            <a:r>
              <a:rPr lang="vi-VN" dirty="0"/>
              <a:t>Một </a:t>
            </a:r>
            <a:r>
              <a:rPr lang="vi-VN" b="1" dirty="0"/>
              <a:t>cảm biến nhiệt độ</a:t>
            </a:r>
            <a:r>
              <a:rPr lang="vi-VN" dirty="0"/>
              <a:t> đóng vai trò Producer, gửi dữ liệu {"temp": 28}.</a:t>
            </a:r>
          </a:p>
          <a:p>
            <a:pPr marL="457200" lvl="1" indent="0">
              <a:buFontTx/>
              <a:buNone/>
            </a:pPr>
            <a:r>
              <a:rPr lang="vi-VN" dirty="0"/>
              <a:t>Producer chỉ cần publish đến broker, không cần biết backend nào sẽ tiêu thụ.</a:t>
            </a:r>
          </a:p>
          <a:p>
            <a:pPr marL="158750" indent="0">
              <a:buFontTx/>
              <a:buNone/>
            </a:pPr>
            <a:r>
              <a:rPr lang="vi-VN" b="1" dirty="0"/>
              <a:t>2. Broker (Message Broker) – Trung gian quản lý và phân phối</a:t>
            </a:r>
          </a:p>
          <a:p>
            <a:pPr marL="158750" indent="0">
              <a:buFontTx/>
              <a:buNone/>
            </a:pPr>
            <a:r>
              <a:rPr lang="vi-VN" b="1" dirty="0"/>
              <a:t>Broker</a:t>
            </a:r>
            <a:r>
              <a:rPr lang="vi-VN" dirty="0"/>
              <a:t> là thành phần trung tâm trong AMQP, chịu trách nhiệm:</a:t>
            </a:r>
          </a:p>
          <a:p>
            <a:pPr marL="457200" lvl="1" indent="0">
              <a:buFontTx/>
              <a:buNone/>
            </a:pPr>
            <a:r>
              <a:rPr lang="vi-VN" b="1" dirty="0"/>
              <a:t>Nhận message</a:t>
            </a:r>
            <a:r>
              <a:rPr lang="vi-VN" dirty="0"/>
              <a:t> từ Producer.</a:t>
            </a:r>
          </a:p>
          <a:p>
            <a:pPr marL="457200" lvl="1" indent="0">
              <a:buFontTx/>
              <a:buNone/>
            </a:pPr>
            <a:r>
              <a:rPr lang="vi-VN" b="1" dirty="0"/>
              <a:t>Routing (định tuyến):</a:t>
            </a:r>
            <a:r>
              <a:rPr lang="vi-VN" dirty="0"/>
              <a:t> dựa trên quy tắc (exchange type, routing key) để quyết định message đi vào queue nào.</a:t>
            </a:r>
          </a:p>
          <a:p>
            <a:pPr marL="457200" lvl="1" indent="0">
              <a:buFontTx/>
              <a:buNone/>
            </a:pPr>
            <a:r>
              <a:rPr lang="vi-VN" b="1" dirty="0"/>
              <a:t>Quản lý hàng đợi (Queue):</a:t>
            </a:r>
            <a:r>
              <a:rPr lang="vi-VN" dirty="0"/>
              <a:t> lưu trữ message cho đến khi có Consumer đến nhận.</a:t>
            </a:r>
          </a:p>
          <a:p>
            <a:pPr marL="457200" lvl="1" indent="0">
              <a:buFontTx/>
              <a:buNone/>
            </a:pPr>
            <a:r>
              <a:rPr lang="vi-VN" b="1" dirty="0"/>
              <a:t>Phân phối message:</a:t>
            </a:r>
            <a:r>
              <a:rPr lang="vi-VN" dirty="0"/>
              <a:t> gửi đến đúng Consumer.</a:t>
            </a:r>
          </a:p>
          <a:p>
            <a:pPr marL="158750" indent="0">
              <a:buFontTx/>
              <a:buNone/>
            </a:pPr>
            <a:r>
              <a:rPr lang="vi-VN" dirty="0"/>
              <a:t>Broker cũng đảm bảo:</a:t>
            </a:r>
          </a:p>
          <a:p>
            <a:pPr marL="457200" lvl="1" indent="0">
              <a:buFontTx/>
              <a:buNone/>
            </a:pPr>
            <a:r>
              <a:rPr lang="vi-VN" b="1" dirty="0"/>
              <a:t>Độ tin cậy:</a:t>
            </a:r>
            <a:r>
              <a:rPr lang="vi-VN" dirty="0"/>
              <a:t> không mất dữ liệu (ACK/NACK, persistent queue).</a:t>
            </a:r>
          </a:p>
          <a:p>
            <a:pPr marL="457200" lvl="1" indent="0">
              <a:buFontTx/>
              <a:buNone/>
            </a:pPr>
            <a:r>
              <a:rPr lang="vi-VN" b="1" dirty="0"/>
              <a:t>Bảo mật:</a:t>
            </a:r>
            <a:r>
              <a:rPr lang="vi-VN" dirty="0"/>
              <a:t> xác thực, phân quyền.</a:t>
            </a:r>
            <a:br>
              <a:rPr lang="vi-VN" dirty="0"/>
            </a:br>
            <a:r>
              <a:rPr lang="en-US" dirty="0"/>
              <a:t>=&gt; </a:t>
            </a:r>
            <a:r>
              <a:rPr lang="vi-VN" b="1" dirty="0"/>
              <a:t>RabbitMQ</a:t>
            </a:r>
            <a:r>
              <a:rPr lang="vi-VN" dirty="0"/>
              <a:t> là một trong những broker phổ biến nhất hỗ trợ AMQP.</a:t>
            </a:r>
          </a:p>
          <a:p>
            <a:pPr marL="158750" indent="0">
              <a:buFontTx/>
              <a:buNone/>
            </a:pPr>
            <a:r>
              <a:rPr lang="vi-VN" b="1" dirty="0"/>
              <a:t>3. Consumer (Subscriber) – Bên nhận thông điệp</a:t>
            </a:r>
          </a:p>
          <a:p>
            <a:pPr marL="158750" indent="0">
              <a:buFontTx/>
              <a:buNone/>
            </a:pPr>
            <a:r>
              <a:rPr lang="vi-VN" b="1" dirty="0"/>
              <a:t>Consumer</a:t>
            </a:r>
            <a:r>
              <a:rPr lang="vi-VN" dirty="0"/>
              <a:t> là ứng dụng hoặc dịch vụ </a:t>
            </a:r>
            <a:r>
              <a:rPr lang="vi-VN" b="1" dirty="0"/>
              <a:t>nhận message từ queue</a:t>
            </a:r>
            <a:r>
              <a:rPr lang="vi-VN" dirty="0"/>
              <a:t> để xử lý.</a:t>
            </a:r>
          </a:p>
          <a:p>
            <a:pPr marL="158750" indent="0">
              <a:buFontTx/>
              <a:buNone/>
            </a:pPr>
            <a:r>
              <a:rPr lang="vi-VN" dirty="0"/>
              <a:t>Có thể có </a:t>
            </a:r>
            <a:r>
              <a:rPr lang="vi-VN" b="1" dirty="0"/>
              <a:t>nhiều consumer</a:t>
            </a:r>
            <a:r>
              <a:rPr lang="vi-VN" dirty="0"/>
              <a:t> cùng đăng ký vào một queue:</a:t>
            </a:r>
          </a:p>
          <a:p>
            <a:pPr marL="457200" lvl="1" indent="0">
              <a:buFontTx/>
              <a:buNone/>
            </a:pPr>
            <a:r>
              <a:rPr lang="vi-VN" dirty="0"/>
              <a:t>Broker sẽ phân phối message theo nguyên tắc </a:t>
            </a:r>
            <a:r>
              <a:rPr lang="vi-VN" b="1" dirty="0"/>
              <a:t>round-robin</a:t>
            </a:r>
            <a:r>
              <a:rPr lang="vi-VN" dirty="0"/>
              <a:t> hoặc </a:t>
            </a:r>
            <a:r>
              <a:rPr lang="vi-VN" b="1" dirty="0"/>
              <a:t>fair dispatch</a:t>
            </a:r>
            <a:r>
              <a:rPr lang="vi-VN" dirty="0"/>
              <a:t>.</a:t>
            </a:r>
          </a:p>
          <a:p>
            <a:pPr marL="158750" indent="0">
              <a:buFontTx/>
              <a:buNone/>
            </a:pPr>
            <a:r>
              <a:rPr lang="vi-VN" dirty="0"/>
              <a:t>Ví dụ trong IoT:</a:t>
            </a:r>
          </a:p>
          <a:p>
            <a:pPr marL="457200" lvl="1" indent="0">
              <a:buFontTx/>
              <a:buNone/>
            </a:pPr>
            <a:r>
              <a:rPr lang="vi-VN" dirty="0"/>
              <a:t>Consumer là một </a:t>
            </a:r>
            <a:r>
              <a:rPr lang="vi-VN" b="1" dirty="0"/>
              <a:t>dịch vụ phân tích dữ liệu</a:t>
            </a:r>
            <a:r>
              <a:rPr lang="vi-VN" dirty="0"/>
              <a:t> hoặc </a:t>
            </a:r>
            <a:r>
              <a:rPr lang="vi-VN" b="1" dirty="0"/>
              <a:t>dashboard</a:t>
            </a:r>
            <a:r>
              <a:rPr lang="vi-VN" dirty="0"/>
              <a:t>, lấy dữ liệu từ queue để hiển thị.</a:t>
            </a:r>
          </a:p>
          <a:p>
            <a:pPr marL="457200" lvl="1" indent="0">
              <a:buFontTx/>
              <a:buNone/>
            </a:pPr>
            <a:r>
              <a:rPr lang="vi-VN" dirty="0"/>
              <a:t>Nếu có nhiều consumer, hệ thống sẽ </a:t>
            </a:r>
            <a:r>
              <a:rPr lang="vi-VN" b="1" dirty="0"/>
              <a:t>xử lý song song</a:t>
            </a:r>
            <a:r>
              <a:rPr lang="vi-VN" dirty="0"/>
              <a:t> để tăng hiệu năng.</a:t>
            </a:r>
          </a:p>
          <a:p>
            <a:pPr marL="158750" indent="0">
              <a:buFontTx/>
              <a:buNone/>
            </a:pPr>
            <a:endParaRPr lang="en-US" dirty="0"/>
          </a:p>
        </p:txBody>
      </p:sp>
    </p:spTree>
    <p:extLst>
      <p:ext uri="{BB962C8B-B14F-4D97-AF65-F5344CB8AC3E}">
        <p14:creationId xmlns:p14="http://schemas.microsoft.com/office/powerpoint/2010/main" val="17536629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Producer → gửi message</a:t>
            </a:r>
          </a:p>
          <a:p>
            <a:pPr marL="158750" indent="0">
              <a:buFontTx/>
              <a:buNone/>
            </a:pPr>
            <a:r>
              <a:rPr lang="vi-VN" dirty="0"/>
              <a:t>Ứng dụng </a:t>
            </a:r>
            <a:r>
              <a:rPr lang="vi-VN" b="1" dirty="0"/>
              <a:t>producer</a:t>
            </a:r>
            <a:r>
              <a:rPr lang="vi-VN" dirty="0"/>
              <a:t> mở </a:t>
            </a:r>
            <a:r>
              <a:rPr lang="vi-VN" b="1" dirty="0"/>
              <a:t>TCP connection</a:t>
            </a:r>
            <a:r>
              <a:rPr lang="vi-VN" dirty="0"/>
              <a:t> và </a:t>
            </a:r>
            <a:r>
              <a:rPr lang="vi-VN" b="1" dirty="0"/>
              <a:t>channel</a:t>
            </a:r>
            <a:r>
              <a:rPr lang="vi-VN" dirty="0"/>
              <a:t> tới RabbitMQ.</a:t>
            </a:r>
          </a:p>
          <a:p>
            <a:pPr marL="158750" indent="0">
              <a:buFontTx/>
              <a:buNone/>
            </a:pPr>
            <a:r>
              <a:rPr lang="vi-VN" dirty="0"/>
              <a:t>Producer </a:t>
            </a:r>
            <a:r>
              <a:rPr lang="vi-VN" b="1" dirty="0"/>
              <a:t>publish</a:t>
            </a:r>
            <a:r>
              <a:rPr lang="vi-VN" dirty="0"/>
              <a:t> 1 message tới </a:t>
            </a:r>
            <a:r>
              <a:rPr lang="vi-VN" b="1" dirty="0"/>
              <a:t>Exchange</a:t>
            </a:r>
            <a:r>
              <a:rPr lang="vi-VN" dirty="0"/>
              <a:t> kèm:</a:t>
            </a:r>
          </a:p>
          <a:p>
            <a:pPr marL="457200" lvl="1" indent="0">
              <a:buFontTx/>
              <a:buNone/>
            </a:pPr>
            <a:r>
              <a:rPr lang="vi-VN" dirty="0"/>
              <a:t>routing key (chuỗi định tuyến, ví dụ sensor.temp.hanoi),</a:t>
            </a:r>
          </a:p>
          <a:p>
            <a:pPr marL="457200" lvl="1" indent="0">
              <a:buFontTx/>
              <a:buNone/>
            </a:pPr>
            <a:r>
              <a:rPr lang="vi-VN" dirty="0"/>
              <a:t>thuộc tính/metadata (persistent, priority, headers, TTL…).</a:t>
            </a:r>
          </a:p>
          <a:p>
            <a:pPr marL="158750" indent="0">
              <a:buFontTx/>
              <a:buNone/>
            </a:pPr>
            <a:r>
              <a:rPr lang="vi-VN" dirty="0"/>
              <a:t>(Tùy chọn) </a:t>
            </a:r>
            <a:r>
              <a:rPr lang="vi-VN" b="1" dirty="0"/>
              <a:t>Publisher confirm</a:t>
            </a:r>
            <a:r>
              <a:rPr lang="vi-VN" dirty="0"/>
              <a:t>: broker xác nhận đã nhận/ghi message.</a:t>
            </a:r>
          </a:p>
          <a:p>
            <a:pPr marL="158750" indent="0">
              <a:buFontTx/>
              <a:buNone/>
            </a:pPr>
            <a:r>
              <a:rPr lang="vi-VN" b="1" dirty="0"/>
              <a:t>(2) Exchange (bộ định tuyến)</a:t>
            </a:r>
          </a:p>
          <a:p>
            <a:pPr marL="158750" indent="0">
              <a:buFontTx/>
              <a:buNone/>
            </a:pPr>
            <a:r>
              <a:rPr lang="vi-VN" dirty="0"/>
              <a:t>Exchange </a:t>
            </a:r>
            <a:r>
              <a:rPr lang="vi-VN" b="1" dirty="0"/>
              <a:t>không lưu</a:t>
            </a:r>
            <a:r>
              <a:rPr lang="vi-VN" dirty="0"/>
              <a:t> message; nhiệm vụ là </a:t>
            </a:r>
            <a:r>
              <a:rPr lang="vi-VN" b="1" dirty="0"/>
              <a:t>định tuyến</a:t>
            </a:r>
            <a:r>
              <a:rPr lang="vi-VN" dirty="0"/>
              <a:t>.</a:t>
            </a:r>
          </a:p>
          <a:p>
            <a:pPr marL="158750" indent="0">
              <a:buFontTx/>
              <a:buNone/>
            </a:pPr>
            <a:r>
              <a:rPr lang="vi-VN" dirty="0"/>
              <a:t>Các kiểu exchange:</a:t>
            </a:r>
          </a:p>
          <a:p>
            <a:pPr marL="457200" lvl="1" indent="0">
              <a:buFontTx/>
              <a:buNone/>
            </a:pPr>
            <a:r>
              <a:rPr lang="vi-VN" b="1" dirty="0"/>
              <a:t>direct</a:t>
            </a:r>
            <a:r>
              <a:rPr lang="vi-VN" dirty="0"/>
              <a:t>: so khớp chính xác routing key với binding key.</a:t>
            </a:r>
          </a:p>
          <a:p>
            <a:pPr marL="457200" lvl="1" indent="0">
              <a:buFontTx/>
              <a:buNone/>
            </a:pPr>
            <a:r>
              <a:rPr lang="vi-VN" b="1" dirty="0"/>
              <a:t>fanout</a:t>
            </a:r>
            <a:r>
              <a:rPr lang="vi-VN" dirty="0"/>
              <a:t>: </a:t>
            </a:r>
            <a:r>
              <a:rPr lang="vi-VN" b="1" dirty="0"/>
              <a:t>broadcast</a:t>
            </a:r>
            <a:r>
              <a:rPr lang="vi-VN" dirty="0"/>
              <a:t>—gửi bản sao tới </a:t>
            </a:r>
            <a:r>
              <a:rPr lang="vi-VN" b="1" dirty="0"/>
              <a:t>mọi queue</a:t>
            </a:r>
            <a:r>
              <a:rPr lang="vi-VN" dirty="0"/>
              <a:t> đã bind.</a:t>
            </a:r>
          </a:p>
          <a:p>
            <a:pPr marL="457200" lvl="1" indent="0">
              <a:buFontTx/>
              <a:buNone/>
            </a:pPr>
            <a:r>
              <a:rPr lang="vi-VN" b="1" dirty="0"/>
              <a:t>topic</a:t>
            </a:r>
            <a:r>
              <a:rPr lang="vi-VN" dirty="0"/>
              <a:t>: so khớp theo </a:t>
            </a:r>
            <a:r>
              <a:rPr lang="vi-VN" b="1" dirty="0"/>
              <a:t>pattern</a:t>
            </a:r>
            <a:r>
              <a:rPr lang="vi-VN" dirty="0"/>
              <a:t> (sensor.*.hanoi, *.temp.#).</a:t>
            </a:r>
          </a:p>
          <a:p>
            <a:pPr marL="457200" lvl="1" indent="0">
              <a:buFontTx/>
              <a:buNone/>
            </a:pPr>
            <a:r>
              <a:rPr lang="vi-VN" b="1" dirty="0"/>
              <a:t>headers</a:t>
            </a:r>
            <a:r>
              <a:rPr lang="vi-VN" dirty="0"/>
              <a:t>: so khớp theo </a:t>
            </a:r>
            <a:r>
              <a:rPr lang="vi-VN" b="1" dirty="0"/>
              <a:t>headers</a:t>
            </a:r>
            <a:r>
              <a:rPr lang="vi-VN" dirty="0"/>
              <a:t> thay vì routing key.</a:t>
            </a:r>
          </a:p>
          <a:p>
            <a:pPr marL="158750" indent="0">
              <a:buFontTx/>
              <a:buNone/>
            </a:pPr>
            <a:r>
              <a:rPr lang="vi-VN" dirty="0"/>
              <a:t>Nếu không có queue nào phù hợp, message có thể bị </a:t>
            </a:r>
            <a:r>
              <a:rPr lang="vi-VN" b="1" dirty="0"/>
              <a:t>bỏ</a:t>
            </a:r>
            <a:r>
              <a:rPr lang="vi-VN" dirty="0"/>
              <a:t> (nếu không bật mandatory) hoặc chuyển sang </a:t>
            </a:r>
            <a:r>
              <a:rPr lang="vi-VN" b="1" dirty="0"/>
              <a:t>alternate exchange</a:t>
            </a:r>
            <a:r>
              <a:rPr lang="vi-VN" dirty="0"/>
              <a:t> (nếu cấu hình).</a:t>
            </a:r>
          </a:p>
          <a:p>
            <a:pPr marL="158750" indent="0">
              <a:buFontTx/>
              <a:buNone/>
            </a:pPr>
            <a:r>
              <a:rPr lang="vi-VN" b="1" dirty="0"/>
              <a:t>(3) Binding (quan hệ Exchange–Queue)</a:t>
            </a:r>
          </a:p>
          <a:p>
            <a:pPr marL="158750" indent="0">
              <a:buFontTx/>
              <a:buNone/>
            </a:pPr>
            <a:r>
              <a:rPr lang="vi-VN" b="1" dirty="0"/>
              <a:t>Binding</a:t>
            </a:r>
            <a:r>
              <a:rPr lang="vi-VN" dirty="0"/>
              <a:t> là “luật” nối </a:t>
            </a:r>
            <a:r>
              <a:rPr lang="vi-VN" b="1" dirty="0"/>
              <a:t>Exchange → Queue</a:t>
            </a:r>
            <a:r>
              <a:rPr lang="vi-VN" dirty="0"/>
              <a:t> kèm binding key/điều kiện.</a:t>
            </a:r>
          </a:p>
          <a:p>
            <a:pPr marL="158750" indent="0">
              <a:buFontTx/>
              <a:buNone/>
            </a:pPr>
            <a:r>
              <a:rPr lang="vi-VN" dirty="0"/>
              <a:t>Một exchange có thể bind tới </a:t>
            </a:r>
            <a:r>
              <a:rPr lang="vi-VN" b="1" dirty="0"/>
              <a:t>nhiều queue</a:t>
            </a:r>
            <a:r>
              <a:rPr lang="vi-VN" dirty="0"/>
              <a:t> (và ngược lại).</a:t>
            </a:r>
          </a:p>
          <a:p>
            <a:pPr marL="158750" indent="0">
              <a:buFontTx/>
              <a:buNone/>
            </a:pPr>
            <a:r>
              <a:rPr lang="vi-VN" dirty="0"/>
              <a:t>Ở bước này exchange kiểm tra tất cả binding và quyết định </a:t>
            </a:r>
            <a:r>
              <a:rPr lang="vi-VN" b="1" dirty="0"/>
              <a:t>gửi bản sao</a:t>
            </a:r>
            <a:r>
              <a:rPr lang="vi-VN" dirty="0"/>
              <a:t> message tới </a:t>
            </a:r>
            <a:r>
              <a:rPr lang="vi-VN" b="1" dirty="0"/>
              <a:t>những queue phù hợp</a:t>
            </a:r>
            <a:r>
              <a:rPr lang="vi-VN" dirty="0"/>
              <a:t>.</a:t>
            </a:r>
          </a:p>
          <a:p>
            <a:pPr marL="158750" indent="0">
              <a:buFontTx/>
              <a:buNone/>
            </a:pPr>
            <a:r>
              <a:rPr lang="vi-VN" b="1" dirty="0"/>
              <a:t>(4) Queues (hàng đợi lưu trữ)</a:t>
            </a:r>
          </a:p>
          <a:p>
            <a:pPr marL="158750" indent="0">
              <a:buFontTx/>
              <a:buNone/>
            </a:pPr>
            <a:r>
              <a:rPr lang="vi-VN" b="1" dirty="0"/>
              <a:t>Queue</a:t>
            </a:r>
            <a:r>
              <a:rPr lang="vi-VN" dirty="0"/>
              <a:t> là nơi </a:t>
            </a:r>
            <a:r>
              <a:rPr lang="vi-VN" b="1" dirty="0"/>
              <a:t>lưu message</a:t>
            </a:r>
            <a:r>
              <a:rPr lang="vi-VN" dirty="0"/>
              <a:t> (gần như FIFO).</a:t>
            </a:r>
          </a:p>
          <a:p>
            <a:pPr marL="158750" indent="0">
              <a:buFontTx/>
              <a:buNone/>
            </a:pPr>
            <a:r>
              <a:rPr lang="vi-VN" dirty="0"/>
              <a:t>Thuộc tính thường dùng:</a:t>
            </a:r>
          </a:p>
          <a:p>
            <a:pPr marL="457200" lvl="1" indent="0">
              <a:buFontTx/>
              <a:buNone/>
            </a:pPr>
            <a:r>
              <a:rPr lang="vi-VN" b="1" dirty="0"/>
              <a:t>Durable</a:t>
            </a:r>
            <a:r>
              <a:rPr lang="vi-VN" dirty="0"/>
              <a:t> (tồn tại sau khi broker restart),</a:t>
            </a:r>
          </a:p>
          <a:p>
            <a:pPr marL="457200" lvl="1" indent="0">
              <a:buFontTx/>
              <a:buNone/>
            </a:pPr>
            <a:r>
              <a:rPr lang="vi-VN" b="1" dirty="0"/>
              <a:t>Auto-delete/Exclusive</a:t>
            </a:r>
            <a:r>
              <a:rPr lang="vi-VN" dirty="0"/>
              <a:t>, </a:t>
            </a:r>
            <a:r>
              <a:rPr lang="vi-VN" b="1" dirty="0"/>
              <a:t>Message TTL</a:t>
            </a:r>
            <a:r>
              <a:rPr lang="vi-VN" dirty="0"/>
              <a:t>, </a:t>
            </a:r>
            <a:r>
              <a:rPr lang="vi-VN" b="1" dirty="0"/>
              <a:t>Priority</a:t>
            </a:r>
            <a:r>
              <a:rPr lang="vi-VN" dirty="0"/>
              <a:t>,</a:t>
            </a:r>
          </a:p>
          <a:p>
            <a:pPr marL="457200" lvl="1" indent="0">
              <a:buFontTx/>
              <a:buNone/>
            </a:pPr>
            <a:r>
              <a:rPr lang="vi-VN" b="1" dirty="0"/>
              <a:t>Dead-Letter Exchange (DLX)</a:t>
            </a:r>
            <a:r>
              <a:rPr lang="vi-VN" dirty="0"/>
              <a:t>: message hết hạn/bị reject → chuyển sang queue “rác”.</a:t>
            </a:r>
          </a:p>
          <a:p>
            <a:pPr marL="158750" indent="0">
              <a:buFontTx/>
              <a:buNone/>
            </a:pPr>
            <a:r>
              <a:rPr lang="vi-VN" dirty="0"/>
              <a:t>Nếu có </a:t>
            </a:r>
            <a:r>
              <a:rPr lang="vi-VN" b="1" dirty="0"/>
              <a:t>nhiều queue</a:t>
            </a:r>
            <a:r>
              <a:rPr lang="vi-VN" dirty="0"/>
              <a:t> match, </a:t>
            </a:r>
            <a:r>
              <a:rPr lang="vi-VN" b="1" dirty="0"/>
              <a:t>mỗi queue nhận 1 bản sao</a:t>
            </a:r>
            <a:r>
              <a:rPr lang="vi-VN" dirty="0"/>
              <a:t> của message.</a:t>
            </a:r>
          </a:p>
          <a:p>
            <a:pPr marL="158750" indent="0">
              <a:buFontTx/>
              <a:buNone/>
            </a:pPr>
            <a:r>
              <a:rPr lang="vi-VN" b="1" dirty="0"/>
              <a:t>(5) Consumer → nhận &amp; xác nhận</a:t>
            </a:r>
          </a:p>
          <a:p>
            <a:pPr marL="158750" indent="0">
              <a:buFontTx/>
              <a:buNone/>
            </a:pPr>
            <a:r>
              <a:rPr lang="vi-VN" b="1" dirty="0"/>
              <a:t>Consumer</a:t>
            </a:r>
            <a:r>
              <a:rPr lang="vi-VN" dirty="0"/>
              <a:t> đăng ký (consume) từ </a:t>
            </a:r>
            <a:r>
              <a:rPr lang="vi-VN" b="1" dirty="0"/>
              <a:t>queue</a:t>
            </a:r>
            <a:r>
              <a:rPr lang="vi-VN" dirty="0"/>
              <a:t>.</a:t>
            </a:r>
          </a:p>
          <a:p>
            <a:pPr marL="158750" indent="0">
              <a:buFontTx/>
              <a:buNone/>
            </a:pPr>
            <a:r>
              <a:rPr lang="vi-VN" dirty="0"/>
              <a:t>Broker </a:t>
            </a:r>
            <a:r>
              <a:rPr lang="vi-VN" b="1" dirty="0"/>
              <a:t>đẩy</a:t>
            </a:r>
            <a:r>
              <a:rPr lang="vi-VN" dirty="0"/>
              <a:t> message xuống consumer theo cơ chế </a:t>
            </a:r>
            <a:r>
              <a:rPr lang="vi-VN" b="1" dirty="0"/>
              <a:t>prefetch/QoS</a:t>
            </a:r>
            <a:r>
              <a:rPr lang="vi-VN" dirty="0"/>
              <a:t> (giới hạn số message “đang xử lý”).</a:t>
            </a:r>
          </a:p>
          <a:p>
            <a:pPr marL="158750" indent="0">
              <a:buFontTx/>
              <a:buNone/>
            </a:pPr>
            <a:r>
              <a:rPr lang="vi-VN" dirty="0"/>
              <a:t>Sau khi xử lý, consumer:</a:t>
            </a:r>
          </a:p>
          <a:p>
            <a:pPr marL="457200" lvl="1" indent="0">
              <a:buFontTx/>
              <a:buNone/>
            </a:pPr>
            <a:r>
              <a:rPr lang="vi-VN" dirty="0"/>
              <a:t>gửi </a:t>
            </a:r>
            <a:r>
              <a:rPr lang="vi-VN" b="1" dirty="0"/>
              <a:t>ACK</a:t>
            </a:r>
            <a:r>
              <a:rPr lang="vi-VN" dirty="0"/>
              <a:t> → message bị xóa khỏi queue,</a:t>
            </a:r>
          </a:p>
          <a:p>
            <a:pPr marL="457200" lvl="1" indent="0">
              <a:buFontTx/>
              <a:buNone/>
            </a:pPr>
            <a:r>
              <a:rPr lang="vi-VN" dirty="0"/>
              <a:t>hoặc </a:t>
            </a:r>
            <a:r>
              <a:rPr lang="vi-VN" b="1" dirty="0"/>
              <a:t>NACK/Reject</a:t>
            </a:r>
            <a:r>
              <a:rPr lang="vi-VN" dirty="0"/>
              <a:t> → có thể </a:t>
            </a:r>
            <a:r>
              <a:rPr lang="vi-VN" b="1" dirty="0"/>
              <a:t>requeue</a:t>
            </a:r>
            <a:r>
              <a:rPr lang="vi-VN" dirty="0"/>
              <a:t> hoặc đẩy sang </a:t>
            </a:r>
            <a:r>
              <a:rPr lang="vi-VN" b="1" dirty="0"/>
              <a:t>DLX</a:t>
            </a:r>
            <a:r>
              <a:rPr lang="vi-VN" dirty="0"/>
              <a:t>.</a:t>
            </a:r>
          </a:p>
          <a:p>
            <a:pPr marL="158750" indent="0">
              <a:buFontTx/>
              <a:buNone/>
            </a:pPr>
            <a:r>
              <a:rPr lang="vi-VN" dirty="0"/>
              <a:t>Có thể có </a:t>
            </a:r>
            <a:r>
              <a:rPr lang="vi-VN" b="1" dirty="0"/>
              <a:t>nhiều consumer cho 1 queue</a:t>
            </a:r>
            <a:r>
              <a:rPr lang="vi-VN" dirty="0"/>
              <a:t> → mô hình “</a:t>
            </a:r>
            <a:r>
              <a:rPr lang="vi-VN" b="1" dirty="0"/>
              <a:t>competing consumers</a:t>
            </a:r>
            <a:r>
              <a:rPr lang="vi-VN" dirty="0"/>
              <a:t>” để cân bằng tải (mỗi message chỉ đến </a:t>
            </a:r>
            <a:r>
              <a:rPr lang="vi-VN" b="1" dirty="0"/>
              <a:t>một</a:t>
            </a:r>
            <a:r>
              <a:rPr lang="vi-VN" dirty="0"/>
              <a:t> consumer của queue đó).</a:t>
            </a:r>
          </a:p>
          <a:p>
            <a:pPr marL="158750" indent="0">
              <a:buFontTx/>
              <a:buNone/>
            </a:pPr>
            <a:r>
              <a:rPr lang="vi-VN" b="1" dirty="0"/>
              <a:t>Ghi chú nhanh để vận hành tốt</a:t>
            </a:r>
          </a:p>
          <a:p>
            <a:pPr marL="158750" indent="0">
              <a:buFontTx/>
              <a:buNone/>
            </a:pPr>
            <a:r>
              <a:rPr lang="vi-VN" b="1" dirty="0"/>
              <a:t>Độ bền</a:t>
            </a:r>
            <a:r>
              <a:rPr lang="vi-VN" dirty="0"/>
              <a:t>: dùng durable exchange + durable queue + persistent message để sống sót qua restart.</a:t>
            </a:r>
          </a:p>
          <a:p>
            <a:pPr marL="158750" indent="0">
              <a:buFontTx/>
              <a:buNone/>
            </a:pPr>
            <a:r>
              <a:rPr lang="vi-VN" b="1" dirty="0"/>
              <a:t>Định tuyến mặc định</a:t>
            </a:r>
            <a:r>
              <a:rPr lang="vi-VN" dirty="0"/>
              <a:t>: “default direct exchange” (tên rỗng ""); publish với routing key = queue name sẽ đẩy thẳng vào queue.</a:t>
            </a:r>
          </a:p>
          <a:p>
            <a:pPr marL="158750" indent="0">
              <a:buFontTx/>
              <a:buNone/>
            </a:pPr>
            <a:r>
              <a:rPr lang="vi-VN" b="1" dirty="0"/>
              <a:t>Không định tuyến được</a:t>
            </a:r>
            <a:r>
              <a:rPr lang="vi-VN" dirty="0"/>
              <a:t>: bật cờ mandatory để nhận </a:t>
            </a:r>
            <a:r>
              <a:rPr lang="vi-VN" b="1" dirty="0"/>
              <a:t>return callback</a:t>
            </a:r>
            <a:r>
              <a:rPr lang="vi-VN" dirty="0"/>
              <a:t>; hoặc cấu hình </a:t>
            </a:r>
            <a:r>
              <a:rPr lang="vi-VN" b="1" dirty="0"/>
              <a:t>alternate exchange</a:t>
            </a:r>
            <a:r>
              <a:rPr lang="vi-VN" dirty="0"/>
              <a:t>.</a:t>
            </a:r>
          </a:p>
          <a:p>
            <a:pPr marL="158750" indent="0">
              <a:buFontTx/>
              <a:buNone/>
            </a:pPr>
            <a:r>
              <a:rPr lang="vi-VN" b="1" dirty="0"/>
              <a:t>So với MQTT</a:t>
            </a:r>
            <a:r>
              <a:rPr lang="vi-VN" dirty="0"/>
              <a:t>: MQTT dùng </a:t>
            </a:r>
            <a:r>
              <a:rPr lang="vi-VN" b="1" dirty="0"/>
              <a:t>topic</a:t>
            </a:r>
            <a:r>
              <a:rPr lang="vi-VN" dirty="0"/>
              <a:t> trực tiếp trên broker; RabbitMQ tách bạch </a:t>
            </a:r>
            <a:r>
              <a:rPr lang="vi-VN" b="1" dirty="0"/>
              <a:t>exchange (định tuyến)</a:t>
            </a:r>
            <a:r>
              <a:rPr lang="vi-VN" dirty="0"/>
              <a:t> và </a:t>
            </a:r>
            <a:r>
              <a:rPr lang="vi-VN" b="1" dirty="0"/>
              <a:t>queue (lưu trữ)</a:t>
            </a:r>
            <a:r>
              <a:rPr lang="vi-VN" dirty="0"/>
              <a:t> → linh hoạt hơn cho nhiều mô hình (pub/sub, work queue, routing, topics…).</a:t>
            </a:r>
          </a:p>
          <a:p>
            <a:pPr marL="158750" indent="0">
              <a:buFontTx/>
              <a:buNone/>
            </a:pPr>
            <a:endParaRPr lang="en-US" dirty="0"/>
          </a:p>
        </p:txBody>
      </p:sp>
    </p:spTree>
    <p:extLst>
      <p:ext uri="{BB962C8B-B14F-4D97-AF65-F5344CB8AC3E}">
        <p14:creationId xmlns:p14="http://schemas.microsoft.com/office/powerpoint/2010/main" val="4930152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dirty="0"/>
              <a:t>Hình vẽ này minh họa </a:t>
            </a:r>
            <a:r>
              <a:rPr lang="vi-VN" b="1" dirty="0"/>
              <a:t>cơ chế định tuyến message trong RabbitMQ</a:t>
            </a:r>
            <a:r>
              <a:rPr lang="vi-VN" dirty="0"/>
              <a:t> với ba trong bốn loại </a:t>
            </a:r>
            <a:r>
              <a:rPr lang="vi-VN" b="1" dirty="0"/>
              <a:t>Exchange</a:t>
            </a:r>
            <a:r>
              <a:rPr lang="vi-VN" dirty="0"/>
              <a:t> phổ biến: </a:t>
            </a:r>
            <a:r>
              <a:rPr lang="vi-VN" b="1" dirty="0"/>
              <a:t>Direct, Topic, Fanout</a:t>
            </a:r>
            <a:r>
              <a:rPr lang="vi-VN" dirty="0"/>
              <a:t> (còn loại thứ tư là </a:t>
            </a:r>
            <a:r>
              <a:rPr lang="vi-VN" b="1" dirty="0"/>
              <a:t>Headers</a:t>
            </a:r>
            <a:r>
              <a:rPr lang="vi-VN" dirty="0"/>
              <a:t> nhưng không vẽ trong hình). Mình giải thích chi tiết từng phần như sau:</a:t>
            </a:r>
          </a:p>
          <a:p>
            <a:pPr marL="158750" indent="0">
              <a:buFontTx/>
              <a:buNone/>
            </a:pPr>
            <a:r>
              <a:rPr lang="vi-VN" b="1" dirty="0"/>
              <a:t>1. Producer</a:t>
            </a:r>
          </a:p>
          <a:p>
            <a:pPr marL="158750" indent="0">
              <a:buFontTx/>
              <a:buNone/>
            </a:pPr>
            <a:r>
              <a:rPr lang="vi-VN" dirty="0"/>
              <a:t>Ứng dụng/thiết bị gửi message vào </a:t>
            </a:r>
            <a:r>
              <a:rPr lang="vi-VN" b="1" dirty="0"/>
              <a:t>Broker</a:t>
            </a:r>
            <a:r>
              <a:rPr lang="vi-VN" dirty="0"/>
              <a:t>.</a:t>
            </a:r>
          </a:p>
          <a:p>
            <a:pPr marL="158750" indent="0">
              <a:buFontTx/>
              <a:buNone/>
            </a:pPr>
            <a:r>
              <a:rPr lang="vi-VN" dirty="0"/>
              <a:t>Khi publish, Producer phải chỉ rõ:</a:t>
            </a:r>
          </a:p>
          <a:p>
            <a:pPr marL="457200" lvl="1" indent="0">
              <a:buFontTx/>
              <a:buNone/>
            </a:pPr>
            <a:r>
              <a:rPr lang="vi-VN" b="1" dirty="0"/>
              <a:t>Exchange</a:t>
            </a:r>
            <a:r>
              <a:rPr lang="vi-VN" dirty="0"/>
              <a:t> nào sẽ nhận message.</a:t>
            </a:r>
          </a:p>
          <a:p>
            <a:pPr marL="457200" lvl="1" indent="0">
              <a:buFontTx/>
              <a:buNone/>
            </a:pPr>
            <a:r>
              <a:rPr lang="vi-VN" b="1" dirty="0"/>
              <a:t>Routing key</a:t>
            </a:r>
            <a:r>
              <a:rPr lang="vi-VN" dirty="0"/>
              <a:t> (chuỗi định tuyến).</a:t>
            </a:r>
          </a:p>
          <a:p>
            <a:pPr marL="457200" lvl="1" indent="0">
              <a:buFontTx/>
              <a:buNone/>
            </a:pPr>
            <a:r>
              <a:rPr lang="vi-VN" dirty="0"/>
              <a:t>Metadata khác (nếu cần).</a:t>
            </a:r>
          </a:p>
          <a:p>
            <a:pPr marL="158750" indent="0">
              <a:buFontTx/>
              <a:buNone/>
            </a:pPr>
            <a:r>
              <a:rPr lang="vi-VN" b="1" dirty="0"/>
              <a:t>2. Broker và Exchange</a:t>
            </a:r>
          </a:p>
          <a:p>
            <a:pPr marL="158750" indent="0">
              <a:buFontTx/>
              <a:buNone/>
            </a:pPr>
            <a:r>
              <a:rPr lang="vi-VN" dirty="0"/>
              <a:t>Trong RabbitMQ, </a:t>
            </a:r>
            <a:r>
              <a:rPr lang="vi-VN" b="1" dirty="0"/>
              <a:t>Exchange</a:t>
            </a:r>
            <a:r>
              <a:rPr lang="vi-VN" dirty="0"/>
              <a:t> chịu trách nhiệm định tuyến message đến </a:t>
            </a:r>
            <a:r>
              <a:rPr lang="vi-VN" b="1" dirty="0"/>
              <a:t>Queue</a:t>
            </a:r>
            <a:r>
              <a:rPr lang="vi-VN" dirty="0"/>
              <a:t> dựa vào loại Exchange + binding rules.</a:t>
            </a:r>
            <a:br>
              <a:rPr lang="vi-VN" dirty="0"/>
            </a:br>
            <a:r>
              <a:rPr lang="vi-VN" dirty="0"/>
              <a:t>Hình minh họa 3 loại Exchange:</a:t>
            </a:r>
          </a:p>
          <a:p>
            <a:pPr marL="158750" indent="0">
              <a:buFontTx/>
              <a:buNone/>
            </a:pPr>
            <a:r>
              <a:rPr lang="vi-VN" b="1" dirty="0"/>
              <a:t>a. Direct Exchange (màu xanh lá)</a:t>
            </a:r>
          </a:p>
          <a:p>
            <a:pPr marL="158750" indent="0">
              <a:buFontTx/>
              <a:buNone/>
            </a:pPr>
            <a:r>
              <a:rPr lang="vi-VN" dirty="0"/>
              <a:t>Cơ chế: so khớp </a:t>
            </a:r>
            <a:r>
              <a:rPr lang="vi-VN" b="1" dirty="0"/>
              <a:t>chính xác</a:t>
            </a:r>
            <a:r>
              <a:rPr lang="vi-VN" dirty="0"/>
              <a:t> routing key với binding key.</a:t>
            </a:r>
          </a:p>
          <a:p>
            <a:pPr marL="158750" indent="0">
              <a:buFontTx/>
              <a:buNone/>
            </a:pPr>
            <a:r>
              <a:rPr lang="vi-VN" dirty="0"/>
              <a:t>Ví dụ:</a:t>
            </a:r>
          </a:p>
          <a:p>
            <a:pPr marL="457200" lvl="1" indent="0">
              <a:buFontTx/>
              <a:buNone/>
            </a:pPr>
            <a:r>
              <a:rPr lang="vi-VN" dirty="0"/>
              <a:t>Queue 1 bind với key "PDF process".</a:t>
            </a:r>
          </a:p>
          <a:p>
            <a:pPr marL="457200" lvl="1" indent="0">
              <a:buFontTx/>
              <a:buNone/>
            </a:pPr>
            <a:r>
              <a:rPr lang="vi-VN" dirty="0"/>
              <a:t>Producer gửi message với routing key = "PDF process" → message vào Queue 1.</a:t>
            </a:r>
          </a:p>
          <a:p>
            <a:pPr marL="158750" indent="0">
              <a:buFontTx/>
              <a:buNone/>
            </a:pPr>
            <a:r>
              <a:rPr lang="vi-VN" dirty="0"/>
              <a:t>Giống như: </a:t>
            </a:r>
            <a:r>
              <a:rPr lang="vi-VN" b="1" dirty="0"/>
              <a:t>định tuyến theo từ khóa chính xác</a:t>
            </a:r>
            <a:r>
              <a:rPr lang="vi-VN" dirty="0"/>
              <a:t>.</a:t>
            </a:r>
          </a:p>
          <a:p>
            <a:pPr marL="158750" indent="0">
              <a:buFontTx/>
              <a:buNone/>
            </a:pPr>
            <a:r>
              <a:rPr lang="vi-VN" b="1" dirty="0"/>
              <a:t>b. Topic Exchange (màu cam)</a:t>
            </a:r>
          </a:p>
          <a:p>
            <a:pPr marL="158750" indent="0">
              <a:buFontTx/>
              <a:buNone/>
            </a:pPr>
            <a:r>
              <a:rPr lang="vi-VN" dirty="0"/>
              <a:t>Cơ chế: so khớp routing key với </a:t>
            </a:r>
            <a:r>
              <a:rPr lang="vi-VN" b="1" dirty="0"/>
              <a:t>mẫu pattern</a:t>
            </a:r>
            <a:r>
              <a:rPr lang="vi-VN" dirty="0"/>
              <a:t> (wildcard * và #).</a:t>
            </a:r>
          </a:p>
          <a:p>
            <a:pPr marL="457200" lvl="1" indent="0">
              <a:buFontTx/>
              <a:buNone/>
            </a:pPr>
            <a:r>
              <a:rPr lang="vi-VN" dirty="0"/>
              <a:t>* khớp </a:t>
            </a:r>
            <a:r>
              <a:rPr lang="vi-VN" b="1" dirty="0"/>
              <a:t>1 từ</a:t>
            </a:r>
            <a:r>
              <a:rPr lang="vi-VN" dirty="0"/>
              <a:t>.</a:t>
            </a:r>
          </a:p>
          <a:p>
            <a:pPr marL="457200" lvl="1" indent="0">
              <a:buFontTx/>
              <a:buNone/>
            </a:pPr>
            <a:r>
              <a:rPr lang="vi-VN" dirty="0"/>
              <a:t># khớp </a:t>
            </a:r>
            <a:r>
              <a:rPr lang="vi-VN" b="1" dirty="0"/>
              <a:t>0 hoặc nhiều từ</a:t>
            </a:r>
            <a:r>
              <a:rPr lang="vi-VN" dirty="0"/>
              <a:t>.</a:t>
            </a:r>
          </a:p>
          <a:p>
            <a:pPr marL="158750" indent="0">
              <a:buFontTx/>
              <a:buNone/>
            </a:pPr>
            <a:r>
              <a:rPr lang="vi-VN" dirty="0"/>
              <a:t>Ví dụ:</a:t>
            </a:r>
          </a:p>
          <a:p>
            <a:pPr marL="457200" lvl="1" indent="0">
              <a:buFontTx/>
              <a:buNone/>
            </a:pPr>
            <a:r>
              <a:rPr lang="vi-VN" dirty="0"/>
              <a:t>Queue 2 bind với "eu.de.*" → nhận message có routing key "eu.de.berlin", "eu.de.munich".</a:t>
            </a:r>
          </a:p>
          <a:p>
            <a:pPr marL="457200" lvl="1" indent="0">
              <a:buFontTx/>
              <a:buNone/>
            </a:pPr>
            <a:r>
              <a:rPr lang="vi-VN" dirty="0"/>
              <a:t>Queue 3 bind với "us.#" → nhận "us.ny", "us.ca.sf", "us"…</a:t>
            </a:r>
          </a:p>
          <a:p>
            <a:pPr marL="158750" indent="0">
              <a:buFontTx/>
              <a:buNone/>
            </a:pPr>
            <a:r>
              <a:rPr lang="vi-VN" dirty="0"/>
              <a:t>Giúp </a:t>
            </a:r>
            <a:r>
              <a:rPr lang="vi-VN" b="1" dirty="0"/>
              <a:t>linh hoạt</a:t>
            </a:r>
            <a:r>
              <a:rPr lang="vi-VN" dirty="0"/>
              <a:t> khi định tuyến theo nhiều cấp độ (region, module, category…).</a:t>
            </a:r>
          </a:p>
          <a:p>
            <a:pPr marL="158750" indent="0">
              <a:buFontTx/>
              <a:buNone/>
            </a:pPr>
            <a:r>
              <a:rPr lang="vi-VN" b="1" dirty="0"/>
              <a:t>c. Fanout Exchange (màu xanh dương)</a:t>
            </a:r>
          </a:p>
          <a:p>
            <a:pPr marL="158750" indent="0">
              <a:buFontTx/>
              <a:buNone/>
            </a:pPr>
            <a:r>
              <a:rPr lang="vi-VN" dirty="0"/>
              <a:t>Cơ chế: </a:t>
            </a:r>
            <a:r>
              <a:rPr lang="vi-VN" b="1" dirty="0"/>
              <a:t>broadcast</a:t>
            </a:r>
            <a:r>
              <a:rPr lang="vi-VN" dirty="0"/>
              <a:t> → gửi bản sao đến </a:t>
            </a:r>
            <a:r>
              <a:rPr lang="vi-VN" b="1" dirty="0"/>
              <a:t>mọi queue</a:t>
            </a:r>
            <a:r>
              <a:rPr lang="vi-VN" dirty="0"/>
              <a:t> đã bind với exchange, </a:t>
            </a:r>
            <a:r>
              <a:rPr lang="vi-VN" b="1" dirty="0"/>
              <a:t>bỏ qua routing key</a:t>
            </a:r>
            <a:r>
              <a:rPr lang="vi-VN" dirty="0"/>
              <a:t>.</a:t>
            </a:r>
          </a:p>
          <a:p>
            <a:pPr marL="158750" indent="0">
              <a:buFontTx/>
              <a:buNone/>
            </a:pPr>
            <a:r>
              <a:rPr lang="vi-VN" dirty="0"/>
              <a:t>Ví dụ:</a:t>
            </a:r>
          </a:p>
          <a:p>
            <a:pPr marL="457200" lvl="1" indent="0">
              <a:buFontTx/>
              <a:buNone/>
            </a:pPr>
            <a:r>
              <a:rPr lang="vi-VN" dirty="0"/>
              <a:t>Producer publish 1 message → cùng lúc vào Q4, Q5, Q6.</a:t>
            </a:r>
          </a:p>
          <a:p>
            <a:pPr marL="158750" indent="0">
              <a:buFontTx/>
              <a:buNone/>
            </a:pPr>
            <a:r>
              <a:rPr lang="vi-VN" dirty="0"/>
              <a:t>Dùng khi cần </a:t>
            </a:r>
            <a:r>
              <a:rPr lang="vi-VN" b="1" dirty="0"/>
              <a:t>phát sóng thông báo</a:t>
            </a:r>
            <a:r>
              <a:rPr lang="vi-VN" dirty="0"/>
              <a:t> cho nhiều bên cùng lúc (ví dụ: event hệ thống, log, notification).</a:t>
            </a:r>
          </a:p>
          <a:p>
            <a:pPr marL="158750" indent="0">
              <a:buFontTx/>
              <a:buNone/>
            </a:pPr>
            <a:r>
              <a:rPr lang="vi-VN" b="1" dirty="0"/>
              <a:t>3. Bindings</a:t>
            </a:r>
          </a:p>
          <a:p>
            <a:pPr marL="158750" indent="0">
              <a:buFontTx/>
              <a:buNone/>
            </a:pPr>
            <a:r>
              <a:rPr lang="vi-VN" dirty="0"/>
              <a:t>Binding = </a:t>
            </a:r>
            <a:r>
              <a:rPr lang="vi-VN" b="1" dirty="0"/>
              <a:t>luật liên kết</a:t>
            </a:r>
            <a:r>
              <a:rPr lang="vi-VN" dirty="0"/>
              <a:t> giữa exchange và queue.</a:t>
            </a:r>
          </a:p>
          <a:p>
            <a:pPr marL="158750" indent="0">
              <a:buFontTx/>
              <a:buNone/>
            </a:pPr>
            <a:r>
              <a:rPr lang="vi-VN" dirty="0"/>
              <a:t>Trong hình:</a:t>
            </a:r>
          </a:p>
          <a:p>
            <a:pPr marL="457200" lvl="1" indent="0">
              <a:buFontTx/>
              <a:buNone/>
            </a:pPr>
            <a:r>
              <a:rPr lang="vi-VN" dirty="0"/>
              <a:t>Direct Exchange: Queue 1 ← binding key "PDF process".</a:t>
            </a:r>
          </a:p>
          <a:p>
            <a:pPr marL="457200" lvl="1" indent="0">
              <a:buFontTx/>
              <a:buNone/>
            </a:pPr>
            <a:r>
              <a:rPr lang="vi-VN" dirty="0"/>
              <a:t>Topic Exchange: Queue 2 ← pattern "eu.de.*", Queue 3 ← "us.#".</a:t>
            </a:r>
          </a:p>
          <a:p>
            <a:pPr marL="457200" lvl="1" indent="0">
              <a:buFontTx/>
              <a:buNone/>
            </a:pPr>
            <a:r>
              <a:rPr lang="vi-VN" dirty="0"/>
              <a:t>Fanout Exchange: broadcast đến Q4, Q5, Q6.</a:t>
            </a:r>
          </a:p>
          <a:p>
            <a:pPr marL="158750" indent="0">
              <a:buFontTx/>
              <a:buNone/>
            </a:pPr>
            <a:r>
              <a:rPr lang="vi-VN" b="1" dirty="0"/>
              <a:t>4. Queues</a:t>
            </a:r>
          </a:p>
          <a:p>
            <a:pPr marL="158750" indent="0">
              <a:buFontTx/>
              <a:buNone/>
            </a:pPr>
            <a:r>
              <a:rPr lang="vi-VN" dirty="0"/>
              <a:t>Queue = nơi lưu trữ message.</a:t>
            </a:r>
          </a:p>
          <a:p>
            <a:pPr marL="158750" indent="0">
              <a:buFontTx/>
              <a:buNone/>
            </a:pPr>
            <a:r>
              <a:rPr lang="vi-VN" dirty="0"/>
              <a:t>Message được định tuyến bởi Exchange đến </a:t>
            </a:r>
            <a:r>
              <a:rPr lang="vi-VN" b="1" dirty="0"/>
              <a:t>một hoặc nhiều Queue</a:t>
            </a:r>
            <a:r>
              <a:rPr lang="vi-VN" dirty="0"/>
              <a:t>.</a:t>
            </a:r>
          </a:p>
          <a:p>
            <a:pPr marL="158750" indent="0">
              <a:buFontTx/>
              <a:buNone/>
            </a:pPr>
            <a:r>
              <a:rPr lang="vi-VN" dirty="0"/>
              <a:t>Sau đó Consumer sẽ lấy message từ queue để xử lý.</a:t>
            </a:r>
          </a:p>
          <a:p>
            <a:pPr marL="158750" indent="0">
              <a:buFontTx/>
              <a:buNone/>
            </a:pPr>
            <a:r>
              <a:rPr lang="vi-VN" b="1" dirty="0"/>
              <a:t>5. Consumer</a:t>
            </a:r>
          </a:p>
          <a:p>
            <a:pPr marL="158750" indent="0">
              <a:buFontTx/>
              <a:buNone/>
            </a:pPr>
            <a:r>
              <a:rPr lang="vi-VN" dirty="0"/>
              <a:t>Ứng dụng </a:t>
            </a:r>
            <a:r>
              <a:rPr lang="vi-VN" b="1" dirty="0"/>
              <a:t>Consumer</a:t>
            </a:r>
            <a:r>
              <a:rPr lang="vi-VN" dirty="0"/>
              <a:t> nhận message từ queue.</a:t>
            </a:r>
          </a:p>
          <a:p>
            <a:pPr marL="158750" indent="0">
              <a:buFontTx/>
              <a:buNone/>
            </a:pPr>
            <a:r>
              <a:rPr lang="vi-VN" dirty="0"/>
              <a:t>Tùy cơ chế ACK, Consumer có thể xác nhận (ACK), từ chối (NACK), hoặc bỏ qua message.</a:t>
            </a:r>
          </a:p>
          <a:p>
            <a:pPr marL="158750" indent="0">
              <a:buFontTx/>
              <a:buNone/>
            </a:pPr>
            <a:r>
              <a:rPr lang="vi-VN" b="1" dirty="0"/>
              <a:t>6. Loại Exchange thứ tư (Headers – chưa vẽ trong hình)</a:t>
            </a:r>
          </a:p>
          <a:p>
            <a:pPr marL="158750" indent="0">
              <a:buFontTx/>
              <a:buNone/>
            </a:pPr>
            <a:r>
              <a:rPr lang="vi-VN" dirty="0"/>
              <a:t>Định tuyến dựa trên </a:t>
            </a:r>
            <a:r>
              <a:rPr lang="vi-VN" b="1" dirty="0"/>
              <a:t>thuộc tính header</a:t>
            </a:r>
            <a:r>
              <a:rPr lang="vi-VN" dirty="0"/>
              <a:t> (ví dụ: format=pdf, type=report).</a:t>
            </a:r>
          </a:p>
          <a:p>
            <a:pPr marL="158750" indent="0">
              <a:buFontTx/>
              <a:buNone/>
            </a:pPr>
            <a:r>
              <a:rPr lang="vi-VN" dirty="0"/>
              <a:t>Không dùng routing key.</a:t>
            </a:r>
          </a:p>
          <a:p>
            <a:pPr marL="158750" indent="0">
              <a:buFontTx/>
              <a:buNone/>
            </a:pPr>
            <a:r>
              <a:rPr lang="en-US" dirty="0"/>
              <a:t>✅ </a:t>
            </a:r>
            <a:r>
              <a:rPr lang="vi-VN" b="1" dirty="0"/>
              <a:t>Tóm lại</a:t>
            </a:r>
            <a:r>
              <a:rPr lang="vi-VN" dirty="0"/>
              <a:t>:</a:t>
            </a:r>
          </a:p>
          <a:p>
            <a:pPr marL="158750" indent="0">
              <a:buFontTx/>
              <a:buNone/>
            </a:pPr>
            <a:r>
              <a:rPr lang="vi-VN" b="1" dirty="0"/>
              <a:t>Direct</a:t>
            </a:r>
            <a:r>
              <a:rPr lang="vi-VN" dirty="0"/>
              <a:t>: định tuyến chính xác.</a:t>
            </a:r>
          </a:p>
          <a:p>
            <a:pPr marL="158750" indent="0">
              <a:buFontTx/>
              <a:buNone/>
            </a:pPr>
            <a:r>
              <a:rPr lang="vi-VN" b="1" dirty="0"/>
              <a:t>Topic</a:t>
            </a:r>
            <a:r>
              <a:rPr lang="vi-VN" dirty="0"/>
              <a:t>: định tuyến theo mẫu pattern (linh hoạt).</a:t>
            </a:r>
          </a:p>
          <a:p>
            <a:pPr marL="158750" indent="0">
              <a:buFontTx/>
              <a:buNone/>
            </a:pPr>
            <a:r>
              <a:rPr lang="vi-VN" b="1" dirty="0"/>
              <a:t>Fanout</a:t>
            </a:r>
            <a:r>
              <a:rPr lang="vi-VN" dirty="0"/>
              <a:t>: broadcast đến tất cả queues.</a:t>
            </a:r>
          </a:p>
          <a:p>
            <a:pPr marL="158750" indent="0">
              <a:buFontTx/>
              <a:buNone/>
            </a:pPr>
            <a:r>
              <a:rPr lang="vi-VN" b="1" dirty="0"/>
              <a:t>Headers</a:t>
            </a:r>
            <a:r>
              <a:rPr lang="vi-VN" dirty="0"/>
              <a:t>: dựa vào metadata header.</a:t>
            </a:r>
          </a:p>
          <a:p>
            <a:pPr marL="158750" indent="0">
              <a:buFontTx/>
              <a:buNone/>
            </a:pPr>
            <a:endParaRPr lang="en-US" dirty="0"/>
          </a:p>
        </p:txBody>
      </p:sp>
    </p:spTree>
    <p:extLst>
      <p:ext uri="{BB962C8B-B14F-4D97-AF65-F5344CB8AC3E}">
        <p14:creationId xmlns:p14="http://schemas.microsoft.com/office/powerpoint/2010/main" val="406851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arduino.vn/tutorial/1479-gioi-thieu-module-thu-phat-rf-cc2530-tam-xa-plus-cc2591-cua-zigbee"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thethingsnetwork.org/docs/lorawan/what-is-lorawan/"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hyperlink" Target="https://www.thethingsnetwork.org/docs/lorawan/what-is-lorawan/"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34.jpeg"/></Relationships>
</file>

<file path=ppt/slides/_rels/slide5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hyperlink" Target="http://www.steves-internet-guide.com/mqtt/"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hyperlink" Target="https://www.hivemq.com/blog/how-to-get-started-with-mqtt/" TargetMode="External"/><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hyperlink" Target="https://www.arduino.cc/reference/en/libraries/mqtt-client/" TargetMode="External"/><Relationship Id="rId5" Type="http://schemas.openxmlformats.org/officeDocument/2006/relationships/hyperlink" Target="https://www.arduino.cc/reference/en/libraries/mqtt/" TargetMode="External"/><Relationship Id="rId4" Type="http://schemas.openxmlformats.org/officeDocument/2006/relationships/hyperlink" Target="http://arduino.vn/bai-viet/1236-tim-hieu-giao-thuc-mqtt"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367000" y="1183825"/>
            <a:ext cx="8183700" cy="147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CA" dirty="0"/>
              <a:t>Chapter 3: Giao </a:t>
            </a:r>
            <a:r>
              <a:rPr lang="en-CA" dirty="0" err="1"/>
              <a:t>Thức</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Giới Thiệu Về Các Giao Thức IoT</a:t>
            </a:r>
            <a:endParaRPr/>
          </a:p>
          <a:p>
            <a:pPr marL="0" lvl="0" indent="0" algn="l" rtl="0">
              <a:spcBef>
                <a:spcPts val="0"/>
              </a:spcBef>
              <a:spcAft>
                <a:spcPts val="0"/>
              </a:spcAft>
              <a:buNone/>
            </a:pPr>
            <a:endParaRPr/>
          </a:p>
        </p:txBody>
      </p:sp>
      <p:sp>
        <p:nvSpPr>
          <p:cNvPr id="64" name="Google Shape;64;p14"/>
          <p:cNvSpPr txBox="1"/>
          <p:nvPr/>
        </p:nvSpPr>
        <p:spPr>
          <a:xfrm>
            <a:off x="334100" y="1103300"/>
            <a:ext cx="8298000" cy="3752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lt2"/>
              </a:buClr>
              <a:buSzPts val="1800"/>
              <a:buFont typeface="Source Sans Pro"/>
              <a:buChar char="-"/>
            </a:pPr>
            <a:r>
              <a:rPr lang="en-CA" sz="1800" dirty="0" err="1">
                <a:solidFill>
                  <a:schemeClr val="lt2"/>
                </a:solidFill>
                <a:latin typeface="Source Sans Pro"/>
                <a:ea typeface="Source Sans Pro"/>
                <a:cs typeface="Source Sans Pro"/>
                <a:sym typeface="Source Sans Pro"/>
              </a:rPr>
              <a:t>Tại</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sao</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giao</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thức</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lại</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quan</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trọng</a:t>
            </a:r>
            <a:r>
              <a:rPr lang="en-CA" sz="1800" dirty="0">
                <a:solidFill>
                  <a:schemeClr val="lt2"/>
                </a:solidFill>
                <a:latin typeface="Source Sans Pro"/>
                <a:ea typeface="Source Sans Pro"/>
                <a:cs typeface="Source Sans Pro"/>
                <a:sym typeface="Source Sans Pro"/>
              </a:rPr>
              <a:t>?</a:t>
            </a:r>
            <a:endParaRPr sz="1800" dirty="0">
              <a:solidFill>
                <a:schemeClr val="lt2"/>
              </a:solidFill>
              <a:latin typeface="Source Sans Pro"/>
              <a:ea typeface="Source Sans Pro"/>
              <a:cs typeface="Source Sans Pro"/>
              <a:sym typeface="Source Sans Pro"/>
            </a:endParaRPr>
          </a:p>
          <a:p>
            <a:pPr marL="457200" lvl="0" indent="0" algn="l" rtl="0">
              <a:spcBef>
                <a:spcPts val="0"/>
              </a:spcBef>
              <a:spcAft>
                <a:spcPts val="0"/>
              </a:spcAft>
              <a:buNone/>
            </a:pPr>
            <a:endParaRPr sz="1800" dirty="0">
              <a:solidFill>
                <a:schemeClr val="lt2"/>
              </a:solidFill>
              <a:latin typeface="Source Sans Pro"/>
              <a:ea typeface="Source Sans Pro"/>
              <a:cs typeface="Source Sans Pro"/>
              <a:sym typeface="Source Sans Pro"/>
            </a:endParaRPr>
          </a:p>
          <a:p>
            <a:pPr marL="914400" lvl="1" indent="-342900" algn="l" rtl="0">
              <a:spcBef>
                <a:spcPts val="0"/>
              </a:spcBef>
              <a:spcAft>
                <a:spcPts val="0"/>
              </a:spcAft>
              <a:buClr>
                <a:schemeClr val="lt2"/>
              </a:buClr>
              <a:buSzPts val="1800"/>
              <a:buFont typeface="Source Sans Pro"/>
              <a:buChar char="-"/>
            </a:pPr>
            <a:r>
              <a:rPr lang="en-CA" sz="1800" dirty="0">
                <a:solidFill>
                  <a:schemeClr val="lt2"/>
                </a:solidFill>
                <a:latin typeface="Source Sans Pro"/>
                <a:ea typeface="Source Sans Pro"/>
                <a:cs typeface="Source Sans Pro"/>
                <a:sym typeface="Source Sans Pro"/>
              </a:rPr>
              <a:t>Giao </a:t>
            </a:r>
            <a:r>
              <a:rPr lang="en-CA" sz="1800" dirty="0" err="1">
                <a:solidFill>
                  <a:schemeClr val="lt2"/>
                </a:solidFill>
                <a:latin typeface="Source Sans Pro"/>
                <a:ea typeface="Source Sans Pro"/>
                <a:cs typeface="Source Sans Pro"/>
                <a:sym typeface="Source Sans Pro"/>
              </a:rPr>
              <a:t>thức</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quy</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định</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cách</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thiết</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bị</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trao</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đổi</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thông</a:t>
            </a:r>
            <a:r>
              <a:rPr lang="en-CA" sz="1800" dirty="0">
                <a:solidFill>
                  <a:schemeClr val="lt2"/>
                </a:solidFill>
                <a:latin typeface="Source Sans Pro"/>
                <a:ea typeface="Source Sans Pro"/>
                <a:cs typeface="Source Sans Pro"/>
                <a:sym typeface="Source Sans Pro"/>
              </a:rPr>
              <a:t> tin.</a:t>
            </a:r>
            <a:endParaRPr sz="1800" dirty="0">
              <a:solidFill>
                <a:schemeClr val="lt2"/>
              </a:solidFill>
              <a:latin typeface="Source Sans Pro"/>
              <a:ea typeface="Source Sans Pro"/>
              <a:cs typeface="Source Sans Pro"/>
              <a:sym typeface="Source Sans Pro"/>
            </a:endParaRPr>
          </a:p>
          <a:p>
            <a:pPr marL="0" lvl="0" indent="0" algn="l" rtl="0">
              <a:spcBef>
                <a:spcPts val="0"/>
              </a:spcBef>
              <a:spcAft>
                <a:spcPts val="0"/>
              </a:spcAft>
              <a:buNone/>
            </a:pPr>
            <a:endParaRPr sz="1800" dirty="0">
              <a:solidFill>
                <a:schemeClr val="lt2"/>
              </a:solidFill>
              <a:latin typeface="Source Sans Pro"/>
              <a:ea typeface="Source Sans Pro"/>
              <a:cs typeface="Source Sans Pro"/>
              <a:sym typeface="Source Sans Pro"/>
            </a:endParaRPr>
          </a:p>
          <a:p>
            <a:pPr marL="457200" lvl="0" indent="-342900" algn="l" rtl="0">
              <a:spcBef>
                <a:spcPts val="0"/>
              </a:spcBef>
              <a:spcAft>
                <a:spcPts val="0"/>
              </a:spcAft>
              <a:buClr>
                <a:schemeClr val="lt2"/>
              </a:buClr>
              <a:buSzPts val="1800"/>
              <a:buFont typeface="Source Sans Pro"/>
              <a:buChar char="-"/>
            </a:pPr>
            <a:r>
              <a:rPr lang="en-CA" sz="1800" dirty="0" err="1">
                <a:solidFill>
                  <a:schemeClr val="lt2"/>
                </a:solidFill>
                <a:latin typeface="Source Sans Pro"/>
                <a:ea typeface="Source Sans Pro"/>
                <a:cs typeface="Source Sans Pro"/>
                <a:sym typeface="Source Sans Pro"/>
              </a:rPr>
              <a:t>Có</a:t>
            </a:r>
            <a:r>
              <a:rPr lang="en-CA" sz="1800" dirty="0">
                <a:solidFill>
                  <a:schemeClr val="lt2"/>
                </a:solidFill>
                <a:latin typeface="Source Sans Pro"/>
                <a:ea typeface="Source Sans Pro"/>
                <a:cs typeface="Source Sans Pro"/>
                <a:sym typeface="Source Sans Pro"/>
              </a:rPr>
              <a:t> bao </a:t>
            </a:r>
            <a:r>
              <a:rPr lang="en-CA" sz="1800" dirty="0" err="1">
                <a:solidFill>
                  <a:schemeClr val="lt2"/>
                </a:solidFill>
                <a:latin typeface="Source Sans Pro"/>
                <a:ea typeface="Source Sans Pro"/>
                <a:cs typeface="Source Sans Pro"/>
                <a:sym typeface="Source Sans Pro"/>
              </a:rPr>
              <a:t>nhiêu</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giao</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thức</a:t>
            </a:r>
            <a:r>
              <a:rPr lang="en-CA" sz="1800" dirty="0">
                <a:solidFill>
                  <a:schemeClr val="lt2"/>
                </a:solidFill>
                <a:latin typeface="Source Sans Pro"/>
                <a:ea typeface="Source Sans Pro"/>
                <a:cs typeface="Source Sans Pro"/>
                <a:sym typeface="Source Sans Pro"/>
              </a:rPr>
              <a:t>?</a:t>
            </a:r>
            <a:endParaRPr sz="1800" dirty="0">
              <a:solidFill>
                <a:schemeClr val="lt2"/>
              </a:solidFill>
              <a:latin typeface="Source Sans Pro"/>
              <a:ea typeface="Source Sans Pro"/>
              <a:cs typeface="Source Sans Pro"/>
              <a:sym typeface="Source Sans Pro"/>
            </a:endParaRPr>
          </a:p>
          <a:p>
            <a:pPr marL="457200" lvl="0" indent="0" algn="l" rtl="0">
              <a:spcBef>
                <a:spcPts val="0"/>
              </a:spcBef>
              <a:spcAft>
                <a:spcPts val="0"/>
              </a:spcAft>
              <a:buNone/>
            </a:pPr>
            <a:endParaRPr sz="1800" dirty="0">
              <a:solidFill>
                <a:schemeClr val="lt2"/>
              </a:solidFill>
              <a:latin typeface="Source Sans Pro"/>
              <a:ea typeface="Source Sans Pro"/>
              <a:cs typeface="Source Sans Pro"/>
              <a:sym typeface="Source Sans Pro"/>
            </a:endParaRPr>
          </a:p>
          <a:p>
            <a:pPr marL="914400" lvl="1" indent="-342900" algn="l" rtl="0">
              <a:spcBef>
                <a:spcPts val="0"/>
              </a:spcBef>
              <a:spcAft>
                <a:spcPts val="0"/>
              </a:spcAft>
              <a:buClr>
                <a:schemeClr val="lt2"/>
              </a:buClr>
              <a:buSzPts val="1800"/>
              <a:buFont typeface="Source Sans Pro"/>
              <a:buChar char="-"/>
            </a:pPr>
            <a:r>
              <a:rPr lang="en-CA" sz="1800" dirty="0" err="1">
                <a:solidFill>
                  <a:schemeClr val="lt2"/>
                </a:solidFill>
                <a:latin typeface="Source Sans Pro"/>
                <a:ea typeface="Source Sans Pro"/>
                <a:cs typeface="Source Sans Pro"/>
                <a:sym typeface="Source Sans Pro"/>
              </a:rPr>
              <a:t>Rất</a:t>
            </a:r>
            <a:r>
              <a:rPr lang="en-CA" sz="1800" dirty="0">
                <a:solidFill>
                  <a:schemeClr val="lt2"/>
                </a:solidFill>
                <a:latin typeface="Source Sans Pro"/>
                <a:ea typeface="Source Sans Pro"/>
                <a:cs typeface="Source Sans Pro"/>
                <a:sym typeface="Source Sans Pro"/>
              </a:rPr>
              <a:t> </a:t>
            </a:r>
            <a:r>
              <a:rPr lang="en-CA" sz="1800" dirty="0" err="1">
                <a:solidFill>
                  <a:schemeClr val="lt2"/>
                </a:solidFill>
                <a:latin typeface="Source Sans Pro"/>
                <a:ea typeface="Source Sans Pro"/>
                <a:cs typeface="Source Sans Pro"/>
                <a:sym typeface="Source Sans Pro"/>
              </a:rPr>
              <a:t>nhiều</a:t>
            </a:r>
            <a:r>
              <a:rPr lang="en-CA" sz="1800">
                <a:solidFill>
                  <a:schemeClr val="lt2"/>
                </a:solidFill>
                <a:latin typeface="Source Sans Pro"/>
                <a:ea typeface="Source Sans Pro"/>
                <a:cs typeface="Source Sans Pro"/>
                <a:sym typeface="Source Sans Pro"/>
              </a:rPr>
              <a:t>… </a:t>
            </a:r>
            <a:endParaRPr sz="2100" dirty="0">
              <a:solidFill>
                <a:schemeClr val="dk2"/>
              </a:solidFill>
              <a:latin typeface="Roboto"/>
              <a:ea typeface="Roboto"/>
              <a:cs typeface="Roboto"/>
              <a:sym typeface="Roboto"/>
            </a:endParaRPr>
          </a:p>
          <a:p>
            <a:pPr marL="0" lvl="0" indent="0" algn="l" rtl="0">
              <a:spcBef>
                <a:spcPts val="0"/>
              </a:spcBef>
              <a:spcAft>
                <a:spcPts val="0"/>
              </a:spcAft>
              <a:buNone/>
            </a:pPr>
            <a:endParaRPr sz="1800" dirty="0">
              <a:solidFill>
                <a:schemeClr val="lt2"/>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2. Mô Hình Tham Chiếu OSI</a:t>
            </a:r>
            <a:endParaRPr/>
          </a:p>
        </p:txBody>
      </p:sp>
      <p:sp>
        <p:nvSpPr>
          <p:cNvPr id="70" name="Google Shape;70;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1" name="Google Shape;71;p15"/>
          <p:cNvPicPr preferRelativeResize="0"/>
          <p:nvPr/>
        </p:nvPicPr>
        <p:blipFill>
          <a:blip r:embed="rId3">
            <a:alphaModFix/>
          </a:blip>
          <a:stretch>
            <a:fillRect/>
          </a:stretch>
        </p:blipFill>
        <p:spPr>
          <a:xfrm>
            <a:off x="2758766" y="1152475"/>
            <a:ext cx="3910759" cy="3895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3. Phân Loại Các Giao Thức IoT Theo Mô Hình OSI</a:t>
            </a:r>
            <a:endParaRPr/>
          </a:p>
        </p:txBody>
      </p:sp>
      <p:graphicFrame>
        <p:nvGraphicFramePr>
          <p:cNvPr id="78" name="Google Shape;78;p16"/>
          <p:cNvGraphicFramePr/>
          <p:nvPr>
            <p:extLst>
              <p:ext uri="{D42A27DB-BD31-4B8C-83A1-F6EECF244321}">
                <p14:modId xmlns:p14="http://schemas.microsoft.com/office/powerpoint/2010/main" val="2553857220"/>
              </p:ext>
            </p:extLst>
          </p:nvPr>
        </p:nvGraphicFramePr>
        <p:xfrm>
          <a:off x="768591" y="1068425"/>
          <a:ext cx="7239000" cy="3921227"/>
        </p:xfrm>
        <a:graphic>
          <a:graphicData uri="http://schemas.openxmlformats.org/drawingml/2006/table">
            <a:tbl>
              <a:tblPr>
                <a:noFill/>
                <a:tableStyleId>{0989B71F-FDE0-4053-8CEB-07D1FD352F78}</a:tableStyleId>
              </a:tblPr>
              <a:tblGrid>
                <a:gridCol w="2684970">
                  <a:extLst>
                    <a:ext uri="{9D8B030D-6E8A-4147-A177-3AD203B41FA5}">
                      <a16:colId xmlns:a16="http://schemas.microsoft.com/office/drawing/2014/main" val="20000"/>
                    </a:ext>
                  </a:extLst>
                </a:gridCol>
                <a:gridCol w="2141030">
                  <a:extLst>
                    <a:ext uri="{9D8B030D-6E8A-4147-A177-3AD203B41FA5}">
                      <a16:colId xmlns:a16="http://schemas.microsoft.com/office/drawing/2014/main" val="4194742035"/>
                    </a:ext>
                  </a:extLst>
                </a:gridCol>
                <a:gridCol w="2413000">
                  <a:extLst>
                    <a:ext uri="{9D8B030D-6E8A-4147-A177-3AD203B41FA5}">
                      <a16:colId xmlns:a16="http://schemas.microsoft.com/office/drawing/2014/main" val="20001"/>
                    </a:ext>
                  </a:extLst>
                </a:gridCol>
              </a:tblGrid>
              <a:tr h="381000">
                <a:tc>
                  <a:txBody>
                    <a:bodyPr/>
                    <a:lstStyle/>
                    <a:p>
                      <a:pPr marL="457200" lvl="0" indent="0" algn="l" rtl="0">
                        <a:lnSpc>
                          <a:spcPct val="115000"/>
                        </a:lnSpc>
                        <a:spcBef>
                          <a:spcPts val="0"/>
                        </a:spcBef>
                        <a:spcAft>
                          <a:spcPts val="1200"/>
                        </a:spcAft>
                        <a:buNone/>
                      </a:pPr>
                      <a:r>
                        <a:rPr lang="en-CA" sz="1400" dirty="0">
                          <a:solidFill>
                            <a:schemeClr val="bg2"/>
                          </a:solidFill>
                          <a:latin typeface="Source Sans Pro"/>
                          <a:ea typeface="Source Sans Pro"/>
                          <a:cs typeface="Source Sans Pro"/>
                          <a:sym typeface="Source Sans Pro"/>
                        </a:rPr>
                        <a:t>IoT Network Protocols</a:t>
                      </a:r>
                      <a:endParaRPr sz="1400" dirty="0">
                        <a:solidFill>
                          <a:schemeClr val="bg2"/>
                        </a:solidFill>
                      </a:endParaRPr>
                    </a:p>
                  </a:txBody>
                  <a:tcPr marL="91425" marR="91425" marT="91425" marB="91425">
                    <a:solidFill>
                      <a:srgbClr val="0070C0"/>
                    </a:solidFill>
                  </a:tcPr>
                </a:tc>
                <a:tc>
                  <a:txBody>
                    <a:bodyPr/>
                    <a:lstStyle/>
                    <a:p>
                      <a:pPr marL="457200" marR="0" lvl="0" indent="0" algn="l" defTabSz="914400" rtl="0" eaLnBrk="1" fontAlgn="auto" latinLnBrk="0" hangingPunct="1">
                        <a:lnSpc>
                          <a:spcPct val="115000"/>
                        </a:lnSpc>
                        <a:spcBef>
                          <a:spcPts val="0"/>
                        </a:spcBef>
                        <a:spcAft>
                          <a:spcPts val="1200"/>
                        </a:spcAft>
                        <a:buClr>
                          <a:srgbClr val="000000"/>
                        </a:buClr>
                        <a:buSzTx/>
                        <a:buFont typeface="Arial"/>
                        <a:buNone/>
                        <a:tabLst/>
                        <a:defRPr/>
                      </a:pPr>
                      <a:r>
                        <a:rPr lang="en-CA" sz="1400" dirty="0">
                          <a:solidFill>
                            <a:schemeClr val="bg2"/>
                          </a:solidFill>
                          <a:latin typeface="Source Sans Pro"/>
                          <a:ea typeface="Source Sans Pro"/>
                          <a:cs typeface="Source Sans Pro"/>
                          <a:sym typeface="Source Sans Pro"/>
                        </a:rPr>
                        <a:t>Internet Protocols</a:t>
                      </a:r>
                      <a:endParaRPr lang="en-CA" sz="1400" dirty="0">
                        <a:solidFill>
                          <a:schemeClr val="bg2"/>
                        </a:solidFill>
                      </a:endParaRPr>
                    </a:p>
                    <a:p>
                      <a:pPr marL="457200" lvl="0" indent="0" algn="ctr" rtl="0">
                        <a:lnSpc>
                          <a:spcPct val="115000"/>
                        </a:lnSpc>
                        <a:spcBef>
                          <a:spcPts val="0"/>
                        </a:spcBef>
                        <a:spcAft>
                          <a:spcPts val="1200"/>
                        </a:spcAft>
                        <a:buNone/>
                      </a:pPr>
                      <a:endParaRPr sz="1400" dirty="0">
                        <a:solidFill>
                          <a:schemeClr val="bg2"/>
                        </a:solidFill>
                      </a:endParaRPr>
                    </a:p>
                  </a:txBody>
                  <a:tcPr marL="91425" marR="91425" marT="91425" marB="91425">
                    <a:solidFill>
                      <a:srgbClr val="0070C0"/>
                    </a:solidFill>
                  </a:tcPr>
                </a:tc>
                <a:tc>
                  <a:txBody>
                    <a:bodyPr/>
                    <a:lstStyle/>
                    <a:p>
                      <a:pPr marL="457200" lvl="0" indent="0" algn="l" rtl="0">
                        <a:lnSpc>
                          <a:spcPct val="115000"/>
                        </a:lnSpc>
                        <a:spcBef>
                          <a:spcPts val="0"/>
                        </a:spcBef>
                        <a:spcAft>
                          <a:spcPts val="1200"/>
                        </a:spcAft>
                        <a:buNone/>
                      </a:pPr>
                      <a:r>
                        <a:rPr lang="en-CA" sz="1400" dirty="0">
                          <a:solidFill>
                            <a:schemeClr val="bg2"/>
                          </a:solidFill>
                          <a:latin typeface="Source Sans Pro"/>
                          <a:ea typeface="Source Sans Pro"/>
                          <a:cs typeface="Source Sans Pro"/>
                          <a:sym typeface="Source Sans Pro"/>
                        </a:rPr>
                        <a:t>IoT Data Protocols</a:t>
                      </a:r>
                      <a:endParaRPr sz="1400" dirty="0">
                        <a:solidFill>
                          <a:schemeClr val="bg2"/>
                        </a:solidFill>
                      </a:endParaRPr>
                    </a:p>
                  </a:txBody>
                  <a:tcPr marL="91425" marR="91425" marT="91425" marB="91425">
                    <a:solidFill>
                      <a:srgbClr val="0070C0"/>
                    </a:solidFill>
                  </a:tcPr>
                </a:tc>
                <a:extLst>
                  <a:ext uri="{0D108BD9-81ED-4DB2-BD59-A6C34878D82A}">
                    <a16:rowId xmlns:a16="http://schemas.microsoft.com/office/drawing/2014/main" val="10000"/>
                  </a:ext>
                </a:extLst>
              </a:tr>
              <a:tr h="381000">
                <a:tc>
                  <a:txBody>
                    <a:bodyPr/>
                    <a:lstStyle/>
                    <a:p>
                      <a:pPr marL="914400" lvl="0" indent="0" algn="l" rtl="0">
                        <a:lnSpc>
                          <a:spcPct val="115000"/>
                        </a:lnSpc>
                        <a:spcBef>
                          <a:spcPts val="0"/>
                        </a:spcBef>
                        <a:spcAft>
                          <a:spcPts val="1200"/>
                        </a:spcAft>
                        <a:buNone/>
                      </a:pPr>
                      <a:r>
                        <a:rPr lang="en-CA" sz="1200" dirty="0">
                          <a:solidFill>
                            <a:schemeClr val="bg2"/>
                          </a:solidFill>
                          <a:latin typeface="Source Sans Pro"/>
                          <a:ea typeface="Source Sans Pro"/>
                          <a:cs typeface="Source Sans Pro"/>
                          <a:sym typeface="Source Sans Pro"/>
                        </a:rPr>
                        <a:t>Physical/Datalink Layer</a:t>
                      </a:r>
                      <a:endParaRPr sz="1200" dirty="0">
                        <a:solidFill>
                          <a:schemeClr val="bg2"/>
                        </a:solidFill>
                      </a:endParaRPr>
                    </a:p>
                  </a:txBody>
                  <a:tcPr marL="91425" marR="91425" marT="91425" marB="91425">
                    <a:solidFill>
                      <a:schemeClr val="accent1">
                        <a:lumMod val="40000"/>
                        <a:lumOff val="60000"/>
                      </a:schemeClr>
                    </a:solidFill>
                  </a:tcPr>
                </a:tc>
                <a:tc>
                  <a:txBody>
                    <a:bodyPr/>
                    <a:lstStyle/>
                    <a:p>
                      <a:pPr marL="0" marR="0" lvl="0" indent="0" algn="ctr" defTabSz="914400" rtl="0" eaLnBrk="1" fontAlgn="auto" latinLnBrk="0" hangingPunct="1">
                        <a:lnSpc>
                          <a:spcPct val="115000"/>
                        </a:lnSpc>
                        <a:spcBef>
                          <a:spcPts val="0"/>
                        </a:spcBef>
                        <a:spcAft>
                          <a:spcPts val="1200"/>
                        </a:spcAft>
                        <a:buClr>
                          <a:srgbClr val="000000"/>
                        </a:buClr>
                        <a:buSzTx/>
                        <a:buFont typeface="Arial"/>
                        <a:buNone/>
                        <a:tabLst/>
                        <a:defRPr/>
                      </a:pPr>
                      <a:r>
                        <a:rPr lang="en-CA" sz="1200" dirty="0">
                          <a:solidFill>
                            <a:schemeClr val="bg2"/>
                          </a:solidFill>
                          <a:latin typeface="Source Sans Pro"/>
                          <a:ea typeface="Source Sans Pro"/>
                          <a:cs typeface="Source Sans Pro"/>
                          <a:sym typeface="Source Sans Pro"/>
                        </a:rPr>
                        <a:t>Network/Transport</a:t>
                      </a:r>
                      <a:endParaRPr lang="en-CA" sz="1200" dirty="0">
                        <a:solidFill>
                          <a:schemeClr val="bg2"/>
                        </a:solidFill>
                      </a:endParaRPr>
                    </a:p>
                    <a:p>
                      <a:pPr marL="0" lvl="0" indent="0" algn="ctr" rtl="0">
                        <a:lnSpc>
                          <a:spcPct val="115000"/>
                        </a:lnSpc>
                        <a:spcBef>
                          <a:spcPts val="0"/>
                        </a:spcBef>
                        <a:spcAft>
                          <a:spcPts val="1200"/>
                        </a:spcAft>
                        <a:buNone/>
                      </a:pPr>
                      <a:endParaRPr sz="1200" dirty="0">
                        <a:solidFill>
                          <a:schemeClr val="bg2"/>
                        </a:solidFill>
                      </a:endParaRPr>
                    </a:p>
                  </a:txBody>
                  <a:tcPr marL="91425" marR="91425" marT="91425" marB="91425">
                    <a:solidFill>
                      <a:schemeClr val="accent1">
                        <a:lumMod val="40000"/>
                        <a:lumOff val="60000"/>
                      </a:schemeClr>
                    </a:solidFill>
                  </a:tcPr>
                </a:tc>
                <a:tc>
                  <a:txBody>
                    <a:bodyPr/>
                    <a:lstStyle/>
                    <a:p>
                      <a:pPr marL="0" lvl="0" indent="0" algn="ctr" rtl="0">
                        <a:lnSpc>
                          <a:spcPct val="115000"/>
                        </a:lnSpc>
                        <a:spcBef>
                          <a:spcPts val="0"/>
                        </a:spcBef>
                        <a:spcAft>
                          <a:spcPts val="1200"/>
                        </a:spcAft>
                        <a:buNone/>
                      </a:pPr>
                      <a:r>
                        <a:rPr lang="en-CA" sz="1200" dirty="0">
                          <a:solidFill>
                            <a:schemeClr val="bg2"/>
                          </a:solidFill>
                          <a:latin typeface="Source Sans Pro"/>
                          <a:ea typeface="Source Sans Pro"/>
                          <a:cs typeface="Source Sans Pro"/>
                          <a:sym typeface="Source Sans Pro"/>
                        </a:rPr>
                        <a:t>Session/Presentation</a:t>
                      </a:r>
                    </a:p>
                    <a:p>
                      <a:pPr marL="0" lvl="0" indent="0" algn="ctr" rtl="0">
                        <a:lnSpc>
                          <a:spcPct val="115000"/>
                        </a:lnSpc>
                        <a:spcBef>
                          <a:spcPts val="0"/>
                        </a:spcBef>
                        <a:spcAft>
                          <a:spcPts val="1200"/>
                        </a:spcAft>
                        <a:buNone/>
                      </a:pPr>
                      <a:r>
                        <a:rPr lang="en-CA" sz="1200" dirty="0">
                          <a:solidFill>
                            <a:schemeClr val="bg2"/>
                          </a:solidFill>
                          <a:latin typeface="Source Sans Pro"/>
                          <a:ea typeface="Source Sans Pro"/>
                          <a:cs typeface="Source Sans Pro"/>
                          <a:sym typeface="Source Sans Pro"/>
                        </a:rPr>
                        <a:t>Application Layer</a:t>
                      </a:r>
                      <a:endParaRPr sz="1200" dirty="0">
                        <a:solidFill>
                          <a:schemeClr val="bg2"/>
                        </a:solidFill>
                      </a:endParaRPr>
                    </a:p>
                  </a:txBody>
                  <a:tcPr marL="91425" marR="91425" marT="91425" marB="91425">
                    <a:solidFill>
                      <a:schemeClr val="accent1">
                        <a:lumMod val="40000"/>
                        <a:lumOff val="60000"/>
                      </a:schemeClr>
                    </a:solidFill>
                  </a:tcPr>
                </a:tc>
                <a:extLst>
                  <a:ext uri="{0D108BD9-81ED-4DB2-BD59-A6C34878D82A}">
                    <a16:rowId xmlns:a16="http://schemas.microsoft.com/office/drawing/2014/main" val="10001"/>
                  </a:ext>
                </a:extLst>
              </a:tr>
              <a:tr h="0">
                <a:tc>
                  <a:txBody>
                    <a:bodyPr/>
                    <a:lstStyle/>
                    <a:p>
                      <a:pPr marL="914400" lvl="0" indent="0" algn="l" rtl="0">
                        <a:lnSpc>
                          <a:spcPct val="115000"/>
                        </a:lnSpc>
                        <a:spcBef>
                          <a:spcPts val="0"/>
                        </a:spcBef>
                        <a:spcAft>
                          <a:spcPts val="0"/>
                        </a:spcAft>
                        <a:buClr>
                          <a:schemeClr val="dk2"/>
                        </a:buClr>
                        <a:buSzPts val="1100"/>
                        <a:buFont typeface="Arial"/>
                        <a:buNone/>
                      </a:pPr>
                      <a:r>
                        <a:rPr lang="en-CA" sz="1050" dirty="0" err="1">
                          <a:solidFill>
                            <a:schemeClr val="bg2"/>
                          </a:solidFill>
                          <a:latin typeface="Source Sans Pro"/>
                          <a:ea typeface="Source Sans Pro"/>
                          <a:cs typeface="Source Sans Pro"/>
                          <a:sym typeface="Source Sans Pro"/>
                        </a:rPr>
                        <a:t>BlueTooth</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Ethernet</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Clr>
                          <a:schemeClr val="dk2"/>
                        </a:buClr>
                        <a:buSzPts val="1100"/>
                        <a:buFont typeface="Arial"/>
                        <a:buNone/>
                      </a:pPr>
                      <a:r>
                        <a:rPr lang="en-CA" sz="1050" dirty="0" err="1">
                          <a:solidFill>
                            <a:schemeClr val="bg2"/>
                          </a:solidFill>
                          <a:latin typeface="Source Sans Pro"/>
                          <a:ea typeface="Source Sans Pro"/>
                          <a:cs typeface="Source Sans Pro"/>
                          <a:sym typeface="Source Sans Pro"/>
                        </a:rPr>
                        <a:t>Wifi</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Zigbee</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Thread</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Cellular (4G/5G)</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120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LoRa - </a:t>
                      </a:r>
                      <a:r>
                        <a:rPr lang="en-CA" sz="1050" dirty="0" err="1">
                          <a:solidFill>
                            <a:schemeClr val="bg2"/>
                          </a:solidFill>
                          <a:latin typeface="Source Sans Pro"/>
                          <a:ea typeface="Source Sans Pro"/>
                          <a:cs typeface="Source Sans Pro"/>
                          <a:sym typeface="Source Sans Pro"/>
                        </a:rPr>
                        <a:t>LoRaWAN</a:t>
                      </a:r>
                      <a:endParaRPr sz="1050" dirty="0">
                        <a:solidFill>
                          <a:schemeClr val="bg2"/>
                        </a:solidFill>
                        <a:latin typeface="Source Sans Pro"/>
                        <a:ea typeface="Source Sans Pro"/>
                        <a:cs typeface="Source Sans Pro"/>
                        <a:sym typeface="Source Sans Pro"/>
                      </a:endParaRPr>
                    </a:p>
                  </a:txBody>
                  <a:tcPr marL="91425" marR="91425" marT="91425" marB="91425"/>
                </a:tc>
                <a:tc>
                  <a:txBody>
                    <a:bodyPr/>
                    <a:lstStyle/>
                    <a:p>
                      <a:pPr marL="914400" lvl="0" indent="0" algn="l" rtl="0">
                        <a:lnSpc>
                          <a:spcPct val="115000"/>
                        </a:lnSpc>
                        <a:spcBef>
                          <a:spcPts val="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IP</a:t>
                      </a:r>
                    </a:p>
                    <a:p>
                      <a:pPr marL="914400" lvl="0" indent="0" algn="l" rtl="0">
                        <a:lnSpc>
                          <a:spcPct val="115000"/>
                        </a:lnSpc>
                        <a:spcBef>
                          <a:spcPts val="1200"/>
                        </a:spcBef>
                        <a:spcAft>
                          <a:spcPts val="0"/>
                        </a:spcAft>
                        <a:buClr>
                          <a:schemeClr val="dk2"/>
                        </a:buClr>
                        <a:buSzPts val="1100"/>
                        <a:buFont typeface="Arial"/>
                        <a:buNone/>
                      </a:pPr>
                      <a:r>
                        <a:rPr lang="en-CA" sz="1050" dirty="0">
                          <a:solidFill>
                            <a:schemeClr val="bg2"/>
                          </a:solidFill>
                          <a:latin typeface="Source Sans Pro"/>
                          <a:ea typeface="Source Sans Pro"/>
                          <a:cs typeface="Source Sans Pro"/>
                          <a:sym typeface="Source Sans Pro"/>
                        </a:rPr>
                        <a:t>TCP/UPD</a:t>
                      </a:r>
                    </a:p>
                  </a:txBody>
                  <a:tcPr marL="91425" marR="91425" marT="91425" marB="91425"/>
                </a:tc>
                <a:tc>
                  <a:txBody>
                    <a:bodyPr/>
                    <a:lstStyle/>
                    <a:p>
                      <a:pPr marL="914400" lvl="0" indent="0" algn="l" rtl="0">
                        <a:lnSpc>
                          <a:spcPct val="115000"/>
                        </a:lnSpc>
                        <a:spcBef>
                          <a:spcPts val="0"/>
                        </a:spcBef>
                        <a:spcAft>
                          <a:spcPts val="0"/>
                        </a:spcAft>
                        <a:buNone/>
                      </a:pPr>
                      <a:r>
                        <a:rPr lang="en-CA" sz="1050" dirty="0">
                          <a:solidFill>
                            <a:schemeClr val="bg2"/>
                          </a:solidFill>
                          <a:latin typeface="Source Sans Pro"/>
                          <a:ea typeface="Source Sans Pro"/>
                          <a:cs typeface="Source Sans Pro"/>
                          <a:sym typeface="Source Sans Pro"/>
                        </a:rPr>
                        <a:t>XMPP</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None/>
                      </a:pPr>
                      <a:r>
                        <a:rPr lang="en-CA" sz="1050" dirty="0">
                          <a:solidFill>
                            <a:schemeClr val="bg2"/>
                          </a:solidFill>
                          <a:latin typeface="Source Sans Pro"/>
                          <a:ea typeface="Source Sans Pro"/>
                          <a:cs typeface="Source Sans Pro"/>
                          <a:sym typeface="Source Sans Pro"/>
                        </a:rPr>
                        <a:t>MQTT</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None/>
                      </a:pPr>
                      <a:r>
                        <a:rPr lang="en-CA" sz="1050" dirty="0">
                          <a:solidFill>
                            <a:schemeClr val="bg2"/>
                          </a:solidFill>
                          <a:latin typeface="Source Sans Pro"/>
                          <a:ea typeface="Source Sans Pro"/>
                          <a:cs typeface="Source Sans Pro"/>
                          <a:sym typeface="Source Sans Pro"/>
                        </a:rPr>
                        <a:t>CoAP</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None/>
                      </a:pPr>
                      <a:r>
                        <a:rPr lang="en-CA" sz="1050" dirty="0">
                          <a:solidFill>
                            <a:schemeClr val="bg2"/>
                          </a:solidFill>
                          <a:latin typeface="Source Sans Pro"/>
                          <a:ea typeface="Source Sans Pro"/>
                          <a:cs typeface="Source Sans Pro"/>
                          <a:sym typeface="Source Sans Pro"/>
                        </a:rPr>
                        <a:t>SOAP</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0"/>
                        </a:spcAft>
                        <a:buNone/>
                      </a:pPr>
                      <a:r>
                        <a:rPr lang="en-CA" sz="1050" dirty="0">
                          <a:solidFill>
                            <a:schemeClr val="bg2"/>
                          </a:solidFill>
                          <a:latin typeface="Source Sans Pro"/>
                          <a:ea typeface="Source Sans Pro"/>
                          <a:cs typeface="Source Sans Pro"/>
                          <a:sym typeface="Source Sans Pro"/>
                        </a:rPr>
                        <a:t>HTTP</a:t>
                      </a:r>
                      <a:endParaRPr sz="1050" dirty="0">
                        <a:solidFill>
                          <a:schemeClr val="bg2"/>
                        </a:solidFill>
                        <a:latin typeface="Source Sans Pro"/>
                        <a:ea typeface="Source Sans Pro"/>
                        <a:cs typeface="Source Sans Pro"/>
                        <a:sym typeface="Source Sans Pro"/>
                      </a:endParaRPr>
                    </a:p>
                    <a:p>
                      <a:pPr marL="914400" lvl="0" indent="0" algn="l" rtl="0">
                        <a:lnSpc>
                          <a:spcPct val="115000"/>
                        </a:lnSpc>
                        <a:spcBef>
                          <a:spcPts val="1200"/>
                        </a:spcBef>
                        <a:spcAft>
                          <a:spcPts val="1200"/>
                        </a:spcAft>
                        <a:buNone/>
                      </a:pPr>
                      <a:r>
                        <a:rPr lang="en-CA" sz="1050" dirty="0">
                          <a:solidFill>
                            <a:schemeClr val="bg2"/>
                          </a:solidFill>
                          <a:latin typeface="Source Sans Pro"/>
                          <a:ea typeface="Source Sans Pro"/>
                          <a:cs typeface="Source Sans Pro"/>
                          <a:sym typeface="Source Sans Pro"/>
                        </a:rPr>
                        <a:t>WebSocket</a:t>
                      </a:r>
                      <a:endParaRPr sz="1050" dirty="0">
                        <a:solidFill>
                          <a:schemeClr val="bg2"/>
                        </a:solidFill>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 Các Giao Thức Truyền Dẫn</a:t>
            </a:r>
            <a:endParaRPr/>
          </a:p>
        </p:txBody>
      </p:sp>
      <p:sp>
        <p:nvSpPr>
          <p:cNvPr id="84" name="Google Shape;8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90" name="Google Shape;90;p18"/>
          <p:cNvSpPr txBox="1">
            <a:spLocks noGrp="1"/>
          </p:cNvSpPr>
          <p:nvPr>
            <p:ph type="body" idx="1"/>
          </p:nvPr>
        </p:nvSpPr>
        <p:spPr>
          <a:xfrm>
            <a:off x="311700" y="1152475"/>
            <a:ext cx="8520600" cy="1194000"/>
          </a:xfrm>
          <a:prstGeom prst="rect">
            <a:avLst/>
          </a:prstGeom>
        </p:spPr>
        <p:txBody>
          <a:bodyPr spcFirstLastPara="1" wrap="square" lIns="91425" tIns="91425" rIns="91425" bIns="91425" anchor="t" anchorCtr="0">
            <a:normAutofit fontScale="92500" lnSpcReduction="10000"/>
          </a:bodyPr>
          <a:lstStyle/>
          <a:p>
            <a:pPr marL="457200" lvl="0" indent="0" algn="just" rtl="0">
              <a:spcBef>
                <a:spcPts val="0"/>
              </a:spcBef>
              <a:spcAft>
                <a:spcPts val="1200"/>
              </a:spcAft>
              <a:buNone/>
            </a:pPr>
            <a:r>
              <a:rPr lang="en-CA" dirty="0"/>
              <a:t>“</a:t>
            </a:r>
            <a:r>
              <a:rPr lang="en-CA" i="1" dirty="0">
                <a:solidFill>
                  <a:srgbClr val="2E364E"/>
                </a:solidFill>
                <a:highlight>
                  <a:srgbClr val="FFFFFF"/>
                </a:highlight>
              </a:rPr>
              <a:t>Bluetooth is an open wireless technology standard for transmitting fixed and mobile electronic device data over short distances. Bluetooth was introduced in 1994 as a wireless substitute for RS-232 cables.</a:t>
            </a:r>
            <a:r>
              <a:rPr lang="en-CA" dirty="0"/>
              <a:t>”</a:t>
            </a:r>
            <a:endParaRPr dirty="0"/>
          </a:p>
        </p:txBody>
      </p:sp>
      <p:sp>
        <p:nvSpPr>
          <p:cNvPr id="91" name="Google Shape;91;p18"/>
          <p:cNvSpPr txBox="1"/>
          <p:nvPr/>
        </p:nvSpPr>
        <p:spPr>
          <a:xfrm>
            <a:off x="3877050" y="2214350"/>
            <a:ext cx="5003700" cy="55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a:solidFill>
                  <a:schemeClr val="lt2"/>
                </a:solidFill>
                <a:latin typeface="Source Sans Pro"/>
                <a:ea typeface="Source Sans Pro"/>
                <a:cs typeface="Source Sans Pro"/>
                <a:sym typeface="Source Sans Pro"/>
              </a:rPr>
              <a:t>[*]https://www.techopedia.com/definition/26198/bluetooth</a:t>
            </a:r>
            <a:endParaRPr>
              <a:solidFill>
                <a:schemeClr val="lt2"/>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97" name="Google Shape;97;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2"/>
              </a:buClr>
              <a:buSzPts val="1800"/>
              <a:buChar char="-"/>
            </a:pPr>
            <a:r>
              <a:rPr lang="en-CA" b="1" dirty="0" err="1">
                <a:solidFill>
                  <a:schemeClr val="dk2"/>
                </a:solidFill>
              </a:rPr>
              <a:t>Một</a:t>
            </a:r>
            <a:r>
              <a:rPr lang="en-CA" b="1" dirty="0">
                <a:solidFill>
                  <a:schemeClr val="dk2"/>
                </a:solidFill>
              </a:rPr>
              <a:t> </a:t>
            </a:r>
            <a:r>
              <a:rPr lang="en-CA" b="1" dirty="0" err="1">
                <a:solidFill>
                  <a:schemeClr val="dk2"/>
                </a:solidFill>
              </a:rPr>
              <a:t>số</a:t>
            </a:r>
            <a:r>
              <a:rPr lang="en-CA" b="1" dirty="0">
                <a:solidFill>
                  <a:schemeClr val="dk2"/>
                </a:solidFill>
              </a:rPr>
              <a:t> </a:t>
            </a:r>
            <a:r>
              <a:rPr lang="en-CA" b="1" dirty="0" err="1">
                <a:solidFill>
                  <a:schemeClr val="dk2"/>
                </a:solidFill>
              </a:rPr>
              <a:t>đặc</a:t>
            </a:r>
            <a:r>
              <a:rPr lang="en-CA" b="1" dirty="0">
                <a:solidFill>
                  <a:schemeClr val="dk2"/>
                </a:solidFill>
              </a:rPr>
              <a:t> </a:t>
            </a:r>
            <a:r>
              <a:rPr lang="en-CA" b="1" dirty="0" err="1">
                <a:solidFill>
                  <a:schemeClr val="dk2"/>
                </a:solidFill>
              </a:rPr>
              <a:t>điểm</a:t>
            </a:r>
            <a:r>
              <a:rPr lang="en-CA" b="1" dirty="0">
                <a:solidFill>
                  <a:schemeClr val="dk2"/>
                </a:solidFill>
              </a:rPr>
              <a:t> </a:t>
            </a:r>
            <a:r>
              <a:rPr lang="en-CA" b="1" dirty="0" err="1">
                <a:solidFill>
                  <a:schemeClr val="dk2"/>
                </a:solidFill>
              </a:rPr>
              <a:t>chính</a:t>
            </a:r>
            <a:r>
              <a:rPr lang="en-CA" b="1" dirty="0">
                <a:solidFill>
                  <a:schemeClr val="dk2"/>
                </a:solidFill>
              </a:rPr>
              <a:t> </a:t>
            </a:r>
            <a:r>
              <a:rPr lang="en-CA" b="1" dirty="0" err="1">
                <a:solidFill>
                  <a:schemeClr val="dk2"/>
                </a:solidFill>
              </a:rPr>
              <a:t>của</a:t>
            </a:r>
            <a:r>
              <a:rPr lang="en-CA" b="1" dirty="0">
                <a:solidFill>
                  <a:schemeClr val="dk2"/>
                </a:solidFill>
              </a:rPr>
              <a:t> </a:t>
            </a:r>
            <a:r>
              <a:rPr lang="en-CA" b="1" dirty="0" err="1">
                <a:solidFill>
                  <a:schemeClr val="dk2"/>
                </a:solidFill>
              </a:rPr>
              <a:t>BlueTooth</a:t>
            </a:r>
            <a:r>
              <a:rPr lang="en-CA" b="1" dirty="0">
                <a:solidFill>
                  <a:schemeClr val="dk2"/>
                </a:solidFill>
              </a:rPr>
              <a:t>:</a:t>
            </a:r>
            <a:endParaRPr b="1" dirty="0">
              <a:solidFill>
                <a:schemeClr val="dk2"/>
              </a:solidFill>
            </a:endParaRPr>
          </a:p>
          <a:p>
            <a:pPr marL="914400" lvl="1" indent="-330200" algn="l" rtl="0">
              <a:spcBef>
                <a:spcPts val="0"/>
              </a:spcBef>
              <a:spcAft>
                <a:spcPts val="0"/>
              </a:spcAft>
              <a:buSzPts val="1600"/>
              <a:buChar char="-"/>
            </a:pPr>
            <a:r>
              <a:rPr lang="en-CA" sz="1600" dirty="0" err="1"/>
              <a:t>Băng</a:t>
            </a:r>
            <a:r>
              <a:rPr lang="en-CA" sz="1600" dirty="0"/>
              <a:t> </a:t>
            </a:r>
            <a:r>
              <a:rPr lang="en-CA" sz="1600" dirty="0" err="1"/>
              <a:t>tần</a:t>
            </a:r>
            <a:r>
              <a:rPr lang="en-CA" sz="1600" dirty="0"/>
              <a:t>: 2.4GHz</a:t>
            </a:r>
            <a:endParaRPr sz="1600" dirty="0"/>
          </a:p>
          <a:p>
            <a:pPr marL="914400" lvl="1" indent="-330200" algn="l" rtl="0">
              <a:spcBef>
                <a:spcPts val="0"/>
              </a:spcBef>
              <a:spcAft>
                <a:spcPts val="0"/>
              </a:spcAft>
              <a:buSzPts val="1600"/>
              <a:buChar char="-"/>
            </a:pPr>
            <a:r>
              <a:rPr lang="en-CA" sz="1600" dirty="0" err="1"/>
              <a:t>Tốc</a:t>
            </a:r>
            <a:r>
              <a:rPr lang="en-CA" sz="1600" dirty="0"/>
              <a:t> </a:t>
            </a:r>
            <a:r>
              <a:rPr lang="en-CA" sz="1600" dirty="0" err="1"/>
              <a:t>độ</a:t>
            </a:r>
            <a:r>
              <a:rPr lang="en-CA" sz="1600" dirty="0"/>
              <a:t> </a:t>
            </a:r>
            <a:r>
              <a:rPr lang="en-CA" sz="1600" dirty="0" err="1"/>
              <a:t>truyền</a:t>
            </a:r>
            <a:r>
              <a:rPr lang="en-CA" sz="1600" dirty="0"/>
              <a:t> </a:t>
            </a:r>
            <a:r>
              <a:rPr lang="en-CA" sz="1600" dirty="0" err="1"/>
              <a:t>dữ</a:t>
            </a:r>
            <a:r>
              <a:rPr lang="en-CA" sz="1600" dirty="0"/>
              <a:t> </a:t>
            </a:r>
            <a:r>
              <a:rPr lang="en-CA" sz="1600" dirty="0" err="1"/>
              <a:t>liệu</a:t>
            </a:r>
            <a:r>
              <a:rPr lang="en-CA" sz="1600" dirty="0"/>
              <a:t>: 2.1 Mbps </a:t>
            </a:r>
            <a:r>
              <a:rPr lang="en-CA" sz="1600" dirty="0" err="1"/>
              <a:t>hoặc</a:t>
            </a:r>
            <a:r>
              <a:rPr lang="en-CA" sz="1600" dirty="0"/>
              <a:t> 1 Mbps (Bluetooth Low-Energy)</a:t>
            </a:r>
            <a:endParaRPr sz="1600" dirty="0"/>
          </a:p>
          <a:p>
            <a:pPr marL="914400" lvl="1" indent="-330200" algn="l" rtl="0">
              <a:spcBef>
                <a:spcPts val="0"/>
              </a:spcBef>
              <a:spcAft>
                <a:spcPts val="0"/>
              </a:spcAft>
              <a:buSzPts val="1600"/>
              <a:buChar char="-"/>
            </a:pPr>
            <a:r>
              <a:rPr lang="en-CA" sz="1600" dirty="0" err="1"/>
              <a:t>Khoảng</a:t>
            </a:r>
            <a:r>
              <a:rPr lang="en-CA" sz="1600" dirty="0"/>
              <a:t> </a:t>
            </a:r>
            <a:r>
              <a:rPr lang="en-CA" sz="1600" dirty="0" err="1"/>
              <a:t>cách</a:t>
            </a:r>
            <a:r>
              <a:rPr lang="en-CA" sz="1600" dirty="0"/>
              <a:t> </a:t>
            </a:r>
            <a:r>
              <a:rPr lang="en-CA" sz="1600" dirty="0" err="1"/>
              <a:t>ngắn</a:t>
            </a:r>
            <a:r>
              <a:rPr lang="en-CA" sz="1600" dirty="0"/>
              <a:t> (</a:t>
            </a:r>
            <a:r>
              <a:rPr lang="en-CA" sz="1600" dirty="0" err="1"/>
              <a:t>tối</a:t>
            </a:r>
            <a:r>
              <a:rPr lang="en-CA" sz="1600" dirty="0"/>
              <a:t> </a:t>
            </a:r>
            <a:r>
              <a:rPr lang="en-CA" sz="1600" dirty="0" err="1"/>
              <a:t>đa</a:t>
            </a:r>
            <a:r>
              <a:rPr lang="en-CA" sz="1600" dirty="0"/>
              <a:t> 100m </a:t>
            </a:r>
            <a:r>
              <a:rPr lang="en-CA" sz="1600" dirty="0" err="1"/>
              <a:t>trong</a:t>
            </a:r>
            <a:r>
              <a:rPr lang="en-CA" sz="1600" dirty="0"/>
              <a:t> </a:t>
            </a:r>
            <a:r>
              <a:rPr lang="en-CA" sz="1600" dirty="0" err="1"/>
              <a:t>điều</a:t>
            </a:r>
            <a:r>
              <a:rPr lang="en-CA" sz="1600" dirty="0"/>
              <a:t> </a:t>
            </a:r>
            <a:r>
              <a:rPr lang="en-CA" sz="1600" dirty="0" err="1"/>
              <a:t>kiện</a:t>
            </a:r>
            <a:r>
              <a:rPr lang="en-CA" sz="1600" dirty="0"/>
              <a:t> </a:t>
            </a:r>
            <a:r>
              <a:rPr lang="en-CA" sz="1600" dirty="0" err="1"/>
              <a:t>lý</a:t>
            </a:r>
            <a:r>
              <a:rPr lang="en-CA" sz="1600" dirty="0"/>
              <a:t> </a:t>
            </a:r>
            <a:r>
              <a:rPr lang="en-CA" sz="1600" dirty="0" err="1"/>
              <a:t>tưởng</a:t>
            </a:r>
            <a:r>
              <a:rPr lang="en-CA" sz="1600" dirty="0"/>
              <a:t> ???).</a:t>
            </a:r>
            <a:endParaRPr sz="1600" dirty="0"/>
          </a:p>
          <a:p>
            <a:pPr marL="914400" lvl="1" indent="-330200" algn="l" rtl="0">
              <a:spcBef>
                <a:spcPts val="0"/>
              </a:spcBef>
              <a:spcAft>
                <a:spcPts val="0"/>
              </a:spcAft>
              <a:buSzPts val="1600"/>
              <a:buChar char="-"/>
            </a:pPr>
            <a:r>
              <a:rPr lang="en-CA" sz="1600" dirty="0" err="1"/>
              <a:t>Tiêu</a:t>
            </a:r>
            <a:r>
              <a:rPr lang="en-CA" sz="1600" dirty="0"/>
              <a:t> </a:t>
            </a:r>
            <a:r>
              <a:rPr lang="en-CA" sz="1600" dirty="0" err="1"/>
              <a:t>thụ</a:t>
            </a:r>
            <a:r>
              <a:rPr lang="en-CA" sz="1600" dirty="0"/>
              <a:t> </a:t>
            </a:r>
            <a:r>
              <a:rPr lang="en-CA" sz="1600" dirty="0" err="1"/>
              <a:t>năng</a:t>
            </a:r>
            <a:r>
              <a:rPr lang="en-CA" sz="1600" dirty="0"/>
              <a:t> </a:t>
            </a:r>
            <a:r>
              <a:rPr lang="en-CA" sz="1600" dirty="0" err="1"/>
              <a:t>lượng</a:t>
            </a:r>
            <a:r>
              <a:rPr lang="en-CA" sz="1600" dirty="0"/>
              <a:t> </a:t>
            </a:r>
            <a:r>
              <a:rPr lang="en-CA" sz="1600" dirty="0" err="1"/>
              <a:t>thấp</a:t>
            </a:r>
            <a:endParaRPr sz="1600" dirty="0"/>
          </a:p>
          <a:p>
            <a:pPr marL="914400" lvl="1" indent="-330200" algn="l" rtl="0">
              <a:spcBef>
                <a:spcPts val="0"/>
              </a:spcBef>
              <a:spcAft>
                <a:spcPts val="0"/>
              </a:spcAft>
              <a:buSzPts val="1600"/>
              <a:buChar char="-"/>
            </a:pPr>
            <a:r>
              <a:rPr lang="en-CA" sz="1600" dirty="0" err="1"/>
              <a:t>Giá</a:t>
            </a:r>
            <a:r>
              <a:rPr lang="en-CA" sz="1600" dirty="0"/>
              <a:t> </a:t>
            </a:r>
            <a:r>
              <a:rPr lang="en-CA" sz="1600" dirty="0" err="1"/>
              <a:t>thành</a:t>
            </a:r>
            <a:r>
              <a:rPr lang="en-CA" sz="1600" dirty="0"/>
              <a:t> </a:t>
            </a:r>
            <a:r>
              <a:rPr lang="en-CA" sz="1600" dirty="0" err="1"/>
              <a:t>rẻ</a:t>
            </a:r>
            <a:endParaRPr sz="1600" dirty="0"/>
          </a:p>
          <a:p>
            <a:pPr marL="914400" lvl="1" indent="-330200" algn="l" rtl="0">
              <a:spcBef>
                <a:spcPts val="0"/>
              </a:spcBef>
              <a:spcAft>
                <a:spcPts val="0"/>
              </a:spcAft>
              <a:buSzPts val="1600"/>
              <a:buChar char="-"/>
            </a:pPr>
            <a:r>
              <a:rPr lang="en-CA" sz="1600" dirty="0" err="1"/>
              <a:t>Được</a:t>
            </a:r>
            <a:r>
              <a:rPr lang="en-CA" sz="1600" dirty="0"/>
              <a:t> </a:t>
            </a:r>
            <a:r>
              <a:rPr lang="en-CA" sz="1600" dirty="0" err="1"/>
              <a:t>ứng</a:t>
            </a:r>
            <a:r>
              <a:rPr lang="en-CA" sz="1600" dirty="0"/>
              <a:t> </a:t>
            </a:r>
            <a:r>
              <a:rPr lang="en-CA" sz="1600" dirty="0" err="1"/>
              <a:t>dụng</a:t>
            </a:r>
            <a:r>
              <a:rPr lang="en-CA" sz="1600" dirty="0"/>
              <a:t> </a:t>
            </a:r>
            <a:r>
              <a:rPr lang="en-CA" sz="1600" dirty="0" err="1"/>
              <a:t>rộng</a:t>
            </a:r>
            <a:r>
              <a:rPr lang="en-CA" sz="1600" dirty="0"/>
              <a:t> </a:t>
            </a:r>
            <a:r>
              <a:rPr lang="en-CA" sz="1600" dirty="0" err="1"/>
              <a:t>rãi</a:t>
            </a:r>
            <a:r>
              <a:rPr lang="en-CA" sz="1600" dirty="0"/>
              <a:t> </a:t>
            </a:r>
            <a:r>
              <a:rPr lang="en-CA" sz="1600" dirty="0" err="1"/>
              <a:t>trong</a:t>
            </a:r>
            <a:r>
              <a:rPr lang="en-CA" sz="1600" dirty="0"/>
              <a:t> </a:t>
            </a:r>
            <a:r>
              <a:rPr lang="en-CA" sz="1600" dirty="0" err="1"/>
              <a:t>nhiều</a:t>
            </a:r>
            <a:r>
              <a:rPr lang="en-CA" sz="1600" dirty="0"/>
              <a:t> </a:t>
            </a:r>
            <a:r>
              <a:rPr lang="en-CA" sz="1600" dirty="0" err="1"/>
              <a:t>thiết</a:t>
            </a:r>
            <a:r>
              <a:rPr lang="en-CA" sz="1600" dirty="0"/>
              <a:t> </a:t>
            </a:r>
            <a:r>
              <a:rPr lang="en-CA" sz="1600" dirty="0" err="1"/>
              <a:t>bị</a:t>
            </a:r>
            <a:r>
              <a:rPr lang="en-CA" sz="1600" dirty="0"/>
              <a:t> </a:t>
            </a:r>
            <a:r>
              <a:rPr lang="en-CA" sz="1600" dirty="0" err="1"/>
              <a:t>điện</a:t>
            </a:r>
            <a:r>
              <a:rPr lang="en-CA" sz="1600" dirty="0"/>
              <a:t> </a:t>
            </a:r>
            <a:r>
              <a:rPr lang="en-CA" sz="1600" dirty="0" err="1"/>
              <a:t>tử</a:t>
            </a:r>
            <a:r>
              <a:rPr lang="en-CA" sz="1600" dirty="0"/>
              <a:t> </a:t>
            </a:r>
            <a:r>
              <a:rPr lang="en-CA" sz="1600" dirty="0" err="1"/>
              <a:t>ngày</a:t>
            </a:r>
            <a:r>
              <a:rPr lang="en-CA" sz="1600" dirty="0"/>
              <a:t> nay.</a:t>
            </a:r>
            <a:endParaRPr sz="1600" dirty="0"/>
          </a:p>
          <a:p>
            <a:pPr marL="914400" lvl="1" indent="-330200" algn="l" rtl="0">
              <a:spcBef>
                <a:spcPts val="0"/>
              </a:spcBef>
              <a:spcAft>
                <a:spcPts val="0"/>
              </a:spcAft>
              <a:buSzPts val="1600"/>
              <a:buChar char="-"/>
            </a:pPr>
            <a:r>
              <a:rPr lang="en-CA" sz="1600" dirty="0"/>
              <a:t>An </a:t>
            </a:r>
            <a:r>
              <a:rPr lang="en-CA" sz="1600" dirty="0" err="1"/>
              <a:t>toàn</a:t>
            </a:r>
            <a:r>
              <a:rPr lang="en-CA" sz="1600" dirty="0"/>
              <a:t> </a:t>
            </a:r>
            <a:r>
              <a:rPr lang="en-CA" sz="1600" dirty="0" err="1"/>
              <a:t>và</a:t>
            </a:r>
            <a:r>
              <a:rPr lang="en-CA" sz="1600" dirty="0"/>
              <a:t> </a:t>
            </a:r>
            <a:r>
              <a:rPr lang="en-CA" sz="1600" dirty="0" err="1"/>
              <a:t>bảo</a:t>
            </a:r>
            <a:r>
              <a:rPr lang="en-CA" sz="1600" dirty="0"/>
              <a:t> </a:t>
            </a:r>
            <a:r>
              <a:rPr lang="en-CA" sz="1600" dirty="0" err="1"/>
              <a:t>mật</a:t>
            </a:r>
            <a:r>
              <a:rPr lang="en-CA" sz="1600" dirty="0"/>
              <a:t> </a:t>
            </a:r>
            <a:r>
              <a:rPr lang="en-CA" sz="1600" dirty="0" err="1"/>
              <a:t>cao</a:t>
            </a:r>
            <a:r>
              <a:rPr lang="en-CA" sz="1600" dirty="0"/>
              <a:t>.</a:t>
            </a:r>
            <a:endParaRPr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103" name="Google Shape;103;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2"/>
              </a:buClr>
              <a:buSzPts val="1800"/>
              <a:buChar char="-"/>
            </a:pPr>
            <a:r>
              <a:rPr lang="en-CA" b="1">
                <a:solidFill>
                  <a:schemeClr val="dk2"/>
                </a:solidFill>
              </a:rPr>
              <a:t>Kiến Trúc Mạng BlueTooth</a:t>
            </a:r>
            <a:endParaRPr b="1">
              <a:solidFill>
                <a:schemeClr val="dk2"/>
              </a:solidFill>
            </a:endParaRPr>
          </a:p>
        </p:txBody>
      </p:sp>
      <p:sp>
        <p:nvSpPr>
          <p:cNvPr id="104" name="Google Shape;104;p20"/>
          <p:cNvSpPr/>
          <p:nvPr/>
        </p:nvSpPr>
        <p:spPr>
          <a:xfrm>
            <a:off x="877975" y="2159950"/>
            <a:ext cx="2121000" cy="11733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05" name="Google Shape;105;p20"/>
          <p:cNvSpPr/>
          <p:nvPr/>
        </p:nvSpPr>
        <p:spPr>
          <a:xfrm>
            <a:off x="5967175" y="2012350"/>
            <a:ext cx="2128800" cy="1468500"/>
          </a:xfrm>
          <a:prstGeom prst="ellipse">
            <a:avLst/>
          </a:prstGeom>
          <a:solidFill>
            <a:schemeClr val="accent4"/>
          </a:solidFill>
          <a:ln w="9525" cap="flat" cmpd="sng">
            <a:solidFill>
              <a:schemeClr val="dk2"/>
            </a:solidFill>
            <a:prstDash val="solid"/>
            <a:round/>
            <a:headEnd type="none" w="sm" len="sm"/>
            <a:tailEnd type="none" w="sm" len="sm"/>
          </a:ln>
          <a:effectLst>
            <a:outerShdw blurRad="57150" dist="19050" dir="5400000" algn="bl" rotWithShape="0">
              <a:schemeClr val="accent4">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latin typeface="Source Sans Pro"/>
              <a:ea typeface="Source Sans Pro"/>
              <a:cs typeface="Source Sans Pro"/>
              <a:sym typeface="Source Sans Pro"/>
            </a:endParaRPr>
          </a:p>
        </p:txBody>
      </p:sp>
      <p:sp>
        <p:nvSpPr>
          <p:cNvPr id="106" name="Google Shape;106;p20"/>
          <p:cNvSpPr txBox="1"/>
          <p:nvPr/>
        </p:nvSpPr>
        <p:spPr>
          <a:xfrm>
            <a:off x="1266450" y="25251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rgbClr val="0000FF"/>
                </a:solidFill>
                <a:latin typeface="Source Sans Pro"/>
                <a:ea typeface="Source Sans Pro"/>
                <a:cs typeface="Source Sans Pro"/>
                <a:sym typeface="Source Sans Pro"/>
              </a:rPr>
              <a:t>Master</a:t>
            </a:r>
            <a:endParaRPr sz="1800" b="1">
              <a:solidFill>
                <a:srgbClr val="0000FF"/>
              </a:solidFill>
              <a:latin typeface="Source Sans Pro"/>
              <a:ea typeface="Source Sans Pro"/>
              <a:cs typeface="Source Sans Pro"/>
              <a:sym typeface="Source Sans Pro"/>
            </a:endParaRPr>
          </a:p>
        </p:txBody>
      </p:sp>
      <p:sp>
        <p:nvSpPr>
          <p:cNvPr id="107" name="Google Shape;107;p20"/>
          <p:cNvSpPr txBox="1"/>
          <p:nvPr/>
        </p:nvSpPr>
        <p:spPr>
          <a:xfrm>
            <a:off x="6274875" y="244360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cxnSp>
        <p:nvCxnSpPr>
          <p:cNvPr id="108" name="Google Shape;108;p20"/>
          <p:cNvCxnSpPr>
            <a:stCxn id="104" idx="3"/>
            <a:endCxn id="105" idx="2"/>
          </p:cNvCxnSpPr>
          <p:nvPr/>
        </p:nvCxnSpPr>
        <p:spPr>
          <a:xfrm>
            <a:off x="2998975" y="2746600"/>
            <a:ext cx="2968200" cy="0"/>
          </a:xfrm>
          <a:prstGeom prst="straightConnector1">
            <a:avLst/>
          </a:prstGeom>
          <a:noFill/>
          <a:ln w="28575" cap="flat" cmpd="sng">
            <a:solidFill>
              <a:schemeClr val="dk2"/>
            </a:solidFill>
            <a:prstDash val="solid"/>
            <a:round/>
            <a:headEnd type="diamond"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4.1 BlueTooth</a:t>
            </a:r>
            <a:endParaRPr/>
          </a:p>
          <a:p>
            <a:pPr marL="0" lvl="0" indent="0" algn="l" rtl="0">
              <a:spcBef>
                <a:spcPts val="0"/>
              </a:spcBef>
              <a:spcAft>
                <a:spcPts val="0"/>
              </a:spcAft>
              <a:buNone/>
            </a:pPr>
            <a:endParaRPr/>
          </a:p>
        </p:txBody>
      </p:sp>
      <p:sp>
        <p:nvSpPr>
          <p:cNvPr id="114" name="Google Shape;11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2"/>
              </a:buClr>
              <a:buSzPts val="1800"/>
              <a:buChar char="-"/>
            </a:pPr>
            <a:r>
              <a:rPr lang="en-CA" b="1">
                <a:solidFill>
                  <a:schemeClr val="dk2"/>
                </a:solidFill>
              </a:rPr>
              <a:t>Kiến Trúc Mạng BlueTooth - Piconet</a:t>
            </a:r>
            <a:endParaRPr b="1">
              <a:solidFill>
                <a:schemeClr val="dk2"/>
              </a:solidFill>
            </a:endParaRPr>
          </a:p>
          <a:p>
            <a:pPr marL="457200" lvl="0" indent="0" algn="l" rtl="0">
              <a:spcBef>
                <a:spcPts val="1200"/>
              </a:spcBef>
              <a:spcAft>
                <a:spcPts val="1200"/>
              </a:spcAft>
              <a:buNone/>
            </a:pPr>
            <a:endParaRPr b="1">
              <a:solidFill>
                <a:schemeClr val="dk2"/>
              </a:solidFill>
            </a:endParaRPr>
          </a:p>
        </p:txBody>
      </p:sp>
      <p:sp>
        <p:nvSpPr>
          <p:cNvPr id="115" name="Google Shape;115;p21"/>
          <p:cNvSpPr/>
          <p:nvPr/>
        </p:nvSpPr>
        <p:spPr>
          <a:xfrm>
            <a:off x="4133463" y="2758225"/>
            <a:ext cx="1165500" cy="7227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16" name="Google Shape;116;p21"/>
          <p:cNvSpPr/>
          <p:nvPr/>
        </p:nvSpPr>
        <p:spPr>
          <a:xfrm>
            <a:off x="5298975" y="1633450"/>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17" name="Google Shape;117;p21"/>
          <p:cNvSpPr/>
          <p:nvPr/>
        </p:nvSpPr>
        <p:spPr>
          <a:xfrm>
            <a:off x="7124250" y="2734975"/>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18" name="Google Shape;118;p21"/>
          <p:cNvSpPr/>
          <p:nvPr/>
        </p:nvSpPr>
        <p:spPr>
          <a:xfrm>
            <a:off x="3286575" y="1633450"/>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19" name="Google Shape;119;p21"/>
          <p:cNvSpPr/>
          <p:nvPr/>
        </p:nvSpPr>
        <p:spPr>
          <a:xfrm>
            <a:off x="5298975" y="4175875"/>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20" name="Google Shape;120;p21"/>
          <p:cNvSpPr/>
          <p:nvPr/>
        </p:nvSpPr>
        <p:spPr>
          <a:xfrm>
            <a:off x="3286575" y="4175875"/>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21" name="Google Shape;121;p21"/>
          <p:cNvSpPr/>
          <p:nvPr/>
        </p:nvSpPr>
        <p:spPr>
          <a:xfrm>
            <a:off x="1461275" y="2734975"/>
            <a:ext cx="846900" cy="7692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22" name="Google Shape;122;p21"/>
          <p:cNvSpPr txBox="1"/>
          <p:nvPr/>
        </p:nvSpPr>
        <p:spPr>
          <a:xfrm>
            <a:off x="3997563" y="289030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rgbClr val="0000FF"/>
                </a:solidFill>
                <a:latin typeface="Source Sans Pro"/>
                <a:ea typeface="Source Sans Pro"/>
                <a:cs typeface="Source Sans Pro"/>
                <a:sym typeface="Source Sans Pro"/>
              </a:rPr>
              <a:t>Master</a:t>
            </a:r>
            <a:endParaRPr sz="1800" b="1">
              <a:solidFill>
                <a:srgbClr val="0000FF"/>
              </a:solidFill>
              <a:latin typeface="Source Sans Pro"/>
              <a:ea typeface="Source Sans Pro"/>
              <a:cs typeface="Source Sans Pro"/>
              <a:sym typeface="Source Sans Pro"/>
            </a:endParaRPr>
          </a:p>
        </p:txBody>
      </p:sp>
      <p:sp>
        <p:nvSpPr>
          <p:cNvPr id="123" name="Google Shape;123;p21"/>
          <p:cNvSpPr txBox="1"/>
          <p:nvPr/>
        </p:nvSpPr>
        <p:spPr>
          <a:xfrm>
            <a:off x="5003775" y="175390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24" name="Google Shape;124;p21"/>
          <p:cNvSpPr txBox="1"/>
          <p:nvPr/>
        </p:nvSpPr>
        <p:spPr>
          <a:xfrm>
            <a:off x="2991375" y="175390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25" name="Google Shape;125;p21"/>
          <p:cNvSpPr txBox="1"/>
          <p:nvPr/>
        </p:nvSpPr>
        <p:spPr>
          <a:xfrm>
            <a:off x="1166075" y="28554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26" name="Google Shape;126;p21"/>
          <p:cNvSpPr txBox="1"/>
          <p:nvPr/>
        </p:nvSpPr>
        <p:spPr>
          <a:xfrm>
            <a:off x="6829075" y="28554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27" name="Google Shape;127;p21"/>
          <p:cNvSpPr txBox="1"/>
          <p:nvPr/>
        </p:nvSpPr>
        <p:spPr>
          <a:xfrm>
            <a:off x="2991375" y="42963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28" name="Google Shape;128;p21"/>
          <p:cNvSpPr txBox="1"/>
          <p:nvPr/>
        </p:nvSpPr>
        <p:spPr>
          <a:xfrm>
            <a:off x="5003775" y="42963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cxnSp>
        <p:nvCxnSpPr>
          <p:cNvPr id="129" name="Google Shape;129;p21"/>
          <p:cNvCxnSpPr/>
          <p:nvPr/>
        </p:nvCxnSpPr>
        <p:spPr>
          <a:xfrm rot="10800000" flipH="1">
            <a:off x="5300950" y="3138825"/>
            <a:ext cx="1831500" cy="900"/>
          </a:xfrm>
          <a:prstGeom prst="straightConnector1">
            <a:avLst/>
          </a:prstGeom>
          <a:noFill/>
          <a:ln w="9525" cap="flat" cmpd="sng">
            <a:solidFill>
              <a:schemeClr val="dk2"/>
            </a:solidFill>
            <a:prstDash val="solid"/>
            <a:round/>
            <a:headEnd type="none" w="med" len="med"/>
            <a:tailEnd type="triangle" w="med" len="med"/>
          </a:ln>
        </p:spPr>
      </p:cxnSp>
      <p:cxnSp>
        <p:nvCxnSpPr>
          <p:cNvPr id="130" name="Google Shape;130;p21"/>
          <p:cNvCxnSpPr/>
          <p:nvPr/>
        </p:nvCxnSpPr>
        <p:spPr>
          <a:xfrm rot="10800000">
            <a:off x="2313400" y="3120950"/>
            <a:ext cx="1825800" cy="8700"/>
          </a:xfrm>
          <a:prstGeom prst="straightConnector1">
            <a:avLst/>
          </a:prstGeom>
          <a:noFill/>
          <a:ln w="9525" cap="flat" cmpd="sng">
            <a:solidFill>
              <a:schemeClr val="dk2"/>
            </a:solidFill>
            <a:prstDash val="solid"/>
            <a:round/>
            <a:headEnd type="none" w="med" len="med"/>
            <a:tailEnd type="triangle" w="med" len="med"/>
          </a:ln>
        </p:spPr>
      </p:cxnSp>
      <p:cxnSp>
        <p:nvCxnSpPr>
          <p:cNvPr id="131" name="Google Shape;131;p21"/>
          <p:cNvCxnSpPr>
            <a:stCxn id="115" idx="0"/>
          </p:cNvCxnSpPr>
          <p:nvPr/>
        </p:nvCxnSpPr>
        <p:spPr>
          <a:xfrm rot="10800000">
            <a:off x="3994413" y="2304325"/>
            <a:ext cx="721800" cy="453900"/>
          </a:xfrm>
          <a:prstGeom prst="straightConnector1">
            <a:avLst/>
          </a:prstGeom>
          <a:noFill/>
          <a:ln w="9525" cap="flat" cmpd="sng">
            <a:solidFill>
              <a:schemeClr val="dk2"/>
            </a:solidFill>
            <a:prstDash val="solid"/>
            <a:round/>
            <a:headEnd type="none" w="med" len="med"/>
            <a:tailEnd type="triangle" w="med" len="med"/>
          </a:ln>
        </p:spPr>
      </p:cxnSp>
      <p:cxnSp>
        <p:nvCxnSpPr>
          <p:cNvPr id="132" name="Google Shape;132;p21"/>
          <p:cNvCxnSpPr>
            <a:stCxn id="115" idx="0"/>
          </p:cNvCxnSpPr>
          <p:nvPr/>
        </p:nvCxnSpPr>
        <p:spPr>
          <a:xfrm rot="10800000" flipH="1">
            <a:off x="4716213" y="2273725"/>
            <a:ext cx="696000" cy="484500"/>
          </a:xfrm>
          <a:prstGeom prst="straightConnector1">
            <a:avLst/>
          </a:prstGeom>
          <a:noFill/>
          <a:ln w="9525" cap="flat" cmpd="sng">
            <a:solidFill>
              <a:schemeClr val="dk2"/>
            </a:solidFill>
            <a:prstDash val="solid"/>
            <a:round/>
            <a:headEnd type="none" w="med" len="med"/>
            <a:tailEnd type="triangle" w="med" len="med"/>
          </a:ln>
        </p:spPr>
      </p:cxnSp>
      <p:cxnSp>
        <p:nvCxnSpPr>
          <p:cNvPr id="133" name="Google Shape;133;p21"/>
          <p:cNvCxnSpPr>
            <a:stCxn id="115" idx="2"/>
          </p:cNvCxnSpPr>
          <p:nvPr/>
        </p:nvCxnSpPr>
        <p:spPr>
          <a:xfrm flipH="1">
            <a:off x="3911613" y="3480925"/>
            <a:ext cx="804600" cy="735000"/>
          </a:xfrm>
          <a:prstGeom prst="straightConnector1">
            <a:avLst/>
          </a:prstGeom>
          <a:noFill/>
          <a:ln w="9525" cap="flat" cmpd="sng">
            <a:solidFill>
              <a:schemeClr val="dk2"/>
            </a:solidFill>
            <a:prstDash val="solid"/>
            <a:round/>
            <a:headEnd type="none" w="med" len="med"/>
            <a:tailEnd type="triangle" w="med" len="med"/>
          </a:ln>
        </p:spPr>
      </p:cxnSp>
      <p:cxnSp>
        <p:nvCxnSpPr>
          <p:cNvPr id="134" name="Google Shape;134;p21"/>
          <p:cNvCxnSpPr>
            <a:stCxn id="115" idx="2"/>
            <a:endCxn id="119" idx="0"/>
          </p:cNvCxnSpPr>
          <p:nvPr/>
        </p:nvCxnSpPr>
        <p:spPr>
          <a:xfrm>
            <a:off x="4716213" y="3480925"/>
            <a:ext cx="1006200" cy="695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p:nvPr/>
        </p:nvSpPr>
        <p:spPr>
          <a:xfrm>
            <a:off x="4358725" y="838625"/>
            <a:ext cx="4785264" cy="3954960"/>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0" name="Google Shape;140;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141" name="Google Shape;141;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2"/>
              </a:buClr>
              <a:buSzPts val="1800"/>
              <a:buChar char="-"/>
            </a:pPr>
            <a:r>
              <a:rPr lang="en-CA" b="1">
                <a:solidFill>
                  <a:schemeClr val="dk2"/>
                </a:solidFill>
              </a:rPr>
              <a:t>Kiến Trúc Mạng BlueTooth - ScatterNet</a:t>
            </a:r>
            <a:endParaRPr b="1">
              <a:solidFill>
                <a:schemeClr val="dk2"/>
              </a:solidFill>
            </a:endParaRPr>
          </a:p>
          <a:p>
            <a:pPr marL="457200" lvl="0" indent="0" algn="l" rtl="0">
              <a:spcBef>
                <a:spcPts val="1200"/>
              </a:spcBef>
              <a:spcAft>
                <a:spcPts val="1200"/>
              </a:spcAft>
              <a:buNone/>
            </a:pPr>
            <a:endParaRPr/>
          </a:p>
        </p:txBody>
      </p:sp>
      <p:sp>
        <p:nvSpPr>
          <p:cNvPr id="142" name="Google Shape;142;p22"/>
          <p:cNvSpPr/>
          <p:nvPr/>
        </p:nvSpPr>
        <p:spPr>
          <a:xfrm>
            <a:off x="573225" y="2866025"/>
            <a:ext cx="1246800" cy="6816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3" name="Google Shape;143;p22"/>
          <p:cNvSpPr/>
          <p:nvPr/>
        </p:nvSpPr>
        <p:spPr>
          <a:xfrm>
            <a:off x="4504450" y="2888475"/>
            <a:ext cx="1246800" cy="6816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4" name="Google Shape;144;p22"/>
          <p:cNvSpPr/>
          <p:nvPr/>
        </p:nvSpPr>
        <p:spPr>
          <a:xfrm>
            <a:off x="6365525" y="1523050"/>
            <a:ext cx="960300" cy="9834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5" name="Google Shape;145;p22"/>
          <p:cNvSpPr/>
          <p:nvPr/>
        </p:nvSpPr>
        <p:spPr>
          <a:xfrm>
            <a:off x="6409475" y="4090400"/>
            <a:ext cx="960300" cy="9834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6" name="Google Shape;146;p22"/>
          <p:cNvSpPr/>
          <p:nvPr/>
        </p:nvSpPr>
        <p:spPr>
          <a:xfrm>
            <a:off x="7917075" y="2737575"/>
            <a:ext cx="960300" cy="9834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7" name="Google Shape;147;p22"/>
          <p:cNvSpPr/>
          <p:nvPr/>
        </p:nvSpPr>
        <p:spPr>
          <a:xfrm>
            <a:off x="1900075" y="4090400"/>
            <a:ext cx="960300" cy="9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8" name="Google Shape;148;p22"/>
          <p:cNvSpPr/>
          <p:nvPr/>
        </p:nvSpPr>
        <p:spPr>
          <a:xfrm>
            <a:off x="1610725" y="1577250"/>
            <a:ext cx="2421360" cy="1102140"/>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49" name="Google Shape;149;p22"/>
          <p:cNvSpPr/>
          <p:nvPr/>
        </p:nvSpPr>
        <p:spPr>
          <a:xfrm>
            <a:off x="4572000" y="2888475"/>
            <a:ext cx="593100" cy="681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50" name="Google Shape;150;p22"/>
          <p:cNvSpPr txBox="1"/>
          <p:nvPr/>
        </p:nvSpPr>
        <p:spPr>
          <a:xfrm>
            <a:off x="5033450" y="3085125"/>
            <a:ext cx="867300" cy="28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b="1">
                <a:solidFill>
                  <a:srgbClr val="0000FF"/>
                </a:solidFill>
                <a:latin typeface="Source Sans Pro"/>
                <a:ea typeface="Source Sans Pro"/>
                <a:cs typeface="Source Sans Pro"/>
                <a:sym typeface="Source Sans Pro"/>
              </a:rPr>
              <a:t>Master</a:t>
            </a:r>
            <a:endParaRPr b="1">
              <a:solidFill>
                <a:srgbClr val="0000FF"/>
              </a:solidFill>
              <a:latin typeface="Source Sans Pro"/>
              <a:ea typeface="Source Sans Pro"/>
              <a:cs typeface="Source Sans Pro"/>
              <a:sym typeface="Source Sans Pro"/>
            </a:endParaRPr>
          </a:p>
        </p:txBody>
      </p:sp>
      <p:sp>
        <p:nvSpPr>
          <p:cNvPr id="151" name="Google Shape;151;p22"/>
          <p:cNvSpPr txBox="1"/>
          <p:nvPr/>
        </p:nvSpPr>
        <p:spPr>
          <a:xfrm>
            <a:off x="6127025" y="175060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52" name="Google Shape;152;p22"/>
          <p:cNvSpPr txBox="1"/>
          <p:nvPr/>
        </p:nvSpPr>
        <p:spPr>
          <a:xfrm>
            <a:off x="6170975" y="431795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53" name="Google Shape;153;p22"/>
          <p:cNvSpPr txBox="1"/>
          <p:nvPr/>
        </p:nvSpPr>
        <p:spPr>
          <a:xfrm>
            <a:off x="7678575" y="29651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800" b="1">
                <a:solidFill>
                  <a:schemeClr val="dk1"/>
                </a:solidFill>
                <a:latin typeface="Source Sans Pro"/>
                <a:ea typeface="Source Sans Pro"/>
                <a:cs typeface="Source Sans Pro"/>
                <a:sym typeface="Source Sans Pro"/>
              </a:rPr>
              <a:t>Slave</a:t>
            </a:r>
            <a:endParaRPr sz="1800" b="1">
              <a:solidFill>
                <a:schemeClr val="dk1"/>
              </a:solidFill>
              <a:latin typeface="Source Sans Pro"/>
              <a:ea typeface="Source Sans Pro"/>
              <a:cs typeface="Source Sans Pro"/>
              <a:sym typeface="Source Sans Pro"/>
            </a:endParaRPr>
          </a:p>
        </p:txBody>
      </p:sp>
      <p:sp>
        <p:nvSpPr>
          <p:cNvPr id="154" name="Google Shape;154;p22"/>
          <p:cNvSpPr txBox="1"/>
          <p:nvPr/>
        </p:nvSpPr>
        <p:spPr>
          <a:xfrm>
            <a:off x="4149900" y="296512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200" b="1">
                <a:solidFill>
                  <a:srgbClr val="F3F3F3"/>
                </a:solidFill>
                <a:latin typeface="Source Sans Pro"/>
                <a:ea typeface="Source Sans Pro"/>
                <a:cs typeface="Source Sans Pro"/>
                <a:sym typeface="Source Sans Pro"/>
              </a:rPr>
              <a:t>Slave</a:t>
            </a:r>
            <a:endParaRPr sz="1200" b="1">
              <a:solidFill>
                <a:srgbClr val="F3F3F3"/>
              </a:solidFill>
              <a:latin typeface="Source Sans Pro"/>
              <a:ea typeface="Source Sans Pro"/>
              <a:cs typeface="Source Sans Pro"/>
              <a:sym typeface="Source Sans Pro"/>
            </a:endParaRPr>
          </a:p>
        </p:txBody>
      </p:sp>
      <p:sp>
        <p:nvSpPr>
          <p:cNvPr id="155" name="Google Shape;155;p22"/>
          <p:cNvSpPr txBox="1"/>
          <p:nvPr/>
        </p:nvSpPr>
        <p:spPr>
          <a:xfrm>
            <a:off x="1661575" y="4317950"/>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900" b="1">
                <a:solidFill>
                  <a:srgbClr val="F3F3F3"/>
                </a:solidFill>
                <a:latin typeface="Source Sans Pro"/>
                <a:ea typeface="Source Sans Pro"/>
                <a:cs typeface="Source Sans Pro"/>
                <a:sym typeface="Source Sans Pro"/>
              </a:rPr>
              <a:t>Slave</a:t>
            </a:r>
            <a:endParaRPr sz="1900" b="1">
              <a:solidFill>
                <a:srgbClr val="F3F3F3"/>
              </a:solidFill>
              <a:latin typeface="Source Sans Pro"/>
              <a:ea typeface="Source Sans Pro"/>
              <a:cs typeface="Source Sans Pro"/>
              <a:sym typeface="Source Sans Pro"/>
            </a:endParaRPr>
          </a:p>
        </p:txBody>
      </p:sp>
      <p:sp>
        <p:nvSpPr>
          <p:cNvPr id="156" name="Google Shape;156;p22"/>
          <p:cNvSpPr txBox="1"/>
          <p:nvPr/>
        </p:nvSpPr>
        <p:spPr>
          <a:xfrm>
            <a:off x="382725" y="2942675"/>
            <a:ext cx="1437300" cy="52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CA" sz="1900" b="1">
                <a:solidFill>
                  <a:srgbClr val="F3F3F3"/>
                </a:solidFill>
                <a:latin typeface="Source Sans Pro"/>
                <a:ea typeface="Source Sans Pro"/>
                <a:cs typeface="Source Sans Pro"/>
                <a:sym typeface="Source Sans Pro"/>
              </a:rPr>
              <a:t>Master</a:t>
            </a:r>
            <a:endParaRPr sz="1900" b="1">
              <a:solidFill>
                <a:srgbClr val="F3F3F3"/>
              </a:solidFill>
              <a:latin typeface="Source Sans Pro"/>
              <a:ea typeface="Source Sans Pro"/>
              <a:cs typeface="Source Sans Pro"/>
              <a:sym typeface="Source Sans Pro"/>
            </a:endParaRPr>
          </a:p>
        </p:txBody>
      </p:sp>
      <p:cxnSp>
        <p:nvCxnSpPr>
          <p:cNvPr id="157" name="Google Shape;157;p22"/>
          <p:cNvCxnSpPr>
            <a:stCxn id="156" idx="3"/>
          </p:cNvCxnSpPr>
          <p:nvPr/>
        </p:nvCxnSpPr>
        <p:spPr>
          <a:xfrm>
            <a:off x="1820025" y="3206825"/>
            <a:ext cx="2702400" cy="0"/>
          </a:xfrm>
          <a:prstGeom prst="straightConnector1">
            <a:avLst/>
          </a:prstGeom>
          <a:noFill/>
          <a:ln w="28575" cap="flat" cmpd="sng">
            <a:solidFill>
              <a:schemeClr val="dk2"/>
            </a:solidFill>
            <a:prstDash val="solid"/>
            <a:round/>
            <a:headEnd type="none" w="med" len="med"/>
            <a:tailEnd type="triangle" w="med" len="med"/>
          </a:ln>
        </p:spPr>
      </p:cxnSp>
      <p:cxnSp>
        <p:nvCxnSpPr>
          <p:cNvPr id="158" name="Google Shape;158;p22"/>
          <p:cNvCxnSpPr>
            <a:stCxn id="156" idx="3"/>
            <a:endCxn id="147" idx="0"/>
          </p:cNvCxnSpPr>
          <p:nvPr/>
        </p:nvCxnSpPr>
        <p:spPr>
          <a:xfrm>
            <a:off x="1820025" y="3206825"/>
            <a:ext cx="560100" cy="883500"/>
          </a:xfrm>
          <a:prstGeom prst="straightConnector1">
            <a:avLst/>
          </a:prstGeom>
          <a:noFill/>
          <a:ln w="28575" cap="flat" cmpd="sng">
            <a:solidFill>
              <a:schemeClr val="dk2"/>
            </a:solidFill>
            <a:prstDash val="solid"/>
            <a:round/>
            <a:headEnd type="none" w="med" len="med"/>
            <a:tailEnd type="triangle" w="med" len="med"/>
          </a:ln>
        </p:spPr>
      </p:cxnSp>
      <p:cxnSp>
        <p:nvCxnSpPr>
          <p:cNvPr id="159" name="Google Shape;159;p22"/>
          <p:cNvCxnSpPr>
            <a:stCxn id="156" idx="3"/>
            <a:endCxn id="148" idx="1"/>
          </p:cNvCxnSpPr>
          <p:nvPr/>
        </p:nvCxnSpPr>
        <p:spPr>
          <a:xfrm rot="10800000" flipH="1">
            <a:off x="1820025" y="2678225"/>
            <a:ext cx="1001400" cy="528600"/>
          </a:xfrm>
          <a:prstGeom prst="straightConnector1">
            <a:avLst/>
          </a:prstGeom>
          <a:noFill/>
          <a:ln w="28575" cap="flat" cmpd="sng">
            <a:solidFill>
              <a:schemeClr val="dk2"/>
            </a:solidFill>
            <a:prstDash val="solid"/>
            <a:round/>
            <a:headEnd type="none" w="med" len="med"/>
            <a:tailEnd type="triangle" w="med" len="med"/>
          </a:ln>
        </p:spPr>
      </p:cxnSp>
      <p:cxnSp>
        <p:nvCxnSpPr>
          <p:cNvPr id="160" name="Google Shape;160;p22"/>
          <p:cNvCxnSpPr/>
          <p:nvPr/>
        </p:nvCxnSpPr>
        <p:spPr>
          <a:xfrm>
            <a:off x="5751250" y="3276400"/>
            <a:ext cx="2179500" cy="5700"/>
          </a:xfrm>
          <a:prstGeom prst="straightConnector1">
            <a:avLst/>
          </a:prstGeom>
          <a:noFill/>
          <a:ln w="28575" cap="flat" cmpd="sng">
            <a:solidFill>
              <a:schemeClr val="dk2"/>
            </a:solidFill>
            <a:prstDash val="solid"/>
            <a:round/>
            <a:headEnd type="none" w="med" len="med"/>
            <a:tailEnd type="triangle" w="med" len="med"/>
          </a:ln>
        </p:spPr>
      </p:cxnSp>
      <p:cxnSp>
        <p:nvCxnSpPr>
          <p:cNvPr id="161" name="Google Shape;161;p22"/>
          <p:cNvCxnSpPr>
            <a:endCxn id="144" idx="3"/>
          </p:cNvCxnSpPr>
          <p:nvPr/>
        </p:nvCxnSpPr>
        <p:spPr>
          <a:xfrm rot="10800000" flipH="1">
            <a:off x="5165158" y="2362434"/>
            <a:ext cx="1341000" cy="526200"/>
          </a:xfrm>
          <a:prstGeom prst="straightConnector1">
            <a:avLst/>
          </a:prstGeom>
          <a:noFill/>
          <a:ln w="28575" cap="flat" cmpd="sng">
            <a:solidFill>
              <a:schemeClr val="dk2"/>
            </a:solidFill>
            <a:prstDash val="solid"/>
            <a:round/>
            <a:headEnd type="none" w="med" len="med"/>
            <a:tailEnd type="triangle" w="med" len="med"/>
          </a:ln>
        </p:spPr>
      </p:cxnSp>
      <p:cxnSp>
        <p:nvCxnSpPr>
          <p:cNvPr id="162" name="Google Shape;162;p22"/>
          <p:cNvCxnSpPr/>
          <p:nvPr/>
        </p:nvCxnSpPr>
        <p:spPr>
          <a:xfrm>
            <a:off x="5186975" y="3561525"/>
            <a:ext cx="1335600" cy="704100"/>
          </a:xfrm>
          <a:prstGeom prst="straightConnector1">
            <a:avLst/>
          </a:prstGeom>
          <a:noFill/>
          <a:ln w="28575" cap="flat" cmpd="sng">
            <a:solidFill>
              <a:schemeClr val="dk2"/>
            </a:solidFill>
            <a:prstDash val="solid"/>
            <a:round/>
            <a:headEnd type="none" w="med" len="med"/>
            <a:tailEnd type="triangle" w="med" len="med"/>
          </a:ln>
        </p:spPr>
      </p:cxnSp>
      <p:sp>
        <p:nvSpPr>
          <p:cNvPr id="163" name="Google Shape;163;p22"/>
          <p:cNvSpPr txBox="1"/>
          <p:nvPr/>
        </p:nvSpPr>
        <p:spPr>
          <a:xfrm>
            <a:off x="2272700" y="1838800"/>
            <a:ext cx="1097400" cy="35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a:solidFill>
                  <a:schemeClr val="lt1"/>
                </a:solidFill>
                <a:latin typeface="Source Sans Pro"/>
                <a:ea typeface="Source Sans Pro"/>
                <a:cs typeface="Source Sans Pro"/>
                <a:sym typeface="Source Sans Pro"/>
              </a:rPr>
              <a:t>Other Piconets</a:t>
            </a:r>
            <a:endParaRPr sz="1800">
              <a:solidFill>
                <a:schemeClr val="lt1"/>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169" name="Google Shape;169;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err="1"/>
              <a:t>Các</a:t>
            </a:r>
            <a:r>
              <a:rPr lang="en-CA" dirty="0"/>
              <a:t> </a:t>
            </a:r>
            <a:r>
              <a:rPr lang="en-CA" dirty="0" err="1"/>
              <a:t>thiết</a:t>
            </a:r>
            <a:r>
              <a:rPr lang="en-CA" dirty="0"/>
              <a:t> </a:t>
            </a:r>
            <a:r>
              <a:rPr lang="en-CA" dirty="0" err="1"/>
              <a:t>bị</a:t>
            </a:r>
            <a:r>
              <a:rPr lang="en-CA" dirty="0"/>
              <a:t> </a:t>
            </a:r>
            <a:r>
              <a:rPr lang="en-CA" dirty="0" err="1"/>
              <a:t>bluetooth</a:t>
            </a:r>
            <a:r>
              <a:rPr lang="en-CA" dirty="0"/>
              <a:t> </a:t>
            </a:r>
            <a:r>
              <a:rPr lang="en-CA" dirty="0" err="1"/>
              <a:t>kết</a:t>
            </a:r>
            <a:r>
              <a:rPr lang="en-CA" dirty="0"/>
              <a:t> </a:t>
            </a:r>
            <a:r>
              <a:rPr lang="en-CA" dirty="0" err="1"/>
              <a:t>nối</a:t>
            </a:r>
            <a:r>
              <a:rPr lang="en-CA" dirty="0"/>
              <a:t> </a:t>
            </a:r>
            <a:r>
              <a:rPr lang="en-CA" dirty="0" err="1"/>
              <a:t>với</a:t>
            </a:r>
            <a:r>
              <a:rPr lang="en-CA" dirty="0"/>
              <a:t> </a:t>
            </a:r>
            <a:r>
              <a:rPr lang="en-CA" dirty="0" err="1"/>
              <a:t>nhau</a:t>
            </a:r>
            <a:r>
              <a:rPr lang="en-CA" dirty="0"/>
              <a:t> </a:t>
            </a:r>
            <a:r>
              <a:rPr lang="en-CA" dirty="0" err="1"/>
              <a:t>thông</a:t>
            </a:r>
            <a:r>
              <a:rPr lang="en-CA" dirty="0"/>
              <a:t> qua “Bluetooth Profiles”</a:t>
            </a:r>
            <a:endParaRPr dirty="0"/>
          </a:p>
          <a:p>
            <a:pPr marL="457200" lvl="0" indent="0" algn="l" rtl="0">
              <a:spcBef>
                <a:spcPts val="1200"/>
              </a:spcBef>
              <a:spcAft>
                <a:spcPts val="0"/>
              </a:spcAft>
              <a:buNone/>
            </a:pPr>
            <a:endParaRPr dirty="0">
              <a:highlight>
                <a:srgbClr val="FFFFFF"/>
              </a:highlight>
            </a:endParaRPr>
          </a:p>
          <a:p>
            <a:pPr marL="457200" lvl="0" indent="-342900" algn="l" rtl="0">
              <a:spcBef>
                <a:spcPts val="1200"/>
              </a:spcBef>
              <a:spcAft>
                <a:spcPts val="0"/>
              </a:spcAft>
              <a:buSzPts val="1800"/>
              <a:buChar char="-"/>
            </a:pPr>
            <a:r>
              <a:rPr lang="en-CA" dirty="0">
                <a:highlight>
                  <a:srgbClr val="FFFFFF"/>
                </a:highlight>
              </a:rPr>
              <a:t>Bluetooth profiles </a:t>
            </a:r>
            <a:r>
              <a:rPr lang="en-CA" dirty="0" err="1">
                <a:highlight>
                  <a:srgbClr val="FFFFFF"/>
                </a:highlight>
              </a:rPr>
              <a:t>là</a:t>
            </a:r>
            <a:r>
              <a:rPr lang="en-CA" dirty="0">
                <a:highlight>
                  <a:srgbClr val="FFFFFF"/>
                </a:highlight>
              </a:rPr>
              <a:t> </a:t>
            </a:r>
            <a:r>
              <a:rPr lang="en-CA" dirty="0" err="1">
                <a:highlight>
                  <a:srgbClr val="FFFFFF"/>
                </a:highlight>
              </a:rPr>
              <a:t>một</a:t>
            </a:r>
            <a:r>
              <a:rPr lang="en-CA" dirty="0">
                <a:highlight>
                  <a:srgbClr val="FFFFFF"/>
                </a:highlight>
              </a:rPr>
              <a:t> </a:t>
            </a:r>
            <a:r>
              <a:rPr lang="en-CA" dirty="0" err="1">
                <a:highlight>
                  <a:srgbClr val="FFFFFF"/>
                </a:highlight>
              </a:rPr>
              <a:t>tập</a:t>
            </a:r>
            <a:r>
              <a:rPr lang="en-CA" dirty="0">
                <a:highlight>
                  <a:srgbClr val="FFFFFF"/>
                </a:highlight>
              </a:rPr>
              <a:t> </a:t>
            </a:r>
            <a:r>
              <a:rPr lang="en-CA" dirty="0" err="1">
                <a:highlight>
                  <a:srgbClr val="FFFFFF"/>
                </a:highlight>
              </a:rPr>
              <a:t>hợp</a:t>
            </a:r>
            <a:r>
              <a:rPr lang="en-CA" dirty="0">
                <a:highlight>
                  <a:srgbClr val="FFFFFF"/>
                </a:highlight>
              </a:rPr>
              <a:t> </a:t>
            </a:r>
            <a:r>
              <a:rPr lang="en-CA" dirty="0" err="1">
                <a:highlight>
                  <a:srgbClr val="FFFFFF"/>
                </a:highlight>
              </a:rPr>
              <a:t>các</a:t>
            </a:r>
            <a:r>
              <a:rPr lang="en-CA" dirty="0">
                <a:highlight>
                  <a:srgbClr val="FFFFFF"/>
                </a:highlight>
              </a:rPr>
              <a:t> </a:t>
            </a:r>
            <a:r>
              <a:rPr lang="en-CA" dirty="0" err="1">
                <a:highlight>
                  <a:srgbClr val="FFFFFF"/>
                </a:highlight>
              </a:rPr>
              <a:t>quy</a:t>
            </a:r>
            <a:r>
              <a:rPr lang="en-CA" dirty="0">
                <a:highlight>
                  <a:srgbClr val="FFFFFF"/>
                </a:highlight>
              </a:rPr>
              <a:t> </a:t>
            </a:r>
            <a:r>
              <a:rPr lang="en-CA" dirty="0" err="1">
                <a:highlight>
                  <a:srgbClr val="FFFFFF"/>
                </a:highlight>
              </a:rPr>
              <a:t>tắc</a:t>
            </a:r>
            <a:r>
              <a:rPr lang="en-CA" dirty="0">
                <a:highlight>
                  <a:srgbClr val="FFFFFF"/>
                </a:highlight>
              </a:rPr>
              <a:t> </a:t>
            </a:r>
            <a:r>
              <a:rPr lang="en-CA" dirty="0" err="1">
                <a:highlight>
                  <a:srgbClr val="FFFFFF"/>
                </a:highlight>
              </a:rPr>
              <a:t>và</a:t>
            </a:r>
            <a:r>
              <a:rPr lang="en-CA" dirty="0">
                <a:highlight>
                  <a:srgbClr val="FFFFFF"/>
                </a:highlight>
              </a:rPr>
              <a:t> </a:t>
            </a:r>
            <a:r>
              <a:rPr lang="en-CA" dirty="0" err="1">
                <a:highlight>
                  <a:srgbClr val="FFFFFF"/>
                </a:highlight>
              </a:rPr>
              <a:t>thủ</a:t>
            </a:r>
            <a:r>
              <a:rPr lang="en-CA" dirty="0">
                <a:highlight>
                  <a:srgbClr val="FFFFFF"/>
                </a:highlight>
              </a:rPr>
              <a:t> </a:t>
            </a:r>
            <a:r>
              <a:rPr lang="en-CA" dirty="0" err="1">
                <a:highlight>
                  <a:srgbClr val="FFFFFF"/>
                </a:highlight>
              </a:rPr>
              <a:t>tục</a:t>
            </a:r>
            <a:r>
              <a:rPr lang="en-CA" dirty="0">
                <a:highlight>
                  <a:srgbClr val="FFFFFF"/>
                </a:highlight>
              </a:rPr>
              <a:t> </a:t>
            </a:r>
            <a:r>
              <a:rPr lang="en-CA" dirty="0" err="1">
                <a:highlight>
                  <a:srgbClr val="FFFFFF"/>
                </a:highlight>
              </a:rPr>
              <a:t>được</a:t>
            </a:r>
            <a:r>
              <a:rPr lang="en-CA" dirty="0">
                <a:highlight>
                  <a:srgbClr val="FFFFFF"/>
                </a:highlight>
              </a:rPr>
              <a:t> </a:t>
            </a:r>
            <a:r>
              <a:rPr lang="en-CA" dirty="0" err="1">
                <a:highlight>
                  <a:srgbClr val="FFFFFF"/>
                </a:highlight>
              </a:rPr>
              <a:t>thiết</a:t>
            </a:r>
            <a:r>
              <a:rPr lang="en-CA" dirty="0">
                <a:highlight>
                  <a:srgbClr val="FFFFFF"/>
                </a:highlight>
              </a:rPr>
              <a:t> </a:t>
            </a:r>
            <a:r>
              <a:rPr lang="en-CA" dirty="0" err="1">
                <a:highlight>
                  <a:srgbClr val="FFFFFF"/>
                </a:highlight>
              </a:rPr>
              <a:t>kế</a:t>
            </a:r>
            <a:r>
              <a:rPr lang="en-CA" dirty="0">
                <a:highlight>
                  <a:srgbClr val="FFFFFF"/>
                </a:highlight>
              </a:rPr>
              <a:t> </a:t>
            </a:r>
            <a:r>
              <a:rPr lang="en-CA" dirty="0" err="1">
                <a:highlight>
                  <a:srgbClr val="FFFFFF"/>
                </a:highlight>
              </a:rPr>
              <a:t>để</a:t>
            </a:r>
            <a:r>
              <a:rPr lang="en-CA" dirty="0">
                <a:highlight>
                  <a:srgbClr val="FFFFFF"/>
                </a:highlight>
              </a:rPr>
              <a:t> </a:t>
            </a:r>
            <a:r>
              <a:rPr lang="en-CA" dirty="0" err="1">
                <a:highlight>
                  <a:srgbClr val="FFFFFF"/>
                </a:highlight>
              </a:rPr>
              <a:t>cho</a:t>
            </a:r>
            <a:r>
              <a:rPr lang="en-CA" dirty="0">
                <a:highlight>
                  <a:srgbClr val="FFFFFF"/>
                </a:highlight>
              </a:rPr>
              <a:t> </a:t>
            </a:r>
            <a:r>
              <a:rPr lang="en-CA" dirty="0" err="1">
                <a:highlight>
                  <a:srgbClr val="FFFFFF"/>
                </a:highlight>
              </a:rPr>
              <a:t>phép</a:t>
            </a:r>
            <a:r>
              <a:rPr lang="en-CA" dirty="0">
                <a:highlight>
                  <a:srgbClr val="FFFFFF"/>
                </a:highlight>
              </a:rPr>
              <a:t> </a:t>
            </a:r>
            <a:r>
              <a:rPr lang="en-CA" dirty="0" err="1">
                <a:highlight>
                  <a:srgbClr val="FFFFFF"/>
                </a:highlight>
              </a:rPr>
              <a:t>các</a:t>
            </a:r>
            <a:r>
              <a:rPr lang="en-CA" dirty="0">
                <a:highlight>
                  <a:srgbClr val="FFFFFF"/>
                </a:highlight>
              </a:rPr>
              <a:t> </a:t>
            </a:r>
            <a:r>
              <a:rPr lang="en-CA" dirty="0" err="1">
                <a:highlight>
                  <a:srgbClr val="FFFFFF"/>
                </a:highlight>
              </a:rPr>
              <a:t>thiết</a:t>
            </a:r>
            <a:r>
              <a:rPr lang="en-CA" dirty="0">
                <a:highlight>
                  <a:srgbClr val="FFFFFF"/>
                </a:highlight>
              </a:rPr>
              <a:t> </a:t>
            </a:r>
            <a:r>
              <a:rPr lang="en-CA" dirty="0" err="1">
                <a:highlight>
                  <a:srgbClr val="FFFFFF"/>
                </a:highlight>
              </a:rPr>
              <a:t>bị</a:t>
            </a:r>
            <a:r>
              <a:rPr lang="en-CA" dirty="0">
                <a:highlight>
                  <a:srgbClr val="FFFFFF"/>
                </a:highlight>
              </a:rPr>
              <a:t> Bluetooth </a:t>
            </a:r>
            <a:r>
              <a:rPr lang="en-CA" dirty="0" err="1">
                <a:highlight>
                  <a:srgbClr val="FFFFFF"/>
                </a:highlight>
              </a:rPr>
              <a:t>giao</a:t>
            </a:r>
            <a:r>
              <a:rPr lang="en-CA" dirty="0">
                <a:highlight>
                  <a:srgbClr val="FFFFFF"/>
                </a:highlight>
              </a:rPr>
              <a:t> </a:t>
            </a:r>
            <a:r>
              <a:rPr lang="en-CA" dirty="0" err="1">
                <a:highlight>
                  <a:srgbClr val="FFFFFF"/>
                </a:highlight>
              </a:rPr>
              <a:t>tiếp</a:t>
            </a:r>
            <a:r>
              <a:rPr lang="en-CA" dirty="0">
                <a:highlight>
                  <a:srgbClr val="FFFFFF"/>
                </a:highlight>
              </a:rPr>
              <a:t> </a:t>
            </a:r>
            <a:r>
              <a:rPr lang="en-CA" dirty="0" err="1">
                <a:highlight>
                  <a:srgbClr val="FFFFFF"/>
                </a:highlight>
              </a:rPr>
              <a:t>với</a:t>
            </a:r>
            <a:r>
              <a:rPr lang="en-CA" dirty="0">
                <a:highlight>
                  <a:srgbClr val="FFFFFF"/>
                </a:highlight>
              </a:rPr>
              <a:t> </a:t>
            </a:r>
            <a:r>
              <a:rPr lang="en-CA" dirty="0" err="1">
                <a:highlight>
                  <a:srgbClr val="FFFFFF"/>
                </a:highlight>
              </a:rPr>
              <a:t>nhau</a:t>
            </a:r>
            <a:r>
              <a:rPr lang="en-CA" dirty="0">
                <a:highlight>
                  <a:srgbClr val="FFFFFF"/>
                </a:highlight>
              </a:rPr>
              <a:t> </a:t>
            </a:r>
            <a:r>
              <a:rPr lang="en-CA" dirty="0" err="1">
                <a:highlight>
                  <a:srgbClr val="FFFFFF"/>
                </a:highlight>
              </a:rPr>
              <a:t>cho</a:t>
            </a:r>
            <a:r>
              <a:rPr lang="en-CA" dirty="0">
                <a:highlight>
                  <a:srgbClr val="FFFFFF"/>
                </a:highlight>
              </a:rPr>
              <a:t> </a:t>
            </a:r>
            <a:r>
              <a:rPr lang="en-CA" dirty="0" err="1">
                <a:highlight>
                  <a:srgbClr val="FFFFFF"/>
                </a:highlight>
              </a:rPr>
              <a:t>một</a:t>
            </a:r>
            <a:r>
              <a:rPr lang="en-CA" dirty="0">
                <a:highlight>
                  <a:srgbClr val="FFFFFF"/>
                </a:highlight>
              </a:rPr>
              <a:t> </a:t>
            </a:r>
            <a:r>
              <a:rPr lang="en-CA" dirty="0" err="1">
                <a:highlight>
                  <a:srgbClr val="FFFFFF"/>
                </a:highlight>
              </a:rPr>
              <a:t>mục</a:t>
            </a:r>
            <a:r>
              <a:rPr lang="en-CA" dirty="0">
                <a:highlight>
                  <a:srgbClr val="FFFFFF"/>
                </a:highlight>
              </a:rPr>
              <a:t> </a:t>
            </a:r>
            <a:r>
              <a:rPr lang="en-CA" dirty="0" err="1">
                <a:highlight>
                  <a:srgbClr val="FFFFFF"/>
                </a:highlight>
              </a:rPr>
              <a:t>đích</a:t>
            </a:r>
            <a:r>
              <a:rPr lang="en-CA" dirty="0">
                <a:highlight>
                  <a:srgbClr val="FFFFFF"/>
                </a:highlight>
              </a:rPr>
              <a:t> </a:t>
            </a:r>
            <a:r>
              <a:rPr lang="en-CA" dirty="0" err="1">
                <a:highlight>
                  <a:srgbClr val="FFFFFF"/>
                </a:highlight>
              </a:rPr>
              <a:t>cụ</a:t>
            </a:r>
            <a:r>
              <a:rPr lang="en-CA" dirty="0">
                <a:highlight>
                  <a:srgbClr val="FFFFFF"/>
                </a:highlight>
              </a:rPr>
              <a:t> </a:t>
            </a:r>
            <a:r>
              <a:rPr lang="en-CA" dirty="0" err="1">
                <a:highlight>
                  <a:srgbClr val="FFFFFF"/>
                </a:highlight>
              </a:rPr>
              <a:t>thể</a:t>
            </a:r>
            <a:r>
              <a:rPr lang="en-CA" dirty="0">
                <a:highlight>
                  <a:srgbClr val="FFFFFF"/>
                </a:highlight>
              </a:rPr>
              <a:t>.</a:t>
            </a:r>
            <a:endParaRPr dirty="0">
              <a:highlight>
                <a:srgbClr val="FFFFFF"/>
              </a:highlight>
            </a:endParaRPr>
          </a:p>
          <a:p>
            <a:pPr marL="0" lvl="0" indent="0" algn="l" rtl="0">
              <a:spcBef>
                <a:spcPts val="1200"/>
              </a:spcBef>
              <a:spcAft>
                <a:spcPts val="1200"/>
              </a:spcAft>
              <a:buNone/>
            </a:pPr>
            <a:endParaRPr dirty="0">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dirty="0"/>
              <a:t>4.1 </a:t>
            </a:r>
            <a:r>
              <a:rPr lang="en-CA" dirty="0" err="1"/>
              <a:t>BlueTooth</a:t>
            </a:r>
            <a:endParaRPr dirty="0"/>
          </a:p>
          <a:p>
            <a:pPr marL="0" lvl="0" indent="0" algn="l" rtl="0">
              <a:spcBef>
                <a:spcPts val="0"/>
              </a:spcBef>
              <a:spcAft>
                <a:spcPts val="0"/>
              </a:spcAft>
              <a:buNone/>
            </a:pPr>
            <a:endParaRPr dirty="0"/>
          </a:p>
        </p:txBody>
      </p:sp>
      <p:sp>
        <p:nvSpPr>
          <p:cNvPr id="169" name="Google Shape;169;p23"/>
          <p:cNvSpPr txBox="1">
            <a:spLocks noGrp="1"/>
          </p:cNvSpPr>
          <p:nvPr>
            <p:ph type="body" idx="1"/>
          </p:nvPr>
        </p:nvSpPr>
        <p:spPr>
          <a:xfrm>
            <a:off x="311700" y="1152475"/>
            <a:ext cx="8520600" cy="378766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r>
              <a:rPr lang="en-US" b="1" dirty="0" err="1"/>
              <a:t>BlueTooth</a:t>
            </a:r>
            <a:r>
              <a:rPr lang="en-US" b="1" dirty="0"/>
              <a:t> Low Energy (BLE)</a:t>
            </a:r>
          </a:p>
          <a:p>
            <a:pPr marL="114300" lvl="0" indent="0" algn="l" rtl="0">
              <a:spcBef>
                <a:spcPts val="0"/>
              </a:spcBef>
              <a:spcAft>
                <a:spcPts val="0"/>
              </a:spcAft>
              <a:buSzPts val="1800"/>
              <a:buNone/>
            </a:pPr>
            <a:endParaRPr lang="en-US" b="1" dirty="0"/>
          </a:p>
          <a:p>
            <a:pPr lvl="0" algn="l" rtl="0">
              <a:spcBef>
                <a:spcPts val="0"/>
              </a:spcBef>
              <a:spcAft>
                <a:spcPts val="0"/>
              </a:spcAft>
              <a:buSzPts val="1800"/>
              <a:buFontTx/>
              <a:buChar char="-"/>
            </a:pPr>
            <a:r>
              <a:rPr lang="en-US" dirty="0">
                <a:highlight>
                  <a:srgbClr val="FFFFFF"/>
                </a:highlight>
              </a:rPr>
              <a:t>C</a:t>
            </a:r>
            <a:r>
              <a:rPr lang="vi-VN" dirty="0"/>
              <a:t>huẩn kết nối không dây tiết kiệm năng lượng, được thiết kế cho các thiết bị IoT, cảm biến, và wearable.</a:t>
            </a:r>
            <a:endParaRPr lang="en-US" dirty="0"/>
          </a:p>
          <a:p>
            <a:pPr lvl="0" algn="l" rtl="0">
              <a:spcBef>
                <a:spcPts val="0"/>
              </a:spcBef>
              <a:spcAft>
                <a:spcPts val="0"/>
              </a:spcAft>
              <a:buSzPts val="1800"/>
              <a:buFontTx/>
              <a:buChar char="-"/>
            </a:pPr>
            <a:endParaRPr lang="en-US" dirty="0"/>
          </a:p>
          <a:p>
            <a:pPr lvl="0" algn="l" rtl="0">
              <a:spcBef>
                <a:spcPts val="0"/>
              </a:spcBef>
              <a:spcAft>
                <a:spcPts val="0"/>
              </a:spcAft>
              <a:buSzPts val="1800"/>
              <a:buFontTx/>
              <a:buChar char="-"/>
            </a:pPr>
            <a:r>
              <a:rPr lang="en-US" dirty="0" err="1"/>
              <a:t>Tiêu</a:t>
            </a:r>
            <a:r>
              <a:rPr lang="en-US" dirty="0"/>
              <a:t> </a:t>
            </a:r>
            <a:r>
              <a:rPr lang="en-US" dirty="0" err="1"/>
              <a:t>thụ</a:t>
            </a:r>
            <a:r>
              <a:rPr lang="en-US" dirty="0"/>
              <a:t> </a:t>
            </a:r>
            <a:r>
              <a:rPr lang="en-US" dirty="0" err="1"/>
              <a:t>điện</a:t>
            </a:r>
            <a:r>
              <a:rPr lang="en-US" dirty="0"/>
              <a:t> </a:t>
            </a:r>
            <a:r>
              <a:rPr lang="en-US" dirty="0" err="1"/>
              <a:t>năng</a:t>
            </a:r>
            <a:r>
              <a:rPr lang="en-US" dirty="0"/>
              <a:t> </a:t>
            </a:r>
            <a:r>
              <a:rPr lang="en-US" dirty="0" err="1"/>
              <a:t>cực</a:t>
            </a:r>
            <a:r>
              <a:rPr lang="en-US" dirty="0"/>
              <a:t> </a:t>
            </a:r>
            <a:r>
              <a:rPr lang="en-US" dirty="0" err="1"/>
              <a:t>thấp</a:t>
            </a:r>
            <a:r>
              <a:rPr lang="en-US" dirty="0"/>
              <a:t> → </a:t>
            </a:r>
            <a:r>
              <a:rPr lang="en-US" dirty="0" err="1"/>
              <a:t>kéo</a:t>
            </a:r>
            <a:r>
              <a:rPr lang="en-US" dirty="0"/>
              <a:t> </a:t>
            </a:r>
            <a:r>
              <a:rPr lang="en-US" dirty="0" err="1"/>
              <a:t>dài</a:t>
            </a:r>
            <a:r>
              <a:rPr lang="en-US" dirty="0"/>
              <a:t> </a:t>
            </a:r>
            <a:r>
              <a:rPr lang="en-US" dirty="0" err="1"/>
              <a:t>tuổi</a:t>
            </a:r>
            <a:r>
              <a:rPr lang="en-US" dirty="0"/>
              <a:t> </a:t>
            </a:r>
            <a:r>
              <a:rPr lang="en-US" dirty="0" err="1"/>
              <a:t>thọ</a:t>
            </a:r>
            <a:r>
              <a:rPr lang="en-US" dirty="0"/>
              <a:t> pin</a:t>
            </a:r>
          </a:p>
          <a:p>
            <a:pPr lvl="0" algn="l" rtl="0">
              <a:spcBef>
                <a:spcPts val="0"/>
              </a:spcBef>
              <a:spcAft>
                <a:spcPts val="0"/>
              </a:spcAft>
              <a:buSzPts val="1800"/>
              <a:buFontTx/>
              <a:buChar char="-"/>
            </a:pPr>
            <a:endParaRPr lang="en-US" dirty="0"/>
          </a:p>
          <a:p>
            <a:pPr lvl="0" algn="l" rtl="0">
              <a:spcBef>
                <a:spcPts val="0"/>
              </a:spcBef>
              <a:spcAft>
                <a:spcPts val="0"/>
              </a:spcAft>
              <a:buSzPts val="1800"/>
              <a:buFontTx/>
              <a:buChar char="-"/>
            </a:pPr>
            <a:r>
              <a:rPr lang="vi-VN" dirty="0"/>
              <a:t>Tốc độ truyền thấp hơn Bluetooth Classic (~1 Mbps)</a:t>
            </a:r>
            <a:endParaRPr lang="en-US" dirty="0"/>
          </a:p>
          <a:p>
            <a:pPr lvl="0" algn="l" rtl="0">
              <a:spcBef>
                <a:spcPts val="0"/>
              </a:spcBef>
              <a:spcAft>
                <a:spcPts val="0"/>
              </a:spcAft>
              <a:buSzPts val="1800"/>
              <a:buFontTx/>
              <a:buChar char="-"/>
            </a:pPr>
            <a:endParaRPr lang="en-US" dirty="0"/>
          </a:p>
          <a:p>
            <a:pPr lvl="0" algn="l" rtl="0">
              <a:spcBef>
                <a:spcPts val="0"/>
              </a:spcBef>
              <a:spcAft>
                <a:spcPts val="0"/>
              </a:spcAft>
              <a:buSzPts val="1800"/>
              <a:buFontTx/>
              <a:buChar char="-"/>
            </a:pPr>
            <a:r>
              <a:rPr lang="en-US" dirty="0" err="1"/>
              <a:t>Độ</a:t>
            </a:r>
            <a:r>
              <a:rPr lang="en-US" dirty="0"/>
              <a:t> </a:t>
            </a:r>
            <a:r>
              <a:rPr lang="en-US" dirty="0" err="1"/>
              <a:t>trễ</a:t>
            </a:r>
            <a:r>
              <a:rPr lang="en-US" dirty="0"/>
              <a:t> </a:t>
            </a:r>
            <a:r>
              <a:rPr lang="en-US" dirty="0" err="1"/>
              <a:t>rất</a:t>
            </a:r>
            <a:r>
              <a:rPr lang="en-US" dirty="0"/>
              <a:t> </a:t>
            </a:r>
            <a:r>
              <a:rPr lang="en-US" dirty="0" err="1"/>
              <a:t>nhỏ</a:t>
            </a:r>
            <a:r>
              <a:rPr lang="en-US" dirty="0"/>
              <a:t>, </a:t>
            </a:r>
            <a:r>
              <a:rPr lang="en-US" dirty="0" err="1"/>
              <a:t>thích</a:t>
            </a:r>
            <a:r>
              <a:rPr lang="en-US" dirty="0"/>
              <a:t> </a:t>
            </a:r>
            <a:r>
              <a:rPr lang="en-US" dirty="0" err="1"/>
              <a:t>hợp</a:t>
            </a:r>
            <a:r>
              <a:rPr lang="en-US" dirty="0"/>
              <a:t> </a:t>
            </a:r>
            <a:r>
              <a:rPr lang="en-US" dirty="0" err="1"/>
              <a:t>cho</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ngắn</a:t>
            </a:r>
            <a:r>
              <a:rPr lang="en-US" dirty="0"/>
              <a:t>, </a:t>
            </a:r>
            <a:r>
              <a:rPr lang="en-US" dirty="0" err="1"/>
              <a:t>gián</a:t>
            </a:r>
            <a:r>
              <a:rPr lang="en-US" dirty="0"/>
              <a:t> </a:t>
            </a:r>
            <a:r>
              <a:rPr lang="en-US" dirty="0" err="1"/>
              <a:t>đoạn</a:t>
            </a:r>
            <a:endParaRPr lang="en-US" dirty="0"/>
          </a:p>
          <a:p>
            <a:pPr marL="114300" lvl="0" indent="0" algn="l" rtl="0">
              <a:spcBef>
                <a:spcPts val="0"/>
              </a:spcBef>
              <a:spcAft>
                <a:spcPts val="0"/>
              </a:spcAft>
              <a:buSzPts val="1800"/>
              <a:buNone/>
            </a:pPr>
            <a:endParaRPr lang="en-US" b="1" dirty="0">
              <a:highlight>
                <a:srgbClr val="FFFFFF"/>
              </a:highlight>
            </a:endParaRPr>
          </a:p>
        </p:txBody>
      </p:sp>
    </p:spTree>
    <p:extLst>
      <p:ext uri="{BB962C8B-B14F-4D97-AF65-F5344CB8AC3E}">
        <p14:creationId xmlns:p14="http://schemas.microsoft.com/office/powerpoint/2010/main" val="3853481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4.1 BlueTooth</a:t>
            </a:r>
            <a:endParaRPr/>
          </a:p>
          <a:p>
            <a:pPr marL="0" lvl="0" indent="0" algn="l" rtl="0">
              <a:spcBef>
                <a:spcPts val="0"/>
              </a:spcBef>
              <a:spcAft>
                <a:spcPts val="0"/>
              </a:spcAft>
              <a:buNone/>
            </a:pPr>
            <a:endParaRPr/>
          </a:p>
        </p:txBody>
      </p:sp>
      <p:sp>
        <p:nvSpPr>
          <p:cNvPr id="175" name="Google Shape;175;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err="1"/>
              <a:t>Kết</a:t>
            </a:r>
            <a:r>
              <a:rPr lang="en-CA" dirty="0"/>
              <a:t> </a:t>
            </a:r>
            <a:r>
              <a:rPr lang="en-CA" dirty="0" err="1"/>
              <a:t>nối</a:t>
            </a:r>
            <a:r>
              <a:rPr lang="en-CA" dirty="0"/>
              <a:t> Arduino qua Bluetooth </a:t>
            </a:r>
            <a:r>
              <a:rPr lang="en-CA" dirty="0" err="1"/>
              <a:t>với</a:t>
            </a:r>
            <a:r>
              <a:rPr lang="en-CA" dirty="0"/>
              <a:t> module HC-05</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err="1"/>
              <a:t>Tài</a:t>
            </a:r>
            <a:r>
              <a:rPr lang="en-CA" dirty="0"/>
              <a:t> </a:t>
            </a:r>
            <a:r>
              <a:rPr lang="en-CA" dirty="0" err="1"/>
              <a:t>liệu</a:t>
            </a:r>
            <a:r>
              <a:rPr lang="en-CA" dirty="0"/>
              <a:t> </a:t>
            </a:r>
            <a:r>
              <a:rPr lang="en-CA" dirty="0" err="1"/>
              <a:t>tham</a:t>
            </a:r>
            <a:r>
              <a:rPr lang="en-CA" dirty="0"/>
              <a:t> </a:t>
            </a:r>
            <a:r>
              <a:rPr lang="en-CA" dirty="0" err="1"/>
              <a:t>khảo</a:t>
            </a:r>
            <a:endParaRPr dirty="0"/>
          </a:p>
          <a:p>
            <a:pPr marL="0" lvl="0" indent="0" algn="l" rtl="0">
              <a:spcBef>
                <a:spcPts val="1200"/>
              </a:spcBef>
              <a:spcAft>
                <a:spcPts val="0"/>
              </a:spcAft>
              <a:buNone/>
            </a:pPr>
            <a:r>
              <a:rPr lang="en-CA" sz="1200" dirty="0"/>
              <a:t>[1] </a:t>
            </a:r>
            <a:r>
              <a:rPr lang="en-CA" sz="1200" dirty="0">
                <a:uFill>
                  <a:noFill/>
                </a:uFill>
              </a:rPr>
              <a:t>http://arduino.vn/bai-viet/333-dieu-khien-arduino-thong-qua-bluetooth-bang-dien-thoai-android</a:t>
            </a:r>
            <a:endParaRPr sz="1200" dirty="0"/>
          </a:p>
          <a:p>
            <a:pPr marL="0" lvl="0" indent="0" algn="l" rtl="0">
              <a:spcBef>
                <a:spcPts val="1200"/>
              </a:spcBef>
              <a:spcAft>
                <a:spcPts val="1200"/>
              </a:spcAft>
              <a:buNone/>
            </a:pPr>
            <a:r>
              <a:rPr lang="en-CA" sz="1200" dirty="0"/>
              <a:t>[2] http://arduino.vn/bai-viet/912-dung-may-tinh-dieu-khien-arduino-thong-qua-bluetooth-voi-c-mot-cai-nhin-toan-dien-ve</a:t>
            </a:r>
          </a:p>
          <a:p>
            <a:pPr marL="0" lvl="0" indent="0" algn="l" rtl="0">
              <a:spcBef>
                <a:spcPts val="1200"/>
              </a:spcBef>
              <a:spcAft>
                <a:spcPts val="1200"/>
              </a:spcAft>
              <a:buNone/>
            </a:pPr>
            <a:r>
              <a:rPr lang="en-CA" sz="1200" dirty="0"/>
              <a:t>[3] https://lastminuteengineers.com/esp32-bluetooth-classic-tutorial/</a:t>
            </a:r>
            <a:endParaRPr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31F38-FBF2-115D-DCA7-DDD7C93FC51A}"/>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3" name="Text Placeholder 2">
            <a:extLst>
              <a:ext uri="{FF2B5EF4-FFF2-40B4-BE49-F238E27FC236}">
                <a16:creationId xmlns:a16="http://schemas.microsoft.com/office/drawing/2014/main" id="{45E1A17D-8E95-1DD4-928F-3BB547A466C6}"/>
              </a:ext>
            </a:extLst>
          </p:cNvPr>
          <p:cNvSpPr>
            <a:spLocks noGrp="1"/>
          </p:cNvSpPr>
          <p:nvPr>
            <p:ph type="body" idx="1"/>
          </p:nvPr>
        </p:nvSpPr>
        <p:spPr>
          <a:xfrm>
            <a:off x="311700" y="1152475"/>
            <a:ext cx="4666906" cy="3416400"/>
          </a:xfrm>
        </p:spPr>
        <p:txBody>
          <a:bodyPr>
            <a:normAutofit/>
          </a:bodyPr>
          <a:lstStyle/>
          <a:p>
            <a:pPr marL="114300" indent="0">
              <a:buNone/>
            </a:pPr>
            <a:r>
              <a:rPr lang="en-US" b="1" dirty="0" err="1"/>
              <a:t>Kiến</a:t>
            </a:r>
            <a:r>
              <a:rPr lang="en-US" b="1" dirty="0"/>
              <a:t> </a:t>
            </a:r>
            <a:r>
              <a:rPr lang="en-US" b="1" dirty="0" err="1"/>
              <a:t>trúc</a:t>
            </a:r>
            <a:r>
              <a:rPr lang="en-US" b="1" dirty="0"/>
              <a:t> </a:t>
            </a:r>
            <a:r>
              <a:rPr lang="en-US" b="1" dirty="0" err="1"/>
              <a:t>giao</a:t>
            </a:r>
            <a:r>
              <a:rPr lang="en-US" b="1" dirty="0"/>
              <a:t> </a:t>
            </a:r>
            <a:r>
              <a:rPr lang="en-US" b="1" dirty="0" err="1"/>
              <a:t>thức</a:t>
            </a:r>
            <a:r>
              <a:rPr lang="en-US" b="1" dirty="0"/>
              <a:t> Bluetooth </a:t>
            </a:r>
            <a:r>
              <a:rPr lang="en-US" b="1" dirty="0" err="1"/>
              <a:t>trên</a:t>
            </a:r>
            <a:r>
              <a:rPr lang="en-US" b="1" dirty="0"/>
              <a:t> ESP32</a:t>
            </a:r>
          </a:p>
          <a:p>
            <a:pPr marL="114300" indent="0">
              <a:buNone/>
            </a:pPr>
            <a:endParaRPr lang="en-US" dirty="0"/>
          </a:p>
          <a:p>
            <a:pPr>
              <a:buFontTx/>
              <a:buChar char="-"/>
            </a:pPr>
            <a:r>
              <a:rPr lang="en-US" dirty="0"/>
              <a:t>ESP32 </a:t>
            </a:r>
            <a:r>
              <a:rPr lang="en-US" dirty="0" err="1"/>
              <a:t>gồm</a:t>
            </a:r>
            <a:r>
              <a:rPr lang="en-US" dirty="0"/>
              <a:t> Host Stack + Controller Stack </a:t>
            </a:r>
          </a:p>
          <a:p>
            <a:pPr>
              <a:buFontTx/>
              <a:buChar char="-"/>
            </a:pPr>
            <a:r>
              <a:rPr lang="en-US" dirty="0"/>
              <a:t>Hai </a:t>
            </a:r>
            <a:r>
              <a:rPr lang="en-US" dirty="0" err="1"/>
              <a:t>loại</a:t>
            </a:r>
            <a:r>
              <a:rPr lang="en-US" dirty="0"/>
              <a:t> host stack:</a:t>
            </a:r>
          </a:p>
          <a:p>
            <a:pPr marL="114300" indent="0">
              <a:buNone/>
            </a:pPr>
            <a:r>
              <a:rPr lang="en-US" dirty="0"/>
              <a:t>• </a:t>
            </a:r>
            <a:r>
              <a:rPr lang="en-US" dirty="0" err="1"/>
              <a:t>Bluedroid</a:t>
            </a:r>
            <a:r>
              <a:rPr lang="en-US" dirty="0"/>
              <a:t> – </a:t>
            </a:r>
            <a:r>
              <a:rPr lang="en-US" dirty="0" err="1"/>
              <a:t>mặc</a:t>
            </a:r>
            <a:r>
              <a:rPr lang="en-US" dirty="0"/>
              <a:t> </a:t>
            </a:r>
            <a:r>
              <a:rPr lang="en-US" dirty="0" err="1"/>
              <a:t>định</a:t>
            </a:r>
            <a:r>
              <a:rPr lang="en-US" dirty="0"/>
              <a:t>; </a:t>
            </a:r>
            <a:r>
              <a:rPr lang="en-US" dirty="0" err="1"/>
              <a:t>hỗ</a:t>
            </a:r>
            <a:r>
              <a:rPr lang="en-US" dirty="0"/>
              <a:t> </a:t>
            </a:r>
            <a:r>
              <a:rPr lang="en-US" dirty="0" err="1"/>
              <a:t>trợ</a:t>
            </a:r>
            <a:r>
              <a:rPr lang="en-US" dirty="0"/>
              <a:t> </a:t>
            </a:r>
            <a:r>
              <a:rPr lang="en-US" dirty="0" err="1"/>
              <a:t>cả</a:t>
            </a:r>
            <a:r>
              <a:rPr lang="en-US" dirty="0"/>
              <a:t> Classic &amp; BLE </a:t>
            </a:r>
          </a:p>
          <a:p>
            <a:pPr marL="114300" indent="0">
              <a:buNone/>
            </a:pPr>
            <a:r>
              <a:rPr lang="en-US" dirty="0"/>
              <a:t>• </a:t>
            </a:r>
            <a:r>
              <a:rPr lang="en-US" dirty="0" err="1"/>
              <a:t>NimBLE</a:t>
            </a:r>
            <a:r>
              <a:rPr lang="en-US" dirty="0"/>
              <a:t> – </a:t>
            </a:r>
            <a:r>
              <a:rPr lang="en-US" dirty="0" err="1"/>
              <a:t>chỉ</a:t>
            </a:r>
            <a:r>
              <a:rPr lang="en-US" dirty="0"/>
              <a:t> BLE </a:t>
            </a:r>
          </a:p>
          <a:p>
            <a:pPr>
              <a:buFontTx/>
              <a:buChar char="-"/>
            </a:pPr>
            <a:r>
              <a:rPr lang="en-US" dirty="0"/>
              <a:t>Controller </a:t>
            </a:r>
            <a:r>
              <a:rPr lang="en-US" dirty="0" err="1"/>
              <a:t>quản</a:t>
            </a:r>
            <a:r>
              <a:rPr lang="en-US" dirty="0"/>
              <a:t> </a:t>
            </a:r>
            <a:r>
              <a:rPr lang="en-US" dirty="0" err="1"/>
              <a:t>lý</a:t>
            </a:r>
            <a:r>
              <a:rPr lang="en-US" dirty="0"/>
              <a:t> radio, </a:t>
            </a:r>
            <a:r>
              <a:rPr lang="en-US" dirty="0" err="1"/>
              <a:t>giao</a:t>
            </a:r>
            <a:r>
              <a:rPr lang="en-US" dirty="0"/>
              <a:t> </a:t>
            </a:r>
            <a:r>
              <a:rPr lang="en-US" dirty="0" err="1"/>
              <a:t>tiếp</a:t>
            </a:r>
            <a:r>
              <a:rPr lang="en-US" dirty="0"/>
              <a:t> </a:t>
            </a:r>
            <a:r>
              <a:rPr lang="en-US" dirty="0" err="1"/>
              <a:t>với</a:t>
            </a:r>
            <a:r>
              <a:rPr lang="en-US" dirty="0"/>
              <a:t> Host qua VHCI (Virtual HCI)</a:t>
            </a:r>
          </a:p>
          <a:p>
            <a:pPr>
              <a:buFontTx/>
              <a:buChar char="-"/>
            </a:pPr>
            <a:endParaRPr lang="en-US" dirty="0"/>
          </a:p>
        </p:txBody>
      </p:sp>
      <p:pic>
        <p:nvPicPr>
          <p:cNvPr id="1026" name="Picture 2" descr="esp32 bluetooth protocol stack">
            <a:extLst>
              <a:ext uri="{FF2B5EF4-FFF2-40B4-BE49-F238E27FC236}">
                <a16:creationId xmlns:a16="http://schemas.microsoft.com/office/drawing/2014/main" id="{00ED36E9-EAA3-C3A0-1341-0D0DC05A5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606" y="1483812"/>
            <a:ext cx="4063464" cy="217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148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88AA-009A-9B6A-EDCB-ACEE4FAF88A0}"/>
              </a:ext>
            </a:extLst>
          </p:cNvPr>
          <p:cNvSpPr>
            <a:spLocks noGrp="1"/>
          </p:cNvSpPr>
          <p:nvPr>
            <p:ph type="title"/>
          </p:nvPr>
        </p:nvSpPr>
        <p:spPr/>
        <p:txBody>
          <a:bodyPr>
            <a:normAutofit fontScale="90000"/>
          </a:bodyPr>
          <a:lstStyle/>
          <a:p>
            <a:endParaRPr lang="en-US" dirty="0"/>
          </a:p>
        </p:txBody>
      </p:sp>
      <p:sp>
        <p:nvSpPr>
          <p:cNvPr id="3" name="Text Placeholder 2">
            <a:extLst>
              <a:ext uri="{FF2B5EF4-FFF2-40B4-BE49-F238E27FC236}">
                <a16:creationId xmlns:a16="http://schemas.microsoft.com/office/drawing/2014/main" id="{9C960873-4495-EF45-0ACF-4B600AC87F02}"/>
              </a:ext>
            </a:extLst>
          </p:cNvPr>
          <p:cNvSpPr>
            <a:spLocks noGrp="1"/>
          </p:cNvSpPr>
          <p:nvPr>
            <p:ph type="body" idx="1"/>
          </p:nvPr>
        </p:nvSpPr>
        <p:spPr/>
        <p:txBody>
          <a:bodyPr/>
          <a:lstStyle/>
          <a:p>
            <a:pPr marL="114300" indent="0">
              <a:buNone/>
            </a:pPr>
            <a:endParaRPr lang="en-US" b="1" dirty="0"/>
          </a:p>
        </p:txBody>
      </p:sp>
      <p:pic>
        <p:nvPicPr>
          <p:cNvPr id="5" name="Picture 4">
            <a:extLst>
              <a:ext uri="{FF2B5EF4-FFF2-40B4-BE49-F238E27FC236}">
                <a16:creationId xmlns:a16="http://schemas.microsoft.com/office/drawing/2014/main" id="{6638D553-3E1D-D19A-BED5-EBF3DAEF4E4A}"/>
              </a:ext>
            </a:extLst>
          </p:cNvPr>
          <p:cNvPicPr>
            <a:picLocks noChangeAspect="1"/>
          </p:cNvPicPr>
          <p:nvPr/>
        </p:nvPicPr>
        <p:blipFill>
          <a:blip r:embed="rId3"/>
          <a:stretch>
            <a:fillRect/>
          </a:stretch>
        </p:blipFill>
        <p:spPr>
          <a:xfrm>
            <a:off x="926273" y="42306"/>
            <a:ext cx="7650025" cy="5058888"/>
          </a:xfrm>
          <a:prstGeom prst="rect">
            <a:avLst/>
          </a:prstGeom>
        </p:spPr>
      </p:pic>
    </p:spTree>
    <p:extLst>
      <p:ext uri="{BB962C8B-B14F-4D97-AF65-F5344CB8AC3E}">
        <p14:creationId xmlns:p14="http://schemas.microsoft.com/office/powerpoint/2010/main" val="228039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3631-043D-6F3E-826D-B7C47189EB8C}"/>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3" name="Text Placeholder 2">
            <a:extLst>
              <a:ext uri="{FF2B5EF4-FFF2-40B4-BE49-F238E27FC236}">
                <a16:creationId xmlns:a16="http://schemas.microsoft.com/office/drawing/2014/main" id="{F7B39980-332E-54B7-EA01-F5F7653F5FA8}"/>
              </a:ext>
            </a:extLst>
          </p:cNvPr>
          <p:cNvSpPr>
            <a:spLocks noGrp="1"/>
          </p:cNvSpPr>
          <p:nvPr>
            <p:ph type="body" idx="1"/>
          </p:nvPr>
        </p:nvSpPr>
        <p:spPr/>
        <p:txBody>
          <a:bodyPr/>
          <a:lstStyle/>
          <a:p>
            <a:endParaRPr lang="en-US" dirty="0"/>
          </a:p>
        </p:txBody>
      </p:sp>
      <p:pic>
        <p:nvPicPr>
          <p:cNvPr id="2050" name="Picture 2" descr="turn mobile bluetooth on">
            <a:extLst>
              <a:ext uri="{FF2B5EF4-FFF2-40B4-BE49-F238E27FC236}">
                <a16:creationId xmlns:a16="http://schemas.microsoft.com/office/drawing/2014/main" id="{A0F24B8B-515A-1D2E-E182-BB124482AD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00" y="1152474"/>
            <a:ext cx="2428875" cy="21812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air a new bluetooth device">
            <a:extLst>
              <a:ext uri="{FF2B5EF4-FFF2-40B4-BE49-F238E27FC236}">
                <a16:creationId xmlns:a16="http://schemas.microsoft.com/office/drawing/2014/main" id="{5B16652D-0FC6-32D0-46F7-A1FC2BCE6A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213" y="1152474"/>
            <a:ext cx="2428875" cy="25812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elect esp32test from all discovered devices">
            <a:extLst>
              <a:ext uri="{FF2B5EF4-FFF2-40B4-BE49-F238E27FC236}">
                <a16:creationId xmlns:a16="http://schemas.microsoft.com/office/drawing/2014/main" id="{6B5B5071-6376-04D2-1E94-1D997AFEEC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3425" y="1152474"/>
            <a:ext cx="24288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971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A53D-B6AC-3D1B-DB2F-962F1BEDFB92}"/>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10" name="AutoShape 14" descr="serial bluetooth terminal app">
            <a:extLst>
              <a:ext uri="{FF2B5EF4-FFF2-40B4-BE49-F238E27FC236}">
                <a16:creationId xmlns:a16="http://schemas.microsoft.com/office/drawing/2014/main" id="{11AA9CBD-D57D-892A-5CAE-515C7D308F7E}"/>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2" name="Picture 11">
            <a:extLst>
              <a:ext uri="{FF2B5EF4-FFF2-40B4-BE49-F238E27FC236}">
                <a16:creationId xmlns:a16="http://schemas.microsoft.com/office/drawing/2014/main" id="{396D9A6B-4361-FE27-ED8C-17F108999C7B}"/>
              </a:ext>
            </a:extLst>
          </p:cNvPr>
          <p:cNvPicPr>
            <a:picLocks noChangeAspect="1"/>
          </p:cNvPicPr>
          <p:nvPr/>
        </p:nvPicPr>
        <p:blipFill>
          <a:blip r:embed="rId2"/>
          <a:stretch>
            <a:fillRect/>
          </a:stretch>
        </p:blipFill>
        <p:spPr>
          <a:xfrm>
            <a:off x="311700" y="1152475"/>
            <a:ext cx="2629846" cy="3324522"/>
          </a:xfrm>
          <a:prstGeom prst="rect">
            <a:avLst/>
          </a:prstGeom>
        </p:spPr>
      </p:pic>
      <p:pic>
        <p:nvPicPr>
          <p:cNvPr id="14" name="Picture 13">
            <a:extLst>
              <a:ext uri="{FF2B5EF4-FFF2-40B4-BE49-F238E27FC236}">
                <a16:creationId xmlns:a16="http://schemas.microsoft.com/office/drawing/2014/main" id="{F7EAA1BB-D5CD-FE9E-1829-8B8BF996B734}"/>
              </a:ext>
            </a:extLst>
          </p:cNvPr>
          <p:cNvPicPr>
            <a:picLocks noChangeAspect="1"/>
          </p:cNvPicPr>
          <p:nvPr/>
        </p:nvPicPr>
        <p:blipFill>
          <a:blip r:embed="rId3"/>
          <a:stretch>
            <a:fillRect/>
          </a:stretch>
        </p:blipFill>
        <p:spPr>
          <a:xfrm>
            <a:off x="3296123" y="1490761"/>
            <a:ext cx="5181600" cy="2647950"/>
          </a:xfrm>
          <a:prstGeom prst="rect">
            <a:avLst/>
          </a:prstGeom>
        </p:spPr>
      </p:pic>
    </p:spTree>
    <p:extLst>
      <p:ext uri="{BB962C8B-B14F-4D97-AF65-F5344CB8AC3E}">
        <p14:creationId xmlns:p14="http://schemas.microsoft.com/office/powerpoint/2010/main" val="2145760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1DD61-0851-59B2-51E8-C20B615ECDAD}"/>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3" name="Text Placeholder 2">
            <a:extLst>
              <a:ext uri="{FF2B5EF4-FFF2-40B4-BE49-F238E27FC236}">
                <a16:creationId xmlns:a16="http://schemas.microsoft.com/office/drawing/2014/main" id="{7F21E409-C878-1C79-DDD9-3DA7F2D0450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8FC0D61-C38F-FD8D-9AEB-C641E2EA1C4F}"/>
              </a:ext>
            </a:extLst>
          </p:cNvPr>
          <p:cNvPicPr>
            <a:picLocks noChangeAspect="1"/>
          </p:cNvPicPr>
          <p:nvPr/>
        </p:nvPicPr>
        <p:blipFill>
          <a:blip r:embed="rId2"/>
          <a:stretch>
            <a:fillRect/>
          </a:stretch>
        </p:blipFill>
        <p:spPr>
          <a:xfrm>
            <a:off x="311700" y="1068425"/>
            <a:ext cx="2486025" cy="2324100"/>
          </a:xfrm>
          <a:prstGeom prst="rect">
            <a:avLst/>
          </a:prstGeom>
        </p:spPr>
      </p:pic>
      <p:pic>
        <p:nvPicPr>
          <p:cNvPr id="7" name="Picture 6">
            <a:extLst>
              <a:ext uri="{FF2B5EF4-FFF2-40B4-BE49-F238E27FC236}">
                <a16:creationId xmlns:a16="http://schemas.microsoft.com/office/drawing/2014/main" id="{1C3F390A-060B-37CB-3D63-2754EC6A83F5}"/>
              </a:ext>
            </a:extLst>
          </p:cNvPr>
          <p:cNvPicPr>
            <a:picLocks noChangeAspect="1"/>
          </p:cNvPicPr>
          <p:nvPr/>
        </p:nvPicPr>
        <p:blipFill>
          <a:blip r:embed="rId3"/>
          <a:stretch>
            <a:fillRect/>
          </a:stretch>
        </p:blipFill>
        <p:spPr>
          <a:xfrm>
            <a:off x="2797725" y="1068425"/>
            <a:ext cx="2476500" cy="2228850"/>
          </a:xfrm>
          <a:prstGeom prst="rect">
            <a:avLst/>
          </a:prstGeom>
        </p:spPr>
      </p:pic>
      <p:pic>
        <p:nvPicPr>
          <p:cNvPr id="9" name="Picture 8">
            <a:extLst>
              <a:ext uri="{FF2B5EF4-FFF2-40B4-BE49-F238E27FC236}">
                <a16:creationId xmlns:a16="http://schemas.microsoft.com/office/drawing/2014/main" id="{A04779CA-0876-0FD3-A27A-2BE6F23014A2}"/>
              </a:ext>
            </a:extLst>
          </p:cNvPr>
          <p:cNvPicPr>
            <a:picLocks noChangeAspect="1"/>
          </p:cNvPicPr>
          <p:nvPr/>
        </p:nvPicPr>
        <p:blipFill>
          <a:blip r:embed="rId4"/>
          <a:stretch>
            <a:fillRect/>
          </a:stretch>
        </p:blipFill>
        <p:spPr>
          <a:xfrm>
            <a:off x="5466546" y="1068425"/>
            <a:ext cx="2486025" cy="2286000"/>
          </a:xfrm>
          <a:prstGeom prst="rect">
            <a:avLst/>
          </a:prstGeom>
        </p:spPr>
      </p:pic>
    </p:spTree>
    <p:extLst>
      <p:ext uri="{BB962C8B-B14F-4D97-AF65-F5344CB8AC3E}">
        <p14:creationId xmlns:p14="http://schemas.microsoft.com/office/powerpoint/2010/main" val="1223683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3477-1AEB-1CEB-1812-8B97ADC85B2B}"/>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3" name="Text Placeholder 2">
            <a:extLst>
              <a:ext uri="{FF2B5EF4-FFF2-40B4-BE49-F238E27FC236}">
                <a16:creationId xmlns:a16="http://schemas.microsoft.com/office/drawing/2014/main" id="{B80B2E4C-FDD4-F79D-9BAB-7379BCBCA545}"/>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6551BD4-3656-D1EE-017C-B5E7D36B3F46}"/>
              </a:ext>
            </a:extLst>
          </p:cNvPr>
          <p:cNvPicPr>
            <a:picLocks noChangeAspect="1"/>
          </p:cNvPicPr>
          <p:nvPr/>
        </p:nvPicPr>
        <p:blipFill>
          <a:blip r:embed="rId2"/>
          <a:stretch>
            <a:fillRect/>
          </a:stretch>
        </p:blipFill>
        <p:spPr>
          <a:xfrm>
            <a:off x="1804987" y="1384300"/>
            <a:ext cx="5534025" cy="2952750"/>
          </a:xfrm>
          <a:prstGeom prst="rect">
            <a:avLst/>
          </a:prstGeom>
        </p:spPr>
      </p:pic>
    </p:spTree>
    <p:extLst>
      <p:ext uri="{BB962C8B-B14F-4D97-AF65-F5344CB8AC3E}">
        <p14:creationId xmlns:p14="http://schemas.microsoft.com/office/powerpoint/2010/main" val="3893915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7F88C-7392-12A9-7FEE-4CB38E59D2FA}"/>
              </a:ext>
            </a:extLst>
          </p:cNvPr>
          <p:cNvSpPr>
            <a:spLocks noGrp="1"/>
          </p:cNvSpPr>
          <p:nvPr>
            <p:ph type="title"/>
          </p:nvPr>
        </p:nvSpPr>
        <p:spPr/>
        <p:txBody>
          <a:bodyPr>
            <a:normAutofit fontScale="90000"/>
          </a:bodyPr>
          <a:lstStyle/>
          <a:p>
            <a:r>
              <a:rPr lang="en-CA" dirty="0"/>
              <a:t>4.1 </a:t>
            </a:r>
            <a:r>
              <a:rPr lang="en-CA" dirty="0" err="1"/>
              <a:t>BlueTooth</a:t>
            </a:r>
            <a:endParaRPr lang="en-US" dirty="0"/>
          </a:p>
        </p:txBody>
      </p:sp>
      <p:sp>
        <p:nvSpPr>
          <p:cNvPr id="3" name="Text Placeholder 2">
            <a:extLst>
              <a:ext uri="{FF2B5EF4-FFF2-40B4-BE49-F238E27FC236}">
                <a16:creationId xmlns:a16="http://schemas.microsoft.com/office/drawing/2014/main" id="{6850D3A7-6E61-B182-A7A7-A8FFBCA57BE1}"/>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ACEA60E-C379-7FC1-E316-5621823C3BB8}"/>
              </a:ext>
            </a:extLst>
          </p:cNvPr>
          <p:cNvPicPr>
            <a:picLocks noChangeAspect="1"/>
          </p:cNvPicPr>
          <p:nvPr/>
        </p:nvPicPr>
        <p:blipFill>
          <a:blip r:embed="rId2"/>
          <a:stretch>
            <a:fillRect/>
          </a:stretch>
        </p:blipFill>
        <p:spPr>
          <a:xfrm>
            <a:off x="311700" y="1355725"/>
            <a:ext cx="5553075" cy="3009900"/>
          </a:xfrm>
          <a:prstGeom prst="rect">
            <a:avLst/>
          </a:prstGeom>
        </p:spPr>
      </p:pic>
      <p:pic>
        <p:nvPicPr>
          <p:cNvPr id="7" name="Picture 6">
            <a:extLst>
              <a:ext uri="{FF2B5EF4-FFF2-40B4-BE49-F238E27FC236}">
                <a16:creationId xmlns:a16="http://schemas.microsoft.com/office/drawing/2014/main" id="{35F074FB-210F-677A-E1F5-0E8DDF3B0429}"/>
              </a:ext>
            </a:extLst>
          </p:cNvPr>
          <p:cNvPicPr>
            <a:picLocks noChangeAspect="1"/>
          </p:cNvPicPr>
          <p:nvPr/>
        </p:nvPicPr>
        <p:blipFill>
          <a:blip r:embed="rId3"/>
          <a:stretch>
            <a:fillRect/>
          </a:stretch>
        </p:blipFill>
        <p:spPr>
          <a:xfrm>
            <a:off x="6100762" y="1564140"/>
            <a:ext cx="2495550" cy="2276475"/>
          </a:xfrm>
          <a:prstGeom prst="rect">
            <a:avLst/>
          </a:prstGeom>
        </p:spPr>
      </p:pic>
    </p:spTree>
    <p:extLst>
      <p:ext uri="{BB962C8B-B14F-4D97-AF65-F5344CB8AC3E}">
        <p14:creationId xmlns:p14="http://schemas.microsoft.com/office/powerpoint/2010/main" val="866589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4.2 ZigBee</a:t>
            </a:r>
            <a:endParaRPr/>
          </a:p>
          <a:p>
            <a:pPr marL="0" lvl="0" indent="0" algn="l" rtl="0">
              <a:spcBef>
                <a:spcPts val="0"/>
              </a:spcBef>
              <a:spcAft>
                <a:spcPts val="0"/>
              </a:spcAft>
              <a:buNone/>
            </a:pPr>
            <a:endParaRPr/>
          </a:p>
        </p:txBody>
      </p:sp>
      <p:sp>
        <p:nvSpPr>
          <p:cNvPr id="181" name="Google Shape;181;p25"/>
          <p:cNvSpPr txBox="1">
            <a:spLocks noGrp="1"/>
          </p:cNvSpPr>
          <p:nvPr>
            <p:ph type="body" idx="1"/>
          </p:nvPr>
        </p:nvSpPr>
        <p:spPr>
          <a:xfrm>
            <a:off x="311700" y="1152475"/>
            <a:ext cx="8520600" cy="3890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sz="1350" dirty="0">
                <a:solidFill>
                  <a:srgbClr val="273239"/>
                </a:solidFill>
                <a:highlight>
                  <a:srgbClr val="FFFFFF"/>
                </a:highlight>
                <a:latin typeface="Nunito"/>
                <a:ea typeface="Nunito"/>
                <a:cs typeface="Nunito"/>
                <a:sym typeface="Nunito"/>
              </a:rPr>
              <a:t>ZigBee is a Personal Area Network task group with low rate task group 4.</a:t>
            </a:r>
            <a:endParaRPr sz="1350" dirty="0">
              <a:solidFill>
                <a:srgbClr val="273239"/>
              </a:solidFill>
              <a:highlight>
                <a:srgbClr val="FFFFFF"/>
              </a:highlight>
              <a:latin typeface="Nunito"/>
              <a:ea typeface="Nunito"/>
              <a:cs typeface="Nunito"/>
              <a:sym typeface="Nunito"/>
            </a:endParaRPr>
          </a:p>
          <a:p>
            <a:pPr marL="457200" lvl="0" indent="0" algn="l" rtl="0">
              <a:spcBef>
                <a:spcPts val="1200"/>
              </a:spcBef>
              <a:spcAft>
                <a:spcPts val="0"/>
              </a:spcAft>
              <a:buNone/>
            </a:pPr>
            <a:endParaRPr sz="1350" dirty="0">
              <a:solidFill>
                <a:srgbClr val="273239"/>
              </a:solidFill>
              <a:highlight>
                <a:srgbClr val="FFFFFF"/>
              </a:highlight>
              <a:latin typeface="Nunito"/>
              <a:ea typeface="Nunito"/>
              <a:cs typeface="Nunito"/>
              <a:sym typeface="Nunito"/>
            </a:endParaRPr>
          </a:p>
          <a:p>
            <a:pPr marL="457200" lvl="0" indent="-342900" algn="l" rtl="0">
              <a:spcBef>
                <a:spcPts val="1200"/>
              </a:spcBef>
              <a:spcAft>
                <a:spcPts val="0"/>
              </a:spcAft>
              <a:buSzPts val="1800"/>
              <a:buChar char="-"/>
            </a:pPr>
            <a:r>
              <a:rPr lang="en-CA" sz="1350" dirty="0">
                <a:solidFill>
                  <a:srgbClr val="273239"/>
                </a:solidFill>
                <a:highlight>
                  <a:srgbClr val="FFFFFF"/>
                </a:highlight>
                <a:latin typeface="Nunito"/>
                <a:ea typeface="Nunito"/>
                <a:cs typeface="Nunito"/>
                <a:sym typeface="Nunito"/>
              </a:rPr>
              <a:t>ZigBee is a technological standard created for controlling and sensing the network. </a:t>
            </a:r>
            <a:endParaRPr sz="1350" dirty="0">
              <a:solidFill>
                <a:srgbClr val="273239"/>
              </a:solidFill>
              <a:highlight>
                <a:srgbClr val="FFFFFF"/>
              </a:highlight>
              <a:latin typeface="Nunito"/>
              <a:ea typeface="Nunito"/>
              <a:cs typeface="Nunito"/>
              <a:sym typeface="Nunito"/>
            </a:endParaRPr>
          </a:p>
          <a:p>
            <a:pPr marL="457200" lvl="0" indent="0" algn="l" rtl="0">
              <a:spcBef>
                <a:spcPts val="1200"/>
              </a:spcBef>
              <a:spcAft>
                <a:spcPts val="0"/>
              </a:spcAft>
              <a:buNone/>
            </a:pPr>
            <a:endParaRPr sz="1350" dirty="0">
              <a:solidFill>
                <a:srgbClr val="273239"/>
              </a:solidFill>
              <a:highlight>
                <a:srgbClr val="FFFFFF"/>
              </a:highlight>
              <a:latin typeface="Nunito"/>
              <a:ea typeface="Nunito"/>
              <a:cs typeface="Nunito"/>
              <a:sym typeface="Nunito"/>
            </a:endParaRPr>
          </a:p>
          <a:p>
            <a:pPr marL="457200" lvl="0" indent="-342900" algn="l" rtl="0">
              <a:spcBef>
                <a:spcPts val="1200"/>
              </a:spcBef>
              <a:spcAft>
                <a:spcPts val="0"/>
              </a:spcAft>
              <a:buSzPts val="1800"/>
              <a:buChar char="-"/>
            </a:pPr>
            <a:r>
              <a:rPr lang="en-CA" sz="1350" dirty="0">
                <a:solidFill>
                  <a:srgbClr val="273239"/>
                </a:solidFill>
                <a:highlight>
                  <a:srgbClr val="FFFFFF"/>
                </a:highlight>
                <a:latin typeface="Nunito"/>
                <a:ea typeface="Nunito"/>
                <a:cs typeface="Nunito"/>
                <a:sym typeface="Nunito"/>
              </a:rPr>
              <a:t>ZigBee is based on IEEE 802.15.4 and is created by Zigbee Alliance.</a:t>
            </a:r>
            <a:endParaRPr sz="1350" dirty="0">
              <a:solidFill>
                <a:srgbClr val="273239"/>
              </a:solidFill>
              <a:highlight>
                <a:srgbClr val="FFFFFF"/>
              </a:highlight>
              <a:latin typeface="Nunito"/>
              <a:ea typeface="Nunito"/>
              <a:cs typeface="Nunito"/>
              <a:sym typeface="Nunito"/>
            </a:endParaRPr>
          </a:p>
          <a:p>
            <a:pPr marL="457200" lvl="0" indent="0" algn="l" rtl="0">
              <a:spcBef>
                <a:spcPts val="1200"/>
              </a:spcBef>
              <a:spcAft>
                <a:spcPts val="0"/>
              </a:spcAft>
              <a:buNone/>
            </a:pPr>
            <a:endParaRPr sz="1350" dirty="0">
              <a:solidFill>
                <a:srgbClr val="273239"/>
              </a:solidFill>
              <a:highlight>
                <a:srgbClr val="FFFFFF"/>
              </a:highlight>
              <a:latin typeface="Nunito"/>
              <a:ea typeface="Nunito"/>
              <a:cs typeface="Nunito"/>
              <a:sym typeface="Nunito"/>
            </a:endParaRPr>
          </a:p>
          <a:p>
            <a:pPr marL="457200" lvl="0" indent="-314325" algn="l" rtl="0">
              <a:spcBef>
                <a:spcPts val="1200"/>
              </a:spcBef>
              <a:spcAft>
                <a:spcPts val="0"/>
              </a:spcAft>
              <a:buClr>
                <a:srgbClr val="273239"/>
              </a:buClr>
              <a:buSzPts val="1350"/>
              <a:buFont typeface="Nunito"/>
              <a:buChar char="-"/>
            </a:pPr>
            <a:r>
              <a:rPr lang="en-CA" sz="1350" dirty="0">
                <a:solidFill>
                  <a:srgbClr val="273239"/>
                </a:solidFill>
                <a:highlight>
                  <a:srgbClr val="FFFFFF"/>
                </a:highlight>
                <a:latin typeface="Nunito"/>
                <a:ea typeface="Nunito"/>
                <a:cs typeface="Nunito"/>
                <a:sym typeface="Nunito"/>
              </a:rPr>
              <a:t>Low cost, low energy and low bandwidth</a:t>
            </a:r>
            <a:endParaRPr sz="1350" dirty="0">
              <a:solidFill>
                <a:srgbClr val="273239"/>
              </a:solidFill>
              <a:highlight>
                <a:srgbClr val="FFFFFF"/>
              </a:highlight>
              <a:latin typeface="Nunito"/>
              <a:ea typeface="Nunito"/>
              <a:cs typeface="Nunito"/>
              <a:sym typeface="Nunito"/>
            </a:endParaRPr>
          </a:p>
          <a:p>
            <a:pPr marL="0" lvl="0" indent="0" algn="l" rtl="0">
              <a:spcBef>
                <a:spcPts val="1200"/>
              </a:spcBef>
              <a:spcAft>
                <a:spcPts val="0"/>
              </a:spcAft>
              <a:buNone/>
            </a:pPr>
            <a:endParaRPr sz="1350" dirty="0">
              <a:solidFill>
                <a:srgbClr val="273239"/>
              </a:solidFill>
              <a:highlight>
                <a:srgbClr val="FFFFFF"/>
              </a:highlight>
              <a:latin typeface="Nunito"/>
              <a:ea typeface="Nunito"/>
              <a:cs typeface="Nunito"/>
              <a:sym typeface="Nunito"/>
            </a:endParaRPr>
          </a:p>
          <a:p>
            <a:pPr marL="0" lvl="0" indent="0" algn="l" rtl="0">
              <a:spcBef>
                <a:spcPts val="1200"/>
              </a:spcBef>
              <a:spcAft>
                <a:spcPts val="1200"/>
              </a:spcAft>
              <a:buNone/>
            </a:pPr>
            <a:r>
              <a:rPr lang="en-CA" sz="1350" dirty="0">
                <a:solidFill>
                  <a:srgbClr val="273239"/>
                </a:solidFill>
                <a:highlight>
                  <a:srgbClr val="FFFFFF"/>
                </a:highlight>
                <a:latin typeface="Nunito"/>
                <a:ea typeface="Nunito"/>
                <a:cs typeface="Nunito"/>
                <a:sym typeface="Nunito"/>
              </a:rPr>
              <a:t>[*] https://www.geeksforgeeks.org/introduction-of-zigbee/</a:t>
            </a:r>
            <a:endParaRPr sz="135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4.2 ZigBee</a:t>
            </a:r>
            <a:endParaRPr/>
          </a:p>
          <a:p>
            <a:pPr marL="0" lvl="0" indent="0" algn="l" rtl="0">
              <a:spcBef>
                <a:spcPts val="0"/>
              </a:spcBef>
              <a:spcAft>
                <a:spcPts val="0"/>
              </a:spcAft>
              <a:buNone/>
            </a:pPr>
            <a:endParaRPr/>
          </a:p>
        </p:txBody>
      </p:sp>
      <p:sp>
        <p:nvSpPr>
          <p:cNvPr id="187" name="Google Shape;187;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endParaRPr sz="1350">
              <a:solidFill>
                <a:srgbClr val="273239"/>
              </a:solidFill>
              <a:highlight>
                <a:srgbClr val="FFFFFF"/>
              </a:highlight>
              <a:latin typeface="Nunito"/>
              <a:ea typeface="Nunito"/>
              <a:cs typeface="Nunito"/>
              <a:sym typeface="Nunito"/>
            </a:endParaRPr>
          </a:p>
        </p:txBody>
      </p:sp>
      <p:pic>
        <p:nvPicPr>
          <p:cNvPr id="188" name="Google Shape;188;p26"/>
          <p:cNvPicPr preferRelativeResize="0"/>
          <p:nvPr/>
        </p:nvPicPr>
        <p:blipFill>
          <a:blip r:embed="rId3">
            <a:alphaModFix/>
          </a:blip>
          <a:stretch>
            <a:fillRect/>
          </a:stretch>
        </p:blipFill>
        <p:spPr>
          <a:xfrm>
            <a:off x="2191713" y="1220850"/>
            <a:ext cx="4962525" cy="3419475"/>
          </a:xfrm>
          <a:prstGeom prst="rect">
            <a:avLst/>
          </a:prstGeom>
          <a:noFill/>
          <a:ln>
            <a:noFill/>
          </a:ln>
        </p:spPr>
      </p:pic>
      <p:sp>
        <p:nvSpPr>
          <p:cNvPr id="189" name="Google Shape;189;p26"/>
          <p:cNvSpPr txBox="1"/>
          <p:nvPr/>
        </p:nvSpPr>
        <p:spPr>
          <a:xfrm>
            <a:off x="2175500" y="4669550"/>
            <a:ext cx="5065800" cy="31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2"/>
              </a:buClr>
              <a:buSzPts val="1100"/>
              <a:buFont typeface="Arial"/>
              <a:buNone/>
            </a:pPr>
            <a:r>
              <a:rPr lang="en-CA" sz="1350">
                <a:solidFill>
                  <a:srgbClr val="273239"/>
                </a:solidFill>
                <a:highlight>
                  <a:srgbClr val="FFFFFF"/>
                </a:highlight>
                <a:latin typeface="Nunito"/>
                <a:ea typeface="Nunito"/>
                <a:cs typeface="Nunito"/>
                <a:sym typeface="Nunito"/>
              </a:rPr>
              <a:t>[*] https://www.geeksforgeeks.org/introduction-of-zigbee/</a:t>
            </a:r>
            <a:endParaRPr sz="1350">
              <a:solidFill>
                <a:srgbClr val="273239"/>
              </a:solidFill>
              <a:highlight>
                <a:srgbClr val="FFFFFF"/>
              </a:highlight>
              <a:latin typeface="Nunito"/>
              <a:ea typeface="Nunito"/>
              <a:cs typeface="Nunito"/>
              <a:sym typeface="Nunito"/>
            </a:endParaRPr>
          </a:p>
          <a:p>
            <a:pPr marL="0" lvl="0" indent="0" algn="l" rtl="0">
              <a:spcBef>
                <a:spcPts val="1200"/>
              </a:spcBef>
              <a:spcAft>
                <a:spcPts val="0"/>
              </a:spcAft>
              <a:buNone/>
            </a:pP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4.2 ZigBee</a:t>
            </a:r>
            <a:endParaRPr/>
          </a:p>
          <a:p>
            <a:pPr marL="0" lvl="0" indent="0" algn="l" rtl="0">
              <a:spcBef>
                <a:spcPts val="0"/>
              </a:spcBef>
              <a:spcAft>
                <a:spcPts val="0"/>
              </a:spcAft>
              <a:buNone/>
            </a:pPr>
            <a:endParaRPr/>
          </a:p>
        </p:txBody>
      </p:sp>
      <p:sp>
        <p:nvSpPr>
          <p:cNvPr id="195" name="Google Shape;19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CA" sz="2000" dirty="0" err="1"/>
              <a:t>Tiêu</a:t>
            </a:r>
            <a:r>
              <a:rPr lang="en-CA" sz="2000" dirty="0"/>
              <a:t> </a:t>
            </a:r>
            <a:r>
              <a:rPr lang="en-CA" sz="2000" dirty="0" err="1"/>
              <a:t>thụ</a:t>
            </a:r>
            <a:r>
              <a:rPr lang="en-CA" sz="2000" dirty="0"/>
              <a:t> </a:t>
            </a:r>
            <a:r>
              <a:rPr lang="en-CA" sz="2000" dirty="0" err="1"/>
              <a:t>điện</a:t>
            </a:r>
            <a:r>
              <a:rPr lang="en-CA" sz="2000" dirty="0"/>
              <a:t> </a:t>
            </a:r>
            <a:r>
              <a:rPr lang="en-CA" sz="2000" dirty="0" err="1"/>
              <a:t>năng</a:t>
            </a:r>
            <a:r>
              <a:rPr lang="en-CA" sz="2000" dirty="0"/>
              <a:t> </a:t>
            </a:r>
            <a:r>
              <a:rPr lang="en-CA" sz="2000" dirty="0" err="1"/>
              <a:t>thấp</a:t>
            </a:r>
            <a:r>
              <a:rPr lang="en-CA" sz="2000" dirty="0"/>
              <a:t>.</a:t>
            </a:r>
            <a:endParaRPr sz="2000" dirty="0"/>
          </a:p>
          <a:p>
            <a:pPr marL="457200" lvl="0" indent="-355600" algn="l" rtl="0">
              <a:spcBef>
                <a:spcPts val="0"/>
              </a:spcBef>
              <a:spcAft>
                <a:spcPts val="0"/>
              </a:spcAft>
              <a:buSzPts val="2000"/>
              <a:buChar char="-"/>
            </a:pPr>
            <a:r>
              <a:rPr lang="en-CA" sz="2000" dirty="0" err="1"/>
              <a:t>Tốc</a:t>
            </a:r>
            <a:r>
              <a:rPr lang="en-CA" sz="2000" dirty="0"/>
              <a:t> </a:t>
            </a:r>
            <a:r>
              <a:rPr lang="en-CA" sz="2000" dirty="0" err="1"/>
              <a:t>độ</a:t>
            </a:r>
            <a:r>
              <a:rPr lang="en-CA" sz="2000" dirty="0"/>
              <a:t> </a:t>
            </a:r>
            <a:r>
              <a:rPr lang="en-CA" sz="2000" dirty="0" err="1"/>
              <a:t>truyền</a:t>
            </a:r>
            <a:r>
              <a:rPr lang="en-CA" sz="2000" dirty="0"/>
              <a:t> </a:t>
            </a:r>
            <a:r>
              <a:rPr lang="en-CA" sz="2000" dirty="0" err="1"/>
              <a:t>dữ</a:t>
            </a:r>
            <a:r>
              <a:rPr lang="en-CA" sz="2000" dirty="0"/>
              <a:t> </a:t>
            </a:r>
            <a:r>
              <a:rPr lang="en-CA" sz="2000" dirty="0" err="1"/>
              <a:t>liệu</a:t>
            </a:r>
            <a:r>
              <a:rPr lang="en-CA" sz="2000" dirty="0"/>
              <a:t> </a:t>
            </a:r>
            <a:r>
              <a:rPr lang="en-CA" sz="2000" dirty="0" err="1"/>
              <a:t>thấp</a:t>
            </a:r>
            <a:r>
              <a:rPr lang="en-CA" sz="2000" dirty="0"/>
              <a:t> (20-250kbps)</a:t>
            </a:r>
            <a:endParaRPr sz="2000" dirty="0"/>
          </a:p>
          <a:p>
            <a:pPr marL="457200" lvl="0" indent="-355600" algn="l" rtl="0">
              <a:spcBef>
                <a:spcPts val="0"/>
              </a:spcBef>
              <a:spcAft>
                <a:spcPts val="0"/>
              </a:spcAft>
              <a:buSzPts val="2000"/>
              <a:buChar char="-"/>
            </a:pPr>
            <a:r>
              <a:rPr lang="en-CA" sz="2000" dirty="0" err="1"/>
              <a:t>Cự</a:t>
            </a:r>
            <a:r>
              <a:rPr lang="en-CA" sz="2000" dirty="0"/>
              <a:t> </a:t>
            </a:r>
            <a:r>
              <a:rPr lang="en-CA" sz="2000" dirty="0" err="1"/>
              <a:t>ly</a:t>
            </a:r>
            <a:r>
              <a:rPr lang="en-CA" sz="2000" dirty="0"/>
              <a:t> </a:t>
            </a:r>
            <a:r>
              <a:rPr lang="en-CA" sz="2000" dirty="0" err="1"/>
              <a:t>ngắn</a:t>
            </a:r>
            <a:r>
              <a:rPr lang="en-CA" sz="2000" dirty="0"/>
              <a:t> (&lt;100m)</a:t>
            </a:r>
            <a:endParaRPr sz="2000" dirty="0"/>
          </a:p>
          <a:p>
            <a:pPr marL="457200" lvl="0" indent="-355600" algn="l" rtl="0">
              <a:spcBef>
                <a:spcPts val="0"/>
              </a:spcBef>
              <a:spcAft>
                <a:spcPts val="0"/>
              </a:spcAft>
              <a:buSzPts val="2000"/>
              <a:buChar char="-"/>
            </a:pPr>
            <a:r>
              <a:rPr lang="en-CA" sz="2000" dirty="0" err="1"/>
              <a:t>Hỗ</a:t>
            </a:r>
            <a:r>
              <a:rPr lang="en-CA" sz="2000" dirty="0"/>
              <a:t> </a:t>
            </a:r>
            <a:r>
              <a:rPr lang="en-CA" sz="2000" dirty="0" err="1"/>
              <a:t>trợ</a:t>
            </a:r>
            <a:r>
              <a:rPr lang="en-CA" sz="2000" dirty="0"/>
              <a:t> </a:t>
            </a:r>
            <a:r>
              <a:rPr lang="en-CA" sz="2000" dirty="0" err="1"/>
              <a:t>số</a:t>
            </a:r>
            <a:r>
              <a:rPr lang="en-CA" sz="2000" dirty="0"/>
              <a:t> </a:t>
            </a:r>
            <a:r>
              <a:rPr lang="en-CA" sz="2000" dirty="0" err="1"/>
              <a:t>lượng</a:t>
            </a:r>
            <a:r>
              <a:rPr lang="en-CA" sz="2000" dirty="0"/>
              <a:t> </a:t>
            </a:r>
            <a:r>
              <a:rPr lang="en-CA" sz="2000" dirty="0" err="1"/>
              <a:t>lớn</a:t>
            </a:r>
            <a:r>
              <a:rPr lang="en-CA" sz="2000" dirty="0"/>
              <a:t> </a:t>
            </a:r>
            <a:r>
              <a:rPr lang="en-CA" sz="2000" dirty="0" err="1"/>
              <a:t>các</a:t>
            </a:r>
            <a:r>
              <a:rPr lang="en-CA" sz="2000" dirty="0"/>
              <a:t> node </a:t>
            </a:r>
            <a:r>
              <a:rPr lang="en-CA" sz="2000" dirty="0" err="1"/>
              <a:t>mạng</a:t>
            </a:r>
            <a:r>
              <a:rPr lang="en-CA" sz="2000" dirty="0"/>
              <a:t> (</a:t>
            </a:r>
            <a:r>
              <a:rPr lang="en-CA" sz="2000" dirty="0" err="1"/>
              <a:t>tối</a:t>
            </a:r>
            <a:r>
              <a:rPr lang="en-CA" sz="2000" dirty="0"/>
              <a:t> </a:t>
            </a:r>
            <a:r>
              <a:rPr lang="en-CA" sz="2000" dirty="0" err="1"/>
              <a:t>đa</a:t>
            </a:r>
            <a:r>
              <a:rPr lang="en-CA" sz="2000" dirty="0"/>
              <a:t> 65000)</a:t>
            </a:r>
            <a:endParaRPr sz="2000" dirty="0"/>
          </a:p>
          <a:p>
            <a:pPr marL="457200" lvl="0" indent="-355600" algn="l" rtl="0">
              <a:spcBef>
                <a:spcPts val="0"/>
              </a:spcBef>
              <a:spcAft>
                <a:spcPts val="0"/>
              </a:spcAft>
              <a:buSzPts val="2000"/>
              <a:buChar char="-"/>
            </a:pPr>
            <a:r>
              <a:rPr lang="en-CA" sz="2000" dirty="0"/>
              <a:t>Giao </a:t>
            </a:r>
            <a:r>
              <a:rPr lang="en-CA" sz="2000" dirty="0" err="1"/>
              <a:t>thức</a:t>
            </a:r>
            <a:r>
              <a:rPr lang="en-CA" sz="2000" dirty="0"/>
              <a:t> </a:t>
            </a:r>
            <a:r>
              <a:rPr lang="en-CA" sz="2000" dirty="0" err="1"/>
              <a:t>mã</a:t>
            </a:r>
            <a:r>
              <a:rPr lang="en-CA" sz="2000" dirty="0"/>
              <a:t> </a:t>
            </a:r>
            <a:r>
              <a:rPr lang="en-CA" sz="2000" dirty="0" err="1"/>
              <a:t>nguồn</a:t>
            </a:r>
            <a:r>
              <a:rPr lang="en-CA" sz="2000" dirty="0"/>
              <a:t> </a:t>
            </a:r>
            <a:r>
              <a:rPr lang="en-CA" sz="2000" dirty="0" err="1"/>
              <a:t>mở</a:t>
            </a:r>
            <a:r>
              <a:rPr lang="en-CA" sz="2000" dirty="0"/>
              <a:t> -&gt;</a:t>
            </a:r>
            <a:endParaRPr sz="2000" dirty="0"/>
          </a:p>
          <a:p>
            <a:pPr marL="914400" lvl="1" indent="-330200" algn="l" rtl="0">
              <a:spcBef>
                <a:spcPts val="0"/>
              </a:spcBef>
              <a:spcAft>
                <a:spcPts val="0"/>
              </a:spcAft>
              <a:buSzPts val="1600"/>
              <a:buChar char="-"/>
            </a:pPr>
            <a:r>
              <a:rPr lang="en-CA" sz="1600" dirty="0" err="1"/>
              <a:t>Dễ</a:t>
            </a:r>
            <a:r>
              <a:rPr lang="en-CA" sz="1600" dirty="0"/>
              <a:t> Implement</a:t>
            </a:r>
            <a:endParaRPr sz="1600" dirty="0"/>
          </a:p>
          <a:p>
            <a:pPr marL="914400" lvl="1" indent="-330200" algn="l" rtl="0">
              <a:spcBef>
                <a:spcPts val="0"/>
              </a:spcBef>
              <a:spcAft>
                <a:spcPts val="0"/>
              </a:spcAft>
              <a:buSzPts val="1600"/>
              <a:buChar char="-"/>
            </a:pPr>
            <a:r>
              <a:rPr lang="en-CA" sz="1600" dirty="0" err="1"/>
              <a:t>Giá</a:t>
            </a:r>
            <a:r>
              <a:rPr lang="en-CA" sz="1600" dirty="0"/>
              <a:t> </a:t>
            </a:r>
            <a:r>
              <a:rPr lang="en-CA" sz="1600" dirty="0" err="1"/>
              <a:t>thành</a:t>
            </a:r>
            <a:r>
              <a:rPr lang="en-CA" sz="1600" dirty="0"/>
              <a:t> </a:t>
            </a:r>
            <a:r>
              <a:rPr lang="en-CA" sz="1600" dirty="0" err="1"/>
              <a:t>phát</a:t>
            </a:r>
            <a:r>
              <a:rPr lang="en-CA" sz="1600" dirty="0"/>
              <a:t> </a:t>
            </a:r>
            <a:r>
              <a:rPr lang="en-CA" sz="1600" dirty="0" err="1"/>
              <a:t>triển</a:t>
            </a:r>
            <a:r>
              <a:rPr lang="en-CA" sz="1600" dirty="0"/>
              <a:t> </a:t>
            </a:r>
            <a:r>
              <a:rPr lang="en-CA" sz="1600" dirty="0" err="1"/>
              <a:t>sản</a:t>
            </a:r>
            <a:r>
              <a:rPr lang="en-CA" sz="1600" dirty="0"/>
              <a:t> </a:t>
            </a:r>
            <a:r>
              <a:rPr lang="en-CA" sz="1600" dirty="0" err="1"/>
              <a:t>phẩm</a:t>
            </a:r>
            <a:r>
              <a:rPr lang="en-CA" sz="1600" dirty="0"/>
              <a:t> </a:t>
            </a:r>
            <a:r>
              <a:rPr lang="en-CA" sz="1600" dirty="0" err="1"/>
              <a:t>thấp</a:t>
            </a:r>
            <a:endParaRPr sz="1600" dirty="0"/>
          </a:p>
          <a:p>
            <a:pPr marL="457200" lvl="0" indent="0" algn="l" rtl="0">
              <a:spcBef>
                <a:spcPts val="1200"/>
              </a:spcBef>
              <a:spcAft>
                <a:spcPts val="120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4.2 ZigBee</a:t>
            </a:r>
            <a:endParaRPr/>
          </a:p>
          <a:p>
            <a:pPr marL="0" lvl="0" indent="0" algn="l" rtl="0">
              <a:spcBef>
                <a:spcPts val="0"/>
              </a:spcBef>
              <a:spcAft>
                <a:spcPts val="0"/>
              </a:spcAft>
              <a:buNone/>
            </a:pPr>
            <a:endParaRPr/>
          </a:p>
        </p:txBody>
      </p:sp>
      <p:sp>
        <p:nvSpPr>
          <p:cNvPr id="201" name="Google Shape;201;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0" algn="l" rtl="0">
              <a:spcBef>
                <a:spcPts val="0"/>
              </a:spcBef>
              <a:spcAft>
                <a:spcPts val="0"/>
              </a:spcAft>
              <a:buNone/>
            </a:pPr>
            <a:r>
              <a:rPr lang="en-CA" dirty="0" err="1">
                <a:solidFill>
                  <a:schemeClr val="dk2"/>
                </a:solidFill>
              </a:rPr>
              <a:t>Các</a:t>
            </a:r>
            <a:r>
              <a:rPr lang="en-CA" dirty="0">
                <a:solidFill>
                  <a:schemeClr val="dk2"/>
                </a:solidFill>
              </a:rPr>
              <a:t> </a:t>
            </a:r>
            <a:r>
              <a:rPr lang="en-CA" dirty="0" err="1">
                <a:solidFill>
                  <a:schemeClr val="dk2"/>
                </a:solidFill>
              </a:rPr>
              <a:t>đặc</a:t>
            </a:r>
            <a:r>
              <a:rPr lang="en-CA" dirty="0">
                <a:solidFill>
                  <a:schemeClr val="dk2"/>
                </a:solidFill>
              </a:rPr>
              <a:t> </a:t>
            </a:r>
            <a:r>
              <a:rPr lang="en-CA" dirty="0" err="1">
                <a:solidFill>
                  <a:schemeClr val="dk2"/>
                </a:solidFill>
              </a:rPr>
              <a:t>điểm</a:t>
            </a:r>
            <a:r>
              <a:rPr lang="en-CA" dirty="0">
                <a:solidFill>
                  <a:schemeClr val="dk2"/>
                </a:solidFill>
              </a:rPr>
              <a:t> </a:t>
            </a:r>
            <a:r>
              <a:rPr lang="en-CA" dirty="0" err="1">
                <a:solidFill>
                  <a:schemeClr val="dk2"/>
                </a:solidFill>
              </a:rPr>
              <a:t>chính</a:t>
            </a:r>
            <a:r>
              <a:rPr lang="en-CA" dirty="0">
                <a:solidFill>
                  <a:schemeClr val="dk2"/>
                </a:solidFill>
              </a:rPr>
              <a:t> </a:t>
            </a:r>
            <a:r>
              <a:rPr lang="en-CA" dirty="0" err="1">
                <a:solidFill>
                  <a:schemeClr val="dk2"/>
                </a:solidFill>
              </a:rPr>
              <a:t>của</a:t>
            </a:r>
            <a:r>
              <a:rPr lang="en-CA" dirty="0">
                <a:solidFill>
                  <a:schemeClr val="dk2"/>
                </a:solidFill>
              </a:rPr>
              <a:t> ZigBee</a:t>
            </a:r>
            <a:endParaRPr dirty="0">
              <a:solidFill>
                <a:schemeClr val="dk2"/>
              </a:solidFill>
            </a:endParaRPr>
          </a:p>
          <a:p>
            <a:pPr marL="457200" lvl="0" indent="-342900" algn="l" rtl="0">
              <a:spcBef>
                <a:spcPts val="1200"/>
              </a:spcBef>
              <a:spcAft>
                <a:spcPts val="0"/>
              </a:spcAft>
              <a:buSzPts val="1800"/>
              <a:buAutoNum type="arabicPeriod"/>
            </a:pPr>
            <a:r>
              <a:rPr lang="en-CA" dirty="0"/>
              <a:t>Stochastic Addressing: </a:t>
            </a:r>
            <a:r>
              <a:rPr lang="en-CA" dirty="0" err="1"/>
              <a:t>địa</a:t>
            </a:r>
            <a:r>
              <a:rPr lang="en-CA" dirty="0"/>
              <a:t> </a:t>
            </a:r>
            <a:r>
              <a:rPr lang="en-CA" dirty="0" err="1"/>
              <a:t>chỉ</a:t>
            </a:r>
            <a:r>
              <a:rPr lang="en-CA" dirty="0"/>
              <a:t> </a:t>
            </a:r>
            <a:r>
              <a:rPr lang="en-CA" dirty="0" err="1"/>
              <a:t>được</a:t>
            </a:r>
            <a:r>
              <a:rPr lang="en-CA" dirty="0"/>
              <a:t> </a:t>
            </a:r>
            <a:r>
              <a:rPr lang="en-CA" dirty="0" err="1"/>
              <a:t>thông</a:t>
            </a:r>
            <a:r>
              <a:rPr lang="en-CA" dirty="0"/>
              <a:t> </a:t>
            </a:r>
            <a:r>
              <a:rPr lang="en-CA" dirty="0" err="1"/>
              <a:t>báo</a:t>
            </a:r>
            <a:r>
              <a:rPr lang="en-CA" dirty="0"/>
              <a:t> </a:t>
            </a:r>
            <a:r>
              <a:rPr lang="en-CA" dirty="0" err="1"/>
              <a:t>và</a:t>
            </a:r>
            <a:r>
              <a:rPr lang="en-CA" dirty="0"/>
              <a:t> </a:t>
            </a:r>
            <a:r>
              <a:rPr lang="en-CA" dirty="0" err="1"/>
              <a:t>chỉ</a:t>
            </a:r>
            <a:r>
              <a:rPr lang="en-CA" dirty="0"/>
              <a:t> </a:t>
            </a:r>
            <a:r>
              <a:rPr lang="en-CA" dirty="0" err="1"/>
              <a:t>định</a:t>
            </a:r>
            <a:r>
              <a:rPr lang="en-CA" dirty="0"/>
              <a:t> </a:t>
            </a:r>
            <a:r>
              <a:rPr lang="en-CA" dirty="0" err="1"/>
              <a:t>ngẫu</a:t>
            </a:r>
            <a:r>
              <a:rPr lang="en-CA" dirty="0"/>
              <a:t> </a:t>
            </a:r>
            <a:r>
              <a:rPr lang="en-CA" dirty="0" err="1"/>
              <a:t>nhiên</a:t>
            </a:r>
            <a:r>
              <a:rPr lang="en-CA" dirty="0"/>
              <a:t>. </a:t>
            </a:r>
            <a:r>
              <a:rPr lang="en-CA" dirty="0" err="1"/>
              <a:t>Có</a:t>
            </a:r>
            <a:r>
              <a:rPr lang="en-CA" dirty="0"/>
              <a:t> </a:t>
            </a:r>
            <a:r>
              <a:rPr lang="en-CA" dirty="0" err="1"/>
              <a:t>cơ</a:t>
            </a:r>
            <a:r>
              <a:rPr lang="en-CA" dirty="0"/>
              <a:t> </a:t>
            </a:r>
            <a:r>
              <a:rPr lang="en-CA" dirty="0" err="1"/>
              <a:t>chế</a:t>
            </a:r>
            <a:r>
              <a:rPr lang="en-CA" dirty="0"/>
              <a:t> </a:t>
            </a:r>
            <a:r>
              <a:rPr lang="en-CA" dirty="0" err="1"/>
              <a:t>chống</a:t>
            </a:r>
            <a:r>
              <a:rPr lang="en-CA" dirty="0"/>
              <a:t> </a:t>
            </a:r>
            <a:r>
              <a:rPr lang="en-CA" dirty="0" err="1"/>
              <a:t>xung</a:t>
            </a:r>
            <a:r>
              <a:rPr lang="en-CA" dirty="0"/>
              <a:t> </a:t>
            </a:r>
            <a:r>
              <a:rPr lang="en-CA" dirty="0" err="1"/>
              <a:t>đột</a:t>
            </a:r>
            <a:r>
              <a:rPr lang="en-CA" dirty="0"/>
              <a:t> </a:t>
            </a:r>
            <a:r>
              <a:rPr lang="en-CA" dirty="0" err="1"/>
              <a:t>địa</a:t>
            </a:r>
            <a:r>
              <a:rPr lang="en-CA" dirty="0"/>
              <a:t> </a:t>
            </a:r>
            <a:r>
              <a:rPr lang="en-CA" dirty="0" err="1"/>
              <a:t>chỉ</a:t>
            </a:r>
            <a:r>
              <a:rPr lang="en-CA" dirty="0"/>
              <a:t>. Node cha </a:t>
            </a:r>
            <a:r>
              <a:rPr lang="en-CA" dirty="0" err="1"/>
              <a:t>không</a:t>
            </a:r>
            <a:r>
              <a:rPr lang="en-CA" dirty="0"/>
              <a:t> </a:t>
            </a:r>
            <a:r>
              <a:rPr lang="en-CA" dirty="0" err="1"/>
              <a:t>cần</a:t>
            </a:r>
            <a:r>
              <a:rPr lang="en-CA" dirty="0"/>
              <a:t> </a:t>
            </a:r>
            <a:r>
              <a:rPr lang="en-CA" dirty="0" err="1"/>
              <a:t>lưu</a:t>
            </a:r>
            <a:r>
              <a:rPr lang="en-CA" dirty="0"/>
              <a:t> </a:t>
            </a:r>
            <a:r>
              <a:rPr lang="en-CA" dirty="0" err="1"/>
              <a:t>bảng</a:t>
            </a:r>
            <a:r>
              <a:rPr lang="en-CA" dirty="0"/>
              <a:t> </a:t>
            </a:r>
            <a:r>
              <a:rPr lang="en-CA" dirty="0" err="1"/>
              <a:t>địa</a:t>
            </a:r>
            <a:r>
              <a:rPr lang="en-CA" dirty="0"/>
              <a:t> </a:t>
            </a:r>
            <a:r>
              <a:rPr lang="en-CA" dirty="0" err="1"/>
              <a:t>chỉ</a:t>
            </a:r>
            <a:r>
              <a:rPr lang="en-CA" dirty="0"/>
              <a:t>. ZigBee </a:t>
            </a:r>
            <a:r>
              <a:rPr lang="en-CA" dirty="0" err="1"/>
              <a:t>sử</a:t>
            </a:r>
            <a:r>
              <a:rPr lang="en-CA" dirty="0"/>
              <a:t> </a:t>
            </a:r>
            <a:r>
              <a:rPr lang="en-CA" dirty="0" err="1"/>
              <a:t>dụng</a:t>
            </a:r>
            <a:r>
              <a:rPr lang="en-CA" dirty="0"/>
              <a:t> 16bit </a:t>
            </a:r>
            <a:r>
              <a:rPr lang="en-CA" dirty="0" err="1"/>
              <a:t>địa</a:t>
            </a:r>
            <a:r>
              <a:rPr lang="en-CA" dirty="0"/>
              <a:t> </a:t>
            </a:r>
            <a:r>
              <a:rPr lang="en-CA" dirty="0" err="1"/>
              <a:t>chỉ</a:t>
            </a:r>
            <a:r>
              <a:rPr lang="en-CA" dirty="0"/>
              <a:t>.</a:t>
            </a:r>
            <a:endParaRPr dirty="0"/>
          </a:p>
          <a:p>
            <a:pPr marL="457200" lvl="0" indent="-342900" algn="l" rtl="0">
              <a:spcBef>
                <a:spcPts val="0"/>
              </a:spcBef>
              <a:spcAft>
                <a:spcPts val="0"/>
              </a:spcAft>
              <a:buSzPts val="1800"/>
              <a:buAutoNum type="arabicPeriod"/>
            </a:pPr>
            <a:r>
              <a:rPr lang="en-CA" dirty="0"/>
              <a:t>Link Management: </a:t>
            </a:r>
            <a:r>
              <a:rPr lang="en-CA" dirty="0" err="1"/>
              <a:t>Mỗi</a:t>
            </a:r>
            <a:r>
              <a:rPr lang="en-CA" dirty="0"/>
              <a:t> node </a:t>
            </a:r>
            <a:r>
              <a:rPr lang="en-CA" dirty="0" err="1"/>
              <a:t>tự</a:t>
            </a:r>
            <a:r>
              <a:rPr lang="en-CA" dirty="0"/>
              <a:t> </a:t>
            </a:r>
            <a:r>
              <a:rPr lang="en-CA" dirty="0" err="1"/>
              <a:t>duy</a:t>
            </a:r>
            <a:r>
              <a:rPr lang="en-CA" dirty="0"/>
              <a:t> </a:t>
            </a:r>
            <a:r>
              <a:rPr lang="en-CA" dirty="0" err="1"/>
              <a:t>trì</a:t>
            </a:r>
            <a:r>
              <a:rPr lang="en-CA" dirty="0"/>
              <a:t> </a:t>
            </a:r>
            <a:r>
              <a:rPr lang="en-CA" dirty="0" err="1"/>
              <a:t>liên</a:t>
            </a:r>
            <a:r>
              <a:rPr lang="en-CA" dirty="0"/>
              <a:t> </a:t>
            </a:r>
            <a:r>
              <a:rPr lang="en-CA" dirty="0" err="1"/>
              <a:t>kết</a:t>
            </a:r>
            <a:r>
              <a:rPr lang="en-CA" dirty="0"/>
              <a:t> </a:t>
            </a:r>
            <a:r>
              <a:rPr lang="en-CA" dirty="0" err="1"/>
              <a:t>với</a:t>
            </a:r>
            <a:r>
              <a:rPr lang="en-CA" dirty="0"/>
              <a:t> </a:t>
            </a:r>
            <a:r>
              <a:rPr lang="en-CA" dirty="0" err="1"/>
              <a:t>các</a:t>
            </a:r>
            <a:r>
              <a:rPr lang="en-CA" dirty="0"/>
              <a:t> node </a:t>
            </a:r>
            <a:r>
              <a:rPr lang="en-CA" dirty="0" err="1"/>
              <a:t>lân</a:t>
            </a:r>
            <a:r>
              <a:rPr lang="en-CA" dirty="0"/>
              <a:t> </a:t>
            </a:r>
            <a:r>
              <a:rPr lang="en-CA" dirty="0" err="1"/>
              <a:t>cận</a:t>
            </a:r>
            <a:r>
              <a:rPr lang="en-CA" dirty="0"/>
              <a:t>. </a:t>
            </a:r>
            <a:r>
              <a:rPr lang="en-CA" dirty="0" err="1"/>
              <a:t>Chất</a:t>
            </a:r>
            <a:r>
              <a:rPr lang="en-CA" dirty="0"/>
              <a:t> </a:t>
            </a:r>
            <a:r>
              <a:rPr lang="en-CA" dirty="0" err="1"/>
              <a:t>lượng</a:t>
            </a:r>
            <a:r>
              <a:rPr lang="en-CA" dirty="0"/>
              <a:t> </a:t>
            </a:r>
            <a:r>
              <a:rPr lang="en-CA" dirty="0" err="1"/>
              <a:t>kết</a:t>
            </a:r>
            <a:r>
              <a:rPr lang="en-CA" dirty="0"/>
              <a:t> </a:t>
            </a:r>
            <a:r>
              <a:rPr lang="en-CA" dirty="0" err="1"/>
              <a:t>nối</a:t>
            </a:r>
            <a:r>
              <a:rPr lang="en-CA" dirty="0"/>
              <a:t> </a:t>
            </a:r>
            <a:r>
              <a:rPr lang="en-CA" dirty="0" err="1"/>
              <a:t>được</a:t>
            </a:r>
            <a:r>
              <a:rPr lang="en-CA" dirty="0"/>
              <a:t>  </a:t>
            </a:r>
            <a:r>
              <a:rPr lang="en-CA" dirty="0" err="1"/>
              <a:t>sử</a:t>
            </a:r>
            <a:r>
              <a:rPr lang="en-CA" dirty="0"/>
              <a:t> </a:t>
            </a:r>
            <a:r>
              <a:rPr lang="en-CA" dirty="0" err="1"/>
              <a:t>dụng</a:t>
            </a:r>
            <a:r>
              <a:rPr lang="en-CA" dirty="0"/>
              <a:t> </a:t>
            </a:r>
            <a:r>
              <a:rPr lang="en-CA" dirty="0" err="1"/>
              <a:t>để</a:t>
            </a:r>
            <a:r>
              <a:rPr lang="en-CA" dirty="0"/>
              <a:t> </a:t>
            </a:r>
            <a:r>
              <a:rPr lang="en-CA" dirty="0" err="1"/>
              <a:t>đo</a:t>
            </a:r>
            <a:r>
              <a:rPr lang="en-CA" dirty="0"/>
              <a:t> </a:t>
            </a:r>
            <a:r>
              <a:rPr lang="en-CA" dirty="0" err="1"/>
              <a:t>lường</a:t>
            </a:r>
            <a:r>
              <a:rPr lang="en-CA" dirty="0"/>
              <a:t> </a:t>
            </a:r>
            <a:r>
              <a:rPr lang="en-CA" dirty="0" err="1"/>
              <a:t>mất</a:t>
            </a:r>
            <a:r>
              <a:rPr lang="en-CA" dirty="0"/>
              <a:t> </a:t>
            </a:r>
            <a:r>
              <a:rPr lang="en-CA" dirty="0" err="1"/>
              <a:t>mát</a:t>
            </a:r>
            <a:r>
              <a:rPr lang="en-CA" dirty="0"/>
              <a:t> </a:t>
            </a:r>
            <a:r>
              <a:rPr lang="en-CA" dirty="0" err="1"/>
              <a:t>trong</a:t>
            </a:r>
            <a:r>
              <a:rPr lang="en-CA" dirty="0"/>
              <a:t> </a:t>
            </a:r>
            <a:r>
              <a:rPr lang="en-CA" dirty="0" err="1"/>
              <a:t>định</a:t>
            </a:r>
            <a:r>
              <a:rPr lang="en-CA" dirty="0"/>
              <a:t> </a:t>
            </a:r>
            <a:r>
              <a:rPr lang="en-CA" dirty="0" err="1"/>
              <a:t>tuyến</a:t>
            </a:r>
            <a:r>
              <a:rPr lang="en-CA" dirty="0"/>
              <a:t>.</a:t>
            </a:r>
            <a:endParaRPr dirty="0"/>
          </a:p>
          <a:p>
            <a:pPr marL="457200" lvl="0" indent="-342900" algn="l" rtl="0">
              <a:spcBef>
                <a:spcPts val="0"/>
              </a:spcBef>
              <a:spcAft>
                <a:spcPts val="0"/>
              </a:spcAft>
              <a:buSzPts val="1800"/>
              <a:buAutoNum type="arabicPeriod"/>
            </a:pPr>
            <a:r>
              <a:rPr lang="en-CA" dirty="0"/>
              <a:t>Frequency Agility: Khi </a:t>
            </a:r>
            <a:r>
              <a:rPr lang="en-CA" dirty="0" err="1"/>
              <a:t>gặp</a:t>
            </a:r>
            <a:r>
              <a:rPr lang="en-CA" dirty="0"/>
              <a:t> can </a:t>
            </a:r>
            <a:r>
              <a:rPr lang="en-CA" dirty="0" err="1"/>
              <a:t>nhiễu</a:t>
            </a:r>
            <a:r>
              <a:rPr lang="en-CA" dirty="0"/>
              <a:t>, node </a:t>
            </a:r>
            <a:r>
              <a:rPr lang="en-CA" dirty="0" err="1"/>
              <a:t>mạng</a:t>
            </a:r>
            <a:r>
              <a:rPr lang="en-CA" dirty="0"/>
              <a:t> </a:t>
            </a:r>
            <a:r>
              <a:rPr lang="en-CA" dirty="0" err="1"/>
              <a:t>có</a:t>
            </a:r>
            <a:r>
              <a:rPr lang="en-CA" dirty="0"/>
              <a:t> </a:t>
            </a:r>
            <a:r>
              <a:rPr lang="en-CA" dirty="0" err="1"/>
              <a:t>thể</a:t>
            </a:r>
            <a:r>
              <a:rPr lang="en-CA" dirty="0"/>
              <a:t> </a:t>
            </a:r>
            <a:r>
              <a:rPr lang="en-CA" dirty="0" err="1"/>
              <a:t>thay</a:t>
            </a:r>
            <a:r>
              <a:rPr lang="en-CA" dirty="0"/>
              <a:t> </a:t>
            </a:r>
            <a:r>
              <a:rPr lang="en-CA" dirty="0" err="1"/>
              <a:t>đổi</a:t>
            </a:r>
            <a:r>
              <a:rPr lang="en-CA" dirty="0"/>
              <a:t> </a:t>
            </a:r>
            <a:r>
              <a:rPr lang="en-CA" dirty="0" err="1"/>
              <a:t>kênh</a:t>
            </a:r>
            <a:r>
              <a:rPr lang="en-CA" dirty="0"/>
              <a:t> </a:t>
            </a:r>
            <a:r>
              <a:rPr lang="en-CA" dirty="0" err="1"/>
              <a:t>truyền</a:t>
            </a:r>
            <a:r>
              <a:rPr lang="en-CA" dirty="0"/>
              <a:t>.</a:t>
            </a:r>
            <a:endParaRPr dirty="0"/>
          </a:p>
          <a:p>
            <a:pPr marL="457200" lvl="0" indent="-342900" algn="l" rtl="0">
              <a:spcBef>
                <a:spcPts val="0"/>
              </a:spcBef>
              <a:spcAft>
                <a:spcPts val="0"/>
              </a:spcAft>
              <a:buSzPts val="1800"/>
              <a:buAutoNum type="arabicPeriod"/>
            </a:pPr>
            <a:r>
              <a:rPr lang="en-CA" dirty="0"/>
              <a:t>Asymmetric Link: </a:t>
            </a:r>
            <a:r>
              <a:rPr lang="en-CA" dirty="0" err="1"/>
              <a:t>Mỗi</a:t>
            </a:r>
            <a:r>
              <a:rPr lang="en-CA" dirty="0"/>
              <a:t> node </a:t>
            </a:r>
            <a:r>
              <a:rPr lang="en-CA" dirty="0" err="1"/>
              <a:t>có</a:t>
            </a:r>
            <a:r>
              <a:rPr lang="en-CA" dirty="0"/>
              <a:t> </a:t>
            </a:r>
            <a:r>
              <a:rPr lang="en-CA" dirty="0" err="1"/>
              <a:t>công</a:t>
            </a:r>
            <a:r>
              <a:rPr lang="en-CA" dirty="0"/>
              <a:t> </a:t>
            </a:r>
            <a:r>
              <a:rPr lang="en-CA" dirty="0" err="1"/>
              <a:t>suất</a:t>
            </a:r>
            <a:r>
              <a:rPr lang="en-CA" dirty="0"/>
              <a:t> </a:t>
            </a:r>
            <a:r>
              <a:rPr lang="en-CA" dirty="0" err="1"/>
              <a:t>truyền</a:t>
            </a:r>
            <a:r>
              <a:rPr lang="en-CA" dirty="0"/>
              <a:t> </a:t>
            </a:r>
            <a:r>
              <a:rPr lang="en-CA" dirty="0" err="1"/>
              <a:t>và</a:t>
            </a:r>
            <a:r>
              <a:rPr lang="en-CA" dirty="0"/>
              <a:t> </a:t>
            </a:r>
            <a:r>
              <a:rPr lang="en-CA" dirty="0" err="1"/>
              <a:t>độ</a:t>
            </a:r>
            <a:r>
              <a:rPr lang="en-CA" dirty="0"/>
              <a:t> </a:t>
            </a:r>
            <a:r>
              <a:rPr lang="en-CA" dirty="0" err="1"/>
              <a:t>nhạy</a:t>
            </a:r>
            <a:r>
              <a:rPr lang="en-CA" dirty="0"/>
              <a:t> </a:t>
            </a:r>
            <a:r>
              <a:rPr lang="en-CA" dirty="0" err="1"/>
              <a:t>khác</a:t>
            </a:r>
            <a:r>
              <a:rPr lang="en-CA" dirty="0"/>
              <a:t> </a:t>
            </a:r>
            <a:r>
              <a:rPr lang="en-CA" dirty="0" err="1"/>
              <a:t>nhau</a:t>
            </a:r>
            <a:r>
              <a:rPr lang="en-CA" dirty="0"/>
              <a:t>, do </a:t>
            </a:r>
            <a:r>
              <a:rPr lang="en-CA" dirty="0" err="1"/>
              <a:t>đó</a:t>
            </a:r>
            <a:r>
              <a:rPr lang="en-CA" dirty="0"/>
              <a:t> </a:t>
            </a:r>
            <a:r>
              <a:rPr lang="en-CA" dirty="0" err="1"/>
              <a:t>đường</a:t>
            </a:r>
            <a:r>
              <a:rPr lang="en-CA" dirty="0"/>
              <a:t> </a:t>
            </a:r>
            <a:r>
              <a:rPr lang="en-CA" dirty="0" err="1"/>
              <a:t>liên</a:t>
            </a:r>
            <a:r>
              <a:rPr lang="en-CA" dirty="0"/>
              <a:t> </a:t>
            </a:r>
            <a:r>
              <a:rPr lang="en-CA" dirty="0" err="1"/>
              <a:t>kết</a:t>
            </a:r>
            <a:r>
              <a:rPr lang="en-CA" dirty="0"/>
              <a:t> </a:t>
            </a:r>
            <a:r>
              <a:rPr lang="en-CA" dirty="0" err="1"/>
              <a:t>có</a:t>
            </a:r>
            <a:r>
              <a:rPr lang="en-CA" dirty="0"/>
              <a:t> </a:t>
            </a:r>
            <a:r>
              <a:rPr lang="en-CA" dirty="0" err="1"/>
              <a:t>thể</a:t>
            </a:r>
            <a:r>
              <a:rPr lang="en-CA" dirty="0"/>
              <a:t> </a:t>
            </a:r>
            <a:r>
              <a:rPr lang="en-CA" dirty="0" err="1"/>
              <a:t>bất</a:t>
            </a:r>
            <a:r>
              <a:rPr lang="en-CA" dirty="0"/>
              <a:t> </a:t>
            </a:r>
            <a:r>
              <a:rPr lang="en-CA" dirty="0" err="1"/>
              <a:t>đối</a:t>
            </a:r>
            <a:r>
              <a:rPr lang="en-CA" dirty="0"/>
              <a:t> </a:t>
            </a:r>
            <a:r>
              <a:rPr lang="en-CA" dirty="0" err="1"/>
              <a:t>xứng</a:t>
            </a:r>
            <a:r>
              <a:rPr lang="en-CA" dirty="0"/>
              <a:t>.</a:t>
            </a:r>
            <a:endParaRPr dirty="0"/>
          </a:p>
          <a:p>
            <a:pPr marL="457200" lvl="0" indent="-342900" algn="l" rtl="0">
              <a:spcBef>
                <a:spcPts val="0"/>
              </a:spcBef>
              <a:spcAft>
                <a:spcPts val="0"/>
              </a:spcAft>
              <a:buSzPts val="1800"/>
              <a:buAutoNum type="arabicPeriod"/>
            </a:pPr>
            <a:r>
              <a:rPr lang="en-CA" dirty="0"/>
              <a:t>Power Management: Gateway/Coordinator </a:t>
            </a:r>
            <a:r>
              <a:rPr lang="en-CA" dirty="0" err="1"/>
              <a:t>và</a:t>
            </a:r>
            <a:r>
              <a:rPr lang="en-CA" dirty="0"/>
              <a:t> router </a:t>
            </a:r>
            <a:r>
              <a:rPr lang="en-CA" dirty="0" err="1"/>
              <a:t>dùng</a:t>
            </a:r>
            <a:r>
              <a:rPr lang="en-CA" dirty="0"/>
              <a:t> </a:t>
            </a:r>
            <a:r>
              <a:rPr lang="en-CA" dirty="0" err="1"/>
              <a:t>nguồn</a:t>
            </a:r>
            <a:r>
              <a:rPr lang="en-CA" dirty="0"/>
              <a:t> </a:t>
            </a:r>
            <a:r>
              <a:rPr lang="en-CA" dirty="0" err="1"/>
              <a:t>cố</a:t>
            </a:r>
            <a:r>
              <a:rPr lang="en-CA" dirty="0"/>
              <a:t> </a:t>
            </a:r>
            <a:r>
              <a:rPr lang="en-CA" dirty="0" err="1"/>
              <a:t>định</a:t>
            </a:r>
            <a:r>
              <a:rPr lang="en-CA" dirty="0"/>
              <a:t>. Trong </a:t>
            </a:r>
            <a:r>
              <a:rPr lang="en-CA" dirty="0" err="1"/>
              <a:t>khi</a:t>
            </a:r>
            <a:r>
              <a:rPr lang="en-CA" dirty="0"/>
              <a:t> </a:t>
            </a:r>
            <a:r>
              <a:rPr lang="en-CA" dirty="0" err="1"/>
              <a:t>thiết</a:t>
            </a:r>
            <a:r>
              <a:rPr lang="en-CA" dirty="0"/>
              <a:t> </a:t>
            </a:r>
            <a:r>
              <a:rPr lang="en-CA" dirty="0" err="1"/>
              <a:t>bị</a:t>
            </a:r>
            <a:r>
              <a:rPr lang="en-CA" dirty="0"/>
              <a:t> </a:t>
            </a:r>
            <a:r>
              <a:rPr lang="en-CA" dirty="0" err="1"/>
              <a:t>cuối</a:t>
            </a:r>
            <a:r>
              <a:rPr lang="en-CA" dirty="0"/>
              <a:t> </a:t>
            </a:r>
            <a:r>
              <a:rPr lang="en-CA" dirty="0" err="1"/>
              <a:t>sử</a:t>
            </a:r>
            <a:r>
              <a:rPr lang="en-CA" dirty="0"/>
              <a:t> </a:t>
            </a:r>
            <a:r>
              <a:rPr lang="en-CA" dirty="0" err="1"/>
              <a:t>dụng</a:t>
            </a:r>
            <a:r>
              <a:rPr lang="en-CA" dirty="0"/>
              <a:t> Pin.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4.2 ZigBee</a:t>
            </a:r>
            <a:endParaRPr/>
          </a:p>
          <a:p>
            <a:pPr marL="0" lvl="0" indent="0" algn="l" rtl="0">
              <a:spcBef>
                <a:spcPts val="0"/>
              </a:spcBef>
              <a:spcAft>
                <a:spcPts val="0"/>
              </a:spcAft>
              <a:buNone/>
            </a:pPr>
            <a:endParaRPr/>
          </a:p>
        </p:txBody>
      </p:sp>
      <p:sp>
        <p:nvSpPr>
          <p:cNvPr id="207" name="Google Shape;207;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dirty="0" err="1"/>
              <a:t>Các</a:t>
            </a:r>
            <a:r>
              <a:rPr lang="en-CA" dirty="0"/>
              <a:t> </a:t>
            </a:r>
            <a:r>
              <a:rPr lang="en-CA" dirty="0" err="1"/>
              <a:t>điểm</a:t>
            </a:r>
            <a:r>
              <a:rPr lang="en-CA" dirty="0"/>
              <a:t> </a:t>
            </a:r>
            <a:r>
              <a:rPr lang="en-CA" dirty="0" err="1"/>
              <a:t>hạn</a:t>
            </a:r>
            <a:r>
              <a:rPr lang="en-CA" dirty="0"/>
              <a:t> </a:t>
            </a:r>
            <a:r>
              <a:rPr lang="en-CA" dirty="0" err="1"/>
              <a:t>chế</a:t>
            </a:r>
            <a:r>
              <a:rPr lang="en-CA" dirty="0"/>
              <a:t> </a:t>
            </a:r>
            <a:r>
              <a:rPr lang="en-CA" dirty="0" err="1"/>
              <a:t>của</a:t>
            </a:r>
            <a:r>
              <a:rPr lang="en-CA" dirty="0"/>
              <a:t> ZigBee:</a:t>
            </a:r>
            <a:endParaRPr dirty="0"/>
          </a:p>
          <a:p>
            <a:pPr marL="457200" lvl="0" indent="-342900" algn="l" rtl="0">
              <a:spcBef>
                <a:spcPts val="1200"/>
              </a:spcBef>
              <a:spcAft>
                <a:spcPts val="0"/>
              </a:spcAft>
              <a:buSzPts val="1800"/>
              <a:buChar char="-"/>
            </a:pPr>
            <a:r>
              <a:rPr lang="en-CA" dirty="0" err="1"/>
              <a:t>Phạm</a:t>
            </a:r>
            <a:r>
              <a:rPr lang="en-CA" dirty="0"/>
              <a:t> vi </a:t>
            </a:r>
            <a:r>
              <a:rPr lang="en-CA" dirty="0" err="1"/>
              <a:t>ngắn</a:t>
            </a:r>
            <a:endParaRPr dirty="0"/>
          </a:p>
          <a:p>
            <a:pPr marL="457200" lvl="0" indent="-342900" algn="l" rtl="0">
              <a:spcBef>
                <a:spcPts val="0"/>
              </a:spcBef>
              <a:spcAft>
                <a:spcPts val="0"/>
              </a:spcAft>
              <a:buSzPts val="1800"/>
              <a:buChar char="-"/>
            </a:pPr>
            <a:r>
              <a:rPr lang="en-CA" dirty="0" err="1"/>
              <a:t>Tốc</a:t>
            </a:r>
            <a:r>
              <a:rPr lang="en-CA" dirty="0"/>
              <a:t> </a:t>
            </a:r>
            <a:r>
              <a:rPr lang="en-CA" dirty="0" err="1"/>
              <a:t>độ</a:t>
            </a:r>
            <a:r>
              <a:rPr lang="en-CA" dirty="0"/>
              <a:t> </a:t>
            </a:r>
            <a:r>
              <a:rPr lang="en-CA" dirty="0" err="1"/>
              <a:t>thấp</a:t>
            </a:r>
            <a:endParaRPr dirty="0"/>
          </a:p>
          <a:p>
            <a:pPr marL="457200" lvl="0" indent="-342900" algn="l" rtl="0">
              <a:spcBef>
                <a:spcPts val="0"/>
              </a:spcBef>
              <a:spcAft>
                <a:spcPts val="0"/>
              </a:spcAft>
              <a:buSzPts val="1800"/>
              <a:buChar char="-"/>
            </a:pPr>
            <a:r>
              <a:rPr lang="en-CA" dirty="0"/>
              <a:t>Interoperability</a:t>
            </a:r>
            <a:endParaRPr dirty="0"/>
          </a:p>
          <a:p>
            <a:pPr marL="457200" lvl="0" indent="-342900" algn="l" rtl="0">
              <a:spcBef>
                <a:spcPts val="0"/>
              </a:spcBef>
              <a:spcAft>
                <a:spcPts val="0"/>
              </a:spcAft>
              <a:buSzPts val="1800"/>
              <a:buChar char="-"/>
            </a:pPr>
            <a:r>
              <a:rPr lang="en-CA" dirty="0"/>
              <a:t>Security</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4.2 ZigBee</a:t>
            </a:r>
            <a:endParaRPr/>
          </a:p>
          <a:p>
            <a:pPr marL="0" lvl="0" indent="0" algn="l" rtl="0">
              <a:spcBef>
                <a:spcPts val="0"/>
              </a:spcBef>
              <a:spcAft>
                <a:spcPts val="0"/>
              </a:spcAft>
              <a:buNone/>
            </a:pPr>
            <a:endParaRPr/>
          </a:p>
        </p:txBody>
      </p:sp>
      <p:sp>
        <p:nvSpPr>
          <p:cNvPr id="213" name="Google Shape;213;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a:t>Kết nối Arduino qua ZigBee với module CC2530</a:t>
            </a:r>
            <a:endParaRPr/>
          </a:p>
          <a:p>
            <a:pPr marL="0" lvl="0" indent="0" algn="l" rtl="0">
              <a:spcBef>
                <a:spcPts val="1200"/>
              </a:spcBef>
              <a:spcAft>
                <a:spcPts val="0"/>
              </a:spcAft>
              <a:buNone/>
            </a:pPr>
            <a:r>
              <a:rPr lang="en-CA" sz="1500"/>
              <a:t>[*] </a:t>
            </a:r>
            <a:r>
              <a:rPr lang="en-CA" sz="1500">
                <a:uFill>
                  <a:noFill/>
                </a:uFill>
                <a:hlinkClick r:id="rId3"/>
              </a:rPr>
              <a:t>http://arduino.vn/tutorial/1479-gioi-thieu-module-thu-phat-rf-cc2530-tam-xa-plus-cc2591-cua-zigbee</a:t>
            </a:r>
            <a:endParaRPr sz="1500"/>
          </a:p>
          <a:p>
            <a:pPr marL="0" lvl="0" indent="0" algn="l" rtl="0">
              <a:spcBef>
                <a:spcPts val="1200"/>
              </a:spcBef>
              <a:spcAft>
                <a:spcPts val="1200"/>
              </a:spcAft>
              <a:buNone/>
            </a:pPr>
            <a:r>
              <a:rPr lang="en-CA" sz="1500"/>
              <a:t>[**]https://epcb.vn/blogs/news/arduino-zigbee-shield-giao-tiep-arduino-thong-qua-zigbee-shield</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4.3 Wifi</a:t>
            </a:r>
            <a:endParaRPr/>
          </a:p>
        </p:txBody>
      </p:sp>
      <p:sp>
        <p:nvSpPr>
          <p:cNvPr id="219" name="Google Shape;21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sz="1350" b="1" dirty="0">
                <a:solidFill>
                  <a:srgbClr val="273239"/>
                </a:solidFill>
                <a:highlight>
                  <a:srgbClr val="FFFFFF"/>
                </a:highlight>
                <a:latin typeface="Nunito"/>
                <a:ea typeface="Nunito"/>
                <a:cs typeface="Nunito"/>
                <a:sym typeface="Nunito"/>
              </a:rPr>
              <a:t>“Wi-Fi</a:t>
            </a:r>
            <a:r>
              <a:rPr lang="en-CA" sz="1350" dirty="0">
                <a:solidFill>
                  <a:srgbClr val="273239"/>
                </a:solidFill>
                <a:highlight>
                  <a:srgbClr val="FFFFFF"/>
                </a:highlight>
                <a:latin typeface="Nunito"/>
                <a:ea typeface="Nunito"/>
                <a:cs typeface="Nunito"/>
                <a:sym typeface="Nunito"/>
              </a:rPr>
              <a:t>,</a:t>
            </a:r>
            <a:r>
              <a:rPr lang="en-CA" sz="1350" b="1" dirty="0">
                <a:solidFill>
                  <a:srgbClr val="273239"/>
                </a:solidFill>
                <a:highlight>
                  <a:srgbClr val="FFFFFF"/>
                </a:highlight>
                <a:latin typeface="Nunito"/>
                <a:ea typeface="Nunito"/>
                <a:cs typeface="Nunito"/>
                <a:sym typeface="Nunito"/>
              </a:rPr>
              <a:t> </a:t>
            </a:r>
            <a:r>
              <a:rPr lang="en-CA" sz="1350" dirty="0">
                <a:solidFill>
                  <a:srgbClr val="273239"/>
                </a:solidFill>
                <a:highlight>
                  <a:srgbClr val="FFFFFF"/>
                </a:highlight>
                <a:latin typeface="Nunito"/>
                <a:ea typeface="Nunito"/>
                <a:cs typeface="Nunito"/>
                <a:sym typeface="Nunito"/>
              </a:rPr>
              <a:t>a brand name given by the Wi-Fi Alliance (formerly Wireless Ethernet Compatibility Alliance), is a generic term that refers to the communication standard for the wireless network which works as a Local Area Network to operate without using the cable and any types of wiring. It is known as </a:t>
            </a:r>
            <a:r>
              <a:rPr lang="en-CA" sz="1350" b="1" dirty="0">
                <a:solidFill>
                  <a:srgbClr val="273239"/>
                </a:solidFill>
                <a:highlight>
                  <a:srgbClr val="FFFFFF"/>
                </a:highlight>
                <a:latin typeface="Nunito"/>
                <a:ea typeface="Nunito"/>
                <a:cs typeface="Nunito"/>
                <a:sym typeface="Nunito"/>
              </a:rPr>
              <a:t>WLAN</a:t>
            </a:r>
            <a:r>
              <a:rPr lang="en-CA" sz="1350" dirty="0">
                <a:solidFill>
                  <a:srgbClr val="273239"/>
                </a:solidFill>
                <a:highlight>
                  <a:srgbClr val="FFFFFF"/>
                </a:highlight>
                <a:latin typeface="Nunito"/>
                <a:ea typeface="Nunito"/>
                <a:cs typeface="Nunito"/>
                <a:sym typeface="Nunito"/>
              </a:rPr>
              <a:t>. The communication standard is </a:t>
            </a:r>
            <a:r>
              <a:rPr lang="en-CA" sz="1350" b="1" dirty="0">
                <a:solidFill>
                  <a:srgbClr val="273239"/>
                </a:solidFill>
                <a:highlight>
                  <a:srgbClr val="FFFFFF"/>
                </a:highlight>
                <a:latin typeface="Nunito"/>
                <a:ea typeface="Nunito"/>
                <a:cs typeface="Nunito"/>
                <a:sym typeface="Nunito"/>
              </a:rPr>
              <a:t>IEEE 802.11</a:t>
            </a:r>
            <a:r>
              <a:rPr lang="en-CA" sz="1350" dirty="0">
                <a:solidFill>
                  <a:srgbClr val="273239"/>
                </a:solidFill>
                <a:highlight>
                  <a:srgbClr val="FFFFFF"/>
                </a:highlight>
                <a:latin typeface="Nunito"/>
                <a:ea typeface="Nunito"/>
                <a:cs typeface="Nunito"/>
                <a:sym typeface="Nunito"/>
              </a:rPr>
              <a:t>. Wi-Fi works using Physical Data Link Layer. “</a:t>
            </a:r>
            <a:endParaRPr sz="1350" dirty="0">
              <a:solidFill>
                <a:srgbClr val="273239"/>
              </a:solidFill>
              <a:highlight>
                <a:srgbClr val="FFFFFF"/>
              </a:highlight>
              <a:latin typeface="Nunito"/>
              <a:ea typeface="Nunito"/>
              <a:cs typeface="Nunito"/>
              <a:sym typeface="Nunito"/>
            </a:endParaRPr>
          </a:p>
          <a:p>
            <a:pPr marL="0" lvl="0" indent="0" algn="r" rtl="0">
              <a:spcBef>
                <a:spcPts val="1200"/>
              </a:spcBef>
              <a:spcAft>
                <a:spcPts val="1200"/>
              </a:spcAft>
              <a:buNone/>
            </a:pPr>
            <a:r>
              <a:rPr lang="en-CA" sz="1350" dirty="0">
                <a:solidFill>
                  <a:srgbClr val="273239"/>
                </a:solidFill>
                <a:highlight>
                  <a:srgbClr val="FFFFFF"/>
                </a:highlight>
                <a:latin typeface="Nunito"/>
                <a:ea typeface="Nunito"/>
                <a:cs typeface="Nunito"/>
                <a:sym typeface="Nunito"/>
              </a:rPr>
              <a:t>[*] https://www.geeksforgeeks.org/what-is-wi-fiwireless-fidelity/</a:t>
            </a:r>
            <a:endParaRPr sz="135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4.3 Wifi</a:t>
            </a:r>
            <a:endParaRPr/>
          </a:p>
          <a:p>
            <a:pPr marL="0" lvl="0" indent="0" algn="l" rtl="0">
              <a:spcBef>
                <a:spcPts val="0"/>
              </a:spcBef>
              <a:spcAft>
                <a:spcPts val="0"/>
              </a:spcAft>
              <a:buNone/>
            </a:pPr>
            <a:endParaRPr/>
          </a:p>
        </p:txBody>
      </p:sp>
      <p:sp>
        <p:nvSpPr>
          <p:cNvPr id="225" name="Google Shape;225;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6" name="Google Shape;226;p32"/>
          <p:cNvPicPr preferRelativeResize="0"/>
          <p:nvPr/>
        </p:nvPicPr>
        <p:blipFill>
          <a:blip r:embed="rId3">
            <a:alphaModFix/>
          </a:blip>
          <a:stretch>
            <a:fillRect/>
          </a:stretch>
        </p:blipFill>
        <p:spPr>
          <a:xfrm>
            <a:off x="1572400" y="1068425"/>
            <a:ext cx="5833194" cy="3764301"/>
          </a:xfrm>
          <a:prstGeom prst="rect">
            <a:avLst/>
          </a:prstGeom>
          <a:noFill/>
          <a:ln>
            <a:noFill/>
          </a:ln>
        </p:spPr>
      </p:pic>
      <p:sp>
        <p:nvSpPr>
          <p:cNvPr id="227" name="Google Shape;227;p32"/>
          <p:cNvSpPr txBox="1"/>
          <p:nvPr/>
        </p:nvSpPr>
        <p:spPr>
          <a:xfrm>
            <a:off x="1041125" y="4747275"/>
            <a:ext cx="6425400" cy="2487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Clr>
                <a:schemeClr val="dk2"/>
              </a:buClr>
              <a:buSzPts val="1100"/>
              <a:buFont typeface="Arial"/>
              <a:buNone/>
            </a:pPr>
            <a:r>
              <a:rPr lang="en-CA" sz="1350">
                <a:solidFill>
                  <a:srgbClr val="273239"/>
                </a:solidFill>
                <a:highlight>
                  <a:srgbClr val="FFFFFF"/>
                </a:highlight>
                <a:latin typeface="Nunito"/>
                <a:ea typeface="Nunito"/>
                <a:cs typeface="Nunito"/>
                <a:sym typeface="Nunito"/>
              </a:rPr>
              <a:t>[*] https://www.geeksforgeeks.org/what-is-wi-fiwireless-fidelity/</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4.3 Wifi</a:t>
            </a:r>
            <a:endParaRPr/>
          </a:p>
          <a:p>
            <a:pPr marL="0" lvl="0" indent="0" algn="l" rtl="0">
              <a:spcBef>
                <a:spcPts val="0"/>
              </a:spcBef>
              <a:spcAft>
                <a:spcPts val="0"/>
              </a:spcAft>
              <a:buNone/>
            </a:pPr>
            <a:endParaRPr/>
          </a:p>
        </p:txBody>
      </p:sp>
      <p:sp>
        <p:nvSpPr>
          <p:cNvPr id="233" name="Google Shape;233;p33"/>
          <p:cNvSpPr txBox="1">
            <a:spLocks noGrp="1"/>
          </p:cNvSpPr>
          <p:nvPr>
            <p:ph type="body" idx="1"/>
          </p:nvPr>
        </p:nvSpPr>
        <p:spPr>
          <a:xfrm>
            <a:off x="5058025" y="1152475"/>
            <a:ext cx="3774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Base Station Network or Ethernet Connection.</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en-CA"/>
              <a:t>Wifi Access Point or Router</a:t>
            </a: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en-CA"/>
              <a:t>End Devices</a:t>
            </a:r>
            <a:endParaRPr/>
          </a:p>
        </p:txBody>
      </p:sp>
      <p:sp>
        <p:nvSpPr>
          <p:cNvPr id="234" name="Google Shape;234;p33"/>
          <p:cNvSpPr txBox="1"/>
          <p:nvPr/>
        </p:nvSpPr>
        <p:spPr>
          <a:xfrm>
            <a:off x="0" y="3924250"/>
            <a:ext cx="6425400" cy="24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CA" sz="1350">
                <a:solidFill>
                  <a:srgbClr val="273239"/>
                </a:solidFill>
                <a:highlight>
                  <a:srgbClr val="FFFFFF"/>
                </a:highlight>
                <a:latin typeface="Nunito"/>
                <a:ea typeface="Nunito"/>
                <a:cs typeface="Nunito"/>
                <a:sym typeface="Nunito"/>
              </a:rPr>
              <a:t>[*] https://www.geeksforgeeks.org/what-is-wi-fiwireless-fidelity/</a:t>
            </a:r>
            <a:endParaRPr sz="1350">
              <a:solidFill>
                <a:srgbClr val="273239"/>
              </a:solidFill>
              <a:highlight>
                <a:srgbClr val="FFFFFF"/>
              </a:highlight>
              <a:latin typeface="Nunito"/>
              <a:ea typeface="Nunito"/>
              <a:cs typeface="Nunito"/>
              <a:sym typeface="Nunito"/>
            </a:endParaRPr>
          </a:p>
        </p:txBody>
      </p:sp>
      <p:pic>
        <p:nvPicPr>
          <p:cNvPr id="235" name="Google Shape;235;p33"/>
          <p:cNvPicPr preferRelativeResize="0"/>
          <p:nvPr/>
        </p:nvPicPr>
        <p:blipFill>
          <a:blip r:embed="rId3">
            <a:alphaModFix/>
          </a:blip>
          <a:stretch>
            <a:fillRect/>
          </a:stretch>
        </p:blipFill>
        <p:spPr>
          <a:xfrm>
            <a:off x="-12" y="1152463"/>
            <a:ext cx="5019675" cy="2771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4.3 Wifi</a:t>
            </a:r>
            <a:endParaRPr/>
          </a:p>
          <a:p>
            <a:pPr marL="0" lvl="0" indent="0" algn="l" rtl="0">
              <a:spcBef>
                <a:spcPts val="0"/>
              </a:spcBef>
              <a:spcAft>
                <a:spcPts val="0"/>
              </a:spcAft>
              <a:buNone/>
            </a:pPr>
            <a:endParaRPr/>
          </a:p>
        </p:txBody>
      </p:sp>
      <p:sp>
        <p:nvSpPr>
          <p:cNvPr id="241" name="Google Shape;241;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graphicFrame>
        <p:nvGraphicFramePr>
          <p:cNvPr id="242" name="Google Shape;242;p34"/>
          <p:cNvGraphicFramePr/>
          <p:nvPr>
            <p:extLst>
              <p:ext uri="{D42A27DB-BD31-4B8C-83A1-F6EECF244321}">
                <p14:modId xmlns:p14="http://schemas.microsoft.com/office/powerpoint/2010/main" val="1205953080"/>
              </p:ext>
            </p:extLst>
          </p:nvPr>
        </p:nvGraphicFramePr>
        <p:xfrm>
          <a:off x="311700" y="1728825"/>
          <a:ext cx="8520600" cy="2712546"/>
        </p:xfrm>
        <a:graphic>
          <a:graphicData uri="http://schemas.openxmlformats.org/drawingml/2006/table">
            <a:tbl>
              <a:tblPr>
                <a:noFill/>
                <a:tableStyleId>{0989B71F-FDE0-4053-8CEB-07D1FD352F78}</a:tableStyleId>
              </a:tblPr>
              <a:tblGrid>
                <a:gridCol w="4260300">
                  <a:extLst>
                    <a:ext uri="{9D8B030D-6E8A-4147-A177-3AD203B41FA5}">
                      <a16:colId xmlns:a16="http://schemas.microsoft.com/office/drawing/2014/main" val="20000"/>
                    </a:ext>
                  </a:extLst>
                </a:gridCol>
                <a:gridCol w="4260300">
                  <a:extLst>
                    <a:ext uri="{9D8B030D-6E8A-4147-A177-3AD203B41FA5}">
                      <a16:colId xmlns:a16="http://schemas.microsoft.com/office/drawing/2014/main" val="20001"/>
                    </a:ext>
                  </a:extLst>
                </a:gridCol>
              </a:tblGrid>
              <a:tr h="580455">
                <a:tc>
                  <a:txBody>
                    <a:bodyPr/>
                    <a:lstStyle/>
                    <a:p>
                      <a:pPr marL="0" lvl="0" indent="0" algn="ctr" rtl="0">
                        <a:spcBef>
                          <a:spcPts val="0"/>
                        </a:spcBef>
                        <a:spcAft>
                          <a:spcPts val="0"/>
                        </a:spcAft>
                        <a:buNone/>
                      </a:pPr>
                      <a:r>
                        <a:rPr lang="en-CA" sz="2000" b="1" dirty="0" err="1">
                          <a:solidFill>
                            <a:schemeClr val="bg1"/>
                          </a:solidFill>
                        </a:rPr>
                        <a:t>Lợi</a:t>
                      </a:r>
                      <a:r>
                        <a:rPr lang="en-CA" sz="2000" b="1" dirty="0">
                          <a:solidFill>
                            <a:schemeClr val="bg1"/>
                          </a:solidFill>
                        </a:rPr>
                        <a:t> </a:t>
                      </a:r>
                      <a:r>
                        <a:rPr lang="en-CA" sz="2000" b="1" dirty="0" err="1">
                          <a:solidFill>
                            <a:schemeClr val="bg1"/>
                          </a:solidFill>
                        </a:rPr>
                        <a:t>Điểm</a:t>
                      </a:r>
                      <a:endParaRPr sz="2000" b="1" dirty="0">
                        <a:solidFill>
                          <a:schemeClr val="bg1"/>
                        </a:solidFill>
                      </a:endParaRPr>
                    </a:p>
                  </a:txBody>
                  <a:tcPr marL="91425" marR="91425" marT="91425" marB="91425">
                    <a:solidFill>
                      <a:srgbClr val="0070C0"/>
                    </a:solidFill>
                  </a:tcPr>
                </a:tc>
                <a:tc>
                  <a:txBody>
                    <a:bodyPr/>
                    <a:lstStyle/>
                    <a:p>
                      <a:pPr marL="0" lvl="0" indent="0" algn="ctr" rtl="0">
                        <a:spcBef>
                          <a:spcPts val="0"/>
                        </a:spcBef>
                        <a:spcAft>
                          <a:spcPts val="0"/>
                        </a:spcAft>
                        <a:buNone/>
                      </a:pPr>
                      <a:r>
                        <a:rPr lang="en-CA" sz="2000" b="1" dirty="0" err="1">
                          <a:solidFill>
                            <a:schemeClr val="bg1"/>
                          </a:solidFill>
                        </a:rPr>
                        <a:t>Yếu</a:t>
                      </a:r>
                      <a:r>
                        <a:rPr lang="en-CA" sz="2000" b="1" dirty="0">
                          <a:solidFill>
                            <a:schemeClr val="bg1"/>
                          </a:solidFill>
                        </a:rPr>
                        <a:t> </a:t>
                      </a:r>
                      <a:r>
                        <a:rPr lang="en-CA" sz="2000" b="1" dirty="0" err="1">
                          <a:solidFill>
                            <a:schemeClr val="bg1"/>
                          </a:solidFill>
                        </a:rPr>
                        <a:t>Điểm</a:t>
                      </a:r>
                      <a:endParaRPr sz="2000" b="1" dirty="0">
                        <a:solidFill>
                          <a:schemeClr val="bg1"/>
                        </a:solidFill>
                      </a:endParaRPr>
                    </a:p>
                  </a:txBody>
                  <a:tcPr marL="91425" marR="91425" marT="91425" marB="91425">
                    <a:solidFill>
                      <a:srgbClr val="0070C0"/>
                    </a:solidFill>
                  </a:tcPr>
                </a:tc>
                <a:extLst>
                  <a:ext uri="{0D108BD9-81ED-4DB2-BD59-A6C34878D82A}">
                    <a16:rowId xmlns:a16="http://schemas.microsoft.com/office/drawing/2014/main" val="10000"/>
                  </a:ext>
                </a:extLst>
              </a:tr>
              <a:tr h="2132091">
                <a:tc>
                  <a:txBody>
                    <a:bodyPr/>
                    <a:lstStyle/>
                    <a:p>
                      <a:pPr marL="457200" lvl="0" indent="-317500" algn="l" rtl="0">
                        <a:spcBef>
                          <a:spcPts val="0"/>
                        </a:spcBef>
                        <a:spcAft>
                          <a:spcPts val="0"/>
                        </a:spcAft>
                        <a:buSzPts val="1400"/>
                        <a:buChar char="-"/>
                      </a:pPr>
                      <a:r>
                        <a:rPr lang="en-CA" sz="1800" dirty="0"/>
                        <a:t>Linh </a:t>
                      </a:r>
                      <a:r>
                        <a:rPr lang="en-CA" sz="1800" dirty="0" err="1"/>
                        <a:t>hoạt</a:t>
                      </a:r>
                      <a:endParaRPr sz="1800" dirty="0"/>
                    </a:p>
                    <a:p>
                      <a:pPr marL="457200" lvl="0" indent="-317500" algn="l" rtl="0">
                        <a:spcBef>
                          <a:spcPts val="0"/>
                        </a:spcBef>
                        <a:spcAft>
                          <a:spcPts val="0"/>
                        </a:spcAft>
                        <a:buSzPts val="1400"/>
                        <a:buChar char="-"/>
                      </a:pPr>
                      <a:r>
                        <a:rPr lang="en-CA" sz="1800" dirty="0" err="1"/>
                        <a:t>Dễ</a:t>
                      </a:r>
                      <a:r>
                        <a:rPr lang="en-CA" sz="1800" dirty="0"/>
                        <a:t> </a:t>
                      </a:r>
                      <a:r>
                        <a:rPr lang="en-CA" sz="1800" dirty="0" err="1"/>
                        <a:t>mở</a:t>
                      </a:r>
                      <a:r>
                        <a:rPr lang="en-CA" sz="1800" dirty="0"/>
                        <a:t> </a:t>
                      </a:r>
                      <a:r>
                        <a:rPr lang="en-CA" sz="1800" dirty="0" err="1"/>
                        <a:t>rộng</a:t>
                      </a:r>
                      <a:endParaRPr sz="1800" dirty="0"/>
                    </a:p>
                    <a:p>
                      <a:pPr marL="457200" lvl="0" indent="-317500" algn="l" rtl="0">
                        <a:spcBef>
                          <a:spcPts val="0"/>
                        </a:spcBef>
                        <a:spcAft>
                          <a:spcPts val="0"/>
                        </a:spcAft>
                        <a:buSzPts val="1400"/>
                        <a:buChar char="-"/>
                      </a:pPr>
                      <a:r>
                        <a:rPr lang="en-CA" sz="1800" dirty="0" err="1"/>
                        <a:t>Dễ</a:t>
                      </a:r>
                      <a:r>
                        <a:rPr lang="en-CA" sz="1800" dirty="0"/>
                        <a:t> </a:t>
                      </a:r>
                      <a:r>
                        <a:rPr lang="en-CA" sz="1800" dirty="0" err="1"/>
                        <a:t>dàng</a:t>
                      </a:r>
                      <a:r>
                        <a:rPr lang="en-CA" sz="1800" dirty="0"/>
                        <a:t> </a:t>
                      </a:r>
                      <a:r>
                        <a:rPr lang="en-CA" sz="1800" dirty="0" err="1"/>
                        <a:t>nhanh</a:t>
                      </a:r>
                      <a:r>
                        <a:rPr lang="en-CA" sz="1800" dirty="0"/>
                        <a:t> </a:t>
                      </a:r>
                      <a:r>
                        <a:rPr lang="en-CA" sz="1800" dirty="0" err="1"/>
                        <a:t>chóng</a:t>
                      </a:r>
                      <a:r>
                        <a:rPr lang="en-CA" sz="1800" dirty="0"/>
                        <a:t> setup.</a:t>
                      </a:r>
                      <a:endParaRPr sz="1800" dirty="0"/>
                    </a:p>
                    <a:p>
                      <a:pPr marL="457200" lvl="0" indent="-317500" algn="l" rtl="0">
                        <a:spcBef>
                          <a:spcPts val="0"/>
                        </a:spcBef>
                        <a:spcAft>
                          <a:spcPts val="0"/>
                        </a:spcAft>
                        <a:buSzPts val="1400"/>
                        <a:buChar char="-"/>
                      </a:pPr>
                      <a:r>
                        <a:rPr lang="en-CA" sz="1800" dirty="0" err="1"/>
                        <a:t>Bảo</a:t>
                      </a:r>
                      <a:r>
                        <a:rPr lang="en-CA" sz="1800" dirty="0"/>
                        <a:t> </a:t>
                      </a:r>
                      <a:r>
                        <a:rPr lang="en-CA" sz="1800" dirty="0" err="1"/>
                        <a:t>mật</a:t>
                      </a:r>
                      <a:endParaRPr sz="1800" dirty="0"/>
                    </a:p>
                    <a:p>
                      <a:pPr marL="457200" lvl="0" indent="-317500" algn="l" rtl="0">
                        <a:spcBef>
                          <a:spcPts val="0"/>
                        </a:spcBef>
                        <a:spcAft>
                          <a:spcPts val="0"/>
                        </a:spcAft>
                        <a:buSzPts val="1400"/>
                        <a:buChar char="-"/>
                      </a:pPr>
                      <a:r>
                        <a:rPr lang="en-CA" sz="1800" dirty="0" err="1"/>
                        <a:t>Giá</a:t>
                      </a:r>
                      <a:r>
                        <a:rPr lang="en-CA" sz="1800" dirty="0"/>
                        <a:t> </a:t>
                      </a:r>
                      <a:r>
                        <a:rPr lang="en-CA" sz="1800" dirty="0" err="1"/>
                        <a:t>thành</a:t>
                      </a:r>
                      <a:r>
                        <a:rPr lang="en-CA" sz="1800" dirty="0"/>
                        <a:t> </a:t>
                      </a:r>
                      <a:r>
                        <a:rPr lang="en-CA" sz="1800" dirty="0" err="1"/>
                        <a:t>sản</a:t>
                      </a:r>
                      <a:r>
                        <a:rPr lang="en-CA" sz="1800" dirty="0"/>
                        <a:t> </a:t>
                      </a:r>
                      <a:r>
                        <a:rPr lang="en-CA" sz="1800" dirty="0" err="1"/>
                        <a:t>xuất</a:t>
                      </a:r>
                      <a:r>
                        <a:rPr lang="en-CA" sz="1800" dirty="0"/>
                        <a:t> </a:t>
                      </a:r>
                      <a:r>
                        <a:rPr lang="en-CA" sz="1800" dirty="0" err="1"/>
                        <a:t>ngày</a:t>
                      </a:r>
                      <a:r>
                        <a:rPr lang="en-CA" sz="1800" dirty="0"/>
                        <a:t> </a:t>
                      </a:r>
                      <a:r>
                        <a:rPr lang="en-CA" sz="1800" dirty="0" err="1"/>
                        <a:t>một</a:t>
                      </a:r>
                      <a:r>
                        <a:rPr lang="en-CA" sz="1800" dirty="0"/>
                        <a:t> </a:t>
                      </a:r>
                      <a:r>
                        <a:rPr lang="en-CA" sz="1800" dirty="0" err="1"/>
                        <a:t>hạ</a:t>
                      </a:r>
                      <a:endParaRPr sz="1800" dirty="0"/>
                    </a:p>
                    <a:p>
                      <a:pPr marL="457200" lvl="0" indent="0" algn="l" rtl="0">
                        <a:spcBef>
                          <a:spcPts val="0"/>
                        </a:spcBef>
                        <a:spcAft>
                          <a:spcPts val="0"/>
                        </a:spcAft>
                        <a:buNone/>
                      </a:pPr>
                      <a:endParaRPr sz="1800" dirty="0"/>
                    </a:p>
                  </a:txBody>
                  <a:tcPr marL="91425" marR="91425" marT="91425" marB="91425"/>
                </a:tc>
                <a:tc>
                  <a:txBody>
                    <a:bodyPr/>
                    <a:lstStyle/>
                    <a:p>
                      <a:pPr marL="457200" lvl="0" indent="-317500" algn="l" rtl="0">
                        <a:spcBef>
                          <a:spcPts val="0"/>
                        </a:spcBef>
                        <a:spcAft>
                          <a:spcPts val="0"/>
                        </a:spcAft>
                        <a:buSzPts val="1400"/>
                        <a:buChar char="-"/>
                      </a:pPr>
                      <a:r>
                        <a:rPr lang="en-CA" sz="1800" dirty="0" err="1"/>
                        <a:t>Tiêu</a:t>
                      </a:r>
                      <a:r>
                        <a:rPr lang="en-CA" sz="1800" dirty="0"/>
                        <a:t> </a:t>
                      </a:r>
                      <a:r>
                        <a:rPr lang="en-CA" sz="1800" dirty="0" err="1"/>
                        <a:t>thụ</a:t>
                      </a:r>
                      <a:r>
                        <a:rPr lang="en-CA" sz="1800" dirty="0"/>
                        <a:t> </a:t>
                      </a:r>
                      <a:r>
                        <a:rPr lang="en-CA" sz="1800" dirty="0" err="1"/>
                        <a:t>năng</a:t>
                      </a:r>
                      <a:r>
                        <a:rPr lang="en-CA" sz="1800" dirty="0"/>
                        <a:t> </a:t>
                      </a:r>
                      <a:r>
                        <a:rPr lang="en-CA" sz="1800" dirty="0" err="1"/>
                        <a:t>lượng</a:t>
                      </a:r>
                      <a:r>
                        <a:rPr lang="en-CA" sz="1800" dirty="0"/>
                        <a:t> </a:t>
                      </a:r>
                      <a:r>
                        <a:rPr lang="en-CA" sz="1800" dirty="0" err="1"/>
                        <a:t>cao</a:t>
                      </a:r>
                      <a:endParaRPr sz="1800" dirty="0"/>
                    </a:p>
                    <a:p>
                      <a:pPr marL="457200" lvl="0" indent="-317500" algn="l" rtl="0">
                        <a:spcBef>
                          <a:spcPts val="0"/>
                        </a:spcBef>
                        <a:spcAft>
                          <a:spcPts val="0"/>
                        </a:spcAft>
                        <a:buSzPts val="1400"/>
                        <a:buChar char="-"/>
                      </a:pPr>
                      <a:r>
                        <a:rPr lang="en-CA" sz="1800" dirty="0" err="1"/>
                        <a:t>Tốc</a:t>
                      </a:r>
                      <a:r>
                        <a:rPr lang="en-CA" sz="1800" dirty="0"/>
                        <a:t> </a:t>
                      </a:r>
                      <a:r>
                        <a:rPr lang="en-CA" sz="1800" dirty="0" err="1"/>
                        <a:t>độ</a:t>
                      </a:r>
                      <a:r>
                        <a:rPr lang="en-CA" sz="1800" dirty="0"/>
                        <a:t> </a:t>
                      </a:r>
                      <a:r>
                        <a:rPr lang="en-CA" sz="1800" dirty="0" err="1"/>
                        <a:t>thấp</a:t>
                      </a:r>
                      <a:r>
                        <a:rPr lang="en-CA" sz="1800" dirty="0"/>
                        <a:t> </a:t>
                      </a:r>
                      <a:r>
                        <a:rPr lang="en-CA" sz="1800" dirty="0" err="1"/>
                        <a:t>hơn</a:t>
                      </a:r>
                      <a:r>
                        <a:rPr lang="en-CA" sz="1800" dirty="0"/>
                        <a:t> </a:t>
                      </a:r>
                      <a:r>
                        <a:rPr lang="en-CA" sz="1800" dirty="0" err="1"/>
                        <a:t>kết</a:t>
                      </a:r>
                      <a:r>
                        <a:rPr lang="en-CA" sz="1800" dirty="0"/>
                        <a:t> </a:t>
                      </a:r>
                      <a:r>
                        <a:rPr lang="en-CA" sz="1800" dirty="0" err="1"/>
                        <a:t>nối</a:t>
                      </a:r>
                      <a:r>
                        <a:rPr lang="en-CA" sz="1800" dirty="0"/>
                        <a:t> </a:t>
                      </a:r>
                      <a:r>
                        <a:rPr lang="en-CA" sz="1800" dirty="0" err="1"/>
                        <a:t>hữu</a:t>
                      </a:r>
                      <a:r>
                        <a:rPr lang="en-CA" sz="1800" dirty="0"/>
                        <a:t> </a:t>
                      </a:r>
                      <a:r>
                        <a:rPr lang="en-CA" sz="1800" dirty="0" err="1"/>
                        <a:t>tuyến</a:t>
                      </a:r>
                      <a:endParaRPr sz="1800" dirty="0"/>
                    </a:p>
                    <a:p>
                      <a:pPr marL="457200" lvl="0" indent="-317500" algn="l" rtl="0">
                        <a:spcBef>
                          <a:spcPts val="0"/>
                        </a:spcBef>
                        <a:spcAft>
                          <a:spcPts val="0"/>
                        </a:spcAft>
                        <a:buSzPts val="1400"/>
                        <a:buChar char="-"/>
                      </a:pPr>
                      <a:r>
                        <a:rPr lang="en-CA" sz="1800" dirty="0" err="1"/>
                        <a:t>Tín</a:t>
                      </a:r>
                      <a:r>
                        <a:rPr lang="en-CA" sz="1800" dirty="0"/>
                        <a:t> </a:t>
                      </a:r>
                      <a:r>
                        <a:rPr lang="en-CA" sz="1800" dirty="0" err="1"/>
                        <a:t>hiệu</a:t>
                      </a:r>
                      <a:r>
                        <a:rPr lang="en-CA" sz="1800" dirty="0"/>
                        <a:t> </a:t>
                      </a:r>
                      <a:r>
                        <a:rPr lang="en-CA" sz="1800" dirty="0" err="1"/>
                        <a:t>Wifi</a:t>
                      </a:r>
                      <a:r>
                        <a:rPr lang="en-CA" sz="1800" dirty="0"/>
                        <a:t> </a:t>
                      </a:r>
                      <a:r>
                        <a:rPr lang="en-CA" sz="1800" dirty="0" err="1"/>
                        <a:t>có</a:t>
                      </a:r>
                      <a:r>
                        <a:rPr lang="en-CA" sz="1800" dirty="0"/>
                        <a:t> </a:t>
                      </a:r>
                      <a:r>
                        <a:rPr lang="en-CA" sz="1800" dirty="0" err="1"/>
                        <a:t>thể</a:t>
                      </a:r>
                      <a:r>
                        <a:rPr lang="en-CA" sz="1800" dirty="0"/>
                        <a:t> </a:t>
                      </a:r>
                      <a:r>
                        <a:rPr lang="en-CA" sz="1800" dirty="0" err="1"/>
                        <a:t>ảnh</a:t>
                      </a:r>
                      <a:r>
                        <a:rPr lang="en-CA" sz="1800" dirty="0"/>
                        <a:t> </a:t>
                      </a:r>
                      <a:r>
                        <a:rPr lang="en-CA" sz="1800" dirty="0" err="1"/>
                        <a:t>hưởng</a:t>
                      </a:r>
                      <a:r>
                        <a:rPr lang="en-CA" sz="1800" dirty="0"/>
                        <a:t> </a:t>
                      </a:r>
                      <a:r>
                        <a:rPr lang="en-CA" sz="1800" dirty="0" err="1"/>
                        <a:t>tới</a:t>
                      </a:r>
                      <a:r>
                        <a:rPr lang="en-CA" sz="1800" dirty="0"/>
                        <a:t> </a:t>
                      </a:r>
                      <a:r>
                        <a:rPr lang="en-CA" sz="1800" dirty="0" err="1"/>
                        <a:t>sức</a:t>
                      </a:r>
                      <a:r>
                        <a:rPr lang="en-CA" sz="1800" dirty="0"/>
                        <a:t> </a:t>
                      </a:r>
                      <a:r>
                        <a:rPr lang="en-CA" sz="1800" dirty="0" err="1"/>
                        <a:t>khỏe</a:t>
                      </a:r>
                      <a:r>
                        <a:rPr lang="en-CA" sz="1800" dirty="0"/>
                        <a:t> con </a:t>
                      </a:r>
                      <a:r>
                        <a:rPr lang="en-CA" sz="1800" dirty="0" err="1"/>
                        <a:t>người</a:t>
                      </a:r>
                      <a:r>
                        <a:rPr lang="en-CA" sz="1800" dirty="0"/>
                        <a:t> </a:t>
                      </a:r>
                      <a:r>
                        <a:rPr lang="en-CA" sz="1800" dirty="0" err="1"/>
                        <a:t>và</a:t>
                      </a:r>
                      <a:r>
                        <a:rPr lang="en-CA" sz="1800" dirty="0"/>
                        <a:t> </a:t>
                      </a:r>
                      <a:r>
                        <a:rPr lang="en-CA" sz="1800" dirty="0" err="1"/>
                        <a:t>môi</a:t>
                      </a:r>
                      <a:r>
                        <a:rPr lang="en-CA" sz="1800" dirty="0"/>
                        <a:t> </a:t>
                      </a:r>
                      <a:r>
                        <a:rPr lang="en-CA" sz="1800" dirty="0" err="1"/>
                        <a:t>trường</a:t>
                      </a:r>
                      <a:endParaRPr sz="1800" dirty="0"/>
                    </a:p>
                    <a:p>
                      <a:pPr marL="457200" lvl="0" indent="0" algn="l" rtl="0">
                        <a:spcBef>
                          <a:spcPts val="0"/>
                        </a:spcBef>
                        <a:spcAft>
                          <a:spcPts val="0"/>
                        </a:spcAft>
                        <a:buNone/>
                      </a:pPr>
                      <a:endParaRPr sz="18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dirty="0"/>
              <a:t>4.3 </a:t>
            </a:r>
            <a:r>
              <a:rPr lang="en-CA" dirty="0" err="1"/>
              <a:t>Wifi</a:t>
            </a:r>
            <a:endParaRPr dirty="0"/>
          </a:p>
          <a:p>
            <a:pPr marL="0" lvl="0" indent="0" algn="l" rtl="0">
              <a:spcBef>
                <a:spcPts val="0"/>
              </a:spcBef>
              <a:spcAft>
                <a:spcPts val="0"/>
              </a:spcAft>
              <a:buNone/>
            </a:pPr>
            <a:endParaRPr dirty="0"/>
          </a:p>
        </p:txBody>
      </p:sp>
      <p:sp>
        <p:nvSpPr>
          <p:cNvPr id="248" name="Google Shape;248;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dirty="0" err="1"/>
              <a:t>Kết</a:t>
            </a:r>
            <a:r>
              <a:rPr lang="en-CA" dirty="0"/>
              <a:t> </a:t>
            </a:r>
            <a:r>
              <a:rPr lang="en-CA" dirty="0" err="1"/>
              <a:t>nối</a:t>
            </a:r>
            <a:r>
              <a:rPr lang="en-CA" dirty="0"/>
              <a:t> Arduino qua </a:t>
            </a:r>
            <a:r>
              <a:rPr lang="en-CA" dirty="0" err="1"/>
              <a:t>Wifi</a:t>
            </a:r>
            <a:r>
              <a:rPr lang="en-CA" dirty="0"/>
              <a:t> </a:t>
            </a:r>
            <a:r>
              <a:rPr lang="en-CA" dirty="0" err="1"/>
              <a:t>với</a:t>
            </a:r>
            <a:r>
              <a:rPr lang="en-CA" dirty="0"/>
              <a:t> module ESP8266</a:t>
            </a:r>
            <a:endParaRPr dirty="0"/>
          </a:p>
          <a:p>
            <a:pPr marL="0" lvl="0" indent="0" algn="l" rtl="0">
              <a:spcBef>
                <a:spcPts val="1200"/>
              </a:spcBef>
              <a:spcAft>
                <a:spcPts val="0"/>
              </a:spcAft>
              <a:buNone/>
            </a:pPr>
            <a:r>
              <a:rPr lang="en-CA" sz="1400" dirty="0"/>
              <a:t>[*] </a:t>
            </a:r>
            <a:r>
              <a:rPr lang="en-CA" sz="1400" dirty="0">
                <a:uFill>
                  <a:noFill/>
                </a:uFill>
              </a:rPr>
              <a:t>http://arduino.vn/bai-viet/670-dieu-khien-8-den-led-qua-wifi-su-dung-arduino-va-esp8266</a:t>
            </a:r>
            <a:endParaRPr sz="1400" dirty="0"/>
          </a:p>
          <a:p>
            <a:pPr marL="0" lvl="0" indent="0" algn="l" rtl="0">
              <a:spcBef>
                <a:spcPts val="1200"/>
              </a:spcBef>
              <a:spcAft>
                <a:spcPts val="1200"/>
              </a:spcAft>
              <a:buNone/>
            </a:pPr>
            <a:r>
              <a:rPr lang="en-CA" sz="1400" dirty="0"/>
              <a:t>[**] https://www.iostream.co/article/huong-dan-su-dung-module-wifi-esp-8266-v-1-voi-arduino-uno-FzYsu</a:t>
            </a:r>
          </a:p>
          <a:p>
            <a:pPr marL="0" lvl="0" indent="0" algn="l" rtl="0">
              <a:spcBef>
                <a:spcPts val="1200"/>
              </a:spcBef>
              <a:spcAft>
                <a:spcPts val="1200"/>
              </a:spcAft>
              <a:buNone/>
            </a:pPr>
            <a:r>
              <a:rPr lang="en-CA" sz="1400" dirty="0"/>
              <a:t>[***] https://randomnerdtutorials.com/esp32-useful-wi-fi-functions-arduino/</a:t>
            </a:r>
            <a:endParaRP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D92E-5AAA-8A13-E08D-70A8A138FC02}"/>
              </a:ext>
            </a:extLst>
          </p:cNvPr>
          <p:cNvSpPr>
            <a:spLocks noGrp="1"/>
          </p:cNvSpPr>
          <p:nvPr>
            <p:ph type="title"/>
          </p:nvPr>
        </p:nvSpPr>
        <p:spPr/>
        <p:txBody>
          <a:bodyPr>
            <a:normAutofit fontScale="90000"/>
          </a:bodyPr>
          <a:lstStyle/>
          <a:p>
            <a:r>
              <a:rPr lang="en-CA" dirty="0"/>
              <a:t>4.3 </a:t>
            </a:r>
            <a:r>
              <a:rPr lang="en-CA" dirty="0" err="1"/>
              <a:t>Wifi</a:t>
            </a:r>
            <a:endParaRPr lang="en-US" dirty="0"/>
          </a:p>
        </p:txBody>
      </p:sp>
      <p:sp>
        <p:nvSpPr>
          <p:cNvPr id="3" name="Text Placeholder 2">
            <a:extLst>
              <a:ext uri="{FF2B5EF4-FFF2-40B4-BE49-F238E27FC236}">
                <a16:creationId xmlns:a16="http://schemas.microsoft.com/office/drawing/2014/main" id="{FE1450FF-F94E-CAFF-D9BB-F32223DA7E89}"/>
              </a:ext>
            </a:extLst>
          </p:cNvPr>
          <p:cNvSpPr>
            <a:spLocks noGrp="1"/>
          </p:cNvSpPr>
          <p:nvPr>
            <p:ph type="body" idx="1"/>
          </p:nvPr>
        </p:nvSpPr>
        <p:spPr>
          <a:xfrm>
            <a:off x="311700" y="1152475"/>
            <a:ext cx="4260300" cy="3858912"/>
          </a:xfrm>
        </p:spPr>
        <p:txBody>
          <a:bodyPr>
            <a:normAutofit lnSpcReduction="10000"/>
          </a:bodyPr>
          <a:lstStyle/>
          <a:p>
            <a:pPr marL="114300" indent="0">
              <a:buNone/>
            </a:pPr>
            <a:r>
              <a:rPr lang="vi-VN" b="1" dirty="0"/>
              <a:t>Các bước căn bản để khởi tạo Wi-Fi trên ESP32</a:t>
            </a:r>
            <a:endParaRPr lang="en-US" b="1" dirty="0"/>
          </a:p>
          <a:p>
            <a:pPr>
              <a:buFontTx/>
              <a:buChar char="-"/>
            </a:pPr>
            <a:r>
              <a:rPr lang="en-US" dirty="0" err="1"/>
              <a:t>Thư</a:t>
            </a:r>
            <a:r>
              <a:rPr lang="en-US" dirty="0"/>
              <a:t> </a:t>
            </a:r>
            <a:r>
              <a:rPr lang="en-US" dirty="0" err="1"/>
              <a:t>viện</a:t>
            </a:r>
            <a:r>
              <a:rPr lang="en-US" dirty="0"/>
              <a:t>: </a:t>
            </a:r>
            <a:r>
              <a:rPr lang="en-US" dirty="0">
                <a:solidFill>
                  <a:srgbClr val="FF0000"/>
                </a:solidFill>
              </a:rPr>
              <a:t>#include &lt;</a:t>
            </a:r>
            <a:r>
              <a:rPr lang="en-US" dirty="0" err="1">
                <a:solidFill>
                  <a:srgbClr val="FF0000"/>
                </a:solidFill>
              </a:rPr>
              <a:t>WiFi.h</a:t>
            </a:r>
            <a:r>
              <a:rPr lang="en-US" dirty="0">
                <a:solidFill>
                  <a:srgbClr val="FF0000"/>
                </a:solidFill>
              </a:rPr>
              <a:t>&gt; </a:t>
            </a:r>
            <a:r>
              <a:rPr lang="en-US" dirty="0" err="1"/>
              <a:t>để</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hàm</a:t>
            </a:r>
            <a:r>
              <a:rPr lang="en-US" dirty="0"/>
              <a:t> Wi-Fi </a:t>
            </a:r>
            <a:r>
              <a:rPr lang="en-US" dirty="0" err="1"/>
              <a:t>cho</a:t>
            </a:r>
            <a:r>
              <a:rPr lang="en-US" dirty="0"/>
              <a:t> ESP32</a:t>
            </a:r>
          </a:p>
          <a:p>
            <a:pPr>
              <a:buFontTx/>
              <a:buChar char="-"/>
            </a:pPr>
            <a:r>
              <a:rPr lang="en-US" dirty="0" err="1"/>
              <a:t>Chế</a:t>
            </a:r>
            <a:r>
              <a:rPr lang="en-US" dirty="0"/>
              <a:t> </a:t>
            </a:r>
            <a:r>
              <a:rPr lang="en-US" dirty="0" err="1"/>
              <a:t>độ</a:t>
            </a:r>
            <a:r>
              <a:rPr lang="en-US" dirty="0"/>
              <a:t> </a:t>
            </a:r>
            <a:r>
              <a:rPr lang="en-US" dirty="0" err="1"/>
              <a:t>hoạt</a:t>
            </a:r>
            <a:r>
              <a:rPr lang="en-US" dirty="0"/>
              <a:t> </a:t>
            </a:r>
            <a:r>
              <a:rPr lang="en-US" dirty="0" err="1"/>
              <a:t>động</a:t>
            </a:r>
            <a:r>
              <a:rPr lang="en-US" dirty="0"/>
              <a:t>: </a:t>
            </a:r>
            <a:r>
              <a:rPr lang="en-US" dirty="0" err="1">
                <a:solidFill>
                  <a:srgbClr val="FF0000"/>
                </a:solidFill>
              </a:rPr>
              <a:t>WiFi.mode</a:t>
            </a:r>
            <a:r>
              <a:rPr lang="en-US" dirty="0">
                <a:solidFill>
                  <a:srgbClr val="FF0000"/>
                </a:solidFill>
              </a:rPr>
              <a:t>(...) </a:t>
            </a:r>
            <a:r>
              <a:rPr lang="en-US" dirty="0" err="1"/>
              <a:t>dùng</a:t>
            </a:r>
            <a:r>
              <a:rPr lang="en-US" dirty="0"/>
              <a:t> </a:t>
            </a:r>
            <a:r>
              <a:rPr lang="en-US" dirty="0" err="1"/>
              <a:t>để</a:t>
            </a:r>
            <a:r>
              <a:rPr lang="en-US" dirty="0"/>
              <a:t> </a:t>
            </a:r>
            <a:r>
              <a:rPr lang="en-US" dirty="0" err="1"/>
              <a:t>chọn</a:t>
            </a:r>
            <a:r>
              <a:rPr lang="en-US" dirty="0"/>
              <a:t> ESP32 </a:t>
            </a:r>
            <a:r>
              <a:rPr lang="en-US" dirty="0" err="1"/>
              <a:t>là</a:t>
            </a:r>
            <a:r>
              <a:rPr lang="en-US" dirty="0"/>
              <a:t> station (</a:t>
            </a:r>
            <a:r>
              <a:rPr lang="en-US" dirty="0" err="1"/>
              <a:t>kết</a:t>
            </a:r>
            <a:r>
              <a:rPr lang="en-US" dirty="0"/>
              <a:t> </a:t>
            </a:r>
            <a:r>
              <a:rPr lang="en-US" dirty="0" err="1"/>
              <a:t>nối</a:t>
            </a:r>
            <a:r>
              <a:rPr lang="en-US" dirty="0"/>
              <a:t> </a:t>
            </a:r>
            <a:r>
              <a:rPr lang="en-US" dirty="0" err="1"/>
              <a:t>với</a:t>
            </a:r>
            <a:r>
              <a:rPr lang="en-US" dirty="0"/>
              <a:t> router), access point (AP), </a:t>
            </a:r>
            <a:r>
              <a:rPr lang="en-US" dirty="0" err="1"/>
              <a:t>hoặc</a:t>
            </a:r>
            <a:r>
              <a:rPr lang="en-US" dirty="0"/>
              <a:t> </a:t>
            </a:r>
            <a:r>
              <a:rPr lang="en-US" dirty="0" err="1"/>
              <a:t>cả</a:t>
            </a:r>
            <a:r>
              <a:rPr lang="en-US" dirty="0"/>
              <a:t> </a:t>
            </a:r>
            <a:r>
              <a:rPr lang="en-US" dirty="0" err="1"/>
              <a:t>hai</a:t>
            </a:r>
            <a:r>
              <a:rPr lang="en-US" dirty="0"/>
              <a:t> (AP + STA)</a:t>
            </a:r>
          </a:p>
          <a:p>
            <a:pPr>
              <a:buFontTx/>
              <a:buChar char="-"/>
            </a:pPr>
            <a:r>
              <a:rPr lang="en-US" dirty="0" err="1"/>
              <a:t>Kết</a:t>
            </a:r>
            <a:r>
              <a:rPr lang="en-US" dirty="0"/>
              <a:t> </a:t>
            </a:r>
            <a:r>
              <a:rPr lang="en-US" dirty="0" err="1"/>
              <a:t>nối</a:t>
            </a:r>
            <a:r>
              <a:rPr lang="en-US" dirty="0"/>
              <a:t> </a:t>
            </a:r>
            <a:r>
              <a:rPr lang="en-US" dirty="0" err="1"/>
              <a:t>với</a:t>
            </a:r>
            <a:r>
              <a:rPr lang="en-US" dirty="0"/>
              <a:t> </a:t>
            </a:r>
            <a:r>
              <a:rPr lang="en-US" dirty="0" err="1"/>
              <a:t>mạng</a:t>
            </a:r>
            <a:r>
              <a:rPr lang="en-US" dirty="0"/>
              <a:t> Wi-Fi: </a:t>
            </a:r>
            <a:r>
              <a:rPr lang="en-US" dirty="0" err="1">
                <a:solidFill>
                  <a:srgbClr val="FF0000"/>
                </a:solidFill>
              </a:rPr>
              <a:t>WiFi.begin</a:t>
            </a:r>
            <a:r>
              <a:rPr lang="en-US" dirty="0">
                <a:solidFill>
                  <a:srgbClr val="FF0000"/>
                </a:solidFill>
              </a:rPr>
              <a:t>(</a:t>
            </a:r>
            <a:r>
              <a:rPr lang="en-US" dirty="0" err="1">
                <a:solidFill>
                  <a:srgbClr val="FF0000"/>
                </a:solidFill>
              </a:rPr>
              <a:t>ssid</a:t>
            </a:r>
            <a:r>
              <a:rPr lang="en-US" dirty="0">
                <a:solidFill>
                  <a:srgbClr val="FF0000"/>
                </a:solidFill>
              </a:rPr>
              <a:t>, password) </a:t>
            </a:r>
            <a:r>
              <a:rPr lang="en-US" dirty="0" err="1"/>
              <a:t>bắt</a:t>
            </a:r>
            <a:r>
              <a:rPr lang="en-US" dirty="0"/>
              <a:t> </a:t>
            </a:r>
            <a:r>
              <a:rPr lang="en-US" dirty="0" err="1"/>
              <a:t>đầu</a:t>
            </a:r>
            <a:r>
              <a:rPr lang="en-US" dirty="0"/>
              <a:t> </a:t>
            </a:r>
            <a:r>
              <a:rPr lang="en-US" dirty="0" err="1"/>
              <a:t>quá</a:t>
            </a:r>
            <a:r>
              <a:rPr lang="en-US" dirty="0"/>
              <a:t> </a:t>
            </a:r>
            <a:r>
              <a:rPr lang="en-US" dirty="0" err="1"/>
              <a:t>trình</a:t>
            </a:r>
            <a:r>
              <a:rPr lang="en-US" dirty="0"/>
              <a:t> </a:t>
            </a:r>
            <a:r>
              <a:rPr lang="en-US" dirty="0" err="1"/>
              <a:t>kết</a:t>
            </a:r>
            <a:r>
              <a:rPr lang="en-US" dirty="0"/>
              <a:t> </a:t>
            </a:r>
            <a:r>
              <a:rPr lang="en-US" dirty="0" err="1"/>
              <a:t>nối</a:t>
            </a:r>
            <a:r>
              <a:rPr lang="en-US" dirty="0"/>
              <a:t> </a:t>
            </a:r>
            <a:r>
              <a:rPr lang="en-US" dirty="0" err="1"/>
              <a:t>đến</a:t>
            </a:r>
            <a:r>
              <a:rPr lang="en-US" dirty="0"/>
              <a:t> SSID + </a:t>
            </a:r>
            <a:r>
              <a:rPr lang="en-US" dirty="0" err="1"/>
              <a:t>mật</a:t>
            </a:r>
            <a:r>
              <a:rPr lang="en-US" dirty="0"/>
              <a:t> </a:t>
            </a:r>
            <a:r>
              <a:rPr lang="en-US" dirty="0" err="1"/>
              <a:t>khẩu</a:t>
            </a:r>
            <a:r>
              <a:rPr lang="en-US" dirty="0"/>
              <a:t> </a:t>
            </a:r>
            <a:r>
              <a:rPr lang="en-US" dirty="0" err="1"/>
              <a:t>đã</a:t>
            </a:r>
            <a:r>
              <a:rPr lang="en-US" dirty="0"/>
              <a:t> </a:t>
            </a:r>
            <a:r>
              <a:rPr lang="en-US" dirty="0" err="1"/>
              <a:t>cho</a:t>
            </a:r>
            <a:r>
              <a:rPr lang="en-US" dirty="0"/>
              <a:t> </a:t>
            </a:r>
          </a:p>
          <a:p>
            <a:pPr>
              <a:buFontTx/>
              <a:buChar char="-"/>
            </a:pPr>
            <a:endParaRPr lang="en-US" dirty="0"/>
          </a:p>
        </p:txBody>
      </p:sp>
      <p:pic>
        <p:nvPicPr>
          <p:cNvPr id="4099" name="Picture 3" descr="ESP32 Station Mode Router access point">
            <a:extLst>
              <a:ext uri="{FF2B5EF4-FFF2-40B4-BE49-F238E27FC236}">
                <a16:creationId xmlns:a16="http://schemas.microsoft.com/office/drawing/2014/main" id="{AE9C4116-6D30-E15A-F21B-8A2480188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8260" y="269337"/>
            <a:ext cx="4070637" cy="2154724"/>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ESP32 Access Point Mode">
            <a:extLst>
              <a:ext uri="{FF2B5EF4-FFF2-40B4-BE49-F238E27FC236}">
                <a16:creationId xmlns:a16="http://schemas.microsoft.com/office/drawing/2014/main" id="{753669F1-69FF-B257-F28D-5EB57817D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97" y="2736973"/>
            <a:ext cx="4296752" cy="2274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315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6569-368B-C361-626F-205A5BF5E747}"/>
              </a:ext>
            </a:extLst>
          </p:cNvPr>
          <p:cNvSpPr>
            <a:spLocks noGrp="1"/>
          </p:cNvSpPr>
          <p:nvPr>
            <p:ph type="title"/>
          </p:nvPr>
        </p:nvSpPr>
        <p:spPr/>
        <p:txBody>
          <a:bodyPr>
            <a:normAutofit fontScale="90000"/>
          </a:bodyPr>
          <a:lstStyle/>
          <a:p>
            <a:r>
              <a:rPr lang="en-CA" dirty="0"/>
              <a:t>4.3 </a:t>
            </a:r>
            <a:r>
              <a:rPr lang="en-CA" dirty="0" err="1"/>
              <a:t>Wifi</a:t>
            </a:r>
            <a:endParaRPr lang="en-US" dirty="0"/>
          </a:p>
        </p:txBody>
      </p:sp>
      <p:sp>
        <p:nvSpPr>
          <p:cNvPr id="3" name="Text Placeholder 2">
            <a:extLst>
              <a:ext uri="{FF2B5EF4-FFF2-40B4-BE49-F238E27FC236}">
                <a16:creationId xmlns:a16="http://schemas.microsoft.com/office/drawing/2014/main" id="{A45D061D-491A-C547-4D97-A9C73AF3ED80}"/>
              </a:ext>
            </a:extLst>
          </p:cNvPr>
          <p:cNvSpPr>
            <a:spLocks noGrp="1"/>
          </p:cNvSpPr>
          <p:nvPr>
            <p:ph type="body" idx="1"/>
          </p:nvPr>
        </p:nvSpPr>
        <p:spPr/>
        <p:txBody>
          <a:bodyPr/>
          <a:lstStyle/>
          <a:p>
            <a:pPr marL="114300" indent="0">
              <a:buNone/>
            </a:pPr>
            <a:r>
              <a:rPr lang="en-US" b="1" dirty="0"/>
              <a:t>Theo </a:t>
            </a:r>
            <a:r>
              <a:rPr lang="en-US" b="1" dirty="0" err="1"/>
              <a:t>dõi</a:t>
            </a:r>
            <a:r>
              <a:rPr lang="en-US" b="1" dirty="0"/>
              <a:t> </a:t>
            </a:r>
            <a:r>
              <a:rPr lang="en-US" b="1" dirty="0" err="1"/>
              <a:t>trạng</a:t>
            </a:r>
            <a:r>
              <a:rPr lang="en-US" b="1" dirty="0"/>
              <a:t> </a:t>
            </a:r>
            <a:r>
              <a:rPr lang="en-US" b="1" dirty="0" err="1"/>
              <a:t>thái</a:t>
            </a:r>
            <a:r>
              <a:rPr lang="en-US" b="1" dirty="0"/>
              <a:t> </a:t>
            </a:r>
            <a:r>
              <a:rPr lang="en-US" b="1" dirty="0" err="1"/>
              <a:t>và</a:t>
            </a:r>
            <a:r>
              <a:rPr lang="en-US" b="1" dirty="0"/>
              <a:t> IP</a:t>
            </a:r>
          </a:p>
          <a:p>
            <a:pPr marL="114300" indent="0">
              <a:buNone/>
            </a:pPr>
            <a:endParaRPr lang="en-US" dirty="0"/>
          </a:p>
          <a:p>
            <a:pPr>
              <a:buFontTx/>
              <a:buChar char="-"/>
            </a:pPr>
            <a:r>
              <a:rPr lang="vi-VN" dirty="0"/>
              <a:t>Kiểm tra trạng thái kết nối: </a:t>
            </a:r>
            <a:r>
              <a:rPr lang="vi-VN" dirty="0">
                <a:solidFill>
                  <a:srgbClr val="FF0000"/>
                </a:solidFill>
              </a:rPr>
              <a:t>WiFi.status() </a:t>
            </a:r>
            <a:r>
              <a:rPr lang="vi-VN" dirty="0"/>
              <a:t>→ trả các giá trị như WL_CONNECTED, WL_DISCONNECTED để biết ESP32 đã kết nối được hay chưa. </a:t>
            </a:r>
            <a:endParaRPr lang="en-US" dirty="0"/>
          </a:p>
          <a:p>
            <a:pPr>
              <a:buFontTx/>
              <a:buChar char="-"/>
            </a:pPr>
            <a:endParaRPr lang="en-US" dirty="0"/>
          </a:p>
          <a:p>
            <a:pPr>
              <a:buFontTx/>
              <a:buChar char="-"/>
            </a:pPr>
            <a:r>
              <a:rPr lang="vi-VN" dirty="0"/>
              <a:t>Lấy địa chỉ IP khi kết nối thành công: </a:t>
            </a:r>
            <a:r>
              <a:rPr lang="vi-VN" dirty="0">
                <a:solidFill>
                  <a:srgbClr val="FF0000"/>
                </a:solidFill>
              </a:rPr>
              <a:t>WiFi.localIP() </a:t>
            </a:r>
            <a:r>
              <a:rPr lang="vi-VN" dirty="0"/>
              <a:t>để biết ESP32 được router cấp địa chỉ IP nào.</a:t>
            </a:r>
            <a:endParaRPr lang="en-US" dirty="0"/>
          </a:p>
        </p:txBody>
      </p:sp>
    </p:spTree>
    <p:extLst>
      <p:ext uri="{BB962C8B-B14F-4D97-AF65-F5344CB8AC3E}">
        <p14:creationId xmlns:p14="http://schemas.microsoft.com/office/powerpoint/2010/main" val="2455923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6569-368B-C361-626F-205A5BF5E747}"/>
              </a:ext>
            </a:extLst>
          </p:cNvPr>
          <p:cNvSpPr>
            <a:spLocks noGrp="1"/>
          </p:cNvSpPr>
          <p:nvPr>
            <p:ph type="title"/>
          </p:nvPr>
        </p:nvSpPr>
        <p:spPr/>
        <p:txBody>
          <a:bodyPr>
            <a:normAutofit fontScale="90000"/>
          </a:bodyPr>
          <a:lstStyle/>
          <a:p>
            <a:r>
              <a:rPr lang="en-CA" dirty="0"/>
              <a:t>4.3 </a:t>
            </a:r>
            <a:r>
              <a:rPr lang="en-CA" dirty="0" err="1"/>
              <a:t>Wifi</a:t>
            </a:r>
            <a:endParaRPr lang="en-US" dirty="0"/>
          </a:p>
        </p:txBody>
      </p:sp>
      <p:sp>
        <p:nvSpPr>
          <p:cNvPr id="3" name="Text Placeholder 2">
            <a:extLst>
              <a:ext uri="{FF2B5EF4-FFF2-40B4-BE49-F238E27FC236}">
                <a16:creationId xmlns:a16="http://schemas.microsoft.com/office/drawing/2014/main" id="{A45D061D-491A-C547-4D97-A9C73AF3ED80}"/>
              </a:ext>
            </a:extLst>
          </p:cNvPr>
          <p:cNvSpPr>
            <a:spLocks noGrp="1"/>
          </p:cNvSpPr>
          <p:nvPr>
            <p:ph type="body" idx="1"/>
          </p:nvPr>
        </p:nvSpPr>
        <p:spPr/>
        <p:txBody>
          <a:bodyPr/>
          <a:lstStyle/>
          <a:p>
            <a:pPr marL="114300" indent="0">
              <a:buNone/>
            </a:pPr>
            <a:r>
              <a:rPr lang="en-US" b="1" dirty="0" err="1"/>
              <a:t>Xử</a:t>
            </a:r>
            <a:r>
              <a:rPr lang="en-US" b="1" dirty="0"/>
              <a:t> </a:t>
            </a:r>
            <a:r>
              <a:rPr lang="en-US" b="1" dirty="0" err="1"/>
              <a:t>lý</a:t>
            </a:r>
            <a:r>
              <a:rPr lang="en-US" b="1" dirty="0"/>
              <a:t> </a:t>
            </a:r>
            <a:r>
              <a:rPr lang="en-US" b="1" dirty="0" err="1"/>
              <a:t>lỗi</a:t>
            </a:r>
            <a:r>
              <a:rPr lang="en-US" b="1" dirty="0"/>
              <a:t> </a:t>
            </a:r>
            <a:r>
              <a:rPr lang="en-US" b="1" dirty="0" err="1"/>
              <a:t>và</a:t>
            </a:r>
            <a:r>
              <a:rPr lang="en-US" b="1" dirty="0"/>
              <a:t> </a:t>
            </a:r>
            <a:r>
              <a:rPr lang="en-US" b="1" dirty="0" err="1"/>
              <a:t>tự</a:t>
            </a:r>
            <a:r>
              <a:rPr lang="en-US" b="1" dirty="0"/>
              <a:t> </a:t>
            </a:r>
            <a:r>
              <a:rPr lang="en-US" b="1" dirty="0" err="1"/>
              <a:t>động</a:t>
            </a:r>
            <a:r>
              <a:rPr lang="en-US" b="1" dirty="0"/>
              <a:t> </a:t>
            </a:r>
            <a:r>
              <a:rPr lang="en-US" b="1" dirty="0" err="1"/>
              <a:t>kết</a:t>
            </a:r>
            <a:r>
              <a:rPr lang="en-US" b="1" dirty="0"/>
              <a:t> </a:t>
            </a:r>
            <a:r>
              <a:rPr lang="en-US" b="1" dirty="0" err="1"/>
              <a:t>nối</a:t>
            </a:r>
            <a:r>
              <a:rPr lang="en-US" b="1" dirty="0"/>
              <a:t> </a:t>
            </a:r>
            <a:r>
              <a:rPr lang="en-US" b="1" dirty="0" err="1"/>
              <a:t>lại</a:t>
            </a:r>
            <a:endParaRPr lang="en-US" b="1" dirty="0"/>
          </a:p>
          <a:p>
            <a:pPr marL="114300" indent="0">
              <a:buNone/>
            </a:pPr>
            <a:endParaRPr lang="en-US" dirty="0"/>
          </a:p>
          <a:p>
            <a:pPr>
              <a:buFontTx/>
              <a:buChar char="-"/>
            </a:pPr>
            <a:r>
              <a:rPr lang="vi-VN" dirty="0"/>
              <a:t>Kiểm tra nếu kết nối mất: trong loop() cứ sau một khoảng thời gian, nếu </a:t>
            </a:r>
            <a:r>
              <a:rPr lang="vi-VN" dirty="0">
                <a:solidFill>
                  <a:srgbClr val="FF0000"/>
                </a:solidFill>
              </a:rPr>
              <a:t>WiFi.status() != WL_CONNECTED</a:t>
            </a:r>
            <a:r>
              <a:rPr lang="vi-VN" dirty="0"/>
              <a:t>, gọi lại </a:t>
            </a:r>
            <a:r>
              <a:rPr lang="vi-VN" dirty="0">
                <a:solidFill>
                  <a:srgbClr val="FF0000"/>
                </a:solidFill>
              </a:rPr>
              <a:t>WiFi.begin(ssid, password) </a:t>
            </a:r>
            <a:r>
              <a:rPr lang="vi-VN" dirty="0"/>
              <a:t>hoặc </a:t>
            </a:r>
            <a:r>
              <a:rPr lang="vi-VN" dirty="0">
                <a:solidFill>
                  <a:srgbClr val="FF0000"/>
                </a:solidFill>
              </a:rPr>
              <a:t>WiFi.reconnect() </a:t>
            </a:r>
            <a:endParaRPr lang="en-US" dirty="0">
              <a:solidFill>
                <a:srgbClr val="FF0000"/>
              </a:solidFill>
            </a:endParaRPr>
          </a:p>
          <a:p>
            <a:pPr>
              <a:buFontTx/>
              <a:buChar char="-"/>
            </a:pPr>
            <a:endParaRPr lang="en-US" dirty="0"/>
          </a:p>
          <a:p>
            <a:pPr>
              <a:buFontTx/>
              <a:buChar char="-"/>
            </a:pPr>
            <a:r>
              <a:rPr lang="vi-VN" dirty="0"/>
              <a:t>Có thể dùng Wi-Fi events để xử lý khi ESP32 bị ngắt kết nối, khi lấy được IP, khi xác thực v.v. → viết hàm </a:t>
            </a:r>
            <a:r>
              <a:rPr lang="en-US" dirty="0"/>
              <a:t>callback</a:t>
            </a:r>
            <a:r>
              <a:rPr lang="vi-VN" dirty="0"/>
              <a:t> để thông báo hoặc thực hiện hành động.</a:t>
            </a:r>
            <a:endParaRPr lang="en-US" dirty="0"/>
          </a:p>
        </p:txBody>
      </p:sp>
    </p:spTree>
    <p:extLst>
      <p:ext uri="{BB962C8B-B14F-4D97-AF65-F5344CB8AC3E}">
        <p14:creationId xmlns:p14="http://schemas.microsoft.com/office/powerpoint/2010/main" val="1175906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6569-368B-C361-626F-205A5BF5E747}"/>
              </a:ext>
            </a:extLst>
          </p:cNvPr>
          <p:cNvSpPr>
            <a:spLocks noGrp="1"/>
          </p:cNvSpPr>
          <p:nvPr>
            <p:ph type="title"/>
          </p:nvPr>
        </p:nvSpPr>
        <p:spPr/>
        <p:txBody>
          <a:bodyPr>
            <a:normAutofit fontScale="90000"/>
          </a:bodyPr>
          <a:lstStyle/>
          <a:p>
            <a:r>
              <a:rPr lang="en-CA" dirty="0"/>
              <a:t>4.3 </a:t>
            </a:r>
            <a:r>
              <a:rPr lang="en-CA" dirty="0" err="1"/>
              <a:t>Wifi</a:t>
            </a:r>
            <a:endParaRPr lang="en-US" dirty="0"/>
          </a:p>
        </p:txBody>
      </p:sp>
      <p:sp>
        <p:nvSpPr>
          <p:cNvPr id="3" name="Text Placeholder 2">
            <a:extLst>
              <a:ext uri="{FF2B5EF4-FFF2-40B4-BE49-F238E27FC236}">
                <a16:creationId xmlns:a16="http://schemas.microsoft.com/office/drawing/2014/main" id="{A45D061D-491A-C547-4D97-A9C73AF3ED80}"/>
              </a:ext>
            </a:extLst>
          </p:cNvPr>
          <p:cNvSpPr>
            <a:spLocks noGrp="1"/>
          </p:cNvSpPr>
          <p:nvPr>
            <p:ph type="body" idx="1"/>
          </p:nvPr>
        </p:nvSpPr>
        <p:spPr/>
        <p:txBody>
          <a:bodyPr/>
          <a:lstStyle/>
          <a:p>
            <a:pPr marL="114300" indent="0">
              <a:buNone/>
            </a:pPr>
            <a:r>
              <a:rPr lang="en-US" b="1" dirty="0" err="1"/>
              <a:t>Các</a:t>
            </a:r>
            <a:r>
              <a:rPr lang="en-US" b="1" dirty="0"/>
              <a:t> </a:t>
            </a:r>
            <a:r>
              <a:rPr lang="en-US" b="1" dirty="0" err="1"/>
              <a:t>hàm</a:t>
            </a:r>
            <a:r>
              <a:rPr lang="en-US" b="1" dirty="0"/>
              <a:t> / </a:t>
            </a:r>
            <a:r>
              <a:rPr lang="en-US" b="1" dirty="0" err="1"/>
              <a:t>tính</a:t>
            </a:r>
            <a:r>
              <a:rPr lang="en-US" b="1" dirty="0"/>
              <a:t> </a:t>
            </a:r>
            <a:r>
              <a:rPr lang="en-US" b="1" dirty="0" err="1"/>
              <a:t>năng</a:t>
            </a:r>
            <a:r>
              <a:rPr lang="en-US" b="1" dirty="0"/>
              <a:t> </a:t>
            </a:r>
            <a:r>
              <a:rPr lang="en-US" b="1" dirty="0" err="1"/>
              <a:t>bổ</a:t>
            </a:r>
            <a:r>
              <a:rPr lang="en-US" b="1" dirty="0"/>
              <a:t> sung</a:t>
            </a:r>
          </a:p>
          <a:p>
            <a:pPr marL="114300" indent="0">
              <a:buNone/>
            </a:pPr>
            <a:endParaRPr lang="vi-VN" dirty="0"/>
          </a:p>
          <a:p>
            <a:pPr>
              <a:buFontTx/>
              <a:buChar char="-"/>
            </a:pPr>
            <a:r>
              <a:rPr lang="vi-VN" dirty="0"/>
              <a:t>Scan Wi-Fi networks: </a:t>
            </a:r>
            <a:r>
              <a:rPr lang="vi-VN" dirty="0">
                <a:solidFill>
                  <a:srgbClr val="FF0000"/>
                </a:solidFill>
              </a:rPr>
              <a:t>WiFi.scanNetworks() </a:t>
            </a:r>
            <a:r>
              <a:rPr lang="vi-VN" dirty="0"/>
              <a:t>để tìm các mạng Wi-Fi gần đó, lấy thông tin như SSID, độ mạnh tín hiệu (RSSI), kiểu mã hóa. </a:t>
            </a:r>
            <a:endParaRPr lang="en-US" dirty="0"/>
          </a:p>
          <a:p>
            <a:pPr marL="114300" indent="0">
              <a:buNone/>
            </a:pPr>
            <a:endParaRPr lang="en-US" dirty="0"/>
          </a:p>
          <a:p>
            <a:pPr>
              <a:buFontTx/>
              <a:buChar char="-"/>
            </a:pPr>
            <a:r>
              <a:rPr lang="vi-VN" dirty="0"/>
              <a:t>Đặt IP tĩnh (Static IP): dùng </a:t>
            </a:r>
            <a:r>
              <a:rPr lang="vi-VN" dirty="0">
                <a:solidFill>
                  <a:srgbClr val="FF0000"/>
                </a:solidFill>
              </a:rPr>
              <a:t>WiFi.config(local_IP, gateway, subnet, DNS...) </a:t>
            </a:r>
            <a:r>
              <a:rPr lang="vi-VN" dirty="0"/>
              <a:t>để thiết lập IP cố định thay vì DHCP. </a:t>
            </a:r>
            <a:endParaRPr lang="en-US" dirty="0"/>
          </a:p>
          <a:p>
            <a:pPr>
              <a:buFontTx/>
              <a:buChar char="-"/>
            </a:pPr>
            <a:endParaRPr lang="en-US" dirty="0"/>
          </a:p>
          <a:p>
            <a:pPr>
              <a:buFontTx/>
              <a:buChar char="-"/>
            </a:pPr>
            <a:r>
              <a:rPr lang="vi-VN" dirty="0"/>
              <a:t>Thay đổi hostname: </a:t>
            </a:r>
            <a:r>
              <a:rPr lang="vi-VN" dirty="0">
                <a:solidFill>
                  <a:srgbClr val="FF0000"/>
                </a:solidFill>
              </a:rPr>
              <a:t>WiFi.setHostname(...) </a:t>
            </a:r>
            <a:r>
              <a:rPr lang="vi-VN" dirty="0"/>
              <a:t>trước khi kết nối.</a:t>
            </a:r>
            <a:endParaRPr lang="en-US" dirty="0"/>
          </a:p>
        </p:txBody>
      </p:sp>
    </p:spTree>
    <p:extLst>
      <p:ext uri="{BB962C8B-B14F-4D97-AF65-F5344CB8AC3E}">
        <p14:creationId xmlns:p14="http://schemas.microsoft.com/office/powerpoint/2010/main" val="4231215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5F73-A067-F8EA-FAD8-EE2ACF67AE38}"/>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3241291C-3B35-78C1-0BE0-63382330B276}"/>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3582185-A7B7-1419-690F-515B6E1B7D23}"/>
              </a:ext>
            </a:extLst>
          </p:cNvPr>
          <p:cNvPicPr>
            <a:picLocks noChangeAspect="1"/>
          </p:cNvPicPr>
          <p:nvPr/>
        </p:nvPicPr>
        <p:blipFill>
          <a:blip r:embed="rId2"/>
          <a:stretch>
            <a:fillRect/>
          </a:stretch>
        </p:blipFill>
        <p:spPr>
          <a:xfrm>
            <a:off x="2622383" y="0"/>
            <a:ext cx="3899233" cy="5143500"/>
          </a:xfrm>
          <a:prstGeom prst="rect">
            <a:avLst/>
          </a:prstGeom>
        </p:spPr>
      </p:pic>
    </p:spTree>
    <p:extLst>
      <p:ext uri="{BB962C8B-B14F-4D97-AF65-F5344CB8AC3E}">
        <p14:creationId xmlns:p14="http://schemas.microsoft.com/office/powerpoint/2010/main" val="1901129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4.4 Lora - LoraWAN</a:t>
            </a:r>
            <a:endParaRPr/>
          </a:p>
        </p:txBody>
      </p:sp>
      <p:sp>
        <p:nvSpPr>
          <p:cNvPr id="254" name="Google Shape;25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sz="2100"/>
              <a:t>“</a:t>
            </a:r>
            <a:r>
              <a:rPr lang="en-CA" sz="1500">
                <a:solidFill>
                  <a:srgbClr val="4A4A4A"/>
                </a:solidFill>
                <a:highlight>
                  <a:srgbClr val="FFFFFF"/>
                </a:highlight>
              </a:rPr>
              <a:t>LoRa is a wireless modulation technique derived from </a:t>
            </a:r>
            <a:r>
              <a:rPr lang="en-CA" sz="1500">
                <a:solidFill>
                  <a:srgbClr val="363636"/>
                </a:solidFill>
                <a:highlight>
                  <a:srgbClr val="FFFFFF"/>
                </a:highlight>
              </a:rPr>
              <a:t>Chirp Spread Spectrum (CSS)</a:t>
            </a:r>
            <a:r>
              <a:rPr lang="en-CA" sz="1500">
                <a:solidFill>
                  <a:srgbClr val="4A4A4A"/>
                </a:solidFill>
                <a:highlight>
                  <a:srgbClr val="FFFFFF"/>
                </a:highlight>
              </a:rPr>
              <a:t> technology. It encodes information on radio waves using chirp pulses - similar to the way dolphins and bats communicate! LoRa modulated transmission is robust against disturbances and can be received across great distances.”</a:t>
            </a:r>
            <a:endParaRPr sz="1500">
              <a:solidFill>
                <a:srgbClr val="4A4A4A"/>
              </a:solidFill>
              <a:highlight>
                <a:srgbClr val="FFFFFF"/>
              </a:highlight>
            </a:endParaRPr>
          </a:p>
          <a:p>
            <a:pPr marL="0" lvl="0" indent="0" algn="r" rtl="0">
              <a:spcBef>
                <a:spcPts val="1200"/>
              </a:spcBef>
              <a:spcAft>
                <a:spcPts val="0"/>
              </a:spcAft>
              <a:buNone/>
            </a:pPr>
            <a:endParaRPr sz="1500">
              <a:solidFill>
                <a:srgbClr val="4A4A4A"/>
              </a:solidFill>
              <a:highlight>
                <a:srgbClr val="FFFFFF"/>
              </a:highlight>
            </a:endParaRPr>
          </a:p>
          <a:p>
            <a:pPr marL="0" lvl="0" indent="0" algn="l" rtl="0">
              <a:spcBef>
                <a:spcPts val="1200"/>
              </a:spcBef>
              <a:spcAft>
                <a:spcPts val="0"/>
              </a:spcAft>
              <a:buNone/>
            </a:pPr>
            <a:r>
              <a:rPr lang="en-CA" sz="1500">
                <a:solidFill>
                  <a:srgbClr val="4A4A4A"/>
                </a:solidFill>
                <a:highlight>
                  <a:srgbClr val="FFFFFF"/>
                </a:highlight>
              </a:rPr>
              <a:t>“LoRaWAN is a Media Access Control (MAC) layer protocol built on top of LoRa modulation. It is a software layer which defines how devices use the LoRa hardware, for example when they transmit, and the format of messages.”</a:t>
            </a:r>
            <a:endParaRPr sz="1500">
              <a:solidFill>
                <a:srgbClr val="4A4A4A"/>
              </a:solidFill>
              <a:highlight>
                <a:srgbClr val="FFFFFF"/>
              </a:highlight>
            </a:endParaRPr>
          </a:p>
          <a:p>
            <a:pPr marL="0" lvl="0" indent="0" algn="r" rtl="0">
              <a:spcBef>
                <a:spcPts val="1200"/>
              </a:spcBef>
              <a:spcAft>
                <a:spcPts val="1200"/>
              </a:spcAft>
              <a:buClr>
                <a:schemeClr val="dk2"/>
              </a:buClr>
              <a:buSzPts val="1100"/>
              <a:buFont typeface="Arial"/>
              <a:buNone/>
            </a:pPr>
            <a:r>
              <a:rPr lang="en-CA" sz="1500">
                <a:highlight>
                  <a:srgbClr val="FFFFFF"/>
                </a:highlight>
              </a:rPr>
              <a:t>[*]</a:t>
            </a:r>
            <a:r>
              <a:rPr lang="en-CA" sz="1500">
                <a:highlight>
                  <a:srgbClr val="FFFFFF"/>
                </a:highlight>
                <a:uFill>
                  <a:noFill/>
                </a:uFill>
                <a:hlinkClick r:id="rId3"/>
              </a:rPr>
              <a:t>https://www.thethingsnetwork.org/docs/lorawan/what-is-lorawan/</a:t>
            </a:r>
            <a:endParaRPr sz="1500">
              <a:highlight>
                <a:srgbClr val="FFFFFF"/>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4.4 Lora - LoraWAN</a:t>
            </a:r>
            <a:endParaRPr/>
          </a:p>
        </p:txBody>
      </p:sp>
      <p:sp>
        <p:nvSpPr>
          <p:cNvPr id="260" name="Google Shape;260;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rgbClr val="4A4A4A"/>
              </a:buClr>
              <a:buSzPts val="1500"/>
              <a:buChar char="-"/>
            </a:pPr>
            <a:endParaRPr sz="1500">
              <a:solidFill>
                <a:srgbClr val="4A4A4A"/>
              </a:solidFill>
              <a:highlight>
                <a:srgbClr val="FFFFFF"/>
              </a:highlight>
            </a:endParaRPr>
          </a:p>
        </p:txBody>
      </p:sp>
      <p:pic>
        <p:nvPicPr>
          <p:cNvPr id="261" name="Google Shape;261;p37"/>
          <p:cNvPicPr preferRelativeResize="0"/>
          <p:nvPr/>
        </p:nvPicPr>
        <p:blipFill>
          <a:blip r:embed="rId3">
            <a:alphaModFix/>
          </a:blip>
          <a:stretch>
            <a:fillRect/>
          </a:stretch>
        </p:blipFill>
        <p:spPr>
          <a:xfrm>
            <a:off x="1685938" y="1297650"/>
            <a:ext cx="5476875" cy="2781300"/>
          </a:xfrm>
          <a:prstGeom prst="rect">
            <a:avLst/>
          </a:prstGeom>
          <a:noFill/>
          <a:ln>
            <a:noFill/>
          </a:ln>
        </p:spPr>
      </p:pic>
      <p:sp>
        <p:nvSpPr>
          <p:cNvPr id="262" name="Google Shape;262;p37"/>
          <p:cNvSpPr txBox="1"/>
          <p:nvPr/>
        </p:nvSpPr>
        <p:spPr>
          <a:xfrm>
            <a:off x="1950200" y="4467550"/>
            <a:ext cx="5539800" cy="318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Clr>
                <a:schemeClr val="dk2"/>
              </a:buClr>
              <a:buSzPts val="1100"/>
              <a:buFont typeface="Arial"/>
              <a:buNone/>
            </a:pPr>
            <a:r>
              <a:rPr lang="en-CA" sz="1500">
                <a:solidFill>
                  <a:schemeClr val="lt2"/>
                </a:solidFill>
                <a:highlight>
                  <a:srgbClr val="FFFFFF"/>
                </a:highlight>
                <a:latin typeface="Source Sans Pro"/>
                <a:ea typeface="Source Sans Pro"/>
                <a:cs typeface="Source Sans Pro"/>
                <a:sym typeface="Source Sans Pro"/>
              </a:rPr>
              <a:t>[*]</a:t>
            </a:r>
            <a:r>
              <a:rPr lang="en-CA" sz="1500">
                <a:solidFill>
                  <a:schemeClr val="lt2"/>
                </a:solidFill>
                <a:highlight>
                  <a:srgbClr val="FFFFFF"/>
                </a:highlight>
                <a:uFill>
                  <a:noFill/>
                </a:u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https://www.thethingsnetwork.org/docs/lorawan/what-is-lorawan/</a:t>
            </a:r>
            <a:endParaRPr sz="1500">
              <a:solidFill>
                <a:schemeClr val="lt2"/>
              </a:solidFill>
              <a:highlight>
                <a:srgbClr val="FFFFFF"/>
              </a:highlight>
              <a:latin typeface="Source Sans Pro"/>
              <a:ea typeface="Source Sans Pro"/>
              <a:cs typeface="Source Sans Pro"/>
              <a:sym typeface="Source Sans Pro"/>
            </a:endParaRPr>
          </a:p>
          <a:p>
            <a:pPr marL="0" lvl="0" indent="0" algn="l" rtl="0">
              <a:spcBef>
                <a:spcPts val="1200"/>
              </a:spcBef>
              <a:spcAft>
                <a:spcPts val="0"/>
              </a:spcAft>
              <a:buNone/>
            </a:pP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4.4 Lora - LoraWAN</a:t>
            </a:r>
            <a:endParaRPr/>
          </a:p>
          <a:p>
            <a:pPr marL="0" lvl="0" indent="0" algn="l" rtl="0">
              <a:spcBef>
                <a:spcPts val="0"/>
              </a:spcBef>
              <a:spcAft>
                <a:spcPts val="0"/>
              </a:spcAft>
              <a:buNone/>
            </a:pPr>
            <a:endParaRPr/>
          </a:p>
        </p:txBody>
      </p:sp>
      <p:sp>
        <p:nvSpPr>
          <p:cNvPr id="268" name="Google Shape;268;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CA"/>
              <a:t>Ultra low power</a:t>
            </a:r>
            <a:endParaRPr/>
          </a:p>
          <a:p>
            <a:pPr marL="457200" lvl="0" indent="-342900" algn="l" rtl="0">
              <a:spcBef>
                <a:spcPts val="0"/>
              </a:spcBef>
              <a:spcAft>
                <a:spcPts val="0"/>
              </a:spcAft>
              <a:buSzPts val="1800"/>
              <a:buChar char="-"/>
            </a:pPr>
            <a:r>
              <a:rPr lang="en-CA"/>
              <a:t>Long Range </a:t>
            </a:r>
            <a:endParaRPr/>
          </a:p>
          <a:p>
            <a:pPr marL="457200" lvl="0" indent="-342900" algn="l" rtl="0">
              <a:spcBef>
                <a:spcPts val="0"/>
              </a:spcBef>
              <a:spcAft>
                <a:spcPts val="0"/>
              </a:spcAft>
              <a:buSzPts val="1800"/>
              <a:buChar char="-"/>
            </a:pPr>
            <a:r>
              <a:rPr lang="en-CA"/>
              <a:t>Deep indoor penetration</a:t>
            </a:r>
            <a:endParaRPr/>
          </a:p>
          <a:p>
            <a:pPr marL="457200" lvl="0" indent="-342900" algn="l" rtl="0">
              <a:spcBef>
                <a:spcPts val="0"/>
              </a:spcBef>
              <a:spcAft>
                <a:spcPts val="0"/>
              </a:spcAft>
              <a:buSzPts val="1800"/>
              <a:buChar char="-"/>
            </a:pPr>
            <a:r>
              <a:rPr lang="en-CA"/>
              <a:t>License free spectrum</a:t>
            </a:r>
            <a:endParaRPr/>
          </a:p>
          <a:p>
            <a:pPr marL="457200" lvl="0" indent="-342900" algn="l" rtl="0">
              <a:spcBef>
                <a:spcPts val="0"/>
              </a:spcBef>
              <a:spcAft>
                <a:spcPts val="0"/>
              </a:spcAft>
              <a:buSzPts val="1800"/>
              <a:buChar char="-"/>
            </a:pPr>
            <a:r>
              <a:rPr lang="en-CA"/>
              <a:t>Geolocation: LoraWan Device can locate itself without GPS if at least 3 gateways pick up its signal</a:t>
            </a:r>
            <a:endParaRPr/>
          </a:p>
          <a:p>
            <a:pPr marL="457200" lvl="0" indent="-342900" algn="l" rtl="0">
              <a:spcBef>
                <a:spcPts val="0"/>
              </a:spcBef>
              <a:spcAft>
                <a:spcPts val="0"/>
              </a:spcAft>
              <a:buSzPts val="1800"/>
              <a:buChar char="-"/>
            </a:pPr>
            <a:r>
              <a:rPr lang="en-CA"/>
              <a:t>High capacity</a:t>
            </a:r>
            <a:endParaRPr/>
          </a:p>
          <a:p>
            <a:pPr marL="457200" lvl="0" indent="-342900" algn="l" rtl="0">
              <a:spcBef>
                <a:spcPts val="0"/>
              </a:spcBef>
              <a:spcAft>
                <a:spcPts val="0"/>
              </a:spcAft>
              <a:buSzPts val="1800"/>
              <a:buChar char="-"/>
            </a:pPr>
            <a:r>
              <a:rPr lang="en-CA"/>
              <a:t>End to end security</a:t>
            </a:r>
            <a:endParaRPr/>
          </a:p>
          <a:p>
            <a:pPr marL="457200" lvl="0" indent="-342900" algn="l" rtl="0">
              <a:spcBef>
                <a:spcPts val="0"/>
              </a:spcBef>
              <a:spcAft>
                <a:spcPts val="0"/>
              </a:spcAft>
              <a:buSzPts val="1800"/>
              <a:buChar char="-"/>
            </a:pPr>
            <a:r>
              <a:rPr lang="en-CA"/>
              <a:t>Firmware update over the air</a:t>
            </a:r>
            <a:endParaRPr/>
          </a:p>
          <a:p>
            <a:pPr marL="457200" lvl="0" indent="-342900" algn="l" rtl="0">
              <a:spcBef>
                <a:spcPts val="0"/>
              </a:spcBef>
              <a:spcAft>
                <a:spcPts val="0"/>
              </a:spcAft>
              <a:buSzPts val="1800"/>
              <a:buChar char="-"/>
            </a:pPr>
            <a:r>
              <a:rPr lang="en-CA"/>
              <a:t>Roaming</a:t>
            </a:r>
            <a:endParaRPr/>
          </a:p>
          <a:p>
            <a:pPr marL="457200" lvl="0" indent="-342900" algn="l" rtl="0">
              <a:spcBef>
                <a:spcPts val="0"/>
              </a:spcBef>
              <a:spcAft>
                <a:spcPts val="0"/>
              </a:spcAft>
              <a:buSzPts val="1800"/>
              <a:buChar char="-"/>
            </a:pPr>
            <a:r>
              <a:rPr lang="en-CA"/>
              <a:t>Ecosystem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 Các Giao Thức Truyền Tin</a:t>
            </a:r>
            <a:endParaRPr/>
          </a:p>
        </p:txBody>
      </p:sp>
      <p:sp>
        <p:nvSpPr>
          <p:cNvPr id="274" name="Google Shape;274;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5.1 HTTP</a:t>
            </a:r>
            <a:endParaRPr/>
          </a:p>
        </p:txBody>
      </p:sp>
      <p:sp>
        <p:nvSpPr>
          <p:cNvPr id="280" name="Google Shape;280;p40"/>
          <p:cNvSpPr txBox="1">
            <a:spLocks noGrp="1"/>
          </p:cNvSpPr>
          <p:nvPr>
            <p:ph type="body" idx="1"/>
          </p:nvPr>
        </p:nvSpPr>
        <p:spPr>
          <a:xfrm>
            <a:off x="4572000" y="1152475"/>
            <a:ext cx="42603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CA" sz="2400" dirty="0"/>
              <a:t>Request - response.</a:t>
            </a:r>
            <a:endParaRPr sz="2400" dirty="0"/>
          </a:p>
          <a:p>
            <a:pPr marL="914400" lvl="1" indent="-355600" algn="l" rtl="0">
              <a:spcBef>
                <a:spcPts val="0"/>
              </a:spcBef>
              <a:spcAft>
                <a:spcPts val="0"/>
              </a:spcAft>
              <a:buSzPts val="2000"/>
              <a:buChar char="-"/>
            </a:pPr>
            <a:r>
              <a:rPr lang="en-CA" sz="2000" dirty="0"/>
              <a:t>Connectionless</a:t>
            </a:r>
            <a:endParaRPr sz="2000" dirty="0"/>
          </a:p>
          <a:p>
            <a:pPr marL="914400" lvl="1" indent="-355600" algn="l" rtl="0">
              <a:spcBef>
                <a:spcPts val="0"/>
              </a:spcBef>
              <a:spcAft>
                <a:spcPts val="0"/>
              </a:spcAft>
              <a:buSzPts val="2000"/>
              <a:buChar char="-"/>
            </a:pPr>
            <a:r>
              <a:rPr lang="en-CA" sz="2000" dirty="0"/>
              <a:t>Stateless</a:t>
            </a:r>
            <a:endParaRPr sz="2000" dirty="0"/>
          </a:p>
          <a:p>
            <a:pPr marL="914400" lvl="1" indent="-355600" algn="l" rtl="0">
              <a:spcBef>
                <a:spcPts val="0"/>
              </a:spcBef>
              <a:spcAft>
                <a:spcPts val="0"/>
              </a:spcAft>
              <a:buSzPts val="2000"/>
              <a:buChar char="-"/>
            </a:pPr>
            <a:r>
              <a:rPr lang="en-CA" sz="2000" dirty="0"/>
              <a:t>Media independent</a:t>
            </a:r>
            <a:endParaRPr sz="2000" dirty="0"/>
          </a:p>
        </p:txBody>
      </p:sp>
      <p:pic>
        <p:nvPicPr>
          <p:cNvPr id="281" name="Google Shape;281;p40"/>
          <p:cNvPicPr preferRelativeResize="0"/>
          <p:nvPr/>
        </p:nvPicPr>
        <p:blipFill>
          <a:blip r:embed="rId3">
            <a:alphaModFix/>
          </a:blip>
          <a:stretch>
            <a:fillRect/>
          </a:stretch>
        </p:blipFill>
        <p:spPr>
          <a:xfrm>
            <a:off x="311700" y="1152475"/>
            <a:ext cx="3937625" cy="3921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5.1 HTTP</a:t>
            </a:r>
            <a:endParaRPr/>
          </a:p>
        </p:txBody>
      </p:sp>
      <p:sp>
        <p:nvSpPr>
          <p:cNvPr id="280" name="Google Shape;280;p40"/>
          <p:cNvSpPr txBox="1">
            <a:spLocks noGrp="1"/>
          </p:cNvSpPr>
          <p:nvPr>
            <p:ph type="body" idx="1"/>
          </p:nvPr>
        </p:nvSpPr>
        <p:spPr>
          <a:xfrm>
            <a:off x="641268" y="1152475"/>
            <a:ext cx="8191032"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CA" sz="2400" dirty="0"/>
              <a:t>HTTP basic methods</a:t>
            </a:r>
            <a:endParaRPr sz="2400" dirty="0"/>
          </a:p>
        </p:txBody>
      </p:sp>
      <p:pic>
        <p:nvPicPr>
          <p:cNvPr id="3" name="Picture 2">
            <a:extLst>
              <a:ext uri="{FF2B5EF4-FFF2-40B4-BE49-F238E27FC236}">
                <a16:creationId xmlns:a16="http://schemas.microsoft.com/office/drawing/2014/main" id="{5588CCA7-058C-EE2E-DF34-908E481DD389}"/>
              </a:ext>
            </a:extLst>
          </p:cNvPr>
          <p:cNvPicPr>
            <a:picLocks noChangeAspect="1"/>
          </p:cNvPicPr>
          <p:nvPr/>
        </p:nvPicPr>
        <p:blipFill>
          <a:blip r:embed="rId3"/>
          <a:stretch>
            <a:fillRect/>
          </a:stretch>
        </p:blipFill>
        <p:spPr>
          <a:xfrm>
            <a:off x="981075" y="1714933"/>
            <a:ext cx="7181850" cy="3209925"/>
          </a:xfrm>
          <a:prstGeom prst="rect">
            <a:avLst/>
          </a:prstGeom>
        </p:spPr>
      </p:pic>
    </p:spTree>
    <p:extLst>
      <p:ext uri="{BB962C8B-B14F-4D97-AF65-F5344CB8AC3E}">
        <p14:creationId xmlns:p14="http://schemas.microsoft.com/office/powerpoint/2010/main" val="23913467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5.1 HTTP</a:t>
            </a:r>
            <a:endParaRPr/>
          </a:p>
        </p:txBody>
      </p:sp>
      <p:sp>
        <p:nvSpPr>
          <p:cNvPr id="280" name="Google Shape;280;p40"/>
          <p:cNvSpPr txBox="1">
            <a:spLocks noGrp="1"/>
          </p:cNvSpPr>
          <p:nvPr>
            <p:ph type="body" idx="1"/>
          </p:nvPr>
        </p:nvSpPr>
        <p:spPr>
          <a:xfrm>
            <a:off x="118754" y="1020569"/>
            <a:ext cx="8191032"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CA" sz="2400" dirty="0"/>
              <a:t>HTTP response codes</a:t>
            </a:r>
            <a:endParaRPr sz="2400" dirty="0"/>
          </a:p>
        </p:txBody>
      </p:sp>
      <p:pic>
        <p:nvPicPr>
          <p:cNvPr id="6" name="Picture 5">
            <a:extLst>
              <a:ext uri="{FF2B5EF4-FFF2-40B4-BE49-F238E27FC236}">
                <a16:creationId xmlns:a16="http://schemas.microsoft.com/office/drawing/2014/main" id="{2604AEF5-0AC4-A4B6-DBD5-75DFAA02EC9C}"/>
              </a:ext>
            </a:extLst>
          </p:cNvPr>
          <p:cNvPicPr>
            <a:picLocks noChangeAspect="1"/>
          </p:cNvPicPr>
          <p:nvPr/>
        </p:nvPicPr>
        <p:blipFill>
          <a:blip r:embed="rId3"/>
          <a:stretch>
            <a:fillRect/>
          </a:stretch>
        </p:blipFill>
        <p:spPr>
          <a:xfrm>
            <a:off x="542925" y="1643969"/>
            <a:ext cx="8058150" cy="3257550"/>
          </a:xfrm>
          <a:prstGeom prst="rect">
            <a:avLst/>
          </a:prstGeom>
        </p:spPr>
      </p:pic>
    </p:spTree>
    <p:extLst>
      <p:ext uri="{BB962C8B-B14F-4D97-AF65-F5344CB8AC3E}">
        <p14:creationId xmlns:p14="http://schemas.microsoft.com/office/powerpoint/2010/main" val="15389542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5.1 HTTP</a:t>
            </a:r>
            <a:endParaRPr/>
          </a:p>
        </p:txBody>
      </p:sp>
      <p:sp>
        <p:nvSpPr>
          <p:cNvPr id="280" name="Google Shape;280;p40"/>
          <p:cNvSpPr txBox="1">
            <a:spLocks noGrp="1"/>
          </p:cNvSpPr>
          <p:nvPr>
            <p:ph type="body" idx="1"/>
          </p:nvPr>
        </p:nvSpPr>
        <p:spPr>
          <a:xfrm>
            <a:off x="118754" y="1020569"/>
            <a:ext cx="8191032"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CA" sz="2400" dirty="0"/>
              <a:t>HTTP response codes</a:t>
            </a:r>
            <a:endParaRPr sz="2400" dirty="0"/>
          </a:p>
        </p:txBody>
      </p:sp>
      <p:pic>
        <p:nvPicPr>
          <p:cNvPr id="6" name="Picture 5">
            <a:extLst>
              <a:ext uri="{FF2B5EF4-FFF2-40B4-BE49-F238E27FC236}">
                <a16:creationId xmlns:a16="http://schemas.microsoft.com/office/drawing/2014/main" id="{2604AEF5-0AC4-A4B6-DBD5-75DFAA02EC9C}"/>
              </a:ext>
            </a:extLst>
          </p:cNvPr>
          <p:cNvPicPr>
            <a:picLocks noChangeAspect="1"/>
          </p:cNvPicPr>
          <p:nvPr/>
        </p:nvPicPr>
        <p:blipFill>
          <a:blip r:embed="rId3"/>
          <a:stretch>
            <a:fillRect/>
          </a:stretch>
        </p:blipFill>
        <p:spPr>
          <a:xfrm>
            <a:off x="542925" y="1643969"/>
            <a:ext cx="8058150" cy="3257550"/>
          </a:xfrm>
          <a:prstGeom prst="rect">
            <a:avLst/>
          </a:prstGeom>
        </p:spPr>
      </p:pic>
      <p:pic>
        <p:nvPicPr>
          <p:cNvPr id="3" name="Picture 2">
            <a:extLst>
              <a:ext uri="{FF2B5EF4-FFF2-40B4-BE49-F238E27FC236}">
                <a16:creationId xmlns:a16="http://schemas.microsoft.com/office/drawing/2014/main" id="{EADF9E2E-2BE0-B94E-DC7B-7B814D8A3827}"/>
              </a:ext>
            </a:extLst>
          </p:cNvPr>
          <p:cNvPicPr>
            <a:picLocks noChangeAspect="1"/>
          </p:cNvPicPr>
          <p:nvPr/>
        </p:nvPicPr>
        <p:blipFill>
          <a:blip r:embed="rId4"/>
          <a:stretch>
            <a:fillRect/>
          </a:stretch>
        </p:blipFill>
        <p:spPr>
          <a:xfrm>
            <a:off x="530631" y="1967819"/>
            <a:ext cx="7924800" cy="2933700"/>
          </a:xfrm>
          <a:prstGeom prst="rect">
            <a:avLst/>
          </a:prstGeom>
        </p:spPr>
      </p:pic>
    </p:spTree>
    <p:extLst>
      <p:ext uri="{BB962C8B-B14F-4D97-AF65-F5344CB8AC3E}">
        <p14:creationId xmlns:p14="http://schemas.microsoft.com/office/powerpoint/2010/main" val="98190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5.1 HTTP</a:t>
            </a:r>
            <a:endParaRPr dirty="0"/>
          </a:p>
        </p:txBody>
      </p:sp>
      <p:sp>
        <p:nvSpPr>
          <p:cNvPr id="287" name="Google Shape;287;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err="1"/>
              <a:t>Ví</a:t>
            </a:r>
            <a:r>
              <a:rPr lang="en-US" dirty="0"/>
              <a:t> </a:t>
            </a:r>
            <a:r>
              <a:rPr lang="en-US" dirty="0" err="1"/>
              <a:t>dụ</a:t>
            </a:r>
            <a:r>
              <a:rPr lang="en-US" dirty="0"/>
              <a:t> 1:</a:t>
            </a:r>
          </a:p>
          <a:p>
            <a:pPr marL="0" lvl="0" indent="0" algn="l" rtl="0">
              <a:spcBef>
                <a:spcPts val="0"/>
              </a:spcBef>
              <a:spcAft>
                <a:spcPts val="0"/>
              </a:spcAft>
              <a:buNone/>
            </a:pPr>
            <a:endParaRPr dirty="0"/>
          </a:p>
        </p:txBody>
      </p:sp>
      <p:pic>
        <p:nvPicPr>
          <p:cNvPr id="1026" name="Picture 2">
            <a:extLst>
              <a:ext uri="{FF2B5EF4-FFF2-40B4-BE49-F238E27FC236}">
                <a16:creationId xmlns:a16="http://schemas.microsoft.com/office/drawing/2014/main" id="{C489BD6D-E8D9-1AA5-EAE3-123E2543C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756" y="1638300"/>
            <a:ext cx="7620000" cy="350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D34AA5-C0D2-A22A-D97A-97FB4DFB0311}"/>
              </a:ext>
            </a:extLst>
          </p:cNvPr>
          <p:cNvSpPr>
            <a:spLocks noGrp="1"/>
          </p:cNvSpPr>
          <p:nvPr>
            <p:ph type="body" idx="1"/>
          </p:nvPr>
        </p:nvSpPr>
        <p:spPr>
          <a:xfrm>
            <a:off x="0" y="0"/>
            <a:ext cx="8520600" cy="3416400"/>
          </a:xfrm>
        </p:spPr>
        <p:txBody>
          <a:bodyPr/>
          <a:lstStyle/>
          <a:p>
            <a:r>
              <a:rPr lang="en-US" dirty="0" err="1"/>
              <a:t>Tạo</a:t>
            </a:r>
            <a:r>
              <a:rPr lang="en-US" dirty="0"/>
              <a:t> http request </a:t>
            </a:r>
            <a:r>
              <a:rPr lang="en-US" dirty="0" err="1"/>
              <a:t>trên</a:t>
            </a:r>
            <a:r>
              <a:rPr lang="en-US" dirty="0"/>
              <a:t> ESP32</a:t>
            </a:r>
          </a:p>
          <a:p>
            <a:pPr marL="114300" indent="0">
              <a:buNone/>
            </a:pPr>
            <a:endParaRPr lang="en-US" dirty="0"/>
          </a:p>
        </p:txBody>
      </p:sp>
      <p:pic>
        <p:nvPicPr>
          <p:cNvPr id="5" name="Picture 4">
            <a:extLst>
              <a:ext uri="{FF2B5EF4-FFF2-40B4-BE49-F238E27FC236}">
                <a16:creationId xmlns:a16="http://schemas.microsoft.com/office/drawing/2014/main" id="{8B8C81B9-3018-65BF-AD88-9541111F08B5}"/>
              </a:ext>
            </a:extLst>
          </p:cNvPr>
          <p:cNvPicPr>
            <a:picLocks noChangeAspect="1"/>
          </p:cNvPicPr>
          <p:nvPr/>
        </p:nvPicPr>
        <p:blipFill>
          <a:blip r:embed="rId3"/>
          <a:stretch>
            <a:fillRect/>
          </a:stretch>
        </p:blipFill>
        <p:spPr>
          <a:xfrm>
            <a:off x="3657599" y="147502"/>
            <a:ext cx="4200229" cy="4848496"/>
          </a:xfrm>
          <a:prstGeom prst="rect">
            <a:avLst/>
          </a:prstGeom>
        </p:spPr>
      </p:pic>
    </p:spTree>
    <p:extLst>
      <p:ext uri="{BB962C8B-B14F-4D97-AF65-F5344CB8AC3E}">
        <p14:creationId xmlns:p14="http://schemas.microsoft.com/office/powerpoint/2010/main" val="15864535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011D29-C83D-830B-4BB1-AEB67433512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F4585C9-A9B3-913A-CB16-36177ED4226B}"/>
              </a:ext>
            </a:extLst>
          </p:cNvPr>
          <p:cNvPicPr>
            <a:picLocks noChangeAspect="1"/>
          </p:cNvPicPr>
          <p:nvPr/>
        </p:nvPicPr>
        <p:blipFill>
          <a:blip r:embed="rId3"/>
          <a:stretch>
            <a:fillRect/>
          </a:stretch>
        </p:blipFill>
        <p:spPr>
          <a:xfrm>
            <a:off x="1918481" y="0"/>
            <a:ext cx="5858054" cy="5143500"/>
          </a:xfrm>
          <a:prstGeom prst="rect">
            <a:avLst/>
          </a:prstGeom>
        </p:spPr>
      </p:pic>
    </p:spTree>
    <p:extLst>
      <p:ext uri="{BB962C8B-B14F-4D97-AF65-F5344CB8AC3E}">
        <p14:creationId xmlns:p14="http://schemas.microsoft.com/office/powerpoint/2010/main" val="1420045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6B9B3-5B62-E932-0ABF-39CA9A9B9F43}"/>
              </a:ext>
            </a:extLst>
          </p:cNvPr>
          <p:cNvSpPr>
            <a:spLocks noGrp="1"/>
          </p:cNvSpPr>
          <p:nvPr>
            <p:ph type="title"/>
          </p:nvPr>
        </p:nvSpPr>
        <p:spPr/>
        <p:txBody>
          <a:bodyPr>
            <a:normAutofit fontScale="90000"/>
          </a:bodyPr>
          <a:lstStyle/>
          <a:p>
            <a:r>
              <a:rPr lang="en-US" dirty="0"/>
              <a:t>5.1 HTTP</a:t>
            </a:r>
          </a:p>
        </p:txBody>
      </p:sp>
      <p:sp>
        <p:nvSpPr>
          <p:cNvPr id="3" name="Text Placeholder 2">
            <a:extLst>
              <a:ext uri="{FF2B5EF4-FFF2-40B4-BE49-F238E27FC236}">
                <a16:creationId xmlns:a16="http://schemas.microsoft.com/office/drawing/2014/main" id="{73FA5C66-97B8-2F4A-AA87-DC2EBBAE6BE4}"/>
              </a:ext>
            </a:extLst>
          </p:cNvPr>
          <p:cNvSpPr>
            <a:spLocks noGrp="1"/>
          </p:cNvSpPr>
          <p:nvPr>
            <p:ph type="body" idx="1"/>
          </p:nvPr>
        </p:nvSpPr>
        <p:spPr/>
        <p:txBody>
          <a:bodyPr/>
          <a:lstStyle/>
          <a:p>
            <a:r>
              <a:rPr lang="en-US" dirty="0"/>
              <a:t>Link </a:t>
            </a:r>
            <a:r>
              <a:rPr lang="en-US" dirty="0" err="1"/>
              <a:t>tham</a:t>
            </a:r>
            <a:r>
              <a:rPr lang="en-US" dirty="0"/>
              <a:t> </a:t>
            </a:r>
            <a:r>
              <a:rPr lang="en-US" dirty="0" err="1"/>
              <a:t>khảo</a:t>
            </a:r>
            <a:endParaRPr lang="en-US" dirty="0"/>
          </a:p>
          <a:p>
            <a:pPr marL="114300" indent="0">
              <a:buNone/>
            </a:pPr>
            <a:r>
              <a:rPr lang="en-US" dirty="0"/>
              <a:t>[1] https://www.iotzone.vn/esp32/esp32-http-post/</a:t>
            </a:r>
          </a:p>
          <a:p>
            <a:pPr marL="114300" indent="0">
              <a:buNone/>
            </a:pPr>
            <a:r>
              <a:rPr lang="en-US" dirty="0"/>
              <a:t>[2] https://iot47.com/enc28j60-bai-14-giao-thuc-http-tao-webserver-voi-enc28j60/</a:t>
            </a:r>
          </a:p>
          <a:p>
            <a:pPr marL="114300" indent="0">
              <a:buNone/>
            </a:pPr>
            <a:endParaRPr lang="en-US" dirty="0"/>
          </a:p>
          <a:p>
            <a:endParaRPr lang="en-US" dirty="0"/>
          </a:p>
        </p:txBody>
      </p:sp>
    </p:spTree>
    <p:extLst>
      <p:ext uri="{BB962C8B-B14F-4D97-AF65-F5344CB8AC3E}">
        <p14:creationId xmlns:p14="http://schemas.microsoft.com/office/powerpoint/2010/main" val="4093907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dirty="0"/>
              <a:t>5.2 WebSocket</a:t>
            </a:r>
            <a:endParaRPr dirty="0"/>
          </a:p>
        </p:txBody>
      </p:sp>
      <p:sp>
        <p:nvSpPr>
          <p:cNvPr id="293" name="Google Shape;293;p42"/>
          <p:cNvSpPr txBox="1">
            <a:spLocks noGrp="1"/>
          </p:cNvSpPr>
          <p:nvPr>
            <p:ph type="body" idx="1"/>
          </p:nvPr>
        </p:nvSpPr>
        <p:spPr>
          <a:xfrm>
            <a:off x="5796149" y="1152475"/>
            <a:ext cx="3198221"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a:t>Giao </a:t>
            </a:r>
            <a:r>
              <a:rPr lang="en-CA" dirty="0" err="1"/>
              <a:t>thức</a:t>
            </a:r>
            <a:r>
              <a:rPr lang="en-CA" dirty="0"/>
              <a:t> </a:t>
            </a:r>
            <a:r>
              <a:rPr lang="en-CA" dirty="0" err="1"/>
              <a:t>giao</a:t>
            </a:r>
            <a:r>
              <a:rPr lang="en-CA" dirty="0"/>
              <a:t> </a:t>
            </a:r>
            <a:r>
              <a:rPr lang="en-CA" dirty="0" err="1"/>
              <a:t>tiếp</a:t>
            </a:r>
            <a:r>
              <a:rPr lang="en-CA" dirty="0"/>
              <a:t> </a:t>
            </a:r>
            <a:r>
              <a:rPr lang="en-CA" dirty="0" err="1"/>
              <a:t>chuẩn</a:t>
            </a:r>
            <a:r>
              <a:rPr lang="en-CA" dirty="0"/>
              <a:t> </a:t>
            </a:r>
            <a:r>
              <a:rPr lang="en-CA" dirty="0" err="1"/>
              <a:t>hóa</a:t>
            </a:r>
            <a:r>
              <a:rPr lang="en-CA" dirty="0"/>
              <a:t> </a:t>
            </a:r>
            <a:r>
              <a:rPr lang="en-CA" dirty="0" err="1"/>
              <a:t>trong</a:t>
            </a:r>
            <a:r>
              <a:rPr lang="en-CA" dirty="0"/>
              <a:t> RFC-6455</a:t>
            </a:r>
          </a:p>
          <a:p>
            <a:pPr marL="457200" lvl="0" indent="-342900" algn="l" rtl="0">
              <a:spcBef>
                <a:spcPts val="0"/>
              </a:spcBef>
              <a:spcAft>
                <a:spcPts val="0"/>
              </a:spcAft>
              <a:buSzPts val="1800"/>
              <a:buChar char="-"/>
            </a:pPr>
            <a:r>
              <a:rPr lang="en-CA" dirty="0" err="1"/>
              <a:t>Kết</a:t>
            </a:r>
            <a:r>
              <a:rPr lang="en-CA" dirty="0"/>
              <a:t> </a:t>
            </a:r>
            <a:r>
              <a:rPr lang="en-CA" dirty="0" err="1"/>
              <a:t>nối</a:t>
            </a:r>
            <a:r>
              <a:rPr lang="en-CA" dirty="0"/>
              <a:t> </a:t>
            </a:r>
            <a:r>
              <a:rPr lang="en-CA" dirty="0" err="1"/>
              <a:t>liên</a:t>
            </a:r>
            <a:r>
              <a:rPr lang="en-CA" dirty="0"/>
              <a:t> </a:t>
            </a:r>
            <a:r>
              <a:rPr lang="en-CA" dirty="0" err="1"/>
              <a:t>tục</a:t>
            </a:r>
            <a:endParaRPr lang="en-CA" dirty="0"/>
          </a:p>
          <a:p>
            <a:pPr marL="457200" lvl="0" indent="-342900" algn="l" rtl="0">
              <a:spcBef>
                <a:spcPts val="0"/>
              </a:spcBef>
              <a:spcAft>
                <a:spcPts val="0"/>
              </a:spcAft>
              <a:buSzPts val="1800"/>
              <a:buChar char="-"/>
            </a:pPr>
            <a:r>
              <a:rPr lang="en-CA" dirty="0"/>
              <a:t>Bi-directional</a:t>
            </a:r>
            <a:endParaRPr dirty="0"/>
          </a:p>
          <a:p>
            <a:pPr marL="457200" lvl="0" indent="-342900" algn="l" rtl="0">
              <a:spcBef>
                <a:spcPts val="0"/>
              </a:spcBef>
              <a:spcAft>
                <a:spcPts val="0"/>
              </a:spcAft>
              <a:buSzPts val="1800"/>
              <a:buChar char="-"/>
            </a:pPr>
            <a:r>
              <a:rPr lang="en-CA" dirty="0"/>
              <a:t>Full duplex</a:t>
            </a:r>
            <a:endParaRPr dirty="0"/>
          </a:p>
        </p:txBody>
      </p:sp>
      <p:pic>
        <p:nvPicPr>
          <p:cNvPr id="294" name="Google Shape;294;p42"/>
          <p:cNvPicPr preferRelativeResize="0"/>
          <p:nvPr/>
        </p:nvPicPr>
        <p:blipFill>
          <a:blip r:embed="rId3">
            <a:alphaModFix/>
          </a:blip>
          <a:stretch>
            <a:fillRect/>
          </a:stretch>
        </p:blipFill>
        <p:spPr>
          <a:xfrm>
            <a:off x="311698" y="1152475"/>
            <a:ext cx="5484450" cy="37621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2E760-D8BE-2EC4-481E-DACC27BB6C74}"/>
              </a:ext>
            </a:extLst>
          </p:cNvPr>
          <p:cNvSpPr>
            <a:spLocks noGrp="1"/>
          </p:cNvSpPr>
          <p:nvPr>
            <p:ph type="title"/>
          </p:nvPr>
        </p:nvSpPr>
        <p:spPr/>
        <p:txBody>
          <a:bodyPr>
            <a:normAutofit fontScale="90000"/>
          </a:bodyPr>
          <a:lstStyle/>
          <a:p>
            <a:r>
              <a:rPr lang="en-CA" dirty="0"/>
              <a:t>5.2 WebSocket</a:t>
            </a:r>
            <a:endParaRPr lang="en-US" dirty="0"/>
          </a:p>
        </p:txBody>
      </p:sp>
      <p:sp>
        <p:nvSpPr>
          <p:cNvPr id="3" name="Text Placeholder 2">
            <a:extLst>
              <a:ext uri="{FF2B5EF4-FFF2-40B4-BE49-F238E27FC236}">
                <a16:creationId xmlns:a16="http://schemas.microsoft.com/office/drawing/2014/main" id="{DD1D61D6-E747-B031-F61F-ABC11C2F8B5F}"/>
              </a:ext>
            </a:extLst>
          </p:cNvPr>
          <p:cNvSpPr>
            <a:spLocks noGrp="1"/>
          </p:cNvSpPr>
          <p:nvPr>
            <p:ph type="body" idx="1"/>
          </p:nvPr>
        </p:nvSpPr>
        <p:spPr/>
        <p:txBody>
          <a:bodyPr/>
          <a:lstStyle/>
          <a:p>
            <a:pPr marL="114300" indent="0">
              <a:buNone/>
            </a:pPr>
            <a:r>
              <a:rPr lang="en-US" sz="2600" b="1" dirty="0" err="1"/>
              <a:t>Vì</a:t>
            </a:r>
            <a:r>
              <a:rPr lang="en-US" sz="2600" b="1" dirty="0"/>
              <a:t> </a:t>
            </a:r>
            <a:r>
              <a:rPr lang="en-US" sz="2600" b="1" dirty="0" err="1"/>
              <a:t>sao</a:t>
            </a:r>
            <a:r>
              <a:rPr lang="en-US" sz="2600" b="1" dirty="0"/>
              <a:t> </a:t>
            </a:r>
            <a:r>
              <a:rPr lang="en-US" sz="2600" b="1" dirty="0" err="1"/>
              <a:t>dùng</a:t>
            </a:r>
            <a:r>
              <a:rPr lang="en-US" sz="2600" b="1" dirty="0"/>
              <a:t> WebSocket ?</a:t>
            </a:r>
          </a:p>
          <a:p>
            <a:r>
              <a:rPr lang="en-US" sz="2200" b="1" dirty="0" err="1"/>
              <a:t>Phản</a:t>
            </a:r>
            <a:r>
              <a:rPr lang="en-US" sz="2200" b="1" dirty="0"/>
              <a:t> </a:t>
            </a:r>
            <a:r>
              <a:rPr lang="en-US" sz="2200" b="1" dirty="0" err="1"/>
              <a:t>hồi</a:t>
            </a:r>
            <a:r>
              <a:rPr lang="en-US" sz="2200" b="1" dirty="0"/>
              <a:t> </a:t>
            </a:r>
            <a:r>
              <a:rPr lang="en-US" sz="2200" b="1" dirty="0" err="1"/>
              <a:t>tức</a:t>
            </a:r>
            <a:r>
              <a:rPr lang="en-US" sz="2200" b="1" dirty="0"/>
              <a:t> </a:t>
            </a:r>
            <a:r>
              <a:rPr lang="en-US" sz="2200" b="1" dirty="0" err="1"/>
              <a:t>thời</a:t>
            </a:r>
            <a:r>
              <a:rPr lang="en-US" sz="2200" b="1" dirty="0"/>
              <a:t> (real-time)</a:t>
            </a:r>
            <a:r>
              <a:rPr lang="en-US" sz="2200" dirty="0"/>
              <a:t>: client </a:t>
            </a:r>
            <a:r>
              <a:rPr lang="en-US" sz="2200" dirty="0" err="1"/>
              <a:t>nhận</a:t>
            </a:r>
            <a:r>
              <a:rPr lang="en-US" sz="2200" dirty="0"/>
              <a:t> </a:t>
            </a:r>
            <a:r>
              <a:rPr lang="en-US" sz="2200" dirty="0" err="1"/>
              <a:t>dữ</a:t>
            </a:r>
            <a:r>
              <a:rPr lang="en-US" sz="2200" dirty="0"/>
              <a:t> </a:t>
            </a:r>
            <a:r>
              <a:rPr lang="en-US" sz="2200" dirty="0" err="1"/>
              <a:t>liệu</a:t>
            </a:r>
            <a:r>
              <a:rPr lang="en-US" sz="2200" dirty="0"/>
              <a:t> </a:t>
            </a:r>
            <a:r>
              <a:rPr lang="en-US" sz="2200" dirty="0" err="1"/>
              <a:t>ngay</a:t>
            </a:r>
            <a:r>
              <a:rPr lang="en-US" sz="2200" dirty="0"/>
              <a:t> </a:t>
            </a:r>
            <a:r>
              <a:rPr lang="en-US" sz="2200" dirty="0" err="1"/>
              <a:t>khi</a:t>
            </a:r>
            <a:r>
              <a:rPr lang="en-US" sz="2200" dirty="0"/>
              <a:t> server </a:t>
            </a:r>
            <a:r>
              <a:rPr lang="en-US" sz="2200" dirty="0" err="1"/>
              <a:t>gửi</a:t>
            </a:r>
            <a:r>
              <a:rPr lang="en-US" sz="2200" dirty="0"/>
              <a:t>.</a:t>
            </a:r>
          </a:p>
          <a:p>
            <a:r>
              <a:rPr lang="vi-VN" sz="2200" b="1" dirty="0"/>
              <a:t>Tiết kiệm tài nguyên</a:t>
            </a:r>
            <a:r>
              <a:rPr lang="vi-VN" sz="2200" dirty="0"/>
              <a:t>: không cần liên tục tạo request như HTTP.</a:t>
            </a:r>
            <a:endParaRPr lang="en-US" sz="2200" dirty="0"/>
          </a:p>
          <a:p>
            <a:r>
              <a:rPr lang="en-US" sz="2200" b="1" dirty="0" err="1"/>
              <a:t>Phù</a:t>
            </a:r>
            <a:r>
              <a:rPr lang="en-US" sz="2200" b="1" dirty="0"/>
              <a:t> </a:t>
            </a:r>
            <a:r>
              <a:rPr lang="en-US" sz="2200" b="1" dirty="0" err="1"/>
              <a:t>hợp</a:t>
            </a:r>
            <a:r>
              <a:rPr lang="en-US" sz="2200" b="1" dirty="0"/>
              <a:t> </a:t>
            </a:r>
            <a:r>
              <a:rPr lang="en-US" sz="2200" b="1" dirty="0" err="1"/>
              <a:t>điều</a:t>
            </a:r>
            <a:r>
              <a:rPr lang="en-US" sz="2200" b="1" dirty="0"/>
              <a:t> </a:t>
            </a:r>
            <a:r>
              <a:rPr lang="en-US" sz="2200" b="1" dirty="0" err="1"/>
              <a:t>khiển</a:t>
            </a:r>
            <a:r>
              <a:rPr lang="en-US" sz="2200" b="1" dirty="0"/>
              <a:t> </a:t>
            </a:r>
            <a:r>
              <a:rPr lang="en-US" sz="2200" b="1" dirty="0" err="1"/>
              <a:t>thiết</a:t>
            </a:r>
            <a:r>
              <a:rPr lang="en-US" sz="2200" b="1" dirty="0"/>
              <a:t> </a:t>
            </a:r>
            <a:r>
              <a:rPr lang="en-US" sz="2200" b="1" dirty="0" err="1"/>
              <a:t>bị</a:t>
            </a:r>
            <a:r>
              <a:rPr lang="en-US" sz="2200" b="1" dirty="0"/>
              <a:t> </a:t>
            </a:r>
            <a:r>
              <a:rPr lang="en-US" sz="2200" b="1" dirty="0" err="1"/>
              <a:t>yêu</a:t>
            </a:r>
            <a:r>
              <a:rPr lang="en-US" sz="2200" b="1" dirty="0"/>
              <a:t> </a:t>
            </a:r>
            <a:r>
              <a:rPr lang="en-US" sz="2200" b="1" dirty="0" err="1"/>
              <a:t>cầu</a:t>
            </a:r>
            <a:r>
              <a:rPr lang="en-US" sz="2200" b="1" dirty="0"/>
              <a:t> </a:t>
            </a:r>
            <a:r>
              <a:rPr lang="en-US" sz="2200" b="1" dirty="0" err="1"/>
              <a:t>thời</a:t>
            </a:r>
            <a:r>
              <a:rPr lang="en-US" sz="2200" b="1" dirty="0"/>
              <a:t> </a:t>
            </a:r>
            <a:r>
              <a:rPr lang="en-US" sz="2200" b="1" dirty="0" err="1"/>
              <a:t>gian</a:t>
            </a:r>
            <a:r>
              <a:rPr lang="en-US" sz="2200" b="1" dirty="0"/>
              <a:t> </a:t>
            </a:r>
            <a:r>
              <a:rPr lang="en-US" sz="2200" b="1" dirty="0" err="1"/>
              <a:t>thực</a:t>
            </a:r>
            <a:r>
              <a:rPr lang="en-US" sz="2200" b="1" dirty="0"/>
              <a:t>.</a:t>
            </a:r>
          </a:p>
          <a:p>
            <a:r>
              <a:rPr lang="vi-VN" sz="2200" b="1" dirty="0"/>
              <a:t>ESP32 hỗ trợ WebSocket</a:t>
            </a:r>
            <a:r>
              <a:rPr lang="vi-VN" sz="2200" dirty="0"/>
              <a:t>, dễ triển khai bằng thư viện có sẵn.</a:t>
            </a:r>
            <a:endParaRPr lang="en-US" sz="2200" dirty="0"/>
          </a:p>
        </p:txBody>
      </p:sp>
    </p:spTree>
    <p:extLst>
      <p:ext uri="{BB962C8B-B14F-4D97-AF65-F5344CB8AC3E}">
        <p14:creationId xmlns:p14="http://schemas.microsoft.com/office/powerpoint/2010/main" val="64805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77A7-F830-0B65-A026-AC4EC34D574F}"/>
              </a:ext>
            </a:extLst>
          </p:cNvPr>
          <p:cNvSpPr>
            <a:spLocks noGrp="1"/>
          </p:cNvSpPr>
          <p:nvPr>
            <p:ph type="title"/>
          </p:nvPr>
        </p:nvSpPr>
        <p:spPr/>
        <p:txBody>
          <a:bodyPr>
            <a:normAutofit fontScale="90000"/>
          </a:bodyPr>
          <a:lstStyle/>
          <a:p>
            <a:r>
              <a:rPr lang="en-CA" dirty="0"/>
              <a:t>5.2 WebSocket</a:t>
            </a:r>
            <a:endParaRPr lang="en-US" dirty="0"/>
          </a:p>
        </p:txBody>
      </p:sp>
      <p:sp>
        <p:nvSpPr>
          <p:cNvPr id="3" name="Text Placeholder 2">
            <a:extLst>
              <a:ext uri="{FF2B5EF4-FFF2-40B4-BE49-F238E27FC236}">
                <a16:creationId xmlns:a16="http://schemas.microsoft.com/office/drawing/2014/main" id="{2311972E-60D5-596B-B7C3-5A7593F57E36}"/>
              </a:ext>
            </a:extLst>
          </p:cNvPr>
          <p:cNvSpPr>
            <a:spLocks noGrp="1"/>
          </p:cNvSpPr>
          <p:nvPr>
            <p:ph type="body" idx="1"/>
          </p:nvPr>
        </p:nvSpPr>
        <p:spPr>
          <a:xfrm>
            <a:off x="311700" y="1152475"/>
            <a:ext cx="4456687" cy="3416400"/>
          </a:xfrm>
        </p:spPr>
        <p:txBody>
          <a:bodyPr>
            <a:normAutofit/>
          </a:bodyPr>
          <a:lstStyle/>
          <a:p>
            <a:pPr marL="114300" indent="0">
              <a:buNone/>
            </a:pPr>
            <a:r>
              <a:rPr lang="en-US" sz="2800" b="0" i="0" dirty="0">
                <a:solidFill>
                  <a:srgbClr val="0A0A0A"/>
                </a:solidFill>
                <a:effectLst/>
                <a:latin typeface="Source Sans Pro" panose="020B0503030403020204" pitchFamily="34" charset="0"/>
                <a:ea typeface="Source Sans Pro" panose="020B0503030403020204" pitchFamily="34" charset="0"/>
              </a:rPr>
              <a:t> </a:t>
            </a:r>
            <a:r>
              <a:rPr lang="en-US" sz="2800" b="1" i="0" u="sng" dirty="0" err="1">
                <a:solidFill>
                  <a:srgbClr val="0A0A0A"/>
                </a:solidFill>
                <a:effectLst/>
                <a:latin typeface="Source Sans Pro" panose="020B0503030403020204" pitchFamily="34" charset="0"/>
                <a:ea typeface="Source Sans Pro" panose="020B0503030403020204" pitchFamily="34" charset="0"/>
              </a:rPr>
              <a:t>ví</a:t>
            </a:r>
            <a:r>
              <a:rPr lang="en-US" sz="2800" b="1" i="0" u="sng" dirty="0">
                <a:solidFill>
                  <a:srgbClr val="0A0A0A"/>
                </a:solidFill>
                <a:effectLst/>
                <a:latin typeface="Source Sans Pro" panose="020B0503030403020204" pitchFamily="34" charset="0"/>
                <a:ea typeface="Source Sans Pro" panose="020B0503030403020204" pitchFamily="34" charset="0"/>
              </a:rPr>
              <a:t> </a:t>
            </a:r>
            <a:r>
              <a:rPr lang="en-US" sz="2800" b="1" i="0" u="sng" dirty="0" err="1">
                <a:solidFill>
                  <a:srgbClr val="0A0A0A"/>
                </a:solidFill>
                <a:effectLst/>
                <a:latin typeface="Source Sans Pro" panose="020B0503030403020204" pitchFamily="34" charset="0"/>
                <a:ea typeface="Source Sans Pro" panose="020B0503030403020204" pitchFamily="34" charset="0"/>
              </a:rPr>
              <a:t>dụ</a:t>
            </a:r>
            <a:r>
              <a:rPr lang="en-US" sz="2800" b="1" i="0" u="sng" dirty="0">
                <a:solidFill>
                  <a:srgbClr val="0A0A0A"/>
                </a:solidFill>
                <a:effectLst/>
                <a:latin typeface="Source Sans Pro" panose="020B0503030403020204" pitchFamily="34" charset="0"/>
                <a:ea typeface="Source Sans Pro" panose="020B0503030403020204" pitchFamily="34" charset="0"/>
              </a:rPr>
              <a:t>:</a:t>
            </a:r>
            <a:r>
              <a:rPr lang="en-US" sz="2800" b="0" i="0" dirty="0">
                <a:solidFill>
                  <a:srgbClr val="0A0A0A"/>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sử</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dụng</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websocket</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điều</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khiển</a:t>
            </a:r>
            <a:r>
              <a:rPr lang="en-US" sz="2800" b="0" i="0" dirty="0">
                <a:solidFill>
                  <a:schemeClr val="tx2"/>
                </a:solidFill>
                <a:effectLst/>
                <a:latin typeface="Source Sans Pro" panose="020B0503030403020204" pitchFamily="34" charset="0"/>
                <a:ea typeface="Source Sans Pro" panose="020B0503030403020204" pitchFamily="34" charset="0"/>
              </a:rPr>
              <a:t> led </a:t>
            </a:r>
            <a:r>
              <a:rPr lang="en-US" sz="2800" b="0" i="0" dirty="0" err="1">
                <a:solidFill>
                  <a:schemeClr val="tx2"/>
                </a:solidFill>
                <a:effectLst/>
                <a:latin typeface="Source Sans Pro" panose="020B0503030403020204" pitchFamily="34" charset="0"/>
                <a:ea typeface="Source Sans Pro" panose="020B0503030403020204" pitchFamily="34" charset="0"/>
              </a:rPr>
              <a:t>từ</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nhiều</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nguồn</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khác</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nhau</a:t>
            </a:r>
            <a:r>
              <a:rPr lang="en-US" sz="2800" b="0" i="0" dirty="0">
                <a:solidFill>
                  <a:schemeClr val="tx2"/>
                </a:solidFill>
                <a:effectLst/>
                <a:latin typeface="Source Sans Pro" panose="020B0503030403020204" pitchFamily="34" charset="0"/>
                <a:ea typeface="Source Sans Pro" panose="020B0503030403020204" pitchFamily="34" charset="0"/>
              </a:rPr>
              <a:t>: web browser, </a:t>
            </a:r>
            <a:r>
              <a:rPr lang="en-US" sz="2800" b="0" i="0" dirty="0" err="1">
                <a:solidFill>
                  <a:schemeClr val="tx2"/>
                </a:solidFill>
                <a:effectLst/>
                <a:latin typeface="Source Sans Pro" panose="020B0503030403020204" pitchFamily="34" charset="0"/>
                <a:ea typeface="Source Sans Pro" panose="020B0503030403020204" pitchFamily="34" charset="0"/>
              </a:rPr>
              <a:t>điện</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thoại</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các</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máy</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tính</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khác</a:t>
            </a:r>
            <a:r>
              <a:rPr lang="en-US" sz="2800" b="0" i="0" dirty="0">
                <a:solidFill>
                  <a:schemeClr val="tx2"/>
                </a:solidFill>
                <a:effectLst/>
                <a:latin typeface="Source Sans Pro" panose="020B0503030403020204" pitchFamily="34" charset="0"/>
                <a:ea typeface="Source Sans Pro" panose="020B0503030403020204" pitchFamily="34" charset="0"/>
              </a:rPr>
              <a:t> </a:t>
            </a:r>
            <a:r>
              <a:rPr lang="en-US" sz="2800" b="0" i="0" dirty="0" err="1">
                <a:solidFill>
                  <a:schemeClr val="tx2"/>
                </a:solidFill>
                <a:effectLst/>
                <a:latin typeface="Source Sans Pro" panose="020B0503030403020204" pitchFamily="34" charset="0"/>
                <a:ea typeface="Source Sans Pro" panose="020B0503030403020204" pitchFamily="34" charset="0"/>
              </a:rPr>
              <a:t>nhau</a:t>
            </a:r>
            <a:r>
              <a:rPr lang="en-US" sz="2800" b="0" i="0" dirty="0">
                <a:solidFill>
                  <a:schemeClr val="tx2"/>
                </a:solidFill>
                <a:effectLst/>
                <a:latin typeface="Source Sans Pro" panose="020B0503030403020204" pitchFamily="34" charset="0"/>
                <a:ea typeface="Source Sans Pro" panose="020B0503030403020204" pitchFamily="34" charset="0"/>
              </a:rPr>
              <a:t>…</a:t>
            </a:r>
            <a:endParaRPr lang="en-US" sz="2800" dirty="0">
              <a:solidFill>
                <a:schemeClr val="tx2"/>
              </a:solidFill>
              <a:latin typeface="Source Sans Pro" panose="020B0503030403020204" pitchFamily="34" charset="0"/>
              <a:ea typeface="Source Sans Pro" panose="020B0503030403020204" pitchFamily="34" charset="0"/>
            </a:endParaRPr>
          </a:p>
        </p:txBody>
      </p:sp>
      <p:pic>
        <p:nvPicPr>
          <p:cNvPr id="5" name="Picture 4">
            <a:extLst>
              <a:ext uri="{FF2B5EF4-FFF2-40B4-BE49-F238E27FC236}">
                <a16:creationId xmlns:a16="http://schemas.microsoft.com/office/drawing/2014/main" id="{09FFA762-F6E0-1BA3-5AE0-F958DAD448F6}"/>
              </a:ext>
            </a:extLst>
          </p:cNvPr>
          <p:cNvPicPr>
            <a:picLocks noChangeAspect="1"/>
          </p:cNvPicPr>
          <p:nvPr/>
        </p:nvPicPr>
        <p:blipFill>
          <a:blip r:embed="rId3"/>
          <a:stretch>
            <a:fillRect/>
          </a:stretch>
        </p:blipFill>
        <p:spPr>
          <a:xfrm>
            <a:off x="4768387" y="936625"/>
            <a:ext cx="4229100" cy="3848100"/>
          </a:xfrm>
          <a:prstGeom prst="rect">
            <a:avLst/>
          </a:prstGeom>
        </p:spPr>
      </p:pic>
    </p:spTree>
    <p:extLst>
      <p:ext uri="{BB962C8B-B14F-4D97-AF65-F5344CB8AC3E}">
        <p14:creationId xmlns:p14="http://schemas.microsoft.com/office/powerpoint/2010/main" val="3252463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00C8-C067-85F1-67FF-27CB2FEB32B3}"/>
              </a:ext>
            </a:extLst>
          </p:cNvPr>
          <p:cNvSpPr>
            <a:spLocks noGrp="1"/>
          </p:cNvSpPr>
          <p:nvPr>
            <p:ph type="title"/>
          </p:nvPr>
        </p:nvSpPr>
        <p:spPr/>
        <p:txBody>
          <a:bodyPr>
            <a:normAutofit fontScale="90000"/>
          </a:bodyPr>
          <a:lstStyle/>
          <a:p>
            <a:r>
              <a:rPr lang="en-CA" dirty="0"/>
              <a:t>5.2 WebSocket</a:t>
            </a:r>
            <a:endParaRPr lang="en-US" dirty="0"/>
          </a:p>
        </p:txBody>
      </p:sp>
      <p:sp>
        <p:nvSpPr>
          <p:cNvPr id="3" name="Text Placeholder 2">
            <a:extLst>
              <a:ext uri="{FF2B5EF4-FFF2-40B4-BE49-F238E27FC236}">
                <a16:creationId xmlns:a16="http://schemas.microsoft.com/office/drawing/2014/main" id="{4D8081E6-EA69-809A-88EA-BE5D399F336A}"/>
              </a:ext>
            </a:extLst>
          </p:cNvPr>
          <p:cNvSpPr>
            <a:spLocks noGrp="1"/>
          </p:cNvSpPr>
          <p:nvPr>
            <p:ph type="body" idx="1"/>
          </p:nvPr>
        </p:nvSpPr>
        <p:spPr/>
        <p:txBody>
          <a:bodyPr>
            <a:noAutofit/>
          </a:bodyPr>
          <a:lstStyle/>
          <a:p>
            <a:r>
              <a:rPr lang="en-US" sz="2400" dirty="0"/>
              <a:t>ESP32 </a:t>
            </a:r>
            <a:r>
              <a:rPr lang="en-US" sz="2400" dirty="0" err="1"/>
              <a:t>chạy</a:t>
            </a:r>
            <a:r>
              <a:rPr lang="en-US" sz="2400" dirty="0"/>
              <a:t> ở Station Mode (</a:t>
            </a:r>
            <a:r>
              <a:rPr lang="en-US" sz="2400" dirty="0" err="1"/>
              <a:t>kết</a:t>
            </a:r>
            <a:r>
              <a:rPr lang="en-US" sz="2400" dirty="0"/>
              <a:t> </a:t>
            </a:r>
            <a:r>
              <a:rPr lang="en-US" sz="2400" dirty="0" err="1"/>
              <a:t>nối</a:t>
            </a:r>
            <a:r>
              <a:rPr lang="en-US" sz="2400" dirty="0"/>
              <a:t> router Wi-Fi).</a:t>
            </a:r>
          </a:p>
          <a:p>
            <a:endParaRPr lang="en-US" sz="2400" dirty="0"/>
          </a:p>
          <a:p>
            <a:r>
              <a:rPr lang="en-US" sz="2400" dirty="0" err="1"/>
              <a:t>Tạo</a:t>
            </a:r>
            <a:r>
              <a:rPr lang="en-US" sz="2400" dirty="0"/>
              <a:t> WebSocket Server </a:t>
            </a:r>
            <a:r>
              <a:rPr lang="en-US" sz="2400" dirty="0" err="1"/>
              <a:t>bên</a:t>
            </a:r>
            <a:r>
              <a:rPr lang="en-US" sz="2400" dirty="0"/>
              <a:t> </a:t>
            </a:r>
            <a:r>
              <a:rPr lang="en-US" sz="2400" dirty="0" err="1"/>
              <a:t>trong</a:t>
            </a:r>
            <a:r>
              <a:rPr lang="en-US" sz="2400" dirty="0"/>
              <a:t> ESP32.</a:t>
            </a:r>
          </a:p>
          <a:p>
            <a:endParaRPr lang="en-US" sz="2400" dirty="0"/>
          </a:p>
          <a:p>
            <a:r>
              <a:rPr lang="en-US" sz="2400" dirty="0" err="1"/>
              <a:t>Lập</a:t>
            </a:r>
            <a:r>
              <a:rPr lang="en-US" sz="2400" dirty="0"/>
              <a:t> </a:t>
            </a:r>
            <a:r>
              <a:rPr lang="en-US" sz="2400" dirty="0" err="1"/>
              <a:t>trình</a:t>
            </a:r>
            <a:r>
              <a:rPr lang="en-US" sz="2400" dirty="0"/>
              <a:t> HTML + CSS → </a:t>
            </a:r>
            <a:r>
              <a:rPr lang="en-US" sz="2400" dirty="0" err="1"/>
              <a:t>giao</a:t>
            </a:r>
            <a:r>
              <a:rPr lang="en-US" sz="2400" dirty="0"/>
              <a:t> </a:t>
            </a:r>
            <a:r>
              <a:rPr lang="en-US" sz="2400" dirty="0" err="1"/>
              <a:t>diện</a:t>
            </a:r>
            <a:r>
              <a:rPr lang="en-US" sz="2400" dirty="0"/>
              <a:t> web.</a:t>
            </a:r>
          </a:p>
          <a:p>
            <a:endParaRPr lang="en-US" sz="2400" dirty="0"/>
          </a:p>
          <a:p>
            <a:r>
              <a:rPr lang="en-US" sz="2400" dirty="0"/>
              <a:t>JavaScript </a:t>
            </a:r>
            <a:r>
              <a:rPr lang="en-US" sz="2400" dirty="0" err="1"/>
              <a:t>trong</a:t>
            </a:r>
            <a:r>
              <a:rPr lang="en-US" sz="2400" dirty="0"/>
              <a:t> web </a:t>
            </a:r>
            <a:r>
              <a:rPr lang="en-US" sz="2400" dirty="0" err="1"/>
              <a:t>dùng</a:t>
            </a:r>
            <a:r>
              <a:rPr lang="en-US" sz="2400" dirty="0"/>
              <a:t> </a:t>
            </a:r>
            <a:r>
              <a:rPr lang="en-US" sz="2400" dirty="0">
                <a:solidFill>
                  <a:srgbClr val="FF0000"/>
                </a:solidFill>
              </a:rPr>
              <a:t>new WebSocket("</a:t>
            </a:r>
            <a:r>
              <a:rPr lang="en-US" sz="2400" dirty="0" err="1">
                <a:solidFill>
                  <a:srgbClr val="FF0000"/>
                </a:solidFill>
              </a:rPr>
              <a:t>ws</a:t>
            </a:r>
            <a:r>
              <a:rPr lang="en-US" sz="2400" dirty="0">
                <a:solidFill>
                  <a:srgbClr val="FF0000"/>
                </a:solidFill>
              </a:rPr>
              <a:t>://&lt;IP&gt;/</a:t>
            </a:r>
            <a:r>
              <a:rPr lang="en-US" sz="2400" dirty="0" err="1">
                <a:solidFill>
                  <a:srgbClr val="FF0000"/>
                </a:solidFill>
              </a:rPr>
              <a:t>ws</a:t>
            </a:r>
            <a:r>
              <a:rPr lang="en-US" sz="2400" dirty="0">
                <a:solidFill>
                  <a:srgbClr val="FF0000"/>
                </a:solidFill>
              </a:rPr>
              <a:t>") </a:t>
            </a:r>
            <a:r>
              <a:rPr lang="en-US" sz="2400" dirty="0" err="1"/>
              <a:t>để</a:t>
            </a:r>
            <a:r>
              <a:rPr lang="en-US" sz="2400" dirty="0"/>
              <a:t> </a:t>
            </a:r>
            <a:r>
              <a:rPr lang="en-US" sz="2400" dirty="0" err="1"/>
              <a:t>kết</a:t>
            </a:r>
            <a:r>
              <a:rPr lang="en-US" sz="2400" dirty="0"/>
              <a:t> </a:t>
            </a:r>
            <a:r>
              <a:rPr lang="en-US" sz="2400" dirty="0" err="1"/>
              <a:t>nối</a:t>
            </a:r>
            <a:r>
              <a:rPr lang="en-US" sz="2400" dirty="0"/>
              <a:t> ESP32.</a:t>
            </a:r>
          </a:p>
        </p:txBody>
      </p:sp>
    </p:spTree>
    <p:extLst>
      <p:ext uri="{BB962C8B-B14F-4D97-AF65-F5344CB8AC3E}">
        <p14:creationId xmlns:p14="http://schemas.microsoft.com/office/powerpoint/2010/main" val="1429205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00C8-C067-85F1-67FF-27CB2FEB32B3}"/>
              </a:ext>
            </a:extLst>
          </p:cNvPr>
          <p:cNvSpPr>
            <a:spLocks noGrp="1"/>
          </p:cNvSpPr>
          <p:nvPr>
            <p:ph type="title"/>
          </p:nvPr>
        </p:nvSpPr>
        <p:spPr/>
        <p:txBody>
          <a:bodyPr>
            <a:normAutofit fontScale="90000"/>
          </a:bodyPr>
          <a:lstStyle/>
          <a:p>
            <a:r>
              <a:rPr lang="en-CA" dirty="0"/>
              <a:t>5.2 WebSocket</a:t>
            </a:r>
            <a:endParaRPr lang="en-US" dirty="0"/>
          </a:p>
        </p:txBody>
      </p:sp>
      <p:sp>
        <p:nvSpPr>
          <p:cNvPr id="3" name="Text Placeholder 2">
            <a:extLst>
              <a:ext uri="{FF2B5EF4-FFF2-40B4-BE49-F238E27FC236}">
                <a16:creationId xmlns:a16="http://schemas.microsoft.com/office/drawing/2014/main" id="{4D8081E6-EA69-809A-88EA-BE5D399F336A}"/>
              </a:ext>
            </a:extLst>
          </p:cNvPr>
          <p:cNvSpPr>
            <a:spLocks noGrp="1"/>
          </p:cNvSpPr>
          <p:nvPr>
            <p:ph type="body" idx="1"/>
          </p:nvPr>
        </p:nvSpPr>
        <p:spPr>
          <a:xfrm>
            <a:off x="311700" y="1152475"/>
            <a:ext cx="8520600" cy="3768660"/>
          </a:xfrm>
        </p:spPr>
        <p:txBody>
          <a:bodyPr>
            <a:noAutofit/>
          </a:bodyPr>
          <a:lstStyle/>
          <a:p>
            <a:r>
              <a:rPr lang="en-US" sz="2800" dirty="0"/>
              <a:t>Handshake: </a:t>
            </a:r>
            <a:r>
              <a:rPr lang="en-US" sz="2800" dirty="0" err="1"/>
              <a:t>bắt</a:t>
            </a:r>
            <a:r>
              <a:rPr lang="en-US" sz="2800" dirty="0"/>
              <a:t> </a:t>
            </a:r>
            <a:r>
              <a:rPr lang="en-US" sz="2800" dirty="0" err="1"/>
              <a:t>đầu</a:t>
            </a:r>
            <a:r>
              <a:rPr lang="en-US" sz="2800" dirty="0"/>
              <a:t> </a:t>
            </a:r>
            <a:r>
              <a:rPr lang="en-US" sz="2800" dirty="0" err="1"/>
              <a:t>bằng</a:t>
            </a:r>
            <a:r>
              <a:rPr lang="en-US" sz="2800" dirty="0"/>
              <a:t> HTTP, </a:t>
            </a:r>
            <a:r>
              <a:rPr lang="en-US" sz="2800" dirty="0" err="1"/>
              <a:t>sau</a:t>
            </a:r>
            <a:r>
              <a:rPr lang="en-US" sz="2800" dirty="0"/>
              <a:t> </a:t>
            </a:r>
            <a:r>
              <a:rPr lang="en-US" sz="2800" dirty="0" err="1"/>
              <a:t>đó</a:t>
            </a:r>
            <a:r>
              <a:rPr lang="en-US" sz="2800" dirty="0"/>
              <a:t> </a:t>
            </a:r>
            <a:r>
              <a:rPr lang="en-US" sz="2800" dirty="0" err="1"/>
              <a:t>nâng</a:t>
            </a:r>
            <a:r>
              <a:rPr lang="en-US" sz="2800" dirty="0"/>
              <a:t> </a:t>
            </a:r>
            <a:r>
              <a:rPr lang="en-US" sz="2800" dirty="0" err="1"/>
              <a:t>cấp</a:t>
            </a:r>
            <a:r>
              <a:rPr lang="en-US" sz="2800" dirty="0"/>
              <a:t> </a:t>
            </a:r>
            <a:r>
              <a:rPr lang="en-US" sz="2800" dirty="0" err="1"/>
              <a:t>lên</a:t>
            </a:r>
            <a:r>
              <a:rPr lang="en-US" sz="2800" dirty="0"/>
              <a:t> WebSocket.</a:t>
            </a:r>
          </a:p>
          <a:p>
            <a:r>
              <a:rPr lang="en-US" sz="2800" dirty="0" err="1"/>
              <a:t>Các</a:t>
            </a:r>
            <a:r>
              <a:rPr lang="en-US" sz="2800" dirty="0"/>
              <a:t> </a:t>
            </a:r>
            <a:r>
              <a:rPr lang="en-US" sz="2800" dirty="0" err="1"/>
              <a:t>sự</a:t>
            </a:r>
            <a:r>
              <a:rPr lang="en-US" sz="2800" dirty="0"/>
              <a:t> </a:t>
            </a:r>
            <a:r>
              <a:rPr lang="en-US" sz="2800" dirty="0" err="1"/>
              <a:t>kiện</a:t>
            </a:r>
            <a:r>
              <a:rPr lang="en-US" sz="2800" dirty="0"/>
              <a:t> </a:t>
            </a:r>
            <a:r>
              <a:rPr lang="en-US" sz="2800" dirty="0" err="1"/>
              <a:t>quan</a:t>
            </a:r>
            <a:r>
              <a:rPr lang="en-US" sz="2800" dirty="0"/>
              <a:t> </a:t>
            </a:r>
            <a:r>
              <a:rPr lang="en-US" sz="2800" dirty="0" err="1"/>
              <a:t>trọng</a:t>
            </a:r>
            <a:r>
              <a:rPr lang="en-US" sz="2800" dirty="0"/>
              <a:t>:</a:t>
            </a:r>
          </a:p>
          <a:p>
            <a:pPr lvl="1"/>
            <a:r>
              <a:rPr lang="en-US" sz="2800" dirty="0" err="1"/>
              <a:t>onopen</a:t>
            </a:r>
            <a:r>
              <a:rPr lang="en-US" sz="2800" dirty="0"/>
              <a:t>: </a:t>
            </a:r>
            <a:r>
              <a:rPr lang="en-US" sz="2800" dirty="0" err="1"/>
              <a:t>kết</a:t>
            </a:r>
            <a:r>
              <a:rPr lang="en-US" sz="2800" dirty="0"/>
              <a:t> </a:t>
            </a:r>
            <a:r>
              <a:rPr lang="en-US" sz="2800" dirty="0" err="1"/>
              <a:t>nối</a:t>
            </a:r>
            <a:r>
              <a:rPr lang="en-US" sz="2800" dirty="0"/>
              <a:t> </a:t>
            </a:r>
            <a:r>
              <a:rPr lang="en-US" sz="2800" dirty="0" err="1"/>
              <a:t>thành</a:t>
            </a:r>
            <a:r>
              <a:rPr lang="en-US" sz="2800" dirty="0"/>
              <a:t> </a:t>
            </a:r>
            <a:r>
              <a:rPr lang="en-US" sz="2800" dirty="0" err="1"/>
              <a:t>công</a:t>
            </a:r>
            <a:r>
              <a:rPr lang="en-US" sz="2800" dirty="0"/>
              <a:t>.</a:t>
            </a:r>
          </a:p>
          <a:p>
            <a:pPr lvl="1"/>
            <a:r>
              <a:rPr lang="en-US" sz="2800" dirty="0" err="1"/>
              <a:t>onmessage</a:t>
            </a:r>
            <a:r>
              <a:rPr lang="en-US" sz="2800" dirty="0"/>
              <a:t>: </a:t>
            </a:r>
            <a:r>
              <a:rPr lang="en-US" sz="2800" dirty="0" err="1"/>
              <a:t>nhận</a:t>
            </a:r>
            <a:r>
              <a:rPr lang="en-US" sz="2800" dirty="0"/>
              <a:t> </a:t>
            </a:r>
            <a:r>
              <a:rPr lang="en-US" sz="2800" dirty="0" err="1"/>
              <a:t>dữ</a:t>
            </a:r>
            <a:r>
              <a:rPr lang="en-US" sz="2800" dirty="0"/>
              <a:t> </a:t>
            </a:r>
            <a:r>
              <a:rPr lang="en-US" sz="2800" dirty="0" err="1"/>
              <a:t>liệu</a:t>
            </a:r>
            <a:r>
              <a:rPr lang="en-US" sz="2800" dirty="0"/>
              <a:t> </a:t>
            </a:r>
            <a:r>
              <a:rPr lang="en-US" sz="2800" dirty="0" err="1"/>
              <a:t>từ</a:t>
            </a:r>
            <a:r>
              <a:rPr lang="en-US" sz="2800" dirty="0"/>
              <a:t> server.</a:t>
            </a:r>
          </a:p>
          <a:p>
            <a:pPr lvl="1"/>
            <a:r>
              <a:rPr lang="en-US" sz="2800" dirty="0" err="1"/>
              <a:t>onerror</a:t>
            </a:r>
            <a:r>
              <a:rPr lang="en-US" sz="2800" dirty="0"/>
              <a:t>: </a:t>
            </a:r>
            <a:r>
              <a:rPr lang="en-US" sz="2800" dirty="0" err="1"/>
              <a:t>có</a:t>
            </a:r>
            <a:r>
              <a:rPr lang="en-US" sz="2800" dirty="0"/>
              <a:t> </a:t>
            </a:r>
            <a:r>
              <a:rPr lang="en-US" sz="2800" dirty="0" err="1"/>
              <a:t>lỗi</a:t>
            </a:r>
            <a:r>
              <a:rPr lang="en-US" sz="2800" dirty="0"/>
              <a:t>.</a:t>
            </a:r>
          </a:p>
          <a:p>
            <a:pPr lvl="1"/>
            <a:r>
              <a:rPr lang="en-US" sz="2800" dirty="0" err="1"/>
              <a:t>onclose</a:t>
            </a:r>
            <a:r>
              <a:rPr lang="en-US" sz="2800" dirty="0"/>
              <a:t>: </a:t>
            </a:r>
            <a:r>
              <a:rPr lang="en-US" sz="2800" dirty="0" err="1"/>
              <a:t>kết</a:t>
            </a:r>
            <a:r>
              <a:rPr lang="en-US" sz="2800" dirty="0"/>
              <a:t> </a:t>
            </a:r>
            <a:r>
              <a:rPr lang="en-US" sz="2800" dirty="0" err="1"/>
              <a:t>thúc</a:t>
            </a:r>
            <a:r>
              <a:rPr lang="en-US" sz="2800" dirty="0"/>
              <a:t> </a:t>
            </a:r>
            <a:r>
              <a:rPr lang="en-US" sz="2800" dirty="0" err="1"/>
              <a:t>kết</a:t>
            </a:r>
            <a:r>
              <a:rPr lang="en-US" sz="2800" dirty="0"/>
              <a:t> </a:t>
            </a:r>
            <a:r>
              <a:rPr lang="en-US" sz="2800" dirty="0" err="1"/>
              <a:t>nối</a:t>
            </a:r>
            <a:r>
              <a:rPr lang="en-US" sz="2800" dirty="0"/>
              <a:t>.</a:t>
            </a:r>
          </a:p>
        </p:txBody>
      </p:sp>
    </p:spTree>
    <p:extLst>
      <p:ext uri="{BB962C8B-B14F-4D97-AF65-F5344CB8AC3E}">
        <p14:creationId xmlns:p14="http://schemas.microsoft.com/office/powerpoint/2010/main" val="3795740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7C16-2C3F-C959-06C4-6D674F9410A2}"/>
              </a:ext>
            </a:extLst>
          </p:cNvPr>
          <p:cNvSpPr>
            <a:spLocks noGrp="1"/>
          </p:cNvSpPr>
          <p:nvPr>
            <p:ph type="title"/>
          </p:nvPr>
        </p:nvSpPr>
        <p:spPr/>
        <p:txBody>
          <a:bodyPr>
            <a:normAutofit fontScale="90000"/>
          </a:bodyPr>
          <a:lstStyle/>
          <a:p>
            <a:r>
              <a:rPr lang="en-CA" dirty="0"/>
              <a:t>5.2 WebSocket</a:t>
            </a:r>
            <a:endParaRPr lang="en-US" dirty="0"/>
          </a:p>
        </p:txBody>
      </p:sp>
      <p:sp>
        <p:nvSpPr>
          <p:cNvPr id="3" name="Text Placeholder 2">
            <a:extLst>
              <a:ext uri="{FF2B5EF4-FFF2-40B4-BE49-F238E27FC236}">
                <a16:creationId xmlns:a16="http://schemas.microsoft.com/office/drawing/2014/main" id="{010E5E05-C962-E1AA-1569-12CE868083D6}"/>
              </a:ext>
            </a:extLst>
          </p:cNvPr>
          <p:cNvSpPr>
            <a:spLocks noGrp="1"/>
          </p:cNvSpPr>
          <p:nvPr>
            <p:ph type="body" idx="1"/>
          </p:nvPr>
        </p:nvSpPr>
        <p:spPr/>
        <p:txBody>
          <a:bodyPr>
            <a:normAutofit/>
          </a:bodyPr>
          <a:lstStyle/>
          <a:p>
            <a:r>
              <a:rPr lang="vi-VN" sz="2400" dirty="0"/>
              <a:t>Người dùng mở web (trên điện thoại/laptop).</a:t>
            </a:r>
          </a:p>
          <a:p>
            <a:endParaRPr lang="vi-VN" sz="2400" dirty="0"/>
          </a:p>
          <a:p>
            <a:r>
              <a:rPr lang="vi-VN" sz="2400" dirty="0"/>
              <a:t>Nhấn nút LED → client gửi message đến ESP32.</a:t>
            </a:r>
          </a:p>
          <a:p>
            <a:endParaRPr lang="vi-VN" sz="2400" dirty="0"/>
          </a:p>
          <a:p>
            <a:r>
              <a:rPr lang="vi-VN" sz="2400" dirty="0"/>
              <a:t>ESP32 nhận message, xử lý, đổi trạng thái LED.</a:t>
            </a:r>
          </a:p>
          <a:p>
            <a:endParaRPr lang="vi-VN" sz="2400" dirty="0"/>
          </a:p>
          <a:p>
            <a:r>
              <a:rPr lang="vi-VN" sz="2400" dirty="0"/>
              <a:t>ESP32 phản hồi lại trạng thái mới → web hiển thị ngay.</a:t>
            </a:r>
            <a:endParaRPr lang="en-US" sz="2400" dirty="0"/>
          </a:p>
        </p:txBody>
      </p:sp>
    </p:spTree>
    <p:extLst>
      <p:ext uri="{BB962C8B-B14F-4D97-AF65-F5344CB8AC3E}">
        <p14:creationId xmlns:p14="http://schemas.microsoft.com/office/powerpoint/2010/main" val="2890012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84CF1D-1862-B877-7314-BEA386FE1852}"/>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AE21D30F-E2D1-4BC9-D398-6D78A1A5760A}"/>
              </a:ext>
            </a:extLst>
          </p:cNvPr>
          <p:cNvPicPr>
            <a:picLocks noChangeAspect="1"/>
          </p:cNvPicPr>
          <p:nvPr/>
        </p:nvPicPr>
        <p:blipFill>
          <a:blip r:embed="rId3"/>
          <a:stretch>
            <a:fillRect/>
          </a:stretch>
        </p:blipFill>
        <p:spPr>
          <a:xfrm>
            <a:off x="1529542" y="0"/>
            <a:ext cx="5616146" cy="5143500"/>
          </a:xfrm>
          <a:prstGeom prst="rect">
            <a:avLst/>
          </a:prstGeom>
        </p:spPr>
      </p:pic>
    </p:spTree>
    <p:extLst>
      <p:ext uri="{BB962C8B-B14F-4D97-AF65-F5344CB8AC3E}">
        <p14:creationId xmlns:p14="http://schemas.microsoft.com/office/powerpoint/2010/main" val="15648933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5F6CE-B165-E625-4427-1B94E61793D1}"/>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33319342-4C3A-9CF7-621A-EC6026D1982A}"/>
              </a:ext>
            </a:extLst>
          </p:cNvPr>
          <p:cNvSpPr>
            <a:spLocks noGrp="1"/>
          </p:cNvSpPr>
          <p:nvPr>
            <p:ph type="body" idx="1"/>
          </p:nvPr>
        </p:nvSpPr>
        <p:spPr/>
        <p:txBody>
          <a:bodyPr/>
          <a:lstStyle/>
          <a:p>
            <a:endParaRPr lang="en-US"/>
          </a:p>
        </p:txBody>
      </p:sp>
      <p:pic>
        <p:nvPicPr>
          <p:cNvPr id="2050" name="Picture 2" descr="esp32 webserver setup">
            <a:extLst>
              <a:ext uri="{FF2B5EF4-FFF2-40B4-BE49-F238E27FC236}">
                <a16:creationId xmlns:a16="http://schemas.microsoft.com/office/drawing/2014/main" id="{DFFA45A0-CBC8-B0FF-4623-916C6CE05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593" y="0"/>
            <a:ext cx="768481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4774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311CC-B4EC-3E98-1D4F-966BE3B85A6F}"/>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3AE0C311-CFB1-8200-5213-1F640D426E0C}"/>
              </a:ext>
            </a:extLst>
          </p:cNvPr>
          <p:cNvSpPr>
            <a:spLocks noGrp="1"/>
          </p:cNvSpPr>
          <p:nvPr>
            <p:ph type="body" idx="1"/>
          </p:nvPr>
        </p:nvSpPr>
        <p:spPr/>
        <p:txBody>
          <a:bodyPr/>
          <a:lstStyle/>
          <a:p>
            <a:endParaRPr lang="en-US"/>
          </a:p>
        </p:txBody>
      </p:sp>
      <p:pic>
        <p:nvPicPr>
          <p:cNvPr id="3074" name="Picture 2" descr="esp32 webserver setup 2">
            <a:extLst>
              <a:ext uri="{FF2B5EF4-FFF2-40B4-BE49-F238E27FC236}">
                <a16:creationId xmlns:a16="http://schemas.microsoft.com/office/drawing/2014/main" id="{B4B9B7BD-9408-5DF4-903F-F1C526635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844" y="51837"/>
            <a:ext cx="6490312" cy="25199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sp32 webserver loop">
            <a:extLst>
              <a:ext uri="{FF2B5EF4-FFF2-40B4-BE49-F238E27FC236}">
                <a16:creationId xmlns:a16="http://schemas.microsoft.com/office/drawing/2014/main" id="{1BE1A6A7-780C-632E-996E-278A806AF4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468" y="2746643"/>
            <a:ext cx="6590347" cy="2074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014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89FAF-48D4-2348-A5C7-ADA7871A83B3}"/>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B0223A7F-0A47-DDA2-12C2-5E1D71E5F14F}"/>
              </a:ext>
            </a:extLst>
          </p:cNvPr>
          <p:cNvSpPr>
            <a:spLocks noGrp="1"/>
          </p:cNvSpPr>
          <p:nvPr>
            <p:ph type="body" idx="1"/>
          </p:nvPr>
        </p:nvSpPr>
        <p:spPr/>
        <p:txBody>
          <a:bodyPr/>
          <a:lstStyle/>
          <a:p>
            <a:endParaRPr lang="en-US"/>
          </a:p>
        </p:txBody>
      </p:sp>
      <p:pic>
        <p:nvPicPr>
          <p:cNvPr id="4098" name="Picture 2" descr="esp32 webserver mes">
            <a:extLst>
              <a:ext uri="{FF2B5EF4-FFF2-40B4-BE49-F238E27FC236}">
                <a16:creationId xmlns:a16="http://schemas.microsoft.com/office/drawing/2014/main" id="{F86030C9-4BFC-6AA3-2700-D8B978C96B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52" y="149629"/>
            <a:ext cx="8919825" cy="4788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90737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726F5-403E-F786-A86F-746F7ADB8D12}"/>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CC4D69E8-D317-47B5-6203-2E62457CD64A}"/>
              </a:ext>
            </a:extLst>
          </p:cNvPr>
          <p:cNvSpPr>
            <a:spLocks noGrp="1"/>
          </p:cNvSpPr>
          <p:nvPr>
            <p:ph type="body" idx="1"/>
          </p:nvPr>
        </p:nvSpPr>
        <p:spPr/>
        <p:txBody>
          <a:bodyPr/>
          <a:lstStyle/>
          <a:p>
            <a:endParaRPr lang="en-US"/>
          </a:p>
        </p:txBody>
      </p:sp>
      <p:pic>
        <p:nvPicPr>
          <p:cNvPr id="5122" name="Picture 2" descr="esp32 webserver even">
            <a:extLst>
              <a:ext uri="{FF2B5EF4-FFF2-40B4-BE49-F238E27FC236}">
                <a16:creationId xmlns:a16="http://schemas.microsoft.com/office/drawing/2014/main" id="{28028AC2-4E2D-9AC4-D1DC-C0CCEF5AFE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47" y="956483"/>
            <a:ext cx="8973706" cy="3230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3048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2116-C468-57A8-FEAF-D6430C8E6D1A}"/>
              </a:ext>
            </a:extLst>
          </p:cNvPr>
          <p:cNvSpPr>
            <a:spLocks noGrp="1"/>
          </p:cNvSpPr>
          <p:nvPr>
            <p:ph type="title"/>
          </p:nvPr>
        </p:nvSpPr>
        <p:spPr/>
        <p:txBody>
          <a:bodyPr>
            <a:normAutofit fontScale="90000"/>
          </a:bodyPr>
          <a:lstStyle/>
          <a:p>
            <a:endParaRPr lang="en-US"/>
          </a:p>
        </p:txBody>
      </p:sp>
      <p:pic>
        <p:nvPicPr>
          <p:cNvPr id="6146" name="Picture 2" descr="esp32 webserver processor">
            <a:extLst>
              <a:ext uri="{FF2B5EF4-FFF2-40B4-BE49-F238E27FC236}">
                <a16:creationId xmlns:a16="http://schemas.microsoft.com/office/drawing/2014/main" id="{B6388D62-F90D-3861-7DEE-03F104911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8081" y="0"/>
            <a:ext cx="5567839"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454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00" name="Google Shape;300;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a:t>Tham khảo:</a:t>
            </a:r>
            <a:endParaRPr/>
          </a:p>
          <a:p>
            <a:pPr marL="0" lvl="0" indent="0" algn="l" rtl="0">
              <a:spcBef>
                <a:spcPts val="1200"/>
              </a:spcBef>
              <a:spcAft>
                <a:spcPts val="1200"/>
              </a:spcAft>
              <a:buNone/>
            </a:pPr>
            <a:r>
              <a:rPr lang="en-CA" sz="1300"/>
              <a:t>[*] https://docs.developer.tech.gov.sg/docs/data-engineering-initiative-playbook/Chapter5/Introduction_to_WebSockets</a:t>
            </a:r>
            <a:endParaRPr sz="13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5.3 MQTT</a:t>
            </a:r>
            <a:endParaRPr/>
          </a:p>
        </p:txBody>
      </p:sp>
      <p:sp>
        <p:nvSpPr>
          <p:cNvPr id="306" name="Google Shape;306;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CA" sz="2200" dirty="0"/>
              <a:t>“</a:t>
            </a:r>
            <a:r>
              <a:rPr lang="en-CA" sz="2200" dirty="0">
                <a:highlight>
                  <a:srgbClr val="FFFFFF"/>
                </a:highlight>
              </a:rPr>
              <a:t>MQTT is a lightweight</a:t>
            </a:r>
            <a:r>
              <a:rPr lang="en-CA" sz="2200" b="1" dirty="0">
                <a:highlight>
                  <a:srgbClr val="FFFFFF"/>
                </a:highlight>
              </a:rPr>
              <a:t> publish/subscribe</a:t>
            </a:r>
            <a:r>
              <a:rPr lang="en-CA" sz="2200" dirty="0">
                <a:highlight>
                  <a:srgbClr val="FFFFFF"/>
                </a:highlight>
              </a:rPr>
              <a:t> messaging protocol designed for M2M (machine to machine) telemetry in low bandwidth environments.</a:t>
            </a:r>
            <a:r>
              <a:rPr lang="en-CA" sz="2200" dirty="0"/>
              <a:t>”</a:t>
            </a:r>
            <a:endParaRPr sz="2200" dirty="0"/>
          </a:p>
          <a:p>
            <a:pPr marL="0" lvl="0" indent="0" algn="r" rtl="0">
              <a:spcBef>
                <a:spcPts val="1200"/>
              </a:spcBef>
              <a:spcAft>
                <a:spcPts val="0"/>
              </a:spcAft>
              <a:buNone/>
            </a:pPr>
            <a:r>
              <a:rPr lang="en-CA" sz="1600" dirty="0"/>
              <a:t>[*]</a:t>
            </a:r>
            <a:r>
              <a:rPr lang="en-CA" sz="1600" dirty="0">
                <a:uFill>
                  <a:noFill/>
                </a:uFill>
                <a:hlinkClick r:id="rId3"/>
              </a:rPr>
              <a:t>http://www.steves-internet-guide.com/mqtt/</a:t>
            </a:r>
            <a:endParaRPr sz="1600" dirty="0"/>
          </a:p>
          <a:p>
            <a:pPr marL="0" indent="0">
              <a:spcBef>
                <a:spcPts val="1200"/>
              </a:spcBef>
              <a:spcAft>
                <a:spcPts val="1200"/>
              </a:spcAft>
              <a:buNone/>
            </a:pPr>
            <a:r>
              <a:rPr lang="en-US" sz="2200" dirty="0"/>
              <a:t>“</a:t>
            </a:r>
            <a:r>
              <a:rPr lang="en-US" sz="2200" dirty="0">
                <a:highlight>
                  <a:srgbClr val="FFFFFF"/>
                </a:highlight>
              </a:rPr>
              <a:t>MQTT </a:t>
            </a:r>
            <a:r>
              <a:rPr lang="en-US" sz="2200" dirty="0" err="1">
                <a:highlight>
                  <a:srgbClr val="FFFFFF"/>
                </a:highlight>
              </a:rPr>
              <a:t>là</a:t>
            </a:r>
            <a:r>
              <a:rPr lang="en-US" sz="2200" dirty="0">
                <a:highlight>
                  <a:srgbClr val="FFFFFF"/>
                </a:highlight>
              </a:rPr>
              <a:t> </a:t>
            </a:r>
            <a:r>
              <a:rPr lang="en-US" sz="2200" dirty="0" err="1">
                <a:highlight>
                  <a:srgbClr val="FFFFFF"/>
                </a:highlight>
              </a:rPr>
              <a:t>một</a:t>
            </a:r>
            <a:r>
              <a:rPr lang="en-US" sz="2200" dirty="0">
                <a:highlight>
                  <a:srgbClr val="FFFFFF"/>
                </a:highlight>
              </a:rPr>
              <a:t> </a:t>
            </a:r>
            <a:r>
              <a:rPr lang="en-US" sz="2200" dirty="0" err="1">
                <a:highlight>
                  <a:srgbClr val="FFFFFF"/>
                </a:highlight>
              </a:rPr>
              <a:t>giao</a:t>
            </a:r>
            <a:r>
              <a:rPr lang="en-US" sz="2200" dirty="0">
                <a:highlight>
                  <a:srgbClr val="FFFFFF"/>
                </a:highlight>
              </a:rPr>
              <a:t> </a:t>
            </a:r>
            <a:r>
              <a:rPr lang="en-US" sz="2200" dirty="0" err="1">
                <a:highlight>
                  <a:srgbClr val="FFFFFF"/>
                </a:highlight>
              </a:rPr>
              <a:t>thức</a:t>
            </a:r>
            <a:r>
              <a:rPr lang="en-US" sz="2200" dirty="0">
                <a:highlight>
                  <a:srgbClr val="FFFFFF"/>
                </a:highlight>
              </a:rPr>
              <a:t> </a:t>
            </a:r>
            <a:r>
              <a:rPr lang="en-US" sz="2200" dirty="0" err="1">
                <a:highlight>
                  <a:srgbClr val="FFFFFF"/>
                </a:highlight>
              </a:rPr>
              <a:t>nhắn</a:t>
            </a:r>
            <a:r>
              <a:rPr lang="en-US" sz="2200" dirty="0">
                <a:highlight>
                  <a:srgbClr val="FFFFFF"/>
                </a:highlight>
              </a:rPr>
              <a:t> tin </a:t>
            </a:r>
            <a:r>
              <a:rPr lang="en-US" sz="2200" dirty="0" err="1">
                <a:highlight>
                  <a:srgbClr val="FFFFFF"/>
                </a:highlight>
              </a:rPr>
              <a:t>dạng</a:t>
            </a:r>
            <a:r>
              <a:rPr lang="en-US" sz="2200" dirty="0">
                <a:highlight>
                  <a:srgbClr val="FFFFFF"/>
                </a:highlight>
              </a:rPr>
              <a:t> publish/subscribe </a:t>
            </a:r>
            <a:r>
              <a:rPr lang="en-US" sz="2200" dirty="0" err="1">
                <a:highlight>
                  <a:srgbClr val="FFFFFF"/>
                </a:highlight>
              </a:rPr>
              <a:t>nhẹ</a:t>
            </a:r>
            <a:r>
              <a:rPr lang="en-US" sz="2200" dirty="0">
                <a:highlight>
                  <a:srgbClr val="FFFFFF"/>
                </a:highlight>
              </a:rPr>
              <a:t>, </a:t>
            </a:r>
            <a:r>
              <a:rPr lang="en-US" sz="2200" dirty="0" err="1">
                <a:highlight>
                  <a:srgbClr val="FFFFFF"/>
                </a:highlight>
              </a:rPr>
              <a:t>được</a:t>
            </a:r>
            <a:r>
              <a:rPr lang="en-US" sz="2200" dirty="0">
                <a:highlight>
                  <a:srgbClr val="FFFFFF"/>
                </a:highlight>
              </a:rPr>
              <a:t> </a:t>
            </a:r>
            <a:r>
              <a:rPr lang="en-US" sz="2200" dirty="0" err="1">
                <a:highlight>
                  <a:srgbClr val="FFFFFF"/>
                </a:highlight>
              </a:rPr>
              <a:t>thiết</a:t>
            </a:r>
            <a:r>
              <a:rPr lang="en-US" sz="2200" dirty="0">
                <a:highlight>
                  <a:srgbClr val="FFFFFF"/>
                </a:highlight>
              </a:rPr>
              <a:t> </a:t>
            </a:r>
            <a:r>
              <a:rPr lang="en-US" sz="2200" dirty="0" err="1">
                <a:highlight>
                  <a:srgbClr val="FFFFFF"/>
                </a:highlight>
              </a:rPr>
              <a:t>kế</a:t>
            </a:r>
            <a:r>
              <a:rPr lang="en-US" sz="2200" dirty="0">
                <a:highlight>
                  <a:srgbClr val="FFFFFF"/>
                </a:highlight>
              </a:rPr>
              <a:t> </a:t>
            </a:r>
            <a:r>
              <a:rPr lang="en-US" sz="2200" dirty="0" err="1">
                <a:highlight>
                  <a:srgbClr val="FFFFFF"/>
                </a:highlight>
              </a:rPr>
              <a:t>cho</a:t>
            </a:r>
            <a:r>
              <a:rPr lang="en-US" sz="2200" dirty="0">
                <a:highlight>
                  <a:srgbClr val="FFFFFF"/>
                </a:highlight>
              </a:rPr>
              <a:t> </a:t>
            </a:r>
            <a:r>
              <a:rPr lang="en-US" sz="2200" dirty="0" err="1">
                <a:highlight>
                  <a:srgbClr val="FFFFFF"/>
                </a:highlight>
              </a:rPr>
              <a:t>truyền</a:t>
            </a:r>
            <a:r>
              <a:rPr lang="en-US" sz="2200" dirty="0">
                <a:highlight>
                  <a:srgbClr val="FFFFFF"/>
                </a:highlight>
              </a:rPr>
              <a:t> </a:t>
            </a:r>
            <a:r>
              <a:rPr lang="en-US" sz="2200" dirty="0" err="1">
                <a:highlight>
                  <a:srgbClr val="FFFFFF"/>
                </a:highlight>
              </a:rPr>
              <a:t>thông</a:t>
            </a:r>
            <a:r>
              <a:rPr lang="en-US" sz="2200" dirty="0">
                <a:highlight>
                  <a:srgbClr val="FFFFFF"/>
                </a:highlight>
              </a:rPr>
              <a:t> </a:t>
            </a:r>
            <a:r>
              <a:rPr lang="en-US" sz="2200" dirty="0" err="1">
                <a:highlight>
                  <a:srgbClr val="FFFFFF"/>
                </a:highlight>
              </a:rPr>
              <a:t>máy-máy</a:t>
            </a:r>
            <a:r>
              <a:rPr lang="en-US" sz="2200" dirty="0">
                <a:highlight>
                  <a:srgbClr val="FFFFFF"/>
                </a:highlight>
              </a:rPr>
              <a:t> </a:t>
            </a:r>
            <a:r>
              <a:rPr lang="en-US" sz="2200" dirty="0" err="1">
                <a:highlight>
                  <a:srgbClr val="FFFFFF"/>
                </a:highlight>
              </a:rPr>
              <a:t>trong</a:t>
            </a:r>
            <a:r>
              <a:rPr lang="en-US" sz="2200" dirty="0">
                <a:highlight>
                  <a:srgbClr val="FFFFFF"/>
                </a:highlight>
              </a:rPr>
              <a:t> </a:t>
            </a:r>
            <a:r>
              <a:rPr lang="en-US" sz="2200" dirty="0" err="1">
                <a:highlight>
                  <a:srgbClr val="FFFFFF"/>
                </a:highlight>
              </a:rPr>
              <a:t>môi</a:t>
            </a:r>
            <a:r>
              <a:rPr lang="en-US" sz="2200" dirty="0">
                <a:highlight>
                  <a:srgbClr val="FFFFFF"/>
                </a:highlight>
              </a:rPr>
              <a:t> </a:t>
            </a:r>
            <a:r>
              <a:rPr lang="en-US" sz="2200" dirty="0" err="1">
                <a:highlight>
                  <a:srgbClr val="FFFFFF"/>
                </a:highlight>
              </a:rPr>
              <a:t>trường</a:t>
            </a:r>
            <a:r>
              <a:rPr lang="en-US" sz="2200" dirty="0">
                <a:highlight>
                  <a:srgbClr val="FFFFFF"/>
                </a:highlight>
              </a:rPr>
              <a:t> </a:t>
            </a:r>
            <a:r>
              <a:rPr lang="en-US" sz="2200" dirty="0" err="1">
                <a:highlight>
                  <a:srgbClr val="FFFFFF"/>
                </a:highlight>
              </a:rPr>
              <a:t>băng</a:t>
            </a:r>
            <a:r>
              <a:rPr lang="en-US" sz="2200" dirty="0">
                <a:highlight>
                  <a:srgbClr val="FFFFFF"/>
                </a:highlight>
              </a:rPr>
              <a:t> </a:t>
            </a:r>
            <a:r>
              <a:rPr lang="en-US" sz="2200" dirty="0" err="1">
                <a:highlight>
                  <a:srgbClr val="FFFFFF"/>
                </a:highlight>
              </a:rPr>
              <a:t>thông</a:t>
            </a:r>
            <a:r>
              <a:rPr lang="en-US" sz="2200" dirty="0">
                <a:highlight>
                  <a:srgbClr val="FFFFFF"/>
                </a:highlight>
              </a:rPr>
              <a:t> </a:t>
            </a:r>
            <a:r>
              <a:rPr lang="en-US" sz="2200" dirty="0" err="1">
                <a:highlight>
                  <a:srgbClr val="FFFFFF"/>
                </a:highlight>
              </a:rPr>
              <a:t>thấp</a:t>
            </a:r>
            <a:r>
              <a:rPr lang="en-US" sz="2200" dirty="0"/>
              <a:t>”</a:t>
            </a:r>
          </a:p>
          <a:p>
            <a:pPr marL="0" lvl="0" indent="0" algn="l" rtl="0">
              <a:spcBef>
                <a:spcPts val="1200"/>
              </a:spcBef>
              <a:spcAft>
                <a:spcPts val="1200"/>
              </a:spcAft>
              <a:buNone/>
            </a:pPr>
            <a:endParaRPr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12" name="Google Shape;312;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a:t>MQTT: Message Queuing Telemetry Transport</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err="1"/>
              <a:t>Được</a:t>
            </a:r>
            <a:r>
              <a:rPr lang="en-CA" dirty="0"/>
              <a:t> </a:t>
            </a:r>
            <a:r>
              <a:rPr lang="en-CA" dirty="0" err="1"/>
              <a:t>thiết</a:t>
            </a:r>
            <a:r>
              <a:rPr lang="en-CA" dirty="0"/>
              <a:t> </a:t>
            </a:r>
            <a:r>
              <a:rPr lang="en-CA" dirty="0" err="1"/>
              <a:t>kế</a:t>
            </a:r>
            <a:r>
              <a:rPr lang="en-CA" dirty="0"/>
              <a:t> </a:t>
            </a:r>
            <a:r>
              <a:rPr lang="en-CA" dirty="0" err="1"/>
              <a:t>và</a:t>
            </a:r>
            <a:r>
              <a:rPr lang="en-CA" dirty="0"/>
              <a:t> </a:t>
            </a:r>
            <a:r>
              <a:rPr lang="en-CA" dirty="0" err="1"/>
              <a:t>phát</a:t>
            </a:r>
            <a:r>
              <a:rPr lang="en-CA" dirty="0"/>
              <a:t> </a:t>
            </a:r>
            <a:r>
              <a:rPr lang="en-CA" dirty="0" err="1"/>
              <a:t>triển</a:t>
            </a:r>
            <a:r>
              <a:rPr lang="en-CA" dirty="0"/>
              <a:t> </a:t>
            </a:r>
            <a:r>
              <a:rPr lang="en-CA" dirty="0" err="1"/>
              <a:t>năm</a:t>
            </a:r>
            <a:r>
              <a:rPr lang="en-CA" dirty="0"/>
              <a:t> 1999 </a:t>
            </a:r>
            <a:r>
              <a:rPr lang="en-CA" dirty="0" err="1"/>
              <a:t>cho</a:t>
            </a:r>
            <a:r>
              <a:rPr lang="en-CA" dirty="0"/>
              <a:t> </a:t>
            </a:r>
            <a:r>
              <a:rPr lang="en-CA" dirty="0" err="1"/>
              <a:t>giao</a:t>
            </a:r>
            <a:r>
              <a:rPr lang="en-CA" dirty="0"/>
              <a:t> </a:t>
            </a:r>
            <a:r>
              <a:rPr lang="en-CA" dirty="0" err="1"/>
              <a:t>thức</a:t>
            </a:r>
            <a:r>
              <a:rPr lang="en-CA" dirty="0"/>
              <a:t> TCP/IP</a:t>
            </a:r>
            <a:endParaRPr dirty="0"/>
          </a:p>
          <a:p>
            <a:pPr marL="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a:t>MQTT </a:t>
            </a:r>
            <a:r>
              <a:rPr lang="en-CA" dirty="0" err="1"/>
              <a:t>nhanh</a:t>
            </a:r>
            <a:r>
              <a:rPr lang="en-CA" dirty="0"/>
              <a:t> </a:t>
            </a:r>
            <a:r>
              <a:rPr lang="en-CA" dirty="0" err="1"/>
              <a:t>chóng</a:t>
            </a:r>
            <a:r>
              <a:rPr lang="en-CA" dirty="0"/>
              <a:t> </a:t>
            </a:r>
            <a:r>
              <a:rPr lang="en-CA" dirty="0" err="1"/>
              <a:t>phát</a:t>
            </a:r>
            <a:r>
              <a:rPr lang="en-CA" dirty="0"/>
              <a:t> </a:t>
            </a:r>
            <a:r>
              <a:rPr lang="en-CA" dirty="0" err="1"/>
              <a:t>triển</a:t>
            </a:r>
            <a:r>
              <a:rPr lang="en-CA" dirty="0"/>
              <a:t> </a:t>
            </a:r>
            <a:r>
              <a:rPr lang="en-CA" dirty="0" err="1"/>
              <a:t>và</a:t>
            </a:r>
            <a:r>
              <a:rPr lang="en-CA" dirty="0"/>
              <a:t> </a:t>
            </a:r>
            <a:r>
              <a:rPr lang="en-CA" dirty="0" err="1"/>
              <a:t>trở</a:t>
            </a:r>
            <a:r>
              <a:rPr lang="en-CA" dirty="0"/>
              <a:t> </a:t>
            </a:r>
            <a:r>
              <a:rPr lang="en-CA" dirty="0" err="1"/>
              <a:t>thành</a:t>
            </a:r>
            <a:r>
              <a:rPr lang="en-CA" dirty="0"/>
              <a:t> 1 </a:t>
            </a:r>
            <a:r>
              <a:rPr lang="en-CA" dirty="0" err="1"/>
              <a:t>trong</a:t>
            </a:r>
            <a:r>
              <a:rPr lang="en-CA" dirty="0"/>
              <a:t> </a:t>
            </a:r>
            <a:r>
              <a:rPr lang="en-CA" dirty="0" err="1"/>
              <a:t>những</a:t>
            </a:r>
            <a:r>
              <a:rPr lang="en-CA" dirty="0"/>
              <a:t> </a:t>
            </a:r>
            <a:r>
              <a:rPr lang="en-CA" dirty="0" err="1"/>
              <a:t>giao</a:t>
            </a:r>
            <a:r>
              <a:rPr lang="en-CA" dirty="0"/>
              <a:t> </a:t>
            </a:r>
            <a:r>
              <a:rPr lang="en-CA" dirty="0" err="1"/>
              <a:t>thức</a:t>
            </a:r>
            <a:r>
              <a:rPr lang="en-CA" dirty="0"/>
              <a:t> </a:t>
            </a:r>
            <a:r>
              <a:rPr lang="en-CA" dirty="0" err="1"/>
              <a:t>chính</a:t>
            </a:r>
            <a:r>
              <a:rPr lang="en-CA" dirty="0"/>
              <a:t> </a:t>
            </a:r>
            <a:r>
              <a:rPr lang="en-CA" dirty="0" err="1"/>
              <a:t>của</a:t>
            </a:r>
            <a:r>
              <a:rPr lang="en-CA" dirty="0"/>
              <a:t> IoT</a:t>
            </a: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19" name="Google Shape;319;p46"/>
          <p:cNvSpPr/>
          <p:nvPr/>
        </p:nvSpPr>
        <p:spPr>
          <a:xfrm>
            <a:off x="3290025" y="1903550"/>
            <a:ext cx="2284200" cy="2113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0" name="Google Shape;320;p46"/>
          <p:cNvSpPr/>
          <p:nvPr/>
        </p:nvSpPr>
        <p:spPr>
          <a:xfrm>
            <a:off x="3996975" y="2051175"/>
            <a:ext cx="870300" cy="3729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1" name="Google Shape;321;p46"/>
          <p:cNvSpPr/>
          <p:nvPr/>
        </p:nvSpPr>
        <p:spPr>
          <a:xfrm>
            <a:off x="3996975" y="2571750"/>
            <a:ext cx="870300" cy="3729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2" name="Google Shape;322;p46"/>
          <p:cNvSpPr/>
          <p:nvPr/>
        </p:nvSpPr>
        <p:spPr>
          <a:xfrm>
            <a:off x="4043600" y="3454500"/>
            <a:ext cx="870300" cy="372900"/>
          </a:xfrm>
          <a:prstGeom prst="roundRect">
            <a:avLst>
              <a:gd name="adj" fmla="val 16667"/>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3" name="Google Shape;323;p46"/>
          <p:cNvSpPr/>
          <p:nvPr/>
        </p:nvSpPr>
        <p:spPr>
          <a:xfrm>
            <a:off x="2043525" y="1152475"/>
            <a:ext cx="637200" cy="623400"/>
          </a:xfrm>
          <a:prstGeom prst="triangle">
            <a:avLst>
              <a:gd name="adj"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4" name="Google Shape;324;p46"/>
          <p:cNvSpPr/>
          <p:nvPr/>
        </p:nvSpPr>
        <p:spPr>
          <a:xfrm>
            <a:off x="714800" y="2260050"/>
            <a:ext cx="637200" cy="623400"/>
          </a:xfrm>
          <a:prstGeom prst="triangle">
            <a:avLst>
              <a:gd name="adj"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5" name="Google Shape;325;p46"/>
          <p:cNvSpPr/>
          <p:nvPr/>
        </p:nvSpPr>
        <p:spPr>
          <a:xfrm>
            <a:off x="714800" y="3204000"/>
            <a:ext cx="637200" cy="623400"/>
          </a:xfrm>
          <a:prstGeom prst="triangle">
            <a:avLst>
              <a:gd name="adj"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6" name="Google Shape;326;p46"/>
          <p:cNvSpPr/>
          <p:nvPr/>
        </p:nvSpPr>
        <p:spPr>
          <a:xfrm>
            <a:off x="2043525" y="4144825"/>
            <a:ext cx="637200" cy="623400"/>
          </a:xfrm>
          <a:prstGeom prst="triangle">
            <a:avLst>
              <a:gd name="adj"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7" name="Google Shape;327;p46"/>
          <p:cNvSpPr/>
          <p:nvPr/>
        </p:nvSpPr>
        <p:spPr>
          <a:xfrm>
            <a:off x="6122475" y="512800"/>
            <a:ext cx="870300" cy="901200"/>
          </a:xfrm>
          <a:prstGeom prst="diamond">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8" name="Google Shape;328;p46"/>
          <p:cNvSpPr/>
          <p:nvPr/>
        </p:nvSpPr>
        <p:spPr>
          <a:xfrm>
            <a:off x="7471375" y="2303525"/>
            <a:ext cx="870300" cy="901200"/>
          </a:xfrm>
          <a:prstGeom prst="diamond">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29" name="Google Shape;329;p46"/>
          <p:cNvSpPr/>
          <p:nvPr/>
        </p:nvSpPr>
        <p:spPr>
          <a:xfrm>
            <a:off x="6497175" y="4005925"/>
            <a:ext cx="870300" cy="901200"/>
          </a:xfrm>
          <a:prstGeom prst="diamond">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cxnSp>
        <p:nvCxnSpPr>
          <p:cNvPr id="330" name="Google Shape;330;p46"/>
          <p:cNvCxnSpPr>
            <a:stCxn id="323" idx="4"/>
            <a:endCxn id="320" idx="1"/>
          </p:cNvCxnSpPr>
          <p:nvPr/>
        </p:nvCxnSpPr>
        <p:spPr>
          <a:xfrm>
            <a:off x="2680725" y="1775875"/>
            <a:ext cx="1316400" cy="461700"/>
          </a:xfrm>
          <a:prstGeom prst="straightConnector1">
            <a:avLst/>
          </a:prstGeom>
          <a:noFill/>
          <a:ln w="9525" cap="flat" cmpd="sng">
            <a:solidFill>
              <a:schemeClr val="dk2"/>
            </a:solidFill>
            <a:prstDash val="solid"/>
            <a:round/>
            <a:headEnd type="none" w="med" len="med"/>
            <a:tailEnd type="triangle" w="med" len="med"/>
          </a:ln>
        </p:spPr>
      </p:cxnSp>
      <p:cxnSp>
        <p:nvCxnSpPr>
          <p:cNvPr id="331" name="Google Shape;331;p46"/>
          <p:cNvCxnSpPr>
            <a:stCxn id="324" idx="4"/>
            <a:endCxn id="320" idx="1"/>
          </p:cNvCxnSpPr>
          <p:nvPr/>
        </p:nvCxnSpPr>
        <p:spPr>
          <a:xfrm rot="10800000" flipH="1">
            <a:off x="1352000" y="2237550"/>
            <a:ext cx="2645100" cy="645900"/>
          </a:xfrm>
          <a:prstGeom prst="straightConnector1">
            <a:avLst/>
          </a:prstGeom>
          <a:noFill/>
          <a:ln w="9525" cap="flat" cmpd="sng">
            <a:solidFill>
              <a:schemeClr val="dk2"/>
            </a:solidFill>
            <a:prstDash val="solid"/>
            <a:round/>
            <a:headEnd type="none" w="med" len="med"/>
            <a:tailEnd type="triangle" w="med" len="med"/>
          </a:ln>
        </p:spPr>
      </p:cxnSp>
      <p:cxnSp>
        <p:nvCxnSpPr>
          <p:cNvPr id="332" name="Google Shape;332;p46"/>
          <p:cNvCxnSpPr>
            <a:stCxn id="325" idx="4"/>
            <a:endCxn id="321" idx="1"/>
          </p:cNvCxnSpPr>
          <p:nvPr/>
        </p:nvCxnSpPr>
        <p:spPr>
          <a:xfrm rot="10800000" flipH="1">
            <a:off x="1352000" y="2758200"/>
            <a:ext cx="2645100" cy="1069200"/>
          </a:xfrm>
          <a:prstGeom prst="straightConnector1">
            <a:avLst/>
          </a:prstGeom>
          <a:noFill/>
          <a:ln w="9525" cap="flat" cmpd="sng">
            <a:solidFill>
              <a:schemeClr val="dk2"/>
            </a:solidFill>
            <a:prstDash val="solid"/>
            <a:round/>
            <a:headEnd type="none" w="med" len="med"/>
            <a:tailEnd type="triangle" w="med" len="med"/>
          </a:ln>
        </p:spPr>
      </p:cxnSp>
      <p:cxnSp>
        <p:nvCxnSpPr>
          <p:cNvPr id="333" name="Google Shape;333;p46"/>
          <p:cNvCxnSpPr>
            <a:stCxn id="326" idx="0"/>
            <a:endCxn id="322" idx="1"/>
          </p:cNvCxnSpPr>
          <p:nvPr/>
        </p:nvCxnSpPr>
        <p:spPr>
          <a:xfrm rot="10800000" flipH="1">
            <a:off x="2362125" y="3640825"/>
            <a:ext cx="1681500" cy="504000"/>
          </a:xfrm>
          <a:prstGeom prst="straightConnector1">
            <a:avLst/>
          </a:prstGeom>
          <a:noFill/>
          <a:ln w="9525" cap="flat" cmpd="sng">
            <a:solidFill>
              <a:schemeClr val="dk2"/>
            </a:solidFill>
            <a:prstDash val="solid"/>
            <a:round/>
            <a:headEnd type="none" w="med" len="med"/>
            <a:tailEnd type="triangle" w="med" len="med"/>
          </a:ln>
        </p:spPr>
      </p:cxnSp>
      <p:cxnSp>
        <p:nvCxnSpPr>
          <p:cNvPr id="334" name="Google Shape;334;p46"/>
          <p:cNvCxnSpPr>
            <a:stCxn id="320" idx="3"/>
            <a:endCxn id="327" idx="2"/>
          </p:cNvCxnSpPr>
          <p:nvPr/>
        </p:nvCxnSpPr>
        <p:spPr>
          <a:xfrm rot="10800000" flipH="1">
            <a:off x="4867275" y="1414125"/>
            <a:ext cx="1690500" cy="823500"/>
          </a:xfrm>
          <a:prstGeom prst="straightConnector1">
            <a:avLst/>
          </a:prstGeom>
          <a:noFill/>
          <a:ln w="9525" cap="flat" cmpd="sng">
            <a:solidFill>
              <a:schemeClr val="dk2"/>
            </a:solidFill>
            <a:prstDash val="solid"/>
            <a:round/>
            <a:headEnd type="none" w="med" len="med"/>
            <a:tailEnd type="triangle" w="med" len="med"/>
          </a:ln>
        </p:spPr>
      </p:cxnSp>
      <p:cxnSp>
        <p:nvCxnSpPr>
          <p:cNvPr id="335" name="Google Shape;335;p46"/>
          <p:cNvCxnSpPr>
            <a:stCxn id="321" idx="3"/>
            <a:endCxn id="328" idx="1"/>
          </p:cNvCxnSpPr>
          <p:nvPr/>
        </p:nvCxnSpPr>
        <p:spPr>
          <a:xfrm rot="10800000" flipH="1">
            <a:off x="4867275" y="2754000"/>
            <a:ext cx="2604000" cy="4200"/>
          </a:xfrm>
          <a:prstGeom prst="straightConnector1">
            <a:avLst/>
          </a:prstGeom>
          <a:noFill/>
          <a:ln w="9525" cap="flat" cmpd="sng">
            <a:solidFill>
              <a:schemeClr val="dk2"/>
            </a:solidFill>
            <a:prstDash val="solid"/>
            <a:round/>
            <a:headEnd type="none" w="med" len="med"/>
            <a:tailEnd type="triangle" w="med" len="med"/>
          </a:ln>
        </p:spPr>
      </p:cxnSp>
      <p:cxnSp>
        <p:nvCxnSpPr>
          <p:cNvPr id="336" name="Google Shape;336;p46"/>
          <p:cNvCxnSpPr>
            <a:stCxn id="322" idx="3"/>
            <a:endCxn id="329" idx="1"/>
          </p:cNvCxnSpPr>
          <p:nvPr/>
        </p:nvCxnSpPr>
        <p:spPr>
          <a:xfrm>
            <a:off x="4913900" y="3640950"/>
            <a:ext cx="1583400" cy="815700"/>
          </a:xfrm>
          <a:prstGeom prst="straightConnector1">
            <a:avLst/>
          </a:prstGeom>
          <a:noFill/>
          <a:ln w="9525" cap="flat" cmpd="sng">
            <a:solidFill>
              <a:schemeClr val="dk2"/>
            </a:solidFill>
            <a:prstDash val="solid"/>
            <a:round/>
            <a:headEnd type="none" w="med" len="med"/>
            <a:tailEnd type="triangle" w="med" len="med"/>
          </a:ln>
        </p:spPr>
      </p:cxnSp>
      <p:sp>
        <p:nvSpPr>
          <p:cNvPr id="337" name="Google Shape;337;p46"/>
          <p:cNvSpPr txBox="1"/>
          <p:nvPr/>
        </p:nvSpPr>
        <p:spPr>
          <a:xfrm>
            <a:off x="4043625" y="2073725"/>
            <a:ext cx="720000" cy="30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200" b="1">
                <a:solidFill>
                  <a:schemeClr val="lt1"/>
                </a:solidFill>
                <a:latin typeface="Source Sans Pro"/>
                <a:ea typeface="Source Sans Pro"/>
                <a:cs typeface="Source Sans Pro"/>
                <a:sym typeface="Source Sans Pro"/>
              </a:rPr>
              <a:t>Topic 1</a:t>
            </a:r>
            <a:endParaRPr sz="1200" b="1">
              <a:solidFill>
                <a:schemeClr val="lt1"/>
              </a:solidFill>
              <a:latin typeface="Source Sans Pro"/>
              <a:ea typeface="Source Sans Pro"/>
              <a:cs typeface="Source Sans Pro"/>
              <a:sym typeface="Source Sans Pro"/>
            </a:endParaRPr>
          </a:p>
        </p:txBody>
      </p:sp>
      <p:sp>
        <p:nvSpPr>
          <p:cNvPr id="338" name="Google Shape;338;p46"/>
          <p:cNvSpPr txBox="1"/>
          <p:nvPr/>
        </p:nvSpPr>
        <p:spPr>
          <a:xfrm>
            <a:off x="4072188" y="2602175"/>
            <a:ext cx="720000" cy="30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200" b="1">
                <a:solidFill>
                  <a:schemeClr val="lt1"/>
                </a:solidFill>
                <a:latin typeface="Source Sans Pro"/>
                <a:ea typeface="Source Sans Pro"/>
                <a:cs typeface="Source Sans Pro"/>
                <a:sym typeface="Source Sans Pro"/>
              </a:rPr>
              <a:t>Topic 2</a:t>
            </a:r>
            <a:endParaRPr sz="1200" b="1">
              <a:solidFill>
                <a:schemeClr val="lt1"/>
              </a:solidFill>
              <a:latin typeface="Source Sans Pro"/>
              <a:ea typeface="Source Sans Pro"/>
              <a:cs typeface="Source Sans Pro"/>
              <a:sym typeface="Source Sans Pro"/>
            </a:endParaRPr>
          </a:p>
        </p:txBody>
      </p:sp>
      <p:sp>
        <p:nvSpPr>
          <p:cNvPr id="339" name="Google Shape;339;p46"/>
          <p:cNvSpPr txBox="1"/>
          <p:nvPr/>
        </p:nvSpPr>
        <p:spPr>
          <a:xfrm>
            <a:off x="4118750" y="3489000"/>
            <a:ext cx="720000" cy="30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200" b="1">
                <a:solidFill>
                  <a:schemeClr val="lt1"/>
                </a:solidFill>
                <a:latin typeface="Source Sans Pro"/>
                <a:ea typeface="Source Sans Pro"/>
                <a:cs typeface="Source Sans Pro"/>
                <a:sym typeface="Source Sans Pro"/>
              </a:rPr>
              <a:t>Topic n</a:t>
            </a:r>
            <a:endParaRPr sz="1200" b="1">
              <a:solidFill>
                <a:schemeClr val="lt1"/>
              </a:solidFill>
              <a:latin typeface="Source Sans Pro"/>
              <a:ea typeface="Source Sans Pro"/>
              <a:cs typeface="Source Sans Pro"/>
              <a:sym typeface="Source Sans Pro"/>
            </a:endParaRPr>
          </a:p>
        </p:txBody>
      </p:sp>
      <p:sp>
        <p:nvSpPr>
          <p:cNvPr id="340" name="Google Shape;340;p46"/>
          <p:cNvSpPr txBox="1"/>
          <p:nvPr/>
        </p:nvSpPr>
        <p:spPr>
          <a:xfrm>
            <a:off x="279700" y="4125675"/>
            <a:ext cx="1398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b="1">
                <a:solidFill>
                  <a:srgbClr val="0000FF"/>
                </a:solidFill>
                <a:latin typeface="Source Sans Pro"/>
                <a:ea typeface="Source Sans Pro"/>
                <a:cs typeface="Source Sans Pro"/>
                <a:sym typeface="Source Sans Pro"/>
              </a:rPr>
              <a:t>Publishers</a:t>
            </a:r>
            <a:endParaRPr sz="1800" b="1">
              <a:solidFill>
                <a:srgbClr val="0000FF"/>
              </a:solidFill>
              <a:latin typeface="Source Sans Pro"/>
              <a:ea typeface="Source Sans Pro"/>
              <a:cs typeface="Source Sans Pro"/>
              <a:sym typeface="Source Sans Pro"/>
            </a:endParaRPr>
          </a:p>
        </p:txBody>
      </p:sp>
      <p:sp>
        <p:nvSpPr>
          <p:cNvPr id="341" name="Google Shape;341;p46"/>
          <p:cNvSpPr txBox="1"/>
          <p:nvPr/>
        </p:nvSpPr>
        <p:spPr>
          <a:xfrm>
            <a:off x="6943075" y="1543150"/>
            <a:ext cx="1398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b="1">
                <a:solidFill>
                  <a:srgbClr val="E69138"/>
                </a:solidFill>
                <a:latin typeface="Source Sans Pro"/>
                <a:ea typeface="Source Sans Pro"/>
                <a:cs typeface="Source Sans Pro"/>
                <a:sym typeface="Source Sans Pro"/>
              </a:rPr>
              <a:t>Subscribers</a:t>
            </a:r>
            <a:endParaRPr sz="1800" b="1">
              <a:solidFill>
                <a:srgbClr val="E69138"/>
              </a:solidFill>
              <a:latin typeface="Source Sans Pro"/>
              <a:ea typeface="Source Sans Pro"/>
              <a:cs typeface="Source Sans Pro"/>
              <a:sym typeface="Source Sans Pro"/>
            </a:endParaRPr>
          </a:p>
        </p:txBody>
      </p:sp>
      <p:sp>
        <p:nvSpPr>
          <p:cNvPr id="342" name="Google Shape;342;p46"/>
          <p:cNvSpPr txBox="1"/>
          <p:nvPr/>
        </p:nvSpPr>
        <p:spPr>
          <a:xfrm>
            <a:off x="3996974" y="1257088"/>
            <a:ext cx="916925"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800" b="1" dirty="0">
                <a:solidFill>
                  <a:schemeClr val="lt2"/>
                </a:solidFill>
                <a:latin typeface="Source Sans Pro"/>
                <a:ea typeface="Source Sans Pro"/>
                <a:cs typeface="Source Sans Pro"/>
                <a:sym typeface="Source Sans Pro"/>
              </a:rPr>
              <a:t>Broker</a:t>
            </a:r>
            <a:endParaRPr sz="1800" b="1" dirty="0">
              <a:solidFill>
                <a:schemeClr val="lt2"/>
              </a:solidFill>
              <a:latin typeface="Source Sans Pro"/>
              <a:ea typeface="Source Sans Pro"/>
              <a:cs typeface="Source Sans Pro"/>
              <a:sym typeface="Source Sans Pro"/>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48" name="Google Shape;348;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err="1"/>
              <a:t>Các</a:t>
            </a:r>
            <a:r>
              <a:rPr lang="en-CA" dirty="0"/>
              <a:t> Clients </a:t>
            </a:r>
            <a:r>
              <a:rPr lang="en-CA" dirty="0" err="1"/>
              <a:t>không</a:t>
            </a:r>
            <a:r>
              <a:rPr lang="en-CA" dirty="0"/>
              <a:t> </a:t>
            </a:r>
            <a:r>
              <a:rPr lang="en-CA" dirty="0" err="1"/>
              <a:t>có</a:t>
            </a:r>
            <a:r>
              <a:rPr lang="en-CA" dirty="0"/>
              <a:t> </a:t>
            </a:r>
            <a:r>
              <a:rPr lang="en-CA" dirty="0" err="1"/>
              <a:t>địa</a:t>
            </a:r>
            <a:r>
              <a:rPr lang="en-CA" dirty="0"/>
              <a:t> </a:t>
            </a:r>
            <a:r>
              <a:rPr lang="en-CA" dirty="0" err="1"/>
              <a:t>chỉ</a:t>
            </a:r>
            <a:r>
              <a:rPr lang="en-CA" dirty="0"/>
              <a:t> </a:t>
            </a:r>
            <a:r>
              <a:rPr lang="en-CA" dirty="0" err="1"/>
              <a:t>và</a:t>
            </a:r>
            <a:r>
              <a:rPr lang="en-CA" dirty="0"/>
              <a:t> Clients </a:t>
            </a:r>
            <a:r>
              <a:rPr lang="en-CA" dirty="0" err="1"/>
              <a:t>không</a:t>
            </a:r>
            <a:r>
              <a:rPr lang="en-CA" dirty="0"/>
              <a:t> </a:t>
            </a:r>
            <a:r>
              <a:rPr lang="en-CA" dirty="0" err="1"/>
              <a:t>trực</a:t>
            </a:r>
            <a:r>
              <a:rPr lang="en-CA" dirty="0"/>
              <a:t> </a:t>
            </a:r>
            <a:r>
              <a:rPr lang="en-CA" dirty="0" err="1"/>
              <a:t>tiếp</a:t>
            </a:r>
            <a:r>
              <a:rPr lang="en-CA" dirty="0"/>
              <a:t> </a:t>
            </a:r>
            <a:r>
              <a:rPr lang="en-CA" dirty="0" err="1"/>
              <a:t>gửi</a:t>
            </a:r>
            <a:r>
              <a:rPr lang="en-CA" dirty="0"/>
              <a:t> message </a:t>
            </a:r>
            <a:r>
              <a:rPr lang="en-CA" dirty="0" err="1"/>
              <a:t>cho</a:t>
            </a:r>
            <a:r>
              <a:rPr lang="en-CA" dirty="0"/>
              <a:t> </a:t>
            </a:r>
            <a:r>
              <a:rPr lang="en-CA" dirty="0" err="1"/>
              <a:t>nhau</a:t>
            </a:r>
            <a:r>
              <a:rPr lang="en-CA" dirty="0"/>
              <a:t>.</a:t>
            </a:r>
          </a:p>
          <a:p>
            <a:pPr marL="457200" lvl="0" indent="-342900" algn="l" rtl="0">
              <a:spcBef>
                <a:spcPts val="0"/>
              </a:spcBef>
              <a:spcAft>
                <a:spcPts val="0"/>
              </a:spcAft>
              <a:buSzPts val="1800"/>
              <a:buChar char="-"/>
            </a:pPr>
            <a:endParaRPr dirty="0"/>
          </a:p>
          <a:p>
            <a:pPr marL="457200" lvl="0" indent="-342900" algn="l" rtl="0">
              <a:spcBef>
                <a:spcPts val="0"/>
              </a:spcBef>
              <a:spcAft>
                <a:spcPts val="0"/>
              </a:spcAft>
              <a:buSzPts val="1800"/>
              <a:buChar char="-"/>
            </a:pPr>
            <a:r>
              <a:rPr lang="en-CA" dirty="0"/>
              <a:t>Message </a:t>
            </a:r>
            <a:r>
              <a:rPr lang="en-CA" dirty="0" err="1"/>
              <a:t>được</a:t>
            </a:r>
            <a:r>
              <a:rPr lang="en-CA" dirty="0"/>
              <a:t> </a:t>
            </a:r>
            <a:r>
              <a:rPr lang="en-CA" dirty="0" err="1"/>
              <a:t>truyền</a:t>
            </a:r>
            <a:r>
              <a:rPr lang="en-CA" dirty="0"/>
              <a:t> </a:t>
            </a:r>
            <a:r>
              <a:rPr lang="en-CA" dirty="0" err="1"/>
              <a:t>đi</a:t>
            </a:r>
            <a:r>
              <a:rPr lang="en-CA" dirty="0"/>
              <a:t> </a:t>
            </a:r>
            <a:r>
              <a:rPr lang="en-CA" dirty="0" err="1"/>
              <a:t>thông</a:t>
            </a:r>
            <a:r>
              <a:rPr lang="en-CA" dirty="0"/>
              <a:t> qua Broker</a:t>
            </a:r>
          </a:p>
          <a:p>
            <a:pPr marL="457200" lvl="0" indent="-342900" algn="l" rtl="0">
              <a:spcBef>
                <a:spcPts val="0"/>
              </a:spcBef>
              <a:spcAft>
                <a:spcPts val="0"/>
              </a:spcAft>
              <a:buSzPts val="1800"/>
              <a:buChar char="-"/>
            </a:pPr>
            <a:endParaRPr dirty="0"/>
          </a:p>
          <a:p>
            <a:pPr marL="457200" lvl="0" indent="-342900" algn="l" rtl="0">
              <a:spcBef>
                <a:spcPts val="0"/>
              </a:spcBef>
              <a:spcAft>
                <a:spcPts val="0"/>
              </a:spcAft>
              <a:buSzPts val="1800"/>
              <a:buChar char="-"/>
            </a:pPr>
            <a:r>
              <a:rPr lang="en-CA" dirty="0"/>
              <a:t>Broker </a:t>
            </a:r>
            <a:r>
              <a:rPr lang="en-CA" dirty="0" err="1"/>
              <a:t>sẽ</a:t>
            </a:r>
            <a:r>
              <a:rPr lang="en-CA" dirty="0"/>
              <a:t> </a:t>
            </a:r>
            <a:r>
              <a:rPr lang="en-CA" dirty="0" err="1"/>
              <a:t>phân</a:t>
            </a:r>
            <a:r>
              <a:rPr lang="en-CA" dirty="0"/>
              <a:t> </a:t>
            </a:r>
            <a:r>
              <a:rPr lang="en-CA" dirty="0" err="1"/>
              <a:t>phối</a:t>
            </a:r>
            <a:r>
              <a:rPr lang="en-CA" dirty="0"/>
              <a:t> Message </a:t>
            </a:r>
            <a:r>
              <a:rPr lang="en-CA" dirty="0" err="1"/>
              <a:t>tới</a:t>
            </a:r>
            <a:r>
              <a:rPr lang="en-CA" dirty="0"/>
              <a:t> clients </a:t>
            </a:r>
            <a:r>
              <a:rPr lang="en-CA" dirty="0" err="1"/>
              <a:t>thông</a:t>
            </a:r>
            <a:r>
              <a:rPr lang="en-CA" dirty="0"/>
              <a:t> qua </a:t>
            </a:r>
            <a:r>
              <a:rPr lang="en-CA" dirty="0" err="1"/>
              <a:t>các</a:t>
            </a:r>
            <a:r>
              <a:rPr lang="en-CA" dirty="0"/>
              <a:t> topics</a:t>
            </a:r>
          </a:p>
          <a:p>
            <a:pPr marL="457200" lvl="0" indent="-342900" algn="l" rtl="0">
              <a:spcBef>
                <a:spcPts val="0"/>
              </a:spcBef>
              <a:spcAft>
                <a:spcPts val="0"/>
              </a:spcAft>
              <a:buSzPts val="1800"/>
              <a:buChar char="-"/>
            </a:pPr>
            <a:endParaRPr dirty="0"/>
          </a:p>
          <a:p>
            <a:pPr marL="457200" lvl="0" indent="-342900" algn="l" rtl="0">
              <a:spcBef>
                <a:spcPts val="0"/>
              </a:spcBef>
              <a:spcAft>
                <a:spcPts val="0"/>
              </a:spcAft>
              <a:buSzPts val="1800"/>
              <a:buChar char="-"/>
            </a:pPr>
            <a:r>
              <a:rPr lang="en-CA" dirty="0" err="1"/>
              <a:t>Giữa</a:t>
            </a:r>
            <a:r>
              <a:rPr lang="en-CA" dirty="0"/>
              <a:t> </a:t>
            </a:r>
            <a:r>
              <a:rPr lang="en-CA" dirty="0" err="1"/>
              <a:t>các</a:t>
            </a:r>
            <a:r>
              <a:rPr lang="en-CA" dirty="0"/>
              <a:t> clients </a:t>
            </a:r>
            <a:r>
              <a:rPr lang="en-CA" dirty="0" err="1"/>
              <a:t>không</a:t>
            </a:r>
            <a:r>
              <a:rPr lang="en-CA" dirty="0"/>
              <a:t> </a:t>
            </a:r>
            <a:r>
              <a:rPr lang="en-CA" dirty="0" err="1"/>
              <a:t>có</a:t>
            </a:r>
            <a:r>
              <a:rPr lang="en-CA" dirty="0"/>
              <a:t> </a:t>
            </a:r>
            <a:r>
              <a:rPr lang="en-CA" dirty="0" err="1"/>
              <a:t>kết</a:t>
            </a:r>
            <a:r>
              <a:rPr lang="en-CA" dirty="0"/>
              <a:t> </a:t>
            </a:r>
            <a:r>
              <a:rPr lang="en-CA" dirty="0" err="1"/>
              <a:t>nối</a:t>
            </a:r>
            <a:r>
              <a:rPr lang="en-CA" dirty="0"/>
              <a:t> </a:t>
            </a:r>
            <a:r>
              <a:rPr lang="en-CA" dirty="0" err="1"/>
              <a:t>trực</a:t>
            </a:r>
            <a:r>
              <a:rPr lang="en-CA" dirty="0"/>
              <a:t> </a:t>
            </a:r>
            <a:r>
              <a:rPr lang="en-CA" dirty="0" err="1"/>
              <a:t>tiếp</a:t>
            </a:r>
            <a:endParaRPr lang="en-CA" dirty="0"/>
          </a:p>
          <a:p>
            <a:pPr marL="457200" lvl="0" indent="-342900" algn="l" rtl="0">
              <a:spcBef>
                <a:spcPts val="0"/>
              </a:spcBef>
              <a:spcAft>
                <a:spcPts val="0"/>
              </a:spcAft>
              <a:buSzPts val="1800"/>
              <a:buChar char="-"/>
            </a:pPr>
            <a:endParaRPr dirty="0"/>
          </a:p>
          <a:p>
            <a:pPr marL="457200" lvl="0" indent="-342900" algn="l" rtl="0">
              <a:spcBef>
                <a:spcPts val="0"/>
              </a:spcBef>
              <a:spcAft>
                <a:spcPts val="0"/>
              </a:spcAft>
              <a:buSzPts val="1800"/>
              <a:buChar char="-"/>
            </a:pPr>
            <a:r>
              <a:rPr lang="en-CA" dirty="0"/>
              <a:t>Client </a:t>
            </a:r>
            <a:r>
              <a:rPr lang="en-CA" dirty="0" err="1"/>
              <a:t>có</a:t>
            </a:r>
            <a:r>
              <a:rPr lang="en-CA" dirty="0"/>
              <a:t> </a:t>
            </a:r>
            <a:r>
              <a:rPr lang="en-CA" dirty="0" err="1"/>
              <a:t>thể</a:t>
            </a:r>
            <a:r>
              <a:rPr lang="en-CA" dirty="0"/>
              <a:t> </a:t>
            </a:r>
            <a:r>
              <a:rPr lang="en-CA" dirty="0" err="1"/>
              <a:t>vừa</a:t>
            </a:r>
            <a:r>
              <a:rPr lang="en-CA" dirty="0"/>
              <a:t> publish </a:t>
            </a:r>
            <a:r>
              <a:rPr lang="en-CA" dirty="0" err="1"/>
              <a:t>vừa</a:t>
            </a:r>
            <a:r>
              <a:rPr lang="en-CA" dirty="0"/>
              <a:t> subscribe</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54" name="Google Shape;354;p48"/>
          <p:cNvSpPr txBox="1">
            <a:spLocks noGrp="1"/>
          </p:cNvSpPr>
          <p:nvPr>
            <p:ph type="body" idx="1"/>
          </p:nvPr>
        </p:nvSpPr>
        <p:spPr>
          <a:xfrm>
            <a:off x="311700" y="1152475"/>
            <a:ext cx="49173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CA" dirty="0"/>
              <a:t>Client </a:t>
            </a:r>
            <a:r>
              <a:rPr lang="en-CA" dirty="0" err="1"/>
              <a:t>và</a:t>
            </a:r>
            <a:r>
              <a:rPr lang="en-CA" dirty="0"/>
              <a:t> </a:t>
            </a:r>
            <a:r>
              <a:rPr lang="en-CA" dirty="0" err="1"/>
              <a:t>Boker</a:t>
            </a:r>
            <a:r>
              <a:rPr lang="en-CA" dirty="0"/>
              <a:t> </a:t>
            </a:r>
            <a:r>
              <a:rPr lang="en-CA" dirty="0" err="1"/>
              <a:t>kết</a:t>
            </a:r>
            <a:r>
              <a:rPr lang="en-CA" dirty="0"/>
              <a:t> </a:t>
            </a:r>
            <a:r>
              <a:rPr lang="en-CA" dirty="0" err="1"/>
              <a:t>nối</a:t>
            </a:r>
            <a:r>
              <a:rPr lang="en-CA" dirty="0"/>
              <a:t> </a:t>
            </a:r>
            <a:r>
              <a:rPr lang="en-CA" dirty="0" err="1"/>
              <a:t>với</a:t>
            </a:r>
            <a:r>
              <a:rPr lang="en-CA" dirty="0"/>
              <a:t> </a:t>
            </a:r>
            <a:r>
              <a:rPr lang="en-CA" dirty="0" err="1"/>
              <a:t>nhau</a:t>
            </a:r>
            <a:r>
              <a:rPr lang="en-CA" dirty="0"/>
              <a:t> </a:t>
            </a:r>
            <a:r>
              <a:rPr lang="en-CA" dirty="0" err="1"/>
              <a:t>thông</a:t>
            </a:r>
            <a:r>
              <a:rPr lang="en-CA" dirty="0"/>
              <a:t> qua TCP/IP</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a:t>Client </a:t>
            </a:r>
            <a:r>
              <a:rPr lang="en-CA" dirty="0" err="1"/>
              <a:t>duy</a:t>
            </a:r>
            <a:r>
              <a:rPr lang="en-CA" dirty="0"/>
              <a:t> </a:t>
            </a:r>
            <a:r>
              <a:rPr lang="en-CA" dirty="0" err="1"/>
              <a:t>trì</a:t>
            </a:r>
            <a:r>
              <a:rPr lang="en-CA" dirty="0"/>
              <a:t> </a:t>
            </a:r>
            <a:r>
              <a:rPr lang="en-CA" dirty="0" err="1"/>
              <a:t>kết</a:t>
            </a:r>
            <a:r>
              <a:rPr lang="en-CA" dirty="0"/>
              <a:t> </a:t>
            </a:r>
            <a:r>
              <a:rPr lang="en-CA" dirty="0" err="1"/>
              <a:t>nối</a:t>
            </a:r>
            <a:r>
              <a:rPr lang="en-CA" dirty="0"/>
              <a:t> </a:t>
            </a:r>
            <a:r>
              <a:rPr lang="en-CA" dirty="0" err="1"/>
              <a:t>với</a:t>
            </a:r>
            <a:r>
              <a:rPr lang="en-CA" dirty="0"/>
              <a:t> broker </a:t>
            </a:r>
            <a:r>
              <a:rPr lang="en-CA" dirty="0" err="1"/>
              <a:t>kể</a:t>
            </a:r>
            <a:r>
              <a:rPr lang="en-CA" dirty="0"/>
              <a:t> </a:t>
            </a:r>
            <a:r>
              <a:rPr lang="en-CA" dirty="0" err="1"/>
              <a:t>cả</a:t>
            </a:r>
            <a:r>
              <a:rPr lang="en-CA" dirty="0"/>
              <a:t> </a:t>
            </a:r>
            <a:r>
              <a:rPr lang="en-CA" dirty="0" err="1"/>
              <a:t>khi</a:t>
            </a:r>
            <a:r>
              <a:rPr lang="en-CA" dirty="0"/>
              <a:t> </a:t>
            </a:r>
            <a:r>
              <a:rPr lang="en-CA" dirty="0" err="1"/>
              <a:t>không</a:t>
            </a:r>
            <a:r>
              <a:rPr lang="en-CA" dirty="0"/>
              <a:t> </a:t>
            </a:r>
            <a:r>
              <a:rPr lang="en-CA" dirty="0" err="1"/>
              <a:t>truyền</a:t>
            </a:r>
            <a:r>
              <a:rPr lang="en-CA" dirty="0"/>
              <a:t>/</a:t>
            </a:r>
            <a:r>
              <a:rPr lang="en-CA" dirty="0" err="1"/>
              <a:t>nhận</a:t>
            </a:r>
            <a:r>
              <a:rPr lang="en-CA" dirty="0"/>
              <a:t> </a:t>
            </a:r>
            <a:r>
              <a:rPr lang="en-CA" dirty="0" err="1"/>
              <a:t>dữ</a:t>
            </a:r>
            <a:r>
              <a:rPr lang="en-CA" dirty="0"/>
              <a:t> </a:t>
            </a:r>
            <a:r>
              <a:rPr lang="en-CA" dirty="0" err="1"/>
              <a:t>liệu</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err="1"/>
              <a:t>KeepAlive</a:t>
            </a:r>
            <a:r>
              <a:rPr lang="en-CA" dirty="0"/>
              <a:t> message </a:t>
            </a:r>
            <a:r>
              <a:rPr lang="en-CA" dirty="0" err="1"/>
              <a:t>sẽ</a:t>
            </a:r>
            <a:r>
              <a:rPr lang="en-CA" dirty="0"/>
              <a:t> </a:t>
            </a:r>
            <a:r>
              <a:rPr lang="en-CA" dirty="0" err="1"/>
              <a:t>được</a:t>
            </a:r>
            <a:r>
              <a:rPr lang="en-CA" dirty="0"/>
              <a:t> Client </a:t>
            </a:r>
            <a:r>
              <a:rPr lang="en-CA" dirty="0" err="1"/>
              <a:t>thường</a:t>
            </a:r>
            <a:r>
              <a:rPr lang="en-CA" dirty="0"/>
              <a:t> </a:t>
            </a:r>
            <a:r>
              <a:rPr lang="en-CA" dirty="0" err="1"/>
              <a:t>xuyên</a:t>
            </a:r>
            <a:r>
              <a:rPr lang="en-CA" dirty="0"/>
              <a:t> </a:t>
            </a:r>
            <a:r>
              <a:rPr lang="en-CA" dirty="0" err="1"/>
              <a:t>gửi</a:t>
            </a:r>
            <a:r>
              <a:rPr lang="en-CA" dirty="0"/>
              <a:t> </a:t>
            </a:r>
            <a:r>
              <a:rPr lang="en-CA" dirty="0" err="1"/>
              <a:t>đi</a:t>
            </a:r>
            <a:r>
              <a:rPr lang="en-CA" dirty="0"/>
              <a:t> </a:t>
            </a:r>
            <a:r>
              <a:rPr lang="en-CA" dirty="0" err="1"/>
              <a:t>để</a:t>
            </a:r>
            <a:r>
              <a:rPr lang="en-CA" dirty="0"/>
              <a:t> </a:t>
            </a:r>
            <a:r>
              <a:rPr lang="en-CA" dirty="0" err="1"/>
              <a:t>báo</a:t>
            </a:r>
            <a:r>
              <a:rPr lang="en-CA" dirty="0"/>
              <a:t> </a:t>
            </a:r>
            <a:r>
              <a:rPr lang="en-CA" dirty="0" err="1"/>
              <a:t>hiệu</a:t>
            </a:r>
            <a:r>
              <a:rPr lang="en-CA" dirty="0"/>
              <a:t> </a:t>
            </a:r>
            <a:r>
              <a:rPr lang="en-CA" dirty="0" err="1"/>
              <a:t>cho</a:t>
            </a:r>
            <a:r>
              <a:rPr lang="en-CA" dirty="0"/>
              <a:t> Broker </a:t>
            </a:r>
            <a:r>
              <a:rPr lang="en-CA" dirty="0" err="1"/>
              <a:t>kết</a:t>
            </a:r>
            <a:r>
              <a:rPr lang="en-CA" dirty="0"/>
              <a:t> </a:t>
            </a:r>
            <a:r>
              <a:rPr lang="en-CA" dirty="0" err="1"/>
              <a:t>nối</a:t>
            </a:r>
            <a:r>
              <a:rPr lang="en-CA" dirty="0"/>
              <a:t> </a:t>
            </a:r>
            <a:r>
              <a:rPr lang="en-CA" dirty="0" err="1"/>
              <a:t>được</a:t>
            </a:r>
            <a:r>
              <a:rPr lang="en-CA" dirty="0"/>
              <a:t> </a:t>
            </a:r>
            <a:r>
              <a:rPr lang="en-CA" dirty="0" err="1"/>
              <a:t>duy</a:t>
            </a:r>
            <a:r>
              <a:rPr lang="en-CA" dirty="0"/>
              <a:t> </a:t>
            </a:r>
            <a:r>
              <a:rPr lang="en-CA" dirty="0" err="1"/>
              <a:t>trì</a:t>
            </a:r>
            <a:r>
              <a:rPr lang="en-CA" dirty="0"/>
              <a:t>.</a:t>
            </a:r>
            <a:endParaRPr dirty="0"/>
          </a:p>
        </p:txBody>
      </p:sp>
      <p:pic>
        <p:nvPicPr>
          <p:cNvPr id="355" name="Google Shape;355;p48"/>
          <p:cNvPicPr preferRelativeResize="0"/>
          <p:nvPr/>
        </p:nvPicPr>
        <p:blipFill>
          <a:blip r:embed="rId3">
            <a:alphaModFix/>
          </a:blip>
          <a:stretch>
            <a:fillRect/>
          </a:stretch>
        </p:blipFill>
        <p:spPr>
          <a:xfrm>
            <a:off x="5492002" y="1263075"/>
            <a:ext cx="3340300" cy="3676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61" name="Google Shape;361;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dirty="0" err="1"/>
              <a:t>Mỗi</a:t>
            </a:r>
            <a:r>
              <a:rPr lang="en-CA" dirty="0"/>
              <a:t> client </a:t>
            </a:r>
            <a:r>
              <a:rPr lang="en-CA" dirty="0" err="1"/>
              <a:t>sẽ</a:t>
            </a:r>
            <a:r>
              <a:rPr lang="en-CA" dirty="0"/>
              <a:t> </a:t>
            </a:r>
            <a:r>
              <a:rPr lang="en-CA" dirty="0" err="1"/>
              <a:t>có</a:t>
            </a:r>
            <a:r>
              <a:rPr lang="en-CA" dirty="0"/>
              <a:t> </a:t>
            </a:r>
            <a:r>
              <a:rPr lang="en-CA" dirty="0" err="1"/>
              <a:t>tên</a:t>
            </a:r>
            <a:r>
              <a:rPr lang="en-CA" dirty="0"/>
              <a:t> </a:t>
            </a:r>
            <a:r>
              <a:rPr lang="en-CA" dirty="0" err="1"/>
              <a:t>hoặc</a:t>
            </a:r>
            <a:r>
              <a:rPr lang="en-CA" dirty="0"/>
              <a:t> ID </a:t>
            </a:r>
            <a:r>
              <a:rPr lang="en-CA" dirty="0" err="1"/>
              <a:t>duy</a:t>
            </a:r>
            <a:r>
              <a:rPr lang="en-CA" dirty="0"/>
              <a:t> </a:t>
            </a:r>
            <a:r>
              <a:rPr lang="en-CA" dirty="0" err="1"/>
              <a:t>nhất</a:t>
            </a:r>
            <a:r>
              <a:rPr lang="en-CA" dirty="0"/>
              <a:t> </a:t>
            </a:r>
            <a:r>
              <a:rPr lang="en-CA" dirty="0" err="1"/>
              <a:t>không</a:t>
            </a:r>
            <a:r>
              <a:rPr lang="en-CA" dirty="0"/>
              <a:t> </a:t>
            </a:r>
            <a:r>
              <a:rPr lang="en-CA" dirty="0" err="1"/>
              <a:t>trùng</a:t>
            </a:r>
            <a:r>
              <a:rPr lang="en-CA" dirty="0"/>
              <a:t> </a:t>
            </a:r>
            <a:r>
              <a:rPr lang="en-CA" dirty="0" err="1"/>
              <a:t>lặp</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a:t>Broker </a:t>
            </a:r>
            <a:r>
              <a:rPr lang="en-CA" dirty="0" err="1"/>
              <a:t>sử</a:t>
            </a:r>
            <a:r>
              <a:rPr lang="en-CA" dirty="0"/>
              <a:t> </a:t>
            </a:r>
            <a:r>
              <a:rPr lang="en-CA" dirty="0" err="1"/>
              <a:t>dụng</a:t>
            </a:r>
            <a:r>
              <a:rPr lang="en-CA" dirty="0"/>
              <a:t> client Name/Id </a:t>
            </a:r>
            <a:r>
              <a:rPr lang="en-CA" dirty="0" err="1"/>
              <a:t>để</a:t>
            </a:r>
            <a:r>
              <a:rPr lang="en-CA" dirty="0"/>
              <a:t> </a:t>
            </a:r>
            <a:r>
              <a:rPr lang="en-CA" dirty="0" err="1"/>
              <a:t>quản</a:t>
            </a:r>
            <a:r>
              <a:rPr lang="en-CA" dirty="0"/>
              <a:t> </a:t>
            </a:r>
            <a:r>
              <a:rPr lang="en-CA" dirty="0" err="1"/>
              <a:t>lý</a:t>
            </a:r>
            <a:r>
              <a:rPr lang="en-CA" dirty="0"/>
              <a:t> subscribers </a:t>
            </a:r>
            <a:r>
              <a:rPr lang="en-CA" dirty="0" err="1"/>
              <a:t>và</a:t>
            </a:r>
            <a:r>
              <a:rPr lang="en-CA" dirty="0"/>
              <a:t> publishers.</a:t>
            </a:r>
            <a:endParaRPr dirty="0"/>
          </a:p>
          <a:p>
            <a:pPr marL="45720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CA" dirty="0"/>
              <a:t>Khi Clients </a:t>
            </a:r>
            <a:r>
              <a:rPr lang="en-CA" dirty="0" err="1"/>
              <a:t>có</a:t>
            </a:r>
            <a:r>
              <a:rPr lang="en-CA" dirty="0"/>
              <a:t> Name/ID </a:t>
            </a:r>
            <a:r>
              <a:rPr lang="en-CA" dirty="0" err="1"/>
              <a:t>trùng</a:t>
            </a:r>
            <a:r>
              <a:rPr lang="en-CA" dirty="0"/>
              <a:t>, </a:t>
            </a:r>
            <a:r>
              <a:rPr lang="en-CA" dirty="0" err="1"/>
              <a:t>liên</a:t>
            </a:r>
            <a:r>
              <a:rPr lang="en-CA" dirty="0"/>
              <a:t> </a:t>
            </a:r>
            <a:r>
              <a:rPr lang="en-CA" dirty="0" err="1"/>
              <a:t>kết</a:t>
            </a:r>
            <a:r>
              <a:rPr lang="en-CA" dirty="0"/>
              <a:t> </a:t>
            </a:r>
            <a:r>
              <a:rPr lang="en-CA" dirty="0" err="1"/>
              <a:t>trước</a:t>
            </a:r>
            <a:r>
              <a:rPr lang="en-CA" dirty="0"/>
              <a:t> </a:t>
            </a:r>
            <a:r>
              <a:rPr lang="en-CA" dirty="0" err="1"/>
              <a:t>sẽ</a:t>
            </a:r>
            <a:r>
              <a:rPr lang="en-CA" dirty="0"/>
              <a:t> </a:t>
            </a:r>
            <a:r>
              <a:rPr lang="en-CA" dirty="0" err="1"/>
              <a:t>bị</a:t>
            </a:r>
            <a:r>
              <a:rPr lang="en-CA" dirty="0"/>
              <a:t> </a:t>
            </a:r>
            <a:r>
              <a:rPr lang="en-CA" dirty="0" err="1"/>
              <a:t>ngắt</a:t>
            </a:r>
            <a:endParaRPr dirty="0"/>
          </a:p>
          <a:p>
            <a:pPr marL="0" lvl="0" indent="0" algn="l" rtl="0">
              <a:spcBef>
                <a:spcPts val="1200"/>
              </a:spcBef>
              <a:spcAft>
                <a:spcPts val="1200"/>
              </a:spcAft>
              <a:buNone/>
            </a:pP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dirty="0"/>
              <a:t>5.3 MQTT</a:t>
            </a:r>
            <a:endParaRPr dirty="0"/>
          </a:p>
          <a:p>
            <a:pPr marL="0" lvl="0" indent="0" algn="l" rtl="0">
              <a:spcBef>
                <a:spcPts val="0"/>
              </a:spcBef>
              <a:spcAft>
                <a:spcPts val="0"/>
              </a:spcAft>
              <a:buNone/>
            </a:pPr>
            <a:endParaRPr dirty="0"/>
          </a:p>
        </p:txBody>
      </p:sp>
      <p:sp>
        <p:nvSpPr>
          <p:cNvPr id="367" name="Google Shape;367;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sz="2300" b="1" dirty="0">
                <a:solidFill>
                  <a:schemeClr val="dk2"/>
                </a:solidFill>
              </a:rPr>
              <a:t>QoS:</a:t>
            </a:r>
            <a:endParaRPr sz="2300" b="1" dirty="0">
              <a:solidFill>
                <a:schemeClr val="dk2"/>
              </a:solidFill>
            </a:endParaRPr>
          </a:p>
          <a:p>
            <a:pPr marL="457200" lvl="0" indent="-342900" algn="l" rtl="0">
              <a:spcBef>
                <a:spcPts val="1200"/>
              </a:spcBef>
              <a:spcAft>
                <a:spcPts val="0"/>
              </a:spcAft>
              <a:buSzPts val="1800"/>
              <a:buChar char="-"/>
            </a:pPr>
            <a:r>
              <a:rPr lang="en-CA" dirty="0" err="1"/>
              <a:t>Có</a:t>
            </a:r>
            <a:r>
              <a:rPr lang="en-CA" dirty="0"/>
              <a:t> 3 </a:t>
            </a:r>
            <a:r>
              <a:rPr lang="en-CA" dirty="0" err="1"/>
              <a:t>mức</a:t>
            </a:r>
            <a:r>
              <a:rPr lang="en-CA" dirty="0"/>
              <a:t>:</a:t>
            </a:r>
            <a:endParaRPr dirty="0"/>
          </a:p>
          <a:p>
            <a:pPr marL="914400" lvl="1" indent="-317500" algn="l" rtl="0">
              <a:spcBef>
                <a:spcPts val="0"/>
              </a:spcBef>
              <a:spcAft>
                <a:spcPts val="0"/>
              </a:spcAft>
              <a:buSzPts val="1400"/>
              <a:buChar char="-"/>
            </a:pPr>
            <a:r>
              <a:rPr lang="en-CA" dirty="0"/>
              <a:t>QoS0: broker/client </a:t>
            </a:r>
            <a:r>
              <a:rPr lang="en-CA" dirty="0" err="1"/>
              <a:t>sẽ</a:t>
            </a:r>
            <a:r>
              <a:rPr lang="en-CA" dirty="0"/>
              <a:t> </a:t>
            </a:r>
            <a:r>
              <a:rPr lang="en-CA" dirty="0" err="1"/>
              <a:t>gửi</a:t>
            </a:r>
            <a:r>
              <a:rPr lang="en-CA" dirty="0"/>
              <a:t> </a:t>
            </a:r>
            <a:r>
              <a:rPr lang="en-CA" dirty="0" err="1"/>
              <a:t>dữ</a:t>
            </a:r>
            <a:r>
              <a:rPr lang="en-CA" dirty="0"/>
              <a:t> </a:t>
            </a:r>
            <a:r>
              <a:rPr lang="en-CA" dirty="0" err="1"/>
              <a:t>liệu</a:t>
            </a:r>
            <a:r>
              <a:rPr lang="en-CA" dirty="0"/>
              <a:t> 1 </a:t>
            </a:r>
            <a:r>
              <a:rPr lang="en-CA" dirty="0" err="1"/>
              <a:t>lần</a:t>
            </a:r>
            <a:r>
              <a:rPr lang="en-CA" dirty="0"/>
              <a:t>. </a:t>
            </a:r>
            <a:r>
              <a:rPr lang="en-CA" dirty="0" err="1"/>
              <a:t>Không</a:t>
            </a:r>
            <a:r>
              <a:rPr lang="en-CA" dirty="0"/>
              <a:t> </a:t>
            </a:r>
            <a:r>
              <a:rPr lang="en-CA" dirty="0" err="1"/>
              <a:t>cần</a:t>
            </a:r>
            <a:r>
              <a:rPr lang="en-CA" dirty="0"/>
              <a:t> </a:t>
            </a:r>
            <a:r>
              <a:rPr lang="en-CA" dirty="0" err="1"/>
              <a:t>xác</a:t>
            </a:r>
            <a:r>
              <a:rPr lang="en-CA" dirty="0"/>
              <a:t> </a:t>
            </a:r>
            <a:r>
              <a:rPr lang="en-CA" dirty="0" err="1"/>
              <a:t>nhận</a:t>
            </a:r>
            <a:r>
              <a:rPr lang="en-CA" dirty="0"/>
              <a:t>.</a:t>
            </a:r>
            <a:endParaRPr dirty="0"/>
          </a:p>
          <a:p>
            <a:pPr marL="914400" lvl="1" indent="-317500" algn="l" rtl="0">
              <a:spcBef>
                <a:spcPts val="0"/>
              </a:spcBef>
              <a:spcAft>
                <a:spcPts val="0"/>
              </a:spcAft>
              <a:buSzPts val="1400"/>
              <a:buChar char="-"/>
            </a:pPr>
            <a:r>
              <a:rPr lang="en-CA" dirty="0"/>
              <a:t>QoS1: broker/client </a:t>
            </a:r>
            <a:r>
              <a:rPr lang="en-CA" dirty="0" err="1"/>
              <a:t>sẽ</a:t>
            </a:r>
            <a:r>
              <a:rPr lang="en-CA" dirty="0"/>
              <a:t> </a:t>
            </a:r>
            <a:r>
              <a:rPr lang="en-CA" dirty="0" err="1"/>
              <a:t>gửi</a:t>
            </a:r>
            <a:r>
              <a:rPr lang="en-CA" dirty="0"/>
              <a:t> </a:t>
            </a:r>
            <a:r>
              <a:rPr lang="en-CA" dirty="0" err="1"/>
              <a:t>dữ</a:t>
            </a:r>
            <a:r>
              <a:rPr lang="en-CA" dirty="0"/>
              <a:t> </a:t>
            </a:r>
            <a:r>
              <a:rPr lang="en-CA" dirty="0" err="1"/>
              <a:t>liệu</a:t>
            </a:r>
            <a:r>
              <a:rPr lang="en-CA" dirty="0"/>
              <a:t> </a:t>
            </a:r>
            <a:r>
              <a:rPr lang="en-CA" dirty="0" err="1"/>
              <a:t>với</a:t>
            </a:r>
            <a:r>
              <a:rPr lang="en-CA" dirty="0"/>
              <a:t> </a:t>
            </a:r>
            <a:r>
              <a:rPr lang="en-CA" dirty="0" err="1"/>
              <a:t>ít</a:t>
            </a:r>
            <a:r>
              <a:rPr lang="en-CA" dirty="0"/>
              <a:t> </a:t>
            </a:r>
            <a:r>
              <a:rPr lang="en-CA" dirty="0" err="1"/>
              <a:t>nhất</a:t>
            </a:r>
            <a:r>
              <a:rPr lang="en-CA" dirty="0"/>
              <a:t> 1 </a:t>
            </a:r>
            <a:r>
              <a:rPr lang="en-CA" dirty="0" err="1"/>
              <a:t>lần</a:t>
            </a:r>
            <a:r>
              <a:rPr lang="en-CA" dirty="0"/>
              <a:t> </a:t>
            </a:r>
            <a:r>
              <a:rPr lang="en-CA" dirty="0" err="1"/>
              <a:t>xác</a:t>
            </a:r>
            <a:r>
              <a:rPr lang="en-CA" dirty="0"/>
              <a:t> </a:t>
            </a:r>
            <a:r>
              <a:rPr lang="en-CA" dirty="0" err="1"/>
              <a:t>nhận</a:t>
            </a:r>
            <a:r>
              <a:rPr lang="en-CA" dirty="0"/>
              <a:t>.</a:t>
            </a:r>
            <a:endParaRPr dirty="0"/>
          </a:p>
          <a:p>
            <a:pPr marL="914400" lvl="1" indent="-317500" algn="l" rtl="0">
              <a:spcBef>
                <a:spcPts val="0"/>
              </a:spcBef>
              <a:spcAft>
                <a:spcPts val="0"/>
              </a:spcAft>
              <a:buSzPts val="1400"/>
              <a:buChar char="-"/>
            </a:pPr>
            <a:r>
              <a:rPr lang="en-CA" dirty="0"/>
              <a:t>QoS2: broker/client </a:t>
            </a:r>
            <a:r>
              <a:rPr lang="en-CA" dirty="0" err="1"/>
              <a:t>đảm</a:t>
            </a:r>
            <a:r>
              <a:rPr lang="en-CA" dirty="0"/>
              <a:t> </a:t>
            </a:r>
            <a:r>
              <a:rPr lang="en-CA" dirty="0" err="1"/>
              <a:t>bảo</a:t>
            </a:r>
            <a:r>
              <a:rPr lang="en-CA" dirty="0"/>
              <a:t> </a:t>
            </a:r>
            <a:r>
              <a:rPr lang="en-CA" dirty="0" err="1"/>
              <a:t>khi</a:t>
            </a:r>
            <a:r>
              <a:rPr lang="en-CA" dirty="0"/>
              <a:t> </a:t>
            </a:r>
            <a:r>
              <a:rPr lang="en-CA" dirty="0" err="1"/>
              <a:t>dữ</a:t>
            </a:r>
            <a:r>
              <a:rPr lang="en-CA" dirty="0"/>
              <a:t> </a:t>
            </a:r>
            <a:r>
              <a:rPr lang="en-CA" dirty="0" err="1"/>
              <a:t>liệu</a:t>
            </a:r>
            <a:r>
              <a:rPr lang="en-CA" dirty="0"/>
              <a:t> </a:t>
            </a:r>
            <a:r>
              <a:rPr lang="en-CA" dirty="0" err="1"/>
              <a:t>được</a:t>
            </a:r>
            <a:r>
              <a:rPr lang="en-CA" dirty="0"/>
              <a:t> </a:t>
            </a:r>
            <a:r>
              <a:rPr lang="en-CA" dirty="0" err="1"/>
              <a:t>gửi</a:t>
            </a:r>
            <a:r>
              <a:rPr lang="en-CA" dirty="0"/>
              <a:t> </a:t>
            </a:r>
            <a:r>
              <a:rPr lang="en-CA" dirty="0" err="1"/>
              <a:t>phía</a:t>
            </a:r>
            <a:r>
              <a:rPr lang="en-CA" dirty="0"/>
              <a:t> </a:t>
            </a:r>
            <a:r>
              <a:rPr lang="en-CA" dirty="0" err="1"/>
              <a:t>nhận</a:t>
            </a:r>
            <a:r>
              <a:rPr lang="en-CA" dirty="0"/>
              <a:t> </a:t>
            </a:r>
            <a:r>
              <a:rPr lang="en-CA" dirty="0" err="1"/>
              <a:t>chỉ</a:t>
            </a:r>
            <a:r>
              <a:rPr lang="en-CA" dirty="0"/>
              <a:t> </a:t>
            </a:r>
            <a:r>
              <a:rPr lang="en-CA" dirty="0" err="1"/>
              <a:t>nhận</a:t>
            </a:r>
            <a:r>
              <a:rPr lang="en-CA" dirty="0"/>
              <a:t> </a:t>
            </a:r>
            <a:r>
              <a:rPr lang="en-CA" dirty="0" err="1"/>
              <a:t>được</a:t>
            </a:r>
            <a:r>
              <a:rPr lang="en-CA" dirty="0"/>
              <a:t> </a:t>
            </a:r>
            <a:r>
              <a:rPr lang="en-CA" dirty="0" err="1"/>
              <a:t>đúng</a:t>
            </a:r>
            <a:r>
              <a:rPr lang="en-CA" dirty="0"/>
              <a:t> 1 </a:t>
            </a:r>
            <a:r>
              <a:rPr lang="en-CA" dirty="0" err="1"/>
              <a:t>lần</a:t>
            </a:r>
            <a:r>
              <a:rPr lang="en-CA" dirty="0"/>
              <a:t>. </a:t>
            </a:r>
            <a:r>
              <a:rPr lang="en-CA" dirty="0" err="1"/>
              <a:t>Quá</a:t>
            </a:r>
            <a:r>
              <a:rPr lang="en-CA" dirty="0"/>
              <a:t> </a:t>
            </a:r>
            <a:r>
              <a:rPr lang="en-CA" dirty="0" err="1"/>
              <a:t>trình</a:t>
            </a:r>
            <a:r>
              <a:rPr lang="en-CA" dirty="0"/>
              <a:t> </a:t>
            </a:r>
            <a:r>
              <a:rPr lang="en-CA" dirty="0" err="1"/>
              <a:t>này</a:t>
            </a:r>
            <a:r>
              <a:rPr lang="en-CA" dirty="0"/>
              <a:t> </a:t>
            </a:r>
            <a:r>
              <a:rPr lang="en-CA" dirty="0" err="1"/>
              <a:t>yêu</a:t>
            </a:r>
            <a:r>
              <a:rPr lang="en-CA" dirty="0"/>
              <a:t> </a:t>
            </a:r>
            <a:r>
              <a:rPr lang="en-CA" dirty="0" err="1"/>
              <a:t>cầu</a:t>
            </a:r>
            <a:r>
              <a:rPr lang="en-CA" dirty="0"/>
              <a:t> </a:t>
            </a:r>
            <a:r>
              <a:rPr lang="en-CA" dirty="0" err="1"/>
              <a:t>phải</a:t>
            </a:r>
            <a:r>
              <a:rPr lang="en-CA" dirty="0"/>
              <a:t> </a:t>
            </a:r>
            <a:r>
              <a:rPr lang="en-CA" dirty="0" err="1"/>
              <a:t>trải</a:t>
            </a:r>
            <a:r>
              <a:rPr lang="en-CA" dirty="0"/>
              <a:t> qua 4 </a:t>
            </a:r>
            <a:r>
              <a:rPr lang="en-CA" dirty="0" err="1"/>
              <a:t>bước</a:t>
            </a:r>
            <a:r>
              <a:rPr lang="en-CA" dirty="0"/>
              <a:t> </a:t>
            </a:r>
            <a:r>
              <a:rPr lang="en-CA" dirty="0" err="1"/>
              <a:t>bắt</a:t>
            </a:r>
            <a:r>
              <a:rPr lang="en-CA" dirty="0"/>
              <a:t> </a:t>
            </a:r>
            <a:r>
              <a:rPr lang="en-CA" dirty="0" err="1"/>
              <a:t>tay</a:t>
            </a:r>
            <a:r>
              <a:rPr lang="en-CA" dirty="0"/>
              <a:t>.</a:t>
            </a:r>
            <a:endParaRPr dirty="0"/>
          </a:p>
          <a:p>
            <a:pPr marL="914400" lvl="1" indent="-317500" algn="l" rtl="0">
              <a:spcBef>
                <a:spcPts val="0"/>
              </a:spcBef>
              <a:spcAft>
                <a:spcPts val="0"/>
              </a:spcAft>
              <a:buSzPts val="1400"/>
              <a:buChar char="-"/>
            </a:pPr>
            <a:r>
              <a:rPr lang="en-CA" dirty="0" err="1"/>
              <a:t>Một</a:t>
            </a:r>
            <a:r>
              <a:rPr lang="en-CA" dirty="0"/>
              <a:t> </a:t>
            </a:r>
            <a:r>
              <a:rPr lang="en-CA" dirty="0" err="1"/>
              <a:t>gói</a:t>
            </a:r>
            <a:r>
              <a:rPr lang="en-CA" dirty="0"/>
              <a:t> tin </a:t>
            </a:r>
            <a:r>
              <a:rPr lang="en-CA" dirty="0" err="1"/>
              <a:t>có</a:t>
            </a:r>
            <a:r>
              <a:rPr lang="en-CA" dirty="0"/>
              <a:t> </a:t>
            </a:r>
            <a:r>
              <a:rPr lang="en-CA" dirty="0" err="1"/>
              <a:t>thể</a:t>
            </a:r>
            <a:r>
              <a:rPr lang="en-CA" dirty="0"/>
              <a:t> </a:t>
            </a:r>
            <a:r>
              <a:rPr lang="en-CA" dirty="0" err="1"/>
              <a:t>được</a:t>
            </a:r>
            <a:r>
              <a:rPr lang="en-CA" dirty="0"/>
              <a:t> </a:t>
            </a:r>
            <a:r>
              <a:rPr lang="en-CA" dirty="0" err="1"/>
              <a:t>gửi</a:t>
            </a:r>
            <a:r>
              <a:rPr lang="en-CA" dirty="0"/>
              <a:t> ở </a:t>
            </a:r>
            <a:r>
              <a:rPr lang="en-CA" dirty="0" err="1"/>
              <a:t>bất</a:t>
            </a:r>
            <a:r>
              <a:rPr lang="en-CA" dirty="0"/>
              <a:t> </a:t>
            </a:r>
            <a:r>
              <a:rPr lang="en-CA" dirty="0" err="1"/>
              <a:t>kỳ</a:t>
            </a:r>
            <a:r>
              <a:rPr lang="en-CA" dirty="0"/>
              <a:t> </a:t>
            </a:r>
            <a:r>
              <a:rPr lang="en-CA" dirty="0" err="1"/>
              <a:t>mức</a:t>
            </a:r>
            <a:r>
              <a:rPr lang="en-CA" dirty="0"/>
              <a:t> QoS </a:t>
            </a:r>
            <a:r>
              <a:rPr lang="en-CA" dirty="0" err="1"/>
              <a:t>nào</a:t>
            </a:r>
            <a:r>
              <a:rPr lang="en-CA" dirty="0"/>
              <a:t>, </a:t>
            </a:r>
            <a:r>
              <a:rPr lang="en-CA" dirty="0" err="1"/>
              <a:t>và</a:t>
            </a:r>
            <a:r>
              <a:rPr lang="en-CA" dirty="0"/>
              <a:t> client </a:t>
            </a:r>
            <a:r>
              <a:rPr lang="en-CA" dirty="0" err="1"/>
              <a:t>cũng</a:t>
            </a:r>
            <a:r>
              <a:rPr lang="en-CA" dirty="0"/>
              <a:t> </a:t>
            </a:r>
            <a:r>
              <a:rPr lang="en-CA" dirty="0" err="1"/>
              <a:t>có</a:t>
            </a:r>
            <a:r>
              <a:rPr lang="en-CA" dirty="0"/>
              <a:t> </a:t>
            </a:r>
            <a:r>
              <a:rPr lang="en-CA" dirty="0" err="1"/>
              <a:t>thể</a:t>
            </a:r>
            <a:r>
              <a:rPr lang="en-CA" dirty="0"/>
              <a:t> subscribe ở </a:t>
            </a:r>
            <a:r>
              <a:rPr lang="en-CA" dirty="0" err="1"/>
              <a:t>bất</a:t>
            </a:r>
            <a:r>
              <a:rPr lang="en-CA" dirty="0"/>
              <a:t> </a:t>
            </a:r>
            <a:r>
              <a:rPr lang="en-CA" dirty="0" err="1"/>
              <a:t>kỳ</a:t>
            </a:r>
            <a:r>
              <a:rPr lang="en-CA" dirty="0"/>
              <a:t> QoS </a:t>
            </a:r>
            <a:r>
              <a:rPr lang="en-CA" dirty="0" err="1"/>
              <a:t>nào</a:t>
            </a:r>
            <a:endParaRPr dirty="0"/>
          </a:p>
          <a:p>
            <a:pPr marL="0" lvl="0" indent="0" algn="l" rtl="0">
              <a:spcBef>
                <a:spcPts val="1200"/>
              </a:spcBef>
              <a:spcAft>
                <a:spcPts val="0"/>
              </a:spcAft>
              <a:buNone/>
            </a:pPr>
            <a:r>
              <a:rPr lang="en-CA" sz="2300" b="1" dirty="0">
                <a:solidFill>
                  <a:schemeClr val="dk2"/>
                </a:solidFill>
              </a:rPr>
              <a:t>Last Will Message:</a:t>
            </a:r>
            <a:endParaRPr sz="2300" b="1" dirty="0">
              <a:solidFill>
                <a:schemeClr val="dk2"/>
              </a:solidFill>
            </a:endParaRPr>
          </a:p>
          <a:p>
            <a:pPr marL="457200" lvl="0" indent="-342900" algn="l" rtl="0">
              <a:spcBef>
                <a:spcPts val="1200"/>
              </a:spcBef>
              <a:spcAft>
                <a:spcPts val="0"/>
              </a:spcAft>
              <a:buSzPts val="1800"/>
              <a:buChar char="-"/>
            </a:pPr>
            <a:r>
              <a:rPr lang="en-CA" dirty="0"/>
              <a:t>Last Will Message </a:t>
            </a:r>
            <a:r>
              <a:rPr lang="en-CA" dirty="0" err="1"/>
              <a:t>được</a:t>
            </a:r>
            <a:r>
              <a:rPr lang="en-CA" dirty="0"/>
              <a:t> broker </a:t>
            </a:r>
            <a:r>
              <a:rPr lang="en-CA" dirty="0" err="1"/>
              <a:t>gửi</a:t>
            </a:r>
            <a:r>
              <a:rPr lang="en-CA" dirty="0"/>
              <a:t> </a:t>
            </a:r>
            <a:r>
              <a:rPr lang="en-CA" dirty="0" err="1"/>
              <a:t>cho</a:t>
            </a:r>
            <a:r>
              <a:rPr lang="en-CA" dirty="0"/>
              <a:t> subscriber </a:t>
            </a:r>
            <a:r>
              <a:rPr lang="en-CA" dirty="0" err="1"/>
              <a:t>khi</a:t>
            </a:r>
            <a:r>
              <a:rPr lang="en-CA" dirty="0"/>
              <a:t> publisher offline.</a:t>
            </a:r>
            <a:endParaRPr sz="2300" b="1" dirty="0">
              <a:solidFill>
                <a:schemeClr val="dk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D67B-17D9-ED52-3481-6A8012F5BCAA}"/>
              </a:ext>
            </a:extLst>
          </p:cNvPr>
          <p:cNvSpPr>
            <a:spLocks noGrp="1"/>
          </p:cNvSpPr>
          <p:nvPr>
            <p:ph type="title"/>
          </p:nvPr>
        </p:nvSpPr>
        <p:spPr/>
        <p:txBody>
          <a:bodyPr>
            <a:normAutofit fontScale="90000"/>
          </a:bodyPr>
          <a:lstStyle/>
          <a:p>
            <a:r>
              <a:rPr lang="en-CA" dirty="0"/>
              <a:t>5.3 MQTT</a:t>
            </a:r>
            <a:endParaRPr lang="en-US" dirty="0"/>
          </a:p>
        </p:txBody>
      </p:sp>
      <p:sp>
        <p:nvSpPr>
          <p:cNvPr id="3" name="Text Placeholder 2">
            <a:extLst>
              <a:ext uri="{FF2B5EF4-FFF2-40B4-BE49-F238E27FC236}">
                <a16:creationId xmlns:a16="http://schemas.microsoft.com/office/drawing/2014/main" id="{06C1D6B3-82C6-3BE1-87AC-CB9828DF24C6}"/>
              </a:ext>
            </a:extLst>
          </p:cNvPr>
          <p:cNvSpPr>
            <a:spLocks noGrp="1"/>
          </p:cNvSpPr>
          <p:nvPr>
            <p:ph type="body" idx="1"/>
          </p:nvPr>
        </p:nvSpPr>
        <p:spPr>
          <a:xfrm>
            <a:off x="311700" y="1152474"/>
            <a:ext cx="8520600" cy="3731759"/>
          </a:xfrm>
        </p:spPr>
        <p:txBody>
          <a:bodyPr>
            <a:normAutofit fontScale="92500" lnSpcReduction="10000"/>
          </a:bodyPr>
          <a:lstStyle/>
          <a:p>
            <a:r>
              <a:rPr lang="en-US" sz="2400" b="1" dirty="0" err="1">
                <a:latin typeface="Source Sans Pro" panose="020B0503030403020204" pitchFamily="34" charset="0"/>
                <a:ea typeface="Source Sans Pro" panose="020B0503030403020204" pitchFamily="34" charset="0"/>
              </a:rPr>
              <a:t>Các</a:t>
            </a:r>
            <a:r>
              <a:rPr lang="en-US" sz="2400" b="1" dirty="0">
                <a:latin typeface="Source Sans Pro" panose="020B0503030403020204" pitchFamily="34" charset="0"/>
                <a:ea typeface="Source Sans Pro" panose="020B0503030403020204" pitchFamily="34" charset="0"/>
              </a:rPr>
              <a:t> </a:t>
            </a:r>
            <a:r>
              <a:rPr lang="en-US" sz="2400" b="1" dirty="0" err="1">
                <a:latin typeface="Source Sans Pro" panose="020B0503030403020204" pitchFamily="34" charset="0"/>
                <a:ea typeface="Source Sans Pro" panose="020B0503030403020204" pitchFamily="34" charset="0"/>
              </a:rPr>
              <a:t>loại</a:t>
            </a:r>
            <a:r>
              <a:rPr lang="en-US" sz="2400" b="1" dirty="0">
                <a:latin typeface="Source Sans Pro" panose="020B0503030403020204" pitchFamily="34" charset="0"/>
                <a:ea typeface="Source Sans Pro" panose="020B0503030403020204" pitchFamily="34" charset="0"/>
              </a:rPr>
              <a:t> MQTT Broker</a:t>
            </a:r>
          </a:p>
          <a:p>
            <a:pPr lvl="1">
              <a:buFont typeface="Arial" panose="020B0604020202020204" pitchFamily="34" charset="0"/>
              <a:buChar char="•"/>
            </a:pPr>
            <a:r>
              <a:rPr lang="en-US" sz="2400" b="0" i="0" dirty="0">
                <a:solidFill>
                  <a:srgbClr val="777777"/>
                </a:solidFill>
                <a:effectLst/>
                <a:latin typeface="Source Sans Pro" panose="020B0503030403020204" pitchFamily="34" charset="0"/>
                <a:ea typeface="Source Sans Pro" panose="020B0503030403020204" pitchFamily="34" charset="0"/>
              </a:rPr>
              <a:t>Managed Brokers (Brokers </a:t>
            </a:r>
            <a:r>
              <a:rPr lang="en-US" sz="2400" b="0" i="0" dirty="0" err="1">
                <a:solidFill>
                  <a:srgbClr val="777777"/>
                </a:solidFill>
                <a:effectLst/>
                <a:latin typeface="Source Sans Pro" panose="020B0503030403020204" pitchFamily="34" charset="0"/>
                <a:ea typeface="Source Sans Pro" panose="020B0503030403020204" pitchFamily="34" charset="0"/>
              </a:rPr>
              <a:t>tự</a:t>
            </a:r>
            <a:r>
              <a:rPr lang="en-US" sz="2400" b="0" i="0" dirty="0">
                <a:solidFill>
                  <a:srgbClr val="777777"/>
                </a:solidFill>
                <a:effectLst/>
                <a:latin typeface="Source Sans Pro" panose="020B0503030403020204" pitchFamily="34" charset="0"/>
                <a:ea typeface="Source Sans Pro" panose="020B0503030403020204" pitchFamily="34" charset="0"/>
              </a:rPr>
              <a:t> </a:t>
            </a:r>
            <a:r>
              <a:rPr lang="en-US" sz="2400" b="0" i="0" dirty="0" err="1">
                <a:solidFill>
                  <a:srgbClr val="777777"/>
                </a:solidFill>
                <a:effectLst/>
                <a:latin typeface="Source Sans Pro" panose="020B0503030403020204" pitchFamily="34" charset="0"/>
                <a:ea typeface="Source Sans Pro" panose="020B0503030403020204" pitchFamily="34" charset="0"/>
              </a:rPr>
              <a:t>quản</a:t>
            </a:r>
            <a:r>
              <a:rPr lang="en-US" sz="2400" b="0" i="0" dirty="0">
                <a:solidFill>
                  <a:srgbClr val="777777"/>
                </a:solidFill>
                <a:effectLst/>
                <a:latin typeface="Source Sans Pro" panose="020B0503030403020204" pitchFamily="34" charset="0"/>
                <a:ea typeface="Source Sans Pro" panose="020B0503030403020204" pitchFamily="34" charset="0"/>
              </a:rPr>
              <a:t> </a:t>
            </a:r>
            <a:r>
              <a:rPr lang="en-US" sz="2400" b="0" i="0" dirty="0" err="1">
                <a:solidFill>
                  <a:srgbClr val="777777"/>
                </a:solidFill>
                <a:effectLst/>
                <a:latin typeface="Source Sans Pro" panose="020B0503030403020204" pitchFamily="34" charset="0"/>
                <a:ea typeface="Source Sans Pro" panose="020B0503030403020204" pitchFamily="34" charset="0"/>
              </a:rPr>
              <a:t>lý</a:t>
            </a:r>
            <a:r>
              <a:rPr lang="en-US" sz="2400" b="0" i="0" dirty="0">
                <a:solidFill>
                  <a:srgbClr val="777777"/>
                </a:solidFill>
                <a:effectLst/>
                <a:latin typeface="Source Sans Pro" panose="020B0503030403020204" pitchFamily="34" charset="0"/>
                <a:ea typeface="Source Sans Pro" panose="020B0503030403020204" pitchFamily="34" charset="0"/>
              </a:rPr>
              <a:t>)</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Được cấu hình sẵn, không cần cài đặt hay quản lý server.</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Triển khai dễ dàng, tích hợp nhanh vào hệ thống IoT.</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Ví dụ: AWS IoT Core</a:t>
            </a:r>
            <a:endParaRPr lang="en-US" sz="2200" b="0" i="0" dirty="0">
              <a:solidFill>
                <a:srgbClr val="777777"/>
              </a:solidFill>
              <a:effectLst/>
              <a:latin typeface="Source Sans Pro" panose="020B0503030403020204" pitchFamily="34" charset="0"/>
              <a:ea typeface="Source Sans Pro" panose="020B0503030403020204" pitchFamily="34" charset="0"/>
            </a:endParaRPr>
          </a:p>
          <a:p>
            <a:pPr lvl="1">
              <a:buFont typeface="Arial" panose="020B0604020202020204" pitchFamily="34" charset="0"/>
              <a:buChar char="•"/>
            </a:pPr>
            <a:r>
              <a:rPr lang="en-US" sz="2400" b="0" i="0" dirty="0">
                <a:solidFill>
                  <a:srgbClr val="777777"/>
                </a:solidFill>
                <a:effectLst/>
                <a:latin typeface="Source Sans Pro" panose="020B0503030403020204" pitchFamily="34" charset="0"/>
                <a:ea typeface="Source Sans Pro" panose="020B0503030403020204" pitchFamily="34" charset="0"/>
              </a:rPr>
              <a:t>Self-Hosted Brokers (Brokers </a:t>
            </a:r>
            <a:r>
              <a:rPr lang="en-US" sz="2400" b="0" i="0" dirty="0" err="1">
                <a:solidFill>
                  <a:srgbClr val="777777"/>
                </a:solidFill>
                <a:effectLst/>
                <a:latin typeface="Source Sans Pro" panose="020B0503030403020204" pitchFamily="34" charset="0"/>
                <a:ea typeface="Source Sans Pro" panose="020B0503030403020204" pitchFamily="34" charset="0"/>
              </a:rPr>
              <a:t>tự</a:t>
            </a:r>
            <a:r>
              <a:rPr lang="en-US" sz="2400" b="0" i="0" dirty="0">
                <a:solidFill>
                  <a:srgbClr val="777777"/>
                </a:solidFill>
                <a:effectLst/>
                <a:latin typeface="Source Sans Pro" panose="020B0503030403020204" pitchFamily="34" charset="0"/>
                <a:ea typeface="Source Sans Pro" panose="020B0503030403020204" pitchFamily="34" charset="0"/>
              </a:rPr>
              <a:t> </a:t>
            </a:r>
            <a:r>
              <a:rPr lang="en-US" sz="2400" b="0" i="0" dirty="0" err="1">
                <a:solidFill>
                  <a:srgbClr val="777777"/>
                </a:solidFill>
                <a:effectLst/>
                <a:latin typeface="Source Sans Pro" panose="020B0503030403020204" pitchFamily="34" charset="0"/>
                <a:ea typeface="Source Sans Pro" panose="020B0503030403020204" pitchFamily="34" charset="0"/>
              </a:rPr>
              <a:t>lưu</a:t>
            </a:r>
            <a:r>
              <a:rPr lang="en-US" sz="2400" b="0" i="0" dirty="0">
                <a:solidFill>
                  <a:srgbClr val="777777"/>
                </a:solidFill>
                <a:effectLst/>
                <a:latin typeface="Source Sans Pro" panose="020B0503030403020204" pitchFamily="34" charset="0"/>
                <a:ea typeface="Source Sans Pro" panose="020B0503030403020204" pitchFamily="34" charset="0"/>
              </a:rPr>
              <a:t> </a:t>
            </a:r>
            <a:r>
              <a:rPr lang="en-US" sz="2400" b="0" i="0" dirty="0" err="1">
                <a:solidFill>
                  <a:srgbClr val="777777"/>
                </a:solidFill>
                <a:effectLst/>
                <a:latin typeface="Source Sans Pro" panose="020B0503030403020204" pitchFamily="34" charset="0"/>
                <a:ea typeface="Source Sans Pro" panose="020B0503030403020204" pitchFamily="34" charset="0"/>
              </a:rPr>
              <a:t>trữ</a:t>
            </a:r>
            <a:r>
              <a:rPr lang="en-US" sz="2400" b="0" i="0" dirty="0">
                <a:solidFill>
                  <a:srgbClr val="777777"/>
                </a:solidFill>
                <a:effectLst/>
                <a:latin typeface="Source Sans Pro" panose="020B0503030403020204" pitchFamily="34" charset="0"/>
                <a:ea typeface="Source Sans Pro" panose="020B0503030403020204" pitchFamily="34" charset="0"/>
              </a:rPr>
              <a:t>)</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Tự cài đặt trên VPS hoặc server với IP tĩnh.</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Người dùng phải tự quản lý bảo mật, mở rộng và cấu hình</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Yêu cầu kiến thức chuyên môn cao hơn.</a:t>
            </a:r>
          </a:p>
          <a:p>
            <a:pPr lvl="2">
              <a:buFont typeface="Arial" panose="020B0604020202020204" pitchFamily="34" charset="0"/>
              <a:buChar char="•"/>
            </a:pPr>
            <a:r>
              <a:rPr lang="vi-VN" sz="2200" b="0" i="0" dirty="0">
                <a:solidFill>
                  <a:srgbClr val="777777"/>
                </a:solidFill>
                <a:effectLst/>
                <a:latin typeface="Source Sans Pro" panose="020B0503030403020204" pitchFamily="34" charset="0"/>
                <a:ea typeface="Source Sans Pro" panose="020B0503030403020204" pitchFamily="34" charset="0"/>
              </a:rPr>
              <a:t>Ví dụ: Mosquitto, HiveMQ (mã nguồn mở).</a:t>
            </a:r>
            <a:endParaRPr lang="en-US" sz="2200" b="0" i="0" dirty="0">
              <a:solidFill>
                <a:srgbClr val="777777"/>
              </a:solidFill>
              <a:effectLst/>
              <a:latin typeface="Source Sans Pro" panose="020B0503030403020204" pitchFamily="34" charset="0"/>
              <a:ea typeface="Source Sans Pro" panose="020B0503030403020204" pitchFamily="34" charset="0"/>
            </a:endParaRPr>
          </a:p>
          <a:p>
            <a:pPr marL="114300" indent="0">
              <a:buNone/>
            </a:pPr>
            <a:endParaRPr lang="en-US" dirty="0"/>
          </a:p>
        </p:txBody>
      </p:sp>
    </p:spTree>
    <p:extLst>
      <p:ext uri="{BB962C8B-B14F-4D97-AF65-F5344CB8AC3E}">
        <p14:creationId xmlns:p14="http://schemas.microsoft.com/office/powerpoint/2010/main" val="5023878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0611-88F5-9B21-C05C-89D655AFB135}"/>
              </a:ext>
            </a:extLst>
          </p:cNvPr>
          <p:cNvSpPr>
            <a:spLocks noGrp="1"/>
          </p:cNvSpPr>
          <p:nvPr>
            <p:ph type="title"/>
          </p:nvPr>
        </p:nvSpPr>
        <p:spPr/>
        <p:txBody>
          <a:bodyPr>
            <a:normAutofit fontScale="90000"/>
          </a:bodyPr>
          <a:lstStyle/>
          <a:p>
            <a:r>
              <a:rPr lang="en-CA" dirty="0"/>
              <a:t>5.3 MQTT</a:t>
            </a:r>
            <a:endParaRPr lang="en-US" dirty="0"/>
          </a:p>
        </p:txBody>
      </p:sp>
      <p:sp>
        <p:nvSpPr>
          <p:cNvPr id="3" name="Text Placeholder 2">
            <a:extLst>
              <a:ext uri="{FF2B5EF4-FFF2-40B4-BE49-F238E27FC236}">
                <a16:creationId xmlns:a16="http://schemas.microsoft.com/office/drawing/2014/main" id="{7DD5ABA3-BE02-0956-0874-7C1C313795CA}"/>
              </a:ext>
            </a:extLst>
          </p:cNvPr>
          <p:cNvSpPr>
            <a:spLocks noGrp="1"/>
          </p:cNvSpPr>
          <p:nvPr>
            <p:ph type="body" idx="1"/>
          </p:nvPr>
        </p:nvSpPr>
        <p:spPr>
          <a:xfrm>
            <a:off x="311700" y="1152475"/>
            <a:ext cx="8520600" cy="3809818"/>
          </a:xfrm>
        </p:spPr>
        <p:txBody>
          <a:bodyPr>
            <a:normAutofit fontScale="92500" lnSpcReduction="20000"/>
          </a:bodyPr>
          <a:lstStyle/>
          <a:p>
            <a:pPr algn="l"/>
            <a:r>
              <a:rPr lang="en-US" b="1" dirty="0" err="1">
                <a:solidFill>
                  <a:srgbClr val="222529"/>
                </a:solidFill>
                <a:effectLst/>
                <a:latin typeface="Arial" panose="020B0604020202020204" pitchFamily="34" charset="0"/>
              </a:rPr>
              <a:t>Các</a:t>
            </a:r>
            <a:r>
              <a:rPr lang="en-US" b="1" dirty="0">
                <a:solidFill>
                  <a:srgbClr val="222529"/>
                </a:solidFill>
                <a:effectLst/>
                <a:latin typeface="Arial" panose="020B0604020202020204" pitchFamily="34" charset="0"/>
              </a:rPr>
              <a:t> MQTT Broker </a:t>
            </a:r>
            <a:r>
              <a:rPr lang="en-US" b="1" dirty="0" err="1">
                <a:solidFill>
                  <a:srgbClr val="222529"/>
                </a:solidFill>
                <a:effectLst/>
                <a:latin typeface="Arial" panose="020B0604020202020204" pitchFamily="34" charset="0"/>
              </a:rPr>
              <a:t>mã</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nguồn</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mở</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phổ</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biến</a:t>
            </a:r>
            <a:endParaRPr lang="en-US" b="1" dirty="0">
              <a:solidFill>
                <a:srgbClr val="222529"/>
              </a:solidFill>
              <a:effectLst/>
              <a:latin typeface="Arial" panose="020B0604020202020204" pitchFamily="34" charset="0"/>
            </a:endParaRPr>
          </a:p>
          <a:p>
            <a:pPr lvl="1">
              <a:buFont typeface="Arial" panose="020B0604020202020204" pitchFamily="34" charset="0"/>
              <a:buChar char="•"/>
            </a:pPr>
            <a:r>
              <a:rPr lang="vi-VN" sz="2000" dirty="0"/>
              <a:t>Mosquitto</a:t>
            </a:r>
          </a:p>
          <a:p>
            <a:pPr lvl="2">
              <a:buFont typeface="Arial" panose="020B0604020202020204" pitchFamily="34" charset="0"/>
              <a:buChar char="•"/>
            </a:pPr>
            <a:r>
              <a:rPr lang="vi-VN" sz="1800" dirty="0"/>
              <a:t>Nhẹ, hỗ trợ MQTT 3.1, 3.1.1, 5.0</a:t>
            </a:r>
          </a:p>
          <a:p>
            <a:pPr lvl="2">
              <a:buFont typeface="Arial" panose="020B0604020202020204" pitchFamily="34" charset="0"/>
              <a:buChar char="•"/>
            </a:pPr>
            <a:r>
              <a:rPr lang="vi-VN" sz="1800" dirty="0"/>
              <a:t>Viết bằng C, chạy trên Linux, Windows, Mac, Raspberry Pi</a:t>
            </a:r>
          </a:p>
          <a:p>
            <a:pPr lvl="2">
              <a:buFont typeface="Arial" panose="020B0604020202020204" pitchFamily="34" charset="0"/>
              <a:buChar char="•"/>
            </a:pPr>
            <a:r>
              <a:rPr lang="vi-VN" sz="1800" dirty="0"/>
              <a:t>Phù hợp cho thiết bị nhỏ, tài nguyên hạn chế</a:t>
            </a:r>
          </a:p>
          <a:p>
            <a:pPr lvl="1">
              <a:buFont typeface="Arial" panose="020B0604020202020204" pitchFamily="34" charset="0"/>
              <a:buChar char="•"/>
            </a:pPr>
            <a:r>
              <a:rPr lang="vi-VN" sz="2000" dirty="0"/>
              <a:t>EMQX</a:t>
            </a:r>
          </a:p>
          <a:p>
            <a:pPr lvl="2">
              <a:buFont typeface="Arial" panose="020B0604020202020204" pitchFamily="34" charset="0"/>
              <a:buChar char="•"/>
            </a:pPr>
            <a:r>
              <a:rPr lang="vi-VN" sz="1800" dirty="0"/>
              <a:t>Khả năng mở rộng rất cao (triệu → 100 triệu clients)</a:t>
            </a:r>
          </a:p>
          <a:p>
            <a:pPr lvl="2">
              <a:buFont typeface="Arial" panose="020B0604020202020204" pitchFamily="34" charset="0"/>
              <a:buChar char="•"/>
            </a:pPr>
            <a:r>
              <a:rPr lang="vi-VN" sz="1800" dirty="0"/>
              <a:t>Độ trễ thấp (&lt;1 ms), hỗ trợ MQTT 3.x &amp; 5.0</a:t>
            </a:r>
          </a:p>
          <a:p>
            <a:pPr lvl="2">
              <a:buFont typeface="Arial" panose="020B0604020202020204" pitchFamily="34" charset="0"/>
              <a:buChar char="•"/>
            </a:pPr>
            <a:r>
              <a:rPr lang="vi-VN" sz="1800" dirty="0"/>
              <a:t>Triển khai tốt trên cloud (AWS, Azure, GCP)</a:t>
            </a:r>
          </a:p>
          <a:p>
            <a:pPr lvl="2">
              <a:buFont typeface="Arial" panose="020B0604020202020204" pitchFamily="34" charset="0"/>
              <a:buChar char="•"/>
            </a:pPr>
            <a:r>
              <a:rPr lang="vi-VN" sz="1800" dirty="0"/>
              <a:t>Thích hợp cho hệ thống IoT phân tán quy mô lớn</a:t>
            </a:r>
          </a:p>
          <a:p>
            <a:pPr lvl="1">
              <a:buFont typeface="Arial" panose="020B0604020202020204" pitchFamily="34" charset="0"/>
              <a:buChar char="•"/>
            </a:pPr>
            <a:r>
              <a:rPr lang="vi-VN" sz="2000" dirty="0"/>
              <a:t>NanoMQ</a:t>
            </a:r>
          </a:p>
          <a:p>
            <a:pPr lvl="2">
              <a:buFont typeface="Arial" panose="020B0604020202020204" pitchFamily="34" charset="0"/>
              <a:buChar char="•"/>
            </a:pPr>
            <a:r>
              <a:rPr lang="vi-VN" sz="1800" dirty="0"/>
              <a:t>Nhẹ, nhanh, phù hợp IoT Edge</a:t>
            </a:r>
          </a:p>
          <a:p>
            <a:pPr lvl="2">
              <a:buFont typeface="Arial" panose="020B0604020202020204" pitchFamily="34" charset="0"/>
              <a:buChar char="•"/>
            </a:pPr>
            <a:r>
              <a:rPr lang="vi-VN" sz="1800" dirty="0"/>
              <a:t>Viết bằng C, hỗ trợ MQTT 3.1.1 &amp; 5.0</a:t>
            </a:r>
          </a:p>
          <a:p>
            <a:pPr lvl="2">
              <a:buFont typeface="Arial" panose="020B0604020202020204" pitchFamily="34" charset="0"/>
              <a:buChar char="•"/>
            </a:pPr>
            <a:r>
              <a:rPr lang="vi-VN" sz="1800" dirty="0"/>
              <a:t>Di động cao, tương thích POSIX</a:t>
            </a:r>
            <a:endParaRPr lang="en-US" sz="1800" dirty="0"/>
          </a:p>
        </p:txBody>
      </p:sp>
    </p:spTree>
    <p:extLst>
      <p:ext uri="{BB962C8B-B14F-4D97-AF65-F5344CB8AC3E}">
        <p14:creationId xmlns:p14="http://schemas.microsoft.com/office/powerpoint/2010/main" val="2607529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0611-88F5-9B21-C05C-89D655AFB135}"/>
              </a:ext>
            </a:extLst>
          </p:cNvPr>
          <p:cNvSpPr>
            <a:spLocks noGrp="1"/>
          </p:cNvSpPr>
          <p:nvPr>
            <p:ph type="title"/>
          </p:nvPr>
        </p:nvSpPr>
        <p:spPr/>
        <p:txBody>
          <a:bodyPr>
            <a:normAutofit fontScale="90000"/>
          </a:bodyPr>
          <a:lstStyle/>
          <a:p>
            <a:r>
              <a:rPr lang="en-CA" dirty="0"/>
              <a:t>5.3 MQTT</a:t>
            </a:r>
            <a:endParaRPr lang="en-US" dirty="0"/>
          </a:p>
        </p:txBody>
      </p:sp>
      <p:sp>
        <p:nvSpPr>
          <p:cNvPr id="3" name="Text Placeholder 2">
            <a:extLst>
              <a:ext uri="{FF2B5EF4-FFF2-40B4-BE49-F238E27FC236}">
                <a16:creationId xmlns:a16="http://schemas.microsoft.com/office/drawing/2014/main" id="{7DD5ABA3-BE02-0956-0874-7C1C313795CA}"/>
              </a:ext>
            </a:extLst>
          </p:cNvPr>
          <p:cNvSpPr>
            <a:spLocks noGrp="1"/>
          </p:cNvSpPr>
          <p:nvPr>
            <p:ph type="body" idx="1"/>
          </p:nvPr>
        </p:nvSpPr>
        <p:spPr>
          <a:xfrm>
            <a:off x="311700" y="1152475"/>
            <a:ext cx="8520600" cy="3809818"/>
          </a:xfrm>
        </p:spPr>
        <p:txBody>
          <a:bodyPr>
            <a:normAutofit/>
          </a:bodyPr>
          <a:lstStyle/>
          <a:p>
            <a:pPr marL="114300" indent="0" algn="l">
              <a:buNone/>
            </a:pPr>
            <a:r>
              <a:rPr lang="en-US" sz="2000" b="1" u="sng" dirty="0" err="1">
                <a:latin typeface="Source Sans Pro" panose="020B0503030403020204" pitchFamily="34" charset="0"/>
                <a:ea typeface="Source Sans Pro" panose="020B0503030403020204" pitchFamily="34" charset="0"/>
              </a:rPr>
              <a:t>Ví</a:t>
            </a:r>
            <a:r>
              <a:rPr lang="en-US" sz="2000" b="1" u="sng" dirty="0">
                <a:latin typeface="Source Sans Pro" panose="020B0503030403020204" pitchFamily="34" charset="0"/>
                <a:ea typeface="Source Sans Pro" panose="020B0503030403020204" pitchFamily="34" charset="0"/>
              </a:rPr>
              <a:t> </a:t>
            </a:r>
            <a:r>
              <a:rPr lang="en-US" sz="2000" b="1" u="sng" dirty="0" err="1">
                <a:latin typeface="Source Sans Pro" panose="020B0503030403020204" pitchFamily="34" charset="0"/>
                <a:ea typeface="Source Sans Pro" panose="020B0503030403020204" pitchFamily="34" charset="0"/>
              </a:rPr>
              <a:t>Dụ</a:t>
            </a:r>
            <a:r>
              <a:rPr lang="en-US" sz="2000" b="1" u="sng" dirty="0">
                <a:latin typeface="Source Sans Pro" panose="020B0503030403020204" pitchFamily="34" charset="0"/>
                <a:ea typeface="Source Sans Pro" panose="020B0503030403020204" pitchFamily="34" charset="0"/>
              </a:rPr>
              <a:t>:</a:t>
            </a:r>
            <a:r>
              <a:rPr lang="en-US" sz="2000" dirty="0">
                <a:latin typeface="Source Sans Pro" panose="020B0503030403020204" pitchFamily="34" charset="0"/>
                <a:ea typeface="Source Sans Pro" panose="020B0503030403020204" pitchFamily="34" charset="0"/>
              </a:rPr>
              <a:t> MQTT </a:t>
            </a:r>
            <a:r>
              <a:rPr lang="en-US" sz="2000" dirty="0" err="1">
                <a:latin typeface="Source Sans Pro" panose="020B0503030403020204" pitchFamily="34" charset="0"/>
                <a:ea typeface="Source Sans Pro" panose="020B0503030403020204" pitchFamily="34" charset="0"/>
              </a:rPr>
              <a:t>với</a:t>
            </a:r>
            <a:r>
              <a:rPr lang="en-US" sz="2000" dirty="0">
                <a:latin typeface="Source Sans Pro" panose="020B0503030403020204" pitchFamily="34" charset="0"/>
                <a:ea typeface="Source Sans Pro" panose="020B0503030403020204" pitchFamily="34" charset="0"/>
              </a:rPr>
              <a:t> ESP32</a:t>
            </a:r>
          </a:p>
          <a:p>
            <a:pPr algn="l"/>
            <a:r>
              <a:rPr lang="en-US" sz="2000" dirty="0">
                <a:latin typeface="Source Sans Pro" panose="020B0503030403020204" pitchFamily="34" charset="0"/>
                <a:ea typeface="Source Sans Pro" panose="020B0503030403020204" pitchFamily="34" charset="0"/>
              </a:rPr>
              <a:t>Setup MQTT broker </a:t>
            </a:r>
            <a:r>
              <a:rPr lang="en-US" sz="2000" dirty="0" err="1">
                <a:latin typeface="Source Sans Pro" panose="020B0503030403020204" pitchFamily="34" charset="0"/>
                <a:ea typeface="Source Sans Pro" panose="020B0503030403020204" pitchFamily="34" charset="0"/>
              </a:rPr>
              <a:t>miễn</a:t>
            </a: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phí</a:t>
            </a:r>
            <a:endParaRPr lang="en-US" sz="2000" dirty="0">
              <a:latin typeface="Source Sans Pro" panose="020B0503030403020204" pitchFamily="34" charset="0"/>
              <a:ea typeface="Source Sans Pro" panose="020B0503030403020204" pitchFamily="34" charset="0"/>
            </a:endParaRPr>
          </a:p>
          <a:p>
            <a:pPr lvl="1">
              <a:buFont typeface="Arial" panose="020B0604020202020204" pitchFamily="34" charset="0"/>
              <a:buChar char="•"/>
            </a:pPr>
            <a:r>
              <a:rPr lang="en-US" sz="2000" b="0" i="0" dirty="0">
                <a:solidFill>
                  <a:srgbClr val="777777"/>
                </a:solidFill>
                <a:effectLst/>
                <a:latin typeface="Source Sans Pro" panose="020B0503030403020204" pitchFamily="34" charset="0"/>
                <a:ea typeface="Source Sans Pro" panose="020B0503030403020204" pitchFamily="34" charset="0"/>
              </a:rPr>
              <a:t>TCP Port: 1883</a:t>
            </a:r>
          </a:p>
          <a:p>
            <a:pPr lvl="1">
              <a:buFont typeface="Arial" panose="020B0604020202020204" pitchFamily="34" charset="0"/>
              <a:buChar char="•"/>
            </a:pPr>
            <a:r>
              <a:rPr lang="en-US" sz="2000" b="0" i="0" dirty="0">
                <a:solidFill>
                  <a:srgbClr val="777777"/>
                </a:solidFill>
                <a:effectLst/>
                <a:latin typeface="Source Sans Pro" panose="020B0503030403020204" pitchFamily="34" charset="0"/>
                <a:ea typeface="Source Sans Pro" panose="020B0503030403020204" pitchFamily="34" charset="0"/>
              </a:rPr>
              <a:t>Server: broker.emqx.io</a:t>
            </a:r>
          </a:p>
          <a:p>
            <a:pPr lvl="1">
              <a:buFont typeface="Arial" panose="020B0604020202020204" pitchFamily="34" charset="0"/>
              <a:buChar char="•"/>
            </a:pPr>
            <a:r>
              <a:rPr lang="en-US" sz="2000" b="0" i="0" dirty="0">
                <a:solidFill>
                  <a:srgbClr val="777777"/>
                </a:solidFill>
                <a:effectLst/>
                <a:latin typeface="Source Sans Pro" panose="020B0503030403020204" pitchFamily="34" charset="0"/>
                <a:ea typeface="Source Sans Pro" panose="020B0503030403020204" pitchFamily="34" charset="0"/>
              </a:rPr>
              <a:t>SSL/TLS Port: 8883</a:t>
            </a:r>
          </a:p>
          <a:p>
            <a:pPr lvl="1">
              <a:buFont typeface="Arial" panose="020B0604020202020204" pitchFamily="34" charset="0"/>
              <a:buChar char="•"/>
            </a:pPr>
            <a:r>
              <a:rPr lang="en-US" sz="2000" b="0" i="0" dirty="0">
                <a:solidFill>
                  <a:srgbClr val="777777"/>
                </a:solidFill>
                <a:effectLst/>
                <a:latin typeface="Source Sans Pro" panose="020B0503030403020204" pitchFamily="34" charset="0"/>
                <a:ea typeface="Source Sans Pro" panose="020B0503030403020204" pitchFamily="34" charset="0"/>
              </a:rPr>
              <a:t>WebSocket Port: 8083</a:t>
            </a:r>
          </a:p>
          <a:p>
            <a:pPr lvl="1">
              <a:buFont typeface="Arial" panose="020B0604020202020204" pitchFamily="34" charset="0"/>
              <a:buChar char="•"/>
            </a:pPr>
            <a:r>
              <a:rPr lang="en-US" sz="2000" b="0" i="0" dirty="0">
                <a:solidFill>
                  <a:srgbClr val="777777"/>
                </a:solidFill>
                <a:effectLst/>
                <a:latin typeface="Source Sans Pro" panose="020B0503030403020204" pitchFamily="34" charset="0"/>
                <a:ea typeface="Source Sans Pro" panose="020B0503030403020204" pitchFamily="34" charset="0"/>
              </a:rPr>
              <a:t>Secure WebSocket Port: 8084</a:t>
            </a:r>
          </a:p>
          <a:p>
            <a:pPr marL="114300" indent="0" algn="l">
              <a:buNone/>
            </a:pPr>
            <a:endParaRPr lang="en-US" sz="1800" dirty="0"/>
          </a:p>
        </p:txBody>
      </p:sp>
    </p:spTree>
    <p:extLst>
      <p:ext uri="{BB962C8B-B14F-4D97-AF65-F5344CB8AC3E}">
        <p14:creationId xmlns:p14="http://schemas.microsoft.com/office/powerpoint/2010/main" val="4029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0611-88F5-9B21-C05C-89D655AFB135}"/>
              </a:ext>
            </a:extLst>
          </p:cNvPr>
          <p:cNvSpPr>
            <a:spLocks noGrp="1"/>
          </p:cNvSpPr>
          <p:nvPr>
            <p:ph type="title"/>
          </p:nvPr>
        </p:nvSpPr>
        <p:spPr/>
        <p:txBody>
          <a:bodyPr>
            <a:normAutofit fontScale="90000"/>
          </a:bodyPr>
          <a:lstStyle/>
          <a:p>
            <a:r>
              <a:rPr lang="en-CA" dirty="0"/>
              <a:t>5.3 MQTT</a:t>
            </a:r>
            <a:endParaRPr lang="en-US" dirty="0"/>
          </a:p>
        </p:txBody>
      </p:sp>
      <p:sp>
        <p:nvSpPr>
          <p:cNvPr id="3" name="Text Placeholder 2">
            <a:extLst>
              <a:ext uri="{FF2B5EF4-FFF2-40B4-BE49-F238E27FC236}">
                <a16:creationId xmlns:a16="http://schemas.microsoft.com/office/drawing/2014/main" id="{7DD5ABA3-BE02-0956-0874-7C1C313795CA}"/>
              </a:ext>
            </a:extLst>
          </p:cNvPr>
          <p:cNvSpPr>
            <a:spLocks noGrp="1"/>
          </p:cNvSpPr>
          <p:nvPr>
            <p:ph type="body" idx="1"/>
          </p:nvPr>
        </p:nvSpPr>
        <p:spPr>
          <a:xfrm>
            <a:off x="311700" y="1152475"/>
            <a:ext cx="8520600" cy="3809818"/>
          </a:xfrm>
        </p:spPr>
        <p:txBody>
          <a:bodyPr>
            <a:normAutofit/>
          </a:bodyPr>
          <a:lstStyle/>
          <a:p>
            <a:pPr algn="l"/>
            <a:r>
              <a:rPr lang="en-US" b="1" dirty="0" err="1">
                <a:solidFill>
                  <a:srgbClr val="222529"/>
                </a:solidFill>
                <a:effectLst/>
                <a:latin typeface="Arial" panose="020B0604020202020204" pitchFamily="34" charset="0"/>
              </a:rPr>
              <a:t>Các</a:t>
            </a:r>
            <a:r>
              <a:rPr lang="en-US" b="1" dirty="0">
                <a:solidFill>
                  <a:srgbClr val="222529"/>
                </a:solidFill>
                <a:effectLst/>
                <a:latin typeface="Arial" panose="020B0604020202020204" pitchFamily="34" charset="0"/>
              </a:rPr>
              <a:t> MQTT Broker </a:t>
            </a:r>
            <a:r>
              <a:rPr lang="en-US" b="1" dirty="0" err="1">
                <a:solidFill>
                  <a:srgbClr val="222529"/>
                </a:solidFill>
                <a:effectLst/>
                <a:latin typeface="Arial" panose="020B0604020202020204" pitchFamily="34" charset="0"/>
              </a:rPr>
              <a:t>mã</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nguồn</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mở</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phổ</a:t>
            </a:r>
            <a:r>
              <a:rPr lang="en-US" b="1" dirty="0">
                <a:solidFill>
                  <a:srgbClr val="222529"/>
                </a:solidFill>
                <a:effectLst/>
                <a:latin typeface="Arial" panose="020B0604020202020204" pitchFamily="34" charset="0"/>
              </a:rPr>
              <a:t> </a:t>
            </a:r>
            <a:r>
              <a:rPr lang="en-US" b="1" dirty="0" err="1">
                <a:solidFill>
                  <a:srgbClr val="222529"/>
                </a:solidFill>
                <a:effectLst/>
                <a:latin typeface="Arial" panose="020B0604020202020204" pitchFamily="34" charset="0"/>
              </a:rPr>
              <a:t>biến</a:t>
            </a:r>
            <a:endParaRPr lang="en-US" b="1" dirty="0">
              <a:solidFill>
                <a:srgbClr val="222529"/>
              </a:solidFill>
              <a:effectLst/>
              <a:latin typeface="Arial" panose="020B0604020202020204" pitchFamily="34" charset="0"/>
            </a:endParaRPr>
          </a:p>
          <a:p>
            <a:pPr lvl="1">
              <a:buFont typeface="Arial" panose="020B0604020202020204" pitchFamily="34" charset="0"/>
              <a:buChar char="•"/>
            </a:pPr>
            <a:r>
              <a:rPr lang="en-US" sz="2000" dirty="0" err="1"/>
              <a:t>HiveMQ</a:t>
            </a:r>
            <a:endParaRPr lang="vi-VN" sz="2000" dirty="0"/>
          </a:p>
          <a:p>
            <a:pPr lvl="2">
              <a:buFont typeface="Arial" panose="020B0604020202020204" pitchFamily="34" charset="0"/>
              <a:buChar char="•"/>
            </a:pPr>
            <a:r>
              <a:rPr lang="vi-VN" sz="1800" dirty="0"/>
              <a:t>Hỗ trợ chuẩn MQTT 3.x &amp; 5.0.</a:t>
            </a:r>
          </a:p>
          <a:p>
            <a:pPr lvl="2">
              <a:buFont typeface="Arial" panose="020B0604020202020204" pitchFamily="34" charset="0"/>
              <a:buChar char="•"/>
            </a:pPr>
            <a:r>
              <a:rPr lang="vi-VN" sz="1800" dirty="0"/>
              <a:t>Hiệu năng cao, có thể xử lý hàng triệu kết nối đồng thời.</a:t>
            </a:r>
          </a:p>
          <a:p>
            <a:pPr lvl="2">
              <a:buFont typeface="Arial" panose="020B0604020202020204" pitchFamily="34" charset="0"/>
              <a:buChar char="•"/>
            </a:pPr>
            <a:r>
              <a:rPr lang="vi-VN" sz="1800" dirty="0"/>
              <a:t>Tích hợp tốt với cloud platforms và hệ thống enterprise (Kafka, databases, analytics).</a:t>
            </a:r>
          </a:p>
          <a:p>
            <a:pPr lvl="2">
              <a:buFont typeface="Arial" panose="020B0604020202020204" pitchFamily="34" charset="0"/>
              <a:buChar char="•"/>
            </a:pPr>
            <a:r>
              <a:rPr lang="vi-VN" sz="1800" dirty="0"/>
              <a:t>Bảo mật mạnh mẽ: TLS/SSL, xác thực, phân quyền chi tiết.</a:t>
            </a:r>
          </a:p>
          <a:p>
            <a:pPr lvl="2">
              <a:buFont typeface="Arial" panose="020B0604020202020204" pitchFamily="34" charset="0"/>
              <a:buChar char="•"/>
            </a:pPr>
            <a:r>
              <a:rPr lang="vi-VN" sz="1800" dirty="0"/>
              <a:t>Giao diện Web UI dễ quản lý và giám sát real-time.</a:t>
            </a:r>
            <a:endParaRPr lang="en-US" sz="1800" dirty="0"/>
          </a:p>
        </p:txBody>
      </p:sp>
    </p:spTree>
    <p:extLst>
      <p:ext uri="{BB962C8B-B14F-4D97-AF65-F5344CB8AC3E}">
        <p14:creationId xmlns:p14="http://schemas.microsoft.com/office/powerpoint/2010/main" val="2628624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2"/>
              </a:buClr>
              <a:buSzPct val="36666"/>
              <a:buFont typeface="Arial"/>
              <a:buNone/>
            </a:pPr>
            <a:r>
              <a:rPr lang="en-CA"/>
              <a:t>5.3 MQTT</a:t>
            </a:r>
            <a:endParaRPr/>
          </a:p>
          <a:p>
            <a:pPr marL="0" lvl="0" indent="0" algn="l" rtl="0">
              <a:spcBef>
                <a:spcPts val="0"/>
              </a:spcBef>
              <a:spcAft>
                <a:spcPts val="0"/>
              </a:spcAft>
              <a:buNone/>
            </a:pPr>
            <a:endParaRPr/>
          </a:p>
        </p:txBody>
      </p:sp>
      <p:sp>
        <p:nvSpPr>
          <p:cNvPr id="373" name="Google Shape;373;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CA"/>
              <a:t>Tham khảo</a:t>
            </a:r>
            <a:endParaRPr/>
          </a:p>
          <a:p>
            <a:pPr marL="0" lvl="0" indent="0" algn="l" rtl="0">
              <a:spcBef>
                <a:spcPts val="1200"/>
              </a:spcBef>
              <a:spcAft>
                <a:spcPts val="0"/>
              </a:spcAft>
              <a:buNone/>
            </a:pPr>
            <a:r>
              <a:rPr lang="en-CA"/>
              <a:t>[1]</a:t>
            </a:r>
            <a:r>
              <a:rPr lang="en-CA">
                <a:uFill>
                  <a:noFill/>
                </a:uFill>
                <a:hlinkClick r:id="rId3"/>
              </a:rPr>
              <a:t>https://www.hivemq.com/blog/how-to-get-started-with-mqtt/</a:t>
            </a:r>
            <a:endParaRPr/>
          </a:p>
          <a:p>
            <a:pPr marL="0" lvl="0" indent="0" algn="l" rtl="0">
              <a:spcBef>
                <a:spcPts val="1200"/>
              </a:spcBef>
              <a:spcAft>
                <a:spcPts val="0"/>
              </a:spcAft>
              <a:buNone/>
            </a:pPr>
            <a:r>
              <a:rPr lang="en-CA"/>
              <a:t>[2]</a:t>
            </a:r>
            <a:r>
              <a:rPr lang="en-CA">
                <a:uFill>
                  <a:noFill/>
                </a:uFill>
                <a:hlinkClick r:id="rId4"/>
              </a:rPr>
              <a:t>http://arduino.vn/bai-viet/1236-tim-hieu-giao-thuc-mqtt</a:t>
            </a:r>
            <a:endParaRPr/>
          </a:p>
          <a:p>
            <a:pPr marL="0" lvl="0" indent="0" algn="l" rtl="0">
              <a:spcBef>
                <a:spcPts val="1200"/>
              </a:spcBef>
              <a:spcAft>
                <a:spcPts val="0"/>
              </a:spcAft>
              <a:buNone/>
            </a:pPr>
            <a:r>
              <a:rPr lang="en-CA"/>
              <a:t>[3]</a:t>
            </a:r>
            <a:r>
              <a:rPr lang="en-CA">
                <a:uFill>
                  <a:noFill/>
                </a:uFill>
                <a:hlinkClick r:id="rId5"/>
              </a:rPr>
              <a:t>https://www.arduino.cc/reference/en/libraries/mqtt/</a:t>
            </a:r>
            <a:endParaRPr/>
          </a:p>
          <a:p>
            <a:pPr marL="0" lvl="0" indent="0" algn="l" rtl="0">
              <a:spcBef>
                <a:spcPts val="1200"/>
              </a:spcBef>
              <a:spcAft>
                <a:spcPts val="0"/>
              </a:spcAft>
              <a:buNone/>
            </a:pPr>
            <a:r>
              <a:rPr lang="en-CA"/>
              <a:t>[4]</a:t>
            </a:r>
            <a:r>
              <a:rPr lang="en-CA">
                <a:uFill>
                  <a:noFill/>
                </a:uFill>
                <a:hlinkClick r:id="rId6"/>
              </a:rPr>
              <a:t>https://www.arduino.cc/reference/en/libraries/mqtt-client/</a:t>
            </a:r>
            <a:endParaRPr/>
          </a:p>
          <a:p>
            <a:pPr marL="0" lvl="0" indent="0" algn="l" rtl="0">
              <a:spcBef>
                <a:spcPts val="1200"/>
              </a:spcBef>
              <a:spcAft>
                <a:spcPts val="1200"/>
              </a:spcAft>
              <a:buNone/>
            </a:pPr>
            <a:r>
              <a:rPr lang="en-CA"/>
              <a:t>[5]https://ohstem.vn/lp-courses/lap-trinh-arduino/lap-trinh-arduino-phan-ket-noi-wifi/lessons/dieu-khien-den-led-qua-mqtt/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2C14-C61C-2167-6E54-D69B38EE740A}"/>
              </a:ext>
            </a:extLst>
          </p:cNvPr>
          <p:cNvSpPr>
            <a:spLocks noGrp="1"/>
          </p:cNvSpPr>
          <p:nvPr>
            <p:ph type="title"/>
          </p:nvPr>
        </p:nvSpPr>
        <p:spPr/>
        <p:txBody>
          <a:bodyPr>
            <a:normAutofit fontScale="90000"/>
          </a:bodyPr>
          <a:lstStyle/>
          <a:p>
            <a:r>
              <a:rPr lang="en-US" dirty="0"/>
              <a:t>5.4 AMQP</a:t>
            </a:r>
          </a:p>
        </p:txBody>
      </p:sp>
      <p:sp>
        <p:nvSpPr>
          <p:cNvPr id="3" name="Text Placeholder 2">
            <a:extLst>
              <a:ext uri="{FF2B5EF4-FFF2-40B4-BE49-F238E27FC236}">
                <a16:creationId xmlns:a16="http://schemas.microsoft.com/office/drawing/2014/main" id="{4304C488-58BA-A0A4-84B7-8BD9D7CC6C72}"/>
              </a:ext>
            </a:extLst>
          </p:cNvPr>
          <p:cNvSpPr>
            <a:spLocks noGrp="1"/>
          </p:cNvSpPr>
          <p:nvPr>
            <p:ph type="body" idx="1"/>
          </p:nvPr>
        </p:nvSpPr>
        <p:spPr/>
        <p:txBody>
          <a:bodyPr/>
          <a:lstStyle/>
          <a:p>
            <a:r>
              <a:rPr lang="vi-VN" dirty="0"/>
              <a:t>AMQP (Advanced Message Queuing Protocol) là một giao thức nhắn tin chuẩn hóa, mở được thiết kế cho message-oriented middleware.</a:t>
            </a:r>
          </a:p>
          <a:p>
            <a:endParaRPr lang="vi-VN" dirty="0"/>
          </a:p>
          <a:p>
            <a:r>
              <a:rPr lang="vi-VN" dirty="0"/>
              <a:t>Nó cho phép các hệ thống khác nhau, đa nền tảng, đa ngôn ngữ có thể trao đổi thông điệp một cách đáng tin cậy, bảo mật và có kiểm soát.</a:t>
            </a:r>
            <a:endParaRPr lang="en-US" dirty="0"/>
          </a:p>
        </p:txBody>
      </p:sp>
    </p:spTree>
    <p:extLst>
      <p:ext uri="{BB962C8B-B14F-4D97-AF65-F5344CB8AC3E}">
        <p14:creationId xmlns:p14="http://schemas.microsoft.com/office/powerpoint/2010/main" val="30980964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2C14-C61C-2167-6E54-D69B38EE740A}"/>
              </a:ext>
            </a:extLst>
          </p:cNvPr>
          <p:cNvSpPr>
            <a:spLocks noGrp="1"/>
          </p:cNvSpPr>
          <p:nvPr>
            <p:ph type="title"/>
          </p:nvPr>
        </p:nvSpPr>
        <p:spPr/>
        <p:txBody>
          <a:bodyPr>
            <a:normAutofit fontScale="90000"/>
          </a:bodyPr>
          <a:lstStyle/>
          <a:p>
            <a:r>
              <a:rPr lang="en-US" dirty="0"/>
              <a:t>5.4 AMQP</a:t>
            </a:r>
          </a:p>
        </p:txBody>
      </p:sp>
      <p:sp>
        <p:nvSpPr>
          <p:cNvPr id="3" name="Text Placeholder 2">
            <a:extLst>
              <a:ext uri="{FF2B5EF4-FFF2-40B4-BE49-F238E27FC236}">
                <a16:creationId xmlns:a16="http://schemas.microsoft.com/office/drawing/2014/main" id="{4304C488-58BA-A0A4-84B7-8BD9D7CC6C72}"/>
              </a:ext>
            </a:extLst>
          </p:cNvPr>
          <p:cNvSpPr>
            <a:spLocks noGrp="1"/>
          </p:cNvSpPr>
          <p:nvPr>
            <p:ph type="body" idx="1"/>
          </p:nvPr>
        </p:nvSpPr>
        <p:spPr>
          <a:xfrm>
            <a:off x="311700" y="1152475"/>
            <a:ext cx="8520600" cy="3676004"/>
          </a:xfrm>
        </p:spPr>
        <p:txBody>
          <a:bodyPr>
            <a:normAutofit fontScale="92500" lnSpcReduction="20000"/>
          </a:bodyPr>
          <a:lstStyle/>
          <a:p>
            <a:r>
              <a:rPr lang="vi-VN" dirty="0"/>
              <a:t>Chuẩn mở: không phụ thuộc vào nhà cung cấp → dễ tích hợp vào nhiều hệ thống khác nhau.</a:t>
            </a:r>
          </a:p>
          <a:p>
            <a:endParaRPr lang="vi-VN" dirty="0"/>
          </a:p>
          <a:p>
            <a:r>
              <a:rPr lang="vi-VN" dirty="0"/>
              <a:t>Định hướng hàng đợi (queue-based): thông điệp được gửi vào hàng đợi (queue), client lấy ra theo nhu cầu.</a:t>
            </a:r>
          </a:p>
          <a:p>
            <a:endParaRPr lang="vi-VN" dirty="0"/>
          </a:p>
          <a:p>
            <a:r>
              <a:rPr lang="vi-VN" dirty="0"/>
              <a:t>Bảo đảm độ tin cậy: hỗ trợ xác nhận (acknowledgement), đảm bảo tin nhắn không bị mất.</a:t>
            </a:r>
          </a:p>
          <a:p>
            <a:endParaRPr lang="vi-VN" dirty="0"/>
          </a:p>
          <a:p>
            <a:r>
              <a:rPr lang="vi-VN" dirty="0"/>
              <a:t>Hỗ trợ giao dịch (transactions): cho phép nhóm nhiều message trong một phiên giao dịch.</a:t>
            </a:r>
          </a:p>
          <a:p>
            <a:endParaRPr lang="vi-VN" dirty="0"/>
          </a:p>
          <a:p>
            <a:r>
              <a:rPr lang="vi-VN" dirty="0"/>
              <a:t>Bảo mật: có thể chạy trên TLS/SSL, hỗ trợ xác thực người dùng.</a:t>
            </a:r>
            <a:endParaRPr lang="en-US" dirty="0"/>
          </a:p>
        </p:txBody>
      </p:sp>
    </p:spTree>
    <p:extLst>
      <p:ext uri="{BB962C8B-B14F-4D97-AF65-F5344CB8AC3E}">
        <p14:creationId xmlns:p14="http://schemas.microsoft.com/office/powerpoint/2010/main" val="9736940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2C14-C61C-2167-6E54-D69B38EE740A}"/>
              </a:ext>
            </a:extLst>
          </p:cNvPr>
          <p:cNvSpPr>
            <a:spLocks noGrp="1"/>
          </p:cNvSpPr>
          <p:nvPr>
            <p:ph type="title"/>
          </p:nvPr>
        </p:nvSpPr>
        <p:spPr/>
        <p:txBody>
          <a:bodyPr>
            <a:normAutofit fontScale="90000"/>
          </a:bodyPr>
          <a:lstStyle/>
          <a:p>
            <a:r>
              <a:rPr lang="en-US" dirty="0"/>
              <a:t>5.4 AMQP</a:t>
            </a:r>
          </a:p>
        </p:txBody>
      </p:sp>
      <p:sp>
        <p:nvSpPr>
          <p:cNvPr id="3" name="Text Placeholder 2">
            <a:extLst>
              <a:ext uri="{FF2B5EF4-FFF2-40B4-BE49-F238E27FC236}">
                <a16:creationId xmlns:a16="http://schemas.microsoft.com/office/drawing/2014/main" id="{4304C488-58BA-A0A4-84B7-8BD9D7CC6C72}"/>
              </a:ext>
            </a:extLst>
          </p:cNvPr>
          <p:cNvSpPr>
            <a:spLocks noGrp="1"/>
          </p:cNvSpPr>
          <p:nvPr>
            <p:ph type="body" idx="1"/>
          </p:nvPr>
        </p:nvSpPr>
        <p:spPr>
          <a:xfrm>
            <a:off x="311700" y="1152475"/>
            <a:ext cx="8520600" cy="3676004"/>
          </a:xfrm>
        </p:spPr>
        <p:txBody>
          <a:bodyPr>
            <a:normAutofit/>
          </a:bodyPr>
          <a:lstStyle/>
          <a:p>
            <a:r>
              <a:rPr lang="vi-VN" dirty="0"/>
              <a:t>Producer (Publisher): gửi thông điệp.</a:t>
            </a:r>
          </a:p>
          <a:p>
            <a:endParaRPr lang="vi-VN" dirty="0"/>
          </a:p>
          <a:p>
            <a:r>
              <a:rPr lang="vi-VN" dirty="0"/>
              <a:t>Broker (Message Broker): trung gian quản lý hàng đợi, routing, và phân phối thông điệp.</a:t>
            </a:r>
          </a:p>
          <a:p>
            <a:endParaRPr lang="vi-VN" dirty="0"/>
          </a:p>
          <a:p>
            <a:r>
              <a:rPr lang="vi-VN" dirty="0"/>
              <a:t>Consumer (Subscriber): nhận thông điệp từ broker.</a:t>
            </a:r>
          </a:p>
          <a:p>
            <a:endParaRPr lang="vi-VN" dirty="0"/>
          </a:p>
          <a:p>
            <a:r>
              <a:rPr lang="vi-VN" dirty="0"/>
              <a:t>Một broker phổ biến hỗ trợ AMQP là RabbitMQ.</a:t>
            </a:r>
            <a:endParaRPr lang="en-US" dirty="0"/>
          </a:p>
        </p:txBody>
      </p:sp>
    </p:spTree>
    <p:extLst>
      <p:ext uri="{BB962C8B-B14F-4D97-AF65-F5344CB8AC3E}">
        <p14:creationId xmlns:p14="http://schemas.microsoft.com/office/powerpoint/2010/main" val="18073627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2C14-C61C-2167-6E54-D69B38EE740A}"/>
              </a:ext>
            </a:extLst>
          </p:cNvPr>
          <p:cNvSpPr>
            <a:spLocks noGrp="1"/>
          </p:cNvSpPr>
          <p:nvPr>
            <p:ph type="title"/>
          </p:nvPr>
        </p:nvSpPr>
        <p:spPr/>
        <p:txBody>
          <a:bodyPr>
            <a:normAutofit fontScale="90000"/>
          </a:bodyPr>
          <a:lstStyle/>
          <a:p>
            <a:r>
              <a:rPr lang="en-US" dirty="0"/>
              <a:t>5.4 AMQP</a:t>
            </a:r>
          </a:p>
        </p:txBody>
      </p:sp>
      <p:sp>
        <p:nvSpPr>
          <p:cNvPr id="3" name="Text Placeholder 2">
            <a:extLst>
              <a:ext uri="{FF2B5EF4-FFF2-40B4-BE49-F238E27FC236}">
                <a16:creationId xmlns:a16="http://schemas.microsoft.com/office/drawing/2014/main" id="{4304C488-58BA-A0A4-84B7-8BD9D7CC6C72}"/>
              </a:ext>
            </a:extLst>
          </p:cNvPr>
          <p:cNvSpPr>
            <a:spLocks noGrp="1"/>
          </p:cNvSpPr>
          <p:nvPr>
            <p:ph type="body" idx="1"/>
          </p:nvPr>
        </p:nvSpPr>
        <p:spPr>
          <a:xfrm>
            <a:off x="311700" y="1152475"/>
            <a:ext cx="8520600" cy="3676004"/>
          </a:xfrm>
        </p:spPr>
        <p:txBody>
          <a:bodyPr>
            <a:normAutofit/>
          </a:bodyPr>
          <a:lstStyle/>
          <a:p>
            <a:pPr marL="114300" indent="0">
              <a:buNone/>
            </a:pPr>
            <a:endParaRPr lang="en-US" dirty="0"/>
          </a:p>
        </p:txBody>
      </p:sp>
      <p:pic>
        <p:nvPicPr>
          <p:cNvPr id="5" name="Picture 4">
            <a:extLst>
              <a:ext uri="{FF2B5EF4-FFF2-40B4-BE49-F238E27FC236}">
                <a16:creationId xmlns:a16="http://schemas.microsoft.com/office/drawing/2014/main" id="{67C1F542-8247-41F4-AECB-3DCC5052C797}"/>
              </a:ext>
            </a:extLst>
          </p:cNvPr>
          <p:cNvPicPr>
            <a:picLocks noChangeAspect="1"/>
          </p:cNvPicPr>
          <p:nvPr/>
        </p:nvPicPr>
        <p:blipFill>
          <a:blip r:embed="rId3"/>
          <a:stretch>
            <a:fillRect/>
          </a:stretch>
        </p:blipFill>
        <p:spPr>
          <a:xfrm>
            <a:off x="1398478" y="1152475"/>
            <a:ext cx="5615639" cy="3802543"/>
          </a:xfrm>
          <a:prstGeom prst="rect">
            <a:avLst/>
          </a:prstGeom>
        </p:spPr>
      </p:pic>
    </p:spTree>
    <p:extLst>
      <p:ext uri="{BB962C8B-B14F-4D97-AF65-F5344CB8AC3E}">
        <p14:creationId xmlns:p14="http://schemas.microsoft.com/office/powerpoint/2010/main" val="27479337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2C14-C61C-2167-6E54-D69B38EE740A}"/>
              </a:ext>
            </a:extLst>
          </p:cNvPr>
          <p:cNvSpPr>
            <a:spLocks noGrp="1"/>
          </p:cNvSpPr>
          <p:nvPr>
            <p:ph type="title"/>
          </p:nvPr>
        </p:nvSpPr>
        <p:spPr/>
        <p:txBody>
          <a:bodyPr>
            <a:normAutofit fontScale="90000"/>
          </a:bodyPr>
          <a:lstStyle/>
          <a:p>
            <a:r>
              <a:rPr lang="en-US" dirty="0"/>
              <a:t>5.4 AMQP</a:t>
            </a:r>
          </a:p>
        </p:txBody>
      </p:sp>
      <p:sp>
        <p:nvSpPr>
          <p:cNvPr id="3" name="Text Placeholder 2">
            <a:extLst>
              <a:ext uri="{FF2B5EF4-FFF2-40B4-BE49-F238E27FC236}">
                <a16:creationId xmlns:a16="http://schemas.microsoft.com/office/drawing/2014/main" id="{4304C488-58BA-A0A4-84B7-8BD9D7CC6C72}"/>
              </a:ext>
            </a:extLst>
          </p:cNvPr>
          <p:cNvSpPr>
            <a:spLocks noGrp="1"/>
          </p:cNvSpPr>
          <p:nvPr>
            <p:ph type="body" idx="1"/>
          </p:nvPr>
        </p:nvSpPr>
        <p:spPr>
          <a:xfrm>
            <a:off x="311700" y="1152475"/>
            <a:ext cx="8520600" cy="3676004"/>
          </a:xfrm>
        </p:spPr>
        <p:txBody>
          <a:bodyPr>
            <a:normAutofit/>
          </a:bodyPr>
          <a:lstStyle/>
          <a:p>
            <a:pPr marL="114300" indent="0">
              <a:buNone/>
            </a:pPr>
            <a:endParaRPr lang="en-US" dirty="0"/>
          </a:p>
        </p:txBody>
      </p:sp>
      <p:pic>
        <p:nvPicPr>
          <p:cNvPr id="6" name="Picture 5">
            <a:extLst>
              <a:ext uri="{FF2B5EF4-FFF2-40B4-BE49-F238E27FC236}">
                <a16:creationId xmlns:a16="http://schemas.microsoft.com/office/drawing/2014/main" id="{54C6CED4-001B-137E-6342-9F74CEB7C560}"/>
              </a:ext>
            </a:extLst>
          </p:cNvPr>
          <p:cNvPicPr>
            <a:picLocks noChangeAspect="1"/>
          </p:cNvPicPr>
          <p:nvPr/>
        </p:nvPicPr>
        <p:blipFill>
          <a:blip r:embed="rId3"/>
          <a:stretch>
            <a:fillRect/>
          </a:stretch>
        </p:blipFill>
        <p:spPr>
          <a:xfrm>
            <a:off x="1448536" y="1086546"/>
            <a:ext cx="5855514" cy="3913142"/>
          </a:xfrm>
          <a:prstGeom prst="rect">
            <a:avLst/>
          </a:prstGeom>
        </p:spPr>
      </p:pic>
    </p:spTree>
    <p:extLst>
      <p:ext uri="{BB962C8B-B14F-4D97-AF65-F5344CB8AC3E}">
        <p14:creationId xmlns:p14="http://schemas.microsoft.com/office/powerpoint/2010/main" val="899038050"/>
      </p:ext>
    </p:extLst>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TotalTime>
  <Words>19232</Words>
  <Application>Microsoft Office PowerPoint</Application>
  <PresentationFormat>On-screen Show (16:9)</PresentationFormat>
  <Paragraphs>1415</Paragraphs>
  <Slides>78</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Roboto</vt:lpstr>
      <vt:lpstr>Raleway</vt:lpstr>
      <vt:lpstr>Arial</vt:lpstr>
      <vt:lpstr>Nunito</vt:lpstr>
      <vt:lpstr>Source Sans Pro</vt:lpstr>
      <vt:lpstr>Mulish</vt:lpstr>
      <vt:lpstr>Plum</vt:lpstr>
      <vt:lpstr>Chapter 3: Giao Thức</vt:lpstr>
      <vt:lpstr>Giới Thiệu Về Các Giao Thức IoT </vt:lpstr>
      <vt:lpstr>2. Mô Hình Tham Chiếu OSI</vt:lpstr>
      <vt:lpstr>3. Phân Loại Các Giao Thức IoT Theo Mô Hình OSI</vt:lpstr>
      <vt:lpstr>4. Các Giao Thức Truyền Dẫn</vt:lpstr>
      <vt:lpstr>4.1 BlueTooth </vt:lpstr>
      <vt:lpstr>4.1 BlueTooth </vt:lpstr>
      <vt:lpstr>4.1 BlueTooth </vt:lpstr>
      <vt:lpstr>4.1 BlueTooth </vt:lpstr>
      <vt:lpstr>4.1 BlueTooth </vt:lpstr>
      <vt:lpstr>4.1 BlueTooth </vt:lpstr>
      <vt:lpstr>4.1 BlueTooth </vt:lpstr>
      <vt:lpstr>4.1 BlueTooth </vt:lpstr>
      <vt:lpstr>4.1 BlueTooth</vt:lpstr>
      <vt:lpstr>PowerPoint Presentation</vt:lpstr>
      <vt:lpstr>4.1 BlueTooth</vt:lpstr>
      <vt:lpstr>4.1 BlueTooth</vt:lpstr>
      <vt:lpstr>4.1 BlueTooth</vt:lpstr>
      <vt:lpstr>4.1 BlueTooth</vt:lpstr>
      <vt:lpstr>4.1 BlueTooth</vt:lpstr>
      <vt:lpstr>4.2 ZigBee </vt:lpstr>
      <vt:lpstr>4.2 ZigBee </vt:lpstr>
      <vt:lpstr>4.2 ZigBee </vt:lpstr>
      <vt:lpstr>4.2 ZigBee </vt:lpstr>
      <vt:lpstr>4.2 ZigBee </vt:lpstr>
      <vt:lpstr>4.2 ZigBee </vt:lpstr>
      <vt:lpstr>4.3 Wifi</vt:lpstr>
      <vt:lpstr>4.3 Wifi </vt:lpstr>
      <vt:lpstr>4.3 Wifi </vt:lpstr>
      <vt:lpstr>4.3 Wifi </vt:lpstr>
      <vt:lpstr>4.3 Wifi </vt:lpstr>
      <vt:lpstr>4.3 Wifi</vt:lpstr>
      <vt:lpstr>4.3 Wifi</vt:lpstr>
      <vt:lpstr>4.3 Wifi</vt:lpstr>
      <vt:lpstr>4.3 Wifi</vt:lpstr>
      <vt:lpstr>PowerPoint Presentation</vt:lpstr>
      <vt:lpstr>4.4 Lora - LoraWAN</vt:lpstr>
      <vt:lpstr>4.4 Lora - LoraWAN</vt:lpstr>
      <vt:lpstr>4.4 Lora - LoraWAN </vt:lpstr>
      <vt:lpstr>5. Các Giao Thức Truyền Tin</vt:lpstr>
      <vt:lpstr>5.1 HTTP</vt:lpstr>
      <vt:lpstr>5.1 HTTP</vt:lpstr>
      <vt:lpstr>5.1 HTTP</vt:lpstr>
      <vt:lpstr>5.1 HTTP</vt:lpstr>
      <vt:lpstr>5.1 HTTP</vt:lpstr>
      <vt:lpstr>PowerPoint Presentation</vt:lpstr>
      <vt:lpstr>PowerPoint Presentation</vt:lpstr>
      <vt:lpstr>5.1 HTTP</vt:lpstr>
      <vt:lpstr>5.2 WebSocket</vt:lpstr>
      <vt:lpstr>5.2 WebSocket</vt:lpstr>
      <vt:lpstr>5.2 WebSocket</vt:lpstr>
      <vt:lpstr>5.2 WebSocket</vt:lpstr>
      <vt:lpstr>5.2 WebSocket</vt:lpstr>
      <vt:lpstr>5.2 WebSocket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5.3 MQTT</vt:lpstr>
      <vt:lpstr>5.3 MQTT </vt:lpstr>
      <vt:lpstr>5.3 MQTT </vt:lpstr>
      <vt:lpstr>5.3 MQTT </vt:lpstr>
      <vt:lpstr>5.3 MQTT </vt:lpstr>
      <vt:lpstr>5.3 MQTT </vt:lpstr>
      <vt:lpstr>5.3 MQTT </vt:lpstr>
      <vt:lpstr>5.3 MQTT</vt:lpstr>
      <vt:lpstr>5.3 MQTT</vt:lpstr>
      <vt:lpstr>5.3 MQTT</vt:lpstr>
      <vt:lpstr>5.3 MQTT</vt:lpstr>
      <vt:lpstr>5.3 MQTT </vt:lpstr>
      <vt:lpstr>5.4 AMQP</vt:lpstr>
      <vt:lpstr>5.4 AMQP</vt:lpstr>
      <vt:lpstr>5.4 AMQP</vt:lpstr>
      <vt:lpstr>5.4 AMQP</vt:lpstr>
      <vt:lpstr>5.4 AMQP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Giao Thức</dc:title>
  <cp:lastModifiedBy>Admin</cp:lastModifiedBy>
  <cp:revision>39</cp:revision>
  <dcterms:modified xsi:type="dcterms:W3CDTF">2025-09-23T15:03:11Z</dcterms:modified>
</cp:coreProperties>
</file>