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30093" autoAdjust="0"/>
  </p:normalViewPr>
  <p:slideViewPr>
    <p:cSldViewPr snapToGrid="0" snapToObjects="1">
      <p:cViewPr varScale="1">
        <p:scale>
          <a:sx n="34" d="100"/>
          <a:sy n="34" d="100"/>
        </p:scale>
        <p:origin x="26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3381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Learning Objectives: Mastering BI Justification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xác định rõ một thông điệp quan trọng: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BI không thất bại vì công nghệ, mà thường thất bại vì không được “biện minh” (justify) đúng ngay từ đầu.</a:t>
            </a:r>
            <a:endParaRPr lang="vi-VN" dirty="0"/>
          </a:p>
          <a:p>
            <a:r>
              <a:rPr lang="vi-VN" dirty="0"/>
              <a:t>Chương này tập trung vào </a:t>
            </a:r>
            <a:r>
              <a:rPr lang="vi-VN" b="1" dirty="0"/>
              <a:t>tư duy chiến lược và quản lý</a:t>
            </a:r>
            <a:r>
              <a:rPr lang="vi-VN" dirty="0"/>
              <a:t>, không chỉ kỹ thuật.</a:t>
            </a:r>
          </a:p>
          <a:p>
            <a:r>
              <a:rPr lang="vi-VN" b="1" dirty="0"/>
              <a:t>1. Vì sao BI cần formal justification</a:t>
            </a:r>
          </a:p>
          <a:p>
            <a:r>
              <a:rPr lang="vi-VN" dirty="0"/>
              <a:t>Mục tiêu đầu tiên nhấn mạnh rằng: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các dự án BI thường bị đánh giá là “thất bại”,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phải vì hệ thống không chạy,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mà vì </a:t>
            </a:r>
            <a:r>
              <a:rPr lang="vi-VN" b="1" dirty="0"/>
              <a:t>kỳ vọng ban đầu không được xác định rõ</a:t>
            </a:r>
            <a:r>
              <a:rPr lang="vi-VN" dirty="0"/>
              <a:t>.</a:t>
            </a:r>
          </a:p>
          <a:p>
            <a:r>
              <a:rPr lang="vi-VN" b="1" dirty="0"/>
              <a:t>Formal justification</a:t>
            </a:r>
            <a:r>
              <a:rPr lang="vi-VN" dirty="0"/>
              <a:t>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làm rõ mục tiêu kinh doanh,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thống nhất kỳ vọng giữa lãnh đạo, nghiệp vụ và IT,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tránh việc “làm xong nhưng không ai dùng”.</a:t>
            </a:r>
          </a:p>
          <a:p>
            <a:r>
              <a:rPr lang="en-US" dirty="0"/>
              <a:t>=&gt; </a:t>
            </a:r>
            <a:r>
              <a:rPr lang="vi-VN" dirty="0"/>
              <a:t>BI cần được biện minh </a:t>
            </a:r>
            <a:r>
              <a:rPr lang="vi-VN" b="1" dirty="0"/>
              <a:t>trước khi xây dựng</a:t>
            </a:r>
            <a:r>
              <a:rPr lang="vi-VN" dirty="0"/>
              <a:t>, không phải sau khi triển khai.</a:t>
            </a:r>
          </a:p>
          <a:p>
            <a:r>
              <a:rPr lang="vi-VN" b="1" dirty="0"/>
              <a:t>2. Phân biệt Business Case và Technical Case</a:t>
            </a:r>
          </a:p>
          <a:p>
            <a:r>
              <a:rPr lang="vi-VN" dirty="0"/>
              <a:t>Mục tiêu thứ hai yêu cầu sinh viên phân biệt rõ: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Business Case</a:t>
            </a:r>
            <a:r>
              <a:rPr lang="vi-VN" dirty="0"/>
              <a:t> trả lời: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BI mang lại giá trị gì?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Giải quyết vấn đề kinh doanh nào?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Ai được lợi? Lợi ích đo lường ra sao?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Technical Case</a:t>
            </a:r>
            <a:r>
              <a:rPr lang="vi-VN" dirty="0"/>
              <a:t> trả lời: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Dùng công nghệ gì?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Kiến trúc ra sao?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Hệ thống có mở rộng và vận hành được không?</a:t>
            </a:r>
          </a:p>
          <a:p>
            <a:r>
              <a:rPr lang="en-US" dirty="0"/>
              <a:t>=&gt; </a:t>
            </a:r>
            <a:r>
              <a:rPr lang="vi-VN" dirty="0"/>
              <a:t>Nhiều dự án BI thất bại vì </a:t>
            </a:r>
            <a:r>
              <a:rPr lang="vi-VN" b="1" dirty="0"/>
              <a:t>chỉ có technical case mà không có business case</a:t>
            </a:r>
            <a:r>
              <a:rPr lang="vi-VN" dirty="0"/>
              <a:t>.</a:t>
            </a:r>
          </a:p>
          <a:p>
            <a:r>
              <a:rPr lang="vi-VN" b="1" dirty="0"/>
              <a:t>3. Đánh giá mức độ sẵn sàng của tổ chức (Organizational Readiness)</a:t>
            </a:r>
          </a:p>
          <a:p>
            <a:r>
              <a:rPr lang="vi-VN" dirty="0"/>
              <a:t>BI không thể thành công nếu tổ chức </a:t>
            </a:r>
            <a:r>
              <a:rPr lang="vi-VN" b="1" dirty="0"/>
              <a:t>chưa sẵn sàng</a:t>
            </a:r>
            <a:r>
              <a:rPr lang="vi-VN" dirty="0"/>
              <a:t>.</a:t>
            </a:r>
          </a:p>
          <a:p>
            <a:r>
              <a:rPr lang="vi-VN" dirty="0"/>
              <a:t>Mục tiêu này yêu cầu sinh viên hiểu cách đánh giá readiness theo </a:t>
            </a:r>
            <a:r>
              <a:rPr lang="vi-VN" b="1" dirty="0"/>
              <a:t>5 chiều</a:t>
            </a:r>
            <a:r>
              <a:rPr lang="vi-VN" dirty="0"/>
              <a:t> (sẽ học chi tiết trong chương):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con người,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 trình,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công nghệ,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quản trị.</a:t>
            </a:r>
          </a:p>
          <a:p>
            <a:r>
              <a:rPr lang="en-US" dirty="0"/>
              <a:t>=&gt; </a:t>
            </a:r>
            <a:r>
              <a:rPr lang="vi-VN" dirty="0"/>
              <a:t>BI là dự án </a:t>
            </a:r>
            <a:r>
              <a:rPr lang="vi-VN" b="1" dirty="0"/>
              <a:t>chuyển đổi tổ chức</a:t>
            </a:r>
            <a:r>
              <a:rPr lang="vi-VN" dirty="0"/>
              <a:t>, không chỉ là dự án CNTT.</a:t>
            </a:r>
          </a:p>
          <a:p>
            <a:r>
              <a:rPr lang="vi-VN" b="1" dirty="0"/>
              <a:t>4. Xây dựng BI roadmap, scope, plan, và budget</a:t>
            </a:r>
          </a:p>
          <a:p>
            <a:r>
              <a:rPr lang="vi-VN" dirty="0"/>
              <a:t>Mục tiêu tiếp theo hướng đến năng lực thực tiễn: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xây dựng </a:t>
            </a:r>
            <a:r>
              <a:rPr lang="vi-VN" b="1" dirty="0"/>
              <a:t>lộ trình BI (roadmap)</a:t>
            </a:r>
            <a:r>
              <a:rPr lang="vi-VN" dirty="0"/>
              <a:t> theo giai đoạn,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xác định phạm vi phù hợp,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lập kế hoạch và ngân sách thực tế.</a:t>
            </a:r>
          </a:p>
          <a:p>
            <a:r>
              <a:rPr lang="en-US" dirty="0"/>
              <a:t>=&gt; </a:t>
            </a:r>
            <a:r>
              <a:rPr lang="vi-VN" dirty="0"/>
              <a:t>BI không nên làm “một lần cho xong”, mà cần </a:t>
            </a:r>
            <a:r>
              <a:rPr lang="vi-VN" b="1" dirty="0"/>
              <a:t>phát triển theo từng bước có kiểm soát</a:t>
            </a:r>
            <a:r>
              <a:rPr lang="vi-VN" dirty="0"/>
              <a:t>.</a:t>
            </a:r>
          </a:p>
          <a:p>
            <a:r>
              <a:rPr lang="vi-VN" b="1" dirty="0"/>
              <a:t>5. Nhận diện các bẫy phổ biến trong BI justification</a:t>
            </a:r>
          </a:p>
          <a:p>
            <a:r>
              <a:rPr lang="vi-VN" dirty="0"/>
              <a:t>Mục tiêu cuối cùng là giúp sinh viên: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nhận diện các sai lầm thường gặp,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hiểu vì sao nhiều dự án BI thất bại dù dùng công nghệ tốt.</a:t>
            </a:r>
          </a:p>
          <a:p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kỳ vọng quá cao,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đánh giá thấp dữ liệu và con người,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coi BI là công cụ IT thuần túy.</a:t>
            </a:r>
          </a:p>
          <a:p>
            <a:r>
              <a:rPr lang="en-US" dirty="0"/>
              <a:t>=&gt; </a:t>
            </a:r>
            <a:r>
              <a:rPr lang="vi-VN" dirty="0"/>
              <a:t>Tránh được các bẫy này quan trọng </a:t>
            </a:r>
            <a:r>
              <a:rPr lang="vi-VN" b="1" dirty="0"/>
              <a:t>không kém</a:t>
            </a:r>
            <a:r>
              <a:rPr lang="vi-VN" dirty="0"/>
              <a:t> việc chọn đúng công nghệ.</a:t>
            </a:r>
          </a:p>
          <a:p>
            <a:r>
              <a:rPr lang="vi-VN" b="1" dirty="0"/>
              <a:t>6.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cần được </a:t>
            </a:r>
            <a:r>
              <a:rPr lang="vi-VN" b="1" dirty="0"/>
              <a:t>justify như một khoản đầu tư chiến lược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value phải đi trước technology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Thành công của BI phụ thuộc vào </a:t>
            </a:r>
            <a:r>
              <a:rPr lang="vi-VN" b="1" dirty="0"/>
              <a:t>tổ chức, con người và kỳ vọng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Làm BI giỏi = hiểu cả </a:t>
            </a:r>
            <a:r>
              <a:rPr lang="vi-VN" b="1" dirty="0"/>
              <a:t>kỹ thuật lẫn quản tr</a:t>
            </a:r>
            <a:r>
              <a:rPr lang="en-US" b="1" dirty="0"/>
              <a:t>ị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Why BI Justification is Non-Negotiable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đặt </a:t>
            </a:r>
            <a:r>
              <a:rPr lang="vi-VN" b="1" dirty="0"/>
              <a:t>hai bức tranh đối lập</a:t>
            </a:r>
            <a:r>
              <a:rPr lang="vi-VN" dirty="0"/>
              <a:t> cạnh nhau để nhấn mạnh một thực tế quan trọng: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BI rất “được kỳ vọng”, nhưng cũng là một trong những loại dự án dễ bị xem là thất bại nhất nếu không được justify đúng cách ngay từ đầu.</a:t>
            </a:r>
            <a:endParaRPr lang="vi-VN" dirty="0"/>
          </a:p>
          <a:p>
            <a:r>
              <a:rPr lang="vi-VN" b="1" dirty="0"/>
              <a:t>1. The Hype – Kỳ vọng và làn sóng BI</a:t>
            </a:r>
          </a:p>
          <a:p>
            <a:r>
              <a:rPr lang="vi-VN" dirty="0"/>
              <a:t>Phần bên trái mô tả </a:t>
            </a:r>
            <a:r>
              <a:rPr lang="vi-VN" b="1" dirty="0"/>
              <a:t>làn sóng BI và analytics</a:t>
            </a:r>
            <a:r>
              <a:rPr lang="vi-VN" dirty="0"/>
              <a:t> trong doanh nghiệp:</a:t>
            </a:r>
          </a:p>
          <a:p>
            <a:r>
              <a:rPr lang="vi-VN" b="1" dirty="0"/>
              <a:t>Top CIO Priority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và analytics liên tục đứng đầu danh sách đầu tư CNTT trong hơn một thập kỷ.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Lãnh đạo tin rằng dữ liệu là chìa khóa cho tăng trưởng và cạnh tranh.</a:t>
            </a:r>
          </a:p>
          <a:p>
            <a:r>
              <a:rPr lang="vi-VN" b="1" dirty="0"/>
              <a:t>Strategic Edge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Các nhà quản lý hiểu rằng: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insight từ dữ liệu mang lại lợi thế chiến lược,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doanh nghiệp “data-driven” thường hoạt động hiệu quả hơn.</a:t>
            </a:r>
          </a:p>
          <a:p>
            <a:r>
              <a:rPr lang="vi-VN" b="1" dirty="0"/>
              <a:t>Bandwagon Effect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Nhiều tổ chức đầu tư BI vì: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đối thủ đã làm,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xu hướng ngành,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áp lực “không làm thì tụt hậu”.</a:t>
            </a:r>
          </a:p>
          <a:p>
            <a:r>
              <a:rPr lang="en-US" dirty="0"/>
              <a:t>=&gt; </a:t>
            </a:r>
            <a:r>
              <a:rPr lang="vi-VN" dirty="0"/>
              <a:t>Kết quả: </a:t>
            </a:r>
            <a:r>
              <a:rPr lang="vi-VN" b="1" dirty="0"/>
              <a:t>dự án được phê duyệt nhanh</a:t>
            </a:r>
            <a:r>
              <a:rPr lang="vi-VN" dirty="0"/>
              <a:t>, nhưng chưa được suy nghĩ thấu đáo.</a:t>
            </a:r>
          </a:p>
          <a:p>
            <a:r>
              <a:rPr lang="vi-VN" b="1" dirty="0"/>
              <a:t>2. The Reality – Thực tế triển khai BI</a:t>
            </a:r>
          </a:p>
          <a:p>
            <a:r>
              <a:rPr lang="vi-VN" dirty="0"/>
              <a:t>Phần bên phải là </a:t>
            </a:r>
            <a:r>
              <a:rPr lang="vi-VN" b="1" dirty="0"/>
              <a:t>mặt trái của câu chuyện</a:t>
            </a:r>
            <a:r>
              <a:rPr lang="vi-VN" dirty="0"/>
              <a:t>:</a:t>
            </a:r>
          </a:p>
          <a:p>
            <a:r>
              <a:rPr lang="vi-VN" b="1" dirty="0"/>
              <a:t>High Failure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Phần lớn dự án BI </a:t>
            </a:r>
            <a:r>
              <a:rPr lang="vi-VN" b="1" dirty="0"/>
              <a:t>không mang lại giá trị như đã hứa</a:t>
            </a:r>
            <a:r>
              <a:rPr lang="vi-V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“Thất bại” ở đây không có nghĩa là hệ thống không chạy, mà là: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được sử dụng,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tạo ra giá trị kinh doanh.</a:t>
            </a:r>
          </a:p>
          <a:p>
            <a:r>
              <a:rPr lang="vi-VN" b="1" dirty="0"/>
              <a:t>Expectation Shortfall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Nguyên nhân chính: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phải do công nghệ,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mà do </a:t>
            </a:r>
            <a:r>
              <a:rPr lang="vi-VN" b="1" dirty="0"/>
              <a:t>khoảng cách giữa kỳ vọng ban đầu và những gì thực sự được triển khai</a:t>
            </a:r>
            <a:r>
              <a:rPr lang="vi-VN" dirty="0"/>
              <a:t>.</a:t>
            </a:r>
          </a:p>
          <a:p>
            <a:r>
              <a:rPr lang="en-US" dirty="0"/>
              <a:t>=&gt; </a:t>
            </a:r>
            <a:r>
              <a:rPr lang="vi-VN" dirty="0"/>
              <a:t>Đây là vấn đề </a:t>
            </a:r>
            <a:r>
              <a:rPr lang="vi-VN" b="1" dirty="0"/>
              <a:t>justify sai</a:t>
            </a:r>
            <a:r>
              <a:rPr lang="vi-VN" dirty="0"/>
              <a:t>, không phải build sai.</a:t>
            </a:r>
          </a:p>
          <a:p>
            <a:r>
              <a:rPr lang="vi-VN" b="1" dirty="0"/>
              <a:t>Operational Issues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Nhiều dự án: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triển khai chậm,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vượt ngân sách,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người dùng không chấp nhận hoặc quay lại Excel.</a:t>
            </a:r>
          </a:p>
          <a:p>
            <a:r>
              <a:rPr lang="en-US" dirty="0"/>
              <a:t>=&gt; </a:t>
            </a:r>
            <a:r>
              <a:rPr lang="vi-VN" dirty="0"/>
              <a:t>BI bị gắn nhãn “thất bại”, dù đã tốn rất nhiều nguồn lực.</a:t>
            </a:r>
          </a:p>
          <a:p>
            <a:r>
              <a:rPr lang="vi-VN" b="1" dirty="0"/>
              <a:t>3. Thông điệp then chốt của slide</a:t>
            </a:r>
          </a:p>
          <a:p>
            <a:r>
              <a:rPr lang="vi-VN" dirty="0"/>
              <a:t>Dòng kết luận cuối slide nhấn mạnh:</a:t>
            </a:r>
          </a:p>
          <a:p>
            <a:r>
              <a:rPr lang="vi-VN" b="1" dirty="0"/>
              <a:t>Justification is not just a selling device — it is a vehicle to set realistic expectations and guide the project to success.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justification </a:t>
            </a:r>
            <a:r>
              <a:rPr lang="vi-VN" b="1" dirty="0"/>
              <a:t>không phải để “bán dự án” cho lãnh đạo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mà để: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xác định đúng giá trị cần đạt,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làm rõ phạm vi và giới hạn,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dẫn dắt dự án đi đúng hướng.</a:t>
            </a:r>
          </a:p>
          <a:p>
            <a:r>
              <a:rPr lang="vi-VN" b="1" dirty="0"/>
              <a:t>4. Liên hệ với thực tế triển khai BI</a:t>
            </a:r>
          </a:p>
          <a:p>
            <a:r>
              <a:rPr lang="vi-VN" dirty="0"/>
              <a:t>Một dự án BI thành công thường: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business case rõ ràng,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xác định trước cái gì </a:t>
            </a:r>
            <a:r>
              <a:rPr lang="vi-VN" b="1" dirty="0"/>
              <a:t>làm được</a:t>
            </a:r>
            <a:r>
              <a:rPr lang="vi-VN" dirty="0"/>
              <a:t> và </a:t>
            </a:r>
            <a:r>
              <a:rPr lang="vi-VN" b="1" dirty="0"/>
              <a:t>chưa nên làm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thống nhất kỳ vọng giữa business và IT.</a:t>
            </a:r>
          </a:p>
          <a:p>
            <a:r>
              <a:rPr lang="en-US" dirty="0"/>
              <a:t>=&gt; </a:t>
            </a:r>
            <a:r>
              <a:rPr lang="vi-VN" b="1" dirty="0"/>
              <a:t>Không justify đúng → dự án gần như chắc chắn bị xem là thất bại</a:t>
            </a:r>
            <a:r>
              <a:rPr lang="vi-VN" dirty="0"/>
              <a:t>, dù công nghệ tốt.</a:t>
            </a:r>
          </a:p>
          <a:p>
            <a:r>
              <a:rPr lang="vi-VN" b="1" dirty="0"/>
              <a:t>5.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thất bại chủ yếu vì </a:t>
            </a:r>
            <a:r>
              <a:rPr lang="vi-VN" b="1" dirty="0"/>
              <a:t>kỳ vọng sai</a:t>
            </a:r>
            <a:r>
              <a:rPr lang="vi-VN" dirty="0"/>
              <a:t>, không phải vì công nghệ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Justification là bước </a:t>
            </a:r>
            <a:r>
              <a:rPr lang="vi-VN" b="1" dirty="0"/>
              <a:t>chiến lược</a:t>
            </a:r>
            <a:r>
              <a:rPr lang="vi-VN" dirty="0"/>
              <a:t>, không phải thủ tục hành chính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Làm BI giỏi = biết </a:t>
            </a:r>
            <a:r>
              <a:rPr lang="vi-VN" b="1" dirty="0"/>
              <a:t>nói “không” với kỳ vọng không thực tế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cần được justify như </a:t>
            </a:r>
            <a:r>
              <a:rPr lang="vi-VN" b="1" dirty="0"/>
              <a:t>một khoản đầu tư dài hạn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Strategic Goals: Beyond Project Approval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mở rộng khái niệm </a:t>
            </a:r>
            <a:r>
              <a:rPr lang="vi-VN" b="1" dirty="0"/>
              <a:t>BI justification</a:t>
            </a:r>
            <a:r>
              <a:rPr lang="vi-VN" dirty="0"/>
              <a:t>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Mục tiêu của justification không dừng lại ở việc được phê duyệt dự án, mà là tạo nền tảng chiến lược để dự án BI đi đến thành công thực sự.</a:t>
            </a:r>
            <a:endParaRPr lang="vi-VN" dirty="0"/>
          </a:p>
          <a:p>
            <a:r>
              <a:rPr lang="vi-VN" b="1" dirty="0"/>
              <a:t>1. Clarify Needs – Làm rõ nhu cầu</a:t>
            </a:r>
          </a:p>
          <a:p>
            <a:r>
              <a:rPr lang="vi-VN" dirty="0"/>
              <a:t>Justification buộc tổ chức phải: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xác định chính xác </a:t>
            </a:r>
            <a:r>
              <a:rPr lang="vi-VN" b="1" dirty="0"/>
              <a:t>vấn đề kinh doanh cần giải quyết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biệt giữa: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“nice-to-have” và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“must-have”.</a:t>
            </a:r>
          </a:p>
          <a:p>
            <a:r>
              <a:rPr lang="en-US" dirty="0"/>
              <a:t>=&gt; </a:t>
            </a:r>
            <a:r>
              <a:rPr lang="vi-VN" dirty="0"/>
              <a:t>Rất nhiều dự án BI thất bại vì </a:t>
            </a:r>
            <a:r>
              <a:rPr lang="vi-VN" b="1" dirty="0"/>
              <a:t>bắt đầu mà không biết rõ mình đang giải quyết vấn đề gì</a:t>
            </a:r>
            <a:r>
              <a:rPr lang="vi-VN" dirty="0"/>
              <a:t>.</a:t>
            </a:r>
          </a:p>
          <a:p>
            <a:r>
              <a:rPr lang="vi-VN" b="1" dirty="0"/>
              <a:t>2. Identify Risks – Nhận diện rủi ro sớm</a:t>
            </a:r>
          </a:p>
          <a:p>
            <a:r>
              <a:rPr lang="vi-VN" dirty="0"/>
              <a:t>Một justification tốt giúp phát hiện sớm: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rủi ro kỹ thuật,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rủi ro tổ chức,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rủi ro dữ liệu.</a:t>
            </a:r>
          </a:p>
          <a:p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không đủ chất lượng,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thiếu kỹ năng phân tích,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xung đột giữa các phòng ban.</a:t>
            </a:r>
          </a:p>
          <a:p>
            <a:r>
              <a:rPr lang="en-US" dirty="0"/>
              <a:t>=&gt; </a:t>
            </a:r>
            <a:r>
              <a:rPr lang="vi-VN" dirty="0"/>
              <a:t>Phát hiện sớm rủi ro rẻ hơn rất nhiều so với xử lý khi dự án đã đi quá xa.</a:t>
            </a:r>
          </a:p>
          <a:p>
            <a:r>
              <a:rPr lang="vi-VN" b="1" dirty="0"/>
              <a:t>3. Estimate Resources – Ước lượng nguồn lực thực tế</a:t>
            </a:r>
          </a:p>
          <a:p>
            <a:r>
              <a:rPr lang="vi-VN" dirty="0"/>
              <a:t>Justification yêu cầu: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xác định phạm vi phù hợp,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ước lượng chi phí,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lập kế hoạch thời gian dựa trên </a:t>
            </a:r>
            <a:r>
              <a:rPr lang="vi-VN" b="1" dirty="0"/>
              <a:t>thực tế</a:t>
            </a:r>
            <a:r>
              <a:rPr lang="vi-VN" dirty="0"/>
              <a:t>, không phải mong muốn.</a:t>
            </a:r>
          </a:p>
          <a:p>
            <a:r>
              <a:rPr lang="en-US" dirty="0"/>
              <a:t>=&gt; </a:t>
            </a:r>
            <a:r>
              <a:rPr lang="vi-VN" dirty="0"/>
              <a:t>BI thất bại rất thường xuyên vì </a:t>
            </a:r>
            <a:r>
              <a:rPr lang="vi-VN" b="1" dirty="0"/>
              <a:t>đánh giá thấp chi phí và độ phức tạp</a:t>
            </a:r>
            <a:r>
              <a:rPr lang="vi-VN" dirty="0"/>
              <a:t>.</a:t>
            </a:r>
          </a:p>
          <a:p>
            <a:r>
              <a:rPr lang="vi-VN" b="1" dirty="0"/>
              <a:t>4. Assess Readiness – Đánh giá mức độ sẵn sàng</a:t>
            </a:r>
          </a:p>
          <a:p>
            <a:r>
              <a:rPr lang="vi-VN" dirty="0"/>
              <a:t>BI không thể thành công nếu tổ chức: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chưa có dữ liệu phù hợp,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thiếu kỹ năng,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chưa có văn hóa ra quyết định dựa trên dữ liệu.</a:t>
            </a:r>
          </a:p>
          <a:p>
            <a:r>
              <a:rPr lang="en-US" dirty="0"/>
              <a:t>=&gt; </a:t>
            </a:r>
            <a:r>
              <a:rPr lang="vi-VN" dirty="0"/>
              <a:t>Readiness assessment giúp trả lời câu hỏi:</a:t>
            </a:r>
            <a:br>
              <a:rPr lang="vi-VN" dirty="0"/>
            </a:br>
            <a:r>
              <a:rPr lang="vi-VN" i="1" dirty="0"/>
              <a:t>“Chúng ta có nên làm BI ngay bây giờ không?”</a:t>
            </a:r>
            <a:endParaRPr lang="vi-VN" dirty="0"/>
          </a:p>
          <a:p>
            <a:r>
              <a:rPr lang="vi-VN" b="1" dirty="0"/>
              <a:t>5. Define Success – Định nghĩa thành công</a:t>
            </a:r>
          </a:p>
          <a:p>
            <a:r>
              <a:rPr lang="vi-VN" dirty="0"/>
              <a:t>Một justification đúng nghĩa phải: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xác định rõ </a:t>
            </a:r>
            <a:r>
              <a:rPr lang="vi-VN" b="1" dirty="0"/>
              <a:t>thế nào là thành công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gắn BI với: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ROI</a:t>
            </a:r>
            <a:r>
              <a:rPr lang="vi-VN" b="0" dirty="0"/>
              <a:t>,</a:t>
            </a:r>
            <a:r>
              <a:rPr lang="en-US" b="0" dirty="0"/>
              <a:t> (Return on Investment – </a:t>
            </a:r>
            <a:r>
              <a:rPr lang="en-US" b="0" dirty="0" err="1"/>
              <a:t>tỷ</a:t>
            </a:r>
            <a:r>
              <a:rPr lang="en-US" b="0" dirty="0"/>
              <a:t> </a:t>
            </a:r>
            <a:r>
              <a:rPr lang="en-US" b="0" dirty="0" err="1"/>
              <a:t>suất</a:t>
            </a:r>
            <a:r>
              <a:rPr lang="en-US" b="0" dirty="0"/>
              <a:t> </a:t>
            </a:r>
            <a:r>
              <a:rPr lang="en-US" b="0" dirty="0" err="1"/>
              <a:t>hoàn</a:t>
            </a:r>
            <a:r>
              <a:rPr lang="en-US" b="0" dirty="0"/>
              <a:t> </a:t>
            </a:r>
            <a:r>
              <a:rPr lang="en-US" b="0" dirty="0" err="1"/>
              <a:t>vốn</a:t>
            </a:r>
            <a:r>
              <a:rPr lang="en-US" b="0" dirty="0"/>
              <a:t> </a:t>
            </a:r>
            <a:r>
              <a:rPr lang="en-US" b="0" dirty="0" err="1"/>
              <a:t>đầu</a:t>
            </a:r>
            <a:r>
              <a:rPr lang="en-US" b="0" dirty="0"/>
              <a:t> </a:t>
            </a:r>
            <a:r>
              <a:rPr lang="en-US" b="0" dirty="0" err="1"/>
              <a:t>tư</a:t>
            </a:r>
            <a:r>
              <a:rPr lang="en-US" dirty="0"/>
              <a:t>)</a:t>
            </a:r>
            <a:endParaRPr lang="vi-V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KPI,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mục tiêu kinh doanh cụ thể.</a:t>
            </a:r>
          </a:p>
          <a:p>
            <a:r>
              <a:rPr lang="en-US" dirty="0"/>
              <a:t>=&gt; </a:t>
            </a:r>
            <a:r>
              <a:rPr lang="vi-VN" dirty="0"/>
              <a:t>Nếu không định nghĩa thành công từ đầu, </a:t>
            </a:r>
            <a:r>
              <a:rPr lang="vi-VN" b="1" dirty="0"/>
              <a:t>mọi kết quả đều có thể bị xem là thất bại</a:t>
            </a:r>
            <a:r>
              <a:rPr lang="vi-VN" dirty="0"/>
              <a:t>.</a:t>
            </a:r>
          </a:p>
          <a:p>
            <a:r>
              <a:rPr lang="vi-VN" b="1" dirty="0"/>
              <a:t>6. Prevent Failure – Ngăn thất bại từ sớm</a:t>
            </a:r>
          </a:p>
          <a:p>
            <a:r>
              <a:rPr lang="vi-VN" dirty="0"/>
              <a:t>Mục tiêu cuối cùng – và quan trọng nhất: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quản lý kỳ vọng,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tránh việc BI bị gắn nhãn “thất bại”.</a:t>
            </a:r>
          </a:p>
          <a:p>
            <a:r>
              <a:rPr lang="en-US" dirty="0"/>
              <a:t>=&gt; </a:t>
            </a:r>
            <a:r>
              <a:rPr lang="vi-VN" dirty="0"/>
              <a:t>Justification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nói rõ cái gì sẽ đạt được,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cái gì chưa thể đạt,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lộ trình phát triển dài hạn.</a:t>
            </a:r>
          </a:p>
          <a:p>
            <a:r>
              <a:rPr lang="vi-VN" b="1" dirty="0"/>
              <a:t>7. Thông điệp then chốt của slide</a:t>
            </a:r>
          </a:p>
          <a:p>
            <a:r>
              <a:rPr lang="vi-VN" dirty="0"/>
              <a:t>Câu trích dẫn ở cuối slide nhấn mạnh:</a:t>
            </a:r>
          </a:p>
          <a:p>
            <a:r>
              <a:rPr lang="vi-VN" b="1" dirty="0"/>
              <a:t>“A careful, well-documented justification is the best insurance policy for a BI project.”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justification chính là </a:t>
            </a:r>
            <a:r>
              <a:rPr lang="vi-VN" b="1" dirty="0"/>
              <a:t>bảo hiểm rủi ro</a:t>
            </a:r>
            <a:r>
              <a:rPr lang="vi-VN" dirty="0"/>
              <a:t> cho dự án BI,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giúp dự án tồn tại và phát triển ngay cả khi gặp khó khăn.</a:t>
            </a:r>
          </a:p>
          <a:p>
            <a:r>
              <a:rPr lang="vi-VN" b="1" dirty="0"/>
              <a:t>8.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justification là công cụ chiến lược, không phải thủ tục hành chính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Phê duyệt dự án chỉ là điểm khởi đầu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Thành công của BI phụ thuộc vào: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nhu cầu đúng,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kỳ vọng đúng,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lộ trình đúng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BI Justification Lifecycle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trình bày </a:t>
            </a:r>
            <a:r>
              <a:rPr lang="vi-VN" b="1" dirty="0"/>
              <a:t>vòng đời đầy đủ của BI justification</a:t>
            </a:r>
            <a:r>
              <a:rPr lang="vi-VN" dirty="0"/>
              <a:t>, nhấn mạnh rằng: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BI phải được xem như một chương trình chiến lược dài hạn</a:t>
            </a:r>
            <a:r>
              <a:rPr lang="vi-VN" dirty="0"/>
              <a:t>, không phải một dự án IT làm “một lần cho xong”.</a:t>
            </a:r>
          </a:p>
          <a:p>
            <a:r>
              <a:rPr lang="vi-VN" b="1" dirty="0"/>
              <a:t>Step 01 – Build Business Case (Xây dựng Business Case)</a:t>
            </a:r>
          </a:p>
          <a:p>
            <a:r>
              <a:rPr lang="vi-VN" dirty="0"/>
              <a:t>Đây là </a:t>
            </a:r>
            <a:r>
              <a:rPr lang="vi-VN" b="1" dirty="0"/>
              <a:t>điểm khởi đầu quan trọng nhất</a:t>
            </a:r>
            <a:r>
              <a:rPr lang="vi-VN" dirty="0"/>
              <a:t>.</a:t>
            </a:r>
          </a:p>
          <a:p>
            <a:r>
              <a:rPr lang="vi-VN" dirty="0"/>
              <a:t>Mục tiêu: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xác định </a:t>
            </a:r>
            <a:r>
              <a:rPr lang="vi-VN" b="1" dirty="0"/>
              <a:t>vấn đề kinh doanh cốt lõi</a:t>
            </a:r>
            <a:r>
              <a:rPr lang="vi-VN" dirty="0"/>
              <a:t> cần giải quyết,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xác định </a:t>
            </a:r>
            <a:r>
              <a:rPr lang="vi-VN" b="1" dirty="0"/>
              <a:t>sponsor</a:t>
            </a:r>
            <a:r>
              <a:rPr lang="vi-VN" dirty="0"/>
              <a:t>, stakeholder chính,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làm rõ </a:t>
            </a:r>
            <a:r>
              <a:rPr lang="vi-VN" b="1" dirty="0"/>
              <a:t>giá trị kinh doanh</a:t>
            </a:r>
            <a:r>
              <a:rPr lang="vi-VN" dirty="0"/>
              <a:t> mà BI sẽ mang lại.</a:t>
            </a:r>
          </a:p>
          <a:p>
            <a:r>
              <a:rPr lang="en-US" dirty="0"/>
              <a:t>=&gt; </a:t>
            </a:r>
            <a:r>
              <a:rPr lang="vi-VN" dirty="0"/>
              <a:t>Câu hỏi trọng tâm:</a:t>
            </a:r>
            <a:br>
              <a:rPr lang="vi-VN" dirty="0"/>
            </a:br>
            <a:r>
              <a:rPr lang="vi-VN" i="1" dirty="0"/>
              <a:t>“Nếu không làm BI, doanh nghiệp sẽ mất gì?”</a:t>
            </a:r>
            <a:endParaRPr lang="vi-VN" dirty="0"/>
          </a:p>
          <a:p>
            <a:r>
              <a:rPr lang="vi-VN" b="1" dirty="0"/>
              <a:t>Step 02 – Build Technical Case (Xây dựng Technical Case)</a:t>
            </a:r>
          </a:p>
          <a:p>
            <a:r>
              <a:rPr lang="vi-VN" dirty="0"/>
              <a:t>Sau khi có business case, mới xem xét đến kỹ thuật.</a:t>
            </a:r>
          </a:p>
          <a:p>
            <a:r>
              <a:rPr lang="vi-VN" dirty="0"/>
              <a:t>Mục tiêu: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đánh giá công cụ và kiến trúc phù hợp,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xem xét khả năng tích hợp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xác định kỹ năng kỹ thuật cần thiết.</a:t>
            </a:r>
          </a:p>
          <a:p>
            <a:r>
              <a:rPr lang="en-US" dirty="0"/>
              <a:t>=&gt; </a:t>
            </a:r>
            <a:r>
              <a:rPr lang="vi-VN" b="1" dirty="0"/>
              <a:t>Technical case phải phục vụ business case</a:t>
            </a:r>
            <a:r>
              <a:rPr lang="vi-VN" dirty="0"/>
              <a:t>, không được đi ngược lại.</a:t>
            </a:r>
          </a:p>
          <a:p>
            <a:r>
              <a:rPr lang="vi-VN" b="1" dirty="0"/>
              <a:t>Step 03 – Assess Readiness (Đánh giá mức độ sẵn sàng)</a:t>
            </a:r>
          </a:p>
          <a:p>
            <a:r>
              <a:rPr lang="vi-VN" dirty="0"/>
              <a:t>Bước này trả lời câu hỏi rất “đau”:</a:t>
            </a:r>
          </a:p>
          <a:p>
            <a:r>
              <a:rPr lang="vi-VN" i="1" dirty="0"/>
              <a:t>“Tổ chức có thực sự sẵn sàng làm BI ngay bây giờ không?”</a:t>
            </a:r>
            <a:endParaRPr lang="vi-VN" dirty="0"/>
          </a:p>
          <a:p>
            <a:r>
              <a:rPr lang="vi-VN" dirty="0"/>
              <a:t>Đánh giá trên các khía cạnh: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chất lượng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con người &amp; kỹ năng,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văn hóa ra quyết định,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cam kết tài chính.</a:t>
            </a:r>
          </a:p>
          <a:p>
            <a:r>
              <a:rPr lang="en-US" dirty="0"/>
              <a:t>=&gt; </a:t>
            </a:r>
            <a:r>
              <a:rPr lang="vi-VN" dirty="0"/>
              <a:t>Nhiều dự án BI thất bại vì </a:t>
            </a:r>
            <a:r>
              <a:rPr lang="vi-VN" b="1" dirty="0"/>
              <a:t>bỏ qua bước này</a:t>
            </a:r>
            <a:r>
              <a:rPr lang="vi-VN" dirty="0"/>
              <a:t>.</a:t>
            </a:r>
          </a:p>
          <a:p>
            <a:r>
              <a:rPr lang="vi-VN" b="1" dirty="0"/>
              <a:t>Step 04 – Create BI Roadmap (Xây dựng lộ trình BI)</a:t>
            </a:r>
          </a:p>
          <a:p>
            <a:r>
              <a:rPr lang="vi-VN" dirty="0"/>
              <a:t>BI không nên triển khai một lần toàn bộ.</a:t>
            </a:r>
          </a:p>
          <a:p>
            <a:r>
              <a:rPr lang="vi-VN" dirty="0"/>
              <a:t>Mục tiêu: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chia BI thành các giai đoạn,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ưu tiên giá trị sớm (quick wins),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đảm bảo khả năng mở rộng dài hạn.</a:t>
            </a:r>
          </a:p>
          <a:p>
            <a:r>
              <a:rPr lang="en-US" dirty="0"/>
              <a:t>=&gt; </a:t>
            </a:r>
            <a:r>
              <a:rPr lang="vi-VN" dirty="0"/>
              <a:t>Roadmap giúp quản lý </a:t>
            </a:r>
            <a:r>
              <a:rPr lang="vi-VN" b="1" dirty="0"/>
              <a:t>kỳ vọng và rủi ro</a:t>
            </a:r>
            <a:r>
              <a:rPr lang="vi-VN" dirty="0"/>
              <a:t>.</a:t>
            </a:r>
          </a:p>
          <a:p>
            <a:r>
              <a:rPr lang="vi-VN" b="1" dirty="0"/>
              <a:t>Step 05 – Define Scope &amp; Budget (Xác định phạm vi và ngân sách)</a:t>
            </a:r>
          </a:p>
          <a:p>
            <a:r>
              <a:rPr lang="vi-VN" dirty="0"/>
              <a:t>Ở bước này: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xác định </a:t>
            </a:r>
            <a:r>
              <a:rPr lang="vi-VN" b="1" dirty="0"/>
              <a:t>làm gì và không làm gì</a:t>
            </a:r>
            <a:r>
              <a:rPr lang="vi-VN" dirty="0"/>
              <a:t> trong giai đoạn đầu,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lập ngân sách thực tế,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ước lượng ROI theo từng giai đoạn.</a:t>
            </a:r>
          </a:p>
          <a:p>
            <a:r>
              <a:rPr lang="en-US" dirty="0"/>
              <a:t>=&gt; </a:t>
            </a:r>
            <a:r>
              <a:rPr lang="vi-VN" dirty="0"/>
              <a:t>Scope rõ ràng giúp </a:t>
            </a:r>
            <a:r>
              <a:rPr lang="vi-VN" b="1" dirty="0"/>
              <a:t>tránh scope creep</a:t>
            </a:r>
            <a:r>
              <a:rPr lang="vi-VN" dirty="0"/>
              <a:t> – kẻ thù số một của BI.</a:t>
            </a:r>
          </a:p>
          <a:p>
            <a:r>
              <a:rPr lang="vi-VN" b="1" dirty="0"/>
              <a:t>Step 06 – Obtain Approval (Phê duyệt chính thức)</a:t>
            </a:r>
          </a:p>
          <a:p>
            <a:r>
              <a:rPr lang="vi-VN" dirty="0"/>
              <a:t>Bước cuối cùng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tổng hợp toàn bộ justification,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tài liệu hóa quyết định,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đạt được </a:t>
            </a:r>
            <a:r>
              <a:rPr lang="vi-VN" b="1" dirty="0"/>
              <a:t>cam kết chính thức từ lãnh đạo</a:t>
            </a:r>
            <a:r>
              <a:rPr lang="vi-VN" dirty="0"/>
              <a:t>.</a:t>
            </a:r>
          </a:p>
          <a:p>
            <a:r>
              <a:rPr lang="en-US" dirty="0"/>
              <a:t>=&gt; </a:t>
            </a:r>
            <a:r>
              <a:rPr lang="vi-VN" dirty="0"/>
              <a:t>Approval ở đây không chỉ là ký duyệt, mà là </a:t>
            </a:r>
            <a:r>
              <a:rPr lang="vi-VN" b="1" dirty="0"/>
              <a:t>cam kết đồng hành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Thông điệp then chốt của slide</a:t>
            </a:r>
          </a:p>
          <a:p>
            <a:r>
              <a:rPr lang="vi-VN" dirty="0"/>
              <a:t>Dòng kết luận cuối slide nhấn mạnh:</a:t>
            </a:r>
          </a:p>
          <a:p>
            <a:r>
              <a:rPr lang="vi-VN" b="1" dirty="0"/>
              <a:t>A systematic approach ensures that BI is treated as a strategic program, not just a one-off IT project.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cần được quản lý như </a:t>
            </a:r>
            <a:r>
              <a:rPr lang="vi-VN" b="1" dirty="0"/>
              <a:t>chương trình chuyển đổi chiến lược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justification là công cụ dẫn dắt toàn bộ vòng đời BI.</a:t>
            </a:r>
          </a:p>
          <a:p>
            <a:endParaRPr lang="en-US" b="1" dirty="0"/>
          </a:p>
          <a:p>
            <a:r>
              <a:rPr lang="vi-VN" b="1" dirty="0"/>
              <a:t>Liên hệ với các slide trước</a:t>
            </a:r>
          </a:p>
          <a:p>
            <a:r>
              <a:rPr lang="vi-VN" dirty="0"/>
              <a:t>Slide này tổng hợp và kết nối: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Why BI Justification is Non-Negotiable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Strategic Goals: Beyond Project Approval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ROI, Readiness, Roadmap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Đây là </a:t>
            </a:r>
            <a:r>
              <a:rPr lang="vi-VN" b="1" dirty="0"/>
              <a:t>xương sống logic</a:t>
            </a:r>
            <a:r>
              <a:rPr lang="vi-VN" dirty="0"/>
              <a:t> của toàn bộ chương BI Justification.</a:t>
            </a:r>
          </a:p>
          <a:p>
            <a:endParaRPr lang="en-US" b="1" dirty="0"/>
          </a:p>
          <a:p>
            <a:r>
              <a:rPr lang="vi-VN" b="1" dirty="0"/>
              <a:t>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justification là </a:t>
            </a:r>
            <a:r>
              <a:rPr lang="vi-VN" b="1" dirty="0"/>
              <a:t>một vòng đời</a:t>
            </a:r>
            <a:r>
              <a:rPr lang="vi-VN" dirty="0"/>
              <a:t>, không phải một bản proposal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đi trước, technology theo sau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Readiness và roadmap quyết định thành bại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thành công là BI </a:t>
            </a:r>
            <a:r>
              <a:rPr lang="vi-VN" b="1" dirty="0"/>
              <a:t>được dẫn dắt và bảo vệ từ đầu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Business Case: Answering the “Why”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nhấn mạnh một nguyên tắc cốt lõi: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Trong BI, “WHY” (vì sao làm) luôn phải được trả lời trước “HOW” (làm như thế nào) và “WHAT” (dùng công cụ gì).</a:t>
            </a:r>
            <a:endParaRPr lang="vi-VN" dirty="0"/>
          </a:p>
          <a:p>
            <a:r>
              <a:rPr lang="vi-VN" dirty="0"/>
              <a:t>Dòng </a:t>
            </a:r>
            <a:r>
              <a:rPr lang="vi-VN" i="1" dirty="0"/>
              <a:t>Core Focus</a:t>
            </a:r>
            <a:r>
              <a:rPr lang="vi-VN" dirty="0"/>
              <a:t> ở đầu slide khẳng định:</a:t>
            </a:r>
          </a:p>
          <a:p>
            <a:r>
              <a:rPr lang="vi-VN" b="1" dirty="0"/>
              <a:t>Giá trị kinh doanh và sự phù hợp chiến lược phải đi trước việc chọn công cụ.</a:t>
            </a:r>
            <a:endParaRPr lang="vi-VN" dirty="0"/>
          </a:p>
          <a:p>
            <a:r>
              <a:rPr lang="vi-VN" b="1" dirty="0"/>
              <a:t>1. Problem or Opportunity – Vấn đề hoặc cơ hội kinh doanh</a:t>
            </a:r>
          </a:p>
          <a:p>
            <a:r>
              <a:rPr lang="vi-VN" dirty="0"/>
              <a:t>Business case phải bắt đầu bằng câu hỏi: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Doanh nghiệp đang gặp </a:t>
            </a:r>
            <a:r>
              <a:rPr lang="vi-VN" b="1" dirty="0"/>
              <a:t>vấn đề cụ thể nào</a:t>
            </a:r>
            <a:r>
              <a:rPr lang="vi-VN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Hoặc đang muốn </a:t>
            </a:r>
            <a:r>
              <a:rPr lang="vi-VN" b="1" dirty="0"/>
              <a:t>tận dụng cơ hội mới nào</a:t>
            </a:r>
            <a:r>
              <a:rPr lang="vi-VN" dirty="0"/>
              <a:t>?</a:t>
            </a:r>
          </a:p>
          <a:p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Quyết định chậm do báo cáo thủ công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hiểu rõ hành vi khách hàng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Mất doanh thu vì không phát hiện sớm xu hướng</a:t>
            </a:r>
          </a:p>
          <a:p>
            <a:r>
              <a:rPr lang="en-US" dirty="0"/>
              <a:t>=&gt; </a:t>
            </a:r>
            <a:r>
              <a:rPr lang="vi-VN" dirty="0"/>
              <a:t>Nếu không xác định rõ vấn đề/cơ hội, BI rất dễ trở thành </a:t>
            </a:r>
            <a:r>
              <a:rPr lang="vi-VN" b="1" dirty="0"/>
              <a:t>giải pháp đi tìm vấn đề</a:t>
            </a:r>
            <a:r>
              <a:rPr lang="vi-VN" dirty="0"/>
              <a:t>.</a:t>
            </a:r>
          </a:p>
          <a:p>
            <a:r>
              <a:rPr lang="vi-VN" b="1" dirty="0"/>
              <a:t>2. User Identification – Xác định người sử dụng</a:t>
            </a:r>
          </a:p>
          <a:p>
            <a:r>
              <a:rPr lang="vi-VN" dirty="0"/>
              <a:t>BI </a:t>
            </a:r>
            <a:r>
              <a:rPr lang="vi-VN" b="1" dirty="0"/>
              <a:t>không phục vụ “tất cả mọi người”</a:t>
            </a:r>
            <a:r>
              <a:rPr lang="vi-VN" dirty="0"/>
              <a:t>.</a:t>
            </a:r>
          </a:p>
          <a:p>
            <a:r>
              <a:rPr lang="vi-VN" dirty="0"/>
              <a:t>Business case cần xác định: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ai sẽ sử dụng BI,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vai trò của họ (lãnh đạo, quản lý, phân tích),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họ cần quyết định gì từ dữ liệu.</a:t>
            </a:r>
          </a:p>
          <a:p>
            <a:r>
              <a:rPr lang="en-US" dirty="0"/>
              <a:t>=&gt; </a:t>
            </a:r>
            <a:r>
              <a:rPr lang="vi-VN" dirty="0"/>
              <a:t>Hiểu đúng người dùng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thiết kế BI phù hợp,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tăng khả năng chấp nhận và sử dụng hệ thống.</a:t>
            </a:r>
          </a:p>
          <a:p>
            <a:r>
              <a:rPr lang="vi-VN" b="1" dirty="0"/>
              <a:t>3. Expected Benefits – Lợi ích kỳ vọng</a:t>
            </a:r>
          </a:p>
          <a:p>
            <a:r>
              <a:rPr lang="vi-VN" dirty="0"/>
              <a:t>Lợi ích trong business case phải được mô tả bằng: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tác động kinh doanh</a:t>
            </a:r>
            <a:r>
              <a:rPr lang="vi-VN" dirty="0"/>
              <a:t>, không phải tính năng kỹ thuật.</a:t>
            </a:r>
          </a:p>
          <a:p>
            <a:r>
              <a:rPr lang="vi-VN" dirty="0"/>
              <a:t>Ví dụ tốt: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giảm thời gian ra quyết định,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tăng doanh thu,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giảm chi phí vận hành.</a:t>
            </a:r>
          </a:p>
          <a:p>
            <a:r>
              <a:rPr lang="vi-VN" dirty="0"/>
              <a:t>Ví dụ chưa đủ tốt: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“có dashboard đẹp”,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“dùng công cụ hiện đại”.</a:t>
            </a:r>
          </a:p>
          <a:p>
            <a:r>
              <a:rPr lang="en-US" dirty="0"/>
              <a:t>=&gt; </a:t>
            </a:r>
            <a:r>
              <a:rPr lang="vi-VN" b="1" dirty="0"/>
              <a:t>Business case nói về giá trị, không nói về công nghệ.</a:t>
            </a:r>
            <a:endParaRPr lang="vi-VN" dirty="0"/>
          </a:p>
          <a:p>
            <a:r>
              <a:rPr lang="vi-VN" b="1" dirty="0"/>
              <a:t>4. Historical Context – Bối cảnh lịch sử</a:t>
            </a:r>
          </a:p>
          <a:p>
            <a:r>
              <a:rPr lang="vi-VN" dirty="0"/>
              <a:t>Một business case tốt luôn nhìn lại quá khứ: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tổ chức đã từng làm BI chưa?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dự án trước thành công hay thất bại?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nguyên nhân thất bại là gì?</a:t>
            </a:r>
          </a:p>
          <a:p>
            <a:r>
              <a:rPr lang="en-US" dirty="0"/>
              <a:t>=&gt; </a:t>
            </a:r>
            <a:r>
              <a:rPr lang="vi-VN" dirty="0"/>
              <a:t>Học từ quá khứ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tránh lặp lại sai lầm,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điều chỉnh kỳ vọng thực tế hơn,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xây dựng lộ trình BI phù hợp với tổ chức.</a:t>
            </a:r>
          </a:p>
          <a:p>
            <a:r>
              <a:rPr lang="vi-VN" b="1" dirty="0"/>
              <a:t>5. Thông điệp then chốt của slide</a:t>
            </a:r>
          </a:p>
          <a:p>
            <a:r>
              <a:rPr lang="vi-VN" dirty="0"/>
              <a:t>Business case BI phải trả lời rõ: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Vì sao cần BI?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Ai được lợi?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Giá trị mang lại là gì?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Bài học từ quá khứ là gì?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Nếu chưa trả lời được những câu hỏi này, </a:t>
            </a:r>
            <a:r>
              <a:rPr lang="vi-VN" b="1" dirty="0"/>
              <a:t>chưa nên nói đến công cụ hay kiến trúc</a:t>
            </a:r>
            <a:r>
              <a:rPr lang="vi-VN" dirty="0"/>
              <a:t>.</a:t>
            </a:r>
          </a:p>
          <a:p>
            <a:r>
              <a:rPr lang="vi-VN" b="1" dirty="0"/>
              <a:t>6. Liên hệ với BI Justification Lifecycle</a:t>
            </a:r>
          </a:p>
          <a:p>
            <a:r>
              <a:rPr lang="vi-VN" dirty="0"/>
              <a:t>Slide này tương ứng trực tiếp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Step 01 – Build Business Case</a:t>
            </a:r>
            <a:r>
              <a:rPr lang="vi-VN" dirty="0"/>
              <a:t> trong vòng đời BI justification.</a:t>
            </a:r>
          </a:p>
          <a:p>
            <a:r>
              <a:rPr lang="en-US" dirty="0"/>
              <a:t>=&gt; </a:t>
            </a:r>
            <a:r>
              <a:rPr lang="vi-VN" dirty="0"/>
              <a:t>Đây là </a:t>
            </a:r>
            <a:r>
              <a:rPr lang="vi-VN" b="1" dirty="0"/>
              <a:t>nền móng logic</a:t>
            </a:r>
            <a:r>
              <a:rPr lang="vi-VN" dirty="0"/>
              <a:t> cho toàn bộ các bước tiếp theo.</a:t>
            </a:r>
          </a:p>
          <a:p>
            <a:r>
              <a:rPr lang="vi-VN" b="1" dirty="0"/>
              <a:t>7.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case là câu trả lời cho “WHY”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Giá trị kinh doanh luôn đi trước công nghệ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không thành công nếu không giải quyết đúng vấn đề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Một business case tốt giúp BI </a:t>
            </a:r>
            <a:r>
              <a:rPr lang="vi-VN" b="1" dirty="0"/>
              <a:t>được bảo vệ suốt vòng đời dự án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“Build It and They Will Come” Trap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phản biện một niềm tin sai lầm rất phổ biến:</a:t>
            </a:r>
          </a:p>
          <a:p>
            <a:r>
              <a:rPr lang="vi-VN" i="1" dirty="0"/>
              <a:t>“Cứ xây hệ thống BI thật tốt thì người dùng sẽ tự động sử dụng.”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Trong thực tế, </a:t>
            </a:r>
            <a:r>
              <a:rPr lang="vi-VN" b="1" dirty="0"/>
              <a:t>đây là cái bẫy khiến rất nhiều dự án BI thất bại</a:t>
            </a:r>
            <a:r>
              <a:rPr lang="vi-VN" dirty="0"/>
              <a:t>, dù công nghệ không hề tệ.</a:t>
            </a:r>
          </a:p>
          <a:p>
            <a:r>
              <a:rPr lang="vi-VN" b="1" dirty="0"/>
              <a:t>1. Information Nirvana – Ảo tưởng “thiên đường thông tin”</a:t>
            </a:r>
          </a:p>
          <a:p>
            <a:r>
              <a:rPr lang="vi-VN" dirty="0"/>
              <a:t>Sai lầm đầu tiên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hứa hẹn một hệ thống BI: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đầy đủ mọi thông tin,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cho mọi người,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ngay lập tức.</a:t>
            </a:r>
          </a:p>
          <a:p>
            <a:r>
              <a:rPr lang="en-US" dirty="0"/>
              <a:t>=&gt; </a:t>
            </a:r>
            <a:r>
              <a:rPr lang="vi-VN" dirty="0"/>
              <a:t>Đây là </a:t>
            </a:r>
            <a:r>
              <a:rPr lang="vi-VN" b="1" dirty="0"/>
              <a:t>kỳ vọng không thực tế</a:t>
            </a:r>
            <a:r>
              <a:rPr lang="vi-VN" dirty="0"/>
              <a:t>.</a:t>
            </a:r>
          </a:p>
          <a:p>
            <a:r>
              <a:rPr lang="vi-VN" dirty="0"/>
              <a:t>Hệ quả: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mong chờ quá cao,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khi hệ thống ra mắt không đáp ứng được “mọi thứ cho mọi người”,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dẫn đến </a:t>
            </a:r>
            <a:r>
              <a:rPr lang="vi-VN" b="1" dirty="0"/>
              <a:t>thất vọng và mất niềm tin</a:t>
            </a:r>
            <a:r>
              <a:rPr lang="vi-VN" dirty="0"/>
              <a:t>.</a:t>
            </a:r>
          </a:p>
          <a:p>
            <a:r>
              <a:rPr lang="vi-VN" b="1" dirty="0"/>
              <a:t>2. Uncontrolled Scope – Phạm vi mất kiểm soát</a:t>
            </a:r>
          </a:p>
          <a:p>
            <a:r>
              <a:rPr lang="vi-VN" dirty="0"/>
              <a:t>Khi không có business case rõ ràng: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phạm vi dự án liên tục bị mở rộng,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thêm yêu cầu mới,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thêm báo cáo, thêm nguồn dữ liệu.</a:t>
            </a:r>
          </a:p>
          <a:p>
            <a:r>
              <a:rPr lang="en-US" dirty="0"/>
              <a:t>=&gt; </a:t>
            </a:r>
            <a:r>
              <a:rPr lang="vi-VN" dirty="0"/>
              <a:t>Dự án trở nên: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quá lớn,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kéo dài,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có điểm kết thúc rõ ràng.</a:t>
            </a:r>
          </a:p>
          <a:p>
            <a:r>
              <a:rPr lang="vi-VN" dirty="0"/>
              <a:t>Đây chính là hiện tượng </a:t>
            </a:r>
            <a:r>
              <a:rPr lang="vi-VN" b="1" dirty="0"/>
              <a:t>scope creep</a:t>
            </a:r>
            <a:r>
              <a:rPr lang="vi-VN" dirty="0"/>
              <a:t>.</a:t>
            </a:r>
          </a:p>
          <a:p>
            <a:r>
              <a:rPr lang="vi-VN" b="1" dirty="0"/>
              <a:t>3. Data Shadow Systems – Hệ thống dữ liệu “bóng tối”</a:t>
            </a:r>
          </a:p>
          <a:p>
            <a:r>
              <a:rPr lang="vi-VN" dirty="0"/>
              <a:t>Khi BI trung tâm triển khai quá chậm: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các phòng ban tự tạo: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spreadsheet riêng,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báo cáo thủ công,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“spreadmart”.</a:t>
            </a:r>
          </a:p>
          <a:p>
            <a:r>
              <a:rPr lang="en-US" dirty="0"/>
              <a:t>=&gt; </a:t>
            </a:r>
            <a:r>
              <a:rPr lang="vi-VN" dirty="0"/>
              <a:t>Hệ quả: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nhiều phiên bản sự thật,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không thống nhất,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chính thống bị bỏ qua.</a:t>
            </a:r>
          </a:p>
          <a:p>
            <a:r>
              <a:rPr lang="vi-VN" b="1" dirty="0"/>
              <a:t>4. Lack of Ownership – Không ai chịu trách nhiệm</a:t>
            </a:r>
          </a:p>
          <a:p>
            <a:r>
              <a:rPr lang="vi-VN" dirty="0"/>
              <a:t>Khi BI bị nhìn nhận như: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“thí nghiệm của IT”,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chứ không phải công cụ kinh doanh,</a:t>
            </a:r>
          </a:p>
          <a:p>
            <a:r>
              <a:rPr lang="vi-VN" dirty="0"/>
              <a:t>thì: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phòng ban nào chịu trách nhiệm về kết quả,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ai chịu trách nhiệm về việc sử dụng BI.</a:t>
            </a:r>
          </a:p>
          <a:p>
            <a:r>
              <a:rPr lang="en-US" dirty="0"/>
              <a:t>=&gt; </a:t>
            </a:r>
            <a:r>
              <a:rPr lang="vi-VN" dirty="0"/>
              <a:t>Kết quả là </a:t>
            </a:r>
            <a:r>
              <a:rPr lang="vi-VN" b="1" dirty="0"/>
              <a:t>tỷ lệ chấp nhận rất thấp</a:t>
            </a:r>
            <a:r>
              <a:rPr lang="vi-VN" dirty="0"/>
              <a:t>.</a:t>
            </a:r>
          </a:p>
          <a:p>
            <a:r>
              <a:rPr lang="vi-VN" b="1" dirty="0"/>
              <a:t>5. Kết quả cuối cùng (The Result)</a:t>
            </a:r>
          </a:p>
          <a:p>
            <a:r>
              <a:rPr lang="vi-VN" dirty="0"/>
              <a:t>Slide tổng kết rất rõ:</a:t>
            </a:r>
          </a:p>
          <a:p>
            <a:r>
              <a:rPr lang="vi-VN" b="1" dirty="0"/>
              <a:t>Low adoption and perceived high cost with little value.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bị cho là tốn kém,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ít giá trị,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dù thực tế vấn đề nằm ở </a:t>
            </a:r>
            <a:r>
              <a:rPr lang="vi-VN" b="1" dirty="0"/>
              <a:t>cách bắt đầu dự án</a:t>
            </a:r>
            <a:r>
              <a:rPr lang="vi-VN" dirty="0"/>
              <a:t>, không phải công nghệ.</a:t>
            </a:r>
          </a:p>
          <a:p>
            <a:r>
              <a:rPr lang="vi-VN" b="1" dirty="0"/>
              <a:t>6. Thông điệp cảnh báo quan trọng nhất</a:t>
            </a:r>
          </a:p>
          <a:p>
            <a:r>
              <a:rPr lang="vi-VN" dirty="0"/>
              <a:t>Dòng chữ đỏ cuối slide nhấn mạnh:</a:t>
            </a:r>
          </a:p>
          <a:p>
            <a:r>
              <a:rPr lang="vi-VN" b="1" dirty="0"/>
              <a:t>Skipping the business case is the fastest way to turn a strategic investment into an expensive overhead.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Bỏ qua business case =</a:t>
            </a:r>
            <a:r>
              <a:rPr lang="en-US" dirty="0"/>
              <a:t> </a:t>
            </a:r>
            <a:r>
              <a:rPr lang="vi-VN" b="1" dirty="0"/>
              <a:t>biến một khoản đầu tư chiến lược thành chi phí vô ích</a:t>
            </a:r>
            <a:r>
              <a:rPr lang="vi-VN" dirty="0"/>
              <a:t>.</a:t>
            </a:r>
          </a:p>
          <a:p>
            <a:r>
              <a:rPr lang="vi-VN" b="1" dirty="0"/>
              <a:t>7. Liên hệ với các slide trước</a:t>
            </a:r>
          </a:p>
          <a:p>
            <a:r>
              <a:rPr lang="vi-VN" dirty="0"/>
              <a:t>Slide này trực tiếp củng cố các ý: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Why BI Justification is Non-Negotiable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The Business Case: Answering the “Why”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Business case chính là </a:t>
            </a:r>
            <a:r>
              <a:rPr lang="vi-VN" b="1" dirty="0"/>
              <a:t>cách duy nhất để tránh cái bẫy “build it and they will come”</a:t>
            </a:r>
            <a:r>
              <a:rPr lang="vi-VN" dirty="0"/>
              <a:t>.</a:t>
            </a:r>
          </a:p>
          <a:p>
            <a:r>
              <a:rPr lang="vi-VN" b="1" dirty="0"/>
              <a:t>8.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không tự tạo ra giá trị chỉ vì nó tồn tại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</a:t>
            </a:r>
            <a:r>
              <a:rPr lang="vi-VN" b="1" dirty="0"/>
              <a:t>không tự đến</a:t>
            </a:r>
            <a:r>
              <a:rPr lang="vi-VN" dirty="0"/>
              <a:t>, họ cần: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giá trị rõ ràng,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nhu cầu cụ thể,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trách nhiệm rõ ràng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case là nền tảng để: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kiểm soát phạm vi,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quản lý kỳ vọng,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đảm bảo BI được sử dụng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Aligning BI with Strategic Business Initiatives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truyền tải một thông điệp rất rõ ràng: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BI không nên tồn tại như một dự án IT độc lập, mà phải được gắn trực tiếp với các sáng kiến chiến lược của doanh nghiệp.</a:t>
            </a:r>
            <a:endParaRPr lang="vi-VN" dirty="0"/>
          </a:p>
          <a:p>
            <a:r>
              <a:rPr lang="vi-VN" b="1" dirty="0"/>
              <a:t>1. Leverage Funding – Tận dụng nguồn lực sẵn có</a:t>
            </a:r>
          </a:p>
          <a:p>
            <a:r>
              <a:rPr lang="vi-VN" dirty="0"/>
              <a:t>Các sáng kiến chiến lược của doanh nghiệp: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đã được ưu tiên,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đã được phê duyệt,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đã có ngân sách.</a:t>
            </a:r>
          </a:p>
          <a:p>
            <a:r>
              <a:rPr lang="vi-VN" dirty="0"/>
              <a:t>Khi định vị BI như </a:t>
            </a:r>
            <a:r>
              <a:rPr lang="vi-VN" b="1" dirty="0"/>
              <a:t>công cụ hỗ trợ trực tiếp cho các sáng kiến này</a:t>
            </a:r>
            <a:r>
              <a:rPr lang="vi-V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không phải “xin tiền từ đầu”,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mà trở thành </a:t>
            </a:r>
            <a:r>
              <a:rPr lang="vi-VN" b="1" dirty="0"/>
              <a:t>một phần của khoản đầu tư chiến lược hiện có</a:t>
            </a:r>
            <a:r>
              <a:rPr lang="vi-VN" dirty="0"/>
              <a:t>.</a:t>
            </a:r>
          </a:p>
          <a:p>
            <a:r>
              <a:rPr lang="en-US" dirty="0"/>
              <a:t>=&gt; </a:t>
            </a:r>
            <a:r>
              <a:rPr lang="vi-VN" dirty="0"/>
              <a:t>Điều này giúp BI dễ được chấp thuận và duy trì lâu dài hơn.</a:t>
            </a:r>
          </a:p>
          <a:p>
            <a:r>
              <a:rPr lang="vi-VN" b="1" dirty="0"/>
              <a:t>2. Data-Driven Execution – Thực thi chiến lược dựa trên dữ liệu</a:t>
            </a:r>
          </a:p>
          <a:p>
            <a:r>
              <a:rPr lang="vi-VN" dirty="0"/>
              <a:t>Hầu hết mục tiêu chiến lược hiện đại như: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mở rộng thị trường,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tối ưu chi phí,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nâng cao trải nghiệm khách hàng,</a:t>
            </a:r>
          </a:p>
          <a:p>
            <a:r>
              <a:rPr lang="vi-VN" dirty="0"/>
              <a:t>đều </a:t>
            </a:r>
            <a:r>
              <a:rPr lang="vi-VN" b="1" dirty="0"/>
              <a:t>không thể triển khai hiệu quả nếu thiếu dữ liệu và phân tích</a:t>
            </a:r>
            <a:r>
              <a:rPr lang="vi-VN" dirty="0"/>
              <a:t>.</a:t>
            </a:r>
          </a:p>
          <a:p>
            <a:r>
              <a:rPr lang="vi-VN" dirty="0"/>
              <a:t>BI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theo dõi tiến độ thực hiện chiến lược,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đo lường hiệu quả,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điều chỉnh chiến thuật theo thời gian thực.</a:t>
            </a:r>
          </a:p>
          <a:p>
            <a:r>
              <a:rPr lang="en-US" dirty="0"/>
              <a:t>=&gt; </a:t>
            </a:r>
            <a:r>
              <a:rPr lang="vi-VN" dirty="0"/>
              <a:t>BI biến chiến lược từ “ý tưởng trên giấy” thành </a:t>
            </a:r>
            <a:r>
              <a:rPr lang="vi-VN" b="1" dirty="0"/>
              <a:t>hành động có kiểm soát</a:t>
            </a:r>
            <a:r>
              <a:rPr lang="vi-VN" dirty="0"/>
              <a:t>.</a:t>
            </a:r>
          </a:p>
          <a:p>
            <a:r>
              <a:rPr lang="vi-VN" b="1" dirty="0"/>
              <a:t>3. Strategic Support – Hỗ trợ chiến lược dài hạn</a:t>
            </a:r>
          </a:p>
          <a:p>
            <a:r>
              <a:rPr lang="vi-VN" dirty="0"/>
              <a:t>Vai trò cốt lõi của BI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cung cấp insight cho lãnh đạo,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hỗ trợ ra quyết định chiến lược,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làm rõ tác động của các quyết định trong hiện tại và tương lai.</a:t>
            </a:r>
          </a:p>
          <a:p>
            <a:r>
              <a:rPr lang="vi-VN" dirty="0"/>
              <a:t>BI giúp doanh nghiệp: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hiểu mình đang ở đâu,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biết mình có đi đúng hướng không,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cần điều chỉnh gì để đạt mục tiêu dài hạn.</a:t>
            </a:r>
          </a:p>
          <a:p>
            <a:r>
              <a:rPr lang="vi-VN" b="1" dirty="0"/>
              <a:t>4. The Golden Rule of BI Success – Quy tắc vàng của BI</a:t>
            </a:r>
          </a:p>
          <a:p>
            <a:r>
              <a:rPr lang="vi-VN" dirty="0"/>
              <a:t>Thông điệp kết luận của slide rất quan trọng:</a:t>
            </a:r>
          </a:p>
          <a:p>
            <a:r>
              <a:rPr lang="vi-VN" b="1" dirty="0"/>
              <a:t>BI succeeds when it is perceived as a vital component of a funded business goal, rather than a standalone IT project.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chỉ thành công khi: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gắn với mục tiêu kinh doanh cụ thể,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có “chủ sở hữu” phía business,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được xem là công cụ tạo giá trị, không phải chi phí IT.</a:t>
            </a:r>
          </a:p>
          <a:p>
            <a:r>
              <a:rPr lang="vi-VN" b="1" dirty="0"/>
              <a:t>5. Liên hệ với BI Justification</a:t>
            </a:r>
          </a:p>
          <a:p>
            <a:r>
              <a:rPr lang="vi-VN" dirty="0"/>
              <a:t>Slide này củng cố trực tiếp cho: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Business Case BI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Strategic Justification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Một business case BI tốt luôn trả lời được: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hỗ trợ </a:t>
            </a:r>
            <a:r>
              <a:rPr lang="vi-VN" b="1" dirty="0"/>
              <a:t>sáng kiến chiến lược nào</a:t>
            </a:r>
            <a:r>
              <a:rPr lang="vi-VN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Nếu không có BI, sáng kiến đó </a:t>
            </a:r>
            <a:r>
              <a:rPr lang="vi-VN" b="1" dirty="0"/>
              <a:t>rủi ro ở điểm nào</a:t>
            </a:r>
            <a:r>
              <a:rPr lang="vi-VN" dirty="0"/>
              <a:t>?</a:t>
            </a:r>
          </a:p>
          <a:p>
            <a:r>
              <a:rPr lang="vi-VN" b="1" dirty="0"/>
              <a:t>6.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không tự tạo ra giá trị nếu tách rời chiến lược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Gắn BI với sáng kiến chiến lược giúp: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dễ được tài trợ,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dễ được sử dụng,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dễ chứng minh ROI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thành công là BI </a:t>
            </a:r>
            <a:r>
              <a:rPr lang="vi-VN" b="1" dirty="0"/>
              <a:t>được business “sở hữu”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BI as a Process Enabler, Not Just a Report Generator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khẳng định một tư duy rất quan trọng: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BI không chỉ để tạo báo cáo, mà để cải thiện cách doanh nghiệp vận hành các quy trình cốt lõi.</a:t>
            </a:r>
            <a:endParaRPr lang="vi-VN" dirty="0"/>
          </a:p>
          <a:p>
            <a:r>
              <a:rPr lang="vi-VN" dirty="0"/>
              <a:t>Nếu chỉ xem BI là công cụ báo cáo, doanh nghiệp sẽ: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dùng BI ít,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khó chứng minh ROI,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dễ thất bại.</a:t>
            </a:r>
          </a:p>
          <a:p>
            <a:r>
              <a:rPr lang="vi-VN" b="1" dirty="0"/>
              <a:t>1. Operational Focus – Tập trung vào quy trình vận hành</a:t>
            </a:r>
          </a:p>
          <a:p>
            <a:r>
              <a:rPr lang="vi-VN" dirty="0"/>
              <a:t>Thay vì bắt đầu bằng câu hỏi: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“Chúng ta cần báo cáo gì?”</a:t>
            </a:r>
          </a:p>
          <a:p>
            <a:r>
              <a:rPr lang="vi-VN" dirty="0"/>
              <a:t>BI nên bắt đầu bằng: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“Quy trình nào đang tạo ra giá trị?”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“Quy trình nào đang có vấn đề?”</a:t>
            </a:r>
          </a:p>
          <a:p>
            <a:r>
              <a:rPr lang="vi-VN" dirty="0"/>
              <a:t>Các lĩnh vực vận hành được liệt kê: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Sales &amp; Marketing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Customer Acquisition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Supply Chain &amp;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Budgeting &amp; Forecasting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Expense Management</a:t>
            </a:r>
          </a:p>
          <a:p>
            <a:r>
              <a:rPr lang="en-US" dirty="0"/>
              <a:t>=&gt; </a:t>
            </a:r>
            <a:r>
              <a:rPr lang="vi-VN" dirty="0"/>
              <a:t>Đây là </a:t>
            </a:r>
            <a:r>
              <a:rPr lang="vi-VN" b="1" dirty="0"/>
              <a:t>nơi BI tạo ra tác động trực tiếp và đo được</a:t>
            </a:r>
            <a:r>
              <a:rPr lang="vi-VN" dirty="0"/>
              <a:t>.</a:t>
            </a:r>
          </a:p>
          <a:p>
            <a:r>
              <a:rPr lang="vi-VN" b="1" dirty="0"/>
              <a:t>2. Identify Bottlenecks – Xác định điểm nghẽn</a:t>
            </a:r>
          </a:p>
          <a:p>
            <a:r>
              <a:rPr lang="vi-VN" dirty="0"/>
              <a:t>BI giúp trả lời: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bước nào trong quy trình bị chậm,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thiếu dữ liệu ở đâu,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quyết định nào đang dựa vào cảm tính.</a:t>
            </a:r>
          </a:p>
          <a:p>
            <a:r>
              <a:rPr lang="en-US" dirty="0"/>
              <a:t>=&gt; </a:t>
            </a:r>
            <a:r>
              <a:rPr lang="vi-VN" dirty="0"/>
              <a:t>Insight tốt nhất thường đến từ </a:t>
            </a:r>
            <a:r>
              <a:rPr lang="vi-VN" b="1" dirty="0"/>
              <a:t>những điểm nghẽn trong quy trình</a:t>
            </a:r>
            <a:r>
              <a:rPr lang="vi-VN" dirty="0"/>
              <a:t>, không phải từ dashboard tổng hợp.</a:t>
            </a:r>
          </a:p>
          <a:p>
            <a:r>
              <a:rPr lang="vi-VN" b="1" dirty="0"/>
              <a:t>3. Building Blocks – Quy trình là nền tảng</a:t>
            </a:r>
          </a:p>
          <a:p>
            <a:r>
              <a:rPr lang="vi-VN" dirty="0"/>
              <a:t>Slide nhấn mạnh: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quy trình kinh doanh</a:t>
            </a:r>
            <a:r>
              <a:rPr lang="vi-VN" dirty="0"/>
              <a:t>, không phải báo cáo kỹ thuật,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mới là nền tảng để: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xây business case,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lập BI roadmap.</a:t>
            </a:r>
          </a:p>
          <a:p>
            <a:r>
              <a:rPr lang="en-US" dirty="0"/>
              <a:t>=&gt; </a:t>
            </a:r>
            <a:r>
              <a:rPr lang="vi-VN" dirty="0"/>
              <a:t>Khi bắt đầu từ quy trình: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yêu cầu BI rõ ràng hơn,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phạm vi dễ kiểm soát hơn,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giá trị kinh doanh dễ chứng minh hơn.</a:t>
            </a:r>
          </a:p>
          <a:p>
            <a:r>
              <a:rPr lang="vi-VN" b="1" dirty="0"/>
              <a:t>4. Performance Measurement – Đo lường hiệu suất</a:t>
            </a:r>
          </a:p>
          <a:p>
            <a:r>
              <a:rPr lang="vi-VN" dirty="0"/>
              <a:t>Mỗi quy trình đều tạo ra: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chỉ số đo lường hiệu quả.</a:t>
            </a:r>
          </a:p>
          <a:p>
            <a:r>
              <a:rPr lang="vi-VN" dirty="0"/>
              <a:t>BI có nhiệm vụ: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theo dõi KPI,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phát hiện sai lệch,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hỗ trợ cải tiến liên tục.</a:t>
            </a:r>
          </a:p>
          <a:p>
            <a:r>
              <a:rPr lang="en-US" dirty="0"/>
              <a:t>=&gt; </a:t>
            </a:r>
            <a:r>
              <a:rPr lang="vi-VN" dirty="0"/>
              <a:t>BI là công cụ </a:t>
            </a:r>
            <a:r>
              <a:rPr lang="vi-VN" b="1" dirty="0"/>
              <a:t>đóng vòng phản hồi (feedback loop)</a:t>
            </a:r>
            <a:r>
              <a:rPr lang="vi-VN" dirty="0"/>
              <a:t> cho doanh nghiệp.</a:t>
            </a:r>
          </a:p>
          <a:p>
            <a:r>
              <a:rPr lang="vi-VN" b="1" dirty="0"/>
              <a:t>5. Lợi thế của cách tiếp cận theo quy trình</a:t>
            </a:r>
          </a:p>
          <a:p>
            <a:r>
              <a:rPr lang="vi-VN" dirty="0"/>
              <a:t>Dòng kết luận cuối slide nêu rõ lợi ích:</a:t>
            </a:r>
          </a:p>
          <a:p>
            <a:r>
              <a:rPr lang="vi-VN" b="1" dirty="0"/>
              <a:t>Organizing around processes makes it easier to identify users, define requirements, and quantify tangible benefits.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dễ xác định người dùng BI,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dễ thu thập yêu cầu đúng,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dễ lượng hóa lợi ích (ROI).</a:t>
            </a:r>
          </a:p>
          <a:p>
            <a:r>
              <a:rPr lang="vi-VN" b="1" dirty="0"/>
              <a:t>6. Liên hệ với BI Justification</a:t>
            </a:r>
          </a:p>
          <a:p>
            <a:r>
              <a:rPr lang="vi-VN" dirty="0"/>
              <a:t>Slide này trực tiếp hỗ trợ: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xây dựng </a:t>
            </a:r>
            <a:r>
              <a:rPr lang="vi-VN" b="1" dirty="0"/>
              <a:t>Business Case BI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tránh bẫy </a:t>
            </a:r>
            <a:r>
              <a:rPr lang="vi-VN" i="1" dirty="0"/>
              <a:t>“Build it and they will come”</a:t>
            </a:r>
            <a:r>
              <a:rPr lang="vi-VN" dirty="0"/>
              <a:t>.</a:t>
            </a:r>
          </a:p>
          <a:p>
            <a:r>
              <a:rPr lang="en-US" dirty="0"/>
              <a:t>=&gt; </a:t>
            </a:r>
            <a:r>
              <a:rPr lang="vi-VN" dirty="0"/>
              <a:t>Khi BI gắn với quy trình: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“sở hữu” BI,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có lý do tồn tại rõ ràng.</a:t>
            </a:r>
          </a:p>
          <a:p>
            <a:r>
              <a:rPr lang="vi-VN" b="1" dirty="0"/>
              <a:t>7.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không phải là hệ thống báo cáo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là công cụ cải tiến quy trình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Bắt đầu từ quy trình giúp: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BI được dùng,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BI tạo giá trị,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BI thành công lâu dài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BI Sponsorship: More Than Just a Signature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nhấn mạnh một thực tế quan trọng: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Sponsor BI không chỉ là người ký duyệt ngân sách, mà là người bảo trợ và dẫn dắt sự thành công dài hạn của chương trình BI.</a:t>
            </a:r>
            <a:endParaRPr lang="vi-VN" dirty="0"/>
          </a:p>
          <a:p>
            <a:r>
              <a:rPr lang="vi-VN" dirty="0"/>
              <a:t>Rất nhiều dự án BI thất bại </a:t>
            </a:r>
            <a:r>
              <a:rPr lang="vi-VN" b="1" dirty="0"/>
              <a:t>không phải vì kỹ thuật</a:t>
            </a:r>
            <a:r>
              <a:rPr lang="vi-VN" dirty="0"/>
              <a:t>, mà vì </a:t>
            </a:r>
            <a:r>
              <a:rPr lang="vi-VN" b="1" dirty="0"/>
              <a:t>thiếu sponsor đúng nghĩa</a:t>
            </a:r>
            <a:r>
              <a:rPr lang="vi-VN" dirty="0"/>
              <a:t>.</a:t>
            </a:r>
          </a:p>
          <a:p>
            <a:r>
              <a:rPr lang="vi-VN" b="1" dirty="0"/>
              <a:t>1. Key Responsibilities – Trách nhiệm cốt lõi của BI Sponsor</a:t>
            </a:r>
          </a:p>
          <a:p>
            <a:r>
              <a:rPr lang="vi-VN" b="1" dirty="0"/>
              <a:t>Secure Funding – Đảm bảo ngân sách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Sponsor phải: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xin phê duyệt ngân sách,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bảo vệ ngân sách BI trước các ưu tiên cạnh tranh khác.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là chương trình dài hạn, nên ngân sách </a:t>
            </a:r>
            <a:r>
              <a:rPr lang="vi-VN" b="1" dirty="0"/>
              <a:t>không thể chỉ cấp một lần</a:t>
            </a:r>
            <a:r>
              <a:rPr lang="vi-VN" dirty="0"/>
              <a:t>.</a:t>
            </a:r>
          </a:p>
          <a:p>
            <a:r>
              <a:rPr lang="en-US" dirty="0"/>
              <a:t>=&gt; </a:t>
            </a:r>
            <a:r>
              <a:rPr lang="vi-VN" dirty="0"/>
              <a:t>Không có ngân sách ổn định → BI dễ bị “chết yểu”.</a:t>
            </a:r>
          </a:p>
          <a:p>
            <a:r>
              <a:rPr lang="vi-VN" b="1" dirty="0"/>
              <a:t>Commit Resources – Cam kết nguồn lực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Sponsor đảm bảo: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người dùng nghiệp vụ,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chuyên gia nghiệp vụ,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thời gian tham gia của các phòng ban.</a:t>
            </a:r>
          </a:p>
          <a:p>
            <a:r>
              <a:rPr lang="en-US" dirty="0"/>
              <a:t>=&gt; </a:t>
            </a:r>
            <a:r>
              <a:rPr lang="vi-VN" dirty="0"/>
              <a:t>Nếu business không dành thời gian cho BI, BI sẽ trở thành “dự án của IT”.</a:t>
            </a:r>
          </a:p>
          <a:p>
            <a:r>
              <a:rPr lang="vi-VN" b="1" dirty="0"/>
              <a:t>Support Change – Dẫn dắt thay đổi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làm thay đổi: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cách ra quyết định,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quyền kiểm soát thông tin,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văn hóa tổ chức.</a:t>
            </a:r>
          </a:p>
          <a:p>
            <a:r>
              <a:rPr lang="vi-VN" dirty="0"/>
              <a:t>Sponsor phải: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đứng ra bảo vệ BI,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thúc đẩy văn hóa </a:t>
            </a:r>
            <a:r>
              <a:rPr lang="vi-VN" b="1" dirty="0"/>
              <a:t>data-driven</a:t>
            </a:r>
            <a:r>
              <a:rPr lang="vi-VN" dirty="0"/>
              <a:t>.</a:t>
            </a:r>
          </a:p>
          <a:p>
            <a:r>
              <a:rPr lang="en-US" dirty="0"/>
              <a:t>=&gt; </a:t>
            </a:r>
            <a:r>
              <a:rPr lang="vi-VN" dirty="0"/>
              <a:t>BI luôn là </a:t>
            </a:r>
            <a:r>
              <a:rPr lang="vi-VN" b="1" dirty="0"/>
              <a:t>dự án thay đổi tổ chức</a:t>
            </a:r>
            <a:r>
              <a:rPr lang="vi-VN" dirty="0"/>
              <a:t>.</a:t>
            </a:r>
          </a:p>
          <a:p>
            <a:r>
              <a:rPr lang="vi-VN" b="1" dirty="0"/>
              <a:t>Resolve Conflicts – Giải quyết xung đột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thường gây tranh cãi: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KPI nào đúng?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dữ liệu phòng ban nào là “chuẩn”?</a:t>
            </a:r>
          </a:p>
          <a:p>
            <a:r>
              <a:rPr lang="vi-VN" dirty="0"/>
              <a:t>Sponsor có quyền lực để: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xử,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ưu tiên,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đưa ra quyết định cuối cùng.</a:t>
            </a:r>
          </a:p>
          <a:p>
            <a:r>
              <a:rPr lang="en-US" dirty="0"/>
              <a:t>=&gt; </a:t>
            </a:r>
            <a:r>
              <a:rPr lang="vi-VN" dirty="0"/>
              <a:t>Không có sponsor mạnh → xung đột kéo dài → dự án đình trệ.</a:t>
            </a:r>
          </a:p>
          <a:p>
            <a:r>
              <a:rPr lang="vi-VN" b="1" dirty="0"/>
              <a:t>2. Ideal Characteristics – Phẩm chất của một BI Sponsor tốt</a:t>
            </a:r>
          </a:p>
          <a:p>
            <a:r>
              <a:rPr lang="vi-VN" b="1" dirty="0"/>
              <a:t>Politically Astute – Am hiểu chính trị tổ chức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Hiểu: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quyền lực nằm ở đâu,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ai ảnh hưởng đến ai,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làm sao để thúc đẩy quyết định.</a:t>
            </a:r>
          </a:p>
          <a:p>
            <a:r>
              <a:rPr lang="en-US" dirty="0"/>
              <a:t>=&gt; </a:t>
            </a:r>
            <a:r>
              <a:rPr lang="vi-VN" dirty="0"/>
              <a:t>BI không tồn tại trong “chân không”, mà trong </a:t>
            </a:r>
            <a:r>
              <a:rPr lang="vi-VN" b="1" dirty="0"/>
              <a:t>môi trường chính trị nội bộ</a:t>
            </a:r>
            <a:r>
              <a:rPr lang="vi-VN" dirty="0"/>
              <a:t>.</a:t>
            </a:r>
          </a:p>
          <a:p>
            <a:r>
              <a:rPr lang="vi-VN" b="1" dirty="0"/>
              <a:t>Enthusiastic – Nhiệt huyết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Sponsor cần: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tin thật sự vào giá trị của BI,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truyền cảm hứng cho người khác tham gia.</a:t>
            </a:r>
          </a:p>
          <a:p>
            <a:r>
              <a:rPr lang="en-US" dirty="0"/>
              <a:t>=&gt; </a:t>
            </a:r>
            <a:r>
              <a:rPr lang="vi-VN" dirty="0"/>
              <a:t>Không có niềm tin từ sponsor → không có cam kết từ tổ chức.</a:t>
            </a:r>
          </a:p>
          <a:p>
            <a:r>
              <a:rPr lang="vi-VN" b="1" dirty="0"/>
              <a:t>Realistic – Thực tế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Hiểu rằng: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BI sẽ có khó khăn,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phải lúc nào cũng “thành công nhanh”.</a:t>
            </a:r>
          </a:p>
          <a:p>
            <a:r>
              <a:rPr lang="vi-VN" dirty="0"/>
              <a:t>Sponsor tốt: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quản lý kỳ vọng,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hứa hẹn quá mức.</a:t>
            </a:r>
          </a:p>
          <a:p>
            <a:r>
              <a:rPr lang="en-US" dirty="0"/>
              <a:t>=&gt; </a:t>
            </a:r>
            <a:r>
              <a:rPr lang="vi-VN" dirty="0"/>
              <a:t>Kỳ vọng thực tế giúp </a:t>
            </a:r>
            <a:r>
              <a:rPr lang="vi-VN" b="1" dirty="0"/>
              <a:t>tránh gắn nhãn “BI thất bại”</a:t>
            </a:r>
            <a:r>
              <a:rPr lang="vi-VN" dirty="0"/>
              <a:t>.</a:t>
            </a:r>
          </a:p>
          <a:p>
            <a:r>
              <a:rPr lang="vi-VN" b="1" dirty="0"/>
              <a:t>3. Thông điệp then chốt của slide</a:t>
            </a:r>
          </a:p>
          <a:p>
            <a:r>
              <a:rPr lang="vi-VN" dirty="0"/>
              <a:t>Câu kết luận ở cuối slide nhấn mạnh:</a:t>
            </a:r>
          </a:p>
          <a:p>
            <a:r>
              <a:rPr lang="vi-VN" b="1" dirty="0"/>
              <a:t>“The sponsor’s role is not just to provide the money, but to ensure the long-term success of the BI program.”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Sponsor là </a:t>
            </a:r>
            <a:r>
              <a:rPr lang="vi-VN" b="1" dirty="0"/>
              <a:t>người bảo trợ chiến lược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chịu trách nhiệm cho </a:t>
            </a:r>
            <a:r>
              <a:rPr lang="vi-VN" b="1" dirty="0"/>
              <a:t>thành công dài hạn</a:t>
            </a:r>
            <a:r>
              <a:rPr lang="vi-VN" dirty="0"/>
              <a:t>, không chỉ giai đoạn khởi động.</a:t>
            </a:r>
          </a:p>
          <a:p>
            <a:r>
              <a:rPr lang="vi-VN" b="1" dirty="0"/>
              <a:t>4. Liên hệ với BI Justification &amp; Lifecycle</a:t>
            </a:r>
          </a:p>
          <a:p>
            <a:r>
              <a:rPr lang="vi-VN" dirty="0"/>
              <a:t>Slide này liên kết trực tiếp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Business Case BI</a:t>
            </a:r>
            <a:r>
              <a:rPr lang="vi-VN" dirty="0"/>
              <a:t>: sponsor là người “sở hữu” business case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BI Roadmap</a:t>
            </a:r>
            <a:r>
              <a:rPr lang="vi-VN" dirty="0"/>
              <a:t>: sponsor bảo vệ lộ trình dài hạn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Prevent Failure</a:t>
            </a:r>
            <a:r>
              <a:rPr lang="vi-VN" dirty="0"/>
              <a:t>: sponsor giúp BI không bị bỏ rơi giữa chừng</a:t>
            </a:r>
          </a:p>
          <a:p>
            <a:r>
              <a:rPr lang="vi-VN" b="1" dirty="0"/>
              <a:t>5.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có sponsor mạnh → BI gần như chắc chắn thất bại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Sponsor ≠ người ký duyệt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Sponsor = người: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bảo vệ ngân sách,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dẫn dắt thay đổi,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giải quyết xung đột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thành công là BI </a:t>
            </a:r>
            <a:r>
              <a:rPr lang="vi-VN" b="1" dirty="0"/>
              <a:t>được sponsor đứng ra “bảo vệ”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Pitfalls of IT-Driven BI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cảnh báo một sai lầm phổ biến: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Khi BI chỉ do IT dẫn dắt, nó rất dễ trở thành dự án công nghệ – không phải công cụ tạo giá trị kinh doanh.</a:t>
            </a:r>
            <a:endParaRPr lang="vi-VN" dirty="0"/>
          </a:p>
          <a:p>
            <a:r>
              <a:rPr lang="vi-VN" b="1" dirty="0"/>
              <a:t>1. Risks of CIO-Only Sponsorship – Rủi ro khi chỉ có CIO bảo trợ</a:t>
            </a:r>
          </a:p>
          <a:p>
            <a:r>
              <a:rPr lang="vi-VN" b="1" dirty="0"/>
              <a:t>Technology Perception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bị nhìn nhận như: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dự án CNTT,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tập trung vào công cụ, nền tảng.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Thiếu sự gắn kết với: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chiến lược kinh doanh,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mục tiêu tạo giá trị.</a:t>
            </a:r>
          </a:p>
          <a:p>
            <a:r>
              <a:rPr lang="en-US" dirty="0"/>
              <a:t>=&gt; </a:t>
            </a:r>
            <a:r>
              <a:rPr lang="vi-VN" dirty="0"/>
              <a:t>BI mất “linh hồn kinh doanh”.</a:t>
            </a:r>
          </a:p>
          <a:p>
            <a:r>
              <a:rPr lang="vi-VN" b="1" dirty="0"/>
              <a:t>Weak Engagement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tham gia ít,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ưu tiên thời gian,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cung cấp yêu cầu mơ hồ.</a:t>
            </a:r>
          </a:p>
          <a:p>
            <a:r>
              <a:rPr lang="en-US" dirty="0"/>
              <a:t>=&gt; </a:t>
            </a:r>
            <a:r>
              <a:rPr lang="vi-VN" dirty="0"/>
              <a:t>Hệ thống được xây, nhưng </a:t>
            </a:r>
            <a:r>
              <a:rPr lang="vi-VN" b="1" dirty="0"/>
              <a:t>không đúng thứ business cần</a:t>
            </a:r>
            <a:r>
              <a:rPr lang="vi-VN" dirty="0"/>
              <a:t>.</a:t>
            </a:r>
          </a:p>
          <a:p>
            <a:r>
              <a:rPr lang="vi-VN" b="1" dirty="0"/>
              <a:t>Uncontrolled 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có business case rõ ràng: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phạm vi bị kéo dài,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thêm yêu cầu kỹ thuật,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thiếu điểm kết thúc.</a:t>
            </a:r>
          </a:p>
          <a:p>
            <a:r>
              <a:rPr lang="en-US" dirty="0"/>
              <a:t>=&gt; </a:t>
            </a:r>
            <a:r>
              <a:rPr lang="vi-VN" dirty="0"/>
              <a:t>IT cố làm “tất cả”, nhưng không tạo được giá trị cụ thể.</a:t>
            </a:r>
          </a:p>
          <a:p>
            <a:r>
              <a:rPr lang="vi-VN" b="1" dirty="0"/>
              <a:t>Low Adoption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không thấy BI giải quyết vấn đề của họ.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Kết quả: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BI ít được sử dụng,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quay lại Excel, báo cáo thủ công.</a:t>
            </a:r>
          </a:p>
          <a:p>
            <a:r>
              <a:rPr lang="en-US" dirty="0"/>
              <a:t>=&gt; </a:t>
            </a:r>
            <a:r>
              <a:rPr lang="vi-VN" dirty="0"/>
              <a:t>BI thất bại vì </a:t>
            </a:r>
            <a:r>
              <a:rPr lang="vi-VN" b="1" dirty="0"/>
              <a:t>không được dùng</a:t>
            </a:r>
            <a:r>
              <a:rPr lang="vi-VN" dirty="0"/>
              <a:t>, không phải vì không chạy.</a:t>
            </a:r>
          </a:p>
          <a:p>
            <a:r>
              <a:rPr lang="vi-VN" b="1" dirty="0"/>
              <a:t>2. Best Practice – Thực hành tốt nhất</a:t>
            </a:r>
          </a:p>
          <a:p>
            <a:r>
              <a:rPr lang="vi-VN" dirty="0"/>
              <a:t>Slide đưa ra </a:t>
            </a:r>
            <a:r>
              <a:rPr lang="vi-VN" b="1" dirty="0"/>
              <a:t>mô hình bảo trợ đúng đắn</a:t>
            </a:r>
            <a:r>
              <a:rPr lang="vi-VN" dirty="0"/>
              <a:t>:</a:t>
            </a:r>
          </a:p>
          <a:p>
            <a:r>
              <a:rPr lang="vi-VN" b="1" dirty="0"/>
              <a:t>Primary Sponsor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Một lãnh đạo business cấp cao: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có quyền ngân sách,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chịu trách nhiệm giá trị kinh doanh.</a:t>
            </a:r>
          </a:p>
          <a:p>
            <a:r>
              <a:rPr lang="en-US" dirty="0"/>
              <a:t>=&gt; </a:t>
            </a:r>
            <a:r>
              <a:rPr lang="vi-VN" dirty="0"/>
              <a:t>Đây là “chủ sở hữu” thực sự của BI.</a:t>
            </a:r>
          </a:p>
          <a:p>
            <a:r>
              <a:rPr lang="vi-VN" b="1" dirty="0"/>
              <a:t>Secondary Sponsors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Một hoặc hai lãnh đạo từ các mảng kinh doanh khác: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đại diện nhu cầu đa chiều,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tránh BI chỉ phục vụ một bộ phận.</a:t>
            </a:r>
          </a:p>
          <a:p>
            <a:r>
              <a:rPr lang="vi-VN" b="1" dirty="0"/>
              <a:t>Balanced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Sự cân bằng giữa: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business,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IT,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analytics.</a:t>
            </a:r>
          </a:p>
          <a:p>
            <a:r>
              <a:rPr lang="en-US" dirty="0"/>
              <a:t>=&gt; </a:t>
            </a:r>
            <a:r>
              <a:rPr lang="vi-VN" dirty="0"/>
              <a:t>BI là </a:t>
            </a:r>
            <a:r>
              <a:rPr lang="vi-VN" b="1" dirty="0"/>
              <a:t>business-driven, IT-enabled</a:t>
            </a:r>
            <a:r>
              <a:rPr lang="vi-VN" dirty="0"/>
              <a:t>.</a:t>
            </a:r>
          </a:p>
          <a:p>
            <a:r>
              <a:rPr lang="vi-VN" b="1" dirty="0"/>
              <a:t>3. Thông điệp then chốt của slide</a:t>
            </a:r>
          </a:p>
          <a:p>
            <a:r>
              <a:rPr lang="vi-VN" dirty="0"/>
              <a:t>Dòng kết luận cuối slide rất rõ ràng:</a:t>
            </a:r>
          </a:p>
          <a:p>
            <a:r>
              <a:rPr lang="vi-VN" b="1" dirty="0"/>
              <a:t>Successful BI is business-driven, not tool-driven.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dẫn dắt mục tiêu,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IT hỗ trợ thực thi,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công cụ chỉ là phương tiện.</a:t>
            </a:r>
          </a:p>
          <a:p>
            <a:r>
              <a:rPr lang="vi-VN" b="1" dirty="0"/>
              <a:t>4. Liên hệ với các slide trước</a:t>
            </a:r>
          </a:p>
          <a:p>
            <a:r>
              <a:rPr lang="vi-VN" dirty="0"/>
              <a:t>Slide này liên kết chặt chẽ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BI Sponsorship: More Than Just a Signature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Aligning BI with Strategic Business Initiatives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The “Build It and They Will Come” Trap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Tất cả đều chỉ về một điểm: </a:t>
            </a:r>
            <a:r>
              <a:rPr lang="vi-VN" b="1" dirty="0"/>
              <a:t>thiếu business ownership = BI thất bại</a:t>
            </a:r>
            <a:r>
              <a:rPr lang="vi-VN" dirty="0"/>
              <a:t>.</a:t>
            </a:r>
          </a:p>
          <a:p>
            <a:r>
              <a:rPr lang="vi-VN" b="1" dirty="0"/>
              <a:t>5.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không phải là dự án IT thuần túy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CIO không thể là sponsor duy nhất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phải: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dẫn dắt,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sở hữu,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chịu trách nhiệm về giá trị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thành công khi </a:t>
            </a:r>
            <a:r>
              <a:rPr lang="vi-VN" b="1" dirty="0"/>
              <a:t>business và IT đồng hành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Engaging the Right Stakeholders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nhấn mạnh rằng: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BI không phải dự án của một nhóm nhỏ</a:t>
            </a:r>
            <a:r>
              <a:rPr lang="vi-VN" dirty="0"/>
              <a:t>, mà là nỗ lực phối hợp của nhiều vai trò khác nhau trong tổ chức.</a:t>
            </a:r>
          </a:p>
          <a:p>
            <a:r>
              <a:rPr lang="vi-VN" dirty="0"/>
              <a:t>Thiếu stakeholder đúng → yêu cầu sai → BI không được dùng.</a:t>
            </a:r>
          </a:p>
          <a:p>
            <a:r>
              <a:rPr lang="vi-VN" b="1" dirty="0"/>
              <a:t>1. Direct Users – Người dùng trực tiếp</a:t>
            </a:r>
          </a:p>
          <a:p>
            <a:r>
              <a:rPr lang="vi-VN" dirty="0"/>
              <a:t>Đây là những người: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tương tác với BI </a:t>
            </a:r>
            <a:r>
              <a:rPr lang="vi-VN" b="1" dirty="0"/>
              <a:t>hàng ngày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sử dụng dashboard, báo cáo để làm việc.</a:t>
            </a:r>
          </a:p>
          <a:p>
            <a:r>
              <a:rPr lang="vi-VN" dirty="0"/>
              <a:t>Bao gồm: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analysts,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power users,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nhân viên vận hành có quy trình bị ảnh hưởng.</a:t>
            </a:r>
          </a:p>
          <a:p>
            <a:r>
              <a:rPr lang="en-US" dirty="0"/>
              <a:t>=&gt; </a:t>
            </a:r>
            <a:r>
              <a:rPr lang="vi-VN" dirty="0"/>
              <a:t>Nếu nhóm này không tham gia: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sẽ không phù hợp thực tế,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quay lại Excel hoặc hệ thống cũ.</a:t>
            </a:r>
          </a:p>
          <a:p>
            <a:r>
              <a:rPr lang="vi-VN" b="1" dirty="0"/>
              <a:t>2. Business Managers – Nhà quản lý nghiệp vụ</a:t>
            </a:r>
          </a:p>
          <a:p>
            <a:r>
              <a:rPr lang="vi-VN" dirty="0"/>
              <a:t>Nhóm này: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định nghĩa KPI,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quyết định tiêu chí thành công,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hiểu rõ các </a:t>
            </a:r>
            <a:r>
              <a:rPr lang="vi-VN" b="1" dirty="0"/>
              <a:t>điểm nghẽn vận hành</a:t>
            </a:r>
            <a:r>
              <a:rPr lang="vi-VN" dirty="0"/>
              <a:t>.</a:t>
            </a:r>
          </a:p>
          <a:p>
            <a:r>
              <a:rPr lang="vi-VN" dirty="0"/>
              <a:t>Bao gồm: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managers,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process owners,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lãnh đạo phụ trách sáng kiến chiến lược.</a:t>
            </a:r>
          </a:p>
          <a:p>
            <a:r>
              <a:rPr lang="en-US" dirty="0"/>
              <a:t>=&gt; </a:t>
            </a:r>
            <a:r>
              <a:rPr lang="vi-VN" dirty="0"/>
              <a:t>Đây là </a:t>
            </a:r>
            <a:r>
              <a:rPr lang="vi-VN" b="1" dirty="0"/>
              <a:t>nhóm “sở hữu” business case BI</a:t>
            </a:r>
            <a:r>
              <a:rPr lang="vi-VN" dirty="0"/>
              <a:t>.</a:t>
            </a:r>
          </a:p>
          <a:p>
            <a:r>
              <a:rPr lang="vi-VN" b="1" dirty="0"/>
              <a:t>3. Governance Teams – Nhóm quản trị</a:t>
            </a:r>
          </a:p>
          <a:p>
            <a:r>
              <a:rPr lang="vi-VN" dirty="0"/>
              <a:t>Nhóm này đảm bảo: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đúng,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an toàn,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tuân thủ quy định.</a:t>
            </a:r>
          </a:p>
          <a:p>
            <a:r>
              <a:rPr lang="vi-VN" dirty="0"/>
              <a:t>Bao gồm: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data stewards (chất lượng &amp; định nghĩa),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IT (hạ tầng &amp; bảo mật),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compliance officers (tuân thủ pháp lý).</a:t>
            </a:r>
          </a:p>
          <a:p>
            <a:r>
              <a:rPr lang="en-US" dirty="0"/>
              <a:t>=&gt; </a:t>
            </a:r>
            <a:r>
              <a:rPr lang="vi-VN" dirty="0"/>
              <a:t>BI không thể mở rộng và bền vững nếu thiếu governance.</a:t>
            </a:r>
          </a:p>
          <a:p>
            <a:r>
              <a:rPr lang="vi-VN" b="1" dirty="0"/>
              <a:t>4. Vì sao phải có đủ cả ba nhóm</a:t>
            </a:r>
          </a:p>
          <a:p>
            <a:r>
              <a:rPr lang="vi-VN" dirty="0"/>
              <a:t>Mỗi nhóm đại diện cho: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Direct Users</a:t>
            </a:r>
            <a:r>
              <a:rPr lang="vi-VN" dirty="0"/>
              <a:t> → khả năng sử dụng thực tế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Business Managers</a:t>
            </a:r>
            <a:r>
              <a:rPr lang="vi-VN" dirty="0"/>
              <a:t> → giá trị &amp; ưu tiên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Governance Teams</a:t>
            </a:r>
            <a:r>
              <a:rPr lang="vi-VN" dirty="0"/>
              <a:t> → độ tin cậy &amp; bền vững</a:t>
            </a:r>
          </a:p>
          <a:p>
            <a:r>
              <a:rPr lang="en-US" dirty="0"/>
              <a:t>=&gt; </a:t>
            </a:r>
            <a:r>
              <a:rPr lang="vi-VN" dirty="0"/>
              <a:t>Thiếu bất kỳ nhóm nào: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hoặc không được dùng,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hoặc không tạo giá trị,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hoặc không thể mở rộng.</a:t>
            </a:r>
          </a:p>
          <a:p>
            <a:r>
              <a:rPr lang="vi-VN" b="1" dirty="0"/>
              <a:t>5. Thông điệp chiến lược của slide</a:t>
            </a:r>
          </a:p>
          <a:p>
            <a:r>
              <a:rPr lang="vi-VN" dirty="0"/>
              <a:t>Dòng kết luận cuối slide nhấn mạnh:</a:t>
            </a:r>
          </a:p>
          <a:p>
            <a:r>
              <a:rPr lang="vi-VN" b="1" dirty="0"/>
              <a:t>Broad stakeholder involvement enables more detailed input, identifies hidden risks early, and builds a sense of organizational ownership.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nhiều góc nhìn giúp yêu cầu chính xác hơn,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phát hiện rủi ro sớm,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tạo cảm giác “BI là của chúng ta”, không phải của IT.</a:t>
            </a:r>
          </a:p>
          <a:p>
            <a:r>
              <a:rPr lang="vi-VN" b="1" dirty="0"/>
              <a:t>6. Liên hệ với BI Justification &amp; Governance</a:t>
            </a:r>
          </a:p>
          <a:p>
            <a:r>
              <a:rPr lang="vi-VN" dirty="0"/>
              <a:t>Slide này kết nối trực tiếp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BI Sponsorship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Business-driven BI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BI Governance Model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Stakeholder engagement là </a:t>
            </a:r>
            <a:r>
              <a:rPr lang="vi-VN" b="1" dirty="0"/>
              <a:t>điều kiện cần</a:t>
            </a:r>
            <a:r>
              <a:rPr lang="vi-VN" dirty="0"/>
              <a:t> để BI justification trở thành hiện thực.</a:t>
            </a:r>
          </a:p>
          <a:p>
            <a:r>
              <a:rPr lang="vi-VN" b="1" dirty="0"/>
              <a:t>7.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không thể làm một mình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Stakeholder đúng quan trọng hơn stakeholder nhiều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phải tham gia từ đầu, không chỉ ở giai đoạn nghiệm thu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thành công là BI </a:t>
            </a:r>
            <a:r>
              <a:rPr lang="vi-VN" b="1" dirty="0"/>
              <a:t>được cả tổ chức cùng sở hữu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“Power User” Trap: Why Narrow Engagement Fails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cảnh báo một sai lầm phổ biến trong nhiều dự án BI: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Chỉ thu thập yêu cầu và phản hồi từ power users không đảm bảo BI sẽ được chấp nhận rộng rãi trong tổ chức.</a:t>
            </a:r>
            <a:endParaRPr lang="vi-VN" dirty="0"/>
          </a:p>
          <a:p>
            <a:r>
              <a:rPr lang="vi-VN" dirty="0"/>
              <a:t>Power users rất quan trọng – nhưng </a:t>
            </a:r>
            <a:r>
              <a:rPr lang="vi-VN" b="1" dirty="0"/>
              <a:t>không thể đại diện cho tất cả</a:t>
            </a:r>
            <a:r>
              <a:rPr lang="vi-VN" dirty="0"/>
              <a:t>.</a:t>
            </a:r>
          </a:p>
          <a:p>
            <a:r>
              <a:rPr lang="vi-VN" b="1" dirty="0"/>
              <a:t>1. Filtered Needs – Nhu cầu bị “lọc”</a:t>
            </a:r>
          </a:p>
          <a:p>
            <a:r>
              <a:rPr lang="vi-VN" dirty="0"/>
              <a:t>Power users thường: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giỏi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quen với công cụ phân tích,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góc nhìn kỹ thuật tốt.</a:t>
            </a:r>
          </a:p>
          <a:p>
            <a:r>
              <a:rPr lang="vi-VN" dirty="0"/>
              <a:t>Tuy nhiên: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họ có xu hướng </a:t>
            </a:r>
            <a:r>
              <a:rPr lang="vi-VN" b="1" dirty="0"/>
              <a:t>diễn giải nhu cầu của người khác theo góc nhìn của mình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quyết định “người khác cần xem gì”.</a:t>
            </a:r>
          </a:p>
          <a:p>
            <a:r>
              <a:rPr lang="en-US" dirty="0"/>
              <a:t>=&gt; </a:t>
            </a:r>
            <a:r>
              <a:rPr lang="vi-VN" dirty="0"/>
              <a:t>Kết quả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yêu cầu BI không phản ánh đúng vấn đề hằng ngày của đa số người dùng,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trở nên “đúng với chuyên gia, sai với số đông”.</a:t>
            </a:r>
          </a:p>
          <a:p>
            <a:r>
              <a:rPr lang="vi-VN" b="1" dirty="0"/>
              <a:t>2. Not Representative – Không mang tính đại diện</a:t>
            </a:r>
          </a:p>
          <a:p>
            <a:r>
              <a:rPr lang="vi-VN" dirty="0"/>
              <a:t>Power users: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là nhóm thiểu số,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kỹ năng cao hơn mặt bằng chung.</a:t>
            </a:r>
          </a:p>
          <a:p>
            <a:r>
              <a:rPr lang="vi-VN" dirty="0"/>
              <a:t>Khi xây BI cho power users: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dashboard phức tạp,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thuật ngữ chuyên môn,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thao tác khó.</a:t>
            </a:r>
          </a:p>
          <a:p>
            <a:r>
              <a:rPr lang="en-US" dirty="0"/>
              <a:t>=&gt; </a:t>
            </a:r>
            <a:r>
              <a:rPr lang="vi-VN" dirty="0"/>
              <a:t>Điều này khiến: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phổ thông khó tiếp cận,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bị gắn nhãn “khó dùng”.</a:t>
            </a:r>
          </a:p>
          <a:p>
            <a:r>
              <a:rPr lang="vi-VN" b="1" dirty="0"/>
              <a:t>3. Hidden Resistance – Sự phản kháng ngầm</a:t>
            </a:r>
          </a:p>
          <a:p>
            <a:r>
              <a:rPr lang="vi-VN" dirty="0"/>
              <a:t>Power users thường: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sở hữu các “spreadmart”,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nắm quyền kiểm soát dữ liệu và báo cáo.</a:t>
            </a:r>
          </a:p>
          <a:p>
            <a:r>
              <a:rPr lang="vi-VN" dirty="0"/>
              <a:t>Khi BI chính thống xuất hiện: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họ có thể cảm thấy bị đe dọa,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lo mất vai trò hoặc ảnh hưởng.</a:t>
            </a:r>
          </a:p>
          <a:p>
            <a:r>
              <a:rPr lang="en-US" dirty="0"/>
              <a:t>=&gt; </a:t>
            </a:r>
            <a:r>
              <a:rPr lang="vi-VN" dirty="0"/>
              <a:t>Điều này dẫn đến: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chậm chuyển đổi,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hợp tác,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hoặc </a:t>
            </a:r>
            <a:r>
              <a:rPr lang="vi-VN" b="1" dirty="0"/>
              <a:t>phá hoại thầm lặng</a:t>
            </a:r>
            <a:r>
              <a:rPr lang="vi-VN" dirty="0"/>
              <a:t> bằng cách không sử dụng BI.</a:t>
            </a:r>
          </a:p>
          <a:p>
            <a:r>
              <a:rPr lang="vi-VN" b="1" dirty="0"/>
              <a:t>4. Kết luận chiến lược của slide</a:t>
            </a:r>
          </a:p>
          <a:p>
            <a:r>
              <a:rPr lang="vi-VN" dirty="0"/>
              <a:t>Dòng cảnh báo cuối slide nhấn mạnh:</a:t>
            </a:r>
          </a:p>
          <a:p>
            <a:r>
              <a:rPr lang="vi-VN" b="1" dirty="0"/>
              <a:t>You must engage a diverse cross-section of stakeholders—not just the experts—to ensure broad adoption and enterprise-wide value.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cần lắng nghe nhiều nhóm người dùng,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từ người dùng phổ thông đến chuyên gia,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từ vận hành đến quản lý.</a:t>
            </a:r>
          </a:p>
          <a:p>
            <a:r>
              <a:rPr lang="vi-VN" b="1" dirty="0"/>
              <a:t>5. Liên hệ với các slide trước</a:t>
            </a:r>
          </a:p>
          <a:p>
            <a:r>
              <a:rPr lang="vi-VN" dirty="0"/>
              <a:t>Slide này kết nối trực tiếp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Engaging the Right Stakeholders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BI Sponsorship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Business-driven BI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Stakeholder diversity là </a:t>
            </a:r>
            <a:r>
              <a:rPr lang="vi-VN" b="1" dirty="0"/>
              <a:t>điều kiện cần cho adoption</a:t>
            </a:r>
            <a:r>
              <a:rPr lang="vi-VN" dirty="0"/>
              <a:t>.</a:t>
            </a:r>
          </a:p>
          <a:p>
            <a:r>
              <a:rPr lang="vi-VN" b="1" dirty="0"/>
              <a:t>6.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Power users </a:t>
            </a:r>
            <a:r>
              <a:rPr lang="vi-VN" b="1" dirty="0"/>
              <a:t>không đại diện cho toàn tổ chức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phải phục vụ số đông, không chỉ chuyên gia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Yêu cầu BI cần phản ánh </a:t>
            </a:r>
            <a:r>
              <a:rPr lang="vi-VN" b="1" dirty="0"/>
              <a:t>nỗi đau thật sự của người dùng cuối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Engagement rộng = adoption cao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Formalizing the Value Proposition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nhấn mạnh một điểm mấu chốt: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Nếu giá trị BI không được nói rõ và ghi rõ, nó sẽ không được hiểu, không được tin, và không được bảo vệ.</a:t>
            </a:r>
            <a:endParaRPr lang="vi-VN" dirty="0"/>
          </a:p>
          <a:p>
            <a:r>
              <a:rPr lang="vi-VN" dirty="0"/>
              <a:t>Im lặng ≠ linh hoạt.</a:t>
            </a:r>
            <a:br>
              <a:rPr lang="vi-VN" dirty="0"/>
            </a:br>
            <a:r>
              <a:rPr lang="vi-VN" dirty="0"/>
              <a:t>Im lặng = rủi ro.</a:t>
            </a:r>
          </a:p>
          <a:p>
            <a:r>
              <a:rPr lang="vi-VN" b="1" dirty="0"/>
              <a:t>1. The Dangers of Silence – Nguy cơ khi không chính thức hóa</a:t>
            </a:r>
          </a:p>
          <a:p>
            <a:r>
              <a:rPr lang="vi-VN" b="1" dirty="0"/>
              <a:t>Overblown Expectations – Kỳ vọng phóng đại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Khi không có tài liệu chính thức: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người dùng tự tưởng tượng BI sẽ “có mọi thứ”,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dẫn đến </a:t>
            </a:r>
            <a:r>
              <a:rPr lang="vi-VN" b="1" dirty="0"/>
              <a:t>information nirvana</a:t>
            </a:r>
            <a:r>
              <a:rPr lang="vi-VN" dirty="0"/>
              <a:t>.</a:t>
            </a:r>
          </a:p>
          <a:p>
            <a:r>
              <a:rPr lang="en-US" dirty="0"/>
              <a:t>=&gt; </a:t>
            </a:r>
            <a:r>
              <a:rPr lang="vi-VN" dirty="0"/>
              <a:t>Kỳ vọng vượt quá khả năng triển khai → thất vọng chắc chắn.</a:t>
            </a:r>
          </a:p>
          <a:p>
            <a:r>
              <a:rPr lang="vi-VN" b="1" dirty="0"/>
              <a:t>Underfunding – Thiếu ngân sách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có value proposition rõ ràng: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BI bị xem là chi phí,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dễ bị cắt ngân sách khi có ưu tiên khác.</a:t>
            </a:r>
          </a:p>
          <a:p>
            <a:r>
              <a:rPr lang="en-US" dirty="0"/>
              <a:t>=&gt; </a:t>
            </a:r>
            <a:r>
              <a:rPr lang="vi-VN" dirty="0"/>
              <a:t>Không ai bảo vệ thứ </a:t>
            </a:r>
            <a:r>
              <a:rPr lang="vi-VN" b="1" dirty="0"/>
              <a:t>không chứng minh được giá trị</a:t>
            </a:r>
            <a:r>
              <a:rPr lang="vi-VN" dirty="0"/>
              <a:t>.</a:t>
            </a:r>
          </a:p>
          <a:p>
            <a:r>
              <a:rPr lang="vi-VN" b="1" dirty="0"/>
              <a:t>Shadow Expansion – Mở rộng ngầm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Khi BI chính thống không rõ ràng: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người dùng tự xây spreadsheet,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hệ thống dữ liệu “bóng tối” tiếp tục phát triển.</a:t>
            </a:r>
          </a:p>
          <a:p>
            <a:r>
              <a:rPr lang="en-US" dirty="0"/>
              <a:t>=&gt; </a:t>
            </a:r>
            <a:r>
              <a:rPr lang="vi-VN" dirty="0"/>
              <a:t>BI mất vai trò trung tâm.</a:t>
            </a:r>
          </a:p>
          <a:p>
            <a:r>
              <a:rPr lang="vi-VN" b="1" dirty="0"/>
              <a:t>2. The Power of Formalization – Sức mạnh của việc chính thức hóa</a:t>
            </a:r>
          </a:p>
          <a:p>
            <a:r>
              <a:rPr lang="vi-VN" b="1" dirty="0"/>
              <a:t>Managed Expectations – Quản lý kỳ vọng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Tài liệu hóa: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cái gì sẽ làm,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khi nào làm,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ở mức độ nào.</a:t>
            </a:r>
          </a:p>
          <a:p>
            <a:r>
              <a:rPr lang="en-US" dirty="0"/>
              <a:t>=&gt; </a:t>
            </a:r>
            <a:r>
              <a:rPr lang="vi-VN" dirty="0"/>
              <a:t>Giảm rủi ro “làm xong vẫn bị chê”.</a:t>
            </a:r>
          </a:p>
          <a:p>
            <a:r>
              <a:rPr lang="vi-VN" b="1" dirty="0"/>
              <a:t>Secured Funding – Bảo vệ ngân sách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Value proposition rõ ràng: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giúp thuyết phục lãnh đạo,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duy trì đầu tư lâu dài.</a:t>
            </a:r>
          </a:p>
          <a:p>
            <a:r>
              <a:rPr lang="en-US" dirty="0"/>
              <a:t>=&gt; </a:t>
            </a:r>
            <a:r>
              <a:rPr lang="vi-VN" dirty="0"/>
              <a:t>BI được xem là </a:t>
            </a:r>
            <a:r>
              <a:rPr lang="vi-VN" b="1" dirty="0"/>
              <a:t>đầu tư chiến lược</a:t>
            </a:r>
            <a:r>
              <a:rPr lang="vi-VN" dirty="0"/>
              <a:t>, không phải overhead.</a:t>
            </a:r>
          </a:p>
          <a:p>
            <a:r>
              <a:rPr lang="vi-VN" b="1" dirty="0"/>
              <a:t>Governance Support – Hỗ trợ quản trị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Khi giá trị được chính thức hóa: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stakeholder hiểu vì sao phải quan tâm đến chất lượng dữ liệu,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governance có “lý do tồn tại”.</a:t>
            </a:r>
          </a:p>
          <a:p>
            <a:r>
              <a:rPr lang="en-US" dirty="0"/>
              <a:t>=&gt; </a:t>
            </a:r>
            <a:r>
              <a:rPr lang="vi-VN" dirty="0"/>
              <a:t>Governance không còn là “gánh nặng IT”.</a:t>
            </a:r>
          </a:p>
          <a:p>
            <a:r>
              <a:rPr lang="vi-VN" b="1" dirty="0"/>
              <a:t>3. Thông điệp then chốt của slide</a:t>
            </a:r>
          </a:p>
          <a:p>
            <a:r>
              <a:rPr lang="vi-VN" dirty="0"/>
              <a:t>Dòng kết luận cuối slide nhấn mạnh:</a:t>
            </a:r>
          </a:p>
          <a:p>
            <a:r>
              <a:rPr lang="vi-VN" b="1" dirty="0"/>
              <a:t>BI must be positioned as a business enabler, not just a report generator.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tạo ra giá trị kinh doanh,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chỉ sinh báo cáo.</a:t>
            </a:r>
          </a:p>
          <a:p>
            <a:r>
              <a:rPr lang="vi-VN" b="1" dirty="0"/>
              <a:t>4. Liên hệ với BI Justification &amp; Lifecycle</a:t>
            </a:r>
          </a:p>
          <a:p>
            <a:r>
              <a:rPr lang="vi-VN" dirty="0"/>
              <a:t>Slide này gắn trực tiếp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Business Case BI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Value Proposition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Scope &amp; Budget Definition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Formalization là cầu nối giữa </a:t>
            </a:r>
            <a:r>
              <a:rPr lang="vi-VN" b="1" dirty="0"/>
              <a:t>ý tưởng BI</a:t>
            </a:r>
            <a:r>
              <a:rPr lang="vi-VN" dirty="0"/>
              <a:t> và </a:t>
            </a:r>
            <a:r>
              <a:rPr lang="vi-VN" b="1" dirty="0"/>
              <a:t>cam kết tổ chức</a:t>
            </a:r>
            <a:r>
              <a:rPr lang="vi-VN" dirty="0"/>
              <a:t>.</a:t>
            </a:r>
          </a:p>
          <a:p>
            <a:r>
              <a:rPr lang="vi-VN" b="1" dirty="0"/>
              <a:t>5.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viết ra = không tồn tại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Value proposition phải: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rõ ràng,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đo được,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gắn với business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không thể sống bằng “niềm tin mơ hồ”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Chính thức hóa giá trị giúp BI </a:t>
            </a:r>
            <a:r>
              <a:rPr lang="vi-VN" b="1" dirty="0"/>
              <a:t>sống sót và phát triển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Quantifying Success: Tangible vs. Intangible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trả lời một câu hỏi rất quan trọng trong BI justification: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Làm thế nào để chứng minh BI thành công?</a:t>
            </a:r>
            <a:endParaRPr lang="vi-VN" dirty="0"/>
          </a:p>
          <a:p>
            <a:r>
              <a:rPr lang="vi-VN" dirty="0"/>
              <a:t>Câu trả lời: phải </a:t>
            </a:r>
            <a:r>
              <a:rPr lang="vi-VN" b="1" dirty="0"/>
              <a:t>phân biệt rõ lợi ích định lượng (tangible) và lợi ích định tính (intangible)</a:t>
            </a:r>
            <a:r>
              <a:rPr lang="vi-VN" dirty="0"/>
              <a:t>, và biết cách sử dụng chúng đúng chỗ.</a:t>
            </a:r>
          </a:p>
          <a:p>
            <a:r>
              <a:rPr lang="vi-VN" b="1" dirty="0"/>
              <a:t>1. Intangible Benefits – Lợi ích định tính</a:t>
            </a:r>
          </a:p>
          <a:p>
            <a:r>
              <a:rPr lang="vi-VN" dirty="0"/>
              <a:t>Các lợi ích thường được nhắc đến: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“Quyết định tốt hơn”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“Một phiên bản sự thật”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“Tổ chức linh hoạt hơn”</a:t>
            </a:r>
          </a:p>
          <a:p>
            <a:r>
              <a:rPr lang="en-US" dirty="0"/>
              <a:t>=&gt; </a:t>
            </a:r>
            <a:r>
              <a:rPr lang="vi-VN" dirty="0"/>
              <a:t>Đây đều là lợi ích </a:t>
            </a:r>
            <a:r>
              <a:rPr lang="vi-VN" b="1" dirty="0"/>
              <a:t>có thật</a:t>
            </a:r>
            <a:r>
              <a:rPr lang="vi-VN" dirty="0"/>
              <a:t>, nhưng: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khó đo lường,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mang tính chủ quan,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khó dùng làm căn cứ phê duyệt ngân sách.</a:t>
            </a:r>
          </a:p>
          <a:p>
            <a:r>
              <a:rPr lang="vi-VN" i="1" dirty="0"/>
              <a:t>Lưu ý quan trọng trên slide</a:t>
            </a:r>
            <a:r>
              <a:rPr lang="vi-VN" dirty="0"/>
              <a:t>:</a:t>
            </a:r>
            <a:br>
              <a:rPr lang="vi-VN" dirty="0"/>
            </a:br>
            <a:r>
              <a:rPr lang="vi-VN" b="1" dirty="0"/>
              <a:t>Avoid using these as the sole basis for justification.</a:t>
            </a:r>
            <a:endParaRPr lang="vi-VN" dirty="0"/>
          </a:p>
          <a:p>
            <a:r>
              <a:rPr lang="vi-VN" dirty="0"/>
              <a:t>Tức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nên chỉ dùng lợi ích định tính để justify BI.</a:t>
            </a:r>
          </a:p>
          <a:p>
            <a:r>
              <a:rPr lang="vi-VN" b="1" dirty="0"/>
              <a:t>2. Tangible Benefits – Lợi ích định lượng</a:t>
            </a:r>
          </a:p>
          <a:p>
            <a:r>
              <a:rPr lang="vi-VN" dirty="0"/>
              <a:t>Đây là </a:t>
            </a:r>
            <a:r>
              <a:rPr lang="vi-VN" b="1" dirty="0"/>
              <a:t>trọng tâm của business case</a:t>
            </a:r>
            <a:r>
              <a:rPr lang="vi-VN" dirty="0"/>
              <a:t>:</a:t>
            </a:r>
          </a:p>
          <a:p>
            <a:r>
              <a:rPr lang="vi-VN" b="1" dirty="0"/>
              <a:t>Revenue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Tăng doanh thu,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Cải thiện biên lợi nhuận.</a:t>
            </a:r>
          </a:p>
          <a:p>
            <a:r>
              <a:rPr lang="vi-VN" b="1" dirty="0"/>
              <a:t>Cost &amp; Risk Reduction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Giảm chi phí vận hành,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Giảm rủi ro và sai sót.</a:t>
            </a:r>
          </a:p>
          <a:p>
            <a:r>
              <a:rPr lang="vi-VN" b="1" dirty="0"/>
              <a:t>Regulatory Compliance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Tránh tiền phạt,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Đáp ứng yêu cầu pháp lý.</a:t>
            </a:r>
          </a:p>
          <a:p>
            <a:r>
              <a:rPr lang="vi-VN" b="1" dirty="0"/>
              <a:t>Market Expansion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Tăng trưởng thị trường,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Mở rộng sản phẩm hoặc khu vực.</a:t>
            </a:r>
          </a:p>
          <a:p>
            <a:r>
              <a:rPr lang="en-US" dirty="0"/>
              <a:t>=&gt; </a:t>
            </a:r>
            <a:r>
              <a:rPr lang="vi-VN" dirty="0"/>
              <a:t>Đây là những lợi ích: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đo được,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gắn với tiền,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thuyết phục lãnh đạo.</a:t>
            </a:r>
          </a:p>
          <a:p>
            <a:r>
              <a:rPr lang="vi-VN" b="1" dirty="0"/>
              <a:t>3. Chiến lược kết hợp Tangible &amp; Intangible</a:t>
            </a:r>
          </a:p>
          <a:p>
            <a:r>
              <a:rPr lang="vi-VN" dirty="0"/>
              <a:t>Thông điệp chiến lược ở cuối slide:</a:t>
            </a:r>
          </a:p>
          <a:p>
            <a:r>
              <a:rPr lang="vi-VN" b="1" dirty="0"/>
              <a:t>Link BI to the tangible benefits of the pre-funded business initiatives it supports.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cần “chứng minh mọi thứ”,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chỉ cần gắn BI với </a:t>
            </a:r>
            <a:r>
              <a:rPr lang="vi-VN" b="1" dirty="0"/>
              <a:t>các sáng kiến kinh doanh đã được tài trợ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nơi lợi ích đã được lượng hóa sẵn.</a:t>
            </a:r>
          </a:p>
          <a:p>
            <a:r>
              <a:rPr lang="en-US" dirty="0"/>
              <a:t>=&gt; </a:t>
            </a:r>
            <a:r>
              <a:rPr lang="vi-VN" dirty="0"/>
              <a:t>BI trở thành </a:t>
            </a:r>
            <a:r>
              <a:rPr lang="vi-VN" b="1" dirty="0"/>
              <a:t>đòn bẩy</a:t>
            </a:r>
            <a:r>
              <a:rPr lang="vi-VN" dirty="0"/>
              <a:t>, không phải chi phí độc lập.</a:t>
            </a:r>
          </a:p>
          <a:p>
            <a:r>
              <a:rPr lang="vi-VN" b="1" dirty="0"/>
              <a:t>4. Ví dụ minh họa nhanh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Sáng kiến: </a:t>
            </a:r>
            <a:r>
              <a:rPr lang="vi-VN" i="1" dirty="0"/>
              <a:t>Giảm chi phí logistics 5%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hỗ trợ: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theo dõi chi phí theo tuyến,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phát hiện bất thường,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đề xuất tối ưu.</a:t>
            </a:r>
          </a:p>
          <a:p>
            <a:r>
              <a:rPr lang="en-US" dirty="0"/>
              <a:t>=&gt; </a:t>
            </a:r>
            <a:r>
              <a:rPr lang="vi-VN" dirty="0"/>
              <a:t>Lợi ích tangible đến từ </a:t>
            </a:r>
            <a:r>
              <a:rPr lang="vi-VN" b="1" dirty="0"/>
              <a:t>sáng kiến</a:t>
            </a:r>
            <a:r>
              <a:rPr lang="vi-VN" dirty="0"/>
              <a:t>, BI là công cụ giúp đạt được nó.</a:t>
            </a:r>
          </a:p>
          <a:p>
            <a:r>
              <a:rPr lang="vi-VN" b="1" dirty="0"/>
              <a:t>5. Liên hệ với ROI và BI Justification</a:t>
            </a:r>
          </a:p>
          <a:p>
            <a:r>
              <a:rPr lang="vi-VN" dirty="0"/>
              <a:t>Slide này kết nối trực tiếp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ROI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Business Case BI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Formalizing the Value Proposition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BI không cần “tạo ROI một mình”, mà </a:t>
            </a:r>
            <a:r>
              <a:rPr lang="vi-VN" b="1" dirty="0"/>
              <a:t>khuếch đại ROI của chiến lược kinh doanh</a:t>
            </a:r>
            <a:r>
              <a:rPr lang="vi-VN" dirty="0"/>
              <a:t>.</a:t>
            </a:r>
          </a:p>
          <a:p>
            <a:r>
              <a:rPr lang="vi-VN" b="1" dirty="0"/>
              <a:t>6.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Lợi ích định tính là cần thiết, nhưng </a:t>
            </a:r>
            <a:r>
              <a:rPr lang="vi-VN" b="1" dirty="0"/>
              <a:t>không đủ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case phải dựa trên lợi ích định lượng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thành công khi: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gắn với tiền,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gắn với chiến lược,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gắn với hành động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Đừng đo BI trong chân không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Technical Case: Tools, Architecture, and Skills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trả lời câu hỏi </a:t>
            </a:r>
            <a:r>
              <a:rPr lang="vi-VN" b="1" dirty="0"/>
              <a:t>“HOW”</a:t>
            </a:r>
            <a:r>
              <a:rPr lang="vi-VN" dirty="0"/>
              <a:t>:</a:t>
            </a:r>
            <a:br>
              <a:rPr lang="vi-VN" dirty="0"/>
            </a:br>
            <a:r>
              <a:rPr lang="en-US" dirty="0"/>
              <a:t>=&gt; </a:t>
            </a:r>
            <a:r>
              <a:rPr lang="vi-VN" i="1" dirty="0"/>
              <a:t>Làm thế nào để hiện thực hóa giá trị kinh doanh đã được xác định trong business case?</a:t>
            </a:r>
            <a:endParaRPr lang="vi-VN" dirty="0"/>
          </a:p>
          <a:p>
            <a:r>
              <a:rPr lang="vi-VN" dirty="0"/>
              <a:t>Một thông điệp quan trọng cần nhấn mạnh:</a:t>
            </a:r>
          </a:p>
          <a:p>
            <a:r>
              <a:rPr lang="vi-VN" b="1" dirty="0"/>
              <a:t>Technical case không tồn tại độc lập – nó phải phục vụ business case.</a:t>
            </a:r>
            <a:endParaRPr lang="vi-VN" dirty="0"/>
          </a:p>
          <a:p>
            <a:r>
              <a:rPr lang="vi-VN" b="1" dirty="0"/>
              <a:t>1. Technology &amp; Tools – Công nghệ và công cụ</a:t>
            </a:r>
          </a:p>
          <a:p>
            <a:r>
              <a:rPr lang="vi-VN" dirty="0"/>
              <a:t>Ở phần này, mục tiêu </a:t>
            </a:r>
            <a:r>
              <a:rPr lang="vi-VN" b="1" dirty="0"/>
              <a:t>không phải chọn ngay một công cụ cụ thể</a:t>
            </a:r>
            <a:r>
              <a:rPr lang="vi-VN" dirty="0"/>
              <a:t>, mà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Xác định </a:t>
            </a:r>
            <a:r>
              <a:rPr lang="vi-VN" b="1" dirty="0"/>
              <a:t>nhóm công nghệ cần thiết</a:t>
            </a:r>
            <a:r>
              <a:rPr lang="vi-V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Data Integration (ETL/ELT),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Data Warehouse,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BI / Analytics,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Hạ tầng (cloud/on-prem).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Lập </a:t>
            </a:r>
            <a:r>
              <a:rPr lang="vi-VN" b="1" dirty="0"/>
              <a:t>shortlist công cụ</a:t>
            </a:r>
            <a:r>
              <a:rPr lang="vi-VN" dirty="0"/>
              <a:t> phù hợp với: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yêu cầu nghiệp vụ,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quy mô dữ liệu,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ngân sách.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Ước lượng </a:t>
            </a:r>
            <a:r>
              <a:rPr lang="vi-VN" b="1" dirty="0"/>
              <a:t>chi phí tổng thể</a:t>
            </a:r>
            <a:r>
              <a:rPr lang="vi-V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license,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vận hành,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bảo trì.</a:t>
            </a:r>
          </a:p>
          <a:p>
            <a:r>
              <a:rPr lang="en-US" dirty="0"/>
              <a:t>=&gt; </a:t>
            </a:r>
            <a:r>
              <a:rPr lang="vi-VN" dirty="0"/>
              <a:t>Công cụ tốt nhất là công cụ </a:t>
            </a:r>
            <a:r>
              <a:rPr lang="vi-VN" b="1" dirty="0"/>
              <a:t>phù hợp nhất với bài toán</a:t>
            </a:r>
            <a:r>
              <a:rPr lang="vi-VN" dirty="0"/>
              <a:t>, không phải công cụ “hot” nhất.</a:t>
            </a:r>
          </a:p>
          <a:p>
            <a:r>
              <a:rPr lang="vi-VN" b="1" dirty="0"/>
              <a:t>2. Architecture – Kiến trúc hệ thống</a:t>
            </a:r>
          </a:p>
          <a:p>
            <a:r>
              <a:rPr lang="vi-VN" dirty="0"/>
              <a:t>Phần này trả lời câu hỏi: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đi từ đâu đến đâu?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tích được thực hiện ở đâu?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truy cập như thế nào?</a:t>
            </a:r>
          </a:p>
          <a:p>
            <a:r>
              <a:rPr lang="vi-VN" dirty="0"/>
              <a:t>Technical case cần: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định nghĩa kiến trúc tích hợp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đảm bảo khả năng mở rộng (scalability),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đảm bảo hiệu năng cho truy vấn phân tích,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thiết lập chuẩn truy cập và phân phối dữ liệu.</a:t>
            </a:r>
          </a:p>
          <a:p>
            <a:r>
              <a:rPr lang="en-US" dirty="0"/>
              <a:t>=&gt; </a:t>
            </a:r>
            <a:r>
              <a:rPr lang="vi-VN" dirty="0"/>
              <a:t>Kiến trúc kém → BI chậm → người dùng bỏ cuộc.</a:t>
            </a:r>
          </a:p>
          <a:p>
            <a:r>
              <a:rPr lang="vi-VN" b="1" dirty="0"/>
              <a:t>3. Skills &amp; Resources – Kỹ năng và nguồn lực</a:t>
            </a:r>
          </a:p>
          <a:p>
            <a:r>
              <a:rPr lang="vi-VN" dirty="0"/>
              <a:t>BI không chạy bằng công nghệ một mình.</a:t>
            </a:r>
          </a:p>
          <a:p>
            <a:r>
              <a:rPr lang="vi-VN" dirty="0"/>
              <a:t>Technical case phải làm rõ: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tổ chức </a:t>
            </a:r>
            <a:r>
              <a:rPr lang="vi-VN" b="1" dirty="0"/>
              <a:t>đang có kỹ năng gì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thiếu kỹ năng gì</a:t>
            </a:r>
            <a:r>
              <a:rPr lang="vi-VN" dirty="0"/>
              <a:t> (ETL, modeling, BI, governance),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cần: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đào tạo,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tuyển thêm,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hay thuê ngoài.</a:t>
            </a:r>
          </a:p>
          <a:p>
            <a:r>
              <a:rPr lang="vi-VN" dirty="0"/>
              <a:t>Ngoài ra, cần xác định: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ai vận hành hệ thống,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ai bảo trì,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ai chịu trách nhiệm dài hạn.</a:t>
            </a:r>
          </a:p>
          <a:p>
            <a:r>
              <a:rPr lang="en-US" dirty="0"/>
              <a:t>=&gt; </a:t>
            </a:r>
            <a:r>
              <a:rPr lang="vi-VN" dirty="0"/>
              <a:t>Rất nhiều dự án BI thất bại vì </a:t>
            </a:r>
            <a:r>
              <a:rPr lang="vi-VN" b="1" dirty="0"/>
              <a:t>đánh giá thấp yếu tố con người</a:t>
            </a:r>
            <a:r>
              <a:rPr lang="vi-VN" dirty="0"/>
              <a:t>.</a:t>
            </a:r>
          </a:p>
          <a:p>
            <a:r>
              <a:rPr lang="vi-VN" b="1" dirty="0"/>
              <a:t>4. Technical Goal – Mục tiêu kỹ thuật</a:t>
            </a:r>
          </a:p>
          <a:p>
            <a:r>
              <a:rPr lang="vi-VN" dirty="0"/>
              <a:t>Dòng kết luận cuối slide nêu rõ:</a:t>
            </a:r>
          </a:p>
          <a:p>
            <a:r>
              <a:rPr lang="vi-VN" b="1" dirty="0"/>
              <a:t>Chứng minh giải pháp được đề xuất là hợp lý về mặt kỹ thuật, có thể mở rộng và hiệu quả về chi phí so với các phương án khác.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chỉ chứng minh “có thể làm”,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mà phải chứng minh: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làm </a:t>
            </a:r>
            <a:r>
              <a:rPr lang="vi-VN" b="1" dirty="0"/>
              <a:t>tốt hơn</a:t>
            </a:r>
            <a:r>
              <a:rPr lang="vi-VN" dirty="0"/>
              <a:t>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b="1" dirty="0"/>
              <a:t>bền vững hơn</a:t>
            </a:r>
            <a:r>
              <a:rPr lang="vi-VN" dirty="0"/>
              <a:t>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b="1" dirty="0"/>
              <a:t>hợp lý hơn về chi phí</a:t>
            </a:r>
            <a:r>
              <a:rPr lang="vi-VN" dirty="0"/>
              <a:t>.</a:t>
            </a:r>
          </a:p>
          <a:p>
            <a:r>
              <a:rPr lang="vi-VN" b="1" dirty="0"/>
              <a:t>5. Phân biệt rõ: Business Case vs. Technical Case</a:t>
            </a:r>
          </a:p>
          <a:p>
            <a:r>
              <a:rPr lang="vi-VN" dirty="0"/>
              <a:t>Business Case</a:t>
            </a:r>
            <a:r>
              <a:rPr lang="en-US" dirty="0"/>
              <a:t>		</a:t>
            </a:r>
            <a:r>
              <a:rPr lang="vi-VN" dirty="0"/>
              <a:t>Technical Case</a:t>
            </a:r>
            <a:endParaRPr lang="en-US" dirty="0"/>
          </a:p>
          <a:p>
            <a:r>
              <a:rPr lang="vi-VN" dirty="0"/>
              <a:t>Vì sao làm BI</a:t>
            </a:r>
            <a:r>
              <a:rPr lang="en-US" dirty="0"/>
              <a:t>		</a:t>
            </a:r>
            <a:r>
              <a:rPr lang="vi-VN" dirty="0"/>
              <a:t>Làm như thế nào</a:t>
            </a:r>
            <a:endParaRPr lang="en-US" dirty="0"/>
          </a:p>
          <a:p>
            <a:r>
              <a:rPr lang="vi-VN" dirty="0"/>
              <a:t>Giá trị kinh doanh</a:t>
            </a:r>
            <a:r>
              <a:rPr lang="en-US" dirty="0"/>
              <a:t>	</a:t>
            </a:r>
            <a:r>
              <a:rPr lang="vi-VN" dirty="0"/>
              <a:t>Công nghệ &amp; kiến trúc</a:t>
            </a:r>
            <a:endParaRPr lang="en-US" dirty="0"/>
          </a:p>
          <a:p>
            <a:r>
              <a:rPr lang="vi-VN" dirty="0"/>
              <a:t>ROI &amp; chiến lược</a:t>
            </a:r>
            <a:r>
              <a:rPr lang="en-US" dirty="0"/>
              <a:t>	</a:t>
            </a:r>
            <a:r>
              <a:rPr lang="vi-VN" dirty="0"/>
              <a:t>Khả thi &amp; bền vững</a:t>
            </a:r>
            <a:endParaRPr lang="en-US" dirty="0"/>
          </a:p>
          <a:p>
            <a:r>
              <a:rPr lang="vi-VN" dirty="0"/>
              <a:t>Business ownership</a:t>
            </a:r>
            <a:r>
              <a:rPr lang="en-US" dirty="0"/>
              <a:t>	</a:t>
            </a:r>
            <a:r>
              <a:rPr lang="vi-VN" dirty="0"/>
              <a:t>IT &amp; analytics support</a:t>
            </a:r>
          </a:p>
          <a:p>
            <a:r>
              <a:rPr lang="en-US" dirty="0"/>
              <a:t>=&gt; </a:t>
            </a:r>
            <a:r>
              <a:rPr lang="vi-VN" dirty="0"/>
              <a:t>Nhầm lẫn hai phần này là </a:t>
            </a:r>
            <a:r>
              <a:rPr lang="vi-VN" b="1" dirty="0"/>
              <a:t>nguyên nhân phổ biến của BI thất bại</a:t>
            </a:r>
            <a:r>
              <a:rPr lang="vi-VN" dirty="0"/>
              <a:t>.</a:t>
            </a:r>
          </a:p>
          <a:p>
            <a:r>
              <a:rPr lang="vi-VN" b="1" dirty="0"/>
              <a:t>6.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Technical case </a:t>
            </a:r>
            <a:r>
              <a:rPr lang="vi-VN" b="1" dirty="0"/>
              <a:t>không phải nơi khoe công nghệ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Công nghệ phải phục vụ giá trị kinh doanh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Kiến trúc tốt giúp BI: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nhanh,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ổn định,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được sử dụng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Con người quyết định thành bại không kém công nghệ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A Rigorous Approach to Tool Selection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nhấn mạnh rằng: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Chọn công cụ BI là một quyết định chiến lược</a:t>
            </a:r>
            <a:r>
              <a:rPr lang="vi-VN" dirty="0"/>
              <a:t>, và nếu làm sai, hậu quả sẽ kéo dài trong nhiều năm.</a:t>
            </a:r>
          </a:p>
          <a:p>
            <a:r>
              <a:rPr lang="vi-VN" dirty="0"/>
              <a:t>Thông điệp then chốt:</a:t>
            </a:r>
            <a:br>
              <a:rPr lang="vi-VN" dirty="0"/>
            </a:br>
            <a:r>
              <a:rPr lang="vi-VN" b="1" dirty="0"/>
              <a:t>Công cụ phải được chọn dựa trên yêu cầu kinh doanh và khả năng sử dụng thực tế, không phải danh tiếng hay lời hứa của vendor.</a:t>
            </a:r>
            <a:endParaRPr lang="vi-VN" dirty="0"/>
          </a:p>
          <a:p>
            <a:r>
              <a:rPr lang="vi-VN" b="1" dirty="0"/>
              <a:t>Quy trình 7 bước lựa chọn công cụ BI</a:t>
            </a:r>
          </a:p>
          <a:p>
            <a:r>
              <a:rPr lang="vi-VN" b="1" dirty="0"/>
              <a:t>01. Gather Requirements – Thu thập yêu cầu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Bắt đầu từ: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nhu cầu nghiệp vụ,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quy trình kinh doanh,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loại quyết định cần hỗ trợ.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bắt đầu từ câu hỏi: </a:t>
            </a:r>
            <a:r>
              <a:rPr lang="vi-VN" i="1" dirty="0"/>
              <a:t>“Nên dùng Power BI hay Tableau?”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Nếu yêu cầu sai, mọi bước sau đều sai.</a:t>
            </a:r>
          </a:p>
          <a:p>
            <a:r>
              <a:rPr lang="vi-VN" b="1" dirty="0"/>
              <a:t>02. Define Success Criteria – Xác định tiêu chí thành công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Thiết lập tiêu chí đánh giá rõ ràng: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hiệu năng,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khả năng sử dụng,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khả năng mở rộng,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chi phí,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mức độ chấp nhận của người dùng.</a:t>
            </a:r>
          </a:p>
          <a:p>
            <a:r>
              <a:rPr lang="en-US" dirty="0"/>
              <a:t>=&gt; </a:t>
            </a:r>
            <a:r>
              <a:rPr lang="vi-VN" dirty="0"/>
              <a:t>Tiêu chí phải </a:t>
            </a:r>
            <a:r>
              <a:rPr lang="vi-VN" b="1" dirty="0"/>
              <a:t>được thống nhất trước</a:t>
            </a:r>
            <a:r>
              <a:rPr lang="vi-VN" dirty="0"/>
              <a:t>, không thay đổi sau khi đã xem demo.</a:t>
            </a:r>
          </a:p>
          <a:p>
            <a:r>
              <a:rPr lang="vi-VN" b="1" dirty="0"/>
              <a:t>03. Shortlist Products – Lập danh sách ngắn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Giới hạn </a:t>
            </a:r>
            <a:r>
              <a:rPr lang="vi-VN" b="1" dirty="0"/>
              <a:t>2–3 công cụ</a:t>
            </a:r>
            <a:r>
              <a:rPr lang="vi-VN" dirty="0"/>
              <a:t> phù hợp nhất.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Loại bỏ sớm các công cụ: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đáp ứng yêu cầu cốt lõi,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vượt ngân sách,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phù hợp kiến trúc.</a:t>
            </a:r>
          </a:p>
          <a:p>
            <a:r>
              <a:rPr lang="en-US" dirty="0"/>
              <a:t>=&gt; </a:t>
            </a:r>
            <a:r>
              <a:rPr lang="vi-VN" dirty="0"/>
              <a:t>Shortlist giúp </a:t>
            </a:r>
            <a:r>
              <a:rPr lang="vi-VN" b="1" dirty="0"/>
              <a:t>tiết kiệm thời gian và công sức</a:t>
            </a:r>
            <a:r>
              <a:rPr lang="vi-VN" dirty="0"/>
              <a:t>.</a:t>
            </a:r>
          </a:p>
          <a:p>
            <a:r>
              <a:rPr lang="vi-VN" b="1" dirty="0"/>
              <a:t>04. Conduct Proof of Concept (PoC) – Thử nghiệm thực tế</a:t>
            </a:r>
          </a:p>
          <a:p>
            <a:r>
              <a:rPr lang="vi-VN" dirty="0"/>
              <a:t>Đây là </a:t>
            </a:r>
            <a:r>
              <a:rPr lang="vi-VN" b="1" dirty="0"/>
              <a:t>bước quan trọng nhất</a:t>
            </a:r>
            <a:r>
              <a:rPr lang="vi-VN" dirty="0"/>
              <a:t>.</a:t>
            </a:r>
          </a:p>
          <a:p>
            <a:r>
              <a:rPr lang="vi-VN" dirty="0"/>
              <a:t>PoC phải: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dùng </a:t>
            </a:r>
            <a:r>
              <a:rPr lang="vi-VN" b="1" dirty="0"/>
              <a:t>dữ liệu thật</a:t>
            </a:r>
            <a:r>
              <a:rPr lang="vi-VN" dirty="0"/>
              <a:t> của tổ chức,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</a:t>
            </a:r>
            <a:r>
              <a:rPr lang="vi-VN" b="1" dirty="0"/>
              <a:t>người dùng thật</a:t>
            </a:r>
            <a:r>
              <a:rPr lang="vi-VN" dirty="0"/>
              <a:t> tham gia,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mô phỏng các kịch bản sử dụng thực tế.</a:t>
            </a:r>
          </a:p>
          <a:p>
            <a:r>
              <a:rPr lang="en-US" dirty="0"/>
              <a:t>=&gt; </a:t>
            </a:r>
            <a:r>
              <a:rPr lang="vi-VN" dirty="0"/>
              <a:t>Demo của vendor </a:t>
            </a:r>
            <a:r>
              <a:rPr lang="vi-VN" b="1" dirty="0"/>
              <a:t>không đủ để ra quyết định</a:t>
            </a:r>
            <a:r>
              <a:rPr lang="vi-VN" dirty="0"/>
              <a:t>.</a:t>
            </a:r>
          </a:p>
          <a:p>
            <a:r>
              <a:rPr lang="vi-VN" b="1" dirty="0"/>
              <a:t>05. Score and Rank Candidates – Chấm điểm &amp; xếp hạng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Áp dụng </a:t>
            </a:r>
            <a:r>
              <a:rPr lang="vi-VN" b="1" dirty="0"/>
              <a:t>bảng điểm có trọng số</a:t>
            </a:r>
            <a:r>
              <a:rPr lang="vi-VN" dirty="0"/>
              <a:t> theo tiêu chí đã định nghĩa.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Giảm thiểu: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cảm tính,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thiên vị cá nhân,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áp lực marketing.</a:t>
            </a:r>
          </a:p>
          <a:p>
            <a:r>
              <a:rPr lang="en-US" dirty="0"/>
              <a:t>=&gt; </a:t>
            </a:r>
            <a:r>
              <a:rPr lang="vi-VN" dirty="0"/>
              <a:t>Quyết định dựa trên dữ liệu – đúng tinh thần BI.</a:t>
            </a:r>
          </a:p>
          <a:p>
            <a:r>
              <a:rPr lang="vi-VN" b="1" dirty="0"/>
              <a:t>06. Select Vendors – Chọn nhà cung cấp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Dựa trên: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kết quả PoC,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điểm số,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phản hồi người dùng.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chọn chỉ vì: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quen thuộc,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“công ty lớn đang dùng”.</a:t>
            </a:r>
          </a:p>
          <a:p>
            <a:r>
              <a:rPr lang="vi-VN" b="1" dirty="0"/>
              <a:t>07. Negotiate Pricing – Đàm phán giá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Chỉ đàm phán </a:t>
            </a:r>
            <a:r>
              <a:rPr lang="vi-VN" b="1" dirty="0"/>
              <a:t>sau khi đã chọn công cụ</a:t>
            </a:r>
            <a:r>
              <a:rPr lang="vi-V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lợi thế vì: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đã chứng minh nhu cầu rõ ràng,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hiểu rõ giá trị thực tế của công cụ.</a:t>
            </a:r>
          </a:p>
          <a:p>
            <a:r>
              <a:rPr lang="en-US" dirty="0"/>
              <a:t>=&gt; </a:t>
            </a:r>
            <a:r>
              <a:rPr lang="vi-VN" dirty="0"/>
              <a:t>Đàm phán sớm dễ bị “dẫn dắt” bởi vendor.</a:t>
            </a:r>
          </a:p>
          <a:p>
            <a:r>
              <a:rPr lang="vi-VN" b="1" dirty="0"/>
              <a:t>Hai nguyên tắc quan trọng bên phải slide</a:t>
            </a:r>
          </a:p>
          <a:p>
            <a:r>
              <a:rPr lang="vi-VN" b="1" dirty="0"/>
              <a:t>The PoC Phase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PoC là </a:t>
            </a:r>
            <a:r>
              <a:rPr lang="vi-VN" b="1" dirty="0"/>
              <a:t>bằng chứng thực tế</a:t>
            </a:r>
            <a:r>
              <a:rPr lang="vi-VN" dirty="0"/>
              <a:t> duy nhất: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kiểm chứng tuyên bố của vendor,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đánh giá khả năng sử dụng thật sự.</a:t>
            </a:r>
          </a:p>
          <a:p>
            <a:r>
              <a:rPr lang="vi-VN" b="1" dirty="0"/>
              <a:t>Objective Ranking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Xếp hạng khách quan giúp: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loại bỏ cảm xúc,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tránh “quyết định chính trị”,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bảo vệ quyết định trước lãnh đạo.</a:t>
            </a:r>
          </a:p>
          <a:p>
            <a:endParaRPr lang="en-US" b="1" dirty="0"/>
          </a:p>
          <a:p>
            <a:r>
              <a:rPr lang="vi-VN" b="1" dirty="0"/>
              <a:t>Cảnh báo quan trọng (Critical Note)</a:t>
            </a:r>
          </a:p>
          <a:p>
            <a:r>
              <a:rPr lang="vi-VN" b="1" dirty="0"/>
              <a:t>Involve both business and IT users throughout the entire evaluation process.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Nếu thiếu business: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công cụ đúng kỹ thuật nhưng không được dùng.</a:t>
            </a:r>
          </a:p>
          <a:p>
            <a:r>
              <a:rPr lang="en-US" dirty="0"/>
              <a:t>=&gt; </a:t>
            </a:r>
            <a:r>
              <a:rPr lang="vi-VN" dirty="0"/>
              <a:t>Nếu thiếu IT: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công cụ khó vận hành, không bền vững.</a:t>
            </a:r>
          </a:p>
          <a:p>
            <a:endParaRPr lang="en-US" b="1" dirty="0"/>
          </a:p>
          <a:p>
            <a:r>
              <a:rPr lang="vi-VN" b="1" dirty="0"/>
              <a:t>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Chọn công cụ BI là </a:t>
            </a:r>
            <a:r>
              <a:rPr lang="vi-VN" b="1" dirty="0"/>
              <a:t>quyết định dài hạn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PoC với dữ liệu thật là bắt buộc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Quyết định phải dựa trên tiêu chí rõ ràng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và IT phải cùng tham gia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Competing with the Status Quo: “Good Enough” Alternatives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chỉ ra một sự thật quan trọng: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Kẻ thù lớn nhất của BI không phải là hệ thống kém, mà là các giải pháp “đủ tốt” mà tổ chức đã quen dùng.</a:t>
            </a:r>
            <a:endParaRPr lang="vi-VN" dirty="0"/>
          </a:p>
          <a:p>
            <a:r>
              <a:rPr lang="vi-VN" dirty="0"/>
              <a:t>Để BI thành công, nó phải </a:t>
            </a:r>
            <a:r>
              <a:rPr lang="vi-VN" b="1" dirty="0"/>
              <a:t>tốt hơn rõ rệt</a:t>
            </a:r>
            <a:r>
              <a:rPr lang="vi-VN" dirty="0"/>
              <a:t>, không chỉ “tương đương”.</a:t>
            </a:r>
          </a:p>
          <a:p>
            <a:r>
              <a:rPr lang="vi-VN" b="1" dirty="0"/>
              <a:t>1. Operational Reporting – Báo cáo vận hành sẵn có</a:t>
            </a:r>
          </a:p>
          <a:p>
            <a:r>
              <a:rPr lang="vi-VN" b="1" dirty="0"/>
              <a:t>Ưu điểm (Pros):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sẵn trong ERP/CRM,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triển khai nhanh,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chi phí thấp.</a:t>
            </a:r>
          </a:p>
          <a:p>
            <a:r>
              <a:rPr lang="vi-VN" b="1" dirty="0"/>
              <a:t>Hạn chế (Cons):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chỉ phục vụ từng phòng ban,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khó phân tích chéo,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thiếu chiều sâu lịch sử.</a:t>
            </a:r>
          </a:p>
          <a:p>
            <a:r>
              <a:rPr lang="en-US" dirty="0"/>
              <a:t>=&gt; </a:t>
            </a:r>
            <a:r>
              <a:rPr lang="vi-VN" dirty="0"/>
              <a:t>Phù hợp cho vận hành hằng ngày, </a:t>
            </a:r>
            <a:r>
              <a:rPr lang="vi-VN" b="1" dirty="0"/>
              <a:t>không đủ cho quyết định chiến lược</a:t>
            </a:r>
            <a:r>
              <a:rPr lang="vi-VN" dirty="0"/>
              <a:t>.</a:t>
            </a:r>
          </a:p>
          <a:p>
            <a:r>
              <a:rPr lang="vi-VN" b="1" dirty="0"/>
              <a:t>2. Spreadsheets – Bảng tính</a:t>
            </a:r>
          </a:p>
          <a:p>
            <a:r>
              <a:rPr lang="vi-VN" b="1" dirty="0"/>
              <a:t>Ưu điểm: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linh hoạt,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dễ học,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ai cũng dùng được.</a:t>
            </a:r>
          </a:p>
          <a:p>
            <a:r>
              <a:rPr lang="vi-VN" b="1" dirty="0"/>
              <a:t>Hạn chế: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dễ sai sót,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mở rộng,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tạo ra nhiều “phiên bản sự thật”.</a:t>
            </a:r>
          </a:p>
          <a:p>
            <a:r>
              <a:rPr lang="en-US" dirty="0"/>
              <a:t>=&gt; </a:t>
            </a:r>
            <a:r>
              <a:rPr lang="vi-VN" dirty="0"/>
              <a:t>Spreadsheet rất mạnh </a:t>
            </a:r>
            <a:r>
              <a:rPr lang="vi-VN" b="1" dirty="0"/>
              <a:t>ở quy mô nhỏ</a:t>
            </a:r>
            <a:r>
              <a:rPr lang="vi-VN" dirty="0"/>
              <a:t>, nhưng nguy hiểm ở quy mô doanh nghiệp.</a:t>
            </a:r>
          </a:p>
          <a:p>
            <a:r>
              <a:rPr lang="vi-VN" b="1" dirty="0"/>
              <a:t>3. Data Shadow Systems – Hệ thống dữ liệu tự phát</a:t>
            </a:r>
          </a:p>
          <a:p>
            <a:r>
              <a:rPr lang="vi-VN" b="1" dirty="0"/>
              <a:t>Ưu điểm: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giải quyết nhanh nhu cầu riêng lẻ,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phù hợp mục tiêu cục bộ.</a:t>
            </a:r>
          </a:p>
          <a:p>
            <a:r>
              <a:rPr lang="vi-VN" b="1" dirty="0"/>
              <a:t>Hạn chế: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chi phí IT cao,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thiếu tích hợp,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phá vỡ chuẩn dữ liệu toàn doanh nghiệp.</a:t>
            </a:r>
          </a:p>
          <a:p>
            <a:r>
              <a:rPr lang="en-US" dirty="0"/>
              <a:t>=&gt; </a:t>
            </a:r>
            <a:r>
              <a:rPr lang="vi-VN" dirty="0"/>
              <a:t>Đây là hệ quả trực tiếp của </a:t>
            </a:r>
            <a:r>
              <a:rPr lang="vi-VN" b="1" dirty="0"/>
              <a:t>BI trung tâm triển khai chậm hoặc không phù hợp</a:t>
            </a:r>
            <a:r>
              <a:rPr lang="vi-VN" dirty="0"/>
              <a:t>.</a:t>
            </a:r>
          </a:p>
          <a:p>
            <a:r>
              <a:rPr lang="vi-VN" b="1" dirty="0"/>
              <a:t>4. Doing Nothing – Giữ nguyên hiện trạng</a:t>
            </a:r>
          </a:p>
          <a:p>
            <a:r>
              <a:rPr lang="vi-VN" b="1" dirty="0"/>
              <a:t>Ưu điểm: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tốn chi phí ban đầu,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gây xáo trộn.</a:t>
            </a:r>
          </a:p>
          <a:p>
            <a:r>
              <a:rPr lang="vi-VN" b="1" dirty="0"/>
              <a:t>Hạn chế (rất lớn):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tụt hậu cạnh tranh,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ra quyết định kém,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hiệu quả vận hành giảm dần theo thời gian.</a:t>
            </a:r>
          </a:p>
          <a:p>
            <a:r>
              <a:rPr lang="en-US" dirty="0"/>
              <a:t>=&gt; “</a:t>
            </a:r>
            <a:r>
              <a:rPr lang="vi-VN" dirty="0"/>
              <a:t>Không làm gì” cũng là một </a:t>
            </a:r>
            <a:r>
              <a:rPr lang="vi-VN" b="1" dirty="0"/>
              <a:t>quyết định chiến lược – và thường là quyết định tệ nhất</a:t>
            </a:r>
            <a:r>
              <a:rPr lang="vi-VN" dirty="0"/>
              <a:t>.</a:t>
            </a:r>
          </a:p>
          <a:p>
            <a:r>
              <a:rPr lang="vi-VN" b="1" dirty="0"/>
              <a:t>5. Thách thức cốt lõi cho BI</a:t>
            </a:r>
          </a:p>
          <a:p>
            <a:r>
              <a:rPr lang="vi-VN" dirty="0"/>
              <a:t>Dòng kết luận cuối slide nhấn mạnh:</a:t>
            </a:r>
          </a:p>
          <a:p>
            <a:r>
              <a:rPr lang="vi-VN" b="1" dirty="0"/>
              <a:t>BI must demonstrate that it is significantly better than these “good enough” alternatives in terms of long-term agility, productivity gains, and decision quality.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phải: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tạo ra lợi ích rõ ràng,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cải thiện năng suất,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nâng cao chất lượng quyết định,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nếu không, người dùng </a:t>
            </a:r>
            <a:r>
              <a:rPr lang="vi-VN" b="1" dirty="0"/>
              <a:t>sẽ không chuyển đổi</a:t>
            </a:r>
            <a:r>
              <a:rPr lang="vi-VN" dirty="0"/>
              <a:t>.</a:t>
            </a:r>
          </a:p>
          <a:p>
            <a:r>
              <a:rPr lang="vi-VN" b="1" dirty="0"/>
              <a:t>6. Liên hệ với BI Justification &amp; Value Proposition</a:t>
            </a:r>
          </a:p>
          <a:p>
            <a:r>
              <a:rPr lang="vi-VN" dirty="0"/>
              <a:t>Slide này củng cố cho: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Business Case BI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Value Proposition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Tangible Benefits &amp; ROI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BI không chỉ cạnh tranh với vendor khác, mà </a:t>
            </a:r>
            <a:r>
              <a:rPr lang="vi-VN" b="1" dirty="0"/>
              <a:t>cạnh tranh với thói quen hiện tại</a:t>
            </a:r>
            <a:r>
              <a:rPr lang="vi-VN" dirty="0"/>
              <a:t>.</a:t>
            </a:r>
          </a:p>
          <a:p>
            <a:r>
              <a:rPr lang="vi-VN" b="1" dirty="0"/>
              <a:t>7.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phải thắng “status quo”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“Đủ dùng” là đối thủ mạnh nhất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chỉ đổi khi lợi ích </a:t>
            </a:r>
            <a:r>
              <a:rPr lang="vi-VN" b="1" dirty="0"/>
              <a:t>rõ ràng và vượt trội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thành công khi: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tốt hơn,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dễ hơn,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đáng tin hơn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Overcoming Business Resistance to Change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nhấn mạnh một thực tế quan trọng: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BI không chỉ là thay đổi công nghệ, mà là thay đổi cách con người làm việc và ra quyết định.</a:t>
            </a:r>
            <a:endParaRPr lang="vi-VN" dirty="0"/>
          </a:p>
          <a:p>
            <a:r>
              <a:rPr lang="vi-VN" dirty="0"/>
              <a:t>Vì vậy, </a:t>
            </a:r>
            <a:r>
              <a:rPr lang="vi-VN" b="1" dirty="0"/>
              <a:t>kháng cự là điều bình thường</a:t>
            </a:r>
            <a:r>
              <a:rPr lang="vi-VN" dirty="0"/>
              <a:t>, không phải ngoại lệ.</a:t>
            </a:r>
          </a:p>
          <a:p>
            <a:r>
              <a:rPr lang="vi-VN" b="1" dirty="0"/>
              <a:t>1. Common Business Fears – Những nỗi sợ phổ biến của business</a:t>
            </a:r>
          </a:p>
          <a:p>
            <a:r>
              <a:rPr lang="vi-VN" b="1" dirty="0"/>
              <a:t>Learning Curve – Sợ học cái mới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lo ngại: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công cụ mới phức tạp,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mất thời gian học,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giảm năng suất ban đầu.</a:t>
            </a:r>
          </a:p>
          <a:p>
            <a:r>
              <a:rPr lang="en-US" dirty="0"/>
              <a:t>=&gt; </a:t>
            </a:r>
            <a:r>
              <a:rPr lang="vi-VN" dirty="0"/>
              <a:t>Nếu không được hỗ trợ, họ sẽ </a:t>
            </a:r>
            <a:r>
              <a:rPr lang="vi-VN" b="1" dirty="0"/>
              <a:t>tránh sử dụng BI</a:t>
            </a:r>
            <a:r>
              <a:rPr lang="vi-VN" dirty="0"/>
              <a:t>.</a:t>
            </a:r>
          </a:p>
          <a:p>
            <a:r>
              <a:rPr lang="vi-VN" b="1" dirty="0"/>
              <a:t>Loss of Control – Mất quyền kiểm soát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Nỗi sợ: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BI thay thế kinh nghiệm cá nhân,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“máy móc” thay cho trực giác.</a:t>
            </a:r>
          </a:p>
          <a:p>
            <a:r>
              <a:rPr lang="en-US" dirty="0"/>
              <a:t>=&gt; </a:t>
            </a:r>
            <a:r>
              <a:rPr lang="vi-VN" dirty="0"/>
              <a:t>Thực tế, BI </a:t>
            </a:r>
            <a:r>
              <a:rPr lang="vi-VN" b="1" dirty="0"/>
              <a:t>hỗ trợ</a:t>
            </a:r>
            <a:r>
              <a:rPr lang="vi-VN" dirty="0"/>
              <a:t> chứ không thay thế con người.</a:t>
            </a:r>
          </a:p>
          <a:p>
            <a:r>
              <a:rPr lang="vi-VN" b="1" dirty="0"/>
              <a:t>Workflow Disruption – Gián đoạn quy trình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Lo lắng rằng: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quy trình mới làm chậm công việc,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tăng gánh nặng báo cáo.</a:t>
            </a:r>
          </a:p>
          <a:p>
            <a:r>
              <a:rPr lang="en-US" dirty="0"/>
              <a:t>=&gt; </a:t>
            </a:r>
            <a:r>
              <a:rPr lang="vi-VN" dirty="0"/>
              <a:t>Nếu BI không cải thiện workflow, nó sẽ bị phản đối.</a:t>
            </a:r>
          </a:p>
          <a:p>
            <a:r>
              <a:rPr lang="vi-VN" b="1" dirty="0"/>
              <a:t>Data Transparency – Minh bạch dữ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Nỗi sợ bị “soi”: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sai sót,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kém hiệu quả,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quyết định trong quá khứ.</a:t>
            </a:r>
          </a:p>
          <a:p>
            <a:r>
              <a:rPr lang="en-US" dirty="0"/>
              <a:t>=&gt; </a:t>
            </a:r>
            <a:r>
              <a:rPr lang="vi-VN" dirty="0"/>
              <a:t>Minh bạch là điều kiện để cải tiến, nhưng </a:t>
            </a:r>
            <a:r>
              <a:rPr lang="vi-VN" b="1" dirty="0"/>
              <a:t>gây lo ngại ban đầu</a:t>
            </a:r>
            <a:r>
              <a:rPr lang="vi-VN" dirty="0"/>
              <a:t>.</a:t>
            </a:r>
          </a:p>
          <a:p>
            <a:r>
              <a:rPr lang="vi-VN" b="1" dirty="0"/>
              <a:t>2. Mitigation Strategies – Chiến lược giảm kháng cự</a:t>
            </a:r>
          </a:p>
          <a:p>
            <a:r>
              <a:rPr lang="vi-VN" b="1" dirty="0"/>
              <a:t>Early Involvement – Tham gia từ sớm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Đưa người dùng tham gia: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xác định yêu cầu,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chọn công cụ.</a:t>
            </a:r>
          </a:p>
          <a:p>
            <a:r>
              <a:rPr lang="en-US" dirty="0"/>
              <a:t>=&gt; </a:t>
            </a:r>
            <a:r>
              <a:rPr lang="vi-VN" dirty="0"/>
              <a:t>Khi được tham gia, họ </a:t>
            </a:r>
            <a:r>
              <a:rPr lang="vi-VN" b="1" dirty="0"/>
              <a:t>cảm thấy BI là của mình</a:t>
            </a:r>
            <a:r>
              <a:rPr lang="vi-VN" dirty="0"/>
              <a:t>.</a:t>
            </a:r>
          </a:p>
          <a:p>
            <a:r>
              <a:rPr lang="vi-VN" b="1" dirty="0"/>
              <a:t>Targeted Training – Đào tạo đúng trọng tâm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Đào tạo theo: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vai trò,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quy trình,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giá trị kinh doanh.</a:t>
            </a:r>
          </a:p>
          <a:p>
            <a:r>
              <a:rPr lang="en-US" dirty="0"/>
              <a:t>=&gt; </a:t>
            </a:r>
            <a:r>
              <a:rPr lang="vi-VN" dirty="0"/>
              <a:t>Không đào tạo chung chung theo tính năng công cụ.</a:t>
            </a:r>
          </a:p>
          <a:p>
            <a:r>
              <a:rPr lang="vi-VN" b="1" dirty="0"/>
              <a:t>Deliver Quick Wins – Tạo giá trị nhanh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Triển khai: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dự án nhỏ,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tác động rõ,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thời gian ngắn.</a:t>
            </a:r>
          </a:p>
          <a:p>
            <a:r>
              <a:rPr lang="en-US" dirty="0"/>
              <a:t>=&gt; </a:t>
            </a:r>
            <a:r>
              <a:rPr lang="vi-VN" dirty="0"/>
              <a:t>Thành công sớm giúp </a:t>
            </a:r>
            <a:r>
              <a:rPr lang="vi-VN" b="1" dirty="0"/>
              <a:t>xây dựng niềm tin</a:t>
            </a:r>
            <a:r>
              <a:rPr lang="vi-VN" dirty="0"/>
              <a:t>.</a:t>
            </a:r>
          </a:p>
          <a:p>
            <a:r>
              <a:rPr lang="vi-VN" b="1" dirty="0"/>
              <a:t>Executive Support – Hỗ trợ từ lãnh đạo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Sự ủng hộ công khai của lãnh đạo: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giảm kháng cự,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khẳng định BI là ưu tiên chiến lược.</a:t>
            </a:r>
          </a:p>
          <a:p>
            <a:r>
              <a:rPr lang="en-US" dirty="0"/>
              <a:t>=&gt; </a:t>
            </a:r>
            <a:r>
              <a:rPr lang="vi-VN" dirty="0"/>
              <a:t>BI không có “ô dù lãnh đạo” sẽ rất khó tồn tại.</a:t>
            </a:r>
          </a:p>
          <a:p>
            <a:r>
              <a:rPr lang="vi-VN" b="1" dirty="0"/>
              <a:t>3. Thông điệp then chốt của slide</a:t>
            </a:r>
          </a:p>
          <a:p>
            <a:r>
              <a:rPr lang="vi-VN" dirty="0"/>
              <a:t>Câu kết luận cuối slide:</a:t>
            </a:r>
          </a:p>
          <a:p>
            <a:r>
              <a:rPr lang="vi-VN" b="1" dirty="0"/>
              <a:t>“Resistance is often rooted in fear of the unknown; transparent communication is the most effective antidote.”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kháng cự đến từ </a:t>
            </a:r>
            <a:r>
              <a:rPr lang="vi-VN" b="1" dirty="0"/>
              <a:t>sợ hãi</a:t>
            </a:r>
            <a:r>
              <a:rPr lang="vi-VN" dirty="0"/>
              <a:t>, không phải ác ý,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truyền thông rõ ràng và minh bạch là cách tốt nhất để vượt qua.</a:t>
            </a:r>
          </a:p>
          <a:p>
            <a:r>
              <a:rPr lang="vi-VN" b="1" dirty="0"/>
              <a:t>4. Liên hệ với BI Justification &amp; Change Management</a:t>
            </a:r>
          </a:p>
          <a:p>
            <a:r>
              <a:rPr lang="vi-VN" dirty="0"/>
              <a:t>Slide này kết nối trực tiếp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BI Sponsorship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Stakeholder Engagement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BI as a Process Enabler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BI justification tốt phải </a:t>
            </a:r>
            <a:r>
              <a:rPr lang="vi-VN" b="1" dirty="0"/>
              <a:t>tính đến yếu tố con người</a:t>
            </a:r>
            <a:r>
              <a:rPr lang="vi-VN" dirty="0"/>
              <a:t>, không chỉ công nghệ.</a:t>
            </a:r>
          </a:p>
          <a:p>
            <a:r>
              <a:rPr lang="vi-VN" b="1" dirty="0"/>
              <a:t>5.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Kháng cự là điều tự nhiên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là dự án thay đổi tổ chức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Con người quyết định adoption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Giao tiếp và tham gia quan trọng hơn công nghệ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Hidden Resistance: Why Technologists Hesitate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làm rõ một điểm thường bị bỏ qua: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Đội ngũ kỹ thuật cũng có nỗi sợ và mối lo chính đáng khi triển khai BI</a:t>
            </a:r>
            <a:r>
              <a:rPr lang="vi-VN" dirty="0"/>
              <a:t>, và nếu không xử lý tốt, kháng cự này có thể âm thầm làm dự án thất bại.</a:t>
            </a:r>
          </a:p>
          <a:p>
            <a:r>
              <a:rPr lang="vi-VN" b="1" dirty="0"/>
              <a:t>1. Technical Fears – Những nỗi lo của đội kỹ thuật</a:t>
            </a:r>
          </a:p>
          <a:p>
            <a:r>
              <a:rPr lang="vi-VN" b="1" dirty="0"/>
              <a:t>Skill Obsolescence – Lo ngại lỗi thời kỹ năng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Nhân sự IT sợ rằng: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công cụ BI mới,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self-service analytics,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cloud platform</a:t>
            </a:r>
          </a:p>
          <a:p>
            <a:r>
              <a:rPr lang="vi-VN" dirty="0"/>
              <a:t>sẽ khiến kỹ năng cũ của họ </a:t>
            </a:r>
            <a:r>
              <a:rPr lang="vi-VN" b="1" dirty="0"/>
              <a:t>không còn giá trị</a:t>
            </a:r>
            <a:r>
              <a:rPr lang="vi-VN" dirty="0"/>
              <a:t>.</a:t>
            </a:r>
          </a:p>
          <a:p>
            <a:r>
              <a:rPr lang="en-US" dirty="0"/>
              <a:t>=&gt; </a:t>
            </a:r>
            <a:r>
              <a:rPr lang="vi-VN" dirty="0"/>
              <a:t>Đây là nỗi lo về </a:t>
            </a:r>
            <a:r>
              <a:rPr lang="vi-VN" b="1" dirty="0"/>
              <a:t>tương lai nghề nghiệp</a:t>
            </a:r>
            <a:r>
              <a:rPr lang="vi-VN" dirty="0"/>
              <a:t>, không phải sự chống đối cá nhân.</a:t>
            </a:r>
          </a:p>
          <a:p>
            <a:r>
              <a:rPr lang="vi-VN" b="1" dirty="0"/>
              <a:t>Loss of Control – Mất quyền kiểm soát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self-service cho phép business: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truy cập dữ liệu,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tạo báo cáo.</a:t>
            </a:r>
          </a:p>
          <a:p>
            <a:r>
              <a:rPr lang="vi-VN" dirty="0"/>
              <a:t>Điều này gây lo ngại: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vượt qua kiểm soát IT,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phá vỡ governance.</a:t>
            </a:r>
          </a:p>
          <a:p>
            <a:r>
              <a:rPr lang="en-US" dirty="0"/>
              <a:t>=&gt; </a:t>
            </a:r>
            <a:r>
              <a:rPr lang="vi-VN" dirty="0"/>
              <a:t>Nếu không có khung quản trị rõ ràng, nỗi lo này </a:t>
            </a:r>
            <a:r>
              <a:rPr lang="vi-VN" b="1" dirty="0"/>
              <a:t>hoàn toàn hợp lý</a:t>
            </a:r>
            <a:r>
              <a:rPr lang="vi-VN" dirty="0"/>
              <a:t>.</a:t>
            </a:r>
          </a:p>
          <a:p>
            <a:r>
              <a:rPr lang="vi-VN" b="1" dirty="0"/>
              <a:t>Workload Surge – Tăng khối lượng công việc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thêm: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hạ tầng mới,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yêu cầu hỗ trợ,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trách nhiệm vận hành.</a:t>
            </a:r>
          </a:p>
          <a:p>
            <a:r>
              <a:rPr lang="en-US" dirty="0"/>
              <a:t>=&gt; </a:t>
            </a:r>
            <a:r>
              <a:rPr lang="vi-VN" dirty="0"/>
              <a:t>Đối với đội kỹ thuật đã quá tải, BI bị xem như </a:t>
            </a:r>
            <a:r>
              <a:rPr lang="vi-VN" b="1" dirty="0"/>
              <a:t>gánh nặng bổ sung</a:t>
            </a:r>
            <a:r>
              <a:rPr lang="vi-VN" dirty="0"/>
              <a:t>.</a:t>
            </a:r>
          </a:p>
          <a:p>
            <a:r>
              <a:rPr lang="vi-VN" b="1" dirty="0"/>
              <a:t>Visibility of Failure – Lộ vấn đề chất lượng dữ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làm lộ: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dữ liệu bẩn,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quy trình yếu,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lỗi tích tụ lâu năm.</a:t>
            </a:r>
          </a:p>
          <a:p>
            <a:r>
              <a:rPr lang="en-US" dirty="0"/>
              <a:t>=&gt; </a:t>
            </a:r>
            <a:r>
              <a:rPr lang="vi-VN" dirty="0"/>
              <a:t>Điều này có thể khiến IT </a:t>
            </a:r>
            <a:r>
              <a:rPr lang="vi-VN" b="1" dirty="0"/>
              <a:t>sợ bị “soi”</a:t>
            </a:r>
            <a:r>
              <a:rPr lang="vi-VN" dirty="0"/>
              <a:t> trước lãnh đạo.</a:t>
            </a:r>
          </a:p>
          <a:p>
            <a:r>
              <a:rPr lang="vi-VN" b="1" dirty="0"/>
              <a:t>2. Mitigation Strategies – Cách giảm kháng cự</a:t>
            </a:r>
          </a:p>
          <a:p>
            <a:r>
              <a:rPr lang="vi-VN" b="1" dirty="0"/>
              <a:t>Upskilling Programs – Nâng cao kỹ năng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Cung cấp: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lộ trình học tập rõ ràng,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đào tạo công nghệ mới,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chứng chỉ.</a:t>
            </a:r>
          </a:p>
          <a:p>
            <a:r>
              <a:rPr lang="en-US" dirty="0"/>
              <a:t>=&gt; </a:t>
            </a:r>
            <a:r>
              <a:rPr lang="vi-VN" dirty="0"/>
              <a:t>BI trở thành </a:t>
            </a:r>
            <a:r>
              <a:rPr lang="vi-VN" b="1" dirty="0"/>
              <a:t>cơ hội phát triển</a:t>
            </a:r>
            <a:r>
              <a:rPr lang="vi-VN" dirty="0"/>
              <a:t>, không phải mối đe dọa.</a:t>
            </a:r>
          </a:p>
          <a:p>
            <a:r>
              <a:rPr lang="vi-VN" b="1" dirty="0"/>
              <a:t>Involvement – Tham gia từ sớm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Đưa IT vào: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đánh giá công cụ,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thiết kế kiến trúc.</a:t>
            </a:r>
          </a:p>
          <a:p>
            <a:r>
              <a:rPr lang="en-US" dirty="0"/>
              <a:t>=&gt; </a:t>
            </a:r>
            <a:r>
              <a:rPr lang="vi-VN" dirty="0"/>
              <a:t>Khi được tham gia, IT </a:t>
            </a:r>
            <a:r>
              <a:rPr lang="vi-VN" b="1" dirty="0"/>
              <a:t>có quyền sở hữu</a:t>
            </a:r>
            <a:r>
              <a:rPr lang="vi-VN" dirty="0"/>
              <a:t>, không chỉ làm theo yêu cầu.</a:t>
            </a:r>
          </a:p>
          <a:p>
            <a:r>
              <a:rPr lang="vi-VN" b="1" dirty="0"/>
              <a:t>Career Growth – Phát triển nghề nghiệp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Định vị BI như: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kỹ năng có giá trị cao,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hướng đi nghề nghiệp mới.</a:t>
            </a:r>
          </a:p>
          <a:p>
            <a:r>
              <a:rPr lang="en-US" dirty="0"/>
              <a:t>=&gt; </a:t>
            </a:r>
            <a:r>
              <a:rPr lang="vi-VN" dirty="0"/>
              <a:t>BI nâng cao vị thế IT, không làm lu mờ họ.</a:t>
            </a:r>
          </a:p>
          <a:p>
            <a:r>
              <a:rPr lang="vi-VN" b="1" dirty="0"/>
              <a:t>Governance Role – Vai trò mới của 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Chuyển IT từ: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“người làm báo cáo”,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sang </a:t>
            </a:r>
            <a:r>
              <a:rPr lang="vi-VN" b="1" dirty="0"/>
              <a:t>“người bảo vệ và kích hoạt dữ liệu”</a:t>
            </a:r>
            <a:r>
              <a:rPr lang="vi-VN" dirty="0"/>
              <a:t>.</a:t>
            </a:r>
          </a:p>
          <a:p>
            <a:r>
              <a:rPr lang="en-US" dirty="0"/>
              <a:t>=&gt; </a:t>
            </a:r>
            <a:r>
              <a:rPr lang="vi-VN" dirty="0"/>
              <a:t>IT trở thành </a:t>
            </a:r>
            <a:r>
              <a:rPr lang="vi-VN" b="1" dirty="0"/>
              <a:t>data steward</a:t>
            </a:r>
            <a:r>
              <a:rPr lang="vi-VN" dirty="0"/>
              <a:t>, không phải bị loại ra khỏi cuộc chơi.</a:t>
            </a:r>
          </a:p>
          <a:p>
            <a:r>
              <a:rPr lang="vi-VN" b="1" dirty="0"/>
              <a:t>3. Thông điệp then chốt của slide</a:t>
            </a:r>
          </a:p>
          <a:p>
            <a:r>
              <a:rPr lang="vi-VN" dirty="0"/>
              <a:t>Câu kết luận cuối slide:</a:t>
            </a:r>
          </a:p>
          <a:p>
            <a:r>
              <a:rPr lang="vi-VN" b="1" dirty="0"/>
              <a:t>“Technologists are not just implementers; they are critical stakeholders whose buy-in determines technical success.”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IT không chỉ là đội triển khai,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mà là </a:t>
            </a:r>
            <a:r>
              <a:rPr lang="vi-VN" b="1" dirty="0"/>
              <a:t>stakeholder chiến lược</a:t>
            </a:r>
            <a:r>
              <a:rPr lang="vi-VN" dirty="0"/>
              <a:t> của BI.</a:t>
            </a:r>
          </a:p>
          <a:p>
            <a:r>
              <a:rPr lang="vi-VN" b="1" dirty="0"/>
              <a:t>4. Liên hệ với BI Governance &amp; Change Management</a:t>
            </a:r>
          </a:p>
          <a:p>
            <a:r>
              <a:rPr lang="vi-VN" dirty="0"/>
              <a:t>Slide này gắn trực tiếp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BI Governance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Stakeholder Engagement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Change Management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Bỏ qua kháng cự của IT = </a:t>
            </a:r>
            <a:r>
              <a:rPr lang="vi-VN" b="1" dirty="0"/>
              <a:t>tự phá hoại nền tảng kỹ thuật của BI</a:t>
            </a:r>
            <a:r>
              <a:rPr lang="vi-VN" dirty="0"/>
              <a:t>.</a:t>
            </a:r>
          </a:p>
          <a:p>
            <a:r>
              <a:rPr lang="vi-VN" b="1" dirty="0"/>
              <a:t>5.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Kháng cự từ IT là điều bình thường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IT cần được trao quyền, không bị gạt ra ngoài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thành công khi: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business dẫn dắt giá trị,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IT bảo vệ và mở rộng nền tảng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là cơ hội nâng cấp vai trò 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Readiness Assessment: Bridging the Gap</a:t>
            </a:r>
          </a:p>
          <a:p>
            <a:r>
              <a:rPr lang="vi-VN" b="1" dirty="0"/>
              <a:t>Ý tưởng trung tâm của slide</a:t>
            </a:r>
          </a:p>
          <a:p>
            <a:r>
              <a:rPr lang="vi-VN" dirty="0"/>
              <a:t>Slide này trả lời câu hỏi rất thực tế: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Ngay cả khi business case và technical case đều tốt, tổ chức đã sẵn sàng để triển khai BI chưa?</a:t>
            </a:r>
            <a:endParaRPr lang="vi-VN" dirty="0"/>
          </a:p>
          <a:p>
            <a:r>
              <a:rPr lang="vi-VN" dirty="0"/>
              <a:t>Readiness assessment giúp </a:t>
            </a:r>
            <a:r>
              <a:rPr lang="vi-VN" b="1" dirty="0"/>
              <a:t>lấp khoảng cách (bridge the gap)</a:t>
            </a:r>
            <a:r>
              <a:rPr lang="vi-VN" dirty="0"/>
              <a:t> giữa: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kỳ vọng chiến lược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khả năng thực thi thực tế.</a:t>
            </a:r>
          </a:p>
          <a:p>
            <a:r>
              <a:rPr lang="vi-VN" b="1" dirty="0"/>
              <a:t>1. Data Readiness – Sẵn sàng về dữ liệu</a:t>
            </a:r>
          </a:p>
          <a:p>
            <a:r>
              <a:rPr lang="vi-VN" dirty="0"/>
              <a:t>Câu hỏi cốt lõi: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có </a:t>
            </a:r>
            <a:r>
              <a:rPr lang="vi-VN" b="1" dirty="0"/>
              <a:t>sạch, nhất quán, dễ truy cập</a:t>
            </a:r>
            <a:r>
              <a:rPr lang="vi-VN" dirty="0"/>
              <a:t> không?</a:t>
            </a:r>
          </a:p>
          <a:p>
            <a:r>
              <a:rPr lang="vi-VN" dirty="0"/>
              <a:t>Việc đánh giá thường dựa trên </a:t>
            </a:r>
            <a:r>
              <a:rPr lang="vi-VN" b="1" dirty="0"/>
              <a:t>Five Cs</a:t>
            </a:r>
            <a:r>
              <a:rPr lang="vi-V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Clean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Consistent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Conformed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Current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Comprehensive</a:t>
            </a:r>
          </a:p>
          <a:p>
            <a:r>
              <a:rPr lang="en-US" dirty="0"/>
              <a:t>=&gt; </a:t>
            </a:r>
            <a:r>
              <a:rPr lang="vi-VN" dirty="0"/>
              <a:t>Nếu dữ liệu chưa sẵn sàng, BI sẽ </a:t>
            </a:r>
            <a:r>
              <a:rPr lang="vi-VN" b="1" dirty="0"/>
              <a:t>không được tin</a:t>
            </a:r>
            <a:r>
              <a:rPr lang="vi-VN" dirty="0"/>
              <a:t>, dù dashboard có đẹp đến đâu.</a:t>
            </a:r>
          </a:p>
          <a:p>
            <a:r>
              <a:rPr lang="vi-VN" b="1" dirty="0"/>
              <a:t>2. Technical Readiness – Sẵn sàng về hạ tầng</a:t>
            </a:r>
          </a:p>
          <a:p>
            <a:r>
              <a:rPr lang="vi-VN" dirty="0"/>
              <a:t>Câu hỏi đặt ra: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hạ tầng hiện tại có: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xử lý được khối lượng dữ liệu lớn?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đáp ứng truy vấn phân tích?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mở rộng được trong tương lai?</a:t>
            </a:r>
          </a:p>
          <a:p>
            <a:r>
              <a:rPr lang="vi-VN" dirty="0"/>
              <a:t>Bao gồm: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hệ thống tích hợp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kho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năng lực hạ tầng (on-prem/cloud).</a:t>
            </a:r>
          </a:p>
          <a:p>
            <a:r>
              <a:rPr lang="en-US" dirty="0"/>
              <a:t>=&gt; </a:t>
            </a:r>
            <a:r>
              <a:rPr lang="vi-VN" dirty="0"/>
              <a:t>Hạ tầng yếu → BI chậm → người dùng bỏ.</a:t>
            </a:r>
          </a:p>
          <a:p>
            <a:r>
              <a:rPr lang="vi-VN" b="1" dirty="0"/>
              <a:t>3. Skill Readiness – Sẵn sàng về kỹ năng</a:t>
            </a:r>
          </a:p>
          <a:p>
            <a:r>
              <a:rPr lang="vi-VN" dirty="0"/>
              <a:t>Đánh giá xem tổ chức có: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kỹ năng ETL,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data modeling,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BI/dashboard design,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tích dữ liệu.</a:t>
            </a:r>
          </a:p>
          <a:p>
            <a:r>
              <a:rPr lang="vi-VN" dirty="0"/>
              <a:t>Nếu thiếu: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kế hoạch đào tạo?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thuê ngoài?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hay bổ sung nhân sự?</a:t>
            </a:r>
          </a:p>
          <a:p>
            <a:r>
              <a:rPr lang="en-US" dirty="0"/>
              <a:t>=&gt; </a:t>
            </a:r>
            <a:r>
              <a:rPr lang="vi-VN" dirty="0"/>
              <a:t>BI thất bại rất thường xuyên vì </a:t>
            </a:r>
            <a:r>
              <a:rPr lang="vi-VN" b="1" dirty="0"/>
              <a:t>thiếu kỹ năng phù hợp</a:t>
            </a:r>
            <a:r>
              <a:rPr lang="vi-VN" dirty="0"/>
              <a:t>, không phải thiếu công cụ.</a:t>
            </a:r>
          </a:p>
          <a:p>
            <a:r>
              <a:rPr lang="vi-VN" b="1" dirty="0"/>
              <a:t>4. Cultural Readiness – Sẵn sàng về văn hóa</a:t>
            </a:r>
          </a:p>
          <a:p>
            <a:r>
              <a:rPr lang="vi-VN" dirty="0"/>
              <a:t>Đây là yếu tố </a:t>
            </a:r>
            <a:r>
              <a:rPr lang="vi-VN" b="1" dirty="0"/>
              <a:t>khó nhưng quan trọng nhất</a:t>
            </a:r>
            <a:r>
              <a:rPr lang="vi-VN" dirty="0"/>
              <a:t>.</a:t>
            </a:r>
          </a:p>
          <a:p>
            <a:r>
              <a:rPr lang="vi-VN" dirty="0"/>
              <a:t>Câu hỏi then chốt: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tổ chức có sẵn sàng chuyển từ: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“gut feeling”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sang </a:t>
            </a:r>
            <a:r>
              <a:rPr lang="vi-VN" b="1" dirty="0"/>
              <a:t>data-driven decision making</a:t>
            </a:r>
            <a:r>
              <a:rPr lang="vi-VN" dirty="0"/>
              <a:t>?</a:t>
            </a:r>
          </a:p>
          <a:p>
            <a:r>
              <a:rPr lang="vi-VN" dirty="0"/>
              <a:t>Dấu hiệu chưa sẵn sàng: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bị tranh cãi,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bị nghi ngờ,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quyết định vẫn dựa vào cấp bậc hơn là số liệu.</a:t>
            </a:r>
          </a:p>
          <a:p>
            <a:r>
              <a:rPr lang="en-US" dirty="0"/>
              <a:t>=&gt; </a:t>
            </a:r>
            <a:r>
              <a:rPr lang="vi-VN" dirty="0"/>
              <a:t>Không có văn hóa phù hợp → BI không được dùng.</a:t>
            </a:r>
          </a:p>
          <a:p>
            <a:r>
              <a:rPr lang="vi-VN" b="1" dirty="0"/>
              <a:t>5. Financial Readiness – Sẵn sàng về tài chính</a:t>
            </a:r>
          </a:p>
          <a:p>
            <a:r>
              <a:rPr lang="vi-VN" dirty="0"/>
              <a:t>BI </a:t>
            </a:r>
            <a:r>
              <a:rPr lang="vi-VN" b="1" dirty="0"/>
              <a:t>không phải dự án một lần</a:t>
            </a:r>
            <a:r>
              <a:rPr lang="vi-VN" dirty="0"/>
              <a:t>.</a:t>
            </a:r>
          </a:p>
          <a:p>
            <a:r>
              <a:rPr lang="vi-VN" dirty="0"/>
              <a:t>Cần đánh giá: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cam kết ngân sách dài hạn không?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kế hoạch duy trì, mở rộng sau giai đoạn đầu không?</a:t>
            </a:r>
          </a:p>
          <a:p>
            <a:r>
              <a:rPr lang="en-US" dirty="0"/>
              <a:t>=&gt; </a:t>
            </a:r>
            <a:r>
              <a:rPr lang="vi-VN" dirty="0"/>
              <a:t>BI thiếu ngân sách dài hạn sẽ: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dừng giữa chừng,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hoặc tồn tại nhưng không phát triển.</a:t>
            </a:r>
          </a:p>
          <a:p>
            <a:r>
              <a:rPr lang="vi-VN" b="1" dirty="0"/>
              <a:t>6. Mục tiêu cuối cùng của Readiness Assessment</a:t>
            </a:r>
          </a:p>
          <a:p>
            <a:r>
              <a:rPr lang="vi-VN" dirty="0"/>
              <a:t>Dòng kết luận cuối slide nhấn mạnh:</a:t>
            </a:r>
          </a:p>
          <a:p>
            <a:r>
              <a:rPr lang="vi-VN" b="1" dirty="0"/>
              <a:t>Identify and mitigate organizational gaps before they derail the BI project.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phát hiện sớm điểm yếu,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xử lý trước khi triển khai,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điều chỉnh phạm vi và lộ trình cho phù hợp.</a:t>
            </a:r>
          </a:p>
          <a:p>
            <a:r>
              <a:rPr lang="en-US" dirty="0"/>
              <a:t>=&gt; </a:t>
            </a:r>
            <a:r>
              <a:rPr lang="vi-VN" dirty="0"/>
              <a:t>Readiness assessment </a:t>
            </a:r>
            <a:r>
              <a:rPr lang="vi-VN" b="1" dirty="0"/>
              <a:t>không nhằm “chê” tổ chức</a:t>
            </a:r>
            <a:r>
              <a:rPr lang="vi-VN" dirty="0"/>
              <a:t>, mà để </a:t>
            </a:r>
            <a:r>
              <a:rPr lang="vi-VN" b="1" dirty="0"/>
              <a:t>bảo vệ dự án BI</a:t>
            </a:r>
            <a:r>
              <a:rPr lang="vi-VN" dirty="0"/>
              <a:t>.</a:t>
            </a:r>
          </a:p>
          <a:p>
            <a:r>
              <a:rPr lang="vi-VN" b="1" dirty="0"/>
              <a:t>7. Liên hệ với BI Justification Lifecycle</a:t>
            </a:r>
          </a:p>
          <a:p>
            <a:r>
              <a:rPr lang="vi-VN" dirty="0"/>
              <a:t>Slide này tương ứng trực tiếp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Step 03 – Assess Readiness</a:t>
            </a:r>
            <a:r>
              <a:rPr lang="vi-VN" dirty="0"/>
              <a:t> trong vòng đời BI justification.</a:t>
            </a:r>
          </a:p>
          <a:p>
            <a:r>
              <a:rPr lang="en-US" dirty="0"/>
              <a:t>=&gt; </a:t>
            </a:r>
            <a:r>
              <a:rPr lang="vi-VN" dirty="0"/>
              <a:t>Bỏ qua bước này = </a:t>
            </a:r>
            <a:r>
              <a:rPr lang="vi-VN" b="1" dirty="0"/>
              <a:t>đánh cược sự thành bại của BI</a:t>
            </a:r>
            <a:r>
              <a:rPr lang="vi-VN" dirty="0"/>
              <a:t>.</a:t>
            </a:r>
          </a:p>
          <a:p>
            <a:r>
              <a:rPr lang="vi-VN" b="1" dirty="0"/>
              <a:t>8.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thất bại thường do tổ chức chưa sẵn sàng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Readiness ≠ công nghệ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Con người, dữ liệu và văn hóa quan trọng không kém hạ tầng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Đánh giá sẵn sàng giúp BI đi </a:t>
            </a:r>
            <a:r>
              <a:rPr lang="vi-VN" b="1" dirty="0"/>
              <a:t>chậm hơn lúc đầu, nhưng nhanh hơn về lâu dài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Data Quality: The Foundation of Trust (The 5C’s)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dirty="0"/>
              <a:t>Slide này truyền tải một chân lý rất quan trọng trong BI:</a:t>
            </a:r>
          </a:p>
          <a:p>
            <a:r>
              <a:rPr lang="vi-VN" b="1" dirty="0"/>
              <a:t>Nếu người dùng không tin dữ liệu, họ sẽ không dùng hệ thống – dù công nghệ có hiện đại đến đâu.</a:t>
            </a:r>
            <a:endParaRPr lang="vi-VN" dirty="0"/>
          </a:p>
          <a:p>
            <a:r>
              <a:rPr lang="vi-VN" dirty="0"/>
              <a:t>Vì vậy, </a:t>
            </a:r>
            <a:r>
              <a:rPr lang="vi-VN" b="1" dirty="0"/>
              <a:t>data quality không phải chi tiết kỹ thuật</a:t>
            </a:r>
            <a:r>
              <a:rPr lang="vi-VN" dirty="0"/>
              <a:t>, mà là </a:t>
            </a:r>
            <a:r>
              <a:rPr lang="vi-VN" b="1" dirty="0"/>
              <a:t>điều kiện tiên quyết để BI được chấp nhận và tạo giá trị</a:t>
            </a:r>
            <a:r>
              <a:rPr lang="vi-VN" dirty="0"/>
              <a:t>.</a:t>
            </a:r>
          </a:p>
          <a:p>
            <a:r>
              <a:rPr lang="vi-VN" b="1" dirty="0"/>
              <a:t>1. Clean – Dữ liệu sạch</a:t>
            </a:r>
          </a:p>
          <a:p>
            <a:r>
              <a:rPr lang="vi-VN" b="1" dirty="0"/>
              <a:t>Ý nghĩa: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chính xác, không lỗi,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Đã được kiểm tra và xác thực theo quy tắc nghiệp vụ.</a:t>
            </a:r>
          </a:p>
          <a:p>
            <a:r>
              <a:rPr lang="vi-VN" b="1" dirty="0"/>
              <a:t>Ví dụ: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Doanh thu không âm,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Ngày giao dịch không nằm trong tương lai,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có bản ghi trùng lặp khách hàng.</a:t>
            </a:r>
          </a:p>
          <a:p>
            <a:r>
              <a:rPr lang="en-US" dirty="0"/>
              <a:t>=&gt; </a:t>
            </a:r>
            <a:r>
              <a:rPr lang="vi-VN" dirty="0"/>
              <a:t>Dữ liệu không sạch → dashboard đẹp nhưng </a:t>
            </a:r>
            <a:r>
              <a:rPr lang="vi-VN" b="1" dirty="0"/>
              <a:t>sai</a:t>
            </a:r>
            <a:r>
              <a:rPr lang="vi-VN" dirty="0"/>
              <a:t> → mất niềm tin ngay lập tức.</a:t>
            </a:r>
          </a:p>
          <a:p>
            <a:r>
              <a:rPr lang="vi-VN" b="1" dirty="0"/>
              <a:t>2. Consistent – Dữ liệu nhất quán</a:t>
            </a:r>
          </a:p>
          <a:p>
            <a:r>
              <a:rPr lang="vi-VN" b="1" dirty="0"/>
              <a:t>Ý nghĩa: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Cùng một chỉ tiêu có </a:t>
            </a:r>
            <a:r>
              <a:rPr lang="vi-VN" b="1" dirty="0"/>
              <a:t>cùng giá trị</a:t>
            </a:r>
            <a:r>
              <a:rPr lang="vi-VN" dirty="0"/>
              <a:t> ở mọi báo cáo, hệ thống, phòng ban.</a:t>
            </a:r>
          </a:p>
          <a:p>
            <a:r>
              <a:rPr lang="vi-VN" b="1" dirty="0"/>
              <a:t>Ví dụ: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“Doanh thu tháng” trong báo cáo sales = trong báo cáo finance,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Một khách hàng không có 2 mã khác nhau ở 2 hệ thống.</a:t>
            </a:r>
          </a:p>
          <a:p>
            <a:r>
              <a:rPr lang="en-US" dirty="0"/>
              <a:t>=&gt; </a:t>
            </a:r>
            <a:r>
              <a:rPr lang="vi-VN" dirty="0"/>
              <a:t>Không nhất quán → họp chỉ để </a:t>
            </a:r>
            <a:r>
              <a:rPr lang="vi-VN" b="1" dirty="0"/>
              <a:t>tranh luận số liệu</a:t>
            </a:r>
            <a:r>
              <a:rPr lang="vi-VN" dirty="0"/>
              <a:t>, không ra quyết định.</a:t>
            </a:r>
          </a:p>
          <a:p>
            <a:r>
              <a:rPr lang="vi-VN" b="1" dirty="0"/>
              <a:t>3. Conformed – Dữ liệu được chuẩn hóa dùng chung</a:t>
            </a:r>
          </a:p>
          <a:p>
            <a:r>
              <a:rPr lang="vi-VN" b="1" dirty="0"/>
              <a:t>Ý nghĩa: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Các dimension dùng chung (Customer, Product, Time…) có: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cùng định nghĩa,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cùng mã,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dùng xuyên suốt toàn doanh nghiệp.</a:t>
            </a:r>
          </a:p>
          <a:p>
            <a:r>
              <a:rPr lang="vi-VN" b="1" dirty="0"/>
              <a:t>Ví dụ: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“Khách hàng VIP” có cùng tiêu chí cho sales, marketing, chăm sóc khách hàng.</a:t>
            </a:r>
          </a:p>
          <a:p>
            <a:r>
              <a:rPr lang="en-US" dirty="0"/>
              <a:t>=&gt; </a:t>
            </a:r>
            <a:r>
              <a:rPr lang="vi-VN" dirty="0"/>
              <a:t>Không conformed → không phân tích chéo → BI mất giá trị chiến lược.</a:t>
            </a:r>
          </a:p>
          <a:p>
            <a:r>
              <a:rPr lang="vi-VN" b="1" dirty="0"/>
              <a:t>4. Current – Dữ liệu kịp thời</a:t>
            </a:r>
          </a:p>
          <a:p>
            <a:r>
              <a:rPr lang="vi-VN" b="1" dirty="0"/>
              <a:t>Ý nghĩa: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được cập nhật trong </a:t>
            </a:r>
            <a:r>
              <a:rPr lang="vi-VN" b="1" dirty="0"/>
              <a:t>khung thời gian phù hợp với nghiệp vụ</a:t>
            </a:r>
            <a:r>
              <a:rPr lang="vi-VN" dirty="0"/>
              <a:t>.</a:t>
            </a:r>
          </a:p>
          <a:p>
            <a:r>
              <a:rPr lang="vi-VN" b="1" dirty="0"/>
              <a:t>Ví dụ: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Báo cáo tồn kho cần cập nhật theo giờ,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Báo cáo tài chính có thể theo ngày hoặc tháng.</a:t>
            </a:r>
          </a:p>
          <a:p>
            <a:r>
              <a:rPr lang="en-US" dirty="0"/>
              <a:t>=&gt; </a:t>
            </a:r>
            <a:r>
              <a:rPr lang="vi-VN" dirty="0"/>
              <a:t>Dữ liệu đúng nhưng </a:t>
            </a:r>
            <a:r>
              <a:rPr lang="vi-VN" b="1" dirty="0"/>
              <a:t>trễ</a:t>
            </a:r>
            <a:r>
              <a:rPr lang="vi-VN" dirty="0"/>
              <a:t> = quyết định sai thời điểm.</a:t>
            </a:r>
          </a:p>
          <a:p>
            <a:r>
              <a:rPr lang="vi-VN" b="1" dirty="0"/>
              <a:t>5. Comprehensive – Dữ liệu đầy đủ</a:t>
            </a:r>
          </a:p>
          <a:p>
            <a:r>
              <a:rPr lang="vi-VN" b="1" dirty="0"/>
              <a:t>Ý nghĩa: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Tất cả dữ liệu cần thiết cho quyết định đều có mặt,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thiếu biến quan trọng.</a:t>
            </a:r>
          </a:p>
          <a:p>
            <a:r>
              <a:rPr lang="vi-VN" b="1" dirty="0"/>
              <a:t>Ví dụ: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tích lợi nhuận phải có cả doanh thu </a:t>
            </a:r>
            <a:r>
              <a:rPr lang="vi-VN" b="1" dirty="0"/>
              <a:t>và</a:t>
            </a:r>
            <a:r>
              <a:rPr lang="vi-VN" dirty="0"/>
              <a:t> chi phí,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tích khách hàng phải có lịch sử giao dịch, không chỉ thông tin hồ sơ.</a:t>
            </a:r>
          </a:p>
          <a:p>
            <a:r>
              <a:rPr lang="en-US" dirty="0"/>
              <a:t>=&gt; </a:t>
            </a:r>
            <a:r>
              <a:rPr lang="vi-VN" dirty="0"/>
              <a:t>Thiếu dữ liệu → phân tích lệch → quyết định rủi ro.</a:t>
            </a:r>
          </a:p>
          <a:p>
            <a:r>
              <a:rPr lang="vi-VN" b="1" dirty="0"/>
              <a:t>6. Vì sao phải có đủ cả 5C cùng lúc?</a:t>
            </a:r>
          </a:p>
          <a:p>
            <a:r>
              <a:rPr lang="vi-VN" dirty="0"/>
              <a:t>Slide ngầm nhấn mạnh: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Thiếu </a:t>
            </a:r>
            <a:r>
              <a:rPr lang="vi-VN" b="1" dirty="0"/>
              <a:t>1 trong 5</a:t>
            </a:r>
            <a:r>
              <a:rPr lang="vi-VN" dirty="0"/>
              <a:t> → BI gặp vấn đề.</a:t>
            </a:r>
          </a:p>
          <a:p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Clean nhưng không Consistent → vẫn tranh cãi,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Consistent nhưng không Current → phản ứng chậm,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Current nhưng không Conformed → không dùng được cho toàn doanh nghiệp.</a:t>
            </a:r>
          </a:p>
          <a:p>
            <a:r>
              <a:rPr lang="en-US" dirty="0"/>
              <a:t>=&gt; </a:t>
            </a:r>
            <a:r>
              <a:rPr lang="en-US" b="1" dirty="0"/>
              <a:t>5</a:t>
            </a:r>
            <a:r>
              <a:rPr lang="vi-VN" b="1" dirty="0"/>
              <a:t>C là điều kiện đồng thời, không phải lựa chọn.</a:t>
            </a:r>
            <a:endParaRPr lang="vi-VN" dirty="0"/>
          </a:p>
          <a:p>
            <a:r>
              <a:rPr lang="vi-VN" b="1" dirty="0"/>
              <a:t>7. Dòng kết luận cuối slide – Thông điệp mạnh nhất</a:t>
            </a:r>
          </a:p>
          <a:p>
            <a:r>
              <a:rPr lang="vi-VN" b="1" dirty="0"/>
              <a:t>Data readiness is the #1 technical factor in BI success.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Trước dashboard,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Trước tool,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Trước AI hay advanced analytics,</a:t>
            </a:r>
          </a:p>
          <a:p>
            <a:r>
              <a:rPr lang="en-US" dirty="0"/>
              <a:t>=&gt; </a:t>
            </a:r>
            <a:r>
              <a:rPr lang="vi-VN" b="1" dirty="0"/>
              <a:t>Dữ liệu phải đáng tin trước đã.</a:t>
            </a:r>
            <a:endParaRPr lang="vi-VN" dirty="0"/>
          </a:p>
          <a:p>
            <a:r>
              <a:rPr lang="vi-VN" b="1" dirty="0"/>
              <a:t>8. Liên hệ với các nội dung trước</a:t>
            </a:r>
          </a:p>
          <a:p>
            <a:r>
              <a:rPr lang="vi-VN" dirty="0"/>
              <a:t>Slide này liên kết trực tiếp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Readiness Assessment (Data Readiness),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Data Governance,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Adoption &amp; Trust,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Vì sao nhiều dự án BI “đúng kỹ thuật nhưng thất bại”.</a:t>
            </a:r>
          </a:p>
          <a:p>
            <a:r>
              <a:rPr lang="vi-VN" b="1" dirty="0"/>
              <a:t>9.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là bài toán </a:t>
            </a:r>
            <a:r>
              <a:rPr lang="vi-VN" b="1" dirty="0"/>
              <a:t>niềm tin</a:t>
            </a:r>
            <a:r>
              <a:rPr lang="vi-VN" dirty="0"/>
              <a:t>, không chỉ là bài toán công nghệ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Data quality quyết định user adoption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có 5C → không có BI thành công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“Fix data first, then build dashboards”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Human Element of BI Success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dirty="0"/>
              <a:t>Slide này muốn truyền tải một thông điệp rất rõ ràng:</a:t>
            </a:r>
          </a:p>
          <a:p>
            <a:r>
              <a:rPr lang="vi-VN" b="1" dirty="0"/>
              <a:t>BI thất bại không phải vì thiếu công nghệ, mà vì con người chưa sẵn sàng để sử dụng và khai thác công nghệ đó.</a:t>
            </a:r>
            <a:endParaRPr lang="vi-VN" dirty="0"/>
          </a:p>
          <a:p>
            <a:r>
              <a:rPr lang="vi-VN" dirty="0"/>
              <a:t>Ngay cả hệ thống BI hiện đại nhất cũng trở nên vô nghĩa nếu: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ai hiểu,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ai tin,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hoặc không ai muốn dùng.</a:t>
            </a:r>
          </a:p>
          <a:p>
            <a:r>
              <a:rPr lang="vi-VN" b="1" dirty="0"/>
              <a:t>1. Expertise – Năng lực chuyên môn</a:t>
            </a:r>
          </a:p>
          <a:p>
            <a:r>
              <a:rPr lang="vi-VN" dirty="0"/>
              <a:t>Slide đặt ra hai câu hỏi quan trọng: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Tổ chức có đủ </a:t>
            </a:r>
            <a:r>
              <a:rPr lang="vi-VN" b="1" dirty="0"/>
              <a:t>kỹ năng kỹ thuật</a:t>
            </a:r>
            <a:r>
              <a:rPr lang="vi-VN" dirty="0"/>
              <a:t> để: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xây dựng,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vận hành,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và duy trì hệ thống BI không?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business có đủ </a:t>
            </a:r>
            <a:r>
              <a:rPr lang="vi-VN" b="1" dirty="0"/>
              <a:t>hiểu biết nghiệp vụ</a:t>
            </a:r>
            <a:r>
              <a:rPr lang="vi-VN" dirty="0"/>
              <a:t> để: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xác định yêu cầu đúng,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diễn giải số liệu một cách có ý nghĩa?</a:t>
            </a:r>
          </a:p>
          <a:p>
            <a:r>
              <a:rPr lang="en-US" dirty="0"/>
              <a:t>=&gt; </a:t>
            </a:r>
            <a:r>
              <a:rPr lang="vi-VN" dirty="0"/>
              <a:t>BI cần </a:t>
            </a:r>
            <a:r>
              <a:rPr lang="vi-VN" b="1" dirty="0"/>
              <a:t>cả IT expertise và business expertise</a:t>
            </a:r>
            <a:r>
              <a:rPr lang="vi-VN" dirty="0"/>
              <a:t>.</a:t>
            </a:r>
            <a:br>
              <a:rPr lang="vi-VN" dirty="0"/>
            </a:br>
            <a:r>
              <a:rPr lang="vi-VN" dirty="0"/>
              <a:t>Thiếu một trong hai → hệ thống hoặc sai về kỹ thuật, hoặc vô nghĩa về nghiệp vụ.</a:t>
            </a:r>
          </a:p>
          <a:p>
            <a:r>
              <a:rPr lang="vi-VN" b="1" dirty="0"/>
              <a:t>2. Analytical Skills – Kỹ năng phân tích</a:t>
            </a:r>
          </a:p>
          <a:p>
            <a:r>
              <a:rPr lang="vi-VN" dirty="0"/>
              <a:t>Đây là điểm mà nhiều tổ chức đánh giá thấp.</a:t>
            </a:r>
          </a:p>
          <a:p>
            <a:r>
              <a:rPr lang="vi-VN" dirty="0"/>
              <a:t>Slide nhấn mạnh: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đào tạo BI </a:t>
            </a:r>
            <a:r>
              <a:rPr lang="vi-VN" b="1" dirty="0"/>
              <a:t>không chỉ là dạy dùng công cụ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mà là dạy: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đặt câu hỏi đúng,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đọc biểu đồ đúng,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hiểu nguyên nhân – hệ quả từ dữ liệu.</a:t>
            </a:r>
          </a:p>
          <a:p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chỉ biết “doanh thu giảm”,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mà phải biết </a:t>
            </a:r>
            <a:r>
              <a:rPr lang="vi-VN" b="1" dirty="0"/>
              <a:t>vì sao giảm, giảm ở đâu, và cần hành động gì</a:t>
            </a:r>
            <a:r>
              <a:rPr lang="vi-VN" dirty="0"/>
              <a:t>.</a:t>
            </a:r>
          </a:p>
          <a:p>
            <a:r>
              <a:rPr lang="en-US" dirty="0"/>
              <a:t>=&gt; </a:t>
            </a:r>
            <a:r>
              <a:rPr lang="vi-VN" dirty="0"/>
              <a:t>Không có analytical thinking → BI chỉ dừng ở mức “xem báo cáo”.</a:t>
            </a:r>
          </a:p>
          <a:p>
            <a:r>
              <a:rPr lang="vi-VN" b="1" dirty="0"/>
              <a:t>3. Cultural Shift – Chuyển đổi văn hóa</a:t>
            </a:r>
          </a:p>
          <a:p>
            <a:r>
              <a:rPr lang="vi-VN" dirty="0"/>
              <a:t>Đây là yếu tố </a:t>
            </a:r>
            <a:r>
              <a:rPr lang="vi-VN" b="1" dirty="0"/>
              <a:t>khó nhất nhưng quan trọng nhất</a:t>
            </a:r>
            <a:r>
              <a:rPr lang="vi-VN" dirty="0"/>
              <a:t>.</a:t>
            </a:r>
          </a:p>
          <a:p>
            <a:r>
              <a:rPr lang="vi-VN" dirty="0"/>
              <a:t>Slide đặt câu hỏi: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tổ chức đã sẵn sàng chuyển từ: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quyết định theo “kinh nghiệm cá nhân”</a:t>
            </a:r>
            <a:r>
              <a:rPr lang="en-US" dirty="0"/>
              <a:t> =&gt; </a:t>
            </a:r>
            <a:r>
              <a:rPr lang="vi-VN" dirty="0"/>
              <a:t>sang </a:t>
            </a:r>
            <a:r>
              <a:rPr lang="vi-VN" b="1" dirty="0"/>
              <a:t>evidence-based management</a:t>
            </a:r>
            <a:r>
              <a:rPr lang="vi-VN" dirty="0"/>
              <a:t> chưa?</a:t>
            </a:r>
          </a:p>
          <a:p>
            <a:r>
              <a:rPr lang="vi-VN" dirty="0"/>
              <a:t>Văn hóa BI thành công đòi hỏi: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minh bạch,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trách nhiệm giải trình (accountability),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sẵn sàng đối diện với dữ liệu “không đẹp”.</a:t>
            </a:r>
          </a:p>
          <a:p>
            <a:r>
              <a:rPr lang="en-US" dirty="0"/>
              <a:t>=&gt; </a:t>
            </a:r>
            <a:r>
              <a:rPr lang="vi-VN" dirty="0"/>
              <a:t>Nếu dữ liệu chỉ được dùng khi nó “ủng hộ ý kiến sếp” → BI thất bại.</a:t>
            </a:r>
          </a:p>
          <a:p>
            <a:r>
              <a:rPr lang="vi-VN" b="1" dirty="0"/>
              <a:t>4. Dòng kết luận cuối slide – Sự thật phũ phàng</a:t>
            </a:r>
          </a:p>
          <a:p>
            <a:r>
              <a:rPr lang="vi-VN" b="1" dirty="0"/>
              <a:t>Even the most advanced BI technology will fail if the people using it lack the skills, expertise, or cultural willingness to embrace it.</a:t>
            </a:r>
            <a:endParaRPr lang="vi-VN" dirty="0"/>
          </a:p>
          <a:p>
            <a:r>
              <a:rPr lang="vi-VN" dirty="0"/>
              <a:t>Điều này có 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là bài toán </a:t>
            </a:r>
            <a:r>
              <a:rPr lang="vi-VN" b="1" dirty="0"/>
              <a:t>thay đổi con người và tổ chức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công nghệ chỉ là công cụ hỗ trợ.</a:t>
            </a:r>
          </a:p>
          <a:p>
            <a:r>
              <a:rPr lang="vi-VN" b="1" dirty="0"/>
              <a:t>5. Liên hệ với các nội dung trước</a:t>
            </a:r>
          </a:p>
          <a:p>
            <a:r>
              <a:rPr lang="vi-VN" dirty="0"/>
              <a:t>Slide này kết nối trực tiếp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Readiness Assessment (Skill &amp; Cultural Readiness),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Overcoming Business Resistance,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Stakeholder Engagement,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Data Governance &amp; Trust.</a:t>
            </a:r>
          </a:p>
          <a:p>
            <a:r>
              <a:rPr lang="en-US" dirty="0"/>
              <a:t>=&gt; </a:t>
            </a:r>
            <a:r>
              <a:rPr lang="vi-VN" dirty="0"/>
              <a:t>BI thành công khi </a:t>
            </a:r>
            <a:r>
              <a:rPr lang="vi-VN" b="1" dirty="0"/>
              <a:t>con người tin – hiểu – và sử dụng dữ liệu để hành động</a:t>
            </a:r>
            <a:r>
              <a:rPr lang="vi-VN" dirty="0"/>
              <a:t>.</a:t>
            </a:r>
          </a:p>
          <a:p>
            <a:r>
              <a:rPr lang="vi-VN" b="1" dirty="0"/>
              <a:t>6.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là dự án </a:t>
            </a:r>
            <a:r>
              <a:rPr lang="vi-VN" b="1" dirty="0"/>
              <a:t>xã hội – tổ chức</a:t>
            </a:r>
            <a:r>
              <a:rPr lang="vi-VN" dirty="0"/>
              <a:t>, không chỉ là dự án 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Đào tạo quan trọng không kém tool selection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Văn hóa quyết định adoption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“People first, technology second”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BI Roadmap: A Multi-Year Journey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dirty="0"/>
              <a:t>Slide này nhấn mạnh một quan điểm chiến lược:</a:t>
            </a:r>
          </a:p>
          <a:p>
            <a:r>
              <a:rPr lang="vi-VN" b="1" dirty="0"/>
              <a:t>BI không phải là một dự án “làm xong là xong”, mà là một hành trình nhiều năm với giá trị tăng dần theo thời gian.</a:t>
            </a:r>
            <a:endParaRPr lang="vi-VN" dirty="0"/>
          </a:p>
          <a:p>
            <a:r>
              <a:rPr lang="vi-VN" dirty="0"/>
              <a:t>Tư duy roadmap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quản lý kỳ vọng,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bổ nguồn lực hợp lý,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đảm bảo BI phát triển bền vững.</a:t>
            </a:r>
          </a:p>
          <a:p>
            <a:r>
              <a:rPr lang="vi-VN" b="1" dirty="0"/>
              <a:t>Tổng quan lộ trình 3 giai đoạn</a:t>
            </a:r>
          </a:p>
          <a:p>
            <a:r>
              <a:rPr lang="vi-VN" dirty="0"/>
              <a:t>Slide chia BI roadmap thành </a:t>
            </a:r>
            <a:r>
              <a:rPr lang="vi-VN" b="1" dirty="0"/>
              <a:t>3 chặng chính</a:t>
            </a:r>
            <a:r>
              <a:rPr lang="vi-VN" dirty="0"/>
              <a:t>, mỗi chặng có mục tiêu khác nhau: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Year 1 – Foundation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Year 2 – Expansion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Year 3+ – Optimization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Mỗi giai đoạn </a:t>
            </a:r>
            <a:r>
              <a:rPr lang="vi-VN" b="1" dirty="0"/>
              <a:t>xây trên nền của giai đoạn trước</a:t>
            </a:r>
            <a:r>
              <a:rPr lang="vi-VN" dirty="0"/>
              <a:t>, không thể nhảy cóc.</a:t>
            </a:r>
          </a:p>
          <a:p>
            <a:endParaRPr lang="en-US" b="1" dirty="0"/>
          </a:p>
          <a:p>
            <a:r>
              <a:rPr lang="vi-VN" b="1" dirty="0"/>
              <a:t>Year 1 – Foundation (Nền tảng)</a:t>
            </a:r>
          </a:p>
          <a:p>
            <a:r>
              <a:rPr lang="vi-VN" b="1" dirty="0"/>
              <a:t>Mục tiêu chính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Xây dựng </a:t>
            </a:r>
            <a:r>
              <a:rPr lang="vi-VN" b="1" dirty="0"/>
              <a:t>niềm tin</a:t>
            </a:r>
            <a:r>
              <a:rPr lang="vi-VN" dirty="0"/>
              <a:t> vào dữ liệu và hệ thống BI.</a:t>
            </a:r>
          </a:p>
          <a:p>
            <a:r>
              <a:rPr lang="vi-VN" b="1" dirty="0"/>
              <a:t>Các hoạt động trọng tâm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Core Data Warehouse</a:t>
            </a:r>
            <a:r>
              <a:rPr lang="vi-VN" dirty="0"/>
              <a:t>: kho dữ liệu trung tâm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Initial Business Unit</a:t>
            </a:r>
            <a:r>
              <a:rPr lang="vi-VN" dirty="0"/>
              <a:t>: triển khai thí điểm cho 1–2 đơn vị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Critical KPIs &amp; Reports</a:t>
            </a:r>
            <a:r>
              <a:rPr lang="vi-VN" dirty="0"/>
              <a:t>: tập trung vào chỉ số cốt lõi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Data Governance Setup</a:t>
            </a:r>
            <a:r>
              <a:rPr lang="vi-VN" dirty="0"/>
              <a:t>: thiết lập chuẩn dữ liệu và quyền sở hữu</a:t>
            </a:r>
          </a:p>
          <a:p>
            <a:r>
              <a:rPr lang="en-US" dirty="0"/>
              <a:t>=&gt; </a:t>
            </a:r>
            <a:r>
              <a:rPr lang="vi-VN" dirty="0"/>
              <a:t>Thành công của Year 1 </a:t>
            </a:r>
            <a:r>
              <a:rPr lang="vi-VN" b="1" dirty="0"/>
              <a:t>không đo bằng số lượng dashboard</a:t>
            </a:r>
            <a:r>
              <a:rPr lang="vi-VN" dirty="0"/>
              <a:t>, mà bằng: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đáng tin,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bắt đầu sử dụng.</a:t>
            </a:r>
          </a:p>
          <a:p>
            <a:endParaRPr lang="en-US" b="1" dirty="0"/>
          </a:p>
          <a:p>
            <a:r>
              <a:rPr lang="vi-VN" b="1" dirty="0"/>
              <a:t>Year 2 – Expansion (Mở rộng)</a:t>
            </a:r>
          </a:p>
          <a:p>
            <a:r>
              <a:rPr lang="vi-VN" b="1" dirty="0"/>
              <a:t>Mục tiêu chính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Mở rộng BI ra </a:t>
            </a:r>
            <a:r>
              <a:rPr lang="vi-VN" b="1" dirty="0"/>
              <a:t>toàn doanh nghiệp</a:t>
            </a:r>
            <a:r>
              <a:rPr lang="vi-VN" dirty="0"/>
              <a:t>.</a:t>
            </a:r>
          </a:p>
          <a:p>
            <a:r>
              <a:rPr lang="vi-VN" b="1" dirty="0"/>
              <a:t>Các hoạt động trọng tâm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Cross-Functional Data</a:t>
            </a:r>
            <a:r>
              <a:rPr lang="vi-VN" dirty="0"/>
              <a:t>: phân tích chéo phòng ban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Self-Service Analytics</a:t>
            </a:r>
            <a:r>
              <a:rPr lang="vi-VN" dirty="0"/>
              <a:t>: giảm phụ thuộc 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Advanced Visualization</a:t>
            </a:r>
            <a:r>
              <a:rPr lang="vi-VN" dirty="0"/>
              <a:t>: dashboard chuyên sâu hơn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New Data Sources (SaaS)</a:t>
            </a:r>
            <a:r>
              <a:rPr lang="vi-VN" dirty="0"/>
              <a:t>: CRM, marketing, external data</a:t>
            </a:r>
          </a:p>
          <a:p>
            <a:r>
              <a:rPr lang="en-US" dirty="0"/>
              <a:t>=&gt; </a:t>
            </a:r>
            <a:r>
              <a:rPr lang="vi-VN" dirty="0"/>
              <a:t>Đây là giai đoạn </a:t>
            </a:r>
            <a:r>
              <a:rPr lang="vi-VN" b="1" dirty="0"/>
              <a:t>adoption tăng mạnh</a:t>
            </a:r>
            <a:r>
              <a:rPr lang="vi-VN" dirty="0"/>
              <a:t>, nhưng cũng dễ phát sinh: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shadow systems,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không chuẩn nếu governance yếu.</a:t>
            </a:r>
          </a:p>
          <a:p>
            <a:endParaRPr lang="en-US" b="1" dirty="0"/>
          </a:p>
          <a:p>
            <a:r>
              <a:rPr lang="vi-VN" b="1" dirty="0"/>
              <a:t>Year 3+ – Optimization (Tối ưu &amp; nâng cao)</a:t>
            </a:r>
          </a:p>
          <a:p>
            <a:r>
              <a:rPr lang="vi-VN" b="1" dirty="0"/>
              <a:t>Mục tiêu chính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Biến BI thành </a:t>
            </a:r>
            <a:r>
              <a:rPr lang="vi-VN" b="1" dirty="0"/>
              <a:t>lợi thế cạnh tranh chiến lược</a:t>
            </a:r>
            <a:r>
              <a:rPr lang="vi-VN" dirty="0"/>
              <a:t>.</a:t>
            </a:r>
          </a:p>
          <a:p>
            <a:r>
              <a:rPr lang="vi-VN" b="1" dirty="0"/>
              <a:t>Các hoạt động trọng tâm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Predictive Analytics</a:t>
            </a:r>
            <a:r>
              <a:rPr lang="vi-VN" dirty="0"/>
              <a:t>: dự báo, không chỉ báo cáo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Real-Time Data Streams</a:t>
            </a:r>
            <a:r>
              <a:rPr lang="vi-VN" dirty="0"/>
              <a:t>: phản ứng nhanh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Enterprise Governance</a:t>
            </a:r>
            <a:r>
              <a:rPr lang="vi-VN" dirty="0"/>
              <a:t>: chuẩn hóa toàn diện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Continuous Improvement</a:t>
            </a:r>
            <a:r>
              <a:rPr lang="vi-VN" dirty="0"/>
              <a:t>: cải tiến liên tục theo nhu cầu business</a:t>
            </a:r>
          </a:p>
          <a:p>
            <a:r>
              <a:rPr lang="en-US" dirty="0"/>
              <a:t>=&gt; </a:t>
            </a:r>
            <a:r>
              <a:rPr lang="vi-VN" dirty="0"/>
              <a:t>BI lúc này </a:t>
            </a:r>
            <a:r>
              <a:rPr lang="vi-VN" b="1" dirty="0"/>
              <a:t>không chỉ trả lời “đã xảy ra gì”</a:t>
            </a:r>
            <a:r>
              <a:rPr lang="vi-VN" dirty="0"/>
              <a:t>, mà trả lời: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“điều gì sẽ xảy ra”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“chúng ta nên làm gì tiếp theo”.</a:t>
            </a:r>
          </a:p>
          <a:p>
            <a:endParaRPr lang="en-US" b="1" dirty="0"/>
          </a:p>
          <a:p>
            <a:r>
              <a:rPr lang="vi-VN" b="1" dirty="0"/>
              <a:t>Dòng kết luận cuối slide – Strategic Insight</a:t>
            </a:r>
          </a:p>
          <a:p>
            <a:r>
              <a:rPr lang="vi-VN" b="1" dirty="0"/>
              <a:t>A roadmap transforms BI from a “one-off project” into a sustainable strategic program that delivers incremental value and secures long-term commitment.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roadmap giúp: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tránh kỳ vọng phi thực tế,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giữ được tài trợ dài hạn,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và tạo giá trị liên tục cho tổ chức.</a:t>
            </a:r>
          </a:p>
          <a:p>
            <a:endParaRPr lang="en-US" b="1" dirty="0"/>
          </a:p>
          <a:p>
            <a:r>
              <a:rPr lang="vi-VN" b="1" dirty="0"/>
              <a:t>Liên hệ với các nội dung trước</a:t>
            </a:r>
          </a:p>
          <a:p>
            <a:r>
              <a:rPr lang="vi-VN" dirty="0"/>
              <a:t>Slide này kết nối trực tiếp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Justification Lifecycle,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Scope &amp; Budget Definition,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Readiness Assessment,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Change Management &amp; Adoption.</a:t>
            </a:r>
          </a:p>
          <a:p>
            <a:r>
              <a:rPr lang="en-US" dirty="0"/>
              <a:t>=&gt; </a:t>
            </a:r>
            <a:r>
              <a:rPr lang="vi-VN" dirty="0"/>
              <a:t>Roadmap là cầu nối giữa </a:t>
            </a:r>
            <a:r>
              <a:rPr lang="vi-VN" b="1" dirty="0"/>
              <a:t>chiến lược BI</a:t>
            </a:r>
            <a:r>
              <a:rPr lang="vi-VN" dirty="0"/>
              <a:t> và </a:t>
            </a:r>
            <a:r>
              <a:rPr lang="vi-VN" b="1" dirty="0"/>
              <a:t>thực thi thực tế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cần tư duy dài hạn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Làm nhỏ → làm chắc → mở rộng → tối ưu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nên bắt đầu bằng advanced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Giá trị BI tăng theo thời gian, nếu nền tảng vững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Scoping for Success: Manageable and Clear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dirty="0"/>
              <a:t>Slide này truyền tải một nguyên tắc rất thực tế:</a:t>
            </a:r>
          </a:p>
          <a:p>
            <a:r>
              <a:rPr lang="vi-VN" b="1" dirty="0"/>
              <a:t>Dự án BI không thất bại vì làm ít, mà thường thất bại vì cố làm quá nhiều.</a:t>
            </a:r>
            <a:endParaRPr lang="vi-VN" dirty="0"/>
          </a:p>
          <a:p>
            <a:r>
              <a:rPr lang="vi-VN" dirty="0"/>
              <a:t>Xác định scope rõ ràng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kiểm soát kỳ vọng,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quản lý nguồn lực,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đảm bảo dự án </a:t>
            </a:r>
            <a:r>
              <a:rPr lang="vi-VN" b="1" dirty="0"/>
              <a:t>hoàn thành và tạo giá trị thực</a:t>
            </a:r>
            <a:r>
              <a:rPr lang="vi-VN" dirty="0"/>
              <a:t>.</a:t>
            </a:r>
          </a:p>
          <a:p>
            <a:r>
              <a:rPr lang="vi-VN" b="1" dirty="0"/>
              <a:t>1. In-Scope Elements – Những gì NẰM TRONG phạm vi</a:t>
            </a:r>
          </a:p>
          <a:p>
            <a:r>
              <a:rPr lang="vi-VN" dirty="0"/>
              <a:t>Đây là phần </a:t>
            </a:r>
            <a:r>
              <a:rPr lang="vi-VN" b="1" dirty="0"/>
              <a:t>bắt buộc phải xác định rõ ngay từ đầu</a:t>
            </a:r>
            <a:r>
              <a:rPr lang="vi-VN" dirty="0"/>
              <a:t>.</a:t>
            </a:r>
          </a:p>
          <a:p>
            <a:r>
              <a:rPr lang="vi-VN" b="1" dirty="0"/>
              <a:t>a. Specific Processes – Quy trình cụ thể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phục vụ </a:t>
            </a:r>
            <a:r>
              <a:rPr lang="vi-VN" b="1" dirty="0"/>
              <a:t>quy trình nào</a:t>
            </a:r>
            <a:r>
              <a:rPr lang="vi-VN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Ví dụ: Sales, Inventory, Finance.</a:t>
            </a:r>
          </a:p>
          <a:p>
            <a:r>
              <a:rPr lang="en-US" dirty="0"/>
              <a:t>=&gt; </a:t>
            </a:r>
            <a:r>
              <a:rPr lang="vi-VN" dirty="0"/>
              <a:t>Tránh các mô tả mơ hồ như: “phục vụ toàn doanh nghiệp”.</a:t>
            </a:r>
          </a:p>
          <a:p>
            <a:r>
              <a:rPr lang="vi-VN" b="1" dirty="0"/>
              <a:t>b. Target Data Sources – Nguồn dữ liệu mục tiêu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Hệ thống nào sẽ được: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trích xuất,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tích hợp,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phân tích?</a:t>
            </a:r>
          </a:p>
          <a:p>
            <a:r>
              <a:rPr lang="en-US" dirty="0"/>
              <a:t>=&gt; </a:t>
            </a:r>
            <a:r>
              <a:rPr lang="vi-VN" dirty="0"/>
              <a:t>Nếu không chốt nguồn dữ liệu → scope sẽ </a:t>
            </a:r>
            <a:r>
              <a:rPr lang="vi-VN" b="1" dirty="0"/>
              <a:t>trôi liên tục</a:t>
            </a:r>
            <a:r>
              <a:rPr lang="vi-VN" dirty="0"/>
              <a:t>.</a:t>
            </a:r>
          </a:p>
          <a:p>
            <a:r>
              <a:rPr lang="vi-VN" b="1" dirty="0"/>
              <a:t>c. Primary User Groups – Nhóm người dùng chính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Ai sẽ dùng BI?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lãnh đạo?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quản lý trung gian?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analyst?</a:t>
            </a:r>
          </a:p>
          <a:p>
            <a:r>
              <a:rPr lang="en-US" dirty="0"/>
              <a:t>=&gt; </a:t>
            </a:r>
            <a:r>
              <a:rPr lang="vi-VN" dirty="0"/>
              <a:t>Mỗi nhóm có nhu cầu khác nhau → không thể phục vụ tất cả ngay.</a:t>
            </a:r>
          </a:p>
          <a:p>
            <a:r>
              <a:rPr lang="vi-VN" b="1" dirty="0"/>
              <a:t>d. Success Metrics – Chỉ số thành công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nào dùng để đo: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tác động của dự án?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ROI?</a:t>
            </a:r>
          </a:p>
          <a:p>
            <a:r>
              <a:rPr lang="en-US" dirty="0"/>
              <a:t>=&gt; </a:t>
            </a:r>
            <a:r>
              <a:rPr lang="vi-VN" dirty="0"/>
              <a:t>Không đo được → không chứng minh được giá trị.</a:t>
            </a:r>
          </a:p>
          <a:p>
            <a:r>
              <a:rPr lang="vi-VN" b="1" dirty="0"/>
              <a:t>2. Out-of-Scope Elements – Những gì KHÔNG nằm trong phạm vi</a:t>
            </a:r>
          </a:p>
          <a:p>
            <a:r>
              <a:rPr lang="vi-VN" dirty="0"/>
              <a:t>Xác định </a:t>
            </a:r>
            <a:r>
              <a:rPr lang="vi-VN" b="1" dirty="0"/>
              <a:t>out-of-scope</a:t>
            </a:r>
            <a:r>
              <a:rPr lang="vi-VN" dirty="0"/>
              <a:t> quan trọng </a:t>
            </a:r>
            <a:r>
              <a:rPr lang="vi-VN" b="1" dirty="0"/>
              <a:t>không kém in-scope</a:t>
            </a:r>
            <a:r>
              <a:rPr lang="vi-VN" dirty="0"/>
              <a:t>.</a:t>
            </a:r>
          </a:p>
          <a:p>
            <a:r>
              <a:rPr lang="vi-VN" b="1" dirty="0"/>
              <a:t>a. Future Phases – Để dành cho giai đoạn sau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phải từ chối vĩnh viễn,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mà là </a:t>
            </a:r>
            <a:r>
              <a:rPr lang="vi-VN" b="1" dirty="0"/>
              <a:t>chưa làm trong giai đoạn này</a:t>
            </a:r>
            <a:r>
              <a:rPr lang="vi-VN" dirty="0"/>
              <a:t>.</a:t>
            </a:r>
          </a:p>
          <a:p>
            <a:r>
              <a:rPr lang="en-US" dirty="0"/>
              <a:t>=&gt; </a:t>
            </a:r>
            <a:r>
              <a:rPr lang="vi-VN" dirty="0"/>
              <a:t>Giữ niềm tin, tránh “hứa suông”.</a:t>
            </a:r>
          </a:p>
          <a:p>
            <a:r>
              <a:rPr lang="vi-VN" b="1" dirty="0"/>
              <a:t>b. Unrelated Data – Dữ liệu không liên quan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Những dữ liệu: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hỗ trợ mục tiêu chính,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chỉ “cho có”.</a:t>
            </a:r>
          </a:p>
          <a:p>
            <a:r>
              <a:rPr lang="en-US" dirty="0"/>
              <a:t>=&gt; </a:t>
            </a:r>
            <a:r>
              <a:rPr lang="vi-VN" dirty="0"/>
              <a:t>BI không phải kho dữ liệu “lưu mọi thứ”.</a:t>
            </a:r>
          </a:p>
          <a:p>
            <a:r>
              <a:rPr lang="vi-VN" b="1" dirty="0"/>
              <a:t>c. Non-Essential Features – Tính năng “nice-to-have”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Đẹp,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thú vị,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nhưng không tạo giá trị đo được.</a:t>
            </a:r>
          </a:p>
          <a:p>
            <a:r>
              <a:rPr lang="en-US" dirty="0"/>
              <a:t>=&gt; </a:t>
            </a:r>
            <a:r>
              <a:rPr lang="vi-VN" dirty="0"/>
              <a:t>Đây là nguồn gốc phổ biến của </a:t>
            </a:r>
            <a:r>
              <a:rPr lang="vi-VN" b="1" dirty="0"/>
              <a:t>project bloat</a:t>
            </a:r>
            <a:r>
              <a:rPr lang="vi-VN" dirty="0"/>
              <a:t>.</a:t>
            </a:r>
          </a:p>
          <a:p>
            <a:r>
              <a:rPr lang="vi-VN" b="1" dirty="0"/>
              <a:t>3. Dòng kết luận cuối slide – Nguyên tắc vàng</a:t>
            </a:r>
          </a:p>
          <a:p>
            <a:r>
              <a:rPr lang="vi-VN" b="1" dirty="0"/>
              <a:t>A well-defined scope is the best defense against project bloat and expectation failure.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scope rõ → dự án chạy đúng hướng,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scope mơ hồ → thất bại dù công nghệ tốt.</a:t>
            </a:r>
          </a:p>
          <a:p>
            <a:r>
              <a:rPr lang="vi-VN" b="1" dirty="0"/>
              <a:t>4. Liên hệ với các nội dung trước</a:t>
            </a:r>
          </a:p>
          <a:p>
            <a:r>
              <a:rPr lang="vi-VN" dirty="0"/>
              <a:t>Slide này gắn chặt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Roadmap (chia nhỏ theo giai đoạn),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Case &amp; ROI,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Stakeholder Management,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Avoiding the “Build It and They Will Come” trap.</a:t>
            </a:r>
          </a:p>
          <a:p>
            <a:r>
              <a:rPr lang="en-US" dirty="0"/>
              <a:t>=&gt; </a:t>
            </a:r>
            <a:r>
              <a:rPr lang="vi-VN" dirty="0"/>
              <a:t>Scope là công cụ </a:t>
            </a:r>
            <a:r>
              <a:rPr lang="vi-VN" b="1" dirty="0"/>
              <a:t>quản trị kỳ vọng</a:t>
            </a:r>
            <a:r>
              <a:rPr lang="vi-VN" dirty="0"/>
              <a:t>, không chỉ là tài liệu kỹ thuật.</a:t>
            </a:r>
          </a:p>
          <a:p>
            <a:r>
              <a:rPr lang="vi-VN" b="1" dirty="0"/>
              <a:t>5.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“Không làm” cũng là một quyết định quan trọng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Out-of-scope giúp dự án sống sót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Làm nhỏ nhưng làm xong tốt hơn làm lớn nhưng dang dở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Scope là nền tảng của tiến độ, chi phí và thành công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Financial Case: Budgeting and ROI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dirty="0"/>
              <a:t>Slide này nhấn mạnh một thực tế quan trọng:</a:t>
            </a:r>
          </a:p>
          <a:p>
            <a:r>
              <a:rPr lang="vi-VN" b="1" dirty="0"/>
              <a:t>BI là khoản đầu tư chiến lược, không phải chi phí IT thông thường – nhưng để được phê duyệt, nó phải được trình bày bằng ngôn ngữ tài chính.</a:t>
            </a:r>
            <a:endParaRPr lang="vi-VN" dirty="0"/>
          </a:p>
          <a:p>
            <a:r>
              <a:rPr lang="vi-VN" dirty="0"/>
              <a:t>Nhiệm vụ của financial case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chứng minh BI </a:t>
            </a:r>
            <a:r>
              <a:rPr lang="vi-VN" b="1" dirty="0"/>
              <a:t>đáng đầu tư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quản lý kỳ vọng về chi phí và lợi ích,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bảo vệ BI trước áp lực “cắt giảm ngân sách”.</a:t>
            </a:r>
          </a:p>
          <a:p>
            <a:r>
              <a:rPr lang="vi-VN" b="1" dirty="0"/>
              <a:t>1. Estimating Costs – Ước tính chi phí BI</a:t>
            </a:r>
          </a:p>
          <a:p>
            <a:r>
              <a:rPr lang="vi-VN" b="1" dirty="0"/>
              <a:t>a. Infrastructure – Hạ tầng</a:t>
            </a:r>
          </a:p>
          <a:p>
            <a:r>
              <a:rPr lang="vi-VN" dirty="0"/>
              <a:t>Bao gồm: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bản quyền phần mềm (ETL, BI tools, database),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phần cứng hoặc chi phí cloud,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chi phí mở rộng trong tương lai.</a:t>
            </a:r>
          </a:p>
          <a:p>
            <a:r>
              <a:rPr lang="en-US" dirty="0"/>
              <a:t>=&gt; </a:t>
            </a:r>
            <a:r>
              <a:rPr lang="vi-VN" dirty="0"/>
              <a:t>Sai lầm phổ biến: chỉ tính </a:t>
            </a:r>
            <a:r>
              <a:rPr lang="vi-VN" b="1" dirty="0"/>
              <a:t>chi phí mua tool</a:t>
            </a:r>
            <a:r>
              <a:rPr lang="vi-VN" dirty="0"/>
              <a:t>, bỏ qua chi phí vận hành.</a:t>
            </a:r>
          </a:p>
          <a:p>
            <a:r>
              <a:rPr lang="vi-VN" b="1" dirty="0"/>
              <a:t>b. Personnel – Nhân sự</a:t>
            </a:r>
          </a:p>
          <a:p>
            <a:r>
              <a:rPr lang="vi-VN" dirty="0"/>
              <a:t>Chi phí cho: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thời gian của nhân sự nội bộ (IT + business),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chuyên gia tư vấn bên ngoài,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đào tạo kỹ năng BI, data modeling, analytics.</a:t>
            </a:r>
          </a:p>
          <a:p>
            <a:r>
              <a:rPr lang="en-US" dirty="0"/>
              <a:t>=&gt; </a:t>
            </a:r>
            <a:r>
              <a:rPr lang="vi-VN" dirty="0"/>
              <a:t>Trong BI, </a:t>
            </a:r>
            <a:r>
              <a:rPr lang="vi-VN" b="1" dirty="0"/>
              <a:t>chi phí con người thường lớn hơn chi phí công nghệ</a:t>
            </a:r>
            <a:r>
              <a:rPr lang="vi-VN" dirty="0"/>
              <a:t>.</a:t>
            </a:r>
          </a:p>
          <a:p>
            <a:r>
              <a:rPr lang="vi-VN" b="1" dirty="0"/>
              <a:t>c. Operations – Vận hành dài hạn</a:t>
            </a:r>
          </a:p>
          <a:p>
            <a:r>
              <a:rPr lang="vi-VN" dirty="0"/>
              <a:t>Bao gồm: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bảo trì hệ thống,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data governance,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hỗ trợ người dùng,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nâng cấp định kỳ.</a:t>
            </a:r>
          </a:p>
          <a:p>
            <a:r>
              <a:rPr lang="en-US" dirty="0"/>
              <a:t>=&gt; </a:t>
            </a:r>
            <a:r>
              <a:rPr lang="vi-VN" dirty="0"/>
              <a:t>BI không phải chi phí “một lần”, mà là </a:t>
            </a:r>
            <a:r>
              <a:rPr lang="vi-VN" b="1" dirty="0"/>
              <a:t>cam kết lâu dài</a:t>
            </a:r>
            <a:r>
              <a:rPr lang="vi-VN" dirty="0"/>
              <a:t>.</a:t>
            </a:r>
          </a:p>
          <a:p>
            <a:r>
              <a:rPr lang="vi-VN" b="1" dirty="0"/>
              <a:t>2. The ROI Challenge – Thách thức khi tính ROI</a:t>
            </a:r>
          </a:p>
          <a:p>
            <a:r>
              <a:rPr lang="vi-VN" dirty="0"/>
              <a:t>Slide chỉ ra vì sao </a:t>
            </a:r>
            <a:r>
              <a:rPr lang="vi-VN" b="1" dirty="0"/>
              <a:t>ROI của BI khó tính hơn các dự án IT khác</a:t>
            </a:r>
            <a:r>
              <a:rPr lang="vi-VN" dirty="0"/>
              <a:t>.</a:t>
            </a:r>
          </a:p>
          <a:p>
            <a:r>
              <a:rPr lang="vi-VN" b="1" dirty="0"/>
              <a:t>a. Intangible Value – Giá trị vô hình</a:t>
            </a:r>
          </a:p>
          <a:p>
            <a:r>
              <a:rPr lang="vi-VN" dirty="0"/>
              <a:t>Những lợi ích như: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“ra quyết định tốt hơn”,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“phản ứng nhanh hơn”,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“minh bạch hơn”</a:t>
            </a:r>
          </a:p>
          <a:p>
            <a:r>
              <a:rPr lang="en-US" dirty="0"/>
              <a:t>=&gt; </a:t>
            </a:r>
            <a:r>
              <a:rPr lang="vi-VN" dirty="0"/>
              <a:t>Rất quan trọng, nhưng </a:t>
            </a:r>
            <a:r>
              <a:rPr lang="vi-VN" b="1" dirty="0"/>
              <a:t>khó quy đổi trực tiếp thành tiền</a:t>
            </a:r>
            <a:r>
              <a:rPr lang="vi-VN" dirty="0"/>
              <a:t>.</a:t>
            </a:r>
          </a:p>
          <a:p>
            <a:r>
              <a:rPr lang="vi-VN" b="1" dirty="0"/>
              <a:t>b. Time Lag – Độ trễ giá trị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Lợi ích BI thường: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xuất hiện ngay,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cần thời gian adoption,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phụ thuộc vào thay đổi hành vi.</a:t>
            </a:r>
          </a:p>
          <a:p>
            <a:r>
              <a:rPr lang="en-US" dirty="0"/>
              <a:t>=&gt; </a:t>
            </a:r>
            <a:r>
              <a:rPr lang="vi-VN" dirty="0"/>
              <a:t>Đây là lý do BI </a:t>
            </a:r>
            <a:r>
              <a:rPr lang="vi-VN" b="1" dirty="0"/>
              <a:t>dễ bị đánh giá thất bại quá sớm</a:t>
            </a:r>
            <a:r>
              <a:rPr lang="vi-VN" dirty="0"/>
              <a:t>.</a:t>
            </a:r>
          </a:p>
          <a:p>
            <a:r>
              <a:rPr lang="vi-VN" b="1" dirty="0"/>
              <a:t>c. Indirect Impact – Tác động gián tiếp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thường: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hỗ trợ các sáng kiến khác (sales, cost optimization, compliance),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phải nguyên nhân duy nhất tạo ra kết quả.</a:t>
            </a:r>
          </a:p>
          <a:p>
            <a:r>
              <a:rPr lang="en-US" dirty="0"/>
              <a:t>=&gt; </a:t>
            </a:r>
            <a:r>
              <a:rPr lang="vi-VN" dirty="0"/>
              <a:t>Việc “ghi công” cho BI trở nên phức tạp.</a:t>
            </a:r>
          </a:p>
          <a:p>
            <a:endParaRPr lang="en-US" b="1" dirty="0"/>
          </a:p>
          <a:p>
            <a:r>
              <a:rPr lang="vi-VN" b="1" dirty="0"/>
              <a:t>3. Dòng kết luận cuối slide – Nguyên tắc quan trọng nhất</a:t>
            </a:r>
          </a:p>
          <a:p>
            <a:r>
              <a:rPr lang="vi-VN" b="1" dirty="0"/>
              <a:t>The most effective financial case links BI costs directly to the tangible benefits of the business initiatives it supports.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đừng cố chứng minh BI tự tạo ra ROI,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hãy gắn BI với: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tăng doanh thu,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giảm chi phí,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giảm rủi ro,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tuân thủ pháp lý.</a:t>
            </a:r>
          </a:p>
          <a:p>
            <a:r>
              <a:rPr lang="en-US" dirty="0"/>
              <a:t>=&gt; </a:t>
            </a:r>
            <a:r>
              <a:rPr lang="vi-VN" dirty="0"/>
              <a:t>BI </a:t>
            </a:r>
            <a:r>
              <a:rPr lang="vi-VN" b="1" dirty="0"/>
              <a:t>ăn theo ROI của các sáng kiến business</a:t>
            </a:r>
            <a:r>
              <a:rPr lang="vi-VN" dirty="0"/>
              <a:t>, không đứng một mình.</a:t>
            </a:r>
          </a:p>
          <a:p>
            <a:endParaRPr lang="en-US" b="1" dirty="0"/>
          </a:p>
          <a:p>
            <a:r>
              <a:rPr lang="vi-VN" b="1" dirty="0"/>
              <a:t>4. Ví dụ minh họa (giảng viên có thể nói thêm)</a:t>
            </a:r>
          </a:p>
          <a:p>
            <a:r>
              <a:rPr lang="en-US" dirty="0"/>
              <a:t>** </a:t>
            </a:r>
            <a:r>
              <a:rPr lang="vi-VN" dirty="0"/>
              <a:t>Sai cách:</a:t>
            </a:r>
          </a:p>
          <a:p>
            <a:r>
              <a:rPr lang="vi-VN" dirty="0"/>
              <a:t>“BI giúp ra quyết định tốt hơn nên ROI cao.”</a:t>
            </a:r>
          </a:p>
          <a:p>
            <a:r>
              <a:rPr lang="en-US" dirty="0"/>
              <a:t>** </a:t>
            </a:r>
            <a:r>
              <a:rPr lang="vi-VN" dirty="0"/>
              <a:t>Đúng cách:</a:t>
            </a:r>
          </a:p>
          <a:p>
            <a:r>
              <a:rPr lang="vi-VN" dirty="0"/>
              <a:t>“BI hỗ trợ chương trình tối ưu tồn kho, giúp giảm 5% chi phí lưu kho, tương đương X tỷ đồng/năm.”</a:t>
            </a:r>
          </a:p>
          <a:p>
            <a:endParaRPr lang="en-US" b="1" dirty="0"/>
          </a:p>
          <a:p>
            <a:r>
              <a:rPr lang="vi-VN" b="1" dirty="0"/>
              <a:t>5. Liên hệ với các nội dung trước</a:t>
            </a:r>
          </a:p>
          <a:p>
            <a:r>
              <a:rPr lang="vi-VN" dirty="0"/>
              <a:t>Slide này liên kết chặt chẽ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Case,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Tangible vs Intangible Benefits,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Roadmap,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Scope Definition.</a:t>
            </a:r>
          </a:p>
          <a:p>
            <a:r>
              <a:rPr lang="en-US" dirty="0"/>
              <a:t>=&gt; </a:t>
            </a:r>
            <a:r>
              <a:rPr lang="vi-VN" dirty="0"/>
              <a:t>ROI chỉ có ý nghĩa khi: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scope rõ,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roadmap hợp lý,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lợi ích đo được.</a:t>
            </a:r>
          </a:p>
          <a:p>
            <a:endParaRPr lang="en-US" b="1" dirty="0"/>
          </a:p>
          <a:p>
            <a:r>
              <a:rPr lang="vi-VN" b="1" dirty="0"/>
              <a:t>6.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luôn tốn tiền – câu hỏi là </a:t>
            </a:r>
            <a:r>
              <a:rPr lang="vi-VN" b="1" dirty="0"/>
              <a:t>có đáng không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Chi phí BI không chỉ là tool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ROI của BI phải gắn với business initiatives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Trình bày BI bằng </a:t>
            </a:r>
            <a:r>
              <a:rPr lang="vi-VN" b="1" dirty="0"/>
              <a:t>ngôn ngữ tài chính</a:t>
            </a:r>
            <a:r>
              <a:rPr lang="vi-VN" dirty="0"/>
              <a:t>, không phải ngôn ngữ kỹ thuật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Avoiding the Traps: Why Justifications Fail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dirty="0"/>
              <a:t>Slide này đưa ra một cảnh báo quan trọng:</a:t>
            </a:r>
          </a:p>
          <a:p>
            <a:r>
              <a:rPr lang="vi-VN" b="1" dirty="0"/>
              <a:t>Phần lớn các dự án BI không thất bại vì thiếu công nghệ, mà vì justification sai ngay từ đầu.</a:t>
            </a:r>
            <a:endParaRPr lang="vi-VN" dirty="0"/>
          </a:p>
          <a:p>
            <a:r>
              <a:rPr lang="vi-VN" dirty="0"/>
              <a:t>Justification không chỉ để “xin tiền”, mà để: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định hướng đúng dự 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quản lý kỳ vọng,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duy trì sự đồng thuận trong suốt vòng đời BI.</a:t>
            </a:r>
          </a:p>
          <a:p>
            <a:r>
              <a:rPr lang="vi-VN" b="1" dirty="0"/>
              <a:t>1. Over-Promising – Hứa hẹn quá mức</a:t>
            </a:r>
          </a:p>
          <a:p>
            <a:r>
              <a:rPr lang="vi-VN" b="1" dirty="0"/>
              <a:t>Mô tả vấn đề: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Bán cho lãnh đạo viễn cảnh “information nirvana”: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mọi dữ liệu,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mọi báo cáo,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ngay lập tức.</a:t>
            </a:r>
          </a:p>
          <a:p>
            <a:r>
              <a:rPr lang="vi-VN" b="1" dirty="0"/>
              <a:t>Hệ quả (Result):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Khi thực tế không đạt được như kỳ vọng → </a:t>
            </a:r>
            <a:r>
              <a:rPr lang="vi-VN" b="1" dirty="0"/>
              <a:t>perceived failure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Dù BI vẫn tạo ra giá trị từng phần.</a:t>
            </a:r>
          </a:p>
          <a:p>
            <a:r>
              <a:rPr lang="en-US" dirty="0"/>
              <a:t>=&gt; </a:t>
            </a:r>
            <a:r>
              <a:rPr lang="vi-VN" b="1" dirty="0"/>
              <a:t>Hứa nhiều → thất vọng nhiều</a:t>
            </a:r>
            <a:r>
              <a:rPr lang="vi-VN" dirty="0"/>
              <a:t>.</a:t>
            </a:r>
          </a:p>
          <a:p>
            <a:r>
              <a:rPr lang="vi-VN" b="1" dirty="0"/>
              <a:t>2. IT-Only Focus – Chỉ tập trung vào IT</a:t>
            </a:r>
          </a:p>
          <a:p>
            <a:r>
              <a:rPr lang="vi-VN" b="1" dirty="0"/>
              <a:t>Mô tả vấn đề: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Xem BI như: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dự án công nghệ,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trách nhiệm của IT.</a:t>
            </a:r>
          </a:p>
          <a:p>
            <a:r>
              <a:rPr lang="vi-VN" b="1" dirty="0"/>
              <a:t>Hệ quả (Result):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business không cảm thấy sở hữu,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Adoption thấp,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ai chịu trách nhiệm cho kết quả kinh doanh.</a:t>
            </a:r>
          </a:p>
          <a:p>
            <a:r>
              <a:rPr lang="en-US" dirty="0"/>
              <a:t>=&gt; </a:t>
            </a:r>
            <a:r>
              <a:rPr lang="vi-VN" dirty="0"/>
              <a:t>BI </a:t>
            </a:r>
            <a:r>
              <a:rPr lang="vi-VN" b="1" dirty="0"/>
              <a:t>không phải</a:t>
            </a:r>
            <a:r>
              <a:rPr lang="vi-VN" dirty="0"/>
              <a:t> là dự án IT, mà là dự án </a:t>
            </a:r>
            <a:r>
              <a:rPr lang="vi-VN" b="1" dirty="0"/>
              <a:t>business-led</a:t>
            </a:r>
            <a:r>
              <a:rPr lang="vi-VN" dirty="0"/>
              <a:t>.</a:t>
            </a:r>
          </a:p>
          <a:p>
            <a:r>
              <a:rPr lang="vi-VN" b="1" dirty="0"/>
              <a:t>3. Skipping Readiness – Bỏ qua đánh giá mức độ sẵn sàng</a:t>
            </a:r>
          </a:p>
          <a:p>
            <a:r>
              <a:rPr lang="vi-VN" b="1" dirty="0"/>
              <a:t>Mô tả vấn đề: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đánh giá: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chất lượng dữ liệu,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kỹ năng,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văn hóa tổ chức.</a:t>
            </a:r>
          </a:p>
          <a:p>
            <a:r>
              <a:rPr lang="vi-VN" b="1" dirty="0"/>
              <a:t>Hệ quả (Result):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Gặp “roadblock” kỹ thuật,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Bị phản kháng từ người dùng,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Dự án bị đình trệ hoặc bị bác bỏ.</a:t>
            </a:r>
          </a:p>
          <a:p>
            <a:r>
              <a:rPr lang="en-US" dirty="0"/>
              <a:t>=&gt; </a:t>
            </a:r>
            <a:r>
              <a:rPr lang="vi-VN" dirty="0"/>
              <a:t>Readiness assessment giúp </a:t>
            </a:r>
            <a:r>
              <a:rPr lang="vi-VN" b="1" dirty="0"/>
              <a:t>phát hiện sớm rủi ro</a:t>
            </a:r>
            <a:r>
              <a:rPr lang="vi-VN" dirty="0"/>
              <a:t>, không phải làm chậm dự án.</a:t>
            </a:r>
          </a:p>
          <a:p>
            <a:r>
              <a:rPr lang="vi-VN" b="1" dirty="0"/>
              <a:t>4. Lack of Roadmap – Không có lộ trình dài hạn</a:t>
            </a:r>
          </a:p>
          <a:p>
            <a:r>
              <a:rPr lang="vi-VN" b="1" dirty="0"/>
              <a:t>Mô tả vấn đề: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Xem BI như: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dự án một lần,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có ngày bắt đầu và kết thúc cố định.</a:t>
            </a:r>
          </a:p>
          <a:p>
            <a:r>
              <a:rPr lang="vi-VN" b="1" dirty="0"/>
              <a:t>Hệ quả (Result):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mở rộng được,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thích ứng với thay đổi của business,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nhanh chóng lỗi thời.</a:t>
            </a:r>
          </a:p>
          <a:p>
            <a:r>
              <a:rPr lang="en-US" dirty="0"/>
              <a:t>=&gt; </a:t>
            </a:r>
            <a:r>
              <a:rPr lang="vi-VN" dirty="0"/>
              <a:t>Không có roadmap → BI </a:t>
            </a:r>
            <a:r>
              <a:rPr lang="vi-VN" b="1" dirty="0"/>
              <a:t>dừng phát triển</a:t>
            </a:r>
            <a:r>
              <a:rPr lang="vi-VN" dirty="0"/>
              <a:t>.</a:t>
            </a:r>
          </a:p>
          <a:p>
            <a:r>
              <a:rPr lang="vi-VN" b="1" dirty="0"/>
              <a:t>5. Cái bẫy nguy hiểm nhất – The Ultimate Pitfall</a:t>
            </a:r>
          </a:p>
          <a:p>
            <a:r>
              <a:rPr lang="vi-VN" dirty="0"/>
              <a:t>Dòng kết luận cuối slide nhấn mạnh:</a:t>
            </a:r>
          </a:p>
          <a:p>
            <a:r>
              <a:rPr lang="vi-VN" b="1" dirty="0"/>
              <a:t>Viewing justification as a “one-time hurdle” for funding.</a:t>
            </a:r>
            <a:endParaRPr lang="vi-VN" dirty="0"/>
          </a:p>
          <a:p>
            <a:r>
              <a:rPr lang="vi-VN" dirty="0"/>
              <a:t>Nhiều tổ chức: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viết justification để được duyệt ngân sách,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rồi… </a:t>
            </a:r>
            <a:r>
              <a:rPr lang="vi-VN" b="1" dirty="0"/>
              <a:t>quên luôn nó</a:t>
            </a:r>
            <a:r>
              <a:rPr lang="vi-VN" dirty="0"/>
              <a:t>.</a:t>
            </a:r>
          </a:p>
          <a:p>
            <a:r>
              <a:rPr lang="vi-VN" dirty="0"/>
              <a:t>Trong khi thực tế:</a:t>
            </a:r>
          </a:p>
          <a:p>
            <a:r>
              <a:rPr lang="vi-VN" b="1" dirty="0"/>
              <a:t>Justification is an ongoing process of alignment, expectation management, and value delivery.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Justification phải được: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cập nhật,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điều chỉnh,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sử dụng xuyên suốt vòng đời BI.</a:t>
            </a:r>
          </a:p>
          <a:p>
            <a:r>
              <a:rPr lang="vi-VN" b="1" dirty="0"/>
              <a:t>6. Liên hệ với toàn bộ chương BI Justification</a:t>
            </a:r>
          </a:p>
          <a:p>
            <a:r>
              <a:rPr lang="vi-VN" dirty="0"/>
              <a:t>Slide này tổng hợp và củng cố các nội dung trước: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Case vs Technical Case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Readiness Assessment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Roadmap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Scope &amp; ROI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Change Management</a:t>
            </a:r>
          </a:p>
          <a:p>
            <a:r>
              <a:rPr lang="en-US" dirty="0"/>
              <a:t>=&gt; </a:t>
            </a:r>
            <a:r>
              <a:rPr lang="vi-VN" dirty="0"/>
              <a:t>Tất cả đều nhằm </a:t>
            </a:r>
            <a:r>
              <a:rPr lang="vi-VN" b="1" dirty="0"/>
              <a:t>tránh các “cái bẫy” này</a:t>
            </a:r>
            <a:r>
              <a:rPr lang="vi-VN" dirty="0"/>
              <a:t>.</a:t>
            </a:r>
          </a:p>
          <a:p>
            <a:r>
              <a:rPr lang="vi-VN" b="1" dirty="0"/>
              <a:t>7.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thất bại vì quản trị kỳ vọng kém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Justification không phải tài liệu “làm cho có”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Đừng hứa điều bạn không thể kiểm soát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cần: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business ownership,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lộ trình rõ ràng,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và đánh giá liên tục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Summary: The Path to BI Approval and Success</a:t>
            </a:r>
          </a:p>
          <a:p>
            <a:r>
              <a:rPr lang="vi-VN" b="1" dirty="0"/>
              <a:t>Mục đích của slide</a:t>
            </a:r>
          </a:p>
          <a:p>
            <a:r>
              <a:rPr lang="vi-VN" dirty="0"/>
              <a:t>Slide này </a:t>
            </a:r>
            <a:r>
              <a:rPr lang="vi-VN" b="1" dirty="0"/>
              <a:t>không giới thiệu kiến thức mới</a:t>
            </a:r>
            <a:r>
              <a:rPr lang="vi-VN" dirty="0"/>
              <a:t>, mà: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hệ thống hóa toàn bộ nội dung chương,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giúp người học “nhìn lại bức tranh lớn”,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khắc sâu những nguyên tắc cốt lõi để BI được </a:t>
            </a:r>
            <a:r>
              <a:rPr lang="vi-VN" b="1" dirty="0"/>
              <a:t>phê duyệt và thành công bền vững</a:t>
            </a:r>
            <a:r>
              <a:rPr lang="vi-VN" dirty="0"/>
              <a:t>.</a:t>
            </a:r>
          </a:p>
          <a:p>
            <a:r>
              <a:rPr lang="vi-VN" b="1" dirty="0"/>
              <a:t>1. Justification is Strategic</a:t>
            </a:r>
          </a:p>
          <a:p>
            <a:r>
              <a:rPr lang="vi-VN" i="1" dirty="0"/>
              <a:t>Justification is a vehicle for setting realistic expectations and managing project risk, not just a tool for approval.</a:t>
            </a:r>
            <a:endParaRPr lang="vi-VN" dirty="0"/>
          </a:p>
          <a:p>
            <a:r>
              <a:rPr lang="vi-VN" b="1" dirty="0"/>
              <a:t>Giải thích: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Justification </a:t>
            </a:r>
            <a:r>
              <a:rPr lang="vi-VN" b="1" dirty="0"/>
              <a:t>không phải</a:t>
            </a:r>
            <a:r>
              <a:rPr lang="vi-VN" dirty="0"/>
              <a:t> tài liệu để “xin tiền cho xong”,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mà là công cụ: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định hướng dự án,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quản trị rủi ro,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quản lý kỳ vọng của lãnh đạo và người dùng.</a:t>
            </a:r>
          </a:p>
          <a:p>
            <a:r>
              <a:rPr lang="en-US" dirty="0"/>
              <a:t>=&gt; </a:t>
            </a:r>
            <a:r>
              <a:rPr lang="vi-VN" dirty="0"/>
              <a:t>Nếu justification tốt → dự án BI </a:t>
            </a:r>
            <a:r>
              <a:rPr lang="vi-VN" b="1" dirty="0"/>
              <a:t>đã thắng một nửa</a:t>
            </a:r>
            <a:r>
              <a:rPr lang="vi-VN" dirty="0"/>
              <a:t>.</a:t>
            </a:r>
          </a:p>
          <a:p>
            <a:r>
              <a:rPr lang="vi-VN" b="1" dirty="0"/>
              <a:t>2. Business First</a:t>
            </a:r>
          </a:p>
          <a:p>
            <a:r>
              <a:rPr lang="vi-VN" i="1" dirty="0"/>
              <a:t>Value propositions and strategic alignment must always precede technical tool selection.</a:t>
            </a:r>
            <a:endParaRPr lang="vi-VN" dirty="0"/>
          </a:p>
          <a:p>
            <a:r>
              <a:rPr lang="vi-VN" b="1" dirty="0"/>
              <a:t>Giải thích: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phải bắt đầu từ: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vấn đề kinh doanh,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mục tiêu chiến lược,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không</a:t>
            </a:r>
            <a:r>
              <a:rPr lang="vi-VN" dirty="0"/>
              <a:t> bắt đầu từ: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công nghệ,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vendor,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tool “đang hot”.</a:t>
            </a:r>
          </a:p>
          <a:p>
            <a:r>
              <a:rPr lang="en-US" dirty="0"/>
              <a:t>=&gt; </a:t>
            </a:r>
            <a:r>
              <a:rPr lang="vi-VN" dirty="0"/>
              <a:t>Công nghệ chỉ là </a:t>
            </a:r>
            <a:r>
              <a:rPr lang="vi-VN" b="1" dirty="0"/>
              <a:t>phương tiện</a:t>
            </a:r>
            <a:r>
              <a:rPr lang="vi-VN" dirty="0"/>
              <a:t>, không phải mục tiêu.</a:t>
            </a:r>
          </a:p>
          <a:p>
            <a:r>
              <a:rPr lang="vi-VN" b="1" dirty="0"/>
              <a:t>3. Readiness is Key</a:t>
            </a:r>
          </a:p>
          <a:p>
            <a:r>
              <a:rPr lang="vi-VN" i="1" dirty="0"/>
              <a:t>Assessing data, skills, and culture prevents early failure and identifies critical gaps.</a:t>
            </a:r>
            <a:endParaRPr lang="vi-VN" dirty="0"/>
          </a:p>
          <a:p>
            <a:r>
              <a:rPr lang="vi-VN" b="1" dirty="0"/>
              <a:t>Giải thích: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thất bại sớm thường vì: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dữ liệu chưa sẵn sàng,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kỹ năng thiếu,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văn hóa chưa chấp nhận dữ liệu.</a:t>
            </a:r>
          </a:p>
          <a:p>
            <a:r>
              <a:rPr lang="en-US" dirty="0"/>
              <a:t>=&gt; </a:t>
            </a:r>
            <a:r>
              <a:rPr lang="vi-VN" dirty="0"/>
              <a:t>Đánh giá readiness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điều chỉnh phạm vi,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điều chỉnh roadmap,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bảo vệ dự án ngay từ đầu.</a:t>
            </a:r>
          </a:p>
          <a:p>
            <a:r>
              <a:rPr lang="vi-VN" b="1" dirty="0"/>
              <a:t>4. Incremental Delivery</a:t>
            </a:r>
          </a:p>
          <a:p>
            <a:r>
              <a:rPr lang="vi-VN" i="1" dirty="0"/>
              <a:t>A multi-year roadmap with quick wins builds momentum and secures long-term funding.</a:t>
            </a:r>
            <a:endParaRPr lang="vi-VN" dirty="0"/>
          </a:p>
          <a:p>
            <a:r>
              <a:rPr lang="vi-VN" b="1" dirty="0"/>
              <a:t>Giải thích: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phải: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chia nhỏ,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tạo giá trị sớm,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tích lũy niềm tin.</a:t>
            </a:r>
          </a:p>
          <a:p>
            <a:r>
              <a:rPr lang="en-US" dirty="0"/>
              <a:t>=&gt; </a:t>
            </a:r>
            <a:r>
              <a:rPr lang="vi-VN" dirty="0"/>
              <a:t>Quick wins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tăng adoption,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duy trì tài trợ,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mở đường cho các giai đoạn nâng cao.</a:t>
            </a:r>
          </a:p>
          <a:p>
            <a:r>
              <a:rPr lang="vi-VN" b="1" dirty="0"/>
              <a:t>5. Thông điệp trung tâm của toàn bộ chương</a:t>
            </a:r>
          </a:p>
          <a:p>
            <a:r>
              <a:rPr lang="vi-VN" dirty="0"/>
              <a:t>Câu trích dẫn bên phải slide nhấn mạnh:</a:t>
            </a:r>
          </a:p>
          <a:p>
            <a:r>
              <a:rPr lang="vi-VN" b="1" dirty="0"/>
              <a:t>“A well-justified BI project is half-won before the first line of code is written.”</a:t>
            </a:r>
            <a:endParaRPr lang="vi-VN" dirty="0"/>
          </a:p>
          <a:p>
            <a:r>
              <a:rPr lang="vi-VN" dirty="0"/>
              <a:t>Điều này có nghĩa: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nếu justification làm tốt: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scope rõ,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kỳ vọng đúng,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stakeholder đồng thuận,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thì triển khai kỹ thuật chỉ còn là </a:t>
            </a:r>
            <a:r>
              <a:rPr lang="vi-VN" b="1" dirty="0"/>
              <a:t>bài toán thực thi</a:t>
            </a:r>
            <a:r>
              <a:rPr lang="vi-VN" dirty="0"/>
              <a:t>.</a:t>
            </a:r>
          </a:p>
          <a:p>
            <a:r>
              <a:rPr lang="vi-VN" b="1" dirty="0"/>
              <a:t>6. Hành động cụ thể được khuyến nghị</a:t>
            </a:r>
          </a:p>
          <a:p>
            <a:r>
              <a:rPr lang="vi-VN" dirty="0"/>
              <a:t>Dòng cuối slide tóm gọn thành 3 hành động: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Focus on the business problem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Engage the right people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Deliver value incrementally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Đây chính là “kim chỉ nam” cho mọi dự án BI thực tế.</a:t>
            </a:r>
          </a:p>
          <a:p>
            <a:r>
              <a:rPr lang="vi-VN" b="1" dirty="0"/>
              <a:t>7. Thông điệp giảng viên muốn sinh viên ghi nhớ (take-home message)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thành công bắt đầu </a:t>
            </a:r>
            <a:r>
              <a:rPr lang="vi-VN" b="1" dirty="0"/>
              <a:t>trước khi viết code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Justification là chiến lược, không phải thủ tục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dẫn dắt, IT hỗ trợ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Làm nhỏ, làm chắc, mở rộng dần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3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3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37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10" Type="http://schemas.openxmlformats.org/officeDocument/2006/relationships/image" Target="../media/image89.png"/><Relationship Id="rId4" Type="http://schemas.openxmlformats.org/officeDocument/2006/relationships/image" Target="../media/image85.png"/><Relationship Id="rId9" Type="http://schemas.openxmlformats.org/officeDocument/2006/relationships/image" Target="../media/image8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3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3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3.png"/><Relationship Id="rId7" Type="http://schemas.openxmlformats.org/officeDocument/2006/relationships/image" Target="../media/image51.png"/><Relationship Id="rId12" Type="http://schemas.openxmlformats.org/officeDocument/2006/relationships/image" Target="../media/image1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11" Type="http://schemas.openxmlformats.org/officeDocument/2006/relationships/image" Target="../media/image112.png"/><Relationship Id="rId5" Type="http://schemas.openxmlformats.org/officeDocument/2006/relationships/image" Target="../media/image107.png"/><Relationship Id="rId10" Type="http://schemas.openxmlformats.org/officeDocument/2006/relationships/image" Target="../media/image111.png"/><Relationship Id="rId4" Type="http://schemas.openxmlformats.org/officeDocument/2006/relationships/image" Target="../media/image49.png"/><Relationship Id="rId9" Type="http://schemas.openxmlformats.org/officeDocument/2006/relationships/image" Target="../media/image1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5" Type="http://schemas.openxmlformats.org/officeDocument/2006/relationships/image" Target="../media/image39.png"/><Relationship Id="rId4" Type="http://schemas.openxmlformats.org/officeDocument/2006/relationships/image" Target="../media/image1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201796"/>
            <a:ext cx="427768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3" dirty="0">
                <a:solidFill>
                  <a:srgbClr val="64FFDA"/>
                </a:solidFill>
              </a:rPr>
              <a:t>Chapter 2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571500" y="1578629"/>
            <a:ext cx="4277683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CCD6F6"/>
                </a:solidFill>
              </a:rPr>
              <a:t>Justifying Business Intelligence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571500" y="3301668"/>
            <a:ext cx="4277683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>
                <a:solidFill>
                  <a:srgbClr val="8892B0"/>
                </a:solidFill>
              </a:rPr>
              <a:t>Building the Business and Technical Case for BI Success</a:t>
            </a:r>
            <a:endParaRPr lang="en-US" sz="1704" dirty="0"/>
          </a:p>
        </p:txBody>
      </p:sp>
      <p:sp>
        <p:nvSpPr>
          <p:cNvPr id="6" name="Shape 3"/>
          <p:cNvSpPr/>
          <p:nvPr/>
        </p:nvSpPr>
        <p:spPr>
          <a:xfrm>
            <a:off x="5420683" y="0"/>
            <a:ext cx="3723317" cy="51435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7" name="Shape 4"/>
          <p:cNvSpPr/>
          <p:nvPr/>
        </p:nvSpPr>
        <p:spPr>
          <a:xfrm>
            <a:off x="5420683" y="0"/>
            <a:ext cx="14288" cy="5143500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875" y="1540371"/>
            <a:ext cx="571500" cy="571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57875" y="2779812"/>
            <a:ext cx="2857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4FFDA"/>
                </a:solidFill>
              </a:rPr>
              <a:t>Business Intelligence (INT14181_CLC)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5857875" y="3045916"/>
            <a:ext cx="65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5857875" y="3363813"/>
            <a:ext cx="285750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8892B0"/>
                </a:solidFill>
              </a:rPr>
              <a:t>"Justification is not only for approval—it is for setting expectations."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143125" cy="51435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4" name="Shape 1"/>
          <p:cNvSpPr/>
          <p:nvPr/>
        </p:nvSpPr>
        <p:spPr>
          <a:xfrm>
            <a:off x="2128838" y="0"/>
            <a:ext cx="14288" cy="514350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5" name="Text 2"/>
          <p:cNvSpPr/>
          <p:nvPr/>
        </p:nvSpPr>
        <p:spPr>
          <a:xfrm>
            <a:off x="231377" y="857250"/>
            <a:ext cx="996455" cy="265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2" dirty="0">
                <a:solidFill>
                  <a:srgbClr val="64FFDA"/>
                </a:solidFill>
              </a:rPr>
              <a:t>Objectives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2714625" y="571500"/>
            <a:ext cx="58578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Learning Objectives: Mastering BI Justification</a:t>
            </a:r>
            <a:endParaRPr lang="en-US" sz="1602" dirty="0"/>
          </a:p>
        </p:txBody>
      </p:sp>
      <p:sp>
        <p:nvSpPr>
          <p:cNvPr id="7" name="Shape 4"/>
          <p:cNvSpPr/>
          <p:nvPr/>
        </p:nvSpPr>
        <p:spPr>
          <a:xfrm>
            <a:off x="2714625" y="1312664"/>
            <a:ext cx="357188" cy="357188"/>
          </a:xfrm>
          <a:prstGeom prst="rect">
            <a:avLst/>
          </a:prstGeom>
          <a:solidFill>
            <a:srgbClr val="64FFDA">
              <a:alpha val="10000"/>
            </a:srgbClr>
          </a:solidFill>
          <a:ln w="9144">
            <a:solidFill>
              <a:srgbClr val="64FFDA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9641" y="1419820"/>
            <a:ext cx="107156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50406" y="1312664"/>
            <a:ext cx="5322094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Explain why BI projects require </a:t>
            </a:r>
            <a:r>
              <a:rPr lang="en-US" sz="1400" b="1" dirty="0">
                <a:solidFill>
                  <a:srgbClr val="57CBFF"/>
                </a:solidFill>
              </a:rPr>
              <a:t>formal justification</a:t>
            </a:r>
            <a:r>
              <a:rPr lang="en-US" sz="1400" dirty="0">
                <a:solidFill>
                  <a:srgbClr val="CCD6F6"/>
                </a:solidFill>
              </a:rPr>
              <a:t> to prevent perceived failure.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714625" y="2002706"/>
            <a:ext cx="357188" cy="357188"/>
          </a:xfrm>
          <a:prstGeom prst="rect">
            <a:avLst/>
          </a:prstGeom>
          <a:solidFill>
            <a:srgbClr val="64FFDA">
              <a:alpha val="10000"/>
            </a:srgbClr>
          </a:solidFill>
          <a:ln w="9144">
            <a:solidFill>
              <a:srgbClr val="64FFDA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3922" y="2109862"/>
            <a:ext cx="178594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50406" y="2002706"/>
            <a:ext cx="4539512" cy="210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Distinguish between the </a:t>
            </a:r>
            <a:r>
              <a:rPr lang="en-US" sz="1400" b="1" dirty="0">
                <a:solidFill>
                  <a:srgbClr val="57CBFF"/>
                </a:solidFill>
              </a:rPr>
              <a:t>business case</a:t>
            </a:r>
            <a:r>
              <a:rPr lang="en-US" sz="1400" dirty="0">
                <a:solidFill>
                  <a:srgbClr val="CCD6F6"/>
                </a:solidFill>
              </a:rPr>
              <a:t> and the </a:t>
            </a:r>
            <a:r>
              <a:rPr lang="en-US" sz="1400" b="1" dirty="0">
                <a:solidFill>
                  <a:srgbClr val="57CBFF"/>
                </a:solidFill>
              </a:rPr>
              <a:t>technical case</a:t>
            </a:r>
            <a:r>
              <a:rPr lang="en-US" sz="1400" dirty="0">
                <a:solidFill>
                  <a:srgbClr val="CCD6F6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2714625" y="2609924"/>
            <a:ext cx="357188" cy="357188"/>
          </a:xfrm>
          <a:prstGeom prst="rect">
            <a:avLst/>
          </a:prstGeom>
          <a:solidFill>
            <a:srgbClr val="64FFDA">
              <a:alpha val="10000"/>
            </a:srgbClr>
          </a:solidFill>
          <a:ln w="9144">
            <a:solidFill>
              <a:srgbClr val="64FFDA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1781" y="2717081"/>
            <a:ext cx="142875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250406" y="2609924"/>
            <a:ext cx="5322094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Describe how to assess </a:t>
            </a:r>
            <a:r>
              <a:rPr lang="en-US" sz="1400" b="1" dirty="0">
                <a:solidFill>
                  <a:srgbClr val="57CBFF"/>
                </a:solidFill>
              </a:rPr>
              <a:t>organizational readiness</a:t>
            </a:r>
            <a:r>
              <a:rPr lang="en-US" sz="1400" dirty="0">
                <a:solidFill>
                  <a:srgbClr val="CCD6F6"/>
                </a:solidFill>
              </a:rPr>
              <a:t> for BI across five dimensions.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2714625" y="3299966"/>
            <a:ext cx="357188" cy="357188"/>
          </a:xfrm>
          <a:prstGeom prst="rect">
            <a:avLst/>
          </a:prstGeom>
          <a:solidFill>
            <a:srgbClr val="64FFDA">
              <a:alpha val="10000"/>
            </a:srgbClr>
          </a:solidFill>
          <a:ln w="9144">
            <a:solidFill>
              <a:srgbClr val="64FFDA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1781" y="3407122"/>
            <a:ext cx="142875" cy="1428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50406" y="3299966"/>
            <a:ext cx="4716291" cy="210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Understand how to build a </a:t>
            </a:r>
            <a:r>
              <a:rPr lang="en-US" sz="1400" b="1" dirty="0">
                <a:solidFill>
                  <a:srgbClr val="57CBFF"/>
                </a:solidFill>
              </a:rPr>
              <a:t>BI roadmap</a:t>
            </a:r>
            <a:r>
              <a:rPr lang="en-US" sz="1400" dirty="0">
                <a:solidFill>
                  <a:srgbClr val="CCD6F6"/>
                </a:solidFill>
              </a:rPr>
              <a:t>, scope, plan, and budget.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2714625" y="3907185"/>
            <a:ext cx="357188" cy="357188"/>
          </a:xfrm>
          <a:prstGeom prst="rect">
            <a:avLst/>
          </a:prstGeom>
          <a:solidFill>
            <a:srgbClr val="64FFDA">
              <a:alpha val="10000"/>
            </a:srgbClr>
          </a:solidFill>
          <a:ln w="9144">
            <a:solidFill>
              <a:srgbClr val="64FFDA"/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1781" y="4014341"/>
            <a:ext cx="142875" cy="14287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250406" y="3907185"/>
            <a:ext cx="4710072" cy="210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Identify common </a:t>
            </a:r>
            <a:r>
              <a:rPr lang="en-US" sz="1400" b="1" dirty="0">
                <a:solidFill>
                  <a:srgbClr val="57CBFF"/>
                </a:solidFill>
              </a:rPr>
              <a:t>justification pitfalls</a:t>
            </a:r>
            <a:r>
              <a:rPr lang="en-US" sz="1400" dirty="0">
                <a:solidFill>
                  <a:srgbClr val="CCD6F6"/>
                </a:solidFill>
              </a:rPr>
              <a:t> that lead to project failure.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Why BI Justification is Non-Negotiable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3857625" cy="315575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3857625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343918"/>
            <a:ext cx="192881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57288" y="1312664"/>
            <a:ext cx="602729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7CBFF"/>
                </a:solidFill>
              </a:rPr>
              <a:t>The Hype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57250" y="1760934"/>
            <a:ext cx="3286125" cy="60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CD6F6"/>
                </a:solidFill>
              </a:rPr>
              <a:t>Top CIO Priority:</a:t>
            </a:r>
            <a:r>
              <a:rPr lang="en-US" sz="1200" dirty="0">
                <a:solidFill>
                  <a:srgbClr val="CCD6F6"/>
                </a:solidFill>
              </a:rPr>
              <a:t> BI and analytics have consistently topped technology investment lists for over a decade.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57250" y="2315245"/>
            <a:ext cx="3286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CD6F6"/>
                </a:solidFill>
              </a:rPr>
              <a:t>Strategic Edge:</a:t>
            </a:r>
            <a:r>
              <a:rPr lang="en-US" sz="1200" dirty="0">
                <a:solidFill>
                  <a:srgbClr val="CCD6F6"/>
                </a:solidFill>
              </a:rPr>
              <a:t> Executives understand that data-driven insights are critical for competitive growth.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57250" y="2869555"/>
            <a:ext cx="3286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CD6F6"/>
                </a:solidFill>
              </a:rPr>
              <a:t>Bandwagon Effect:</a:t>
            </a:r>
            <a:r>
              <a:rPr lang="en-US" sz="1200" dirty="0">
                <a:solidFill>
                  <a:srgbClr val="CCD6F6"/>
                </a:solidFill>
              </a:rPr>
              <a:t> Peer pressure and industry trends often lead to rushed project approvals.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14875" y="1026914"/>
            <a:ext cx="3857625" cy="315575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2" name="Shape 8"/>
          <p:cNvSpPr/>
          <p:nvPr/>
        </p:nvSpPr>
        <p:spPr>
          <a:xfrm>
            <a:off x="4714875" y="1026914"/>
            <a:ext cx="3857625" cy="28575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1343918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79231" y="1312664"/>
            <a:ext cx="711092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44336"/>
                </a:solidFill>
              </a:rPr>
              <a:t>The Reality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000625" y="1760934"/>
            <a:ext cx="3286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CD6F6"/>
                </a:solidFill>
              </a:rPr>
              <a:t>High Failure Rate:</a:t>
            </a:r>
            <a:r>
              <a:rPr lang="en-US" sz="1200" dirty="0">
                <a:solidFill>
                  <a:srgbClr val="CCD6F6"/>
                </a:solidFill>
              </a:rPr>
              <a:t> The majority of BI projects fail to deliver their promised value.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000625" y="2315245"/>
            <a:ext cx="32861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CD6F6"/>
                </a:solidFill>
              </a:rPr>
              <a:t>Expectation Shortfall:</a:t>
            </a:r>
            <a:r>
              <a:rPr lang="en-US" sz="1200" dirty="0">
                <a:solidFill>
                  <a:srgbClr val="CCD6F6"/>
                </a:solidFill>
              </a:rPr>
              <a:t> Failure is rarely due to technology; it's usually a gap between what was promised and what was delivered.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00625" y="3075273"/>
            <a:ext cx="3286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CD6F6"/>
                </a:solidFill>
              </a:rPr>
              <a:t>Operational Issues:</a:t>
            </a:r>
            <a:r>
              <a:rPr lang="en-US" sz="1200" dirty="0">
                <a:solidFill>
                  <a:srgbClr val="CCD6F6"/>
                </a:solidFill>
              </a:rPr>
              <a:t> Projects are frequently late, over budget, and suffer from low user adoption.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71500" y="4611291"/>
            <a:ext cx="8001000" cy="532209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571500" y="4611291"/>
            <a:ext cx="28575" cy="532209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0" name="Text 15"/>
          <p:cNvSpPr/>
          <p:nvPr/>
        </p:nvSpPr>
        <p:spPr>
          <a:xfrm>
            <a:off x="714375" y="4754166"/>
            <a:ext cx="7715250" cy="361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Insight: Justification is not just a selling device—it is a vehicle to set realistic expectations and guide the project to success.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Strategic Goals: Beyond Project Approval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2524116" cy="179218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285875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1696641"/>
            <a:ext cx="985911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CCD6F6"/>
                </a:solidFill>
              </a:rPr>
              <a:t>Clarify Needs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85813" y="1977033"/>
            <a:ext cx="2095491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Define exactly what the business requires to solve problems or seize opportunities.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309928" y="1026914"/>
            <a:ext cx="2524116" cy="179218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0" name="Shape 6"/>
          <p:cNvSpPr/>
          <p:nvPr/>
        </p:nvSpPr>
        <p:spPr>
          <a:xfrm>
            <a:off x="3309928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41" y="1285875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24241" y="1696641"/>
            <a:ext cx="997261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CCD6F6"/>
                </a:solidFill>
              </a:rPr>
              <a:t>Identify Risks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3524241" y="1977033"/>
            <a:ext cx="2095491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Uncover potential technical, organizational, or data-related roadblocks early in the process.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048356" y="1026914"/>
            <a:ext cx="2524144" cy="179218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5" name="Shape 10"/>
          <p:cNvSpPr/>
          <p:nvPr/>
        </p:nvSpPr>
        <p:spPr>
          <a:xfrm>
            <a:off x="6048356" y="1026914"/>
            <a:ext cx="2524144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69" y="1285875"/>
            <a:ext cx="17145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62669" y="1696641"/>
            <a:ext cx="1453026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CCD6F6"/>
                </a:solidFill>
              </a:rPr>
              <a:t>Estimate Resources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262669" y="1977033"/>
            <a:ext cx="2095519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Establish a realistic scope, cost, and schedule based on actual business requirements.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71500" y="3033415"/>
            <a:ext cx="2524116" cy="179218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0" name="Shape 14"/>
          <p:cNvSpPr/>
          <p:nvPr/>
        </p:nvSpPr>
        <p:spPr>
          <a:xfrm>
            <a:off x="571500" y="3033415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3292376"/>
            <a:ext cx="28575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85813" y="3703141"/>
            <a:ext cx="1279646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CCD6F6"/>
                </a:solidFill>
              </a:rPr>
              <a:t>Assess Readiness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785813" y="3983534"/>
            <a:ext cx="2095491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Determine if the organization has the data, skills, and culture to handle the BI transformation.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3309928" y="3033415"/>
            <a:ext cx="2524116" cy="179218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5" name="Shape 18"/>
          <p:cNvSpPr/>
          <p:nvPr/>
        </p:nvSpPr>
        <p:spPr>
          <a:xfrm>
            <a:off x="3309928" y="3033415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41" y="3292376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24241" y="3703141"/>
            <a:ext cx="1098249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CCD6F6"/>
                </a:solidFill>
              </a:rPr>
              <a:t>Define Success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3524241" y="3983534"/>
            <a:ext cx="2095491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Establish clear ROI metrics and success criteria that align with business objectives.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048356" y="3033415"/>
            <a:ext cx="2524144" cy="179218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0" name="Shape 22"/>
          <p:cNvSpPr/>
          <p:nvPr/>
        </p:nvSpPr>
        <p:spPr>
          <a:xfrm>
            <a:off x="6048356" y="3033415"/>
            <a:ext cx="2524144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2669" y="3292376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262669" y="3703141"/>
            <a:ext cx="1135247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CCD6F6"/>
                </a:solidFill>
              </a:rPr>
              <a:t>Prevent Failure</a:t>
            </a:r>
            <a:endParaRPr lang="en-US" sz="1400" dirty="0"/>
          </a:p>
        </p:txBody>
      </p:sp>
      <p:sp>
        <p:nvSpPr>
          <p:cNvPr id="33" name="Text 24"/>
          <p:cNvSpPr/>
          <p:nvPr/>
        </p:nvSpPr>
        <p:spPr>
          <a:xfrm>
            <a:off x="6262669" y="3983534"/>
            <a:ext cx="2095519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Stop BI from being labeled a failure by managing expectations from the very beginning.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0" y="4825603"/>
            <a:ext cx="9144000" cy="334515"/>
          </a:xfrm>
          <a:prstGeom prst="rect">
            <a:avLst/>
          </a:prstGeom>
          <a:noFill/>
          <a:ln/>
        </p:spPr>
        <p:txBody>
          <a:bodyPr wrap="square" lIns="680339" tIns="170053" rIns="680339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i="1" dirty="0">
                <a:solidFill>
                  <a:srgbClr val="64FFDA"/>
                </a:solidFill>
              </a:rPr>
              <a:t>"A careful, well-documented justification is the best insurance policy for a BI project."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The BI Justification Lifecycle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642938" y="2204740"/>
            <a:ext cx="7858125" cy="14288"/>
          </a:xfrm>
          <a:prstGeom prst="rect">
            <a:avLst/>
          </a:prstGeom>
          <a:solidFill>
            <a:srgbClr val="64FFDA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78656" y="1883271"/>
            <a:ext cx="642938" cy="642938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09044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1107" y="2704802"/>
            <a:ext cx="558038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400" b="1" kern="0" spc="2" dirty="0">
                <a:solidFill>
                  <a:srgbClr val="57CBFF"/>
                </a:solidFill>
              </a:rPr>
              <a:t>Step 01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70415" y="2911971"/>
            <a:ext cx="125939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Build Business Case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57188" y="3333452"/>
            <a:ext cx="1285875" cy="624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Identify sponsors, stakeholders, and core business problems.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107406" y="1883271"/>
            <a:ext cx="642938" cy="642938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4575" y="209044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149857" y="2704802"/>
            <a:ext cx="558038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400" b="1" kern="0" spc="2" dirty="0">
                <a:solidFill>
                  <a:srgbClr val="57CBFF"/>
                </a:solidFill>
              </a:rPr>
              <a:t>Step 02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785938" y="2928648"/>
            <a:ext cx="1285875" cy="31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Build Technical Case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785938" y="3369171"/>
            <a:ext cx="1285875" cy="624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Evaluate tools, architecture, and required technical skills.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3536156" y="1883271"/>
            <a:ext cx="642938" cy="642938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3325" y="209044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578607" y="2704802"/>
            <a:ext cx="558038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400" b="1" kern="0" spc="2" dirty="0">
                <a:solidFill>
                  <a:srgbClr val="57CBFF"/>
                </a:solidFill>
              </a:rPr>
              <a:t>Step 03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3306998" y="2911971"/>
            <a:ext cx="110122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Assess Readiness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3214688" y="3333452"/>
            <a:ext cx="1285875" cy="624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Evaluate data quality, culture, and financial commitment.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964906" y="1883271"/>
            <a:ext cx="642938" cy="642938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7788" y="2090440"/>
            <a:ext cx="257175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07357" y="2704802"/>
            <a:ext cx="558038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400" b="1" kern="0" spc="2" dirty="0">
                <a:solidFill>
                  <a:srgbClr val="57CBFF"/>
                </a:solidFill>
              </a:rPr>
              <a:t>Step 04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668692" y="2911971"/>
            <a:ext cx="123536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Create BI Roadmap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643438" y="3333452"/>
            <a:ext cx="1285875" cy="77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Plan for incremental delivery and long-term program growth.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393656" y="1883271"/>
            <a:ext cx="642938" cy="642938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2090440"/>
            <a:ext cx="171450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36107" y="2704802"/>
            <a:ext cx="558038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400" b="1" kern="0" spc="2" dirty="0">
                <a:solidFill>
                  <a:srgbClr val="57CBFF"/>
                </a:solidFill>
              </a:rPr>
              <a:t>Step 05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6072188" y="2928648"/>
            <a:ext cx="1285875" cy="31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Define Scope &amp; Budget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6072188" y="3369171"/>
            <a:ext cx="1285875" cy="624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Establish boundaries, costs, and ROI calculations.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7822406" y="1883271"/>
            <a:ext cx="642938" cy="642938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5288" y="2090440"/>
            <a:ext cx="257175" cy="2286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864857" y="2704802"/>
            <a:ext cx="558038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400" b="1" kern="0" spc="2" dirty="0">
                <a:solidFill>
                  <a:srgbClr val="57CBFF"/>
                </a:solidFill>
              </a:rPr>
              <a:t>Step 06</a:t>
            </a:r>
            <a:endParaRPr lang="en-US" sz="1400" dirty="0"/>
          </a:p>
        </p:txBody>
      </p:sp>
      <p:sp>
        <p:nvSpPr>
          <p:cNvPr id="33" name="Text 24"/>
          <p:cNvSpPr/>
          <p:nvPr/>
        </p:nvSpPr>
        <p:spPr>
          <a:xfrm>
            <a:off x="7619479" y="2911971"/>
            <a:ext cx="104876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Obtain Approval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7500938" y="3333452"/>
            <a:ext cx="1285875" cy="624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Document the justification and secure formal commitment.</a:t>
            </a:r>
            <a:endParaRPr lang="en-US" sz="1400" dirty="0"/>
          </a:p>
        </p:txBody>
      </p:sp>
      <p:sp>
        <p:nvSpPr>
          <p:cNvPr id="35" name="Shape 26"/>
          <p:cNvSpPr/>
          <p:nvPr/>
        </p:nvSpPr>
        <p:spPr>
          <a:xfrm>
            <a:off x="571500" y="4818459"/>
            <a:ext cx="8001000" cy="325041"/>
          </a:xfrm>
          <a:prstGeom prst="rect">
            <a:avLst/>
          </a:prstGeom>
          <a:solidFill>
            <a:srgbClr val="57CBFF">
              <a:alpha val="5000"/>
            </a:srgbClr>
          </a:solidFill>
          <a:ln/>
        </p:spPr>
      </p:sp>
      <p:sp>
        <p:nvSpPr>
          <p:cNvPr id="36" name="Shape 27"/>
          <p:cNvSpPr/>
          <p:nvPr/>
        </p:nvSpPr>
        <p:spPr>
          <a:xfrm>
            <a:off x="571500" y="4818459"/>
            <a:ext cx="8001000" cy="7144"/>
          </a:xfrm>
          <a:prstGeom prst="rect">
            <a:avLst/>
          </a:prstGeom>
          <a:solidFill>
            <a:srgbClr val="57CBFF"/>
          </a:solidFill>
          <a:ln/>
        </p:spPr>
      </p:sp>
      <p:sp>
        <p:nvSpPr>
          <p:cNvPr id="37" name="Text 28"/>
          <p:cNvSpPr/>
          <p:nvPr/>
        </p:nvSpPr>
        <p:spPr>
          <a:xfrm>
            <a:off x="864158" y="4968478"/>
            <a:ext cx="7415683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57CBFF"/>
                </a:solidFill>
              </a:rPr>
              <a:t>A systematic approach ensures that BI is treated as a strategic program, not just a one-off IT project.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The Business Case: Answering the "Why"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884039"/>
            <a:ext cx="8001000" cy="301823"/>
          </a:xfrm>
          <a:prstGeom prst="rect">
            <a:avLst/>
          </a:prstGeom>
          <a:solidFill>
            <a:srgbClr val="64FFDA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884039"/>
            <a:ext cx="28575" cy="301823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884039"/>
            <a:ext cx="8001000" cy="310791"/>
          </a:xfrm>
          <a:prstGeom prst="rect">
            <a:avLst/>
          </a:prstGeom>
          <a:noFill/>
          <a:ln/>
        </p:spPr>
        <p:txBody>
          <a:bodyPr wrap="square" lIns="212598" tIns="127508" rIns="212598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Core Focus: Business value and strategic alignment must always precede tool selection.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71500" y="1471613"/>
            <a:ext cx="3893344" cy="172878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471613"/>
            <a:ext cx="3893344" cy="21431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707356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64419" y="1685925"/>
            <a:ext cx="1798185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57CBFF"/>
                </a:solidFill>
              </a:rPr>
              <a:t>Problem or Opportunity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85813" y="2007394"/>
            <a:ext cx="346471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What specific business problems are being solved, or what new opportunities are being addressed by this BI solution?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679156" y="1471613"/>
            <a:ext cx="3893344" cy="172878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3" name="Shape 9"/>
          <p:cNvSpPr/>
          <p:nvPr/>
        </p:nvSpPr>
        <p:spPr>
          <a:xfrm>
            <a:off x="4679156" y="1471613"/>
            <a:ext cx="3893344" cy="21431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707356"/>
            <a:ext cx="214313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14938" y="1685925"/>
            <a:ext cx="1387431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57CBFF"/>
                </a:solidFill>
              </a:rPr>
              <a:t>User Identification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893469" y="2007394"/>
            <a:ext cx="346471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Who will use the BI solution? Defining the target audience ensures the solution is tailored to their specific analytical needs.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71500" y="3414713"/>
            <a:ext cx="3893344" cy="172878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8" name="Shape 13"/>
          <p:cNvSpPr/>
          <p:nvPr/>
        </p:nvSpPr>
        <p:spPr>
          <a:xfrm>
            <a:off x="571500" y="3414713"/>
            <a:ext cx="3893344" cy="21431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3650456"/>
            <a:ext cx="171450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64419" y="3629025"/>
            <a:ext cx="1334276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57CBFF"/>
                </a:solidFill>
              </a:rPr>
              <a:t>Expected Benefits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785813" y="3950494"/>
            <a:ext cx="346471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What are the anticipated business benefits? Value should be defined in terms of organizational impact, not technical features.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4679156" y="3414713"/>
            <a:ext cx="3893344" cy="172878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3" name="Shape 17"/>
          <p:cNvSpPr/>
          <p:nvPr/>
        </p:nvSpPr>
        <p:spPr>
          <a:xfrm>
            <a:off x="4679156" y="3414713"/>
            <a:ext cx="3893344" cy="21431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3650456"/>
            <a:ext cx="171450" cy="1714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72075" y="3629025"/>
            <a:ext cx="1332801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57CBFF"/>
                </a:solidFill>
              </a:rPr>
              <a:t>Historical Context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4893469" y="3950494"/>
            <a:ext cx="346471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Were there any prior BI initiatives that failed? Understanding past failures is critical to avoiding the same pitfalls.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The "Build It and They Will Come" Trap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3893344" cy="1486793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28575" cy="1486793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262658"/>
            <a:ext cx="214313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7281" y="1241227"/>
            <a:ext cx="1513299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Information Nirvana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85813" y="1562695"/>
            <a:ext cx="3464719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Selling an unrealistic, all-encompassing solution where everyone gets all the information they need instantly. This sets the stage for inevitable disappointment.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679156" y="1026914"/>
            <a:ext cx="3893344" cy="1486793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0" name="Shape 6"/>
          <p:cNvSpPr/>
          <p:nvPr/>
        </p:nvSpPr>
        <p:spPr>
          <a:xfrm>
            <a:off x="4679156" y="1026914"/>
            <a:ext cx="28575" cy="1486793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262658"/>
            <a:ext cx="150019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50644" y="1241227"/>
            <a:ext cx="1456296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Uncontrolled Scope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893469" y="1562695"/>
            <a:ext cx="3464719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Without a business case, projects become too big, long, and unfocused. The "if we build it" approach often leads to projects that never actually finish.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71500" y="2728020"/>
            <a:ext cx="3893344" cy="1486793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" y="2728020"/>
            <a:ext cx="28575" cy="1486793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16" name="Text 11"/>
          <p:cNvSpPr/>
          <p:nvPr/>
        </p:nvSpPr>
        <p:spPr>
          <a:xfrm>
            <a:off x="892969" y="2942332"/>
            <a:ext cx="1628266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Data Shadow Systems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85813" y="3263801"/>
            <a:ext cx="3464719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Frustrated business groups create "spreadmarts" and one-off spreadsheets when the central DW project takes too long to deliver value.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679156" y="2728020"/>
            <a:ext cx="3893344" cy="1486793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9" name="Shape 14"/>
          <p:cNvSpPr/>
          <p:nvPr/>
        </p:nvSpPr>
        <p:spPr>
          <a:xfrm>
            <a:off x="4679156" y="2728020"/>
            <a:ext cx="28575" cy="1486793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469" y="2963763"/>
            <a:ext cx="214313" cy="1714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14938" y="2942332"/>
            <a:ext cx="1369990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Lack of Ownership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893469" y="3263801"/>
            <a:ext cx="3464719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The business community views BI as an "IT experiment" rather than a business tool, leading to zero accountability and low adoption rates.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71500" y="4429125"/>
            <a:ext cx="8001000" cy="714375"/>
          </a:xfrm>
          <a:prstGeom prst="rect">
            <a:avLst/>
          </a:prstGeom>
          <a:solidFill>
            <a:srgbClr val="F44336">
              <a:alpha val="10000"/>
            </a:srgbClr>
          </a:solidFill>
          <a:ln w="9144">
            <a:solidFill>
              <a:srgbClr val="F44336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2104722" y="4572000"/>
            <a:ext cx="4934556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The Result: Low adoption and perceived high cost with little value.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85813" y="4818459"/>
            <a:ext cx="75723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F44336"/>
                </a:solidFill>
              </a:rPr>
              <a:t>Skipping the business case is the fastest way to turn a strategic investment into an expensive overhead.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Aligning BI with Strategic Business Initiatives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2524116" cy="3136106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368028"/>
            <a:ext cx="321469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1880592"/>
            <a:ext cx="1305294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Leverage Funding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85813" y="2237780"/>
            <a:ext cx="2095491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Strategic initiatives are already prioritized, approved, and funded by the organization.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85813" y="2893526"/>
            <a:ext cx="209549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By positioning BI as a critical enabler, you tap into existing momentum and resources.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309928" y="1026914"/>
            <a:ext cx="2524116" cy="3136106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1" name="Shape 7"/>
          <p:cNvSpPr/>
          <p:nvPr/>
        </p:nvSpPr>
        <p:spPr>
          <a:xfrm>
            <a:off x="3309928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41" y="1368028"/>
            <a:ext cx="285750" cy="285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24241" y="1880592"/>
            <a:ext cx="2095491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Data-Driven Execution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524241" y="2452092"/>
            <a:ext cx="2095491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Modern business goals—from market expansion to cost optimization—require sophisticated analytics.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524241" y="3107838"/>
            <a:ext cx="2095491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BI provides the necessary visibility to track progress and adjust tactics in real-time.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48356" y="1026914"/>
            <a:ext cx="2524116" cy="3136106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7" name="Shape 12"/>
          <p:cNvSpPr/>
          <p:nvPr/>
        </p:nvSpPr>
        <p:spPr>
          <a:xfrm>
            <a:off x="6048356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69" y="1368028"/>
            <a:ext cx="285750" cy="2857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62669" y="1880592"/>
            <a:ext cx="1295804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Strategic Support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262669" y="2237780"/>
            <a:ext cx="2095491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BI's primary role is to support and enable the achievement of these high-level strategic goals.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262669" y="2893526"/>
            <a:ext cx="2095491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Due diligence ensures BI specifically empowers current and future business plans.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71500" y="4448770"/>
            <a:ext cx="8001000" cy="694730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571500" y="4448770"/>
            <a:ext cx="42863" cy="69473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4" name="Text 18"/>
          <p:cNvSpPr/>
          <p:nvPr/>
        </p:nvSpPr>
        <p:spPr>
          <a:xfrm>
            <a:off x="857250" y="4663083"/>
            <a:ext cx="2210542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The Golden Rule of BI Success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57250" y="4968478"/>
            <a:ext cx="8409803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i="1" dirty="0">
                <a:solidFill>
                  <a:srgbClr val="CCD6F6"/>
                </a:solidFill>
              </a:rPr>
              <a:t>BI succeeds when it is perceived as a vital component of a funded business goal, rather than a standalone IT project.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BI as a Process Enabler, Not Just a Report Generator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3818669" cy="328791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3818669" cy="28575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343918"/>
            <a:ext cx="214313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8719" y="1312664"/>
            <a:ext cx="1346715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Operational Focus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1791295"/>
            <a:ext cx="114300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78706" y="1760934"/>
            <a:ext cx="1322157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Sales &amp; Marketing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109192"/>
            <a:ext cx="114300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78706" y="2078831"/>
            <a:ext cx="1562415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Customer Acquisition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427089"/>
            <a:ext cx="114300" cy="1143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78706" y="2396728"/>
            <a:ext cx="1953548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Supply Chain &amp; Operations</a:t>
            </a:r>
            <a:endParaRPr lang="en-US" sz="14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744986"/>
            <a:ext cx="114300" cy="1143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78706" y="2714625"/>
            <a:ext cx="1778244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Budgeting &amp; Forecasting</a:t>
            </a:r>
            <a:endParaRPr lang="en-US" sz="14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062883"/>
            <a:ext cx="114300" cy="1143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78706" y="3032522"/>
            <a:ext cx="1627112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Expense Management</a:t>
            </a:r>
            <a:endParaRPr lang="en-US" sz="1400" dirty="0"/>
          </a:p>
        </p:txBody>
      </p:sp>
      <p:sp>
        <p:nvSpPr>
          <p:cNvPr id="18" name="Shape 9"/>
          <p:cNvSpPr/>
          <p:nvPr/>
        </p:nvSpPr>
        <p:spPr>
          <a:xfrm>
            <a:off x="4675919" y="1026914"/>
            <a:ext cx="3896581" cy="787598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19" name="Shape 10"/>
          <p:cNvSpPr/>
          <p:nvPr/>
        </p:nvSpPr>
        <p:spPr>
          <a:xfrm>
            <a:off x="4675919" y="1026914"/>
            <a:ext cx="28575" cy="787598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0" name="Text 11"/>
          <p:cNvSpPr/>
          <p:nvPr/>
        </p:nvSpPr>
        <p:spPr>
          <a:xfrm>
            <a:off x="4854513" y="1205508"/>
            <a:ext cx="1480021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Identify</a:t>
            </a:r>
            <a:r>
              <a:rPr lang="en-US" sz="987" b="1" dirty="0">
                <a:solidFill>
                  <a:srgbClr val="64FFDA"/>
                </a:solidFill>
              </a:rPr>
              <a:t> </a:t>
            </a:r>
            <a:r>
              <a:rPr lang="en-US" sz="1400" b="1" dirty="0">
                <a:solidFill>
                  <a:srgbClr val="64FFDA"/>
                </a:solidFill>
              </a:rPr>
              <a:t>Bottlenecks</a:t>
            </a:r>
            <a:endParaRPr lang="en-US" sz="1400" dirty="0"/>
          </a:p>
        </p:txBody>
      </p:sp>
      <p:sp>
        <p:nvSpPr>
          <p:cNvPr id="21" name="Text 12"/>
          <p:cNvSpPr/>
          <p:nvPr/>
        </p:nvSpPr>
        <p:spPr>
          <a:xfrm>
            <a:off x="4854513" y="1471613"/>
            <a:ext cx="3539393" cy="54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Determine where a lack of data or slow analysis is currently hindering business execution and growth.</a:t>
            </a:r>
            <a:endParaRPr lang="en-US" sz="1400" dirty="0"/>
          </a:p>
        </p:txBody>
      </p:sp>
      <p:sp>
        <p:nvSpPr>
          <p:cNvPr id="22" name="Shape 13"/>
          <p:cNvSpPr/>
          <p:nvPr/>
        </p:nvSpPr>
        <p:spPr>
          <a:xfrm>
            <a:off x="4675919" y="1957388"/>
            <a:ext cx="3896581" cy="787598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3" name="Shape 14"/>
          <p:cNvSpPr/>
          <p:nvPr/>
        </p:nvSpPr>
        <p:spPr>
          <a:xfrm>
            <a:off x="4675919" y="1957388"/>
            <a:ext cx="28575" cy="787598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4" name="Text 15"/>
          <p:cNvSpPr/>
          <p:nvPr/>
        </p:nvSpPr>
        <p:spPr>
          <a:xfrm>
            <a:off x="4854513" y="2135981"/>
            <a:ext cx="1123834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Building Blocks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4854513" y="2402086"/>
            <a:ext cx="3539393" cy="54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Use business processes, not technical reports, as the foundation for your BI justification and roadmap.</a:t>
            </a:r>
            <a:endParaRPr lang="en-US" sz="1400" dirty="0"/>
          </a:p>
        </p:txBody>
      </p:sp>
      <p:sp>
        <p:nvSpPr>
          <p:cNvPr id="26" name="Shape 17"/>
          <p:cNvSpPr/>
          <p:nvPr/>
        </p:nvSpPr>
        <p:spPr>
          <a:xfrm>
            <a:off x="4675919" y="2887861"/>
            <a:ext cx="3896581" cy="787598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7" name="Shape 18"/>
          <p:cNvSpPr/>
          <p:nvPr/>
        </p:nvSpPr>
        <p:spPr>
          <a:xfrm>
            <a:off x="4675919" y="2887861"/>
            <a:ext cx="28575" cy="787598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8" name="Text 19"/>
          <p:cNvSpPr/>
          <p:nvPr/>
        </p:nvSpPr>
        <p:spPr>
          <a:xfrm>
            <a:off x="4854513" y="3066455"/>
            <a:ext cx="2044214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Performance Measurement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4854513" y="3332559"/>
            <a:ext cx="3539393" cy="361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Processes generate the KPIs and measures that BI monitors to drive continuous improvement.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571500" y="4600575"/>
            <a:ext cx="8001000" cy="542925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1" name="Shape 22"/>
          <p:cNvSpPr/>
          <p:nvPr/>
        </p:nvSpPr>
        <p:spPr>
          <a:xfrm>
            <a:off x="571500" y="4600575"/>
            <a:ext cx="8001000" cy="14288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32" name="Text 23"/>
          <p:cNvSpPr/>
          <p:nvPr/>
        </p:nvSpPr>
        <p:spPr>
          <a:xfrm>
            <a:off x="785813" y="4793456"/>
            <a:ext cx="7572375" cy="31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Advantage: Organizing around processes makes it easier to identify users, define requirements, and quantify tangible benefits.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BI Sponsorship: More Than Just a Signature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15318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098352"/>
            <a:ext cx="1483740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57CBFF"/>
                </a:solidFill>
              </a:rPr>
              <a:t>Key Responsibilities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98414"/>
            <a:ext cx="128588" cy="1285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07244" y="1560909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Secure Funding:</a:t>
            </a:r>
            <a:r>
              <a:rPr lang="en-US" sz="1400" dirty="0">
                <a:solidFill>
                  <a:srgbClr val="CCD6F6"/>
                </a:solidFill>
              </a:rPr>
              <a:t> Obtain and maintain the budgetary authority for the BI project.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162770"/>
            <a:ext cx="128588" cy="12858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07244" y="2125266"/>
            <a:ext cx="3550444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Commit Resources:</a:t>
            </a:r>
            <a:r>
              <a:rPr lang="en-US" sz="1400" dirty="0">
                <a:solidFill>
                  <a:srgbClr val="CCD6F6"/>
                </a:solidFill>
              </a:rPr>
              <a:t> Ensure business stakeholders and users are available to work with the BI team.</a:t>
            </a:r>
            <a:endParaRPr lang="en-US" sz="1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27127"/>
            <a:ext cx="128588" cy="12858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07244" y="2689622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Support Change:</a:t>
            </a:r>
            <a:r>
              <a:rPr lang="en-US" sz="1400" dirty="0">
                <a:solidFill>
                  <a:srgbClr val="CCD6F6"/>
                </a:solidFill>
              </a:rPr>
              <a:t> Actively lead the organizational shift toward a data-driven culture.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91483"/>
            <a:ext cx="128588" cy="12858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07244" y="3253978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Resolve Conflicts:</a:t>
            </a:r>
            <a:r>
              <a:rPr lang="en-US" sz="1400" dirty="0">
                <a:solidFill>
                  <a:srgbClr val="CCD6F6"/>
                </a:solidFill>
              </a:rPr>
              <a:t> Navigate organizational politics and resolve priority disputes.</a:t>
            </a:r>
            <a:endParaRPr lang="en-US" sz="14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1115318"/>
            <a:ext cx="175022" cy="20002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5104209" y="1098352"/>
            <a:ext cx="1504707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57CBFF"/>
                </a:solidFill>
              </a:rPr>
              <a:t>Ideal Characteristics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1598414"/>
            <a:ext cx="128588" cy="128588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5022056" y="1560909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Politically Astute:</a:t>
            </a:r>
            <a:r>
              <a:rPr lang="en-US" sz="1400" dirty="0">
                <a:solidFill>
                  <a:srgbClr val="CCD6F6"/>
                </a:solidFill>
              </a:rPr>
              <a:t> Understands organizational dynamics and can influence key decision-makers.</a:t>
            </a:r>
            <a:endParaRPr lang="en-US" sz="1400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2162770"/>
            <a:ext cx="112514" cy="128588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5005983" y="2125266"/>
            <a:ext cx="356651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Enthusiastic:</a:t>
            </a:r>
            <a:r>
              <a:rPr lang="en-US" sz="1400" dirty="0">
                <a:solidFill>
                  <a:srgbClr val="CCD6F6"/>
                </a:solidFill>
              </a:rPr>
              <a:t> Genuinely believes in the value of BI and can inspire others to join the journey.</a:t>
            </a:r>
            <a:endParaRPr lang="en-US" sz="1400" dirty="0"/>
          </a:p>
        </p:txBody>
      </p:sp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2727127"/>
            <a:ext cx="160734" cy="128588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5054203" y="2689622"/>
            <a:ext cx="351829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Realistic:</a:t>
            </a:r>
            <a:r>
              <a:rPr lang="en-US" sz="1400" dirty="0">
                <a:solidFill>
                  <a:srgbClr val="CCD6F6"/>
                </a:solidFill>
              </a:rPr>
              <a:t> Understands that setbacks occur and maintains manageable expectations.</a:t>
            </a:r>
            <a:endParaRPr lang="en-US" sz="1400" dirty="0"/>
          </a:p>
        </p:txBody>
      </p:sp>
      <p:sp>
        <p:nvSpPr>
          <p:cNvPr id="22" name="Shape 10"/>
          <p:cNvSpPr/>
          <p:nvPr/>
        </p:nvSpPr>
        <p:spPr>
          <a:xfrm>
            <a:off x="571500" y="4763095"/>
            <a:ext cx="8001000" cy="3804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Shape 11"/>
          <p:cNvSpPr/>
          <p:nvPr/>
        </p:nvSpPr>
        <p:spPr>
          <a:xfrm>
            <a:off x="571500" y="4763095"/>
            <a:ext cx="8001000" cy="7144"/>
          </a:xfrm>
          <a:prstGeom prst="rect">
            <a:avLst/>
          </a:prstGeom>
          <a:solidFill>
            <a:srgbClr val="E0FFF8"/>
          </a:solidFill>
          <a:ln/>
        </p:spPr>
      </p:sp>
      <p:sp>
        <p:nvSpPr>
          <p:cNvPr id="24" name="Text 12"/>
          <p:cNvSpPr/>
          <p:nvPr/>
        </p:nvSpPr>
        <p:spPr>
          <a:xfrm>
            <a:off x="577798" y="4948833"/>
            <a:ext cx="7988404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64FFDA"/>
                </a:solidFill>
              </a:rPr>
              <a:t>"The sponsor's role is not just to provide the money, but to ensure the long-term success of the BI program."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The Pitfalls of IT-Driven BI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4514850" cy="343793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4514850" cy="28575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343918"/>
            <a:ext cx="178594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312664"/>
            <a:ext cx="2235099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F44336"/>
                </a:solidFill>
              </a:rPr>
              <a:t>Risks of CIO-Only Sponsorship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1796653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28713" y="1760934"/>
            <a:ext cx="36718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57CBFF"/>
                </a:solidFill>
              </a:rPr>
              <a:t>Technology Perception:</a:t>
            </a:r>
            <a:r>
              <a:rPr lang="en-US" sz="1400" dirty="0">
                <a:solidFill>
                  <a:srgbClr val="CCD6F6"/>
                </a:solidFill>
              </a:rPr>
              <a:t> BI is seen as an "IT project" rather than a strategic business tool.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361009"/>
            <a:ext cx="160734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60859" y="2325291"/>
            <a:ext cx="363974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57CBFF"/>
                </a:solidFill>
              </a:rPr>
              <a:t>Weak Engagement:</a:t>
            </a:r>
            <a:r>
              <a:rPr lang="en-US" sz="1400" dirty="0">
                <a:solidFill>
                  <a:srgbClr val="CCD6F6"/>
                </a:solidFill>
              </a:rPr>
              <a:t> Lack of business commitment leads to poor requirement definition.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925366"/>
            <a:ext cx="112514" cy="128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12639" y="2889647"/>
            <a:ext cx="368796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57CBFF"/>
                </a:solidFill>
              </a:rPr>
              <a:t>Uncontrolled Scope:</a:t>
            </a:r>
            <a:r>
              <a:rPr lang="en-US" sz="1400" dirty="0">
                <a:solidFill>
                  <a:srgbClr val="CCD6F6"/>
                </a:solidFill>
              </a:rPr>
              <a:t> Without business boundaries, projects become unfocused and long.</a:t>
            </a:r>
            <a:endParaRPr lang="en-US" sz="14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3489722"/>
            <a:ext cx="128588" cy="12858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128713" y="3454003"/>
            <a:ext cx="36718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57CBFF"/>
                </a:solidFill>
              </a:rPr>
              <a:t>Low Adoption:</a:t>
            </a:r>
            <a:r>
              <a:rPr lang="en-US" sz="1400" dirty="0">
                <a:solidFill>
                  <a:srgbClr val="CCD6F6"/>
                </a:solidFill>
              </a:rPr>
              <a:t> High risk of building a solution that does not meet actual user needs.</a:t>
            </a:r>
            <a:endParaRPr lang="en-US" sz="1400" dirty="0"/>
          </a:p>
        </p:txBody>
      </p:sp>
      <p:sp>
        <p:nvSpPr>
          <p:cNvPr id="16" name="Shape 8"/>
          <p:cNvSpPr/>
          <p:nvPr/>
        </p:nvSpPr>
        <p:spPr>
          <a:xfrm>
            <a:off x="5372100" y="1026914"/>
            <a:ext cx="3200400" cy="343793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7" name="Shape 9"/>
          <p:cNvSpPr/>
          <p:nvPr/>
        </p:nvSpPr>
        <p:spPr>
          <a:xfrm>
            <a:off x="5372100" y="1026914"/>
            <a:ext cx="3200400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7850" y="1343918"/>
            <a:ext cx="178594" cy="17145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943600" y="1312664"/>
            <a:ext cx="963469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Best Practice</a:t>
            </a:r>
            <a:endParaRPr lang="en-US" sz="14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7850" y="1796653"/>
            <a:ext cx="112514" cy="12858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913239" y="1760934"/>
            <a:ext cx="237351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57CBFF"/>
                </a:solidFill>
              </a:rPr>
              <a:t>Primary Sponsor:</a:t>
            </a:r>
            <a:r>
              <a:rPr lang="en-US" sz="1400" dirty="0">
                <a:solidFill>
                  <a:srgbClr val="CCD6F6"/>
                </a:solidFill>
              </a:rPr>
              <a:t> One high-level business leader with budgetary authority.</a:t>
            </a:r>
            <a:endParaRPr lang="en-US" sz="14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57850" y="2553891"/>
            <a:ext cx="160734" cy="12858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961459" y="2518172"/>
            <a:ext cx="232529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57CBFF"/>
                </a:solidFill>
              </a:rPr>
              <a:t>Secondary Sponsors:</a:t>
            </a:r>
            <a:r>
              <a:rPr lang="en-US" sz="1400" dirty="0">
                <a:solidFill>
                  <a:srgbClr val="CCD6F6"/>
                </a:solidFill>
              </a:rPr>
              <a:t> One or two leaders representing other business areas.</a:t>
            </a:r>
            <a:endParaRPr lang="en-US" sz="14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57850" y="3311128"/>
            <a:ext cx="160734" cy="128588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961459" y="3275409"/>
            <a:ext cx="232529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57CBFF"/>
                </a:solidFill>
              </a:rPr>
              <a:t>Balanced Support:</a:t>
            </a:r>
            <a:r>
              <a:rPr lang="en-US" sz="1400" dirty="0">
                <a:solidFill>
                  <a:srgbClr val="CCD6F6"/>
                </a:solidFill>
              </a:rPr>
              <a:t> Ensures cross-functional alignment and shared ownership.</a:t>
            </a:r>
            <a:endParaRPr lang="en-US" sz="1400" dirty="0"/>
          </a:p>
        </p:txBody>
      </p:sp>
      <p:sp>
        <p:nvSpPr>
          <p:cNvPr id="26" name="Shape 14"/>
          <p:cNvSpPr/>
          <p:nvPr/>
        </p:nvSpPr>
        <p:spPr>
          <a:xfrm>
            <a:off x="571500" y="4750594"/>
            <a:ext cx="8001000" cy="392906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7" name="Shape 15"/>
          <p:cNvSpPr/>
          <p:nvPr/>
        </p:nvSpPr>
        <p:spPr>
          <a:xfrm>
            <a:off x="571500" y="4750594"/>
            <a:ext cx="42863" cy="392906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8" name="Text 16"/>
          <p:cNvSpPr/>
          <p:nvPr/>
        </p:nvSpPr>
        <p:spPr>
          <a:xfrm>
            <a:off x="2785517" y="4929188"/>
            <a:ext cx="3572966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Successful BI is business-driven, not tool-driven.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Engaging the Right Stakeholders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2524116" cy="32664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368028"/>
            <a:ext cx="357188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1880592"/>
            <a:ext cx="775790" cy="18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kern="0" spc="1" dirty="0">
                <a:solidFill>
                  <a:srgbClr val="64FFDA"/>
                </a:solidFill>
              </a:rPr>
              <a:t>Direct Users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85813" y="2237780"/>
            <a:ext cx="2095491" cy="54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Business analysts and power users who interact with data daily.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85813" y="2689231"/>
            <a:ext cx="2095491" cy="54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Information consumers who rely on dashboards for routine monitoring.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85813" y="3140683"/>
            <a:ext cx="2095491" cy="54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Staff whose workflows will be directly altered by the new BI solution.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309928" y="1026914"/>
            <a:ext cx="2524116" cy="32664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2" name="Shape 8"/>
          <p:cNvSpPr/>
          <p:nvPr/>
        </p:nvSpPr>
        <p:spPr>
          <a:xfrm>
            <a:off x="3309928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41" y="1368028"/>
            <a:ext cx="250031" cy="285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24241" y="1880592"/>
            <a:ext cx="1223668" cy="18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kern="0" spc="1" dirty="0">
                <a:solidFill>
                  <a:srgbClr val="64FFDA"/>
                </a:solidFill>
              </a:rPr>
              <a:t>Business Managers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524241" y="2237780"/>
            <a:ext cx="2095491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Decision-makers who define the KPIs and success metrics.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524241" y="2689231"/>
            <a:ext cx="2095491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Process owners who understand the operational bottlenecks.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524241" y="3140683"/>
            <a:ext cx="2095491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Leaders responsible for the strategic initiatives BI supports.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048356" y="1026914"/>
            <a:ext cx="2524116" cy="32664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9" name="Shape 14"/>
          <p:cNvSpPr/>
          <p:nvPr/>
        </p:nvSpPr>
        <p:spPr>
          <a:xfrm>
            <a:off x="6048356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69" y="1368028"/>
            <a:ext cx="285750" cy="2857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62669" y="1880592"/>
            <a:ext cx="1220334" cy="18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kern="0" spc="1" dirty="0">
                <a:solidFill>
                  <a:srgbClr val="64FFDA"/>
                </a:solidFill>
              </a:rPr>
              <a:t>Governance Teams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262669" y="2237780"/>
            <a:ext cx="2095491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Data stewards responsible for data quality and definitions.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262669" y="2689231"/>
            <a:ext cx="2095491" cy="54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IT partners managing the underlying infrastructure and security.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262669" y="3140683"/>
            <a:ext cx="2095491" cy="54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Compliance officers ensuring data usage meets regulatory standards.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71500" y="4579144"/>
            <a:ext cx="8001000" cy="564356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571500" y="4579144"/>
            <a:ext cx="42863" cy="564356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7" name="Text 21"/>
          <p:cNvSpPr/>
          <p:nvPr/>
        </p:nvSpPr>
        <p:spPr>
          <a:xfrm>
            <a:off x="857250" y="4793456"/>
            <a:ext cx="7429500" cy="31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4FFDA"/>
                </a:solidFill>
              </a:rPr>
              <a:t>Strategic Goal:</a:t>
            </a:r>
            <a:r>
              <a:rPr lang="en-US" sz="1200" b="1" dirty="0">
                <a:solidFill>
                  <a:srgbClr val="CCD6F6"/>
                </a:solidFill>
              </a:rPr>
              <a:t> Broad stakeholder involvement enables more detailed input, identifies hidden risks early, and builds a sense of </a:t>
            </a:r>
            <a:r>
              <a:rPr lang="en-US" sz="1200" b="1" dirty="0">
                <a:solidFill>
                  <a:srgbClr val="64FFDA"/>
                </a:solidFill>
              </a:rPr>
              <a:t>organizational ownership</a:t>
            </a:r>
            <a:r>
              <a:rPr lang="en-US" sz="1200" b="1" dirty="0">
                <a:solidFill>
                  <a:srgbClr val="CCD6F6"/>
                </a:solidFill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The "Power User" Trap: Why Narrow Engagement Fails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98352"/>
            <a:ext cx="2524116" cy="32307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98352"/>
            <a:ext cx="2524116" cy="28575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439466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1952030"/>
            <a:ext cx="1082219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CCD6F6"/>
                </a:solidFill>
              </a:rPr>
              <a:t>Filtered Needs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85813" y="2309217"/>
            <a:ext cx="2095491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8892B0"/>
                </a:solidFill>
              </a:rPr>
              <a:t>Power users often act as gatekeepers, deciding what they *think* others need to see.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85813" y="2964963"/>
            <a:ext cx="2095491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8892B0"/>
                </a:solidFill>
              </a:rPr>
              <a:t>This results in requirements that miss the actual day-to-day pain points of average business users.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309928" y="1098352"/>
            <a:ext cx="2524116" cy="32307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1" name="Shape 7"/>
          <p:cNvSpPr/>
          <p:nvPr/>
        </p:nvSpPr>
        <p:spPr>
          <a:xfrm>
            <a:off x="3309928" y="1098352"/>
            <a:ext cx="2524116" cy="28575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41" y="1439466"/>
            <a:ext cx="285750" cy="285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24241" y="1952030"/>
            <a:ext cx="1451423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CCD6F6"/>
                </a:solidFill>
              </a:rPr>
              <a:t>Not Representative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524241" y="2309217"/>
            <a:ext cx="2095491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8892B0"/>
                </a:solidFill>
              </a:rPr>
              <a:t>Power users are data-savvy and tool-literate. Their skills do not reflect the broader organization.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524241" y="2964963"/>
            <a:ext cx="2095491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8892B0"/>
                </a:solidFill>
              </a:rPr>
              <a:t>Building for experts leads to complex solutions that alienate the majority of the workforce.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048356" y="1098352"/>
            <a:ext cx="2524116" cy="32307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7" name="Shape 12"/>
          <p:cNvSpPr/>
          <p:nvPr/>
        </p:nvSpPr>
        <p:spPr>
          <a:xfrm>
            <a:off x="6048356" y="1098352"/>
            <a:ext cx="2524116" cy="28575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69" y="1439466"/>
            <a:ext cx="321469" cy="2857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62669" y="1952030"/>
            <a:ext cx="1371145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CCD6F6"/>
                </a:solidFill>
              </a:rPr>
              <a:t>Hidden Resistance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262669" y="2309217"/>
            <a:ext cx="2095491" cy="718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8892B0"/>
                </a:solidFill>
              </a:rPr>
              <a:t>Power users often own the existing "spreadmarts." They may perceive a new BI system as a threat to their "guru" status.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262669" y="3147826"/>
            <a:ext cx="2095491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8892B0"/>
                </a:solidFill>
              </a:rPr>
              <a:t>This can lead to subtle sabotage or a refusal to migrate from legacy spreadsheets.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71500" y="4614863"/>
            <a:ext cx="8001000" cy="528638"/>
          </a:xfrm>
          <a:prstGeom prst="rect">
            <a:avLst/>
          </a:prstGeom>
          <a:solidFill>
            <a:srgbClr val="F44336">
              <a:alpha val="10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571500" y="4614863"/>
            <a:ext cx="42863" cy="528638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24" name="Text 18"/>
          <p:cNvSpPr/>
          <p:nvPr/>
        </p:nvSpPr>
        <p:spPr>
          <a:xfrm>
            <a:off x="857250" y="4793456"/>
            <a:ext cx="7429500" cy="31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F44336"/>
                </a:solidFill>
              </a:rPr>
              <a:t>Critical Success Factor:</a:t>
            </a:r>
            <a:r>
              <a:rPr lang="en-US" sz="1400" b="1" dirty="0">
                <a:solidFill>
                  <a:srgbClr val="CCD6F6"/>
                </a:solidFill>
              </a:rPr>
              <a:t> You must engage a diverse cross-section of stakeholders—not just the experts—to ensure broad adoption and enterprise-wide value.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Formalizing the Value Proposition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3857625" cy="343793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3857625" cy="28575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343918"/>
            <a:ext cx="178594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312664"/>
            <a:ext cx="1684372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F44336"/>
                </a:solidFill>
              </a:rPr>
              <a:t>The Dangers of Silence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1796653"/>
            <a:ext cx="160734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0859" y="1760934"/>
            <a:ext cx="2982516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Overblown Expectations:</a:t>
            </a:r>
            <a:r>
              <a:rPr lang="en-US" sz="1400" dirty="0">
                <a:solidFill>
                  <a:srgbClr val="CCD6F6"/>
                </a:solidFill>
              </a:rPr>
              <a:t> Without documentation, users imagine an "information nirvana" that cannot be met.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553891"/>
            <a:ext cx="144661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44786" y="2518172"/>
            <a:ext cx="299858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Underfunding:</a:t>
            </a:r>
            <a:r>
              <a:rPr lang="en-US" sz="1400" dirty="0">
                <a:solidFill>
                  <a:srgbClr val="CCD6F6"/>
                </a:solidFill>
              </a:rPr>
              <a:t> BI appears as expensive overhead rather than a strategic enabler.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118247"/>
            <a:ext cx="144661" cy="128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44786" y="3082528"/>
            <a:ext cx="2998589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Shadow Expansion:</a:t>
            </a:r>
            <a:r>
              <a:rPr lang="en-US" sz="1400" dirty="0">
                <a:solidFill>
                  <a:srgbClr val="CCD6F6"/>
                </a:solidFill>
              </a:rPr>
              <a:t> Frustrated users continue to build and rely on inconsistent spreadmarts.</a:t>
            </a:r>
            <a:endParaRPr lang="en-US" sz="1400" dirty="0"/>
          </a:p>
        </p:txBody>
      </p:sp>
      <p:sp>
        <p:nvSpPr>
          <p:cNvPr id="14" name="Shape 7"/>
          <p:cNvSpPr/>
          <p:nvPr/>
        </p:nvSpPr>
        <p:spPr>
          <a:xfrm>
            <a:off x="4714875" y="1026914"/>
            <a:ext cx="3857625" cy="343793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5" name="Shape 8"/>
          <p:cNvSpPr/>
          <p:nvPr/>
        </p:nvSpPr>
        <p:spPr>
          <a:xfrm>
            <a:off x="4714875" y="1026914"/>
            <a:ext cx="3857625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1343918"/>
            <a:ext cx="178594" cy="1714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286375" y="1312664"/>
            <a:ext cx="2055178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57CBFF"/>
                </a:solidFill>
              </a:rPr>
              <a:t>The Power of Formalization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625" y="1796653"/>
            <a:ext cx="128588" cy="12858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272088" y="1760934"/>
            <a:ext cx="3014663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Managed Expectations:</a:t>
            </a:r>
            <a:r>
              <a:rPr lang="en-US" sz="1400" dirty="0">
                <a:solidFill>
                  <a:srgbClr val="CCD6F6"/>
                </a:solidFill>
              </a:rPr>
              <a:t> Clearly defines what will be delivered and when, reducing project risk.</a:t>
            </a:r>
            <a:endParaRPr lang="en-US" sz="14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0625" y="2361009"/>
            <a:ext cx="128588" cy="12858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272088" y="2325291"/>
            <a:ext cx="3014663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Secured Funding:</a:t>
            </a:r>
            <a:r>
              <a:rPr lang="en-US" sz="1400" dirty="0">
                <a:solidFill>
                  <a:srgbClr val="CCD6F6"/>
                </a:solidFill>
              </a:rPr>
              <a:t> Provides a solid business case for initial and ongoing investment.</a:t>
            </a:r>
            <a:endParaRPr lang="en-US" sz="14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0625" y="2925366"/>
            <a:ext cx="160734" cy="12858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304234" y="2889647"/>
            <a:ext cx="2982516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Governance Support:</a:t>
            </a:r>
            <a:r>
              <a:rPr lang="en-US" sz="1400" dirty="0">
                <a:solidFill>
                  <a:srgbClr val="CCD6F6"/>
                </a:solidFill>
              </a:rPr>
              <a:t> Gives stakeholders a reason to care about data quality and standards.</a:t>
            </a:r>
            <a:endParaRPr lang="en-US" sz="1400" dirty="0"/>
          </a:p>
        </p:txBody>
      </p:sp>
      <p:sp>
        <p:nvSpPr>
          <p:cNvPr id="24" name="Shape 13"/>
          <p:cNvSpPr/>
          <p:nvPr/>
        </p:nvSpPr>
        <p:spPr>
          <a:xfrm>
            <a:off x="571500" y="4750594"/>
            <a:ext cx="8001000" cy="392906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5" name="Shape 14"/>
          <p:cNvSpPr/>
          <p:nvPr/>
        </p:nvSpPr>
        <p:spPr>
          <a:xfrm>
            <a:off x="571500" y="4750594"/>
            <a:ext cx="42863" cy="392906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6" name="Text 15"/>
          <p:cNvSpPr/>
          <p:nvPr/>
        </p:nvSpPr>
        <p:spPr>
          <a:xfrm>
            <a:off x="1909861" y="4929188"/>
            <a:ext cx="5324278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BI must be positioned as a business enabler, not just a report generator.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Quantifying Success: Tangible vs. Intangible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3857625" cy="3457575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3857625" cy="28575"/>
          </a:xfrm>
          <a:prstGeom prst="rect">
            <a:avLst/>
          </a:prstGeom>
          <a:solidFill>
            <a:srgbClr val="8892B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343918"/>
            <a:ext cx="135731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0138" y="1312664"/>
            <a:ext cx="1406667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8892B0"/>
                </a:solidFill>
              </a:rPr>
              <a:t>Intangible Benefits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1796653"/>
            <a:ext cx="114300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78706" y="1760934"/>
            <a:ext cx="1551835" cy="18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"Better decision making"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132409"/>
            <a:ext cx="114300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78706" y="2096691"/>
            <a:ext cx="1627753" cy="18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"One version of the truth"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468166"/>
            <a:ext cx="114300" cy="1143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78706" y="2432447"/>
            <a:ext cx="2041393" cy="18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"Improved organizational agility"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857250" y="2768203"/>
            <a:ext cx="3286125" cy="358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i="1" dirty="0">
                <a:solidFill>
                  <a:srgbClr val="8892B0"/>
                </a:solidFill>
              </a:rPr>
              <a:t>*Avoid using these as the sole basis for justification; they are highly subjective and difficult to substantiate.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4714875" y="1026914"/>
            <a:ext cx="3857625" cy="3457575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6" name="Shape 9"/>
          <p:cNvSpPr/>
          <p:nvPr/>
        </p:nvSpPr>
        <p:spPr>
          <a:xfrm>
            <a:off x="4714875" y="1026914"/>
            <a:ext cx="3857625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1343918"/>
            <a:ext cx="178594" cy="1714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286375" y="1312664"/>
            <a:ext cx="1287788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Tangible Benefits</a:t>
            </a:r>
            <a:endParaRPr lang="en-US" sz="14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1796653"/>
            <a:ext cx="114300" cy="1143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222081" y="1760934"/>
            <a:ext cx="30646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57CBFF"/>
                </a:solidFill>
              </a:rPr>
              <a:t>Revenue Optimization:</a:t>
            </a:r>
            <a:r>
              <a:rPr lang="en-US" sz="1200" dirty="0">
                <a:solidFill>
                  <a:srgbClr val="CCD6F6"/>
                </a:solidFill>
              </a:rPr>
              <a:t> Direct impact on sales and profit margins.</a:t>
            </a:r>
            <a:endParaRPr lang="en-US" sz="12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2325291"/>
            <a:ext cx="114300" cy="1143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222081" y="2289572"/>
            <a:ext cx="30646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57CBFF"/>
                </a:solidFill>
              </a:rPr>
              <a:t>Cost &amp; Risk Reduction:</a:t>
            </a:r>
            <a:r>
              <a:rPr lang="en-US" sz="1200" dirty="0">
                <a:solidFill>
                  <a:srgbClr val="CCD6F6"/>
                </a:solidFill>
              </a:rPr>
              <a:t> Measurable savings in operations and risk mitigation.</a:t>
            </a:r>
            <a:endParaRPr lang="en-US" sz="12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625" y="2853928"/>
            <a:ext cx="142875" cy="1143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250656" y="2818209"/>
            <a:ext cx="30360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57CBFF"/>
                </a:solidFill>
              </a:rPr>
              <a:t>Regulatory Compliance:</a:t>
            </a:r>
            <a:r>
              <a:rPr lang="en-US" sz="1200" dirty="0">
                <a:solidFill>
                  <a:srgbClr val="CCD6F6"/>
                </a:solidFill>
              </a:rPr>
              <a:t> Avoiding fines and meeting legal requirements.</a:t>
            </a:r>
            <a:endParaRPr lang="en-US" sz="12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0625" y="3382566"/>
            <a:ext cx="114300" cy="11430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222081" y="3346847"/>
            <a:ext cx="30646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57CBFF"/>
                </a:solidFill>
              </a:rPr>
              <a:t>Market Expansion:</a:t>
            </a:r>
            <a:r>
              <a:rPr lang="en-US" sz="1200" dirty="0">
                <a:solidFill>
                  <a:srgbClr val="CCD6F6"/>
                </a:solidFill>
              </a:rPr>
              <a:t> Quantifiable growth in new products or regions.</a:t>
            </a:r>
            <a:endParaRPr lang="en-US" sz="1200" dirty="0"/>
          </a:p>
        </p:txBody>
      </p:sp>
      <p:sp>
        <p:nvSpPr>
          <p:cNvPr id="27" name="Shape 15"/>
          <p:cNvSpPr/>
          <p:nvPr/>
        </p:nvSpPr>
        <p:spPr>
          <a:xfrm>
            <a:off x="571500" y="4770239"/>
            <a:ext cx="8001000" cy="373261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8" name="Shape 16"/>
          <p:cNvSpPr/>
          <p:nvPr/>
        </p:nvSpPr>
        <p:spPr>
          <a:xfrm>
            <a:off x="571500" y="4770239"/>
            <a:ext cx="42863" cy="373261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9" name="Text 17"/>
          <p:cNvSpPr/>
          <p:nvPr/>
        </p:nvSpPr>
        <p:spPr>
          <a:xfrm>
            <a:off x="1704676" y="4948833"/>
            <a:ext cx="5734647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64FFDA"/>
                </a:solidFill>
              </a:rPr>
              <a:t>Strategy: Link BI to the tangible benefits of the pre-funded business initiatives it supports.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The Technical Case: Tools, Architecture, and Skills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2524116" cy="32664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2524116" cy="28575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368028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1880592"/>
            <a:ext cx="20954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64FFDA"/>
                </a:solidFill>
              </a:rPr>
              <a:t>Technology &amp; Tools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785813" y="2237780"/>
            <a:ext cx="209549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D6F6"/>
                </a:solidFill>
              </a:rPr>
              <a:t>Identify required categories (DI, DW, BI, Infrastructure).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785813" y="2689231"/>
            <a:ext cx="209549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D6F6"/>
                </a:solidFill>
              </a:rPr>
              <a:t>Develop product shortlists and conduct rigorous evaluations.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785813" y="3140683"/>
            <a:ext cx="209549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D6F6"/>
                </a:solidFill>
              </a:rPr>
              <a:t>Establish high-level cost estimates for licensing and maintenance.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3309928" y="1026914"/>
            <a:ext cx="2524116" cy="32664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2" name="Shape 8"/>
          <p:cNvSpPr/>
          <p:nvPr/>
        </p:nvSpPr>
        <p:spPr>
          <a:xfrm>
            <a:off x="3309928" y="1026914"/>
            <a:ext cx="2524116" cy="28575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41" y="1368028"/>
            <a:ext cx="357188" cy="285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24241" y="1880592"/>
            <a:ext cx="20954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64FFDA"/>
                </a:solidFill>
              </a:rPr>
              <a:t>Architecture</a:t>
            </a:r>
            <a:endParaRPr lang="en-US" sz="1090" dirty="0"/>
          </a:p>
        </p:txBody>
      </p:sp>
      <p:sp>
        <p:nvSpPr>
          <p:cNvPr id="15" name="Text 10"/>
          <p:cNvSpPr/>
          <p:nvPr/>
        </p:nvSpPr>
        <p:spPr>
          <a:xfrm>
            <a:off x="3524241" y="2237780"/>
            <a:ext cx="209549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D6F6"/>
                </a:solidFill>
              </a:rPr>
              <a:t>Define new frameworks for data integration and storage.</a:t>
            </a:r>
            <a:endParaRPr lang="en-US" sz="834" dirty="0"/>
          </a:p>
        </p:txBody>
      </p:sp>
      <p:sp>
        <p:nvSpPr>
          <p:cNvPr id="16" name="Text 11"/>
          <p:cNvSpPr/>
          <p:nvPr/>
        </p:nvSpPr>
        <p:spPr>
          <a:xfrm>
            <a:off x="3524241" y="2689231"/>
            <a:ext cx="209549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D6F6"/>
                </a:solidFill>
              </a:rPr>
              <a:t>Ensure scalability and performance for analytical workloads.</a:t>
            </a:r>
            <a:endParaRPr lang="en-US" sz="834" dirty="0"/>
          </a:p>
        </p:txBody>
      </p:sp>
      <p:sp>
        <p:nvSpPr>
          <p:cNvPr id="17" name="Text 12"/>
          <p:cNvSpPr/>
          <p:nvPr/>
        </p:nvSpPr>
        <p:spPr>
          <a:xfrm>
            <a:off x="3524241" y="3140683"/>
            <a:ext cx="209549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D6F6"/>
                </a:solidFill>
              </a:rPr>
              <a:t>Establish standards for data delivery and user access.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6048356" y="1026914"/>
            <a:ext cx="2524116" cy="32664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9" name="Shape 14"/>
          <p:cNvSpPr/>
          <p:nvPr/>
        </p:nvSpPr>
        <p:spPr>
          <a:xfrm>
            <a:off x="6048356" y="1026914"/>
            <a:ext cx="2524116" cy="28575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69" y="1368028"/>
            <a:ext cx="357188" cy="2857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62669" y="1880592"/>
            <a:ext cx="20954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64FFDA"/>
                </a:solidFill>
              </a:rPr>
              <a:t>Skills &amp; Resources</a:t>
            </a:r>
            <a:endParaRPr lang="en-US" sz="1090" dirty="0"/>
          </a:p>
        </p:txBody>
      </p:sp>
      <p:sp>
        <p:nvSpPr>
          <p:cNvPr id="22" name="Text 16"/>
          <p:cNvSpPr/>
          <p:nvPr/>
        </p:nvSpPr>
        <p:spPr>
          <a:xfrm>
            <a:off x="6262669" y="2237780"/>
            <a:ext cx="209549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D6F6"/>
                </a:solidFill>
              </a:rPr>
              <a:t>Identify gaps in existing technical expertise.</a:t>
            </a:r>
            <a:endParaRPr lang="en-US" sz="834" dirty="0"/>
          </a:p>
        </p:txBody>
      </p:sp>
      <p:sp>
        <p:nvSpPr>
          <p:cNvPr id="23" name="Text 17"/>
          <p:cNvSpPr/>
          <p:nvPr/>
        </p:nvSpPr>
        <p:spPr>
          <a:xfrm>
            <a:off x="6262669" y="2689231"/>
            <a:ext cx="209549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D6F6"/>
                </a:solidFill>
              </a:rPr>
              <a:t>Plan for training, staff augmentation, or consulting support.</a:t>
            </a:r>
            <a:endParaRPr lang="en-US" sz="834" dirty="0"/>
          </a:p>
        </p:txBody>
      </p:sp>
      <p:sp>
        <p:nvSpPr>
          <p:cNvPr id="24" name="Text 18"/>
          <p:cNvSpPr/>
          <p:nvPr/>
        </p:nvSpPr>
        <p:spPr>
          <a:xfrm>
            <a:off x="6262669" y="3140683"/>
            <a:ext cx="209549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D6F6"/>
                </a:solidFill>
              </a:rPr>
              <a:t>Define roles for ongoing maintenance and program growth.</a:t>
            </a:r>
            <a:endParaRPr lang="en-US" sz="834" dirty="0"/>
          </a:p>
        </p:txBody>
      </p:sp>
      <p:sp>
        <p:nvSpPr>
          <p:cNvPr id="25" name="Shape 19"/>
          <p:cNvSpPr/>
          <p:nvPr/>
        </p:nvSpPr>
        <p:spPr>
          <a:xfrm>
            <a:off x="571500" y="4579144"/>
            <a:ext cx="8001000" cy="564356"/>
          </a:xfrm>
          <a:prstGeom prst="rect">
            <a:avLst/>
          </a:prstGeom>
          <a:solidFill>
            <a:srgbClr val="57CBFF">
              <a:alpha val="5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571500" y="4579144"/>
            <a:ext cx="42863" cy="564356"/>
          </a:xfrm>
          <a:prstGeom prst="rect">
            <a:avLst/>
          </a:prstGeom>
          <a:solidFill>
            <a:srgbClr val="57CBFF"/>
          </a:solidFill>
          <a:ln/>
        </p:spPr>
      </p:sp>
      <p:sp>
        <p:nvSpPr>
          <p:cNvPr id="27" name="Text 21"/>
          <p:cNvSpPr/>
          <p:nvPr/>
        </p:nvSpPr>
        <p:spPr>
          <a:xfrm>
            <a:off x="857250" y="4793456"/>
            <a:ext cx="742950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7CBFF"/>
                </a:solidFill>
              </a:rPr>
              <a:t>Technical Goal:</a:t>
            </a:r>
            <a:r>
              <a:rPr lang="en-US" sz="885" b="1" dirty="0">
                <a:solidFill>
                  <a:srgbClr val="CCD6F6"/>
                </a:solidFill>
              </a:rPr>
              <a:t> Prove that the proposed solution is </a:t>
            </a:r>
            <a:r>
              <a:rPr lang="en-US" sz="885" b="1" dirty="0">
                <a:solidFill>
                  <a:srgbClr val="57CBFF"/>
                </a:solidFill>
              </a:rPr>
              <a:t>technically sound, scalable, and cost-effective</a:t>
            </a:r>
            <a:r>
              <a:rPr lang="en-US" sz="885" b="1" dirty="0">
                <a:solidFill>
                  <a:srgbClr val="CCD6F6"/>
                </a:solidFill>
              </a:rPr>
              <a:t> compared to current alternatives.</a:t>
            </a:r>
            <a:endParaRPr lang="en-US" sz="88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A Rigorous Approach to Tool Selection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4206887" cy="428625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28575" cy="42862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207294"/>
            <a:ext cx="2143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01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1071563" y="1207294"/>
            <a:ext cx="13510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CD6F6"/>
                </a:solidFill>
              </a:rPr>
              <a:t>Gather Requirements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571500" y="1562695"/>
            <a:ext cx="4206887" cy="428625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1562695"/>
            <a:ext cx="28575" cy="42862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1743075"/>
            <a:ext cx="2143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02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1071563" y="1743075"/>
            <a:ext cx="14318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CD6F6"/>
                </a:solidFill>
              </a:rPr>
              <a:t>Define Success Criteria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571500" y="2098477"/>
            <a:ext cx="4206887" cy="428625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2098477"/>
            <a:ext cx="28575" cy="42862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4" name="Text 11"/>
          <p:cNvSpPr/>
          <p:nvPr/>
        </p:nvSpPr>
        <p:spPr>
          <a:xfrm>
            <a:off x="714375" y="2278856"/>
            <a:ext cx="2143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03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1071563" y="2278856"/>
            <a:ext cx="21431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CD6F6"/>
                </a:solidFill>
              </a:rPr>
              <a:t>Shortlist Products (2-3 candidates)</a:t>
            </a:r>
            <a:endParaRPr lang="en-US" sz="885" dirty="0"/>
          </a:p>
        </p:txBody>
      </p:sp>
      <p:sp>
        <p:nvSpPr>
          <p:cNvPr id="16" name="Shape 13"/>
          <p:cNvSpPr/>
          <p:nvPr/>
        </p:nvSpPr>
        <p:spPr>
          <a:xfrm>
            <a:off x="571500" y="2634258"/>
            <a:ext cx="4206887" cy="428625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7" name="Shape 14"/>
          <p:cNvSpPr/>
          <p:nvPr/>
        </p:nvSpPr>
        <p:spPr>
          <a:xfrm>
            <a:off x="571500" y="2634258"/>
            <a:ext cx="28575" cy="42862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8" name="Text 15"/>
          <p:cNvSpPr/>
          <p:nvPr/>
        </p:nvSpPr>
        <p:spPr>
          <a:xfrm>
            <a:off x="714375" y="2814638"/>
            <a:ext cx="2143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04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1071563" y="2814638"/>
            <a:ext cx="196084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CD6F6"/>
                </a:solidFill>
              </a:rPr>
              <a:t>Conduct Proof of Concept (PoC)</a:t>
            </a:r>
            <a:endParaRPr lang="en-US" sz="885" dirty="0"/>
          </a:p>
        </p:txBody>
      </p:sp>
      <p:sp>
        <p:nvSpPr>
          <p:cNvPr id="20" name="Shape 17"/>
          <p:cNvSpPr/>
          <p:nvPr/>
        </p:nvSpPr>
        <p:spPr>
          <a:xfrm>
            <a:off x="571500" y="3170039"/>
            <a:ext cx="4206887" cy="428625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1" name="Shape 18"/>
          <p:cNvSpPr/>
          <p:nvPr/>
        </p:nvSpPr>
        <p:spPr>
          <a:xfrm>
            <a:off x="571500" y="3170039"/>
            <a:ext cx="28575" cy="42862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2" name="Text 19"/>
          <p:cNvSpPr/>
          <p:nvPr/>
        </p:nvSpPr>
        <p:spPr>
          <a:xfrm>
            <a:off x="714375" y="3350419"/>
            <a:ext cx="2143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05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1071563" y="3350419"/>
            <a:ext cx="17017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CD6F6"/>
                </a:solidFill>
              </a:rPr>
              <a:t>Score and Rank Candidates</a:t>
            </a:r>
            <a:endParaRPr lang="en-US" sz="885" dirty="0"/>
          </a:p>
        </p:txBody>
      </p:sp>
      <p:sp>
        <p:nvSpPr>
          <p:cNvPr id="24" name="Shape 21"/>
          <p:cNvSpPr/>
          <p:nvPr/>
        </p:nvSpPr>
        <p:spPr>
          <a:xfrm>
            <a:off x="571500" y="3705820"/>
            <a:ext cx="4206887" cy="428625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5" name="Shape 22"/>
          <p:cNvSpPr/>
          <p:nvPr/>
        </p:nvSpPr>
        <p:spPr>
          <a:xfrm>
            <a:off x="571500" y="3705820"/>
            <a:ext cx="28575" cy="42862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6" name="Text 23"/>
          <p:cNvSpPr/>
          <p:nvPr/>
        </p:nvSpPr>
        <p:spPr>
          <a:xfrm>
            <a:off x="714375" y="3886200"/>
            <a:ext cx="2143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06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1071563" y="3886200"/>
            <a:ext cx="92185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CD6F6"/>
                </a:solidFill>
              </a:rPr>
              <a:t>Select Vendors</a:t>
            </a:r>
            <a:endParaRPr lang="en-US" sz="885" dirty="0"/>
          </a:p>
        </p:txBody>
      </p:sp>
      <p:sp>
        <p:nvSpPr>
          <p:cNvPr id="28" name="Shape 25"/>
          <p:cNvSpPr/>
          <p:nvPr/>
        </p:nvSpPr>
        <p:spPr>
          <a:xfrm>
            <a:off x="571500" y="4241602"/>
            <a:ext cx="4206887" cy="428625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9" name="Shape 26"/>
          <p:cNvSpPr/>
          <p:nvPr/>
        </p:nvSpPr>
        <p:spPr>
          <a:xfrm>
            <a:off x="571500" y="4241602"/>
            <a:ext cx="28575" cy="42862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30" name="Text 27"/>
          <p:cNvSpPr/>
          <p:nvPr/>
        </p:nvSpPr>
        <p:spPr>
          <a:xfrm>
            <a:off x="714375" y="4421981"/>
            <a:ext cx="2143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07</a:t>
            </a:r>
            <a:endParaRPr lang="en-US" sz="885" dirty="0"/>
          </a:p>
        </p:txBody>
      </p:sp>
      <p:sp>
        <p:nvSpPr>
          <p:cNvPr id="31" name="Text 28"/>
          <p:cNvSpPr/>
          <p:nvPr/>
        </p:nvSpPr>
        <p:spPr>
          <a:xfrm>
            <a:off x="1071563" y="4421981"/>
            <a:ext cx="10985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CD6F6"/>
                </a:solidFill>
              </a:rPr>
              <a:t>Negotiate Pricing</a:t>
            </a:r>
            <a:endParaRPr lang="en-US" sz="885" dirty="0"/>
          </a:p>
        </p:txBody>
      </p:sp>
      <p:sp>
        <p:nvSpPr>
          <p:cNvPr id="32" name="Shape 29"/>
          <p:cNvSpPr/>
          <p:nvPr/>
        </p:nvSpPr>
        <p:spPr>
          <a:xfrm>
            <a:off x="5207012" y="1026914"/>
            <a:ext cx="3365488" cy="1098659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5207012" y="1026914"/>
            <a:ext cx="3365488" cy="14288"/>
          </a:xfrm>
          <a:prstGeom prst="rect">
            <a:avLst/>
          </a:prstGeom>
          <a:solidFill>
            <a:srgbClr val="57CBFF"/>
          </a:solidFill>
          <a:ln/>
        </p:spPr>
      </p:sp>
      <p:sp>
        <p:nvSpPr>
          <p:cNvPr id="34" name="Text 31"/>
          <p:cNvSpPr/>
          <p:nvPr/>
        </p:nvSpPr>
        <p:spPr>
          <a:xfrm>
            <a:off x="5421325" y="1241227"/>
            <a:ext cx="29368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57CBFF"/>
                </a:solidFill>
              </a:rPr>
              <a:t>The PoC Phase</a:t>
            </a:r>
            <a:endParaRPr lang="en-US" sz="1090" dirty="0"/>
          </a:p>
        </p:txBody>
      </p:sp>
      <p:sp>
        <p:nvSpPr>
          <p:cNvPr id="35" name="Text 32"/>
          <p:cNvSpPr/>
          <p:nvPr/>
        </p:nvSpPr>
        <p:spPr>
          <a:xfrm>
            <a:off x="5421325" y="1562695"/>
            <a:ext cx="293686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Testing with real organizational data and actual business users is the only way to validate vendor claims and ensure usability.</a:t>
            </a:r>
            <a:endParaRPr lang="en-US" sz="834" dirty="0"/>
          </a:p>
        </p:txBody>
      </p:sp>
      <p:sp>
        <p:nvSpPr>
          <p:cNvPr id="36" name="Shape 33"/>
          <p:cNvSpPr/>
          <p:nvPr/>
        </p:nvSpPr>
        <p:spPr>
          <a:xfrm>
            <a:off x="5207012" y="2325598"/>
            <a:ext cx="3365488" cy="1098659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5207012" y="2325598"/>
            <a:ext cx="3365488" cy="14288"/>
          </a:xfrm>
          <a:prstGeom prst="rect">
            <a:avLst/>
          </a:prstGeom>
          <a:solidFill>
            <a:srgbClr val="57CBFF"/>
          </a:solidFill>
          <a:ln/>
        </p:spPr>
      </p:sp>
      <p:sp>
        <p:nvSpPr>
          <p:cNvPr id="38" name="Text 35"/>
          <p:cNvSpPr/>
          <p:nvPr/>
        </p:nvSpPr>
        <p:spPr>
          <a:xfrm>
            <a:off x="5421325" y="2539910"/>
            <a:ext cx="29368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57CBFF"/>
                </a:solidFill>
              </a:rPr>
              <a:t>Objective Ranking</a:t>
            </a:r>
            <a:endParaRPr lang="en-US" sz="1090" dirty="0"/>
          </a:p>
        </p:txBody>
      </p:sp>
      <p:sp>
        <p:nvSpPr>
          <p:cNvPr id="39" name="Text 36"/>
          <p:cNvSpPr/>
          <p:nvPr/>
        </p:nvSpPr>
        <p:spPr>
          <a:xfrm>
            <a:off x="5421325" y="2861379"/>
            <a:ext cx="293686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Use a weighted scoring matrix to rank products against your predefined success criteria, removing emotional bias from the decision.</a:t>
            </a:r>
            <a:endParaRPr lang="en-US" sz="834" dirty="0"/>
          </a:p>
        </p:txBody>
      </p:sp>
      <p:sp>
        <p:nvSpPr>
          <p:cNvPr id="40" name="Shape 37"/>
          <p:cNvSpPr/>
          <p:nvPr/>
        </p:nvSpPr>
        <p:spPr>
          <a:xfrm>
            <a:off x="5207012" y="4636294"/>
            <a:ext cx="3365488" cy="507206"/>
          </a:xfrm>
          <a:prstGeom prst="rect">
            <a:avLst/>
          </a:prstGeom>
          <a:solidFill>
            <a:srgbClr val="112240"/>
          </a:solidFill>
          <a:ln w="9144">
            <a:solidFill>
              <a:srgbClr val="64FFD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49887" y="4793456"/>
            <a:ext cx="307973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Critical: Involve both business and IT users throughout the entire evaluation process.</a:t>
            </a:r>
            <a:endParaRPr lang="en-US" sz="88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Competing with the Status Quo: "Good Enough" Alternatives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3893344" cy="1415355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3893344" cy="21431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262658"/>
            <a:ext cx="128588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1556" y="1241227"/>
            <a:ext cx="221908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57CBFF"/>
                </a:solidFill>
              </a:rPr>
              <a:t>Operational Reporting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785813" y="1562695"/>
            <a:ext cx="346471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D6F6"/>
                </a:solidFill>
              </a:rPr>
              <a:t>Bundled with existing ERP/CRM systems. </a:t>
            </a:r>
            <a:r>
              <a:rPr lang="en-US" sz="784" b="1" dirty="0">
                <a:solidFill>
                  <a:srgbClr val="64FFDA"/>
                </a:solidFill>
              </a:rPr>
              <a:t>Pros:</a:t>
            </a:r>
            <a:r>
              <a:rPr lang="en-US" sz="834" dirty="0">
                <a:solidFill>
                  <a:srgbClr val="CCD6F6"/>
                </a:solidFill>
              </a:rPr>
              <a:t> Inexpensive and fast to deploy. </a:t>
            </a:r>
            <a:r>
              <a:rPr lang="en-US" sz="784" b="1" dirty="0">
                <a:solidFill>
                  <a:srgbClr val="64FFDA"/>
                </a:solidFill>
              </a:rPr>
              <a:t>Cons:</a:t>
            </a:r>
            <a:r>
              <a:rPr lang="en-US" sz="834" dirty="0">
                <a:solidFill>
                  <a:srgbClr val="CCD6F6"/>
                </a:solidFill>
              </a:rPr>
              <a:t> Limited cross-functional visibility and historical depth.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4679156" y="1026914"/>
            <a:ext cx="3893344" cy="1415355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0" name="Shape 6"/>
          <p:cNvSpPr/>
          <p:nvPr/>
        </p:nvSpPr>
        <p:spPr>
          <a:xfrm>
            <a:off x="4679156" y="1026914"/>
            <a:ext cx="3893344" cy="21431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262658"/>
            <a:ext cx="128588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29213" y="1241227"/>
            <a:ext cx="12479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57CBFF"/>
                </a:solidFill>
              </a:rPr>
              <a:t>Spreadsheets</a:t>
            </a:r>
            <a:endParaRPr lang="en-US" sz="1090" dirty="0"/>
          </a:p>
        </p:txBody>
      </p:sp>
      <p:sp>
        <p:nvSpPr>
          <p:cNvPr id="13" name="Text 8"/>
          <p:cNvSpPr/>
          <p:nvPr/>
        </p:nvSpPr>
        <p:spPr>
          <a:xfrm>
            <a:off x="4893469" y="1562695"/>
            <a:ext cx="346471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D6F6"/>
                </a:solidFill>
              </a:rPr>
              <a:t>The default tool for most users. </a:t>
            </a:r>
            <a:r>
              <a:rPr lang="en-US" sz="784" b="1" dirty="0">
                <a:solidFill>
                  <a:srgbClr val="64FFDA"/>
                </a:solidFill>
              </a:rPr>
              <a:t>Pros:</a:t>
            </a:r>
            <a:r>
              <a:rPr lang="en-US" sz="834" dirty="0">
                <a:solidFill>
                  <a:srgbClr val="CCD6F6"/>
                </a:solidFill>
              </a:rPr>
              <a:t> High flexibility and zero learning curve. </a:t>
            </a:r>
            <a:r>
              <a:rPr lang="en-US" sz="784" b="1" dirty="0">
                <a:solidFill>
                  <a:srgbClr val="64FFDA"/>
                </a:solidFill>
              </a:rPr>
              <a:t>Cons:</a:t>
            </a:r>
            <a:r>
              <a:rPr lang="en-US" sz="834" dirty="0">
                <a:solidFill>
                  <a:srgbClr val="CCD6F6"/>
                </a:solidFill>
              </a:rPr>
              <a:t> Error-prone, difficult to scale, and creates "one version of the truth" conflicts.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571500" y="2645866"/>
            <a:ext cx="3893344" cy="142607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" y="2645866"/>
            <a:ext cx="3893344" cy="21431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2881610"/>
            <a:ext cx="128588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21556" y="2860179"/>
            <a:ext cx="200864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57CBFF"/>
                </a:solidFill>
              </a:rPr>
              <a:t>Data Shadow Systems</a:t>
            </a:r>
            <a:endParaRPr lang="en-US" sz="1090" dirty="0"/>
          </a:p>
        </p:txBody>
      </p:sp>
      <p:sp>
        <p:nvSpPr>
          <p:cNvPr id="18" name="Text 12"/>
          <p:cNvSpPr/>
          <p:nvPr/>
        </p:nvSpPr>
        <p:spPr>
          <a:xfrm>
            <a:off x="785813" y="3181648"/>
            <a:ext cx="346471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D6F6"/>
                </a:solidFill>
              </a:rPr>
              <a:t>Custom, siloed solutions built by business units. </a:t>
            </a:r>
            <a:r>
              <a:rPr lang="en-US" sz="784" b="1" dirty="0">
                <a:solidFill>
                  <a:srgbClr val="64FFDA"/>
                </a:solidFill>
              </a:rPr>
              <a:t>Pros:</a:t>
            </a:r>
            <a:r>
              <a:rPr lang="en-US" sz="834" dirty="0">
                <a:solidFill>
                  <a:srgbClr val="CCD6F6"/>
                </a:solidFill>
              </a:rPr>
              <a:t> Tailored to specific needs. </a:t>
            </a:r>
            <a:r>
              <a:rPr lang="en-US" sz="784" b="1" dirty="0">
                <a:solidFill>
                  <a:srgbClr val="64FFDA"/>
                </a:solidFill>
              </a:rPr>
              <a:t>Cons:</a:t>
            </a:r>
            <a:r>
              <a:rPr lang="en-US" sz="834" dirty="0">
                <a:solidFill>
                  <a:srgbClr val="CCD6F6"/>
                </a:solidFill>
              </a:rPr>
              <a:t> High IT support costs and lack of enterprise integration.</a:t>
            </a:r>
            <a:endParaRPr lang="en-US" sz="834" dirty="0"/>
          </a:p>
        </p:txBody>
      </p:sp>
      <p:sp>
        <p:nvSpPr>
          <p:cNvPr id="19" name="Shape 13"/>
          <p:cNvSpPr/>
          <p:nvPr/>
        </p:nvSpPr>
        <p:spPr>
          <a:xfrm>
            <a:off x="4679156" y="2645866"/>
            <a:ext cx="3893344" cy="142607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0" name="Shape 14"/>
          <p:cNvSpPr/>
          <p:nvPr/>
        </p:nvSpPr>
        <p:spPr>
          <a:xfrm>
            <a:off x="4679156" y="2645866"/>
            <a:ext cx="3893344" cy="21431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2892326"/>
            <a:ext cx="171450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72075" y="2870895"/>
            <a:ext cx="143991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57CBFF"/>
                </a:solidFill>
              </a:rPr>
              <a:t>Doing Nothing</a:t>
            </a:r>
            <a:endParaRPr lang="en-US" sz="1090" dirty="0"/>
          </a:p>
        </p:txBody>
      </p:sp>
      <p:sp>
        <p:nvSpPr>
          <p:cNvPr id="23" name="Text 16"/>
          <p:cNvSpPr/>
          <p:nvPr/>
        </p:nvSpPr>
        <p:spPr>
          <a:xfrm>
            <a:off x="4893469" y="3192363"/>
            <a:ext cx="346471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D6F6"/>
                </a:solidFill>
              </a:rPr>
              <a:t>Maintaining the current state. </a:t>
            </a:r>
            <a:r>
              <a:rPr lang="en-US" sz="784" b="1" dirty="0">
                <a:solidFill>
                  <a:srgbClr val="64FFDA"/>
                </a:solidFill>
              </a:rPr>
              <a:t>Pros:</a:t>
            </a:r>
            <a:r>
              <a:rPr lang="en-US" sz="834" dirty="0">
                <a:solidFill>
                  <a:srgbClr val="CCD6F6"/>
                </a:solidFill>
              </a:rPr>
              <a:t> Zero initial cost or disruption. </a:t>
            </a:r>
            <a:r>
              <a:rPr lang="en-US" sz="784" b="1" dirty="0">
                <a:solidFill>
                  <a:srgbClr val="64FFDA"/>
                </a:solidFill>
              </a:rPr>
              <a:t>Cons:</a:t>
            </a:r>
            <a:r>
              <a:rPr lang="en-US" sz="834" dirty="0">
                <a:solidFill>
                  <a:srgbClr val="CCD6F6"/>
                </a:solidFill>
              </a:rPr>
              <a:t> High long-term risk of competitive disadvantage and operational inefficiency.</a:t>
            </a:r>
            <a:endParaRPr lang="en-US" sz="834" dirty="0"/>
          </a:p>
        </p:txBody>
      </p:sp>
      <p:sp>
        <p:nvSpPr>
          <p:cNvPr id="24" name="Shape 17"/>
          <p:cNvSpPr/>
          <p:nvPr/>
        </p:nvSpPr>
        <p:spPr>
          <a:xfrm>
            <a:off x="571500" y="4286250"/>
            <a:ext cx="8001000" cy="857250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5" name="Shape 18"/>
          <p:cNvSpPr/>
          <p:nvPr/>
        </p:nvSpPr>
        <p:spPr>
          <a:xfrm>
            <a:off x="571500" y="4286250"/>
            <a:ext cx="42863" cy="85725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6" name="Text 19"/>
          <p:cNvSpPr/>
          <p:nvPr/>
        </p:nvSpPr>
        <p:spPr>
          <a:xfrm>
            <a:off x="785813" y="4464844"/>
            <a:ext cx="75723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The Challenge:</a:t>
            </a:r>
            <a:r>
              <a:rPr lang="en-US" sz="885" b="1" dirty="0">
                <a:solidFill>
                  <a:srgbClr val="CCD6F6"/>
                </a:solidFill>
              </a:rPr>
              <a:t> BI must demonstrate that it is significantly better than these "good enough" alternatives in terms of </a:t>
            </a:r>
            <a:r>
              <a:rPr lang="en-US" sz="885" b="1" dirty="0">
                <a:solidFill>
                  <a:srgbClr val="64FFDA"/>
                </a:solidFill>
              </a:rPr>
              <a:t>long-term agility, productivity gains, and decision quality</a:t>
            </a:r>
            <a:r>
              <a:rPr lang="en-US" sz="885" b="1" dirty="0">
                <a:solidFill>
                  <a:srgbClr val="CCD6F6"/>
                </a:solidFill>
              </a:rPr>
              <a:t> to win user adoption.</a:t>
            </a:r>
            <a:endParaRPr lang="en-US" sz="88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Overcoming Business Resistance to Change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15318"/>
            <a:ext cx="250031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4406" y="1098352"/>
            <a:ext cx="242706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F44336"/>
                </a:solidFill>
              </a:rPr>
              <a:t>Common Business Fears</a:t>
            </a:r>
            <a:endParaRPr lang="en-US" sz="1193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98414"/>
            <a:ext cx="128588" cy="1285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07244" y="1560909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57CBFF"/>
                </a:solidFill>
              </a:rPr>
              <a:t>Learning Curve:</a:t>
            </a:r>
            <a:r>
              <a:rPr lang="en-US" sz="942" dirty="0">
                <a:solidFill>
                  <a:srgbClr val="CCD6F6"/>
                </a:solidFill>
              </a:rPr>
              <a:t> Anxiety about mastering new, complex analytical tools.</a:t>
            </a:r>
            <a:endParaRPr lang="en-US" sz="885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162770"/>
            <a:ext cx="128588" cy="12858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07244" y="2125266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57CBFF"/>
                </a:solidFill>
              </a:rPr>
              <a:t>Loss of Control:</a:t>
            </a:r>
            <a:r>
              <a:rPr lang="en-US" sz="942" dirty="0">
                <a:solidFill>
                  <a:srgbClr val="CCD6F6"/>
                </a:solidFill>
              </a:rPr>
              <a:t> Fear that automated BI will replace personal expertise or "gut feel."</a:t>
            </a:r>
            <a:endParaRPr lang="en-US" sz="885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27127"/>
            <a:ext cx="128588" cy="12858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07244" y="2689622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57CBFF"/>
                </a:solidFill>
              </a:rPr>
              <a:t>Workflow Disruption:</a:t>
            </a:r>
            <a:r>
              <a:rPr lang="en-US" sz="942" dirty="0">
                <a:solidFill>
                  <a:srgbClr val="CCD6F6"/>
                </a:solidFill>
              </a:rPr>
              <a:t> Concern that new processes will slow down daily operations.</a:t>
            </a:r>
            <a:endParaRPr lang="en-US" sz="885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91483"/>
            <a:ext cx="128588" cy="12858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07244" y="3253978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57CBFF"/>
                </a:solidFill>
              </a:rPr>
              <a:t>Data Transparency:</a:t>
            </a:r>
            <a:r>
              <a:rPr lang="en-US" sz="942" dirty="0">
                <a:solidFill>
                  <a:srgbClr val="CCD6F6"/>
                </a:solidFill>
              </a:rPr>
              <a:t> Worry that BI will expose inefficiencies or errors in their work.</a:t>
            </a:r>
            <a:endParaRPr lang="en-US" sz="885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1115318"/>
            <a:ext cx="150019" cy="20002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5079206" y="1098352"/>
            <a:ext cx="225097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64FFDA"/>
                </a:solidFill>
              </a:rPr>
              <a:t>Mitigation Strategies</a:t>
            </a:r>
            <a:endParaRPr lang="en-US" sz="1193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1598414"/>
            <a:ext cx="128588" cy="128588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5022056" y="1560909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57CBFF"/>
                </a:solidFill>
              </a:rPr>
              <a:t>Early Involvement:</a:t>
            </a:r>
            <a:r>
              <a:rPr lang="en-US" sz="942" dirty="0">
                <a:solidFill>
                  <a:srgbClr val="CCD6F6"/>
                </a:solidFill>
              </a:rPr>
              <a:t> Engage users in requirements and tool selection to build ownership.</a:t>
            </a:r>
            <a:endParaRPr lang="en-US" sz="885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2162770"/>
            <a:ext cx="128588" cy="128588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5022056" y="2125266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57CBFF"/>
                </a:solidFill>
              </a:rPr>
              <a:t>Targeted Training:</a:t>
            </a:r>
            <a:r>
              <a:rPr lang="en-US" sz="942" dirty="0">
                <a:solidFill>
                  <a:srgbClr val="CCD6F6"/>
                </a:solidFill>
              </a:rPr>
              <a:t> Provide role-specific training that focuses on business value, not just features.</a:t>
            </a:r>
            <a:endParaRPr lang="en-US" sz="885" dirty="0"/>
          </a:p>
        </p:txBody>
      </p:sp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2727127"/>
            <a:ext cx="128588" cy="128588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5022056" y="2689622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57CBFF"/>
                </a:solidFill>
              </a:rPr>
              <a:t>Deliver Quick Wins:</a:t>
            </a:r>
            <a:r>
              <a:rPr lang="en-US" sz="942" dirty="0">
                <a:solidFill>
                  <a:srgbClr val="CCD6F6"/>
                </a:solidFill>
              </a:rPr>
              <a:t> Focus on small, high-impact projects to demonstrate immediate value.</a:t>
            </a:r>
            <a:endParaRPr lang="en-US" sz="885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3291483"/>
            <a:ext cx="128588" cy="128588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5022056" y="3253978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57CBFF"/>
                </a:solidFill>
              </a:rPr>
              <a:t>Executive Support:</a:t>
            </a:r>
            <a:r>
              <a:rPr lang="en-US" sz="942" dirty="0">
                <a:solidFill>
                  <a:srgbClr val="CCD6F6"/>
                </a:solidFill>
              </a:rPr>
              <a:t> Visible sponsorship reinforces that BI is a strategic priority.</a:t>
            </a:r>
            <a:endParaRPr lang="en-US" sz="885" dirty="0"/>
          </a:p>
        </p:txBody>
      </p:sp>
      <p:sp>
        <p:nvSpPr>
          <p:cNvPr id="24" name="Shape 11"/>
          <p:cNvSpPr/>
          <p:nvPr/>
        </p:nvSpPr>
        <p:spPr>
          <a:xfrm>
            <a:off x="571500" y="4763095"/>
            <a:ext cx="8001000" cy="3804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Shape 12"/>
          <p:cNvSpPr/>
          <p:nvPr/>
        </p:nvSpPr>
        <p:spPr>
          <a:xfrm>
            <a:off x="571500" y="4763095"/>
            <a:ext cx="8001000" cy="7144"/>
          </a:xfrm>
          <a:prstGeom prst="rect">
            <a:avLst/>
          </a:prstGeom>
          <a:solidFill>
            <a:srgbClr val="E0FFF8"/>
          </a:solidFill>
          <a:ln/>
        </p:spPr>
      </p:sp>
      <p:sp>
        <p:nvSpPr>
          <p:cNvPr id="26" name="Text 13"/>
          <p:cNvSpPr/>
          <p:nvPr/>
        </p:nvSpPr>
        <p:spPr>
          <a:xfrm>
            <a:off x="571500" y="4948833"/>
            <a:ext cx="8001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i="1" dirty="0">
                <a:solidFill>
                  <a:srgbClr val="64FFDA"/>
                </a:solidFill>
              </a:rPr>
              <a:t>"Resistance is often rooted in fear of the unknown; transparent communication is the most effective antidote."</a:t>
            </a:r>
            <a:endParaRPr lang="en-US" sz="987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The Hidden Resistance: Why Technologists Hesitate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15318"/>
            <a:ext cx="250031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4406" y="1098352"/>
            <a:ext cx="163393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F44336"/>
                </a:solidFill>
              </a:rPr>
              <a:t>Technical Fears</a:t>
            </a:r>
            <a:endParaRPr lang="en-US" sz="1193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98414"/>
            <a:ext cx="128588" cy="1285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07244" y="1560909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Skill Obsolescence:</a:t>
            </a:r>
            <a:r>
              <a:rPr lang="en-US" sz="942" dirty="0">
                <a:solidFill>
                  <a:srgbClr val="CCD6F6"/>
                </a:solidFill>
              </a:rPr>
              <a:t> Fear that new BI tools will make their hard-earned legacy skills irrelevant.</a:t>
            </a:r>
            <a:endParaRPr lang="en-US" sz="885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162770"/>
            <a:ext cx="128588" cy="12858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07244" y="2125266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Loss of Control:</a:t>
            </a:r>
            <a:r>
              <a:rPr lang="en-US" sz="942" dirty="0">
                <a:solidFill>
                  <a:srgbClr val="CCD6F6"/>
                </a:solidFill>
              </a:rPr>
              <a:t> Anxiety over "self-service" BI allowing users to bypass IT governance.</a:t>
            </a:r>
            <a:endParaRPr lang="en-US" sz="885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27127"/>
            <a:ext cx="128588" cy="12858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07244" y="2689622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Workload Surge:</a:t>
            </a:r>
            <a:r>
              <a:rPr lang="en-US" sz="942" dirty="0">
                <a:solidFill>
                  <a:srgbClr val="CCD6F6"/>
                </a:solidFill>
              </a:rPr>
              <a:t> Concern that BI adds a complex new layer to an already overstretched team.</a:t>
            </a:r>
            <a:endParaRPr lang="en-US" sz="885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91483"/>
            <a:ext cx="128588" cy="12858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07244" y="3253978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Visibility of Failure:</a:t>
            </a:r>
            <a:r>
              <a:rPr lang="en-US" sz="942" dirty="0">
                <a:solidFill>
                  <a:srgbClr val="CCD6F6"/>
                </a:solidFill>
              </a:rPr>
              <a:t> Fear that data quality issues (often hidden) will be exposed to executives.</a:t>
            </a:r>
            <a:endParaRPr lang="en-US" sz="885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1115318"/>
            <a:ext cx="150019" cy="20002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5079206" y="1098352"/>
            <a:ext cx="225097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64FFDA"/>
                </a:solidFill>
              </a:rPr>
              <a:t>Mitigation Strategies</a:t>
            </a:r>
            <a:endParaRPr lang="en-US" sz="1193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1598414"/>
            <a:ext cx="160734" cy="128588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5054203" y="1560909"/>
            <a:ext cx="351829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Upskilling Programs:</a:t>
            </a:r>
            <a:r>
              <a:rPr lang="en-US" sz="942" dirty="0">
                <a:solidFill>
                  <a:srgbClr val="CCD6F6"/>
                </a:solidFill>
              </a:rPr>
              <a:t> Provide clear paths for staff to master modern data architectures and tools.</a:t>
            </a:r>
            <a:endParaRPr lang="en-US" sz="885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2162770"/>
            <a:ext cx="160734" cy="128588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5054203" y="2125266"/>
            <a:ext cx="351829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Involvement:</a:t>
            </a:r>
            <a:r>
              <a:rPr lang="en-US" sz="942" dirty="0">
                <a:solidFill>
                  <a:srgbClr val="CCD6F6"/>
                </a:solidFill>
              </a:rPr>
              <a:t> Include technical staff in tool evaluation and architectural design from day one.</a:t>
            </a:r>
            <a:endParaRPr lang="en-US" sz="885" dirty="0"/>
          </a:p>
        </p:txBody>
      </p:sp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2727127"/>
            <a:ext cx="128588" cy="128588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5022056" y="2689622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Career Growth:</a:t>
            </a:r>
            <a:r>
              <a:rPr lang="en-US" sz="942" dirty="0">
                <a:solidFill>
                  <a:srgbClr val="CCD6F6"/>
                </a:solidFill>
              </a:rPr>
              <a:t> Position BI as a high-value specialization that increases their professional marketability.</a:t>
            </a:r>
            <a:endParaRPr lang="en-US" sz="885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6313" y="3291483"/>
            <a:ext cx="128588" cy="128588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5022056" y="3253978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Governance Role:</a:t>
            </a:r>
            <a:r>
              <a:rPr lang="en-US" sz="942" dirty="0">
                <a:solidFill>
                  <a:srgbClr val="CCD6F6"/>
                </a:solidFill>
              </a:rPr>
              <a:t> Redefine IT's role from "report builders" to "data enablers and stewards."</a:t>
            </a:r>
            <a:endParaRPr lang="en-US" sz="885" dirty="0"/>
          </a:p>
        </p:txBody>
      </p:sp>
      <p:sp>
        <p:nvSpPr>
          <p:cNvPr id="24" name="Shape 11"/>
          <p:cNvSpPr/>
          <p:nvPr/>
        </p:nvSpPr>
        <p:spPr>
          <a:xfrm>
            <a:off x="571500" y="4763095"/>
            <a:ext cx="8001000" cy="3804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Shape 12"/>
          <p:cNvSpPr/>
          <p:nvPr/>
        </p:nvSpPr>
        <p:spPr>
          <a:xfrm>
            <a:off x="571500" y="4763095"/>
            <a:ext cx="8001000" cy="7144"/>
          </a:xfrm>
          <a:prstGeom prst="rect">
            <a:avLst/>
          </a:prstGeom>
          <a:solidFill>
            <a:srgbClr val="E0FFF8"/>
          </a:solidFill>
          <a:ln/>
        </p:spPr>
      </p:sp>
      <p:sp>
        <p:nvSpPr>
          <p:cNvPr id="26" name="Text 13"/>
          <p:cNvSpPr/>
          <p:nvPr/>
        </p:nvSpPr>
        <p:spPr>
          <a:xfrm>
            <a:off x="571500" y="4948833"/>
            <a:ext cx="8001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i="1" dirty="0">
                <a:solidFill>
                  <a:srgbClr val="64FFDA"/>
                </a:solidFill>
              </a:rPr>
              <a:t>"Technologists are not just implementers; they are critical stakeholders whose buy-in determines technical success."</a:t>
            </a:r>
            <a:endParaRPr lang="en-US" sz="987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Readiness Assessment: Bridging the Gap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2524116" cy="1951137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285875"/>
            <a:ext cx="200025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1696641"/>
            <a:ext cx="209549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CCD6F6"/>
                </a:solidFill>
              </a:rPr>
              <a:t>Data Readiness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785813" y="1977033"/>
            <a:ext cx="20954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Is the data clean, consistent, and accessible? Assessment using the 5C's framework.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3309928" y="1026914"/>
            <a:ext cx="2524116" cy="1951137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0" name="Shape 6"/>
          <p:cNvSpPr/>
          <p:nvPr/>
        </p:nvSpPr>
        <p:spPr>
          <a:xfrm>
            <a:off x="3309928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41" y="1285875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24241" y="1696641"/>
            <a:ext cx="209549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CCD6F6"/>
                </a:solidFill>
              </a:rPr>
              <a:t>Technical Readiness</a:t>
            </a:r>
            <a:endParaRPr lang="en-US" sz="987" dirty="0"/>
          </a:p>
        </p:txBody>
      </p:sp>
      <p:sp>
        <p:nvSpPr>
          <p:cNvPr id="13" name="Text 8"/>
          <p:cNvSpPr/>
          <p:nvPr/>
        </p:nvSpPr>
        <p:spPr>
          <a:xfrm>
            <a:off x="3524241" y="1977033"/>
            <a:ext cx="20954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Does the existing infrastructure support high-volume analytical workloads?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6048356" y="1026914"/>
            <a:ext cx="2524144" cy="1951137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5" name="Shape 10"/>
          <p:cNvSpPr/>
          <p:nvPr/>
        </p:nvSpPr>
        <p:spPr>
          <a:xfrm>
            <a:off x="6048356" y="1026914"/>
            <a:ext cx="2524144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69" y="1285875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62669" y="1696641"/>
            <a:ext cx="20955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CCD6F6"/>
                </a:solidFill>
              </a:rPr>
              <a:t>Skill Readiness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6262669" y="1977033"/>
            <a:ext cx="209551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Do we have the internal expertise for data modeling, ETL, and dashboard design?</a:t>
            </a:r>
            <a:endParaRPr lang="en-US" sz="834" dirty="0"/>
          </a:p>
        </p:txBody>
      </p:sp>
      <p:sp>
        <p:nvSpPr>
          <p:cNvPr id="19" name="Shape 13"/>
          <p:cNvSpPr/>
          <p:nvPr/>
        </p:nvSpPr>
        <p:spPr>
          <a:xfrm>
            <a:off x="571500" y="3192363"/>
            <a:ext cx="2524116" cy="1951137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0" name="Shape 14"/>
          <p:cNvSpPr/>
          <p:nvPr/>
        </p:nvSpPr>
        <p:spPr>
          <a:xfrm>
            <a:off x="571500" y="3192363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3451324"/>
            <a:ext cx="28575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85813" y="3862090"/>
            <a:ext cx="209549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CCD6F6"/>
                </a:solidFill>
              </a:rPr>
              <a:t>Cultural Readiness</a:t>
            </a:r>
            <a:endParaRPr lang="en-US" sz="987" dirty="0"/>
          </a:p>
        </p:txBody>
      </p:sp>
      <p:sp>
        <p:nvSpPr>
          <p:cNvPr id="23" name="Text 16"/>
          <p:cNvSpPr/>
          <p:nvPr/>
        </p:nvSpPr>
        <p:spPr>
          <a:xfrm>
            <a:off x="785813" y="4142482"/>
            <a:ext cx="20954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Is the organization ready to move from "gut feeling" to data-driven decision making?</a:t>
            </a:r>
            <a:endParaRPr lang="en-US" sz="834" dirty="0"/>
          </a:p>
        </p:txBody>
      </p:sp>
      <p:sp>
        <p:nvSpPr>
          <p:cNvPr id="24" name="Shape 17"/>
          <p:cNvSpPr/>
          <p:nvPr/>
        </p:nvSpPr>
        <p:spPr>
          <a:xfrm>
            <a:off x="3309928" y="3192363"/>
            <a:ext cx="2524116" cy="1951137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5" name="Shape 18"/>
          <p:cNvSpPr/>
          <p:nvPr/>
        </p:nvSpPr>
        <p:spPr>
          <a:xfrm>
            <a:off x="3309928" y="3192363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41" y="3451324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24241" y="3862090"/>
            <a:ext cx="209549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CCD6F6"/>
                </a:solidFill>
              </a:rPr>
              <a:t>Financial Readiness</a:t>
            </a:r>
            <a:endParaRPr lang="en-US" sz="987" dirty="0"/>
          </a:p>
        </p:txBody>
      </p:sp>
      <p:sp>
        <p:nvSpPr>
          <p:cNvPr id="28" name="Text 20"/>
          <p:cNvSpPr/>
          <p:nvPr/>
        </p:nvSpPr>
        <p:spPr>
          <a:xfrm>
            <a:off x="3524241" y="4142482"/>
            <a:ext cx="20954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Is there a long-term budgetary commitment beyond the initial project phase?</a:t>
            </a:r>
            <a:endParaRPr lang="en-US" sz="834" dirty="0"/>
          </a:p>
        </p:txBody>
      </p:sp>
      <p:sp>
        <p:nvSpPr>
          <p:cNvPr id="29" name="Shape 21"/>
          <p:cNvSpPr/>
          <p:nvPr/>
        </p:nvSpPr>
        <p:spPr>
          <a:xfrm>
            <a:off x="6048356" y="3192363"/>
            <a:ext cx="2524144" cy="1951137"/>
          </a:xfrm>
          <a:prstGeom prst="rect">
            <a:avLst/>
          </a:prstGeom>
          <a:solidFill>
            <a:srgbClr val="64FFDA">
              <a:alpha val="5000"/>
            </a:srgbClr>
          </a:solidFill>
          <a:ln w="9144">
            <a:solidFill>
              <a:srgbClr val="64FFDA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6262669" y="4005049"/>
            <a:ext cx="2095519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The Goal: Identify and mitigate organizational gaps before they derail the BI project.</a:t>
            </a:r>
            <a:endParaRPr lang="en-US" sz="88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Data Quality: The Foundation of Trust (The 5C's)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1026914"/>
            <a:ext cx="1528037" cy="330219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026914"/>
            <a:ext cx="1528037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909" y="1360884"/>
            <a:ext cx="321469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1841302"/>
            <a:ext cx="124228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64FFDA"/>
                </a:solidFill>
              </a:rPr>
              <a:t>Clean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571500" y="2178844"/>
            <a:ext cx="1242287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CCD6F6"/>
                </a:solidFill>
              </a:rPr>
              <a:t>Data must be accurate, free of errors, and validated against business rules before analysis.</a:t>
            </a:r>
            <a:endParaRPr lang="en-US" sz="780" dirty="0"/>
          </a:p>
        </p:txBody>
      </p:sp>
      <p:sp>
        <p:nvSpPr>
          <p:cNvPr id="9" name="Shape 5"/>
          <p:cNvSpPr/>
          <p:nvPr/>
        </p:nvSpPr>
        <p:spPr>
          <a:xfrm>
            <a:off x="2099537" y="1026914"/>
            <a:ext cx="1528037" cy="330219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0" name="Shape 6"/>
          <p:cNvSpPr/>
          <p:nvPr/>
        </p:nvSpPr>
        <p:spPr>
          <a:xfrm>
            <a:off x="2099537" y="1026914"/>
            <a:ext cx="1528037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1041" y="1360884"/>
            <a:ext cx="225028" cy="2571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242412" y="1841302"/>
            <a:ext cx="124228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64FFDA"/>
                </a:solidFill>
              </a:rPr>
              <a:t>Consistent</a:t>
            </a:r>
            <a:endParaRPr lang="en-US" sz="987" dirty="0"/>
          </a:p>
        </p:txBody>
      </p:sp>
      <p:sp>
        <p:nvSpPr>
          <p:cNvPr id="13" name="Text 8"/>
          <p:cNvSpPr/>
          <p:nvPr/>
        </p:nvSpPr>
        <p:spPr>
          <a:xfrm>
            <a:off x="2242412" y="2178844"/>
            <a:ext cx="12422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CCD6F6"/>
                </a:solidFill>
              </a:rPr>
              <a:t>Data values and formats must be uniform across all source systems and reports.</a:t>
            </a:r>
            <a:endParaRPr lang="en-US" sz="780" dirty="0"/>
          </a:p>
        </p:txBody>
      </p:sp>
      <p:sp>
        <p:nvSpPr>
          <p:cNvPr id="14" name="Shape 9"/>
          <p:cNvSpPr/>
          <p:nvPr/>
        </p:nvSpPr>
        <p:spPr>
          <a:xfrm>
            <a:off x="3770449" y="1026914"/>
            <a:ext cx="1528037" cy="330219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5" name="Shape 10"/>
          <p:cNvSpPr/>
          <p:nvPr/>
        </p:nvSpPr>
        <p:spPr>
          <a:xfrm>
            <a:off x="3770449" y="1026914"/>
            <a:ext cx="1528037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5880" y="1360884"/>
            <a:ext cx="257175" cy="2571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913324" y="1841302"/>
            <a:ext cx="124228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64FFDA"/>
                </a:solidFill>
              </a:rPr>
              <a:t>Conformed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3913324" y="2178844"/>
            <a:ext cx="1242287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CCD6F6"/>
                </a:solidFill>
              </a:rPr>
              <a:t>Shared dimensions (e.g., Customer, Product) must have identical definitions enterprise-wide.</a:t>
            </a:r>
            <a:endParaRPr lang="en-US" sz="780" dirty="0"/>
          </a:p>
        </p:txBody>
      </p:sp>
      <p:sp>
        <p:nvSpPr>
          <p:cNvPr id="19" name="Shape 13"/>
          <p:cNvSpPr/>
          <p:nvPr/>
        </p:nvSpPr>
        <p:spPr>
          <a:xfrm>
            <a:off x="5441361" y="1026914"/>
            <a:ext cx="1528037" cy="330219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0" name="Shape 14"/>
          <p:cNvSpPr/>
          <p:nvPr/>
        </p:nvSpPr>
        <p:spPr>
          <a:xfrm>
            <a:off x="5441361" y="1026914"/>
            <a:ext cx="1528037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6792" y="1360884"/>
            <a:ext cx="257175" cy="2571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584236" y="1841302"/>
            <a:ext cx="124228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64FFDA"/>
                </a:solidFill>
              </a:rPr>
              <a:t>Current</a:t>
            </a:r>
            <a:endParaRPr lang="en-US" sz="987" dirty="0"/>
          </a:p>
        </p:txBody>
      </p:sp>
      <p:sp>
        <p:nvSpPr>
          <p:cNvPr id="23" name="Text 16"/>
          <p:cNvSpPr/>
          <p:nvPr/>
        </p:nvSpPr>
        <p:spPr>
          <a:xfrm>
            <a:off x="5584236" y="2178844"/>
            <a:ext cx="12422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CCD6F6"/>
                </a:solidFill>
              </a:rPr>
              <a:t>Data must be delivered within the timeframe required by the business process (latency).</a:t>
            </a:r>
            <a:endParaRPr lang="en-US" sz="780" dirty="0"/>
          </a:p>
        </p:txBody>
      </p:sp>
      <p:sp>
        <p:nvSpPr>
          <p:cNvPr id="24" name="Shape 17"/>
          <p:cNvSpPr/>
          <p:nvPr/>
        </p:nvSpPr>
        <p:spPr>
          <a:xfrm>
            <a:off x="7112273" y="1026914"/>
            <a:ext cx="1603074" cy="330219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5" name="Shape 18"/>
          <p:cNvSpPr/>
          <p:nvPr/>
        </p:nvSpPr>
        <p:spPr>
          <a:xfrm>
            <a:off x="7112273" y="1026914"/>
            <a:ext cx="1603074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1282" y="1360884"/>
            <a:ext cx="225028" cy="25717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55148" y="1841302"/>
            <a:ext cx="131732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64FFDA"/>
                </a:solidFill>
              </a:rPr>
              <a:t>Comprehensive</a:t>
            </a:r>
            <a:endParaRPr lang="en-US" sz="987" dirty="0"/>
          </a:p>
        </p:txBody>
      </p:sp>
      <p:sp>
        <p:nvSpPr>
          <p:cNvPr id="28" name="Text 20"/>
          <p:cNvSpPr/>
          <p:nvPr/>
        </p:nvSpPr>
        <p:spPr>
          <a:xfrm>
            <a:off x="7255148" y="2178844"/>
            <a:ext cx="13173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CCD6F6"/>
                </a:solidFill>
              </a:rPr>
              <a:t>All necessary data elements must be present to provide a complete view for decision support.</a:t>
            </a:r>
            <a:endParaRPr lang="en-US" sz="780" dirty="0"/>
          </a:p>
        </p:txBody>
      </p:sp>
      <p:sp>
        <p:nvSpPr>
          <p:cNvPr id="29" name="Shape 21"/>
          <p:cNvSpPr/>
          <p:nvPr/>
        </p:nvSpPr>
        <p:spPr>
          <a:xfrm>
            <a:off x="571500" y="4614863"/>
            <a:ext cx="8001000" cy="528638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30" name="Shape 22"/>
          <p:cNvSpPr/>
          <p:nvPr/>
        </p:nvSpPr>
        <p:spPr>
          <a:xfrm>
            <a:off x="571500" y="4614863"/>
            <a:ext cx="42863" cy="528638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31" name="Text 23"/>
          <p:cNvSpPr/>
          <p:nvPr/>
        </p:nvSpPr>
        <p:spPr>
          <a:xfrm>
            <a:off x="857250" y="4793456"/>
            <a:ext cx="742950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The Reality:</a:t>
            </a:r>
            <a:r>
              <a:rPr lang="en-US" sz="885" b="1" dirty="0">
                <a:solidFill>
                  <a:srgbClr val="CCD6F6"/>
                </a:solidFill>
              </a:rPr>
              <a:t> If users don't trust the data, they won't use the system. Data readiness is the </a:t>
            </a:r>
            <a:r>
              <a:rPr lang="en-US" sz="885" b="1" dirty="0">
                <a:solidFill>
                  <a:srgbClr val="64FFDA"/>
                </a:solidFill>
              </a:rPr>
              <a:t>#1 technical factor</a:t>
            </a:r>
            <a:r>
              <a:rPr lang="en-US" sz="885" b="1" dirty="0">
                <a:solidFill>
                  <a:srgbClr val="CCD6F6"/>
                </a:solidFill>
              </a:rPr>
              <a:t> in BI success.</a:t>
            </a:r>
            <a:endParaRPr lang="en-US" sz="88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The Human Element of BI Success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2524116" cy="32664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368028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1880592"/>
            <a:ext cx="20954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64FFDA"/>
                </a:solidFill>
              </a:rPr>
              <a:t>Expertise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785813" y="2237780"/>
            <a:ext cx="209549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D6F6"/>
                </a:solidFill>
              </a:rPr>
              <a:t>Does the organization have the technical skills to build and maintain the BI infrastructure?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785813" y="2893526"/>
            <a:ext cx="209549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D6F6"/>
                </a:solidFill>
              </a:rPr>
              <a:t>Equally important: Do business users have the domain knowledge to define meaningful requirements?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3309928" y="1026914"/>
            <a:ext cx="2524116" cy="32664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1" name="Shape 7"/>
          <p:cNvSpPr/>
          <p:nvPr/>
        </p:nvSpPr>
        <p:spPr>
          <a:xfrm>
            <a:off x="3309928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41" y="1368028"/>
            <a:ext cx="285750" cy="285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24241" y="1880592"/>
            <a:ext cx="20954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64FFDA"/>
                </a:solidFill>
              </a:rPr>
              <a:t>Analytical Skills</a:t>
            </a:r>
            <a:endParaRPr lang="en-US" sz="1090" dirty="0"/>
          </a:p>
        </p:txBody>
      </p:sp>
      <p:sp>
        <p:nvSpPr>
          <p:cNvPr id="14" name="Text 9"/>
          <p:cNvSpPr/>
          <p:nvPr/>
        </p:nvSpPr>
        <p:spPr>
          <a:xfrm>
            <a:off x="3524241" y="2237780"/>
            <a:ext cx="209549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D6F6"/>
                </a:solidFill>
              </a:rPr>
              <a:t>Are users capable of interpreting complex data visualizations and deriving actionable insights?</a:t>
            </a:r>
            <a:endParaRPr lang="en-US" sz="834" dirty="0"/>
          </a:p>
        </p:txBody>
      </p:sp>
      <p:sp>
        <p:nvSpPr>
          <p:cNvPr id="15" name="Text 10"/>
          <p:cNvSpPr/>
          <p:nvPr/>
        </p:nvSpPr>
        <p:spPr>
          <a:xfrm>
            <a:off x="3524241" y="2893526"/>
            <a:ext cx="209549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D6F6"/>
                </a:solidFill>
              </a:rPr>
              <a:t>Training must focus not just on "how to use the tool," but on "how to think analytically."</a:t>
            </a:r>
            <a:endParaRPr lang="en-US" sz="834" dirty="0"/>
          </a:p>
        </p:txBody>
      </p:sp>
      <p:sp>
        <p:nvSpPr>
          <p:cNvPr id="16" name="Shape 11"/>
          <p:cNvSpPr/>
          <p:nvPr/>
        </p:nvSpPr>
        <p:spPr>
          <a:xfrm>
            <a:off x="6048356" y="1026914"/>
            <a:ext cx="2524116" cy="326648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7" name="Shape 12"/>
          <p:cNvSpPr/>
          <p:nvPr/>
        </p:nvSpPr>
        <p:spPr>
          <a:xfrm>
            <a:off x="6048356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69" y="1368028"/>
            <a:ext cx="357188" cy="2857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62669" y="1880592"/>
            <a:ext cx="20954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64FFDA"/>
                </a:solidFill>
              </a:rPr>
              <a:t>Cultural Shift</a:t>
            </a:r>
            <a:endParaRPr lang="en-US" sz="1090" dirty="0"/>
          </a:p>
        </p:txBody>
      </p:sp>
      <p:sp>
        <p:nvSpPr>
          <p:cNvPr id="20" name="Text 14"/>
          <p:cNvSpPr/>
          <p:nvPr/>
        </p:nvSpPr>
        <p:spPr>
          <a:xfrm>
            <a:off x="6262669" y="2237780"/>
            <a:ext cx="209549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D6F6"/>
                </a:solidFill>
              </a:rPr>
              <a:t>Is the organization ready to move from "gut-feel" decisions to evidence-based management?</a:t>
            </a:r>
            <a:endParaRPr lang="en-US" sz="834" dirty="0"/>
          </a:p>
        </p:txBody>
      </p:sp>
      <p:sp>
        <p:nvSpPr>
          <p:cNvPr id="21" name="Text 15"/>
          <p:cNvSpPr/>
          <p:nvPr/>
        </p:nvSpPr>
        <p:spPr>
          <a:xfrm>
            <a:off x="6262669" y="2893526"/>
            <a:ext cx="209549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D6F6"/>
                </a:solidFill>
              </a:rPr>
              <a:t>Success requires a culture that values transparency, accountability, and data-driven curiosity.</a:t>
            </a:r>
            <a:endParaRPr lang="en-US" sz="834" dirty="0"/>
          </a:p>
        </p:txBody>
      </p:sp>
      <p:sp>
        <p:nvSpPr>
          <p:cNvPr id="22" name="Shape 16"/>
          <p:cNvSpPr/>
          <p:nvPr/>
        </p:nvSpPr>
        <p:spPr>
          <a:xfrm>
            <a:off x="571500" y="4579144"/>
            <a:ext cx="8001000" cy="564356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571500" y="4579144"/>
            <a:ext cx="42863" cy="564356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4" name="Text 18"/>
          <p:cNvSpPr/>
          <p:nvPr/>
        </p:nvSpPr>
        <p:spPr>
          <a:xfrm>
            <a:off x="857250" y="4793456"/>
            <a:ext cx="742950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The Reality:</a:t>
            </a:r>
            <a:r>
              <a:rPr lang="en-US" sz="885" b="1" dirty="0">
                <a:solidFill>
                  <a:srgbClr val="CCD6F6"/>
                </a:solidFill>
              </a:rPr>
              <a:t> Even the most advanced BI technology will fail if the people using it lack the </a:t>
            </a:r>
            <a:r>
              <a:rPr lang="en-US" sz="885" b="1" dirty="0">
                <a:solidFill>
                  <a:srgbClr val="64FFDA"/>
                </a:solidFill>
              </a:rPr>
              <a:t>skills, expertise, or cultural willingness</a:t>
            </a:r>
            <a:r>
              <a:rPr lang="en-US" sz="885" b="1" dirty="0">
                <a:solidFill>
                  <a:srgbClr val="CCD6F6"/>
                </a:solidFill>
              </a:rPr>
              <a:t> to embrace it.</a:t>
            </a:r>
            <a:endParaRPr lang="en-US" sz="88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The BI Roadmap: A Multi-Year Journey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1143000" y="1924348"/>
            <a:ext cx="6858000" cy="14288"/>
          </a:xfrm>
          <a:prstGeom prst="rect">
            <a:avLst/>
          </a:prstGeom>
          <a:solidFill>
            <a:srgbClr val="64FFDA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488272" y="1602879"/>
            <a:ext cx="642938" cy="642938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441" y="1810048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98554" y="2424410"/>
            <a:ext cx="4223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57CBFF"/>
                </a:solidFill>
              </a:rPr>
              <a:t>Year 1</a:t>
            </a:r>
            <a:endParaRPr lang="en-US" sz="683" dirty="0"/>
          </a:p>
        </p:txBody>
      </p:sp>
      <p:sp>
        <p:nvSpPr>
          <p:cNvPr id="8" name="Text 4"/>
          <p:cNvSpPr/>
          <p:nvPr/>
        </p:nvSpPr>
        <p:spPr>
          <a:xfrm>
            <a:off x="1359154" y="2631579"/>
            <a:ext cx="90117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CCD6F6"/>
                </a:solidFill>
              </a:rPr>
              <a:t>Foundation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1119364" y="2988766"/>
            <a:ext cx="13807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Core Data Warehouse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1119364" y="3215580"/>
            <a:ext cx="13807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Initial Business Unit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1119364" y="3442395"/>
            <a:ext cx="13807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Critical KPIs &amp; Reports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1119364" y="3669209"/>
            <a:ext cx="13807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Data Governance Setup</a:t>
            </a:r>
            <a:endParaRPr lang="en-US" sz="834" dirty="0"/>
          </a:p>
        </p:txBody>
      </p:sp>
      <p:sp>
        <p:nvSpPr>
          <p:cNvPr id="13" name="Shape 9"/>
          <p:cNvSpPr/>
          <p:nvPr/>
        </p:nvSpPr>
        <p:spPr>
          <a:xfrm>
            <a:off x="4250531" y="1602879"/>
            <a:ext cx="642938" cy="642938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988" y="1810048"/>
            <a:ext cx="200025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60813" y="2424410"/>
            <a:ext cx="4223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57CBFF"/>
                </a:solidFill>
              </a:rPr>
              <a:t>Year 2</a:t>
            </a:r>
            <a:endParaRPr lang="en-US" sz="683" dirty="0"/>
          </a:p>
        </p:txBody>
      </p:sp>
      <p:sp>
        <p:nvSpPr>
          <p:cNvPr id="16" name="Text 11"/>
          <p:cNvSpPr/>
          <p:nvPr/>
        </p:nvSpPr>
        <p:spPr>
          <a:xfrm>
            <a:off x="4170443" y="2631579"/>
            <a:ext cx="80311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CCD6F6"/>
                </a:solidFill>
              </a:rPr>
              <a:t>Expansion</a:t>
            </a:r>
            <a:endParaRPr lang="en-US" sz="1090" dirty="0"/>
          </a:p>
        </p:txBody>
      </p:sp>
      <p:sp>
        <p:nvSpPr>
          <p:cNvPr id="17" name="Text 12"/>
          <p:cNvSpPr/>
          <p:nvPr/>
        </p:nvSpPr>
        <p:spPr>
          <a:xfrm>
            <a:off x="3852351" y="2988766"/>
            <a:ext cx="14392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Cross-Functional Data</a:t>
            </a:r>
            <a:endParaRPr lang="en-US" sz="834" dirty="0"/>
          </a:p>
        </p:txBody>
      </p:sp>
      <p:sp>
        <p:nvSpPr>
          <p:cNvPr id="18" name="Text 13"/>
          <p:cNvSpPr/>
          <p:nvPr/>
        </p:nvSpPr>
        <p:spPr>
          <a:xfrm>
            <a:off x="3852351" y="3215580"/>
            <a:ext cx="14392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Self-Service Analytics</a:t>
            </a:r>
            <a:endParaRPr lang="en-US" sz="834" dirty="0"/>
          </a:p>
        </p:txBody>
      </p:sp>
      <p:sp>
        <p:nvSpPr>
          <p:cNvPr id="19" name="Text 14"/>
          <p:cNvSpPr/>
          <p:nvPr/>
        </p:nvSpPr>
        <p:spPr>
          <a:xfrm>
            <a:off x="3852351" y="3442395"/>
            <a:ext cx="14392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Advanced Visualization</a:t>
            </a:r>
            <a:endParaRPr lang="en-US" sz="834" dirty="0"/>
          </a:p>
        </p:txBody>
      </p:sp>
      <p:sp>
        <p:nvSpPr>
          <p:cNvPr id="20" name="Text 15"/>
          <p:cNvSpPr/>
          <p:nvPr/>
        </p:nvSpPr>
        <p:spPr>
          <a:xfrm>
            <a:off x="3852351" y="3669209"/>
            <a:ext cx="14392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New Data Sources (SaaS)</a:t>
            </a:r>
            <a:endParaRPr lang="en-US" sz="834" dirty="0"/>
          </a:p>
        </p:txBody>
      </p:sp>
      <p:sp>
        <p:nvSpPr>
          <p:cNvPr id="21" name="Shape 16"/>
          <p:cNvSpPr/>
          <p:nvPr/>
        </p:nvSpPr>
        <p:spPr>
          <a:xfrm>
            <a:off x="7012791" y="1602879"/>
            <a:ext cx="642938" cy="642938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9959" y="1810048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87326" y="2424410"/>
            <a:ext cx="4938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57CBFF"/>
                </a:solidFill>
              </a:rPr>
              <a:t>Year 3+</a:t>
            </a:r>
            <a:endParaRPr lang="en-US" sz="683" dirty="0"/>
          </a:p>
        </p:txBody>
      </p:sp>
      <p:sp>
        <p:nvSpPr>
          <p:cNvPr id="24" name="Text 18"/>
          <p:cNvSpPr/>
          <p:nvPr/>
        </p:nvSpPr>
        <p:spPr>
          <a:xfrm>
            <a:off x="6818598" y="2631579"/>
            <a:ext cx="103132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CCD6F6"/>
                </a:solidFill>
              </a:rPr>
              <a:t>Optimization</a:t>
            </a:r>
            <a:endParaRPr lang="en-US" sz="1090" dirty="0"/>
          </a:p>
        </p:txBody>
      </p:sp>
      <p:sp>
        <p:nvSpPr>
          <p:cNvPr id="25" name="Text 19"/>
          <p:cNvSpPr/>
          <p:nvPr/>
        </p:nvSpPr>
        <p:spPr>
          <a:xfrm>
            <a:off x="6586147" y="2988766"/>
            <a:ext cx="14962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Predictive Analytics</a:t>
            </a:r>
            <a:endParaRPr lang="en-US" sz="834" dirty="0"/>
          </a:p>
        </p:txBody>
      </p:sp>
      <p:sp>
        <p:nvSpPr>
          <p:cNvPr id="26" name="Text 20"/>
          <p:cNvSpPr/>
          <p:nvPr/>
        </p:nvSpPr>
        <p:spPr>
          <a:xfrm>
            <a:off x="6586147" y="3215580"/>
            <a:ext cx="14962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Real-Time Data Streams</a:t>
            </a:r>
            <a:endParaRPr lang="en-US" sz="834" dirty="0"/>
          </a:p>
        </p:txBody>
      </p:sp>
      <p:sp>
        <p:nvSpPr>
          <p:cNvPr id="27" name="Text 21"/>
          <p:cNvSpPr/>
          <p:nvPr/>
        </p:nvSpPr>
        <p:spPr>
          <a:xfrm>
            <a:off x="6586147" y="3442395"/>
            <a:ext cx="14962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Enterprise Governance</a:t>
            </a:r>
            <a:endParaRPr lang="en-US" sz="834" dirty="0"/>
          </a:p>
        </p:txBody>
      </p:sp>
      <p:sp>
        <p:nvSpPr>
          <p:cNvPr id="28" name="Text 22"/>
          <p:cNvSpPr/>
          <p:nvPr/>
        </p:nvSpPr>
        <p:spPr>
          <a:xfrm>
            <a:off x="6586147" y="3669209"/>
            <a:ext cx="14962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Continuous Improvement</a:t>
            </a:r>
            <a:endParaRPr lang="en-US" sz="834" dirty="0"/>
          </a:p>
        </p:txBody>
      </p:sp>
      <p:sp>
        <p:nvSpPr>
          <p:cNvPr id="29" name="Shape 23"/>
          <p:cNvSpPr/>
          <p:nvPr/>
        </p:nvSpPr>
        <p:spPr>
          <a:xfrm>
            <a:off x="571500" y="4614863"/>
            <a:ext cx="8001000" cy="528638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30" name="Shape 24"/>
          <p:cNvSpPr/>
          <p:nvPr/>
        </p:nvSpPr>
        <p:spPr>
          <a:xfrm>
            <a:off x="571500" y="4614863"/>
            <a:ext cx="42863" cy="528638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31" name="Text 25"/>
          <p:cNvSpPr/>
          <p:nvPr/>
        </p:nvSpPr>
        <p:spPr>
          <a:xfrm>
            <a:off x="857250" y="4793456"/>
            <a:ext cx="742950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Strategic Insight:</a:t>
            </a:r>
            <a:r>
              <a:rPr lang="en-US" sz="885" b="1" dirty="0">
                <a:solidFill>
                  <a:srgbClr val="CCD6F6"/>
                </a:solidFill>
              </a:rPr>
              <a:t> A roadmap transforms BI from a "one-off project" into a </a:t>
            </a:r>
            <a:r>
              <a:rPr lang="en-US" sz="885" b="1" dirty="0">
                <a:solidFill>
                  <a:srgbClr val="64FFDA"/>
                </a:solidFill>
              </a:rPr>
              <a:t>sustainable strategic program</a:t>
            </a:r>
            <a:r>
              <a:rPr lang="en-US" sz="885" b="1" dirty="0">
                <a:solidFill>
                  <a:srgbClr val="CCD6F6"/>
                </a:solidFill>
              </a:rPr>
              <a:t> that delivers incremental value and secures long-term funding.</a:t>
            </a:r>
            <a:endParaRPr lang="en-US" sz="88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Scoping for Success: Manageable and Clear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3857625" cy="343793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3857625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343918"/>
            <a:ext cx="178594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312664"/>
            <a:ext cx="18474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64FFDA"/>
                </a:solidFill>
              </a:rPr>
              <a:t>In-Scope Elements</a:t>
            </a:r>
            <a:endParaRPr lang="en-US" sz="119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1796653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28713" y="1760934"/>
            <a:ext cx="30146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57CBFF"/>
                </a:solidFill>
              </a:rPr>
              <a:t>Specific Processes:</a:t>
            </a:r>
            <a:r>
              <a:rPr lang="en-US" sz="942" dirty="0">
                <a:solidFill>
                  <a:srgbClr val="CCD6F6"/>
                </a:solidFill>
              </a:rPr>
              <a:t> Clearly defined business areas (e.g., Sales, Inventory).</a:t>
            </a:r>
            <a:endParaRPr lang="en-US" sz="885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361009"/>
            <a:ext cx="112514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12639" y="2325291"/>
            <a:ext cx="303073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57CBFF"/>
                </a:solidFill>
              </a:rPr>
              <a:t>Target Data Sources:</a:t>
            </a:r>
            <a:r>
              <a:rPr lang="en-US" sz="942" dirty="0">
                <a:solidFill>
                  <a:srgbClr val="CCD6F6"/>
                </a:solidFill>
              </a:rPr>
              <a:t> Identified systems for extraction and integration.</a:t>
            </a:r>
            <a:endParaRPr lang="en-US" sz="885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925366"/>
            <a:ext cx="160734" cy="128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60859" y="2889647"/>
            <a:ext cx="298251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57CBFF"/>
                </a:solidFill>
              </a:rPr>
              <a:t>Primary User Groups:</a:t>
            </a:r>
            <a:r>
              <a:rPr lang="en-US" sz="942" dirty="0">
                <a:solidFill>
                  <a:srgbClr val="CCD6F6"/>
                </a:solidFill>
              </a:rPr>
              <a:t> Specific stakeholders who will use the solution.</a:t>
            </a:r>
            <a:endParaRPr lang="en-US" sz="885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3489722"/>
            <a:ext cx="128588" cy="12858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128713" y="3454003"/>
            <a:ext cx="30146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57CBFF"/>
                </a:solidFill>
              </a:rPr>
              <a:t>Success Metrics:</a:t>
            </a:r>
            <a:r>
              <a:rPr lang="en-US" sz="942" dirty="0">
                <a:solidFill>
                  <a:srgbClr val="CCD6F6"/>
                </a:solidFill>
              </a:rPr>
              <a:t> Quantifiable KPIs to measure project impact.</a:t>
            </a:r>
            <a:endParaRPr lang="en-US" sz="885" dirty="0"/>
          </a:p>
        </p:txBody>
      </p:sp>
      <p:sp>
        <p:nvSpPr>
          <p:cNvPr id="16" name="Shape 8"/>
          <p:cNvSpPr/>
          <p:nvPr/>
        </p:nvSpPr>
        <p:spPr>
          <a:xfrm>
            <a:off x="4714875" y="1026914"/>
            <a:ext cx="3857625" cy="343793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7" name="Shape 9"/>
          <p:cNvSpPr/>
          <p:nvPr/>
        </p:nvSpPr>
        <p:spPr>
          <a:xfrm>
            <a:off x="4714875" y="1026914"/>
            <a:ext cx="3857625" cy="28575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625" y="1343918"/>
            <a:ext cx="178594" cy="17145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286375" y="1312664"/>
            <a:ext cx="231424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F44336"/>
                </a:solidFill>
              </a:rPr>
              <a:t>Out-of-Scope Elements</a:t>
            </a:r>
            <a:endParaRPr lang="en-US" sz="1193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0625" y="1796653"/>
            <a:ext cx="128588" cy="12858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272088" y="1760934"/>
            <a:ext cx="30146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57CBFF"/>
                </a:solidFill>
              </a:rPr>
              <a:t>Future Phases:</a:t>
            </a:r>
            <a:r>
              <a:rPr lang="en-US" sz="942" dirty="0">
                <a:solidFill>
                  <a:srgbClr val="CCD6F6"/>
                </a:solidFill>
              </a:rPr>
              <a:t> Features or data reserved for subsequent releases.</a:t>
            </a:r>
            <a:endParaRPr lang="en-US" sz="885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0625" y="2361009"/>
            <a:ext cx="128588" cy="12858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272088" y="2325291"/>
            <a:ext cx="30146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57CBFF"/>
                </a:solidFill>
              </a:rPr>
              <a:t>Unrelated Data:</a:t>
            </a:r>
            <a:r>
              <a:rPr lang="en-US" sz="942" dirty="0">
                <a:solidFill>
                  <a:srgbClr val="CCD6F6"/>
                </a:solidFill>
              </a:rPr>
              <a:t> Information that does not support the core objectives.</a:t>
            </a:r>
            <a:endParaRPr lang="en-US" sz="885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0625" y="2925366"/>
            <a:ext cx="128588" cy="128588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272088" y="2889647"/>
            <a:ext cx="30146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57CBFF"/>
                </a:solidFill>
              </a:rPr>
              <a:t>Non-Essential Features:</a:t>
            </a:r>
            <a:r>
              <a:rPr lang="en-US" sz="942" dirty="0">
                <a:solidFill>
                  <a:srgbClr val="CCD6F6"/>
                </a:solidFill>
              </a:rPr>
              <a:t> "Nice-to-have" items that risk project bloat.</a:t>
            </a:r>
            <a:endParaRPr lang="en-US" sz="885" dirty="0"/>
          </a:p>
        </p:txBody>
      </p:sp>
      <p:sp>
        <p:nvSpPr>
          <p:cNvPr id="26" name="Shape 14"/>
          <p:cNvSpPr/>
          <p:nvPr/>
        </p:nvSpPr>
        <p:spPr>
          <a:xfrm>
            <a:off x="571500" y="4750594"/>
            <a:ext cx="8001000" cy="392906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7" name="Shape 15"/>
          <p:cNvSpPr/>
          <p:nvPr/>
        </p:nvSpPr>
        <p:spPr>
          <a:xfrm>
            <a:off x="571500" y="4750594"/>
            <a:ext cx="42863" cy="392906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8" name="Text 16"/>
          <p:cNvSpPr/>
          <p:nvPr/>
        </p:nvSpPr>
        <p:spPr>
          <a:xfrm>
            <a:off x="857250" y="4929188"/>
            <a:ext cx="7429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64FFDA"/>
                </a:solidFill>
              </a:rPr>
              <a:t>A well-defined scope is the best defense against project bloat and expectation failure.</a:t>
            </a:r>
            <a:endParaRPr lang="en-US" sz="109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The Financial Case: Budgeting and ROI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15318"/>
            <a:ext cx="150019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394" y="1098352"/>
            <a:ext cx="174327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57CBFF"/>
                </a:solidFill>
              </a:rPr>
              <a:t>Estimating Costs</a:t>
            </a:r>
            <a:endParaRPr lang="en-US" sz="1193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98414"/>
            <a:ext cx="128588" cy="1285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07244" y="1560909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Infrastructure:</a:t>
            </a:r>
            <a:r>
              <a:rPr lang="en-US" sz="942" dirty="0">
                <a:solidFill>
                  <a:srgbClr val="CCD6F6"/>
                </a:solidFill>
              </a:rPr>
              <a:t> Software licenses, hardware, and cloud storage costs.</a:t>
            </a:r>
            <a:endParaRPr lang="en-US" sz="885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162770"/>
            <a:ext cx="128588" cy="12858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07244" y="2125266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Personnel:</a:t>
            </a:r>
            <a:r>
              <a:rPr lang="en-US" sz="942" dirty="0">
                <a:solidFill>
                  <a:srgbClr val="CCD6F6"/>
                </a:solidFill>
              </a:rPr>
              <a:t> Internal staff time, external consultants, and specialized training.</a:t>
            </a:r>
            <a:endParaRPr lang="en-US" sz="885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27127"/>
            <a:ext cx="128588" cy="12858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07244" y="2689622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Operations:</a:t>
            </a:r>
            <a:r>
              <a:rPr lang="en-US" sz="942" dirty="0">
                <a:solidFill>
                  <a:srgbClr val="CCD6F6"/>
                </a:solidFill>
              </a:rPr>
              <a:t> Ongoing maintenance, data governance, and user support.</a:t>
            </a:r>
            <a:endParaRPr lang="en-US" sz="885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1115318"/>
            <a:ext cx="200025" cy="20002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129213" y="1098352"/>
            <a:ext cx="18613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57CBFF"/>
                </a:solidFill>
              </a:rPr>
              <a:t>The ROI Challenge</a:t>
            </a:r>
            <a:endParaRPr lang="en-US" sz="1193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1598414"/>
            <a:ext cx="128588" cy="128588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5022056" y="1560909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Intangible Value:</a:t>
            </a:r>
            <a:r>
              <a:rPr lang="en-US" sz="942" dirty="0">
                <a:solidFill>
                  <a:srgbClr val="CCD6F6"/>
                </a:solidFill>
              </a:rPr>
              <a:t> Hard to put a dollar value on "better decisions" or "faster insights."</a:t>
            </a:r>
            <a:endParaRPr lang="en-US" sz="885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2162770"/>
            <a:ext cx="128588" cy="128588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5022056" y="2125266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Time Lag:</a:t>
            </a:r>
            <a:r>
              <a:rPr lang="en-US" sz="942" dirty="0">
                <a:solidFill>
                  <a:srgbClr val="CCD6F6"/>
                </a:solidFill>
              </a:rPr>
              <a:t> Benefits often take months or years to fully materialize.</a:t>
            </a:r>
            <a:endParaRPr lang="en-US" sz="885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2727127"/>
            <a:ext cx="128588" cy="128588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5022056" y="2689622"/>
            <a:ext cx="35504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4FFDA"/>
                </a:solidFill>
              </a:rPr>
              <a:t>Indirect Impact:</a:t>
            </a:r>
            <a:r>
              <a:rPr lang="en-US" sz="942" dirty="0">
                <a:solidFill>
                  <a:srgbClr val="CCD6F6"/>
                </a:solidFill>
              </a:rPr>
              <a:t> BI enables other initiatives; attributing success can be complex.</a:t>
            </a:r>
            <a:endParaRPr lang="en-US" sz="885" dirty="0"/>
          </a:p>
        </p:txBody>
      </p:sp>
      <p:sp>
        <p:nvSpPr>
          <p:cNvPr id="20" name="Shape 9"/>
          <p:cNvSpPr/>
          <p:nvPr/>
        </p:nvSpPr>
        <p:spPr>
          <a:xfrm>
            <a:off x="571500" y="4568428"/>
            <a:ext cx="8001000" cy="5750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0"/>
          <p:cNvSpPr/>
          <p:nvPr/>
        </p:nvSpPr>
        <p:spPr>
          <a:xfrm>
            <a:off x="571500" y="4568428"/>
            <a:ext cx="8001000" cy="7144"/>
          </a:xfrm>
          <a:prstGeom prst="rect">
            <a:avLst/>
          </a:prstGeom>
          <a:solidFill>
            <a:srgbClr val="E0FFF8"/>
          </a:solidFill>
          <a:ln/>
        </p:spPr>
      </p:sp>
      <p:sp>
        <p:nvSpPr>
          <p:cNvPr id="22" name="Text 11"/>
          <p:cNvSpPr/>
          <p:nvPr/>
        </p:nvSpPr>
        <p:spPr>
          <a:xfrm>
            <a:off x="571500" y="4754166"/>
            <a:ext cx="800100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i="1" dirty="0">
                <a:solidFill>
                  <a:srgbClr val="64FFDA"/>
                </a:solidFill>
              </a:rPr>
              <a:t>"The most effective financial case links BI costs directly to the tangible benefits of the business initiatives it supports."</a:t>
            </a:r>
            <a:endParaRPr lang="en-US" sz="987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Avoiding the Traps: Why Justifications Fail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3893344" cy="1486793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28575" cy="1486793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262658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64419" y="1241227"/>
            <a:ext cx="149421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CCD6F6"/>
                </a:solidFill>
              </a:rPr>
              <a:t>Over-Promising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785813" y="1562695"/>
            <a:ext cx="346471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Selling "Information Nirvana" instead of realistic, incremental value. </a:t>
            </a:r>
            <a:r>
              <a:rPr lang="en-US" sz="784" b="1" dirty="0">
                <a:solidFill>
                  <a:srgbClr val="F44336"/>
                </a:solidFill>
              </a:rPr>
              <a:t>Result:</a:t>
            </a:r>
            <a:r>
              <a:rPr lang="en-US" sz="834" dirty="0">
                <a:solidFill>
                  <a:srgbClr val="8892B0"/>
                </a:solidFill>
              </a:rPr>
              <a:t> Inevitable perceived failure when reality falls short of the hype.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4679156" y="1026914"/>
            <a:ext cx="3893344" cy="1486793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0" name="Shape 6"/>
          <p:cNvSpPr/>
          <p:nvPr/>
        </p:nvSpPr>
        <p:spPr>
          <a:xfrm>
            <a:off x="4679156" y="1026914"/>
            <a:ext cx="28575" cy="1486793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262658"/>
            <a:ext cx="192881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93506" y="1241227"/>
            <a:ext cx="128213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CCD6F6"/>
                </a:solidFill>
              </a:rPr>
              <a:t>IT-Only Focus</a:t>
            </a:r>
            <a:endParaRPr lang="en-US" sz="1090" dirty="0"/>
          </a:p>
        </p:txBody>
      </p:sp>
      <p:sp>
        <p:nvSpPr>
          <p:cNvPr id="13" name="Text 8"/>
          <p:cNvSpPr/>
          <p:nvPr/>
        </p:nvSpPr>
        <p:spPr>
          <a:xfrm>
            <a:off x="4893469" y="1562695"/>
            <a:ext cx="346471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Treating BI as a technology project rather than a business enabler. </a:t>
            </a:r>
            <a:r>
              <a:rPr lang="en-US" sz="784" b="1" dirty="0">
                <a:solidFill>
                  <a:srgbClr val="F44336"/>
                </a:solidFill>
              </a:rPr>
              <a:t>Result:</a:t>
            </a:r>
            <a:r>
              <a:rPr lang="en-US" sz="834" dirty="0">
                <a:solidFill>
                  <a:srgbClr val="8892B0"/>
                </a:solidFill>
              </a:rPr>
              <a:t> Low user adoption and lack of business accountability.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571500" y="2728020"/>
            <a:ext cx="3893344" cy="1486793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" y="2728020"/>
            <a:ext cx="28575" cy="1486793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2963763"/>
            <a:ext cx="150019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42988" y="2942332"/>
            <a:ext cx="178822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CCD6F6"/>
                </a:solidFill>
              </a:rPr>
              <a:t>Skipping Readiness</a:t>
            </a:r>
            <a:endParaRPr lang="en-US" sz="1090" dirty="0"/>
          </a:p>
        </p:txBody>
      </p:sp>
      <p:sp>
        <p:nvSpPr>
          <p:cNvPr id="18" name="Text 12"/>
          <p:cNvSpPr/>
          <p:nvPr/>
        </p:nvSpPr>
        <p:spPr>
          <a:xfrm>
            <a:off x="785813" y="3263801"/>
            <a:ext cx="346471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Ignoring data quality issues or cultural resistance during the planning phase. </a:t>
            </a:r>
            <a:r>
              <a:rPr lang="en-US" sz="784" b="1" dirty="0">
                <a:solidFill>
                  <a:srgbClr val="F44336"/>
                </a:solidFill>
              </a:rPr>
              <a:t>Result:</a:t>
            </a:r>
            <a:r>
              <a:rPr lang="en-US" sz="834" dirty="0">
                <a:solidFill>
                  <a:srgbClr val="8892B0"/>
                </a:solidFill>
              </a:rPr>
              <a:t> Technical roadblocks and organizational rejection.</a:t>
            </a:r>
            <a:endParaRPr lang="en-US" sz="834" dirty="0"/>
          </a:p>
        </p:txBody>
      </p:sp>
      <p:sp>
        <p:nvSpPr>
          <p:cNvPr id="19" name="Shape 13"/>
          <p:cNvSpPr/>
          <p:nvPr/>
        </p:nvSpPr>
        <p:spPr>
          <a:xfrm>
            <a:off x="4679156" y="2728020"/>
            <a:ext cx="3893344" cy="1486793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0" name="Shape 14"/>
          <p:cNvSpPr/>
          <p:nvPr/>
        </p:nvSpPr>
        <p:spPr>
          <a:xfrm>
            <a:off x="4679156" y="2728020"/>
            <a:ext cx="28575" cy="1486793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2963763"/>
            <a:ext cx="171450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72075" y="2942332"/>
            <a:ext cx="16046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CCD6F6"/>
                </a:solidFill>
              </a:rPr>
              <a:t>Lack of Roadmap</a:t>
            </a:r>
            <a:endParaRPr lang="en-US" sz="1090" dirty="0"/>
          </a:p>
        </p:txBody>
      </p:sp>
      <p:sp>
        <p:nvSpPr>
          <p:cNvPr id="23" name="Text 16"/>
          <p:cNvSpPr/>
          <p:nvPr/>
        </p:nvSpPr>
        <p:spPr>
          <a:xfrm>
            <a:off x="4893469" y="3263801"/>
            <a:ext cx="34647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8892B0"/>
                </a:solidFill>
              </a:rPr>
              <a:t>Treating BI as a one-off project with a fixed end date. </a:t>
            </a:r>
            <a:r>
              <a:rPr lang="en-US" sz="784" b="1" dirty="0">
                <a:solidFill>
                  <a:srgbClr val="F44336"/>
                </a:solidFill>
              </a:rPr>
              <a:t>Result:</a:t>
            </a:r>
            <a:r>
              <a:rPr lang="en-US" sz="834" dirty="0">
                <a:solidFill>
                  <a:srgbClr val="8892B0"/>
                </a:solidFill>
              </a:rPr>
              <a:t> Stagnation and failure to adapt to evolving business needs.</a:t>
            </a:r>
            <a:endParaRPr lang="en-US" sz="834" dirty="0"/>
          </a:p>
        </p:txBody>
      </p:sp>
      <p:sp>
        <p:nvSpPr>
          <p:cNvPr id="24" name="Shape 17"/>
          <p:cNvSpPr/>
          <p:nvPr/>
        </p:nvSpPr>
        <p:spPr>
          <a:xfrm>
            <a:off x="571500" y="4429125"/>
            <a:ext cx="8001000" cy="714375"/>
          </a:xfrm>
          <a:prstGeom prst="rect">
            <a:avLst/>
          </a:prstGeom>
          <a:solidFill>
            <a:srgbClr val="F44336">
              <a:alpha val="10000"/>
            </a:srgbClr>
          </a:solidFill>
          <a:ln w="9144">
            <a:solidFill>
              <a:srgbClr val="F44336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85813" y="4607719"/>
            <a:ext cx="7572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CD6F6"/>
                </a:solidFill>
              </a:rPr>
              <a:t>The Ultimate Pitfall: Viewing justification as a "one-time hurdle" for funding.</a:t>
            </a:r>
            <a:endParaRPr lang="en-US" sz="885" dirty="0"/>
          </a:p>
        </p:txBody>
      </p:sp>
      <p:sp>
        <p:nvSpPr>
          <p:cNvPr id="26" name="Text 19"/>
          <p:cNvSpPr/>
          <p:nvPr/>
        </p:nvSpPr>
        <p:spPr>
          <a:xfrm>
            <a:off x="785813" y="4854178"/>
            <a:ext cx="75723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F44336"/>
                </a:solidFill>
              </a:rPr>
              <a:t>Justification is an ongoing process of alignment, expectation management, and value delivery.</a:t>
            </a:r>
            <a:endParaRPr lang="en-US" sz="834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Summary: The Path to BI Approval and Success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66217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5825" y="1098352"/>
            <a:ext cx="38862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57CBFF"/>
                </a:solidFill>
              </a:rPr>
              <a:t>Justification is Strategic:</a:t>
            </a:r>
            <a:r>
              <a:rPr lang="en-US" sz="1050" dirty="0">
                <a:solidFill>
                  <a:srgbClr val="CCD6F6"/>
                </a:solidFill>
              </a:rPr>
              <a:t> It is a vehicle for setting realistic expectations and managing project risk, not just a tool for approval.</a:t>
            </a:r>
            <a:endParaRPr lang="en-US" sz="987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23467"/>
            <a:ext cx="171450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5825" y="1955602"/>
            <a:ext cx="3886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57CBFF"/>
                </a:solidFill>
              </a:rPr>
              <a:t>Business First:</a:t>
            </a:r>
            <a:r>
              <a:rPr lang="en-US" sz="1050" dirty="0">
                <a:solidFill>
                  <a:srgbClr val="CCD6F6"/>
                </a:solidFill>
              </a:rPr>
              <a:t> Value propositions and strategic alignment must always precede technical tool selection.</a:t>
            </a:r>
            <a:endParaRPr lang="en-US" sz="987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66405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85825" y="2598539"/>
            <a:ext cx="3886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57CBFF"/>
                </a:solidFill>
              </a:rPr>
              <a:t>Readiness is Key:</a:t>
            </a:r>
            <a:r>
              <a:rPr lang="en-US" sz="1050" dirty="0">
                <a:solidFill>
                  <a:srgbClr val="CCD6F6"/>
                </a:solidFill>
              </a:rPr>
              <a:t> Assessing data, skills, and culture prevents early failure and identifies critical gaps.</a:t>
            </a:r>
            <a:endParaRPr lang="en-US" sz="987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09342"/>
            <a:ext cx="171450" cy="17145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85825" y="3241477"/>
            <a:ext cx="3886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57CBFF"/>
                </a:solidFill>
              </a:rPr>
              <a:t>Incremental Delivery:</a:t>
            </a:r>
            <a:r>
              <a:rPr lang="en-US" sz="1050" dirty="0">
                <a:solidFill>
                  <a:srgbClr val="CCD6F6"/>
                </a:solidFill>
              </a:rPr>
              <a:t> A multi-year roadmap with quick wins builds momentum and secures long-term funding.</a:t>
            </a:r>
            <a:endParaRPr lang="en-US" sz="987" dirty="0"/>
          </a:p>
        </p:txBody>
      </p:sp>
      <p:sp>
        <p:nvSpPr>
          <p:cNvPr id="12" name="Shape 5"/>
          <p:cNvSpPr/>
          <p:nvPr/>
        </p:nvSpPr>
        <p:spPr>
          <a:xfrm>
            <a:off x="5200650" y="1098352"/>
            <a:ext cx="3371850" cy="398799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3" name="Shape 6"/>
          <p:cNvSpPr/>
          <p:nvPr/>
        </p:nvSpPr>
        <p:spPr>
          <a:xfrm>
            <a:off x="5200650" y="1098352"/>
            <a:ext cx="3371850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5473" y="1609130"/>
            <a:ext cx="482203" cy="42862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486400" y="2325291"/>
            <a:ext cx="280035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193" b="1" i="1" dirty="0">
                <a:solidFill>
                  <a:srgbClr val="CCD6F6"/>
                </a:solidFill>
              </a:rPr>
              <a:t>"A well-justified BI project is half-won before the first line of code is written."</a:t>
            </a:r>
            <a:endParaRPr lang="en-US" sz="1193" dirty="0"/>
          </a:p>
        </p:txBody>
      </p:sp>
      <p:sp>
        <p:nvSpPr>
          <p:cNvPr id="16" name="Text 8"/>
          <p:cNvSpPr/>
          <p:nvPr/>
        </p:nvSpPr>
        <p:spPr>
          <a:xfrm>
            <a:off x="5486400" y="3259643"/>
            <a:ext cx="280035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8892B0"/>
                </a:solidFill>
              </a:rPr>
              <a:t>Focus on the business problem, engage the right people, and deliver value incrementally.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18545</Words>
  <Application>Microsoft Office PowerPoint</Application>
  <PresentationFormat>On-screen Show (16:9)</PresentationFormat>
  <Paragraphs>2142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31</cp:revision>
  <dcterms:created xsi:type="dcterms:W3CDTF">2026-01-18T09:01:02Z</dcterms:created>
  <dcterms:modified xsi:type="dcterms:W3CDTF">2026-01-26T01:32:39Z</dcterms:modified>
</cp:coreProperties>
</file>