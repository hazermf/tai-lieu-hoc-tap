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24818" autoAdjust="0"/>
  </p:normalViewPr>
  <p:slideViewPr>
    <p:cSldViewPr snapToGrid="0" snapToObjects="1">
      <p:cViewPr varScale="1">
        <p:scale>
          <a:sx n="36" d="100"/>
          <a:sy n="36" d="100"/>
        </p:scale>
        <p:origin x="3774" y="30"/>
      </p:cViewPr>
      <p:guideLst/>
    </p:cSldViewPr>
  </p:slideViewPr>
  <p:notesTextViewPr>
    <p:cViewPr>
      <p:scale>
        <a:sx n="1" d="1"/>
        <a:sy n="1" d="1"/>
      </p:scale>
      <p:origin x="0" y="-4134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430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Why Requirements Matter: The Project Blueprint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dùng một phép so sánh rất trực quan:</a:t>
            </a:r>
          </a:p>
          <a:p>
            <a:r>
              <a:rPr lang="vi-VN" b="1" dirty="0"/>
              <a:t>“You wouldn’t build a house without blueprints; BI requirements are your project blueprints.”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bản vẽ → nhà sập,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requirements rõ ràng → dự án BI thất bại.</a:t>
            </a:r>
          </a:p>
          <a:p>
            <a:r>
              <a:rPr lang="en-US" dirty="0"/>
              <a:t>=&gt; </a:t>
            </a:r>
            <a:r>
              <a:rPr lang="vi-VN" dirty="0"/>
              <a:t>Requirements </a:t>
            </a:r>
            <a:r>
              <a:rPr lang="vi-VN" b="1" dirty="0"/>
              <a:t>không phải thủ tục hành chính</a:t>
            </a:r>
            <a:r>
              <a:rPr lang="vi-VN" dirty="0"/>
              <a:t>, mà là </a:t>
            </a:r>
            <a:r>
              <a:rPr lang="vi-VN" b="1" dirty="0"/>
              <a:t>nền móng của toàn bộ dự án</a:t>
            </a:r>
            <a:r>
              <a:rPr lang="vi-VN" dirty="0"/>
              <a:t>.</a:t>
            </a:r>
          </a:p>
          <a:p>
            <a:r>
              <a:rPr lang="vi-VN" b="1" dirty="0"/>
              <a:t>1. Document what will be built – Ghi rõ sẽ xây gì</a:t>
            </a:r>
          </a:p>
          <a:p>
            <a:r>
              <a:rPr lang="vi-VN" b="1" dirty="0"/>
              <a:t>Ý nghĩa: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Requirements giúp mô tả </a:t>
            </a:r>
            <a:r>
              <a:rPr lang="vi-VN" b="1" dirty="0"/>
              <a:t>chính xác BI sẽ làm gì và không làm gì</a:t>
            </a:r>
            <a:r>
              <a:rPr lang="vi-VN" dirty="0"/>
              <a:t>.</a:t>
            </a:r>
          </a:p>
          <a:p>
            <a:r>
              <a:rPr lang="vi-VN" b="1" dirty="0"/>
              <a:t>Tác dụng: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căn chỉnh kỳ vọng,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kiểm soát scope,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tình trạng: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“tôi tưởng cái này cũng có”,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“sao báo cáo này không giống tôi nghĩ”.</a:t>
            </a:r>
          </a:p>
          <a:p>
            <a:r>
              <a:rPr lang="en-US" dirty="0"/>
              <a:t>=&gt; </a:t>
            </a:r>
            <a:r>
              <a:rPr lang="vi-VN" dirty="0"/>
              <a:t>Không có tài liệu yêu cầu → scope trôi, kỳ vọng lệch.</a:t>
            </a:r>
          </a:p>
          <a:p>
            <a:r>
              <a:rPr lang="vi-VN" b="1" dirty="0"/>
              <a:t>2. Establish a shared understanding – Tạo sự hiểu chung</a:t>
            </a:r>
          </a:p>
          <a:p>
            <a:r>
              <a:rPr lang="vi-VN" b="1" dirty="0"/>
              <a:t>Vấn đề phổ biến: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và IT nói </a:t>
            </a:r>
            <a:r>
              <a:rPr lang="vi-VN" b="1" dirty="0"/>
              <a:t>hai ngôn ngữ khác nhau</a:t>
            </a:r>
            <a:r>
              <a:rPr lang="vi-VN" dirty="0"/>
              <a:t>.</a:t>
            </a:r>
          </a:p>
          <a:p>
            <a:r>
              <a:rPr lang="vi-VN" b="1" dirty="0"/>
              <a:t>Vai trò của requirements: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“phiên dịch” giữa: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mục tiêu kinh doanh,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và giải pháp kỹ thuật.</a:t>
            </a:r>
          </a:p>
          <a:p>
            <a:r>
              <a:rPr lang="en-US" dirty="0"/>
              <a:t>=&gt; </a:t>
            </a:r>
            <a:r>
              <a:rPr lang="vi-VN" dirty="0"/>
              <a:t>Khi yêu cầu rõ ràng: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biết họ sẽ nhận được gì,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IT biết họ phải xây gì,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team tránh bị “đổ lỗi” khi hiểu sai.</a:t>
            </a:r>
          </a:p>
          <a:p>
            <a:r>
              <a:rPr lang="vi-VN" b="1" dirty="0"/>
              <a:t>3. Provide the foundation for all technical deliverables</a:t>
            </a:r>
          </a:p>
          <a:p>
            <a:r>
              <a:rPr lang="vi-VN" dirty="0"/>
              <a:t>Slide nhấn mạnh:</a:t>
            </a:r>
            <a:br>
              <a:rPr lang="vi-VN" dirty="0"/>
            </a:br>
            <a:r>
              <a:rPr lang="vi-VN" b="1" dirty="0"/>
              <a:t>Mọi thành phần kỹ thuật của BI đều xuất phát từ requirements.</a:t>
            </a:r>
            <a:endParaRPr lang="vi-VN" dirty="0"/>
          </a:p>
          <a:p>
            <a:r>
              <a:rPr lang="vi-VN" b="1" dirty="0"/>
              <a:t>a. Data Models – Cấu trúc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nào cần?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Dimension nào phải có?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Grain ở mức nào?</a:t>
            </a:r>
          </a:p>
          <a:p>
            <a:r>
              <a:rPr lang="en-US" dirty="0"/>
              <a:t>=&gt; </a:t>
            </a:r>
            <a:r>
              <a:rPr lang="vi-VN" dirty="0"/>
              <a:t>Sai requirements → sai mô hình dữ liệu → sửa rất tốn kém.</a:t>
            </a:r>
          </a:p>
          <a:p>
            <a:r>
              <a:rPr lang="vi-VN" b="1" dirty="0"/>
              <a:t>b. Data Integration – ETL Pipeline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Lấy dữ liệu từ đâu?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Tần suất cập nhật?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Luật chuyển đổi dữ liệu?</a:t>
            </a:r>
          </a:p>
          <a:p>
            <a:r>
              <a:rPr lang="en-US" dirty="0"/>
              <a:t>=&gt; </a:t>
            </a:r>
            <a:r>
              <a:rPr lang="vi-VN" dirty="0"/>
              <a:t>Không rõ yêu cầu → ETL phức tạp, khó bảo trì.</a:t>
            </a:r>
          </a:p>
          <a:p>
            <a:r>
              <a:rPr lang="vi-VN" b="1" dirty="0"/>
              <a:t>c. BI Applications – Dashboard &amp;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Ai dùng?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Quyết định gì?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Tần suất sử dụng?</a:t>
            </a:r>
          </a:p>
          <a:p>
            <a:r>
              <a:rPr lang="en-US" dirty="0"/>
              <a:t>=&gt; </a:t>
            </a:r>
            <a:r>
              <a:rPr lang="vi-VN" dirty="0"/>
              <a:t>Dashboard đẹp nhưng không dựa trên yêu cầu thật → </a:t>
            </a:r>
            <a:r>
              <a:rPr lang="vi-VN" b="1" dirty="0"/>
              <a:t>không ai dùng</a:t>
            </a:r>
            <a:r>
              <a:rPr lang="vi-VN" dirty="0"/>
              <a:t>.</a:t>
            </a:r>
          </a:p>
          <a:p>
            <a:r>
              <a:rPr lang="vi-VN" b="1" dirty="0"/>
              <a:t>4. Vì sao requirements đặc biệt quan trọng trong BI?</a:t>
            </a:r>
          </a:p>
          <a:p>
            <a:r>
              <a:rPr lang="vi-VN" dirty="0"/>
              <a:t>Khác với hệ thống giao dịch: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BI: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mơ hồ hơn,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dễ thay đổi,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phụ thuộc nhiều vào người dùng.</a:t>
            </a:r>
          </a:p>
          <a:p>
            <a:r>
              <a:rPr lang="en-US" dirty="0"/>
              <a:t>=&gt; </a:t>
            </a:r>
            <a:r>
              <a:rPr lang="vi-VN" dirty="0"/>
              <a:t>Nếu không làm rõ từ đầu: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dự án dễ rơi vào: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scope creep,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rework liên tục,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mất niềm tin của business.</a:t>
            </a:r>
          </a:p>
          <a:p>
            <a:r>
              <a:rPr lang="vi-VN" b="1" dirty="0"/>
              <a:t>5. Liên hệ với các nội dung trước</a:t>
            </a:r>
          </a:p>
          <a:p>
            <a:r>
              <a:rPr lang="vi-VN" dirty="0"/>
              <a:t>Slide này kết nối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Justification,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Scope Definition,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Roadmap,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Quality &amp; Governance.</a:t>
            </a:r>
          </a:p>
          <a:p>
            <a:r>
              <a:rPr lang="en-US" dirty="0"/>
              <a:t>=&gt; </a:t>
            </a:r>
            <a:r>
              <a:rPr lang="vi-VN" dirty="0"/>
              <a:t>Requirements chính là </a:t>
            </a:r>
            <a:r>
              <a:rPr lang="vi-VN" b="1" dirty="0"/>
              <a:t>cầu nối từ “Why” (Business Case) sang “How” (Technical Implementation)</a:t>
            </a:r>
            <a:r>
              <a:rPr lang="vi-VN" dirty="0"/>
              <a:t>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Requirements = bản vẽ dự án BI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requirements rõ → không có BI thành công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Tài liệu yêu cầu giúp: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giảm rủi ro,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giảm chi phí sửa sai,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tăng adoption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tốt bắt đầu từ </a:t>
            </a:r>
            <a:r>
              <a:rPr lang="vi-VN" b="1" dirty="0"/>
              <a:t>hiểu đúng vấn đề</a:t>
            </a:r>
            <a:r>
              <a:rPr lang="vi-VN" dirty="0"/>
              <a:t>, không phải chọn đúng tool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Human Challenge: People, Politics, and Assumptions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nhấn mạnh một thực tế thường bị đánh giá thấp:</a:t>
            </a:r>
          </a:p>
          <a:p>
            <a:r>
              <a:rPr lang="vi-VN" b="1" dirty="0"/>
              <a:t>Các vấn đề lớn nhất trong giai đoạn requirements không nằm trong dữ liệu hay công nghệ, mà nằm ở con người, chính trị tổ chức và những giả định ngầm.</a:t>
            </a:r>
            <a:endParaRPr lang="vi-VN" dirty="0"/>
          </a:p>
          <a:p>
            <a:r>
              <a:rPr lang="vi-VN" dirty="0"/>
              <a:t>Nếu không xử lý tốt yếu tố “human”, dự án BI rất dễ </a:t>
            </a:r>
            <a:r>
              <a:rPr lang="vi-VN" b="1" dirty="0"/>
              <a:t>trật hướng ngay từ đầu</a:t>
            </a:r>
            <a:r>
              <a:rPr lang="vi-VN" dirty="0"/>
              <a:t>.</a:t>
            </a:r>
          </a:p>
          <a:p>
            <a:r>
              <a:rPr lang="vi-VN" b="1" dirty="0"/>
              <a:t>1. People-Oriented – Giai đoạn thiên về con người</a:t>
            </a:r>
          </a:p>
          <a:p>
            <a:r>
              <a:rPr lang="vi-VN" b="1" dirty="0"/>
              <a:t>Giải thích: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Thu thập yêu cầu BI là </a:t>
            </a:r>
            <a:r>
              <a:rPr lang="vi-VN" b="1" dirty="0"/>
              <a:t>giai đoạn mang tính con người nhất</a:t>
            </a:r>
            <a:r>
              <a:rPr lang="vi-VN" dirty="0"/>
              <a:t> của vòng đời BI.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Đòi hỏi: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tương tác liên tục giữa người dùng business,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nhà quản lý,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sponsor,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và đội BI/IT.</a:t>
            </a:r>
          </a:p>
          <a:p>
            <a:r>
              <a:rPr lang="vi-VN" b="1" dirty="0"/>
              <a:t>Hệ quả: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Khác biệt về ngôn ngữ, ưu tiên và góc nhìn rất dễ gây hiểu nhầm.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thể “làm một mình” hay chỉ dựa vào tài liệu.</a:t>
            </a:r>
          </a:p>
          <a:p>
            <a:r>
              <a:rPr lang="en-US" dirty="0"/>
              <a:t>=&gt; </a:t>
            </a:r>
            <a:r>
              <a:rPr lang="vi-VN" dirty="0"/>
              <a:t>BI analyst phải đóng vai trò </a:t>
            </a:r>
            <a:r>
              <a:rPr lang="vi-VN" b="1" dirty="0"/>
              <a:t>facilitator</a:t>
            </a:r>
            <a:r>
              <a:rPr lang="vi-VN" dirty="0"/>
              <a:t>, không chỉ là người ghi chép yêu cầu.</a:t>
            </a:r>
          </a:p>
          <a:p>
            <a:r>
              <a:rPr lang="vi-VN" b="1" dirty="0"/>
              <a:t>2. Political Influence – Ảnh hưởng của chính trị tổ chức</a:t>
            </a:r>
          </a:p>
          <a:p>
            <a:r>
              <a:rPr lang="vi-VN" b="1" dirty="0"/>
              <a:t>Giải thích: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phòng ban có: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lợi ích khác nhau,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KPI khác nhau,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mức độ ảnh hưởng khác nhau.</a:t>
            </a:r>
          </a:p>
          <a:p>
            <a:r>
              <a:rPr lang="vi-VN" b="1" dirty="0"/>
              <a:t>Biểu hiện thường gặp: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Tranh luận ngầm về định nghĩa KPI,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minh bạch dữ liệu vì sợ bị đánh giá,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Một số yêu cầu phản ánh </a:t>
            </a:r>
            <a:r>
              <a:rPr lang="vi-VN" b="1" dirty="0"/>
              <a:t>quyền lực</a:t>
            </a:r>
            <a:r>
              <a:rPr lang="vi-VN" dirty="0"/>
              <a:t>, không phải nhu cầu thật.</a:t>
            </a:r>
          </a:p>
          <a:p>
            <a:r>
              <a:rPr lang="en-US" dirty="0"/>
              <a:t>=&gt; </a:t>
            </a:r>
            <a:r>
              <a:rPr lang="vi-VN" dirty="0"/>
              <a:t>Đây là vùng “khó chịu” với nhiều kỹ sư, nhưng </a:t>
            </a:r>
            <a:r>
              <a:rPr lang="vi-VN" b="1" dirty="0"/>
              <a:t>không thể né tránh</a:t>
            </a:r>
            <a:r>
              <a:rPr lang="vi-VN" dirty="0"/>
              <a:t> trong BI.</a:t>
            </a:r>
          </a:p>
          <a:p>
            <a:r>
              <a:rPr lang="vi-VN" b="1" dirty="0"/>
              <a:t>3. Hidden Assumptions – Những giả định ẩn</a:t>
            </a:r>
          </a:p>
          <a:p>
            <a:r>
              <a:rPr lang="vi-VN" b="1" dirty="0"/>
              <a:t>Giải thích: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thường: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quen dùng spreadsheet cá nhân,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dựa vào logic “ai cũng biết”,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tài liệu hóa quy tắc nghiệp vụ.</a:t>
            </a:r>
          </a:p>
          <a:p>
            <a:r>
              <a:rPr lang="vi-VN" b="1" dirty="0"/>
              <a:t>Rủi ro: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giả định này </a:t>
            </a:r>
            <a:r>
              <a:rPr lang="vi-VN" b="1" dirty="0"/>
              <a:t>không được nói ra</a:t>
            </a:r>
            <a:r>
              <a:rPr lang="vi-VN" dirty="0"/>
              <a:t> trong giai đoạn requirements,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nhưng lại trở thành “yêu cầu bắt buộc” khi sản phẩm được bàn giao.</a:t>
            </a:r>
          </a:p>
          <a:p>
            <a:r>
              <a:rPr lang="en-US" dirty="0"/>
              <a:t>=&gt; </a:t>
            </a:r>
            <a:r>
              <a:rPr lang="vi-VN" dirty="0"/>
              <a:t>Đây là nguồn gốc phổ biến của câu nói:</a:t>
            </a:r>
          </a:p>
          <a:p>
            <a:r>
              <a:rPr lang="vi-VN" dirty="0"/>
              <a:t>“Hệ thống đúng, nhưng không giống cách chúng tôi vẫn làm.”</a:t>
            </a:r>
          </a:p>
          <a:p>
            <a:r>
              <a:rPr lang="vi-VN" b="1" dirty="0"/>
              <a:t>4. Dòng cảnh báo cuối slide – Critical Risk</a:t>
            </a:r>
          </a:p>
          <a:p>
            <a:r>
              <a:rPr lang="vi-VN" b="1" dirty="0"/>
              <a:t>Requirement surprises late in the project are the primary cause of delays, cost overruns, and perceived failure.</a:t>
            </a:r>
            <a:endParaRPr lang="vi-VN" dirty="0"/>
          </a:p>
          <a:p>
            <a:r>
              <a:rPr lang="vi-VN" b="1" dirty="0"/>
              <a:t>Ý nghĩa: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Những “bất ngờ” về yêu cầu ở giai đoạn muộn: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tốn kém để sửa,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gây trễ tiến độ,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và làm mất niềm tin.</a:t>
            </a:r>
          </a:p>
          <a:p>
            <a:r>
              <a:rPr lang="en-US" dirty="0"/>
              <a:t>=&gt; </a:t>
            </a:r>
            <a:r>
              <a:rPr lang="vi-VN" dirty="0"/>
              <a:t>Phát hiện sớm giả định ẩn và xung đột lợi ích </a:t>
            </a:r>
            <a:r>
              <a:rPr lang="vi-VN" b="1" dirty="0"/>
              <a:t>rẻ hơn rất nhiều</a:t>
            </a:r>
            <a:r>
              <a:rPr lang="vi-VN" dirty="0"/>
              <a:t> so với sửa sau khi triển khai.</a:t>
            </a:r>
          </a:p>
          <a:p>
            <a:r>
              <a:rPr lang="vi-VN" b="1" dirty="0"/>
              <a:t>5. Liên hệ với các nội dung trước</a:t>
            </a:r>
          </a:p>
          <a:p>
            <a:r>
              <a:rPr lang="vi-VN" dirty="0"/>
              <a:t>Slide này liên kết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Why Requirements Matter,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Stakeholder Engagement,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Avoiding the “Power User” Trap,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Change Management trong BI.</a:t>
            </a:r>
          </a:p>
          <a:p>
            <a:r>
              <a:rPr lang="en-US" dirty="0"/>
              <a:t>=&gt; </a:t>
            </a:r>
            <a:r>
              <a:rPr lang="vi-VN" dirty="0"/>
              <a:t>Thu thập yêu cầu BI là </a:t>
            </a:r>
            <a:r>
              <a:rPr lang="vi-VN" b="1" dirty="0"/>
              <a:t>bài toán quản trị con người</a:t>
            </a:r>
            <a:r>
              <a:rPr lang="vi-VN" dirty="0"/>
              <a:t>, không chỉ là phân tích nghiệp vụ.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analyst cần kỹ năng giao tiếp, không chỉ kỹ thuật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Chính trị tổ chức là thực tế, không phải ngoại lệ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 định ngầm là kẻ thù nguy hiểm nhất của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Hỏi “tại sao” quan trọng không kém hỏi “cái gì”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Avoiding the Traps: Why Requirements Fail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đưa ra một cảnh báo rất thẳng thắn:</a:t>
            </a:r>
          </a:p>
          <a:p>
            <a:r>
              <a:rPr lang="vi-VN" b="1" dirty="0"/>
              <a:t>Yêu cầu (requirements) kém không chỉ làm chậm dự án – mà thường đặt dự án BI lên “đường thẳng dẫn tới thất bại”.</a:t>
            </a:r>
            <a:endParaRPr lang="vi-VN" dirty="0"/>
          </a:p>
          <a:p>
            <a:r>
              <a:rPr lang="vi-VN" dirty="0"/>
              <a:t>Hầu hết các vấn đề nghiêm trọng trong giai đoạn triển khai </a:t>
            </a:r>
            <a:r>
              <a:rPr lang="vi-VN" b="1" dirty="0"/>
              <a:t>đều bắt nguồn từ requirements sai hoặc thiếu</a:t>
            </a:r>
            <a:r>
              <a:rPr lang="vi-VN" dirty="0"/>
              <a:t>.</a:t>
            </a:r>
          </a:p>
          <a:p>
            <a:r>
              <a:rPr lang="vi-VN" b="1" dirty="0"/>
              <a:t>1. Vagueness – Yêu cầu mơ hồ</a:t>
            </a:r>
          </a:p>
          <a:p>
            <a:r>
              <a:rPr lang="vi-VN" b="1" dirty="0"/>
              <a:t>Mô tả vấn đề: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quá chung chung, ví dụ: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“cần dashboard tổng hợp”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“cần phân tích hiệu quả kinh doanh”</a:t>
            </a:r>
          </a:p>
          <a:p>
            <a:r>
              <a:rPr lang="vi-VN" b="1" dirty="0"/>
              <a:t>Hệ quả: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Mỗi bên hiểu một kiểu,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IT triển khai theo suy đoán,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thất vọng vì “không đúng cái mình nghĩ”.</a:t>
            </a:r>
          </a:p>
          <a:p>
            <a:r>
              <a:rPr lang="en-US" dirty="0"/>
              <a:t>=&gt; </a:t>
            </a:r>
            <a:r>
              <a:rPr lang="vi-VN" b="1" dirty="0"/>
              <a:t>Mơ hồ = diễn giải sai = làm lại</a:t>
            </a:r>
            <a:r>
              <a:rPr lang="vi-VN" dirty="0"/>
              <a:t>.</a:t>
            </a:r>
          </a:p>
          <a:p>
            <a:r>
              <a:rPr lang="vi-VN" b="1" dirty="0"/>
              <a:t>2. Narrow Focus – Tập trung quá hẹp</a:t>
            </a:r>
          </a:p>
          <a:p>
            <a:r>
              <a:rPr lang="vi-VN" b="1" dirty="0"/>
              <a:t>Mô tả vấn đề: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Chỉ hỏi business: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“anh/chị muốn xem báo cáo gì?”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Bỏ qua: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dữ liệu nguồn,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chất lượng dữ liệu,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định nghĩa KPI.</a:t>
            </a:r>
          </a:p>
          <a:p>
            <a:r>
              <a:rPr lang="vi-VN" b="1" dirty="0"/>
              <a:t>Hệ quả: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Dashboard có nhưng: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dữ liệu không tin được,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KPI không nhất quán.</a:t>
            </a:r>
          </a:p>
          <a:p>
            <a:r>
              <a:rPr lang="en-US" dirty="0"/>
              <a:t>=&gt; </a:t>
            </a:r>
            <a:r>
              <a:rPr lang="vi-VN" dirty="0"/>
              <a:t>BI </a:t>
            </a:r>
            <a:r>
              <a:rPr lang="vi-VN" b="1" dirty="0"/>
              <a:t>không chỉ là giao diện</a:t>
            </a:r>
            <a:r>
              <a:rPr lang="vi-VN" dirty="0"/>
              <a:t>, mà là hệ thống dữ liệu phía sau.</a:t>
            </a:r>
          </a:p>
          <a:p>
            <a:r>
              <a:rPr lang="vi-VN" b="1" dirty="0"/>
              <a:t>3. Stagnation – Yêu cầu bị “đóng băng”</a:t>
            </a:r>
          </a:p>
          <a:p>
            <a:r>
              <a:rPr lang="vi-VN" b="1" dirty="0"/>
              <a:t>Mô tả vấn đề: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được ghi lại một lần,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Sau đó </a:t>
            </a:r>
            <a:r>
              <a:rPr lang="vi-VN" b="1" dirty="0"/>
              <a:t>không cập nhật</a:t>
            </a:r>
            <a:r>
              <a:rPr lang="vi-VN" dirty="0"/>
              <a:t> dù: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scope thay đổi,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business thay đổi.</a:t>
            </a:r>
          </a:p>
          <a:p>
            <a:r>
              <a:rPr lang="vi-VN" b="1" dirty="0"/>
              <a:t>Hệ quả: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trở nên lỗi thời ngay khi vừa hoàn thành,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đáp ứng được nhu cầu thực tế.</a:t>
            </a:r>
          </a:p>
          <a:p>
            <a:r>
              <a:rPr lang="en-US" dirty="0"/>
              <a:t>=&gt; </a:t>
            </a:r>
            <a:r>
              <a:rPr lang="vi-VN" dirty="0"/>
              <a:t>Requirements BI </a:t>
            </a:r>
            <a:r>
              <a:rPr lang="vi-VN" b="1" dirty="0"/>
              <a:t>phải sống</a:t>
            </a:r>
            <a:r>
              <a:rPr lang="vi-VN" dirty="0"/>
              <a:t>, không phải tài liệu chết.</a:t>
            </a:r>
          </a:p>
          <a:p>
            <a:r>
              <a:rPr lang="vi-VN" b="1" dirty="0"/>
              <a:t>4. Exclusion – Loại bỏ người xây hệ thống</a:t>
            </a:r>
          </a:p>
          <a:p>
            <a:r>
              <a:rPr lang="vi-VN" b="1" dirty="0"/>
              <a:t>Mô tả vấn đề: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Thu thập yêu cầu chỉ từ: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quản lý,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người dùng business.</a:t>
            </a:r>
          </a:p>
          <a:p>
            <a:r>
              <a:rPr lang="vi-VN" b="1" dirty="0"/>
              <a:t>Bỏ quên: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designers,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developers,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power users.</a:t>
            </a:r>
          </a:p>
          <a:p>
            <a:r>
              <a:rPr lang="vi-VN" b="1" dirty="0"/>
              <a:t>Hệ quả: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không khả thi,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Thiết kế thiếu thực tế,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Rework tốn kém.</a:t>
            </a:r>
          </a:p>
          <a:p>
            <a:r>
              <a:rPr lang="en-US" dirty="0"/>
              <a:t>=&gt; </a:t>
            </a:r>
            <a:r>
              <a:rPr lang="vi-VN" dirty="0"/>
              <a:t>Người triển khai </a:t>
            </a:r>
            <a:r>
              <a:rPr lang="vi-VN" b="1" dirty="0"/>
              <a:t>phải tham gia từ đầu</a:t>
            </a:r>
            <a:r>
              <a:rPr lang="vi-VN" dirty="0"/>
              <a:t>, không chỉ nhận việc.</a:t>
            </a:r>
          </a:p>
          <a:p>
            <a:r>
              <a:rPr lang="vi-VN" b="1" dirty="0"/>
              <a:t>5. Legacy Replication – Sao chép hệ thống cũ</a:t>
            </a:r>
          </a:p>
          <a:p>
            <a:r>
              <a:rPr lang="vi-VN" b="1" dirty="0"/>
              <a:t>Mô tả vấn đề: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“Làm y chang báo cáo cũ, nhưng trên tool mới”.</a:t>
            </a:r>
          </a:p>
          <a:p>
            <a:r>
              <a:rPr lang="vi-VN" b="1" dirty="0"/>
              <a:t>Hệ quả: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Giữ nguyên: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sai sót cũ,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logic lỗi thời,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 trình kém hiệu quả.</a:t>
            </a:r>
          </a:p>
          <a:p>
            <a:r>
              <a:rPr lang="en-US" dirty="0"/>
              <a:t>=&gt; </a:t>
            </a:r>
            <a:r>
              <a:rPr lang="vi-VN" dirty="0"/>
              <a:t>BI không phải để </a:t>
            </a:r>
            <a:r>
              <a:rPr lang="vi-VN" b="1" dirty="0"/>
              <a:t>số hóa sự kém hiệu quả</a:t>
            </a:r>
            <a:r>
              <a:rPr lang="vi-VN" dirty="0"/>
              <a:t>, mà để </a:t>
            </a:r>
            <a:r>
              <a:rPr lang="vi-VN" b="1" dirty="0"/>
              <a:t>cải tiến</a:t>
            </a:r>
            <a:r>
              <a:rPr lang="vi-VN" dirty="0"/>
              <a:t>.</a:t>
            </a:r>
          </a:p>
          <a:p>
            <a:r>
              <a:rPr lang="vi-VN" b="1" dirty="0"/>
              <a:t>6. Cutting Corners – Làm tắt cho nhanh</a:t>
            </a:r>
          </a:p>
          <a:p>
            <a:r>
              <a:rPr lang="vi-VN" b="1" dirty="0"/>
              <a:t>Mô tả vấn đề: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Bỏ qua tài liệu hóa,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làm rõ định nghĩa,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“Cứ làm trước, sửa sau”.</a:t>
            </a:r>
          </a:p>
          <a:p>
            <a:r>
              <a:rPr lang="vi-VN" b="1" dirty="0"/>
              <a:t>Hệ quả: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Sửa sau </a:t>
            </a:r>
            <a:r>
              <a:rPr lang="vi-VN" b="1" dirty="0"/>
              <a:t>luôn tốn nhiều thời gian hơn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Trễ tiến độ,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Tăng chi phí.</a:t>
            </a:r>
          </a:p>
          <a:p>
            <a:r>
              <a:rPr lang="en-US" dirty="0"/>
              <a:t>=&gt; </a:t>
            </a:r>
            <a:r>
              <a:rPr lang="vi-VN" dirty="0"/>
              <a:t>Tiết kiệm thời gian ở requirements = </a:t>
            </a:r>
            <a:r>
              <a:rPr lang="vi-VN" b="1" dirty="0"/>
              <a:t>trả giá gấp nhiều lần ở triển khai</a:t>
            </a:r>
            <a:r>
              <a:rPr lang="vi-VN" dirty="0"/>
              <a:t>.</a:t>
            </a:r>
          </a:p>
          <a:p>
            <a:r>
              <a:rPr lang="vi-VN" b="1" dirty="0"/>
              <a:t>7. Dòng kết luận cuối slide – Cảnh báo mạnh</a:t>
            </a:r>
          </a:p>
          <a:p>
            <a:r>
              <a:rPr lang="vi-VN" b="1" dirty="0"/>
              <a:t>“Murky requirements put the project on a direct path to failure.”</a:t>
            </a:r>
            <a:endParaRPr lang="vi-VN" dirty="0"/>
          </a:p>
          <a:p>
            <a:r>
              <a:rPr lang="vi-VN" dirty="0"/>
              <a:t>Điều này nhấn mạnh: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Requirements kém → thất bại gần như chắc chắn,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nghệ tốt </a:t>
            </a:r>
            <a:r>
              <a:rPr lang="vi-VN" b="1" dirty="0"/>
              <a:t>không cứu được</a:t>
            </a:r>
            <a:r>
              <a:rPr lang="vi-VN" dirty="0"/>
              <a:t> yêu cầu sai.</a:t>
            </a:r>
          </a:p>
          <a:p>
            <a:r>
              <a:rPr lang="vi-VN" b="1" dirty="0"/>
              <a:t>8. Liên hệ với toàn bộ chương Requirements</a:t>
            </a:r>
          </a:p>
          <a:p>
            <a:r>
              <a:rPr lang="vi-VN" dirty="0"/>
              <a:t>Slide này tổng hợp các nội dung trước: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Why Requirements Matter,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Human &amp; Political Challenges,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Stakeholder Engagement,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Scope Definition.</a:t>
            </a:r>
          </a:p>
          <a:p>
            <a:r>
              <a:rPr lang="en-US" dirty="0"/>
              <a:t>=&gt; </a:t>
            </a:r>
            <a:r>
              <a:rPr lang="vi-VN" dirty="0"/>
              <a:t>Mục tiêu của cả chương là </a:t>
            </a:r>
            <a:r>
              <a:rPr lang="vi-VN" b="1" dirty="0"/>
              <a:t>tránh chính những cái bẫy này</a:t>
            </a:r>
            <a:r>
              <a:rPr lang="vi-VN" dirty="0"/>
              <a:t>.</a:t>
            </a:r>
          </a:p>
          <a:p>
            <a:r>
              <a:rPr lang="vi-VN" b="1" dirty="0"/>
              <a:t>9.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Requirements BI là công việc khó nhưng cực kỳ quan trọng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Hỏi kỹ, hỏi sâu, hỏi đúng người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Ghi rõ, cập nhật liên tục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thất bại sớm thường bắt đầu từ requirements sai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Defining Success: Primary and Secondary Goals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nhấn mạnh rằng:</a:t>
            </a:r>
          </a:p>
          <a:p>
            <a:r>
              <a:rPr lang="vi-VN" b="1" dirty="0"/>
              <a:t>Thành công của giai đoạn xác định yêu cầu BI có hai lớp:</a:t>
            </a:r>
            <a:br>
              <a:rPr lang="vi-VN" b="1" dirty="0"/>
            </a:br>
            <a:r>
              <a:rPr lang="vi-VN" b="1" dirty="0"/>
              <a:t>(1) thành công “hữu hình” về mặt kỹ thuật, và</a:t>
            </a:r>
            <a:br>
              <a:rPr lang="vi-VN" b="1" dirty="0"/>
            </a:br>
            <a:r>
              <a:rPr lang="vi-VN" b="1" dirty="0"/>
              <a:t>(2) thành công “vô hình” về mặt con người và tổ chức.</a:t>
            </a:r>
            <a:endParaRPr lang="vi-VN" dirty="0"/>
          </a:p>
          <a:p>
            <a:r>
              <a:rPr lang="vi-VN" dirty="0"/>
              <a:t>Cả hai đều cần thiết để dự án BI đi tiếp một cách suôn sẻ.</a:t>
            </a:r>
          </a:p>
          <a:p>
            <a:r>
              <a:rPr lang="vi-VN" b="1" dirty="0"/>
              <a:t>1. Primary Objective – Clear Requirements (Mục tiêu chính)</a:t>
            </a:r>
          </a:p>
          <a:p>
            <a:r>
              <a:rPr lang="vi-VN" b="1" dirty="0"/>
              <a:t>Ý nghĩa</a:t>
            </a:r>
          </a:p>
          <a:p>
            <a:r>
              <a:rPr lang="vi-VN" dirty="0"/>
              <a:t>Mục tiêu </a:t>
            </a:r>
            <a:r>
              <a:rPr lang="vi-VN" b="1" dirty="0"/>
              <a:t>quan trọng nhất</a:t>
            </a:r>
            <a:r>
              <a:rPr lang="vi-VN" dirty="0"/>
              <a:t> của giai đoạn này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xây dựng </a:t>
            </a:r>
            <a:r>
              <a:rPr lang="vi-VN" b="1" dirty="0"/>
              <a:t>một bộ yêu cầu rõ ràng, thống nhất và được đồng thuận</a:t>
            </a:r>
            <a:r>
              <a:rPr lang="vi-VN" dirty="0"/>
              <a:t>.</a:t>
            </a:r>
          </a:p>
          <a:p>
            <a:r>
              <a:rPr lang="vi-VN" dirty="0"/>
              <a:t>Bộ yêu cầu này sẽ được dùng để: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thiết kế hệ thống,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xây dựng mô hình dữ liệu,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triển khai ETL,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phát triển dashboard và báo cáo,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trong </a:t>
            </a:r>
            <a:r>
              <a:rPr lang="vi-VN" b="1" dirty="0"/>
              <a:t>thời gian và ngân sách đã thống nhất</a:t>
            </a:r>
            <a:r>
              <a:rPr lang="vi-VN" dirty="0"/>
              <a:t>.</a:t>
            </a:r>
          </a:p>
          <a:p>
            <a:r>
              <a:rPr lang="en-US" dirty="0"/>
              <a:t>=&gt; </a:t>
            </a:r>
            <a:r>
              <a:rPr lang="vi-VN" dirty="0"/>
              <a:t>Nếu không đạt được mục tiêu này: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dự án dễ trễ hạn,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vượt chi phí,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gây thất vọng cho business.</a:t>
            </a:r>
          </a:p>
          <a:p>
            <a:r>
              <a:rPr lang="vi-VN" b="1" dirty="0"/>
              <a:t>2. Secondary Objective – Strong Relationships (Mục tiêu thứ cấp)</a:t>
            </a:r>
          </a:p>
          <a:p>
            <a:r>
              <a:rPr lang="vi-VN" b="1" dirty="0"/>
              <a:t>Ý nghĩa</a:t>
            </a:r>
          </a:p>
          <a:p>
            <a:r>
              <a:rPr lang="vi-VN" dirty="0"/>
              <a:t>Slide nhấn mạnh một điểm rất “thực tế” nhưng thường bị bỏ qua:</a:t>
            </a:r>
          </a:p>
          <a:p>
            <a:r>
              <a:rPr lang="vi-VN" dirty="0"/>
              <a:t>Giai đoạn requirements thường là </a:t>
            </a:r>
            <a:r>
              <a:rPr lang="vi-VN" b="1" dirty="0"/>
              <a:t>lần đầu tiên business, sponsor và BI team làm việc chặt chẽ với nhau</a:t>
            </a:r>
            <a:r>
              <a:rPr lang="vi-VN" dirty="0"/>
              <a:t>.</a:t>
            </a:r>
          </a:p>
          <a:p>
            <a:r>
              <a:rPr lang="vi-VN" dirty="0"/>
              <a:t>Nếu làm tốt: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xây dựng được </a:t>
            </a:r>
            <a:r>
              <a:rPr lang="vi-VN" b="1" dirty="0"/>
              <a:t>niềm tin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tạo kênh giao tiếp hiệu quả,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xung đột ở các giai đoạn sau.</a:t>
            </a:r>
          </a:p>
          <a:p>
            <a:r>
              <a:rPr lang="en-US" dirty="0"/>
              <a:t>=&gt; </a:t>
            </a:r>
            <a:r>
              <a:rPr lang="vi-VN" dirty="0"/>
              <a:t>Một bộ yêu cầu “ổn” + mối quan hệ xấu = dự án vẫn có nguy cơ thất bại.</a:t>
            </a:r>
            <a:br>
              <a:rPr lang="vi-VN" dirty="0"/>
            </a:br>
            <a:r>
              <a:rPr lang="en-US" dirty="0"/>
              <a:t>=&gt; </a:t>
            </a:r>
            <a:r>
              <a:rPr lang="vi-VN" dirty="0"/>
              <a:t>Một bộ yêu cầu “chưa hoàn hảo” + mối quan hệ tốt = vẫn có thể điều chỉnh và thành công.</a:t>
            </a:r>
          </a:p>
          <a:p>
            <a:r>
              <a:rPr lang="vi-VN" b="1" dirty="0"/>
              <a:t>3. Technical Outcome – Hệ quả kỹ thuật quan trọng</a:t>
            </a:r>
          </a:p>
          <a:p>
            <a:r>
              <a:rPr lang="vi-VN" dirty="0"/>
              <a:t>Phần dưới slide nhấn mạnh rằng: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rõ ràng sẽ </a:t>
            </a:r>
            <a:r>
              <a:rPr lang="vi-VN" b="1" dirty="0"/>
              <a:t>định hướng trực tiếp</a:t>
            </a:r>
            <a:r>
              <a:rPr lang="vi-VN" dirty="0"/>
              <a:t> cho ba trụ cột của BI:</a:t>
            </a:r>
          </a:p>
          <a:p>
            <a:r>
              <a:rPr lang="en-US" b="1" dirty="0"/>
              <a:t>** </a:t>
            </a:r>
            <a:r>
              <a:rPr lang="vi-VN" b="1" dirty="0"/>
              <a:t>Data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nào cần?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Dimension nào dùng chung?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Grain ở mức nào?</a:t>
            </a:r>
          </a:p>
          <a:p>
            <a:r>
              <a:rPr lang="en-US" b="1" dirty="0"/>
              <a:t>** </a:t>
            </a:r>
            <a:r>
              <a:rPr lang="vi-VN" b="1" dirty="0"/>
              <a:t>Data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Nguồn dữ liệu nào?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Tần suất cập nhật?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 tắc biến đổi dữ liệu?</a:t>
            </a:r>
          </a:p>
          <a:p>
            <a:r>
              <a:rPr lang="en-US" b="1" dirty="0"/>
              <a:t>** </a:t>
            </a:r>
            <a:r>
              <a:rPr lang="vi-VN" b="1" dirty="0"/>
              <a:t>Analytical 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tích gì?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Cho ai?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Phục vụ quyết định nào?</a:t>
            </a:r>
          </a:p>
          <a:p>
            <a:r>
              <a:rPr lang="en-US" dirty="0"/>
              <a:t>=&gt; </a:t>
            </a:r>
            <a:r>
              <a:rPr lang="vi-VN" dirty="0"/>
              <a:t>Requirements chính là </a:t>
            </a:r>
            <a:r>
              <a:rPr lang="vi-VN" b="1" dirty="0"/>
              <a:t>đầu vào duy nhất hợp lệ</a:t>
            </a:r>
            <a:r>
              <a:rPr lang="vi-VN" dirty="0"/>
              <a:t> cho thiết kế kỹ thuật.</a:t>
            </a:r>
          </a:p>
          <a:p>
            <a:r>
              <a:rPr lang="vi-VN" b="1" dirty="0"/>
              <a:t>4. Vì sao slide này quan trọng trong chương Requirements?</a:t>
            </a:r>
          </a:p>
          <a:p>
            <a:r>
              <a:rPr lang="vi-VN" dirty="0"/>
              <a:t>Slide này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định nghĩa </a:t>
            </a:r>
            <a:r>
              <a:rPr lang="vi-VN" b="1" dirty="0"/>
              <a:t>“thế nào là làm xong requirements”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hiểu nhầm rằng: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“xong tài liệu là xong việc”.</a:t>
            </a:r>
          </a:p>
          <a:p>
            <a:r>
              <a:rPr lang="en-US" dirty="0"/>
              <a:t>=&gt; </a:t>
            </a:r>
            <a:r>
              <a:rPr lang="vi-VN" dirty="0"/>
              <a:t>Thành công thực sự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được đồng thuận,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đội ngũ sẵn sàng bước sang triển khai.</a:t>
            </a:r>
          </a:p>
          <a:p>
            <a:r>
              <a:rPr lang="vi-VN" b="1" dirty="0"/>
              <a:t>5. Liên hệ với các nội dung trước</a:t>
            </a:r>
          </a:p>
          <a:p>
            <a:r>
              <a:rPr lang="vi-VN" dirty="0"/>
              <a:t>Slide này tổng hợp và nối tiếp: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Why Requirements Matter,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Human &amp; Political Challenges,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Avoiding Requirement Traps,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Scope &amp; Roadmap.</a:t>
            </a:r>
          </a:p>
          <a:p>
            <a:r>
              <a:rPr lang="en-US" dirty="0"/>
              <a:t>=&gt; </a:t>
            </a:r>
            <a:r>
              <a:rPr lang="vi-VN" dirty="0"/>
              <a:t>Requirements là </a:t>
            </a:r>
            <a:r>
              <a:rPr lang="vi-VN" b="1" dirty="0"/>
              <a:t>điểm giao giữa kỹ thuật và con người</a:t>
            </a:r>
            <a:r>
              <a:rPr lang="vi-VN" dirty="0"/>
              <a:t>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Requirements không chỉ là tài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Đồng thuận quan trọng không kém chi tiết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Quan hệ tốt giúp dự án “chịu được thay đổi”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thành công cần cả </a:t>
            </a:r>
            <a:r>
              <a:rPr lang="vi-VN" b="1" dirty="0"/>
              <a:t>đúng việc</a:t>
            </a:r>
            <a:r>
              <a:rPr lang="vi-VN" dirty="0"/>
              <a:t> và </a:t>
            </a:r>
            <a:r>
              <a:rPr lang="vi-VN" b="1" dirty="0"/>
              <a:t>đúng người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Finding the Balance: The “Goldilocks” Syndrome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mượn hình ảnh câu chuyện </a:t>
            </a:r>
            <a:r>
              <a:rPr lang="vi-VN" i="1" dirty="0"/>
              <a:t>Goldilocks</a:t>
            </a:r>
            <a:r>
              <a:rPr lang="vi-VN" dirty="0"/>
              <a:t> để minh họa một vấn đề rất thực tế:</a:t>
            </a:r>
          </a:p>
          <a:p>
            <a:r>
              <a:rPr lang="vi-VN" b="1" dirty="0"/>
              <a:t>Yêu cầu BI phải “vừa đủ” – không quá nóng, không quá lạnh.</a:t>
            </a:r>
            <a:endParaRPr lang="vi-VN" dirty="0"/>
          </a:p>
          <a:p>
            <a:r>
              <a:rPr lang="vi-VN" dirty="0"/>
              <a:t>Mục tiêu của requirements </a:t>
            </a:r>
            <a:r>
              <a:rPr lang="vi-VN" b="1" dirty="0"/>
              <a:t>không phải hoàn hảo tuyệt đối</a:t>
            </a:r>
            <a:r>
              <a:rPr lang="vi-VN" dirty="0"/>
              <a:t>, mà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đủ rõ để xây dựng,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đủ linh hoạt để thích ứng.</a:t>
            </a:r>
          </a:p>
          <a:p>
            <a:r>
              <a:rPr lang="vi-VN" b="1" dirty="0"/>
              <a:t>1. “Too Hot” – Quá chi tiết</a:t>
            </a:r>
          </a:p>
          <a:p>
            <a:r>
              <a:rPr lang="vi-VN" b="1" dirty="0"/>
              <a:t>Biểu hiện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tích quá mức,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Tài liệu dày hàng trăm trang,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Checklist và quy trình cứng nhắc.</a:t>
            </a:r>
          </a:p>
          <a:p>
            <a:r>
              <a:rPr lang="vi-VN" b="1" dirty="0"/>
              <a:t>Hệ quả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Analysis paralysis</a:t>
            </a:r>
            <a:r>
              <a:rPr lang="vi-VN" dirty="0"/>
              <a:t>: phân tích mãi không làm,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Dự án chậm tiến độ,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mất kiên nhẫn.</a:t>
            </a:r>
          </a:p>
          <a:p>
            <a:r>
              <a:rPr lang="en-US" dirty="0"/>
              <a:t>=&gt; </a:t>
            </a:r>
            <a:r>
              <a:rPr lang="vi-VN" dirty="0"/>
              <a:t>Quá chi tiết </a:t>
            </a:r>
            <a:r>
              <a:rPr lang="vi-VN" b="1" dirty="0"/>
              <a:t>giết chết tốc độ</a:t>
            </a:r>
            <a:r>
              <a:rPr lang="vi-VN" dirty="0"/>
              <a:t>.</a:t>
            </a:r>
          </a:p>
          <a:p>
            <a:r>
              <a:rPr lang="vi-VN" b="1" dirty="0"/>
              <a:t>2. “Too Cold” – Quá sơ sài</a:t>
            </a:r>
          </a:p>
          <a:p>
            <a:r>
              <a:rPr lang="vi-VN" b="1" dirty="0"/>
              <a:t>Biểu hiện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ở mức rất cao,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Nhiều khái niệm mơ hồ,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ví dụ cụ thể.</a:t>
            </a:r>
          </a:p>
          <a:p>
            <a:r>
              <a:rPr lang="vi-VN" b="1" dirty="0"/>
              <a:t>Hệ quả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Mỗi người hiểu một kiểu,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Sai lệch kỳ vọng,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Developer phải “đoán”.</a:t>
            </a:r>
          </a:p>
          <a:p>
            <a:r>
              <a:rPr lang="en-US" dirty="0"/>
              <a:t>=&gt; </a:t>
            </a:r>
            <a:r>
              <a:rPr lang="vi-VN" dirty="0"/>
              <a:t>Quá sơ sài </a:t>
            </a:r>
            <a:r>
              <a:rPr lang="vi-VN" b="1" dirty="0"/>
              <a:t>giết chết sự chính xác</a:t>
            </a:r>
            <a:r>
              <a:rPr lang="vi-VN" dirty="0"/>
              <a:t>.</a:t>
            </a:r>
          </a:p>
          <a:p>
            <a:r>
              <a:rPr lang="vi-VN" b="1" dirty="0"/>
              <a:t>3. “Just Right” – Vừa đủ</a:t>
            </a:r>
          </a:p>
          <a:p>
            <a:r>
              <a:rPr lang="vi-VN" b="1" dirty="0"/>
              <a:t>Đặc điểm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Đủ chi tiết để: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thiết kế mô hình dữ liệu,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xây ETL,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xây dashboard.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Nhưng: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khóa chặt giải pháp,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cho phép cải tiến.</a:t>
            </a:r>
          </a:p>
          <a:p>
            <a:r>
              <a:rPr lang="vi-VN" b="1" dirty="0"/>
              <a:t>Lợi ích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mơ hồ,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Kỳ vọng rõ ràng,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Triển khai hiệu quả.</a:t>
            </a:r>
          </a:p>
          <a:p>
            <a:r>
              <a:rPr lang="en-US" dirty="0"/>
              <a:t>=&gt; </a:t>
            </a:r>
            <a:r>
              <a:rPr lang="vi-VN" dirty="0"/>
              <a:t>Đây chính là </a:t>
            </a:r>
            <a:r>
              <a:rPr lang="vi-VN" b="1" dirty="0"/>
              <a:t>mục tiêu của BI requirements</a:t>
            </a:r>
            <a:r>
              <a:rPr lang="vi-VN" dirty="0"/>
              <a:t>.</a:t>
            </a:r>
          </a:p>
          <a:p>
            <a:r>
              <a:rPr lang="vi-VN" b="1" dirty="0"/>
              <a:t>4. Dòng kết luận cuối slide – Mục tiêu thực sự</a:t>
            </a:r>
          </a:p>
          <a:p>
            <a:r>
              <a:rPr lang="vi-VN" b="1" dirty="0"/>
              <a:t>The goal is to define requirements that are “just right” – detailed enough to build, but lean enough to move.</a:t>
            </a:r>
            <a:endParaRPr lang="vi-VN" dirty="0"/>
          </a:p>
          <a:p>
            <a:r>
              <a:rPr lang="vi-VN" dirty="0"/>
              <a:t>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tài liệu yêu cầu </a:t>
            </a:r>
            <a:r>
              <a:rPr lang="vi-VN" b="1" dirty="0"/>
              <a:t>phục vụ hành động</a:t>
            </a:r>
            <a:r>
              <a:rPr lang="vi-VN" dirty="0"/>
              <a:t>, không phải để trưng bày,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tốt giúp </a:t>
            </a:r>
            <a:r>
              <a:rPr lang="vi-VN" b="1" dirty="0"/>
              <a:t>bắt đầu triển khai nhanh</a:t>
            </a:r>
            <a:r>
              <a:rPr lang="vi-VN" dirty="0"/>
              <a:t>, không trì hoãn.</a:t>
            </a:r>
          </a:p>
          <a:p>
            <a:r>
              <a:rPr lang="vi-VN" b="1" dirty="0"/>
              <a:t>5. Liên hệ với các nội dung trước</a:t>
            </a:r>
          </a:p>
          <a:p>
            <a:r>
              <a:rPr lang="vi-VN" dirty="0"/>
              <a:t>Slide này kết nối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Avoiding Requirement Traps,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Defining Success,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Scope Definition,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Incremental Delivery.</a:t>
            </a:r>
          </a:p>
          <a:p>
            <a:r>
              <a:rPr lang="en-US" dirty="0"/>
              <a:t>=&gt; </a:t>
            </a:r>
            <a:r>
              <a:rPr lang="vi-VN" dirty="0"/>
              <a:t>Yêu cầu “vừa đủ” là điều kiện để: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nhanh,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học nhanh,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điều chỉnh sớm.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Requirements không cần hoàn hảo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Quá chi tiết = chậm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Quá sơ sài = sai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“Just enough detail” là kỹ năng cốt lõi của BI analyst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Tangible Outcomes: The Requirements Package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trả lời câu hỏi rất thực tế:</a:t>
            </a:r>
          </a:p>
          <a:p>
            <a:r>
              <a:rPr lang="vi-VN" b="1" dirty="0"/>
              <a:t>Sau tất cả các buổi họp, phỏng vấn, tranh luận và phân tích yêu cầu, chúng ta “có được cái gì cụ thể”?</a:t>
            </a:r>
            <a:endParaRPr lang="vi-VN" dirty="0"/>
          </a:p>
          <a:p>
            <a:r>
              <a:rPr lang="vi-VN" dirty="0"/>
              <a:t>Câu trả lời là:</a:t>
            </a:r>
            <a:br>
              <a:rPr lang="vi-VN" dirty="0"/>
            </a:br>
            <a:r>
              <a:rPr lang="en-US" dirty="0"/>
              <a:t>=&gt; </a:t>
            </a:r>
            <a:r>
              <a:rPr lang="vi-VN" b="1" dirty="0"/>
              <a:t>Một bộ tài liệu yêu cầu BI hoàn chỉnh, được phê duyệt chính thức</a:t>
            </a:r>
            <a:r>
              <a:rPr lang="vi-VN" dirty="0"/>
              <a:t>, đóng vai trò là </a:t>
            </a:r>
            <a:r>
              <a:rPr lang="vi-VN" b="1" dirty="0"/>
              <a:t>hợp đồng làm việc</a:t>
            </a:r>
            <a:r>
              <a:rPr lang="vi-VN" dirty="0"/>
              <a:t> giữa business và đội BI.</a:t>
            </a:r>
          </a:p>
          <a:p>
            <a:r>
              <a:rPr lang="vi-VN" b="1" dirty="0"/>
              <a:t>1. Primary Deliverable – Sản phẩm chính</a:t>
            </a:r>
          </a:p>
          <a:p>
            <a:r>
              <a:rPr lang="vi-VN" b="1" dirty="0"/>
              <a:t>Signed-off BI Requirements Document</a:t>
            </a:r>
          </a:p>
          <a:p>
            <a:r>
              <a:rPr lang="vi-VN" b="1" dirty="0"/>
              <a:t>Ý nghĩa: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Đây là </a:t>
            </a:r>
            <a:r>
              <a:rPr lang="vi-VN" b="1" dirty="0"/>
              <a:t>kết quả quan trọng nhất</a:t>
            </a:r>
            <a:r>
              <a:rPr lang="vi-VN" dirty="0"/>
              <a:t> của toàn bộ giai đoạn requirements.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“Signed-off” có nghĩa là: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các bên liên quan đã </a:t>
            </a:r>
            <a:r>
              <a:rPr lang="vi-VN" b="1" dirty="0"/>
              <a:t>đọc, hiểu và đồng ý</a:t>
            </a:r>
            <a:r>
              <a:rPr lang="vi-VN" dirty="0"/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còn tranh cãi về phạm vi và kỳ vọng cơ bản.</a:t>
            </a:r>
          </a:p>
          <a:p>
            <a:r>
              <a:rPr lang="en-US" dirty="0"/>
              <a:t>=&gt; </a:t>
            </a:r>
            <a:r>
              <a:rPr lang="vi-VN" dirty="0"/>
              <a:t>Khi tài liệu này được ký: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dự án có quyền </a:t>
            </a:r>
            <a:r>
              <a:rPr lang="vi-VN" b="1" dirty="0"/>
              <a:t>chuyển sang triển khai</a:t>
            </a:r>
            <a:r>
              <a:rPr lang="vi-VN" dirty="0"/>
              <a:t>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mọi thay đổi sau đó phải đi qua </a:t>
            </a:r>
            <a:r>
              <a:rPr lang="vi-VN" b="1" dirty="0"/>
              <a:t>quy trình quản lý thay đổi</a:t>
            </a:r>
            <a:r>
              <a:rPr lang="vi-VN" dirty="0"/>
              <a:t>.</a:t>
            </a:r>
          </a:p>
          <a:p>
            <a:r>
              <a:rPr lang="vi-VN" b="1" dirty="0"/>
              <a:t>2. Supporting Deliverables – Các sản phẩm hỗ trợ</a:t>
            </a:r>
          </a:p>
          <a:p>
            <a:r>
              <a:rPr lang="vi-VN" dirty="0"/>
              <a:t>Những tài liệu này đảm bảo rằng yêu cầu BI </a:t>
            </a:r>
            <a:r>
              <a:rPr lang="vi-VN" b="1" dirty="0"/>
              <a:t>có thể thực thi trong thực tế</a:t>
            </a:r>
            <a:r>
              <a:rPr lang="vi-VN" dirty="0"/>
              <a:t>, không chỉ nằm trên giấy.</a:t>
            </a:r>
          </a:p>
          <a:p>
            <a:r>
              <a:rPr lang="vi-VN" b="1" dirty="0"/>
              <a:t>Revised Project Plan &amp; Timeline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Kế hoạch và tiến độ được cập nhật dựa trên yêu cầu thực tế,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“lịch trình ảo” ngay từ đầu.</a:t>
            </a:r>
          </a:p>
          <a:p>
            <a:r>
              <a:rPr lang="vi-VN" b="1" dirty="0"/>
              <a:t>Budget Commitments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Ngân sách được cam kết rõ ràng,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Phản ánh đúng scope đã thống nhất.</a:t>
            </a:r>
          </a:p>
          <a:p>
            <a:r>
              <a:rPr lang="vi-VN" b="1" dirty="0"/>
              <a:t>Resource Allocation Plan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Ai làm gì,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Bao nhiêu thời gian,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Trách nhiệm thuộc về ai.</a:t>
            </a:r>
          </a:p>
          <a:p>
            <a:r>
              <a:rPr lang="vi-VN" b="1" dirty="0"/>
              <a:t>Stakeholder Engagement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Ai cần tham gia ở giai đoạn nào,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Ai là người ra quyết định,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Ai chỉ cần được thông báo.</a:t>
            </a:r>
          </a:p>
          <a:p>
            <a:r>
              <a:rPr lang="en-US" dirty="0"/>
              <a:t>=&gt; </a:t>
            </a:r>
            <a:r>
              <a:rPr lang="vi-VN" dirty="0"/>
              <a:t>Nếu thiếu các tài liệu này, yêu cầu dù đúng vẫn </a:t>
            </a:r>
            <a:r>
              <a:rPr lang="vi-VN" b="1" dirty="0"/>
              <a:t>khó triển khai</a:t>
            </a:r>
            <a:r>
              <a:rPr lang="vi-VN" dirty="0"/>
              <a:t>.</a:t>
            </a:r>
          </a:p>
          <a:p>
            <a:r>
              <a:rPr lang="vi-VN" b="1" dirty="0"/>
              <a:t>3. Key Document Contents – Nội dung cốt lõi của tài liệu yêu cầu</a:t>
            </a:r>
          </a:p>
          <a:p>
            <a:r>
              <a:rPr lang="vi-VN" dirty="0"/>
              <a:t>Slide nhấn mạnh rằng </a:t>
            </a:r>
            <a:r>
              <a:rPr lang="vi-VN" b="1" dirty="0"/>
              <a:t>tài liệu yêu cầu BI không chỉ là danh sách dashboard</a:t>
            </a:r>
            <a:r>
              <a:rPr lang="vi-VN" dirty="0"/>
              <a:t>.</a:t>
            </a:r>
          </a:p>
          <a:p>
            <a:r>
              <a:rPr lang="vi-VN" b="1" dirty="0"/>
              <a:t>Business &amp; Functional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Quyết định nào cần hỗ trợ?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 trình nào được cải thiện?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cần làm gì với BI?</a:t>
            </a:r>
          </a:p>
          <a:p>
            <a:r>
              <a:rPr lang="vi-VN" b="1" dirty="0"/>
              <a:t>Data &amp; Quality Standards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Áp dụng </a:t>
            </a:r>
            <a:r>
              <a:rPr lang="vi-VN" b="1" dirty="0"/>
              <a:t>5C’s</a:t>
            </a:r>
            <a:r>
              <a:rPr lang="vi-VN" dirty="0"/>
              <a:t> (Clean, Consistent, Conformed, Current, Comprehensive),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Định nghĩa rõ thế nào là “dữ liệu đáng tin”.</a:t>
            </a:r>
          </a:p>
          <a:p>
            <a:r>
              <a:rPr lang="vi-VN" b="1" dirty="0"/>
              <a:t>Regulatory &amp; Compliance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pháp lý,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mật,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Quyền truy cập dữ liệu.</a:t>
            </a:r>
          </a:p>
          <a:p>
            <a:r>
              <a:rPr lang="vi-VN" b="1" dirty="0"/>
              <a:t>Technical Infrastructure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 định về hạ tầng,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Ràng buộc kỹ thuật,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Tích hợp với hệ thống hiện có.</a:t>
            </a:r>
          </a:p>
          <a:p>
            <a:r>
              <a:rPr lang="vi-VN" b="1" dirty="0"/>
              <a:t>Priorities &amp; Assumptions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Cái gì quan trọng nhất,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Những giả định đang được chấp nhận (và cần kiểm chứng).</a:t>
            </a:r>
          </a:p>
          <a:p>
            <a:r>
              <a:rPr lang="vi-VN" b="1" dirty="0"/>
              <a:t>Change Management Log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Ghi nhận các thay đổi yêu cầu,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tranh cãi “lúc trước tôi không nói vậy”.</a:t>
            </a:r>
          </a:p>
          <a:p>
            <a:r>
              <a:rPr lang="vi-VN" b="1" dirty="0"/>
              <a:t>Issue &amp; Concern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vấn đề chưa giải quyết,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Rủi ro còn tồn tại,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Kế hoạch xử lý.</a:t>
            </a:r>
          </a:p>
          <a:p>
            <a:r>
              <a:rPr lang="vi-VN" b="1" dirty="0"/>
              <a:t>Formal Approval Sign-offs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Chữ ký xác nhận của: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sponsor,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business owner,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BI/IT lead.</a:t>
            </a:r>
          </a:p>
          <a:p>
            <a:r>
              <a:rPr lang="en-US" dirty="0"/>
              <a:t>=&gt; </a:t>
            </a:r>
            <a:r>
              <a:rPr lang="vi-VN" dirty="0"/>
              <a:t>Đây là yếu tố biến tài liệu yêu cầu từ </a:t>
            </a:r>
            <a:r>
              <a:rPr lang="vi-VN" b="1" dirty="0"/>
              <a:t>“tham khảo” thành “ràng buộc”</a:t>
            </a:r>
            <a:r>
              <a:rPr lang="vi-VN" dirty="0"/>
              <a:t>.</a:t>
            </a:r>
          </a:p>
          <a:p>
            <a:r>
              <a:rPr lang="vi-VN" b="1" dirty="0"/>
              <a:t>4. Vì sao “Requirements Package” quan trọng đến vậy?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Nó là: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nền tảng cho thiết kế kỹ thuật,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công cụ quản lý scope,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tài liệu quản trị rủi ro,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cơ sở đánh giá thành công.</a:t>
            </a:r>
          </a:p>
          <a:p>
            <a:r>
              <a:rPr lang="en-US" dirty="0"/>
              <a:t>=&gt; </a:t>
            </a:r>
            <a:r>
              <a:rPr lang="vi-VN" dirty="0"/>
              <a:t>Dự án BI không có requirements package rõ ràng = </a:t>
            </a:r>
            <a:r>
              <a:rPr lang="vi-VN" b="1" dirty="0"/>
              <a:t>dự án luôn trong trạng thái rủi ro cao</a:t>
            </a:r>
            <a:r>
              <a:rPr lang="vi-VN" dirty="0"/>
              <a:t>.</a:t>
            </a:r>
          </a:p>
          <a:p>
            <a:r>
              <a:rPr lang="vi-VN" b="1" dirty="0"/>
              <a:t>5. Liên hệ với toàn bộ chương Requirements</a:t>
            </a:r>
          </a:p>
          <a:p>
            <a:r>
              <a:rPr lang="vi-VN" dirty="0"/>
              <a:t>Slide này là </a:t>
            </a:r>
            <a:r>
              <a:rPr lang="vi-VN" b="1" dirty="0"/>
              <a:t>điểm kết</a:t>
            </a:r>
            <a:r>
              <a:rPr lang="vi-VN" dirty="0"/>
              <a:t> của chương: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Why Requirements Matter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Human &amp; Political Challenges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Avoiding Requirement Traps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Goldilocks Balance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Defining Success</a:t>
            </a:r>
          </a:p>
          <a:p>
            <a:r>
              <a:rPr lang="en-US" dirty="0"/>
              <a:t>=&gt; </a:t>
            </a:r>
            <a:r>
              <a:rPr lang="vi-VN" dirty="0"/>
              <a:t>Tất cả đều hướng tới </a:t>
            </a:r>
            <a:r>
              <a:rPr lang="vi-VN" b="1" dirty="0"/>
              <a:t>bộ deliverables hữu hình này</a:t>
            </a:r>
            <a:r>
              <a:rPr lang="vi-VN" dirty="0"/>
              <a:t>.</a:t>
            </a:r>
          </a:p>
          <a:p>
            <a:r>
              <a:rPr lang="vi-VN" b="1" dirty="0"/>
              <a:t>6.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Requirements phải tạo ra sản phẩm cụ thể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“Ký duyệt” quan trọng không kém “viết đúng”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thành công bắt đầu từ sự đồng thuận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Tài liệu yêu cầu là </a:t>
            </a:r>
            <a:r>
              <a:rPr lang="vi-VN" b="1" dirty="0"/>
              <a:t>la bàn của dự án BI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A Holistic View: The Five Categories of Requirements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khẳng định một nguyên tắc quan trọng:</a:t>
            </a:r>
          </a:p>
          <a:p>
            <a:r>
              <a:rPr lang="vi-VN" b="1" dirty="0"/>
              <a:t>Yêu cầu BI không phải là một danh sách báo cáo, mà là một hệ sinh thái gồm nhiều loại yêu cầu liên kết chặt chẽ với nhau.</a:t>
            </a:r>
            <a:endParaRPr lang="vi-VN" dirty="0"/>
          </a:p>
          <a:p>
            <a:r>
              <a:rPr lang="vi-VN" dirty="0"/>
              <a:t>Thành công của BI phụ thuộc vào việc </a:t>
            </a:r>
            <a:r>
              <a:rPr lang="vi-VN" b="1" dirty="0"/>
              <a:t>đầy đủ cả 5 nhóm yêu cầu</a:t>
            </a:r>
            <a:r>
              <a:rPr lang="vi-VN" dirty="0"/>
              <a:t>.</a:t>
            </a:r>
          </a:p>
          <a:p>
            <a:r>
              <a:rPr lang="vi-VN" b="1" dirty="0"/>
              <a:t>1. Business Requirements – Yêu cầu nghiệp vụ</a:t>
            </a:r>
          </a:p>
          <a:p>
            <a:r>
              <a:rPr lang="vi-VN" b="1" dirty="0"/>
              <a:t>Trả lời câu hỏi: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Vì sao chúng ta làm BI?</a:t>
            </a:r>
            <a:endParaRPr lang="vi-VN" dirty="0"/>
          </a:p>
          <a:p>
            <a:r>
              <a:rPr lang="vi-VN" b="1" dirty="0"/>
              <a:t>Bao gồm: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mục tiêu kinh doanh,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 trình nghiệp vụ,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cốt lõi,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mà BI mang lại.</a:t>
            </a:r>
          </a:p>
          <a:p>
            <a:r>
              <a:rPr lang="en-US" dirty="0"/>
              <a:t>=&gt; </a:t>
            </a:r>
            <a:r>
              <a:rPr lang="vi-VN" dirty="0"/>
              <a:t>Đây là </a:t>
            </a:r>
            <a:r>
              <a:rPr lang="vi-VN" b="1" dirty="0"/>
              <a:t>điểm xuất phát</a:t>
            </a:r>
            <a:r>
              <a:rPr lang="vi-VN" dirty="0"/>
              <a:t> của mọi dự án BI.</a:t>
            </a:r>
            <a:br>
              <a:rPr lang="vi-VN" dirty="0"/>
            </a:br>
            <a:r>
              <a:rPr lang="vi-VN" dirty="0"/>
              <a:t>Không rõ business requirements → BI mất phương hướng.</a:t>
            </a:r>
          </a:p>
          <a:p>
            <a:r>
              <a:rPr lang="vi-VN" b="1" dirty="0"/>
              <a:t>2. Functional Requirements – Yêu cầu chức năng</a:t>
            </a:r>
          </a:p>
          <a:p>
            <a:r>
              <a:rPr lang="vi-VN" b="1" dirty="0"/>
              <a:t>Trả lời câu hỏi: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Người dùng sẽ sử dụng BI như thế nào?</a:t>
            </a:r>
            <a:endParaRPr lang="vi-VN" dirty="0"/>
          </a:p>
          <a:p>
            <a:r>
              <a:rPr lang="vi-VN" b="1" dirty="0"/>
              <a:t>Bao gồm: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workflow phân tích,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use case cụ thể,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cách tương tác (drill-down, filter, alert),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phong cách dashboard và báo cáo.</a:t>
            </a:r>
          </a:p>
          <a:p>
            <a:r>
              <a:rPr lang="en-US" dirty="0"/>
              <a:t>=&gt; </a:t>
            </a:r>
            <a:r>
              <a:rPr lang="vi-VN" dirty="0"/>
              <a:t>Đây là cầu nối giữa business và giải pháp cụ thể.</a:t>
            </a:r>
          </a:p>
          <a:p>
            <a:r>
              <a:rPr lang="vi-VN" b="1" dirty="0"/>
              <a:t>3. Data &amp; Quality Requirements – Yêu cầu dữ liệu và chất lượng</a:t>
            </a:r>
          </a:p>
          <a:p>
            <a:r>
              <a:rPr lang="vi-VN" b="1" dirty="0"/>
              <a:t>Trả lời câu hỏi: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Dữ liệu đến từ đâu và có đáng tin không?</a:t>
            </a:r>
            <a:endParaRPr lang="vi-VN" dirty="0"/>
          </a:p>
          <a:p>
            <a:r>
              <a:rPr lang="vi-VN" b="1" dirty="0"/>
              <a:t>Bao gồm: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nguồn,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 tắc chuyển đổi,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tiêu chuẩn chất lượng theo </a:t>
            </a:r>
            <a:r>
              <a:rPr lang="vi-VN" b="1" dirty="0"/>
              <a:t>5C’s</a:t>
            </a:r>
            <a:r>
              <a:rPr lang="vi-V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Clean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Consistent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Conformed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Current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Comprehensive</a:t>
            </a:r>
          </a:p>
          <a:p>
            <a:r>
              <a:rPr lang="en-US" dirty="0"/>
              <a:t>=&gt; </a:t>
            </a:r>
            <a:r>
              <a:rPr lang="vi-VN" dirty="0"/>
              <a:t>BI đẹp nhưng dữ liệu kém = </a:t>
            </a:r>
            <a:r>
              <a:rPr lang="vi-VN" b="1" dirty="0"/>
              <a:t>BI không dùng được</a:t>
            </a:r>
            <a:r>
              <a:rPr lang="vi-VN" dirty="0"/>
              <a:t>.</a:t>
            </a:r>
          </a:p>
          <a:p>
            <a:r>
              <a:rPr lang="vi-VN" b="1" dirty="0"/>
              <a:t>4. Regulatory Requirements – Yêu cầu pháp lý &amp; tuân thủ</a:t>
            </a:r>
          </a:p>
          <a:p>
            <a:r>
              <a:rPr lang="vi-VN" b="1" dirty="0"/>
              <a:t>Trả lời câu hỏi: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Chúng ta được phép làm gì với dữ liệu?</a:t>
            </a:r>
            <a:endParaRPr lang="vi-VN" dirty="0"/>
          </a:p>
          <a:p>
            <a:r>
              <a:rPr lang="vi-VN" b="1" dirty="0"/>
              <a:t>Bao gồm: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mật,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quyền riêng tư (GDPR, HIPAA…),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quyền truy cập,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hạn chế dữ liệu xuyên biên giới.</a:t>
            </a:r>
          </a:p>
          <a:p>
            <a:r>
              <a:rPr lang="en-US" dirty="0"/>
              <a:t>=&gt; </a:t>
            </a:r>
            <a:r>
              <a:rPr lang="vi-VN" dirty="0"/>
              <a:t>Bỏ qua nhóm này → rủi ro pháp lý và uy tín nghiêm trọng.</a:t>
            </a:r>
          </a:p>
          <a:p>
            <a:r>
              <a:rPr lang="vi-VN" b="1" dirty="0"/>
              <a:t>5. Technical Requirements – Yêu cầu kỹ thuật</a:t>
            </a:r>
          </a:p>
          <a:p>
            <a:r>
              <a:rPr lang="vi-VN" b="1" dirty="0"/>
              <a:t>Trả lời câu hỏi: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i="1" dirty="0"/>
              <a:t>Chúng ta sẽ xây dựng BI trên nền tảng nào?</a:t>
            </a:r>
            <a:endParaRPr lang="vi-VN" dirty="0"/>
          </a:p>
          <a:p>
            <a:r>
              <a:rPr lang="vi-VN" b="1" dirty="0"/>
              <a:t>Bao gồm: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hạ tầng (cloud vs on-prem),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tiêu chuẩn công nghệ,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vendor được phê duyệt,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giao thức bảo mật.</a:t>
            </a:r>
          </a:p>
          <a:p>
            <a:r>
              <a:rPr lang="en-US" dirty="0"/>
              <a:t>=&gt; </a:t>
            </a:r>
            <a:r>
              <a:rPr lang="vi-VN" dirty="0"/>
              <a:t>Đây là phần IT quen thuộc nhất, nhưng </a:t>
            </a:r>
            <a:r>
              <a:rPr lang="vi-VN" b="1" dirty="0"/>
              <a:t>không nên là điểm bắt đầu</a:t>
            </a:r>
            <a:r>
              <a:rPr lang="vi-VN" dirty="0"/>
              <a:t>.</a:t>
            </a:r>
          </a:p>
          <a:p>
            <a:r>
              <a:rPr lang="vi-VN" b="1" dirty="0"/>
              <a:t>6. Thông điệp nhấn mạnh ở góc phải slide</a:t>
            </a:r>
          </a:p>
          <a:p>
            <a:r>
              <a:rPr lang="vi-VN" b="1" dirty="0"/>
              <a:t>All five categories are essential for BI success. Ignoring one leads to failure.</a:t>
            </a:r>
            <a:endParaRPr lang="vi-VN" dirty="0"/>
          </a:p>
          <a:p>
            <a:r>
              <a:rPr lang="vi-VN" dirty="0"/>
              <a:t>Điều này có nghĩa: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business → BI vô nghĩa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functional → BI khó dùng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data quality → BI không được tin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regulatory → BI rủi ro pháp lý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technical → BI không vận hành được</a:t>
            </a:r>
          </a:p>
          <a:p>
            <a:r>
              <a:rPr lang="en-US" dirty="0"/>
              <a:t>=&gt; </a:t>
            </a:r>
            <a:r>
              <a:rPr lang="vi-VN" dirty="0"/>
              <a:t>BI chỉ thành công khi </a:t>
            </a:r>
            <a:r>
              <a:rPr lang="vi-VN" b="1" dirty="0"/>
              <a:t>cả 5 cùng tồn tại và nhất quán</a:t>
            </a:r>
            <a:r>
              <a:rPr lang="vi-VN" dirty="0"/>
              <a:t>.</a:t>
            </a:r>
          </a:p>
          <a:p>
            <a:r>
              <a:rPr lang="vi-VN" b="1" dirty="0"/>
              <a:t>7. Liên hệ với các nội dung trước</a:t>
            </a:r>
          </a:p>
          <a:p>
            <a:r>
              <a:rPr lang="vi-VN" dirty="0"/>
              <a:t>Slide này tổng hợp và mở rộng: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Why Requirements Matter,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Goldilocks Balance,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Tangible Outcomes,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Readiness Assessment.</a:t>
            </a:r>
          </a:p>
          <a:p>
            <a:r>
              <a:rPr lang="en-US" dirty="0"/>
              <a:t>=&gt; </a:t>
            </a:r>
            <a:r>
              <a:rPr lang="vi-VN" dirty="0"/>
              <a:t>Đây là </a:t>
            </a:r>
            <a:r>
              <a:rPr lang="vi-VN" b="1" dirty="0"/>
              <a:t>khung tư duy chuẩn</a:t>
            </a:r>
            <a:r>
              <a:rPr lang="vi-VN" dirty="0"/>
              <a:t> để: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thu thập,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loại,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đánh giá yêu cầu BI.</a:t>
            </a:r>
          </a:p>
          <a:p>
            <a:r>
              <a:rPr lang="vi-VN" b="1" dirty="0"/>
              <a:t>8.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requirements luôn đa chiều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Dashboard chỉ là phần nổi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Chất lượng dữ liệu và tuân thủ quan trọng không kém nghiệp vụ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Thiếu một mảnh ghép → dự án mất cân bằng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Top-Down vs. Bottom-Up: Stepwise Refinement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nhấn mạnh rằng:</a:t>
            </a:r>
          </a:p>
          <a:p>
            <a:r>
              <a:rPr lang="vi-VN" b="1" dirty="0"/>
              <a:t>Không có một cách tiếp cận duy nhất là đủ cho việc xác định yêu cầu BI.</a:t>
            </a:r>
            <a:br>
              <a:rPr lang="vi-VN" b="1" dirty="0"/>
            </a:br>
            <a:r>
              <a:rPr lang="vi-VN" b="1" dirty="0"/>
              <a:t>Thành công đến từ việc kết hợp Top-Down và Bottom-Up theo từng bước (stepwise refinement).</a:t>
            </a:r>
            <a:endParaRPr lang="vi-VN" dirty="0"/>
          </a:p>
          <a:p>
            <a:r>
              <a:rPr lang="vi-VN" dirty="0"/>
              <a:t>Mục tiêu là vừa </a:t>
            </a:r>
            <a:r>
              <a:rPr lang="vi-VN" b="1" dirty="0"/>
              <a:t>đúng chiến lược</a:t>
            </a:r>
            <a:r>
              <a:rPr lang="vi-VN" dirty="0"/>
              <a:t>, vừa </a:t>
            </a:r>
            <a:r>
              <a:rPr lang="vi-VN" b="1" dirty="0"/>
              <a:t>đúng thực tế vận hành</a:t>
            </a:r>
            <a:r>
              <a:rPr lang="vi-VN" dirty="0"/>
              <a:t>.</a:t>
            </a:r>
          </a:p>
          <a:p>
            <a:r>
              <a:rPr lang="vi-VN" b="1" dirty="0"/>
              <a:t>1. Top-Down – Từ trên xuống</a:t>
            </a:r>
          </a:p>
          <a:p>
            <a:r>
              <a:rPr lang="vi-VN" b="1" dirty="0"/>
              <a:t>Cách tiếp cận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Bắt đầu từ: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mục tiêu chiến lược,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nhu cầu kinh doanh cấp cao,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tầm nhìn của lãnh đạo.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Sau đó </a:t>
            </a:r>
            <a:r>
              <a:rPr lang="vi-VN" b="1" dirty="0"/>
              <a:t>phân rã (decompose)</a:t>
            </a:r>
            <a:r>
              <a:rPr lang="vi-VN" dirty="0"/>
              <a:t> dần thành: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KPI,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chỉ số,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yêu cầu chi tiết hơn.</a:t>
            </a:r>
          </a:p>
          <a:p>
            <a:r>
              <a:rPr lang="vi-VN" b="1" dirty="0"/>
              <a:t>Ưu điểm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Đảm bảo: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BI gắn với chiến lược,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tập trung vào giá trị kinh doanh,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tránh làm những thứ “hay nhưng không cần”.</a:t>
            </a:r>
          </a:p>
          <a:p>
            <a:r>
              <a:rPr lang="vi-VN" b="1" dirty="0"/>
              <a:t>Hạn chế nếu dùng đơn lẻ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Dễ: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bỏ sót chi tiết vận hành,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đưa ra yêu cầu quá lý tưởng,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khó triển khai nếu không hiểu hệ thống hiện có.</a:t>
            </a:r>
          </a:p>
          <a:p>
            <a:r>
              <a:rPr lang="en-US" dirty="0"/>
              <a:t>=&gt; </a:t>
            </a:r>
            <a:r>
              <a:rPr lang="vi-VN" dirty="0"/>
              <a:t>Top-Down trả lời tốt câu hỏi </a:t>
            </a:r>
            <a:r>
              <a:rPr lang="vi-VN" b="1" dirty="0"/>
              <a:t>“Why?”</a:t>
            </a:r>
            <a:r>
              <a:rPr lang="vi-VN" dirty="0"/>
              <a:t> nhưng chưa đủ cho </a:t>
            </a:r>
            <a:r>
              <a:rPr lang="vi-VN" b="1" dirty="0"/>
              <a:t>“How?”</a:t>
            </a:r>
            <a:r>
              <a:rPr lang="vi-VN" dirty="0"/>
              <a:t>.</a:t>
            </a:r>
          </a:p>
          <a:p>
            <a:r>
              <a:rPr lang="vi-VN" b="1" dirty="0"/>
              <a:t>2. Bottom-Up – Từ dưới lên</a:t>
            </a:r>
          </a:p>
          <a:p>
            <a:r>
              <a:rPr lang="vi-VN" b="1" dirty="0"/>
              <a:t>Cách tiếp cận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Bắt đầu từ: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hệ thống báo cáo hiện tại,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spreadsheet,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data shadow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Reverse engineer</a:t>
            </a:r>
            <a:r>
              <a:rPr lang="vi-VN" dirty="0"/>
              <a:t> để hiểu: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business logic đang dùng,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 tắc ngầm,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nhu cầu thực tế hàng ngày.</a:t>
            </a:r>
          </a:p>
          <a:p>
            <a:r>
              <a:rPr lang="vi-VN" b="1" dirty="0"/>
              <a:t>Ưu điểm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bỏ sót: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tính năng quan trọng trong hệ thống cũ,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kiến thức nghiệp vụ tích lũy lâu năm.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Phù hợp với: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môi trường BI đã tồn tại,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tổ chức có nhiều báo cáo “tự phát”.</a:t>
            </a:r>
          </a:p>
          <a:p>
            <a:r>
              <a:rPr lang="vi-VN" b="1" dirty="0"/>
              <a:t>Hạn chế nếu dùng đơn lẻ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Dễ: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sao chép nguyên trạng hệ thống cũ,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giữ lại các bất hợp lý,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thiếu định hướng chiến lược.</a:t>
            </a:r>
          </a:p>
          <a:p>
            <a:r>
              <a:rPr lang="en-US" dirty="0"/>
              <a:t>=&gt; </a:t>
            </a:r>
            <a:r>
              <a:rPr lang="vi-VN" dirty="0"/>
              <a:t>Bottom-Up trả lời tốt </a:t>
            </a:r>
            <a:r>
              <a:rPr lang="vi-VN" b="1" dirty="0"/>
              <a:t>“How things work today”</a:t>
            </a:r>
            <a:r>
              <a:rPr lang="vi-VN" dirty="0"/>
              <a:t>, nhưng chưa đảm bảo </a:t>
            </a:r>
            <a:r>
              <a:rPr lang="vi-VN" b="1" dirty="0"/>
              <a:t>“Should we keep doing this?”</a:t>
            </a:r>
            <a:r>
              <a:rPr lang="vi-VN" dirty="0"/>
              <a:t>.</a:t>
            </a:r>
          </a:p>
          <a:p>
            <a:r>
              <a:rPr lang="vi-VN" b="1" dirty="0"/>
              <a:t>3. Best Practice – Kết hợp cả hai</a:t>
            </a:r>
          </a:p>
          <a:p>
            <a:r>
              <a:rPr lang="vi-VN" dirty="0"/>
              <a:t>Dòng kết luận của slide nhấn mạnh:</a:t>
            </a:r>
          </a:p>
          <a:p>
            <a:r>
              <a:rPr lang="vi-VN" b="1" dirty="0"/>
              <a:t>Combine both approaches to validate requirements through feedback loops and ensure comprehensive coverage.</a:t>
            </a:r>
            <a:endParaRPr lang="vi-VN" dirty="0"/>
          </a:p>
          <a:p>
            <a:r>
              <a:rPr lang="vi-VN" b="1" dirty="0"/>
              <a:t>Cách làm hiệu quả</a:t>
            </a:r>
          </a:p>
          <a:p>
            <a:pPr lvl="1">
              <a:buFont typeface="+mj-lt"/>
              <a:buAutoNum type="arabicPeriod"/>
            </a:pPr>
            <a:r>
              <a:rPr lang="vi-VN" b="1" dirty="0"/>
              <a:t>Top-Down</a:t>
            </a:r>
            <a:r>
              <a:rPr lang="vi-VN" dirty="0"/>
              <a:t>: xác định mục tiêu, KPI, giá trị kinh doanh</a:t>
            </a:r>
          </a:p>
          <a:p>
            <a:pPr lvl="1">
              <a:buFont typeface="+mj-lt"/>
              <a:buAutoNum type="arabicPeriod"/>
            </a:pPr>
            <a:r>
              <a:rPr lang="vi-VN" b="1" dirty="0"/>
              <a:t>Bottom-Up</a:t>
            </a:r>
            <a:r>
              <a:rPr lang="vi-VN" dirty="0"/>
              <a:t>: đối chiếu với dữ liệu, báo cáo, quy trình hiện tại</a:t>
            </a:r>
          </a:p>
          <a:p>
            <a:pPr lvl="1">
              <a:buFont typeface="+mj-lt"/>
              <a:buAutoNum type="arabicPeriod"/>
            </a:pPr>
            <a:r>
              <a:rPr lang="vi-VN" b="1" dirty="0"/>
              <a:t>Feedback loop</a:t>
            </a:r>
            <a:r>
              <a:rPr lang="vi-VN" dirty="0"/>
              <a:t>:</a:t>
            </a:r>
          </a:p>
          <a:p>
            <a:pPr marL="1200150" lvl="2" indent="-285750">
              <a:buFont typeface="+mj-lt"/>
              <a:buAutoNum type="arabicPeriod"/>
            </a:pPr>
            <a:r>
              <a:rPr lang="vi-VN" dirty="0"/>
              <a:t>điều chỉnh yêu cầu,</a:t>
            </a:r>
          </a:p>
          <a:p>
            <a:pPr marL="1200150" lvl="2" indent="-285750">
              <a:buFont typeface="+mj-lt"/>
              <a:buAutoNum type="arabicPeriod"/>
            </a:pPr>
            <a:r>
              <a:rPr lang="vi-VN" dirty="0"/>
              <a:t>loại bỏ cái không cần,</a:t>
            </a:r>
          </a:p>
          <a:p>
            <a:pPr marL="1200150" lvl="2" indent="-285750">
              <a:buFont typeface="+mj-lt"/>
              <a:buAutoNum type="arabicPeriod"/>
            </a:pPr>
            <a:r>
              <a:rPr lang="vi-VN" dirty="0"/>
              <a:t>bổ sung cái còn thiếu.</a:t>
            </a:r>
          </a:p>
          <a:p>
            <a:pPr lvl="1">
              <a:buFont typeface="+mj-lt"/>
              <a:buAutoNum type="arabicPeriod"/>
            </a:pPr>
            <a:r>
              <a:rPr lang="vi-VN" dirty="0"/>
              <a:t>Lặp lại cho đến khi yêu cầu:</a:t>
            </a:r>
          </a:p>
          <a:p>
            <a:pPr marL="1200150" lvl="2" indent="-285750">
              <a:buFont typeface="+mj-lt"/>
              <a:buAutoNum type="arabicPeriod"/>
            </a:pPr>
            <a:r>
              <a:rPr lang="vi-VN" dirty="0"/>
              <a:t>phù hợp chiến lược,</a:t>
            </a:r>
          </a:p>
          <a:p>
            <a:pPr marL="1200150" lvl="2" indent="-285750">
              <a:buFont typeface="+mj-lt"/>
              <a:buAutoNum type="arabicPeriod"/>
            </a:pPr>
            <a:r>
              <a:rPr lang="vi-VN" dirty="0"/>
              <a:t>khả thi về kỹ thuật,</a:t>
            </a:r>
          </a:p>
          <a:p>
            <a:pPr marL="1200150" lvl="2" indent="-285750">
              <a:buFont typeface="+mj-lt"/>
              <a:buAutoNum type="arabicPeriod"/>
            </a:pPr>
            <a:r>
              <a:rPr lang="vi-VN" dirty="0"/>
              <a:t>được business chấp nhận.</a:t>
            </a:r>
          </a:p>
          <a:p>
            <a:r>
              <a:rPr lang="en-US" dirty="0"/>
              <a:t>=&gt; </a:t>
            </a:r>
            <a:r>
              <a:rPr lang="vi-VN" dirty="0"/>
              <a:t>Đây chính là </a:t>
            </a:r>
            <a:r>
              <a:rPr lang="vi-VN" b="1" dirty="0"/>
              <a:t>stepwise refinement</a:t>
            </a:r>
            <a:r>
              <a:rPr lang="vi-VN" dirty="0"/>
              <a:t>: tinh chỉnh dần, không làm một lần rồi đóng băng.</a:t>
            </a:r>
          </a:p>
          <a:p>
            <a:r>
              <a:rPr lang="vi-VN" b="1" dirty="0"/>
              <a:t>4. Liên hệ với các nội dung trước</a:t>
            </a:r>
          </a:p>
          <a:p>
            <a:r>
              <a:rPr lang="vi-VN" dirty="0"/>
              <a:t>Slide này gắn chặt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Goldilocks Syndrome (vừa đủ chi tiết),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Avoiding Requirements Traps,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Five Categories of Requirements,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Human &amp; Political Challenges.</a:t>
            </a:r>
          </a:p>
          <a:p>
            <a:r>
              <a:rPr lang="en-US" dirty="0"/>
              <a:t>=&gt; </a:t>
            </a:r>
            <a:r>
              <a:rPr lang="vi-VN" dirty="0"/>
              <a:t>Kết hợp Top-Down &amp; Bottom-Up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mơ hồ,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xung đột,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tăng mức độ đồng thuận.</a:t>
            </a:r>
          </a:p>
          <a:p>
            <a:r>
              <a:rPr lang="vi-VN" b="1" dirty="0"/>
              <a:t>5. Thông điệp giảng viên muốn sinh viên ghi nhớ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Top-Down cho </a:t>
            </a:r>
            <a:r>
              <a:rPr lang="vi-VN" b="1" dirty="0"/>
              <a:t>định hướng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Bottom-Up cho </a:t>
            </a:r>
            <a:r>
              <a:rPr lang="vi-VN" b="1" dirty="0"/>
              <a:t>thực tế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Chỉ dùng một cách → lệch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requirements tốt là kết quả của </a:t>
            </a:r>
            <a:r>
              <a:rPr lang="vi-VN" b="1" dirty="0"/>
              <a:t>đối thoại liên tục</a:t>
            </a:r>
            <a:r>
              <a:rPr lang="vi-VN" dirty="0"/>
              <a:t>, không phải quyết định một chiều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Who Does What? – Ai làm gì trong dự án BI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nhằm trả lời một câu hỏi rất hay gây hiểu nhầm trong thực tế:</a:t>
            </a:r>
          </a:p>
          <a:p>
            <a:r>
              <a:rPr lang="vi-VN" b="1" dirty="0"/>
              <a:t>BI thất bại không phải vì thiếu công nghệ, mà vì không rõ ai chịu trách nhiệm cho việc gì.</a:t>
            </a:r>
            <a:endParaRPr lang="vi-VN" dirty="0"/>
          </a:p>
          <a:p>
            <a:r>
              <a:rPr lang="vi-VN" dirty="0"/>
              <a:t>Do đó: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Vai trò (roles) quan trọng hơn chức danh (titles)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Dù một người có thể kiêm nhiều vai trò, </a:t>
            </a:r>
            <a:r>
              <a:rPr lang="vi-VN" b="1" dirty="0"/>
              <a:t>mọi trách nhiệm đều phải được bao phủ</a:t>
            </a:r>
            <a:endParaRPr lang="vi-VN" dirty="0"/>
          </a:p>
          <a:p>
            <a:r>
              <a:rPr lang="vi-VN" b="1" dirty="0"/>
              <a:t>1. BI Team – Đội triển khai BI (làm “how”)</a:t>
            </a:r>
          </a:p>
          <a:p>
            <a:r>
              <a:rPr lang="vi-VN" b="1" dirty="0"/>
              <a:t>Business Analyst (BA)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Vai trò trung tâm trong yêu cầu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Chịu trách nhiệm: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thu thập yêu cầu từ business,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làm rõ nhu cầu mơ hồ,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chuyển “ý tưởng kinh doanh” thành yêu cầu có thể xây dựng.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BA </a:t>
            </a:r>
            <a:r>
              <a:rPr lang="vi-VN" b="1" dirty="0"/>
              <a:t>không quyết định chiến lược</a:t>
            </a:r>
            <a:r>
              <a:rPr lang="vi-VN" dirty="0"/>
              <a:t>, nhưng đảm bảo chiến lược được diễn đạt rõ ràng.</a:t>
            </a:r>
          </a:p>
          <a:p>
            <a:r>
              <a:rPr lang="en-US" dirty="0"/>
              <a:t>=&gt; </a:t>
            </a:r>
            <a:r>
              <a:rPr lang="vi-VN" dirty="0"/>
              <a:t>BA là </a:t>
            </a:r>
            <a:r>
              <a:rPr lang="vi-VN" b="1" dirty="0"/>
              <a:t>cầu nối</a:t>
            </a:r>
            <a:r>
              <a:rPr lang="vi-VN" dirty="0"/>
              <a:t> giữa business và kỹ thuật.</a:t>
            </a:r>
          </a:p>
          <a:p>
            <a:r>
              <a:rPr lang="vi-VN" b="1" dirty="0"/>
              <a:t>Data Architect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Thiết kế: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kiến trúc dữ liệu tổng thể,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luồng dữ liệu (data flows),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tích hợp giữa các hệ thống.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Quyết định: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dữ liệu đi từ đâu → qua đâu → đến đâu,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đảm bảo khả năng mở rộng và hiệu năng.</a:t>
            </a:r>
          </a:p>
          <a:p>
            <a:r>
              <a:rPr lang="en-US" dirty="0"/>
              <a:t>=&gt; </a:t>
            </a:r>
            <a:r>
              <a:rPr lang="vi-VN" dirty="0"/>
              <a:t>Nếu BA trả lời </a:t>
            </a:r>
            <a:r>
              <a:rPr lang="vi-VN" i="1" dirty="0"/>
              <a:t>“cần gì”</a:t>
            </a:r>
            <a:r>
              <a:rPr lang="vi-VN" dirty="0"/>
              <a:t>, Data Architect trả lời </a:t>
            </a:r>
            <a:r>
              <a:rPr lang="vi-VN" i="1" dirty="0"/>
              <a:t>“dữ liệu sẽ chảy như thế nào”</a:t>
            </a:r>
            <a:r>
              <a:rPr lang="vi-VN" dirty="0"/>
              <a:t>.</a:t>
            </a:r>
          </a:p>
          <a:p>
            <a:r>
              <a:rPr lang="vi-VN" b="1" dirty="0"/>
              <a:t>Data Modeler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Thiết kế: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mô hình dữ liệu phân tích (fact, dimension),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logic nghiệp vụ trong dữ liệu.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Đảm bảo: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các KPI có định nghĩa rõ ràng,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dữ liệu dễ hiểu với người dùng.</a:t>
            </a:r>
          </a:p>
          <a:p>
            <a:r>
              <a:rPr lang="en-US" dirty="0"/>
              <a:t>=&gt; </a:t>
            </a:r>
            <a:r>
              <a:rPr lang="vi-VN" dirty="0"/>
              <a:t>Data Modeler quyết định </a:t>
            </a:r>
            <a:r>
              <a:rPr lang="vi-VN" b="1" dirty="0"/>
              <a:t>người dùng nhìn dữ liệu như thế nào</a:t>
            </a:r>
            <a:r>
              <a:rPr lang="vi-VN" dirty="0"/>
              <a:t>.</a:t>
            </a:r>
          </a:p>
          <a:p>
            <a:r>
              <a:rPr lang="vi-VN" b="1" dirty="0"/>
              <a:t>ETL Designer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Lập kế hoạch: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trích xuất (Extract),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làm sạch &amp; biến đổi (Transform),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nạp dữ liệu (Load).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Đảm bảo: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dữ liệu đúng, đủ, đúng thời điểm (latency),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tuân thủ các chuẩn chất lượng dữ liệu.</a:t>
            </a:r>
          </a:p>
          <a:p>
            <a:r>
              <a:rPr lang="en-US" dirty="0"/>
              <a:t>=&gt; </a:t>
            </a:r>
            <a:r>
              <a:rPr lang="vi-VN" dirty="0"/>
              <a:t>ETL Designer là người biến </a:t>
            </a:r>
            <a:r>
              <a:rPr lang="vi-VN" b="1" dirty="0"/>
              <a:t>dữ liệu thô thành dữ liệu dùng được</a:t>
            </a:r>
            <a:r>
              <a:rPr lang="vi-VN" dirty="0"/>
              <a:t>.</a:t>
            </a:r>
          </a:p>
          <a:p>
            <a:r>
              <a:rPr lang="vi-VN" b="1" dirty="0"/>
              <a:t>2. Business Participants – Phía nghiệp vụ (làm “why” &amp; “what”)</a:t>
            </a:r>
          </a:p>
          <a:p>
            <a:r>
              <a:rPr lang="vi-VN" b="1" dirty="0"/>
              <a:t>Sponsors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Vai trò </a:t>
            </a:r>
            <a:r>
              <a:rPr lang="vi-VN" b="1" dirty="0"/>
              <a:t>quyết định sống còn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Cung cấp: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ngân sách,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tầm nhìn chiến lược,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quyền ưu tiên.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Chịu trách nhiệm: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bảo vệ dự án,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giải quyết xung đột ưu tiên.</a:t>
            </a:r>
          </a:p>
          <a:p>
            <a:r>
              <a:rPr lang="en-US" dirty="0"/>
              <a:t>=&gt; </a:t>
            </a:r>
            <a:r>
              <a:rPr lang="vi-VN" dirty="0"/>
              <a:t>Không có sponsor mạnh → BI rất dễ bị coi là “dự án IT”.</a:t>
            </a:r>
          </a:p>
          <a:p>
            <a:r>
              <a:rPr lang="vi-VN" b="1" dirty="0"/>
              <a:t>Stakeholders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Những người: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có lợi ích trực tiếp từ kết quả BI,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bị ảnh hưởng bởi các quyết định dựa trên BI.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Họ: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góp ý yêu cầu,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đánh giá mức độ thành công.</a:t>
            </a:r>
          </a:p>
          <a:p>
            <a:r>
              <a:rPr lang="en-US" dirty="0"/>
              <a:t>=&gt; </a:t>
            </a:r>
            <a:r>
              <a:rPr lang="vi-VN" dirty="0"/>
              <a:t>Stakeholders giúp đảm bảo BI </a:t>
            </a:r>
            <a:r>
              <a:rPr lang="vi-VN" b="1" dirty="0"/>
              <a:t>đúng vấn đề</a:t>
            </a:r>
            <a:r>
              <a:rPr lang="vi-VN" dirty="0"/>
              <a:t>, không lệch hướng.</a:t>
            </a:r>
          </a:p>
          <a:p>
            <a:r>
              <a:rPr lang="vi-VN" b="1" dirty="0"/>
              <a:t>Power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</a:t>
            </a:r>
            <a:r>
              <a:rPr lang="vi-VN" b="1" dirty="0"/>
              <a:t>SME (Subject Matter Experts)</a:t>
            </a:r>
            <a:r>
              <a:rPr lang="vi-V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hiểu dữ liệu,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hiểu nghiệp vụ,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thường là người dùng nâng cao.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Vai trò: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phản biện yêu cầu,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kiểm tra logic,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hỗ trợ lan tỏa BI trong đơn vị.</a:t>
            </a:r>
          </a:p>
          <a:p>
            <a:r>
              <a:rPr lang="en-US" dirty="0"/>
              <a:t>*</a:t>
            </a:r>
            <a:r>
              <a:rPr lang="vi-VN" dirty="0"/>
              <a:t> Lưu ý: power users </a:t>
            </a:r>
            <a:r>
              <a:rPr lang="vi-VN" b="1" dirty="0"/>
              <a:t>không đại diện cho toàn bộ người dùng</a:t>
            </a:r>
            <a:r>
              <a:rPr lang="vi-VN" dirty="0"/>
              <a:t> (liên hệ “Power User Trap”).</a:t>
            </a:r>
          </a:p>
          <a:p>
            <a:r>
              <a:rPr lang="vi-VN" b="1" dirty="0"/>
              <a:t>End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</a:t>
            </a:r>
            <a:r>
              <a:rPr lang="vi-VN" b="1" dirty="0"/>
              <a:t>tiêu thụ cuối cùng</a:t>
            </a:r>
            <a:r>
              <a:rPr lang="vi-V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xem dashboard,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dùng báo cáo để ra quyết định.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Họ: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thiết kế hệ thống,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nhưng quyết định BI có được dùng hay không.</a:t>
            </a:r>
          </a:p>
          <a:p>
            <a:r>
              <a:rPr lang="en-US" dirty="0"/>
              <a:t>=&gt; </a:t>
            </a:r>
            <a:r>
              <a:rPr lang="vi-VN" dirty="0"/>
              <a:t>Nếu end users không dùng → BI thất bại, dù kỹ thuật hoàn hảo.</a:t>
            </a:r>
          </a:p>
          <a:p>
            <a:r>
              <a:rPr lang="vi-VN" b="1" dirty="0"/>
              <a:t>3. Key Idea – Ý chính của slide</a:t>
            </a:r>
          </a:p>
          <a:p>
            <a:r>
              <a:rPr lang="vi-VN" b="1" dirty="0"/>
              <a:t>Roles ≠ People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Một người có thể: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vừa là BA,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vừa là Data Modeler,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vừa là ETL (trong team nhỏ).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Nhưng: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 dirty="0"/>
              <a:t>không vai trò nào được bỏ trống</a:t>
            </a:r>
            <a:r>
              <a:rPr lang="vi-VN" dirty="0"/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nếu thiếu → rủi ro sẽ xuất hiện.</a:t>
            </a:r>
          </a:p>
          <a:p>
            <a:r>
              <a:rPr lang="vi-VN" b="1" dirty="0"/>
              <a:t>4. Liên hệ thực tế (điểm giảng viên nhấn mạnh)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không phải: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“IT làm hết” 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vi-VN" dirty="0"/>
              <a:t>Business nói xong là xong”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 dirty="0"/>
              <a:t>trách nhiệm chung</a:t>
            </a:r>
            <a:r>
              <a:rPr lang="vi-VN" dirty="0"/>
              <a:t>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mỗi bên làm đúng phần của mình.</a:t>
            </a:r>
          </a:p>
          <a:p>
            <a:endParaRPr lang="en-US" b="1" dirty="0"/>
          </a:p>
          <a:p>
            <a:r>
              <a:rPr lang="en-US" b="1" dirty="0"/>
              <a:t>**G</a:t>
            </a:r>
            <a:r>
              <a:rPr lang="vi-VN" b="1" dirty="0"/>
              <a:t>hi nhớ</a:t>
            </a:r>
          </a:p>
          <a:p>
            <a:r>
              <a:rPr lang="vi-VN" i="1" dirty="0"/>
              <a:t>“BI thành công khi business chịu trách nhiệm về </a:t>
            </a:r>
            <a:r>
              <a:rPr lang="vi-VN" b="1" i="1" dirty="0"/>
              <a:t>giá trị</a:t>
            </a:r>
            <a:r>
              <a:rPr lang="vi-VN" i="1" dirty="0"/>
              <a:t>,</a:t>
            </a:r>
            <a:br>
              <a:rPr lang="vi-VN" i="1" dirty="0"/>
            </a:br>
            <a:r>
              <a:rPr lang="vi-VN" i="1" dirty="0"/>
              <a:t>còn BI team chịu trách nhiệm về </a:t>
            </a:r>
            <a:r>
              <a:rPr lang="vi-VN" b="1" i="1" dirty="0"/>
              <a:t>cách tạo ra giá trị đó từ dữ liệu</a:t>
            </a:r>
            <a:r>
              <a:rPr lang="vi-VN" i="1" dirty="0"/>
              <a:t>.”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Workflow: A Systematic Progression</a:t>
            </a:r>
          </a:p>
          <a:p>
            <a:r>
              <a:rPr lang="vi-VN" b="1" dirty="0"/>
              <a:t>(Quy trình xây dựng yêu cầu BI theo trình tự logic)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khẳng định một nguyên tắc rất quan trọng trong BI:</a:t>
            </a:r>
          </a:p>
          <a:p>
            <a:r>
              <a:rPr lang="vi-VN" b="1" dirty="0"/>
              <a:t>BI phải đi từ “vấn đề kinh doanh” → “giải pháp kỹ thuật”,</a:t>
            </a:r>
            <a:br>
              <a:rPr lang="vi-VN" b="1" dirty="0"/>
            </a:br>
            <a:r>
              <a:rPr lang="vi-VN" b="1" dirty="0"/>
              <a:t>không bao giờ đi ngược lại.</a:t>
            </a:r>
            <a:endParaRPr lang="vi-VN" dirty="0"/>
          </a:p>
          <a:p>
            <a:r>
              <a:rPr lang="vi-VN" dirty="0"/>
              <a:t>Đây là </a:t>
            </a:r>
            <a:r>
              <a:rPr lang="vi-VN" b="1" dirty="0"/>
              <a:t>quy trình tiến hóa có kiểm soát</a:t>
            </a:r>
            <a:r>
              <a:rPr lang="vi-VN" dirty="0"/>
              <a:t>, mỗi bước </a:t>
            </a:r>
            <a:r>
              <a:rPr lang="vi-VN" b="1" dirty="0"/>
              <a:t>phụ thuộc trực tiếp</a:t>
            </a:r>
            <a:r>
              <a:rPr lang="vi-VN" dirty="0"/>
              <a:t> vào bước trước.</a:t>
            </a:r>
          </a:p>
          <a:p>
            <a:r>
              <a:rPr lang="vi-VN" b="1" dirty="0"/>
              <a:t>Bước 1 – Business Requirements (Yêu cầu kinh doanh)</a:t>
            </a:r>
          </a:p>
          <a:p>
            <a:r>
              <a:rPr lang="vi-VN" b="1" dirty="0"/>
              <a:t>Câu hỏi trọng tâm:</a:t>
            </a:r>
            <a:br>
              <a:rPr lang="vi-VN" dirty="0"/>
            </a:br>
            <a:r>
              <a:rPr lang="en-US" dirty="0"/>
              <a:t>=&gt; </a:t>
            </a:r>
            <a:r>
              <a:rPr lang="vi-VN" i="1" dirty="0"/>
              <a:t>Doanh nghiệp cần giải quyết vấn đề gì?</a:t>
            </a:r>
            <a:endParaRPr lang="vi-VN" dirty="0"/>
          </a:p>
          <a:p>
            <a:r>
              <a:rPr lang="vi-VN" dirty="0"/>
              <a:t>Bao gồm: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Mục tiêu kinh doanh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 trình nghiệp vụ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và tiêu chí thành công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Ai ra quyết định, quyết định gì</a:t>
            </a:r>
          </a:p>
          <a:p>
            <a:r>
              <a:rPr lang="en-US" dirty="0"/>
              <a:t>* </a:t>
            </a:r>
            <a:r>
              <a:rPr lang="vi-VN" b="1" dirty="0"/>
              <a:t>Nếu sai bước này → mọi thứ phía sau đều sai.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Bước 2 – Data &amp; Quality Requirements (Dữ liệu &amp; chất lượng dữ liệu)</a:t>
            </a:r>
          </a:p>
          <a:p>
            <a:r>
              <a:rPr lang="vi-VN" b="1" dirty="0"/>
              <a:t>Câu hỏi trọng tâm:</a:t>
            </a:r>
            <a:br>
              <a:rPr lang="vi-VN" dirty="0"/>
            </a:br>
            <a:r>
              <a:rPr lang="en-US" dirty="0"/>
              <a:t>=&gt; </a:t>
            </a:r>
            <a:r>
              <a:rPr lang="vi-VN" i="1" dirty="0"/>
              <a:t>Có dữ liệu nào hỗ trợ mục tiêu kinh doanh đó không?</a:t>
            </a:r>
            <a:endParaRPr lang="vi-VN" dirty="0"/>
          </a:p>
          <a:p>
            <a:r>
              <a:rPr lang="vi-VN" dirty="0"/>
              <a:t>Xác định: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Nguồn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Định nghĩa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Chất lượng theo 5C (Clean, Consistent, Conformed, Current, Comprehensive)</a:t>
            </a:r>
          </a:p>
          <a:p>
            <a:r>
              <a:rPr lang="en-US" dirty="0"/>
              <a:t>* </a:t>
            </a:r>
            <a:r>
              <a:rPr lang="vi-VN" dirty="0"/>
              <a:t>Đây là bước </a:t>
            </a:r>
            <a:r>
              <a:rPr lang="vi-VN" b="1" dirty="0"/>
              <a:t>kiểm tra tính khả thi thực tế</a:t>
            </a:r>
            <a:r>
              <a:rPr lang="vi-VN" dirty="0"/>
              <a:t> của yêu cầu kinh doanh.</a:t>
            </a:r>
          </a:p>
          <a:p>
            <a:endParaRPr lang="en-US" b="1" dirty="0"/>
          </a:p>
          <a:p>
            <a:r>
              <a:rPr lang="vi-VN" b="1" dirty="0"/>
              <a:t>Bước 3 – Functional Requirements (Yêu cầu chức năng)</a:t>
            </a:r>
          </a:p>
          <a:p>
            <a:r>
              <a:rPr lang="vi-VN" b="1" dirty="0"/>
              <a:t>Câu hỏi trọng tâm:</a:t>
            </a:r>
            <a:br>
              <a:rPr lang="vi-VN" dirty="0"/>
            </a:br>
            <a:r>
              <a:rPr lang="en-US" dirty="0"/>
              <a:t>=&gt; </a:t>
            </a:r>
            <a:r>
              <a:rPr lang="vi-VN" i="1" dirty="0"/>
              <a:t>Người dùng sẽ sử dụng BI như thế nào?</a:t>
            </a:r>
            <a:endParaRPr lang="vi-VN" dirty="0"/>
          </a:p>
          <a:p>
            <a:r>
              <a:rPr lang="vi-VN" dirty="0"/>
              <a:t>Bao gồm: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Use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Dashboard, báo cáo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Drill-down, filter, alert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 trình phân tích</a:t>
            </a:r>
          </a:p>
          <a:p>
            <a:r>
              <a:rPr lang="en-US" dirty="0"/>
              <a:t>* </a:t>
            </a:r>
            <a:r>
              <a:rPr lang="vi-VN" dirty="0"/>
              <a:t>Lúc này </a:t>
            </a:r>
            <a:r>
              <a:rPr lang="vi-VN" b="1" dirty="0"/>
              <a:t>chưa nói đến công nghệ</a:t>
            </a:r>
            <a:r>
              <a:rPr lang="vi-VN" dirty="0"/>
              <a:t>, chỉ nói </a:t>
            </a:r>
            <a:r>
              <a:rPr lang="vi-VN" b="1" dirty="0"/>
              <a:t>cách sử dụng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Bước 4 – Regulatory Requirements (Tuân thủ &amp; pháp lý)</a:t>
            </a:r>
          </a:p>
          <a:p>
            <a:r>
              <a:rPr lang="vi-VN" b="1" dirty="0"/>
              <a:t>Câu hỏi trọng tâm:</a:t>
            </a:r>
            <a:br>
              <a:rPr lang="vi-VN" dirty="0"/>
            </a:br>
            <a:r>
              <a:rPr lang="en-US" dirty="0"/>
              <a:t>=&gt; </a:t>
            </a:r>
            <a:r>
              <a:rPr lang="vi-VN" i="1" dirty="0"/>
              <a:t>Có ràng buộc pháp lý hay chính sách nào không?</a:t>
            </a:r>
            <a:endParaRPr lang="vi-VN" dirty="0"/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GDPR, HIPAA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quyền truy cập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mật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Audit &amp; logging</a:t>
            </a:r>
          </a:p>
          <a:p>
            <a:r>
              <a:rPr lang="en-US" dirty="0"/>
              <a:t>** </a:t>
            </a:r>
            <a:r>
              <a:rPr lang="vi-VN" dirty="0"/>
              <a:t>Bỏ qua bước này thường dẫn tới </a:t>
            </a:r>
            <a:r>
              <a:rPr lang="vi-VN" b="1" dirty="0"/>
              <a:t>phải làm lại toàn bộ kiến trúc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Bước 5 – Technical Requirements (Yêu cầu kỹ thuật)</a:t>
            </a:r>
          </a:p>
          <a:p>
            <a:r>
              <a:rPr lang="vi-VN" b="1" dirty="0"/>
              <a:t>Câu hỏi trọng tâm:</a:t>
            </a:r>
            <a:br>
              <a:rPr lang="vi-VN" dirty="0"/>
            </a:br>
            <a:r>
              <a:rPr lang="en-US" dirty="0"/>
              <a:t>=&gt; </a:t>
            </a:r>
            <a:r>
              <a:rPr lang="vi-VN" i="1" dirty="0"/>
              <a:t>Công nghệ nào đáp ứng tất cả các yêu cầu trên?</a:t>
            </a:r>
            <a:endParaRPr lang="vi-VN" dirty="0"/>
          </a:p>
          <a:p>
            <a:r>
              <a:rPr lang="vi-VN" dirty="0"/>
              <a:t>Bao gồm: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Kiến trúc (cloud / on-prem)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cụ BI, ETL, DW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Hiệu năng, mở rộng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Chuẩn triển khai</a:t>
            </a:r>
          </a:p>
          <a:p>
            <a:r>
              <a:rPr lang="en-US" dirty="0"/>
              <a:t>** </a:t>
            </a:r>
            <a:r>
              <a:rPr lang="vi-VN" b="1" dirty="0"/>
              <a:t>Công nghệ chỉ xuất hiện ở bước này</a:t>
            </a:r>
            <a:r>
              <a:rPr lang="vi-VN" dirty="0"/>
              <a:t>, không sớm hơn.</a:t>
            </a:r>
          </a:p>
          <a:p>
            <a:endParaRPr lang="en-US" b="1" dirty="0"/>
          </a:p>
          <a:p>
            <a:r>
              <a:rPr lang="vi-VN" b="1" dirty="0"/>
              <a:t>Bước 6 – Reverse Engineering (Tùy chọn, nét đứt)</a:t>
            </a:r>
          </a:p>
          <a:p>
            <a:r>
              <a:rPr lang="vi-VN" b="1" dirty="0"/>
              <a:t>Ý nghĩa nét đứt: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Đây </a:t>
            </a:r>
            <a:r>
              <a:rPr lang="vi-VN" b="1" dirty="0"/>
              <a:t>không phải luồng chính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Chỉ dùng để: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phân tích hệ thống cũ,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đảm bảo không bỏ sót chức năng quan trọng.</a:t>
            </a:r>
          </a:p>
          <a:p>
            <a:r>
              <a:rPr lang="en-US" dirty="0"/>
              <a:t>**</a:t>
            </a:r>
            <a:r>
              <a:rPr lang="vi-VN" dirty="0"/>
              <a:t> </a:t>
            </a:r>
            <a:r>
              <a:rPr lang="vi-VN" b="1" dirty="0"/>
              <a:t>Không được dùng reverse engineering làm điểm khởi đầu</a:t>
            </a:r>
            <a:r>
              <a:rPr lang="vi-VN" dirty="0"/>
              <a:t>, vì sẽ: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sao chép sai lầm cũ,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duy trì báo cáo lỗi thời,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khóa chặt BI vào quá khứ.</a:t>
            </a:r>
          </a:p>
          <a:p>
            <a:r>
              <a:rPr lang="vi-VN" b="1" dirty="0"/>
              <a:t>Strategic Insight (Dòng kết luận của slide)</a:t>
            </a:r>
          </a:p>
          <a:p>
            <a:r>
              <a:rPr lang="vi-VN" b="1" dirty="0"/>
              <a:t>Bắt đầu từ nhu cầu kinh doanh đảm bảo rằng mọi quyết định về dữ liệu và kỹ thuật đều phục vụ trực tiếp cho giá trị kinh doanh.</a:t>
            </a:r>
            <a:endParaRPr lang="vi-VN" dirty="0"/>
          </a:p>
          <a:p>
            <a:r>
              <a:rPr lang="vi-VN" dirty="0"/>
              <a:t>Nói cách khác: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</a:t>
            </a:r>
            <a:r>
              <a:rPr lang="vi-VN" b="1" dirty="0"/>
              <a:t>không phải là dự án công nghệ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là </a:t>
            </a:r>
            <a:r>
              <a:rPr lang="vi-VN" b="1" dirty="0"/>
              <a:t>chương trình chuyển hóa dữ liệu thành quyết định</a:t>
            </a:r>
            <a:endParaRPr lang="vi-VN" dirty="0"/>
          </a:p>
          <a:p>
            <a:endParaRPr lang="en-US" b="1" dirty="0"/>
          </a:p>
          <a:p>
            <a:r>
              <a:rPr lang="en-US" b="1" dirty="0"/>
              <a:t>** GHI NHỚ</a:t>
            </a:r>
            <a:endParaRPr lang="vi-VN" b="1" dirty="0"/>
          </a:p>
          <a:p>
            <a:r>
              <a:rPr lang="vi-VN" i="1" dirty="0"/>
              <a:t>“Nếu bạn chọn công cụ trước khi hiểu bài toán kinh doanh,</a:t>
            </a:r>
            <a:br>
              <a:rPr lang="vi-VN" i="1" dirty="0"/>
            </a:br>
            <a:r>
              <a:rPr lang="vi-VN" i="1" dirty="0"/>
              <a:t>bạn không làm BI – bạn chỉ đang mua phần mềm.”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Defining the “What”: Business Requirements</a:t>
            </a:r>
          </a:p>
          <a:p>
            <a:r>
              <a:rPr lang="vi-VN" b="1" dirty="0"/>
              <a:t>(Xác định </a:t>
            </a:r>
            <a:r>
              <a:rPr lang="vi-VN" b="1" i="1" dirty="0"/>
              <a:t>cái gì</a:t>
            </a:r>
            <a:r>
              <a:rPr lang="vi-VN" b="1" dirty="0"/>
              <a:t> BI phải làm – trước khi nghĩ đến </a:t>
            </a:r>
            <a:r>
              <a:rPr lang="vi-VN" b="1" i="1" dirty="0"/>
              <a:t>làm thế nào</a:t>
            </a:r>
            <a:r>
              <a:rPr lang="vi-VN" b="1" dirty="0"/>
              <a:t>)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dirty="0"/>
              <a:t>Slide này nhấn mạnh rằng:</a:t>
            </a:r>
          </a:p>
          <a:p>
            <a:r>
              <a:rPr lang="vi-VN" b="1" dirty="0"/>
              <a:t>Business Requirements trả lời câu hỏi “BI phải hỗ trợ việc gì cho doanh nghiệp?”</a:t>
            </a:r>
            <a:br>
              <a:rPr lang="vi-VN" dirty="0"/>
            </a:br>
            <a:r>
              <a:rPr lang="vi-VN" dirty="0"/>
              <a:t>Không nhớ rõ “WHAT” → mọi quyết định về dữ liệu, kiến trúc và công cụ đều trở nên mơ hồ.</a:t>
            </a:r>
          </a:p>
          <a:p>
            <a:r>
              <a:rPr lang="vi-VN" b="1" dirty="0"/>
              <a:t>1. Business Processes – Quy trình nghiệp vụ</a:t>
            </a:r>
          </a:p>
          <a:p>
            <a:r>
              <a:rPr lang="vi-VN" b="1" dirty="0"/>
              <a:t>Câu hỏi trọng tâm:</a:t>
            </a:r>
            <a:br>
              <a:rPr lang="vi-VN" dirty="0"/>
            </a:br>
            <a:r>
              <a:rPr lang="en-US" dirty="0"/>
              <a:t>=&gt; </a:t>
            </a:r>
            <a:r>
              <a:rPr lang="vi-VN" i="1" dirty="0"/>
              <a:t>BI sẽ can thiệp vào quy trình nào của doanh nghiệp?</a:t>
            </a:r>
            <a:endParaRPr lang="vi-VN" dirty="0"/>
          </a:p>
          <a:p>
            <a:r>
              <a:rPr lang="vi-VN" dirty="0"/>
              <a:t>Nội dung chính: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</a:t>
            </a:r>
            <a:r>
              <a:rPr lang="vi-VN" b="1" dirty="0"/>
              <a:t>workflow cụ thể</a:t>
            </a:r>
            <a:r>
              <a:rPr lang="vi-VN" dirty="0"/>
              <a:t> (bán hàng, tồn kho, tài chính, vận hành…)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Nhận diện </a:t>
            </a:r>
            <a:r>
              <a:rPr lang="vi-VN" b="1" dirty="0"/>
              <a:t>nhóm người dùng bị ảnh hưởng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Vẽ lại </a:t>
            </a:r>
            <a:r>
              <a:rPr lang="vi-VN" b="1" dirty="0"/>
              <a:t>quy trình hiện tại (as-is)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Chỉ ra </a:t>
            </a:r>
            <a:r>
              <a:rPr lang="vi-VN" b="1" dirty="0"/>
              <a:t>điểm nghẽn / pain points</a:t>
            </a:r>
            <a:endParaRPr lang="vi-VN" dirty="0"/>
          </a:p>
          <a:p>
            <a:r>
              <a:rPr lang="en-US" dirty="0"/>
              <a:t>* </a:t>
            </a:r>
            <a:r>
              <a:rPr lang="vi-VN" b="1" dirty="0"/>
              <a:t>BI không tồn tại độc lập</a:t>
            </a:r>
            <a:r>
              <a:rPr lang="vi-VN" dirty="0"/>
              <a:t>, nó luôn gắn với </a:t>
            </a:r>
            <a:r>
              <a:rPr lang="vi-VN" b="1" dirty="0"/>
              <a:t>một quy trình ra quyết định</a:t>
            </a:r>
            <a:r>
              <a:rPr lang="vi-VN" dirty="0"/>
              <a:t>.</a:t>
            </a:r>
          </a:p>
          <a:p>
            <a:r>
              <a:rPr lang="vi-VN" b="1" dirty="0"/>
              <a:t>2. Business Objectives – Mục tiêu kinh doanh</a:t>
            </a:r>
          </a:p>
          <a:p>
            <a:r>
              <a:rPr lang="vi-VN" b="1" dirty="0"/>
              <a:t>Câu hỏi trọng tâm:</a:t>
            </a:r>
            <a:br>
              <a:rPr lang="vi-VN" dirty="0"/>
            </a:br>
            <a:r>
              <a:rPr lang="en-US" dirty="0"/>
              <a:t>=&gt; </a:t>
            </a:r>
            <a:r>
              <a:rPr lang="vi-VN" i="1" dirty="0"/>
              <a:t>Doanh nghiệp muốn cải thiện điều gì?</a:t>
            </a:r>
            <a:endParaRPr lang="vi-VN" dirty="0"/>
          </a:p>
          <a:p>
            <a:r>
              <a:rPr lang="vi-VN" dirty="0"/>
              <a:t>Bao gồm: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Vấn đề cốt lõi cần giải quyết (problem definition)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Mục tiêu chiến lược (strategic alignment)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Tiêu chí thành công (success criteria)</a:t>
            </a:r>
          </a:p>
          <a:p>
            <a:r>
              <a:rPr lang="en-US" dirty="0"/>
              <a:t>* </a:t>
            </a:r>
            <a:r>
              <a:rPr lang="vi-VN" dirty="0"/>
              <a:t>Nếu </a:t>
            </a:r>
            <a:r>
              <a:rPr lang="vi-VN" b="1" dirty="0"/>
              <a:t>không có mục tiêu rõ ràng</a:t>
            </a:r>
            <a:r>
              <a:rPr lang="vi-VN" dirty="0"/>
              <a:t>, BI sẽ trở thành: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“báo cáo cho có”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dashboard đẹp nhưng </a:t>
            </a:r>
            <a:r>
              <a:rPr lang="vi-VN" b="1" dirty="0"/>
              <a:t>không ai dùng</a:t>
            </a:r>
            <a:endParaRPr lang="vi-VN" dirty="0"/>
          </a:p>
          <a:p>
            <a:r>
              <a:rPr lang="vi-VN" b="1" dirty="0"/>
              <a:t>3. Business Metrics – Chỉ số kinh doanh (KPIs)</a:t>
            </a:r>
          </a:p>
          <a:p>
            <a:r>
              <a:rPr lang="vi-VN" b="1" dirty="0"/>
              <a:t>Câu hỏi trọng tâm:</a:t>
            </a:r>
            <a:br>
              <a:rPr lang="vi-VN" dirty="0"/>
            </a:br>
            <a:r>
              <a:rPr lang="en-US" dirty="0"/>
              <a:t>=&gt; </a:t>
            </a:r>
            <a:r>
              <a:rPr lang="vi-VN" i="1" dirty="0"/>
              <a:t>Quyết định được đo lường bằng con số nào?</a:t>
            </a:r>
            <a:endParaRPr lang="vi-VN" dirty="0"/>
          </a:p>
          <a:p>
            <a:r>
              <a:rPr lang="vi-VN" dirty="0"/>
              <a:t>Nội dung then chốt: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</a:t>
            </a:r>
            <a:r>
              <a:rPr lang="vi-VN" b="1" dirty="0"/>
              <a:t>Core KPIs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 tắc tính toán (calculation rules)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Ánh xạ nguồn dữ liệu (data source mapping)</a:t>
            </a:r>
          </a:p>
          <a:p>
            <a:r>
              <a:rPr lang="en-US" dirty="0"/>
              <a:t>* </a:t>
            </a:r>
            <a:r>
              <a:rPr lang="vi-VN" dirty="0"/>
              <a:t>Đây là </a:t>
            </a:r>
            <a:r>
              <a:rPr lang="vi-VN" b="1" dirty="0"/>
              <a:t>yếu tố kỹ thuật quan trọng nhất trong business requirements</a:t>
            </a:r>
            <a:r>
              <a:rPr lang="vi-VN" dirty="0"/>
              <a:t>, vì: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quyết định </a:t>
            </a:r>
            <a:r>
              <a:rPr lang="vi-VN" b="1" dirty="0"/>
              <a:t>data model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quyết định </a:t>
            </a:r>
            <a:r>
              <a:rPr lang="vi-VN" b="1" dirty="0"/>
              <a:t>ETL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quyết định </a:t>
            </a:r>
            <a:r>
              <a:rPr lang="vi-VN" b="1" dirty="0"/>
              <a:t>dashboard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Critical Risk – Cảnh báo quan trọng của slide</a:t>
            </a:r>
          </a:p>
          <a:p>
            <a:r>
              <a:rPr lang="en-US" dirty="0"/>
              <a:t>**</a:t>
            </a:r>
            <a:r>
              <a:rPr lang="vi-VN" dirty="0"/>
              <a:t> </a:t>
            </a:r>
            <a:r>
              <a:rPr lang="vi-VN" b="1" dirty="0"/>
              <a:t>Định nghĩa chỉ số quá muộn trong dự án sẽ tạo ra một hệ BI “đúng kỹ thuật nhưng sai kinh doanh”.</a:t>
            </a:r>
            <a:endParaRPr lang="vi-VN" dirty="0"/>
          </a:p>
          <a:p>
            <a:r>
              <a:rPr lang="vi-VN" dirty="0"/>
              <a:t>Hậu quả thường gặp: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Tranh cãi số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“Mỗi phòng ban một con số”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không được tin tưởng → không được sử dụng</a:t>
            </a:r>
          </a:p>
          <a:p>
            <a:endParaRPr lang="en-US" b="1" dirty="0"/>
          </a:p>
          <a:p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luận</a:t>
            </a:r>
            <a:endParaRPr lang="vi-VN" b="1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Requirements = </a:t>
            </a:r>
            <a:r>
              <a:rPr lang="vi-VN" b="1" dirty="0"/>
              <a:t>WHAT cần hỗ trợ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phải: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chọn công cụ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chọn kiến trúc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là: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 dirty="0"/>
              <a:t>quy trình nào</a:t>
            </a:r>
            <a:endParaRPr lang="vi-V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 dirty="0"/>
              <a:t>mục tiêu gì</a:t>
            </a:r>
            <a:endParaRPr lang="vi-V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 dirty="0"/>
              <a:t>đo bằng chỉ số nào</a:t>
            </a:r>
            <a:endParaRPr lang="vi-VN" dirty="0"/>
          </a:p>
          <a:p>
            <a:r>
              <a:rPr lang="vi-VN" i="1" dirty="0"/>
              <a:t>“Nếu KPI chưa rõ, thì data model chắc chắn sai.”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Heart of BI: Metrics and KPIs</a:t>
            </a:r>
          </a:p>
          <a:p>
            <a:r>
              <a:rPr lang="vi-VN" b="1" dirty="0"/>
              <a:t>(Trái tim của BI: Chỉ số đo lường và KPI)</a:t>
            </a:r>
          </a:p>
          <a:p>
            <a:r>
              <a:rPr lang="vi-VN" b="1" dirty="0"/>
              <a:t>1. Thông điệp trung tâm của slide</a:t>
            </a:r>
          </a:p>
          <a:p>
            <a:r>
              <a:rPr lang="vi-VN" dirty="0"/>
              <a:t>Giảng viên cần nhấn mạnh với sinh viên:</a:t>
            </a:r>
          </a:p>
          <a:p>
            <a:r>
              <a:rPr lang="vi-VN" b="1" dirty="0"/>
              <a:t>BI không bắt đầu từ dữ liệu, mà bắt đầu từ KPI.</a:t>
            </a:r>
            <a:br>
              <a:rPr lang="vi-VN" dirty="0"/>
            </a:br>
            <a:r>
              <a:rPr lang="vi-VN" dirty="0"/>
              <a:t>Nếu không có KPI rõ ràng, BI chỉ là một hệ thống lưu trữ và vẽ biểu đồ.</a:t>
            </a:r>
          </a:p>
          <a:p>
            <a:endParaRPr lang="en-US" b="1" dirty="0"/>
          </a:p>
          <a:p>
            <a:r>
              <a:rPr lang="vi-VN" b="1" dirty="0"/>
              <a:t>2. KPIs drive decision-making</a:t>
            </a:r>
          </a:p>
          <a:p>
            <a:r>
              <a:rPr lang="vi-VN" b="1" dirty="0"/>
              <a:t>Giải thích cho sinh viên: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(Key Performance Indicator) là </a:t>
            </a:r>
            <a:r>
              <a:rPr lang="vi-VN" b="1" dirty="0"/>
              <a:t>chỉ số then chốt</a:t>
            </a:r>
            <a:r>
              <a:rPr lang="vi-VN" dirty="0"/>
              <a:t> dùng để: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đánh giá hiệu quả hoạt động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so sánh với mục tiêu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hỗ trợ ra quyết định</a:t>
            </a:r>
          </a:p>
          <a:p>
            <a:r>
              <a:rPr lang="en-US" dirty="0"/>
              <a:t>* </a:t>
            </a:r>
            <a:r>
              <a:rPr lang="vi-VN" dirty="0"/>
              <a:t>Doanh nghiệp </a:t>
            </a:r>
            <a:r>
              <a:rPr lang="vi-VN" b="1" dirty="0"/>
              <a:t>không đầu tư BI để “xem dữ liệu”</a:t>
            </a:r>
            <a:r>
              <a:rPr lang="vi-VN" dirty="0"/>
              <a:t>,</a:t>
            </a:r>
            <a:br>
              <a:rPr lang="vi-VN" dirty="0"/>
            </a:br>
            <a:r>
              <a:rPr lang="vi-VN" dirty="0"/>
              <a:t>mà để </a:t>
            </a:r>
            <a:r>
              <a:rPr lang="vi-VN" b="1" dirty="0"/>
              <a:t>trả lời câu hỏi: </a:t>
            </a:r>
            <a:r>
              <a:rPr lang="vi-VN" b="1" i="1" dirty="0"/>
              <a:t>Chúng ta đang làm tốt hay không?</a:t>
            </a:r>
            <a:endParaRPr lang="vi-VN" dirty="0"/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Doanh thu tăng nhưng </a:t>
            </a:r>
            <a:r>
              <a:rPr lang="vi-VN" b="1" dirty="0"/>
              <a:t>biên lợi nhuận giảm</a:t>
            </a:r>
            <a:r>
              <a:rPr lang="vi-VN" dirty="0"/>
              <a:t> → quyết định khác hoàn toàn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Số đơn hàng nhiều nhưng </a:t>
            </a:r>
            <a:r>
              <a:rPr lang="vi-VN" b="1" dirty="0"/>
              <a:t>tỷ lệ giao trễ cao</a:t>
            </a:r>
            <a:r>
              <a:rPr lang="vi-VN" dirty="0"/>
              <a:t> → vấn đề vận hành</a:t>
            </a:r>
          </a:p>
          <a:p>
            <a:endParaRPr lang="en-US" b="1" dirty="0"/>
          </a:p>
          <a:p>
            <a:r>
              <a:rPr lang="vi-VN" b="1" dirty="0"/>
              <a:t>3. Metrics thường bị “ẩn” trong thực tế</a:t>
            </a:r>
          </a:p>
          <a:p>
            <a:r>
              <a:rPr lang="vi-VN" b="1" dirty="0"/>
              <a:t>Ý nghĩa học thuật quan trọng của phần này:</a:t>
            </a:r>
            <a:endParaRPr lang="vi-VN" dirty="0"/>
          </a:p>
          <a:p>
            <a:r>
              <a:rPr lang="vi-VN" dirty="0"/>
              <a:t>Trong nhiều doanh nghiệp: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</a:t>
            </a:r>
            <a:r>
              <a:rPr lang="vi-VN" b="1" dirty="0"/>
              <a:t>không được định nghĩa chính thức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Nằm trong: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file Excel cá nhân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công thức “truyền miệng”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logic không được ghi chép</a:t>
            </a:r>
          </a:p>
          <a:p>
            <a:r>
              <a:rPr lang="en-US" dirty="0"/>
              <a:t>* </a:t>
            </a:r>
            <a:r>
              <a:rPr lang="vi-VN" dirty="0"/>
              <a:t>Đây là lý do: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mỗi phòng ban cho ra </a:t>
            </a:r>
            <a:r>
              <a:rPr lang="vi-VN" b="1" dirty="0"/>
              <a:t>một con số khác nhau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triển khai xong nhưng </a:t>
            </a:r>
            <a:r>
              <a:rPr lang="vi-VN" b="1" dirty="0"/>
              <a:t>không ai tin số liệu</a:t>
            </a:r>
            <a:endParaRPr lang="vi-VN" dirty="0"/>
          </a:p>
          <a:p>
            <a:r>
              <a:rPr lang="en-US" dirty="0"/>
              <a:t>=&gt;</a:t>
            </a:r>
            <a:r>
              <a:rPr lang="vi-VN" dirty="0"/>
              <a:t> Sinh viên cần hiểu:</a:t>
            </a:r>
            <a:br>
              <a:rPr lang="vi-VN" dirty="0"/>
            </a:br>
            <a:r>
              <a:rPr lang="vi-VN" b="1" dirty="0"/>
              <a:t>BI là quá trình “lộ diện hóa” (make explicit) tri thức ẩn của tổ chức.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4. Rủi ro nghiêm trọng: Định nghĩa KPI quá muộn</a:t>
            </a:r>
          </a:p>
          <a:p>
            <a:r>
              <a:rPr lang="vi-VN" b="1" dirty="0"/>
              <a:t>Thông điệp cảnh báo (rất hay ra đề thi):</a:t>
            </a:r>
            <a:endParaRPr lang="vi-VN" dirty="0"/>
          </a:p>
          <a:p>
            <a:r>
              <a:rPr lang="en-US" dirty="0"/>
              <a:t>* </a:t>
            </a:r>
            <a:r>
              <a:rPr lang="vi-VN" dirty="0"/>
              <a:t>Nếu KPI chỉ được xác định sau khi hệ thống đã xây xong → hệ BI gần như chắc chắn thất bại.</a:t>
            </a:r>
          </a:p>
          <a:p>
            <a:r>
              <a:rPr lang="vi-VN" dirty="0"/>
              <a:t>Hậu quả: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model sai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ETL phải làm lại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Dashboard không trả lời đúng câu hỏi kinh doanh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quay lại Excel</a:t>
            </a:r>
          </a:p>
          <a:p>
            <a:r>
              <a:rPr lang="en-US" dirty="0"/>
              <a:t>* </a:t>
            </a:r>
            <a:r>
              <a:rPr lang="vi-VN" dirty="0"/>
              <a:t>Đây là </a:t>
            </a:r>
            <a:r>
              <a:rPr lang="vi-VN" b="1" dirty="0"/>
              <a:t>lỗi phương pháp</a:t>
            </a:r>
            <a:r>
              <a:rPr lang="vi-VN" dirty="0"/>
              <a:t>, không phải lỗi công nghệ.</a:t>
            </a:r>
          </a:p>
          <a:p>
            <a:endParaRPr lang="en-US" b="1" dirty="0"/>
          </a:p>
          <a:p>
            <a:r>
              <a:rPr lang="vi-VN" b="1" dirty="0"/>
              <a:t>5. What must be defined? – 4 thành phần bắt buộc của một KPI</a:t>
            </a:r>
          </a:p>
          <a:p>
            <a:endParaRPr lang="en-US" b="1" dirty="0"/>
          </a:p>
          <a:p>
            <a:r>
              <a:rPr lang="vi-VN" b="1" dirty="0"/>
              <a:t>a. Data Sources – Nguồn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lấy từ hệ thống nào?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gốc (system of record) là đâu?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nhiều nguồn hay không?</a:t>
            </a:r>
          </a:p>
          <a:p>
            <a:r>
              <a:rPr lang="en-US" dirty="0"/>
              <a:t>* </a:t>
            </a:r>
            <a:r>
              <a:rPr lang="vi-VN" dirty="0"/>
              <a:t>Không rõ nguồn → tranh cãi không hồi kết.</a:t>
            </a:r>
          </a:p>
          <a:p>
            <a:endParaRPr lang="en-US" b="1" dirty="0"/>
          </a:p>
          <a:p>
            <a:r>
              <a:rPr lang="vi-VN" b="1" dirty="0"/>
              <a:t>b. Transformations – Logic tính toán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được tính như thế nào?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thức chính xác?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loại trừ trường hợp đặc biệt không?</a:t>
            </a:r>
          </a:p>
          <a:p>
            <a:r>
              <a:rPr lang="en-US" dirty="0"/>
              <a:t>* “</a:t>
            </a:r>
            <a:r>
              <a:rPr lang="vi-VN" dirty="0"/>
              <a:t>Doanh thu” ≠ “Doanh thu thuần”</a:t>
            </a:r>
            <a:br>
              <a:rPr lang="vi-VN" dirty="0"/>
            </a:br>
            <a:r>
              <a:rPr lang="en-US" dirty="0"/>
              <a:t>* “</a:t>
            </a:r>
            <a:r>
              <a:rPr lang="vi-VN" dirty="0"/>
              <a:t>Khách hàng mới” ≠ “Khách hàng lần đầu mua”</a:t>
            </a:r>
          </a:p>
          <a:p>
            <a:endParaRPr lang="en-US" b="1" dirty="0"/>
          </a:p>
          <a:p>
            <a:r>
              <a:rPr lang="vi-VN" b="1" dirty="0"/>
              <a:t>c. Business Rules – Ngữ cảnh &amp; điều kiện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được lọc theo: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thời gian?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khu vực?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loại sản phẩm?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Khi nào được phép so sánh?</a:t>
            </a:r>
          </a:p>
          <a:p>
            <a:r>
              <a:rPr lang="en-US" dirty="0"/>
              <a:t>* </a:t>
            </a:r>
            <a:r>
              <a:rPr lang="vi-VN" dirty="0"/>
              <a:t>KPI </a:t>
            </a:r>
            <a:r>
              <a:rPr lang="vi-VN" b="1" dirty="0"/>
              <a:t>không bao giờ tồn tại độc lập</a:t>
            </a:r>
            <a:r>
              <a:rPr lang="vi-VN" dirty="0"/>
              <a:t>, luôn có bối cảnh.</a:t>
            </a:r>
          </a:p>
          <a:p>
            <a:endParaRPr lang="en-US" b="1" dirty="0"/>
          </a:p>
          <a:p>
            <a:r>
              <a:rPr lang="vi-VN" b="1" dirty="0"/>
              <a:t>d. Latency – Độ trễ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cần: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real-time?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theo giờ?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theo ngày?</a:t>
            </a:r>
          </a:p>
          <a:p>
            <a:r>
              <a:rPr lang="en-US" dirty="0"/>
              <a:t>* </a:t>
            </a:r>
            <a:r>
              <a:rPr lang="vi-VN" dirty="0"/>
              <a:t>Không phải KPI nào cũng cần real-time</a:t>
            </a:r>
            <a:br>
              <a:rPr lang="vi-VN" dirty="0"/>
            </a:br>
            <a:r>
              <a:rPr lang="en-US" dirty="0"/>
              <a:t>=&gt;</a:t>
            </a:r>
            <a:r>
              <a:rPr lang="vi-VN" dirty="0"/>
              <a:t> real-time sai mục đích = </a:t>
            </a:r>
            <a:r>
              <a:rPr lang="vi-VN" b="1" dirty="0"/>
              <a:t>tốn tiền + phức tạp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6. Best Practice – Thực hành chuẩn (rất quan trọng cho sinh viên)</a:t>
            </a:r>
          </a:p>
          <a:p>
            <a:r>
              <a:rPr lang="vi-VN" b="1" dirty="0"/>
              <a:t>Làm BI không phải tự nghĩ KPI, mà là “đào” KPI từ người dùng nghiệp vụ.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việc với: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power users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người đang làm báo cáo thủ công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Hỏi: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“Anh/chị đang tính chỉ số này như thế nào?”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“Nếu số này tăng/giảm thì anh/chị làm gì?”</a:t>
            </a:r>
          </a:p>
          <a:p>
            <a:r>
              <a:rPr lang="en-US" dirty="0"/>
              <a:t>* </a:t>
            </a:r>
            <a:r>
              <a:rPr lang="vi-VN" dirty="0"/>
              <a:t>KPI tốt luôn gắn với </a:t>
            </a:r>
            <a:r>
              <a:rPr lang="vi-VN" b="1" dirty="0"/>
              <a:t>hành động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7. Kết luận cho sinh viên</a:t>
            </a:r>
          </a:p>
          <a:p>
            <a:pPr lvl="1">
              <a:buFont typeface="+mj-lt"/>
              <a:buAutoNum type="arabicPeriod"/>
            </a:pPr>
            <a:r>
              <a:rPr lang="vi-VN" b="1" dirty="0"/>
              <a:t>KPI là trung tâm của BI</a:t>
            </a:r>
            <a:endParaRPr lang="vi-VN" dirty="0"/>
          </a:p>
          <a:p>
            <a:pPr lvl="1">
              <a:buFont typeface="+mj-lt"/>
              <a:buAutoNum type="arabicPeriod"/>
            </a:pPr>
            <a:r>
              <a:rPr lang="vi-VN" b="1" dirty="0"/>
              <a:t>KPI phải được định nghĩa sớm, rõ, và được thống nhất</a:t>
            </a:r>
            <a:endParaRPr lang="vi-VN" dirty="0"/>
          </a:p>
          <a:p>
            <a:pPr lvl="1">
              <a:buFont typeface="+mj-lt"/>
              <a:buAutoNum type="arabicPeriod"/>
            </a:pPr>
            <a:r>
              <a:rPr lang="vi-VN" b="1" dirty="0"/>
              <a:t>BI thất bại thường do KPI mơ hồ, không phải do công nghệ yếu</a:t>
            </a:r>
            <a:endParaRPr lang="vi-VN" dirty="0"/>
          </a:p>
          <a:p>
            <a:r>
              <a:rPr lang="en-US" i="1" dirty="0"/>
              <a:t>	</a:t>
            </a:r>
            <a:r>
              <a:rPr lang="vi-VN" i="1" dirty="0"/>
              <a:t>“If you don’t define the metric, the system will define it for you — and you may not like the result.”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Fueling the System: Data Requirements</a:t>
            </a:r>
          </a:p>
          <a:p>
            <a:r>
              <a:rPr lang="vi-VN" b="1" dirty="0"/>
              <a:t>(Nhiên liệu của hệ BI: Yêu cầu dữ liệu)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b="1" dirty="0"/>
              <a:t>BI không thất bại vì thiếu dữ liệu, mà thất bại vì chọn sai dữ liệu.</a:t>
            </a:r>
            <a:endParaRPr lang="vi-VN" dirty="0"/>
          </a:p>
          <a:p>
            <a:r>
              <a:rPr lang="vi-VN" dirty="0"/>
              <a:t>Dữ liệu trong BI giống như </a:t>
            </a:r>
            <a:r>
              <a:rPr lang="vi-VN" b="1" dirty="0"/>
              <a:t>nhiên liệu cho động cơ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Nhiều nhiên liệu kém chất lượng → máy chạy chậm, sai, hỏng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Đúng loại – đúng lượng → hệ BI vận hành hiệu quả</a:t>
            </a:r>
          </a:p>
          <a:p>
            <a:r>
              <a:rPr lang="vi-VN" b="1" dirty="0"/>
              <a:t>Ba bước cốt lõi trong xác định yêu cầu dữ liệu</a:t>
            </a:r>
          </a:p>
          <a:p>
            <a:r>
              <a:rPr lang="vi-VN" dirty="0"/>
              <a:t>Slide này nhấn mạnh </a:t>
            </a:r>
            <a:r>
              <a:rPr lang="vi-VN" b="1" dirty="0"/>
              <a:t>chuỗi logic chuẩn</a:t>
            </a:r>
            <a:r>
              <a:rPr lang="vi-VN" dirty="0"/>
              <a:t>:</a:t>
            </a:r>
            <a:br>
              <a:rPr lang="vi-VN" dirty="0"/>
            </a:br>
            <a:r>
              <a:rPr lang="vi-VN" b="1" dirty="0"/>
              <a:t>Identification → Selection → Transformation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1. Identification – Xác định nguồn dữ liệu</a:t>
            </a:r>
          </a:p>
          <a:p>
            <a:r>
              <a:rPr lang="vi-VN" b="1" dirty="0"/>
              <a:t>Câu hỏi sinh viên cần nhớ:</a:t>
            </a:r>
            <a:endParaRPr lang="vi-VN" dirty="0"/>
          </a:p>
          <a:p>
            <a:r>
              <a:rPr lang="vi-VN" i="1" dirty="0"/>
              <a:t>Dữ liệu này đến từ đâu?</a:t>
            </a:r>
            <a:endParaRPr lang="vi-VN" dirty="0"/>
          </a:p>
          <a:p>
            <a:r>
              <a:rPr lang="vi-VN" b="1" dirty="0"/>
              <a:t>Giải thích: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</a:t>
            </a:r>
            <a:r>
              <a:rPr lang="vi-VN" b="1" dirty="0"/>
              <a:t>System of Record</a:t>
            </a:r>
            <a:r>
              <a:rPr lang="vi-VN" dirty="0"/>
              <a:t> (hệ thống nguồn chính thống)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ERP (kế toán, bán hàng)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CRM (khách hàng)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Core Banking, HRM, Legacy DB…</a:t>
            </a:r>
          </a:p>
          <a:p>
            <a:r>
              <a:rPr lang="en-US" dirty="0"/>
              <a:t>** </a:t>
            </a:r>
            <a:r>
              <a:rPr lang="vi-VN" dirty="0"/>
              <a:t>Điểm nhấn học thuật: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Một chỉ số </a:t>
            </a:r>
            <a:r>
              <a:rPr lang="vi-VN" b="1" dirty="0"/>
              <a:t>chỉ nên có một nguồn “được công nhận”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Nếu không → tranh cãi dữ liệu là điều không tránh khỏi</a:t>
            </a:r>
          </a:p>
          <a:p>
            <a:r>
              <a:rPr lang="en-US" dirty="0"/>
              <a:t>*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Doanh thu lấy từ CRM hay từ ERP?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Số lượng sinh viên lấy từ hệ đăng ký hay hệ đào tạo?</a:t>
            </a:r>
          </a:p>
          <a:p>
            <a:endParaRPr lang="en-US" b="1" dirty="0"/>
          </a:p>
          <a:p>
            <a:r>
              <a:rPr lang="vi-VN" b="1" dirty="0"/>
              <a:t>2. Selection – Lựa chọn dữ liệu cần thiết</a:t>
            </a:r>
          </a:p>
          <a:p>
            <a:r>
              <a:rPr lang="vi-VN" b="1" dirty="0"/>
              <a:t>Thông điệp quan trọng nhất của slide (rất hay ra đề thi):</a:t>
            </a:r>
            <a:endParaRPr lang="vi-VN" dirty="0"/>
          </a:p>
          <a:p>
            <a:r>
              <a:rPr lang="en-US" dirty="0"/>
              <a:t>** </a:t>
            </a:r>
            <a:r>
              <a:rPr lang="vi-VN" b="1" dirty="0"/>
              <a:t>Không phải dữ liệu nào có cũng cần đưa vào BI</a:t>
            </a:r>
            <a:endParaRPr lang="vi-VN" dirty="0"/>
          </a:p>
          <a:p>
            <a:r>
              <a:rPr lang="vi-VN" b="1" dirty="0"/>
              <a:t>Giải thích: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Chỉ chọn dữ liệu </a:t>
            </a:r>
            <a:r>
              <a:rPr lang="vi-VN" b="1" dirty="0"/>
              <a:t>thực sự phục vụ KPI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“Thu thập cho chắc”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“Sau này có thể dùng”</a:t>
            </a:r>
          </a:p>
          <a:p>
            <a:r>
              <a:rPr lang="en-US" dirty="0"/>
              <a:t>* </a:t>
            </a:r>
            <a:r>
              <a:rPr lang="vi-VN" dirty="0"/>
              <a:t>Vì sao phải chọn lọc?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càng nhiều → hệ thống càng chậm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ETL càng phức tạp → lỗi càng nhiều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càng khó hiểu dashboard</a:t>
            </a:r>
          </a:p>
          <a:p>
            <a:r>
              <a:rPr lang="en-US" dirty="0"/>
              <a:t>**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là </a:t>
            </a:r>
            <a:r>
              <a:rPr lang="vi-VN" i="1" dirty="0"/>
              <a:t>doanh thu theo tháng</a:t>
            </a:r>
            <a:br>
              <a:rPr lang="vi-VN" dirty="0"/>
            </a:br>
            <a:r>
              <a:rPr lang="vi-VN" dirty="0"/>
              <a:t>→ không cần từng log click của khách hàng</a:t>
            </a:r>
          </a:p>
          <a:p>
            <a:endParaRPr lang="en-US" b="1" dirty="0"/>
          </a:p>
          <a:p>
            <a:r>
              <a:rPr lang="vi-VN" b="1" dirty="0"/>
              <a:t>3. Transformation – Chuẩn hóa &amp; tích hợp</a:t>
            </a:r>
          </a:p>
          <a:p>
            <a:r>
              <a:rPr lang="vi-VN" b="1" dirty="0"/>
              <a:t>Câu hỏi trọng tâm:</a:t>
            </a:r>
            <a:endParaRPr lang="vi-VN" dirty="0"/>
          </a:p>
          <a:p>
            <a:r>
              <a:rPr lang="vi-VN" i="1" dirty="0"/>
              <a:t>Làm thế nào để dữ liệu thô trở thành dữ liệu phân tích được?</a:t>
            </a:r>
            <a:endParaRPr lang="vi-VN" dirty="0"/>
          </a:p>
          <a:p>
            <a:r>
              <a:rPr lang="vi-VN" b="1" dirty="0"/>
              <a:t>Nội dung chính: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Chuẩn hóa (conformance):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Mã khách hàng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Danh mục sản phẩm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Đơn vị đo lường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Tích hợp (integration):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Gộp dữ liệu từ nhiều hệ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Đồng bộ thời gian, định nghĩa</a:t>
            </a:r>
          </a:p>
          <a:p>
            <a:r>
              <a:rPr lang="en-US" dirty="0"/>
              <a:t>* </a:t>
            </a:r>
            <a:r>
              <a:rPr lang="vi-VN" dirty="0"/>
              <a:t>Liên hệ với kiến thức cốt lõi BI: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Đây chính là </a:t>
            </a:r>
            <a:r>
              <a:rPr lang="vi-VN" b="1" dirty="0"/>
              <a:t>ETL / Data Integration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Nếu làm sai bước này → KPI sai dù dashboard rất đẹp</a:t>
            </a:r>
          </a:p>
          <a:p>
            <a:endParaRPr lang="en-US" b="1" dirty="0"/>
          </a:p>
          <a:p>
            <a:r>
              <a:rPr lang="vi-VN" b="1" dirty="0"/>
              <a:t>4. Thách thức hiện đại (Modern Challenge)</a:t>
            </a:r>
          </a:p>
          <a:p>
            <a:r>
              <a:rPr lang="vi-VN" b="1" dirty="0"/>
              <a:t>Vấn đề không phải thiếu dữ liệu, mà là thừa dữ liệu.</a:t>
            </a:r>
            <a:endParaRPr lang="vi-VN" dirty="0"/>
          </a:p>
          <a:p>
            <a:r>
              <a:rPr lang="vi-VN" b="1" dirty="0"/>
              <a:t>Giải thích cho sinh viên: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Doanh nghiệp hiện nay có: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quá nhiều bảng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quá nhiều log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quá nhiều nguồn</a:t>
            </a:r>
          </a:p>
          <a:p>
            <a:r>
              <a:rPr lang="en-US" dirty="0"/>
              <a:t>=&gt;</a:t>
            </a:r>
            <a:r>
              <a:rPr lang="vi-VN" dirty="0"/>
              <a:t> BI </a:t>
            </a:r>
            <a:r>
              <a:rPr lang="vi-VN" b="1" dirty="0"/>
              <a:t>phải có tính chọn lọc (selective)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Tập trung vào </a:t>
            </a:r>
            <a:r>
              <a:rPr lang="vi-VN" b="1" dirty="0"/>
              <a:t>giá trị kinh doanh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phải “kho dữ liệu tổng hợp mọi thứ”</a:t>
            </a:r>
          </a:p>
          <a:p>
            <a:endParaRPr lang="en-US" b="1" dirty="0"/>
          </a:p>
          <a:p>
            <a:r>
              <a:rPr lang="vi-VN" b="1" dirty="0"/>
              <a:t>5. Liên kết logic với các slide trước</a:t>
            </a:r>
          </a:p>
          <a:p>
            <a:r>
              <a:rPr lang="vi-VN" dirty="0"/>
              <a:t>Giảng viên nên nhấn mạnh mối liên hệ:</a:t>
            </a:r>
          </a:p>
          <a:p>
            <a:r>
              <a:rPr lang="vi-VN" dirty="0"/>
              <a:t>Slide trước</a:t>
            </a:r>
            <a:r>
              <a:rPr lang="en-US" dirty="0"/>
              <a:t>		</a:t>
            </a:r>
            <a:r>
              <a:rPr lang="vi-VN" dirty="0"/>
              <a:t>Slide này</a:t>
            </a:r>
            <a:endParaRPr lang="en-US" dirty="0"/>
          </a:p>
          <a:p>
            <a:r>
              <a:rPr lang="vi-VN" dirty="0"/>
              <a:t>KPI là trung tâm</a:t>
            </a:r>
            <a:r>
              <a:rPr lang="en-US" dirty="0"/>
              <a:t>	</a:t>
            </a:r>
            <a:r>
              <a:rPr lang="vi-VN" dirty="0"/>
              <a:t>Dữ liệu phải phục vụ KPI</a:t>
            </a:r>
            <a:endParaRPr lang="en-US" dirty="0"/>
          </a:p>
          <a:p>
            <a:r>
              <a:rPr lang="vi-VN" dirty="0"/>
              <a:t>Metrics &amp; KPIs</a:t>
            </a:r>
            <a:r>
              <a:rPr lang="en-US" dirty="0"/>
              <a:t>		</a:t>
            </a:r>
            <a:r>
              <a:rPr lang="vi-VN" dirty="0"/>
              <a:t>Data requirements xuất phát từ KPI</a:t>
            </a:r>
            <a:endParaRPr lang="en-US" dirty="0"/>
          </a:p>
          <a:p>
            <a:r>
              <a:rPr lang="vi-VN" dirty="0"/>
              <a:t>Business Requirements</a:t>
            </a:r>
            <a:r>
              <a:rPr lang="en-US" dirty="0"/>
              <a:t>	</a:t>
            </a:r>
            <a:r>
              <a:rPr lang="vi-VN" dirty="0"/>
              <a:t>Data requirements là bước tiếp theo</a:t>
            </a:r>
          </a:p>
          <a:p>
            <a:r>
              <a:rPr lang="en-US" dirty="0"/>
              <a:t>=&gt;</a:t>
            </a:r>
            <a:r>
              <a:rPr lang="vi-VN" dirty="0"/>
              <a:t> </a:t>
            </a:r>
            <a:r>
              <a:rPr lang="vi-VN" b="1" dirty="0"/>
              <a:t>Luồng đúng của BI</a:t>
            </a:r>
            <a:r>
              <a:rPr lang="vi-VN" dirty="0"/>
              <a:t>:</a:t>
            </a:r>
          </a:p>
          <a:p>
            <a:pPr rtl="0"/>
            <a:r>
              <a:rPr lang="en-US" dirty="0"/>
              <a:t>	</a:t>
            </a:r>
            <a:r>
              <a:rPr lang="vi-VN" dirty="0"/>
              <a:t>Business Question → KPI → Data Requirements → ETL → Data Model → Dashboard </a:t>
            </a:r>
          </a:p>
          <a:p>
            <a:endParaRPr lang="en-US" b="1" dirty="0"/>
          </a:p>
          <a:p>
            <a:r>
              <a:rPr lang="vi-VN" b="1" dirty="0"/>
              <a:t>6. Kết luận cho sinh viên</a:t>
            </a:r>
          </a:p>
          <a:p>
            <a:r>
              <a:rPr lang="vi-VN" dirty="0"/>
              <a:t>Có thể chốt bài bằng 3 câu:</a:t>
            </a:r>
          </a:p>
          <a:p>
            <a:pPr lvl="1">
              <a:buFont typeface="+mj-lt"/>
              <a:buAutoNum type="arabicPeriod"/>
            </a:pPr>
            <a:r>
              <a:rPr lang="vi-VN" b="1" dirty="0"/>
              <a:t>Data requirements không phải là liệt kê bảng dữ liệu</a:t>
            </a:r>
            <a:endParaRPr lang="vi-VN" dirty="0"/>
          </a:p>
          <a:p>
            <a:pPr lvl="1">
              <a:buFont typeface="+mj-lt"/>
              <a:buAutoNum type="arabicPeriod"/>
            </a:pPr>
            <a:r>
              <a:rPr lang="vi-VN" b="1" dirty="0"/>
              <a:t>Mọi dữ liệu được đưa vào BI phải trả lời một câu hỏi kinh doanh</a:t>
            </a:r>
            <a:endParaRPr lang="vi-VN" dirty="0"/>
          </a:p>
          <a:p>
            <a:pPr lvl="1">
              <a:buFont typeface="+mj-lt"/>
              <a:buAutoNum type="arabicPeriod"/>
            </a:pPr>
            <a:r>
              <a:rPr lang="vi-VN" b="1" dirty="0"/>
              <a:t>BI mạnh không phải vì nhiều dữ liệu, mà vì đúng dữ liệu</a:t>
            </a:r>
            <a:endParaRPr lang="vi-VN" dirty="0"/>
          </a:p>
          <a:p>
            <a:pPr lvl="1"/>
            <a:r>
              <a:rPr lang="vi-VN" i="1" dirty="0"/>
              <a:t>“More data does not mean more insight.”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Foundation of Trust: The Five Cs of Data</a:t>
            </a:r>
          </a:p>
          <a:p>
            <a:r>
              <a:rPr lang="vi-VN" b="1" dirty="0"/>
              <a:t>(Nền tảng của niềm tin: 5 chữ C của chất lượng dữ liệu)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b="1" dirty="0"/>
              <a:t>BI chỉ có giá trị khi người dùng tin dữ liệu.</a:t>
            </a:r>
            <a:br>
              <a:rPr lang="vi-VN" b="1" dirty="0"/>
            </a:br>
            <a:r>
              <a:rPr lang="vi-VN" b="1" dirty="0"/>
              <a:t>Và niềm tin dữ liệu được xây dựng từ chất lượng dữ liệu.</a:t>
            </a:r>
            <a:endParaRPr lang="vi-VN" dirty="0"/>
          </a:p>
          <a:p>
            <a:r>
              <a:rPr lang="vi-VN" dirty="0"/>
              <a:t>5 chữ C là </a:t>
            </a:r>
            <a:r>
              <a:rPr lang="vi-VN" b="1" dirty="0"/>
              <a:t>chuẩn học thuật – thực tiễn</a:t>
            </a:r>
            <a:r>
              <a:rPr lang="vi-VN" dirty="0"/>
              <a:t> để đánh giá dữ liệu có đủ điều kiện dùng cho BI hay không.</a:t>
            </a:r>
          </a:p>
          <a:p>
            <a:endParaRPr lang="en-US" b="1" dirty="0"/>
          </a:p>
          <a:p>
            <a:r>
              <a:rPr lang="vi-VN" b="1" dirty="0"/>
              <a:t>1. Clean – Dữ liệu sạch</a:t>
            </a:r>
          </a:p>
          <a:p>
            <a:r>
              <a:rPr lang="vi-VN" b="1" dirty="0"/>
              <a:t>Giải thích cho sinh viên: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</a:t>
            </a:r>
            <a:r>
              <a:rPr lang="vi-VN" b="1" dirty="0"/>
              <a:t>đúng</a:t>
            </a:r>
            <a:r>
              <a:rPr lang="vi-VN" dirty="0"/>
              <a:t>, </a:t>
            </a:r>
            <a:r>
              <a:rPr lang="vi-VN" b="1" dirty="0"/>
              <a:t>không lỗi</a:t>
            </a:r>
            <a:r>
              <a:rPr lang="vi-VN" dirty="0"/>
              <a:t>, </a:t>
            </a:r>
            <a:r>
              <a:rPr lang="vi-VN" b="1" dirty="0"/>
              <a:t>không trùng lặp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giá trị vô nghĩa, thiếu logic</a:t>
            </a:r>
          </a:p>
          <a:p>
            <a:r>
              <a:rPr lang="en-US" dirty="0"/>
              <a:t>*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Tuổi = –5 → sai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Khách hàng xuất hiện 3 lần → trùng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Doanh thu = NULL → không dùng được</a:t>
            </a:r>
          </a:p>
          <a:p>
            <a:r>
              <a:rPr lang="en-US" dirty="0"/>
              <a:t>=&gt; </a:t>
            </a:r>
            <a:r>
              <a:rPr lang="vi-VN" dirty="0"/>
              <a:t>Nếu dữ liệu không </a:t>
            </a:r>
            <a:r>
              <a:rPr lang="vi-VN" i="1" dirty="0"/>
              <a:t>Clean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sai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</a:t>
            </a:r>
            <a:r>
              <a:rPr lang="vi-VN" b="1" dirty="0"/>
              <a:t>mất niềm tin ngay từ đầu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2. Consistent – Dữ liệu nhất quán</a:t>
            </a:r>
          </a:p>
          <a:p>
            <a:r>
              <a:rPr lang="vi-VN" b="1" dirty="0"/>
              <a:t>Ý nghĩa: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Cùng một khái niệm → cùng một giá trị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mâu thuẫn giữa các hệ thống / báo cáo</a:t>
            </a:r>
          </a:p>
          <a:p>
            <a:r>
              <a:rPr lang="en-US" dirty="0"/>
              <a:t>*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“Hà Nội” ≠ “HN” ≠ “HaNoi”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Doanh thu tháng 3 trên báo cáo A ≠ báo cáo B</a:t>
            </a:r>
          </a:p>
          <a:p>
            <a:r>
              <a:rPr lang="en-US" dirty="0"/>
              <a:t>=&gt; </a:t>
            </a:r>
            <a:r>
              <a:rPr lang="vi-VN" dirty="0"/>
              <a:t>BI không chấp nhận:</a:t>
            </a:r>
          </a:p>
          <a:p>
            <a:r>
              <a:rPr lang="vi-VN" dirty="0"/>
              <a:t>“Mỗi phòng ban một con số”</a:t>
            </a:r>
          </a:p>
          <a:p>
            <a:endParaRPr lang="en-US" b="1" dirty="0"/>
          </a:p>
          <a:p>
            <a:r>
              <a:rPr lang="vi-VN" b="1" dirty="0"/>
              <a:t>3. Conformed – Dữ liệu được chuẩn hóa dùng chung</a:t>
            </a:r>
          </a:p>
          <a:p>
            <a:r>
              <a:rPr lang="vi-VN" b="1" dirty="0"/>
              <a:t>Đây là chữ C quan trọng nhất trong BI (rất hay ra đề thi).</a:t>
            </a:r>
            <a:endParaRPr lang="vi-VN" dirty="0"/>
          </a:p>
          <a:p>
            <a:r>
              <a:rPr lang="vi-VN" b="1" dirty="0"/>
              <a:t>Giải thích: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</a:t>
            </a:r>
            <a:r>
              <a:rPr lang="vi-VN" b="1" dirty="0"/>
              <a:t>dimension dùng chung</a:t>
            </a:r>
            <a:r>
              <a:rPr lang="vi-VN" dirty="0"/>
              <a:t> (khách hàng, sản phẩm, thời gian)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Áp dụng </a:t>
            </a:r>
            <a:r>
              <a:rPr lang="vi-VN" b="1" dirty="0"/>
              <a:t>một định nghĩa thống nhất toàn doanh nghiệp</a:t>
            </a:r>
            <a:endParaRPr lang="vi-VN" dirty="0"/>
          </a:p>
          <a:p>
            <a:r>
              <a:rPr lang="en-US" dirty="0"/>
              <a:t>*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“Khách hàng mới” có </a:t>
            </a:r>
            <a:r>
              <a:rPr lang="vi-VN" b="1" dirty="0"/>
              <a:t>một định nghĩa duy nhất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“Tháng tài chính” được dùng giống nhau ở mọi báo cáo</a:t>
            </a:r>
          </a:p>
          <a:p>
            <a:r>
              <a:rPr lang="en-US" dirty="0"/>
              <a:t>=&gt;</a:t>
            </a:r>
            <a:r>
              <a:rPr lang="vi-VN" dirty="0"/>
              <a:t> Mục tiêu: </a:t>
            </a:r>
            <a:r>
              <a:rPr lang="vi-VN" b="1" dirty="0"/>
              <a:t>One Version of the Truth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4. Current – Dữ liệu kịp thời</a:t>
            </a:r>
          </a:p>
          <a:p>
            <a:r>
              <a:rPr lang="vi-VN" b="1" dirty="0"/>
              <a:t>Ý nghĩa học thuật: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</a:t>
            </a:r>
            <a:r>
              <a:rPr lang="vi-VN" b="1" dirty="0"/>
              <a:t>không cần lúc nào cũng real-time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Nhưng </a:t>
            </a:r>
            <a:r>
              <a:rPr lang="vi-VN" b="1" dirty="0"/>
              <a:t>phải đúng với yêu cầu nghiệp vụ</a:t>
            </a:r>
            <a:endParaRPr lang="vi-VN" dirty="0"/>
          </a:p>
          <a:p>
            <a:r>
              <a:rPr lang="en-US" dirty="0"/>
              <a:t>*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Báo cáo tài chính → theo ngày / tháng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Theo dõi gian lận → gần real-time</a:t>
            </a:r>
          </a:p>
          <a:p>
            <a:r>
              <a:rPr lang="en-US" dirty="0"/>
              <a:t>* </a:t>
            </a:r>
            <a:r>
              <a:rPr lang="vi-VN" dirty="0"/>
              <a:t>Sai lầm phổ biến của sinh viên:</a:t>
            </a:r>
          </a:p>
          <a:p>
            <a:r>
              <a:rPr lang="vi-VN" dirty="0"/>
              <a:t>Nghĩ rằng “càng nhanh càng tốt”</a:t>
            </a:r>
            <a:br>
              <a:rPr lang="vi-VN" dirty="0"/>
            </a:br>
            <a:r>
              <a:rPr lang="vi-VN" dirty="0"/>
              <a:t>→ thực tế là </a:t>
            </a:r>
            <a:r>
              <a:rPr lang="vi-VN" b="1" dirty="0"/>
              <a:t>“đúng mức cần thiết”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5. Comprehensive – Dữ liệu đầy đủ</a:t>
            </a:r>
          </a:p>
          <a:p>
            <a:r>
              <a:rPr lang="vi-VN" b="1" dirty="0"/>
              <a:t>Giải thích: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Đủ thuộc tính để phân tích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thiếu các trường quan trọng</a:t>
            </a:r>
          </a:p>
          <a:p>
            <a:r>
              <a:rPr lang="en-US" dirty="0"/>
              <a:t>*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doanh thu nhưng không có: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khu vực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sản phẩm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thời gian</a:t>
            </a:r>
            <a:br>
              <a:rPr lang="vi-VN" dirty="0"/>
            </a:br>
            <a:r>
              <a:rPr lang="vi-VN" dirty="0"/>
              <a:t>→ </a:t>
            </a:r>
            <a:r>
              <a:rPr lang="vi-VN" b="1" dirty="0"/>
              <a:t>không phân tích được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Dữ liệu thiếu → kết luận sai hoặc quá đơn giản</a:t>
            </a:r>
          </a:p>
          <a:p>
            <a:endParaRPr lang="en-US" b="1" dirty="0"/>
          </a:p>
          <a:p>
            <a:r>
              <a:rPr lang="vi-VN" b="1" dirty="0"/>
              <a:t>6. Insight quan trọng (Critical Insight – phần cảnh báo)</a:t>
            </a:r>
          </a:p>
          <a:p>
            <a:r>
              <a:rPr lang="en-US" dirty="0"/>
              <a:t>** </a:t>
            </a:r>
            <a:r>
              <a:rPr lang="vi-VN" b="1" dirty="0"/>
              <a:t>Bỏ qua chất lượng dữ liệu ở giai đoạn yêu cầu</a:t>
            </a:r>
            <a:br>
              <a:rPr lang="vi-VN" b="1" dirty="0"/>
            </a:br>
            <a:r>
              <a:rPr lang="vi-VN" b="1" dirty="0"/>
              <a:t>= chắc chắn thất bại ở giai đoạn triển khai</a:t>
            </a:r>
            <a:endParaRPr lang="vi-VN" dirty="0"/>
          </a:p>
          <a:p>
            <a:r>
              <a:rPr lang="vi-VN" b="1" dirty="0"/>
              <a:t>Giải thích cho sinh viên: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Nếu không đặt yêu cầu 5C ngay từ đầu: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ETL sẽ phức tạp và tốn kém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KPI phải làm lại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Dashboard không được dùng</a:t>
            </a:r>
          </a:p>
          <a:p>
            <a:r>
              <a:rPr lang="en-US" dirty="0"/>
              <a:t>=&gt;</a:t>
            </a:r>
            <a:r>
              <a:rPr lang="vi-VN" dirty="0"/>
              <a:t> Đây là </a:t>
            </a:r>
            <a:r>
              <a:rPr lang="vi-VN" b="1" dirty="0"/>
              <a:t>lỗi phương pháp</a:t>
            </a:r>
            <a:r>
              <a:rPr lang="vi-VN" dirty="0"/>
              <a:t>, không phải lỗi công nghệ.</a:t>
            </a:r>
          </a:p>
          <a:p>
            <a:endParaRPr lang="en-US" b="1" dirty="0"/>
          </a:p>
          <a:p>
            <a:r>
              <a:rPr lang="vi-VN" b="1" dirty="0"/>
              <a:t>7. Liên hệ logic với các slide trước</a:t>
            </a:r>
          </a:p>
          <a:p>
            <a:r>
              <a:rPr lang="vi-VN" dirty="0"/>
              <a:t>Giảng viên nên nối mạch tư duy như sau:</a:t>
            </a:r>
          </a:p>
          <a:p>
            <a:pPr rtl="0"/>
            <a:r>
              <a:rPr lang="vi-VN" dirty="0"/>
              <a:t>Business Requirements → Metrics &amp; KPIs → Data Requirements → Five Cs (Data Quality) → ETL &amp; Data Modeling → BI Dashboards </a:t>
            </a:r>
          </a:p>
          <a:p>
            <a:r>
              <a:rPr lang="en-US" dirty="0"/>
              <a:t>=&gt;</a:t>
            </a:r>
            <a:r>
              <a:rPr lang="vi-VN" dirty="0"/>
              <a:t> </a:t>
            </a:r>
            <a:r>
              <a:rPr lang="vi-VN" b="1" dirty="0"/>
              <a:t>5Cs là cầu nối giữa yêu cầu nghiệp vụ và kỹ thuật.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8. Kết luận cho sinh viên</a:t>
            </a:r>
          </a:p>
          <a:p>
            <a:pPr lvl="1">
              <a:buFont typeface="+mj-lt"/>
              <a:buAutoNum type="arabicPeriod"/>
            </a:pPr>
            <a:r>
              <a:rPr lang="vi-VN" b="1" dirty="0"/>
              <a:t>Không có dữ liệu chất lượng → không có BI thành công</a:t>
            </a:r>
            <a:endParaRPr lang="vi-VN" dirty="0"/>
          </a:p>
          <a:p>
            <a:pPr lvl="1">
              <a:buFont typeface="+mj-lt"/>
              <a:buAutoNum type="arabicPeriod"/>
            </a:pPr>
            <a:r>
              <a:rPr lang="vi-VN" b="1" dirty="0"/>
              <a:t>5Cs phải được thỏa mãn đồng thời, không phải chọn lọc</a:t>
            </a:r>
            <a:endParaRPr lang="vi-VN" dirty="0"/>
          </a:p>
          <a:p>
            <a:pPr lvl="1">
              <a:buFont typeface="+mj-lt"/>
              <a:buAutoNum type="arabicPeriod"/>
            </a:pPr>
            <a:r>
              <a:rPr lang="vi-VN" b="1" dirty="0"/>
              <a:t>Người dùng không tin dữ liệu → họ sẽ không dùng hệ thống</a:t>
            </a:r>
            <a:endParaRPr lang="vi-VN" dirty="0"/>
          </a:p>
          <a:p>
            <a:pPr lvl="1"/>
            <a:r>
              <a:rPr lang="vi-VN" i="1" dirty="0"/>
              <a:t>“Users don’t adopt dashboards; they adopt trust.”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Reality Check: Data Profiling and Gap Analysis</a:t>
            </a:r>
          </a:p>
          <a:p>
            <a:r>
              <a:rPr lang="vi-VN" b="1" dirty="0"/>
              <a:t>(Kiểm tra thực tế: Khảo sát dữ liệu &amp; Phân tích khoảng cách)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b="1" dirty="0"/>
              <a:t>Yêu cầu nghiệp vụ chỉ là “kỳ vọng”.</a:t>
            </a:r>
            <a:br>
              <a:rPr lang="vi-VN" b="1" dirty="0"/>
            </a:br>
            <a:r>
              <a:rPr lang="vi-VN" b="1" dirty="0"/>
              <a:t>Data profiling và gap analysis cho biết “thực tế”.</a:t>
            </a:r>
            <a:endParaRPr lang="vi-VN" dirty="0"/>
          </a:p>
          <a:p>
            <a:r>
              <a:rPr lang="vi-VN" dirty="0"/>
              <a:t>Đây là bước </a:t>
            </a:r>
            <a:r>
              <a:rPr lang="vi-VN" b="1" dirty="0"/>
              <a:t>đối diện sự thật</a:t>
            </a:r>
            <a:r>
              <a:rPr lang="vi-VN" dirty="0"/>
              <a:t> trước khi xây dựng BI.</a:t>
            </a:r>
          </a:p>
          <a:p>
            <a:endParaRPr lang="en-US" b="1" dirty="0"/>
          </a:p>
          <a:p>
            <a:r>
              <a:rPr lang="vi-VN" b="1" dirty="0"/>
              <a:t>1. Data Profiling – Hiểu dữ liệu đang có</a:t>
            </a:r>
          </a:p>
          <a:p>
            <a:r>
              <a:rPr lang="vi-VN" b="1" dirty="0"/>
              <a:t>Data Profiling là gì?</a:t>
            </a:r>
          </a:p>
          <a:p>
            <a:r>
              <a:rPr lang="vi-VN" dirty="0"/>
              <a:t>Là quá trình </a:t>
            </a:r>
            <a:r>
              <a:rPr lang="vi-VN" b="1" dirty="0"/>
              <a:t>khảo sát dữ liệu nguồn</a:t>
            </a:r>
            <a:r>
              <a:rPr lang="vi-VN" dirty="0"/>
              <a:t> để: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biết dữ liệu </a:t>
            </a:r>
            <a:r>
              <a:rPr lang="vi-VN" i="1" dirty="0"/>
              <a:t>thực sự trông như thế nào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thay vì tin vào mô tả hoặc tài liệu cũ</a:t>
            </a:r>
          </a:p>
          <a:p>
            <a:r>
              <a:rPr lang="en-US" dirty="0"/>
              <a:t>** </a:t>
            </a:r>
            <a:r>
              <a:rPr lang="vi-VN" dirty="0"/>
              <a:t>Nhấn mạnh với sinh viên:</a:t>
            </a:r>
            <a:r>
              <a:rPr lang="en-US" dirty="0"/>
              <a:t> </a:t>
            </a:r>
            <a:r>
              <a:rPr lang="vi-VN" i="1" dirty="0"/>
              <a:t>“You cannot design BI based on assumptions.”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Mục tiêu chính của Data Profiling</a:t>
            </a:r>
          </a:p>
          <a:p>
            <a:r>
              <a:rPr lang="en-US" b="1" dirty="0"/>
              <a:t>- </a:t>
            </a:r>
            <a:r>
              <a:rPr lang="vi-VN" b="1" dirty="0"/>
              <a:t>Phát hiện lỗi và bất nhất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null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Trùng lặp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ngoài phạm vi</a:t>
            </a:r>
          </a:p>
          <a:p>
            <a:r>
              <a:rPr lang="en-US" b="1" dirty="0"/>
              <a:t>- </a:t>
            </a:r>
            <a:r>
              <a:rPr lang="vi-VN" b="1" dirty="0"/>
              <a:t>Hiểu phân bố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lệch?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outlier?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trường gần như luôn rỗng?</a:t>
            </a:r>
          </a:p>
          <a:p>
            <a:r>
              <a:rPr lang="en-US" dirty="0"/>
              <a:t>=&gt;</a:t>
            </a:r>
            <a:r>
              <a:rPr lang="vi-VN" dirty="0"/>
              <a:t> Điều này ảnh hưởng trực tiếp đến: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Visualization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Thuật toán phân tích</a:t>
            </a:r>
          </a:p>
          <a:p>
            <a:r>
              <a:rPr lang="en-US" b="1" dirty="0"/>
              <a:t>- </a:t>
            </a:r>
            <a:r>
              <a:rPr lang="vi-VN" b="1" dirty="0"/>
              <a:t>Kiểm chứng business rules</a:t>
            </a:r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“Mỗi đơn hàng phải có khách hàng” → có thật không?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“Mỗi sinh viên chỉ thuộc 1 khoa” → dữ liệu có vi phạm không?</a:t>
            </a:r>
          </a:p>
          <a:p>
            <a:r>
              <a:rPr lang="en-US" dirty="0"/>
              <a:t>=&gt;</a:t>
            </a:r>
            <a:r>
              <a:rPr lang="vi-VN" dirty="0"/>
              <a:t> Rất nhiều </a:t>
            </a:r>
            <a:r>
              <a:rPr lang="vi-VN" b="1" dirty="0"/>
              <a:t>quy tắc nghiệp vụ chỉ đúng trên lý thuyết</a:t>
            </a:r>
            <a:r>
              <a:rPr lang="vi-VN" dirty="0"/>
              <a:t>.</a:t>
            </a:r>
          </a:p>
          <a:p>
            <a:r>
              <a:rPr lang="en-US" b="1" dirty="0"/>
              <a:t>- </a:t>
            </a:r>
            <a:r>
              <a:rPr lang="vi-VN" b="1" dirty="0"/>
              <a:t>Đánh giá 5Cs trong thực tế</a:t>
            </a:r>
          </a:p>
          <a:p>
            <a:r>
              <a:rPr lang="vi-VN" dirty="0"/>
              <a:t>Data profiling trả lời: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có </a:t>
            </a:r>
            <a:r>
              <a:rPr lang="vi-VN" i="1" dirty="0"/>
              <a:t>Clean</a:t>
            </a:r>
            <a:r>
              <a:rPr lang="vi-VN" dirty="0"/>
              <a:t> không?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</a:t>
            </a:r>
            <a:r>
              <a:rPr lang="vi-VN" i="1" dirty="0"/>
              <a:t>Consistent</a:t>
            </a:r>
            <a:r>
              <a:rPr lang="vi-VN" dirty="0"/>
              <a:t> giữa các bảng không?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đủ </a:t>
            </a:r>
            <a:r>
              <a:rPr lang="vi-VN" i="1" dirty="0"/>
              <a:t>Comprehensive</a:t>
            </a:r>
            <a:r>
              <a:rPr lang="vi-VN" dirty="0"/>
              <a:t> để phân tích không?</a:t>
            </a:r>
          </a:p>
          <a:p>
            <a:r>
              <a:rPr lang="vi-VN" b="1" dirty="0"/>
              <a:t>2. Gap Analysis – So sánh “cần” và “có”</a:t>
            </a:r>
          </a:p>
          <a:p>
            <a:r>
              <a:rPr lang="vi-VN" b="1" dirty="0"/>
              <a:t>Gap Analysis là gì?</a:t>
            </a:r>
          </a:p>
          <a:p>
            <a:r>
              <a:rPr lang="vi-VN" dirty="0"/>
              <a:t>Là việc xác định:</a:t>
            </a:r>
          </a:p>
          <a:p>
            <a:r>
              <a:rPr lang="vi-VN" b="1" dirty="0"/>
              <a:t>Khoảng cách giữa yêu cầu BI và khả năng dữ liệu hiện tại</a:t>
            </a:r>
            <a:endParaRPr lang="vi-VN" dirty="0"/>
          </a:p>
          <a:p>
            <a:r>
              <a:rPr lang="vi-VN" b="1" dirty="0"/>
              <a:t>Những câu hỏi trọng tâm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cần nhưng </a:t>
            </a:r>
            <a:r>
              <a:rPr lang="vi-VN" b="1" dirty="0"/>
              <a:t>dữ liệu có không?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trường dữ liệu bị thiếu?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Nguồn dữ liệu có truy cập được không?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Logic nghiệp vụ có thể tự động hóa không?</a:t>
            </a:r>
          </a:p>
          <a:p>
            <a:r>
              <a:rPr lang="en-US" dirty="0"/>
              <a:t>**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cần “lợi nhuận theo khách hàng”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Nhưng chi phí chỉ có ở mức tổng → </a:t>
            </a:r>
            <a:r>
              <a:rPr lang="vi-VN" b="1" dirty="0"/>
              <a:t>gap</a:t>
            </a:r>
            <a:endParaRPr lang="vi-VN" dirty="0"/>
          </a:p>
          <a:p>
            <a:r>
              <a:rPr lang="vi-VN" b="1" dirty="0"/>
              <a:t>Xác định chi phí &amp; độ phức tạp</a:t>
            </a:r>
          </a:p>
          <a:p>
            <a:r>
              <a:rPr lang="vi-VN" dirty="0"/>
              <a:t>Gap analysis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ước lượng công sức làm sạch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nhận diện phần phải xử lý thủ công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“bất ngờ” ở giai đoạn triển khai</a:t>
            </a:r>
          </a:p>
          <a:p>
            <a:r>
              <a:rPr lang="en-US" dirty="0"/>
              <a:t>=&gt;</a:t>
            </a:r>
            <a:r>
              <a:rPr lang="vi-VN" dirty="0"/>
              <a:t> Đây là bước </a:t>
            </a:r>
            <a:r>
              <a:rPr lang="vi-VN" b="1" dirty="0"/>
              <a:t>giảm rủi ro dự án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3. Kết quả: Các quyết định kinh doanh</a:t>
            </a:r>
          </a:p>
          <a:p>
            <a:r>
              <a:rPr lang="vi-VN" dirty="0"/>
              <a:t>Slide nhấn mạnh: </a:t>
            </a:r>
            <a:r>
              <a:rPr lang="vi-VN" b="1" dirty="0"/>
              <a:t>Data profiling &amp; gap analysis không chỉ là kỹ thuật</a:t>
            </a:r>
            <a:br>
              <a:rPr lang="vi-VN" dirty="0"/>
            </a:br>
            <a:r>
              <a:rPr lang="vi-VN" dirty="0"/>
              <a:t>→ chúng dẫn tới </a:t>
            </a:r>
            <a:r>
              <a:rPr lang="vi-VN" b="1" dirty="0"/>
              <a:t>quyết định chiến lược</a:t>
            </a:r>
            <a:endParaRPr lang="vi-VN" dirty="0"/>
          </a:p>
          <a:p>
            <a:r>
              <a:rPr lang="vi-VN" b="1" dirty="0"/>
              <a:t>Ba hướng quyết định</a:t>
            </a:r>
          </a:p>
          <a:p>
            <a:r>
              <a:rPr lang="en-US" b="1" dirty="0"/>
              <a:t>- </a:t>
            </a:r>
            <a:r>
              <a:rPr lang="vi-VN" b="1" dirty="0"/>
              <a:t>Chấp nhận chất lượng hiện tại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điều chỉnh theo dữ liệu đang có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Phù hợp với quick wins</a:t>
            </a:r>
          </a:p>
          <a:p>
            <a:r>
              <a:rPr lang="en-US" b="1" dirty="0"/>
              <a:t>- </a:t>
            </a:r>
            <a:r>
              <a:rPr lang="vi-VN" b="1" dirty="0"/>
              <a:t>Thay đổi yêu cầu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Đơn giản hóa KPI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Điều chỉnh phạm vi dự án</a:t>
            </a:r>
          </a:p>
          <a:p>
            <a:r>
              <a:rPr lang="en-US" b="1" dirty="0"/>
              <a:t>- </a:t>
            </a:r>
            <a:r>
              <a:rPr lang="vi-VN" b="1" dirty="0"/>
              <a:t>Đầu tư cải thiện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sạch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Thay đổi quy trình nhập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Nâng cấp hệ thống nguồn</a:t>
            </a:r>
          </a:p>
          <a:p>
            <a:r>
              <a:rPr lang="en-US" dirty="0"/>
              <a:t>** </a:t>
            </a:r>
            <a:r>
              <a:rPr lang="vi-VN" dirty="0"/>
              <a:t>Đây là quyết định </a:t>
            </a:r>
            <a:r>
              <a:rPr lang="vi-VN" b="1" dirty="0"/>
              <a:t>của business</a:t>
            </a:r>
            <a:r>
              <a:rPr lang="vi-VN" dirty="0"/>
              <a:t>, không phải của IT.</a:t>
            </a:r>
          </a:p>
          <a:p>
            <a:endParaRPr lang="en-US" b="1" dirty="0"/>
          </a:p>
          <a:p>
            <a:r>
              <a:rPr lang="vi-VN" b="1" dirty="0"/>
              <a:t>4. Liên kết với các slide trước</a:t>
            </a:r>
          </a:p>
          <a:p>
            <a:r>
              <a:rPr lang="vi-VN" dirty="0"/>
              <a:t>Giảng viên có thể nhấn mạnh mạch logic:</a:t>
            </a:r>
          </a:p>
          <a:p>
            <a:pPr rtl="0"/>
            <a:r>
              <a:rPr lang="vi-VN" dirty="0"/>
              <a:t>Business Requirements → Data Requirements → Five Cs (Quality Expectations) → Data Profiling (Reality) → Gap Analysis → Scope / Budget / Roadmap Decisions </a:t>
            </a:r>
          </a:p>
          <a:p>
            <a:r>
              <a:rPr lang="en-US" dirty="0"/>
              <a:t>=&gt;</a:t>
            </a:r>
            <a:r>
              <a:rPr lang="vi-VN" dirty="0"/>
              <a:t> BI thành công khi </a:t>
            </a:r>
            <a:r>
              <a:rPr lang="vi-VN" b="1" dirty="0"/>
              <a:t>kỳ vọng được điều chỉnh theo thực tế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5.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Luận</a:t>
            </a:r>
            <a:endParaRPr lang="vi-VN" b="1" dirty="0"/>
          </a:p>
          <a:p>
            <a:pPr lvl="1">
              <a:buFont typeface="+mj-lt"/>
              <a:buAutoNum type="arabicPeriod"/>
            </a:pPr>
            <a:r>
              <a:rPr lang="vi-VN" b="1" dirty="0"/>
              <a:t>Không profiling dữ liệu = làm BI trong bóng tối</a:t>
            </a:r>
            <a:endParaRPr lang="vi-VN" dirty="0"/>
          </a:p>
          <a:p>
            <a:pPr lvl="1">
              <a:buFont typeface="+mj-lt"/>
              <a:buAutoNum type="arabicPeriod"/>
            </a:pPr>
            <a:r>
              <a:rPr lang="vi-VN" b="1" dirty="0"/>
              <a:t>Gap analysis giúp tránh thất bại muộn bằng việc đối diện vấn đề sớm</a:t>
            </a:r>
            <a:endParaRPr lang="vi-VN" dirty="0"/>
          </a:p>
          <a:p>
            <a:pPr lvl="1">
              <a:buFont typeface="+mj-lt"/>
              <a:buAutoNum type="arabicPeriod"/>
            </a:pPr>
            <a:r>
              <a:rPr lang="vi-VN" b="1" dirty="0"/>
              <a:t>BI là sự cân bằng giữa mong muốn kinh doanh và khả năng dữ liệu</a:t>
            </a:r>
            <a:endParaRPr lang="vi-VN" dirty="0"/>
          </a:p>
          <a:p>
            <a:pPr lvl="1"/>
            <a:r>
              <a:rPr lang="vi-VN" i="1" dirty="0"/>
              <a:t>“The earlier you face data reality, the cheaper it is to fix.”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User Experience: Functional Requirements</a:t>
            </a:r>
          </a:p>
          <a:p>
            <a:r>
              <a:rPr lang="vi-VN" b="1" dirty="0"/>
              <a:t>(Trải nghiệm người dùng: Yêu cầu chức năng)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b="1" dirty="0"/>
              <a:t>BI không phải là tập hợp biểu đồ,</a:t>
            </a:r>
            <a:br>
              <a:rPr lang="vi-VN" b="1" dirty="0"/>
            </a:br>
            <a:r>
              <a:rPr lang="vi-VN" b="1" dirty="0"/>
              <a:t>mà là một hành trình phân tích (analysis journey) của người dùng.</a:t>
            </a:r>
            <a:endParaRPr lang="vi-VN" dirty="0"/>
          </a:p>
          <a:p>
            <a:r>
              <a:rPr lang="vi-VN" dirty="0"/>
              <a:t>Yêu cầu chức năng phải mô tả </a:t>
            </a:r>
            <a:r>
              <a:rPr lang="vi-VN" b="1" dirty="0"/>
              <a:t>người dùng phân tích như thế nào</a:t>
            </a:r>
            <a:r>
              <a:rPr lang="vi-VN" dirty="0"/>
              <a:t>,</a:t>
            </a:r>
            <a:br>
              <a:rPr lang="vi-VN" dirty="0"/>
            </a:br>
            <a:r>
              <a:rPr lang="vi-VN" dirty="0"/>
              <a:t>không phải </a:t>
            </a:r>
            <a:r>
              <a:rPr lang="vi-VN" b="1" dirty="0"/>
              <a:t>công cụ có những nút gì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1. Mô tả cách người dùng phân tích dữ liệu</a:t>
            </a:r>
          </a:p>
          <a:p>
            <a:r>
              <a:rPr lang="vi-VN" b="1" dirty="0"/>
              <a:t>Giải thích cho sinh viên: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Câu hỏi không phải: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“Công cụ có filter, drill-down không?”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“Người dùng bắt đầu từ đâu, và kết thúc khi nào thì ra quyết định?”</a:t>
            </a:r>
          </a:p>
          <a:p>
            <a:r>
              <a:rPr lang="en-US" dirty="0"/>
              <a:t>** </a:t>
            </a:r>
            <a:r>
              <a:rPr lang="vi-VN" dirty="0"/>
              <a:t>Functional requirements </a:t>
            </a:r>
            <a:r>
              <a:rPr lang="vi-VN" b="1" dirty="0"/>
              <a:t>mô tả quy trình tư duy</a:t>
            </a:r>
            <a:r>
              <a:rPr lang="vi-VN" dirty="0"/>
              <a:t>, không phải UI.</a:t>
            </a:r>
          </a:p>
          <a:p>
            <a:r>
              <a:rPr lang="en-US" dirty="0"/>
              <a:t>*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Bắt đầu từ báo cáo tổng quan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Thấy KPI bất thường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Drill xuống theo khu vực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So sánh theo thời gian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định nguyên nhân</a:t>
            </a:r>
          </a:p>
          <a:p>
            <a:endParaRPr lang="en-US" b="1" dirty="0"/>
          </a:p>
          <a:p>
            <a:r>
              <a:rPr lang="vi-VN" b="1" dirty="0"/>
              <a:t>2. Tập trung vào analytical workflows</a:t>
            </a:r>
          </a:p>
          <a:p>
            <a:r>
              <a:rPr lang="vi-VN" b="1" dirty="0"/>
              <a:t>Analytical workflow là gì?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Chuỗi các bước phân tích có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Lặp lại được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Phục vụ một mục tiêu nghiệp vụ cụ thể</a:t>
            </a:r>
          </a:p>
          <a:p>
            <a:r>
              <a:rPr lang="en-US" dirty="0"/>
              <a:t>* </a:t>
            </a:r>
            <a:r>
              <a:rPr lang="vi-VN" dirty="0"/>
              <a:t>Ví dụ workflow:</a:t>
            </a:r>
          </a:p>
          <a:p>
            <a:r>
              <a:rPr lang="vi-VN" dirty="0"/>
              <a:t>“Tại sao doanh thu tháng này giảm?”</a:t>
            </a:r>
          </a:p>
          <a:p>
            <a:pPr lvl="1">
              <a:buFont typeface="+mj-lt"/>
              <a:buAutoNum type="arabicPeriod"/>
            </a:pPr>
            <a:r>
              <a:rPr lang="vi-VN" dirty="0"/>
              <a:t>Xem doanh thu tổng</a:t>
            </a:r>
          </a:p>
          <a:p>
            <a:pPr lvl="1">
              <a:buFont typeface="+mj-lt"/>
              <a:buAutoNum type="arabicPeriod"/>
            </a:pPr>
            <a:r>
              <a:rPr lang="vi-VN" dirty="0"/>
              <a:t>So sánh theo sản phẩm</a:t>
            </a:r>
          </a:p>
          <a:p>
            <a:pPr lvl="1">
              <a:buFont typeface="+mj-lt"/>
              <a:buAutoNum type="arabicPeriod"/>
            </a:pPr>
            <a:r>
              <a:rPr lang="vi-VN" dirty="0"/>
              <a:t>Drill theo khu vực</a:t>
            </a:r>
          </a:p>
          <a:p>
            <a:pPr lvl="1">
              <a:buFont typeface="+mj-lt"/>
              <a:buAutoNum type="arabicPeriod"/>
            </a:pPr>
            <a:r>
              <a:rPr lang="vi-VN" dirty="0"/>
              <a:t>So sánh với cùng kỳ</a:t>
            </a:r>
          </a:p>
          <a:p>
            <a:pPr lvl="1">
              <a:buFont typeface="+mj-lt"/>
              <a:buAutoNum type="arabicPeriod"/>
            </a:pPr>
            <a:r>
              <a:rPr lang="vi-VN" dirty="0"/>
              <a:t>Xác định sản phẩm/khu vực gây sụt giảm</a:t>
            </a:r>
          </a:p>
          <a:p>
            <a:r>
              <a:rPr lang="en-US" dirty="0"/>
              <a:t>=&gt;</a:t>
            </a:r>
            <a:r>
              <a:rPr lang="vi-VN" dirty="0"/>
              <a:t>BI tốt là </a:t>
            </a:r>
            <a:r>
              <a:rPr lang="vi-VN" b="1" dirty="0"/>
              <a:t>tái hiện được workflow này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3. Xác định analytical styles</a:t>
            </a:r>
          </a:p>
          <a:p>
            <a:r>
              <a:rPr lang="vi-VN" b="1" dirty="0"/>
              <a:t>Phân tích không có một kiểu duy nhất</a:t>
            </a:r>
          </a:p>
          <a:p>
            <a:r>
              <a:rPr lang="vi-VN" dirty="0"/>
              <a:t>Yêu cầu chức năng cần làm rõ: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Ad-hoc exploration</a:t>
            </a:r>
            <a:br>
              <a:rPr lang="vi-VN" dirty="0"/>
            </a:br>
            <a:r>
              <a:rPr lang="vi-VN" dirty="0"/>
              <a:t>Người dùng tự đặt câu hỏi, khám phá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Static reporting</a:t>
            </a:r>
            <a:br>
              <a:rPr lang="vi-VN" dirty="0"/>
            </a:br>
            <a:r>
              <a:rPr lang="vi-VN" dirty="0"/>
              <a:t>Báo cáo cố định, định kỳ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Interactive dashboards</a:t>
            </a:r>
            <a:br>
              <a:rPr lang="vi-VN" dirty="0"/>
            </a:br>
            <a:r>
              <a:rPr lang="vi-VN" dirty="0"/>
              <a:t>Dashboard có tương tác, drill, filter</a:t>
            </a:r>
          </a:p>
          <a:p>
            <a:r>
              <a:rPr lang="en-US" dirty="0"/>
              <a:t>* </a:t>
            </a:r>
            <a:r>
              <a:rPr lang="vi-VN" dirty="0"/>
              <a:t>Lỗi phổ biến:</a:t>
            </a:r>
          </a:p>
          <a:p>
            <a:r>
              <a:rPr lang="vi-VN" dirty="0"/>
              <a:t>Dùng dashboard cho tất cả nhu cầu → không ai hài lòng</a:t>
            </a:r>
          </a:p>
          <a:p>
            <a:endParaRPr lang="en-US" b="1" dirty="0"/>
          </a:p>
          <a:p>
            <a:r>
              <a:rPr lang="vi-VN" b="1" dirty="0"/>
              <a:t>4. Key Components – Các thành phần cốt lõi</a:t>
            </a:r>
          </a:p>
          <a:p>
            <a:r>
              <a:rPr lang="vi-VN" dirty="0"/>
              <a:t>Giảng viên nên đi lần lượt từng ý:</a:t>
            </a:r>
          </a:p>
          <a:p>
            <a:r>
              <a:rPr lang="en-US" b="1" dirty="0"/>
              <a:t>* </a:t>
            </a:r>
            <a:r>
              <a:rPr lang="vi-VN" b="1" dirty="0"/>
              <a:t>BI Use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Kịch bản cụ thể: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Ai dùng?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Dùng khi nào?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Quyết định gì?</a:t>
            </a:r>
          </a:p>
          <a:p>
            <a:r>
              <a:rPr lang="en-US" dirty="0"/>
              <a:t>=&gt; </a:t>
            </a:r>
            <a:r>
              <a:rPr lang="vi-VN" dirty="0"/>
              <a:t>Một BI project </a:t>
            </a:r>
            <a:r>
              <a:rPr lang="vi-VN" b="1" dirty="0"/>
              <a:t>không phải 1 use case</a:t>
            </a:r>
            <a:r>
              <a:rPr lang="vi-VN" dirty="0"/>
              <a:t>, mà là </a:t>
            </a:r>
            <a:r>
              <a:rPr lang="vi-VN" b="1" dirty="0"/>
              <a:t>nhiều use cases</a:t>
            </a:r>
            <a:r>
              <a:rPr lang="vi-VN" dirty="0"/>
              <a:t>.</a:t>
            </a:r>
          </a:p>
          <a:p>
            <a:r>
              <a:rPr lang="en-US" b="1" dirty="0"/>
              <a:t>*</a:t>
            </a:r>
            <a:r>
              <a:rPr lang="vi-VN" b="1" dirty="0"/>
              <a:t>Storyboarding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Trình tự phân tích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“Trang 1 → Trang 2 → Trang 3”</a:t>
            </a:r>
          </a:p>
          <a:p>
            <a:r>
              <a:rPr lang="en-US" dirty="0"/>
              <a:t>=&gt;</a:t>
            </a:r>
            <a:r>
              <a:rPr lang="vi-VN" dirty="0"/>
              <a:t> Storyboard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dashboard rối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nhồi nhét thông tin</a:t>
            </a:r>
          </a:p>
          <a:p>
            <a:r>
              <a:rPr lang="en-US" b="1" dirty="0"/>
              <a:t>* </a:t>
            </a:r>
            <a:r>
              <a:rPr lang="vi-VN" b="1" dirty="0"/>
              <a:t>User Interactions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cần: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drill-down?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filter?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slice &amp; dice?</a:t>
            </a:r>
          </a:p>
          <a:p>
            <a:r>
              <a:rPr lang="en-US" dirty="0"/>
              <a:t>=&gt; </a:t>
            </a:r>
            <a:r>
              <a:rPr lang="vi-VN" dirty="0"/>
              <a:t>Interaction phải phục vụ workflow, không phải để “cho đẹp”.</a:t>
            </a:r>
          </a:p>
          <a:p>
            <a:r>
              <a:rPr lang="en-US" b="1" dirty="0"/>
              <a:t>* </a:t>
            </a:r>
            <a:r>
              <a:rPr lang="vi-VN" b="1" dirty="0"/>
              <a:t>Visualization Styles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Dạng biểu đồ nào?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Bảng hay chart?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So sánh hay xu hướng?</a:t>
            </a:r>
          </a:p>
          <a:p>
            <a:r>
              <a:rPr lang="en-US" dirty="0"/>
              <a:t>=&gt; </a:t>
            </a:r>
            <a:r>
              <a:rPr lang="vi-VN" dirty="0"/>
              <a:t>Visualization là </a:t>
            </a:r>
            <a:r>
              <a:rPr lang="vi-VN" b="1" dirty="0"/>
              <a:t>kết quả của yêu cầu</a:t>
            </a:r>
            <a:r>
              <a:rPr lang="vi-VN" dirty="0"/>
              <a:t>, không phải điểm bắt đầu.</a:t>
            </a:r>
          </a:p>
          <a:p>
            <a:endParaRPr lang="en-US" b="1" dirty="0"/>
          </a:p>
          <a:p>
            <a:r>
              <a:rPr lang="vi-VN" b="1" dirty="0"/>
              <a:t>5. Nguyên tắc cốt lõi (Core Principle)</a:t>
            </a:r>
          </a:p>
          <a:p>
            <a:r>
              <a:rPr lang="vi-VN" b="1" dirty="0"/>
              <a:t>Functional requirements phải định nghĩa hành trình phân tích</a:t>
            </a:r>
            <a:r>
              <a:rPr lang="vi-VN" dirty="0"/>
              <a:t>,</a:t>
            </a:r>
            <a:br>
              <a:rPr lang="vi-VN" dirty="0"/>
            </a:br>
            <a:r>
              <a:rPr lang="vi-VN" dirty="0"/>
              <a:t>không phải danh sách tính năng của phần mềm.</a:t>
            </a:r>
          </a:p>
          <a:p>
            <a:r>
              <a:rPr lang="en-US" dirty="0"/>
              <a:t>* </a:t>
            </a:r>
            <a:r>
              <a:rPr lang="vi-VN" dirty="0"/>
              <a:t>Nếu làm sai: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Dashboard đẹp nhưng không dùng được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quay lại Excel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bị xem là thất bại</a:t>
            </a:r>
          </a:p>
          <a:p>
            <a:endParaRPr lang="en-US" b="1" dirty="0"/>
          </a:p>
          <a:p>
            <a:r>
              <a:rPr lang="vi-VN" b="1" dirty="0"/>
              <a:t>6. Liên kết với các loại requirements khác</a:t>
            </a:r>
          </a:p>
          <a:p>
            <a:r>
              <a:rPr lang="vi-VN" dirty="0"/>
              <a:t>Giảng viên có thể nhấn mạnh:</a:t>
            </a:r>
          </a:p>
          <a:p>
            <a:r>
              <a:rPr lang="vi-VN" dirty="0"/>
              <a:t>Loại yêu cầu</a:t>
            </a:r>
            <a:r>
              <a:rPr lang="en-US" dirty="0"/>
              <a:t>		</a:t>
            </a:r>
            <a:r>
              <a:rPr lang="vi-VN" dirty="0"/>
              <a:t>Trả lời câu hỏi</a:t>
            </a:r>
            <a:endParaRPr lang="en-US" dirty="0"/>
          </a:p>
          <a:p>
            <a:r>
              <a:rPr lang="vi-VN" dirty="0"/>
              <a:t>Business</a:t>
            </a:r>
            <a:r>
              <a:rPr lang="en-US" dirty="0"/>
              <a:t>		</a:t>
            </a:r>
            <a:r>
              <a:rPr lang="vi-VN" dirty="0"/>
              <a:t>Vì sao cần BI?</a:t>
            </a:r>
            <a:endParaRPr lang="en-US" dirty="0"/>
          </a:p>
          <a:p>
            <a:r>
              <a:rPr lang="vi-VN" dirty="0"/>
              <a:t>Data</a:t>
            </a:r>
            <a:r>
              <a:rPr lang="en-US" dirty="0"/>
              <a:t>		</a:t>
            </a:r>
            <a:r>
              <a:rPr lang="vi-VN" dirty="0"/>
              <a:t>Lấy dữ liệu gì?</a:t>
            </a:r>
            <a:endParaRPr lang="en-US" dirty="0"/>
          </a:p>
          <a:p>
            <a:r>
              <a:rPr lang="vi-VN" dirty="0"/>
              <a:t>Functional</a:t>
            </a:r>
            <a:r>
              <a:rPr lang="en-US" dirty="0"/>
              <a:t>		</a:t>
            </a:r>
            <a:r>
              <a:rPr lang="vi-VN" dirty="0"/>
              <a:t>Người dùng phân tích thế nào?</a:t>
            </a:r>
            <a:endParaRPr lang="en-US" dirty="0"/>
          </a:p>
          <a:p>
            <a:r>
              <a:rPr lang="vi-VN" dirty="0"/>
              <a:t>Technical</a:t>
            </a:r>
            <a:r>
              <a:rPr lang="en-US" dirty="0"/>
              <a:t>		</a:t>
            </a:r>
            <a:r>
              <a:rPr lang="vi-VN" dirty="0"/>
              <a:t>Xây dựng ra sao?</a:t>
            </a:r>
          </a:p>
          <a:p>
            <a:r>
              <a:rPr lang="en-US" dirty="0"/>
              <a:t>=&gt;</a:t>
            </a:r>
            <a:r>
              <a:rPr lang="vi-VN" dirty="0"/>
              <a:t> Functional requirements là </a:t>
            </a:r>
            <a:r>
              <a:rPr lang="vi-VN" b="1" dirty="0"/>
              <a:t>cầu nối giữa business và technical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7. Kết luận cho sinh viên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BI phải phù hợp với cách người dùng suy nghĩ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Yêu cầu chức năng mô tả hành vi, không phải nút bấm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Dashboard chỉ là kết quả cuối của một hành trình phân tích</a:t>
            </a:r>
          </a:p>
          <a:p>
            <a:pPr lvl="1"/>
            <a:r>
              <a:rPr lang="vi-VN" b="0" i="1" dirty="0"/>
              <a:t>“Design for how users think, not how tools work.”</a:t>
            </a:r>
            <a:endParaRPr lang="vi-VN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Visualizing Analysis: Use Cases and Storyboarding</a:t>
            </a:r>
          </a:p>
          <a:p>
            <a:r>
              <a:rPr lang="vi-VN" b="1" dirty="0"/>
              <a:t>(Trực quan hóa phân tích: Use Case và Storyboard)</a:t>
            </a:r>
          </a:p>
          <a:p>
            <a:endParaRPr lang="en-US" b="1" dirty="0"/>
          </a:p>
          <a:p>
            <a:r>
              <a:rPr lang="vi-VN" b="1" dirty="0"/>
              <a:t>1. Thông điệp cốt lõi của slide</a:t>
            </a:r>
          </a:p>
          <a:p>
            <a:r>
              <a:rPr lang="vi-VN" b="1" dirty="0"/>
              <a:t>BI không chỉ là phân tích dữ liệu, mà là kể một câu chuyện phân tích rõ ràng để người khác hiểu và hành động.</a:t>
            </a:r>
            <a:endParaRPr lang="vi-VN" dirty="0"/>
          </a:p>
          <a:p>
            <a:r>
              <a:rPr lang="vi-VN" dirty="0"/>
              <a:t>Use case và storyboard giúp </a:t>
            </a:r>
            <a:r>
              <a:rPr lang="vi-VN" b="1" dirty="0"/>
              <a:t>biến tư duy phân tích trừu tượng thành hình ảnh cụ thể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2. BI Use Cases – Kịch bản sử dụng BI</a:t>
            </a:r>
          </a:p>
          <a:p>
            <a:r>
              <a:rPr lang="vi-VN" b="1" dirty="0"/>
              <a:t>BI Use Case là gì?</a:t>
            </a:r>
          </a:p>
          <a:p>
            <a:r>
              <a:rPr lang="vi-VN" dirty="0"/>
              <a:t>Là mô tả </a:t>
            </a:r>
            <a:r>
              <a:rPr lang="vi-VN" b="1" dirty="0"/>
              <a:t>một tình huống nghiệp vụ cụ thể</a:t>
            </a:r>
            <a:r>
              <a:rPr lang="vi-VN" dirty="0"/>
              <a:t> trong đó BI được sử dụng.</a:t>
            </a:r>
          </a:p>
          <a:p>
            <a:r>
              <a:rPr lang="vi-VN" dirty="0"/>
              <a:t>Use case phải trả lời 3 câu hỏi: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Who</a:t>
            </a:r>
            <a:r>
              <a:rPr lang="vi-VN" dirty="0"/>
              <a:t> – Ai sử dụng?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Why</a:t>
            </a:r>
            <a:r>
              <a:rPr lang="vi-VN" dirty="0"/>
              <a:t> – Dùng để làm gì?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How</a:t>
            </a:r>
            <a:r>
              <a:rPr lang="vi-VN" dirty="0"/>
              <a:t> – Phân tích như thế nào?</a:t>
            </a:r>
          </a:p>
          <a:p>
            <a:r>
              <a:rPr lang="en-US" dirty="0"/>
              <a:t>** </a:t>
            </a:r>
            <a:r>
              <a:rPr lang="vi-VN" dirty="0"/>
              <a:t>Điểm quan trọng: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Use case </a:t>
            </a:r>
            <a:r>
              <a:rPr lang="vi-VN" b="1" dirty="0"/>
              <a:t>không mô tả dashboard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Use case </a:t>
            </a:r>
            <a:r>
              <a:rPr lang="vi-VN" b="1" dirty="0"/>
              <a:t>mô tả quyết định cần đưa ra</a:t>
            </a:r>
            <a:endParaRPr lang="vi-VN" dirty="0"/>
          </a:p>
          <a:p>
            <a:r>
              <a:rPr lang="vi-VN" b="1" dirty="0"/>
              <a:t>Ví dụ</a:t>
            </a:r>
            <a:r>
              <a:rPr lang="en-US" b="1" dirty="0"/>
              <a:t>:</a:t>
            </a:r>
            <a:endParaRPr lang="vi-VN" b="1" dirty="0"/>
          </a:p>
          <a:p>
            <a:r>
              <a:rPr lang="vi-VN" i="1" dirty="0"/>
              <a:t>Trưởng phòng kinh doanh muốn biết vì sao doanh thu tháng này giảm để điều chỉnh kế hoạch bán hàng.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Who: Trưởng phòng kinh doanh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Why: Ra quyết định điều chỉnh chiến lược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How: So sánh theo thời gian, khu vực, sản phẩm</a:t>
            </a:r>
          </a:p>
          <a:p>
            <a:r>
              <a:rPr lang="en-US" dirty="0"/>
              <a:t>=&gt;</a:t>
            </a:r>
            <a:r>
              <a:rPr lang="vi-VN" dirty="0"/>
              <a:t> Dashboard chỉ là </a:t>
            </a:r>
            <a:r>
              <a:rPr lang="vi-VN" b="1" dirty="0"/>
              <a:t>công cụ phục vụ use case này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3. Tập trung vào analytical style</a:t>
            </a:r>
          </a:p>
          <a:p>
            <a:r>
              <a:rPr lang="vi-VN" dirty="0"/>
              <a:t>Use case cần làm rõ </a:t>
            </a:r>
            <a:r>
              <a:rPr lang="vi-VN" b="1" dirty="0"/>
              <a:t>kiểu phân tích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Tổng hợp (overview)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So sánh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Drill-down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Khám phá (exploratory)</a:t>
            </a:r>
          </a:p>
          <a:p>
            <a:r>
              <a:rPr lang="en-US" dirty="0"/>
              <a:t>** </a:t>
            </a:r>
            <a:r>
              <a:rPr lang="vi-VN" dirty="0"/>
              <a:t>Lỗi phổ biến:</a:t>
            </a:r>
          </a:p>
          <a:p>
            <a:r>
              <a:rPr lang="vi-VN" dirty="0"/>
              <a:t>Viết use case kiểu “Xem báo cáo doanh thu”</a:t>
            </a:r>
          </a:p>
          <a:p>
            <a:r>
              <a:rPr lang="en-US" dirty="0"/>
              <a:t>=&gt;</a:t>
            </a:r>
            <a:r>
              <a:rPr lang="vi-VN" dirty="0"/>
              <a:t> Đó </a:t>
            </a:r>
            <a:r>
              <a:rPr lang="vi-VN" b="1" dirty="0"/>
              <a:t>không phải use case</a:t>
            </a:r>
            <a:r>
              <a:rPr lang="vi-VN" dirty="0"/>
              <a:t>, mà là mô tả tính năng.</a:t>
            </a:r>
          </a:p>
          <a:p>
            <a:endParaRPr lang="en-US" b="1" dirty="0"/>
          </a:p>
          <a:p>
            <a:r>
              <a:rPr lang="vi-VN" b="1" dirty="0"/>
              <a:t>4. Storyboarding – Kể câu chuyện phân tích bằng hình ảnh</a:t>
            </a:r>
          </a:p>
          <a:p>
            <a:r>
              <a:rPr lang="vi-VN" b="1" dirty="0"/>
              <a:t>Storyboard là gì?</a:t>
            </a:r>
          </a:p>
          <a:p>
            <a:r>
              <a:rPr lang="vi-VN" dirty="0"/>
              <a:t>Là </a:t>
            </a:r>
            <a:r>
              <a:rPr lang="vi-VN" b="1" dirty="0"/>
              <a:t>chuỗi các bước phân tích được thể hiện trực quan</a:t>
            </a:r>
            <a:r>
              <a:rPr lang="vi-VN" dirty="0"/>
              <a:t>, mô tả:</a:t>
            </a:r>
          </a:p>
          <a:p>
            <a:r>
              <a:rPr lang="vi-VN" dirty="0"/>
              <a:t>Người dùng </a:t>
            </a:r>
            <a:r>
              <a:rPr lang="vi-VN" b="1" dirty="0"/>
              <a:t>đi từ câu hỏi → dữ liệu → insight</a:t>
            </a:r>
            <a:r>
              <a:rPr lang="vi-VN" dirty="0"/>
              <a:t> như thế nào.</a:t>
            </a:r>
          </a:p>
          <a:p>
            <a:r>
              <a:rPr lang="vi-VN" b="1" dirty="0"/>
              <a:t>Ý nghĩa học thuật của storyboarding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Giúp: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thống nhất hiểu biết giữa business &amp; BI team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phát hiện thiếu dữ liệu sớm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tránh dashboard rối, nhồi nhét</a:t>
            </a:r>
          </a:p>
          <a:p>
            <a:r>
              <a:rPr lang="en-US" dirty="0"/>
              <a:t>** </a:t>
            </a:r>
            <a:r>
              <a:rPr lang="vi-VN" dirty="0"/>
              <a:t>Storyboard trả lời câu hỏi:</a:t>
            </a:r>
          </a:p>
          <a:p>
            <a:r>
              <a:rPr lang="vi-VN" dirty="0"/>
              <a:t>“Trang nào trước? Trang nào sau? Người dùng nghĩ gì ở mỗi bước?”</a:t>
            </a:r>
          </a:p>
          <a:p>
            <a:r>
              <a:rPr lang="vi-VN" b="1" dirty="0"/>
              <a:t>Ví dụ storyboard đơn giản</a:t>
            </a:r>
          </a:p>
          <a:p>
            <a:pPr>
              <a:buFont typeface="+mj-lt"/>
              <a:buAutoNum type="arabicPeriod"/>
            </a:pPr>
            <a:r>
              <a:rPr lang="vi-VN" dirty="0"/>
              <a:t>Xem KPI tổng quan</a:t>
            </a:r>
          </a:p>
          <a:p>
            <a:pPr>
              <a:buFont typeface="+mj-lt"/>
              <a:buAutoNum type="arabicPeriod"/>
            </a:pPr>
            <a:r>
              <a:rPr lang="vi-VN" dirty="0"/>
              <a:t>Phát hiện KPI bất thường</a:t>
            </a:r>
          </a:p>
          <a:p>
            <a:pPr>
              <a:buFont typeface="+mj-lt"/>
              <a:buAutoNum type="arabicPeriod"/>
            </a:pPr>
            <a:r>
              <a:rPr lang="vi-VN" dirty="0"/>
              <a:t>Lọc theo khu vực</a:t>
            </a:r>
          </a:p>
          <a:p>
            <a:pPr>
              <a:buFont typeface="+mj-lt"/>
              <a:buAutoNum type="arabicPeriod"/>
            </a:pPr>
            <a:r>
              <a:rPr lang="vi-VN" dirty="0"/>
              <a:t>Drill theo sản phẩm</a:t>
            </a:r>
          </a:p>
          <a:p>
            <a:pPr>
              <a:buFont typeface="+mj-lt"/>
              <a:buAutoNum type="arabicPeriod"/>
            </a:pPr>
            <a:r>
              <a:rPr lang="vi-VN" dirty="0"/>
              <a:t>Rút ra nguyên nhân</a:t>
            </a:r>
          </a:p>
          <a:p>
            <a:r>
              <a:rPr lang="en-US" dirty="0"/>
              <a:t>=&gt;</a:t>
            </a:r>
            <a:r>
              <a:rPr lang="vi-VN" dirty="0"/>
              <a:t> Đây chính là </a:t>
            </a:r>
            <a:r>
              <a:rPr lang="vi-VN" b="1" dirty="0"/>
              <a:t>analysis journey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5. Vì sao dùng hình ảnh thay vì tài liệu dài?</a:t>
            </a:r>
          </a:p>
          <a:p>
            <a:r>
              <a:rPr lang="vi-VN" b="1" dirty="0"/>
              <a:t>Key Benefit của slide</a:t>
            </a:r>
          </a:p>
          <a:p>
            <a:r>
              <a:rPr lang="vi-VN" b="1" dirty="0"/>
              <a:t>Hình ảnh dễ hiểu và dễ kiểm chứng hơn tài liệu chữ dài.</a:t>
            </a:r>
            <a:endParaRPr lang="vi-VN" dirty="0"/>
          </a:p>
          <a:p>
            <a:r>
              <a:rPr lang="en-US" dirty="0"/>
              <a:t>* </a:t>
            </a:r>
            <a:r>
              <a:rPr lang="vi-VN" dirty="0"/>
              <a:t>Đối với business users: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thích đọc tài liệu 50 trang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Nhưng </a:t>
            </a:r>
            <a:r>
              <a:rPr lang="vi-VN" b="1" dirty="0"/>
              <a:t>nhìn 1 storyboard là hiểu ngay</a:t>
            </a:r>
            <a:endParaRPr lang="vi-VN" dirty="0"/>
          </a:p>
          <a:p>
            <a:r>
              <a:rPr lang="en-US" dirty="0"/>
              <a:t>=&gt;</a:t>
            </a:r>
            <a:r>
              <a:rPr lang="vi-VN" dirty="0"/>
              <a:t> Storyboard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nhận yêu cầu nhanh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hiểu sai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sửa đi sửa lại ở giai đoạn sau</a:t>
            </a:r>
          </a:p>
          <a:p>
            <a:endParaRPr lang="en-US" b="1" dirty="0"/>
          </a:p>
          <a:p>
            <a:r>
              <a:rPr lang="vi-VN" b="1" dirty="0"/>
              <a:t>6. Liên kết với các slide trước</a:t>
            </a:r>
          </a:p>
          <a:p>
            <a:r>
              <a:rPr lang="vi-VN" dirty="0"/>
              <a:t>Giảng viên có thể nối logic:</a:t>
            </a:r>
          </a:p>
          <a:p>
            <a:pPr rtl="0"/>
            <a:r>
              <a:rPr lang="vi-VN" dirty="0"/>
              <a:t>Business Requirements → Functional Requirements → BI Use Cases → Storyboarding → Dashboard Design </a:t>
            </a:r>
          </a:p>
          <a:p>
            <a:r>
              <a:rPr lang="en-US" dirty="0"/>
              <a:t>=&gt;</a:t>
            </a:r>
            <a:r>
              <a:rPr lang="vi-VN" dirty="0"/>
              <a:t> Storyboard là </a:t>
            </a:r>
            <a:r>
              <a:rPr lang="vi-VN" b="1" dirty="0"/>
              <a:t>bước trung gian cực kỳ quan trọng</a:t>
            </a:r>
            <a:r>
              <a:rPr lang="vi-VN" dirty="0"/>
              <a:t> giữa yêu cầu và giao diện.</a:t>
            </a:r>
          </a:p>
          <a:p>
            <a:endParaRPr lang="en-US" b="1" dirty="0"/>
          </a:p>
          <a:p>
            <a:r>
              <a:rPr lang="vi-VN" b="1" dirty="0"/>
              <a:t>7. Thông điệp chốt cho sinh viên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Use case mô tả quyết định, không mô tả báo cáo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Storyboard mô tả hành trình phân tích, không phải layout dashboard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BI thành công khi người dùng hiểu và xác nhận logic trước khi xây dựng</a:t>
            </a:r>
          </a:p>
          <a:p>
            <a:pPr lvl="1"/>
            <a:r>
              <a:rPr lang="vi-VN" b="0" i="1" dirty="0"/>
              <a:t>“If users can’t visualize the analysis, they won’t trust the solution.”</a:t>
            </a:r>
            <a:endParaRPr lang="vi-VN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Staying Legal: Regulatory and Compliance</a:t>
            </a:r>
          </a:p>
          <a:p>
            <a:r>
              <a:rPr lang="vi-VN" b="1" dirty="0"/>
              <a:t>(Tuân thủ pháp lý: Quy định &amp; tuân thủ trong BI)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b="1" dirty="0"/>
              <a:t>BI không chỉ là bài toán dữ liệu và công nghệ, mà còn là bài toán pháp lý.</a:t>
            </a:r>
            <a:br>
              <a:rPr lang="vi-VN" dirty="0"/>
            </a:br>
            <a:r>
              <a:rPr lang="vi-VN" dirty="0"/>
              <a:t>Một hệ BI “đúng kỹ thuật” nhưng </a:t>
            </a:r>
            <a:r>
              <a:rPr lang="vi-VN" b="1" dirty="0"/>
              <a:t>sai luật</a:t>
            </a:r>
            <a:r>
              <a:rPr lang="vi-VN" dirty="0"/>
              <a:t> vẫn là </a:t>
            </a:r>
            <a:r>
              <a:rPr lang="vi-VN" b="1" dirty="0"/>
              <a:t>một hệ thống thất bại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1. Vì sao Regulatory &amp; Compliance là một nhóm yêu cầu riêng?</a:t>
            </a:r>
          </a:p>
          <a:p>
            <a:r>
              <a:rPr lang="vi-VN" dirty="0"/>
              <a:t>Giảng viên cần nhấn mạnh với sinh viên: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pháp lý </a:t>
            </a:r>
            <a:r>
              <a:rPr lang="vi-VN" b="1" dirty="0"/>
              <a:t>không phải tùy chọn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tuân thủ có thể dẫn đến: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phạt tiền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kiện tụng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mất uy tín tổ chức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buộc dừng hệ thống BI</a:t>
            </a:r>
          </a:p>
          <a:p>
            <a:r>
              <a:rPr lang="en-US" dirty="0"/>
              <a:t>=&gt;</a:t>
            </a:r>
            <a:r>
              <a:rPr lang="vi-VN" dirty="0"/>
              <a:t> Vì vậy, </a:t>
            </a:r>
            <a:r>
              <a:rPr lang="vi-VN" b="1" dirty="0"/>
              <a:t>regulatory requirements phải được xác định ngay từ giai đoạn requirements</a:t>
            </a:r>
            <a:r>
              <a:rPr lang="vi-VN" dirty="0"/>
              <a:t>, không phải sau khi triển khai.</a:t>
            </a:r>
          </a:p>
          <a:p>
            <a:endParaRPr lang="en-US" b="1" dirty="0"/>
          </a:p>
          <a:p>
            <a:r>
              <a:rPr lang="vi-VN" b="1" dirty="0"/>
              <a:t>2. Financial – Tuân thủ tài chính</a:t>
            </a:r>
          </a:p>
          <a:p>
            <a:r>
              <a:rPr lang="vi-VN" b="1" dirty="0"/>
              <a:t>Trọng tâm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Độ chính xác của báo cáo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Khả năng kiểm toán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Lưu trữ dữ liệu đúng quy định</a:t>
            </a:r>
          </a:p>
          <a:p>
            <a:r>
              <a:rPr lang="vi-VN" b="1" dirty="0"/>
              <a:t>Ví dụ tiêu biểu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SOX (Sarbanes–Oxley)</a:t>
            </a:r>
            <a:r>
              <a:rPr lang="vi-V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Ai thay đổi dữ liệu?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Thay đổi khi nào?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Có log kiểm toán (audit trail) không?</a:t>
            </a:r>
          </a:p>
          <a:p>
            <a:r>
              <a:rPr lang="en-US" dirty="0"/>
              <a:t>** </a:t>
            </a:r>
            <a:r>
              <a:rPr lang="vi-VN" dirty="0"/>
              <a:t>Liên hệ BI: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tài chính phải: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truy vết được nguồn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tái lập được kết quả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được “chỉnh số” trên dashboard</a:t>
            </a:r>
          </a:p>
          <a:p>
            <a:endParaRPr lang="en-US" b="1" dirty="0"/>
          </a:p>
          <a:p>
            <a:r>
              <a:rPr lang="vi-VN" b="1" dirty="0"/>
              <a:t>3. Privacy – Quyền riêng tư dữ liệu</a:t>
            </a:r>
          </a:p>
          <a:p>
            <a:r>
              <a:rPr lang="vi-VN" b="1" dirty="0"/>
              <a:t>Trọng tâm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vệ dữ liệu cá nhân, dữ liệu nhạy cảm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Hạn chế truy cập theo vai trò</a:t>
            </a:r>
          </a:p>
          <a:p>
            <a:r>
              <a:rPr lang="vi-VN" b="1" dirty="0"/>
              <a:t>Các khung pháp lý phổ biến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HIPAA</a:t>
            </a:r>
            <a:r>
              <a:rPr lang="vi-VN" dirty="0"/>
              <a:t> (y tế)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GDPR / CCPA</a:t>
            </a:r>
            <a:r>
              <a:rPr lang="vi-VN" dirty="0"/>
              <a:t> (quyền riêng tư)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data masking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encryption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quyền “được quên” (right to be forgotten)</a:t>
            </a:r>
          </a:p>
          <a:p>
            <a:r>
              <a:rPr lang="en-US" dirty="0"/>
              <a:t>**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Dashboard có hiển thị: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số CMND?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địa chỉ?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thông tin bệnh án?</a:t>
            </a:r>
            <a:br>
              <a:rPr lang="vi-VN" dirty="0"/>
            </a:br>
            <a:r>
              <a:rPr lang="en-US" dirty="0"/>
              <a:t>=&gt;</a:t>
            </a:r>
            <a:r>
              <a:rPr lang="vi-VN" dirty="0"/>
              <a:t> Nếu có → </a:t>
            </a:r>
            <a:r>
              <a:rPr lang="vi-VN" b="1" dirty="0"/>
              <a:t>vi phạm nếu không kiểm soát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4. Global – Tuân thủ xuyên biên giới</a:t>
            </a:r>
          </a:p>
          <a:p>
            <a:r>
              <a:rPr lang="vi-VN" b="1" dirty="0"/>
              <a:t>Vấn đề phát sinh khi hệ thống BI toàn cầu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lưu ở đâu?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Ai được truy cập từ quốc gia nào?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được chuyển dữ liệu ra nước ngoài không?</a:t>
            </a:r>
          </a:p>
          <a:p>
            <a:r>
              <a:rPr lang="vi-VN" b="1" dirty="0"/>
              <a:t>Ví dụ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PCI DSS</a:t>
            </a:r>
            <a:r>
              <a:rPr lang="vi-VN" dirty="0"/>
              <a:t> (thẻ thanh toán)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Luật </a:t>
            </a:r>
            <a:r>
              <a:rPr lang="vi-VN" b="1" dirty="0"/>
              <a:t>data residency</a:t>
            </a:r>
            <a:r>
              <a:rPr lang="vi-V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dữ liệu công dân phải lưu trong nước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Cross-border data access</a:t>
            </a:r>
          </a:p>
          <a:p>
            <a:r>
              <a:rPr lang="en-US" dirty="0"/>
              <a:t>** </a:t>
            </a:r>
            <a:r>
              <a:rPr lang="vi-VN" dirty="0"/>
              <a:t>BI cloud rất dễ </a:t>
            </a:r>
            <a:r>
              <a:rPr lang="vi-VN" b="1" dirty="0"/>
              <a:t>vô tình vi phạm luật địa phương</a:t>
            </a:r>
            <a:r>
              <a:rPr lang="vi-VN" dirty="0"/>
              <a:t> nếu không kiểm soát.</a:t>
            </a:r>
          </a:p>
          <a:p>
            <a:endParaRPr lang="en-US" b="1" dirty="0"/>
          </a:p>
          <a:p>
            <a:r>
              <a:rPr lang="vi-VN" b="1" dirty="0"/>
              <a:t>5. Key Point – Thông điệp quan trọng nhất của slide</a:t>
            </a:r>
          </a:p>
          <a:p>
            <a:r>
              <a:rPr lang="vi-VN" b="1" dirty="0"/>
              <a:t>Không được giả định rằng stakeholder hiểu luật.</a:t>
            </a:r>
            <a:endParaRPr lang="vi-VN" dirty="0"/>
          </a:p>
          <a:p>
            <a:r>
              <a:rPr lang="vi-VN" b="1" dirty="0"/>
              <a:t>Ý nghĩa thực tế: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Business users → tập trung vào 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IT → tập trung vào công nghệ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Legal &amp; Compliance</a:t>
            </a:r>
            <a:r>
              <a:rPr lang="vi-VN" dirty="0"/>
              <a:t> → hiểu rủi ro pháp lý</a:t>
            </a:r>
          </a:p>
          <a:p>
            <a:r>
              <a:rPr lang="en-US" dirty="0"/>
              <a:t>=&gt;</a:t>
            </a:r>
            <a:r>
              <a:rPr lang="vi-VN" dirty="0"/>
              <a:t> Vì vậy: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Phải </a:t>
            </a:r>
            <a:r>
              <a:rPr lang="vi-VN" b="1" dirty="0"/>
              <a:t>tham gia chuyên gia pháp lý sớm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Regulatory requirements là </a:t>
            </a:r>
            <a:r>
              <a:rPr lang="vi-VN" b="1" dirty="0"/>
              <a:t>đầu vào bắt buộc</a:t>
            </a:r>
            <a:r>
              <a:rPr lang="vi-VN" dirty="0"/>
              <a:t>, không phải bước kiểm tra cuối</a:t>
            </a:r>
          </a:p>
          <a:p>
            <a:endParaRPr lang="en-US" b="1" dirty="0"/>
          </a:p>
          <a:p>
            <a:r>
              <a:rPr lang="vi-VN" b="1" dirty="0"/>
              <a:t>6. Liên hệ với các loại requirements khác</a:t>
            </a:r>
          </a:p>
          <a:p>
            <a:r>
              <a:rPr lang="vi-VN" dirty="0"/>
              <a:t>Giảng viên có thể nhấn mạnh:</a:t>
            </a:r>
          </a:p>
          <a:p>
            <a:r>
              <a:rPr lang="vi-VN" dirty="0"/>
              <a:t>Loại yêu cầu</a:t>
            </a:r>
            <a:r>
              <a:rPr lang="en-US" dirty="0"/>
              <a:t>		</a:t>
            </a:r>
            <a:r>
              <a:rPr lang="vi-VN" dirty="0"/>
              <a:t>Nếu bỏ qua sẽ gây</a:t>
            </a:r>
            <a:endParaRPr lang="en-US" dirty="0"/>
          </a:p>
          <a:p>
            <a:r>
              <a:rPr lang="vi-VN" dirty="0"/>
              <a:t>Business</a:t>
            </a:r>
            <a:r>
              <a:rPr lang="en-US" dirty="0"/>
              <a:t>		</a:t>
            </a:r>
            <a:r>
              <a:rPr lang="vi-VN" dirty="0"/>
              <a:t>BI không tạo giá trị</a:t>
            </a:r>
            <a:endParaRPr lang="en-US" dirty="0"/>
          </a:p>
          <a:p>
            <a:r>
              <a:rPr lang="vi-VN" dirty="0"/>
              <a:t>Data</a:t>
            </a:r>
            <a:r>
              <a:rPr lang="en-US" dirty="0"/>
              <a:t>		</a:t>
            </a:r>
            <a:r>
              <a:rPr lang="vi-VN" dirty="0"/>
              <a:t>KPI sai</a:t>
            </a:r>
            <a:endParaRPr lang="en-US" dirty="0"/>
          </a:p>
          <a:p>
            <a:r>
              <a:rPr lang="vi-VN" dirty="0"/>
              <a:t>Functional</a:t>
            </a:r>
            <a:r>
              <a:rPr lang="en-US" dirty="0"/>
              <a:t>		</a:t>
            </a:r>
            <a:r>
              <a:rPr lang="vi-VN" dirty="0"/>
              <a:t>Người dùng không dùng</a:t>
            </a:r>
            <a:endParaRPr lang="en-US" dirty="0"/>
          </a:p>
          <a:p>
            <a:r>
              <a:rPr lang="vi-VN" dirty="0"/>
              <a:t>Technical</a:t>
            </a:r>
            <a:r>
              <a:rPr lang="en-US" dirty="0"/>
              <a:t>		</a:t>
            </a:r>
            <a:r>
              <a:rPr lang="vi-VN" dirty="0"/>
              <a:t>Hệ thống không chạy</a:t>
            </a:r>
            <a:endParaRPr lang="en-US" dirty="0"/>
          </a:p>
          <a:p>
            <a:r>
              <a:rPr lang="vi-VN" b="1" dirty="0"/>
              <a:t>Regulatory</a:t>
            </a:r>
            <a:r>
              <a:rPr lang="en-US" b="1" dirty="0"/>
              <a:t>		</a:t>
            </a:r>
            <a:r>
              <a:rPr lang="vi-VN" b="1" dirty="0"/>
              <a:t>Hệ thống bị cấm hoặc phạt</a:t>
            </a:r>
            <a:endParaRPr lang="vi-VN" dirty="0"/>
          </a:p>
          <a:p>
            <a:r>
              <a:rPr lang="en-US" dirty="0"/>
              <a:t>=&gt;</a:t>
            </a:r>
            <a:r>
              <a:rPr lang="vi-VN" dirty="0"/>
              <a:t> Regulatory failures thường </a:t>
            </a:r>
            <a:r>
              <a:rPr lang="vi-VN" b="1" dirty="0"/>
              <a:t>không thể “vá” nhanh</a:t>
            </a:r>
            <a:r>
              <a:rPr lang="vi-VN" dirty="0"/>
              <a:t> như lỗi kỹ thuật.</a:t>
            </a:r>
          </a:p>
          <a:p>
            <a:endParaRPr lang="en-US" b="1" dirty="0"/>
          </a:p>
          <a:p>
            <a:r>
              <a:rPr lang="vi-VN" b="1" dirty="0"/>
              <a:t>7. Kết luận</a:t>
            </a:r>
            <a:r>
              <a:rPr lang="en-US" b="1" dirty="0"/>
              <a:t>:</a:t>
            </a:r>
            <a:endParaRPr lang="vi-VN" b="1" dirty="0"/>
          </a:p>
          <a:p>
            <a:pPr lvl="1">
              <a:buFont typeface="+mj-lt"/>
              <a:buAutoNum type="arabicPeriod"/>
            </a:pPr>
            <a:r>
              <a:rPr lang="vi-VN" b="0" dirty="0"/>
              <a:t>Tuân thủ pháp lý là yêu cầu bắt buộc, không phải lựa chọn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BI phải được thiết kế “compliance-by-design”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Sai luật có thể phá hủy toàn bộ giá trị của BI</a:t>
            </a:r>
          </a:p>
          <a:p>
            <a:pPr lvl="1"/>
            <a:r>
              <a:rPr lang="vi-VN" b="0" i="1" dirty="0"/>
              <a:t>“A BI system that violates regulations is not an asset — it’s a liability.”</a:t>
            </a:r>
            <a:endParaRPr lang="vi-VN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Technical Frame: Standards and Infrastructure</a:t>
            </a:r>
          </a:p>
          <a:p>
            <a:r>
              <a:rPr lang="vi-VN" b="1" dirty="0"/>
              <a:t>(Khung kỹ thuật: Hạ tầng và chuẩn mực)</a:t>
            </a:r>
          </a:p>
          <a:p>
            <a:r>
              <a:rPr lang="vi-VN" b="1" dirty="0"/>
              <a:t>Thông điệp cốt lõi của slide</a:t>
            </a:r>
          </a:p>
          <a:p>
            <a:r>
              <a:rPr lang="vi-VN" b="1" dirty="0"/>
              <a:t>Yêu cầu kỹ thuật không nhằm “làm khó” dự án BI,</a:t>
            </a:r>
            <a:r>
              <a:rPr lang="en-US" b="1" dirty="0"/>
              <a:t> </a:t>
            </a:r>
            <a:r>
              <a:rPr lang="vi-VN" b="1" dirty="0"/>
              <a:t>mà để đảm bảo hệ thống có thể vận hành ổn định, an toàn và mở rộng lâu dài.</a:t>
            </a:r>
            <a:endParaRPr lang="vi-VN" dirty="0"/>
          </a:p>
          <a:p>
            <a:r>
              <a:rPr lang="vi-VN" dirty="0"/>
              <a:t>Trong BI, </a:t>
            </a:r>
            <a:r>
              <a:rPr lang="vi-VN" b="1" dirty="0"/>
              <a:t>technical requirements là các ràng buộc bắt buộc (constraints)</a:t>
            </a:r>
            <a:r>
              <a:rPr lang="vi-VN" dirty="0"/>
              <a:t>, không phải tùy chọn.</a:t>
            </a:r>
          </a:p>
          <a:p>
            <a:endParaRPr lang="en-US" b="1" dirty="0"/>
          </a:p>
          <a:p>
            <a:r>
              <a:rPr lang="vi-VN" b="1" dirty="0"/>
              <a:t>1. Infrastructure – Hạ tầng kỹ thuật</a:t>
            </a:r>
          </a:p>
          <a:p>
            <a:r>
              <a:rPr lang="vi-VN" b="1" dirty="0"/>
              <a:t>Câu hỏi trọng tâm</a:t>
            </a:r>
          </a:p>
          <a:p>
            <a:r>
              <a:rPr lang="vi-VN" i="1" dirty="0"/>
              <a:t>Hệ BI sẽ chạy trên nền tảng nào và có chịu được tải không?</a:t>
            </a:r>
            <a:endParaRPr lang="vi-VN" dirty="0"/>
          </a:p>
          <a:p>
            <a:r>
              <a:rPr lang="vi-VN" b="1" dirty="0"/>
              <a:t>Các yếu tố chính:</a:t>
            </a:r>
          </a:p>
          <a:p>
            <a:r>
              <a:rPr lang="en-US" b="1" dirty="0"/>
              <a:t>* </a:t>
            </a:r>
            <a:r>
              <a:rPr lang="vi-VN" b="1" dirty="0"/>
              <a:t>Cloud vs. On-premise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Cloud: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linh hoạt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mở rộng nhanh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On-premise: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kiểm soát cao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phù hợp yêu cầu dữ liệu nhạy cảm</a:t>
            </a:r>
          </a:p>
          <a:p>
            <a:r>
              <a:rPr lang="en-US" dirty="0"/>
              <a:t>=&gt; </a:t>
            </a:r>
            <a:r>
              <a:rPr lang="vi-VN" dirty="0"/>
              <a:t>Sinh viên cần hiểu: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Lựa chọn </a:t>
            </a:r>
            <a:r>
              <a:rPr lang="vi-VN" b="1" dirty="0"/>
              <a:t>không chỉ là kỹ thuật</a:t>
            </a:r>
            <a:r>
              <a:rPr lang="vi-VN" dirty="0"/>
              <a:t>, mà còn liên quan đến: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chi phí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pháp lý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chính sách tổ chức</a:t>
            </a:r>
          </a:p>
          <a:p>
            <a:r>
              <a:rPr lang="en-US" b="1" dirty="0"/>
              <a:t>* </a:t>
            </a:r>
            <a:r>
              <a:rPr lang="vi-VN" b="1" dirty="0"/>
              <a:t>Scalability &amp;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không chỉ chạy cho hôm nay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Phải tính: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số người dùng tăng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dữ liệu tăng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truy vấn phức tạp hơn</a:t>
            </a:r>
          </a:p>
          <a:p>
            <a:r>
              <a:rPr lang="en-US" dirty="0"/>
              <a:t>=&gt;</a:t>
            </a:r>
            <a:r>
              <a:rPr lang="vi-VN" dirty="0"/>
              <a:t> Nếu bỏ qua: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Dashboard chậm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mất niềm tin</a:t>
            </a:r>
          </a:p>
          <a:p>
            <a:r>
              <a:rPr lang="en-US" b="1" dirty="0"/>
              <a:t>* </a:t>
            </a:r>
            <a:r>
              <a:rPr lang="vi-VN" b="1" dirty="0"/>
              <a:t>Network &amp;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Băng thông có đủ không?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lớn có gây nghẽn?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Chính sách lưu trữ, archive bao lâu?</a:t>
            </a:r>
          </a:p>
          <a:p>
            <a:r>
              <a:rPr lang="en-US" dirty="0"/>
              <a:t>=&gt; </a:t>
            </a:r>
            <a:r>
              <a:rPr lang="vi-VN" dirty="0"/>
              <a:t>BI thường </a:t>
            </a:r>
            <a:r>
              <a:rPr lang="vi-VN" b="1" dirty="0"/>
              <a:t>đọc nhiều hơn ghi</a:t>
            </a:r>
            <a:r>
              <a:rPr lang="vi-VN" dirty="0"/>
              <a:t>, nên hạ tầng phải tối ưu cho truy vấn.</a:t>
            </a:r>
          </a:p>
          <a:p>
            <a:endParaRPr lang="en-US" b="1" dirty="0"/>
          </a:p>
          <a:p>
            <a:r>
              <a:rPr lang="vi-VN" b="1" dirty="0"/>
              <a:t>2. Standards – Chuẩn mực kỹ thuật</a:t>
            </a:r>
          </a:p>
          <a:p>
            <a:r>
              <a:rPr lang="vi-VN" b="1" dirty="0"/>
              <a:t>Vai trò của standards</a:t>
            </a:r>
          </a:p>
          <a:p>
            <a:r>
              <a:rPr lang="vi-VN" dirty="0"/>
              <a:t>Chuẩn mực giúp </a:t>
            </a:r>
            <a:r>
              <a:rPr lang="vi-VN" b="1" dirty="0"/>
              <a:t>toàn doanh nghiệp làm BI theo một cách thống nhất</a:t>
            </a:r>
            <a:r>
              <a:rPr lang="vi-VN" dirty="0"/>
              <a:t>.</a:t>
            </a:r>
          </a:p>
          <a:p>
            <a:r>
              <a:rPr lang="vi-VN" b="1" dirty="0"/>
              <a:t>Các chuẩn phổ biến:</a:t>
            </a:r>
          </a:p>
          <a:p>
            <a:r>
              <a:rPr lang="en-US" b="1" dirty="0"/>
              <a:t>* </a:t>
            </a:r>
            <a:r>
              <a:rPr lang="vi-VN" b="1" dirty="0"/>
              <a:t>Approved Vendors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phải công cụ nào cũng được phép dùng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Do IT phê duyệt để: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giảm rủi 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dễ bảo trì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dễ tích hợp</a:t>
            </a:r>
          </a:p>
          <a:p>
            <a:r>
              <a:rPr lang="en-US" b="1" dirty="0"/>
              <a:t>* </a:t>
            </a:r>
            <a:r>
              <a:rPr lang="vi-VN" b="1" dirty="0"/>
              <a:t>Data Integration Patterns (ETL/ELT)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ETL hay ELT?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Batch hay streaming?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Theo chuẩn chung hay tự làm?</a:t>
            </a:r>
          </a:p>
          <a:p>
            <a:r>
              <a:rPr lang="en-US" dirty="0"/>
              <a:t>=&gt; </a:t>
            </a:r>
            <a:r>
              <a:rPr lang="vi-VN" dirty="0"/>
              <a:t>Chuẩn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nhiều nhóm làm việc cùng nhau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“mỗi dự án một kiểu”</a:t>
            </a:r>
          </a:p>
          <a:p>
            <a:r>
              <a:rPr lang="en-US" b="1" dirty="0"/>
              <a:t>* </a:t>
            </a:r>
            <a:r>
              <a:rPr lang="vi-VN" b="1" dirty="0"/>
              <a:t>Metadata &amp;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Định nghĩa KPI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Nguồn dữ liệu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Logic tính toán</a:t>
            </a:r>
          </a:p>
          <a:p>
            <a:r>
              <a:rPr lang="en-US" dirty="0"/>
              <a:t>=&gt;</a:t>
            </a:r>
            <a:r>
              <a:rPr lang="vi-VN" dirty="0"/>
              <a:t> Nếu không có metadata: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trở thành “hộp đen”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không tin kết quả</a:t>
            </a:r>
          </a:p>
          <a:p>
            <a:r>
              <a:rPr lang="en-US" b="1" dirty="0"/>
              <a:t>* </a:t>
            </a:r>
            <a:r>
              <a:rPr lang="vi-VN" b="1" dirty="0"/>
              <a:t>Supported BI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Danh sách công cụ được hỗ trợ chính thức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rủi ro: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thiếu người hỗ trợ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công cụ bị bỏ rơi</a:t>
            </a:r>
          </a:p>
          <a:p>
            <a:endParaRPr lang="en-US" b="1" dirty="0"/>
          </a:p>
          <a:p>
            <a:r>
              <a:rPr lang="vi-VN" b="1" dirty="0"/>
              <a:t>3. Security – An ninh &amp; kiểm soát truy cập</a:t>
            </a:r>
          </a:p>
          <a:p>
            <a:r>
              <a:rPr lang="vi-VN" b="1" dirty="0"/>
              <a:t>Thông điệp quan trọng</a:t>
            </a:r>
          </a:p>
          <a:p>
            <a:r>
              <a:rPr lang="vi-VN" b="1" dirty="0"/>
              <a:t>BI làm lộ thông tin nhanh hơn bất kỳ hệ thống nào khác</a:t>
            </a:r>
            <a:r>
              <a:rPr lang="vi-VN" dirty="0"/>
              <a:t>,</a:t>
            </a:r>
            <a:br>
              <a:rPr lang="vi-VN" dirty="0"/>
            </a:br>
            <a:r>
              <a:rPr lang="vi-VN" dirty="0"/>
              <a:t>nên bảo mật là yêu cầu sống còn.</a:t>
            </a:r>
          </a:p>
          <a:p>
            <a:r>
              <a:rPr lang="vi-VN" b="1" dirty="0"/>
              <a:t>Các lớp bảo mật chính:</a:t>
            </a:r>
          </a:p>
          <a:p>
            <a:r>
              <a:rPr lang="en-US" b="1" dirty="0"/>
              <a:t>* </a:t>
            </a:r>
            <a:r>
              <a:rPr lang="vi-VN" b="1" dirty="0"/>
              <a:t>Access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Ai được xem gì?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Theo vai trò, phòng ban</a:t>
            </a:r>
          </a:p>
          <a:p>
            <a:r>
              <a:rPr lang="en-US" b="1" dirty="0"/>
              <a:t>* </a:t>
            </a:r>
            <a:r>
              <a:rPr lang="vi-VN" b="1" dirty="0"/>
              <a:t>Authentication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SSO, MFA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dùng tài khoản dùng chung</a:t>
            </a:r>
          </a:p>
          <a:p>
            <a:r>
              <a:rPr lang="en-US" b="1" dirty="0"/>
              <a:t>* </a:t>
            </a:r>
            <a:r>
              <a:rPr lang="vi-VN" b="1" dirty="0"/>
              <a:t>Encryption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khi lưu trữ (at rest)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khi truyền (in transit)</a:t>
            </a:r>
          </a:p>
          <a:p>
            <a:r>
              <a:rPr lang="en-US" b="1" dirty="0"/>
              <a:t>* </a:t>
            </a:r>
            <a:r>
              <a:rPr lang="vi-VN" b="1" dirty="0"/>
              <a:t>Row / Column-level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Cùng một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Nhưng mỗi người </a:t>
            </a:r>
            <a:r>
              <a:rPr lang="vi-VN" b="1" dirty="0"/>
              <a:t>thấy dữ liệu khác nhau</a:t>
            </a:r>
            <a:endParaRPr lang="vi-VN" dirty="0"/>
          </a:p>
          <a:p>
            <a:r>
              <a:rPr lang="en-US" dirty="0"/>
              <a:t>* </a:t>
            </a:r>
            <a:r>
              <a:rPr lang="vi-VN" dirty="0"/>
              <a:t>Đây là yêu cầu rất phổ biến trong BI doanh nghiệp.</a:t>
            </a:r>
          </a:p>
          <a:p>
            <a:endParaRPr lang="en-US" b="1" dirty="0"/>
          </a:p>
          <a:p>
            <a:r>
              <a:rPr lang="vi-VN" b="1" dirty="0"/>
              <a:t>4. Technical Insight – Thông điệp cuối slide</a:t>
            </a:r>
          </a:p>
          <a:p>
            <a:r>
              <a:rPr lang="vi-VN" b="1" dirty="0"/>
              <a:t>Nhiều yêu cầu kỹ thuật là “không thương lượng được”.</a:t>
            </a:r>
            <a:endParaRPr lang="vi-VN" dirty="0"/>
          </a:p>
          <a:p>
            <a:r>
              <a:rPr lang="vi-VN" b="1" dirty="0"/>
              <a:t>Ý nghĩa cho sinh viên: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phải lúc nào business cũng được “muốn gì làm nấy”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IT đặt ra ràng buộc để: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bảo mật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ổn định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nhất quán toàn hệ thống</a:t>
            </a:r>
          </a:p>
          <a:p>
            <a:r>
              <a:rPr lang="en-US" dirty="0"/>
              <a:t>=&gt;</a:t>
            </a:r>
            <a:r>
              <a:rPr lang="vi-VN" dirty="0"/>
              <a:t> BI thành công là </a:t>
            </a:r>
            <a:r>
              <a:rPr lang="vi-VN" b="1" dirty="0"/>
              <a:t>cân bằng giữa nhu cầu kinh doanh và khung kỹ thuật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5. Liên hệ với các loại requirements khác</a:t>
            </a:r>
          </a:p>
          <a:p>
            <a:r>
              <a:rPr lang="vi-VN" dirty="0"/>
              <a:t>Giảng viên có thể tổng kết:</a:t>
            </a:r>
          </a:p>
          <a:p>
            <a:r>
              <a:rPr lang="vi-VN" dirty="0"/>
              <a:t>Loại yêu cầu</a:t>
            </a:r>
            <a:r>
              <a:rPr lang="en-US" dirty="0"/>
              <a:t>		</a:t>
            </a:r>
            <a:r>
              <a:rPr lang="vi-VN" dirty="0"/>
              <a:t>Vai trò</a:t>
            </a:r>
            <a:endParaRPr lang="en-US" dirty="0"/>
          </a:p>
          <a:p>
            <a:r>
              <a:rPr lang="vi-VN" dirty="0"/>
              <a:t>Business</a:t>
            </a:r>
            <a:r>
              <a:rPr lang="en-US" dirty="0"/>
              <a:t>		</a:t>
            </a:r>
            <a:r>
              <a:rPr lang="vi-VN" dirty="0"/>
              <a:t>Xác định giá trị</a:t>
            </a:r>
            <a:endParaRPr lang="en-US" dirty="0"/>
          </a:p>
          <a:p>
            <a:r>
              <a:rPr lang="vi-VN" dirty="0"/>
              <a:t>Functional</a:t>
            </a:r>
            <a:r>
              <a:rPr lang="en-US" dirty="0"/>
              <a:t>		</a:t>
            </a:r>
            <a:r>
              <a:rPr lang="vi-VN" dirty="0"/>
              <a:t>Mô tả cách phân tích</a:t>
            </a:r>
            <a:endParaRPr lang="en-US" dirty="0"/>
          </a:p>
          <a:p>
            <a:r>
              <a:rPr lang="vi-VN" dirty="0"/>
              <a:t>Data</a:t>
            </a:r>
            <a:r>
              <a:rPr lang="en-US" dirty="0"/>
              <a:t>		</a:t>
            </a:r>
            <a:r>
              <a:rPr lang="vi-VN" dirty="0"/>
              <a:t>Cung cấp nhiên liệu</a:t>
            </a:r>
            <a:endParaRPr lang="en-US" dirty="0"/>
          </a:p>
          <a:p>
            <a:r>
              <a:rPr lang="vi-VN" dirty="0"/>
              <a:t>Regulatory</a:t>
            </a:r>
            <a:r>
              <a:rPr lang="en-US" dirty="0"/>
              <a:t>		</a:t>
            </a:r>
            <a:r>
              <a:rPr lang="vi-VN" dirty="0"/>
              <a:t>Đảm bảo hợp pháp</a:t>
            </a:r>
            <a:endParaRPr lang="en-US" dirty="0"/>
          </a:p>
          <a:p>
            <a:r>
              <a:rPr lang="vi-VN" b="1" dirty="0"/>
              <a:t>Technical</a:t>
            </a:r>
            <a:r>
              <a:rPr lang="en-US" b="1" dirty="0"/>
              <a:t>		</a:t>
            </a:r>
            <a:r>
              <a:rPr lang="vi-VN" b="1" dirty="0"/>
              <a:t>Đảm bảo hệ thống chạy được và an toàn</a:t>
            </a:r>
            <a:endParaRPr lang="vi-VN" dirty="0"/>
          </a:p>
          <a:p>
            <a:r>
              <a:rPr lang="en-US" dirty="0"/>
              <a:t>=&gt;</a:t>
            </a:r>
            <a:r>
              <a:rPr lang="vi-VN" dirty="0"/>
              <a:t> Technical requirements là </a:t>
            </a:r>
            <a:r>
              <a:rPr lang="vi-VN" b="1" dirty="0"/>
              <a:t>nền móng</a:t>
            </a:r>
            <a:r>
              <a:rPr lang="vi-VN" dirty="0"/>
              <a:t>, không phải “phần trang trí”.</a:t>
            </a:r>
          </a:p>
          <a:p>
            <a:endParaRPr lang="en-US" b="1" dirty="0"/>
          </a:p>
          <a:p>
            <a:r>
              <a:rPr lang="vi-VN" b="1" dirty="0"/>
              <a:t>6. Kết luậ</a:t>
            </a:r>
            <a:r>
              <a:rPr lang="en-US" b="1" dirty="0"/>
              <a:t>n</a:t>
            </a:r>
            <a:endParaRPr lang="vi-VN" b="1" dirty="0"/>
          </a:p>
          <a:p>
            <a:pPr lvl="1">
              <a:buFont typeface="+mj-lt"/>
              <a:buAutoNum type="arabicPeriod"/>
            </a:pPr>
            <a:r>
              <a:rPr lang="vi-VN" b="0" dirty="0"/>
              <a:t>Không có khung kỹ thuật phù hợp → BI không bền vững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Chuẩn mực giúp BI mở rộng, không phải kìm hãm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Bảo mật trong BI là yêu cầu bắt buộc, không phải tùy chọn</a:t>
            </a:r>
          </a:p>
          <a:p>
            <a:pPr lvl="1"/>
            <a:r>
              <a:rPr lang="vi-VN" b="0" i="1" dirty="0"/>
              <a:t>“In BI, flexibility without standards leads to chaos.”</a:t>
            </a:r>
            <a:endParaRPr lang="vi-VN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Learning from the Past: Reverse Engineering</a:t>
            </a:r>
          </a:p>
          <a:p>
            <a:r>
              <a:rPr lang="vi-VN" b="1" dirty="0"/>
              <a:t>(Học từ quá khứ: Reverse Engineering trong BI)</a:t>
            </a:r>
          </a:p>
          <a:p>
            <a:endParaRPr lang="en-US" b="1" dirty="0"/>
          </a:p>
          <a:p>
            <a:r>
              <a:rPr lang="vi-VN" b="1" dirty="0"/>
              <a:t>1. Thông điệp cốt lõi của slide</a:t>
            </a:r>
          </a:p>
          <a:p>
            <a:r>
              <a:rPr lang="vi-VN" b="1" dirty="0"/>
              <a:t>Trong BI, hệ thống cũ không phải là “thứ cần bỏ đi”,</a:t>
            </a:r>
            <a:br>
              <a:rPr lang="vi-VN" b="1" dirty="0"/>
            </a:br>
            <a:r>
              <a:rPr lang="vi-VN" b="1" dirty="0"/>
              <a:t>mà là “nguồn tri thức” cần được khai thác.</a:t>
            </a:r>
            <a:endParaRPr lang="vi-VN" dirty="0"/>
          </a:p>
          <a:p>
            <a:r>
              <a:rPr lang="vi-VN" dirty="0"/>
              <a:t>Reverse engineering giúp </a:t>
            </a:r>
            <a:r>
              <a:rPr lang="vi-VN" b="1" dirty="0"/>
              <a:t>hiểu đúng cách doanh nghiệp đang vận hành</a:t>
            </a:r>
            <a:r>
              <a:rPr lang="vi-VN" dirty="0"/>
              <a:t>,</a:t>
            </a:r>
            <a:br>
              <a:rPr lang="vi-VN" dirty="0"/>
            </a:br>
            <a:r>
              <a:rPr lang="vi-VN" dirty="0"/>
              <a:t>không chỉ cách hệ thống mới </a:t>
            </a:r>
            <a:r>
              <a:rPr lang="vi-VN" i="1" dirty="0"/>
              <a:t>muốn</a:t>
            </a:r>
            <a:r>
              <a:rPr lang="vi-VN" dirty="0"/>
              <a:t> vận hành.</a:t>
            </a:r>
          </a:p>
          <a:p>
            <a:endParaRPr lang="en-US" b="1" dirty="0"/>
          </a:p>
          <a:p>
            <a:r>
              <a:rPr lang="vi-VN" b="1" dirty="0"/>
              <a:t>2. Vì sao cần Reverse Engineering? (Why Reverse Engineer?)</a:t>
            </a:r>
          </a:p>
          <a:p>
            <a:r>
              <a:rPr lang="vi-VN" b="1" dirty="0"/>
              <a:t>a. Comparison – So sánh với hệ thống cũ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cũ (legacy system):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là chuẩn tham chiếu (baseline)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là thứ người dùng </a:t>
            </a:r>
            <a:r>
              <a:rPr lang="vi-VN" b="1" dirty="0"/>
              <a:t>đang tin và đang sử dụng</a:t>
            </a:r>
            <a:endParaRPr lang="vi-VN" dirty="0"/>
          </a:p>
          <a:p>
            <a:r>
              <a:rPr lang="en-US" dirty="0"/>
              <a:t>** </a:t>
            </a:r>
            <a:r>
              <a:rPr lang="vi-VN" dirty="0"/>
              <a:t>Ý nghĩa: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BI mới </a:t>
            </a:r>
            <a:r>
              <a:rPr lang="vi-VN" b="1" dirty="0"/>
              <a:t>phải ít nhất đúng bằng hệ cũ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Nếu số liệu khác mà không giải thích được → </a:t>
            </a:r>
            <a:r>
              <a:rPr lang="vi-VN" b="1" dirty="0"/>
              <a:t>mất niềm tin ngay</a:t>
            </a:r>
            <a:endParaRPr lang="vi-VN" dirty="0"/>
          </a:p>
          <a:p>
            <a:r>
              <a:rPr lang="en-US" dirty="0"/>
              <a:t>=&gt;</a:t>
            </a:r>
            <a:r>
              <a:rPr lang="vi-VN" dirty="0"/>
              <a:t> Reverse engineering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đối chiếu kết quả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minh độ chính xác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phát hiện khác biệt logic</a:t>
            </a:r>
          </a:p>
          <a:p>
            <a:r>
              <a:rPr lang="vi-VN" b="1" dirty="0"/>
              <a:t>b. Understanding – Hiểu logic nghiệp vụ ẩn</a:t>
            </a:r>
          </a:p>
          <a:p>
            <a:r>
              <a:rPr lang="vi-VN" dirty="0"/>
              <a:t>Đây là </a:t>
            </a:r>
            <a:r>
              <a:rPr lang="vi-VN" b="1" dirty="0"/>
              <a:t>lý do quan trọng nhất</a:t>
            </a:r>
            <a:r>
              <a:rPr lang="vi-VN" dirty="0"/>
              <a:t>.</a:t>
            </a:r>
          </a:p>
          <a:p>
            <a:r>
              <a:rPr lang="vi-VN" dirty="0"/>
              <a:t>Trong thực tế: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Rất nhiều business rules: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có tài liệu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ai nhớ rõ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chỉ tồn tại trong: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vi-VN" dirty="0"/>
              <a:t>code cũ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vi-VN" dirty="0"/>
              <a:t>stored procedure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vi-VN" dirty="0"/>
              <a:t>macro Excel</a:t>
            </a:r>
          </a:p>
          <a:p>
            <a:r>
              <a:rPr lang="en-US" dirty="0"/>
              <a:t>*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Công thức KPI có ngoại lệ “đặc biệt”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 tắc làm tròn số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Điều kiện lọc ngầm</a:t>
            </a:r>
          </a:p>
          <a:p>
            <a:r>
              <a:rPr lang="en-US" dirty="0"/>
              <a:t>=&gt;</a:t>
            </a:r>
            <a:r>
              <a:rPr lang="vi-VN" dirty="0"/>
              <a:t> Reverse engineering giúp </a:t>
            </a:r>
            <a:r>
              <a:rPr lang="vi-VN" b="1" dirty="0"/>
              <a:t>lôi các logic ẩn này ra ánh sáng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3. Best Practices – Thực hành tốt nhất</a:t>
            </a:r>
          </a:p>
          <a:p>
            <a:r>
              <a:rPr lang="vi-VN" b="1" dirty="0"/>
              <a:t>a. Involve Power Users</a:t>
            </a:r>
          </a:p>
          <a:p>
            <a:r>
              <a:rPr lang="vi-VN" b="1" dirty="0"/>
              <a:t>Power users là ai?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làm báo cáo lâu năm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“giữ bí quyết” tính số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mà cả phòng ban tin kết quả</a:t>
            </a:r>
          </a:p>
          <a:p>
            <a:r>
              <a:rPr lang="en-US" dirty="0"/>
              <a:t>* </a:t>
            </a:r>
            <a:r>
              <a:rPr lang="vi-VN" dirty="0"/>
              <a:t>Vai trò: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Giải thích logic ẩn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nhận kết quả reverse-engineered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Giúp phân biệt: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logic đúng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logic “lịch sử nhưng đã lỗi thời”</a:t>
            </a:r>
          </a:p>
          <a:p>
            <a:r>
              <a:rPr lang="en-US" dirty="0"/>
              <a:t>=&gt;</a:t>
            </a:r>
            <a:r>
              <a:rPr lang="vi-VN" dirty="0"/>
              <a:t> Không có power users → reverse engineering gần như thất bại.</a:t>
            </a:r>
          </a:p>
          <a:p>
            <a:r>
              <a:rPr lang="vi-VN" b="1" dirty="0"/>
              <a:t>b. Shadow Systems – Hệ thống ngầm</a:t>
            </a:r>
          </a:p>
          <a:p>
            <a:r>
              <a:rPr lang="vi-VN" b="1" dirty="0"/>
              <a:t>Shadow systems là gì?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Spreadsheet cá nhân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Access DB tự tạo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Báo cáo không chính thức</a:t>
            </a:r>
          </a:p>
          <a:p>
            <a:r>
              <a:rPr lang="en-US" dirty="0"/>
              <a:t>* </a:t>
            </a:r>
            <a:r>
              <a:rPr lang="vi-VN" dirty="0"/>
              <a:t>Thực tế đau lòng:</a:t>
            </a:r>
          </a:p>
          <a:p>
            <a:r>
              <a:rPr lang="vi-VN" i="1" dirty="0"/>
              <a:t>“Doanh nghiệp chạy bằng Excel, không phải ERP.”</a:t>
            </a:r>
            <a:endParaRPr lang="vi-VN" dirty="0"/>
          </a:p>
          <a:p>
            <a:r>
              <a:rPr lang="en-US" dirty="0"/>
              <a:t>=&gt;</a:t>
            </a:r>
            <a:r>
              <a:rPr lang="vi-VN" dirty="0"/>
              <a:t> Shadow systems: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thường chứa logic quan trọng nhất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nhưng cũng là nguồn: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rủi 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bất nhất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phụ thuộc cá nhân</a:t>
            </a:r>
          </a:p>
          <a:p>
            <a:r>
              <a:rPr lang="vi-VN" dirty="0"/>
              <a:t>Reverse engineering </a:t>
            </a:r>
            <a:r>
              <a:rPr lang="vi-VN" b="1" dirty="0"/>
              <a:t>phải đặc biệt chú ý các hệ này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4. Strategic Goal – Mục tiêu chiến lược</a:t>
            </a:r>
          </a:p>
          <a:p>
            <a:r>
              <a:rPr lang="vi-VN" b="1" dirty="0"/>
              <a:t>Không chỉ lấy logic từ hệ cũ, mà còn lấy được “con người” ủng hộ hệ mới.</a:t>
            </a:r>
            <a:endParaRPr lang="vi-VN" dirty="0"/>
          </a:p>
          <a:p>
            <a:r>
              <a:rPr lang="vi-VN" b="1" dirty="0"/>
              <a:t>Ý nghĩa sâu hơn: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giỏi hệ cũ thường: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sợ bị thay thế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nghi ngờ BI mới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Reverse engineering đúng cách: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tôn trọng tri thức của họ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cho họ thấy hệ mới: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vi-VN" dirty="0"/>
              <a:t>minh bạch hơn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vi-VN" dirty="0"/>
              <a:t>dễ dùng hơn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vi-VN" dirty="0"/>
              <a:t>giảm công sức</a:t>
            </a:r>
          </a:p>
          <a:p>
            <a:r>
              <a:rPr lang="en-US" dirty="0"/>
              <a:t>=&gt;</a:t>
            </a:r>
            <a:r>
              <a:rPr lang="vi-VN" dirty="0"/>
              <a:t> Chuyển </a:t>
            </a:r>
            <a:r>
              <a:rPr lang="vi-VN" b="1" dirty="0"/>
              <a:t>“người chống đối” thành “người ủng hộ”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5. Liên hệ với các slide trước</a:t>
            </a:r>
          </a:p>
          <a:p>
            <a:r>
              <a:rPr lang="vi-VN" dirty="0"/>
              <a:t>Giảng viên có thể nối mạch:</a:t>
            </a:r>
          </a:p>
          <a:p>
            <a:pPr rtl="0"/>
            <a:r>
              <a:rPr lang="vi-VN" dirty="0"/>
              <a:t>Requirements Definition → Data Profiling → Gap Analysis → Reverse Engineering → Refined Requirements → BI Design </a:t>
            </a:r>
          </a:p>
          <a:p>
            <a:r>
              <a:rPr lang="en-US" dirty="0"/>
              <a:t>=&gt;</a:t>
            </a:r>
            <a:r>
              <a:rPr lang="vi-VN" dirty="0"/>
              <a:t> Reverse engineering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lấp khoảng trống yêu cầu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xác thực KPI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sai lệch logic</a:t>
            </a:r>
          </a:p>
          <a:p>
            <a:endParaRPr lang="en-US" b="1" dirty="0"/>
          </a:p>
          <a:p>
            <a:r>
              <a:rPr lang="vi-VN" b="1" dirty="0"/>
              <a:t>6.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Luận</a:t>
            </a:r>
            <a:endParaRPr lang="vi-VN" b="1" dirty="0"/>
          </a:p>
          <a:p>
            <a:r>
              <a:rPr lang="vi-VN" dirty="0"/>
              <a:t>Có thể chốt bằng 3 câu: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Hệ thống cũ chứa tri thức nghiệp vụ quý giá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Reverse engineering là hoạt động nghiệp vụ, không chỉ kỹ thuật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BI thành công khi kế thừa đúng – không phải phá bỏ tất cả</a:t>
            </a:r>
          </a:p>
          <a:p>
            <a:pPr lvl="1"/>
            <a:r>
              <a:rPr lang="vi-VN" b="0" i="1" dirty="0"/>
              <a:t>“Legacy systems fail technically, not conceptually.”</a:t>
            </a:r>
            <a:endParaRPr lang="vi-VN" b="0" dirty="0"/>
          </a:p>
          <a:p>
            <a:endParaRPr lang="en-US" b="1" dirty="0"/>
          </a:p>
          <a:p>
            <a:r>
              <a:rPr lang="vi-VN" b="1" dirty="0"/>
              <a:t>7. Gợi ý cho giảng dạy / bài tập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Bài tập: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Cho 1 báo cáo Excel phức tạp → sinh viên reverse-engineer KPI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Câu hỏi thi: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Vì sao reverse engineering quan trọng trong BI?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Vai trò của power users trong quá trình này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Thảo luận: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Shadow systems là rủi ro hay tài sản?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Bringing it Together: Consolidating Requirements</a:t>
            </a:r>
          </a:p>
          <a:p>
            <a:r>
              <a:rPr lang="vi-VN" b="1" dirty="0"/>
              <a:t>(Tổng hợp yêu cầu – Bước then chốt trước khi thiết kế BI)</a:t>
            </a:r>
          </a:p>
          <a:p>
            <a:r>
              <a:rPr lang="vi-VN" b="1" dirty="0"/>
              <a:t>1. Vai trò của bước Consolidation</a:t>
            </a:r>
          </a:p>
          <a:p>
            <a:r>
              <a:rPr lang="vi-VN" b="1" dirty="0"/>
              <a:t>Thu thập yêu cầu ≠ có yêu cầu đúng.</a:t>
            </a:r>
            <a:br>
              <a:rPr lang="vi-VN" b="1" dirty="0"/>
            </a:br>
            <a:r>
              <a:rPr lang="vi-VN" b="1" dirty="0"/>
              <a:t>Giá trị thực sự chỉ xuất hiện khi yêu cầu được tổng hợp, chuẩn hóa và ưu tiên.</a:t>
            </a:r>
            <a:endParaRPr lang="vi-VN" dirty="0"/>
          </a:p>
          <a:p>
            <a:r>
              <a:rPr lang="vi-VN" dirty="0"/>
              <a:t>Đây là giai đoạn: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chuyển từ </a:t>
            </a:r>
            <a:r>
              <a:rPr lang="vi-VN" b="1" dirty="0"/>
              <a:t>nhiều tiếng nói rời rạc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sang </a:t>
            </a:r>
            <a:r>
              <a:rPr lang="vi-VN" b="1" dirty="0"/>
              <a:t>một bức tranh thống nhất của dự án BI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2. Ba hoạt động cốt lõi trong Consolidation</a:t>
            </a:r>
          </a:p>
          <a:p>
            <a:r>
              <a:rPr lang="vi-VN" b="1" dirty="0"/>
              <a:t>(1) Merge – Gộp yêu cầu</a:t>
            </a:r>
          </a:p>
          <a:p>
            <a:r>
              <a:rPr lang="vi-VN" b="1" dirty="0"/>
              <a:t>Ý nghĩa: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Tổng hợp yêu cầu từ: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nhiều phòng ban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nhiều stakeholder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nhiều buổi workshop / phỏng vấn</a:t>
            </a:r>
          </a:p>
          <a:p>
            <a:r>
              <a:rPr lang="en-US" dirty="0"/>
              <a:t>* </a:t>
            </a:r>
            <a:r>
              <a:rPr lang="vi-VN" dirty="0"/>
              <a:t>Thực tế: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Cùng một KPI nhưng: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tên khác nhau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cách tính khác nhau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mục đích sử dụng khác nhau</a:t>
            </a:r>
          </a:p>
          <a:p>
            <a:r>
              <a:rPr lang="en-US" dirty="0"/>
              <a:t>=&gt;</a:t>
            </a:r>
            <a:r>
              <a:rPr lang="vi-VN" dirty="0"/>
              <a:t> Merge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loại bỏ trùng lặp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tạo </a:t>
            </a:r>
            <a:r>
              <a:rPr lang="vi-VN" b="1" dirty="0"/>
              <a:t>single source of requirements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“mỗi phòng ban một BI”</a:t>
            </a:r>
          </a:p>
          <a:p>
            <a:r>
              <a:rPr lang="vi-VN" b="1" dirty="0"/>
              <a:t>(2) Identify – Nhận diện vấn đề</a:t>
            </a:r>
          </a:p>
          <a:p>
            <a:r>
              <a:rPr lang="vi-VN" dirty="0"/>
              <a:t>Sau khi gộp, cần </a:t>
            </a:r>
            <a:r>
              <a:rPr lang="vi-VN" b="1" dirty="0"/>
              <a:t>phân tích sâu</a:t>
            </a:r>
            <a:r>
              <a:rPr lang="vi-VN" dirty="0"/>
              <a:t> để phát hiện:</a:t>
            </a:r>
          </a:p>
          <a:p>
            <a:r>
              <a:rPr lang="vi-VN" b="1" dirty="0"/>
              <a:t>a. Overlaps – Trùng lặp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Nhiều yêu cầu cho cùng một chỉ số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Nhiều dashboard trả lời cùng một câu hỏi</a:t>
            </a:r>
          </a:p>
          <a:p>
            <a:r>
              <a:rPr lang="en-US" dirty="0"/>
              <a:t>=&gt;</a:t>
            </a:r>
            <a:r>
              <a:rPr lang="vi-VN" dirty="0"/>
              <a:t> Cơ hội: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Chuẩn hóa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chi phí phát triển</a:t>
            </a:r>
          </a:p>
          <a:p>
            <a:r>
              <a:rPr lang="vi-VN" b="1" dirty="0"/>
              <a:t>b. Conflicts – Xung đột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A và KPI B mâu thuẫn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Phòng Kinh doanh vs. Phòng Tài chính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Số “đúng” theo hai cách khác nhau</a:t>
            </a:r>
          </a:p>
          <a:p>
            <a:r>
              <a:rPr lang="en-US" dirty="0"/>
              <a:t>* </a:t>
            </a:r>
            <a:r>
              <a:rPr lang="vi-VN" dirty="0"/>
              <a:t>Đây là </a:t>
            </a:r>
            <a:r>
              <a:rPr lang="vi-VN" b="1" dirty="0"/>
              <a:t>xung đột nghiệp vụ</a:t>
            </a:r>
            <a:r>
              <a:rPr lang="vi-VN" dirty="0"/>
              <a:t>, không phải lỗi kỹ thuật.</a:t>
            </a:r>
          </a:p>
          <a:p>
            <a:r>
              <a:rPr lang="en-US" dirty="0"/>
              <a:t>=&gt;</a:t>
            </a:r>
            <a:r>
              <a:rPr lang="vi-VN" dirty="0"/>
              <a:t> Phải giải quyết </a:t>
            </a:r>
            <a:r>
              <a:rPr lang="vi-VN" b="1" dirty="0"/>
              <a:t>trước khi viết code</a:t>
            </a:r>
            <a:r>
              <a:rPr lang="vi-VN" dirty="0"/>
              <a:t>, không phải sau.</a:t>
            </a:r>
          </a:p>
          <a:p>
            <a:r>
              <a:rPr lang="vi-VN" b="1" dirty="0"/>
              <a:t>c. Gaps – Khoảng trống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quan trọng nhưng: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có dữ liệu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dữ liệu không đủ chất lượng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logic chưa rõ</a:t>
            </a:r>
          </a:p>
          <a:p>
            <a:r>
              <a:rPr lang="en-US" dirty="0"/>
              <a:t>=&gt;</a:t>
            </a:r>
            <a:r>
              <a:rPr lang="vi-VN" dirty="0"/>
              <a:t> Gaps là đầu vào quan trọng cho: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profiling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gap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quyết định đầu tư thêm</a:t>
            </a:r>
          </a:p>
          <a:p>
            <a:r>
              <a:rPr lang="vi-VN" b="1" dirty="0"/>
              <a:t>(3) Tag – Gắn nhãn yêu cầu</a:t>
            </a:r>
          </a:p>
          <a:p>
            <a:r>
              <a:rPr lang="vi-VN" dirty="0"/>
              <a:t>Đây là bước </a:t>
            </a:r>
            <a:r>
              <a:rPr lang="vi-VN" b="1" dirty="0"/>
              <a:t>rất quan trọng nhưng hay bị bỏ qua</a:t>
            </a:r>
            <a:r>
              <a:rPr lang="vi-VN" dirty="0"/>
              <a:t>.</a:t>
            </a:r>
          </a:p>
          <a:p>
            <a:r>
              <a:rPr lang="vi-VN" b="1" dirty="0"/>
              <a:t>Vì sao cần tagging?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có thể có </a:t>
            </a:r>
            <a:r>
              <a:rPr lang="vi-VN" b="1" dirty="0"/>
              <a:t>hàng trăm yêu cầu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gắn nhãn → không thể: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ưu tiên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lập roadmap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quản lý scope</a:t>
            </a:r>
          </a:p>
          <a:p>
            <a:r>
              <a:rPr lang="vi-VN" b="1" dirty="0"/>
              <a:t>3. Các nhóm tag được khuyến nghị</a:t>
            </a:r>
          </a:p>
          <a:p>
            <a:r>
              <a:rPr lang="vi-VN" b="1" dirty="0"/>
              <a:t>a. Business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mang lại là gì?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tăng doanh thu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giảm chi phí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tuân thủ pháp lý</a:t>
            </a:r>
          </a:p>
          <a:p>
            <a:r>
              <a:rPr lang="en-US" dirty="0"/>
              <a:t>=&gt;</a:t>
            </a:r>
            <a:r>
              <a:rPr lang="vi-VN" dirty="0"/>
              <a:t> Phục vụ: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ROI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ưu tiên đầu tư</a:t>
            </a:r>
          </a:p>
          <a:p>
            <a:r>
              <a:rPr lang="vi-VN" b="1" dirty="0"/>
              <a:t>b. Business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thuộc quy trình nào?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Supply Chain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Finance</a:t>
            </a:r>
          </a:p>
          <a:p>
            <a:r>
              <a:rPr lang="en-US" dirty="0"/>
              <a:t>=&gt;</a:t>
            </a:r>
            <a:r>
              <a:rPr lang="vi-VN" dirty="0"/>
              <a:t>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tổ chức backlog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triển khai theo từng domain</a:t>
            </a:r>
          </a:p>
          <a:p>
            <a:r>
              <a:rPr lang="vi-VN" b="1" dirty="0"/>
              <a:t>c. Data Source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đến từ đâu?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ERP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CRM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Excel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External data</a:t>
            </a:r>
          </a:p>
          <a:p>
            <a:r>
              <a:rPr lang="en-US" dirty="0"/>
              <a:t>=&gt;</a:t>
            </a:r>
            <a:r>
              <a:rPr lang="vi-VN" dirty="0"/>
              <a:t>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đánh giá độ phức tạp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lập kế hoạch tích hợp</a:t>
            </a:r>
          </a:p>
          <a:p>
            <a:r>
              <a:rPr lang="vi-VN" b="1" dirty="0"/>
              <a:t>d. Analytical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Loại phân tích: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reporting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monitoring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diagnostic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predictive</a:t>
            </a:r>
          </a:p>
          <a:p>
            <a:r>
              <a:rPr lang="en-US" dirty="0"/>
              <a:t>=&gt;</a:t>
            </a:r>
            <a:r>
              <a:rPr lang="vi-VN" dirty="0"/>
              <a:t>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chọn công cụ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thiết kế kiến trúc phù hợp</a:t>
            </a:r>
          </a:p>
          <a:p>
            <a:r>
              <a:rPr lang="vi-VN" b="1" dirty="0"/>
              <a:t>4. Liên hệ Bloom’s Taxonomy</a:t>
            </a:r>
          </a:p>
          <a:p>
            <a:r>
              <a:rPr lang="vi-VN" dirty="0"/>
              <a:t>Giảng viên có thể nhấn mạnh: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Thu thập yêu cầu → </a:t>
            </a:r>
            <a:r>
              <a:rPr lang="vi-VN" b="1" dirty="0"/>
              <a:t>Hiểu (Understand)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Consolidation → </a:t>
            </a:r>
            <a:r>
              <a:rPr lang="vi-VN" b="1" dirty="0"/>
              <a:t>Phân tích &amp; Tổng hợp (Analyze &amp; Synthesize)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Sau đó mới đến: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thiết kế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đánh giá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triển khai</a:t>
            </a:r>
          </a:p>
          <a:p>
            <a:r>
              <a:rPr lang="vi-VN" dirty="0"/>
              <a:t> </a:t>
            </a:r>
            <a:r>
              <a:rPr lang="en-US" dirty="0"/>
              <a:t>=&gt; </a:t>
            </a:r>
            <a:r>
              <a:rPr lang="vi-VN" dirty="0"/>
              <a:t>Đây là bước </a:t>
            </a:r>
            <a:r>
              <a:rPr lang="vi-VN" b="1" dirty="0"/>
              <a:t>nâng trình tư duy</a:t>
            </a:r>
            <a:r>
              <a:rPr lang="vi-VN" dirty="0"/>
              <a:t> của sinh viên.</a:t>
            </a:r>
          </a:p>
          <a:p>
            <a:endParaRPr lang="en-US" b="1" dirty="0"/>
          </a:p>
          <a:p>
            <a:r>
              <a:rPr lang="vi-VN" b="1" dirty="0"/>
              <a:t>5. Rủi ro nếu bỏ qua bước này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Điều gì xảy ra nếu không consolidate?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Scope creep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KPI mâu thuẫn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BI “đáp ứng tất cả nhưng không làm hài lòng ai”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Dự án kéo dài và vượt ngân sách</a:t>
            </a:r>
          </a:p>
          <a:p>
            <a:endParaRPr lang="en-US" b="1" dirty="0"/>
          </a:p>
          <a:p>
            <a:r>
              <a:rPr lang="vi-VN" b="1" dirty="0"/>
              <a:t>6.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Luận</a:t>
            </a:r>
            <a:endParaRPr lang="vi-VN" b="1" dirty="0"/>
          </a:p>
          <a:p>
            <a:pPr lvl="1">
              <a:buFont typeface="+mj-lt"/>
              <a:buAutoNum type="arabicPeriod"/>
            </a:pPr>
            <a:r>
              <a:rPr lang="vi-VN" b="0" dirty="0"/>
              <a:t>BI thất bại không phải vì thiếu yêu cầu, mà vì quá nhiều yêu cầu chưa được tổ chức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Consolidation biến “ý kiến” thành “quyết định”</a:t>
            </a:r>
          </a:p>
          <a:p>
            <a:pPr lvl="1">
              <a:buFont typeface="+mj-lt"/>
              <a:buAutoNum type="arabicPeriod"/>
            </a:pPr>
            <a:r>
              <a:rPr lang="vi-VN" b="0" dirty="0"/>
              <a:t>Tagging là nền tảng của ưu tiên và chiến lược triển khai BI</a:t>
            </a:r>
          </a:p>
          <a:p>
            <a:pPr lvl="1"/>
            <a:r>
              <a:rPr lang="vi-VN" b="0" i="1" dirty="0"/>
              <a:t>“You don’t need more requirements.</a:t>
            </a:r>
            <a:br>
              <a:rPr lang="vi-VN" b="0" i="1" dirty="0"/>
            </a:br>
            <a:r>
              <a:rPr lang="vi-VN" b="0" i="1" dirty="0"/>
              <a:t>You need clearer, structured, and prioritized ones.”</a:t>
            </a:r>
            <a:endParaRPr lang="vi-VN" b="0" dirty="0"/>
          </a:p>
          <a:p>
            <a:r>
              <a:rPr lang="vi-VN" b="1" dirty="0"/>
              <a:t>7. Gợi ý bài tập / thảo luận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Bài tập nhóm: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Cho 20 yêu cầu BI thô → yêu cầu sinh viên: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vi-VN" dirty="0"/>
              <a:t>merge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vi-VN" dirty="0"/>
              <a:t>phát hiện conflict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vi-VN" dirty="0"/>
              <a:t>gắn tag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vi-VN" dirty="0"/>
              <a:t>đề xuất thứ tự ưu tiên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Câu hỏi thi: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Vì sao tagging quan trọng trong BI requirements?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Phân biệt overlap và conflict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Making Trade-offs: Prioritizing Requirements</a:t>
            </a:r>
          </a:p>
          <a:p>
            <a:r>
              <a:rPr lang="vi-VN" b="1" dirty="0"/>
              <a:t>(Ưu tiên yêu cầu – Nghệ thuật ra quyết định trong BI)</a:t>
            </a:r>
          </a:p>
          <a:p>
            <a:r>
              <a:rPr lang="vi-VN" b="1" dirty="0"/>
              <a:t>1. Thông điệp cốt lõi của slide</a:t>
            </a:r>
          </a:p>
          <a:p>
            <a:r>
              <a:rPr lang="vi-VN" i="1" dirty="0"/>
              <a:t>Nếu tất cả yêu cầu đều “quan trọng”, vậy cái nào làm trước?</a:t>
            </a:r>
            <a:endParaRPr lang="vi-VN" dirty="0"/>
          </a:p>
          <a:p>
            <a:r>
              <a:rPr lang="en-US" dirty="0"/>
              <a:t>=&gt; </a:t>
            </a:r>
            <a:r>
              <a:rPr lang="vi-VN" b="1" dirty="0"/>
              <a:t>Không dự án BI nào có đủ thời gian, ngân sách và nguồn lực để làm tất cả cùng lúc.</a:t>
            </a:r>
            <a:br>
              <a:rPr lang="vi-VN" dirty="0"/>
            </a:br>
            <a:r>
              <a:rPr lang="vi-VN" dirty="0"/>
              <a:t>Vì vậy, </a:t>
            </a:r>
            <a:r>
              <a:rPr lang="vi-VN" b="1" dirty="0"/>
              <a:t>ưu tiên (prioritization)</a:t>
            </a:r>
            <a:r>
              <a:rPr lang="vi-VN" dirty="0"/>
              <a:t> là kỹ năng sống còn.</a:t>
            </a:r>
          </a:p>
          <a:p>
            <a:r>
              <a:rPr lang="vi-VN" b="1" dirty="0"/>
              <a:t>2. Vì sao phải chấp nhận trade-off?</a:t>
            </a:r>
          </a:p>
          <a:p>
            <a:r>
              <a:rPr lang="vi-VN" dirty="0"/>
              <a:t>Trade-off nghĩa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chọn cái này → </a:t>
            </a:r>
            <a:r>
              <a:rPr lang="vi-VN" b="1" dirty="0"/>
              <a:t>trì hoãn hoặc bỏ cái khác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tối ưu theo </a:t>
            </a:r>
            <a:r>
              <a:rPr lang="vi-VN" b="1" dirty="0"/>
              <a:t>giá trị</a:t>
            </a:r>
            <a:r>
              <a:rPr lang="vi-VN" dirty="0"/>
              <a:t>, không theo </a:t>
            </a:r>
            <a:r>
              <a:rPr lang="vi-VN" b="1" dirty="0"/>
              <a:t>ý kiến cá nhân</a:t>
            </a:r>
            <a:endParaRPr lang="vi-VN" dirty="0"/>
          </a:p>
          <a:p>
            <a:r>
              <a:rPr lang="en-US" dirty="0"/>
              <a:t>** </a:t>
            </a:r>
            <a:r>
              <a:rPr lang="vi-VN" dirty="0"/>
              <a:t>Trong BI: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thêm 1 dashboard = thêm dữ liệu, ETL, kiểm thử,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chi phí không chỉ là code, mà là </a:t>
            </a:r>
            <a:r>
              <a:rPr lang="vi-VN" b="1" dirty="0"/>
              <a:t>độ phức tạp tăng theo cấp số nhân</a:t>
            </a:r>
            <a:endParaRPr lang="vi-VN" dirty="0"/>
          </a:p>
          <a:p>
            <a:r>
              <a:rPr lang="vi-VN" b="1" dirty="0"/>
              <a:t>3. Mô hình ưu tiên 4 mức (MoSCoW mở rộng)</a:t>
            </a:r>
          </a:p>
          <a:p>
            <a:r>
              <a:rPr lang="vi-VN" b="1" dirty="0"/>
              <a:t>(1) Must-Have – Bắt buộc phải có</a:t>
            </a:r>
          </a:p>
          <a:p>
            <a:r>
              <a:rPr lang="vi-VN" b="1" dirty="0"/>
              <a:t>Định nghĩa: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</a:t>
            </a:r>
            <a:r>
              <a:rPr lang="vi-VN" b="1" dirty="0"/>
              <a:t>tối quan trọng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→ </a:t>
            </a:r>
            <a:r>
              <a:rPr lang="vi-VN" b="1" dirty="0"/>
              <a:t>hệ thống không sử dụng được</a:t>
            </a:r>
            <a:endParaRPr lang="vi-VN" dirty="0"/>
          </a:p>
          <a:p>
            <a:r>
              <a:rPr lang="en-US" dirty="0"/>
              <a:t>* </a:t>
            </a:r>
            <a:r>
              <a:rPr lang="vi-VN" dirty="0"/>
              <a:t>Ví dụ trong BI: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cốt lõi để báo cáo cho ban lãnh đạo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doanh thu chính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 tắc bảo mật / tuân thủ pháp lý</a:t>
            </a:r>
          </a:p>
          <a:p>
            <a:r>
              <a:rPr lang="en-US" dirty="0"/>
              <a:t>=&gt; </a:t>
            </a:r>
            <a:r>
              <a:rPr lang="vi-VN" dirty="0"/>
              <a:t>Nếu thiếu Must-Have: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dự án </a:t>
            </a:r>
            <a:r>
              <a:rPr lang="vi-VN" b="1" dirty="0"/>
              <a:t>thất bại ngay từ ngày đầu go-live</a:t>
            </a:r>
            <a:endParaRPr lang="vi-VN" dirty="0"/>
          </a:p>
          <a:p>
            <a:r>
              <a:rPr lang="vi-VN" b="1" dirty="0"/>
              <a:t>(2) Should-Have – Nên có</a:t>
            </a:r>
          </a:p>
          <a:p>
            <a:r>
              <a:rPr lang="vi-VN" b="1" dirty="0"/>
              <a:t>Định nghĩa: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Mang lại </a:t>
            </a:r>
            <a:r>
              <a:rPr lang="vi-VN" b="1" dirty="0"/>
              <a:t>giá trị lớn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Nhưng </a:t>
            </a:r>
            <a:r>
              <a:rPr lang="vi-VN" b="1" dirty="0"/>
              <a:t>có thể trì hoãn</a:t>
            </a:r>
            <a:r>
              <a:rPr lang="vi-VN" dirty="0"/>
              <a:t> sang phase sau</a:t>
            </a:r>
          </a:p>
          <a:p>
            <a:r>
              <a:rPr lang="en-US" dirty="0"/>
              <a:t>*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Drill-down chi tiết hơn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Dashboard cho cấp quản lý trung gian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Tối ưu hiệu năng nâng cao</a:t>
            </a:r>
          </a:p>
          <a:p>
            <a:r>
              <a:rPr lang="en-US" dirty="0"/>
              <a:t>=&gt; </a:t>
            </a:r>
            <a:r>
              <a:rPr lang="vi-VN" dirty="0"/>
              <a:t>Đây là: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ứng viên lý tưởng cho Phase 2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giúp roadmap có “đất diễn”</a:t>
            </a:r>
          </a:p>
          <a:p>
            <a:r>
              <a:rPr lang="vi-VN" b="1" dirty="0"/>
              <a:t>(3) Nice-to-Have – Có thì tốt</a:t>
            </a:r>
          </a:p>
          <a:p>
            <a:r>
              <a:rPr lang="vi-VN" b="1" dirty="0"/>
              <a:t>Định nghĩa: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Cải thiện trải nghiệm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ảnh hưởng đến giá trị cốt lõi</a:t>
            </a:r>
          </a:p>
          <a:p>
            <a:r>
              <a:rPr lang="en-US" dirty="0"/>
              <a:t>*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Hiệu ứng UI đẹp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Tùy biến màu sắc nâng cao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Biểu đồ “cho vui mắt”</a:t>
            </a:r>
          </a:p>
          <a:p>
            <a:r>
              <a:rPr lang="en-US" dirty="0"/>
              <a:t>***</a:t>
            </a:r>
            <a:r>
              <a:rPr lang="vi-VN" dirty="0"/>
              <a:t> Cảnh báo cho sinh viên:</a:t>
            </a:r>
          </a:p>
          <a:p>
            <a:r>
              <a:rPr lang="vi-VN" dirty="0"/>
              <a:t>Nice-to-have rất dễ “ngụy trang” thành must-have nếu không kiểm soát tốt.</a:t>
            </a:r>
          </a:p>
          <a:p>
            <a:r>
              <a:rPr lang="vi-VN" b="1" dirty="0"/>
              <a:t>(4) Forget-About-It – Bỏ (ít nhất là hiện tại)</a:t>
            </a:r>
          </a:p>
          <a:p>
            <a:r>
              <a:rPr lang="vi-VN" b="1" dirty="0"/>
              <a:t>Định nghĩa: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Ngoài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Giá trị thấp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phù hợp giai đoạn này</a:t>
            </a:r>
          </a:p>
          <a:p>
            <a:r>
              <a:rPr lang="en-US" dirty="0"/>
              <a:t>* </a:t>
            </a:r>
            <a:r>
              <a:rPr lang="vi-VN" dirty="0"/>
              <a:t>Quan trọng: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Bỏ không có nghĩa là sai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Bỏ là </a:t>
            </a:r>
            <a:r>
              <a:rPr lang="vi-VN" b="1" dirty="0"/>
              <a:t>quyết định chiến lược</a:t>
            </a:r>
            <a:r>
              <a:rPr lang="vi-VN" dirty="0"/>
              <a:t>, không phải thất bại</a:t>
            </a:r>
          </a:p>
          <a:p>
            <a:r>
              <a:rPr lang="en-US" dirty="0"/>
              <a:t>=&gt; </a:t>
            </a:r>
            <a:r>
              <a:rPr lang="vi-VN" dirty="0"/>
              <a:t>Việc nói “không”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vệ timeline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vệ chất lượng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vệ niềm tin stakeholder</a:t>
            </a:r>
          </a:p>
          <a:p>
            <a:r>
              <a:rPr lang="vi-VN" b="1" dirty="0"/>
              <a:t>4. Reality Check – Thông điệp thực tế</a:t>
            </a:r>
          </a:p>
          <a:p>
            <a:r>
              <a:rPr lang="vi-VN" dirty="0"/>
              <a:t>Dòng cuối slide rất quan trọng cho sinh viên:</a:t>
            </a:r>
          </a:p>
          <a:p>
            <a:r>
              <a:rPr lang="vi-VN" b="1" dirty="0"/>
              <a:t>“Not everything can be done in one project phase.”</a:t>
            </a:r>
            <a:endParaRPr lang="vi-VN" dirty="0"/>
          </a:p>
          <a:p>
            <a:r>
              <a:rPr lang="vi-VN" dirty="0"/>
              <a:t>Giải thích rõ: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thành công là: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 dirty="0"/>
              <a:t>đưa giá trị sớm</a:t>
            </a:r>
            <a:endParaRPr lang="vi-V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 dirty="0"/>
              <a:t>xây niềm tin</a:t>
            </a:r>
            <a:endParaRPr lang="vi-V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rồi mới mở rộng</a:t>
            </a:r>
          </a:p>
          <a:p>
            <a:r>
              <a:rPr lang="vi-VN" dirty="0"/>
              <a:t>Không phải: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xây “siêu hệ thống” trong 1 lần</a:t>
            </a:r>
          </a:p>
          <a:p>
            <a:r>
              <a:rPr lang="vi-VN" b="1" dirty="0"/>
              <a:t>5. Liên hệ với quản lý dự án BI</a:t>
            </a:r>
          </a:p>
          <a:p>
            <a:r>
              <a:rPr lang="vi-VN" dirty="0"/>
              <a:t>Ưu tiên yêu cầu giúp: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lập </a:t>
            </a:r>
            <a:r>
              <a:rPr lang="vi-VN" b="1" dirty="0"/>
              <a:t>roadmap nhiều giai đoạn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quản lý kỳ vọng stakeholder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scope creep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gắn chặt BI với ROI</a:t>
            </a:r>
          </a:p>
          <a:p>
            <a:r>
              <a:rPr lang="vi-VN" b="1" dirty="0"/>
              <a:t>6. Liên hệ Bloom’s Taxonomy</a:t>
            </a:r>
          </a:p>
          <a:p>
            <a:r>
              <a:rPr lang="vi-VN" dirty="0"/>
              <a:t>Slide này rèn cho sinh viên: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Evaluate</a:t>
            </a:r>
            <a:r>
              <a:rPr lang="vi-VN" dirty="0"/>
              <a:t>: so sánh giá trị các yêu cầu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Decide</a:t>
            </a:r>
            <a:r>
              <a:rPr lang="vi-VN" dirty="0"/>
              <a:t>: chấp nhận đánh đổi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Justify</a:t>
            </a:r>
            <a:r>
              <a:rPr lang="vi-VN" dirty="0"/>
              <a:t>: giải thích vì sao ưu tiên như vậy</a:t>
            </a:r>
          </a:p>
          <a:p>
            <a:r>
              <a:rPr lang="en-US" dirty="0"/>
              <a:t>=&gt;</a:t>
            </a:r>
            <a:r>
              <a:rPr lang="vi-VN" dirty="0"/>
              <a:t> Đây là kỹ năng </a:t>
            </a:r>
            <a:r>
              <a:rPr lang="vi-VN" b="1" dirty="0"/>
              <a:t>kỹ sư BI / Business Analyst chuyên nghiệp</a:t>
            </a:r>
            <a:r>
              <a:rPr lang="vi-VN" dirty="0"/>
              <a:t> cần có.</a:t>
            </a:r>
          </a:p>
          <a:p>
            <a:r>
              <a:rPr lang="vi-VN" b="1" dirty="0"/>
              <a:t>7. Gợi ý ví dụ lớp học</a:t>
            </a:r>
          </a:p>
          <a:p>
            <a:r>
              <a:rPr lang="vi-VN" b="1" dirty="0"/>
              <a:t>Ví dụ nhanh:</a:t>
            </a:r>
          </a:p>
          <a:p>
            <a:r>
              <a:rPr lang="vi-VN" dirty="0"/>
              <a:t>Cho sinh viên 10 yêu cầu BI: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doanh thu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Forecast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Drill-down theo khách hàng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Dashboard mobile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UI animation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Export Excel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Machine Learning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quality alert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Security row-level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Custom theme</a:t>
            </a:r>
          </a:p>
          <a:p>
            <a:r>
              <a:rPr lang="en-US" dirty="0"/>
              <a:t>=&gt; </a:t>
            </a:r>
            <a:r>
              <a:rPr lang="vi-VN" dirty="0"/>
              <a:t>Yêu cầu: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phân loại theo 4 mức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giải thích lý 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vệ quyết định trước lớp</a:t>
            </a:r>
          </a:p>
          <a:p>
            <a:r>
              <a:rPr lang="vi-VN" b="1" dirty="0"/>
              <a:t>8.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Luận</a:t>
            </a:r>
            <a:endParaRPr lang="vi-VN" b="1" dirty="0"/>
          </a:p>
          <a:p>
            <a:r>
              <a:rPr lang="vi-VN" b="0" dirty="0"/>
              <a:t>“BI thất bại không phải vì thiếu tính năng,</a:t>
            </a:r>
            <a:br>
              <a:rPr lang="vi-VN" b="0" dirty="0"/>
            </a:br>
            <a:r>
              <a:rPr lang="vi-VN" b="0" dirty="0"/>
              <a:t>mà vì không biết cái gì cần làm trước.”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Contract: Linking Priorities to Scope</a:t>
            </a:r>
          </a:p>
          <a:p>
            <a:r>
              <a:rPr lang="vi-VN" b="1" dirty="0"/>
              <a:t>(Hợp đồng ngầm giữa Business và IT)</a:t>
            </a:r>
          </a:p>
          <a:p>
            <a:r>
              <a:rPr lang="vi-VN" b="1" dirty="0"/>
              <a:t>1. Ý tưởng trung tâm của slide</a:t>
            </a:r>
          </a:p>
          <a:p>
            <a:r>
              <a:rPr lang="vi-VN" dirty="0"/>
              <a:t>Bạn có thể mở đầu bằng thông điệp mạnh:</a:t>
            </a:r>
          </a:p>
          <a:p>
            <a:r>
              <a:rPr lang="vi-VN" b="1" dirty="0"/>
              <a:t>Trong BI, tài liệu yêu cầu được ký duyệt chính là “hợp đồng” — không phải pháp lý, mà là hợp đồng về kỳ vọng.</a:t>
            </a:r>
            <a:endParaRPr lang="vi-VN" dirty="0"/>
          </a:p>
          <a:p>
            <a:r>
              <a:rPr lang="vi-VN" dirty="0"/>
              <a:t>Slide này không nói về code hay công cụ, mà nói về: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quyền quyết định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trách nhiệm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ranh giới phạm vi (scope boundary)</a:t>
            </a:r>
            <a:endParaRPr lang="vi-VN" dirty="0"/>
          </a:p>
          <a:p>
            <a:r>
              <a:rPr lang="vi-VN" b="1" dirty="0"/>
              <a:t>2. Điểm gãy quan trọng của dự án</a:t>
            </a:r>
          </a:p>
          <a:p>
            <a:r>
              <a:rPr lang="vi-VN" b="1" dirty="0"/>
              <a:t>Khi nào vấn đề xuất hiện?</a:t>
            </a:r>
          </a:p>
          <a:p>
            <a:r>
              <a:rPr lang="vi-VN" b="1" dirty="0"/>
              <a:t>Khi tổng các yêu cầu “Must-have” &gt; ngân sách hoặc thời gian cho phép</a:t>
            </a:r>
            <a:endParaRPr lang="vi-VN" dirty="0"/>
          </a:p>
          <a:p>
            <a:r>
              <a:rPr lang="en-US" dirty="0"/>
              <a:t>=&gt;</a:t>
            </a:r>
            <a:r>
              <a:rPr lang="vi-VN" dirty="0"/>
              <a:t> Đây là </a:t>
            </a:r>
            <a:r>
              <a:rPr lang="vi-VN" b="1" dirty="0"/>
              <a:t>decision point</a:t>
            </a:r>
            <a:r>
              <a:rPr lang="vi-VN" dirty="0"/>
              <a:t> (điểm buộc phải ra quyết định), không thể né tránh.</a:t>
            </a:r>
          </a:p>
          <a:p>
            <a:r>
              <a:rPr lang="en-US" dirty="0"/>
              <a:t>** </a:t>
            </a:r>
            <a:r>
              <a:rPr lang="vi-VN" dirty="0"/>
              <a:t>Lỗi phổ biến của sinh viên và người mới: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cố “ôm hết”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hy vọng “đội kỹ thuật sẽ xoay được”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hoặc trì hoãn quyết định đến giai đoạn triển khai</a:t>
            </a:r>
          </a:p>
          <a:p>
            <a:r>
              <a:rPr lang="en-US" dirty="0"/>
              <a:t>=&gt; </a:t>
            </a:r>
            <a:r>
              <a:rPr lang="vi-VN" dirty="0"/>
              <a:t>Hệ quả: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expectation failure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trễ tiến độ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đội dự án bị đổ lỗi</a:t>
            </a:r>
            <a:endParaRPr lang="vi-VN" dirty="0"/>
          </a:p>
          <a:p>
            <a:r>
              <a:rPr lang="vi-VN" b="1" dirty="0"/>
              <a:t>3. Vì sao phải xử lý gap này càng sớm càng tốt?</a:t>
            </a:r>
          </a:p>
          <a:p>
            <a:r>
              <a:rPr lang="vi-VN" dirty="0"/>
              <a:t>Nếu </a:t>
            </a:r>
            <a:r>
              <a:rPr lang="vi-VN" b="1" dirty="0"/>
              <a:t>không chốt sớm</a:t>
            </a:r>
            <a:r>
              <a:rPr lang="vi-VN" dirty="0"/>
              <a:t>, sẽ xảy ra: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scope creep âm thầm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ngân sách bị “ăn mòn”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mỗi bên có </a:t>
            </a:r>
            <a:r>
              <a:rPr lang="vi-VN" b="1" dirty="0"/>
              <a:t>một định nghĩa thành công khác nhau</a:t>
            </a:r>
            <a:endParaRPr lang="vi-VN" dirty="0"/>
          </a:p>
          <a:p>
            <a:r>
              <a:rPr lang="en-US" dirty="0"/>
              <a:t>*** </a:t>
            </a:r>
            <a:r>
              <a:rPr lang="vi-VN" dirty="0"/>
              <a:t>Nhấn mạnh với sinh viên:</a:t>
            </a:r>
          </a:p>
          <a:p>
            <a:r>
              <a:rPr lang="vi-VN" dirty="0"/>
              <a:t>Dự án BI thất bại rất hiếm khi vì công nghệ —</a:t>
            </a:r>
            <a:r>
              <a:rPr lang="en-US" dirty="0"/>
              <a:t> </a:t>
            </a:r>
            <a:r>
              <a:rPr lang="vi-VN" dirty="0"/>
              <a:t>mà vì </a:t>
            </a:r>
            <a:r>
              <a:rPr lang="vi-VN" b="1" dirty="0"/>
              <a:t>không ai dám nói “chúng ta không thể làm tất cả”.</a:t>
            </a:r>
            <a:endParaRPr lang="vi-VN" dirty="0"/>
          </a:p>
          <a:p>
            <a:r>
              <a:rPr lang="vi-VN" b="1" dirty="0"/>
              <a:t>4. Các lựa chọn chiến lược (Strategic Options)</a:t>
            </a:r>
          </a:p>
          <a:p>
            <a:r>
              <a:rPr lang="vi-VN" dirty="0"/>
              <a:t>Slide đưa ra </a:t>
            </a:r>
            <a:r>
              <a:rPr lang="vi-VN" b="1" dirty="0"/>
              <a:t>4 lựa chọn hợp lệ</a:t>
            </a:r>
            <a:r>
              <a:rPr lang="vi-VN" dirty="0"/>
              <a:t>, và </a:t>
            </a:r>
            <a:r>
              <a:rPr lang="vi-VN" b="1" dirty="0"/>
              <a:t>không có lựa chọn “đúng tuyệt đối”</a:t>
            </a:r>
            <a:r>
              <a:rPr lang="vi-VN" dirty="0"/>
              <a:t>.</a:t>
            </a:r>
          </a:p>
          <a:p>
            <a:r>
              <a:rPr lang="vi-VN" b="1" dirty="0"/>
              <a:t>(1) Reduce Scope – Giảm phạm vi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Hoãn hoặc loại bỏ các yêu cầu </a:t>
            </a:r>
            <a:r>
              <a:rPr lang="vi-VN" b="1" dirty="0"/>
              <a:t>không thật sự critical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Thường áp dụng cho: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Should-have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Nice-to-have</a:t>
            </a:r>
          </a:p>
          <a:p>
            <a:r>
              <a:rPr lang="en-US" dirty="0"/>
              <a:t>* </a:t>
            </a:r>
            <a:r>
              <a:rPr lang="vi-VN" dirty="0"/>
              <a:t>Đây là lựa chọn: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phổ biến nhất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thực tế nhất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và khó nhất về mặt chính trị</a:t>
            </a:r>
          </a:p>
          <a:p>
            <a:r>
              <a:rPr lang="vi-VN" b="1" dirty="0"/>
              <a:t>(2) Phase Delivery – Chia giai đoạn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Giữ scope tổng thể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nhưng phân bổ theo </a:t>
            </a:r>
            <a:r>
              <a:rPr lang="vi-VN" b="1" dirty="0"/>
              <a:t>roadmap nhiều năm</a:t>
            </a:r>
            <a:endParaRPr lang="vi-VN" dirty="0"/>
          </a:p>
          <a:p>
            <a:r>
              <a:rPr lang="en-US" dirty="0"/>
              <a:t>=&gt; </a:t>
            </a:r>
            <a:r>
              <a:rPr lang="vi-VN" dirty="0"/>
              <a:t>Cách nói chuẩn:</a:t>
            </a:r>
          </a:p>
          <a:p>
            <a:r>
              <a:rPr lang="vi-VN" dirty="0"/>
              <a:t>“Chúng ta </a:t>
            </a:r>
            <a:r>
              <a:rPr lang="vi-VN" b="1" dirty="0"/>
              <a:t>không từ chối</a:t>
            </a:r>
            <a:r>
              <a:rPr lang="vi-VN" dirty="0"/>
              <a:t>, chúng ta </a:t>
            </a:r>
            <a:r>
              <a:rPr lang="vi-VN" b="1" dirty="0"/>
              <a:t>trì hoãn có chiến lược</a:t>
            </a:r>
            <a:r>
              <a:rPr lang="vi-VN" dirty="0"/>
              <a:t>.”</a:t>
            </a:r>
          </a:p>
          <a:p>
            <a:r>
              <a:rPr lang="en-US" dirty="0"/>
              <a:t>=&gt; </a:t>
            </a:r>
            <a:r>
              <a:rPr lang="vi-VN" dirty="0"/>
              <a:t>Đây là tư duy </a:t>
            </a:r>
            <a:r>
              <a:rPr lang="vi-VN" b="1" dirty="0"/>
              <a:t>program</a:t>
            </a:r>
            <a:r>
              <a:rPr lang="vi-VN" dirty="0"/>
              <a:t>, không phải </a:t>
            </a:r>
            <a:r>
              <a:rPr lang="vi-VN" b="1" dirty="0"/>
              <a:t>project đơn lẻ</a:t>
            </a:r>
            <a:r>
              <a:rPr lang="vi-VN" dirty="0"/>
              <a:t>.</a:t>
            </a:r>
          </a:p>
          <a:p>
            <a:r>
              <a:rPr lang="vi-VN" b="1" dirty="0"/>
              <a:t>(3) Increase Budget – Tăng ngân sách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Chỉ hợp lý khi: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giá trị kinh doanh đã được chứng minh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sponsor cam kết rõ ràng</a:t>
            </a:r>
          </a:p>
          <a:p>
            <a:r>
              <a:rPr lang="en-US" dirty="0"/>
              <a:t>***</a:t>
            </a:r>
            <a:r>
              <a:rPr lang="vi-VN" dirty="0"/>
              <a:t> Không nên: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dùng như “giải pháp mặc định”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hoặc khi business case còn mơ hồ</a:t>
            </a:r>
          </a:p>
          <a:p>
            <a:r>
              <a:rPr lang="vi-VN" b="1" dirty="0"/>
              <a:t>(4) Extend Schedule – Kéo dài thời gian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Chấp nhận delivery chậm hơn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đổi lại giữ đủ Must-have</a:t>
            </a:r>
          </a:p>
          <a:p>
            <a:r>
              <a:rPr lang="en-US" dirty="0"/>
              <a:t>* </a:t>
            </a:r>
            <a:r>
              <a:rPr lang="vi-VN" dirty="0"/>
              <a:t>Rủi ro: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mất momentum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thay đổi yêu cầu giữa chừng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stakeholder “đổi ý”</a:t>
            </a:r>
          </a:p>
          <a:p>
            <a:r>
              <a:rPr lang="vi-VN" b="1" dirty="0"/>
              <a:t>5. Vai trò của ký duyệt (Sign-off)</a:t>
            </a:r>
          </a:p>
          <a:p>
            <a:r>
              <a:rPr lang="vi-VN" b="1" dirty="0"/>
              <a:t>Dòng cuối slide là “linh hồn” của nội dung:</a:t>
            </a:r>
          </a:p>
          <a:p>
            <a:r>
              <a:rPr lang="vi-VN" b="1" dirty="0"/>
              <a:t>Formal business sign-off acts as a contract between business and IT</a:t>
            </a:r>
            <a:endParaRPr lang="vi-VN" dirty="0"/>
          </a:p>
          <a:p>
            <a:r>
              <a:rPr lang="vi-VN" dirty="0"/>
              <a:t>Giải thích cho sinh viên: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ký duyệt không phải thủ tục hành chính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mà là: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chốt scope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chốt ưu tiên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chốt trách nhiệm</a:t>
            </a:r>
          </a:p>
          <a:p>
            <a:r>
              <a:rPr lang="en-US" dirty="0"/>
              <a:t>* </a:t>
            </a:r>
            <a:r>
              <a:rPr lang="vi-VN" dirty="0"/>
              <a:t>Sau khi ký: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thêm yêu cầu → </a:t>
            </a:r>
            <a:r>
              <a:rPr lang="vi-VN" b="1" dirty="0"/>
              <a:t>change request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change request → </a:t>
            </a:r>
            <a:r>
              <a:rPr lang="vi-VN" b="1" dirty="0"/>
              <a:t>đàm phán lại scope / time / cost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6. Kết nối với thực tế doanh nghiệp</a:t>
            </a:r>
          </a:p>
          <a:p>
            <a:r>
              <a:rPr lang="vi-VN" b="1" dirty="0"/>
              <a:t>Nếu không có sign-off, dự án nào cũng “đúng” — cho đến khi thất bại.</a:t>
            </a:r>
            <a:endParaRPr lang="vi-VN" dirty="0"/>
          </a:p>
          <a:p>
            <a:r>
              <a:rPr lang="vi-VN" dirty="0"/>
              <a:t>Hoặc:</a:t>
            </a:r>
          </a:p>
          <a:p>
            <a:r>
              <a:rPr lang="vi-VN" b="1" dirty="0"/>
              <a:t>Scope không được bảo vệ thì đội kỹ thuật luôn thua,</a:t>
            </a:r>
            <a:br>
              <a:rPr lang="vi-VN" b="1" dirty="0"/>
            </a:br>
            <a:r>
              <a:rPr lang="vi-VN" b="1" dirty="0"/>
              <a:t>còn business thì luôn thất vọng.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7. Liên hệ kiến thức quản lý dự án</a:t>
            </a:r>
          </a:p>
          <a:p>
            <a:r>
              <a:rPr lang="vi-VN" dirty="0"/>
              <a:t>Slide này kết nối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Triple Constraint: </a:t>
            </a:r>
            <a:r>
              <a:rPr lang="vi-VN" b="1" dirty="0"/>
              <a:t>Scope – Time – Cost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Change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Stakeholder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Governance</a:t>
            </a:r>
          </a:p>
          <a:p>
            <a:endParaRPr lang="en-US" b="1" dirty="0"/>
          </a:p>
          <a:p>
            <a:r>
              <a:rPr lang="vi-VN" b="1" dirty="0"/>
              <a:t>8. Gợi ý bài tập trên lớp</a:t>
            </a:r>
          </a:p>
          <a:p>
            <a:r>
              <a:rPr lang="vi-VN" b="1" dirty="0"/>
              <a:t>Tình huống: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10 Must-have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ngân sách chỉ đủ cho 7</a:t>
            </a:r>
          </a:p>
          <a:p>
            <a:r>
              <a:rPr lang="en-US" dirty="0"/>
              <a:t>=&gt; </a:t>
            </a:r>
            <a:r>
              <a:rPr lang="vi-VN" dirty="0"/>
              <a:t>Yêu cầu sinh viên:</a:t>
            </a:r>
          </a:p>
          <a:p>
            <a:pPr lvl="1">
              <a:buFont typeface="+mj-lt"/>
              <a:buAutoNum type="arabicPeriod"/>
            </a:pPr>
            <a:r>
              <a:rPr lang="vi-VN" dirty="0"/>
              <a:t>Đề xuất </a:t>
            </a:r>
            <a:r>
              <a:rPr lang="vi-VN" b="1" dirty="0"/>
              <a:t>1 phương án chiến lược</a:t>
            </a:r>
            <a:endParaRPr lang="vi-VN" dirty="0"/>
          </a:p>
          <a:p>
            <a:pPr lvl="1">
              <a:buFont typeface="+mj-lt"/>
              <a:buAutoNum type="arabicPeriod"/>
            </a:pPr>
            <a:r>
              <a:rPr lang="vi-VN" dirty="0"/>
              <a:t>Giải thích </a:t>
            </a:r>
            <a:r>
              <a:rPr lang="vi-VN" b="1" dirty="0"/>
              <a:t>tại sao không chọn các phương án còn lại</a:t>
            </a:r>
            <a:endParaRPr lang="vi-VN" dirty="0"/>
          </a:p>
          <a:p>
            <a:pPr lvl="1">
              <a:buFont typeface="+mj-lt"/>
              <a:buAutoNum type="arabicPeriod"/>
            </a:pPr>
            <a:r>
              <a:rPr lang="vi-VN" dirty="0"/>
              <a:t>Viết 3 dòng “biên bản ký duyệt” giả định</a:t>
            </a:r>
          </a:p>
          <a:p>
            <a:endParaRPr lang="en-US" b="1" dirty="0"/>
          </a:p>
          <a:p>
            <a:r>
              <a:rPr lang="vi-VN" b="1" dirty="0"/>
              <a:t>9. Câu chốt cho sinh viên</a:t>
            </a:r>
          </a:p>
          <a:p>
            <a:pPr lvl="1"/>
            <a:r>
              <a:rPr lang="vi-VN" b="0" dirty="0"/>
              <a:t>“Scope is not a technical problem.</a:t>
            </a:r>
            <a:br>
              <a:rPr lang="vi-VN" b="0" dirty="0"/>
            </a:br>
            <a:r>
              <a:rPr lang="vi-VN" b="0" dirty="0"/>
              <a:t>It is a negotiation problem.”</a:t>
            </a:r>
          </a:p>
          <a:p>
            <a:pPr lvl="1"/>
            <a:r>
              <a:rPr lang="vi-VN" b="0" dirty="0"/>
              <a:t>hoặc:</a:t>
            </a:r>
          </a:p>
          <a:p>
            <a:pPr lvl="1"/>
            <a:r>
              <a:rPr lang="vi-VN" b="0" dirty="0"/>
              <a:t>“Signing off requirements means agreeing not only on what will be built,</a:t>
            </a:r>
            <a:br>
              <a:rPr lang="vi-VN" b="0" dirty="0"/>
            </a:br>
            <a:r>
              <a:rPr lang="vi-VN" b="0" dirty="0"/>
              <a:t>but also on what will not.”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Art of the Interview: Gathering Insights</a:t>
            </a:r>
          </a:p>
          <a:p>
            <a:r>
              <a:rPr lang="vi-VN" b="1" dirty="0"/>
              <a:t>(Nghệ thuật phỏng vấn để thu thập insight)</a:t>
            </a:r>
          </a:p>
          <a:p>
            <a:r>
              <a:rPr lang="vi-VN" b="1" dirty="0"/>
              <a:t>1. Thông điệp cốt lõi của slide</a:t>
            </a:r>
          </a:p>
          <a:p>
            <a:r>
              <a:rPr lang="vi-VN" dirty="0"/>
              <a:t>Bạn có thể mở đầu bằng câu này cho sinh viên:</a:t>
            </a:r>
          </a:p>
          <a:p>
            <a:r>
              <a:rPr lang="vi-VN" b="1" dirty="0"/>
              <a:t>Phỏng vấn trong BI không phải để hỏi “muốn gì”, mà để hiểu “đang quyết định như thế nào”.</a:t>
            </a:r>
            <a:endParaRPr lang="vi-VN" dirty="0"/>
          </a:p>
          <a:p>
            <a:r>
              <a:rPr lang="vi-VN" dirty="0"/>
              <a:t>Slide này nhấn mạnh rằng: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chất lượng yêu cầu BI </a:t>
            </a:r>
            <a:r>
              <a:rPr lang="vi-VN" b="1" dirty="0"/>
              <a:t>phụ thuộc trực tiếp</a:t>
            </a:r>
            <a:r>
              <a:rPr lang="vi-VN" dirty="0"/>
              <a:t> vào chất lượng câu hỏi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câu hỏi sai → yêu cầu sai → hệ thống BI thất bại</a:t>
            </a:r>
          </a:p>
          <a:p>
            <a:r>
              <a:rPr lang="vi-VN" b="1" dirty="0"/>
              <a:t>2. Đối tượng phỏng vấn (Target Audience)</a:t>
            </a:r>
          </a:p>
          <a:p>
            <a:r>
              <a:rPr lang="vi-VN" b="1" dirty="0"/>
              <a:t>Vì sao không thể chỉ phỏng vấn một nhóm?</a:t>
            </a:r>
          </a:p>
          <a:p>
            <a:r>
              <a:rPr lang="vi-VN" dirty="0"/>
              <a:t>Slide liệt kê 4 nhóm, mỗi nhóm mang </a:t>
            </a:r>
            <a:r>
              <a:rPr lang="vi-VN" b="1" dirty="0"/>
              <a:t>một góc nhìn khác nhau</a:t>
            </a:r>
            <a:r>
              <a:rPr lang="vi-VN" dirty="0"/>
              <a:t>:</a:t>
            </a:r>
          </a:p>
          <a:p>
            <a:r>
              <a:rPr lang="en-US" b="1" dirty="0"/>
              <a:t>* </a:t>
            </a:r>
            <a:r>
              <a:rPr lang="vi-VN" b="1" dirty="0"/>
              <a:t>Executives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Quan tâm: mục tiêu chiến lược, KPI tổng hợp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Ít quan tâm: chi tiết dữ liệu, kỹ thuật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Nguy cơ nếu chỉ hỏi nhóm này: </a:t>
            </a:r>
            <a:r>
              <a:rPr lang="vi-VN" b="1" dirty="0"/>
              <a:t>quá trừu tượng</a:t>
            </a:r>
            <a:endParaRPr lang="vi-VN" dirty="0"/>
          </a:p>
          <a:p>
            <a:r>
              <a:rPr lang="en-US" b="1" dirty="0"/>
              <a:t>* </a:t>
            </a:r>
            <a:r>
              <a:rPr lang="vi-VN" b="1" dirty="0"/>
              <a:t>Business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hàng ngày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Hiểu quy trình, pain points thực tế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Nguy cơ: quen với cách làm cũ → “tư duy spreadsheet”</a:t>
            </a:r>
          </a:p>
          <a:p>
            <a:r>
              <a:rPr lang="en-US" b="1" dirty="0"/>
              <a:t>* </a:t>
            </a:r>
            <a:r>
              <a:rPr lang="vi-VN" b="1" dirty="0"/>
              <a:t>Power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Thành thạo dữ liệu, Excel, báo cáo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Thường là “người giữ logic”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Nguy cơ: </a:t>
            </a:r>
            <a:r>
              <a:rPr lang="vi-VN" b="1" dirty="0"/>
              <a:t>áp đặt góc nhìn cá nhân</a:t>
            </a:r>
            <a:r>
              <a:rPr lang="vi-VN" dirty="0"/>
              <a:t> lên toàn bộ tổ chức</a:t>
            </a:r>
          </a:p>
          <a:p>
            <a:r>
              <a:rPr lang="en-US" b="1" dirty="0"/>
              <a:t>* </a:t>
            </a:r>
            <a:r>
              <a:rPr lang="vi-VN" b="1" dirty="0"/>
              <a:t>IT Subject Matter Experts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Hiểu hệ thống nguồn, ràng buộc kỹ thuật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phải lúc nào cũng hiểu nhu cầu quyết định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Nguy cơ: kéo cuộc nói chuyện về </a:t>
            </a:r>
            <a:r>
              <a:rPr lang="vi-VN" b="1" dirty="0"/>
              <a:t>giải pháp thay vì vấn đề</a:t>
            </a:r>
            <a:endParaRPr lang="vi-VN" dirty="0"/>
          </a:p>
          <a:p>
            <a:r>
              <a:rPr lang="en-US" dirty="0"/>
              <a:t>* </a:t>
            </a:r>
            <a:r>
              <a:rPr lang="vi-VN" b="1" dirty="0"/>
              <a:t>Thông điệp giảng dạy</a:t>
            </a:r>
            <a:r>
              <a:rPr lang="vi-VN" dirty="0"/>
              <a:t>:</a:t>
            </a:r>
          </a:p>
          <a:p>
            <a:r>
              <a:rPr lang="vi-VN" dirty="0"/>
              <a:t>Không có nhóm nào “đại diện cho tất cả”. BI thất bại khi phỏng vấn không đủ rộng.</a:t>
            </a:r>
          </a:p>
          <a:p>
            <a:r>
              <a:rPr lang="vi-VN" b="1" dirty="0"/>
              <a:t>3. Vì sao phải tránh câu hỏi mơ hồ? (Avoid Vague Questions)</a:t>
            </a:r>
          </a:p>
          <a:p>
            <a:r>
              <a:rPr lang="vi-VN" b="1" dirty="0"/>
              <a:t>Ví dụ câu hỏi sai:</a:t>
            </a:r>
          </a:p>
          <a:p>
            <a:r>
              <a:rPr lang="vi-VN" i="1" dirty="0"/>
              <a:t>“What do you want in the new BI system?”</a:t>
            </a:r>
            <a:endParaRPr lang="vi-VN" dirty="0"/>
          </a:p>
          <a:p>
            <a:r>
              <a:rPr lang="vi-VN" b="1" dirty="0"/>
              <a:t>Vì sao câu này nguy hiểm?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Quá rộng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dùng </a:t>
            </a:r>
            <a:r>
              <a:rPr lang="vi-VN" b="1" dirty="0"/>
              <a:t>không biết BI có thể làm gì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Dẫn đến: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yêu cầu viển vông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“information nirvana”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hoặc câu trả lời vô nghĩa</a:t>
            </a:r>
          </a:p>
          <a:p>
            <a:r>
              <a:rPr lang="en-US" dirty="0"/>
              <a:t>* </a:t>
            </a:r>
            <a:r>
              <a:rPr lang="en-US" dirty="0" err="1"/>
              <a:t>Chú</a:t>
            </a:r>
            <a:r>
              <a:rPr lang="en-US" dirty="0"/>
              <a:t> ý</a:t>
            </a:r>
            <a:r>
              <a:rPr lang="vi-VN" dirty="0"/>
              <a:t>:</a:t>
            </a:r>
          </a:p>
          <a:p>
            <a:r>
              <a:rPr lang="vi-VN" dirty="0"/>
              <a:t>Người dùng </a:t>
            </a:r>
            <a:r>
              <a:rPr lang="vi-VN" b="1" dirty="0"/>
              <a:t>không có trách nhiệm</a:t>
            </a:r>
            <a:r>
              <a:rPr lang="vi-VN" dirty="0"/>
              <a:t> phải biết giải pháp.</a:t>
            </a:r>
            <a:br>
              <a:rPr lang="vi-VN" dirty="0"/>
            </a:br>
            <a:r>
              <a:rPr lang="vi-VN" dirty="0"/>
              <a:t>Người phân tích </a:t>
            </a:r>
            <a:r>
              <a:rPr lang="vi-VN" b="1" dirty="0"/>
              <a:t>có trách nhiệm đặt câu hỏi đúng</a:t>
            </a:r>
            <a:r>
              <a:rPr lang="vi-VN" dirty="0"/>
              <a:t>.</a:t>
            </a:r>
          </a:p>
          <a:p>
            <a:r>
              <a:rPr lang="vi-VN" b="1" dirty="0"/>
              <a:t>4. Câu hỏi tập trung vào giá trị hiện tại (Prefer Focused Questions)</a:t>
            </a:r>
          </a:p>
          <a:p>
            <a:r>
              <a:rPr lang="vi-VN" b="1" dirty="0"/>
              <a:t>Ví dụ tốt:</a:t>
            </a:r>
          </a:p>
          <a:p>
            <a:r>
              <a:rPr lang="vi-VN" i="1" dirty="0"/>
              <a:t>“What is the most valuable analysis you perform today?”</a:t>
            </a:r>
            <a:endParaRPr lang="vi-VN" dirty="0"/>
          </a:p>
          <a:p>
            <a:r>
              <a:rPr lang="vi-VN" b="1" dirty="0"/>
              <a:t>Ý nghĩa của câu hỏi này: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Bám vào </a:t>
            </a:r>
            <a:r>
              <a:rPr lang="vi-VN" b="1" dirty="0"/>
              <a:t>thực tế đang xảy ra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Khai thác: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báo cáo quan trọng nhất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bảng Excel “sống còn”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thao tác thủ công đang tốn thời gian</a:t>
            </a:r>
          </a:p>
          <a:p>
            <a:r>
              <a:rPr lang="en-US" dirty="0"/>
              <a:t>* </a:t>
            </a:r>
            <a:r>
              <a:rPr lang="vi-VN" dirty="0"/>
              <a:t>Đây là cách: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phát hiện </a:t>
            </a:r>
            <a:r>
              <a:rPr lang="vi-VN" b="1" dirty="0"/>
              <a:t>quick wins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hiểu đâu là </a:t>
            </a:r>
            <a:r>
              <a:rPr lang="vi-VN" b="1" dirty="0"/>
              <a:t>giá trị thật</a:t>
            </a:r>
            <a:r>
              <a:rPr lang="vi-VN" dirty="0"/>
              <a:t>, không phải mong muốn mơ hồ</a:t>
            </a:r>
          </a:p>
          <a:p>
            <a:r>
              <a:rPr lang="vi-VN" b="1" dirty="0"/>
              <a:t>5. Câu hỏi xoay quanh quyết định (Prefer Decision-Centric Questions)</a:t>
            </a:r>
          </a:p>
          <a:p>
            <a:r>
              <a:rPr lang="vi-VN" b="1" dirty="0"/>
              <a:t>Ví dụ rất mạnh:</a:t>
            </a:r>
          </a:p>
          <a:p>
            <a:r>
              <a:rPr lang="vi-VN" i="1" dirty="0"/>
              <a:t>“What decision is currently the hardest for you to make?”</a:t>
            </a:r>
            <a:endParaRPr lang="vi-VN" dirty="0"/>
          </a:p>
          <a:p>
            <a:r>
              <a:rPr lang="vi-VN" b="1" dirty="0"/>
              <a:t>Tại sao đây là “câu hỏi vàng” trong BI?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tồn tại để </a:t>
            </a:r>
            <a:r>
              <a:rPr lang="vi-VN" b="1" dirty="0"/>
              <a:t>hỗ trợ quyết định</a:t>
            </a:r>
            <a:r>
              <a:rPr lang="vi-VN" dirty="0"/>
              <a:t>, không phải để làm báo cáo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Câu hỏi này giúp xác định: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thiếu dữ liệu gì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dữ liệu đến quá chậm hay không đáng tin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logic quyết định đang nằm ở đâu (trong đầu? Excel?)</a:t>
            </a:r>
          </a:p>
          <a:p>
            <a:r>
              <a:rPr lang="en-US" dirty="0"/>
              <a:t>* </a:t>
            </a:r>
            <a:r>
              <a:rPr lang="en-US" dirty="0" err="1"/>
              <a:t>Chú</a:t>
            </a:r>
            <a:r>
              <a:rPr lang="en-US" dirty="0"/>
              <a:t> ý</a:t>
            </a:r>
            <a:r>
              <a:rPr lang="vi-VN" dirty="0"/>
              <a:t>:</a:t>
            </a:r>
          </a:p>
          <a:p>
            <a:r>
              <a:rPr lang="vi-VN" dirty="0"/>
              <a:t>Nếu không xác định được quyết định, thì KPI và dashboard chỉ là trang trí.</a:t>
            </a:r>
          </a:p>
          <a:p>
            <a:r>
              <a:rPr lang="vi-VN" b="1" dirty="0"/>
              <a:t>6. So sánh 3 loại câu hỏi (để sinh viên dễ nhớ)</a:t>
            </a:r>
          </a:p>
          <a:p>
            <a:r>
              <a:rPr lang="vi-VN" dirty="0"/>
              <a:t>Loại câu hỏi</a:t>
            </a:r>
            <a:r>
              <a:rPr lang="en-US" dirty="0"/>
              <a:t>		</a:t>
            </a:r>
            <a:r>
              <a:rPr lang="vi-VN" dirty="0"/>
              <a:t>Đặc điểm</a:t>
            </a:r>
            <a:r>
              <a:rPr lang="en-US" dirty="0"/>
              <a:t>				</a:t>
            </a:r>
            <a:r>
              <a:rPr lang="vi-VN" dirty="0"/>
              <a:t>Rủi ro</a:t>
            </a:r>
            <a:endParaRPr lang="en-US" dirty="0"/>
          </a:p>
          <a:p>
            <a:r>
              <a:rPr lang="vi-VN" dirty="0"/>
              <a:t>Mơ hồ</a:t>
            </a:r>
            <a:r>
              <a:rPr lang="en-US" dirty="0"/>
              <a:t>		</a:t>
            </a:r>
            <a:r>
              <a:rPr lang="vi-VN" dirty="0"/>
              <a:t>“Anh/chị muốn gì?”</a:t>
            </a:r>
            <a:r>
              <a:rPr lang="en-US" dirty="0"/>
              <a:t>			</a:t>
            </a:r>
            <a:r>
              <a:rPr lang="vi-VN" dirty="0"/>
              <a:t>Không dùng được</a:t>
            </a:r>
            <a:endParaRPr lang="en-US" dirty="0"/>
          </a:p>
          <a:p>
            <a:r>
              <a:rPr lang="vi-VN" dirty="0"/>
              <a:t>Tập trung</a:t>
            </a:r>
            <a:r>
              <a:rPr lang="en-US" dirty="0"/>
              <a:t>		</a:t>
            </a:r>
            <a:r>
              <a:rPr lang="vi-VN" dirty="0"/>
              <a:t>“Báo cáo nào quan trọng nhất?”</a:t>
            </a:r>
            <a:r>
              <a:rPr lang="en-US" dirty="0"/>
              <a:t>		</a:t>
            </a:r>
            <a:r>
              <a:rPr lang="vi-VN" dirty="0"/>
              <a:t>Thiên về hiện tại</a:t>
            </a:r>
            <a:endParaRPr lang="en-US" dirty="0"/>
          </a:p>
          <a:p>
            <a:r>
              <a:rPr lang="vi-VN" dirty="0"/>
              <a:t>Quyết định“</a:t>
            </a:r>
            <a:r>
              <a:rPr lang="en-US" dirty="0"/>
              <a:t>		</a:t>
            </a:r>
            <a:r>
              <a:rPr lang="vi-VN" dirty="0"/>
              <a:t>Anh/chị dùng dữ liệu để quyết định điều gì?”</a:t>
            </a:r>
            <a:r>
              <a:rPr lang="en-US" dirty="0"/>
              <a:t>	</a:t>
            </a:r>
            <a:r>
              <a:rPr lang="vi-VN" dirty="0"/>
              <a:t>Hiệu quả nhất</a:t>
            </a:r>
          </a:p>
          <a:p>
            <a:r>
              <a:rPr lang="en-US" dirty="0"/>
              <a:t>=&gt; </a:t>
            </a:r>
            <a:r>
              <a:rPr lang="vi-VN" b="1" dirty="0"/>
              <a:t>BI tốt bắt đầu từ câu hỏi về quyết định</a:t>
            </a:r>
            <a:endParaRPr lang="vi-VN" dirty="0"/>
          </a:p>
          <a:p>
            <a:r>
              <a:rPr lang="vi-VN" b="1" dirty="0"/>
              <a:t>7. Liên hệ thực tế doanh nghiệp</a:t>
            </a:r>
          </a:p>
          <a:p>
            <a:r>
              <a:rPr lang="vi-VN" b="1" dirty="0"/>
              <a:t>Dashboard không thất bại vì thiếu biểu đồ,</a:t>
            </a:r>
            <a:r>
              <a:rPr lang="en-US" b="1" dirty="0"/>
              <a:t> </a:t>
            </a:r>
            <a:r>
              <a:rPr lang="vi-VN" b="1" dirty="0"/>
              <a:t>mà vì nó không trả lời được câu hỏi mà người dùng phải quyết mỗi ngày.</a:t>
            </a:r>
            <a:endParaRPr lang="vi-VN" dirty="0"/>
          </a:p>
          <a:p>
            <a:r>
              <a:rPr lang="vi-VN" b="1" dirty="0"/>
              <a:t>8. Gợi ý hoạt động trên lớp</a:t>
            </a:r>
          </a:p>
          <a:p>
            <a:r>
              <a:rPr lang="vi-VN" b="1" dirty="0"/>
              <a:t>Bài tập nhanh: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Cho sinh viên một vai: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giám đốc kinh doanh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nhân viên vận hành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power user Excel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Viết 1 câu hỏi </a:t>
            </a:r>
            <a:r>
              <a:rPr lang="vi-VN" b="1" dirty="0"/>
              <a:t>mơ hồ</a:t>
            </a:r>
            <a:endParaRPr lang="vi-V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Viết lại thành </a:t>
            </a:r>
            <a:r>
              <a:rPr lang="vi-VN" b="1" dirty="0"/>
              <a:t>câu hỏi tập trung</a:t>
            </a:r>
            <a:endParaRPr lang="vi-V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Viết lại thành </a:t>
            </a:r>
            <a:r>
              <a:rPr lang="vi-VN" b="1" dirty="0"/>
              <a:t>câu hỏi xoay quanh quyết định</a:t>
            </a:r>
            <a:endParaRPr lang="vi-VN" dirty="0"/>
          </a:p>
          <a:p>
            <a:r>
              <a:rPr lang="vi-VN" b="1" dirty="0"/>
              <a:t>9.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Luận</a:t>
            </a:r>
            <a:endParaRPr lang="vi-VN" b="1" dirty="0"/>
          </a:p>
          <a:p>
            <a:r>
              <a:rPr lang="vi-VN" b="1" dirty="0"/>
              <a:t>“Great BI requirements come from great questions, not great tools.”</a:t>
            </a:r>
            <a:endParaRPr lang="vi-VN" dirty="0"/>
          </a:p>
          <a:p>
            <a:r>
              <a:rPr lang="vi-VN" dirty="0"/>
              <a:t>hoặc:</a:t>
            </a:r>
          </a:p>
          <a:p>
            <a:r>
              <a:rPr lang="vi-VN" b="1" dirty="0"/>
              <a:t>“If you ask users what they want, you get features.</a:t>
            </a:r>
            <a:br>
              <a:rPr lang="vi-VN" b="1" dirty="0"/>
            </a:br>
            <a:r>
              <a:rPr lang="vi-VN" b="1" dirty="0"/>
              <a:t>If you ask what decisions they make, you get value.”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Preparation and Follow-up: Ensuring Accuracy</a:t>
            </a:r>
          </a:p>
          <a:p>
            <a:r>
              <a:rPr lang="vi-VN" b="1" dirty="0"/>
              <a:t>(Chuẩn bị và theo dõi sau phỏng vấn – Đảm bảo độ chính xác của yêu cầu)</a:t>
            </a:r>
          </a:p>
          <a:p>
            <a:r>
              <a:rPr lang="vi-VN" b="1" dirty="0"/>
              <a:t>1. Thông điệp cốt lõi của slide</a:t>
            </a:r>
          </a:p>
          <a:p>
            <a:r>
              <a:rPr lang="vi-VN" b="1" dirty="0"/>
              <a:t>Sai yêu cầu không phải vì người dùng nói sai, mà vì người phân tích chuẩn bị và theo dõi chưa đủ tốt.</a:t>
            </a:r>
            <a:endParaRPr lang="vi-VN" dirty="0"/>
          </a:p>
          <a:p>
            <a:r>
              <a:rPr lang="vi-VN" dirty="0"/>
              <a:t>Slide này cho thấy: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phỏng vấn BI </a:t>
            </a:r>
            <a:r>
              <a:rPr lang="vi-VN" b="1" dirty="0"/>
              <a:t>không kết thúc khi buổi họp kết thúc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chuẩn bị trước</a:t>
            </a:r>
            <a:r>
              <a:rPr lang="vi-VN" dirty="0"/>
              <a:t> và </a:t>
            </a:r>
            <a:r>
              <a:rPr lang="vi-VN" b="1" dirty="0"/>
              <a:t>theo dõi sau</a:t>
            </a:r>
            <a:r>
              <a:rPr lang="vi-VN" dirty="0"/>
              <a:t> quyết định chất lượng requirements nhiều hơn bản thân câu hỏi</a:t>
            </a:r>
          </a:p>
          <a:p>
            <a:r>
              <a:rPr lang="vi-VN" b="1" dirty="0"/>
              <a:t>2. Preparation – Chuẩn bị trước phỏng vấn</a:t>
            </a:r>
          </a:p>
          <a:p>
            <a:r>
              <a:rPr lang="vi-VN" b="1" dirty="0"/>
              <a:t>Vì sao chuẩn bị quan trọng?</a:t>
            </a:r>
          </a:p>
          <a:p>
            <a:r>
              <a:rPr lang="vi-VN" dirty="0"/>
              <a:t>Trong BI, mỗi buổi phỏng vấn: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tốn thời gian của stakeholder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khó lặp lại</a:t>
            </a:r>
            <a:br>
              <a:rPr lang="vi-VN" dirty="0"/>
            </a:br>
            <a:r>
              <a:rPr lang="vi-VN" dirty="0"/>
              <a:t>→ nếu chuẩn bị kém → </a:t>
            </a:r>
            <a:r>
              <a:rPr lang="vi-VN" b="1" dirty="0"/>
              <a:t>mất cơ hội không thể lấy lại</a:t>
            </a:r>
            <a:endParaRPr lang="vi-VN" dirty="0"/>
          </a:p>
          <a:p>
            <a:r>
              <a:rPr lang="en-US" b="1" dirty="0"/>
              <a:t>* </a:t>
            </a:r>
            <a:r>
              <a:rPr lang="vi-VN" b="1" dirty="0"/>
              <a:t>Learn Context – Hiểu bối cảnh</a:t>
            </a:r>
          </a:p>
          <a:p>
            <a:r>
              <a:rPr lang="vi-VN" dirty="0"/>
              <a:t>Sinh viên cần hiểu: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đơn vị kinh doanh làm gì?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KPI chính là gì?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 trình hiện tại ra sao?</a:t>
            </a:r>
          </a:p>
          <a:p>
            <a:r>
              <a:rPr lang="en-US" dirty="0"/>
              <a:t>=&gt; </a:t>
            </a:r>
            <a:r>
              <a:rPr lang="vi-VN" dirty="0"/>
              <a:t>Giảng viên có thể nhấn mạnh:</a:t>
            </a:r>
          </a:p>
          <a:p>
            <a:r>
              <a:rPr lang="vi-VN" dirty="0"/>
              <a:t>Không hiểu bối cảnh → hỏi câu hỏi chung chung → nhận câu trả lời vô nghĩa.</a:t>
            </a:r>
          </a:p>
          <a:p>
            <a:r>
              <a:rPr lang="en-US" b="1" dirty="0"/>
              <a:t>* </a:t>
            </a:r>
            <a:r>
              <a:rPr lang="vi-VN" b="1" dirty="0"/>
              <a:t>Focused Questions – Chuẩn bị câu hỏi có trọng tâm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hỏi tùy hứng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“nghĩ ra câu hỏi trong lúc phỏng vấn”</a:t>
            </a:r>
          </a:p>
          <a:p>
            <a:r>
              <a:rPr lang="vi-VN" dirty="0"/>
              <a:t>Câu hỏi phải: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mở (open-ended)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gắn với vai trò người được phỏng vấn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xoay quanh </a:t>
            </a:r>
            <a:r>
              <a:rPr lang="vi-VN" b="1" dirty="0"/>
              <a:t>quyết định và pain points</a:t>
            </a:r>
            <a:endParaRPr lang="vi-VN" dirty="0"/>
          </a:p>
          <a:p>
            <a:r>
              <a:rPr lang="en-US" dirty="0"/>
              <a:t>** </a:t>
            </a:r>
            <a:r>
              <a:rPr lang="vi-VN" dirty="0"/>
              <a:t>Nguyên tắc:</a:t>
            </a:r>
          </a:p>
          <a:p>
            <a:r>
              <a:rPr lang="vi-VN" dirty="0"/>
              <a:t>Một buổi phỏng vấn tốt được quyết định </a:t>
            </a:r>
            <a:r>
              <a:rPr lang="vi-VN" b="1" dirty="0"/>
              <a:t>trước khi nó bắt đầu</a:t>
            </a:r>
            <a:r>
              <a:rPr lang="vi-VN" dirty="0"/>
              <a:t>.</a:t>
            </a:r>
          </a:p>
          <a:p>
            <a:r>
              <a:rPr lang="en-US" b="1" dirty="0"/>
              <a:t>* </a:t>
            </a:r>
            <a:r>
              <a:rPr lang="vi-VN" b="1" dirty="0"/>
              <a:t>Share Agenda – Gửi agenda trước</a:t>
            </a:r>
          </a:p>
          <a:p>
            <a:r>
              <a:rPr lang="vi-VN" dirty="0"/>
              <a:t>Gửi trước cho stakeholder: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mục tiêu buổi họp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nội dung chính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thời lượng</a:t>
            </a:r>
          </a:p>
          <a:p>
            <a:r>
              <a:rPr lang="vi-VN" dirty="0"/>
              <a:t>Lợi ích: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người được phỏng vấn chuẩn bị dữ liệu, ví dụ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hiểu nhầm “IT lại đến hỏi linh tinh”</a:t>
            </a:r>
          </a:p>
          <a:p>
            <a:r>
              <a:rPr lang="en-US" dirty="0"/>
              <a:t>=&gt; </a:t>
            </a:r>
            <a:r>
              <a:rPr lang="vi-VN" dirty="0"/>
              <a:t>Đây là kỹ năng </a:t>
            </a:r>
            <a:r>
              <a:rPr lang="vi-VN" b="1" dirty="0"/>
              <a:t>chuyên nghiệp</a:t>
            </a:r>
            <a:r>
              <a:rPr lang="vi-VN" dirty="0"/>
              <a:t>, không phải hình thức.</a:t>
            </a:r>
          </a:p>
          <a:p>
            <a:r>
              <a:rPr lang="vi-VN" b="1" dirty="0"/>
              <a:t>3. Follow-up – Theo dõi sau phỏng vấn</a:t>
            </a:r>
          </a:p>
          <a:p>
            <a:r>
              <a:rPr lang="vi-VN" b="1" dirty="0"/>
              <a:t>Sai lầm phổ biến của sinh viên:</a:t>
            </a:r>
          </a:p>
          <a:p>
            <a:r>
              <a:rPr lang="vi-VN" dirty="0"/>
              <a:t>“Em ghi chép rồi để đó, cuối kỳ mới tổng hợp.”</a:t>
            </a:r>
          </a:p>
          <a:p>
            <a:r>
              <a:rPr lang="vi-VN" dirty="0"/>
              <a:t>Trong thực tế, đây là </a:t>
            </a:r>
            <a:r>
              <a:rPr lang="vi-VN" b="1" dirty="0"/>
              <a:t>công thức dẫn đến sai yêu cầu</a:t>
            </a:r>
            <a:r>
              <a:rPr lang="vi-VN" dirty="0"/>
              <a:t>.</a:t>
            </a:r>
          </a:p>
          <a:p>
            <a:r>
              <a:rPr lang="en-US" b="1" dirty="0"/>
              <a:t>* </a:t>
            </a:r>
            <a:r>
              <a:rPr lang="vi-VN" b="1" dirty="0"/>
              <a:t>Review Quickly – Rà soát nhanh (≤ 24h)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Ghi chép khi trí nhớ còn mới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Bổ sung các chi tiết chưa rõ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Đánh dấu giả định (assumptions)</a:t>
            </a:r>
          </a:p>
          <a:p>
            <a:r>
              <a:rPr lang="en-US" dirty="0"/>
              <a:t>** </a:t>
            </a:r>
            <a:r>
              <a:rPr lang="vi-VN" dirty="0"/>
              <a:t>Sau 24–48h: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não tự “điền chỗ trống”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sinh ra </a:t>
            </a:r>
            <a:r>
              <a:rPr lang="vi-VN" b="1" dirty="0"/>
              <a:t>yêu cầu tưởng là đúng nhưng không ai nói</a:t>
            </a:r>
            <a:endParaRPr lang="vi-VN" dirty="0"/>
          </a:p>
          <a:p>
            <a:r>
              <a:rPr lang="en-US" b="1" dirty="0"/>
              <a:t>* </a:t>
            </a:r>
            <a:r>
              <a:rPr lang="vi-VN" b="1" dirty="0"/>
              <a:t>Identify Themes – Nhận diện mẫu chung</a:t>
            </a:r>
          </a:p>
          <a:p>
            <a:r>
              <a:rPr lang="vi-VN" dirty="0"/>
              <a:t>Sau nhiều buổi phỏng vấn, cần tìm: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lặp lại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logic mâu thuẫn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dữ liệu bị thiếu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khác biệt giữa các phòng ban</a:t>
            </a:r>
          </a:p>
          <a:p>
            <a:r>
              <a:rPr lang="en-US" dirty="0"/>
              <a:t>=&gt; </a:t>
            </a:r>
            <a:r>
              <a:rPr lang="vi-VN" dirty="0"/>
              <a:t>Đây là lúc chuyển từ:</a:t>
            </a:r>
          </a:p>
          <a:p>
            <a:r>
              <a:rPr lang="vi-VN" dirty="0"/>
              <a:t>“ý kiến cá nhân” → “yêu cầu hệ thống”</a:t>
            </a:r>
          </a:p>
          <a:p>
            <a:r>
              <a:rPr lang="en-US" b="1" dirty="0"/>
              <a:t>* </a:t>
            </a:r>
            <a:r>
              <a:rPr lang="vi-VN" b="1" dirty="0"/>
              <a:t>Validate Findings – Xác nhận lại</a:t>
            </a:r>
          </a:p>
          <a:p>
            <a:r>
              <a:rPr lang="vi-VN" dirty="0"/>
              <a:t>Gửi lại cho người được phỏng vấn: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bản tóm tắt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sơ đồ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danh sách yêu cầu</a:t>
            </a:r>
          </a:p>
          <a:p>
            <a:r>
              <a:rPr lang="vi-VN" dirty="0"/>
              <a:t>Hỏi:</a:t>
            </a:r>
          </a:p>
          <a:p>
            <a:r>
              <a:rPr lang="vi-VN" dirty="0"/>
              <a:t>“Anh/chị xác nhận giúp em hiểu như vậy đã đúng chưa?”</a:t>
            </a:r>
          </a:p>
          <a:p>
            <a:r>
              <a:rPr lang="en-US" dirty="0"/>
              <a:t>** </a:t>
            </a:r>
            <a:r>
              <a:rPr lang="vi-VN" dirty="0"/>
              <a:t>Điều này: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tăng độ chính xác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tạo </a:t>
            </a:r>
            <a:r>
              <a:rPr lang="vi-VN" b="1" dirty="0"/>
              <a:t>niềm tin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tránh câu nói nguy hiểm cuối dự án:</a:t>
            </a:r>
          </a:p>
          <a:p>
            <a:r>
              <a:rPr lang="vi-VN" dirty="0"/>
              <a:t>“Tôi không nói thế!”</a:t>
            </a:r>
          </a:p>
          <a:p>
            <a:r>
              <a:rPr lang="vi-VN" b="1" dirty="0"/>
              <a:t>4. Ý nghĩa học thuật &amp; thực tiễn</a:t>
            </a:r>
          </a:p>
          <a:p>
            <a:r>
              <a:rPr lang="vi-VN" dirty="0"/>
              <a:t>Slide này dạy sinh viên rằng: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Requirements Engineering </a:t>
            </a:r>
            <a:r>
              <a:rPr lang="vi-VN" b="1" dirty="0"/>
              <a:t>là một quy trình</a:t>
            </a:r>
            <a:r>
              <a:rPr lang="vi-VN" dirty="0"/>
              <a:t>, không phải một buổi họp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thất bại thường vì: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hiểu sai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hiểu thiếu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hoặc không xác nhận lại</a:t>
            </a:r>
          </a:p>
          <a:p>
            <a:r>
              <a:rPr lang="vi-VN" b="1" dirty="0"/>
              <a:t>5. So sánh nhanh (để sinh viên dễ nhớ)</a:t>
            </a:r>
          </a:p>
          <a:p>
            <a:r>
              <a:rPr lang="vi-VN" dirty="0"/>
              <a:t>Làm kém</a:t>
            </a:r>
            <a:r>
              <a:rPr lang="en-US" dirty="0"/>
              <a:t>		</a:t>
            </a:r>
            <a:r>
              <a:rPr lang="vi-VN" dirty="0"/>
              <a:t>Làm tốt</a:t>
            </a:r>
            <a:endParaRPr lang="en-US" dirty="0"/>
          </a:p>
          <a:p>
            <a:r>
              <a:rPr lang="vi-VN" dirty="0"/>
              <a:t>Hỏi rồi quên</a:t>
            </a:r>
            <a:r>
              <a:rPr lang="en-US" dirty="0"/>
              <a:t>		</a:t>
            </a:r>
            <a:r>
              <a:rPr lang="vi-VN" dirty="0"/>
              <a:t>Chuẩn bị – ghi nhận – xác nhận</a:t>
            </a:r>
            <a:endParaRPr lang="en-US" dirty="0"/>
          </a:p>
          <a:p>
            <a:r>
              <a:rPr lang="vi-VN" dirty="0"/>
              <a:t>Ghi chép cá nhân</a:t>
            </a:r>
            <a:r>
              <a:rPr lang="en-US" dirty="0"/>
              <a:t>	</a:t>
            </a:r>
            <a:r>
              <a:rPr lang="vi-VN" dirty="0"/>
              <a:t>Tài liệu hóa và chia sẻ</a:t>
            </a:r>
            <a:endParaRPr lang="en-US" dirty="0"/>
          </a:p>
          <a:p>
            <a:r>
              <a:rPr lang="vi-VN" dirty="0"/>
              <a:t>“Em nghĩ là…”</a:t>
            </a:r>
            <a:r>
              <a:rPr lang="en-US" dirty="0"/>
              <a:t>		</a:t>
            </a:r>
            <a:r>
              <a:rPr lang="vi-VN" dirty="0"/>
              <a:t>“Anh/chị xác nhận giúp…”</a:t>
            </a:r>
          </a:p>
          <a:p>
            <a:r>
              <a:rPr lang="vi-VN" b="1" dirty="0"/>
              <a:t>6. Liên hệ thực tế doanh nghiệp</a:t>
            </a:r>
          </a:p>
          <a:p>
            <a:r>
              <a:rPr lang="vi-VN" b="1" dirty="0"/>
              <a:t>Tài liệu yêu cầu tốt là “bằng chứng chuyên môn” bảo vệ đội BI khi dự án gặp vấn đề.</a:t>
            </a:r>
            <a:endParaRPr lang="vi-VN" dirty="0"/>
          </a:p>
          <a:p>
            <a:r>
              <a:rPr lang="vi-VN" dirty="0"/>
              <a:t>Trong thực tế: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có follow-up → blame 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có follow-up &amp; xác nhận → trách nhiệm rõ ràng</a:t>
            </a:r>
          </a:p>
          <a:p>
            <a:endParaRPr lang="en-US" b="1" dirty="0"/>
          </a:p>
          <a:p>
            <a:r>
              <a:rPr lang="vi-VN" b="1" dirty="0"/>
              <a:t>7. Gợi ý bài tập trên lớp</a:t>
            </a:r>
          </a:p>
          <a:p>
            <a:r>
              <a:rPr lang="vi-VN" b="1" dirty="0"/>
              <a:t>Bài tập thực hành:</a:t>
            </a:r>
          </a:p>
          <a:p>
            <a:pPr>
              <a:buFont typeface="+mj-lt"/>
              <a:buAutoNum type="arabicPeriod"/>
            </a:pPr>
            <a:r>
              <a:rPr lang="vi-VN" dirty="0"/>
              <a:t>Cho sinh viên đóng vai:</a:t>
            </a:r>
          </a:p>
          <a:p>
            <a:pPr marL="742950" lvl="1" indent="-285750">
              <a:buFont typeface="+mj-lt"/>
              <a:buAutoNum type="arabicPeriod"/>
            </a:pPr>
            <a:r>
              <a:rPr lang="vi-VN" dirty="0"/>
              <a:t>người phỏng vấn</a:t>
            </a:r>
          </a:p>
          <a:p>
            <a:pPr marL="742950" lvl="1" indent="-285750">
              <a:buFont typeface="+mj-lt"/>
              <a:buAutoNum type="arabicPeriod"/>
            </a:pPr>
            <a:r>
              <a:rPr lang="vi-VN" dirty="0"/>
              <a:t>người dùng nghiệp vụ</a:t>
            </a:r>
          </a:p>
          <a:p>
            <a:pPr>
              <a:buFont typeface="+mj-lt"/>
              <a:buAutoNum type="arabicPeriod"/>
            </a:pPr>
            <a:r>
              <a:rPr lang="vi-VN" dirty="0"/>
              <a:t>Sau phỏng vấn, yêu cầu:</a:t>
            </a:r>
          </a:p>
          <a:p>
            <a:pPr marL="742950" lvl="1" indent="-285750">
              <a:buFont typeface="+mj-lt"/>
              <a:buAutoNum type="arabicPeriod"/>
            </a:pPr>
            <a:r>
              <a:rPr lang="vi-VN" dirty="0"/>
              <a:t>viết </a:t>
            </a:r>
            <a:r>
              <a:rPr lang="vi-VN" b="1" dirty="0"/>
              <a:t>email follow-up</a:t>
            </a:r>
            <a:endParaRPr lang="vi-VN" dirty="0"/>
          </a:p>
          <a:p>
            <a:pPr marL="742950" lvl="1" indent="-285750">
              <a:buFont typeface="+mj-lt"/>
              <a:buAutoNum type="arabicPeriod"/>
            </a:pPr>
            <a:r>
              <a:rPr lang="vi-VN" dirty="0"/>
              <a:t>tóm tắt 5 insight chính</a:t>
            </a:r>
          </a:p>
          <a:p>
            <a:pPr marL="742950" lvl="1" indent="-285750">
              <a:buFont typeface="+mj-lt"/>
              <a:buAutoNum type="arabicPeriod"/>
            </a:pPr>
            <a:r>
              <a:rPr lang="vi-VN" dirty="0"/>
              <a:t>liệt kê 3 giả định cần xác nhận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Best Practices: Documenting for Clarity</a:t>
            </a:r>
          </a:p>
          <a:p>
            <a:r>
              <a:rPr lang="vi-VN" b="1" dirty="0"/>
              <a:t>(Thực hành tốt nhất: Tài liệu hóa để tránh hiểu nhầm)</a:t>
            </a:r>
          </a:p>
          <a:p>
            <a:r>
              <a:rPr lang="vi-VN" b="1" dirty="0"/>
              <a:t>1. Thông điệp trung tâm của slide</a:t>
            </a:r>
          </a:p>
          <a:p>
            <a:r>
              <a:rPr lang="vi-VN" b="1" dirty="0"/>
              <a:t>Dự án BI không thất bại vì công nghệ kém, mà vì mọi người hiểu “khác nhau” về cùng một yêu cầu.</a:t>
            </a:r>
            <a:endParaRPr lang="vi-VN" dirty="0"/>
          </a:p>
          <a:p>
            <a:r>
              <a:rPr lang="vi-VN" dirty="0"/>
              <a:t>Slide này trả lời câu hỏi: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Làm thế nào để </a:t>
            </a:r>
            <a:r>
              <a:rPr lang="vi-VN" b="1" dirty="0"/>
              <a:t>tài liệu yêu cầu không gây hiểu nhầm</a:t>
            </a:r>
            <a:r>
              <a:rPr lang="vi-VN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Vì sao </a:t>
            </a:r>
            <a:r>
              <a:rPr lang="vi-VN" b="1" dirty="0"/>
              <a:t>prototype quan trọng hơn văn bản dài</a:t>
            </a:r>
            <a:r>
              <a:rPr lang="vi-VN" dirty="0"/>
              <a:t> trong BI?</a:t>
            </a:r>
          </a:p>
          <a:p>
            <a:r>
              <a:rPr lang="vi-VN" b="1" dirty="0"/>
              <a:t>2. Core Practices – Thực hành cốt lõi khi tài liệu hóa yêu cầu</a:t>
            </a:r>
          </a:p>
          <a:p>
            <a:r>
              <a:rPr lang="en-US" b="1" dirty="0"/>
              <a:t>* </a:t>
            </a:r>
            <a:r>
              <a:rPr lang="vi-VN" b="1" dirty="0"/>
              <a:t>Document Continuously – Tài liệu hóa liên tục</a:t>
            </a:r>
          </a:p>
          <a:p>
            <a:r>
              <a:rPr lang="vi-VN" dirty="0"/>
              <a:t>Ý chính: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“đợi đủ rồi mới viết”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Ghi nhận yêu cầu </a:t>
            </a:r>
            <a:r>
              <a:rPr lang="vi-VN" b="1" dirty="0"/>
              <a:t>ngay khi phát hiện</a:t>
            </a:r>
            <a:endParaRPr lang="vi-VN" dirty="0"/>
          </a:p>
          <a:p>
            <a:r>
              <a:rPr lang="en-US" dirty="0"/>
              <a:t>** </a:t>
            </a:r>
            <a:r>
              <a:rPr lang="vi-VN" dirty="0"/>
              <a:t>Giải thích cho sinh viên: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</a:t>
            </a:r>
            <a:r>
              <a:rPr lang="vi-VN" b="1" dirty="0"/>
              <a:t>tiến hóa theo thời gian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Nếu đợi đến cuối → quên bối cảnh → mất logic ban đầu</a:t>
            </a:r>
          </a:p>
          <a:p>
            <a:r>
              <a:rPr lang="en-US" dirty="0"/>
              <a:t>=&gt; </a:t>
            </a:r>
            <a:r>
              <a:rPr lang="vi-VN" dirty="0"/>
              <a:t>Câu nhấn mạnh:</a:t>
            </a:r>
          </a:p>
          <a:p>
            <a:r>
              <a:rPr lang="vi-VN" dirty="0"/>
              <a:t>Requirements là “living document”, không phải bài văn hoàn chỉnh viết một lần.</a:t>
            </a:r>
          </a:p>
          <a:p>
            <a:r>
              <a:rPr lang="en-US" b="1" dirty="0"/>
              <a:t>* </a:t>
            </a:r>
            <a:r>
              <a:rPr lang="vi-VN" b="1" dirty="0"/>
              <a:t>Collaborative Tools – Công cụ cộng tác</a:t>
            </a:r>
          </a:p>
          <a:p>
            <a:r>
              <a:rPr lang="vi-VN" dirty="0"/>
              <a:t>Ý nghĩa: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viết tài liệu cá nhân (Word file trên máy riêng)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Dùng công cụ chia sẻ để: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nhiều người góp ý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theo dõi thay đổi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kiểm soát phiên bản</a:t>
            </a:r>
          </a:p>
          <a:p>
            <a:r>
              <a:rPr lang="en-US" dirty="0"/>
              <a:t>* </a:t>
            </a:r>
            <a:r>
              <a:rPr lang="vi-VN" dirty="0"/>
              <a:t>Thông điệp quan trọng:</a:t>
            </a:r>
          </a:p>
          <a:p>
            <a:r>
              <a:rPr lang="vi-VN" dirty="0"/>
              <a:t>Requirements là tài sản </a:t>
            </a:r>
            <a:r>
              <a:rPr lang="vi-VN" b="1" dirty="0"/>
              <a:t>chung của dự án</a:t>
            </a:r>
            <a:r>
              <a:rPr lang="vi-VN" dirty="0"/>
              <a:t>, không phải tài sản của riêng BA hay IT.</a:t>
            </a:r>
          </a:p>
          <a:p>
            <a:r>
              <a:rPr lang="en-US" b="1" dirty="0"/>
              <a:t>* </a:t>
            </a:r>
            <a:r>
              <a:rPr lang="vi-VN" b="1" dirty="0"/>
              <a:t>Favor Visuals – Ưu tiên trực quan</a:t>
            </a:r>
          </a:p>
          <a:p>
            <a:r>
              <a:rPr lang="vi-VN" dirty="0"/>
              <a:t>Giải thích cho sinh viên: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Con người hiểu </a:t>
            </a:r>
            <a:r>
              <a:rPr lang="vi-VN" b="1" dirty="0"/>
              <a:t>hình ảnh nhanh hơn chữ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Một sơ đồ: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giảm tranh cãi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lộ rõ mâu thuẫn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dễ xác nhận đúng/sai</a:t>
            </a:r>
          </a:p>
          <a:p>
            <a:r>
              <a:rPr lang="en-US" dirty="0"/>
              <a:t>** </a:t>
            </a:r>
            <a:r>
              <a:rPr lang="vi-VN" dirty="0"/>
              <a:t>Ví dụ thực tế: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5 trang mô tả dashboard ⟶ 1 mock-up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30 phút tranh luận ⟶ 5 phút nhìn hình</a:t>
            </a:r>
          </a:p>
          <a:p>
            <a:r>
              <a:rPr lang="vi-VN" b="1" dirty="0"/>
              <a:t>3. The Power of Prototypes – Sức mạnh của Prototype</a:t>
            </a:r>
          </a:p>
          <a:p>
            <a:r>
              <a:rPr lang="en-US" b="1" dirty="0"/>
              <a:t>* </a:t>
            </a:r>
            <a:r>
              <a:rPr lang="vi-VN" b="1" dirty="0"/>
              <a:t>Early Validation – Xác nhận sớm</a:t>
            </a:r>
          </a:p>
          <a:p>
            <a:r>
              <a:rPr lang="vi-VN" dirty="0"/>
              <a:t>Prototype giúp người dùng: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“nhìn thấy” sản phẩm trước khi xây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phát hiện: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thiếu KPI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sai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hiểu nhầm thuật ngữ</a:t>
            </a:r>
          </a:p>
          <a:p>
            <a:r>
              <a:rPr lang="en-US" dirty="0"/>
              <a:t>=&gt; </a:t>
            </a:r>
            <a:r>
              <a:rPr lang="vi-VN" dirty="0"/>
              <a:t>Nhấn mạnh:</a:t>
            </a:r>
          </a:p>
          <a:p>
            <a:r>
              <a:rPr lang="vi-VN" dirty="0"/>
              <a:t>Người dùng </a:t>
            </a:r>
            <a:r>
              <a:rPr lang="vi-VN" b="1" dirty="0"/>
              <a:t>không giỏi tưởng tượng</a:t>
            </a:r>
            <a:r>
              <a:rPr lang="vi-VN" dirty="0"/>
              <a:t>, nhưng rất giỏi chỉ ra cái sai khi họ nhìn thấy nó.</a:t>
            </a:r>
          </a:p>
          <a:p>
            <a:r>
              <a:rPr lang="en-US" b="1" dirty="0"/>
              <a:t>* </a:t>
            </a:r>
            <a:r>
              <a:rPr lang="vi-VN" b="1" dirty="0"/>
              <a:t>Drive Engagement – Tăng tương tác</a:t>
            </a:r>
          </a:p>
          <a:p>
            <a:r>
              <a:rPr lang="vi-VN" dirty="0"/>
              <a:t>So sánh: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Văn bản dài → người dùng lười đọc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Mock-up / prototype → người dùng phản hồi ngay</a:t>
            </a:r>
          </a:p>
          <a:p>
            <a:r>
              <a:rPr lang="en-US" dirty="0"/>
              <a:t>=&gt; </a:t>
            </a:r>
            <a:r>
              <a:rPr lang="vi-VN" dirty="0"/>
              <a:t>Kết luận:</a:t>
            </a:r>
          </a:p>
          <a:p>
            <a:r>
              <a:rPr lang="vi-VN" dirty="0"/>
              <a:t>Prototype biến người dùng từ “người được hỏi” thành </a:t>
            </a:r>
            <a:r>
              <a:rPr lang="vi-VN" b="1" dirty="0"/>
              <a:t>người đồng thiết kế</a:t>
            </a:r>
            <a:r>
              <a:rPr lang="vi-VN" dirty="0"/>
              <a:t>.</a:t>
            </a:r>
          </a:p>
          <a:p>
            <a:r>
              <a:rPr lang="en-US" b="1" dirty="0"/>
              <a:t>* </a:t>
            </a:r>
            <a:r>
              <a:rPr lang="vi-VN" b="1" dirty="0"/>
              <a:t>Baseline for Design – Nền tảng cho kỹ thuật</a:t>
            </a:r>
          </a:p>
          <a:p>
            <a:r>
              <a:rPr lang="vi-VN" dirty="0"/>
              <a:t>Prototype không chỉ cho business: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giúp đội kỹ thuật: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hiểu phạm vi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hiểu mức độ phức tạp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tránh xây sai</a:t>
            </a:r>
          </a:p>
          <a:p>
            <a:r>
              <a:rPr lang="en-US" dirty="0"/>
              <a:t>=&gt; </a:t>
            </a:r>
            <a:r>
              <a:rPr lang="vi-VN" dirty="0"/>
              <a:t>Prototype = </a:t>
            </a:r>
            <a:r>
              <a:rPr lang="vi-VN" b="1" dirty="0"/>
              <a:t>ngôn ngữ chung</a:t>
            </a:r>
            <a:r>
              <a:rPr lang="vi-VN" dirty="0"/>
              <a:t> giữa Business và IT.</a:t>
            </a:r>
          </a:p>
          <a:p>
            <a:r>
              <a:rPr lang="vi-VN" b="1" dirty="0"/>
              <a:t>4. Recommended Visual Tools – Công cụ trực quan nên dùng</a:t>
            </a:r>
          </a:p>
          <a:p>
            <a:r>
              <a:rPr lang="vi-VN" dirty="0"/>
              <a:t>Bạn có thể giải thích ngắn gọn: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Storyboards</a:t>
            </a:r>
            <a:r>
              <a:rPr lang="vi-VN" dirty="0"/>
              <a:t>: Trình tự phân tích (người dùng nghĩ gì trước, xem gì sau)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Mock-ups</a:t>
            </a:r>
            <a:r>
              <a:rPr lang="vi-VN" dirty="0"/>
              <a:t>: Hình ảnh tĩnh của dashboard/report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Prototypes</a:t>
            </a:r>
            <a:r>
              <a:rPr lang="vi-VN" dirty="0"/>
              <a:t>: Gần giống sản phẩm thật, có tương tác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Sample Reports</a:t>
            </a:r>
            <a:r>
              <a:rPr lang="vi-VN" dirty="0"/>
              <a:t>: Báo cáo mẫu để thống nhất định dạng và KPI</a:t>
            </a:r>
          </a:p>
          <a:p>
            <a:r>
              <a:rPr lang="en-US" dirty="0"/>
              <a:t>** </a:t>
            </a:r>
            <a:r>
              <a:rPr lang="vi-VN" dirty="0"/>
              <a:t>Lưu ý cho sinh viên:</a:t>
            </a:r>
          </a:p>
          <a:p>
            <a:r>
              <a:rPr lang="vi-VN" dirty="0"/>
              <a:t>Không cần công cụ phức tạp – quan trọng là </a:t>
            </a:r>
            <a:r>
              <a:rPr lang="vi-VN" b="1" dirty="0"/>
              <a:t>tư duy trực quan</a:t>
            </a:r>
            <a:r>
              <a:rPr lang="vi-VN" dirty="0"/>
              <a:t>.</a:t>
            </a:r>
          </a:p>
          <a:p>
            <a:r>
              <a:rPr lang="vi-VN" b="1" dirty="0"/>
              <a:t>5. Liên hệ học thuật</a:t>
            </a:r>
          </a:p>
          <a:p>
            <a:r>
              <a:rPr lang="vi-VN" dirty="0"/>
              <a:t>Slide này liên kết trực tiếp với: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Requirements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User-Centered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Agile / Iterative Development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Adoption &amp; Change Management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The Finish Line: Final Sign-off</a:t>
            </a:r>
          </a:p>
          <a:p>
            <a:r>
              <a:rPr lang="vi-VN" b="1" dirty="0"/>
              <a:t>(Vạch đích: Phê duyệt cuối cùng)</a:t>
            </a:r>
          </a:p>
          <a:p>
            <a:r>
              <a:rPr lang="vi-VN" b="1" dirty="0"/>
              <a:t>1. Ý nghĩa cốt lõi của slide</a:t>
            </a:r>
          </a:p>
          <a:p>
            <a:r>
              <a:rPr lang="vi-VN" dirty="0"/>
              <a:t>Slide này nhấn mạnh </a:t>
            </a:r>
            <a:r>
              <a:rPr lang="vi-VN" b="1" dirty="0"/>
              <a:t>một trong những bước quan trọng nhất nhưng thường bị xem nhẹ</a:t>
            </a:r>
            <a:r>
              <a:rPr lang="vi-VN" dirty="0"/>
              <a:t> trong dự án BI:</a:t>
            </a:r>
          </a:p>
          <a:p>
            <a:r>
              <a:rPr lang="vi-VN" b="1" dirty="0"/>
              <a:t>Final sign-off không phải là thủ tục hành chính –</a:t>
            </a:r>
            <a:r>
              <a:rPr lang="en-US" b="1" dirty="0"/>
              <a:t> </a:t>
            </a:r>
            <a:r>
              <a:rPr lang="vi-VN" b="1" dirty="0"/>
              <a:t>nó là cơ chế bảo vệ dự án khỏi thất bại.</a:t>
            </a:r>
            <a:endParaRPr lang="vi-VN" dirty="0"/>
          </a:p>
          <a:p>
            <a:r>
              <a:rPr lang="vi-VN" b="1" dirty="0"/>
              <a:t>2. Ba nội dung chính ở phía bên trái</a:t>
            </a:r>
          </a:p>
          <a:p>
            <a:r>
              <a:rPr lang="en-US" b="1" dirty="0"/>
              <a:t>* </a:t>
            </a:r>
            <a:r>
              <a:rPr lang="vi-VN" b="1" dirty="0"/>
              <a:t>Formal Approval – Phê duyệt chính thức</a:t>
            </a:r>
          </a:p>
          <a:p>
            <a:r>
              <a:rPr lang="vi-VN" dirty="0"/>
              <a:t>Giải thích cho sinh viên: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Đây là thời điểm: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Sponsor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Stakeholders chính</a:t>
            </a:r>
            <a:br>
              <a:rPr lang="vi-VN" dirty="0"/>
            </a:br>
            <a:r>
              <a:rPr lang="vi-VN" b="1" dirty="0"/>
              <a:t>chính thức đồng ý</a:t>
            </a:r>
            <a:r>
              <a:rPr lang="vi-VN" dirty="0"/>
              <a:t> với toàn bộ tài liệu yêu cầu.</a:t>
            </a:r>
          </a:p>
          <a:p>
            <a:r>
              <a:rPr lang="en-US" dirty="0"/>
              <a:t>* </a:t>
            </a:r>
            <a:r>
              <a:rPr lang="vi-VN" dirty="0"/>
              <a:t>Ý nghĩa: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Từ “tôi nghĩ là…” → “chúng ta đã thống nhất”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Trách nhiệm được xác lập rõ ràng</a:t>
            </a:r>
          </a:p>
          <a:p>
            <a:r>
              <a:rPr lang="en-US" dirty="0"/>
              <a:t>* </a:t>
            </a:r>
            <a:r>
              <a:rPr lang="vi-VN" dirty="0"/>
              <a:t>Nhấn mạnh:</a:t>
            </a:r>
          </a:p>
          <a:p>
            <a:r>
              <a:rPr lang="vi-VN" dirty="0"/>
              <a:t>Nếu không có chữ ký, yêu cầu </a:t>
            </a:r>
            <a:r>
              <a:rPr lang="vi-VN" b="1" dirty="0"/>
              <a:t>chưa bao giờ thực sự tồn tại</a:t>
            </a:r>
            <a:r>
              <a:rPr lang="vi-VN" dirty="0"/>
              <a:t>.</a:t>
            </a:r>
          </a:p>
          <a:p>
            <a:r>
              <a:rPr lang="en-US" b="1" dirty="0"/>
              <a:t> * </a:t>
            </a:r>
            <a:r>
              <a:rPr lang="vi-VN" b="1" dirty="0"/>
              <a:t>Requirements Baseline – Đóng băng yêu cầu</a:t>
            </a:r>
          </a:p>
          <a:p>
            <a:r>
              <a:rPr lang="vi-VN" dirty="0"/>
              <a:t>Giải thích: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“Baseline” nghĩa là: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tập yêu cầu </a:t>
            </a:r>
            <a:r>
              <a:rPr lang="vi-VN" b="1" dirty="0"/>
              <a:t>ổn định</a:t>
            </a:r>
            <a:endParaRPr lang="vi-V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dùng làm cơ sở cho: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vi-VN" dirty="0"/>
              <a:t>thiết kế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vi-VN" dirty="0"/>
              <a:t>phát triển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vi-VN" dirty="0"/>
              <a:t>kiểm thử</a:t>
            </a:r>
          </a:p>
          <a:p>
            <a:r>
              <a:rPr lang="en-US" dirty="0"/>
              <a:t>=&gt; </a:t>
            </a:r>
            <a:r>
              <a:rPr lang="vi-VN" dirty="0"/>
              <a:t>Cho sinh viên dễ hiểu: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Giống như bản vẽ đã duyệt trước khi xây nhà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Sau baseline: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thay đổi vẫn có thể xảy 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nhưng </a:t>
            </a:r>
            <a:r>
              <a:rPr lang="vi-VN" b="1" dirty="0"/>
              <a:t>phải qua quy trình kiểm soát</a:t>
            </a:r>
            <a:endParaRPr lang="vi-VN" dirty="0"/>
          </a:p>
          <a:p>
            <a:r>
              <a:rPr lang="en-US" b="1" dirty="0"/>
              <a:t>* </a:t>
            </a:r>
            <a:r>
              <a:rPr lang="vi-VN" b="1" dirty="0"/>
              <a:t>Scope Locked – Khóa phạm vi</a:t>
            </a:r>
          </a:p>
          <a:p>
            <a:r>
              <a:rPr lang="vi-VN" dirty="0"/>
              <a:t>Ý nghĩa thực tế: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Mọi người </a:t>
            </a:r>
            <a:r>
              <a:rPr lang="vi-VN" b="1" dirty="0"/>
              <a:t>không thể tự ý</a:t>
            </a:r>
            <a:r>
              <a:rPr lang="vi-V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thêm báo cáo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thêm KPI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“nhờ làm thêm tí”</a:t>
            </a:r>
          </a:p>
          <a:p>
            <a:r>
              <a:rPr lang="en-US" dirty="0"/>
              <a:t>=&gt; </a:t>
            </a:r>
            <a:r>
              <a:rPr lang="vi-VN" dirty="0"/>
              <a:t>Thông điệp quản lý dự án:</a:t>
            </a:r>
          </a:p>
          <a:p>
            <a:r>
              <a:rPr lang="vi-VN" dirty="0"/>
              <a:t>Scope không được khóa = dự án không có điểm kết thúc.</a:t>
            </a:r>
          </a:p>
          <a:p>
            <a:r>
              <a:rPr lang="vi-VN" b="1" dirty="0"/>
              <a:t>3. Khu vực cảnh báo – The Danger Zone (bên phải slide)</a:t>
            </a:r>
          </a:p>
          <a:p>
            <a:r>
              <a:rPr lang="vi-VN" b="1" dirty="0"/>
              <a:t>Không có sign-off → scope creep là điều tất yếu</a:t>
            </a:r>
          </a:p>
          <a:p>
            <a:r>
              <a:rPr lang="vi-VN" dirty="0"/>
              <a:t>Giải thích thuật ngữ cho sinh viên: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Scope creep</a:t>
            </a:r>
            <a:r>
              <a:rPr lang="vi-V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phạm vi tăng dần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ai chịu trách nhiệm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điều chỉnh ngân sách hoặc thời gian</a:t>
            </a:r>
          </a:p>
          <a:p>
            <a:r>
              <a:rPr lang="en-US" dirty="0"/>
              <a:t>* </a:t>
            </a:r>
            <a:r>
              <a:rPr lang="vi-VN" dirty="0"/>
              <a:t>Ví dụ thực tế: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“Tiện thể thêm cột này”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“Dashboard này làm giống cái kia luôn nhé”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“Cái này nhỏ thôi mà”</a:t>
            </a:r>
          </a:p>
          <a:p>
            <a:r>
              <a:rPr lang="vi-VN" dirty="0"/>
              <a:t>⟶ tích lũy thành: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trễ tiến độ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vượt ngân sách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thất bại dự án</a:t>
            </a:r>
          </a:p>
          <a:p>
            <a:r>
              <a:rPr lang="en-US" b="1" dirty="0"/>
              <a:t>***</a:t>
            </a:r>
            <a:r>
              <a:rPr lang="vi-VN" b="1" dirty="0"/>
              <a:t> Kỳ vọng mơ hồ → thất bại chắc chắn</a:t>
            </a:r>
          </a:p>
          <a:p>
            <a:r>
              <a:rPr lang="vi-VN" dirty="0"/>
              <a:t>Giải thích: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Khi không có văn bản ký: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mỗi bên giữ một “phiên bản trong đầu”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đến lúc bàn giao → “không giống tôi nghĩ”</a:t>
            </a:r>
          </a:p>
          <a:p>
            <a:r>
              <a:rPr lang="en-US" dirty="0"/>
              <a:t>=&gt; </a:t>
            </a:r>
            <a:r>
              <a:rPr lang="vi-VN" dirty="0"/>
              <a:t>Câu then chốt:</a:t>
            </a:r>
          </a:p>
          <a:p>
            <a:r>
              <a:rPr lang="vi-VN" dirty="0"/>
              <a:t>Dự án không thất bại vì code sai,</a:t>
            </a:r>
            <a:br>
              <a:rPr lang="vi-VN" dirty="0"/>
            </a:br>
            <a:r>
              <a:rPr lang="vi-VN" dirty="0"/>
              <a:t>mà vì </a:t>
            </a:r>
            <a:r>
              <a:rPr lang="vi-VN" b="1" dirty="0"/>
              <a:t>kỳ vọng không được chốt</a:t>
            </a:r>
            <a:r>
              <a:rPr lang="vi-VN" dirty="0"/>
              <a:t>.</a:t>
            </a:r>
          </a:p>
          <a:p>
            <a:r>
              <a:rPr lang="vi-VN" b="1" dirty="0"/>
              <a:t>4. Thông điệp kết luận (Bottom Line)</a:t>
            </a:r>
          </a:p>
          <a:p>
            <a:r>
              <a:rPr lang="vi-VN" b="1" dirty="0"/>
              <a:t>Tài liệu yêu cầu đã ký = hợp đồng</a:t>
            </a:r>
          </a:p>
          <a:p>
            <a:r>
              <a:rPr lang="vi-VN" dirty="0"/>
              <a:t>Giải thích học thuật: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Đây là </a:t>
            </a:r>
            <a:r>
              <a:rPr lang="vi-VN" b="1" dirty="0"/>
              <a:t>contract</a:t>
            </a:r>
            <a:r>
              <a:rPr lang="vi-VN" dirty="0"/>
              <a:t> (hợp đồng mềm) giữa: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Business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IT / BI team</a:t>
            </a:r>
          </a:p>
          <a:p>
            <a:r>
              <a:rPr lang="vi-VN" dirty="0"/>
              <a:t>Nó: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vệ Business khỏi: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giải pháp không đúng nhu cầu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bảo vệ IT khỏi: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yêu cầu thay đổi vô hạn</a:t>
            </a:r>
          </a:p>
          <a:p>
            <a:r>
              <a:rPr lang="en-US" dirty="0"/>
              <a:t>=&gt;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vi-VN" dirty="0"/>
              <a:t>:</a:t>
            </a:r>
            <a:r>
              <a:rPr lang="en-US" dirty="0"/>
              <a:t> </a:t>
            </a:r>
            <a:r>
              <a:rPr lang="vi-VN" b="1" dirty="0"/>
              <a:t>Sign-off protects both sides.</a:t>
            </a:r>
            <a:endParaRPr lang="vi-V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Summary: Key Takeaways for Chapter 3</a:t>
            </a:r>
          </a:p>
          <a:p>
            <a:r>
              <a:rPr lang="vi-VN" b="1" dirty="0"/>
              <a:t>(Tổng kết: Những điểm cốt lõi của Chương 3)</a:t>
            </a:r>
          </a:p>
          <a:p>
            <a:r>
              <a:rPr lang="vi-VN" dirty="0"/>
              <a:t>Chương 3 tập trung trả lời một câu hỏi nền tảng:</a:t>
            </a:r>
          </a:p>
          <a:p>
            <a:r>
              <a:rPr lang="vi-VN" b="1" dirty="0"/>
              <a:t>Làm thế nào để xác định yêu cầu BI đúng ngay từ đầu để tránh thất bại về sau?</a:t>
            </a:r>
            <a:endParaRPr lang="vi-VN" dirty="0"/>
          </a:p>
          <a:p>
            <a:r>
              <a:rPr lang="vi-VN" dirty="0"/>
              <a:t>Slide này cô đọng toàn bộ chương thành </a:t>
            </a:r>
            <a:r>
              <a:rPr lang="vi-VN" b="1" dirty="0"/>
              <a:t>4 thông điệp chiến lược</a:t>
            </a:r>
            <a:r>
              <a:rPr lang="vi-VN" dirty="0"/>
              <a:t>.</a:t>
            </a:r>
          </a:p>
          <a:p>
            <a:r>
              <a:rPr lang="vi-VN" b="1" dirty="0"/>
              <a:t>1. Business First – Kinh doanh là điểm xuất phát</a:t>
            </a:r>
          </a:p>
          <a:p>
            <a:r>
              <a:rPr lang="vi-VN" b="1" dirty="0"/>
              <a:t>Nội dung chính</a:t>
            </a:r>
          </a:p>
          <a:p>
            <a:r>
              <a:rPr lang="vi-VN" dirty="0"/>
              <a:t>Requirements must be driven by </a:t>
            </a:r>
            <a:r>
              <a:rPr lang="vi-VN" b="1" dirty="0"/>
              <a:t>business needs and processes</a:t>
            </a:r>
            <a:r>
              <a:rPr lang="vi-VN" dirty="0"/>
              <a:t>,</a:t>
            </a:r>
            <a:br>
              <a:rPr lang="vi-VN" dirty="0"/>
            </a:br>
            <a:r>
              <a:rPr lang="vi-VN" dirty="0"/>
              <a:t>not by BI tool features.</a:t>
            </a:r>
          </a:p>
          <a:p>
            <a:r>
              <a:rPr lang="vi-VN" b="1" dirty="0"/>
              <a:t>Giải thích cho sinh viên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Yêu cầu BI: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 dirty="0"/>
              <a:t>không bắt đầu từ công cụ</a:t>
            </a:r>
            <a:endParaRPr lang="vi-V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 dirty="0"/>
              <a:t>không bắt đầu từ dashboard</a:t>
            </a:r>
            <a:endParaRPr lang="vi-V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b="1" dirty="0"/>
              <a:t>không bắt đầu từ dữ liệu sẵn có</a:t>
            </a:r>
            <a:endParaRPr lang="vi-VN" dirty="0"/>
          </a:p>
          <a:p>
            <a:r>
              <a:rPr lang="en-US" dirty="0"/>
              <a:t>=&gt;</a:t>
            </a:r>
            <a:r>
              <a:rPr lang="vi-VN" dirty="0"/>
              <a:t> Mà phải bắt đầu từ: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 trình kinh doanh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quyết định cần 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vấn đề cần giải quyết</a:t>
            </a:r>
          </a:p>
          <a:p>
            <a:r>
              <a:rPr lang="en-US" dirty="0"/>
              <a:t>**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Sai: “Power BI có làm được cái này không?”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Đúng: “Quyết định nào đang khó đưa ra nhất trong quy trình này?”</a:t>
            </a:r>
          </a:p>
          <a:p>
            <a:r>
              <a:rPr lang="vi-VN" b="1" dirty="0"/>
              <a:t>2. Data Trust – Niềm tin vào dữ liệu</a:t>
            </a:r>
          </a:p>
          <a:p>
            <a:r>
              <a:rPr lang="vi-VN" b="1" dirty="0"/>
              <a:t>Nội dung chính</a:t>
            </a:r>
          </a:p>
          <a:p>
            <a:r>
              <a:rPr lang="vi-VN" dirty="0"/>
              <a:t>The “Five Cs” of data quality are </a:t>
            </a:r>
            <a:r>
              <a:rPr lang="vi-VN" b="1" dirty="0"/>
              <a:t>non-negotiable</a:t>
            </a:r>
            <a:r>
              <a:rPr lang="vi-VN" dirty="0"/>
              <a:t>.</a:t>
            </a:r>
          </a:p>
          <a:p>
            <a:r>
              <a:rPr lang="vi-VN" dirty="0"/>
              <a:t>Nhắc lại 5C: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Clean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Consistent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Conformed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Current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Comprehensive</a:t>
            </a:r>
          </a:p>
          <a:p>
            <a:r>
              <a:rPr lang="vi-VN" b="1" dirty="0"/>
              <a:t>Thông điệp học thuật quan trọng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</a:t>
            </a:r>
            <a:r>
              <a:rPr lang="vi-VN" b="1" dirty="0"/>
              <a:t>không thất bại vì thiếu dashboard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BI </a:t>
            </a:r>
            <a:r>
              <a:rPr lang="vi-VN" b="1" dirty="0"/>
              <a:t>thất bại vì người dùng không tin dữ liệu</a:t>
            </a:r>
            <a:endParaRPr lang="vi-VN" dirty="0"/>
          </a:p>
          <a:p>
            <a:r>
              <a:rPr lang="en-US" dirty="0"/>
              <a:t>* </a:t>
            </a:r>
            <a:r>
              <a:rPr lang="vi-VN" dirty="0"/>
              <a:t>Câu nhấn mạnh cho sinh viên:</a:t>
            </a:r>
          </a:p>
          <a:p>
            <a:r>
              <a:rPr lang="vi-VN" b="1" dirty="0"/>
              <a:t>No trust → no usage → no value</a:t>
            </a:r>
            <a:endParaRPr lang="vi-VN" dirty="0"/>
          </a:p>
          <a:p>
            <a:r>
              <a:rPr lang="vi-VN" dirty="0"/>
              <a:t>Chương 3 cho thấy: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Data quality </a:t>
            </a:r>
            <a:r>
              <a:rPr lang="vi-VN" b="1" dirty="0"/>
              <a:t>phải được đưa vào yêu cầu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Không thể “sửa sau khi build xong”</a:t>
            </a:r>
          </a:p>
          <a:p>
            <a:r>
              <a:rPr lang="vi-VN" b="1" dirty="0"/>
              <a:t>3. Visual Clarity – Rõ ràng bằng trực quan</a:t>
            </a:r>
          </a:p>
          <a:p>
            <a:r>
              <a:rPr lang="vi-VN" b="1" dirty="0"/>
              <a:t>Nội dung chính</a:t>
            </a:r>
          </a:p>
          <a:p>
            <a:r>
              <a:rPr lang="vi-VN" dirty="0"/>
              <a:t>Use </a:t>
            </a:r>
            <a:r>
              <a:rPr lang="vi-VN" b="1" dirty="0"/>
              <a:t>storyboarding and prototyping</a:t>
            </a:r>
            <a:r>
              <a:rPr lang="vi-VN" dirty="0"/>
              <a:t> to bridge the communication gap.</a:t>
            </a:r>
          </a:p>
          <a:p>
            <a:r>
              <a:rPr lang="vi-VN" b="1" dirty="0"/>
              <a:t>Giải thích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Văn bản dài → dễ hiểu sai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Hình ảnh, storyboard, prototype → dễ: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xác nhận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phản biện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thống nhất</a:t>
            </a:r>
          </a:p>
          <a:p>
            <a:r>
              <a:rPr lang="en-US" dirty="0"/>
              <a:t>* </a:t>
            </a:r>
            <a:r>
              <a:rPr lang="vi-VN" dirty="0"/>
              <a:t>Vai trò của trực quan: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giúp business nói rõ “cái họ cần”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giúp IT hiểu “cái phải xây”</a:t>
            </a:r>
          </a:p>
          <a:p>
            <a:r>
              <a:rPr lang="en-US" dirty="0"/>
              <a:t>* </a:t>
            </a:r>
            <a:r>
              <a:rPr lang="vi-VN" dirty="0"/>
              <a:t>Ghi nhớ:</a:t>
            </a:r>
          </a:p>
          <a:p>
            <a:r>
              <a:rPr lang="vi-VN" dirty="0"/>
              <a:t>Một prototype 1 trang giá trị hơn 20 trang mô tả yêu cầu.</a:t>
            </a:r>
          </a:p>
          <a:p>
            <a:r>
              <a:rPr lang="vi-VN" b="1" dirty="0"/>
              <a:t>4. Governance – Quản trị và kỷ luật dự án</a:t>
            </a:r>
          </a:p>
          <a:p>
            <a:r>
              <a:rPr lang="vi-VN" b="1" dirty="0"/>
              <a:t>Nội dung chính</a:t>
            </a:r>
          </a:p>
          <a:p>
            <a:r>
              <a:rPr lang="vi-VN" dirty="0"/>
              <a:t>Formal sign-off is the </a:t>
            </a:r>
            <a:r>
              <a:rPr lang="vi-VN" b="1" dirty="0"/>
              <a:t>contract</a:t>
            </a:r>
            <a:r>
              <a:rPr lang="vi-VN" dirty="0"/>
              <a:t> that locks scope and expectations.</a:t>
            </a:r>
          </a:p>
          <a:p>
            <a:r>
              <a:rPr lang="vi-VN" b="1" dirty="0"/>
              <a:t>Ý nghĩa cốt lõi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Sign-off: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phải thủ tục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không phải hình thức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mà là </a:t>
            </a:r>
            <a:r>
              <a:rPr lang="vi-VN" b="1" dirty="0"/>
              <a:t>cơ chế kiểm soát rủi ro</a:t>
            </a:r>
            <a:endParaRPr lang="vi-VN" dirty="0"/>
          </a:p>
          <a:p>
            <a:r>
              <a:rPr lang="en-US" dirty="0"/>
              <a:t>* </a:t>
            </a:r>
            <a:r>
              <a:rPr lang="vi-VN" dirty="0"/>
              <a:t>Nếu không có sign-off: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scope creep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trễ tiến độ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vượt ngân sách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“không đúng cái tôi nghĩ”</a:t>
            </a:r>
          </a:p>
          <a:p>
            <a:r>
              <a:rPr lang="en-US" dirty="0"/>
              <a:t>** </a:t>
            </a:r>
            <a:r>
              <a:rPr lang="vi-VN" dirty="0"/>
              <a:t>Câu then chốt của chương:</a:t>
            </a:r>
          </a:p>
          <a:p>
            <a:r>
              <a:rPr lang="vi-VN" b="1" dirty="0"/>
              <a:t>Sign-off biến yêu cầu thành cam kết.</a:t>
            </a:r>
            <a:endParaRPr lang="vi-VN" dirty="0"/>
          </a:p>
          <a:p>
            <a:r>
              <a:rPr lang="vi-VN" b="1" dirty="0"/>
              <a:t>5. Bức tranh tổng thể của Chương 3</a:t>
            </a:r>
          </a:p>
          <a:p>
            <a:r>
              <a:rPr lang="vi-VN" dirty="0"/>
              <a:t>Nếu làm đúng</a:t>
            </a:r>
            <a:r>
              <a:rPr lang="en-US" dirty="0"/>
              <a:t>			</a:t>
            </a:r>
            <a:r>
              <a:rPr lang="vi-VN" dirty="0"/>
              <a:t>Nếu làm sai</a:t>
            </a:r>
            <a:endParaRPr lang="en-US" dirty="0"/>
          </a:p>
          <a:p>
            <a:r>
              <a:rPr lang="vi-VN" dirty="0"/>
              <a:t>BI là chương trình chiến lược</a:t>
            </a:r>
            <a:r>
              <a:rPr lang="en-US" dirty="0"/>
              <a:t>		</a:t>
            </a:r>
            <a:r>
              <a:rPr lang="vi-VN" dirty="0"/>
              <a:t>BI là dự án IT</a:t>
            </a:r>
            <a:endParaRPr lang="en-US" dirty="0"/>
          </a:p>
          <a:p>
            <a:r>
              <a:rPr lang="vi-VN" dirty="0"/>
              <a:t>Yêu cầu rõ rang</a:t>
            </a:r>
            <a:r>
              <a:rPr lang="en-US" dirty="0"/>
              <a:t>		</a:t>
            </a:r>
            <a:r>
              <a:rPr lang="vi-VN" dirty="0"/>
              <a:t>Kỳ vọng mơ hồ</a:t>
            </a:r>
            <a:endParaRPr lang="en-US" dirty="0"/>
          </a:p>
          <a:p>
            <a:r>
              <a:rPr lang="vi-VN" dirty="0"/>
              <a:t>Dữ liệu đáng tin</a:t>
            </a:r>
            <a:r>
              <a:rPr lang="en-US" dirty="0"/>
              <a:t>		</a:t>
            </a:r>
            <a:r>
              <a:rPr lang="vi-VN" dirty="0"/>
              <a:t>Tranh cãi số liệu</a:t>
            </a:r>
            <a:endParaRPr lang="en-US" dirty="0"/>
          </a:p>
          <a:p>
            <a:r>
              <a:rPr lang="vi-VN" dirty="0"/>
              <a:t>Phạm vi kiểm soát</a:t>
            </a:r>
            <a:r>
              <a:rPr lang="en-US" dirty="0"/>
              <a:t>		</a:t>
            </a:r>
            <a:r>
              <a:rPr lang="vi-VN" dirty="0"/>
              <a:t>Scope creep</a:t>
            </a:r>
            <a:endParaRPr lang="en-US" dirty="0"/>
          </a:p>
          <a:p>
            <a:r>
              <a:rPr lang="vi-VN" dirty="0"/>
              <a:t>Có khả năng thành công</a:t>
            </a:r>
            <a:r>
              <a:rPr lang="en-US"/>
              <a:t>		</a:t>
            </a:r>
            <a:r>
              <a:rPr lang="vi-VN"/>
              <a:t>Nguy </a:t>
            </a:r>
            <a:r>
              <a:rPr lang="vi-VN" dirty="0"/>
              <a:t>cơ thất bại cao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3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3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3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3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3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3" Type="http://schemas.openxmlformats.org/officeDocument/2006/relationships/image" Target="../media/image3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3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3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3.png"/><Relationship Id="rId7" Type="http://schemas.openxmlformats.org/officeDocument/2006/relationships/image" Target="../media/image14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png"/><Relationship Id="rId11" Type="http://schemas.openxmlformats.org/officeDocument/2006/relationships/image" Target="../media/image149.png"/><Relationship Id="rId5" Type="http://schemas.openxmlformats.org/officeDocument/2006/relationships/image" Target="../media/image143.png"/><Relationship Id="rId10" Type="http://schemas.openxmlformats.org/officeDocument/2006/relationships/image" Target="../media/image148.png"/><Relationship Id="rId4" Type="http://schemas.openxmlformats.org/officeDocument/2006/relationships/image" Target="../media/image142.png"/><Relationship Id="rId9" Type="http://schemas.openxmlformats.org/officeDocument/2006/relationships/image" Target="../media/image14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3" Type="http://schemas.openxmlformats.org/officeDocument/2006/relationships/image" Target="../media/image116.png"/><Relationship Id="rId7" Type="http://schemas.openxmlformats.org/officeDocument/2006/relationships/image" Target="../media/image1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2.png"/><Relationship Id="rId11" Type="http://schemas.openxmlformats.org/officeDocument/2006/relationships/image" Target="../media/image156.png"/><Relationship Id="rId5" Type="http://schemas.openxmlformats.org/officeDocument/2006/relationships/image" Target="../media/image151.png"/><Relationship Id="rId10" Type="http://schemas.openxmlformats.org/officeDocument/2006/relationships/image" Target="../media/image155.png"/><Relationship Id="rId4" Type="http://schemas.openxmlformats.org/officeDocument/2006/relationships/image" Target="../media/image150.png"/><Relationship Id="rId9" Type="http://schemas.openxmlformats.org/officeDocument/2006/relationships/image" Target="../media/image1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3.png"/><Relationship Id="rId5" Type="http://schemas.openxmlformats.org/officeDocument/2006/relationships/image" Target="../media/image162.png"/><Relationship Id="rId4" Type="http://schemas.openxmlformats.org/officeDocument/2006/relationships/image" Target="../media/image1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56110"/>
            <a:ext cx="427768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3" dirty="0">
                <a:solidFill>
                  <a:srgbClr val="64FFDA"/>
                </a:solidFill>
              </a:rPr>
              <a:t>Chapter 3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571500" y="1932942"/>
            <a:ext cx="4277683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CCD6F6"/>
                </a:solidFill>
              </a:rPr>
              <a:t>Defining Requirements</a:t>
            </a:r>
            <a:endParaRPr lang="en-US" sz="2862" dirty="0"/>
          </a:p>
        </p:txBody>
      </p:sp>
      <p:sp>
        <p:nvSpPr>
          <p:cNvPr id="5" name="Text 2"/>
          <p:cNvSpPr/>
          <p:nvPr/>
        </p:nvSpPr>
        <p:spPr>
          <a:xfrm>
            <a:off x="571500" y="3027331"/>
            <a:ext cx="4277683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86" dirty="0">
                <a:solidFill>
                  <a:srgbClr val="8892B0"/>
                </a:solidFill>
              </a:rPr>
              <a:t>Business, Data, and Quality: The Foundation of BI Success</a:t>
            </a:r>
            <a:endParaRPr lang="en-US" sz="1486" dirty="0"/>
          </a:p>
        </p:txBody>
      </p:sp>
      <p:sp>
        <p:nvSpPr>
          <p:cNvPr id="6" name="Shape 3"/>
          <p:cNvSpPr/>
          <p:nvPr/>
        </p:nvSpPr>
        <p:spPr>
          <a:xfrm>
            <a:off x="5420683" y="0"/>
            <a:ext cx="3723317" cy="514350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7" name="Shape 4"/>
          <p:cNvSpPr/>
          <p:nvPr/>
        </p:nvSpPr>
        <p:spPr>
          <a:xfrm>
            <a:off x="5420683" y="0"/>
            <a:ext cx="14288" cy="5143500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75" y="1540371"/>
            <a:ext cx="428625" cy="571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7875" y="2779812"/>
            <a:ext cx="2762038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Business Intelligence (INT14181_CLC)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857875" y="3045916"/>
            <a:ext cx="65" cy="147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5857875" y="3363813"/>
            <a:ext cx="2857500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i="1" dirty="0">
                <a:solidFill>
                  <a:srgbClr val="8892B0"/>
                </a:solidFill>
              </a:rPr>
              <a:t>"Most BI failures are caused by poorly defined requirements, not technology."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Why Requirements Matter: The Project Blueprint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371850" cy="4116586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3371850" cy="285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675" y="1423392"/>
            <a:ext cx="571500" cy="571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7250" y="2305645"/>
            <a:ext cx="2800350" cy="71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"You wouldn’t build a house without blueprints; BI requirements are your project blueprints."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975" y="1094780"/>
            <a:ext cx="192881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07731" y="1026914"/>
            <a:ext cx="38647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Document what will be built</a:t>
            </a:r>
            <a:r>
              <a:rPr lang="en-US" sz="1400" dirty="0">
                <a:solidFill>
                  <a:srgbClr val="CCD6F6"/>
                </a:solidFill>
              </a:rPr>
              <a:t> to align expectations and manage project scope.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975" y="1737717"/>
            <a:ext cx="214313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29163" y="1669852"/>
            <a:ext cx="38433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Establish a shared understanding</a:t>
            </a:r>
            <a:r>
              <a:rPr lang="en-US" sz="1400" dirty="0">
                <a:solidFill>
                  <a:srgbClr val="CCD6F6"/>
                </a:solidFill>
              </a:rPr>
              <a:t> between business stakeholders and the IT/BI team.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1975" y="2380655"/>
            <a:ext cx="192881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707731" y="2321719"/>
            <a:ext cx="1722587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Provide the foundation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6355510" y="2321719"/>
            <a:ext cx="2082558" cy="2108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for all technical deliverables: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4850606" y="2634258"/>
            <a:ext cx="2068067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Data Models (The Structure)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4850606" y="2898577"/>
            <a:ext cx="2528000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Data Integration (The ETL Pipeline)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4850606" y="3162895"/>
            <a:ext cx="2862258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BI Applications (Dashboards &amp; Reports)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Human Challenge: People, Politics, and Assumptions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2524116" cy="3211116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368028"/>
            <a:ext cx="357188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880592"/>
            <a:ext cx="1234633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People-Oriented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5813" y="2237780"/>
            <a:ext cx="2095491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The most people-oriented phase of BI development.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85813" y="2710662"/>
            <a:ext cx="2095491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Requires heavy interaction between business users, sponsors, and the BI team.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309928" y="1026914"/>
            <a:ext cx="2524116" cy="3211116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7"/>
          <p:cNvSpPr/>
          <p:nvPr/>
        </p:nvSpPr>
        <p:spPr>
          <a:xfrm>
            <a:off x="3309928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41" y="1368028"/>
            <a:ext cx="285750" cy="285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4241" y="1880592"/>
            <a:ext cx="1332929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Political Influence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3524241" y="2237780"/>
            <a:ext cx="209549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Politics between groups can influence behavior, attitudes, and discussions in subtle ways.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524241" y="2893526"/>
            <a:ext cx="2095491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Issues may be out of the comfort zone for many technical IT staff.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48356" y="1026914"/>
            <a:ext cx="2524116" cy="3211116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7" name="Shape 12"/>
          <p:cNvSpPr/>
          <p:nvPr/>
        </p:nvSpPr>
        <p:spPr>
          <a:xfrm>
            <a:off x="6048356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368028"/>
            <a:ext cx="285750" cy="285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62669" y="1880592"/>
            <a:ext cx="1542795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Hidden Assumptions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262669" y="2237780"/>
            <a:ext cx="2095491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Reliance on undocumented spreadsheets and "shadow systems."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262669" y="2710662"/>
            <a:ext cx="2095491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Unspoken expectations can lead to major gaps in the final solution.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71500" y="4523780"/>
            <a:ext cx="8001000" cy="619720"/>
          </a:xfrm>
          <a:prstGeom prst="rect">
            <a:avLst/>
          </a:prstGeom>
          <a:solidFill>
            <a:srgbClr val="F44336">
              <a:alpha val="10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571500" y="4523780"/>
            <a:ext cx="42863" cy="6197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4" name="Text 18"/>
          <p:cNvSpPr/>
          <p:nvPr/>
        </p:nvSpPr>
        <p:spPr>
          <a:xfrm>
            <a:off x="857250" y="4702373"/>
            <a:ext cx="862993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44336"/>
                </a:solidFill>
              </a:rPr>
              <a:t>Critical Risk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57250" y="4968478"/>
            <a:ext cx="7965194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i="1" dirty="0">
                <a:solidFill>
                  <a:srgbClr val="CCD6F6"/>
                </a:solidFill>
              </a:rPr>
              <a:t>Requirement surprises late in the project are the primary cause of delays, cost overruns, and perceived failure.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Avoiding the Traps: Why Requirements Fail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2524116" cy="16814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8575" cy="1681460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1252835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700" y="1241227"/>
            <a:ext cx="785215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Vagueness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50094" y="1543050"/>
            <a:ext cx="2166928" cy="839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Requirements are too high-level to clarify needs or set realistic expectations. </a:t>
            </a:r>
            <a:r>
              <a:rPr lang="en-US" sz="1400" b="1" dirty="0">
                <a:solidFill>
                  <a:srgbClr val="CCD6F6"/>
                </a:solidFill>
              </a:rPr>
              <a:t>Ambiguity leads to interpretation errors.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309928" y="1026914"/>
            <a:ext cx="2524116" cy="16814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0" name="Shape 6"/>
          <p:cNvSpPr/>
          <p:nvPr/>
        </p:nvSpPr>
        <p:spPr>
          <a:xfrm>
            <a:off x="3309928" y="1026914"/>
            <a:ext cx="28575" cy="1681460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522" y="1252835"/>
            <a:ext cx="214313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09991" y="1241227"/>
            <a:ext cx="1021242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Narrow Focus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488522" y="1543050"/>
            <a:ext cx="2166928" cy="839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Restricting focus to just business needs while </a:t>
            </a:r>
            <a:r>
              <a:rPr lang="en-US" sz="1400" b="1" dirty="0">
                <a:solidFill>
                  <a:srgbClr val="CCD6F6"/>
                </a:solidFill>
              </a:rPr>
              <a:t>ignoring data and quality requirements</a:t>
            </a:r>
            <a:r>
              <a:rPr lang="en-US" sz="1400" dirty="0">
                <a:solidFill>
                  <a:srgbClr val="8892B0"/>
                </a:solidFill>
              </a:rPr>
              <a:t> that are critical for technical success.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048356" y="1026914"/>
            <a:ext cx="2524144" cy="16814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10"/>
          <p:cNvSpPr/>
          <p:nvPr/>
        </p:nvSpPr>
        <p:spPr>
          <a:xfrm>
            <a:off x="6048356" y="1026914"/>
            <a:ext cx="28575" cy="1681460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6950" y="1252835"/>
            <a:ext cx="1714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05556" y="1241227"/>
            <a:ext cx="801310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Stagnation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226950" y="1543050"/>
            <a:ext cx="2166956" cy="839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Failing to </a:t>
            </a:r>
            <a:r>
              <a:rPr lang="en-US" sz="1400" b="1" dirty="0">
                <a:solidFill>
                  <a:srgbClr val="CCD6F6"/>
                </a:solidFill>
              </a:rPr>
              <a:t>refine and update requirements</a:t>
            </a:r>
            <a:r>
              <a:rPr lang="en-US" sz="1400" dirty="0">
                <a:solidFill>
                  <a:srgbClr val="8892B0"/>
                </a:solidFill>
              </a:rPr>
              <a:t> as the project scope or business environment changes during development.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71500" y="2922687"/>
            <a:ext cx="2524116" cy="16814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500" y="2922687"/>
            <a:ext cx="28575" cy="1681460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094" y="3148608"/>
            <a:ext cx="214313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71563" y="3136999"/>
            <a:ext cx="691600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Exclusion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750094" y="3438823"/>
            <a:ext cx="2166928" cy="672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Not involving </a:t>
            </a:r>
            <a:r>
              <a:rPr lang="en-US" sz="1400" b="1" dirty="0">
                <a:solidFill>
                  <a:srgbClr val="CCD6F6"/>
                </a:solidFill>
              </a:rPr>
              <a:t>business power users</a:t>
            </a:r>
            <a:r>
              <a:rPr lang="en-US" sz="1400" dirty="0">
                <a:solidFill>
                  <a:srgbClr val="8892B0"/>
                </a:solidFill>
              </a:rPr>
              <a:t> or the </a:t>
            </a:r>
            <a:r>
              <a:rPr lang="en-US" sz="1400" b="1" dirty="0">
                <a:solidFill>
                  <a:srgbClr val="CCD6F6"/>
                </a:solidFill>
              </a:rPr>
              <a:t>BI designers and developers</a:t>
            </a:r>
            <a:r>
              <a:rPr lang="en-US" sz="1400" dirty="0">
                <a:solidFill>
                  <a:srgbClr val="8892B0"/>
                </a:solidFill>
              </a:rPr>
              <a:t> who will actually build the solution.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309928" y="2922687"/>
            <a:ext cx="2524116" cy="168146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5" name="Shape 18"/>
          <p:cNvSpPr/>
          <p:nvPr/>
        </p:nvSpPr>
        <p:spPr>
          <a:xfrm>
            <a:off x="3309928" y="2922687"/>
            <a:ext cx="28575" cy="1681460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8522" y="3148608"/>
            <a:ext cx="171450" cy="1714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767128" y="3136999"/>
            <a:ext cx="1370183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Legacy Replication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3488522" y="3438823"/>
            <a:ext cx="2166928" cy="672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Simply </a:t>
            </a:r>
            <a:r>
              <a:rPr lang="en-US" sz="1400" b="1" dirty="0">
                <a:solidFill>
                  <a:srgbClr val="CCD6F6"/>
                </a:solidFill>
              </a:rPr>
              <a:t>re-creating the existing system</a:t>
            </a:r>
            <a:r>
              <a:rPr lang="en-US" sz="1400" dirty="0">
                <a:solidFill>
                  <a:srgbClr val="8892B0"/>
                </a:solidFill>
              </a:rPr>
              <a:t> with all its current warts, inefficiencies, and outdated logic.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048356" y="2922687"/>
            <a:ext cx="2524144" cy="1681460"/>
          </a:xfrm>
          <a:prstGeom prst="rect">
            <a:avLst/>
          </a:prstGeom>
          <a:solidFill>
            <a:srgbClr val="112240">
              <a:alpha val="60000"/>
            </a:srgbClr>
          </a:solidFill>
          <a:ln/>
        </p:spPr>
      </p:sp>
      <p:sp>
        <p:nvSpPr>
          <p:cNvPr id="30" name="Shape 22"/>
          <p:cNvSpPr/>
          <p:nvPr/>
        </p:nvSpPr>
        <p:spPr>
          <a:xfrm>
            <a:off x="6048356" y="2922687"/>
            <a:ext cx="28575" cy="1681460"/>
          </a:xfrm>
          <a:prstGeom prst="rect">
            <a:avLst/>
          </a:prstGeom>
          <a:solidFill>
            <a:srgbClr val="B8BED0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6950" y="3148608"/>
            <a:ext cx="171450" cy="17145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505556" y="3136999"/>
            <a:ext cx="1154675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Cutting Corners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6226950" y="3438823"/>
            <a:ext cx="2166956" cy="839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Trying to save time by skipping formal documentation. </a:t>
            </a:r>
            <a:r>
              <a:rPr lang="en-US" sz="1400" b="1" dirty="0">
                <a:solidFill>
                  <a:srgbClr val="CCD6F6"/>
                </a:solidFill>
              </a:rPr>
              <a:t>Shortcuts in requirements lead to long delays in delivery.</a:t>
            </a:r>
            <a:endParaRPr lang="en-US" sz="1400" dirty="0"/>
          </a:p>
        </p:txBody>
      </p:sp>
      <p:sp>
        <p:nvSpPr>
          <p:cNvPr id="34" name="Shape 25"/>
          <p:cNvSpPr/>
          <p:nvPr/>
        </p:nvSpPr>
        <p:spPr>
          <a:xfrm>
            <a:off x="0" y="4818459"/>
            <a:ext cx="9144000" cy="325041"/>
          </a:xfrm>
          <a:prstGeom prst="rect">
            <a:avLst/>
          </a:prstGeom>
          <a:solidFill>
            <a:srgbClr val="F44336">
              <a:alpha val="5000"/>
            </a:srgbClr>
          </a:solidFill>
          <a:ln/>
        </p:spPr>
      </p:sp>
      <p:sp>
        <p:nvSpPr>
          <p:cNvPr id="35" name="Shape 26"/>
          <p:cNvSpPr/>
          <p:nvPr/>
        </p:nvSpPr>
        <p:spPr>
          <a:xfrm>
            <a:off x="0" y="4818459"/>
            <a:ext cx="9144000" cy="7144"/>
          </a:xfrm>
          <a:prstGeom prst="rect">
            <a:avLst/>
          </a:prstGeom>
          <a:solidFill>
            <a:srgbClr val="FDD9D7"/>
          </a:solidFill>
          <a:ln/>
        </p:spPr>
      </p:sp>
      <p:sp>
        <p:nvSpPr>
          <p:cNvPr id="36" name="Text 27"/>
          <p:cNvSpPr/>
          <p:nvPr/>
        </p:nvSpPr>
        <p:spPr>
          <a:xfrm>
            <a:off x="2171567" y="4968478"/>
            <a:ext cx="4800865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i="1" dirty="0">
                <a:solidFill>
                  <a:srgbClr val="F44336"/>
                </a:solidFill>
              </a:rPr>
              <a:t>"Murky requirements put the project on a direct path to failure."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Defining Success: Primary and Secondary Goals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857625" cy="294858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3857625" cy="285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312664"/>
            <a:ext cx="1344471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57CBFF"/>
                </a:solidFill>
              </a:rPr>
              <a:t>Primary Objective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572518"/>
            <a:ext cx="200025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4431" y="1555552"/>
            <a:ext cx="1463670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Clear Requirements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57250" y="1968103"/>
            <a:ext cx="3286125" cy="820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Define a </a:t>
            </a:r>
            <a:r>
              <a:rPr lang="en-US" sz="1400" b="1" dirty="0">
                <a:solidFill>
                  <a:srgbClr val="CCD6F6"/>
                </a:solidFill>
              </a:rPr>
              <a:t>clear, agreed-upon set of requirements</a:t>
            </a:r>
            <a:r>
              <a:rPr lang="en-US" sz="1400" dirty="0">
                <a:solidFill>
                  <a:srgbClr val="8892B0"/>
                </a:solidFill>
              </a:rPr>
              <a:t> that will be used to design, build, and implement BI solutions within the agreed project timeline and budget.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14875" y="1026914"/>
            <a:ext cx="3857625" cy="2948583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7"/>
          <p:cNvSpPr/>
          <p:nvPr/>
        </p:nvSpPr>
        <p:spPr>
          <a:xfrm>
            <a:off x="4714875" y="1026914"/>
            <a:ext cx="3857625" cy="28575"/>
          </a:xfrm>
          <a:prstGeom prst="rect">
            <a:avLst/>
          </a:prstGeom>
          <a:solidFill>
            <a:srgbClr val="57CBFF"/>
          </a:solidFill>
          <a:ln/>
        </p:spPr>
      </p:sp>
      <p:sp>
        <p:nvSpPr>
          <p:cNvPr id="12" name="Text 8"/>
          <p:cNvSpPr/>
          <p:nvPr/>
        </p:nvSpPr>
        <p:spPr>
          <a:xfrm>
            <a:off x="5000625" y="1312664"/>
            <a:ext cx="1532535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57CBFF"/>
                </a:solidFill>
              </a:rPr>
              <a:t>Secondary Objective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1572518"/>
            <a:ext cx="250031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57813" y="1555552"/>
            <a:ext cx="1526700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Strong Relationships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000625" y="1968103"/>
            <a:ext cx="3286125" cy="820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Establish </a:t>
            </a:r>
            <a:r>
              <a:rPr lang="en-US" sz="1400" b="1" dirty="0">
                <a:solidFill>
                  <a:srgbClr val="CCD6F6"/>
                </a:solidFill>
              </a:rPr>
              <a:t>strong working relationships</a:t>
            </a:r>
            <a:r>
              <a:rPr lang="en-US" sz="1400" dirty="0">
                <a:solidFill>
                  <a:srgbClr val="8892B0"/>
                </a:solidFill>
              </a:rPr>
              <a:t> among sponsors, stakeholders, and the BI team. This phase is often the first opportunity for everyone to work together.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71500" y="4261247"/>
            <a:ext cx="8001000" cy="882253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571500" y="4261247"/>
            <a:ext cx="42863" cy="882253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8" name="Text 13"/>
          <p:cNvSpPr/>
          <p:nvPr/>
        </p:nvSpPr>
        <p:spPr>
          <a:xfrm>
            <a:off x="857250" y="4439841"/>
            <a:ext cx="1406860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Technical Outcome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57250" y="4686300"/>
            <a:ext cx="493327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Establishing clear direction for the three pillars of BI development:</a:t>
            </a:r>
            <a:endParaRPr lang="en-US" sz="14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5015805"/>
            <a:ext cx="87511" cy="10001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16198" y="4988123"/>
            <a:ext cx="1076577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57CBFF"/>
                </a:solidFill>
              </a:rPr>
              <a:t>Data Modeling</a:t>
            </a:r>
            <a:endParaRPr lang="en-US" sz="14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7121" y="5015805"/>
            <a:ext cx="112514" cy="10001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71072" y="4988123"/>
            <a:ext cx="1187889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57CBFF"/>
                </a:solidFill>
              </a:rPr>
              <a:t>Data Integration</a:t>
            </a:r>
            <a:endParaRPr lang="en-US" sz="14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39496" y="5015805"/>
            <a:ext cx="100013" cy="100013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10946" y="4988123"/>
            <a:ext cx="1468094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57CBFF"/>
                </a:solidFill>
              </a:rPr>
              <a:t>Analytical Processes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Finding the Balance: The "Goldilocks" Syndrome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2524116" cy="345043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524116" cy="42863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7274" y="1382316"/>
            <a:ext cx="312539" cy="357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93273" y="1978819"/>
            <a:ext cx="680571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kern="0" spc="1" dirty="0">
                <a:solidFill>
                  <a:srgbClr val="F44336"/>
                </a:solidFill>
              </a:rPr>
              <a:t>Too Hot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462808"/>
            <a:ext cx="62508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55477" y="2427089"/>
            <a:ext cx="1255537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Analysis Paralysis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744986"/>
            <a:ext cx="62508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5477" y="2709267"/>
            <a:ext cx="1856214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Excessive Documentation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027164"/>
            <a:ext cx="62508" cy="1000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55477" y="2991445"/>
            <a:ext cx="1681486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Bureaucratic Checklists</a:t>
            </a:r>
            <a:endParaRPr lang="en-US" sz="1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3309342"/>
            <a:ext cx="62508" cy="10001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55477" y="3273623"/>
            <a:ext cx="1565300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Slow Project Progress</a:t>
            </a:r>
            <a:endParaRPr lang="en-US" sz="1400" dirty="0"/>
          </a:p>
        </p:txBody>
      </p:sp>
      <p:sp>
        <p:nvSpPr>
          <p:cNvPr id="16" name="Shape 8"/>
          <p:cNvSpPr/>
          <p:nvPr/>
        </p:nvSpPr>
        <p:spPr>
          <a:xfrm>
            <a:off x="3309928" y="1026914"/>
            <a:ext cx="2524116" cy="345043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7" name="Shape 9"/>
          <p:cNvSpPr/>
          <p:nvPr/>
        </p:nvSpPr>
        <p:spPr>
          <a:xfrm>
            <a:off x="3309928" y="1026914"/>
            <a:ext cx="2524116" cy="42863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3378" y="1382316"/>
            <a:ext cx="357188" cy="35718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4197172" y="1978819"/>
            <a:ext cx="749629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kern="0" spc="1" dirty="0">
                <a:solidFill>
                  <a:srgbClr val="57CBFF"/>
                </a:solidFill>
              </a:rPr>
              <a:t>Too Cold</a:t>
            </a:r>
            <a:endParaRPr lang="en-US" sz="16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41" y="2462808"/>
            <a:ext cx="62508" cy="10001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693905" y="2427089"/>
            <a:ext cx="1278042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Overly High-Level</a:t>
            </a:r>
            <a:endParaRPr lang="en-US" sz="14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241" y="2744986"/>
            <a:ext cx="62508" cy="100013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693905" y="2709267"/>
            <a:ext cx="1571392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Dangerous Ambiguity</a:t>
            </a:r>
            <a:endParaRPr lang="en-US" sz="14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41" y="3027164"/>
            <a:ext cx="62508" cy="100013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3693905" y="2991445"/>
            <a:ext cx="1624163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Expectation Mismatch</a:t>
            </a:r>
            <a:endParaRPr lang="en-US" sz="14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241" y="3309342"/>
            <a:ext cx="62508" cy="100013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3693905" y="3273623"/>
            <a:ext cx="2295372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Developer Interpretation Errors</a:t>
            </a:r>
            <a:endParaRPr lang="en-US" sz="1400" dirty="0"/>
          </a:p>
        </p:txBody>
      </p:sp>
      <p:sp>
        <p:nvSpPr>
          <p:cNvPr id="28" name="Shape 15"/>
          <p:cNvSpPr/>
          <p:nvPr/>
        </p:nvSpPr>
        <p:spPr>
          <a:xfrm>
            <a:off x="6048356" y="1026914"/>
            <a:ext cx="2524116" cy="3450431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9" name="Shape 16"/>
          <p:cNvSpPr/>
          <p:nvPr/>
        </p:nvSpPr>
        <p:spPr>
          <a:xfrm>
            <a:off x="6048356" y="1026914"/>
            <a:ext cx="2524116" cy="42863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1807" y="1382316"/>
            <a:ext cx="357188" cy="35718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899404" y="1978819"/>
            <a:ext cx="822020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kern="0" spc="1" dirty="0">
                <a:solidFill>
                  <a:srgbClr val="64FFDA"/>
                </a:solidFill>
              </a:rPr>
              <a:t>Just Right</a:t>
            </a:r>
            <a:endParaRPr lang="en-US" sz="160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2669" y="2462808"/>
            <a:ext cx="100013" cy="100013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469838" y="2427089"/>
            <a:ext cx="1154034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Sufficient Detail</a:t>
            </a:r>
            <a:endParaRPr lang="en-US" sz="14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2669" y="2744986"/>
            <a:ext cx="100013" cy="100013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469838" y="2709267"/>
            <a:ext cx="1420325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Reduced Ambiguity</a:t>
            </a:r>
            <a:endParaRPr lang="en-US" sz="1400" dirty="0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62669" y="3027164"/>
            <a:ext cx="100013" cy="100013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6469838" y="2991445"/>
            <a:ext cx="1349087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Clear Expectations</a:t>
            </a:r>
            <a:endParaRPr lang="en-US" sz="1400" dirty="0"/>
          </a:p>
        </p:txBody>
      </p:sp>
      <p:pic>
        <p:nvPicPr>
          <p:cNvPr id="38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2669" y="3309342"/>
            <a:ext cx="100013" cy="100013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6469838" y="3273623"/>
            <a:ext cx="1230850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Efficient Delivery</a:t>
            </a:r>
            <a:endParaRPr lang="en-US" sz="1400" dirty="0"/>
          </a:p>
        </p:txBody>
      </p:sp>
      <p:sp>
        <p:nvSpPr>
          <p:cNvPr id="40" name="Shape 22"/>
          <p:cNvSpPr/>
          <p:nvPr/>
        </p:nvSpPr>
        <p:spPr>
          <a:xfrm>
            <a:off x="0" y="4763095"/>
            <a:ext cx="9144000" cy="3804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1" name="Shape 23"/>
          <p:cNvSpPr/>
          <p:nvPr/>
        </p:nvSpPr>
        <p:spPr>
          <a:xfrm>
            <a:off x="0" y="4763095"/>
            <a:ext cx="9144000" cy="7144"/>
          </a:xfrm>
          <a:prstGeom prst="rect">
            <a:avLst/>
          </a:prstGeom>
          <a:solidFill>
            <a:srgbClr val="F0FFFB"/>
          </a:solidFill>
          <a:ln/>
        </p:spPr>
      </p:sp>
      <p:sp>
        <p:nvSpPr>
          <p:cNvPr id="42" name="Text 24"/>
          <p:cNvSpPr/>
          <p:nvPr/>
        </p:nvSpPr>
        <p:spPr>
          <a:xfrm>
            <a:off x="651247" y="4948833"/>
            <a:ext cx="7841506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i="1" dirty="0">
                <a:solidFill>
                  <a:srgbClr val="8892B0"/>
                </a:solidFill>
              </a:rPr>
              <a:t>The goal is to define requirements that are </a:t>
            </a:r>
            <a:r>
              <a:rPr lang="en-US" sz="1400" b="1" i="1" dirty="0">
                <a:solidFill>
                  <a:srgbClr val="64FFDA"/>
                </a:solidFill>
              </a:rPr>
              <a:t>"just right"</a:t>
            </a:r>
            <a:r>
              <a:rPr lang="en-US" sz="1400" i="1" dirty="0">
                <a:solidFill>
                  <a:srgbClr val="8892B0"/>
                </a:solidFill>
              </a:rPr>
              <a:t>—detailed enough to build, but lean enough to move.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Tangible Outcomes: The Requirements Package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8001000" cy="100012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42863" cy="100012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460004"/>
            <a:ext cx="401836" cy="357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73398" y="1382316"/>
            <a:ext cx="1484445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2" dirty="0">
                <a:solidFill>
                  <a:srgbClr val="57CBFF"/>
                </a:solidFill>
              </a:rPr>
              <a:t>Primary Deliverable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473398" y="1612702"/>
            <a:ext cx="383089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CCD6F6"/>
                </a:solidFill>
              </a:rPr>
              <a:t>Signed-off BI Requirements Document</a:t>
            </a:r>
            <a:endParaRPr lang="en-US" sz="1397" dirty="0"/>
          </a:p>
        </p:txBody>
      </p:sp>
      <p:sp>
        <p:nvSpPr>
          <p:cNvPr id="9" name="Shape 5"/>
          <p:cNvSpPr/>
          <p:nvPr/>
        </p:nvSpPr>
        <p:spPr>
          <a:xfrm>
            <a:off x="571500" y="2241352"/>
            <a:ext cx="3114675" cy="2902148"/>
          </a:xfrm>
          <a:prstGeom prst="rect">
            <a:avLst/>
          </a:prstGeom>
          <a:solidFill>
            <a:srgbClr val="112240">
              <a:alpha val="5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571500" y="2241352"/>
            <a:ext cx="3114675" cy="14288"/>
          </a:xfrm>
          <a:prstGeom prst="rect">
            <a:avLst/>
          </a:prstGeom>
          <a:solidFill>
            <a:srgbClr val="E0FFF8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481560"/>
            <a:ext cx="142875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5844" y="2455664"/>
            <a:ext cx="1780103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Supporting Deliverables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85813" y="2793206"/>
            <a:ext cx="2306209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Revised Project Plan &amp; Timeline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85813" y="3034308"/>
            <a:ext cx="1595693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Budget Commitments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85813" y="3275409"/>
            <a:ext cx="1797672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Resource Allocation Plan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85813" y="3516511"/>
            <a:ext cx="2343527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Stakeholder Engagement Matrix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900488" y="2241352"/>
            <a:ext cx="4672013" cy="2902148"/>
          </a:xfrm>
          <a:prstGeom prst="rect">
            <a:avLst/>
          </a:prstGeom>
          <a:solidFill>
            <a:srgbClr val="112240">
              <a:alpha val="50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3900488" y="2241352"/>
            <a:ext cx="4672013" cy="14288"/>
          </a:xfrm>
          <a:prstGeom prst="rect">
            <a:avLst/>
          </a:prstGeom>
          <a:solidFill>
            <a:srgbClr val="E0FFF8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2481560"/>
            <a:ext cx="142875" cy="1428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64831" y="2455664"/>
            <a:ext cx="1786451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Key Document Contents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114800" y="2793206"/>
            <a:ext cx="1987788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Business &amp; Functional Reqs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114800" y="3034308"/>
            <a:ext cx="1838196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Data &amp; Quality Standards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114800" y="3275409"/>
            <a:ext cx="1849032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Regulatory &amp; Compliance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114800" y="3516511"/>
            <a:ext cx="1715983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Technical Infrastructure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290072" y="2793206"/>
            <a:ext cx="1799403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Priorities &amp; Assumptions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290072" y="3034308"/>
            <a:ext cx="1861279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Change Management Log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290072" y="3275409"/>
            <a:ext cx="1820627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Issue &amp; Concern Tracking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290072" y="3516511"/>
            <a:ext cx="1869101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Formal Approval Sign-offs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A Holistic View: The Five Categories of Requirements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2524116" cy="1951137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252835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64419" y="1241227"/>
            <a:ext cx="645433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Business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5813" y="1543050"/>
            <a:ext cx="209549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High-level needs, business processes, objectives, and core KPIs that drive the project value.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309928" y="1026914"/>
            <a:ext cx="2524116" cy="1951137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0" name="Shape 6"/>
          <p:cNvSpPr/>
          <p:nvPr/>
        </p:nvSpPr>
        <p:spPr>
          <a:xfrm>
            <a:off x="3309928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41" y="1252835"/>
            <a:ext cx="107156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38553" y="1241227"/>
            <a:ext cx="783548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Functional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524241" y="1543050"/>
            <a:ext cx="209549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How users interact with the solution, analytical workflows, use cases, and required styles.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048356" y="1026914"/>
            <a:ext cx="2524144" cy="1951137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10"/>
          <p:cNvSpPr/>
          <p:nvPr/>
        </p:nvSpPr>
        <p:spPr>
          <a:xfrm>
            <a:off x="6048356" y="1026914"/>
            <a:ext cx="2524144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252835"/>
            <a:ext cx="150019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19844" y="1241227"/>
            <a:ext cx="1106265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Data &amp; Quality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262669" y="1543050"/>
            <a:ext cx="2095519" cy="900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Source systems, transformations, and the "5 Cs" (Clean, Consistent, Conformed, Current, Comprehensive).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71500" y="3192363"/>
            <a:ext cx="2524116" cy="1951137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500" y="3192363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3418284"/>
            <a:ext cx="171450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64419" y="3406676"/>
            <a:ext cx="814005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Regulatory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785813" y="3708499"/>
            <a:ext cx="209549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Compliance, privacy (GDPR/HIPAA), security rules, and cross-border data access constraints.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3309928" y="3192363"/>
            <a:ext cx="2524116" cy="1951137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5" name="Shape 18"/>
          <p:cNvSpPr/>
          <p:nvPr/>
        </p:nvSpPr>
        <p:spPr>
          <a:xfrm>
            <a:off x="3309928" y="3192363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4241" y="3418284"/>
            <a:ext cx="171450" cy="1714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802847" y="3406676"/>
            <a:ext cx="700063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Technical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3524241" y="3708499"/>
            <a:ext cx="209549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Infrastructure standards, cloud vs. on-premise, approved vendors, and security protocols.</a:t>
            </a:r>
            <a:endParaRPr lang="en-US" sz="1400" dirty="0"/>
          </a:p>
        </p:txBody>
      </p:sp>
      <p:sp>
        <p:nvSpPr>
          <p:cNvPr id="29" name="Shape 21"/>
          <p:cNvSpPr/>
          <p:nvPr/>
        </p:nvSpPr>
        <p:spPr>
          <a:xfrm>
            <a:off x="6048356" y="3192363"/>
            <a:ext cx="2524144" cy="1951137"/>
          </a:xfrm>
          <a:prstGeom prst="rect">
            <a:avLst/>
          </a:prstGeom>
          <a:solidFill>
            <a:srgbClr val="64FFDA">
              <a:alpha val="5000"/>
            </a:srgbClr>
          </a:solidFill>
          <a:ln w="18288">
            <a:solidFill>
              <a:srgbClr val="64FFDA"/>
            </a:solidFill>
            <a:prstDash val="dash"/>
          </a:ln>
        </p:spPr>
      </p:sp>
      <p:sp>
        <p:nvSpPr>
          <p:cNvPr id="30" name="Text 22"/>
          <p:cNvSpPr/>
          <p:nvPr/>
        </p:nvSpPr>
        <p:spPr>
          <a:xfrm>
            <a:off x="6191231" y="3869680"/>
            <a:ext cx="2238394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57CBFF"/>
                </a:solidFill>
              </a:rPr>
              <a:t>➡ All five categories are essential for BI success. Ignoring one leads to failure.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Top-Down vs. Bottom-Up: Stepwise Refinement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857625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3857625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315343"/>
            <a:ext cx="17145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1575" y="1312664"/>
            <a:ext cx="77527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Top-Down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012766" y="1725216"/>
            <a:ext cx="495458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Start with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508224" y="1725216"/>
            <a:ext cx="1393729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high-level business needs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901953" y="1725216"/>
            <a:ext cx="1241422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and strategic objectives.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57250" y="2218134"/>
            <a:ext cx="3286125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Refine or "decompose" these into more levels of detail.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57250" y="2711053"/>
            <a:ext cx="3286125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Ensures alignment with executive vision and business value.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14875" y="1026914"/>
            <a:ext cx="3857625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4" name="Shape 10"/>
          <p:cNvSpPr/>
          <p:nvPr/>
        </p:nvSpPr>
        <p:spPr>
          <a:xfrm>
            <a:off x="4714875" y="1026914"/>
            <a:ext cx="3857625" cy="285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1315343"/>
            <a:ext cx="17145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14950" y="1312664"/>
            <a:ext cx="83311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Bottom-Up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156141" y="1725216"/>
            <a:ext cx="804314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Reverse engineer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960455" y="1725216"/>
            <a:ext cx="2326295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existing reporting systems and data shadow systems.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000625" y="2218134"/>
            <a:ext cx="3286125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Aggregate these details into higher-level requirements.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000625" y="2711053"/>
            <a:ext cx="3286125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Ensures that critical features in legacy systems are not lost.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571500" y="4429125"/>
            <a:ext cx="42863" cy="7143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3" name="Text 18"/>
          <p:cNvSpPr/>
          <p:nvPr/>
        </p:nvSpPr>
        <p:spPr>
          <a:xfrm>
            <a:off x="857250" y="4661297"/>
            <a:ext cx="7429500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Best Practice:</a:t>
            </a:r>
            <a:r>
              <a:rPr lang="en-US" sz="1400" b="1" dirty="0">
                <a:solidFill>
                  <a:srgbClr val="CCD6F6"/>
                </a:solidFill>
              </a:rPr>
              <a:t> Combine both approaches to validate requirements through </a:t>
            </a:r>
            <a:r>
              <a:rPr lang="en-US" sz="1400" b="1" dirty="0">
                <a:solidFill>
                  <a:srgbClr val="64FFDA"/>
                </a:solidFill>
              </a:rPr>
              <a:t>feedback loops</a:t>
            </a:r>
            <a:r>
              <a:rPr lang="en-US" sz="1400" b="1" dirty="0">
                <a:solidFill>
                  <a:srgbClr val="CCD6F6"/>
                </a:solidFill>
              </a:rPr>
              <a:t> and ensure comprehensive coverage.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Who Does What? BI Team and Business Participants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857625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3857625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329630"/>
            <a:ext cx="25717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21581" y="1312664"/>
            <a:ext cx="688586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kern="0" spc="1" dirty="0">
                <a:solidFill>
                  <a:srgbClr val="CCD6F6"/>
                </a:solidFill>
              </a:rPr>
              <a:t>BI Team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57250" y="1768078"/>
            <a:ext cx="285750" cy="285750"/>
          </a:xfrm>
          <a:prstGeom prst="rect">
            <a:avLst/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868" y="1846659"/>
            <a:ext cx="112514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5875" y="1775222"/>
            <a:ext cx="1239185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Business Analyst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285875" y="1925241"/>
            <a:ext cx="2557239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Lead role in defining requirements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857250" y="2210991"/>
            <a:ext cx="285750" cy="285750"/>
          </a:xfrm>
          <a:prstGeom prst="rect">
            <a:avLst/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795" y="2289572"/>
            <a:ext cx="144661" cy="1285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5875" y="2218134"/>
            <a:ext cx="1064266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Data Architect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285875" y="2368153"/>
            <a:ext cx="2485680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Defines data structures and flows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857250" y="2653903"/>
            <a:ext cx="285750" cy="285750"/>
          </a:xfrm>
          <a:prstGeom prst="rect">
            <a:avLst/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868" y="2732484"/>
            <a:ext cx="112514" cy="1285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5875" y="2661047"/>
            <a:ext cx="1027333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Data Modeler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1285875" y="2811066"/>
            <a:ext cx="2505173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Designs the analytical data model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857250" y="3096816"/>
            <a:ext cx="285750" cy="285750"/>
          </a:xfrm>
          <a:prstGeom prst="rect">
            <a:avLst/>
          </a:prstGeom>
          <a:solidFill>
            <a:srgbClr val="64FFDA">
              <a:alpha val="10000"/>
            </a:srgbClr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795" y="3175397"/>
            <a:ext cx="144661" cy="1285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85875" y="3103959"/>
            <a:ext cx="947375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ETL Designer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285875" y="3253978"/>
            <a:ext cx="2395849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Plans data integration processes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4714875" y="1026914"/>
            <a:ext cx="3857625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5" name="Shape 17"/>
          <p:cNvSpPr/>
          <p:nvPr/>
        </p:nvSpPr>
        <p:spPr>
          <a:xfrm>
            <a:off x="4714875" y="1026914"/>
            <a:ext cx="3857625" cy="285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1329630"/>
            <a:ext cx="257175" cy="20002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64956" y="1312664"/>
            <a:ext cx="1798056" cy="208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kern="0" spc="1" dirty="0">
                <a:solidFill>
                  <a:srgbClr val="CCD6F6"/>
                </a:solidFill>
              </a:rPr>
              <a:t>Business Participants</a:t>
            </a:r>
            <a:endParaRPr lang="en-US" sz="1600" dirty="0"/>
          </a:p>
        </p:txBody>
      </p:sp>
      <p:sp>
        <p:nvSpPr>
          <p:cNvPr id="28" name="Shape 19"/>
          <p:cNvSpPr/>
          <p:nvPr/>
        </p:nvSpPr>
        <p:spPr>
          <a:xfrm>
            <a:off x="5000625" y="1768078"/>
            <a:ext cx="285750" cy="285750"/>
          </a:xfrm>
          <a:prstGeom prst="rect">
            <a:avLst/>
          </a:prstGeom>
          <a:solidFill>
            <a:srgbClr val="57CBFF">
              <a:alpha val="10000"/>
            </a:srgbClr>
          </a:solidFill>
          <a:ln/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5280" y="1846659"/>
            <a:ext cx="96441" cy="12858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429250" y="1775222"/>
            <a:ext cx="675891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Sponsors</a:t>
            </a:r>
            <a:endParaRPr lang="en-US" sz="1400" dirty="0"/>
          </a:p>
        </p:txBody>
      </p:sp>
      <p:sp>
        <p:nvSpPr>
          <p:cNvPr id="31" name="Text 21"/>
          <p:cNvSpPr/>
          <p:nvPr/>
        </p:nvSpPr>
        <p:spPr>
          <a:xfrm>
            <a:off x="5429250" y="1925241"/>
            <a:ext cx="2654894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Provide funding and strategic vision</a:t>
            </a:r>
            <a:endParaRPr lang="en-US" sz="1400" dirty="0"/>
          </a:p>
        </p:txBody>
      </p:sp>
      <p:sp>
        <p:nvSpPr>
          <p:cNvPr id="32" name="Shape 22"/>
          <p:cNvSpPr/>
          <p:nvPr/>
        </p:nvSpPr>
        <p:spPr>
          <a:xfrm>
            <a:off x="5000625" y="2210991"/>
            <a:ext cx="285750" cy="285750"/>
          </a:xfrm>
          <a:prstGeom prst="rect">
            <a:avLst/>
          </a:prstGeom>
          <a:solidFill>
            <a:srgbClr val="57CBFF">
              <a:alpha val="10000"/>
            </a:srgbClr>
          </a:solidFill>
          <a:ln/>
        </p:spPr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63133" y="2289572"/>
            <a:ext cx="160734" cy="12858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429250" y="2218134"/>
            <a:ext cx="962571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Stakeholders</a:t>
            </a:r>
            <a:endParaRPr lang="en-US" sz="1400" dirty="0"/>
          </a:p>
        </p:txBody>
      </p:sp>
      <p:sp>
        <p:nvSpPr>
          <p:cNvPr id="35" name="Text 24"/>
          <p:cNvSpPr/>
          <p:nvPr/>
        </p:nvSpPr>
        <p:spPr>
          <a:xfrm>
            <a:off x="5429250" y="2368153"/>
            <a:ext cx="2637517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Vested interest in project outcomes</a:t>
            </a:r>
            <a:endParaRPr lang="en-US" sz="1400" dirty="0"/>
          </a:p>
        </p:txBody>
      </p:sp>
      <p:sp>
        <p:nvSpPr>
          <p:cNvPr id="36" name="Shape 25"/>
          <p:cNvSpPr/>
          <p:nvPr/>
        </p:nvSpPr>
        <p:spPr>
          <a:xfrm>
            <a:off x="5000625" y="2653903"/>
            <a:ext cx="285750" cy="285750"/>
          </a:xfrm>
          <a:prstGeom prst="rect">
            <a:avLst/>
          </a:prstGeom>
          <a:solidFill>
            <a:srgbClr val="57CBFF">
              <a:alpha val="10000"/>
            </a:srgbClr>
          </a:solidFill>
          <a:ln/>
        </p:spPr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3133" y="2732484"/>
            <a:ext cx="160734" cy="128588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429250" y="2661047"/>
            <a:ext cx="927754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Power Users</a:t>
            </a:r>
            <a:endParaRPr lang="en-US" sz="1400" dirty="0"/>
          </a:p>
        </p:txBody>
      </p:sp>
      <p:sp>
        <p:nvSpPr>
          <p:cNvPr id="39" name="Text 27"/>
          <p:cNvSpPr/>
          <p:nvPr/>
        </p:nvSpPr>
        <p:spPr>
          <a:xfrm>
            <a:off x="5429250" y="2811066"/>
            <a:ext cx="2286523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Key SMEs for data and analysis</a:t>
            </a:r>
            <a:endParaRPr lang="en-US" sz="1400" dirty="0"/>
          </a:p>
        </p:txBody>
      </p:sp>
      <p:sp>
        <p:nvSpPr>
          <p:cNvPr id="40" name="Shape 28"/>
          <p:cNvSpPr/>
          <p:nvPr/>
        </p:nvSpPr>
        <p:spPr>
          <a:xfrm>
            <a:off x="5000625" y="3096816"/>
            <a:ext cx="285750" cy="285750"/>
          </a:xfrm>
          <a:prstGeom prst="rect">
            <a:avLst/>
          </a:prstGeom>
          <a:solidFill>
            <a:srgbClr val="57CBFF">
              <a:alpha val="10000"/>
            </a:srgbClr>
          </a:solidFill>
          <a:ln/>
        </p:spPr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87243" y="3175397"/>
            <a:ext cx="112514" cy="128588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5429250" y="3103959"/>
            <a:ext cx="733599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End Users</a:t>
            </a:r>
            <a:endParaRPr lang="en-US" sz="1400" dirty="0"/>
          </a:p>
        </p:txBody>
      </p:sp>
      <p:sp>
        <p:nvSpPr>
          <p:cNvPr id="43" name="Text 30"/>
          <p:cNvSpPr/>
          <p:nvPr/>
        </p:nvSpPr>
        <p:spPr>
          <a:xfrm>
            <a:off x="5429250" y="3253978"/>
            <a:ext cx="2753254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Primary consumers of the BI solution</a:t>
            </a:r>
            <a:endParaRPr lang="en-US" sz="1400" dirty="0"/>
          </a:p>
        </p:txBody>
      </p:sp>
      <p:sp>
        <p:nvSpPr>
          <p:cNvPr id="44" name="Shape 31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45" name="Shape 32"/>
          <p:cNvSpPr/>
          <p:nvPr/>
        </p:nvSpPr>
        <p:spPr>
          <a:xfrm>
            <a:off x="571500" y="4429125"/>
            <a:ext cx="42863" cy="7143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6" name="Text 33"/>
          <p:cNvSpPr/>
          <p:nvPr/>
        </p:nvSpPr>
        <p:spPr>
          <a:xfrm>
            <a:off x="857250" y="4680942"/>
            <a:ext cx="7429500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Key Idea:</a:t>
            </a:r>
            <a:r>
              <a:rPr lang="en-US" sz="1400" b="1" dirty="0">
                <a:solidFill>
                  <a:srgbClr val="CCD6F6"/>
                </a:solidFill>
              </a:rPr>
              <a:t> Roles ≠ People. In smaller teams, one person may fill multiple roles, but all </a:t>
            </a:r>
            <a:r>
              <a:rPr lang="en-US" sz="1400" b="1" dirty="0">
                <a:solidFill>
                  <a:srgbClr val="64FFDA"/>
                </a:solidFill>
              </a:rPr>
              <a:t>responsibilities</a:t>
            </a:r>
            <a:r>
              <a:rPr lang="en-US" sz="1400" b="1" dirty="0">
                <a:solidFill>
                  <a:srgbClr val="CCD6F6"/>
                </a:solidFill>
              </a:rPr>
              <a:t> must be covered for success.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Workflow: A Systematic Progression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785813" y="2473356"/>
            <a:ext cx="7572375" cy="14288"/>
          </a:xfrm>
          <a:prstGeom prst="rect">
            <a:avLst/>
          </a:prstGeom>
          <a:solidFill>
            <a:srgbClr val="64FFD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97700" y="2151887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3787" y="2317086"/>
            <a:ext cx="13076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1</a:t>
            </a:r>
            <a:endParaRPr lang="en-US" sz="1602" dirty="0"/>
          </a:p>
        </p:txBody>
      </p:sp>
      <p:sp>
        <p:nvSpPr>
          <p:cNvPr id="7" name="Shape 4"/>
          <p:cNvSpPr/>
          <p:nvPr/>
        </p:nvSpPr>
        <p:spPr>
          <a:xfrm>
            <a:off x="1254900" y="2609087"/>
            <a:ext cx="257175" cy="257175"/>
          </a:xfrm>
          <a:prstGeom prst="ellipse">
            <a:avLst/>
          </a:prstGeom>
          <a:solidFill>
            <a:srgbClr val="57CB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338" y="2680525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048" y="2973419"/>
            <a:ext cx="904242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Business
Requirements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178816" y="2151887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434903" y="2317086"/>
            <a:ext cx="13076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2</a:t>
            </a:r>
            <a:endParaRPr lang="en-US" sz="1602" dirty="0"/>
          </a:p>
        </p:txBody>
      </p:sp>
      <p:sp>
        <p:nvSpPr>
          <p:cNvPr id="12" name="Shape 8"/>
          <p:cNvSpPr/>
          <p:nvPr/>
        </p:nvSpPr>
        <p:spPr>
          <a:xfrm>
            <a:off x="2636016" y="2609087"/>
            <a:ext cx="257175" cy="257175"/>
          </a:xfrm>
          <a:prstGeom prst="ellipse">
            <a:avLst/>
          </a:prstGeom>
          <a:solidFill>
            <a:srgbClr val="57CB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4597" y="2680525"/>
            <a:ext cx="100013" cy="1143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29523" y="2973419"/>
            <a:ext cx="941524" cy="672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Data &amp; Quality
Requirements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559932" y="2151887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16018" y="2317086"/>
            <a:ext cx="13076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3</a:t>
            </a:r>
            <a:endParaRPr lang="en-US" sz="1602" dirty="0"/>
          </a:p>
        </p:txBody>
      </p:sp>
      <p:sp>
        <p:nvSpPr>
          <p:cNvPr id="17" name="Shape 12"/>
          <p:cNvSpPr/>
          <p:nvPr/>
        </p:nvSpPr>
        <p:spPr>
          <a:xfrm>
            <a:off x="4017132" y="2609087"/>
            <a:ext cx="257175" cy="257175"/>
          </a:xfrm>
          <a:prstGeom prst="ellipse">
            <a:avLst/>
          </a:prstGeom>
          <a:solidFill>
            <a:srgbClr val="57CB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0000" y="2680525"/>
            <a:ext cx="71438" cy="1143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429279" y="2973419"/>
            <a:ext cx="904242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Functional
Requirements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941047" y="2151887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197134" y="2317086"/>
            <a:ext cx="13076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4</a:t>
            </a:r>
            <a:endParaRPr lang="en-US" sz="1602" dirty="0"/>
          </a:p>
        </p:txBody>
      </p:sp>
      <p:sp>
        <p:nvSpPr>
          <p:cNvPr id="22" name="Shape 16"/>
          <p:cNvSpPr/>
          <p:nvPr/>
        </p:nvSpPr>
        <p:spPr>
          <a:xfrm>
            <a:off x="5398247" y="2609087"/>
            <a:ext cx="257175" cy="257175"/>
          </a:xfrm>
          <a:prstGeom prst="ellipse">
            <a:avLst/>
          </a:prstGeom>
          <a:solidFill>
            <a:srgbClr val="57CBF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9685" y="2680525"/>
            <a:ext cx="114300" cy="1143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810395" y="2973419"/>
            <a:ext cx="904242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Regulatory
Requirements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6322163" y="2151887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578250" y="2317086"/>
            <a:ext cx="13076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5</a:t>
            </a:r>
            <a:endParaRPr lang="en-US" sz="1602" dirty="0"/>
          </a:p>
        </p:txBody>
      </p:sp>
      <p:sp>
        <p:nvSpPr>
          <p:cNvPr id="27" name="Shape 20"/>
          <p:cNvSpPr/>
          <p:nvPr/>
        </p:nvSpPr>
        <p:spPr>
          <a:xfrm>
            <a:off x="6779363" y="2609087"/>
            <a:ext cx="257175" cy="257175"/>
          </a:xfrm>
          <a:prstGeom prst="ellipse">
            <a:avLst/>
          </a:prstGeom>
          <a:solidFill>
            <a:srgbClr val="57CBFF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0800" y="2680525"/>
            <a:ext cx="114300" cy="1143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191510" y="2973419"/>
            <a:ext cx="904242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Technical
Requirements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7703279" y="2151887"/>
            <a:ext cx="642938" cy="642938"/>
          </a:xfrm>
          <a:prstGeom prst="rect">
            <a:avLst/>
          </a:prstGeom>
          <a:solidFill>
            <a:srgbClr val="112240">
              <a:alpha val="80000"/>
            </a:srgbClr>
          </a:solidFill>
          <a:ln w="18288">
            <a:solidFill>
              <a:srgbClr val="64FFDA">
                <a:alpha val="80000"/>
              </a:srgbClr>
            </a:solidFill>
            <a:prstDash val="dash"/>
          </a:ln>
        </p:spPr>
      </p:sp>
      <p:sp>
        <p:nvSpPr>
          <p:cNvPr id="31" name="Text 23"/>
          <p:cNvSpPr/>
          <p:nvPr/>
        </p:nvSpPr>
        <p:spPr>
          <a:xfrm>
            <a:off x="7959365" y="2317086"/>
            <a:ext cx="13076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6</a:t>
            </a:r>
            <a:endParaRPr lang="en-US" sz="1602" dirty="0"/>
          </a:p>
        </p:txBody>
      </p:sp>
      <p:sp>
        <p:nvSpPr>
          <p:cNvPr id="32" name="Shape 24"/>
          <p:cNvSpPr/>
          <p:nvPr/>
        </p:nvSpPr>
        <p:spPr>
          <a:xfrm>
            <a:off x="8160479" y="2609087"/>
            <a:ext cx="257175" cy="257175"/>
          </a:xfrm>
          <a:prstGeom prst="ellipse">
            <a:avLst/>
          </a:prstGeom>
          <a:solidFill>
            <a:srgbClr val="8892B0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1916" y="2680525"/>
            <a:ext cx="114300" cy="11430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636222" y="2973419"/>
            <a:ext cx="777078" cy="505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8892B0"/>
                </a:solidFill>
              </a:rPr>
              <a:t>Reverse
Engineering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571500" y="4575572"/>
            <a:ext cx="8001000" cy="567928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36" name="Shape 27"/>
          <p:cNvSpPr/>
          <p:nvPr/>
        </p:nvSpPr>
        <p:spPr>
          <a:xfrm>
            <a:off x="571500" y="4575572"/>
            <a:ext cx="42863" cy="567928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7" name="Text 28"/>
          <p:cNvSpPr/>
          <p:nvPr/>
        </p:nvSpPr>
        <p:spPr>
          <a:xfrm>
            <a:off x="857250" y="4754166"/>
            <a:ext cx="7429500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Strategic Insight:</a:t>
            </a:r>
            <a:r>
              <a:rPr lang="en-US" sz="1400" b="1" dirty="0">
                <a:solidFill>
                  <a:srgbClr val="CCD6F6"/>
                </a:solidFill>
              </a:rPr>
              <a:t> Starting with business needs ensures that all subsequent technical and data work is directly aligned with </a:t>
            </a:r>
            <a:r>
              <a:rPr lang="en-US" sz="1400" b="1" dirty="0">
                <a:solidFill>
                  <a:srgbClr val="64FFDA"/>
                </a:solidFill>
              </a:rPr>
              <a:t>business value</a:t>
            </a:r>
            <a:r>
              <a:rPr lang="en-US" sz="1400" b="1" dirty="0">
                <a:solidFill>
                  <a:srgbClr val="CCD6F6"/>
                </a:solidFill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Defining the "What": Business Requirements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2524116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368028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880592"/>
            <a:ext cx="141455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Business Processes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5813" y="2250281"/>
            <a:ext cx="2251578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Focus on the specific workflows and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85813" y="2433145"/>
            <a:ext cx="2254720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operational cycles affected by the BI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85813" y="2616008"/>
            <a:ext cx="545021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solution.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85813" y="2857807"/>
            <a:ext cx="1482201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Identify affected groups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85813" y="3112108"/>
            <a:ext cx="1459951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Map current workflows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85813" y="3366408"/>
            <a:ext cx="1250727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Pinpoint pain points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309928" y="1026914"/>
            <a:ext cx="2524116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11"/>
          <p:cNvSpPr/>
          <p:nvPr/>
        </p:nvSpPr>
        <p:spPr>
          <a:xfrm>
            <a:off x="3309928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41" y="1368028"/>
            <a:ext cx="285750" cy="285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24241" y="1880592"/>
            <a:ext cx="1470787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Business Objectives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524241" y="2250281"/>
            <a:ext cx="2379947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Define the core problems to solve and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524241" y="2433145"/>
            <a:ext cx="1849994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the strategic goals to achieve.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524241" y="2674944"/>
            <a:ext cx="1205843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Strategic alignment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524241" y="2929244"/>
            <a:ext cx="1164742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Problem definition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524241" y="3183545"/>
            <a:ext cx="958532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Success criteria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048356" y="1026914"/>
            <a:ext cx="2524116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4" name="Shape 19"/>
          <p:cNvSpPr/>
          <p:nvPr/>
        </p:nvSpPr>
        <p:spPr>
          <a:xfrm>
            <a:off x="6048356" y="1026914"/>
            <a:ext cx="2524116" cy="285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368028"/>
            <a:ext cx="285750" cy="2857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62669" y="1880592"/>
            <a:ext cx="1252394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Business Metrics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262669" y="2250281"/>
            <a:ext cx="2415148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The critical technical element: defining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262669" y="2433145"/>
            <a:ext cx="2233304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the KPIs that drive decision-making.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262669" y="2674944"/>
            <a:ext cx="586251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Core KPIs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262669" y="2929244"/>
            <a:ext cx="1034129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Calculation rules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262669" y="3183545"/>
            <a:ext cx="1321772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Data source mapping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F44336">
              <a:alpha val="10000"/>
            </a:srgbClr>
          </a:solidFill>
          <a:ln/>
        </p:spPr>
      </p:sp>
      <p:sp>
        <p:nvSpPr>
          <p:cNvPr id="33" name="Shape 27"/>
          <p:cNvSpPr/>
          <p:nvPr/>
        </p:nvSpPr>
        <p:spPr>
          <a:xfrm>
            <a:off x="571500" y="4429125"/>
            <a:ext cx="42863" cy="714375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34" name="Text 28"/>
          <p:cNvSpPr/>
          <p:nvPr/>
        </p:nvSpPr>
        <p:spPr>
          <a:xfrm>
            <a:off x="857250" y="4607719"/>
            <a:ext cx="862993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F44336"/>
                </a:solidFill>
              </a:rPr>
              <a:t>Critical Risk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857250" y="4854178"/>
            <a:ext cx="8093947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i="1" dirty="0">
                <a:solidFill>
                  <a:srgbClr val="CCD6F6"/>
                </a:solidFill>
              </a:rPr>
              <a:t>Defining metrics too late in the project leads to an unusable BI solution that fails to meet business expectations.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Heart of BI: Metrics and KPIs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094780"/>
            <a:ext cx="192881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07256" y="1026914"/>
            <a:ext cx="3164681" cy="42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57CBFF"/>
                </a:solidFill>
              </a:rPr>
              <a:t>KPIs drive decision-making</a:t>
            </a:r>
            <a:r>
              <a:rPr lang="en-US" sz="1200" dirty="0">
                <a:solidFill>
                  <a:srgbClr val="CCD6F6"/>
                </a:solidFill>
              </a:rPr>
              <a:t> and are the primary reason business users invest in BI solutions.</a:t>
            </a:r>
            <a:endParaRPr lang="en-US" sz="1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52030"/>
            <a:ext cx="171450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85825" y="1884164"/>
            <a:ext cx="31861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Metrics are often </a:t>
            </a:r>
            <a:r>
              <a:rPr lang="en-US" sz="1200" b="1" dirty="0">
                <a:solidFill>
                  <a:srgbClr val="57CBFF"/>
                </a:solidFill>
              </a:rPr>
              <a:t>hidden in manual calculations</a:t>
            </a:r>
            <a:r>
              <a:rPr lang="en-US" sz="1200" dirty="0">
                <a:solidFill>
                  <a:srgbClr val="CCD6F6"/>
                </a:solidFill>
              </a:rPr>
              <a:t> or embedded in complex, undocumented spreadsheets.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09280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85825" y="2741414"/>
            <a:ext cx="31861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Defining metrics too late in the project leads to an </a:t>
            </a:r>
            <a:r>
              <a:rPr lang="en-US" sz="1200" b="1" dirty="0">
                <a:solidFill>
                  <a:srgbClr val="57CBFF"/>
                </a:solidFill>
              </a:rPr>
              <a:t>unusable BI solution</a:t>
            </a:r>
            <a:r>
              <a:rPr lang="en-US" sz="1200" dirty="0">
                <a:solidFill>
                  <a:srgbClr val="CCD6F6"/>
                </a:solidFill>
              </a:rPr>
              <a:t> that fails to meet business needs.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4500563" y="1026914"/>
            <a:ext cx="4071938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5"/>
          <p:cNvSpPr/>
          <p:nvPr/>
        </p:nvSpPr>
        <p:spPr>
          <a:xfrm>
            <a:off x="4500563" y="1026914"/>
            <a:ext cx="4071938" cy="285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2" name="Text 6"/>
          <p:cNvSpPr/>
          <p:nvPr/>
        </p:nvSpPr>
        <p:spPr>
          <a:xfrm>
            <a:off x="4786313" y="1312664"/>
            <a:ext cx="1530355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kern="0" spc="1" dirty="0">
                <a:solidFill>
                  <a:srgbClr val="64FFDA"/>
                </a:solidFill>
              </a:rPr>
              <a:t>What Must Be Defined?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735931"/>
            <a:ext cx="100013" cy="1143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93481" y="1705570"/>
            <a:ext cx="868571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Data Sources: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866609" y="1705570"/>
            <a:ext cx="1148456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Systems of record.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053828"/>
            <a:ext cx="114300" cy="1143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07769" y="2023467"/>
            <a:ext cx="1081771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Transformations: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6108995" y="2023467"/>
            <a:ext cx="1056571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Calculation logic.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2371725"/>
            <a:ext cx="114300" cy="1143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07769" y="2341364"/>
            <a:ext cx="974626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Business Rules: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5988639" y="2341364"/>
            <a:ext cx="1183401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Context and filters.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2689622"/>
            <a:ext cx="114300" cy="1143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007769" y="2659261"/>
            <a:ext cx="528927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Latency: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5550303" y="2659261"/>
            <a:ext cx="1670907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How current data must be.</a:t>
            </a:r>
            <a:endParaRPr lang="en-US" sz="1200" dirty="0"/>
          </a:p>
        </p:txBody>
      </p:sp>
      <p:sp>
        <p:nvSpPr>
          <p:cNvPr id="25" name="Shape 15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6" name="Shape 16"/>
          <p:cNvSpPr/>
          <p:nvPr/>
        </p:nvSpPr>
        <p:spPr>
          <a:xfrm>
            <a:off x="571500" y="4429125"/>
            <a:ext cx="42863" cy="7143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7" name="Text 17"/>
          <p:cNvSpPr/>
          <p:nvPr/>
        </p:nvSpPr>
        <p:spPr>
          <a:xfrm>
            <a:off x="857250" y="4607719"/>
            <a:ext cx="7429500" cy="309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4FFDA"/>
                </a:solidFill>
              </a:rPr>
              <a:t>Best Practice:</a:t>
            </a:r>
            <a:r>
              <a:rPr lang="en-US" sz="1200" i="1" dirty="0">
                <a:solidFill>
                  <a:srgbClr val="CCD6F6"/>
                </a:solidFill>
              </a:rPr>
              <a:t> Work closely with business power users to uncover the "hidden" logic and manual steps currently used to produce these metrics.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Fueling the System: Data Requirements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285875" y="2149376"/>
            <a:ext cx="6572250" cy="14288"/>
          </a:xfrm>
          <a:prstGeom prst="rect">
            <a:avLst/>
          </a:prstGeom>
          <a:solidFill>
            <a:srgbClr val="64FFD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583513" y="1827907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681" y="2035076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03159" y="2649438"/>
            <a:ext cx="1003673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Identification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14375" y="2970907"/>
            <a:ext cx="2381241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Locate the </a:t>
            </a:r>
            <a:r>
              <a:rPr lang="en-US" sz="1400" b="1" dirty="0">
                <a:solidFill>
                  <a:srgbClr val="64FFDA"/>
                </a:solidFill>
              </a:rPr>
              <a:t>Systems of Record</a:t>
            </a:r>
            <a:r>
              <a:rPr lang="en-US" sz="1400" dirty="0">
                <a:solidFill>
                  <a:srgbClr val="CCD6F6"/>
                </a:solidFill>
              </a:rPr>
              <a:t>. Where does the data originate? (ERP, CRM, Legacy DBs).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250503" y="1827907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672" y="2035076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29168" y="2649438"/>
            <a:ext cx="685636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Selection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381366" y="2970907"/>
            <a:ext cx="2381241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Determine </a:t>
            </a:r>
            <a:r>
              <a:rPr lang="en-US" sz="1400" b="1" dirty="0">
                <a:solidFill>
                  <a:srgbClr val="64FFDA"/>
                </a:solidFill>
              </a:rPr>
              <a:t>what data is actually needed</a:t>
            </a:r>
            <a:r>
              <a:rPr lang="en-US" sz="1400" dirty="0">
                <a:solidFill>
                  <a:srgbClr val="CCD6F6"/>
                </a:solidFill>
              </a:rPr>
              <a:t> to support the defined business metrics and KPIs.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917494" y="1827907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663" y="2035076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58593" y="2649438"/>
            <a:ext cx="1160766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Transformation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048356" y="2970907"/>
            <a:ext cx="238124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Define the </a:t>
            </a:r>
            <a:r>
              <a:rPr lang="en-US" sz="1400" b="1" dirty="0">
                <a:solidFill>
                  <a:srgbClr val="64FFDA"/>
                </a:solidFill>
              </a:rPr>
              <a:t>conformance and integration</a:t>
            </a:r>
            <a:r>
              <a:rPr lang="en-US" sz="1400" dirty="0">
                <a:solidFill>
                  <a:srgbClr val="CCD6F6"/>
                </a:solidFill>
              </a:rPr>
              <a:t> rules required to make raw data useful for analysis.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57CBFF">
              <a:alpha val="5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571500" y="4429125"/>
            <a:ext cx="42863" cy="714375"/>
          </a:xfrm>
          <a:prstGeom prst="rect">
            <a:avLst/>
          </a:prstGeom>
          <a:solidFill>
            <a:srgbClr val="57CBFF"/>
          </a:solidFill>
          <a:ln/>
        </p:spPr>
      </p:sp>
      <p:sp>
        <p:nvSpPr>
          <p:cNvPr id="19" name="Text 13"/>
          <p:cNvSpPr/>
          <p:nvPr/>
        </p:nvSpPr>
        <p:spPr>
          <a:xfrm>
            <a:off x="857250" y="4700588"/>
            <a:ext cx="7429500" cy="316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Modern Challenge:</a:t>
            </a:r>
            <a:r>
              <a:rPr lang="en-US" sz="1400" i="1" dirty="0">
                <a:solidFill>
                  <a:srgbClr val="CCD6F6"/>
                </a:solidFill>
              </a:rPr>
              <a:t> Organizations have too much data. BI must be </a:t>
            </a:r>
            <a:r>
              <a:rPr lang="en-US" sz="1400" b="1" dirty="0">
                <a:solidFill>
                  <a:srgbClr val="57CBFF"/>
                </a:solidFill>
              </a:rPr>
              <a:t>selective</a:t>
            </a:r>
            <a:r>
              <a:rPr lang="en-US" sz="1400" i="1" dirty="0">
                <a:solidFill>
                  <a:srgbClr val="CCD6F6"/>
                </a:solidFill>
              </a:rPr>
              <a:t> to ensure performance and maintain focus on business value.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Foundation of Trust: The Five Cs of Data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026914"/>
            <a:ext cx="1530827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026914"/>
            <a:ext cx="1530827" cy="285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6" name="Text 3"/>
          <p:cNvSpPr/>
          <p:nvPr/>
        </p:nvSpPr>
        <p:spPr>
          <a:xfrm>
            <a:off x="1047034" y="1312664"/>
            <a:ext cx="29398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57CBFF"/>
                </a:solidFill>
              </a:rPr>
              <a:t>C</a:t>
            </a:r>
            <a:endParaRPr lang="en-US" sz="3294" dirty="0"/>
          </a:p>
        </p:txBody>
      </p:sp>
      <p:sp>
        <p:nvSpPr>
          <p:cNvPr id="7" name="Text 4"/>
          <p:cNvSpPr/>
          <p:nvPr/>
        </p:nvSpPr>
        <p:spPr>
          <a:xfrm>
            <a:off x="986916" y="1841302"/>
            <a:ext cx="414216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Clean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164" y="2223492"/>
            <a:ext cx="28575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" y="2634258"/>
            <a:ext cx="1245077" cy="100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Data must be accurate, error-free, and stripped of duplicates or invalid entries.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102327" y="1026914"/>
            <a:ext cx="1530827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7"/>
          <p:cNvSpPr/>
          <p:nvPr/>
        </p:nvSpPr>
        <p:spPr>
          <a:xfrm>
            <a:off x="2102327" y="1026914"/>
            <a:ext cx="1530827" cy="28575"/>
          </a:xfrm>
          <a:prstGeom prst="rect">
            <a:avLst/>
          </a:prstGeom>
          <a:solidFill>
            <a:srgbClr val="57CBFF"/>
          </a:solidFill>
          <a:ln/>
        </p:spPr>
      </p:sp>
      <p:sp>
        <p:nvSpPr>
          <p:cNvPr id="12" name="Text 8"/>
          <p:cNvSpPr/>
          <p:nvPr/>
        </p:nvSpPr>
        <p:spPr>
          <a:xfrm>
            <a:off x="2720736" y="1312664"/>
            <a:ext cx="29398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57CBFF"/>
                </a:solidFill>
              </a:rPr>
              <a:t>C</a:t>
            </a:r>
            <a:endParaRPr lang="en-US" sz="3294" dirty="0"/>
          </a:p>
        </p:txBody>
      </p:sp>
      <p:sp>
        <p:nvSpPr>
          <p:cNvPr id="13" name="Text 9"/>
          <p:cNvSpPr/>
          <p:nvPr/>
        </p:nvSpPr>
        <p:spPr>
          <a:xfrm>
            <a:off x="2473563" y="1841302"/>
            <a:ext cx="788357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Consistent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7729" y="2223492"/>
            <a:ext cx="200025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245202" y="2634258"/>
            <a:ext cx="1245077" cy="100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Data values and formats must be uniform across all source systems and reports.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776030" y="1026914"/>
            <a:ext cx="1530827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7" name="Shape 12"/>
          <p:cNvSpPr/>
          <p:nvPr/>
        </p:nvSpPr>
        <p:spPr>
          <a:xfrm>
            <a:off x="3776030" y="1026914"/>
            <a:ext cx="1530827" cy="285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8" name="Text 13"/>
          <p:cNvSpPr/>
          <p:nvPr/>
        </p:nvSpPr>
        <p:spPr>
          <a:xfrm>
            <a:off x="4394439" y="1312664"/>
            <a:ext cx="29398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57CBFF"/>
                </a:solidFill>
              </a:rPr>
              <a:t>C</a:t>
            </a:r>
            <a:endParaRPr lang="en-US" sz="3294" dirty="0"/>
          </a:p>
        </p:txBody>
      </p:sp>
      <p:sp>
        <p:nvSpPr>
          <p:cNvPr id="19" name="Text 14"/>
          <p:cNvSpPr/>
          <p:nvPr/>
        </p:nvSpPr>
        <p:spPr>
          <a:xfrm>
            <a:off x="4123270" y="1841302"/>
            <a:ext cx="836319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Conformed</a:t>
            </a:r>
            <a:endParaRPr lang="en-US" sz="14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7144" y="222349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918905" y="2634258"/>
            <a:ext cx="1245077" cy="1172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Shared definitions and dimensions must be applied enterprise-wide for "one version of truth."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449732" y="1026914"/>
            <a:ext cx="1530827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3" name="Shape 17"/>
          <p:cNvSpPr/>
          <p:nvPr/>
        </p:nvSpPr>
        <p:spPr>
          <a:xfrm>
            <a:off x="5449732" y="1026914"/>
            <a:ext cx="1530827" cy="28575"/>
          </a:xfrm>
          <a:prstGeom prst="rect">
            <a:avLst/>
          </a:prstGeom>
          <a:solidFill>
            <a:srgbClr val="57CBFF"/>
          </a:solidFill>
          <a:ln/>
        </p:spPr>
      </p:sp>
      <p:sp>
        <p:nvSpPr>
          <p:cNvPr id="24" name="Text 18"/>
          <p:cNvSpPr/>
          <p:nvPr/>
        </p:nvSpPr>
        <p:spPr>
          <a:xfrm>
            <a:off x="6068141" y="1312664"/>
            <a:ext cx="29398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57CBFF"/>
                </a:solidFill>
              </a:rPr>
              <a:t>C</a:t>
            </a:r>
            <a:endParaRPr lang="en-US" sz="3294" dirty="0"/>
          </a:p>
        </p:txBody>
      </p:sp>
      <p:sp>
        <p:nvSpPr>
          <p:cNvPr id="25" name="Text 19"/>
          <p:cNvSpPr/>
          <p:nvPr/>
        </p:nvSpPr>
        <p:spPr>
          <a:xfrm>
            <a:off x="5930951" y="1841302"/>
            <a:ext cx="568361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Current</a:t>
            </a:r>
            <a:endParaRPr lang="en-US" sz="14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0846" y="2223492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92607" y="2634258"/>
            <a:ext cx="1245077" cy="1172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Data must be timely and meet the specific latency requirements of the business process.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7123435" y="1026914"/>
            <a:ext cx="1591912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9" name="Shape 22"/>
          <p:cNvSpPr/>
          <p:nvPr/>
        </p:nvSpPr>
        <p:spPr>
          <a:xfrm>
            <a:off x="7123435" y="1026914"/>
            <a:ext cx="1591912" cy="285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0" name="Text 23"/>
          <p:cNvSpPr/>
          <p:nvPr/>
        </p:nvSpPr>
        <p:spPr>
          <a:xfrm>
            <a:off x="7772400" y="1312664"/>
            <a:ext cx="29398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57CBFF"/>
                </a:solidFill>
              </a:rPr>
              <a:t>C</a:t>
            </a:r>
            <a:endParaRPr lang="en-US" sz="3294" dirty="0"/>
          </a:p>
        </p:txBody>
      </p:sp>
      <p:sp>
        <p:nvSpPr>
          <p:cNvPr id="31" name="Text 24"/>
          <p:cNvSpPr/>
          <p:nvPr/>
        </p:nvSpPr>
        <p:spPr>
          <a:xfrm>
            <a:off x="7338270" y="1841302"/>
            <a:ext cx="1162241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Comprehensive</a:t>
            </a:r>
            <a:endParaRPr lang="en-US" sz="14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6502" y="2223492"/>
            <a:ext cx="28575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66310" y="2634258"/>
            <a:ext cx="1306162" cy="100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Data must be complete, providing all necessary attributes for the required analysis.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F44336">
              <a:alpha val="10000"/>
            </a:srgbClr>
          </a:solidFill>
          <a:ln/>
        </p:spPr>
      </p:sp>
      <p:sp>
        <p:nvSpPr>
          <p:cNvPr id="35" name="Shape 27"/>
          <p:cNvSpPr/>
          <p:nvPr/>
        </p:nvSpPr>
        <p:spPr>
          <a:xfrm>
            <a:off x="571500" y="4429125"/>
            <a:ext cx="42863" cy="714375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36" name="Text 28"/>
          <p:cNvSpPr/>
          <p:nvPr/>
        </p:nvSpPr>
        <p:spPr>
          <a:xfrm>
            <a:off x="857250" y="4680942"/>
            <a:ext cx="7429500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44336"/>
                </a:solidFill>
              </a:rPr>
              <a:t>Critical Insight:</a:t>
            </a:r>
            <a:r>
              <a:rPr lang="en-US" sz="1400" b="1" dirty="0">
                <a:solidFill>
                  <a:srgbClr val="CCD6F6"/>
                </a:solidFill>
              </a:rPr>
              <a:t> Ignoring data quality early in the requirements phase is a </a:t>
            </a:r>
            <a:r>
              <a:rPr lang="en-US" sz="1400" b="1" dirty="0">
                <a:solidFill>
                  <a:srgbClr val="F44336"/>
                </a:solidFill>
              </a:rPr>
              <a:t>guaranteed project failure</a:t>
            </a:r>
            <a:r>
              <a:rPr lang="en-US" sz="1400" b="1" dirty="0">
                <a:solidFill>
                  <a:srgbClr val="CCD6F6"/>
                </a:solidFill>
              </a:rPr>
              <a:t> later in development.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Reality Check: Data Profiling and Gap Analysis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857625" cy="2973586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3857625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329630"/>
            <a:ext cx="207169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1575" y="1312664"/>
            <a:ext cx="1022909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Data Profiling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57250" y="1739503"/>
            <a:ext cx="3182346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The process of examining source systems to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57250" y="1945221"/>
            <a:ext cx="2892202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understand the actual state of the data.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57250" y="2243807"/>
            <a:ext cx="2494978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Identify inconsistencies and errors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57250" y="2535250"/>
            <a:ext cx="2183034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Understand data distributions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57250" y="2826693"/>
            <a:ext cx="271984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Validate business rules against reality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57250" y="3118135"/>
            <a:ext cx="254159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Assess the "Five Cs" of data quality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714875" y="1026914"/>
            <a:ext cx="3857625" cy="2973586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11"/>
          <p:cNvSpPr/>
          <p:nvPr/>
        </p:nvSpPr>
        <p:spPr>
          <a:xfrm>
            <a:off x="4714875" y="1026914"/>
            <a:ext cx="3857625" cy="28575"/>
          </a:xfrm>
          <a:prstGeom prst="rect">
            <a:avLst/>
          </a:prstGeom>
          <a:solidFill>
            <a:srgbClr val="57CBFF"/>
          </a:solidFill>
          <a:ln/>
        </p:spPr>
      </p:sp>
      <p:sp>
        <p:nvSpPr>
          <p:cNvPr id="16" name="Text 12"/>
          <p:cNvSpPr/>
          <p:nvPr/>
        </p:nvSpPr>
        <p:spPr>
          <a:xfrm>
            <a:off x="5107781" y="1312664"/>
            <a:ext cx="952120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Gap Analysis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000625" y="1739503"/>
            <a:ext cx="368613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Identifying the difference between what is needed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000625" y="1945221"/>
            <a:ext cx="226658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and what is currently available.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000625" y="2243807"/>
            <a:ext cx="2231508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Identify missing data elements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000625" y="2535250"/>
            <a:ext cx="2422715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Spot unreachable source systems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000625" y="2826693"/>
            <a:ext cx="2990691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Highlight logic that cannot be automated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000625" y="3118135"/>
            <a:ext cx="284693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Determine the effort for data cleansing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71500" y="4286250"/>
            <a:ext cx="8001000" cy="857250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571500" y="4286250"/>
            <a:ext cx="42863" cy="85725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5" name="Text 21"/>
          <p:cNvSpPr/>
          <p:nvPr/>
        </p:nvSpPr>
        <p:spPr>
          <a:xfrm>
            <a:off x="857250" y="4464844"/>
            <a:ext cx="2119747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Resulting Business Decisions</a:t>
            </a:r>
            <a:endParaRPr lang="en-US" sz="14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774704"/>
            <a:ext cx="100013" cy="10001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28700" y="4747022"/>
            <a:ext cx="1649939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Accept current quality</a:t>
            </a:r>
            <a:endParaRPr lang="en-US" sz="14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1129" y="4774704"/>
            <a:ext cx="100013" cy="10001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932579" y="4747022"/>
            <a:ext cx="1593834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Change requirements</a:t>
            </a:r>
            <a:endParaRPr lang="en-US" sz="14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0273" y="4774704"/>
            <a:ext cx="100013" cy="10001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821723" y="4747022"/>
            <a:ext cx="1986569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dirty="0">
                <a:solidFill>
                  <a:srgbClr val="CCD6F6"/>
                </a:solidFill>
              </a:rPr>
              <a:t>Invest in corrective actions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User Experience: Functional Requirements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094780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8688" y="1026914"/>
            <a:ext cx="31432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Describe </a:t>
            </a:r>
            <a:r>
              <a:rPr lang="en-US" sz="1200" b="1" dirty="0">
                <a:solidFill>
                  <a:srgbClr val="57CBFF"/>
                </a:solidFill>
              </a:rPr>
              <a:t>how business users analyze data</a:t>
            </a:r>
            <a:r>
              <a:rPr lang="en-US" sz="1200" dirty="0">
                <a:solidFill>
                  <a:srgbClr val="CCD6F6"/>
                </a:solidFill>
              </a:rPr>
              <a:t>, focusing on the process rather than generic tool features.</a:t>
            </a:r>
            <a:endParaRPr lang="en-US" sz="1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52030"/>
            <a:ext cx="192881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07256" y="1884164"/>
            <a:ext cx="3164681" cy="42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Focus on </a:t>
            </a:r>
            <a:r>
              <a:rPr lang="en-US" sz="1200" b="1" dirty="0">
                <a:solidFill>
                  <a:srgbClr val="57CBFF"/>
                </a:solidFill>
              </a:rPr>
              <a:t>analytical workflows</a:t>
            </a:r>
            <a:r>
              <a:rPr lang="en-US" sz="1200" dirty="0">
                <a:solidFill>
                  <a:srgbClr val="CCD6F6"/>
                </a:solidFill>
              </a:rPr>
              <a:t> and the specific interactions required to reach a business insight.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809280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85825" y="2741414"/>
            <a:ext cx="31861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Capture the </a:t>
            </a:r>
            <a:r>
              <a:rPr lang="en-US" sz="1200" b="1" dirty="0">
                <a:solidFill>
                  <a:srgbClr val="57CBFF"/>
                </a:solidFill>
              </a:rPr>
              <a:t>analytical styles</a:t>
            </a:r>
            <a:r>
              <a:rPr lang="en-US" sz="1200" dirty="0">
                <a:solidFill>
                  <a:srgbClr val="CCD6F6"/>
                </a:solidFill>
              </a:rPr>
              <a:t> needed, such as ad-hoc exploration, static reporting, or interactive dashboards.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4500563" y="1026914"/>
            <a:ext cx="4071938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5"/>
          <p:cNvSpPr/>
          <p:nvPr/>
        </p:nvSpPr>
        <p:spPr>
          <a:xfrm>
            <a:off x="4500563" y="1026914"/>
            <a:ext cx="4071938" cy="285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2" name="Text 6"/>
          <p:cNvSpPr/>
          <p:nvPr/>
        </p:nvSpPr>
        <p:spPr>
          <a:xfrm>
            <a:off x="4786313" y="1312664"/>
            <a:ext cx="1085425" cy="1849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kern="0" spc="1" dirty="0">
                <a:solidFill>
                  <a:srgbClr val="64FFDA"/>
                </a:solidFill>
              </a:rPr>
              <a:t>Key Components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735931"/>
            <a:ext cx="85725" cy="1143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79194" y="1705570"/>
            <a:ext cx="835165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BI Use Cases: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5819645" y="1705570"/>
            <a:ext cx="1138132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Specific scenarios.</a:t>
            </a:r>
            <a:endParaRPr lang="en-US" sz="12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053828"/>
            <a:ext cx="114300" cy="1143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07769" y="2023467"/>
            <a:ext cx="949555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Storyboarding: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5963190" y="2023467"/>
            <a:ext cx="1236108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Analysis sequences.</a:t>
            </a:r>
            <a:endParaRPr lang="en-US" sz="12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2371725"/>
            <a:ext cx="142875" cy="1143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36344" y="2341364"/>
            <a:ext cx="1131464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User Interactions: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6190813" y="2341364"/>
            <a:ext cx="1123706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Drill-down, filters.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2689622"/>
            <a:ext cx="128588" cy="1143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022056" y="2659261"/>
            <a:ext cx="1267848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Visualization Styles: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6297913" y="2659261"/>
            <a:ext cx="1120756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Required formats.</a:t>
            </a:r>
            <a:endParaRPr lang="en-US" sz="1200" dirty="0"/>
          </a:p>
        </p:txBody>
      </p:sp>
      <p:sp>
        <p:nvSpPr>
          <p:cNvPr id="25" name="Shape 15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6" name="Shape 16"/>
          <p:cNvSpPr/>
          <p:nvPr/>
        </p:nvSpPr>
        <p:spPr>
          <a:xfrm>
            <a:off x="571500" y="4429125"/>
            <a:ext cx="42863" cy="7143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7" name="Text 17"/>
          <p:cNvSpPr/>
          <p:nvPr/>
        </p:nvSpPr>
        <p:spPr>
          <a:xfrm>
            <a:off x="857250" y="4700588"/>
            <a:ext cx="7429500" cy="309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4FFDA"/>
                </a:solidFill>
              </a:rPr>
              <a:t>Core Principle:</a:t>
            </a:r>
            <a:r>
              <a:rPr lang="en-US" sz="1200" i="1" dirty="0">
                <a:solidFill>
                  <a:srgbClr val="CCD6F6"/>
                </a:solidFill>
              </a:rPr>
              <a:t> Functional requirements should define the </a:t>
            </a:r>
            <a:r>
              <a:rPr lang="en-US" sz="1200" b="1" dirty="0">
                <a:solidFill>
                  <a:srgbClr val="64FFDA"/>
                </a:solidFill>
              </a:rPr>
              <a:t>analysis journey</a:t>
            </a:r>
            <a:r>
              <a:rPr lang="en-US" sz="1200" i="1" dirty="0">
                <a:solidFill>
                  <a:srgbClr val="CCD6F6"/>
                </a:solidFill>
              </a:rPr>
              <a:t>, ensuring the final tool supports the way users actually work.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Visualizing Analysis: Use Cases and Storyboarding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857625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3857625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329630"/>
            <a:ext cx="25717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21581" y="1312664"/>
            <a:ext cx="926472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BI Use Cases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57250" y="1760934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Describe </a:t>
            </a:r>
            <a:r>
              <a:rPr lang="en-US" sz="1400" b="1" dirty="0">
                <a:solidFill>
                  <a:srgbClr val="CCD6F6"/>
                </a:solidFill>
              </a:rPr>
              <a:t>who, why, and how</a:t>
            </a:r>
            <a:r>
              <a:rPr lang="en-US" sz="1400" dirty="0">
                <a:solidFill>
                  <a:srgbClr val="8892B0"/>
                </a:solidFill>
              </a:rPr>
              <a:t> BI is used in a specific business scenario.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57250" y="2315245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Focus on the </a:t>
            </a:r>
            <a:r>
              <a:rPr lang="en-US" sz="1400" b="1" dirty="0">
                <a:solidFill>
                  <a:srgbClr val="CCD6F6"/>
                </a:solidFill>
              </a:rPr>
              <a:t>analytical style</a:t>
            </a:r>
            <a:r>
              <a:rPr lang="en-US" sz="1400" dirty="0">
                <a:solidFill>
                  <a:srgbClr val="8892B0"/>
                </a:solidFill>
              </a:rPr>
              <a:t> and the specific business question being answered.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714875" y="1026914"/>
            <a:ext cx="3857625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7"/>
          <p:cNvSpPr/>
          <p:nvPr/>
        </p:nvSpPr>
        <p:spPr>
          <a:xfrm>
            <a:off x="4714875" y="1026914"/>
            <a:ext cx="3857625" cy="285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1329630"/>
            <a:ext cx="207169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14950" y="1312664"/>
            <a:ext cx="106125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Storyboarding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000625" y="1760934"/>
            <a:ext cx="328612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A </a:t>
            </a:r>
            <a:r>
              <a:rPr lang="en-US" sz="1400" b="1" dirty="0">
                <a:solidFill>
                  <a:srgbClr val="CCD6F6"/>
                </a:solidFill>
              </a:rPr>
              <a:t>visual sequence</a:t>
            </a:r>
            <a:r>
              <a:rPr lang="en-US" sz="1400" dirty="0">
                <a:solidFill>
                  <a:srgbClr val="8892B0"/>
                </a:solidFill>
              </a:rPr>
              <a:t> of analysis steps that a user takes to reach an insight.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000625" y="2386682"/>
            <a:ext cx="571500" cy="571500"/>
          </a:xfrm>
          <a:prstGeom prst="rect">
            <a:avLst/>
          </a:prstGeom>
          <a:solidFill>
            <a:srgbClr val="57CBFF">
              <a:alpha val="10000"/>
            </a:srgbClr>
          </a:solidFill>
          <a:ln w="9144">
            <a:solidFill>
              <a:srgbClr val="57CBF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0650" y="2586707"/>
            <a:ext cx="171450" cy="171450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8620" y="2607078"/>
            <a:ext cx="80367" cy="12858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905481" y="2386682"/>
            <a:ext cx="571500" cy="571500"/>
          </a:xfrm>
          <a:prstGeom prst="rect">
            <a:avLst/>
          </a:prstGeom>
          <a:solidFill>
            <a:srgbClr val="57CBFF">
              <a:alpha val="10000"/>
            </a:srgbClr>
          </a:solidFill>
          <a:ln w="9144">
            <a:solidFill>
              <a:srgbClr val="57CBFF"/>
            </a:solidFill>
            <a:prstDash val="solid"/>
          </a:ln>
        </p:spPr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5506" y="2586707"/>
            <a:ext cx="171450" cy="171450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3476" y="2607078"/>
            <a:ext cx="80367" cy="12858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6810338" y="2386682"/>
            <a:ext cx="571500" cy="571500"/>
          </a:xfrm>
          <a:prstGeom prst="rect">
            <a:avLst/>
          </a:prstGeom>
          <a:solidFill>
            <a:srgbClr val="57CBFF">
              <a:alpha val="10000"/>
            </a:srgbClr>
          </a:solidFill>
          <a:ln w="9144">
            <a:solidFill>
              <a:srgbClr val="57CBFF"/>
            </a:solidFill>
            <a:prstDash val="solid"/>
          </a:ln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9647" y="2586707"/>
            <a:ext cx="192881" cy="171450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08332" y="2607078"/>
            <a:ext cx="80367" cy="128588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7715194" y="2386682"/>
            <a:ext cx="571500" cy="571500"/>
          </a:xfrm>
          <a:prstGeom prst="rect">
            <a:avLst/>
          </a:prstGeom>
          <a:solidFill>
            <a:srgbClr val="57CBFF">
              <a:alpha val="10000"/>
            </a:srgbClr>
          </a:solidFill>
          <a:ln w="9144">
            <a:solidFill>
              <a:srgbClr val="57CBFF"/>
            </a:solidFill>
            <a:prstDash val="solid"/>
          </a:ln>
        </p:spPr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36650" y="2586707"/>
            <a:ext cx="128588" cy="171450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7" name="Shape 15"/>
          <p:cNvSpPr/>
          <p:nvPr/>
        </p:nvSpPr>
        <p:spPr>
          <a:xfrm>
            <a:off x="571500" y="4429125"/>
            <a:ext cx="42863" cy="7143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8" name="Text 16"/>
          <p:cNvSpPr/>
          <p:nvPr/>
        </p:nvSpPr>
        <p:spPr>
          <a:xfrm>
            <a:off x="857250" y="4680942"/>
            <a:ext cx="7429500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Key Benefit:</a:t>
            </a:r>
            <a:r>
              <a:rPr lang="en-US" sz="1400" b="1" dirty="0">
                <a:solidFill>
                  <a:srgbClr val="CCD6F6"/>
                </a:solidFill>
              </a:rPr>
              <a:t> Visuals are far easier for business users to </a:t>
            </a:r>
            <a:r>
              <a:rPr lang="en-US" sz="1400" b="1" dirty="0">
                <a:solidFill>
                  <a:srgbClr val="64FFDA"/>
                </a:solidFill>
              </a:rPr>
              <a:t>understand and validate</a:t>
            </a:r>
            <a:r>
              <a:rPr lang="en-US" sz="1400" b="1" dirty="0">
                <a:solidFill>
                  <a:srgbClr val="CCD6F6"/>
                </a:solidFill>
              </a:rPr>
              <a:t> than long, text-heavy requirement documents.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Staying Legal: Regulatory and Compliance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2524116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368028"/>
            <a:ext cx="214313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880592"/>
            <a:ext cx="66159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Financial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85813" y="2250281"/>
            <a:ext cx="2722412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Focus on reporting accuracy and data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85813" y="2433145"/>
            <a:ext cx="1126399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retention rules.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85813" y="2674944"/>
            <a:ext cx="1566326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SOX (Sarbanes-Oxley)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85813" y="2943532"/>
            <a:ext cx="2095491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Financial reporting retention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85813" y="3212120"/>
            <a:ext cx="1753237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Audit trail requirements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309928" y="1026914"/>
            <a:ext cx="2524116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4" name="Shape 10"/>
          <p:cNvSpPr/>
          <p:nvPr/>
        </p:nvSpPr>
        <p:spPr>
          <a:xfrm>
            <a:off x="3309928" y="1026914"/>
            <a:ext cx="2524116" cy="285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41" y="1368028"/>
            <a:ext cx="357188" cy="2857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24241" y="1880592"/>
            <a:ext cx="539507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Privacy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524241" y="2250281"/>
            <a:ext cx="2387705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Focus on protecting sensitive personal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524241" y="2433145"/>
            <a:ext cx="1731180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and health information.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524241" y="2674944"/>
            <a:ext cx="1390381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HIPAA (Healthcare)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524241" y="2943532"/>
            <a:ext cx="1609608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GDPR / CCPA (Privacy)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524241" y="3212120"/>
            <a:ext cx="1975990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Data masking &amp; encryption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048356" y="1026914"/>
            <a:ext cx="2524116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3" name="Shape 18"/>
          <p:cNvSpPr/>
          <p:nvPr/>
        </p:nvSpPr>
        <p:spPr>
          <a:xfrm>
            <a:off x="6048356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69" y="1368028"/>
            <a:ext cx="285750" cy="2857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62669" y="1880592"/>
            <a:ext cx="484876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Global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262669" y="2250281"/>
            <a:ext cx="2262414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Focus on payment security and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262669" y="2433145"/>
            <a:ext cx="1719317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international data laws.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262669" y="2674944"/>
            <a:ext cx="1471493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PCI (Payment Cards)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262669" y="2943532"/>
            <a:ext cx="1815049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Cross-border data access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262669" y="3212120"/>
            <a:ext cx="1874231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Local data residency rules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571500" y="4429125"/>
            <a:ext cx="42863" cy="7143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33" name="Text 27"/>
          <p:cNvSpPr/>
          <p:nvPr/>
        </p:nvSpPr>
        <p:spPr>
          <a:xfrm>
            <a:off x="857250" y="4680942"/>
            <a:ext cx="7429500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Key Point:</a:t>
            </a:r>
            <a:r>
              <a:rPr lang="en-US" sz="1400" b="1" dirty="0">
                <a:solidFill>
                  <a:srgbClr val="CCD6F6"/>
                </a:solidFill>
              </a:rPr>
              <a:t> Never assume stakeholders know all compliance rules. Always involve </a:t>
            </a:r>
            <a:r>
              <a:rPr lang="en-US" sz="1400" b="1" dirty="0">
                <a:solidFill>
                  <a:srgbClr val="64FFDA"/>
                </a:solidFill>
              </a:rPr>
              <a:t>legal and compliance experts</a:t>
            </a:r>
            <a:r>
              <a:rPr lang="en-US" sz="1400" b="1" dirty="0">
                <a:solidFill>
                  <a:srgbClr val="CCD6F6"/>
                </a:solidFill>
              </a:rPr>
              <a:t> early in the requirements phase.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Technical Frame: Standards and Infrastructure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2524116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368028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880592"/>
            <a:ext cx="1037335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Infrastructure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266355"/>
            <a:ext cx="125016" cy="1000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6553" y="2237780"/>
            <a:ext cx="1942840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CCD6F6"/>
                </a:solidFill>
              </a:rPr>
              <a:t>Cloud vs. On-premise deployment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13" y="2528888"/>
            <a:ext cx="87511" cy="1000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9048" y="2500313"/>
            <a:ext cx="1968488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CCD6F6"/>
                </a:solidFill>
              </a:rPr>
              <a:t>Scalability and performance needs</a:t>
            </a:r>
            <a:endParaRPr lang="en-US" sz="1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2791420"/>
            <a:ext cx="125016" cy="10001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6553" y="2762845"/>
            <a:ext cx="1884750" cy="284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CCD6F6"/>
                </a:solidFill>
              </a:rPr>
              <a:t>Network and bandwidth constraints</a:t>
            </a:r>
            <a:endParaRPr lang="en-US" sz="11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13" y="3209330"/>
            <a:ext cx="100013" cy="10001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71550" y="3180755"/>
            <a:ext cx="1622239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CCD6F6"/>
                </a:solidFill>
              </a:rPr>
              <a:t>Storage and archival policies</a:t>
            </a:r>
            <a:endParaRPr lang="en-US" sz="1100" dirty="0"/>
          </a:p>
        </p:txBody>
      </p:sp>
      <p:sp>
        <p:nvSpPr>
          <p:cNvPr id="16" name="Shape 8"/>
          <p:cNvSpPr/>
          <p:nvPr/>
        </p:nvSpPr>
        <p:spPr>
          <a:xfrm>
            <a:off x="3309928" y="1026914"/>
            <a:ext cx="2524116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7" name="Shape 9"/>
          <p:cNvSpPr/>
          <p:nvPr/>
        </p:nvSpPr>
        <p:spPr>
          <a:xfrm>
            <a:off x="3309928" y="1026914"/>
            <a:ext cx="2524116" cy="285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241" y="1368028"/>
            <a:ext cx="285750" cy="2857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524241" y="1880592"/>
            <a:ext cx="749757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Standards</a:t>
            </a:r>
            <a:endParaRPr lang="en-US" sz="14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24241" y="2266355"/>
            <a:ext cx="125016" cy="10001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734981" y="2237780"/>
            <a:ext cx="1718419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CCD6F6"/>
                </a:solidFill>
              </a:rPr>
              <a:t>Approved technology vendors</a:t>
            </a:r>
            <a:endParaRPr lang="en-US" sz="11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4241" y="2528888"/>
            <a:ext cx="125016" cy="100013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3734981" y="2500313"/>
            <a:ext cx="2013372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CCD6F6"/>
                </a:solidFill>
              </a:rPr>
              <a:t>Data integration patterns (ETL/ELT)</a:t>
            </a:r>
            <a:endParaRPr lang="en-US" sz="1100" dirty="0"/>
          </a:p>
        </p:txBody>
      </p:sp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24241" y="2791420"/>
            <a:ext cx="75009" cy="100013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3684975" y="2762845"/>
            <a:ext cx="1934756" cy="284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CCD6F6"/>
                </a:solidFill>
              </a:rPr>
              <a:t>Metadata and documentation standards</a:t>
            </a:r>
            <a:endParaRPr lang="en-US" sz="1100" dirty="0"/>
          </a:p>
        </p:txBody>
      </p:sp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24241" y="3209330"/>
            <a:ext cx="125016" cy="100013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3734981" y="3180755"/>
            <a:ext cx="1888337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CCD6F6"/>
                </a:solidFill>
              </a:rPr>
              <a:t>Supported BI tools and platforms</a:t>
            </a:r>
            <a:endParaRPr lang="en-US" sz="1100" dirty="0"/>
          </a:p>
        </p:txBody>
      </p:sp>
      <p:sp>
        <p:nvSpPr>
          <p:cNvPr id="28" name="Shape 15"/>
          <p:cNvSpPr/>
          <p:nvPr/>
        </p:nvSpPr>
        <p:spPr>
          <a:xfrm>
            <a:off x="6048356" y="1026914"/>
            <a:ext cx="2524116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9" name="Shape 16"/>
          <p:cNvSpPr/>
          <p:nvPr/>
        </p:nvSpPr>
        <p:spPr>
          <a:xfrm>
            <a:off x="6048356" y="1026914"/>
            <a:ext cx="2524116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3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2669" y="1368028"/>
            <a:ext cx="285750" cy="285750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262669" y="1880592"/>
            <a:ext cx="603755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Security</a:t>
            </a:r>
            <a:endParaRPr lang="en-US" sz="1400" dirty="0"/>
          </a:p>
        </p:txBody>
      </p:sp>
      <p:pic>
        <p:nvPicPr>
          <p:cNvPr id="3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62669" y="2266355"/>
            <a:ext cx="125016" cy="100013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6473410" y="2237780"/>
            <a:ext cx="1865895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CCD6F6"/>
                </a:solidFill>
              </a:rPr>
              <a:t>Access control and authorization</a:t>
            </a:r>
            <a:endParaRPr lang="en-US" sz="1100" dirty="0"/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62669" y="2528888"/>
            <a:ext cx="100013" cy="100013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448406" y="2500313"/>
            <a:ext cx="1524456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CCD6F6"/>
                </a:solidFill>
              </a:rPr>
              <a:t>Authentication (SSO, MFA)</a:t>
            </a:r>
            <a:endParaRPr lang="en-US" sz="1100" dirty="0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62669" y="2791420"/>
            <a:ext cx="87511" cy="100013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6435905" y="2762845"/>
            <a:ext cx="1955664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CCD6F6"/>
                </a:solidFill>
              </a:rPr>
              <a:t>Data encryption (Rest and Transit)</a:t>
            </a:r>
            <a:endParaRPr lang="en-US" sz="1100" dirty="0"/>
          </a:p>
        </p:txBody>
      </p:sp>
      <p:pic>
        <p:nvPicPr>
          <p:cNvPr id="38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62669" y="3053953"/>
            <a:ext cx="125016" cy="100013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6473410" y="3025378"/>
            <a:ext cx="1750479" cy="1430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100" dirty="0">
                <a:solidFill>
                  <a:srgbClr val="CCD6F6"/>
                </a:solidFill>
              </a:rPr>
              <a:t>Row and column-level security</a:t>
            </a:r>
            <a:endParaRPr lang="en-US" sz="1100" dirty="0"/>
          </a:p>
        </p:txBody>
      </p:sp>
      <p:sp>
        <p:nvSpPr>
          <p:cNvPr id="40" name="Shape 22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41" name="Shape 23"/>
          <p:cNvSpPr/>
          <p:nvPr/>
        </p:nvSpPr>
        <p:spPr>
          <a:xfrm>
            <a:off x="571500" y="4429125"/>
            <a:ext cx="42863" cy="7143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42" name="Text 24"/>
          <p:cNvSpPr/>
          <p:nvPr/>
        </p:nvSpPr>
        <p:spPr>
          <a:xfrm>
            <a:off x="857250" y="4700588"/>
            <a:ext cx="7429500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4FFDA"/>
                </a:solidFill>
              </a:rPr>
              <a:t>Technical Insight:</a:t>
            </a:r>
            <a:r>
              <a:rPr lang="en-US" sz="1200" i="1" dirty="0">
                <a:solidFill>
                  <a:srgbClr val="CCD6F6"/>
                </a:solidFill>
              </a:rPr>
              <a:t> Many technical requirements are </a:t>
            </a:r>
            <a:r>
              <a:rPr lang="en-US" sz="1200" b="1" dirty="0">
                <a:solidFill>
                  <a:srgbClr val="64FFDA"/>
                </a:solidFill>
              </a:rPr>
              <a:t>non-negotiable constraints</a:t>
            </a:r>
            <a:r>
              <a:rPr lang="en-US" sz="1200" i="1" dirty="0">
                <a:solidFill>
                  <a:srgbClr val="CCD6F6"/>
                </a:solidFill>
              </a:rPr>
              <a:t> established by IT to ensure enterprise-wide consistency and security.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3275897" cy="2589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Learning from the Past: Reverse Engineering</a:t>
            </a:r>
            <a:endParaRPr lang="en-US" sz="1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15318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098352"/>
            <a:ext cx="1756378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Why Reverse Engineer?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94855"/>
            <a:ext cx="178594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92969" y="1632347"/>
            <a:ext cx="3464719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Comparison:</a:t>
            </a:r>
            <a:r>
              <a:rPr lang="en-US" sz="1400" dirty="0">
                <a:solidFill>
                  <a:srgbClr val="CCD6F6"/>
                </a:solidFill>
              </a:rPr>
              <a:t> The old system serves as the benchmark for the new solution's accuracy and performance.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73523"/>
            <a:ext cx="125016" cy="1428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39391" y="2411016"/>
            <a:ext cx="3518297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Understanding:</a:t>
            </a:r>
            <a:r>
              <a:rPr lang="en-US" sz="1400" dirty="0">
                <a:solidFill>
                  <a:srgbClr val="CCD6F6"/>
                </a:solidFill>
              </a:rPr>
              <a:t> Uncover hidden business rules, complex logic, and data transformations buried in legacy code.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115318"/>
            <a:ext cx="200025" cy="20002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129213" y="1098352"/>
            <a:ext cx="1035733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Best Practices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1694855"/>
            <a:ext cx="178594" cy="14287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107781" y="1632347"/>
            <a:ext cx="3464719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Involve Power Users:</a:t>
            </a:r>
            <a:r>
              <a:rPr lang="en-US" sz="1400" dirty="0">
                <a:solidFill>
                  <a:srgbClr val="CCD6F6"/>
                </a:solidFill>
              </a:rPr>
              <a:t> They are the "keepers of the logic" and can validate reverse-engineered rules.</a:t>
            </a:r>
            <a:endParaRPr lang="en-US" sz="14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2473523"/>
            <a:ext cx="142875" cy="14287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072063" y="2411016"/>
            <a:ext cx="35004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Shadow Systems:</a:t>
            </a:r>
            <a:r>
              <a:rPr lang="en-US" sz="1400" dirty="0">
                <a:solidFill>
                  <a:srgbClr val="CCD6F6"/>
                </a:solidFill>
              </a:rPr>
              <a:t> Pay special attention to "data shadow systems" (spreadsheets/Access DBs) that run the business.</a:t>
            </a:r>
            <a:endParaRPr lang="en-US" sz="1400" dirty="0"/>
          </a:p>
        </p:txBody>
      </p:sp>
      <p:sp>
        <p:nvSpPr>
          <p:cNvPr id="16" name="Shape 7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17" name="Shape 8"/>
          <p:cNvSpPr/>
          <p:nvPr/>
        </p:nvSpPr>
        <p:spPr>
          <a:xfrm>
            <a:off x="571500" y="4429125"/>
            <a:ext cx="42863" cy="7143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8" name="Text 9"/>
          <p:cNvSpPr/>
          <p:nvPr/>
        </p:nvSpPr>
        <p:spPr>
          <a:xfrm>
            <a:off x="857250" y="4680942"/>
            <a:ext cx="7429500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Strategic Goal:</a:t>
            </a:r>
            <a:r>
              <a:rPr lang="en-US" sz="1400" b="1" dirty="0">
                <a:solidFill>
                  <a:srgbClr val="CCD6F6"/>
                </a:solidFill>
              </a:rPr>
              <a:t> Use this process to turn legacy system experts into </a:t>
            </a:r>
            <a:r>
              <a:rPr lang="en-US" sz="1400" b="1" dirty="0">
                <a:solidFill>
                  <a:srgbClr val="64FFDA"/>
                </a:solidFill>
              </a:rPr>
              <a:t>BI advocates</a:t>
            </a:r>
            <a:r>
              <a:rPr lang="en-US" sz="1400" b="1" dirty="0">
                <a:solidFill>
                  <a:srgbClr val="CCD6F6"/>
                </a:solidFill>
              </a:rPr>
              <a:t> by showing how the new solution improves their work.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Bringing it Together: Consolidating Requirements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1285875" y="2077938"/>
            <a:ext cx="6572250" cy="14288"/>
          </a:xfrm>
          <a:prstGeom prst="rect">
            <a:avLst/>
          </a:prstGeom>
          <a:solidFill>
            <a:srgbClr val="64FFDA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583513" y="1756470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0681" y="1963638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61806" y="2578001"/>
            <a:ext cx="48635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Merge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14375" y="2899470"/>
            <a:ext cx="238124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Consolidate findings across different business groups to create a unified view of the project needs.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250503" y="1756470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672" y="196363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82118" y="2578001"/>
            <a:ext cx="579709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Identify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3381366" y="2899470"/>
            <a:ext cx="2381241" cy="541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Spot </a:t>
            </a:r>
            <a:r>
              <a:rPr lang="en-US" sz="1400" b="1" dirty="0">
                <a:solidFill>
                  <a:srgbClr val="CCD6F6"/>
                </a:solidFill>
              </a:rPr>
              <a:t>overlaps</a:t>
            </a:r>
            <a:r>
              <a:rPr lang="en-US" sz="1400" dirty="0">
                <a:solidFill>
                  <a:srgbClr val="CCD6F6"/>
                </a:solidFill>
              </a:rPr>
              <a:t>, resolve </a:t>
            </a:r>
            <a:r>
              <a:rPr lang="en-US" sz="1400" b="1" dirty="0">
                <a:solidFill>
                  <a:srgbClr val="CCD6F6"/>
                </a:solidFill>
              </a:rPr>
              <a:t>conflicts</a:t>
            </a:r>
            <a:r>
              <a:rPr lang="en-US" sz="1400" dirty="0">
                <a:solidFill>
                  <a:srgbClr val="CCD6F6"/>
                </a:solidFill>
              </a:rPr>
              <a:t>, and highlight </a:t>
            </a:r>
            <a:r>
              <a:rPr lang="en-US" sz="1400" b="1" dirty="0">
                <a:solidFill>
                  <a:srgbClr val="CCD6F6"/>
                </a:solidFill>
              </a:rPr>
              <a:t>gaps</a:t>
            </a:r>
            <a:r>
              <a:rPr lang="en-US" sz="1400" dirty="0">
                <a:solidFill>
                  <a:srgbClr val="CCD6F6"/>
                </a:solidFill>
              </a:rPr>
              <a:t> in the gathered requirements.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917494" y="1756470"/>
            <a:ext cx="642938" cy="642938"/>
          </a:xfrm>
          <a:prstGeom prst="rect">
            <a:avLst/>
          </a:prstGeom>
          <a:solidFill>
            <a:srgbClr val="112240"/>
          </a:solidFill>
          <a:ln w="18288">
            <a:solidFill>
              <a:srgbClr val="64FFDA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4663" y="1963638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08125" y="2578001"/>
            <a:ext cx="261675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Tag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048356" y="2899470"/>
            <a:ext cx="2381241" cy="720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Organize requirements by metadata to facilitate easier prioritization and project planning.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71500" y="4286250"/>
            <a:ext cx="8001000" cy="857250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571500" y="4286250"/>
            <a:ext cx="42863" cy="85725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9" name="Text 13"/>
          <p:cNvSpPr/>
          <p:nvPr/>
        </p:nvSpPr>
        <p:spPr>
          <a:xfrm>
            <a:off x="857250" y="4464844"/>
            <a:ext cx="2540375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Recommended Tagging Categories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57250" y="4747022"/>
            <a:ext cx="1129299" cy="283964"/>
          </a:xfrm>
          <a:prstGeom prst="rect">
            <a:avLst/>
          </a:prstGeom>
          <a:solidFill>
            <a:srgbClr val="57CBFF">
              <a:alpha val="10000"/>
            </a:srgbClr>
          </a:solidFill>
          <a:ln w="9144">
            <a:solidFill>
              <a:srgbClr val="57CBF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57250" y="4747022"/>
            <a:ext cx="1369201" cy="283924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57CBFF"/>
                </a:solidFill>
              </a:rPr>
              <a:t>Business Value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2882419" y="4747022"/>
            <a:ext cx="1244157" cy="283964"/>
          </a:xfrm>
          <a:prstGeom prst="rect">
            <a:avLst/>
          </a:prstGeom>
          <a:solidFill>
            <a:srgbClr val="57CBFF">
              <a:alpha val="10000"/>
            </a:srgbClr>
          </a:solidFill>
          <a:ln w="9144">
            <a:solidFill>
              <a:srgbClr val="57CB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882419" y="4747022"/>
            <a:ext cx="1399699" cy="283924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57CBFF"/>
                </a:solidFill>
              </a:rPr>
              <a:t>Business Process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031935" y="4747022"/>
            <a:ext cx="972694" cy="283964"/>
          </a:xfrm>
          <a:prstGeom prst="rect">
            <a:avLst/>
          </a:prstGeom>
          <a:solidFill>
            <a:srgbClr val="57CBFF">
              <a:alpha val="10000"/>
            </a:srgbClr>
          </a:solidFill>
          <a:ln w="9144">
            <a:solidFill>
              <a:srgbClr val="57CB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031934" y="4747022"/>
            <a:ext cx="1129299" cy="283924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57CBFF"/>
                </a:solidFill>
              </a:rPr>
              <a:t>Data Source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919559" y="4747022"/>
            <a:ext cx="1367163" cy="283964"/>
          </a:xfrm>
          <a:prstGeom prst="rect">
            <a:avLst/>
          </a:prstGeom>
          <a:solidFill>
            <a:srgbClr val="57CBFF">
              <a:alpha val="10000"/>
            </a:srgbClr>
          </a:solidFill>
          <a:ln w="9144">
            <a:solidFill>
              <a:srgbClr val="57CB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819531" y="4747022"/>
            <a:ext cx="1652941" cy="283924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57CBFF"/>
                </a:solidFill>
              </a:rPr>
              <a:t>Analytical Function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Making Trade-offs: Prioritizing Requirements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8001000" cy="714375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42863" cy="7143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38" y="1361777"/>
            <a:ext cx="257175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28750" y="1278201"/>
            <a:ext cx="820289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Must-Have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428750" y="1508587"/>
            <a:ext cx="5988691" cy="172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Critical for project success. The solution is non-viable without these requirements.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71500" y="1884164"/>
            <a:ext cx="8001000" cy="71437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0" name="Shape 6"/>
          <p:cNvSpPr/>
          <p:nvPr/>
        </p:nvSpPr>
        <p:spPr>
          <a:xfrm>
            <a:off x="571500" y="1884164"/>
            <a:ext cx="42863" cy="7143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219027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28750" y="2135451"/>
            <a:ext cx="947182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Should-Have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1428750" y="2365837"/>
            <a:ext cx="7124771" cy="172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Important requirements that add significant value but are not deal-breakers for the initial release.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71500" y="2741414"/>
            <a:ext cx="8001000" cy="714375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2741414"/>
            <a:ext cx="42863" cy="714375"/>
          </a:xfrm>
          <a:prstGeom prst="rect">
            <a:avLst/>
          </a:prstGeom>
          <a:solidFill>
            <a:srgbClr val="8892B0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3076277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28750" y="2992701"/>
            <a:ext cx="974562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Nice-to-Have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428750" y="3223087"/>
            <a:ext cx="6832896" cy="172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Desirable features that improve user experience but can be deferred if budget or time is tight.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71500" y="3598664"/>
            <a:ext cx="8001000" cy="714375"/>
          </a:xfrm>
          <a:prstGeom prst="rect">
            <a:avLst/>
          </a:prstGeom>
          <a:solidFill>
            <a:srgbClr val="112240">
              <a:alpha val="6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571500" y="3598664"/>
            <a:ext cx="42863" cy="714375"/>
          </a:xfrm>
          <a:prstGeom prst="rect">
            <a:avLst/>
          </a:prstGeom>
          <a:solidFill>
            <a:srgbClr val="F88E86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3933527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28750" y="3849951"/>
            <a:ext cx="1160895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Forget-About-It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428750" y="4080337"/>
            <a:ext cx="6966715" cy="1724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Requirements that are out of scope for the current project phase or provide low business value.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0" y="4818459"/>
            <a:ext cx="9144000" cy="3250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0" y="4818459"/>
            <a:ext cx="9144000" cy="7144"/>
          </a:xfrm>
          <a:prstGeom prst="rect">
            <a:avLst/>
          </a:prstGeom>
          <a:solidFill>
            <a:srgbClr val="F0FFFB"/>
          </a:solidFill>
          <a:ln/>
        </p:spPr>
      </p:sp>
      <p:sp>
        <p:nvSpPr>
          <p:cNvPr id="26" name="Text 19"/>
          <p:cNvSpPr/>
          <p:nvPr/>
        </p:nvSpPr>
        <p:spPr>
          <a:xfrm>
            <a:off x="370337" y="4968478"/>
            <a:ext cx="8403326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400" b="1" i="1" dirty="0">
                <a:solidFill>
                  <a:srgbClr val="64FFDA"/>
                </a:solidFill>
              </a:rPr>
              <a:t>Reality Check:</a:t>
            </a:r>
            <a:r>
              <a:rPr lang="en-US" sz="1400" i="1" dirty="0">
                <a:solidFill>
                  <a:srgbClr val="8892B0"/>
                </a:solidFill>
              </a:rPr>
              <a:t> Not everything can be done in one project phase. Prioritization is the key to </a:t>
            </a:r>
            <a:r>
              <a:rPr lang="en-US" sz="1400" b="1" i="1" dirty="0">
                <a:solidFill>
                  <a:srgbClr val="64FFDA"/>
                </a:solidFill>
              </a:rPr>
              <a:t>delivering value on time</a:t>
            </a:r>
            <a:r>
              <a:rPr lang="en-US" sz="1400" i="1" dirty="0">
                <a:solidFill>
                  <a:srgbClr val="8892B0"/>
                </a:solidFill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Contract: Linking Priorities to Scope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094780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5825" y="1026914"/>
            <a:ext cx="318611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When </a:t>
            </a:r>
            <a:r>
              <a:rPr lang="en-US" sz="1400" b="1" dirty="0">
                <a:solidFill>
                  <a:srgbClr val="F44336"/>
                </a:solidFill>
              </a:rPr>
              <a:t>"Must-have" requirements</a:t>
            </a:r>
            <a:r>
              <a:rPr lang="en-US" sz="1400" dirty="0">
                <a:solidFill>
                  <a:srgbClr val="CCD6F6"/>
                </a:solidFill>
              </a:rPr>
              <a:t> exceed the allocated budget or timeline, a critical decision point is reached.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52030"/>
            <a:ext cx="214313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28688" y="1884164"/>
            <a:ext cx="3143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Failing to address this gap early leads to </a:t>
            </a:r>
            <a:r>
              <a:rPr lang="en-US" sz="1400" b="1" dirty="0">
                <a:solidFill>
                  <a:srgbClr val="F44336"/>
                </a:solidFill>
              </a:rPr>
              <a:t>expectation failure</a:t>
            </a:r>
            <a:r>
              <a:rPr lang="en-US" sz="1400" dirty="0">
                <a:solidFill>
                  <a:srgbClr val="CCD6F6"/>
                </a:solidFill>
              </a:rPr>
              <a:t> and project overruns.</a:t>
            </a:r>
            <a:endParaRPr lang="en-US" sz="1400" dirty="0"/>
          </a:p>
        </p:txBody>
      </p:sp>
      <p:sp>
        <p:nvSpPr>
          <p:cNvPr id="8" name="Shape 3"/>
          <p:cNvSpPr/>
          <p:nvPr/>
        </p:nvSpPr>
        <p:spPr>
          <a:xfrm>
            <a:off x="4500563" y="1026914"/>
            <a:ext cx="4071938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9" name="Shape 4"/>
          <p:cNvSpPr/>
          <p:nvPr/>
        </p:nvSpPr>
        <p:spPr>
          <a:xfrm>
            <a:off x="4500563" y="1026914"/>
            <a:ext cx="4071938" cy="285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0" name="Text 5"/>
          <p:cNvSpPr/>
          <p:nvPr/>
        </p:nvSpPr>
        <p:spPr>
          <a:xfrm>
            <a:off x="4786313" y="1312664"/>
            <a:ext cx="1289392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Strategic Options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735931"/>
            <a:ext cx="114300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007769" y="1705570"/>
            <a:ext cx="925125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Reduce Scope: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5920634" y="1705570"/>
            <a:ext cx="1500283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Defer non-critical items.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053828"/>
            <a:ext cx="114300" cy="1143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007769" y="2023467"/>
            <a:ext cx="981935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Phase Delivery: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5990955" y="2023467"/>
            <a:ext cx="1661160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Use a multi-year roadmap.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371725"/>
            <a:ext cx="114300" cy="1143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007769" y="2341364"/>
            <a:ext cx="1063176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Increase Budget: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6093312" y="2341364"/>
            <a:ext cx="1467966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Secure more resources.</a:t>
            </a:r>
            <a:endParaRPr lang="en-US" sz="12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2689622"/>
            <a:ext cx="100013" cy="1143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993481" y="2659261"/>
            <a:ext cx="1096198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CCD6F6"/>
                </a:solidFill>
              </a:rPr>
              <a:t>Extend Schedule:</a:t>
            </a:r>
            <a:endParaRPr lang="en-US" sz="1200" dirty="0"/>
          </a:p>
        </p:txBody>
      </p:sp>
      <p:sp>
        <p:nvSpPr>
          <p:cNvPr id="22" name="Text 13"/>
          <p:cNvSpPr/>
          <p:nvPr/>
        </p:nvSpPr>
        <p:spPr>
          <a:xfrm>
            <a:off x="6086112" y="2659261"/>
            <a:ext cx="1813958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CCD6F6"/>
                </a:solidFill>
              </a:rPr>
              <a:t>Allow more time for delivery.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4" name="Shape 15"/>
          <p:cNvSpPr/>
          <p:nvPr/>
        </p:nvSpPr>
        <p:spPr>
          <a:xfrm>
            <a:off x="571500" y="4429125"/>
            <a:ext cx="42863" cy="7143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5" name="Text 16"/>
          <p:cNvSpPr/>
          <p:nvPr/>
        </p:nvSpPr>
        <p:spPr>
          <a:xfrm>
            <a:off x="857250" y="4680942"/>
            <a:ext cx="7429500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Critical Step:</a:t>
            </a:r>
            <a:r>
              <a:rPr lang="en-US" sz="1400" b="1" dirty="0">
                <a:solidFill>
                  <a:srgbClr val="CCD6F6"/>
                </a:solidFill>
              </a:rPr>
              <a:t> Formal business sign-off acts as a </a:t>
            </a:r>
            <a:r>
              <a:rPr lang="en-US" sz="1400" b="1" dirty="0">
                <a:solidFill>
                  <a:srgbClr val="64FFDA"/>
                </a:solidFill>
              </a:rPr>
              <a:t>contract</a:t>
            </a:r>
            <a:r>
              <a:rPr lang="en-US" sz="1400" b="1" dirty="0">
                <a:solidFill>
                  <a:srgbClr val="CCD6F6"/>
                </a:solidFill>
              </a:rPr>
              <a:t> between business and IT, locking in the scope and expectations for delivery.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Art of the Interview: Gathering Insights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371850" cy="4116586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3371850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341239"/>
            <a:ext cx="203597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003" y="1312664"/>
            <a:ext cx="1217000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Target Audience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757363"/>
            <a:ext cx="125016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25141" y="1741289"/>
            <a:ext cx="764568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Executives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110978"/>
            <a:ext cx="125016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25141" y="2094905"/>
            <a:ext cx="1075744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Business Users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464594"/>
            <a:ext cx="178594" cy="142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78719" y="2448520"/>
            <a:ext cx="907941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Power Users</a:t>
            </a:r>
            <a:endParaRPr lang="en-US" sz="1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2818209"/>
            <a:ext cx="178594" cy="14287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78719" y="2802136"/>
            <a:ext cx="1846916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IT Subject Matter Experts</a:t>
            </a:r>
            <a:endParaRPr lang="en-US" sz="1400" dirty="0"/>
          </a:p>
        </p:txBody>
      </p:sp>
      <p:sp>
        <p:nvSpPr>
          <p:cNvPr id="16" name="Shape 8"/>
          <p:cNvSpPr/>
          <p:nvPr/>
        </p:nvSpPr>
        <p:spPr>
          <a:xfrm>
            <a:off x="4371975" y="1026914"/>
            <a:ext cx="4200525" cy="812602"/>
          </a:xfrm>
          <a:prstGeom prst="rect">
            <a:avLst/>
          </a:prstGeom>
          <a:solidFill>
            <a:srgbClr val="F44336">
              <a:alpha val="5000"/>
            </a:srgbClr>
          </a:solidFill>
          <a:ln/>
        </p:spPr>
      </p:sp>
      <p:sp>
        <p:nvSpPr>
          <p:cNvPr id="17" name="Shape 9"/>
          <p:cNvSpPr/>
          <p:nvPr/>
        </p:nvSpPr>
        <p:spPr>
          <a:xfrm>
            <a:off x="4371975" y="1026914"/>
            <a:ext cx="28575" cy="812602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8" name="Text 10"/>
          <p:cNvSpPr/>
          <p:nvPr/>
        </p:nvSpPr>
        <p:spPr>
          <a:xfrm>
            <a:off x="4586288" y="1205508"/>
            <a:ext cx="1735027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F44336"/>
                </a:solidFill>
              </a:rPr>
              <a:t>Avoid Vague Questions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4586288" y="1412677"/>
            <a:ext cx="3101490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i="1" dirty="0">
                <a:solidFill>
                  <a:srgbClr val="CCD6F6"/>
                </a:solidFill>
              </a:rPr>
              <a:t>"What do you want in the new BI system?"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4586288" y="1684139"/>
            <a:ext cx="37719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Too broad; users often don't know what's possible.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4371975" y="2053828"/>
            <a:ext cx="4200525" cy="812602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2" name="Shape 14"/>
          <p:cNvSpPr/>
          <p:nvPr/>
        </p:nvSpPr>
        <p:spPr>
          <a:xfrm>
            <a:off x="4371975" y="2053828"/>
            <a:ext cx="28575" cy="812602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3" name="Text 15"/>
          <p:cNvSpPr/>
          <p:nvPr/>
        </p:nvSpPr>
        <p:spPr>
          <a:xfrm>
            <a:off x="4586288" y="2232422"/>
            <a:ext cx="1907317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64FFDA"/>
                </a:solidFill>
              </a:rPr>
              <a:t>Prefer Focused Questions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4586288" y="2439591"/>
            <a:ext cx="4140621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i="1" dirty="0">
                <a:solidFill>
                  <a:srgbClr val="CCD6F6"/>
                </a:solidFill>
              </a:rPr>
              <a:t>"What is the most valuable analysis you perform today?"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4586288" y="2711053"/>
            <a:ext cx="3025315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Focuses on current value and pain points.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4371975" y="3080742"/>
            <a:ext cx="4200525" cy="812602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7" name="Shape 19"/>
          <p:cNvSpPr/>
          <p:nvPr/>
        </p:nvSpPr>
        <p:spPr>
          <a:xfrm>
            <a:off x="4371975" y="3080742"/>
            <a:ext cx="28575" cy="812602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8" name="Text 20"/>
          <p:cNvSpPr/>
          <p:nvPr/>
        </p:nvSpPr>
        <p:spPr>
          <a:xfrm>
            <a:off x="4586288" y="3259336"/>
            <a:ext cx="2517164" cy="1339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400" b="1" kern="0" spc="2" dirty="0">
                <a:solidFill>
                  <a:srgbClr val="64FFDA"/>
                </a:solidFill>
              </a:rPr>
              <a:t>Prefer Decision-Centric Questions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586288" y="3466505"/>
            <a:ext cx="4156972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i="1" dirty="0">
                <a:solidFill>
                  <a:srgbClr val="CCD6F6"/>
                </a:solidFill>
              </a:rPr>
              <a:t>"What decision is currently the hardest for you to make?"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586288" y="3737967"/>
            <a:ext cx="3842270" cy="1531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Identifies gaps in information and analytical support.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Preparation and Follow-up: Ensuring Accuracy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026914"/>
            <a:ext cx="3857625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026914"/>
            <a:ext cx="3857625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329630"/>
            <a:ext cx="182166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6572" y="1312664"/>
            <a:ext cx="887872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Preparation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823442"/>
            <a:ext cx="160734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0859" y="1760934"/>
            <a:ext cx="2982516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Learn Context:</a:t>
            </a:r>
            <a:r>
              <a:rPr lang="en-US" sz="1400" dirty="0">
                <a:solidFill>
                  <a:srgbClr val="CCD6F6"/>
                </a:solidFill>
              </a:rPr>
              <a:t> Understand the business unit's goals and current processes before the meeting.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387798"/>
            <a:ext cx="142875" cy="1428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3000" y="2325291"/>
            <a:ext cx="30003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Focused Questions:</a:t>
            </a:r>
            <a:r>
              <a:rPr lang="en-US" sz="1400" dirty="0">
                <a:solidFill>
                  <a:srgbClr val="CCD6F6"/>
                </a:solidFill>
              </a:rPr>
              <a:t> Prepare specific, open-ended questions tailored to the interviewee's role.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145036"/>
            <a:ext cx="142875" cy="14287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3000" y="3082528"/>
            <a:ext cx="30003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Share Agenda:</a:t>
            </a:r>
            <a:r>
              <a:rPr lang="en-US" sz="1400" dirty="0">
                <a:solidFill>
                  <a:srgbClr val="CCD6F6"/>
                </a:solidFill>
              </a:rPr>
              <a:t> Send the meeting purpose and agenda in advance to allow stakeholders to prepare.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4714875" y="1026914"/>
            <a:ext cx="3857625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8"/>
          <p:cNvSpPr/>
          <p:nvPr/>
        </p:nvSpPr>
        <p:spPr>
          <a:xfrm>
            <a:off x="4714875" y="1026914"/>
            <a:ext cx="3857625" cy="285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1329630"/>
            <a:ext cx="157163" cy="20002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64944" y="1312664"/>
            <a:ext cx="744948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Follow-up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1823442"/>
            <a:ext cx="142875" cy="14287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86375" y="1760934"/>
            <a:ext cx="30003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Review Quickly:</a:t>
            </a:r>
            <a:r>
              <a:rPr lang="en-US" sz="1400" dirty="0">
                <a:solidFill>
                  <a:srgbClr val="CCD6F6"/>
                </a:solidFill>
              </a:rPr>
              <a:t> Transcribe and review notes while the conversation is still fresh (within 24 hours).</a:t>
            </a:r>
            <a:endParaRPr lang="en-US" sz="14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0625" y="2580680"/>
            <a:ext cx="142875" cy="14287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286375" y="2518172"/>
            <a:ext cx="300037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Identify Themes:</a:t>
            </a:r>
            <a:r>
              <a:rPr lang="en-US" sz="1400" dirty="0">
                <a:solidFill>
                  <a:srgbClr val="CCD6F6"/>
                </a:solidFill>
              </a:rPr>
              <a:t> Look for common requirements, conflicting logic, or missing data gaps.</a:t>
            </a:r>
            <a:endParaRPr lang="en-US" sz="14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3337917"/>
            <a:ext cx="178594" cy="142875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322094" y="3275409"/>
            <a:ext cx="2964656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Validate Findings:</a:t>
            </a:r>
            <a:r>
              <a:rPr lang="en-US" sz="1400" dirty="0">
                <a:solidFill>
                  <a:srgbClr val="CCD6F6"/>
                </a:solidFill>
              </a:rPr>
              <a:t> Share summarized findings with interviewees to confirm accuracy and build trust.</a:t>
            </a:r>
            <a:endParaRPr lang="en-US" sz="1400" dirty="0"/>
          </a:p>
        </p:txBody>
      </p:sp>
      <p:sp>
        <p:nvSpPr>
          <p:cNvPr id="24" name="Shape 13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5" name="Shape 14"/>
          <p:cNvSpPr/>
          <p:nvPr/>
        </p:nvSpPr>
        <p:spPr>
          <a:xfrm>
            <a:off x="571500" y="4429125"/>
            <a:ext cx="42863" cy="7143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6" name="Text 15"/>
          <p:cNvSpPr/>
          <p:nvPr/>
        </p:nvSpPr>
        <p:spPr>
          <a:xfrm>
            <a:off x="857250" y="4680942"/>
            <a:ext cx="7429500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Rigor builds trust:</a:t>
            </a:r>
            <a:r>
              <a:rPr lang="en-US" sz="1400" b="1" dirty="0">
                <a:solidFill>
                  <a:srgbClr val="CCD6F6"/>
                </a:solidFill>
              </a:rPr>
              <a:t> Professional preparation and thorough follow-up ensure that the requirements baseline is </a:t>
            </a:r>
            <a:r>
              <a:rPr lang="en-US" sz="1400" b="1" dirty="0">
                <a:solidFill>
                  <a:srgbClr val="64FFDA"/>
                </a:solidFill>
              </a:rPr>
              <a:t>accurate and defensible</a:t>
            </a:r>
            <a:r>
              <a:rPr lang="en-US" sz="1400" b="1" dirty="0">
                <a:solidFill>
                  <a:srgbClr val="CCD6F6"/>
                </a:solidFill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Best Practices: Documenting for Clarity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15318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1098352"/>
            <a:ext cx="1054969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Core Practices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94855"/>
            <a:ext cx="142875" cy="1428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57250" y="1632347"/>
            <a:ext cx="35004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Document Continuously:</a:t>
            </a:r>
            <a:r>
              <a:rPr lang="en-US" sz="1400" dirty="0">
                <a:solidFill>
                  <a:srgbClr val="CCD6F6"/>
                </a:solidFill>
              </a:rPr>
              <a:t> Capture requirements as they are uncovered, rather than waiting for a final "writing phase."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666405"/>
            <a:ext cx="178594" cy="14287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92969" y="2603897"/>
            <a:ext cx="3464719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Collaborative Tools:</a:t>
            </a:r>
            <a:r>
              <a:rPr lang="en-US" sz="1400" dirty="0">
                <a:solidFill>
                  <a:srgbClr val="CCD6F6"/>
                </a:solidFill>
              </a:rPr>
              <a:t> Use shared platforms to allow real-time feedback and version control across the team.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445073"/>
            <a:ext cx="160734" cy="142875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75109" y="3382566"/>
            <a:ext cx="3482578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Favor Visuals:</a:t>
            </a:r>
            <a:r>
              <a:rPr lang="en-US" sz="1400" dirty="0">
                <a:solidFill>
                  <a:srgbClr val="CCD6F6"/>
                </a:solidFill>
              </a:rPr>
              <a:t> Use diagrams, flows, and mock-ups. A single visual can replace pages of complex text.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1115318"/>
            <a:ext cx="200025" cy="200025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129213" y="1098352"/>
            <a:ext cx="1849609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57CBFF"/>
                </a:solidFill>
              </a:rPr>
              <a:t>The Power of Prototypes</a:t>
            </a:r>
            <a:endParaRPr lang="en-US" sz="14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1694855"/>
            <a:ext cx="142875" cy="142875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5072063" y="1632347"/>
            <a:ext cx="3500438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Early Validation:</a:t>
            </a:r>
            <a:r>
              <a:rPr lang="en-US" sz="1400" dirty="0">
                <a:solidFill>
                  <a:srgbClr val="CCD6F6"/>
                </a:solidFill>
              </a:rPr>
              <a:t> Prototypes help users "see" the final product early, making it easier to spot gaps or errors.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2473523"/>
            <a:ext cx="178594" cy="14287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5107781" y="2411016"/>
            <a:ext cx="3464719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Drive Engagement:</a:t>
            </a:r>
            <a:r>
              <a:rPr lang="en-US" sz="1400" dirty="0">
                <a:solidFill>
                  <a:srgbClr val="CCD6F6"/>
                </a:solidFill>
              </a:rPr>
              <a:t> Interactive mock-ups generate better feedback than static documents.</a:t>
            </a:r>
            <a:endParaRPr lang="en-US" sz="14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6313" y="3252192"/>
            <a:ext cx="142875" cy="142875"/>
          </a:xfrm>
          <a:prstGeom prst="rect">
            <a:avLst/>
          </a:prstGeom>
        </p:spPr>
      </p:pic>
      <p:sp>
        <p:nvSpPr>
          <p:cNvPr id="19" name="Text 8"/>
          <p:cNvSpPr/>
          <p:nvPr/>
        </p:nvSpPr>
        <p:spPr>
          <a:xfrm>
            <a:off x="5072063" y="3189684"/>
            <a:ext cx="3500438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Baseline for Design:</a:t>
            </a:r>
            <a:r>
              <a:rPr lang="en-US" sz="1400" dirty="0">
                <a:solidFill>
                  <a:srgbClr val="CCD6F6"/>
                </a:solidFill>
              </a:rPr>
              <a:t> Prototypes provide a clear starting point for the technical development team.</a:t>
            </a:r>
            <a:endParaRPr lang="en-US" sz="1400" dirty="0"/>
          </a:p>
        </p:txBody>
      </p:sp>
      <p:sp>
        <p:nvSpPr>
          <p:cNvPr id="20" name="Shape 9"/>
          <p:cNvSpPr/>
          <p:nvPr/>
        </p:nvSpPr>
        <p:spPr>
          <a:xfrm>
            <a:off x="571500" y="4286250"/>
            <a:ext cx="8001000" cy="857250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21" name="Shape 10"/>
          <p:cNvSpPr/>
          <p:nvPr/>
        </p:nvSpPr>
        <p:spPr>
          <a:xfrm>
            <a:off x="571500" y="4286250"/>
            <a:ext cx="42863" cy="857250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22" name="Text 11"/>
          <p:cNvSpPr/>
          <p:nvPr/>
        </p:nvSpPr>
        <p:spPr>
          <a:xfrm>
            <a:off x="857250" y="4464844"/>
            <a:ext cx="2032801" cy="162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Recommended Visual Tools</a:t>
            </a:r>
            <a:endParaRPr lang="en-US" sz="1400" dirty="0"/>
          </a:p>
        </p:txBody>
      </p:sp>
      <p:sp>
        <p:nvSpPr>
          <p:cNvPr id="23" name="Shape 12"/>
          <p:cNvSpPr/>
          <p:nvPr/>
        </p:nvSpPr>
        <p:spPr>
          <a:xfrm>
            <a:off x="857250" y="4747022"/>
            <a:ext cx="1112119" cy="283964"/>
          </a:xfrm>
          <a:prstGeom prst="rect">
            <a:avLst/>
          </a:prstGeom>
          <a:solidFill>
            <a:srgbClr val="57CBFF">
              <a:alpha val="10000"/>
            </a:srgbClr>
          </a:solidFill>
          <a:ln w="9144">
            <a:solidFill>
              <a:srgbClr val="57CBFF"/>
            </a:solidFill>
            <a:prstDash val="solid"/>
          </a:ln>
        </p:spPr>
      </p:sp>
      <p:sp>
        <p:nvSpPr>
          <p:cNvPr id="24" name="Text 13"/>
          <p:cNvSpPr/>
          <p:nvPr/>
        </p:nvSpPr>
        <p:spPr>
          <a:xfrm>
            <a:off x="857250" y="4747022"/>
            <a:ext cx="1112119" cy="283924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57CBFF"/>
                </a:solidFill>
              </a:rPr>
              <a:t>Storyboards</a:t>
            </a:r>
            <a:endParaRPr lang="en-US" sz="1200" dirty="0"/>
          </a:p>
        </p:txBody>
      </p:sp>
      <p:sp>
        <p:nvSpPr>
          <p:cNvPr id="25" name="Shape 14"/>
          <p:cNvSpPr/>
          <p:nvPr/>
        </p:nvSpPr>
        <p:spPr>
          <a:xfrm>
            <a:off x="3001156" y="4747022"/>
            <a:ext cx="838637" cy="283964"/>
          </a:xfrm>
          <a:prstGeom prst="rect">
            <a:avLst/>
          </a:prstGeom>
          <a:solidFill>
            <a:srgbClr val="57CBFF">
              <a:alpha val="10000"/>
            </a:srgbClr>
          </a:solidFill>
          <a:ln w="9144">
            <a:solidFill>
              <a:srgbClr val="57CBFF"/>
            </a:solidFill>
            <a:prstDash val="solid"/>
          </a:ln>
        </p:spPr>
      </p:sp>
      <p:sp>
        <p:nvSpPr>
          <p:cNvPr id="26" name="Text 15"/>
          <p:cNvSpPr/>
          <p:nvPr/>
        </p:nvSpPr>
        <p:spPr>
          <a:xfrm>
            <a:off x="3001156" y="4747022"/>
            <a:ext cx="1112119" cy="283924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57CBFF"/>
                </a:solidFill>
              </a:rPr>
              <a:t>Mock-ups</a:t>
            </a:r>
            <a:endParaRPr lang="en-US" sz="1200" dirty="0"/>
          </a:p>
        </p:txBody>
      </p:sp>
      <p:sp>
        <p:nvSpPr>
          <p:cNvPr id="27" name="Shape 16"/>
          <p:cNvSpPr/>
          <p:nvPr/>
        </p:nvSpPr>
        <p:spPr>
          <a:xfrm>
            <a:off x="5016643" y="4747022"/>
            <a:ext cx="908345" cy="283964"/>
          </a:xfrm>
          <a:prstGeom prst="rect">
            <a:avLst/>
          </a:prstGeom>
          <a:solidFill>
            <a:srgbClr val="57CBFF">
              <a:alpha val="10000"/>
            </a:srgbClr>
          </a:solidFill>
          <a:ln w="9144">
            <a:solidFill>
              <a:srgbClr val="57CBFF"/>
            </a:solidFill>
            <a:prstDash val="solid"/>
          </a:ln>
        </p:spPr>
      </p:sp>
      <p:sp>
        <p:nvSpPr>
          <p:cNvPr id="28" name="Text 17"/>
          <p:cNvSpPr/>
          <p:nvPr/>
        </p:nvSpPr>
        <p:spPr>
          <a:xfrm>
            <a:off x="5016643" y="4747022"/>
            <a:ext cx="1175370" cy="283924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57CBFF"/>
                </a:solidFill>
              </a:rPr>
              <a:t>Prototypes</a:t>
            </a: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7111380" y="4747022"/>
            <a:ext cx="1175370" cy="283964"/>
          </a:xfrm>
          <a:prstGeom prst="rect">
            <a:avLst/>
          </a:prstGeom>
          <a:solidFill>
            <a:srgbClr val="57CBFF">
              <a:alpha val="10000"/>
            </a:srgbClr>
          </a:solidFill>
          <a:ln w="9144">
            <a:solidFill>
              <a:srgbClr val="57CBFF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7111380" y="4747022"/>
            <a:ext cx="1461120" cy="283924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200" b="1" dirty="0">
                <a:solidFill>
                  <a:srgbClr val="57CBFF"/>
                </a:solidFill>
              </a:rPr>
              <a:t>Sample Reports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The Finish Line: Final Sign-off</a:t>
            </a:r>
            <a:endParaRPr lang="en-US" sz="1602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094780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5825" y="1026914"/>
            <a:ext cx="3886200" cy="646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Formal Approval:</a:t>
            </a:r>
            <a:r>
              <a:rPr lang="en-US" sz="1400" dirty="0">
                <a:solidFill>
                  <a:srgbClr val="CCD6F6"/>
                </a:solidFill>
              </a:rPr>
              <a:t> Business sponsors and stakeholders formally approve the final requirements documentation.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737717"/>
            <a:ext cx="128588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42963" y="1669852"/>
            <a:ext cx="39290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Requirements Baseline:</a:t>
            </a:r>
            <a:r>
              <a:rPr lang="en-US" sz="1400" dirty="0">
                <a:solidFill>
                  <a:srgbClr val="CCD6F6"/>
                </a:solidFill>
              </a:rPr>
              <a:t> A stable foundation is established for the design and development phases.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380655"/>
            <a:ext cx="150019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64394" y="2312789"/>
            <a:ext cx="390763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57CBFF"/>
                </a:solidFill>
              </a:rPr>
              <a:t>Scope Locked:</a:t>
            </a:r>
            <a:r>
              <a:rPr lang="en-US" sz="1400" dirty="0">
                <a:solidFill>
                  <a:srgbClr val="CCD6F6"/>
                </a:solidFill>
              </a:rPr>
              <a:t> Project expectations are clearly defined and locked to prevent unauthorized changes.</a:t>
            </a:r>
            <a:endParaRPr lang="en-US" sz="1400" dirty="0"/>
          </a:p>
        </p:txBody>
      </p:sp>
      <p:sp>
        <p:nvSpPr>
          <p:cNvPr id="10" name="Shape 4"/>
          <p:cNvSpPr/>
          <p:nvPr/>
        </p:nvSpPr>
        <p:spPr>
          <a:xfrm>
            <a:off x="5200650" y="1026914"/>
            <a:ext cx="3371850" cy="311646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1" name="Shape 5"/>
          <p:cNvSpPr/>
          <p:nvPr/>
        </p:nvSpPr>
        <p:spPr>
          <a:xfrm>
            <a:off x="5200650" y="1026914"/>
            <a:ext cx="3371850" cy="28575"/>
          </a:xfrm>
          <a:prstGeom prst="rect">
            <a:avLst/>
          </a:prstGeom>
          <a:solidFill>
            <a:srgbClr val="F44336"/>
          </a:solidFill>
          <a:ln/>
        </p:spPr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2263" y="1394817"/>
            <a:ext cx="428625" cy="42862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255633" y="2110978"/>
            <a:ext cx="1261884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F44336"/>
                </a:solidFill>
              </a:rPr>
              <a:t>The Danger Zone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5486400" y="2487811"/>
            <a:ext cx="28003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Without a formal sign-off, </a:t>
            </a:r>
            <a:r>
              <a:rPr lang="en-US" sz="1400" b="1" dirty="0">
                <a:solidFill>
                  <a:srgbClr val="CCD6F6"/>
                </a:solidFill>
              </a:rPr>
              <a:t>scope creep is inevitable</a:t>
            </a:r>
            <a:r>
              <a:rPr lang="en-US" sz="1400" dirty="0">
                <a:solidFill>
                  <a:srgbClr val="CCD6F6"/>
                </a:solidFill>
              </a:rPr>
              <a:t>.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5486400" y="3042121"/>
            <a:ext cx="2800350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dirty="0">
                <a:solidFill>
                  <a:srgbClr val="CCD6F6"/>
                </a:solidFill>
              </a:rPr>
              <a:t>Ambiguous expectations lead to project delays, budget overruns, and eventual failure.</a:t>
            </a:r>
            <a:endParaRPr lang="en-US" sz="1400" dirty="0"/>
          </a:p>
        </p:txBody>
      </p:sp>
      <p:sp>
        <p:nvSpPr>
          <p:cNvPr id="16" name="Shape 9"/>
          <p:cNvSpPr/>
          <p:nvPr/>
        </p:nvSpPr>
        <p:spPr>
          <a:xfrm>
            <a:off x="571500" y="4429125"/>
            <a:ext cx="8001000" cy="714375"/>
          </a:xfrm>
          <a:prstGeom prst="rect">
            <a:avLst/>
          </a:prstGeom>
          <a:solidFill>
            <a:srgbClr val="64FFDA">
              <a:alpha val="5000"/>
            </a:srgbClr>
          </a:solidFill>
          <a:ln/>
        </p:spPr>
      </p:sp>
      <p:sp>
        <p:nvSpPr>
          <p:cNvPr id="17" name="Shape 10"/>
          <p:cNvSpPr/>
          <p:nvPr/>
        </p:nvSpPr>
        <p:spPr>
          <a:xfrm>
            <a:off x="571500" y="4429125"/>
            <a:ext cx="42863" cy="714375"/>
          </a:xfrm>
          <a:prstGeom prst="rect">
            <a:avLst/>
          </a:prstGeom>
          <a:solidFill>
            <a:srgbClr val="64FFDA"/>
          </a:solidFill>
          <a:ln/>
        </p:spPr>
      </p:sp>
      <p:sp>
        <p:nvSpPr>
          <p:cNvPr id="18" name="Text 11"/>
          <p:cNvSpPr/>
          <p:nvPr/>
        </p:nvSpPr>
        <p:spPr>
          <a:xfrm>
            <a:off x="857250" y="4680942"/>
            <a:ext cx="7429500" cy="361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64FFDA"/>
                </a:solidFill>
              </a:rPr>
              <a:t>The Bottom Line:</a:t>
            </a:r>
            <a:r>
              <a:rPr lang="en-US" sz="1400" b="1" dirty="0">
                <a:solidFill>
                  <a:srgbClr val="CCD6F6"/>
                </a:solidFill>
              </a:rPr>
              <a:t> A signed requirements document acts as a </a:t>
            </a:r>
            <a:r>
              <a:rPr lang="en-US" sz="1400" b="1" dirty="0">
                <a:solidFill>
                  <a:srgbClr val="64FFDA"/>
                </a:solidFill>
              </a:rPr>
              <a:t>contract</a:t>
            </a:r>
            <a:r>
              <a:rPr lang="en-US" sz="1400" b="1" dirty="0">
                <a:solidFill>
                  <a:srgbClr val="CCD6F6"/>
                </a:solidFill>
              </a:rPr>
              <a:t> between the business and IT, protecting both parties.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64FFDA"/>
                </a:solidFill>
              </a:rPr>
              <a:t>Summary: Key Takeaways for Chapter 3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571500" y="1169789"/>
            <a:ext cx="3857625" cy="148322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169789"/>
            <a:ext cx="3857625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458218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28725" y="1455539"/>
            <a:ext cx="1011687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Business First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57250" y="1832372"/>
            <a:ext cx="3286125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Requirements must be driven by </a:t>
            </a:r>
            <a:r>
              <a:rPr lang="en-US" sz="1400" b="1" dirty="0">
                <a:solidFill>
                  <a:srgbClr val="CCD6F6"/>
                </a:solidFill>
              </a:rPr>
              <a:t>business needs and processes</a:t>
            </a:r>
            <a:r>
              <a:rPr lang="en-US" sz="1400" dirty="0">
                <a:solidFill>
                  <a:srgbClr val="8892B0"/>
                </a:solidFill>
              </a:rPr>
              <a:t>, not by the features of a specific BI tool.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714875" y="1169789"/>
            <a:ext cx="3857625" cy="148322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0" name="Shape 6"/>
          <p:cNvSpPr/>
          <p:nvPr/>
        </p:nvSpPr>
        <p:spPr>
          <a:xfrm>
            <a:off x="4714875" y="1169789"/>
            <a:ext cx="3857625" cy="285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625" y="1458218"/>
            <a:ext cx="200025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43525" y="1455539"/>
            <a:ext cx="777136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Data Trust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000625" y="1832372"/>
            <a:ext cx="32861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The </a:t>
            </a:r>
            <a:r>
              <a:rPr lang="en-US" sz="1400" b="1" dirty="0">
                <a:solidFill>
                  <a:srgbClr val="CCD6F6"/>
                </a:solidFill>
              </a:rPr>
              <a:t>"Five Cs" of data quality</a:t>
            </a:r>
            <a:r>
              <a:rPr lang="en-US" sz="1400" dirty="0">
                <a:solidFill>
                  <a:srgbClr val="8892B0"/>
                </a:solidFill>
              </a:rPr>
              <a:t> are non-negotiable. Without clean and consistent data, the BI system will fail.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571500" y="2938760"/>
            <a:ext cx="3857625" cy="148322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15" name="Shape 10"/>
          <p:cNvSpPr/>
          <p:nvPr/>
        </p:nvSpPr>
        <p:spPr>
          <a:xfrm>
            <a:off x="571500" y="2938760"/>
            <a:ext cx="3857625" cy="28575"/>
          </a:xfrm>
          <a:prstGeom prst="rect">
            <a:avLst/>
          </a:prstGeom>
          <a:solidFill>
            <a:srgbClr val="57CBFF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227189"/>
            <a:ext cx="257175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57300" y="3224510"/>
            <a:ext cx="978025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Visual Clarity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857250" y="3601343"/>
            <a:ext cx="32861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Use </a:t>
            </a:r>
            <a:r>
              <a:rPr lang="en-US" sz="1400" b="1" dirty="0">
                <a:solidFill>
                  <a:srgbClr val="CCD6F6"/>
                </a:solidFill>
              </a:rPr>
              <a:t>storyboarding and prototyping</a:t>
            </a:r>
            <a:r>
              <a:rPr lang="en-US" sz="1400" dirty="0">
                <a:solidFill>
                  <a:srgbClr val="8892B0"/>
                </a:solidFill>
              </a:rPr>
              <a:t> to bridge the communication gap between business users and IT developers.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714875" y="2938760"/>
            <a:ext cx="3857625" cy="1483221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20" name="Shape 14"/>
          <p:cNvSpPr/>
          <p:nvPr/>
        </p:nvSpPr>
        <p:spPr>
          <a:xfrm>
            <a:off x="4714875" y="2938760"/>
            <a:ext cx="3857625" cy="28575"/>
          </a:xfrm>
          <a:prstGeom prst="rect">
            <a:avLst/>
          </a:prstGeom>
          <a:solidFill>
            <a:srgbClr val="64FFDA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0625" y="3227189"/>
            <a:ext cx="257175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400675" y="3224510"/>
            <a:ext cx="895758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b="1" kern="0" spc="1" dirty="0">
                <a:solidFill>
                  <a:srgbClr val="CCD6F6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000625" y="3601343"/>
            <a:ext cx="3286125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400" dirty="0">
                <a:solidFill>
                  <a:srgbClr val="8892B0"/>
                </a:solidFill>
              </a:rPr>
              <a:t>Formal </a:t>
            </a:r>
            <a:r>
              <a:rPr lang="en-US" sz="1400" b="1" dirty="0">
                <a:solidFill>
                  <a:srgbClr val="CCD6F6"/>
                </a:solidFill>
              </a:rPr>
              <a:t>sign-off</a:t>
            </a:r>
            <a:r>
              <a:rPr lang="en-US" sz="1400" dirty="0">
                <a:solidFill>
                  <a:srgbClr val="8892B0"/>
                </a:solidFill>
              </a:rPr>
              <a:t> is the contract that locks in scope, manages expectations, and prevents project failure.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0" y="4707731"/>
            <a:ext cx="9144000" cy="4357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0" y="4707731"/>
            <a:ext cx="9144000" cy="7144"/>
          </a:xfrm>
          <a:prstGeom prst="rect">
            <a:avLst/>
          </a:prstGeom>
          <a:solidFill>
            <a:srgbClr val="F0FFFB"/>
          </a:solidFill>
          <a:ln/>
        </p:spPr>
      </p:sp>
      <p:sp>
        <p:nvSpPr>
          <p:cNvPr id="26" name="Text 19"/>
          <p:cNvSpPr/>
          <p:nvPr/>
        </p:nvSpPr>
        <p:spPr>
          <a:xfrm>
            <a:off x="2944599" y="4929188"/>
            <a:ext cx="325480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kern="0" spc="1" dirty="0">
                <a:solidFill>
                  <a:srgbClr val="64FFDA"/>
                </a:solidFill>
              </a:rPr>
              <a:t>Next Chapter: Designing the BI Architecture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</TotalTime>
  <Words>20335</Words>
  <Application>Microsoft Office PowerPoint</Application>
  <PresentationFormat>On-screen Show (16:9)</PresentationFormat>
  <Paragraphs>2711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31</cp:revision>
  <dcterms:created xsi:type="dcterms:W3CDTF">2026-01-18T09:11:38Z</dcterms:created>
  <dcterms:modified xsi:type="dcterms:W3CDTF">2026-01-18T15:42:12Z</dcterms:modified>
</cp:coreProperties>
</file>