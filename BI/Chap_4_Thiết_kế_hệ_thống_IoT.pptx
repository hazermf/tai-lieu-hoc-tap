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257" r:id="rId3"/>
    <p:sldId id="321" r:id="rId4"/>
    <p:sldId id="322" r:id="rId5"/>
    <p:sldId id="324" r:id="rId6"/>
    <p:sldId id="325" r:id="rId7"/>
    <p:sldId id="299" r:id="rId8"/>
    <p:sldId id="323" r:id="rId9"/>
    <p:sldId id="326" r:id="rId10"/>
    <p:sldId id="327" r:id="rId11"/>
    <p:sldId id="328" r:id="rId12"/>
    <p:sldId id="329" r:id="rId13"/>
    <p:sldId id="300" r:id="rId14"/>
    <p:sldId id="366" r:id="rId15"/>
    <p:sldId id="301" r:id="rId16"/>
    <p:sldId id="330" r:id="rId17"/>
    <p:sldId id="331" r:id="rId18"/>
    <p:sldId id="332" r:id="rId19"/>
    <p:sldId id="333" r:id="rId20"/>
    <p:sldId id="334" r:id="rId21"/>
    <p:sldId id="335" r:id="rId22"/>
    <p:sldId id="336" r:id="rId23"/>
    <p:sldId id="302" r:id="rId24"/>
    <p:sldId id="337" r:id="rId25"/>
    <p:sldId id="338" r:id="rId26"/>
    <p:sldId id="339" r:id="rId27"/>
    <p:sldId id="340" r:id="rId28"/>
    <p:sldId id="341" r:id="rId29"/>
    <p:sldId id="342" r:id="rId30"/>
    <p:sldId id="303" r:id="rId31"/>
    <p:sldId id="304" r:id="rId32"/>
    <p:sldId id="305" r:id="rId33"/>
  </p:sldIdLst>
  <p:sldSz cx="9144000" cy="5143500" type="screen16x9"/>
  <p:notesSz cx="6858000" cy="9144000"/>
  <p:embeddedFontLst>
    <p:embeddedFont>
      <p:font typeface="Raleway" pitchFamily="2" charset="0"/>
      <p:regular r:id="rId35"/>
      <p:bold r:id="rId36"/>
      <p:italic r:id="rId37"/>
      <p:boldItalic r:id="rId38"/>
    </p:embeddedFont>
    <p:embeddedFont>
      <p:font typeface="Source Sans Pro" panose="020B0503030403020204" pitchFamily="3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47810" autoAdjust="0"/>
  </p:normalViewPr>
  <p:slideViewPr>
    <p:cSldViewPr snapToGrid="0">
      <p:cViewPr varScale="1">
        <p:scale>
          <a:sx n="69" d="100"/>
          <a:sy n="69" d="100"/>
        </p:scale>
        <p:origin x="2814" y="6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f85ea0e8d5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f85ea0e8d5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Trong phát triển hệ thống </a:t>
            </a:r>
            <a:r>
              <a:rPr lang="vi-VN" b="1" dirty="0"/>
              <a:t>IoT</a:t>
            </a:r>
            <a:r>
              <a:rPr lang="vi-VN" dirty="0"/>
              <a:t>, giai đoạn </a:t>
            </a:r>
            <a:r>
              <a:rPr lang="vi-VN" b="1" dirty="0"/>
              <a:t>phân tích yêu cầu</a:t>
            </a:r>
            <a:r>
              <a:rPr lang="vi-VN" dirty="0"/>
              <a:t> là bước đầu tiên và rất quan trọng, nhằm hiểu rõ mục tiêu, phạm vi và ràng buộc trước khi thiết kế logic và vật lý.</a:t>
            </a:r>
            <a:endParaRPr lang="en-US" dirty="0"/>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B</a:t>
            </a:r>
            <a:r>
              <a:rPr lang="vi-VN" b="1" dirty="0"/>
              <a:t>ước đầu tiên trong quy trình phân tích yêu cầu hệ thống IoT</a:t>
            </a:r>
            <a:r>
              <a:rPr lang="vi-VN" dirty="0"/>
              <a:t>, đó là </a:t>
            </a:r>
            <a:r>
              <a:rPr lang="vi-VN" b="1" dirty="0"/>
              <a:t>Xác định mục tiêu và phạm vi hệ thống</a:t>
            </a:r>
            <a:r>
              <a:rPr lang="vi-VN" dirty="0"/>
              <a:t>. Đây là bước nền tảng, giúp đảm bảo rằng việc thiết kế và triển khai sau này đều đi đúng hướng. Giải thích chi tiết như sau:</a:t>
            </a:r>
          </a:p>
          <a:p>
            <a:pPr marL="158750" indent="0">
              <a:buFontTx/>
              <a:buNone/>
            </a:pPr>
            <a:r>
              <a:rPr lang="vi-VN" b="1" dirty="0"/>
              <a:t>1. Làm rõ hệ thống IoT nhằm giải quyết vấn đề gì</a:t>
            </a:r>
          </a:p>
          <a:p>
            <a:pPr marL="158750" indent="0">
              <a:buFontTx/>
              <a:buNone/>
            </a:pPr>
            <a:r>
              <a:rPr lang="vi-VN" dirty="0"/>
              <a:t>Trước khi bắt tay vào thiết kế, cần xác định </a:t>
            </a:r>
            <a:r>
              <a:rPr lang="vi-VN" b="1" dirty="0"/>
              <a:t>bản chất của bài toán</a:t>
            </a:r>
            <a:r>
              <a:rPr lang="vi-VN" dirty="0"/>
              <a:t>.</a:t>
            </a:r>
          </a:p>
          <a:p>
            <a:pPr marL="158750" indent="0">
              <a:buFontTx/>
              <a:buNone/>
            </a:pPr>
            <a:r>
              <a:rPr lang="vi-VN" dirty="0"/>
              <a:t>Ví dụ:</a:t>
            </a:r>
          </a:p>
          <a:p>
            <a:pPr marL="457200" lvl="1" indent="0">
              <a:buFontTx/>
              <a:buNone/>
            </a:pPr>
            <a:r>
              <a:rPr lang="vi-VN" b="1" dirty="0"/>
              <a:t>Giám sát</a:t>
            </a:r>
            <a:r>
              <a:rPr lang="vi-VN" dirty="0"/>
              <a:t>: hệ thống theo dõi nhiệt độ, độ ẩm trong kho hàng.</a:t>
            </a:r>
          </a:p>
          <a:p>
            <a:pPr marL="457200" lvl="1" indent="0">
              <a:buFontTx/>
              <a:buNone/>
            </a:pPr>
            <a:r>
              <a:rPr lang="vi-VN" b="1" dirty="0"/>
              <a:t>Tự động hóa</a:t>
            </a:r>
            <a:r>
              <a:rPr lang="vi-VN" dirty="0"/>
              <a:t>: hệ thống bật/tắt đèn, tưới cây, điều hòa dựa vào cảm biến.</a:t>
            </a:r>
          </a:p>
          <a:p>
            <a:pPr marL="457200" lvl="1" indent="0">
              <a:buFontTx/>
              <a:buNone/>
            </a:pPr>
            <a:r>
              <a:rPr lang="vi-VN" b="1" dirty="0"/>
              <a:t>Tối ưu hóa</a:t>
            </a:r>
            <a:r>
              <a:rPr lang="vi-VN" dirty="0"/>
              <a:t>: hệ thống phân tích dữ liệu để dự đoán hỏng hóc máy móc (predictive maintenance).</a:t>
            </a:r>
          </a:p>
          <a:p>
            <a:pPr marL="158750" indent="0">
              <a:buFontTx/>
              <a:buNone/>
            </a:pPr>
            <a:r>
              <a:rPr lang="vi-VN" dirty="0"/>
              <a:t>Việc này đảm bảo giải pháp đưa ra </a:t>
            </a:r>
            <a:r>
              <a:rPr lang="vi-VN" b="1" dirty="0"/>
              <a:t>đúng nhu cầu thực tế</a:t>
            </a:r>
            <a:r>
              <a:rPr lang="vi-VN" dirty="0"/>
              <a:t>, không thiết kế dư thừa hoặc thiếu sót.</a:t>
            </a:r>
          </a:p>
          <a:p>
            <a:pPr marL="158750" indent="0">
              <a:buFontTx/>
              <a:buNone/>
            </a:pPr>
            <a:r>
              <a:rPr lang="vi-VN" b="1" dirty="0"/>
              <a:t>2. Xác định phạm vi triển khai</a:t>
            </a:r>
          </a:p>
          <a:p>
            <a:pPr marL="158750" indent="0">
              <a:buFontTx/>
              <a:buNone/>
            </a:pPr>
            <a:r>
              <a:rPr lang="vi-VN" dirty="0"/>
              <a:t>Giúp tránh tình trạng “trôi dạt phạm vi” (scope creep) trong dự án.</a:t>
            </a:r>
          </a:p>
          <a:p>
            <a:pPr marL="158750" indent="0">
              <a:buFontTx/>
              <a:buNone/>
            </a:pPr>
            <a:r>
              <a:rPr lang="vi-VN" dirty="0"/>
              <a:t>Các yếu tố cần làm rõ:</a:t>
            </a:r>
          </a:p>
          <a:p>
            <a:pPr marL="457200" lvl="1" indent="0">
              <a:buFontTx/>
              <a:buNone/>
            </a:pPr>
            <a:r>
              <a:rPr lang="vi-VN" b="1" dirty="0"/>
              <a:t>Số lượng thiết bị</a:t>
            </a:r>
            <a:r>
              <a:rPr lang="vi-VN" dirty="0"/>
              <a:t>: bao nhiêu cảm biến, actuator, gateway?</a:t>
            </a:r>
          </a:p>
          <a:p>
            <a:pPr marL="457200" lvl="1" indent="0">
              <a:buFontTx/>
              <a:buNone/>
            </a:pPr>
            <a:r>
              <a:rPr lang="vi-VN" b="1" dirty="0"/>
              <a:t>Quy mô mạng</a:t>
            </a:r>
            <a:r>
              <a:rPr lang="vi-VN" dirty="0"/>
              <a:t>: cục bộ (trong 1 nhà xưởng) hay diện rộng (toàn bộ trang trại, thành phố thông minh)?</a:t>
            </a:r>
          </a:p>
          <a:p>
            <a:pPr marL="457200" lvl="1" indent="0">
              <a:buFontTx/>
              <a:buNone/>
            </a:pPr>
            <a:r>
              <a:rPr lang="vi-VN" b="1" dirty="0"/>
              <a:t>Môi trường hoạt động</a:t>
            </a:r>
            <a:r>
              <a:rPr lang="vi-VN" dirty="0"/>
              <a:t>:</a:t>
            </a:r>
          </a:p>
          <a:p>
            <a:pPr marL="914400" lvl="2" indent="0">
              <a:buFontTx/>
              <a:buNone/>
            </a:pPr>
            <a:r>
              <a:rPr lang="vi-VN" b="1" dirty="0"/>
              <a:t>Nhà xưởng</a:t>
            </a:r>
            <a:r>
              <a:rPr lang="vi-VN" dirty="0"/>
              <a:t>: nhiều nhiễu điện từ, cần độ bền thiết bị.</a:t>
            </a:r>
          </a:p>
          <a:p>
            <a:pPr marL="914400" lvl="2" indent="0">
              <a:buFontTx/>
              <a:buNone/>
            </a:pPr>
            <a:r>
              <a:rPr lang="vi-VN" b="1" dirty="0"/>
              <a:t>Nông nghiệp</a:t>
            </a:r>
            <a:r>
              <a:rPr lang="vi-VN" dirty="0"/>
              <a:t>: ngoài trời, chịu ảnh hưởng thời tiết.</a:t>
            </a:r>
          </a:p>
          <a:p>
            <a:pPr marL="914400" lvl="2" indent="0">
              <a:buFontTx/>
              <a:buNone/>
            </a:pPr>
            <a:r>
              <a:rPr lang="vi-VN" b="1" dirty="0"/>
              <a:t>Y tế</a:t>
            </a:r>
            <a:r>
              <a:rPr lang="vi-VN" dirty="0"/>
              <a:t>: đòi hỏi độ chính xác cao, tuân thủ quy định an toàn dữ liệu (HIPAA, GDPR…).</a:t>
            </a:r>
          </a:p>
          <a:p>
            <a:pPr marL="158750" indent="0">
              <a:buFontTx/>
              <a:buNone/>
            </a:pPr>
            <a:r>
              <a:rPr lang="vi-VN" dirty="0"/>
              <a:t>Việc xác định phạm vi ngay từ đầu giúp </a:t>
            </a:r>
            <a:r>
              <a:rPr lang="vi-VN" b="1" dirty="0"/>
              <a:t>chọn công nghệ phù hợp</a:t>
            </a:r>
            <a:r>
              <a:rPr lang="vi-VN" dirty="0"/>
              <a:t> (Wi-Fi, LoRa, NB-IoT…) và dự trù hạ tầng hợp lý.</a:t>
            </a:r>
          </a:p>
          <a:p>
            <a:pPr marL="158750" indent="0">
              <a:buFontTx/>
              <a:buNone/>
            </a:pPr>
            <a:r>
              <a:rPr lang="vi-VN" b="1" dirty="0"/>
              <a:t>3. Đặt ra tiêu chí thành công (KPIs)</a:t>
            </a:r>
          </a:p>
          <a:p>
            <a:pPr marL="158750" indent="0">
              <a:buFontTx/>
              <a:buNone/>
            </a:pPr>
            <a:r>
              <a:rPr lang="vi-VN" dirty="0"/>
              <a:t>Để đánh giá hệ thống IoT có hoạt động tốt hay không, cần có </a:t>
            </a:r>
            <a:r>
              <a:rPr lang="vi-VN" b="1" dirty="0"/>
              <a:t>chỉ số định lượng</a:t>
            </a:r>
            <a:r>
              <a:rPr lang="vi-VN" dirty="0"/>
              <a:t>.</a:t>
            </a:r>
          </a:p>
          <a:p>
            <a:pPr marL="158750" indent="0">
              <a:buFontTx/>
              <a:buNone/>
            </a:pPr>
            <a:r>
              <a:rPr lang="vi-VN" dirty="0"/>
              <a:t>Các KPI phổ biến:</a:t>
            </a:r>
          </a:p>
          <a:p>
            <a:pPr marL="457200" lvl="1" indent="0">
              <a:buFontTx/>
              <a:buNone/>
            </a:pPr>
            <a:r>
              <a:rPr lang="vi-VN" b="1" dirty="0"/>
              <a:t>Độ chính xác</a:t>
            </a:r>
            <a:r>
              <a:rPr lang="vi-VN" dirty="0"/>
              <a:t>: dữ liệu đo lường sai số bao nhiêu phần trăm.</a:t>
            </a:r>
          </a:p>
          <a:p>
            <a:pPr marL="457200" lvl="1" indent="0">
              <a:buFontTx/>
              <a:buNone/>
            </a:pPr>
            <a:r>
              <a:rPr lang="vi-VN" b="1" dirty="0"/>
              <a:t>Độ trễ (latency)</a:t>
            </a:r>
            <a:r>
              <a:rPr lang="vi-VN" dirty="0"/>
              <a:t>: thời gian từ khi cảm biến thu thập đến khi dữ liệu hiển thị/ra quyết định.</a:t>
            </a:r>
          </a:p>
          <a:p>
            <a:pPr marL="457200" lvl="1" indent="0">
              <a:buFontTx/>
              <a:buNone/>
            </a:pPr>
            <a:r>
              <a:rPr lang="vi-VN" b="1" dirty="0"/>
              <a:t>Độ tin cậy</a:t>
            </a:r>
            <a:r>
              <a:rPr lang="vi-VN" dirty="0"/>
              <a:t>: tỉ lệ gói tin thành công, uptime của hệ thống.</a:t>
            </a:r>
          </a:p>
          <a:p>
            <a:pPr marL="457200" lvl="1" indent="0">
              <a:buFontTx/>
              <a:buNone/>
            </a:pPr>
            <a:r>
              <a:rPr lang="vi-VN" b="1" dirty="0"/>
              <a:t>Chi phí</a:t>
            </a:r>
            <a:r>
              <a:rPr lang="vi-VN" dirty="0"/>
              <a:t>: tổng chi phí đầu tư (CAPEX) và vận hành (OPEX).</a:t>
            </a:r>
          </a:p>
          <a:p>
            <a:pPr marL="158750" indent="0">
              <a:buFontTx/>
              <a:buNone/>
            </a:pPr>
            <a:r>
              <a:rPr lang="vi-VN" dirty="0"/>
              <a:t>KPI giúp </a:t>
            </a:r>
            <a:r>
              <a:rPr lang="vi-VN" b="1" dirty="0"/>
              <a:t>đo lường và kiểm chứng</a:t>
            </a:r>
            <a:r>
              <a:rPr lang="vi-VN" dirty="0"/>
              <a:t> xem hệ thống có đạt được mục tiêu đề ra không.</a:t>
            </a:r>
          </a:p>
          <a:p>
            <a:pPr marL="158750" indent="0">
              <a:buFontTx/>
              <a:buNone/>
            </a:pPr>
            <a:endParaRPr lang="en-US" b="1" dirty="0"/>
          </a:p>
          <a:p>
            <a:pPr marL="158750" indent="0">
              <a:buFontTx/>
              <a:buNone/>
            </a:pPr>
            <a:r>
              <a:rPr lang="vi-VN" b="1" dirty="0"/>
              <a:t>Tóm lại:</a:t>
            </a:r>
            <a:br>
              <a:rPr lang="vi-VN" dirty="0"/>
            </a:br>
            <a:r>
              <a:rPr lang="vi-VN" dirty="0"/>
              <a:t>Bước “Xác định mục tiêu và phạm vi” là kim chỉ nam cho toàn bộ dự án IoT. Nó trả lời 3 câu hỏi quan trọng:</a:t>
            </a:r>
          </a:p>
          <a:p>
            <a:pPr marL="158750" indent="0">
              <a:buFontTx/>
              <a:buNone/>
            </a:pPr>
            <a:r>
              <a:rPr lang="vi-VN" b="1" dirty="0"/>
              <a:t>Giải quyết vấn đề gì?</a:t>
            </a:r>
            <a:endParaRPr lang="vi-VN" dirty="0"/>
          </a:p>
          <a:p>
            <a:pPr marL="158750" indent="0">
              <a:buFontTx/>
              <a:buNone/>
            </a:pPr>
            <a:r>
              <a:rPr lang="vi-VN" b="1" dirty="0"/>
              <a:t>Phạm vi triển khai ra sao?</a:t>
            </a:r>
            <a:endParaRPr lang="vi-VN" dirty="0"/>
          </a:p>
          <a:p>
            <a:pPr marL="158750" indent="0">
              <a:buFontTx/>
              <a:buNone/>
            </a:pPr>
            <a:r>
              <a:rPr lang="vi-VN" b="1" dirty="0"/>
              <a:t>Thành công được đo bằng gì (KPIs)?</a:t>
            </a:r>
            <a:endParaRPr lang="vi-VN"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28328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94014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1168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9232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“Phân tích yêu cầu – Thu thập yêu cầu từ các bên liên quan”</a:t>
            </a:r>
            <a:r>
              <a:rPr lang="vi-VN" dirty="0"/>
              <a:t>. Đây là một bước quan trọng để đảm bảo hệ thống IoT thiết kế ra </a:t>
            </a:r>
            <a:r>
              <a:rPr lang="vi-VN" b="1" dirty="0"/>
              <a:t>đáp ứng đúng và đủ</a:t>
            </a:r>
            <a:r>
              <a:rPr lang="vi-VN" dirty="0"/>
              <a:t> nhu cầu của tất cả các bên liên quan (stakeholders).</a:t>
            </a:r>
          </a:p>
          <a:p>
            <a:pPr marL="158750" indent="0">
              <a:buFontTx/>
              <a:buNone/>
            </a:pPr>
            <a:r>
              <a:rPr lang="vi-VN" b="1" dirty="0"/>
              <a:t>1. Người dùng cuối</a:t>
            </a:r>
          </a:p>
          <a:p>
            <a:pPr marL="158750" indent="0">
              <a:buFontTx/>
              <a:buNone/>
            </a:pPr>
            <a:r>
              <a:rPr lang="vi-VN" dirty="0"/>
              <a:t>Đây là </a:t>
            </a:r>
            <a:r>
              <a:rPr lang="vi-VN" b="1" dirty="0"/>
              <a:t>đối tượng trực tiếp sử dụng hệ thống</a:t>
            </a:r>
            <a:r>
              <a:rPr lang="vi-VN" dirty="0"/>
              <a:t> (ví dụ: nông dân trong nông nghiệp thông minh, bác sĩ trong IoT y tế, kỹ sư trong nhà máy).</a:t>
            </a:r>
          </a:p>
          <a:p>
            <a:pPr marL="158750" indent="0">
              <a:buFontTx/>
              <a:buNone/>
            </a:pPr>
            <a:r>
              <a:rPr lang="vi-VN" b="1" dirty="0"/>
              <a:t>Nhu cầu thường gặp</a:t>
            </a:r>
            <a:r>
              <a:rPr lang="vi-VN" dirty="0"/>
              <a:t>:</a:t>
            </a:r>
          </a:p>
          <a:p>
            <a:pPr marL="457200" lvl="1" indent="0">
              <a:buFontTx/>
              <a:buNone/>
            </a:pPr>
            <a:r>
              <a:rPr lang="vi-VN" b="1" dirty="0"/>
              <a:t>Hiển thị dữ liệu</a:t>
            </a:r>
            <a:r>
              <a:rPr lang="vi-VN" dirty="0"/>
              <a:t>: xem nhiệt độ, độ ẩm, trạng thái thiết bị trên màn hình điện thoại hoặc dashboard.</a:t>
            </a:r>
          </a:p>
          <a:p>
            <a:pPr marL="457200" lvl="1" indent="0">
              <a:buFontTx/>
              <a:buNone/>
            </a:pPr>
            <a:r>
              <a:rPr lang="vi-VN" b="1" dirty="0"/>
              <a:t>Cảnh báo</a:t>
            </a:r>
            <a:r>
              <a:rPr lang="vi-VN" dirty="0"/>
              <a:t>: nhận thông báo khi có sự cố (ví dụ: nhiệt độ vượt ngưỡng, cảm biến mất tín hiệu, pin yếu).</a:t>
            </a:r>
          </a:p>
          <a:p>
            <a:pPr marL="457200" lvl="1" indent="0">
              <a:buFontTx/>
              <a:buNone/>
            </a:pPr>
            <a:r>
              <a:rPr lang="vi-VN" b="1" dirty="0"/>
              <a:t>Điều khiển</a:t>
            </a:r>
            <a:r>
              <a:rPr lang="vi-VN" dirty="0"/>
              <a:t>: bật/tắt thiết bị từ xa (bơm nước, quạt, đèn).</a:t>
            </a:r>
          </a:p>
          <a:p>
            <a:pPr marL="158750" indent="0">
              <a:buFontTx/>
              <a:buNone/>
            </a:pPr>
            <a:r>
              <a:rPr lang="vi-VN" dirty="0"/>
              <a:t>Ý nghĩa: nếu không nắm được mong muốn của người dùng cuối, hệ thống có thể “đúng kỹ thuật” nhưng lại “khó dùng” hoặc không giải quyết đúng vấn đề.</a:t>
            </a:r>
          </a:p>
          <a:p>
            <a:pPr marL="158750" indent="0">
              <a:buFontTx/>
              <a:buNone/>
            </a:pPr>
            <a:r>
              <a:rPr lang="vi-VN" b="1" dirty="0"/>
              <a:t>2. Doanh nghiệp/Quản lý</a:t>
            </a:r>
          </a:p>
          <a:p>
            <a:pPr marL="158750" indent="0">
              <a:buFontTx/>
              <a:buNone/>
            </a:pPr>
            <a:r>
              <a:rPr lang="vi-VN" dirty="0"/>
              <a:t>Là </a:t>
            </a:r>
            <a:r>
              <a:rPr lang="vi-VN" b="1" dirty="0"/>
              <a:t>người ra quyết định đầu tư và vận hành hệ thống</a:t>
            </a:r>
            <a:r>
              <a:rPr lang="vi-VN" dirty="0"/>
              <a:t>.</a:t>
            </a:r>
          </a:p>
          <a:p>
            <a:pPr marL="158750" indent="0">
              <a:buFontTx/>
              <a:buNone/>
            </a:pPr>
            <a:r>
              <a:rPr lang="vi-VN" b="1" dirty="0"/>
              <a:t>Mối quan tâm chính</a:t>
            </a:r>
            <a:r>
              <a:rPr lang="vi-VN" dirty="0"/>
              <a:t>:</a:t>
            </a:r>
          </a:p>
          <a:p>
            <a:pPr marL="457200" lvl="1" indent="0">
              <a:buFontTx/>
              <a:buNone/>
            </a:pPr>
            <a:r>
              <a:rPr lang="vi-VN" b="1" dirty="0"/>
              <a:t>Hiệu quả vận hành</a:t>
            </a:r>
            <a:r>
              <a:rPr lang="vi-VN" dirty="0"/>
              <a:t>: hệ thống có thực sự giúp tiết kiệm chi phí, tăng năng suất, giảm rủi ro?</a:t>
            </a:r>
          </a:p>
          <a:p>
            <a:pPr marL="457200" lvl="1" indent="0">
              <a:buFontTx/>
              <a:buNone/>
            </a:pPr>
            <a:r>
              <a:rPr lang="vi-VN" b="1" dirty="0"/>
              <a:t>Báo cáo &amp; phân tích</a:t>
            </a:r>
            <a:r>
              <a:rPr lang="vi-VN" dirty="0"/>
              <a:t>: cần dữ liệu tổng hợp để quản lý, ví dụ báo cáo sản lượng, biểu đồ xu hướng.</a:t>
            </a:r>
          </a:p>
          <a:p>
            <a:pPr marL="457200" lvl="1" indent="0">
              <a:buFontTx/>
              <a:buNone/>
            </a:pPr>
            <a:r>
              <a:rPr lang="vi-VN" b="1" dirty="0"/>
              <a:t>Khả năng mở rộng</a:t>
            </a:r>
            <a:r>
              <a:rPr lang="vi-VN" dirty="0"/>
              <a:t>: hệ thống có dễ dàng thêm thiết bị mới hoặc triển khai sang khu vực khác mà không cần thiết kế lại từ đầu không?</a:t>
            </a:r>
          </a:p>
          <a:p>
            <a:pPr marL="158750" indent="0">
              <a:buFontTx/>
              <a:buNone/>
            </a:pPr>
            <a:r>
              <a:rPr lang="vi-VN" dirty="0"/>
              <a:t>Ý nghĩa: nếu hệ thống không chứng minh được </a:t>
            </a:r>
            <a:r>
              <a:rPr lang="vi-VN" b="1" dirty="0"/>
              <a:t>giá trị kinh tế và khả năng mở rộng</a:t>
            </a:r>
            <a:r>
              <a:rPr lang="vi-VN" dirty="0"/>
              <a:t>, doanh nghiệp khó duy trì và phát triển dự án IoT lâu dài.</a:t>
            </a:r>
          </a:p>
          <a:p>
            <a:pPr marL="158750" indent="0">
              <a:buFontTx/>
              <a:buNone/>
            </a:pPr>
            <a:r>
              <a:rPr lang="vi-VN" b="1" dirty="0"/>
              <a:t>3. Kỹ thuật/IT</a:t>
            </a:r>
          </a:p>
          <a:p>
            <a:pPr marL="158750" indent="0">
              <a:buFontTx/>
              <a:buNone/>
            </a:pPr>
            <a:r>
              <a:rPr lang="vi-VN" dirty="0"/>
              <a:t>Đây là đội ngũ </a:t>
            </a:r>
            <a:r>
              <a:rPr lang="vi-VN" b="1" dirty="0"/>
              <a:t>triển khai, tích hợp và bảo trì hệ thống</a:t>
            </a:r>
            <a:r>
              <a:rPr lang="vi-VN" dirty="0"/>
              <a:t>.</a:t>
            </a:r>
          </a:p>
          <a:p>
            <a:pPr marL="158750" indent="0">
              <a:buFontTx/>
              <a:buNone/>
            </a:pPr>
            <a:r>
              <a:rPr lang="vi-VN" b="1" dirty="0"/>
              <a:t>Yêu cầu thường có</a:t>
            </a:r>
            <a:r>
              <a:rPr lang="vi-VN" dirty="0"/>
              <a:t>:</a:t>
            </a:r>
          </a:p>
          <a:p>
            <a:pPr marL="457200" lvl="1" indent="0">
              <a:buFontTx/>
              <a:buNone/>
            </a:pPr>
            <a:r>
              <a:rPr lang="vi-VN" b="1" dirty="0"/>
              <a:t>Tích hợp hệ thống sẵn có</a:t>
            </a:r>
            <a:r>
              <a:rPr lang="vi-VN" dirty="0"/>
              <a:t>: ví dụ tích hợp IoT với ERP, SCADA, hay hệ thống quản lý dữ liệu hiện tại.</a:t>
            </a:r>
          </a:p>
          <a:p>
            <a:pPr marL="457200" lvl="1" indent="0">
              <a:buFontTx/>
              <a:buNone/>
            </a:pPr>
            <a:r>
              <a:rPr lang="vi-VN" b="1" dirty="0"/>
              <a:t>Giao thức truyền thông</a:t>
            </a:r>
            <a:r>
              <a:rPr lang="vi-VN" dirty="0"/>
              <a:t>: lựa chọn phù hợp như MQTT, CoAP, AMQP, LoRaWAN, NB-IoT tùy trường hợp.</a:t>
            </a:r>
          </a:p>
          <a:p>
            <a:pPr marL="457200" lvl="1" indent="0">
              <a:buFontTx/>
              <a:buNone/>
            </a:pPr>
            <a:r>
              <a:rPr lang="vi-VN" b="1" dirty="0"/>
              <a:t>Chuẩn bảo mật</a:t>
            </a:r>
            <a:r>
              <a:rPr lang="vi-VN" dirty="0"/>
              <a:t>: xác thực người dùng, mã hóa dữ liệu, phân quyền truy cập, tuân thủ chuẩn quốc tế (ISO, HIPAA, GDPR…).</a:t>
            </a:r>
          </a:p>
          <a:p>
            <a:pPr marL="158750" indent="0">
              <a:buFontTx/>
              <a:buNone/>
            </a:pPr>
            <a:r>
              <a:rPr lang="vi-VN" dirty="0"/>
              <a:t>Ý nghĩa: nếu bỏ qua yêu cầu kỹ thuật, hệ thống có thể </a:t>
            </a:r>
            <a:r>
              <a:rPr lang="vi-VN" b="1" dirty="0"/>
              <a:t>hoạt động đơn lẻ nhưng không bền vững</a:t>
            </a:r>
            <a:r>
              <a:rPr lang="vi-VN" dirty="0"/>
              <a:t>, hoặc </a:t>
            </a:r>
            <a:r>
              <a:rPr lang="vi-VN" b="1" dirty="0"/>
              <a:t>gây rủi ro bảo mật</a:t>
            </a:r>
            <a:r>
              <a:rPr lang="vi-VN" dirty="0"/>
              <a:t>.</a:t>
            </a:r>
          </a:p>
          <a:p>
            <a:pPr marL="158750" indent="0">
              <a:buFontTx/>
              <a:buNone/>
            </a:pPr>
            <a:r>
              <a:rPr lang="vi-VN" b="1" dirty="0"/>
              <a:t>4. Phương pháp thu thập yêu cầu</a:t>
            </a:r>
          </a:p>
          <a:p>
            <a:pPr marL="158750" indent="0">
              <a:buFontTx/>
              <a:buNone/>
            </a:pPr>
            <a:r>
              <a:rPr lang="vi-VN" dirty="0"/>
              <a:t>Để hiểu đúng và đủ nhu cầu từ các bên, cần </a:t>
            </a:r>
            <a:r>
              <a:rPr lang="vi-VN" b="1" dirty="0"/>
              <a:t>kết hợp nhiều phương pháp</a:t>
            </a:r>
            <a:r>
              <a:rPr lang="vi-VN" dirty="0"/>
              <a:t>:</a:t>
            </a:r>
          </a:p>
          <a:p>
            <a:pPr marL="457200" lvl="1" indent="0">
              <a:buFontTx/>
              <a:buNone/>
            </a:pPr>
            <a:r>
              <a:rPr lang="vi-VN" b="1" dirty="0"/>
              <a:t>Phỏng vấn</a:t>
            </a:r>
            <a:r>
              <a:rPr lang="vi-VN" dirty="0"/>
              <a:t>: trao đổi trực tiếp với nông dân, quản lý, nhân viên IT để nghe kỳ vọng.</a:t>
            </a:r>
          </a:p>
          <a:p>
            <a:pPr marL="457200" lvl="1" indent="0">
              <a:buFontTx/>
              <a:buNone/>
            </a:pPr>
            <a:r>
              <a:rPr lang="vi-VN" b="1" dirty="0"/>
              <a:t>Khảo sát (bảng hỏi)</a:t>
            </a:r>
            <a:r>
              <a:rPr lang="vi-VN" dirty="0"/>
              <a:t>: thu thập ý kiến số đông nhanh chóng.</a:t>
            </a:r>
          </a:p>
          <a:p>
            <a:pPr marL="457200" lvl="1" indent="0">
              <a:buFontTx/>
              <a:buNone/>
            </a:pPr>
            <a:r>
              <a:rPr lang="vi-VN" b="1" dirty="0"/>
              <a:t>Quan sát thực tế</a:t>
            </a:r>
            <a:r>
              <a:rPr lang="vi-VN" dirty="0"/>
              <a:t>: đến tận nơi (nhà xưởng, bệnh viện, nông trại) để thấy vấn đề thực sự, tránh tình trạng “nói một đằng, làm một nẻo”.</a:t>
            </a:r>
          </a:p>
          <a:p>
            <a:pPr marL="158750" indent="0">
              <a:buFontTx/>
              <a:buNone/>
            </a:pPr>
            <a:r>
              <a:rPr lang="vi-VN" dirty="0"/>
              <a:t>Ý nghĩa: đảm bảo yêu cầu được </a:t>
            </a:r>
            <a:r>
              <a:rPr lang="vi-VN" b="1" dirty="0"/>
              <a:t>ghi nhận khách quan và toàn diện</a:t>
            </a:r>
            <a:r>
              <a:rPr lang="vi-VN" dirty="0"/>
              <a:t>, không chỉ dựa vào một nguồn.</a:t>
            </a:r>
          </a:p>
          <a:p>
            <a:pPr marL="158750" indent="0">
              <a:buFontTx/>
              <a:buNone/>
            </a:pPr>
            <a:r>
              <a:rPr lang="vi-VN" b="1" dirty="0"/>
              <a:t>Kết luận:</a:t>
            </a:r>
            <a:br>
              <a:rPr lang="vi-VN" dirty="0"/>
            </a:br>
            <a:r>
              <a:rPr lang="vi-VN" dirty="0"/>
              <a:t>Bước “Thu thập yêu cầu từ các bên liên quan” giúp </a:t>
            </a:r>
            <a:r>
              <a:rPr lang="vi-VN" b="1" dirty="0"/>
              <a:t>tránh thiết kế hệ thống một chiều</a:t>
            </a:r>
            <a:r>
              <a:rPr lang="vi-VN" dirty="0"/>
              <a:t>. IoT là hệ thống phức hợp, liên quan đến </a:t>
            </a:r>
            <a:r>
              <a:rPr lang="vi-VN" b="1" dirty="0"/>
              <a:t>người dùng – quản lý – kỹ thuật</a:t>
            </a:r>
            <a:r>
              <a:rPr lang="vi-VN" dirty="0"/>
              <a:t>, nên cần lắng nghe cả ba. Nếu chỉ tập trung vào một bên (ví dụ chỉ quan tâm đến kỹ thuật mà bỏ qua trải nghiệm người dùng), hệ thống IoT có nguy cơ </a:t>
            </a:r>
            <a:r>
              <a:rPr lang="vi-VN" b="1" dirty="0"/>
              <a:t>không được chấp nhận hoặc khó áp dụng vào thực tế</a:t>
            </a:r>
            <a:r>
              <a:rPr lang="vi-VN" dirty="0"/>
              <a:t>.</a:t>
            </a:r>
          </a:p>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3451994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24654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83733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56055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71838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1707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1. Ý nghĩa của việc xác định yêu cầu chức năng</a:t>
            </a:r>
          </a:p>
          <a:p>
            <a:pPr marL="158750" indent="0">
              <a:buFontTx/>
              <a:buNone/>
            </a:pPr>
            <a:r>
              <a:rPr lang="vi-VN" dirty="0"/>
              <a:t>Đây là bước trả lời câu hỏi </a:t>
            </a:r>
            <a:r>
              <a:rPr lang="vi-VN" b="1" dirty="0"/>
              <a:t>“Hệ thống IoT sẽ làm được gì?”</a:t>
            </a:r>
            <a:endParaRPr lang="vi-VN" dirty="0"/>
          </a:p>
          <a:p>
            <a:pPr marL="158750" indent="0">
              <a:buFontTx/>
              <a:buNone/>
            </a:pPr>
            <a:r>
              <a:rPr lang="vi-VN" dirty="0"/>
              <a:t>Các chức năng mô tả </a:t>
            </a:r>
            <a:r>
              <a:rPr lang="vi-VN" b="1" dirty="0"/>
              <a:t>hành vi mong muốn</a:t>
            </a:r>
            <a:r>
              <a:rPr lang="vi-VN" dirty="0"/>
              <a:t> của hệ thống, giúp kết nối giữa yêu cầu của người dùng với thiết kế kỹ thuật.</a:t>
            </a:r>
          </a:p>
          <a:p>
            <a:pPr marL="158750" indent="0">
              <a:buFontTx/>
              <a:buNone/>
            </a:pPr>
            <a:r>
              <a:rPr lang="vi-VN" dirty="0"/>
              <a:t>Yêu cầu chức năng được thể hiện dưới dạng </a:t>
            </a:r>
            <a:r>
              <a:rPr lang="vi-VN" b="1" dirty="0"/>
              <a:t>use case</a:t>
            </a:r>
            <a:r>
              <a:rPr lang="vi-VN" dirty="0"/>
              <a:t>, </a:t>
            </a:r>
            <a:r>
              <a:rPr lang="vi-VN" b="1" dirty="0"/>
              <a:t>luồng công việc (workflow)</a:t>
            </a:r>
            <a:r>
              <a:rPr lang="vi-VN" dirty="0"/>
              <a:t> hoặc </a:t>
            </a:r>
            <a:r>
              <a:rPr lang="vi-VN" b="1" dirty="0"/>
              <a:t>sequence diagram</a:t>
            </a:r>
            <a:r>
              <a:rPr lang="vi-VN" dirty="0"/>
              <a:t> để đảm bảo rõ ràng, dễ kiểm chứng.</a:t>
            </a:r>
          </a:p>
          <a:p>
            <a:pPr marL="158750" indent="0">
              <a:buFontTx/>
              <a:buNone/>
            </a:pPr>
            <a:r>
              <a:rPr lang="vi-VN" b="1" dirty="0"/>
              <a:t>2. Các chức năng cơ bản của một hệ thống IoT</a:t>
            </a:r>
          </a:p>
          <a:p>
            <a:pPr marL="158750" indent="0">
              <a:buFontTx/>
              <a:buNone/>
            </a:pPr>
            <a:r>
              <a:rPr lang="vi-VN" b="1" dirty="0"/>
              <a:t>a. Thu thập dữ liệu cảm biến</a:t>
            </a:r>
          </a:p>
          <a:p>
            <a:pPr marL="158750" indent="0">
              <a:buFontTx/>
              <a:buNone/>
            </a:pPr>
            <a:r>
              <a:rPr lang="vi-VN" dirty="0"/>
              <a:t>Chức năng nền tảng: các cảm biến thu thập thông tin từ môi trường (nhiệt độ, độ ẩm, áp suất, nhịp tim…).</a:t>
            </a:r>
          </a:p>
          <a:p>
            <a:pPr marL="158750" indent="0">
              <a:buFontTx/>
              <a:buNone/>
            </a:pPr>
            <a:r>
              <a:rPr lang="vi-VN" dirty="0"/>
              <a:t>Dữ liệu thường kèm theo </a:t>
            </a:r>
            <a:r>
              <a:rPr lang="vi-VN" b="1" dirty="0"/>
              <a:t>timestamp</a:t>
            </a:r>
            <a:r>
              <a:rPr lang="vi-VN" dirty="0"/>
              <a:t> và </a:t>
            </a:r>
            <a:r>
              <a:rPr lang="vi-VN" b="1" dirty="0"/>
              <a:t>ID thiết bị</a:t>
            </a:r>
            <a:r>
              <a:rPr lang="vi-VN" dirty="0"/>
              <a:t> để phục vụ quản lý và phân tích.</a:t>
            </a:r>
          </a:p>
          <a:p>
            <a:pPr marL="158750" indent="0">
              <a:buFontTx/>
              <a:buNone/>
            </a:pPr>
            <a:r>
              <a:rPr lang="vi-VN" dirty="0"/>
              <a:t>Ví dụ: cảm biến độ ẩm đất đo mỗi 5 phút.</a:t>
            </a:r>
          </a:p>
          <a:p>
            <a:pPr marL="158750" indent="0">
              <a:buFontTx/>
              <a:buNone/>
            </a:pPr>
            <a:r>
              <a:rPr lang="vi-VN" b="1" dirty="0"/>
              <a:t>b. Gửi dữ liệu về Gateway/Cloud</a:t>
            </a:r>
          </a:p>
          <a:p>
            <a:pPr marL="158750" indent="0">
              <a:buFontTx/>
              <a:buNone/>
            </a:pPr>
            <a:r>
              <a:rPr lang="vi-VN" dirty="0"/>
              <a:t>Sau khi thu thập, dữ liệu cần được truyền qua mạng đến </a:t>
            </a:r>
            <a:r>
              <a:rPr lang="vi-VN" b="1" dirty="0"/>
              <a:t>gateway</a:t>
            </a:r>
            <a:r>
              <a:rPr lang="vi-VN" dirty="0"/>
              <a:t> (xử lý cục bộ) hoặc trực tiếp lên </a:t>
            </a:r>
            <a:r>
              <a:rPr lang="vi-VN" b="1" dirty="0"/>
              <a:t>cloud</a:t>
            </a:r>
            <a:r>
              <a:rPr lang="vi-VN" dirty="0"/>
              <a:t> để lưu trữ.</a:t>
            </a:r>
          </a:p>
          <a:p>
            <a:pPr marL="158750" indent="0">
              <a:buFontTx/>
              <a:buNone/>
            </a:pPr>
            <a:r>
              <a:rPr lang="vi-VN" dirty="0"/>
              <a:t>Giao thức phổ biến: </a:t>
            </a:r>
            <a:r>
              <a:rPr lang="vi-VN" b="1" dirty="0"/>
              <a:t>MQTT, CoAP, HTTP, AMQP</a:t>
            </a:r>
            <a:r>
              <a:rPr lang="vi-VN" dirty="0"/>
              <a:t>.</a:t>
            </a:r>
          </a:p>
          <a:p>
            <a:pPr marL="158750" indent="0">
              <a:buFontTx/>
              <a:buNone/>
            </a:pPr>
            <a:r>
              <a:rPr lang="vi-VN" dirty="0"/>
              <a:t>Yêu cầu: dữ liệu phải truyền ổn định, có cơ chế retry khi mất mạng.</a:t>
            </a:r>
          </a:p>
          <a:p>
            <a:pPr marL="158750" indent="0">
              <a:buFontTx/>
              <a:buNone/>
            </a:pPr>
            <a:r>
              <a:rPr lang="vi-VN" b="1" dirty="0"/>
              <a:t>c. Lưu trữ và phân tích dữ liệu</a:t>
            </a:r>
          </a:p>
          <a:p>
            <a:pPr marL="158750" indent="0">
              <a:buFontTx/>
              <a:buNone/>
            </a:pPr>
            <a:r>
              <a:rPr lang="vi-VN" dirty="0"/>
              <a:t>Dữ liệu sau khi tập trung cần được:</a:t>
            </a:r>
          </a:p>
          <a:p>
            <a:pPr marL="457200" lvl="1" indent="0">
              <a:buFontTx/>
              <a:buNone/>
            </a:pPr>
            <a:r>
              <a:rPr lang="vi-VN" b="1" dirty="0"/>
              <a:t>Lưu trữ</a:t>
            </a:r>
            <a:r>
              <a:rPr lang="vi-VN" dirty="0"/>
              <a:t> trong cơ sở dữ liệu (SQL, NoSQL, time-series DB như InfluxDB).</a:t>
            </a:r>
          </a:p>
          <a:p>
            <a:pPr marL="457200" lvl="1" indent="0">
              <a:buFontTx/>
              <a:buNone/>
            </a:pPr>
            <a:r>
              <a:rPr lang="vi-VN" b="1" dirty="0"/>
              <a:t>Phân tích</a:t>
            </a:r>
            <a:r>
              <a:rPr lang="vi-VN" dirty="0"/>
              <a:t> để phát hiện bất thường, dự đoán xu hướng (ví dụ: dùng AI để dự báo bảo trì máy móc).</a:t>
            </a:r>
          </a:p>
          <a:p>
            <a:pPr marL="158750" indent="0">
              <a:buFontTx/>
              <a:buNone/>
            </a:pPr>
            <a:r>
              <a:rPr lang="vi-VN" dirty="0"/>
              <a:t>Đây là bước giúp </a:t>
            </a:r>
            <a:r>
              <a:rPr lang="vi-VN" b="1" dirty="0"/>
              <a:t>biến dữ liệu thô thành thông tin hữu ích</a:t>
            </a:r>
            <a:r>
              <a:rPr lang="vi-VN" dirty="0"/>
              <a:t>.</a:t>
            </a:r>
          </a:p>
          <a:p>
            <a:pPr marL="158750" indent="0">
              <a:buFontTx/>
              <a:buNone/>
            </a:pPr>
            <a:r>
              <a:rPr lang="vi-VN" b="1" dirty="0"/>
              <a:t>d. Hiển thị dữ liệu qua ứng dụng</a:t>
            </a:r>
          </a:p>
          <a:p>
            <a:pPr marL="158750" indent="0">
              <a:buFontTx/>
              <a:buNone/>
            </a:pPr>
            <a:r>
              <a:rPr lang="vi-VN" dirty="0"/>
              <a:t>Người dùng cần giao diện trực quan: </a:t>
            </a:r>
            <a:r>
              <a:rPr lang="vi-VN" b="1" dirty="0"/>
              <a:t>mobile app, web dashboard, màn hình hiển thị</a:t>
            </a:r>
            <a:r>
              <a:rPr lang="vi-VN" dirty="0"/>
              <a:t>.</a:t>
            </a:r>
          </a:p>
          <a:p>
            <a:pPr marL="158750" indent="0">
              <a:buFontTx/>
              <a:buNone/>
            </a:pPr>
            <a:r>
              <a:rPr lang="vi-VN" dirty="0"/>
              <a:t>Các chức năng hiển thị thường gồm:</a:t>
            </a:r>
          </a:p>
          <a:p>
            <a:pPr marL="457200" lvl="1" indent="0">
              <a:buFontTx/>
              <a:buNone/>
            </a:pPr>
            <a:r>
              <a:rPr lang="vi-VN" dirty="0"/>
              <a:t>Biểu đồ thời gian thực (real-time chart).</a:t>
            </a:r>
          </a:p>
          <a:p>
            <a:pPr marL="457200" lvl="1" indent="0">
              <a:buFontTx/>
              <a:buNone/>
            </a:pPr>
            <a:r>
              <a:rPr lang="vi-VN" dirty="0"/>
              <a:t>Cảnh báo bằng màu sắc/âm thanh khi vượt ngưỡng.</a:t>
            </a:r>
          </a:p>
          <a:p>
            <a:pPr marL="457200" lvl="1" indent="0">
              <a:buFontTx/>
              <a:buNone/>
            </a:pPr>
            <a:r>
              <a:rPr lang="vi-VN" dirty="0"/>
              <a:t>Báo cáo tổng hợp.</a:t>
            </a:r>
          </a:p>
          <a:p>
            <a:pPr marL="158750" indent="0">
              <a:buFontTx/>
              <a:buNone/>
            </a:pPr>
            <a:r>
              <a:rPr lang="vi-VN" b="1" dirty="0"/>
              <a:t>e. Điều khiển/ra lệnh ngược lại thiết bị</a:t>
            </a:r>
          </a:p>
          <a:p>
            <a:pPr marL="158750" indent="0">
              <a:buFontTx/>
              <a:buNone/>
            </a:pPr>
            <a:r>
              <a:rPr lang="vi-VN" dirty="0"/>
              <a:t>Hệ thống không chỉ thu thập mà còn phải </a:t>
            </a:r>
            <a:r>
              <a:rPr lang="vi-VN" b="1" dirty="0"/>
              <a:t>tương tác ngược</a:t>
            </a:r>
            <a:r>
              <a:rPr lang="vi-VN" dirty="0"/>
              <a:t>.</a:t>
            </a:r>
          </a:p>
          <a:p>
            <a:pPr marL="158750" indent="0">
              <a:buFontTx/>
              <a:buNone/>
            </a:pPr>
            <a:r>
              <a:rPr lang="vi-VN" dirty="0"/>
              <a:t>Ví dụ: từ dashboard, người dùng có thể bật/tắt bơm nước, điều chỉnh tốc độ quạt, mở/đóng cửa thông gió.</a:t>
            </a:r>
          </a:p>
          <a:p>
            <a:pPr marL="158750" indent="0">
              <a:buFontTx/>
              <a:buNone/>
            </a:pPr>
            <a:r>
              <a:rPr lang="vi-VN" dirty="0"/>
              <a:t>Yêu cầu: cơ chế điều khiển phải an toàn (xác thực, phân quyền), tránh trường hợp người lạ gửi lệnh trái phép.</a:t>
            </a:r>
            <a:endParaRPr lang="en-US" dirty="0"/>
          </a:p>
          <a:p>
            <a:pPr marL="158750" indent="0">
              <a:buFontTx/>
              <a:buNone/>
            </a:pPr>
            <a:endParaRPr lang="en-US" dirty="0"/>
          </a:p>
          <a:p>
            <a:pPr marL="158750" indent="0">
              <a:buFontTx/>
              <a:buNone/>
            </a:pPr>
            <a:r>
              <a:rPr lang="en-US" dirty="0" err="1"/>
              <a:t>Ngoài</a:t>
            </a:r>
            <a:r>
              <a:rPr lang="en-US" dirty="0"/>
              <a:t> </a:t>
            </a:r>
            <a:r>
              <a:rPr lang="en-US" dirty="0" err="1"/>
              <a:t>ra</a:t>
            </a:r>
            <a:r>
              <a:rPr lang="en-US" dirty="0"/>
              <a:t> </a:t>
            </a:r>
            <a:r>
              <a:rPr lang="en-US" dirty="0" err="1"/>
              <a:t>còn</a:t>
            </a:r>
            <a:r>
              <a:rPr lang="en-US" dirty="0"/>
              <a:t> </a:t>
            </a:r>
            <a:r>
              <a:rPr lang="en-US" dirty="0" err="1"/>
              <a:t>có</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khác</a:t>
            </a:r>
            <a:r>
              <a:rPr lang="en-US" dirty="0"/>
              <a:t> </a:t>
            </a:r>
            <a:r>
              <a:rPr lang="en-US" dirty="0" err="1"/>
              <a:t>như</a:t>
            </a:r>
            <a:r>
              <a:rPr lang="en-US" dirty="0"/>
              <a:t> </a:t>
            </a:r>
            <a:r>
              <a:rPr lang="en-US" dirty="0" err="1"/>
              <a:t>quản</a:t>
            </a:r>
            <a:r>
              <a:rPr lang="en-US" dirty="0"/>
              <a:t> </a:t>
            </a:r>
            <a:r>
              <a:rPr lang="en-US" dirty="0" err="1"/>
              <a:t>lý</a:t>
            </a:r>
            <a:r>
              <a:rPr lang="en-US" dirty="0"/>
              <a:t> </a:t>
            </a:r>
            <a:r>
              <a:rPr lang="en-US" dirty="0" err="1"/>
              <a:t>và</a:t>
            </a:r>
            <a:r>
              <a:rPr lang="en-US" dirty="0"/>
              <a:t> </a:t>
            </a:r>
            <a:r>
              <a:rPr lang="en-US" dirty="0" err="1"/>
              <a:t>bảo</a:t>
            </a:r>
            <a:r>
              <a:rPr lang="en-US" dirty="0"/>
              <a:t> </a:t>
            </a:r>
            <a:r>
              <a:rPr lang="en-US" dirty="0" err="1"/>
              <a:t>mật</a:t>
            </a:r>
            <a:endParaRPr lang="en-US" dirty="0"/>
          </a:p>
          <a:p>
            <a:pPr marL="158750" indent="0">
              <a:buFontTx/>
              <a:buNone/>
            </a:pPr>
            <a:endParaRPr lang="vi-VN" dirty="0"/>
          </a:p>
          <a:p>
            <a:pPr marL="158750" indent="0">
              <a:buFontTx/>
              <a:buNone/>
            </a:pPr>
            <a:r>
              <a:rPr lang="vi-VN" b="1" dirty="0"/>
              <a:t>3. Đặc tả luồng công việc (Use case, Sequence diagram)</a:t>
            </a:r>
          </a:p>
          <a:p>
            <a:pPr marL="158750" indent="0">
              <a:buFontTx/>
              <a:buNone/>
            </a:pPr>
            <a:r>
              <a:rPr lang="vi-VN" dirty="0"/>
              <a:t>Sau khi liệt kê chức năng, cần </a:t>
            </a:r>
            <a:r>
              <a:rPr lang="vi-VN" b="1" dirty="0"/>
              <a:t>minh họa cách các chức năng phối hợp</a:t>
            </a:r>
            <a:r>
              <a:rPr lang="vi-VN" dirty="0"/>
              <a:t>:</a:t>
            </a:r>
          </a:p>
          <a:p>
            <a:pPr marL="457200" lvl="1" indent="0">
              <a:buFontTx/>
              <a:buNone/>
            </a:pPr>
            <a:r>
              <a:rPr lang="vi-VN" b="1" dirty="0"/>
              <a:t>Use case diagram</a:t>
            </a:r>
            <a:r>
              <a:rPr lang="vi-VN" dirty="0"/>
              <a:t>: cho thấy mối quan hệ giữa người dùng và hệ thống (ví dụ: “Người nông dân xem dữ liệu độ ẩm”, “Quản lý nhận báo cáo”).</a:t>
            </a:r>
          </a:p>
          <a:p>
            <a:pPr marL="457200" lvl="1" indent="0">
              <a:buFontTx/>
              <a:buNone/>
            </a:pPr>
            <a:r>
              <a:rPr lang="vi-VN" b="1" dirty="0"/>
              <a:t>Sequence diagram</a:t>
            </a:r>
            <a:r>
              <a:rPr lang="vi-VN" dirty="0"/>
              <a:t>: mô tả </a:t>
            </a:r>
            <a:r>
              <a:rPr lang="vi-VN" b="1" dirty="0"/>
              <a:t>trình tự trao đổi thông điệp</a:t>
            </a:r>
            <a:r>
              <a:rPr lang="vi-VN" dirty="0"/>
              <a:t> giữa cảm biến – gateway – cloud – ứng dụng – người dùng.</a:t>
            </a:r>
          </a:p>
          <a:p>
            <a:pPr marL="158750" indent="0">
              <a:buFontTx/>
              <a:buNone/>
            </a:pPr>
            <a:r>
              <a:rPr lang="vi-VN" dirty="0"/>
              <a:t>Mục đích: giúp nhóm phát triển </a:t>
            </a:r>
            <a:r>
              <a:rPr lang="vi-VN" b="1" dirty="0"/>
              <a:t>hình dung luồng hoạt động thực tế</a:t>
            </a:r>
            <a:r>
              <a:rPr lang="vi-VN" dirty="0"/>
              <a:t> và dễ dàng kiểm chứng yêu cầu.</a:t>
            </a:r>
          </a:p>
          <a:p>
            <a:pPr marL="158750" indent="0">
              <a:buFontTx/>
              <a:buNone/>
            </a:pPr>
            <a:r>
              <a:rPr lang="vi-VN" b="1" dirty="0"/>
              <a:t>Kết luận:</a:t>
            </a:r>
            <a:br>
              <a:rPr lang="vi-VN" dirty="0"/>
            </a:br>
            <a:r>
              <a:rPr lang="vi-VN" dirty="0"/>
              <a:t>Xác định yêu cầu chức năng là bước </a:t>
            </a:r>
            <a:r>
              <a:rPr lang="vi-VN" b="1" dirty="0"/>
              <a:t>cốt lõi</a:t>
            </a:r>
            <a:r>
              <a:rPr lang="vi-VN" dirty="0"/>
              <a:t> trong phân tích yêu cầu hệ thống IoT. Nó đảm bảo rằng hệ thống không chỉ thu thập dữ liệu, mà còn </a:t>
            </a:r>
            <a:r>
              <a:rPr lang="vi-VN" b="1" dirty="0"/>
              <a:t>lưu trữ – phân tích – hiển thị – điều khiển</a:t>
            </a:r>
            <a:r>
              <a:rPr lang="vi-VN" dirty="0"/>
              <a:t> theo nhu cầu người dùng. Việc minh họa bằng </a:t>
            </a:r>
            <a:r>
              <a:rPr lang="vi-VN" b="1" dirty="0"/>
              <a:t>use case và sequence diagram</a:t>
            </a:r>
            <a:r>
              <a:rPr lang="vi-VN" dirty="0"/>
              <a:t> giúp các bên liên quan có cái nhìn trực quan, giảm hiểu nhầm trước khi bước sang thiết kế.</a:t>
            </a:r>
          </a:p>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222373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b="1" dirty="0"/>
              <a:t>Ghi chú nhanh (để trình bày trên slide)</a:t>
            </a:r>
          </a:p>
          <a:p>
            <a:pPr>
              <a:buFont typeface="Arial" panose="020B0604020202020204" pitchFamily="34" charset="0"/>
              <a:buChar char="•"/>
            </a:pPr>
            <a:r>
              <a:rPr lang="vi-VN" b="1" dirty="0"/>
              <a:t>Actors</a:t>
            </a:r>
            <a:r>
              <a:rPr lang="vi-VN" dirty="0"/>
              <a:t>:</a:t>
            </a:r>
          </a:p>
          <a:p>
            <a:pPr marL="742950" lvl="1" indent="-285750">
              <a:buFont typeface="Arial" panose="020B0604020202020204" pitchFamily="34" charset="0"/>
              <a:buChar char="•"/>
            </a:pPr>
            <a:r>
              <a:rPr lang="vi-VN" i="1" dirty="0"/>
              <a:t>Farmer</a:t>
            </a:r>
            <a:r>
              <a:rPr lang="vi-VN" dirty="0"/>
              <a:t>: xem số liệu thời gian thực, nhận cảnh báo, điều khiển thủ công, lập lịch tưới.</a:t>
            </a:r>
          </a:p>
          <a:p>
            <a:pPr marL="742950" lvl="1" indent="-285750">
              <a:buFont typeface="Arial" panose="020B0604020202020204" pitchFamily="34" charset="0"/>
              <a:buChar char="•"/>
            </a:pPr>
            <a:r>
              <a:rPr lang="vi-VN" i="1" dirty="0"/>
              <a:t>Farm Manager</a:t>
            </a:r>
            <a:r>
              <a:rPr lang="vi-VN" dirty="0"/>
              <a:t>: đặt ngưỡng/cảnh báo, xem báo cáo/đồ thị xu hướng, tối ưu quy tắc vận hành.</a:t>
            </a:r>
          </a:p>
          <a:p>
            <a:pPr marL="742950" lvl="1" indent="-285750">
              <a:buFont typeface="Arial" panose="020B0604020202020204" pitchFamily="34" charset="0"/>
              <a:buChar char="•"/>
            </a:pPr>
            <a:r>
              <a:rPr lang="vi-VN" i="1" dirty="0"/>
              <a:t>IT Admin</a:t>
            </a:r>
            <a:r>
              <a:rPr lang="vi-VN" dirty="0"/>
              <a:t>: quản lý thiết bị (onboarding/config), cập nhật OTA, quản trị người dùng/quyền.</a:t>
            </a:r>
          </a:p>
          <a:p>
            <a:pPr marL="742950" lvl="1" indent="-285750">
              <a:buFont typeface="Arial" panose="020B0604020202020204" pitchFamily="34" charset="0"/>
              <a:buChar char="•"/>
            </a:pPr>
            <a:r>
              <a:rPr lang="vi-VN" i="1" dirty="0"/>
              <a:t>ERP/MES</a:t>
            </a:r>
            <a:r>
              <a:rPr lang="vi-VN" dirty="0"/>
              <a:t>: hệ thống ngoài tích hợp qua API (xuất dữ liệu, đồng bộ báo cáo).</a:t>
            </a:r>
          </a:p>
          <a:p>
            <a:pPr>
              <a:buFont typeface="Arial" panose="020B0604020202020204" pitchFamily="34" charset="0"/>
              <a:buChar char="•"/>
            </a:pPr>
            <a:r>
              <a:rPr lang="vi-VN" b="1" dirty="0"/>
              <a:t>Use cases chính</a:t>
            </a:r>
            <a:r>
              <a:rPr lang="vi-VN" dirty="0"/>
              <a:t>:</a:t>
            </a:r>
            <a:endParaRPr lang="en-US" dirty="0"/>
          </a:p>
          <a:p>
            <a:pPr lvl="1">
              <a:buFont typeface="Arial" panose="020B0604020202020204" pitchFamily="34" charset="0"/>
              <a:buChar char="•"/>
            </a:pPr>
            <a:r>
              <a:rPr lang="vi-VN" dirty="0"/>
              <a:t> U1 : View real-time metrics</a:t>
            </a:r>
          </a:p>
          <a:p>
            <a:pPr lvl="1">
              <a:buFont typeface="Arial" panose="020B0604020202020204" pitchFamily="34" charset="0"/>
              <a:buChar char="•"/>
            </a:pPr>
            <a:r>
              <a:rPr lang="vi-VN" dirty="0"/>
              <a:t>  U2 : Receive alerts/notifications</a:t>
            </a:r>
          </a:p>
          <a:p>
            <a:pPr lvl="1">
              <a:buFont typeface="Arial" panose="020B0604020202020204" pitchFamily="34" charset="0"/>
              <a:buChar char="•"/>
            </a:pPr>
            <a:r>
              <a:rPr lang="vi-VN" dirty="0"/>
              <a:t>  U3 : Manual device control</a:t>
            </a:r>
          </a:p>
          <a:p>
            <a:pPr lvl="1">
              <a:buFont typeface="Arial" panose="020B0604020202020204" pitchFamily="34" charset="0"/>
              <a:buChar char="•"/>
            </a:pPr>
            <a:r>
              <a:rPr lang="vi-VN" dirty="0"/>
              <a:t>  U4 : Set thresholds &amp; rules</a:t>
            </a:r>
          </a:p>
          <a:p>
            <a:pPr lvl="1">
              <a:buFont typeface="Arial" panose="020B0604020202020204" pitchFamily="34" charset="0"/>
              <a:buChar char="•"/>
            </a:pPr>
            <a:r>
              <a:rPr lang="vi-VN" dirty="0"/>
              <a:t>  U5 : Schedule irrigation</a:t>
            </a:r>
          </a:p>
          <a:p>
            <a:pPr lvl="1">
              <a:buFont typeface="Arial" panose="020B0604020202020204" pitchFamily="34" charset="0"/>
              <a:buChar char="•"/>
            </a:pPr>
            <a:r>
              <a:rPr lang="vi-VN" dirty="0"/>
              <a:t>  U6 : Historical trends &amp; reports</a:t>
            </a:r>
          </a:p>
          <a:p>
            <a:pPr lvl="1">
              <a:buFont typeface="Arial" panose="020B0604020202020204" pitchFamily="34" charset="0"/>
              <a:buChar char="•"/>
            </a:pPr>
            <a:r>
              <a:rPr lang="vi-VN" dirty="0"/>
              <a:t>  U7 : Device onboarding &amp; config</a:t>
            </a:r>
          </a:p>
          <a:p>
            <a:pPr lvl="1">
              <a:buFont typeface="Arial" panose="020B0604020202020204" pitchFamily="34" charset="0"/>
              <a:buChar char="•"/>
            </a:pPr>
            <a:r>
              <a:rPr lang="vi-VN" dirty="0"/>
              <a:t>  U8 : OTA firmware update</a:t>
            </a:r>
          </a:p>
          <a:p>
            <a:pPr lvl="1">
              <a:buFont typeface="Arial" panose="020B0604020202020204" pitchFamily="34" charset="0"/>
              <a:buChar char="•"/>
            </a:pPr>
            <a:r>
              <a:rPr lang="vi-VN" dirty="0"/>
              <a:t>  U9 : User/role management</a:t>
            </a:r>
          </a:p>
          <a:p>
            <a:pPr lvl="1">
              <a:buFont typeface="Arial" panose="020B0604020202020204" pitchFamily="34" charset="0"/>
              <a:buChar char="•"/>
            </a:pPr>
            <a:r>
              <a:rPr lang="vi-VN" dirty="0"/>
              <a:t>  U10 : Export/Sync data API</a:t>
            </a:r>
          </a:p>
          <a:p>
            <a:pPr lvl="1">
              <a:buFont typeface="Arial" panose="020B0604020202020204" pitchFamily="34" charset="0"/>
              <a:buChar char="•"/>
            </a:pPr>
            <a:r>
              <a:rPr lang="vi-VN" dirty="0"/>
              <a:t>  (Sensor/Actuator) as hw</a:t>
            </a:r>
            <a:endParaRPr lang="en-US" dirty="0"/>
          </a:p>
          <a:p>
            <a:pPr>
              <a:buFont typeface="Arial" panose="020B0604020202020204" pitchFamily="34" charset="0"/>
              <a:buChar char="•"/>
            </a:pPr>
            <a:endParaRPr lang="vi-VN" dirty="0"/>
          </a:p>
          <a:p>
            <a:pPr marL="742950" lvl="1" indent="-285750">
              <a:buFont typeface="Arial" panose="020B0604020202020204" pitchFamily="34" charset="0"/>
              <a:buChar char="•"/>
            </a:pPr>
            <a:r>
              <a:rPr lang="vi-VN" dirty="0"/>
              <a:t>U1–U2–U3–U5 bao phủ </a:t>
            </a:r>
            <a:r>
              <a:rPr lang="vi-VN" i="1" dirty="0"/>
              <a:t>monitoring</a:t>
            </a:r>
            <a:r>
              <a:rPr lang="vi-VN" dirty="0"/>
              <a:t> &amp; </a:t>
            </a:r>
            <a:r>
              <a:rPr lang="vi-VN" i="1" dirty="0"/>
              <a:t>control</a:t>
            </a:r>
            <a:r>
              <a:rPr lang="vi-VN" dirty="0"/>
              <a:t>;</a:t>
            </a:r>
          </a:p>
          <a:p>
            <a:pPr marL="742950" lvl="1" indent="-285750">
              <a:buFont typeface="Arial" panose="020B0604020202020204" pitchFamily="34" charset="0"/>
              <a:buChar char="•"/>
            </a:pPr>
            <a:r>
              <a:rPr lang="vi-VN" dirty="0"/>
              <a:t>U4 mô hình hóa </a:t>
            </a:r>
            <a:r>
              <a:rPr lang="vi-VN" i="1" dirty="0"/>
              <a:t>rules/thresholds</a:t>
            </a:r>
            <a:r>
              <a:rPr lang="vi-VN" dirty="0"/>
              <a:t> kích hoạt cảnh báo (mối quan hệ «include/trigger» tới U2);</a:t>
            </a:r>
          </a:p>
          <a:p>
            <a:pPr marL="742950" lvl="1" indent="-285750">
              <a:buFont typeface="Arial" panose="020B0604020202020204" pitchFamily="34" charset="0"/>
              <a:buChar char="•"/>
            </a:pPr>
            <a:r>
              <a:rPr lang="vi-VN" dirty="0"/>
              <a:t>U6–U10 cho </a:t>
            </a:r>
            <a:r>
              <a:rPr lang="vi-VN" i="1" dirty="0"/>
              <a:t>analytics</a:t>
            </a:r>
            <a:r>
              <a:rPr lang="vi-VN" dirty="0"/>
              <a:t> và </a:t>
            </a:r>
            <a:r>
              <a:rPr lang="vi-VN" i="1" dirty="0"/>
              <a:t>tích hợp doanh nghiệp</a:t>
            </a:r>
            <a:r>
              <a:rPr lang="vi-VN" dirty="0"/>
              <a:t>;</a:t>
            </a:r>
          </a:p>
          <a:p>
            <a:pPr marL="742950" lvl="1" indent="-285750">
              <a:buFont typeface="Arial" panose="020B0604020202020204" pitchFamily="34" charset="0"/>
              <a:buChar char="•"/>
            </a:pPr>
            <a:r>
              <a:rPr lang="vi-VN" dirty="0"/>
              <a:t>U7–U8–U9 cho </a:t>
            </a:r>
            <a:r>
              <a:rPr lang="vi-VN" i="1" dirty="0"/>
              <a:t>vận hành &amp; bảo trì hệ thống</a:t>
            </a:r>
            <a:r>
              <a:rPr lang="vi-VN" dirty="0"/>
              <a:t>.</a:t>
            </a:r>
          </a:p>
          <a:p>
            <a:pPr>
              <a:buFont typeface="Arial" panose="020B0604020202020204" pitchFamily="34" charset="0"/>
              <a:buChar char="•"/>
            </a:pPr>
            <a:r>
              <a:rPr lang="vi-VN" b="1" dirty="0"/>
              <a:t>Quan hệ</a:t>
            </a:r>
            <a:r>
              <a:rPr lang="vi-VN" dirty="0"/>
              <a:t>:</a:t>
            </a:r>
          </a:p>
          <a:p>
            <a:pPr marL="742950" lvl="1" indent="-285750">
              <a:buFont typeface="Arial" panose="020B0604020202020204" pitchFamily="34" charset="0"/>
              <a:buChar char="•"/>
            </a:pPr>
            <a:r>
              <a:rPr lang="vi-VN" dirty="0"/>
              <a:t>hw ..&gt; U1 thể hiện thiết bị gửi </a:t>
            </a:r>
            <a:r>
              <a:rPr lang="vi-VN" i="1" dirty="0"/>
              <a:t>telemetry</a:t>
            </a:r>
            <a:r>
              <a:rPr lang="vi-VN" dirty="0"/>
              <a:t>;</a:t>
            </a:r>
          </a:p>
          <a:p>
            <a:pPr marL="742950" lvl="1" indent="-285750">
              <a:buFont typeface="Arial" panose="020B0604020202020204" pitchFamily="34" charset="0"/>
              <a:buChar char="•"/>
            </a:pPr>
            <a:r>
              <a:rPr lang="vi-VN" dirty="0"/>
              <a:t>U3/U5 ..&gt; hw thể hiện lệnh điều khiển thời gian thực hoặc theo lịch;</a:t>
            </a:r>
          </a:p>
          <a:p>
            <a:pPr marL="742950" lvl="1" indent="-285750">
              <a:buFont typeface="Arial" panose="020B0604020202020204" pitchFamily="34" charset="0"/>
              <a:buChar char="•"/>
            </a:pPr>
            <a:r>
              <a:rPr lang="vi-VN" dirty="0"/>
              <a:t>U4 ..&gt; U2 nhấn mạnh cảnh báo phát sinh từ quy tắc/nguỡng.</a:t>
            </a:r>
          </a:p>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3158164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“Xác định yêu cầu phi chức năng”</a:t>
            </a:r>
            <a:r>
              <a:rPr lang="vi-VN" dirty="0"/>
              <a:t> – đây là các yêu cầu không mô tả hệ thống </a:t>
            </a:r>
            <a:r>
              <a:rPr lang="vi-VN" b="1" dirty="0"/>
              <a:t>làm gì</a:t>
            </a:r>
            <a:r>
              <a:rPr lang="vi-VN" dirty="0"/>
              <a:t>, mà là các ràng buộc về </a:t>
            </a:r>
            <a:r>
              <a:rPr lang="vi-VN" b="1" dirty="0"/>
              <a:t>chất lượng, hiệu năng, độ tin cậy</a:t>
            </a:r>
            <a:r>
              <a:rPr lang="vi-VN" dirty="0"/>
              <a:t>… giúp hệ thống IoT có thể vận hành bền vững trong thực tế.</a:t>
            </a:r>
          </a:p>
          <a:p>
            <a:pPr marL="158750" indent="0">
              <a:buFontTx/>
              <a:buNone/>
            </a:pPr>
            <a:r>
              <a:rPr lang="vi-VN" b="1" dirty="0"/>
              <a:t>1. Hiệu năng</a:t>
            </a:r>
          </a:p>
          <a:p>
            <a:pPr marL="158750" indent="0">
              <a:buFontTx/>
              <a:buNone/>
            </a:pPr>
            <a:r>
              <a:rPr lang="vi-VN" b="1" dirty="0"/>
              <a:t>Độ trễ tối đa</a:t>
            </a:r>
            <a:r>
              <a:rPr lang="vi-VN" dirty="0"/>
              <a:t>: thời gian từ khi cảm biến thu thập dữ liệu → đến khi hiển thị/ra quyết định trên ứng dụng. Ví dụ: hệ thống cảnh báo cháy cần độ trễ &lt; 2 giây.</a:t>
            </a:r>
          </a:p>
          <a:p>
            <a:pPr marL="158750" indent="0">
              <a:buFontTx/>
              <a:buNone/>
            </a:pPr>
            <a:r>
              <a:rPr lang="vi-VN" b="1" dirty="0"/>
              <a:t>Tần suất lấy mẫu</a:t>
            </a:r>
            <a:r>
              <a:rPr lang="vi-VN" dirty="0"/>
              <a:t>: quy định chu kỳ đọc dữ liệu, có thể vài giây (giám sát sức khỏe) hoặc vài phút/giờ (nông nghiệp).</a:t>
            </a:r>
          </a:p>
          <a:p>
            <a:pPr marL="158750" indent="0">
              <a:buFontTx/>
              <a:buNone/>
            </a:pPr>
            <a:r>
              <a:rPr lang="vi-VN" b="1" dirty="0"/>
              <a:t>Khả năng chịu tải</a:t>
            </a:r>
            <a:r>
              <a:rPr lang="vi-VN" dirty="0"/>
              <a:t>: số lượng thiết bị và lượng dữ liệu hệ thống có thể xử lý cùng lúc. Ví dụ: 10.000 cảm biến cùng gửi dữ liệu/giây.</a:t>
            </a:r>
          </a:p>
          <a:p>
            <a:pPr marL="158750" indent="0">
              <a:buFontTx/>
              <a:buNone/>
            </a:pPr>
            <a:r>
              <a:rPr lang="en-US" dirty="0"/>
              <a:t>=&gt; </a:t>
            </a:r>
            <a:r>
              <a:rPr lang="vi-VN" dirty="0"/>
              <a:t>Hiệu năng đảm bảo hệ thống IoT </a:t>
            </a:r>
            <a:r>
              <a:rPr lang="vi-VN" b="1" dirty="0"/>
              <a:t>nhanh – mượt – đáp ứng đúng thời điểm</a:t>
            </a:r>
            <a:r>
              <a:rPr lang="vi-VN" dirty="0"/>
              <a:t>.</a:t>
            </a:r>
          </a:p>
          <a:p>
            <a:pPr marL="158750" indent="0">
              <a:buFontTx/>
              <a:buNone/>
            </a:pPr>
            <a:r>
              <a:rPr lang="vi-VN" b="1" dirty="0"/>
              <a:t>2. Bảo mật</a:t>
            </a:r>
          </a:p>
          <a:p>
            <a:pPr marL="158750" indent="0">
              <a:buFontTx/>
              <a:buNone/>
            </a:pPr>
            <a:r>
              <a:rPr lang="vi-VN" b="1" dirty="0"/>
              <a:t>Mã hóa (Encryption)</a:t>
            </a:r>
            <a:r>
              <a:rPr lang="vi-VN" dirty="0"/>
              <a:t>: dữ liệu phải được mã hóa khi truyền và khi lưu trữ để tránh rò rỉ thông tin.</a:t>
            </a:r>
          </a:p>
          <a:p>
            <a:pPr marL="158750" indent="0">
              <a:buFontTx/>
              <a:buNone/>
            </a:pPr>
            <a:r>
              <a:rPr lang="vi-VN" b="1" dirty="0"/>
              <a:t>Xác thực (Authentication)</a:t>
            </a:r>
            <a:r>
              <a:rPr lang="vi-VN" dirty="0"/>
              <a:t>: kiểm tra danh tính thiết bị/người dùng (password, token, certificate).</a:t>
            </a:r>
          </a:p>
          <a:p>
            <a:pPr marL="158750" indent="0">
              <a:buFontTx/>
              <a:buNone/>
            </a:pPr>
            <a:r>
              <a:rPr lang="vi-VN" b="1" dirty="0"/>
              <a:t>Phân quyền (Authorization)</a:t>
            </a:r>
            <a:r>
              <a:rPr lang="vi-VN" dirty="0"/>
              <a:t>: quy định ai được phép truy cập dữ liệu nào, điều khiển thiết bị nào.</a:t>
            </a:r>
          </a:p>
          <a:p>
            <a:pPr marL="158750" indent="0">
              <a:buFontTx/>
              <a:buNone/>
            </a:pPr>
            <a:r>
              <a:rPr lang="en-US" dirty="0"/>
              <a:t>=&gt; </a:t>
            </a:r>
            <a:r>
              <a:rPr lang="vi-VN" dirty="0"/>
              <a:t>Bảo mật giúp hệ thống </a:t>
            </a:r>
            <a:r>
              <a:rPr lang="vi-VN" b="1" dirty="0"/>
              <a:t>an toàn</a:t>
            </a:r>
            <a:r>
              <a:rPr lang="vi-VN" dirty="0"/>
              <a:t>, tránh bị hacker chiếm quyền điều khiển thiết bị IoT.</a:t>
            </a:r>
          </a:p>
          <a:p>
            <a:pPr marL="158750" indent="0">
              <a:buFontTx/>
              <a:buNone/>
            </a:pPr>
            <a:r>
              <a:rPr lang="vi-VN" b="1" dirty="0"/>
              <a:t>3. Độ tin cậy</a:t>
            </a:r>
          </a:p>
          <a:p>
            <a:pPr marL="158750" indent="0">
              <a:buFontTx/>
              <a:buNone/>
            </a:pPr>
            <a:r>
              <a:rPr lang="vi-VN" b="1" dirty="0"/>
              <a:t>Cơ chế dự phòng (Redundancy)</a:t>
            </a:r>
            <a:r>
              <a:rPr lang="vi-VN" dirty="0"/>
              <a:t>: có server hoặc đường truyền thay thế khi một node bị lỗi.</a:t>
            </a:r>
          </a:p>
          <a:p>
            <a:pPr marL="158750" indent="0">
              <a:buFontTx/>
              <a:buNone/>
            </a:pPr>
            <a:r>
              <a:rPr lang="vi-VN" b="1" dirty="0"/>
              <a:t>Phục hồi khi mất kết nối (Recovery)</a:t>
            </a:r>
            <a:r>
              <a:rPr lang="vi-VN" dirty="0"/>
              <a:t>: nếu mất mạng, dữ liệu phải được lưu tạm (buffer) và gửi lại khi kết nối trở lại.</a:t>
            </a:r>
          </a:p>
          <a:p>
            <a:pPr marL="158750" indent="0">
              <a:buFontTx/>
              <a:buNone/>
            </a:pPr>
            <a:r>
              <a:rPr lang="en-US" dirty="0"/>
              <a:t>=&gt; </a:t>
            </a:r>
            <a:r>
              <a:rPr lang="vi-VN" dirty="0"/>
              <a:t>Độ tin cậy giúp hệ thống </a:t>
            </a:r>
            <a:r>
              <a:rPr lang="vi-VN" b="1" dirty="0"/>
              <a:t>không gián đoạn</a:t>
            </a:r>
            <a:r>
              <a:rPr lang="vi-VN" dirty="0"/>
              <a:t>, duy trì hoạt động ổn định trong môi trường khắc nghiệt.</a:t>
            </a:r>
          </a:p>
          <a:p>
            <a:pPr marL="158750" indent="0">
              <a:buFontTx/>
              <a:buNone/>
            </a:pPr>
            <a:r>
              <a:rPr lang="vi-VN" b="1" dirty="0"/>
              <a:t>4. Khả năng mở rộng</a:t>
            </a:r>
          </a:p>
          <a:p>
            <a:pPr marL="158750" indent="0">
              <a:buFontTx/>
              <a:buNone/>
            </a:pPr>
            <a:r>
              <a:rPr lang="vi-VN" b="1" dirty="0"/>
              <a:t>Hỗ trợ thêm thiết bị mới</a:t>
            </a:r>
            <a:r>
              <a:rPr lang="vi-VN" dirty="0"/>
              <a:t>: dễ dàng thêm cảm biến/actuator mà không cần thay đổi toàn bộ hệ thống.</a:t>
            </a:r>
          </a:p>
          <a:p>
            <a:pPr marL="158750" indent="0">
              <a:buFontTx/>
              <a:buNone/>
            </a:pPr>
            <a:r>
              <a:rPr lang="vi-VN" b="1" dirty="0"/>
              <a:t>Tích hợp cloud</a:t>
            </a:r>
            <a:r>
              <a:rPr lang="vi-VN" dirty="0"/>
              <a:t>: sẵn sàng mở rộng lên nền tảng cloud (AWS IoT, Azure IoT, Google IoT) để xử lý dữ liệu lớn và phân tán.</a:t>
            </a:r>
          </a:p>
          <a:p>
            <a:pPr marL="158750" indent="0">
              <a:buFontTx/>
              <a:buNone/>
            </a:pPr>
            <a:r>
              <a:rPr lang="en-US" dirty="0"/>
              <a:t>=&gt; </a:t>
            </a:r>
            <a:r>
              <a:rPr lang="vi-VN" dirty="0"/>
              <a:t>Khả năng mở rộng giúp hệ thống </a:t>
            </a:r>
            <a:r>
              <a:rPr lang="vi-VN" b="1" dirty="0"/>
              <a:t>dài hạn – linh hoạt</a:t>
            </a:r>
            <a:r>
              <a:rPr lang="vi-VN" dirty="0"/>
              <a:t>, tránh lạc hậu khi nhu cầu tăng trưởng.</a:t>
            </a:r>
          </a:p>
          <a:p>
            <a:pPr marL="158750" indent="0">
              <a:buFontTx/>
              <a:buNone/>
            </a:pPr>
            <a:r>
              <a:rPr lang="vi-VN" b="1" dirty="0"/>
              <a:t>5. Chi phí và năng lượng</a:t>
            </a:r>
          </a:p>
          <a:p>
            <a:pPr marL="158750" indent="0">
              <a:buFontTx/>
              <a:buNone/>
            </a:pPr>
            <a:r>
              <a:rPr lang="vi-VN" b="1" dirty="0"/>
              <a:t>Pin</a:t>
            </a:r>
            <a:r>
              <a:rPr lang="vi-VN" dirty="0"/>
              <a:t>: tối ưu thời lượng pin, có thể dùng năng lượng mặt trời hoặc chế độ ngủ (sleep mode) để tiết kiệm.</a:t>
            </a:r>
          </a:p>
          <a:p>
            <a:pPr marL="158750" indent="0">
              <a:buFontTx/>
              <a:buNone/>
            </a:pPr>
            <a:r>
              <a:rPr lang="vi-VN" b="1" dirty="0"/>
              <a:t>Băng thông</a:t>
            </a:r>
            <a:r>
              <a:rPr lang="vi-VN" dirty="0"/>
              <a:t>: chọn giao thức tiết kiệm dữ liệu (MQTT thay vì HTTP) khi đường truyền hạn chế.</a:t>
            </a:r>
          </a:p>
          <a:p>
            <a:pPr marL="158750" indent="0">
              <a:buFontTx/>
              <a:buNone/>
            </a:pPr>
            <a:r>
              <a:rPr lang="vi-VN" b="1" dirty="0"/>
              <a:t>Chi phí hạ tầng</a:t>
            </a:r>
            <a:r>
              <a:rPr lang="vi-VN" dirty="0"/>
              <a:t>: tính toán chi phí triển khai và vận hành (server, cloud, bảo trì thiết bị).</a:t>
            </a:r>
          </a:p>
          <a:p>
            <a:pPr marL="158750" indent="0">
              <a:buFontTx/>
              <a:buNone/>
            </a:pPr>
            <a:r>
              <a:rPr lang="en-US" dirty="0"/>
              <a:t>=&gt; </a:t>
            </a:r>
            <a:r>
              <a:rPr lang="vi-VN" dirty="0"/>
              <a:t>Yếu tố này đảm bảo hệ thống </a:t>
            </a:r>
            <a:r>
              <a:rPr lang="vi-VN" b="1" dirty="0"/>
              <a:t>khả thi về mặt kinh tế</a:t>
            </a:r>
            <a:r>
              <a:rPr lang="vi-VN" dirty="0"/>
              <a:t> và </a:t>
            </a:r>
            <a:r>
              <a:rPr lang="vi-VN" b="1" dirty="0"/>
              <a:t>tối ưu năng lượng</a:t>
            </a:r>
            <a:r>
              <a:rPr lang="vi-VN" dirty="0"/>
              <a:t>, đặc biệt trong môi trường IoT có hàng ngàn thiết bị.</a:t>
            </a:r>
          </a:p>
          <a:p>
            <a:pPr marL="158750" indent="0">
              <a:buFontTx/>
              <a:buNone/>
            </a:pPr>
            <a:endParaRPr lang="en-US" b="1" dirty="0"/>
          </a:p>
          <a:p>
            <a:pPr marL="158750" indent="0">
              <a:buFontTx/>
              <a:buNone/>
            </a:pPr>
            <a:r>
              <a:rPr lang="vi-VN" b="1" dirty="0"/>
              <a:t>Tóm lại:</a:t>
            </a:r>
            <a:br>
              <a:rPr lang="vi-VN" dirty="0"/>
            </a:br>
            <a:r>
              <a:rPr lang="vi-VN" dirty="0"/>
              <a:t>Yêu cầu phi chức năng chính là “khung chất lượng” cho hệ thống IoT, giúp nó không chỉ hoạt động được mà còn </a:t>
            </a:r>
            <a:r>
              <a:rPr lang="vi-VN" b="1" dirty="0"/>
              <a:t>ổn định – an toàn – tiết kiệm – mở rộng trong tương lai</a:t>
            </a:r>
            <a:r>
              <a:rPr lang="vi-VN" dirty="0"/>
              <a:t>. Nếu bỏ qua, hệ thống có thể chạy được ban đầu nhưng sẽ </a:t>
            </a:r>
            <a:r>
              <a:rPr lang="vi-VN" b="1" dirty="0"/>
              <a:t>không bền vững, khó mở rộng, tốn kém</a:t>
            </a:r>
            <a:r>
              <a:rPr lang="vi-VN" dirty="0"/>
              <a:t> về sau.</a:t>
            </a:r>
          </a:p>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857283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933315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17177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7790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101455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51872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08812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“Phân tích ràng buộc kỹ thuật và môi trường”</a:t>
            </a:r>
            <a:r>
              <a:rPr lang="vi-VN" dirty="0"/>
              <a:t>. Đây là bước quan trọng trong phân tích yêu cầu IoT, vì nó giúp nhận diện </a:t>
            </a:r>
            <a:r>
              <a:rPr lang="vi-VN" b="1" dirty="0"/>
              <a:t>những giới hạn và điều kiện khách quan</a:t>
            </a:r>
            <a:r>
              <a:rPr lang="vi-VN" dirty="0"/>
              <a:t> mà hệ thống phải tuân theo, tránh thiết kế xa rời thực tế.</a:t>
            </a:r>
          </a:p>
          <a:p>
            <a:pPr marL="158750" indent="0">
              <a:buFontTx/>
              <a:buNone/>
            </a:pPr>
            <a:r>
              <a:rPr lang="vi-VN" b="1" dirty="0"/>
              <a:t>1. Môi trường hoạt động</a:t>
            </a:r>
          </a:p>
          <a:p>
            <a:pPr marL="158750" indent="0">
              <a:buFontTx/>
              <a:buNone/>
            </a:pPr>
            <a:r>
              <a:rPr lang="vi-VN" b="1" dirty="0"/>
              <a:t>Nhiệt độ và độ ẩm</a:t>
            </a:r>
            <a:r>
              <a:rPr lang="vi-VN" dirty="0"/>
              <a:t>: nhiều thiết bị IoT làm việc ngoài trời (nông trại, nhà xưởng, logistics), nên cần chọn phần cứng chịu được -20°C đến 70°C, hoặc chống ẩm/nước (chuẩn IP65/IP67).</a:t>
            </a:r>
          </a:p>
          <a:p>
            <a:pPr marL="158750" indent="0">
              <a:buFontTx/>
              <a:buNone/>
            </a:pPr>
            <a:r>
              <a:rPr lang="vi-VN" b="1" dirty="0"/>
              <a:t>Nhiễu sóng</a:t>
            </a:r>
            <a:r>
              <a:rPr lang="vi-VN" dirty="0"/>
              <a:t>: trong môi trường công nghiệp, tín hiệu Wi-Fi, ZigBee, BLE có thể bị nhiễu bởi máy móc. → Cần thử nghiệm thực địa, chọn công nghệ ít nhiễu (LoRa, NB-IoT) hoặc anten khuếch đại.</a:t>
            </a:r>
          </a:p>
          <a:p>
            <a:pPr marL="158750" indent="0">
              <a:buFontTx/>
              <a:buNone/>
            </a:pPr>
            <a:r>
              <a:rPr lang="vi-VN" b="1" dirty="0"/>
              <a:t>Nguồn cấp</a:t>
            </a:r>
            <a:r>
              <a:rPr lang="vi-VN" dirty="0"/>
              <a:t>: một số khu vực không có điện ổn định → dùng pin/năng lượng mặt trời, kết hợp chế độ tiết kiệm năng lượng (sleep mode).</a:t>
            </a:r>
          </a:p>
          <a:p>
            <a:pPr marL="158750" indent="0">
              <a:buFontTx/>
              <a:buNone/>
            </a:pPr>
            <a:r>
              <a:rPr lang="en-US" dirty="0"/>
              <a:t>=&gt; </a:t>
            </a:r>
            <a:r>
              <a:rPr lang="vi-VN" dirty="0"/>
              <a:t>Nếu bỏ qua ràng buộc môi trường, hệ thống dễ hỏng hóc, mất tín hiệu hoặc tiêu hao năng lượng nhanh.</a:t>
            </a:r>
          </a:p>
          <a:p>
            <a:pPr marL="158750" indent="0">
              <a:buFontTx/>
              <a:buNone/>
            </a:pPr>
            <a:r>
              <a:rPr lang="vi-VN" b="1" dirty="0"/>
              <a:t>2. Ràng buộc pháp lý</a:t>
            </a:r>
          </a:p>
          <a:p>
            <a:pPr marL="158750" indent="0">
              <a:buFontTx/>
              <a:buNone/>
            </a:pPr>
            <a:r>
              <a:rPr lang="vi-VN" b="1" dirty="0"/>
              <a:t>Tần số vô tuyến</a:t>
            </a:r>
            <a:r>
              <a:rPr lang="vi-VN" dirty="0"/>
              <a:t>: mỗi quốc gia quy định dải tần số IoT hợp pháp (ví dụ LoRa 868 MHz ở EU, 915 MHz ở Mỹ, 920 MHz ở Việt Nam). → Cần tuân thủ để được cấp phép.</a:t>
            </a:r>
          </a:p>
          <a:p>
            <a:pPr marL="158750" indent="0">
              <a:buFontTx/>
              <a:buNone/>
            </a:pPr>
            <a:r>
              <a:rPr lang="vi-VN" b="1" dirty="0"/>
              <a:t>Bảo mật dữ liệu cá nhân</a:t>
            </a:r>
            <a:r>
              <a:rPr lang="vi-VN" dirty="0"/>
              <a:t>: nếu IoT thu thập thông tin nhạy cảm (sức khỏe, vị trí, hành vi người dùng), phải tuân thủ chuẩn bảo mật và luật (GDPR, HIPAA…). → Cần có chính sách ẩn danh, mã hóa và xin phép người dùng.</a:t>
            </a:r>
          </a:p>
          <a:p>
            <a:pPr marL="158750" indent="0">
              <a:buFontTx/>
              <a:buNone/>
            </a:pPr>
            <a:r>
              <a:rPr lang="en-US" dirty="0"/>
              <a:t>=&gt; </a:t>
            </a:r>
            <a:r>
              <a:rPr lang="vi-VN" dirty="0"/>
              <a:t>Nếu không tuân thủ, hệ thống có thể bị phạt, cấm hoạt động hoặc mất uy tín.</a:t>
            </a:r>
          </a:p>
          <a:p>
            <a:pPr marL="158750" indent="0">
              <a:buFontTx/>
              <a:buNone/>
            </a:pPr>
            <a:r>
              <a:rPr lang="vi-VN" b="1" dirty="0"/>
              <a:t>3. Tài nguyên thiết bị</a:t>
            </a:r>
          </a:p>
          <a:p>
            <a:pPr marL="158750" indent="0">
              <a:buFontTx/>
              <a:buNone/>
            </a:pPr>
            <a:r>
              <a:rPr lang="vi-VN" b="1" dirty="0"/>
              <a:t>Bộ nhớ &amp; CPU</a:t>
            </a:r>
            <a:r>
              <a:rPr lang="vi-VN" dirty="0"/>
              <a:t>: nhiều thiết bị IoT dùng vi điều khiển nhỏ (ESP8266, STM32), chỉ vài trăm KB RAM, CPU vài MHz → không thể chạy thuật toán phức tạp, cần tối ưu code và offload xử lý lên cloud/gateway.</a:t>
            </a:r>
          </a:p>
          <a:p>
            <a:pPr marL="158750" indent="0">
              <a:buFontTx/>
              <a:buNone/>
            </a:pPr>
            <a:r>
              <a:rPr lang="vi-VN" b="1" dirty="0"/>
              <a:t>Dung lượng pin</a:t>
            </a:r>
            <a:r>
              <a:rPr lang="vi-VN" dirty="0"/>
              <a:t>: cảm biến ngoài trời thường chạy pin nhiều tháng/năm → phải cân nhắc tần suất lấy mẫu, cơ chế tiết kiệm năng lượng.</a:t>
            </a:r>
          </a:p>
          <a:p>
            <a:pPr marL="158750" indent="0">
              <a:buFontTx/>
              <a:buNone/>
            </a:pPr>
            <a:r>
              <a:rPr lang="en-US" dirty="0"/>
              <a:t>=&gt; </a:t>
            </a:r>
            <a:r>
              <a:rPr lang="vi-VN" dirty="0"/>
              <a:t>Nếu không tính toán đúng, thiết bị nhanh hết pin, treo hệ thống hoặc mất dữ liệu.</a:t>
            </a:r>
          </a:p>
          <a:p>
            <a:pPr marL="158750" indent="0">
              <a:buFontTx/>
              <a:buNone/>
            </a:pPr>
            <a:endParaRPr lang="en-US" b="1" dirty="0"/>
          </a:p>
          <a:p>
            <a:pPr marL="158750" indent="0">
              <a:buFontTx/>
              <a:buNone/>
            </a:pPr>
            <a:r>
              <a:rPr lang="vi-VN" b="1" dirty="0"/>
              <a:t>Kết luận</a:t>
            </a:r>
            <a:r>
              <a:rPr lang="vi-VN" dirty="0"/>
              <a:t>:</a:t>
            </a:r>
            <a:br>
              <a:rPr lang="vi-VN" dirty="0"/>
            </a:br>
            <a:r>
              <a:rPr lang="vi-VN" dirty="0"/>
              <a:t>Phân tích ràng buộc kỹ thuật và môi trường giúp </a:t>
            </a:r>
            <a:r>
              <a:rPr lang="vi-VN" b="1" dirty="0"/>
              <a:t>đặt ra khung thực tế</a:t>
            </a:r>
            <a:r>
              <a:rPr lang="vi-VN" dirty="0"/>
              <a:t> cho hệ thống IoT. Nó chỉ ra rằng ngoài chức năng, hệ thống còn phải </a:t>
            </a:r>
            <a:r>
              <a:rPr lang="vi-VN" b="1" dirty="0"/>
              <a:t>chịu đựng môi trường khắc nghiệt, tuân thủ pháp luật, và hoạt động trong giới hạn phần cứng</a:t>
            </a:r>
            <a:r>
              <a:rPr lang="vi-VN" dirty="0"/>
              <a:t>. Nếu không xem xét kỹ, dự án IoT dễ thất bại khi triển khai thực tế.</a:t>
            </a:r>
          </a:p>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1151819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4798756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30499901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2562820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29509239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19325954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14061168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“Xây dựng mô hình yêu cầu”</a:t>
            </a:r>
            <a:r>
              <a:rPr lang="vi-VN" dirty="0"/>
              <a:t> – đây là bước nhằm </a:t>
            </a:r>
            <a:r>
              <a:rPr lang="vi-VN" b="1" dirty="0"/>
              <a:t>chuyển hóa các yêu cầu thu thập được thành mô hình trực quan, chuẩn hóa, dễ kiểm chứng</a:t>
            </a:r>
            <a:r>
              <a:rPr lang="vi-VN" dirty="0"/>
              <a:t>.</a:t>
            </a:r>
          </a:p>
          <a:p>
            <a:pPr marL="158750" indent="0">
              <a:buFontTx/>
              <a:buNone/>
            </a:pPr>
            <a:r>
              <a:rPr lang="vi-VN" b="1" dirty="0"/>
              <a:t>1. Dùng sơ đồ để biểu diễn yêu cầu</a:t>
            </a:r>
          </a:p>
          <a:p>
            <a:pPr marL="158750" indent="0">
              <a:buFontTx/>
              <a:buNone/>
            </a:pPr>
            <a:r>
              <a:rPr lang="vi-VN" dirty="0"/>
              <a:t>Có nhiều cách trực quan hóa yêu cầu hệ thống IoT, phổ biến gồm:</a:t>
            </a:r>
          </a:p>
          <a:p>
            <a:pPr marL="158750" indent="0">
              <a:buFontTx/>
              <a:buNone/>
            </a:pPr>
            <a:r>
              <a:rPr lang="vi-VN" b="1" dirty="0"/>
              <a:t>a. Use Case Diagram</a:t>
            </a:r>
          </a:p>
          <a:p>
            <a:pPr marL="158750" indent="0">
              <a:buFontTx/>
              <a:buNone/>
            </a:pPr>
            <a:r>
              <a:rPr lang="vi-VN" dirty="0"/>
              <a:t>Cho thấy </a:t>
            </a:r>
            <a:r>
              <a:rPr lang="vi-VN" b="1" dirty="0"/>
              <a:t>ai (actor)</a:t>
            </a:r>
            <a:r>
              <a:rPr lang="vi-VN" dirty="0"/>
              <a:t> sẽ tương tác với hệ thống và </a:t>
            </a:r>
            <a:r>
              <a:rPr lang="vi-VN" b="1" dirty="0"/>
              <a:t>tương tác đó là gì (use case)</a:t>
            </a:r>
            <a:r>
              <a:rPr lang="vi-VN" dirty="0"/>
              <a:t>.</a:t>
            </a:r>
          </a:p>
          <a:p>
            <a:pPr marL="158750" indent="0">
              <a:buFontTx/>
              <a:buNone/>
            </a:pPr>
            <a:r>
              <a:rPr lang="vi-VN" dirty="0"/>
              <a:t>Ví dụ:</a:t>
            </a:r>
          </a:p>
          <a:p>
            <a:pPr marL="457200" lvl="1" indent="0">
              <a:buFontTx/>
              <a:buNone/>
            </a:pPr>
            <a:r>
              <a:rPr lang="vi-VN" i="1" dirty="0"/>
              <a:t>Người nông dân</a:t>
            </a:r>
            <a:r>
              <a:rPr lang="vi-VN" dirty="0"/>
              <a:t>: xem dữ liệu độ ẩm, điều khiển bơm.</a:t>
            </a:r>
          </a:p>
          <a:p>
            <a:pPr marL="457200" lvl="1" indent="0">
              <a:buFontTx/>
              <a:buNone/>
            </a:pPr>
            <a:r>
              <a:rPr lang="vi-VN" i="1" dirty="0"/>
              <a:t>Quản lý</a:t>
            </a:r>
            <a:r>
              <a:rPr lang="vi-VN" dirty="0"/>
              <a:t>: đặt ngưỡng cảnh báo, xem báo cáo.</a:t>
            </a:r>
          </a:p>
          <a:p>
            <a:pPr marL="457200" lvl="1" indent="0">
              <a:buFontTx/>
              <a:buNone/>
            </a:pPr>
            <a:r>
              <a:rPr lang="vi-VN" i="1" dirty="0"/>
              <a:t>IT Admin</a:t>
            </a:r>
            <a:r>
              <a:rPr lang="vi-VN" dirty="0"/>
              <a:t>: thêm thiết bị mới, cập nhật firmware.</a:t>
            </a:r>
          </a:p>
          <a:p>
            <a:pPr marL="158750" indent="0">
              <a:buFontTx/>
              <a:buNone/>
            </a:pPr>
            <a:r>
              <a:rPr lang="vi-VN" dirty="0"/>
              <a:t>Ưu điểm: trực quan, dễ hiểu cho cả người dùng không chuyên kỹ thuật.</a:t>
            </a:r>
          </a:p>
          <a:p>
            <a:pPr marL="158750" indent="0">
              <a:buFontTx/>
              <a:buNone/>
            </a:pPr>
            <a:r>
              <a:rPr lang="vi-VN" b="1" dirty="0"/>
              <a:t>b. DFD (Data Flow Diagram)</a:t>
            </a:r>
          </a:p>
          <a:p>
            <a:pPr marL="158750" indent="0">
              <a:buFontTx/>
              <a:buNone/>
            </a:pPr>
            <a:r>
              <a:rPr lang="vi-VN" dirty="0"/>
              <a:t>Mô tả </a:t>
            </a:r>
            <a:r>
              <a:rPr lang="vi-VN" b="1" dirty="0"/>
              <a:t>luồng dữ liệu</a:t>
            </a:r>
            <a:r>
              <a:rPr lang="vi-VN" dirty="0"/>
              <a:t> qua các thành phần của hệ thống.</a:t>
            </a:r>
          </a:p>
          <a:p>
            <a:pPr marL="158750" indent="0">
              <a:buFontTx/>
              <a:buNone/>
            </a:pPr>
            <a:r>
              <a:rPr lang="vi-VN" dirty="0"/>
              <a:t>Các mức:</a:t>
            </a:r>
          </a:p>
          <a:p>
            <a:pPr marL="457200" lvl="1" indent="0">
              <a:buFontTx/>
              <a:buNone/>
            </a:pPr>
            <a:r>
              <a:rPr lang="vi-VN" b="1" dirty="0"/>
              <a:t>Level 0</a:t>
            </a:r>
            <a:r>
              <a:rPr lang="vi-VN" dirty="0"/>
              <a:t>: sơ đồ ngữ cảnh (context diagram) → hệ thống IoT như một “hộp đen” kết nối với tác nhân bên ngoài.</a:t>
            </a:r>
          </a:p>
          <a:p>
            <a:pPr marL="457200" lvl="1" indent="0">
              <a:buFontTx/>
              <a:buNone/>
            </a:pPr>
            <a:r>
              <a:rPr lang="vi-VN" b="1" dirty="0"/>
              <a:t>Level 1, 2…</a:t>
            </a:r>
            <a:r>
              <a:rPr lang="vi-VN" dirty="0"/>
              <a:t>: chi tiết cách dữ liệu đi từ cảm biến → gateway → cloud → ứng dụng.</a:t>
            </a:r>
          </a:p>
          <a:p>
            <a:pPr marL="158750" indent="0">
              <a:buFontTx/>
              <a:buNone/>
            </a:pPr>
            <a:r>
              <a:rPr lang="vi-VN" dirty="0"/>
              <a:t>Ví dụ: dữ liệu nhiệt độ từ cảm biến → gateway lọc dữ liệu → cloud phân tích → dashboard hiển thị → cảnh báo gửi người dùng.</a:t>
            </a:r>
          </a:p>
          <a:p>
            <a:pPr marL="158750" indent="0">
              <a:buFontTx/>
              <a:buNone/>
            </a:pPr>
            <a:r>
              <a:rPr lang="vi-VN" b="1" dirty="0"/>
              <a:t>c. Mô hình 3 lớp IoT (Perception – Network – Application)</a:t>
            </a:r>
          </a:p>
          <a:p>
            <a:pPr marL="158750" indent="0">
              <a:buFontTx/>
              <a:buNone/>
            </a:pPr>
            <a:r>
              <a:rPr lang="vi-VN" dirty="0"/>
              <a:t>Biểu diễn yêu cầu theo 3 tầng kiến trúc logic:</a:t>
            </a:r>
          </a:p>
          <a:p>
            <a:pPr marL="457200" lvl="1" indent="0">
              <a:buFontTx/>
              <a:buNone/>
            </a:pPr>
            <a:r>
              <a:rPr lang="vi-VN" b="1" dirty="0"/>
              <a:t>Perception (Cảm nhận)</a:t>
            </a:r>
            <a:r>
              <a:rPr lang="vi-VN" dirty="0"/>
              <a:t>: loại cảm biến nào cần, lấy dữ liệu gì (nhiệt độ, độ ẩm, nhịp tim...).</a:t>
            </a:r>
          </a:p>
          <a:p>
            <a:pPr marL="457200" lvl="1" indent="0">
              <a:buFontTx/>
              <a:buNone/>
            </a:pPr>
            <a:r>
              <a:rPr lang="vi-VN" b="1" dirty="0"/>
              <a:t>Network (Mạng truyền thông)</a:t>
            </a:r>
            <a:r>
              <a:rPr lang="vi-VN" dirty="0"/>
              <a:t>: giao thức nào, băng thông, QoS, bảo mật.</a:t>
            </a:r>
          </a:p>
          <a:p>
            <a:pPr marL="457200" lvl="1" indent="0">
              <a:buFontTx/>
              <a:buNone/>
            </a:pPr>
            <a:r>
              <a:rPr lang="vi-VN" b="1" dirty="0"/>
              <a:t>Application (Ứng dụng)</a:t>
            </a:r>
            <a:r>
              <a:rPr lang="vi-VN" dirty="0"/>
              <a:t>: dịch vụ gì cho người dùng cuối (dashboard, cảnh báo, điều khiển).</a:t>
            </a:r>
          </a:p>
          <a:p>
            <a:pPr marL="158750" indent="0">
              <a:buFontTx/>
              <a:buNone/>
            </a:pPr>
            <a:r>
              <a:rPr lang="vi-VN" dirty="0"/>
              <a:t>Ưu điểm: giúp “map” yêu cầu thành </a:t>
            </a:r>
            <a:r>
              <a:rPr lang="vi-VN" b="1" dirty="0"/>
              <a:t>cấu trúc IoT điển hình</a:t>
            </a:r>
            <a:r>
              <a:rPr lang="vi-VN" dirty="0"/>
              <a:t>, dễ đối chiếu khi thiết kế vật lý.</a:t>
            </a:r>
          </a:p>
          <a:p>
            <a:pPr marL="158750" indent="0">
              <a:buFontTx/>
              <a:buNone/>
            </a:pPr>
            <a:r>
              <a:rPr lang="vi-VN" b="1" dirty="0"/>
              <a:t>2. Tổ chức tài liệu yêu cầu (SRS – Software Requirement Specification)</a:t>
            </a:r>
          </a:p>
          <a:p>
            <a:pPr marL="158750" indent="0">
              <a:buFontTx/>
              <a:buNone/>
            </a:pPr>
            <a:r>
              <a:rPr lang="vi-VN" dirty="0"/>
              <a:t>Sau khi mô hình hóa, cần biên soạn </a:t>
            </a:r>
            <a:r>
              <a:rPr lang="vi-VN" b="1" dirty="0"/>
              <a:t>tài liệu chuẩn SRS</a:t>
            </a:r>
            <a:r>
              <a:rPr lang="vi-VN" dirty="0"/>
              <a:t> để đảm bảo tất cả yêu cầu được thống nhất.</a:t>
            </a:r>
          </a:p>
          <a:p>
            <a:pPr marL="158750" indent="0">
              <a:buFontTx/>
              <a:buNone/>
            </a:pPr>
            <a:r>
              <a:rPr lang="vi-VN" dirty="0"/>
              <a:t>Một bản SRS thường gồm:</a:t>
            </a:r>
          </a:p>
          <a:p>
            <a:pPr marL="457200" lvl="1" indent="0">
              <a:buFontTx/>
              <a:buNone/>
            </a:pPr>
            <a:r>
              <a:rPr lang="vi-VN" b="1" dirty="0"/>
              <a:t>Giới thiệu</a:t>
            </a:r>
            <a:r>
              <a:rPr lang="vi-VN" dirty="0"/>
              <a:t>: mục tiêu, phạm vi.</a:t>
            </a:r>
          </a:p>
          <a:p>
            <a:pPr marL="457200" lvl="1" indent="0">
              <a:buFontTx/>
              <a:buNone/>
            </a:pPr>
            <a:r>
              <a:rPr lang="vi-VN" b="1" dirty="0"/>
              <a:t>Mô tả tổng quan</a:t>
            </a:r>
            <a:r>
              <a:rPr lang="vi-VN" dirty="0"/>
              <a:t>: môi trường, ràng buộc, giả định.</a:t>
            </a:r>
          </a:p>
          <a:p>
            <a:pPr marL="457200" lvl="1" indent="0">
              <a:buFontTx/>
              <a:buNone/>
            </a:pPr>
            <a:r>
              <a:rPr lang="vi-VN" b="1" dirty="0"/>
              <a:t>Yêu cầu chức năng</a:t>
            </a:r>
            <a:r>
              <a:rPr lang="vi-VN" dirty="0"/>
              <a:t>: các chức năng chính, use case.</a:t>
            </a:r>
          </a:p>
          <a:p>
            <a:pPr marL="457200" lvl="1" indent="0">
              <a:buFontTx/>
              <a:buNone/>
            </a:pPr>
            <a:r>
              <a:rPr lang="vi-VN" b="1" dirty="0"/>
              <a:t>Yêu cầu phi chức năng</a:t>
            </a:r>
            <a:r>
              <a:rPr lang="vi-VN" dirty="0"/>
              <a:t>: hiệu năng, bảo mật, tin cậy, mở rộng.</a:t>
            </a:r>
          </a:p>
          <a:p>
            <a:pPr marL="457200" lvl="1" indent="0">
              <a:buFontTx/>
              <a:buNone/>
            </a:pPr>
            <a:r>
              <a:rPr lang="vi-VN" b="1" dirty="0"/>
              <a:t>Ràng buộc kỹ thuật &amp; môi trường</a:t>
            </a:r>
            <a:r>
              <a:rPr lang="vi-VN" dirty="0"/>
              <a:t>.</a:t>
            </a:r>
          </a:p>
          <a:p>
            <a:pPr marL="457200" lvl="1" indent="0">
              <a:buFontTx/>
              <a:buNone/>
            </a:pPr>
            <a:r>
              <a:rPr lang="vi-VN" b="1" dirty="0"/>
              <a:t>Mô hình yêu cầu</a:t>
            </a:r>
            <a:r>
              <a:rPr lang="vi-VN" dirty="0"/>
              <a:t>: Use Case, DFD, kiến trúc 3 lớp.</a:t>
            </a:r>
          </a:p>
          <a:p>
            <a:pPr marL="158750" indent="0">
              <a:buFontTx/>
              <a:buNone/>
            </a:pPr>
            <a:r>
              <a:rPr lang="vi-VN" dirty="0"/>
              <a:t>Ưu điểm: chuẩn hóa, có thể dùng làm cơ sở cho </a:t>
            </a:r>
            <a:r>
              <a:rPr lang="vi-VN" b="1" dirty="0"/>
              <a:t>thiết kế, phát triển, kiểm thử và nghiệm thu</a:t>
            </a:r>
            <a:r>
              <a:rPr lang="vi-VN" dirty="0"/>
              <a:t>.</a:t>
            </a:r>
          </a:p>
          <a:p>
            <a:pPr marL="158750" indent="0">
              <a:buFontTx/>
              <a:buNone/>
            </a:pPr>
            <a:endParaRPr lang="en-US" b="1" dirty="0"/>
          </a:p>
          <a:p>
            <a:pPr marL="158750" indent="0">
              <a:buFontTx/>
              <a:buNone/>
            </a:pPr>
            <a:r>
              <a:rPr lang="vi-VN" b="1" dirty="0"/>
              <a:t>Kết luận:</a:t>
            </a:r>
            <a:endParaRPr lang="vi-VN" dirty="0"/>
          </a:p>
          <a:p>
            <a:pPr marL="158750" indent="0">
              <a:buFontTx/>
              <a:buNone/>
            </a:pPr>
            <a:r>
              <a:rPr lang="vi-VN" dirty="0"/>
              <a:t>Các sơ đồ (Use Case, DFD, mô hình 3 lớp) giúp </a:t>
            </a:r>
            <a:r>
              <a:rPr lang="vi-VN" b="1" dirty="0"/>
              <a:t>trực quan hóa yêu cầu</a:t>
            </a:r>
            <a:r>
              <a:rPr lang="vi-VN" dirty="0"/>
              <a:t>.</a:t>
            </a:r>
          </a:p>
          <a:p>
            <a:pPr marL="158750" indent="0">
              <a:buFontTx/>
              <a:buNone/>
            </a:pPr>
            <a:r>
              <a:rPr lang="vi-VN" dirty="0"/>
              <a:t>SRS giúp </a:t>
            </a:r>
            <a:r>
              <a:rPr lang="vi-VN" b="1" dirty="0"/>
              <a:t>chuẩn hóa yêu cầu</a:t>
            </a:r>
            <a:r>
              <a:rPr lang="vi-VN" dirty="0"/>
              <a:t> để tất cả bên liên quan (khách hàng, kỹ sư, quản lý) hiểu giống nhau.</a:t>
            </a:r>
          </a:p>
          <a:p>
            <a:pPr marL="158750" indent="0">
              <a:buFontTx/>
              <a:buNone/>
            </a:pPr>
            <a:r>
              <a:rPr lang="vi-VN" dirty="0"/>
              <a:t>Đây là bước </a:t>
            </a:r>
            <a:r>
              <a:rPr lang="vi-VN" b="1" dirty="0"/>
              <a:t>kết nối phân tích yêu cầu với thiết kế logic và vật lý</a:t>
            </a:r>
            <a:r>
              <a:rPr lang="vi-VN" dirty="0"/>
              <a:t> trong hệ thống IoT.</a:t>
            </a:r>
          </a:p>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10301477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“Xác minh và phê duyệt yêu cầu”</a:t>
            </a:r>
            <a:r>
              <a:rPr lang="vi-VN" dirty="0"/>
              <a:t>. Đây là </a:t>
            </a:r>
            <a:r>
              <a:rPr lang="vi-VN" b="1" dirty="0"/>
              <a:t>bước cuối cùng</a:t>
            </a:r>
            <a:r>
              <a:rPr lang="vi-VN" dirty="0"/>
              <a:t> trong quá trình phân tích yêu cầu của hệ thống IoT trước khi chuyển sang giai đoạn thiết kế logic.</a:t>
            </a:r>
          </a:p>
          <a:p>
            <a:pPr marL="158750" indent="0">
              <a:buFontTx/>
              <a:buNone/>
            </a:pPr>
            <a:r>
              <a:rPr lang="vi-VN" b="1" dirty="0"/>
              <a:t>1. Xem xét lại yêu cầu với tất cả bên liên quan</a:t>
            </a:r>
          </a:p>
          <a:p>
            <a:pPr marL="158750" indent="0">
              <a:buFontTx/>
              <a:buNone/>
            </a:pPr>
            <a:r>
              <a:rPr lang="vi-VN" dirty="0"/>
              <a:t>Tất cả </a:t>
            </a:r>
            <a:r>
              <a:rPr lang="vi-VN" b="1" dirty="0"/>
              <a:t>stakeholders</a:t>
            </a:r>
            <a:r>
              <a:rPr lang="vi-VN" dirty="0"/>
              <a:t> (người dùng cuối, doanh nghiệp/quản lý, nhóm kỹ thuật, IT, pháp lý) phải cùng </a:t>
            </a:r>
            <a:r>
              <a:rPr lang="vi-VN" b="1" dirty="0"/>
              <a:t>xem xét và xác nhận</a:t>
            </a:r>
            <a:r>
              <a:rPr lang="vi-VN" dirty="0"/>
              <a:t> các yêu cầu đã được thu thập.</a:t>
            </a:r>
          </a:p>
          <a:p>
            <a:pPr marL="158750" indent="0">
              <a:buFontTx/>
              <a:buNone/>
            </a:pPr>
            <a:r>
              <a:rPr lang="vi-VN" dirty="0"/>
              <a:t>Mục tiêu:</a:t>
            </a:r>
          </a:p>
          <a:p>
            <a:pPr marL="457200" lvl="1" indent="0">
              <a:buFontTx/>
              <a:buNone/>
            </a:pPr>
            <a:r>
              <a:rPr lang="vi-VN" dirty="0"/>
              <a:t>Đảm bảo yêu cầu </a:t>
            </a:r>
            <a:r>
              <a:rPr lang="vi-VN" b="1" dirty="0"/>
              <a:t>đầy đủ</a:t>
            </a:r>
            <a:r>
              <a:rPr lang="vi-VN" dirty="0"/>
              <a:t> (không bỏ sót).</a:t>
            </a:r>
          </a:p>
          <a:p>
            <a:pPr marL="457200" lvl="1" indent="0">
              <a:buFontTx/>
              <a:buNone/>
            </a:pPr>
            <a:r>
              <a:rPr lang="vi-VN" dirty="0"/>
              <a:t>Đảm bảo yêu cầu </a:t>
            </a:r>
            <a:r>
              <a:rPr lang="vi-VN" b="1" dirty="0"/>
              <a:t>chính xác</a:t>
            </a:r>
            <a:r>
              <a:rPr lang="vi-VN" dirty="0"/>
              <a:t> (phản ánh đúng nhu cầu thực tế).</a:t>
            </a:r>
          </a:p>
          <a:p>
            <a:pPr marL="457200" lvl="1" indent="0">
              <a:buFontTx/>
              <a:buNone/>
            </a:pPr>
            <a:r>
              <a:rPr lang="vi-VN" dirty="0"/>
              <a:t>Đảm bảo yêu cầu </a:t>
            </a:r>
            <a:r>
              <a:rPr lang="vi-VN" b="1" dirty="0"/>
              <a:t>khả thi</a:t>
            </a:r>
            <a:r>
              <a:rPr lang="vi-VN" dirty="0"/>
              <a:t> (phù hợp với nguồn lực, công nghệ, môi trường triển khai).</a:t>
            </a:r>
          </a:p>
          <a:p>
            <a:pPr marL="158750" indent="0">
              <a:buFontTx/>
              <a:buNone/>
            </a:pPr>
            <a:r>
              <a:rPr lang="vi-VN" dirty="0"/>
              <a:t>Nếu bỏ qua bước này → dễ dẫn đến </a:t>
            </a:r>
            <a:r>
              <a:rPr lang="vi-VN" b="1" dirty="0"/>
              <a:t>hiểu nhầm</a:t>
            </a:r>
            <a:r>
              <a:rPr lang="vi-VN" dirty="0"/>
              <a:t> giữa khách hàng và đội phát triển, gây tốn kém khi sửa đổi sau này.</a:t>
            </a:r>
          </a:p>
          <a:p>
            <a:pPr marL="158750" indent="0">
              <a:buFontTx/>
              <a:buNone/>
            </a:pPr>
            <a:r>
              <a:rPr lang="vi-VN" b="1" dirty="0"/>
              <a:t>2. Ưu tiên hóa yêu cầu</a:t>
            </a:r>
          </a:p>
          <a:p>
            <a:pPr marL="158750" indent="0">
              <a:buFontTx/>
              <a:buNone/>
            </a:pPr>
            <a:r>
              <a:rPr lang="vi-VN" dirty="0"/>
              <a:t>Không phải yêu cầu nào cũng có tầm quan trọng như nhau.</a:t>
            </a:r>
          </a:p>
          <a:p>
            <a:pPr marL="158750" indent="0">
              <a:buFontTx/>
              <a:buNone/>
            </a:pPr>
            <a:r>
              <a:rPr lang="vi-VN" dirty="0"/>
              <a:t>Cần phân loại theo mức độ ưu tiên, ví dụ với mô hình </a:t>
            </a:r>
            <a:r>
              <a:rPr lang="vi-VN" b="1" dirty="0"/>
              <a:t>MoSCoW</a:t>
            </a:r>
            <a:r>
              <a:rPr lang="vi-VN" dirty="0"/>
              <a:t>:</a:t>
            </a:r>
          </a:p>
          <a:p>
            <a:pPr marL="457200" lvl="1" indent="0">
              <a:buFontTx/>
              <a:buNone/>
            </a:pPr>
            <a:r>
              <a:rPr lang="vi-VN" b="1" dirty="0"/>
              <a:t>Must-have</a:t>
            </a:r>
            <a:r>
              <a:rPr lang="vi-VN" dirty="0"/>
              <a:t>: bắt buộc phải có để hệ thống hoạt động (ví dụ: cảm biến phải gửi dữ liệu chính xác, hệ thống phải có bảo mật cơ bản).</a:t>
            </a:r>
          </a:p>
          <a:p>
            <a:pPr marL="457200" lvl="1" indent="0">
              <a:buFontTx/>
              <a:buNone/>
            </a:pPr>
            <a:r>
              <a:rPr lang="vi-VN" b="1" dirty="0"/>
              <a:t>Should-have</a:t>
            </a:r>
            <a:r>
              <a:rPr lang="vi-VN" dirty="0"/>
              <a:t>: nên có, giúp hệ thống tốt hơn nhưng vẫn có thể hoạt động nếu thiếu (ví dụ: báo cáo phân tích nâng cao, dashboard tùy chỉnh).</a:t>
            </a:r>
          </a:p>
          <a:p>
            <a:pPr marL="457200" lvl="1" indent="0">
              <a:buFontTx/>
              <a:buNone/>
            </a:pPr>
            <a:r>
              <a:rPr lang="vi-VN" b="1" dirty="0"/>
              <a:t>Nice-to-have</a:t>
            </a:r>
            <a:r>
              <a:rPr lang="vi-VN" dirty="0"/>
              <a:t>: tính năng bổ sung, không ảnh hưởng nếu chưa có (ví dụ: giao diện dark mode, thống kê gamification).</a:t>
            </a:r>
          </a:p>
          <a:p>
            <a:pPr marL="158750" indent="0">
              <a:buFontTx/>
              <a:buNone/>
            </a:pPr>
            <a:r>
              <a:rPr lang="vi-VN" dirty="0"/>
              <a:t>Việc ưu tiên giúp </a:t>
            </a:r>
            <a:r>
              <a:rPr lang="vi-VN" b="1" dirty="0"/>
              <a:t>quản lý phạm vi dự án</a:t>
            </a:r>
            <a:r>
              <a:rPr lang="vi-VN" dirty="0"/>
              <a:t>, nhất là khi ngân sách hoặc thời gian hạn chế.</a:t>
            </a:r>
          </a:p>
          <a:p>
            <a:pPr marL="158750" indent="0">
              <a:buFontTx/>
              <a:buNone/>
            </a:pPr>
            <a:r>
              <a:rPr lang="vi-VN" b="1" dirty="0"/>
              <a:t>3. Chốt bộ yêu cầu chính thức</a:t>
            </a:r>
          </a:p>
          <a:p>
            <a:pPr marL="158750" indent="0">
              <a:buFontTx/>
              <a:buNone/>
            </a:pPr>
            <a:r>
              <a:rPr lang="vi-VN" dirty="0"/>
              <a:t>Sau khi thống nhất và ưu tiên, toàn bộ yêu cầu sẽ được </a:t>
            </a:r>
            <a:r>
              <a:rPr lang="vi-VN" b="1" dirty="0"/>
              <a:t>đóng gói trong một tài liệu chính thức</a:t>
            </a:r>
            <a:r>
              <a:rPr lang="vi-VN" dirty="0"/>
              <a:t> (thường là </a:t>
            </a:r>
            <a:r>
              <a:rPr lang="vi-VN" b="1" dirty="0"/>
              <a:t>SRS – Software Requirement Specification</a:t>
            </a:r>
            <a:r>
              <a:rPr lang="vi-VN" dirty="0"/>
              <a:t>).</a:t>
            </a:r>
          </a:p>
          <a:p>
            <a:pPr marL="158750" indent="0">
              <a:buFontTx/>
              <a:buNone/>
            </a:pPr>
            <a:r>
              <a:rPr lang="vi-VN" dirty="0"/>
              <a:t>Đây là </a:t>
            </a:r>
            <a:r>
              <a:rPr lang="vi-VN" b="1" dirty="0"/>
              <a:t>tài liệu tham chiếu duy nhất</a:t>
            </a:r>
            <a:r>
              <a:rPr lang="vi-VN" dirty="0"/>
              <a:t> cho các bước tiếp theo: thiết kế logic, thiết kế vật lý, triển khai, kiểm thử.</a:t>
            </a:r>
          </a:p>
          <a:p>
            <a:pPr marL="158750" indent="0">
              <a:buFontTx/>
              <a:buNone/>
            </a:pPr>
            <a:r>
              <a:rPr lang="vi-VN" dirty="0"/>
              <a:t>Bộ yêu cầu chính thức có tác dụng như </a:t>
            </a:r>
            <a:r>
              <a:rPr lang="vi-VN" b="1" dirty="0"/>
              <a:t>“hợp đồng”</a:t>
            </a:r>
            <a:r>
              <a:rPr lang="vi-VN" dirty="0"/>
              <a:t> giữa khách hàng và đội phát triển.</a:t>
            </a:r>
          </a:p>
          <a:p>
            <a:pPr marL="158750" indent="0">
              <a:buFontTx/>
              <a:buNone/>
            </a:pPr>
            <a:endParaRPr lang="en-US" b="1" dirty="0"/>
          </a:p>
          <a:p>
            <a:pPr marL="158750" indent="0">
              <a:buFontTx/>
              <a:buNone/>
            </a:pPr>
            <a:r>
              <a:rPr lang="vi-VN" b="1" dirty="0"/>
              <a:t>Kết luận:</a:t>
            </a:r>
            <a:br>
              <a:rPr lang="vi-VN" dirty="0"/>
            </a:br>
            <a:r>
              <a:rPr lang="vi-VN" dirty="0"/>
              <a:t>Bước </a:t>
            </a:r>
            <a:r>
              <a:rPr lang="vi-VN" i="1" dirty="0"/>
              <a:t>Xác minh và phê duyệt yêu cầu</a:t>
            </a:r>
            <a:r>
              <a:rPr lang="vi-VN" dirty="0"/>
              <a:t> đảm bảo rằng:</a:t>
            </a:r>
          </a:p>
          <a:p>
            <a:pPr marL="158750" indent="0">
              <a:buFontTx/>
              <a:buNone/>
            </a:pPr>
            <a:r>
              <a:rPr lang="vi-VN" dirty="0"/>
              <a:t>Tất cả bên liên quan </a:t>
            </a:r>
            <a:r>
              <a:rPr lang="vi-VN" b="1" dirty="0"/>
              <a:t>đồng thuận</a:t>
            </a:r>
            <a:r>
              <a:rPr lang="vi-VN" dirty="0"/>
              <a:t> với yêu cầu.</a:t>
            </a:r>
          </a:p>
          <a:p>
            <a:pPr marL="158750" indent="0">
              <a:buFontTx/>
              <a:buNone/>
            </a:pPr>
            <a:r>
              <a:rPr lang="vi-VN" dirty="0"/>
              <a:t>Các yêu cầu được </a:t>
            </a:r>
            <a:r>
              <a:rPr lang="vi-VN" b="1" dirty="0"/>
              <a:t>ưu tiên hợp lý</a:t>
            </a:r>
            <a:r>
              <a:rPr lang="vi-VN" dirty="0"/>
              <a:t>, tránh “ôm đồm”.</a:t>
            </a:r>
          </a:p>
          <a:p>
            <a:pPr marL="158750" indent="0">
              <a:buFontTx/>
              <a:buNone/>
            </a:pPr>
            <a:r>
              <a:rPr lang="vi-VN" dirty="0"/>
              <a:t>Có một </a:t>
            </a:r>
            <a:r>
              <a:rPr lang="vi-VN" b="1" dirty="0"/>
              <a:t>bộ yêu cầu chính thức, chuẩn hóa</a:t>
            </a:r>
            <a:r>
              <a:rPr lang="vi-VN" dirty="0"/>
              <a:t> để chuyển sang giai đoạn thiết kế logic.</a:t>
            </a:r>
          </a:p>
          <a:p>
            <a:pPr marL="158750" indent="0">
              <a:buFontTx/>
              <a:buNone/>
            </a:pPr>
            <a:r>
              <a:rPr lang="en-US" dirty="0"/>
              <a:t>=&gt; </a:t>
            </a:r>
            <a:r>
              <a:rPr lang="vi-VN" dirty="0"/>
              <a:t>Đây là bước then chốt để hạn chế rủi ro, tiết kiệm chi phí và tránh việc </a:t>
            </a:r>
            <a:r>
              <a:rPr lang="vi-VN" b="1" dirty="0"/>
              <a:t>“xây sai cái mà khách hàng cần”</a:t>
            </a:r>
            <a:r>
              <a:rPr lang="vi-VN" dirty="0"/>
              <a:t>.</a:t>
            </a:r>
          </a:p>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32062517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f85ea0e8d5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f85ea0e8d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FontTx/>
              <a:buNone/>
            </a:pPr>
            <a:r>
              <a:rPr lang="vi-VN" b="1" dirty="0"/>
              <a:t>Các bước phân tích yêu cầu hệ thống IoT</a:t>
            </a:r>
          </a:p>
          <a:p>
            <a:pPr marL="158750" indent="0">
              <a:buFontTx/>
              <a:buNone/>
            </a:pPr>
            <a:r>
              <a:rPr lang="vi-VN" b="1" dirty="0"/>
              <a:t>Xác định mục tiêu &amp; phạm vi</a:t>
            </a:r>
            <a:endParaRPr lang="vi-VN" dirty="0"/>
          </a:p>
          <a:p>
            <a:pPr marL="457200" lvl="1" indent="0">
              <a:buFontTx/>
              <a:buNone/>
            </a:pPr>
            <a:r>
              <a:rPr lang="vi-VN" dirty="0"/>
              <a:t>Hệ thống IoT nhằm giải quyết vấn đề gì? (giám sát, tự động hóa, tối ưu hóa).</a:t>
            </a:r>
          </a:p>
          <a:p>
            <a:pPr marL="457200" lvl="1" indent="0">
              <a:buFontTx/>
              <a:buNone/>
            </a:pPr>
            <a:r>
              <a:rPr lang="vi-VN" dirty="0"/>
              <a:t>Phạm vi triển khai: quy mô, môi trường, số lượng thiết bị.</a:t>
            </a:r>
          </a:p>
          <a:p>
            <a:pPr marL="457200" lvl="1" indent="0">
              <a:buFontTx/>
              <a:buNone/>
            </a:pPr>
            <a:r>
              <a:rPr lang="vi-VN" dirty="0"/>
              <a:t>Đặt tiêu chí thành công (KPIs: độ chính xác, độ trễ, độ tin cậy, chi phí).</a:t>
            </a:r>
          </a:p>
          <a:p>
            <a:pPr marL="158750" indent="0">
              <a:buFontTx/>
              <a:buNone/>
            </a:pPr>
            <a:r>
              <a:rPr lang="vi-VN" b="1" dirty="0"/>
              <a:t>Thu thập yêu cầu từ stakeholders (các bên liên quan)</a:t>
            </a:r>
            <a:endParaRPr lang="vi-VN" dirty="0"/>
          </a:p>
          <a:p>
            <a:pPr marL="457200" lvl="1" indent="0">
              <a:buFontTx/>
              <a:buNone/>
            </a:pPr>
            <a:r>
              <a:rPr lang="vi-VN" dirty="0"/>
              <a:t>Người dùng cuối: mong muốn hiển thị, cảnh báo, điều khiển.</a:t>
            </a:r>
          </a:p>
          <a:p>
            <a:pPr marL="457200" lvl="1" indent="0">
              <a:buFontTx/>
              <a:buNone/>
            </a:pPr>
            <a:r>
              <a:rPr lang="vi-VN" dirty="0"/>
              <a:t>Quản lý/doanh nghiệp: hiệu quả, báo cáo, mở rộng.</a:t>
            </a:r>
          </a:p>
          <a:p>
            <a:pPr marL="457200" lvl="1" indent="0">
              <a:buFontTx/>
              <a:buNone/>
            </a:pPr>
            <a:r>
              <a:rPr lang="vi-VN" dirty="0"/>
              <a:t>Kỹ thuật/IT: tích hợp, giao thức, bảo mật.</a:t>
            </a:r>
          </a:p>
          <a:p>
            <a:pPr marL="457200" lvl="1" indent="0">
              <a:buFontTx/>
              <a:buNone/>
            </a:pPr>
            <a:r>
              <a:rPr lang="vi-VN" dirty="0"/>
              <a:t>Phương pháp: phỏng vấn, khảo sát, quan sát thực tế.</a:t>
            </a:r>
          </a:p>
          <a:p>
            <a:pPr marL="158750" indent="0">
              <a:buFontTx/>
              <a:buNone/>
            </a:pPr>
            <a:r>
              <a:rPr lang="vi-VN" b="1" dirty="0"/>
              <a:t>Xác định yêu cầu chức năng</a:t>
            </a:r>
            <a:endParaRPr lang="vi-VN" dirty="0"/>
          </a:p>
          <a:p>
            <a:pPr marL="457200" lvl="1" indent="0">
              <a:buFontTx/>
              <a:buNone/>
            </a:pPr>
            <a:r>
              <a:rPr lang="vi-VN" dirty="0"/>
              <a:t>Hệ thống phải làm được gì?</a:t>
            </a:r>
          </a:p>
          <a:p>
            <a:pPr marL="457200" lvl="1" indent="0">
              <a:buFontTx/>
              <a:buNone/>
            </a:pPr>
            <a:r>
              <a:rPr lang="vi-VN" dirty="0"/>
              <a:t>Ví dụ: thu thập dữ liệu, truyền về gateway/cloud, lưu trữ – phân tích, hiển thị, điều khiển thiết bị.</a:t>
            </a:r>
          </a:p>
          <a:p>
            <a:pPr marL="457200" lvl="1" indent="0">
              <a:buFontTx/>
              <a:buNone/>
            </a:pPr>
            <a:r>
              <a:rPr lang="vi-VN" dirty="0"/>
              <a:t>Thể hiện bằng use case, luồng công việc.</a:t>
            </a:r>
          </a:p>
          <a:p>
            <a:pPr marL="158750" indent="0">
              <a:buFontTx/>
              <a:buNone/>
            </a:pPr>
            <a:r>
              <a:rPr lang="vi-VN" b="1" dirty="0"/>
              <a:t>Xác định yêu cầu phi chức năng</a:t>
            </a:r>
            <a:endParaRPr lang="vi-VN" dirty="0"/>
          </a:p>
          <a:p>
            <a:pPr marL="457200" lvl="1" indent="0">
              <a:buFontTx/>
              <a:buNone/>
            </a:pPr>
            <a:r>
              <a:rPr lang="vi-VN" dirty="0"/>
              <a:t>Chất lượng hệ thống cần đạt:</a:t>
            </a:r>
          </a:p>
          <a:p>
            <a:pPr marL="914400" lvl="2" indent="0">
              <a:buFontTx/>
              <a:buNone/>
            </a:pPr>
            <a:r>
              <a:rPr lang="vi-VN" dirty="0"/>
              <a:t>Hiệu năng (độ trễ, tần suất, chịu tải).</a:t>
            </a:r>
          </a:p>
          <a:p>
            <a:pPr marL="914400" lvl="2" indent="0">
              <a:buFontTx/>
              <a:buNone/>
            </a:pPr>
            <a:r>
              <a:rPr lang="vi-VN" dirty="0"/>
              <a:t>Bảo mật (mã hóa, xác thực, phân quyền).</a:t>
            </a:r>
          </a:p>
          <a:p>
            <a:pPr marL="914400" lvl="2" indent="0">
              <a:buFontTx/>
              <a:buNone/>
            </a:pPr>
            <a:r>
              <a:rPr lang="vi-VN" dirty="0"/>
              <a:t>Độ tin cậy (dự phòng, phục hồi).</a:t>
            </a:r>
          </a:p>
          <a:p>
            <a:pPr marL="914400" lvl="2" indent="0">
              <a:buFontTx/>
              <a:buNone/>
            </a:pPr>
            <a:r>
              <a:rPr lang="vi-VN" dirty="0"/>
              <a:t>Mở rộng (thêm thiết bị, tích hợp cloud).</a:t>
            </a:r>
          </a:p>
          <a:p>
            <a:pPr marL="914400" lvl="2" indent="0">
              <a:buFontTx/>
              <a:buNone/>
            </a:pPr>
            <a:r>
              <a:rPr lang="vi-VN" dirty="0"/>
              <a:t>Chi phí, năng lượng (pin, băng thông, hạ tầng).</a:t>
            </a:r>
          </a:p>
          <a:p>
            <a:pPr marL="158750" indent="0">
              <a:buFontTx/>
              <a:buNone/>
            </a:pPr>
            <a:r>
              <a:rPr lang="vi-VN" b="1" dirty="0"/>
              <a:t>Phân tích ràng buộc</a:t>
            </a:r>
            <a:endParaRPr lang="vi-VN" dirty="0"/>
          </a:p>
          <a:p>
            <a:pPr marL="457200" lvl="1" indent="0">
              <a:buFontTx/>
              <a:buNone/>
            </a:pPr>
            <a:r>
              <a:rPr lang="vi-VN" dirty="0"/>
              <a:t>Môi trường: nhiệt độ, độ ẩm, nhiễu sóng, nguồn cấp.</a:t>
            </a:r>
          </a:p>
          <a:p>
            <a:pPr marL="457200" lvl="1" indent="0">
              <a:buFontTx/>
              <a:buNone/>
            </a:pPr>
            <a:r>
              <a:rPr lang="vi-VN" dirty="0"/>
              <a:t>Pháp lý: quy định tần số, bảo mật dữ liệu cá nhân.</a:t>
            </a:r>
          </a:p>
          <a:p>
            <a:pPr marL="457200" lvl="1" indent="0">
              <a:buFontTx/>
              <a:buNone/>
            </a:pPr>
            <a:r>
              <a:rPr lang="vi-VN" dirty="0"/>
              <a:t>Tài nguyên thiết bị: giới hạn CPU, bộ nhớ, pin.</a:t>
            </a:r>
          </a:p>
          <a:p>
            <a:pPr marL="158750" indent="0">
              <a:buFontTx/>
              <a:buNone/>
            </a:pPr>
            <a:r>
              <a:rPr lang="vi-VN" b="1" dirty="0"/>
              <a:t>Mô hình hóa yêu cầu</a:t>
            </a:r>
            <a:endParaRPr lang="vi-VN" dirty="0"/>
          </a:p>
          <a:p>
            <a:pPr marL="457200" lvl="1" indent="0">
              <a:buFontTx/>
              <a:buNone/>
            </a:pPr>
            <a:r>
              <a:rPr lang="vi-VN" dirty="0"/>
              <a:t>Dùng sơ đồ Use Case, DFD hoặc mô hình 3 lớp IoT (Perception – Network – Application).</a:t>
            </a:r>
          </a:p>
          <a:p>
            <a:pPr marL="457200" lvl="1" indent="0">
              <a:buFontTx/>
              <a:buNone/>
            </a:pPr>
            <a:r>
              <a:rPr lang="vi-VN" dirty="0"/>
              <a:t>Tổ chức thành tài liệu chuẩn hóa (SRS).</a:t>
            </a:r>
          </a:p>
          <a:p>
            <a:pPr marL="158750" indent="0">
              <a:buFontTx/>
              <a:buNone/>
            </a:pPr>
            <a:r>
              <a:rPr lang="vi-VN" b="1" dirty="0"/>
              <a:t>Xác minh &amp; phê duyệt yêu cầu</a:t>
            </a:r>
            <a:endParaRPr lang="vi-VN" dirty="0"/>
          </a:p>
          <a:p>
            <a:pPr marL="457200" lvl="1" indent="0">
              <a:buFontTx/>
              <a:buNone/>
            </a:pPr>
            <a:r>
              <a:rPr lang="vi-VN" dirty="0"/>
              <a:t>Xem xét lại với tất cả bên liên quan.</a:t>
            </a:r>
          </a:p>
          <a:p>
            <a:pPr marL="457200" lvl="1" indent="0">
              <a:buFontTx/>
              <a:buNone/>
            </a:pPr>
            <a:r>
              <a:rPr lang="vi-VN" dirty="0"/>
              <a:t>Ưu tiên hóa (must-have, should-have, nice-to-have).</a:t>
            </a:r>
          </a:p>
          <a:p>
            <a:pPr marL="457200" lvl="1" indent="0">
              <a:buFontTx/>
              <a:buNone/>
            </a:pPr>
            <a:r>
              <a:rPr lang="vi-VN" dirty="0"/>
              <a:t>Chốt bộ yêu cầu chính thức trước khi sang thiết kế logic.</a:t>
            </a:r>
            <a:endParaRPr lang="en-US" dirty="0"/>
          </a:p>
          <a:p>
            <a:pPr marL="457200" lvl="1" indent="0">
              <a:buFontTx/>
              <a:buNone/>
            </a:pPr>
            <a:endParaRPr lang="en-US" b="1" dirty="0"/>
          </a:p>
          <a:p>
            <a:pPr marL="457200" lvl="1" indent="0">
              <a:buFontTx/>
              <a:buNone/>
            </a:pPr>
            <a:r>
              <a:rPr lang="vi-VN" b="1" dirty="0"/>
              <a:t>Kết luận cho sinh viên:</a:t>
            </a:r>
            <a:br>
              <a:rPr lang="vi-VN" dirty="0"/>
            </a:br>
            <a:r>
              <a:rPr lang="vi-VN" dirty="0"/>
              <a:t>Phân tích yêu cầu hệ thống IoT không chỉ dừng ở việc “muốn làm gì” mà còn bao gồm “làm như thế nào, trong điều kiện nào, và theo chuẩn nào”. Đây là </a:t>
            </a:r>
            <a:r>
              <a:rPr lang="vi-VN" b="1" dirty="0"/>
              <a:t>cầu nối quan trọng</a:t>
            </a:r>
            <a:r>
              <a:rPr lang="vi-VN" dirty="0"/>
              <a:t> giữa ý tưởng và thiết kế/triển khai, giúp hệ thống IoT vận hành </a:t>
            </a:r>
            <a:r>
              <a:rPr lang="vi-VN" b="1" dirty="0"/>
              <a:t>đúng nhu cầu, bền vững, an toàn và khả thi</a:t>
            </a:r>
            <a:r>
              <a:rPr lang="vi-VN" dirty="0"/>
              <a:t>.</a:t>
            </a:r>
          </a:p>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1200909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2" name="Google Shape;12;p2"/>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a:p>
        </p:txBody>
      </p:sp>
      <p:sp>
        <p:nvSpPr>
          <p:cNvPr id="13" name="Google Shape;13;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7" name="Google Shape;17;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2"/>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6" name="Google Shape;36;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0" name="Google Shape;40;p9"/>
          <p:cNvSpPr txBox="1">
            <a:spLocks noGrp="1"/>
          </p:cNvSpPr>
          <p:nvPr>
            <p:ph type="title"/>
          </p:nvPr>
        </p:nvSpPr>
        <p:spPr>
          <a:xfrm>
            <a:off x="265500" y="1181700"/>
            <a:ext cx="4045200" cy="15336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1" name="Google Shape;41;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2" name="Google Shape;42;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3" name="Google Shape;43;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6" name="Google Shape;46;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1"/>
          <p:cNvSpPr txBox="1">
            <a:spLocks noGrp="1"/>
          </p:cNvSpPr>
          <p:nvPr>
            <p:ph type="title" hasCustomPrompt="1"/>
          </p:nvPr>
        </p:nvSpPr>
        <p:spPr>
          <a:xfrm>
            <a:off x="311700" y="743001"/>
            <a:ext cx="8520600" cy="200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a:spLocks noGrp="1"/>
          </p:cNvSpPr>
          <p:nvPr>
            <p:ph type="body" idx="1"/>
          </p:nvPr>
        </p:nvSpPr>
        <p:spPr>
          <a:xfrm>
            <a:off x="311700" y="2845182"/>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51" name="Google Shape;51;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l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marL="914400" lvl="1"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marL="1371600" lvl="2"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marL="1828800" lvl="3"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marL="2286000" lvl="4"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marL="2743200" lvl="5"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marL="3200400" lvl="6"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marL="3657600" lvl="7"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marL="4114800" lvl="8" indent="-3175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C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333100" y="1125475"/>
            <a:ext cx="8183700" cy="1473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CA"/>
              <a:t>Chap 4 Thiết Kế Hệ Thống IoT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b="1" u="sng" dirty="0" err="1"/>
              <a:t>Xác</a:t>
            </a:r>
            <a:r>
              <a:rPr lang="en-US" b="1" u="sng" dirty="0"/>
              <a:t> </a:t>
            </a:r>
            <a:r>
              <a:rPr lang="en-US" b="1" u="sng" dirty="0" err="1"/>
              <a:t>định</a:t>
            </a:r>
            <a:r>
              <a:rPr lang="en-US" b="1" u="sng" dirty="0"/>
              <a:t> </a:t>
            </a:r>
            <a:r>
              <a:rPr lang="en-US" b="1" u="sng" dirty="0" err="1"/>
              <a:t>mục</a:t>
            </a:r>
            <a:r>
              <a:rPr lang="en-US" b="1" u="sng" dirty="0"/>
              <a:t> </a:t>
            </a:r>
            <a:r>
              <a:rPr lang="en-US" b="1" u="sng" dirty="0" err="1"/>
              <a:t>tiêu</a:t>
            </a:r>
            <a:r>
              <a:rPr lang="en-US" b="1" u="sng" dirty="0"/>
              <a:t> </a:t>
            </a:r>
            <a:r>
              <a:rPr lang="en-US" b="1" u="sng" dirty="0" err="1"/>
              <a:t>và</a:t>
            </a:r>
            <a:r>
              <a:rPr lang="en-US" b="1" u="sng" dirty="0"/>
              <a:t> </a:t>
            </a:r>
            <a:r>
              <a:rPr lang="en-US" b="1" u="sng" dirty="0" err="1"/>
              <a:t>phạm</a:t>
            </a:r>
            <a:r>
              <a:rPr lang="en-US" b="1" u="sng" dirty="0"/>
              <a:t> vi </a:t>
            </a:r>
            <a:r>
              <a:rPr lang="en-US" b="1" u="sng" dirty="0" err="1"/>
              <a:t>hệ</a:t>
            </a:r>
            <a:r>
              <a:rPr lang="en-US" b="1" u="sng" dirty="0"/>
              <a:t> </a:t>
            </a:r>
            <a:r>
              <a:rPr lang="en-US" b="1" u="sng" dirty="0" err="1"/>
              <a:t>thống</a:t>
            </a:r>
            <a:endParaRPr lang="en-US" b="1" u="sng" dirty="0"/>
          </a:p>
          <a:p>
            <a:pPr marL="0" lvl="0" indent="0" algn="l" rtl="0">
              <a:spcBef>
                <a:spcPts val="0"/>
              </a:spcBef>
              <a:spcAft>
                <a:spcPts val="1200"/>
              </a:spcAft>
              <a:buNone/>
            </a:pPr>
            <a:endParaRPr lang="en-US" b="1" u="sng" dirty="0"/>
          </a:p>
          <a:p>
            <a:pPr marL="285750" lvl="0" indent="-285750" algn="l" rtl="0">
              <a:spcBef>
                <a:spcPts val="0"/>
              </a:spcBef>
              <a:spcAft>
                <a:spcPts val="1200"/>
              </a:spcAft>
              <a:buFontTx/>
              <a:buChar char="-"/>
            </a:pPr>
            <a:r>
              <a:rPr lang="vi-VN" dirty="0"/>
              <a:t>Làm rõ hệ thống IoT nhằm giải quyết vấn đề gì (giám sát, tự động hóa, tối ưu hóa…).</a:t>
            </a:r>
            <a:endParaRPr lang="en-US" dirty="0"/>
          </a:p>
          <a:p>
            <a:pPr marL="285750" indent="-285750">
              <a:spcAft>
                <a:spcPts val="1200"/>
              </a:spcAft>
              <a:buFontTx/>
              <a:buChar char="-"/>
            </a:pPr>
            <a:r>
              <a:rPr lang="vi-VN" dirty="0"/>
              <a:t>Xác định phạm vi triển khai: số lượng thiết bị, môi trường hoạt động (nhà xưởng, nông nghiệp, y tế…).</a:t>
            </a:r>
            <a:endParaRPr lang="en-US" dirty="0"/>
          </a:p>
          <a:p>
            <a:pPr marL="285750" indent="-285750">
              <a:spcAft>
                <a:spcPts val="1200"/>
              </a:spcAft>
              <a:buFontTx/>
              <a:buChar char="-"/>
            </a:pPr>
            <a:r>
              <a:rPr lang="vi-VN" dirty="0"/>
              <a:t>Đặt ra tiêu chí thành công (KPIs): độ chính xác, độ trễ, độ tin cậy, chi phí.</a:t>
            </a:r>
          </a:p>
          <a:p>
            <a:pPr marL="0" indent="0">
              <a:spcAft>
                <a:spcPts val="1200"/>
              </a:spcAft>
              <a:buNone/>
            </a:pPr>
            <a:endParaRPr lang="vi-VN" dirty="0"/>
          </a:p>
          <a:p>
            <a:pPr marL="285750" lvl="0" indent="-285750" algn="l" rtl="0">
              <a:spcBef>
                <a:spcPts val="0"/>
              </a:spcBef>
              <a:spcAft>
                <a:spcPts val="1200"/>
              </a:spcAft>
              <a:buFontTx/>
              <a:buChar char="-"/>
            </a:pPr>
            <a:endParaRPr lang="vi-VN" dirty="0"/>
          </a:p>
          <a:p>
            <a:pPr marL="0" lvl="0" indent="0" algn="l" rtl="0">
              <a:spcBef>
                <a:spcPts val="0"/>
              </a:spcBef>
              <a:spcAft>
                <a:spcPts val="1200"/>
              </a:spcAft>
              <a:buNone/>
            </a:pPr>
            <a:endParaRPr lang="vi-VN" dirty="0"/>
          </a:p>
          <a:p>
            <a:pPr marL="0" lvl="0" indent="0" algn="l" rtl="0">
              <a:spcBef>
                <a:spcPts val="0"/>
              </a:spcBef>
              <a:spcAft>
                <a:spcPts val="1200"/>
              </a:spcAft>
              <a:buNone/>
            </a:pPr>
            <a:endParaRPr lang="vi-V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5"/>
            <a:ext cx="8520600" cy="360972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1200"/>
              </a:spcAft>
              <a:buNone/>
            </a:pPr>
            <a:r>
              <a:rPr lang="vi-VN" b="1" u="sng" dirty="0"/>
              <a:t>Case Study</a:t>
            </a:r>
            <a:r>
              <a:rPr lang="en-US" b="1" u="sng" dirty="0"/>
              <a:t> 1</a:t>
            </a:r>
            <a:r>
              <a:rPr lang="vi-VN" b="1" u="sng" dirty="0"/>
              <a:t>: Hệ thống IoT giám sát và tưới tiêu tự động cho nông trại rau sạch</a:t>
            </a:r>
            <a:endParaRPr lang="en-US" b="1" u="sng" dirty="0"/>
          </a:p>
          <a:p>
            <a:pPr marL="0" lvl="0" indent="0" algn="l" rtl="0">
              <a:spcBef>
                <a:spcPts val="0"/>
              </a:spcBef>
              <a:spcAft>
                <a:spcPts val="1200"/>
              </a:spcAft>
              <a:buNone/>
            </a:pPr>
            <a:r>
              <a:rPr lang="vi-VN" b="1" dirty="0"/>
              <a:t>1. Mục tiêu hệ thống</a:t>
            </a:r>
          </a:p>
          <a:p>
            <a:pPr marL="285750" lvl="0" indent="-285750" algn="l" rtl="0">
              <a:spcBef>
                <a:spcPts val="0"/>
              </a:spcBef>
              <a:spcAft>
                <a:spcPts val="1200"/>
              </a:spcAft>
              <a:buFontTx/>
              <a:buChar char="-"/>
            </a:pPr>
            <a:r>
              <a:rPr lang="vi-VN" dirty="0"/>
              <a:t>Vấn đề thực tế:</a:t>
            </a:r>
            <a:r>
              <a:rPr lang="en-US" dirty="0"/>
              <a:t> </a:t>
            </a:r>
            <a:r>
              <a:rPr lang="vi-VN" dirty="0"/>
              <a:t>Nông dân thường phải kiểm tra thủ công độ ẩm đất, nhiệt độ, ánh sáng… Việc này tốn công sức, thiếu chính xác và dẫn đến tình trạng tưới nước không hợp lý (quá ít → cây héo, quá nhiều → úng rễ).</a:t>
            </a:r>
          </a:p>
          <a:p>
            <a:pPr marL="285750" lvl="0" indent="-285750" algn="l" rtl="0">
              <a:spcBef>
                <a:spcPts val="0"/>
              </a:spcBef>
              <a:spcAft>
                <a:spcPts val="1200"/>
              </a:spcAft>
              <a:buFontTx/>
              <a:buChar char="-"/>
            </a:pPr>
            <a:r>
              <a:rPr lang="vi-VN" dirty="0"/>
              <a:t>Mục tiêu IoT:</a:t>
            </a:r>
          </a:p>
          <a:p>
            <a:pPr marL="742950" lvl="1" indent="-285750">
              <a:spcAft>
                <a:spcPts val="1200"/>
              </a:spcAft>
              <a:buFontTx/>
              <a:buChar char="-"/>
            </a:pPr>
            <a:r>
              <a:rPr lang="vi-VN" dirty="0"/>
              <a:t>Giám sát tự động các chỉ số môi trường: nhiệt độ, độ ẩm đất, độ ẩm không khí, ánh sáng.</a:t>
            </a:r>
          </a:p>
          <a:p>
            <a:pPr marL="742950" lvl="1" indent="-285750">
              <a:spcAft>
                <a:spcPts val="1200"/>
              </a:spcAft>
              <a:buFontTx/>
              <a:buChar char="-"/>
            </a:pPr>
            <a:r>
              <a:rPr lang="vi-VN" dirty="0"/>
              <a:t>Tưới tiêu tự động: bật/tắt bơm nước khi độ ẩm đất xuống dưới ngưỡng.</a:t>
            </a:r>
          </a:p>
          <a:p>
            <a:pPr marL="742950" lvl="1" indent="-285750">
              <a:spcAft>
                <a:spcPts val="1200"/>
              </a:spcAft>
              <a:buFontTx/>
              <a:buChar char="-"/>
            </a:pPr>
            <a:r>
              <a:rPr lang="vi-VN" dirty="0"/>
              <a:t>Cảnh báo thông minh: gửi thông báo về điện thoại nếu nhiệt độ quá cao hoặc bơm nước gặp sự cố.</a:t>
            </a:r>
          </a:p>
          <a:p>
            <a:pPr marL="285750" lvl="0" indent="-285750" algn="l" rtl="0">
              <a:spcBef>
                <a:spcPts val="0"/>
              </a:spcBef>
              <a:spcAft>
                <a:spcPts val="1200"/>
              </a:spcAft>
              <a:buFontTx/>
              <a:buChar char="-"/>
            </a:pPr>
            <a:r>
              <a:rPr lang="vi-VN" dirty="0"/>
              <a:t>Kỳ vọng: tiết kiệm 30–40% lượng nước, giảm công lao động, tăng năng suất rau.</a:t>
            </a:r>
          </a:p>
          <a:p>
            <a:pPr marL="0" lvl="0" indent="0" algn="l" rtl="0">
              <a:spcBef>
                <a:spcPts val="0"/>
              </a:spcBef>
              <a:spcAft>
                <a:spcPts val="1200"/>
              </a:spcAft>
              <a:buNone/>
            </a:pPr>
            <a:endParaRPr lang="vi-VN" dirty="0"/>
          </a:p>
          <a:p>
            <a:pPr marL="0" lvl="0" indent="0" algn="l" rtl="0">
              <a:spcBef>
                <a:spcPts val="0"/>
              </a:spcBef>
              <a:spcAft>
                <a:spcPts val="1200"/>
              </a:spcAft>
              <a:buNone/>
            </a:pPr>
            <a:endParaRPr lang="vi-VN" dirty="0"/>
          </a:p>
        </p:txBody>
      </p:sp>
    </p:spTree>
    <p:extLst>
      <p:ext uri="{BB962C8B-B14F-4D97-AF65-F5344CB8AC3E}">
        <p14:creationId xmlns:p14="http://schemas.microsoft.com/office/powerpoint/2010/main" val="3856515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5"/>
            <a:ext cx="8520600" cy="3682872"/>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vi-VN" b="1" u="sng" dirty="0"/>
              <a:t>Case Study</a:t>
            </a:r>
            <a:r>
              <a:rPr lang="en-US" b="1" u="sng" dirty="0"/>
              <a:t> 1</a:t>
            </a:r>
            <a:r>
              <a:rPr lang="vi-VN" b="1" u="sng" dirty="0"/>
              <a:t>: Hệ thống IoT giám sát và tưới tiêu tự động cho nông trại rau sạch</a:t>
            </a:r>
            <a:endParaRPr lang="en-US" b="1" u="sng" dirty="0"/>
          </a:p>
          <a:p>
            <a:pPr marL="0" lvl="0" indent="0" algn="l" rtl="0">
              <a:spcBef>
                <a:spcPts val="0"/>
              </a:spcBef>
              <a:spcAft>
                <a:spcPts val="1200"/>
              </a:spcAft>
              <a:buNone/>
            </a:pPr>
            <a:r>
              <a:rPr lang="vi-VN" b="1" dirty="0"/>
              <a:t>2. Phạm vi triển khai</a:t>
            </a:r>
          </a:p>
          <a:p>
            <a:pPr marL="285750" lvl="0" indent="-285750" algn="l" rtl="0">
              <a:spcBef>
                <a:spcPts val="0"/>
              </a:spcBef>
              <a:spcAft>
                <a:spcPts val="1200"/>
              </a:spcAft>
              <a:buFontTx/>
              <a:buChar char="-"/>
            </a:pPr>
            <a:r>
              <a:rPr lang="vi-VN" dirty="0"/>
              <a:t>Số lượng thiết bị:</a:t>
            </a:r>
          </a:p>
          <a:p>
            <a:pPr marL="742950" lvl="1" indent="-285750">
              <a:spcAft>
                <a:spcPts val="1200"/>
              </a:spcAft>
              <a:buFontTx/>
              <a:buChar char="-"/>
            </a:pPr>
            <a:r>
              <a:rPr lang="vi-VN" dirty="0"/>
              <a:t>50 cảm biến độ ẩm đất phân bổ trên toàn bộ ruộng.</a:t>
            </a:r>
          </a:p>
          <a:p>
            <a:pPr marL="742950" lvl="1" indent="-285750">
              <a:spcAft>
                <a:spcPts val="1200"/>
              </a:spcAft>
              <a:buFontTx/>
              <a:buChar char="-"/>
            </a:pPr>
            <a:r>
              <a:rPr lang="vi-VN" dirty="0"/>
              <a:t>10 cảm biến nhiệt độ/độ ẩm không khí.</a:t>
            </a:r>
          </a:p>
          <a:p>
            <a:pPr marL="742950" lvl="1" indent="-285750">
              <a:spcAft>
                <a:spcPts val="1200"/>
              </a:spcAft>
              <a:buFontTx/>
              <a:buChar char="-"/>
            </a:pPr>
            <a:r>
              <a:rPr lang="vi-VN" dirty="0"/>
              <a:t>5 bộ điều khiển bơm tưới kết nối qua relay.</a:t>
            </a:r>
          </a:p>
          <a:p>
            <a:pPr marL="285750" lvl="0" indent="-285750" algn="l" rtl="0">
              <a:spcBef>
                <a:spcPts val="0"/>
              </a:spcBef>
              <a:spcAft>
                <a:spcPts val="1200"/>
              </a:spcAft>
              <a:buFontTx/>
              <a:buChar char="-"/>
            </a:pPr>
            <a:r>
              <a:rPr lang="vi-VN" dirty="0"/>
              <a:t>Môi trường hoạt động:</a:t>
            </a:r>
          </a:p>
          <a:p>
            <a:pPr marL="742950" lvl="1" indent="-285750">
              <a:spcAft>
                <a:spcPts val="1200"/>
              </a:spcAft>
              <a:buFontTx/>
              <a:buChar char="-"/>
            </a:pPr>
            <a:r>
              <a:rPr lang="vi-VN" dirty="0"/>
              <a:t>Ngoài trời → chịu mưa, nắng, nhiệt độ dao động mạnh.</a:t>
            </a:r>
          </a:p>
          <a:p>
            <a:pPr marL="742950" lvl="1" indent="-285750">
              <a:spcAft>
                <a:spcPts val="1200"/>
              </a:spcAft>
              <a:buFontTx/>
              <a:buChar char="-"/>
            </a:pPr>
            <a:r>
              <a:rPr lang="vi-VN" dirty="0"/>
              <a:t>Yêu cầu cảm biến phải chống nước (IP67), pin năng lượng mặt trời.</a:t>
            </a:r>
          </a:p>
        </p:txBody>
      </p:sp>
    </p:spTree>
    <p:extLst>
      <p:ext uri="{BB962C8B-B14F-4D97-AF65-F5344CB8AC3E}">
        <p14:creationId xmlns:p14="http://schemas.microsoft.com/office/powerpoint/2010/main" val="2084515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1" y="1152474"/>
            <a:ext cx="3843334" cy="3734079"/>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1200"/>
              </a:spcAft>
              <a:buNone/>
            </a:pPr>
            <a:r>
              <a:rPr lang="vi-VN" b="1" u="sng" dirty="0"/>
              <a:t>Case Study</a:t>
            </a:r>
            <a:r>
              <a:rPr lang="en-US" b="1" u="sng" dirty="0"/>
              <a:t> 1</a:t>
            </a:r>
            <a:r>
              <a:rPr lang="vi-VN" b="1" u="sng" dirty="0"/>
              <a:t>: Hệ thống IoT giám sát và tưới tiêu tự động cho nông trại rau sạch</a:t>
            </a:r>
            <a:endParaRPr lang="en-US" b="1" u="sng" dirty="0"/>
          </a:p>
          <a:p>
            <a:pPr marL="0" lvl="0" indent="0" algn="l" rtl="0">
              <a:spcBef>
                <a:spcPts val="0"/>
              </a:spcBef>
              <a:spcAft>
                <a:spcPts val="1200"/>
              </a:spcAft>
              <a:buNone/>
            </a:pPr>
            <a:r>
              <a:rPr lang="en-US" b="1" dirty="0"/>
              <a:t>3. </a:t>
            </a:r>
            <a:r>
              <a:rPr lang="vi-VN" b="1" dirty="0"/>
              <a:t>Tiêu chí thành công (KPIs)</a:t>
            </a:r>
          </a:p>
          <a:p>
            <a:pPr marL="285750" lvl="0" indent="-285750" algn="l" rtl="0">
              <a:spcBef>
                <a:spcPts val="0"/>
              </a:spcBef>
              <a:spcAft>
                <a:spcPts val="1200"/>
              </a:spcAft>
              <a:buFontTx/>
              <a:buChar char="-"/>
            </a:pPr>
            <a:r>
              <a:rPr lang="vi-VN" dirty="0"/>
              <a:t>Độ chính xác:</a:t>
            </a:r>
          </a:p>
          <a:p>
            <a:pPr marL="742950" lvl="1" indent="-285750">
              <a:spcAft>
                <a:spcPts val="1200"/>
              </a:spcAft>
              <a:buFontTx/>
              <a:buChar char="-"/>
            </a:pPr>
            <a:r>
              <a:rPr lang="vi-VN" dirty="0"/>
              <a:t>Sai số đo độ ẩm đất &lt; ±5%.</a:t>
            </a:r>
          </a:p>
          <a:p>
            <a:pPr marL="285750" lvl="0" indent="-285750" algn="l" rtl="0">
              <a:spcBef>
                <a:spcPts val="0"/>
              </a:spcBef>
              <a:spcAft>
                <a:spcPts val="1200"/>
              </a:spcAft>
              <a:buFontTx/>
              <a:buChar char="-"/>
            </a:pPr>
            <a:r>
              <a:rPr lang="vi-VN" dirty="0"/>
              <a:t>Độ trễ:</a:t>
            </a:r>
          </a:p>
          <a:p>
            <a:pPr marL="742950" lvl="1" indent="-285750">
              <a:spcAft>
                <a:spcPts val="1200"/>
              </a:spcAft>
              <a:buFontTx/>
              <a:buChar char="-"/>
            </a:pPr>
            <a:r>
              <a:rPr lang="vi-VN" dirty="0"/>
              <a:t>Dữ liệu cảm biến cập nhật lên server trong vòng &lt; 5 giây.</a:t>
            </a:r>
          </a:p>
          <a:p>
            <a:pPr marL="285750" lvl="0" indent="-285750" algn="l" rtl="0">
              <a:spcBef>
                <a:spcPts val="0"/>
              </a:spcBef>
              <a:spcAft>
                <a:spcPts val="1200"/>
              </a:spcAft>
              <a:buFontTx/>
              <a:buChar char="-"/>
            </a:pPr>
            <a:r>
              <a:rPr lang="vi-VN" dirty="0"/>
              <a:t>Độ tin cậy:</a:t>
            </a:r>
          </a:p>
          <a:p>
            <a:pPr marL="742950" lvl="1" indent="-285750">
              <a:spcAft>
                <a:spcPts val="1200"/>
              </a:spcAft>
              <a:buFontTx/>
              <a:buChar char="-"/>
            </a:pPr>
            <a:r>
              <a:rPr lang="vi-VN" dirty="0"/>
              <a:t>Tỉ lệ truyền dữ liệu thành công &gt; 98%.</a:t>
            </a:r>
          </a:p>
        </p:txBody>
      </p:sp>
      <p:sp>
        <p:nvSpPr>
          <p:cNvPr id="2" name="Google Shape;64;p14">
            <a:extLst>
              <a:ext uri="{FF2B5EF4-FFF2-40B4-BE49-F238E27FC236}">
                <a16:creationId xmlns:a16="http://schemas.microsoft.com/office/drawing/2014/main" id="{7338D546-A42B-17DA-E4DC-391D2AA13C65}"/>
              </a:ext>
            </a:extLst>
          </p:cNvPr>
          <p:cNvSpPr txBox="1">
            <a:spLocks/>
          </p:cNvSpPr>
          <p:nvPr/>
        </p:nvSpPr>
        <p:spPr>
          <a:xfrm>
            <a:off x="4572000" y="1784909"/>
            <a:ext cx="3843334" cy="3111728"/>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Source Sans Pro"/>
              <a:buChar char="●"/>
              <a:defRPr sz="1800" b="0" i="0" u="none" strike="noStrike" cap="none">
                <a:solidFill>
                  <a:schemeClr val="lt2"/>
                </a:solidFill>
                <a:latin typeface="Source Sans Pro"/>
                <a:ea typeface="Source Sans Pro"/>
                <a:cs typeface="Source Sans Pro"/>
                <a:sym typeface="Source Sans Pro"/>
              </a:defRPr>
            </a:lvl1pPr>
            <a:lvl2pPr marL="914400" marR="0" lvl="1" indent="-317500" algn="l" rtl="0">
              <a:lnSpc>
                <a:spcPct val="115000"/>
              </a:lnSpc>
              <a:spcBef>
                <a:spcPts val="0"/>
              </a:spcBef>
              <a:spcAft>
                <a:spcPts val="0"/>
              </a:spcAft>
              <a:buClr>
                <a:schemeClr val="lt2"/>
              </a:buClr>
              <a:buSzPts val="1400"/>
              <a:buFont typeface="Source Sans Pro"/>
              <a:buChar char="○"/>
              <a:defRPr sz="1400" b="0" i="0" u="none" strike="noStrike" cap="none">
                <a:solidFill>
                  <a:schemeClr val="lt2"/>
                </a:solidFill>
                <a:latin typeface="Source Sans Pro"/>
                <a:ea typeface="Source Sans Pro"/>
                <a:cs typeface="Source Sans Pro"/>
                <a:sym typeface="Source Sans Pro"/>
              </a:defRPr>
            </a:lvl2pPr>
            <a:lvl3pPr marL="1371600" marR="0" lvl="2" indent="-317500" algn="l" rtl="0">
              <a:lnSpc>
                <a:spcPct val="115000"/>
              </a:lnSpc>
              <a:spcBef>
                <a:spcPts val="0"/>
              </a:spcBef>
              <a:spcAft>
                <a:spcPts val="0"/>
              </a:spcAft>
              <a:buClr>
                <a:schemeClr val="lt2"/>
              </a:buClr>
              <a:buSzPts val="1400"/>
              <a:buFont typeface="Source Sans Pro"/>
              <a:buChar char="■"/>
              <a:defRPr sz="1400" b="0" i="0" u="none" strike="noStrike" cap="none">
                <a:solidFill>
                  <a:schemeClr val="lt2"/>
                </a:solidFill>
                <a:latin typeface="Source Sans Pro"/>
                <a:ea typeface="Source Sans Pro"/>
                <a:cs typeface="Source Sans Pro"/>
                <a:sym typeface="Source Sans Pro"/>
              </a:defRPr>
            </a:lvl3pPr>
            <a:lvl4pPr marL="1828800" marR="0" lvl="3" indent="-317500" algn="l" rtl="0">
              <a:lnSpc>
                <a:spcPct val="115000"/>
              </a:lnSpc>
              <a:spcBef>
                <a:spcPts val="0"/>
              </a:spcBef>
              <a:spcAft>
                <a:spcPts val="0"/>
              </a:spcAft>
              <a:buClr>
                <a:schemeClr val="lt2"/>
              </a:buClr>
              <a:buSzPts val="1400"/>
              <a:buFont typeface="Source Sans Pro"/>
              <a:buChar char="●"/>
              <a:defRPr sz="1400" b="0" i="0" u="none" strike="noStrike" cap="none">
                <a:solidFill>
                  <a:schemeClr val="lt2"/>
                </a:solidFill>
                <a:latin typeface="Source Sans Pro"/>
                <a:ea typeface="Source Sans Pro"/>
                <a:cs typeface="Source Sans Pro"/>
                <a:sym typeface="Source Sans Pro"/>
              </a:defRPr>
            </a:lvl4pPr>
            <a:lvl5pPr marL="2286000" marR="0" lvl="4" indent="-317500" algn="l" rtl="0">
              <a:lnSpc>
                <a:spcPct val="115000"/>
              </a:lnSpc>
              <a:spcBef>
                <a:spcPts val="0"/>
              </a:spcBef>
              <a:spcAft>
                <a:spcPts val="0"/>
              </a:spcAft>
              <a:buClr>
                <a:schemeClr val="lt2"/>
              </a:buClr>
              <a:buSzPts val="1400"/>
              <a:buFont typeface="Source Sans Pro"/>
              <a:buChar char="○"/>
              <a:defRPr sz="1400" b="0" i="0" u="none" strike="noStrike" cap="none">
                <a:solidFill>
                  <a:schemeClr val="lt2"/>
                </a:solidFill>
                <a:latin typeface="Source Sans Pro"/>
                <a:ea typeface="Source Sans Pro"/>
                <a:cs typeface="Source Sans Pro"/>
                <a:sym typeface="Source Sans Pro"/>
              </a:defRPr>
            </a:lvl5pPr>
            <a:lvl6pPr marL="2743200" marR="0" lvl="5" indent="-317500" algn="l" rtl="0">
              <a:lnSpc>
                <a:spcPct val="115000"/>
              </a:lnSpc>
              <a:spcBef>
                <a:spcPts val="0"/>
              </a:spcBef>
              <a:spcAft>
                <a:spcPts val="0"/>
              </a:spcAft>
              <a:buClr>
                <a:schemeClr val="lt2"/>
              </a:buClr>
              <a:buSzPts val="1400"/>
              <a:buFont typeface="Source Sans Pro"/>
              <a:buChar char="■"/>
              <a:defRPr sz="1400" b="0" i="0" u="none" strike="noStrike" cap="none">
                <a:solidFill>
                  <a:schemeClr val="lt2"/>
                </a:solidFill>
                <a:latin typeface="Source Sans Pro"/>
                <a:ea typeface="Source Sans Pro"/>
                <a:cs typeface="Source Sans Pro"/>
                <a:sym typeface="Source Sans Pro"/>
              </a:defRPr>
            </a:lvl6pPr>
            <a:lvl7pPr marL="3200400" marR="0" lvl="6" indent="-317500" algn="l" rtl="0">
              <a:lnSpc>
                <a:spcPct val="115000"/>
              </a:lnSpc>
              <a:spcBef>
                <a:spcPts val="0"/>
              </a:spcBef>
              <a:spcAft>
                <a:spcPts val="0"/>
              </a:spcAft>
              <a:buClr>
                <a:schemeClr val="lt2"/>
              </a:buClr>
              <a:buSzPts val="1400"/>
              <a:buFont typeface="Source Sans Pro"/>
              <a:buChar char="●"/>
              <a:defRPr sz="1400" b="0" i="0" u="none" strike="noStrike" cap="none">
                <a:solidFill>
                  <a:schemeClr val="lt2"/>
                </a:solidFill>
                <a:latin typeface="Source Sans Pro"/>
                <a:ea typeface="Source Sans Pro"/>
                <a:cs typeface="Source Sans Pro"/>
                <a:sym typeface="Source Sans Pro"/>
              </a:defRPr>
            </a:lvl7pPr>
            <a:lvl8pPr marL="3657600" marR="0" lvl="7" indent="-317500" algn="l" rtl="0">
              <a:lnSpc>
                <a:spcPct val="115000"/>
              </a:lnSpc>
              <a:spcBef>
                <a:spcPts val="0"/>
              </a:spcBef>
              <a:spcAft>
                <a:spcPts val="0"/>
              </a:spcAft>
              <a:buClr>
                <a:schemeClr val="lt2"/>
              </a:buClr>
              <a:buSzPts val="1400"/>
              <a:buFont typeface="Source Sans Pro"/>
              <a:buChar char="○"/>
              <a:defRPr sz="1400" b="0" i="0" u="none" strike="noStrike" cap="none">
                <a:solidFill>
                  <a:schemeClr val="lt2"/>
                </a:solidFill>
                <a:latin typeface="Source Sans Pro"/>
                <a:ea typeface="Source Sans Pro"/>
                <a:cs typeface="Source Sans Pro"/>
                <a:sym typeface="Source Sans Pro"/>
              </a:defRPr>
            </a:lvl8pPr>
            <a:lvl9pPr marL="4114800" marR="0" lvl="8" indent="-317500" algn="l" rtl="0">
              <a:lnSpc>
                <a:spcPct val="115000"/>
              </a:lnSpc>
              <a:spcBef>
                <a:spcPts val="0"/>
              </a:spcBef>
              <a:spcAft>
                <a:spcPts val="0"/>
              </a:spcAft>
              <a:buClr>
                <a:schemeClr val="lt2"/>
              </a:buClr>
              <a:buSzPts val="1400"/>
              <a:buFont typeface="Source Sans Pro"/>
              <a:buChar char="■"/>
              <a:defRPr sz="1400" b="0" i="0" u="none" strike="noStrike" cap="none">
                <a:solidFill>
                  <a:schemeClr val="lt2"/>
                </a:solidFill>
                <a:latin typeface="Source Sans Pro"/>
                <a:ea typeface="Source Sans Pro"/>
                <a:cs typeface="Source Sans Pro"/>
                <a:sym typeface="Source Sans Pro"/>
              </a:defRPr>
            </a:lvl9pPr>
          </a:lstStyle>
          <a:p>
            <a:pPr marL="285750" indent="-285750">
              <a:spcAft>
                <a:spcPts val="1200"/>
              </a:spcAft>
              <a:buFontTx/>
              <a:buChar char="-"/>
            </a:pPr>
            <a:r>
              <a:rPr lang="vi-VN" dirty="0"/>
              <a:t>Tiết kiệm tài nguyên:</a:t>
            </a:r>
          </a:p>
          <a:p>
            <a:pPr marL="742950" lvl="1" indent="-285750">
              <a:spcAft>
                <a:spcPts val="1200"/>
              </a:spcAft>
              <a:buFontTx/>
              <a:buChar char="-"/>
            </a:pPr>
            <a:r>
              <a:rPr lang="vi-VN" dirty="0"/>
              <a:t>Giảm ít nhất 30% lượng nước tưới so với phương pháp truyền thống.</a:t>
            </a:r>
          </a:p>
          <a:p>
            <a:pPr marL="285750" indent="-285750">
              <a:spcAft>
                <a:spcPts val="1200"/>
              </a:spcAft>
              <a:buFontTx/>
              <a:buChar char="-"/>
            </a:pPr>
            <a:r>
              <a:rPr lang="vi-VN" dirty="0"/>
              <a:t>Chi phí:</a:t>
            </a:r>
          </a:p>
          <a:p>
            <a:pPr marL="742950" lvl="1" indent="-285750">
              <a:spcAft>
                <a:spcPts val="1200"/>
              </a:spcAft>
              <a:buFontTx/>
              <a:buChar char="-"/>
            </a:pPr>
            <a:r>
              <a:rPr lang="vi-VN" dirty="0"/>
              <a:t>Tổng chi phí đầu tư ban đầu &lt; 300 triệu VNĐ cho toàn trang trại.</a:t>
            </a:r>
          </a:p>
          <a:p>
            <a:pPr marL="285750" indent="-285750">
              <a:spcAft>
                <a:spcPts val="1200"/>
              </a:spcAft>
              <a:buFontTx/>
              <a:buChar char="-"/>
            </a:pPr>
            <a:r>
              <a:rPr lang="vi-VN" dirty="0"/>
              <a:t>Khả năng mở rộng:</a:t>
            </a:r>
          </a:p>
          <a:p>
            <a:pPr marL="742950" lvl="1" indent="-285750">
              <a:spcAft>
                <a:spcPts val="1200"/>
              </a:spcAft>
              <a:buFontTx/>
              <a:buChar char="-"/>
            </a:pPr>
            <a:r>
              <a:rPr lang="vi-VN" dirty="0"/>
              <a:t>Hệ thống phải hỗ trợ nhân đôi số lượng cảm biến trong 3 năm tới mà không cần thay đổi hạ tầng mạng.</a:t>
            </a:r>
          </a:p>
        </p:txBody>
      </p:sp>
    </p:spTree>
    <p:extLst>
      <p:ext uri="{BB962C8B-B14F-4D97-AF65-F5344CB8AC3E}">
        <p14:creationId xmlns:p14="http://schemas.microsoft.com/office/powerpoint/2010/main" val="3020703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734079"/>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1</a:t>
            </a:r>
            <a:r>
              <a:rPr lang="vi-VN" b="1" u="sng" dirty="0"/>
              <a:t>: Hệ thống IoT giám sát và tưới tiêu tự động cho nông trại rau sạch</a:t>
            </a:r>
            <a:endParaRPr lang="en-US" b="1" u="sng" dirty="0"/>
          </a:p>
          <a:p>
            <a:pPr marL="0" lvl="0" indent="0" algn="l" rtl="0">
              <a:spcBef>
                <a:spcPts val="0"/>
              </a:spcBef>
              <a:spcAft>
                <a:spcPts val="1200"/>
              </a:spcAft>
              <a:buNone/>
            </a:pPr>
            <a:r>
              <a:rPr lang="en-US" b="1" dirty="0"/>
              <a:t>4</a:t>
            </a:r>
            <a:r>
              <a:rPr lang="vi-VN" b="1" dirty="0"/>
              <a:t>. Kết quả mong đợi</a:t>
            </a:r>
            <a:endParaRPr lang="vi-VN" dirty="0"/>
          </a:p>
          <a:p>
            <a:pPr marL="285750" lvl="0" indent="-285750" algn="l" rtl="0">
              <a:spcBef>
                <a:spcPts val="0"/>
              </a:spcBef>
              <a:spcAft>
                <a:spcPts val="1200"/>
              </a:spcAft>
              <a:buFontTx/>
              <a:buChar char="-"/>
            </a:pPr>
            <a:r>
              <a:rPr lang="vi-VN" dirty="0"/>
              <a:t>Tự động hóa tưới tiêu → tiết kiệm nước &amp; nhân công.</a:t>
            </a:r>
          </a:p>
          <a:p>
            <a:pPr marL="285750" lvl="0" indent="-285750" algn="l" rtl="0">
              <a:spcBef>
                <a:spcPts val="0"/>
              </a:spcBef>
              <a:spcAft>
                <a:spcPts val="1200"/>
              </a:spcAft>
              <a:buFontTx/>
              <a:buChar char="-"/>
            </a:pPr>
            <a:r>
              <a:rPr lang="vi-VN" dirty="0"/>
              <a:t>Người nông dân giám sát từ xa qua smartphone.</a:t>
            </a:r>
          </a:p>
          <a:p>
            <a:pPr marL="285750" lvl="0" indent="-285750" algn="l" rtl="0">
              <a:spcBef>
                <a:spcPts val="0"/>
              </a:spcBef>
              <a:spcAft>
                <a:spcPts val="1200"/>
              </a:spcAft>
              <a:buFontTx/>
              <a:buChar char="-"/>
            </a:pPr>
            <a:r>
              <a:rPr lang="vi-VN" dirty="0"/>
              <a:t>Dữ liệu thu thập liên tục giúp đưa ra quyết định canh tác tốt hơn (ví dụ: dự đoán hạn hán, sâu bệnh).</a:t>
            </a:r>
          </a:p>
        </p:txBody>
      </p:sp>
    </p:spTree>
    <p:extLst>
      <p:ext uri="{BB962C8B-B14F-4D97-AF65-F5344CB8AC3E}">
        <p14:creationId xmlns:p14="http://schemas.microsoft.com/office/powerpoint/2010/main" val="366490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Thu thập yêu cầu từ các bên liên quan</a:t>
            </a:r>
          </a:p>
          <a:p>
            <a:pPr marL="285750" lvl="0" indent="-285750" algn="l" rtl="0">
              <a:spcBef>
                <a:spcPts val="0"/>
              </a:spcBef>
              <a:spcAft>
                <a:spcPts val="1200"/>
              </a:spcAft>
              <a:buFontTx/>
              <a:buChar char="-"/>
            </a:pPr>
            <a:endParaRPr lang="vi-VN" dirty="0"/>
          </a:p>
          <a:p>
            <a:pPr marL="285750" lvl="0" indent="-285750" algn="l" rtl="0">
              <a:spcBef>
                <a:spcPts val="0"/>
              </a:spcBef>
              <a:spcAft>
                <a:spcPts val="1200"/>
              </a:spcAft>
              <a:buFontTx/>
              <a:buChar char="-"/>
            </a:pPr>
            <a:r>
              <a:rPr lang="vi-VN" dirty="0"/>
              <a:t>Người dùng cuối: mong muốn chức năng hiển thị, cảnh báo, điều khiển.</a:t>
            </a:r>
          </a:p>
          <a:p>
            <a:pPr marL="285750" lvl="0" indent="-285750" algn="l" rtl="0">
              <a:spcBef>
                <a:spcPts val="0"/>
              </a:spcBef>
              <a:spcAft>
                <a:spcPts val="1200"/>
              </a:spcAft>
              <a:buFontTx/>
              <a:buChar char="-"/>
            </a:pPr>
            <a:r>
              <a:rPr lang="vi-VN" dirty="0"/>
              <a:t>Doanh nghiệp/quản lý: yêu cầu về hiệu quả vận hành, báo cáo, khả năng mở rộng.</a:t>
            </a:r>
          </a:p>
          <a:p>
            <a:pPr marL="285750" lvl="0" indent="-285750" algn="l" rtl="0">
              <a:spcBef>
                <a:spcPts val="0"/>
              </a:spcBef>
              <a:spcAft>
                <a:spcPts val="1200"/>
              </a:spcAft>
              <a:buFontTx/>
              <a:buChar char="-"/>
            </a:pPr>
            <a:r>
              <a:rPr lang="vi-VN" dirty="0"/>
              <a:t>Kỹ thuật/IT: yêu cầu tích hợp hệ thống sẵn có, giao thức truyền thông, chuẩn bảo mật.</a:t>
            </a:r>
          </a:p>
          <a:p>
            <a:pPr marL="285750" lvl="0" indent="-285750" algn="l" rtl="0">
              <a:spcBef>
                <a:spcPts val="0"/>
              </a:spcBef>
              <a:spcAft>
                <a:spcPts val="1200"/>
              </a:spcAft>
              <a:buFontTx/>
              <a:buChar char="-"/>
            </a:pPr>
            <a:r>
              <a:rPr lang="vi-VN" dirty="0"/>
              <a:t>Phỏng vấn, khảo sát, quan sát thực tế để tổng hợp yêu cầu.</a:t>
            </a:r>
          </a:p>
          <a:p>
            <a:pPr marL="285750" lvl="0" indent="-285750" algn="l" rtl="0">
              <a:spcBef>
                <a:spcPts val="0"/>
              </a:spcBef>
              <a:spcAft>
                <a:spcPts val="1200"/>
              </a:spcAft>
              <a:buFontTx/>
              <a:buChar char="-"/>
            </a:pPr>
            <a:endParaRPr lang="vi-VN" dirty="0"/>
          </a:p>
          <a:p>
            <a:pPr marL="0" lvl="0" indent="0" algn="l" rtl="0">
              <a:spcBef>
                <a:spcPts val="0"/>
              </a:spcBef>
              <a:spcAft>
                <a:spcPts val="1200"/>
              </a:spcAft>
              <a:buNone/>
            </a:pPr>
            <a:endParaRPr lang="vi-VN" dirty="0"/>
          </a:p>
          <a:p>
            <a:pPr marL="0" lvl="0" indent="0" algn="l" rtl="0">
              <a:spcBef>
                <a:spcPts val="0"/>
              </a:spcBef>
              <a:spcAft>
                <a:spcPts val="1200"/>
              </a:spcAft>
              <a:buNone/>
            </a:pPr>
            <a:endParaRPr lang="vi-VN" dirty="0"/>
          </a:p>
        </p:txBody>
      </p:sp>
    </p:spTree>
    <p:extLst>
      <p:ext uri="{BB962C8B-B14F-4D97-AF65-F5344CB8AC3E}">
        <p14:creationId xmlns:p14="http://schemas.microsoft.com/office/powerpoint/2010/main" val="2917868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734079"/>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2</a:t>
            </a:r>
            <a:r>
              <a:rPr lang="vi-VN" b="1" u="sng" dirty="0"/>
              <a:t>: Hệ thống IoT giám sát máy móc trong nhà máy sản xuất</a:t>
            </a:r>
            <a:endParaRPr lang="en-US" b="1" u="sng" dirty="0"/>
          </a:p>
          <a:p>
            <a:pPr marL="0" lvl="0" indent="0" algn="l" rtl="0">
              <a:spcBef>
                <a:spcPts val="0"/>
              </a:spcBef>
              <a:spcAft>
                <a:spcPts val="1200"/>
              </a:spcAft>
              <a:buNone/>
            </a:pPr>
            <a:r>
              <a:rPr lang="en-US" b="1" dirty="0"/>
              <a:t>1</a:t>
            </a:r>
            <a:r>
              <a:rPr lang="vi-VN" b="1" dirty="0"/>
              <a:t>. Bối cảnh vấn đề</a:t>
            </a:r>
          </a:p>
          <a:p>
            <a:pPr marL="285750" lvl="0" indent="-285750" algn="l" rtl="0">
              <a:spcBef>
                <a:spcPts val="0"/>
              </a:spcBef>
              <a:spcAft>
                <a:spcPts val="1200"/>
              </a:spcAft>
              <a:buFontTx/>
              <a:buChar char="-"/>
            </a:pPr>
            <a:r>
              <a:rPr lang="vi-VN" dirty="0"/>
              <a:t>Nhà máy sản xuất cơ khí có hàng trăm máy tiện, máy phay CNC.</a:t>
            </a:r>
          </a:p>
          <a:p>
            <a:pPr marL="285750" lvl="0" indent="-285750" algn="l" rtl="0">
              <a:spcBef>
                <a:spcPts val="0"/>
              </a:spcBef>
              <a:spcAft>
                <a:spcPts val="1200"/>
              </a:spcAft>
              <a:buFontTx/>
              <a:buChar char="-"/>
            </a:pPr>
            <a:r>
              <a:rPr lang="vi-VN" dirty="0"/>
              <a:t>Hiện nay, việc giám sát tình trạng máy chủ yếu thủ công → dễ bỏ sót sự cố, bảo trì chậm trễ dẫn đến dừng dây chuyền, thiệt hại kinh tế.</a:t>
            </a:r>
          </a:p>
          <a:p>
            <a:pPr marL="285750" lvl="0" indent="-285750" algn="l" rtl="0">
              <a:spcBef>
                <a:spcPts val="0"/>
              </a:spcBef>
              <a:spcAft>
                <a:spcPts val="1200"/>
              </a:spcAft>
              <a:buFontTx/>
              <a:buChar char="-"/>
            </a:pPr>
            <a:r>
              <a:rPr lang="vi-VN" dirty="0"/>
              <a:t>Ban giám đốc muốn ứng dụng IoT để thu thập dữ liệu vận hành máy móc, phân tích và cảnh báo bảo trì.</a:t>
            </a:r>
          </a:p>
        </p:txBody>
      </p:sp>
    </p:spTree>
    <p:extLst>
      <p:ext uri="{BB962C8B-B14F-4D97-AF65-F5344CB8AC3E}">
        <p14:creationId xmlns:p14="http://schemas.microsoft.com/office/powerpoint/2010/main" val="1769579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734079"/>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vi-VN" b="1" u="sng" dirty="0"/>
              <a:t>Case Study</a:t>
            </a:r>
            <a:r>
              <a:rPr lang="en-US" b="1" u="sng" dirty="0"/>
              <a:t> 2</a:t>
            </a:r>
            <a:r>
              <a:rPr lang="vi-VN" b="1" u="sng" dirty="0"/>
              <a:t>: Hệ thống IoT giám sát máy móc trong nhà máy sản xuất</a:t>
            </a:r>
            <a:endParaRPr lang="en-US" b="1" u="sng" dirty="0"/>
          </a:p>
          <a:p>
            <a:pPr marL="0" lvl="0" indent="0" algn="l" rtl="0">
              <a:spcBef>
                <a:spcPts val="0"/>
              </a:spcBef>
              <a:spcAft>
                <a:spcPts val="1200"/>
              </a:spcAft>
              <a:buNone/>
            </a:pPr>
            <a:r>
              <a:rPr lang="en-US" b="1" dirty="0"/>
              <a:t>2</a:t>
            </a:r>
            <a:r>
              <a:rPr lang="vi-VN" b="1" dirty="0"/>
              <a:t>. Yêu cầu từ các bên liên quan</a:t>
            </a:r>
          </a:p>
          <a:p>
            <a:pPr marL="0" lvl="0" indent="0" algn="l" rtl="0">
              <a:spcBef>
                <a:spcPts val="0"/>
              </a:spcBef>
              <a:spcAft>
                <a:spcPts val="1200"/>
              </a:spcAft>
              <a:buNone/>
            </a:pPr>
            <a:r>
              <a:rPr lang="vi-VN" dirty="0"/>
              <a:t>a. Người dùng cuối (Công nhân &amp; Kỹ sư vận hành)</a:t>
            </a:r>
          </a:p>
          <a:p>
            <a:pPr marL="285750" lvl="0" indent="-285750" algn="l" rtl="0">
              <a:spcBef>
                <a:spcPts val="0"/>
              </a:spcBef>
              <a:spcAft>
                <a:spcPts val="1200"/>
              </a:spcAft>
              <a:buFontTx/>
              <a:buChar char="-"/>
            </a:pPr>
            <a:r>
              <a:rPr lang="vi-VN" dirty="0"/>
              <a:t>Hiển thị: muốn thấy tình trạng máy (nhiệt độ động cơ, độ rung, công suất tiêu thụ) ngay trên màn hình dashboard đặt tại xưởng hoặc trên app di động.</a:t>
            </a:r>
          </a:p>
          <a:p>
            <a:pPr marL="285750" lvl="0" indent="-285750" algn="l" rtl="0">
              <a:spcBef>
                <a:spcPts val="0"/>
              </a:spcBef>
              <a:spcAft>
                <a:spcPts val="1200"/>
              </a:spcAft>
              <a:buFontTx/>
              <a:buChar char="-"/>
            </a:pPr>
            <a:r>
              <a:rPr lang="vi-VN" dirty="0"/>
              <a:t>Cảnh báo: nhận thông báo tức thì khi máy có dấu hiệu bất thường (ví dụ: quá nhiệt, độ rung vượt ngưỡng).</a:t>
            </a:r>
          </a:p>
          <a:p>
            <a:pPr marL="285750" lvl="0" indent="-285750" algn="l" rtl="0">
              <a:spcBef>
                <a:spcPts val="0"/>
              </a:spcBef>
              <a:spcAft>
                <a:spcPts val="1200"/>
              </a:spcAft>
              <a:buFontTx/>
              <a:buChar char="-"/>
            </a:pPr>
            <a:r>
              <a:rPr lang="vi-VN" dirty="0"/>
              <a:t>Điều khiển: có quyền tắt khẩn cấp (emergency stop) từ xa nếu hệ thống phát hiện rủi ro nghiêm trọng.</a:t>
            </a:r>
          </a:p>
        </p:txBody>
      </p:sp>
    </p:spTree>
    <p:extLst>
      <p:ext uri="{BB962C8B-B14F-4D97-AF65-F5344CB8AC3E}">
        <p14:creationId xmlns:p14="http://schemas.microsoft.com/office/powerpoint/2010/main" val="3070442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734079"/>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1200"/>
              </a:spcAft>
              <a:buNone/>
            </a:pPr>
            <a:r>
              <a:rPr lang="vi-VN" b="1" u="sng" dirty="0"/>
              <a:t>Case Study</a:t>
            </a:r>
            <a:r>
              <a:rPr lang="en-US" b="1" u="sng" dirty="0"/>
              <a:t> 2</a:t>
            </a:r>
            <a:r>
              <a:rPr lang="vi-VN" b="1" u="sng" dirty="0"/>
              <a:t>: Hệ thống IoT giám sát máy móc trong nhà máy sản xuất</a:t>
            </a:r>
            <a:endParaRPr lang="en-US" b="1" u="sng" dirty="0"/>
          </a:p>
          <a:p>
            <a:pPr marL="0" lvl="0" indent="0" algn="l" rtl="0">
              <a:spcBef>
                <a:spcPts val="0"/>
              </a:spcBef>
              <a:spcAft>
                <a:spcPts val="1200"/>
              </a:spcAft>
              <a:buNone/>
            </a:pPr>
            <a:r>
              <a:rPr lang="en-US" b="1" dirty="0"/>
              <a:t>2</a:t>
            </a:r>
            <a:r>
              <a:rPr lang="vi-VN" b="1" dirty="0"/>
              <a:t>. Yêu cầu từ các bên liên quan</a:t>
            </a:r>
          </a:p>
          <a:p>
            <a:pPr marL="0" lvl="0" indent="0" algn="l" rtl="0">
              <a:spcBef>
                <a:spcPts val="0"/>
              </a:spcBef>
              <a:spcAft>
                <a:spcPts val="1200"/>
              </a:spcAft>
              <a:buNone/>
            </a:pPr>
            <a:r>
              <a:rPr lang="vi-VN" dirty="0"/>
              <a:t>b. Doanh nghiệp/Quản lý (Quản đốc, Ban giám đốc)</a:t>
            </a:r>
          </a:p>
          <a:p>
            <a:pPr marL="285750" lvl="0" indent="-285750" algn="l" rtl="0">
              <a:spcBef>
                <a:spcPts val="0"/>
              </a:spcBef>
              <a:spcAft>
                <a:spcPts val="1200"/>
              </a:spcAft>
              <a:buFontTx/>
              <a:buChar char="-"/>
            </a:pPr>
            <a:r>
              <a:rPr lang="vi-VN" dirty="0"/>
              <a:t>Hiệu quả vận hành: muốn biết chỉ số OEE (Overall Equipment Effectiveness), % thời gian máy hoạt động, % downtime.</a:t>
            </a:r>
          </a:p>
          <a:p>
            <a:pPr marL="285750" lvl="0" indent="-285750" algn="l" rtl="0">
              <a:spcBef>
                <a:spcPts val="0"/>
              </a:spcBef>
              <a:spcAft>
                <a:spcPts val="1200"/>
              </a:spcAft>
              <a:buFontTx/>
              <a:buChar char="-"/>
            </a:pPr>
            <a:r>
              <a:rPr lang="vi-VN" dirty="0"/>
              <a:t>Báo cáo &amp; phân tích: hệ thống cần xuất báo cáo tuần/tháng, giúp so sánh năng suất giữa các dây chuyền.</a:t>
            </a:r>
          </a:p>
          <a:p>
            <a:pPr marL="285750" lvl="0" indent="-285750" algn="l" rtl="0">
              <a:spcBef>
                <a:spcPts val="0"/>
              </a:spcBef>
              <a:spcAft>
                <a:spcPts val="1200"/>
              </a:spcAft>
              <a:buFontTx/>
              <a:buChar char="-"/>
            </a:pPr>
            <a:r>
              <a:rPr lang="vi-VN" dirty="0"/>
              <a:t>Khả năng mở rộng: có thể tích hợp thêm hàng trăm máy mới trong tương lai mà không phải thay đổi hạ tầng IoT.</a:t>
            </a:r>
          </a:p>
          <a:p>
            <a:pPr marL="285750" lvl="0" indent="-285750" algn="l" rtl="0">
              <a:spcBef>
                <a:spcPts val="0"/>
              </a:spcBef>
              <a:spcAft>
                <a:spcPts val="1200"/>
              </a:spcAft>
              <a:buFontTx/>
              <a:buChar char="-"/>
            </a:pPr>
            <a:r>
              <a:rPr lang="vi-VN" dirty="0"/>
              <a:t>ROI (Return on Investment): kỳ vọng hệ thống IoT giúp giảm ít nhất 20% chi phí bảo trì hàng năm.</a:t>
            </a:r>
          </a:p>
        </p:txBody>
      </p:sp>
    </p:spTree>
    <p:extLst>
      <p:ext uri="{BB962C8B-B14F-4D97-AF65-F5344CB8AC3E}">
        <p14:creationId xmlns:p14="http://schemas.microsoft.com/office/powerpoint/2010/main" val="3637782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734079"/>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1200"/>
              </a:spcAft>
              <a:buNone/>
            </a:pPr>
            <a:r>
              <a:rPr lang="vi-VN" b="1" u="sng" dirty="0"/>
              <a:t>Case Study</a:t>
            </a:r>
            <a:r>
              <a:rPr lang="en-US" b="1" u="sng" dirty="0"/>
              <a:t> 2</a:t>
            </a:r>
            <a:r>
              <a:rPr lang="vi-VN" b="1" u="sng" dirty="0"/>
              <a:t>: Hệ thống IoT giám sát máy móc trong nhà máy sản xuất</a:t>
            </a:r>
            <a:endParaRPr lang="en-US" b="1" u="sng" dirty="0"/>
          </a:p>
          <a:p>
            <a:pPr marL="0" lvl="0" indent="0" algn="l" rtl="0">
              <a:spcBef>
                <a:spcPts val="0"/>
              </a:spcBef>
              <a:spcAft>
                <a:spcPts val="1200"/>
              </a:spcAft>
              <a:buNone/>
            </a:pPr>
            <a:r>
              <a:rPr lang="en-US" b="1" dirty="0"/>
              <a:t>2</a:t>
            </a:r>
            <a:r>
              <a:rPr lang="vi-VN" b="1" dirty="0"/>
              <a:t>. Yêu cầu từ các bên liên quan</a:t>
            </a:r>
          </a:p>
          <a:p>
            <a:pPr marL="0" lvl="0" indent="0" algn="l" rtl="0">
              <a:spcBef>
                <a:spcPts val="0"/>
              </a:spcBef>
              <a:spcAft>
                <a:spcPts val="1200"/>
              </a:spcAft>
              <a:buNone/>
            </a:pPr>
            <a:r>
              <a:rPr lang="vi-VN" dirty="0"/>
              <a:t>c. Kỹ thuật/IT (Phòng CNTT &amp; Bảo trì)</a:t>
            </a:r>
          </a:p>
          <a:p>
            <a:pPr marL="285750" lvl="0" indent="-285750" algn="l" rtl="0">
              <a:spcBef>
                <a:spcPts val="0"/>
              </a:spcBef>
              <a:spcAft>
                <a:spcPts val="1200"/>
              </a:spcAft>
              <a:buFontTx/>
              <a:buChar char="-"/>
            </a:pPr>
            <a:r>
              <a:rPr lang="vi-VN" dirty="0"/>
              <a:t>Tích hợp hệ thống sẵn có: dữ liệu IoT cần kết nối với ERP và hệ thống quản lý sản xuất (MES) để đồng bộ báo cáo.</a:t>
            </a:r>
          </a:p>
          <a:p>
            <a:pPr marL="285750" lvl="0" indent="-285750" algn="l" rtl="0">
              <a:spcBef>
                <a:spcPts val="0"/>
              </a:spcBef>
              <a:spcAft>
                <a:spcPts val="1200"/>
              </a:spcAft>
              <a:buFontTx/>
              <a:buChar char="-"/>
            </a:pPr>
            <a:r>
              <a:rPr lang="vi-VN" dirty="0"/>
              <a:t>Giao thức truyền thông: do môi trường công nghiệp nhiều nhiễu, IT muốn dùng MQTT over TLS hoặc OPC-UA để đảm bảo ổn định.</a:t>
            </a:r>
          </a:p>
          <a:p>
            <a:pPr marL="285750" lvl="0" indent="-285750" algn="l" rtl="0">
              <a:spcBef>
                <a:spcPts val="0"/>
              </a:spcBef>
              <a:spcAft>
                <a:spcPts val="1200"/>
              </a:spcAft>
              <a:buFontTx/>
              <a:buChar char="-"/>
            </a:pPr>
            <a:r>
              <a:rPr lang="vi-VN" dirty="0"/>
              <a:t>Bảo mật: dữ liệu truyền phải mã hóa, người dùng được phân quyền (công nhân chỉ xem dữ liệu, quản lý có quyền xuất báo cáo).</a:t>
            </a:r>
          </a:p>
          <a:p>
            <a:pPr marL="285750" lvl="0" indent="-285750" algn="l" rtl="0">
              <a:spcBef>
                <a:spcPts val="0"/>
              </a:spcBef>
              <a:spcAft>
                <a:spcPts val="1200"/>
              </a:spcAft>
              <a:buFontTx/>
              <a:buChar char="-"/>
            </a:pPr>
            <a:r>
              <a:rPr lang="vi-VN" dirty="0"/>
              <a:t>Khả năng bảo trì: hệ thống cần hỗ trợ cập nhật firmware cho cảm biến/máy đo từ xa (OTA).</a:t>
            </a:r>
          </a:p>
        </p:txBody>
      </p:sp>
    </p:spTree>
    <p:extLst>
      <p:ext uri="{BB962C8B-B14F-4D97-AF65-F5344CB8AC3E}">
        <p14:creationId xmlns:p14="http://schemas.microsoft.com/office/powerpoint/2010/main" val="2675951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734079"/>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2</a:t>
            </a:r>
            <a:r>
              <a:rPr lang="vi-VN" b="1" u="sng" dirty="0"/>
              <a:t>: Hệ thống IoT giám sát máy móc trong nhà máy sản xuất</a:t>
            </a:r>
            <a:endParaRPr lang="en-US" b="1" u="sng" dirty="0"/>
          </a:p>
          <a:p>
            <a:pPr marL="0" lvl="0" indent="0" algn="l" rtl="0">
              <a:spcBef>
                <a:spcPts val="0"/>
              </a:spcBef>
              <a:spcAft>
                <a:spcPts val="1200"/>
              </a:spcAft>
              <a:buNone/>
            </a:pPr>
            <a:endParaRPr lang="en-US" b="1" u="sng" dirty="0"/>
          </a:p>
          <a:p>
            <a:pPr marL="0" lvl="0" indent="0" algn="l" rtl="0">
              <a:spcBef>
                <a:spcPts val="0"/>
              </a:spcBef>
              <a:spcAft>
                <a:spcPts val="1200"/>
              </a:spcAft>
              <a:buNone/>
            </a:pPr>
            <a:r>
              <a:rPr lang="vi-VN" b="1" dirty="0"/>
              <a:t>3. Phương pháp thu thập yêu cầu</a:t>
            </a:r>
            <a:endParaRPr lang="vi-VN" dirty="0"/>
          </a:p>
          <a:p>
            <a:pPr marL="285750" lvl="0" indent="-285750" algn="l" rtl="0">
              <a:spcBef>
                <a:spcPts val="0"/>
              </a:spcBef>
              <a:spcAft>
                <a:spcPts val="1200"/>
              </a:spcAft>
              <a:buFontTx/>
              <a:buChar char="-"/>
            </a:pPr>
            <a:r>
              <a:rPr lang="vi-VN" dirty="0"/>
              <a:t>Phỏng vấn: làm việc với công nhân để hiểu rõ khó khăn vận hành máy.</a:t>
            </a:r>
          </a:p>
          <a:p>
            <a:pPr marL="285750" lvl="0" indent="-285750" algn="l" rtl="0">
              <a:spcBef>
                <a:spcPts val="0"/>
              </a:spcBef>
              <a:spcAft>
                <a:spcPts val="1200"/>
              </a:spcAft>
              <a:buFontTx/>
              <a:buChar char="-"/>
            </a:pPr>
            <a:r>
              <a:rPr lang="vi-VN" dirty="0"/>
              <a:t>Khảo sát: gửi bảng hỏi cho quản lý để thu thập nhu cầu về báo cáo KPI.</a:t>
            </a:r>
          </a:p>
          <a:p>
            <a:pPr marL="285750" lvl="0" indent="-285750" algn="l" rtl="0">
              <a:spcBef>
                <a:spcPts val="0"/>
              </a:spcBef>
              <a:spcAft>
                <a:spcPts val="1200"/>
              </a:spcAft>
              <a:buFontTx/>
              <a:buChar char="-"/>
            </a:pPr>
            <a:r>
              <a:rPr lang="vi-VN" dirty="0"/>
              <a:t>Quan sát thực tế: IT đến trực tiếp xưởng để kiểm tra môi trường, độ nhiễu, vị trí lắp cảm biến.</a:t>
            </a:r>
          </a:p>
        </p:txBody>
      </p:sp>
    </p:spTree>
    <p:extLst>
      <p:ext uri="{BB962C8B-B14F-4D97-AF65-F5344CB8AC3E}">
        <p14:creationId xmlns:p14="http://schemas.microsoft.com/office/powerpoint/2010/main" val="3358512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vi-VN" b="1" u="sng" dirty="0"/>
              <a:t>Xác định yêu cầu chức năng</a:t>
            </a:r>
            <a:endParaRPr lang="vi-VN" dirty="0"/>
          </a:p>
          <a:p>
            <a:pPr marL="285750" lvl="0" indent="-285750" algn="l" rtl="0">
              <a:spcBef>
                <a:spcPts val="0"/>
              </a:spcBef>
              <a:spcAft>
                <a:spcPts val="1200"/>
              </a:spcAft>
              <a:buFontTx/>
              <a:buChar char="-"/>
            </a:pPr>
            <a:r>
              <a:rPr lang="vi-VN" dirty="0"/>
              <a:t>Các chức năng cần có của hệ thống:</a:t>
            </a:r>
          </a:p>
          <a:p>
            <a:pPr marL="742950" lvl="1" indent="-285750">
              <a:spcAft>
                <a:spcPts val="1200"/>
              </a:spcAft>
              <a:buFontTx/>
              <a:buChar char="-"/>
            </a:pPr>
            <a:r>
              <a:rPr lang="vi-VN" dirty="0"/>
              <a:t>Thu thập dữ liệu cảm biến.</a:t>
            </a:r>
          </a:p>
          <a:p>
            <a:pPr marL="742950" lvl="1" indent="-285750">
              <a:spcAft>
                <a:spcPts val="1200"/>
              </a:spcAft>
              <a:buFontTx/>
              <a:buChar char="-"/>
            </a:pPr>
            <a:r>
              <a:rPr lang="vi-VN" dirty="0"/>
              <a:t>Gửi dữ liệu về gateway/cloud.</a:t>
            </a:r>
          </a:p>
          <a:p>
            <a:pPr marL="742950" lvl="1" indent="-285750">
              <a:spcAft>
                <a:spcPts val="1200"/>
              </a:spcAft>
              <a:buFontTx/>
              <a:buChar char="-"/>
            </a:pPr>
            <a:r>
              <a:rPr lang="vi-VN" dirty="0"/>
              <a:t>Lưu trữ và phân tích dữ liệu.</a:t>
            </a:r>
          </a:p>
          <a:p>
            <a:pPr marL="742950" lvl="1" indent="-285750">
              <a:spcAft>
                <a:spcPts val="1200"/>
              </a:spcAft>
              <a:buFontTx/>
              <a:buChar char="-"/>
            </a:pPr>
            <a:r>
              <a:rPr lang="vi-VN" dirty="0"/>
              <a:t>Hiển thị dữ liệu qua ứng dụng.</a:t>
            </a:r>
          </a:p>
          <a:p>
            <a:pPr marL="742950" lvl="1" indent="-285750">
              <a:spcAft>
                <a:spcPts val="1200"/>
              </a:spcAft>
              <a:buFontTx/>
              <a:buChar char="-"/>
            </a:pPr>
            <a:r>
              <a:rPr lang="vi-VN" dirty="0"/>
              <a:t>Điều khiển/ra lệnh ngược lại thiết bị.</a:t>
            </a:r>
          </a:p>
          <a:p>
            <a:pPr marL="285750" lvl="0" indent="-285750" algn="l" rtl="0">
              <a:spcBef>
                <a:spcPts val="0"/>
              </a:spcBef>
              <a:spcAft>
                <a:spcPts val="1200"/>
              </a:spcAft>
              <a:buFontTx/>
              <a:buChar char="-"/>
            </a:pPr>
            <a:r>
              <a:rPr lang="vi-VN" dirty="0"/>
              <a:t>Đặc tả luồng công việc (use case, sequence diagram).</a:t>
            </a:r>
          </a:p>
          <a:p>
            <a:pPr marL="0" lvl="0" indent="0" algn="l" rtl="0">
              <a:spcBef>
                <a:spcPts val="0"/>
              </a:spcBef>
              <a:spcAft>
                <a:spcPts val="1200"/>
              </a:spcAft>
              <a:buNone/>
            </a:pPr>
            <a:endParaRPr lang="vi-VN" dirty="0"/>
          </a:p>
          <a:p>
            <a:pPr marL="0" lvl="0" indent="0" algn="l" rtl="0">
              <a:spcBef>
                <a:spcPts val="0"/>
              </a:spcBef>
              <a:spcAft>
                <a:spcPts val="1200"/>
              </a:spcAft>
              <a:buNone/>
            </a:pPr>
            <a:endParaRPr lang="vi-VN" dirty="0"/>
          </a:p>
        </p:txBody>
      </p:sp>
    </p:spTree>
    <p:extLst>
      <p:ext uri="{BB962C8B-B14F-4D97-AF65-F5344CB8AC3E}">
        <p14:creationId xmlns:p14="http://schemas.microsoft.com/office/powerpoint/2010/main" val="2421127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Xác định yêu cầu chức năng</a:t>
            </a:r>
            <a:endParaRPr lang="vi-VN" dirty="0"/>
          </a:p>
          <a:p>
            <a:pPr marL="0" lvl="0" indent="0" algn="l" rtl="0">
              <a:spcBef>
                <a:spcPts val="0"/>
              </a:spcBef>
              <a:spcAft>
                <a:spcPts val="1200"/>
              </a:spcAft>
              <a:buNone/>
            </a:pPr>
            <a:endParaRPr lang="vi-VN" dirty="0"/>
          </a:p>
        </p:txBody>
      </p:sp>
      <p:pic>
        <p:nvPicPr>
          <p:cNvPr id="1026" name="Picture 2">
            <a:extLst>
              <a:ext uri="{FF2B5EF4-FFF2-40B4-BE49-F238E27FC236}">
                <a16:creationId xmlns:a16="http://schemas.microsoft.com/office/drawing/2014/main" id="{452991D0-7EF1-A3FA-6000-24C3BA8DE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17965"/>
            <a:ext cx="9144000"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1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Xác định yêu cầu phi chức năng</a:t>
            </a:r>
            <a:endParaRPr lang="vi-VN" dirty="0"/>
          </a:p>
          <a:p>
            <a:pPr marL="285750" lvl="0" indent="-285750" algn="l" rtl="0">
              <a:spcBef>
                <a:spcPts val="0"/>
              </a:spcBef>
              <a:spcAft>
                <a:spcPts val="1200"/>
              </a:spcAft>
              <a:buFontTx/>
              <a:buChar char="-"/>
            </a:pPr>
            <a:r>
              <a:rPr lang="vi-VN" dirty="0"/>
              <a:t>Hiệu năng: độ trễ tối đa, tần suất lấy mẫu, khả năng chịu tải.</a:t>
            </a:r>
          </a:p>
          <a:p>
            <a:pPr marL="285750" lvl="0" indent="-285750" algn="l" rtl="0">
              <a:spcBef>
                <a:spcPts val="0"/>
              </a:spcBef>
              <a:spcAft>
                <a:spcPts val="1200"/>
              </a:spcAft>
              <a:buFontTx/>
              <a:buChar char="-"/>
            </a:pPr>
            <a:r>
              <a:rPr lang="vi-VN" dirty="0"/>
              <a:t>Bảo mật: mã hóa, xác thực, phân quyền.</a:t>
            </a:r>
          </a:p>
          <a:p>
            <a:pPr marL="285750" lvl="0" indent="-285750" algn="l" rtl="0">
              <a:spcBef>
                <a:spcPts val="0"/>
              </a:spcBef>
              <a:spcAft>
                <a:spcPts val="1200"/>
              </a:spcAft>
              <a:buFontTx/>
              <a:buChar char="-"/>
            </a:pPr>
            <a:r>
              <a:rPr lang="vi-VN" dirty="0"/>
              <a:t>Độ tin cậy: cơ chế dự phòng, phục hồi khi mất kết nối.</a:t>
            </a:r>
          </a:p>
          <a:p>
            <a:pPr marL="285750" lvl="0" indent="-285750" algn="l" rtl="0">
              <a:spcBef>
                <a:spcPts val="0"/>
              </a:spcBef>
              <a:spcAft>
                <a:spcPts val="1200"/>
              </a:spcAft>
              <a:buFontTx/>
              <a:buChar char="-"/>
            </a:pPr>
            <a:r>
              <a:rPr lang="vi-VN" dirty="0"/>
              <a:t>Khả năng mở rộng: hỗ trợ thêm thiết bị mới, tích hợp cloud.</a:t>
            </a:r>
          </a:p>
          <a:p>
            <a:pPr marL="285750" lvl="0" indent="-285750" algn="l" rtl="0">
              <a:spcBef>
                <a:spcPts val="0"/>
              </a:spcBef>
              <a:spcAft>
                <a:spcPts val="1200"/>
              </a:spcAft>
              <a:buFontTx/>
              <a:buChar char="-"/>
            </a:pPr>
            <a:r>
              <a:rPr lang="vi-VN" dirty="0"/>
              <a:t>Chi phí và năng lượng: pin, băng thông, chi phí hạ tầng.</a:t>
            </a:r>
          </a:p>
          <a:p>
            <a:pPr marL="0" lvl="0" indent="0" algn="l" rtl="0">
              <a:spcBef>
                <a:spcPts val="0"/>
              </a:spcBef>
              <a:spcAft>
                <a:spcPts val="1200"/>
              </a:spcAft>
              <a:buNone/>
            </a:pPr>
            <a:endParaRPr lang="vi-VN" dirty="0"/>
          </a:p>
        </p:txBody>
      </p:sp>
    </p:spTree>
    <p:extLst>
      <p:ext uri="{BB962C8B-B14F-4D97-AF65-F5344CB8AC3E}">
        <p14:creationId xmlns:p14="http://schemas.microsoft.com/office/powerpoint/2010/main" val="1117905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734079"/>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1200"/>
              </a:spcAft>
              <a:buNone/>
            </a:pPr>
            <a:r>
              <a:rPr lang="vi-VN" b="1" u="sng" dirty="0"/>
              <a:t>Case study</a:t>
            </a:r>
            <a:r>
              <a:rPr lang="en-US" b="1" u="sng" dirty="0"/>
              <a:t> 3</a:t>
            </a:r>
            <a:r>
              <a:rPr lang="vi-VN" b="1" u="sng" dirty="0"/>
              <a:t>: Hệ thống IoT giám sát sức khỏe từ xa (Remote Patient Monitoring)</a:t>
            </a:r>
            <a:endParaRPr lang="en-US" b="1" u="sng" dirty="0"/>
          </a:p>
          <a:p>
            <a:pPr marL="0" lvl="0" indent="0" algn="l" rtl="0">
              <a:spcBef>
                <a:spcPts val="0"/>
              </a:spcBef>
              <a:spcAft>
                <a:spcPts val="1200"/>
              </a:spcAft>
              <a:buNone/>
            </a:pPr>
            <a:r>
              <a:rPr lang="en-US" b="1" dirty="0" err="1"/>
              <a:t>Bối</a:t>
            </a:r>
            <a:r>
              <a:rPr lang="en-US" b="1" dirty="0"/>
              <a:t> </a:t>
            </a:r>
            <a:r>
              <a:rPr lang="en-US" b="1" dirty="0" err="1"/>
              <a:t>Cảnh</a:t>
            </a:r>
            <a:endParaRPr lang="vi-VN" dirty="0"/>
          </a:p>
          <a:p>
            <a:pPr marL="285750" lvl="0" indent="-285750" algn="l" rtl="0">
              <a:spcBef>
                <a:spcPts val="0"/>
              </a:spcBef>
              <a:spcAft>
                <a:spcPts val="1200"/>
              </a:spcAft>
              <a:buFontTx/>
              <a:buChar char="-"/>
            </a:pPr>
            <a:r>
              <a:rPr lang="vi-VN" dirty="0"/>
              <a:t>Bệnh viện muốn theo dõi nhịp tim, SpO₂, nhiệt độ của 300 bệnh nhân tại nhà. Dữ liệu cần được gửi về trung tâm, cảnh báo bất thường cho bác sĩ và người nhà.</a:t>
            </a:r>
            <a:endParaRPr lang="en-US" dirty="0"/>
          </a:p>
          <a:p>
            <a:pPr marL="0" lvl="0" indent="0" algn="l" rtl="0">
              <a:spcBef>
                <a:spcPts val="0"/>
              </a:spcBef>
              <a:spcAft>
                <a:spcPts val="1200"/>
              </a:spcAft>
              <a:buNone/>
            </a:pPr>
            <a:r>
              <a:rPr lang="en-US" b="1" dirty="0" err="1"/>
              <a:t>Yêu</a:t>
            </a:r>
            <a:r>
              <a:rPr lang="en-US" b="1" dirty="0"/>
              <a:t> </a:t>
            </a:r>
            <a:r>
              <a:rPr lang="en-US" b="1" dirty="0" err="1"/>
              <a:t>Cầu</a:t>
            </a:r>
            <a:r>
              <a:rPr lang="en-US" b="1" dirty="0"/>
              <a:t> </a:t>
            </a:r>
            <a:r>
              <a:rPr lang="en-US" b="1" dirty="0" err="1"/>
              <a:t>Chức</a:t>
            </a:r>
            <a:r>
              <a:rPr lang="en-US" b="1" dirty="0"/>
              <a:t> </a:t>
            </a:r>
            <a:r>
              <a:rPr lang="en-US" b="1" dirty="0" err="1"/>
              <a:t>Năng</a:t>
            </a:r>
            <a:endParaRPr lang="vi-VN" dirty="0"/>
          </a:p>
          <a:p>
            <a:pPr marL="285750" lvl="0" indent="-285750" algn="l" rtl="0">
              <a:spcBef>
                <a:spcPts val="0"/>
              </a:spcBef>
              <a:spcAft>
                <a:spcPts val="1200"/>
              </a:spcAft>
              <a:buFontTx/>
              <a:buChar char="-"/>
            </a:pPr>
            <a:r>
              <a:rPr lang="vi-VN" dirty="0"/>
              <a:t>Thiết bị đeo thu thập số liệu mỗi 10–30s.</a:t>
            </a:r>
          </a:p>
          <a:p>
            <a:pPr marL="285750" lvl="0" indent="-285750" algn="l" rtl="0">
              <a:spcBef>
                <a:spcPts val="0"/>
              </a:spcBef>
              <a:spcAft>
                <a:spcPts val="1200"/>
              </a:spcAft>
              <a:buFontTx/>
              <a:buChar char="-"/>
            </a:pPr>
            <a:r>
              <a:rPr lang="vi-VN" dirty="0"/>
              <a:t>Gửi dữ liệu về gateway tại nhà → cloud bệnh viện.</a:t>
            </a:r>
          </a:p>
          <a:p>
            <a:pPr marL="285750" lvl="0" indent="-285750" algn="l" rtl="0">
              <a:spcBef>
                <a:spcPts val="0"/>
              </a:spcBef>
              <a:spcAft>
                <a:spcPts val="1200"/>
              </a:spcAft>
              <a:buFontTx/>
              <a:buChar char="-"/>
            </a:pPr>
            <a:r>
              <a:rPr lang="vi-VN" dirty="0"/>
              <a:t>Ứng dụng bác sĩ xem realtime &amp; báo cáo, gửi lệnh kiểm tra lại tới thiết bị nếu cần.</a:t>
            </a:r>
          </a:p>
        </p:txBody>
      </p:sp>
    </p:spTree>
    <p:extLst>
      <p:ext uri="{BB962C8B-B14F-4D97-AF65-F5344CB8AC3E}">
        <p14:creationId xmlns:p14="http://schemas.microsoft.com/office/powerpoint/2010/main" val="2726487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vi-VN" b="1" u="sng" dirty="0"/>
              <a:t>Case study</a:t>
            </a:r>
            <a:r>
              <a:rPr lang="en-US" b="1" u="sng" dirty="0"/>
              <a:t> 3</a:t>
            </a:r>
            <a:r>
              <a:rPr lang="vi-VN" b="1" u="sng" dirty="0"/>
              <a:t>: Hệ thống IoT giám sát sức khỏe từ xa (Remote Patient Monitoring)</a:t>
            </a:r>
            <a:endParaRPr lang="en-US" b="1" u="sng" dirty="0"/>
          </a:p>
          <a:p>
            <a:pPr marL="0" lvl="0" indent="0" algn="l" rtl="0">
              <a:spcBef>
                <a:spcPts val="0"/>
              </a:spcBef>
              <a:spcAft>
                <a:spcPts val="1200"/>
              </a:spcAft>
              <a:buNone/>
            </a:pPr>
            <a:r>
              <a:rPr lang="en-US" b="1" dirty="0" err="1"/>
              <a:t>Yêu</a:t>
            </a:r>
            <a:r>
              <a:rPr lang="en-US" b="1" dirty="0"/>
              <a:t> </a:t>
            </a:r>
            <a:r>
              <a:rPr lang="en-US" b="1" dirty="0" err="1"/>
              <a:t>cầu</a:t>
            </a:r>
            <a:r>
              <a:rPr lang="en-US" b="1" dirty="0"/>
              <a:t> phi </a:t>
            </a:r>
            <a:r>
              <a:rPr lang="en-US" b="1" dirty="0" err="1"/>
              <a:t>chức</a:t>
            </a:r>
            <a:r>
              <a:rPr lang="en-US" b="1" dirty="0"/>
              <a:t> </a:t>
            </a:r>
            <a:r>
              <a:rPr lang="en-US" b="1" dirty="0" err="1"/>
              <a:t>năng</a:t>
            </a:r>
            <a:r>
              <a:rPr lang="en-US" b="1" dirty="0"/>
              <a:t>: </a:t>
            </a:r>
            <a:r>
              <a:rPr lang="en-US" dirty="0" err="1"/>
              <a:t>Đặt</a:t>
            </a:r>
            <a:r>
              <a:rPr lang="en-US" dirty="0"/>
              <a:t> </a:t>
            </a:r>
            <a:r>
              <a:rPr lang="en-US" dirty="0" err="1"/>
              <a:t>mục</a:t>
            </a:r>
            <a:r>
              <a:rPr lang="en-US" dirty="0"/>
              <a:t> </a:t>
            </a:r>
            <a:r>
              <a:rPr lang="en-US" dirty="0" err="1"/>
              <a:t>tiêu</a:t>
            </a:r>
            <a:r>
              <a:rPr lang="en-US" dirty="0"/>
              <a:t> </a:t>
            </a:r>
            <a:r>
              <a:rPr lang="en-US" dirty="0" err="1"/>
              <a:t>đo</a:t>
            </a:r>
            <a:r>
              <a:rPr lang="en-US" dirty="0"/>
              <a:t> </a:t>
            </a:r>
            <a:r>
              <a:rPr lang="en-US" dirty="0" err="1"/>
              <a:t>được</a:t>
            </a:r>
            <a:r>
              <a:rPr lang="en-US" dirty="0"/>
              <a:t> </a:t>
            </a:r>
            <a:r>
              <a:rPr lang="en-US" dirty="0" err="1"/>
              <a:t>và</a:t>
            </a:r>
            <a:r>
              <a:rPr lang="en-US" dirty="0"/>
              <a:t> </a:t>
            </a:r>
            <a:r>
              <a:rPr lang="en-US" dirty="0" err="1"/>
              <a:t>quyết</a:t>
            </a:r>
            <a:r>
              <a:rPr lang="en-US" dirty="0"/>
              <a:t> </a:t>
            </a:r>
            <a:r>
              <a:rPr lang="en-US" dirty="0" err="1"/>
              <a:t>định</a:t>
            </a:r>
            <a:r>
              <a:rPr lang="en-US" dirty="0"/>
              <a:t> </a:t>
            </a:r>
            <a:r>
              <a:rPr lang="en-US" dirty="0" err="1"/>
              <a:t>thiết</a:t>
            </a:r>
            <a:r>
              <a:rPr lang="en-US" dirty="0"/>
              <a:t> </a:t>
            </a:r>
            <a:r>
              <a:rPr lang="en-US" dirty="0" err="1"/>
              <a:t>kế</a:t>
            </a:r>
            <a:r>
              <a:rPr lang="en-US" dirty="0"/>
              <a:t>  </a:t>
            </a:r>
            <a:r>
              <a:rPr lang="en-US" dirty="0" err="1"/>
              <a:t>tương</a:t>
            </a:r>
            <a:r>
              <a:rPr lang="en-US" dirty="0"/>
              <a:t> </a:t>
            </a:r>
            <a:r>
              <a:rPr lang="en-US" dirty="0" err="1"/>
              <a:t>ứng</a:t>
            </a:r>
            <a:endParaRPr lang="en-US" dirty="0"/>
          </a:p>
          <a:p>
            <a:pPr marL="0" lvl="0" indent="0" algn="l" rtl="0">
              <a:spcBef>
                <a:spcPts val="0"/>
              </a:spcBef>
              <a:spcAft>
                <a:spcPts val="1200"/>
              </a:spcAft>
              <a:buNone/>
            </a:pPr>
            <a:r>
              <a:rPr lang="vi-VN" dirty="0"/>
              <a:t>1</a:t>
            </a:r>
            <a:r>
              <a:rPr lang="en-US" dirty="0"/>
              <a:t>.</a:t>
            </a:r>
            <a:r>
              <a:rPr lang="vi-VN" dirty="0"/>
              <a:t> Hiệu năng</a:t>
            </a:r>
          </a:p>
          <a:p>
            <a:pPr marL="285750" lvl="0" indent="-285750" algn="l" rtl="0">
              <a:spcBef>
                <a:spcPts val="0"/>
              </a:spcBef>
              <a:spcAft>
                <a:spcPts val="1200"/>
              </a:spcAft>
              <a:buFontTx/>
              <a:buChar char="-"/>
            </a:pPr>
            <a:r>
              <a:rPr lang="vi-VN" dirty="0"/>
              <a:t>Độ trễ đầu-cuối ≤ 3 giây cho cảnh báo nhịp tim bất thường</a:t>
            </a:r>
            <a:r>
              <a:rPr lang="en-US" dirty="0"/>
              <a:t> </a:t>
            </a:r>
            <a:r>
              <a:rPr lang="vi-VN" dirty="0"/>
              <a:t>→ Chọn MQTT over TLS, QoS 1 cho cảnh báo; ưu tiên edge filtering tại gateway để đẩy cảnh </a:t>
            </a:r>
            <a:r>
              <a:rPr lang="en-US" dirty="0"/>
              <a:t>  </a:t>
            </a:r>
            <a:r>
              <a:rPr lang="vi-VN" dirty="0"/>
              <a:t>báo ngay, còn dữ liệu thô gửi theo lô.</a:t>
            </a:r>
          </a:p>
          <a:p>
            <a:pPr marL="285750" lvl="0" indent="-285750" algn="l" rtl="0">
              <a:spcBef>
                <a:spcPts val="0"/>
              </a:spcBef>
              <a:spcAft>
                <a:spcPts val="1200"/>
              </a:spcAft>
              <a:buFontTx/>
              <a:buChar char="-"/>
            </a:pPr>
            <a:r>
              <a:rPr lang="vi-VN" dirty="0"/>
              <a:t>Tần suất lấy mẫu: 2–3 Hz cho nhịp tim (không cần realtime audio)</a:t>
            </a:r>
            <a:r>
              <a:rPr lang="en-US" dirty="0"/>
              <a:t> </a:t>
            </a:r>
            <a:r>
              <a:rPr lang="vi-VN" dirty="0"/>
              <a:t>→ Bộ đệm 5s để giảm gói tin → gửi gộp khi ổn định.</a:t>
            </a:r>
          </a:p>
          <a:p>
            <a:pPr marL="285750" lvl="0" indent="-285750" algn="l" rtl="0">
              <a:spcBef>
                <a:spcPts val="0"/>
              </a:spcBef>
              <a:spcAft>
                <a:spcPts val="1200"/>
              </a:spcAft>
              <a:buFontTx/>
              <a:buChar char="-"/>
            </a:pPr>
            <a:r>
              <a:rPr lang="vi-VN" dirty="0"/>
              <a:t>Khả năng chịu tải: 300 bệnh nhân × 3 chỉ số × 2Hz ≈ 1.8k msg/s lúc cao điểm</a:t>
            </a:r>
            <a:r>
              <a:rPr lang="en-US" dirty="0"/>
              <a:t> </a:t>
            </a:r>
            <a:r>
              <a:rPr lang="vi-VN" dirty="0"/>
              <a:t>→ Dùng cluster broker (active/active) + autoscale API trên cloud.</a:t>
            </a:r>
          </a:p>
        </p:txBody>
      </p:sp>
    </p:spTree>
    <p:extLst>
      <p:ext uri="{BB962C8B-B14F-4D97-AF65-F5344CB8AC3E}">
        <p14:creationId xmlns:p14="http://schemas.microsoft.com/office/powerpoint/2010/main" val="973654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3</a:t>
            </a:r>
            <a:r>
              <a:rPr lang="vi-VN" b="1" u="sng" dirty="0"/>
              <a:t>: Hệ thống IoT giám sát sức khỏe từ xa (Remote Patient Monitoring)</a:t>
            </a:r>
            <a:endParaRPr lang="en-US" b="1" u="sng" dirty="0"/>
          </a:p>
          <a:p>
            <a:pPr marL="0" lvl="0" indent="0" algn="l" rtl="0">
              <a:spcBef>
                <a:spcPts val="0"/>
              </a:spcBef>
              <a:spcAft>
                <a:spcPts val="1200"/>
              </a:spcAft>
              <a:buNone/>
            </a:pPr>
            <a:r>
              <a:rPr lang="vi-VN" dirty="0"/>
              <a:t>2</a:t>
            </a:r>
            <a:r>
              <a:rPr lang="en-US" dirty="0"/>
              <a:t>.</a:t>
            </a:r>
            <a:r>
              <a:rPr lang="vi-VN" dirty="0"/>
              <a:t> Bảo mật</a:t>
            </a:r>
          </a:p>
          <a:p>
            <a:pPr marL="285750" lvl="0" indent="-285750" algn="l" rtl="0">
              <a:spcBef>
                <a:spcPts val="0"/>
              </a:spcBef>
              <a:spcAft>
                <a:spcPts val="1200"/>
              </a:spcAft>
              <a:buFontTx/>
              <a:buChar char="-"/>
            </a:pPr>
            <a:r>
              <a:rPr lang="vi-VN" dirty="0"/>
              <a:t>Mã hóa: TLS 1.3 trên đường truyền; dữ liệu nhạy cảm AES-256 at rest.</a:t>
            </a:r>
          </a:p>
          <a:p>
            <a:pPr marL="285750" lvl="0" indent="-285750" algn="l" rtl="0">
              <a:spcBef>
                <a:spcPts val="0"/>
              </a:spcBef>
              <a:spcAft>
                <a:spcPts val="1200"/>
              </a:spcAft>
              <a:buFontTx/>
              <a:buChar char="-"/>
            </a:pPr>
            <a:r>
              <a:rPr lang="vi-VN" dirty="0"/>
              <a:t>Xác thực: thiết bị dùng mutual TLS + device certificate; người dùng OIDC (MFA).</a:t>
            </a:r>
          </a:p>
          <a:p>
            <a:pPr marL="285750" lvl="0" indent="-285750" algn="l" rtl="0">
              <a:spcBef>
                <a:spcPts val="0"/>
              </a:spcBef>
              <a:spcAft>
                <a:spcPts val="1200"/>
              </a:spcAft>
              <a:buFontTx/>
              <a:buChar char="-"/>
            </a:pPr>
            <a:r>
              <a:rPr lang="vi-VN" dirty="0"/>
              <a:t>Phân quyền: RBAC/ABAC (bác sĩ chỉ xem bệnh nhân mình phụ trách; người nhà chỉ xem 1 bệnh nhân).</a:t>
            </a:r>
          </a:p>
          <a:p>
            <a:pPr marL="285750" lvl="0" indent="-285750" algn="l" rtl="0">
              <a:spcBef>
                <a:spcPts val="0"/>
              </a:spcBef>
              <a:spcAft>
                <a:spcPts val="1200"/>
              </a:spcAft>
              <a:buFontTx/>
              <a:buChar char="-"/>
            </a:pPr>
            <a:r>
              <a:rPr lang="vi-VN" dirty="0"/>
              <a:t>Tuân thủ: log truy cập theo chuẩn HIPAA/GDPR; ẩn danh khi xuất dữ liệu nghiên cứu.</a:t>
            </a:r>
          </a:p>
        </p:txBody>
      </p:sp>
    </p:spTree>
    <p:extLst>
      <p:ext uri="{BB962C8B-B14F-4D97-AF65-F5344CB8AC3E}">
        <p14:creationId xmlns:p14="http://schemas.microsoft.com/office/powerpoint/2010/main" val="3061240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3</a:t>
            </a:r>
            <a:r>
              <a:rPr lang="vi-VN" b="1" u="sng" dirty="0"/>
              <a:t>: Hệ thống IoT giám sát sức khỏe từ xa (Remote Patient Monitoring)</a:t>
            </a:r>
            <a:endParaRPr lang="en-US" b="1" u="sng" dirty="0"/>
          </a:p>
          <a:p>
            <a:pPr marL="0" lvl="0" indent="0" algn="l" rtl="0">
              <a:spcBef>
                <a:spcPts val="0"/>
              </a:spcBef>
              <a:spcAft>
                <a:spcPts val="1200"/>
              </a:spcAft>
              <a:buNone/>
            </a:pPr>
            <a:r>
              <a:rPr lang="vi-VN" dirty="0"/>
              <a:t>3</a:t>
            </a:r>
            <a:r>
              <a:rPr lang="en-US" dirty="0"/>
              <a:t>.</a:t>
            </a:r>
            <a:r>
              <a:rPr lang="vi-VN" dirty="0"/>
              <a:t> Độ tin cậy</a:t>
            </a:r>
          </a:p>
          <a:p>
            <a:pPr marL="285750" lvl="0" indent="-285750" algn="l" rtl="0">
              <a:spcBef>
                <a:spcPts val="0"/>
              </a:spcBef>
              <a:spcAft>
                <a:spcPts val="1200"/>
              </a:spcAft>
              <a:buFontTx/>
              <a:buChar char="-"/>
            </a:pPr>
            <a:r>
              <a:rPr lang="vi-VN" dirty="0"/>
              <a:t>Uptime hệ thống ≥ 99.9%/tháng</a:t>
            </a:r>
            <a:r>
              <a:rPr lang="en-US" dirty="0"/>
              <a:t> </a:t>
            </a:r>
            <a:r>
              <a:rPr lang="vi-VN" dirty="0"/>
              <a:t>→ Multi-AZ cho broker, DB, API; health check + tự động failover.</a:t>
            </a:r>
          </a:p>
          <a:p>
            <a:pPr marL="285750" lvl="0" indent="-285750" algn="l" rtl="0">
              <a:spcBef>
                <a:spcPts val="0"/>
              </a:spcBef>
              <a:spcAft>
                <a:spcPts val="1200"/>
              </a:spcAft>
              <a:buFontTx/>
              <a:buChar char="-"/>
            </a:pPr>
            <a:r>
              <a:rPr lang="vi-VN" dirty="0"/>
              <a:t>Mất kết nối: thiết bị đeo buffer tối thiểu 24 giờ, retry theo backoff; gateway đồng bộ bù (store-and-forward).</a:t>
            </a:r>
          </a:p>
          <a:p>
            <a:pPr marL="285750" lvl="0" indent="-285750" algn="l" rtl="0">
              <a:spcBef>
                <a:spcPts val="0"/>
              </a:spcBef>
              <a:spcAft>
                <a:spcPts val="1200"/>
              </a:spcAft>
              <a:buFontTx/>
              <a:buChar char="-"/>
            </a:pPr>
            <a:r>
              <a:rPr lang="vi-VN" dirty="0"/>
              <a:t>Chống mất dữ liệu: DB time-series replication + PITR (point-in-time recovery), backup hàng ngày.</a:t>
            </a:r>
          </a:p>
        </p:txBody>
      </p:sp>
    </p:spTree>
    <p:extLst>
      <p:ext uri="{BB962C8B-B14F-4D97-AF65-F5344CB8AC3E}">
        <p14:creationId xmlns:p14="http://schemas.microsoft.com/office/powerpoint/2010/main" val="3474383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3</a:t>
            </a:r>
            <a:r>
              <a:rPr lang="vi-VN" b="1" u="sng" dirty="0"/>
              <a:t>: Hệ thống IoT giám sát sức khỏe từ xa (Remote Patient Monitoring)</a:t>
            </a:r>
            <a:endParaRPr lang="en-US" b="1" u="sng" dirty="0"/>
          </a:p>
          <a:p>
            <a:pPr marL="0" lvl="0" indent="0" algn="l" rtl="0">
              <a:spcBef>
                <a:spcPts val="0"/>
              </a:spcBef>
              <a:spcAft>
                <a:spcPts val="1200"/>
              </a:spcAft>
              <a:buNone/>
            </a:pPr>
            <a:r>
              <a:rPr lang="vi-VN" dirty="0"/>
              <a:t>4</a:t>
            </a:r>
            <a:r>
              <a:rPr lang="en-US" dirty="0"/>
              <a:t>.</a:t>
            </a:r>
            <a:r>
              <a:rPr lang="vi-VN" dirty="0"/>
              <a:t> Khả năng mở rộng</a:t>
            </a:r>
          </a:p>
          <a:p>
            <a:pPr marL="285750" lvl="0" indent="-285750" algn="l" rtl="0">
              <a:spcBef>
                <a:spcPts val="0"/>
              </a:spcBef>
              <a:spcAft>
                <a:spcPts val="1200"/>
              </a:spcAft>
              <a:buFontTx/>
              <a:buChar char="-"/>
            </a:pPr>
            <a:r>
              <a:rPr lang="vi-VN" dirty="0"/>
              <a:t>Quy mô 3 năm: từ 300 → 5.000 bệnh nhân mà không đổi kiến trúc</a:t>
            </a:r>
            <a:r>
              <a:rPr lang="en-US" dirty="0"/>
              <a:t> </a:t>
            </a:r>
            <a:r>
              <a:rPr lang="vi-VN" dirty="0"/>
              <a:t>→ Tách microservices, message bus, multi-tenant theo cơ sở y tế; metric &amp; alert chạy trên prometheus + alertmanager có khả năng sharding.</a:t>
            </a:r>
          </a:p>
          <a:p>
            <a:pPr marL="285750" lvl="0" indent="-285750" algn="l" rtl="0">
              <a:spcBef>
                <a:spcPts val="0"/>
              </a:spcBef>
              <a:spcAft>
                <a:spcPts val="1200"/>
              </a:spcAft>
              <a:buFontTx/>
              <a:buChar char="-"/>
            </a:pPr>
            <a:r>
              <a:rPr lang="vi-VN" dirty="0"/>
              <a:t>Tích hợp cloud: kết nối EHR/EMR qua FHIR API, data lake trên S3/Blob để huấn luyện mô hình.</a:t>
            </a:r>
          </a:p>
        </p:txBody>
      </p:sp>
    </p:spTree>
    <p:extLst>
      <p:ext uri="{BB962C8B-B14F-4D97-AF65-F5344CB8AC3E}">
        <p14:creationId xmlns:p14="http://schemas.microsoft.com/office/powerpoint/2010/main" val="883353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3</a:t>
            </a:r>
            <a:r>
              <a:rPr lang="vi-VN" b="1" u="sng" dirty="0"/>
              <a:t>: Hệ thống IoT giám sát sức khỏe từ xa (Remote Patient Monitoring)</a:t>
            </a:r>
            <a:endParaRPr lang="en-US" b="1" u="sng" dirty="0"/>
          </a:p>
          <a:p>
            <a:pPr marL="0" lvl="0" indent="0" algn="l" rtl="0">
              <a:spcBef>
                <a:spcPts val="0"/>
              </a:spcBef>
              <a:spcAft>
                <a:spcPts val="1200"/>
              </a:spcAft>
              <a:buNone/>
            </a:pPr>
            <a:r>
              <a:rPr lang="vi-VN" dirty="0"/>
              <a:t>5</a:t>
            </a:r>
            <a:r>
              <a:rPr lang="en-US" dirty="0"/>
              <a:t>.</a:t>
            </a:r>
            <a:r>
              <a:rPr lang="vi-VN" dirty="0"/>
              <a:t> Chi phí &amp; năng lượng</a:t>
            </a:r>
          </a:p>
          <a:p>
            <a:pPr marL="285750" lvl="0" indent="-285750" algn="l" rtl="0">
              <a:spcBef>
                <a:spcPts val="0"/>
              </a:spcBef>
              <a:spcAft>
                <a:spcPts val="1200"/>
              </a:spcAft>
              <a:buFontTx/>
              <a:buChar char="-"/>
            </a:pPr>
            <a:r>
              <a:rPr lang="vi-VN" dirty="0"/>
              <a:t>Pin thiết bị đeo ≥ 5 ngày với chu kỳ gửi 10–30s</a:t>
            </a:r>
            <a:r>
              <a:rPr lang="en-US" dirty="0"/>
              <a:t> </a:t>
            </a:r>
            <a:r>
              <a:rPr lang="vi-VN" dirty="0"/>
              <a:t>→ MCU siêu tiết kiệm, BLE đến gateway trong nhà; deep-sleep, chỉ “thức” khi đo/gửi; nén CBOR.</a:t>
            </a:r>
          </a:p>
          <a:p>
            <a:pPr marL="285750" lvl="0" indent="-285750" algn="l" rtl="0">
              <a:spcBef>
                <a:spcPts val="0"/>
              </a:spcBef>
              <a:spcAft>
                <a:spcPts val="1200"/>
              </a:spcAft>
              <a:buFontTx/>
              <a:buChar char="-"/>
            </a:pPr>
            <a:r>
              <a:rPr lang="vi-VN" dirty="0"/>
              <a:t>Băng thông: mỗi bệnh nhân ≤ 50 MB/ngày</a:t>
            </a:r>
            <a:r>
              <a:rPr lang="en-US" dirty="0"/>
              <a:t> </a:t>
            </a:r>
            <a:r>
              <a:rPr lang="vi-VN" dirty="0"/>
              <a:t>→ Gửi gộp, nén, bỏ trùng; ảnh/ECG chi tiết chỉ khi có sự kiện.</a:t>
            </a:r>
          </a:p>
          <a:p>
            <a:pPr marL="285750" lvl="0" indent="-285750" algn="l" rtl="0">
              <a:spcBef>
                <a:spcPts val="0"/>
              </a:spcBef>
              <a:spcAft>
                <a:spcPts val="1200"/>
              </a:spcAft>
              <a:buFontTx/>
              <a:buChar char="-"/>
            </a:pPr>
            <a:r>
              <a:rPr lang="vi-VN" dirty="0"/>
              <a:t>Chi phí hạ tầng: ≤ 0.8 USD/bệnh nhân/tháng ở mức 5.000 bệnh nhân</a:t>
            </a:r>
            <a:r>
              <a:rPr lang="en-US" dirty="0"/>
              <a:t> </a:t>
            </a:r>
            <a:r>
              <a:rPr lang="vi-VN" dirty="0"/>
              <a:t>→ Dùng managed MQTT + serverless analytics cho workload biến động.</a:t>
            </a:r>
          </a:p>
        </p:txBody>
      </p:sp>
    </p:spTree>
    <p:extLst>
      <p:ext uri="{BB962C8B-B14F-4D97-AF65-F5344CB8AC3E}">
        <p14:creationId xmlns:p14="http://schemas.microsoft.com/office/powerpoint/2010/main" val="2305172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3</a:t>
            </a:r>
            <a:r>
              <a:rPr lang="vi-VN" b="1" u="sng" dirty="0"/>
              <a:t>: Hệ thống IoT giám sát sức khỏe từ xa (Remote Patient Monitoring)</a:t>
            </a:r>
            <a:endParaRPr lang="en-US" b="1" u="sng" dirty="0"/>
          </a:p>
          <a:p>
            <a:pPr marL="0" lvl="0" indent="0" algn="l" rtl="0">
              <a:spcBef>
                <a:spcPts val="0"/>
              </a:spcBef>
              <a:spcAft>
                <a:spcPts val="1200"/>
              </a:spcAft>
              <a:buNone/>
            </a:pPr>
            <a:r>
              <a:rPr lang="vi-VN" b="1" dirty="0"/>
              <a:t>Rủi ro &amp; đối sách</a:t>
            </a:r>
            <a:endParaRPr lang="vi-VN" dirty="0"/>
          </a:p>
          <a:p>
            <a:pPr marL="285750" lvl="0" indent="-285750" algn="l" rtl="0">
              <a:spcBef>
                <a:spcPts val="0"/>
              </a:spcBef>
              <a:spcAft>
                <a:spcPts val="1200"/>
              </a:spcAft>
              <a:buFontTx/>
              <a:buChar char="-"/>
            </a:pPr>
            <a:r>
              <a:rPr lang="vi-VN" dirty="0"/>
              <a:t>Nhiễu đo/đeo sai → thuật toán kiểm tra chất lượng tín hiệu (SQI), yêu cầu đo lại.</a:t>
            </a:r>
          </a:p>
          <a:p>
            <a:pPr marL="285750" lvl="0" indent="-285750" algn="l" rtl="0">
              <a:spcBef>
                <a:spcPts val="0"/>
              </a:spcBef>
              <a:spcAft>
                <a:spcPts val="1200"/>
              </a:spcAft>
              <a:buFontTx/>
              <a:buChar char="-"/>
            </a:pPr>
            <a:r>
              <a:rPr lang="vi-VN" dirty="0"/>
              <a:t>Mất điện tại nhà → pin dự phòng cho gateway ≥ 8 giờ.</a:t>
            </a:r>
          </a:p>
          <a:p>
            <a:pPr marL="285750" lvl="0" indent="-285750" algn="l" rtl="0">
              <a:spcBef>
                <a:spcPts val="0"/>
              </a:spcBef>
              <a:spcAft>
                <a:spcPts val="1200"/>
              </a:spcAft>
              <a:buFontTx/>
              <a:buChar char="-"/>
            </a:pPr>
            <a:r>
              <a:rPr lang="vi-VN" dirty="0"/>
              <a:t>Tắc nghẽn mạng di động → ưu tiên kênh cảnh báo, hạ tần suất dữ liệu nền.</a:t>
            </a:r>
          </a:p>
        </p:txBody>
      </p:sp>
    </p:spTree>
    <p:extLst>
      <p:ext uri="{BB962C8B-B14F-4D97-AF65-F5344CB8AC3E}">
        <p14:creationId xmlns:p14="http://schemas.microsoft.com/office/powerpoint/2010/main" val="1291860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Phân tích ràng buộc kỹ thuật và môi trường</a:t>
            </a:r>
          </a:p>
          <a:p>
            <a:pPr marL="285750" lvl="0" indent="-285750" algn="l" rtl="0">
              <a:spcBef>
                <a:spcPts val="0"/>
              </a:spcBef>
              <a:spcAft>
                <a:spcPts val="1200"/>
              </a:spcAft>
              <a:buFontTx/>
              <a:buChar char="-"/>
            </a:pPr>
            <a:endParaRPr lang="vi-VN" dirty="0"/>
          </a:p>
          <a:p>
            <a:pPr marL="285750" lvl="0" indent="-285750" algn="l" rtl="0">
              <a:spcBef>
                <a:spcPts val="0"/>
              </a:spcBef>
              <a:spcAft>
                <a:spcPts val="1200"/>
              </a:spcAft>
              <a:buFontTx/>
              <a:buChar char="-"/>
            </a:pPr>
            <a:r>
              <a:rPr lang="vi-VN" dirty="0"/>
              <a:t>Môi trường hoạt động: nhiệt độ, độ ẩm, nhiễu sóng, nguồn cấp.</a:t>
            </a:r>
          </a:p>
          <a:p>
            <a:pPr marL="285750" lvl="0" indent="-285750" algn="l" rtl="0">
              <a:spcBef>
                <a:spcPts val="0"/>
              </a:spcBef>
              <a:spcAft>
                <a:spcPts val="1200"/>
              </a:spcAft>
              <a:buFontTx/>
              <a:buChar char="-"/>
            </a:pPr>
            <a:r>
              <a:rPr lang="vi-VN" dirty="0"/>
              <a:t>Ràng buộc pháp lý: quy định tần số vô tuyến, bảo mật dữ liệu cá nhân.</a:t>
            </a:r>
          </a:p>
          <a:p>
            <a:pPr marL="285750" lvl="0" indent="-285750" algn="l" rtl="0">
              <a:spcBef>
                <a:spcPts val="0"/>
              </a:spcBef>
              <a:spcAft>
                <a:spcPts val="1200"/>
              </a:spcAft>
              <a:buFontTx/>
              <a:buChar char="-"/>
            </a:pPr>
            <a:r>
              <a:rPr lang="vi-VN" dirty="0"/>
              <a:t>Tài nguyên thiết bị: giới hạn bộ nhớ, CPU, dung lượng pin.</a:t>
            </a:r>
          </a:p>
        </p:txBody>
      </p:sp>
    </p:spTree>
    <p:extLst>
      <p:ext uri="{BB962C8B-B14F-4D97-AF65-F5344CB8AC3E}">
        <p14:creationId xmlns:p14="http://schemas.microsoft.com/office/powerpoint/2010/main" val="3133660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4</a:t>
            </a:r>
            <a:r>
              <a:rPr lang="vi-VN" b="1" u="sng" dirty="0"/>
              <a:t>: Case Study: Hệ thống IoT giám sát nông nghiệp ngoài trời</a:t>
            </a:r>
            <a:endParaRPr lang="en-US" b="1" u="sng" dirty="0"/>
          </a:p>
          <a:p>
            <a:pPr marL="0" lvl="0" indent="0" algn="l" rtl="0">
              <a:spcBef>
                <a:spcPts val="0"/>
              </a:spcBef>
              <a:spcAft>
                <a:spcPts val="1200"/>
              </a:spcAft>
              <a:buNone/>
            </a:pPr>
            <a:r>
              <a:rPr lang="en-US" b="1" dirty="0" err="1"/>
              <a:t>Bối</a:t>
            </a:r>
            <a:r>
              <a:rPr lang="en-US" b="1" dirty="0"/>
              <a:t> </a:t>
            </a:r>
            <a:r>
              <a:rPr lang="en-US" b="1" dirty="0" err="1"/>
              <a:t>Cảnh</a:t>
            </a:r>
            <a:endParaRPr lang="en-US" b="1" dirty="0"/>
          </a:p>
          <a:p>
            <a:pPr marL="0" lvl="0" indent="0" algn="l" rtl="0">
              <a:spcBef>
                <a:spcPts val="0"/>
              </a:spcBef>
              <a:spcAft>
                <a:spcPts val="1200"/>
              </a:spcAft>
              <a:buNone/>
            </a:pPr>
            <a:endParaRPr lang="vi-VN" b="1" dirty="0"/>
          </a:p>
          <a:p>
            <a:pPr marL="285750" lvl="0" indent="-285750" algn="l" rtl="0">
              <a:spcBef>
                <a:spcPts val="0"/>
              </a:spcBef>
              <a:spcAft>
                <a:spcPts val="1200"/>
              </a:spcAft>
              <a:buFontTx/>
              <a:buChar char="-"/>
            </a:pPr>
            <a:r>
              <a:rPr lang="vi-VN" dirty="0"/>
              <a:t>Một nông trại rau sạch rộng 10 ha muốn triển khai hệ thống IoT để giám sát độ ẩm đất, nhiệt độ, ánh sáng và chất lượng không khí, kết hợp với tưới tiêu tự động.</a:t>
            </a:r>
          </a:p>
          <a:p>
            <a:pPr marL="285750" lvl="0" indent="-285750" algn="l" rtl="0">
              <a:spcBef>
                <a:spcPts val="0"/>
              </a:spcBef>
              <a:spcAft>
                <a:spcPts val="1200"/>
              </a:spcAft>
              <a:buFontTx/>
              <a:buChar char="-"/>
            </a:pPr>
            <a:r>
              <a:rPr lang="vi-VN" dirty="0"/>
              <a:t>Hệ thống gồm ~200 cảm biến và 10 bộ điều khiển bơm, kết nối qua mạng không dây.</a:t>
            </a:r>
          </a:p>
        </p:txBody>
      </p:sp>
    </p:spTree>
    <p:extLst>
      <p:ext uri="{BB962C8B-B14F-4D97-AF65-F5344CB8AC3E}">
        <p14:creationId xmlns:p14="http://schemas.microsoft.com/office/powerpoint/2010/main" val="1822109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1200"/>
              </a:spcAft>
              <a:buNone/>
            </a:pPr>
            <a:r>
              <a:rPr lang="vi-VN" b="1" u="sng" dirty="0"/>
              <a:t>Case study</a:t>
            </a:r>
            <a:r>
              <a:rPr lang="en-US" b="1" u="sng" dirty="0"/>
              <a:t> 4</a:t>
            </a:r>
            <a:r>
              <a:rPr lang="vi-VN" b="1" u="sng" dirty="0"/>
              <a:t>: Case Study: Hệ thống IoT giám sát nông nghiệp ngoài trời</a:t>
            </a:r>
            <a:endParaRPr lang="en-US" b="1" u="sng" dirty="0"/>
          </a:p>
          <a:p>
            <a:pPr marL="0" lvl="0" indent="0" algn="l" rtl="0">
              <a:spcBef>
                <a:spcPts val="0"/>
              </a:spcBef>
              <a:spcAft>
                <a:spcPts val="1200"/>
              </a:spcAft>
              <a:buNone/>
            </a:pPr>
            <a:r>
              <a:rPr lang="vi-VN" b="1" dirty="0"/>
              <a:t>Ràng buộc kỹ thuật và môi trường</a:t>
            </a:r>
          </a:p>
          <a:p>
            <a:pPr marL="0" lvl="0" indent="0" algn="l" rtl="0">
              <a:spcBef>
                <a:spcPts val="0"/>
              </a:spcBef>
              <a:spcAft>
                <a:spcPts val="1200"/>
              </a:spcAft>
              <a:buNone/>
            </a:pPr>
            <a:r>
              <a:rPr lang="en-US" dirty="0"/>
              <a:t>1</a:t>
            </a:r>
            <a:r>
              <a:rPr lang="vi-VN" dirty="0"/>
              <a:t>. Môi trường hoạt động</a:t>
            </a:r>
          </a:p>
          <a:p>
            <a:pPr marL="285750" lvl="0" indent="-285750" algn="l" rtl="0">
              <a:spcBef>
                <a:spcPts val="0"/>
              </a:spcBef>
              <a:spcAft>
                <a:spcPts val="1200"/>
              </a:spcAft>
              <a:buFontTx/>
              <a:buChar char="-"/>
            </a:pPr>
            <a:r>
              <a:rPr lang="vi-VN" dirty="0"/>
              <a:t>Nhiệt độ &amp; độ ẩm: cảm biến đặt ngoài trời, chịu được biên độ -10°C đến 45°C, độ ẩm &gt; 90%. → Cần chọn thiết bị chống nước IP67, vỏ bọc chống bụi.</a:t>
            </a:r>
          </a:p>
          <a:p>
            <a:pPr marL="285750" lvl="0" indent="-285750" algn="l" rtl="0">
              <a:spcBef>
                <a:spcPts val="0"/>
              </a:spcBef>
              <a:spcAft>
                <a:spcPts val="1200"/>
              </a:spcAft>
              <a:buFontTx/>
              <a:buChar char="-"/>
            </a:pPr>
            <a:r>
              <a:rPr lang="vi-VN" dirty="0"/>
              <a:t>Nhiễu sóng: khu vực có nhiều thiết bị Wi-Fi từ dân cư xung quanh, gây nhiễu. → Quyết định dùng LoRaWAN (920 MHz ở Việt Nam) thay vì Wi-Fi/ZigBee.</a:t>
            </a:r>
          </a:p>
          <a:p>
            <a:pPr marL="285750" lvl="0" indent="-285750" algn="l" rtl="0">
              <a:spcBef>
                <a:spcPts val="0"/>
              </a:spcBef>
              <a:spcAft>
                <a:spcPts val="1200"/>
              </a:spcAft>
              <a:buFontTx/>
              <a:buChar char="-"/>
            </a:pPr>
            <a:r>
              <a:rPr lang="vi-VN" dirty="0"/>
              <a:t>Nguồn cấp: không có điện lưới ở tất cả điểm cảm biến. → Cảm biến chạy bằng pin mặt trời + pin dự phòng; bộ điều khiển bơm dùng điện lưới + UPS 2 giờ.</a:t>
            </a:r>
          </a:p>
        </p:txBody>
      </p:sp>
    </p:spTree>
    <p:extLst>
      <p:ext uri="{BB962C8B-B14F-4D97-AF65-F5344CB8AC3E}">
        <p14:creationId xmlns:p14="http://schemas.microsoft.com/office/powerpoint/2010/main" val="1186721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4</a:t>
            </a:r>
            <a:r>
              <a:rPr lang="vi-VN" b="1" u="sng" dirty="0"/>
              <a:t>: Case Study: Hệ thống IoT giám sát nông nghiệp ngoài trời</a:t>
            </a:r>
            <a:endParaRPr lang="en-US" b="1" u="sng" dirty="0"/>
          </a:p>
          <a:p>
            <a:pPr marL="0" lvl="0" indent="0" algn="l" rtl="0">
              <a:spcBef>
                <a:spcPts val="0"/>
              </a:spcBef>
              <a:spcAft>
                <a:spcPts val="1200"/>
              </a:spcAft>
              <a:buNone/>
            </a:pPr>
            <a:r>
              <a:rPr lang="vi-VN" b="1" dirty="0"/>
              <a:t>Ràng buộc kỹ thuật và môi trường</a:t>
            </a:r>
          </a:p>
          <a:p>
            <a:pPr marL="0" lvl="0" indent="0" algn="l" rtl="0">
              <a:spcBef>
                <a:spcPts val="0"/>
              </a:spcBef>
              <a:spcAft>
                <a:spcPts val="1200"/>
              </a:spcAft>
              <a:buNone/>
            </a:pPr>
            <a:r>
              <a:rPr lang="en-US" dirty="0"/>
              <a:t>2</a:t>
            </a:r>
            <a:r>
              <a:rPr lang="vi-VN" dirty="0"/>
              <a:t>. Ràng buộc pháp lý</a:t>
            </a:r>
          </a:p>
          <a:p>
            <a:pPr marL="285750" lvl="0" indent="-285750" algn="l" rtl="0">
              <a:spcBef>
                <a:spcPts val="0"/>
              </a:spcBef>
              <a:spcAft>
                <a:spcPts val="1200"/>
              </a:spcAft>
              <a:buFontTx/>
              <a:buChar char="-"/>
            </a:pPr>
            <a:r>
              <a:rPr lang="vi-VN" dirty="0"/>
              <a:t>Quy định tần số vô tuyến: theo luật Việt Nam, LoRaWAN hoạt động hợp pháp ở 920–925 MHz. → Phải cấu hình đúng dải tần, tránh bị xử phạt.</a:t>
            </a:r>
          </a:p>
          <a:p>
            <a:pPr marL="285750" lvl="0" indent="-285750" algn="l" rtl="0">
              <a:spcBef>
                <a:spcPts val="0"/>
              </a:spcBef>
              <a:spcAft>
                <a:spcPts val="1200"/>
              </a:spcAft>
              <a:buFontTx/>
              <a:buChar char="-"/>
            </a:pPr>
            <a:r>
              <a:rPr lang="vi-VN" dirty="0"/>
              <a:t>Bảo mật dữ liệu: dữ liệu về quy trình canh tác là tài sản doanh nghiệp. → Dữ liệu phải được mã hóa TLS khi truyền, lưu trữ trên cloud trong nước để tuân thủ luật bảo vệ dữ liệu nội địa.</a:t>
            </a:r>
          </a:p>
        </p:txBody>
      </p:sp>
    </p:spTree>
    <p:extLst>
      <p:ext uri="{BB962C8B-B14F-4D97-AF65-F5344CB8AC3E}">
        <p14:creationId xmlns:p14="http://schemas.microsoft.com/office/powerpoint/2010/main" val="3121469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4</a:t>
            </a:r>
            <a:r>
              <a:rPr lang="vi-VN" b="1" u="sng" dirty="0"/>
              <a:t>: Case Study: Hệ thống IoT giám sát nông nghiệp ngoài trời</a:t>
            </a:r>
            <a:endParaRPr lang="en-US" b="1" u="sng" dirty="0"/>
          </a:p>
          <a:p>
            <a:pPr marL="0" lvl="0" indent="0" algn="l" rtl="0">
              <a:spcBef>
                <a:spcPts val="0"/>
              </a:spcBef>
              <a:spcAft>
                <a:spcPts val="1200"/>
              </a:spcAft>
              <a:buNone/>
            </a:pPr>
            <a:r>
              <a:rPr lang="vi-VN" b="1" dirty="0"/>
              <a:t>Ràng buộc kỹ thuật và môi trường</a:t>
            </a:r>
          </a:p>
          <a:p>
            <a:pPr marL="0" lvl="0" indent="0" algn="l" rtl="0">
              <a:spcBef>
                <a:spcPts val="0"/>
              </a:spcBef>
              <a:spcAft>
                <a:spcPts val="1200"/>
              </a:spcAft>
              <a:buNone/>
            </a:pPr>
            <a:r>
              <a:rPr lang="en-US" dirty="0"/>
              <a:t>3</a:t>
            </a:r>
            <a:r>
              <a:rPr lang="vi-VN" dirty="0"/>
              <a:t>. Tài nguyên thiết bị</a:t>
            </a:r>
          </a:p>
          <a:p>
            <a:pPr marL="285750" lvl="0" indent="-285750" algn="l" rtl="0">
              <a:spcBef>
                <a:spcPts val="0"/>
              </a:spcBef>
              <a:spcAft>
                <a:spcPts val="1200"/>
              </a:spcAft>
              <a:buFontTx/>
              <a:buChar char="-"/>
            </a:pPr>
            <a:r>
              <a:rPr lang="vi-VN" dirty="0"/>
              <a:t>CPU &amp; bộ nhớ: cảm biến dùng chip STM32 64 KB RAM, 256 KB Flash → không thể chạy phân tích dữ liệu phức tạp tại chỗ. → Chỉ xử lý sơ bộ (lọc nhiễu, nén), phần phân tích nâng cao chuyển lên cloud.</a:t>
            </a:r>
          </a:p>
          <a:p>
            <a:pPr marL="285750" lvl="0" indent="-285750" algn="l" rtl="0">
              <a:spcBef>
                <a:spcPts val="0"/>
              </a:spcBef>
              <a:spcAft>
                <a:spcPts val="1200"/>
              </a:spcAft>
              <a:buFontTx/>
              <a:buChar char="-"/>
            </a:pPr>
            <a:r>
              <a:rPr lang="vi-VN" dirty="0"/>
              <a:t>Pin: mỗi node cảm biến phải hoạt động ít nhất 6 tháng không bảo trì. → Cấu hình: lấy mẫu mỗi 10 phút, sleep mode, chỉ gửi dữ liệu khi có thay đổi lớn.</a:t>
            </a:r>
          </a:p>
        </p:txBody>
      </p:sp>
    </p:spTree>
    <p:extLst>
      <p:ext uri="{BB962C8B-B14F-4D97-AF65-F5344CB8AC3E}">
        <p14:creationId xmlns:p14="http://schemas.microsoft.com/office/powerpoint/2010/main" val="3203299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Case study</a:t>
            </a:r>
            <a:r>
              <a:rPr lang="en-US" b="1" u="sng" dirty="0"/>
              <a:t> 4</a:t>
            </a:r>
            <a:r>
              <a:rPr lang="vi-VN" b="1" u="sng" dirty="0"/>
              <a:t>: Case Study: Hệ thống IoT giám sát nông nghiệp ngoài trời</a:t>
            </a:r>
            <a:endParaRPr lang="en-US" b="1" u="sng" dirty="0"/>
          </a:p>
          <a:p>
            <a:pPr marL="0" lvl="0" indent="0" algn="l" rtl="0">
              <a:spcBef>
                <a:spcPts val="0"/>
              </a:spcBef>
              <a:spcAft>
                <a:spcPts val="1200"/>
              </a:spcAft>
              <a:buNone/>
            </a:pPr>
            <a:r>
              <a:rPr lang="en-US" b="1" dirty="0" err="1"/>
              <a:t>Kết</a:t>
            </a:r>
            <a:r>
              <a:rPr lang="en-US" b="1" dirty="0"/>
              <a:t> </a:t>
            </a:r>
            <a:r>
              <a:rPr lang="en-US" b="1" dirty="0" err="1"/>
              <a:t>quả</a:t>
            </a:r>
            <a:r>
              <a:rPr lang="en-US" b="1" dirty="0"/>
              <a:t> </a:t>
            </a:r>
            <a:r>
              <a:rPr lang="en-US" b="1" dirty="0" err="1"/>
              <a:t>phân</a:t>
            </a:r>
            <a:r>
              <a:rPr lang="en-US" b="1" dirty="0"/>
              <a:t> </a:t>
            </a:r>
            <a:r>
              <a:rPr lang="en-US" b="1" dirty="0" err="1"/>
              <a:t>tích</a:t>
            </a:r>
            <a:endParaRPr lang="en-US" b="1" dirty="0"/>
          </a:p>
          <a:p>
            <a:pPr marL="0" lvl="0" indent="0" algn="l" rtl="0">
              <a:spcBef>
                <a:spcPts val="0"/>
              </a:spcBef>
              <a:spcAft>
                <a:spcPts val="1200"/>
              </a:spcAft>
              <a:buNone/>
            </a:pPr>
            <a:endParaRPr lang="vi-VN" dirty="0"/>
          </a:p>
          <a:p>
            <a:pPr marL="285750" lvl="0" indent="-285750" algn="l" rtl="0">
              <a:spcBef>
                <a:spcPts val="0"/>
              </a:spcBef>
              <a:spcAft>
                <a:spcPts val="1200"/>
              </a:spcAft>
              <a:buFontTx/>
              <a:buChar char="-"/>
            </a:pPr>
            <a:r>
              <a:rPr lang="vi-VN" dirty="0"/>
              <a:t>Môi trường khắc nghiệt → cần thiết bị chống nước, pin mặt trời, kết nối LoRaWAN.</a:t>
            </a:r>
          </a:p>
          <a:p>
            <a:pPr marL="285750" lvl="0" indent="-285750" algn="l" rtl="0">
              <a:spcBef>
                <a:spcPts val="0"/>
              </a:spcBef>
              <a:spcAft>
                <a:spcPts val="1200"/>
              </a:spcAft>
              <a:buFontTx/>
              <a:buChar char="-"/>
            </a:pPr>
            <a:r>
              <a:rPr lang="vi-VN" dirty="0"/>
              <a:t>Pháp lý → tuân thủ tần số 920–925 MHz, mã hóa TLS, lưu trữ dữ liệu trong nước.</a:t>
            </a:r>
          </a:p>
          <a:p>
            <a:pPr marL="285750" lvl="0" indent="-285750" algn="l" rtl="0">
              <a:spcBef>
                <a:spcPts val="0"/>
              </a:spcBef>
              <a:spcAft>
                <a:spcPts val="1200"/>
              </a:spcAft>
              <a:buFontTx/>
              <a:buChar char="-"/>
            </a:pPr>
            <a:r>
              <a:rPr lang="vi-VN" dirty="0"/>
              <a:t>Giới hạn thiết bị → giảm tần suất lấy mẫu, đẩy xử lý nặng lên cloud.</a:t>
            </a:r>
          </a:p>
        </p:txBody>
      </p:sp>
    </p:spTree>
    <p:extLst>
      <p:ext uri="{BB962C8B-B14F-4D97-AF65-F5344CB8AC3E}">
        <p14:creationId xmlns:p14="http://schemas.microsoft.com/office/powerpoint/2010/main" val="1797125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4"/>
            <a:ext cx="8520600" cy="3806984"/>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1200"/>
              </a:spcAft>
              <a:buNone/>
            </a:pPr>
            <a:r>
              <a:rPr lang="vi-VN" b="1" u="sng" dirty="0"/>
              <a:t>Case study</a:t>
            </a:r>
            <a:r>
              <a:rPr lang="en-US" b="1" u="sng" dirty="0"/>
              <a:t> 4</a:t>
            </a:r>
            <a:r>
              <a:rPr lang="vi-VN" b="1" u="sng" dirty="0"/>
              <a:t>: Case Study: Hệ thống IoT giám sát nông nghiệp ngoài trời</a:t>
            </a:r>
            <a:endParaRPr lang="en-US" b="1" u="sng" dirty="0"/>
          </a:p>
          <a:p>
            <a:pPr marL="0" lvl="0" indent="0" algn="l" rtl="0">
              <a:spcBef>
                <a:spcPts val="0"/>
              </a:spcBef>
              <a:spcAft>
                <a:spcPts val="1200"/>
              </a:spcAft>
              <a:buNone/>
            </a:pPr>
            <a:r>
              <a:rPr lang="en-US" b="1" dirty="0" err="1"/>
              <a:t>Bài</a:t>
            </a:r>
            <a:r>
              <a:rPr lang="en-US" b="1" dirty="0"/>
              <a:t> </a:t>
            </a:r>
            <a:r>
              <a:rPr lang="en-US" b="1" dirty="0" err="1"/>
              <a:t>học</a:t>
            </a:r>
            <a:r>
              <a:rPr lang="en-US" b="1" dirty="0"/>
              <a:t> </a:t>
            </a:r>
            <a:r>
              <a:rPr lang="en-US" b="1" dirty="0" err="1"/>
              <a:t>rút</a:t>
            </a:r>
            <a:r>
              <a:rPr lang="en-US" b="1" dirty="0"/>
              <a:t> </a:t>
            </a:r>
            <a:r>
              <a:rPr lang="en-US" b="1" dirty="0" err="1"/>
              <a:t>ra</a:t>
            </a:r>
            <a:endParaRPr lang="vi-VN" dirty="0"/>
          </a:p>
          <a:p>
            <a:pPr marL="0" lvl="0" indent="0" algn="l" rtl="0">
              <a:spcBef>
                <a:spcPts val="0"/>
              </a:spcBef>
              <a:spcAft>
                <a:spcPts val="1200"/>
              </a:spcAft>
              <a:buNone/>
            </a:pPr>
            <a:r>
              <a:rPr lang="vi-VN" dirty="0"/>
              <a:t>Nếu chỉ thiết kế dựa trên yêu cầu chức năng (đo độ ẩm, điều khiển bơm) mà không phân tích ràng buộc kỹ thuật và môi trường, hệ thống sẽ:</a:t>
            </a:r>
          </a:p>
          <a:p>
            <a:pPr marL="285750" lvl="0" indent="-285750" algn="l" rtl="0">
              <a:spcBef>
                <a:spcPts val="0"/>
              </a:spcBef>
              <a:spcAft>
                <a:spcPts val="1200"/>
              </a:spcAft>
              <a:buFontTx/>
              <a:buChar char="-"/>
            </a:pPr>
            <a:r>
              <a:rPr lang="vi-VN" dirty="0"/>
              <a:t>Bị hỏng nhanh do mưa nắng.</a:t>
            </a:r>
          </a:p>
          <a:p>
            <a:pPr marL="285750" lvl="0" indent="-285750" algn="l" rtl="0">
              <a:spcBef>
                <a:spcPts val="0"/>
              </a:spcBef>
              <a:spcAft>
                <a:spcPts val="1200"/>
              </a:spcAft>
              <a:buFontTx/>
              <a:buChar char="-"/>
            </a:pPr>
            <a:r>
              <a:rPr lang="vi-VN" dirty="0"/>
              <a:t>Bất hợp pháp nếu dùng sai tần số.</a:t>
            </a:r>
          </a:p>
          <a:p>
            <a:pPr marL="285750" lvl="0" indent="-285750" algn="l" rtl="0">
              <a:spcBef>
                <a:spcPts val="0"/>
              </a:spcBef>
              <a:spcAft>
                <a:spcPts val="1200"/>
              </a:spcAft>
              <a:buFontTx/>
              <a:buChar char="-"/>
            </a:pPr>
            <a:r>
              <a:rPr lang="vi-VN" dirty="0"/>
              <a:t>Nhanh hết pin và tốn kém bảo trì.</a:t>
            </a:r>
          </a:p>
          <a:p>
            <a:pPr marL="0" lvl="0" indent="0" algn="l" rtl="0">
              <a:spcBef>
                <a:spcPts val="0"/>
              </a:spcBef>
              <a:spcAft>
                <a:spcPts val="1200"/>
              </a:spcAft>
              <a:buNone/>
            </a:pPr>
            <a:endParaRPr lang="en-US" dirty="0"/>
          </a:p>
          <a:p>
            <a:pPr marL="0" lvl="0" indent="0" algn="l" rtl="0">
              <a:spcBef>
                <a:spcPts val="0"/>
              </a:spcBef>
              <a:spcAft>
                <a:spcPts val="1200"/>
              </a:spcAft>
              <a:buNone/>
            </a:pPr>
            <a:r>
              <a:rPr lang="en-US" dirty="0"/>
              <a:t>=&gt;</a:t>
            </a:r>
            <a:r>
              <a:rPr lang="vi-VN" dirty="0"/>
              <a:t> Nhờ phân tích ràng buộc, hệ thống IoT được thiết kế bền vững, hợp pháp và tiết kiệm chi phí.</a:t>
            </a:r>
          </a:p>
        </p:txBody>
      </p:sp>
    </p:spTree>
    <p:extLst>
      <p:ext uri="{BB962C8B-B14F-4D97-AF65-F5344CB8AC3E}">
        <p14:creationId xmlns:p14="http://schemas.microsoft.com/office/powerpoint/2010/main" val="1434235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Xây dựng mô hình yêu cầu</a:t>
            </a:r>
          </a:p>
          <a:p>
            <a:pPr marL="285750" lvl="0" indent="-285750" algn="l" rtl="0">
              <a:spcBef>
                <a:spcPts val="0"/>
              </a:spcBef>
              <a:spcAft>
                <a:spcPts val="1200"/>
              </a:spcAft>
              <a:buFontTx/>
              <a:buChar char="-"/>
            </a:pPr>
            <a:endParaRPr lang="vi-VN" dirty="0"/>
          </a:p>
          <a:p>
            <a:pPr marL="285750" lvl="0" indent="-285750" algn="l" rtl="0">
              <a:spcBef>
                <a:spcPts val="0"/>
              </a:spcBef>
              <a:spcAft>
                <a:spcPts val="1200"/>
              </a:spcAft>
              <a:buFontTx/>
              <a:buChar char="-"/>
            </a:pPr>
            <a:r>
              <a:rPr lang="vi-VN" dirty="0"/>
              <a:t>Dùng sơ đồ Use Case, DFD (Data Flow Diagram) hoặc mô hình 3 lớp IoT (Perception – Network – Application) để biểu diễn yêu cầu.</a:t>
            </a:r>
          </a:p>
          <a:p>
            <a:pPr marL="285750" lvl="0" indent="-285750" algn="l" rtl="0">
              <a:spcBef>
                <a:spcPts val="0"/>
              </a:spcBef>
              <a:spcAft>
                <a:spcPts val="1200"/>
              </a:spcAft>
              <a:buFontTx/>
              <a:buChar char="-"/>
            </a:pPr>
            <a:endParaRPr lang="vi-VN" dirty="0"/>
          </a:p>
          <a:p>
            <a:pPr marL="285750" lvl="0" indent="-285750" algn="l" rtl="0">
              <a:spcBef>
                <a:spcPts val="0"/>
              </a:spcBef>
              <a:spcAft>
                <a:spcPts val="1200"/>
              </a:spcAft>
              <a:buFontTx/>
              <a:buChar char="-"/>
            </a:pPr>
            <a:r>
              <a:rPr lang="vi-VN" dirty="0"/>
              <a:t>Tổ chức tài liệu yêu cầu (SRS – Software Requirement Specification) để chuẩn hóa.</a:t>
            </a:r>
          </a:p>
        </p:txBody>
      </p:sp>
    </p:spTree>
    <p:extLst>
      <p:ext uri="{BB962C8B-B14F-4D97-AF65-F5344CB8AC3E}">
        <p14:creationId xmlns:p14="http://schemas.microsoft.com/office/powerpoint/2010/main" val="35327202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vi-VN" b="1" u="sng" dirty="0"/>
              <a:t>Xác minh và phê duyệt yêu cầu</a:t>
            </a:r>
          </a:p>
          <a:p>
            <a:pPr marL="285750" lvl="0" indent="-285750" algn="l" rtl="0">
              <a:spcBef>
                <a:spcPts val="0"/>
              </a:spcBef>
              <a:spcAft>
                <a:spcPts val="1200"/>
              </a:spcAft>
              <a:buFontTx/>
              <a:buChar char="-"/>
            </a:pPr>
            <a:endParaRPr lang="vi-VN" dirty="0"/>
          </a:p>
          <a:p>
            <a:pPr marL="285750" lvl="0" indent="-285750" algn="l" rtl="0">
              <a:spcBef>
                <a:spcPts val="0"/>
              </a:spcBef>
              <a:spcAft>
                <a:spcPts val="1200"/>
              </a:spcAft>
              <a:buFontTx/>
              <a:buChar char="-"/>
            </a:pPr>
            <a:r>
              <a:rPr lang="vi-VN" dirty="0"/>
              <a:t>Xem xét lại yêu cầu với tất cả bên liên quan.</a:t>
            </a:r>
          </a:p>
          <a:p>
            <a:pPr marL="285750" lvl="0" indent="-285750" algn="l" rtl="0">
              <a:spcBef>
                <a:spcPts val="0"/>
              </a:spcBef>
              <a:spcAft>
                <a:spcPts val="1200"/>
              </a:spcAft>
              <a:buFontTx/>
              <a:buChar char="-"/>
            </a:pPr>
            <a:r>
              <a:rPr lang="vi-VN" dirty="0"/>
              <a:t>Ưu tiên hóa yêu cầu (must-have, should-have, nice-to-have).</a:t>
            </a:r>
          </a:p>
          <a:p>
            <a:pPr marL="285750" lvl="0" indent="-285750" algn="l" rtl="0">
              <a:spcBef>
                <a:spcPts val="0"/>
              </a:spcBef>
              <a:spcAft>
                <a:spcPts val="1200"/>
              </a:spcAft>
              <a:buFontTx/>
              <a:buChar char="-"/>
            </a:pPr>
            <a:r>
              <a:rPr lang="vi-VN" dirty="0"/>
              <a:t>Chốt bộ yêu cầu chính thức trước khi chuyển sang thiết kế logic.</a:t>
            </a:r>
          </a:p>
        </p:txBody>
      </p:sp>
    </p:spTree>
    <p:extLst>
      <p:ext uri="{BB962C8B-B14F-4D97-AF65-F5344CB8AC3E}">
        <p14:creationId xmlns:p14="http://schemas.microsoft.com/office/powerpoint/2010/main" val="2792498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fontScale="90000"/>
          </a:bodyPr>
          <a:lstStyle/>
          <a:p>
            <a:pPr marL="457200" lvl="0" indent="-400050" algn="l" rtl="0">
              <a:spcBef>
                <a:spcPts val="0"/>
              </a:spcBef>
              <a:spcAft>
                <a:spcPts val="0"/>
              </a:spcAft>
              <a:buSzPct val="100000"/>
              <a:buAutoNum type="arabicPeriod"/>
            </a:pPr>
            <a:r>
              <a:rPr lang="en-CA" dirty="0" err="1"/>
              <a:t>Phân</a:t>
            </a:r>
            <a:r>
              <a:rPr lang="en-CA" dirty="0"/>
              <a:t> </a:t>
            </a:r>
            <a:r>
              <a:rPr lang="en-CA" dirty="0" err="1"/>
              <a:t>Tích</a:t>
            </a:r>
            <a:r>
              <a:rPr lang="en-CA" dirty="0"/>
              <a:t> </a:t>
            </a:r>
            <a:r>
              <a:rPr lang="en-CA" dirty="0" err="1"/>
              <a:t>Yêu</a:t>
            </a:r>
            <a:r>
              <a:rPr lang="en-CA" dirty="0"/>
              <a:t> </a:t>
            </a:r>
            <a:r>
              <a:rPr lang="en-CA" dirty="0" err="1"/>
              <a:t>Cầu</a:t>
            </a:r>
            <a:endParaRPr dirty="0"/>
          </a:p>
        </p:txBody>
      </p:sp>
      <p:sp>
        <p:nvSpPr>
          <p:cNvPr id="64" name="Google Shape;64;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en-US" b="1" u="sng" dirty="0"/>
              <a:t>C</a:t>
            </a:r>
            <a:r>
              <a:rPr lang="vi-VN" b="1" u="sng" dirty="0"/>
              <a:t>ác bước phân tích yêu cầu hệ thống IoT gồm:</a:t>
            </a:r>
            <a:endParaRPr lang="vi-VN" dirty="0"/>
          </a:p>
          <a:p>
            <a:pPr marL="285750" lvl="0" indent="-285750" algn="l" rtl="0">
              <a:spcBef>
                <a:spcPts val="0"/>
              </a:spcBef>
              <a:spcAft>
                <a:spcPts val="1200"/>
              </a:spcAft>
              <a:buFontTx/>
              <a:buChar char="-"/>
            </a:pPr>
            <a:r>
              <a:rPr lang="vi-VN" dirty="0"/>
              <a:t>Xác định mục tiêu &amp; phạm vi</a:t>
            </a:r>
          </a:p>
          <a:p>
            <a:pPr marL="285750" lvl="0" indent="-285750" algn="l" rtl="0">
              <a:spcBef>
                <a:spcPts val="0"/>
              </a:spcBef>
              <a:spcAft>
                <a:spcPts val="1200"/>
              </a:spcAft>
              <a:buFontTx/>
              <a:buChar char="-"/>
            </a:pPr>
            <a:r>
              <a:rPr lang="vi-VN" dirty="0"/>
              <a:t>Thu thập yêu cầu từ stakeholders</a:t>
            </a:r>
          </a:p>
          <a:p>
            <a:pPr marL="285750" lvl="0" indent="-285750" algn="l" rtl="0">
              <a:spcBef>
                <a:spcPts val="0"/>
              </a:spcBef>
              <a:spcAft>
                <a:spcPts val="1200"/>
              </a:spcAft>
              <a:buFontTx/>
              <a:buChar char="-"/>
            </a:pPr>
            <a:r>
              <a:rPr lang="vi-VN" dirty="0"/>
              <a:t>Xác định yêu cầu chức năng</a:t>
            </a:r>
          </a:p>
          <a:p>
            <a:pPr marL="285750" lvl="0" indent="-285750" algn="l" rtl="0">
              <a:spcBef>
                <a:spcPts val="0"/>
              </a:spcBef>
              <a:spcAft>
                <a:spcPts val="1200"/>
              </a:spcAft>
              <a:buFontTx/>
              <a:buChar char="-"/>
            </a:pPr>
            <a:r>
              <a:rPr lang="vi-VN" dirty="0"/>
              <a:t>Xác định yêu cầu phi chức năng</a:t>
            </a:r>
          </a:p>
          <a:p>
            <a:pPr marL="285750" lvl="0" indent="-285750" algn="l" rtl="0">
              <a:spcBef>
                <a:spcPts val="0"/>
              </a:spcBef>
              <a:spcAft>
                <a:spcPts val="1200"/>
              </a:spcAft>
              <a:buFontTx/>
              <a:buChar char="-"/>
            </a:pPr>
            <a:r>
              <a:rPr lang="vi-VN" dirty="0"/>
              <a:t>Phân tích ràng buộc</a:t>
            </a:r>
          </a:p>
          <a:p>
            <a:pPr marL="285750" lvl="0" indent="-285750" algn="l" rtl="0">
              <a:spcBef>
                <a:spcPts val="0"/>
              </a:spcBef>
              <a:spcAft>
                <a:spcPts val="1200"/>
              </a:spcAft>
              <a:buFontTx/>
              <a:buChar char="-"/>
            </a:pPr>
            <a:r>
              <a:rPr lang="vi-VN" dirty="0"/>
              <a:t>Mô hình hóa yêu cầu</a:t>
            </a:r>
          </a:p>
          <a:p>
            <a:pPr marL="285750" lvl="0" indent="-285750" algn="l" rtl="0">
              <a:spcBef>
                <a:spcPts val="0"/>
              </a:spcBef>
              <a:spcAft>
                <a:spcPts val="1200"/>
              </a:spcAft>
              <a:buFontTx/>
              <a:buChar char="-"/>
            </a:pPr>
            <a:r>
              <a:rPr lang="vi-VN" dirty="0"/>
              <a:t>Xác minh &amp; phê duyệt.</a:t>
            </a:r>
          </a:p>
        </p:txBody>
      </p:sp>
    </p:spTree>
    <p:extLst>
      <p:ext uri="{BB962C8B-B14F-4D97-AF65-F5344CB8AC3E}">
        <p14:creationId xmlns:p14="http://schemas.microsoft.com/office/powerpoint/2010/main" val="704024939"/>
      </p:ext>
    </p:extLst>
  </p:cSld>
  <p:clrMapOvr>
    <a:masterClrMapping/>
  </p:clrMapOvr>
</p:sld>
</file>

<file path=ppt/theme/theme1.xml><?xml version="1.0" encoding="utf-8"?>
<a:theme xmlns:a="http://schemas.openxmlformats.org/drawingml/2006/main"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360</TotalTime>
  <Words>8033</Words>
  <Application>Microsoft Office PowerPoint</Application>
  <PresentationFormat>On-screen Show (16:9)</PresentationFormat>
  <Paragraphs>488</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Source Sans Pro</vt:lpstr>
      <vt:lpstr>Raleway</vt:lpstr>
      <vt:lpstr>Arial</vt:lpstr>
      <vt:lpstr>Plum</vt:lpstr>
      <vt:lpstr>Chap 4 Thiết Kế Hệ Thống IoT</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lpstr>Phân Tích Yêu Cầu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 4 Thiết Kế Hệ Thống IoT</dc:title>
  <cp:lastModifiedBy>Admin</cp:lastModifiedBy>
  <cp:revision>85</cp:revision>
  <dcterms:modified xsi:type="dcterms:W3CDTF">2025-10-06T07:19:41Z</dcterms:modified>
</cp:coreProperties>
</file>