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971" autoAdjust="0"/>
  </p:normalViewPr>
  <p:slideViewPr>
    <p:cSldViewPr snapToGrid="0" snapToObjects="1">
      <p:cViewPr varScale="1">
        <p:scale>
          <a:sx n="97" d="100"/>
          <a:sy n="97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Data as a Strategic Corporate Asset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muốn nhấn mạnh rằng </a:t>
            </a:r>
            <a:r>
              <a:rPr lang="vi-VN" b="1" dirty="0"/>
              <a:t>dữ liệu ngày nay không còn chỉ là “phụ phẩm” của hệ thống CNTT</a:t>
            </a:r>
            <a:r>
              <a:rPr lang="vi-VN" dirty="0"/>
              <a:t>, mà đã trở thành </a:t>
            </a:r>
            <a:r>
              <a:rPr lang="vi-VN" b="1" dirty="0"/>
              <a:t>tài sản chiến lược cốt lõi của doanh nghiệp</a:t>
            </a:r>
            <a:r>
              <a:rPr lang="vi-VN" dirty="0"/>
              <a:t>, tương đương với vốn, nhân lực hay hạ tầng vật lý.</a:t>
            </a:r>
          </a:p>
          <a:p>
            <a:endParaRPr lang="en-US" b="1" dirty="0"/>
          </a:p>
          <a:p>
            <a:r>
              <a:rPr lang="vi-VN" b="1" dirty="0"/>
              <a:t>1. Modern Raw Material – Dữ liệu như “nguyên liệu thô” thời hiện đại</a:t>
            </a:r>
          </a:p>
          <a:p>
            <a:r>
              <a:rPr lang="vi-VN" dirty="0"/>
              <a:t>Ở thế kỷ 21, dữ liệu đóng vai trò tương tự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điện trong thời đại công nghiệp,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dầu mỏ trong thế kỷ 20.</a:t>
            </a:r>
          </a:p>
          <a:p>
            <a:r>
              <a:rPr lang="vi-VN" dirty="0"/>
              <a:t>Doanh nghiệp hiện đại </a:t>
            </a:r>
            <a:r>
              <a:rPr lang="vi-VN" b="1" dirty="0"/>
              <a:t>vận hành, tối ưu và cạnh tranh</a:t>
            </a:r>
            <a:r>
              <a:rPr lang="vi-VN" dirty="0"/>
              <a:t> dựa trên 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khách hàng,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vận hành,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thị trường,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hành vi số.</a:t>
            </a:r>
          </a:p>
          <a:p>
            <a:r>
              <a:rPr lang="en-US" dirty="0"/>
              <a:t>=&gt; </a:t>
            </a:r>
            <a:r>
              <a:rPr lang="vi-VN" dirty="0"/>
              <a:t>Tuy nhiên, giống như nguyên liệu thô, </a:t>
            </a:r>
            <a:r>
              <a:rPr lang="vi-VN" b="1" dirty="0"/>
              <a:t>dữ liệu tự thân chưa có giá trị</a:t>
            </a:r>
            <a:r>
              <a:rPr lang="vi-VN" dirty="0"/>
              <a:t> nếu không được xử lý, tinh lọc và khai thác đúng cách.</a:t>
            </a:r>
          </a:p>
          <a:p>
            <a:endParaRPr lang="en-US" b="1" dirty="0"/>
          </a:p>
          <a:p>
            <a:r>
              <a:rPr lang="vi-VN" b="1" dirty="0"/>
              <a:t>2. Strategic Value – Giá trị chiến lược của dữ liệu</a:t>
            </a:r>
          </a:p>
          <a:p>
            <a:r>
              <a:rPr lang="vi-VN" dirty="0"/>
              <a:t>Giá trị thực sự của dữ liệu xuất hiện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được </a:t>
            </a:r>
            <a:r>
              <a:rPr lang="vi-VN" b="1" dirty="0"/>
              <a:t>chuyển thành thông tin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thông tin được </a:t>
            </a:r>
            <a:r>
              <a:rPr lang="vi-VN" b="1" dirty="0"/>
              <a:t>phân tích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kết quả phân tích được dùng để </a:t>
            </a:r>
            <a:r>
              <a:rPr lang="vi-VN" b="1" dirty="0"/>
              <a:t>ra quyết định</a:t>
            </a:r>
            <a:r>
              <a:rPr lang="vi-VN" dirty="0"/>
              <a:t>.</a:t>
            </a:r>
          </a:p>
          <a:p>
            <a:r>
              <a:rPr lang="vi-VN" dirty="0"/>
              <a:t>Thông tin từ dữ liệu giúp doanh nghiệp: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sự không chắc chắn,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hạn chế quyết định dựa trên cảm tính,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chuyển sang </a:t>
            </a:r>
            <a:r>
              <a:rPr lang="vi-VN" b="1" dirty="0"/>
              <a:t>ra quyết định dựa trên bằng chứng (evidence-based decision making)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Đây chính là điểm cốt lõi mà </a:t>
            </a:r>
            <a:r>
              <a:rPr lang="vi-VN" b="1" dirty="0"/>
              <a:t>Business Intelligence</a:t>
            </a:r>
            <a:r>
              <a:rPr lang="vi-VN" dirty="0"/>
              <a:t> mang lại.</a:t>
            </a:r>
          </a:p>
          <a:p>
            <a:endParaRPr lang="en-US" b="1" dirty="0"/>
          </a:p>
          <a:p>
            <a:r>
              <a:rPr lang="vi-VN" b="1" dirty="0"/>
              <a:t>3. Từ dữ liệu đến quyết định – Vai trò của BI</a:t>
            </a:r>
          </a:p>
          <a:p>
            <a:r>
              <a:rPr lang="vi-VN" dirty="0"/>
              <a:t>Nếu chỉ thu thập dữ liệu mà: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tích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chuẩn hóa,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phân tích,</a:t>
            </a:r>
          </a:p>
          <a:p>
            <a:r>
              <a:rPr lang="vi-VN" dirty="0"/>
              <a:t>thì doanh nghiệp chỉ đang </a:t>
            </a:r>
            <a:r>
              <a:rPr lang="vi-VN" b="1" dirty="0"/>
              <a:t>tích trữ dữ liệu</a:t>
            </a:r>
            <a:r>
              <a:rPr lang="vi-VN" dirty="0"/>
              <a:t>, chứ chưa khai thác giá trị.</a:t>
            </a:r>
          </a:p>
          <a:p>
            <a:r>
              <a:rPr lang="vi-VN" dirty="0"/>
              <a:t>Business Intelligence xuất hiện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dữ liệu phân tán thành cái nhìn thống nhất,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 bức tranh toàn cảnh cho nhà quản lý,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các quyết định chiến lược, chiến thuật và tác nghiệp.</a:t>
            </a:r>
          </a:p>
          <a:p>
            <a:endParaRPr lang="en-US" b="1" dirty="0"/>
          </a:p>
          <a:p>
            <a:r>
              <a:rPr lang="vi-VN" b="1" dirty="0"/>
              <a:t>4. Giải thích câu trích dẫn</a:t>
            </a:r>
          </a:p>
          <a:p>
            <a:r>
              <a:rPr lang="vi-VN" i="1" dirty="0"/>
              <a:t>“Data is the new sun: it’s limitless and touches everything firms do.”</a:t>
            </a:r>
            <a:endParaRPr lang="vi-VN" dirty="0"/>
          </a:p>
          <a:p>
            <a:r>
              <a:rPr lang="vi-VN" dirty="0"/>
              <a:t>Câu này muốn nói rằng: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</a:t>
            </a:r>
            <a:r>
              <a:rPr lang="vi-VN" b="1" dirty="0"/>
              <a:t>lan tỏa đến mọi hoạt động</a:t>
            </a:r>
            <a:r>
              <a:rPr lang="vi-VN" dirty="0"/>
              <a:t> của doanh nghiệp: marketing, tài chính, vận hành, nhân sự;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gần như </a:t>
            </a:r>
            <a:r>
              <a:rPr lang="vi-VN" b="1" dirty="0"/>
              <a:t>không có giới hạn</a:t>
            </a:r>
            <a:r>
              <a:rPr lang="vi-VN" dirty="0"/>
              <a:t>, nhưng nếu không được quản lý tốt thì cũng có thể gây nhiễu, quá tải và rủi ro.</a:t>
            </a:r>
          </a:p>
          <a:p>
            <a:r>
              <a:rPr lang="en-US" dirty="0"/>
              <a:t>=&gt; </a:t>
            </a:r>
            <a:r>
              <a:rPr lang="vi-VN" dirty="0"/>
              <a:t>Do đó, </a:t>
            </a:r>
            <a:r>
              <a:rPr lang="vi-VN" b="1" dirty="0"/>
              <a:t>quản trị và khai thác dữ liệu</a:t>
            </a:r>
            <a:r>
              <a:rPr lang="vi-VN" dirty="0"/>
              <a:t> trở thành năng lực sống còn.</a:t>
            </a:r>
          </a:p>
          <a:p>
            <a:endParaRPr lang="en-US" b="1" dirty="0"/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là </a:t>
            </a:r>
            <a:r>
              <a:rPr lang="vi-VN" b="1" dirty="0"/>
              <a:t>tài sản</a:t>
            </a:r>
            <a:r>
              <a:rPr lang="vi-VN" dirty="0"/>
              <a:t>, không phải phụ phẩm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không nằm ở việc “có nhiều dữ liệu”, mà ở việc </a:t>
            </a:r>
            <a:r>
              <a:rPr lang="vi-VN" b="1" dirty="0"/>
              <a:t>biết khai thác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Intelligence là cầu nối giữa:</a:t>
            </a:r>
            <a:br>
              <a:rPr lang="vi-VN" dirty="0"/>
            </a:br>
            <a:r>
              <a:rPr lang="vi-VN" b="1" dirty="0"/>
              <a:t>Data → Information → Insight → Decision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Data Deluge: Managing the Information Explosion</a:t>
            </a:r>
          </a:p>
          <a:p>
            <a:r>
              <a:rPr lang="vi-VN" b="1" dirty="0"/>
              <a:t>Thông điệp chính của slide</a:t>
            </a:r>
          </a:p>
          <a:p>
            <a:r>
              <a:rPr lang="vi-VN" dirty="0"/>
              <a:t>Slide này mô tả một thực tế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Doanh nghiệp ngày nay không thiếu dữ liệu, mà thiếu khả năng biến dữ liệu thành insight có giá trị.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1. Nguồn gốc của “cơn lũ dữ liệu” (Data Deluge)</a:t>
            </a:r>
          </a:p>
          <a:p>
            <a:r>
              <a:rPr lang="vi-VN" dirty="0"/>
              <a:t>Slide chỉ ra ba nhóm nguồn dữ liệu chính đang tạo ra sự bùng nổ dữ liệu:</a:t>
            </a:r>
          </a:p>
          <a:p>
            <a:r>
              <a:rPr lang="vi-VN" b="1" dirty="0"/>
              <a:t>Ecosystem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khách hàng,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đối tác,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nhà cung cấp,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chuỗi cung ứng.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Thường phân tán, đa định dạng, không đồng nhất.</a:t>
            </a:r>
          </a:p>
          <a:p>
            <a:r>
              <a:rPr lang="en-US" dirty="0"/>
              <a:t>=&gt; </a:t>
            </a:r>
            <a:r>
              <a:rPr lang="vi-VN" dirty="0"/>
              <a:t>Ví dụ: dữ liệu đơn hàng, CRM, hệ thống ERP, dữ liệu đối tác.</a:t>
            </a:r>
          </a:p>
          <a:p>
            <a:r>
              <a:rPr lang="vi-VN" b="1" dirty="0"/>
              <a:t>Digital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phát sinh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website,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mạng xã hội,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ứng dụng di động.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Đặc trưng bởi: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khối lượng lớn,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tốc độ cao,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hành vi người dùng liên tục thay đổi.</a:t>
            </a:r>
          </a:p>
          <a:p>
            <a:r>
              <a:rPr lang="en-US" dirty="0"/>
              <a:t>=&gt; </a:t>
            </a:r>
            <a:r>
              <a:rPr lang="vi-VN" dirty="0"/>
              <a:t>Đây là nguồn dữ liệu giàu insight nhưng rất khó phân tích nếu không có BI/analytics.</a:t>
            </a:r>
          </a:p>
          <a:p>
            <a:r>
              <a:rPr lang="vi-VN" b="1" dirty="0"/>
              <a:t>IoT &amp;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cảm biến,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thiết bị IoT,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giám sát,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tuân thủ pháp lý.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Thường là dữ liệu: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thời gian thực,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chuỗi thời gian,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độ chính xác cao.</a:t>
            </a:r>
          </a:p>
          <a:p>
            <a:r>
              <a:rPr lang="en-US" dirty="0"/>
              <a:t>=&gt; </a:t>
            </a:r>
            <a:r>
              <a:rPr lang="vi-VN" dirty="0"/>
              <a:t>Nhiều dữ liệu nhưng không phải tất cả đều hữu ích cho phân tích.</a:t>
            </a:r>
          </a:p>
          <a:p>
            <a:endParaRPr lang="en-US" b="1" dirty="0"/>
          </a:p>
          <a:p>
            <a:r>
              <a:rPr lang="vi-VN" b="1" dirty="0"/>
              <a:t>2. The Collection Paradox – Nghịch lý thu thập dữ liệu</a:t>
            </a:r>
          </a:p>
          <a:p>
            <a:r>
              <a:rPr lang="vi-VN" b="1" dirty="0"/>
              <a:t>“Collecting data has become effortless and automated.”</a:t>
            </a:r>
            <a:endParaRPr lang="vi-VN" dirty="0"/>
          </a:p>
          <a:p>
            <a:r>
              <a:rPr lang="vi-VN" dirty="0"/>
              <a:t>Ngày nay: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dữ liệu gần như </a:t>
            </a:r>
            <a:r>
              <a:rPr lang="vi-VN" b="1" dirty="0"/>
              <a:t>tự động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lưu trữ ngày càng rẻ,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dễ dàng tích lũy dữ liệu với số lượng khổng lồ.</a:t>
            </a:r>
          </a:p>
          <a:p>
            <a:r>
              <a:rPr lang="en-US" dirty="0"/>
              <a:t>=&gt; </a:t>
            </a:r>
            <a:r>
              <a:rPr lang="vi-VN" dirty="0"/>
              <a:t>Nhưng điều này tạo ra </a:t>
            </a:r>
            <a:r>
              <a:rPr lang="vi-VN" b="1" dirty="0"/>
              <a:t>ảo tưởng rằng: có nhiều dữ liệu = hiểu rõ doanh nghiệp</a:t>
            </a:r>
            <a:r>
              <a:rPr lang="en-US" b="1" dirty="0"/>
              <a:t> </a:t>
            </a:r>
            <a:r>
              <a:rPr lang="vi-VN" dirty="0"/>
              <a:t>➡ Thực tế </a:t>
            </a:r>
            <a:r>
              <a:rPr lang="vi-VN" b="1" dirty="0"/>
              <a:t>không đúng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The Insight Challenge – Thách thức tạo ra insight</a:t>
            </a:r>
          </a:p>
          <a:p>
            <a:r>
              <a:rPr lang="vi-VN" b="1" dirty="0"/>
              <a:t>“Extracting meaningful insight remains a significant hurdle.”</a:t>
            </a:r>
            <a:endParaRPr lang="vi-VN" dirty="0"/>
          </a:p>
          <a:p>
            <a:r>
              <a:rPr lang="vi-VN" dirty="0"/>
              <a:t>Khó khăn nằm ở: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phân tán,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không sạch, không 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mô hình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bối cảnh nghiệp vụ.</a:t>
            </a:r>
          </a:p>
          <a:p>
            <a:r>
              <a:rPr lang="en-US" dirty="0"/>
              <a:t>=&gt; </a:t>
            </a:r>
            <a:r>
              <a:rPr lang="vi-VN" dirty="0"/>
              <a:t>Insight </a:t>
            </a:r>
            <a:r>
              <a:rPr lang="vi-VN" b="1" dirty="0"/>
              <a:t>không tự xuất hiện</a:t>
            </a:r>
            <a:r>
              <a:rPr lang="vi-VN" dirty="0"/>
              <a:t> chỉ vì có dữ liệu.</a:t>
            </a:r>
          </a:p>
          <a:p>
            <a:endParaRPr lang="en-US" b="1" dirty="0"/>
          </a:p>
          <a:p>
            <a:r>
              <a:rPr lang="vi-VN" b="1" dirty="0"/>
              <a:t>4. Ý nghĩa của “VS” trong slide</a:t>
            </a:r>
          </a:p>
          <a:p>
            <a:r>
              <a:rPr lang="vi-VN" dirty="0"/>
              <a:t>Dòng </a:t>
            </a:r>
            <a:r>
              <a:rPr lang="vi-VN" b="1" dirty="0"/>
              <a:t>Collection Paradox VS Insight Challenge</a:t>
            </a:r>
            <a:r>
              <a:rPr lang="vi-VN" dirty="0"/>
              <a:t>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Bên trái: </a:t>
            </a:r>
            <a:r>
              <a:rPr lang="vi-VN" i="1" dirty="0"/>
              <a:t>thu thập dữ liệu dễ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Bên phải: </a:t>
            </a:r>
            <a:r>
              <a:rPr lang="vi-VN" i="1" dirty="0"/>
              <a:t>hiểu và khai thác dữ liệu khó</a:t>
            </a:r>
            <a:endParaRPr lang="vi-VN" dirty="0"/>
          </a:p>
          <a:p>
            <a:r>
              <a:rPr lang="vi-VN" dirty="0"/>
              <a:t>➡ Đây chính là </a:t>
            </a:r>
            <a:r>
              <a:rPr lang="vi-VN" b="1" dirty="0"/>
              <a:t>khoảng trống mà Business Intelligence cần giải quyết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5. Liên hệ trực tiếp với Business Intelligence</a:t>
            </a:r>
          </a:p>
          <a:p>
            <a:r>
              <a:rPr lang="vi-VN" dirty="0"/>
              <a:t>Business Intelligence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dữ liệu từ nhiều nguồn,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và làm sạch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 mô hình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dữ liệu thành báo cáo, dashboard và insight.</a:t>
            </a:r>
          </a:p>
          <a:p>
            <a:r>
              <a:rPr lang="en-US" dirty="0"/>
              <a:t>=&gt; </a:t>
            </a:r>
            <a:r>
              <a:rPr lang="vi-VN" dirty="0"/>
              <a:t>BI không giải quyết việc “có dữ liệu”, mà giải quyết việc </a:t>
            </a:r>
            <a:r>
              <a:rPr lang="vi-VN" b="1" dirty="0"/>
              <a:t>hiểu dữ liệu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đang bùng nổ theo cấp số nhân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dữ liệu </a:t>
            </a:r>
            <a:r>
              <a:rPr lang="vi-VN" b="1" dirty="0"/>
              <a:t>không còn là lợi thế cạnh tranh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Lợi thế nằm ở </a:t>
            </a:r>
            <a:r>
              <a:rPr lang="vi-VN" b="1" dirty="0"/>
              <a:t>khả năng phân tích và ra quyết định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Intelligence tồn tại để lấp đầy khoảng trống này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Three Vs of Big Data: Volume, Velocity, and Variety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giới thiệu </a:t>
            </a:r>
            <a:r>
              <a:rPr lang="vi-VN" b="1" dirty="0"/>
              <a:t>ba đặc trưng cốt lõi (3Vs)</a:t>
            </a:r>
            <a:r>
              <a:rPr lang="vi-VN" dirty="0"/>
              <a:t> của Big Data, giúp chúng ta hiểu </a:t>
            </a:r>
            <a:r>
              <a:rPr lang="vi-VN" b="1" dirty="0"/>
              <a:t>vì sao dữ liệu hiện đại trở nên khó quản lý và phân tích</a:t>
            </a:r>
            <a:r>
              <a:rPr lang="vi-VN" dirty="0"/>
              <a:t>, và vì sao các cách tiếp cận truyền thống không còn đủ hiệu quả.</a:t>
            </a:r>
          </a:p>
          <a:p>
            <a:endParaRPr lang="en-US" b="1" dirty="0"/>
          </a:p>
          <a:p>
            <a:r>
              <a:rPr lang="vi-VN" b="1" dirty="0"/>
              <a:t>1. Volume – Khối lượng dữ liệu</a:t>
            </a:r>
          </a:p>
          <a:p>
            <a:r>
              <a:rPr lang="vi-VN" b="1" dirty="0"/>
              <a:t>Volume</a:t>
            </a:r>
            <a:r>
              <a:rPr lang="vi-VN" dirty="0"/>
              <a:t> đề cập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khối lượng dữ liệu khổng lồ được tạo ra liên tục,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tốc độ tăng trưởng theo cấp số nhân.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giao dịch bán hàng,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cảm biến,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mạng xã hội và web traffic.</a:t>
            </a:r>
          </a:p>
          <a:p>
            <a:r>
              <a:rPr lang="vi-VN" dirty="0"/>
              <a:t>Slide nhấn mạnh rằng:</a:t>
            </a:r>
          </a:p>
          <a:p>
            <a:r>
              <a:rPr lang="vi-VN" b="1" dirty="0"/>
              <a:t>90% dữ liệu toàn cầu được tạo ra trong những năm gần đây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Điều này đặt ra thách thức lớn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lưu trữ,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phân tích dữ liệu.</a:t>
            </a:r>
          </a:p>
          <a:p>
            <a:endParaRPr lang="en-US" b="1" dirty="0"/>
          </a:p>
          <a:p>
            <a:r>
              <a:rPr lang="vi-VN" b="1" dirty="0"/>
              <a:t>2. Velocity – Tốc độ dữ liệu</a:t>
            </a:r>
          </a:p>
          <a:p>
            <a:r>
              <a:rPr lang="vi-VN" b="1" dirty="0"/>
              <a:t>Velocity</a:t>
            </a:r>
            <a:r>
              <a:rPr lang="vi-VN" dirty="0"/>
              <a:t> nói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tốc độ dữ liệu được sinh ra,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tốc độ mà dữ liệu cần được xử lý.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thời gian thực,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gian lận,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giám sát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streaming analytics.</a:t>
            </a:r>
          </a:p>
          <a:p>
            <a:r>
              <a:rPr lang="en-US" dirty="0"/>
              <a:t>=&gt; </a:t>
            </a:r>
            <a:r>
              <a:rPr lang="vi-VN" dirty="0"/>
              <a:t>Với velocity cao, </a:t>
            </a:r>
            <a:r>
              <a:rPr lang="vi-VN" b="1" dirty="0"/>
              <a:t>phân tích chậm = mất cơ hội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Variety – Đa dạng dữ liệu</a:t>
            </a:r>
          </a:p>
          <a:p>
            <a:r>
              <a:rPr lang="vi-VN" b="1" dirty="0"/>
              <a:t>Variety</a:t>
            </a:r>
            <a:r>
              <a:rPr lang="vi-VN" dirty="0"/>
              <a:t> phản 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sự đa dạng về định dạng và nguồn dữ liệu.</a:t>
            </a:r>
          </a:p>
          <a:p>
            <a:r>
              <a:rPr lang="vi-VN" dirty="0"/>
              <a:t>Ba nhóm chính: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Structured</a:t>
            </a:r>
            <a:r>
              <a:rPr lang="vi-VN" dirty="0"/>
              <a:t>: dữ liệu có cấu trúc (SQL, bảng, ERP)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Semi-structured</a:t>
            </a:r>
            <a:r>
              <a:rPr lang="vi-VN" dirty="0"/>
              <a:t>: JSON, XML, 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Unstructured</a:t>
            </a:r>
            <a:r>
              <a:rPr lang="vi-VN" dirty="0"/>
              <a:t>: văn bản, hình ảnh, video, âm thanh</a:t>
            </a:r>
          </a:p>
          <a:p>
            <a:r>
              <a:rPr lang="en-US" dirty="0"/>
              <a:t>=&gt; </a:t>
            </a:r>
            <a:r>
              <a:rPr lang="vi-VN" dirty="0"/>
              <a:t>Đây là lý do vì sao BI hiện đại không chỉ làm việc với bảng dữ liệu truyền thống.</a:t>
            </a:r>
          </a:p>
          <a:p>
            <a:endParaRPr lang="en-US" b="1" dirty="0"/>
          </a:p>
          <a:p>
            <a:r>
              <a:rPr lang="vi-VN" b="1" dirty="0"/>
              <a:t>4. Thách thức kết hợp của 3Vs</a:t>
            </a:r>
          </a:p>
          <a:p>
            <a:r>
              <a:rPr lang="vi-VN" dirty="0"/>
              <a:t>Slide kết luận bằng thông điệp:</a:t>
            </a:r>
          </a:p>
          <a:p>
            <a:r>
              <a:rPr lang="vi-VN" i="1" dirty="0"/>
              <a:t>“Success requires handling all three dimensions simultaneously.”</a:t>
            </a:r>
            <a:endParaRPr lang="vi-VN" dirty="0"/>
          </a:p>
          <a:p>
            <a:r>
              <a:rPr lang="vi-VN" dirty="0"/>
              <a:t>Điều này có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 được nhiều dữ liệu nhưng chậm → không đủ,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 nhanh nhưng chỉ với dữ liệu đơn giản → không đủ,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 đa dạng dữ liệu nhưng không mở rộng → không đủ.</a:t>
            </a:r>
          </a:p>
          <a:p>
            <a:r>
              <a:rPr lang="en-US" dirty="0"/>
              <a:t>=&gt; </a:t>
            </a:r>
            <a:r>
              <a:rPr lang="vi-VN" dirty="0"/>
              <a:t>Doanh nghiệp cần </a:t>
            </a:r>
            <a:r>
              <a:rPr lang="vi-VN" b="1" dirty="0"/>
              <a:t>kiến trúc BI và analytics phù hợp</a:t>
            </a:r>
            <a:r>
              <a:rPr lang="vi-VN" dirty="0"/>
              <a:t> để giải quyết đồng thời cả 3Vs.</a:t>
            </a:r>
          </a:p>
          <a:p>
            <a:endParaRPr lang="en-US" b="1" dirty="0"/>
          </a:p>
          <a:p>
            <a:r>
              <a:rPr lang="vi-VN" b="1" dirty="0"/>
              <a:t>5. Liên hệ với Business Intelligence</a:t>
            </a:r>
          </a:p>
          <a:p>
            <a:r>
              <a:rPr lang="vi-VN" dirty="0"/>
              <a:t>Business Intelligence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và tích hợp dữ liệu lớn (Volume),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phân tích gần thời gian thực (Velocity),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kết hợp nhiều loại dữ liệu khác nhau (Variety).</a:t>
            </a:r>
          </a:p>
          <a:p>
            <a:r>
              <a:rPr lang="en-US" dirty="0"/>
              <a:t>=&gt; </a:t>
            </a:r>
            <a:r>
              <a:rPr lang="vi-VN" dirty="0"/>
              <a:t>BI là cầu nối giữa Big Data và </a:t>
            </a:r>
            <a:r>
              <a:rPr lang="vi-VN" b="1" dirty="0"/>
              <a:t>ra quyết định kinh doanh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Big Data không chỉ là “nhiều dữ liệu”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Thách thức nằm ở </a:t>
            </a:r>
            <a:r>
              <a:rPr lang="vi-VN" b="1" dirty="0"/>
              <a:t>khối lượng + tốc độ + đa dạng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hiện đại phải xử lý đồng thời cả 3Vs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chỉ xuất hiện khi dữ liệu được chuyển thành insight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Hierarchy of Insight: From Data to Knowledge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trình bày </a:t>
            </a:r>
            <a:r>
              <a:rPr lang="vi-VN" b="1" dirty="0"/>
              <a:t>chuỗi chuyển hóa giá trị của dữ liệu</a:t>
            </a:r>
            <a:r>
              <a:rPr lang="vi-VN" dirty="0"/>
              <a:t>, từ những con số rời rạc ban đầu cho đến </a:t>
            </a:r>
            <a:r>
              <a:rPr lang="vi-VN" b="1" dirty="0"/>
              <a:t>tri thức có thể hành động</a:t>
            </a:r>
            <a:r>
              <a:rPr lang="vi-VN" dirty="0"/>
              <a:t>, và làm rõ vai trò của BI trong từng bước.</a:t>
            </a:r>
          </a:p>
          <a:p>
            <a:endParaRPr lang="en-US" b="1" dirty="0"/>
          </a:p>
          <a:p>
            <a:r>
              <a:rPr lang="vi-VN" b="1" dirty="0"/>
              <a:t>1. Data – Raw Material (Dữ liệu thô)</a:t>
            </a:r>
          </a:p>
          <a:p>
            <a:r>
              <a:rPr lang="vi-VN" dirty="0"/>
              <a:t>Ở tầng thấp nhất là </a:t>
            </a:r>
            <a:r>
              <a:rPr lang="vi-VN" b="1" dirty="0"/>
              <a:t>Data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thô,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chưa được tổ chức,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thể không đầy đủ, không 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chưa thể dùng trực tiếp để ra quyết định.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 giao dịch,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bản ghi cảm biến,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click trên website,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file Excel rời rạc.</a:t>
            </a:r>
          </a:p>
          <a:p>
            <a:r>
              <a:rPr lang="en-US" dirty="0"/>
              <a:t>=&gt; </a:t>
            </a:r>
            <a:r>
              <a:rPr lang="vi-VN" b="1" dirty="0"/>
              <a:t>Thông điệp quan trọng</a:t>
            </a:r>
            <a:r>
              <a:rPr lang="vi-VN" dirty="0"/>
              <a:t>:</a:t>
            </a:r>
            <a:br>
              <a:rPr lang="vi-VN" dirty="0"/>
            </a:br>
            <a:r>
              <a:rPr lang="vi-VN" i="1" dirty="0"/>
              <a:t>Có dữ liệu không đồng nghĩa với có hiểu biết.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2. Information – Structured Context (Thông tin)</a:t>
            </a:r>
          </a:p>
          <a:p>
            <a:r>
              <a:rPr lang="vi-VN" dirty="0"/>
              <a:t>Khi dữ liệu được: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đặt trong bối cảnh nghiệp vụ,</a:t>
            </a:r>
          </a:p>
          <a:p>
            <a:r>
              <a:rPr lang="vi-VN" dirty="0"/>
              <a:t>thì nó trở thành </a:t>
            </a:r>
            <a:r>
              <a:rPr lang="vi-VN" b="1" dirty="0"/>
              <a:t>Information</a:t>
            </a:r>
            <a:r>
              <a:rPr lang="vi-VN" dirty="0"/>
              <a:t>.</a:t>
            </a:r>
          </a:p>
          <a:p>
            <a:r>
              <a:rPr lang="vi-VN" dirty="0"/>
              <a:t>Lúc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đã có cấu trúc,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ý nghĩa,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sẵn sàng cho phân tích.</a:t>
            </a:r>
          </a:p>
          <a:p>
            <a:r>
              <a:rPr lang="en-US" dirty="0"/>
              <a:t>=&gt; </a:t>
            </a:r>
            <a:r>
              <a:rPr lang="vi-VN" dirty="0"/>
              <a:t>Đây chính là </a:t>
            </a:r>
            <a:r>
              <a:rPr lang="vi-VN" b="1" dirty="0"/>
              <a:t>đầu ra cốt lõi của Data Warehousing và ETL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Knowledge – Actionable Wisdom (Tri thức / Insight)</a:t>
            </a:r>
          </a:p>
          <a:p>
            <a:r>
              <a:rPr lang="vi-VN" dirty="0"/>
              <a:t>Ở tầng cao nhất là </a:t>
            </a:r>
            <a:r>
              <a:rPr lang="vi-VN" b="1" dirty="0"/>
              <a:t>Knowledge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insight rút ra từ việc phân tích thông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trả lời được câu hỏi </a:t>
            </a:r>
            <a:r>
              <a:rPr lang="vi-VN" i="1" dirty="0"/>
              <a:t>“vì sao”</a:t>
            </a:r>
            <a:r>
              <a:rPr lang="vi-VN" dirty="0"/>
              <a:t> và </a:t>
            </a:r>
            <a:r>
              <a:rPr lang="vi-VN" i="1" dirty="0"/>
              <a:t>“nên làm gì”</a:t>
            </a:r>
            <a:r>
              <a:rPr lang="vi-VN" dirty="0"/>
              <a:t>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nhóm khách hàng mang lại lợi nhuận cao nhất,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xu hướng sụt giảm doanh thu sớm,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đề xuất hành động kinh doanh cụ thể.</a:t>
            </a:r>
          </a:p>
          <a:p>
            <a:r>
              <a:rPr lang="en-US" dirty="0"/>
              <a:t>=&gt; </a:t>
            </a:r>
            <a:r>
              <a:rPr lang="vi-VN" b="1" dirty="0"/>
              <a:t>Giá trị của BI nằm ở tầng này</a:t>
            </a:r>
            <a:r>
              <a:rPr lang="vi-VN" dirty="0"/>
              <a:t>, không phải ở việc lưu trữ dữ liệu.</a:t>
            </a:r>
          </a:p>
          <a:p>
            <a:endParaRPr lang="en-US" b="1" dirty="0"/>
          </a:p>
          <a:p>
            <a:r>
              <a:rPr lang="vi-VN" b="1" dirty="0"/>
              <a:t>4. Mối quan hệ giữa các tầng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có </a:t>
            </a:r>
            <a:r>
              <a:rPr lang="vi-VN" b="1" dirty="0"/>
              <a:t>information</a:t>
            </a:r>
            <a:r>
              <a:rPr lang="vi-VN" dirty="0"/>
              <a:t> nếu không có </a:t>
            </a:r>
            <a:r>
              <a:rPr lang="vi-VN" b="1" dirty="0"/>
              <a:t>data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có </a:t>
            </a:r>
            <a:r>
              <a:rPr lang="vi-VN" b="1" dirty="0"/>
              <a:t>knowledge</a:t>
            </a:r>
            <a:r>
              <a:rPr lang="vi-VN" dirty="0"/>
              <a:t> nếu không có </a:t>
            </a:r>
            <a:r>
              <a:rPr lang="vi-VN" b="1" dirty="0"/>
              <a:t>information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tầng yêu cầu: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cụ,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tư duy khác nhau</a:t>
            </a:r>
          </a:p>
          <a:p>
            <a:r>
              <a:rPr lang="en-US" dirty="0"/>
              <a:t>=&gt; </a:t>
            </a:r>
            <a:r>
              <a:rPr lang="vi-VN" dirty="0"/>
              <a:t>BI đóng vai trò </a:t>
            </a:r>
            <a:r>
              <a:rPr lang="vi-VN" b="1" dirty="0"/>
              <a:t>cầu nối</a:t>
            </a:r>
            <a:r>
              <a:rPr lang="vi-VN" dirty="0"/>
              <a:t>, giúp doanh nghiệp </a:t>
            </a:r>
            <a:r>
              <a:rPr lang="vi-VN" b="1" dirty="0"/>
              <a:t>leo lên các tầng cao hơn</a:t>
            </a:r>
            <a:r>
              <a:rPr lang="vi-VN" dirty="0"/>
              <a:t> trong hệ phân cấp này.</a:t>
            </a:r>
          </a:p>
          <a:p>
            <a:endParaRPr lang="en-US" b="1" dirty="0"/>
          </a:p>
          <a:p>
            <a:r>
              <a:rPr lang="vi-VN" b="1" dirty="0"/>
              <a:t>5. Liên hệ trực tiếp với môn học</a:t>
            </a:r>
          </a:p>
          <a:p>
            <a:r>
              <a:rPr lang="vi-VN" dirty="0"/>
              <a:t>Trong môn học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vi-VN" dirty="0"/>
              <a:t> sẽ học cách xử lý </a:t>
            </a:r>
            <a:r>
              <a:rPr lang="vi-VN" b="1" dirty="0"/>
              <a:t>data</a:t>
            </a:r>
            <a:r>
              <a:rPr lang="vi-VN" dirty="0"/>
              <a:t> (ETL),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thành </a:t>
            </a:r>
            <a:r>
              <a:rPr lang="vi-VN" b="1" dirty="0"/>
              <a:t>information</a:t>
            </a:r>
            <a:r>
              <a:rPr lang="vi-VN" dirty="0"/>
              <a:t> (data warehouse, modeling),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khai thác thành </a:t>
            </a:r>
            <a:r>
              <a:rPr lang="vi-VN" b="1" dirty="0"/>
              <a:t>knowledge</a:t>
            </a:r>
            <a:r>
              <a:rPr lang="vi-VN" dirty="0"/>
              <a:t> (analysis, visualization, decision support).</a:t>
            </a:r>
          </a:p>
          <a:p>
            <a:r>
              <a:rPr lang="en-US" dirty="0"/>
              <a:t>=&gt; </a:t>
            </a:r>
            <a:r>
              <a:rPr lang="vi-VN" dirty="0"/>
              <a:t>Mục tiêu cuối cùng </a:t>
            </a:r>
            <a:r>
              <a:rPr lang="vi-VN" b="1" dirty="0"/>
              <a:t>không phải là dashboard</a:t>
            </a:r>
            <a:r>
              <a:rPr lang="vi-VN" dirty="0"/>
              <a:t>, mà là </a:t>
            </a:r>
            <a:r>
              <a:rPr lang="vi-VN" b="1" dirty="0"/>
              <a:t>quyết định tốt hơn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tự thân </a:t>
            </a:r>
            <a:r>
              <a:rPr lang="vi-VN" b="1" dirty="0"/>
              <a:t>không tạo ra giá trị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đến từ </a:t>
            </a:r>
            <a:r>
              <a:rPr lang="vi-VN" b="1" dirty="0"/>
              <a:t>phân tích và bối cảnh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giúp chuyển:</a:t>
            </a:r>
            <a:r>
              <a:rPr lang="en-US" dirty="0"/>
              <a:t> </a:t>
            </a:r>
            <a:r>
              <a:rPr lang="vi-VN" b="1" dirty="0"/>
              <a:t>Data → Information → Knowledge → Action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Kitchen Analogy: Understanding the BI Process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sử dụng </a:t>
            </a:r>
            <a:r>
              <a:rPr lang="vi-VN" b="1" dirty="0"/>
              <a:t>phép so sánh nhà bếp (kitchen analogy)</a:t>
            </a:r>
            <a:r>
              <a:rPr lang="vi-VN" dirty="0"/>
              <a:t> để giải thích quy trình Business Intelligence theo cách </a:t>
            </a:r>
            <a:r>
              <a:rPr lang="vi-VN" b="1" dirty="0"/>
              <a:t>đời thường, dễ hiểu</a:t>
            </a:r>
            <a:r>
              <a:rPr lang="vi-VN" dirty="0"/>
              <a:t>, đặc biệt hữu ích với những sinh viên mới tiếp cận BI.</a:t>
            </a:r>
          </a:p>
          <a:p>
            <a:r>
              <a:rPr lang="vi-VN" b="1" dirty="0"/>
              <a:t>1. Data – Raw Ingredients (Nguyên liệu thô)</a:t>
            </a:r>
          </a:p>
          <a:p>
            <a:r>
              <a:rPr lang="vi-VN" dirty="0"/>
              <a:t>Ở bước đầu tiên, </a:t>
            </a:r>
            <a:r>
              <a:rPr lang="vi-VN" b="1" dirty="0"/>
              <a:t>Data</a:t>
            </a:r>
            <a:r>
              <a:rPr lang="vi-VN" dirty="0"/>
              <a:t> được ví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liệu sống trong nhà bếp,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còn nguyên, chưa sơ chế,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dùng trực tiếp để ăn.</a:t>
            </a:r>
          </a:p>
          <a:p>
            <a:r>
              <a:rPr lang="vi-VN" dirty="0"/>
              <a:t>Trong BI, dữ liệu thô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giao dịch,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cảm biến,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vận hành hàng ngày.</a:t>
            </a:r>
          </a:p>
          <a:p>
            <a:r>
              <a:rPr lang="en-US" dirty="0"/>
              <a:t>=&gt; </a:t>
            </a:r>
            <a:r>
              <a:rPr lang="vi-VN" b="1" dirty="0"/>
              <a:t>Thông điệp quan trọng</a:t>
            </a:r>
            <a:r>
              <a:rPr lang="vi-VN" dirty="0"/>
              <a:t>:</a:t>
            </a:r>
            <a:br>
              <a:rPr lang="vi-VN" dirty="0"/>
            </a:br>
            <a:r>
              <a:rPr lang="vi-VN" i="1" dirty="0"/>
              <a:t>Có nguyên liệu không có nghĩa là có món ăn.</a:t>
            </a:r>
            <a:endParaRPr lang="vi-VN" dirty="0"/>
          </a:p>
          <a:p>
            <a:r>
              <a:rPr lang="vi-VN" b="1" dirty="0"/>
              <a:t>2. Information – Prepared Meal (Món ăn đã chế biến)</a:t>
            </a:r>
          </a:p>
          <a:p>
            <a:r>
              <a:rPr lang="vi-VN" dirty="0"/>
              <a:t>Khi nguyên liệu được: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cắt, gọt,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nấu nướng theo công thức,</a:t>
            </a:r>
          </a:p>
          <a:p>
            <a:r>
              <a:rPr lang="vi-VN" dirty="0"/>
              <a:t>ta có một </a:t>
            </a:r>
            <a:r>
              <a:rPr lang="vi-VN" b="1" dirty="0"/>
              <a:t>món ăn hoàn chỉnh</a:t>
            </a:r>
            <a:r>
              <a:rPr lang="vi-VN" dirty="0"/>
              <a:t>.</a:t>
            </a:r>
          </a:p>
          <a:p>
            <a:r>
              <a:rPr lang="vi-VN" dirty="0"/>
              <a:t>Tương đương trong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được ETL,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vào kho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sẵn sàng cho phân tích.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đầu ra của ETL và Data Warehousing</a:t>
            </a:r>
            <a:r>
              <a:rPr lang="vi-VN" dirty="0"/>
              <a:t>.</a:t>
            </a:r>
          </a:p>
          <a:p>
            <a:r>
              <a:rPr lang="vi-VN" b="1" dirty="0"/>
              <a:t>3. Knowledge – Nourishment (Dinh dưỡng / Tri thức)</a:t>
            </a:r>
          </a:p>
          <a:p>
            <a:r>
              <a:rPr lang="vi-VN" dirty="0"/>
              <a:t>Bước cuối cùng là </a:t>
            </a:r>
            <a:r>
              <a:rPr lang="vi-VN" b="1" dirty="0"/>
              <a:t>Knowledge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chỉ ăn cho no,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</a:t>
            </a:r>
            <a:r>
              <a:rPr lang="vi-VN" b="1" dirty="0"/>
              <a:t>hấp thụ dinh dưỡng</a:t>
            </a:r>
            <a:r>
              <a:rPr lang="vi-VN" dirty="0"/>
              <a:t> để có sức khỏe.</a:t>
            </a:r>
          </a:p>
          <a:p>
            <a:r>
              <a:rPr lang="vi-VN" dirty="0"/>
              <a:t>Trong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phân tích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rút ra insight,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sử dụng insight đó để </a:t>
            </a:r>
            <a:r>
              <a:rPr lang="vi-VN" b="1" dirty="0"/>
              <a:t>ra quyết định kinh doanh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b="1" dirty="0"/>
              <a:t>Giá trị không nằm ở món ăn, mà ở việc cơ thể hấp thụ được gì.</a:t>
            </a:r>
            <a:endParaRPr lang="vi-VN" dirty="0"/>
          </a:p>
          <a:p>
            <a:r>
              <a:rPr lang="vi-VN" b="1" dirty="0"/>
              <a:t>4. Ý nghĩa sâu hơn của phép so sánh</a:t>
            </a:r>
          </a:p>
          <a:p>
            <a:r>
              <a:rPr lang="vi-VN" dirty="0"/>
              <a:t>Slide muốn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thô </a:t>
            </a:r>
            <a:r>
              <a:rPr lang="vi-VN" b="1" dirty="0"/>
              <a:t>không tự tạo ra giá trị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càng nhiều dữ liệu không đồng nghĩa càng nhiều insight,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chỉ xuất hiện khi dữ liệu được </a:t>
            </a:r>
            <a:r>
              <a:rPr lang="vi-VN" b="1" dirty="0"/>
              <a:t>xử lý đúng quy trình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BI chính là “nhà bếp” của doanh nghiệp.</a:t>
            </a:r>
          </a:p>
          <a:p>
            <a:r>
              <a:rPr lang="vi-VN" b="1" dirty="0"/>
              <a:t>5. Liên hệ với nội dung môn học</a:t>
            </a:r>
          </a:p>
          <a:p>
            <a:r>
              <a:rPr lang="vi-VN" dirty="0"/>
              <a:t>Trong môn học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vi-VN" dirty="0"/>
              <a:t> sẽ học cách xử lý </a:t>
            </a:r>
            <a:r>
              <a:rPr lang="vi-VN" b="1" dirty="0"/>
              <a:t>nguyên liệu (data)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nấu thành </a:t>
            </a:r>
            <a:r>
              <a:rPr lang="vi-VN" b="1" dirty="0"/>
              <a:t>món ăn (information)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khai thác </a:t>
            </a:r>
            <a:r>
              <a:rPr lang="vi-VN" b="1" dirty="0"/>
              <a:t>giá trị dinh dưỡng (knowledge)</a:t>
            </a:r>
            <a:r>
              <a:rPr lang="vi-VN" dirty="0"/>
              <a:t> thông qua phân tích và visualization.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≠ Information ≠ 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là bước </a:t>
            </a:r>
            <a:r>
              <a:rPr lang="vi-VN" b="1" dirty="0"/>
              <a:t>bắt buộc</a:t>
            </a:r>
            <a:r>
              <a:rPr lang="vi-VN" dirty="0"/>
              <a:t>, không phải tùy chọn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giúp biến dữ liệu thành </a:t>
            </a:r>
            <a:r>
              <a:rPr lang="vi-VN" b="1" dirty="0"/>
              <a:t>giá trị sử dụng được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Why Analytics Matter for Financial Performance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trả lời câu hỏi rất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Vì sao doanh nghiệp đầu tư vào analytics và Business Intelligence lại có hiệu quả tài chính tốt hơn?</a:t>
            </a:r>
            <a:endParaRPr lang="vi-VN" dirty="0"/>
          </a:p>
          <a:p>
            <a:r>
              <a:rPr lang="vi-VN" dirty="0"/>
              <a:t>Thông điệp chính là: </a:t>
            </a:r>
            <a:r>
              <a:rPr lang="vi-VN" b="1" dirty="0"/>
              <a:t>analytics không chỉ hỗ trợ kỹ thuật, mà trực tiếp tạo ra lợi thế cạnh tranh và giá trị kinh doanh đo lường được</a:t>
            </a:r>
            <a:r>
              <a:rPr lang="vi-VN" dirty="0"/>
              <a:t>.</a:t>
            </a:r>
          </a:p>
          <a:p>
            <a:r>
              <a:rPr lang="vi-VN" b="1" dirty="0"/>
              <a:t>1. Giải thích biểu đồ so sánh</a:t>
            </a:r>
          </a:p>
          <a:p>
            <a:r>
              <a:rPr lang="vi-VN" dirty="0"/>
              <a:t>Biểu đồ bên trái so sánh: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Analytics-driven firms</a:t>
            </a:r>
            <a:r>
              <a:rPr lang="vi-VN" dirty="0"/>
              <a:t> (doanh nghiệp ra quyết định dựa trên phân tích dữ liệu)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Traditional firms</a:t>
            </a:r>
            <a:r>
              <a:rPr lang="vi-VN" dirty="0"/>
              <a:t> (doanh nghiệp ra quyết định theo kinh nghiệm/cảm tính)</a:t>
            </a:r>
          </a:p>
          <a:p>
            <a:r>
              <a:rPr lang="vi-VN" dirty="0"/>
              <a:t>Trên ba khía cạnh: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Financial Performance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Decision Speed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Strategy Execution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Ở cả ba tiêu chí, doanh nghiệp sử dụng analytics </a:t>
            </a:r>
            <a:r>
              <a:rPr lang="vi-VN" b="1" dirty="0"/>
              <a:t>luôn vượt trội rõ rệt</a:t>
            </a:r>
            <a:r>
              <a:rPr lang="vi-VN" dirty="0"/>
              <a:t>.</a:t>
            </a:r>
          </a:p>
          <a:p>
            <a:r>
              <a:rPr lang="vi-VN" b="1" dirty="0"/>
              <a:t>Ý nghĩa giảng viên muốn nhấn mạnh: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Analytics không chỉ cải thiện báo cáo,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cải thiện </a:t>
            </a:r>
            <a:r>
              <a:rPr lang="vi-VN" b="1" dirty="0"/>
              <a:t>cách doanh nghiệp vận hành và cạnh tranh</a:t>
            </a:r>
            <a:r>
              <a:rPr lang="vi-VN" dirty="0"/>
              <a:t>.</a:t>
            </a:r>
          </a:p>
          <a:p>
            <a:r>
              <a:rPr lang="vi-VN" b="1" dirty="0"/>
              <a:t>2. Fact-Based Validation – Xác thực bằng dữ liệu</a:t>
            </a:r>
          </a:p>
          <a:p>
            <a:r>
              <a:rPr lang="vi-VN" dirty="0"/>
              <a:t>Thay vì: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dựa vào cảm giác,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“chúng ta vẫn làm như thế trước giờ”,</a:t>
            </a:r>
          </a:p>
          <a:p>
            <a:r>
              <a:rPr lang="vi-VN" dirty="0"/>
              <a:t>analytics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kiểm chứng trực giác quản lý bằng dữ liệu lịch sử,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quyết định dựa trên bằng chứng.</a:t>
            </a:r>
          </a:p>
          <a:p>
            <a:r>
              <a:rPr lang="en-US" dirty="0"/>
              <a:t>=&gt; </a:t>
            </a:r>
            <a:r>
              <a:rPr lang="vi-VN" dirty="0"/>
              <a:t>Điều này làm giảm rủi ro của các quyết định chiến lược lớn.</a:t>
            </a:r>
          </a:p>
          <a:p>
            <a:r>
              <a:rPr lang="vi-VN" b="1" dirty="0"/>
              <a:t>3. Pattern Recognition – Nhận diện quy luật &amp; xu hướng</a:t>
            </a:r>
          </a:p>
          <a:p>
            <a:r>
              <a:rPr lang="vi-VN" dirty="0"/>
              <a:t>Analytics cho phép: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xu hướng ẩn trong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tìm ra mối tương quan mà con người khó thấy bằng quan sát thủ công.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hành vi khách hàng thay đổi theo mùa,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dấu hiệu sớm của suy giảm doanh thu,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cơ hội thị trường mới.</a:t>
            </a:r>
          </a:p>
          <a:p>
            <a:r>
              <a:rPr lang="en-US" dirty="0"/>
              <a:t>=&gt; </a:t>
            </a:r>
            <a:r>
              <a:rPr lang="vi-VN" dirty="0"/>
              <a:t>Doanh nghiệp </a:t>
            </a:r>
            <a:r>
              <a:rPr lang="vi-VN" b="1" dirty="0"/>
              <a:t>chủ động</a:t>
            </a:r>
            <a:r>
              <a:rPr lang="vi-VN" dirty="0"/>
              <a:t>, thay vì chỉ phản ứng.</a:t>
            </a:r>
          </a:p>
          <a:p>
            <a:r>
              <a:rPr lang="vi-VN" b="1" dirty="0"/>
              <a:t>4. Decision Velocity – Tốc độ ra quyết định</a:t>
            </a:r>
          </a:p>
          <a:p>
            <a:r>
              <a:rPr lang="vi-VN" dirty="0"/>
              <a:t>Trong môi trường cạnh tranh: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chậm = mất cơ hội,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phản ứng chậm = mất thị phần.</a:t>
            </a:r>
          </a:p>
          <a:p>
            <a:r>
              <a:rPr lang="vi-VN" dirty="0"/>
              <a:t>Analytics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rút ngắn thời gian từ dữ liệu →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cải thiện cả </a:t>
            </a:r>
            <a:r>
              <a:rPr lang="vi-VN" b="1" dirty="0"/>
              <a:t>tốc độ</a:t>
            </a:r>
            <a:r>
              <a:rPr lang="vi-VN" dirty="0"/>
              <a:t> và </a:t>
            </a:r>
            <a:r>
              <a:rPr lang="vi-VN" b="1" dirty="0"/>
              <a:t>chất lượng</a:t>
            </a:r>
            <a:r>
              <a:rPr lang="vi-VN" dirty="0"/>
              <a:t> phản ứng của tổ chức.</a:t>
            </a:r>
          </a:p>
          <a:p>
            <a:r>
              <a:rPr lang="en-US" dirty="0"/>
              <a:t>=&gt; </a:t>
            </a:r>
            <a:r>
              <a:rPr lang="vi-VN" dirty="0"/>
              <a:t>Đây là lợi thế mà doanh nghiệp truyền thống rất khó bắt kịp.</a:t>
            </a:r>
          </a:p>
          <a:p>
            <a:r>
              <a:rPr lang="vi-VN" b="1" dirty="0"/>
              <a:t>5. Liên hệ trực tiếp với Business Intelligence</a:t>
            </a:r>
          </a:p>
          <a:p>
            <a:r>
              <a:rPr lang="vi-VN" dirty="0"/>
              <a:t>Business Intelligence đóng vai trò: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 dữ liệu đáng tin cậy,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thông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trình bày insight rõ ràng cho nhà quản lý.</a:t>
            </a:r>
          </a:p>
          <a:p>
            <a:r>
              <a:rPr lang="en-US" dirty="0"/>
              <a:t>=&gt; </a:t>
            </a:r>
            <a:r>
              <a:rPr lang="vi-VN" dirty="0"/>
              <a:t>BI là nền tảng giúp analytics </a:t>
            </a:r>
            <a:r>
              <a:rPr lang="vi-VN" b="1" dirty="0"/>
              <a:t>đi vào thực tế vận hành</a:t>
            </a:r>
            <a:r>
              <a:rPr lang="vi-VN" dirty="0"/>
              <a:t>, chứ không chỉ nằm trong báo cáo kỹ thuật.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Analytics tạo ra </a:t>
            </a:r>
            <a:r>
              <a:rPr lang="vi-VN" b="1" dirty="0"/>
              <a:t>giá trị tài chính thực sự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thành công là doanh nghiệp: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ra quyết định nhanh hơn,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chính xác hơn,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dựa trên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&amp; Analytics là </a:t>
            </a:r>
            <a:r>
              <a:rPr lang="vi-VN" b="1" dirty="0"/>
              <a:t>năng lực chiến lược</a:t>
            </a:r>
            <a:r>
              <a:rPr lang="vi-VN" dirty="0"/>
              <a:t>, không phải công cụ phụ trợ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Overcoming the Primary Challenges in Analytics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thông điệp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Vấn đề của doanh nghiệp không nằm ở việc có quá nhiều dữ liệu, mà nằm ở khả năng phân tích hiệu quả và hành động kịp thời.</a:t>
            </a:r>
            <a:endParaRPr lang="vi-VN" dirty="0"/>
          </a:p>
          <a:p>
            <a:r>
              <a:rPr lang="vi-VN" b="1" dirty="0"/>
              <a:t>1. Information Overload – Quá tải thông tin</a:t>
            </a:r>
          </a:p>
          <a:p>
            <a:r>
              <a:rPr lang="vi-VN" dirty="0"/>
              <a:t>Doanh nghiệp hiện nay thường rơi vào tình trạng: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rất nhiều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rất nhiều báo cáo, dashboard,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không biết nên nhìn vào đâu</a:t>
            </a:r>
            <a:r>
              <a:rPr lang="vi-VN" dirty="0"/>
              <a:t>.</a:t>
            </a:r>
          </a:p>
          <a:p>
            <a:r>
              <a:rPr lang="vi-VN" dirty="0"/>
              <a:t>Hệ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nhà quản lý bị nhiễu thông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mất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chậm hoặc sai trọng tâm.</a:t>
            </a:r>
          </a:p>
          <a:p>
            <a:r>
              <a:rPr lang="en-US" dirty="0"/>
              <a:t>=&gt; </a:t>
            </a:r>
            <a:r>
              <a:rPr lang="vi-VN" dirty="0"/>
              <a:t>Đây là lý do vì sao BI không chỉ là “nhiều báo cáo hơn”, mà là </a:t>
            </a:r>
            <a:r>
              <a:rPr lang="vi-VN" b="1" dirty="0"/>
              <a:t>đúng insight hơn</a:t>
            </a:r>
            <a:r>
              <a:rPr lang="vi-VN" dirty="0"/>
              <a:t>.</a:t>
            </a:r>
          </a:p>
          <a:p>
            <a:r>
              <a:rPr lang="vi-VN" b="1" dirty="0"/>
              <a:t>2. The Skill Gap – Khoảng cách kỹ năng</a:t>
            </a:r>
          </a:p>
          <a:p>
            <a:r>
              <a:rPr lang="vi-VN" dirty="0"/>
              <a:t>Một thách thức lớn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nhân lực có khả năng: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tích dữ liệu phức tạp,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diễn giải kết quả cho nghiệp vụ.</a:t>
            </a:r>
          </a:p>
          <a:p>
            <a:r>
              <a:rPr lang="vi-VN" dirty="0"/>
              <a:t>Không phải ai cũng là data scientist, và: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nhà quản lý không thể chờ phân tích quá lâu,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cần công cụ giúp </a:t>
            </a:r>
            <a:r>
              <a:rPr lang="vi-VN" b="1" dirty="0"/>
              <a:t>giảm phụ thuộc vào chuyên gia hiếm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BI tốt phải giúp </a:t>
            </a:r>
            <a:r>
              <a:rPr lang="vi-VN" b="1" dirty="0"/>
              <a:t>người không chuyên vẫn hiểu được dữ liệu</a:t>
            </a:r>
            <a:r>
              <a:rPr lang="vi-VN" dirty="0"/>
              <a:t>.</a:t>
            </a:r>
          </a:p>
          <a:p>
            <a:r>
              <a:rPr lang="vi-VN" b="1" dirty="0"/>
              <a:t>3. Data Quality Issues – Vấn đề chất lượng dữ liệu</a:t>
            </a:r>
          </a:p>
          <a:p>
            <a:r>
              <a:rPr lang="vi-VN" dirty="0"/>
              <a:t>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đầy đủ,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lỗi thời,</a:t>
            </a:r>
          </a:p>
          <a:p>
            <a:r>
              <a:rPr lang="vi-VN" dirty="0"/>
              <a:t>sẽ dẫn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mất niềm tin vào hệ thống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tranh cãi về “con số đúng”,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trì hoãn ra quyết định.</a:t>
            </a:r>
          </a:p>
          <a:p>
            <a:r>
              <a:rPr lang="en-US" dirty="0"/>
              <a:t>=&gt; </a:t>
            </a:r>
            <a:r>
              <a:rPr lang="vi-VN" b="1" dirty="0"/>
              <a:t>Không ai tin dashboard nếu dữ liệu bị nghi ngờ</a:t>
            </a:r>
            <a:r>
              <a:rPr lang="vi-VN" dirty="0"/>
              <a:t>.</a:t>
            </a:r>
          </a:p>
          <a:p>
            <a:r>
              <a:rPr lang="vi-VN" b="1" dirty="0"/>
              <a:t>4. The Action Gap – Khoảng cách hành động</a:t>
            </a:r>
          </a:p>
          <a:p>
            <a:r>
              <a:rPr lang="vi-VN" dirty="0"/>
              <a:t>Ngay cả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có insight,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có phân tích tốt,</a:t>
            </a:r>
          </a:p>
          <a:p>
            <a:r>
              <a:rPr lang="vi-VN" dirty="0"/>
              <a:t>doanh nghiệp vẫn có thể </a:t>
            </a:r>
            <a:r>
              <a:rPr lang="vi-VN" b="1" dirty="0"/>
              <a:t>không hành động kịp thời</a:t>
            </a:r>
            <a:r>
              <a:rPr lang="vi-VN" dirty="0"/>
              <a:t> 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phức tạp,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không hỗ trợ real-time,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sự kết nối giữa phân tích và vận hành.</a:t>
            </a:r>
          </a:p>
          <a:p>
            <a:r>
              <a:rPr lang="en-US" dirty="0"/>
              <a:t>=&gt; </a:t>
            </a:r>
            <a:r>
              <a:rPr lang="vi-VN" dirty="0"/>
              <a:t>Insight không được hành động = </a:t>
            </a:r>
            <a:r>
              <a:rPr lang="vi-VN" b="1" dirty="0"/>
              <a:t>insight vô giá trị</a:t>
            </a:r>
            <a:r>
              <a:rPr lang="vi-VN" dirty="0"/>
              <a:t>.</a:t>
            </a:r>
          </a:p>
          <a:p>
            <a:r>
              <a:rPr lang="vi-VN" b="1" dirty="0"/>
              <a:t>5. Thông điệp then chốt của slide</a:t>
            </a:r>
          </a:p>
          <a:p>
            <a:r>
              <a:rPr lang="vi-VN" dirty="0"/>
              <a:t>Phần kết luận ở cuối slide nhấn mạnh:</a:t>
            </a:r>
          </a:p>
          <a:p>
            <a:r>
              <a:rPr lang="vi-VN" b="1" dirty="0"/>
              <a:t>The problem is not data volume, but the ability to perform effective analysis and take decisive action.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cần thêm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cần </a:t>
            </a:r>
            <a:r>
              <a:rPr lang="vi-VN" b="1" dirty="0"/>
              <a:t>phân tích tốt hơn và hành động nhanh hơn</a:t>
            </a:r>
            <a:r>
              <a:rPr lang="vi-VN" dirty="0"/>
              <a:t>.</a:t>
            </a:r>
          </a:p>
          <a:p>
            <a:r>
              <a:rPr lang="vi-VN" b="1" dirty="0"/>
              <a:t>6. Liên hệ trực tiếp với Business Intelligence</a:t>
            </a:r>
          </a:p>
          <a:p>
            <a:r>
              <a:rPr lang="vi-VN" dirty="0"/>
              <a:t>Business Intelligence giúp giải quyết các thách thức này bằng cách: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quá tải thông tin (tập trung vào KPI),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và cải thiện chất lượng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trao quyền phân tích cho người dùng nghiệp vụ,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rút ngắn khoảng cách từ insight đến hành động.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Analytics thất bại không phải vì thiếu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Thất bại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kỹ năng,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kém chất lượng,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không hành động kịp thời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tồn tại để </a:t>
            </a:r>
            <a:r>
              <a:rPr lang="vi-VN" b="1" dirty="0"/>
              <a:t>lấp đầy những khoảng trống này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Strategic Role of Business Intelligence (BI)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khẳng định rằng </a:t>
            </a:r>
            <a:r>
              <a:rPr lang="vi-VN" b="1" dirty="0"/>
              <a:t>Business Intelligence không chỉ là công cụ báo cáo</a:t>
            </a:r>
            <a:r>
              <a:rPr lang="vi-VN" dirty="0"/>
              <a:t>, mà là </a:t>
            </a:r>
            <a:r>
              <a:rPr lang="vi-VN" b="1" dirty="0"/>
              <a:t>mắt xích chiến lược</a:t>
            </a:r>
            <a:r>
              <a:rPr lang="vi-VN" dirty="0"/>
              <a:t> kết nối giữa </a:t>
            </a:r>
            <a:r>
              <a:rPr lang="vi-VN" b="1" dirty="0"/>
              <a:t>dữ liệu vận hành thô</a:t>
            </a:r>
            <a:r>
              <a:rPr lang="vi-VN" dirty="0"/>
              <a:t> và </a:t>
            </a:r>
            <a:r>
              <a:rPr lang="vi-VN" b="1" dirty="0"/>
              <a:t>tri thức kinh doanh có thể hành động</a:t>
            </a:r>
            <a:r>
              <a:rPr lang="vi-VN" dirty="0"/>
              <a:t>.</a:t>
            </a:r>
          </a:p>
          <a:p>
            <a:r>
              <a:rPr lang="vi-VN" b="1" dirty="0"/>
              <a:t>1. Data Capture → BI Bridge → Business Insight</a:t>
            </a:r>
          </a:p>
          <a:p>
            <a:r>
              <a:rPr lang="vi-VN" dirty="0"/>
              <a:t>Phần trên của slide mô tả </a:t>
            </a:r>
            <a:r>
              <a:rPr lang="vi-VN" b="1" dirty="0"/>
              <a:t>chuỗi giá trị cốt lõi của BI</a:t>
            </a:r>
            <a:r>
              <a:rPr lang="vi-VN" dirty="0"/>
              <a:t>:</a:t>
            </a:r>
          </a:p>
          <a:p>
            <a:r>
              <a:rPr lang="vi-VN" b="1" dirty="0"/>
              <a:t>Data Capture – Thu thập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thô phát sinh từ hoạt động hằng ngày: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giao dịch bán hàng,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ERP/CRM,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 vận hành,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tác nghiệp.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Ở giai đoạn này: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phân tán,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đồng nhất,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chưa sẵn sàng cho phân tích.</a:t>
            </a:r>
          </a:p>
          <a:p>
            <a:r>
              <a:rPr lang="en-US" dirty="0"/>
              <a:t>=&gt; </a:t>
            </a:r>
            <a:r>
              <a:rPr lang="vi-VN" b="1" dirty="0"/>
              <a:t>Có dữ liệu ≠ có insight</a:t>
            </a:r>
            <a:endParaRPr lang="vi-VN" dirty="0"/>
          </a:p>
          <a:p>
            <a:r>
              <a:rPr lang="vi-VN" b="1" dirty="0"/>
              <a:t>BI Bridge – Vai trò cầu nối của BI</a:t>
            </a:r>
          </a:p>
          <a:p>
            <a:r>
              <a:rPr lang="vi-VN" dirty="0"/>
              <a:t>BI đóng vai trò là </a:t>
            </a:r>
            <a:r>
              <a:rPr lang="vi-VN" b="1" dirty="0"/>
              <a:t>“cây cầu”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dữ liệu từ nhiều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 và chuẩn hóa,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đặt dữ liệu vào bối cảnh nghiệp vụ,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dữ liệu thành thông tin có ý nghĩa.</a:t>
            </a:r>
          </a:p>
          <a:p>
            <a:r>
              <a:rPr lang="en-US" dirty="0"/>
              <a:t>=&gt; </a:t>
            </a:r>
            <a:r>
              <a:rPr lang="vi-VN" dirty="0"/>
              <a:t>Đây là nơi </a:t>
            </a:r>
            <a:r>
              <a:rPr lang="vi-VN" b="1" dirty="0"/>
              <a:t>ETL, data warehouse và data modeling</a:t>
            </a:r>
            <a:r>
              <a:rPr lang="vi-VN" dirty="0"/>
              <a:t> phát huy vai trò.</a:t>
            </a:r>
          </a:p>
          <a:p>
            <a:r>
              <a:rPr lang="vi-VN" b="1" dirty="0"/>
              <a:t>Business Insight – Tri thức kinh doanh</a:t>
            </a:r>
          </a:p>
          <a:p>
            <a:r>
              <a:rPr lang="vi-VN" dirty="0"/>
              <a:t>Kết quả cuối cùng của BI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 thức có thể hành động,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nhà quản lý: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điều gì đang xảy ra,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vì sao nó xảy ra,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nên làm gì tiếp theo.</a:t>
            </a:r>
          </a:p>
          <a:p>
            <a:r>
              <a:rPr lang="en-US" dirty="0"/>
              <a:t>=&gt; </a:t>
            </a:r>
            <a:r>
              <a:rPr lang="vi-VN" b="1" dirty="0"/>
              <a:t>Insight chứ không phải dashboard</a:t>
            </a:r>
            <a:r>
              <a:rPr lang="vi-VN" dirty="0"/>
              <a:t> mới là mục tiêu cuối.</a:t>
            </a:r>
          </a:p>
          <a:p>
            <a:r>
              <a:rPr lang="vi-VN" b="1" dirty="0"/>
              <a:t>2. Transformation – Chuyển đổi dữ liệu</a:t>
            </a:r>
          </a:p>
          <a:p>
            <a:r>
              <a:rPr lang="vi-VN" dirty="0"/>
              <a:t>BI thực hiện chức năng </a:t>
            </a:r>
            <a:r>
              <a:rPr lang="vi-VN" b="1" dirty="0"/>
              <a:t>chuyển đổi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từ dữ liệu thô, rời rạc,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dữ liệu có cấu trúc,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sẵn sàng cho sử dụng trong toàn tổ chức.</a:t>
            </a:r>
          </a:p>
          <a:p>
            <a:r>
              <a:rPr lang="vi-VN" dirty="0"/>
              <a:t>Điểm quan trọng: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chuyển đổi không chỉ mang tính kỹ thuật,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còn là </a:t>
            </a:r>
            <a:r>
              <a:rPr lang="vi-VN" b="1" dirty="0"/>
              <a:t>chuyển đổi về ý nghĩa nghiệp vụ</a:t>
            </a:r>
            <a:r>
              <a:rPr lang="vi-VN" dirty="0"/>
              <a:t>.</a:t>
            </a:r>
          </a:p>
          <a:p>
            <a:r>
              <a:rPr lang="vi-VN" b="1" dirty="0"/>
              <a:t>3. Decision Support – Hỗ trợ ra quyết định</a:t>
            </a:r>
          </a:p>
          <a:p>
            <a:r>
              <a:rPr lang="vi-VN" dirty="0"/>
              <a:t>BI cung cấp: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chuẩn,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chuyên sâu,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lịch sử dài hạn.</a:t>
            </a:r>
          </a:p>
          <a:p>
            <a:r>
              <a:rPr lang="vi-VN" dirty="0"/>
              <a:t>Nhờ đó: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không chỉ dựa trên cảm tính,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dựa trên dữ liệu đáng tin cậy,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phục vụ cả </a:t>
            </a:r>
            <a:r>
              <a:rPr lang="vi-VN" b="1" dirty="0"/>
              <a:t>chiến thuật ngắn hạn</a:t>
            </a:r>
            <a:r>
              <a:rPr lang="vi-VN" dirty="0"/>
              <a:t> và </a:t>
            </a:r>
            <a:r>
              <a:rPr lang="vi-VN" b="1" dirty="0"/>
              <a:t>chiến lược dài hạn</a:t>
            </a:r>
            <a:r>
              <a:rPr lang="vi-VN" dirty="0"/>
              <a:t>.</a:t>
            </a:r>
          </a:p>
          <a:p>
            <a:r>
              <a:rPr lang="vi-VN" b="1" dirty="0"/>
              <a:t>4. Core Strengths – Thế mạnh cốt lõi của BI</a:t>
            </a:r>
          </a:p>
          <a:p>
            <a:r>
              <a:rPr lang="vi-VN" dirty="0"/>
              <a:t>BI đặc biệt mạnh ở: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thông tin đã được cấu trúc,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nhận diện xu hướng theo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đặt hiệu suất hiện tại trong bối cảnh lịch sử.</a:t>
            </a:r>
          </a:p>
          <a:p>
            <a:r>
              <a:rPr lang="en-US" dirty="0"/>
              <a:t>=&gt; </a:t>
            </a:r>
            <a:r>
              <a:rPr lang="vi-VN" dirty="0"/>
              <a:t>Đây là lý do BI rất phù hợp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quản trị,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hiệu quả,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hoạch định chiến lược.</a:t>
            </a:r>
          </a:p>
          <a:p>
            <a:r>
              <a:rPr lang="vi-VN" b="1" dirty="0"/>
              <a:t>5. Liên hệ với các chủ đề đã học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Hierarchy of Insight</a:t>
            </a:r>
            <a:r>
              <a:rPr lang="vi-VN" dirty="0"/>
              <a:t> (Data → Information → Knowledge),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Kitchen Analogy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Why Analytics Matter</a:t>
            </a:r>
            <a:r>
              <a:rPr lang="vi-VN" dirty="0"/>
              <a:t>.</a:t>
            </a:r>
          </a:p>
          <a:p>
            <a:r>
              <a:rPr lang="vi-VN" dirty="0"/>
              <a:t>BI chính là </a:t>
            </a:r>
            <a:r>
              <a:rPr lang="vi-VN" b="1" dirty="0"/>
              <a:t>lớp nền tảng</a:t>
            </a:r>
            <a:r>
              <a:rPr lang="vi-VN" dirty="0"/>
              <a:t>, giúp analytics và advanced models hoạt động hiệu quả.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cầu nối chiến lược giữa dữ liệu và quyết định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thay thế analytics nâng cao, mà </a:t>
            </a:r>
            <a:r>
              <a:rPr lang="vi-VN" b="1" dirty="0"/>
              <a:t>tạo nền tảng cho chúng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không thất bại vì thiếu dữ liệu, mà vì </a:t>
            </a:r>
            <a:r>
              <a:rPr lang="vi-VN" b="1" dirty="0"/>
              <a:t>thiếu BI đúng nghĩa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Data Capture vs. Information Analysis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làm rõ một sự phân biệt </a:t>
            </a:r>
            <a:r>
              <a:rPr lang="vi-VN" b="1" dirty="0"/>
              <a:t>cực kỳ quan trọng</a:t>
            </a:r>
            <a:r>
              <a:rPr lang="vi-VN" dirty="0"/>
              <a:t> trong Business Intelligence: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Hệ thống vận hành (Operational Systems) và hệ thống BI phục vụ hai mục tiêu hoàn toàn khác nhau</a:t>
            </a:r>
            <a:r>
              <a:rPr lang="vi-VN" dirty="0"/>
              <a:t>, và </a:t>
            </a:r>
            <a:r>
              <a:rPr lang="vi-VN" b="1" dirty="0"/>
              <a:t>không thể thay thế cho nhau</a:t>
            </a:r>
            <a:r>
              <a:rPr lang="vi-VN" dirty="0"/>
              <a:t>.</a:t>
            </a:r>
          </a:p>
          <a:p>
            <a:r>
              <a:rPr lang="vi-VN" b="1" dirty="0"/>
              <a:t>1. Operational Systems – Hệ thống vận hành</a:t>
            </a:r>
          </a:p>
          <a:p>
            <a:r>
              <a:rPr lang="vi-VN" b="1" dirty="0"/>
              <a:t>Primary Goal</a:t>
            </a:r>
          </a:p>
          <a:p>
            <a:r>
              <a:rPr lang="vi-VN" dirty="0"/>
              <a:t>Mục tiêu chính của hệ thống vận hành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nhận giao dịch,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hoạt động hàng ngày của doanh nghiệp diễn ra trơn tru.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bán hàng,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ngân hàng,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đăng ký học phần,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ERP/CRM.</a:t>
            </a:r>
          </a:p>
          <a:p>
            <a:r>
              <a:rPr lang="en-US" dirty="0"/>
              <a:t>=&gt; </a:t>
            </a:r>
            <a:r>
              <a:rPr lang="vi-VN" b="1" dirty="0"/>
              <a:t>Tính đúng và tốc độ</a:t>
            </a:r>
            <a:r>
              <a:rPr lang="vi-VN" dirty="0"/>
              <a:t> là yếu tố sống còn.</a:t>
            </a:r>
          </a:p>
          <a:p>
            <a:r>
              <a:rPr lang="vi-VN" b="1" dirty="0"/>
              <a:t>Focus</a:t>
            </a:r>
          </a:p>
          <a:p>
            <a:r>
              <a:rPr lang="vi-VN" dirty="0"/>
              <a:t>Hệ thống vận hành được tối ưu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tốc độ xử lý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độ chính xác,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khối lượng giao dịch lớn.</a:t>
            </a:r>
          </a:p>
          <a:p>
            <a:r>
              <a:rPr lang="vi-VN" dirty="0"/>
              <a:t>Điều này có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dữ liệu chuẩn hóa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cập nhật liên tục,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không phù hợp cho phân tích phức tạp</a:t>
            </a:r>
            <a:r>
              <a:rPr lang="vi-VN" dirty="0"/>
              <a:t>.</a:t>
            </a:r>
          </a:p>
          <a:p>
            <a:r>
              <a:rPr lang="vi-VN" b="1" dirty="0"/>
              <a:t>Examples</a:t>
            </a:r>
          </a:p>
          <a:p>
            <a:r>
              <a:rPr lang="vi-VN" dirty="0"/>
              <a:t>Các ví dụ trên slide cho thấy: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sales systems,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banking platforms,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student enrollment systems.</a:t>
            </a:r>
          </a:p>
          <a:p>
            <a:r>
              <a:rPr lang="en-US" dirty="0"/>
              <a:t>=&gt; </a:t>
            </a:r>
            <a:r>
              <a:rPr lang="vi-VN" dirty="0"/>
              <a:t>Nếu dùng các hệ thống này để phân tích sâu, hiệu năng và độ ổn định sẽ bị ảnh hưởng.</a:t>
            </a:r>
          </a:p>
          <a:p>
            <a:r>
              <a:rPr lang="vi-VN" b="1" dirty="0"/>
              <a:t>2. BI Systems – Hệ thống phân tích</a:t>
            </a:r>
          </a:p>
          <a:p>
            <a:r>
              <a:rPr lang="vi-VN" b="1" dirty="0"/>
              <a:t>Primary Goal</a:t>
            </a:r>
          </a:p>
          <a:p>
            <a:r>
              <a:rPr lang="vi-VN" dirty="0"/>
              <a:t>Mục tiêu của hệ thống BI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ra quyết định chiến lược và chiến thuật.</a:t>
            </a:r>
          </a:p>
          <a:p>
            <a:r>
              <a:rPr lang="vi-VN" dirty="0"/>
              <a:t>Khác với vận hành, BI </a:t>
            </a:r>
            <a:r>
              <a:rPr lang="vi-VN" b="1" dirty="0"/>
              <a:t>không cần phản hồi từng mili-giây</a:t>
            </a:r>
            <a:r>
              <a:rPr lang="vi-VN" dirty="0"/>
              <a:t>, nhưng cần: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cái nhìn tổng thể,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lịch sử,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ngữ cảnh nghiệp vụ.</a:t>
            </a:r>
          </a:p>
          <a:p>
            <a:r>
              <a:rPr lang="vi-VN" b="1" dirty="0"/>
              <a:t>Focus</a:t>
            </a:r>
          </a:p>
          <a:p>
            <a:r>
              <a:rPr lang="vi-VN" dirty="0"/>
              <a:t>BI tập trung vào: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insight,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xu hướng,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mẫu hình lịch sử,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trực quan hóa dữ liệu.</a:t>
            </a:r>
          </a:p>
          <a:p>
            <a:r>
              <a:rPr lang="en-US" dirty="0"/>
              <a:t>=&gt; </a:t>
            </a:r>
            <a:r>
              <a:rPr lang="vi-VN" dirty="0"/>
              <a:t>BI được tối ưu cho </a:t>
            </a:r>
            <a:r>
              <a:rPr lang="vi-VN" b="1" dirty="0"/>
              <a:t>hiểu biết</a:t>
            </a:r>
            <a:r>
              <a:rPr lang="vi-VN" dirty="0"/>
              <a:t>, không phải cho giao dịch.</a:t>
            </a:r>
          </a:p>
          <a:p>
            <a:r>
              <a:rPr lang="vi-VN" b="1" dirty="0"/>
              <a:t>Examples</a:t>
            </a:r>
          </a:p>
          <a:p>
            <a:r>
              <a:rPr lang="vi-VN" dirty="0"/>
              <a:t>Ví dụ điển hình: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cho lãnh đạo,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data mining.</a:t>
            </a:r>
          </a:p>
          <a:p>
            <a:r>
              <a:rPr lang="vi-VN" dirty="0"/>
              <a:t>Những công cụ này </a:t>
            </a:r>
            <a:r>
              <a:rPr lang="vi-VN" b="1" dirty="0"/>
              <a:t>không nên dùng để nhập giao dịch</a:t>
            </a:r>
            <a:r>
              <a:rPr lang="vi-VN" dirty="0"/>
              <a:t>.</a:t>
            </a:r>
          </a:p>
          <a:p>
            <a:r>
              <a:rPr lang="vi-VN" b="1" dirty="0"/>
              <a:t>3. Phân biệt mang tính chiến lược</a:t>
            </a:r>
          </a:p>
          <a:p>
            <a:r>
              <a:rPr lang="vi-VN" dirty="0"/>
              <a:t>Dòng kết luận ở cuối slide nhấn mạnh:</a:t>
            </a:r>
          </a:p>
          <a:p>
            <a:r>
              <a:rPr lang="vi-VN" b="1" dirty="0"/>
              <a:t>“Capturing data is a technical necessity; analyzing it is a business strategy.”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vận hành là </a:t>
            </a:r>
            <a:r>
              <a:rPr lang="vi-VN" b="1" dirty="0"/>
              <a:t>bắt buộc để doanh nghiệp tồn tại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</a:t>
            </a:r>
            <a:r>
              <a:rPr lang="vi-VN" b="1" dirty="0"/>
              <a:t>đòn bẩy để doanh nghiệp cạnh tranh và phát triển</a:t>
            </a:r>
            <a:r>
              <a:rPr lang="vi-VN" dirty="0"/>
              <a:t>.</a:t>
            </a:r>
          </a:p>
          <a:p>
            <a:r>
              <a:rPr lang="vi-VN" b="1" dirty="0"/>
              <a:t>4. Hệ quả thực tế trong doanh nghiệp</a:t>
            </a:r>
          </a:p>
          <a:p>
            <a:r>
              <a:rPr lang="vi-VN" dirty="0"/>
              <a:t>Khi doanh nghiệp: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cố gắng dùng hệ thống vận hành để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trộn lẫn hai mục tiêu trong một hệ thống,</a:t>
            </a:r>
          </a:p>
          <a:p>
            <a:r>
              <a:rPr lang="vi-VN" dirty="0"/>
              <a:t>kết quả thường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chậm,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khó hiểu,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thiếu tin cậy.</a:t>
            </a:r>
          </a:p>
          <a:p>
            <a:r>
              <a:rPr lang="en-US" dirty="0"/>
              <a:t>=&gt; </a:t>
            </a:r>
            <a:r>
              <a:rPr lang="vi-VN" dirty="0"/>
              <a:t>Vì vậy, </a:t>
            </a:r>
            <a:r>
              <a:rPr lang="vi-VN" b="1" dirty="0"/>
              <a:t>data warehouse và BI là cần thiết</a:t>
            </a:r>
            <a:r>
              <a:rPr lang="vi-VN" dirty="0"/>
              <a:t>, không phải “xa xỉ”.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Operational Systems ≠ BI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hệ thống có mục tiêu và thiết kế riêng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tồn tại để </a:t>
            </a:r>
            <a:r>
              <a:rPr lang="vi-VN" b="1" dirty="0"/>
              <a:t>phục vụ quyết định</a:t>
            </a:r>
            <a:r>
              <a:rPr lang="vi-VN" dirty="0"/>
              <a:t>, không phải giao dịch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Nhầm lẫn hai loại hệ thống dẫn đến thất bại BI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Operational BI: Opportunities and Strategic Risks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trình bày một thông điệp cân bằng: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Operational BI mang lại lợi ích ngắn hạn rất rõ ràng, nhưng nếu lạm dụng hoặc hiểu sai, nó có thể gây rủi ro chiến lược cho doanh nghiệp.</a:t>
            </a:r>
            <a:endParaRPr lang="vi-VN" dirty="0"/>
          </a:p>
          <a:p>
            <a:r>
              <a:rPr lang="vi-VN" b="1" dirty="0"/>
              <a:t>1. Operational BI là gì?</a:t>
            </a:r>
          </a:p>
          <a:p>
            <a:r>
              <a:rPr lang="vi-VN" dirty="0"/>
              <a:t>Operational BI được định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</a:t>
            </a:r>
            <a:r>
              <a:rPr lang="vi-VN" b="1" dirty="0"/>
              <a:t>real-time hoặc near-real-time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truy vấn trực tiếp trên </a:t>
            </a:r>
            <a:r>
              <a:rPr lang="vi-VN" b="1" dirty="0"/>
              <a:t>hệ thống vận hành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phục vụ nhu cầu giám sát và phản ứng nhanh.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dõi số đơn hàng trong ngày,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giám sát tồn kho tức thời,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sự cố vận hành.</a:t>
            </a:r>
          </a:p>
          <a:p>
            <a:r>
              <a:rPr lang="vi-VN" b="1" dirty="0"/>
              <a:t>2. Strategic Benefits – Lợi ích chiến lược</a:t>
            </a:r>
          </a:p>
          <a:p>
            <a:r>
              <a:rPr lang="vi-VN" b="1" dirty="0"/>
              <a:t>Immediate Data Access</a:t>
            </a:r>
          </a:p>
          <a:p>
            <a:r>
              <a:rPr lang="vi-VN" dirty="0"/>
              <a:t>Operational BI cho phép: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nhìn thấy dữ liệu giao dịch hiện tại ngay lập tức,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cần chờ batch ETL hay load dữ liệu định kỳ.</a:t>
            </a:r>
          </a:p>
          <a:p>
            <a:r>
              <a:rPr lang="en-US" dirty="0"/>
              <a:t>=&gt; </a:t>
            </a:r>
            <a:r>
              <a:rPr lang="vi-VN" dirty="0"/>
              <a:t>Điều này rất hữu ích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tuyến đầu,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giám sát hoạt động hàng ngày.</a:t>
            </a:r>
          </a:p>
          <a:p>
            <a:r>
              <a:rPr lang="vi-VN" b="1" dirty="0"/>
              <a:t>Faster Responses</a:t>
            </a:r>
          </a:p>
          <a:p>
            <a:r>
              <a:rPr lang="vi-VN" dirty="0"/>
              <a:t>Nhờ dữ liệu gần thời gian thực: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nhà quản lý có thể phản ứng nhanh với sự cố,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 nhu cầu khách hàng kịp thời,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thiểu rủi ro vận hành.</a:t>
            </a:r>
          </a:p>
          <a:p>
            <a:r>
              <a:rPr lang="en-US" dirty="0"/>
              <a:t>=&gt; </a:t>
            </a:r>
            <a:r>
              <a:rPr lang="vi-VN" dirty="0"/>
              <a:t>Đây là lợi thế quan trọng trong môi trường cạnh tranh cao.</a:t>
            </a:r>
          </a:p>
          <a:p>
            <a:r>
              <a:rPr lang="vi-VN" b="1" dirty="0"/>
              <a:t>3. Strategic Risks – Rủi ro chiến lược</a:t>
            </a:r>
          </a:p>
          <a:p>
            <a:r>
              <a:rPr lang="vi-VN" b="1" dirty="0"/>
              <a:t>System Confusion</a:t>
            </a:r>
          </a:p>
          <a:p>
            <a:r>
              <a:rPr lang="vi-VN" dirty="0"/>
              <a:t>Rủi ro lớn nhất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trộn lẫn mục tiêu vận hành và phân tích sâu,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chạy truy vấn phân tích nặng trực tiếp trên hệ thống giao dịch.</a:t>
            </a:r>
          </a:p>
          <a:p>
            <a:r>
              <a:rPr lang="vi-VN" dirty="0"/>
              <a:t>Hệ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chậm hệ thống vận hành,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ảnh hưởng trực tiếp đến hoạt động kinh doanh.</a:t>
            </a:r>
          </a:p>
          <a:p>
            <a:r>
              <a:rPr lang="en-US" dirty="0"/>
              <a:t>=&gt; </a:t>
            </a:r>
            <a:r>
              <a:rPr lang="vi-VN" b="1" dirty="0"/>
              <a:t>Hệ thống vận hành không được thiết kế cho phân tích sâu</a:t>
            </a:r>
            <a:r>
              <a:rPr lang="vi-VN" dirty="0"/>
              <a:t>.</a:t>
            </a:r>
          </a:p>
          <a:p>
            <a:r>
              <a:rPr lang="vi-VN" b="1" dirty="0"/>
              <a:t>Poor Data Definitions</a:t>
            </a:r>
          </a:p>
          <a:p>
            <a:r>
              <a:rPr lang="vi-VN" dirty="0"/>
              <a:t>Khi bỏ qua: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định nghĩa,</a:t>
            </a:r>
          </a:p>
          <a:p>
            <a:r>
              <a:rPr lang="vi-VN" dirty="0"/>
              <a:t>doanh nghiệp dễ gặp: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chỉ số mâu thuẫn,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dữ liệu lịch sử,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ngữ cảnh phân tích dài hạn.</a:t>
            </a:r>
          </a:p>
          <a:p>
            <a:r>
              <a:rPr lang="en-US" dirty="0"/>
              <a:t>=&gt; </a:t>
            </a:r>
            <a:r>
              <a:rPr lang="vi-VN" dirty="0"/>
              <a:t>Điều này làm giảm </a:t>
            </a:r>
            <a:r>
              <a:rPr lang="vi-VN" b="1" dirty="0"/>
              <a:t>độ tin cậy của báo cáo</a:t>
            </a:r>
            <a:r>
              <a:rPr lang="vi-VN" dirty="0"/>
              <a:t>.</a:t>
            </a:r>
          </a:p>
          <a:p>
            <a:r>
              <a:rPr lang="vi-VN" b="1" dirty="0"/>
              <a:t>4. Thông điệp quan trọng nhất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Operational BI is a supplement to, not a replacement for, enterprise data warehousing.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Operational BI </a:t>
            </a:r>
            <a:r>
              <a:rPr lang="vi-VN" b="1" dirty="0"/>
              <a:t>bổ trợ</a:t>
            </a:r>
            <a:r>
              <a:rPr lang="vi-VN" dirty="0"/>
              <a:t> cho BI truyền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không thể thay thế data warehouse</a:t>
            </a:r>
            <a:r>
              <a:rPr lang="vi-VN" dirty="0"/>
              <a:t>.</a:t>
            </a:r>
          </a:p>
          <a:p>
            <a:r>
              <a:rPr lang="vi-VN" b="1" dirty="0"/>
              <a:t>5. Cách sử dụng Operational BI đúng đắn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Dùng cho: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giám sát tức thời,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phản ứng nhanh,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quyết định tác nghiệp ngắn hạn.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dùng cho: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tích lịch sử dài hạn,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tích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báo cáo quản trị cấp cao.</a:t>
            </a:r>
          </a:p>
          <a:p>
            <a:r>
              <a:rPr lang="en-US" dirty="0"/>
              <a:t>=&gt; </a:t>
            </a:r>
            <a:r>
              <a:rPr lang="vi-VN" dirty="0"/>
              <a:t>Hai loại BI </a:t>
            </a:r>
            <a:r>
              <a:rPr lang="vi-VN" b="1" dirty="0"/>
              <a:t>phải song song tồn tại</a:t>
            </a:r>
            <a:r>
              <a:rPr lang="vi-VN" dirty="0"/>
              <a:t>, không loại trừ nhau.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Operational BI mang lại tốc độ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Warehouse &amp; BI truyền thống mang lại chiều sâu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Lạm dụng Operational BI dẫn đến rủi ro nghiêm trọng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Kiến trúc BI đúng giúp tận dụng cả hai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Why Data Warehousing Remains Essential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khẳng định một nguyên lý quan trọng trong Business Intelligence: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Không có con đường tắt nào thay thế được data warehousing và data integration nếu muốn có BI đáng tin cậy.</a:t>
            </a:r>
            <a:endParaRPr lang="vi-VN" dirty="0"/>
          </a:p>
          <a:p>
            <a:r>
              <a:rPr lang="vi-VN" b="1" dirty="0"/>
              <a:t>1. Integration – Tích hợp dữ liệu</a:t>
            </a:r>
          </a:p>
          <a:p>
            <a:r>
              <a:rPr lang="vi-VN" dirty="0"/>
              <a:t>Doanh nghiệp hiện đại có dữ liệu đến từ: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hệ thống vận hành khác nhau (ERP, CRM, POS, LMS…),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phòng ban,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định dạng dữ liệu.</a:t>
            </a:r>
          </a:p>
          <a:p>
            <a:r>
              <a:rPr lang="vi-VN" b="1" dirty="0"/>
              <a:t>Data Warehouse</a:t>
            </a:r>
            <a:r>
              <a:rPr lang="vi-VN" dirty="0"/>
              <a:t> đóng vai trò: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hợp nhất dữ liệu phân tán,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loại bỏ trùng lặp,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định nghĩa,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ra </a:t>
            </a:r>
            <a:r>
              <a:rPr lang="vi-VN" b="1" dirty="0"/>
              <a:t>“single source of truth”</a:t>
            </a:r>
            <a:r>
              <a:rPr lang="vi-VN" dirty="0"/>
              <a:t> cho toàn doanh nghiệp.</a:t>
            </a:r>
          </a:p>
          <a:p>
            <a:r>
              <a:rPr lang="en-US" dirty="0"/>
              <a:t>=&gt; </a:t>
            </a:r>
            <a:r>
              <a:rPr lang="vi-VN" dirty="0"/>
              <a:t>Nếu không có integration, mỗi bộ phận sẽ có “con số của riêng mình”.</a:t>
            </a:r>
          </a:p>
          <a:p>
            <a:r>
              <a:rPr lang="vi-VN" b="1" dirty="0"/>
              <a:t>2. Historical Context – Ngữ cảnh lịch sử</a:t>
            </a:r>
          </a:p>
          <a:p>
            <a:r>
              <a:rPr lang="vi-VN" dirty="0"/>
              <a:t>Hệ thống vận hành thường: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lưu dữ liệu hiện tại,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đè hoặc xóa dữ liệu cũ,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tối ưu cho phân tích dài hạn.</a:t>
            </a:r>
          </a:p>
          <a:p>
            <a:r>
              <a:rPr lang="vi-VN" dirty="0"/>
              <a:t>Data Warehouse cho phép: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lưu trữ dữ liệu theo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xu hướng theo tháng, quý, năm,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 hiệu suất hiện tại với quá khứ.</a:t>
            </a:r>
          </a:p>
          <a:p>
            <a:r>
              <a:rPr lang="en-US" dirty="0"/>
              <a:t>=&gt; </a:t>
            </a:r>
            <a:r>
              <a:rPr lang="vi-VN" b="1" dirty="0"/>
              <a:t>Chiến lược không thể xây dựng chỉ từ dữ liệu “hôm nay”.</a:t>
            </a:r>
            <a:endParaRPr lang="vi-VN" dirty="0"/>
          </a:p>
          <a:p>
            <a:r>
              <a:rPr lang="vi-VN" b="1" dirty="0"/>
              <a:t>3. Consistency – Tính nhất quán</a:t>
            </a:r>
          </a:p>
          <a:p>
            <a:r>
              <a:rPr lang="vi-VN" dirty="0"/>
              <a:t>Một trong những giá trị lớn nhất của data warehouse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chuẩn cho các chỉ số (KPI),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được “conformed” giữa các phòng ban.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“doanh thu” phải có cùng cách tính ở tài chính, bán hàng và marketing,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“khách hàng” phải được định nghĩa thống nhất.</a:t>
            </a:r>
          </a:p>
          <a:p>
            <a:r>
              <a:rPr lang="en-US" dirty="0"/>
              <a:t>=&gt; </a:t>
            </a:r>
            <a:r>
              <a:rPr lang="vi-VN" dirty="0"/>
              <a:t>Data warehouse giúp </a:t>
            </a:r>
            <a:r>
              <a:rPr lang="vi-VN" b="1" dirty="0"/>
              <a:t>mọi người nói cùng một ngôn ngữ dữ liệu</a:t>
            </a:r>
            <a:r>
              <a:rPr lang="vi-VN" dirty="0"/>
              <a:t>.</a:t>
            </a:r>
          </a:p>
          <a:p>
            <a:r>
              <a:rPr lang="vi-VN" b="1" dirty="0"/>
              <a:t>4. Giải thích thông điệp then chốt (Key Principle)</a:t>
            </a:r>
          </a:p>
          <a:p>
            <a:r>
              <a:rPr lang="vi-VN" dirty="0"/>
              <a:t>Dòng kết luận ở cuối slide nhấn mạnh:</a:t>
            </a:r>
          </a:p>
          <a:p>
            <a:r>
              <a:rPr lang="vi-VN" b="1" dirty="0"/>
              <a:t>“There is no shortcut that eliminates the need for data integration.”</a:t>
            </a:r>
            <a:endParaRPr lang="vi-VN" dirty="0"/>
          </a:p>
          <a:p>
            <a:r>
              <a:rPr lang="vi-VN" dirty="0"/>
              <a:t>Điều này có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mới không thay thế được nền tảng,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real-time BI hay AI không giải quyết được dữ liệu rời rạc,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bỏ qua data warehousing, BI sẽ </a:t>
            </a:r>
            <a:r>
              <a:rPr lang="vi-VN" b="1" dirty="0"/>
              <a:t>mất độ tin cậy</a:t>
            </a:r>
            <a:r>
              <a:rPr lang="vi-VN" dirty="0"/>
              <a:t>.</a:t>
            </a:r>
          </a:p>
          <a:p>
            <a:r>
              <a:rPr lang="vi-VN" b="1" dirty="0"/>
              <a:t>5. Liên hệ với các slide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Operational BI: Opportunities and Risks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Data Capture vs. Information Analysis</a:t>
            </a:r>
            <a:endParaRPr lang="vi-VN" dirty="0"/>
          </a:p>
          <a:p>
            <a:r>
              <a:rPr lang="vi-VN" dirty="0"/>
              <a:t>Operational BI cho tốc độ,</a:t>
            </a:r>
            <a:br>
              <a:rPr lang="vi-VN" dirty="0"/>
            </a:br>
            <a:r>
              <a:rPr lang="vi-VN" dirty="0"/>
              <a:t>Analytics cho insight nâng cao,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Data Warehouse cho sự ổn định, nhất quán và chiều sâu chiến lược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Warehousing không lỗi thời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nền móng bắt buộc</a:t>
            </a:r>
            <a:r>
              <a:rPr lang="vi-VN" dirty="0"/>
              <a:t> của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tích hợp dữ liệu → không có BI đáng tin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 thay đổi, nguyên lý vẫn giữ nguyên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Five Cs of High-Quality Data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đưa ra một chuẩn mực rất quan trọng trong BI: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Dữ liệu chỉ thực sự có giá trị khi đồng thời thỏa mãn cả 5 tiêu chí – không phải chỉ 1 hay 2 tiêu chí riêng lẻ.</a:t>
            </a:r>
            <a:endParaRPr lang="vi-VN" dirty="0"/>
          </a:p>
          <a:p>
            <a:r>
              <a:rPr lang="vi-VN" b="1" dirty="0"/>
              <a:t>1. Clean – Dữ liệu sạch</a:t>
            </a:r>
          </a:p>
          <a:p>
            <a:r>
              <a:rPr lang="vi-VN" b="1" dirty="0"/>
              <a:t>Clean</a:t>
            </a:r>
            <a:r>
              <a:rPr lang="vi-VN" dirty="0"/>
              <a:t> nghĩa là 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xác,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lỗi,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được kiểm tra và xác thực.</a:t>
            </a:r>
          </a:p>
          <a:p>
            <a:r>
              <a:rPr lang="vi-VN" dirty="0"/>
              <a:t>Ví dụ dữ liệu </a:t>
            </a:r>
            <a:r>
              <a:rPr lang="vi-VN" i="1" dirty="0"/>
              <a:t>không clean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thiếu hoặc sai,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trùng lặp bản ghi,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nhập sai định dạng (ngày tháng, đơn vị đo).</a:t>
            </a:r>
          </a:p>
          <a:p>
            <a:r>
              <a:rPr lang="en-US" dirty="0"/>
              <a:t>=&gt; </a:t>
            </a:r>
            <a:r>
              <a:rPr lang="vi-VN" b="1" dirty="0"/>
              <a:t>Nếu dữ liệu không sạch, mọi phân tích phía sau đều sai</a:t>
            </a:r>
            <a:r>
              <a:rPr lang="vi-VN" dirty="0"/>
              <a:t>, dù mô hình hay dashboard có đẹp đến đâu.</a:t>
            </a:r>
          </a:p>
          <a:p>
            <a:r>
              <a:rPr lang="vi-VN" b="1" dirty="0"/>
              <a:t>2. Consistent – Dữ liệu nhất quán</a:t>
            </a:r>
          </a:p>
          <a:p>
            <a:r>
              <a:rPr lang="vi-VN" b="1" dirty="0"/>
              <a:t>Consistent</a:t>
            </a:r>
            <a:r>
              <a:rPr lang="vi-VN" dirty="0"/>
              <a:t>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khái niệm,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định nghĩa,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quy tắc nghiệp vụ,</a:t>
            </a:r>
          </a:p>
          <a:p>
            <a:r>
              <a:rPr lang="vi-VN" dirty="0"/>
              <a:t>được áp dụng </a:t>
            </a:r>
            <a:r>
              <a:rPr lang="vi-VN" b="1" dirty="0"/>
              <a:t>xuyên suốt toàn doanh nghiệp</a:t>
            </a:r>
            <a:r>
              <a:rPr lang="vi-VN" dirty="0"/>
              <a:t>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“Doanh thu” ở phòng kinh doanh và phòng tài chính phải được tính giống nhau,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mã khách hàng không mang ý nghĩa khác nhau ở các hệ thống.</a:t>
            </a:r>
          </a:p>
          <a:p>
            <a:r>
              <a:rPr lang="en-US" dirty="0"/>
              <a:t>=&gt; </a:t>
            </a:r>
            <a:r>
              <a:rPr lang="vi-VN" dirty="0"/>
              <a:t>Thiếu consistency dẫn đến </a:t>
            </a:r>
            <a:r>
              <a:rPr lang="vi-VN" b="1" dirty="0"/>
              <a:t>tranh cãi số liệu thay vì ra quyết định</a:t>
            </a:r>
            <a:r>
              <a:rPr lang="vi-VN" dirty="0"/>
              <a:t>.</a:t>
            </a:r>
          </a:p>
          <a:p>
            <a:r>
              <a:rPr lang="vi-VN" b="1" dirty="0"/>
              <a:t>3. Conformed – Dữ liệu được chuẩn hóa dùng chung</a:t>
            </a:r>
          </a:p>
          <a:p>
            <a:r>
              <a:rPr lang="vi-VN" b="1" dirty="0"/>
              <a:t>Conformed</a:t>
            </a:r>
            <a:r>
              <a:rPr lang="vi-VN" dirty="0"/>
              <a:t>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chiều dữ liệu (dimensions) dùng chung,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thuộc tính được chuẩn hóa để phân tích chéo giữa các bộ phận.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dimension </a:t>
            </a:r>
            <a:r>
              <a:rPr lang="vi-VN" i="1" dirty="0"/>
              <a:t>Time</a:t>
            </a:r>
            <a:r>
              <a:rPr lang="vi-VN" dirty="0"/>
              <a:t>, </a:t>
            </a:r>
            <a:r>
              <a:rPr lang="vi-VN" i="1" dirty="0"/>
              <a:t>Customer</a:t>
            </a:r>
            <a:r>
              <a:rPr lang="vi-VN" dirty="0"/>
              <a:t>, </a:t>
            </a:r>
            <a:r>
              <a:rPr lang="vi-VN" i="1" dirty="0"/>
              <a:t>Product</a:t>
            </a:r>
            <a:r>
              <a:rPr lang="vi-VN" dirty="0"/>
              <a:t> được dùng cho: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bán hàng,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marketing,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tài chính.</a:t>
            </a:r>
          </a:p>
          <a:p>
            <a:r>
              <a:rPr lang="en-US" dirty="0"/>
              <a:t>=&gt; </a:t>
            </a:r>
            <a:r>
              <a:rPr lang="vi-VN" dirty="0"/>
              <a:t>Đây là nền tảng để </a:t>
            </a:r>
            <a:r>
              <a:rPr lang="vi-VN" b="1" dirty="0"/>
              <a:t>phân tích liên phòng ban</a:t>
            </a:r>
            <a:r>
              <a:rPr lang="vi-VN" dirty="0"/>
              <a:t> và báo cáo cấp doanh nghiệp.</a:t>
            </a:r>
          </a:p>
          <a:p>
            <a:r>
              <a:rPr lang="vi-VN" b="1" dirty="0"/>
              <a:t>4. Current – Dữ liệu kịp thời</a:t>
            </a:r>
          </a:p>
          <a:p>
            <a:r>
              <a:rPr lang="vi-VN" b="1" dirty="0"/>
              <a:t>Current</a:t>
            </a:r>
            <a:r>
              <a:rPr lang="vi-VN" dirty="0"/>
              <a:t>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được cập nhật đúng thời điểm,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đúng với nhu cầu ra quyết định.</a:t>
            </a:r>
          </a:p>
          <a:p>
            <a:r>
              <a:rPr lang="vi-VN" dirty="0"/>
              <a:t>Lưu 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lúc nào cũng cần real-time,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luôn phải đúng với ngữ cảnh sử dụng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Dữ liệu đúng nhưng đến quá muộn = </a:t>
            </a:r>
            <a:r>
              <a:rPr lang="vi-VN" b="1" dirty="0"/>
              <a:t>mất giá trị</a:t>
            </a:r>
            <a:r>
              <a:rPr lang="vi-VN" dirty="0"/>
              <a:t>.</a:t>
            </a:r>
          </a:p>
          <a:p>
            <a:r>
              <a:rPr lang="vi-VN" b="1" dirty="0"/>
              <a:t>5. Comprehensive – Dữ liệu đầy đủ</a:t>
            </a:r>
          </a:p>
          <a:p>
            <a:r>
              <a:rPr lang="vi-VN" b="1" dirty="0"/>
              <a:t>Comprehensive</a:t>
            </a:r>
            <a:r>
              <a:rPr lang="vi-VN" dirty="0"/>
              <a:t>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bao phủ đầy đủ các khía cạnh cần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bị thiếu mảnh ghép quan trọng.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doanh thu nhưng thiếu chi phí → không biết lợi nhuận,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khách hàng nhưng thiếu dữ liệu hành vi → insight hạn chế.</a:t>
            </a:r>
          </a:p>
          <a:p>
            <a:r>
              <a:rPr lang="en-US" dirty="0"/>
              <a:t>=&gt; </a:t>
            </a:r>
            <a:r>
              <a:rPr lang="vi-VN" dirty="0"/>
              <a:t>Thiếu dữ liệu = </a:t>
            </a:r>
            <a:r>
              <a:rPr lang="vi-VN" b="1" dirty="0"/>
              <a:t>kết luận sai hoặc phiến diện</a:t>
            </a:r>
            <a:r>
              <a:rPr lang="vi-VN" dirty="0"/>
              <a:t>.</a:t>
            </a:r>
          </a:p>
          <a:p>
            <a:r>
              <a:rPr lang="vi-VN" b="1" dirty="0"/>
              <a:t>6. 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To support effective BI, data must meet all five criteria simultaneously.</a:t>
            </a:r>
            <a:endParaRPr lang="vi-VN" dirty="0"/>
          </a:p>
          <a:p>
            <a:r>
              <a:rPr lang="vi-VN" dirty="0"/>
              <a:t>Điều này có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sạch nhưng không nhất quán → vẫn không dùng được,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nhất quán nhưng không đầy đủ → phân tích sai,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đầy đủ nhưng không kịp thời → quyết định chậm.</a:t>
            </a:r>
          </a:p>
          <a:p>
            <a:r>
              <a:rPr lang="en-US" dirty="0"/>
              <a:t>=&gt; </a:t>
            </a:r>
            <a:r>
              <a:rPr lang="vi-VN" b="1" dirty="0"/>
              <a:t>BI chỉ tin cậy khi cả 5C cùng tồn tại</a:t>
            </a:r>
            <a:r>
              <a:rPr lang="vi-VN" dirty="0"/>
              <a:t>.</a:t>
            </a:r>
          </a:p>
          <a:p>
            <a:r>
              <a:rPr lang="vi-VN" b="1" dirty="0"/>
              <a:t>7. Liên hệ trực tiếp với BI &amp; Data Warehousing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chịu trách nhiệm </a:t>
            </a:r>
            <a:r>
              <a:rPr lang="vi-VN" b="1" dirty="0"/>
              <a:t>Clean &amp; Current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modeling và governance đảm bảo </a:t>
            </a:r>
            <a:r>
              <a:rPr lang="vi-VN" b="1" dirty="0"/>
              <a:t>Consistent &amp; Conformed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integration giúp đạt </a:t>
            </a:r>
            <a:r>
              <a:rPr lang="vi-VN" b="1" dirty="0"/>
              <a:t>Comprehensive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Five Cs là </a:t>
            </a:r>
            <a:r>
              <a:rPr lang="vi-VN" b="1" dirty="0"/>
              <a:t>thước đo chất lượng dữ liệu BI</a:t>
            </a:r>
            <a:r>
              <a:rPr lang="vi-VN" dirty="0"/>
              <a:t>.</a:t>
            </a:r>
          </a:p>
          <a:p>
            <a:r>
              <a:rPr lang="vi-VN" b="1" dirty="0"/>
              <a:t>8.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dữ liệu quan trọng hơn số lượng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Five Cs là chuẩn đánh giá dữ liệu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Mọi dự án BI thất bại đều có thể truy ngược về việc vi phạm ít nhất một “C”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Business Impact of the Five Cs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so sánh trực diện </a:t>
            </a:r>
            <a:r>
              <a:rPr lang="vi-VN" b="1" dirty="0"/>
              <a:t>hai trạng thái của doanh nghiệp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Không có Five Cs</a:t>
            </a:r>
            <a:r>
              <a:rPr lang="vi-VN" dirty="0"/>
              <a:t> → dữ liệu gây cản trở quyết định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Có Five Cs</a:t>
            </a:r>
            <a:r>
              <a:rPr lang="vi-VN" dirty="0"/>
              <a:t> → dữ liệu trở thành lợi thế cạnh tranh</a:t>
            </a:r>
          </a:p>
          <a:p>
            <a:r>
              <a:rPr lang="en-US" dirty="0"/>
              <a:t>=&gt; </a:t>
            </a:r>
            <a:r>
              <a:rPr lang="vi-VN" dirty="0"/>
              <a:t>Thông điệp cốt lõi: </a:t>
            </a:r>
            <a:r>
              <a:rPr lang="vi-VN" b="1" dirty="0"/>
              <a:t>chất lượng dữ liệu ảnh hưởng trực tiếp đến hiệu quả kinh doanh</a:t>
            </a:r>
            <a:r>
              <a:rPr lang="vi-VN" dirty="0"/>
              <a:t>, không phải chỉ là vấn đề kỹ thuật.</a:t>
            </a:r>
          </a:p>
          <a:p>
            <a:r>
              <a:rPr lang="vi-VN" b="1" dirty="0"/>
              <a:t>1. Khi KHÔNG có Five Cs</a:t>
            </a:r>
          </a:p>
          <a:p>
            <a:r>
              <a:rPr lang="vi-VN" b="1" dirty="0"/>
              <a:t>Debating the Numbers – Tranh cãi số liệu</a:t>
            </a:r>
          </a:p>
          <a:p>
            <a:r>
              <a:rPr lang="vi-VN" dirty="0"/>
              <a:t>Khi 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được chuẩn hóa,</a:t>
            </a:r>
          </a:p>
          <a:p>
            <a:r>
              <a:rPr lang="vi-VN" dirty="0"/>
              <a:t>các cuộc họp sẽ: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xoay quanh câu hỏi “số nào đúng?”,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thay vì “chúng ta nên làm gì tiếp theo?”.</a:t>
            </a:r>
          </a:p>
          <a:p>
            <a:r>
              <a:rPr lang="en-US" dirty="0"/>
              <a:t>=&gt; </a:t>
            </a:r>
            <a:r>
              <a:rPr lang="vi-VN" dirty="0"/>
              <a:t>Thời gian bị lãng phí vào tranh cãi, không tạo ra giá trị.</a:t>
            </a:r>
          </a:p>
          <a:p>
            <a:r>
              <a:rPr lang="vi-VN" b="1" dirty="0"/>
              <a:t>Delayed Decisions – Quyết định bị trì hoãn</a:t>
            </a:r>
          </a:p>
          <a:p>
            <a:r>
              <a:rPr lang="vi-VN" dirty="0"/>
              <a:t>Dữ liệu mâu thuẫn hoặc thiếu tin cậy khiến: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nhà quản lý do dự,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bỏ lỡ cơ hội thị trường,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phản ứng chậm với rủi ro.</a:t>
            </a:r>
          </a:p>
          <a:p>
            <a:r>
              <a:rPr lang="en-US" dirty="0"/>
              <a:t>=&gt; </a:t>
            </a:r>
            <a:r>
              <a:rPr lang="vi-VN" dirty="0"/>
              <a:t>Trong môi trường cạnh tranh, </a:t>
            </a:r>
            <a:r>
              <a:rPr lang="vi-VN" b="1" dirty="0"/>
              <a:t>chậm cũng là một dạng thất bại</a:t>
            </a:r>
            <a:r>
              <a:rPr lang="vi-VN" dirty="0"/>
              <a:t>.</a:t>
            </a:r>
          </a:p>
          <a:p>
            <a:r>
              <a:rPr lang="vi-VN" b="1" dirty="0"/>
              <a:t>Erosion of Trust – Mất niềm tin</a:t>
            </a:r>
          </a:p>
          <a:p>
            <a:r>
              <a:rPr lang="vi-VN" dirty="0"/>
              <a:t>Khi BI liên tục cho kết quả đáng ngờ: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ngừng tin vào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quay lại dùng Excel cá nhân,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ra quyết định theo cảm tính.</a:t>
            </a:r>
          </a:p>
          <a:p>
            <a:r>
              <a:rPr lang="en-US" dirty="0"/>
              <a:t>=&gt; </a:t>
            </a:r>
            <a:r>
              <a:rPr lang="vi-VN" dirty="0"/>
              <a:t>Một khi niềm tin mất đi, </a:t>
            </a:r>
            <a:r>
              <a:rPr lang="vi-VN" b="1" dirty="0"/>
              <a:t>BI gần như vô dụng</a:t>
            </a:r>
            <a:r>
              <a:rPr lang="vi-VN" dirty="0"/>
              <a:t>.</a:t>
            </a:r>
          </a:p>
          <a:p>
            <a:r>
              <a:rPr lang="vi-VN" b="1" dirty="0"/>
              <a:t>2. Khi CÓ Five Cs</a:t>
            </a:r>
          </a:p>
          <a:p>
            <a:r>
              <a:rPr lang="vi-VN" b="1" dirty="0"/>
              <a:t>Confidence in Data – Niềm tin vào dữ liệu</a:t>
            </a:r>
          </a:p>
          <a:p>
            <a:r>
              <a:rPr lang="vi-VN" dirty="0"/>
              <a:t>Với 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hóa,</a:t>
            </a:r>
          </a:p>
          <a:p>
            <a:r>
              <a:rPr lang="vi-VN" dirty="0"/>
              <a:t>doanh nghiệp có: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single source of truth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thống nhất toàn tổ chức.</a:t>
            </a:r>
          </a:p>
          <a:p>
            <a:r>
              <a:rPr lang="en-US" dirty="0"/>
              <a:t>=&gt; </a:t>
            </a:r>
            <a:r>
              <a:rPr lang="vi-VN" dirty="0"/>
              <a:t>Mọi người tin vào dữ liệu và sẵn sàng sử dụng nó.</a:t>
            </a:r>
          </a:p>
          <a:p>
            <a:r>
              <a:rPr lang="vi-VN" b="1" dirty="0"/>
              <a:t>Faster, Better Decisions – Quyết định nhanh và tốt hơn</a:t>
            </a:r>
          </a:p>
          <a:p>
            <a:r>
              <a:rPr lang="vi-VN" dirty="0"/>
              <a:t>Dữ liệu: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xác,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kịp thời,</a:t>
            </a:r>
          </a:p>
          <a:p>
            <a:r>
              <a:rPr lang="vi-VN" dirty="0"/>
              <a:t>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phản ứng nhanh với thay đổi thị trường,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ra quyết định dựa trên bằng chứng,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rủi ro chiến lược.</a:t>
            </a:r>
          </a:p>
          <a:p>
            <a:r>
              <a:rPr lang="en-US" dirty="0"/>
              <a:t>=&gt; </a:t>
            </a:r>
            <a:r>
              <a:rPr lang="vi-VN" dirty="0"/>
              <a:t>Tốc độ + độ tin cậy = lợi thế cạnh tranh.</a:t>
            </a:r>
          </a:p>
          <a:p>
            <a:r>
              <a:rPr lang="vi-VN" b="1" dirty="0"/>
              <a:t>Analytics-Driven Culture – Văn hóa ra quyết định dựa trên dữ liệu</a:t>
            </a:r>
          </a:p>
          <a:p>
            <a:r>
              <a:rPr lang="vi-VN" dirty="0"/>
              <a:t>Khi dữ liệu đáng tin: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trở thành ngôn ngữ chung,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bộ phận phối hợp tốt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cải tiến liên tục dựa trên insight.</a:t>
            </a:r>
          </a:p>
          <a:p>
            <a:r>
              <a:rPr lang="en-US" dirty="0"/>
              <a:t>=&gt; </a:t>
            </a:r>
            <a:r>
              <a:rPr lang="vi-VN" dirty="0"/>
              <a:t>BI không còn là công cụ IT, mà là </a:t>
            </a:r>
            <a:r>
              <a:rPr lang="vi-VN" b="1" dirty="0"/>
              <a:t>nền tảng văn hóa doanh nghiệp</a:t>
            </a:r>
            <a:r>
              <a:rPr lang="vi-VN" dirty="0"/>
              <a:t>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Reliable data accelerates the transition from insight to action.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đáng tin giúp </a:t>
            </a:r>
            <a:r>
              <a:rPr lang="vi-VN" b="1" dirty="0"/>
              <a:t>hành động nhanh hơn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rút ngắn khoảng cách giữa phân tích và thực thi,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insight thành kết quả kinh doanh thực sự.</a:t>
            </a:r>
          </a:p>
          <a:p>
            <a:r>
              <a:rPr lang="vi-VN" b="1" dirty="0"/>
              <a:t>4. Liên hệ với các slide trước</a:t>
            </a:r>
          </a:p>
          <a:p>
            <a:r>
              <a:rPr lang="vi-VN" dirty="0"/>
              <a:t>Slide này là hệ quả trực tiếp của: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Five Cs of High-Quality Data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Why Data Warehousing Remains Essential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Five Cs là </a:t>
            </a:r>
            <a:r>
              <a:rPr lang="vi-VN" b="1" dirty="0"/>
              <a:t>điều kiện cần</a:t>
            </a:r>
            <a:r>
              <a:rPr lang="vi-VN" dirty="0"/>
              <a:t> để BI tạo ra </a:t>
            </a:r>
            <a:r>
              <a:rPr lang="vi-VN" b="1" dirty="0"/>
              <a:t>giá trị kinh doanh</a:t>
            </a:r>
            <a:r>
              <a:rPr lang="vi-VN" dirty="0"/>
              <a:t>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dữ liệu = hiệu quả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Five Cs → BI thất bại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Five Cs → dữ liệu trở thành tài sản chiến lược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tin và được dùng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Data Governance: Beyond the Technology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thông điệp rất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Công nghệ chỉ là điều kiện cần, còn con người, quy trình và quản trị dữ liệu mới là điều kiện đủ để BI thành công.</a:t>
            </a:r>
            <a:endParaRPr lang="vi-VN" dirty="0"/>
          </a:p>
          <a:p>
            <a:r>
              <a:rPr lang="vi-VN" b="1" dirty="0"/>
              <a:t>1. Governance Framework – Khung quản trị dữ liệu</a:t>
            </a:r>
          </a:p>
          <a:p>
            <a:r>
              <a:rPr lang="vi-VN" dirty="0"/>
              <a:t>Data Governance bắt đầu từ việc: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</a:t>
            </a:r>
            <a:r>
              <a:rPr lang="vi-VN" b="1" dirty="0"/>
              <a:t>định nghĩa dữ liệu rõ ràng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thống nhất </a:t>
            </a:r>
            <a:r>
              <a:rPr lang="vi-VN" b="1" dirty="0"/>
              <a:t>quy tắc nghiệp vụ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chỉ số hiệu suất (KPI)</a:t>
            </a:r>
            <a:r>
              <a:rPr lang="vi-VN" dirty="0"/>
              <a:t> dùng chung trong toàn tổ chức.</a:t>
            </a:r>
          </a:p>
          <a:p>
            <a:r>
              <a:rPr lang="en-US" dirty="0"/>
              <a:t>=&gt; </a:t>
            </a:r>
            <a:r>
              <a:rPr lang="vi-VN" dirty="0"/>
              <a:t>Không có governance framework: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phòng ban hiểu dữ liệu theo cách riêng,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thể trở thành “single source of truth”.</a:t>
            </a:r>
          </a:p>
          <a:p>
            <a:r>
              <a:rPr lang="vi-VN" b="1" dirty="0"/>
              <a:t>2. IT–Business Alignment – Sự phối hợp giữa IT và nghiệp vụ</a:t>
            </a:r>
          </a:p>
          <a:p>
            <a:r>
              <a:rPr lang="vi-VN" dirty="0"/>
              <a:t>Một dự án BI chỉ thành công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hiểu </a:t>
            </a:r>
            <a:r>
              <a:rPr lang="vi-VN" b="1" dirty="0"/>
              <a:t>nhu cầu kinh doanh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nghiệp vụ hiểu </a:t>
            </a:r>
            <a:r>
              <a:rPr lang="vi-VN" b="1" dirty="0"/>
              <a:t>giới hạn kỹ thuật</a:t>
            </a:r>
            <a:r>
              <a:rPr lang="vi-VN" dirty="0"/>
              <a:t>.</a:t>
            </a:r>
          </a:p>
          <a:p>
            <a:r>
              <a:rPr lang="vi-VN" dirty="0"/>
              <a:t>Data governance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tiếng nói chung,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thống nhất mục tiêu,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tình trạng “IT làm – business không dùng”.</a:t>
            </a:r>
          </a:p>
          <a:p>
            <a:r>
              <a:rPr lang="en-US" dirty="0"/>
              <a:t>=&gt; </a:t>
            </a:r>
            <a:r>
              <a:rPr lang="vi-VN" dirty="0"/>
              <a:t>BI là </a:t>
            </a:r>
            <a:r>
              <a:rPr lang="vi-VN" b="1" dirty="0"/>
              <a:t>dự án của doanh nghiệp</a:t>
            </a:r>
            <a:r>
              <a:rPr lang="vi-VN" dirty="0"/>
              <a:t>, không phải của riêng IT.</a:t>
            </a:r>
          </a:p>
          <a:p>
            <a:r>
              <a:rPr lang="vi-VN" b="1" dirty="0"/>
              <a:t>3. Process &amp; People – Con người và quy trình</a:t>
            </a:r>
          </a:p>
          <a:p>
            <a:r>
              <a:rPr lang="vi-VN" dirty="0"/>
              <a:t>Dữ liệu không tự quản lý được.</a:t>
            </a:r>
            <a:br>
              <a:rPr lang="vi-VN" dirty="0"/>
            </a:br>
            <a:r>
              <a:rPr lang="vi-VN" dirty="0"/>
              <a:t>Doanh nghiệp cần: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chuẩn cho tích hợp và quản lý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rõ vai trò (data owner, data steward),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đào tạo con người đủ kỹ năng sử dụng và bảo vệ dữ liệu.</a:t>
            </a:r>
          </a:p>
          <a:p>
            <a:r>
              <a:rPr lang="en-US" dirty="0"/>
              <a:t>=&gt; </a:t>
            </a:r>
            <a:r>
              <a:rPr lang="vi-VN" b="1" dirty="0"/>
              <a:t>Không có con người phù hợp, dữ liệu chất lượng cao cũng sẽ xuống cấp rất nhanh.</a:t>
            </a:r>
            <a:endParaRPr lang="vi-VN" dirty="0"/>
          </a:p>
          <a:p>
            <a:r>
              <a:rPr lang="vi-VN" b="1" dirty="0"/>
              <a:t>4. Vai trò của đạo đức và trách nhiệm dữ liệu</a:t>
            </a:r>
          </a:p>
          <a:p>
            <a:r>
              <a:rPr lang="vi-VN" dirty="0"/>
              <a:t>Hình ảnh </a:t>
            </a:r>
            <a:r>
              <a:rPr lang="vi-VN" i="1" dirty="0"/>
              <a:t>Business Ethics</a:t>
            </a:r>
            <a:r>
              <a:rPr lang="vi-VN" dirty="0"/>
              <a:t>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quyền riêng tư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mật thông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tuân thủ pháp lý.</a:t>
            </a:r>
          </a:p>
          <a:p>
            <a:r>
              <a:rPr lang="en-US" dirty="0"/>
              <a:t>=&gt; </a:t>
            </a:r>
            <a:r>
              <a:rPr lang="vi-VN" dirty="0"/>
              <a:t>Data governance không chỉ là hiệu quả, mà còn là </a:t>
            </a:r>
            <a:r>
              <a:rPr lang="vi-VN" b="1" dirty="0"/>
              <a:t>trách nhiệm và đạo đức nghề nghiệp</a:t>
            </a:r>
            <a:r>
              <a:rPr lang="vi-VN" dirty="0"/>
              <a:t>.</a:t>
            </a:r>
          </a:p>
          <a:p>
            <a:r>
              <a:rPr lang="vi-VN" b="1" dirty="0"/>
              <a:t>5. Thông điệp then chốt của slide</a:t>
            </a:r>
          </a:p>
          <a:p>
            <a:r>
              <a:rPr lang="vi-VN" dirty="0"/>
              <a:t>Dòng kết luận cuối slide khẳng định:</a:t>
            </a:r>
          </a:p>
          <a:p>
            <a:r>
              <a:rPr lang="vi-VN" b="1" dirty="0"/>
              <a:t>Technology alone is not enough; People, Process, and Governance are the true drivers of BI success.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tốt không cứu được dữ liệu kém,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đẹp không cứu được tổ chức thiếu kỷ luật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chỉ thành công khi được </a:t>
            </a:r>
            <a:r>
              <a:rPr lang="vi-VN" b="1" dirty="0"/>
              <a:t>quản trị đúng cách</a:t>
            </a:r>
            <a:r>
              <a:rPr lang="vi-VN" dirty="0"/>
              <a:t>.</a:t>
            </a:r>
          </a:p>
          <a:p>
            <a:r>
              <a:rPr lang="vi-VN" b="1" dirty="0"/>
              <a:t>6. Liên hệ với các nội dung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Five Cs of High-Quality Data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Business Impact of the Five Cs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Data governance là </a:t>
            </a:r>
            <a:r>
              <a:rPr lang="vi-VN" b="1" dirty="0"/>
              <a:t>cơ chế duy trì Five Cs lâu dài</a:t>
            </a:r>
            <a:r>
              <a:rPr lang="vi-VN" dirty="0"/>
              <a:t>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bài toán tổ chức, không chỉ là bài toán kỹ thuật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governance quyết định dữ liệu có được tin và dùng hay không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làm BI phải hiểu cả </a:t>
            </a:r>
            <a:r>
              <a:rPr lang="vi-VN" b="1" dirty="0"/>
              <a:t>công nghệ lẫn trách nhiệm nghề nghiệp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Building Blocks: Data Integration (DI), Data Warehousing (DW), and Business Intelligence (BI)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trình bày </a:t>
            </a:r>
            <a:r>
              <a:rPr lang="vi-VN" b="1" dirty="0"/>
              <a:t>ba khối xây dựng cốt lõi</a:t>
            </a:r>
            <a:r>
              <a:rPr lang="vi-VN" dirty="0"/>
              <a:t> của mọi hệ thống BI hiện đại và nhấn mạnh rằng: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phải là một công cụ đơn lẻ, mà là một kiến trúc nhiều lớp, trong đó mỗi lớp có vai trò riêng và không thể thiếu.</a:t>
            </a:r>
            <a:endParaRPr lang="vi-VN" dirty="0"/>
          </a:p>
          <a:p>
            <a:r>
              <a:rPr lang="vi-VN" b="1" dirty="0"/>
              <a:t>1. Data Integration – Foundation Layer (Lớp nền tảng)</a:t>
            </a:r>
          </a:p>
          <a:p>
            <a:r>
              <a:rPr lang="vi-VN" dirty="0"/>
              <a:t>Đây là </a:t>
            </a:r>
            <a:r>
              <a:rPr lang="vi-VN" b="1" dirty="0"/>
              <a:t>lớp thấp nhất</a:t>
            </a:r>
            <a:r>
              <a:rPr lang="vi-VN" dirty="0"/>
              <a:t>, nhưng cũng là </a:t>
            </a:r>
            <a:r>
              <a:rPr lang="vi-VN" b="1" dirty="0"/>
              <a:t>lớp quan trọng nhất</a:t>
            </a:r>
            <a:r>
              <a:rPr lang="vi-VN" dirty="0"/>
              <a:t>.</a:t>
            </a:r>
          </a:p>
          <a:p>
            <a:r>
              <a:rPr lang="vi-VN" b="1" dirty="0"/>
              <a:t>Vai trò chính: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trích xuất dữ liệu từ nhiều hệ thống khác nhau,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 dữ liệu (xử lý lỗi, thiếu, trùng lặp),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đổi dữ liệu theo quy tắc nghiệp vụ,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dữ liệu về một định dạng thống nhất.</a:t>
            </a:r>
          </a:p>
          <a:p>
            <a:r>
              <a:rPr lang="en-US" dirty="0"/>
              <a:t>=&gt; </a:t>
            </a:r>
            <a:r>
              <a:rPr lang="vi-VN" dirty="0"/>
              <a:t>Nếu lớp này làm không tốt: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phía trên sẽ không 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và phân tích sẽ không đáng tin.</a:t>
            </a:r>
          </a:p>
          <a:p>
            <a:r>
              <a:rPr lang="vi-VN" b="1" dirty="0"/>
              <a:t>Thông điệp giảng viên:</a:t>
            </a:r>
            <a:br>
              <a:rPr lang="vi-VN" dirty="0"/>
            </a:br>
            <a:r>
              <a:rPr lang="vi-VN" i="1" dirty="0"/>
              <a:t>ETL/ELT là nền móng – nền móng yếu thì cả hệ thống sụp đổ.</a:t>
            </a:r>
            <a:endParaRPr lang="vi-VN" dirty="0"/>
          </a:p>
          <a:p>
            <a:r>
              <a:rPr lang="vi-VN" b="1" dirty="0"/>
              <a:t>2. Data Warehousing – Storage Layer (Lớp lưu trữ)</a:t>
            </a:r>
          </a:p>
          <a:p>
            <a:r>
              <a:rPr lang="vi-VN" dirty="0"/>
              <a:t>Lớp thứ hai là </a:t>
            </a:r>
            <a:r>
              <a:rPr lang="vi-VN" b="1" dirty="0"/>
              <a:t>Data Warehouse</a:t>
            </a:r>
            <a:r>
              <a:rPr lang="vi-VN" dirty="0"/>
              <a:t>, đóng vai trò </a:t>
            </a:r>
            <a:r>
              <a:rPr lang="vi-VN" b="1" dirty="0"/>
              <a:t>trung tâm dữ liệu phân tích</a:t>
            </a:r>
            <a:r>
              <a:rPr lang="vi-VN" dirty="0"/>
              <a:t> của doanh nghiệp.</a:t>
            </a:r>
          </a:p>
          <a:p>
            <a:r>
              <a:rPr lang="vi-VN" b="1" dirty="0"/>
              <a:t>Vai trò chính: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lưu trữ dữ liệu đã được tích hợp và làm sạch,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lưu trữ dữ liệu lịch sử theo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dữ liệu theo mô hình tối ưu cho truy vấn phân tích.</a:t>
            </a:r>
          </a:p>
          <a:p>
            <a:r>
              <a:rPr lang="en-US" dirty="0"/>
              <a:t>=&gt; </a:t>
            </a:r>
            <a:r>
              <a:rPr lang="vi-VN" dirty="0"/>
              <a:t>Data warehouse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xu hướng dài hạn,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 hiệu suất theo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tính nhất quán giữa các phòng ban.</a:t>
            </a:r>
          </a:p>
          <a:p>
            <a:r>
              <a:rPr lang="vi-VN" b="1" dirty="0"/>
              <a:t>Thông điệp giảng viên:</a:t>
            </a:r>
            <a:br>
              <a:rPr lang="vi-VN" dirty="0"/>
            </a:br>
            <a:r>
              <a:rPr lang="vi-VN" i="1" dirty="0"/>
              <a:t>Không có data warehouse, BI chỉ là các báo cáo rời rạc.</a:t>
            </a:r>
            <a:endParaRPr lang="vi-VN" dirty="0"/>
          </a:p>
          <a:p>
            <a:r>
              <a:rPr lang="vi-VN" b="1" dirty="0"/>
              <a:t>3. Business Intelligence – Presentation Layer (Lớp trình bày)</a:t>
            </a:r>
          </a:p>
          <a:p>
            <a:r>
              <a:rPr lang="vi-VN" dirty="0"/>
              <a:t>Đây là </a:t>
            </a:r>
            <a:r>
              <a:rPr lang="vi-VN" b="1" dirty="0"/>
              <a:t>lớp người dùng nhìn thấy trực tiếp</a:t>
            </a:r>
            <a:r>
              <a:rPr lang="vi-VN" dirty="0"/>
              <a:t>.</a:t>
            </a:r>
          </a:p>
          <a:p>
            <a:r>
              <a:rPr lang="vi-VN" b="1" dirty="0"/>
              <a:t>Vai trò chính: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 dashboard,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quản trị,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trực quan hóa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ra quyết định.</a:t>
            </a:r>
          </a:p>
          <a:p>
            <a:r>
              <a:rPr lang="en-US" dirty="0"/>
              <a:t>=&gt; </a:t>
            </a:r>
            <a:r>
              <a:rPr lang="vi-VN" dirty="0"/>
              <a:t>BI không tạo ra dữ liệu mới, mà: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diễn giải dữ liệu đã được chuẩn bị ở các lớp dưới,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dữ liệu thành insight dễ hiểu cho nhà quản lý.</a:t>
            </a:r>
          </a:p>
          <a:p>
            <a:r>
              <a:rPr lang="vi-VN" b="1" dirty="0"/>
              <a:t>Thông điệp giảng viên:</a:t>
            </a:r>
            <a:br>
              <a:rPr lang="vi-VN" dirty="0"/>
            </a:br>
            <a:r>
              <a:rPr lang="vi-VN" i="1" dirty="0"/>
              <a:t>Dashboard đẹp không thể cứu được dữ liệu kém.</a:t>
            </a:r>
            <a:endParaRPr lang="vi-VN" dirty="0"/>
          </a:p>
          <a:p>
            <a:r>
              <a:rPr lang="vi-VN" b="1" dirty="0"/>
              <a:t>4. Ý nghĩa của các mũi tên đi lên</a:t>
            </a:r>
          </a:p>
          <a:p>
            <a:r>
              <a:rPr lang="vi-VN" dirty="0"/>
              <a:t>Các mũi tên thể hiện: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dòng chảy giá trị </a:t>
            </a:r>
            <a:r>
              <a:rPr lang="vi-VN" b="1" dirty="0"/>
              <a:t>từ dưới lên trên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→ thông tin → insight.</a:t>
            </a:r>
          </a:p>
          <a:p>
            <a:r>
              <a:rPr lang="en-US" dirty="0"/>
              <a:t>=&gt; </a:t>
            </a:r>
            <a:r>
              <a:rPr lang="vi-VN" dirty="0"/>
              <a:t>Mỗi lớp </a:t>
            </a:r>
            <a:r>
              <a:rPr lang="vi-VN" b="1" dirty="0"/>
              <a:t>phụ thuộc trực tiếp</a:t>
            </a:r>
            <a:r>
              <a:rPr lang="vi-VN" dirty="0"/>
              <a:t> vào chất lượng của lớp bên dưới.</a:t>
            </a:r>
          </a:p>
          <a:p>
            <a:r>
              <a:rPr lang="vi-VN" b="1" dirty="0"/>
              <a:t>5. Liên hệ với các nội dung đã học</a:t>
            </a:r>
          </a:p>
          <a:p>
            <a:r>
              <a:rPr lang="vi-VN" dirty="0"/>
              <a:t>Slide này tổng hợp và kết nối: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Data → Information → Knowledge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Why Data Warehousing Remains Essential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Five Cs of High-Quality Data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DI giúp đạt </a:t>
            </a:r>
            <a:r>
              <a:rPr lang="vi-VN" b="1" dirty="0"/>
              <a:t>Clean &amp; Current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DW giúp đạt </a:t>
            </a:r>
            <a:r>
              <a:rPr lang="vi-VN" b="1" dirty="0"/>
              <a:t>Consistent &amp; Conformed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BI giúp khai thác </a:t>
            </a:r>
            <a:r>
              <a:rPr lang="vi-VN" b="1" dirty="0"/>
              <a:t>Knowledge &amp; Action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một </a:t>
            </a:r>
            <a:r>
              <a:rPr lang="vi-VN" b="1" dirty="0"/>
              <a:t>kiến trúc nhiều lớp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“nhảy cóc” qua Data Integration hay Data Warehousing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BI chỉ phát huy khi nền tảng dữ liệu vững chắc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công của BI phụ thuộc vào </a:t>
            </a:r>
            <a:r>
              <a:rPr lang="vi-VN" b="1" dirty="0"/>
              <a:t>toàn bộ chuỗi</a:t>
            </a:r>
            <a:r>
              <a:rPr lang="vi-VN" dirty="0"/>
              <a:t>, không phải một phần riêng lẻ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Key BI Terminology and Concepts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đóng vai trò như </a:t>
            </a:r>
            <a:r>
              <a:rPr lang="vi-VN" b="1" dirty="0"/>
              <a:t>bản đồ khái niệm</a:t>
            </a:r>
            <a:r>
              <a:rPr lang="vi-VN" dirty="0"/>
              <a:t> của môn học Business Intelligence.</a:t>
            </a:r>
            <a:br>
              <a:rPr lang="vi-VN" dirty="0"/>
            </a:br>
            <a:r>
              <a:rPr lang="en-US" dirty="0"/>
              <a:t>=&gt; </a:t>
            </a:r>
            <a:r>
              <a:rPr lang="vi-VN" dirty="0"/>
              <a:t>Mục tiêu không phải để học chi tiết ngay, mà để sinh viên </a:t>
            </a:r>
            <a:r>
              <a:rPr lang="vi-VN" b="1" dirty="0"/>
              <a:t>biết mình sẽ học gì, và các khái niệm liên kết với nhau như thế nào</a:t>
            </a:r>
            <a:r>
              <a:rPr lang="vi-VN" dirty="0"/>
              <a:t>.</a:t>
            </a:r>
          </a:p>
          <a:p>
            <a:r>
              <a:rPr lang="vi-VN" b="1" dirty="0"/>
              <a:t>1. Analytics Spectrum – Phổ phân tích dữ liệu</a:t>
            </a:r>
          </a:p>
          <a:p>
            <a:r>
              <a:rPr lang="vi-VN" dirty="0"/>
              <a:t>Phần </a:t>
            </a:r>
            <a:r>
              <a:rPr lang="vi-VN" b="1" dirty="0"/>
              <a:t>Analytics Spectrum</a:t>
            </a:r>
            <a:r>
              <a:rPr lang="vi-VN" dirty="0"/>
              <a:t> mô tả sự phát triển của năng lực phân tích:</a:t>
            </a:r>
          </a:p>
          <a:p>
            <a:r>
              <a:rPr lang="vi-VN" b="1" dirty="0"/>
              <a:t>Descriptive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Trả lời câu hỏi: </a:t>
            </a:r>
            <a:r>
              <a:rPr lang="vi-VN" i="1" dirty="0"/>
              <a:t>Điều gì đã xảy ra?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Ví dụ: báo cáo doanh thu tháng trước, số lượng đơn hàng theo ngày.</a:t>
            </a:r>
          </a:p>
          <a:p>
            <a:r>
              <a:rPr lang="vi-VN" b="1" dirty="0"/>
              <a:t>Predictive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Trả lời câu hỏi: </a:t>
            </a:r>
            <a:r>
              <a:rPr lang="vi-VN" i="1" dirty="0"/>
              <a:t>Điều gì có thể xảy ra?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Ví dụ: dự đoán nhu cầu khách hàng, dự báo doanh thu.</a:t>
            </a:r>
          </a:p>
          <a:p>
            <a:r>
              <a:rPr lang="vi-VN" b="1" dirty="0"/>
              <a:t>Prescriptive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Trả lời câu hỏi: </a:t>
            </a:r>
            <a:r>
              <a:rPr lang="vi-VN" i="1" dirty="0"/>
              <a:t>Chúng ta nên làm gì?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Ví dụ: đề xuất giá bán, chiến lược phân bổ nguồn lực.</a:t>
            </a:r>
          </a:p>
          <a:p>
            <a:r>
              <a:rPr lang="en-US" dirty="0"/>
              <a:t>=&gt; </a:t>
            </a:r>
            <a:r>
              <a:rPr lang="vi-VN" dirty="0"/>
              <a:t>BI truyền thống tập trung mạnh vào </a:t>
            </a:r>
            <a:r>
              <a:rPr lang="vi-VN" b="1" dirty="0"/>
              <a:t>descriptive</a:t>
            </a:r>
            <a:r>
              <a:rPr lang="vi-VN" dirty="0"/>
              <a:t>, và là nền tảng để tiến lên predictive và prescriptive.</a:t>
            </a:r>
          </a:p>
          <a:p>
            <a:r>
              <a:rPr lang="vi-VN" b="1" dirty="0"/>
              <a:t>2. Delivery Mechanisms – Cơ chế truyền tải insight</a:t>
            </a:r>
          </a:p>
          <a:p>
            <a:r>
              <a:rPr lang="vi-VN" dirty="0"/>
              <a:t>Đây là cách </a:t>
            </a:r>
            <a:r>
              <a:rPr lang="vi-VN" b="1" dirty="0"/>
              <a:t>kết quả phân tích đến tay người ra quyết định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Dashboards</a:t>
            </a:r>
            <a:r>
              <a:rPr lang="vi-VN" dirty="0"/>
              <a:t>: theo dõi KPI, tình hình hiện tại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Reports</a:t>
            </a:r>
            <a:r>
              <a:rPr lang="vi-VN" dirty="0"/>
              <a:t>: báo cáo định kỳ, phân tích chi tiết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Visualizations</a:t>
            </a:r>
            <a:r>
              <a:rPr lang="vi-VN" dirty="0"/>
              <a:t>: biểu đồ, đồ họa giúp hiểu nhanh dữ liệu</a:t>
            </a:r>
          </a:p>
          <a:p>
            <a:r>
              <a:rPr lang="en-US" dirty="0"/>
              <a:t>=&gt; </a:t>
            </a:r>
            <a:r>
              <a:rPr lang="vi-VN" dirty="0"/>
              <a:t>Insight không được trình bày tốt thì </a:t>
            </a:r>
            <a:r>
              <a:rPr lang="vi-VN" b="1" dirty="0"/>
              <a:t>coi như không tồn tại</a:t>
            </a:r>
            <a:r>
              <a:rPr lang="vi-VN" dirty="0"/>
              <a:t>.</a:t>
            </a:r>
          </a:p>
          <a:p>
            <a:r>
              <a:rPr lang="vi-VN" b="1" dirty="0"/>
              <a:t>3. Technical Enablers – Nền tảng kỹ thuật</a:t>
            </a:r>
          </a:p>
          <a:p>
            <a:r>
              <a:rPr lang="vi-VN" dirty="0"/>
              <a:t>Các khái niệm kỹ thuật hỗ trợ BI 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ETL</a:t>
            </a:r>
            <a:r>
              <a:rPr lang="vi-VN" dirty="0"/>
              <a:t>: trích xuất, làm sạch, biến đổi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OLAP</a:t>
            </a:r>
            <a:r>
              <a:rPr lang="vi-VN" dirty="0"/>
              <a:t>: phân tích đa chiều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Data Warehouse</a:t>
            </a:r>
            <a:r>
              <a:rPr lang="vi-VN" dirty="0"/>
              <a:t>: kho dữ liệu phân tích tập trung</a:t>
            </a:r>
          </a:p>
          <a:p>
            <a:r>
              <a:rPr lang="en-US" dirty="0"/>
              <a:t>=&gt; </a:t>
            </a:r>
            <a:r>
              <a:rPr lang="vi-VN" dirty="0"/>
              <a:t>Đây là phần “hạ tầng phía sau” mà người dùng cuối thường không thấy, nhưng </a:t>
            </a:r>
            <a:r>
              <a:rPr lang="vi-VN" b="1" dirty="0"/>
              <a:t>quyết định độ tin cậy của BI</a:t>
            </a:r>
            <a:r>
              <a:rPr lang="vi-VN" dirty="0"/>
              <a:t>.</a:t>
            </a:r>
          </a:p>
          <a:p>
            <a:r>
              <a:rPr lang="vi-VN" b="1" dirty="0"/>
              <a:t>4. Strategic Enablers – Yếu tố chiến lược</a:t>
            </a:r>
          </a:p>
          <a:p>
            <a:r>
              <a:rPr lang="vi-VN" dirty="0"/>
              <a:t>Không có chiến lược và quản trị, BI sẽ thất bại dù công nghệ tốt đến đâu.</a:t>
            </a:r>
          </a:p>
          <a:p>
            <a:r>
              <a:rPr lang="vi-VN" dirty="0"/>
              <a:t>Các yếu tố then chốt: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Governance</a:t>
            </a:r>
            <a:r>
              <a:rPr lang="vi-VN" dirty="0"/>
              <a:t>: quản trị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Master Data</a:t>
            </a:r>
            <a:r>
              <a:rPr lang="vi-VN" dirty="0"/>
              <a:t>: dữ liệu lõi dùng chung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Data Quality</a:t>
            </a:r>
            <a:r>
              <a:rPr lang="vi-VN" dirty="0"/>
              <a:t>: chất lượng dữ liệu</a:t>
            </a:r>
          </a:p>
          <a:p>
            <a:r>
              <a:rPr lang="en-US" dirty="0"/>
              <a:t>=&gt; </a:t>
            </a:r>
            <a:r>
              <a:rPr lang="vi-VN" dirty="0"/>
              <a:t>Đây là lý do vì sao BI là </a:t>
            </a:r>
            <a:r>
              <a:rPr lang="vi-VN" b="1" dirty="0"/>
              <a:t>bài toán tổ chức</a:t>
            </a:r>
            <a:r>
              <a:rPr lang="vi-VN" dirty="0"/>
              <a:t>, không chỉ là bài toán IT.</a:t>
            </a:r>
          </a:p>
          <a:p>
            <a:r>
              <a:rPr lang="vi-VN" b="1" dirty="0"/>
              <a:t>5. Mối liên hệ giữa các nhóm khái niệm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Analytics cần </a:t>
            </a:r>
            <a:r>
              <a:rPr lang="vi-VN" b="1" dirty="0"/>
              <a:t>technical enablers</a:t>
            </a:r>
            <a:r>
              <a:rPr lang="vi-VN" dirty="0"/>
              <a:t> để hoạt động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Delivery mechanisms là cầu nối giữa analytics và business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Strategic enablers đảm bảo BI </a:t>
            </a:r>
            <a:r>
              <a:rPr lang="vi-VN" b="1" dirty="0"/>
              <a:t>được tin và được dùng lâu dài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Thiếu bất kỳ nhóm nào, hệ thống BI đều mất cân bằng.</a:t>
            </a:r>
          </a:p>
          <a:p>
            <a:r>
              <a:rPr lang="vi-VN" b="1" dirty="0"/>
              <a:t>6. 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These foundational concepts will be explored in detail throughout the upcoming chapters.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tổng quan định hướng</a:t>
            </a:r>
            <a:r>
              <a:rPr lang="vi-VN" dirty="0"/>
              <a:t>, không phải nội dung chi tiết,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chương tiếp theo sẽ đào sâu từng khái niệm một cách có hệ thống.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một hệ sinh thái khái niệm liên kết chặt chẽ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nên học rời rạc từng thuật ngữ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mối quan hệ giữa các khái niệm quan trọng hơn việc nhớ định nghĩa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Key Takeaways: The Foundation of BI Success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đóng vai trò </a:t>
            </a:r>
            <a:r>
              <a:rPr lang="vi-VN" b="1" dirty="0"/>
              <a:t>tổng kết chương</a:t>
            </a:r>
            <a:r>
              <a:rPr lang="vi-VN" dirty="0"/>
              <a:t>, giúp sinh viên nhìn lại toàn bộ bức tranh BI và trả lời câu hỏi: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Điều gì thực sự quyết định thành công của Business Intelligence?</a:t>
            </a:r>
            <a:endParaRPr lang="vi-VN" dirty="0"/>
          </a:p>
          <a:p>
            <a:r>
              <a:rPr lang="vi-VN" b="1" dirty="0"/>
              <a:t>1. Value Realization – Tạo ra giá trị</a:t>
            </a:r>
          </a:p>
          <a:p>
            <a:r>
              <a:rPr lang="vi-VN" dirty="0"/>
              <a:t>Thông điệp đầu tiên rất quan trọng: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Dữ liệu tự thân không có giá trị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chỉ xuất hiện khi dữ liệu được </a:t>
            </a:r>
            <a:r>
              <a:rPr lang="vi-VN" b="1" dirty="0"/>
              <a:t>phân tích và sử dụng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Analytics chính là </a:t>
            </a:r>
            <a:r>
              <a:rPr lang="vi-VN" b="1" dirty="0"/>
              <a:t>chất xúc tác</a:t>
            </a:r>
            <a:r>
              <a:rPr lang="vi-VN" dirty="0"/>
              <a:t> biến dữ liệu thành giá trị kinh doanh thực tế.</a:t>
            </a:r>
          </a:p>
          <a:p>
            <a:r>
              <a:rPr lang="vi-VN" b="1" dirty="0"/>
              <a:t>2. Strategic Transformation – Chuyển đổi chiến lược</a:t>
            </a:r>
          </a:p>
          <a:p>
            <a:r>
              <a:rPr lang="vi-VN" dirty="0"/>
              <a:t>BI không chỉ: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tự động hóa báo cáo,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thay Excel bằng dashboard.</a:t>
            </a:r>
          </a:p>
          <a:p>
            <a:r>
              <a:rPr lang="vi-VN" dirty="0"/>
              <a:t>BI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động cơ chuyển đổi dữ liệu vận hành thành </a:t>
            </a:r>
            <a:r>
              <a:rPr lang="vi-VN" b="1" dirty="0"/>
              <a:t>thông tin kinh doanh có thể hành động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hỗ trợ chuyển đổi cách doanh nghiệp ra quyết định.</a:t>
            </a:r>
          </a:p>
          <a:p>
            <a:r>
              <a:rPr lang="en-US" dirty="0"/>
              <a:t>=&gt; </a:t>
            </a:r>
            <a:r>
              <a:rPr lang="vi-VN" dirty="0"/>
              <a:t>BI tác động trực tiếp đến </a:t>
            </a:r>
            <a:r>
              <a:rPr lang="vi-VN" b="1" dirty="0"/>
              <a:t>chiến lược tổ chức</a:t>
            </a:r>
            <a:r>
              <a:rPr lang="vi-VN" dirty="0"/>
              <a:t>.</a:t>
            </a:r>
          </a:p>
          <a:p>
            <a:r>
              <a:rPr lang="vi-VN" b="1" dirty="0"/>
              <a:t>3. Decision Support – Hỗ trợ ra quyết định</a:t>
            </a:r>
          </a:p>
          <a:p>
            <a:r>
              <a:rPr lang="vi-VN" dirty="0"/>
              <a:t>Trong môi trường hiện đại: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ra quyết định dựa trên dữ liệu </a:t>
            </a:r>
            <a:r>
              <a:rPr lang="vi-VN" b="1" dirty="0"/>
              <a:t>không còn là tùy chọn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</a:t>
            </a:r>
            <a:r>
              <a:rPr lang="vi-VN" b="1" dirty="0"/>
              <a:t>yêu cầu bắt buộc</a:t>
            </a:r>
            <a:r>
              <a:rPr lang="vi-VN" dirty="0"/>
              <a:t>.</a:t>
            </a:r>
          </a:p>
          <a:p>
            <a:r>
              <a:rPr lang="vi-VN" dirty="0"/>
              <a:t>Advanced analytics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ra quyết định nhanh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xác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có cơ sở vững chắc hơn.</a:t>
            </a:r>
          </a:p>
          <a:p>
            <a:r>
              <a:rPr lang="en-US" dirty="0"/>
              <a:t>=&gt; </a:t>
            </a:r>
            <a:r>
              <a:rPr lang="vi-VN" dirty="0"/>
              <a:t>Doanh nghiệp không dùng analytics sẽ bị tụt lại phía sau.</a:t>
            </a:r>
          </a:p>
          <a:p>
            <a:r>
              <a:rPr lang="vi-VN" b="1" dirty="0"/>
              <a:t>4. Data Integrity – Tính toàn vẹn dữ liệu</a:t>
            </a:r>
          </a:p>
          <a:p>
            <a:r>
              <a:rPr lang="vi-VN" dirty="0"/>
              <a:t>Không có dữ liệu chất lượng: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sẽ không được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analytics sẽ không được dùng.</a:t>
            </a:r>
          </a:p>
          <a:p>
            <a:r>
              <a:rPr lang="vi-VN" dirty="0"/>
              <a:t>Clean, consistent, governed data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nền móng bắt buộc,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kiện tiên quyết cho mọi hệ thống BI thành công.</a:t>
            </a:r>
          </a:p>
          <a:p>
            <a:r>
              <a:rPr lang="en-US" dirty="0"/>
              <a:t>=&gt; </a:t>
            </a:r>
            <a:r>
              <a:rPr lang="vi-VN" b="1" dirty="0"/>
              <a:t>Niềm tin vào dữ liệu = niềm tin vào quyết định</a:t>
            </a:r>
            <a:r>
              <a:rPr lang="vi-VN" dirty="0"/>
              <a:t>.</a:t>
            </a:r>
          </a:p>
          <a:p>
            <a:r>
              <a:rPr lang="vi-VN" b="1" dirty="0"/>
              <a:t>5. No “Silver Bullets” – Không có giải pháp thần kỳ</a:t>
            </a:r>
          </a:p>
          <a:p>
            <a:r>
              <a:rPr lang="vi-VN" dirty="0"/>
              <a:t>Thông điệp cuối cùng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công cụ hay công nghệ nào tự động giải quyết mọi vấn đề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công đòi hỏi sự kết hợp đồng bộ của: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con người,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trị,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công nghệ.</a:t>
            </a:r>
          </a:p>
          <a:p>
            <a:r>
              <a:rPr lang="en-US" dirty="0"/>
              <a:t>=&gt; </a:t>
            </a:r>
            <a:r>
              <a:rPr lang="vi-VN" dirty="0"/>
              <a:t>BI là </a:t>
            </a:r>
            <a:r>
              <a:rPr lang="vi-VN" b="1" dirty="0"/>
              <a:t>hành trình dài hạn</a:t>
            </a:r>
            <a:r>
              <a:rPr lang="vi-VN" dirty="0"/>
              <a:t>, không phải dự án ngắn hạn.</a:t>
            </a:r>
          </a:p>
          <a:p>
            <a:r>
              <a:rPr lang="vi-VN" b="1" dirty="0"/>
              <a:t>6. Thông điệp tổng kết cho sinh viên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tin và được dùng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 chỉ là phương tiện, không phải đích đến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đến từ </a:t>
            </a:r>
            <a:r>
              <a:rPr lang="vi-VN" b="1" dirty="0"/>
              <a:t>phân tích + hành động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 và tổ chức quyết định thành bại của BI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737550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3D8BC1"/>
                </a:solidFill>
              </a:rPr>
              <a:t>Chapter 1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2085808"/>
            <a:ext cx="8001000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kern="0" spc="-2" dirty="0">
                <a:solidFill>
                  <a:srgbClr val="12377A"/>
                </a:solidFill>
              </a:rPr>
              <a:t>Business Intelligence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571500" y="2823037"/>
            <a:ext cx="6429375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24" dirty="0">
                <a:solidFill>
                  <a:srgbClr val="4A5568"/>
                </a:solidFill>
              </a:rPr>
              <a:t>The Business Demand for Data, Information, and Analytics</a:t>
            </a:r>
            <a:endParaRPr lang="en-US" sz="1924" dirty="0"/>
          </a:p>
        </p:txBody>
      </p:sp>
      <p:sp>
        <p:nvSpPr>
          <p:cNvPr id="6" name="Text 3"/>
          <p:cNvSpPr/>
          <p:nvPr/>
        </p:nvSpPr>
        <p:spPr>
          <a:xfrm>
            <a:off x="571500" y="4702373"/>
            <a:ext cx="1619033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58481"/>
                </a:solidFill>
              </a:rPr>
              <a:t>Business Intelligence (INT14181_CLC)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97421"/>
            <a:ext cx="3214688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14813" y="748308"/>
            <a:ext cx="4357688" cy="81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Data as a Strategic Corporate Asset</a:t>
            </a:r>
            <a:endParaRPr lang="en-US" sz="2121" dirty="0"/>
          </a:p>
        </p:txBody>
      </p:sp>
      <p:sp>
        <p:nvSpPr>
          <p:cNvPr id="5" name="Shape 1"/>
          <p:cNvSpPr/>
          <p:nvPr/>
        </p:nvSpPr>
        <p:spPr>
          <a:xfrm>
            <a:off x="4214813" y="1852017"/>
            <a:ext cx="342900" cy="342900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113" y="1966317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29163" y="1852017"/>
            <a:ext cx="163621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Modern Raw Material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729163" y="2143125"/>
            <a:ext cx="384333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Data is the fundamental building block of 21st-century business, comparable to physical infrastructure.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4214813" y="2757488"/>
            <a:ext cx="342900" cy="342900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113" y="2871788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29163" y="2757488"/>
            <a:ext cx="110440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Strategic Value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729163" y="3048595"/>
            <a:ext cx="38433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Information derived from data reduces uncertainty and enables evidence-based decision-making.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4214813" y="3720108"/>
            <a:ext cx="4357688" cy="732234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4214813" y="3720108"/>
            <a:ext cx="28575" cy="732234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5" name="Text 9"/>
          <p:cNvSpPr/>
          <p:nvPr/>
        </p:nvSpPr>
        <p:spPr>
          <a:xfrm>
            <a:off x="4214813" y="3720108"/>
            <a:ext cx="4357688" cy="77373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12377A"/>
                </a:solidFill>
              </a:rPr>
              <a:t>"Data is the new sun: it’s limitless and touches everything firms do."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5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81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Data Deluge: Managing the Information Explosion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660922"/>
            <a:ext cx="2476481" cy="150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60922"/>
            <a:ext cx="2476481" cy="28575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889522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2289572"/>
            <a:ext cx="139217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Ecosystem Sources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0100" y="2589609"/>
            <a:ext cx="2019281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Massive influx from customers, partners, and global suppliers.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33731" y="1660922"/>
            <a:ext cx="2476509" cy="150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333731" y="1660922"/>
            <a:ext cx="2476509" cy="28575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331" y="1889522"/>
            <a:ext cx="257175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62331" y="2289572"/>
            <a:ext cx="124425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Digital Platforms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62331" y="2589609"/>
            <a:ext cx="2019309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Websites, social media, and mobile application interactions.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95991" y="1660922"/>
            <a:ext cx="2476481" cy="150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095991" y="1660922"/>
            <a:ext cx="2476481" cy="28575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591" y="1889522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24591" y="2289572"/>
            <a:ext cx="131125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IoT &amp; Compliance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24591" y="2589609"/>
            <a:ext cx="2019281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Sensor networks and regulatory tracking systems.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71500" y="3566852"/>
            <a:ext cx="8001000" cy="1291233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20" name="Text 14"/>
          <p:cNvSpPr/>
          <p:nvPr/>
        </p:nvSpPr>
        <p:spPr>
          <a:xfrm>
            <a:off x="857250" y="3852602"/>
            <a:ext cx="1699311" cy="230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Collection Paradox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57250" y="4183000"/>
            <a:ext cx="3211088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</a:rPr>
              <a:t>Collecting data has become effortless and automated.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354088" y="3979404"/>
            <a:ext cx="43585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D8BC1"/>
                </a:solidFill>
              </a:rPr>
              <a:t>VS</a:t>
            </a:r>
            <a:endParaRPr lang="en-US" sz="2436" dirty="0"/>
          </a:p>
        </p:txBody>
      </p:sp>
      <p:sp>
        <p:nvSpPr>
          <p:cNvPr id="23" name="Text 17"/>
          <p:cNvSpPr/>
          <p:nvPr/>
        </p:nvSpPr>
        <p:spPr>
          <a:xfrm>
            <a:off x="6701793" y="3852602"/>
            <a:ext cx="1584985" cy="230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Insight Challenge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075690" y="4183000"/>
            <a:ext cx="3211088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</a:rPr>
              <a:t>Extracting meaningful insight remains a significant hurdle.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1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81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Three Vs of Big Data: Volume, Velocity, and Variety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732359"/>
            <a:ext cx="2552691" cy="2687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32359"/>
            <a:ext cx="2552691" cy="42863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6" name="Shape 3"/>
          <p:cNvSpPr/>
          <p:nvPr/>
        </p:nvSpPr>
        <p:spPr>
          <a:xfrm>
            <a:off x="1562081" y="1946672"/>
            <a:ext cx="571500" cy="571500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317" y="2103834"/>
            <a:ext cx="225028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1347" y="2632472"/>
            <a:ext cx="8929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2377A"/>
                </a:solidFill>
              </a:rPr>
              <a:t>Volume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742950" y="3020020"/>
            <a:ext cx="2209791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The sheer scale of data being generated every second.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2950" y="3551504"/>
            <a:ext cx="2203488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90% of global data created recently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2950" y="3755101"/>
            <a:ext cx="190282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Transaction logs &amp; sensor data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42950" y="3958698"/>
            <a:ext cx="1629805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Social media &amp; web traffic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5641" y="1732359"/>
            <a:ext cx="2552691" cy="2687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3295641" y="1732359"/>
            <a:ext cx="2552691" cy="42863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6222" y="1946672"/>
            <a:ext cx="571500" cy="571500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531" y="2103834"/>
            <a:ext cx="192881" cy="2571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65324" y="2632472"/>
            <a:ext cx="10132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2377A"/>
                </a:solidFill>
              </a:rPr>
              <a:t>Velocity</a:t>
            </a:r>
            <a:endParaRPr lang="en-US" sz="1397" dirty="0"/>
          </a:p>
        </p:txBody>
      </p:sp>
      <p:sp>
        <p:nvSpPr>
          <p:cNvPr id="18" name="Text 13"/>
          <p:cNvSpPr/>
          <p:nvPr/>
        </p:nvSpPr>
        <p:spPr>
          <a:xfrm>
            <a:off x="3467091" y="3020020"/>
            <a:ext cx="2209791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The speed at which data is generated and processed.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467091" y="3551504"/>
            <a:ext cx="2085571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Real-time &amp; near-real-time needs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67091" y="3755101"/>
            <a:ext cx="185396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Fraud detection &amp; monitoring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467091" y="3958698"/>
            <a:ext cx="167032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Instant streaming analytics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19781" y="1732359"/>
            <a:ext cx="2552691" cy="2687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019781" y="1732359"/>
            <a:ext cx="2552691" cy="42863"/>
          </a:xfrm>
          <a:prstGeom prst="rect">
            <a:avLst/>
          </a:prstGeom>
          <a:solidFill>
            <a:srgbClr val="6BAFD3"/>
          </a:solidFill>
          <a:ln/>
        </p:spPr>
      </p:sp>
      <p:sp>
        <p:nvSpPr>
          <p:cNvPr id="24" name="Shape 19"/>
          <p:cNvSpPr/>
          <p:nvPr/>
        </p:nvSpPr>
        <p:spPr>
          <a:xfrm>
            <a:off x="7010363" y="1946672"/>
            <a:ext cx="571500" cy="571500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525" y="2103834"/>
            <a:ext cx="257175" cy="2571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9870" y="2632472"/>
            <a:ext cx="8725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2377A"/>
                </a:solidFill>
              </a:rPr>
              <a:t>Variety</a:t>
            </a:r>
            <a:endParaRPr lang="en-US" sz="1397" dirty="0"/>
          </a:p>
        </p:txBody>
      </p:sp>
      <p:sp>
        <p:nvSpPr>
          <p:cNvPr id="27" name="Text 21"/>
          <p:cNvSpPr/>
          <p:nvPr/>
        </p:nvSpPr>
        <p:spPr>
          <a:xfrm>
            <a:off x="6191231" y="3020020"/>
            <a:ext cx="2209791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The diverse types of data formats and sources.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191231" y="3551504"/>
            <a:ext cx="1690656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Structured (SQL databases)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91231" y="3755101"/>
            <a:ext cx="180119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Semi-structured (JSON, XML)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191231" y="3958698"/>
            <a:ext cx="2161554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Unstructured (Video, Images, Text)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71500" y="4519482"/>
            <a:ext cx="8001000" cy="403622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71500" y="4519482"/>
            <a:ext cx="8001000" cy="43749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Complexity Challenge: Success requires handling all three dimensions simultaneously.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81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Hierarchy of Insight: From Data to Knowledge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000125" y="1180505"/>
            <a:ext cx="7143750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180505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8136731" y="1180505"/>
            <a:ext cx="7144" cy="1114425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7" name="Shape 4"/>
          <p:cNvSpPr/>
          <p:nvPr/>
        </p:nvSpPr>
        <p:spPr>
          <a:xfrm>
            <a:off x="1000125" y="2287786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8" name="Shape 5"/>
          <p:cNvSpPr/>
          <p:nvPr/>
        </p:nvSpPr>
        <p:spPr>
          <a:xfrm>
            <a:off x="1000125" y="1180505"/>
            <a:ext cx="57150" cy="1114425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9" name="Shape 6"/>
          <p:cNvSpPr/>
          <p:nvPr/>
        </p:nvSpPr>
        <p:spPr>
          <a:xfrm>
            <a:off x="1000125" y="1180505"/>
            <a:ext cx="1428750" cy="1100138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46357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7640" y="1763613"/>
            <a:ext cx="10936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Knowledge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2714625" y="1394817"/>
            <a:ext cx="146193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Actionable Wisdom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14625" y="1680567"/>
            <a:ext cx="5143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Deep insights gained from information used to drive informed business decisions and strategic actions.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991" y="2369939"/>
            <a:ext cx="150019" cy="1714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00125" y="2423517"/>
            <a:ext cx="7143750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1000125" y="2423517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7" name="Shape 12"/>
          <p:cNvSpPr/>
          <p:nvPr/>
        </p:nvSpPr>
        <p:spPr>
          <a:xfrm>
            <a:off x="8136731" y="2423517"/>
            <a:ext cx="7144" cy="1114425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0125" y="3530798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0125" y="2423517"/>
            <a:ext cx="57150" cy="111442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125" y="2423517"/>
            <a:ext cx="1428750" cy="1100138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70658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84678" y="3006626"/>
            <a:ext cx="12596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Information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2714625" y="2637830"/>
            <a:ext cx="140679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Structured Context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714625" y="2923580"/>
            <a:ext cx="5143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Processed, structured, and cleaned data that is ready for analysis and provides meaningful context.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991" y="3598664"/>
            <a:ext cx="150019" cy="17145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000125" y="3666530"/>
            <a:ext cx="7143750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1000125" y="3666530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8" name="Shape 21"/>
          <p:cNvSpPr/>
          <p:nvPr/>
        </p:nvSpPr>
        <p:spPr>
          <a:xfrm>
            <a:off x="8136731" y="3666530"/>
            <a:ext cx="7144" cy="1114425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9" name="Shape 22"/>
          <p:cNvSpPr/>
          <p:nvPr/>
        </p:nvSpPr>
        <p:spPr>
          <a:xfrm>
            <a:off x="1000125" y="4773811"/>
            <a:ext cx="7143750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00125" y="3666530"/>
            <a:ext cx="57150" cy="1114425"/>
          </a:xfrm>
          <a:prstGeom prst="rect">
            <a:avLst/>
          </a:prstGeom>
          <a:solidFill>
            <a:srgbClr val="6BAFD3"/>
          </a:solidFill>
          <a:ln/>
        </p:spPr>
      </p:sp>
      <p:sp>
        <p:nvSpPr>
          <p:cNvPr id="31" name="Shape 24"/>
          <p:cNvSpPr/>
          <p:nvPr/>
        </p:nvSpPr>
        <p:spPr>
          <a:xfrm>
            <a:off x="1000125" y="3666530"/>
            <a:ext cx="1428750" cy="1100138"/>
          </a:xfrm>
          <a:prstGeom prst="rect">
            <a:avLst/>
          </a:prstGeom>
          <a:solidFill>
            <a:srgbClr val="6BAFD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4488" y="3949601"/>
            <a:ext cx="200025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96839" y="4249638"/>
            <a:ext cx="43532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Data</a:t>
            </a:r>
            <a:endParaRPr lang="en-US" sz="1193" dirty="0"/>
          </a:p>
        </p:txBody>
      </p:sp>
      <p:sp>
        <p:nvSpPr>
          <p:cNvPr id="34" name="Text 26"/>
          <p:cNvSpPr/>
          <p:nvPr/>
        </p:nvSpPr>
        <p:spPr>
          <a:xfrm>
            <a:off x="2714625" y="3880842"/>
            <a:ext cx="99661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Raw Material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2714625" y="4166592"/>
            <a:ext cx="5143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Raw, unorganized, and inconsistent facts that are not yet directly usable for decision-making.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Kitchen Analogy: Understanding the BI Process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678656" y="1466255"/>
            <a:ext cx="2452678" cy="2948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78656" y="1466255"/>
            <a:ext cx="2452678" cy="42863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31" y="181629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0364" y="2389584"/>
            <a:ext cx="34926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Data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03997" y="2737842"/>
            <a:ext cx="120199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D8BC1"/>
                </a:solidFill>
              </a:rPr>
              <a:t>Raw Ingredients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92969" y="3018234"/>
            <a:ext cx="2024053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Unorganized materials sitting on a counter. Not directly usable or consumable for decision-making.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2969" y="3781137"/>
            <a:ext cx="2024053" cy="3248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Raw Operational Data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804" y="2854961"/>
            <a:ext cx="107156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45647" y="1466255"/>
            <a:ext cx="2452678" cy="2948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3345647" y="1466255"/>
            <a:ext cx="2452678" cy="4286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953" y="1816298"/>
            <a:ext cx="300038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27409" y="2389584"/>
            <a:ext cx="88915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Information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021739" y="2737842"/>
            <a:ext cx="110049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D8BC1"/>
                </a:solidFill>
              </a:rPr>
              <a:t>Prepared Meal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59959" y="3018234"/>
            <a:ext cx="202405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Ingredients cleaned, chopped, and cooked into a structured format. Ready for analysis.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559959" y="3781137"/>
            <a:ext cx="2024053" cy="3248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ETL Processed Data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2854961"/>
            <a:ext cx="107156" cy="17145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012638" y="1466255"/>
            <a:ext cx="2452678" cy="2948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6012638" y="1466255"/>
            <a:ext cx="2452678" cy="42863"/>
          </a:xfrm>
          <a:prstGeom prst="rect">
            <a:avLst/>
          </a:prstGeom>
          <a:solidFill>
            <a:srgbClr val="6BAFD3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6082" y="1816298"/>
            <a:ext cx="385763" cy="342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26684" y="2389584"/>
            <a:ext cx="82458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Knowledge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6748490" y="2737842"/>
            <a:ext cx="98097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D8BC1"/>
                </a:solidFill>
              </a:rPr>
              <a:t>Nourishment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226950" y="3018234"/>
            <a:ext cx="202405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Consuming the meal to gain strength. Insights used to make informed business decisions.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26950" y="3781137"/>
            <a:ext cx="2024053" cy="3248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BI Tool Insights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Why Analytics Matter for Financial Performance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82303"/>
            <a:ext cx="4071938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568053"/>
            <a:ext cx="3500438" cy="2643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4318397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Performance Comparison: Analytics-Driven vs. Traditional Firms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5072063" y="1646634"/>
            <a:ext cx="285750" cy="285750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788" y="1732359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0688" y="1646634"/>
            <a:ext cx="160095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Fact-Based Validation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500688" y="1903809"/>
            <a:ext cx="3071813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Moving beyond gut feeling to validate business intuition with hard evidence and historical data.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072063" y="2475309"/>
            <a:ext cx="285750" cy="285750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788" y="2561034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00688" y="2475309"/>
            <a:ext cx="147457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Pattern Recognition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500688" y="2732484"/>
            <a:ext cx="3071813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Identifying hidden trends and correlations that allow for proactive market positioning.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072063" y="3303984"/>
            <a:ext cx="285750" cy="285750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2075" y="3389709"/>
            <a:ext cx="85725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00688" y="3303984"/>
            <a:ext cx="126836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Decision Velocity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500688" y="3561159"/>
            <a:ext cx="3071813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Significantly improving the speed and quality of organizational responses to competitive threats.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354020" y="4598789"/>
            <a:ext cx="5218480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1200" dirty="0">
                <a:solidFill>
                  <a:schemeClr val="accent1"/>
                </a:solidFill>
              </a:rPr>
              <a:t>Data based on industry performance benchmarks for analytics-driven organizations.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24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Overcoming the Primary Challenges in Analytics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3893344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6" name="Shape 3"/>
          <p:cNvSpPr/>
          <p:nvPr/>
        </p:nvSpPr>
        <p:spPr>
          <a:xfrm>
            <a:off x="785813" y="13948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81" y="1487686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5875" y="1394817"/>
            <a:ext cx="161364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Information Overload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5875" y="1666280"/>
            <a:ext cx="29646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Organizations often face "too much data, not enough insight," where volume obscures value.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79156" y="1180505"/>
            <a:ext cx="3893344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1805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2" name="Shape 8"/>
          <p:cNvSpPr/>
          <p:nvPr/>
        </p:nvSpPr>
        <p:spPr>
          <a:xfrm>
            <a:off x="4893469" y="13948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338" y="1487686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3531" y="1394817"/>
            <a:ext cx="95859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The Skill Gap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93531" y="1666280"/>
            <a:ext cx="2964656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 significant shortage of data scientists and analytical talent capable of interpreting complex datasets.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71500" y="2437805"/>
            <a:ext cx="3893344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24378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8" name="Shape 13"/>
          <p:cNvSpPr/>
          <p:nvPr/>
        </p:nvSpPr>
        <p:spPr>
          <a:xfrm>
            <a:off x="785813" y="26521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97" y="2744986"/>
            <a:ext cx="150019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5875" y="2652117"/>
            <a:ext cx="142487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Data Quality Issues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285875" y="2923580"/>
            <a:ext cx="29646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Poor data quality erodes trust in BI systems and leads to flawed or delayed decision-making.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79156" y="2437805"/>
            <a:ext cx="3893344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79156" y="24378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4" name="Shape 18"/>
          <p:cNvSpPr/>
          <p:nvPr/>
        </p:nvSpPr>
        <p:spPr>
          <a:xfrm>
            <a:off x="4893469" y="26521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7769" y="2744986"/>
            <a:ext cx="128588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3531" y="2652117"/>
            <a:ext cx="1136530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The Action Gap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393531" y="2923580"/>
            <a:ext cx="2964656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critical inability to act on insights in real-time, preventing organizations from capturing immediate value.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71500" y="3937992"/>
            <a:ext cx="8001000" cy="908652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29" name="Text 22"/>
          <p:cNvSpPr/>
          <p:nvPr/>
        </p:nvSpPr>
        <p:spPr>
          <a:xfrm>
            <a:off x="857250" y="4197651"/>
            <a:ext cx="930725" cy="368306"/>
          </a:xfrm>
          <a:prstGeom prst="rect">
            <a:avLst/>
          </a:prstGeom>
          <a:noFill/>
          <a:ln/>
        </p:spPr>
        <p:txBody>
          <a:bodyPr wrap="square" lIns="0" tIns="0" rIns="340233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kern="0" spc="2" dirty="0">
                <a:solidFill>
                  <a:srgbClr val="3D8BC1"/>
                </a:solidFill>
              </a:rPr>
              <a:t>Key Issue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2073725" y="4152305"/>
            <a:ext cx="62130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 is not data volume, but the ability to perform effective analysis and take decisive action.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9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Strategic Role of Business Intelligence (BI)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51942"/>
            <a:ext cx="8001000" cy="1796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51942"/>
            <a:ext cx="8001000" cy="28575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013" y="1680567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6955" y="2130623"/>
            <a:ext cx="97815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Data Capture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838757" y="2436019"/>
            <a:ext cx="1394548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Raw Operational Facts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938635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94493" y="2242245"/>
            <a:ext cx="75501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3D8BC1"/>
                </a:solidFill>
              </a:rPr>
              <a:t>BI BRIDGE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381" y="1680567"/>
            <a:ext cx="257175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14089" y="2130623"/>
            <a:ext cx="118776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Business Insight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910406" y="2436019"/>
            <a:ext cx="1395126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Actionable Knowledge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71500" y="3377208"/>
            <a:ext cx="2524116" cy="1394817"/>
          </a:xfrm>
          <a:prstGeom prst="rect">
            <a:avLst/>
          </a:prstGeom>
          <a:solidFill>
            <a:srgbClr val="12377A">
              <a:alpha val="3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71500" y="3377208"/>
            <a:ext cx="28575" cy="1394817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624560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0125" y="3591520"/>
            <a:ext cx="113992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Transformation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785813" y="3871913"/>
            <a:ext cx="2095491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BI transforms raw, unorganized data into structured, actionable information ready for organizational use.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309928" y="3377208"/>
            <a:ext cx="2524116" cy="1394817"/>
          </a:xfrm>
          <a:prstGeom prst="rect">
            <a:avLst/>
          </a:prstGeom>
          <a:solidFill>
            <a:srgbClr val="12377A">
              <a:alpha val="3000"/>
            </a:srgbClr>
          </a:solidFill>
          <a:ln/>
        </p:spPr>
      </p:sp>
      <p:sp>
        <p:nvSpPr>
          <p:cNvPr id="20" name="Shape 13"/>
          <p:cNvSpPr/>
          <p:nvPr/>
        </p:nvSpPr>
        <p:spPr>
          <a:xfrm>
            <a:off x="3309928" y="3377208"/>
            <a:ext cx="28575" cy="1394817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624560"/>
            <a:ext cx="160734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70700" y="3591520"/>
            <a:ext cx="126957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Decision Support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3524241" y="3871913"/>
            <a:ext cx="2095491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Providing the essential framework for reporting, deep analysis, and long-term strategic planning.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048356" y="3377208"/>
            <a:ext cx="2524144" cy="1394817"/>
          </a:xfrm>
          <a:prstGeom prst="rect">
            <a:avLst/>
          </a:prstGeom>
          <a:solidFill>
            <a:srgbClr val="12377A">
              <a:alpha val="3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6048356" y="3377208"/>
            <a:ext cx="28575" cy="1394817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69" y="3624560"/>
            <a:ext cx="128588" cy="128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76981" y="3591520"/>
            <a:ext cx="109273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Core Strengths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6262669" y="3871913"/>
            <a:ext cx="2095519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Excels at information analysis, historical trend identification, and providing context to current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81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Data Capture vs. Information Analysis</a:t>
            </a:r>
            <a:endParaRPr lang="en-US" sz="212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4266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975" y="1251942"/>
            <a:ext cx="24790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2377A"/>
                </a:solidFill>
              </a:rPr>
              <a:t>Operational Systems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571500" y="1860947"/>
            <a:ext cx="3786188" cy="836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571500" y="1860947"/>
            <a:ext cx="28575" cy="836154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8" name="Text 4"/>
          <p:cNvSpPr/>
          <p:nvPr/>
        </p:nvSpPr>
        <p:spPr>
          <a:xfrm>
            <a:off x="714375" y="2003822"/>
            <a:ext cx="97218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Primary Goal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14375" y="2234208"/>
            <a:ext cx="3500438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Capture transactions and run the day-to-day business operations.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71500" y="2804257"/>
            <a:ext cx="3786188" cy="6761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804257"/>
            <a:ext cx="28575" cy="676145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12" name="Text 8"/>
          <p:cNvSpPr/>
          <p:nvPr/>
        </p:nvSpPr>
        <p:spPr>
          <a:xfrm>
            <a:off x="714375" y="2947132"/>
            <a:ext cx="41941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Focus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4375" y="3177518"/>
            <a:ext cx="359040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Speed, accuracy, and high-volume transaction processing.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1500" y="3587558"/>
            <a:ext cx="3786188" cy="836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571500" y="3587558"/>
            <a:ext cx="28575" cy="836154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16" name="Text 12"/>
          <p:cNvSpPr/>
          <p:nvPr/>
        </p:nvSpPr>
        <p:spPr>
          <a:xfrm>
            <a:off x="714375" y="3730433"/>
            <a:ext cx="70410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Examples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14375" y="3960819"/>
            <a:ext cx="3500438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Sales systems, banking platforms, and student enrollment systems.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274266"/>
            <a:ext cx="257175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363" y="1251942"/>
            <a:ext cx="120760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2377A"/>
                </a:solidFill>
              </a:rPr>
              <a:t>BI Systems</a:t>
            </a:r>
            <a:endParaRPr lang="en-US" sz="1397" dirty="0"/>
          </a:p>
        </p:txBody>
      </p:sp>
      <p:sp>
        <p:nvSpPr>
          <p:cNvPr id="20" name="Shape 15"/>
          <p:cNvSpPr/>
          <p:nvPr/>
        </p:nvSpPr>
        <p:spPr>
          <a:xfrm>
            <a:off x="4786313" y="1860947"/>
            <a:ext cx="3786188" cy="6761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786313" y="1860947"/>
            <a:ext cx="28575" cy="67614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2" name="Text 17"/>
          <p:cNvSpPr/>
          <p:nvPr/>
        </p:nvSpPr>
        <p:spPr>
          <a:xfrm>
            <a:off x="4929188" y="2003822"/>
            <a:ext cx="97218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Primary Goal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929188" y="2234208"/>
            <a:ext cx="389395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Analyze data to support strategic and tactical decision-making.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86313" y="2644248"/>
            <a:ext cx="3786188" cy="6761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786313" y="2644248"/>
            <a:ext cx="28575" cy="67614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6" name="Text 21"/>
          <p:cNvSpPr/>
          <p:nvPr/>
        </p:nvSpPr>
        <p:spPr>
          <a:xfrm>
            <a:off x="4929188" y="2787123"/>
            <a:ext cx="41941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Focus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929188" y="3017509"/>
            <a:ext cx="361195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Insights, trends, historical patterns, and data visualization.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786313" y="3427549"/>
            <a:ext cx="3786188" cy="6761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4786313" y="3427549"/>
            <a:ext cx="28575" cy="67614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30" name="Text 25"/>
          <p:cNvSpPr/>
          <p:nvPr/>
        </p:nvSpPr>
        <p:spPr>
          <a:xfrm>
            <a:off x="4929188" y="3570424"/>
            <a:ext cx="70410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Examples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929188" y="3800810"/>
            <a:ext cx="397012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Executive dashboards, analytical reports, and data mining tools.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71500" y="4816618"/>
            <a:ext cx="8001000" cy="571500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97" y="5025572"/>
            <a:ext cx="157163" cy="15716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76156" y="4995211"/>
            <a:ext cx="685597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 Distinction: Capturing data is a technical necessity; analyzing it is a business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Operational BI: Opportunities and Strategic Risks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37630"/>
            <a:ext cx="8001000" cy="480417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37630"/>
            <a:ext cx="42863" cy="480417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037630"/>
            <a:ext cx="8001000" cy="52546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Operational BI: Real-time or near-real-time reporting directly on operational systems.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11846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8681" y="1875234"/>
            <a:ext cx="217524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2F855A"/>
                </a:solidFill>
              </a:rPr>
              <a:t>Strategic Benefits</a:t>
            </a:r>
            <a:endParaRPr lang="en-US" sz="13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39603"/>
            <a:ext cx="10715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2484239"/>
            <a:ext cx="173041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Immediate Data Access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21531" y="2721769"/>
            <a:ext cx="35361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Provides instant visibility into current transactions and operational status without waiting for batch loads.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98627"/>
            <a:ext cx="160734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5109" y="3243263"/>
            <a:ext cx="127227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Faster Responses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75109" y="3480792"/>
            <a:ext cx="348257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Enables front-line managers to react quickly to emerging operational issues or customer needs.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911846"/>
            <a:ext cx="200025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93494" y="1875234"/>
            <a:ext cx="178217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C53030"/>
                </a:solidFill>
              </a:rPr>
              <a:t>Strategic Risks</a:t>
            </a:r>
            <a:endParaRPr lang="en-US" sz="1397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539603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72063" y="2484239"/>
            <a:ext cx="132004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System Confusion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5072063" y="2721769"/>
            <a:ext cx="35004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Risk of confusing transaction processing with deep analysis, potentially impacting operational performance.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298627"/>
            <a:ext cx="142875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72063" y="3243263"/>
            <a:ext cx="159537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Poor Data Definitions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5072063" y="3480792"/>
            <a:ext cx="35004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Bypassing integration often leads to inconsistent definitions and lack of historical context.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71500" y="4182666"/>
            <a:ext cx="8001000" cy="532209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24" name="Text 15"/>
          <p:cNvSpPr/>
          <p:nvPr/>
        </p:nvSpPr>
        <p:spPr>
          <a:xfrm>
            <a:off x="571500" y="4182666"/>
            <a:ext cx="8001000" cy="592150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CRITICAL: Operational BI is a supplement to, not a replacement for, enterprise data warehousing.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3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Why Data Warehousing Remains Essential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51942"/>
            <a:ext cx="2476481" cy="23774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51942"/>
            <a:ext cx="2476481" cy="42863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859" y="1601986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2240" y="2175272"/>
            <a:ext cx="83497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523530"/>
            <a:ext cx="2047856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Consolidating data from multiple disparate systems into a single, unified source of truth for the entire enterprise.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333731" y="1251942"/>
            <a:ext cx="2476509" cy="23774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333731" y="1251942"/>
            <a:ext cx="2476509" cy="4286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22" y="1601986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05571" y="2175272"/>
            <a:ext cx="133280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Historical Context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48044" y="2523530"/>
            <a:ext cx="2047884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Storing time-series data to support longitudinal analysis and track business performance over months and years.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5991" y="1251942"/>
            <a:ext cx="2476481" cy="23774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095991" y="1251942"/>
            <a:ext cx="2476481" cy="42863"/>
          </a:xfrm>
          <a:prstGeom prst="rect">
            <a:avLst/>
          </a:prstGeom>
          <a:solidFill>
            <a:srgbClr val="6BAFD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781" y="1601986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91097" y="2175272"/>
            <a:ext cx="88626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Consistency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10303" y="2523530"/>
            <a:ext cx="2047856" cy="954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Enabling conformed views and standardized definitions across all departments, ensuring everyone speaks the same data language.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71500" y="3943685"/>
            <a:ext cx="8001000" cy="868635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20" name="Text 14"/>
          <p:cNvSpPr/>
          <p:nvPr/>
        </p:nvSpPr>
        <p:spPr>
          <a:xfrm>
            <a:off x="857250" y="4290492"/>
            <a:ext cx="1447614" cy="175022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kern="0" spc="2" dirty="0">
                <a:solidFill>
                  <a:srgbClr val="3D8BC1"/>
                </a:solidFill>
              </a:rPr>
              <a:t>Key Principle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2590614" y="4157997"/>
            <a:ext cx="569613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There is no shortcut that eliminates the need for data integration. It is the mandatory foundation for reliable BI.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Five Cs of High-Quality Data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323380"/>
            <a:ext cx="1353238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3380"/>
            <a:ext cx="1353238" cy="42863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6" name="Shape 3"/>
          <p:cNvSpPr/>
          <p:nvPr/>
        </p:nvSpPr>
        <p:spPr>
          <a:xfrm>
            <a:off x="998088" y="1609130"/>
            <a:ext cx="500063" cy="500063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04" y="1759148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0997" y="2280642"/>
            <a:ext cx="41421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Clean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14375" y="2628900"/>
            <a:ext cx="1067488" cy="1166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Accurate, error-free, and validated data that serves as a reliable foundation for analysis.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067613" y="1323380"/>
            <a:ext cx="1428415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2067613" y="1323380"/>
            <a:ext cx="1428415" cy="42863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2" name="Shape 8"/>
          <p:cNvSpPr/>
          <p:nvPr/>
        </p:nvSpPr>
        <p:spPr>
          <a:xfrm>
            <a:off x="2531790" y="1609130"/>
            <a:ext cx="500063" cy="500063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310" y="1759148"/>
            <a:ext cx="175022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87642" y="2280642"/>
            <a:ext cx="78835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Consistent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210488" y="2628900"/>
            <a:ext cx="1142665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Uniform definitions and business rules applied across the entire enterprise ecosystem.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38903" y="1323380"/>
            <a:ext cx="1460032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3638903" y="1323380"/>
            <a:ext cx="1460032" cy="42863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18" name="Shape 13"/>
          <p:cNvSpPr/>
          <p:nvPr/>
        </p:nvSpPr>
        <p:spPr>
          <a:xfrm>
            <a:off x="4118874" y="1609130"/>
            <a:ext cx="500063" cy="500063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8893" y="1759148"/>
            <a:ext cx="200025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50759" y="2280642"/>
            <a:ext cx="83631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Conformed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781778" y="2628900"/>
            <a:ext cx="1174282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Shared dimensions and standardized attributes that allow for cross-functional analysis.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241810" y="1323380"/>
            <a:ext cx="1353238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241810" y="1323380"/>
            <a:ext cx="1353238" cy="42863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4" name="Shape 18"/>
          <p:cNvSpPr/>
          <p:nvPr/>
        </p:nvSpPr>
        <p:spPr>
          <a:xfrm>
            <a:off x="5668398" y="1609130"/>
            <a:ext cx="500063" cy="500063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8417" y="1759148"/>
            <a:ext cx="200025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34249" y="2280642"/>
            <a:ext cx="56836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Current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384685" y="2628900"/>
            <a:ext cx="1067488" cy="1166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Up-to-date information delivered within the required timeframe for effective decision-making.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737924" y="1323380"/>
            <a:ext cx="1834576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6737924" y="1323380"/>
            <a:ext cx="1834576" cy="42863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30" name="Shape 23"/>
          <p:cNvSpPr/>
          <p:nvPr/>
        </p:nvSpPr>
        <p:spPr>
          <a:xfrm>
            <a:off x="7405167" y="1609130"/>
            <a:ext cx="500063" cy="500063"/>
          </a:xfrm>
          <a:prstGeom prst="ellipse">
            <a:avLst/>
          </a:prstGeom>
          <a:solidFill>
            <a:srgbClr val="F2F9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5185" y="1759148"/>
            <a:ext cx="200025" cy="2000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4091" y="2280642"/>
            <a:ext cx="116224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Comprehensive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880799" y="2628900"/>
            <a:ext cx="1548826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Complete and inclusive datasets that capture all relevant aspects of the business process.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71500" y="4389834"/>
            <a:ext cx="8001000" cy="33451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718096"/>
                </a:solidFill>
              </a:rPr>
              <a:t>To support effective Business Intelligence, data must meet all five criteria simultaneously.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Business Impact of the Five Cs</a:t>
            </a:r>
            <a:endParaRPr lang="en-US" sz="212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8554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681" y="1251942"/>
            <a:ext cx="230620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C53030"/>
                </a:solidFill>
              </a:rPr>
              <a:t>Without the Five Cs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571500" y="168235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57225" y="1768078"/>
            <a:ext cx="285750" cy="28575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33" y="1846659"/>
            <a:ext cx="16073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5850" y="1768078"/>
            <a:ext cx="168411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Debating the Numbers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85850" y="2005608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Meetings focus on questioning data accuracy rather than making strategic decisions.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71500" y="254853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7"/>
          <p:cNvSpPr/>
          <p:nvPr/>
        </p:nvSpPr>
        <p:spPr>
          <a:xfrm>
            <a:off x="657225" y="2634258"/>
            <a:ext cx="285750" cy="28575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712839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5850" y="2634258"/>
            <a:ext cx="134767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Delayed Decisions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85850" y="2871788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Inconsistent data leads to hesitation, missed opportunities, and flawed execution.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1500" y="341471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657225" y="3500438"/>
            <a:ext cx="285750" cy="28575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06" y="3579019"/>
            <a:ext cx="128588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5850" y="3500438"/>
            <a:ext cx="115999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Erosion of Trust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085850" y="3737967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Users lose confidence in BI systems, leading to a return to gut-feeling management.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288554"/>
            <a:ext cx="200025" cy="2000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22056" y="1251942"/>
            <a:ext cx="185851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2F855A"/>
                </a:solidFill>
              </a:rPr>
              <a:t>With the Five Cs</a:t>
            </a:r>
            <a:endParaRPr lang="en-US" sz="1397" dirty="0"/>
          </a:p>
        </p:txBody>
      </p:sp>
      <p:sp>
        <p:nvSpPr>
          <p:cNvPr id="23" name="Shape 15"/>
          <p:cNvSpPr/>
          <p:nvPr/>
        </p:nvSpPr>
        <p:spPr>
          <a:xfrm>
            <a:off x="4714875" y="168235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6"/>
          <p:cNvSpPr/>
          <p:nvPr/>
        </p:nvSpPr>
        <p:spPr>
          <a:xfrm>
            <a:off x="4800600" y="1768078"/>
            <a:ext cx="285750" cy="285750"/>
          </a:xfrm>
          <a:prstGeom prst="rect">
            <a:avLst/>
          </a:prstGeom>
          <a:solidFill>
            <a:srgbClr val="2F855A">
              <a:alpha val="10000"/>
            </a:srgbClr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9181" y="1846659"/>
            <a:ext cx="128588" cy="1285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29225" y="1768078"/>
            <a:ext cx="140468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Confidence in Data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5229225" y="2005608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 single source of truth provides the foundation for reliable, enterprise-wide reporting.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714875" y="254853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0"/>
          <p:cNvSpPr/>
          <p:nvPr/>
        </p:nvSpPr>
        <p:spPr>
          <a:xfrm>
            <a:off x="4800600" y="2634258"/>
            <a:ext cx="285750" cy="285750"/>
          </a:xfrm>
          <a:prstGeom prst="rect">
            <a:avLst/>
          </a:prstGeom>
          <a:solidFill>
            <a:srgbClr val="2F855A">
              <a:alpha val="10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9181" y="2712839"/>
            <a:ext cx="128588" cy="128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29225" y="2634258"/>
            <a:ext cx="173233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Faster, Better Decisions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5229225" y="2871788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Accurate, current data enables rapid response to market changes and competitive threats.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4714875" y="3414713"/>
            <a:ext cx="3857625" cy="75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4"/>
          <p:cNvSpPr/>
          <p:nvPr/>
        </p:nvSpPr>
        <p:spPr>
          <a:xfrm>
            <a:off x="4800600" y="3500438"/>
            <a:ext cx="285750" cy="285750"/>
          </a:xfrm>
          <a:prstGeom prst="rect">
            <a:avLst/>
          </a:prstGeom>
          <a:solidFill>
            <a:srgbClr val="2F855A">
              <a:alpha val="10000"/>
            </a:srgbClr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3108" y="3579019"/>
            <a:ext cx="160734" cy="1285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29225" y="3500438"/>
            <a:ext cx="181184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Analytics-Driven Culture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5229225" y="3737967"/>
            <a:ext cx="32575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Data becomes the common language of the organization, driving continuous improvement.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571500" y="4691658"/>
            <a:ext cx="8001000" cy="366117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39" name="Text 28"/>
          <p:cNvSpPr/>
          <p:nvPr/>
        </p:nvSpPr>
        <p:spPr>
          <a:xfrm>
            <a:off x="571500" y="4691658"/>
            <a:ext cx="8001000" cy="38824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Reliable data accelerates the transition from insight to action.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Data Governance: Beyond the Technology</a:t>
            </a:r>
            <a:endParaRPr lang="en-US" sz="212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0505"/>
            <a:ext cx="2571750" cy="25717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357563" y="1180505"/>
            <a:ext cx="5214938" cy="842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3357563" y="1180505"/>
            <a:ext cx="42863" cy="84296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863" y="1316236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57613" y="1294805"/>
            <a:ext cx="177561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Governance Framework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471863" y="1566267"/>
            <a:ext cx="49863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Establishing clear definitions, business rules, and performance metrics that are understood across the enterprise.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3357563" y="2137767"/>
            <a:ext cx="5214938" cy="842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3357563" y="2137767"/>
            <a:ext cx="42863" cy="84296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863" y="2273498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00475" y="2252067"/>
            <a:ext cx="164782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IT-Business Alignment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3471863" y="2523530"/>
            <a:ext cx="49863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Success requires a shared vision and agreement on goals between technical teams and business stakeholders.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3357563" y="3095030"/>
            <a:ext cx="5214938" cy="842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3357563" y="3095030"/>
            <a:ext cx="42863" cy="84296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863" y="3230761"/>
            <a:ext cx="214313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00475" y="3209330"/>
            <a:ext cx="128054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Process &amp; People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3471863" y="3480792"/>
            <a:ext cx="49863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Standardizing data integration processes and empowering people with the right skills to manage data assets.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1500" y="4291608"/>
            <a:ext cx="8001000" cy="423267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21" name="Text 14"/>
          <p:cNvSpPr/>
          <p:nvPr/>
        </p:nvSpPr>
        <p:spPr>
          <a:xfrm>
            <a:off x="571500" y="4291608"/>
            <a:ext cx="8001000" cy="45672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alone is not enough; People, Process, and Governance are the true drivers of BI success.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The Building Blocks: DI, DW, and BI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357313" y="1180505"/>
            <a:ext cx="6429375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357313" y="1180505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9544" y="1180505"/>
            <a:ext cx="7144" cy="102870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7" name="Shape 4"/>
          <p:cNvSpPr/>
          <p:nvPr/>
        </p:nvSpPr>
        <p:spPr>
          <a:xfrm>
            <a:off x="1357313" y="2202061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8" name="Shape 5"/>
          <p:cNvSpPr/>
          <p:nvPr/>
        </p:nvSpPr>
        <p:spPr>
          <a:xfrm>
            <a:off x="1357313" y="1180505"/>
            <a:ext cx="71438" cy="1028700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9" name="Shape 6"/>
          <p:cNvSpPr/>
          <p:nvPr/>
        </p:nvSpPr>
        <p:spPr>
          <a:xfrm>
            <a:off x="1357313" y="1180505"/>
            <a:ext cx="1785938" cy="1014413"/>
          </a:xfrm>
          <a:prstGeom prst="rect">
            <a:avLst/>
          </a:prstGeom>
          <a:solidFill>
            <a:srgbClr val="1237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981" y="13233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0188" y="1623417"/>
            <a:ext cx="1500188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FFFF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1390352"/>
            <a:ext cx="170290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The Presentation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1642170"/>
            <a:ext cx="4071938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final stage where insights are delivered to users through dashboards, reports, and interactive visualizations to support decision-making.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2" y="2343150"/>
            <a:ext cx="107156" cy="14287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57313" y="2632472"/>
            <a:ext cx="6429375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1357313" y="2632472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9544" y="2632472"/>
            <a:ext cx="7144" cy="102870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8" name="Shape 13"/>
          <p:cNvSpPr/>
          <p:nvPr/>
        </p:nvSpPr>
        <p:spPr>
          <a:xfrm>
            <a:off x="1357313" y="3654028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357313" y="2632472"/>
            <a:ext cx="71438" cy="1028700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0" name="Shape 15"/>
          <p:cNvSpPr/>
          <p:nvPr/>
        </p:nvSpPr>
        <p:spPr>
          <a:xfrm>
            <a:off x="1357313" y="2632472"/>
            <a:ext cx="1785938" cy="1014413"/>
          </a:xfrm>
          <a:prstGeom prst="rect">
            <a:avLst/>
          </a:prstGeom>
          <a:solidFill>
            <a:srgbClr val="3D8BC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406" y="2775347"/>
            <a:ext cx="28575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0188" y="3075384"/>
            <a:ext cx="1500188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FFFFFF"/>
                </a:solidFill>
              </a:rPr>
              <a:t>Data Warehousing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429000" y="2842320"/>
            <a:ext cx="131439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The Storage Layer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429000" y="3094137"/>
            <a:ext cx="4071938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central repository that organizes and stores integrated, historical data in a structured format optimized for analytical queries.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422" y="3795117"/>
            <a:ext cx="107156" cy="14287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357313" y="4084439"/>
            <a:ext cx="6429375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1357313" y="4084439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8" name="Shape 21"/>
          <p:cNvSpPr/>
          <p:nvPr/>
        </p:nvSpPr>
        <p:spPr>
          <a:xfrm>
            <a:off x="7779544" y="4084439"/>
            <a:ext cx="7144" cy="102870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9" name="Shape 22"/>
          <p:cNvSpPr/>
          <p:nvPr/>
        </p:nvSpPr>
        <p:spPr>
          <a:xfrm>
            <a:off x="1357313" y="5105995"/>
            <a:ext cx="6429375" cy="7144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357313" y="4084439"/>
            <a:ext cx="71438" cy="1028700"/>
          </a:xfrm>
          <a:prstGeom prst="rect">
            <a:avLst/>
          </a:prstGeom>
          <a:solidFill>
            <a:srgbClr val="6BAFD3"/>
          </a:solidFill>
          <a:ln/>
        </p:spPr>
      </p:sp>
      <p:sp>
        <p:nvSpPr>
          <p:cNvPr id="31" name="Shape 24"/>
          <p:cNvSpPr/>
          <p:nvPr/>
        </p:nvSpPr>
        <p:spPr>
          <a:xfrm>
            <a:off x="1357313" y="4084439"/>
            <a:ext cx="1785938" cy="1014413"/>
          </a:xfrm>
          <a:prstGeom prst="rect">
            <a:avLst/>
          </a:prstGeom>
          <a:solidFill>
            <a:srgbClr val="6BAFD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5981" y="4227314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00188" y="4527352"/>
            <a:ext cx="1500188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FFFFFF"/>
                </a:solidFill>
              </a:rPr>
              <a:t>Data Integration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3429000" y="4294287"/>
            <a:ext cx="160191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The Foundation Layer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429000" y="4546104"/>
            <a:ext cx="407193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critical first step of extracting, cleansing, and transforming raw data from disparate sources into a consistent format.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71500" y="5384602"/>
            <a:ext cx="8001000" cy="475059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37" name="Text 29"/>
          <p:cNvSpPr/>
          <p:nvPr/>
        </p:nvSpPr>
        <p:spPr>
          <a:xfrm>
            <a:off x="571500" y="5384602"/>
            <a:ext cx="8001000" cy="4750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Relationship: Data Integration → Data Warehousing → Business Intelligence</a:t>
            </a:r>
            <a:endParaRPr lang="en-US" sz="8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03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Key BI Terminology and Concepts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180505"/>
            <a:ext cx="3893344" cy="13501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805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6" name="Shape 3"/>
          <p:cNvSpPr/>
          <p:nvPr/>
        </p:nvSpPr>
        <p:spPr>
          <a:xfrm>
            <a:off x="785813" y="13948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81" y="1487686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5875" y="1394817"/>
            <a:ext cx="143539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Analytics Spectrum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5875" y="1666280"/>
            <a:ext cx="29646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progression of analytical capabilities from understanding the past to shaping the future.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285875" y="2080617"/>
            <a:ext cx="733825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03750" y="2080617"/>
            <a:ext cx="941607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Descriptive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076850" y="2080617"/>
            <a:ext cx="671122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19700" y="2080617"/>
            <a:ext cx="840032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Predictive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805122" y="2080617"/>
            <a:ext cx="764018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7972" y="2080617"/>
            <a:ext cx="968834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Prescriptive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79156" y="1180505"/>
            <a:ext cx="3893344" cy="13501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679156" y="1180505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8" name="Shape 14"/>
          <p:cNvSpPr/>
          <p:nvPr/>
        </p:nvSpPr>
        <p:spPr>
          <a:xfrm>
            <a:off x="4893469" y="1394817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622" y="1487686"/>
            <a:ext cx="192881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3531" y="1394817"/>
            <a:ext cx="159742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Delivery Mechanisms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393531" y="1666280"/>
            <a:ext cx="2964656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interfaces and formats used to communicate insights to business decision-makers.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393531" y="2080617"/>
            <a:ext cx="767730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68503" y="2080617"/>
            <a:ext cx="992758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8411" y="2080617"/>
            <a:ext cx="566003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18411" y="2080617"/>
            <a:ext cx="767730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Reports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41564" y="2080617"/>
            <a:ext cx="857836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41564" y="2080617"/>
            <a:ext cx="1098686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Visualizations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71500" y="2702123"/>
            <a:ext cx="3893344" cy="13501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571500" y="2702123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30" name="Shape 25"/>
          <p:cNvSpPr/>
          <p:nvPr/>
        </p:nvSpPr>
        <p:spPr>
          <a:xfrm>
            <a:off x="785813" y="2916436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009305"/>
            <a:ext cx="214313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85875" y="2916436"/>
            <a:ext cx="138089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Technical Enablers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285875" y="3187898"/>
            <a:ext cx="29646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core technologies and processes that power the data transformation pipeline.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1285875" y="3602236"/>
            <a:ext cx="353560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285874" y="3602236"/>
            <a:ext cx="448773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ETL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696585" y="3602236"/>
            <a:ext cx="448773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696585" y="3602236"/>
            <a:ext cx="601134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OLAP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2202507" y="3602236"/>
            <a:ext cx="992646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202507" y="3602236"/>
            <a:ext cx="1277476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4679156" y="2702123"/>
            <a:ext cx="3893344" cy="13501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4679156" y="2702123"/>
            <a:ext cx="3893344" cy="28575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42" name="Shape 36"/>
          <p:cNvSpPr/>
          <p:nvPr/>
        </p:nvSpPr>
        <p:spPr>
          <a:xfrm>
            <a:off x="4893469" y="2916436"/>
            <a:ext cx="357188" cy="357188"/>
          </a:xfrm>
          <a:prstGeom prst="rect">
            <a:avLst/>
          </a:prstGeom>
          <a:solidFill>
            <a:srgbClr val="3D8BC1">
              <a:alpha val="10000"/>
            </a:srgbClr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38" y="3009305"/>
            <a:ext cx="171450" cy="17145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93531" y="2916436"/>
            <a:ext cx="133921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12377A"/>
                </a:solidFill>
              </a:rPr>
              <a:t>Strategic Enablers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5393531" y="3187898"/>
            <a:ext cx="296465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organizational frameworks that ensure data integrity, security, and long-term value.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5393531" y="3602236"/>
            <a:ext cx="769823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168503" y="3602236"/>
            <a:ext cx="994851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220504" y="3602236"/>
            <a:ext cx="786929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045565" y="3602236"/>
            <a:ext cx="1019017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Master Data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7064583" y="3602236"/>
            <a:ext cx="540497" cy="207169"/>
          </a:xfrm>
          <a:prstGeom prst="rect">
            <a:avLst/>
          </a:prstGeom>
          <a:solidFill>
            <a:srgbClr val="F2F9FC"/>
          </a:solidFill>
          <a:ln w="9144">
            <a:solidFill>
              <a:srgbClr val="3D8BC1">
                <a:alpha val="20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064583" y="3602236"/>
            <a:ext cx="769823" cy="19595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3D8BC1"/>
                </a:solidFill>
              </a:rPr>
              <a:t>Quality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571500" y="4295180"/>
            <a:ext cx="8001000" cy="460772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53" name="Text 46"/>
          <p:cNvSpPr/>
          <p:nvPr/>
        </p:nvSpPr>
        <p:spPr>
          <a:xfrm>
            <a:off x="571500" y="4295180"/>
            <a:ext cx="8001000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These foundational concepts will be explored in detail throughout the upcoming chapters.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63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2377A"/>
                </a:solidFill>
              </a:rPr>
              <a:t>Key Takeaways: The Foundation of BI Success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51942"/>
            <a:ext cx="8001000" cy="7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51942"/>
            <a:ext cx="57150" cy="720068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1433382"/>
            <a:ext cx="357188" cy="357188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1526251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51967"/>
            <a:ext cx="1060355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Value Realization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640551"/>
            <a:ext cx="4749634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Data alone has no inherent value; analysis is the essential catalyst for worth.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71500" y="2114885"/>
            <a:ext cx="8001000" cy="7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114885"/>
            <a:ext cx="57150" cy="720068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12" name="Shape 8"/>
          <p:cNvSpPr/>
          <p:nvPr/>
        </p:nvSpPr>
        <p:spPr>
          <a:xfrm>
            <a:off x="800100" y="2296325"/>
            <a:ext cx="357188" cy="357188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2389194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314910"/>
            <a:ext cx="152997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Strategic Transformation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371600" y="2503494"/>
            <a:ext cx="528894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BI is the engine that turns raw operational data into actionable business information.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71500" y="2977828"/>
            <a:ext cx="8001000" cy="7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2977828"/>
            <a:ext cx="57150" cy="720068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18" name="Shape 13"/>
          <p:cNvSpPr/>
          <p:nvPr/>
        </p:nvSpPr>
        <p:spPr>
          <a:xfrm>
            <a:off x="800100" y="3159268"/>
            <a:ext cx="357188" cy="357188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8" y="3252136"/>
            <a:ext cx="214313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177853"/>
            <a:ext cx="106279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Decision Support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371600" y="3366436"/>
            <a:ext cx="539788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Advanced analytics is no longer optional for modern, evidence-based decision-making.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" y="3840770"/>
            <a:ext cx="8001000" cy="7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3840770"/>
            <a:ext cx="57150" cy="720068"/>
          </a:xfrm>
          <a:prstGeom prst="rect">
            <a:avLst/>
          </a:prstGeom>
          <a:solidFill>
            <a:srgbClr val="3D8BC1"/>
          </a:solidFill>
          <a:ln/>
        </p:spPr>
      </p:sp>
      <p:sp>
        <p:nvSpPr>
          <p:cNvPr id="24" name="Shape 18"/>
          <p:cNvSpPr/>
          <p:nvPr/>
        </p:nvSpPr>
        <p:spPr>
          <a:xfrm>
            <a:off x="800100" y="4022210"/>
            <a:ext cx="357188" cy="357188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69" y="4115079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040795"/>
            <a:ext cx="84965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Data Integrity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371600" y="4229379"/>
            <a:ext cx="5687263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Clean, consistent, and governed data is the mandatory bedrock of any successful BI system.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71500" y="4703713"/>
            <a:ext cx="8001000" cy="7200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571500" y="4703713"/>
            <a:ext cx="57150" cy="720068"/>
          </a:xfrm>
          <a:prstGeom prst="rect">
            <a:avLst/>
          </a:prstGeom>
          <a:solidFill>
            <a:srgbClr val="12377A"/>
          </a:solidFill>
          <a:ln/>
        </p:spPr>
      </p:sp>
      <p:sp>
        <p:nvSpPr>
          <p:cNvPr id="30" name="Shape 23"/>
          <p:cNvSpPr/>
          <p:nvPr/>
        </p:nvSpPr>
        <p:spPr>
          <a:xfrm>
            <a:off x="800100" y="4885153"/>
            <a:ext cx="357188" cy="357188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969" y="4978022"/>
            <a:ext cx="171450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4903738"/>
            <a:ext cx="113422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No "Silver Bullets"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371600" y="5092322"/>
            <a:ext cx="609397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Success requires a holistic integration of people, processes, and governance—not just technology.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71500" y="5709531"/>
            <a:ext cx="8001000" cy="33451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 dirty="0">
                <a:solidFill>
                  <a:srgbClr val="718096"/>
                </a:solidFill>
              </a:rPr>
              <a:t>Building a solid foundation today ensures the analytical maturity of the enterprise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1364" y="1062465"/>
            <a:ext cx="14212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3D8BC1"/>
                </a:solidFill>
              </a:rPr>
              <a:t>Conclusion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2889284" y="1467873"/>
            <a:ext cx="3365404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kern="0" spc="-1" dirty="0">
                <a:solidFill>
                  <a:srgbClr val="12377A"/>
                </a:solidFill>
              </a:rPr>
              <a:t>Looking Ahead</a:t>
            </a:r>
            <a:endParaRPr lang="en-US" sz="3294" dirty="0"/>
          </a:p>
        </p:txBody>
      </p:sp>
      <p:sp>
        <p:nvSpPr>
          <p:cNvPr id="5" name="Shape 2"/>
          <p:cNvSpPr/>
          <p:nvPr/>
        </p:nvSpPr>
        <p:spPr>
          <a:xfrm>
            <a:off x="1000125" y="2256532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545" y="2401193"/>
            <a:ext cx="16073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76738" y="2377976"/>
            <a:ext cx="1179234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Data Warehousing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429000" y="2256532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812" y="2401193"/>
            <a:ext cx="14466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14147" y="2377976"/>
            <a:ext cx="946093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Data Modeling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857875" y="2256532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466" y="2401193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2143" y="2377976"/>
            <a:ext cx="87177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ETL Processes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000125" y="2810173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1714" y="2954834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03643" y="2931616"/>
            <a:ext cx="49327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BI Tools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429000" y="2810173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255" y="2954834"/>
            <a:ext cx="144661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78492" y="2931616"/>
            <a:ext cx="817403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5857875" y="2810173"/>
            <a:ext cx="2286000" cy="417909"/>
          </a:xfrm>
          <a:prstGeom prst="rect">
            <a:avLst/>
          </a:prstGeom>
          <a:solidFill>
            <a:srgbClr val="FFFFFF"/>
          </a:solidFill>
          <a:ln w="9144">
            <a:solidFill>
              <a:srgbClr val="12377A">
                <a:alpha val="1000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5495" y="2954834"/>
            <a:ext cx="128588" cy="12858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86002" y="2931616"/>
            <a:ext cx="1244059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377A"/>
                </a:solidFill>
              </a:rPr>
              <a:t>Advanced Analytics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714500" y="3649563"/>
            <a:ext cx="57150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Our ultimate goal is to </a:t>
            </a:r>
            <a:r>
              <a:rPr lang="en-US" sz="1400" b="1" dirty="0">
                <a:solidFill>
                  <a:srgbClr val="12377A"/>
                </a:solidFill>
              </a:rPr>
              <a:t>build a solid foundation for enterprise BI systems</a:t>
            </a:r>
            <a:r>
              <a:rPr lang="en-US" sz="1400" dirty="0">
                <a:solidFill>
                  <a:srgbClr val="4A5568"/>
                </a:solidFill>
              </a:rPr>
              <a:t> that drive sustainable organizational growth and innovation.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10672</Words>
  <Application>Microsoft Office PowerPoint</Application>
  <PresentationFormat>On-screen Show (16:9)</PresentationFormat>
  <Paragraphs>1231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22</cp:revision>
  <dcterms:created xsi:type="dcterms:W3CDTF">2026-01-18T08:52:03Z</dcterms:created>
  <dcterms:modified xsi:type="dcterms:W3CDTF">2026-01-19T02:31:47Z</dcterms:modified>
</cp:coreProperties>
</file>