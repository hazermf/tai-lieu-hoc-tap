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9436" autoAdjust="0"/>
  </p:normalViewPr>
  <p:slideViewPr>
    <p:cSldViewPr snapToGrid="0" snapToObjects="1">
      <p:cViewPr varScale="1">
        <p:scale>
          <a:sx n="92" d="100"/>
          <a:sy n="92" d="100"/>
        </p:scale>
        <p:origin x="9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6619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“Trước khi đi vào các nội dung kỹ thuật, chúng ta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vi-VN" dirty="0"/>
              <a:t>thống nhất với nhau một câu hỏi rất quan trọng: </a:t>
            </a:r>
            <a:r>
              <a:rPr lang="vi-VN" i="1" dirty="0"/>
              <a:t>Business Intelligence là gì và vì sao nó lại trở thành một năng lực cốt lõi trong các tổ chức hiện đại?</a:t>
            </a:r>
            <a:r>
              <a:rPr lang="vi-VN" dirty="0"/>
              <a:t> Slide này sẽ trả lời câu hỏi đó.”</a:t>
            </a:r>
          </a:p>
          <a:p>
            <a:r>
              <a:rPr lang="vi-VN" b="1" dirty="0"/>
              <a:t>Course Identity</a:t>
            </a:r>
            <a:br>
              <a:rPr lang="vi-VN" dirty="0"/>
            </a:br>
            <a:r>
              <a:rPr lang="vi-VN" dirty="0"/>
              <a:t>“Môn </a:t>
            </a:r>
            <a:r>
              <a:rPr lang="vi-VN" i="1" dirty="0"/>
              <a:t>Business Intelligence – INT14181_CLC</a:t>
            </a:r>
            <a:r>
              <a:rPr lang="vi-VN" dirty="0"/>
              <a:t> là một học phần 3 tín chỉ, được thiết kế cho sinh viên đã có nền tảng về cơ sở dữ liệu và hệ thống thông tin.</a:t>
            </a:r>
            <a:br>
              <a:rPr lang="vi-VN" dirty="0"/>
            </a:br>
            <a:r>
              <a:rPr lang="vi-VN" dirty="0"/>
              <a:t>Mục tiêu của môn học không phải là dạy một công cụ cụ thể, mà là trang bị </a:t>
            </a:r>
            <a:r>
              <a:rPr lang="en-US" dirty="0" err="1"/>
              <a:t>các</a:t>
            </a:r>
            <a:r>
              <a:rPr lang="vi-VN" dirty="0"/>
              <a:t> </a:t>
            </a:r>
            <a:r>
              <a:rPr lang="vi-VN" b="1" dirty="0"/>
              <a:t>tư duy phân tích dữ liệu và kiến trúc BI</a:t>
            </a:r>
            <a:r>
              <a:rPr lang="vi-VN" dirty="0"/>
              <a:t> – những thứ tồn tại lâu dài, ngay cả khi công cụ thay đổi.”</a:t>
            </a:r>
          </a:p>
          <a:p>
            <a:r>
              <a:rPr lang="vi-VN" b="1" dirty="0"/>
              <a:t>Core Definition</a:t>
            </a:r>
            <a:br>
              <a:rPr lang="vi-VN" dirty="0"/>
            </a:br>
            <a:r>
              <a:rPr lang="vi-VN" dirty="0"/>
              <a:t>“Về bản chất, Business Intelligence không chỉ là vẽ dashboard hay làm báo cáo.</a:t>
            </a:r>
            <a:br>
              <a:rPr lang="vi-VN" dirty="0"/>
            </a:br>
            <a:r>
              <a:rPr lang="vi-VN" dirty="0"/>
              <a:t>BI tập trung vào việc </a:t>
            </a:r>
            <a:r>
              <a:rPr lang="vi-VN" b="1" dirty="0"/>
              <a:t>chuyển đổi dữ liệu thô thành thông tin có ý nghĩa</a:t>
            </a:r>
            <a:r>
              <a:rPr lang="vi-VN" dirty="0"/>
              <a:t>, từ đó hỗ trợ ra quyết định dựa trên dữ liệu, thay vì cảm tính hay kinh nghiệm đơn thuần.</a:t>
            </a:r>
            <a:br>
              <a:rPr lang="vi-VN" dirty="0"/>
            </a:br>
            <a:r>
              <a:rPr lang="vi-VN" dirty="0"/>
              <a:t>Nói cách khác: </a:t>
            </a:r>
            <a:r>
              <a:rPr lang="vi-VN" i="1" dirty="0"/>
              <a:t>data → information → insight → decision</a:t>
            </a:r>
            <a:r>
              <a:rPr lang="vi-VN" dirty="0"/>
              <a:t>.”</a:t>
            </a:r>
          </a:p>
          <a:p>
            <a:r>
              <a:rPr lang="vi-VN" b="1" dirty="0"/>
              <a:t>Strategic Focus</a:t>
            </a:r>
            <a:br>
              <a:rPr lang="vi-VN" dirty="0"/>
            </a:br>
            <a:r>
              <a:rPr lang="vi-VN" dirty="0"/>
              <a:t>“Trong môn học này, chúng ta sẽ tiếp cận BI như một </a:t>
            </a:r>
            <a:r>
              <a:rPr lang="vi-VN" b="1" dirty="0"/>
              <a:t>hành trình tổng thể</a:t>
            </a:r>
            <a:r>
              <a:rPr lang="vi-VN" dirty="0"/>
              <a:t>, bắt đầu từ: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thu thập và tích hợp dữ liệu,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thiết kế kho dữ liệu,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đến phân tích, trực quan hóa và tạo insight cho doanh nghiệp.</a:t>
            </a:r>
          </a:p>
          <a:p>
            <a:r>
              <a:rPr lang="vi-VN" dirty="0"/>
              <a:t>Các em sẽ thấy BI không phải là một bước đơn lẻ, mà là cả một hệ sinh thái.”</a:t>
            </a:r>
          </a:p>
          <a:p>
            <a:r>
              <a:rPr lang="vi-VN" b="1" dirty="0"/>
              <a:t>Key Outcomes</a:t>
            </a:r>
            <a:br>
              <a:rPr lang="vi-VN" dirty="0"/>
            </a:br>
            <a:r>
              <a:rPr lang="vi-VN" dirty="0"/>
              <a:t>“Kết thúc môn học, kỳ vọng là các 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hiểu được </a:t>
            </a:r>
            <a:r>
              <a:rPr lang="vi-VN" b="1" dirty="0"/>
              <a:t>kiến trúc BI chuẩn trong doanh nghiệp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biết cách </a:t>
            </a:r>
            <a:r>
              <a:rPr lang="vi-VN" b="1" dirty="0"/>
              <a:t>thiết kế data warehouse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và quan trọng nhất: biết cách </a:t>
            </a:r>
            <a:r>
              <a:rPr lang="vi-VN" b="1" dirty="0"/>
              <a:t>xây dựng các mô hình phân tích phục vụ bài toán thực tế</a:t>
            </a:r>
            <a:r>
              <a:rPr lang="vi-VN" dirty="0"/>
              <a:t>.</a:t>
            </a:r>
          </a:p>
          <a:p>
            <a:r>
              <a:rPr lang="vi-VN" dirty="0"/>
              <a:t>Những kỹ năng này rất sát với nhu cầu thực tế của doanh nghiệp hiện nay.”</a:t>
            </a:r>
          </a:p>
          <a:p>
            <a:r>
              <a:rPr lang="vi-VN" b="1" dirty="0"/>
              <a:t>Chuyển tiếp sang nội dung tiếp theo</a:t>
            </a:r>
            <a:br>
              <a:rPr lang="vi-VN" dirty="0"/>
            </a:br>
            <a:r>
              <a:rPr lang="vi-VN" dirty="0"/>
              <a:t>“Sau slide tổng quan này, chúng ta sẽ đi sâu hơn vào việc </a:t>
            </a:r>
            <a:r>
              <a:rPr lang="vi-VN" b="1" dirty="0"/>
              <a:t>vì sao doanh nghiệp thực sự cần BI</a:t>
            </a:r>
            <a:r>
              <a:rPr lang="vi-VN" dirty="0"/>
              <a:t>, những vấn đề mà BI giải quyết, và vì sao chỉ ‘có dữ liệu’ là chưa đủ.”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vi-VN" dirty="0"/>
              <a:t>“Sau khi đã hiểu Business Intelligence là gì ở mức tổng quan, bây giờ chúng ta chuyển sang phần quan trọng hơn: </a:t>
            </a:r>
            <a:r>
              <a:rPr lang="vi-VN" b="1" dirty="0"/>
              <a:t>năng lực kỹ thuật</a:t>
            </a:r>
            <a:r>
              <a:rPr lang="vi-VN" dirty="0"/>
              <a:t> sẽ được trang bị trong môn học này.”</a:t>
            </a:r>
          </a:p>
          <a:p>
            <a:r>
              <a:rPr lang="vi-VN" b="1" dirty="0"/>
              <a:t>Data Engineering – ETL</a:t>
            </a:r>
          </a:p>
          <a:p>
            <a:r>
              <a:rPr lang="vi-VN" dirty="0"/>
              <a:t>“Trụ cột kỹ thuật đầu tiên là </a:t>
            </a:r>
            <a:r>
              <a:rPr lang="vi-VN" b="1" dirty="0"/>
              <a:t>ETL – Extract, Transform, Load</a:t>
            </a:r>
            <a:r>
              <a:rPr lang="vi-VN" dirty="0"/>
              <a:t>.</a:t>
            </a:r>
            <a:br>
              <a:rPr lang="vi-VN" dirty="0"/>
            </a:br>
            <a:r>
              <a:rPr lang="vi-VN" dirty="0"/>
              <a:t>Ở đây, trọng tâm không chỉ là ‘lấy dữ liệu về’, mà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làm sạch dữ liệu,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đảm bảo tính nhất quán,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và duy trì độ tin cậy của dữ liệu giữa nhiều hệ thống khác nhau.</a:t>
            </a:r>
          </a:p>
          <a:p>
            <a:r>
              <a:rPr lang="vi-VN" dirty="0"/>
              <a:t>Thầy/cô muốn các em hiểu rằng: </a:t>
            </a:r>
            <a:r>
              <a:rPr lang="vi-VN" b="1" dirty="0"/>
              <a:t>một dashboard đẹp nhưng dữ liệu sai thì hoàn toàn vô nghĩa</a:t>
            </a:r>
            <a:r>
              <a:rPr lang="vi-VN" dirty="0"/>
              <a:t>.”</a:t>
            </a:r>
          </a:p>
          <a:p>
            <a:r>
              <a:rPr lang="vi-VN" b="1" dirty="0"/>
              <a:t>Analytical Modeling</a:t>
            </a:r>
          </a:p>
          <a:p>
            <a:r>
              <a:rPr lang="vi-VN" dirty="0"/>
              <a:t>“Sau khi có dữ liệu tốt, chúng ta sẽ học cách </a:t>
            </a:r>
            <a:r>
              <a:rPr lang="vi-VN" b="1" dirty="0"/>
              <a:t>mô hình hóa dữ liệu cho phân tích</a:t>
            </a:r>
            <a:r>
              <a:rPr lang="vi-VN" dirty="0"/>
              <a:t>.</a:t>
            </a:r>
            <a:br>
              <a:rPr lang="vi-VN" dirty="0"/>
            </a:br>
            <a:r>
              <a:rPr lang="vi-VN" dirty="0"/>
              <a:t>Các em sẽ làm quen với: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mô hình phân tích (analytical models),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OLAP,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và các kỹ thuật khai phá dữ liệu cơ bản.</a:t>
            </a:r>
          </a:p>
          <a:p>
            <a:r>
              <a:rPr lang="vi-VN" dirty="0"/>
              <a:t>Mục tiêu là giúp các em trả lời được những câu hỏi kiểu như:</a:t>
            </a:r>
            <a:br>
              <a:rPr lang="vi-VN" dirty="0"/>
            </a:br>
            <a:r>
              <a:rPr lang="vi-VN" i="1" dirty="0"/>
              <a:t>Doanh thu tăng là do đâu? Khách hàng nào thực sự mang lại giá trị?</a:t>
            </a:r>
            <a:r>
              <a:rPr lang="vi-VN" dirty="0"/>
              <a:t>”</a:t>
            </a:r>
          </a:p>
          <a:p>
            <a:r>
              <a:rPr lang="vi-VN" b="1" dirty="0"/>
              <a:t>Visualization Ecosystem</a:t>
            </a:r>
          </a:p>
          <a:p>
            <a:r>
              <a:rPr lang="vi-VN" dirty="0"/>
              <a:t>“Phần tiếp theo là </a:t>
            </a:r>
            <a:r>
              <a:rPr lang="vi-VN" b="1" dirty="0"/>
              <a:t>trực quan hóa dữ liệu</a:t>
            </a:r>
            <a:r>
              <a:rPr lang="vi-VN" dirty="0"/>
              <a:t>.</a:t>
            </a:r>
            <a:br>
              <a:rPr lang="vi-VN" dirty="0"/>
            </a:br>
            <a:r>
              <a:rPr lang="vi-VN" dirty="0"/>
              <a:t>Các em sẽ được </a:t>
            </a:r>
            <a:r>
              <a:rPr lang="vi-VN" b="1" dirty="0"/>
              <a:t>trải nghiệm trực tiếp</a:t>
            </a:r>
            <a:r>
              <a:rPr lang="vi-VN" dirty="0"/>
              <a:t> các công cụ phổ biến trong doanh nghiệp hiện nay như: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Tableau,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Power BI,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và QlikView.</a:t>
            </a:r>
          </a:p>
          <a:p>
            <a:r>
              <a:rPr lang="vi-VN" dirty="0"/>
              <a:t>Ở đây, thầy/cô nhấn mạnh: visualization không chỉ là vẽ biểu đồ cho đẹp, mà là </a:t>
            </a:r>
            <a:r>
              <a:rPr lang="vi-VN" b="1" dirty="0"/>
              <a:t>kể câu chuyện bằng dữ liệu</a:t>
            </a:r>
            <a:r>
              <a:rPr lang="vi-VN" dirty="0"/>
              <a:t>.”</a:t>
            </a:r>
          </a:p>
          <a:p>
            <a:r>
              <a:rPr lang="vi-VN" b="1" dirty="0"/>
              <a:t>Decision Support</a:t>
            </a:r>
          </a:p>
          <a:p>
            <a:r>
              <a:rPr lang="vi-VN" dirty="0"/>
              <a:t>“Điểm cuối cùng – và cũng là mục tiêu cao nhất – là </a:t>
            </a:r>
            <a:r>
              <a:rPr lang="vi-VN" b="1" dirty="0"/>
              <a:t>Decision Support</a:t>
            </a:r>
            <a:r>
              <a:rPr lang="vi-VN" dirty="0"/>
              <a:t>.</a:t>
            </a:r>
            <a:br>
              <a:rPr lang="vi-VN" dirty="0"/>
            </a:br>
            <a:r>
              <a:rPr lang="vi-VN" dirty="0"/>
              <a:t>Dashboard và report chỉ thực sự có giá trị khi: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giúp nhà quản lý ra quyết định nhanh hơn,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chính xác hơn,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và có thể hành động ngay.</a:t>
            </a:r>
          </a:p>
          <a:p>
            <a:r>
              <a:rPr lang="vi-VN" dirty="0"/>
              <a:t>Trong môn học này, các em sẽ học cách biến dữ liệu phức tạp thành </a:t>
            </a:r>
            <a:r>
              <a:rPr lang="vi-VN" b="1" dirty="0"/>
              <a:t>chiến lược kinh doanh có thể triển khai được</a:t>
            </a:r>
            <a:r>
              <a:rPr lang="vi-VN" dirty="0"/>
              <a:t>.”</a:t>
            </a:r>
          </a:p>
          <a:p>
            <a:r>
              <a:rPr lang="vi-VN" b="1" dirty="0"/>
              <a:t>Kết &amp; chuyển tiếp</a:t>
            </a:r>
            <a:br>
              <a:rPr lang="vi-VN" dirty="0"/>
            </a:br>
            <a:r>
              <a:rPr lang="vi-VN" dirty="0"/>
              <a:t>“Tóm lại, ba trụ cột kỹ thuật của môn học này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ETL vững,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mô hình phân tích đúng,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và trực quan hóa hiệu quả.</a:t>
            </a:r>
          </a:p>
          <a:p>
            <a:r>
              <a:rPr lang="vi-VN" dirty="0"/>
              <a:t>Ở các chương tiếp theo, chúng ta sẽ đi từng bước, từ nền tảng đến thực hành, để các em có thể tự xây dựng một hệ thống BI hoàn chỉnh.”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Curriculum Pillars</a:t>
            </a:r>
          </a:p>
          <a:p>
            <a:r>
              <a:rPr lang="vi-VN" dirty="0"/>
              <a:t>“Nội dung môn học được xây dựng xoay quanh các trụ cột cốt lõi của Business Intelligence, bao gồm: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Data Warehousing,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ETL,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Data Visualization,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và các ứng dụng BI trong bài toán thực tế.</a:t>
            </a:r>
          </a:p>
          <a:p>
            <a:r>
              <a:rPr lang="vi-VN" dirty="0"/>
              <a:t>Cách tiếp cận này giúp các em không học rời rạc từng phần, mà hiểu BI như một hệ thống hoàn chỉnh trong doanh nghiệp.”</a:t>
            </a:r>
          </a:p>
          <a:p>
            <a:r>
              <a:rPr lang="vi-VN" b="1" dirty="0"/>
              <a:t>Learning Format</a:t>
            </a:r>
          </a:p>
          <a:p>
            <a:r>
              <a:rPr lang="vi-VN" dirty="0"/>
              <a:t>“Môn học được tổ chức với: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36 giờ lý thuyết</a:t>
            </a:r>
            <a:r>
              <a:rPr lang="vi-VN" dirty="0"/>
              <a:t>, cung cấp nền tảng khái niệm và kiến trúc BI,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kết hợp với </a:t>
            </a:r>
            <a:r>
              <a:rPr lang="vi-VN" b="1" dirty="0"/>
              <a:t>8 giờ bài tập và case study</a:t>
            </a:r>
            <a:r>
              <a:rPr lang="vi-VN" dirty="0"/>
              <a:t>, nơi các em sẽ áp dụng kiến thức vào tình huống thực tế.</a:t>
            </a:r>
          </a:p>
          <a:p>
            <a:r>
              <a:rPr lang="vi-VN" dirty="0"/>
              <a:t>Thầy/cô nhấn mạnh rằng: </a:t>
            </a:r>
            <a:r>
              <a:rPr lang="vi-VN" i="1" dirty="0"/>
              <a:t>BI là môn học phải làm thì mới hiểu</a:t>
            </a:r>
            <a:r>
              <a:rPr lang="vi-VN" dirty="0"/>
              <a:t>, nên các buổi bài tập đóng vai trò rất quan trọng.”</a:t>
            </a:r>
          </a:p>
          <a:p>
            <a:r>
              <a:rPr lang="vi-VN" b="1" dirty="0"/>
              <a:t>Grading Policy</a:t>
            </a:r>
          </a:p>
          <a:p>
            <a:r>
              <a:rPr lang="vi-VN" dirty="0"/>
              <a:t>“Về đánh giá, điểm môn học được chia như sau: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Chuyên cần: 10%,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Dự án: 20%,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Giữa kỳ: 20%,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 cuối kỳ: 50%.</a:t>
            </a:r>
          </a:p>
          <a:p>
            <a:r>
              <a:rPr lang="vi-VN" dirty="0"/>
              <a:t>Điều này có nghĩa là </a:t>
            </a:r>
            <a:r>
              <a:rPr lang="vi-VN" b="1" dirty="0"/>
              <a:t>không thể chỉ học dồn cho kỳ thi cuối</a:t>
            </a:r>
            <a:r>
              <a:rPr lang="vi-VN" dirty="0"/>
              <a:t>, mà các em cần tham gia đầy đủ và làm việc nghiêm túc trong suốt học kỳ.”</a:t>
            </a:r>
          </a:p>
          <a:p>
            <a:r>
              <a:rPr lang="vi-VN" b="1" dirty="0"/>
              <a:t>Professional Ethics</a:t>
            </a:r>
          </a:p>
          <a:p>
            <a:r>
              <a:rPr lang="vi-VN" dirty="0"/>
              <a:t>“Điểm cuối cùng – nhưng không kém phần quan trọng – là </a:t>
            </a:r>
            <a:r>
              <a:rPr lang="vi-VN" b="1" dirty="0"/>
              <a:t>đạo đức nghề nghiệp</a:t>
            </a:r>
            <a:r>
              <a:rPr lang="vi-VN" dirty="0"/>
              <a:t>.</a:t>
            </a:r>
            <a:br>
              <a:rPr lang="vi-VN" dirty="0"/>
            </a:br>
            <a:r>
              <a:rPr lang="vi-VN" dirty="0"/>
              <a:t>Trong BI, chúng ta làm việc trực tiếp với dữ liệu của doanh nghiệp và con người, nên các vấn đề như: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quyền riêng tư dữ liệu,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bảo mật thông tin,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và tuân thủ pháp lý</a:t>
            </a:r>
          </a:p>
          <a:p>
            <a:r>
              <a:rPr lang="vi-VN" dirty="0"/>
              <a:t>là bắt buộc, không phải tùy chọn.</a:t>
            </a:r>
            <a:br>
              <a:rPr lang="vi-VN" dirty="0"/>
            </a:br>
            <a:r>
              <a:rPr lang="vi-VN"/>
              <a:t>Thầy/cô mong các em không chỉ giỏi kỹ thuật, mà còn trở thành </a:t>
            </a:r>
            <a:r>
              <a:rPr lang="vi-VN" b="1"/>
              <a:t>những người làm BI có trách nhiệm</a:t>
            </a:r>
            <a:r>
              <a:rPr lang="vi-VN"/>
              <a:t>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802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57188"/>
            <a:ext cx="842962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2377A"/>
                </a:solidFill>
              </a:rPr>
              <a:t>Course Overview &amp; Fundamentals (INT14181_CLC)</a:t>
            </a:r>
            <a:endParaRPr lang="en-US" sz="1808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728788"/>
            <a:ext cx="3214688" cy="2286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714875" y="1431652"/>
            <a:ext cx="257175" cy="257175"/>
          </a:xfrm>
          <a:prstGeom prst="ellipse">
            <a:avLst/>
          </a:prstGeom>
          <a:solidFill>
            <a:srgbClr val="12377A"/>
          </a:solidFill>
          <a:ln/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9169" y="1503090"/>
            <a:ext cx="128588" cy="114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086350" y="1431652"/>
            <a:ext cx="1134285" cy="210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Course Identity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5086350" y="1688827"/>
            <a:ext cx="3700463" cy="339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858481"/>
                </a:solidFill>
              </a:rPr>
              <a:t>Business Intelligence (INT14181_CLC) is a 3-credit course designed for advanced analytical training.</a:t>
            </a:r>
            <a:endParaRPr lang="en-US" sz="1400" dirty="0"/>
          </a:p>
        </p:txBody>
      </p:sp>
      <p:sp>
        <p:nvSpPr>
          <p:cNvPr id="9" name="Shape 4"/>
          <p:cNvSpPr/>
          <p:nvPr/>
        </p:nvSpPr>
        <p:spPr>
          <a:xfrm>
            <a:off x="4714875" y="2151720"/>
            <a:ext cx="257175" cy="257175"/>
          </a:xfrm>
          <a:prstGeom prst="ellipse">
            <a:avLst/>
          </a:prstGeom>
          <a:solidFill>
            <a:srgbClr val="12377A"/>
          </a:solidFill>
          <a:ln/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223157"/>
            <a:ext cx="85725" cy="1143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086350" y="2151720"/>
            <a:ext cx="1126783" cy="210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Core Definition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5086350" y="2408895"/>
            <a:ext cx="3700463" cy="505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858481"/>
                </a:solidFill>
              </a:rPr>
              <a:t>BI focuses on transforming raw data into meaningful insights to support data-driven decision making in modern organizations.</a:t>
            </a:r>
            <a:endParaRPr lang="en-US" sz="1400" dirty="0"/>
          </a:p>
        </p:txBody>
      </p:sp>
      <p:sp>
        <p:nvSpPr>
          <p:cNvPr id="13" name="Shape 7"/>
          <p:cNvSpPr/>
          <p:nvPr/>
        </p:nvSpPr>
        <p:spPr>
          <a:xfrm>
            <a:off x="4714875" y="2871788"/>
            <a:ext cx="257175" cy="257175"/>
          </a:xfrm>
          <a:prstGeom prst="ellipse">
            <a:avLst/>
          </a:prstGeom>
          <a:solidFill>
            <a:srgbClr val="12377A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2943225"/>
            <a:ext cx="114300" cy="1143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086350" y="2871788"/>
            <a:ext cx="1108893" cy="210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Strategic Focus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5086350" y="3128963"/>
            <a:ext cx="3700463" cy="505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858481"/>
                </a:solidFill>
              </a:rPr>
              <a:t>A balanced journey from data integration and warehousing to advanced analysis and business insight.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4714875" y="3591855"/>
            <a:ext cx="257175" cy="257175"/>
          </a:xfrm>
          <a:prstGeom prst="ellipse">
            <a:avLst/>
          </a:prstGeom>
          <a:solidFill>
            <a:srgbClr val="12377A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2025" y="3663293"/>
            <a:ext cx="142875" cy="1143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86350" y="3591855"/>
            <a:ext cx="1064202" cy="210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Key Outcomes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5086350" y="3849030"/>
            <a:ext cx="3700463" cy="505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858481"/>
                </a:solidFill>
              </a:rPr>
              <a:t>Students will master BI architectures, design data warehouses, and build analytical models for modern organizations.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57188"/>
            <a:ext cx="842962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2377A"/>
                </a:solidFill>
              </a:rPr>
              <a:t>Technical Mastery: ETL, Modeling &amp; Visualization</a:t>
            </a:r>
            <a:endParaRPr lang="en-US" sz="1808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728788"/>
            <a:ext cx="3214688" cy="2286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714875" y="1431652"/>
            <a:ext cx="257175" cy="257175"/>
          </a:xfrm>
          <a:prstGeom prst="ellipse">
            <a:avLst/>
          </a:prstGeom>
          <a:solidFill>
            <a:srgbClr val="12377A"/>
          </a:solidFill>
          <a:ln/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456" y="1503090"/>
            <a:ext cx="100013" cy="114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086350" y="1431652"/>
            <a:ext cx="1269386" cy="210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Data Engineering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5086350" y="1688827"/>
            <a:ext cx="3700463" cy="505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858481"/>
                </a:solidFill>
              </a:rPr>
              <a:t>Mastering ETL (Extract, Transform, Load) processes to ensure data quality, consistency, and integrity across systems.</a:t>
            </a:r>
            <a:endParaRPr lang="en-US" sz="1400" dirty="0"/>
          </a:p>
        </p:txBody>
      </p:sp>
      <p:sp>
        <p:nvSpPr>
          <p:cNvPr id="9" name="Shape 4"/>
          <p:cNvSpPr/>
          <p:nvPr/>
        </p:nvSpPr>
        <p:spPr>
          <a:xfrm>
            <a:off x="4714875" y="2151720"/>
            <a:ext cx="257175" cy="257175"/>
          </a:xfrm>
          <a:prstGeom prst="ellipse">
            <a:avLst/>
          </a:prstGeom>
          <a:solidFill>
            <a:srgbClr val="12377A"/>
          </a:solidFill>
          <a:ln/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9169" y="2223157"/>
            <a:ext cx="128588" cy="1143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086350" y="2151720"/>
            <a:ext cx="1489062" cy="210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Analytical Modeling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5086350" y="2408895"/>
            <a:ext cx="3700463" cy="505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858481"/>
                </a:solidFill>
              </a:rPr>
              <a:t>Building robust data models and utilizing OLAP and Data Mining techniques for deep-dive organizational analysis.</a:t>
            </a:r>
            <a:endParaRPr lang="en-US" sz="1400" dirty="0"/>
          </a:p>
        </p:txBody>
      </p:sp>
      <p:sp>
        <p:nvSpPr>
          <p:cNvPr id="13" name="Shape 7"/>
          <p:cNvSpPr/>
          <p:nvPr/>
        </p:nvSpPr>
        <p:spPr>
          <a:xfrm>
            <a:off x="4714875" y="2871788"/>
            <a:ext cx="257175" cy="257175"/>
          </a:xfrm>
          <a:prstGeom prst="ellipse">
            <a:avLst/>
          </a:prstGeom>
          <a:solidFill>
            <a:srgbClr val="12377A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2943225"/>
            <a:ext cx="114300" cy="1143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086350" y="2871788"/>
            <a:ext cx="1769074" cy="210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Visualization Ecosystem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5086350" y="3128963"/>
            <a:ext cx="3700463" cy="505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858481"/>
                </a:solidFill>
              </a:rPr>
              <a:t>Hands-on experience with industry-leading tools including Tableau, Power BI, and QlikView for visual storytelling.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4714875" y="3591855"/>
            <a:ext cx="257175" cy="257175"/>
          </a:xfrm>
          <a:prstGeom prst="ellipse">
            <a:avLst/>
          </a:prstGeom>
          <a:solidFill>
            <a:srgbClr val="12377A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3456" y="3663293"/>
            <a:ext cx="100013" cy="1143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86350" y="3591855"/>
            <a:ext cx="1269578" cy="210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Decision Support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5086350" y="3849030"/>
            <a:ext cx="3700463" cy="505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858481"/>
                </a:solidFill>
              </a:rPr>
              <a:t>Creating interactive dashboards and reports that translate complex data into actionable business strategies.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57188"/>
            <a:ext cx="842962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2377A"/>
                </a:solidFill>
              </a:rPr>
              <a:t>Course Structure, Assessment &amp; Professionalism</a:t>
            </a:r>
            <a:endParaRPr lang="en-US" sz="1808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728788"/>
            <a:ext cx="3214688" cy="2286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714875" y="1431652"/>
            <a:ext cx="257175" cy="257175"/>
          </a:xfrm>
          <a:prstGeom prst="ellipse">
            <a:avLst/>
          </a:prstGeom>
          <a:solidFill>
            <a:srgbClr val="12377A"/>
          </a:solidFill>
          <a:ln/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1503090"/>
            <a:ext cx="114300" cy="114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086350" y="1431652"/>
            <a:ext cx="1315488" cy="210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Curriculum Pillars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5086350" y="1688827"/>
            <a:ext cx="3700463" cy="339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858481"/>
                </a:solidFill>
              </a:rPr>
              <a:t>Comprehensive coverage of Data Warehousing, ETL, Visualization, and Real-world BI Applications.</a:t>
            </a:r>
            <a:endParaRPr lang="en-US" sz="1400" dirty="0"/>
          </a:p>
        </p:txBody>
      </p:sp>
      <p:sp>
        <p:nvSpPr>
          <p:cNvPr id="9" name="Shape 4"/>
          <p:cNvSpPr/>
          <p:nvPr/>
        </p:nvSpPr>
        <p:spPr>
          <a:xfrm>
            <a:off x="4714875" y="2151720"/>
            <a:ext cx="257175" cy="257175"/>
          </a:xfrm>
          <a:prstGeom prst="ellipse">
            <a:avLst/>
          </a:prstGeom>
          <a:solidFill>
            <a:srgbClr val="12377A"/>
          </a:solidFill>
          <a:ln/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2223157"/>
            <a:ext cx="114300" cy="1143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086350" y="2151720"/>
            <a:ext cx="1214435" cy="210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Learning Format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5086350" y="2408895"/>
            <a:ext cx="3700463" cy="339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858481"/>
                </a:solidFill>
              </a:rPr>
              <a:t>36 hours of foundational lectures complemented by 8 hours of hands-on exercises and case studies.</a:t>
            </a:r>
            <a:endParaRPr lang="en-US" sz="1400" dirty="0"/>
          </a:p>
        </p:txBody>
      </p:sp>
      <p:sp>
        <p:nvSpPr>
          <p:cNvPr id="13" name="Shape 7"/>
          <p:cNvSpPr/>
          <p:nvPr/>
        </p:nvSpPr>
        <p:spPr>
          <a:xfrm>
            <a:off x="4714875" y="2871788"/>
            <a:ext cx="257175" cy="257175"/>
          </a:xfrm>
          <a:prstGeom prst="ellipse">
            <a:avLst/>
          </a:prstGeom>
          <a:solidFill>
            <a:srgbClr val="12377A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2943225"/>
            <a:ext cx="85725" cy="1143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086350" y="2871788"/>
            <a:ext cx="1063946" cy="210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Grading Policy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5086350" y="3128963"/>
            <a:ext cx="3700463" cy="339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858481"/>
                </a:solidFill>
              </a:rPr>
              <a:t>Attendance (10%), Mid-Term 1 (20%), Mid-term  2 (20%), and a comprehensive Final Exam (50%).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4714875" y="3591855"/>
            <a:ext cx="257175" cy="257175"/>
          </a:xfrm>
          <a:prstGeom prst="ellipse">
            <a:avLst/>
          </a:prstGeom>
          <a:solidFill>
            <a:srgbClr val="12377A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2025" y="3663293"/>
            <a:ext cx="142875" cy="1143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86350" y="3591855"/>
            <a:ext cx="1388265" cy="210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2377A"/>
                </a:solidFill>
              </a:rPr>
              <a:t>Professional Ethics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5086350" y="3849030"/>
            <a:ext cx="3700463" cy="505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858481"/>
                </a:solidFill>
              </a:rPr>
              <a:t>Strong emphasis on recognizing ethical and legal issues in BI to ensure responsible data governance and privacy.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57188"/>
            <a:ext cx="1046761" cy="3497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2377A"/>
                </a:solidFill>
              </a:rPr>
              <a:t>Text-Books</a:t>
            </a:r>
            <a:endParaRPr lang="en-US" sz="1808" dirty="0"/>
          </a:p>
        </p:txBody>
      </p:sp>
      <p:sp>
        <p:nvSpPr>
          <p:cNvPr id="7" name="Text 2"/>
          <p:cNvSpPr/>
          <p:nvPr/>
        </p:nvSpPr>
        <p:spPr>
          <a:xfrm>
            <a:off x="5086350" y="1431652"/>
            <a:ext cx="65" cy="1969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endParaRPr lang="en-US" sz="987" dirty="0"/>
          </a:p>
        </p:txBody>
      </p:sp>
      <p:sp>
        <p:nvSpPr>
          <p:cNvPr id="8" name="Text 3"/>
          <p:cNvSpPr/>
          <p:nvPr/>
        </p:nvSpPr>
        <p:spPr>
          <a:xfrm>
            <a:off x="5086350" y="1688827"/>
            <a:ext cx="3700463" cy="1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834" dirty="0"/>
          </a:p>
        </p:txBody>
      </p:sp>
      <p:sp>
        <p:nvSpPr>
          <p:cNvPr id="11" name="Text 5"/>
          <p:cNvSpPr/>
          <p:nvPr/>
        </p:nvSpPr>
        <p:spPr>
          <a:xfrm>
            <a:off x="5086350" y="2151720"/>
            <a:ext cx="65" cy="1969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endParaRPr lang="en-US" sz="987" dirty="0"/>
          </a:p>
        </p:txBody>
      </p:sp>
      <p:sp>
        <p:nvSpPr>
          <p:cNvPr id="12" name="Text 6"/>
          <p:cNvSpPr/>
          <p:nvPr/>
        </p:nvSpPr>
        <p:spPr>
          <a:xfrm>
            <a:off x="5086350" y="2408895"/>
            <a:ext cx="3700463" cy="1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834" dirty="0"/>
          </a:p>
        </p:txBody>
      </p:sp>
      <p:sp>
        <p:nvSpPr>
          <p:cNvPr id="15" name="Text 8"/>
          <p:cNvSpPr/>
          <p:nvPr/>
        </p:nvSpPr>
        <p:spPr>
          <a:xfrm>
            <a:off x="5086350" y="2871788"/>
            <a:ext cx="65" cy="1969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endParaRPr lang="en-US" sz="987" dirty="0"/>
          </a:p>
        </p:txBody>
      </p:sp>
      <p:sp>
        <p:nvSpPr>
          <p:cNvPr id="16" name="Text 9"/>
          <p:cNvSpPr/>
          <p:nvPr/>
        </p:nvSpPr>
        <p:spPr>
          <a:xfrm>
            <a:off x="5086350" y="3128963"/>
            <a:ext cx="3700463" cy="1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834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EC03D3-B9F7-092A-83A9-DEE5633829BE}"/>
              </a:ext>
            </a:extLst>
          </p:cNvPr>
          <p:cNvSpPr txBox="1"/>
          <p:nvPr/>
        </p:nvSpPr>
        <p:spPr>
          <a:xfrm>
            <a:off x="357189" y="1004590"/>
            <a:ext cx="85040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[1] Rick Sherman. Business Intelligence Guidebook: From Data Integration to Analytics 1st Edition. 2014. Morgan Kaufmann ISBN: 978-0124114616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580BCD-294E-0AD3-5EA6-0B302378A5B5}"/>
              </a:ext>
            </a:extLst>
          </p:cNvPr>
          <p:cNvSpPr txBox="1"/>
          <p:nvPr/>
        </p:nvSpPr>
        <p:spPr>
          <a:xfrm>
            <a:off x="357186" y="1617709"/>
            <a:ext cx="842942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2]</a:t>
            </a:r>
            <a:r>
              <a:rPr lang="en-US" sz="1800" dirty="0">
                <a:solidFill>
                  <a:srgbClr val="000000"/>
                </a:solidFill>
                <a:effectLst/>
                <a:latin typeface="AppleSystemUIFont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Ramesh Sharda,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Dursun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Delen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Efraim Turban. Business Intelligence and Analytics: Systems for Decision Support. 10th edition. Pearson. 2013. ISBN 978-0133050905 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[3] Efraim Turban, Ramesh Sharda,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Dursun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Delen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David King. Business Intelligence: A Managerial Approach. 2nd Edition. Pearson College Div. 2010. ISBN 978-0136100669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507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1510</Words>
  <Application>Microsoft Office PowerPoint</Application>
  <PresentationFormat>On-screen Show (16:9)</PresentationFormat>
  <Paragraphs>104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AppleSystemUIFont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5</cp:revision>
  <dcterms:created xsi:type="dcterms:W3CDTF">2026-01-18T08:32:38Z</dcterms:created>
  <dcterms:modified xsi:type="dcterms:W3CDTF">2026-01-19T02:19:42Z</dcterms:modified>
</cp:coreProperties>
</file>