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4818" autoAdjust="0"/>
  </p:normalViewPr>
  <p:slideViewPr>
    <p:cSldViewPr>
      <p:cViewPr varScale="1">
        <p:scale>
          <a:sx n="52" d="100"/>
          <a:sy n="52" d="100"/>
        </p:scale>
        <p:origin x="4188" y="60"/>
      </p:cViewPr>
      <p:guideLst>
        <p:guide orient="horz" pos="2880"/>
        <p:guide pos="2160"/>
      </p:guideLst>
    </p:cSldViewPr>
  </p:slideViewPr>
  <p:notesTextViewPr>
    <p:cViewPr>
      <p:scale>
        <a:sx n="100" d="100"/>
        <a:sy n="100" d="100"/>
      </p:scale>
      <p:origin x="0" y="-2232"/>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4DE82A36-C976-4418-AF2A-826332DDE6D2}" type="datetimeFigureOut">
              <a:rPr lang="en-US" smtClean="0"/>
              <a:t>5/18/2025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492BC7D0-5925-4E08-962F-A8F7AB738BAF}" type="slidenum">
              <a:rPr lang="en-US" smtClean="0"/>
              <a:t>‹#›</a:t>
            </a:fld>
            <a:endParaRPr lang="en-US"/>
          </a:p>
        </p:txBody>
      </p:sp>
    </p:spTree>
    <p:extLst>
      <p:ext uri="{BB962C8B-B14F-4D97-AF65-F5344CB8AC3E}">
        <p14:creationId xmlns:p14="http://schemas.microsoft.com/office/powerpoint/2010/main" val="271611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Naming</a:t>
            </a:r>
            <a:endParaRPr lang="vi-VN" dirty="0"/>
          </a:p>
          <a:p>
            <a:endParaRPr lang="vi-VN" b="1" dirty="0"/>
          </a:p>
          <a:p>
            <a:r>
              <a:rPr lang="vi-VN" b="1" dirty="0"/>
              <a:t>1. "Essence: Names are used to denote entities in a distributed system."</a:t>
            </a:r>
          </a:p>
          <a:p>
            <a:pPr>
              <a:buFont typeface="Arial" panose="020B0604020202020204" pitchFamily="34" charset="0"/>
              <a:buChar char="•"/>
            </a:pPr>
            <a:r>
              <a:rPr lang="vi-VN" dirty="0"/>
              <a:t>Trong hệ thống phân tán, </a:t>
            </a:r>
            <a:r>
              <a:rPr lang="vi-VN" b="1" dirty="0"/>
              <a:t>tên (names)</a:t>
            </a:r>
            <a:r>
              <a:rPr lang="vi-VN" dirty="0"/>
              <a:t> được dùng để </a:t>
            </a:r>
            <a:r>
              <a:rPr lang="vi-VN" b="1" dirty="0"/>
              <a:t>xác định (denote)</a:t>
            </a:r>
            <a:r>
              <a:rPr lang="vi-VN" dirty="0"/>
              <a:t> các </a:t>
            </a:r>
            <a:r>
              <a:rPr lang="vi-VN" b="1" dirty="0"/>
              <a:t>thực thể (entities)</a:t>
            </a:r>
            <a:r>
              <a:rPr lang="vi-VN" dirty="0"/>
              <a:t> như máy chủ, file, người dùng, quá trình, dịch vụ...</a:t>
            </a:r>
          </a:p>
          <a:p>
            <a:pPr>
              <a:buFont typeface="Arial" panose="020B0604020202020204" pitchFamily="34" charset="0"/>
              <a:buChar char="•"/>
            </a:pPr>
            <a:r>
              <a:rPr lang="vi-VN" dirty="0"/>
              <a:t>Ví dụ: Tên miền ftp.cs.vu.nl có thể đại diện cho một máy chủ FTP cụ thể.</a:t>
            </a:r>
          </a:p>
          <a:p>
            <a:endParaRPr lang="en-US" b="1" dirty="0"/>
          </a:p>
          <a:p>
            <a:r>
              <a:rPr lang="vi-VN" b="1" dirty="0"/>
              <a:t>2. "To operate on an entity, we need to access it at an access point."</a:t>
            </a:r>
          </a:p>
          <a:p>
            <a:pPr>
              <a:buFont typeface="Arial" panose="020B0604020202020204" pitchFamily="34" charset="0"/>
              <a:buChar char="•"/>
            </a:pPr>
            <a:r>
              <a:rPr lang="vi-VN" dirty="0"/>
              <a:t>Để </a:t>
            </a:r>
            <a:r>
              <a:rPr lang="vi-VN" b="1" dirty="0"/>
              <a:t>tác động lên một thực thể</a:t>
            </a:r>
            <a:r>
              <a:rPr lang="vi-VN" dirty="0"/>
              <a:t> (ví dụ: gửi dữ liệu, in tài liệu, truy xuất file), ta cần </a:t>
            </a:r>
            <a:r>
              <a:rPr lang="vi-VN" b="1" dirty="0"/>
              <a:t>truy cập vào điểm truy cập (access point)</a:t>
            </a:r>
            <a:r>
              <a:rPr lang="vi-VN" dirty="0"/>
              <a:t> mà thực thể đó cung cấp.</a:t>
            </a:r>
          </a:p>
          <a:p>
            <a:pPr>
              <a:buFont typeface="Arial" panose="020B0604020202020204" pitchFamily="34" charset="0"/>
              <a:buChar char="•"/>
            </a:pPr>
            <a:r>
              <a:rPr lang="vi-VN" dirty="0"/>
              <a:t>Access point là nơi thực thể "tiếp xúc" với thế giới bên ngoài — ví dụ như một cổng mạng (port) trên một IP cụ thể.</a:t>
            </a:r>
          </a:p>
          <a:p>
            <a:endParaRPr lang="en-US" b="1" dirty="0"/>
          </a:p>
          <a:p>
            <a:r>
              <a:rPr lang="vi-VN" b="1" dirty="0"/>
              <a:t>3. "Access points are entities that are named by means of an address."</a:t>
            </a:r>
          </a:p>
          <a:p>
            <a:pPr>
              <a:buFont typeface="Arial" panose="020B0604020202020204" pitchFamily="34" charset="0"/>
              <a:buChar char="•"/>
            </a:pPr>
            <a:r>
              <a:rPr lang="vi-VN" dirty="0"/>
              <a:t>Mỗi access point được định danh bằng một </a:t>
            </a:r>
            <a:r>
              <a:rPr lang="vi-VN" b="1" dirty="0"/>
              <a:t>địa chỉ (address)</a:t>
            </a:r>
            <a:r>
              <a:rPr lang="vi-VN" dirty="0"/>
              <a:t>, thường là một chuỗi máy đọc được (machine-readable), ví dụ: IP + port (192.168.1.1:80).</a:t>
            </a:r>
          </a:p>
          <a:p>
            <a:pPr>
              <a:buFont typeface="Arial" panose="020B0604020202020204" pitchFamily="34" charset="0"/>
              <a:buChar char="•"/>
            </a:pPr>
            <a:r>
              <a:rPr lang="vi-VN" dirty="0"/>
              <a:t>Ví dụ: Một server chạy dịch vụ HTTP tại cổng 80 của địa chỉ IP cụ thể.</a:t>
            </a:r>
          </a:p>
          <a:p>
            <a:endParaRPr lang="en-US" b="1" dirty="0"/>
          </a:p>
          <a:p>
            <a:r>
              <a:rPr lang="en-US" b="1" dirty="0"/>
              <a:t>4. </a:t>
            </a:r>
            <a:r>
              <a:rPr lang="vi-VN" b="1" dirty="0"/>
              <a:t>Ghi chú (Note):</a:t>
            </a:r>
          </a:p>
          <a:p>
            <a:r>
              <a:rPr lang="vi-VN" b="1" dirty="0"/>
              <a:t>"A location-independent name for an entity E is independent from the addresses of the access points offered by E."</a:t>
            </a:r>
          </a:p>
          <a:p>
            <a:pPr>
              <a:buFont typeface="Arial" panose="020B0604020202020204" pitchFamily="34" charset="0"/>
              <a:buChar char="•"/>
            </a:pPr>
            <a:r>
              <a:rPr lang="vi-VN" b="1" dirty="0"/>
              <a:t>Tên độc lập vị trí (location-independent name)</a:t>
            </a:r>
            <a:r>
              <a:rPr lang="vi-VN" dirty="0"/>
              <a:t> có nghĩa là nó </a:t>
            </a:r>
            <a:r>
              <a:rPr lang="vi-VN" b="1" dirty="0"/>
              <a:t>không phụ thuộc</a:t>
            </a:r>
            <a:r>
              <a:rPr lang="vi-VN" dirty="0"/>
              <a:t> vào địa chỉ cụ thể mà thực thể đang sử dụng tại một thời điểm.</a:t>
            </a:r>
          </a:p>
          <a:p>
            <a:pPr>
              <a:buFont typeface="Arial" panose="020B0604020202020204" pitchFamily="34" charset="0"/>
              <a:buChar char="•"/>
            </a:pPr>
            <a:r>
              <a:rPr lang="vi-VN" dirty="0"/>
              <a:t>Điều này rất quan trọng vì:</a:t>
            </a:r>
          </a:p>
          <a:p>
            <a:pPr marL="742950" lvl="1" indent="-285750">
              <a:buFont typeface="Arial" panose="020B0604020202020204" pitchFamily="34" charset="0"/>
              <a:buChar char="•"/>
            </a:pPr>
            <a:r>
              <a:rPr lang="vi-VN" dirty="0"/>
              <a:t>Access point </a:t>
            </a:r>
            <a:r>
              <a:rPr lang="vi-VN" b="1" dirty="0"/>
              <a:t>có thể thay đổi</a:t>
            </a:r>
            <a:r>
              <a:rPr lang="vi-VN" dirty="0"/>
              <a:t> (ví dụ: do thay IP, di chuyển, hoặc thay đổi hạ tầng).</a:t>
            </a:r>
          </a:p>
          <a:p>
            <a:pPr marL="742950" lvl="1" indent="-285750">
              <a:buFont typeface="Arial" panose="020B0604020202020204" pitchFamily="34" charset="0"/>
              <a:buChar char="•"/>
            </a:pPr>
            <a:r>
              <a:rPr lang="vi-VN" dirty="0"/>
              <a:t>Nếu ta dùng địa chỉ làm tên, việc thay đổi sẽ làm hỏng liên kết.</a:t>
            </a:r>
          </a:p>
          <a:p>
            <a:pPr marL="742950" lvl="1" indent="-285750">
              <a:buFont typeface="Arial" panose="020B0604020202020204" pitchFamily="34" charset="0"/>
              <a:buChar char="•"/>
            </a:pPr>
            <a:r>
              <a:rPr lang="vi-VN" dirty="0"/>
              <a:t>Do đó, </a:t>
            </a:r>
            <a:r>
              <a:rPr lang="vi-VN" b="1" dirty="0"/>
              <a:t>tên nên tách rời khỏi địa chỉ</a:t>
            </a:r>
            <a:r>
              <a:rPr lang="vi-VN" dirty="0"/>
              <a:t> để linh hoạt và dễ quản lý.</a:t>
            </a:r>
          </a:p>
          <a:p>
            <a:endParaRPr lang="en-US" dirty="0"/>
          </a:p>
          <a:p>
            <a:r>
              <a:rPr lang="vi-VN" dirty="0"/>
              <a:t>Ví dụ minh họa:</a:t>
            </a:r>
          </a:p>
          <a:p>
            <a:pPr>
              <a:buFont typeface="Arial" panose="020B0604020202020204" pitchFamily="34" charset="0"/>
              <a:buChar char="•"/>
            </a:pPr>
            <a:r>
              <a:rPr lang="vi-VN" dirty="0"/>
              <a:t>Một dịch vụ Web có thể được triển khai trên nhiều server khác nhau.</a:t>
            </a:r>
          </a:p>
          <a:p>
            <a:pPr>
              <a:buFont typeface="Arial" panose="020B0604020202020204" pitchFamily="34" charset="0"/>
              <a:buChar char="•"/>
            </a:pPr>
            <a:r>
              <a:rPr lang="vi-VN" dirty="0"/>
              <a:t>Thay vì nhớ IP cụ thể, ta chỉ cần nhớ tên như www.example.com, và hệ thống sẽ phân giải tên đó về địa chỉ hiện tại phù hợp.</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a:t>
            </a:fld>
            <a:endParaRPr lang="en-US"/>
          </a:p>
        </p:txBody>
      </p:sp>
    </p:spTree>
    <p:extLst>
      <p:ext uri="{BB962C8B-B14F-4D97-AF65-F5344CB8AC3E}">
        <p14:creationId xmlns:p14="http://schemas.microsoft.com/office/powerpoint/2010/main" val="3923793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Identifiers</a:t>
            </a:r>
            <a:endParaRPr lang="en-US" b="1" dirty="0"/>
          </a:p>
          <a:p>
            <a:endParaRPr lang="vi-VN" b="1" dirty="0"/>
          </a:p>
          <a:p>
            <a:r>
              <a:rPr lang="vi-VN" b="1" dirty="0"/>
              <a:t>1. "Pure name: A name that has no meaning at all; it is just a random string. Pure names can be used for comparison only."</a:t>
            </a:r>
          </a:p>
          <a:p>
            <a:pPr>
              <a:buFont typeface="Arial" panose="020B0604020202020204" pitchFamily="34" charset="0"/>
              <a:buChar char="•"/>
            </a:pPr>
            <a:r>
              <a:rPr lang="vi-VN" b="1" dirty="0"/>
              <a:t>Pure name</a:t>
            </a:r>
            <a:r>
              <a:rPr lang="vi-VN" dirty="0"/>
              <a:t> (tên thuần túy) là một chuỗi </a:t>
            </a:r>
            <a:r>
              <a:rPr lang="vi-VN" b="1" dirty="0"/>
              <a:t>không mang ý nghĩa nào cả</a:t>
            </a:r>
            <a:r>
              <a:rPr lang="vi-VN" dirty="0"/>
              <a:t>, chỉ là một dãy bit hoặc ký tự được gán một cách ngẫu nhiên.</a:t>
            </a:r>
          </a:p>
          <a:p>
            <a:pPr>
              <a:buFont typeface="Arial" panose="020B0604020202020204" pitchFamily="34" charset="0"/>
              <a:buChar char="•"/>
            </a:pPr>
            <a:r>
              <a:rPr lang="vi-VN" dirty="0"/>
              <a:t>Mục đích duy nhất của nó là để </a:t>
            </a:r>
            <a:r>
              <a:rPr lang="vi-VN" b="1" dirty="0"/>
              <a:t>so sánh</a:t>
            </a:r>
            <a:r>
              <a:rPr lang="vi-VN" dirty="0"/>
              <a:t> — xem hai tên có giống nhau hay không.</a:t>
            </a:r>
          </a:p>
          <a:p>
            <a:pPr>
              <a:buFont typeface="Arial" panose="020B0604020202020204" pitchFamily="34" charset="0"/>
              <a:buChar char="•"/>
            </a:pPr>
            <a:r>
              <a:rPr lang="vi-VN" dirty="0"/>
              <a:t>Ví dụ: địa chỉ MAC như A4:7C:F1:2B:3D:99 — không mang thông tin con người hiểu được, chỉ dùng để phân biệt thiết bị.</a:t>
            </a:r>
          </a:p>
          <a:p>
            <a:endParaRPr lang="en-US" b="1" dirty="0"/>
          </a:p>
          <a:p>
            <a:r>
              <a:rPr lang="vi-VN" b="1" dirty="0"/>
              <a:t>2. "Identifier: A name having some specific properties"</a:t>
            </a:r>
          </a:p>
          <a:p>
            <a:r>
              <a:rPr lang="vi-VN" dirty="0"/>
              <a:t>Một </a:t>
            </a:r>
            <a:r>
              <a:rPr lang="vi-VN" b="1" dirty="0"/>
              <a:t>identifier (định danh)</a:t>
            </a:r>
            <a:r>
              <a:rPr lang="vi-VN" dirty="0"/>
              <a:t> là một loại tên đặc biệt, </a:t>
            </a:r>
            <a:r>
              <a:rPr lang="vi-VN" b="1" dirty="0"/>
              <a:t>phải thỏa mãn 3 tính chất quan trọng</a:t>
            </a:r>
            <a:r>
              <a:rPr lang="vi-VN" dirty="0"/>
              <a:t>:</a:t>
            </a:r>
          </a:p>
          <a:p>
            <a:r>
              <a:rPr lang="en-US" b="1" dirty="0"/>
              <a:t>a</a:t>
            </a:r>
            <a:r>
              <a:rPr lang="vi-VN" b="1" dirty="0"/>
              <a:t>. An identifier refers to at most one entity.</a:t>
            </a:r>
          </a:p>
          <a:p>
            <a:pPr>
              <a:buFont typeface="Arial" panose="020B0604020202020204" pitchFamily="34" charset="0"/>
              <a:buChar char="•"/>
            </a:pPr>
            <a:r>
              <a:rPr lang="vi-VN" dirty="0"/>
              <a:t>Một định danh </a:t>
            </a:r>
            <a:r>
              <a:rPr lang="vi-VN" b="1" dirty="0"/>
              <a:t>chỉ trỏ tới một thực thể duy nhất</a:t>
            </a:r>
            <a:r>
              <a:rPr lang="vi-VN" dirty="0"/>
              <a:t> — không thể có hai thực thể dùng chung một identifier.</a:t>
            </a:r>
          </a:p>
          <a:p>
            <a:r>
              <a:rPr lang="en-US" b="1" dirty="0"/>
              <a:t>b</a:t>
            </a:r>
            <a:r>
              <a:rPr lang="vi-VN" b="1" dirty="0"/>
              <a:t>. Each entity is referred to by at most one identifier.</a:t>
            </a:r>
          </a:p>
          <a:p>
            <a:pPr>
              <a:buFont typeface="Arial" panose="020B0604020202020204" pitchFamily="34" charset="0"/>
              <a:buChar char="•"/>
            </a:pPr>
            <a:r>
              <a:rPr lang="vi-VN" dirty="0"/>
              <a:t>Mỗi thực thể </a:t>
            </a:r>
            <a:r>
              <a:rPr lang="vi-VN" b="1" dirty="0"/>
              <a:t>chỉ có một định danh duy nhất</a:t>
            </a:r>
            <a:r>
              <a:rPr lang="vi-VN" dirty="0"/>
              <a:t> — không có tình huống một thực thể có nhiều identifier.</a:t>
            </a:r>
          </a:p>
          <a:p>
            <a:r>
              <a:rPr lang="en-US" b="1" dirty="0"/>
              <a:t>c</a:t>
            </a:r>
            <a:r>
              <a:rPr lang="vi-VN" b="1" dirty="0"/>
              <a:t>. An identifier always refers to the same entity (i.e., it is never reused).</a:t>
            </a:r>
          </a:p>
          <a:p>
            <a:pPr>
              <a:buFont typeface="Arial" panose="020B0604020202020204" pitchFamily="34" charset="0"/>
              <a:buChar char="•"/>
            </a:pPr>
            <a:r>
              <a:rPr lang="vi-VN" dirty="0"/>
              <a:t>Định danh là </a:t>
            </a:r>
            <a:r>
              <a:rPr lang="vi-VN" b="1" dirty="0"/>
              <a:t>bền vững theo thời gian</a:t>
            </a:r>
            <a:r>
              <a:rPr lang="vi-VN" dirty="0"/>
              <a:t> — không bị tái sử dụng cho thực thể khác.</a:t>
            </a:r>
          </a:p>
          <a:p>
            <a:pPr>
              <a:buFont typeface="Arial" panose="020B0604020202020204" pitchFamily="34" charset="0"/>
              <a:buChar char="•"/>
            </a:pPr>
            <a:r>
              <a:rPr lang="vi-VN" dirty="0"/>
              <a:t>Ví dụ sai: số điện thoại có thể được tái sử dụng, nên </a:t>
            </a:r>
            <a:r>
              <a:rPr lang="vi-VN" b="1" dirty="0"/>
              <a:t>không phù hợp</a:t>
            </a:r>
            <a:r>
              <a:rPr lang="vi-VN" dirty="0"/>
              <a:t> làm identifier.</a:t>
            </a:r>
          </a:p>
          <a:p>
            <a:r>
              <a:rPr lang="vi-VN" b="1" dirty="0"/>
              <a:t>Tóm lại:</a:t>
            </a:r>
            <a:r>
              <a:rPr lang="vi-VN" dirty="0"/>
              <a:t> Identifier đảm bảo tính </a:t>
            </a:r>
            <a:r>
              <a:rPr lang="vi-VN" b="1" dirty="0"/>
              <a:t>duy nhất</a:t>
            </a:r>
            <a:r>
              <a:rPr lang="vi-VN" dirty="0"/>
              <a:t> và </a:t>
            </a:r>
            <a:r>
              <a:rPr lang="vi-VN" b="1" dirty="0"/>
              <a:t>bền vững</a:t>
            </a:r>
            <a:r>
              <a:rPr lang="vi-VN" dirty="0"/>
              <a:t>, giúp hệ thống phân tán xác định thực thể một cách chính xác.</a:t>
            </a:r>
          </a:p>
          <a:p>
            <a:endParaRPr lang="en-US" b="1" dirty="0"/>
          </a:p>
          <a:p>
            <a:r>
              <a:rPr lang="vi-VN" b="1" dirty="0"/>
              <a:t>3. "Observation: An identifier need not necessarily be a pure name, i.e., it may have content."</a:t>
            </a:r>
          </a:p>
          <a:p>
            <a:pPr>
              <a:buFont typeface="Arial" panose="020B0604020202020204" pitchFamily="34" charset="0"/>
              <a:buChar char="•"/>
            </a:pPr>
            <a:r>
              <a:rPr lang="vi-VN" dirty="0"/>
              <a:t>Một identifier </a:t>
            </a:r>
            <a:r>
              <a:rPr lang="vi-VN" b="1" dirty="0"/>
              <a:t>không bắt buộc phải là tên thuần túy (pure name)</a:t>
            </a:r>
            <a:r>
              <a:rPr lang="vi-VN" dirty="0"/>
              <a:t>.</a:t>
            </a:r>
          </a:p>
          <a:p>
            <a:pPr>
              <a:buFont typeface="Arial" panose="020B0604020202020204" pitchFamily="34" charset="0"/>
              <a:buChar char="•"/>
            </a:pPr>
            <a:r>
              <a:rPr lang="vi-VN" dirty="0"/>
              <a:t>Nó </a:t>
            </a:r>
            <a:r>
              <a:rPr lang="vi-VN" b="1" dirty="0"/>
              <a:t>có thể mang nội dung</a:t>
            </a:r>
            <a:r>
              <a:rPr lang="vi-VN" dirty="0"/>
              <a:t> mà con người hiểu được — ví dụ như mã sinh viên SV2023001 hay số căn cước công dân.</a:t>
            </a:r>
          </a:p>
          <a:p>
            <a:pPr>
              <a:buFont typeface="Arial" panose="020B0604020202020204" pitchFamily="34" charset="0"/>
              <a:buChar char="•"/>
            </a:pPr>
            <a:r>
              <a:rPr lang="vi-VN" dirty="0"/>
              <a:t>Điều này nghĩa là: một định danh </a:t>
            </a:r>
            <a:r>
              <a:rPr lang="vi-VN" b="1" dirty="0"/>
              <a:t>vừa có thể chứa thông tin hữu ích</a:t>
            </a:r>
            <a:r>
              <a:rPr lang="vi-VN" dirty="0"/>
              <a:t>, vừa đảm bảo tính duy nhất nếu thiết kế đúng.</a:t>
            </a:r>
          </a:p>
          <a:p>
            <a:endParaRPr lang="en-US" b="1" dirty="0"/>
          </a:p>
          <a:p>
            <a:r>
              <a:rPr lang="en-US" b="1" dirty="0"/>
              <a:t>4. </a:t>
            </a:r>
            <a:r>
              <a:rPr lang="vi-VN" b="1" dirty="0"/>
              <a:t>Ví dụ so sánh đơn giản:</a:t>
            </a:r>
          </a:p>
          <a:p>
            <a:r>
              <a:rPr lang="vi-VN" dirty="0"/>
              <a:t>Loại tên</a:t>
            </a:r>
            <a:r>
              <a:rPr lang="en-US" dirty="0"/>
              <a:t>		</a:t>
            </a:r>
            <a:r>
              <a:rPr lang="vi-VN" dirty="0"/>
              <a:t>Ví dụ</a:t>
            </a:r>
            <a:r>
              <a:rPr lang="en-US" dirty="0"/>
              <a:t>		</a:t>
            </a:r>
            <a:r>
              <a:rPr lang="vi-VN" dirty="0"/>
              <a:t>Ý nghĩa con người hiểu được</a:t>
            </a:r>
            <a:r>
              <a:rPr lang="en-US" dirty="0"/>
              <a:t>		</a:t>
            </a:r>
            <a:r>
              <a:rPr lang="vi-VN" dirty="0"/>
              <a:t>Đảm bảo định danh duy nhất?</a:t>
            </a:r>
            <a:endParaRPr lang="en-US" dirty="0"/>
          </a:p>
          <a:p>
            <a:r>
              <a:rPr lang="vi-VN" dirty="0"/>
              <a:t>Pure name</a:t>
            </a:r>
            <a:r>
              <a:rPr lang="en-US" dirty="0"/>
              <a:t>		</a:t>
            </a:r>
            <a:r>
              <a:rPr lang="vi-VN" dirty="0"/>
              <a:t>7F3C9B12A0</a:t>
            </a:r>
            <a:r>
              <a:rPr lang="en-US" dirty="0"/>
              <a:t>		</a:t>
            </a:r>
            <a:r>
              <a:rPr lang="vi-VN" dirty="0"/>
              <a:t>Khôn</a:t>
            </a:r>
            <a:r>
              <a:rPr lang="en-US" dirty="0"/>
              <a:t>g			</a:t>
            </a:r>
            <a:r>
              <a:rPr lang="vi-VN" dirty="0"/>
              <a:t>Có</a:t>
            </a:r>
            <a:endParaRPr lang="en-US" dirty="0"/>
          </a:p>
          <a:p>
            <a:r>
              <a:rPr lang="vi-VN" dirty="0"/>
              <a:t>Identifier có nội dung</a:t>
            </a:r>
            <a:r>
              <a:rPr lang="en-US" dirty="0"/>
              <a:t>	</a:t>
            </a:r>
            <a:r>
              <a:rPr lang="vi-VN" dirty="0"/>
              <a:t>Student2023_001</a:t>
            </a:r>
            <a:r>
              <a:rPr lang="en-US" dirty="0"/>
              <a:t>	</a:t>
            </a:r>
            <a:r>
              <a:rPr lang="vi-VN" dirty="0"/>
              <a:t>Có</a:t>
            </a:r>
            <a:r>
              <a:rPr lang="en-US" dirty="0"/>
              <a:t>			</a:t>
            </a:r>
            <a:r>
              <a:rPr lang="vi-VN" dirty="0"/>
              <a:t>Có</a:t>
            </a:r>
            <a:endParaRPr lang="en-US" dirty="0"/>
          </a:p>
          <a:p>
            <a:r>
              <a:rPr lang="vi-VN" dirty="0"/>
              <a:t>Tên người</a:t>
            </a:r>
            <a:r>
              <a:rPr lang="en-US" dirty="0"/>
              <a:t>		</a:t>
            </a:r>
            <a:r>
              <a:rPr lang="vi-VN" dirty="0"/>
              <a:t>Nguyễn Văn A</a:t>
            </a:r>
            <a:r>
              <a:rPr lang="en-US" dirty="0"/>
              <a:t>		</a:t>
            </a:r>
            <a:r>
              <a:rPr lang="vi-VN" dirty="0"/>
              <a:t>Có</a:t>
            </a:r>
            <a:r>
              <a:rPr lang="en-US" dirty="0"/>
              <a:t>			</a:t>
            </a:r>
            <a:r>
              <a:rPr lang="vi-VN" dirty="0"/>
              <a:t>Không (có thể trùng)</a:t>
            </a:r>
            <a:endParaRPr lang="en-US" dirty="0"/>
          </a:p>
          <a:p>
            <a:r>
              <a:rPr lang="vi-VN" dirty="0"/>
              <a:t>Địa chỉ IP</a:t>
            </a:r>
            <a:r>
              <a:rPr lang="en-US" dirty="0"/>
              <a:t>		</a:t>
            </a:r>
            <a:r>
              <a:rPr lang="vi-VN" dirty="0"/>
              <a:t>192.168.1.10</a:t>
            </a:r>
            <a:r>
              <a:rPr lang="en-US" dirty="0"/>
              <a:t>		</a:t>
            </a:r>
            <a:r>
              <a:rPr lang="vi-VN" dirty="0"/>
              <a:t>Có</a:t>
            </a:r>
            <a:r>
              <a:rPr lang="en-US" dirty="0"/>
              <a:t>			</a:t>
            </a:r>
            <a:r>
              <a:rPr lang="vi-VN" dirty="0"/>
              <a:t>Không ổn định</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a:t>
            </a:fld>
            <a:endParaRPr lang="en-US"/>
          </a:p>
        </p:txBody>
      </p:sp>
    </p:spTree>
    <p:extLst>
      <p:ext uri="{BB962C8B-B14F-4D97-AF65-F5344CB8AC3E}">
        <p14:creationId xmlns:p14="http://schemas.microsoft.com/office/powerpoint/2010/main" val="2962717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"Broadcasting"</a:t>
            </a:r>
            <a:r>
              <a:rPr lang="vi-VN" dirty="0"/>
              <a:t> trong ngữ cảnh mạng máy tính, đặc biệt là trong </a:t>
            </a:r>
            <a:r>
              <a:rPr lang="vi-VN" b="1" dirty="0"/>
              <a:t>hệ thống phân tán</a:t>
            </a:r>
            <a:r>
              <a:rPr lang="vi-VN" dirty="0"/>
              <a:t> hoặc </a:t>
            </a:r>
            <a:r>
              <a:rPr lang="vi-VN" b="1" dirty="0"/>
              <a:t>giao tiếp giữa các thực thể mạng</a:t>
            </a:r>
            <a:r>
              <a:rPr lang="vi-VN" dirty="0"/>
              <a:t>:</a:t>
            </a:r>
          </a:p>
          <a:p>
            <a:endParaRPr lang="en-US" b="1" dirty="0"/>
          </a:p>
          <a:p>
            <a:r>
              <a:rPr lang="vi-VN" b="1" dirty="0"/>
              <a:t>1. Broadcasting</a:t>
            </a:r>
          </a:p>
          <a:p>
            <a:r>
              <a:rPr lang="vi-VN" b="1" dirty="0"/>
              <a:t>Broadcasting</a:t>
            </a:r>
            <a:r>
              <a:rPr lang="vi-VN" dirty="0"/>
              <a:t> là hình thức gửi một gói tin tới </a:t>
            </a:r>
            <a:r>
              <a:rPr lang="vi-VN" b="1" dirty="0"/>
              <a:t>tất cả các thiết bị</a:t>
            </a:r>
            <a:r>
              <a:rPr lang="vi-VN" dirty="0"/>
              <a:t> trong cùng một mạng cục bộ (Local Area Network - LAN).</a:t>
            </a:r>
          </a:p>
          <a:p>
            <a:r>
              <a:rPr lang="en-US" b="1" dirty="0"/>
              <a:t>- </a:t>
            </a:r>
            <a:r>
              <a:rPr lang="vi-VN" b="1" dirty="0"/>
              <a:t>"Broadcast the ID, requesting the entity to return its current address"</a:t>
            </a:r>
          </a:p>
          <a:p>
            <a:pPr>
              <a:buFont typeface="Arial" panose="020B0604020202020204" pitchFamily="34" charset="0"/>
              <a:buChar char="•"/>
            </a:pPr>
            <a:r>
              <a:rPr lang="vi-VN" dirty="0"/>
              <a:t>Điều này nghĩa là một tiến trình (process) không biết địa chỉ hiện tại (ví dụ như địa chỉ IP hay địa chỉ MAC) của một thực thể khác (entity), nên nó </a:t>
            </a:r>
            <a:r>
              <a:rPr lang="vi-VN" b="1" dirty="0"/>
              <a:t>gửi một broadcast</a:t>
            </a:r>
            <a:r>
              <a:rPr lang="vi-VN" dirty="0"/>
              <a:t> đến toàn bộ mạng với nội dung đại loại như:</a:t>
            </a:r>
            <a:br>
              <a:rPr lang="vi-VN" dirty="0"/>
            </a:br>
            <a:r>
              <a:rPr lang="en-US" dirty="0"/>
              <a:t>=&gt;</a:t>
            </a:r>
            <a:r>
              <a:rPr lang="vi-VN" dirty="0"/>
              <a:t> "Ai có ID này? Hãy trả lời với địa chỉ hiện tại của bạn."</a:t>
            </a:r>
          </a:p>
          <a:p>
            <a:pPr>
              <a:buFont typeface="Arial" panose="020B0604020202020204" pitchFamily="34" charset="0"/>
              <a:buChar char="•"/>
            </a:pPr>
            <a:r>
              <a:rPr lang="vi-VN" dirty="0"/>
              <a:t>Đây là phương pháp đơn giản để tìm kiếm thông tin vị trí (address/location) của một thực thể trong mạng.</a:t>
            </a:r>
          </a:p>
          <a:p>
            <a:endParaRPr lang="en-US" b="1" dirty="0"/>
          </a:p>
          <a:p>
            <a:r>
              <a:rPr lang="en-US" b="1" dirty="0"/>
              <a:t>-</a:t>
            </a:r>
            <a:r>
              <a:rPr lang="vi-VN" b="1" dirty="0"/>
              <a:t>"Can never scale beyond local-area networks"</a:t>
            </a:r>
          </a:p>
          <a:p>
            <a:pPr>
              <a:buFont typeface="Arial" panose="020B0604020202020204" pitchFamily="34" charset="0"/>
              <a:buChar char="•"/>
            </a:pPr>
            <a:r>
              <a:rPr lang="vi-VN" dirty="0"/>
              <a:t>Broadcasting chỉ hoạt động trong một LAN vì:</a:t>
            </a:r>
          </a:p>
          <a:p>
            <a:pPr marL="742950" lvl="1" indent="-285750">
              <a:buFont typeface="Arial" panose="020B0604020202020204" pitchFamily="34" charset="0"/>
              <a:buChar char="•"/>
            </a:pPr>
            <a:r>
              <a:rPr lang="vi-VN" dirty="0"/>
              <a:t>Các gói broadcast </a:t>
            </a:r>
            <a:r>
              <a:rPr lang="vi-VN" b="1" dirty="0"/>
              <a:t>không đi qua router</a:t>
            </a:r>
            <a:r>
              <a:rPr lang="vi-VN" dirty="0"/>
              <a:t> (trừ khi có cấu hình đặc biệt).</a:t>
            </a:r>
          </a:p>
          <a:p>
            <a:pPr marL="742950" lvl="1" indent="-285750">
              <a:buFont typeface="Arial" panose="020B0604020202020204" pitchFamily="34" charset="0"/>
              <a:buChar char="•"/>
            </a:pPr>
            <a:r>
              <a:rPr lang="vi-VN" dirty="0"/>
              <a:t>Trên mạng diện rộng (WAN), số lượng thiết bị quá lớn khiến broadcast gây </a:t>
            </a:r>
            <a:r>
              <a:rPr lang="vi-VN" b="1" dirty="0"/>
              <a:t>nghẽn mạng</a:t>
            </a:r>
            <a:r>
              <a:rPr lang="vi-VN" dirty="0"/>
              <a:t> và </a:t>
            </a:r>
            <a:r>
              <a:rPr lang="vi-VN" b="1" dirty="0"/>
              <a:t>thiếu hiệu quả</a:t>
            </a:r>
            <a:r>
              <a:rPr lang="vi-VN" dirty="0"/>
              <a:t>.</a:t>
            </a:r>
          </a:p>
          <a:p>
            <a:r>
              <a:rPr lang="en-US" dirty="0"/>
              <a:t>=&gt;</a:t>
            </a:r>
            <a:r>
              <a:rPr lang="vi-VN" dirty="0"/>
              <a:t> Vì vậy, phương pháp broadcast </a:t>
            </a:r>
            <a:r>
              <a:rPr lang="vi-VN" b="1" dirty="0"/>
              <a:t>không thể mở rộng</a:t>
            </a:r>
            <a:r>
              <a:rPr lang="vi-VN" dirty="0"/>
              <a:t> ra ngoài phạm vi mạng cục bộ.</a:t>
            </a:r>
          </a:p>
          <a:p>
            <a:endParaRPr lang="en-US" b="1" dirty="0"/>
          </a:p>
          <a:p>
            <a:r>
              <a:rPr lang="en-US" b="1" dirty="0"/>
              <a:t>-</a:t>
            </a:r>
            <a:r>
              <a:rPr lang="vi-VN" b="1" dirty="0"/>
              <a:t>"Requires all processes to listen to incoming location requests"</a:t>
            </a:r>
          </a:p>
          <a:p>
            <a:pPr>
              <a:buFont typeface="Arial" panose="020B0604020202020204" pitchFamily="34" charset="0"/>
              <a:buChar char="•"/>
            </a:pPr>
            <a:r>
              <a:rPr lang="vi-VN" dirty="0"/>
              <a:t>Khi dùng broadcast để tìm kiếm địa chỉ:</a:t>
            </a:r>
          </a:p>
          <a:p>
            <a:pPr marL="742950" lvl="1" indent="-285750">
              <a:buFont typeface="Arial" panose="020B0604020202020204" pitchFamily="34" charset="0"/>
              <a:buChar char="•"/>
            </a:pPr>
            <a:r>
              <a:rPr lang="vi-VN" b="1" dirty="0"/>
              <a:t>Mọi tiến trình trong mạng</a:t>
            </a:r>
            <a:r>
              <a:rPr lang="vi-VN" dirty="0"/>
              <a:t> đều phải “lắng nghe” các gói broadcast để xác định xem ID có khớp với mình không.</a:t>
            </a:r>
          </a:p>
          <a:p>
            <a:pPr marL="742950" lvl="1" indent="-285750">
              <a:buFont typeface="Arial" panose="020B0604020202020204" pitchFamily="34" charset="0"/>
              <a:buChar char="•"/>
            </a:pPr>
            <a:r>
              <a:rPr lang="vi-VN" dirty="0"/>
              <a:t>Điều này tạo ra </a:t>
            </a:r>
            <a:r>
              <a:rPr lang="vi-VN" b="1" dirty="0"/>
              <a:t>gánh nặng tính toán và truyền thông</a:t>
            </a:r>
            <a:r>
              <a:rPr lang="vi-VN" dirty="0"/>
              <a:t> cho toàn bộ hệ thống.</a:t>
            </a:r>
          </a:p>
          <a:p>
            <a:endParaRPr lang="en-US" b="1" dirty="0"/>
          </a:p>
          <a:p>
            <a:r>
              <a:rPr lang="vi-VN" b="1" dirty="0"/>
              <a:t>2. Address Resolution Protocol (ARP)</a:t>
            </a:r>
          </a:p>
          <a:p>
            <a:r>
              <a:rPr lang="vi-VN" dirty="0"/>
              <a:t>ARP là một ví dụ </a:t>
            </a:r>
            <a:r>
              <a:rPr lang="vi-VN" b="1" dirty="0"/>
              <a:t>cụ thể</a:t>
            </a:r>
            <a:r>
              <a:rPr lang="vi-VN" dirty="0"/>
              <a:t> của việc sử dụng broadcast để tìm kiếm địa chỉ.</a:t>
            </a:r>
          </a:p>
          <a:p>
            <a:r>
              <a:rPr lang="en-US" b="1" dirty="0"/>
              <a:t>- </a:t>
            </a:r>
            <a:r>
              <a:rPr lang="vi-VN" b="1" dirty="0"/>
              <a:t>"To find out which MAC address is associated with an IP address, broadcast the query 'who has this IP address?'"</a:t>
            </a:r>
          </a:p>
          <a:p>
            <a:pPr>
              <a:buFont typeface="Arial" panose="020B0604020202020204" pitchFamily="34" charset="0"/>
              <a:buChar char="•"/>
            </a:pPr>
            <a:r>
              <a:rPr lang="vi-VN" dirty="0"/>
              <a:t>Mỗi máy trong một mạng LAN có:</a:t>
            </a:r>
          </a:p>
          <a:p>
            <a:pPr marL="742950" lvl="1" indent="-285750">
              <a:buFont typeface="Arial" panose="020B0604020202020204" pitchFamily="34" charset="0"/>
              <a:buChar char="•"/>
            </a:pPr>
            <a:r>
              <a:rPr lang="vi-VN" b="1" dirty="0"/>
              <a:t>Địa chỉ IP</a:t>
            </a:r>
            <a:r>
              <a:rPr lang="vi-VN" dirty="0"/>
              <a:t>: định danh ở tầng mạng (Layer 3).</a:t>
            </a:r>
          </a:p>
          <a:p>
            <a:pPr marL="742950" lvl="1" indent="-285750">
              <a:buFont typeface="Arial" panose="020B0604020202020204" pitchFamily="34" charset="0"/>
              <a:buChar char="•"/>
            </a:pPr>
            <a:r>
              <a:rPr lang="vi-VN" b="1" dirty="0"/>
              <a:t>Địa chỉ MAC</a:t>
            </a:r>
            <a:r>
              <a:rPr lang="vi-VN" dirty="0"/>
              <a:t>: định danh ở tầng liên kết dữ liệu (Layer 2).</a:t>
            </a:r>
          </a:p>
          <a:p>
            <a:pPr>
              <a:buFont typeface="Arial" panose="020B0604020202020204" pitchFamily="34" charset="0"/>
              <a:buChar char="•"/>
            </a:pPr>
            <a:r>
              <a:rPr lang="vi-VN" dirty="0"/>
              <a:t>Khi một máy cần gửi gói dữ liệu đến một IP, nó cần biết </a:t>
            </a:r>
            <a:r>
              <a:rPr lang="vi-VN" b="1" dirty="0"/>
              <a:t>địa chỉ MAC tương ứng</a:t>
            </a:r>
            <a:r>
              <a:rPr lang="vi-VN" dirty="0"/>
              <a:t>.</a:t>
            </a:r>
          </a:p>
          <a:p>
            <a:r>
              <a:rPr lang="en-US" dirty="0"/>
              <a:t>=&gt;</a:t>
            </a:r>
            <a:r>
              <a:rPr lang="vi-VN" dirty="0"/>
              <a:t> </a:t>
            </a:r>
            <a:r>
              <a:rPr lang="vi-VN" b="1" dirty="0"/>
              <a:t>ARP</a:t>
            </a:r>
            <a:r>
              <a:rPr lang="vi-VN" dirty="0"/>
              <a:t> thực hiện điều này bằng cách </a:t>
            </a:r>
            <a:r>
              <a:rPr lang="vi-VN" b="1" dirty="0"/>
              <a:t>broadcast</a:t>
            </a:r>
            <a:r>
              <a:rPr lang="vi-VN" dirty="0"/>
              <a:t> gói tin với nội dung:</a:t>
            </a:r>
          </a:p>
          <a:p>
            <a:r>
              <a:rPr lang="vi-VN" dirty="0"/>
              <a:t>"Ai đang có địa chỉ IP này? Hãy trả lời tôi với địa chỉ MAC của bạn."</a:t>
            </a:r>
          </a:p>
          <a:p>
            <a:pPr>
              <a:buFont typeface="Arial" panose="020B0604020202020204" pitchFamily="34" charset="0"/>
              <a:buChar char="•"/>
            </a:pPr>
            <a:r>
              <a:rPr lang="vi-VN" dirty="0"/>
              <a:t>Máy sở hữu IP đó sẽ trả lời bằng </a:t>
            </a:r>
            <a:r>
              <a:rPr lang="vi-VN" b="1" dirty="0"/>
              <a:t>unicast</a:t>
            </a:r>
            <a:r>
              <a:rPr lang="vi-VN" dirty="0"/>
              <a:t> (gửi riêng) địa chỉ MAC của nó.</a:t>
            </a:r>
          </a:p>
          <a:p>
            <a:endParaRPr lang="en-US" b="1" dirty="0"/>
          </a:p>
          <a:p>
            <a:r>
              <a:rPr lang="vi-VN" b="1" dirty="0"/>
              <a:t>Tóm lại</a:t>
            </a:r>
          </a:p>
          <a:p>
            <a:pPr>
              <a:buFont typeface="Arial" panose="020B0604020202020204" pitchFamily="34" charset="0"/>
              <a:buChar char="•"/>
            </a:pPr>
            <a:r>
              <a:rPr lang="vi-VN" b="1" dirty="0"/>
              <a:t>Broadcasting</a:t>
            </a:r>
            <a:r>
              <a:rPr lang="vi-VN" dirty="0"/>
              <a:t> là cách tìm kiếm đơn giản nhưng chỉ phù hợp với mạng nhỏ (LAN).</a:t>
            </a:r>
          </a:p>
          <a:p>
            <a:pPr>
              <a:buFont typeface="Arial" panose="020B0604020202020204" pitchFamily="34" charset="0"/>
              <a:buChar char="•"/>
            </a:pPr>
            <a:r>
              <a:rPr lang="vi-VN" b="1" dirty="0"/>
              <a:t>ARP</a:t>
            </a:r>
            <a:r>
              <a:rPr lang="vi-VN" dirty="0"/>
              <a:t> là giao thức dùng broadcast để tìm địa chỉ MAC từ địa chỉ IP.</a:t>
            </a:r>
          </a:p>
          <a:p>
            <a:pPr>
              <a:buFont typeface="Arial" panose="020B0604020202020204" pitchFamily="34" charset="0"/>
              <a:buChar char="•"/>
            </a:pPr>
            <a:r>
              <a:rPr lang="vi-VN" dirty="0"/>
              <a:t>Phương pháp này không hiệu quả ở quy mô lớn, do broadcast gây quá tải và yêu cầu mọi thiết bị đều phản ứng với yêu cầu tìm kiếm.</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a:t>
            </a:fld>
            <a:endParaRPr lang="en-US"/>
          </a:p>
        </p:txBody>
      </p:sp>
    </p:spTree>
    <p:extLst>
      <p:ext uri="{BB962C8B-B14F-4D97-AF65-F5344CB8AC3E}">
        <p14:creationId xmlns:p14="http://schemas.microsoft.com/office/powerpoint/2010/main" val="904757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Forwarding Pointers</a:t>
            </a:r>
            <a:r>
              <a:rPr lang="en-US" b="1" dirty="0"/>
              <a:t> – </a:t>
            </a:r>
            <a:r>
              <a:rPr lang="en-US" b="1" dirty="0" err="1"/>
              <a:t>Chuyển</a:t>
            </a:r>
            <a:r>
              <a:rPr lang="en-US" b="1" dirty="0"/>
              <a:t> </a:t>
            </a:r>
            <a:r>
              <a:rPr lang="en-US" b="1" dirty="0" err="1"/>
              <a:t>tiếp</a:t>
            </a:r>
            <a:r>
              <a:rPr lang="en-US" b="1" dirty="0"/>
              <a:t> con </a:t>
            </a:r>
            <a:r>
              <a:rPr lang="en-US" b="1" dirty="0" err="1"/>
              <a:t>trỏ</a:t>
            </a:r>
            <a:endParaRPr lang="en-US" b="1" dirty="0"/>
          </a:p>
          <a:p>
            <a:endParaRPr lang="vi-VN" b="1" dirty="0"/>
          </a:p>
          <a:p>
            <a:r>
              <a:rPr lang="vi-VN" b="1" dirty="0"/>
              <a:t>"When an entity moves, it leaves behind a pointer to its next location"</a:t>
            </a:r>
          </a:p>
          <a:p>
            <a:pPr>
              <a:buFont typeface="Arial" panose="020B0604020202020204" pitchFamily="34" charset="0"/>
              <a:buChar char="•"/>
            </a:pPr>
            <a:r>
              <a:rPr lang="vi-VN" dirty="0"/>
              <a:t>Khi một thực thể </a:t>
            </a:r>
            <a:r>
              <a:rPr lang="vi-VN" b="1" dirty="0"/>
              <a:t>di chuyển từ nơi này đến nơi khác</a:t>
            </a:r>
            <a:r>
              <a:rPr lang="vi-VN" dirty="0"/>
              <a:t> (ví dụ: từ máy A sang máy B), thay vì phát broadcast để thông báo với tất cả mọi người, nó sẽ </a:t>
            </a:r>
            <a:r>
              <a:rPr lang="vi-VN" b="1" dirty="0"/>
              <a:t>để lại một "con trỏ chuyển tiếp" (forwarding pointer)</a:t>
            </a:r>
            <a:r>
              <a:rPr lang="vi-VN" dirty="0"/>
              <a:t> tại vị trí cũ trỏ đến vị trí mới.</a:t>
            </a:r>
          </a:p>
          <a:p>
            <a:pPr rtl="0">
              <a:buFont typeface="Arial" panose="020B0604020202020204" pitchFamily="34" charset="0"/>
              <a:buNone/>
            </a:pPr>
            <a:endParaRPr lang="en-US" dirty="0"/>
          </a:p>
          <a:p>
            <a:pPr rtl="0">
              <a:buFont typeface="Arial" panose="020B0604020202020204" pitchFamily="34" charset="0"/>
              <a:buNone/>
            </a:pPr>
            <a:r>
              <a:rPr lang="en-US" dirty="0" err="1"/>
              <a:t>Ví</a:t>
            </a:r>
            <a:r>
              <a:rPr lang="en-US" dirty="0"/>
              <a:t> </a:t>
            </a:r>
            <a:r>
              <a:rPr lang="en-US" dirty="0" err="1"/>
              <a:t>dụ</a:t>
            </a:r>
            <a:r>
              <a:rPr lang="en-US" dirty="0"/>
              <a:t>:</a:t>
            </a:r>
          </a:p>
          <a:p>
            <a:pPr rtl="0">
              <a:buFont typeface="Arial" panose="020B0604020202020204" pitchFamily="34" charset="0"/>
              <a:buNone/>
            </a:pPr>
            <a:r>
              <a:rPr lang="vi-VN" dirty="0"/>
              <a:t>Client biết Entity tại A </a:t>
            </a:r>
            <a:endParaRPr lang="en-US" dirty="0"/>
          </a:p>
          <a:p>
            <a:pPr rtl="0">
              <a:buFont typeface="Arial" panose="020B0604020202020204" pitchFamily="34" charset="0"/>
              <a:buNone/>
            </a:pPr>
            <a:r>
              <a:rPr lang="vi-VN" dirty="0"/>
              <a:t>Entity chuyển đến B → A lưu pointer → B</a:t>
            </a:r>
            <a:endParaRPr lang="en-US" dirty="0"/>
          </a:p>
          <a:p>
            <a:pPr rtl="0">
              <a:buFont typeface="Arial" panose="020B0604020202020204" pitchFamily="34" charset="0"/>
              <a:buNone/>
            </a:pPr>
            <a:r>
              <a:rPr lang="vi-VN" dirty="0"/>
              <a:t>Entity tiếp tục đến C → B lưu pointer → C </a:t>
            </a:r>
          </a:p>
          <a:p>
            <a:endParaRPr lang="en-US" b="1" dirty="0"/>
          </a:p>
          <a:p>
            <a:r>
              <a:rPr lang="vi-VN" b="1" dirty="0"/>
              <a:t>Ưu điểm</a:t>
            </a:r>
          </a:p>
          <a:p>
            <a:r>
              <a:rPr lang="en-US" b="1" dirty="0"/>
              <a:t>-</a:t>
            </a:r>
            <a:r>
              <a:rPr lang="vi-VN" b="1" dirty="0"/>
              <a:t> "Dereferencing can be made entirely transparent to clients by simply following the chain of pointers"</a:t>
            </a:r>
          </a:p>
          <a:p>
            <a:pPr>
              <a:buFont typeface="Arial" panose="020B0604020202020204" pitchFamily="34" charset="0"/>
              <a:buChar char="•"/>
            </a:pPr>
            <a:r>
              <a:rPr lang="vi-VN" dirty="0"/>
              <a:t>Khi client cần giao tiếp với entity:</a:t>
            </a:r>
          </a:p>
          <a:p>
            <a:pPr marL="742950" lvl="1" indent="-285750">
              <a:buFont typeface="Arial" panose="020B0604020202020204" pitchFamily="34" charset="0"/>
              <a:buChar char="•"/>
            </a:pPr>
            <a:r>
              <a:rPr lang="vi-VN" dirty="0"/>
              <a:t>Nó sẽ bắt đầu từ vị trí đã biết trước (ví dụ: A).</a:t>
            </a:r>
          </a:p>
          <a:p>
            <a:pPr marL="742950" lvl="1" indent="-285750">
              <a:buFont typeface="Arial" panose="020B0604020202020204" pitchFamily="34" charset="0"/>
              <a:buChar char="•"/>
            </a:pPr>
            <a:r>
              <a:rPr lang="vi-VN" dirty="0"/>
              <a:t>Hệ thống sẽ </a:t>
            </a:r>
            <a:r>
              <a:rPr lang="vi-VN" b="1" dirty="0"/>
              <a:t>tự động đi theo các forwarding pointer</a:t>
            </a:r>
            <a:r>
              <a:rPr lang="vi-VN" dirty="0"/>
              <a:t> để đến vị trí hiện tại (C).</a:t>
            </a:r>
          </a:p>
          <a:p>
            <a:pPr marL="742950" lvl="1" indent="-285750">
              <a:buFont typeface="Arial" panose="020B0604020202020204" pitchFamily="34" charset="0"/>
              <a:buChar char="•"/>
            </a:pPr>
            <a:r>
              <a:rPr lang="vi-VN" dirty="0"/>
              <a:t>Toàn bộ quá trình này có thể được ẩn đi, khiến client </a:t>
            </a:r>
            <a:r>
              <a:rPr lang="vi-VN" b="1" dirty="0"/>
              <a:t>không cần quan tâm đến sự di chuyển</a:t>
            </a:r>
            <a:r>
              <a:rPr lang="vi-VN" dirty="0"/>
              <a:t> của entity.</a:t>
            </a:r>
          </a:p>
          <a:p>
            <a:r>
              <a:rPr lang="en-US" b="1" dirty="0"/>
              <a:t>-</a:t>
            </a:r>
            <a:r>
              <a:rPr lang="vi-VN" b="1" dirty="0"/>
              <a:t> "Update a client’s reference when present location is found"</a:t>
            </a:r>
          </a:p>
          <a:p>
            <a:pPr>
              <a:buFont typeface="Arial" panose="020B0604020202020204" pitchFamily="34" charset="0"/>
              <a:buChar char="•"/>
            </a:pPr>
            <a:r>
              <a:rPr lang="vi-VN" dirty="0"/>
              <a:t>Khi tìm ra vị trí hiện tại (ví dụ: C), client có thể </a:t>
            </a:r>
            <a:r>
              <a:rPr lang="vi-VN" b="1" dirty="0"/>
              <a:t>cập nhật lại thông tin địa chỉ mới</a:t>
            </a:r>
            <a:r>
              <a:rPr lang="vi-VN" dirty="0"/>
              <a:t> để:</a:t>
            </a:r>
          </a:p>
          <a:p>
            <a:pPr marL="742950" lvl="1" indent="-285750">
              <a:buFont typeface="Arial" panose="020B0604020202020204" pitchFamily="34" charset="0"/>
              <a:buChar char="•"/>
            </a:pPr>
            <a:r>
              <a:rPr lang="vi-VN" dirty="0"/>
              <a:t>Lần sau truy cập trực tiếp mà không cần theo chuỗi pointer nữa.</a:t>
            </a:r>
          </a:p>
          <a:p>
            <a:pPr marL="742950" lvl="1" indent="-285750">
              <a:buFont typeface="Arial" panose="020B0604020202020204" pitchFamily="34" charset="0"/>
              <a:buChar char="•"/>
            </a:pPr>
            <a:r>
              <a:rPr lang="vi-VN" dirty="0"/>
              <a:t>Giảm độ trễ và số bước truy tìm.</a:t>
            </a:r>
          </a:p>
          <a:p>
            <a:endParaRPr lang="en-US" b="1" dirty="0"/>
          </a:p>
          <a:p>
            <a:r>
              <a:rPr lang="vi-VN" b="1" dirty="0"/>
              <a:t>Nhược điểm / Vấn đề</a:t>
            </a:r>
          </a:p>
          <a:p>
            <a:r>
              <a:rPr lang="en-US" b="1" dirty="0"/>
              <a:t>- </a:t>
            </a:r>
            <a:r>
              <a:rPr lang="vi-VN" b="1" dirty="0"/>
              <a:t>"Geographical scalability problems (for which separate chain reduction mechanisms are needed)"</a:t>
            </a:r>
          </a:p>
          <a:p>
            <a:pPr>
              <a:buFont typeface="Arial" panose="020B0604020202020204" pitchFamily="34" charset="0"/>
              <a:buChar char="•"/>
            </a:pPr>
            <a:r>
              <a:rPr lang="vi-VN" dirty="0"/>
              <a:t>Nếu thực thể </a:t>
            </a:r>
            <a:r>
              <a:rPr lang="vi-VN" b="1" dirty="0"/>
              <a:t>di chuyển quá nhiều</a:t>
            </a:r>
            <a:r>
              <a:rPr lang="vi-VN" dirty="0"/>
              <a:t>, chuỗi pointer sẽ trở nên </a:t>
            </a:r>
            <a:r>
              <a:rPr lang="vi-VN" b="1" dirty="0"/>
              <a:t>rất dài</a:t>
            </a:r>
            <a:r>
              <a:rPr lang="vi-VN" dirty="0"/>
              <a:t>:</a:t>
            </a:r>
          </a:p>
          <a:p>
            <a:pPr marL="742950" lvl="1" indent="-285750">
              <a:buFont typeface="Arial" panose="020B0604020202020204" pitchFamily="34" charset="0"/>
              <a:buChar char="•"/>
            </a:pPr>
            <a:r>
              <a:rPr lang="vi-VN" dirty="0"/>
              <a:t>Gây ra </a:t>
            </a:r>
            <a:r>
              <a:rPr lang="vi-VN" b="1" dirty="0"/>
              <a:t>tăng độ trễ</a:t>
            </a:r>
            <a:r>
              <a:rPr lang="vi-VN" dirty="0"/>
              <a:t> khi truy cập.</a:t>
            </a:r>
          </a:p>
          <a:p>
            <a:pPr marL="742950" lvl="1" indent="-285750">
              <a:buFont typeface="Arial" panose="020B0604020202020204" pitchFamily="34" charset="0"/>
              <a:buChar char="•"/>
            </a:pPr>
            <a:r>
              <a:rPr lang="vi-VN" dirty="0"/>
              <a:t>Gây khó khăn khi hệ thống phân tán rộng khắp (geographically distributed).</a:t>
            </a:r>
          </a:p>
          <a:p>
            <a:r>
              <a:rPr lang="en-US" b="1" dirty="0"/>
              <a:t>-</a:t>
            </a:r>
            <a:r>
              <a:rPr lang="vi-VN" b="1" dirty="0"/>
              <a:t> "Long chains are not fault tolerant"</a:t>
            </a:r>
          </a:p>
          <a:p>
            <a:pPr>
              <a:buFont typeface="Arial" panose="020B0604020202020204" pitchFamily="34" charset="0"/>
              <a:buChar char="•"/>
            </a:pPr>
            <a:r>
              <a:rPr lang="vi-VN" dirty="0"/>
              <a:t>Nếu </a:t>
            </a:r>
            <a:r>
              <a:rPr lang="vi-VN" b="1" dirty="0"/>
              <a:t>một nút trung gian bị lỗi hoặc mất kết nối</a:t>
            </a:r>
            <a:r>
              <a:rPr lang="vi-VN" dirty="0"/>
              <a:t> (ví dụ: B chết), client sẽ </a:t>
            </a:r>
            <a:r>
              <a:rPr lang="vi-VN" b="1" dirty="0"/>
              <a:t>không thể truy cập đến vị trí cuối cùng</a:t>
            </a:r>
            <a:r>
              <a:rPr lang="vi-VN" dirty="0"/>
              <a:t>.</a:t>
            </a:r>
          </a:p>
          <a:p>
            <a:pPr>
              <a:buFont typeface="Arial" panose="020B0604020202020204" pitchFamily="34" charset="0"/>
              <a:buChar char="•"/>
            </a:pPr>
            <a:r>
              <a:rPr lang="vi-VN" dirty="0"/>
              <a:t>Điều này làm cho hệ thống </a:t>
            </a:r>
            <a:r>
              <a:rPr lang="vi-VN" b="1" dirty="0"/>
              <a:t>kém ổn định và không chịu lỗi tốt</a:t>
            </a:r>
            <a:r>
              <a:rPr lang="vi-VN" dirty="0"/>
              <a:t>.</a:t>
            </a:r>
          </a:p>
          <a:p>
            <a:r>
              <a:rPr lang="en-US" b="1" dirty="0"/>
              <a:t>-</a:t>
            </a:r>
            <a:r>
              <a:rPr lang="vi-VN" b="1" dirty="0"/>
              <a:t> "Increased network latency at dereferencing"</a:t>
            </a:r>
          </a:p>
          <a:p>
            <a:pPr>
              <a:buFont typeface="Arial" panose="020B0604020202020204" pitchFamily="34" charset="0"/>
              <a:buChar char="•"/>
            </a:pPr>
            <a:r>
              <a:rPr lang="vi-VN" dirty="0"/>
              <a:t>Mỗi lần dereference (theo chuỗi pointer) sẽ </a:t>
            </a:r>
            <a:r>
              <a:rPr lang="vi-VN" b="1" dirty="0"/>
              <a:t>tốn thời gian và tài nguyên mạng</a:t>
            </a:r>
            <a:r>
              <a:rPr lang="vi-VN" dirty="0"/>
              <a:t>, nhất là khi chuỗi dài.</a:t>
            </a:r>
          </a:p>
          <a:p>
            <a:endParaRPr lang="en-US" b="1" dirty="0"/>
          </a:p>
          <a:p>
            <a:r>
              <a:rPr lang="vi-VN" b="1" dirty="0"/>
              <a:t>Tóm tắt:</a:t>
            </a:r>
          </a:p>
          <a:p>
            <a:r>
              <a:rPr lang="vi-VN" dirty="0"/>
              <a:t>Ưu điểm</a:t>
            </a:r>
            <a:r>
              <a:rPr lang="en-US" dirty="0"/>
              <a:t>			</a:t>
            </a:r>
            <a:r>
              <a:rPr lang="vi-VN" dirty="0"/>
              <a:t>Nhược điểm</a:t>
            </a:r>
            <a:endParaRPr lang="en-US" dirty="0"/>
          </a:p>
          <a:p>
            <a:r>
              <a:rPr lang="vi-VN" dirty="0"/>
              <a:t>Không cần broadcast</a:t>
            </a:r>
            <a:r>
              <a:rPr lang="en-US" dirty="0"/>
              <a:t>		</a:t>
            </a:r>
            <a:r>
              <a:rPr lang="vi-VN" dirty="0"/>
              <a:t>Không chịu lỗi nếu chuỗi dài</a:t>
            </a:r>
            <a:endParaRPr lang="en-US" dirty="0"/>
          </a:p>
          <a:p>
            <a:r>
              <a:rPr lang="vi-VN" dirty="0"/>
              <a:t>Client không cần biết vị trí mới</a:t>
            </a:r>
            <a:r>
              <a:rPr lang="en-US" dirty="0"/>
              <a:t>	</a:t>
            </a:r>
            <a:r>
              <a:rPr lang="vi-VN" dirty="0"/>
              <a:t>Độ trễ cao nếu chuỗi dài</a:t>
            </a:r>
            <a:endParaRPr lang="en-US" dirty="0"/>
          </a:p>
          <a:p>
            <a:r>
              <a:rPr lang="vi-VN" dirty="0"/>
              <a:t>Có thể cập nhật lại thông tin</a:t>
            </a:r>
            <a:r>
              <a:rPr lang="en-US" dirty="0"/>
              <a:t>		</a:t>
            </a:r>
            <a:r>
              <a:rPr lang="vi-VN" dirty="0"/>
              <a:t>Không phù hợp cho hệ thống di chuyển thường xuyên</a:t>
            </a:r>
          </a:p>
          <a:p>
            <a:endParaRPr lang="en-US" b="1" dirty="0"/>
          </a:p>
          <a:p>
            <a:r>
              <a:rPr lang="vi-VN" b="1" dirty="0"/>
              <a:t>Ứng dụng thực tế (ví dụ):</a:t>
            </a:r>
          </a:p>
          <a:p>
            <a:pPr>
              <a:buFont typeface="Arial" panose="020B0604020202020204" pitchFamily="34" charset="0"/>
              <a:buChar char="•"/>
            </a:pPr>
            <a:r>
              <a:rPr lang="vi-VN" b="1" dirty="0"/>
              <a:t>Mobile IP</a:t>
            </a:r>
            <a:r>
              <a:rPr lang="vi-VN" dirty="0"/>
              <a:t>: Thiết bị di động thay đổi mạng sẽ để lại "home agent" làm trung gian chuyển tiếp.</a:t>
            </a:r>
          </a:p>
          <a:p>
            <a:pPr>
              <a:buFont typeface="Arial" panose="020B0604020202020204" pitchFamily="34" charset="0"/>
              <a:buChar char="•"/>
            </a:pPr>
            <a:r>
              <a:rPr lang="vi-VN" b="1" dirty="0"/>
              <a:t>Hệ thống quản lý đối tượng di động (mobile objects)</a:t>
            </a:r>
            <a:r>
              <a:rPr lang="vi-VN" dirty="0"/>
              <a:t>: Entity để lại forwarding pointer khi di chuyển trong hệ thống phân tán.</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a:t>
            </a:fld>
            <a:endParaRPr lang="en-US"/>
          </a:p>
        </p:txBody>
      </p:sp>
    </p:spTree>
    <p:extLst>
      <p:ext uri="{BB962C8B-B14F-4D97-AF65-F5344CB8AC3E}">
        <p14:creationId xmlns:p14="http://schemas.microsoft.com/office/powerpoint/2010/main" val="3087577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hiểu rõ hơn cách hoạt động của các con trỏ chuyển tiếp (forwarding pointers), hãy xem xét cách sử dụng chúng trong bối cảnh đối tượng từ xa: các đối tượng có thể được truy cập thông qua lời gọi thủ tục từ xa (remote procedure call – RPC). Theo phương pháp trong chuỗi SSP [Shapiro et al., 1992], mỗi con trỏ chuyển tiếp được triển khai dưới dạng một cặp (client stub, server stub) như minh họa trong Hình. (</a:t>
            </a:r>
            <a:r>
              <a:rPr lang="en-US" dirty="0"/>
              <a:t>L</a:t>
            </a:r>
            <a:r>
              <a:rPr lang="vi-VN" dirty="0"/>
              <a:t>ưu ý rằng trong thuật ngữ ban đầu, server stub được gọi là </a:t>
            </a:r>
            <a:r>
              <a:rPr lang="vi-VN" i="1" dirty="0"/>
              <a:t>scion</a:t>
            </a:r>
            <a:r>
              <a:rPr lang="vi-VN" dirty="0"/>
              <a:t>, dẫn đến cặp (stub, scion), điều này giải thích cho tên gọi đó.)</a:t>
            </a:r>
            <a:endParaRPr lang="en-US" dirty="0"/>
          </a:p>
          <a:p>
            <a:endParaRPr lang="en-US" dirty="0"/>
          </a:p>
          <a:p>
            <a:r>
              <a:rPr lang="vi-VN" dirty="0"/>
              <a:t>Hình vẽ trên mô tả </a:t>
            </a:r>
            <a:r>
              <a:rPr lang="vi-VN" b="1" dirty="0"/>
              <a:t>nguyên lý hoạt động của forwarding pointers</a:t>
            </a:r>
            <a:r>
              <a:rPr lang="vi-VN" dirty="0"/>
              <a:t> trong mô hình </a:t>
            </a:r>
            <a:r>
              <a:rPr lang="vi-VN" b="1" dirty="0"/>
              <a:t>SSP chains</a:t>
            </a:r>
            <a:r>
              <a:rPr lang="vi-VN" dirty="0"/>
              <a:t>, sử dụng cặp </a:t>
            </a:r>
            <a:r>
              <a:rPr lang="vi-VN" b="1" dirty="0"/>
              <a:t>(client stub, server stub)</a:t>
            </a:r>
            <a:r>
              <a:rPr lang="vi-VN" dirty="0"/>
              <a:t> để định vị đối tượng từ xa trong hệ thống phân tán. </a:t>
            </a:r>
            <a:endParaRPr lang="en-US" dirty="0"/>
          </a:p>
          <a:p>
            <a:r>
              <a:rPr lang="vi-VN" dirty="0"/>
              <a:t>Dưới đây là phần </a:t>
            </a:r>
            <a:r>
              <a:rPr lang="vi-VN" b="1" dirty="0"/>
              <a:t>giải thích chi tiết từng thành phần</a:t>
            </a:r>
            <a:r>
              <a:rPr lang="vi-VN" dirty="0"/>
              <a:t>:</a:t>
            </a:r>
          </a:p>
          <a:p>
            <a:endParaRPr lang="en-US" b="1" dirty="0"/>
          </a:p>
          <a:p>
            <a:r>
              <a:rPr lang="vi-VN" b="1" dirty="0"/>
              <a:t>Các thành phần trong hình:</a:t>
            </a:r>
          </a:p>
          <a:p>
            <a:r>
              <a:rPr lang="vi-VN" b="1" dirty="0"/>
              <a:t>1. Process P1:</a:t>
            </a:r>
          </a:p>
          <a:p>
            <a:pPr>
              <a:buFont typeface="Arial" panose="020B0604020202020204" pitchFamily="34" charset="0"/>
              <a:buChar char="•"/>
            </a:pPr>
            <a:r>
              <a:rPr lang="vi-VN" dirty="0"/>
              <a:t>Chứa </a:t>
            </a:r>
            <a:r>
              <a:rPr lang="vi-VN" b="1" dirty="0"/>
              <a:t>client stub</a:t>
            </a:r>
            <a:r>
              <a:rPr lang="vi-VN" dirty="0"/>
              <a:t>, đại diện cho đối tượng từ xa.</a:t>
            </a:r>
          </a:p>
          <a:p>
            <a:pPr>
              <a:buFont typeface="Arial" panose="020B0604020202020204" pitchFamily="34" charset="0"/>
              <a:buChar char="•"/>
            </a:pPr>
            <a:r>
              <a:rPr lang="vi-VN" b="1" dirty="0"/>
              <a:t>C</a:t>
            </a:r>
            <a:r>
              <a:rPr lang="en-US" b="1" dirty="0" err="1"/>
              <a:t>lient</a:t>
            </a:r>
            <a:r>
              <a:rPr lang="en-US" b="1" dirty="0"/>
              <a:t> stub</a:t>
            </a:r>
            <a:r>
              <a:rPr lang="vi-VN" dirty="0"/>
              <a:t> gửi lời gọi đến </a:t>
            </a:r>
            <a:r>
              <a:rPr lang="vi-VN" b="1" dirty="0"/>
              <a:t>server stub</a:t>
            </a:r>
            <a:r>
              <a:rPr lang="vi-VN" dirty="0"/>
              <a:t> — đây là con trỏ chuyển tiếp đầu tiên.</a:t>
            </a:r>
          </a:p>
          <a:p>
            <a:pPr>
              <a:buFont typeface="Arial" panose="020B0604020202020204" pitchFamily="34" charset="0"/>
              <a:buChar char="•"/>
            </a:pPr>
            <a:r>
              <a:rPr lang="vi-VN" dirty="0"/>
              <a:t>Server stub này không trỏ trực tiếp đến đối tượng thật, mà trỏ sang </a:t>
            </a:r>
            <a:r>
              <a:rPr lang="vi-VN" b="1" dirty="0"/>
              <a:t>Process P3</a:t>
            </a:r>
            <a:r>
              <a:rPr lang="vi-VN" dirty="0"/>
              <a:t>.</a:t>
            </a:r>
          </a:p>
          <a:p>
            <a:r>
              <a:rPr lang="vi-VN" b="1" dirty="0"/>
              <a:t>2. Process P2:</a:t>
            </a:r>
          </a:p>
          <a:p>
            <a:pPr>
              <a:buFont typeface="Arial" panose="020B0604020202020204" pitchFamily="34" charset="0"/>
              <a:buChar char="•"/>
            </a:pPr>
            <a:r>
              <a:rPr lang="vi-VN" dirty="0"/>
              <a:t>Có một bản sao client stub (cs*) — có được khi P1 truyền tham chiếu cho P2.</a:t>
            </a:r>
          </a:p>
          <a:p>
            <a:pPr>
              <a:buFont typeface="Arial" panose="020B0604020202020204" pitchFamily="34" charset="0"/>
              <a:buChar char="•"/>
            </a:pPr>
            <a:r>
              <a:rPr lang="vi-VN" dirty="0"/>
              <a:t>cs* </a:t>
            </a:r>
            <a:r>
              <a:rPr lang="vi-VN" b="1" dirty="0"/>
              <a:t>trỏ đến cùng server stub</a:t>
            </a:r>
            <a:r>
              <a:rPr lang="vi-VN" dirty="0"/>
              <a:t> như c</a:t>
            </a:r>
            <a:r>
              <a:rPr lang="en-US" dirty="0" err="1"/>
              <a:t>lient</a:t>
            </a:r>
            <a:r>
              <a:rPr lang="en-US" dirty="0"/>
              <a:t> </a:t>
            </a:r>
            <a:r>
              <a:rPr lang="vi-VN" dirty="0"/>
              <a:t>s</a:t>
            </a:r>
            <a:r>
              <a:rPr lang="en-US" dirty="0"/>
              <a:t>tub</a:t>
            </a:r>
            <a:r>
              <a:rPr lang="vi-VN" dirty="0"/>
              <a:t>, nên hành vi khi gọi đối tượng vẫn giống nhau.</a:t>
            </a:r>
          </a:p>
          <a:p>
            <a:r>
              <a:rPr lang="vi-VN" b="1" dirty="0"/>
              <a:t>3. Process P3:</a:t>
            </a:r>
          </a:p>
          <a:p>
            <a:pPr>
              <a:buFont typeface="Arial" panose="020B0604020202020204" pitchFamily="34" charset="0"/>
              <a:buChar char="•"/>
            </a:pPr>
            <a:r>
              <a:rPr lang="vi-VN" dirty="0"/>
              <a:t>Nhận chuyển tiếp từ server stub trong P1.</a:t>
            </a:r>
          </a:p>
          <a:p>
            <a:pPr>
              <a:buFont typeface="Arial" panose="020B0604020202020204" pitchFamily="34" charset="0"/>
              <a:buChar char="•"/>
            </a:pPr>
            <a:r>
              <a:rPr lang="vi-VN" dirty="0"/>
              <a:t>Chứa </a:t>
            </a:r>
            <a:r>
              <a:rPr lang="vi-VN" b="1" dirty="0"/>
              <a:t>client stub giống hệt</a:t>
            </a:r>
            <a:r>
              <a:rPr lang="vi-VN" dirty="0"/>
              <a:t> (identical client stub) và </a:t>
            </a:r>
            <a:r>
              <a:rPr lang="vi-VN" b="1" dirty="0"/>
              <a:t>server stub giống hệt</a:t>
            </a:r>
            <a:r>
              <a:rPr lang="vi-VN" dirty="0"/>
              <a:t> (identical server stub).</a:t>
            </a:r>
          </a:p>
          <a:p>
            <a:pPr>
              <a:buFont typeface="Arial" panose="020B0604020202020204" pitchFamily="34" charset="0"/>
              <a:buChar char="•"/>
            </a:pPr>
            <a:r>
              <a:rPr lang="vi-VN" dirty="0"/>
              <a:t>Đây là một nút trung gian tiếp tục chuyển tiếp lời gọi đến nơi chứa đối tượng thật.</a:t>
            </a:r>
          </a:p>
          <a:p>
            <a:r>
              <a:rPr lang="vi-VN" b="1" dirty="0"/>
              <a:t>4. Process P4:</a:t>
            </a:r>
          </a:p>
          <a:p>
            <a:pPr>
              <a:buFont typeface="Arial" panose="020B0604020202020204" pitchFamily="34" charset="0"/>
              <a:buChar char="•"/>
            </a:pPr>
            <a:r>
              <a:rPr lang="vi-VN" dirty="0"/>
              <a:t>Là nơi đối tượng thực sự đang được lưu trữ.</a:t>
            </a:r>
          </a:p>
          <a:p>
            <a:pPr>
              <a:buFont typeface="Arial" panose="020B0604020202020204" pitchFamily="34" charset="0"/>
              <a:buChar char="•"/>
            </a:pPr>
            <a:r>
              <a:rPr lang="vi-VN" dirty="0"/>
              <a:t>Lời gọi cuối cùng từ server stub trong P3 sẽ </a:t>
            </a:r>
            <a:r>
              <a:rPr lang="vi-VN" b="1" dirty="0"/>
              <a:t>gọi trực tiếp (local invocation)</a:t>
            </a:r>
            <a:r>
              <a:rPr lang="vi-VN" dirty="0"/>
              <a:t> đến đối tượng.</a:t>
            </a:r>
          </a:p>
          <a:p>
            <a:endParaRPr lang="en-US" b="1" dirty="0"/>
          </a:p>
          <a:p>
            <a:r>
              <a:rPr lang="vi-VN" b="1" dirty="0"/>
              <a:t>Luồng chuyển tiếp (Forwarding flow):</a:t>
            </a:r>
          </a:p>
          <a:p>
            <a:pPr>
              <a:buFont typeface="+mj-lt"/>
              <a:buAutoNum type="arabicPeriod"/>
            </a:pPr>
            <a:r>
              <a:rPr lang="vi-VN" b="1" dirty="0"/>
              <a:t>Client trong P1</a:t>
            </a:r>
            <a:r>
              <a:rPr lang="vi-VN" dirty="0"/>
              <a:t> gọi hàm qua client stub cs → server stub.</a:t>
            </a:r>
          </a:p>
          <a:p>
            <a:pPr>
              <a:buFont typeface="+mj-lt"/>
              <a:buAutoNum type="arabicPeriod"/>
            </a:pPr>
            <a:r>
              <a:rPr lang="vi-VN" dirty="0"/>
              <a:t>Server stub chuyển tiếp đến </a:t>
            </a:r>
            <a:r>
              <a:rPr lang="vi-VN" b="1" dirty="0"/>
              <a:t>P3</a:t>
            </a:r>
            <a:r>
              <a:rPr lang="vi-VN" dirty="0"/>
              <a:t> → stub trong P3 lại chuyển tiếp tiếp đến P4.</a:t>
            </a:r>
          </a:p>
          <a:p>
            <a:pPr>
              <a:buFont typeface="+mj-lt"/>
              <a:buAutoNum type="arabicPeriod"/>
            </a:pPr>
            <a:r>
              <a:rPr lang="vi-VN" b="1" dirty="0"/>
              <a:t>Đối tượng thật</a:t>
            </a:r>
            <a:r>
              <a:rPr lang="vi-VN" dirty="0"/>
              <a:t> nằm trong P4 nhận lời gọi.</a:t>
            </a:r>
          </a:p>
          <a:p>
            <a:pPr>
              <a:buFont typeface="+mj-lt"/>
              <a:buAutoNum type="arabicPeriod"/>
            </a:pPr>
            <a:r>
              <a:rPr lang="vi-VN" b="1" dirty="0"/>
              <a:t>Kết quả có thể quay ngược về client ban đầu hoặc được trả trực tiếp.</a:t>
            </a:r>
            <a:endParaRPr lang="vi-VN" dirty="0"/>
          </a:p>
          <a:p>
            <a:endParaRPr lang="en-US" b="1" dirty="0"/>
          </a:p>
          <a:p>
            <a:r>
              <a:rPr lang="vi-VN" b="1" dirty="0"/>
              <a:t>Ý nghĩa của sơ đồ:</a:t>
            </a:r>
          </a:p>
          <a:p>
            <a:pPr>
              <a:buFont typeface="Arial" panose="020B0604020202020204" pitchFamily="34" charset="0"/>
              <a:buChar char="•"/>
            </a:pPr>
            <a:r>
              <a:rPr lang="vi-VN" dirty="0"/>
              <a:t>Cho thấy cách </a:t>
            </a:r>
            <a:r>
              <a:rPr lang="vi-VN" b="1" dirty="0"/>
              <a:t>đối tượng từ xa có thể di chuyển</a:t>
            </a:r>
            <a:r>
              <a:rPr lang="vi-VN" dirty="0"/>
              <a:t>, để lại chuỗi forwarding stub.</a:t>
            </a:r>
          </a:p>
          <a:p>
            <a:pPr>
              <a:buFont typeface="Arial" panose="020B0604020202020204" pitchFamily="34" charset="0"/>
              <a:buChar char="•"/>
            </a:pPr>
            <a:r>
              <a:rPr lang="vi-VN" dirty="0"/>
              <a:t>Client không cần biết vị trí thật của đối tượng → </a:t>
            </a:r>
            <a:r>
              <a:rPr lang="vi-VN" b="1" dirty="0"/>
              <a:t>tính trong suốt (transparency)</a:t>
            </a:r>
            <a:r>
              <a:rPr lang="vi-VN" dirty="0"/>
              <a:t>.</a:t>
            </a:r>
          </a:p>
          <a:p>
            <a:pPr>
              <a:buFont typeface="Arial" panose="020B0604020202020204" pitchFamily="34" charset="0"/>
              <a:buChar char="•"/>
            </a:pPr>
            <a:r>
              <a:rPr lang="vi-VN" dirty="0"/>
              <a:t>Việc sử dụng cặp (client stub, server stub) giúp chuyển tiếp hiệu quả mà không cần sửa đổi mã client.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6</a:t>
            </a:fld>
            <a:endParaRPr lang="en-US"/>
          </a:p>
        </p:txBody>
      </p:sp>
    </p:spTree>
    <p:extLst>
      <p:ext uri="{BB962C8B-B14F-4D97-AF65-F5344CB8AC3E}">
        <p14:creationId xmlns:p14="http://schemas.microsoft.com/office/powerpoint/2010/main" val="2315007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Chủ đề: Rút ngắn chuỗi chuyển tiếp bằng cách lưu shortcut trong client stub</a:t>
            </a:r>
          </a:p>
          <a:p>
            <a:endParaRPr lang="en-US" dirty="0"/>
          </a:p>
          <a:p>
            <a:r>
              <a:rPr lang="vi-VN" dirty="0"/>
              <a:t>Hình vẽ trên mô tả </a:t>
            </a:r>
            <a:r>
              <a:rPr lang="vi-VN" b="1" dirty="0"/>
              <a:t>cơ chế tối ưu hóa chuỗi forwarding pointers (chuỗi chuyển tiếp)</a:t>
            </a:r>
            <a:r>
              <a:rPr lang="vi-VN" dirty="0"/>
              <a:t> trong mô hình </a:t>
            </a:r>
            <a:r>
              <a:rPr lang="vi-VN" b="1" dirty="0"/>
              <a:t>SSP chains</a:t>
            </a:r>
            <a:r>
              <a:rPr lang="vi-VN" dirty="0"/>
              <a:t>, bằng cách </a:t>
            </a:r>
            <a:r>
              <a:rPr lang="vi-VN" b="1" dirty="0"/>
              <a:t>tạo lối tắt (shortcut)</a:t>
            </a:r>
            <a:r>
              <a:rPr lang="vi-VN" dirty="0"/>
              <a:t> tại client stub.</a:t>
            </a:r>
          </a:p>
          <a:p>
            <a:endParaRPr lang="en-US" b="1" dirty="0"/>
          </a:p>
          <a:p>
            <a:r>
              <a:rPr lang="vi-VN" b="1" dirty="0"/>
              <a:t>(a) Trước khi tối ưu hóa</a:t>
            </a:r>
          </a:p>
          <a:p>
            <a:pPr>
              <a:buFont typeface="Arial" panose="020B0604020202020204" pitchFamily="34" charset="0"/>
              <a:buChar char="•"/>
            </a:pPr>
            <a:r>
              <a:rPr lang="vi-VN" b="1" dirty="0"/>
              <a:t>Client stub</a:t>
            </a:r>
            <a:r>
              <a:rPr lang="vi-VN" dirty="0"/>
              <a:t> gửi yêu cầu (invocation) đến đối tượng thông qua </a:t>
            </a:r>
            <a:r>
              <a:rPr lang="vi-VN" b="1" dirty="0"/>
              <a:t>chuỗi chuyển tiếp</a:t>
            </a:r>
            <a:r>
              <a:rPr lang="vi-VN" dirty="0"/>
              <a:t> (nhiều server stub).</a:t>
            </a:r>
          </a:p>
          <a:p>
            <a:pPr>
              <a:buFont typeface="Arial" panose="020B0604020202020204" pitchFamily="34" charset="0"/>
              <a:buChar char="•"/>
            </a:pPr>
            <a:r>
              <a:rPr lang="vi-VN" b="1" dirty="0"/>
              <a:t>Server stub ở tiến trình chứa đối tượng hiện tại</a:t>
            </a:r>
            <a:r>
              <a:rPr lang="vi-VN" dirty="0"/>
              <a:t> sẽ trả về </a:t>
            </a:r>
            <a:r>
              <a:rPr lang="vi-VN" b="1" dirty="0"/>
              <a:t>vị trí hiện tại của đối tượng</a:t>
            </a:r>
            <a:r>
              <a:rPr lang="vi-VN" dirty="0"/>
              <a:t> (đường đứt nét).</a:t>
            </a:r>
          </a:p>
          <a:p>
            <a:pPr>
              <a:buFont typeface="Arial" panose="020B0604020202020204" pitchFamily="34" charset="0"/>
              <a:buChar char="•"/>
            </a:pPr>
            <a:r>
              <a:rPr lang="vi-VN" dirty="0"/>
              <a:t>Lúc này, </a:t>
            </a:r>
            <a:r>
              <a:rPr lang="vi-VN" b="1" dirty="0"/>
              <a:t>đường đi đến đối tượng còn dài</a:t>
            </a:r>
            <a:r>
              <a:rPr lang="vi-VN" dirty="0"/>
              <a:t>, do phải qua các server stub trung gian.</a:t>
            </a:r>
          </a:p>
          <a:p>
            <a:endParaRPr lang="en-US" b="1" dirty="0"/>
          </a:p>
          <a:p>
            <a:r>
              <a:rPr lang="vi-VN" b="1" dirty="0"/>
              <a:t>(b) Sau khi tối ưu hóa (shortcut)</a:t>
            </a:r>
          </a:p>
          <a:p>
            <a:pPr>
              <a:buFont typeface="Arial" panose="020B0604020202020204" pitchFamily="34" charset="0"/>
              <a:buChar char="•"/>
            </a:pPr>
            <a:r>
              <a:rPr lang="vi-VN" dirty="0"/>
              <a:t>Client stub </a:t>
            </a:r>
            <a:r>
              <a:rPr lang="vi-VN" b="1" dirty="0"/>
              <a:t>cập nhật shortcut</a:t>
            </a:r>
            <a:r>
              <a:rPr lang="vi-VN" dirty="0"/>
              <a:t>: nó </a:t>
            </a:r>
            <a:r>
              <a:rPr lang="vi-VN" b="1" dirty="0"/>
              <a:t>trỏ trực tiếp đến tiến trình hiện tại chứa đối tượng</a:t>
            </a:r>
            <a:r>
              <a:rPr lang="vi-VN" dirty="0"/>
              <a:t>, bỏ qua các bước trung gian.</a:t>
            </a:r>
          </a:p>
          <a:p>
            <a:pPr>
              <a:buFont typeface="Arial" panose="020B0604020202020204" pitchFamily="34" charset="0"/>
              <a:buChar char="•"/>
            </a:pPr>
            <a:r>
              <a:rPr lang="vi-VN" b="1" dirty="0"/>
              <a:t>Server stub trung gian không còn được tham chiếu</a:t>
            </a:r>
            <a:r>
              <a:rPr lang="vi-VN" dirty="0"/>
              <a:t>, nên có thể bị </a:t>
            </a:r>
            <a:r>
              <a:rPr lang="vi-VN" b="1" dirty="0"/>
              <a:t>xóa bỏ</a:t>
            </a:r>
            <a:r>
              <a:rPr lang="vi-VN" dirty="0"/>
              <a:t> (giải phóng tài nguyên).</a:t>
            </a:r>
          </a:p>
          <a:p>
            <a:pPr>
              <a:buFont typeface="Arial" panose="020B0604020202020204" pitchFamily="34" charset="0"/>
              <a:buChar char="•"/>
            </a:pPr>
            <a:r>
              <a:rPr lang="vi-VN" dirty="0"/>
              <a:t>Lần tiếp theo khi client gọi hàm, nó đi </a:t>
            </a:r>
            <a:r>
              <a:rPr lang="vi-VN" b="1" dirty="0"/>
              <a:t>thẳng đến đối tượng</a:t>
            </a:r>
            <a:r>
              <a:rPr lang="vi-VN" dirty="0"/>
              <a:t> mà không cần chuyển tiếp qua chuỗi dài.</a:t>
            </a:r>
          </a:p>
          <a:p>
            <a:endParaRPr lang="en-US" b="1" dirty="0"/>
          </a:p>
          <a:p>
            <a:r>
              <a:rPr lang="vi-VN" b="1" dirty="0"/>
              <a:t>Ý nghĩa</a:t>
            </a:r>
          </a:p>
          <a:p>
            <a:pPr>
              <a:buFont typeface="Arial" panose="020B0604020202020204" pitchFamily="34" charset="0"/>
              <a:buChar char="•"/>
            </a:pPr>
            <a:r>
              <a:rPr lang="vi-VN" dirty="0"/>
              <a:t>Giúp </a:t>
            </a:r>
            <a:r>
              <a:rPr lang="vi-VN" b="1" dirty="0"/>
              <a:t>giảm độ trễ mạng</a:t>
            </a:r>
            <a:r>
              <a:rPr lang="vi-VN" dirty="0"/>
              <a:t> khi gọi đối tượng.</a:t>
            </a:r>
          </a:p>
          <a:p>
            <a:pPr>
              <a:buFont typeface="Arial" panose="020B0604020202020204" pitchFamily="34" charset="0"/>
              <a:buChar char="•"/>
            </a:pPr>
            <a:r>
              <a:rPr lang="vi-VN" dirty="0"/>
              <a:t>Giảm gánh nặng lên các server stub trung gian.</a:t>
            </a:r>
          </a:p>
          <a:p>
            <a:pPr>
              <a:buFont typeface="Arial" panose="020B0604020202020204" pitchFamily="34" charset="0"/>
              <a:buChar char="•"/>
            </a:pPr>
            <a:r>
              <a:rPr lang="vi-VN" b="1" dirty="0"/>
              <a:t>Tăng hiệu quả và tính chịu lỗi</a:t>
            </a:r>
            <a:r>
              <a:rPr lang="vi-VN" dirty="0"/>
              <a:t>: chuỗi chuyển tiếp càng dài thì càng dễ bị lỗi; shortcut giúp khắc phục điều này.</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7</a:t>
            </a:fld>
            <a:endParaRPr lang="en-US"/>
          </a:p>
        </p:txBody>
      </p:sp>
    </p:spTree>
    <p:extLst>
      <p:ext uri="{BB962C8B-B14F-4D97-AF65-F5344CB8AC3E}">
        <p14:creationId xmlns:p14="http://schemas.microsoft.com/office/powerpoint/2010/main" val="1101819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"Home-based approaches“</a:t>
            </a:r>
            <a:endParaRPr lang="en-US" b="1" dirty="0"/>
          </a:p>
          <a:p>
            <a:r>
              <a:rPr lang="en-US" b="1" dirty="0" err="1"/>
              <a:t>Giải</a:t>
            </a:r>
            <a:r>
              <a:rPr lang="en-US" b="1" dirty="0"/>
              <a:t> </a:t>
            </a:r>
            <a:r>
              <a:rPr lang="en-US" b="1" dirty="0" err="1"/>
              <a:t>thích</a:t>
            </a:r>
            <a:r>
              <a:rPr lang="en-US" b="1" dirty="0"/>
              <a:t> </a:t>
            </a:r>
            <a:r>
              <a:rPr lang="en-US" b="1" dirty="0" err="1"/>
              <a:t>một</a:t>
            </a:r>
            <a:r>
              <a:rPr lang="vi-VN" dirty="0"/>
              <a:t> </a:t>
            </a:r>
            <a:r>
              <a:rPr lang="vi-VN" b="1" dirty="0"/>
              <a:t>phương pháp định vị thực thể (entity)</a:t>
            </a:r>
            <a:r>
              <a:rPr lang="vi-VN" dirty="0"/>
              <a:t> trong hệ phân tán, trong đó </a:t>
            </a:r>
            <a:r>
              <a:rPr lang="vi-VN" b="1" dirty="0"/>
              <a:t>một "nhà" (home)</a:t>
            </a:r>
            <a:r>
              <a:rPr lang="vi-VN" dirty="0"/>
              <a:t> giữ vai trò trung tâm để theo dõi vị trí hiện tại của thực thể.</a:t>
            </a:r>
            <a:endParaRPr lang="en-US" dirty="0"/>
          </a:p>
          <a:p>
            <a:endParaRPr lang="vi-VN" dirty="0"/>
          </a:p>
          <a:p>
            <a:endParaRPr lang="vi-VN" b="1" dirty="0"/>
          </a:p>
          <a:p>
            <a:r>
              <a:rPr lang="vi-VN" b="1" dirty="0"/>
              <a:t>"Single-tiered scheme" – Sơ đồ một tầng</a:t>
            </a:r>
          </a:p>
          <a:p>
            <a:pPr>
              <a:buFont typeface="Arial" panose="020B0604020202020204" pitchFamily="34" charset="0"/>
              <a:buChar char="•"/>
            </a:pPr>
            <a:r>
              <a:rPr lang="vi-VN" dirty="0"/>
              <a:t>Đây là mô hình đơn giản, chỉ có </a:t>
            </a:r>
            <a:r>
              <a:rPr lang="vi-VN" b="1" dirty="0"/>
              <a:t>một cấp duy nhất</a:t>
            </a:r>
            <a:r>
              <a:rPr lang="vi-VN" dirty="0"/>
              <a:t> chịu trách nhiệm theo dõi vị trí của thực thể (thường là nơi thực thể được tạo ra – gọi là </a:t>
            </a:r>
            <a:r>
              <a:rPr lang="vi-VN" i="1" dirty="0"/>
              <a:t>home</a:t>
            </a:r>
            <a:r>
              <a:rPr lang="vi-VN" dirty="0"/>
              <a:t>).</a:t>
            </a:r>
          </a:p>
          <a:p>
            <a:endParaRPr lang="en-US" b="1" dirty="0"/>
          </a:p>
          <a:p>
            <a:r>
              <a:rPr lang="vi-VN" b="1" dirty="0"/>
              <a:t>Các bước hoạt động:</a:t>
            </a:r>
          </a:p>
          <a:p>
            <a:pPr>
              <a:buFont typeface="+mj-lt"/>
              <a:buAutoNum type="arabicPeriod"/>
            </a:pPr>
            <a:r>
              <a:rPr lang="vi-VN" b="1" dirty="0"/>
              <a:t>Thực thể có địa chỉ "gốc" tại home</a:t>
            </a:r>
            <a:r>
              <a:rPr lang="vi-VN" dirty="0"/>
              <a:t>:</a:t>
            </a:r>
          </a:p>
          <a:p>
            <a:pPr marL="457200" lvl="1" indent="0">
              <a:buFont typeface="+mj-lt"/>
              <a:buNone/>
            </a:pPr>
            <a:r>
              <a:rPr lang="en-US" dirty="0"/>
              <a:t>- </a:t>
            </a:r>
            <a:r>
              <a:rPr lang="vi-VN" dirty="0"/>
              <a:t>Khi thực thể được tạo, nó có một </a:t>
            </a:r>
            <a:r>
              <a:rPr lang="vi-VN" b="1" dirty="0"/>
              <a:t>địa chỉ home</a:t>
            </a:r>
            <a:r>
              <a:rPr lang="vi-VN" dirty="0"/>
              <a:t> (home address), được </a:t>
            </a:r>
            <a:r>
              <a:rPr lang="vi-VN" b="1" dirty="0"/>
              <a:t>đăng ký tại một dịch vụ đặt tên (naming service)</a:t>
            </a:r>
            <a:r>
              <a:rPr lang="vi-VN" dirty="0"/>
              <a:t>.</a:t>
            </a:r>
          </a:p>
          <a:p>
            <a:pPr>
              <a:buFont typeface="+mj-lt"/>
              <a:buAutoNum type="arabicPeriod"/>
            </a:pPr>
            <a:r>
              <a:rPr lang="vi-VN" b="1" dirty="0"/>
              <a:t>Thực thể di chuyển sang địa chỉ khác (foreign address)</a:t>
            </a:r>
            <a:r>
              <a:rPr lang="vi-VN" dirty="0"/>
              <a:t>:</a:t>
            </a:r>
          </a:p>
          <a:p>
            <a:pPr marL="457200" lvl="1" indent="0">
              <a:buFont typeface="+mj-lt"/>
              <a:buNone/>
            </a:pPr>
            <a:r>
              <a:rPr lang="en-US" dirty="0"/>
              <a:t>- </a:t>
            </a:r>
            <a:r>
              <a:rPr lang="vi-VN" dirty="0"/>
              <a:t>Khi thực thể chuyển sang hệ thống khác, </a:t>
            </a:r>
            <a:r>
              <a:rPr lang="vi-VN" b="1" dirty="0"/>
              <a:t>home sẽ lưu lại địa chỉ mới này (foreign address)</a:t>
            </a:r>
            <a:r>
              <a:rPr lang="vi-VN" dirty="0"/>
              <a:t>.</a:t>
            </a:r>
          </a:p>
          <a:p>
            <a:pPr>
              <a:buFont typeface="+mj-lt"/>
              <a:buAutoNum type="arabicPeriod"/>
            </a:pPr>
            <a:r>
              <a:rPr lang="vi-VN" b="1" dirty="0"/>
              <a:t>Client cần truy cập thực thể</a:t>
            </a:r>
            <a:r>
              <a:rPr lang="vi-VN" dirty="0"/>
              <a:t>:</a:t>
            </a:r>
          </a:p>
          <a:p>
            <a:pPr marL="457200" lvl="1" indent="0">
              <a:buFont typeface="+mj-lt"/>
              <a:buNone/>
            </a:pPr>
            <a:r>
              <a:rPr lang="en-US" dirty="0"/>
              <a:t>- </a:t>
            </a:r>
            <a:r>
              <a:rPr lang="vi-VN" dirty="0"/>
              <a:t>Client </a:t>
            </a:r>
            <a:r>
              <a:rPr lang="vi-VN" b="1" dirty="0"/>
              <a:t>liên hệ với home trước</a:t>
            </a:r>
            <a:r>
              <a:rPr lang="vi-VN" dirty="0"/>
              <a:t>, để hỏi vị trí hiện tại của thực thể.</a:t>
            </a:r>
          </a:p>
          <a:p>
            <a:pPr marL="457200" lvl="1" indent="0">
              <a:buFont typeface="+mj-lt"/>
              <a:buNone/>
            </a:pPr>
            <a:r>
              <a:rPr lang="en-US" dirty="0"/>
              <a:t>- </a:t>
            </a:r>
            <a:r>
              <a:rPr lang="vi-VN" dirty="0"/>
              <a:t>Sau đó, client </a:t>
            </a:r>
            <a:r>
              <a:rPr lang="vi-VN" b="1" dirty="0"/>
              <a:t>giao tiếp trực tiếp với địa chỉ mới (foreign location)</a:t>
            </a:r>
            <a:r>
              <a:rPr lang="vi-VN" dirty="0"/>
              <a:t>.</a:t>
            </a:r>
          </a:p>
          <a:p>
            <a:endParaRPr lang="en-US" b="1" dirty="0"/>
          </a:p>
          <a:p>
            <a:r>
              <a:rPr lang="vi-VN" b="1" dirty="0"/>
              <a:t>Ưu điểm:</a:t>
            </a:r>
          </a:p>
          <a:p>
            <a:pPr>
              <a:buFont typeface="Arial" panose="020B0604020202020204" pitchFamily="34" charset="0"/>
              <a:buChar char="•"/>
            </a:pPr>
            <a:r>
              <a:rPr lang="vi-VN" dirty="0"/>
              <a:t>Dễ triển khai vì logic tập trung.</a:t>
            </a:r>
          </a:p>
          <a:p>
            <a:pPr>
              <a:buFont typeface="Arial" panose="020B0604020202020204" pitchFamily="34" charset="0"/>
              <a:buChar char="•"/>
            </a:pPr>
            <a:r>
              <a:rPr lang="vi-VN" dirty="0"/>
              <a:t>Không cần chuỗi chuyển tiếp như forwarding pointer.</a:t>
            </a:r>
          </a:p>
          <a:p>
            <a:endParaRPr lang="en-US" b="1" dirty="0"/>
          </a:p>
          <a:p>
            <a:r>
              <a:rPr lang="vi-VN" b="1" dirty="0"/>
              <a:t>Nhược điểm:</a:t>
            </a:r>
          </a:p>
          <a:p>
            <a:pPr>
              <a:buFont typeface="Arial" panose="020B0604020202020204" pitchFamily="34" charset="0"/>
              <a:buChar char="•"/>
            </a:pPr>
            <a:r>
              <a:rPr lang="vi-VN" b="1" dirty="0"/>
              <a:t>Tập trung hóa</a:t>
            </a:r>
            <a:r>
              <a:rPr lang="vi-VN" dirty="0"/>
              <a:t>: Nếu "home" bị lỗi, toàn bộ hệ thống định vị sẽ thất bại.</a:t>
            </a:r>
          </a:p>
          <a:p>
            <a:pPr>
              <a:buFont typeface="Arial" panose="020B0604020202020204" pitchFamily="34" charset="0"/>
              <a:buChar char="•"/>
            </a:pPr>
            <a:r>
              <a:rPr lang="vi-VN" b="1" dirty="0"/>
              <a:t>Tăng độ trễ ban đầu</a:t>
            </a:r>
            <a:r>
              <a:rPr lang="vi-VN" dirty="0"/>
              <a:t>: Client luôn phải liên hệ với home trước, rồi mới đến thực thể.</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8</a:t>
            </a:fld>
            <a:endParaRPr lang="en-US"/>
          </a:p>
        </p:txBody>
      </p:sp>
    </p:spTree>
    <p:extLst>
      <p:ext uri="{BB962C8B-B14F-4D97-AF65-F5344CB8AC3E}">
        <p14:creationId xmlns:p14="http://schemas.microsoft.com/office/powerpoint/2010/main" val="1702327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Hình</a:t>
            </a:r>
            <a:r>
              <a:rPr lang="en-US" dirty="0"/>
              <a:t> </a:t>
            </a:r>
            <a:r>
              <a:rPr lang="en-US" dirty="0" err="1"/>
              <a:t>vẽ</a:t>
            </a:r>
            <a:r>
              <a:rPr lang="vi-VN" dirty="0"/>
              <a:t> minh họa </a:t>
            </a:r>
            <a:r>
              <a:rPr lang="vi-VN" b="1" dirty="0"/>
              <a:t>nguyên lý hoạt động của Mobile IP</a:t>
            </a:r>
            <a:r>
              <a:rPr lang="vi-VN" dirty="0"/>
              <a:t>, một ứng dụng cụ thể của </a:t>
            </a:r>
            <a:r>
              <a:rPr lang="vi-VN" b="1" dirty="0"/>
              <a:t>home-based approach</a:t>
            </a:r>
            <a:r>
              <a:rPr lang="vi-VN" dirty="0"/>
              <a:t> dùng để hỗ trợ các thực thể di động (mobile hosts) trong mạng quy mô lớn.</a:t>
            </a:r>
          </a:p>
          <a:p>
            <a:endParaRPr lang="en-US" b="1" dirty="0"/>
          </a:p>
          <a:p>
            <a:r>
              <a:rPr lang="vi-VN" b="1" dirty="0"/>
              <a:t>1. Gửi gói tin đến địa chỉ IP cố định của host (Send packet to host at its home)</a:t>
            </a:r>
          </a:p>
          <a:p>
            <a:pPr>
              <a:buFont typeface="Arial" panose="020B0604020202020204" pitchFamily="34" charset="0"/>
              <a:buChar char="•"/>
            </a:pPr>
            <a:r>
              <a:rPr lang="vi-VN" dirty="0"/>
              <a:t>Client gửi một gói tin đến </a:t>
            </a:r>
            <a:r>
              <a:rPr lang="vi-VN" b="1" dirty="0"/>
              <a:t>IP cố định</a:t>
            </a:r>
            <a:r>
              <a:rPr lang="vi-VN" dirty="0"/>
              <a:t> của host.</a:t>
            </a:r>
          </a:p>
          <a:p>
            <a:pPr>
              <a:buFont typeface="Arial" panose="020B0604020202020204" pitchFamily="34" charset="0"/>
              <a:buChar char="•"/>
            </a:pPr>
            <a:r>
              <a:rPr lang="vi-VN" dirty="0"/>
              <a:t>Gói tin này được định tuyến đến </a:t>
            </a:r>
            <a:r>
              <a:rPr lang="vi-VN" b="1" dirty="0"/>
              <a:t>"home agent"</a:t>
            </a:r>
            <a:r>
              <a:rPr lang="vi-VN" dirty="0"/>
              <a:t> – một tác nhân đặt tại </a:t>
            </a:r>
            <a:r>
              <a:rPr lang="vi-VN" b="1" dirty="0"/>
              <a:t>vị trí ban đầu</a:t>
            </a:r>
            <a:r>
              <a:rPr lang="vi-VN" dirty="0"/>
              <a:t> nơi host được tạo ra (</a:t>
            </a:r>
            <a:r>
              <a:rPr lang="vi-VN" i="1" dirty="0"/>
              <a:t>host's home location</a:t>
            </a:r>
            <a:r>
              <a:rPr lang="vi-VN" dirty="0"/>
              <a:t>).</a:t>
            </a:r>
          </a:p>
          <a:p>
            <a:endParaRPr lang="en-US" b="1" dirty="0"/>
          </a:p>
          <a:p>
            <a:r>
              <a:rPr lang="vi-VN" b="1" dirty="0"/>
              <a:t>2. Home agent trả lại địa chỉ hiện tại của host (Return address of current location)</a:t>
            </a:r>
          </a:p>
          <a:p>
            <a:pPr>
              <a:buFont typeface="Arial" panose="020B0604020202020204" pitchFamily="34" charset="0"/>
              <a:buChar char="•"/>
            </a:pPr>
            <a:r>
              <a:rPr lang="vi-VN" dirty="0"/>
              <a:t>Home agent biết rằng host hiện đang không còn ở vị trí ban đầu.</a:t>
            </a:r>
          </a:p>
          <a:p>
            <a:pPr>
              <a:buFont typeface="Arial" panose="020B0604020202020204" pitchFamily="34" charset="0"/>
              <a:buChar char="•"/>
            </a:pPr>
            <a:r>
              <a:rPr lang="vi-VN" dirty="0"/>
              <a:t>Nó </a:t>
            </a:r>
            <a:r>
              <a:rPr lang="vi-VN" b="1" dirty="0"/>
              <a:t>trả về địa chỉ hiện tại (care-of address)</a:t>
            </a:r>
            <a:r>
              <a:rPr lang="vi-VN" dirty="0"/>
              <a:t> của host – nơi host đang hoạt động.</a:t>
            </a:r>
          </a:p>
          <a:p>
            <a:endParaRPr lang="en-US" b="1" dirty="0"/>
          </a:p>
          <a:p>
            <a:r>
              <a:rPr lang="vi-VN" b="1" dirty="0"/>
              <a:t>3. Tunnel gói tin đến vị trí hiện tại (Tunnel packet to current location)</a:t>
            </a:r>
          </a:p>
          <a:p>
            <a:pPr>
              <a:buFont typeface="Arial" panose="020B0604020202020204" pitchFamily="34" charset="0"/>
              <a:buChar char="•"/>
            </a:pPr>
            <a:r>
              <a:rPr lang="vi-VN" dirty="0"/>
              <a:t>Gói tin được </a:t>
            </a:r>
            <a:r>
              <a:rPr lang="vi-VN" b="1" dirty="0"/>
              <a:t>"tunnel" (đóng gói trong một gói IP khác)</a:t>
            </a:r>
            <a:r>
              <a:rPr lang="vi-VN" dirty="0"/>
              <a:t> và gửi đến địa chỉ tạm thời (care-of address) của host.</a:t>
            </a:r>
          </a:p>
          <a:p>
            <a:pPr>
              <a:buFont typeface="Arial" panose="020B0604020202020204" pitchFamily="34" charset="0"/>
              <a:buChar char="•"/>
            </a:pPr>
            <a:r>
              <a:rPr lang="vi-VN" dirty="0"/>
              <a:t>Điều này giúp host vẫn nhận được gói tin dù đã di chuyển.</a:t>
            </a:r>
          </a:p>
          <a:p>
            <a:endParaRPr lang="en-US" b="1" dirty="0"/>
          </a:p>
          <a:p>
            <a:r>
              <a:rPr lang="vi-VN" b="1" dirty="0"/>
              <a:t>4. Gửi các gói tin tiếp theo trực tiếp đến địa chỉ hiện tại (Send successive packets to current location)</a:t>
            </a:r>
          </a:p>
          <a:p>
            <a:pPr>
              <a:buFont typeface="Arial" panose="020B0604020202020204" pitchFamily="34" charset="0"/>
              <a:buChar char="•"/>
            </a:pPr>
            <a:r>
              <a:rPr lang="vi-VN" dirty="0"/>
              <a:t>Sau khi biết địa chỉ hiện tại, client sẽ </a:t>
            </a:r>
            <a:r>
              <a:rPr lang="vi-VN" b="1" dirty="0"/>
              <a:t>gửi các gói tin tiếp theo trực tiếp</a:t>
            </a:r>
            <a:r>
              <a:rPr lang="vi-VN" dirty="0"/>
              <a:t> đến vị trí đó mà </a:t>
            </a:r>
            <a:r>
              <a:rPr lang="vi-VN" b="1" dirty="0"/>
              <a:t>không cần thông qua home nữa</a:t>
            </a:r>
            <a:r>
              <a:rPr lang="vi-VN" dirty="0"/>
              <a:t>.</a:t>
            </a:r>
          </a:p>
          <a:p>
            <a:endParaRPr lang="en-US" b="1" dirty="0"/>
          </a:p>
          <a:p>
            <a:r>
              <a:rPr lang="vi-VN" b="1" dirty="0"/>
              <a:t>Ưu điểm:</a:t>
            </a:r>
          </a:p>
          <a:p>
            <a:pPr>
              <a:buFont typeface="Arial" panose="020B0604020202020204" pitchFamily="34" charset="0"/>
              <a:buChar char="•"/>
            </a:pPr>
            <a:r>
              <a:rPr lang="vi-VN" dirty="0"/>
              <a:t>Ứng dụng vẫn có thể sử dụng IP cố định của host như bình thường (</a:t>
            </a:r>
            <a:r>
              <a:rPr lang="vi-VN" b="1" dirty="0"/>
              <a:t>location transparency</a:t>
            </a:r>
            <a:r>
              <a:rPr lang="vi-VN" dirty="0"/>
              <a:t>).</a:t>
            </a:r>
          </a:p>
          <a:p>
            <a:pPr>
              <a:buFont typeface="Arial" panose="020B0604020202020204" pitchFamily="34" charset="0"/>
              <a:buChar char="•"/>
            </a:pPr>
            <a:r>
              <a:rPr lang="vi-VN" dirty="0"/>
              <a:t>Di chuyển host không ảnh hưởng đến tính liên tục của kết nối.</a:t>
            </a:r>
            <a:endParaRPr lang="en-US" dirty="0"/>
          </a:p>
          <a:p>
            <a:pPr>
              <a:buFont typeface="Arial" panose="020B0604020202020204" pitchFamily="34" charset="0"/>
              <a:buNone/>
            </a:pPr>
            <a:endParaRPr lang="en-US" b="1" dirty="0"/>
          </a:p>
          <a:p>
            <a:pPr>
              <a:buFont typeface="Arial" panose="020B0604020202020204" pitchFamily="34" charset="0"/>
              <a:buNone/>
            </a:pPr>
            <a:r>
              <a:rPr lang="vi-VN" b="1" dirty="0"/>
              <a:t>Nhược điểm:</a:t>
            </a:r>
          </a:p>
          <a:p>
            <a:pPr>
              <a:buFont typeface="Arial" panose="020B0604020202020204" pitchFamily="34" charset="0"/>
              <a:buChar char="•"/>
            </a:pPr>
            <a:r>
              <a:rPr lang="vi-VN" b="1" dirty="0"/>
              <a:t>Độ trễ cao ban đầu</a:t>
            </a:r>
            <a:r>
              <a:rPr lang="vi-VN" dirty="0"/>
              <a:t> do luôn phải truy vấn qua "home" trước.</a:t>
            </a:r>
          </a:p>
          <a:p>
            <a:pPr>
              <a:buFont typeface="Arial" panose="020B0604020202020204" pitchFamily="34" charset="0"/>
              <a:buChar char="•"/>
            </a:pPr>
            <a:r>
              <a:rPr lang="vi-VN" b="1" dirty="0"/>
              <a:t>Home là điểm yếu tiềm năng</a:t>
            </a:r>
            <a:r>
              <a:rPr lang="vi-VN" dirty="0"/>
              <a:t>: nếu home bị lỗi, host sẽ không thể định vị.</a:t>
            </a:r>
          </a:p>
          <a:p>
            <a:pPr>
              <a:buFont typeface="Arial" panose="020B0604020202020204" pitchFamily="34" charset="0"/>
              <a:buChar char="•"/>
            </a:pPr>
            <a:r>
              <a:rPr lang="vi-VN" dirty="0"/>
              <a:t>Nếu host di chuyển vĩnh viễn, việc giữ home cố định sẽ gây bất tiện.</a:t>
            </a:r>
          </a:p>
          <a:p>
            <a:endParaRPr lang="en-US" dirty="0"/>
          </a:p>
          <a:p>
            <a:r>
              <a:rPr lang="vi-VN" dirty="0"/>
              <a:t>Tóm lại, hình vẽ này minh họa cách Mobile IP </a:t>
            </a:r>
            <a:r>
              <a:rPr lang="vi-VN" b="1" dirty="0"/>
              <a:t>giải quyết bài toán di động hóa IP</a:t>
            </a:r>
            <a:r>
              <a:rPr lang="vi-VN" dirty="0"/>
              <a:t> bằng cách dùng </a:t>
            </a:r>
            <a:r>
              <a:rPr lang="vi-VN" b="1" dirty="0"/>
              <a:t>home agent</a:t>
            </a:r>
            <a:r>
              <a:rPr lang="vi-VN" dirty="0"/>
              <a:t> như một trung gian định vị, sau đó </a:t>
            </a:r>
            <a:r>
              <a:rPr lang="vi-VN" b="1" dirty="0"/>
              <a:t>tối ưu bằng cách gửi trực tiếp đến vị trí hiện tại</a:t>
            </a:r>
            <a:r>
              <a:rPr lang="vi-VN" dirty="0"/>
              <a:t> sau lần đầu tiên.</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9</a:t>
            </a:fld>
            <a:endParaRPr lang="en-US"/>
          </a:p>
        </p:txBody>
      </p:sp>
    </p:spTree>
    <p:extLst>
      <p:ext uri="{BB962C8B-B14F-4D97-AF65-F5344CB8AC3E}">
        <p14:creationId xmlns:p14="http://schemas.microsoft.com/office/powerpoint/2010/main" val="1784357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“Home-based approaches – Problems with home-based approaches”</a:t>
            </a:r>
            <a:r>
              <a:rPr lang="vi-VN" dirty="0"/>
              <a:t> </a:t>
            </a:r>
            <a:endParaRPr lang="en-US" dirty="0"/>
          </a:p>
          <a:p>
            <a:r>
              <a:rPr lang="en-US" dirty="0" err="1"/>
              <a:t>Tìm</a:t>
            </a:r>
            <a:r>
              <a:rPr lang="en-US" dirty="0"/>
              <a:t> </a:t>
            </a:r>
            <a:r>
              <a:rPr lang="en-US" dirty="0" err="1"/>
              <a:t>hiểu</a:t>
            </a:r>
            <a:r>
              <a:rPr lang="vi-VN" dirty="0"/>
              <a:t> các hạn chế khi sử dụng phương pháp dựa trên "nhà" (home-based) trong việc quản lý các thực thể di động (mobile entities) trong mạng phân tán hoặc Internet.</a:t>
            </a:r>
          </a:p>
          <a:p>
            <a:endParaRPr lang="en-US" b="1" dirty="0"/>
          </a:p>
          <a:p>
            <a:r>
              <a:rPr lang="en-US" b="1" dirty="0"/>
              <a:t>1. "</a:t>
            </a:r>
            <a:r>
              <a:rPr lang="vi-VN" b="1" dirty="0"/>
              <a:t>Home address has to be supported for entity’s lifetime"</a:t>
            </a:r>
          </a:p>
          <a:p>
            <a:pPr>
              <a:buFont typeface="Arial" panose="020B0604020202020204" pitchFamily="34" charset="0"/>
              <a:buChar char="•"/>
            </a:pPr>
            <a:r>
              <a:rPr lang="vi-VN" b="1" dirty="0"/>
              <a:t>Ý nghĩa:</a:t>
            </a:r>
            <a:r>
              <a:rPr lang="vi-VN" dirty="0"/>
              <a:t> Địa chỉ "home" (ví dụ như trong Mobile IP là địa chỉ IP cố định hoặc home agent) phải </a:t>
            </a:r>
            <a:r>
              <a:rPr lang="vi-VN" b="1" dirty="0"/>
              <a:t>duy trì suốt vòng đời</a:t>
            </a:r>
            <a:r>
              <a:rPr lang="vi-VN" dirty="0"/>
              <a:t> của thực thể.</a:t>
            </a:r>
          </a:p>
          <a:p>
            <a:pPr>
              <a:buFont typeface="Arial" panose="020B0604020202020204" pitchFamily="34" charset="0"/>
              <a:buChar char="•"/>
            </a:pPr>
            <a:r>
              <a:rPr lang="vi-VN" b="1" dirty="0"/>
              <a:t>Vấn đề:</a:t>
            </a:r>
            <a:r>
              <a:rPr lang="vi-VN" dirty="0"/>
              <a:t> Nếu home bị lỗi hoặc bị xóa, hệ thống </a:t>
            </a:r>
            <a:r>
              <a:rPr lang="vi-VN" b="1" dirty="0"/>
              <a:t>không thể định vị hoặc liên lạc với thực thể</a:t>
            </a:r>
            <a:r>
              <a:rPr lang="vi-VN" dirty="0"/>
              <a:t>, gây ra lỗi nghiêm trọng.</a:t>
            </a:r>
          </a:p>
          <a:p>
            <a:endParaRPr lang="en-US" b="1" dirty="0"/>
          </a:p>
          <a:p>
            <a:r>
              <a:rPr lang="en-US" b="1" dirty="0"/>
              <a:t>2. "</a:t>
            </a:r>
            <a:r>
              <a:rPr lang="vi-VN" b="1" dirty="0"/>
              <a:t>Home address is fixed ⇒ unnecessary burden when the entity permanently moves"</a:t>
            </a:r>
          </a:p>
          <a:p>
            <a:pPr>
              <a:buFont typeface="Arial" panose="020B0604020202020204" pitchFamily="34" charset="0"/>
              <a:buChar char="•"/>
            </a:pPr>
            <a:r>
              <a:rPr lang="vi-VN" b="1" dirty="0"/>
              <a:t>Ý nghĩa:</a:t>
            </a:r>
            <a:r>
              <a:rPr lang="vi-VN" dirty="0"/>
              <a:t> Địa chỉ home là </a:t>
            </a:r>
            <a:r>
              <a:rPr lang="vi-VN" b="1" dirty="0"/>
              <a:t>cố định</a:t>
            </a:r>
            <a:r>
              <a:rPr lang="vi-VN" dirty="0"/>
              <a:t>, nên khi thực thể di chuyển lâu dài hoặc vĩnh viễn đến một nơi khác, mọi liên lạc vẫn phải </a:t>
            </a:r>
            <a:r>
              <a:rPr lang="vi-VN" b="1" dirty="0"/>
              <a:t>đi vòng qua home</a:t>
            </a:r>
            <a:r>
              <a:rPr lang="vi-VN" dirty="0"/>
              <a:t>, dẫn đến:</a:t>
            </a:r>
          </a:p>
          <a:p>
            <a:pPr marL="742950" lvl="1" indent="-285750">
              <a:buFont typeface="Arial" panose="020B0604020202020204" pitchFamily="34" charset="0"/>
              <a:buChar char="•"/>
            </a:pPr>
            <a:r>
              <a:rPr lang="vi-VN" dirty="0"/>
              <a:t>Độ trễ cao</a:t>
            </a:r>
          </a:p>
          <a:p>
            <a:pPr marL="742950" lvl="1" indent="-285750">
              <a:buFont typeface="Arial" panose="020B0604020202020204" pitchFamily="34" charset="0"/>
              <a:buChar char="•"/>
            </a:pPr>
            <a:r>
              <a:rPr lang="vi-VN" dirty="0"/>
              <a:t>Lãng phí tài nguyên mạng</a:t>
            </a:r>
          </a:p>
          <a:p>
            <a:pPr>
              <a:buFont typeface="Arial" panose="020B0604020202020204" pitchFamily="34" charset="0"/>
              <a:buChar char="•"/>
            </a:pPr>
            <a:r>
              <a:rPr lang="vi-VN" b="1" dirty="0"/>
              <a:t>Vấn đề:</a:t>
            </a:r>
            <a:r>
              <a:rPr lang="vi-VN" dirty="0"/>
              <a:t> Tạo gánh nặng không cần thiết nếu thực thể không còn gắn bó với vị trí ban đầu nữa.</a:t>
            </a:r>
          </a:p>
          <a:p>
            <a:endParaRPr lang="en-US" b="1" dirty="0"/>
          </a:p>
          <a:p>
            <a:r>
              <a:rPr lang="en-US" b="1" dirty="0"/>
              <a:t>3. "</a:t>
            </a:r>
            <a:r>
              <a:rPr lang="vi-VN" b="1" dirty="0"/>
              <a:t>Poor geographical scalability (entity may be next to client)"</a:t>
            </a:r>
          </a:p>
          <a:p>
            <a:pPr>
              <a:buFont typeface="Arial" panose="020B0604020202020204" pitchFamily="34" charset="0"/>
              <a:buChar char="•"/>
            </a:pPr>
            <a:r>
              <a:rPr lang="vi-VN" b="1" dirty="0"/>
              <a:t>Ý nghĩa:</a:t>
            </a:r>
            <a:r>
              <a:rPr lang="vi-VN" dirty="0"/>
              <a:t> Trong một số trường hợp, </a:t>
            </a:r>
            <a:r>
              <a:rPr lang="vi-VN" b="1" dirty="0"/>
              <a:t>thực thể và client ở gần nhau</a:t>
            </a:r>
            <a:r>
              <a:rPr lang="vi-VN" dirty="0"/>
              <a:t>, nhưng vì phải thông qua home (có thể ở xa), thông tin vẫn phải </a:t>
            </a:r>
            <a:r>
              <a:rPr lang="vi-VN" b="1" dirty="0"/>
              <a:t>vòng xa</a:t>
            </a:r>
            <a:r>
              <a:rPr lang="vi-VN" dirty="0"/>
              <a:t> rồi quay lại.</a:t>
            </a:r>
          </a:p>
          <a:p>
            <a:pPr>
              <a:buFont typeface="Arial" panose="020B0604020202020204" pitchFamily="34" charset="0"/>
              <a:buChar char="•"/>
            </a:pPr>
            <a:r>
              <a:rPr lang="vi-VN" b="1" dirty="0"/>
              <a:t>Hệ quả:</a:t>
            </a:r>
            <a:r>
              <a:rPr lang="vi-VN" dirty="0"/>
              <a:t> Điều này dẫn đến </a:t>
            </a:r>
            <a:r>
              <a:rPr lang="vi-VN" b="1" dirty="0"/>
              <a:t>hiệu suất thấp</a:t>
            </a:r>
            <a:r>
              <a:rPr lang="vi-VN" dirty="0"/>
              <a:t>, làm tăng độ trễ không cần thiết và giảm khả năng mở rộng địa lý.</a:t>
            </a:r>
          </a:p>
          <a:p>
            <a:endParaRPr lang="en-US" b="1" dirty="0"/>
          </a:p>
          <a:p>
            <a:r>
              <a:rPr lang="en-US" b="1" dirty="0" err="1"/>
              <a:t>Chú</a:t>
            </a:r>
            <a:r>
              <a:rPr lang="en-US" b="1" dirty="0"/>
              <a:t> ý</a:t>
            </a:r>
            <a:r>
              <a:rPr lang="vi-VN" b="1" dirty="0"/>
              <a:t>:</a:t>
            </a:r>
          </a:p>
          <a:p>
            <a:r>
              <a:rPr lang="vi-VN" b="1" dirty="0"/>
              <a:t>"Permanent moves may be tackled with another level of naming (DNS)"</a:t>
            </a:r>
            <a:endParaRPr lang="vi-VN" dirty="0"/>
          </a:p>
          <a:p>
            <a:pPr>
              <a:buFont typeface="Arial" panose="020B0604020202020204" pitchFamily="34" charset="0"/>
              <a:buChar char="•"/>
            </a:pPr>
            <a:r>
              <a:rPr lang="en-US" dirty="0"/>
              <a:t>C</a:t>
            </a:r>
            <a:r>
              <a:rPr lang="vi-VN" dirty="0"/>
              <a:t>ó thể </a:t>
            </a:r>
            <a:r>
              <a:rPr lang="vi-VN" b="1" dirty="0"/>
              <a:t>khắc phục vấn đề khi thực thể di chuyển vĩnh viễn</a:t>
            </a:r>
            <a:r>
              <a:rPr lang="vi-VN" dirty="0"/>
              <a:t> bằng cách:</a:t>
            </a:r>
          </a:p>
          <a:p>
            <a:pPr marL="742950" lvl="1" indent="-285750">
              <a:buFont typeface="Arial" panose="020B0604020202020204" pitchFamily="34" charset="0"/>
              <a:buChar char="•"/>
            </a:pPr>
            <a:r>
              <a:rPr lang="vi-VN" dirty="0"/>
              <a:t>Dùng </a:t>
            </a:r>
            <a:r>
              <a:rPr lang="vi-VN" b="1" dirty="0"/>
              <a:t>dịch vụ tên (DNS)</a:t>
            </a:r>
            <a:r>
              <a:rPr lang="vi-VN" dirty="0"/>
              <a:t> như một lớp ánh xạ động giữa tên và vị trí hiện tại.</a:t>
            </a:r>
          </a:p>
          <a:p>
            <a:pPr marL="742950" lvl="1" indent="-285750">
              <a:buFont typeface="Arial" panose="020B0604020202020204" pitchFamily="34" charset="0"/>
              <a:buChar char="•"/>
            </a:pPr>
            <a:r>
              <a:rPr lang="vi-VN" dirty="0"/>
              <a:t>Thay vì gắn chặt với một home cố định, DNS có thể được </a:t>
            </a:r>
            <a:r>
              <a:rPr lang="vi-VN" b="1" dirty="0"/>
              <a:t>cập nhật theo vị trí mới</a:t>
            </a:r>
            <a:r>
              <a:rPr lang="vi-VN" dirty="0"/>
              <a:t>, giúp linh hoạt và thích ứng tốt hơn.</a:t>
            </a:r>
          </a:p>
          <a:p>
            <a:endParaRPr lang="en-US" b="1" dirty="0"/>
          </a:p>
          <a:p>
            <a:r>
              <a:rPr lang="vi-VN" b="1" dirty="0"/>
              <a:t>Tóm tắt:</a:t>
            </a:r>
          </a:p>
          <a:p>
            <a:r>
              <a:rPr lang="vi-VN" dirty="0"/>
              <a:t>Phương pháp home-based tuy đơn giản và hiệu quả trong một số trường hợp, nhưng:</a:t>
            </a:r>
          </a:p>
          <a:p>
            <a:pPr>
              <a:buFont typeface="Arial" panose="020B0604020202020204" pitchFamily="34" charset="0"/>
              <a:buChar char="•"/>
            </a:pPr>
            <a:r>
              <a:rPr lang="vi-VN" dirty="0"/>
              <a:t>Không phù hợp với thực thể di chuyển nhiều hoặc lâu dài.</a:t>
            </a:r>
          </a:p>
          <a:p>
            <a:pPr>
              <a:buFont typeface="Arial" panose="020B0604020202020204" pitchFamily="34" charset="0"/>
              <a:buChar char="•"/>
            </a:pPr>
            <a:r>
              <a:rPr lang="vi-VN" dirty="0"/>
              <a:t>Gây ra độ trễ không cần thiết do định tuyến vòng.</a:t>
            </a:r>
          </a:p>
          <a:p>
            <a:pPr>
              <a:buFont typeface="Arial" panose="020B0604020202020204" pitchFamily="34" charset="0"/>
              <a:buChar char="•"/>
            </a:pPr>
            <a:r>
              <a:rPr lang="vi-VN" dirty="0"/>
              <a:t>Giới hạn khả năng mở rộng địa lý.</a:t>
            </a:r>
            <a:br>
              <a:rPr lang="vi-VN" dirty="0"/>
            </a:br>
            <a:r>
              <a:rPr lang="vi-VN" dirty="0"/>
              <a:t>=&gt; Có thể khắc phục bằng cách </a:t>
            </a:r>
            <a:r>
              <a:rPr lang="vi-VN" b="1" dirty="0"/>
              <a:t>kết hợp với hệ thống định danh động như DNS</a:t>
            </a:r>
            <a:r>
              <a:rPr lang="vi-VN" dirty="0"/>
              <a: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10</a:t>
            </a:fld>
            <a:endParaRPr lang="en-US"/>
          </a:p>
        </p:txBody>
      </p:sp>
    </p:spTree>
    <p:extLst>
      <p:ext uri="{BB962C8B-B14F-4D97-AF65-F5344CB8AC3E}">
        <p14:creationId xmlns:p14="http://schemas.microsoft.com/office/powerpoint/2010/main" val="3232931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"Illustrative: Chord"</a:t>
            </a:r>
            <a:r>
              <a:rPr lang="vi-VN" dirty="0"/>
              <a:t> dựa trên nội dung đã tóm tắt ở trên:</a:t>
            </a:r>
          </a:p>
          <a:p>
            <a:endParaRPr lang="en-US" b="1" dirty="0"/>
          </a:p>
          <a:p>
            <a:r>
              <a:rPr lang="vi-VN" b="1" dirty="0"/>
              <a:t>Cấu trúc vòng logic:</a:t>
            </a:r>
          </a:p>
          <a:p>
            <a:pPr>
              <a:buFont typeface="Arial" panose="020B0604020202020204" pitchFamily="34" charset="0"/>
              <a:buChar char="•"/>
            </a:pPr>
            <a:r>
              <a:rPr lang="vi-VN" dirty="0"/>
              <a:t>Chord tổ chức </a:t>
            </a:r>
            <a:r>
              <a:rPr lang="vi-VN" b="1" dirty="0"/>
              <a:t>các node thành một vòng logic</a:t>
            </a:r>
            <a:r>
              <a:rPr lang="vi-VN" dirty="0"/>
              <a:t> (logical ring), để ánh xạ các </a:t>
            </a:r>
            <a:r>
              <a:rPr lang="vi-VN" b="1" dirty="0"/>
              <a:t>key (khóa)</a:t>
            </a:r>
            <a:r>
              <a:rPr lang="vi-VN" dirty="0"/>
              <a:t> đến </a:t>
            </a:r>
            <a:r>
              <a:rPr lang="vi-VN" b="1" dirty="0"/>
              <a:t>node quản lý</a:t>
            </a:r>
            <a:r>
              <a:rPr lang="vi-VN" dirty="0"/>
              <a:t>.</a:t>
            </a:r>
          </a:p>
          <a:p>
            <a:pPr>
              <a:buFont typeface="Arial" panose="020B0604020202020204" pitchFamily="34" charset="0"/>
              <a:buChar char="•"/>
            </a:pPr>
            <a:r>
              <a:rPr lang="vi-VN" dirty="0"/>
              <a:t>Mỗi </a:t>
            </a:r>
            <a:r>
              <a:rPr lang="vi-VN" b="1" dirty="0"/>
              <a:t>node</a:t>
            </a:r>
            <a:r>
              <a:rPr lang="vi-VN" dirty="0"/>
              <a:t> được gán một </a:t>
            </a:r>
            <a:r>
              <a:rPr lang="vi-VN" b="1" dirty="0"/>
              <a:t>định danh ngẫu nhiên dài m-bit</a:t>
            </a:r>
            <a:r>
              <a:rPr lang="vi-VN" dirty="0"/>
              <a:t> (ví dụ: 160-bit nếu dùng SHA-1).</a:t>
            </a:r>
          </a:p>
          <a:p>
            <a:pPr>
              <a:buFont typeface="Arial" panose="020B0604020202020204" pitchFamily="34" charset="0"/>
              <a:buChar char="•"/>
            </a:pPr>
            <a:r>
              <a:rPr lang="vi-VN" dirty="0"/>
              <a:t>Tương tự, </a:t>
            </a:r>
            <a:r>
              <a:rPr lang="vi-VN" b="1" dirty="0"/>
              <a:t>mỗi thực thể</a:t>
            </a:r>
            <a:r>
              <a:rPr lang="vi-VN" dirty="0"/>
              <a:t> (file, tiến trình, v.v.) cũng được gán một </a:t>
            </a:r>
            <a:r>
              <a:rPr lang="vi-VN" b="1" dirty="0"/>
              <a:t>m-bit key duy nhất</a:t>
            </a:r>
            <a:r>
              <a:rPr lang="vi-VN" dirty="0"/>
              <a:t>.</a:t>
            </a:r>
          </a:p>
          <a:p>
            <a:endParaRPr lang="en-US" b="1" dirty="0"/>
          </a:p>
          <a:p>
            <a:r>
              <a:rPr lang="vi-VN" b="1" dirty="0"/>
              <a:t>Cách ánh xạ key → node (quản lý key):</a:t>
            </a:r>
          </a:p>
          <a:p>
            <a:pPr>
              <a:buFont typeface="Arial" panose="020B0604020202020204" pitchFamily="34" charset="0"/>
              <a:buChar char="•"/>
            </a:pPr>
            <a:r>
              <a:rPr lang="vi-VN" dirty="0"/>
              <a:t>Với một key </a:t>
            </a:r>
            <a:r>
              <a:rPr lang="vi-VN" b="1" dirty="0"/>
              <a:t>k</a:t>
            </a:r>
            <a:r>
              <a:rPr lang="vi-VN" dirty="0"/>
              <a:t>, node chịu trách nhiệm lưu trữ key này là node có định danh </a:t>
            </a:r>
            <a:r>
              <a:rPr lang="vi-VN" b="1" dirty="0"/>
              <a:t>id ≥ k</a:t>
            </a:r>
            <a:r>
              <a:rPr lang="vi-VN" dirty="0"/>
              <a:t>, và </a:t>
            </a:r>
            <a:r>
              <a:rPr lang="vi-VN" b="1" dirty="0"/>
              <a:t>nhỏ nhất</a:t>
            </a:r>
            <a:r>
              <a:rPr lang="vi-VN" dirty="0"/>
              <a:t> trong số đó.</a:t>
            </a:r>
          </a:p>
          <a:p>
            <a:pPr>
              <a:buFont typeface="Arial" panose="020B0604020202020204" pitchFamily="34" charset="0"/>
              <a:buChar char="•"/>
            </a:pPr>
            <a:r>
              <a:rPr lang="vi-VN" dirty="0"/>
              <a:t>Node này được gọi là </a:t>
            </a:r>
            <a:r>
              <a:rPr lang="vi-VN" b="1" dirty="0"/>
              <a:t>successor của k</a:t>
            </a:r>
            <a:r>
              <a:rPr lang="vi-VN" dirty="0"/>
              <a:t>, viết là: succ(k).</a:t>
            </a:r>
          </a:p>
          <a:p>
            <a:r>
              <a:rPr lang="vi-VN" dirty="0"/>
              <a:t>Ví dụ:</a:t>
            </a:r>
          </a:p>
          <a:p>
            <a:pPr>
              <a:buFont typeface="Arial" panose="020B0604020202020204" pitchFamily="34" charset="0"/>
              <a:buChar char="•"/>
            </a:pPr>
            <a:r>
              <a:rPr lang="vi-VN" dirty="0"/>
              <a:t>Nếu ta có các node với ID: 1, 5, 9, 14 và một key = 7 → thì node 9 là succ(7).</a:t>
            </a:r>
          </a:p>
          <a:p>
            <a:endParaRPr lang="en-US" b="1" dirty="0"/>
          </a:p>
          <a:p>
            <a:r>
              <a:rPr lang="vi-VN" b="1" dirty="0"/>
              <a:t>Giải pháp không hiệu quả (Nonsolution):</a:t>
            </a:r>
          </a:p>
          <a:p>
            <a:pPr>
              <a:buFont typeface="Arial" panose="020B0604020202020204" pitchFamily="34" charset="0"/>
              <a:buChar char="•"/>
            </a:pPr>
            <a:r>
              <a:rPr lang="vi-VN" dirty="0"/>
              <a:t>Nếu mỗi node chỉ biết </a:t>
            </a:r>
            <a:r>
              <a:rPr lang="vi-VN" b="1" dirty="0"/>
              <a:t>node kế tiếp và node trước đó</a:t>
            </a:r>
            <a:r>
              <a:rPr lang="vi-VN" dirty="0"/>
              <a:t> trong vòng, thì khi cần tìm succ(k), node phải </a:t>
            </a:r>
            <a:r>
              <a:rPr lang="vi-VN" b="1" dirty="0"/>
              <a:t>duyệt tuần tự (linear search)</a:t>
            </a:r>
            <a:r>
              <a:rPr lang="vi-VN" dirty="0"/>
              <a:t> vòng đến khi tìm thấy node thỏa điều kiện id ≥ k.</a:t>
            </a:r>
          </a:p>
          <a:p>
            <a:pPr>
              <a:buFont typeface="Arial" panose="020B0604020202020204" pitchFamily="34" charset="0"/>
              <a:buChar char="•"/>
            </a:pPr>
            <a:r>
              <a:rPr lang="vi-VN" dirty="0"/>
              <a:t>Cách làm này không hiệu quả khi số lượng node lớn → độ phức tạp O(N).</a:t>
            </a:r>
          </a:p>
          <a:p>
            <a:endParaRPr lang="en-US" b="1" dirty="0"/>
          </a:p>
          <a:p>
            <a:r>
              <a:rPr lang="vi-VN" b="1" dirty="0"/>
              <a:t>Notation – Ký hiệu:</a:t>
            </a:r>
          </a:p>
          <a:p>
            <a:pPr>
              <a:buFont typeface="Arial" panose="020B0604020202020204" pitchFamily="34" charset="0"/>
              <a:buChar char="•"/>
            </a:pPr>
            <a:r>
              <a:rPr lang="vi-VN" dirty="0"/>
              <a:t>Khi nói đến </a:t>
            </a:r>
            <a:r>
              <a:rPr lang="vi-VN" b="1" dirty="0"/>
              <a:t>node p</a:t>
            </a:r>
            <a:r>
              <a:rPr lang="vi-VN" dirty="0"/>
              <a:t>, ta ngầm hiểu </a:t>
            </a:r>
            <a:r>
              <a:rPr lang="vi-VN" b="1" dirty="0"/>
              <a:t>đó là node có định danh p</a:t>
            </a:r>
            <a:r>
              <a:rPr lang="vi-VN" dirty="0"/>
              <a:t>.</a:t>
            </a:r>
          </a:p>
          <a:p>
            <a:pPr>
              <a:buFont typeface="Arial" panose="020B0604020202020204" pitchFamily="34" charset="0"/>
              <a:buChar char="•"/>
            </a:pPr>
            <a:r>
              <a:rPr lang="vi-VN" dirty="0"/>
              <a:t>Ví dụ: "node 5" tức là node có ID = 5 trong không gian m-bit.</a:t>
            </a:r>
          </a:p>
          <a:p>
            <a:endParaRPr lang="en-US" b="1" dirty="0"/>
          </a:p>
          <a:p>
            <a:r>
              <a:rPr lang="vi-VN" b="1" dirty="0"/>
              <a:t>Tóm tắt ý chính của slide:</a:t>
            </a:r>
          </a:p>
          <a:p>
            <a:pPr>
              <a:buFont typeface="Arial" panose="020B0604020202020204" pitchFamily="34" charset="0"/>
              <a:buChar char="•"/>
            </a:pPr>
            <a:r>
              <a:rPr lang="vi-VN" dirty="0"/>
              <a:t>Chord tổ chức các node thành một vòng và dùng </a:t>
            </a:r>
            <a:r>
              <a:rPr lang="vi-VN" b="1" dirty="0"/>
              <a:t>mã băm (hashing)</a:t>
            </a:r>
            <a:r>
              <a:rPr lang="vi-VN" dirty="0"/>
              <a:t> để phân phối dữ liệu.</a:t>
            </a:r>
          </a:p>
          <a:p>
            <a:pPr>
              <a:buFont typeface="Arial" panose="020B0604020202020204" pitchFamily="34" charset="0"/>
              <a:buChar char="•"/>
            </a:pPr>
            <a:r>
              <a:rPr lang="vi-VN" dirty="0"/>
              <a:t>Việc ánh xạ key về node được thực hiện dựa trên định danh succ(k).</a:t>
            </a:r>
          </a:p>
          <a:p>
            <a:pPr>
              <a:buFont typeface="Arial" panose="020B0604020202020204" pitchFamily="34" charset="0"/>
              <a:buChar char="•"/>
            </a:pPr>
            <a:r>
              <a:rPr lang="vi-VN" dirty="0"/>
              <a:t>Duyệt tuyến tính qua các node là không hiệu quả và cần giải pháp tối ưu hơn (như sử dụng </a:t>
            </a:r>
            <a:r>
              <a:rPr lang="vi-VN" b="1" dirty="0"/>
              <a:t>finger table</a:t>
            </a:r>
            <a:r>
              <a:rPr lang="vi-VN" dirty="0"/>
              <a:t> – sẽ được trình bày sau).</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11</a:t>
            </a:fld>
            <a:endParaRPr lang="en-US"/>
          </a:p>
        </p:txBody>
      </p:sp>
    </p:spTree>
    <p:extLst>
      <p:ext uri="{BB962C8B-B14F-4D97-AF65-F5344CB8AC3E}">
        <p14:creationId xmlns:p14="http://schemas.microsoft.com/office/powerpoint/2010/main" val="2451970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Cơ</a:t>
            </a:r>
            <a:r>
              <a:rPr lang="en-US" b="1" dirty="0"/>
              <a:t> </a:t>
            </a:r>
            <a:r>
              <a:rPr lang="en-US" b="1" dirty="0" err="1"/>
              <a:t>chế</a:t>
            </a:r>
            <a:r>
              <a:rPr lang="en-US" b="1" dirty="0"/>
              <a:t> </a:t>
            </a:r>
            <a:r>
              <a:rPr lang="en-US" b="1" dirty="0" err="1"/>
              <a:t>tra</a:t>
            </a:r>
            <a:r>
              <a:rPr lang="en-US" b="1" dirty="0"/>
              <a:t> </a:t>
            </a:r>
            <a:r>
              <a:rPr lang="en-US" b="1" dirty="0" err="1"/>
              <a:t>cứu</a:t>
            </a:r>
            <a:r>
              <a:rPr lang="en-US" b="1" dirty="0"/>
              <a:t> </a:t>
            </a:r>
            <a:r>
              <a:rPr lang="en-US" b="1" dirty="0" err="1"/>
              <a:t>khóa</a:t>
            </a:r>
            <a:r>
              <a:rPr lang="en-US" b="1" dirty="0"/>
              <a:t> </a:t>
            </a:r>
            <a:r>
              <a:rPr lang="en-US" b="1" dirty="0" err="1"/>
              <a:t>thông</a:t>
            </a:r>
            <a:r>
              <a:rPr lang="en-US" b="1" dirty="0"/>
              <a:t> qua Finger table - </a:t>
            </a:r>
            <a:r>
              <a:rPr lang="vi-VN" b="1" i="0" dirty="0">
                <a:solidFill>
                  <a:srgbClr val="404040"/>
                </a:solidFill>
                <a:effectLst/>
                <a:latin typeface="DeepSeek-CJK-patch"/>
              </a:rPr>
              <a:t>Chord Finger Tables</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Nguyên lý hoạt động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Finger Table (FT)</a:t>
            </a:r>
            <a:r>
              <a:rPr lang="vi-VN" b="0" i="0" dirty="0">
                <a:solidFill>
                  <a:srgbClr val="404040"/>
                </a:solidFill>
                <a:effectLst/>
                <a:latin typeface="DeepSeek-CJK-patch"/>
              </a:rPr>
              <a:t>: Là một bảng tra cứu tại </a:t>
            </a:r>
            <a:r>
              <a:rPr lang="vi-VN" b="1" i="0" dirty="0">
                <a:solidFill>
                  <a:srgbClr val="404040"/>
                </a:solidFill>
                <a:effectLst/>
                <a:latin typeface="DeepSeek-CJK-patch"/>
              </a:rPr>
              <a:t>mỗi nút</a:t>
            </a:r>
            <a:r>
              <a:rPr lang="vi-VN" b="0" i="0" dirty="0">
                <a:solidFill>
                  <a:srgbClr val="404040"/>
                </a:solidFill>
                <a:effectLst/>
                <a:latin typeface="DeepSeek-CJK-patch"/>
              </a:rPr>
              <a:t> trong hệ thống Chord, giúp tìm kiếm khóa (</a:t>
            </a:r>
            <a:r>
              <a:rPr lang="vi-VN" b="1" i="0" dirty="0">
                <a:solidFill>
                  <a:srgbClr val="404040"/>
                </a:solidFill>
                <a:effectLst/>
                <a:latin typeface="DeepSeek-CJK-patch"/>
              </a:rPr>
              <a:t>key</a:t>
            </a:r>
            <a:r>
              <a:rPr lang="vi-VN" b="0" i="0" dirty="0">
                <a:solidFill>
                  <a:srgbClr val="404040"/>
                </a:solidFill>
                <a:effectLst/>
                <a:latin typeface="DeepSeek-CJK-patch"/>
              </a:rPr>
              <a:t>) hiệu quả.</a:t>
            </a:r>
          </a:p>
          <a:p>
            <a:pPr algn="l">
              <a:buFont typeface="Arial" panose="020B0604020202020204" pitchFamily="34" charset="0"/>
              <a:buChar char="•"/>
            </a:pPr>
            <a:r>
              <a:rPr lang="vi-VN" b="1" i="0" dirty="0">
                <a:solidFill>
                  <a:srgbClr val="404040"/>
                </a:solidFill>
                <a:effectLst/>
                <a:latin typeface="DeepSeek-CJK-patch"/>
              </a:rPr>
              <a:t>Công thức xác định mục trong FT</a:t>
            </a:r>
            <a:r>
              <a:rPr lang="vi-VN" b="0" i="0" dirty="0">
                <a:solidFill>
                  <a:srgbClr val="404040"/>
                </a:solidFill>
                <a:effectLst/>
                <a:latin typeface="DeepSeek-CJK-patch"/>
              </a:rPr>
              <a:t>:</a:t>
            </a:r>
          </a:p>
          <a:p>
            <a:pPr algn="l">
              <a:buFont typeface="Arial" panose="020B0604020202020204" pitchFamily="34" charset="0"/>
              <a:buNone/>
            </a:pPr>
            <a:r>
              <a:rPr lang="en-US" b="0" i="0" dirty="0">
                <a:solidFill>
                  <a:srgbClr val="404040"/>
                </a:solidFill>
                <a:effectLst/>
                <a:latin typeface="KaTeX_Main"/>
              </a:rPr>
              <a:t>	</a:t>
            </a:r>
            <a:r>
              <a:rPr lang="vi-VN" b="0" i="1" dirty="0">
                <a:solidFill>
                  <a:srgbClr val="404040"/>
                </a:solidFill>
                <a:effectLst/>
                <a:latin typeface="KaTeX_Math"/>
              </a:rPr>
              <a:t>FTp</a:t>
            </a:r>
            <a:r>
              <a:rPr lang="vi-VN" b="0" i="0" dirty="0">
                <a:solidFill>
                  <a:srgbClr val="404040"/>
                </a:solidFill>
                <a:effectLst/>
                <a:latin typeface="KaTeX_Main"/>
              </a:rPr>
              <a:t>​[</a:t>
            </a:r>
            <a:r>
              <a:rPr lang="vi-VN" b="0" i="1" dirty="0">
                <a:solidFill>
                  <a:srgbClr val="404040"/>
                </a:solidFill>
                <a:effectLst/>
                <a:latin typeface="KaTeX_Math"/>
              </a:rPr>
              <a:t>i</a:t>
            </a:r>
            <a:r>
              <a:rPr lang="vi-VN" b="0" i="0" dirty="0">
                <a:solidFill>
                  <a:srgbClr val="404040"/>
                </a:solidFill>
                <a:effectLst/>
                <a:latin typeface="KaTeX_Main"/>
              </a:rPr>
              <a:t>]=</a:t>
            </a:r>
            <a:r>
              <a:rPr lang="vi-VN" b="0" i="1" dirty="0">
                <a:solidFill>
                  <a:srgbClr val="404040"/>
                </a:solidFill>
                <a:effectLst/>
                <a:latin typeface="KaTeX_Math"/>
              </a:rPr>
              <a:t>succ</a:t>
            </a:r>
            <a:r>
              <a:rPr lang="vi-VN" b="0" i="0" dirty="0">
                <a:solidFill>
                  <a:srgbClr val="404040"/>
                </a:solidFill>
                <a:effectLst/>
                <a:latin typeface="KaTeX_Main"/>
              </a:rPr>
              <a:t>(</a:t>
            </a:r>
            <a:r>
              <a:rPr lang="vi-VN" b="0" i="1" dirty="0">
                <a:solidFill>
                  <a:srgbClr val="404040"/>
                </a:solidFill>
                <a:effectLst/>
                <a:latin typeface="KaTeX_Math"/>
              </a:rPr>
              <a:t>p</a:t>
            </a:r>
            <a:r>
              <a:rPr lang="vi-VN" b="0" i="0" dirty="0">
                <a:solidFill>
                  <a:srgbClr val="404040"/>
                </a:solidFill>
                <a:effectLst/>
                <a:latin typeface="KaTeX_Main"/>
              </a:rPr>
              <a:t>+2</a:t>
            </a:r>
            <a:r>
              <a:rPr lang="vi-VN" b="0" i="1" dirty="0">
                <a:solidFill>
                  <a:srgbClr val="404040"/>
                </a:solidFill>
                <a:effectLst/>
                <a:latin typeface="KaTeX_Math"/>
              </a:rPr>
              <a:t>i</a:t>
            </a:r>
            <a:r>
              <a:rPr lang="vi-VN" b="0" i="0" dirty="0">
                <a:solidFill>
                  <a:srgbClr val="404040"/>
                </a:solidFill>
                <a:effectLst/>
                <a:latin typeface="KaTeX_Main"/>
              </a:rPr>
              <a:t>−1)</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p</a:t>
            </a:r>
            <a:r>
              <a:rPr lang="vi-VN" b="0" i="0" dirty="0">
                <a:solidFill>
                  <a:srgbClr val="404040"/>
                </a:solidFill>
                <a:effectLst/>
                <a:latin typeface="DeepSeek-CJK-patch"/>
              </a:rPr>
              <a:t>: ID của nút hiện tại.</a:t>
            </a:r>
          </a:p>
          <a:p>
            <a:pPr marL="742950" lvl="1" indent="-285750" algn="l">
              <a:buFont typeface="Arial" panose="020B0604020202020204" pitchFamily="34" charset="0"/>
              <a:buChar char="•"/>
            </a:pPr>
            <a:r>
              <a:rPr lang="vi-VN" b="1" i="0" dirty="0">
                <a:solidFill>
                  <a:srgbClr val="404040"/>
                </a:solidFill>
                <a:effectLst/>
                <a:latin typeface="DeepSeek-CJK-patch"/>
              </a:rPr>
              <a:t>i</a:t>
            </a:r>
            <a:r>
              <a:rPr lang="vi-VN" b="0" i="0" dirty="0">
                <a:solidFill>
                  <a:srgbClr val="404040"/>
                </a:solidFill>
                <a:effectLst/>
                <a:latin typeface="DeepSeek-CJK-patch"/>
              </a:rPr>
              <a:t>: Vị trí mục trong FT (từ </a:t>
            </a:r>
            <a:r>
              <a:rPr lang="vi-VN" b="1" i="0" dirty="0">
                <a:solidFill>
                  <a:srgbClr val="404040"/>
                </a:solidFill>
                <a:effectLst/>
                <a:latin typeface="DeepSeek-CJK-patch"/>
              </a:rPr>
              <a:t>1</a:t>
            </a:r>
            <a:r>
              <a:rPr lang="vi-VN" b="0" i="0" dirty="0">
                <a:solidFill>
                  <a:srgbClr val="404040"/>
                </a:solidFill>
                <a:effectLst/>
                <a:latin typeface="DeepSeek-CJK-patch"/>
              </a:rPr>
              <a:t> đến </a:t>
            </a:r>
            <a:r>
              <a:rPr lang="vi-VN" b="1" i="0" dirty="0">
                <a:solidFill>
                  <a:srgbClr val="404040"/>
                </a:solidFill>
                <a:effectLst/>
                <a:latin typeface="DeepSeek-CJK-patch"/>
              </a:rPr>
              <a:t>m</a:t>
            </a:r>
            <a:r>
              <a:rPr lang="vi-VN" b="0" i="0" dirty="0">
                <a:solidFill>
                  <a:srgbClr val="404040"/>
                </a:solidFill>
                <a:effectLst/>
                <a:latin typeface="DeepSeek-CJK-patch"/>
              </a:rPr>
              <a:t>, với </a:t>
            </a:r>
            <a:r>
              <a:rPr lang="vi-VN" b="1" i="0" dirty="0">
                <a:solidFill>
                  <a:srgbClr val="404040"/>
                </a:solidFill>
                <a:effectLst/>
                <a:latin typeface="DeepSeek-CJK-patch"/>
              </a:rPr>
              <a:t>m</a:t>
            </a:r>
            <a:r>
              <a:rPr lang="vi-VN" b="0" i="0" dirty="0">
                <a:solidFill>
                  <a:srgbClr val="404040"/>
                </a:solidFill>
                <a:effectLst/>
                <a:latin typeface="DeepSeek-CJK-patch"/>
              </a:rPr>
              <a:t> là số bit của không gian ID).</a:t>
            </a:r>
          </a:p>
          <a:p>
            <a:pPr marL="742950" lvl="1" indent="-285750" algn="l">
              <a:buFont typeface="Arial" panose="020B0604020202020204" pitchFamily="34" charset="0"/>
              <a:buChar char="•"/>
            </a:pPr>
            <a:r>
              <a:rPr lang="vi-VN" b="1" i="0" dirty="0">
                <a:solidFill>
                  <a:srgbClr val="404040"/>
                </a:solidFill>
                <a:effectLst/>
                <a:latin typeface="DeepSeek-CJK-patch"/>
              </a:rPr>
              <a:t>succ(k)</a:t>
            </a:r>
            <a:r>
              <a:rPr lang="vi-VN" b="0" i="0" dirty="0">
                <a:solidFill>
                  <a:srgbClr val="404040"/>
                </a:solidFill>
                <a:effectLst/>
                <a:latin typeface="DeepSeek-CJK-patch"/>
              </a:rPr>
              <a:t>: Nút có ID nhỏ nhất ≥ </a:t>
            </a:r>
            <a:r>
              <a:rPr lang="vi-VN" b="1" i="0" dirty="0">
                <a:solidFill>
                  <a:srgbClr val="404040"/>
                </a:solidFill>
                <a:effectLst/>
                <a:latin typeface="DeepSeek-CJK-patch"/>
              </a:rPr>
              <a:t>k</a:t>
            </a:r>
            <a:r>
              <a:rPr lang="vi-VN" b="0" i="0" dirty="0">
                <a:solidFill>
                  <a:srgbClr val="404040"/>
                </a:solidFill>
                <a:effectLst/>
                <a:latin typeface="DeepSeek-CJK-patch"/>
              </a:rPr>
              <a:t>.</a:t>
            </a:r>
          </a:p>
          <a:p>
            <a:pPr algn="l"/>
            <a:r>
              <a:rPr lang="vi-VN" b="1" i="0" dirty="0">
                <a:solidFill>
                  <a:srgbClr val="404040"/>
                </a:solidFill>
                <a:effectLst/>
                <a:latin typeface="DeepSeek-CJK-patch"/>
              </a:rPr>
              <a:t>Ví dụ</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p = 1</a:t>
            </a:r>
            <a:r>
              <a:rPr lang="vi-VN" b="0" i="0" dirty="0">
                <a:solidFill>
                  <a:srgbClr val="404040"/>
                </a:solidFill>
                <a:effectLst/>
                <a:latin typeface="DeepSeek-CJK-patch"/>
              </a:rPr>
              <a:t>, </a:t>
            </a:r>
            <a:r>
              <a:rPr lang="vi-VN" b="1" i="0" dirty="0">
                <a:solidFill>
                  <a:srgbClr val="404040"/>
                </a:solidFill>
                <a:effectLst/>
                <a:latin typeface="DeepSeek-CJK-patch"/>
              </a:rPr>
              <a:t>m = 5</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1" dirty="0">
                <a:solidFill>
                  <a:srgbClr val="404040"/>
                </a:solidFill>
                <a:effectLst/>
                <a:latin typeface="KaTeX_Math"/>
              </a:rPr>
              <a:t>FT</a:t>
            </a:r>
            <a:r>
              <a:rPr lang="vi-VN" b="0" i="0" dirty="0">
                <a:solidFill>
                  <a:srgbClr val="404040"/>
                </a:solidFill>
                <a:effectLst/>
                <a:latin typeface="KaTeX_Main"/>
              </a:rPr>
              <a:t>1​[1]=</a:t>
            </a:r>
            <a:r>
              <a:rPr lang="vi-VN" b="0" i="1" dirty="0">
                <a:solidFill>
                  <a:srgbClr val="404040"/>
                </a:solidFill>
                <a:effectLst/>
                <a:latin typeface="KaTeX_Math"/>
              </a:rPr>
              <a:t>succ</a:t>
            </a:r>
            <a:r>
              <a:rPr lang="vi-VN" b="0" i="0" dirty="0">
                <a:solidFill>
                  <a:srgbClr val="404040"/>
                </a:solidFill>
                <a:effectLst/>
                <a:latin typeface="KaTeX_Main"/>
              </a:rPr>
              <a:t>(1+20)=</a:t>
            </a:r>
            <a:r>
              <a:rPr lang="vi-VN" b="0" i="1" dirty="0">
                <a:solidFill>
                  <a:srgbClr val="404040"/>
                </a:solidFill>
                <a:effectLst/>
                <a:latin typeface="KaTeX_Math"/>
              </a:rPr>
              <a:t>succ</a:t>
            </a:r>
            <a:r>
              <a:rPr lang="vi-VN" b="0" i="0" dirty="0">
                <a:solidFill>
                  <a:srgbClr val="404040"/>
                </a:solidFill>
                <a:effectLst/>
                <a:latin typeface="KaTeX_Main"/>
              </a:rPr>
              <a:t>(2)</a:t>
            </a:r>
            <a:r>
              <a:rPr lang="vi-VN" b="0" i="0" dirty="0">
                <a:solidFill>
                  <a:srgbClr val="404040"/>
                </a:solidFill>
                <a:effectLst/>
                <a:latin typeface="DeepSeek-CJK-patch"/>
              </a:rPr>
              <a:t> → Nút có ID ≥ 2.</a:t>
            </a:r>
          </a:p>
          <a:p>
            <a:pPr marL="742950" lvl="1" indent="-285750" algn="l">
              <a:buFont typeface="Arial" panose="020B0604020202020204" pitchFamily="34" charset="0"/>
              <a:buChar char="•"/>
            </a:pPr>
            <a:r>
              <a:rPr lang="vi-VN" b="0" i="1" dirty="0">
                <a:solidFill>
                  <a:srgbClr val="404040"/>
                </a:solidFill>
                <a:effectLst/>
                <a:latin typeface="KaTeX_Math"/>
              </a:rPr>
              <a:t>FT</a:t>
            </a:r>
            <a:r>
              <a:rPr lang="vi-VN" b="0" i="0" dirty="0">
                <a:solidFill>
                  <a:srgbClr val="404040"/>
                </a:solidFill>
                <a:effectLst/>
                <a:latin typeface="KaTeX_Main"/>
              </a:rPr>
              <a:t>1​[3]=</a:t>
            </a:r>
            <a:r>
              <a:rPr lang="vi-VN" b="0" i="1" dirty="0">
                <a:solidFill>
                  <a:srgbClr val="404040"/>
                </a:solidFill>
                <a:effectLst/>
                <a:latin typeface="KaTeX_Math"/>
              </a:rPr>
              <a:t>succ</a:t>
            </a:r>
            <a:r>
              <a:rPr lang="vi-VN" b="0" i="0" dirty="0">
                <a:solidFill>
                  <a:srgbClr val="404040"/>
                </a:solidFill>
                <a:effectLst/>
                <a:latin typeface="KaTeX_Main"/>
              </a:rPr>
              <a:t>(1+22)=</a:t>
            </a:r>
            <a:r>
              <a:rPr lang="vi-VN" b="0" i="1" dirty="0">
                <a:solidFill>
                  <a:srgbClr val="404040"/>
                </a:solidFill>
                <a:effectLst/>
                <a:latin typeface="KaTeX_Math"/>
              </a:rPr>
              <a:t>succ</a:t>
            </a:r>
            <a:r>
              <a:rPr lang="vi-VN" b="0" i="0" dirty="0">
                <a:solidFill>
                  <a:srgbClr val="404040"/>
                </a:solidFill>
                <a:effectLst/>
                <a:latin typeface="KaTeX_Main"/>
              </a:rPr>
              <a:t>(5)</a:t>
            </a:r>
            <a:r>
              <a:rPr lang="vi-VN" b="0" i="0" dirty="0">
                <a:solidFill>
                  <a:srgbClr val="404040"/>
                </a:solidFill>
                <a:effectLst/>
                <a:latin typeface="DeepSeek-CJK-patch"/>
              </a:rPr>
              <a:t> → Nút có ID ≥ 5.</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Cách tra cứu khóa k</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Bước 1</a:t>
            </a:r>
            <a:r>
              <a:rPr lang="vi-VN" b="0" i="0" dirty="0">
                <a:solidFill>
                  <a:srgbClr val="404040"/>
                </a:solidFill>
                <a:effectLst/>
                <a:latin typeface="DeepSeek-CJK-patch"/>
              </a:rPr>
              <a:t>: Nút </a:t>
            </a:r>
            <a:r>
              <a:rPr lang="vi-VN" b="1" i="0" dirty="0">
                <a:solidFill>
                  <a:srgbClr val="404040"/>
                </a:solidFill>
                <a:effectLst/>
                <a:latin typeface="DeepSeek-CJK-patch"/>
              </a:rPr>
              <a:t>p</a:t>
            </a:r>
            <a:r>
              <a:rPr lang="vi-VN" b="0" i="0" dirty="0">
                <a:solidFill>
                  <a:srgbClr val="404040"/>
                </a:solidFill>
                <a:effectLst/>
                <a:latin typeface="DeepSeek-CJK-patch"/>
              </a:rPr>
              <a:t> kiểm tra FT của nó để tìm mục </a:t>
            </a:r>
            <a:r>
              <a:rPr lang="vi-VN" b="1" i="0" dirty="0">
                <a:solidFill>
                  <a:srgbClr val="404040"/>
                </a:solidFill>
                <a:effectLst/>
                <a:latin typeface="DeepSeek-CJK-patch"/>
              </a:rPr>
              <a:t>j</a:t>
            </a:r>
            <a:r>
              <a:rPr lang="vi-VN" b="0" i="0" dirty="0">
                <a:solidFill>
                  <a:srgbClr val="404040"/>
                </a:solidFill>
                <a:effectLst/>
                <a:latin typeface="DeepSeek-CJK-patch"/>
              </a:rPr>
              <a:t> thỏa mãn:</a:t>
            </a:r>
          </a:p>
          <a:p>
            <a:pPr algn="l">
              <a:buFont typeface="Arial" panose="020B0604020202020204" pitchFamily="34" charset="0"/>
              <a:buNone/>
            </a:pPr>
            <a:r>
              <a:rPr lang="en-US" b="0" i="0" dirty="0">
                <a:solidFill>
                  <a:srgbClr val="404040"/>
                </a:solidFill>
                <a:effectLst/>
                <a:latin typeface="KaTeX_Main"/>
              </a:rPr>
              <a:t>	q = </a:t>
            </a:r>
            <a:r>
              <a:rPr lang="vi-VN" b="0" i="1" dirty="0">
                <a:solidFill>
                  <a:srgbClr val="404040"/>
                </a:solidFill>
                <a:effectLst/>
                <a:latin typeface="KaTeX_Math"/>
              </a:rPr>
              <a:t>FTp</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a:t>
            </a:r>
            <a:r>
              <a:rPr lang="en-US" b="0" i="0" dirty="0">
                <a:solidFill>
                  <a:srgbClr val="404040"/>
                </a:solidFill>
                <a:effectLst/>
                <a:latin typeface="KaTeX_Main"/>
              </a:rPr>
              <a:t> </a:t>
            </a:r>
            <a:r>
              <a:rPr lang="vi-VN" b="0" i="0" dirty="0">
                <a:solidFill>
                  <a:srgbClr val="404040"/>
                </a:solidFill>
                <a:effectLst/>
                <a:latin typeface="KaTeX_Main"/>
              </a:rPr>
              <a:t>≤</a:t>
            </a:r>
            <a:r>
              <a:rPr lang="en-US" b="0" i="0" dirty="0">
                <a:solidFill>
                  <a:srgbClr val="404040"/>
                </a:solidFill>
                <a:effectLst/>
                <a:latin typeface="KaTeX_Main"/>
              </a:rPr>
              <a:t> </a:t>
            </a:r>
            <a:r>
              <a:rPr lang="vi-VN" b="0" i="1" dirty="0">
                <a:solidFill>
                  <a:srgbClr val="404040"/>
                </a:solidFill>
                <a:effectLst/>
                <a:latin typeface="KaTeX_Math"/>
              </a:rPr>
              <a:t>k</a:t>
            </a:r>
            <a:r>
              <a:rPr lang="en-US" b="0" i="1" dirty="0">
                <a:solidFill>
                  <a:srgbClr val="404040"/>
                </a:solidFill>
                <a:effectLst/>
                <a:latin typeface="KaTeX_Math"/>
              </a:rPr>
              <a:t> </a:t>
            </a:r>
            <a:r>
              <a:rPr lang="vi-VN" b="0" i="0" dirty="0">
                <a:solidFill>
                  <a:srgbClr val="404040"/>
                </a:solidFill>
                <a:effectLst/>
                <a:latin typeface="KaTeX_Main"/>
              </a:rPr>
              <a:t>&lt;</a:t>
            </a:r>
            <a:r>
              <a:rPr lang="en-US" b="0" i="0" dirty="0">
                <a:solidFill>
                  <a:srgbClr val="404040"/>
                </a:solidFill>
                <a:effectLst/>
                <a:latin typeface="KaTeX_Main"/>
              </a:rPr>
              <a:t> </a:t>
            </a:r>
            <a:r>
              <a:rPr lang="vi-VN" b="0" i="1" dirty="0">
                <a:solidFill>
                  <a:srgbClr val="404040"/>
                </a:solidFill>
                <a:effectLst/>
                <a:latin typeface="KaTeX_Math"/>
              </a:rPr>
              <a:t>FTp</a:t>
            </a:r>
            <a:r>
              <a:rPr lang="vi-VN" b="0" i="0" dirty="0">
                <a:solidFill>
                  <a:srgbClr val="404040"/>
                </a:solidFill>
                <a:effectLst/>
                <a:latin typeface="KaTeX_Main"/>
              </a:rPr>
              <a:t>​[</a:t>
            </a:r>
            <a:r>
              <a:rPr lang="vi-VN" b="0" i="1" dirty="0">
                <a:solidFill>
                  <a:srgbClr val="404040"/>
                </a:solidFill>
                <a:effectLst/>
                <a:latin typeface="KaTeX_Math"/>
              </a:rPr>
              <a:t>j</a:t>
            </a:r>
            <a:r>
              <a:rPr lang="vi-VN" b="0" i="0" dirty="0">
                <a:solidFill>
                  <a:srgbClr val="404040"/>
                </a:solidFill>
                <a:effectLst/>
                <a:latin typeface="KaTeX_Main"/>
              </a:rPr>
              <a:t>+1]</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Nếu tìm thấy</a:t>
            </a:r>
            <a:r>
              <a:rPr lang="vi-VN" b="0" i="0" dirty="0">
                <a:solidFill>
                  <a:srgbClr val="404040"/>
                </a:solidFill>
                <a:effectLst/>
                <a:latin typeface="DeepSeek-CJK-patch"/>
              </a:rPr>
              <a:t>: Chuyển yêu cầu đến nút </a:t>
            </a:r>
            <a:r>
              <a:rPr lang="vi-VN" b="1" i="0" dirty="0">
                <a:solidFill>
                  <a:srgbClr val="404040"/>
                </a:solidFill>
                <a:effectLst/>
                <a:latin typeface="DeepSeek-CJK-patch"/>
              </a:rPr>
              <a:t>q = FT_p[j]</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Nếu không</a:t>
            </a:r>
            <a:r>
              <a:rPr lang="vi-VN" b="0" i="0" dirty="0">
                <a:solidFill>
                  <a:srgbClr val="404040"/>
                </a:solidFill>
                <a:effectLst/>
                <a:latin typeface="DeepSeek-CJK-patch"/>
              </a:rPr>
              <a:t>: Kiểm tra điều kiện đặc biệt:</a:t>
            </a:r>
          </a:p>
          <a:p>
            <a:pPr marL="457200" lvl="1" indent="0" algn="l">
              <a:buFont typeface="Arial" panose="020B0604020202020204" pitchFamily="34" charset="0"/>
              <a:buNone/>
            </a:pPr>
            <a:r>
              <a:rPr lang="en-US" b="0" i="0" dirty="0">
                <a:solidFill>
                  <a:srgbClr val="404040"/>
                </a:solidFill>
                <a:effectLst/>
                <a:latin typeface="KaTeX_Main"/>
              </a:rPr>
              <a:t>	</a:t>
            </a:r>
            <a:r>
              <a:rPr lang="vi-VN" b="0" i="0" dirty="0">
                <a:solidFill>
                  <a:srgbClr val="404040"/>
                </a:solidFill>
                <a:effectLst/>
                <a:latin typeface="KaTeX_Main"/>
              </a:rPr>
              <a:t>p&lt;k&lt;FTp[1]</a:t>
            </a:r>
            <a:r>
              <a:rPr lang="en-US" b="0" i="0" dirty="0">
                <a:solidFill>
                  <a:srgbClr val="404040"/>
                </a:solidFill>
                <a:effectLst/>
                <a:latin typeface="KaTeX_Main"/>
              </a:rPr>
              <a:t> =&gt; </a:t>
            </a:r>
            <a:r>
              <a:rPr lang="vi-VN" b="0" i="0" dirty="0">
                <a:solidFill>
                  <a:srgbClr val="404040"/>
                </a:solidFill>
                <a:effectLst/>
                <a:latin typeface="KaTeX_Main"/>
              </a:rPr>
              <a:t>Chuyển </a:t>
            </a:r>
            <a:r>
              <a:rPr lang="en-US" b="0" i="0" dirty="0" err="1">
                <a:solidFill>
                  <a:srgbClr val="404040"/>
                </a:solidFill>
                <a:effectLst/>
                <a:latin typeface="KaTeX_Main"/>
              </a:rPr>
              <a:t>yêu</a:t>
            </a:r>
            <a:r>
              <a:rPr lang="vi-VN" b="0" i="0" dirty="0">
                <a:solidFill>
                  <a:srgbClr val="404040"/>
                </a:solidFill>
                <a:effectLst/>
                <a:latin typeface="KaTeX_Main"/>
              </a:rPr>
              <a:t> </a:t>
            </a:r>
            <a:r>
              <a:rPr lang="en-US" b="0" i="0" dirty="0" err="1">
                <a:solidFill>
                  <a:srgbClr val="404040"/>
                </a:solidFill>
                <a:effectLst/>
                <a:latin typeface="KaTeX_Main"/>
              </a:rPr>
              <a:t>cầu</a:t>
            </a:r>
            <a:r>
              <a:rPr lang="vi-VN" b="0" i="0" dirty="0">
                <a:solidFill>
                  <a:srgbClr val="404040"/>
                </a:solidFill>
                <a:effectLst/>
                <a:latin typeface="KaTeX_Main"/>
              </a:rPr>
              <a:t> </a:t>
            </a:r>
            <a:r>
              <a:rPr lang="en-US" b="0" i="0" dirty="0" err="1">
                <a:solidFill>
                  <a:srgbClr val="404040"/>
                </a:solidFill>
                <a:effectLst/>
                <a:latin typeface="KaTeX_Main"/>
              </a:rPr>
              <a:t>đến</a:t>
            </a:r>
            <a:r>
              <a:rPr lang="vi-VN" b="0" i="0" dirty="0">
                <a:solidFill>
                  <a:srgbClr val="404040"/>
                </a:solidFill>
                <a:effectLst/>
                <a:latin typeface="KaTeX_Main"/>
              </a:rPr>
              <a:t> FTp[1].</a:t>
            </a:r>
            <a:endParaRPr lang="vi-VN" b="0" i="0" dirty="0">
              <a:solidFill>
                <a:srgbClr val="404040"/>
              </a:solidFill>
              <a:effectLst/>
              <a:latin typeface="DeepSeek-CJK-patch"/>
            </a:endParaRPr>
          </a:p>
          <a:p>
            <a:pPr algn="l"/>
            <a:r>
              <a:rPr lang="vi-VN" b="1" i="0" dirty="0">
                <a:solidFill>
                  <a:srgbClr val="404040"/>
                </a:solidFill>
                <a:effectLst/>
                <a:latin typeface="DeepSeek-CJK-patch"/>
              </a:rPr>
              <a:t>Ví dụ</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p = 1</a:t>
            </a:r>
            <a:r>
              <a:rPr lang="vi-VN" b="0" i="0" dirty="0">
                <a:solidFill>
                  <a:srgbClr val="404040"/>
                </a:solidFill>
                <a:effectLst/>
                <a:latin typeface="DeepSeek-CJK-patch"/>
              </a:rPr>
              <a:t>, </a:t>
            </a:r>
            <a:r>
              <a:rPr lang="vi-VN" b="1" i="0" dirty="0">
                <a:solidFill>
                  <a:srgbClr val="404040"/>
                </a:solidFill>
                <a:effectLst/>
                <a:latin typeface="DeepSeek-CJK-patch"/>
              </a:rPr>
              <a:t>k = 26</a:t>
            </a:r>
            <a:r>
              <a:rPr lang="vi-VN" b="0" i="0" dirty="0">
                <a:solidFill>
                  <a:srgbClr val="404040"/>
                </a:solidFill>
                <a:effectLst/>
                <a:latin typeface="DeepSeek-CJK-patch"/>
              </a:rPr>
              <a:t>, FT₁ như sau:</a:t>
            </a:r>
          </a:p>
          <a:p>
            <a:pPr algn="l">
              <a:buFont typeface="Arial" panose="020B0604020202020204" pitchFamily="34" charset="0"/>
              <a:buNone/>
            </a:pPr>
            <a:r>
              <a:rPr lang="en-US" b="0" i="0" dirty="0">
                <a:solidFill>
                  <a:srgbClr val="404040"/>
                </a:solidFill>
                <a:effectLst/>
                <a:latin typeface="DeepSeek-CJK-patch"/>
              </a:rPr>
              <a:t>	</a:t>
            </a:r>
            <a:r>
              <a:rPr lang="en-US" b="0" i="0" dirty="0" err="1">
                <a:solidFill>
                  <a:srgbClr val="404040"/>
                </a:solidFill>
                <a:effectLst/>
                <a:latin typeface="DeepSeek-CJK-patch"/>
              </a:rPr>
              <a:t>i</a:t>
            </a:r>
            <a:r>
              <a:rPr lang="en-US" b="0" i="0" dirty="0">
                <a:solidFill>
                  <a:srgbClr val="404040"/>
                </a:solidFill>
                <a:effectLst/>
                <a:latin typeface="DeepSeek-CJK-patch"/>
              </a:rPr>
              <a:t>	</a:t>
            </a:r>
            <a:r>
              <a:rPr lang="vi-VN" b="0" i="0" dirty="0">
                <a:solidFill>
                  <a:srgbClr val="404040"/>
                </a:solidFill>
                <a:effectLst/>
                <a:latin typeface="DeepSeek-CJK-patch"/>
              </a:rPr>
              <a:t>FT₁[i]</a:t>
            </a:r>
            <a:endParaRPr lang="en-US"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1	</a:t>
            </a:r>
            <a:r>
              <a:rPr lang="vi-VN" b="0" i="0" dirty="0">
                <a:solidFill>
                  <a:srgbClr val="404040"/>
                </a:solidFill>
                <a:effectLst/>
                <a:latin typeface="DeepSeek-CJK-patch"/>
              </a:rPr>
              <a:t>2</a:t>
            </a:r>
            <a:endParaRPr lang="en-US"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2	</a:t>
            </a:r>
            <a:r>
              <a:rPr lang="vi-VN" b="0" i="0" dirty="0">
                <a:solidFill>
                  <a:srgbClr val="404040"/>
                </a:solidFill>
                <a:effectLst/>
                <a:latin typeface="DeepSeek-CJK-patch"/>
              </a:rPr>
              <a:t>4</a:t>
            </a:r>
            <a:endParaRPr lang="en-US"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3</a:t>
            </a:r>
            <a:r>
              <a:rPr lang="en-US" b="0" i="0" dirty="0">
                <a:solidFill>
                  <a:srgbClr val="404040"/>
                </a:solidFill>
                <a:effectLst/>
                <a:latin typeface="DeepSeek-CJK-patch"/>
              </a:rPr>
              <a:t>	</a:t>
            </a:r>
            <a:r>
              <a:rPr lang="vi-VN" b="0" i="0" dirty="0">
                <a:solidFill>
                  <a:srgbClr val="404040"/>
                </a:solidFill>
                <a:effectLst/>
                <a:latin typeface="DeepSeek-CJK-patch"/>
              </a:rPr>
              <a:t>8</a:t>
            </a:r>
            <a:endParaRPr lang="en-US"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4</a:t>
            </a:r>
            <a:r>
              <a:rPr lang="en-US" b="0" i="0" dirty="0">
                <a:solidFill>
                  <a:srgbClr val="404040"/>
                </a:solidFill>
                <a:effectLst/>
                <a:latin typeface="DeepSeek-CJK-patch"/>
              </a:rPr>
              <a:t>	</a:t>
            </a:r>
            <a:r>
              <a:rPr lang="vi-VN" b="0" i="0" dirty="0">
                <a:solidFill>
                  <a:srgbClr val="404040"/>
                </a:solidFill>
                <a:effectLst/>
                <a:latin typeface="DeepSeek-CJK-patch"/>
              </a:rPr>
              <a:t>16</a:t>
            </a:r>
            <a:endParaRPr lang="en-US"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5</a:t>
            </a:r>
            <a:r>
              <a:rPr lang="en-US" b="0" i="0" dirty="0">
                <a:solidFill>
                  <a:srgbClr val="404040"/>
                </a:solidFill>
                <a:effectLst/>
                <a:latin typeface="DeepSeek-CJK-patch"/>
              </a:rPr>
              <a:t>	</a:t>
            </a:r>
            <a:r>
              <a:rPr lang="vi-VN" b="0" i="0" dirty="0">
                <a:solidFill>
                  <a:srgbClr val="404040"/>
                </a:solidFill>
                <a:effectLst/>
                <a:latin typeface="DeepSeek-CJK-patch"/>
              </a:rPr>
              <a:t>32</a:t>
            </a:r>
            <a:endParaRPr lang="en-US" b="0" i="0" dirty="0">
              <a:solidFill>
                <a:srgbClr val="404040"/>
              </a:solidFill>
              <a:effectLst/>
              <a:latin typeface="DeepSeek-CJK-patch"/>
            </a:endParaRPr>
          </a:p>
          <a:p>
            <a:pPr marL="457200" lvl="1" indent="0" algn="l">
              <a:buFont typeface="Arial" panose="020B0604020202020204" pitchFamily="34" charset="0"/>
              <a:buNone/>
            </a:pPr>
            <a:r>
              <a:rPr lang="vi-VN" b="0" i="0" dirty="0">
                <a:solidFill>
                  <a:srgbClr val="404040"/>
                </a:solidFill>
                <a:effectLst/>
                <a:latin typeface="DeepSeek-CJK-patch"/>
              </a:rPr>
              <a:t>Vì </a:t>
            </a:r>
            <a:r>
              <a:rPr lang="vi-VN" b="1" i="0" dirty="0">
                <a:solidFill>
                  <a:srgbClr val="404040"/>
                </a:solidFill>
                <a:effectLst/>
                <a:latin typeface="DeepSeek-CJK-patch"/>
              </a:rPr>
              <a:t>26 &lt; 32</a:t>
            </a:r>
            <a:r>
              <a:rPr lang="vi-VN" b="0" i="0" dirty="0">
                <a:solidFill>
                  <a:srgbClr val="404040"/>
                </a:solidFill>
                <a:effectLst/>
                <a:latin typeface="DeepSeek-CJK-patch"/>
              </a:rPr>
              <a:t> và </a:t>
            </a:r>
            <a:r>
              <a:rPr lang="vi-VN" b="1" i="0" dirty="0">
                <a:solidFill>
                  <a:srgbClr val="404040"/>
                </a:solidFill>
                <a:effectLst/>
                <a:latin typeface="DeepSeek-CJK-patch"/>
              </a:rPr>
              <a:t>26 ≥ 16</a:t>
            </a:r>
            <a:r>
              <a:rPr lang="vi-VN" b="0" i="0" dirty="0">
                <a:solidFill>
                  <a:srgbClr val="404040"/>
                </a:solidFill>
                <a:effectLst/>
                <a:latin typeface="DeepSeek-CJK-patch"/>
              </a:rPr>
              <a:t> → Chọn </a:t>
            </a:r>
            <a:r>
              <a:rPr lang="vi-VN" b="1" i="0" dirty="0">
                <a:solidFill>
                  <a:srgbClr val="404040"/>
                </a:solidFill>
                <a:effectLst/>
                <a:latin typeface="DeepSeek-CJK-patch"/>
              </a:rPr>
              <a:t>j = 4</a:t>
            </a:r>
            <a:r>
              <a:rPr lang="vi-VN" b="0" i="0" dirty="0">
                <a:solidFill>
                  <a:srgbClr val="404040"/>
                </a:solidFill>
                <a:effectLst/>
                <a:latin typeface="DeepSeek-CJK-patch"/>
              </a:rPr>
              <a:t> → Chuyển yêu cầu đến </a:t>
            </a:r>
            <a:r>
              <a:rPr lang="vi-VN" b="1" i="0" dirty="0">
                <a:solidFill>
                  <a:srgbClr val="404040"/>
                </a:solidFill>
                <a:effectLst/>
                <a:latin typeface="DeepSeek-CJK-patch"/>
              </a:rPr>
              <a:t>FT₁[4] = 16</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Tại sao F</a:t>
            </a:r>
            <a:r>
              <a:rPr lang="en-US" b="1" i="0" dirty="0" err="1">
                <a:solidFill>
                  <a:srgbClr val="404040"/>
                </a:solidFill>
                <a:effectLst/>
                <a:latin typeface="DeepSeek-CJK-patch"/>
              </a:rPr>
              <a:t>inger</a:t>
            </a:r>
            <a:r>
              <a:rPr lang="en-US" b="1" i="0" dirty="0">
                <a:solidFill>
                  <a:srgbClr val="404040"/>
                </a:solidFill>
                <a:effectLst/>
                <a:latin typeface="DeepSeek-CJK-patch"/>
              </a:rPr>
              <a:t> table</a:t>
            </a:r>
            <a:r>
              <a:rPr lang="vi-VN" b="1" i="0" dirty="0">
                <a:solidFill>
                  <a:srgbClr val="404040"/>
                </a:solidFill>
                <a:effectLst/>
                <a:latin typeface="DeepSeek-CJK-patch"/>
              </a:rPr>
              <a:t> hiệu quả?</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Tính chất</a:t>
            </a:r>
            <a:r>
              <a:rPr lang="vi-VN" b="0" i="0" dirty="0">
                <a:solidFill>
                  <a:srgbClr val="404040"/>
                </a:solidFill>
                <a:effectLst/>
                <a:latin typeface="DeepSeek-CJK-patch"/>
              </a:rPr>
              <a:t>:</a:t>
            </a:r>
          </a:p>
          <a:p>
            <a:pPr marL="457200" lvl="1" indent="0" algn="l">
              <a:buFont typeface="Arial" panose="020B0604020202020204" pitchFamily="34" charset="0"/>
              <a:buNone/>
            </a:pPr>
            <a:r>
              <a:rPr lang="vi-VN" b="0" i="0" dirty="0">
                <a:solidFill>
                  <a:srgbClr val="404040"/>
                </a:solidFill>
                <a:effectLst/>
                <a:latin typeface="DeepSeek-CJK-patch"/>
              </a:rPr>
              <a:t>Mỗi mục </a:t>
            </a:r>
            <a:r>
              <a:rPr lang="vi-VN" b="1" i="0" dirty="0">
                <a:solidFill>
                  <a:srgbClr val="404040"/>
                </a:solidFill>
                <a:effectLst/>
                <a:latin typeface="DeepSeek-CJK-patch"/>
              </a:rPr>
              <a:t>FT_p[i]</a:t>
            </a:r>
            <a:r>
              <a:rPr lang="vi-VN" b="0" i="0" dirty="0">
                <a:solidFill>
                  <a:srgbClr val="404040"/>
                </a:solidFill>
                <a:effectLst/>
                <a:latin typeface="DeepSeek-CJK-patch"/>
              </a:rPr>
              <a:t> trỏ đến nút cách </a:t>
            </a:r>
            <a:r>
              <a:rPr lang="vi-VN" b="1" i="0" dirty="0">
                <a:solidFill>
                  <a:srgbClr val="404040"/>
                </a:solidFill>
                <a:effectLst/>
                <a:latin typeface="DeepSeek-CJK-patch"/>
              </a:rPr>
              <a:t>p</a:t>
            </a:r>
            <a:r>
              <a:rPr lang="vi-VN" b="0" i="0" dirty="0">
                <a:solidFill>
                  <a:srgbClr val="404040"/>
                </a:solidFill>
                <a:effectLst/>
                <a:latin typeface="DeepSeek-CJK-patch"/>
              </a:rPr>
              <a:t> một khoảng </a:t>
            </a:r>
            <a:r>
              <a:rPr lang="vi-VN" b="1" i="0" dirty="0">
                <a:solidFill>
                  <a:srgbClr val="404040"/>
                </a:solidFill>
                <a:effectLst/>
                <a:latin typeface="DeepSeek-CJK-patch"/>
              </a:rPr>
              <a:t>2^{i-1}</a:t>
            </a:r>
            <a:r>
              <a:rPr lang="vi-VN" b="0" i="0" dirty="0">
                <a:solidFill>
                  <a:srgbClr val="404040"/>
                </a:solidFill>
                <a:effectLst/>
                <a:latin typeface="DeepSeek-CJK-patch"/>
              </a:rPr>
              <a:t> → Tạo ra các "shortcut" giúp giảm số bước tra cứu.</a:t>
            </a:r>
          </a:p>
          <a:p>
            <a:pPr algn="l">
              <a:buFont typeface="Arial" panose="020B0604020202020204" pitchFamily="34" charset="0"/>
              <a:buChar char="•"/>
            </a:pPr>
            <a:r>
              <a:rPr lang="vi-VN" b="1" i="0" dirty="0">
                <a:solidFill>
                  <a:srgbClr val="404040"/>
                </a:solidFill>
                <a:effectLst/>
                <a:latin typeface="DeepSeek-CJK-patch"/>
              </a:rPr>
              <a:t>Độ phức tạp</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Tra cứu chỉ mất </a:t>
            </a:r>
            <a:r>
              <a:rPr lang="vi-VN" b="1" i="0" dirty="0">
                <a:solidFill>
                  <a:srgbClr val="404040"/>
                </a:solidFill>
                <a:effectLst/>
                <a:latin typeface="DeepSeek-CJK-patch"/>
              </a:rPr>
              <a:t>O(log N)</a:t>
            </a:r>
            <a:r>
              <a:rPr lang="vi-VN" b="0" i="0" dirty="0">
                <a:solidFill>
                  <a:srgbClr val="404040"/>
                </a:solidFill>
                <a:effectLst/>
                <a:latin typeface="DeepSeek-CJK-patch"/>
              </a:rPr>
              <a:t> bước (với </a:t>
            </a:r>
            <a:r>
              <a:rPr lang="vi-VN" b="1" i="0" dirty="0">
                <a:solidFill>
                  <a:srgbClr val="404040"/>
                </a:solidFill>
                <a:effectLst/>
                <a:latin typeface="DeepSeek-CJK-patch"/>
              </a:rPr>
              <a:t>N</a:t>
            </a:r>
            <a:r>
              <a:rPr lang="vi-VN" b="0" i="0" dirty="0">
                <a:solidFill>
                  <a:srgbClr val="404040"/>
                </a:solidFill>
                <a:effectLst/>
                <a:latin typeface="DeepSeek-CJK-patch"/>
              </a:rPr>
              <a:t> là số nút).</a:t>
            </a:r>
          </a:p>
          <a:p>
            <a:pPr algn="l"/>
            <a:r>
              <a:rPr lang="vi-VN" b="1" i="1" dirty="0">
                <a:solidFill>
                  <a:srgbClr val="404040"/>
                </a:solidFill>
                <a:effectLst/>
                <a:latin typeface="DeepSeek-CJK-patch"/>
              </a:rPr>
              <a:t>Minh họa</a:t>
            </a:r>
            <a:r>
              <a:rPr lang="vi-VN" b="0" i="1" dirty="0">
                <a:solidFill>
                  <a:srgbClr val="404040"/>
                </a:solidFill>
                <a:effectLst/>
                <a:latin typeface="DeepSeek-CJK-patch"/>
              </a:rPr>
              <a:t>:</a:t>
            </a:r>
          </a:p>
          <a:p>
            <a:pPr algn="l">
              <a:buFont typeface="Arial" panose="020B0604020202020204" pitchFamily="34" charset="0"/>
              <a:buChar char="•"/>
            </a:pPr>
            <a:r>
              <a:rPr lang="vi-VN" b="0" i="1" dirty="0">
                <a:solidFill>
                  <a:srgbClr val="404040"/>
                </a:solidFill>
                <a:effectLst/>
                <a:latin typeface="DeepSeek-CJK-patch"/>
              </a:rPr>
              <a:t>Tra cứu </a:t>
            </a:r>
            <a:r>
              <a:rPr lang="vi-VN" b="1" i="1" dirty="0">
                <a:solidFill>
                  <a:srgbClr val="404040"/>
                </a:solidFill>
                <a:effectLst/>
                <a:latin typeface="DeepSeek-CJK-patch"/>
              </a:rPr>
              <a:t>k = 26</a:t>
            </a:r>
            <a:r>
              <a:rPr lang="vi-VN" b="0" i="1" dirty="0">
                <a:solidFill>
                  <a:srgbClr val="404040"/>
                </a:solidFill>
                <a:effectLst/>
                <a:latin typeface="DeepSeek-CJK-patch"/>
              </a:rPr>
              <a:t> từ </a:t>
            </a:r>
            <a:r>
              <a:rPr lang="vi-VN" b="1" i="1" dirty="0">
                <a:solidFill>
                  <a:srgbClr val="404040"/>
                </a:solidFill>
                <a:effectLst/>
                <a:latin typeface="DeepSeek-CJK-patch"/>
              </a:rPr>
              <a:t>p = 1</a:t>
            </a:r>
            <a:r>
              <a:rPr lang="vi-VN" b="0" i="1" dirty="0">
                <a:solidFill>
                  <a:srgbClr val="404040"/>
                </a:solidFill>
                <a:effectLst/>
                <a:latin typeface="DeepSeek-CJK-patch"/>
              </a:rPr>
              <a:t>:</a:t>
            </a:r>
          </a:p>
          <a:p>
            <a:pPr marL="457200" lvl="1" indent="0" algn="l">
              <a:buFont typeface="Arial" panose="020B0604020202020204" pitchFamily="34" charset="0"/>
              <a:buNone/>
            </a:pPr>
            <a:r>
              <a:rPr lang="en-US" b="1" i="1" dirty="0">
                <a:solidFill>
                  <a:srgbClr val="404040"/>
                </a:solidFill>
                <a:effectLst/>
                <a:latin typeface="DeepSeek-CJK-patch"/>
              </a:rPr>
              <a:t>- </a:t>
            </a:r>
            <a:r>
              <a:rPr lang="vi-VN" b="1" i="1" dirty="0">
                <a:solidFill>
                  <a:srgbClr val="404040"/>
                </a:solidFill>
                <a:effectLst/>
                <a:latin typeface="DeepSeek-CJK-patch"/>
              </a:rPr>
              <a:t>1</a:t>
            </a:r>
            <a:r>
              <a:rPr lang="vi-VN" b="0" i="1" dirty="0">
                <a:solidFill>
                  <a:srgbClr val="404040"/>
                </a:solidFill>
                <a:effectLst/>
                <a:latin typeface="DeepSeek-CJK-patch"/>
              </a:rPr>
              <a:t> → </a:t>
            </a:r>
            <a:r>
              <a:rPr lang="vi-VN" b="1" i="1" dirty="0">
                <a:solidFill>
                  <a:srgbClr val="404040"/>
                </a:solidFill>
                <a:effectLst/>
                <a:latin typeface="DeepSeek-CJK-patch"/>
              </a:rPr>
              <a:t>16</a:t>
            </a:r>
            <a:r>
              <a:rPr lang="vi-VN" b="0" i="1" dirty="0">
                <a:solidFill>
                  <a:srgbClr val="404040"/>
                </a:solidFill>
                <a:effectLst/>
                <a:latin typeface="DeepSeek-CJK-patch"/>
              </a:rPr>
              <a:t> (FT₁[4]).</a:t>
            </a:r>
          </a:p>
          <a:p>
            <a:pPr marL="457200" lvl="1" indent="0" algn="l">
              <a:buFont typeface="Arial" panose="020B0604020202020204" pitchFamily="34" charset="0"/>
              <a:buNone/>
            </a:pPr>
            <a:r>
              <a:rPr lang="en-US" b="1" i="1" dirty="0">
                <a:solidFill>
                  <a:srgbClr val="404040"/>
                </a:solidFill>
                <a:effectLst/>
                <a:latin typeface="DeepSeek-CJK-patch"/>
              </a:rPr>
              <a:t>- </a:t>
            </a:r>
            <a:r>
              <a:rPr lang="vi-VN" b="1" i="1" dirty="0">
                <a:solidFill>
                  <a:srgbClr val="404040"/>
                </a:solidFill>
                <a:effectLst/>
                <a:latin typeface="DeepSeek-CJK-patch"/>
              </a:rPr>
              <a:t>16</a:t>
            </a:r>
            <a:r>
              <a:rPr lang="vi-VN" b="0" i="1" dirty="0">
                <a:solidFill>
                  <a:srgbClr val="404040"/>
                </a:solidFill>
                <a:effectLst/>
                <a:latin typeface="DeepSeek-CJK-patch"/>
              </a:rPr>
              <a:t> → </a:t>
            </a:r>
            <a:r>
              <a:rPr lang="vi-VN" b="1" i="1" dirty="0">
                <a:solidFill>
                  <a:srgbClr val="404040"/>
                </a:solidFill>
                <a:effectLst/>
                <a:latin typeface="DeepSeek-CJK-patch"/>
              </a:rPr>
              <a:t>20</a:t>
            </a:r>
            <a:r>
              <a:rPr lang="vi-VN" b="0" i="1" dirty="0">
                <a:solidFill>
                  <a:srgbClr val="404040"/>
                </a:solidFill>
                <a:effectLst/>
                <a:latin typeface="DeepSeek-CJK-patch"/>
              </a:rPr>
              <a:t> (FT₁₆[?]).</a:t>
            </a:r>
          </a:p>
          <a:p>
            <a:pPr marL="457200" lvl="1" indent="0" algn="l">
              <a:buFont typeface="Arial" panose="020B0604020202020204" pitchFamily="34" charset="0"/>
              <a:buNone/>
            </a:pPr>
            <a:r>
              <a:rPr lang="en-US" b="1" i="1" dirty="0">
                <a:solidFill>
                  <a:srgbClr val="404040"/>
                </a:solidFill>
                <a:effectLst/>
                <a:latin typeface="DeepSeek-CJK-patch"/>
              </a:rPr>
              <a:t>- </a:t>
            </a:r>
            <a:r>
              <a:rPr lang="vi-VN" b="1" i="1" dirty="0">
                <a:solidFill>
                  <a:srgbClr val="404040"/>
                </a:solidFill>
                <a:effectLst/>
                <a:latin typeface="DeepSeek-CJK-patch"/>
              </a:rPr>
              <a:t>20</a:t>
            </a:r>
            <a:r>
              <a:rPr lang="vi-VN" b="0" i="1" dirty="0">
                <a:solidFill>
                  <a:srgbClr val="404040"/>
                </a:solidFill>
                <a:effectLst/>
                <a:latin typeface="DeepSeek-CJK-patch"/>
              </a:rPr>
              <a:t> → </a:t>
            </a:r>
            <a:r>
              <a:rPr lang="vi-VN" b="1" i="1" dirty="0">
                <a:solidFill>
                  <a:srgbClr val="404040"/>
                </a:solidFill>
                <a:effectLst/>
                <a:latin typeface="DeepSeek-CJK-patch"/>
              </a:rPr>
              <a:t>28</a:t>
            </a:r>
            <a:r>
              <a:rPr lang="vi-VN" b="0" i="1" dirty="0">
                <a:solidFill>
                  <a:srgbClr val="404040"/>
                </a:solidFill>
                <a:effectLst/>
                <a:latin typeface="DeepSeek-CJK-patch"/>
              </a:rPr>
              <a:t> (succ(26)).</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Trường hợp đặc biệt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k</a:t>
            </a:r>
            <a:r>
              <a:rPr lang="vi-VN" b="0" i="0" dirty="0">
                <a:solidFill>
                  <a:srgbClr val="404040"/>
                </a:solidFill>
                <a:effectLst/>
                <a:latin typeface="DeepSeek-CJK-patch"/>
              </a:rPr>
              <a:t> nằm giữa </a:t>
            </a:r>
            <a:r>
              <a:rPr lang="vi-VN" b="1" i="0" dirty="0">
                <a:solidFill>
                  <a:srgbClr val="404040"/>
                </a:solidFill>
                <a:effectLst/>
                <a:latin typeface="DeepSeek-CJK-patch"/>
              </a:rPr>
              <a:t>p</a:t>
            </a:r>
            <a:r>
              <a:rPr lang="vi-VN" b="0" i="0" dirty="0">
                <a:solidFill>
                  <a:srgbClr val="404040"/>
                </a:solidFill>
                <a:effectLst/>
                <a:latin typeface="DeepSeek-CJK-patch"/>
              </a:rPr>
              <a:t> và </a:t>
            </a:r>
            <a:r>
              <a:rPr lang="vi-VN" b="1" i="0" dirty="0">
                <a:solidFill>
                  <a:srgbClr val="404040"/>
                </a:solidFill>
                <a:effectLst/>
                <a:latin typeface="DeepSeek-CJK-patch"/>
              </a:rPr>
              <a:t>FT_p[1]</a:t>
            </a:r>
            <a:r>
              <a:rPr lang="vi-VN" b="0" i="0" dirty="0">
                <a:solidFill>
                  <a:srgbClr val="404040"/>
                </a:solidFill>
                <a:effectLst/>
                <a:latin typeface="DeepSeek-CJK-patch"/>
              </a:rPr>
              <a:t> (ví dụ: </a:t>
            </a:r>
            <a:r>
              <a:rPr lang="vi-VN" b="1" i="0" dirty="0">
                <a:solidFill>
                  <a:srgbClr val="404040"/>
                </a:solidFill>
                <a:effectLst/>
                <a:latin typeface="DeepSeek-CJK-patch"/>
              </a:rPr>
              <a:t>p = 1</a:t>
            </a:r>
            <a:r>
              <a:rPr lang="vi-VN" b="0" i="0" dirty="0">
                <a:solidFill>
                  <a:srgbClr val="404040"/>
                </a:solidFill>
                <a:effectLst/>
                <a:latin typeface="DeepSeek-CJK-patch"/>
              </a:rPr>
              <a:t>, </a:t>
            </a:r>
            <a:r>
              <a:rPr lang="vi-VN" b="1" i="0" dirty="0">
                <a:solidFill>
                  <a:srgbClr val="404040"/>
                </a:solidFill>
                <a:effectLst/>
                <a:latin typeface="DeepSeek-CJK-patch"/>
              </a:rPr>
              <a:t>k = 1.5</a:t>
            </a:r>
            <a:r>
              <a:rPr lang="vi-VN" b="0" i="0" dirty="0">
                <a:solidFill>
                  <a:srgbClr val="404040"/>
                </a:solidFill>
                <a:effectLst/>
                <a:latin typeface="DeepSeek-CJK-patch"/>
              </a:rPr>
              <a:t>, </a:t>
            </a:r>
            <a:r>
              <a:rPr lang="vi-VN" b="1" i="0" dirty="0">
                <a:solidFill>
                  <a:srgbClr val="404040"/>
                </a:solidFill>
                <a:effectLst/>
                <a:latin typeface="DeepSeek-CJK-patch"/>
              </a:rPr>
              <a:t>FT₁[1] = 2</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Yêu cầu được chuyển ngay đến </a:t>
            </a:r>
            <a:r>
              <a:rPr lang="vi-VN" b="1" i="0" dirty="0">
                <a:solidFill>
                  <a:srgbClr val="404040"/>
                </a:solidFill>
                <a:effectLst/>
                <a:latin typeface="DeepSeek-CJK-patch"/>
              </a:rPr>
              <a:t>FT_p[1]</a:t>
            </a:r>
            <a:r>
              <a:rPr lang="vi-VN" b="0" i="0" dirty="0">
                <a:solidFill>
                  <a:srgbClr val="404040"/>
                </a:solidFill>
                <a:effectLst/>
                <a:latin typeface="DeepSeek-CJK-patch"/>
              </a:rPr>
              <a:t> (nút </a:t>
            </a:r>
            <a:r>
              <a:rPr lang="vi-VN" b="1" i="0" dirty="0">
                <a:solidFill>
                  <a:srgbClr val="404040"/>
                </a:solidFill>
                <a:effectLst/>
                <a:latin typeface="DeepSeek-CJK-patch"/>
              </a:rPr>
              <a:t>2</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5. Ứng dụng thực tế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Hệ thống phân tán</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BitTorrent</a:t>
            </a:r>
            <a:r>
              <a:rPr lang="vi-VN" b="0" i="0" dirty="0">
                <a:solidFill>
                  <a:srgbClr val="404040"/>
                </a:solidFill>
                <a:effectLst/>
                <a:latin typeface="DeepSeek-CJK-patch"/>
              </a:rPr>
              <a:t>: DHT dựa trên Chord để tìm peer chứa file.</a:t>
            </a:r>
          </a:p>
          <a:p>
            <a:pPr marL="742950" lvl="1" indent="-285750" algn="l">
              <a:buFont typeface="Arial" panose="020B0604020202020204" pitchFamily="34" charset="0"/>
              <a:buChar char="•"/>
            </a:pPr>
            <a:r>
              <a:rPr lang="vi-VN" b="1" i="0" dirty="0">
                <a:solidFill>
                  <a:srgbClr val="404040"/>
                </a:solidFill>
                <a:effectLst/>
                <a:latin typeface="DeepSeek-CJK-patch"/>
              </a:rPr>
              <a:t>Cassandra</a:t>
            </a:r>
            <a:r>
              <a:rPr lang="vi-VN" b="0" i="0" dirty="0">
                <a:solidFill>
                  <a:srgbClr val="404040"/>
                </a:solidFill>
                <a:effectLst/>
                <a:latin typeface="DeepSeek-CJK-patch"/>
              </a:rPr>
              <a:t>: Quản lý phân tán dữ liệu.</a:t>
            </a:r>
          </a:p>
          <a:p>
            <a:pPr algn="l">
              <a:buFont typeface="Arial" panose="020B0604020202020204" pitchFamily="34" charset="0"/>
              <a:buChar char="•"/>
            </a:pPr>
            <a:r>
              <a:rPr lang="vi-VN" b="1" i="0" dirty="0">
                <a:solidFill>
                  <a:srgbClr val="404040"/>
                </a:solidFill>
                <a:effectLst/>
                <a:latin typeface="DeepSeek-CJK-patch"/>
              </a:rPr>
              <a:t>Ưu điểm</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Cân bằng tải tốt do khóa phân bổ ngẫu nhiên.</a:t>
            </a:r>
          </a:p>
          <a:p>
            <a:pPr marL="742950" lvl="1" indent="-285750" algn="l">
              <a:buFont typeface="Arial" panose="020B0604020202020204" pitchFamily="34" charset="0"/>
              <a:buChar char="•"/>
            </a:pPr>
            <a:r>
              <a:rPr lang="vi-VN" b="0" i="0" dirty="0">
                <a:solidFill>
                  <a:srgbClr val="404040"/>
                </a:solidFill>
                <a:effectLst/>
                <a:latin typeface="DeepSeek-CJK-patch"/>
              </a:rPr>
              <a:t>Chịu lỗi cao nhờ cơ chế cập nhật FT động.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Câu hỏi kiểm tra</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*"Nếu FT_p[1] = p (nút hiện tại), điều gì xảy ra khi tra cứu khóa k &gt; p?"*</a:t>
            </a:r>
            <a:br>
              <a:rPr lang="vi-VN" b="0" i="0" dirty="0">
                <a:solidFill>
                  <a:srgbClr val="404040"/>
                </a:solidFill>
                <a:effectLst/>
                <a:latin typeface="DeepSeek-CJK-patch"/>
              </a:rPr>
            </a:br>
            <a:r>
              <a:rPr lang="vi-VN" b="0" i="0" dirty="0">
                <a:solidFill>
                  <a:srgbClr val="404040"/>
                </a:solidFill>
                <a:effectLst/>
                <a:latin typeface="DeepSeek-CJK-patch"/>
              </a:rPr>
              <a:t>→ Gợi ý: Nút </a:t>
            </a:r>
            <a:r>
              <a:rPr lang="vi-VN" b="1" i="0" dirty="0">
                <a:solidFill>
                  <a:srgbClr val="404040"/>
                </a:solidFill>
                <a:effectLst/>
                <a:latin typeface="DeepSeek-CJK-patch"/>
              </a:rPr>
              <a:t>p</a:t>
            </a:r>
            <a:r>
              <a:rPr lang="vi-VN" b="0" i="0" dirty="0">
                <a:solidFill>
                  <a:srgbClr val="404040"/>
                </a:solidFill>
                <a:effectLst/>
                <a:latin typeface="DeepSeek-CJK-patch"/>
              </a:rPr>
              <a:t> tự xử lý nếu nó là </a:t>
            </a:r>
            <a:r>
              <a:rPr lang="vi-VN" b="1" i="0" dirty="0">
                <a:solidFill>
                  <a:srgbClr val="404040"/>
                </a:solidFill>
                <a:effectLst/>
                <a:latin typeface="DeepSeek-CJK-patch"/>
              </a:rPr>
              <a:t>succ(k)</a:t>
            </a:r>
            <a:r>
              <a:rPr lang="vi-VN" b="0" i="0" dirty="0">
                <a:solidFill>
                  <a:srgbClr val="404040"/>
                </a:solidFill>
                <a:effectLst/>
                <a:latin typeface="DeepSeek-CJK-patch"/>
              </a:rPr>
              <a:t>.</a:t>
            </a:r>
          </a:p>
          <a:p>
            <a:endParaRPr lang="en-US" b="1" dirty="0"/>
          </a:p>
        </p:txBody>
      </p:sp>
      <p:sp>
        <p:nvSpPr>
          <p:cNvPr id="4" name="Slide Number Placeholder 3"/>
          <p:cNvSpPr>
            <a:spLocks noGrp="1"/>
          </p:cNvSpPr>
          <p:nvPr>
            <p:ph type="sldNum" sz="quarter" idx="5"/>
          </p:nvPr>
        </p:nvSpPr>
        <p:spPr/>
        <p:txBody>
          <a:bodyPr/>
          <a:lstStyle/>
          <a:p>
            <a:fld id="{492BC7D0-5925-4E08-962F-A8F7AB738BAF}" type="slidenum">
              <a:rPr lang="en-US" smtClean="0"/>
              <a:t>14</a:t>
            </a:fld>
            <a:endParaRPr lang="en-US"/>
          </a:p>
        </p:txBody>
      </p:sp>
    </p:spTree>
    <p:extLst>
      <p:ext uri="{BB962C8B-B14F-4D97-AF65-F5344CB8AC3E}">
        <p14:creationId xmlns:p14="http://schemas.microsoft.com/office/powerpoint/2010/main" val="2387524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Hình vẽ minh họa quy trình </a:t>
            </a:r>
            <a:r>
              <a:rPr lang="vi-VN" b="1" dirty="0"/>
              <a:t>tra cứu khóa (key lookup)</a:t>
            </a:r>
            <a:r>
              <a:rPr lang="vi-VN" dirty="0"/>
              <a:t> trong hệ thống </a:t>
            </a:r>
            <a:r>
              <a:rPr lang="vi-VN" b="1" dirty="0"/>
              <a:t>Chord</a:t>
            </a:r>
            <a:r>
              <a:rPr lang="vi-VN" dirty="0"/>
              <a:t> sử dụng bảng </a:t>
            </a:r>
            <a:r>
              <a:rPr lang="vi-VN" b="1" dirty="0"/>
              <a:t>finger table</a:t>
            </a:r>
            <a:r>
              <a:rPr lang="vi-VN" dirty="0"/>
              <a:t>, với hai ví dụ cụ thể:</a:t>
            </a:r>
          </a:p>
          <a:p>
            <a:endParaRPr lang="en-US" b="1" dirty="0"/>
          </a:p>
          <a:p>
            <a:r>
              <a:rPr lang="vi-VN" b="1" dirty="0"/>
              <a:t>Ví dụ 1: Tra cứu khóa k = 26 từ nút 1</a:t>
            </a:r>
          </a:p>
          <a:p>
            <a:r>
              <a:rPr lang="vi-VN" b="1" dirty="0"/>
              <a:t>Mục tiêu:</a:t>
            </a:r>
          </a:p>
          <a:p>
            <a:r>
              <a:rPr lang="vi-VN" dirty="0"/>
              <a:t>Tìm nút </a:t>
            </a:r>
            <a:r>
              <a:rPr lang="vi-VN" b="1" dirty="0"/>
              <a:t>chịu trách nhiệm lưu trữ key 26</a:t>
            </a:r>
            <a:r>
              <a:rPr lang="vi-VN" dirty="0"/>
              <a:t>, bắt đầu từ </a:t>
            </a:r>
            <a:r>
              <a:rPr lang="vi-VN" b="1" dirty="0"/>
              <a:t>nút 1</a:t>
            </a:r>
            <a:r>
              <a:rPr lang="vi-VN" dirty="0"/>
              <a:t>.</a:t>
            </a:r>
          </a:p>
          <a:p>
            <a:r>
              <a:rPr lang="vi-VN" b="1" dirty="0"/>
              <a:t>Các bước:</a:t>
            </a:r>
          </a:p>
          <a:p>
            <a:pPr>
              <a:buFont typeface="+mj-lt"/>
              <a:buAutoNum type="arabicPeriod"/>
            </a:pPr>
            <a:r>
              <a:rPr lang="vi-VN" b="1" dirty="0"/>
              <a:t>Nút 1 tra cứu finger table của mình:</a:t>
            </a:r>
            <a:endParaRPr lang="vi-VN" dirty="0"/>
          </a:p>
          <a:p>
            <a:pPr marL="457200" lvl="1" indent="0">
              <a:buFont typeface="+mj-lt"/>
              <a:buNone/>
            </a:pPr>
            <a:r>
              <a:rPr lang="en-US" dirty="0"/>
              <a:t>- </a:t>
            </a:r>
            <a:r>
              <a:rPr lang="vi-VN" dirty="0"/>
              <a:t>FT₁[5] = succ(1 + 2⁴) = succ(17) = 18</a:t>
            </a:r>
          </a:p>
          <a:p>
            <a:pPr marL="457200" lvl="1" indent="0">
              <a:buFont typeface="+mj-lt"/>
              <a:buNone/>
            </a:pPr>
            <a:r>
              <a:rPr lang="en-US" dirty="0"/>
              <a:t>- </a:t>
            </a:r>
            <a:r>
              <a:rPr lang="vi-VN" dirty="0"/>
              <a:t>Vì 26 &gt; FT₁[5] = 18, nên nút 1 </a:t>
            </a:r>
            <a:r>
              <a:rPr lang="vi-VN" b="1" dirty="0"/>
              <a:t>chuyển tiếp yêu cầu đến node 18</a:t>
            </a:r>
            <a:endParaRPr lang="vi-VN" dirty="0"/>
          </a:p>
          <a:p>
            <a:pPr>
              <a:buFont typeface="+mj-lt"/>
              <a:buAutoNum type="arabicPeriod"/>
            </a:pPr>
            <a:r>
              <a:rPr lang="vi-VN" b="1" dirty="0"/>
              <a:t>Tại node 18:</a:t>
            </a:r>
            <a:endParaRPr lang="vi-VN" dirty="0"/>
          </a:p>
          <a:p>
            <a:pPr marL="457200" lvl="1" indent="0">
              <a:buFont typeface="+mj-lt"/>
              <a:buNone/>
            </a:pPr>
            <a:r>
              <a:rPr lang="en-US" dirty="0"/>
              <a:t>- </a:t>
            </a:r>
            <a:r>
              <a:rPr lang="vi-VN" dirty="0"/>
              <a:t>Finger table:</a:t>
            </a:r>
          </a:p>
          <a:p>
            <a:pPr marL="457200" lvl="1" indent="0" rtl="0">
              <a:buFont typeface="+mj-lt"/>
              <a:buNone/>
            </a:pPr>
            <a:r>
              <a:rPr lang="en-US" dirty="0"/>
              <a:t>	</a:t>
            </a:r>
            <a:r>
              <a:rPr lang="vi-VN" dirty="0"/>
              <a:t>FT₁₈[2] = 20</a:t>
            </a:r>
            <a:endParaRPr lang="en-US" dirty="0"/>
          </a:p>
          <a:p>
            <a:pPr marL="457200" lvl="1" indent="0" rtl="0">
              <a:buFont typeface="+mj-lt"/>
              <a:buNone/>
            </a:pPr>
            <a:r>
              <a:rPr lang="en-US" dirty="0"/>
              <a:t>	</a:t>
            </a:r>
            <a:r>
              <a:rPr lang="vi-VN" dirty="0"/>
              <a:t>FT₁₈[3] = 28 </a:t>
            </a:r>
          </a:p>
          <a:p>
            <a:pPr marL="457200" lvl="1" indent="0">
              <a:buFont typeface="+mj-lt"/>
              <a:buNone/>
            </a:pPr>
            <a:r>
              <a:rPr lang="en-US" dirty="0"/>
              <a:t>- </a:t>
            </a:r>
            <a:r>
              <a:rPr lang="vi-VN" dirty="0"/>
              <a:t>Vì 20 ≤ 26 &lt; 28, node 18 </a:t>
            </a:r>
            <a:r>
              <a:rPr lang="vi-VN" b="1" dirty="0"/>
              <a:t>chuyển tiếp đến node 20</a:t>
            </a:r>
            <a:endParaRPr lang="vi-VN" dirty="0"/>
          </a:p>
          <a:p>
            <a:pPr>
              <a:buFont typeface="+mj-lt"/>
              <a:buAutoNum type="arabicPeriod"/>
            </a:pPr>
            <a:r>
              <a:rPr lang="vi-VN" b="1" dirty="0"/>
              <a:t>Tại node 20:</a:t>
            </a:r>
            <a:endParaRPr lang="vi-VN" dirty="0"/>
          </a:p>
          <a:p>
            <a:pPr marL="628650" lvl="1" indent="-171450" rtl="0">
              <a:buFontTx/>
              <a:buChar char="-"/>
            </a:pPr>
            <a:r>
              <a:rPr lang="en-US" dirty="0"/>
              <a:t>Finger table:</a:t>
            </a:r>
          </a:p>
          <a:p>
            <a:pPr marL="457200" lvl="1" indent="0" rtl="0">
              <a:buFontTx/>
              <a:buNone/>
            </a:pPr>
            <a:r>
              <a:rPr lang="en-US" dirty="0"/>
              <a:t>	</a:t>
            </a:r>
            <a:r>
              <a:rPr lang="vi-VN" dirty="0"/>
              <a:t>FT₂₀[1] = 21 </a:t>
            </a:r>
          </a:p>
          <a:p>
            <a:pPr marL="457200" lvl="1" indent="0">
              <a:buFont typeface="+mj-lt"/>
              <a:buNone/>
            </a:pPr>
            <a:r>
              <a:rPr lang="en-US" dirty="0"/>
              <a:t>- </a:t>
            </a:r>
            <a:r>
              <a:rPr lang="vi-VN" dirty="0"/>
              <a:t>Vì 21 &lt; 26, nên node 20 </a:t>
            </a:r>
            <a:r>
              <a:rPr lang="vi-VN" b="1" dirty="0"/>
              <a:t>chuyển tiếp đến node 21</a:t>
            </a:r>
            <a:endParaRPr lang="vi-VN" dirty="0"/>
          </a:p>
          <a:p>
            <a:pPr>
              <a:buFont typeface="+mj-lt"/>
              <a:buAutoNum type="arabicPeriod"/>
            </a:pPr>
            <a:r>
              <a:rPr lang="vi-VN" b="1" dirty="0"/>
              <a:t>Tại node 21:</a:t>
            </a:r>
            <a:endParaRPr lang="vi-VN" dirty="0"/>
          </a:p>
          <a:p>
            <a:pPr marL="457200" lvl="1" indent="0">
              <a:buFont typeface="+mj-lt"/>
              <a:buNone/>
            </a:pPr>
            <a:r>
              <a:rPr lang="en-US" dirty="0"/>
              <a:t>- </a:t>
            </a:r>
            <a:r>
              <a:rPr lang="vi-VN" dirty="0"/>
              <a:t>Finger table:</a:t>
            </a:r>
          </a:p>
          <a:p>
            <a:pPr marL="457200" lvl="1" indent="0" rtl="0">
              <a:buFont typeface="+mj-lt"/>
              <a:buNone/>
            </a:pPr>
            <a:r>
              <a:rPr lang="en-US" dirty="0"/>
              <a:t>	</a:t>
            </a:r>
            <a:r>
              <a:rPr lang="vi-VN" dirty="0"/>
              <a:t>FT₂₁[2] = 28 </a:t>
            </a:r>
          </a:p>
          <a:p>
            <a:pPr marL="457200" lvl="1" indent="0">
              <a:buFont typeface="+mj-lt"/>
              <a:buNone/>
            </a:pPr>
            <a:r>
              <a:rPr lang="en-US" dirty="0"/>
              <a:t>- </a:t>
            </a:r>
            <a:r>
              <a:rPr lang="vi-VN" dirty="0"/>
              <a:t>Vì 26 &lt; 28, node 21 </a:t>
            </a:r>
            <a:r>
              <a:rPr lang="vi-VN" b="1" dirty="0"/>
              <a:t>chuyển tiếp đến node 28</a:t>
            </a:r>
            <a:endParaRPr lang="vi-VN" dirty="0"/>
          </a:p>
          <a:p>
            <a:pPr>
              <a:buFont typeface="+mj-lt"/>
              <a:buAutoNum type="arabicPeriod"/>
            </a:pPr>
            <a:r>
              <a:rPr lang="vi-VN" b="1" dirty="0"/>
              <a:t>Node 28 là nút đầu tiên có ID ≥ 26 ⇒ là succ(26)</a:t>
            </a:r>
            <a:br>
              <a:rPr lang="vi-VN" dirty="0"/>
            </a:br>
            <a:r>
              <a:rPr lang="en-US" dirty="0"/>
              <a:t>=&gt;</a:t>
            </a:r>
            <a:r>
              <a:rPr lang="vi-VN" dirty="0"/>
              <a:t> </a:t>
            </a:r>
            <a:r>
              <a:rPr lang="vi-VN" b="1" dirty="0"/>
              <a:t>Key 26 thuộc node 28</a:t>
            </a:r>
            <a:endParaRPr lang="vi-VN" dirty="0"/>
          </a:p>
          <a:p>
            <a:endParaRPr lang="en-US" b="1" dirty="0"/>
          </a:p>
          <a:p>
            <a:r>
              <a:rPr lang="vi-VN" b="1" dirty="0"/>
              <a:t>Ví dụ 2: Tra cứu khóa k = 12 từ nút 28</a:t>
            </a:r>
          </a:p>
          <a:p>
            <a:r>
              <a:rPr lang="vi-VN" b="1" dirty="0"/>
              <a:t>Mục tiêu:</a:t>
            </a:r>
          </a:p>
          <a:p>
            <a:r>
              <a:rPr lang="vi-VN" dirty="0"/>
              <a:t>Tìm node chịu trách nhiệm cho key 12 bắt đầu từ node 28.</a:t>
            </a:r>
          </a:p>
          <a:p>
            <a:r>
              <a:rPr lang="vi-VN" b="1" dirty="0"/>
              <a:t>Các bước:</a:t>
            </a:r>
          </a:p>
          <a:p>
            <a:pPr>
              <a:buFont typeface="+mj-lt"/>
              <a:buAutoNum type="arabicPeriod"/>
            </a:pPr>
            <a:r>
              <a:rPr lang="vi-VN" b="1" dirty="0"/>
              <a:t>Node 28 dùng finger table để tìm bước nhảy gần nhất ≤ 12</a:t>
            </a:r>
            <a:endParaRPr lang="vi-VN" dirty="0"/>
          </a:p>
          <a:p>
            <a:pPr marL="457200" lvl="1" indent="0">
              <a:buFont typeface="+mj-lt"/>
              <a:buNone/>
            </a:pPr>
            <a:r>
              <a:rPr lang="en-US" dirty="0"/>
              <a:t>- </a:t>
            </a:r>
            <a:r>
              <a:rPr lang="vi-VN" dirty="0"/>
              <a:t>FT₂₈[2] = 1, FT₂₈[3] = 4</a:t>
            </a:r>
          </a:p>
          <a:p>
            <a:pPr marL="457200" lvl="1" indent="0">
              <a:buFont typeface="+mj-lt"/>
              <a:buNone/>
            </a:pPr>
            <a:r>
              <a:rPr lang="en-US" dirty="0"/>
              <a:t>- </a:t>
            </a:r>
            <a:r>
              <a:rPr lang="vi-VN" dirty="0"/>
              <a:t>Vì 1 ≤ 12 &lt; 4 (xét vòng tròn modulo 32), chọn FT₂₈[3] = 4 ⇒ chuyển tiếp đến node 4</a:t>
            </a:r>
          </a:p>
          <a:p>
            <a:pPr>
              <a:buFont typeface="+mj-lt"/>
              <a:buAutoNum type="arabicPeriod"/>
            </a:pPr>
            <a:r>
              <a:rPr lang="vi-VN" b="1" dirty="0"/>
              <a:t>Node 4:</a:t>
            </a:r>
            <a:endParaRPr lang="vi-VN" dirty="0"/>
          </a:p>
          <a:p>
            <a:pPr marL="457200" lvl="1" indent="0">
              <a:buFont typeface="+mj-lt"/>
              <a:buNone/>
            </a:pPr>
            <a:r>
              <a:rPr lang="en-US" dirty="0"/>
              <a:t>- </a:t>
            </a:r>
            <a:r>
              <a:rPr lang="vi-VN" dirty="0"/>
              <a:t>Finger table:</a:t>
            </a:r>
          </a:p>
          <a:p>
            <a:pPr marL="457200" lvl="1" indent="0" rtl="0">
              <a:buFont typeface="+mj-lt"/>
              <a:buNone/>
            </a:pPr>
            <a:r>
              <a:rPr lang="en-US" dirty="0"/>
              <a:t>	</a:t>
            </a:r>
            <a:r>
              <a:rPr lang="vi-VN" dirty="0"/>
              <a:t>FT₄[2] = 9 FT₄[3] = 14 </a:t>
            </a:r>
          </a:p>
          <a:p>
            <a:pPr marL="457200" lvl="1" indent="0">
              <a:buFont typeface="+mj-lt"/>
              <a:buNone/>
            </a:pPr>
            <a:r>
              <a:rPr lang="en-US" dirty="0"/>
              <a:t>- </a:t>
            </a:r>
            <a:r>
              <a:rPr lang="vi-VN" dirty="0"/>
              <a:t>Vì 9 ≤ 12 &lt; 14 ⇒ chuyển tiếp đến node 9</a:t>
            </a:r>
          </a:p>
          <a:p>
            <a:pPr>
              <a:buFont typeface="+mj-lt"/>
              <a:buAutoNum type="arabicPeriod"/>
            </a:pPr>
            <a:r>
              <a:rPr lang="vi-VN" b="1" dirty="0"/>
              <a:t>Node 9:</a:t>
            </a:r>
            <a:endParaRPr lang="vi-VN" dirty="0"/>
          </a:p>
          <a:p>
            <a:pPr marL="457200" lvl="1" indent="0">
              <a:buFont typeface="+mj-lt"/>
              <a:buNone/>
            </a:pPr>
            <a:r>
              <a:rPr lang="en-US" dirty="0"/>
              <a:t>- </a:t>
            </a:r>
            <a:r>
              <a:rPr lang="vi-VN" dirty="0"/>
              <a:t>Finger table:</a:t>
            </a:r>
          </a:p>
          <a:p>
            <a:pPr marL="457200" lvl="1" indent="0" rtl="0">
              <a:buFont typeface="+mj-lt"/>
              <a:buNone/>
            </a:pPr>
            <a:r>
              <a:rPr lang="en-US" dirty="0"/>
              <a:t>	</a:t>
            </a:r>
            <a:r>
              <a:rPr lang="vi-VN" dirty="0"/>
              <a:t>FT₉[2] = 11 FT₉[3] = 14 </a:t>
            </a:r>
          </a:p>
          <a:p>
            <a:pPr marL="457200" lvl="1" indent="0">
              <a:buFont typeface="+mj-lt"/>
              <a:buNone/>
            </a:pPr>
            <a:r>
              <a:rPr lang="en-US" dirty="0"/>
              <a:t>- </a:t>
            </a:r>
            <a:r>
              <a:rPr lang="vi-VN" dirty="0"/>
              <a:t>Vì 11 ≤ 12 &lt; 14 ⇒ chuyển tiếp đến node 11</a:t>
            </a:r>
          </a:p>
          <a:p>
            <a:pPr>
              <a:buFont typeface="+mj-lt"/>
              <a:buAutoNum type="arabicPeriod"/>
            </a:pPr>
            <a:r>
              <a:rPr lang="vi-VN" b="1" dirty="0"/>
              <a:t>Node 11:</a:t>
            </a:r>
            <a:endParaRPr lang="vi-VN" dirty="0"/>
          </a:p>
          <a:p>
            <a:pPr marL="457200" lvl="1" indent="0">
              <a:buFont typeface="+mj-lt"/>
              <a:buNone/>
            </a:pPr>
            <a:r>
              <a:rPr lang="en-US" dirty="0"/>
              <a:t>- </a:t>
            </a:r>
            <a:r>
              <a:rPr lang="vi-VN" dirty="0"/>
              <a:t>Finger table:</a:t>
            </a:r>
          </a:p>
          <a:p>
            <a:pPr marL="457200" lvl="1" indent="0" rtl="0">
              <a:buFont typeface="+mj-lt"/>
              <a:buNone/>
            </a:pPr>
            <a:r>
              <a:rPr lang="en-US" dirty="0"/>
              <a:t>	</a:t>
            </a:r>
            <a:r>
              <a:rPr lang="vi-VN" dirty="0"/>
              <a:t>FT₁₁[1] = 14 </a:t>
            </a:r>
          </a:p>
          <a:p>
            <a:pPr marL="457200" lvl="1" indent="0">
              <a:buFont typeface="+mj-lt"/>
              <a:buNone/>
            </a:pPr>
            <a:r>
              <a:rPr lang="en-US" dirty="0"/>
              <a:t>- </a:t>
            </a:r>
            <a:r>
              <a:rPr lang="vi-VN" dirty="0"/>
              <a:t>Vì 12 &lt; 14 ⇒ chuyển tiếp đến node 14</a:t>
            </a:r>
          </a:p>
          <a:p>
            <a:pPr>
              <a:buFont typeface="+mj-lt"/>
              <a:buAutoNum type="arabicPeriod"/>
            </a:pPr>
            <a:r>
              <a:rPr lang="vi-VN" b="1" dirty="0"/>
              <a:t>Node 14 là succ(12)</a:t>
            </a:r>
            <a:br>
              <a:rPr lang="vi-VN" dirty="0"/>
            </a:br>
            <a:r>
              <a:rPr lang="en-US" dirty="0"/>
              <a:t>=&gt;</a:t>
            </a:r>
            <a:r>
              <a:rPr lang="vi-VN" dirty="0"/>
              <a:t> </a:t>
            </a:r>
            <a:r>
              <a:rPr lang="vi-VN" b="1" dirty="0"/>
              <a:t>Key 12 thuộc node 14</a:t>
            </a:r>
            <a:endParaRPr lang="vi-VN" dirty="0"/>
          </a:p>
          <a:p>
            <a:endParaRPr lang="en-US" b="1" dirty="0"/>
          </a:p>
          <a:p>
            <a:r>
              <a:rPr lang="vi-VN" b="1" dirty="0"/>
              <a:t>Kết luận:</a:t>
            </a:r>
          </a:p>
          <a:p>
            <a:pPr>
              <a:buFont typeface="Arial" panose="020B0604020202020204" pitchFamily="34" charset="0"/>
              <a:buChar char="•"/>
            </a:pPr>
            <a:r>
              <a:rPr lang="vi-VN" dirty="0"/>
              <a:t>Việc sử dụng </a:t>
            </a:r>
            <a:r>
              <a:rPr lang="vi-VN" b="1" dirty="0"/>
              <a:t>bảng finger table</a:t>
            </a:r>
            <a:r>
              <a:rPr lang="vi-VN" dirty="0"/>
              <a:t> giúp Chord tìm kiếm khóa hiệu quả chỉ trong </a:t>
            </a:r>
            <a:r>
              <a:rPr lang="vi-VN" b="1" dirty="0"/>
              <a:t>O(log N)</a:t>
            </a:r>
            <a:r>
              <a:rPr lang="vi-VN" dirty="0"/>
              <a:t> bước.</a:t>
            </a:r>
          </a:p>
          <a:p>
            <a:pPr>
              <a:buFont typeface="Arial" panose="020B0604020202020204" pitchFamily="34" charset="0"/>
              <a:buChar char="•"/>
            </a:pPr>
            <a:r>
              <a:rPr lang="vi-VN" dirty="0"/>
              <a:t>Hệ thống có khả năng mở rộng cao và duy trì hiệu quả ngay cả khi có các nút </a:t>
            </a:r>
            <a:r>
              <a:rPr lang="vi-VN" b="1" dirty="0"/>
              <a:t>tham gia/rời đi</a:t>
            </a:r>
            <a:r>
              <a:rPr lang="vi-VN" dirty="0"/>
              <a:t> hoặc </a:t>
            </a:r>
            <a:r>
              <a:rPr lang="vi-VN" b="1" dirty="0"/>
              <a:t>thất bại</a:t>
            </a:r>
            <a:r>
              <a:rPr lang="vi-VN" dirty="0"/>
              <a:t>.</a:t>
            </a:r>
          </a:p>
          <a:p>
            <a:pPr>
              <a:buFont typeface="Arial" panose="020B0604020202020204" pitchFamily="34" charset="0"/>
              <a:buChar char="•"/>
            </a:pPr>
            <a:r>
              <a:rPr lang="vi-VN" dirty="0"/>
              <a:t>Mỗi bước lookup là một </a:t>
            </a:r>
            <a:r>
              <a:rPr lang="vi-VN" b="1" dirty="0"/>
              <a:t>"nhảy xa"</a:t>
            </a:r>
            <a:r>
              <a:rPr lang="vi-VN" dirty="0"/>
              <a:t> dựa trên giá trị 2^(i-1) được xác định trong bảng finger table.</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15</a:t>
            </a:fld>
            <a:endParaRPr lang="en-US"/>
          </a:p>
        </p:txBody>
      </p:sp>
    </p:spTree>
    <p:extLst>
      <p:ext uri="{BB962C8B-B14F-4D97-AF65-F5344CB8AC3E}">
        <p14:creationId xmlns:p14="http://schemas.microsoft.com/office/powerpoint/2010/main" val="2482688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Chord trong Python:</a:t>
            </a:r>
          </a:p>
          <a:p>
            <a:r>
              <a:rPr lang="vi-VN" dirty="0"/>
              <a:t>Đoạn mã Python mô tả </a:t>
            </a:r>
            <a:r>
              <a:rPr lang="vi-VN" b="1" dirty="0"/>
              <a:t>cốt lõi của một node trong hệ thống Chord</a:t>
            </a:r>
            <a:r>
              <a:rPr lang="en-US" b="1" dirty="0"/>
              <a:t> </a:t>
            </a:r>
            <a:r>
              <a:rPr lang="en-US" b="0" dirty="0" err="1"/>
              <a:t>bằng</a:t>
            </a:r>
            <a:r>
              <a:rPr lang="en-US" b="0" dirty="0"/>
              <a:t> </a:t>
            </a:r>
            <a:r>
              <a:rPr lang="en-US" b="0" dirty="0" err="1"/>
              <a:t>cách</a:t>
            </a:r>
            <a:r>
              <a:rPr lang="vi-VN" dirty="0"/>
              <a:t> đơn giản hóa các chi tiết phụ:</a:t>
            </a:r>
          </a:p>
          <a:p>
            <a:endParaRPr lang="en-US" b="1" dirty="0"/>
          </a:p>
          <a:p>
            <a:r>
              <a:rPr lang="vi-VN" b="1" dirty="0"/>
              <a:t>Các thành phần chính:</a:t>
            </a:r>
          </a:p>
          <a:p>
            <a:pPr>
              <a:buFont typeface="+mj-lt"/>
              <a:buAutoNum type="arabicPeriod"/>
            </a:pPr>
            <a:r>
              <a:rPr lang="vi-VN" b="1" dirty="0"/>
              <a:t>finger(i)</a:t>
            </a:r>
            <a:r>
              <a:rPr lang="vi-VN" dirty="0"/>
              <a:t>:</a:t>
            </a:r>
          </a:p>
          <a:p>
            <a:pPr marL="457200" lvl="1" indent="0">
              <a:buFont typeface="+mj-lt"/>
              <a:buNone/>
            </a:pPr>
            <a:r>
              <a:rPr lang="en-US" dirty="0"/>
              <a:t>- </a:t>
            </a:r>
            <a:r>
              <a:rPr lang="vi-VN" dirty="0"/>
              <a:t>Tính </a:t>
            </a:r>
            <a:r>
              <a:rPr lang="vi-VN" b="1" dirty="0"/>
              <a:t>succ(p + 2ⁱ⁻¹)</a:t>
            </a:r>
            <a:r>
              <a:rPr lang="vi-VN" dirty="0"/>
              <a:t> theo vòng tròn định danh.</a:t>
            </a:r>
          </a:p>
          <a:p>
            <a:pPr marL="457200" lvl="1" indent="0">
              <a:buFont typeface="+mj-lt"/>
              <a:buNone/>
            </a:pPr>
            <a:r>
              <a:rPr lang="en-US" dirty="0"/>
              <a:t>- </a:t>
            </a:r>
            <a:r>
              <a:rPr lang="vi-VN" dirty="0"/>
              <a:t>Dò qua nodeSet (tập hợp các node đã biết, được sắp xếp) để tìm </a:t>
            </a:r>
            <a:r>
              <a:rPr lang="vi-VN" b="1" dirty="0"/>
              <a:t>node đầu tiên ≥ giá trị cần tìm</a:t>
            </a:r>
            <a:r>
              <a:rPr lang="vi-VN" dirty="0"/>
              <a:t>.</a:t>
            </a:r>
          </a:p>
          <a:p>
            <a:pPr>
              <a:buFont typeface="+mj-lt"/>
              <a:buAutoNum type="arabicPeriod"/>
            </a:pPr>
            <a:r>
              <a:rPr lang="vi-VN" b="1" dirty="0"/>
              <a:t>recomputeFingerTable()</a:t>
            </a:r>
            <a:r>
              <a:rPr lang="vi-VN" dirty="0"/>
              <a:t>:</a:t>
            </a:r>
          </a:p>
          <a:p>
            <a:pPr marL="457200" lvl="1" indent="0">
              <a:buFont typeface="+mj-lt"/>
              <a:buNone/>
            </a:pPr>
            <a:r>
              <a:rPr lang="en-US" dirty="0"/>
              <a:t>- </a:t>
            </a:r>
            <a:r>
              <a:rPr lang="vi-VN" dirty="0"/>
              <a:t>Cập nhật lại </a:t>
            </a:r>
            <a:r>
              <a:rPr lang="vi-VN" b="1" dirty="0"/>
              <a:t>bảng finger table FT[]</a:t>
            </a:r>
            <a:r>
              <a:rPr lang="vi-VN" dirty="0"/>
              <a:t> khi có node mới gia nhập hoặc rời đi.</a:t>
            </a:r>
          </a:p>
          <a:p>
            <a:pPr marL="457200" lvl="1" indent="0">
              <a:buFont typeface="+mj-lt"/>
              <a:buNone/>
            </a:pPr>
            <a:r>
              <a:rPr lang="en-US" dirty="0"/>
              <a:t>- </a:t>
            </a:r>
            <a:r>
              <a:rPr lang="vi-VN" dirty="0"/>
              <a:t>FT[0]: predecessor (nút liền trước).</a:t>
            </a:r>
          </a:p>
          <a:p>
            <a:pPr marL="457200" lvl="1" indent="0">
              <a:buFont typeface="+mj-lt"/>
              <a:buNone/>
            </a:pPr>
            <a:r>
              <a:rPr lang="en-US" dirty="0"/>
              <a:t>- </a:t>
            </a:r>
            <a:r>
              <a:rPr lang="vi-VN" dirty="0"/>
              <a:t>FT[1:]: danh sách các successor tương ứng với các 2ⁱ⁻¹.</a:t>
            </a:r>
          </a:p>
          <a:p>
            <a:pPr>
              <a:buFont typeface="+mj-lt"/>
              <a:buAutoNum type="arabicPeriod"/>
            </a:pPr>
            <a:r>
              <a:rPr lang="vi-VN" b="1" dirty="0"/>
              <a:t>localSuccNode(k)</a:t>
            </a:r>
            <a:r>
              <a:rPr lang="vi-VN" dirty="0"/>
              <a:t>:</a:t>
            </a:r>
          </a:p>
          <a:p>
            <a:pPr marL="457200" lvl="1" indent="0">
              <a:buFont typeface="+mj-lt"/>
              <a:buNone/>
            </a:pPr>
            <a:r>
              <a:rPr lang="en-US" dirty="0"/>
              <a:t>- </a:t>
            </a:r>
            <a:r>
              <a:rPr lang="vi-VN" dirty="0"/>
              <a:t>Xác định </a:t>
            </a:r>
            <a:r>
              <a:rPr lang="vi-VN" b="1" dirty="0"/>
              <a:t>node chịu trách nhiệm lưu trữ key k</a:t>
            </a:r>
            <a:r>
              <a:rPr lang="vi-VN" dirty="0"/>
              <a:t>.</a:t>
            </a:r>
          </a:p>
          <a:p>
            <a:pPr marL="457200" lvl="1" indent="0">
              <a:buFont typeface="+mj-lt"/>
              <a:buNone/>
            </a:pPr>
            <a:r>
              <a:rPr lang="en-US" dirty="0"/>
              <a:t>- </a:t>
            </a:r>
            <a:r>
              <a:rPr lang="vi-VN" dirty="0"/>
              <a:t>Trả về:</a:t>
            </a:r>
          </a:p>
          <a:p>
            <a:pPr marL="914400" lvl="2" indent="0">
              <a:buFont typeface="+mj-lt"/>
              <a:buNone/>
            </a:pPr>
            <a:r>
              <a:rPr lang="en-US" dirty="0"/>
              <a:t>+ </a:t>
            </a:r>
            <a:r>
              <a:rPr lang="vi-VN" dirty="0"/>
              <a:t>Chính nó nếu k nằm trong đoạn (pred, node].</a:t>
            </a:r>
          </a:p>
          <a:p>
            <a:pPr marL="914400" lvl="2" indent="0">
              <a:buFont typeface="+mj-lt"/>
              <a:buNone/>
            </a:pPr>
            <a:r>
              <a:rPr lang="en-US" dirty="0"/>
              <a:t>+ </a:t>
            </a:r>
            <a:r>
              <a:rPr lang="vi-VN" dirty="0"/>
              <a:t>Successor đầu tiên FT[1] nếu k ∈ (node, FT[1]].</a:t>
            </a:r>
          </a:p>
          <a:p>
            <a:pPr marL="914400" lvl="2" indent="0">
              <a:buFont typeface="+mj-lt"/>
              <a:buNone/>
            </a:pPr>
            <a:r>
              <a:rPr lang="en-US" dirty="0"/>
              <a:t>+ </a:t>
            </a:r>
            <a:r>
              <a:rPr lang="vi-VN" dirty="0"/>
              <a:t>Hoặc một node trong bảng FT[i] ≤ k &lt; FT[i+1].</a:t>
            </a:r>
          </a:p>
          <a:p>
            <a:endParaRPr lang="en-US" b="1" dirty="0"/>
          </a:p>
          <a:p>
            <a:r>
              <a:rPr lang="vi-VN" b="1" dirty="0"/>
              <a:t>Ý chính:</a:t>
            </a:r>
          </a:p>
          <a:p>
            <a:pPr>
              <a:buFont typeface="Arial" panose="020B0604020202020204" pitchFamily="34" charset="0"/>
              <a:buChar char="•"/>
            </a:pPr>
            <a:r>
              <a:rPr lang="vi-VN" dirty="0"/>
              <a:t>Chord hoạt động hiệu quả nhờ </a:t>
            </a:r>
            <a:r>
              <a:rPr lang="vi-VN" b="1" dirty="0"/>
              <a:t>bảng finger table</a:t>
            </a:r>
            <a:r>
              <a:rPr lang="vi-VN" dirty="0"/>
              <a:t> và </a:t>
            </a:r>
            <a:r>
              <a:rPr lang="vi-VN" b="1" dirty="0"/>
              <a:t>tra cứu logarit</a:t>
            </a:r>
            <a:r>
              <a:rPr lang="vi-VN" dirty="0"/>
              <a:t>.</a:t>
            </a:r>
          </a:p>
          <a:p>
            <a:pPr>
              <a:buFont typeface="Arial" panose="020B0604020202020204" pitchFamily="34" charset="0"/>
              <a:buChar char="•"/>
            </a:pPr>
            <a:r>
              <a:rPr lang="vi-VN" dirty="0"/>
              <a:t>Mỗi node duy trì một nodeSet cục bộ (danh sách node đã biết) và tự động cập nhật bảng FT khi có sự thay đổi.</a:t>
            </a:r>
          </a:p>
          <a:p>
            <a:pPr>
              <a:buFont typeface="Arial" panose="020B0604020202020204" pitchFamily="34" charset="0"/>
              <a:buChar char="•"/>
            </a:pPr>
            <a:r>
              <a:rPr lang="vi-VN" dirty="0"/>
              <a:t>Lookup key k có thể được thực hiện theo </a:t>
            </a:r>
            <a:r>
              <a:rPr lang="vi-VN" b="1" dirty="0"/>
              <a:t>kiểu lặp (iterative)</a:t>
            </a:r>
            <a:r>
              <a:rPr lang="vi-VN" dirty="0"/>
              <a:t> hoặc </a:t>
            </a:r>
            <a:r>
              <a:rPr lang="vi-VN" b="1" dirty="0"/>
              <a:t>đệ quy (recursive)</a:t>
            </a:r>
            <a:r>
              <a:rPr lang="vi-VN" dirty="0"/>
              <a:t>.</a:t>
            </a:r>
          </a:p>
          <a:p>
            <a:pPr>
              <a:buFont typeface="Arial" panose="020B0604020202020204" pitchFamily="34" charset="0"/>
              <a:buChar char="•"/>
            </a:pPr>
            <a:r>
              <a:rPr lang="vi-VN" dirty="0"/>
              <a:t>Mã Python ngắn gọn nhưng thể hiện rõ </a:t>
            </a:r>
            <a:r>
              <a:rPr lang="vi-VN" b="1" dirty="0"/>
              <a:t>cơ chế tìm kiếm và cập nhật finger table trong Chord</a:t>
            </a:r>
            <a:r>
              <a:rPr lang="vi-VN" dirty="0"/>
              <a: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16</a:t>
            </a:fld>
            <a:endParaRPr lang="en-US"/>
          </a:p>
        </p:txBody>
      </p:sp>
    </p:spTree>
    <p:extLst>
      <p:ext uri="{BB962C8B-B14F-4D97-AF65-F5344CB8AC3E}">
        <p14:creationId xmlns:p14="http://schemas.microsoft.com/office/powerpoint/2010/main" val="1086227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“Exploiting network proximity” </a:t>
            </a:r>
            <a:r>
              <a:rPr lang="en-US" b="1" dirty="0"/>
              <a:t>– </a:t>
            </a:r>
            <a:r>
              <a:rPr lang="en-US" b="1" dirty="0" err="1"/>
              <a:t>tận</a:t>
            </a:r>
            <a:r>
              <a:rPr lang="en-US" b="1" dirty="0"/>
              <a:t> </a:t>
            </a:r>
            <a:r>
              <a:rPr lang="en-US" b="1" dirty="0" err="1"/>
              <a:t>dụng</a:t>
            </a:r>
            <a:r>
              <a:rPr lang="en-US" b="1" dirty="0"/>
              <a:t> </a:t>
            </a:r>
            <a:r>
              <a:rPr lang="en-US" b="1" dirty="0" err="1"/>
              <a:t>sự</a:t>
            </a:r>
            <a:r>
              <a:rPr lang="en-US" b="1" dirty="0"/>
              <a:t> </a:t>
            </a:r>
            <a:r>
              <a:rPr lang="en-US" b="1" dirty="0" err="1"/>
              <a:t>gần</a:t>
            </a:r>
            <a:r>
              <a:rPr lang="en-US" b="1" dirty="0"/>
              <a:t> </a:t>
            </a:r>
            <a:r>
              <a:rPr lang="en-US" b="1" dirty="0" err="1"/>
              <a:t>về</a:t>
            </a:r>
            <a:r>
              <a:rPr lang="en-US" b="1" dirty="0"/>
              <a:t> </a:t>
            </a:r>
            <a:r>
              <a:rPr lang="en-US" b="1" dirty="0" err="1"/>
              <a:t>mặt</a:t>
            </a:r>
            <a:r>
              <a:rPr lang="en-US" b="1" dirty="0"/>
              <a:t> </a:t>
            </a:r>
            <a:r>
              <a:rPr lang="en-US" b="1" dirty="0" err="1"/>
              <a:t>mạng</a:t>
            </a:r>
            <a:endParaRPr lang="vi-VN" b="1" dirty="0"/>
          </a:p>
          <a:p>
            <a:endParaRPr lang="en-US" b="1" dirty="0"/>
          </a:p>
          <a:p>
            <a:r>
              <a:rPr lang="vi-VN" b="1" dirty="0"/>
              <a:t>Vấn đề đặt ra:</a:t>
            </a:r>
          </a:p>
          <a:p>
            <a:pPr>
              <a:buFont typeface="Arial" panose="020B0604020202020204" pitchFamily="34" charset="0"/>
              <a:buChar char="•"/>
            </a:pPr>
            <a:r>
              <a:rPr lang="vi-VN" b="1" dirty="0"/>
              <a:t>Trong Chord</a:t>
            </a:r>
            <a:r>
              <a:rPr lang="vi-VN" dirty="0"/>
              <a:t>, các node được tổ chức </a:t>
            </a:r>
            <a:r>
              <a:rPr lang="vi-VN" b="1" dirty="0"/>
              <a:t>theo logic (vòng tròn ID)</a:t>
            </a:r>
            <a:r>
              <a:rPr lang="vi-VN" dirty="0"/>
              <a:t> chứ không dựa trên </a:t>
            </a:r>
            <a:r>
              <a:rPr lang="vi-VN" b="1" dirty="0"/>
              <a:t>vị trí vật lý trong mạng</a:t>
            </a:r>
            <a:r>
              <a:rPr lang="vi-VN" dirty="0"/>
              <a:t>.</a:t>
            </a:r>
          </a:p>
          <a:p>
            <a:pPr>
              <a:buFont typeface="Arial" panose="020B0604020202020204" pitchFamily="34" charset="0"/>
              <a:buChar char="•"/>
            </a:pPr>
            <a:r>
              <a:rPr lang="vi-VN" dirty="0"/>
              <a:t>Hậu quả: </a:t>
            </a:r>
            <a:r>
              <a:rPr lang="vi-VN" b="1" dirty="0"/>
              <a:t>Giao tiếp mạng thực tế có thể không hiệu quả</a:t>
            </a:r>
            <a:r>
              <a:rPr lang="vi-VN" dirty="0"/>
              <a:t>, ví dụ:</a:t>
            </a:r>
          </a:p>
          <a:p>
            <a:pPr marL="742950" lvl="1" indent="-285750">
              <a:buFont typeface="Arial" panose="020B0604020202020204" pitchFamily="34" charset="0"/>
              <a:buChar char="•"/>
            </a:pPr>
            <a:r>
              <a:rPr lang="vi-VN" dirty="0"/>
              <a:t>Node 1 ở Amsterdam có thể gửi truy vấn đến 18 ở California ⇒ </a:t>
            </a:r>
            <a:r>
              <a:rPr lang="vi-VN" b="1" dirty="0"/>
              <a:t>truy vấn vượt đại dương</a:t>
            </a:r>
            <a:r>
              <a:rPr lang="vi-VN" dirty="0"/>
              <a:t>, tốn thời gian.</a:t>
            </a:r>
          </a:p>
          <a:p>
            <a:pPr marL="742950" lvl="1" indent="-285750">
              <a:buFont typeface="Arial" panose="020B0604020202020204" pitchFamily="34" charset="0"/>
              <a:buChar char="•"/>
            </a:pPr>
            <a:r>
              <a:rPr lang="vi-VN" dirty="0"/>
              <a:t>Việc </a:t>
            </a:r>
            <a:r>
              <a:rPr lang="vi-VN" b="1" dirty="0"/>
              <a:t>tra cứu key</a:t>
            </a:r>
            <a:r>
              <a:rPr lang="vi-VN" dirty="0"/>
              <a:t> có thể phải đi qua nhiều node </a:t>
            </a:r>
            <a:r>
              <a:rPr lang="vi-VN" b="1" dirty="0"/>
              <a:t>cách xa nhau về mặt địa lý</a:t>
            </a:r>
            <a:r>
              <a:rPr lang="vi-VN" dirty="0"/>
              <a:t>, gây </a:t>
            </a:r>
            <a:r>
              <a:rPr lang="vi-VN" b="1" dirty="0"/>
              <a:t>tăng độ trễ</a:t>
            </a:r>
            <a:r>
              <a:rPr lang="vi-VN" dirty="0"/>
              <a:t> không cần thiết.</a:t>
            </a:r>
          </a:p>
          <a:p>
            <a:endParaRPr lang="en-US" b="1" dirty="0"/>
          </a:p>
          <a:p>
            <a:r>
              <a:rPr lang="vi-VN" b="1" dirty="0"/>
              <a:t>Các giải pháp để tận dụng "network proximity" (gần về địa lý/mạng):</a:t>
            </a:r>
          </a:p>
          <a:p>
            <a:r>
              <a:rPr lang="vi-VN" b="1" dirty="0"/>
              <a:t>1. Topology-aware node assignment (Gán ID dựa trên vị trí mạng):</a:t>
            </a:r>
          </a:p>
          <a:p>
            <a:pPr>
              <a:buFont typeface="Arial" panose="020B0604020202020204" pitchFamily="34" charset="0"/>
              <a:buChar char="•"/>
            </a:pPr>
            <a:r>
              <a:rPr lang="vi-VN" dirty="0"/>
              <a:t>Ý tưởng: Gán </a:t>
            </a:r>
            <a:r>
              <a:rPr lang="vi-VN" b="1" dirty="0"/>
              <a:t>ID gần nhau</a:t>
            </a:r>
            <a:r>
              <a:rPr lang="vi-VN" dirty="0"/>
              <a:t> cho các node </a:t>
            </a:r>
            <a:r>
              <a:rPr lang="vi-VN" b="1" dirty="0"/>
              <a:t>gần nhau về địa lý hoặc mạng</a:t>
            </a:r>
            <a:r>
              <a:rPr lang="vi-VN" dirty="0"/>
              <a:t>.</a:t>
            </a:r>
          </a:p>
          <a:p>
            <a:pPr>
              <a:buFont typeface="Arial" panose="020B0604020202020204" pitchFamily="34" charset="0"/>
              <a:buChar char="•"/>
            </a:pPr>
            <a:r>
              <a:rPr lang="vi-VN" dirty="0"/>
              <a:t>Vấn đề:</a:t>
            </a:r>
          </a:p>
          <a:p>
            <a:pPr marL="742950" lvl="1" indent="-285750">
              <a:buFont typeface="Arial" panose="020B0604020202020204" pitchFamily="34" charset="0"/>
              <a:buChar char="•"/>
            </a:pPr>
            <a:r>
              <a:rPr lang="vi-VN" dirty="0"/>
              <a:t>Rất </a:t>
            </a:r>
            <a:r>
              <a:rPr lang="vi-VN" b="1" dirty="0"/>
              <a:t>khó áp dụng trong Chord</a:t>
            </a:r>
            <a:r>
              <a:rPr lang="vi-VN" dirty="0"/>
              <a:t>, vì Chord dựa trên phân phối ngẫu nhiên ID → đảm bảo tính cân bằng tải và phân tán dữ liệu.</a:t>
            </a:r>
          </a:p>
          <a:p>
            <a:pPr marL="742950" lvl="1" indent="-285750">
              <a:buFont typeface="Arial" panose="020B0604020202020204" pitchFamily="34" charset="0"/>
              <a:buChar char="•"/>
            </a:pPr>
            <a:r>
              <a:rPr lang="vi-VN" dirty="0"/>
              <a:t>Dễ dẫn đến </a:t>
            </a:r>
            <a:r>
              <a:rPr lang="vi-VN" b="1" dirty="0"/>
              <a:t>các lỗi liên quan đến sự cố đồng thời</a:t>
            </a:r>
            <a:r>
              <a:rPr lang="vi-VN" dirty="0"/>
              <a:t> (correlated failures), ví dụ: nếu mạng doanh nghiệp bị down thì cả dải ID đó biến mất.</a:t>
            </a:r>
          </a:p>
          <a:p>
            <a:endParaRPr lang="en-US" b="1" dirty="0"/>
          </a:p>
          <a:p>
            <a:r>
              <a:rPr lang="vi-VN" b="1" dirty="0"/>
              <a:t>2. Proximity routing (Định tuyến dựa trên khoảng cách mạng):</a:t>
            </a:r>
          </a:p>
          <a:p>
            <a:pPr>
              <a:buFont typeface="Arial" panose="020B0604020202020204" pitchFamily="34" charset="0"/>
              <a:buChar char="•"/>
            </a:pPr>
            <a:r>
              <a:rPr lang="vi-VN" dirty="0"/>
              <a:t>Giải pháp: </a:t>
            </a:r>
            <a:r>
              <a:rPr lang="vi-VN" b="1" dirty="0"/>
              <a:t>Mỗi node lưu nhiều successor (r node)</a:t>
            </a:r>
            <a:r>
              <a:rPr lang="vi-VN" dirty="0"/>
              <a:t> cho mỗi mục trong bảng finger.</a:t>
            </a:r>
          </a:p>
          <a:p>
            <a:pPr>
              <a:buFont typeface="Arial" panose="020B0604020202020204" pitchFamily="34" charset="0"/>
              <a:buChar char="•"/>
            </a:pPr>
            <a:r>
              <a:rPr lang="vi-VN" dirty="0"/>
              <a:t>Khi tra cứu key k, node p chọn một trong các successor trong khoảng [p + 2ⁱ⁻¹, p + 2ⁱ − 1] </a:t>
            </a:r>
            <a:r>
              <a:rPr lang="vi-VN" b="1" dirty="0"/>
              <a:t>gần nó nhất</a:t>
            </a:r>
            <a:r>
              <a:rPr lang="vi-VN" dirty="0"/>
              <a:t> và </a:t>
            </a:r>
            <a:r>
              <a:rPr lang="vi-VN" b="1" dirty="0"/>
              <a:t>không vượt quá k</a:t>
            </a:r>
            <a:r>
              <a:rPr lang="vi-VN" dirty="0"/>
              <a:t>.</a:t>
            </a:r>
          </a:p>
          <a:p>
            <a:pPr>
              <a:buFont typeface="Arial" panose="020B0604020202020204" pitchFamily="34" charset="0"/>
              <a:buChar char="•"/>
            </a:pPr>
            <a:r>
              <a:rPr lang="vi-VN" dirty="0"/>
              <a:t>Lợi ích:</a:t>
            </a:r>
          </a:p>
          <a:p>
            <a:pPr marL="742950" lvl="1" indent="-285750">
              <a:buFont typeface="Arial" panose="020B0604020202020204" pitchFamily="34" charset="0"/>
              <a:buChar char="•"/>
            </a:pPr>
            <a:r>
              <a:rPr lang="vi-VN" b="1" dirty="0"/>
              <a:t>Giảm độ trễ</a:t>
            </a:r>
            <a:r>
              <a:rPr lang="vi-VN" dirty="0"/>
              <a:t> do chọn tuyến gần hơn về mặt mạng.</a:t>
            </a:r>
          </a:p>
          <a:p>
            <a:pPr marL="742950" lvl="1" indent="-285750">
              <a:buFont typeface="Arial" panose="020B0604020202020204" pitchFamily="34" charset="0"/>
              <a:buChar char="•"/>
            </a:pPr>
            <a:r>
              <a:rPr lang="vi-VN" b="1" dirty="0"/>
              <a:t>Tăng độ bền</a:t>
            </a:r>
            <a:r>
              <a:rPr lang="vi-VN" dirty="0"/>
              <a:t>, nếu một node chết vẫn còn các tuyến thay thế để lookup.</a:t>
            </a:r>
          </a:p>
          <a:p>
            <a:endParaRPr lang="en-US" b="1" dirty="0"/>
          </a:p>
          <a:p>
            <a:r>
              <a:rPr lang="vi-VN" b="1" dirty="0"/>
              <a:t>3. Proximity neighbor selection (Chọn hàng xóm gần nhất):</a:t>
            </a:r>
          </a:p>
          <a:p>
            <a:pPr>
              <a:buFont typeface="Arial" panose="020B0604020202020204" pitchFamily="34" charset="0"/>
              <a:buChar char="•"/>
            </a:pPr>
            <a:r>
              <a:rPr lang="vi-VN" dirty="0"/>
              <a:t>Khi một node mới </a:t>
            </a:r>
            <a:r>
              <a:rPr lang="vi-VN" b="1" dirty="0"/>
              <a:t>tham gia hệ thống</a:t>
            </a:r>
            <a:r>
              <a:rPr lang="vi-VN" dirty="0"/>
              <a:t>, nếu có nhiều lựa chọn hàng xóm → </a:t>
            </a:r>
            <a:r>
              <a:rPr lang="vi-VN" b="1" dirty="0"/>
              <a:t>chọn node gần nhất về mạng</a:t>
            </a:r>
            <a:r>
              <a:rPr lang="vi-VN" dirty="0"/>
              <a:t>.</a:t>
            </a:r>
          </a:p>
          <a:p>
            <a:pPr>
              <a:buFont typeface="Arial" panose="020B0604020202020204" pitchFamily="34" charset="0"/>
              <a:buChar char="•"/>
            </a:pPr>
            <a:r>
              <a:rPr lang="vi-VN" dirty="0"/>
              <a:t>Lưu ý: Chord </a:t>
            </a:r>
            <a:r>
              <a:rPr lang="vi-VN" b="1" dirty="0"/>
              <a:t>không hỗ trợ trực tiếp</a:t>
            </a:r>
            <a:r>
              <a:rPr lang="vi-VN" dirty="0"/>
              <a:t> cơ chế này do mỗi node có định tuyến cố định theo ID.</a:t>
            </a:r>
          </a:p>
          <a:p>
            <a:pPr>
              <a:buFont typeface="Arial" panose="020B0604020202020204" pitchFamily="34" charset="0"/>
              <a:buChar char="•"/>
            </a:pPr>
            <a:r>
              <a:rPr lang="vi-VN" dirty="0"/>
              <a:t>Nhưng một số hệ thống như </a:t>
            </a:r>
            <a:r>
              <a:rPr lang="vi-VN" b="1" dirty="0"/>
              <a:t>Pastry</a:t>
            </a:r>
            <a:r>
              <a:rPr lang="vi-VN" dirty="0"/>
              <a:t> có thể áp dụng do có nhiều tùy chọn trong bảng định tuyến.</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20</a:t>
            </a:fld>
            <a:endParaRPr lang="en-US"/>
          </a:p>
        </p:txBody>
      </p:sp>
    </p:spTree>
    <p:extLst>
      <p:ext uri="{BB962C8B-B14F-4D97-AF65-F5344CB8AC3E}">
        <p14:creationId xmlns:p14="http://schemas.microsoft.com/office/powerpoint/2010/main" val="87901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Hierarchical Location Services (HLS)</a:t>
            </a:r>
            <a:r>
              <a:rPr lang="vi-VN" dirty="0"/>
              <a:t> – Dịch vụ định vị phân cấp – một phương pháp tổ chức định vị trong mạng lớn bằng cách phân chia mạng thành các </a:t>
            </a:r>
            <a:r>
              <a:rPr lang="vi-VN" b="1" dirty="0"/>
              <a:t>miền phân cấp (hierarchical domains)</a:t>
            </a:r>
            <a:r>
              <a:rPr lang="vi-VN" dirty="0"/>
              <a:t>.</a:t>
            </a:r>
            <a:endParaRPr lang="en-US" dirty="0"/>
          </a:p>
          <a:p>
            <a:endParaRPr lang="vi-VN" dirty="0"/>
          </a:p>
          <a:p>
            <a:r>
              <a:rPr lang="vi-VN" b="1" dirty="0"/>
              <a:t>Ý tưởng chính (Basic idea):</a:t>
            </a:r>
          </a:p>
          <a:p>
            <a:r>
              <a:rPr lang="vi-VN" b="1" dirty="0"/>
              <a:t>“Build a large-scale search tree…”</a:t>
            </a:r>
            <a:br>
              <a:rPr lang="vi-VN" dirty="0"/>
            </a:br>
            <a:r>
              <a:rPr lang="vi-VN" dirty="0"/>
              <a:t>Mục tiêu là xây dựng một </a:t>
            </a:r>
            <a:r>
              <a:rPr lang="vi-VN" b="1" dirty="0"/>
              <a:t>cây tìm kiếm quy mô lớn</a:t>
            </a:r>
            <a:r>
              <a:rPr lang="vi-VN" dirty="0"/>
              <a:t>, trong đó </a:t>
            </a:r>
            <a:r>
              <a:rPr lang="vi-VN" b="1" dirty="0"/>
              <a:t>mạng được chia thành các miền phân cấp</a:t>
            </a:r>
            <a:r>
              <a:rPr lang="vi-VN" dirty="0"/>
              <a:t> (hierarchical domains).</a:t>
            </a:r>
          </a:p>
          <a:p>
            <a:pPr>
              <a:buFont typeface="Arial" panose="020B0604020202020204" pitchFamily="34" charset="0"/>
              <a:buChar char="•"/>
            </a:pPr>
            <a:r>
              <a:rPr lang="vi-VN" dirty="0"/>
              <a:t>Mỗi </a:t>
            </a:r>
            <a:r>
              <a:rPr lang="vi-VN" b="1" dirty="0"/>
              <a:t>miền (domain)</a:t>
            </a:r>
            <a:r>
              <a:rPr lang="vi-VN" dirty="0"/>
              <a:t> có một </a:t>
            </a:r>
            <a:r>
              <a:rPr lang="vi-VN" b="1" dirty="0"/>
              <a:t>nút thư mục (directory node)</a:t>
            </a:r>
            <a:r>
              <a:rPr lang="vi-VN" dirty="0"/>
              <a:t> riêng, chịu trách nhiệm quản lý thông tin về các thực thể (entities) trong miền đó.</a:t>
            </a:r>
          </a:p>
          <a:p>
            <a:pPr>
              <a:buFont typeface="Arial" panose="020B0604020202020204" pitchFamily="34" charset="0"/>
              <a:buChar char="•"/>
            </a:pPr>
            <a:r>
              <a:rPr lang="vi-VN" dirty="0"/>
              <a:t>Tổ chức này cho phép </a:t>
            </a:r>
            <a:r>
              <a:rPr lang="vi-VN" b="1" dirty="0"/>
              <a:t>định vị các thực thể một cách hiệu quả</a:t>
            </a:r>
            <a:r>
              <a:rPr lang="vi-VN" dirty="0"/>
              <a:t> trong hệ thống lớn.</a:t>
            </a:r>
          </a:p>
          <a:p>
            <a:endParaRPr lang="en-US" b="1" dirty="0"/>
          </a:p>
          <a:p>
            <a:r>
              <a:rPr lang="vi-VN" b="1" dirty="0"/>
              <a:t>Nguyên lý hoạt động (Principle):</a:t>
            </a:r>
          </a:p>
          <a:p>
            <a:r>
              <a:rPr lang="vi-VN" dirty="0"/>
              <a:t>Sơ đồ minh họa một cây thư mục phân cấp, với các thành phần chính như sau:</a:t>
            </a:r>
          </a:p>
          <a:p>
            <a:r>
              <a:rPr lang="en-US" b="1" dirty="0"/>
              <a:t>1. </a:t>
            </a:r>
            <a:r>
              <a:rPr lang="vi-VN" b="1" dirty="0"/>
              <a:t>The root directory node dir(T):</a:t>
            </a:r>
          </a:p>
          <a:p>
            <a:pPr>
              <a:buFont typeface="Arial" panose="020B0604020202020204" pitchFamily="34" charset="0"/>
              <a:buChar char="•"/>
            </a:pPr>
            <a:r>
              <a:rPr lang="vi-VN" dirty="0"/>
              <a:t>Đây là </a:t>
            </a:r>
            <a:r>
              <a:rPr lang="vi-VN" b="1" dirty="0"/>
              <a:t>nút gốc</a:t>
            </a:r>
            <a:r>
              <a:rPr lang="vi-VN" dirty="0"/>
              <a:t> của cây thư mục, đại diện cho </a:t>
            </a:r>
            <a:r>
              <a:rPr lang="vi-VN" b="1" dirty="0"/>
              <a:t>miền cấp cao nhất (Top-level domain T)</a:t>
            </a:r>
            <a:r>
              <a:rPr lang="vi-VN" dirty="0"/>
              <a:t>.</a:t>
            </a:r>
          </a:p>
          <a:p>
            <a:pPr>
              <a:buFont typeface="Arial" panose="020B0604020202020204" pitchFamily="34" charset="0"/>
              <a:buChar char="•"/>
            </a:pPr>
            <a:r>
              <a:rPr lang="vi-VN" dirty="0"/>
              <a:t>Nó có thể biết thông tin về tất cả các thực thể trong hệ thống, thông qua các con trỏ đến các nút thư mục cấp dưới.</a:t>
            </a:r>
          </a:p>
          <a:p>
            <a:r>
              <a:rPr lang="en-US" b="1" dirty="0"/>
              <a:t>2.</a:t>
            </a:r>
            <a:r>
              <a:rPr lang="vi-VN" b="1" dirty="0"/>
              <a:t> Top-level domain T:</a:t>
            </a:r>
          </a:p>
          <a:p>
            <a:pPr>
              <a:buFont typeface="Arial" panose="020B0604020202020204" pitchFamily="34" charset="0"/>
              <a:buChar char="•"/>
            </a:pPr>
            <a:r>
              <a:rPr lang="vi-VN" dirty="0"/>
              <a:t>Toàn bộ mạng được chia thành </a:t>
            </a:r>
            <a:r>
              <a:rPr lang="vi-VN" b="1" dirty="0"/>
              <a:t>miền cấp cao (T)</a:t>
            </a:r>
            <a:r>
              <a:rPr lang="vi-VN" dirty="0"/>
              <a:t>, chứa các </a:t>
            </a:r>
            <a:r>
              <a:rPr lang="vi-VN" b="1" dirty="0"/>
              <a:t>miền con (subdomains)</a:t>
            </a:r>
            <a:r>
              <a:rPr lang="vi-VN" dirty="0"/>
              <a:t> bên trong.</a:t>
            </a:r>
          </a:p>
          <a:p>
            <a:pPr>
              <a:buFont typeface="Arial" panose="020B0604020202020204" pitchFamily="34" charset="0"/>
              <a:buChar char="•"/>
            </a:pPr>
            <a:r>
              <a:rPr lang="vi-VN" dirty="0"/>
              <a:t>Mỗi miền con tiếp tục được chia nhỏ, tạo thành </a:t>
            </a:r>
            <a:r>
              <a:rPr lang="vi-VN" b="1" dirty="0"/>
              <a:t>cây thư mục</a:t>
            </a:r>
            <a:r>
              <a:rPr lang="vi-VN" dirty="0"/>
              <a:t>.</a:t>
            </a:r>
          </a:p>
          <a:p>
            <a:r>
              <a:rPr lang="en-US" b="1" dirty="0"/>
              <a:t>3.</a:t>
            </a:r>
            <a:r>
              <a:rPr lang="vi-VN" b="1" dirty="0"/>
              <a:t> Directory node dir(S) of domain S:</a:t>
            </a:r>
          </a:p>
          <a:p>
            <a:pPr>
              <a:buFont typeface="Arial" panose="020B0604020202020204" pitchFamily="34" charset="0"/>
              <a:buChar char="•"/>
            </a:pPr>
            <a:r>
              <a:rPr lang="vi-VN" dirty="0"/>
              <a:t>Là </a:t>
            </a:r>
            <a:r>
              <a:rPr lang="vi-VN" b="1" dirty="0"/>
              <a:t>nút thư mục</a:t>
            </a:r>
            <a:r>
              <a:rPr lang="vi-VN" dirty="0"/>
              <a:t> của một miền con S nằm trong miền T.</a:t>
            </a:r>
          </a:p>
          <a:p>
            <a:pPr>
              <a:buFont typeface="Arial" panose="020B0604020202020204" pitchFamily="34" charset="0"/>
              <a:buChar char="•"/>
            </a:pPr>
            <a:r>
              <a:rPr lang="vi-VN" dirty="0"/>
              <a:t>Nếu thực thể E đang ở trong miền S, thì dir(S) sẽ chứa thông tin (hoặc con trỏ) đến nơi chứa địa chỉ thực tế của E.</a:t>
            </a:r>
          </a:p>
          <a:p>
            <a:r>
              <a:rPr lang="en-US" b="1" dirty="0"/>
              <a:t>4.</a:t>
            </a:r>
            <a:r>
              <a:rPr lang="vi-VN" b="1" dirty="0"/>
              <a:t> A leaf domain (miền lá), contained in S:</a:t>
            </a:r>
          </a:p>
          <a:p>
            <a:pPr>
              <a:buFont typeface="Arial" panose="020B0604020202020204" pitchFamily="34" charset="0"/>
              <a:buChar char="•"/>
            </a:pPr>
            <a:r>
              <a:rPr lang="vi-VN" dirty="0"/>
              <a:t>Đây là </a:t>
            </a:r>
            <a:r>
              <a:rPr lang="vi-VN" b="1" dirty="0"/>
              <a:t>miền thấp nhất</a:t>
            </a:r>
            <a:r>
              <a:rPr lang="vi-VN" dirty="0"/>
              <a:t> trong cây, tương ứng với các mạng cục bộ (LAN) hoặc ô trong mạng điện thoại di động.</a:t>
            </a:r>
          </a:p>
          <a:p>
            <a:pPr>
              <a:buFont typeface="Arial" panose="020B0604020202020204" pitchFamily="34" charset="0"/>
              <a:buChar char="•"/>
            </a:pPr>
            <a:r>
              <a:rPr lang="vi-VN" b="1" dirty="0"/>
              <a:t>Thực thể (entity)</a:t>
            </a:r>
            <a:r>
              <a:rPr lang="vi-VN" dirty="0"/>
              <a:t> thực sự tồn tại tại đây, và </a:t>
            </a:r>
            <a:r>
              <a:rPr lang="vi-VN" b="1" dirty="0"/>
              <a:t>địa chỉ đầy đủ</a:t>
            </a:r>
            <a:r>
              <a:rPr lang="vi-VN" dirty="0"/>
              <a:t> của nó được lưu trong nút thư mục của miền lá đó.</a:t>
            </a:r>
          </a:p>
          <a:p>
            <a:endParaRPr lang="en-US" b="1" dirty="0"/>
          </a:p>
          <a:p>
            <a:r>
              <a:rPr lang="vi-VN" b="1" dirty="0"/>
              <a:t>Cách hoạt động của tra cứu (lookup):</a:t>
            </a:r>
          </a:p>
          <a:p>
            <a:pPr>
              <a:buFont typeface="Arial" panose="020B0604020202020204" pitchFamily="34" charset="0"/>
              <a:buChar char="•"/>
            </a:pPr>
            <a:r>
              <a:rPr lang="vi-VN" dirty="0"/>
              <a:t>Khi một thực thể cần được tìm, yêu cầu tra cứu bắt đầu từ nút thư mục của </a:t>
            </a:r>
            <a:r>
              <a:rPr lang="vi-VN" b="1" dirty="0"/>
              <a:t>miền lá nơi client đang ở</a:t>
            </a:r>
            <a:r>
              <a:rPr lang="vi-VN" dirty="0"/>
              <a:t>.</a:t>
            </a:r>
          </a:p>
          <a:p>
            <a:pPr>
              <a:buFont typeface="Arial" panose="020B0604020202020204" pitchFamily="34" charset="0"/>
              <a:buChar char="•"/>
            </a:pPr>
            <a:r>
              <a:rPr lang="vi-VN" dirty="0"/>
              <a:t>Nếu không tìm thấy tại đây, yêu cầu sẽ được </a:t>
            </a:r>
            <a:r>
              <a:rPr lang="vi-VN" b="1" dirty="0"/>
              <a:t>gửi lên cha (miền cấp cao hơn)</a:t>
            </a:r>
            <a:r>
              <a:rPr lang="vi-VN" dirty="0"/>
              <a:t>, tiếp tục </a:t>
            </a:r>
            <a:r>
              <a:rPr lang="vi-VN" b="1" dirty="0"/>
              <a:t>lên cây</a:t>
            </a:r>
            <a:r>
              <a:rPr lang="vi-VN" dirty="0"/>
              <a:t> cho đến khi tìm được nút chứa bản ghi vị trí.</a:t>
            </a:r>
          </a:p>
          <a:p>
            <a:pPr>
              <a:buFont typeface="Arial" panose="020B0604020202020204" pitchFamily="34" charset="0"/>
              <a:buChar char="•"/>
            </a:pPr>
            <a:r>
              <a:rPr lang="vi-VN" dirty="0"/>
              <a:t>Sau đó, yêu cầu sẽ </a:t>
            </a:r>
            <a:r>
              <a:rPr lang="vi-VN" b="1" dirty="0"/>
              <a:t>đi xuống cây</a:t>
            </a:r>
            <a:r>
              <a:rPr lang="vi-VN" dirty="0"/>
              <a:t> theo các con trỏ đến khi gặp </a:t>
            </a:r>
            <a:r>
              <a:rPr lang="vi-VN" b="1" dirty="0"/>
              <a:t>địa chỉ đầy đủ</a:t>
            </a:r>
            <a:r>
              <a:rPr lang="vi-VN" dirty="0"/>
              <a:t> tại một </a:t>
            </a:r>
            <a:r>
              <a:rPr lang="vi-VN" b="1" dirty="0"/>
              <a:t>nút lá</a:t>
            </a:r>
            <a:r>
              <a:rPr lang="vi-VN" dirty="0"/>
              <a:t>.</a:t>
            </a:r>
          </a:p>
          <a:p>
            <a:endParaRPr lang="en-US" b="1" dirty="0"/>
          </a:p>
          <a:p>
            <a:r>
              <a:rPr lang="vi-VN" b="1" dirty="0"/>
              <a:t>Ưu điểm chính:</a:t>
            </a:r>
          </a:p>
          <a:p>
            <a:pPr>
              <a:buFont typeface="Arial" panose="020B0604020202020204" pitchFamily="34" charset="0"/>
              <a:buChar char="•"/>
            </a:pPr>
            <a:r>
              <a:rPr lang="vi-VN" b="1" dirty="0"/>
              <a:t>Tận dụng tính cục bộ (locality):</a:t>
            </a:r>
            <a:br>
              <a:rPr lang="vi-VN" dirty="0"/>
            </a:br>
            <a:r>
              <a:rPr lang="vi-VN" dirty="0"/>
              <a:t>Tra cứu bắt đầu từ gần và mở rộng ra xa dần, giảm thiểu truyền thông xa không cần thiết.</a:t>
            </a:r>
          </a:p>
          <a:p>
            <a:pPr>
              <a:buFont typeface="Arial" panose="020B0604020202020204" pitchFamily="34" charset="0"/>
              <a:buChar char="•"/>
            </a:pPr>
            <a:r>
              <a:rPr lang="vi-VN" b="1" dirty="0"/>
              <a:t>Tổ chức mở rộng tốt:</a:t>
            </a:r>
            <a:br>
              <a:rPr lang="vi-VN" dirty="0"/>
            </a:br>
            <a:r>
              <a:rPr lang="vi-VN" dirty="0"/>
              <a:t>Có thể mở rộng ra quy mô lớn mà không gây nghẽn hoặc quá tải ở bất kỳ điểm nào.</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21</a:t>
            </a:fld>
            <a:endParaRPr lang="en-US"/>
          </a:p>
        </p:txBody>
      </p:sp>
    </p:spTree>
    <p:extLst>
      <p:ext uri="{BB962C8B-B14F-4D97-AF65-F5344CB8AC3E}">
        <p14:creationId xmlns:p14="http://schemas.microsoft.com/office/powerpoint/2010/main" val="945681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r>
              <a:rPr lang="vi-VN" b="1" dirty="0"/>
              <a:t>ách tổ chức cây trong Hệ thống định vị phân cấp (Hierarchical Location Services - HLS)</a:t>
            </a:r>
            <a:r>
              <a:rPr lang="vi-VN" dirty="0"/>
              <a:t> và </a:t>
            </a:r>
            <a:r>
              <a:rPr lang="vi-VN" b="1" dirty="0"/>
              <a:t>cách xử lý khi một thực thể có nhiều địa chỉ ở các miền lá khác nhau</a:t>
            </a:r>
            <a:r>
              <a:rPr lang="vi-VN" dirty="0"/>
              <a:t>.</a:t>
            </a:r>
            <a:endParaRPr lang="en-US" dirty="0"/>
          </a:p>
          <a:p>
            <a:endParaRPr lang="vi-VN" b="1" dirty="0"/>
          </a:p>
          <a:p>
            <a:r>
              <a:rPr lang="vi-VN" b="1" dirty="0"/>
              <a:t>Phần 1: HLS: Tree organization – Invariants</a:t>
            </a:r>
          </a:p>
          <a:p>
            <a:r>
              <a:rPr lang="vi-VN" dirty="0"/>
              <a:t>Đây là các </a:t>
            </a:r>
            <a:r>
              <a:rPr lang="vi-VN" b="1" dirty="0"/>
              <a:t>quy tắc bất biến</a:t>
            </a:r>
            <a:r>
              <a:rPr lang="vi-VN" dirty="0"/>
              <a:t> (invariants) trong tổ chức cây định vị:</a:t>
            </a:r>
          </a:p>
          <a:p>
            <a:pPr>
              <a:buFont typeface="+mj-lt"/>
              <a:buAutoNum type="arabicPeriod"/>
            </a:pPr>
            <a:r>
              <a:rPr lang="vi-VN" b="1" dirty="0"/>
              <a:t>Địa chỉ của thực thể E</a:t>
            </a:r>
            <a:r>
              <a:rPr lang="vi-VN" dirty="0"/>
              <a:t> chỉ được lưu trữ ở </a:t>
            </a:r>
            <a:r>
              <a:rPr lang="vi-VN" b="1" dirty="0"/>
              <a:t>nút lá hoặc nút trung gian</a:t>
            </a:r>
            <a:r>
              <a:rPr lang="vi-VN" dirty="0"/>
              <a:t> (leaf or intermediate node).</a:t>
            </a:r>
          </a:p>
          <a:p>
            <a:pPr>
              <a:buFont typeface="+mj-lt"/>
              <a:buAutoNum type="arabicPeriod"/>
            </a:pPr>
            <a:r>
              <a:rPr lang="vi-VN" b="1" dirty="0"/>
              <a:t>Nút trung gian</a:t>
            </a:r>
            <a:r>
              <a:rPr lang="vi-VN" dirty="0"/>
              <a:t> chỉ chứa </a:t>
            </a:r>
            <a:r>
              <a:rPr lang="vi-VN" b="1" dirty="0"/>
              <a:t>con trỏ đến con</a:t>
            </a:r>
            <a:r>
              <a:rPr lang="vi-VN" dirty="0"/>
              <a:t> nếu cây con gốc tại nút đó có chứa địa chỉ của thực thể E.</a:t>
            </a:r>
          </a:p>
          <a:p>
            <a:pPr>
              <a:buFont typeface="+mj-lt"/>
              <a:buAutoNum type="arabicPeriod"/>
            </a:pPr>
            <a:r>
              <a:rPr lang="vi-VN" b="1" dirty="0"/>
              <a:t>Nút gốc (root)</a:t>
            </a:r>
            <a:r>
              <a:rPr lang="vi-VN" dirty="0"/>
              <a:t> luôn biết về </a:t>
            </a:r>
            <a:r>
              <a:rPr lang="vi-VN" b="1" dirty="0"/>
              <a:t>tất cả các thực thể</a:t>
            </a:r>
            <a:r>
              <a:rPr lang="vi-VN" dirty="0"/>
              <a:t>.</a:t>
            </a:r>
          </a:p>
          <a:p>
            <a:r>
              <a:rPr lang="en-US" dirty="0"/>
              <a:t>=&gt;</a:t>
            </a:r>
            <a:r>
              <a:rPr lang="vi-VN" dirty="0"/>
              <a:t> Điều này đảm bảo lookup hiệu quả: tìm từ gần đến xa, và tránh lưu thừa thông tin không cần thiết.</a:t>
            </a:r>
          </a:p>
          <a:p>
            <a:endParaRPr lang="en-US" b="1" dirty="0"/>
          </a:p>
          <a:p>
            <a:r>
              <a:rPr lang="vi-VN" b="1" dirty="0"/>
              <a:t>Phần 2: Storing information of an entity having two addresses in different leaf domains</a:t>
            </a:r>
          </a:p>
          <a:p>
            <a:r>
              <a:rPr lang="vi-VN" dirty="0"/>
              <a:t>Phần này mô tả </a:t>
            </a:r>
            <a:r>
              <a:rPr lang="vi-VN" b="1" dirty="0"/>
              <a:t>trường hợp đặc biệt</a:t>
            </a:r>
            <a:r>
              <a:rPr lang="vi-VN" dirty="0"/>
              <a:t>: khi một </a:t>
            </a:r>
            <a:r>
              <a:rPr lang="vi-VN" b="1" dirty="0"/>
              <a:t>thực thể (entity)</a:t>
            </a:r>
            <a:r>
              <a:rPr lang="vi-VN" dirty="0"/>
              <a:t> có </a:t>
            </a:r>
            <a:r>
              <a:rPr lang="vi-VN" b="1" dirty="0"/>
              <a:t>hai địa chỉ</a:t>
            </a:r>
            <a:r>
              <a:rPr lang="vi-VN" dirty="0"/>
              <a:t> ở hai miền lá khác nhau – ví dụ như do được </a:t>
            </a:r>
            <a:r>
              <a:rPr lang="vi-VN" b="1" dirty="0"/>
              <a:t>sao chép (replicated)</a:t>
            </a:r>
            <a:r>
              <a:rPr lang="vi-VN" dirty="0"/>
              <a:t>.</a:t>
            </a:r>
          </a:p>
          <a:p>
            <a:r>
              <a:rPr lang="en-US" b="1" dirty="0" err="1"/>
              <a:t>Hình</a:t>
            </a:r>
            <a:r>
              <a:rPr lang="en-US" b="1" dirty="0"/>
              <a:t> </a:t>
            </a:r>
            <a:r>
              <a:rPr lang="vi-VN" b="1" dirty="0"/>
              <a:t>Minh họa</a:t>
            </a:r>
          </a:p>
          <a:p>
            <a:pPr>
              <a:buFont typeface="Arial" panose="020B0604020202020204" pitchFamily="34" charset="0"/>
              <a:buChar char="•"/>
            </a:pPr>
            <a:r>
              <a:rPr lang="vi-VN" b="1" dirty="0"/>
              <a:t>Entity E</a:t>
            </a:r>
            <a:r>
              <a:rPr lang="vi-VN" dirty="0"/>
              <a:t> tồn tại trong </a:t>
            </a:r>
            <a:r>
              <a:rPr lang="vi-VN" b="1" dirty="0"/>
              <a:t>Domain D1</a:t>
            </a:r>
            <a:r>
              <a:rPr lang="vi-VN" dirty="0"/>
              <a:t> và </a:t>
            </a:r>
            <a:r>
              <a:rPr lang="vi-VN" b="1" dirty="0"/>
              <a:t>Domain D2</a:t>
            </a:r>
            <a:r>
              <a:rPr lang="vi-VN" dirty="0"/>
              <a:t> (các nút lá).</a:t>
            </a:r>
          </a:p>
          <a:p>
            <a:pPr>
              <a:buFont typeface="Arial" panose="020B0604020202020204" pitchFamily="34" charset="0"/>
              <a:buChar char="•"/>
            </a:pPr>
            <a:r>
              <a:rPr lang="vi-VN" dirty="0"/>
              <a:t>Mỗi miền có </a:t>
            </a:r>
            <a:r>
              <a:rPr lang="vi-VN" b="1" dirty="0"/>
              <a:t>một bản ghi địa chỉ cụ thể</a:t>
            </a:r>
            <a:r>
              <a:rPr lang="vi-VN" dirty="0"/>
              <a:t> cho E tại nút thư mục của nó.</a:t>
            </a:r>
          </a:p>
          <a:p>
            <a:pPr>
              <a:buFont typeface="Arial" panose="020B0604020202020204" pitchFamily="34" charset="0"/>
              <a:buChar char="•"/>
            </a:pPr>
            <a:r>
              <a:rPr lang="vi-VN" b="1" dirty="0"/>
              <a:t>Nút trung gian N</a:t>
            </a:r>
            <a:r>
              <a:rPr lang="vi-VN" dirty="0"/>
              <a:t> chứa bản ghi có </a:t>
            </a:r>
            <a:r>
              <a:rPr lang="vi-VN" b="1" dirty="0"/>
              <a:t>con trỏ</a:t>
            </a:r>
            <a:r>
              <a:rPr lang="vi-VN" dirty="0"/>
              <a:t> đến miền con (ví dụ, một miền chứa D1).</a:t>
            </a:r>
          </a:p>
          <a:p>
            <a:pPr>
              <a:buFont typeface="Arial" panose="020B0604020202020204" pitchFamily="34" charset="0"/>
              <a:buChar char="•"/>
            </a:pPr>
            <a:r>
              <a:rPr lang="vi-VN" b="1" dirty="0"/>
              <a:t>Nút M</a:t>
            </a:r>
            <a:r>
              <a:rPr lang="vi-VN" dirty="0"/>
              <a:t> là </a:t>
            </a:r>
            <a:r>
              <a:rPr lang="vi-VN" b="1" dirty="0"/>
              <a:t>nút cấp cao nhất</a:t>
            </a:r>
            <a:r>
              <a:rPr lang="vi-VN" dirty="0"/>
              <a:t> chứa cả D1 và D2 → chứa </a:t>
            </a:r>
            <a:r>
              <a:rPr lang="vi-VN" b="1" dirty="0"/>
              <a:t>hai con trỏ</a:t>
            </a:r>
            <a:r>
              <a:rPr lang="vi-VN" dirty="0"/>
              <a:t>, mỗi con trỏ trỏ đến một nút con chứa địa chỉ thực thể E.</a:t>
            </a:r>
          </a:p>
          <a:p>
            <a:pPr>
              <a:buFont typeface="Arial" panose="020B0604020202020204" pitchFamily="34" charset="0"/>
              <a:buChar char="•"/>
            </a:pPr>
            <a:r>
              <a:rPr lang="vi-VN" dirty="0"/>
              <a:t>Một nút phía trên M (có nhãn “field with no data”) </a:t>
            </a:r>
            <a:r>
              <a:rPr lang="vi-VN" b="1" dirty="0"/>
              <a:t>không chứa gì cả</a:t>
            </a:r>
            <a:r>
              <a:rPr lang="vi-VN" dirty="0"/>
              <a:t>, vì toàn bộ thông tin liên quan đến E đã nằm trong cây con bên dưới M → không cần thêm dữ liệu ở đây.</a:t>
            </a:r>
          </a:p>
          <a:p>
            <a:endParaRPr lang="en-US" b="1" dirty="0"/>
          </a:p>
          <a:p>
            <a:r>
              <a:rPr lang="vi-VN" b="1" dirty="0"/>
              <a:t>Tóm tắt lại nguyên lý:</a:t>
            </a:r>
          </a:p>
          <a:p>
            <a:r>
              <a:rPr lang="vi-VN" dirty="0"/>
              <a:t>Cấp độ</a:t>
            </a:r>
            <a:r>
              <a:rPr lang="en-US" dirty="0"/>
              <a:t>			</a:t>
            </a:r>
            <a:r>
              <a:rPr lang="vi-VN" dirty="0"/>
              <a:t>Lưu gì?</a:t>
            </a:r>
            <a:endParaRPr lang="en-US" dirty="0"/>
          </a:p>
          <a:p>
            <a:r>
              <a:rPr lang="vi-VN" b="1" dirty="0"/>
              <a:t>Miền lá (leaf domain)</a:t>
            </a:r>
            <a:r>
              <a:rPr lang="en-US" b="1" dirty="0"/>
              <a:t>		</a:t>
            </a:r>
            <a:r>
              <a:rPr lang="vi-VN" dirty="0"/>
              <a:t>Địa chỉ đầy đủ của thực thể E</a:t>
            </a:r>
            <a:endParaRPr lang="en-US" dirty="0"/>
          </a:p>
          <a:p>
            <a:r>
              <a:rPr lang="vi-VN" b="1" dirty="0"/>
              <a:t>Nút trung gian (intermediate)</a:t>
            </a:r>
            <a:r>
              <a:rPr lang="en-US" b="1" dirty="0"/>
              <a:t>	</a:t>
            </a:r>
            <a:r>
              <a:rPr lang="vi-VN" dirty="0"/>
              <a:t>Con trỏ đến miền con chứa E</a:t>
            </a:r>
            <a:endParaRPr lang="en-US" dirty="0"/>
          </a:p>
          <a:p>
            <a:r>
              <a:rPr lang="vi-VN" b="1" dirty="0"/>
              <a:t>Nút chứa cả D1 và D2 (M)</a:t>
            </a:r>
            <a:r>
              <a:rPr lang="en-US" b="1" dirty="0"/>
              <a:t>		</a:t>
            </a:r>
            <a:r>
              <a:rPr lang="vi-VN" dirty="0"/>
              <a:t>Hai con trỏ: trỏ đến D1 và D2</a:t>
            </a:r>
            <a:endParaRPr lang="en-US" dirty="0"/>
          </a:p>
          <a:p>
            <a:r>
              <a:rPr lang="vi-VN" b="1" dirty="0"/>
              <a:t>Nút cấp cao hơn (không chứa thông tin)</a:t>
            </a:r>
            <a:r>
              <a:rPr lang="en-US" b="1" dirty="0"/>
              <a:t>	</a:t>
            </a:r>
            <a:r>
              <a:rPr lang="vi-VN" dirty="0"/>
              <a:t>Không lưu gì nếu subtree không chứa thực thể</a:t>
            </a:r>
          </a:p>
          <a:p>
            <a:endParaRPr lang="en-US" b="1" dirty="0"/>
          </a:p>
          <a:p>
            <a:r>
              <a:rPr lang="vi-VN" b="1" dirty="0"/>
              <a:t>Ý nghĩa thực tiễn</a:t>
            </a:r>
          </a:p>
          <a:p>
            <a:pPr>
              <a:buFont typeface="Arial" panose="020B0604020202020204" pitchFamily="34" charset="0"/>
              <a:buChar char="•"/>
            </a:pPr>
            <a:r>
              <a:rPr lang="vi-VN" dirty="0"/>
              <a:t>Giúp </a:t>
            </a:r>
            <a:r>
              <a:rPr lang="vi-VN" b="1" dirty="0"/>
              <a:t>định vị nhanh chóng</a:t>
            </a:r>
            <a:r>
              <a:rPr lang="vi-VN" dirty="0"/>
              <a:t> thực thể trong hệ thống có cấu trúc phân cấp.</a:t>
            </a:r>
          </a:p>
          <a:p>
            <a:pPr>
              <a:buFont typeface="Arial" panose="020B0604020202020204" pitchFamily="34" charset="0"/>
              <a:buChar char="•"/>
            </a:pPr>
            <a:r>
              <a:rPr lang="vi-VN" b="1" dirty="0"/>
              <a:t>Tối ưu không gian lưu trữ</a:t>
            </a:r>
            <a:r>
              <a:rPr lang="vi-VN" dirty="0"/>
              <a:t> bằng cách tránh lưu trùng lặp dữ liệu ở các cấp cao hơn khi không cần thiết.</a:t>
            </a:r>
          </a:p>
          <a:p>
            <a:pPr>
              <a:buFont typeface="Arial" panose="020B0604020202020204" pitchFamily="34" charset="0"/>
              <a:buChar char="•"/>
            </a:pPr>
            <a:r>
              <a:rPr lang="vi-VN" dirty="0"/>
              <a:t>Hỗ trợ </a:t>
            </a:r>
            <a:r>
              <a:rPr lang="vi-VN" b="1" dirty="0"/>
              <a:t>tình huống phức tạp</a:t>
            </a:r>
            <a:r>
              <a:rPr lang="vi-VN" dirty="0"/>
              <a:t> như thực thể có nhiều bản sao (replicas).</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22</a:t>
            </a:fld>
            <a:endParaRPr lang="en-US"/>
          </a:p>
        </p:txBody>
      </p:sp>
    </p:spTree>
    <p:extLst>
      <p:ext uri="{BB962C8B-B14F-4D97-AF65-F5344CB8AC3E}">
        <p14:creationId xmlns:p14="http://schemas.microsoft.com/office/powerpoint/2010/main" val="2958790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cách hoạt động của quá trình tra cứu (lookup)</a:t>
            </a:r>
            <a:r>
              <a:rPr lang="vi-VN" dirty="0"/>
              <a:t> trong </a:t>
            </a:r>
            <a:r>
              <a:rPr lang="vi-VN" b="1" dirty="0"/>
              <a:t>Hierarchical Location Service (HLS)</a:t>
            </a:r>
            <a:r>
              <a:rPr lang="vi-VN" dirty="0"/>
              <a:t> — một hệ thống định vị phân cấp.</a:t>
            </a:r>
            <a:endParaRPr lang="en-US" dirty="0"/>
          </a:p>
          <a:p>
            <a:r>
              <a:rPr lang="vi-VN" dirty="0"/>
              <a:t>Hình vẽ minh họa rõ quy trình </a:t>
            </a:r>
            <a:r>
              <a:rPr lang="vi-VN" b="1" dirty="0"/>
              <a:t>tra cứu vị trí của một thực thể (entity E)</a:t>
            </a:r>
            <a:r>
              <a:rPr lang="vi-VN" dirty="0"/>
              <a:t> trong cây HLS.</a:t>
            </a:r>
          </a:p>
          <a:p>
            <a:endParaRPr lang="vi-VN" b="1" dirty="0"/>
          </a:p>
          <a:p>
            <a:r>
              <a:rPr lang="vi-VN" b="1" dirty="0"/>
              <a:t>Phần 1: Basic principles</a:t>
            </a:r>
          </a:p>
          <a:p>
            <a:r>
              <a:rPr lang="vi-VN" dirty="0"/>
              <a:t>Các nguyên tắc cơ bản của tra cứu:</a:t>
            </a:r>
          </a:p>
          <a:p>
            <a:pPr>
              <a:buFont typeface="+mj-lt"/>
              <a:buAutoNum type="arabicPeriod"/>
            </a:pPr>
            <a:r>
              <a:rPr lang="vi-VN" b="1" dirty="0"/>
              <a:t>Bắt đầu từ nút lá cục bộ</a:t>
            </a:r>
            <a:r>
              <a:rPr lang="vi-VN" dirty="0"/>
              <a:t> (local leaf node) — nơi client hiện diện.</a:t>
            </a:r>
          </a:p>
          <a:p>
            <a:pPr>
              <a:buFont typeface="+mj-lt"/>
              <a:buAutoNum type="arabicPeriod"/>
            </a:pPr>
            <a:r>
              <a:rPr lang="vi-VN" dirty="0"/>
              <a:t>Nếu </a:t>
            </a:r>
            <a:r>
              <a:rPr lang="vi-VN" b="1" dirty="0"/>
              <a:t>nút hiện tại biết về E</a:t>
            </a:r>
            <a:r>
              <a:rPr lang="vi-VN" dirty="0"/>
              <a:t> → theo </a:t>
            </a:r>
            <a:r>
              <a:rPr lang="vi-VN" b="1" dirty="0"/>
              <a:t>con trỏ hướng xuống</a:t>
            </a:r>
            <a:r>
              <a:rPr lang="vi-VN" dirty="0"/>
              <a:t> (downward pointer).</a:t>
            </a:r>
          </a:p>
          <a:p>
            <a:pPr>
              <a:buFont typeface="+mj-lt"/>
              <a:buAutoNum type="arabicPeriod"/>
            </a:pPr>
            <a:r>
              <a:rPr lang="vi-VN" dirty="0"/>
              <a:t>Nếu </a:t>
            </a:r>
            <a:r>
              <a:rPr lang="vi-VN" b="1" dirty="0"/>
              <a:t>không biết</a:t>
            </a:r>
            <a:r>
              <a:rPr lang="vi-VN" dirty="0"/>
              <a:t> → </a:t>
            </a:r>
            <a:r>
              <a:rPr lang="vi-VN" b="1" dirty="0"/>
              <a:t>đi lên</a:t>
            </a:r>
            <a:r>
              <a:rPr lang="vi-VN" dirty="0"/>
              <a:t> (go up) để tìm.</a:t>
            </a:r>
          </a:p>
          <a:p>
            <a:pPr>
              <a:buFont typeface="+mj-lt"/>
              <a:buAutoNum type="arabicPeriod"/>
            </a:pPr>
            <a:r>
              <a:rPr lang="vi-VN" dirty="0"/>
              <a:t>Lookup </a:t>
            </a:r>
            <a:r>
              <a:rPr lang="vi-VN" b="1" dirty="0"/>
              <a:t>luôn dừng lại ở root</a:t>
            </a:r>
            <a:r>
              <a:rPr lang="vi-VN" dirty="0"/>
              <a:t> nếu không tìm được sớm hơn (vì root luôn biết về tất cả entity).</a:t>
            </a:r>
          </a:p>
          <a:p>
            <a:endParaRPr lang="en-US" b="1" dirty="0"/>
          </a:p>
          <a:p>
            <a:r>
              <a:rPr lang="vi-VN" b="1" dirty="0"/>
              <a:t>Phần 2: Looking up a location (minh họa hình vẽ)</a:t>
            </a:r>
          </a:p>
          <a:p>
            <a:r>
              <a:rPr lang="en-US" b="1" dirty="0"/>
              <a:t>- </a:t>
            </a:r>
            <a:r>
              <a:rPr lang="vi-VN" b="1" dirty="0"/>
              <a:t>Bước 1: Client gửi yêu cầu lookup đến directory node của domain cục bộ D</a:t>
            </a:r>
          </a:p>
          <a:p>
            <a:pPr>
              <a:buFont typeface="Arial" panose="020B0604020202020204" pitchFamily="34" charset="0"/>
              <a:buChar char="•"/>
            </a:pPr>
            <a:r>
              <a:rPr lang="vi-VN" dirty="0"/>
              <a:t>Đây là domain mà client đang ở.</a:t>
            </a:r>
          </a:p>
          <a:p>
            <a:pPr>
              <a:buFont typeface="Arial" panose="020B0604020202020204" pitchFamily="34" charset="0"/>
              <a:buChar char="•"/>
            </a:pPr>
            <a:r>
              <a:rPr lang="vi-VN" b="1" dirty="0"/>
              <a:t>Nếu nút này không có bản ghi</a:t>
            </a:r>
            <a:r>
              <a:rPr lang="vi-VN" dirty="0"/>
              <a:t> về E → nó </a:t>
            </a:r>
            <a:r>
              <a:rPr lang="vi-VN" b="1" dirty="0"/>
              <a:t>chuyển tiếp yêu cầu lên cha</a:t>
            </a:r>
            <a:r>
              <a:rPr lang="vi-VN" dirty="0"/>
              <a:t>.</a:t>
            </a:r>
          </a:p>
          <a:p>
            <a:r>
              <a:rPr lang="vi-VN" dirty="0"/>
              <a:t>Quá trình này lặp lại ở các cấp cao hơn cho đến khi gặp một nút </a:t>
            </a:r>
            <a:r>
              <a:rPr lang="vi-VN" b="1" dirty="0"/>
              <a:t>có bản ghi</a:t>
            </a:r>
            <a:r>
              <a:rPr lang="vi-VN" dirty="0"/>
              <a:t> cho entity E.</a:t>
            </a:r>
          </a:p>
          <a:p>
            <a:r>
              <a:rPr lang="en-US" b="1" dirty="0"/>
              <a:t>- </a:t>
            </a:r>
            <a:r>
              <a:rPr lang="vi-VN" b="1" dirty="0"/>
              <a:t>Bước 2: Gặp nút M có bản ghi về E</a:t>
            </a:r>
          </a:p>
          <a:p>
            <a:pPr>
              <a:buFont typeface="Arial" panose="020B0604020202020204" pitchFamily="34" charset="0"/>
              <a:buChar char="•"/>
            </a:pPr>
            <a:r>
              <a:rPr lang="vi-VN" dirty="0"/>
              <a:t>Lúc này ta biết rằng entity E </a:t>
            </a:r>
            <a:r>
              <a:rPr lang="vi-VN" b="1" dirty="0"/>
              <a:t>đang nằm ở đâu đó trong miền do M quản lý</a:t>
            </a:r>
            <a:r>
              <a:rPr lang="vi-VN" dirty="0"/>
              <a:t> (dom(M)).</a:t>
            </a:r>
          </a:p>
          <a:p>
            <a:pPr>
              <a:buFont typeface="Arial" panose="020B0604020202020204" pitchFamily="34" charset="0"/>
              <a:buChar char="•"/>
            </a:pPr>
            <a:r>
              <a:rPr lang="vi-VN" b="1" dirty="0"/>
              <a:t>M sẽ chứa con trỏ xuống một miền con</a:t>
            </a:r>
            <a:r>
              <a:rPr lang="vi-VN" dirty="0"/>
              <a:t> nơi có thông tin cụ thể hơn về E.</a:t>
            </a:r>
          </a:p>
          <a:p>
            <a:r>
              <a:rPr lang="vi-VN" b="1" dirty="0"/>
              <a:t>Yêu cầu được chuyển tiếp dần xuống</a:t>
            </a:r>
            <a:r>
              <a:rPr lang="vi-VN" dirty="0"/>
              <a:t> cây theo các con trỏ này.</a:t>
            </a:r>
          </a:p>
          <a:p>
            <a:r>
              <a:rPr lang="en-US" b="1" dirty="0"/>
              <a:t>- </a:t>
            </a:r>
            <a:r>
              <a:rPr lang="vi-VN" b="1" dirty="0"/>
              <a:t>Bước 3: Chạm đến nút lá chứa địa chỉ cụ thể</a:t>
            </a:r>
          </a:p>
          <a:p>
            <a:pPr>
              <a:buFont typeface="Arial" panose="020B0604020202020204" pitchFamily="34" charset="0"/>
              <a:buChar char="•"/>
            </a:pPr>
            <a:r>
              <a:rPr lang="vi-VN" dirty="0"/>
              <a:t>Khi đến nút lá cuối cùng, tại đó sẽ có bản ghi với </a:t>
            </a:r>
            <a:r>
              <a:rPr lang="vi-VN" b="1" dirty="0"/>
              <a:t>địa chỉ thực sự của entity E</a:t>
            </a:r>
            <a:r>
              <a:rPr lang="vi-VN" dirty="0"/>
              <a:t>.</a:t>
            </a:r>
          </a:p>
          <a:p>
            <a:pPr>
              <a:buFont typeface="Arial" panose="020B0604020202020204" pitchFamily="34" charset="0"/>
              <a:buChar char="•"/>
            </a:pPr>
            <a:r>
              <a:rPr lang="vi-VN" dirty="0"/>
              <a:t>Địa chỉ này được trả về cho client.</a:t>
            </a:r>
          </a:p>
          <a:p>
            <a:endParaRPr lang="en-US" b="1" dirty="0"/>
          </a:p>
          <a:p>
            <a:r>
              <a:rPr lang="vi-VN" b="1" dirty="0"/>
              <a:t>Tóm tắt quy trình lookup</a:t>
            </a:r>
          </a:p>
          <a:p>
            <a:r>
              <a:rPr lang="vi-VN" dirty="0"/>
              <a:t>Giai đoạn</a:t>
            </a:r>
            <a:r>
              <a:rPr lang="en-US" dirty="0"/>
              <a:t>				</a:t>
            </a:r>
            <a:r>
              <a:rPr lang="vi-VN" dirty="0"/>
              <a:t>Hành động</a:t>
            </a:r>
            <a:endParaRPr lang="en-US" dirty="0"/>
          </a:p>
          <a:p>
            <a:r>
              <a:rPr lang="vi-VN" b="1" dirty="0"/>
              <a:t>Khởi đầu tại nút lá</a:t>
            </a:r>
            <a:r>
              <a:rPr lang="en-US" b="1" dirty="0"/>
              <a:t>			</a:t>
            </a:r>
            <a:r>
              <a:rPr lang="vi-VN" dirty="0"/>
              <a:t>Kiểm tra xem có bản ghi về E không</a:t>
            </a:r>
            <a:endParaRPr lang="en-US" dirty="0"/>
          </a:p>
          <a:p>
            <a:r>
              <a:rPr lang="vi-VN" b="1" dirty="0"/>
              <a:t>Không có bản ghi</a:t>
            </a:r>
            <a:r>
              <a:rPr lang="en-US" b="1" dirty="0"/>
              <a:t>			</a:t>
            </a:r>
            <a:r>
              <a:rPr lang="vi-VN" dirty="0"/>
              <a:t>Gửi yêu cầu lên nút cha</a:t>
            </a:r>
            <a:endParaRPr lang="en-US" dirty="0"/>
          </a:p>
          <a:p>
            <a:r>
              <a:rPr lang="vi-VN" b="1" dirty="0"/>
              <a:t>Tìm thấy bản ghi tại một nút trung gian (M)</a:t>
            </a:r>
            <a:r>
              <a:rPr lang="en-US" b="1" dirty="0"/>
              <a:t>	</a:t>
            </a:r>
            <a:r>
              <a:rPr lang="vi-VN" dirty="0"/>
              <a:t>Theo con trỏ xuống miền con</a:t>
            </a:r>
            <a:endParaRPr lang="en-US" dirty="0"/>
          </a:p>
          <a:p>
            <a:r>
              <a:rPr lang="vi-VN" b="1" dirty="0"/>
              <a:t>Tới nút lá có địa chỉ thực tế của E</a:t>
            </a:r>
            <a:r>
              <a:rPr lang="en-US" b="1" dirty="0"/>
              <a:t>		</a:t>
            </a:r>
            <a:r>
              <a:rPr lang="vi-VN" dirty="0"/>
              <a:t>Trả về kết quả</a:t>
            </a:r>
          </a:p>
          <a:p>
            <a:endParaRPr lang="en-US" b="1" dirty="0"/>
          </a:p>
          <a:p>
            <a:r>
              <a:rPr lang="vi-VN" b="1" dirty="0"/>
              <a:t>Ý nghĩa</a:t>
            </a:r>
          </a:p>
          <a:p>
            <a:pPr>
              <a:buFont typeface="Arial" panose="020B0604020202020204" pitchFamily="34" charset="0"/>
              <a:buChar char="•"/>
            </a:pPr>
            <a:r>
              <a:rPr lang="vi-VN" dirty="0"/>
              <a:t>Lookup trong HLS </a:t>
            </a:r>
            <a:r>
              <a:rPr lang="vi-VN" b="1" dirty="0"/>
              <a:t>khai thác tính cục bộ</a:t>
            </a:r>
            <a:r>
              <a:rPr lang="vi-VN" dirty="0"/>
              <a:t>: kiểm tra từ gần đến xa.</a:t>
            </a:r>
          </a:p>
          <a:p>
            <a:pPr>
              <a:buFont typeface="Arial" panose="020B0604020202020204" pitchFamily="34" charset="0"/>
              <a:buChar char="•"/>
            </a:pPr>
            <a:r>
              <a:rPr lang="vi-VN" dirty="0"/>
              <a:t>Giúp </a:t>
            </a:r>
            <a:r>
              <a:rPr lang="vi-VN" b="1" dirty="0"/>
              <a:t>giảm độ trễ</a:t>
            </a:r>
            <a:r>
              <a:rPr lang="vi-VN" dirty="0"/>
              <a:t> nếu entity ở gần.</a:t>
            </a:r>
          </a:p>
          <a:p>
            <a:pPr>
              <a:buFont typeface="Arial" panose="020B0604020202020204" pitchFamily="34" charset="0"/>
              <a:buChar char="•"/>
            </a:pPr>
            <a:r>
              <a:rPr lang="vi-VN" b="1" dirty="0"/>
              <a:t>Đảm bảo tìm thấy</a:t>
            </a:r>
            <a:r>
              <a:rPr lang="vi-VN" dirty="0"/>
              <a:t> nhờ root luôn có bản ghi về tất cả entities.</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23</a:t>
            </a:fld>
            <a:endParaRPr lang="en-US"/>
          </a:p>
        </p:txBody>
      </p:sp>
    </p:spTree>
    <p:extLst>
      <p:ext uri="{BB962C8B-B14F-4D97-AF65-F5344CB8AC3E}">
        <p14:creationId xmlns:p14="http://schemas.microsoft.com/office/powerpoint/2010/main" val="3520427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cách thực hiện thao tác chèn (insert operation)</a:t>
            </a:r>
            <a:r>
              <a:rPr lang="vi-VN" dirty="0"/>
              <a:t> trong hệ thống định vị phân cấp </a:t>
            </a:r>
            <a:r>
              <a:rPr lang="vi-VN" b="1" dirty="0"/>
              <a:t>Hierarchical Location Service (HLS)</a:t>
            </a:r>
            <a:r>
              <a:rPr lang="vi-VN" dirty="0"/>
              <a:t>. Cụ thể, nó mô tả cách thêm địa chỉ mới của một thực thể (entity </a:t>
            </a:r>
            <a:r>
              <a:rPr lang="vi-VN" b="1" dirty="0"/>
              <a:t>E</a:t>
            </a:r>
            <a:r>
              <a:rPr lang="vi-VN" dirty="0"/>
              <a:t>) vào cây định vị.</a:t>
            </a:r>
          </a:p>
          <a:p>
            <a:endParaRPr lang="en-US" b="1" dirty="0"/>
          </a:p>
          <a:p>
            <a:r>
              <a:rPr lang="en-US" b="1" dirty="0" err="1"/>
              <a:t>Yêu</a:t>
            </a:r>
            <a:r>
              <a:rPr lang="en-US" b="1" dirty="0"/>
              <a:t> </a:t>
            </a:r>
            <a:r>
              <a:rPr lang="en-US" b="1" dirty="0" err="1"/>
              <a:t>cầu</a:t>
            </a:r>
            <a:r>
              <a:rPr lang="en-US" b="1" dirty="0"/>
              <a:t> insert:</a:t>
            </a:r>
            <a:endParaRPr lang="vi-VN" b="1" dirty="0"/>
          </a:p>
          <a:p>
            <a:r>
              <a:rPr lang="vi-VN" b="1" dirty="0"/>
              <a:t>(a)</a:t>
            </a:r>
            <a:r>
              <a:rPr lang="vi-VN" dirty="0"/>
              <a:t> Yêu cầu insert được chuyển tiếp đến nút đầu tiên biết về thực thể </a:t>
            </a:r>
            <a:r>
              <a:rPr lang="vi-VN" b="1" dirty="0"/>
              <a:t>E</a:t>
            </a:r>
            <a:br>
              <a:rPr lang="vi-VN" dirty="0"/>
            </a:br>
            <a:r>
              <a:rPr lang="vi-VN" b="1" dirty="0"/>
              <a:t>(b)</a:t>
            </a:r>
            <a:r>
              <a:rPr lang="vi-VN" dirty="0"/>
              <a:t> Một chuỗi các con trỏ chuyển tiếp (forwarding pointers) đến nút lá được tạo ra</a:t>
            </a:r>
          </a:p>
          <a:p>
            <a:endParaRPr lang="en-US" b="1" dirty="0"/>
          </a:p>
          <a:p>
            <a:r>
              <a:rPr lang="vi-VN" b="1" dirty="0"/>
              <a:t>Hình (a): Quá trình tìm nơi để chèn</a:t>
            </a:r>
          </a:p>
          <a:p>
            <a:pPr>
              <a:buFont typeface="Arial" panose="020B0604020202020204" pitchFamily="34" charset="0"/>
              <a:buChar char="•"/>
            </a:pPr>
            <a:r>
              <a:rPr lang="vi-VN" dirty="0"/>
              <a:t>Bắt đầu từ </a:t>
            </a:r>
            <a:r>
              <a:rPr lang="vi-VN" b="1" dirty="0"/>
              <a:t>nút lá của domain D</a:t>
            </a:r>
            <a:r>
              <a:rPr lang="vi-VN" dirty="0"/>
              <a:t>, nơi entity </a:t>
            </a:r>
            <a:r>
              <a:rPr lang="vi-VN" b="1" dirty="0"/>
              <a:t>E</a:t>
            </a:r>
            <a:r>
              <a:rPr lang="vi-VN" dirty="0"/>
              <a:t> tạo một bản sao (replica) và cần ghi nhận địa chỉ mới.</a:t>
            </a:r>
          </a:p>
          <a:p>
            <a:pPr>
              <a:buFont typeface="Arial" panose="020B0604020202020204" pitchFamily="34" charset="0"/>
              <a:buChar char="•"/>
            </a:pPr>
            <a:r>
              <a:rPr lang="vi-VN" b="1" dirty="0"/>
              <a:t>Nút lá không có bản ghi về E</a:t>
            </a:r>
            <a:r>
              <a:rPr lang="vi-VN" dirty="0"/>
              <a:t>, vì vậy </a:t>
            </a:r>
            <a:r>
              <a:rPr lang="vi-VN" b="1" dirty="0"/>
              <a:t>nó chuyển tiếp yêu cầu insert lên cha của nó</a:t>
            </a:r>
            <a:r>
              <a:rPr lang="vi-VN" dirty="0"/>
              <a:t>.</a:t>
            </a:r>
          </a:p>
          <a:p>
            <a:pPr>
              <a:buFont typeface="Arial" panose="020B0604020202020204" pitchFamily="34" charset="0"/>
              <a:buChar char="•"/>
            </a:pPr>
            <a:r>
              <a:rPr lang="vi-VN" dirty="0"/>
              <a:t>Quá trình này tiếp tục cho đến khi gặp một nút </a:t>
            </a:r>
            <a:r>
              <a:rPr lang="vi-VN" b="1" dirty="0"/>
              <a:t>M</a:t>
            </a:r>
            <a:r>
              <a:rPr lang="vi-VN" dirty="0"/>
              <a:t> có chứa </a:t>
            </a:r>
            <a:r>
              <a:rPr lang="vi-VN" b="1" dirty="0"/>
              <a:t>location record của E</a:t>
            </a:r>
            <a:r>
              <a:rPr lang="vi-VN" dirty="0"/>
              <a:t> (đã biết về E).</a:t>
            </a:r>
          </a:p>
          <a:p>
            <a:pPr>
              <a:buFont typeface="Arial" panose="020B0604020202020204" pitchFamily="34" charset="0"/>
              <a:buChar char="•"/>
            </a:pPr>
            <a:r>
              <a:rPr lang="vi-VN" dirty="0"/>
              <a:t>Khi đã gặp node biết E, </a:t>
            </a:r>
            <a:r>
              <a:rPr lang="vi-VN" b="1" dirty="0"/>
              <a:t>việc chuyển tiếp dừng lại tại M</a:t>
            </a:r>
            <a:r>
              <a:rPr lang="vi-VN" dirty="0"/>
              <a:t>.</a:t>
            </a:r>
          </a:p>
          <a:p>
            <a:endParaRPr lang="en-US" b="1" dirty="0"/>
          </a:p>
          <a:p>
            <a:r>
              <a:rPr lang="vi-VN" b="1" dirty="0"/>
              <a:t>Hình (b): Tạo chuỗi con trỏ từ trên xuống (top-down)</a:t>
            </a:r>
          </a:p>
          <a:p>
            <a:r>
              <a:rPr lang="vi-VN" dirty="0"/>
              <a:t>Sau khi tìm được node </a:t>
            </a:r>
            <a:r>
              <a:rPr lang="vi-VN" b="1" dirty="0"/>
              <a:t>M</a:t>
            </a:r>
            <a:r>
              <a:rPr lang="vi-VN" dirty="0"/>
              <a:t> biết về E:</a:t>
            </a:r>
          </a:p>
          <a:p>
            <a:pPr>
              <a:buFont typeface="+mj-lt"/>
              <a:buAutoNum type="arabicPeriod"/>
            </a:pPr>
            <a:r>
              <a:rPr lang="vi-VN" b="1" dirty="0"/>
              <a:t>Node M</a:t>
            </a:r>
            <a:r>
              <a:rPr lang="vi-VN" dirty="0"/>
              <a:t> tạo </a:t>
            </a:r>
            <a:r>
              <a:rPr lang="vi-VN" b="1" dirty="0"/>
              <a:t>một con trỏ xuống</a:t>
            </a:r>
            <a:r>
              <a:rPr lang="vi-VN" dirty="0"/>
              <a:t> node con nơi yêu cầu insert được gửi lên.</a:t>
            </a:r>
          </a:p>
          <a:p>
            <a:pPr>
              <a:buFont typeface="+mj-lt"/>
              <a:buAutoNum type="arabicPeriod"/>
            </a:pPr>
            <a:r>
              <a:rPr lang="vi-VN" dirty="0"/>
              <a:t>Node con này tạo location record mới cho E, và lại chứa một </a:t>
            </a:r>
            <a:r>
              <a:rPr lang="vi-VN" b="1" dirty="0"/>
              <a:t>con trỏ xuống tiếp theo</a:t>
            </a:r>
            <a:r>
              <a:rPr lang="vi-VN" dirty="0"/>
              <a:t> (đến nơi gửi insert).</a:t>
            </a:r>
          </a:p>
          <a:p>
            <a:pPr>
              <a:buFont typeface="+mj-lt"/>
              <a:buAutoNum type="arabicPeriod"/>
            </a:pPr>
            <a:r>
              <a:rPr lang="vi-VN" dirty="0"/>
              <a:t>Tiếp tục như vậy </a:t>
            </a:r>
            <a:r>
              <a:rPr lang="vi-VN" b="1" dirty="0"/>
              <a:t>cho đến nút lá</a:t>
            </a:r>
            <a:r>
              <a:rPr lang="vi-VN" dirty="0"/>
              <a:t>, nơi </a:t>
            </a:r>
            <a:r>
              <a:rPr lang="vi-VN" b="1" dirty="0"/>
              <a:t>địa chỉ thực tế của E được lưu trữ</a:t>
            </a:r>
            <a:r>
              <a:rPr lang="vi-VN" dirty="0"/>
              <a:t>.</a:t>
            </a:r>
          </a:p>
          <a:p>
            <a:r>
              <a:rPr lang="vi-VN" dirty="0"/>
              <a:t>Chuỗi các location records với con trỏ được xây dựng </a:t>
            </a:r>
            <a:r>
              <a:rPr lang="vi-VN" b="1" dirty="0"/>
              <a:t>từ trên xuống dưới</a:t>
            </a:r>
            <a:r>
              <a:rPr lang="vi-VN" dirty="0"/>
              <a:t>.</a:t>
            </a:r>
          </a:p>
          <a:p>
            <a:endParaRPr lang="en-US" b="1" dirty="0"/>
          </a:p>
          <a:p>
            <a:r>
              <a:rPr lang="en-US" b="1" dirty="0"/>
              <a:t>*</a:t>
            </a:r>
            <a:r>
              <a:rPr lang="vi-VN" b="1" dirty="0"/>
              <a:t>Ghi chú quan trọng:</a:t>
            </a:r>
          </a:p>
          <a:p>
            <a:r>
              <a:rPr lang="vi-VN" dirty="0"/>
              <a:t>Ngoài cách top-down, còn có thể chèn </a:t>
            </a:r>
            <a:r>
              <a:rPr lang="vi-VN" b="1" dirty="0"/>
              <a:t>từ dưới lên (bottom-up)</a:t>
            </a:r>
            <a:r>
              <a:rPr lang="vi-VN" dirty="0"/>
              <a:t>:</a:t>
            </a:r>
          </a:p>
          <a:p>
            <a:pPr>
              <a:buFont typeface="Arial" panose="020B0604020202020204" pitchFamily="34" charset="0"/>
              <a:buChar char="•"/>
            </a:pPr>
            <a:r>
              <a:rPr lang="vi-VN" dirty="0"/>
              <a:t>Mỗi node tạo location record trước rồi mới chuyển yêu cầu lên cha.</a:t>
            </a:r>
          </a:p>
          <a:p>
            <a:pPr>
              <a:buFont typeface="Arial" panose="020B0604020202020204" pitchFamily="34" charset="0"/>
              <a:buChar char="•"/>
            </a:pPr>
            <a:r>
              <a:rPr lang="vi-VN" dirty="0"/>
              <a:t>Ưu điểm: </a:t>
            </a:r>
            <a:r>
              <a:rPr lang="vi-VN" b="1" dirty="0"/>
              <a:t>địa chỉ sẵn sàng cho tra cứu (lookup) sớm hơn</a:t>
            </a:r>
            <a:r>
              <a:rPr lang="vi-VN" dirty="0"/>
              <a:t>.</a:t>
            </a:r>
          </a:p>
          <a:p>
            <a:pPr>
              <a:buFont typeface="Arial" panose="020B0604020202020204" pitchFamily="34" charset="0"/>
              <a:buChar char="•"/>
            </a:pPr>
            <a:r>
              <a:rPr lang="vi-VN" dirty="0"/>
              <a:t>Nếu node cha </a:t>
            </a:r>
            <a:r>
              <a:rPr lang="vi-VN" b="1" dirty="0"/>
              <a:t>tạm thời không truy cập được</a:t>
            </a:r>
            <a:r>
              <a:rPr lang="vi-VN" dirty="0"/>
              <a:t>, hệ thống vẫn có thể tra cứu địa chỉ trong domain hiện tại.</a:t>
            </a:r>
          </a:p>
          <a:p>
            <a:endParaRPr lang="en-US" b="1" dirty="0"/>
          </a:p>
          <a:p>
            <a:r>
              <a:rPr lang="en-US" b="1" dirty="0"/>
              <a:t>**</a:t>
            </a:r>
            <a:r>
              <a:rPr lang="vi-VN" b="1" dirty="0"/>
              <a:t>Tương tự insert: Delete operation (được nhắc trong văn bản)</a:t>
            </a:r>
          </a:p>
          <a:p>
            <a:pPr>
              <a:buFont typeface="Arial" panose="020B0604020202020204" pitchFamily="34" charset="0"/>
              <a:buChar char="•"/>
            </a:pPr>
            <a:r>
              <a:rPr lang="vi-VN" dirty="0"/>
              <a:t>Nếu một địa chỉ bị xóa, mà location record không còn thông tin khác → nó bị xóa.</a:t>
            </a:r>
          </a:p>
          <a:p>
            <a:pPr>
              <a:buFont typeface="Arial" panose="020B0604020202020204" pitchFamily="34" charset="0"/>
              <a:buChar char="•"/>
            </a:pPr>
            <a:r>
              <a:rPr lang="vi-VN" dirty="0"/>
              <a:t>Việc xóa có thể </a:t>
            </a:r>
            <a:r>
              <a:rPr lang="vi-VN" b="1" dirty="0"/>
              <a:t>lan lên cha</a:t>
            </a:r>
            <a:r>
              <a:rPr lang="vi-VN" dirty="0"/>
              <a:t>, tương tự insert lan xuống.</a:t>
            </a:r>
          </a:p>
          <a:p>
            <a:pPr>
              <a:buFont typeface="Arial" panose="020B0604020202020204" pitchFamily="34" charset="0"/>
              <a:buChar char="•"/>
            </a:pPr>
            <a:r>
              <a:rPr lang="vi-VN" dirty="0"/>
              <a:t>Dừng khi gặp bản ghi không còn rỗng, hoặc khi đến root.</a:t>
            </a:r>
          </a:p>
          <a:p>
            <a:endParaRPr lang="en-US" b="1" dirty="0"/>
          </a:p>
          <a:p>
            <a:r>
              <a:rPr lang="vi-VN" b="1" dirty="0"/>
              <a:t>Tóm tắt luồng xử lý insert</a:t>
            </a:r>
          </a:p>
          <a:p>
            <a:r>
              <a:rPr lang="vi-VN" dirty="0"/>
              <a:t>Giai đoạn</a:t>
            </a:r>
            <a:r>
              <a:rPr lang="en-US" dirty="0"/>
              <a:t>			</a:t>
            </a:r>
            <a:r>
              <a:rPr lang="vi-VN" dirty="0"/>
              <a:t>Hành động</a:t>
            </a:r>
            <a:endParaRPr lang="en-US" dirty="0"/>
          </a:p>
          <a:p>
            <a:r>
              <a:rPr lang="vi-VN" b="1" dirty="0"/>
              <a:t>Khởi đầu tại nút lá</a:t>
            </a:r>
            <a:r>
              <a:rPr lang="en-US" b="1" dirty="0"/>
              <a:t>		</a:t>
            </a:r>
            <a:r>
              <a:rPr lang="vi-VN" dirty="0"/>
              <a:t>Gửi yêu cầu insert lên cha nếu không biết về E</a:t>
            </a:r>
            <a:endParaRPr lang="en-US" dirty="0"/>
          </a:p>
          <a:p>
            <a:r>
              <a:rPr lang="vi-VN" b="1" dirty="0"/>
              <a:t>Gặp node biết E (M)</a:t>
            </a:r>
            <a:r>
              <a:rPr lang="en-US" b="1" dirty="0"/>
              <a:t>		</a:t>
            </a:r>
            <a:r>
              <a:rPr lang="vi-VN" dirty="0"/>
              <a:t>Tạo bản ghi trỏ xuống</a:t>
            </a:r>
            <a:endParaRPr lang="en-US" dirty="0"/>
          </a:p>
          <a:p>
            <a:r>
              <a:rPr lang="vi-VN" b="1" dirty="0"/>
              <a:t>Tạo dần bản ghi và con trỏ xuống</a:t>
            </a:r>
            <a:r>
              <a:rPr lang="en-US" b="1" dirty="0"/>
              <a:t>	</a:t>
            </a:r>
            <a:r>
              <a:rPr lang="vi-VN" dirty="0"/>
              <a:t>Cho đến nút lá</a:t>
            </a:r>
            <a:endParaRPr lang="en-US" dirty="0"/>
          </a:p>
          <a:p>
            <a:r>
              <a:rPr lang="vi-VN" b="1" dirty="0"/>
              <a:t>Nút lá</a:t>
            </a:r>
            <a:r>
              <a:rPr lang="en-US" b="1" dirty="0"/>
              <a:t>			</a:t>
            </a:r>
            <a:r>
              <a:rPr lang="vi-VN" dirty="0"/>
              <a:t>Lưu địa chỉ thực tế của E</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24</a:t>
            </a:fld>
            <a:endParaRPr lang="en-US"/>
          </a:p>
        </p:txBody>
      </p:sp>
    </p:spTree>
    <p:extLst>
      <p:ext uri="{BB962C8B-B14F-4D97-AF65-F5344CB8AC3E}">
        <p14:creationId xmlns:p14="http://schemas.microsoft.com/office/powerpoint/2010/main" val="3629944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Liệu HLS có thể mở rộng quy mô (scale) tốt trong thực tế không?</a:t>
            </a:r>
            <a:endParaRPr lang="vi-VN" dirty="0"/>
          </a:p>
          <a:p>
            <a:endParaRPr lang="en-US" b="1" dirty="0"/>
          </a:p>
          <a:p>
            <a:r>
              <a:rPr lang="en-US" b="1" dirty="0" err="1"/>
              <a:t>Nhận</a:t>
            </a:r>
            <a:r>
              <a:rPr lang="en-US" b="1" dirty="0"/>
              <a:t> </a:t>
            </a:r>
            <a:r>
              <a:rPr lang="en-US" b="1" dirty="0" err="1"/>
              <a:t>định</a:t>
            </a:r>
            <a:r>
              <a:rPr lang="en-US" b="1" dirty="0"/>
              <a:t>/ </a:t>
            </a:r>
            <a:r>
              <a:rPr lang="vi-VN" b="1" dirty="0"/>
              <a:t>Vấn đề đặt ra (Observation):</a:t>
            </a:r>
          </a:p>
          <a:p>
            <a:r>
              <a:rPr lang="vi-VN" dirty="0"/>
              <a:t>Một </a:t>
            </a:r>
            <a:r>
              <a:rPr lang="vi-VN" b="1" dirty="0"/>
              <a:t>thiết kế có vẻ như sai lầm</a:t>
            </a:r>
            <a:r>
              <a:rPr lang="vi-VN" dirty="0"/>
              <a:t> là:</a:t>
            </a:r>
            <a:br>
              <a:rPr lang="vi-VN" dirty="0"/>
            </a:br>
            <a:r>
              <a:rPr lang="vi-VN" b="1" dirty="0"/>
              <a:t>"Nút gốc (root node) phải lưu tất cả các định danh (identifiers)"</a:t>
            </a:r>
            <a:r>
              <a:rPr lang="vi-VN" dirty="0"/>
              <a:t>.</a:t>
            </a:r>
          </a:p>
          <a:p>
            <a:r>
              <a:rPr lang="en-US" dirty="0"/>
              <a:t>=&gt;</a:t>
            </a:r>
            <a:r>
              <a:rPr lang="vi-VN" dirty="0"/>
              <a:t> Điều này </a:t>
            </a:r>
            <a:r>
              <a:rPr lang="vi-VN" b="1" dirty="0"/>
              <a:t>không khả thi</a:t>
            </a:r>
            <a:r>
              <a:rPr lang="vi-VN" dirty="0"/>
              <a:t> trong các hệ thống quy mô lớn (hàng triệu entities).</a:t>
            </a:r>
            <a:br>
              <a:rPr lang="vi-VN" dirty="0"/>
            </a:br>
            <a:r>
              <a:rPr lang="vi-VN" dirty="0"/>
              <a:t>Tuy nhiên, </a:t>
            </a:r>
            <a:r>
              <a:rPr lang="vi-VN" b="1" dirty="0"/>
              <a:t>vấn đề này chỉ đúng ở cấp độ thiết kế logic</a:t>
            </a:r>
            <a:r>
              <a:rPr lang="vi-VN" dirty="0"/>
              <a:t>, còn </a:t>
            </a:r>
            <a:r>
              <a:rPr lang="vi-VN" b="1" dirty="0"/>
              <a:t>triển khai vật lý có thể khác</a:t>
            </a:r>
            <a:r>
              <a:rPr lang="vi-VN" dirty="0"/>
              <a:t>.</a:t>
            </a:r>
          </a:p>
          <a:p>
            <a:r>
              <a:rPr lang="vi-VN" b="1" dirty="0"/>
              <a:t>Giải pháp: Phân biệt giữa thiết kế logic và triển khai vật lý</a:t>
            </a:r>
          </a:p>
          <a:p>
            <a:r>
              <a:rPr lang="vi-VN" dirty="0"/>
              <a:t>Thay vì một </a:t>
            </a:r>
            <a:r>
              <a:rPr lang="vi-VN" b="1" dirty="0"/>
              <a:t>nút gốc duy nhất</a:t>
            </a:r>
            <a:r>
              <a:rPr lang="vi-VN" dirty="0"/>
              <a:t> xử lý mọi thứ, </a:t>
            </a:r>
            <a:r>
              <a:rPr lang="vi-VN" b="1" dirty="0"/>
              <a:t>các nút trong cây phân cấp có thể được triển khai rải rác</a:t>
            </a:r>
            <a:r>
              <a:rPr lang="vi-VN" dirty="0"/>
              <a:t> trên nhiều máy chủ khác nhau (distributed implementation).</a:t>
            </a:r>
          </a:p>
          <a:p>
            <a:endParaRPr lang="en-US" b="1" dirty="0"/>
          </a:p>
          <a:p>
            <a:r>
              <a:rPr lang="vi-VN" b="1" dirty="0"/>
              <a:t>Ký hiệu được dùng (Notation):</a:t>
            </a:r>
          </a:p>
          <a:p>
            <a:pPr>
              <a:buFont typeface="+mj-lt"/>
              <a:buAutoNum type="arabicPeriod"/>
            </a:pPr>
            <a:r>
              <a:rPr lang="vi-VN" b="1" dirty="0"/>
              <a:t>N physical hosts</a:t>
            </a:r>
            <a:r>
              <a:rPr lang="vi-VN" dirty="0"/>
              <a:t>:</a:t>
            </a:r>
          </a:p>
          <a:p>
            <a:pPr marL="457200" lvl="1" indent="0">
              <a:buFont typeface="+mj-lt"/>
              <a:buNone/>
            </a:pPr>
            <a:r>
              <a:rPr lang="en-US" dirty="0"/>
              <a:t>- </a:t>
            </a:r>
            <a:r>
              <a:rPr lang="vi-VN" dirty="0"/>
              <a:t>Có </a:t>
            </a:r>
            <a:r>
              <a:rPr lang="vi-VN" b="1" dirty="0"/>
              <a:t>N máy chủ vật lý</a:t>
            </a:r>
            <a:r>
              <a:rPr lang="vi-VN" dirty="0"/>
              <a:t>: {H₁, H₂, ..., Hₙ}</a:t>
            </a:r>
          </a:p>
          <a:p>
            <a:pPr marL="457200" lvl="1" indent="0">
              <a:buFont typeface="+mj-lt"/>
              <a:buNone/>
            </a:pPr>
            <a:r>
              <a:rPr lang="en-US" dirty="0"/>
              <a:t>- </a:t>
            </a:r>
            <a:r>
              <a:rPr lang="vi-VN" dirty="0"/>
              <a:t>Mỗi máy chủ có thể chạy </a:t>
            </a:r>
            <a:r>
              <a:rPr lang="vi-VN" b="1" dirty="0"/>
              <a:t>một hoặc nhiều location servers</a:t>
            </a:r>
            <a:r>
              <a:rPr lang="vi-VN" dirty="0"/>
              <a:t> (ứng với các nút ở các tầng khác nhau trong cây định vị).</a:t>
            </a:r>
          </a:p>
          <a:p>
            <a:pPr>
              <a:buFont typeface="+mj-lt"/>
              <a:buAutoNum type="arabicPeriod"/>
            </a:pPr>
            <a:r>
              <a:rPr lang="vi-VN" b="1" dirty="0"/>
              <a:t>Dₖ(A)</a:t>
            </a:r>
            <a:r>
              <a:rPr lang="vi-VN" dirty="0"/>
              <a:t>:</a:t>
            </a:r>
          </a:p>
          <a:p>
            <a:pPr marL="457200" lvl="1" indent="0">
              <a:buFont typeface="+mj-lt"/>
              <a:buNone/>
            </a:pPr>
            <a:r>
              <a:rPr lang="en-US" dirty="0"/>
              <a:t>- </a:t>
            </a:r>
            <a:r>
              <a:rPr lang="vi-VN" dirty="0"/>
              <a:t>Là </a:t>
            </a:r>
            <a:r>
              <a:rPr lang="vi-VN" b="1" dirty="0"/>
              <a:t>miền (domain)</a:t>
            </a:r>
            <a:r>
              <a:rPr lang="vi-VN" dirty="0"/>
              <a:t> ở tầng k chứa địa chỉ A</a:t>
            </a:r>
          </a:p>
          <a:p>
            <a:pPr marL="457200" lvl="1" indent="0">
              <a:buFont typeface="+mj-lt"/>
              <a:buNone/>
            </a:pPr>
            <a:r>
              <a:rPr lang="en-US" dirty="0"/>
              <a:t>- </a:t>
            </a:r>
            <a:r>
              <a:rPr lang="vi-VN" dirty="0"/>
              <a:t>Ví dụ:</a:t>
            </a:r>
          </a:p>
          <a:p>
            <a:pPr marL="914400" lvl="2" indent="0">
              <a:buFont typeface="+mj-lt"/>
              <a:buNone/>
            </a:pPr>
            <a:r>
              <a:rPr lang="vi-VN" dirty="0"/>
              <a:t>k = 0 là </a:t>
            </a:r>
            <a:r>
              <a:rPr lang="vi-VN" b="1" dirty="0"/>
              <a:t>root domain</a:t>
            </a:r>
            <a:endParaRPr lang="vi-VN" dirty="0"/>
          </a:p>
          <a:p>
            <a:pPr marL="914400" lvl="2" indent="0">
              <a:buFont typeface="+mj-lt"/>
              <a:buNone/>
            </a:pPr>
            <a:r>
              <a:rPr lang="vi-VN" dirty="0"/>
              <a:t>k = 3 có thể là domain lá (leaf)</a:t>
            </a:r>
          </a:p>
          <a:p>
            <a:pPr>
              <a:buFont typeface="+mj-lt"/>
              <a:buAutoNum type="arabicPeriod"/>
            </a:pPr>
            <a:r>
              <a:rPr lang="vi-VN" b="1" dirty="0"/>
              <a:t>LSₖ(E, A)</a:t>
            </a:r>
            <a:r>
              <a:rPr lang="vi-VN" dirty="0"/>
              <a:t>:</a:t>
            </a:r>
          </a:p>
          <a:p>
            <a:pPr marL="457200" lvl="1" indent="0">
              <a:buFont typeface="+mj-lt"/>
              <a:buNone/>
            </a:pPr>
            <a:r>
              <a:rPr lang="en-US" dirty="0"/>
              <a:t>- </a:t>
            </a:r>
            <a:r>
              <a:rPr lang="vi-VN" dirty="0"/>
              <a:t>Là </a:t>
            </a:r>
            <a:r>
              <a:rPr lang="vi-VN" b="1" dirty="0"/>
              <a:t>location server duy nhất ở domain Dₖ(A)</a:t>
            </a:r>
            <a:r>
              <a:rPr lang="vi-VN" dirty="0"/>
              <a:t> chịu trách nhiệm </a:t>
            </a:r>
            <a:r>
              <a:rPr lang="vi-VN" b="1" dirty="0"/>
              <a:t>theo dõi entity E</a:t>
            </a:r>
            <a:endParaRPr lang="vi-VN" dirty="0"/>
          </a:p>
          <a:p>
            <a:pPr marL="457200" lvl="1" indent="0">
              <a:buFont typeface="+mj-lt"/>
              <a:buNone/>
            </a:pPr>
            <a:r>
              <a:rPr lang="en-US" dirty="0"/>
              <a:t>- </a:t>
            </a:r>
            <a:r>
              <a:rPr lang="vi-VN" dirty="0"/>
              <a:t>Có nghĩa là, ở mỗi tầng của hệ thống, </a:t>
            </a:r>
            <a:r>
              <a:rPr lang="vi-VN" b="1" dirty="0"/>
              <a:t>chỉ có một server đảm trách entity E</a:t>
            </a:r>
            <a:r>
              <a:rPr lang="vi-VN" dirty="0"/>
              <a:t> ở domain tương ứng với địa chỉ A.</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25</a:t>
            </a:fld>
            <a:endParaRPr lang="en-US"/>
          </a:p>
        </p:txBody>
      </p:sp>
    </p:spTree>
    <p:extLst>
      <p:ext uri="{BB962C8B-B14F-4D97-AF65-F5344CB8AC3E}">
        <p14:creationId xmlns:p14="http://schemas.microsoft.com/office/powerpoint/2010/main" val="3234283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Hệ thống HLS có thể mở rộng bằng cách áp dụng hai chiến lược chính:</a:t>
            </a:r>
          </a:p>
          <a:p>
            <a:endParaRPr lang="en-US" b="1" dirty="0"/>
          </a:p>
          <a:p>
            <a:r>
              <a:rPr lang="en-US" b="1" dirty="0"/>
              <a:t>1. </a:t>
            </a:r>
            <a:r>
              <a:rPr lang="vi-VN" b="1" dirty="0"/>
              <a:t>Gán các Logical Name Servers vào các máy chủ vật lý khác nhau theo từng entity</a:t>
            </a:r>
          </a:p>
          <a:p>
            <a:r>
              <a:rPr lang="vi-VN" b="1" dirty="0"/>
              <a:t>"Choose different physical servers for the logical name servers on a per-entity basis (at root level, but also intermediate)"</a:t>
            </a:r>
            <a:endParaRPr lang="vi-VN" dirty="0"/>
          </a:p>
          <a:p>
            <a:r>
              <a:rPr lang="vi-VN" b="1" dirty="0"/>
              <a:t>Giải thích:</a:t>
            </a:r>
          </a:p>
          <a:p>
            <a:pPr>
              <a:buFont typeface="Arial" panose="020B0604020202020204" pitchFamily="34" charset="0"/>
              <a:buChar char="•"/>
            </a:pPr>
            <a:r>
              <a:rPr lang="vi-VN" dirty="0"/>
              <a:t>Trong </a:t>
            </a:r>
            <a:r>
              <a:rPr lang="vi-VN" b="1" dirty="0"/>
              <a:t>thiết kế logic</a:t>
            </a:r>
            <a:r>
              <a:rPr lang="vi-VN" dirty="0"/>
              <a:t>, mỗi tầng trong cây định vị có một nút logic quản lý entity E.</a:t>
            </a:r>
          </a:p>
          <a:p>
            <a:pPr>
              <a:buFont typeface="Arial" panose="020B0604020202020204" pitchFamily="34" charset="0"/>
              <a:buChar char="•"/>
            </a:pPr>
            <a:r>
              <a:rPr lang="vi-VN" dirty="0"/>
              <a:t>Trong </a:t>
            </a:r>
            <a:r>
              <a:rPr lang="vi-VN" b="1" dirty="0"/>
              <a:t>triển khai thực tế</a:t>
            </a:r>
            <a:r>
              <a:rPr lang="vi-VN" dirty="0"/>
              <a:t>, ta </a:t>
            </a:r>
            <a:r>
              <a:rPr lang="vi-VN" b="1" dirty="0"/>
              <a:t>không cần đặt toàn bộ các nút logic trên cùng một máy chủ</a:t>
            </a:r>
            <a:r>
              <a:rPr lang="vi-VN" dirty="0"/>
              <a:t>.</a:t>
            </a:r>
          </a:p>
          <a:p>
            <a:r>
              <a:rPr lang="en-US" dirty="0"/>
              <a:t>=&gt;</a:t>
            </a:r>
            <a:r>
              <a:rPr lang="vi-VN" dirty="0"/>
              <a:t> Thay vào đó:</a:t>
            </a:r>
          </a:p>
          <a:p>
            <a:pPr>
              <a:buFont typeface="Arial" panose="020B0604020202020204" pitchFamily="34" charset="0"/>
              <a:buChar char="•"/>
            </a:pPr>
            <a:r>
              <a:rPr lang="vi-VN" dirty="0"/>
              <a:t>Với mỗi entity (thực thể E), ta chọn </a:t>
            </a:r>
            <a:r>
              <a:rPr lang="vi-VN" b="1" dirty="0"/>
              <a:t>một bộ máy chủ vật lý khác nhau</a:t>
            </a:r>
            <a:r>
              <a:rPr lang="vi-VN" dirty="0"/>
              <a:t> để triển khai các name servers logic tương ứng của E.</a:t>
            </a:r>
          </a:p>
          <a:p>
            <a:pPr>
              <a:buFont typeface="Arial" panose="020B0604020202020204" pitchFamily="34" charset="0"/>
              <a:buChar char="•"/>
            </a:pPr>
            <a:r>
              <a:rPr lang="vi-VN" dirty="0"/>
              <a:t>Bao gồm cả:</a:t>
            </a:r>
          </a:p>
          <a:p>
            <a:pPr marL="742950" lvl="1" indent="-285750">
              <a:buFont typeface="Arial" panose="020B0604020202020204" pitchFamily="34" charset="0"/>
              <a:buChar char="•"/>
            </a:pPr>
            <a:r>
              <a:rPr lang="vi-VN" dirty="0"/>
              <a:t>Nút gốc (</a:t>
            </a:r>
            <a:r>
              <a:rPr lang="vi-VN" b="1" dirty="0"/>
              <a:t>root</a:t>
            </a:r>
            <a:r>
              <a:rPr lang="vi-VN" dirty="0"/>
              <a:t>)</a:t>
            </a:r>
          </a:p>
          <a:p>
            <a:pPr marL="742950" lvl="1" indent="-285750">
              <a:buFont typeface="Arial" panose="020B0604020202020204" pitchFamily="34" charset="0"/>
              <a:buChar char="•"/>
            </a:pPr>
            <a:r>
              <a:rPr lang="vi-VN" dirty="0"/>
              <a:t>Các nút trung gian (</a:t>
            </a:r>
            <a:r>
              <a:rPr lang="vi-VN" b="1" dirty="0"/>
              <a:t>intermediate nodes</a:t>
            </a:r>
            <a:r>
              <a:rPr lang="vi-VN" dirty="0"/>
              <a:t>)</a:t>
            </a:r>
          </a:p>
          <a:p>
            <a:pPr marL="742950" lvl="1" indent="-285750">
              <a:buFont typeface="Arial" panose="020B0604020202020204" pitchFamily="34" charset="0"/>
              <a:buChar char="•"/>
            </a:pPr>
            <a:r>
              <a:rPr lang="vi-VN" dirty="0"/>
              <a:t>Các nút lá (</a:t>
            </a:r>
            <a:r>
              <a:rPr lang="vi-VN" b="1" dirty="0"/>
              <a:t>leaf nodes</a:t>
            </a:r>
            <a:r>
              <a:rPr lang="vi-VN" dirty="0"/>
              <a:t>)</a:t>
            </a:r>
          </a:p>
          <a:p>
            <a:r>
              <a:rPr lang="en-US" dirty="0"/>
              <a:t>=&gt; </a:t>
            </a:r>
            <a:r>
              <a:rPr lang="vi-VN" dirty="0"/>
              <a:t>Việc này </a:t>
            </a:r>
            <a:r>
              <a:rPr lang="vi-VN" b="1" dirty="0"/>
              <a:t>tránh quá tải</a:t>
            </a:r>
            <a:r>
              <a:rPr lang="vi-VN" dirty="0"/>
              <a:t> trên một máy chủ duy nhất và hỗ trợ song song hóa quá trình truy xuất.</a:t>
            </a:r>
          </a:p>
          <a:p>
            <a:endParaRPr lang="en-US" b="1" dirty="0"/>
          </a:p>
          <a:p>
            <a:r>
              <a:rPr lang="en-US" b="1" dirty="0"/>
              <a:t>2. </a:t>
            </a:r>
            <a:r>
              <a:rPr lang="vi-VN" b="1" dirty="0"/>
              <a:t>Phân phối tải bằng ánh xạ entities vào máy chủ vật lý một cách hợp lý</a:t>
            </a:r>
          </a:p>
          <a:p>
            <a:r>
              <a:rPr lang="vi-VN" b="1" dirty="0"/>
              <a:t>"Implement a mapping of entities to physical servers such that the load of storing records will be distributed"</a:t>
            </a:r>
            <a:endParaRPr lang="vi-VN" dirty="0"/>
          </a:p>
          <a:p>
            <a:r>
              <a:rPr lang="vi-VN" b="1" dirty="0"/>
              <a:t>Giải thích:</a:t>
            </a:r>
          </a:p>
          <a:p>
            <a:pPr>
              <a:buFont typeface="Arial" panose="020B0604020202020204" pitchFamily="34" charset="0"/>
              <a:buChar char="•"/>
            </a:pPr>
            <a:r>
              <a:rPr lang="vi-VN" dirty="0"/>
              <a:t>Hệ thống cần một </a:t>
            </a:r>
            <a:r>
              <a:rPr lang="vi-VN" b="1" dirty="0"/>
              <a:t>hàm ánh xạ (mapping function)</a:t>
            </a:r>
            <a:r>
              <a:rPr lang="vi-VN" dirty="0"/>
              <a:t> từ </a:t>
            </a:r>
            <a:r>
              <a:rPr lang="vi-VN" b="1" dirty="0"/>
              <a:t>entity E</a:t>
            </a:r>
            <a:r>
              <a:rPr lang="vi-VN" dirty="0"/>
              <a:t> → </a:t>
            </a:r>
            <a:r>
              <a:rPr lang="vi-VN" b="1" dirty="0"/>
              <a:t>host vật lý</a:t>
            </a:r>
            <a:r>
              <a:rPr lang="vi-VN" dirty="0"/>
              <a:t>.</a:t>
            </a:r>
          </a:p>
          <a:p>
            <a:pPr>
              <a:buFont typeface="Arial" panose="020B0604020202020204" pitchFamily="34" charset="0"/>
              <a:buChar char="•"/>
            </a:pPr>
            <a:r>
              <a:rPr lang="vi-VN" dirty="0"/>
              <a:t>Hàm này nên có các đặc điểm:</a:t>
            </a:r>
          </a:p>
          <a:p>
            <a:pPr marL="742950" lvl="1" indent="-285750">
              <a:buFont typeface="Arial" panose="020B0604020202020204" pitchFamily="34" charset="0"/>
              <a:buChar char="•"/>
            </a:pPr>
            <a:r>
              <a:rPr lang="vi-VN" b="1" dirty="0"/>
              <a:t>Phân phối đều</a:t>
            </a:r>
            <a:r>
              <a:rPr lang="vi-VN" dirty="0"/>
              <a:t> các entity đến các máy chủ</a:t>
            </a:r>
          </a:p>
          <a:p>
            <a:pPr marL="742950" lvl="1" indent="-285750">
              <a:buFont typeface="Arial" panose="020B0604020202020204" pitchFamily="34" charset="0"/>
              <a:buChar char="•"/>
            </a:pPr>
            <a:r>
              <a:rPr lang="vi-VN" dirty="0"/>
              <a:t>Tránh hiện tượng </a:t>
            </a:r>
            <a:r>
              <a:rPr lang="vi-VN" b="1" dirty="0"/>
              <a:t>hotspot</a:t>
            </a:r>
            <a:r>
              <a:rPr lang="vi-VN" dirty="0"/>
              <a:t> (một số máy bị quá tải do chứa quá nhiều entity)</a:t>
            </a:r>
          </a:p>
          <a:p>
            <a:r>
              <a:rPr lang="vi-VN" dirty="0"/>
              <a:t>Ví dụ: có thể dùng </a:t>
            </a:r>
            <a:r>
              <a:rPr lang="vi-VN" b="1" dirty="0"/>
              <a:t>hashing</a:t>
            </a:r>
            <a:r>
              <a:rPr lang="vi-VN" dirty="0"/>
              <a:t> hoặc phân phối ngẫu nhiên trên một không gian định danh lớn (như Chord hoặc DHT).</a:t>
            </a:r>
          </a:p>
          <a:p>
            <a:endParaRPr lang="en-US" b="1" dirty="0"/>
          </a:p>
          <a:p>
            <a:r>
              <a:rPr lang="vi-VN" b="1" dirty="0"/>
              <a:t>Kết luận:</a:t>
            </a:r>
          </a:p>
          <a:p>
            <a:r>
              <a:rPr lang="vi-VN" dirty="0"/>
              <a:t>HLS </a:t>
            </a:r>
            <a:r>
              <a:rPr lang="vi-VN" b="1" dirty="0"/>
              <a:t>có thể mở rộng tốt</a:t>
            </a:r>
            <a:r>
              <a:rPr lang="vi-VN" dirty="0"/>
              <a:t> nếu ta:</a:t>
            </a:r>
          </a:p>
          <a:p>
            <a:pPr>
              <a:buFont typeface="Arial" panose="020B0604020202020204" pitchFamily="34" charset="0"/>
              <a:buChar char="•"/>
            </a:pPr>
            <a:r>
              <a:rPr lang="vi-VN" b="1" dirty="0"/>
              <a:t>Không triển khai toàn bộ cấu trúc cây trên một máy chủ</a:t>
            </a:r>
            <a:r>
              <a:rPr lang="vi-VN" dirty="0"/>
              <a:t>, mà phân tán các logical nodes trên </a:t>
            </a:r>
            <a:r>
              <a:rPr lang="vi-VN" b="1" dirty="0"/>
              <a:t>nhiều host vật lý</a:t>
            </a:r>
            <a:r>
              <a:rPr lang="vi-VN" dirty="0"/>
              <a:t>, theo từng entity.</a:t>
            </a:r>
          </a:p>
          <a:p>
            <a:pPr>
              <a:buFont typeface="Arial" panose="020B0604020202020204" pitchFamily="34" charset="0"/>
              <a:buChar char="•"/>
            </a:pPr>
            <a:r>
              <a:rPr lang="vi-VN" b="1" dirty="0"/>
              <a:t>Dùng hàm ánh xạ thông minh</a:t>
            </a:r>
            <a:r>
              <a:rPr lang="vi-VN" dirty="0"/>
              <a:t> để đảm bảo việc lưu trữ và xử lý được </a:t>
            </a:r>
            <a:r>
              <a:rPr lang="vi-VN" b="1" dirty="0"/>
              <a:t>phân tải đều</a:t>
            </a:r>
            <a:r>
              <a:rPr lang="vi-VN" dirty="0"/>
              <a:t> trên toàn hệ thống.</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26</a:t>
            </a:fld>
            <a:endParaRPr lang="en-US"/>
          </a:p>
        </p:txBody>
      </p:sp>
    </p:spTree>
    <p:extLst>
      <p:ext uri="{BB962C8B-B14F-4D97-AF65-F5344CB8AC3E}">
        <p14:creationId xmlns:p14="http://schemas.microsoft.com/office/powerpoint/2010/main" val="9804128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"Can an HLS Scale?"</a:t>
            </a:r>
            <a:endParaRPr lang="vi-VN" b="0" i="0" dirty="0">
              <a:solidFill>
                <a:srgbClr val="404040"/>
              </a:solidFill>
              <a:effectLst/>
              <a:latin typeface="DeepSeek-CJK-patch"/>
            </a:endParaRPr>
          </a:p>
          <a:p>
            <a:pPr algn="l"/>
            <a:r>
              <a:rPr lang="en-US" b="1" i="0" dirty="0" err="1">
                <a:solidFill>
                  <a:srgbClr val="404040"/>
                </a:solidFill>
                <a:effectLst/>
                <a:latin typeface="DeepSeek-CJK-patch"/>
              </a:rPr>
              <a:t>Giải</a:t>
            </a:r>
            <a:r>
              <a:rPr lang="en-US" b="1" i="0" dirty="0">
                <a:solidFill>
                  <a:srgbClr val="404040"/>
                </a:solidFill>
                <a:effectLst/>
                <a:latin typeface="DeepSeek-CJK-patch"/>
              </a:rPr>
              <a:t> </a:t>
            </a:r>
            <a:r>
              <a:rPr lang="en-US" b="1" i="0" dirty="0" err="1">
                <a:solidFill>
                  <a:srgbClr val="404040"/>
                </a:solidFill>
                <a:effectLst/>
                <a:latin typeface="DeepSeek-CJK-patch"/>
              </a:rPr>
              <a:t>thích</a:t>
            </a:r>
            <a:r>
              <a:rPr lang="vi-VN" b="0" i="0" dirty="0">
                <a:solidFill>
                  <a:srgbClr val="404040"/>
                </a:solidFill>
                <a:effectLst/>
                <a:latin typeface="DeepSeek-CJK-patch"/>
              </a:rPr>
              <a:t> </a:t>
            </a:r>
            <a:r>
              <a:rPr lang="vi-VN" b="1" i="0" dirty="0">
                <a:solidFill>
                  <a:srgbClr val="404040"/>
                </a:solidFill>
                <a:effectLst/>
                <a:latin typeface="DeepSeek-CJK-patch"/>
              </a:rPr>
              <a:t>cơ chế phân cấp (Hierarchical Location Service - HLS)</a:t>
            </a:r>
            <a:r>
              <a:rPr lang="vi-VN" b="0" i="0" dirty="0">
                <a:solidFill>
                  <a:srgbClr val="404040"/>
                </a:solidFill>
                <a:effectLst/>
                <a:latin typeface="DeepSeek-CJK-patch"/>
              </a:rPr>
              <a:t> để quản lý thông tin định vị (location) của các thực thể (entity) trong hệ thống phân tán, giải quyết vấn đề </a:t>
            </a:r>
            <a:r>
              <a:rPr lang="vi-VN" b="1" i="0" dirty="0">
                <a:solidFill>
                  <a:srgbClr val="404040"/>
                </a:solidFill>
                <a:effectLst/>
                <a:latin typeface="DeepSeek-CJK-patch"/>
              </a:rPr>
              <a:t>khả năng mở rộng (scalability)</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Các thành phần chính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Domains (Miền)</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Mỗi cấp </a:t>
            </a:r>
            <a:r>
              <a:rPr lang="vi-VN" b="1" i="0" dirty="0">
                <a:solidFill>
                  <a:srgbClr val="404040"/>
                </a:solidFill>
                <a:effectLst/>
                <a:latin typeface="DeepSeek-CJK-patch"/>
              </a:rPr>
              <a:t>k</a:t>
            </a:r>
            <a:r>
              <a:rPr lang="vi-VN" b="0" i="0" dirty="0">
                <a:solidFill>
                  <a:srgbClr val="404040"/>
                </a:solidFill>
                <a:effectLst/>
                <a:latin typeface="DeepSeek-CJK-patch"/>
              </a:rPr>
              <a:t> có </a:t>
            </a:r>
            <a:r>
              <a:rPr lang="vi-VN" b="1" i="0" dirty="0">
                <a:solidFill>
                  <a:srgbClr val="404040"/>
                </a:solidFill>
                <a:effectLst/>
                <a:latin typeface="DeepSeek-CJK-patch"/>
              </a:rPr>
              <a:t>Nₖ</a:t>
            </a:r>
            <a:r>
              <a:rPr lang="vi-VN" b="0" i="0" dirty="0">
                <a:solidFill>
                  <a:srgbClr val="404040"/>
                </a:solidFill>
                <a:effectLst/>
                <a:latin typeface="DeepSeek-CJK-patch"/>
              </a:rPr>
              <a:t> miền:</a:t>
            </a:r>
          </a:p>
          <a:p>
            <a:pPr marL="457200" lvl="1" indent="0" algn="l">
              <a:buFont typeface="Arial" panose="020B0604020202020204" pitchFamily="34" charset="0"/>
              <a:buNone/>
            </a:pPr>
            <a:r>
              <a:rPr lang="en-US" b="0" i="0" dirty="0">
                <a:solidFill>
                  <a:srgbClr val="404040"/>
                </a:solidFill>
                <a:effectLst/>
                <a:latin typeface="KaTeX_Main"/>
              </a:rPr>
              <a:t>	</a:t>
            </a:r>
            <a:r>
              <a:rPr lang="vi-VN" b="0" i="1" dirty="0">
                <a:solidFill>
                  <a:srgbClr val="404040"/>
                </a:solidFill>
                <a:effectLst/>
                <a:latin typeface="KaTeX_Math"/>
              </a:rPr>
              <a:t>Dk</a:t>
            </a:r>
            <a:r>
              <a:rPr lang="vi-VN" b="0" i="0" dirty="0">
                <a:solidFill>
                  <a:srgbClr val="404040"/>
                </a:solidFill>
                <a:effectLst/>
                <a:latin typeface="KaTeX_Main"/>
              </a:rPr>
              <a:t>​={</a:t>
            </a:r>
            <a:r>
              <a:rPr lang="vi-VN" b="0" i="1" dirty="0">
                <a:solidFill>
                  <a:srgbClr val="404040"/>
                </a:solidFill>
                <a:effectLst/>
                <a:latin typeface="KaTeX_Math"/>
              </a:rPr>
              <a:t>D</a:t>
            </a:r>
            <a:r>
              <a:rPr lang="en-US" b="0" i="1" dirty="0">
                <a:solidFill>
                  <a:srgbClr val="404040"/>
                </a:solidFill>
                <a:effectLst/>
                <a:latin typeface="KaTeX_Math"/>
              </a:rPr>
              <a:t>_(</a:t>
            </a:r>
            <a:r>
              <a:rPr lang="vi-VN" b="0" i="1" dirty="0">
                <a:solidFill>
                  <a:srgbClr val="404040"/>
                </a:solidFill>
                <a:effectLst/>
                <a:latin typeface="KaTeX_Math"/>
              </a:rPr>
              <a:t>k</a:t>
            </a:r>
            <a:r>
              <a:rPr lang="vi-VN" b="0" i="0" dirty="0">
                <a:solidFill>
                  <a:srgbClr val="404040"/>
                </a:solidFill>
                <a:effectLst/>
                <a:latin typeface="KaTeX_Main"/>
              </a:rPr>
              <a:t>,1</a:t>
            </a:r>
            <a:r>
              <a:rPr lang="en-US" b="0" i="0" dirty="0">
                <a:solidFill>
                  <a:srgbClr val="404040"/>
                </a:solidFill>
                <a:effectLst/>
                <a:latin typeface="KaTeX_Main"/>
              </a:rPr>
              <a:t>)</a:t>
            </a:r>
            <a:r>
              <a:rPr lang="vi-VN" b="0" i="0" dirty="0">
                <a:solidFill>
                  <a:srgbClr val="404040"/>
                </a:solidFill>
                <a:effectLst/>
                <a:latin typeface="KaTeX_Main"/>
              </a:rPr>
              <a:t>​,</a:t>
            </a:r>
            <a:r>
              <a:rPr lang="en-US" b="0" i="0" dirty="0">
                <a:solidFill>
                  <a:srgbClr val="404040"/>
                </a:solidFill>
                <a:effectLst/>
                <a:latin typeface="KaTeX_Main"/>
              </a:rPr>
              <a:t> </a:t>
            </a:r>
            <a:r>
              <a:rPr lang="vi-VN" b="0" i="1" dirty="0">
                <a:solidFill>
                  <a:srgbClr val="404040"/>
                </a:solidFill>
                <a:effectLst/>
                <a:latin typeface="KaTeX_Math"/>
              </a:rPr>
              <a:t>D</a:t>
            </a:r>
            <a:r>
              <a:rPr lang="en-US" b="0" i="1" dirty="0">
                <a:solidFill>
                  <a:srgbClr val="404040"/>
                </a:solidFill>
                <a:effectLst/>
                <a:latin typeface="KaTeX_Math"/>
              </a:rPr>
              <a:t>_(</a:t>
            </a:r>
            <a:r>
              <a:rPr lang="vi-VN" b="0" i="1" dirty="0">
                <a:solidFill>
                  <a:srgbClr val="404040"/>
                </a:solidFill>
                <a:effectLst/>
                <a:latin typeface="KaTeX_Math"/>
              </a:rPr>
              <a:t>k</a:t>
            </a:r>
            <a:r>
              <a:rPr lang="vi-VN" b="0" i="0" dirty="0">
                <a:solidFill>
                  <a:srgbClr val="404040"/>
                </a:solidFill>
                <a:effectLst/>
                <a:latin typeface="KaTeX_Main"/>
              </a:rPr>
              <a:t>,2</a:t>
            </a:r>
            <a:r>
              <a:rPr lang="en-US" b="0" i="0" dirty="0">
                <a:solidFill>
                  <a:srgbClr val="404040"/>
                </a:solidFill>
                <a:effectLst/>
                <a:latin typeface="KaTeX_Main"/>
              </a:rPr>
              <a:t>)</a:t>
            </a:r>
            <a:r>
              <a:rPr lang="vi-VN" b="0" i="0" dirty="0">
                <a:solidFill>
                  <a:srgbClr val="404040"/>
                </a:solidFill>
                <a:effectLst/>
                <a:latin typeface="KaTeX_Main"/>
              </a:rPr>
              <a:t>​,…,</a:t>
            </a:r>
            <a:r>
              <a:rPr lang="vi-VN" b="0" i="1" dirty="0">
                <a:solidFill>
                  <a:srgbClr val="404040"/>
                </a:solidFill>
                <a:effectLst/>
                <a:latin typeface="KaTeX_Math"/>
              </a:rPr>
              <a:t>D</a:t>
            </a:r>
            <a:r>
              <a:rPr lang="en-US" b="0" i="1" dirty="0">
                <a:solidFill>
                  <a:srgbClr val="404040"/>
                </a:solidFill>
                <a:effectLst/>
                <a:latin typeface="KaTeX_Math"/>
              </a:rPr>
              <a:t>_(</a:t>
            </a:r>
            <a:r>
              <a:rPr lang="vi-VN" b="0" i="1" dirty="0">
                <a:solidFill>
                  <a:srgbClr val="404040"/>
                </a:solidFill>
                <a:effectLst/>
                <a:latin typeface="KaTeX_Math"/>
              </a:rPr>
              <a:t>k</a:t>
            </a:r>
            <a:r>
              <a:rPr lang="vi-VN" b="0" i="0" dirty="0">
                <a:solidFill>
                  <a:srgbClr val="404040"/>
                </a:solidFill>
                <a:effectLst/>
                <a:latin typeface="KaTeX_Main"/>
              </a:rPr>
              <a:t>,</a:t>
            </a:r>
            <a:r>
              <a:rPr lang="vi-VN" b="0" i="1" dirty="0">
                <a:solidFill>
                  <a:srgbClr val="404040"/>
                </a:solidFill>
                <a:effectLst/>
                <a:latin typeface="KaTeX_Math"/>
              </a:rPr>
              <a:t>Nk</a:t>
            </a:r>
            <a:r>
              <a:rPr lang="vi-VN" b="0" i="0" dirty="0">
                <a:solidFill>
                  <a:srgbClr val="404040"/>
                </a:solidFill>
                <a:effectLst/>
                <a:latin typeface="KaTeX_Main"/>
              </a:rPr>
              <a:t>​</a:t>
            </a:r>
            <a:r>
              <a:rPr lang="en-US" b="0" i="0" dirty="0">
                <a:solidFill>
                  <a:srgbClr val="404040"/>
                </a:solidFill>
                <a:effectLst/>
                <a:latin typeface="KaTeX_Main"/>
              </a:rPr>
              <a:t>)</a:t>
            </a:r>
            <a:r>
              <a:rPr lang="vi-VN" b="0" i="0" dirty="0">
                <a:solidFill>
                  <a:srgbClr val="404040"/>
                </a:solidFill>
                <a:effectLst/>
                <a:latin typeface="KaTeX_Main"/>
              </a:rPr>
              <a:t>​}</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Cấp 0 (Root)</a:t>
            </a:r>
            <a:r>
              <a:rPr lang="vi-VN" b="0" i="0" dirty="0">
                <a:solidFill>
                  <a:srgbClr val="404040"/>
                </a:solidFill>
                <a:effectLst/>
                <a:latin typeface="DeepSeek-CJK-patch"/>
              </a:rPr>
              <a:t>: Chỉ có </a:t>
            </a:r>
            <a:r>
              <a:rPr lang="vi-VN" b="1" i="0" dirty="0">
                <a:solidFill>
                  <a:srgbClr val="404040"/>
                </a:solidFill>
                <a:effectLst/>
                <a:latin typeface="DeepSeek-CJK-patch"/>
              </a:rPr>
              <a:t>1 miền</a:t>
            </a:r>
            <a:r>
              <a:rPr lang="vi-VN" b="0" i="0" dirty="0">
                <a:solidFill>
                  <a:srgbClr val="404040"/>
                </a:solidFill>
                <a:effectLst/>
                <a:latin typeface="DeepSeek-CJK-patch"/>
              </a:rPr>
              <a:t> (</a:t>
            </a:r>
            <a:r>
              <a:rPr lang="vi-VN" b="0" i="1" dirty="0">
                <a:solidFill>
                  <a:srgbClr val="404040"/>
                </a:solidFill>
                <a:effectLst/>
                <a:latin typeface="KaTeX_Math"/>
              </a:rPr>
              <a:t>N</a:t>
            </a:r>
            <a:r>
              <a:rPr lang="en-US" b="0" i="1" dirty="0">
                <a:solidFill>
                  <a:srgbClr val="404040"/>
                </a:solidFill>
                <a:effectLst/>
                <a:latin typeface="KaTeX_Math"/>
              </a:rPr>
              <a:t>_</a:t>
            </a:r>
            <a:r>
              <a:rPr lang="vi-VN" b="0" i="0" dirty="0">
                <a:solidFill>
                  <a:srgbClr val="404040"/>
                </a:solidFill>
                <a:effectLst/>
                <a:latin typeface="KaTeX_Main"/>
              </a:rPr>
              <a:t>0​=1</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Cấp sâu hơn</a:t>
            </a:r>
            <a:r>
              <a:rPr lang="vi-VN" b="0" i="0" dirty="0">
                <a:solidFill>
                  <a:srgbClr val="404040"/>
                </a:solidFill>
                <a:effectLst/>
                <a:latin typeface="DeepSeek-CJK-patch"/>
              </a:rPr>
              <a:t>: Số miền tăng dần (ví dụ: cấp 1 có 2 miền, cấp 2 có 4 miền...).</a:t>
            </a:r>
          </a:p>
          <a:p>
            <a:pPr algn="l">
              <a:buFont typeface="Arial" panose="020B0604020202020204" pitchFamily="34" charset="0"/>
              <a:buChar char="•"/>
            </a:pPr>
            <a:r>
              <a:rPr lang="vi-VN" b="1" i="0" dirty="0">
                <a:solidFill>
                  <a:srgbClr val="404040"/>
                </a:solidFill>
                <a:effectLst/>
                <a:latin typeface="DeepSeek-CJK-patch"/>
              </a:rPr>
              <a:t>Location Server (Máy chủ định vị)</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Mỗi máy chủ vật lý (</a:t>
            </a:r>
            <a:r>
              <a:rPr lang="vi-VN" b="1" i="0" dirty="0">
                <a:solidFill>
                  <a:srgbClr val="404040"/>
                </a:solidFill>
                <a:effectLst/>
                <a:latin typeface="DeepSeek-CJK-patch"/>
              </a:rPr>
              <a:t>host</a:t>
            </a:r>
            <a:r>
              <a:rPr lang="vi-VN" b="0" i="0" dirty="0">
                <a:solidFill>
                  <a:srgbClr val="404040"/>
                </a:solidFill>
                <a:effectLst/>
                <a:latin typeface="DeepSeek-CJK-patch"/>
              </a:rPr>
              <a:t>) chạy </a:t>
            </a:r>
            <a:r>
              <a:rPr lang="vi-VN" b="1" i="0" dirty="0">
                <a:solidFill>
                  <a:srgbClr val="404040"/>
                </a:solidFill>
                <a:effectLst/>
                <a:latin typeface="DeepSeek-CJK-patch"/>
              </a:rPr>
              <a:t>một hoặc nhiều</a:t>
            </a:r>
            <a:r>
              <a:rPr lang="vi-VN" b="0" i="0" dirty="0">
                <a:solidFill>
                  <a:srgbClr val="404040"/>
                </a:solidFill>
                <a:effectLst/>
                <a:latin typeface="DeepSeek-CJK-patch"/>
              </a:rPr>
              <a:t> location server, đại diện cho các miền ở </a:t>
            </a:r>
            <a:r>
              <a:rPr lang="vi-VN" b="1" i="0" dirty="0">
                <a:solidFill>
                  <a:srgbClr val="404040"/>
                </a:solidFill>
                <a:effectLst/>
                <a:latin typeface="DeepSeek-CJK-patch"/>
              </a:rPr>
              <a:t>các cấp khác nhau</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Ví dụ: Host </a:t>
            </a:r>
            <a:r>
              <a:rPr lang="vi-VN" b="1" i="0" dirty="0">
                <a:solidFill>
                  <a:srgbClr val="404040"/>
                </a:solidFill>
                <a:effectLst/>
                <a:latin typeface="DeepSeek-CJK-patch"/>
              </a:rPr>
              <a:t>H₃</a:t>
            </a:r>
            <a:r>
              <a:rPr lang="vi-VN" b="0" i="0" dirty="0">
                <a:solidFill>
                  <a:srgbClr val="404040"/>
                </a:solidFill>
                <a:effectLst/>
                <a:latin typeface="DeepSeek-CJK-patch"/>
              </a:rPr>
              <a:t> có thể chạy:</a:t>
            </a:r>
          </a:p>
          <a:p>
            <a:pPr marL="1143000" lvl="2" indent="-228600" algn="l">
              <a:buFont typeface="Arial" panose="020B0604020202020204" pitchFamily="34" charset="0"/>
              <a:buChar char="•"/>
            </a:pPr>
            <a:r>
              <a:rPr lang="vi-VN" b="0" i="0" dirty="0">
                <a:solidFill>
                  <a:srgbClr val="404040"/>
                </a:solidFill>
                <a:effectLst/>
                <a:latin typeface="DeepSeek-CJK-patch"/>
              </a:rPr>
              <a:t>Location server cấp 0 (root) cho entity </a:t>
            </a:r>
            <a:r>
              <a:rPr lang="vi-VN" b="1" i="0" dirty="0">
                <a:solidFill>
                  <a:srgbClr val="404040"/>
                </a:solidFill>
                <a:effectLst/>
                <a:latin typeface="DeepSeek-CJK-patch"/>
              </a:rPr>
              <a:t>E</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Location server cấp 3 (leaf) cho </a:t>
            </a:r>
            <a:r>
              <a:rPr lang="vi-VN" b="1" i="0" dirty="0">
                <a:solidFill>
                  <a:srgbClr val="404040"/>
                </a:solidFill>
                <a:effectLst/>
                <a:latin typeface="DeepSeek-CJK-patch"/>
              </a:rPr>
              <a:t>E</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Nguyên lý phân phối Location Server</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Logical vs. Physical</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Thiết kế logic</a:t>
            </a:r>
            <a:r>
              <a:rPr lang="vi-VN" b="0" i="0" dirty="0">
                <a:solidFill>
                  <a:srgbClr val="404040"/>
                </a:solidFill>
                <a:effectLst/>
                <a:latin typeface="DeepSeek-CJK-patch"/>
              </a:rPr>
              <a:t>: Cây phân cấp từ root đến leaf.</a:t>
            </a:r>
          </a:p>
          <a:p>
            <a:pPr marL="742950" lvl="1" indent="-285750" algn="l">
              <a:buFont typeface="Arial" panose="020B0604020202020204" pitchFamily="34" charset="0"/>
              <a:buChar char="•"/>
            </a:pPr>
            <a:r>
              <a:rPr lang="vi-VN" b="1" i="0" dirty="0">
                <a:solidFill>
                  <a:srgbClr val="404040"/>
                </a:solidFill>
                <a:effectLst/>
                <a:latin typeface="DeepSeek-CJK-patch"/>
              </a:rPr>
              <a:t>Triển khai vật lý</a:t>
            </a:r>
            <a:r>
              <a:rPr lang="vi-VN" b="0" i="0" dirty="0">
                <a:solidFill>
                  <a:srgbClr val="404040"/>
                </a:solidFill>
                <a:effectLst/>
                <a:latin typeface="DeepSeek-CJK-patch"/>
              </a:rPr>
              <a:t>: Các location server được phân tán trên nhiều host để đảm bảo cân bằng tải.</a:t>
            </a:r>
          </a:p>
          <a:p>
            <a:pPr algn="l">
              <a:buFont typeface="Arial" panose="020B0604020202020204" pitchFamily="34" charset="0"/>
              <a:buChar char="•"/>
            </a:pPr>
            <a:r>
              <a:rPr lang="vi-VN" b="1" i="0" dirty="0">
                <a:solidFill>
                  <a:srgbClr val="404040"/>
                </a:solidFill>
                <a:effectLst/>
                <a:latin typeface="DeepSeek-CJK-patch"/>
              </a:rPr>
              <a:t>Ví dụ trong slide</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9 hosts</a:t>
            </a:r>
            <a:r>
              <a:rPr lang="vi-VN" b="0" i="0" dirty="0">
                <a:solidFill>
                  <a:srgbClr val="404040"/>
                </a:solidFill>
                <a:effectLst/>
                <a:latin typeface="DeepSeek-CJK-patch"/>
              </a:rPr>
              <a:t> (</a:t>
            </a:r>
            <a:r>
              <a:rPr lang="vi-VN" b="0" i="1" dirty="0">
                <a:solidFill>
                  <a:srgbClr val="404040"/>
                </a:solidFill>
                <a:effectLst/>
                <a:latin typeface="KaTeX_Math"/>
              </a:rPr>
              <a:t>H</a:t>
            </a:r>
            <a:r>
              <a:rPr lang="vi-VN" b="0" i="0" dirty="0">
                <a:solidFill>
                  <a:srgbClr val="404040"/>
                </a:solidFill>
                <a:effectLst/>
                <a:latin typeface="KaTeX_Main"/>
              </a:rPr>
              <a:t>1​→</a:t>
            </a:r>
            <a:r>
              <a:rPr lang="vi-VN" b="0" i="1" dirty="0">
                <a:solidFill>
                  <a:srgbClr val="404040"/>
                </a:solidFill>
                <a:effectLst/>
                <a:latin typeface="KaTeX_Math"/>
              </a:rPr>
              <a:t>H</a:t>
            </a:r>
            <a:r>
              <a:rPr lang="vi-VN" b="0" i="0" dirty="0">
                <a:solidFill>
                  <a:srgbClr val="404040"/>
                </a:solidFill>
                <a:effectLst/>
                <a:latin typeface="KaTeX_Main"/>
              </a:rPr>
              <a:t>9​</a:t>
            </a:r>
            <a:r>
              <a:rPr lang="vi-VN" b="0" i="0" dirty="0">
                <a:solidFill>
                  <a:srgbClr val="404040"/>
                </a:solidFill>
                <a:effectLst/>
                <a:latin typeface="DeepSeek-CJK-patch"/>
              </a:rPr>
              <a:t>) phân bổ location server cho 4 cấp:</a:t>
            </a:r>
          </a:p>
          <a:p>
            <a:pPr marL="1143000" lvl="2" indent="-228600" algn="l">
              <a:buFont typeface="Arial" panose="020B0604020202020204" pitchFamily="34" charset="0"/>
              <a:buChar char="•"/>
            </a:pPr>
            <a:r>
              <a:rPr lang="vi-VN" b="1" i="0" dirty="0">
                <a:solidFill>
                  <a:srgbClr val="404040"/>
                </a:solidFill>
                <a:effectLst/>
                <a:latin typeface="DeepSeek-CJK-patch"/>
              </a:rPr>
              <a:t>Cấp 0</a:t>
            </a:r>
            <a:r>
              <a:rPr lang="vi-VN" b="0" i="0" dirty="0">
                <a:solidFill>
                  <a:srgbClr val="404040"/>
                </a:solidFill>
                <a:effectLst/>
                <a:latin typeface="DeepSeek-CJK-patch"/>
              </a:rPr>
              <a:t>: Root (host </a:t>
            </a:r>
            <a:r>
              <a:rPr lang="vi-VN" b="1" i="0" dirty="0">
                <a:solidFill>
                  <a:srgbClr val="404040"/>
                </a:solidFill>
                <a:effectLst/>
                <a:latin typeface="DeepSeek-CJK-patch"/>
              </a:rPr>
              <a:t>H₃</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1" i="0" dirty="0">
                <a:solidFill>
                  <a:srgbClr val="404040"/>
                </a:solidFill>
                <a:effectLst/>
                <a:latin typeface="DeepSeek-CJK-patch"/>
              </a:rPr>
              <a:t>Cấp 1</a:t>
            </a:r>
            <a:r>
              <a:rPr lang="vi-VN" b="0" i="0" dirty="0">
                <a:solidFill>
                  <a:srgbClr val="404040"/>
                </a:solidFill>
                <a:effectLst/>
                <a:latin typeface="DeepSeek-CJK-patch"/>
              </a:rPr>
              <a:t>: 2 miền (vd: </a:t>
            </a:r>
            <a:r>
              <a:rPr lang="vi-VN" b="0" i="0" dirty="0">
                <a:solidFill>
                  <a:srgbClr val="404040"/>
                </a:solidFill>
                <a:effectLst/>
                <a:latin typeface="KaTeX_Main"/>
              </a:rPr>
              <a:t>H1</a:t>
            </a:r>
            <a:r>
              <a:rPr lang="en-US" b="0" i="1" dirty="0">
                <a:solidFill>
                  <a:srgbClr val="404040"/>
                </a:solidFill>
                <a:effectLst/>
                <a:latin typeface="KaTeX_Math"/>
              </a:rPr>
              <a:t> </a:t>
            </a:r>
            <a:r>
              <a:rPr lang="vi-VN" b="0" i="0" dirty="0">
                <a:solidFill>
                  <a:srgbClr val="404040"/>
                </a:solidFill>
                <a:effectLst/>
                <a:latin typeface="DeepSeek-CJK-patch"/>
              </a:rPr>
              <a:t>và </a:t>
            </a:r>
            <a:r>
              <a:rPr lang="vi-VN" b="0" i="0" dirty="0">
                <a:solidFill>
                  <a:srgbClr val="404040"/>
                </a:solidFill>
                <a:effectLst/>
                <a:latin typeface="KaTeX_Main"/>
              </a:rPr>
              <a:t>H2</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1" i="0" dirty="0">
                <a:solidFill>
                  <a:srgbClr val="404040"/>
                </a:solidFill>
                <a:effectLst/>
                <a:latin typeface="DeepSeek-CJK-patch"/>
              </a:rPr>
              <a:t>Cấp 2</a:t>
            </a:r>
            <a:r>
              <a:rPr lang="vi-VN" b="0" i="0" dirty="0">
                <a:solidFill>
                  <a:srgbClr val="404040"/>
                </a:solidFill>
                <a:effectLst/>
                <a:latin typeface="DeepSeek-CJK-patch"/>
              </a:rPr>
              <a:t>: 4 miền (vd: </a:t>
            </a:r>
            <a:r>
              <a:rPr lang="vi-VN" b="0" i="0" dirty="0">
                <a:solidFill>
                  <a:srgbClr val="404040"/>
                </a:solidFill>
                <a:effectLst/>
                <a:latin typeface="KaTeX_Main"/>
              </a:rPr>
              <a:t>H4,H5,H6,H7​</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1" i="0" dirty="0">
                <a:solidFill>
                  <a:srgbClr val="404040"/>
                </a:solidFill>
                <a:effectLst/>
                <a:latin typeface="DeepSeek-CJK-patch"/>
              </a:rPr>
              <a:t>Cấp 3 (leaf)</a:t>
            </a:r>
            <a:r>
              <a:rPr lang="vi-VN" b="0" i="0" dirty="0">
                <a:solidFill>
                  <a:srgbClr val="404040"/>
                </a:solidFill>
                <a:effectLst/>
                <a:latin typeface="DeepSeek-CJK-patch"/>
              </a:rPr>
              <a:t>: 8 miền (vd: </a:t>
            </a:r>
            <a:r>
              <a:rPr lang="vi-VN" b="0" i="0" dirty="0">
                <a:solidFill>
                  <a:srgbClr val="404040"/>
                </a:solidFill>
                <a:effectLst/>
                <a:latin typeface="KaTeX_Main"/>
              </a:rPr>
              <a:t>H8</a:t>
            </a:r>
            <a:r>
              <a:rPr lang="vi-VN" b="0" i="0">
                <a:solidFill>
                  <a:srgbClr val="404040"/>
                </a:solidFill>
                <a:effectLst/>
                <a:latin typeface="KaTeX_Main"/>
              </a:rPr>
              <a:t>,H9​</a:t>
            </a:r>
            <a:r>
              <a:rPr lang="vi-VN" b="0" i="0">
                <a:solidFill>
                  <a:srgbClr val="404040"/>
                </a:solidFill>
                <a:effectLst/>
                <a:latin typeface="DeepSeek-CJK-patch"/>
              </a:rPr>
              <a:t> </a:t>
            </a:r>
            <a:r>
              <a:rPr lang="vi-VN" b="0" i="0" dirty="0">
                <a:solidFill>
                  <a:srgbClr val="404040"/>
                </a:solidFill>
                <a:effectLst/>
                <a:latin typeface="DeepSeek-CJK-patch"/>
              </a:rPr>
              <a:t>và các host khác).</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Cách thức hoạt động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Gán entity</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Mỗi entity </a:t>
            </a:r>
            <a:r>
              <a:rPr lang="vi-VN" b="1" i="0" dirty="0">
                <a:solidFill>
                  <a:srgbClr val="404040"/>
                </a:solidFill>
                <a:effectLst/>
                <a:latin typeface="DeepSeek-CJK-patch"/>
              </a:rPr>
              <a:t>E</a:t>
            </a:r>
            <a:r>
              <a:rPr lang="vi-VN" b="0" i="0" dirty="0">
                <a:solidFill>
                  <a:srgbClr val="404040"/>
                </a:solidFill>
                <a:effectLst/>
                <a:latin typeface="DeepSeek-CJK-patch"/>
              </a:rPr>
              <a:t> có ID ngẫu nhiên (như trong Chord).</a:t>
            </a:r>
          </a:p>
          <a:p>
            <a:pPr marL="742950" lvl="1" indent="-285750" algn="l">
              <a:buFont typeface="Arial" panose="020B0604020202020204" pitchFamily="34" charset="0"/>
              <a:buChar char="•"/>
            </a:pPr>
            <a:r>
              <a:rPr lang="vi-VN" b="0" i="0" dirty="0">
                <a:solidFill>
                  <a:srgbClr val="404040"/>
                </a:solidFill>
                <a:effectLst/>
                <a:latin typeface="DeepSeek-CJK-patch"/>
              </a:rPr>
              <a:t>Thông tin định vị của </a:t>
            </a:r>
            <a:r>
              <a:rPr lang="vi-VN" b="1" i="0" dirty="0">
                <a:solidFill>
                  <a:srgbClr val="404040"/>
                </a:solidFill>
                <a:effectLst/>
                <a:latin typeface="DeepSeek-CJK-patch"/>
              </a:rPr>
              <a:t>E</a:t>
            </a:r>
            <a:r>
              <a:rPr lang="vi-VN" b="0" i="0" dirty="0">
                <a:solidFill>
                  <a:srgbClr val="404040"/>
                </a:solidFill>
                <a:effectLst/>
                <a:latin typeface="DeepSeek-CJK-patch"/>
              </a:rPr>
              <a:t> được lưu tại </a:t>
            </a:r>
            <a:r>
              <a:rPr lang="vi-VN" b="1" i="0" dirty="0">
                <a:solidFill>
                  <a:srgbClr val="404040"/>
                </a:solidFill>
                <a:effectLst/>
                <a:latin typeface="DeepSeek-CJK-patch"/>
              </a:rPr>
              <a:t>location server</a:t>
            </a:r>
            <a:r>
              <a:rPr lang="vi-VN" b="0" i="0" dirty="0">
                <a:solidFill>
                  <a:srgbClr val="404040"/>
                </a:solidFill>
                <a:effectLst/>
                <a:latin typeface="DeepSeek-CJK-patch"/>
              </a:rPr>
              <a:t> tương ứng với miền chứa địa chỉ của </a:t>
            </a:r>
            <a:r>
              <a:rPr lang="vi-VN" b="1" i="0" dirty="0">
                <a:solidFill>
                  <a:srgbClr val="404040"/>
                </a:solidFill>
                <a:effectLst/>
                <a:latin typeface="DeepSeek-CJK-patch"/>
              </a:rPr>
              <a:t>E</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Tra cứu thông tin</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Bắt đầu từ root (cấp 0) → đi xuống các cấp sâu hơn dựa trên ID của </a:t>
            </a:r>
            <a:r>
              <a:rPr lang="vi-VN" b="1" i="0" dirty="0">
                <a:solidFill>
                  <a:srgbClr val="404040"/>
                </a:solidFill>
                <a:effectLst/>
                <a:latin typeface="DeepSeek-CJK-patch"/>
              </a:rPr>
              <a:t>E</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Ví dụ: Để tìm entity </a:t>
            </a:r>
            <a:r>
              <a:rPr lang="vi-VN" b="1" i="0" dirty="0">
                <a:solidFill>
                  <a:srgbClr val="404040"/>
                </a:solidFill>
                <a:effectLst/>
                <a:latin typeface="DeepSeek-CJK-patch"/>
              </a:rPr>
              <a:t>E</a:t>
            </a:r>
            <a:r>
              <a:rPr lang="vi-VN" b="0" i="0" dirty="0">
                <a:solidFill>
                  <a:srgbClr val="404040"/>
                </a:solidFill>
                <a:effectLst/>
                <a:latin typeface="DeepSeek-CJK-patch"/>
              </a:rPr>
              <a:t> tại địa chỉ </a:t>
            </a:r>
            <a:r>
              <a:rPr lang="vi-VN" b="1" i="0" dirty="0">
                <a:solidFill>
                  <a:srgbClr val="404040"/>
                </a:solidFill>
                <a:effectLst/>
                <a:latin typeface="DeepSeek-CJK-patch"/>
              </a:rPr>
              <a:t>A</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Root server (host </a:t>
            </a:r>
            <a:r>
              <a:rPr lang="vi-VN" b="1" i="0" dirty="0">
                <a:solidFill>
                  <a:srgbClr val="404040"/>
                </a:solidFill>
                <a:effectLst/>
                <a:latin typeface="DeepSeek-CJK-patch"/>
              </a:rPr>
              <a:t>H₃</a:t>
            </a:r>
            <a:r>
              <a:rPr lang="vi-VN" b="0" i="0" dirty="0">
                <a:solidFill>
                  <a:srgbClr val="404040"/>
                </a:solidFill>
                <a:effectLst/>
                <a:latin typeface="DeepSeek-CJK-patch"/>
              </a:rPr>
              <a:t>) xác định miền cấp 1 chứa </a:t>
            </a:r>
            <a:r>
              <a:rPr lang="vi-VN" b="1" i="0" dirty="0">
                <a:solidFill>
                  <a:srgbClr val="404040"/>
                </a:solidFill>
                <a:effectLst/>
                <a:latin typeface="DeepSeek-CJK-patch"/>
              </a:rPr>
              <a:t>A</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Location server cấp 1 xác định miền cấp 2...</a:t>
            </a:r>
          </a:p>
          <a:p>
            <a:pPr marL="1143000" lvl="2" indent="-228600" algn="l">
              <a:buFont typeface="Arial" panose="020B0604020202020204" pitchFamily="34" charset="0"/>
              <a:buChar char="•"/>
            </a:pPr>
            <a:r>
              <a:rPr lang="vi-VN" b="0" i="0" dirty="0">
                <a:solidFill>
                  <a:srgbClr val="404040"/>
                </a:solidFill>
                <a:effectLst/>
                <a:latin typeface="DeepSeek-CJK-patch"/>
              </a:rPr>
              <a:t>Cuối cùng, leaf server (cấp 3) trả về thông tin định vị của </a:t>
            </a:r>
            <a:r>
              <a:rPr lang="vi-VN" b="1" i="0" dirty="0">
                <a:solidFill>
                  <a:srgbClr val="404040"/>
                </a:solidFill>
                <a:effectLst/>
                <a:latin typeface="DeepSeek-CJK-patch"/>
              </a:rPr>
              <a:t>E</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Tại sao HLS có thể scale?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Geographical Scalability</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Các location server cấp thấp (leaf) được đặt gần entity → Giảm độ trễ truy vấn.</a:t>
            </a:r>
          </a:p>
          <a:p>
            <a:pPr algn="l">
              <a:buFont typeface="Arial" panose="020B0604020202020204" pitchFamily="34" charset="0"/>
              <a:buChar char="•"/>
            </a:pPr>
            <a:r>
              <a:rPr lang="vi-VN" b="1" i="0" dirty="0">
                <a:solidFill>
                  <a:srgbClr val="404040"/>
                </a:solidFill>
                <a:effectLst/>
                <a:latin typeface="DeepSeek-CJK-patch"/>
              </a:rPr>
              <a:t>Size Scalability</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Root server </a:t>
            </a:r>
            <a:r>
              <a:rPr lang="vi-VN" b="1" i="0" dirty="0">
                <a:solidFill>
                  <a:srgbClr val="404040"/>
                </a:solidFill>
                <a:effectLst/>
                <a:latin typeface="DeepSeek-CJK-patch"/>
              </a:rPr>
              <a:t>không cần lưu toàn bộ thông tin</a:t>
            </a:r>
            <a:r>
              <a:rPr lang="vi-VN" b="0" i="0" dirty="0">
                <a:solidFill>
                  <a:srgbClr val="404040"/>
                </a:solidFill>
                <a:effectLst/>
                <a:latin typeface="DeepSeek-CJK-patch"/>
              </a:rPr>
              <a:t> mà chỉ điều hướng đến các miền con.</a:t>
            </a:r>
          </a:p>
          <a:p>
            <a:pPr marL="742950" lvl="1" indent="-285750" algn="l">
              <a:buFont typeface="Arial" panose="020B0604020202020204" pitchFamily="34" charset="0"/>
              <a:buChar char="•"/>
            </a:pPr>
            <a:r>
              <a:rPr lang="vi-VN" b="0" i="0" dirty="0">
                <a:solidFill>
                  <a:srgbClr val="404040"/>
                </a:solidFill>
                <a:effectLst/>
                <a:latin typeface="DeepSeek-CJK-patch"/>
              </a:rPr>
              <a:t>Tải được phân tán đều trên nhiều host.</a:t>
            </a:r>
          </a:p>
          <a:p>
            <a:pPr algn="l">
              <a:buFont typeface="Arial" panose="020B0604020202020204" pitchFamily="34" charset="0"/>
              <a:buChar char="•"/>
            </a:pPr>
            <a:r>
              <a:rPr lang="vi-VN" b="1" i="0" dirty="0">
                <a:solidFill>
                  <a:srgbClr val="404040"/>
                </a:solidFill>
                <a:effectLst/>
                <a:latin typeface="DeepSeek-CJK-patch"/>
              </a:rPr>
              <a:t>Tối ưu hóa</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Chọn host chạy location server một cách </a:t>
            </a:r>
            <a:r>
              <a:rPr lang="vi-VN" b="1" i="0" dirty="0">
                <a:solidFill>
                  <a:srgbClr val="404040"/>
                </a:solidFill>
                <a:effectLst/>
                <a:latin typeface="DeepSeek-CJK-patch"/>
              </a:rPr>
              <a:t>thông minh</a:t>
            </a:r>
            <a:r>
              <a:rPr lang="vi-VN" b="0" i="0" dirty="0">
                <a:solidFill>
                  <a:srgbClr val="404040"/>
                </a:solidFill>
                <a:effectLst/>
                <a:latin typeface="DeepSeek-CJK-patch"/>
              </a:rPr>
              <a:t> (vd: host gần entity) để kết hợp ưu điểm của phân cấp và phân tán.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HLS cân bằng giữa hiệu suất và khả năng mở rộng</a:t>
            </a:r>
            <a:r>
              <a:rPr lang="vi-VN" b="0" i="0" dirty="0">
                <a:solidFill>
                  <a:srgbClr val="404040"/>
                </a:solidFill>
                <a:effectLst/>
                <a:latin typeface="DeepSeek-CJK-patch"/>
              </a:rPr>
              <a:t> nhờ:</a:t>
            </a:r>
          </a:p>
          <a:p>
            <a:pPr marL="742950" lvl="1" indent="-285750" algn="l">
              <a:buFont typeface="Arial" panose="020B0604020202020204" pitchFamily="34" charset="0"/>
              <a:buChar char="•"/>
            </a:pPr>
            <a:r>
              <a:rPr lang="vi-VN" b="1" i="0" dirty="0">
                <a:solidFill>
                  <a:srgbClr val="404040"/>
                </a:solidFill>
                <a:effectLst/>
                <a:latin typeface="DeepSeek-CJK-patch"/>
              </a:rPr>
              <a:t>Phân cấp logic</a:t>
            </a:r>
            <a:r>
              <a:rPr lang="vi-VN" b="0" i="0" dirty="0">
                <a:solidFill>
                  <a:srgbClr val="404040"/>
                </a:solidFill>
                <a:effectLst/>
                <a:latin typeface="DeepSeek-CJK-patch"/>
              </a:rPr>
              <a:t> để tổ chức thông tin.</a:t>
            </a:r>
          </a:p>
          <a:p>
            <a:pPr marL="742950" lvl="1" indent="-285750" algn="l">
              <a:buFont typeface="Arial" panose="020B0604020202020204" pitchFamily="34" charset="0"/>
              <a:buChar char="•"/>
            </a:pPr>
            <a:r>
              <a:rPr lang="vi-VN" b="1" i="0" dirty="0">
                <a:solidFill>
                  <a:srgbClr val="404040"/>
                </a:solidFill>
                <a:effectLst/>
                <a:latin typeface="DeepSeek-CJK-patch"/>
              </a:rPr>
              <a:t>Phân tán vật lý</a:t>
            </a:r>
            <a:r>
              <a:rPr lang="vi-VN" b="0" i="0" dirty="0">
                <a:solidFill>
                  <a:srgbClr val="404040"/>
                </a:solidFill>
                <a:effectLst/>
                <a:latin typeface="DeepSeek-CJK-patch"/>
              </a:rPr>
              <a:t> để tránh nghẽn cổ chai.</a:t>
            </a:r>
          </a:p>
          <a:p>
            <a:pPr algn="l">
              <a:buFont typeface="Arial" panose="020B0604020202020204" pitchFamily="34" charset="0"/>
              <a:buChar char="•"/>
            </a:pPr>
            <a:r>
              <a:rPr lang="vi-VN" b="1" i="0" dirty="0">
                <a:solidFill>
                  <a:srgbClr val="404040"/>
                </a:solidFill>
                <a:effectLst/>
                <a:latin typeface="DeepSeek-CJK-patch"/>
              </a:rPr>
              <a:t>Ứng dụng</a:t>
            </a:r>
            <a:r>
              <a:rPr lang="vi-VN" b="0" i="0" dirty="0">
                <a:solidFill>
                  <a:srgbClr val="404040"/>
                </a:solidFill>
                <a:effectLst/>
                <a:latin typeface="DeepSeek-CJK-patch"/>
              </a:rPr>
              <a:t>: Hệ thống định vị toàn cầu, quản lý tài nguyên trong cloud.</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Câu hỏi mở</a:t>
            </a:r>
            <a:r>
              <a:rPr lang="vi-VN" b="0" i="0" dirty="0">
                <a:solidFill>
                  <a:srgbClr val="404040"/>
                </a:solidFill>
                <a:effectLst/>
                <a:latin typeface="DeepSeek-CJK-patch"/>
              </a:rPr>
              <a:t>:</a:t>
            </a:r>
          </a:p>
          <a:p>
            <a:pPr algn="l">
              <a:buFont typeface="Arial" panose="020B0604020202020204" pitchFamily="34" charset="0"/>
              <a:buChar char="•"/>
            </a:pPr>
            <a:r>
              <a:rPr lang="vi-VN" b="0" i="1" dirty="0">
                <a:solidFill>
                  <a:srgbClr val="404040"/>
                </a:solidFill>
                <a:effectLst/>
                <a:latin typeface="DeepSeek-CJK-patch"/>
              </a:rPr>
              <a:t>"Làm thế nào để đảm bảo tính nhất quán khi location server thay đổi?"</a:t>
            </a:r>
            <a:br>
              <a:rPr lang="vi-VN" b="0" i="0" dirty="0">
                <a:solidFill>
                  <a:srgbClr val="404040"/>
                </a:solidFill>
                <a:effectLst/>
                <a:latin typeface="DeepSeek-CJK-patch"/>
              </a:rPr>
            </a:br>
            <a:r>
              <a:rPr lang="en-US" b="0" i="0" dirty="0">
                <a:solidFill>
                  <a:srgbClr val="404040"/>
                </a:solidFill>
                <a:effectLst/>
                <a:latin typeface="DeepSeek-CJK-patch"/>
              </a:rPr>
              <a:t>=&gt;</a:t>
            </a:r>
            <a:r>
              <a:rPr lang="vi-VN" b="0" i="0" dirty="0">
                <a:solidFill>
                  <a:srgbClr val="404040"/>
                </a:solidFill>
                <a:effectLst/>
                <a:latin typeface="DeepSeek-CJK-patch"/>
              </a:rPr>
              <a:t> Gợi ý: Dùng cơ chế đồng bộ hóa (vd: gossip protocol) giữa các server.</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27</a:t>
            </a:fld>
            <a:endParaRPr lang="en-US"/>
          </a:p>
        </p:txBody>
      </p:sp>
    </p:spTree>
    <p:extLst>
      <p:ext uri="{BB962C8B-B14F-4D97-AF65-F5344CB8AC3E}">
        <p14:creationId xmlns:p14="http://schemas.microsoft.com/office/powerpoint/2010/main" val="18009357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Không gian tên (Name Space)</a:t>
            </a:r>
          </a:p>
          <a:p>
            <a:endParaRPr lang="en-US" b="1" dirty="0"/>
          </a:p>
          <a:p>
            <a:r>
              <a:rPr lang="vi-VN" b="1" dirty="0"/>
              <a:t>1. Định nghĩa Naming Graph</a:t>
            </a:r>
          </a:p>
          <a:p>
            <a:r>
              <a:rPr lang="vi-VN" dirty="0"/>
              <a:t>Một </a:t>
            </a:r>
            <a:r>
              <a:rPr lang="vi-VN" b="1" dirty="0"/>
              <a:t>naming graph</a:t>
            </a:r>
            <a:r>
              <a:rPr lang="vi-VN" dirty="0"/>
              <a:t> (đồ thị đặt tên) là một đồ thị có nhãn và có hướng (labeled, directed graph), nơi mà:</a:t>
            </a:r>
          </a:p>
          <a:p>
            <a:pPr>
              <a:buFont typeface="Arial" panose="020B0604020202020204" pitchFamily="34" charset="0"/>
              <a:buChar char="•"/>
            </a:pPr>
            <a:r>
              <a:rPr lang="vi-VN" b="1" dirty="0"/>
              <a:t>Leaf node (nút lá)</a:t>
            </a:r>
            <a:r>
              <a:rPr lang="vi-VN" dirty="0"/>
              <a:t>: đại diện cho một thực thể được đặt tên (named entity), không có cạnh đi ra. Thường chứa thông tin hoặc trạng thái về thực thể đó (ví dụ: địa chỉ, nội dung tập tin).</a:t>
            </a:r>
          </a:p>
          <a:p>
            <a:pPr>
              <a:buFont typeface="Arial" panose="020B0604020202020204" pitchFamily="34" charset="0"/>
              <a:buChar char="•"/>
            </a:pPr>
            <a:r>
              <a:rPr lang="vi-VN" b="1" dirty="0"/>
              <a:t>Directory node (nút thư mục)</a:t>
            </a:r>
            <a:r>
              <a:rPr lang="vi-VN" dirty="0"/>
              <a:t>: là nút có các cạnh đi ra. Mỗi cạnh được gắn nhãn (label) đại diện cho tên của đối tượng con. Mỗi cạnh này là một cặp (node identifier, edge label) được lưu trong bảng gọi là </a:t>
            </a:r>
            <a:r>
              <a:rPr lang="vi-VN" b="1" dirty="0"/>
              <a:t>directory table</a:t>
            </a:r>
            <a:r>
              <a:rPr lang="vi-VN" dirty="0"/>
              <a:t>.</a:t>
            </a:r>
          </a:p>
          <a:p>
            <a:endParaRPr lang="en-US" b="1" dirty="0"/>
          </a:p>
          <a:p>
            <a:r>
              <a:rPr lang="vi-VN" b="1" dirty="0"/>
              <a:t>2. Hình minh họa – Đồ thị đặt tên tổng quát với một nút gốc duy nhất</a:t>
            </a:r>
          </a:p>
          <a:p>
            <a:r>
              <a:rPr lang="vi-VN" b="1" dirty="0"/>
              <a:t>Giải thích từng thành phần trong đồ thị:</a:t>
            </a:r>
          </a:p>
          <a:p>
            <a:pPr>
              <a:buFont typeface="Arial" panose="020B0604020202020204" pitchFamily="34" charset="0"/>
              <a:buChar char="•"/>
            </a:pPr>
            <a:r>
              <a:rPr lang="vi-VN" b="1" dirty="0"/>
              <a:t>Nút gốc n0</a:t>
            </a:r>
            <a:r>
              <a:rPr lang="vi-VN" dirty="0"/>
              <a:t>: không có cạnh đi vào, chỉ có các cạnh đi ra (gồm home và keys). Đây là điểm bắt đầu cho các đường dẫn tuyệt đối.</a:t>
            </a:r>
          </a:p>
          <a:p>
            <a:pPr>
              <a:buFont typeface="Arial" panose="020B0604020202020204" pitchFamily="34" charset="0"/>
              <a:buChar char="•"/>
            </a:pPr>
            <a:r>
              <a:rPr lang="vi-VN" b="1" dirty="0"/>
              <a:t>n1</a:t>
            </a:r>
            <a:r>
              <a:rPr lang="vi-VN" dirty="0"/>
              <a:t> là một </a:t>
            </a:r>
            <a:r>
              <a:rPr lang="vi-VN" b="1" dirty="0"/>
              <a:t>directory node</a:t>
            </a:r>
            <a:r>
              <a:rPr lang="vi-VN" dirty="0"/>
              <a:t>, trỏ tới các nút con:</a:t>
            </a:r>
          </a:p>
          <a:p>
            <a:pPr marL="742950" lvl="1" indent="-285750">
              <a:buFont typeface="Arial" panose="020B0604020202020204" pitchFamily="34" charset="0"/>
              <a:buChar char="•"/>
            </a:pPr>
            <a:r>
              <a:rPr lang="vi-VN" dirty="0"/>
              <a:t>n2: đại diện cho "elke" → là </a:t>
            </a:r>
            <a:r>
              <a:rPr lang="vi-VN" b="1" dirty="0"/>
              <a:t>leaf node</a:t>
            </a:r>
            <a:r>
              <a:rPr lang="vi-VN" dirty="0"/>
              <a:t>.</a:t>
            </a:r>
          </a:p>
          <a:p>
            <a:pPr marL="742950" lvl="1" indent="-285750">
              <a:buFont typeface="Arial" panose="020B0604020202020204" pitchFamily="34" charset="0"/>
              <a:buChar char="•"/>
            </a:pPr>
            <a:r>
              <a:rPr lang="vi-VN" dirty="0"/>
              <a:t>n3: đại diện cho "max" → là </a:t>
            </a:r>
            <a:r>
              <a:rPr lang="vi-VN" b="1" dirty="0"/>
              <a:t>leaf node</a:t>
            </a:r>
            <a:r>
              <a:rPr lang="vi-VN" dirty="0"/>
              <a:t>.</a:t>
            </a:r>
          </a:p>
          <a:p>
            <a:pPr marL="742950" lvl="1" indent="-285750">
              <a:buFont typeface="Arial" panose="020B0604020202020204" pitchFamily="34" charset="0"/>
              <a:buChar char="•"/>
            </a:pPr>
            <a:r>
              <a:rPr lang="vi-VN" dirty="0"/>
              <a:t>n4: đại diện cho "steen" → là </a:t>
            </a:r>
            <a:r>
              <a:rPr lang="vi-VN" b="1" dirty="0"/>
              <a:t>directory node</a:t>
            </a:r>
            <a:r>
              <a:rPr lang="vi-VN" dirty="0"/>
              <a:t>, tiếp tục có các cạnh đi ra.</a:t>
            </a:r>
          </a:p>
          <a:p>
            <a:pPr>
              <a:buFont typeface="Arial" panose="020B0604020202020204" pitchFamily="34" charset="0"/>
              <a:buChar char="•"/>
            </a:pPr>
            <a:r>
              <a:rPr lang="vi-VN" b="1" dirty="0"/>
              <a:t>n4</a:t>
            </a:r>
            <a:r>
              <a:rPr lang="vi-VN" dirty="0"/>
              <a:t> có hai cạnh đi ra: .procmail và mbox, cả hai đều dẫn đến </a:t>
            </a:r>
            <a:r>
              <a:rPr lang="vi-VN" b="1" dirty="0"/>
              <a:t>leaf node</a:t>
            </a:r>
            <a:r>
              <a:rPr lang="vi-VN" dirty="0"/>
              <a:t>.</a:t>
            </a:r>
          </a:p>
          <a:p>
            <a:pPr>
              <a:buFont typeface="Arial" panose="020B0604020202020204" pitchFamily="34" charset="0"/>
              <a:buChar char="•"/>
            </a:pPr>
            <a:r>
              <a:rPr lang="vi-VN" dirty="0"/>
              <a:t>n5 là một </a:t>
            </a:r>
            <a:r>
              <a:rPr lang="vi-VN" b="1" dirty="0"/>
              <a:t>leaf node</a:t>
            </a:r>
            <a:r>
              <a:rPr lang="vi-VN" dirty="0"/>
              <a:t>, được trỏ đến bởi cả n0 thông qua nhãn keys và n4 thông qua cùng nhãn keys. Điều này chứng minh rằng một nút có thể có </a:t>
            </a:r>
            <a:r>
              <a:rPr lang="vi-VN" b="1" dirty="0"/>
              <a:t>nhiều cạnh đi vào</a:t>
            </a:r>
            <a:r>
              <a:rPr lang="vi-VN" dirty="0"/>
              <a:t> từ nhiều đường dẫn khác nhau, tạo thành </a:t>
            </a:r>
            <a:r>
              <a:rPr lang="vi-VN" b="1" dirty="0"/>
              <a:t>đồ thị có hướng không chu trình (DAG)</a:t>
            </a:r>
            <a:r>
              <a:rPr lang="vi-VN" dirty="0"/>
              <a:t>.</a:t>
            </a:r>
          </a:p>
          <a:p>
            <a:endParaRPr lang="en-US" b="1" dirty="0"/>
          </a:p>
          <a:p>
            <a:r>
              <a:rPr lang="vi-VN" b="1" dirty="0"/>
              <a:t>3. Ví dụ về đường dẫn:</a:t>
            </a:r>
          </a:p>
          <a:p>
            <a:pPr>
              <a:buFont typeface="Arial" panose="020B0604020202020204" pitchFamily="34" charset="0"/>
              <a:buChar char="•"/>
            </a:pPr>
            <a:r>
              <a:rPr lang="vi-VN" dirty="0"/>
              <a:t>Đường dẫn tuyệt đối: /home/steen/mbox (bắt đầu từ n0, đi qua home → steen → mbox)</a:t>
            </a:r>
          </a:p>
          <a:p>
            <a:pPr>
              <a:buFont typeface="Arial" panose="020B0604020202020204" pitchFamily="34" charset="0"/>
              <a:buChar char="•"/>
            </a:pPr>
            <a:r>
              <a:rPr lang="vi-VN" dirty="0"/>
              <a:t>n5 có thể được truy cập qua hai đường dẫn khác nhau:</a:t>
            </a:r>
          </a:p>
          <a:p>
            <a:pPr marL="742950" lvl="1" indent="-285750">
              <a:buFont typeface="Arial" panose="020B0604020202020204" pitchFamily="34" charset="0"/>
              <a:buChar char="•"/>
            </a:pPr>
            <a:r>
              <a:rPr lang="vi-VN" dirty="0"/>
              <a:t>/keys</a:t>
            </a:r>
          </a:p>
          <a:p>
            <a:pPr marL="742950" lvl="1" indent="-285750">
              <a:buFont typeface="Arial" panose="020B0604020202020204" pitchFamily="34" charset="0"/>
              <a:buChar char="•"/>
            </a:pPr>
            <a:r>
              <a:rPr lang="vi-VN" dirty="0"/>
              <a:t>/home/steen/keys</a:t>
            </a:r>
          </a:p>
          <a:p>
            <a:r>
              <a:rPr lang="vi-VN" dirty="0"/>
              <a:t>Điều này cho thấy rằng </a:t>
            </a:r>
            <a:r>
              <a:rPr lang="vi-VN" b="1" dirty="0"/>
              <a:t>một nút có thể có nhiều tên khác nhau (path aliasing)</a:t>
            </a:r>
            <a:r>
              <a:rPr lang="vi-VN" dirty="0"/>
              <a:t>.</a:t>
            </a:r>
          </a:p>
          <a:p>
            <a:endParaRPr lang="en-US" b="1" dirty="0"/>
          </a:p>
          <a:p>
            <a:r>
              <a:rPr lang="vi-VN" b="1" dirty="0"/>
              <a:t>4. Ghi chú về Directory Node:</a:t>
            </a:r>
          </a:p>
          <a:p>
            <a:r>
              <a:rPr lang="vi-VN" dirty="0"/>
              <a:t>Một </a:t>
            </a:r>
            <a:r>
              <a:rPr lang="vi-VN" b="1" dirty="0"/>
              <a:t>directory node</a:t>
            </a:r>
            <a:r>
              <a:rPr lang="vi-VN" dirty="0"/>
              <a:t> chứa một bảng ánh xạ giữa:</a:t>
            </a:r>
          </a:p>
          <a:p>
            <a:pPr>
              <a:buFont typeface="Arial" panose="020B0604020202020204" pitchFamily="34" charset="0"/>
              <a:buChar char="•"/>
            </a:pPr>
            <a:r>
              <a:rPr lang="vi-VN" b="1" dirty="0"/>
              <a:t>ID của nút con</a:t>
            </a:r>
            <a:r>
              <a:rPr lang="vi-VN" dirty="0"/>
              <a:t> và</a:t>
            </a:r>
          </a:p>
          <a:p>
            <a:pPr>
              <a:buFont typeface="Arial" panose="020B0604020202020204" pitchFamily="34" charset="0"/>
              <a:buChar char="•"/>
            </a:pPr>
            <a:r>
              <a:rPr lang="vi-VN" b="1" dirty="0"/>
              <a:t>Nhãn của cạnh (tên)</a:t>
            </a:r>
            <a:r>
              <a:rPr lang="vi-VN" dirty="0"/>
              <a:t>.</a:t>
            </a:r>
          </a:p>
          <a:p>
            <a:r>
              <a:rPr lang="vi-VN" dirty="0"/>
              <a:t>Ví dụ, trong n1 có bảng:</a:t>
            </a:r>
          </a:p>
          <a:p>
            <a:pPr>
              <a:buFont typeface="Arial" panose="020B0604020202020204" pitchFamily="34" charset="0"/>
              <a:buChar char="•"/>
            </a:pPr>
            <a:r>
              <a:rPr lang="vi-VN" dirty="0"/>
              <a:t>n2: "elke"</a:t>
            </a:r>
          </a:p>
          <a:p>
            <a:pPr>
              <a:buFont typeface="Arial" panose="020B0604020202020204" pitchFamily="34" charset="0"/>
              <a:buChar char="•"/>
            </a:pPr>
            <a:r>
              <a:rPr lang="vi-VN" dirty="0"/>
              <a:t>n3: "max"</a:t>
            </a:r>
          </a:p>
          <a:p>
            <a:pPr>
              <a:buFont typeface="Arial" panose="020B0604020202020204" pitchFamily="34" charset="0"/>
              <a:buChar char="•"/>
            </a:pPr>
            <a:r>
              <a:rPr lang="vi-VN" dirty="0"/>
              <a:t>n4: "steen"</a:t>
            </a:r>
          </a:p>
          <a:p>
            <a:endParaRPr lang="en-US" b="1" dirty="0"/>
          </a:p>
          <a:p>
            <a:r>
              <a:rPr lang="vi-VN" b="1" dirty="0"/>
              <a:t>5. Liên hệ thực tế:</a:t>
            </a:r>
          </a:p>
          <a:p>
            <a:pPr>
              <a:buFont typeface="Arial" panose="020B0604020202020204" pitchFamily="34" charset="0"/>
              <a:buChar char="•"/>
            </a:pPr>
            <a:r>
              <a:rPr lang="vi-VN" dirty="0"/>
              <a:t>Cấu trúc này tương tự như cách hệ điều hành tổ chức cây thư mục và tập tin trong hệ thống file (file system).</a:t>
            </a:r>
          </a:p>
          <a:p>
            <a:pPr>
              <a:buFont typeface="Arial" panose="020B0604020202020204" pitchFamily="34" charset="0"/>
              <a:buChar char="•"/>
            </a:pPr>
            <a:r>
              <a:rPr lang="vi-VN" dirty="0"/>
              <a:t>Việc sử dụng đường dẫn dạng chuỗi như /home/steen/mbox thay vì dạng cấu trúc [n0: home, steen, mbox] giúp thuận tiện hơn cho con người.</a:t>
            </a:r>
          </a:p>
          <a:p>
            <a:endParaRPr lang="en-US" b="1" dirty="0"/>
          </a:p>
          <a:p>
            <a:r>
              <a:rPr lang="vi-VN" b="1" dirty="0"/>
              <a:t>Kết luận:</a:t>
            </a:r>
          </a:p>
          <a:p>
            <a:pPr>
              <a:buFont typeface="Arial" panose="020B0604020202020204" pitchFamily="34" charset="0"/>
              <a:buChar char="•"/>
            </a:pPr>
            <a:r>
              <a:rPr lang="vi-VN" b="1" dirty="0"/>
              <a:t>Không gian tên (name space)</a:t>
            </a:r>
            <a:r>
              <a:rPr lang="vi-VN" dirty="0"/>
              <a:t> là cách tổ chức tên trong hệ thống, giúp định danh và truy cập các thực thể một cách có cấu trúc.</a:t>
            </a:r>
          </a:p>
          <a:p>
            <a:pPr>
              <a:buFont typeface="Arial" panose="020B0604020202020204" pitchFamily="34" charset="0"/>
              <a:buChar char="•"/>
            </a:pPr>
            <a:r>
              <a:rPr lang="vi-VN" b="1" dirty="0"/>
              <a:t>Naming graph</a:t>
            </a:r>
            <a:r>
              <a:rPr lang="vi-VN" dirty="0"/>
              <a:t> mô phỏng cách mà đường dẫn trong file system hay Internet domain hoạt động: từ đơn giản (flat name) đến có cấu trúc (structured name).</a:t>
            </a:r>
          </a:p>
          <a:p>
            <a:pPr>
              <a:buFont typeface="Arial" panose="020B0604020202020204" pitchFamily="34" charset="0"/>
              <a:buChar char="•"/>
            </a:pPr>
            <a:r>
              <a:rPr lang="vi-VN" b="1" dirty="0"/>
              <a:t>Directory nodes</a:t>
            </a:r>
            <a:r>
              <a:rPr lang="vi-VN" dirty="0"/>
              <a:t> giữ vai trò quan trọng trong việc định tuyến tên, trong khi </a:t>
            </a:r>
            <a:r>
              <a:rPr lang="vi-VN" b="1" dirty="0"/>
              <a:t>leaf nodes</a:t>
            </a:r>
            <a:r>
              <a:rPr lang="vi-VN" dirty="0"/>
              <a:t> lưu trữ thông tin thực thể.</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28</a:t>
            </a:fld>
            <a:endParaRPr lang="en-US"/>
          </a:p>
        </p:txBody>
      </p:sp>
    </p:spTree>
    <p:extLst>
      <p:ext uri="{BB962C8B-B14F-4D97-AF65-F5344CB8AC3E}">
        <p14:creationId xmlns:p14="http://schemas.microsoft.com/office/powerpoint/2010/main" val="3795851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29</a:t>
            </a:fld>
            <a:endParaRPr lang="en-US"/>
          </a:p>
        </p:txBody>
      </p:sp>
    </p:spTree>
    <p:extLst>
      <p:ext uri="{BB962C8B-B14F-4D97-AF65-F5344CB8AC3E}">
        <p14:creationId xmlns:p14="http://schemas.microsoft.com/office/powerpoint/2010/main" val="2104579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Name Space – Không gian tên</a:t>
            </a:r>
          </a:p>
          <a:p>
            <a:r>
              <a:rPr lang="vi-VN" b="1" dirty="0"/>
              <a:t>Ý chính của slide:</a:t>
            </a:r>
          </a:p>
          <a:p>
            <a:r>
              <a:rPr lang="vi-VN" dirty="0"/>
              <a:t>Chúng ta không chỉ dùng </a:t>
            </a:r>
            <a:r>
              <a:rPr lang="vi-VN" b="1" dirty="0"/>
              <a:t>các node</a:t>
            </a:r>
            <a:r>
              <a:rPr lang="vi-VN" dirty="0"/>
              <a:t> trong </a:t>
            </a:r>
            <a:r>
              <a:rPr lang="vi-VN" b="1" dirty="0"/>
              <a:t>naming graph</a:t>
            </a:r>
            <a:r>
              <a:rPr lang="vi-VN" dirty="0"/>
              <a:t> để ánh xạ tên → thực thể, mà còn có thể lưu trữ </a:t>
            </a:r>
            <a:r>
              <a:rPr lang="vi-VN" b="1" dirty="0"/>
              <a:t>nhiều thông tin bổ sung (attributes)</a:t>
            </a:r>
            <a:r>
              <a:rPr lang="vi-VN" dirty="0"/>
              <a:t> bên trong từng node.</a:t>
            </a:r>
          </a:p>
          <a:p>
            <a:endParaRPr lang="en-US" b="1" dirty="0"/>
          </a:p>
          <a:p>
            <a:r>
              <a:rPr lang="vi-VN" b="1" dirty="0"/>
              <a:t>Diễn giải chi tiết:</a:t>
            </a:r>
          </a:p>
          <a:p>
            <a:r>
              <a:rPr lang="vi-VN" b="1" dirty="0"/>
              <a:t>"We can easily store all kinds of attributes in a node"</a:t>
            </a:r>
          </a:p>
          <a:p>
            <a:r>
              <a:rPr lang="vi-VN" dirty="0"/>
              <a:t>Mỗi </a:t>
            </a:r>
            <a:r>
              <a:rPr lang="vi-VN" b="1" dirty="0"/>
              <a:t>node</a:t>
            </a:r>
            <a:r>
              <a:rPr lang="vi-VN" dirty="0"/>
              <a:t> trong </a:t>
            </a:r>
            <a:r>
              <a:rPr lang="vi-VN" b="1" dirty="0"/>
              <a:t>naming graph</a:t>
            </a:r>
            <a:r>
              <a:rPr lang="vi-VN" dirty="0"/>
              <a:t> không chỉ là điểm kết nối trong đồ thị, mà còn </a:t>
            </a:r>
            <a:r>
              <a:rPr lang="vi-VN" b="1" dirty="0"/>
              <a:t>đóng vai trò như một container chứa dữ liệu mô tả</a:t>
            </a:r>
            <a:r>
              <a:rPr lang="vi-VN" dirty="0"/>
              <a:t> về thực thể mà nó đại diện. Đây là điều quan trọng, đặc biệt trong các hệ thống phân tán.</a:t>
            </a:r>
          </a:p>
          <a:p>
            <a:endParaRPr lang="en-US" b="1" dirty="0"/>
          </a:p>
          <a:p>
            <a:r>
              <a:rPr lang="vi-VN" b="1" dirty="0"/>
              <a:t>Một số thuộc tính có thể lưu trữ trong một node:</a:t>
            </a:r>
          </a:p>
          <a:p>
            <a:pPr>
              <a:buFont typeface="+mj-lt"/>
              <a:buAutoNum type="arabicPeriod"/>
            </a:pPr>
            <a:r>
              <a:rPr lang="vi-VN" b="1" dirty="0"/>
              <a:t>Type of the entity (Loại thực thể):</a:t>
            </a:r>
            <a:endParaRPr lang="vi-VN" dirty="0"/>
          </a:p>
          <a:p>
            <a:pPr marL="457200" lvl="1" indent="0">
              <a:buFont typeface="+mj-lt"/>
              <a:buNone/>
            </a:pPr>
            <a:r>
              <a:rPr lang="en-US" dirty="0"/>
              <a:t>- </a:t>
            </a:r>
            <a:r>
              <a:rPr lang="vi-VN" dirty="0"/>
              <a:t>Ví dụ: là file, thư mục, thiết bị, tiến trình, v.v.</a:t>
            </a:r>
          </a:p>
          <a:p>
            <a:pPr marL="457200" lvl="1" indent="0">
              <a:buFont typeface="+mj-lt"/>
              <a:buNone/>
            </a:pPr>
            <a:r>
              <a:rPr lang="en-US" dirty="0"/>
              <a:t>- </a:t>
            </a:r>
            <a:r>
              <a:rPr lang="vi-VN" dirty="0"/>
              <a:t>Trong file system: node có thể đại diện cho file thường (regular file), thư mục (directory), hoặc liên kết (symlink).</a:t>
            </a:r>
          </a:p>
          <a:p>
            <a:pPr marL="457200" lvl="1" indent="0">
              <a:buFont typeface="+mj-lt"/>
              <a:buNone/>
            </a:pPr>
            <a:r>
              <a:rPr lang="en-US" dirty="0"/>
              <a:t>- </a:t>
            </a:r>
            <a:r>
              <a:rPr lang="vi-VN" dirty="0"/>
              <a:t>Điều này giúp hệ thống xử lý thực thể đúng cách.</a:t>
            </a:r>
          </a:p>
          <a:p>
            <a:pPr>
              <a:buFont typeface="+mj-lt"/>
              <a:buAutoNum type="arabicPeriod"/>
            </a:pPr>
            <a:r>
              <a:rPr lang="vi-VN" b="1" dirty="0"/>
              <a:t>An identifier for that entity (Định danh duy nhất):</a:t>
            </a:r>
            <a:endParaRPr lang="vi-VN" dirty="0"/>
          </a:p>
          <a:p>
            <a:pPr marL="457200" lvl="1" indent="0">
              <a:buFont typeface="+mj-lt"/>
              <a:buNone/>
            </a:pPr>
            <a:r>
              <a:rPr lang="en-US" dirty="0"/>
              <a:t>- </a:t>
            </a:r>
            <a:r>
              <a:rPr lang="vi-VN" dirty="0"/>
              <a:t>Mỗi thực thể cần có một ID duy nhất để phân biệt với các thực thể khác.</a:t>
            </a:r>
          </a:p>
          <a:p>
            <a:pPr marL="457200" lvl="1" indent="0">
              <a:buFont typeface="+mj-lt"/>
              <a:buNone/>
            </a:pPr>
            <a:r>
              <a:rPr lang="en-US" dirty="0"/>
              <a:t>- </a:t>
            </a:r>
            <a:r>
              <a:rPr lang="vi-VN" dirty="0"/>
              <a:t>Ví dụ: inode number trong Linux, hoặc UUID trong các hệ thống phân tán.</a:t>
            </a:r>
          </a:p>
          <a:p>
            <a:pPr>
              <a:buFont typeface="+mj-lt"/>
              <a:buAutoNum type="arabicPeriod"/>
            </a:pPr>
            <a:r>
              <a:rPr lang="vi-VN" b="1" dirty="0"/>
              <a:t>Address of the entity’s location (Địa chỉ):</a:t>
            </a:r>
            <a:endParaRPr lang="vi-VN" dirty="0"/>
          </a:p>
          <a:p>
            <a:pPr marL="457200" lvl="1" indent="0">
              <a:buFont typeface="+mj-lt"/>
              <a:buNone/>
            </a:pPr>
            <a:r>
              <a:rPr lang="en-US" dirty="0"/>
              <a:t>- </a:t>
            </a:r>
            <a:r>
              <a:rPr lang="vi-VN" dirty="0"/>
              <a:t>Nếu node đại diện cho một tài nguyên trong hệ thống phân tán, nó có thể chứa địa chỉ mạng (IP/port) hoặc URI để truy cập tài nguyên đó.</a:t>
            </a:r>
          </a:p>
          <a:p>
            <a:pPr marL="457200" lvl="1" indent="0">
              <a:buFont typeface="+mj-lt"/>
              <a:buNone/>
            </a:pPr>
            <a:r>
              <a:rPr lang="en-US" dirty="0"/>
              <a:t>- </a:t>
            </a:r>
            <a:r>
              <a:rPr lang="vi-VN" dirty="0"/>
              <a:t>Ví dụ: một node đại diện cho máy in có thể chứa tcp://192.168.1.10:9100.</a:t>
            </a:r>
          </a:p>
          <a:p>
            <a:pPr>
              <a:buFont typeface="+mj-lt"/>
              <a:buAutoNum type="arabicPeriod"/>
            </a:pPr>
            <a:r>
              <a:rPr lang="vi-VN" b="1" dirty="0"/>
              <a:t>Nicknames (Tên gọi khác):</a:t>
            </a:r>
            <a:endParaRPr lang="vi-VN" dirty="0"/>
          </a:p>
          <a:p>
            <a:pPr marL="457200" lvl="1" indent="0">
              <a:buFont typeface="+mj-lt"/>
              <a:buNone/>
            </a:pPr>
            <a:r>
              <a:rPr lang="en-US" dirty="0"/>
              <a:t>- </a:t>
            </a:r>
            <a:r>
              <a:rPr lang="vi-VN" dirty="0"/>
              <a:t>Một node có thể có </a:t>
            </a:r>
            <a:r>
              <a:rPr lang="vi-VN" b="1" dirty="0"/>
              <a:t>nhiều tên</a:t>
            </a:r>
            <a:r>
              <a:rPr lang="vi-VN" dirty="0"/>
              <a:t> (alias, symlink), đặc biệt trong các </a:t>
            </a:r>
            <a:r>
              <a:rPr lang="vi-VN" b="1" dirty="0"/>
              <a:t>DAG</a:t>
            </a:r>
            <a:r>
              <a:rPr lang="vi-VN" dirty="0"/>
              <a:t> nơi một node có nhiều cạnh đi vào.</a:t>
            </a:r>
          </a:p>
          <a:p>
            <a:pPr marL="457200" lvl="1" indent="0">
              <a:buFont typeface="+mj-lt"/>
              <a:buNone/>
            </a:pPr>
            <a:r>
              <a:rPr lang="en-US" dirty="0"/>
              <a:t>- </a:t>
            </a:r>
            <a:r>
              <a:rPr lang="vi-VN" dirty="0"/>
              <a:t>Giúp người dùng linh hoạt truy cập cùng một thực thể theo nhiều cách khác nhau.</a:t>
            </a:r>
          </a:p>
          <a:p>
            <a:pPr>
              <a:buFont typeface="+mj-lt"/>
              <a:buAutoNum type="arabicPeriod"/>
            </a:pPr>
            <a:r>
              <a:rPr lang="vi-VN" b="1" dirty="0"/>
              <a:t>… (và các thuộc tính khác):</a:t>
            </a:r>
            <a:endParaRPr lang="vi-VN" dirty="0"/>
          </a:p>
          <a:p>
            <a:pPr marL="457200" lvl="1" indent="0">
              <a:buFont typeface="+mj-lt"/>
              <a:buNone/>
            </a:pPr>
            <a:r>
              <a:rPr lang="en-US" dirty="0"/>
              <a:t>- </a:t>
            </a:r>
            <a:r>
              <a:rPr lang="vi-VN" dirty="0"/>
              <a:t>Ngày tạo, ngày sửa đổi, quyền truy cập, kích thước,...</a:t>
            </a:r>
          </a:p>
          <a:p>
            <a:pPr marL="457200" lvl="1" indent="0">
              <a:buFont typeface="+mj-lt"/>
              <a:buNone/>
            </a:pPr>
            <a:r>
              <a:rPr lang="en-US" dirty="0"/>
              <a:t>- </a:t>
            </a:r>
            <a:r>
              <a:rPr lang="vi-VN" dirty="0"/>
              <a:t>Thậm chí là </a:t>
            </a:r>
            <a:r>
              <a:rPr lang="vi-VN" b="1" dirty="0"/>
              <a:t>dữ liệu</a:t>
            </a:r>
            <a:r>
              <a:rPr lang="vi-VN" dirty="0"/>
              <a:t> nếu đó là </a:t>
            </a:r>
            <a:r>
              <a:rPr lang="vi-VN" b="1" dirty="0"/>
              <a:t>leaf node</a:t>
            </a:r>
            <a:r>
              <a:rPr lang="vi-VN" dirty="0"/>
              <a:t>, như nội dung của một file.</a:t>
            </a:r>
          </a:p>
          <a:p>
            <a:endParaRPr lang="en-US" b="1" dirty="0"/>
          </a:p>
          <a:p>
            <a:r>
              <a:rPr lang="vi-VN" b="1" dirty="0"/>
              <a:t>Liên hệ thực tế:</a:t>
            </a:r>
          </a:p>
          <a:p>
            <a:r>
              <a:rPr lang="vi-VN" dirty="0"/>
              <a:t>Trong một hệ thống như Unix:</a:t>
            </a:r>
          </a:p>
          <a:p>
            <a:pPr>
              <a:buFont typeface="Arial" panose="020B0604020202020204" pitchFamily="34" charset="0"/>
              <a:buChar char="•"/>
            </a:pPr>
            <a:r>
              <a:rPr lang="vi-VN" dirty="0"/>
              <a:t>Một </a:t>
            </a:r>
            <a:r>
              <a:rPr lang="vi-VN" b="1" dirty="0"/>
              <a:t>directory node</a:t>
            </a:r>
            <a:r>
              <a:rPr lang="vi-VN" dirty="0"/>
              <a:t> chứa bảng ánh xạ tên → node.</a:t>
            </a:r>
          </a:p>
          <a:p>
            <a:pPr>
              <a:buFont typeface="Arial" panose="020B0604020202020204" pitchFamily="34" charset="0"/>
              <a:buChar char="•"/>
            </a:pPr>
            <a:r>
              <a:rPr lang="vi-VN" dirty="0"/>
              <a:t>Một </a:t>
            </a:r>
            <a:r>
              <a:rPr lang="vi-VN" b="1" dirty="0"/>
              <a:t>leaf node</a:t>
            </a:r>
            <a:r>
              <a:rPr lang="vi-VN" dirty="0"/>
              <a:t> (ví dụ file) không chỉ có nội dung, mà còn chứa metadata như:</a:t>
            </a:r>
          </a:p>
          <a:p>
            <a:pPr marL="742950" lvl="1" indent="-285750">
              <a:buFont typeface="Arial" panose="020B0604020202020204" pitchFamily="34" charset="0"/>
              <a:buChar char="•"/>
            </a:pPr>
            <a:r>
              <a:rPr lang="vi-VN" dirty="0"/>
              <a:t>quyền truy cập (permissions),</a:t>
            </a:r>
          </a:p>
          <a:p>
            <a:pPr marL="742950" lvl="1" indent="-285750">
              <a:buFont typeface="Arial" panose="020B0604020202020204" pitchFamily="34" charset="0"/>
              <a:buChar char="•"/>
            </a:pPr>
            <a:r>
              <a:rPr lang="vi-VN" dirty="0"/>
              <a:t>chủ sở hữu (owner),</a:t>
            </a:r>
          </a:p>
          <a:p>
            <a:pPr marL="742950" lvl="1" indent="-285750">
              <a:buFont typeface="Arial" panose="020B0604020202020204" pitchFamily="34" charset="0"/>
              <a:buChar char="•"/>
            </a:pPr>
            <a:r>
              <a:rPr lang="vi-VN" dirty="0"/>
              <a:t>loại file,</a:t>
            </a:r>
          </a:p>
          <a:p>
            <a:pPr marL="742950" lvl="1" indent="-285750">
              <a:buFont typeface="Arial" panose="020B0604020202020204" pitchFamily="34" charset="0"/>
              <a:buChar char="•"/>
            </a:pPr>
            <a:r>
              <a:rPr lang="vi-VN" dirty="0"/>
              <a:t>và thời gian sửa đổi gần nhất.</a:t>
            </a:r>
          </a:p>
          <a:p>
            <a:endParaRPr lang="en-US" b="1" dirty="0"/>
          </a:p>
          <a:p>
            <a:r>
              <a:rPr lang="vi-VN" b="1" dirty="0"/>
              <a:t>Kết luận:</a:t>
            </a:r>
          </a:p>
          <a:p>
            <a:pPr>
              <a:buFont typeface="Arial" panose="020B0604020202020204" pitchFamily="34" charset="0"/>
              <a:buChar char="•"/>
            </a:pPr>
            <a:r>
              <a:rPr lang="vi-VN" b="1" dirty="0"/>
              <a:t>Không gian tên (name space)</a:t>
            </a:r>
            <a:r>
              <a:rPr lang="vi-VN" dirty="0"/>
              <a:t> không chỉ là ánh xạ tên → thực thể.</a:t>
            </a:r>
          </a:p>
          <a:p>
            <a:pPr>
              <a:buFont typeface="Arial" panose="020B0604020202020204" pitchFamily="34" charset="0"/>
              <a:buChar char="•"/>
            </a:pPr>
            <a:r>
              <a:rPr lang="vi-VN" b="1" dirty="0"/>
              <a:t>Node</a:t>
            </a:r>
            <a:r>
              <a:rPr lang="vi-VN" dirty="0"/>
              <a:t> trong đồ thị đặt tên có thể rất “giàu thông tin”, chứa nhiều </a:t>
            </a:r>
            <a:r>
              <a:rPr lang="vi-VN" b="1" dirty="0"/>
              <a:t>thuộc tính</a:t>
            </a:r>
            <a:r>
              <a:rPr lang="vi-VN" dirty="0"/>
              <a:t> để mô tả và hỗ trợ xử lý thực thể một cách hiệu quả.</a:t>
            </a:r>
          </a:p>
          <a:p>
            <a:pPr>
              <a:buFont typeface="Arial" panose="020B0604020202020204" pitchFamily="34" charset="0"/>
              <a:buChar char="•"/>
            </a:pPr>
            <a:r>
              <a:rPr lang="vi-VN" dirty="0"/>
              <a:t>Điều này làm cho </a:t>
            </a:r>
            <a:r>
              <a:rPr lang="vi-VN" b="1" dirty="0"/>
              <a:t>naming graph</a:t>
            </a:r>
            <a:r>
              <a:rPr lang="vi-VN" dirty="0"/>
              <a:t> trở thành một mô hình mạnh mẽ không chỉ cho file system, mà còn cho các hệ thống phân tán, dịch vụ mạng, và tài nguyên số nói chung.</a:t>
            </a:r>
          </a:p>
          <a:p>
            <a:endParaRPr lang="en-US" dirty="0"/>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30</a:t>
            </a:fld>
            <a:endParaRPr lang="en-US"/>
          </a:p>
        </p:txBody>
      </p:sp>
    </p:spTree>
    <p:extLst>
      <p:ext uri="{BB962C8B-B14F-4D97-AF65-F5344CB8AC3E}">
        <p14:creationId xmlns:p14="http://schemas.microsoft.com/office/powerpoint/2010/main" val="4372746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Name Resolution – Giải tên</a:t>
            </a:r>
          </a:p>
          <a:p>
            <a:endParaRPr lang="en-US" b="1" dirty="0"/>
          </a:p>
          <a:p>
            <a:r>
              <a:rPr lang="vi-VN" b="1" dirty="0"/>
              <a:t>Vấn đề cốt lõi:</a:t>
            </a:r>
          </a:p>
          <a:p>
            <a:r>
              <a:rPr lang="vi-VN" dirty="0"/>
              <a:t>“Để giải một cái tên (name), bạn cần một </a:t>
            </a:r>
            <a:r>
              <a:rPr lang="vi-VN" i="1" dirty="0"/>
              <a:t>directory node</a:t>
            </a:r>
            <a:r>
              <a:rPr lang="vi-VN" dirty="0"/>
              <a:t>. Vậy </a:t>
            </a:r>
            <a:r>
              <a:rPr lang="vi-VN" b="1" dirty="0"/>
              <a:t>làm thế nào để tìm ra node ban đầu đó</a:t>
            </a:r>
            <a:r>
              <a:rPr lang="vi-VN" dirty="0"/>
              <a:t>?”</a:t>
            </a:r>
          </a:p>
          <a:p>
            <a:endParaRPr lang="en-US" b="1" dirty="0"/>
          </a:p>
          <a:p>
            <a:r>
              <a:rPr lang="vi-VN" b="1" dirty="0"/>
              <a:t>Diễn giải khái niệm:</a:t>
            </a:r>
          </a:p>
          <a:p>
            <a:r>
              <a:rPr lang="vi-VN" b="1" dirty="0"/>
              <a:t>Name Resolution là gì?</a:t>
            </a:r>
          </a:p>
          <a:p>
            <a:pPr>
              <a:buFont typeface="Arial" panose="020B0604020202020204" pitchFamily="34" charset="0"/>
              <a:buChar char="•"/>
            </a:pPr>
            <a:r>
              <a:rPr lang="vi-VN" dirty="0"/>
              <a:t>Là </a:t>
            </a:r>
            <a:r>
              <a:rPr lang="vi-VN" b="1" dirty="0"/>
              <a:t>quá trình ánh xạ một tên (name)</a:t>
            </a:r>
            <a:r>
              <a:rPr lang="vi-VN" dirty="0"/>
              <a:t> thành </a:t>
            </a:r>
            <a:r>
              <a:rPr lang="vi-VN" b="1" dirty="0"/>
              <a:t>thông tin tương ứng</a:t>
            </a:r>
            <a:r>
              <a:rPr lang="vi-VN" dirty="0"/>
              <a:t>, thường là một địa chỉ, giá trị, hoặc nội dung thực thể.</a:t>
            </a:r>
          </a:p>
          <a:p>
            <a:pPr>
              <a:buFont typeface="Arial" panose="020B0604020202020204" pitchFamily="34" charset="0"/>
              <a:buChar char="•"/>
            </a:pPr>
            <a:r>
              <a:rPr lang="vi-VN" dirty="0"/>
              <a:t>Trong một </a:t>
            </a:r>
            <a:r>
              <a:rPr lang="vi-VN" b="1" dirty="0"/>
              <a:t>naming graph</a:t>
            </a:r>
            <a:r>
              <a:rPr lang="vi-VN" dirty="0"/>
              <a:t>, việc giải một path name (ví dụ: /home/maarten/mbox) đòi hỏi ta phải bắt đầu từ một node cụ thể (ví dụ: node gốc /) và theo từng nhãn trên các cạnh để đến node đích.</a:t>
            </a:r>
          </a:p>
          <a:p>
            <a:r>
              <a:rPr lang="vi-VN" b="1" dirty="0"/>
              <a:t>Vấn đề nảy sinh:</a:t>
            </a:r>
          </a:p>
          <a:p>
            <a:r>
              <a:rPr lang="en-US" dirty="0"/>
              <a:t>=&gt; </a:t>
            </a:r>
            <a:r>
              <a:rPr lang="vi-VN" dirty="0"/>
              <a:t>Làm sao ta biết </a:t>
            </a:r>
            <a:r>
              <a:rPr lang="vi-VN" b="1" dirty="0"/>
              <a:t>nên bắt đầu từ đâu</a:t>
            </a:r>
            <a:r>
              <a:rPr lang="vi-VN" dirty="0"/>
              <a:t> trong quá trình giải tên?</a:t>
            </a:r>
          </a:p>
          <a:p>
            <a:r>
              <a:rPr lang="vi-VN" dirty="0"/>
              <a:t>Đây là lúc khái niệm </a:t>
            </a:r>
            <a:r>
              <a:rPr lang="vi-VN" b="1" dirty="0"/>
              <a:t>Closure Mechanism</a:t>
            </a:r>
            <a:r>
              <a:rPr lang="vi-VN" dirty="0"/>
              <a:t> ra đời.</a:t>
            </a:r>
          </a:p>
          <a:p>
            <a:r>
              <a:rPr lang="vi-VN" b="1" dirty="0"/>
              <a:t>Closure Mechanism – Cơ chế khép kín</a:t>
            </a:r>
          </a:p>
          <a:p>
            <a:r>
              <a:rPr lang="vi-VN" dirty="0"/>
              <a:t>Closure mechanism là cách </a:t>
            </a:r>
            <a:r>
              <a:rPr lang="vi-VN" b="1" dirty="0"/>
              <a:t>xác định node ban đầu</a:t>
            </a:r>
            <a:r>
              <a:rPr lang="vi-VN" dirty="0"/>
              <a:t> để bắt đầu quá trình giải tên. Có thể là:</a:t>
            </a:r>
          </a:p>
          <a:p>
            <a:pPr>
              <a:buFont typeface="Arial" panose="020B0604020202020204" pitchFamily="34" charset="0"/>
              <a:buChar char="•"/>
            </a:pPr>
            <a:r>
              <a:rPr lang="vi-VN" b="1" dirty="0"/>
              <a:t>Ngầm định</a:t>
            </a:r>
            <a:r>
              <a:rPr lang="vi-VN" dirty="0"/>
              <a:t> (implicit), ví dụ bắt đầu từ thư mục gốc / trong Unix.</a:t>
            </a:r>
          </a:p>
          <a:p>
            <a:pPr>
              <a:buFont typeface="Arial" panose="020B0604020202020204" pitchFamily="34" charset="0"/>
              <a:buChar char="•"/>
            </a:pPr>
            <a:r>
              <a:rPr lang="vi-VN" b="1" dirty="0"/>
              <a:t>Hệ thống tự biết</a:t>
            </a:r>
            <a:r>
              <a:rPr lang="vi-VN" dirty="0"/>
              <a:t> từ bối cảnh hoặc định dạng.</a:t>
            </a:r>
          </a:p>
          <a:p>
            <a:endParaRPr lang="en-US" b="1" dirty="0"/>
          </a:p>
          <a:p>
            <a:r>
              <a:rPr lang="vi-VN" b="1" dirty="0"/>
              <a:t>Các ví dụ minh họa trong slide:</a:t>
            </a:r>
          </a:p>
          <a:p>
            <a:r>
              <a:rPr lang="vi-VN" dirty="0"/>
              <a:t>Ví dụ</a:t>
            </a:r>
            <a:r>
              <a:rPr lang="en-US" dirty="0"/>
              <a:t>		</a:t>
            </a:r>
            <a:r>
              <a:rPr lang="vi-VN" dirty="0"/>
              <a:t>Bắt đầu từ đâu?</a:t>
            </a:r>
            <a:r>
              <a:rPr lang="en-US" dirty="0"/>
              <a:t>	</a:t>
            </a:r>
            <a:r>
              <a:rPr lang="vi-VN" dirty="0"/>
              <a:t>Giải thích</a:t>
            </a:r>
            <a:endParaRPr lang="en-US" dirty="0"/>
          </a:p>
          <a:p>
            <a:r>
              <a:rPr lang="vi-VN" dirty="0"/>
              <a:t>www.distributed-systems.net</a:t>
            </a:r>
            <a:r>
              <a:rPr lang="en-US" dirty="0"/>
              <a:t>	</a:t>
            </a:r>
            <a:r>
              <a:rPr lang="vi-VN" dirty="0"/>
              <a:t>DNS name server</a:t>
            </a:r>
            <a:r>
              <a:rPr lang="en-US" dirty="0"/>
              <a:t>	</a:t>
            </a:r>
            <a:r>
              <a:rPr lang="vi-VN" dirty="0"/>
              <a:t>Trình duyệt sẽ gửi yêu cầu đến máy chủ DNS để tra địa chỉ IP.</a:t>
            </a:r>
            <a:endParaRPr lang="en-US" dirty="0"/>
          </a:p>
          <a:p>
            <a:r>
              <a:rPr lang="vi-VN" dirty="0"/>
              <a:t>/home/maarten/mbox</a:t>
            </a:r>
            <a:r>
              <a:rPr lang="en-US" dirty="0"/>
              <a:t>	</a:t>
            </a:r>
            <a:r>
              <a:rPr lang="vi-VN" dirty="0"/>
              <a:t>NFS file server</a:t>
            </a:r>
            <a:r>
              <a:rPr lang="en-US" dirty="0"/>
              <a:t>		</a:t>
            </a:r>
            <a:r>
              <a:rPr lang="vi-VN" dirty="0"/>
              <a:t>Bắt đầu từ thư mục gốc /, theo từng cấp để đến node mbox.</a:t>
            </a:r>
            <a:endParaRPr lang="en-US" dirty="0"/>
          </a:p>
          <a:p>
            <a:r>
              <a:rPr lang="vi-VN" dirty="0"/>
              <a:t>0031 20 598 7784</a:t>
            </a:r>
            <a:r>
              <a:rPr lang="en-US" dirty="0"/>
              <a:t>	</a:t>
            </a:r>
            <a:r>
              <a:rPr lang="vi-VN" dirty="0"/>
              <a:t>hệ thống điện thoại</a:t>
            </a:r>
            <a:r>
              <a:rPr lang="en-US" dirty="0"/>
              <a:t>	</a:t>
            </a:r>
            <a:r>
              <a:rPr lang="vi-VN" dirty="0"/>
              <a:t>Bắt đầu từ mã quốc gia (0031 → Hà Lan), sau đó là mã vùng, rồi số thuê bao.</a:t>
            </a:r>
            <a:endParaRPr lang="en-US" dirty="0"/>
          </a:p>
          <a:p>
            <a:r>
              <a:rPr lang="vi-VN" dirty="0"/>
              <a:t>77.167.55.6</a:t>
            </a:r>
            <a:r>
              <a:rPr lang="en-US" dirty="0"/>
              <a:t>		</a:t>
            </a:r>
            <a:r>
              <a:rPr lang="vi-VN" dirty="0"/>
              <a:t>bảng định tuyến mạng</a:t>
            </a:r>
            <a:r>
              <a:rPr lang="en-US" dirty="0"/>
              <a:t>	</a:t>
            </a:r>
            <a:r>
              <a:rPr lang="vi-VN" dirty="0"/>
              <a:t>Địa chỉ IP được hệ thống dùng để gửi gói tin đến đích đúng qua các router.</a:t>
            </a:r>
          </a:p>
          <a:p>
            <a:r>
              <a:rPr lang="en-US" dirty="0"/>
              <a:t>=&gt;</a:t>
            </a:r>
            <a:r>
              <a:rPr lang="vi-VN" dirty="0"/>
              <a:t>Trong mọi trường hợp, hệ thống </a:t>
            </a:r>
            <a:r>
              <a:rPr lang="vi-VN" b="1" dirty="0"/>
              <a:t>ngầm hiểu “bối cảnh”</a:t>
            </a:r>
            <a:r>
              <a:rPr lang="vi-VN" dirty="0"/>
              <a:t> của chuỗi mà người dùng đưa vào và chọn đúng nơi để bắt đầu.</a:t>
            </a:r>
          </a:p>
          <a:p>
            <a:endParaRPr lang="en-US" b="1" dirty="0"/>
          </a:p>
          <a:p>
            <a:r>
              <a:rPr lang="vi-VN" b="1" dirty="0"/>
              <a:t>Ghi chú thú vị từ slide:</a:t>
            </a:r>
          </a:p>
          <a:p>
            <a:r>
              <a:rPr lang="vi-VN" dirty="0"/>
              <a:t>"You cannot have an explicit closure mechanism – how would you start?"</a:t>
            </a:r>
          </a:p>
          <a:p>
            <a:pPr>
              <a:buFont typeface="Arial" panose="020B0604020202020204" pitchFamily="34" charset="0"/>
              <a:buChar char="•"/>
            </a:pPr>
            <a:r>
              <a:rPr lang="vi-VN" dirty="0"/>
              <a:t>Điều này có nghĩa là: </a:t>
            </a:r>
            <a:r>
              <a:rPr lang="vi-VN" b="1" dirty="0"/>
              <a:t>bạn không thể lúc nào cũng chỉ rõ “bắt đầu từ đâu”</a:t>
            </a:r>
            <a:r>
              <a:rPr lang="vi-VN" dirty="0"/>
              <a:t>, vì như vậy sẽ lại cần giải một cái tên khác để tìm điểm bắt đầu → vòng lặp vô tận.</a:t>
            </a:r>
          </a:p>
          <a:p>
            <a:pPr>
              <a:buFont typeface="Arial" panose="020B0604020202020204" pitchFamily="34" charset="0"/>
              <a:buChar char="•"/>
            </a:pPr>
            <a:r>
              <a:rPr lang="vi-VN" dirty="0"/>
              <a:t>Do đó, phần bắt đầu </a:t>
            </a:r>
            <a:r>
              <a:rPr lang="vi-VN" b="1" dirty="0"/>
              <a:t>phải ngầm định</a:t>
            </a:r>
            <a:r>
              <a:rPr lang="vi-VN" dirty="0"/>
              <a:t>, ví dụ như:</a:t>
            </a:r>
          </a:p>
          <a:p>
            <a:pPr marL="742950" lvl="1" indent="-285750">
              <a:buFont typeface="Arial" panose="020B0604020202020204" pitchFamily="34" charset="0"/>
              <a:buChar char="•"/>
            </a:pPr>
            <a:r>
              <a:rPr lang="vi-VN" dirty="0"/>
              <a:t>/ trong Unix</a:t>
            </a:r>
          </a:p>
          <a:p>
            <a:pPr marL="742950" lvl="1" indent="-285750">
              <a:buFont typeface="Arial" panose="020B0604020202020204" pitchFamily="34" charset="0"/>
              <a:buChar char="•"/>
            </a:pPr>
            <a:r>
              <a:rPr lang="vi-VN" dirty="0"/>
              <a:t>DNS root servers trong Internet</a:t>
            </a:r>
          </a:p>
          <a:p>
            <a:pPr marL="742950" lvl="1" indent="-285750">
              <a:buFont typeface="Arial" panose="020B0604020202020204" pitchFamily="34" charset="0"/>
              <a:buChar char="•"/>
            </a:pPr>
            <a:r>
              <a:rPr lang="vi-VN" dirty="0"/>
              <a:t>bảng định tuyến mặc định trong hệ thống mạng</a:t>
            </a:r>
          </a:p>
          <a:p>
            <a:endParaRPr lang="en-US" b="1" dirty="0"/>
          </a:p>
          <a:p>
            <a:r>
              <a:rPr lang="vi-VN" b="1" dirty="0"/>
              <a:t>Kết luận:</a:t>
            </a:r>
          </a:p>
          <a:p>
            <a:pPr>
              <a:buFont typeface="Arial" panose="020B0604020202020204" pitchFamily="34" charset="0"/>
              <a:buChar char="•"/>
            </a:pPr>
            <a:r>
              <a:rPr lang="vi-VN" b="1" dirty="0"/>
              <a:t>Giải tên</a:t>
            </a:r>
            <a:r>
              <a:rPr lang="vi-VN" dirty="0"/>
              <a:t> là một phần thiết yếu trong mọi hệ thống đặt tên (tên miền, file, biến môi trường,...).</a:t>
            </a:r>
          </a:p>
          <a:p>
            <a:pPr>
              <a:buFont typeface="Arial" panose="020B0604020202020204" pitchFamily="34" charset="0"/>
              <a:buChar char="•"/>
            </a:pPr>
            <a:r>
              <a:rPr lang="vi-VN" dirty="0"/>
              <a:t>Để giải tên, bạn cần bắt đầu từ một node gốc thích hợp – và việc xác định node đó chính là vai trò của </a:t>
            </a:r>
            <a:r>
              <a:rPr lang="vi-VN" b="1" dirty="0"/>
              <a:t>closure mechanism</a:t>
            </a:r>
            <a:r>
              <a:rPr lang="vi-VN" dirty="0"/>
              <a:t>.</a:t>
            </a:r>
          </a:p>
          <a:p>
            <a:pPr>
              <a:buFont typeface="Arial" panose="020B0604020202020204" pitchFamily="34" charset="0"/>
              <a:buChar char="•"/>
            </a:pPr>
            <a:r>
              <a:rPr lang="vi-VN" dirty="0"/>
              <a:t>Mỗi hệ thống có một </a:t>
            </a:r>
            <a:r>
              <a:rPr lang="vi-VN" b="1" dirty="0"/>
              <a:t>cách ngầm định khác nhau</a:t>
            </a:r>
            <a:r>
              <a:rPr lang="vi-VN" dirty="0"/>
              <a:t> để chọn điểm khởi đầu.</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33</a:t>
            </a:fld>
            <a:endParaRPr lang="en-US"/>
          </a:p>
        </p:txBody>
      </p:sp>
    </p:spTree>
    <p:extLst>
      <p:ext uri="{BB962C8B-B14F-4D97-AF65-F5344CB8AC3E}">
        <p14:creationId xmlns:p14="http://schemas.microsoft.com/office/powerpoint/2010/main" val="1991207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34</a:t>
            </a:fld>
            <a:endParaRPr lang="en-US"/>
          </a:p>
        </p:txBody>
      </p:sp>
    </p:spTree>
    <p:extLst>
      <p:ext uri="{BB962C8B-B14F-4D97-AF65-F5344CB8AC3E}">
        <p14:creationId xmlns:p14="http://schemas.microsoft.com/office/powerpoint/2010/main" val="1287986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Name Linking – Liên kết tên</a:t>
            </a:r>
          </a:p>
          <a:p>
            <a:r>
              <a:rPr lang="vi-VN" b="1" dirty="0"/>
              <a:t>Mục tiêu của slide:</a:t>
            </a:r>
          </a:p>
          <a:p>
            <a:r>
              <a:rPr lang="vi-VN" dirty="0"/>
              <a:t>Giải thích sự khác nhau giữa </a:t>
            </a:r>
            <a:r>
              <a:rPr lang="vi-VN" b="1" dirty="0"/>
              <a:t>Hard Link</a:t>
            </a:r>
            <a:r>
              <a:rPr lang="vi-VN" dirty="0"/>
              <a:t> và </a:t>
            </a:r>
            <a:r>
              <a:rPr lang="vi-VN" b="1" dirty="0"/>
              <a:t>Soft Link (Symbolic Link)</a:t>
            </a:r>
            <a:r>
              <a:rPr lang="vi-VN" dirty="0"/>
              <a:t> trong hệ thống đặt tên, đặc biệt trong hệ thống file.</a:t>
            </a:r>
          </a:p>
          <a:p>
            <a:endParaRPr lang="en-US" b="1" dirty="0"/>
          </a:p>
          <a:p>
            <a:r>
              <a:rPr lang="en-US" b="1" dirty="0"/>
              <a:t>1. </a:t>
            </a:r>
            <a:r>
              <a:rPr lang="vi-VN" b="1" dirty="0"/>
              <a:t>Hard Link – Liên kết cứng</a:t>
            </a:r>
          </a:p>
          <a:p>
            <a:r>
              <a:rPr lang="vi-VN" b="1" dirty="0"/>
              <a:t>Định nghĩa:</a:t>
            </a:r>
          </a:p>
          <a:p>
            <a:pPr>
              <a:buFont typeface="Arial" panose="020B0604020202020204" pitchFamily="34" charset="0"/>
              <a:buChar char="•"/>
            </a:pPr>
            <a:r>
              <a:rPr lang="vi-VN" dirty="0"/>
              <a:t>Là một </a:t>
            </a:r>
            <a:r>
              <a:rPr lang="vi-VN" b="1" dirty="0"/>
              <a:t>đường dẫn (path name)</a:t>
            </a:r>
            <a:r>
              <a:rPr lang="vi-VN" dirty="0"/>
              <a:t> thông thường trong </a:t>
            </a:r>
            <a:r>
              <a:rPr lang="vi-VN" b="1" dirty="0"/>
              <a:t>naming graph</a:t>
            </a:r>
            <a:r>
              <a:rPr lang="vi-VN" dirty="0"/>
              <a:t> dẫn trực tiếp đến một </a:t>
            </a:r>
            <a:r>
              <a:rPr lang="vi-VN" b="1" dirty="0"/>
              <a:t>node thật sự chứa dữ liệu hoặc thông tin thực thể</a:t>
            </a:r>
            <a:r>
              <a:rPr lang="vi-VN" dirty="0"/>
              <a:t>.</a:t>
            </a:r>
          </a:p>
          <a:p>
            <a:pPr>
              <a:buFont typeface="Arial" panose="020B0604020202020204" pitchFamily="34" charset="0"/>
              <a:buChar char="•"/>
            </a:pPr>
            <a:r>
              <a:rPr lang="vi-VN" b="1" dirty="0"/>
              <a:t>Nhiều path name có thể trỏ đến cùng một node</a:t>
            </a:r>
            <a:r>
              <a:rPr lang="vi-VN" dirty="0"/>
              <a:t>, tức là </a:t>
            </a:r>
            <a:r>
              <a:rPr lang="vi-VN" b="1" dirty="0"/>
              <a:t>cùng một thực thể nhưng có nhiều tên</a:t>
            </a:r>
            <a:r>
              <a:rPr lang="vi-VN" dirty="0"/>
              <a:t>.</a:t>
            </a:r>
          </a:p>
          <a:p>
            <a:r>
              <a:rPr lang="vi-VN" b="1" dirty="0"/>
              <a:t>Ví dụ:</a:t>
            </a:r>
          </a:p>
          <a:p>
            <a:pPr rtl="0">
              <a:buFont typeface="Arial" panose="020B0604020202020204" pitchFamily="34" charset="0"/>
              <a:buNone/>
            </a:pPr>
            <a:r>
              <a:rPr lang="vi-VN" dirty="0"/>
              <a:t>/home/steen/keys </a:t>
            </a:r>
            <a:endParaRPr lang="en-US" dirty="0"/>
          </a:p>
          <a:p>
            <a:pPr rtl="0">
              <a:buFont typeface="Arial" panose="020B0604020202020204" pitchFamily="34" charset="0"/>
              <a:buNone/>
            </a:pPr>
            <a:r>
              <a:rPr lang="vi-VN" dirty="0"/>
              <a:t>/keys </a:t>
            </a:r>
          </a:p>
          <a:p>
            <a:pPr>
              <a:buFont typeface="Arial" panose="020B0604020202020204" pitchFamily="34" charset="0"/>
              <a:buChar char="•"/>
            </a:pPr>
            <a:r>
              <a:rPr lang="vi-VN" dirty="0"/>
              <a:t>Cả hai đều là </a:t>
            </a:r>
            <a:r>
              <a:rPr lang="vi-VN" b="1" dirty="0"/>
              <a:t>hard link</a:t>
            </a:r>
            <a:r>
              <a:rPr lang="vi-VN" dirty="0"/>
              <a:t> đến cùng một node trong hệ thống file.</a:t>
            </a:r>
          </a:p>
          <a:p>
            <a:r>
              <a:rPr lang="vi-VN" b="1" dirty="0"/>
              <a:t>Đặc điểm:</a:t>
            </a:r>
          </a:p>
          <a:p>
            <a:pPr>
              <a:buFont typeface="Arial" panose="020B0604020202020204" pitchFamily="34" charset="0"/>
              <a:buChar char="•"/>
            </a:pPr>
            <a:r>
              <a:rPr lang="vi-VN" dirty="0"/>
              <a:t>Không chứa tên trung gian nào khác.</a:t>
            </a:r>
          </a:p>
          <a:p>
            <a:pPr>
              <a:buFont typeface="Arial" panose="020B0604020202020204" pitchFamily="34" charset="0"/>
              <a:buChar char="•"/>
            </a:pPr>
            <a:r>
              <a:rPr lang="vi-VN" dirty="0"/>
              <a:t>Nếu node gốc bị xóa mà vẫn còn hard link khác thì dữ liệu vẫn tồn tại.</a:t>
            </a:r>
          </a:p>
          <a:p>
            <a:endParaRPr lang="en-US" b="1" dirty="0"/>
          </a:p>
          <a:p>
            <a:r>
              <a:rPr lang="en-US" b="1" dirty="0"/>
              <a:t>2. </a:t>
            </a:r>
            <a:r>
              <a:rPr lang="vi-VN" b="1" dirty="0"/>
              <a:t>Soft Link (Symbolic Link) – Liên kết mềm</a:t>
            </a:r>
          </a:p>
          <a:p>
            <a:r>
              <a:rPr lang="vi-VN" b="1" dirty="0"/>
              <a:t>Định nghĩa:</a:t>
            </a:r>
          </a:p>
          <a:p>
            <a:pPr>
              <a:buFont typeface="Arial" panose="020B0604020202020204" pitchFamily="34" charset="0"/>
              <a:buChar char="•"/>
            </a:pPr>
            <a:r>
              <a:rPr lang="vi-VN" dirty="0"/>
              <a:t>Là một node </a:t>
            </a:r>
            <a:r>
              <a:rPr lang="vi-VN" b="1" dirty="0"/>
              <a:t>không chứa trực tiếp dữ liệu</a:t>
            </a:r>
            <a:r>
              <a:rPr lang="vi-VN" dirty="0"/>
              <a:t>, mà chứa </a:t>
            </a:r>
            <a:r>
              <a:rPr lang="vi-VN" b="1" dirty="0"/>
              <a:t>một tên (tức là một đường dẫn khác)</a:t>
            </a:r>
            <a:r>
              <a:rPr lang="vi-VN" dirty="0"/>
              <a:t> trỏ tới node thật sự.</a:t>
            </a:r>
          </a:p>
          <a:p>
            <a:r>
              <a:rPr lang="vi-VN" b="1" dirty="0"/>
              <a:t>Quy trình giải tên:</a:t>
            </a:r>
          </a:p>
          <a:p>
            <a:pPr>
              <a:buFont typeface="+mj-lt"/>
              <a:buAutoNum type="arabicPeriod"/>
            </a:pPr>
            <a:r>
              <a:rPr lang="vi-VN" b="1" dirty="0"/>
              <a:t>Giải tên</a:t>
            </a:r>
            <a:r>
              <a:rPr lang="vi-VN" dirty="0"/>
              <a:t> đến node N (symbolic link).</a:t>
            </a:r>
          </a:p>
          <a:p>
            <a:pPr>
              <a:buFont typeface="+mj-lt"/>
              <a:buAutoNum type="arabicPeriod"/>
            </a:pPr>
            <a:r>
              <a:rPr lang="vi-VN" b="1" dirty="0"/>
              <a:t>Đọc nội dung node N</a:t>
            </a:r>
            <a:r>
              <a:rPr lang="vi-VN" dirty="0"/>
              <a:t>, lấy được một tên (ví dụ: /keys).</a:t>
            </a:r>
          </a:p>
          <a:p>
            <a:pPr>
              <a:buFont typeface="+mj-lt"/>
              <a:buAutoNum type="arabicPeriod"/>
            </a:pPr>
            <a:r>
              <a:rPr lang="vi-VN" b="1" dirty="0"/>
              <a:t>Tiếp tục giải tên mới</a:t>
            </a:r>
            <a:r>
              <a:rPr lang="vi-VN" dirty="0"/>
              <a:t> đó từ đầu.</a:t>
            </a:r>
          </a:p>
          <a:p>
            <a:r>
              <a:rPr lang="vi-VN" b="1" dirty="0"/>
              <a:t>Ví dụ:</a:t>
            </a:r>
          </a:p>
          <a:p>
            <a:pPr>
              <a:buFont typeface="Arial" panose="020B0604020202020204" pitchFamily="34" charset="0"/>
              <a:buChar char="•"/>
            </a:pPr>
            <a:r>
              <a:rPr lang="vi-VN" dirty="0"/>
              <a:t>/home/steen/keys là một symbolic link chứa /keys.</a:t>
            </a:r>
          </a:p>
          <a:p>
            <a:pPr>
              <a:buFont typeface="Arial" panose="020B0604020202020204" pitchFamily="34" charset="0"/>
              <a:buChar char="•"/>
            </a:pPr>
            <a:r>
              <a:rPr lang="vi-VN" dirty="0"/>
              <a:t>Khi truy cập /home/steen/keys, hệ thống sẽ tự động đọc /keys và chuyển sang truy cập nội dung thực sự tại đó.</a:t>
            </a:r>
          </a:p>
          <a:p>
            <a:r>
              <a:rPr lang="vi-VN" b="1" dirty="0"/>
              <a:t>Đặc điểm:</a:t>
            </a:r>
          </a:p>
          <a:p>
            <a:pPr>
              <a:buFont typeface="Arial" panose="020B0604020202020204" pitchFamily="34" charset="0"/>
              <a:buChar char="•"/>
            </a:pPr>
            <a:r>
              <a:rPr lang="vi-VN" dirty="0"/>
              <a:t>Làm trung gian – không phải là đích cuối.</a:t>
            </a:r>
          </a:p>
          <a:p>
            <a:pPr>
              <a:buFont typeface="Arial" panose="020B0604020202020204" pitchFamily="34" charset="0"/>
              <a:buChar char="•"/>
            </a:pPr>
            <a:r>
              <a:rPr lang="vi-VN" dirty="0"/>
              <a:t>Nếu node đích bị xóa, </a:t>
            </a:r>
            <a:r>
              <a:rPr lang="vi-VN" b="1" dirty="0"/>
              <a:t>symbolic link bị “gãy”</a:t>
            </a:r>
            <a:r>
              <a:rPr lang="vi-VN" dirty="0"/>
              <a:t> (dangling).</a:t>
            </a:r>
          </a:p>
          <a:p>
            <a:pPr>
              <a:buFont typeface="Arial" panose="020B0604020202020204" pitchFamily="34" charset="0"/>
              <a:buChar char="•"/>
            </a:pPr>
            <a:r>
              <a:rPr lang="vi-VN" dirty="0"/>
              <a:t>Có thể trỏ đến file, thư mục, hoặc cả vị trí bên ngoài hệ thống (thậm chí trong hệ thống phân tán).</a:t>
            </a:r>
          </a:p>
          <a:p>
            <a:endParaRPr lang="en-US" b="1" dirty="0"/>
          </a:p>
          <a:p>
            <a:r>
              <a:rPr lang="vi-VN" b="1" dirty="0"/>
              <a:t>So sánh ngắn gọn:</a:t>
            </a:r>
          </a:p>
          <a:p>
            <a:r>
              <a:rPr lang="vi-VN" dirty="0"/>
              <a:t>Tiêu chí</a:t>
            </a:r>
            <a:r>
              <a:rPr lang="en-US" dirty="0"/>
              <a:t>			</a:t>
            </a:r>
            <a:r>
              <a:rPr lang="vi-VN" dirty="0"/>
              <a:t>Hard Link</a:t>
            </a:r>
            <a:r>
              <a:rPr lang="en-US" dirty="0"/>
              <a:t>	</a:t>
            </a:r>
            <a:r>
              <a:rPr lang="vi-VN" dirty="0"/>
              <a:t>Soft Link (Symbolic)</a:t>
            </a:r>
            <a:endParaRPr lang="en-US" dirty="0"/>
          </a:p>
          <a:p>
            <a:r>
              <a:rPr lang="vi-VN" dirty="0"/>
              <a:t>Trỏ đến</a:t>
            </a:r>
            <a:r>
              <a:rPr lang="en-US" dirty="0"/>
              <a:t>			</a:t>
            </a:r>
            <a:r>
              <a:rPr lang="vi-VN" dirty="0"/>
              <a:t>Node thật sự</a:t>
            </a:r>
            <a:r>
              <a:rPr lang="en-US" dirty="0"/>
              <a:t>	</a:t>
            </a:r>
            <a:r>
              <a:rPr lang="vi-VN" dirty="0"/>
              <a:t>Một tên khác</a:t>
            </a:r>
            <a:endParaRPr lang="en-US" dirty="0"/>
          </a:p>
          <a:p>
            <a:r>
              <a:rPr lang="vi-VN" dirty="0"/>
              <a:t>Phụ thuộc vào node gốc?</a:t>
            </a:r>
            <a:r>
              <a:rPr lang="en-US" dirty="0"/>
              <a:t>		</a:t>
            </a:r>
            <a:r>
              <a:rPr lang="vi-VN" dirty="0"/>
              <a:t>Không</a:t>
            </a:r>
            <a:r>
              <a:rPr lang="en-US" dirty="0"/>
              <a:t>	</a:t>
            </a:r>
            <a:r>
              <a:rPr lang="vi-VN" dirty="0"/>
              <a:t>Có thể bị “gãy” nếu đích bị xóa</a:t>
            </a:r>
            <a:endParaRPr lang="en-US" dirty="0"/>
          </a:p>
          <a:p>
            <a:r>
              <a:rPr lang="vi-VN" dirty="0"/>
              <a:t>Cho phép liên kết ngoài hệ thống?</a:t>
            </a:r>
            <a:r>
              <a:rPr lang="en-US" dirty="0"/>
              <a:t>	</a:t>
            </a:r>
            <a:r>
              <a:rPr lang="vi-VN" dirty="0"/>
              <a:t>Không</a:t>
            </a:r>
            <a:r>
              <a:rPr lang="en-US" dirty="0"/>
              <a:t>	</a:t>
            </a:r>
            <a:r>
              <a:rPr lang="vi-VN" dirty="0"/>
              <a:t>Có (ví dụ liên kết đến máy khác)</a:t>
            </a:r>
            <a:endParaRPr lang="en-US" dirty="0"/>
          </a:p>
          <a:p>
            <a:r>
              <a:rPr lang="vi-VN" dirty="0"/>
              <a:t>Hoạt động như một tên thật?</a:t>
            </a:r>
            <a:r>
              <a:rPr lang="en-US" dirty="0"/>
              <a:t>		</a:t>
            </a:r>
            <a:r>
              <a:rPr lang="vi-VN" dirty="0"/>
              <a:t>Có</a:t>
            </a:r>
            <a:r>
              <a:rPr lang="en-US" dirty="0"/>
              <a:t>	</a:t>
            </a:r>
            <a:r>
              <a:rPr lang="vi-VN" dirty="0"/>
              <a:t>Không (cần bước trung gian)</a:t>
            </a:r>
          </a:p>
          <a:p>
            <a:endParaRPr lang="en-US" b="1" dirty="0"/>
          </a:p>
          <a:p>
            <a:r>
              <a:rPr lang="vi-VN" b="1" dirty="0"/>
              <a:t>Ứng dụng trong Distributed Systems:</a:t>
            </a:r>
          </a:p>
          <a:p>
            <a:pPr>
              <a:buFont typeface="Arial" panose="020B0604020202020204" pitchFamily="34" charset="0"/>
              <a:buChar char="•"/>
            </a:pPr>
            <a:r>
              <a:rPr lang="vi-VN" dirty="0"/>
              <a:t>Cơ chế </a:t>
            </a:r>
            <a:r>
              <a:rPr lang="vi-VN" b="1" dirty="0"/>
              <a:t>symbolic link</a:t>
            </a:r>
            <a:r>
              <a:rPr lang="vi-VN" dirty="0"/>
              <a:t> mở rộng dễ dàng hơn khi liên kết </a:t>
            </a:r>
            <a:r>
              <a:rPr lang="vi-VN" b="1" dirty="0"/>
              <a:t>giữa nhiều không gian tên</a:t>
            </a:r>
            <a:r>
              <a:rPr lang="vi-VN" dirty="0"/>
              <a:t> (name space), đặc biệt là trong </a:t>
            </a:r>
            <a:r>
              <a:rPr lang="vi-VN" b="1" dirty="0"/>
              <a:t>file system phân tán</a:t>
            </a:r>
            <a:r>
              <a:rPr lang="vi-VN" dirty="0"/>
              <a:t> (như NFS).</a:t>
            </a:r>
          </a:p>
          <a:p>
            <a:pPr>
              <a:buFont typeface="Arial" panose="020B0604020202020204" pitchFamily="34" charset="0"/>
              <a:buChar char="•"/>
            </a:pPr>
            <a:r>
              <a:rPr lang="vi-VN" dirty="0"/>
              <a:t>Nó đóng vai trò quan trọng khi muốn “gắn” (mount) không gian tên từ nơi khác vào hệ thống cục bộ.</a:t>
            </a:r>
          </a:p>
          <a:p>
            <a:endParaRPr lang="en-US" b="1" dirty="0"/>
          </a:p>
          <a:p>
            <a:r>
              <a:rPr lang="en-US" b="1" dirty="0"/>
              <a:t>Observations – </a:t>
            </a:r>
            <a:r>
              <a:rPr lang="en-US" b="1" dirty="0" err="1"/>
              <a:t>Nhận</a:t>
            </a:r>
            <a:r>
              <a:rPr lang="en-US" b="1" dirty="0"/>
              <a:t> </a:t>
            </a:r>
            <a:r>
              <a:rPr lang="en-US" b="1" dirty="0" err="1"/>
              <a:t>xét</a:t>
            </a:r>
            <a:endParaRPr lang="en-US" b="1" dirty="0"/>
          </a:p>
          <a:p>
            <a:r>
              <a:rPr lang="en-US" b="1" dirty="0"/>
              <a:t>1. Name resolution </a:t>
            </a:r>
            <a:r>
              <a:rPr lang="en-US" b="1" dirty="0" err="1"/>
              <a:t>dẫn</a:t>
            </a:r>
            <a:r>
              <a:rPr lang="en-US" b="1" dirty="0"/>
              <a:t> </a:t>
            </a:r>
            <a:r>
              <a:rPr lang="en-US" b="1" dirty="0" err="1"/>
              <a:t>đến</a:t>
            </a:r>
            <a:r>
              <a:rPr lang="en-US" b="1" dirty="0"/>
              <a:t> </a:t>
            </a:r>
            <a:r>
              <a:rPr lang="en-US" b="1" dirty="0" err="1"/>
              <a:t>hành</a:t>
            </a:r>
            <a:r>
              <a:rPr lang="en-US" b="1" dirty="0"/>
              <a:t> </a:t>
            </a:r>
            <a:r>
              <a:rPr lang="en-US" b="1" dirty="0" err="1"/>
              <a:t>động</a:t>
            </a:r>
            <a:r>
              <a:rPr lang="en-US" b="1" dirty="0"/>
              <a:t> </a:t>
            </a:r>
            <a:r>
              <a:rPr lang="en-US" b="1" dirty="0" err="1"/>
              <a:t>đọc</a:t>
            </a:r>
            <a:r>
              <a:rPr lang="en-US" b="1" dirty="0"/>
              <a:t> </a:t>
            </a:r>
            <a:r>
              <a:rPr lang="en-US" b="1" dirty="0" err="1"/>
              <a:t>nội</a:t>
            </a:r>
            <a:r>
              <a:rPr lang="en-US" b="1" dirty="0"/>
              <a:t> dung node</a:t>
            </a:r>
          </a:p>
          <a:p>
            <a:pPr>
              <a:buFont typeface="Arial" panose="020B0604020202020204" pitchFamily="34" charset="0"/>
              <a:buChar char="•"/>
            </a:pPr>
            <a:r>
              <a:rPr lang="en-US" dirty="0"/>
              <a:t>Khi </a:t>
            </a:r>
            <a:r>
              <a:rPr lang="en-US" dirty="0" err="1"/>
              <a:t>gặp</a:t>
            </a:r>
            <a:r>
              <a:rPr lang="en-US" dirty="0"/>
              <a:t> </a:t>
            </a:r>
            <a:r>
              <a:rPr lang="en-US" dirty="0" err="1"/>
              <a:t>một</a:t>
            </a:r>
            <a:r>
              <a:rPr lang="en-US" dirty="0"/>
              <a:t> symbolic link, </a:t>
            </a:r>
            <a:r>
              <a:rPr lang="en-US" dirty="0" err="1"/>
              <a:t>bạn</a:t>
            </a:r>
            <a:r>
              <a:rPr lang="en-US" dirty="0"/>
              <a:t> </a:t>
            </a:r>
            <a:r>
              <a:rPr lang="en-US" b="1" dirty="0" err="1"/>
              <a:t>không</a:t>
            </a:r>
            <a:r>
              <a:rPr lang="en-US" b="1" dirty="0"/>
              <a:t> </a:t>
            </a:r>
            <a:r>
              <a:rPr lang="en-US" b="1" dirty="0" err="1"/>
              <a:t>kết</a:t>
            </a:r>
            <a:r>
              <a:rPr lang="en-US" b="1" dirty="0"/>
              <a:t> </a:t>
            </a:r>
            <a:r>
              <a:rPr lang="en-US" b="1" dirty="0" err="1"/>
              <a:t>thúc</a:t>
            </a:r>
            <a:r>
              <a:rPr lang="en-US" b="1" dirty="0"/>
              <a:t> ở </a:t>
            </a:r>
            <a:r>
              <a:rPr lang="en-US" b="1" dirty="0" err="1"/>
              <a:t>đó</a:t>
            </a:r>
            <a:r>
              <a:rPr lang="en-US" dirty="0"/>
              <a:t>.</a:t>
            </a:r>
          </a:p>
          <a:p>
            <a:pPr>
              <a:buFont typeface="Arial" panose="020B0604020202020204" pitchFamily="34" charset="0"/>
              <a:buChar char="•"/>
            </a:pPr>
            <a:r>
              <a:rPr lang="en-US" dirty="0" err="1"/>
              <a:t>Hệ</a:t>
            </a:r>
            <a:r>
              <a:rPr lang="en-US" dirty="0"/>
              <a:t> </a:t>
            </a:r>
            <a:r>
              <a:rPr lang="en-US" dirty="0" err="1"/>
              <a:t>thống</a:t>
            </a:r>
            <a:r>
              <a:rPr lang="en-US" dirty="0"/>
              <a:t> </a:t>
            </a:r>
            <a:r>
              <a:rPr lang="en-US" dirty="0" err="1"/>
              <a:t>phải</a:t>
            </a:r>
            <a:r>
              <a:rPr lang="en-US" dirty="0"/>
              <a:t> </a:t>
            </a:r>
            <a:r>
              <a:rPr lang="en-US" b="1" dirty="0" err="1"/>
              <a:t>đọc</a:t>
            </a:r>
            <a:r>
              <a:rPr lang="en-US" b="1" dirty="0"/>
              <a:t> </a:t>
            </a:r>
            <a:r>
              <a:rPr lang="en-US" b="1" dirty="0" err="1"/>
              <a:t>nội</a:t>
            </a:r>
            <a:r>
              <a:rPr lang="en-US" b="1" dirty="0"/>
              <a:t> dung </a:t>
            </a:r>
            <a:r>
              <a:rPr lang="en-US" b="1" dirty="0" err="1"/>
              <a:t>của</a:t>
            </a:r>
            <a:r>
              <a:rPr lang="en-US" b="1" dirty="0"/>
              <a:t> node (soft link)</a:t>
            </a:r>
            <a:r>
              <a:rPr lang="en-US" dirty="0"/>
              <a:t>, </a:t>
            </a:r>
            <a:r>
              <a:rPr lang="en-US" dirty="0" err="1"/>
              <a:t>và</a:t>
            </a:r>
            <a:r>
              <a:rPr lang="en-US" dirty="0"/>
              <a:t> </a:t>
            </a:r>
            <a:r>
              <a:rPr lang="en-US" dirty="0" err="1"/>
              <a:t>sau</a:t>
            </a:r>
            <a:r>
              <a:rPr lang="en-US" dirty="0"/>
              <a:t> </a:t>
            </a:r>
            <a:r>
              <a:rPr lang="en-US" dirty="0" err="1"/>
              <a:t>đó</a:t>
            </a:r>
            <a:r>
              <a:rPr lang="en-US" dirty="0"/>
              <a:t> </a:t>
            </a:r>
            <a:r>
              <a:rPr lang="en-US" b="1" dirty="0" err="1"/>
              <a:t>tiếp</a:t>
            </a:r>
            <a:r>
              <a:rPr lang="en-US" b="1" dirty="0"/>
              <a:t> </a:t>
            </a:r>
            <a:r>
              <a:rPr lang="en-US" b="1" dirty="0" err="1"/>
              <a:t>tục</a:t>
            </a:r>
            <a:r>
              <a:rPr lang="en-US" b="1" dirty="0"/>
              <a:t> </a:t>
            </a:r>
            <a:r>
              <a:rPr lang="en-US" b="1" dirty="0" err="1"/>
              <a:t>quá</a:t>
            </a:r>
            <a:r>
              <a:rPr lang="en-US" b="1" dirty="0"/>
              <a:t> </a:t>
            </a:r>
            <a:r>
              <a:rPr lang="en-US" b="1" dirty="0" err="1"/>
              <a:t>trình</a:t>
            </a:r>
            <a:r>
              <a:rPr lang="en-US" b="1" dirty="0"/>
              <a:t> </a:t>
            </a:r>
            <a:r>
              <a:rPr lang="en-US" b="1" dirty="0" err="1"/>
              <a:t>giải</a:t>
            </a:r>
            <a:r>
              <a:rPr lang="en-US" b="1" dirty="0"/>
              <a:t> </a:t>
            </a:r>
            <a:r>
              <a:rPr lang="en-US" b="1" dirty="0" err="1"/>
              <a:t>tên</a:t>
            </a:r>
            <a:r>
              <a:rPr lang="en-US" dirty="0"/>
              <a:t> </a:t>
            </a:r>
            <a:r>
              <a:rPr lang="en-US" dirty="0" err="1"/>
              <a:t>với</a:t>
            </a:r>
            <a:r>
              <a:rPr lang="en-US" dirty="0"/>
              <a:t> </a:t>
            </a:r>
            <a:r>
              <a:rPr lang="en-US" dirty="0" err="1"/>
              <a:t>nội</a:t>
            </a:r>
            <a:r>
              <a:rPr lang="en-US" dirty="0"/>
              <a:t> dung </a:t>
            </a:r>
            <a:r>
              <a:rPr lang="en-US" dirty="0" err="1"/>
              <a:t>đó</a:t>
            </a:r>
            <a:r>
              <a:rPr lang="en-US" dirty="0"/>
              <a:t>.</a:t>
            </a:r>
          </a:p>
          <a:p>
            <a:r>
              <a:rPr lang="en-US" b="1" dirty="0"/>
              <a:t>2. “One way or another”, </a:t>
            </a:r>
            <a:r>
              <a:rPr lang="en-US" b="1" dirty="0" err="1"/>
              <a:t>bạn</a:t>
            </a:r>
            <a:r>
              <a:rPr lang="en-US" b="1" dirty="0"/>
              <a:t> </a:t>
            </a:r>
            <a:r>
              <a:rPr lang="en-US" b="1" dirty="0" err="1"/>
              <a:t>cần</a:t>
            </a:r>
            <a:r>
              <a:rPr lang="en-US" b="1" dirty="0"/>
              <a:t> </a:t>
            </a:r>
            <a:r>
              <a:rPr lang="en-US" b="1" dirty="0" err="1"/>
              <a:t>biết</a:t>
            </a:r>
            <a:r>
              <a:rPr lang="en-US" b="1" dirty="0"/>
              <a:t> </a:t>
            </a:r>
            <a:r>
              <a:rPr lang="en-US" b="1" dirty="0" err="1"/>
              <a:t>điểm</a:t>
            </a:r>
            <a:r>
              <a:rPr lang="en-US" b="1" dirty="0"/>
              <a:t> </a:t>
            </a:r>
            <a:r>
              <a:rPr lang="en-US" b="1" dirty="0" err="1"/>
              <a:t>bắt</a:t>
            </a:r>
            <a:r>
              <a:rPr lang="en-US" b="1" dirty="0"/>
              <a:t> </a:t>
            </a:r>
            <a:r>
              <a:rPr lang="en-US" b="1" dirty="0" err="1"/>
              <a:t>đầu</a:t>
            </a:r>
            <a:endParaRPr lang="en-US" b="1" dirty="0"/>
          </a:p>
          <a:p>
            <a:pPr>
              <a:buFont typeface="Arial" panose="020B0604020202020204" pitchFamily="34" charset="0"/>
              <a:buChar char="•"/>
            </a:pPr>
            <a:r>
              <a:rPr lang="en-US" dirty="0" err="1"/>
              <a:t>Dù</a:t>
            </a:r>
            <a:r>
              <a:rPr lang="en-US" dirty="0"/>
              <a:t> </a:t>
            </a:r>
            <a:r>
              <a:rPr lang="en-US" dirty="0" err="1"/>
              <a:t>là</a:t>
            </a:r>
            <a:r>
              <a:rPr lang="en-US" dirty="0"/>
              <a:t> </a:t>
            </a:r>
            <a:r>
              <a:rPr lang="en-US" b="1" dirty="0"/>
              <a:t>hard link hay soft link</a:t>
            </a:r>
            <a:r>
              <a:rPr lang="en-US" dirty="0"/>
              <a:t>, </a:t>
            </a:r>
            <a:r>
              <a:rPr lang="en-US" dirty="0" err="1"/>
              <a:t>hệ</a:t>
            </a:r>
            <a:r>
              <a:rPr lang="en-US" dirty="0"/>
              <a:t> </a:t>
            </a:r>
            <a:r>
              <a:rPr lang="en-US" dirty="0" err="1"/>
              <a:t>thống</a:t>
            </a:r>
            <a:r>
              <a:rPr lang="en-US" dirty="0"/>
              <a:t> </a:t>
            </a:r>
            <a:r>
              <a:rPr lang="en-US" dirty="0" err="1"/>
              <a:t>vẫn</a:t>
            </a:r>
            <a:r>
              <a:rPr lang="en-US" dirty="0"/>
              <a:t> </a:t>
            </a:r>
            <a:r>
              <a:rPr lang="en-US" dirty="0" err="1"/>
              <a:t>cần</a:t>
            </a:r>
            <a:r>
              <a:rPr lang="en-US" dirty="0"/>
              <a:t> </a:t>
            </a:r>
            <a:r>
              <a:rPr lang="en-US" dirty="0" err="1"/>
              <a:t>một</a:t>
            </a:r>
            <a:r>
              <a:rPr lang="en-US" dirty="0"/>
              <a:t> </a:t>
            </a:r>
            <a:r>
              <a:rPr lang="en-US" b="1" dirty="0"/>
              <a:t>closure mechanism</a:t>
            </a:r>
            <a:r>
              <a:rPr lang="en-US" dirty="0"/>
              <a:t> – </a:t>
            </a:r>
            <a:r>
              <a:rPr lang="en-US" dirty="0" err="1"/>
              <a:t>tức</a:t>
            </a:r>
            <a:r>
              <a:rPr lang="en-US" dirty="0"/>
              <a:t> </a:t>
            </a:r>
            <a:r>
              <a:rPr lang="en-US" dirty="0" err="1"/>
              <a:t>là</a:t>
            </a:r>
            <a:r>
              <a:rPr lang="en-US" dirty="0"/>
              <a:t> </a:t>
            </a:r>
            <a:r>
              <a:rPr lang="en-US" dirty="0" err="1"/>
              <a:t>biết</a:t>
            </a:r>
            <a:r>
              <a:rPr lang="en-US" dirty="0"/>
              <a:t> </a:t>
            </a:r>
            <a:r>
              <a:rPr lang="en-US" b="1" dirty="0" err="1"/>
              <a:t>bắt</a:t>
            </a:r>
            <a:r>
              <a:rPr lang="en-US" b="1" dirty="0"/>
              <a:t> </a:t>
            </a:r>
            <a:r>
              <a:rPr lang="en-US" b="1" dirty="0" err="1"/>
              <a:t>đầu</a:t>
            </a:r>
            <a:r>
              <a:rPr lang="en-US" b="1" dirty="0"/>
              <a:t> </a:t>
            </a:r>
            <a:r>
              <a:rPr lang="en-US" b="1" dirty="0" err="1"/>
              <a:t>giải</a:t>
            </a:r>
            <a:r>
              <a:rPr lang="en-US" b="1" dirty="0"/>
              <a:t> </a:t>
            </a:r>
            <a:r>
              <a:rPr lang="en-US" b="1" dirty="0" err="1"/>
              <a:t>tên</a:t>
            </a:r>
            <a:r>
              <a:rPr lang="en-US" b="1" dirty="0"/>
              <a:t> </a:t>
            </a:r>
            <a:r>
              <a:rPr lang="en-US" b="1" dirty="0" err="1"/>
              <a:t>từ</a:t>
            </a:r>
            <a:r>
              <a:rPr lang="en-US" b="1" dirty="0"/>
              <a:t> </a:t>
            </a:r>
            <a:r>
              <a:rPr lang="en-US" b="1" dirty="0" err="1"/>
              <a:t>đâu</a:t>
            </a:r>
            <a:r>
              <a:rPr lang="en-US" dirty="0"/>
              <a:t>:</a:t>
            </a:r>
          </a:p>
          <a:p>
            <a:pPr marL="742950" lvl="1" indent="-285750">
              <a:buFont typeface="Arial" panose="020B0604020202020204" pitchFamily="34" charset="0"/>
              <a:buChar char="•"/>
            </a:pPr>
            <a:r>
              <a:rPr lang="en-US" dirty="0" err="1"/>
              <a:t>Ví</a:t>
            </a:r>
            <a:r>
              <a:rPr lang="en-US" dirty="0"/>
              <a:t> </a:t>
            </a:r>
            <a:r>
              <a:rPr lang="en-US" dirty="0" err="1"/>
              <a:t>dụ</a:t>
            </a:r>
            <a:r>
              <a:rPr lang="en-US" dirty="0"/>
              <a:t>: /home/</a:t>
            </a:r>
            <a:r>
              <a:rPr lang="en-US" dirty="0" err="1"/>
              <a:t>steen</a:t>
            </a:r>
            <a:r>
              <a:rPr lang="en-US" dirty="0"/>
              <a:t>/keys → </a:t>
            </a:r>
            <a:r>
              <a:rPr lang="en-US" dirty="0" err="1"/>
              <a:t>bắt</a:t>
            </a:r>
            <a:r>
              <a:rPr lang="en-US" dirty="0"/>
              <a:t> </a:t>
            </a:r>
            <a:r>
              <a:rPr lang="en-US" dirty="0" err="1"/>
              <a:t>đầu</a:t>
            </a:r>
            <a:r>
              <a:rPr lang="en-US" dirty="0"/>
              <a:t> </a:t>
            </a:r>
            <a:r>
              <a:rPr lang="en-US" dirty="0" err="1"/>
              <a:t>từ</a:t>
            </a:r>
            <a:r>
              <a:rPr lang="en-US" dirty="0"/>
              <a:t> /</a:t>
            </a:r>
          </a:p>
          <a:p>
            <a:pPr marL="742950" lvl="1" indent="-285750">
              <a:buFont typeface="Arial" panose="020B0604020202020204" pitchFamily="34" charset="0"/>
              <a:buChar char="•"/>
            </a:pPr>
            <a:r>
              <a:rPr lang="en-US" dirty="0"/>
              <a:t>Hay nfs://server/path → </a:t>
            </a:r>
            <a:r>
              <a:rPr lang="en-US" dirty="0" err="1"/>
              <a:t>bắt</a:t>
            </a:r>
            <a:r>
              <a:rPr lang="en-US" dirty="0"/>
              <a:t> </a:t>
            </a:r>
            <a:r>
              <a:rPr lang="en-US" dirty="0" err="1"/>
              <a:t>đầu</a:t>
            </a:r>
            <a:r>
              <a:rPr lang="en-US" dirty="0"/>
              <a:t> </a:t>
            </a:r>
            <a:r>
              <a:rPr lang="en-US" dirty="0" err="1"/>
              <a:t>từ</a:t>
            </a:r>
            <a:r>
              <a:rPr lang="en-US" dirty="0"/>
              <a:t> URL </a:t>
            </a:r>
            <a:r>
              <a:rPr lang="en-US" dirty="0" err="1"/>
              <a:t>và</a:t>
            </a:r>
            <a:r>
              <a:rPr lang="en-US" dirty="0"/>
              <a:t> </a:t>
            </a:r>
            <a:r>
              <a:rPr lang="en-US" dirty="0" err="1"/>
              <a:t>giao</a:t>
            </a:r>
            <a:r>
              <a:rPr lang="en-US" dirty="0"/>
              <a:t> </a:t>
            </a:r>
            <a:r>
              <a:rPr lang="en-US" dirty="0" err="1"/>
              <a:t>thức</a:t>
            </a:r>
            <a:r>
              <a:rPr lang="en-US" dirty="0"/>
              <a:t> NFS</a:t>
            </a:r>
          </a:p>
          <a:p>
            <a:endParaRPr lang="en-US" b="1" dirty="0"/>
          </a:p>
          <a:p>
            <a:endParaRPr lang="en-US" b="1" dirty="0"/>
          </a:p>
          <a:p>
            <a:r>
              <a:rPr lang="vi-VN" b="1" dirty="0"/>
              <a:t>Kết luận:</a:t>
            </a:r>
          </a:p>
          <a:p>
            <a:pPr>
              <a:buFont typeface="Arial" panose="020B0604020202020204" pitchFamily="34" charset="0"/>
              <a:buChar char="•"/>
            </a:pPr>
            <a:r>
              <a:rPr lang="vi-VN" b="1" dirty="0"/>
              <a:t>Hard link</a:t>
            </a:r>
            <a:r>
              <a:rPr lang="vi-VN" dirty="0"/>
              <a:t> đại diện cho đường dẫn truyền thống – một ánh xạ trực tiếp đến thực thể.</a:t>
            </a:r>
          </a:p>
          <a:p>
            <a:pPr>
              <a:buFont typeface="Arial" panose="020B0604020202020204" pitchFamily="34" charset="0"/>
              <a:buChar char="•"/>
            </a:pPr>
            <a:r>
              <a:rPr lang="vi-VN" b="1" dirty="0"/>
              <a:t>Soft link</a:t>
            </a:r>
            <a:r>
              <a:rPr lang="vi-VN" dirty="0"/>
              <a:t> là một tầng gián tiếp – cho phép linh hoạt hơn, hỗ trợ hệ thống phân tán.</a:t>
            </a:r>
          </a:p>
          <a:p>
            <a:pPr>
              <a:buFont typeface="Arial" panose="020B0604020202020204" pitchFamily="34" charset="0"/>
              <a:buChar char="•"/>
            </a:pPr>
            <a:r>
              <a:rPr lang="vi-VN" dirty="0"/>
              <a:t>Cả hai là </a:t>
            </a:r>
            <a:r>
              <a:rPr lang="vi-VN" b="1" dirty="0"/>
              <a:t>kỹ thuật liên kết tên</a:t>
            </a:r>
            <a:r>
              <a:rPr lang="vi-VN" dirty="0"/>
              <a:t>, phục vụ các mục tiêu khác nhau trong quản lý và tổ chức thông tin.</a:t>
            </a:r>
          </a:p>
          <a:p>
            <a:endParaRPr lang="en-US" dirty="0"/>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35</a:t>
            </a:fld>
            <a:endParaRPr lang="en-US"/>
          </a:p>
        </p:txBody>
      </p:sp>
    </p:spTree>
    <p:extLst>
      <p:ext uri="{BB962C8B-B14F-4D97-AF65-F5344CB8AC3E}">
        <p14:creationId xmlns:p14="http://schemas.microsoft.com/office/powerpoint/2010/main" val="1226486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Name linking – Liên kết tên</a:t>
            </a:r>
          </a:p>
          <a:p>
            <a:endParaRPr lang="en-US" b="1" dirty="0"/>
          </a:p>
          <a:p>
            <a:r>
              <a:rPr lang="vi-VN" b="1" dirty="0"/>
              <a:t>Ý chính của slide:</a:t>
            </a:r>
          </a:p>
          <a:p>
            <a:r>
              <a:rPr lang="vi-VN" b="1" dirty="0"/>
              <a:t>Giải thích cách hoạt động của symbolic link bằng đồ thị đặt tên (naming graph).</a:t>
            </a:r>
            <a:endParaRPr lang="vi-VN" dirty="0"/>
          </a:p>
          <a:p>
            <a:r>
              <a:rPr lang="vi-VN" b="1" dirty="0"/>
              <a:t>Phân tích hình minh họa:</a:t>
            </a:r>
          </a:p>
          <a:p>
            <a:r>
              <a:rPr lang="vi-VN" dirty="0"/>
              <a:t>Chúng ta có </a:t>
            </a:r>
            <a:r>
              <a:rPr lang="vi-VN" b="1" dirty="0"/>
              <a:t>một đồ thị tên (naming graph)</a:t>
            </a:r>
            <a:r>
              <a:rPr lang="vi-VN" dirty="0"/>
              <a:t> với các node sau:</a:t>
            </a:r>
          </a:p>
          <a:p>
            <a:pPr>
              <a:buFont typeface="Arial" panose="020B0604020202020204" pitchFamily="34" charset="0"/>
              <a:buChar char="•"/>
            </a:pPr>
            <a:r>
              <a:rPr lang="vi-VN" dirty="0"/>
              <a:t>n0: Node gốc (root) của không gian tên.</a:t>
            </a:r>
          </a:p>
          <a:p>
            <a:pPr>
              <a:buFont typeface="Arial" panose="020B0604020202020204" pitchFamily="34" charset="0"/>
              <a:buChar char="•"/>
            </a:pPr>
            <a:r>
              <a:rPr lang="vi-VN" dirty="0"/>
              <a:t>n1: Thư mục /home.</a:t>
            </a:r>
          </a:p>
          <a:p>
            <a:pPr>
              <a:buFont typeface="Arial" panose="020B0604020202020204" pitchFamily="34" charset="0"/>
              <a:buChar char="•"/>
            </a:pPr>
            <a:r>
              <a:rPr lang="vi-VN" dirty="0"/>
              <a:t>n2, n3, n4: Thư mục tương ứng với các người dùng elke, max, và steen.</a:t>
            </a:r>
          </a:p>
          <a:p>
            <a:pPr>
              <a:buFont typeface="Arial" panose="020B0604020202020204" pitchFamily="34" charset="0"/>
              <a:buChar char="•"/>
            </a:pPr>
            <a:r>
              <a:rPr lang="vi-VN" dirty="0"/>
              <a:t>n5: Một node đại diện cho thực thể mà được đặt tên là /keys.</a:t>
            </a:r>
          </a:p>
          <a:p>
            <a:pPr>
              <a:buFont typeface="Arial" panose="020B0604020202020204" pitchFamily="34" charset="0"/>
              <a:buChar char="•"/>
            </a:pPr>
            <a:r>
              <a:rPr lang="vi-VN" dirty="0"/>
              <a:t>n6: Một symbolic link – chứa </a:t>
            </a:r>
            <a:r>
              <a:rPr lang="vi-VN" b="1" dirty="0"/>
              <a:t>nội dung là đường dẫn "/keys"</a:t>
            </a:r>
            <a:r>
              <a:rPr lang="vi-VN" dirty="0"/>
              <a:t>.</a:t>
            </a:r>
          </a:p>
          <a:p>
            <a:endParaRPr lang="en-US" b="1" dirty="0"/>
          </a:p>
          <a:p>
            <a:r>
              <a:rPr lang="vi-VN" b="1" dirty="0"/>
              <a:t>Quá trình giải tên thông qua liên kết mềm (symbolic link):</a:t>
            </a:r>
          </a:p>
          <a:p>
            <a:r>
              <a:rPr lang="vi-VN" b="1" dirty="0"/>
              <a:t>Khi truy cập /home/steen/keys:</a:t>
            </a:r>
          </a:p>
          <a:p>
            <a:pPr>
              <a:buFont typeface="+mj-lt"/>
              <a:buAutoNum type="arabicPeriod"/>
            </a:pPr>
            <a:r>
              <a:rPr lang="vi-VN" dirty="0"/>
              <a:t>Hệ thống bắt đầu từ n0, đi đến n1 thông qua "home".</a:t>
            </a:r>
          </a:p>
          <a:p>
            <a:pPr>
              <a:buFont typeface="+mj-lt"/>
              <a:buAutoNum type="arabicPeriod"/>
            </a:pPr>
            <a:r>
              <a:rPr lang="vi-VN" dirty="0"/>
              <a:t>Từ n1, đi đến n4 (ứng với "steen").</a:t>
            </a:r>
          </a:p>
          <a:p>
            <a:pPr>
              <a:buFont typeface="+mj-lt"/>
              <a:buAutoNum type="arabicPeriod"/>
            </a:pPr>
            <a:r>
              <a:rPr lang="vi-VN" dirty="0"/>
              <a:t>Trong n4, nhãn "keys" trỏ đến node n6.</a:t>
            </a:r>
          </a:p>
          <a:p>
            <a:r>
              <a:rPr lang="vi-VN" b="1" dirty="0"/>
              <a:t>Và đây là điểm đặc biệt:</a:t>
            </a:r>
            <a:br>
              <a:rPr lang="vi-VN" dirty="0"/>
            </a:br>
            <a:r>
              <a:rPr lang="vi-VN" dirty="0"/>
              <a:t>n6 không chứa thực thể (ví dụ như file thật), mà </a:t>
            </a:r>
            <a:r>
              <a:rPr lang="vi-VN" b="1" dirty="0"/>
              <a:t>chứa đường dẫn "/keys"</a:t>
            </a:r>
            <a:r>
              <a:rPr lang="vi-VN" dirty="0"/>
              <a:t> (nội dung là tên của node khác).</a:t>
            </a:r>
          </a:p>
          <a:p>
            <a:pPr>
              <a:buFont typeface="+mj-lt"/>
              <a:buAutoNum type="arabicPeriod" startAt="4"/>
            </a:pPr>
            <a:r>
              <a:rPr lang="vi-VN" dirty="0"/>
              <a:t>Hệ thống </a:t>
            </a:r>
            <a:r>
              <a:rPr lang="vi-VN" b="1" dirty="0"/>
              <a:t>đọc nội dung node n6</a:t>
            </a:r>
            <a:r>
              <a:rPr lang="vi-VN" dirty="0"/>
              <a:t>, thấy "keys" → hiểu rằng đây là symbolic link đến /keys.</a:t>
            </a:r>
          </a:p>
          <a:p>
            <a:pPr>
              <a:buFont typeface="+mj-lt"/>
              <a:buAutoNum type="arabicPeriod" startAt="4"/>
            </a:pPr>
            <a:r>
              <a:rPr lang="vi-VN" dirty="0"/>
              <a:t>Tiếp tục quá trình giải tên /keys, bắt đầu lại từ gốc n0 → đến n5.</a:t>
            </a:r>
          </a:p>
          <a:p>
            <a:r>
              <a:rPr lang="vi-VN" b="1" dirty="0"/>
              <a:t>Kết quả cuối cùng:</a:t>
            </a:r>
          </a:p>
          <a:p>
            <a:pPr>
              <a:buFont typeface="Arial" panose="020B0604020202020204" pitchFamily="34" charset="0"/>
              <a:buChar char="•"/>
            </a:pPr>
            <a:r>
              <a:rPr lang="vi-VN" dirty="0"/>
              <a:t>/home/steen/keys </a:t>
            </a:r>
            <a:r>
              <a:rPr lang="vi-VN" b="1" dirty="0"/>
              <a:t>không dẫn trực tiếp đến node chứa dữ liệu</a:t>
            </a:r>
            <a:r>
              <a:rPr lang="vi-VN" dirty="0"/>
              <a:t>, mà là </a:t>
            </a:r>
            <a:r>
              <a:rPr lang="vi-VN" b="1" dirty="0"/>
              <a:t>liên kết mềm đến /keys</a:t>
            </a:r>
            <a:r>
              <a:rPr lang="vi-VN" dirty="0"/>
              <a:t> → cuối cùng tới node n5.</a:t>
            </a:r>
          </a:p>
          <a:p>
            <a:endParaRPr lang="en-US" b="1" dirty="0"/>
          </a:p>
          <a:p>
            <a:r>
              <a:rPr lang="vi-VN" b="1" dirty="0"/>
              <a:t>Observation (</a:t>
            </a:r>
            <a:r>
              <a:rPr lang="en-US" b="1" dirty="0" err="1"/>
              <a:t>Nhận</a:t>
            </a:r>
            <a:r>
              <a:rPr lang="en-US" b="1" dirty="0"/>
              <a:t> </a:t>
            </a:r>
            <a:r>
              <a:rPr lang="en-US" b="1" dirty="0" err="1"/>
              <a:t>xét</a:t>
            </a:r>
            <a:r>
              <a:rPr lang="vi-VN" b="1" dirty="0"/>
              <a:t>): Node n5 chỉ có một tên</a:t>
            </a:r>
          </a:p>
          <a:p>
            <a:pPr>
              <a:buFont typeface="Arial" panose="020B0604020202020204" pitchFamily="34" charset="0"/>
              <a:buChar char="•"/>
            </a:pPr>
            <a:r>
              <a:rPr lang="vi-VN" dirty="0"/>
              <a:t>Mặc dù /home/steen/keys </a:t>
            </a:r>
            <a:r>
              <a:rPr lang="vi-VN" b="1" dirty="0"/>
              <a:t>có vẻ là một tên khác của n5</a:t>
            </a:r>
            <a:r>
              <a:rPr lang="vi-VN" dirty="0"/>
              <a:t>, </a:t>
            </a:r>
            <a:r>
              <a:rPr lang="vi-VN" b="1" dirty="0"/>
              <a:t>thực chất thì không</a:t>
            </a:r>
            <a:r>
              <a:rPr lang="vi-VN" dirty="0"/>
              <a:t>.</a:t>
            </a:r>
          </a:p>
          <a:p>
            <a:pPr>
              <a:buFont typeface="Arial" panose="020B0604020202020204" pitchFamily="34" charset="0"/>
              <a:buChar char="•"/>
            </a:pPr>
            <a:r>
              <a:rPr lang="vi-VN" dirty="0"/>
              <a:t>/home/steen/keys là một symbolic link → nó </a:t>
            </a:r>
            <a:r>
              <a:rPr lang="vi-VN" b="1" dirty="0"/>
              <a:t>chỉ chứa tên /keys</a:t>
            </a:r>
            <a:r>
              <a:rPr lang="vi-VN" dirty="0"/>
              <a:t>, nên không phải là tên trực tiếp của n5.</a:t>
            </a:r>
          </a:p>
          <a:p>
            <a:pPr>
              <a:buFont typeface="Arial" panose="020B0604020202020204" pitchFamily="34" charset="0"/>
              <a:buChar char="•"/>
            </a:pPr>
            <a:r>
              <a:rPr lang="vi-VN" dirty="0"/>
              <a:t>Vì vậy, </a:t>
            </a:r>
            <a:r>
              <a:rPr lang="vi-VN" b="1" dirty="0"/>
              <a:t>tên duy nhất của n5 là /keys</a:t>
            </a:r>
            <a:r>
              <a:rPr lang="vi-VN" dirty="0"/>
              <a:t> (truy cập trực tiếp từ node n0).</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36</a:t>
            </a:fld>
            <a:endParaRPr lang="en-US"/>
          </a:p>
        </p:txBody>
      </p:sp>
    </p:spTree>
    <p:extLst>
      <p:ext uri="{BB962C8B-B14F-4D97-AF65-F5344CB8AC3E}">
        <p14:creationId xmlns:p14="http://schemas.microsoft.com/office/powerpoint/2010/main" val="7519510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Mounting – Gắn kết không gian tên</a:t>
            </a:r>
          </a:p>
          <a:p>
            <a:endParaRPr lang="en-US" b="1" dirty="0"/>
          </a:p>
          <a:p>
            <a:r>
              <a:rPr lang="vi-VN" b="1" dirty="0"/>
              <a:t>Vấn đề đặt ra (Issue)</a:t>
            </a:r>
          </a:p>
          <a:p>
            <a:r>
              <a:rPr lang="vi-VN" dirty="0"/>
              <a:t>“</a:t>
            </a:r>
            <a:r>
              <a:rPr lang="vi-VN" b="1" dirty="0"/>
              <a:t>Làm sao để hợp nhất các không gian tên khác nhau một cách minh bạch đối với người dùng?</a:t>
            </a:r>
            <a:r>
              <a:rPr lang="vi-VN" dirty="0"/>
              <a:t>”</a:t>
            </a:r>
          </a:p>
          <a:p>
            <a:r>
              <a:rPr lang="vi-VN" dirty="0"/>
              <a:t>Trong hệ thống phân tán hoặc đơn giản là khi có </a:t>
            </a:r>
            <a:r>
              <a:rPr lang="vi-VN" b="1" dirty="0"/>
              <a:t>nhiều hệ thống tập tin (file systems)</a:t>
            </a:r>
            <a:r>
              <a:rPr lang="vi-VN" dirty="0"/>
              <a:t>, bạn có thể cần truy cập dữ liệu ở một </a:t>
            </a:r>
            <a:r>
              <a:rPr lang="vi-VN" b="1" dirty="0"/>
              <a:t>“không gian tên khác (foreign name space)”</a:t>
            </a:r>
            <a:r>
              <a:rPr lang="vi-VN" dirty="0"/>
              <a:t>.</a:t>
            </a:r>
          </a:p>
          <a:p>
            <a:r>
              <a:rPr lang="vi-VN" b="1" dirty="0"/>
              <a:t>Mounting</a:t>
            </a:r>
            <a:r>
              <a:rPr lang="vi-VN" dirty="0"/>
              <a:t> là </a:t>
            </a:r>
            <a:r>
              <a:rPr lang="vi-VN" b="1" dirty="0"/>
              <a:t>kỹ thuật cho phép gắn một phần của không gian tên ngoài vào không gian tên hiện tại</a:t>
            </a:r>
            <a:r>
              <a:rPr lang="vi-VN" dirty="0"/>
              <a:t>, làm cho mọi thứ </a:t>
            </a:r>
            <a:r>
              <a:rPr lang="vi-VN" b="1" dirty="0"/>
              <a:t>trông như một hệ thống thống nhất duy nhất</a:t>
            </a:r>
            <a:r>
              <a:rPr lang="vi-VN" dirty="0"/>
              <a:t> đối với người dùng.</a:t>
            </a:r>
          </a:p>
          <a:p>
            <a:endParaRPr lang="en-US" b="1" dirty="0"/>
          </a:p>
          <a:p>
            <a:r>
              <a:rPr lang="vi-VN" b="1" dirty="0"/>
              <a:t>Khái niệm chính của mounting:</a:t>
            </a:r>
          </a:p>
          <a:p>
            <a:pPr>
              <a:buFont typeface="Arial" panose="020B0604020202020204" pitchFamily="34" charset="0"/>
              <a:buChar char="•"/>
            </a:pPr>
            <a:r>
              <a:rPr lang="vi-VN" dirty="0"/>
              <a:t>Chúng ta </a:t>
            </a:r>
            <a:r>
              <a:rPr lang="vi-VN" b="1" dirty="0"/>
              <a:t>gắn (mount)</a:t>
            </a:r>
            <a:r>
              <a:rPr lang="vi-VN" dirty="0"/>
              <a:t> một </a:t>
            </a:r>
            <a:r>
              <a:rPr lang="vi-VN" b="1" dirty="0"/>
              <a:t>node từ một không gian tên khác (foreign)</a:t>
            </a:r>
            <a:r>
              <a:rPr lang="vi-VN" dirty="0"/>
              <a:t> vào một </a:t>
            </a:r>
            <a:r>
              <a:rPr lang="vi-VN" b="1" dirty="0"/>
              <a:t>node trong không gian tên hiện tại</a:t>
            </a:r>
            <a:r>
              <a:rPr lang="vi-VN" dirty="0"/>
              <a:t>.</a:t>
            </a:r>
          </a:p>
          <a:p>
            <a:pPr>
              <a:buFont typeface="Arial" panose="020B0604020202020204" pitchFamily="34" charset="0"/>
              <a:buChar char="•"/>
            </a:pPr>
            <a:r>
              <a:rPr lang="vi-VN" dirty="0"/>
              <a:t>Khi quá trình giải tên (name resolution) tới “mount point”, hệ thống sẽ </a:t>
            </a:r>
            <a:r>
              <a:rPr lang="vi-VN" b="1" dirty="0"/>
              <a:t>chuyển sang tiếp tục giải tên trong foreign name space</a:t>
            </a:r>
            <a:r>
              <a:rPr lang="vi-VN" dirty="0"/>
              <a:t> – và điều này hoàn toàn </a:t>
            </a:r>
            <a:r>
              <a:rPr lang="vi-VN" b="1" dirty="0"/>
              <a:t>minh bạch đối với người dùng</a:t>
            </a:r>
            <a:r>
              <a:rPr lang="vi-VN" dirty="0"/>
              <a:t>.</a:t>
            </a:r>
          </a:p>
          <a:p>
            <a:endParaRPr lang="en-US" b="1" dirty="0"/>
          </a:p>
          <a:p>
            <a:r>
              <a:rPr lang="vi-VN" b="1" dirty="0"/>
              <a:t>Thuật ngữ quan trọng (Terminology):</a:t>
            </a:r>
          </a:p>
          <a:p>
            <a:r>
              <a:rPr lang="vi-VN" dirty="0"/>
              <a:t>Thuật ngữ</a:t>
            </a:r>
            <a:r>
              <a:rPr lang="en-US" dirty="0"/>
              <a:t>		</a:t>
            </a:r>
            <a:r>
              <a:rPr lang="vi-VN" dirty="0"/>
              <a:t>Ý nghĩa</a:t>
            </a:r>
            <a:endParaRPr lang="en-US" dirty="0"/>
          </a:p>
          <a:p>
            <a:r>
              <a:rPr lang="vi-VN" b="1" dirty="0"/>
              <a:t>Foreign name space</a:t>
            </a:r>
            <a:r>
              <a:rPr lang="en-US" b="1" dirty="0"/>
              <a:t>	</a:t>
            </a:r>
            <a:r>
              <a:rPr lang="vi-VN" dirty="0"/>
              <a:t>Không gian tên bên ngoài cần được truy cập</a:t>
            </a:r>
            <a:endParaRPr lang="en-US" dirty="0"/>
          </a:p>
          <a:p>
            <a:r>
              <a:rPr lang="vi-VN" b="1" dirty="0"/>
              <a:t>Mount point</a:t>
            </a:r>
            <a:r>
              <a:rPr lang="en-US" b="1" dirty="0"/>
              <a:t>		</a:t>
            </a:r>
            <a:r>
              <a:rPr lang="vi-VN" dirty="0"/>
              <a:t>Node trong </a:t>
            </a:r>
            <a:r>
              <a:rPr lang="vi-VN" b="1" dirty="0"/>
              <a:t>không gian tên hiện tại</a:t>
            </a:r>
            <a:r>
              <a:rPr lang="vi-VN" dirty="0"/>
              <a:t>, chứa thông tin của không gian ngoài</a:t>
            </a:r>
            <a:endParaRPr lang="en-US" dirty="0"/>
          </a:p>
          <a:p>
            <a:r>
              <a:rPr lang="vi-VN" b="1" dirty="0"/>
              <a:t>Mounting point</a:t>
            </a:r>
            <a:r>
              <a:rPr lang="en-US" b="1" dirty="0"/>
              <a:t>	</a:t>
            </a:r>
            <a:r>
              <a:rPr lang="vi-VN" dirty="0"/>
              <a:t>Node trong </a:t>
            </a:r>
            <a:r>
              <a:rPr lang="vi-VN" b="1" dirty="0"/>
              <a:t>foreign name space</a:t>
            </a:r>
            <a:r>
              <a:rPr lang="vi-VN" dirty="0"/>
              <a:t> nơi ta bắt đầu tiếp tục giải tên</a:t>
            </a:r>
          </a:p>
          <a:p>
            <a:endParaRPr lang="en-US" b="1" dirty="0"/>
          </a:p>
          <a:p>
            <a:r>
              <a:rPr lang="vi-VN" b="1" dirty="0"/>
              <a:t>Mounting qua mạng (Mounting across a network):</a:t>
            </a:r>
          </a:p>
          <a:p>
            <a:r>
              <a:rPr lang="vi-VN" dirty="0"/>
              <a:t>Khi mounting diễn ra </a:t>
            </a:r>
            <a:r>
              <a:rPr lang="vi-VN" b="1" dirty="0"/>
              <a:t>giữa các máy tính khác nhau (tức là trong môi trường phân tán)</a:t>
            </a:r>
            <a:r>
              <a:rPr lang="vi-VN" dirty="0"/>
              <a:t>, bạn cần có thêm </a:t>
            </a:r>
            <a:r>
              <a:rPr lang="vi-VN" b="1" dirty="0"/>
              <a:t>thông tin để truy cập từ xa</a:t>
            </a:r>
            <a:r>
              <a:rPr lang="vi-VN" dirty="0"/>
              <a:t>:</a:t>
            </a:r>
          </a:p>
          <a:p>
            <a:r>
              <a:rPr lang="vi-VN" b="1" dirty="0"/>
              <a:t>Những gì bạn cần:</a:t>
            </a:r>
          </a:p>
          <a:p>
            <a:pPr>
              <a:buFont typeface="+mj-lt"/>
              <a:buAutoNum type="arabicPeriod"/>
            </a:pPr>
            <a:r>
              <a:rPr lang="vi-VN" b="1" dirty="0"/>
              <a:t>Tên giao thức truy cập (Access protocol)</a:t>
            </a:r>
            <a:br>
              <a:rPr lang="vi-VN" dirty="0"/>
            </a:br>
            <a:r>
              <a:rPr lang="vi-VN" dirty="0"/>
              <a:t>→ Ví dụ: nfs, ftp, http</a:t>
            </a:r>
            <a:br>
              <a:rPr lang="vi-VN" dirty="0"/>
            </a:br>
            <a:r>
              <a:rPr lang="vi-VN" dirty="0"/>
              <a:t>→ Giải ra một </a:t>
            </a:r>
            <a:r>
              <a:rPr lang="vi-VN" b="1" dirty="0"/>
              <a:t>phần mềm</a:t>
            </a:r>
            <a:r>
              <a:rPr lang="vi-VN" dirty="0"/>
              <a:t> hoặc </a:t>
            </a:r>
            <a:r>
              <a:rPr lang="vi-VN" b="1" dirty="0"/>
              <a:t>thư viện</a:t>
            </a:r>
            <a:r>
              <a:rPr lang="vi-VN" dirty="0"/>
              <a:t> để giao tiếp với server</a:t>
            </a:r>
          </a:p>
          <a:p>
            <a:pPr>
              <a:buFont typeface="+mj-lt"/>
              <a:buAutoNum type="arabicPeriod"/>
            </a:pPr>
            <a:r>
              <a:rPr lang="vi-VN" b="1" dirty="0"/>
              <a:t>Tên máy chủ (Server name)</a:t>
            </a:r>
            <a:br>
              <a:rPr lang="vi-VN" dirty="0"/>
            </a:br>
            <a:r>
              <a:rPr lang="vi-VN" dirty="0"/>
              <a:t>→ Ví dụ: flits.cs.vu.nl</a:t>
            </a:r>
            <a:br>
              <a:rPr lang="vi-VN" dirty="0"/>
            </a:br>
            <a:r>
              <a:rPr lang="vi-VN" dirty="0"/>
              <a:t>→ Được giải ra </a:t>
            </a:r>
            <a:r>
              <a:rPr lang="vi-VN" b="1" dirty="0"/>
              <a:t>địa chỉ IP thông qua DNS</a:t>
            </a:r>
            <a:endParaRPr lang="vi-VN" dirty="0"/>
          </a:p>
          <a:p>
            <a:pPr>
              <a:buFont typeface="+mj-lt"/>
              <a:buAutoNum type="arabicPeriod"/>
            </a:pPr>
            <a:r>
              <a:rPr lang="vi-VN" b="1" dirty="0"/>
              <a:t>Tên mounting point trong foreign name space</a:t>
            </a:r>
            <a:br>
              <a:rPr lang="vi-VN" dirty="0"/>
            </a:br>
            <a:r>
              <a:rPr lang="vi-VN" dirty="0"/>
              <a:t>→ Ví dụ: /home/steen</a:t>
            </a:r>
            <a:br>
              <a:rPr lang="vi-VN" dirty="0"/>
            </a:br>
            <a:r>
              <a:rPr lang="vi-VN" dirty="0"/>
              <a:t>→ Là thư mục gốc nơi bạn sẽ tiếp tục truy cập</a:t>
            </a:r>
          </a:p>
          <a:p>
            <a:r>
              <a:rPr lang="en-US" dirty="0"/>
              <a:t>* </a:t>
            </a:r>
            <a:r>
              <a:rPr lang="vi-VN" dirty="0"/>
              <a:t>Trong hệ thống Unix thông thường (không phân tán), bạn </a:t>
            </a:r>
            <a:r>
              <a:rPr lang="vi-VN" b="1" dirty="0"/>
              <a:t>không cần</a:t>
            </a:r>
            <a:r>
              <a:rPr lang="vi-VN" dirty="0"/>
              <a:t> 3 thông tin này vì mọi thứ nằm trên cùng một máy.</a:t>
            </a:r>
          </a:p>
          <a:p>
            <a:endParaRPr lang="en-US" b="1" dirty="0"/>
          </a:p>
          <a:p>
            <a:r>
              <a:rPr lang="vi-VN" b="1" dirty="0"/>
              <a:t>Ví dụ minh họa:</a:t>
            </a:r>
          </a:p>
          <a:p>
            <a:r>
              <a:rPr lang="vi-VN" dirty="0"/>
              <a:t>Giả sử bạn dùng máy tính </a:t>
            </a:r>
            <a:r>
              <a:rPr lang="vi-VN" b="1" dirty="0"/>
              <a:t>horton</a:t>
            </a:r>
            <a:r>
              <a:rPr lang="vi-VN" dirty="0"/>
              <a:t> (client) và muốn truy cập thư mục </a:t>
            </a:r>
            <a:r>
              <a:rPr lang="vi-VN" b="1" dirty="0"/>
              <a:t>/home/steen</a:t>
            </a:r>
            <a:r>
              <a:rPr lang="vi-VN" dirty="0"/>
              <a:t> trên máy chủ </a:t>
            </a:r>
            <a:r>
              <a:rPr lang="vi-VN" b="1" dirty="0"/>
              <a:t>flits.cs.vu.nl</a:t>
            </a:r>
            <a:r>
              <a:rPr lang="vi-VN" dirty="0"/>
              <a:t> qua giao thức NFS.</a:t>
            </a:r>
          </a:p>
          <a:p>
            <a:pPr>
              <a:buFont typeface="Arial" panose="020B0604020202020204" pitchFamily="34" charset="0"/>
              <a:buChar char="•"/>
            </a:pPr>
            <a:r>
              <a:rPr lang="vi-VN" dirty="0"/>
              <a:t>Bạn mount thư mục từ xa vào /remote/vu trên máy mình.</a:t>
            </a:r>
          </a:p>
          <a:p>
            <a:pPr>
              <a:buFont typeface="Arial" panose="020B0604020202020204" pitchFamily="34" charset="0"/>
              <a:buChar char="•"/>
            </a:pPr>
            <a:r>
              <a:rPr lang="vi-VN" dirty="0"/>
              <a:t>/remote/vu trở thành </a:t>
            </a:r>
            <a:r>
              <a:rPr lang="vi-VN" b="1" dirty="0"/>
              <a:t>mount point</a:t>
            </a:r>
            <a:r>
              <a:rPr lang="vi-VN" dirty="0"/>
              <a:t> chứa URL: nfs://flits.cs.vu.nl/home/steen.</a:t>
            </a:r>
          </a:p>
          <a:p>
            <a:pPr>
              <a:buFont typeface="Arial" panose="020B0604020202020204" pitchFamily="34" charset="0"/>
              <a:buChar char="•"/>
            </a:pPr>
            <a:r>
              <a:rPr lang="vi-VN" dirty="0"/>
              <a:t>Khi bạn chạy:</a:t>
            </a:r>
          </a:p>
          <a:p>
            <a:pPr rtl="0">
              <a:buFont typeface="Arial" panose="020B0604020202020204" pitchFamily="34" charset="0"/>
              <a:buNone/>
            </a:pPr>
            <a:r>
              <a:rPr lang="vi-VN" dirty="0"/>
              <a:t>horton$ cd /remote/vu</a:t>
            </a:r>
            <a:endParaRPr lang="en-US" dirty="0"/>
          </a:p>
          <a:p>
            <a:pPr rtl="0">
              <a:buFont typeface="Arial" panose="020B0604020202020204" pitchFamily="34" charset="0"/>
              <a:buNone/>
            </a:pPr>
            <a:r>
              <a:rPr lang="vi-VN" dirty="0"/>
              <a:t>horton$ ls -l </a:t>
            </a:r>
          </a:p>
          <a:p>
            <a:pPr>
              <a:buFont typeface="Arial" panose="020B0604020202020204" pitchFamily="34" charset="0"/>
              <a:buChar char="•"/>
            </a:pPr>
            <a:r>
              <a:rPr lang="vi-VN" dirty="0"/>
              <a:t>→ Máy tự động liên lạc với máy chủ từ xa qua NFS → truy cập /home/steen.</a:t>
            </a:r>
          </a:p>
          <a:p>
            <a:r>
              <a:rPr lang="vi-VN" b="1" dirty="0"/>
              <a:t>Người dùng không cần biết chi tiết kỹ thuật</a:t>
            </a:r>
            <a:r>
              <a:rPr lang="vi-VN" dirty="0"/>
              <a:t> – họ chỉ thấy như thể /remote/vu là một phần bình thường của hệ thống tập tin.</a:t>
            </a:r>
          </a:p>
          <a:p>
            <a:endParaRPr lang="en-US" b="1" dirty="0"/>
          </a:p>
          <a:p>
            <a:r>
              <a:rPr lang="vi-VN" b="1" dirty="0"/>
              <a:t>Tóm tắt:</a:t>
            </a:r>
          </a:p>
          <a:p>
            <a:r>
              <a:rPr lang="vi-VN" dirty="0"/>
              <a:t>Đặc điểm</a:t>
            </a:r>
            <a:r>
              <a:rPr lang="en-US" dirty="0"/>
              <a:t>		</a:t>
            </a:r>
            <a:r>
              <a:rPr lang="vi-VN" dirty="0"/>
              <a:t>Mounting (Gắn kết không gian tên)</a:t>
            </a:r>
            <a:endParaRPr lang="en-US" dirty="0"/>
          </a:p>
          <a:p>
            <a:r>
              <a:rPr lang="vi-VN" dirty="0"/>
              <a:t>Mục tiêu</a:t>
            </a:r>
            <a:r>
              <a:rPr lang="en-US" dirty="0"/>
              <a:t>		</a:t>
            </a:r>
            <a:r>
              <a:rPr lang="vi-VN" dirty="0"/>
              <a:t>Truy cập không gian tên khác như thể là một phần cục bộ</a:t>
            </a:r>
            <a:endParaRPr lang="en-US" dirty="0"/>
          </a:p>
          <a:p>
            <a:r>
              <a:rPr lang="vi-VN" dirty="0"/>
              <a:t>Kỹ thuật</a:t>
            </a:r>
            <a:r>
              <a:rPr lang="en-US" dirty="0"/>
              <a:t>		</a:t>
            </a:r>
            <a:r>
              <a:rPr lang="vi-VN" dirty="0"/>
              <a:t>Gắn node </a:t>
            </a:r>
            <a:r>
              <a:rPr lang="en-US" dirty="0" err="1"/>
              <a:t>ngoại</a:t>
            </a:r>
            <a:r>
              <a:rPr lang="vi-VN" dirty="0"/>
              <a:t> vào node hiện tại</a:t>
            </a:r>
            <a:endParaRPr lang="en-US" dirty="0"/>
          </a:p>
          <a:p>
            <a:r>
              <a:rPr lang="vi-VN" dirty="0"/>
              <a:t>Có </a:t>
            </a:r>
            <a:r>
              <a:rPr lang="en-US" dirty="0" err="1"/>
              <a:t>trong</a:t>
            </a:r>
            <a:r>
              <a:rPr lang="en-US" dirty="0"/>
              <a:t> </a:t>
            </a:r>
            <a:r>
              <a:rPr lang="en-US" dirty="0" err="1"/>
              <a:t>suốt</a:t>
            </a:r>
            <a:r>
              <a:rPr lang="vi-VN" dirty="0"/>
              <a:t> không?</a:t>
            </a:r>
            <a:r>
              <a:rPr lang="en-US" dirty="0"/>
              <a:t>	</a:t>
            </a:r>
            <a:r>
              <a:rPr lang="vi-VN" dirty="0"/>
              <a:t>Có – người dùng không biết có sự khác biệt</a:t>
            </a:r>
            <a:endParaRPr lang="en-US" dirty="0"/>
          </a:p>
          <a:p>
            <a:r>
              <a:rPr lang="vi-VN" dirty="0"/>
              <a:t>Trong mạng</a:t>
            </a:r>
            <a:r>
              <a:rPr lang="en-US" dirty="0"/>
              <a:t>		</a:t>
            </a:r>
            <a:r>
              <a:rPr lang="vi-VN" dirty="0"/>
              <a:t>Cần thêm: giao thức, tên server, tên node trong foreign space</a:t>
            </a:r>
            <a:r>
              <a:rPr lang="en-US" dirty="0"/>
              <a:t> (</a:t>
            </a:r>
            <a:r>
              <a:rPr lang="en-US" dirty="0" err="1"/>
              <a:t>không</a:t>
            </a:r>
            <a:r>
              <a:rPr lang="en-US" dirty="0"/>
              <a:t> </a:t>
            </a:r>
            <a:r>
              <a:rPr lang="en-US" dirty="0" err="1"/>
              <a:t>gian</a:t>
            </a:r>
            <a:r>
              <a:rPr lang="en-US" dirty="0"/>
              <a:t> </a:t>
            </a:r>
            <a:r>
              <a:rPr lang="en-US" dirty="0" err="1"/>
              <a:t>ngoại</a:t>
            </a:r>
            <a:r>
              <a:rPr lang="en-US" dirty="0"/>
              <a:t>)</a:t>
            </a:r>
            <a:endParaRPr lang="vi-VN" dirty="0"/>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37</a:t>
            </a:fld>
            <a:endParaRPr lang="en-US"/>
          </a:p>
        </p:txBody>
      </p:sp>
    </p:spTree>
    <p:extLst>
      <p:ext uri="{BB962C8B-B14F-4D97-AF65-F5344CB8AC3E}">
        <p14:creationId xmlns:p14="http://schemas.microsoft.com/office/powerpoint/2010/main" val="3230385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Gắn kết không gian tên trong hệ thống phân tán</a:t>
            </a:r>
          </a:p>
          <a:p>
            <a:endParaRPr lang="en-US" b="1" dirty="0"/>
          </a:p>
          <a:p>
            <a:r>
              <a:rPr lang="vi-VN" b="1" dirty="0"/>
              <a:t>Mục tiêu của slide:</a:t>
            </a:r>
          </a:p>
          <a:p>
            <a:r>
              <a:rPr lang="vi-VN" dirty="0"/>
              <a:t>Giải thích cách mà một </a:t>
            </a:r>
            <a:r>
              <a:rPr lang="vi-VN" b="1" dirty="0"/>
              <a:t>máy tính A</a:t>
            </a:r>
            <a:r>
              <a:rPr lang="vi-VN" dirty="0"/>
              <a:t> (client) có thể </a:t>
            </a:r>
            <a:r>
              <a:rPr lang="vi-VN" b="1" dirty="0"/>
              <a:t>truy cập một phần không gian tên</a:t>
            </a:r>
            <a:r>
              <a:rPr lang="vi-VN" dirty="0"/>
              <a:t> nằm trên </a:t>
            </a:r>
            <a:r>
              <a:rPr lang="vi-VN" b="1" dirty="0"/>
              <a:t>máy tính B</a:t>
            </a:r>
            <a:r>
              <a:rPr lang="vi-VN" dirty="0"/>
              <a:t> (server từ xa), </a:t>
            </a:r>
            <a:r>
              <a:rPr lang="vi-VN" b="1" dirty="0"/>
              <a:t>như thể nó là một phần của hệ thống tập tin cục bộ</a:t>
            </a:r>
            <a:r>
              <a:rPr lang="vi-VN" dirty="0"/>
              <a:t>.</a:t>
            </a:r>
          </a:p>
          <a:p>
            <a:endParaRPr lang="en-US" b="1" dirty="0"/>
          </a:p>
          <a:p>
            <a:r>
              <a:rPr lang="vi-VN" b="1" dirty="0"/>
              <a:t>Giải thích hình vẽ:</a:t>
            </a:r>
          </a:p>
          <a:p>
            <a:r>
              <a:rPr lang="en-US" b="1" dirty="0"/>
              <a:t>- </a:t>
            </a:r>
            <a:r>
              <a:rPr lang="vi-VN" b="1" dirty="0"/>
              <a:t>Bên trái: Machine A (Client)</a:t>
            </a:r>
          </a:p>
          <a:p>
            <a:pPr>
              <a:buFont typeface="Arial" panose="020B0604020202020204" pitchFamily="34" charset="0"/>
              <a:buChar char="•"/>
            </a:pPr>
            <a:r>
              <a:rPr lang="vi-VN" dirty="0"/>
              <a:t>Đây là </a:t>
            </a:r>
            <a:r>
              <a:rPr lang="vi-VN" b="1" dirty="0"/>
              <a:t>máy người dùng</a:t>
            </a:r>
            <a:r>
              <a:rPr lang="vi-VN" dirty="0"/>
              <a:t>, ví dụ như laptop.</a:t>
            </a:r>
          </a:p>
          <a:p>
            <a:pPr>
              <a:buFont typeface="Arial" panose="020B0604020202020204" pitchFamily="34" charset="0"/>
              <a:buChar char="•"/>
            </a:pPr>
            <a:r>
              <a:rPr lang="vi-VN" dirty="0"/>
              <a:t>Có một thư mục /remote/vu, chính là </a:t>
            </a:r>
            <a:r>
              <a:rPr lang="vi-VN" b="1" dirty="0"/>
              <a:t>mount point</a:t>
            </a:r>
            <a:r>
              <a:rPr lang="vi-VN" dirty="0"/>
              <a:t> – nơi gắn kết với không gian tên từ xa.</a:t>
            </a:r>
          </a:p>
          <a:p>
            <a:pPr>
              <a:buFont typeface="Arial" panose="020B0604020202020204" pitchFamily="34" charset="0"/>
              <a:buChar char="•"/>
            </a:pPr>
            <a:r>
              <a:rPr lang="vi-VN" dirty="0"/>
              <a:t>/remote/vu chứa một </a:t>
            </a:r>
            <a:r>
              <a:rPr lang="vi-VN" b="1" dirty="0"/>
              <a:t>đường dẫn URL</a:t>
            </a:r>
            <a:r>
              <a:rPr lang="vi-VN" dirty="0"/>
              <a:t>:</a:t>
            </a:r>
            <a:br>
              <a:rPr lang="vi-VN" dirty="0"/>
            </a:br>
            <a:r>
              <a:rPr lang="vi-VN" dirty="0"/>
              <a:t>→ "nfs://flits.cs.vu.nl/home/steen"</a:t>
            </a:r>
            <a:br>
              <a:rPr lang="vi-VN" dirty="0"/>
            </a:br>
            <a:r>
              <a:rPr lang="vi-VN" dirty="0"/>
              <a:t>→ Cho biết:</a:t>
            </a:r>
          </a:p>
          <a:p>
            <a:pPr marL="742950" lvl="1" indent="-285750">
              <a:buFont typeface="Arial" panose="020B0604020202020204" pitchFamily="34" charset="0"/>
              <a:buChar char="•"/>
            </a:pPr>
            <a:r>
              <a:rPr lang="vi-VN" b="1" dirty="0"/>
              <a:t>nfs</a:t>
            </a:r>
            <a:r>
              <a:rPr lang="vi-VN" dirty="0"/>
              <a:t> là giao thức truy cập.</a:t>
            </a:r>
          </a:p>
          <a:p>
            <a:pPr marL="742950" lvl="1" indent="-285750">
              <a:buFont typeface="Arial" panose="020B0604020202020204" pitchFamily="34" charset="0"/>
              <a:buChar char="•"/>
            </a:pPr>
            <a:r>
              <a:rPr lang="vi-VN" b="1" dirty="0"/>
              <a:t>flits.cs.vu.nl</a:t>
            </a:r>
            <a:r>
              <a:rPr lang="vi-VN" dirty="0"/>
              <a:t> là tên máy chủ.</a:t>
            </a:r>
          </a:p>
          <a:p>
            <a:pPr marL="742950" lvl="1" indent="-285750">
              <a:buFont typeface="Arial" panose="020B0604020202020204" pitchFamily="34" charset="0"/>
              <a:buChar char="•"/>
            </a:pPr>
            <a:r>
              <a:rPr lang="vi-VN" b="1" dirty="0"/>
              <a:t>/home/steen</a:t>
            </a:r>
            <a:r>
              <a:rPr lang="vi-VN" dirty="0"/>
              <a:t> là thư mục cần truy cập ở máy chủ.</a:t>
            </a:r>
          </a:p>
          <a:p>
            <a:r>
              <a:rPr lang="vi-VN" dirty="0"/>
              <a:t>Khi người dùng truy cập /remote/vu, hệ thống sẽ:</a:t>
            </a:r>
          </a:p>
          <a:p>
            <a:pPr>
              <a:buFont typeface="+mj-lt"/>
              <a:buAutoNum type="arabicPeriod"/>
            </a:pPr>
            <a:r>
              <a:rPr lang="vi-VN" dirty="0"/>
              <a:t>Nhận ra đây là </a:t>
            </a:r>
            <a:r>
              <a:rPr lang="vi-VN" b="1" dirty="0"/>
              <a:t>một symbolic link kiểu đặc biệt</a:t>
            </a:r>
            <a:r>
              <a:rPr lang="vi-VN" dirty="0"/>
              <a:t> (dạng URL).</a:t>
            </a:r>
          </a:p>
          <a:p>
            <a:pPr>
              <a:buFont typeface="+mj-lt"/>
              <a:buAutoNum type="arabicPeriod"/>
            </a:pPr>
            <a:r>
              <a:rPr lang="vi-VN" dirty="0"/>
              <a:t>Kích hoạt </a:t>
            </a:r>
            <a:r>
              <a:rPr lang="vi-VN" b="1" dirty="0"/>
              <a:t>giao thức NFS</a:t>
            </a:r>
            <a:r>
              <a:rPr lang="vi-VN" dirty="0"/>
              <a:t>, liên hệ máy flits.cs.vu.nl qua mạng.</a:t>
            </a:r>
          </a:p>
          <a:p>
            <a:pPr>
              <a:buFont typeface="+mj-lt"/>
              <a:buAutoNum type="arabicPeriod"/>
            </a:pPr>
            <a:r>
              <a:rPr lang="vi-VN" dirty="0"/>
              <a:t>Truy cập tiếp đến thư mục /home/steen bên máy B.</a:t>
            </a:r>
          </a:p>
          <a:p>
            <a:r>
              <a:rPr lang="en-US" b="1" dirty="0"/>
              <a:t>- </a:t>
            </a:r>
            <a:r>
              <a:rPr lang="vi-VN" b="1" dirty="0"/>
              <a:t>Bên phải: Machine B (Server)</a:t>
            </a:r>
          </a:p>
          <a:p>
            <a:pPr>
              <a:buFont typeface="Arial" panose="020B0604020202020204" pitchFamily="34" charset="0"/>
              <a:buChar char="•"/>
            </a:pPr>
            <a:r>
              <a:rPr lang="vi-VN" dirty="0"/>
              <a:t>Đây là </a:t>
            </a:r>
            <a:r>
              <a:rPr lang="vi-VN" b="1" dirty="0"/>
              <a:t>máy chứa không gian tên cần được gắn kết</a:t>
            </a:r>
            <a:r>
              <a:rPr lang="vi-VN" dirty="0"/>
              <a:t> – gọi là </a:t>
            </a:r>
            <a:r>
              <a:rPr lang="vi-VN" b="1" dirty="0"/>
              <a:t>foreign name space</a:t>
            </a:r>
            <a:r>
              <a:rPr lang="vi-VN" dirty="0"/>
              <a:t>.</a:t>
            </a:r>
          </a:p>
          <a:p>
            <a:pPr>
              <a:buFont typeface="Arial" panose="020B0604020202020204" pitchFamily="34" charset="0"/>
              <a:buChar char="•"/>
            </a:pPr>
            <a:r>
              <a:rPr lang="vi-VN" dirty="0"/>
              <a:t>Trong thư mục /home/steen, có nhiều file, bao gồm cả file mbox.</a:t>
            </a:r>
          </a:p>
          <a:p>
            <a:endParaRPr lang="en-US" b="1" dirty="0"/>
          </a:p>
          <a:p>
            <a:r>
              <a:rPr lang="vi-VN" b="1" dirty="0"/>
              <a:t>Quy trình name resolution</a:t>
            </a:r>
            <a:r>
              <a:rPr lang="en-US" b="1" dirty="0"/>
              <a:t> (</a:t>
            </a:r>
            <a:r>
              <a:rPr lang="en-US" b="1" dirty="0" err="1"/>
              <a:t>phân</a:t>
            </a:r>
            <a:r>
              <a:rPr lang="en-US" b="1" dirty="0"/>
              <a:t> </a:t>
            </a:r>
            <a:r>
              <a:rPr lang="en-US" b="1" dirty="0" err="1"/>
              <a:t>giải</a:t>
            </a:r>
            <a:r>
              <a:rPr lang="en-US" b="1" dirty="0"/>
              <a:t> </a:t>
            </a:r>
            <a:r>
              <a:rPr lang="en-US" b="1" dirty="0" err="1"/>
              <a:t>tên</a:t>
            </a:r>
            <a:r>
              <a:rPr lang="en-US" b="1" dirty="0"/>
              <a:t>)</a:t>
            </a:r>
            <a:r>
              <a:rPr lang="vi-VN" b="1" dirty="0"/>
              <a:t> khi truy cập /remote/vu/mbox:</a:t>
            </a:r>
          </a:p>
          <a:p>
            <a:pPr>
              <a:buFont typeface="+mj-lt"/>
              <a:buAutoNum type="arabicPeriod"/>
            </a:pPr>
            <a:r>
              <a:rPr lang="vi-VN" dirty="0"/>
              <a:t>Bắt đầu từ root / trên máy A.</a:t>
            </a:r>
          </a:p>
          <a:p>
            <a:pPr>
              <a:buFont typeface="+mj-lt"/>
              <a:buAutoNum type="arabicPeriod"/>
            </a:pPr>
            <a:r>
              <a:rPr lang="vi-VN" dirty="0"/>
              <a:t>Truy cập /remote, rồi đến /remote/vu.</a:t>
            </a:r>
          </a:p>
          <a:p>
            <a:pPr>
              <a:buFont typeface="+mj-lt"/>
              <a:buAutoNum type="arabicPeriod"/>
            </a:pPr>
            <a:r>
              <a:rPr lang="vi-VN" dirty="0"/>
              <a:t>Gặp URL → liên hệ qua mạng với máy B.</a:t>
            </a:r>
          </a:p>
          <a:p>
            <a:pPr>
              <a:buFont typeface="+mj-lt"/>
              <a:buAutoNum type="arabicPeriod"/>
            </a:pPr>
            <a:r>
              <a:rPr lang="vi-VN" dirty="0"/>
              <a:t>Truy cập /home/steen/mbox trên máy B như thể nó nằm cục bộ.</a:t>
            </a:r>
          </a:p>
          <a:p>
            <a:endParaRPr lang="en-US" b="1" dirty="0"/>
          </a:p>
          <a:p>
            <a:r>
              <a:rPr lang="vi-VN" b="1" dirty="0"/>
              <a:t>Tóm tắt:</a:t>
            </a:r>
          </a:p>
          <a:p>
            <a:r>
              <a:rPr lang="vi-VN" dirty="0"/>
              <a:t>Thành phần</a:t>
            </a:r>
            <a:r>
              <a:rPr lang="en-US" dirty="0"/>
              <a:t>		</a:t>
            </a:r>
            <a:r>
              <a:rPr lang="vi-VN" dirty="0"/>
              <a:t>Vai trò trong hình</a:t>
            </a:r>
            <a:endParaRPr lang="en-US" dirty="0"/>
          </a:p>
          <a:p>
            <a:r>
              <a:rPr lang="vi-VN" b="1" dirty="0"/>
              <a:t>Mount point</a:t>
            </a:r>
            <a:r>
              <a:rPr lang="en-US" b="1" dirty="0"/>
              <a:t>		</a:t>
            </a:r>
            <a:r>
              <a:rPr lang="vi-VN" dirty="0"/>
              <a:t>/remote/vu trên máy A – nơi bắt đầu chuyển hướng truy cập</a:t>
            </a:r>
            <a:endParaRPr lang="en-US" dirty="0"/>
          </a:p>
          <a:p>
            <a:r>
              <a:rPr lang="vi-VN" b="1" dirty="0"/>
              <a:t>Foreign name space</a:t>
            </a:r>
            <a:r>
              <a:rPr lang="en-US" b="1" dirty="0"/>
              <a:t>	</a:t>
            </a:r>
            <a:r>
              <a:rPr lang="vi-VN" dirty="0"/>
              <a:t>Hệ thống file tại máy B chứa /home/steen</a:t>
            </a:r>
            <a:endParaRPr lang="en-US" dirty="0"/>
          </a:p>
          <a:p>
            <a:r>
              <a:rPr lang="vi-VN" b="1" dirty="0"/>
              <a:t>Mounting point</a:t>
            </a:r>
            <a:r>
              <a:rPr lang="en-US" b="1" dirty="0"/>
              <a:t>	</a:t>
            </a:r>
            <a:r>
              <a:rPr lang="vi-VN" dirty="0"/>
              <a:t>/home/steen – nơi bắt đầu tiếp tục giải tên tại máy B</a:t>
            </a:r>
            <a:endParaRPr lang="en-US" dirty="0"/>
          </a:p>
          <a:p>
            <a:r>
              <a:rPr lang="vi-VN" b="1" dirty="0"/>
              <a:t>Giao thức truy cập</a:t>
            </a:r>
            <a:r>
              <a:rPr lang="en-US" b="1" dirty="0"/>
              <a:t>	</a:t>
            </a:r>
            <a:r>
              <a:rPr lang="vi-VN" dirty="0"/>
              <a:t>nfs – cho phép kết nối và truyền file giữa hai máy</a:t>
            </a:r>
          </a:p>
          <a:p>
            <a:endParaRPr lang="en-US" b="1" dirty="0"/>
          </a:p>
          <a:p>
            <a:r>
              <a:rPr lang="vi-VN" b="1" dirty="0"/>
              <a:t>Lợi ích:</a:t>
            </a:r>
          </a:p>
          <a:p>
            <a:pPr>
              <a:buFont typeface="Arial" panose="020B0604020202020204" pitchFamily="34" charset="0"/>
              <a:buChar char="•"/>
            </a:pPr>
            <a:r>
              <a:rPr lang="vi-VN" b="1" dirty="0"/>
              <a:t>Tính minh bạch</a:t>
            </a:r>
            <a:r>
              <a:rPr lang="vi-VN" dirty="0"/>
              <a:t>: Người dùng không cần biết file đến từ máy khác.</a:t>
            </a:r>
          </a:p>
          <a:p>
            <a:pPr>
              <a:buFont typeface="Arial" panose="020B0604020202020204" pitchFamily="34" charset="0"/>
              <a:buChar char="•"/>
            </a:pPr>
            <a:r>
              <a:rPr lang="vi-VN" b="1" dirty="0"/>
              <a:t>Mở rộng linh hoạt</a:t>
            </a:r>
            <a:r>
              <a:rPr lang="vi-VN" dirty="0"/>
              <a:t>: Dễ dàng chia sẻ tài nguyên trong mạng nội bộ hoặc Internet.</a:t>
            </a:r>
          </a:p>
          <a:p>
            <a:pPr>
              <a:buFont typeface="Arial" panose="020B0604020202020204" pitchFamily="34" charset="0"/>
              <a:buChar char="•"/>
            </a:pPr>
            <a:r>
              <a:rPr lang="vi-VN" b="1" dirty="0"/>
              <a:t>Ứng dụng thực tế</a:t>
            </a:r>
            <a:r>
              <a:rPr lang="vi-VN" dirty="0"/>
              <a:t>: Dùng trong mạng công ty, phòng lab, dịch vụ cloud,...</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38</a:t>
            </a:fld>
            <a:endParaRPr lang="en-US"/>
          </a:p>
        </p:txBody>
      </p:sp>
    </p:spTree>
    <p:extLst>
      <p:ext uri="{BB962C8B-B14F-4D97-AF65-F5344CB8AC3E}">
        <p14:creationId xmlns:p14="http://schemas.microsoft.com/office/powerpoint/2010/main" val="1081871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Triển khai không gian tên trong hệ thống phân tán</a:t>
            </a:r>
          </a:p>
          <a:p>
            <a:r>
              <a:rPr lang="vi-VN" b="1" dirty="0"/>
              <a:t>Vấn đề cốt lõi:</a:t>
            </a:r>
          </a:p>
          <a:p>
            <a:r>
              <a:rPr lang="vi-VN" b="1" dirty="0"/>
              <a:t>Phân phối quy trình phân giải tên (name resolution)</a:t>
            </a:r>
            <a:r>
              <a:rPr lang="vi-VN" dirty="0"/>
              <a:t> và </a:t>
            </a:r>
            <a:r>
              <a:rPr lang="vi-VN" b="1" dirty="0"/>
              <a:t>quản lý không gian tên</a:t>
            </a:r>
            <a:r>
              <a:rPr lang="vi-VN" dirty="0"/>
              <a:t> trên </a:t>
            </a:r>
            <a:r>
              <a:rPr lang="vi-VN" b="1" dirty="0"/>
              <a:t>nhiều máy</a:t>
            </a:r>
            <a:r>
              <a:rPr lang="vi-VN" dirty="0"/>
              <a:t> bằng cách </a:t>
            </a:r>
            <a:r>
              <a:rPr lang="vi-VN" b="1" dirty="0"/>
              <a:t>phân phối các nút của đồ thị không gian tên (naming graph)</a:t>
            </a:r>
            <a:r>
              <a:rPr lang="vi-VN" dirty="0"/>
              <a:t>.</a:t>
            </a:r>
          </a:p>
          <a:p>
            <a:r>
              <a:rPr lang="vi-VN" dirty="0"/>
              <a:t>Đây là cách mà </a:t>
            </a:r>
            <a:r>
              <a:rPr lang="vi-VN" b="1" dirty="0"/>
              <a:t>tên (name)</a:t>
            </a:r>
            <a:r>
              <a:rPr lang="vi-VN" dirty="0"/>
              <a:t> như đường dẫn file hay địa chỉ Internet được quản lý và phân giải (tức là ánh xạ tên thành địa chỉ cụ thể – ví dụ: từ "ftp.cs.vu.nl" thành IP).</a:t>
            </a:r>
          </a:p>
          <a:p>
            <a:endParaRPr lang="en-US" b="1" dirty="0"/>
          </a:p>
          <a:p>
            <a:r>
              <a:rPr lang="vi-VN" b="1" dirty="0"/>
              <a:t>Ba tầng triển khai không gian tên:</a:t>
            </a:r>
          </a:p>
          <a:p>
            <a:r>
              <a:rPr lang="en-US" b="1" dirty="0"/>
              <a:t>1.</a:t>
            </a:r>
            <a:r>
              <a:rPr lang="vi-VN" b="1" dirty="0"/>
              <a:t> Tầng toàn cục (Global level):</a:t>
            </a:r>
          </a:p>
          <a:p>
            <a:pPr>
              <a:buFont typeface="Arial" panose="020B0604020202020204" pitchFamily="34" charset="0"/>
              <a:buChar char="•"/>
            </a:pPr>
            <a:r>
              <a:rPr lang="vi-VN" dirty="0"/>
              <a:t>Gồm các </a:t>
            </a:r>
            <a:r>
              <a:rPr lang="vi-VN" b="1" dirty="0"/>
              <a:t>nút thư mục cấp cao</a:t>
            </a:r>
            <a:r>
              <a:rPr lang="vi-VN" dirty="0"/>
              <a:t>, như </a:t>
            </a:r>
            <a:r>
              <a:rPr lang="vi-VN" b="1" dirty="0"/>
              <a:t>nút gốc (root)</a:t>
            </a:r>
            <a:r>
              <a:rPr lang="vi-VN" dirty="0"/>
              <a:t> và các </a:t>
            </a:r>
            <a:r>
              <a:rPr lang="vi-VN" b="1" dirty="0"/>
              <a:t>nút con trực tiếp của nó</a:t>
            </a:r>
            <a:r>
              <a:rPr lang="vi-VN" dirty="0"/>
              <a:t> (ví dụ: com, org, edu, nl trong DNS).</a:t>
            </a:r>
          </a:p>
          <a:p>
            <a:pPr>
              <a:buFont typeface="Arial" panose="020B0604020202020204" pitchFamily="34" charset="0"/>
              <a:buChar char="•"/>
            </a:pPr>
            <a:r>
              <a:rPr lang="vi-VN" dirty="0"/>
              <a:t>Các nút này thường mang tính </a:t>
            </a:r>
            <a:r>
              <a:rPr lang="vi-VN" b="1" dirty="0"/>
              <a:t>ổn định cao</a:t>
            </a:r>
            <a:r>
              <a:rPr lang="vi-VN" dirty="0"/>
              <a:t>, ít thay đổi.</a:t>
            </a:r>
          </a:p>
          <a:p>
            <a:pPr>
              <a:buFont typeface="Arial" panose="020B0604020202020204" pitchFamily="34" charset="0"/>
              <a:buChar char="•"/>
            </a:pPr>
            <a:r>
              <a:rPr lang="vi-VN" b="1" dirty="0"/>
              <a:t>Do nhiều tổ chức quản lý chung</a:t>
            </a:r>
            <a:r>
              <a:rPr lang="vi-VN" dirty="0"/>
              <a:t>, ví dụ như các tổ chức Internet toàn cầu (ICANN trong DNS).</a:t>
            </a:r>
          </a:p>
          <a:p>
            <a:pPr>
              <a:buFont typeface="Arial" panose="020B0604020202020204" pitchFamily="34" charset="0"/>
              <a:buChar char="•"/>
            </a:pPr>
            <a:r>
              <a:rPr lang="vi-VN" b="1" dirty="0"/>
              <a:t>Ví dụ:</a:t>
            </a:r>
            <a:r>
              <a:rPr lang="vi-VN" dirty="0"/>
              <a:t> Nút nl (Hà Lan), do tổ chức quản lý tên miền quốc gia NL điều hành.</a:t>
            </a:r>
          </a:p>
          <a:p>
            <a:r>
              <a:rPr lang="en-US" dirty="0"/>
              <a:t>* </a:t>
            </a:r>
            <a:r>
              <a:rPr lang="vi-VN" b="1" dirty="0"/>
              <a:t>Yêu cầu kỹ thuật:</a:t>
            </a:r>
            <a:endParaRPr lang="vi-VN" dirty="0"/>
          </a:p>
          <a:p>
            <a:pPr>
              <a:buFont typeface="Arial" panose="020B0604020202020204" pitchFamily="34" charset="0"/>
              <a:buChar char="•"/>
            </a:pPr>
            <a:r>
              <a:rPr lang="vi-VN" b="1" dirty="0"/>
              <a:t>Sẵn sàng cao (High availability)</a:t>
            </a:r>
            <a:r>
              <a:rPr lang="vi-VN" dirty="0"/>
              <a:t>: nếu máy chủ tên tầng này hỏng, toàn bộ quá trình phân giải có thể bị gián đoạn.</a:t>
            </a:r>
          </a:p>
          <a:p>
            <a:pPr>
              <a:buFont typeface="Arial" panose="020B0604020202020204" pitchFamily="34" charset="0"/>
              <a:buChar char="•"/>
            </a:pPr>
            <a:r>
              <a:rPr lang="vi-VN" b="1" dirty="0"/>
              <a:t>Hiệu suất cao</a:t>
            </a:r>
            <a:r>
              <a:rPr lang="vi-VN" dirty="0"/>
              <a:t>: sử dụng </a:t>
            </a:r>
            <a:r>
              <a:rPr lang="vi-VN" b="1" dirty="0"/>
              <a:t>bộ nhớ đệm (cache)</a:t>
            </a:r>
            <a:r>
              <a:rPr lang="vi-VN" dirty="0"/>
              <a:t> để tránh gọi lại quá nhiều.</a:t>
            </a:r>
          </a:p>
          <a:p>
            <a:pPr>
              <a:buFont typeface="Arial" panose="020B0604020202020204" pitchFamily="34" charset="0"/>
              <a:buChar char="•"/>
            </a:pPr>
            <a:r>
              <a:rPr lang="vi-VN" b="1" dirty="0"/>
              <a:t>Sử dụng lặp (iteration)</a:t>
            </a:r>
            <a:r>
              <a:rPr lang="vi-VN" dirty="0"/>
              <a:t> để giảm gánh nặng cho máy chủ.</a:t>
            </a:r>
          </a:p>
          <a:p>
            <a:endParaRPr lang="en-US" b="1" dirty="0"/>
          </a:p>
          <a:p>
            <a:r>
              <a:rPr lang="en-US" b="1" dirty="0"/>
              <a:t>2.</a:t>
            </a:r>
            <a:r>
              <a:rPr lang="vi-VN" b="1" dirty="0"/>
              <a:t> Tầng tổ chức (Administrational level):</a:t>
            </a:r>
          </a:p>
          <a:p>
            <a:pPr>
              <a:buFont typeface="Arial" panose="020B0604020202020204" pitchFamily="34" charset="0"/>
              <a:buChar char="•"/>
            </a:pPr>
            <a:r>
              <a:rPr lang="vi-VN" dirty="0"/>
              <a:t>Chứa các </a:t>
            </a:r>
            <a:r>
              <a:rPr lang="vi-VN" b="1" dirty="0"/>
              <a:t>nút thư mục trung gian</a:t>
            </a:r>
            <a:r>
              <a:rPr lang="vi-VN" dirty="0"/>
              <a:t>, thường </a:t>
            </a:r>
            <a:r>
              <a:rPr lang="vi-VN" b="1" dirty="0"/>
              <a:t>do một tổ chức đơn lẻ quản lý</a:t>
            </a:r>
            <a:r>
              <a:rPr lang="vi-VN" dirty="0"/>
              <a:t>.</a:t>
            </a:r>
          </a:p>
          <a:p>
            <a:pPr>
              <a:buFont typeface="Arial" panose="020B0604020202020204" pitchFamily="34" charset="0"/>
              <a:buChar char="•"/>
            </a:pPr>
            <a:r>
              <a:rPr lang="vi-VN" dirty="0"/>
              <a:t>Ví dụ: vu.cs, cs.vu.nl, sales.company.com...</a:t>
            </a:r>
          </a:p>
          <a:p>
            <a:pPr>
              <a:buFont typeface="Arial" panose="020B0604020202020204" pitchFamily="34" charset="0"/>
              <a:buChar char="•"/>
            </a:pPr>
            <a:r>
              <a:rPr lang="vi-VN" dirty="0"/>
              <a:t>Mỗi nhóm nút có thể </a:t>
            </a:r>
            <a:r>
              <a:rPr lang="vi-VN" b="1" dirty="0"/>
              <a:t>giao cho một nhóm quản trị viên riêng quản lý</a:t>
            </a:r>
            <a:r>
              <a:rPr lang="vi-VN" dirty="0"/>
              <a:t>.</a:t>
            </a:r>
          </a:p>
          <a:p>
            <a:r>
              <a:rPr lang="en-US" dirty="0"/>
              <a:t>* </a:t>
            </a:r>
            <a:r>
              <a:rPr lang="vi-VN" b="1" dirty="0"/>
              <a:t>Đặc điểm:</a:t>
            </a:r>
            <a:endParaRPr lang="vi-VN" dirty="0"/>
          </a:p>
          <a:p>
            <a:pPr>
              <a:buFont typeface="Arial" panose="020B0604020202020204" pitchFamily="34" charset="0"/>
              <a:buChar char="•"/>
            </a:pPr>
            <a:r>
              <a:rPr lang="vi-VN" dirty="0"/>
              <a:t>Tương đối ổn định nhưng </a:t>
            </a:r>
            <a:r>
              <a:rPr lang="vi-VN" b="1" dirty="0"/>
              <a:t>có thể thay đổi thường xuyên hơn tầng global</a:t>
            </a:r>
            <a:r>
              <a:rPr lang="vi-VN" dirty="0"/>
              <a:t> (ví dụ: thêm người dùng, thêm máy chủ).</a:t>
            </a:r>
          </a:p>
          <a:p>
            <a:pPr>
              <a:buFont typeface="Arial" panose="020B0604020202020204" pitchFamily="34" charset="0"/>
              <a:buChar char="•"/>
            </a:pPr>
            <a:r>
              <a:rPr lang="vi-VN" b="1" dirty="0"/>
              <a:t>Hiệu suất yêu cầu tốt hơn</a:t>
            </a:r>
            <a:r>
              <a:rPr lang="vi-VN" dirty="0"/>
              <a:t>: cần phân giải tên trong </a:t>
            </a:r>
            <a:r>
              <a:rPr lang="vi-VN" b="1" dirty="0"/>
              <a:t>vài mili-giây</a:t>
            </a:r>
            <a:r>
              <a:rPr lang="vi-VN" dirty="0"/>
              <a:t>, phục vụ nhiều người dùng nội bộ.</a:t>
            </a:r>
          </a:p>
          <a:p>
            <a:pPr>
              <a:buFont typeface="Arial" panose="020B0604020202020204" pitchFamily="34" charset="0"/>
              <a:buChar char="•"/>
            </a:pPr>
            <a:r>
              <a:rPr lang="vi-VN" b="1" dirty="0"/>
              <a:t>Khả năng sẵn sàng cao trong nội bộ</a:t>
            </a:r>
            <a:r>
              <a:rPr lang="vi-VN" dirty="0"/>
              <a:t> tổ chức là quan trọng.</a:t>
            </a:r>
          </a:p>
          <a:p>
            <a:endParaRPr lang="en-US" b="1" dirty="0"/>
          </a:p>
          <a:p>
            <a:r>
              <a:rPr lang="en-US" b="1" dirty="0"/>
              <a:t>3.</a:t>
            </a:r>
            <a:r>
              <a:rPr lang="vi-VN" b="1" dirty="0"/>
              <a:t> Tầng quản lý cục bộ (Managerial level):</a:t>
            </a:r>
          </a:p>
          <a:p>
            <a:pPr>
              <a:buFont typeface="Arial" panose="020B0604020202020204" pitchFamily="34" charset="0"/>
              <a:buChar char="•"/>
            </a:pPr>
            <a:r>
              <a:rPr lang="vi-VN" dirty="0"/>
              <a:t>Gồm các </a:t>
            </a:r>
            <a:r>
              <a:rPr lang="vi-VN" b="1" dirty="0"/>
              <a:t>nút thư mục thấp nhất</a:t>
            </a:r>
            <a:r>
              <a:rPr lang="vi-VN" dirty="0"/>
              <a:t> như:</a:t>
            </a:r>
          </a:p>
          <a:p>
            <a:pPr marL="742950" lvl="1" indent="-285750">
              <a:buFont typeface="Arial" panose="020B0604020202020204" pitchFamily="34" charset="0"/>
              <a:buChar char="•"/>
            </a:pPr>
            <a:r>
              <a:rPr lang="vi-VN" dirty="0"/>
              <a:t>Tên người dùng (/home/alice)</a:t>
            </a:r>
          </a:p>
          <a:p>
            <a:pPr marL="742950" lvl="1" indent="-285750">
              <a:buFont typeface="Arial" panose="020B0604020202020204" pitchFamily="34" charset="0"/>
              <a:buChar char="•"/>
            </a:pPr>
            <a:r>
              <a:rPr lang="vi-VN" dirty="0"/>
              <a:t>File chia sẻ (/bin/bash, /lib/libc.so)</a:t>
            </a:r>
          </a:p>
          <a:p>
            <a:pPr marL="742950" lvl="1" indent="-285750">
              <a:buFont typeface="Arial" panose="020B0604020202020204" pitchFamily="34" charset="0"/>
              <a:buChar char="•"/>
            </a:pPr>
            <a:r>
              <a:rPr lang="vi-VN" dirty="0"/>
              <a:t>Tài nguyên hệ thống nội bộ</a:t>
            </a:r>
          </a:p>
          <a:p>
            <a:pPr>
              <a:buFont typeface="Arial" panose="020B0604020202020204" pitchFamily="34" charset="0"/>
              <a:buChar char="•"/>
            </a:pPr>
            <a:r>
              <a:rPr lang="vi-VN" b="1" dirty="0"/>
              <a:t>Được quản lý bởi quản trị viên hoặc người dùng cuối</a:t>
            </a:r>
            <a:r>
              <a:rPr lang="vi-VN" dirty="0"/>
              <a:t>.</a:t>
            </a:r>
          </a:p>
          <a:p>
            <a:r>
              <a:rPr lang="en-US" dirty="0"/>
              <a:t>* </a:t>
            </a:r>
            <a:r>
              <a:rPr lang="vi-VN" b="1" dirty="0"/>
              <a:t>Đặc điểm:</a:t>
            </a:r>
            <a:endParaRPr lang="vi-VN" dirty="0"/>
          </a:p>
          <a:p>
            <a:pPr>
              <a:buFont typeface="Arial" panose="020B0604020202020204" pitchFamily="34" charset="0"/>
              <a:buChar char="•"/>
            </a:pPr>
            <a:r>
              <a:rPr lang="vi-VN" b="1" dirty="0"/>
              <a:t>Thay đổi thường xuyên</a:t>
            </a:r>
            <a:r>
              <a:rPr lang="vi-VN" dirty="0"/>
              <a:t>, do đó:</a:t>
            </a:r>
          </a:p>
          <a:p>
            <a:pPr marL="742950" lvl="1" indent="-285750">
              <a:buFont typeface="Arial" panose="020B0604020202020204" pitchFamily="34" charset="0"/>
              <a:buChar char="•"/>
            </a:pPr>
            <a:r>
              <a:rPr lang="vi-VN" b="1" dirty="0"/>
              <a:t>Caching ít hiệu quả</a:t>
            </a:r>
            <a:endParaRPr lang="vi-VN" dirty="0"/>
          </a:p>
          <a:p>
            <a:pPr marL="742950" lvl="1" indent="-285750">
              <a:buFont typeface="Arial" panose="020B0604020202020204" pitchFamily="34" charset="0"/>
              <a:buChar char="•"/>
            </a:pPr>
            <a:r>
              <a:rPr lang="vi-VN" dirty="0"/>
              <a:t>Cần </a:t>
            </a:r>
            <a:r>
              <a:rPr lang="vi-VN" b="1" dirty="0"/>
              <a:t>phản hồi tức thì</a:t>
            </a:r>
            <a:endParaRPr lang="vi-VN" dirty="0"/>
          </a:p>
          <a:p>
            <a:pPr>
              <a:buFont typeface="Arial" panose="020B0604020202020204" pitchFamily="34" charset="0"/>
              <a:buChar char="•"/>
            </a:pPr>
            <a:r>
              <a:rPr lang="vi-VN" dirty="0"/>
              <a:t>Có thể chấp nhận chỉ dùng </a:t>
            </a:r>
            <a:r>
              <a:rPr lang="vi-VN" b="1" dirty="0"/>
              <a:t>một máy chủ duy nhất</a:t>
            </a:r>
            <a:r>
              <a:rPr lang="vi-VN" dirty="0"/>
              <a:t>, dù có nguy cơ ngưng hoạt động tạm thời.</a:t>
            </a:r>
          </a:p>
          <a:p>
            <a:endParaRPr lang="en-US" b="1" dirty="0"/>
          </a:p>
          <a:p>
            <a:r>
              <a:rPr lang="vi-VN" b="1" dirty="0"/>
              <a:t>Tóm tắt vai trò các tầng:</a:t>
            </a:r>
          </a:p>
          <a:p>
            <a:r>
              <a:rPr lang="vi-VN" dirty="0"/>
              <a:t>Tầng</a:t>
            </a:r>
            <a:r>
              <a:rPr lang="en-US" dirty="0"/>
              <a:t>		</a:t>
            </a:r>
            <a:r>
              <a:rPr lang="vi-VN" dirty="0"/>
              <a:t>Đặc điểm chính</a:t>
            </a:r>
            <a:r>
              <a:rPr lang="en-US" dirty="0"/>
              <a:t>			</a:t>
            </a:r>
            <a:r>
              <a:rPr lang="vi-VN" dirty="0"/>
              <a:t>Ai quản lý</a:t>
            </a:r>
            <a:r>
              <a:rPr lang="en-US" dirty="0"/>
              <a:t>		</a:t>
            </a:r>
            <a:r>
              <a:rPr lang="vi-VN" dirty="0"/>
              <a:t>Đòi hỏi kỹ thuật</a:t>
            </a:r>
            <a:endParaRPr lang="en-US" dirty="0"/>
          </a:p>
          <a:p>
            <a:r>
              <a:rPr lang="vi-VN" b="1" dirty="0"/>
              <a:t>Global</a:t>
            </a:r>
            <a:r>
              <a:rPr lang="en-US" b="1" dirty="0"/>
              <a:t>		</a:t>
            </a:r>
            <a:r>
              <a:rPr lang="vi-VN" dirty="0"/>
              <a:t>Cấp cao, ổn định, nhiều tổ chức cùng quản lý</a:t>
            </a:r>
            <a:r>
              <a:rPr lang="en-US" dirty="0"/>
              <a:t>	</a:t>
            </a:r>
            <a:r>
              <a:rPr lang="vi-VN" dirty="0"/>
              <a:t>Liên tổ chức</a:t>
            </a:r>
            <a:r>
              <a:rPr lang="en-US" dirty="0"/>
              <a:t>		</a:t>
            </a:r>
            <a:r>
              <a:rPr lang="vi-VN" dirty="0"/>
              <a:t>Sẵn sàng cao, cache tốt</a:t>
            </a:r>
            <a:endParaRPr lang="en-US" dirty="0"/>
          </a:p>
          <a:p>
            <a:r>
              <a:rPr lang="vi-VN" b="1" dirty="0"/>
              <a:t>Administrational</a:t>
            </a:r>
            <a:r>
              <a:rPr lang="en-US" b="1" dirty="0"/>
              <a:t>	</a:t>
            </a:r>
            <a:r>
              <a:rPr lang="vi-VN" dirty="0"/>
              <a:t>Cấp trung, từng tổ chức riêng biệt quản lý</a:t>
            </a:r>
            <a:r>
              <a:rPr lang="en-US" dirty="0"/>
              <a:t>		</a:t>
            </a:r>
            <a:r>
              <a:rPr lang="vi-VN" dirty="0"/>
              <a:t>Một tổ chức</a:t>
            </a:r>
            <a:r>
              <a:rPr lang="en-US" dirty="0"/>
              <a:t>		</a:t>
            </a:r>
            <a:r>
              <a:rPr lang="vi-VN" dirty="0"/>
              <a:t>Phản hồi nhanh, ổn định</a:t>
            </a:r>
            <a:endParaRPr lang="en-US" dirty="0"/>
          </a:p>
          <a:p>
            <a:r>
              <a:rPr lang="vi-VN" b="1" dirty="0"/>
              <a:t>Managerial</a:t>
            </a:r>
            <a:r>
              <a:rPr lang="en-US" b="1" dirty="0"/>
              <a:t>		</a:t>
            </a:r>
            <a:r>
              <a:rPr lang="vi-VN" dirty="0"/>
              <a:t>Cấp thấp, thường xuyên thay đổi, người dùng trực tiếp</a:t>
            </a:r>
            <a:r>
              <a:rPr lang="en-US" dirty="0"/>
              <a:t>	</a:t>
            </a:r>
            <a:r>
              <a:rPr lang="vi-VN" dirty="0"/>
              <a:t>Tổ chức hoặc cá nhân</a:t>
            </a:r>
            <a:r>
              <a:rPr lang="en-US" dirty="0"/>
              <a:t>	</a:t>
            </a:r>
            <a:r>
              <a:rPr lang="vi-VN" dirty="0"/>
              <a:t>Hiệu suất cao, ít cache</a:t>
            </a:r>
          </a:p>
          <a:p>
            <a:endParaRPr lang="en-US" b="1" dirty="0"/>
          </a:p>
          <a:p>
            <a:r>
              <a:rPr lang="vi-VN" b="1" dirty="0"/>
              <a:t>Tại sao cần chia tầng như vậy?</a:t>
            </a:r>
          </a:p>
          <a:p>
            <a:pPr>
              <a:buFont typeface="Arial" panose="020B0604020202020204" pitchFamily="34" charset="0"/>
              <a:buChar char="•"/>
            </a:pPr>
            <a:r>
              <a:rPr lang="vi-VN" dirty="0"/>
              <a:t>Dễ phân chia trách nhiệm quản trị.</a:t>
            </a:r>
          </a:p>
          <a:p>
            <a:pPr>
              <a:buFont typeface="Arial" panose="020B0604020202020204" pitchFamily="34" charset="0"/>
              <a:buChar char="•"/>
            </a:pPr>
            <a:r>
              <a:rPr lang="vi-VN" dirty="0"/>
              <a:t>Giảm độ phức tạp của quản lý hệ thống phân tán.</a:t>
            </a:r>
          </a:p>
          <a:p>
            <a:pPr>
              <a:buFont typeface="Arial" panose="020B0604020202020204" pitchFamily="34" charset="0"/>
              <a:buChar char="•"/>
            </a:pPr>
            <a:r>
              <a:rPr lang="vi-VN" dirty="0"/>
              <a:t>Phù hợp với </a:t>
            </a:r>
            <a:r>
              <a:rPr lang="vi-VN" b="1" dirty="0"/>
              <a:t>mô hình mở rộng theo chiều ngang</a:t>
            </a:r>
            <a:r>
              <a:rPr lang="vi-VN" dirty="0"/>
              <a:t> (scale-out).</a:t>
            </a:r>
          </a:p>
          <a:p>
            <a:pPr>
              <a:buFont typeface="Arial" panose="020B0604020202020204" pitchFamily="34" charset="0"/>
              <a:buChar char="•"/>
            </a:pPr>
            <a:r>
              <a:rPr lang="vi-VN" dirty="0"/>
              <a:t>Hỗ trợ các kỹ thuật như </a:t>
            </a:r>
            <a:r>
              <a:rPr lang="vi-VN" b="1" dirty="0"/>
              <a:t>caching</a:t>
            </a:r>
            <a:r>
              <a:rPr lang="vi-VN" dirty="0"/>
              <a:t>, </a:t>
            </a:r>
            <a:r>
              <a:rPr lang="vi-VN" b="1" dirty="0"/>
              <a:t>replication</a:t>
            </a:r>
            <a:r>
              <a:rPr lang="vi-VN" dirty="0"/>
              <a:t> và </a:t>
            </a:r>
            <a:r>
              <a:rPr lang="vi-VN" b="1" dirty="0"/>
              <a:t>phân giải tên theo lặp/đệ quy</a:t>
            </a:r>
            <a:r>
              <a:rPr lang="vi-VN" dirty="0"/>
              <a: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43</a:t>
            </a:fld>
            <a:endParaRPr lang="en-US"/>
          </a:p>
        </p:txBody>
      </p:sp>
    </p:spTree>
    <p:extLst>
      <p:ext uri="{BB962C8B-B14F-4D97-AF65-F5344CB8AC3E}">
        <p14:creationId xmlns:p14="http://schemas.microsoft.com/office/powerpoint/2010/main" val="3258519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Triển khai không gian tên trong hệ thống phân tán</a:t>
            </a:r>
          </a:p>
          <a:p>
            <a:endParaRPr lang="en-US" dirty="0"/>
          </a:p>
          <a:p>
            <a:r>
              <a:rPr lang="vi-VN" b="1" dirty="0"/>
              <a:t>Mục tiêu của slide:</a:t>
            </a:r>
          </a:p>
          <a:p>
            <a:r>
              <a:rPr lang="vi-VN" dirty="0"/>
              <a:t>Mô tả cách </a:t>
            </a:r>
            <a:r>
              <a:rPr lang="vi-VN" b="1" dirty="0"/>
              <a:t>hệ thống phân tán</a:t>
            </a:r>
            <a:r>
              <a:rPr lang="vi-VN" dirty="0"/>
              <a:t>, như DNS, tổ chức </a:t>
            </a:r>
            <a:r>
              <a:rPr lang="vi-VN" b="1" dirty="0"/>
              <a:t>không gian tên (namespace)</a:t>
            </a:r>
            <a:r>
              <a:rPr lang="vi-VN" dirty="0"/>
              <a:t> thành </a:t>
            </a:r>
            <a:r>
              <a:rPr lang="vi-VN" b="1" dirty="0"/>
              <a:t>các tầng</a:t>
            </a:r>
            <a:r>
              <a:rPr lang="vi-VN" dirty="0"/>
              <a:t> khác nhau để:</a:t>
            </a:r>
          </a:p>
          <a:p>
            <a:pPr>
              <a:buFont typeface="Arial" panose="020B0604020202020204" pitchFamily="34" charset="0"/>
              <a:buChar char="•"/>
            </a:pPr>
            <a:r>
              <a:rPr lang="vi-VN" dirty="0"/>
              <a:t>Dễ </a:t>
            </a:r>
            <a:r>
              <a:rPr lang="vi-VN" b="1" dirty="0"/>
              <a:t>quản lý phân quyền</a:t>
            </a:r>
            <a:endParaRPr lang="vi-VN" dirty="0"/>
          </a:p>
          <a:p>
            <a:pPr>
              <a:buFont typeface="Arial" panose="020B0604020202020204" pitchFamily="34" charset="0"/>
              <a:buChar char="•"/>
            </a:pPr>
            <a:r>
              <a:rPr lang="vi-VN" dirty="0"/>
              <a:t>Tối ưu </a:t>
            </a:r>
            <a:r>
              <a:rPr lang="vi-VN" b="1" dirty="0"/>
              <a:t>phân giải tên (name resolution)</a:t>
            </a:r>
            <a:endParaRPr lang="vi-VN" dirty="0"/>
          </a:p>
          <a:p>
            <a:pPr>
              <a:buFont typeface="Arial" panose="020B0604020202020204" pitchFamily="34" charset="0"/>
              <a:buChar char="•"/>
            </a:pPr>
            <a:r>
              <a:rPr lang="vi-VN" dirty="0"/>
              <a:t>Hỗ trợ </a:t>
            </a:r>
            <a:r>
              <a:rPr lang="vi-VN" b="1" dirty="0"/>
              <a:t>phân phối tài nguyên</a:t>
            </a:r>
            <a:r>
              <a:rPr lang="vi-VN" dirty="0"/>
              <a:t> trên mạng</a:t>
            </a:r>
          </a:p>
          <a:p>
            <a:endParaRPr lang="en-US" b="1" dirty="0"/>
          </a:p>
          <a:p>
            <a:r>
              <a:rPr lang="en-US" b="1" dirty="0"/>
              <a:t>1. </a:t>
            </a:r>
            <a:r>
              <a:rPr lang="vi-VN" b="1" dirty="0"/>
              <a:t>Cấu trúc ba tầng của không gian tên</a:t>
            </a:r>
          </a:p>
          <a:p>
            <a:endParaRPr lang="en-US" b="1" dirty="0"/>
          </a:p>
          <a:p>
            <a:r>
              <a:rPr lang="en-US" b="1" dirty="0"/>
              <a:t>- </a:t>
            </a:r>
            <a:r>
              <a:rPr lang="vi-VN" b="1" dirty="0"/>
              <a:t>Global Layer (Tầng toàn cục):</a:t>
            </a:r>
          </a:p>
          <a:p>
            <a:pPr>
              <a:buFont typeface="Arial" panose="020B0604020202020204" pitchFamily="34" charset="0"/>
              <a:buChar char="•"/>
            </a:pPr>
            <a:r>
              <a:rPr lang="vi-VN" dirty="0"/>
              <a:t>Là cấp cao nhất trong cấu trúc.</a:t>
            </a:r>
          </a:p>
          <a:p>
            <a:pPr>
              <a:buFont typeface="Arial" panose="020B0604020202020204" pitchFamily="34" charset="0"/>
              <a:buChar char="•"/>
            </a:pPr>
            <a:r>
              <a:rPr lang="vi-VN" dirty="0"/>
              <a:t>Gồm các </a:t>
            </a:r>
            <a:r>
              <a:rPr lang="vi-VN" b="1" dirty="0"/>
              <a:t>tên miền gốc</a:t>
            </a:r>
            <a:r>
              <a:rPr lang="vi-VN" dirty="0"/>
              <a:t> như .com, .edu, .org, .nl, .jp, .us, v.v.</a:t>
            </a:r>
          </a:p>
          <a:p>
            <a:pPr>
              <a:buFont typeface="Arial" panose="020B0604020202020204" pitchFamily="34" charset="0"/>
              <a:buChar char="•"/>
            </a:pPr>
            <a:r>
              <a:rPr lang="vi-VN" dirty="0"/>
              <a:t>Được quản lý bởi các tổ chức lớn như ICANN (trong DNS thực tế).</a:t>
            </a:r>
          </a:p>
          <a:p>
            <a:pPr>
              <a:buFont typeface="Arial" panose="020B0604020202020204" pitchFamily="34" charset="0"/>
              <a:buChar char="•"/>
            </a:pPr>
            <a:r>
              <a:rPr lang="vi-VN" b="1" dirty="0"/>
              <a:t>Ổn định, ít thay đổi.</a:t>
            </a:r>
            <a:endParaRPr lang="vi-VN" dirty="0"/>
          </a:p>
          <a:p>
            <a:r>
              <a:rPr lang="vi-VN" dirty="0"/>
              <a:t>Các ô </a:t>
            </a:r>
            <a:r>
              <a:rPr lang="vi-VN" b="1" dirty="0"/>
              <a:t>màu trắng</a:t>
            </a:r>
            <a:r>
              <a:rPr lang="vi-VN" dirty="0"/>
              <a:t> trong sơ đồ đại diện cho tầng này.</a:t>
            </a:r>
          </a:p>
          <a:p>
            <a:endParaRPr lang="en-US" b="1" dirty="0"/>
          </a:p>
          <a:p>
            <a:r>
              <a:rPr lang="en-US" b="1" dirty="0"/>
              <a:t>- </a:t>
            </a:r>
            <a:r>
              <a:rPr lang="vi-VN" b="1" dirty="0"/>
              <a:t>Administrational Layer (Tầng tổ chức):</a:t>
            </a:r>
          </a:p>
          <a:p>
            <a:pPr>
              <a:buFont typeface="Arial" panose="020B0604020202020204" pitchFamily="34" charset="0"/>
              <a:buChar char="•"/>
            </a:pPr>
            <a:r>
              <a:rPr lang="vi-VN" dirty="0"/>
              <a:t>Là tầng trung gian, thường do </a:t>
            </a:r>
            <a:r>
              <a:rPr lang="vi-VN" b="1" dirty="0"/>
              <a:t>một tổ chức hoặc cơ sở giáo dục/quản lý nội bộ</a:t>
            </a:r>
            <a:r>
              <a:rPr lang="vi-VN" dirty="0"/>
              <a:t>.</a:t>
            </a:r>
          </a:p>
          <a:p>
            <a:pPr>
              <a:buFont typeface="Arial" panose="020B0604020202020204" pitchFamily="34" charset="0"/>
              <a:buChar char="•"/>
            </a:pPr>
            <a:r>
              <a:rPr lang="vi-VN" dirty="0"/>
              <a:t>Ví dụ:</a:t>
            </a:r>
          </a:p>
          <a:p>
            <a:pPr marL="742950" lvl="1" indent="-285750">
              <a:buFont typeface="Arial" panose="020B0604020202020204" pitchFamily="34" charset="0"/>
              <a:buChar char="•"/>
            </a:pPr>
            <a:r>
              <a:rPr lang="vi-VN" dirty="0"/>
              <a:t>oracle, yale, acm, ieee, vu, uva, keio, v.v.</a:t>
            </a:r>
          </a:p>
          <a:p>
            <a:pPr>
              <a:buFont typeface="Arial" panose="020B0604020202020204" pitchFamily="34" charset="0"/>
              <a:buChar char="•"/>
            </a:pPr>
            <a:r>
              <a:rPr lang="vi-VN" dirty="0"/>
              <a:t>Mỗi tên miền con này có thể có các thư mục hoặc máy chủ con như:</a:t>
            </a:r>
          </a:p>
          <a:p>
            <a:pPr marL="742950" lvl="1" indent="-285750">
              <a:buFont typeface="Arial" panose="020B0604020202020204" pitchFamily="34" charset="0"/>
              <a:buChar char="•"/>
            </a:pPr>
            <a:r>
              <a:rPr lang="vi-VN" dirty="0"/>
              <a:t>cs, eng, ftp, www, v.v.</a:t>
            </a:r>
          </a:p>
          <a:p>
            <a:pPr>
              <a:buFont typeface="Arial" panose="020B0604020202020204" pitchFamily="34" charset="0"/>
              <a:buChar char="•"/>
            </a:pPr>
            <a:r>
              <a:rPr lang="vi-VN" b="1" dirty="0"/>
              <a:t>Có thể được phân vùng thành các “zone”</a:t>
            </a:r>
            <a:r>
              <a:rPr lang="vi-VN" dirty="0"/>
              <a:t> để dễ quản trị.</a:t>
            </a:r>
          </a:p>
          <a:p>
            <a:r>
              <a:rPr lang="vi-VN" dirty="0"/>
              <a:t>Các ô </a:t>
            </a:r>
            <a:r>
              <a:rPr lang="vi-VN" b="1" dirty="0"/>
              <a:t>màu xám nhạt</a:t>
            </a:r>
            <a:r>
              <a:rPr lang="vi-VN" dirty="0"/>
              <a:t> đại diện cho tầng này.</a:t>
            </a:r>
          </a:p>
          <a:p>
            <a:endParaRPr lang="en-US" b="1" dirty="0"/>
          </a:p>
          <a:p>
            <a:r>
              <a:rPr lang="en-US" b="1" dirty="0"/>
              <a:t>- </a:t>
            </a:r>
            <a:r>
              <a:rPr lang="vi-VN" b="1" dirty="0"/>
              <a:t>Managerial Layer (Tầng quản lý cục bộ):</a:t>
            </a:r>
          </a:p>
          <a:p>
            <a:pPr>
              <a:buFont typeface="Arial" panose="020B0604020202020204" pitchFamily="34" charset="0"/>
              <a:buChar char="•"/>
            </a:pPr>
            <a:r>
              <a:rPr lang="vi-VN" dirty="0"/>
              <a:t>Chứa các tài nguyên cuối cùng: file, thư mục cá nhân, máy trạm.</a:t>
            </a:r>
          </a:p>
          <a:p>
            <a:pPr>
              <a:buFont typeface="Arial" panose="020B0604020202020204" pitchFamily="34" charset="0"/>
              <a:buChar char="•"/>
            </a:pPr>
            <a:r>
              <a:rPr lang="vi-VN" dirty="0"/>
              <a:t>Do </a:t>
            </a:r>
            <a:r>
              <a:rPr lang="vi-VN" b="1" dirty="0"/>
              <a:t>quản trị viên hệ thống hoặc người dùng</a:t>
            </a:r>
            <a:r>
              <a:rPr lang="vi-VN" dirty="0"/>
              <a:t> quản lý.</a:t>
            </a:r>
          </a:p>
          <a:p>
            <a:pPr>
              <a:buFont typeface="Arial" panose="020B0604020202020204" pitchFamily="34" charset="0"/>
              <a:buChar char="•"/>
            </a:pPr>
            <a:r>
              <a:rPr lang="vi-VN" dirty="0"/>
              <a:t>Ví dụ: robot, globule, index.htm trong thư mục pub.</a:t>
            </a:r>
          </a:p>
          <a:p>
            <a:r>
              <a:rPr lang="vi-VN" dirty="0"/>
              <a:t>Các ô </a:t>
            </a:r>
            <a:r>
              <a:rPr lang="vi-VN" b="1" dirty="0"/>
              <a:t>màu xám đậm</a:t>
            </a:r>
            <a:r>
              <a:rPr lang="vi-VN" dirty="0"/>
              <a:t> thể hiện tầng này – thay đổi thường xuyên và phản hồi nhanh.</a:t>
            </a:r>
          </a:p>
          <a:p>
            <a:endParaRPr lang="en-US" b="1" dirty="0"/>
          </a:p>
          <a:p>
            <a:r>
              <a:rPr lang="en-US" b="1" dirty="0"/>
              <a:t>2. </a:t>
            </a:r>
            <a:r>
              <a:rPr lang="vi-VN" b="1" dirty="0"/>
              <a:t>Khái niệm "Zone" – Vùng quản trị độc lập</a:t>
            </a:r>
          </a:p>
          <a:p>
            <a:pPr>
              <a:buFont typeface="Arial" panose="020B0604020202020204" pitchFamily="34" charset="0"/>
              <a:buChar char="•"/>
            </a:pPr>
            <a:r>
              <a:rPr lang="vi-VN" b="1" dirty="0"/>
              <a:t>Zone</a:t>
            </a:r>
            <a:r>
              <a:rPr lang="vi-VN" dirty="0"/>
              <a:t> là phần con của không gian tên được </a:t>
            </a:r>
            <a:r>
              <a:rPr lang="vi-VN" b="1" dirty="0"/>
              <a:t>quản lý bởi một thực thể</a:t>
            </a:r>
            <a:r>
              <a:rPr lang="vi-VN" dirty="0"/>
              <a:t> duy nhất.</a:t>
            </a:r>
          </a:p>
          <a:p>
            <a:pPr>
              <a:buFont typeface="Arial" panose="020B0604020202020204" pitchFamily="34" charset="0"/>
              <a:buChar char="•"/>
            </a:pPr>
            <a:r>
              <a:rPr lang="vi-VN" dirty="0"/>
              <a:t>Được đánh dấu bằng </a:t>
            </a:r>
            <a:r>
              <a:rPr lang="vi-VN" b="1" dirty="0"/>
              <a:t>đường nét đứt tròn</a:t>
            </a:r>
            <a:r>
              <a:rPr lang="vi-VN" dirty="0"/>
              <a:t> trên sơ đồ.</a:t>
            </a:r>
          </a:p>
          <a:p>
            <a:pPr>
              <a:buFont typeface="Arial" panose="020B0604020202020204" pitchFamily="34" charset="0"/>
              <a:buChar char="•"/>
            </a:pPr>
            <a:r>
              <a:rPr lang="vi-VN" dirty="0"/>
              <a:t>Ví dụ:</a:t>
            </a:r>
          </a:p>
          <a:p>
            <a:pPr marL="742950" lvl="1" indent="-285750">
              <a:buFont typeface="Arial" panose="020B0604020202020204" pitchFamily="34" charset="0"/>
              <a:buChar char="•"/>
            </a:pPr>
            <a:r>
              <a:rPr lang="vi-VN" dirty="0"/>
              <a:t>Một zone gồm ftp → pub → globule → index.htm</a:t>
            </a:r>
          </a:p>
          <a:p>
            <a:pPr marL="742950" lvl="1" indent="-285750">
              <a:buFont typeface="Arial" panose="020B0604020202020204" pitchFamily="34" charset="0"/>
              <a:buChar char="•"/>
            </a:pPr>
            <a:r>
              <a:rPr lang="vi-VN" dirty="0"/>
              <a:t>Hay một zone khác là vu → cs → www</a:t>
            </a:r>
          </a:p>
          <a:p>
            <a:r>
              <a:rPr lang="en-US" b="1" dirty="0"/>
              <a:t>* </a:t>
            </a:r>
            <a:r>
              <a:rPr lang="vi-VN" b="1" dirty="0"/>
              <a:t>Lưu ý:</a:t>
            </a:r>
            <a:r>
              <a:rPr lang="vi-VN" dirty="0"/>
              <a:t> Một zone có thể bao gồm nhiều nút trong nhiều tầng (thường là 1 phần của tầng tổ chức + toàn bộ tầng quản lý bên dưới).</a:t>
            </a:r>
          </a:p>
          <a:p>
            <a:endParaRPr lang="en-US" b="1" dirty="0"/>
          </a:p>
          <a:p>
            <a:r>
              <a:rPr lang="en-US" b="1" dirty="0"/>
              <a:t>3. </a:t>
            </a:r>
            <a:r>
              <a:rPr lang="vi-VN" b="1" dirty="0"/>
              <a:t>Phân giải tên trong DNS (Ví dụ thực tế)</a:t>
            </a:r>
          </a:p>
          <a:p>
            <a:r>
              <a:rPr lang="vi-VN" dirty="0"/>
              <a:t>Hãy xét ví dụ tên miền:</a:t>
            </a:r>
          </a:p>
          <a:p>
            <a:pPr rtl="0"/>
            <a:r>
              <a:rPr lang="vi-VN" dirty="0"/>
              <a:t>ftp.cs.vu.nl </a:t>
            </a:r>
          </a:p>
          <a:p>
            <a:r>
              <a:rPr lang="vi-VN" dirty="0"/>
              <a:t>Quá trình phân giải sẽ đi từ:</a:t>
            </a:r>
          </a:p>
          <a:p>
            <a:pPr>
              <a:buFont typeface="+mj-lt"/>
              <a:buAutoNum type="arabicPeriod"/>
            </a:pPr>
            <a:r>
              <a:rPr lang="vi-VN" dirty="0"/>
              <a:t>.nl (global)</a:t>
            </a:r>
          </a:p>
          <a:p>
            <a:pPr>
              <a:buFont typeface="+mj-lt"/>
              <a:buAutoNum type="arabicPeriod"/>
            </a:pPr>
            <a:r>
              <a:rPr lang="vi-VN" dirty="0"/>
              <a:t>vu (admin-level)</a:t>
            </a:r>
          </a:p>
          <a:p>
            <a:pPr>
              <a:buFont typeface="+mj-lt"/>
              <a:buAutoNum type="arabicPeriod"/>
            </a:pPr>
            <a:r>
              <a:rPr lang="vi-VN" dirty="0"/>
              <a:t>cs (admin-level)</a:t>
            </a:r>
          </a:p>
          <a:p>
            <a:pPr>
              <a:buFont typeface="+mj-lt"/>
              <a:buAutoNum type="arabicPeriod"/>
            </a:pPr>
            <a:r>
              <a:rPr lang="vi-VN" dirty="0"/>
              <a:t>ftp (manager-level)</a:t>
            </a:r>
          </a:p>
          <a:p>
            <a:r>
              <a:rPr lang="vi-VN" dirty="0"/>
              <a:t>Tương tự:</a:t>
            </a:r>
          </a:p>
          <a:p>
            <a:pPr rtl="0"/>
            <a:r>
              <a:rPr lang="vi-VN" dirty="0"/>
              <a:t>pub.globule.ftp.cs.vu.nl/index.htm </a:t>
            </a:r>
          </a:p>
          <a:p>
            <a:r>
              <a:rPr lang="vi-VN" dirty="0"/>
              <a:t>Sẽ phân giải đến </a:t>
            </a:r>
            <a:r>
              <a:rPr lang="vi-VN" b="1" dirty="0"/>
              <a:t>file thực</a:t>
            </a:r>
            <a:r>
              <a:rPr lang="vi-VN" dirty="0"/>
              <a:t> index.htm, đi sâu từ root đến từng nhánh.</a:t>
            </a:r>
          </a:p>
          <a:p>
            <a:endParaRPr lang="en-US" b="1" dirty="0"/>
          </a:p>
          <a:p>
            <a:r>
              <a:rPr lang="vi-VN" b="1" dirty="0"/>
              <a:t>Tóm tắt</a:t>
            </a:r>
            <a:r>
              <a:rPr lang="en-US" b="1" dirty="0"/>
              <a:t>:</a:t>
            </a:r>
            <a:endParaRPr lang="vi-VN" b="1" dirty="0"/>
          </a:p>
          <a:p>
            <a:r>
              <a:rPr lang="vi-VN" dirty="0"/>
              <a:t>Tầng</a:t>
            </a:r>
            <a:r>
              <a:rPr lang="en-US" dirty="0"/>
              <a:t>		</a:t>
            </a:r>
            <a:r>
              <a:rPr lang="vi-VN" dirty="0"/>
              <a:t>Vai trò</a:t>
            </a:r>
            <a:r>
              <a:rPr lang="en-US" dirty="0"/>
              <a:t>			</a:t>
            </a:r>
            <a:r>
              <a:rPr lang="vi-VN" dirty="0"/>
              <a:t>Màu hiển thị</a:t>
            </a:r>
            <a:r>
              <a:rPr lang="en-US" dirty="0"/>
              <a:t>		</a:t>
            </a:r>
            <a:r>
              <a:rPr lang="vi-VN" dirty="0"/>
              <a:t>Tính chất</a:t>
            </a:r>
            <a:endParaRPr lang="en-US" dirty="0"/>
          </a:p>
          <a:p>
            <a:r>
              <a:rPr lang="vi-VN" dirty="0"/>
              <a:t>Global</a:t>
            </a:r>
            <a:r>
              <a:rPr lang="en-US" dirty="0"/>
              <a:t>		</a:t>
            </a:r>
            <a:r>
              <a:rPr lang="vi-VN" dirty="0"/>
              <a:t>Quản lý các tên miền cấp cao</a:t>
            </a:r>
            <a:r>
              <a:rPr lang="en-US" dirty="0"/>
              <a:t>		</a:t>
            </a:r>
            <a:r>
              <a:rPr lang="vi-VN" dirty="0"/>
              <a:t>Trắng</a:t>
            </a:r>
            <a:r>
              <a:rPr lang="en-US" dirty="0"/>
              <a:t>		</a:t>
            </a:r>
            <a:r>
              <a:rPr lang="vi-VN" dirty="0"/>
              <a:t>Ổn định, do tổ chức toàn cầu quản lý</a:t>
            </a:r>
            <a:endParaRPr lang="en-US" dirty="0"/>
          </a:p>
          <a:p>
            <a:r>
              <a:rPr lang="vi-VN" dirty="0"/>
              <a:t>Administrational</a:t>
            </a:r>
            <a:r>
              <a:rPr lang="en-US" dirty="0"/>
              <a:t>	</a:t>
            </a:r>
            <a:r>
              <a:rPr lang="vi-VN" dirty="0"/>
              <a:t>Quản lý theo tổ chức hoặc trường</a:t>
            </a:r>
            <a:r>
              <a:rPr lang="en-US" dirty="0"/>
              <a:t>	</a:t>
            </a:r>
            <a:r>
              <a:rPr lang="vi-VN" dirty="0"/>
              <a:t>Xám nhạt</a:t>
            </a:r>
            <a:r>
              <a:rPr lang="en-US" dirty="0"/>
              <a:t>		</a:t>
            </a:r>
            <a:r>
              <a:rPr lang="vi-VN" dirty="0"/>
              <a:t>Linh hoạt, quản trị nội bộ</a:t>
            </a:r>
            <a:endParaRPr lang="en-US" dirty="0"/>
          </a:p>
          <a:p>
            <a:r>
              <a:rPr lang="vi-VN" dirty="0"/>
              <a:t>Managerial</a:t>
            </a:r>
            <a:r>
              <a:rPr lang="en-US" dirty="0"/>
              <a:t>		</a:t>
            </a:r>
            <a:r>
              <a:rPr lang="vi-VN" dirty="0"/>
              <a:t>Quản lý máy, thư mục, file cụ thể</a:t>
            </a:r>
            <a:r>
              <a:rPr lang="en-US" dirty="0"/>
              <a:t>	</a:t>
            </a:r>
            <a:r>
              <a:rPr lang="vi-VN" dirty="0"/>
              <a:t>Xám đậm</a:t>
            </a:r>
            <a:r>
              <a:rPr lang="en-US"/>
              <a:t>		</a:t>
            </a:r>
            <a:r>
              <a:rPr lang="vi-VN"/>
              <a:t>Thay </a:t>
            </a:r>
            <a:r>
              <a:rPr lang="vi-VN" dirty="0"/>
              <a:t>đổi nhiều, chi tiết cao</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44</a:t>
            </a:fld>
            <a:endParaRPr lang="en-US"/>
          </a:p>
        </p:txBody>
      </p:sp>
    </p:spTree>
    <p:extLst>
      <p:ext uri="{BB962C8B-B14F-4D97-AF65-F5344CB8AC3E}">
        <p14:creationId xmlns:p14="http://schemas.microsoft.com/office/powerpoint/2010/main" val="11126915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So sánh triển khai Name-Space theo ba tầng</a:t>
            </a:r>
          </a:p>
          <a:p>
            <a:r>
              <a:rPr lang="vi-VN" b="1" dirty="0"/>
              <a:t>Mục</a:t>
            </a:r>
            <a:r>
              <a:rPr lang="en-US" b="1" dirty="0"/>
              <a:t>		</a:t>
            </a:r>
            <a:r>
              <a:rPr lang="vi-VN" b="1" dirty="0"/>
              <a:t>Global</a:t>
            </a:r>
            <a:r>
              <a:rPr lang="en-US" b="1" dirty="0"/>
              <a:t>			</a:t>
            </a:r>
            <a:r>
              <a:rPr lang="vi-VN" b="1" dirty="0"/>
              <a:t>Administrational</a:t>
            </a:r>
            <a:r>
              <a:rPr lang="en-US" b="1" dirty="0"/>
              <a:t>		</a:t>
            </a:r>
            <a:r>
              <a:rPr lang="vi-VN" b="1" dirty="0"/>
              <a:t>Managerial</a:t>
            </a:r>
            <a:endParaRPr lang="en-US" b="1" dirty="0"/>
          </a:p>
          <a:p>
            <a:pPr marL="228600" indent="-228600">
              <a:buAutoNum type="arabicPeriod"/>
            </a:pPr>
            <a:r>
              <a:rPr lang="vi-VN" b="1" dirty="0"/>
              <a:t>Quy mô địa lý</a:t>
            </a:r>
            <a:r>
              <a:rPr lang="en-US" b="1" dirty="0"/>
              <a:t>	</a:t>
            </a:r>
            <a:r>
              <a:rPr lang="vi-VN" dirty="0"/>
              <a:t>Toàn cầu (Worldwide)</a:t>
            </a:r>
            <a:r>
              <a:rPr lang="en-US" dirty="0"/>
              <a:t>		</a:t>
            </a:r>
            <a:r>
              <a:rPr lang="vi-VN" dirty="0"/>
              <a:t>Trong một tổ chức (Organization)</a:t>
            </a:r>
            <a:r>
              <a:rPr lang="en-US" dirty="0"/>
              <a:t>	</a:t>
            </a:r>
            <a:r>
              <a:rPr lang="vi-VN" dirty="0"/>
              <a:t>Trong một phòng/ban (Department)</a:t>
            </a:r>
            <a:endParaRPr lang="en-US" dirty="0"/>
          </a:p>
          <a:p>
            <a:pPr marL="228600" indent="-228600">
              <a:buAutoNum type="arabicPeriod"/>
            </a:pPr>
            <a:r>
              <a:rPr lang="vi-VN" dirty="0"/>
              <a:t> </a:t>
            </a:r>
            <a:r>
              <a:rPr lang="vi-VN" b="1" dirty="0"/>
              <a:t>Số lượng node</a:t>
            </a:r>
            <a:r>
              <a:rPr lang="en-US" b="1" dirty="0"/>
              <a:t>	</a:t>
            </a:r>
            <a:r>
              <a:rPr lang="vi-VN" dirty="0"/>
              <a:t>Ít (Few)</a:t>
            </a:r>
            <a:r>
              <a:rPr lang="en-US" dirty="0"/>
              <a:t>			</a:t>
            </a:r>
            <a:r>
              <a:rPr lang="vi-VN" dirty="0"/>
              <a:t>Nhiều (Many)</a:t>
            </a:r>
            <a:r>
              <a:rPr lang="en-US" dirty="0"/>
              <a:t>			</a:t>
            </a:r>
            <a:r>
              <a:rPr lang="vi-VN" dirty="0"/>
              <a:t>Rất nhiều (Vast numbers)</a:t>
            </a:r>
            <a:endParaRPr lang="en-US" dirty="0"/>
          </a:p>
          <a:p>
            <a:pPr marL="228600" indent="-228600">
              <a:buAutoNum type="arabicPeriod"/>
            </a:pPr>
            <a:r>
              <a:rPr lang="vi-VN" b="1" dirty="0"/>
              <a:t>Độ phản hồi</a:t>
            </a:r>
            <a:r>
              <a:rPr lang="en-US" b="1" dirty="0"/>
              <a:t>	</a:t>
            </a:r>
            <a:r>
              <a:rPr lang="vi-VN" dirty="0"/>
              <a:t>Vài giây (Seconds)</a:t>
            </a:r>
            <a:r>
              <a:rPr lang="en-US" dirty="0"/>
              <a:t>		</a:t>
            </a:r>
            <a:r>
              <a:rPr lang="vi-VN" dirty="0"/>
              <a:t>Vài mili-giây (Milliseconds)</a:t>
            </a:r>
            <a:r>
              <a:rPr lang="en-US" dirty="0"/>
              <a:t>		</a:t>
            </a:r>
            <a:r>
              <a:rPr lang="vi-VN" dirty="0"/>
              <a:t>Ngay lập tức (Immediate)</a:t>
            </a:r>
            <a:endParaRPr lang="en-US" dirty="0"/>
          </a:p>
          <a:p>
            <a:pPr marL="228600" indent="-228600">
              <a:buAutoNum type="arabicPeriod"/>
            </a:pPr>
            <a:r>
              <a:rPr lang="vi-VN" b="1" dirty="0"/>
              <a:t>Lan tỏa cập nhật</a:t>
            </a:r>
            <a:r>
              <a:rPr lang="en-US" b="1" dirty="0"/>
              <a:t>	</a:t>
            </a:r>
            <a:r>
              <a:rPr lang="vi-VN" dirty="0"/>
              <a:t>Theo kiểu “lười” (</a:t>
            </a:r>
            <a:r>
              <a:rPr lang="en-US" dirty="0" err="1"/>
              <a:t>bất</a:t>
            </a:r>
            <a:r>
              <a:rPr lang="en-US" dirty="0"/>
              <a:t> </a:t>
            </a:r>
            <a:r>
              <a:rPr lang="en-US" dirty="0" err="1"/>
              <a:t>đồng</a:t>
            </a:r>
            <a:r>
              <a:rPr lang="en-US" dirty="0"/>
              <a:t> </a:t>
            </a:r>
            <a:r>
              <a:rPr lang="en-US" dirty="0" err="1"/>
              <a:t>bộ</a:t>
            </a:r>
            <a:r>
              <a:rPr lang="en-US" dirty="0"/>
              <a:t> - </a:t>
            </a:r>
            <a:r>
              <a:rPr lang="vi-VN" dirty="0"/>
              <a:t>Lazy)</a:t>
            </a:r>
            <a:r>
              <a:rPr lang="en-US" dirty="0"/>
              <a:t>	</a:t>
            </a:r>
            <a:r>
              <a:rPr lang="vi-VN" dirty="0"/>
              <a:t>Ngay lập tức (Immediate)</a:t>
            </a:r>
            <a:r>
              <a:rPr lang="en-US" dirty="0"/>
              <a:t>		</a:t>
            </a:r>
            <a:r>
              <a:rPr lang="vi-VN" dirty="0"/>
              <a:t>Ngay lập tức (Immediate)</a:t>
            </a:r>
            <a:endParaRPr lang="en-US" dirty="0"/>
          </a:p>
          <a:p>
            <a:pPr marL="228600" indent="-228600">
              <a:buAutoNum type="arabicPeriod"/>
            </a:pPr>
            <a:r>
              <a:rPr lang="vi-VN" b="1" dirty="0"/>
              <a:t>Số bản sao (replicas)</a:t>
            </a:r>
            <a:r>
              <a:rPr lang="en-US" b="1" dirty="0"/>
              <a:t>	</a:t>
            </a:r>
            <a:r>
              <a:rPr lang="vi-VN" dirty="0"/>
              <a:t>Nhiều (Many)</a:t>
            </a:r>
            <a:r>
              <a:rPr lang="en-US" dirty="0"/>
              <a:t>			</a:t>
            </a:r>
            <a:r>
              <a:rPr lang="vi-VN" dirty="0"/>
              <a:t>Ít hoặc không (None or few)</a:t>
            </a:r>
            <a:r>
              <a:rPr lang="en-US" dirty="0"/>
              <a:t>		</a:t>
            </a:r>
            <a:r>
              <a:rPr lang="vi-VN" dirty="0"/>
              <a:t>Không (None)</a:t>
            </a:r>
            <a:endParaRPr lang="en-US" dirty="0"/>
          </a:p>
          <a:p>
            <a:pPr marL="228600" indent="-228600">
              <a:buAutoNum type="arabicPeriod"/>
            </a:pPr>
            <a:r>
              <a:rPr lang="vi-VN" b="1" dirty="0"/>
              <a:t>Bộ nhớ đệm phía client</a:t>
            </a:r>
            <a:r>
              <a:rPr lang="en-US" b="1" dirty="0"/>
              <a:t>	</a:t>
            </a:r>
            <a:r>
              <a:rPr lang="vi-VN" dirty="0"/>
              <a:t>Có (Yes)</a:t>
            </a:r>
            <a:r>
              <a:rPr lang="en-US" dirty="0"/>
              <a:t>			</a:t>
            </a:r>
            <a:r>
              <a:rPr lang="vi-VN" dirty="0"/>
              <a:t>Có (Yes)</a:t>
            </a:r>
            <a:r>
              <a:rPr lang="en-US" dirty="0"/>
              <a:t>			</a:t>
            </a:r>
            <a:r>
              <a:rPr lang="vi-VN" dirty="0"/>
              <a:t>Thỉnh thoảng (Sometimes)</a:t>
            </a:r>
          </a:p>
          <a:p>
            <a:r>
              <a:rPr lang="vi-VN" i="1" dirty="0"/>
              <a:t>(Chú thích: các cột tương ứng ba tầng Global, Administrational, Managerial; các chỉ số 1–6 tương ứng: 1. Geographical scale, 2. # Nodes, 3. Responsiveness, 4. Update propagation, 5. # Replicas, 6. Client-side caching.)</a:t>
            </a:r>
            <a:endParaRPr lang="vi-VN" dirty="0"/>
          </a:p>
          <a:p>
            <a:endParaRPr lang="en-US" b="1" dirty="0"/>
          </a:p>
          <a:p>
            <a:r>
              <a:rPr lang="vi-VN" b="1" dirty="0"/>
              <a:t>Giải thích chi tiết các mục</a:t>
            </a:r>
          </a:p>
          <a:p>
            <a:pPr>
              <a:buFont typeface="+mj-lt"/>
              <a:buAutoNum type="arabicPeriod"/>
            </a:pPr>
            <a:r>
              <a:rPr lang="vi-VN" b="1" dirty="0"/>
              <a:t>Quy mô địa lý</a:t>
            </a:r>
            <a:endParaRPr lang="vi-VN" dirty="0"/>
          </a:p>
          <a:p>
            <a:pPr marL="457200" lvl="1" indent="0">
              <a:buFont typeface="+mj-lt"/>
              <a:buNone/>
            </a:pPr>
            <a:r>
              <a:rPr lang="en-US" b="1" dirty="0"/>
              <a:t>- </a:t>
            </a:r>
            <a:r>
              <a:rPr lang="vi-VN" b="1" dirty="0"/>
              <a:t>Global:</a:t>
            </a:r>
            <a:r>
              <a:rPr lang="vi-VN" dirty="0"/>
              <a:t> Phủ khắp toàn cầu (ví dụ: các name server gốc của DNS).</a:t>
            </a:r>
          </a:p>
          <a:p>
            <a:pPr marL="457200" lvl="1" indent="0">
              <a:buFont typeface="+mj-lt"/>
              <a:buNone/>
            </a:pPr>
            <a:r>
              <a:rPr lang="en-US" b="1" dirty="0"/>
              <a:t>- </a:t>
            </a:r>
            <a:r>
              <a:rPr lang="vi-VN" b="1" dirty="0"/>
              <a:t>Administrational:</a:t>
            </a:r>
            <a:r>
              <a:rPr lang="vi-VN" dirty="0"/>
              <a:t> Giới hạn trong một tổ chức (ví dụ: name server của trường đại học, công ty).</a:t>
            </a:r>
          </a:p>
          <a:p>
            <a:pPr marL="457200" lvl="1" indent="0">
              <a:buFont typeface="+mj-lt"/>
              <a:buNone/>
            </a:pPr>
            <a:r>
              <a:rPr lang="en-US" b="1" dirty="0"/>
              <a:t>- </a:t>
            </a:r>
            <a:r>
              <a:rPr lang="vi-VN" b="1" dirty="0"/>
              <a:t>Managerial:</a:t>
            </a:r>
            <a:r>
              <a:rPr lang="vi-VN" dirty="0"/>
              <a:t> Chỉ trong một bộ phận, phòng ban hoặc máy chủ riêng lẻ.</a:t>
            </a:r>
          </a:p>
          <a:p>
            <a:pPr>
              <a:buFont typeface="+mj-lt"/>
              <a:buAutoNum type="arabicPeriod"/>
            </a:pPr>
            <a:r>
              <a:rPr lang="vi-VN" b="1" dirty="0"/>
              <a:t>Số lượng node</a:t>
            </a:r>
            <a:endParaRPr lang="vi-VN" dirty="0"/>
          </a:p>
          <a:p>
            <a:pPr marL="457200" lvl="1" indent="0">
              <a:buFont typeface="+mj-lt"/>
              <a:buNone/>
            </a:pPr>
            <a:r>
              <a:rPr lang="en-US" b="1" dirty="0"/>
              <a:t>- </a:t>
            </a:r>
            <a:r>
              <a:rPr lang="vi-VN" b="1" dirty="0"/>
              <a:t>Global:</a:t>
            </a:r>
            <a:r>
              <a:rPr lang="vi-VN" dirty="0"/>
              <a:t> Chỉ một vài nút cấp cao (ví dụ: .com, .org, .nl…).</a:t>
            </a:r>
          </a:p>
          <a:p>
            <a:pPr marL="457200" lvl="1" indent="0">
              <a:buFont typeface="+mj-lt"/>
              <a:buNone/>
            </a:pPr>
            <a:r>
              <a:rPr lang="en-US" b="1" dirty="0"/>
              <a:t>- </a:t>
            </a:r>
            <a:r>
              <a:rPr lang="vi-VN" b="1" dirty="0"/>
              <a:t>Administrational:</a:t>
            </a:r>
            <a:r>
              <a:rPr lang="vi-VN" dirty="0"/>
              <a:t> Nhiều nút con (ví dụ: cs.vu.nl, acm.org, oracle.com…).</a:t>
            </a:r>
          </a:p>
          <a:p>
            <a:pPr marL="457200" lvl="1" indent="0">
              <a:buFont typeface="+mj-lt"/>
              <a:buNone/>
            </a:pPr>
            <a:r>
              <a:rPr lang="en-US" b="1" dirty="0"/>
              <a:t>- </a:t>
            </a:r>
            <a:r>
              <a:rPr lang="vi-VN" b="1" dirty="0"/>
              <a:t>Managerial:</a:t>
            </a:r>
            <a:r>
              <a:rPr lang="vi-VN" dirty="0"/>
              <a:t> Rất nhiều node cấp thấp (mỗi file, thư mục, máy trạm).</a:t>
            </a:r>
          </a:p>
          <a:p>
            <a:pPr>
              <a:buFont typeface="+mj-lt"/>
              <a:buAutoNum type="arabicPeriod"/>
            </a:pPr>
            <a:r>
              <a:rPr lang="vi-VN" b="1" dirty="0"/>
              <a:t>Độ phản hồi (Responsiveness)</a:t>
            </a:r>
            <a:endParaRPr lang="vi-VN" dirty="0"/>
          </a:p>
          <a:p>
            <a:pPr marL="457200" lvl="1" indent="0">
              <a:buFont typeface="+mj-lt"/>
              <a:buNone/>
            </a:pPr>
            <a:r>
              <a:rPr lang="en-US" b="1" dirty="0"/>
              <a:t>- </a:t>
            </a:r>
            <a:r>
              <a:rPr lang="vi-VN" b="1" dirty="0"/>
              <a:t>Global:</a:t>
            </a:r>
            <a:r>
              <a:rPr lang="vi-VN" dirty="0"/>
              <a:t> Có thể mất vài giây do khoảng cách địa lý, caching, replication.</a:t>
            </a:r>
          </a:p>
          <a:p>
            <a:pPr marL="457200" lvl="1" indent="0">
              <a:buFont typeface="+mj-lt"/>
              <a:buNone/>
            </a:pPr>
            <a:r>
              <a:rPr lang="en-US" b="1" dirty="0"/>
              <a:t>- </a:t>
            </a:r>
            <a:r>
              <a:rPr lang="vi-VN" b="1" dirty="0"/>
              <a:t>Administrational:</a:t>
            </a:r>
            <a:r>
              <a:rPr lang="vi-VN" dirty="0"/>
              <a:t> Vài mili-giây, đáp ứng nhanh cho người dùng nội bộ.</a:t>
            </a:r>
          </a:p>
          <a:p>
            <a:pPr marL="457200" lvl="1" indent="0">
              <a:buFont typeface="+mj-lt"/>
              <a:buNone/>
            </a:pPr>
            <a:r>
              <a:rPr lang="en-US" b="1" dirty="0"/>
              <a:t>- </a:t>
            </a:r>
            <a:r>
              <a:rPr lang="vi-VN" b="1" dirty="0"/>
              <a:t>Managerial:</a:t>
            </a:r>
            <a:r>
              <a:rPr lang="vi-VN" dirty="0"/>
              <a:t> Ngay lập tức, vì server gần hoặc trên cùng máy chủ.</a:t>
            </a:r>
          </a:p>
          <a:p>
            <a:pPr>
              <a:buFont typeface="+mj-lt"/>
              <a:buAutoNum type="arabicPeriod"/>
            </a:pPr>
            <a:r>
              <a:rPr lang="vi-VN" b="1" dirty="0"/>
              <a:t>Lan tỏa cập nhật (Update propagation)</a:t>
            </a:r>
            <a:endParaRPr lang="vi-VN" dirty="0"/>
          </a:p>
          <a:p>
            <a:pPr marL="457200" lvl="1" indent="0">
              <a:buFont typeface="+mj-lt"/>
              <a:buNone/>
            </a:pPr>
            <a:r>
              <a:rPr lang="en-US" b="1" dirty="0"/>
              <a:t>- </a:t>
            </a:r>
            <a:r>
              <a:rPr lang="vi-VN" b="1" dirty="0"/>
              <a:t>Global:</a:t>
            </a:r>
            <a:r>
              <a:rPr lang="vi-VN" dirty="0"/>
              <a:t> “Lười” (lazy) – cập nhật không cần ngay lập tức, cho phép đồng bộ sau.</a:t>
            </a:r>
          </a:p>
          <a:p>
            <a:pPr marL="457200" lvl="1" indent="0">
              <a:buFont typeface="+mj-lt"/>
              <a:buNone/>
            </a:pPr>
            <a:r>
              <a:rPr lang="en-US" b="1" dirty="0"/>
              <a:t>- </a:t>
            </a:r>
            <a:r>
              <a:rPr lang="vi-VN" b="1" dirty="0"/>
              <a:t>Administrational &amp; Managerial:</a:t>
            </a:r>
            <a:r>
              <a:rPr lang="vi-VN" dirty="0"/>
              <a:t> Cập nhật ngay lập tức để thay đổi có hiệu lực ngay.</a:t>
            </a:r>
          </a:p>
          <a:p>
            <a:pPr>
              <a:buFont typeface="+mj-lt"/>
              <a:buAutoNum type="arabicPeriod"/>
            </a:pPr>
            <a:r>
              <a:rPr lang="vi-VN" b="1" dirty="0"/>
              <a:t>Số bản sao (Replicas)</a:t>
            </a:r>
            <a:endParaRPr lang="vi-VN" dirty="0"/>
          </a:p>
          <a:p>
            <a:pPr marL="457200" lvl="1" indent="0">
              <a:buFont typeface="+mj-lt"/>
              <a:buNone/>
            </a:pPr>
            <a:r>
              <a:rPr lang="en-US" b="1" dirty="0"/>
              <a:t>- </a:t>
            </a:r>
            <a:r>
              <a:rPr lang="vi-VN" b="1" dirty="0"/>
              <a:t>Global:</a:t>
            </a:r>
            <a:r>
              <a:rPr lang="vi-VN" dirty="0"/>
              <a:t> Phải nhiều để đảm bảo sẵn sàng toàn cầu.</a:t>
            </a:r>
          </a:p>
          <a:p>
            <a:pPr marL="457200" lvl="1" indent="0">
              <a:buFont typeface="+mj-lt"/>
              <a:buNone/>
            </a:pPr>
            <a:r>
              <a:rPr lang="en-US" b="1" dirty="0"/>
              <a:t>- </a:t>
            </a:r>
            <a:r>
              <a:rPr lang="vi-VN" b="1" dirty="0"/>
              <a:t>Administrational:</a:t>
            </a:r>
            <a:r>
              <a:rPr lang="vi-VN" dirty="0"/>
              <a:t> Ít hoặc thậm chí không – phụ thuộc quy mô tổ chức.</a:t>
            </a:r>
          </a:p>
          <a:p>
            <a:pPr marL="457200" lvl="1" indent="0">
              <a:buFont typeface="+mj-lt"/>
              <a:buNone/>
            </a:pPr>
            <a:r>
              <a:rPr lang="en-US" b="1" dirty="0"/>
              <a:t>- </a:t>
            </a:r>
            <a:r>
              <a:rPr lang="vi-VN" b="1" dirty="0"/>
              <a:t>Managerial:</a:t>
            </a:r>
            <a:r>
              <a:rPr lang="vi-VN" dirty="0"/>
              <a:t> Thường không cần bản sao.</a:t>
            </a:r>
          </a:p>
          <a:p>
            <a:pPr>
              <a:buFont typeface="+mj-lt"/>
              <a:buAutoNum type="arabicPeriod"/>
            </a:pPr>
            <a:r>
              <a:rPr lang="vi-VN" b="1" dirty="0"/>
              <a:t>Bộ nhớ đệm phía client (Client-side caching)</a:t>
            </a:r>
            <a:endParaRPr lang="vi-VN" dirty="0"/>
          </a:p>
          <a:p>
            <a:pPr marL="457200" lvl="1" indent="0">
              <a:buFont typeface="+mj-lt"/>
              <a:buNone/>
            </a:pPr>
            <a:r>
              <a:rPr lang="en-US" b="1" dirty="0"/>
              <a:t>- </a:t>
            </a:r>
            <a:r>
              <a:rPr lang="vi-VN" b="1" dirty="0"/>
              <a:t>Global &amp; Administrational:</a:t>
            </a:r>
            <a:r>
              <a:rPr lang="vi-VN" dirty="0"/>
              <a:t> Có, rất quan trọng để giảm tải lên server.</a:t>
            </a:r>
          </a:p>
          <a:p>
            <a:pPr marL="457200" lvl="1" indent="0">
              <a:buFont typeface="+mj-lt"/>
              <a:buNone/>
            </a:pPr>
            <a:r>
              <a:rPr lang="en-US" b="1" dirty="0"/>
              <a:t>- </a:t>
            </a:r>
            <a:r>
              <a:rPr lang="vi-VN" b="1" dirty="0"/>
              <a:t>Managerial:</a:t>
            </a:r>
            <a:r>
              <a:rPr lang="vi-VN" dirty="0"/>
              <a:t> Chỉ đôi khi, đôi khi caching không hiệu quả do thay đổi quá thường xuyên.</a:t>
            </a:r>
          </a:p>
          <a:p>
            <a:endParaRPr lang="en-US" b="1" dirty="0"/>
          </a:p>
          <a:p>
            <a:r>
              <a:rPr lang="vi-VN" b="1" dirty="0"/>
              <a:t>Kết luận</a:t>
            </a:r>
          </a:p>
          <a:p>
            <a:pPr>
              <a:buFont typeface="Arial" panose="020B0604020202020204" pitchFamily="34" charset="0"/>
              <a:buChar char="•"/>
            </a:pPr>
            <a:r>
              <a:rPr lang="vi-VN" b="1" dirty="0"/>
              <a:t>Global layer</a:t>
            </a:r>
            <a:r>
              <a:rPr lang="vi-VN" dirty="0"/>
              <a:t> yêu cầu </a:t>
            </a:r>
            <a:r>
              <a:rPr lang="vi-VN" b="1" dirty="0"/>
              <a:t>sẵn sàng cao</a:t>
            </a:r>
            <a:r>
              <a:rPr lang="vi-VN" dirty="0"/>
              <a:t>, </a:t>
            </a:r>
            <a:r>
              <a:rPr lang="vi-VN" b="1" dirty="0"/>
              <a:t>đáp ứng chậm hơn</a:t>
            </a:r>
            <a:r>
              <a:rPr lang="vi-VN" dirty="0"/>
              <a:t> nhưng có </a:t>
            </a:r>
            <a:r>
              <a:rPr lang="vi-VN" b="1" dirty="0"/>
              <a:t>nhiều bản sao</a:t>
            </a:r>
            <a:r>
              <a:rPr lang="vi-VN" dirty="0"/>
              <a:t> và </a:t>
            </a:r>
            <a:r>
              <a:rPr lang="vi-VN" b="1" dirty="0"/>
              <a:t>caching mạnh</a:t>
            </a:r>
            <a:r>
              <a:rPr lang="vi-VN" dirty="0"/>
              <a:t> để chịu lỗi và tải cao khắp thế giới.</a:t>
            </a:r>
          </a:p>
          <a:p>
            <a:pPr>
              <a:buFont typeface="Arial" panose="020B0604020202020204" pitchFamily="34" charset="0"/>
              <a:buChar char="•"/>
            </a:pPr>
            <a:r>
              <a:rPr lang="vi-VN" b="1" dirty="0"/>
              <a:t>Administrational layer</a:t>
            </a:r>
            <a:r>
              <a:rPr lang="vi-VN" dirty="0"/>
              <a:t> cân bằng giữa </a:t>
            </a:r>
            <a:r>
              <a:rPr lang="vi-VN" b="1" dirty="0"/>
              <a:t>hiệu suất</a:t>
            </a:r>
            <a:r>
              <a:rPr lang="vi-VN" dirty="0"/>
              <a:t> và </a:t>
            </a:r>
            <a:r>
              <a:rPr lang="vi-VN" b="1" dirty="0"/>
              <a:t>ổn định</a:t>
            </a:r>
            <a:r>
              <a:rPr lang="vi-VN" dirty="0"/>
              <a:t>, thường dùng caching, replication vừa phải, và cập nhật nhanh để hỗ trợ cả người nội bộ.</a:t>
            </a:r>
          </a:p>
          <a:p>
            <a:pPr>
              <a:buFont typeface="Arial" panose="020B0604020202020204" pitchFamily="34" charset="0"/>
              <a:buChar char="•"/>
            </a:pPr>
            <a:r>
              <a:rPr lang="vi-VN" b="1" dirty="0"/>
              <a:t>Managerial layer</a:t>
            </a:r>
            <a:r>
              <a:rPr lang="vi-VN" dirty="0"/>
              <a:t> ưu tiên </a:t>
            </a:r>
            <a:r>
              <a:rPr lang="vi-VN" b="1" dirty="0"/>
              <a:t>phản hồi tức thời</a:t>
            </a:r>
            <a:r>
              <a:rPr lang="vi-VN" dirty="0"/>
              <a:t> và </a:t>
            </a:r>
            <a:r>
              <a:rPr lang="vi-VN" b="1" dirty="0"/>
              <a:t>quản lý động</a:t>
            </a:r>
            <a:r>
              <a:rPr lang="vi-VN" dirty="0"/>
              <a:t>, thường không cần caching hoặc replication vì tài nguyên thay đổi nhanh và chịu lỗi thấp cấp.</a:t>
            </a:r>
          </a:p>
          <a:p>
            <a:r>
              <a:rPr lang="vi-VN" dirty="0"/>
              <a:t>Hiểu rõ các khác biệt này giúp chúng ta thiết kế và cấu hình hệ thống tên (DNS, hệ thống tập tin phân tán, v.v.) sao cho phù hợp với từng mức độ quản trị và yêu cầu về hiệu năng.</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45</a:t>
            </a:fld>
            <a:endParaRPr lang="en-US"/>
          </a:p>
        </p:txBody>
      </p:sp>
    </p:spTree>
    <p:extLst>
      <p:ext uri="{BB962C8B-B14F-4D97-AF65-F5344CB8AC3E}">
        <p14:creationId xmlns:p14="http://schemas.microsoft.com/office/powerpoint/2010/main" val="32177559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Iterative Name Resolution</a:t>
            </a:r>
            <a:r>
              <a:rPr lang="vi-VN" dirty="0"/>
              <a:t> </a:t>
            </a:r>
            <a:r>
              <a:rPr lang="en-US" dirty="0"/>
              <a:t>– </a:t>
            </a:r>
            <a:r>
              <a:rPr lang="en-US" dirty="0" err="1"/>
              <a:t>Phân</a:t>
            </a:r>
            <a:r>
              <a:rPr lang="en-US" dirty="0"/>
              <a:t> </a:t>
            </a:r>
            <a:r>
              <a:rPr lang="en-US" dirty="0" err="1"/>
              <a:t>giải</a:t>
            </a:r>
            <a:r>
              <a:rPr lang="en-US" dirty="0"/>
              <a:t> </a:t>
            </a:r>
            <a:r>
              <a:rPr lang="en-US" dirty="0" err="1"/>
              <a:t>tên</a:t>
            </a:r>
            <a:r>
              <a:rPr lang="en-US" dirty="0"/>
              <a:t> </a:t>
            </a:r>
            <a:r>
              <a:rPr lang="en-US" dirty="0" err="1"/>
              <a:t>lặp</a:t>
            </a:r>
            <a:endParaRPr lang="vi-VN" dirty="0"/>
          </a:p>
          <a:p>
            <a:endParaRPr lang="en-US" b="1" dirty="0"/>
          </a:p>
          <a:p>
            <a:r>
              <a:rPr lang="vi-VN" b="1" dirty="0"/>
              <a:t>Ý tưởng chính: Iterative vs. Recursive</a:t>
            </a:r>
          </a:p>
          <a:p>
            <a:pPr>
              <a:buFont typeface="Arial" panose="020B0604020202020204" pitchFamily="34" charset="0"/>
              <a:buChar char="•"/>
            </a:pPr>
            <a:r>
              <a:rPr lang="vi-VN" b="1" dirty="0"/>
              <a:t>Iterative</a:t>
            </a:r>
            <a:r>
              <a:rPr lang="vi-VN" dirty="0"/>
              <a:t>: Client hỏi từng bước, mỗi lần chỉ hỏi một name server và tự chuyển tiếp câu hỏi cho server kế tiếp.</a:t>
            </a:r>
          </a:p>
          <a:p>
            <a:pPr>
              <a:buFont typeface="Arial" panose="020B0604020202020204" pitchFamily="34" charset="0"/>
              <a:buChar char="•"/>
            </a:pPr>
            <a:r>
              <a:rPr lang="vi-VN" b="1" dirty="0"/>
              <a:t>Recursive</a:t>
            </a:r>
            <a:r>
              <a:rPr lang="vi-VN" dirty="0"/>
              <a:t>: Name server thứ nhất sẽ thay mặt client tiếp tục hỏi các server sau, rồi trả kết quả cuối cùng về client.</a:t>
            </a:r>
          </a:p>
          <a:p>
            <a:endParaRPr lang="en-US" dirty="0"/>
          </a:p>
          <a:p>
            <a:r>
              <a:rPr lang="vi-VN" dirty="0"/>
              <a:t>Slide này chỉ trình bày </a:t>
            </a:r>
            <a:r>
              <a:rPr lang="vi-VN" b="1" dirty="0"/>
              <a:t>Iterative Resolution</a:t>
            </a:r>
            <a:r>
              <a:rPr lang="vi-VN" dirty="0"/>
              <a:t>.</a:t>
            </a:r>
          </a:p>
          <a:p>
            <a:r>
              <a:rPr lang="vi-VN" b="1" dirty="0"/>
              <a:t>Các bước của Iterative Name Resolution</a:t>
            </a:r>
          </a:p>
          <a:p>
            <a:r>
              <a:rPr lang="vi-VN" dirty="0"/>
              <a:t>Giả sử chúng ta cần phân giải tên:</a:t>
            </a:r>
          </a:p>
          <a:p>
            <a:pPr rtl="0"/>
            <a:r>
              <a:rPr lang="vi-VN" dirty="0"/>
              <a:t>root:[nl, vu, cs, ftp] </a:t>
            </a:r>
          </a:p>
          <a:p>
            <a:r>
              <a:rPr lang="vi-VN" dirty="0"/>
              <a:t>(tương đương với ftp://ftp.cs.vu.nl)</a:t>
            </a:r>
          </a:p>
          <a:p>
            <a:pPr>
              <a:buFont typeface="+mj-lt"/>
              <a:buAutoNum type="arabicPeriod"/>
            </a:pPr>
            <a:r>
              <a:rPr lang="vi-VN" b="1" dirty="0"/>
              <a:t>Client gửi</a:t>
            </a:r>
            <a:endParaRPr lang="vi-VN" dirty="0"/>
          </a:p>
          <a:p>
            <a:pPr rtl="0">
              <a:buFont typeface="+mj-lt"/>
              <a:buNone/>
            </a:pPr>
            <a:r>
              <a:rPr lang="vi-VN" dirty="0"/>
              <a:t>resolve(dir = root, [nl, vu, cs, ftp]) </a:t>
            </a:r>
          </a:p>
          <a:p>
            <a:pPr>
              <a:buFont typeface="+mj-lt"/>
              <a:buNone/>
            </a:pPr>
            <a:r>
              <a:rPr lang="vi-VN" dirty="0"/>
              <a:t>đến </a:t>
            </a:r>
            <a:r>
              <a:rPr lang="vi-VN" b="1" dirty="0"/>
              <a:t>Root Name Server</a:t>
            </a:r>
            <a:r>
              <a:rPr lang="vi-VN" dirty="0"/>
              <a:t> (địa chỉ đã biết sẵn).</a:t>
            </a:r>
          </a:p>
          <a:p>
            <a:pPr>
              <a:buFont typeface="+mj-lt"/>
              <a:buNone/>
            </a:pPr>
            <a:r>
              <a:rPr lang="en-US" b="1" dirty="0"/>
              <a:t>2.</a:t>
            </a:r>
            <a:r>
              <a:rPr lang="vi-VN" b="1" dirty="0"/>
              <a:t>Root Server</a:t>
            </a:r>
            <a:r>
              <a:rPr lang="vi-VN" dirty="0"/>
              <a:t> nhìn vào nhãn đầu nl, biết “nl” do </a:t>
            </a:r>
            <a:r>
              <a:rPr lang="vi-VN" b="1" dirty="0"/>
              <a:t>Name Server của nl</a:t>
            </a:r>
            <a:r>
              <a:rPr lang="vi-VN" dirty="0"/>
              <a:t> quản lý, nên trả về cho client:</a:t>
            </a:r>
          </a:p>
          <a:p>
            <a:pPr marL="457200" lvl="1" indent="0">
              <a:buFont typeface="+mj-lt"/>
              <a:buNone/>
            </a:pPr>
            <a:r>
              <a:rPr lang="en-US" dirty="0"/>
              <a:t>- </a:t>
            </a:r>
            <a:r>
              <a:rPr lang="vi-VN" dirty="0"/>
              <a:t>Địa chỉ của </a:t>
            </a:r>
            <a:r>
              <a:rPr lang="vi-VN" b="1" dirty="0"/>
              <a:t>Server_nl</a:t>
            </a:r>
            <a:r>
              <a:rPr lang="vi-VN" dirty="0"/>
              <a:t> (ký hiệu #[nl])</a:t>
            </a:r>
          </a:p>
          <a:p>
            <a:pPr marL="457200" lvl="1" indent="0">
              <a:buFont typeface="+mj-lt"/>
              <a:buNone/>
            </a:pPr>
            <a:r>
              <a:rPr lang="en-US" dirty="0"/>
              <a:t>- </a:t>
            </a:r>
            <a:r>
              <a:rPr lang="vi-VN" dirty="0"/>
              <a:t>Và phần tên còn lại [vu, cs, ftp].</a:t>
            </a:r>
          </a:p>
          <a:p>
            <a:pPr>
              <a:buFont typeface="+mj-lt"/>
              <a:buNone/>
            </a:pPr>
            <a:r>
              <a:rPr lang="en-US" b="1" dirty="0"/>
              <a:t>3.</a:t>
            </a:r>
            <a:r>
              <a:rPr lang="vi-VN" b="1" dirty="0"/>
              <a:t>Client</a:t>
            </a:r>
            <a:r>
              <a:rPr lang="vi-VN" dirty="0"/>
              <a:t> tiếp tục </a:t>
            </a:r>
            <a:r>
              <a:rPr lang="vi-VN" b="1" dirty="0"/>
              <a:t>gọi</a:t>
            </a:r>
            <a:endParaRPr lang="vi-VN" dirty="0"/>
          </a:p>
          <a:p>
            <a:pPr rtl="0">
              <a:buFont typeface="+mj-lt"/>
              <a:buNone/>
            </a:pPr>
            <a:r>
              <a:rPr lang="vi-VN" dirty="0"/>
              <a:t>resolve(dir = nl, [vu, cs, ftp]) </a:t>
            </a:r>
          </a:p>
          <a:p>
            <a:pPr>
              <a:buFont typeface="+mj-lt"/>
              <a:buNone/>
            </a:pPr>
            <a:r>
              <a:rPr lang="vi-VN" dirty="0"/>
              <a:t>đến </a:t>
            </a:r>
            <a:r>
              <a:rPr lang="vi-VN" b="1" dirty="0"/>
              <a:t>Server_nl</a:t>
            </a:r>
            <a:r>
              <a:rPr lang="vi-VN" dirty="0"/>
              <a:t>.</a:t>
            </a:r>
          </a:p>
          <a:p>
            <a:pPr>
              <a:buFont typeface="+mj-lt"/>
              <a:buNone/>
            </a:pPr>
            <a:r>
              <a:rPr lang="en-US" b="1" dirty="0"/>
              <a:t>4.</a:t>
            </a:r>
            <a:r>
              <a:rPr lang="vi-VN" b="1" dirty="0"/>
              <a:t>Server_nl</a:t>
            </a:r>
            <a:r>
              <a:rPr lang="vi-VN" dirty="0"/>
              <a:t> trả về:</a:t>
            </a:r>
          </a:p>
          <a:p>
            <a:pPr marL="457200" lvl="1" indent="0">
              <a:buFont typeface="+mj-lt"/>
              <a:buNone/>
            </a:pPr>
            <a:r>
              <a:rPr lang="en-US" dirty="0"/>
              <a:t>- </a:t>
            </a:r>
            <a:r>
              <a:rPr lang="vi-VN" dirty="0"/>
              <a:t>Địa chỉ của </a:t>
            </a:r>
            <a:r>
              <a:rPr lang="vi-VN" b="1" dirty="0"/>
              <a:t>Server_vu</a:t>
            </a:r>
            <a:r>
              <a:rPr lang="vi-VN" dirty="0"/>
              <a:t> (#[vu])</a:t>
            </a:r>
          </a:p>
          <a:p>
            <a:pPr marL="457200" lvl="1" indent="0">
              <a:buFont typeface="+mj-lt"/>
              <a:buNone/>
            </a:pPr>
            <a:r>
              <a:rPr lang="en-US" dirty="0"/>
              <a:t>- </a:t>
            </a:r>
            <a:r>
              <a:rPr lang="vi-VN" dirty="0"/>
              <a:t>Phần tên còn lại [cs, ftp].</a:t>
            </a:r>
          </a:p>
          <a:p>
            <a:pPr>
              <a:buFont typeface="+mj-lt"/>
              <a:buNone/>
            </a:pPr>
            <a:r>
              <a:rPr lang="en-US" b="1" dirty="0"/>
              <a:t>5.</a:t>
            </a:r>
            <a:r>
              <a:rPr lang="vi-VN" b="1" dirty="0"/>
              <a:t>Client</a:t>
            </a:r>
            <a:r>
              <a:rPr lang="vi-VN" dirty="0"/>
              <a:t> gọi</a:t>
            </a:r>
          </a:p>
          <a:p>
            <a:pPr rtl="0">
              <a:buFont typeface="+mj-lt"/>
              <a:buNone/>
            </a:pPr>
            <a:r>
              <a:rPr lang="vi-VN" dirty="0"/>
              <a:t>resolve(dir = vu, [cs, ftp]) </a:t>
            </a:r>
          </a:p>
          <a:p>
            <a:pPr>
              <a:buFont typeface="+mj-lt"/>
              <a:buNone/>
            </a:pPr>
            <a:r>
              <a:rPr lang="vi-VN" dirty="0"/>
              <a:t>đến </a:t>
            </a:r>
            <a:r>
              <a:rPr lang="vi-VN" b="1" dirty="0"/>
              <a:t>Server_vu</a:t>
            </a:r>
            <a:r>
              <a:rPr lang="vi-VN" dirty="0"/>
              <a:t>.</a:t>
            </a:r>
          </a:p>
          <a:p>
            <a:pPr>
              <a:buFont typeface="+mj-lt"/>
              <a:buNone/>
            </a:pPr>
            <a:r>
              <a:rPr lang="en-US" b="1" dirty="0"/>
              <a:t>6.</a:t>
            </a:r>
            <a:r>
              <a:rPr lang="vi-VN" b="1" dirty="0"/>
              <a:t>Server_vu</a:t>
            </a:r>
            <a:r>
              <a:rPr lang="vi-VN" dirty="0"/>
              <a:t> trả:</a:t>
            </a:r>
          </a:p>
          <a:p>
            <a:pPr marL="457200" lvl="1" indent="0">
              <a:buFont typeface="+mj-lt"/>
              <a:buNone/>
            </a:pPr>
            <a:r>
              <a:rPr lang="en-US" dirty="0"/>
              <a:t>- </a:t>
            </a:r>
            <a:r>
              <a:rPr lang="vi-VN" dirty="0"/>
              <a:t>Địa chỉ của </a:t>
            </a:r>
            <a:r>
              <a:rPr lang="vi-VN" b="1" dirty="0"/>
              <a:t>Server_cs</a:t>
            </a:r>
            <a:r>
              <a:rPr lang="vi-VN" dirty="0"/>
              <a:t> (#[cs])</a:t>
            </a:r>
          </a:p>
          <a:p>
            <a:pPr marL="457200" lvl="1" indent="0">
              <a:buFont typeface="+mj-lt"/>
              <a:buNone/>
            </a:pPr>
            <a:r>
              <a:rPr lang="en-US" dirty="0"/>
              <a:t>- </a:t>
            </a:r>
            <a:r>
              <a:rPr lang="vi-VN" dirty="0"/>
              <a:t>Phần tên còn lại [ftp].</a:t>
            </a:r>
          </a:p>
          <a:p>
            <a:pPr>
              <a:buFont typeface="+mj-lt"/>
              <a:buNone/>
            </a:pPr>
            <a:r>
              <a:rPr lang="en-US" b="1" dirty="0"/>
              <a:t>7.</a:t>
            </a:r>
            <a:r>
              <a:rPr lang="vi-VN" b="1" dirty="0"/>
              <a:t>Client</a:t>
            </a:r>
            <a:r>
              <a:rPr lang="vi-VN" dirty="0"/>
              <a:t> gọi</a:t>
            </a:r>
          </a:p>
          <a:p>
            <a:pPr rtl="0">
              <a:buFont typeface="+mj-lt"/>
              <a:buNone/>
            </a:pPr>
            <a:r>
              <a:rPr lang="vi-VN" dirty="0"/>
              <a:t>resolve(dir = cs, [ftp]) </a:t>
            </a:r>
          </a:p>
          <a:p>
            <a:pPr>
              <a:buFont typeface="+mj-lt"/>
              <a:buNone/>
            </a:pPr>
            <a:r>
              <a:rPr lang="vi-VN" dirty="0"/>
              <a:t>đến </a:t>
            </a:r>
            <a:r>
              <a:rPr lang="vi-VN" b="1" dirty="0"/>
              <a:t>Server_cs</a:t>
            </a:r>
            <a:r>
              <a:rPr lang="vi-VN" dirty="0"/>
              <a:t>, và nhận về địa chỉ của máy chủ </a:t>
            </a:r>
            <a:r>
              <a:rPr lang="vi-VN" b="1" dirty="0"/>
              <a:t>FTP</a:t>
            </a:r>
            <a:r>
              <a:rPr lang="vi-VN" dirty="0"/>
              <a:t> (#[ftp]).</a:t>
            </a:r>
          </a:p>
          <a:p>
            <a:r>
              <a:rPr lang="vi-VN" dirty="0"/>
              <a:t>Sau bước 7, client đã biết chính xác địa chỉ của ftp.cs.vu.nl và có thể tự liên hệ (bằng FTP) để yêu cầu file hoặc danh sách thư mục.</a:t>
            </a:r>
          </a:p>
          <a:p>
            <a:endParaRPr lang="en-US" b="1" dirty="0"/>
          </a:p>
          <a:p>
            <a:r>
              <a:rPr lang="vi-VN" b="1" dirty="0"/>
              <a:t>Giải thích sơ đồ trên slide</a:t>
            </a:r>
          </a:p>
          <a:p>
            <a:pPr>
              <a:buFont typeface="Arial" panose="020B0604020202020204" pitchFamily="34" charset="0"/>
              <a:buChar char="•"/>
            </a:pPr>
            <a:r>
              <a:rPr lang="vi-VN" b="1" dirty="0"/>
              <a:t>Cột bên trái</a:t>
            </a:r>
            <a:r>
              <a:rPr lang="vi-VN" dirty="0"/>
              <a:t>: Client’s name resolver tuần tự gửi và nhận kết quả.</a:t>
            </a:r>
          </a:p>
          <a:p>
            <a:pPr>
              <a:buFont typeface="Arial" panose="020B0604020202020204" pitchFamily="34" charset="0"/>
              <a:buChar char="•"/>
            </a:pPr>
            <a:r>
              <a:rPr lang="vi-VN" b="1" dirty="0"/>
              <a:t>Cột bên phải</a:t>
            </a:r>
            <a:r>
              <a:rPr lang="vi-VN" dirty="0"/>
              <a:t>: Các name server (root → nl → vu → cs) mỗi server chỉ chịu trách nhiệm </a:t>
            </a:r>
            <a:r>
              <a:rPr lang="vi-VN" b="1" dirty="0"/>
              <a:t>resolving label đầu tiên</a:t>
            </a:r>
            <a:r>
              <a:rPr lang="vi-VN" dirty="0"/>
              <a:t> trong phần tên nó nhận được, rồi trả lại địa chỉ server tiếp theo cùng phần tên còn lại.</a:t>
            </a:r>
          </a:p>
          <a:p>
            <a:r>
              <a:rPr lang="vi-VN" dirty="0"/>
              <a:t>Mũi tên đánh số 1–7 tương ứng với đúng 7 bước vừa mô tả.</a:t>
            </a:r>
          </a:p>
          <a:p>
            <a:endParaRPr lang="en-US" b="1" dirty="0"/>
          </a:p>
          <a:p>
            <a:r>
              <a:rPr lang="vi-VN" b="1" dirty="0"/>
              <a:t>Ưu – Nhược điểm Iterative</a:t>
            </a:r>
          </a:p>
          <a:p>
            <a:pPr>
              <a:buFont typeface="Arial" panose="020B0604020202020204" pitchFamily="34" charset="0"/>
              <a:buChar char="•"/>
            </a:pPr>
            <a:r>
              <a:rPr lang="vi-VN" b="1" dirty="0"/>
              <a:t>Ưu điểm</a:t>
            </a:r>
            <a:endParaRPr lang="vi-VN" dirty="0"/>
          </a:p>
          <a:p>
            <a:pPr marL="742950" lvl="1" indent="-285750">
              <a:buFont typeface="Arial" panose="020B0604020202020204" pitchFamily="34" charset="0"/>
              <a:buChar char="•"/>
            </a:pPr>
            <a:r>
              <a:rPr lang="vi-VN" dirty="0"/>
              <a:t>Đơn giản, mỗi server chỉ cần biết lá tiếp theo.</a:t>
            </a:r>
          </a:p>
          <a:p>
            <a:pPr marL="742950" lvl="1" indent="-285750">
              <a:buFont typeface="Arial" panose="020B0604020202020204" pitchFamily="34" charset="0"/>
              <a:buChar char="•"/>
            </a:pPr>
            <a:r>
              <a:rPr lang="vi-VN" dirty="0"/>
              <a:t>Server </a:t>
            </a:r>
            <a:r>
              <a:rPr lang="vi-VN" b="1" dirty="0"/>
              <a:t>global layer</a:t>
            </a:r>
            <a:r>
              <a:rPr lang="vi-VN" dirty="0"/>
              <a:t> (ví dụ root) chỉ cần iterative – không phải gánh toàn bộ quá trình.</a:t>
            </a:r>
          </a:p>
          <a:p>
            <a:pPr>
              <a:buFont typeface="Arial" panose="020B0604020202020204" pitchFamily="34" charset="0"/>
              <a:buChar char="•"/>
            </a:pPr>
            <a:r>
              <a:rPr lang="vi-VN" b="1" dirty="0"/>
              <a:t>Nhược điểm</a:t>
            </a:r>
            <a:endParaRPr lang="vi-VN" dirty="0"/>
          </a:p>
          <a:p>
            <a:pPr marL="742950" lvl="1" indent="-285750">
              <a:buFont typeface="Arial" panose="020B0604020202020204" pitchFamily="34" charset="0"/>
              <a:buChar char="•"/>
            </a:pPr>
            <a:r>
              <a:rPr lang="vi-VN" dirty="0"/>
              <a:t>Client phải </a:t>
            </a:r>
            <a:r>
              <a:rPr lang="vi-VN" b="1" dirty="0"/>
              <a:t>tự</a:t>
            </a:r>
            <a:r>
              <a:rPr lang="vi-VN" dirty="0"/>
              <a:t> duy trì logic phân giải nhiều lần.</a:t>
            </a:r>
          </a:p>
          <a:p>
            <a:pPr marL="742950" lvl="1" indent="-285750">
              <a:buFont typeface="Arial" panose="020B0604020202020204" pitchFamily="34" charset="0"/>
              <a:buChar char="•"/>
            </a:pPr>
            <a:r>
              <a:rPr lang="vi-VN" dirty="0"/>
              <a:t>Mỗi bước client–server đi qua mạng riêng biệt, có thể làm chậm hơn.</a:t>
            </a:r>
          </a:p>
          <a:p>
            <a:endParaRPr lang="en-US" b="1" dirty="0"/>
          </a:p>
          <a:p>
            <a:r>
              <a:rPr lang="vi-VN" b="1" dirty="0"/>
              <a:t>Kết luận</a:t>
            </a:r>
          </a:p>
          <a:p>
            <a:pPr>
              <a:buFont typeface="Arial" panose="020B0604020202020204" pitchFamily="34" charset="0"/>
              <a:buChar char="•"/>
            </a:pPr>
            <a:r>
              <a:rPr lang="vi-VN" dirty="0"/>
              <a:t>Iterative resolution phân công rõ ràng: </a:t>
            </a:r>
            <a:r>
              <a:rPr lang="vi-VN" b="1" dirty="0"/>
              <a:t>client</a:t>
            </a:r>
            <a:r>
              <a:rPr lang="vi-VN" dirty="0"/>
              <a:t> chịu trách nhiệm “đi đến” lần lượt từng name server.</a:t>
            </a:r>
          </a:p>
          <a:p>
            <a:pPr>
              <a:buFont typeface="Arial" panose="020B0604020202020204" pitchFamily="34" charset="0"/>
              <a:buChar char="•"/>
            </a:pPr>
            <a:r>
              <a:rPr lang="vi-VN" dirty="0"/>
              <a:t>Phù hợp với các server quan trọng (global layer) vốn không muốn chịu tải nặng.</a:t>
            </a:r>
          </a:p>
          <a:p>
            <a:pPr>
              <a:buFont typeface="Arial" panose="020B0604020202020204" pitchFamily="34" charset="0"/>
              <a:buChar char="•"/>
            </a:pPr>
            <a:r>
              <a:rPr lang="vi-VN" dirty="0"/>
              <a:t>Để tối ưu hiệu năng, người ta thường bổ sung </a:t>
            </a:r>
            <a:r>
              <a:rPr lang="vi-VN" b="1" dirty="0"/>
              <a:t>cache phía client</a:t>
            </a:r>
            <a:r>
              <a:rPr lang="vi-VN" dirty="0"/>
              <a:t> hoặc dùng </a:t>
            </a:r>
            <a:r>
              <a:rPr lang="vi-VN" b="1" dirty="0"/>
              <a:t>recursive resolution</a:t>
            </a:r>
            <a:r>
              <a:rPr lang="vi-VN" dirty="0"/>
              <a:t> ở tầng thấp hơn.</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46</a:t>
            </a:fld>
            <a:endParaRPr lang="en-US"/>
          </a:p>
        </p:txBody>
      </p:sp>
    </p:spTree>
    <p:extLst>
      <p:ext uri="{BB962C8B-B14F-4D97-AF65-F5344CB8AC3E}">
        <p14:creationId xmlns:p14="http://schemas.microsoft.com/office/powerpoint/2010/main" val="13244379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Recursive Name Resolution –</a:t>
            </a:r>
            <a:r>
              <a:rPr lang="en-US" b="1" dirty="0"/>
              <a:t> </a:t>
            </a:r>
            <a:r>
              <a:rPr lang="en-US" b="1" dirty="0" err="1"/>
              <a:t>Phân</a:t>
            </a:r>
            <a:r>
              <a:rPr lang="en-US" b="1" dirty="0"/>
              <a:t> </a:t>
            </a:r>
            <a:r>
              <a:rPr lang="en-US" b="1" dirty="0" err="1"/>
              <a:t>giải</a:t>
            </a:r>
            <a:r>
              <a:rPr lang="en-US" b="1" dirty="0"/>
              <a:t> </a:t>
            </a:r>
            <a:r>
              <a:rPr lang="en-US" b="1" dirty="0" err="1"/>
              <a:t>tên</a:t>
            </a:r>
            <a:r>
              <a:rPr lang="en-US" b="1" dirty="0"/>
              <a:t> </a:t>
            </a:r>
            <a:r>
              <a:rPr lang="en-US" b="1" dirty="0" err="1"/>
              <a:t>đệ</a:t>
            </a:r>
            <a:r>
              <a:rPr lang="en-US" b="1" dirty="0"/>
              <a:t> </a:t>
            </a:r>
            <a:r>
              <a:rPr lang="en-US" b="1" dirty="0" err="1"/>
              <a:t>quy</a:t>
            </a:r>
            <a:r>
              <a:rPr lang="en-US" b="1" dirty="0"/>
              <a:t> -</a:t>
            </a:r>
            <a:r>
              <a:rPr lang="vi-VN" b="1" dirty="0"/>
              <a:t> Nguyên tắc</a:t>
            </a:r>
          </a:p>
          <a:p>
            <a:r>
              <a:rPr lang="vi-VN" dirty="0"/>
              <a:t>Thay vì để </a:t>
            </a:r>
            <a:r>
              <a:rPr lang="vi-VN" b="1" dirty="0"/>
              <a:t>client</a:t>
            </a:r>
            <a:r>
              <a:rPr lang="vi-VN" dirty="0"/>
              <a:t> tự mình bước qua từng name server (như iterative), ở </a:t>
            </a:r>
            <a:r>
              <a:rPr lang="vi-VN" b="1" dirty="0"/>
              <a:t>recursive</a:t>
            </a:r>
            <a:r>
              <a:rPr lang="vi-VN" dirty="0"/>
              <a:t> thì </a:t>
            </a:r>
            <a:r>
              <a:rPr lang="vi-VN" b="1" dirty="0"/>
              <a:t>server đầu tiên</a:t>
            </a:r>
            <a:r>
              <a:rPr lang="vi-VN" dirty="0"/>
              <a:t> sẽ thay mặt client tiếp tục gọi các server kế tiếp, và sau cùng trả kết quả “hoàn chỉnh” về cho client.</a:t>
            </a:r>
          </a:p>
          <a:p>
            <a:endParaRPr lang="en-US" b="1" dirty="0"/>
          </a:p>
          <a:p>
            <a:r>
              <a:rPr lang="vi-VN" b="1" dirty="0"/>
              <a:t>Các bước chính</a:t>
            </a:r>
          </a:p>
          <a:p>
            <a:pPr>
              <a:buFont typeface="+mj-lt"/>
              <a:buAutoNum type="arabicPeriod"/>
            </a:pPr>
            <a:r>
              <a:rPr lang="vi-VN" b="1" dirty="0"/>
              <a:t>Client</a:t>
            </a:r>
            <a:r>
              <a:rPr lang="vi-VN" dirty="0"/>
              <a:t> gọi</a:t>
            </a:r>
          </a:p>
          <a:p>
            <a:pPr rtl="0">
              <a:buFont typeface="+mj-lt"/>
              <a:buNone/>
            </a:pPr>
            <a:r>
              <a:rPr lang="vi-VN" dirty="0"/>
              <a:t>resolve(dir = root, [nl, vu, cs, ftp]) </a:t>
            </a:r>
          </a:p>
          <a:p>
            <a:pPr>
              <a:buFont typeface="+mj-lt"/>
              <a:buNone/>
            </a:pPr>
            <a:r>
              <a:rPr lang="vi-VN" dirty="0"/>
              <a:t>tới </a:t>
            </a:r>
            <a:r>
              <a:rPr lang="vi-VN" b="1" dirty="0"/>
              <a:t>Root Name Server</a:t>
            </a:r>
            <a:r>
              <a:rPr lang="vi-VN" dirty="0"/>
              <a:t> (Server₀).</a:t>
            </a:r>
          </a:p>
          <a:p>
            <a:pPr>
              <a:buFont typeface="+mj-lt"/>
              <a:buNone/>
            </a:pPr>
            <a:r>
              <a:rPr lang="en-US" b="1" dirty="0"/>
              <a:t>2.</a:t>
            </a:r>
            <a:r>
              <a:rPr lang="vi-VN" b="1" dirty="0"/>
              <a:t>Server₀</a:t>
            </a:r>
            <a:r>
              <a:rPr lang="vi-VN" dirty="0"/>
              <a:t> (root) phân giải nhãn đầu nl → được dir₁ = nl</a:t>
            </a:r>
            <a:br>
              <a:rPr lang="vi-VN" dirty="0"/>
            </a:br>
            <a:r>
              <a:rPr lang="vi-VN" dirty="0"/>
              <a:t>→ </a:t>
            </a:r>
            <a:r>
              <a:rPr lang="vi-VN" b="1" dirty="0"/>
              <a:t>không trả</a:t>
            </a:r>
            <a:r>
              <a:rPr lang="vi-VN" dirty="0"/>
              <a:t> ngay kết quả về client, mà </a:t>
            </a:r>
            <a:r>
              <a:rPr lang="vi-VN" b="1" dirty="0"/>
              <a:t>gửi tiếp</a:t>
            </a:r>
            <a:endParaRPr lang="vi-VN" dirty="0"/>
          </a:p>
          <a:p>
            <a:pPr rtl="0">
              <a:buFont typeface="+mj-lt"/>
              <a:buNone/>
            </a:pPr>
            <a:r>
              <a:rPr lang="vi-VN" dirty="0"/>
              <a:t>resolve(dir = nl, [vu, cs, ftp]) </a:t>
            </a:r>
          </a:p>
          <a:p>
            <a:pPr>
              <a:buFont typeface="+mj-lt"/>
              <a:buNone/>
            </a:pPr>
            <a:r>
              <a:rPr lang="vi-VN" dirty="0"/>
              <a:t>đến </a:t>
            </a:r>
            <a:r>
              <a:rPr lang="vi-VN" b="1" dirty="0"/>
              <a:t>Server₁</a:t>
            </a:r>
            <a:r>
              <a:rPr lang="vi-VN" dirty="0"/>
              <a:t> (name server của nl).</a:t>
            </a:r>
          </a:p>
          <a:p>
            <a:pPr>
              <a:buFont typeface="+mj-lt"/>
              <a:buNone/>
            </a:pPr>
            <a:r>
              <a:rPr lang="en-US" b="1" dirty="0"/>
              <a:t>3. </a:t>
            </a:r>
            <a:r>
              <a:rPr lang="vi-VN" b="1" dirty="0"/>
              <a:t>Server₁</a:t>
            </a:r>
            <a:r>
              <a:rPr lang="vi-VN" dirty="0"/>
              <a:t> làm tương tự:</a:t>
            </a:r>
          </a:p>
          <a:p>
            <a:pPr marL="457200" lvl="1" indent="0">
              <a:buFont typeface="+mj-lt"/>
              <a:buNone/>
            </a:pPr>
            <a:r>
              <a:rPr lang="en-US" dirty="0"/>
              <a:t>- </a:t>
            </a:r>
            <a:r>
              <a:rPr lang="vi-VN" dirty="0"/>
              <a:t>Phân giải vu → dir₂ = vu</a:t>
            </a:r>
          </a:p>
          <a:p>
            <a:pPr marL="457200" lvl="1" indent="0">
              <a:buFont typeface="+mj-lt"/>
              <a:buNone/>
            </a:pPr>
            <a:r>
              <a:rPr lang="en-US" dirty="0"/>
              <a:t>- </a:t>
            </a:r>
            <a:r>
              <a:rPr lang="vi-VN" dirty="0"/>
              <a:t>Gửi tiếp</a:t>
            </a:r>
          </a:p>
          <a:p>
            <a:pPr marL="457200" lvl="1" indent="0" rtl="0">
              <a:buFont typeface="+mj-lt"/>
              <a:buNone/>
            </a:pPr>
            <a:r>
              <a:rPr lang="en-US" dirty="0"/>
              <a:t>	</a:t>
            </a:r>
            <a:r>
              <a:rPr lang="vi-VN" dirty="0"/>
              <a:t>resolve(dir = vu, [cs, ftp]) </a:t>
            </a:r>
          </a:p>
          <a:p>
            <a:pPr marL="457200" lvl="1" indent="0">
              <a:buFont typeface="+mj-lt"/>
              <a:buNone/>
            </a:pPr>
            <a:r>
              <a:rPr lang="en-US" dirty="0"/>
              <a:t>	</a:t>
            </a:r>
            <a:r>
              <a:rPr lang="vi-VN" dirty="0"/>
              <a:t>đến </a:t>
            </a:r>
            <a:r>
              <a:rPr lang="vi-VN" b="1" dirty="0"/>
              <a:t>Server₂</a:t>
            </a:r>
            <a:r>
              <a:rPr lang="vi-VN" dirty="0"/>
              <a:t> (name server của vu).</a:t>
            </a:r>
          </a:p>
          <a:p>
            <a:pPr>
              <a:buFont typeface="+mj-lt"/>
              <a:buNone/>
            </a:pPr>
            <a:r>
              <a:rPr lang="en-US" b="1" dirty="0"/>
              <a:t>4.</a:t>
            </a:r>
            <a:r>
              <a:rPr lang="vi-VN" b="1" dirty="0"/>
              <a:t>Server₂</a:t>
            </a:r>
            <a:r>
              <a:rPr lang="vi-VN" dirty="0"/>
              <a:t> tiếp tục phân giải cs → dir₃ = cs</a:t>
            </a:r>
            <a:br>
              <a:rPr lang="vi-VN" dirty="0"/>
            </a:br>
            <a:r>
              <a:rPr lang="vi-VN" dirty="0"/>
              <a:t>→ Gọi</a:t>
            </a:r>
          </a:p>
          <a:p>
            <a:pPr rtl="0">
              <a:buFont typeface="+mj-lt"/>
              <a:buNone/>
            </a:pPr>
            <a:r>
              <a:rPr lang="vi-VN" dirty="0"/>
              <a:t>resolve(dir = cs, [ftp]) </a:t>
            </a:r>
          </a:p>
          <a:p>
            <a:pPr>
              <a:buFont typeface="+mj-lt"/>
              <a:buNone/>
            </a:pPr>
            <a:r>
              <a:rPr lang="vi-VN" dirty="0"/>
              <a:t>đến </a:t>
            </a:r>
            <a:r>
              <a:rPr lang="vi-VN" b="1" dirty="0"/>
              <a:t>Server₃</a:t>
            </a:r>
            <a:r>
              <a:rPr lang="vi-VN" dirty="0"/>
              <a:t> (name server của cs).</a:t>
            </a:r>
          </a:p>
          <a:p>
            <a:pPr>
              <a:buFont typeface="+mj-lt"/>
              <a:buNone/>
            </a:pPr>
            <a:r>
              <a:rPr lang="en-US" b="1" dirty="0"/>
              <a:t>5.</a:t>
            </a:r>
            <a:r>
              <a:rPr lang="vi-VN" b="1" dirty="0"/>
              <a:t>Server₃</a:t>
            </a:r>
            <a:r>
              <a:rPr lang="vi-VN" dirty="0"/>
              <a:t> phân giải ftp → trả về địa chỉ #[ftp] cho </a:t>
            </a:r>
            <a:r>
              <a:rPr lang="vi-VN" b="1" dirty="0"/>
              <a:t>Server₂</a:t>
            </a:r>
            <a:r>
              <a:rPr lang="vi-VN" dirty="0"/>
              <a:t>.</a:t>
            </a:r>
          </a:p>
          <a:p>
            <a:pPr>
              <a:buFont typeface="+mj-lt"/>
              <a:buNone/>
            </a:pPr>
            <a:r>
              <a:rPr lang="en-US" b="1" dirty="0"/>
              <a:t>6.</a:t>
            </a:r>
            <a:r>
              <a:rPr lang="vi-VN" b="1" dirty="0"/>
              <a:t>Server₂</a:t>
            </a:r>
            <a:r>
              <a:rPr lang="vi-VN" dirty="0"/>
              <a:t> nhận kết quả #[ftp] từ Server₃ và trả tiếp cho </a:t>
            </a:r>
            <a:r>
              <a:rPr lang="vi-VN" b="1" dirty="0"/>
              <a:t>Server₁</a:t>
            </a:r>
            <a:r>
              <a:rPr lang="vi-VN" dirty="0"/>
              <a:t>.</a:t>
            </a:r>
          </a:p>
          <a:p>
            <a:pPr>
              <a:buFont typeface="+mj-lt"/>
              <a:buNone/>
            </a:pPr>
            <a:r>
              <a:rPr lang="en-US" b="1" dirty="0"/>
              <a:t>7.</a:t>
            </a:r>
            <a:r>
              <a:rPr lang="vi-VN" b="1" dirty="0"/>
              <a:t>Server₁</a:t>
            </a:r>
            <a:r>
              <a:rPr lang="vi-VN" dirty="0"/>
              <a:t> trả #[ftp] cho </a:t>
            </a:r>
            <a:r>
              <a:rPr lang="vi-VN" b="1" dirty="0"/>
              <a:t>Server₀</a:t>
            </a:r>
            <a:r>
              <a:rPr lang="vi-VN" dirty="0"/>
              <a:t>.</a:t>
            </a:r>
          </a:p>
          <a:p>
            <a:pPr>
              <a:buFont typeface="+mj-lt"/>
              <a:buNone/>
            </a:pPr>
            <a:r>
              <a:rPr lang="en-US" b="1" dirty="0"/>
              <a:t>8.</a:t>
            </a:r>
            <a:r>
              <a:rPr lang="vi-VN" b="1" dirty="0"/>
              <a:t>Server₀</a:t>
            </a:r>
            <a:r>
              <a:rPr lang="vi-VN" dirty="0"/>
              <a:t> cuối cùng trả #[ftp] về cho </a:t>
            </a:r>
            <a:r>
              <a:rPr lang="vi-VN" b="1" dirty="0"/>
              <a:t>Client</a:t>
            </a:r>
            <a:r>
              <a:rPr lang="vi-VN" dirty="0"/>
              <a:t>.</a:t>
            </a:r>
          </a:p>
          <a:p>
            <a:endParaRPr lang="en-US" b="1" dirty="0"/>
          </a:p>
          <a:p>
            <a:r>
              <a:rPr lang="vi-VN" b="1" dirty="0"/>
              <a:t>Giải thích sơ đồ</a:t>
            </a:r>
          </a:p>
          <a:p>
            <a:pPr>
              <a:buFont typeface="Arial" panose="020B0604020202020204" pitchFamily="34" charset="0"/>
              <a:buChar char="•"/>
            </a:pPr>
            <a:r>
              <a:rPr lang="vi-VN" b="1" dirty="0"/>
              <a:t>Cột trái</a:t>
            </a:r>
            <a:r>
              <a:rPr lang="vi-VN" dirty="0"/>
              <a:t>: Client’s name resolver chỉ gửi </a:t>
            </a:r>
            <a:r>
              <a:rPr lang="vi-VN" b="1" dirty="0"/>
              <a:t>một</a:t>
            </a:r>
            <a:r>
              <a:rPr lang="vi-VN" dirty="0"/>
              <a:t> yêu cầu ban đầu và </a:t>
            </a:r>
            <a:r>
              <a:rPr lang="vi-VN" b="1" dirty="0"/>
              <a:t>chờ</a:t>
            </a:r>
            <a:r>
              <a:rPr lang="vi-VN" dirty="0"/>
              <a:t> kết quả cuối cùng từ Server₀.</a:t>
            </a:r>
          </a:p>
          <a:p>
            <a:pPr>
              <a:buFont typeface="Arial" panose="020B0604020202020204" pitchFamily="34" charset="0"/>
              <a:buChar char="•"/>
            </a:pPr>
            <a:r>
              <a:rPr lang="vi-VN" b="1" dirty="0"/>
              <a:t>Cột phải</a:t>
            </a:r>
            <a:r>
              <a:rPr lang="vi-VN" dirty="0"/>
              <a:t>: Các server (root → nl → vu → cs) </a:t>
            </a:r>
            <a:r>
              <a:rPr lang="vi-VN" b="1" dirty="0"/>
              <a:t>nối đuôi</a:t>
            </a:r>
            <a:r>
              <a:rPr lang="vi-VN" dirty="0"/>
              <a:t> nhau, mỗi server:</a:t>
            </a:r>
          </a:p>
          <a:p>
            <a:pPr marL="742950" lvl="1" indent="-285750">
              <a:buFont typeface="Arial" panose="020B0604020202020204" pitchFamily="34" charset="0"/>
              <a:buChar char="•"/>
            </a:pPr>
            <a:r>
              <a:rPr lang="vi-VN" dirty="0"/>
              <a:t>Nhận lời gọi resolve(dir, [remaining names])</a:t>
            </a:r>
          </a:p>
          <a:p>
            <a:pPr marL="742950" lvl="1" indent="-285750">
              <a:buFont typeface="Arial" panose="020B0604020202020204" pitchFamily="34" charset="0"/>
              <a:buChar char="•"/>
            </a:pPr>
            <a:r>
              <a:rPr lang="vi-VN" dirty="0"/>
              <a:t>Phân giải nhãn đầu tiên</a:t>
            </a:r>
          </a:p>
          <a:p>
            <a:pPr marL="742950" lvl="1" indent="-285750">
              <a:buFont typeface="Arial" panose="020B0604020202020204" pitchFamily="34" charset="0"/>
              <a:buChar char="•"/>
            </a:pPr>
            <a:r>
              <a:rPr lang="vi-VN" dirty="0"/>
              <a:t>Gọi tiếp resolve tới server kế tiếp với phần tên còn lại</a:t>
            </a:r>
          </a:p>
          <a:p>
            <a:pPr marL="742950" lvl="1" indent="-285750">
              <a:buFont typeface="Arial" panose="020B0604020202020204" pitchFamily="34" charset="0"/>
              <a:buChar char="•"/>
            </a:pPr>
            <a:r>
              <a:rPr lang="vi-VN" dirty="0"/>
              <a:t>Đợi trả về và </a:t>
            </a:r>
            <a:r>
              <a:rPr lang="vi-VN" b="1" dirty="0"/>
              <a:t>propagate</a:t>
            </a:r>
            <a:r>
              <a:rPr lang="vi-VN" dirty="0"/>
              <a:t> kết quả lên trên</a:t>
            </a:r>
          </a:p>
          <a:p>
            <a:endParaRPr lang="en-US" b="1" dirty="0"/>
          </a:p>
          <a:p>
            <a:r>
              <a:rPr lang="vi-VN" b="1" dirty="0"/>
              <a:t>Ưu và nhược của Recursive</a:t>
            </a:r>
          </a:p>
          <a:p>
            <a:pPr>
              <a:buFont typeface="Arial" panose="020B0604020202020204" pitchFamily="34" charset="0"/>
              <a:buChar char="•"/>
            </a:pPr>
            <a:r>
              <a:rPr lang="vi-VN" b="1" dirty="0"/>
              <a:t>Ưu điểm</a:t>
            </a:r>
            <a:endParaRPr lang="vi-VN" dirty="0"/>
          </a:p>
          <a:p>
            <a:pPr marL="742950" lvl="1" indent="-285750">
              <a:buFont typeface="Arial" panose="020B0604020202020204" pitchFamily="34" charset="0"/>
              <a:buChar char="•"/>
            </a:pPr>
            <a:r>
              <a:rPr lang="vi-VN" dirty="0"/>
              <a:t>Client chỉ cần gửi </a:t>
            </a:r>
            <a:r>
              <a:rPr lang="vi-VN" b="1" dirty="0"/>
              <a:t>một lần</a:t>
            </a:r>
            <a:r>
              <a:rPr lang="vi-VN" dirty="0"/>
              <a:t> request ban đầu.</a:t>
            </a:r>
          </a:p>
          <a:p>
            <a:pPr marL="742950" lvl="1" indent="-285750">
              <a:buFont typeface="Arial" panose="020B0604020202020204" pitchFamily="34" charset="0"/>
              <a:buChar char="•"/>
            </a:pPr>
            <a:r>
              <a:rPr lang="vi-VN" dirty="0"/>
              <a:t>Các server dần </a:t>
            </a:r>
            <a:r>
              <a:rPr lang="vi-VN" b="1" dirty="0"/>
              <a:t>thu thập và lưu cache</a:t>
            </a:r>
            <a:r>
              <a:rPr lang="vi-VN" dirty="0"/>
              <a:t> địa chỉ của các server cấp thấp hơn, tăng hiệu quả cho các lần sau.</a:t>
            </a:r>
          </a:p>
          <a:p>
            <a:pPr>
              <a:buFont typeface="Arial" panose="020B0604020202020204" pitchFamily="34" charset="0"/>
              <a:buChar char="•"/>
            </a:pPr>
            <a:r>
              <a:rPr lang="vi-VN" b="1" dirty="0"/>
              <a:t>Nhược điểm</a:t>
            </a:r>
            <a:endParaRPr lang="vi-VN" dirty="0"/>
          </a:p>
          <a:p>
            <a:pPr marL="742950" lvl="1" indent="-285750">
              <a:buFont typeface="Arial" panose="020B0604020202020204" pitchFamily="34" charset="0"/>
              <a:buChar char="•"/>
            </a:pPr>
            <a:r>
              <a:rPr lang="vi-VN" dirty="0"/>
              <a:t>Đặt gánh nặng lên server ở </a:t>
            </a:r>
            <a:r>
              <a:rPr lang="vi-VN" b="1" dirty="0"/>
              <a:t>global layer</a:t>
            </a:r>
            <a:r>
              <a:rPr lang="vi-VN" dirty="0"/>
              <a:t> nếu họ phải đệ quy toàn bộ (thường global servers chỉ cho iterative).</a:t>
            </a:r>
          </a:p>
          <a:p>
            <a:pPr marL="742950" lvl="1" indent="-285750">
              <a:buFont typeface="Arial" panose="020B0604020202020204" pitchFamily="34" charset="0"/>
              <a:buChar char="•"/>
            </a:pPr>
            <a:r>
              <a:rPr lang="vi-VN" dirty="0"/>
              <a:t>Mỗi server phải duy trì kết nối chờ đến khi nhận về kết quả cuối cùng.</a:t>
            </a:r>
          </a:p>
          <a:p>
            <a:endParaRPr lang="en-US" b="1" dirty="0"/>
          </a:p>
          <a:p>
            <a:r>
              <a:rPr lang="vi-VN" b="1" dirty="0"/>
              <a:t>Khi nào dùng?</a:t>
            </a:r>
          </a:p>
          <a:p>
            <a:pPr>
              <a:buFont typeface="Arial" panose="020B0604020202020204" pitchFamily="34" charset="0"/>
              <a:buChar char="•"/>
            </a:pPr>
            <a:r>
              <a:rPr lang="vi-VN" b="1" dirty="0"/>
              <a:t>Global layer</a:t>
            </a:r>
            <a:r>
              <a:rPr lang="vi-VN" dirty="0"/>
              <a:t> (ví dụ các root server DNS) </a:t>
            </a:r>
            <a:r>
              <a:rPr lang="vi-VN" b="1" dirty="0"/>
              <a:t>thường chỉ hỗ trợ iterative</a:t>
            </a:r>
            <a:r>
              <a:rPr lang="vi-VN" dirty="0"/>
              <a:t> để tránh chịu tải recursion.</a:t>
            </a:r>
          </a:p>
          <a:p>
            <a:pPr>
              <a:buFont typeface="Arial" panose="020B0604020202020204" pitchFamily="34" charset="0"/>
              <a:buChar char="•"/>
            </a:pPr>
            <a:r>
              <a:rPr lang="vi-VN" b="1" dirty="0"/>
              <a:t>Administrational/Managerial layer</a:t>
            </a:r>
            <a:r>
              <a:rPr lang="vi-VN" dirty="0"/>
              <a:t> có thể dùng recursive để đơn giản hóa client và tận dụng cache trên server.</a:t>
            </a:r>
          </a:p>
          <a:p>
            <a:endParaRPr lang="en-US" b="1" dirty="0"/>
          </a:p>
          <a:p>
            <a:r>
              <a:rPr lang="vi-VN" b="1" dirty="0"/>
              <a:t>Tóm lại</a:t>
            </a:r>
            <a:r>
              <a:rPr lang="vi-VN" dirty="0"/>
              <a:t>, recursive resolution là cách “chuyền tiếp” request qua các name server cho tới khi đi hết các nhãn trong path, rồi “quay ngược” trả kết quả về client.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47</a:t>
            </a:fld>
            <a:endParaRPr lang="en-US"/>
          </a:p>
        </p:txBody>
      </p:sp>
    </p:spTree>
    <p:extLst>
      <p:ext uri="{BB962C8B-B14F-4D97-AF65-F5344CB8AC3E}">
        <p14:creationId xmlns:p14="http://schemas.microsoft.com/office/powerpoint/2010/main" val="29522005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Caching trong Recursive Name Resolution</a:t>
            </a:r>
          </a:p>
          <a:p>
            <a:endParaRPr lang="en-US" dirty="0"/>
          </a:p>
          <a:p>
            <a:r>
              <a:rPr lang="vi-VN" dirty="0"/>
              <a:t>Chúng ta tiếp tục dùng ví dụ phân giải đường dẫn</a:t>
            </a:r>
          </a:p>
          <a:p>
            <a:pPr rtl="0"/>
            <a:r>
              <a:rPr lang="vi-VN" dirty="0"/>
              <a:t>root:[nl, vu, cs, ftp] </a:t>
            </a:r>
          </a:p>
          <a:p>
            <a:r>
              <a:rPr lang="vi-VN" dirty="0"/>
              <a:t>(biết tương đương ftp://ftp.cs.vu.nl).</a:t>
            </a:r>
          </a:p>
          <a:p>
            <a:endParaRPr lang="en-US" dirty="0"/>
          </a:p>
          <a:p>
            <a:r>
              <a:rPr lang="vi-VN" dirty="0"/>
              <a:t>Khi dùng </a:t>
            </a:r>
            <a:r>
              <a:rPr lang="vi-VN" b="1" dirty="0"/>
              <a:t>recursive</a:t>
            </a:r>
            <a:r>
              <a:rPr lang="vi-VN" dirty="0"/>
              <a:t>, mỗi name server không chỉ gọi tiếp server con mà còn </a:t>
            </a:r>
            <a:r>
              <a:rPr lang="vi-VN" b="1" dirty="0"/>
              <a:t>đợi</a:t>
            </a:r>
            <a:r>
              <a:rPr lang="vi-VN" dirty="0"/>
              <a:t>, </a:t>
            </a:r>
            <a:r>
              <a:rPr lang="vi-VN" b="1" dirty="0"/>
              <a:t>nhận kết quả</a:t>
            </a:r>
            <a:r>
              <a:rPr lang="vi-VN" dirty="0"/>
              <a:t> và </a:t>
            </a:r>
            <a:r>
              <a:rPr lang="vi-VN" b="1" dirty="0"/>
              <a:t>lưu vào cache</a:t>
            </a:r>
            <a:r>
              <a:rPr lang="vi-VN" dirty="0"/>
              <a:t> trước khi trả về cho server cha hay client. Bảng </a:t>
            </a:r>
            <a:r>
              <a:rPr lang="en-US" dirty="0" err="1"/>
              <a:t>trong</a:t>
            </a:r>
            <a:r>
              <a:rPr lang="en-US" dirty="0"/>
              <a:t> slide </a:t>
            </a:r>
            <a:r>
              <a:rPr lang="vi-VN" dirty="0"/>
              <a:t>này mô tả hành vi của từng server trong chuỗi:</a:t>
            </a:r>
          </a:p>
          <a:p>
            <a:endParaRPr lang="en-US" b="1" dirty="0"/>
          </a:p>
          <a:p>
            <a:r>
              <a:rPr lang="vi-VN" b="1" dirty="0"/>
              <a:t>Diễn giải từng cột</a:t>
            </a:r>
          </a:p>
          <a:p>
            <a:pPr>
              <a:buFont typeface="+mj-lt"/>
              <a:buAutoNum type="arabicPeriod"/>
            </a:pPr>
            <a:r>
              <a:rPr lang="vi-VN" b="1" dirty="0"/>
              <a:t>Server cho node</a:t>
            </a:r>
            <a:br>
              <a:rPr lang="vi-VN" dirty="0"/>
            </a:br>
            <a:r>
              <a:rPr lang="en-US" dirty="0"/>
              <a:t>-</a:t>
            </a:r>
            <a:r>
              <a:rPr lang="vi-VN" dirty="0"/>
              <a:t> Tầng phân giải đang xử lý: cs, rồi vu, rồi nl, và cuối cùng root.</a:t>
            </a:r>
          </a:p>
          <a:p>
            <a:pPr>
              <a:buFont typeface="+mj-lt"/>
              <a:buAutoNum type="arabicPeriod"/>
            </a:pPr>
            <a:r>
              <a:rPr lang="vi-VN" b="1" dirty="0"/>
              <a:t>“Should resolve”</a:t>
            </a:r>
            <a:br>
              <a:rPr lang="vi-VN" dirty="0"/>
            </a:br>
            <a:r>
              <a:rPr lang="en-US" dirty="0"/>
              <a:t>-</a:t>
            </a:r>
            <a:r>
              <a:rPr lang="vi-VN" dirty="0"/>
              <a:t> Phần danh sách tên mà server đó phải giải:</a:t>
            </a:r>
          </a:p>
          <a:p>
            <a:pPr marL="457200" lvl="1" indent="0">
              <a:buFont typeface="+mj-lt"/>
              <a:buNone/>
            </a:pPr>
            <a:r>
              <a:rPr lang="en-US" dirty="0"/>
              <a:t>+ </a:t>
            </a:r>
            <a:r>
              <a:rPr lang="vi-VN" dirty="0"/>
              <a:t>cs chỉ còn [ftp]</a:t>
            </a:r>
          </a:p>
          <a:p>
            <a:pPr marL="457200" lvl="1" indent="0">
              <a:buFont typeface="+mj-lt"/>
              <a:buNone/>
            </a:pPr>
            <a:r>
              <a:rPr lang="en-US" dirty="0"/>
              <a:t>+ </a:t>
            </a:r>
            <a:r>
              <a:rPr lang="vi-VN" dirty="0"/>
              <a:t>vu còn [cs, ftp]</a:t>
            </a:r>
          </a:p>
          <a:p>
            <a:pPr marL="457200" lvl="1" indent="0">
              <a:buFont typeface="+mj-lt"/>
              <a:buNone/>
            </a:pPr>
            <a:r>
              <a:rPr lang="en-US" dirty="0"/>
              <a:t>+ </a:t>
            </a:r>
            <a:r>
              <a:rPr lang="vi-VN" dirty="0"/>
              <a:t>nl còn [vu, cs, ftp]</a:t>
            </a:r>
          </a:p>
          <a:p>
            <a:pPr marL="457200" lvl="1" indent="0">
              <a:buFont typeface="+mj-lt"/>
              <a:buNone/>
            </a:pPr>
            <a:r>
              <a:rPr lang="en-US" dirty="0"/>
              <a:t>+ </a:t>
            </a:r>
            <a:r>
              <a:rPr lang="vi-VN" dirty="0"/>
              <a:t>root giữ toàn bộ [nl, vu, cs, ftp]</a:t>
            </a:r>
          </a:p>
          <a:p>
            <a:pPr>
              <a:buFont typeface="+mj-lt"/>
              <a:buAutoNum type="arabicPeriod"/>
            </a:pPr>
            <a:r>
              <a:rPr lang="vi-VN" b="1" dirty="0"/>
              <a:t>“Looks up”</a:t>
            </a:r>
            <a:br>
              <a:rPr lang="vi-VN" dirty="0"/>
            </a:br>
            <a:r>
              <a:rPr lang="en-US" dirty="0"/>
              <a:t>-</a:t>
            </a:r>
            <a:r>
              <a:rPr lang="vi-VN" dirty="0"/>
              <a:t> Server tra nhãn đầu tiên trong dãy, tìm #[label] là địa chỉ của server con:</a:t>
            </a:r>
          </a:p>
          <a:p>
            <a:pPr marL="457200" lvl="1" indent="0">
              <a:buFont typeface="+mj-lt"/>
              <a:buNone/>
            </a:pPr>
            <a:r>
              <a:rPr lang="en-US" dirty="0"/>
              <a:t>+ </a:t>
            </a:r>
            <a:r>
              <a:rPr lang="vi-VN" dirty="0"/>
              <a:t>cs lookup #[ftp]</a:t>
            </a:r>
          </a:p>
          <a:p>
            <a:pPr marL="457200" lvl="1" indent="0">
              <a:buFont typeface="+mj-lt"/>
              <a:buNone/>
            </a:pPr>
            <a:r>
              <a:rPr lang="en-US" dirty="0"/>
              <a:t>+ </a:t>
            </a:r>
            <a:r>
              <a:rPr lang="vi-VN" dirty="0"/>
              <a:t>vu lookup #[cs],… v.v.</a:t>
            </a:r>
          </a:p>
          <a:p>
            <a:pPr>
              <a:buFont typeface="+mj-lt"/>
              <a:buAutoNum type="arabicPeriod"/>
            </a:pPr>
            <a:r>
              <a:rPr lang="vi-VN" b="1" dirty="0"/>
              <a:t>“Passes to child”</a:t>
            </a:r>
            <a:br>
              <a:rPr lang="vi-VN" dirty="0"/>
            </a:br>
            <a:r>
              <a:rPr lang="en-US" dirty="0"/>
              <a:t>-</a:t>
            </a:r>
            <a:r>
              <a:rPr lang="vi-VN" dirty="0"/>
              <a:t> Phần còn lại của chuỗi tên được gửi tiếp cho server con để nó tiếp tục phân giải:</a:t>
            </a:r>
          </a:p>
          <a:p>
            <a:pPr marL="457200" lvl="1" indent="0">
              <a:buFont typeface="+mj-lt"/>
              <a:buNone/>
            </a:pPr>
            <a:r>
              <a:rPr lang="en-US" dirty="0"/>
              <a:t>+ </a:t>
            </a:r>
            <a:r>
              <a:rPr lang="vi-VN" dirty="0"/>
              <a:t>vu chuyển [ftp] cho cs</a:t>
            </a:r>
          </a:p>
          <a:p>
            <a:pPr marL="457200" lvl="1" indent="0">
              <a:buFont typeface="+mj-lt"/>
              <a:buNone/>
            </a:pPr>
            <a:r>
              <a:rPr lang="en-US" dirty="0"/>
              <a:t>+ </a:t>
            </a:r>
            <a:r>
              <a:rPr lang="vi-VN" dirty="0"/>
              <a:t>nl chuyển [cs, ftp] cho vu</a:t>
            </a:r>
          </a:p>
          <a:p>
            <a:pPr marL="457200" lvl="1" indent="0">
              <a:buFont typeface="+mj-lt"/>
              <a:buNone/>
            </a:pPr>
            <a:r>
              <a:rPr lang="en-US" dirty="0"/>
              <a:t>+ </a:t>
            </a:r>
            <a:r>
              <a:rPr lang="vi-VN" dirty="0"/>
              <a:t>root chuyển [vu, cs, ftp] cho nl</a:t>
            </a:r>
          </a:p>
          <a:p>
            <a:pPr>
              <a:buFont typeface="+mj-lt"/>
              <a:buAutoNum type="arabicPeriod"/>
            </a:pPr>
            <a:r>
              <a:rPr lang="vi-VN" b="1" dirty="0"/>
              <a:t>“Receives and caches”</a:t>
            </a:r>
            <a:br>
              <a:rPr lang="vi-VN" dirty="0"/>
            </a:br>
            <a:r>
              <a:rPr lang="en-US" dirty="0"/>
              <a:t>-</a:t>
            </a:r>
            <a:r>
              <a:rPr lang="vi-VN" dirty="0"/>
              <a:t> Khi server con trả về địa chỉ cho phần nó lookup, server cha lưu vào cache:</a:t>
            </a:r>
          </a:p>
          <a:p>
            <a:pPr marL="457200" lvl="1" indent="0">
              <a:buFont typeface="+mj-lt"/>
              <a:buNone/>
            </a:pPr>
            <a:r>
              <a:rPr lang="en-US" dirty="0"/>
              <a:t>+ </a:t>
            </a:r>
            <a:r>
              <a:rPr lang="vi-VN" dirty="0"/>
              <a:t>vu nhận #[ftp] và cache nó</a:t>
            </a:r>
          </a:p>
          <a:p>
            <a:pPr marL="457200" lvl="1" indent="0">
              <a:buFont typeface="+mj-lt"/>
              <a:buNone/>
            </a:pPr>
            <a:r>
              <a:rPr lang="en-US" dirty="0"/>
              <a:t>+ </a:t>
            </a:r>
            <a:r>
              <a:rPr lang="vi-VN" dirty="0"/>
              <a:t>nl nhận #[cs] và #[cs, ftp], cache cả hai</a:t>
            </a:r>
          </a:p>
          <a:p>
            <a:pPr marL="457200" lvl="1" indent="0">
              <a:buFont typeface="+mj-lt"/>
              <a:buNone/>
            </a:pPr>
            <a:r>
              <a:rPr lang="en-US" dirty="0"/>
              <a:t>+ </a:t>
            </a:r>
            <a:r>
              <a:rPr lang="vi-VN" dirty="0"/>
              <a:t>root nhận #[vu], #[vu, cs], #[vu, cs, ftp], cache toàn bộ</a:t>
            </a:r>
          </a:p>
          <a:p>
            <a:pPr>
              <a:buFont typeface="+mj-lt"/>
              <a:buAutoNum type="arabicPeriod"/>
            </a:pPr>
            <a:r>
              <a:rPr lang="vi-VN" b="1" dirty="0"/>
              <a:t>“Returns to requester”</a:t>
            </a:r>
            <a:br>
              <a:rPr lang="vi-VN" dirty="0"/>
            </a:br>
            <a:r>
              <a:rPr lang="en-US" dirty="0"/>
              <a:t>-</a:t>
            </a:r>
            <a:r>
              <a:rPr lang="vi-VN" dirty="0"/>
              <a:t> Cuối cùng server cha trả kết quả (địa chỉ của chính mình) cho bên gọi:</a:t>
            </a:r>
          </a:p>
          <a:p>
            <a:pPr marL="457200" lvl="1" indent="0">
              <a:buFont typeface="+mj-lt"/>
              <a:buNone/>
            </a:pPr>
            <a:r>
              <a:rPr lang="en-US" dirty="0"/>
              <a:t>+ </a:t>
            </a:r>
            <a:r>
              <a:rPr lang="vi-VN" dirty="0"/>
              <a:t>cs trả #[ftp] cho vu</a:t>
            </a:r>
          </a:p>
          <a:p>
            <a:pPr marL="457200" lvl="1" indent="0">
              <a:buFont typeface="+mj-lt"/>
              <a:buNone/>
            </a:pPr>
            <a:r>
              <a:rPr lang="en-US" dirty="0"/>
              <a:t>+ </a:t>
            </a:r>
            <a:r>
              <a:rPr lang="vi-VN" dirty="0"/>
              <a:t>vu trả lần lượt #[cs] rồi #[cs, ftp] cho nl</a:t>
            </a:r>
          </a:p>
          <a:p>
            <a:pPr marL="457200" lvl="1" indent="0">
              <a:buFont typeface="+mj-lt"/>
              <a:buNone/>
            </a:pPr>
            <a:r>
              <a:rPr lang="en-US" dirty="0"/>
              <a:t>+ </a:t>
            </a:r>
            <a:r>
              <a:rPr lang="vi-VN" dirty="0"/>
              <a:t>nl trả #[vu], #[vu, cs], #[vu, cs, ftp] cho root</a:t>
            </a:r>
          </a:p>
          <a:p>
            <a:pPr marL="457200" lvl="1" indent="0">
              <a:buFont typeface="+mj-lt"/>
              <a:buNone/>
            </a:pPr>
            <a:r>
              <a:rPr lang="en-US" dirty="0"/>
              <a:t>+ </a:t>
            </a:r>
            <a:r>
              <a:rPr lang="vi-VN" dirty="0"/>
              <a:t>root trả #[nl], #[nl, vu], #[nl, vu, cs], #[nl, vu, cs, ftp] cho client</a:t>
            </a:r>
          </a:p>
          <a:p>
            <a:endParaRPr lang="en-US" b="1" dirty="0"/>
          </a:p>
          <a:p>
            <a:r>
              <a:rPr lang="vi-VN" b="1" dirty="0"/>
              <a:t>Ý nghĩa của caching ở mỗi bước</a:t>
            </a:r>
          </a:p>
          <a:p>
            <a:pPr>
              <a:buFont typeface="Arial" panose="020B0604020202020204" pitchFamily="34" charset="0"/>
              <a:buChar char="•"/>
            </a:pPr>
            <a:r>
              <a:rPr lang="vi-VN" b="1" dirty="0"/>
              <a:t>Giảm độ trễ cho các lần gọi sau</a:t>
            </a:r>
            <a:r>
              <a:rPr lang="vi-VN" dirty="0"/>
              <a:t>: Khi client hay bất cứ ai yêu cầu lại cùng prefix (ví dụ [nl, vu]), root server đã có #[nl, vu] trong cache, trả ngay mà không phải gọi tiếp xuống nl hay vu.</a:t>
            </a:r>
          </a:p>
          <a:p>
            <a:pPr>
              <a:buFont typeface="Arial" panose="020B0604020202020204" pitchFamily="34" charset="0"/>
              <a:buChar char="•"/>
            </a:pPr>
            <a:r>
              <a:rPr lang="vi-VN" b="1" dirty="0"/>
              <a:t>Lan truyền cache xuống các tầng thấp</a:t>
            </a:r>
            <a:r>
              <a:rPr lang="vi-VN" dirty="0"/>
              <a:t>: Vì chúng ta dùng recursive, mỗi server cha được trả kèm phần lookup còn lại, nên có thể cache nhiều biến thể sub-path.</a:t>
            </a:r>
          </a:p>
          <a:p>
            <a:pPr>
              <a:buFont typeface="Arial" panose="020B0604020202020204" pitchFamily="34" charset="0"/>
              <a:buChar char="•"/>
            </a:pPr>
            <a:r>
              <a:rPr lang="vi-VN" b="1" dirty="0"/>
              <a:t>Tối ưu băng thông và giảm tải lên các name server toàn cầu</a:t>
            </a:r>
            <a:r>
              <a:rPr lang="vi-VN" dirty="0"/>
              <a:t>: Nhờ cache, root và nl không phải xử lý cùng một truy vấn lặp lại.</a:t>
            </a:r>
          </a:p>
          <a:p>
            <a:endParaRPr lang="en-US" b="1" dirty="0"/>
          </a:p>
          <a:p>
            <a:r>
              <a:rPr lang="vi-VN" b="1" dirty="0"/>
              <a:t>Kết luận cho sinh viên</a:t>
            </a:r>
          </a:p>
          <a:p>
            <a:pPr>
              <a:buFont typeface="Arial" panose="020B0604020202020204" pitchFamily="34" charset="0"/>
              <a:buChar char="•"/>
            </a:pPr>
            <a:r>
              <a:rPr lang="vi-VN" b="1" dirty="0"/>
              <a:t>Recursive resolution</a:t>
            </a:r>
            <a:r>
              <a:rPr lang="vi-VN" dirty="0"/>
              <a:t> không chỉ “truyền tiếp” request, mà còn </a:t>
            </a:r>
            <a:r>
              <a:rPr lang="vi-VN" b="1" dirty="0"/>
              <a:t>thu thập</a:t>
            </a:r>
            <a:r>
              <a:rPr lang="vi-VN" dirty="0"/>
              <a:t> và </a:t>
            </a:r>
            <a:r>
              <a:rPr lang="vi-VN" b="1" dirty="0"/>
              <a:t>bộ nhớ đệm</a:t>
            </a:r>
            <a:r>
              <a:rPr lang="vi-VN" dirty="0"/>
              <a:t> (cache) tối đa các kết quả trung gian.</a:t>
            </a:r>
          </a:p>
          <a:p>
            <a:pPr>
              <a:buFont typeface="Arial" panose="020B0604020202020204" pitchFamily="34" charset="0"/>
              <a:buChar char="•"/>
            </a:pPr>
            <a:r>
              <a:rPr lang="vi-VN" dirty="0"/>
              <a:t>Nhờ vậy, bất kỳ truy vấn nào chia sẻ prefix với một đường dẫn đã phân giải sẽ được phục vụ ngay tại server cao hơn, </a:t>
            </a:r>
            <a:r>
              <a:rPr lang="vi-VN" b="1" dirty="0"/>
              <a:t>giảm thời gian</a:t>
            </a:r>
            <a:r>
              <a:rPr lang="vi-VN" dirty="0"/>
              <a:t> và </a:t>
            </a:r>
            <a:r>
              <a:rPr lang="vi-VN" b="1" dirty="0"/>
              <a:t>giảm số lần gọi mạng</a:t>
            </a:r>
            <a:r>
              <a:rPr lang="vi-VN" dirty="0"/>
              <a: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48</a:t>
            </a:fld>
            <a:endParaRPr lang="en-US"/>
          </a:p>
        </p:txBody>
      </p:sp>
    </p:spTree>
    <p:extLst>
      <p:ext uri="{BB962C8B-B14F-4D97-AF65-F5344CB8AC3E}">
        <p14:creationId xmlns:p14="http://schemas.microsoft.com/office/powerpoint/2010/main" val="1428887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“Scalability issues”</a:t>
            </a:r>
            <a:r>
              <a:rPr lang="vi-VN" dirty="0"/>
              <a:t> </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về</a:t>
            </a:r>
            <a:r>
              <a:rPr lang="en-US" dirty="0"/>
              <a:t> </a:t>
            </a:r>
            <a:r>
              <a:rPr lang="en-US" dirty="0" err="1"/>
              <a:t>mở</a:t>
            </a:r>
            <a:r>
              <a:rPr lang="en-US" dirty="0"/>
              <a:t> </a:t>
            </a:r>
            <a:r>
              <a:rPr lang="en-US" dirty="0" err="1"/>
              <a:t>rộng</a:t>
            </a:r>
            <a:endParaRPr lang="vi-VN" dirty="0"/>
          </a:p>
          <a:p>
            <a:endParaRPr lang="en-US" b="1" dirty="0"/>
          </a:p>
          <a:p>
            <a:r>
              <a:rPr lang="en-US" b="1" dirty="0"/>
              <a:t>1. </a:t>
            </a:r>
            <a:r>
              <a:rPr lang="vi-VN" b="1" dirty="0"/>
              <a:t>Size scalability – Vấn đề về khả năng mở rộng quy mô</a:t>
            </a:r>
          </a:p>
          <a:p>
            <a:pPr>
              <a:buFont typeface="Arial" panose="020B0604020202020204" pitchFamily="34" charset="0"/>
              <a:buChar char="•"/>
            </a:pPr>
            <a:r>
              <a:rPr lang="vi-VN" b="1" dirty="0"/>
              <a:t>Thực trạng:</a:t>
            </a:r>
            <a:br>
              <a:rPr lang="vi-VN" dirty="0"/>
            </a:br>
            <a:r>
              <a:rPr lang="vi-VN" dirty="0"/>
              <a:t>Khi hệ thống tên (DNS, hệ thống file phân tán…) phát triển đến quy mô hàng triệu, hàng trăm triệu người dùng, số lượng truy vấn mỗi giây tăng vọt.</a:t>
            </a:r>
          </a:p>
          <a:p>
            <a:pPr>
              <a:buFont typeface="Arial" panose="020B0604020202020204" pitchFamily="34" charset="0"/>
              <a:buChar char="•"/>
            </a:pPr>
            <a:r>
              <a:rPr lang="vi-VN" b="1" dirty="0"/>
              <a:t>Thách thức:</a:t>
            </a:r>
            <a:br>
              <a:rPr lang="vi-VN" dirty="0"/>
            </a:br>
            <a:r>
              <a:rPr lang="vi-VN" dirty="0"/>
              <a:t>Các name server </a:t>
            </a:r>
            <a:r>
              <a:rPr lang="vi-VN" b="1" dirty="0"/>
              <a:t>cấp cao</a:t>
            </a:r>
            <a:r>
              <a:rPr lang="vi-VN" dirty="0"/>
              <a:t> (global, administrational) chịu tải khổng lồ—nếu mỗi client đều phải hỏi trực tiếp root server hay server tổ chức, chúng sẽ nhanh chóng quá tải.</a:t>
            </a:r>
          </a:p>
          <a:p>
            <a:endParaRPr lang="en-US" b="1" dirty="0"/>
          </a:p>
          <a:p>
            <a:r>
              <a:rPr lang="en-US" b="1" dirty="0"/>
              <a:t>2. </a:t>
            </a:r>
            <a:r>
              <a:rPr lang="vi-VN" b="1" dirty="0"/>
              <a:t>Giải pháp: Replication (Sao chép) &amp; Caching</a:t>
            </a:r>
          </a:p>
          <a:p>
            <a:pPr>
              <a:buFont typeface="+mj-lt"/>
              <a:buNone/>
            </a:pPr>
            <a:r>
              <a:rPr lang="en-US" b="1" dirty="0"/>
              <a:t>a. </a:t>
            </a:r>
            <a:r>
              <a:rPr lang="vi-VN" b="1" dirty="0"/>
              <a:t>Giả định then chốt:</a:t>
            </a:r>
            <a:br>
              <a:rPr lang="vi-VN" dirty="0"/>
            </a:br>
            <a:r>
              <a:rPr lang="vi-VN" dirty="0"/>
              <a:t>Ở </a:t>
            </a:r>
            <a:r>
              <a:rPr lang="vi-VN" b="1" dirty="0"/>
              <a:t>global</a:t>
            </a:r>
            <a:r>
              <a:rPr lang="vi-VN" dirty="0"/>
              <a:t> và </a:t>
            </a:r>
            <a:r>
              <a:rPr lang="vi-VN" b="1" dirty="0"/>
              <a:t>administrational layer</a:t>
            </a:r>
            <a:r>
              <a:rPr lang="vi-VN" dirty="0"/>
              <a:t>, </a:t>
            </a:r>
            <a:r>
              <a:rPr lang="vi-VN" b="1" dirty="0"/>
              <a:t>nội dung node</a:t>
            </a:r>
            <a:r>
              <a:rPr lang="vi-VN" dirty="0"/>
              <a:t> (ví dụ: bản đồ từ tên miền “.com” đến các name server cấp thấp) </a:t>
            </a:r>
            <a:r>
              <a:rPr lang="vi-VN" b="1" dirty="0"/>
              <a:t>ít khi thay đổi</a:t>
            </a:r>
            <a:r>
              <a:rPr lang="vi-VN" dirty="0"/>
              <a:t>.</a:t>
            </a:r>
          </a:p>
          <a:p>
            <a:pPr>
              <a:buFont typeface="+mj-lt"/>
              <a:buNone/>
            </a:pPr>
            <a:r>
              <a:rPr lang="en-US" b="1" dirty="0"/>
              <a:t>b. </a:t>
            </a:r>
            <a:r>
              <a:rPr lang="vi-VN" b="1" dirty="0"/>
              <a:t>Áp dụng:</a:t>
            </a:r>
            <a:endParaRPr lang="vi-VN" dirty="0"/>
          </a:p>
          <a:p>
            <a:pPr marL="457200" lvl="1" indent="0">
              <a:buFont typeface="+mj-lt"/>
              <a:buNone/>
            </a:pPr>
            <a:r>
              <a:rPr lang="en-US" b="1" dirty="0"/>
              <a:t>- </a:t>
            </a:r>
            <a:r>
              <a:rPr lang="vi-VN" b="1" dirty="0"/>
              <a:t>Replication:</a:t>
            </a:r>
            <a:br>
              <a:rPr lang="vi-VN" dirty="0"/>
            </a:br>
            <a:r>
              <a:rPr lang="en-US" dirty="0"/>
              <a:t>	+ </a:t>
            </a:r>
            <a:r>
              <a:rPr lang="vi-VN" dirty="0"/>
              <a:t>Phân tán nhiều bản sao của các name server này về khắp thế giới.</a:t>
            </a:r>
            <a:br>
              <a:rPr lang="vi-VN" dirty="0"/>
            </a:br>
            <a:r>
              <a:rPr lang="en-US" dirty="0"/>
              <a:t>	+ </a:t>
            </a:r>
            <a:r>
              <a:rPr lang="vi-VN" dirty="0"/>
              <a:t>Mỗi client khi khởi đầu phân giải tên có thể </a:t>
            </a:r>
            <a:r>
              <a:rPr lang="vi-VN" b="1" dirty="0"/>
              <a:t>chọn server gần nhất</a:t>
            </a:r>
            <a:r>
              <a:rPr lang="vi-VN" dirty="0"/>
              <a:t> hoặc ít tải nhất.</a:t>
            </a:r>
          </a:p>
          <a:p>
            <a:pPr marL="457200" lvl="1" indent="0">
              <a:buFont typeface="+mj-lt"/>
              <a:buNone/>
            </a:pPr>
            <a:r>
              <a:rPr lang="en-US" b="1" dirty="0"/>
              <a:t>- </a:t>
            </a:r>
            <a:r>
              <a:rPr lang="vi-VN" b="1" dirty="0"/>
              <a:t>Caching:</a:t>
            </a:r>
            <a:br>
              <a:rPr lang="vi-VN" dirty="0"/>
            </a:br>
            <a:r>
              <a:rPr lang="en-US" dirty="0"/>
              <a:t>	+ </a:t>
            </a:r>
            <a:r>
              <a:rPr lang="vi-VN" dirty="0"/>
              <a:t>Kết quả lookup (bao gồm cả kết quả trung gian) được lưu trên client hoặc các server trung gian.</a:t>
            </a:r>
          </a:p>
          <a:p>
            <a:pPr>
              <a:buFont typeface="+mj-lt"/>
              <a:buNone/>
            </a:pPr>
            <a:r>
              <a:rPr lang="en-US" b="1" dirty="0"/>
              <a:t>c. </a:t>
            </a:r>
            <a:r>
              <a:rPr lang="vi-VN" b="1" dirty="0"/>
              <a:t>Kết quả:</a:t>
            </a:r>
            <a:endParaRPr lang="vi-VN" dirty="0"/>
          </a:p>
          <a:p>
            <a:pPr marL="457200" lvl="1" indent="0">
              <a:buFont typeface="+mj-lt"/>
              <a:buNone/>
            </a:pPr>
            <a:r>
              <a:rPr lang="en-US" dirty="0"/>
              <a:t>- </a:t>
            </a:r>
            <a:r>
              <a:rPr lang="vi-VN" dirty="0"/>
              <a:t>Giảm tải cho server gốc: không phải mọi request đều đi về một điểm duy nhất.</a:t>
            </a:r>
          </a:p>
          <a:p>
            <a:pPr marL="457200" lvl="1" indent="0">
              <a:buFont typeface="+mj-lt"/>
              <a:buNone/>
            </a:pPr>
            <a:r>
              <a:rPr lang="en-US" dirty="0"/>
              <a:t>- </a:t>
            </a:r>
            <a:r>
              <a:rPr lang="vi-VN" dirty="0"/>
              <a:t>Giảm độ trễ: client hỏi server gần, phản hồi nhanh hơn.</a:t>
            </a:r>
          </a:p>
          <a:p>
            <a:endParaRPr lang="en-US" b="1" dirty="0"/>
          </a:p>
          <a:p>
            <a:r>
              <a:rPr lang="vi-VN" b="1" dirty="0"/>
              <a:t>3. Quan sát</a:t>
            </a:r>
            <a:r>
              <a:rPr lang="en-US" b="1" dirty="0"/>
              <a:t> (</a:t>
            </a:r>
            <a:r>
              <a:rPr lang="en-US" b="1" dirty="0" err="1"/>
              <a:t>nhận</a:t>
            </a:r>
            <a:r>
              <a:rPr lang="en-US" b="1" dirty="0"/>
              <a:t> </a:t>
            </a:r>
            <a:r>
              <a:rPr lang="en-US" b="1" dirty="0" err="1"/>
              <a:t>định</a:t>
            </a:r>
            <a:r>
              <a:rPr lang="en-US" b="1" dirty="0"/>
              <a:t>)</a:t>
            </a:r>
            <a:r>
              <a:rPr lang="vi-VN" b="1" dirty="0"/>
              <a:t> quan trọng: Ứng với các thực thể “động”</a:t>
            </a:r>
          </a:p>
          <a:p>
            <a:pPr>
              <a:buFont typeface="Arial" panose="020B0604020202020204" pitchFamily="34" charset="0"/>
              <a:buChar char="•"/>
            </a:pPr>
            <a:r>
              <a:rPr lang="vi-VN" b="1" dirty="0"/>
              <a:t>Mobile entities</a:t>
            </a:r>
            <a:r>
              <a:rPr lang="vi-VN" dirty="0"/>
              <a:t> (thiết bị di động, máy ảo di chuyển, dịch vụ thay đổi địa chỉ…) có </a:t>
            </a:r>
            <a:r>
              <a:rPr lang="vi-VN" b="1" dirty="0"/>
              <a:t>address attribute</a:t>
            </a:r>
            <a:r>
              <a:rPr lang="vi-VN" dirty="0"/>
              <a:t> hay </a:t>
            </a:r>
            <a:r>
              <a:rPr lang="vi-VN" b="1" dirty="0"/>
              <a:t>location</a:t>
            </a:r>
            <a:r>
              <a:rPr lang="vi-VN" dirty="0"/>
              <a:t> thường xuyên thay đổi.</a:t>
            </a:r>
          </a:p>
          <a:p>
            <a:pPr>
              <a:buFont typeface="Arial" panose="020B0604020202020204" pitchFamily="34" charset="0"/>
              <a:buChar char="•"/>
            </a:pPr>
            <a:r>
              <a:rPr lang="vi-VN" b="1" dirty="0"/>
              <a:t>Vấn đề:</a:t>
            </a:r>
            <a:r>
              <a:rPr lang="vi-VN" dirty="0"/>
              <a:t> Khi bạn </a:t>
            </a:r>
            <a:r>
              <a:rPr lang="vi-VN" b="1" dirty="0"/>
              <a:t>sao chép</a:t>
            </a:r>
            <a:r>
              <a:rPr lang="vi-VN" dirty="0"/>
              <a:t> một node chứa địa chỉ cố định, bản sao đó sẽ “lỗi thời” ngay khi entity di chuyển.</a:t>
            </a:r>
          </a:p>
          <a:p>
            <a:pPr>
              <a:buFont typeface="Arial" panose="020B0604020202020204" pitchFamily="34" charset="0"/>
              <a:buChar char="•"/>
            </a:pPr>
            <a:r>
              <a:rPr lang="vi-VN" b="1" dirty="0"/>
              <a:t>Hệ quả:</a:t>
            </a:r>
            <a:endParaRPr lang="vi-VN" dirty="0"/>
          </a:p>
          <a:p>
            <a:pPr marL="742950" lvl="1" indent="-285750">
              <a:buFont typeface="Arial" panose="020B0604020202020204" pitchFamily="34" charset="0"/>
              <a:buChar char="•"/>
            </a:pPr>
            <a:r>
              <a:rPr lang="vi-VN" dirty="0"/>
              <a:t>Người dùng hỏi bản sao cũ sẽ nhận địa chỉ không còn hợp lệ.</a:t>
            </a:r>
          </a:p>
          <a:p>
            <a:pPr marL="742950" lvl="1" indent="-285750">
              <a:buFont typeface="Arial" panose="020B0604020202020204" pitchFamily="34" charset="0"/>
              <a:buChar char="•"/>
            </a:pPr>
            <a:r>
              <a:rPr lang="vi-VN" dirty="0"/>
              <a:t>Thông tin trở nên </a:t>
            </a:r>
            <a:r>
              <a:rPr lang="vi-VN" b="1" dirty="0"/>
              <a:t>không nhất quán</a:t>
            </a:r>
            <a:r>
              <a:rPr lang="vi-VN" dirty="0"/>
              <a:t> và phải đợi cập nhật trên mọi replica → rất tốn chi phí và độ trễ lớn.</a:t>
            </a:r>
          </a:p>
          <a:p>
            <a:endParaRPr lang="en-US" b="1" dirty="0"/>
          </a:p>
          <a:p>
            <a:r>
              <a:rPr lang="en-US" b="1" dirty="0" err="1"/>
              <a:t>Tổng</a:t>
            </a:r>
            <a:r>
              <a:rPr lang="en-US" b="1" dirty="0"/>
              <a:t> </a:t>
            </a:r>
            <a:r>
              <a:rPr lang="en-US" b="1" dirty="0" err="1"/>
              <a:t>kết</a:t>
            </a:r>
            <a:r>
              <a:rPr lang="vi-VN" b="1" dirty="0"/>
              <a:t> và hướng mở rộng</a:t>
            </a:r>
          </a:p>
          <a:p>
            <a:pPr>
              <a:buFont typeface="+mj-lt"/>
              <a:buNone/>
            </a:pPr>
            <a:r>
              <a:rPr lang="en-US" b="1" dirty="0"/>
              <a:t>- </a:t>
            </a:r>
            <a:r>
              <a:rPr lang="vi-VN" b="1" dirty="0"/>
              <a:t>Replication + caching</a:t>
            </a:r>
            <a:r>
              <a:rPr lang="vi-VN" dirty="0"/>
              <a:t> là chìa khóa để giải quyết </a:t>
            </a:r>
            <a:r>
              <a:rPr lang="vi-VN" b="1" dirty="0"/>
              <a:t>scale</a:t>
            </a:r>
            <a:r>
              <a:rPr lang="vi-VN" dirty="0"/>
              <a:t> về </a:t>
            </a:r>
            <a:r>
              <a:rPr lang="vi-VN" b="1" dirty="0"/>
              <a:t>lượt truy vấn</a:t>
            </a:r>
            <a:r>
              <a:rPr lang="vi-VN" dirty="0"/>
              <a:t> và </a:t>
            </a:r>
            <a:r>
              <a:rPr lang="vi-VN" b="1" dirty="0"/>
              <a:t>độ trễ</a:t>
            </a:r>
            <a:r>
              <a:rPr lang="vi-VN" dirty="0"/>
              <a:t>.</a:t>
            </a:r>
          </a:p>
          <a:p>
            <a:pPr>
              <a:buFont typeface="+mj-lt"/>
              <a:buNone/>
            </a:pPr>
            <a:r>
              <a:rPr lang="en-US" dirty="0"/>
              <a:t>- </a:t>
            </a:r>
            <a:r>
              <a:rPr lang="vi-VN" dirty="0"/>
              <a:t>Nhưng với </a:t>
            </a:r>
            <a:r>
              <a:rPr lang="vi-VN" b="1" dirty="0"/>
              <a:t>thực thể di động</a:t>
            </a:r>
            <a:r>
              <a:rPr lang="vi-VN" dirty="0"/>
              <a:t>, chúng ta cần thêm cơ chế </a:t>
            </a:r>
            <a:r>
              <a:rPr lang="vi-VN" b="1" dirty="0"/>
              <a:t>update nhanh</a:t>
            </a:r>
            <a:r>
              <a:rPr lang="vi-VN" dirty="0"/>
              <a:t>, </a:t>
            </a:r>
            <a:r>
              <a:rPr lang="vi-VN" b="1" dirty="0"/>
              <a:t>invalid cache</a:t>
            </a:r>
            <a:r>
              <a:rPr lang="vi-VN" dirty="0"/>
              <a:t>, hoặc cơ chế </a:t>
            </a:r>
            <a:r>
              <a:rPr lang="vi-VN" b="1" dirty="0"/>
              <a:t>location service</a:t>
            </a:r>
            <a:r>
              <a:rPr lang="vi-VN" dirty="0"/>
              <a:t> chuyên biệt thay vì chỉ dùng tên tĩnh trong DNS truyền thống.</a:t>
            </a:r>
          </a:p>
          <a:p>
            <a:pPr>
              <a:buFont typeface="+mj-lt"/>
              <a:buNone/>
            </a:pPr>
            <a:r>
              <a:rPr lang="en-US" dirty="0"/>
              <a:t>- </a:t>
            </a:r>
            <a:r>
              <a:rPr lang="vi-VN" dirty="0"/>
              <a:t>Ví dụ: hệ thống DNS động (DDNS), dịch vụ </a:t>
            </a:r>
            <a:r>
              <a:rPr lang="vi-VN" b="1" dirty="0"/>
              <a:t>Anycast</a:t>
            </a:r>
            <a:r>
              <a:rPr lang="vi-VN" dirty="0"/>
              <a:t>, </a:t>
            </a:r>
            <a:r>
              <a:rPr lang="vi-VN" b="1" dirty="0"/>
              <a:t>Location/ID split</a:t>
            </a:r>
            <a:r>
              <a:rPr lang="vi-VN" dirty="0"/>
              <a:t> trong mạng di động, hoặc </a:t>
            </a:r>
            <a:r>
              <a:rPr lang="vi-VN" b="1" dirty="0"/>
              <a:t>Service Discovery</a:t>
            </a:r>
            <a:r>
              <a:rPr lang="vi-VN" dirty="0"/>
              <a:t> (mDNS, DNS-SD) có khả năng cập nhật tức thì.</a:t>
            </a:r>
          </a:p>
          <a:p>
            <a:endParaRPr lang="en-US" b="1" dirty="0"/>
          </a:p>
          <a:p>
            <a:r>
              <a:rPr lang="vi-VN" b="1" dirty="0"/>
              <a:t>Kết luận:</a:t>
            </a:r>
            <a:r>
              <a:rPr lang="vi-VN" dirty="0"/>
              <a:t> Replication giúp scale về lượng request, nhưng để hỗ trợ entities thay đổi địa chỉ liên tục, chúng ta phải thiết kế thêm cơ chế đồng bộ hóa cập nhật—đi xa hơn so với mô hình name server truyền thống.</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51</a:t>
            </a:fld>
            <a:endParaRPr lang="en-US"/>
          </a:p>
        </p:txBody>
      </p:sp>
    </p:spTree>
    <p:extLst>
      <p:ext uri="{BB962C8B-B14F-4D97-AF65-F5344CB8AC3E}">
        <p14:creationId xmlns:p14="http://schemas.microsoft.com/office/powerpoint/2010/main" val="29806425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Scalability Issues – Vấn đề mở rộng</a:t>
            </a:r>
          </a:p>
          <a:p>
            <a:r>
              <a:rPr lang="vi-VN" b="1" dirty="0"/>
              <a:t>“Chúng ta phải đảm bảo rằng quá trình phân giải tên (name resolution) vẫn hiệu quả ngay cả khi các server bị phân tán trên những khoảng cách địa lý lớn.”</a:t>
            </a:r>
            <a:endParaRPr lang="vi-VN" dirty="0"/>
          </a:p>
          <a:p>
            <a:endParaRPr lang="en-US" b="1" dirty="0"/>
          </a:p>
          <a:p>
            <a:r>
              <a:rPr lang="vi-VN" b="1" dirty="0"/>
              <a:t>Minh họa: Iterative vs. Recursive qua khoảng cách</a:t>
            </a:r>
          </a:p>
          <a:p>
            <a:pPr>
              <a:buFont typeface="Arial" panose="020B0604020202020204" pitchFamily="34" charset="0"/>
              <a:buChar char="•"/>
            </a:pPr>
            <a:r>
              <a:rPr lang="vi-VN" b="1" dirty="0"/>
              <a:t>Iterative</a:t>
            </a:r>
            <a:r>
              <a:rPr lang="vi-VN" dirty="0"/>
              <a:t> (đường nét đứt):</a:t>
            </a:r>
            <a:br>
              <a:rPr lang="vi-VN" dirty="0"/>
            </a:br>
            <a:r>
              <a:rPr lang="vi-VN" dirty="0"/>
              <a:t>Client “lần lượt” gửi request tới từng server (nl, vu, cs) – mỗi lần đều đi qua đường dài I1, I2, I3.</a:t>
            </a:r>
          </a:p>
          <a:p>
            <a:pPr>
              <a:buFont typeface="Arial" panose="020B0604020202020204" pitchFamily="34" charset="0"/>
              <a:buChar char="•"/>
            </a:pPr>
            <a:r>
              <a:rPr lang="vi-VN" b="1" dirty="0"/>
              <a:t>Recursive</a:t>
            </a:r>
            <a:r>
              <a:rPr lang="vi-VN" dirty="0"/>
              <a:t> (đường liền):</a:t>
            </a:r>
            <a:br>
              <a:rPr lang="vi-VN" dirty="0"/>
            </a:br>
            <a:r>
              <a:rPr lang="vi-VN" dirty="0"/>
              <a:t>Client gửi một lần tới root, rồi root đệ quy gọi nl, vu, cs – mỗi bước lại là một lần long-haul R1, R2, R3. Cuối cùng root gom kết quả về client.</a:t>
            </a:r>
          </a:p>
          <a:p>
            <a:r>
              <a:rPr lang="vi-VN" dirty="0"/>
              <a:t>Cả hai cách đều gây </a:t>
            </a:r>
            <a:r>
              <a:rPr lang="vi-VN" b="1" dirty="0"/>
              <a:t>nhiều lần giao tiếp đường dài</a:t>
            </a:r>
            <a:r>
              <a:rPr lang="vi-VN" dirty="0"/>
              <a:t>, với độ trễ lớn, dễ dẫn đến nghẽn hay timeout khi mạng quốc tế, hạ tầng phân tán.</a:t>
            </a:r>
          </a:p>
          <a:p>
            <a:endParaRPr lang="en-US" b="1" dirty="0"/>
          </a:p>
          <a:p>
            <a:r>
              <a:rPr lang="vi-VN" b="1" dirty="0"/>
              <a:t>Vấn đề cốt lõi (Problem)</a:t>
            </a:r>
          </a:p>
          <a:p>
            <a:r>
              <a:rPr lang="vi-VN" dirty="0"/>
              <a:t>Khi </a:t>
            </a:r>
            <a:r>
              <a:rPr lang="vi-VN" b="1" dirty="0"/>
              <a:t>phân phối nodes</a:t>
            </a:r>
            <a:r>
              <a:rPr lang="vi-VN" dirty="0"/>
              <a:t> (nút) của naming graph lên các server </a:t>
            </a:r>
            <a:r>
              <a:rPr lang="vi-VN" b="1" dirty="0"/>
              <a:t>ở bất cứ đâu trên Internet</a:t>
            </a:r>
            <a:r>
              <a:rPr lang="vi-VN" dirty="0"/>
              <a:t>, chúng ta </a:t>
            </a:r>
            <a:r>
              <a:rPr lang="vi-VN" b="1" dirty="0"/>
              <a:t>vô tình tạo ra “implicit location dependency”</a:t>
            </a:r>
            <a:r>
              <a:rPr lang="vi-VN" dirty="0"/>
              <a:t>:</a:t>
            </a:r>
            <a:br>
              <a:rPr lang="vi-VN" dirty="0"/>
            </a:br>
            <a:r>
              <a:rPr lang="en-US" dirty="0"/>
              <a:t>-</a:t>
            </a:r>
            <a:r>
              <a:rPr lang="vi-VN" dirty="0"/>
              <a:t> Client gần một data-center thì nhanh, client ở châu Á phải đụng tới server ở châu Âu mới lấy được thông tin thì rất chậm.</a:t>
            </a:r>
            <a:br>
              <a:rPr lang="vi-VN" dirty="0"/>
            </a:br>
            <a:r>
              <a:rPr lang="en-US" dirty="0"/>
              <a:t>-</a:t>
            </a:r>
            <a:r>
              <a:rPr lang="vi-VN" dirty="0"/>
              <a:t> Bất kỳ request nào đều có thể phải đi một chặng mạng quốc tế, nhiều lần, trước khi có kết quả.</a:t>
            </a:r>
          </a:p>
          <a:p>
            <a:endParaRPr lang="en-US" b="1" dirty="0"/>
          </a:p>
          <a:p>
            <a:r>
              <a:rPr lang="vi-VN" b="1" dirty="0"/>
              <a:t>H</a:t>
            </a:r>
            <a:r>
              <a:rPr lang="en-US" b="1" dirty="0"/>
              <a:t>ệ</a:t>
            </a:r>
            <a:r>
              <a:rPr lang="vi-VN" b="1" dirty="0"/>
              <a:t> quả</a:t>
            </a:r>
          </a:p>
          <a:p>
            <a:pPr>
              <a:buFont typeface="+mj-lt"/>
              <a:buAutoNum type="arabicPeriod"/>
            </a:pPr>
            <a:r>
              <a:rPr lang="vi-VN" b="1" dirty="0"/>
              <a:t>Độ trễ cao</a:t>
            </a:r>
            <a:r>
              <a:rPr lang="vi-VN" dirty="0"/>
              <a:t>: Mỗi lần lookup đi qua mạng đường dài → user cảm nhận chậm.</a:t>
            </a:r>
          </a:p>
          <a:p>
            <a:pPr>
              <a:buFont typeface="+mj-lt"/>
              <a:buAutoNum type="arabicPeriod"/>
            </a:pPr>
            <a:r>
              <a:rPr lang="vi-VN" b="1" dirty="0"/>
              <a:t>Khả năng chịu lỗi kém</a:t>
            </a:r>
            <a:r>
              <a:rPr lang="vi-VN" dirty="0"/>
              <a:t>: Đường mạng qua nhiều ISP, quốc gia → dễ timeout.</a:t>
            </a:r>
          </a:p>
          <a:p>
            <a:pPr>
              <a:buFont typeface="+mj-lt"/>
              <a:buAutoNum type="arabicPeriod"/>
            </a:pPr>
            <a:r>
              <a:rPr lang="vi-VN" b="1" dirty="0"/>
              <a:t>Không đồng đều</a:t>
            </a:r>
            <a:r>
              <a:rPr lang="vi-VN" dirty="0"/>
              <a:t>: Người dùng gần server gốc có tốc độ nhanh, xa thì chậm → trải nghiệm không nhất quán.</a:t>
            </a:r>
          </a:p>
          <a:p>
            <a:endParaRPr lang="en-US" b="1" dirty="0"/>
          </a:p>
          <a:p>
            <a:r>
              <a:rPr lang="vi-VN" b="1" dirty="0"/>
              <a:t>Kết nối với giải pháp trước đó</a:t>
            </a:r>
          </a:p>
          <a:p>
            <a:pPr>
              <a:buFont typeface="Arial" panose="020B0604020202020204" pitchFamily="34" charset="0"/>
              <a:buChar char="•"/>
            </a:pPr>
            <a:r>
              <a:rPr lang="vi-VN" dirty="0"/>
              <a:t>Chúng ta từng bàn về </a:t>
            </a:r>
            <a:r>
              <a:rPr lang="vi-VN" b="1" dirty="0"/>
              <a:t>replication + caching</a:t>
            </a:r>
            <a:r>
              <a:rPr lang="vi-VN" dirty="0"/>
              <a:t> để giảm tải cho server cấp cao.</a:t>
            </a:r>
          </a:p>
          <a:p>
            <a:pPr>
              <a:buFont typeface="Arial" panose="020B0604020202020204" pitchFamily="34" charset="0"/>
              <a:buChar char="•"/>
            </a:pPr>
            <a:r>
              <a:rPr lang="vi-VN" dirty="0"/>
              <a:t>Bằng cách </a:t>
            </a:r>
            <a:r>
              <a:rPr lang="vi-VN" b="1" dirty="0"/>
              <a:t>nhân bản name server</a:t>
            </a:r>
            <a:r>
              <a:rPr lang="vi-VN" dirty="0"/>
              <a:t> về các region (North America, Europe, Asia…), và </a:t>
            </a:r>
            <a:r>
              <a:rPr lang="vi-VN" b="1" dirty="0"/>
              <a:t>định tuyến client tới replica gần nhất</a:t>
            </a:r>
            <a:r>
              <a:rPr lang="vi-VN" dirty="0"/>
              <a:t>, ta khắc phục phần lớn implicit location dependency.</a:t>
            </a:r>
          </a:p>
          <a:p>
            <a:endParaRPr lang="en-US" b="1" dirty="0"/>
          </a:p>
          <a:p>
            <a:r>
              <a:rPr lang="vi-VN" b="1" dirty="0"/>
              <a:t>Tóm lại</a:t>
            </a:r>
          </a:p>
          <a:p>
            <a:pPr>
              <a:buFont typeface="Arial" panose="020B0604020202020204" pitchFamily="34" charset="0"/>
              <a:buChar char="•"/>
            </a:pPr>
            <a:r>
              <a:rPr lang="vi-VN" b="1" dirty="0"/>
              <a:t>Phân tán name server</a:t>
            </a:r>
            <a:r>
              <a:rPr lang="vi-VN" dirty="0"/>
              <a:t> khắp nơi đem lại tính khả dụng và load-balancing, nhưng cũng đồng nghĩa mỗi lookup có thể đi xa.</a:t>
            </a:r>
          </a:p>
          <a:p>
            <a:pPr>
              <a:buFont typeface="Arial" panose="020B0604020202020204" pitchFamily="34" charset="0"/>
              <a:buChar char="•"/>
            </a:pPr>
            <a:r>
              <a:rPr lang="vi-VN" dirty="0"/>
              <a:t>Phải </a:t>
            </a:r>
            <a:r>
              <a:rPr lang="vi-VN" b="1" dirty="0"/>
              <a:t>kết hợp replication</a:t>
            </a:r>
            <a:r>
              <a:rPr lang="vi-VN" dirty="0"/>
              <a:t> (bản sao) và </a:t>
            </a:r>
            <a:r>
              <a:rPr lang="vi-VN" b="1" dirty="0"/>
              <a:t>routing thông minh</a:t>
            </a:r>
            <a:r>
              <a:rPr lang="vi-VN" dirty="0"/>
              <a:t> (Anycast, Geo-DNS…) để đảm bảo:</a:t>
            </a:r>
          </a:p>
          <a:p>
            <a:pPr marL="742950" lvl="1" indent="-285750">
              <a:buFont typeface="Arial" panose="020B0604020202020204" pitchFamily="34" charset="0"/>
              <a:buChar char="•"/>
            </a:pPr>
            <a:r>
              <a:rPr lang="vi-VN" dirty="0"/>
              <a:t>Client luôn hỏi server gần nhất.</a:t>
            </a:r>
          </a:p>
          <a:p>
            <a:pPr marL="742950" lvl="1" indent="-285750">
              <a:buFont typeface="Arial" panose="020B0604020202020204" pitchFamily="34" charset="0"/>
              <a:buChar char="•"/>
            </a:pPr>
            <a:r>
              <a:rPr lang="vi-VN" dirty="0"/>
              <a:t>Giảm thiểu hops xuyên lục địa.</a:t>
            </a:r>
          </a:p>
          <a:p>
            <a:pPr marL="742950" lvl="1" indent="-285750">
              <a:buFont typeface="Arial" panose="020B0604020202020204" pitchFamily="34" charset="0"/>
              <a:buChar char="•"/>
            </a:pPr>
            <a:r>
              <a:rPr lang="vi-VN" dirty="0"/>
              <a:t>Duy trì độ trễ thấp, ổn định cho mọi vị trí địa lý.</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52</a:t>
            </a:fld>
            <a:endParaRPr lang="en-US"/>
          </a:p>
        </p:txBody>
      </p:sp>
    </p:spTree>
    <p:extLst>
      <p:ext uri="{BB962C8B-B14F-4D97-AF65-F5344CB8AC3E}">
        <p14:creationId xmlns:p14="http://schemas.microsoft.com/office/powerpoint/2010/main" val="26807138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 Domain Name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t>
            </a:r>
            <a:r>
              <a:rPr lang="fr-FR" dirty="0" err="1"/>
              <a:t>bản</a:t>
            </a:r>
            <a:r>
              <a:rPr lang="fr-FR" dirty="0"/>
              <a:t> </a:t>
            </a:r>
            <a:r>
              <a:rPr lang="fr-FR" dirty="0" err="1"/>
              <a:t>chất</a:t>
            </a:r>
            <a:r>
              <a:rPr lang="fr-FR" dirty="0"/>
              <a:t>” (essence) </a:t>
            </a:r>
            <a:r>
              <a:rPr lang="fr-FR" dirty="0" err="1"/>
              <a:t>của</a:t>
            </a:r>
            <a:r>
              <a:rPr lang="fr-FR" dirty="0"/>
              <a:t> DNS:</a:t>
            </a:r>
          </a:p>
          <a:p>
            <a:endParaRPr lang="en-US" dirty="0"/>
          </a:p>
          <a:p>
            <a:r>
              <a:rPr lang="vi-VN" b="1" dirty="0"/>
              <a:t>Không gian tên của DNS</a:t>
            </a:r>
          </a:p>
          <a:p>
            <a:r>
              <a:rPr lang="vi-VN" b="1" dirty="0"/>
              <a:t>“DNS là một cây phân cấp, mỗi node chỉ có đúng một cạnh cha ⇒ tên của node chính là nhãn (label) trên cạnh đó.”</a:t>
            </a:r>
            <a:endParaRPr lang="vi-VN" dirty="0"/>
          </a:p>
          <a:p>
            <a:pPr>
              <a:buFont typeface="Arial" panose="020B0604020202020204" pitchFamily="34" charset="0"/>
              <a:buChar char="•"/>
            </a:pPr>
            <a:r>
              <a:rPr lang="vi-VN" b="1" dirty="0"/>
              <a:t>Hierarchical name space</a:t>
            </a:r>
            <a:endParaRPr lang="vi-VN" dirty="0"/>
          </a:p>
          <a:p>
            <a:pPr marL="742950" lvl="1" indent="-285750">
              <a:buFont typeface="Arial" panose="020B0604020202020204" pitchFamily="34" charset="0"/>
              <a:buChar char="•"/>
            </a:pPr>
            <a:r>
              <a:rPr lang="vi-VN" dirty="0"/>
              <a:t>Tưởng tượng toàn bộ DNS như một cây thật lớn, bạn chỉ có thể đi từ gốc (root, ký hiệu “.”) xuống các nhãn con, ví dụ “nl”, “vu”, “cs”, “ftp”…</a:t>
            </a:r>
          </a:p>
          <a:p>
            <a:pPr marL="742950" lvl="1" indent="-285750">
              <a:buFont typeface="Arial" panose="020B0604020202020204" pitchFamily="34" charset="0"/>
              <a:buChar char="•"/>
            </a:pPr>
            <a:r>
              <a:rPr lang="vi-VN" dirty="0"/>
              <a:t>Mỗi node (thực thể) trong cây này có duy nhất một cạnh vào — nên nhãn trên cạnh đó chính là </a:t>
            </a:r>
            <a:r>
              <a:rPr lang="vi-VN" b="1" dirty="0"/>
              <a:t>tên của node</a:t>
            </a:r>
            <a:r>
              <a:rPr lang="vi-VN" dirty="0"/>
              <a:t>.</a:t>
            </a:r>
          </a:p>
          <a:p>
            <a:pPr>
              <a:buFont typeface="Arial" panose="020B0604020202020204" pitchFamily="34" charset="0"/>
              <a:buChar char="•"/>
            </a:pPr>
            <a:r>
              <a:rPr lang="vi-VN" b="1" dirty="0"/>
              <a:t>Domain vs Domain name</a:t>
            </a:r>
            <a:endParaRPr lang="vi-VN" dirty="0"/>
          </a:p>
          <a:p>
            <a:pPr marL="742950" lvl="1" indent="-285750">
              <a:buFont typeface="Arial" panose="020B0604020202020204" pitchFamily="34" charset="0"/>
              <a:buChar char="•"/>
            </a:pPr>
            <a:r>
              <a:rPr lang="vi-VN" b="1" dirty="0"/>
              <a:t>Domain</a:t>
            </a:r>
            <a:r>
              <a:rPr lang="vi-VN" dirty="0"/>
              <a:t>: Một </a:t>
            </a:r>
            <a:r>
              <a:rPr lang="vi-VN" b="1" dirty="0"/>
              <a:t>cây con</a:t>
            </a:r>
            <a:r>
              <a:rPr lang="vi-VN" dirty="0"/>
              <a:t> (subtree) bắt đầu từ một node nào đó. Ví dụ, toàn bộ cây con dưới “vu.nl” là domain “vu.nl”.</a:t>
            </a:r>
          </a:p>
          <a:p>
            <a:pPr marL="742950" lvl="1" indent="-285750">
              <a:buFont typeface="Arial" panose="020B0604020202020204" pitchFamily="34" charset="0"/>
              <a:buChar char="•"/>
            </a:pPr>
            <a:r>
              <a:rPr lang="vi-VN" b="1" dirty="0"/>
              <a:t>Domain name</a:t>
            </a:r>
            <a:r>
              <a:rPr lang="vi-VN" dirty="0"/>
              <a:t>: Là </a:t>
            </a:r>
            <a:r>
              <a:rPr lang="vi-VN" b="1" dirty="0"/>
              <a:t>đường dẫn</a:t>
            </a:r>
            <a:r>
              <a:rPr lang="vi-VN" dirty="0"/>
              <a:t> (path name) đến gốc của một domain. Ví dụ, “vu.nl.” (đừng quên dấu chấm cuối cùng để chỉ root).</a:t>
            </a:r>
          </a:p>
          <a:p>
            <a:endParaRPr lang="en-US" b="1" dirty="0"/>
          </a:p>
          <a:p>
            <a:r>
              <a:rPr lang="vi-VN" b="1" dirty="0"/>
              <a:t>Thông tin lưu trong mỗi node: Resource Records</a:t>
            </a:r>
          </a:p>
          <a:p>
            <a:r>
              <a:rPr lang="vi-VN" dirty="0"/>
              <a:t>Mỗi node không chỉ là một “chỗ đứng” trong cây, mà còn chứa một hoặc nhiều </a:t>
            </a:r>
            <a:r>
              <a:rPr lang="vi-VN" b="1" dirty="0"/>
              <a:t>bản ghi tài nguyên</a:t>
            </a:r>
            <a:r>
              <a:rPr lang="vi-VN" dirty="0"/>
              <a:t> (resource records). Slide liệt kê những loại quan trọng nhất:</a:t>
            </a:r>
          </a:p>
          <a:p>
            <a:r>
              <a:rPr lang="vi-VN" b="1" dirty="0"/>
              <a:t>Type</a:t>
            </a:r>
            <a:r>
              <a:rPr lang="en-US" b="1" dirty="0"/>
              <a:t>	</a:t>
            </a:r>
            <a:r>
              <a:rPr lang="vi-VN" b="1" dirty="0"/>
              <a:t>Refers to</a:t>
            </a:r>
            <a:r>
              <a:rPr lang="en-US" b="1" dirty="0"/>
              <a:t>	</a:t>
            </a:r>
            <a:r>
              <a:rPr lang="vi-VN" b="1" dirty="0"/>
              <a:t>Mô tả ngắn gọn</a:t>
            </a:r>
            <a:endParaRPr lang="en-US" b="1" dirty="0"/>
          </a:p>
          <a:p>
            <a:r>
              <a:rPr lang="vi-VN" b="1" dirty="0"/>
              <a:t>SOA</a:t>
            </a:r>
            <a:r>
              <a:rPr lang="en-US" b="1" dirty="0"/>
              <a:t>	</a:t>
            </a:r>
            <a:r>
              <a:rPr lang="vi-VN" dirty="0"/>
              <a:t>Zone</a:t>
            </a:r>
            <a:r>
              <a:rPr lang="en-US" dirty="0"/>
              <a:t>	</a:t>
            </a:r>
            <a:r>
              <a:rPr lang="vi-VN" dirty="0"/>
              <a:t>“Start of Authority”: chứa thông tin về zone (người quản trị, thời gian hiệu lực, v.v.)</a:t>
            </a:r>
            <a:endParaRPr lang="en-US" dirty="0"/>
          </a:p>
          <a:p>
            <a:r>
              <a:rPr lang="vi-VN" b="1" dirty="0"/>
              <a:t>NS</a:t>
            </a:r>
            <a:r>
              <a:rPr lang="en-US" b="1" dirty="0"/>
              <a:t>	</a:t>
            </a:r>
            <a:r>
              <a:rPr lang="vi-VN" dirty="0"/>
              <a:t>Zone</a:t>
            </a:r>
            <a:r>
              <a:rPr lang="en-US" dirty="0"/>
              <a:t>	</a:t>
            </a:r>
            <a:r>
              <a:rPr lang="vi-VN" dirty="0"/>
              <a:t>Các name server chịu trách nhiệm cho zone đó</a:t>
            </a:r>
            <a:endParaRPr lang="en-US" dirty="0"/>
          </a:p>
          <a:p>
            <a:r>
              <a:rPr lang="vi-VN" b="1" dirty="0"/>
              <a:t>A</a:t>
            </a:r>
            <a:r>
              <a:rPr lang="en-US" b="1" dirty="0"/>
              <a:t>	</a:t>
            </a:r>
            <a:r>
              <a:rPr lang="vi-VN" dirty="0"/>
              <a:t>Host</a:t>
            </a:r>
            <a:r>
              <a:rPr lang="en-US" dirty="0"/>
              <a:t>	</a:t>
            </a:r>
            <a:r>
              <a:rPr lang="vi-VN" dirty="0"/>
              <a:t>Địa chỉ IPv4 của một host</a:t>
            </a:r>
            <a:endParaRPr lang="en-US" dirty="0"/>
          </a:p>
          <a:p>
            <a:r>
              <a:rPr lang="vi-VN" b="1" dirty="0"/>
              <a:t>PTR</a:t>
            </a:r>
            <a:r>
              <a:rPr lang="en-US" b="1" dirty="0"/>
              <a:t>	</a:t>
            </a:r>
            <a:r>
              <a:rPr lang="vi-VN" dirty="0"/>
              <a:t>Host</a:t>
            </a:r>
            <a:r>
              <a:rPr lang="en-US" dirty="0"/>
              <a:t>	</a:t>
            </a:r>
            <a:r>
              <a:rPr lang="vi-VN" dirty="0"/>
              <a:t>Bản ghi ngược (“pointer”): ánh xạ IP → tên chuẫn (canonical)</a:t>
            </a:r>
            <a:endParaRPr lang="en-US" dirty="0"/>
          </a:p>
          <a:p>
            <a:r>
              <a:rPr lang="vi-VN" b="1" dirty="0"/>
              <a:t>CNAME</a:t>
            </a:r>
            <a:r>
              <a:rPr lang="en-US" b="1" dirty="0"/>
              <a:t>	</a:t>
            </a:r>
            <a:r>
              <a:rPr lang="vi-VN" dirty="0"/>
              <a:t>Node</a:t>
            </a:r>
            <a:r>
              <a:rPr lang="en-US" dirty="0"/>
              <a:t>	</a:t>
            </a:r>
            <a:r>
              <a:rPr lang="vi-VN" dirty="0"/>
              <a:t>Liên kết mềm (symbolic link): node này thực chất chỉ “nói” đến node khác</a:t>
            </a:r>
            <a:endParaRPr lang="en-US" dirty="0"/>
          </a:p>
          <a:p>
            <a:r>
              <a:rPr lang="vi-VN" b="1" dirty="0"/>
              <a:t>MX</a:t>
            </a:r>
            <a:r>
              <a:rPr lang="en-US" b="1" dirty="0"/>
              <a:t>	</a:t>
            </a:r>
            <a:r>
              <a:rPr lang="vi-VN" dirty="0"/>
              <a:t>Domain</a:t>
            </a:r>
            <a:r>
              <a:rPr lang="en-US" dirty="0"/>
              <a:t>	</a:t>
            </a:r>
            <a:r>
              <a:rPr lang="vi-VN" dirty="0"/>
              <a:t>Mail eXchange: tên mail server chịu mail cho domain</a:t>
            </a:r>
            <a:endParaRPr lang="en-US" dirty="0"/>
          </a:p>
          <a:p>
            <a:r>
              <a:rPr lang="vi-VN" b="1" dirty="0"/>
              <a:t>SRV</a:t>
            </a:r>
            <a:r>
              <a:rPr lang="en-US" b="1" dirty="0"/>
              <a:t>	</a:t>
            </a:r>
            <a:r>
              <a:rPr lang="vi-VN" dirty="0"/>
              <a:t>Domain</a:t>
            </a:r>
            <a:r>
              <a:rPr lang="en-US" dirty="0"/>
              <a:t>	</a:t>
            </a:r>
            <a:r>
              <a:rPr lang="vi-VN" dirty="0"/>
              <a:t>Service record: chỉ định tên server cung cấp dịch vụ cụ thể (ví dụ _http._tcp)</a:t>
            </a:r>
            <a:endParaRPr lang="en-US" dirty="0"/>
          </a:p>
          <a:p>
            <a:r>
              <a:rPr lang="vi-VN" b="1" dirty="0"/>
              <a:t>HINFO</a:t>
            </a:r>
            <a:r>
              <a:rPr lang="en-US" b="1" dirty="0"/>
              <a:t>	</a:t>
            </a:r>
            <a:r>
              <a:rPr lang="vi-VN" dirty="0"/>
              <a:t>Host</a:t>
            </a:r>
            <a:r>
              <a:rPr lang="en-US" dirty="0"/>
              <a:t>	</a:t>
            </a:r>
            <a:r>
              <a:rPr lang="vi-VN" dirty="0"/>
              <a:t>Thông tin bổ sung về host (kiểu máy, OS…)</a:t>
            </a:r>
            <a:endParaRPr lang="en-US" dirty="0"/>
          </a:p>
          <a:p>
            <a:r>
              <a:rPr lang="vi-VN" b="1" dirty="0"/>
              <a:t>TXT</a:t>
            </a:r>
            <a:r>
              <a:rPr lang="en-US" b="1" dirty="0"/>
              <a:t>	</a:t>
            </a:r>
            <a:r>
              <a:rPr lang="vi-VN" dirty="0"/>
              <a:t>Any kind</a:t>
            </a:r>
            <a:r>
              <a:rPr lang="en-US" dirty="0"/>
              <a:t>	</a:t>
            </a:r>
            <a:r>
              <a:rPr lang="vi-VN" dirty="0"/>
              <a:t>Bất cứ chuỗi tùy ý nào — dùng cho SPF, DKIM, xác thực, hoặc ghi chú</a:t>
            </a:r>
            <a:endParaRPr lang="en-US" dirty="0"/>
          </a:p>
          <a:p>
            <a:endParaRPr lang="vi-VN" dirty="0"/>
          </a:p>
          <a:p>
            <a:r>
              <a:rPr lang="vi-VN" b="1" dirty="0"/>
              <a:t>Ví dụ minh họa:</a:t>
            </a:r>
          </a:p>
          <a:p>
            <a:pPr>
              <a:buFont typeface="+mj-lt"/>
              <a:buAutoNum type="arabicPeriod"/>
            </a:pPr>
            <a:r>
              <a:rPr lang="vi-VN" b="1" dirty="0"/>
              <a:t>A record</a:t>
            </a:r>
            <a:endParaRPr lang="vi-VN" dirty="0"/>
          </a:p>
          <a:p>
            <a:pPr marL="457200" lvl="1" indent="0">
              <a:buFont typeface="+mj-lt"/>
              <a:buNone/>
            </a:pPr>
            <a:r>
              <a:rPr lang="en-US" dirty="0"/>
              <a:t>- </a:t>
            </a:r>
            <a:r>
              <a:rPr lang="vi-VN" dirty="0"/>
              <a:t>www.cs.vu.nl. IN A 130.37.20.20</a:t>
            </a:r>
            <a:br>
              <a:rPr lang="vi-VN" dirty="0"/>
            </a:br>
            <a:r>
              <a:rPr lang="vi-VN" dirty="0"/>
              <a:t>→ Khi bạn gõ www.cs.vu.nl, DNS sẽ trả địa chỉ 130.37.20.20.</a:t>
            </a:r>
          </a:p>
          <a:p>
            <a:pPr>
              <a:buFont typeface="+mj-lt"/>
              <a:buAutoNum type="arabicPeriod"/>
            </a:pPr>
            <a:r>
              <a:rPr lang="vi-VN" b="1" dirty="0"/>
              <a:t>MX record</a:t>
            </a:r>
            <a:endParaRPr lang="vi-VN" dirty="0"/>
          </a:p>
          <a:p>
            <a:pPr marL="457200" lvl="1" indent="0">
              <a:buFont typeface="+mj-lt"/>
              <a:buNone/>
            </a:pPr>
            <a:r>
              <a:rPr lang="en-US" dirty="0"/>
              <a:t>- </a:t>
            </a:r>
            <a:r>
              <a:rPr lang="vi-VN" dirty="0"/>
              <a:t>cs.vu.nl. IN MX 10 zephyr.cs.vu.nl.</a:t>
            </a:r>
            <a:br>
              <a:rPr lang="vi-VN" dirty="0"/>
            </a:br>
            <a:r>
              <a:rPr lang="vi-VN" dirty="0"/>
              <a:t>→ Tất cả mail gửi đến @cs.vu.nl sẽ được chuyển đến máy zephyr.cs.vu.nl, và ưu tiên máy có số nhỏ nhất (10).</a:t>
            </a:r>
          </a:p>
          <a:p>
            <a:pPr>
              <a:buFont typeface="+mj-lt"/>
              <a:buAutoNum type="arabicPeriod"/>
            </a:pPr>
            <a:r>
              <a:rPr lang="vi-VN" b="1" dirty="0"/>
              <a:t>CNAME record</a:t>
            </a:r>
            <a:endParaRPr lang="vi-VN" dirty="0"/>
          </a:p>
          <a:p>
            <a:pPr marL="457200" lvl="1" indent="0">
              <a:buFont typeface="+mj-lt"/>
              <a:buNone/>
            </a:pPr>
            <a:r>
              <a:rPr lang="en-US" dirty="0"/>
              <a:t>- </a:t>
            </a:r>
            <a:r>
              <a:rPr lang="vi-VN" dirty="0"/>
              <a:t>ftp.cs.vu.nl. IN CNAME soling.cs.vu.nl.</a:t>
            </a:r>
            <a:br>
              <a:rPr lang="vi-VN" dirty="0"/>
            </a:br>
            <a:r>
              <a:rPr lang="vi-VN" dirty="0"/>
              <a:t>→ Tất cả truy vấn đến ftp.cs.vu.nl thực chất được chuyển tiếp (alias) sang soling.cs.vu.nl.</a:t>
            </a:r>
          </a:p>
          <a:p>
            <a:pPr>
              <a:buFont typeface="+mj-lt"/>
              <a:buAutoNum type="arabicPeriod"/>
            </a:pPr>
            <a:r>
              <a:rPr lang="vi-VN" b="1" dirty="0"/>
              <a:t>SRV record</a:t>
            </a:r>
            <a:endParaRPr lang="vi-VN" dirty="0"/>
          </a:p>
          <a:p>
            <a:pPr marL="457200" lvl="1" indent="0">
              <a:buFont typeface="+mj-lt"/>
              <a:buNone/>
            </a:pPr>
            <a:r>
              <a:rPr lang="en-US" dirty="0"/>
              <a:t>- </a:t>
            </a:r>
            <a:r>
              <a:rPr lang="vi-VN" dirty="0"/>
              <a:t>_ldap._tcp.cs.vu.nl. IN SRV 0 5 389 ldapserver.cs.vu.nl.</a:t>
            </a:r>
            <a:br>
              <a:rPr lang="vi-VN" dirty="0"/>
            </a:br>
            <a:r>
              <a:rPr lang="vi-VN" dirty="0"/>
              <a:t>→ Dịch vụ LDAP qua TCP cho domain cs.vu.nl đang chạy trên ldapserver.cs.vu.nl cổng 389.</a:t>
            </a:r>
          </a:p>
          <a:p>
            <a:endParaRPr lang="en-US" b="1" dirty="0"/>
          </a:p>
          <a:p>
            <a:r>
              <a:rPr lang="vi-VN" b="1" dirty="0"/>
              <a:t>Tại sao lại phong phú như vậy?</a:t>
            </a:r>
          </a:p>
          <a:p>
            <a:pPr>
              <a:buFont typeface="Arial" panose="020B0604020202020204" pitchFamily="34" charset="0"/>
              <a:buChar char="•"/>
            </a:pPr>
            <a:r>
              <a:rPr lang="vi-VN" dirty="0"/>
              <a:t>DNS không chỉ ánh xạ tên → IP, mà còn</a:t>
            </a:r>
          </a:p>
          <a:p>
            <a:pPr marL="742950" lvl="1" indent="-285750">
              <a:buFont typeface="Arial" panose="020B0604020202020204" pitchFamily="34" charset="0"/>
              <a:buChar char="•"/>
            </a:pPr>
            <a:r>
              <a:rPr lang="vi-VN" dirty="0"/>
              <a:t>Xác định </a:t>
            </a:r>
            <a:r>
              <a:rPr lang="vi-VN" b="1" dirty="0"/>
              <a:t>ai</a:t>
            </a:r>
            <a:r>
              <a:rPr lang="vi-VN" dirty="0"/>
              <a:t> chịu trách nhiệm cho zone (SOA, NS)</a:t>
            </a:r>
          </a:p>
          <a:p>
            <a:pPr marL="742950" lvl="1" indent="-285750">
              <a:buFont typeface="Arial" panose="020B0604020202020204" pitchFamily="34" charset="0"/>
              <a:buChar char="•"/>
            </a:pPr>
            <a:r>
              <a:rPr lang="vi-VN" dirty="0"/>
              <a:t>Định tuyến mail (MX)</a:t>
            </a:r>
          </a:p>
          <a:p>
            <a:pPr marL="742950" lvl="1" indent="-285750">
              <a:buFont typeface="Arial" panose="020B0604020202020204" pitchFamily="34" charset="0"/>
              <a:buChar char="•"/>
            </a:pPr>
            <a:r>
              <a:rPr lang="vi-VN" dirty="0"/>
              <a:t>Liên kết và alias (CNAME, PTR)</a:t>
            </a:r>
          </a:p>
          <a:p>
            <a:pPr marL="742950" lvl="1" indent="-285750">
              <a:buFont typeface="Arial" panose="020B0604020202020204" pitchFamily="34" charset="0"/>
              <a:buChar char="•"/>
            </a:pPr>
            <a:r>
              <a:rPr lang="vi-VN" dirty="0"/>
              <a:t>Khai báo dịch vụ (SRV)</a:t>
            </a:r>
          </a:p>
          <a:p>
            <a:pPr marL="742950" lvl="1" indent="-285750">
              <a:buFont typeface="Arial" panose="020B0604020202020204" pitchFamily="34" charset="0"/>
              <a:buChar char="•"/>
            </a:pPr>
            <a:r>
              <a:rPr lang="vi-VN" dirty="0"/>
              <a:t>Lưu trữ metadata bất kỳ (TXT, HINFO)</a:t>
            </a:r>
          </a:p>
          <a:p>
            <a:r>
              <a:rPr lang="vi-VN" dirty="0"/>
              <a:t>Nhờ đó, DNS trở thành một </a:t>
            </a:r>
            <a:r>
              <a:rPr lang="vi-VN" b="1" dirty="0"/>
              <a:t>dịch vụ đặt tên chung, rất linh hoạt</a:t>
            </a:r>
            <a:r>
              <a:rPr lang="vi-VN" dirty="0"/>
              <a:t>, không chỉ phục vụ web mà còn email, VoIP, directory services, v.v.</a:t>
            </a:r>
          </a:p>
          <a:p>
            <a:endParaRPr lang="en-US" b="1" dirty="0"/>
          </a:p>
          <a:p>
            <a:r>
              <a:rPr lang="vi-VN" b="1" dirty="0"/>
              <a:t>Tóm lại</a:t>
            </a:r>
          </a:p>
          <a:p>
            <a:pPr>
              <a:buFont typeface="Arial" panose="020B0604020202020204" pitchFamily="34" charset="0"/>
              <a:buChar char="•"/>
            </a:pPr>
            <a:r>
              <a:rPr lang="vi-VN" dirty="0"/>
              <a:t>DNS: </a:t>
            </a:r>
            <a:r>
              <a:rPr lang="vi-VN" b="1" dirty="0"/>
              <a:t>cây phân cấp</a:t>
            </a:r>
            <a:r>
              <a:rPr lang="vi-VN" dirty="0"/>
              <a:t> với </a:t>
            </a:r>
            <a:r>
              <a:rPr lang="vi-VN" b="1" dirty="0"/>
              <a:t>domain</a:t>
            </a:r>
            <a:r>
              <a:rPr lang="vi-VN" dirty="0"/>
              <a:t> (subtree) và </a:t>
            </a:r>
            <a:r>
              <a:rPr lang="vi-VN" b="1" dirty="0"/>
              <a:t>domain name</a:t>
            </a:r>
            <a:r>
              <a:rPr lang="vi-VN" dirty="0"/>
              <a:t> (đường dẫn).</a:t>
            </a:r>
          </a:p>
          <a:p>
            <a:pPr>
              <a:buFont typeface="Arial" panose="020B0604020202020204" pitchFamily="34" charset="0"/>
              <a:buChar char="•"/>
            </a:pPr>
            <a:r>
              <a:rPr lang="vi-VN" dirty="0"/>
              <a:t>Mỗi node chứa </a:t>
            </a:r>
            <a:r>
              <a:rPr lang="vi-VN" b="1" dirty="0"/>
              <a:t>bộ record</a:t>
            </a:r>
            <a:r>
              <a:rPr lang="vi-VN" dirty="0"/>
              <a:t> mô tả đủ loại thông tin: từ IP address, mail server, service location đến các alias và comment.</a:t>
            </a:r>
          </a:p>
          <a:p>
            <a:pPr>
              <a:buFont typeface="Arial" panose="020B0604020202020204" pitchFamily="34" charset="0"/>
              <a:buChar char="•"/>
            </a:pPr>
            <a:r>
              <a:rPr lang="vi-VN" b="1" dirty="0"/>
              <a:t>Sự đa dạng của record types</a:t>
            </a:r>
            <a:r>
              <a:rPr lang="vi-VN" dirty="0"/>
              <a:t> đã giúp DNS tồn tại bền vững hơn 30 năm qua, phục vụ vô số dịch vụ Internet.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53</a:t>
            </a:fld>
            <a:endParaRPr lang="en-US"/>
          </a:p>
        </p:txBody>
      </p:sp>
    </p:spTree>
    <p:extLst>
      <p:ext uri="{BB962C8B-B14F-4D97-AF65-F5344CB8AC3E}">
        <p14:creationId xmlns:p14="http://schemas.microsoft.com/office/powerpoint/2010/main" val="3107433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“Attribute-based naming”</a:t>
            </a:r>
            <a:r>
              <a:rPr lang="vi-VN" dirty="0"/>
              <a:t> </a:t>
            </a:r>
            <a:r>
              <a:rPr lang="en-US" dirty="0"/>
              <a:t>– </a:t>
            </a:r>
            <a:r>
              <a:rPr lang="en-US" dirty="0" err="1"/>
              <a:t>Định</a:t>
            </a:r>
            <a:r>
              <a:rPr lang="en-US" dirty="0"/>
              <a:t> </a:t>
            </a:r>
            <a:r>
              <a:rPr lang="en-US" dirty="0" err="1"/>
              <a:t>danh</a:t>
            </a:r>
            <a:r>
              <a:rPr lang="en-US" dirty="0"/>
              <a:t> </a:t>
            </a:r>
            <a:r>
              <a:rPr lang="en-US" dirty="0" err="1"/>
              <a:t>dựa</a:t>
            </a:r>
            <a:r>
              <a:rPr lang="en-US" dirty="0"/>
              <a:t> </a:t>
            </a:r>
            <a:r>
              <a:rPr lang="en-US" dirty="0" err="1"/>
              <a:t>trên</a:t>
            </a:r>
            <a:r>
              <a:rPr lang="en-US" dirty="0"/>
              <a:t> </a:t>
            </a:r>
            <a:r>
              <a:rPr lang="en-US" dirty="0" err="1"/>
              <a:t>thuộc</a:t>
            </a:r>
            <a:r>
              <a:rPr lang="en-US" dirty="0"/>
              <a:t> </a:t>
            </a:r>
            <a:r>
              <a:rPr lang="en-US" dirty="0" err="1"/>
              <a:t>tính</a:t>
            </a:r>
            <a:r>
              <a:rPr lang="vi-VN" dirty="0"/>
              <a:t>.</a:t>
            </a:r>
          </a:p>
          <a:p>
            <a:endParaRPr lang="en-US" b="1" dirty="0"/>
          </a:p>
          <a:p>
            <a:r>
              <a:rPr lang="en-US" b="1" dirty="0"/>
              <a:t>1. </a:t>
            </a:r>
            <a:r>
              <a:rPr lang="vi-VN" b="1" dirty="0"/>
              <a:t>Tại sao cần Attribute-based naming?</a:t>
            </a:r>
          </a:p>
          <a:p>
            <a:pPr>
              <a:buFont typeface="Arial" panose="020B0604020202020204" pitchFamily="34" charset="0"/>
              <a:buChar char="•"/>
            </a:pPr>
            <a:r>
              <a:rPr lang="en-US" b="1" dirty="0" err="1"/>
              <a:t>Nhận</a:t>
            </a:r>
            <a:r>
              <a:rPr lang="en-US" b="1" dirty="0"/>
              <a:t> </a:t>
            </a:r>
            <a:r>
              <a:rPr lang="en-US" b="1" dirty="0" err="1"/>
              <a:t>định</a:t>
            </a:r>
            <a:r>
              <a:rPr lang="vi-VN" b="1" dirty="0"/>
              <a:t> (Observation):</a:t>
            </a:r>
            <a:br>
              <a:rPr lang="vi-VN" dirty="0"/>
            </a:br>
            <a:r>
              <a:rPr lang="vi-VN" dirty="0"/>
              <a:t>Đôi khi chúng ta không còn nhớ chính xác tên “đường dẫn” (flat hay có cấu trúc) của một thực thể, nhưng lại biết một số </a:t>
            </a:r>
            <a:r>
              <a:rPr lang="vi-VN" b="1" dirty="0"/>
              <a:t>thuộc tính</a:t>
            </a:r>
            <a:r>
              <a:rPr lang="vi-VN" dirty="0"/>
              <a:t> (attribute) của nó.</a:t>
            </a:r>
          </a:p>
          <a:p>
            <a:pPr marL="742950" lvl="1" indent="-285750">
              <a:buFont typeface="Arial" panose="020B0604020202020204" pitchFamily="34" charset="0"/>
              <a:buChar char="•"/>
            </a:pPr>
            <a:r>
              <a:rPr lang="vi-VN" dirty="0"/>
              <a:t>Ví dụ: “Tìm tất cả máy in màu trong tòa nhà A”</a:t>
            </a:r>
          </a:p>
          <a:p>
            <a:pPr marL="742950" lvl="1" indent="-285750">
              <a:buFont typeface="Arial" panose="020B0604020202020204" pitchFamily="34" charset="0"/>
              <a:buChar char="•"/>
            </a:pPr>
            <a:r>
              <a:rPr lang="vi-VN" dirty="0"/>
              <a:t>Ví dụ: “Tìm email của người gửi là Alice và có tiêu đề chứa ‘report’”</a:t>
            </a:r>
          </a:p>
          <a:p>
            <a:pPr>
              <a:buFont typeface="Arial" panose="020B0604020202020204" pitchFamily="34" charset="0"/>
              <a:buChar char="•"/>
            </a:pPr>
            <a:r>
              <a:rPr lang="vi-VN" dirty="0"/>
              <a:t>Trong những trường hợp như vậy, </a:t>
            </a:r>
            <a:r>
              <a:rPr lang="vi-VN" b="1" dirty="0"/>
              <a:t>tra cứu theo tên</a:t>
            </a:r>
            <a:r>
              <a:rPr lang="vi-VN" dirty="0"/>
              <a:t> (name lookup) trở nên bất tiện, trong khi </a:t>
            </a:r>
            <a:r>
              <a:rPr lang="vi-VN" b="1" dirty="0"/>
              <a:t>tra cứu theo thuộc tính</a:t>
            </a:r>
            <a:r>
              <a:rPr lang="vi-VN" dirty="0"/>
              <a:t> (attribute lookup) lại rất tự nhiên — giống như </a:t>
            </a:r>
            <a:r>
              <a:rPr lang="vi-VN" b="1" dirty="0"/>
              <a:t>điều tra trên danh bạ / yellow-pages</a:t>
            </a:r>
            <a:r>
              <a:rPr lang="vi-VN" dirty="0"/>
              <a:t>: tìm theo “ngành nghề”, “khu vực”, “tên công ty”…</a:t>
            </a:r>
          </a:p>
          <a:p>
            <a:endParaRPr lang="en-US" b="1" dirty="0"/>
          </a:p>
          <a:p>
            <a:r>
              <a:rPr lang="en-US" b="1" dirty="0"/>
              <a:t>2. </a:t>
            </a:r>
            <a:r>
              <a:rPr lang="vi-VN" b="1" dirty="0"/>
              <a:t>Cơ chế hoạt động</a:t>
            </a:r>
          </a:p>
          <a:p>
            <a:pPr>
              <a:buFont typeface="+mj-lt"/>
              <a:buNone/>
            </a:pPr>
            <a:r>
              <a:rPr lang="en-US" b="1" dirty="0"/>
              <a:t>a. </a:t>
            </a:r>
            <a:r>
              <a:rPr lang="vi-VN" b="1" dirty="0"/>
              <a:t>Mỗi thực thể (entity)</a:t>
            </a:r>
            <a:r>
              <a:rPr lang="vi-VN" dirty="0"/>
              <a:t> được gán một tập các </a:t>
            </a:r>
            <a:r>
              <a:rPr lang="vi-VN" b="1" dirty="0"/>
              <a:t>(attribute, value)</a:t>
            </a:r>
            <a:r>
              <a:rPr lang="vi-VN" dirty="0"/>
              <a:t>.</a:t>
            </a:r>
          </a:p>
          <a:p>
            <a:pPr marL="457200" lvl="1" indent="0">
              <a:buFont typeface="+mj-lt"/>
              <a:buNone/>
            </a:pPr>
            <a:r>
              <a:rPr lang="en-US" dirty="0"/>
              <a:t>- </a:t>
            </a:r>
            <a:r>
              <a:rPr lang="vi-VN" dirty="0"/>
              <a:t>Ví dụ:</a:t>
            </a:r>
          </a:p>
          <a:p>
            <a:pPr marL="914400" lvl="2" indent="0">
              <a:buFont typeface="+mj-lt"/>
              <a:buNone/>
            </a:pPr>
            <a:r>
              <a:rPr lang="en-US" dirty="0"/>
              <a:t>+ </a:t>
            </a:r>
            <a:r>
              <a:rPr lang="vi-VN" dirty="0"/>
              <a:t>Máy in M1: { type = “printer”, color = true, location = “BuildingA” }</a:t>
            </a:r>
          </a:p>
          <a:p>
            <a:pPr marL="914400" lvl="2" indent="0">
              <a:buFont typeface="+mj-lt"/>
              <a:buNone/>
            </a:pPr>
            <a:r>
              <a:rPr lang="en-US" dirty="0"/>
              <a:t>+ </a:t>
            </a:r>
            <a:r>
              <a:rPr lang="vi-VN" dirty="0"/>
              <a:t>Email E1: { sender = “alice@…”, subject = “Quarterly report”, date = … }</a:t>
            </a:r>
          </a:p>
          <a:p>
            <a:pPr>
              <a:buFont typeface="+mj-lt"/>
              <a:buNone/>
            </a:pPr>
            <a:r>
              <a:rPr lang="en-US" b="1" dirty="0"/>
              <a:t>b. </a:t>
            </a:r>
            <a:r>
              <a:rPr lang="vi-VN" b="1" dirty="0"/>
              <a:t>Truy vấn (lookup)</a:t>
            </a:r>
            <a:r>
              <a:rPr lang="vi-VN" dirty="0"/>
              <a:t> được thực hiện bằng cách </a:t>
            </a:r>
            <a:r>
              <a:rPr lang="vi-VN" b="1" dirty="0"/>
              <a:t>ràng buộc</a:t>
            </a:r>
            <a:r>
              <a:rPr lang="vi-VN" dirty="0"/>
              <a:t> một hoặc nhiều thuộc tính:</a:t>
            </a:r>
          </a:p>
          <a:p>
            <a:pPr marL="457200" lvl="1" indent="0">
              <a:buFont typeface="+mj-lt"/>
              <a:buNone/>
            </a:pPr>
            <a:r>
              <a:rPr lang="en-US" dirty="0"/>
              <a:t>- </a:t>
            </a:r>
            <a:r>
              <a:rPr lang="vi-VN" dirty="0"/>
              <a:t>Ví dụ: type = “printer” AND color = true AND location = “BuildingA”</a:t>
            </a:r>
          </a:p>
          <a:p>
            <a:pPr>
              <a:buFont typeface="+mj-lt"/>
              <a:buNone/>
            </a:pPr>
            <a:r>
              <a:rPr lang="en-US" b="1" dirty="0"/>
              <a:t>c. </a:t>
            </a:r>
            <a:r>
              <a:rPr lang="vi-VN" b="1" dirty="0"/>
              <a:t>Hệ thống</a:t>
            </a:r>
            <a:r>
              <a:rPr lang="vi-VN" dirty="0"/>
              <a:t> sẽ phải </a:t>
            </a:r>
            <a:r>
              <a:rPr lang="vi-VN" b="1" dirty="0"/>
              <a:t>tìm tất cả</a:t>
            </a:r>
            <a:r>
              <a:rPr lang="vi-VN" dirty="0"/>
              <a:t> các thực thể có tập attribute phù hợp với ràng buộc đó, rồi trả về danh sách kết quả.</a:t>
            </a:r>
          </a:p>
          <a:p>
            <a:endParaRPr lang="en-US" b="1" dirty="0"/>
          </a:p>
          <a:p>
            <a:r>
              <a:rPr lang="vi-VN" b="1" dirty="0"/>
              <a:t>3. Vấn đề lớn: Chi phí Lookup</a:t>
            </a:r>
          </a:p>
          <a:p>
            <a:pPr>
              <a:buFont typeface="Arial" panose="020B0604020202020204" pitchFamily="34" charset="0"/>
              <a:buChar char="•"/>
            </a:pPr>
            <a:r>
              <a:rPr lang="vi-VN" b="1" dirty="0"/>
              <a:t>Tốn kém về tài nguyên</a:t>
            </a:r>
            <a:br>
              <a:rPr lang="vi-VN" dirty="0"/>
            </a:br>
            <a:r>
              <a:rPr lang="vi-VN" dirty="0"/>
              <a:t>Để chắc chắn không bỏ sót, hệ thống </a:t>
            </a:r>
            <a:r>
              <a:rPr lang="vi-VN" b="1" dirty="0"/>
              <a:t>phải so khớp</a:t>
            </a:r>
            <a:r>
              <a:rPr lang="vi-VN" dirty="0"/>
              <a:t> ràng buộc với </a:t>
            </a:r>
            <a:r>
              <a:rPr lang="vi-VN" b="1" dirty="0"/>
              <a:t>mọi thực thể</a:t>
            </a:r>
            <a:r>
              <a:rPr lang="vi-VN" dirty="0"/>
              <a:t> — về nguyên tắc là </a:t>
            </a:r>
            <a:r>
              <a:rPr lang="vi-VN" b="1" dirty="0"/>
              <a:t>inspect all entities</a:t>
            </a:r>
            <a:r>
              <a:rPr lang="vi-VN" dirty="0"/>
              <a:t>.</a:t>
            </a:r>
          </a:p>
          <a:p>
            <a:pPr marL="742950" lvl="1" indent="-285750">
              <a:buFont typeface="Arial" panose="020B0604020202020204" pitchFamily="34" charset="0"/>
              <a:buChar char="•"/>
            </a:pPr>
            <a:r>
              <a:rPr lang="vi-VN" dirty="0"/>
              <a:t>Trong kho dữ liệu tập trung (single store) có thể chấp nhận được nếu số lượng không quá lớn và có </a:t>
            </a:r>
            <a:r>
              <a:rPr lang="vi-VN" b="1" dirty="0"/>
              <a:t>indexing</a:t>
            </a:r>
            <a:r>
              <a:rPr lang="vi-VN" dirty="0"/>
              <a:t>.</a:t>
            </a:r>
          </a:p>
          <a:p>
            <a:pPr marL="742950" lvl="1" indent="-285750">
              <a:buFont typeface="Arial" panose="020B0604020202020204" pitchFamily="34" charset="0"/>
              <a:buChar char="•"/>
            </a:pPr>
            <a:r>
              <a:rPr lang="vi-VN" dirty="0"/>
              <a:t>Trong môi trường phân tán (distributed), nếu phải gửi truy vấn đến hàng trăm server chứa các descriptor, chi phí mạng và tính toán sẽ </a:t>
            </a:r>
            <a:r>
              <a:rPr lang="vi-VN" b="1" dirty="0"/>
              <a:t>“đội lên”</a:t>
            </a:r>
            <a:r>
              <a:rPr lang="vi-VN" dirty="0"/>
              <a:t> rất nhanh.</a:t>
            </a:r>
          </a:p>
          <a:p>
            <a:pPr>
              <a:buFont typeface="Arial" panose="020B0604020202020204" pitchFamily="34" charset="0"/>
              <a:buChar char="•"/>
            </a:pPr>
            <a:r>
              <a:rPr lang="vi-VN" b="1" dirty="0"/>
              <a:t>Không thể “cache” đơn giản</a:t>
            </a:r>
            <a:r>
              <a:rPr lang="vi-VN" dirty="0"/>
              <a:t> như DNS:</a:t>
            </a:r>
            <a:br>
              <a:rPr lang="vi-VN" dirty="0"/>
            </a:br>
            <a:r>
              <a:rPr lang="vi-VN" dirty="0"/>
              <a:t>DNS chỉ cần ánh xạ “tên → địa chỉ” một-một, dễ lưu kết quả. Nhưng attribute-based naming có thể trả về </a:t>
            </a:r>
            <a:r>
              <a:rPr lang="vi-VN" b="1" dirty="0"/>
              <a:t>nhiều thực thể</a:t>
            </a:r>
            <a:r>
              <a:rPr lang="vi-VN" dirty="0"/>
              <a:t> và phụ thuộc vào ràng buộc phức tạp, nên </a:t>
            </a:r>
            <a:r>
              <a:rPr lang="vi-VN" b="1" dirty="0"/>
              <a:t>cache</a:t>
            </a:r>
            <a:r>
              <a:rPr lang="vi-VN" dirty="0"/>
              <a:t> không hiệu quả bằng.</a:t>
            </a:r>
          </a:p>
          <a:p>
            <a:endParaRPr lang="en-US" b="1" dirty="0"/>
          </a:p>
          <a:p>
            <a:r>
              <a:rPr lang="vi-VN" b="1" dirty="0"/>
              <a:t>Tóm lại</a:t>
            </a:r>
          </a:p>
          <a:p>
            <a:pPr>
              <a:buFont typeface="Arial" panose="020B0604020202020204" pitchFamily="34" charset="0"/>
              <a:buChar char="•"/>
            </a:pPr>
            <a:r>
              <a:rPr lang="vi-VN" b="1" dirty="0"/>
              <a:t>Ưu điểm:</a:t>
            </a:r>
            <a:endParaRPr lang="vi-VN" dirty="0"/>
          </a:p>
          <a:p>
            <a:pPr marL="742950" lvl="1" indent="-285750">
              <a:buFont typeface="Arial" panose="020B0604020202020204" pitchFamily="34" charset="0"/>
              <a:buChar char="•"/>
            </a:pPr>
            <a:r>
              <a:rPr lang="vi-VN" dirty="0"/>
              <a:t>Luôn tiện khi bạn nhớ “đặc điểm” hơn là “tên chính xác”.</a:t>
            </a:r>
          </a:p>
          <a:p>
            <a:pPr marL="742950" lvl="1" indent="-285750">
              <a:buFont typeface="Arial" panose="020B0604020202020204" pitchFamily="34" charset="0"/>
              <a:buChar char="•"/>
            </a:pPr>
            <a:r>
              <a:rPr lang="vi-VN" dirty="0"/>
              <a:t>Hữu ích cho các directory service (yellow-pages), hệ thống quản lý tài nguyên, email filter, tìm người theo skill, v.v.</a:t>
            </a:r>
          </a:p>
          <a:p>
            <a:pPr>
              <a:buFont typeface="Arial" panose="020B0604020202020204" pitchFamily="34" charset="0"/>
              <a:buChar char="•"/>
            </a:pPr>
            <a:r>
              <a:rPr lang="vi-VN" b="1" dirty="0"/>
              <a:t>Nhược điểm:</a:t>
            </a:r>
            <a:endParaRPr lang="vi-VN" dirty="0"/>
          </a:p>
          <a:p>
            <a:pPr marL="742950" lvl="1" indent="-285750">
              <a:buFont typeface="Arial" panose="020B0604020202020204" pitchFamily="34" charset="0"/>
              <a:buChar char="•"/>
            </a:pPr>
            <a:r>
              <a:rPr lang="vi-VN" b="1" dirty="0"/>
              <a:t>Chi phí lookup rất cao</a:t>
            </a:r>
            <a:r>
              <a:rPr lang="vi-VN" dirty="0"/>
              <a:t> do phải quét và so khớp thuộc tính trên toàn bộ tập dữ liệu, đặc biệt đau đầu trong môi trường phân tán.</a:t>
            </a:r>
          </a:p>
          <a:p>
            <a:pPr marL="742950" lvl="1" indent="-285750">
              <a:buFont typeface="Arial" panose="020B0604020202020204" pitchFamily="34" charset="0"/>
              <a:buChar char="•"/>
            </a:pPr>
            <a:r>
              <a:rPr lang="vi-VN" dirty="0"/>
              <a:t>Cần thêm cơ chế </a:t>
            </a:r>
            <a:r>
              <a:rPr lang="vi-VN" b="1" dirty="0"/>
              <a:t>indexing</a:t>
            </a:r>
            <a:r>
              <a:rPr lang="vi-VN" dirty="0"/>
              <a:t>, </a:t>
            </a:r>
            <a:r>
              <a:rPr lang="vi-VN" b="1" dirty="0"/>
              <a:t>inverted lists</a:t>
            </a:r>
            <a:r>
              <a:rPr lang="vi-VN" dirty="0"/>
              <a:t>, hoặc </a:t>
            </a:r>
            <a:r>
              <a:rPr lang="vi-VN" b="1" dirty="0"/>
              <a:t>frameworks</a:t>
            </a:r>
            <a:r>
              <a:rPr lang="vi-VN" dirty="0"/>
              <a:t> (ví dụ: RDF với SPARQL, hệ thống search engine) để giảm thiểu chi phí.</a:t>
            </a:r>
          </a:p>
          <a:p>
            <a:endParaRPr lang="en-US" b="1" dirty="0"/>
          </a:p>
          <a:p>
            <a:r>
              <a:rPr lang="vi-VN" b="1" dirty="0"/>
              <a:t>Kết luận</a:t>
            </a:r>
            <a:r>
              <a:rPr lang="vi-VN" dirty="0"/>
              <a:t>: Attribute-based naming mở ra khả năng tìm kiếm “flexible” theo tiêu chí người dùng, nhưng để triển khai hiệu quả đòi hỏi nhiều kỹ thuật bổ trợ — indexing, caching phân tán, hoặc các kiến trúc lưu trữ chuyên </a:t>
            </a:r>
            <a:r>
              <a:rPr lang="vi-VN"/>
              <a:t>biệt.</a:t>
            </a:r>
            <a:endParaRPr lang="vi-VN" dirty="0"/>
          </a:p>
        </p:txBody>
      </p:sp>
      <p:sp>
        <p:nvSpPr>
          <p:cNvPr id="4" name="Slide Number Placeholder 3"/>
          <p:cNvSpPr>
            <a:spLocks noGrp="1"/>
          </p:cNvSpPr>
          <p:nvPr>
            <p:ph type="sldNum" sz="quarter" idx="5"/>
          </p:nvPr>
        </p:nvSpPr>
        <p:spPr/>
        <p:txBody>
          <a:bodyPr/>
          <a:lstStyle/>
          <a:p>
            <a:fld id="{492BC7D0-5925-4E08-962F-A8F7AB738BAF}" type="slidenum">
              <a:rPr lang="en-US" smtClean="0"/>
              <a:t>55</a:t>
            </a:fld>
            <a:endParaRPr lang="en-US"/>
          </a:p>
        </p:txBody>
      </p:sp>
    </p:spTree>
    <p:extLst>
      <p:ext uri="{BB962C8B-B14F-4D97-AF65-F5344CB8AC3E}">
        <p14:creationId xmlns:p14="http://schemas.microsoft.com/office/powerpoint/2010/main" val="2869635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“Implementing directory services”</a:t>
            </a:r>
            <a:r>
              <a:rPr lang="vi-VN" dirty="0"/>
              <a:t> (Triển khai dịch vụ thư mục)</a:t>
            </a:r>
            <a:endParaRPr lang="en-US" dirty="0"/>
          </a:p>
          <a:p>
            <a:endParaRPr lang="vi-VN" dirty="0"/>
          </a:p>
          <a:p>
            <a:r>
              <a:rPr lang="vi-VN" b="1" dirty="0"/>
              <a:t>1. Solution for scalable searching</a:t>
            </a:r>
            <a:r>
              <a:rPr lang="en-US" b="1" dirty="0"/>
              <a:t> – </a:t>
            </a:r>
            <a:r>
              <a:rPr lang="en-US" b="1" dirty="0" err="1"/>
              <a:t>giải</a:t>
            </a:r>
            <a:r>
              <a:rPr lang="en-US" b="1" dirty="0"/>
              <a:t> </a:t>
            </a:r>
            <a:r>
              <a:rPr lang="en-US" b="1" dirty="0" err="1"/>
              <a:t>pháp</a:t>
            </a:r>
            <a:r>
              <a:rPr lang="en-US" b="1" dirty="0"/>
              <a:t> </a:t>
            </a:r>
            <a:r>
              <a:rPr lang="en-US" b="1" dirty="0" err="1"/>
              <a:t>tìm</a:t>
            </a:r>
            <a:r>
              <a:rPr lang="en-US" b="1" dirty="0"/>
              <a:t> </a:t>
            </a:r>
            <a:r>
              <a:rPr lang="en-US" b="1" dirty="0" err="1"/>
              <a:t>kiếm</a:t>
            </a:r>
            <a:r>
              <a:rPr lang="en-US" b="1" dirty="0"/>
              <a:t> </a:t>
            </a:r>
            <a:r>
              <a:rPr lang="en-US" b="1" dirty="0" err="1"/>
              <a:t>mở</a:t>
            </a:r>
            <a:r>
              <a:rPr lang="en-US" b="1" dirty="0"/>
              <a:t> </a:t>
            </a:r>
            <a:r>
              <a:rPr lang="en-US" b="1" dirty="0" err="1"/>
              <a:t>rộng</a:t>
            </a:r>
            <a:endParaRPr lang="vi-VN" b="1" dirty="0"/>
          </a:p>
          <a:p>
            <a:r>
              <a:rPr lang="vi-VN" b="1" dirty="0"/>
              <a:t>“Implement basic directory service as database, and combine with traditional structured naming system.”</a:t>
            </a:r>
            <a:endParaRPr lang="vi-VN" dirty="0"/>
          </a:p>
          <a:p>
            <a:pPr>
              <a:buFont typeface="Arial" panose="020B0604020202020204" pitchFamily="34" charset="0"/>
              <a:buChar char="•"/>
            </a:pPr>
            <a:r>
              <a:rPr lang="vi-VN" b="1" dirty="0"/>
              <a:t>Giải thích:</a:t>
            </a:r>
            <a:br>
              <a:rPr lang="vi-VN" dirty="0"/>
            </a:br>
            <a:r>
              <a:rPr lang="vi-VN" dirty="0"/>
              <a:t>Trong các hệ thống phân tán lớn, việc tìm kiếm dựa trên tên cấu trúc truyền thống (structured naming) không đủ linh hoạt khi số lượng thực thể ngày càng nhiều.</a:t>
            </a:r>
            <a:br>
              <a:rPr lang="vi-VN" dirty="0"/>
            </a:br>
            <a:r>
              <a:rPr lang="vi-VN" dirty="0"/>
              <a:t>→ Do đó, ta cần một </a:t>
            </a:r>
            <a:r>
              <a:rPr lang="vi-VN" b="1" dirty="0"/>
              <a:t>dịch vụ thư mục (directory service)</a:t>
            </a:r>
            <a:r>
              <a:rPr lang="vi-VN" dirty="0"/>
              <a:t> đóng vai trò như một </a:t>
            </a:r>
            <a:r>
              <a:rPr lang="vi-VN" b="1" dirty="0"/>
              <a:t>cơ sở dữ liệu (database)</a:t>
            </a:r>
            <a:r>
              <a:rPr lang="vi-VN" dirty="0"/>
              <a:t> có thể tra cứu thông tin bằng cách dùng </a:t>
            </a:r>
            <a:r>
              <a:rPr lang="vi-VN" b="1" dirty="0"/>
              <a:t>(thuộc tính, giá trị)</a:t>
            </a:r>
            <a:r>
              <a:rPr lang="vi-VN" dirty="0"/>
              <a:t> — đây là hình thức của </a:t>
            </a:r>
            <a:r>
              <a:rPr lang="vi-VN" b="1" dirty="0"/>
              <a:t>định danh dựa trên thuộc tính (attribute-based naming)</a:t>
            </a:r>
            <a:r>
              <a:rPr lang="vi-VN" dirty="0"/>
              <a:t>.</a:t>
            </a:r>
          </a:p>
          <a:p>
            <a:pPr>
              <a:buFont typeface="Arial" panose="020B0604020202020204" pitchFamily="34" charset="0"/>
              <a:buChar char="•"/>
            </a:pPr>
            <a:r>
              <a:rPr lang="vi-VN" b="1" dirty="0"/>
              <a:t>Ý tưởng chính:</a:t>
            </a:r>
            <a:br>
              <a:rPr lang="vi-VN" dirty="0"/>
            </a:br>
            <a:r>
              <a:rPr lang="vi-VN" dirty="0"/>
              <a:t>Kết hợp giữa hai hình thức:</a:t>
            </a:r>
          </a:p>
          <a:p>
            <a:pPr marL="742950" lvl="1" indent="-285750">
              <a:buFont typeface="Arial" panose="020B0604020202020204" pitchFamily="34" charset="0"/>
              <a:buChar char="•"/>
            </a:pPr>
            <a:r>
              <a:rPr lang="vi-VN" b="1" dirty="0"/>
              <a:t>Định danh cấu trúc</a:t>
            </a:r>
            <a:r>
              <a:rPr lang="vi-VN" dirty="0"/>
              <a:t>: tạo đường dẫn duy nhất như /C=NL/O=VU University/...</a:t>
            </a:r>
          </a:p>
          <a:p>
            <a:pPr marL="742950" lvl="1" indent="-285750">
              <a:buFont typeface="Arial" panose="020B0604020202020204" pitchFamily="34" charset="0"/>
              <a:buChar char="•"/>
            </a:pPr>
            <a:r>
              <a:rPr lang="vi-VN" b="1" dirty="0"/>
              <a:t>Định danh dựa trên thuộc tính</a:t>
            </a:r>
            <a:r>
              <a:rPr lang="vi-VN" dirty="0"/>
              <a:t>: cho phép tìm kiếm linh hoạt như CN = Main server trong C = NL, O = VU University</a:t>
            </a:r>
          </a:p>
          <a:p>
            <a:endParaRPr lang="en-US" b="1" dirty="0"/>
          </a:p>
          <a:p>
            <a:r>
              <a:rPr lang="vi-VN" b="1" dirty="0"/>
              <a:t>2. Lightweight Directory Access Protocol (LDAP)</a:t>
            </a:r>
            <a:r>
              <a:rPr lang="en-US" b="1" dirty="0"/>
              <a:t>- Giao </a:t>
            </a:r>
            <a:r>
              <a:rPr lang="en-US" b="1" dirty="0" err="1"/>
              <a:t>thức</a:t>
            </a:r>
            <a:r>
              <a:rPr lang="en-US" b="1" dirty="0"/>
              <a:t> </a:t>
            </a:r>
            <a:r>
              <a:rPr lang="en-US" b="1" dirty="0" err="1"/>
              <a:t>truy</a:t>
            </a:r>
            <a:r>
              <a:rPr lang="en-US" b="1" dirty="0"/>
              <a:t> </a:t>
            </a:r>
            <a:r>
              <a:rPr lang="en-US" b="1" dirty="0" err="1"/>
              <a:t>cập</a:t>
            </a:r>
            <a:r>
              <a:rPr lang="en-US" b="1" dirty="0"/>
              <a:t> </a:t>
            </a:r>
            <a:r>
              <a:rPr lang="en-US" b="1" dirty="0" err="1"/>
              <a:t>dịch</a:t>
            </a:r>
            <a:r>
              <a:rPr lang="en-US" b="1" dirty="0"/>
              <a:t> </a:t>
            </a:r>
            <a:r>
              <a:rPr lang="en-US" b="1" dirty="0" err="1"/>
              <a:t>vụ</a:t>
            </a:r>
            <a:r>
              <a:rPr lang="en-US" b="1" dirty="0"/>
              <a:t> </a:t>
            </a:r>
            <a:r>
              <a:rPr lang="en-US" b="1" dirty="0" err="1"/>
              <a:t>thư</a:t>
            </a:r>
            <a:r>
              <a:rPr lang="en-US" b="1" dirty="0"/>
              <a:t> </a:t>
            </a:r>
            <a:r>
              <a:rPr lang="en-US" b="1" dirty="0" err="1"/>
              <a:t>mục</a:t>
            </a:r>
            <a:r>
              <a:rPr lang="en-US" b="1" dirty="0"/>
              <a:t> </a:t>
            </a:r>
            <a:r>
              <a:rPr lang="en-US" b="1" dirty="0" err="1"/>
              <a:t>nhẹ</a:t>
            </a:r>
            <a:endParaRPr lang="vi-VN" b="1" dirty="0"/>
          </a:p>
          <a:p>
            <a:r>
              <a:rPr lang="vi-VN" b="1" dirty="0"/>
              <a:t>“Each directory entry consists of (attribute, value) pairs, and is uniquely named to ease lookups.”</a:t>
            </a:r>
            <a:endParaRPr lang="vi-VN" dirty="0"/>
          </a:p>
          <a:p>
            <a:pPr>
              <a:buFont typeface="Arial" panose="020B0604020202020204" pitchFamily="34" charset="0"/>
              <a:buChar char="•"/>
            </a:pPr>
            <a:r>
              <a:rPr lang="vi-VN" b="1" dirty="0"/>
              <a:t>Giải thích:</a:t>
            </a:r>
            <a:br>
              <a:rPr lang="vi-VN" dirty="0"/>
            </a:br>
            <a:r>
              <a:rPr lang="vi-VN" dirty="0"/>
              <a:t>LDAP là một giao thức nhẹ được phát triển từ X.500, giúp truy cập và quản lý các dịch vụ thư mục.</a:t>
            </a:r>
            <a:br>
              <a:rPr lang="vi-VN" dirty="0"/>
            </a:br>
            <a:r>
              <a:rPr lang="vi-VN" dirty="0"/>
              <a:t>Mỗi mục trong LDAP là một </a:t>
            </a:r>
            <a:r>
              <a:rPr lang="vi-VN" b="1" dirty="0"/>
              <a:t>directory entry</a:t>
            </a:r>
            <a:r>
              <a:rPr lang="vi-VN" dirty="0"/>
              <a:t>, bao gồm nhiều cặp (attribute, value).</a:t>
            </a:r>
          </a:p>
          <a:p>
            <a:pPr>
              <a:buFont typeface="Arial" panose="020B0604020202020204" pitchFamily="34" charset="0"/>
              <a:buChar char="•"/>
            </a:pPr>
            <a:r>
              <a:rPr lang="vi-VN" b="1" dirty="0"/>
              <a:t>Điểm nổi bật của LDAP:</a:t>
            </a:r>
            <a:endParaRPr lang="vi-VN" dirty="0"/>
          </a:p>
          <a:p>
            <a:pPr marL="742950" lvl="1" indent="-285750">
              <a:buFont typeface="Arial" panose="020B0604020202020204" pitchFamily="34" charset="0"/>
              <a:buChar char="•"/>
            </a:pPr>
            <a:r>
              <a:rPr lang="vi-VN" dirty="0"/>
              <a:t>Cho phép xác định từng mục một cách </a:t>
            </a:r>
            <a:r>
              <a:rPr lang="vi-VN" b="1" dirty="0"/>
              <a:t>duy nhất</a:t>
            </a:r>
            <a:r>
              <a:rPr lang="vi-VN" dirty="0"/>
              <a:t> (uniquely named) bằng cách sử dụng một tập hợp các thuộc tính phân biệt gọi là </a:t>
            </a:r>
            <a:r>
              <a:rPr lang="vi-VN" b="1" dirty="0"/>
              <a:t>RDN (Relative Distinguished Name)</a:t>
            </a:r>
            <a:r>
              <a:rPr lang="vi-VN" dirty="0"/>
              <a:t>.</a:t>
            </a:r>
          </a:p>
          <a:p>
            <a:pPr marL="742950" lvl="1" indent="-285750">
              <a:buFont typeface="Arial" panose="020B0604020202020204" pitchFamily="34" charset="0"/>
              <a:buChar char="•"/>
            </a:pPr>
            <a:r>
              <a:rPr lang="vi-VN" dirty="0"/>
              <a:t>Cho phép </a:t>
            </a:r>
            <a:r>
              <a:rPr lang="vi-VN" b="1" dirty="0"/>
              <a:t>tra cứu theo giá trị thuộc tính</a:t>
            </a:r>
            <a:r>
              <a:rPr lang="vi-VN" dirty="0"/>
              <a:t> thay vì phải biết tên chính xác như trong DNS.</a:t>
            </a:r>
          </a:p>
          <a:p>
            <a:endParaRPr lang="en-US" b="1" dirty="0"/>
          </a:p>
          <a:p>
            <a:r>
              <a:rPr lang="vi-VN" b="1" dirty="0"/>
              <a:t>3. Bảng minh họa:</a:t>
            </a:r>
          </a:p>
          <a:p>
            <a:r>
              <a:rPr lang="vi-VN" dirty="0"/>
              <a:t>Attribute</a:t>
            </a:r>
            <a:r>
              <a:rPr lang="en-US" dirty="0"/>
              <a:t>		</a:t>
            </a:r>
            <a:r>
              <a:rPr lang="vi-VN" dirty="0"/>
              <a:t>Abbr.</a:t>
            </a:r>
            <a:r>
              <a:rPr lang="en-US" dirty="0"/>
              <a:t>	</a:t>
            </a:r>
            <a:r>
              <a:rPr lang="vi-VN" dirty="0"/>
              <a:t>Value</a:t>
            </a:r>
            <a:endParaRPr lang="en-US" dirty="0"/>
          </a:p>
          <a:p>
            <a:r>
              <a:rPr lang="vi-VN" dirty="0"/>
              <a:t>Country</a:t>
            </a:r>
            <a:r>
              <a:rPr lang="en-US" dirty="0"/>
              <a:t>		</a:t>
            </a:r>
            <a:r>
              <a:rPr lang="vi-VN" dirty="0"/>
              <a:t>C</a:t>
            </a:r>
            <a:r>
              <a:rPr lang="en-US" dirty="0"/>
              <a:t>	</a:t>
            </a:r>
            <a:r>
              <a:rPr lang="vi-VN" dirty="0"/>
              <a:t>NL</a:t>
            </a:r>
            <a:endParaRPr lang="en-US" dirty="0"/>
          </a:p>
          <a:p>
            <a:r>
              <a:rPr lang="vi-VN" dirty="0"/>
              <a:t>Locality</a:t>
            </a:r>
            <a:r>
              <a:rPr lang="en-US" dirty="0"/>
              <a:t>		</a:t>
            </a:r>
            <a:r>
              <a:rPr lang="vi-VN" dirty="0"/>
              <a:t>L</a:t>
            </a:r>
            <a:r>
              <a:rPr lang="en-US" dirty="0"/>
              <a:t>	</a:t>
            </a:r>
            <a:r>
              <a:rPr lang="vi-VN" dirty="0"/>
              <a:t>Amsterdam</a:t>
            </a:r>
            <a:endParaRPr lang="en-US" dirty="0"/>
          </a:p>
          <a:p>
            <a:r>
              <a:rPr lang="vi-VN" dirty="0"/>
              <a:t>Organization</a:t>
            </a:r>
            <a:r>
              <a:rPr lang="en-US" dirty="0"/>
              <a:t>		</a:t>
            </a:r>
            <a:r>
              <a:rPr lang="vi-VN" dirty="0"/>
              <a:t>O</a:t>
            </a:r>
            <a:r>
              <a:rPr lang="en-US" dirty="0"/>
              <a:t>	</a:t>
            </a:r>
            <a:r>
              <a:rPr lang="vi-VN" dirty="0"/>
              <a:t>VU University</a:t>
            </a:r>
            <a:endParaRPr lang="en-US" dirty="0"/>
          </a:p>
          <a:p>
            <a:r>
              <a:rPr lang="vi-VN" dirty="0"/>
              <a:t>OrganizationalUnit</a:t>
            </a:r>
            <a:r>
              <a:rPr lang="en-US" dirty="0"/>
              <a:t>	</a:t>
            </a:r>
            <a:r>
              <a:rPr lang="vi-VN" dirty="0"/>
              <a:t>OU</a:t>
            </a:r>
            <a:r>
              <a:rPr lang="en-US" dirty="0"/>
              <a:t>	</a:t>
            </a:r>
            <a:r>
              <a:rPr lang="vi-VN" dirty="0"/>
              <a:t>Computer Science</a:t>
            </a:r>
            <a:endParaRPr lang="en-US" dirty="0"/>
          </a:p>
          <a:p>
            <a:r>
              <a:rPr lang="vi-VN" dirty="0"/>
              <a:t>CommonName</a:t>
            </a:r>
            <a:r>
              <a:rPr lang="en-US" dirty="0"/>
              <a:t>	</a:t>
            </a:r>
            <a:r>
              <a:rPr lang="vi-VN" dirty="0"/>
              <a:t>CN</a:t>
            </a:r>
            <a:r>
              <a:rPr lang="en-US" dirty="0"/>
              <a:t>	</a:t>
            </a:r>
            <a:r>
              <a:rPr lang="vi-VN" dirty="0"/>
              <a:t>Main server</a:t>
            </a:r>
            <a:endParaRPr lang="en-US" dirty="0"/>
          </a:p>
          <a:p>
            <a:r>
              <a:rPr lang="vi-VN" dirty="0"/>
              <a:t>Mail_Servers</a:t>
            </a:r>
            <a:r>
              <a:rPr lang="en-US" dirty="0"/>
              <a:t>		</a:t>
            </a:r>
            <a:r>
              <a:rPr lang="vi-VN" dirty="0"/>
              <a:t>–</a:t>
            </a:r>
            <a:r>
              <a:rPr lang="en-US" dirty="0"/>
              <a:t>	</a:t>
            </a:r>
            <a:r>
              <a:rPr lang="vi-VN" dirty="0"/>
              <a:t>137.37.20.3, ...</a:t>
            </a:r>
            <a:endParaRPr lang="en-US" dirty="0"/>
          </a:p>
          <a:p>
            <a:r>
              <a:rPr lang="vi-VN" dirty="0"/>
              <a:t>FTP_Server</a:t>
            </a:r>
            <a:r>
              <a:rPr lang="en-US" dirty="0"/>
              <a:t>		</a:t>
            </a:r>
            <a:r>
              <a:rPr lang="vi-VN" dirty="0"/>
              <a:t>–</a:t>
            </a:r>
            <a:r>
              <a:rPr lang="en-US" dirty="0"/>
              <a:t>	</a:t>
            </a:r>
            <a:r>
              <a:rPr lang="vi-VN" dirty="0"/>
              <a:t>130.37.20.20</a:t>
            </a:r>
            <a:endParaRPr lang="en-US" dirty="0"/>
          </a:p>
          <a:p>
            <a:r>
              <a:rPr lang="vi-VN" dirty="0"/>
              <a:t>WWW_Server</a:t>
            </a:r>
            <a:r>
              <a:rPr lang="en-US" dirty="0"/>
              <a:t>		</a:t>
            </a:r>
            <a:r>
              <a:rPr lang="vi-VN" dirty="0"/>
              <a:t>–</a:t>
            </a:r>
            <a:r>
              <a:rPr lang="en-US" dirty="0"/>
              <a:t>	</a:t>
            </a:r>
            <a:r>
              <a:rPr lang="vi-VN" dirty="0"/>
              <a:t>130.37.20.20</a:t>
            </a:r>
            <a:endParaRPr lang="en-US" dirty="0"/>
          </a:p>
          <a:p>
            <a:endParaRPr lang="vi-VN" dirty="0"/>
          </a:p>
          <a:p>
            <a:pPr>
              <a:buFont typeface="Arial" panose="020B0604020202020204" pitchFamily="34" charset="0"/>
              <a:buChar char="•"/>
            </a:pPr>
            <a:r>
              <a:rPr lang="vi-VN" b="1" dirty="0"/>
              <a:t>Ý nghĩa của bảng:</a:t>
            </a:r>
            <a:endParaRPr lang="vi-VN" dirty="0"/>
          </a:p>
          <a:p>
            <a:pPr marL="742950" lvl="1" indent="-285750">
              <a:buFont typeface="Arial" panose="020B0604020202020204" pitchFamily="34" charset="0"/>
              <a:buChar char="•"/>
            </a:pPr>
            <a:r>
              <a:rPr lang="vi-VN" dirty="0"/>
              <a:t>Đây là một ví dụ về </a:t>
            </a:r>
            <a:r>
              <a:rPr lang="vi-VN" b="1" dirty="0"/>
              <a:t>directory entry</a:t>
            </a:r>
            <a:r>
              <a:rPr lang="vi-VN" dirty="0"/>
              <a:t> trong LDAP.</a:t>
            </a:r>
          </a:p>
          <a:p>
            <a:pPr marL="742950" lvl="1" indent="-285750">
              <a:buFont typeface="Arial" panose="020B0604020202020204" pitchFamily="34" charset="0"/>
              <a:buChar char="•"/>
            </a:pPr>
            <a:r>
              <a:rPr lang="vi-VN" dirty="0"/>
              <a:t>Các thuộc tính như C, O, OU, CN là các </a:t>
            </a:r>
            <a:r>
              <a:rPr lang="vi-VN" b="1" dirty="0"/>
              <a:t>RDN</a:t>
            </a:r>
            <a:r>
              <a:rPr lang="vi-VN" dirty="0"/>
              <a:t> và tạo thành một đường dẫn duy nhất như /C=NL/O=VU University/OU=Computer Science/CN=Main server.</a:t>
            </a:r>
          </a:p>
          <a:p>
            <a:pPr marL="742950" lvl="1" indent="-285750">
              <a:buFont typeface="Arial" panose="020B0604020202020204" pitchFamily="34" charset="0"/>
              <a:buChar char="•"/>
            </a:pPr>
            <a:r>
              <a:rPr lang="vi-VN" dirty="0"/>
              <a:t>Các thuộc tính còn lại như Mail_Servers, FTP_Server, WWW_Server cho biết các dịch vụ liên quan đến mục này.</a:t>
            </a:r>
          </a:p>
          <a:p>
            <a:endParaRPr lang="en-US" b="1" dirty="0"/>
          </a:p>
          <a:p>
            <a:r>
              <a:rPr lang="vi-VN" b="1" dirty="0"/>
              <a:t>Kết luận cho slide này khi giảng dạy:</a:t>
            </a:r>
          </a:p>
          <a:p>
            <a:r>
              <a:rPr lang="vi-VN" dirty="0"/>
              <a:t>Khi triển khai dịch vụ thư mục trong hệ thống phân tán, ta cần một giải pháp vừa </a:t>
            </a:r>
            <a:r>
              <a:rPr lang="vi-VN" b="1" dirty="0"/>
              <a:t>có thể mở rộng tốt (scalable)</a:t>
            </a:r>
            <a:r>
              <a:rPr lang="vi-VN" dirty="0"/>
              <a:t> vừa </a:t>
            </a:r>
            <a:r>
              <a:rPr lang="vi-VN" b="1" dirty="0"/>
              <a:t>cho phép tìm kiếm linh hoạt</a:t>
            </a:r>
            <a:r>
              <a:rPr lang="vi-VN" dirty="0"/>
              <a:t>. LDAP chính là giải pháp phù hợp vì:</a:t>
            </a:r>
          </a:p>
          <a:p>
            <a:pPr>
              <a:buFont typeface="Arial" panose="020B0604020202020204" pitchFamily="34" charset="0"/>
              <a:buChar char="•"/>
            </a:pPr>
            <a:r>
              <a:rPr lang="vi-VN" dirty="0"/>
              <a:t>Nó sử dụng mô hình định danh dựa trên thuộc tính.</a:t>
            </a:r>
          </a:p>
          <a:p>
            <a:pPr>
              <a:buFont typeface="Arial" panose="020B0604020202020204" pitchFamily="34" charset="0"/>
              <a:buChar char="•"/>
            </a:pPr>
            <a:r>
              <a:rPr lang="vi-VN" dirty="0"/>
              <a:t>Có thể kết hợp với định danh phân cấp truyền thống để tăng hiệu quả tìm kiếm.</a:t>
            </a:r>
          </a:p>
          <a:p>
            <a:pPr>
              <a:buFont typeface="Arial" panose="020B0604020202020204" pitchFamily="34" charset="0"/>
              <a:buChar char="•"/>
            </a:pPr>
            <a:r>
              <a:rPr lang="vi-VN" dirty="0"/>
              <a:t>Hỗ trợ các truy vấn mạnh mẽ và cấu trúc dữ liệu dạng cây (Directory Information Tree – DIT).</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56</a:t>
            </a:fld>
            <a:endParaRPr lang="en-US"/>
          </a:p>
        </p:txBody>
      </p:sp>
    </p:spTree>
    <p:extLst>
      <p:ext uri="{BB962C8B-B14F-4D97-AF65-F5344CB8AC3E}">
        <p14:creationId xmlns:p14="http://schemas.microsoft.com/office/powerpoint/2010/main" val="23425879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LDAP – Essence</a:t>
            </a:r>
            <a:endParaRPr lang="en-US" b="1" dirty="0"/>
          </a:p>
          <a:p>
            <a:endParaRPr lang="vi-VN" b="1" dirty="0"/>
          </a:p>
          <a:p>
            <a:r>
              <a:rPr lang="vi-VN" b="1" dirty="0"/>
              <a:t>I. Bối cảnh tổng quan</a:t>
            </a:r>
          </a:p>
          <a:p>
            <a:r>
              <a:rPr lang="vi-VN" dirty="0"/>
              <a:t>LDAP (</a:t>
            </a:r>
            <a:r>
              <a:rPr lang="vi-VN" b="1" dirty="0"/>
              <a:t>Lightweight Directory Access Protocol</a:t>
            </a:r>
            <a:r>
              <a:rPr lang="vi-VN" dirty="0"/>
              <a:t>) là một giao thức truy cập dịch vụ thư mục phổ biến, được phát triển từ hệ thống X.500 của OSI.</a:t>
            </a:r>
            <a:br>
              <a:rPr lang="vi-VN" dirty="0"/>
            </a:br>
            <a:r>
              <a:rPr lang="vi-VN" dirty="0"/>
              <a:t>Nó cho phép lưu trữ và truy vấn các mục thông tin (directory entries) trong một cấu trúc phân cấp, phù hợp cho </a:t>
            </a:r>
            <a:r>
              <a:rPr lang="vi-VN" b="1" dirty="0"/>
              <a:t>dịch vụ tên phân tán</a:t>
            </a:r>
            <a:r>
              <a:rPr lang="vi-VN" dirty="0"/>
              <a:t> có quy mô lớn (như DNS nhưng linh hoạt hơn).</a:t>
            </a:r>
          </a:p>
          <a:p>
            <a:endParaRPr lang="en-US" b="1" dirty="0"/>
          </a:p>
          <a:p>
            <a:r>
              <a:rPr lang="vi-VN" b="1" dirty="0"/>
              <a:t>II. Giải nghĩa từng điểm trong slide</a:t>
            </a:r>
          </a:p>
          <a:p>
            <a:endParaRPr lang="en-US" b="1" dirty="0"/>
          </a:p>
          <a:p>
            <a:r>
              <a:rPr lang="vi-VN" b="1" dirty="0"/>
              <a:t>Directory Information Base (DIB):</a:t>
            </a:r>
          </a:p>
          <a:p>
            <a:r>
              <a:rPr lang="vi-VN" i="1" dirty="0"/>
              <a:t>“Collection of all directory entries in an LDAP service.”</a:t>
            </a:r>
            <a:endParaRPr lang="vi-VN" dirty="0"/>
          </a:p>
          <a:p>
            <a:pPr>
              <a:buFont typeface="Arial" panose="020B0604020202020204" pitchFamily="34" charset="0"/>
              <a:buChar char="•"/>
            </a:pPr>
            <a:r>
              <a:rPr lang="vi-VN" b="1" dirty="0"/>
              <a:t>Giải thích:</a:t>
            </a:r>
            <a:br>
              <a:rPr lang="vi-VN" dirty="0"/>
            </a:br>
            <a:r>
              <a:rPr lang="vi-VN" dirty="0"/>
              <a:t>Tương tự như cơ sở dữ liệu, DIB là tập hợp tất cả các </a:t>
            </a:r>
            <a:r>
              <a:rPr lang="vi-VN" b="1" dirty="0"/>
              <a:t>record</a:t>
            </a:r>
            <a:r>
              <a:rPr lang="vi-VN" dirty="0"/>
              <a:t> (hay còn gọi là </a:t>
            </a:r>
            <a:r>
              <a:rPr lang="vi-VN" b="1" dirty="0"/>
              <a:t>directory entries</a:t>
            </a:r>
            <a:r>
              <a:rPr lang="vi-VN" dirty="0"/>
              <a:t>) trong hệ thống LDAP.</a:t>
            </a:r>
          </a:p>
          <a:p>
            <a:pPr>
              <a:buFont typeface="Arial" panose="020B0604020202020204" pitchFamily="34" charset="0"/>
              <a:buChar char="•"/>
            </a:pPr>
            <a:r>
              <a:rPr lang="vi-VN" b="1" dirty="0"/>
              <a:t>So sánh:</a:t>
            </a:r>
            <a:br>
              <a:rPr lang="vi-VN" dirty="0"/>
            </a:br>
            <a:r>
              <a:rPr lang="vi-VN" dirty="0"/>
              <a:t>Giống như </a:t>
            </a:r>
            <a:r>
              <a:rPr lang="vi-VN" b="1" dirty="0"/>
              <a:t>zone file</a:t>
            </a:r>
            <a:r>
              <a:rPr lang="vi-VN" dirty="0"/>
              <a:t> trong DNS chứa các bản ghi (record), DIB lưu tất cả thông tin thuộc tính (attribute-value) của từng entry.</a:t>
            </a:r>
          </a:p>
          <a:p>
            <a:endParaRPr lang="en-US" b="1" dirty="0"/>
          </a:p>
          <a:p>
            <a:r>
              <a:rPr lang="vi-VN" b="1" dirty="0"/>
              <a:t>Relative Distinguished Name (RDN):</a:t>
            </a:r>
          </a:p>
          <a:p>
            <a:r>
              <a:rPr lang="vi-VN" i="1" dirty="0"/>
              <a:t>“Each record is uniquely named as a sequence of naming attributes…”</a:t>
            </a:r>
            <a:endParaRPr lang="vi-VN" dirty="0"/>
          </a:p>
          <a:p>
            <a:pPr>
              <a:buFont typeface="Arial" panose="020B0604020202020204" pitchFamily="34" charset="0"/>
              <a:buChar char="•"/>
            </a:pPr>
            <a:r>
              <a:rPr lang="vi-VN" b="1" dirty="0"/>
              <a:t>Giải thích:</a:t>
            </a:r>
            <a:br>
              <a:rPr lang="vi-VN" dirty="0"/>
            </a:br>
            <a:r>
              <a:rPr lang="vi-VN" dirty="0"/>
              <a:t>Mỗi entry trong LDAP được xác định </a:t>
            </a:r>
            <a:r>
              <a:rPr lang="vi-VN" b="1" dirty="0"/>
              <a:t>duy nhất</a:t>
            </a:r>
            <a:r>
              <a:rPr lang="vi-VN" dirty="0"/>
              <a:t> bằng một chuỗi các cặp (attribute, value) gọi là </a:t>
            </a:r>
            <a:r>
              <a:rPr lang="vi-VN" b="1" dirty="0"/>
              <a:t>RDN</a:t>
            </a:r>
            <a:r>
              <a:rPr lang="vi-VN" dirty="0"/>
              <a:t>.</a:t>
            </a:r>
            <a:br>
              <a:rPr lang="vi-VN" dirty="0"/>
            </a:br>
            <a:r>
              <a:rPr lang="vi-VN" dirty="0"/>
              <a:t>Khi nối các RDN từ root đến node, ta có một đường dẫn đầy đủ gọi là </a:t>
            </a:r>
            <a:r>
              <a:rPr lang="vi-VN" b="1" dirty="0"/>
              <a:t>Distinguished Name (DN)</a:t>
            </a:r>
            <a:r>
              <a:rPr lang="vi-VN" dirty="0"/>
              <a:t>.</a:t>
            </a:r>
          </a:p>
          <a:p>
            <a:endParaRPr lang="en-US" b="1" dirty="0"/>
          </a:p>
          <a:p>
            <a:r>
              <a:rPr lang="vi-VN" b="1" dirty="0"/>
              <a:t>Directory Information Tree (DIT):</a:t>
            </a:r>
          </a:p>
          <a:p>
            <a:r>
              <a:rPr lang="vi-VN" i="1" dirty="0"/>
              <a:t>“The naming graph of an LDAP directory service; each node represents a directory entry.”</a:t>
            </a:r>
            <a:endParaRPr lang="vi-VN" dirty="0"/>
          </a:p>
          <a:p>
            <a:pPr>
              <a:buFont typeface="Arial" panose="020B0604020202020204" pitchFamily="34" charset="0"/>
              <a:buChar char="•"/>
            </a:pPr>
            <a:r>
              <a:rPr lang="vi-VN" b="1" dirty="0"/>
              <a:t>Giải thích:</a:t>
            </a:r>
            <a:br>
              <a:rPr lang="vi-VN" dirty="0"/>
            </a:br>
            <a:r>
              <a:rPr lang="vi-VN" dirty="0"/>
              <a:t>Cấu trúc phân cấp này gọi là </a:t>
            </a:r>
            <a:r>
              <a:rPr lang="vi-VN" b="1" dirty="0"/>
              <a:t>Directory Information Tree (DIT)</a:t>
            </a:r>
            <a:r>
              <a:rPr lang="vi-VN" dirty="0"/>
              <a:t> — mỗi </a:t>
            </a:r>
            <a:r>
              <a:rPr lang="vi-VN" b="1" dirty="0"/>
              <a:t>node là một entry</a:t>
            </a:r>
            <a:r>
              <a:rPr lang="vi-VN" dirty="0"/>
              <a:t> và có thể vừa </a:t>
            </a:r>
            <a:r>
              <a:rPr lang="vi-VN" b="1" dirty="0"/>
              <a:t>lưu trữ dữ liệu</a:t>
            </a:r>
            <a:r>
              <a:rPr lang="vi-VN" dirty="0"/>
              <a:t>, vừa </a:t>
            </a:r>
            <a:r>
              <a:rPr lang="vi-VN" b="1" dirty="0"/>
              <a:t>làm thư mục chứa các node con</a:t>
            </a:r>
            <a:r>
              <a:rPr lang="vi-VN" dirty="0"/>
              <a:t>.</a:t>
            </a:r>
          </a:p>
          <a:p>
            <a:pPr>
              <a:buFont typeface="Arial" panose="020B0604020202020204" pitchFamily="34" charset="0"/>
              <a:buChar char="•"/>
            </a:pPr>
            <a:r>
              <a:rPr lang="vi-VN" b="1" dirty="0"/>
              <a:t>Giống như cây DNS</a:t>
            </a:r>
            <a:r>
              <a:rPr lang="vi-VN" dirty="0"/>
              <a:t>, nhưng hỗ trợ nhiều kiểu tra cứu hơn nhờ đặc điểm </a:t>
            </a:r>
            <a:r>
              <a:rPr lang="vi-VN" b="1" dirty="0"/>
              <a:t>dựa trên thuộc tính</a:t>
            </a:r>
            <a:r>
              <a:rPr lang="vi-VN" dirty="0"/>
              <a:t>.</a:t>
            </a:r>
          </a:p>
          <a:p>
            <a:endParaRPr lang="en-US" b="1" dirty="0"/>
          </a:p>
          <a:p>
            <a:r>
              <a:rPr lang="vi-VN" b="1" dirty="0"/>
              <a:t>III. Giải thích sơ đồ “Part of a directory information tree”</a:t>
            </a:r>
          </a:p>
          <a:p>
            <a:r>
              <a:rPr lang="vi-VN" b="1" dirty="0"/>
              <a:t>Cấu trúc cây thể hiện như sau:</a:t>
            </a:r>
          </a:p>
          <a:p>
            <a:pPr rtl="0"/>
            <a:r>
              <a:rPr lang="en-US" dirty="0"/>
              <a:t>	</a:t>
            </a:r>
            <a:r>
              <a:rPr lang="vi-VN" dirty="0"/>
              <a:t>C = NL</a:t>
            </a:r>
            <a:endParaRPr lang="en-US" dirty="0"/>
          </a:p>
          <a:p>
            <a:pPr rtl="0"/>
            <a:r>
              <a:rPr lang="en-US" dirty="0"/>
              <a:t>	   </a:t>
            </a:r>
            <a:r>
              <a:rPr lang="vi-VN" dirty="0"/>
              <a:t> |</a:t>
            </a:r>
            <a:endParaRPr lang="en-US" dirty="0"/>
          </a:p>
          <a:p>
            <a:pPr rtl="0"/>
            <a:r>
              <a:rPr lang="en-US" dirty="0"/>
              <a:t>            </a:t>
            </a:r>
            <a:r>
              <a:rPr lang="vi-VN" dirty="0"/>
              <a:t>O = VU University</a:t>
            </a:r>
            <a:endParaRPr lang="en-US" dirty="0"/>
          </a:p>
          <a:p>
            <a:pPr rtl="0"/>
            <a:r>
              <a:rPr lang="en-US" dirty="0"/>
              <a:t>	   </a:t>
            </a:r>
            <a:r>
              <a:rPr lang="vi-VN" dirty="0"/>
              <a:t>|</a:t>
            </a:r>
            <a:endParaRPr lang="en-US" dirty="0"/>
          </a:p>
          <a:p>
            <a:pPr rtl="0"/>
            <a:r>
              <a:rPr lang="en-US" dirty="0"/>
              <a:t>        </a:t>
            </a:r>
            <a:r>
              <a:rPr lang="vi-VN" dirty="0"/>
              <a:t>OU = Computer Science</a:t>
            </a:r>
            <a:endParaRPr lang="en-US" dirty="0"/>
          </a:p>
          <a:p>
            <a:pPr rtl="0"/>
            <a:r>
              <a:rPr lang="en-US" dirty="0"/>
              <a:t>                           </a:t>
            </a:r>
            <a:r>
              <a:rPr lang="vi-VN" dirty="0"/>
              <a:t>|</a:t>
            </a:r>
            <a:endParaRPr lang="en-US" dirty="0"/>
          </a:p>
          <a:p>
            <a:pPr rtl="0"/>
            <a:r>
              <a:rPr lang="en-US" dirty="0"/>
              <a:t>            </a:t>
            </a:r>
            <a:r>
              <a:rPr lang="vi-VN" dirty="0"/>
              <a:t>CN = Main server</a:t>
            </a:r>
            <a:endParaRPr lang="en-US" dirty="0"/>
          </a:p>
          <a:p>
            <a:pPr rtl="0"/>
            <a:r>
              <a:rPr lang="en-US" dirty="0"/>
              <a:t>	 </a:t>
            </a:r>
            <a:r>
              <a:rPr lang="vi-VN" dirty="0"/>
              <a:t>/ \</a:t>
            </a:r>
            <a:endParaRPr lang="en-US" dirty="0"/>
          </a:p>
          <a:p>
            <a:pPr rtl="0"/>
            <a:r>
              <a:rPr lang="vi-VN" dirty="0"/>
              <a:t>HostName = star HostName = zephyr </a:t>
            </a:r>
          </a:p>
          <a:p>
            <a:pPr>
              <a:buFont typeface="Arial" panose="020B0604020202020204" pitchFamily="34" charset="0"/>
              <a:buChar char="•"/>
            </a:pPr>
            <a:r>
              <a:rPr lang="vi-VN" b="1" dirty="0"/>
              <a:t>Mỗi ô vuông là một node (entry)</a:t>
            </a:r>
            <a:r>
              <a:rPr lang="vi-VN" dirty="0"/>
              <a:t> trong DIT.</a:t>
            </a:r>
          </a:p>
          <a:p>
            <a:pPr>
              <a:buFont typeface="Arial" panose="020B0604020202020204" pitchFamily="34" charset="0"/>
              <a:buChar char="•"/>
            </a:pPr>
            <a:r>
              <a:rPr lang="vi-VN" b="1" dirty="0"/>
              <a:t>Từ gốc → lá</a:t>
            </a:r>
            <a:r>
              <a:rPr lang="vi-VN" dirty="0"/>
              <a:t>, bạn có thể xây dựng được DN cho từng entry con, ví dụ:</a:t>
            </a:r>
          </a:p>
          <a:p>
            <a:pPr rtl="0">
              <a:buFont typeface="Arial" panose="020B0604020202020204" pitchFamily="34" charset="0"/>
              <a:buNone/>
            </a:pPr>
            <a:r>
              <a:rPr lang="vi-VN" dirty="0"/>
              <a:t>/C=NL/O=VU University/OU=Computer Science/CN=Main server/HostName=star </a:t>
            </a:r>
          </a:p>
          <a:p>
            <a:pPr>
              <a:buFont typeface="Arial" panose="020B0604020202020204" pitchFamily="34" charset="0"/>
              <a:buChar char="•"/>
            </a:pPr>
            <a:r>
              <a:rPr lang="vi-VN" b="1" dirty="0"/>
              <a:t>Node CN = Main server</a:t>
            </a:r>
            <a:r>
              <a:rPr lang="vi-VN" dirty="0"/>
              <a:t> là một </a:t>
            </a:r>
            <a:r>
              <a:rPr lang="vi-VN" b="1" dirty="0"/>
              <a:t>entry vừa là bản ghi</a:t>
            </a:r>
            <a:r>
              <a:rPr lang="vi-VN" dirty="0"/>
              <a:t>, vừa là </a:t>
            </a:r>
            <a:r>
              <a:rPr lang="vi-VN" b="1" dirty="0"/>
              <a:t>cha của hai entry con</a:t>
            </a:r>
            <a:r>
              <a:rPr lang="vi-VN" dirty="0"/>
              <a:t> — đây chính là đặc điểm quan trọng của DIT: </a:t>
            </a:r>
            <a:r>
              <a:rPr lang="vi-VN" b="1" dirty="0"/>
              <a:t>mỗi node có thể vừa là dữ liệu, vừa là thư mục chứa node con.</a:t>
            </a:r>
            <a:endParaRPr lang="vi-VN" dirty="0"/>
          </a:p>
          <a:p>
            <a:endParaRPr lang="en-US" b="1" dirty="0"/>
          </a:p>
          <a:p>
            <a:r>
              <a:rPr lang="vi-VN" b="1" dirty="0"/>
              <a:t>IV. Liên hệ thực tiễn và hệ thống lớn hơn (ví dụ: Active Directory)</a:t>
            </a:r>
          </a:p>
          <a:p>
            <a:pPr>
              <a:buFont typeface="Arial" panose="020B0604020202020204" pitchFamily="34" charset="0"/>
              <a:buChar char="•"/>
            </a:pPr>
            <a:r>
              <a:rPr lang="vi-VN" dirty="0"/>
              <a:t>LDAP là nền tảng của </a:t>
            </a:r>
            <a:r>
              <a:rPr lang="vi-VN" b="1" dirty="0"/>
              <a:t>Microsoft Active Directory</a:t>
            </a:r>
            <a:r>
              <a:rPr lang="vi-VN" dirty="0"/>
              <a:t>, nơi mỗi "domain" có thể được biểu diễn thành một cây LDAP.</a:t>
            </a:r>
          </a:p>
          <a:p>
            <a:pPr>
              <a:buFont typeface="Arial" panose="020B0604020202020204" pitchFamily="34" charset="0"/>
              <a:buChar char="•"/>
            </a:pPr>
            <a:r>
              <a:rPr lang="vi-VN" dirty="0"/>
              <a:t>Các cây có thể liên kết thành một </a:t>
            </a:r>
            <a:r>
              <a:rPr lang="vi-VN" b="1" dirty="0"/>
              <a:t>forest</a:t>
            </a:r>
            <a:r>
              <a:rPr lang="vi-VN" dirty="0"/>
              <a:t>. Để hỗ trợ tìm kiếm trên toàn hệ thống, </a:t>
            </a:r>
            <a:r>
              <a:rPr lang="vi-VN" b="1" dirty="0"/>
              <a:t>global catalog</a:t>
            </a:r>
            <a:r>
              <a:rPr lang="vi-VN" dirty="0"/>
              <a:t> được dùng như một chỉ mục tập trung ban đầu để định hướng truy vấn.</a:t>
            </a:r>
          </a:p>
          <a:p>
            <a:endParaRPr lang="en-US" b="1" dirty="0"/>
          </a:p>
          <a:p>
            <a:r>
              <a:rPr lang="vi-VN" b="1" dirty="0"/>
              <a:t>V. Kết luận giảng dạy</a:t>
            </a:r>
          </a:p>
          <a:p>
            <a:r>
              <a:rPr lang="en-US" dirty="0"/>
              <a:t>T</a:t>
            </a:r>
            <a:r>
              <a:rPr lang="vi-VN" dirty="0"/>
              <a:t>ổng hợp ba khái niệm cốt lõi của LDAP:</a:t>
            </a:r>
          </a:p>
          <a:p>
            <a:pPr>
              <a:buFont typeface="+mj-lt"/>
              <a:buAutoNum type="arabicPeriod"/>
            </a:pPr>
            <a:r>
              <a:rPr lang="vi-VN" b="1" dirty="0"/>
              <a:t>DIB</a:t>
            </a:r>
            <a:r>
              <a:rPr lang="vi-VN" dirty="0"/>
              <a:t> là toàn bộ dữ liệu thư mục.</a:t>
            </a:r>
          </a:p>
          <a:p>
            <a:pPr>
              <a:buFont typeface="+mj-lt"/>
              <a:buAutoNum type="arabicPeriod"/>
            </a:pPr>
            <a:r>
              <a:rPr lang="vi-VN" b="1" dirty="0"/>
              <a:t>Mỗi entry</a:t>
            </a:r>
            <a:r>
              <a:rPr lang="vi-VN" dirty="0"/>
              <a:t> được định danh duy nhất qua </a:t>
            </a:r>
            <a:r>
              <a:rPr lang="vi-VN" b="1" dirty="0"/>
              <a:t>chuỗi RDN</a:t>
            </a:r>
            <a:r>
              <a:rPr lang="vi-VN" dirty="0"/>
              <a:t>.</a:t>
            </a:r>
          </a:p>
          <a:p>
            <a:pPr>
              <a:buFont typeface="+mj-lt"/>
              <a:buAutoNum type="arabicPeriod"/>
            </a:pPr>
            <a:r>
              <a:rPr lang="vi-VN" b="1" dirty="0"/>
              <a:t>DIT</a:t>
            </a:r>
            <a:r>
              <a:rPr lang="vi-VN" dirty="0"/>
              <a:t> là cấu trúc cây phân cấp, vừa đại diện dữ liệu, vừa đại diện cấu trúc thư mục – cho phép thực hiện tra cứu và tổ chức hiệu quả.</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57</a:t>
            </a:fld>
            <a:endParaRPr lang="en-US"/>
          </a:p>
        </p:txBody>
      </p:sp>
    </p:spTree>
    <p:extLst>
      <p:ext uri="{BB962C8B-B14F-4D97-AF65-F5344CB8AC3E}">
        <p14:creationId xmlns:p14="http://schemas.microsoft.com/office/powerpoint/2010/main" val="17057529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Chủ đề chính của slide</a:t>
            </a:r>
          </a:p>
          <a:p>
            <a:pPr>
              <a:buFont typeface="Arial" panose="020B0604020202020204" pitchFamily="34" charset="0"/>
              <a:buChar char="•"/>
            </a:pPr>
            <a:r>
              <a:rPr lang="vi-VN" dirty="0"/>
              <a:t>Slide trình bày </a:t>
            </a:r>
            <a:r>
              <a:rPr lang="vi-VN" b="1" dirty="0"/>
              <a:t>hai bản ghi (entries) trong cây thư mục LDAP</a:t>
            </a:r>
            <a:r>
              <a:rPr lang="vi-VN" dirty="0"/>
              <a:t>.</a:t>
            </a:r>
          </a:p>
          <a:p>
            <a:pPr>
              <a:buFont typeface="Arial" panose="020B0604020202020204" pitchFamily="34" charset="0"/>
              <a:buChar char="•"/>
            </a:pPr>
            <a:r>
              <a:rPr lang="vi-VN" dirty="0"/>
              <a:t>Mỗi entry đều có một </a:t>
            </a:r>
            <a:r>
              <a:rPr lang="vi-VN" b="1" dirty="0"/>
              <a:t>RDN (Relative Distinguished Name)</a:t>
            </a:r>
            <a:r>
              <a:rPr lang="vi-VN" dirty="0"/>
              <a:t> là thuộc tính HostName.</a:t>
            </a:r>
          </a:p>
          <a:p>
            <a:pPr>
              <a:buFont typeface="Arial" panose="020B0604020202020204" pitchFamily="34" charset="0"/>
              <a:buChar char="•"/>
            </a:pPr>
            <a:r>
              <a:rPr lang="vi-VN" dirty="0"/>
              <a:t>Cả hai bản ghi đều nói về các </a:t>
            </a:r>
            <a:r>
              <a:rPr lang="vi-VN" b="1" dirty="0"/>
              <a:t>máy chủ chính (Main server)</a:t>
            </a:r>
            <a:r>
              <a:rPr lang="vi-VN" dirty="0"/>
              <a:t> trong cùng tổ chức.</a:t>
            </a:r>
          </a:p>
          <a:p>
            <a:endParaRPr lang="en-US" b="1" dirty="0"/>
          </a:p>
          <a:p>
            <a:r>
              <a:rPr lang="en-US" b="1" dirty="0"/>
              <a:t>2. </a:t>
            </a:r>
            <a:r>
              <a:rPr lang="vi-VN" b="1" dirty="0"/>
              <a:t>Phân tích bảng thông tin</a:t>
            </a:r>
          </a:p>
          <a:p>
            <a:r>
              <a:rPr lang="vi-VN" b="1" dirty="0"/>
              <a:t>Cột bên trái – entry thứ nhất:</a:t>
            </a:r>
          </a:p>
          <a:p>
            <a:r>
              <a:rPr lang="vi-VN" dirty="0"/>
              <a:t>Thuộc tính</a:t>
            </a:r>
            <a:r>
              <a:rPr lang="en-US" dirty="0"/>
              <a:t>		</a:t>
            </a:r>
            <a:r>
              <a:rPr lang="vi-VN" dirty="0"/>
              <a:t>Giá trị</a:t>
            </a:r>
            <a:endParaRPr lang="en-US" dirty="0"/>
          </a:p>
          <a:p>
            <a:r>
              <a:rPr lang="vi-VN" dirty="0"/>
              <a:t>Locality</a:t>
            </a:r>
            <a:r>
              <a:rPr lang="en-US" dirty="0"/>
              <a:t>		</a:t>
            </a:r>
            <a:r>
              <a:rPr lang="vi-VN" dirty="0"/>
              <a:t>Amsterdam</a:t>
            </a:r>
            <a:endParaRPr lang="en-US" dirty="0"/>
          </a:p>
          <a:p>
            <a:r>
              <a:rPr lang="vi-VN" dirty="0"/>
              <a:t>Organization</a:t>
            </a:r>
            <a:r>
              <a:rPr lang="en-US" dirty="0"/>
              <a:t>		</a:t>
            </a:r>
            <a:r>
              <a:rPr lang="vi-VN" dirty="0"/>
              <a:t>VU University</a:t>
            </a:r>
            <a:endParaRPr lang="en-US" dirty="0"/>
          </a:p>
          <a:p>
            <a:r>
              <a:rPr lang="vi-VN" dirty="0"/>
              <a:t>Organizational</a:t>
            </a:r>
            <a:r>
              <a:rPr lang="en-US" dirty="0"/>
              <a:t>	</a:t>
            </a:r>
            <a:r>
              <a:rPr lang="vi-VN" dirty="0"/>
              <a:t>Unit</a:t>
            </a:r>
            <a:r>
              <a:rPr lang="en-US" dirty="0"/>
              <a:t>	</a:t>
            </a:r>
            <a:r>
              <a:rPr lang="vi-VN" dirty="0"/>
              <a:t>Computer Science</a:t>
            </a:r>
            <a:endParaRPr lang="en-US" dirty="0"/>
          </a:p>
          <a:p>
            <a:r>
              <a:rPr lang="vi-VN" dirty="0"/>
              <a:t>CommonName (CN)</a:t>
            </a:r>
            <a:r>
              <a:rPr lang="en-US" dirty="0"/>
              <a:t>	</a:t>
            </a:r>
            <a:r>
              <a:rPr lang="vi-VN" dirty="0"/>
              <a:t>Main server</a:t>
            </a:r>
            <a:endParaRPr lang="en-US" dirty="0"/>
          </a:p>
          <a:p>
            <a:r>
              <a:rPr lang="vi-VN" b="1" dirty="0"/>
              <a:t>HostName</a:t>
            </a:r>
            <a:r>
              <a:rPr lang="en-US" b="1" dirty="0"/>
              <a:t>		</a:t>
            </a:r>
            <a:r>
              <a:rPr lang="vi-VN" b="1" dirty="0"/>
              <a:t>star</a:t>
            </a:r>
            <a:endParaRPr lang="en-US" b="1" dirty="0"/>
          </a:p>
          <a:p>
            <a:r>
              <a:rPr lang="vi-VN" dirty="0"/>
              <a:t>HostAddress</a:t>
            </a:r>
            <a:r>
              <a:rPr lang="en-US" dirty="0"/>
              <a:t>		</a:t>
            </a:r>
            <a:r>
              <a:rPr lang="vi-VN" dirty="0"/>
              <a:t>192.31.231.42</a:t>
            </a:r>
          </a:p>
          <a:p>
            <a:r>
              <a:rPr lang="vi-VN" b="1" dirty="0"/>
              <a:t>Cột bên phải – entry thứ hai:</a:t>
            </a:r>
          </a:p>
          <a:p>
            <a:r>
              <a:rPr lang="vi-VN" dirty="0"/>
              <a:t>Thuộc tính</a:t>
            </a:r>
            <a:r>
              <a:rPr lang="en-US" dirty="0"/>
              <a:t>		</a:t>
            </a:r>
            <a:r>
              <a:rPr lang="vi-VN" dirty="0"/>
              <a:t>Giá trị</a:t>
            </a:r>
            <a:endParaRPr lang="en-US" dirty="0"/>
          </a:p>
          <a:p>
            <a:r>
              <a:rPr lang="vi-VN" dirty="0"/>
              <a:t>Locality</a:t>
            </a:r>
            <a:r>
              <a:rPr lang="en-US" dirty="0"/>
              <a:t>		</a:t>
            </a:r>
            <a:r>
              <a:rPr lang="vi-VN" dirty="0"/>
              <a:t>Amsterdam</a:t>
            </a:r>
            <a:endParaRPr lang="en-US" dirty="0"/>
          </a:p>
          <a:p>
            <a:r>
              <a:rPr lang="vi-VN" dirty="0"/>
              <a:t>Organization</a:t>
            </a:r>
            <a:r>
              <a:rPr lang="en-US" dirty="0"/>
              <a:t>		</a:t>
            </a:r>
            <a:r>
              <a:rPr lang="vi-VN" dirty="0"/>
              <a:t>VU University</a:t>
            </a:r>
            <a:endParaRPr lang="en-US" dirty="0"/>
          </a:p>
          <a:p>
            <a:r>
              <a:rPr lang="vi-VN" dirty="0"/>
              <a:t>OrganizationalUnit</a:t>
            </a:r>
            <a:r>
              <a:rPr lang="en-US" dirty="0"/>
              <a:t>	</a:t>
            </a:r>
            <a:r>
              <a:rPr lang="vi-VN" dirty="0"/>
              <a:t>Computer Science</a:t>
            </a:r>
            <a:endParaRPr lang="en-US" dirty="0"/>
          </a:p>
          <a:p>
            <a:r>
              <a:rPr lang="vi-VN" dirty="0"/>
              <a:t>CommonName (CN)</a:t>
            </a:r>
            <a:r>
              <a:rPr lang="en-US" dirty="0"/>
              <a:t>	</a:t>
            </a:r>
            <a:r>
              <a:rPr lang="vi-VN" dirty="0"/>
              <a:t>Main server</a:t>
            </a:r>
            <a:endParaRPr lang="en-US" dirty="0"/>
          </a:p>
          <a:p>
            <a:r>
              <a:rPr lang="vi-VN" b="1" dirty="0"/>
              <a:t>HostName</a:t>
            </a:r>
            <a:r>
              <a:rPr lang="en-US" b="1" dirty="0"/>
              <a:t>		</a:t>
            </a:r>
            <a:r>
              <a:rPr lang="vi-VN" b="1" dirty="0"/>
              <a:t>zephyr</a:t>
            </a:r>
            <a:endParaRPr lang="en-US" b="1" dirty="0"/>
          </a:p>
          <a:p>
            <a:r>
              <a:rPr lang="vi-VN" dirty="0"/>
              <a:t>HostAddress</a:t>
            </a:r>
            <a:r>
              <a:rPr lang="en-US" dirty="0"/>
              <a:t>		</a:t>
            </a:r>
            <a:r>
              <a:rPr lang="vi-VN" dirty="0"/>
              <a:t>137.37.20.10</a:t>
            </a:r>
          </a:p>
          <a:p>
            <a:r>
              <a:rPr lang="vi-VN" b="1" dirty="0"/>
              <a:t>Điểm giống nhau</a:t>
            </a:r>
            <a:r>
              <a:rPr lang="vi-VN" dirty="0"/>
              <a:t>:</a:t>
            </a:r>
          </a:p>
          <a:p>
            <a:pPr>
              <a:buFont typeface="Arial" panose="020B0604020202020204" pitchFamily="34" charset="0"/>
              <a:buChar char="•"/>
            </a:pPr>
            <a:r>
              <a:rPr lang="vi-VN" dirty="0"/>
              <a:t>Cùng thuộc tổ chức: </a:t>
            </a:r>
            <a:r>
              <a:rPr lang="vi-VN" b="1" dirty="0"/>
              <a:t>VU University</a:t>
            </a:r>
            <a:endParaRPr lang="vi-VN" dirty="0"/>
          </a:p>
          <a:p>
            <a:pPr>
              <a:buFont typeface="Arial" panose="020B0604020202020204" pitchFamily="34" charset="0"/>
              <a:buChar char="•"/>
            </a:pPr>
            <a:r>
              <a:rPr lang="vi-VN" dirty="0"/>
              <a:t>Cùng địa phương: </a:t>
            </a:r>
            <a:r>
              <a:rPr lang="vi-VN" b="1" dirty="0"/>
              <a:t>Amsterdam</a:t>
            </a:r>
            <a:endParaRPr lang="vi-VN" dirty="0"/>
          </a:p>
          <a:p>
            <a:pPr>
              <a:buFont typeface="Arial" panose="020B0604020202020204" pitchFamily="34" charset="0"/>
              <a:buChar char="•"/>
            </a:pPr>
            <a:r>
              <a:rPr lang="vi-VN" dirty="0"/>
              <a:t>Cùng đơn vị: </a:t>
            </a:r>
            <a:r>
              <a:rPr lang="vi-VN" b="1" dirty="0"/>
              <a:t>Computer Science</a:t>
            </a:r>
            <a:endParaRPr lang="vi-VN" dirty="0"/>
          </a:p>
          <a:p>
            <a:pPr>
              <a:buFont typeface="Arial" panose="020B0604020202020204" pitchFamily="34" charset="0"/>
              <a:buChar char="•"/>
            </a:pPr>
            <a:r>
              <a:rPr lang="vi-VN" dirty="0"/>
              <a:t>Cùng chức danh (CN): </a:t>
            </a:r>
            <a:r>
              <a:rPr lang="vi-VN" b="1" dirty="0"/>
              <a:t>Main server</a:t>
            </a:r>
            <a:endParaRPr lang="vi-VN" dirty="0"/>
          </a:p>
          <a:p>
            <a:r>
              <a:rPr lang="vi-VN" b="1" dirty="0"/>
              <a:t>Điểm khác biệt</a:t>
            </a:r>
            <a:r>
              <a:rPr lang="vi-VN" dirty="0"/>
              <a:t>:</a:t>
            </a:r>
          </a:p>
          <a:p>
            <a:pPr>
              <a:buFont typeface="Arial" panose="020B0604020202020204" pitchFamily="34" charset="0"/>
              <a:buChar char="•"/>
            </a:pPr>
            <a:r>
              <a:rPr lang="vi-VN" dirty="0"/>
              <a:t>Mỗi máy có HostName và HostAddress riêng biệt: </a:t>
            </a:r>
            <a:r>
              <a:rPr lang="vi-VN" b="1" dirty="0"/>
              <a:t>star</a:t>
            </a:r>
            <a:r>
              <a:rPr lang="vi-VN" dirty="0"/>
              <a:t> và </a:t>
            </a:r>
            <a:r>
              <a:rPr lang="vi-VN" b="1" dirty="0"/>
              <a:t>zephyr</a:t>
            </a:r>
            <a:r>
              <a:rPr lang="vi-VN" dirty="0"/>
              <a:t>.</a:t>
            </a:r>
          </a:p>
          <a:p>
            <a:endParaRPr lang="en-US" b="1" dirty="0"/>
          </a:p>
          <a:p>
            <a:r>
              <a:rPr lang="en-US" b="1" dirty="0"/>
              <a:t>3. </a:t>
            </a:r>
            <a:r>
              <a:rPr lang="vi-VN" b="1" dirty="0"/>
              <a:t>Ý nghĩa truy vấn LDAP ở cuối slide</a:t>
            </a:r>
          </a:p>
          <a:p>
            <a:pPr rtl="0"/>
            <a:r>
              <a:rPr lang="vi-VN" dirty="0"/>
              <a:t>search("(&amp;(C=NL)(O=VU University)(OU=*)(CN=Main server))") </a:t>
            </a:r>
          </a:p>
          <a:p>
            <a:r>
              <a:rPr lang="vi-VN" b="1" dirty="0"/>
              <a:t>Giải nghĩa:</a:t>
            </a:r>
          </a:p>
          <a:p>
            <a:pPr>
              <a:buFont typeface="Arial" panose="020B0604020202020204" pitchFamily="34" charset="0"/>
              <a:buChar char="•"/>
            </a:pPr>
            <a:r>
              <a:rPr lang="vi-VN" dirty="0"/>
              <a:t>Tìm tất cả các entry thỏa mãn:</a:t>
            </a:r>
          </a:p>
          <a:p>
            <a:pPr marL="742950" lvl="1" indent="-285750">
              <a:buFont typeface="Arial" panose="020B0604020202020204" pitchFamily="34" charset="0"/>
              <a:buChar char="•"/>
            </a:pPr>
            <a:r>
              <a:rPr lang="vi-VN" dirty="0"/>
              <a:t>Quốc gia là </a:t>
            </a:r>
            <a:r>
              <a:rPr lang="vi-VN" b="1" dirty="0"/>
              <a:t>NL</a:t>
            </a:r>
            <a:endParaRPr lang="vi-VN" dirty="0"/>
          </a:p>
          <a:p>
            <a:pPr marL="742950" lvl="1" indent="-285750">
              <a:buFont typeface="Arial" panose="020B0604020202020204" pitchFamily="34" charset="0"/>
              <a:buChar char="•"/>
            </a:pPr>
            <a:r>
              <a:rPr lang="vi-VN" dirty="0"/>
              <a:t>Tổ chức là </a:t>
            </a:r>
            <a:r>
              <a:rPr lang="vi-VN" b="1" dirty="0"/>
              <a:t>VU University</a:t>
            </a:r>
            <a:endParaRPr lang="vi-VN" dirty="0"/>
          </a:p>
          <a:p>
            <a:pPr marL="742950" lvl="1" indent="-285750">
              <a:buFont typeface="Arial" panose="020B0604020202020204" pitchFamily="34" charset="0"/>
              <a:buChar char="•"/>
            </a:pPr>
            <a:r>
              <a:rPr lang="vi-VN" dirty="0"/>
              <a:t>Bất kỳ đơn vị nào (OU = *)</a:t>
            </a:r>
          </a:p>
          <a:p>
            <a:pPr marL="742950" lvl="1" indent="-285750">
              <a:buFont typeface="Arial" panose="020B0604020202020204" pitchFamily="34" charset="0"/>
              <a:buChar char="•"/>
            </a:pPr>
            <a:r>
              <a:rPr lang="vi-VN" dirty="0"/>
              <a:t>Tên phổ thông (CN) là </a:t>
            </a:r>
            <a:r>
              <a:rPr lang="vi-VN" b="1" dirty="0"/>
              <a:t>Main server</a:t>
            </a:r>
            <a:endParaRPr lang="vi-VN" dirty="0"/>
          </a:p>
          <a:p>
            <a:r>
              <a:rPr lang="vi-VN" b="1" dirty="0"/>
              <a:t>Kết quả:</a:t>
            </a:r>
          </a:p>
          <a:p>
            <a:pPr>
              <a:buFont typeface="Arial" panose="020B0604020202020204" pitchFamily="34" charset="0"/>
              <a:buChar char="•"/>
            </a:pPr>
            <a:r>
              <a:rPr lang="vi-VN" dirty="0"/>
              <a:t>Trả về </a:t>
            </a:r>
            <a:r>
              <a:rPr lang="vi-VN" b="1" dirty="0"/>
              <a:t>cả hai entries trên</a:t>
            </a:r>
            <a:r>
              <a:rPr lang="vi-VN" dirty="0"/>
              <a:t> vì đều phù hợp.</a:t>
            </a:r>
          </a:p>
          <a:p>
            <a:endParaRPr lang="en-US" b="1" dirty="0"/>
          </a:p>
          <a:p>
            <a:r>
              <a:rPr lang="en-US" b="1" dirty="0"/>
              <a:t>4. </a:t>
            </a:r>
            <a:r>
              <a:rPr lang="vi-VN" b="1" dirty="0"/>
              <a:t>Mục đích giảng dạy</a:t>
            </a:r>
          </a:p>
          <a:p>
            <a:r>
              <a:rPr lang="vi-VN" dirty="0"/>
              <a:t>Slide này giúp sinh viên hiểu rõ:</a:t>
            </a:r>
          </a:p>
          <a:p>
            <a:pPr>
              <a:buFont typeface="Arial" panose="020B0604020202020204" pitchFamily="34" charset="0"/>
              <a:buChar char="•"/>
            </a:pPr>
            <a:r>
              <a:rPr lang="vi-VN" dirty="0"/>
              <a:t>Cấu trúc một entry LDAP gồm nhiều thuộc tính (attribute).</a:t>
            </a:r>
          </a:p>
          <a:p>
            <a:pPr>
              <a:buFont typeface="Arial" panose="020B0604020202020204" pitchFamily="34" charset="0"/>
              <a:buChar char="•"/>
            </a:pPr>
            <a:r>
              <a:rPr lang="vi-VN" dirty="0"/>
              <a:t>Một RDN (ở đây là HostName) có thể đại diện cho mỗi entry trong cùng một OU.</a:t>
            </a:r>
          </a:p>
          <a:p>
            <a:pPr>
              <a:buFont typeface="Arial" panose="020B0604020202020204" pitchFamily="34" charset="0"/>
              <a:buChar char="•"/>
            </a:pPr>
            <a:r>
              <a:rPr lang="vi-VN" dirty="0"/>
              <a:t>Cách search trong LDAP có thể </a:t>
            </a:r>
            <a:r>
              <a:rPr lang="vi-VN" b="1" dirty="0"/>
              <a:t>truy vấn theo điều kiện linh hoạt</a:t>
            </a:r>
            <a:r>
              <a:rPr lang="vi-VN" dirty="0"/>
              <a:t>, không cần biết DN đầy đủ.</a:t>
            </a:r>
          </a:p>
          <a:p>
            <a:pPr>
              <a:buFont typeface="Arial" panose="020B0604020202020204" pitchFamily="34" charset="0"/>
              <a:buChar char="•"/>
            </a:pPr>
            <a:r>
              <a:rPr lang="vi-VN" dirty="0"/>
              <a:t>Phân biệt rõ giữa các entries tương tự nhau bằng RDN như HostName.</a:t>
            </a:r>
          </a:p>
          <a:p>
            <a:endParaRPr lang="en-US" b="1" dirty="0"/>
          </a:p>
          <a:p>
            <a:r>
              <a:rPr lang="en-US" b="1" dirty="0" err="1"/>
              <a:t>Câu</a:t>
            </a:r>
            <a:r>
              <a:rPr lang="en-US" b="1" dirty="0"/>
              <a:t> </a:t>
            </a:r>
            <a:r>
              <a:rPr lang="en-US" b="1" dirty="0" err="1"/>
              <a:t>hỏi</a:t>
            </a:r>
            <a:r>
              <a:rPr lang="en-US" b="1" dirty="0"/>
              <a:t> </a:t>
            </a:r>
            <a:r>
              <a:rPr lang="vi-VN" b="1" dirty="0"/>
              <a:t>thảo luận</a:t>
            </a:r>
            <a:r>
              <a:rPr lang="en-US" b="1" dirty="0"/>
              <a:t>:</a:t>
            </a:r>
            <a:r>
              <a:rPr lang="vi-VN" b="1" dirty="0"/>
              <a:t> </a:t>
            </a:r>
            <a:endParaRPr lang="en-US" b="1" dirty="0"/>
          </a:p>
          <a:p>
            <a:r>
              <a:rPr lang="vi-VN" dirty="0"/>
              <a:t>Điều gì xảy ra nếu HostName bị trùng?</a:t>
            </a:r>
          </a:p>
          <a:p>
            <a:pPr>
              <a:buFont typeface="Arial" panose="020B0604020202020204" pitchFamily="34" charset="0"/>
              <a:buNone/>
            </a:pPr>
            <a:r>
              <a:rPr lang="vi-VN" dirty="0"/>
              <a:t>Tại sao không dùng CommonName làm RDN trong trường hợp này?</a:t>
            </a:r>
          </a:p>
          <a:p>
            <a:pPr>
              <a:buFont typeface="Arial" panose="020B0604020202020204" pitchFamily="34" charset="0"/>
              <a:buNone/>
            </a:pPr>
            <a:r>
              <a:rPr lang="vi-VN" dirty="0"/>
              <a:t>So sánh cách tìm kiếm này với cách phân giải tên của DNS?</a:t>
            </a:r>
          </a:p>
          <a:p>
            <a:endParaRPr lang="en-US" b="1" dirty="0"/>
          </a:p>
          <a:p>
            <a:endParaRPr lang="en-US" b="1" dirty="0"/>
          </a:p>
          <a:p>
            <a:r>
              <a:rPr 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t>
            </a:r>
            <a:endParaRPr lang="en-US" b="1" i="1" dirty="0"/>
          </a:p>
          <a:p>
            <a:r>
              <a:rPr lang="vi-VN" b="1" i="1" dirty="0"/>
              <a:t>1. Sự khác nhau giữa LDAP và DNS</a:t>
            </a:r>
          </a:p>
          <a:p>
            <a:r>
              <a:rPr lang="vi-VN" b="1" i="1" dirty="0"/>
              <a:t>Tiêu chí</a:t>
            </a:r>
            <a:r>
              <a:rPr lang="en-US" b="1" i="1" dirty="0"/>
              <a:t>		</a:t>
            </a:r>
            <a:r>
              <a:rPr lang="vi-VN" b="1" i="1" dirty="0"/>
              <a:t>LDAP</a:t>
            </a:r>
            <a:r>
              <a:rPr lang="en-US" b="1" i="1" dirty="0"/>
              <a:t>							</a:t>
            </a:r>
            <a:r>
              <a:rPr lang="vi-VN" b="1" i="1" dirty="0"/>
              <a:t>DNS</a:t>
            </a:r>
            <a:endParaRPr lang="en-US" b="1" i="1" dirty="0"/>
          </a:p>
          <a:p>
            <a:r>
              <a:rPr lang="vi-VN" b="1" i="1" dirty="0"/>
              <a:t>Chức năng chính</a:t>
            </a:r>
            <a:r>
              <a:rPr lang="en-US" b="1" i="1" dirty="0"/>
              <a:t>	</a:t>
            </a:r>
            <a:r>
              <a:rPr lang="vi-VN" i="1" dirty="0"/>
              <a:t>Dịch vụ thư mục (directory service) – lưu trữ thông tin đối tượng (người, máy chủ, thiết bị, ...).</a:t>
            </a:r>
            <a:r>
              <a:rPr lang="en-US" i="1" dirty="0"/>
              <a:t>	</a:t>
            </a:r>
            <a:r>
              <a:rPr lang="vi-VN" i="1" dirty="0"/>
              <a:t>Dịch vụ phân giải tên miền – chuyển tên miền sang địa chỉ IP.</a:t>
            </a:r>
            <a:endParaRPr lang="en-US" i="1" dirty="0"/>
          </a:p>
          <a:p>
            <a:r>
              <a:rPr lang="vi-VN" b="1" i="1" dirty="0"/>
              <a:t>Cấu trúc dữ liệu</a:t>
            </a:r>
            <a:r>
              <a:rPr lang="en-US" b="1" i="1" dirty="0"/>
              <a:t>	</a:t>
            </a:r>
            <a:r>
              <a:rPr lang="vi-VN" i="1" dirty="0"/>
              <a:t>Cây thư mục (</a:t>
            </a:r>
            <a:r>
              <a:rPr lang="vi-VN" b="1" i="1" dirty="0"/>
              <a:t>Directory Information Tree – DIT</a:t>
            </a:r>
            <a:r>
              <a:rPr lang="vi-VN" i="1" dirty="0"/>
              <a:t>), có phân cấp linh hoạt theo nhiều thuộc tính.</a:t>
            </a:r>
            <a:r>
              <a:rPr lang="en-US" i="1" dirty="0"/>
              <a:t>	</a:t>
            </a:r>
            <a:r>
              <a:rPr lang="vi-VN" i="1" dirty="0"/>
              <a:t>Cây tên miền (</a:t>
            </a:r>
            <a:r>
              <a:rPr lang="vi-VN" b="1" i="1" dirty="0"/>
              <a:t>Domain Name System</a:t>
            </a:r>
            <a:r>
              <a:rPr lang="vi-VN" i="1" dirty="0"/>
              <a:t>) với cấu trúc cố định theo vùng (zone).</a:t>
            </a:r>
            <a:endParaRPr lang="en-US" i="1" dirty="0"/>
          </a:p>
          <a:p>
            <a:r>
              <a:rPr lang="vi-VN" b="1" i="1" dirty="0"/>
              <a:t>Kiểu dữ liệu lưu trữ</a:t>
            </a:r>
            <a:r>
              <a:rPr lang="en-US" b="1" i="1" dirty="0"/>
              <a:t>	</a:t>
            </a:r>
            <a:r>
              <a:rPr lang="vi-VN" i="1" dirty="0"/>
              <a:t>Các cặp (attribute, value) như CN, OU, Email, HostName...</a:t>
            </a:r>
            <a:r>
              <a:rPr lang="en-US" i="1" dirty="0"/>
              <a:t>				</a:t>
            </a:r>
            <a:r>
              <a:rPr lang="vi-VN" i="1" dirty="0"/>
              <a:t>Các bản ghi DNS (A, MX, CNAME, NS...)</a:t>
            </a:r>
            <a:endParaRPr lang="en-US" i="1" dirty="0"/>
          </a:p>
          <a:p>
            <a:r>
              <a:rPr lang="vi-VN" b="1" i="1" dirty="0"/>
              <a:t>Cách đặt tên</a:t>
            </a:r>
            <a:r>
              <a:rPr lang="en-US" b="1" i="1" dirty="0"/>
              <a:t>		</a:t>
            </a:r>
            <a:r>
              <a:rPr lang="vi-VN" i="1" dirty="0"/>
              <a:t>Chuỗi các </a:t>
            </a:r>
            <a:r>
              <a:rPr lang="vi-VN" b="1" i="1" dirty="0"/>
              <a:t>RDN</a:t>
            </a:r>
            <a:r>
              <a:rPr lang="vi-VN" i="1" dirty="0"/>
              <a:t> như: /C=NL/O=VU/OU=CS/CN=Main Server</a:t>
            </a:r>
            <a:r>
              <a:rPr lang="en-US" i="1" dirty="0"/>
              <a:t>			</a:t>
            </a:r>
            <a:r>
              <a:rPr lang="vi-VN" i="1" dirty="0"/>
              <a:t>Tên miền phân cấp: mainserver.cs.vu.nl</a:t>
            </a:r>
            <a:endParaRPr lang="en-US" i="1" dirty="0"/>
          </a:p>
          <a:p>
            <a:r>
              <a:rPr lang="vi-VN" b="1" i="1" dirty="0"/>
              <a:t>Hỗ trợ tìm kiếm</a:t>
            </a:r>
            <a:r>
              <a:rPr lang="en-US" b="1" i="1" dirty="0"/>
              <a:t>	</a:t>
            </a:r>
            <a:r>
              <a:rPr lang="vi-VN" b="1" i="1" dirty="0"/>
              <a:t>Tìm kiếm theo điều kiện (search)</a:t>
            </a:r>
            <a:r>
              <a:rPr lang="vi-VN" i="1" dirty="0"/>
              <a:t> dựa trên thuộc tính.</a:t>
            </a:r>
            <a:r>
              <a:rPr lang="en-US" i="1" dirty="0"/>
              <a:t>				</a:t>
            </a:r>
            <a:r>
              <a:rPr lang="vi-VN" b="1" i="1" dirty="0"/>
              <a:t>Không hỗ trợ tìm kiếm theo thuộc tính</a:t>
            </a:r>
            <a:r>
              <a:rPr lang="vi-VN" i="1" dirty="0"/>
              <a:t> – chỉ phân giải tên.</a:t>
            </a:r>
            <a:endParaRPr lang="en-US" i="1" dirty="0"/>
          </a:p>
          <a:p>
            <a:r>
              <a:rPr lang="vi-VN" b="1" i="1" dirty="0"/>
              <a:t>Ứng dụng thực tế</a:t>
            </a:r>
            <a:r>
              <a:rPr lang="en-US" b="1" i="1" dirty="0"/>
              <a:t>	</a:t>
            </a:r>
            <a:r>
              <a:rPr lang="vi-VN" i="1" dirty="0"/>
              <a:t>Active Directory, quản lý người dùng, thiết bị mạng nội bộ.</a:t>
            </a:r>
            <a:r>
              <a:rPr lang="en-US" i="1" dirty="0"/>
              <a:t>				</a:t>
            </a:r>
            <a:r>
              <a:rPr lang="vi-VN" i="1" dirty="0"/>
              <a:t>Web, Email, CDN – mọi thứ cần phân giải địa chỉ trên Internet.</a:t>
            </a:r>
            <a:endParaRPr lang="en-US" i="1" dirty="0"/>
          </a:p>
          <a:p>
            <a:r>
              <a:rPr lang="vi-VN" b="1" i="1" dirty="0"/>
              <a:t>Giao thức</a:t>
            </a:r>
            <a:r>
              <a:rPr lang="en-US" b="1" i="1" dirty="0"/>
              <a:t>		</a:t>
            </a:r>
            <a:r>
              <a:rPr lang="vi-VN" i="1" dirty="0"/>
              <a:t>LDAP (thường qua cổng 389 hoặc LDAPS 636)</a:t>
            </a:r>
            <a:r>
              <a:rPr lang="en-US" i="1" dirty="0"/>
              <a:t>				</a:t>
            </a:r>
            <a:r>
              <a:rPr lang="vi-VN" i="1" dirty="0"/>
              <a:t>DNS (thường qua cổng 53, UDP/TCP)</a:t>
            </a:r>
          </a:p>
          <a:p>
            <a:r>
              <a:rPr lang="vi-VN" b="1" i="1" dirty="0"/>
              <a:t>Tóm lại:</a:t>
            </a:r>
            <a:r>
              <a:rPr lang="vi-VN" i="1" dirty="0"/>
              <a:t> LDAP mạnh ở khả năng tổ chức dữ liệu phong phú và </a:t>
            </a:r>
            <a:r>
              <a:rPr lang="vi-VN" b="1" i="1" dirty="0"/>
              <a:t>tìm kiếm theo thuộc tính</a:t>
            </a:r>
            <a:r>
              <a:rPr lang="vi-VN" i="1" dirty="0"/>
              <a:t>, còn DNS đơn giản, tối ưu cho tra cứu tên miền → IP.</a:t>
            </a:r>
          </a:p>
          <a:p>
            <a:endParaRPr lang="en-US" b="1" i="1" dirty="0"/>
          </a:p>
          <a:p>
            <a:r>
              <a:rPr lang="en-US" b="1" i="1" dirty="0"/>
              <a:t>2. </a:t>
            </a:r>
            <a:r>
              <a:rPr lang="vi-VN" b="1" i="1" dirty="0"/>
              <a:t>Tại sao LDAP cần nhiều loại truy vấn?</a:t>
            </a:r>
          </a:p>
          <a:p>
            <a:r>
              <a:rPr lang="vi-VN" i="1" dirty="0"/>
              <a:t>LDAP </a:t>
            </a:r>
            <a:r>
              <a:rPr lang="vi-VN" b="1" i="1" dirty="0"/>
              <a:t>không chỉ "phân giải tên" như DNS</a:t>
            </a:r>
            <a:r>
              <a:rPr lang="vi-VN" i="1" dirty="0"/>
              <a:t>, mà còn hỗ trợ các thao tác trên thư mục dữ liệu. Vì vậy, nó cần </a:t>
            </a:r>
            <a:r>
              <a:rPr lang="vi-VN" b="1" i="1" dirty="0"/>
              <a:t>đa dạng truy vấn</a:t>
            </a:r>
            <a:r>
              <a:rPr lang="vi-VN" i="1" dirty="0"/>
              <a:t>, điển hình:</a:t>
            </a:r>
          </a:p>
          <a:p>
            <a:r>
              <a:rPr lang="vi-VN" b="1" i="1" dirty="0"/>
              <a:t>a. read (đọc bản ghi)</a:t>
            </a:r>
          </a:p>
          <a:p>
            <a:pPr>
              <a:buFont typeface="Arial" panose="020B0604020202020204" pitchFamily="34" charset="0"/>
              <a:buChar char="•"/>
            </a:pPr>
            <a:r>
              <a:rPr lang="vi-VN" b="1" i="1" dirty="0"/>
              <a:t>Chức năng:</a:t>
            </a:r>
            <a:r>
              <a:rPr lang="vi-VN" i="1" dirty="0"/>
              <a:t> Truy xuất toàn bộ thông tin của một entry cụ thể khi đã biết đầy đủ đường dẫn (Distinguished Name).</a:t>
            </a:r>
          </a:p>
          <a:p>
            <a:pPr>
              <a:buFont typeface="Arial" panose="020B0604020202020204" pitchFamily="34" charset="0"/>
              <a:buChar char="•"/>
            </a:pPr>
            <a:r>
              <a:rPr lang="vi-VN" b="1" i="1" dirty="0"/>
              <a:t>Ví dụ:</a:t>
            </a:r>
            <a:endParaRPr lang="vi-VN" i="1" dirty="0"/>
          </a:p>
          <a:p>
            <a:pPr rtl="0">
              <a:buFont typeface="Arial" panose="020B0604020202020204" pitchFamily="34" charset="0"/>
              <a:buNone/>
            </a:pPr>
            <a:r>
              <a:rPr lang="vi-VN" i="1" dirty="0"/>
              <a:t>read("/C=NL/O=VU/OU=CS/CN=Main server") </a:t>
            </a:r>
          </a:p>
          <a:p>
            <a:r>
              <a:rPr lang="vi-VN" b="1" i="1" dirty="0"/>
              <a:t>b. list (liệt kê tên các node con)</a:t>
            </a:r>
          </a:p>
          <a:p>
            <a:pPr>
              <a:buFont typeface="Arial" panose="020B0604020202020204" pitchFamily="34" charset="0"/>
              <a:buChar char="•"/>
            </a:pPr>
            <a:r>
              <a:rPr lang="vi-VN" b="1" i="1" dirty="0"/>
              <a:t>Chức năng:</a:t>
            </a:r>
            <a:r>
              <a:rPr lang="vi-VN" i="1" dirty="0"/>
              <a:t> Trả về danh sách </a:t>
            </a:r>
            <a:r>
              <a:rPr lang="vi-VN" b="1" i="1" dirty="0"/>
              <a:t>tên các entry con</a:t>
            </a:r>
            <a:r>
              <a:rPr lang="vi-VN" i="1" dirty="0"/>
              <a:t> của một node, </a:t>
            </a:r>
            <a:r>
              <a:rPr lang="vi-VN" b="1" i="1" dirty="0"/>
              <a:t>không trả về nội dung chi tiết</a:t>
            </a:r>
            <a:r>
              <a:rPr lang="vi-VN" i="1" dirty="0"/>
              <a:t>.</a:t>
            </a:r>
          </a:p>
          <a:p>
            <a:pPr>
              <a:buFont typeface="Arial" panose="020B0604020202020204" pitchFamily="34" charset="0"/>
              <a:buChar char="•"/>
            </a:pPr>
            <a:r>
              <a:rPr lang="vi-VN" b="1" i="1" dirty="0"/>
              <a:t>Dùng để duyệt cây thư mục.</a:t>
            </a:r>
            <a:endParaRPr lang="vi-VN" i="1" dirty="0"/>
          </a:p>
          <a:p>
            <a:pPr>
              <a:buFont typeface="Arial" panose="020B0604020202020204" pitchFamily="34" charset="0"/>
              <a:buChar char="•"/>
            </a:pPr>
            <a:r>
              <a:rPr lang="vi-VN" b="1" i="1" dirty="0"/>
              <a:t>Ví dụ:</a:t>
            </a:r>
            <a:endParaRPr lang="vi-VN" i="1" dirty="0"/>
          </a:p>
          <a:p>
            <a:pPr rtl="0">
              <a:buFont typeface="Arial" panose="020B0604020202020204" pitchFamily="34" charset="0"/>
              <a:buNone/>
            </a:pPr>
            <a:r>
              <a:rPr lang="vi-VN" i="1" dirty="0"/>
              <a:t>list("/C=NL/O=VU/OU=CS/CN=Main server") → trả về: HostName=star, HostName=zephyr </a:t>
            </a:r>
          </a:p>
          <a:p>
            <a:r>
              <a:rPr lang="vi-VN" b="1" i="1" dirty="0"/>
              <a:t>c. search (tìm kiếm theo điều kiện)</a:t>
            </a:r>
          </a:p>
          <a:p>
            <a:pPr>
              <a:buFont typeface="Arial" panose="020B0604020202020204" pitchFamily="34" charset="0"/>
              <a:buChar char="•"/>
            </a:pPr>
            <a:r>
              <a:rPr lang="vi-VN" b="1" i="1" dirty="0"/>
              <a:t>Chức năng:</a:t>
            </a:r>
            <a:r>
              <a:rPr lang="vi-VN" i="1" dirty="0"/>
              <a:t> Trả về các entry </a:t>
            </a:r>
            <a:r>
              <a:rPr lang="vi-VN" b="1" i="1" dirty="0"/>
              <a:t>thỏa điều kiện trên thuộc tính</a:t>
            </a:r>
            <a:r>
              <a:rPr lang="vi-VN" i="1" dirty="0"/>
              <a:t>, tại một nhánh trong cây.</a:t>
            </a:r>
          </a:p>
          <a:p>
            <a:pPr>
              <a:buFont typeface="Arial" panose="020B0604020202020204" pitchFamily="34" charset="0"/>
              <a:buChar char="•"/>
            </a:pPr>
            <a:r>
              <a:rPr lang="vi-VN" b="1" i="1" dirty="0"/>
              <a:t>Ví dụ:</a:t>
            </a:r>
            <a:endParaRPr lang="vi-VN" i="1" dirty="0"/>
          </a:p>
          <a:p>
            <a:pPr rtl="0">
              <a:buFont typeface="Arial" panose="020B0604020202020204" pitchFamily="34" charset="0"/>
              <a:buNone/>
            </a:pPr>
            <a:r>
              <a:rPr lang="vi-VN" i="1" dirty="0"/>
              <a:t>search("(&amp;(C=NL)(O=VU University)(CN=Main server))") </a:t>
            </a:r>
          </a:p>
          <a:p>
            <a:pPr>
              <a:buFont typeface="Arial" panose="020B0604020202020204" pitchFamily="34" charset="0"/>
              <a:buNone/>
            </a:pPr>
            <a:r>
              <a:rPr lang="en-US" i="1" dirty="0"/>
              <a:t>=&gt;</a:t>
            </a:r>
            <a:r>
              <a:rPr lang="vi-VN" i="1" dirty="0"/>
              <a:t> Trả về tất cả máy chủ chính ở VU, không cần biết rõ OU.</a:t>
            </a:r>
          </a:p>
          <a:p>
            <a:r>
              <a:rPr lang="vi-VN" b="1" i="1" dirty="0"/>
              <a:t>Vì sao cần 3 loại truy vấn?</a:t>
            </a:r>
          </a:p>
          <a:p>
            <a:r>
              <a:rPr lang="vi-VN" i="1" dirty="0"/>
              <a:t>Truy vấnKhi nào dùng?Ưu điểmreadKhi đã biết rõ DN.Truy xuất chi tiết và nhanh.listKhi muốn duyệt cây DIT theo cấp.Trực quan, ít tốn tài nguyên.searchKhi chỉ biết 1 phần thông tin.Linh hoạt, mạnh mẽ – như truy vấn CSDL.</a:t>
            </a:r>
          </a:p>
          <a:p>
            <a:r>
              <a:rPr lang="vi-VN" b="1" i="1" dirty="0"/>
              <a:t>Kết luận</a:t>
            </a:r>
          </a:p>
          <a:p>
            <a:r>
              <a:rPr lang="vi-VN" i="1" dirty="0"/>
              <a:t>LDAP là </a:t>
            </a:r>
            <a:r>
              <a:rPr lang="vi-VN" b="1" i="1" dirty="0"/>
              <a:t>dịch vụ thư mục thông minh hơn nhiều so với DNS</a:t>
            </a:r>
            <a:r>
              <a:rPr lang="vi-VN" i="1" dirty="0"/>
              <a:t>, do:</a:t>
            </a:r>
          </a:p>
          <a:p>
            <a:pPr>
              <a:buFont typeface="Arial" panose="020B0604020202020204" pitchFamily="34" charset="0"/>
              <a:buChar char="•"/>
            </a:pPr>
            <a:r>
              <a:rPr lang="vi-VN" i="1" dirty="0"/>
              <a:t>Hỗ trợ tổ chức dữ liệu theo </a:t>
            </a:r>
            <a:r>
              <a:rPr lang="vi-VN" b="1" i="1" dirty="0"/>
              <a:t>thuộc tính phong phú</a:t>
            </a:r>
            <a:r>
              <a:rPr lang="vi-VN" i="1" dirty="0"/>
              <a:t>.</a:t>
            </a:r>
          </a:p>
          <a:p>
            <a:pPr>
              <a:buFont typeface="Arial" panose="020B0604020202020204" pitchFamily="34" charset="0"/>
              <a:buChar char="•"/>
            </a:pPr>
            <a:r>
              <a:rPr lang="vi-VN" i="1" dirty="0"/>
              <a:t>Có khả năng </a:t>
            </a:r>
            <a:r>
              <a:rPr lang="vi-VN" b="1" i="1" dirty="0"/>
              <a:t>tìm kiếm linh hoạt</a:t>
            </a:r>
            <a:r>
              <a:rPr lang="vi-VN" i="1" dirty="0"/>
              <a:t> nhờ search.</a:t>
            </a:r>
          </a:p>
          <a:p>
            <a:pPr>
              <a:buFont typeface="Arial" panose="020B0604020202020204" pitchFamily="34" charset="0"/>
              <a:buChar char="•"/>
            </a:pPr>
            <a:r>
              <a:rPr lang="vi-VN" i="1" dirty="0"/>
              <a:t>Phân cấp có cấu trúc như cây, có thể duyệt (list) hoặc truy xuất chính xác (read).</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58</a:t>
            </a:fld>
            <a:endParaRPr lang="en-US"/>
          </a:p>
        </p:txBody>
      </p:sp>
    </p:spTree>
    <p:extLst>
      <p:ext uri="{BB962C8B-B14F-4D97-AF65-F5344CB8AC3E}">
        <p14:creationId xmlns:p14="http://schemas.microsoft.com/office/powerpoint/2010/main" val="11606881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Distributed index</a:t>
            </a:r>
            <a:r>
              <a:rPr lang="en-US" b="1" dirty="0"/>
              <a:t> – </a:t>
            </a:r>
            <a:r>
              <a:rPr lang="en-US" b="1" dirty="0" err="1"/>
              <a:t>chỉ</a:t>
            </a:r>
            <a:r>
              <a:rPr lang="en-US" b="1" dirty="0"/>
              <a:t> </a:t>
            </a:r>
            <a:r>
              <a:rPr lang="en-US" b="1" dirty="0" err="1"/>
              <a:t>mục</a:t>
            </a:r>
            <a:r>
              <a:rPr lang="en-US" b="1" dirty="0"/>
              <a:t> </a:t>
            </a:r>
            <a:r>
              <a:rPr lang="en-US" b="1" dirty="0" err="1"/>
              <a:t>phận</a:t>
            </a:r>
            <a:r>
              <a:rPr lang="en-US" b="1" dirty="0"/>
              <a:t> </a:t>
            </a:r>
            <a:r>
              <a:rPr lang="en-US" b="1" dirty="0" err="1"/>
              <a:t>tán</a:t>
            </a:r>
            <a:endParaRPr lang="en-US" b="1" dirty="0"/>
          </a:p>
          <a:p>
            <a:endParaRPr lang="vi-VN" b="1" dirty="0"/>
          </a:p>
          <a:p>
            <a:r>
              <a:rPr lang="en-US" b="1" dirty="0"/>
              <a:t>1. </a:t>
            </a:r>
            <a:r>
              <a:rPr lang="vi-VN" b="1" dirty="0"/>
              <a:t>Mục tiêu chính của slide</a:t>
            </a:r>
          </a:p>
          <a:p>
            <a:r>
              <a:rPr lang="vi-VN" dirty="0"/>
              <a:t>Slide này trình bày </a:t>
            </a:r>
            <a:r>
              <a:rPr lang="vi-VN" b="1" dirty="0"/>
              <a:t>ý tưởng cơ bản của chỉ mục phân tán</a:t>
            </a:r>
            <a:r>
              <a:rPr lang="vi-VN" dirty="0"/>
              <a:t> (distributed index), một kỹ thuật rất quan trọng trong các hệ thống </a:t>
            </a:r>
            <a:r>
              <a:rPr lang="vi-VN" b="1" dirty="0"/>
              <a:t>peer-to-peer</a:t>
            </a:r>
            <a:r>
              <a:rPr lang="vi-VN" dirty="0"/>
              <a:t> hoặc </a:t>
            </a:r>
            <a:r>
              <a:rPr lang="vi-VN" b="1" dirty="0"/>
              <a:t>hệ phân tán</a:t>
            </a:r>
            <a:r>
              <a:rPr lang="vi-VN" dirty="0"/>
              <a:t>, đặc biệt khi chúng ta muốn tìm kiếm dữ liệu dựa trên </a:t>
            </a:r>
            <a:r>
              <a:rPr lang="vi-VN" b="1" dirty="0"/>
              <a:t>(attribute, value)</a:t>
            </a:r>
            <a:r>
              <a:rPr lang="vi-VN" dirty="0"/>
              <a:t> thay vì chỉ lookup bằng khóa định danh.</a:t>
            </a:r>
          </a:p>
          <a:p>
            <a:endParaRPr lang="en-US" b="1" dirty="0"/>
          </a:p>
          <a:p>
            <a:r>
              <a:rPr lang="en-US" b="1" dirty="0"/>
              <a:t>2. </a:t>
            </a:r>
            <a:r>
              <a:rPr lang="vi-VN" b="1" dirty="0"/>
              <a:t>Phần “Basic idea” – Ý tưởng cơ bản</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Đây là mô hình cơ bản được sử dụng trong </a:t>
            </a:r>
            <a:r>
              <a:rPr lang="vi-VN" b="1" dirty="0"/>
              <a:t>hệ thống peer-to-peer phân tán</a:t>
            </a:r>
            <a:r>
              <a:rPr lang="vi-VN" dirty="0"/>
              <a:t>, nơi dữ liệu không được lưu tập trung mà phân bố giữa các nút (nodes).</a:t>
            </a:r>
            <a:endParaRPr lang="vi-VN" b="1" dirty="0"/>
          </a:p>
          <a:p>
            <a:pPr>
              <a:buFont typeface="Arial" panose="020B0604020202020204" pitchFamily="34" charset="0"/>
              <a:buChar char="•"/>
            </a:pPr>
            <a:r>
              <a:rPr lang="en-US" dirty="0"/>
              <a:t> </a:t>
            </a:r>
            <a:r>
              <a:rPr lang="vi-VN" b="1" dirty="0"/>
              <a:t>Tập thuộc tính</a:t>
            </a:r>
            <a:r>
              <a:rPr lang="vi-VN" dirty="0"/>
              <a:t>: Giả sử chúng ta có một tập các thuộc tính {a^1, ..., a^N}, mỗi thuộc tính biểu diễn một khía cạnh của thực thể (entity) – ví dụ như tên, quốc gia, chủ đề, loại file, v.v.</a:t>
            </a:r>
          </a:p>
          <a:p>
            <a:pPr>
              <a:buFont typeface="Arial" panose="020B0604020202020204" pitchFamily="34" charset="0"/>
              <a:buChar char="•"/>
            </a:pPr>
            <a:r>
              <a:rPr lang="en-US" dirty="0"/>
              <a:t> </a:t>
            </a:r>
            <a:r>
              <a:rPr lang="vi-VN" b="1" dirty="0"/>
              <a:t>Miền giá trị</a:t>
            </a:r>
            <a:r>
              <a:rPr lang="vi-VN" dirty="0"/>
              <a:t>: Mỗi thuộc tính aka^kak có thể nhận các giá trị từ một miền R^k — ví dụ, Country có thể có giá trị là NL, US, VN, v.v.</a:t>
            </a:r>
          </a:p>
          <a:p>
            <a:pPr>
              <a:buFont typeface="Arial" panose="020B0604020202020204" pitchFamily="34" charset="0"/>
              <a:buChar char="•"/>
            </a:pPr>
            <a:r>
              <a:rPr lang="en-US" dirty="0"/>
              <a:t> </a:t>
            </a:r>
            <a:r>
              <a:rPr lang="vi-VN" b="1" dirty="0"/>
              <a:t>Phân phối server</a:t>
            </a:r>
            <a:r>
              <a:rPr lang="vi-VN" dirty="0"/>
              <a:t>: Mỗi thuộc tính a^k được gán một tập các server S^k = { S^k_1, ..., S^k_{n_k} }, nghĩa là việc quản lý chỉ mục dựa trên thuộc tính được </a:t>
            </a:r>
            <a:r>
              <a:rPr lang="vi-VN" b="1" dirty="0"/>
              <a:t>phân phối ra nhiều server con</a:t>
            </a:r>
            <a:r>
              <a:rPr lang="vi-VN" dirty="0"/>
              <a:t>.</a:t>
            </a:r>
          </a:p>
          <a:p>
            <a:pPr>
              <a:buFont typeface="Arial" panose="020B0604020202020204" pitchFamily="34" charset="0"/>
              <a:buChar char="•"/>
            </a:pPr>
            <a:r>
              <a:rPr lang="en-US" dirty="0"/>
              <a:t> </a:t>
            </a:r>
            <a:r>
              <a:rPr lang="vi-VN" b="1" dirty="0"/>
              <a:t>Ánh xạ toàn cục</a:t>
            </a:r>
            <a:r>
              <a:rPr lang="vi-VN" dirty="0"/>
              <a:t>:</a:t>
            </a:r>
          </a:p>
          <a:p>
            <a:pPr>
              <a:buFont typeface="Arial" panose="020B0604020202020204" pitchFamily="34" charset="0"/>
              <a:buNone/>
            </a:pPr>
            <a:r>
              <a:rPr lang="en-US" dirty="0"/>
              <a:t>	</a:t>
            </a:r>
            <a:r>
              <a:rPr lang="vi-VN" dirty="0"/>
              <a:t>F(a^k, v) = S^k_j​ </a:t>
            </a:r>
          </a:p>
          <a:p>
            <a:pPr marL="742950" lvl="1" indent="-285750">
              <a:buFont typeface="Arial" panose="020B0604020202020204" pitchFamily="34" charset="0"/>
              <a:buChar char="•"/>
            </a:pPr>
            <a:r>
              <a:rPr lang="vi-VN" dirty="0"/>
              <a:t>Hàm ánh xạ toàn cục F xác định server nào trong tập S^k sẽ xử lý cặp (thuộc tính, giá trị) = (a^k, v)</a:t>
            </a:r>
          </a:p>
          <a:p>
            <a:pPr marL="742950" lvl="1" indent="-285750">
              <a:buFont typeface="Arial" panose="020B0604020202020204" pitchFamily="34" charset="0"/>
              <a:buChar char="•"/>
            </a:pPr>
            <a:r>
              <a:rPr lang="vi-VN" dirty="0"/>
              <a:t>Ví dụ, F(Country, NL) có thể trỏ đến S^Country_2.</a:t>
            </a:r>
            <a:endParaRPr lang="en-US" dirty="0"/>
          </a:p>
          <a:p>
            <a:pPr marL="457200" lvl="1" indent="0">
              <a:buFont typeface="Arial" panose="020B0604020202020204" pitchFamily="34" charset="0"/>
              <a:buNone/>
            </a:pPr>
            <a:endParaRPr lang="vi-VN" dirty="0"/>
          </a:p>
          <a:p>
            <a:r>
              <a:rPr lang="en-US" b="1" dirty="0"/>
              <a:t>3. </a:t>
            </a:r>
            <a:r>
              <a:rPr lang="vi-VN" b="1" dirty="0"/>
              <a:t>Phần “Observation” – Quan sát thực tiễn</a:t>
            </a:r>
          </a:p>
          <a:p>
            <a:pPr>
              <a:buFont typeface="Arial" panose="020B0604020202020204" pitchFamily="34" charset="0"/>
              <a:buChar char="•"/>
            </a:pPr>
            <a:r>
              <a:rPr lang="en-US" dirty="0"/>
              <a:t> </a:t>
            </a:r>
            <a:r>
              <a:rPr lang="vi-VN" dirty="0"/>
              <a:t>Mỗi server sẽ lưu </a:t>
            </a:r>
            <a:r>
              <a:rPr lang="vi-VN" b="1" dirty="0"/>
              <a:t>tập các khóa (keys)</a:t>
            </a:r>
            <a:r>
              <a:rPr lang="vi-VN" dirty="0"/>
              <a:t> liên kết với dữ liệu có thuộc tính a^k = v. Gọi tập khóa đó là:</a:t>
            </a:r>
          </a:p>
          <a:p>
            <a:pPr>
              <a:buFont typeface="Arial" panose="020B0604020202020204" pitchFamily="34" charset="0"/>
              <a:buNone/>
            </a:pPr>
            <a:r>
              <a:rPr lang="en-US" dirty="0"/>
              <a:t>	</a:t>
            </a:r>
            <a:r>
              <a:rPr lang="vi-VN" dirty="0"/>
              <a:t>L(a^k, v) </a:t>
            </a:r>
          </a:p>
          <a:p>
            <a:pPr>
              <a:buFont typeface="Arial" panose="020B0604020202020204" pitchFamily="34" charset="0"/>
              <a:buChar char="•"/>
            </a:pPr>
            <a:r>
              <a:rPr lang="en-US" dirty="0"/>
              <a:t> </a:t>
            </a:r>
            <a:r>
              <a:rPr lang="vi-VN" dirty="0"/>
              <a:t>Một truy vấn người dùng có thể gồm nhiều cặp (attribute, value), ví dụ như:</a:t>
            </a:r>
          </a:p>
          <a:p>
            <a:pPr>
              <a:buFont typeface="Arial" panose="020B0604020202020204" pitchFamily="34" charset="0"/>
              <a:buNone/>
            </a:pPr>
            <a:r>
              <a:rPr lang="en-US" dirty="0"/>
              <a:t>	</a:t>
            </a:r>
            <a:r>
              <a:rPr lang="vi-VN" dirty="0"/>
              <a:t>(a^1, v^1), (a^2, v^2), (a^3, v^3) </a:t>
            </a:r>
          </a:p>
          <a:p>
            <a:pPr>
              <a:buFont typeface="Arial" panose="020B0604020202020204" pitchFamily="34" charset="0"/>
              <a:buChar char="•"/>
            </a:pPr>
            <a:r>
              <a:rPr lang="en-US" dirty="0"/>
              <a:t> </a:t>
            </a:r>
            <a:r>
              <a:rPr lang="vi-VN" dirty="0"/>
              <a:t>Truy vấn sẽ được diễn tả bằng biểu thức logic như:</a:t>
            </a:r>
          </a:p>
          <a:p>
            <a:pPr>
              <a:buFont typeface="Arial" panose="020B0604020202020204" pitchFamily="34" charset="0"/>
              <a:buNone/>
            </a:pPr>
            <a:r>
              <a:rPr lang="en-US" dirty="0"/>
              <a:t>	</a:t>
            </a:r>
            <a:r>
              <a:rPr lang="vi-VN" dirty="0"/>
              <a:t>F(a^1, v^1) ∧ F(a^2, v^2) ∧ F(a^3, v^3)</a:t>
            </a:r>
            <a:endParaRPr lang="en-US" dirty="0"/>
          </a:p>
          <a:p>
            <a:pPr>
              <a:buFont typeface="Arial" panose="020B0604020202020204" pitchFamily="34" charset="0"/>
              <a:buNone/>
            </a:pPr>
            <a:r>
              <a:rPr lang="vi-VN" dirty="0"/>
              <a:t> → Ý nói rằng người dùng tìm dữ liệu thỏa mãn cả hai điều kiện đầu tiên hoặc điều kiện thứ ba.</a:t>
            </a:r>
          </a:p>
          <a:p>
            <a:pPr>
              <a:buFont typeface="Arial" panose="020B0604020202020204" pitchFamily="34" charset="0"/>
              <a:buChar char="•"/>
            </a:pPr>
            <a:r>
              <a:rPr lang="en-US" dirty="0"/>
              <a:t> </a:t>
            </a:r>
            <a:r>
              <a:rPr lang="vi-VN" dirty="0"/>
              <a:t>Việc xử lý biểu thức logic sẽ được </a:t>
            </a:r>
            <a:r>
              <a:rPr lang="vi-VN" b="1" dirty="0"/>
              <a:t>thực hiện bởi phía client</a:t>
            </a:r>
            <a:r>
              <a:rPr lang="vi-VN" dirty="0"/>
              <a:t>, thông qua phép tập hợp:</a:t>
            </a:r>
          </a:p>
          <a:p>
            <a:pPr>
              <a:buFont typeface="Arial" panose="020B0604020202020204" pitchFamily="34" charset="0"/>
              <a:buNone/>
            </a:pPr>
            <a:r>
              <a:rPr lang="en-US" dirty="0"/>
              <a:t>	</a:t>
            </a:r>
            <a:r>
              <a:rPr lang="vi-VN" dirty="0"/>
              <a:t>L(a^1, v^1) ∩ L(a^2, v^2) ∪ L(a^3, v^3)</a:t>
            </a:r>
            <a:endParaRPr lang="en-US" dirty="0"/>
          </a:p>
          <a:p>
            <a:pPr>
              <a:buFont typeface="Arial" panose="020B0604020202020204" pitchFamily="34" charset="0"/>
              <a:buNone/>
            </a:pPr>
            <a:r>
              <a:rPr lang="vi-VN" dirty="0"/>
              <a:t>→ Lấy giao của hai tập đầu, sau đó lấy hợp với tập thứ ba.</a:t>
            </a:r>
          </a:p>
        </p:txBody>
      </p:sp>
      <p:sp>
        <p:nvSpPr>
          <p:cNvPr id="4" name="Slide Number Placeholder 3"/>
          <p:cNvSpPr>
            <a:spLocks noGrp="1"/>
          </p:cNvSpPr>
          <p:nvPr>
            <p:ph type="sldNum" sz="quarter" idx="5"/>
          </p:nvPr>
        </p:nvSpPr>
        <p:spPr/>
        <p:txBody>
          <a:bodyPr/>
          <a:lstStyle/>
          <a:p>
            <a:fld id="{492BC7D0-5925-4E08-962F-A8F7AB738BAF}" type="slidenum">
              <a:rPr lang="en-US" smtClean="0"/>
              <a:t>59</a:t>
            </a:fld>
            <a:endParaRPr lang="en-US"/>
          </a:p>
        </p:txBody>
      </p:sp>
    </p:spTree>
    <p:extLst>
      <p:ext uri="{BB962C8B-B14F-4D97-AF65-F5344CB8AC3E}">
        <p14:creationId xmlns:p14="http://schemas.microsoft.com/office/powerpoint/2010/main" val="2420713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các hạn chế</a:t>
            </a:r>
            <a:r>
              <a:rPr lang="vi-VN" dirty="0"/>
              <a:t> của mô hình </a:t>
            </a:r>
            <a:r>
              <a:rPr lang="vi-VN" b="1" dirty="0"/>
              <a:t>chỉ mục phân tán theo thuộc tính (attribute-based distributed indexing)</a:t>
            </a:r>
            <a:r>
              <a:rPr lang="vi-VN" dirty="0"/>
              <a:t>. Đây là phần rất quan trọng để </a:t>
            </a:r>
            <a:r>
              <a:rPr lang="vi-VN" b="1" dirty="0"/>
              <a:t>phân tích chi phí và tính thực tế</a:t>
            </a:r>
            <a:r>
              <a:rPr lang="vi-VN" dirty="0"/>
              <a:t> khi triển khai trong các hệ thống lớn như mạng </a:t>
            </a:r>
            <a:r>
              <a:rPr lang="vi-VN" b="1" dirty="0"/>
              <a:t>peer-to-peer</a:t>
            </a:r>
            <a:r>
              <a:rPr lang="vi-VN" dirty="0"/>
              <a:t>, </a:t>
            </a:r>
            <a:r>
              <a:rPr lang="vi-VN" b="1" dirty="0"/>
              <a:t>hệ lưu trữ phân tán</a:t>
            </a:r>
            <a:r>
              <a:rPr lang="vi-VN" dirty="0"/>
              <a:t>, hoặc </a:t>
            </a:r>
            <a:r>
              <a:rPr lang="vi-VN" b="1" dirty="0"/>
              <a:t>cơ sở dữ liệu NoSQL</a:t>
            </a:r>
            <a:r>
              <a:rPr lang="vi-VN" dirty="0"/>
              <a:t>.</a:t>
            </a:r>
          </a:p>
          <a:p>
            <a:endParaRPr lang="en-US" b="1" dirty="0"/>
          </a:p>
          <a:p>
            <a:r>
              <a:rPr lang="vi-VN" b="1" dirty="0"/>
              <a:t>Các nhược điểm chính</a:t>
            </a:r>
          </a:p>
          <a:p>
            <a:r>
              <a:rPr lang="en-US" b="1" dirty="0"/>
              <a:t>1. </a:t>
            </a:r>
            <a:r>
              <a:rPr lang="vi-VN" b="1" dirty="0"/>
              <a:t>Truy vấn với k thuộc tính ⇒ Phải liên hệ k server</a:t>
            </a:r>
          </a:p>
          <a:p>
            <a:r>
              <a:rPr lang="vi-VN" dirty="0"/>
              <a:t>“A query involving k attributes requires contacting k servers”</a:t>
            </a:r>
          </a:p>
          <a:p>
            <a:pPr>
              <a:buFont typeface="Arial" panose="020B0604020202020204" pitchFamily="34" charset="0"/>
              <a:buChar char="•"/>
            </a:pPr>
            <a:r>
              <a:rPr lang="en-US" dirty="0"/>
              <a:t> </a:t>
            </a:r>
            <a:r>
              <a:rPr lang="vi-VN" dirty="0"/>
              <a:t>Mỗi thuộc tính được quản lý bởi một (hoặc nhiều) server riêng.</a:t>
            </a:r>
          </a:p>
          <a:p>
            <a:pPr>
              <a:buFont typeface="Arial" panose="020B0604020202020204" pitchFamily="34" charset="0"/>
              <a:buChar char="•"/>
            </a:pPr>
            <a:r>
              <a:rPr lang="en-US" dirty="0"/>
              <a:t> </a:t>
            </a:r>
            <a:r>
              <a:rPr lang="vi-VN" dirty="0"/>
              <a:t>Khi người dùng truy vấn dựa trên </a:t>
            </a:r>
            <a:r>
              <a:rPr lang="vi-VN" b="1" dirty="0"/>
              <a:t>nhiều thuộc tính</a:t>
            </a:r>
            <a:r>
              <a:rPr lang="vi-VN" dirty="0"/>
              <a:t> (ví dụ: tên, tổ chức, quốc gia), thì hệ thống </a:t>
            </a:r>
            <a:r>
              <a:rPr lang="vi-VN" b="1" dirty="0"/>
              <a:t>phải gửi truy vấn đến từng server tương ứng</a:t>
            </a:r>
            <a:r>
              <a:rPr lang="vi-VN" dirty="0"/>
              <a:t>.</a:t>
            </a:r>
          </a:p>
          <a:p>
            <a:pPr>
              <a:buFont typeface="Arial" panose="020B0604020202020204" pitchFamily="34" charset="0"/>
              <a:buChar char="•"/>
            </a:pPr>
            <a:r>
              <a:rPr lang="en-US" dirty="0"/>
              <a:t> </a:t>
            </a:r>
            <a:r>
              <a:rPr lang="vi-VN" dirty="0"/>
              <a:t>Hệ quả:</a:t>
            </a:r>
          </a:p>
          <a:p>
            <a:pPr marL="742950" lvl="1" indent="-285750">
              <a:buFont typeface="Arial" panose="020B0604020202020204" pitchFamily="34" charset="0"/>
              <a:buChar char="•"/>
            </a:pPr>
            <a:r>
              <a:rPr lang="vi-VN" dirty="0"/>
              <a:t>Tăng số lượng kết nối mạng.</a:t>
            </a:r>
          </a:p>
          <a:p>
            <a:pPr marL="742950" lvl="1" indent="-285750">
              <a:buFont typeface="Arial" panose="020B0604020202020204" pitchFamily="34" charset="0"/>
              <a:buChar char="•"/>
            </a:pPr>
            <a:r>
              <a:rPr lang="vi-VN" dirty="0"/>
              <a:t>Tăng thời gian phản hồi.</a:t>
            </a:r>
          </a:p>
          <a:p>
            <a:pPr marL="742950" lvl="1" indent="-285750">
              <a:buFont typeface="Arial" panose="020B0604020202020204" pitchFamily="34" charset="0"/>
              <a:buChar char="•"/>
            </a:pPr>
            <a:r>
              <a:rPr lang="vi-VN" dirty="0"/>
              <a:t>Gây </a:t>
            </a:r>
            <a:r>
              <a:rPr lang="vi-VN" b="1" dirty="0"/>
              <a:t>tắc nghẽn hoặc lỗi nếu một server bị chậm hoặc chết</a:t>
            </a:r>
            <a:r>
              <a:rPr lang="vi-VN" dirty="0"/>
              <a:t>.</a:t>
            </a:r>
          </a:p>
          <a:p>
            <a:r>
              <a:rPr lang="en-US" b="1" dirty="0"/>
              <a:t>2. </a:t>
            </a:r>
            <a:r>
              <a:rPr lang="vi-VN" b="1" dirty="0"/>
              <a:t>Truy vấn không cân bằng dữ liệu ⇒ Client phải xử lý quá nhiều</a:t>
            </a:r>
          </a:p>
          <a:p>
            <a:r>
              <a:rPr lang="vi-VN" dirty="0"/>
              <a:t>“Imagine looking up ‘lastName = Smith ∧ firstName = Pheriby’: the client may need to process many files...”</a:t>
            </a:r>
          </a:p>
          <a:p>
            <a:pPr>
              <a:buFont typeface="Arial" panose="020B0604020202020204" pitchFamily="34" charset="0"/>
              <a:buChar char="•"/>
            </a:pPr>
            <a:r>
              <a:rPr lang="en-US" dirty="0"/>
              <a:t> </a:t>
            </a:r>
            <a:r>
              <a:rPr lang="vi-VN" dirty="0"/>
              <a:t>Một số giá trị thuộc tính </a:t>
            </a:r>
            <a:r>
              <a:rPr lang="vi-VN" b="1" dirty="0"/>
              <a:t>rất phổ biến</a:t>
            </a:r>
            <a:r>
              <a:rPr lang="vi-VN" dirty="0"/>
              <a:t>, ví dụ như lastName = Smith, có thể liên quan đến </a:t>
            </a:r>
            <a:r>
              <a:rPr lang="vi-VN" b="1" dirty="0"/>
              <a:t>hàng triệu bản ghi</a:t>
            </a:r>
            <a:r>
              <a:rPr lang="vi-VN" dirty="0"/>
              <a:t>.</a:t>
            </a:r>
          </a:p>
          <a:p>
            <a:pPr>
              <a:buFont typeface="Arial" panose="020B0604020202020204" pitchFamily="34" charset="0"/>
              <a:buChar char="•"/>
            </a:pPr>
            <a:r>
              <a:rPr lang="en-US" dirty="0"/>
              <a:t> </a:t>
            </a:r>
            <a:r>
              <a:rPr lang="vi-VN" dirty="0"/>
              <a:t>Trong khi đó, một giá trị khác như firstName = Pheriby lại rất hiếm.</a:t>
            </a:r>
          </a:p>
          <a:p>
            <a:pPr>
              <a:buFont typeface="Arial" panose="020B0604020202020204" pitchFamily="34" charset="0"/>
              <a:buChar char="•"/>
            </a:pPr>
            <a:r>
              <a:rPr lang="vi-VN" dirty="0"/>
              <a:t> Tuy nhiên, theo cơ chế xử lý tập giao (∩), </a:t>
            </a:r>
            <a:r>
              <a:rPr lang="vi-VN" b="1" dirty="0"/>
              <a:t>client vẫn phải tải hết tập hợp lastName = Smith về rồi mới lọc</a:t>
            </a:r>
            <a:r>
              <a:rPr lang="vi-VN" dirty="0"/>
              <a:t>, gây:</a:t>
            </a:r>
          </a:p>
          <a:p>
            <a:pPr marL="742950" lvl="1" indent="-285750">
              <a:buFont typeface="Arial" panose="020B0604020202020204" pitchFamily="34" charset="0"/>
              <a:buChar char="•"/>
            </a:pPr>
            <a:r>
              <a:rPr lang="vi-VN" b="1" dirty="0"/>
              <a:t>Tốn băng thông</a:t>
            </a:r>
            <a:r>
              <a:rPr lang="vi-VN" dirty="0"/>
              <a:t> và </a:t>
            </a:r>
            <a:r>
              <a:rPr lang="vi-VN" b="1" dirty="0"/>
              <a:t>tài nguyên xử lý trên client</a:t>
            </a:r>
            <a:r>
              <a:rPr lang="vi-VN" dirty="0"/>
              <a:t>.</a:t>
            </a:r>
          </a:p>
          <a:p>
            <a:pPr marL="742950" lvl="1" indent="-285750">
              <a:buFont typeface="Arial" panose="020B0604020202020204" pitchFamily="34" charset="0"/>
              <a:buChar char="•"/>
            </a:pPr>
            <a:r>
              <a:rPr lang="vi-VN" b="1" dirty="0"/>
              <a:t>Không hiệu quả về mặt hiệu năng</a:t>
            </a:r>
            <a:r>
              <a:rPr lang="vi-VN" dirty="0"/>
              <a:t> và tài nguyên.</a:t>
            </a:r>
          </a:p>
          <a:p>
            <a:r>
              <a:rPr lang="en-US" b="1" dirty="0"/>
              <a:t>3. </a:t>
            </a:r>
            <a:r>
              <a:rPr lang="vi-VN" b="1" dirty="0"/>
              <a:t>Không hỗ trợ (hoặc khó hỗ trợ) truy vấn theo khoảng</a:t>
            </a:r>
          </a:p>
          <a:p>
            <a:r>
              <a:rPr lang="vi-VN" dirty="0"/>
              <a:t>“No (easy) support for range queries, such as ‘price = [1000 − 2500]’”</a:t>
            </a:r>
          </a:p>
          <a:p>
            <a:pPr>
              <a:buFont typeface="Arial" panose="020B0604020202020204" pitchFamily="34" charset="0"/>
              <a:buChar char="•"/>
            </a:pPr>
            <a:r>
              <a:rPr lang="vi-VN" dirty="0"/>
              <a:t>Mô hình chỉ mục phân tán theo (attribute, value) </a:t>
            </a:r>
            <a:r>
              <a:rPr lang="vi-VN" b="1" dirty="0"/>
              <a:t>thiết kế để xử lý giá trị rời rạc</a:t>
            </a:r>
            <a:r>
              <a:rPr lang="vi-VN" dirty="0"/>
              <a:t>, không phải khoảng liên tục.</a:t>
            </a:r>
          </a:p>
          <a:p>
            <a:pPr>
              <a:buFont typeface="Arial" panose="020B0604020202020204" pitchFamily="34" charset="0"/>
              <a:buChar char="•"/>
            </a:pPr>
            <a:r>
              <a:rPr lang="vi-VN" dirty="0"/>
              <a:t>Nếu muốn tìm price ∈ [1000, 2500], </a:t>
            </a:r>
            <a:r>
              <a:rPr lang="vi-VN" b="1" dirty="0"/>
              <a:t>không thể chỉ định một server cụ thể</a:t>
            </a:r>
            <a:r>
              <a:rPr lang="vi-VN" dirty="0"/>
              <a:t>.</a:t>
            </a:r>
          </a:p>
          <a:p>
            <a:pPr>
              <a:buFont typeface="Arial" panose="020B0604020202020204" pitchFamily="34" charset="0"/>
              <a:buChar char="•"/>
            </a:pPr>
            <a:r>
              <a:rPr lang="vi-VN" dirty="0"/>
              <a:t>Cần liên hệ nhiều server, hoặc duyệt toàn bộ tập hợp → </a:t>
            </a:r>
            <a:r>
              <a:rPr lang="vi-VN" b="1" dirty="0"/>
              <a:t>rất tốn kém và không hiệu quả</a:t>
            </a:r>
            <a:r>
              <a:rPr lang="vi-VN" dirty="0"/>
              <a:t>.</a:t>
            </a:r>
          </a:p>
          <a:p>
            <a:pPr>
              <a:buFont typeface="Arial" panose="020B0604020202020204" pitchFamily="34" charset="0"/>
              <a:buChar char="•"/>
            </a:pPr>
            <a:r>
              <a:rPr lang="vi-VN" dirty="0"/>
              <a:t>Trong thực tế, </a:t>
            </a:r>
            <a:r>
              <a:rPr lang="vi-VN" b="1" dirty="0"/>
              <a:t>range queries</a:t>
            </a:r>
            <a:r>
              <a:rPr lang="vi-VN" dirty="0"/>
              <a:t> rất phổ biến (ví dụ: giá sản phẩm, ngày tháng, khoảng thời gian).</a:t>
            </a:r>
          </a:p>
          <a:p>
            <a:endParaRPr lang="en-US" b="1" dirty="0"/>
          </a:p>
          <a:p>
            <a:r>
              <a:rPr lang="vi-VN" b="1" dirty="0"/>
              <a:t>Gợi ý mở rộng giảng dạy</a:t>
            </a:r>
          </a:p>
          <a:p>
            <a:pPr>
              <a:buFont typeface="Arial" panose="020B0604020202020204" pitchFamily="34" charset="0"/>
              <a:buChar char="•"/>
            </a:pPr>
            <a:r>
              <a:rPr lang="vi-VN" dirty="0"/>
              <a:t>Những hạn chế này là lý do vì sao các hệ thống thực tế như </a:t>
            </a:r>
            <a:r>
              <a:rPr lang="vi-VN" b="1" dirty="0"/>
              <a:t>Amazon DynamoDB</a:t>
            </a:r>
            <a:r>
              <a:rPr lang="vi-VN" dirty="0"/>
              <a:t>, </a:t>
            </a:r>
            <a:r>
              <a:rPr lang="vi-VN" b="1" dirty="0"/>
              <a:t>Google Bigtable</a:t>
            </a:r>
            <a:r>
              <a:rPr lang="vi-VN" dirty="0"/>
              <a:t>, hay </a:t>
            </a:r>
            <a:r>
              <a:rPr lang="vi-VN" b="1" dirty="0"/>
              <a:t>Cassandra</a:t>
            </a:r>
            <a:r>
              <a:rPr lang="vi-VN" dirty="0"/>
              <a:t> sử dụng thêm các kỹ thuật như:</a:t>
            </a:r>
          </a:p>
          <a:p>
            <a:pPr marL="742950" lvl="1" indent="-285750">
              <a:buFont typeface="Arial" panose="020B0604020202020204" pitchFamily="34" charset="0"/>
              <a:buChar char="•"/>
            </a:pPr>
            <a:r>
              <a:rPr lang="vi-VN" b="1" dirty="0"/>
              <a:t>Space-filling curves (Hilbert Curve)</a:t>
            </a:r>
            <a:r>
              <a:rPr lang="vi-VN" dirty="0"/>
              <a:t> để hỗ trợ range query.</a:t>
            </a:r>
          </a:p>
          <a:p>
            <a:pPr marL="742950" lvl="1" indent="-285750">
              <a:buFont typeface="Arial" panose="020B0604020202020204" pitchFamily="34" charset="0"/>
              <a:buChar char="•"/>
            </a:pPr>
            <a:r>
              <a:rPr lang="vi-VN" b="1" dirty="0"/>
              <a:t>Secondary indexing</a:t>
            </a:r>
            <a:r>
              <a:rPr lang="vi-VN" dirty="0"/>
              <a:t> hoặc </a:t>
            </a:r>
            <a:r>
              <a:rPr lang="vi-VN" b="1" dirty="0"/>
              <a:t>composite key design</a:t>
            </a:r>
            <a:r>
              <a:rPr lang="vi-VN" dirty="0"/>
              <a:t> để tối ưu cho truy vấn thực tế.</a:t>
            </a:r>
          </a:p>
          <a:p>
            <a:endParaRPr lang="en-US" b="1" dirty="0"/>
          </a:p>
          <a:p>
            <a:r>
              <a:rPr lang="vi-VN" b="1" dirty="0"/>
              <a:t>Tóm tắt</a:t>
            </a:r>
            <a:r>
              <a:rPr lang="en-US" b="1" dirty="0"/>
              <a:t>:</a:t>
            </a:r>
            <a:endParaRPr lang="vi-VN" b="1" dirty="0"/>
          </a:p>
          <a:p>
            <a:r>
              <a:rPr lang="vi-VN" dirty="0"/>
              <a:t>Nhược điểm</a:t>
            </a:r>
            <a:r>
              <a:rPr lang="en-US" dirty="0"/>
              <a:t>			</a:t>
            </a:r>
            <a:r>
              <a:rPr lang="vi-VN" dirty="0"/>
              <a:t>Giải thích</a:t>
            </a:r>
            <a:endParaRPr lang="en-US" dirty="0"/>
          </a:p>
          <a:p>
            <a:r>
              <a:rPr lang="vi-VN" dirty="0"/>
              <a:t>Truy vấn nhiều thuộc tính</a:t>
            </a:r>
            <a:r>
              <a:rPr lang="en-US" dirty="0"/>
              <a:t>		</a:t>
            </a:r>
            <a:r>
              <a:rPr lang="vi-VN" dirty="0"/>
              <a:t>Cần truy cập nhiều server ⇒ tăng độ trễ</a:t>
            </a:r>
            <a:endParaRPr lang="en-US" dirty="0"/>
          </a:p>
          <a:p>
            <a:r>
              <a:rPr lang="vi-VN" dirty="0"/>
              <a:t>Dữ liệu phổ biến</a:t>
            </a:r>
            <a:r>
              <a:rPr lang="en-US" dirty="0"/>
              <a:t>		</a:t>
            </a:r>
            <a:r>
              <a:rPr lang="vi-VN" dirty="0"/>
              <a:t>Client phải xử lý quá nhiều kết quả dư thừa</a:t>
            </a:r>
            <a:endParaRPr lang="en-US" dirty="0"/>
          </a:p>
          <a:p>
            <a:r>
              <a:rPr lang="vi-VN" dirty="0"/>
              <a:t>Không hỗ trợ truy vấn theo khoảng</a:t>
            </a:r>
            <a:r>
              <a:rPr lang="en-US" dirty="0"/>
              <a:t>	</a:t>
            </a:r>
            <a:r>
              <a:rPr lang="vi-VN" dirty="0"/>
              <a:t>Không phù hợp cho các range queries thực tế</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60</a:t>
            </a:fld>
            <a:endParaRPr lang="en-US"/>
          </a:p>
        </p:txBody>
      </p:sp>
    </p:spTree>
    <p:extLst>
      <p:ext uri="{BB962C8B-B14F-4D97-AF65-F5344CB8AC3E}">
        <p14:creationId xmlns:p14="http://schemas.microsoft.com/office/powerpoint/2010/main" val="37047652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Mục tiêu của slide</a:t>
            </a:r>
          </a:p>
          <a:p>
            <a:pPr>
              <a:buFont typeface="Arial" panose="020B0604020202020204" pitchFamily="34" charset="0"/>
              <a:buChar char="•"/>
            </a:pPr>
            <a:r>
              <a:rPr lang="vi-VN" dirty="0"/>
              <a:t>Giới thiệu một </a:t>
            </a:r>
            <a:r>
              <a:rPr lang="vi-VN" b="1" dirty="0"/>
              <a:t>giải pháp thay thế</a:t>
            </a:r>
            <a:r>
              <a:rPr lang="vi-VN" dirty="0"/>
              <a:t> cho chỉ mục phân tán truyền thống — cụ thể là sử dụng </a:t>
            </a:r>
            <a:r>
              <a:rPr lang="vi-VN" b="1" dirty="0"/>
              <a:t>đường cong điền đầy không gian (space-filling curves)</a:t>
            </a:r>
            <a:r>
              <a:rPr lang="vi-VN" dirty="0"/>
              <a:t> để </a:t>
            </a:r>
            <a:r>
              <a:rPr lang="vi-VN" b="1" dirty="0"/>
              <a:t>giải quyết hạn chế khi truy vấn nhiều thuộc tính</a:t>
            </a:r>
            <a:r>
              <a:rPr lang="vi-VN" dirty="0"/>
              <a:t> và </a:t>
            </a:r>
            <a:r>
              <a:rPr lang="vi-VN" b="1" dirty="0"/>
              <a:t>hỗ trợ truy vấn theo khoảng (range queries)</a:t>
            </a:r>
            <a:r>
              <a:rPr lang="vi-VN" dirty="0"/>
              <a:t> trong hệ phân tán hoặc hệ P2P.</a:t>
            </a:r>
          </a:p>
          <a:p>
            <a:endParaRPr lang="en-US" b="1" dirty="0"/>
          </a:p>
          <a:p>
            <a:r>
              <a:rPr lang="vi-VN" b="1" dirty="0"/>
              <a:t>1. Vấn đề của cách làm cũ</a:t>
            </a:r>
          </a:p>
          <a:p>
            <a:r>
              <a:rPr lang="vi-VN" dirty="0"/>
              <a:t>Như slide và đoạn văn trước nói rõ, với cách truyền thống:</a:t>
            </a:r>
          </a:p>
          <a:p>
            <a:pPr>
              <a:buFont typeface="Arial" panose="020B0604020202020204" pitchFamily="34" charset="0"/>
              <a:buChar char="•"/>
            </a:pPr>
            <a:r>
              <a:rPr lang="vi-VN" dirty="0"/>
              <a:t>Mỗi thuộc tính được quản lý bởi một server.</a:t>
            </a:r>
          </a:p>
          <a:p>
            <a:pPr>
              <a:buFont typeface="Arial" panose="020B0604020202020204" pitchFamily="34" charset="0"/>
              <a:buChar char="•"/>
            </a:pPr>
            <a:r>
              <a:rPr lang="vi-VN" dirty="0"/>
              <a:t>Truy vấn nhiều thuộc tính ⇒ phải liên hệ nhiều server.</a:t>
            </a:r>
          </a:p>
          <a:p>
            <a:pPr>
              <a:buFont typeface="Arial" panose="020B0604020202020204" pitchFamily="34" charset="0"/>
              <a:buChar char="•"/>
            </a:pPr>
            <a:r>
              <a:rPr lang="vi-VN" dirty="0"/>
              <a:t>Không hỗ trợ tốt range queries.</a:t>
            </a:r>
          </a:p>
          <a:p>
            <a:endParaRPr lang="en-US" b="1" dirty="0"/>
          </a:p>
          <a:p>
            <a:r>
              <a:rPr lang="vi-VN" b="1" dirty="0"/>
              <a:t>2. Giải pháp thay thế: Space-Filling Curves</a:t>
            </a:r>
          </a:p>
          <a:p>
            <a:r>
              <a:rPr lang="vi-VN" b="1" dirty="0"/>
              <a:t>Nguyên lý chính</a:t>
            </a:r>
          </a:p>
          <a:p>
            <a:r>
              <a:rPr lang="vi-VN" b="1" dirty="0"/>
              <a:t>2 bước chính</a:t>
            </a:r>
            <a:r>
              <a:rPr lang="vi-VN" dirty="0"/>
              <a:t> để áp dụng space-filling curves:</a:t>
            </a:r>
          </a:p>
          <a:p>
            <a:pPr>
              <a:buFont typeface="+mj-lt"/>
              <a:buNone/>
            </a:pPr>
            <a:r>
              <a:rPr lang="en-US" b="1" dirty="0"/>
              <a:t>a. </a:t>
            </a:r>
            <a:r>
              <a:rPr lang="vi-VN" b="1" dirty="0"/>
              <a:t>Biểu diễn không gian dữ liệu N chiều</a:t>
            </a:r>
            <a:r>
              <a:rPr lang="vi-VN" dirty="0"/>
              <a:t> (N thuộc tính) thành một </a:t>
            </a:r>
            <a:r>
              <a:rPr lang="vi-VN" b="1" dirty="0"/>
              <a:t>chiều duy nhất</a:t>
            </a:r>
            <a:r>
              <a:rPr lang="vi-VN" dirty="0"/>
              <a:t>.</a:t>
            </a:r>
          </a:p>
          <a:p>
            <a:pPr marL="457200" lvl="1" indent="0">
              <a:buFont typeface="+mj-lt"/>
              <a:buNone/>
            </a:pPr>
            <a:r>
              <a:rPr lang="en-US" dirty="0"/>
              <a:t>- </a:t>
            </a:r>
            <a:r>
              <a:rPr lang="vi-VN" dirty="0"/>
              <a:t>Mỗi đối tượng với tuple (v_1, v_2, ..., v_N) (giá trị thuộc tính đã chuẩn hóa về khoảng [0,1)) được xem như 1 điểm trong không gian N chiều.</a:t>
            </a:r>
          </a:p>
          <a:p>
            <a:pPr marL="457200" lvl="1" indent="0">
              <a:buFont typeface="+mj-lt"/>
              <a:buNone/>
            </a:pPr>
            <a:r>
              <a:rPr lang="en-US" dirty="0"/>
              <a:t>- </a:t>
            </a:r>
            <a:r>
              <a:rPr lang="vi-VN" dirty="0"/>
              <a:t>Dùng </a:t>
            </a:r>
            <a:r>
              <a:rPr lang="vi-VN" b="1" dirty="0"/>
              <a:t>Hilbert curve</a:t>
            </a:r>
            <a:r>
              <a:rPr lang="vi-VN" dirty="0"/>
              <a:t> để ánh xạ điểm này thành </a:t>
            </a:r>
            <a:r>
              <a:rPr lang="vi-VN" b="1" dirty="0"/>
              <a:t>chỉ số 1 chiều duy nhất</a:t>
            </a:r>
            <a:r>
              <a:rPr lang="vi-VN" dirty="0"/>
              <a:t>, nhưng vẫn giữ </a:t>
            </a:r>
            <a:r>
              <a:rPr lang="vi-VN" b="1" dirty="0"/>
              <a:t>tính cục bộ</a:t>
            </a:r>
            <a:r>
              <a:rPr lang="vi-VN" dirty="0"/>
              <a:t> (locality).</a:t>
            </a:r>
          </a:p>
          <a:p>
            <a:pPr>
              <a:buFont typeface="+mj-lt"/>
              <a:buNone/>
            </a:pPr>
            <a:r>
              <a:rPr lang="en-US" b="1" dirty="0"/>
              <a:t>b. </a:t>
            </a:r>
            <a:r>
              <a:rPr lang="vi-VN" b="1" dirty="0"/>
              <a:t>Băm chỉ số 1 chiều này</a:t>
            </a:r>
            <a:r>
              <a:rPr lang="vi-VN" dirty="0"/>
              <a:t> để phân phối dữ liệu đến các server chỉ mục (index servers).</a:t>
            </a:r>
          </a:p>
          <a:p>
            <a:endParaRPr lang="en-US" b="1" dirty="0"/>
          </a:p>
          <a:p>
            <a:r>
              <a:rPr lang="vi-VN" b="1" dirty="0"/>
              <a:t>3. Hilbert Curve là gì?</a:t>
            </a:r>
          </a:p>
          <a:p>
            <a:r>
              <a:rPr lang="vi-VN" b="1" dirty="0"/>
              <a:t>Hình (a): Hilbert Curve cấp 1</a:t>
            </a:r>
          </a:p>
          <a:p>
            <a:pPr>
              <a:buFont typeface="Arial" panose="020B0604020202020204" pitchFamily="34" charset="0"/>
              <a:buChar char="•"/>
            </a:pPr>
            <a:r>
              <a:rPr lang="vi-VN" dirty="0"/>
              <a:t>Chia không gian 2 chiều (ví dụ: 2 thuộc tính) thành 4 ô vuông.</a:t>
            </a:r>
          </a:p>
          <a:p>
            <a:pPr>
              <a:buFont typeface="Arial" panose="020B0604020202020204" pitchFamily="34" charset="0"/>
              <a:buChar char="•"/>
            </a:pPr>
            <a:r>
              <a:rPr lang="vi-VN" dirty="0"/>
              <a:t>Các ô vuông được ánh xạ thành các chỉ số tuyến tính: Index 0 → Index 3.</a:t>
            </a:r>
          </a:p>
          <a:p>
            <a:pPr>
              <a:buFont typeface="Arial" panose="020B0604020202020204" pitchFamily="34" charset="0"/>
              <a:buChar char="•"/>
            </a:pPr>
            <a:r>
              <a:rPr lang="vi-VN" dirty="0"/>
              <a:t>Một đường cong Hilbert </a:t>
            </a:r>
            <a:r>
              <a:rPr lang="vi-VN" b="1" dirty="0"/>
              <a:t>đi qua toàn bộ không gian 2D theo trình tự bảo toàn cục bộ</a:t>
            </a:r>
            <a:r>
              <a:rPr lang="vi-VN" dirty="0"/>
              <a:t>.</a:t>
            </a:r>
          </a:p>
          <a:p>
            <a:pPr>
              <a:buFont typeface="Arial" panose="020B0604020202020204" pitchFamily="34" charset="0"/>
              <a:buChar char="•"/>
            </a:pPr>
            <a:r>
              <a:rPr lang="vi-VN" dirty="0"/>
              <a:t>Dữ liệu gần nhau trong không gian thuộc tính (x, y) → gần nhau trên đường cong.</a:t>
            </a:r>
          </a:p>
          <a:p>
            <a:r>
              <a:rPr lang="vi-VN" b="1" dirty="0"/>
              <a:t>Hình (b): Hilbert Curve cấp 4</a:t>
            </a:r>
          </a:p>
          <a:p>
            <a:pPr>
              <a:buFont typeface="Arial" panose="020B0604020202020204" pitchFamily="34" charset="0"/>
              <a:buChar char="•"/>
            </a:pPr>
            <a:r>
              <a:rPr lang="vi-VN" dirty="0"/>
              <a:t>Chia không gian thành 24×24=2562^4 × 2^4 = 25624×24=256 ô vuông.</a:t>
            </a:r>
          </a:p>
          <a:p>
            <a:pPr>
              <a:buFont typeface="Arial" panose="020B0604020202020204" pitchFamily="34" charset="0"/>
              <a:buChar char="•"/>
            </a:pPr>
            <a:r>
              <a:rPr lang="vi-VN" dirty="0"/>
              <a:t>Mỗi ô ứng với một </a:t>
            </a:r>
            <a:r>
              <a:rPr lang="vi-VN" b="1" dirty="0"/>
              <a:t>chỉ số 1 chiều duy nhất</a:t>
            </a:r>
            <a:r>
              <a:rPr lang="vi-VN" dirty="0"/>
              <a:t>.</a:t>
            </a:r>
          </a:p>
          <a:p>
            <a:pPr>
              <a:buFont typeface="Arial" panose="020B0604020202020204" pitchFamily="34" charset="0"/>
              <a:buChar char="•"/>
            </a:pPr>
            <a:r>
              <a:rPr lang="vi-VN" dirty="0"/>
              <a:t>Tăng </a:t>
            </a:r>
            <a:r>
              <a:rPr lang="vi-VN" b="1" dirty="0"/>
              <a:t>độ phân giải</a:t>
            </a:r>
            <a:r>
              <a:rPr lang="vi-VN" dirty="0"/>
              <a:t>, giảm khả năng nhiều entity bị trùng chỉ số.</a:t>
            </a:r>
          </a:p>
          <a:p>
            <a:r>
              <a:rPr lang="en-US" dirty="0"/>
              <a:t>=&gt;</a:t>
            </a:r>
            <a:r>
              <a:rPr lang="vi-VN" dirty="0"/>
              <a:t> Đây là cách giữ “locality” – các file có thuộc tính gần nhau sẽ có chỉ số gần nhau → tốt cho truy vấn theo khoảng.</a:t>
            </a:r>
          </a:p>
          <a:p>
            <a:endParaRPr lang="en-US" b="1" dirty="0"/>
          </a:p>
          <a:p>
            <a:r>
              <a:rPr lang="vi-VN" b="1" dirty="0"/>
              <a:t>4. Ưu điểm khi sử dụng Space-Filling Curves</a:t>
            </a:r>
          </a:p>
          <a:p>
            <a:r>
              <a:rPr lang="vi-VN" dirty="0"/>
              <a:t>Vấn đềGiải pháp qua Hilbert CurveTruy vấn nhiều thuộc tínhKhông cần truy vấn nhiều server, vì đã ánh xạ về 1 chiềuTruy vấn theo khoảngCó thể xác định các đoạn chỉ số nằm trong vùng dữ liệu mong muốnPhân phối dữ liệuDùng kỹ thuật băm (hashing) để phân phối chỉ số 1 chiều cho các node</a:t>
            </a:r>
          </a:p>
          <a:p>
            <a:endParaRPr lang="en-US" b="1" dirty="0"/>
          </a:p>
          <a:p>
            <a:r>
              <a:rPr lang="vi-VN" b="1" dirty="0"/>
              <a:t>5. Ứng dụng trong hệ phân tán (P2P)</a:t>
            </a:r>
          </a:p>
          <a:p>
            <a:pPr>
              <a:buFont typeface="Arial" panose="020B0604020202020204" pitchFamily="34" charset="0"/>
              <a:buChar char="•"/>
            </a:pPr>
            <a:r>
              <a:rPr lang="vi-VN" dirty="0"/>
              <a:t>Hệ thống như </a:t>
            </a:r>
            <a:r>
              <a:rPr lang="vi-VN" b="1" dirty="0"/>
              <a:t>Squid</a:t>
            </a:r>
            <a:r>
              <a:rPr lang="vi-VN" dirty="0"/>
              <a:t> kết hợp Hilbert Curve với Chord Ring:</a:t>
            </a:r>
          </a:p>
          <a:p>
            <a:pPr marL="742950" lvl="1" indent="-285750">
              <a:buFont typeface="Arial" panose="020B0604020202020204" pitchFamily="34" charset="0"/>
              <a:buChar char="•"/>
            </a:pPr>
            <a:r>
              <a:rPr lang="vi-VN" dirty="0"/>
              <a:t>Chỉ số ánh xạ từ Hilbert Curve chính là </a:t>
            </a:r>
            <a:r>
              <a:rPr lang="vi-VN" b="1" dirty="0"/>
              <a:t>ID trong Chord Ring</a:t>
            </a:r>
            <a:r>
              <a:rPr lang="vi-VN" dirty="0"/>
              <a:t>.</a:t>
            </a:r>
          </a:p>
          <a:p>
            <a:pPr marL="742950" lvl="1" indent="-285750">
              <a:buFont typeface="Arial" panose="020B0604020202020204" pitchFamily="34" charset="0"/>
              <a:buChar char="•"/>
            </a:pPr>
            <a:r>
              <a:rPr lang="vi-VN" dirty="0"/>
              <a:t>Dữ liệu sẽ được lưu ở node chịu trách nhiệm cho ID đó.</a:t>
            </a:r>
          </a:p>
          <a:p>
            <a:pPr>
              <a:buFont typeface="Arial" panose="020B0604020202020204" pitchFamily="34" charset="0"/>
              <a:buChar char="•"/>
            </a:pPr>
            <a:r>
              <a:rPr lang="vi-VN" dirty="0"/>
              <a:t>Truy vấn sẽ trở thành việc xác định </a:t>
            </a:r>
            <a:r>
              <a:rPr lang="vi-VN" b="1" dirty="0"/>
              <a:t>các đoạn trên Hilbert Curve</a:t>
            </a:r>
            <a:r>
              <a:rPr lang="vi-VN" dirty="0"/>
              <a:t> → ánh xạ sang </a:t>
            </a:r>
            <a:r>
              <a:rPr lang="vi-VN" b="1" dirty="0"/>
              <a:t>node trong Chord Ring</a:t>
            </a:r>
            <a:r>
              <a:rPr lang="vi-VN" dirty="0"/>
              <a:t>.</a:t>
            </a:r>
          </a:p>
          <a:p>
            <a:endParaRPr lang="en-US" b="1" dirty="0"/>
          </a:p>
          <a:p>
            <a:r>
              <a:rPr lang="vi-VN" b="1" dirty="0"/>
              <a:t>6. Hạn chế cần lưu ý</a:t>
            </a:r>
          </a:p>
          <a:p>
            <a:pPr>
              <a:buFont typeface="Arial" panose="020B0604020202020204" pitchFamily="34" charset="0"/>
              <a:buChar char="•"/>
            </a:pPr>
            <a:r>
              <a:rPr lang="vi-VN" dirty="0"/>
              <a:t>Chiều cao Hilbert Curve cần đủ lớn (order 32, 64) để </a:t>
            </a:r>
            <a:r>
              <a:rPr lang="vi-VN" b="1" dirty="0"/>
              <a:t>giảm xung đột</a:t>
            </a:r>
            <a:r>
              <a:rPr lang="vi-VN" dirty="0"/>
              <a:t> giữa các entity khác nhau.</a:t>
            </a:r>
          </a:p>
          <a:p>
            <a:pPr>
              <a:buFont typeface="Arial" panose="020B0604020202020204" pitchFamily="34" charset="0"/>
              <a:buChar char="•"/>
            </a:pPr>
            <a:r>
              <a:rPr lang="vi-VN" dirty="0"/>
              <a:t>Chi phí tính toán đường cong và xử lý vùng tìm kiếm phức tạp hơn so với index theo từng thuộc tính.</a:t>
            </a:r>
          </a:p>
          <a:p>
            <a:endParaRPr lang="en-US" b="1" dirty="0"/>
          </a:p>
          <a:p>
            <a:r>
              <a:rPr lang="vi-VN" b="1" dirty="0"/>
              <a:t>Tóm tắt cho sinh viên ghi nhớ</a:t>
            </a:r>
          </a:p>
          <a:p>
            <a:r>
              <a:rPr lang="vi-VN" dirty="0"/>
              <a:t>Nội dung</a:t>
            </a:r>
            <a:r>
              <a:rPr lang="en-US" dirty="0"/>
              <a:t>		</a:t>
            </a:r>
            <a:r>
              <a:rPr lang="vi-VN" dirty="0"/>
              <a:t>Diễn giải</a:t>
            </a:r>
            <a:endParaRPr lang="en-US" dirty="0"/>
          </a:p>
          <a:p>
            <a:r>
              <a:rPr lang="vi-VN" dirty="0"/>
              <a:t>Space-filling curve</a:t>
            </a:r>
            <a:r>
              <a:rPr lang="en-US" dirty="0"/>
              <a:t>	</a:t>
            </a:r>
            <a:r>
              <a:rPr lang="vi-VN" dirty="0"/>
              <a:t>Kỹ thuật ánh xạ không gian N chiều về 1 chiều</a:t>
            </a:r>
            <a:endParaRPr lang="en-US" dirty="0"/>
          </a:p>
          <a:p>
            <a:r>
              <a:rPr lang="vi-VN" dirty="0"/>
              <a:t>Hilbert curve</a:t>
            </a:r>
            <a:r>
              <a:rPr lang="en-US" dirty="0"/>
              <a:t>		</a:t>
            </a:r>
            <a:r>
              <a:rPr lang="vi-VN" dirty="0"/>
              <a:t>Một loại đường điền đầy không gian, bảo toàn cục bộ</a:t>
            </a:r>
            <a:endParaRPr lang="en-US" dirty="0"/>
          </a:p>
          <a:p>
            <a:r>
              <a:rPr lang="vi-VN" dirty="0"/>
              <a:t>Index server</a:t>
            </a:r>
            <a:r>
              <a:rPr lang="en-US" dirty="0"/>
              <a:t>		</a:t>
            </a:r>
            <a:r>
              <a:rPr lang="vi-VN" dirty="0"/>
              <a:t>Nhận index 1 chiều, lưu trữ entity tương ứng</a:t>
            </a:r>
            <a:endParaRPr lang="en-US" dirty="0"/>
          </a:p>
          <a:p>
            <a:r>
              <a:rPr lang="vi-VN" dirty="0"/>
              <a:t>Truy vấn theo vùng</a:t>
            </a:r>
            <a:r>
              <a:rPr lang="en-US" dirty="0"/>
              <a:t>	</a:t>
            </a:r>
            <a:r>
              <a:rPr lang="vi-VN" dirty="0"/>
              <a:t>Dễ dàng hỗ trợ truy vấn khoảng và đa thuộc tính</a:t>
            </a:r>
            <a:endParaRPr lang="en-US" dirty="0"/>
          </a:p>
          <a:p>
            <a:r>
              <a:rPr lang="vi-VN" dirty="0"/>
              <a:t>Ứng dụng</a:t>
            </a:r>
            <a:r>
              <a:rPr lang="en-US" dirty="0"/>
              <a:t>		</a:t>
            </a:r>
            <a:r>
              <a:rPr lang="vi-VN" dirty="0"/>
              <a:t>Tốt cho hệ P2P hoặc hệ lưu trữ phi tập trung</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61</a:t>
            </a:fld>
            <a:endParaRPr lang="en-US"/>
          </a:p>
        </p:txBody>
      </p:sp>
    </p:spTree>
    <p:extLst>
      <p:ext uri="{BB962C8B-B14F-4D97-AF65-F5344CB8AC3E}">
        <p14:creationId xmlns:p14="http://schemas.microsoft.com/office/powerpoint/2010/main" val="16339894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Space-filling curve và Truy vấn phạm vi</a:t>
            </a:r>
          </a:p>
          <a:p>
            <a:endParaRPr lang="en-US" b="1" dirty="0"/>
          </a:p>
          <a:p>
            <a:r>
              <a:rPr lang="vi-VN" b="1" dirty="0"/>
              <a:t>Mục tiêu của slide</a:t>
            </a:r>
          </a:p>
          <a:p>
            <a:pPr>
              <a:buFont typeface="Arial" panose="020B0604020202020204" pitchFamily="34" charset="0"/>
              <a:buChar char="•"/>
            </a:pPr>
            <a:r>
              <a:rPr lang="vi-VN" dirty="0"/>
              <a:t>Trình bày cách </a:t>
            </a:r>
            <a:r>
              <a:rPr lang="vi-VN" b="1" dirty="0"/>
              <a:t>space-filling curves</a:t>
            </a:r>
            <a:r>
              <a:rPr lang="vi-VN" dirty="0"/>
              <a:t>, đặc biệt là </a:t>
            </a:r>
            <a:r>
              <a:rPr lang="vi-VN" b="1" dirty="0"/>
              <a:t>Hilbert curve</a:t>
            </a:r>
            <a:r>
              <a:rPr lang="vi-VN" dirty="0"/>
              <a:t>, hỗ trợ thực hiện </a:t>
            </a:r>
            <a:r>
              <a:rPr lang="vi-VN" b="1" dirty="0"/>
              <a:t>range query</a:t>
            </a:r>
            <a:r>
              <a:rPr lang="vi-VN" dirty="0"/>
              <a:t> (truy vấn phạm vi) trong hệ thống lưu trữ dữ liệu phân tán (distributed storage system).</a:t>
            </a:r>
          </a:p>
          <a:p>
            <a:pPr>
              <a:buFont typeface="Arial" panose="020B0604020202020204" pitchFamily="34" charset="0"/>
              <a:buChar char="•"/>
            </a:pPr>
            <a:r>
              <a:rPr lang="vi-VN" dirty="0"/>
              <a:t>Giải thích </a:t>
            </a:r>
            <a:r>
              <a:rPr lang="vi-VN" b="1" dirty="0"/>
              <a:t>cách ánh xạ chỉ số 1 chiều</a:t>
            </a:r>
            <a:r>
              <a:rPr lang="vi-VN" dirty="0"/>
              <a:t> từ đường cong này đến </a:t>
            </a:r>
            <a:r>
              <a:rPr lang="vi-VN" b="1" dirty="0"/>
              <a:t>server chịu trách nhiệm lưu trữ dữ liệu</a:t>
            </a:r>
            <a:r>
              <a:rPr lang="vi-VN" dirty="0"/>
              <a:t>.</a:t>
            </a:r>
          </a:p>
          <a:p>
            <a:endParaRPr lang="en-US" b="1" dirty="0"/>
          </a:p>
          <a:p>
            <a:r>
              <a:rPr lang="en-US" b="1" dirty="0"/>
              <a:t>1. </a:t>
            </a:r>
            <a:r>
              <a:rPr lang="vi-VN" b="1" dirty="0"/>
              <a:t>Cấu trúc Hilbert Curve trong không gian 2 chiều</a:t>
            </a:r>
          </a:p>
          <a:p>
            <a:r>
              <a:rPr lang="vi-VN" dirty="0"/>
              <a:t>"Consider the two-dimensional case"</a:t>
            </a:r>
          </a:p>
          <a:p>
            <a:r>
              <a:rPr lang="vi-VN" b="1" dirty="0"/>
              <a:t>Ý tưởng chính</a:t>
            </a:r>
          </a:p>
          <a:p>
            <a:pPr>
              <a:buFont typeface="Arial" panose="020B0604020202020204" pitchFamily="34" charset="0"/>
              <a:buChar char="•"/>
            </a:pPr>
            <a:r>
              <a:rPr lang="vi-VN" dirty="0"/>
              <a:t>Mỗi thuộc tính → một trục tọa độ (ví dụ: giá trị thuộc tính a₁ và a₂ → trục x và y).</a:t>
            </a:r>
          </a:p>
          <a:p>
            <a:pPr>
              <a:buFont typeface="Arial" panose="020B0604020202020204" pitchFamily="34" charset="0"/>
              <a:buChar char="•"/>
            </a:pPr>
            <a:r>
              <a:rPr lang="vi-VN" dirty="0"/>
              <a:t>Hilbert curve “lấp đầy” không gian 2D này bằng cách đi qua tất cả các ô vuông nhỏ (subsquares) một cách tuyến tính.</a:t>
            </a:r>
          </a:p>
          <a:p>
            <a:r>
              <a:rPr lang="vi-VN" b="1" dirty="0"/>
              <a:t>Cấp bậc của Hilbert Curve</a:t>
            </a:r>
          </a:p>
          <a:p>
            <a:pPr>
              <a:buFont typeface="Arial" panose="020B0604020202020204" pitchFamily="34" charset="0"/>
              <a:buChar char="•"/>
            </a:pPr>
            <a:r>
              <a:rPr lang="vi-VN" dirty="0"/>
              <a:t>Với </a:t>
            </a:r>
            <a:r>
              <a:rPr lang="vi-VN" b="1" dirty="0"/>
              <a:t>Hilbert curve cấp k</a:t>
            </a:r>
            <a:r>
              <a:rPr lang="vi-VN" dirty="0"/>
              <a:t>, ta chia không gian thành 2^k </a:t>
            </a:r>
            <a:r>
              <a:rPr lang="en-US" dirty="0"/>
              <a:t>x</a:t>
            </a:r>
            <a:r>
              <a:rPr lang="vi-VN" dirty="0"/>
              <a:t> 2^k = 2^{2k} ô vuông nhỏ (subsquares).</a:t>
            </a:r>
          </a:p>
          <a:p>
            <a:pPr>
              <a:buFont typeface="Arial" panose="020B0604020202020204" pitchFamily="34" charset="0"/>
              <a:buChar char="•"/>
            </a:pPr>
            <a:r>
              <a:rPr lang="vi-VN" dirty="0"/>
              <a:t>Mỗi ô vuông nhỏ tương ứng với một </a:t>
            </a:r>
            <a:r>
              <a:rPr lang="vi-VN" b="1" dirty="0"/>
              <a:t>chỉ số duy nhất</a:t>
            </a:r>
            <a:r>
              <a:rPr lang="vi-VN" dirty="0"/>
              <a:t> ⇒ ta có tổng cộng 2^{2k} </a:t>
            </a:r>
            <a:r>
              <a:rPr lang="vi-VN" b="1" dirty="0"/>
              <a:t>indices</a:t>
            </a:r>
            <a:r>
              <a:rPr lang="vi-VN" dirty="0"/>
              <a:t>.</a:t>
            </a:r>
          </a:p>
          <a:p>
            <a:pPr marL="742950" lvl="1" indent="-285750">
              <a:buFont typeface="Arial" panose="020B0604020202020204" pitchFamily="34" charset="0"/>
              <a:buChar char="•"/>
            </a:pPr>
            <a:r>
              <a:rPr lang="vi-VN" dirty="0"/>
              <a:t>Ví dụ: cấp 2 → 16 indices; cấp 4 → 256 indices.</a:t>
            </a:r>
          </a:p>
          <a:p>
            <a:endParaRPr lang="en-US" b="1" dirty="0"/>
          </a:p>
          <a:p>
            <a:r>
              <a:rPr lang="en-US" b="1" dirty="0"/>
              <a:t>2. </a:t>
            </a:r>
            <a:r>
              <a:rPr lang="vi-VN" b="1" dirty="0"/>
              <a:t>Truy vấn phạm vi (Range query)</a:t>
            </a:r>
          </a:p>
          <a:p>
            <a:r>
              <a:rPr lang="vi-VN" dirty="0"/>
              <a:t>“A range query corresponds to a rectangle R in the 2-dimensional case”</a:t>
            </a:r>
          </a:p>
          <a:p>
            <a:r>
              <a:rPr lang="vi-VN" b="1" dirty="0"/>
              <a:t>Tình huống</a:t>
            </a:r>
          </a:p>
          <a:p>
            <a:pPr>
              <a:buFont typeface="Arial" panose="020B0604020202020204" pitchFamily="34" charset="0"/>
              <a:buChar char="•"/>
            </a:pPr>
            <a:r>
              <a:rPr lang="vi-VN" dirty="0"/>
              <a:t>Giả sử bạn muốn tìm các thực thể có:</a:t>
            </a:r>
          </a:p>
          <a:p>
            <a:pPr marL="742950" lvl="1" indent="-285750">
              <a:buFont typeface="Arial" panose="020B0604020202020204" pitchFamily="34" charset="0"/>
              <a:buChar char="•"/>
            </a:pPr>
            <a:r>
              <a:rPr lang="vi-VN" dirty="0"/>
              <a:t>Giá trị thuộc tính a₁ nằm trong khoảng [0.3, 0.6]</a:t>
            </a:r>
          </a:p>
          <a:p>
            <a:pPr marL="742950" lvl="1" indent="-285750">
              <a:buFont typeface="Arial" panose="020B0604020202020204" pitchFamily="34" charset="0"/>
              <a:buChar char="•"/>
            </a:pPr>
            <a:r>
              <a:rPr lang="vi-VN" dirty="0"/>
              <a:t>Giá trị thuộc tính a₂ nằm trong khoảng [0.4, 0.8]</a:t>
            </a:r>
          </a:p>
          <a:p>
            <a:r>
              <a:rPr lang="vi-VN" b="1" dirty="0"/>
              <a:t>Giải thích</a:t>
            </a:r>
          </a:p>
          <a:p>
            <a:pPr>
              <a:buFont typeface="Arial" panose="020B0604020202020204" pitchFamily="34" charset="0"/>
              <a:buChar char="•"/>
            </a:pPr>
            <a:r>
              <a:rPr lang="vi-VN" dirty="0"/>
              <a:t>Truy vấn này tương đương với một </a:t>
            </a:r>
            <a:r>
              <a:rPr lang="vi-VN" b="1" dirty="0"/>
              <a:t>hình chữ nhật R</a:t>
            </a:r>
            <a:r>
              <a:rPr lang="vi-VN" dirty="0"/>
              <a:t> trong không gian 2D của các thuộc tính.</a:t>
            </a:r>
          </a:p>
          <a:p>
            <a:pPr>
              <a:buFont typeface="Arial" panose="020B0604020202020204" pitchFamily="34" charset="0"/>
              <a:buChar char="•"/>
            </a:pPr>
            <a:r>
              <a:rPr lang="vi-VN" dirty="0"/>
              <a:t>Hình chữ nhật này </a:t>
            </a:r>
            <a:r>
              <a:rPr lang="vi-VN" b="1" dirty="0"/>
              <a:t>cắt qua nhiều ô vuông nhỏ</a:t>
            </a:r>
            <a:r>
              <a:rPr lang="vi-VN" dirty="0"/>
              <a:t> (subsquares) trong lưới 2^k </a:t>
            </a:r>
            <a:r>
              <a:rPr lang="en-US" dirty="0"/>
              <a:t>x</a:t>
            </a:r>
            <a:r>
              <a:rPr lang="vi-VN" dirty="0"/>
              <a:t> 2^k.</a:t>
            </a:r>
          </a:p>
          <a:p>
            <a:pPr>
              <a:buFont typeface="Arial" panose="020B0604020202020204" pitchFamily="34" charset="0"/>
              <a:buChar char="•"/>
            </a:pPr>
            <a:r>
              <a:rPr lang="vi-VN" dirty="0"/>
              <a:t>Mỗi ô vuông nhỏ đã có một </a:t>
            </a:r>
            <a:r>
              <a:rPr lang="vi-VN" b="1" dirty="0"/>
              <a:t>chỉ số (index)</a:t>
            </a:r>
            <a:r>
              <a:rPr lang="vi-VN" dirty="0"/>
              <a:t> được gán từ Hilbert curve.</a:t>
            </a:r>
          </a:p>
          <a:p>
            <a:r>
              <a:rPr lang="en-US" dirty="0"/>
              <a:t>=&gt; </a:t>
            </a:r>
            <a:r>
              <a:rPr lang="vi-VN" b="1" dirty="0"/>
              <a:t>Kết quả:</a:t>
            </a:r>
            <a:r>
              <a:rPr lang="vi-VN" dirty="0"/>
              <a:t> Truy vấn phạm vi R tương ứng với một </a:t>
            </a:r>
            <a:r>
              <a:rPr lang="vi-VN" b="1" dirty="0"/>
              <a:t>tập hợp các chỉ số</a:t>
            </a:r>
            <a:r>
              <a:rPr lang="vi-VN" dirty="0"/>
              <a:t> trên đường cong Hilbert.</a:t>
            </a:r>
          </a:p>
          <a:p>
            <a:endParaRPr lang="en-US" b="1" dirty="0"/>
          </a:p>
          <a:p>
            <a:r>
              <a:rPr lang="en-US" b="1" dirty="0"/>
              <a:t>3. </a:t>
            </a:r>
            <a:r>
              <a:rPr lang="vi-VN" b="1" dirty="0"/>
              <a:t>Lấy dữ liệu thực thể từ chỉ số</a:t>
            </a:r>
          </a:p>
          <a:p>
            <a:r>
              <a:rPr lang="vi-VN" dirty="0"/>
              <a:t>“Each index is to be mapped to a server, who keeps a reference to the associated entity”</a:t>
            </a:r>
          </a:p>
          <a:p>
            <a:r>
              <a:rPr lang="vi-VN" b="1" dirty="0"/>
              <a:t>Cách tổ chức hệ thống</a:t>
            </a:r>
          </a:p>
          <a:p>
            <a:pPr>
              <a:buFont typeface="Arial" panose="020B0604020202020204" pitchFamily="34" charset="0"/>
              <a:buChar char="•"/>
            </a:pPr>
            <a:r>
              <a:rPr lang="vi-VN" dirty="0"/>
              <a:t>Mỗi chỉ số (index) → ánh xạ đến một </a:t>
            </a:r>
            <a:r>
              <a:rPr lang="vi-VN" b="1" dirty="0"/>
              <a:t>server trong hệ thống phân tán</a:t>
            </a:r>
            <a:r>
              <a:rPr lang="vi-VN" dirty="0"/>
              <a:t>.</a:t>
            </a:r>
          </a:p>
          <a:p>
            <a:pPr>
              <a:buFont typeface="Arial" panose="020B0604020202020204" pitchFamily="34" charset="0"/>
              <a:buChar char="•"/>
            </a:pPr>
            <a:r>
              <a:rPr lang="vi-VN" dirty="0"/>
              <a:t>Server đó giữ thông tin hoặc tham chiếu đến </a:t>
            </a:r>
            <a:r>
              <a:rPr lang="vi-VN" b="1" dirty="0"/>
              <a:t>các thực thể (entities)</a:t>
            </a:r>
            <a:r>
              <a:rPr lang="vi-VN" dirty="0"/>
              <a:t> có giá trị thuộc tính rơi vào ô vuông tương ứng.</a:t>
            </a:r>
          </a:p>
          <a:p>
            <a:r>
              <a:rPr lang="vi-VN" b="1" dirty="0"/>
              <a:t>Một giải pháp: DHT (Distributed Hash Table)</a:t>
            </a:r>
          </a:p>
          <a:p>
            <a:pPr>
              <a:buFont typeface="Arial" panose="020B0604020202020204" pitchFamily="34" charset="0"/>
              <a:buChar char="•"/>
            </a:pPr>
            <a:r>
              <a:rPr lang="vi-VN" dirty="0"/>
              <a:t>Dùng </a:t>
            </a:r>
            <a:r>
              <a:rPr lang="vi-VN" b="1" dirty="0"/>
              <a:t>DHT</a:t>
            </a:r>
            <a:r>
              <a:rPr lang="vi-VN" dirty="0"/>
              <a:t> để phân phối các chỉ số Hilbert cho các node trong mạng.</a:t>
            </a:r>
          </a:p>
          <a:p>
            <a:pPr>
              <a:buFont typeface="Arial" panose="020B0604020202020204" pitchFamily="34" charset="0"/>
              <a:buChar char="•"/>
            </a:pPr>
            <a:r>
              <a:rPr lang="vi-VN" dirty="0"/>
              <a:t>Ví dụ: dùng </a:t>
            </a:r>
            <a:r>
              <a:rPr lang="vi-VN" b="1" dirty="0"/>
              <a:t>Chord ring</a:t>
            </a:r>
            <a:r>
              <a:rPr lang="vi-VN" dirty="0"/>
              <a:t>, nơi mỗi node chịu trách nhiệm cho một đoạn trong không gian chỉ số.</a:t>
            </a:r>
          </a:p>
          <a:p>
            <a:endParaRPr lang="en-US" b="1" dirty="0"/>
          </a:p>
          <a:p>
            <a:r>
              <a:rPr lang="vi-VN" b="1" dirty="0"/>
              <a:t>Tóm tắt dễ nhớ cho sinh viên</a:t>
            </a:r>
          </a:p>
          <a:p>
            <a:r>
              <a:rPr lang="vi-VN" dirty="0"/>
              <a:t>Nội dung</a:t>
            </a:r>
            <a:r>
              <a:rPr lang="en-US" dirty="0"/>
              <a:t>		</a:t>
            </a:r>
            <a:r>
              <a:rPr lang="vi-VN" dirty="0"/>
              <a:t>Ý nghĩa</a:t>
            </a:r>
            <a:endParaRPr lang="en-US" dirty="0"/>
          </a:p>
          <a:p>
            <a:r>
              <a:rPr lang="vi-VN" b="1" dirty="0"/>
              <a:t>Hilbert curve</a:t>
            </a:r>
            <a:r>
              <a:rPr lang="en-US" b="1" dirty="0"/>
              <a:t>		</a:t>
            </a:r>
            <a:r>
              <a:rPr lang="vi-VN" dirty="0"/>
              <a:t>Ánh xạ không gian nhiều chiều về 1 chiều, vẫn giữ tính cục bộ</a:t>
            </a:r>
            <a:endParaRPr lang="en-US" dirty="0"/>
          </a:p>
          <a:p>
            <a:r>
              <a:rPr lang="vi-VN" b="1" dirty="0"/>
              <a:t>Order k</a:t>
            </a:r>
            <a:r>
              <a:rPr lang="en-US" b="1" dirty="0"/>
              <a:t>		</a:t>
            </a:r>
            <a:r>
              <a:rPr lang="vi-VN" dirty="0"/>
              <a:t>Chia không gian 2D thành 2^{2k} chỉ số</a:t>
            </a:r>
            <a:endParaRPr lang="en-US" dirty="0"/>
          </a:p>
          <a:p>
            <a:r>
              <a:rPr lang="vi-VN" b="1" dirty="0"/>
              <a:t>Range query</a:t>
            </a:r>
            <a:r>
              <a:rPr lang="en-US" b="1" dirty="0"/>
              <a:t>		</a:t>
            </a:r>
            <a:r>
              <a:rPr lang="vi-VN" dirty="0"/>
              <a:t>Tương đương một hình chữ nhật R → giao với nhiều chỉ số</a:t>
            </a:r>
            <a:endParaRPr lang="en-US" dirty="0"/>
          </a:p>
          <a:p>
            <a:r>
              <a:rPr lang="vi-VN" b="1" dirty="0"/>
              <a:t>Mỗi chỉ số</a:t>
            </a:r>
            <a:r>
              <a:rPr lang="en-US" b="1" dirty="0"/>
              <a:t>		</a:t>
            </a:r>
            <a:r>
              <a:rPr lang="vi-VN" dirty="0"/>
              <a:t>Tương ứng với một server, chứa entity rơi vào chỉ số đó</a:t>
            </a:r>
            <a:endParaRPr lang="en-US" dirty="0"/>
          </a:p>
          <a:p>
            <a:r>
              <a:rPr lang="vi-VN" b="1" dirty="0"/>
              <a:t>DHT (ví dụ: Chord)</a:t>
            </a:r>
            <a:r>
              <a:rPr lang="en-US" b="1" dirty="0"/>
              <a:t>	</a:t>
            </a:r>
            <a:r>
              <a:rPr lang="vi-VN" dirty="0"/>
              <a:t>Dùng để phân phối chỉ số đến các server một cách cân bằng</a:t>
            </a:r>
          </a:p>
          <a:p>
            <a:endParaRPr lang="en-US" b="1" dirty="0"/>
          </a:p>
          <a:p>
            <a:r>
              <a:rPr lang="vi-VN" b="1" dirty="0"/>
              <a:t>Ví dụ minh họa:</a:t>
            </a:r>
          </a:p>
          <a:p>
            <a:r>
              <a:rPr lang="vi-VN" dirty="0"/>
              <a:t>Giả sử bạn có hệ thống lưu trữ thông tin sản phẩm. Mỗi sản phẩm có:</a:t>
            </a:r>
          </a:p>
          <a:p>
            <a:pPr>
              <a:buFont typeface="Arial" panose="020B0604020202020204" pitchFamily="34" charset="0"/>
              <a:buChar char="•"/>
            </a:pPr>
            <a:r>
              <a:rPr lang="vi-VN" dirty="0"/>
              <a:t>Giá: từ 0 đến 1000 đô → chuẩn hóa thành [0,1)</a:t>
            </a:r>
          </a:p>
          <a:p>
            <a:pPr>
              <a:buFont typeface="Arial" panose="020B0604020202020204" pitchFamily="34" charset="0"/>
              <a:buChar char="•"/>
            </a:pPr>
            <a:r>
              <a:rPr lang="vi-VN" dirty="0"/>
              <a:t>Đánh giá người dùng: từ 0 đến 5 → chuẩn hóa thành [0,1)</a:t>
            </a:r>
          </a:p>
          <a:p>
            <a:r>
              <a:rPr lang="vi-VN" dirty="0"/>
              <a:t>Bạn cần tìm sản phẩm có giá từ 200-400 đô và đánh giá từ 3.5 đến 4.5.</a:t>
            </a:r>
          </a:p>
          <a:p>
            <a:r>
              <a:rPr lang="vi-VN" dirty="0"/>
              <a:t>Khi đó:</a:t>
            </a:r>
          </a:p>
          <a:p>
            <a:pPr>
              <a:buFont typeface="Arial" panose="020B0604020202020204" pitchFamily="34" charset="0"/>
              <a:buChar char="•"/>
            </a:pPr>
            <a:r>
              <a:rPr lang="vi-VN" dirty="0"/>
              <a:t>Bạn xác định một hình chữ nhật R trên không gian (giá, đánh giá).</a:t>
            </a:r>
          </a:p>
          <a:p>
            <a:pPr>
              <a:buFont typeface="Arial" panose="020B0604020202020204" pitchFamily="34" charset="0"/>
              <a:buChar char="•"/>
            </a:pPr>
            <a:r>
              <a:rPr lang="vi-VN" dirty="0"/>
              <a:t>Tìm các chỉ số Hilbert cắt qua R.</a:t>
            </a:r>
          </a:p>
          <a:p>
            <a:pPr>
              <a:buFont typeface="Arial" panose="020B0604020202020204" pitchFamily="34" charset="0"/>
              <a:buChar char="•"/>
            </a:pPr>
            <a:r>
              <a:rPr lang="vi-VN" dirty="0"/>
              <a:t>Các chỉ số đó ánh xạ đến các node trong DHT.</a:t>
            </a:r>
          </a:p>
          <a:p>
            <a:pPr>
              <a:buFont typeface="Arial" panose="020B0604020202020204" pitchFamily="34" charset="0"/>
              <a:buChar char="•"/>
            </a:pPr>
            <a:r>
              <a:rPr lang="vi-VN" dirty="0"/>
              <a:t>Truy vấn các node đó để lấy danh sách sản phẩm.</a:t>
            </a:r>
          </a:p>
          <a:p>
            <a:endParaRPr lang="en-US" dirty="0"/>
          </a:p>
        </p:txBody>
      </p:sp>
      <p:sp>
        <p:nvSpPr>
          <p:cNvPr id="4" name="Slide Number Placeholder 3"/>
          <p:cNvSpPr>
            <a:spLocks noGrp="1"/>
          </p:cNvSpPr>
          <p:nvPr>
            <p:ph type="sldNum" sz="quarter" idx="5"/>
          </p:nvPr>
        </p:nvSpPr>
        <p:spPr/>
        <p:txBody>
          <a:bodyPr/>
          <a:lstStyle/>
          <a:p>
            <a:fld id="{492BC7D0-5925-4E08-962F-A8F7AB738BAF}" type="slidenum">
              <a:rPr lang="en-US" smtClean="0"/>
              <a:t>62</a:t>
            </a:fld>
            <a:endParaRPr lang="en-US"/>
          </a:p>
        </p:txBody>
      </p:sp>
    </p:spTree>
    <p:extLst>
      <p:ext uri="{BB962C8B-B14F-4D97-AF65-F5344CB8AC3E}">
        <p14:creationId xmlns:p14="http://schemas.microsoft.com/office/powerpoint/2010/main" val="576400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200" b="0" i="0">
                <a:solidFill>
                  <a:srgbClr val="3333B2"/>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7246"/>
            <a:ext cx="4381500" cy="47180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321894" y="579562"/>
            <a:ext cx="3775075" cy="117665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5/18/2025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4.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slide" Target="slide4.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4.xml"/><Relationship Id="rId9" Type="http://schemas.openxmlformats.org/officeDocument/2006/relationships/slide" Target="slide5.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slide" Target="slide8.xml"/><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slide" Target="slide2.xml"/><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8.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slide" Target="slide8.xml"/><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slide" Target="slide4.xml"/><Relationship Id="rId9" Type="http://schemas.openxmlformats.org/officeDocument/2006/relationships/image" Target="../media/image10.png"/><Relationship Id="rId1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slide" Target="slide8.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slide" Target="slide4.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5.xml"/><Relationship Id="rId4" Type="http://schemas.openxmlformats.org/officeDocument/2006/relationships/slide" Target="slide4.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5.xml"/><Relationship Id="rId4" Type="http://schemas.openxmlformats.org/officeDocument/2006/relationships/slide" Target="slide4.xml"/></Relationships>
</file>

<file path=ppt/slides/_rels/slide1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slide" Target="slide4.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slide" Target="slide11.xml"/><Relationship Id="rId4" Type="http://schemas.openxmlformats.org/officeDocument/2006/relationships/slide" Target="slide4.xml"/></Relationships>
</file>

<file path=ppt/slides/_rels/slide1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slide" Target="slide4.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1.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20.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slide" Target="slide21.xml"/><Relationship Id="rId4" Type="http://schemas.openxmlformats.org/officeDocument/2006/relationships/slide" Target="slide4.xml"/></Relationships>
</file>

<file path=ppt/slides/_rels/slide2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slide" Target="slide2.xml"/><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slide" Target="slide21.xml"/><Relationship Id="rId10" Type="http://schemas.openxmlformats.org/officeDocument/2006/relationships/image" Target="../media/image29.png"/><Relationship Id="rId4" Type="http://schemas.openxmlformats.org/officeDocument/2006/relationships/slide" Target="slide4.xml"/><Relationship Id="rId9" Type="http://schemas.openxmlformats.org/officeDocument/2006/relationships/image" Target="../media/image28.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slide" Target="slide2.xml"/><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slide" Target="slide21.xml"/><Relationship Id="rId4" Type="http://schemas.openxmlformats.org/officeDocument/2006/relationships/slide" Target="slide4.xml"/><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 Target="slide2.xml"/><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slide" Target="slide21.xml"/><Relationship Id="rId4" Type="http://schemas.openxmlformats.org/officeDocument/2006/relationships/slide" Target="slide4.xml"/></Relationships>
</file>

<file path=ppt/slides/_rels/slide2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4.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4.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slide" Target="slide21.xml"/><Relationship Id="rId4" Type="http://schemas.openxmlformats.org/officeDocument/2006/relationships/slide" Target="slide4.xml"/></Relationships>
</file>

<file path=ppt/slides/_rels/slide2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slide" Target="slide2.xml"/><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slide" Target="slide28.xml"/><Relationship Id="rId9"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slide" Target="slide28.xml"/></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slide" Target="slide28.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1.xml"/><Relationship Id="rId1" Type="http://schemas.openxmlformats.org/officeDocument/2006/relationships/slideLayout" Target="../slideLayouts/slideLayout5.xml"/><Relationship Id="rId4" Type="http://schemas.openxmlformats.org/officeDocument/2006/relationships/slide" Target="slide28.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1.xml"/><Relationship Id="rId1" Type="http://schemas.openxmlformats.org/officeDocument/2006/relationships/slideLayout" Target="../slideLayouts/slideLayout5.xml"/><Relationship Id="rId5" Type="http://schemas.openxmlformats.org/officeDocument/2006/relationships/hyperlink" Target="http://www.distributed-systems.net/" TargetMode="External"/><Relationship Id="rId4" Type="http://schemas.openxmlformats.org/officeDocument/2006/relationships/slide" Target="slide28.xml"/></Relationships>
</file>

<file path=ppt/slides/_rels/slide33.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hyperlink" Target="http://www.distributed-systems.net/" TargetMode="External"/><Relationship Id="rId5" Type="http://schemas.openxmlformats.org/officeDocument/2006/relationships/slide" Target="slide28.xml"/><Relationship Id="rId4" Type="http://schemas.openxmlformats.org/officeDocument/2006/relationships/slide" Target="slide2.xml"/></Relationships>
</file>

<file path=ppt/slides/_rels/slide34.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8.xml"/><Relationship Id="rId4" Type="http://schemas.openxmlformats.org/officeDocument/2006/relationships/slide" Target="slide2.xml"/></Relationships>
</file>

<file path=ppt/slides/_rels/slide35.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8.xml"/><Relationship Id="rId4" Type="http://schemas.openxmlformats.org/officeDocument/2006/relationships/slide" Target="slide2.xml"/></Relationships>
</file>

<file path=ppt/slides/_rels/slide3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 Target="slide2.xml"/><Relationship Id="rId7" Type="http://schemas.openxmlformats.org/officeDocument/2006/relationships/image" Target="../media/image47.png"/><Relationship Id="rId12" Type="http://schemas.openxmlformats.org/officeDocument/2006/relationships/slide" Target="slide34.xm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slide" Target="slide31.xml"/><Relationship Id="rId10" Type="http://schemas.openxmlformats.org/officeDocument/2006/relationships/image" Target="../media/image50.png"/><Relationship Id="rId4" Type="http://schemas.openxmlformats.org/officeDocument/2006/relationships/slide" Target="slide28.xml"/><Relationship Id="rId9"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28.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 Target="slide2.xml"/><Relationship Id="rId7"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slide" Target="slide31.xml"/><Relationship Id="rId4" Type="http://schemas.openxmlformats.org/officeDocument/2006/relationships/slide" Target="slide28.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9.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9.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9.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9.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43.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slide" Target="slide28.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28.xml"/></Relationships>
</file>

<file path=ppt/slides/_rels/slide45.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slide" Target="slide28.xml"/><Relationship Id="rId4" Type="http://schemas.openxmlformats.org/officeDocument/2006/relationships/slide" Target="slide2.xml"/></Relationships>
</file>

<file path=ppt/slides/_rels/slide4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0.png"/><Relationship Id="rId3" Type="http://schemas.openxmlformats.org/officeDocument/2006/relationships/slide" Target="slide2.xml"/><Relationship Id="rId7" Type="http://schemas.openxmlformats.org/officeDocument/2006/relationships/image" Target="../media/image55.png"/><Relationship Id="rId12"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slide" Target="slide39.xml"/><Relationship Id="rId10" Type="http://schemas.openxmlformats.org/officeDocument/2006/relationships/image" Target="../media/image57.png"/><Relationship Id="rId4" Type="http://schemas.openxmlformats.org/officeDocument/2006/relationships/slide" Target="slide28.xml"/><Relationship Id="rId9" Type="http://schemas.openxmlformats.org/officeDocument/2006/relationships/image" Target="../media/image3.png"/><Relationship Id="rId14" Type="http://schemas.openxmlformats.org/officeDocument/2006/relationships/slide" Target="slide46.xml"/></Relationships>
</file>

<file path=ppt/slides/_rels/slide47.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2.xml"/><Relationship Id="rId7"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39.xml"/><Relationship Id="rId4" Type="http://schemas.openxmlformats.org/officeDocument/2006/relationships/slide" Target="slide28.xml"/></Relationships>
</file>

<file path=ppt/slides/_rels/slide48.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slide" Target="slide39.xml"/><Relationship Id="rId5" Type="http://schemas.openxmlformats.org/officeDocument/2006/relationships/slide" Target="slide28.xml"/><Relationship Id="rId4" Type="http://schemas.openxmlformats.org/officeDocument/2006/relationships/slide" Target="slide2.xml"/></Relationships>
</file>

<file path=ppt/slides/_rels/slide4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6.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28.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6.xml"/><Relationship Id="rId1" Type="http://schemas.openxmlformats.org/officeDocument/2006/relationships/slideLayout" Target="../slideLayouts/slideLayout5.xml"/><Relationship Id="rId5" Type="http://schemas.openxmlformats.org/officeDocument/2006/relationships/slide" Target="slide39.xml"/><Relationship Id="rId4" Type="http://schemas.openxmlformats.org/officeDocument/2006/relationships/slide" Target="slide28.xml"/></Relationships>
</file>

<file path=ppt/slides/_rels/slide51.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slide" Target="slide39.xml"/><Relationship Id="rId5" Type="http://schemas.openxmlformats.org/officeDocument/2006/relationships/slide" Target="slide28.xml"/><Relationship Id="rId4" Type="http://schemas.openxmlformats.org/officeDocument/2006/relationships/slide" Target="slide2.xml"/></Relationships>
</file>

<file path=ppt/slides/_rels/slide5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slide" Target="slide2.xml"/><Relationship Id="rId7"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slide" Target="slide46.xml"/><Relationship Id="rId5" Type="http://schemas.openxmlformats.org/officeDocument/2006/relationships/slide" Target="slide39.xml"/><Relationship Id="rId10" Type="http://schemas.openxmlformats.org/officeDocument/2006/relationships/image" Target="../media/image65.png"/><Relationship Id="rId4" Type="http://schemas.openxmlformats.org/officeDocument/2006/relationships/slide" Target="slide28.xml"/><Relationship Id="rId9" Type="http://schemas.openxmlformats.org/officeDocument/2006/relationships/image" Target="../media/image64.png"/></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slide" Target="slide53.xml"/><Relationship Id="rId4" Type="http://schemas.openxmlformats.org/officeDocument/2006/relationships/slide" Target="slide28.xml"/></Relationships>
</file>

<file path=ppt/slides/_rels/slide54.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slide" Target="slide54.xml"/></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slide" Target="slide56.xml"/><Relationship Id="rId4" Type="http://schemas.openxmlformats.org/officeDocument/2006/relationships/slide" Target="slide54.xml"/></Relationships>
</file>

<file path=ppt/slides/_rels/slide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56.xml"/><Relationship Id="rId4" Type="http://schemas.openxmlformats.org/officeDocument/2006/relationships/slide" Target="slide54.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slide" Target="slide56.xml"/><Relationship Id="rId4" Type="http://schemas.openxmlformats.org/officeDocument/2006/relationships/slide" Target="slide54.xml"/></Relationships>
</file>

<file path=ppt/slides/_rels/slide59.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slide" Target="slide54.xml"/><Relationship Id="rId4" Type="http://schemas.openxmlformats.org/officeDocument/2006/relationships/slide" Target="slide2.xml"/></Relationships>
</file>

<file path=ppt/slides/_rels/slide60.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slide" Target="slide54.xml"/><Relationship Id="rId4" Type="http://schemas.openxmlformats.org/officeDocument/2006/relationships/slide" Target="slide2.xml"/></Relationships>
</file>

<file path=ppt/slides/_rels/slide61.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slide" Target="slide2.xml"/><Relationship Id="rId7" Type="http://schemas.openxmlformats.org/officeDocument/2006/relationships/image" Target="../media/image67.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slide" Target="slide59.xml"/><Relationship Id="rId4" Type="http://schemas.openxmlformats.org/officeDocument/2006/relationships/slide" Target="slide54.xml"/><Relationship Id="rId9" Type="http://schemas.openxmlformats.org/officeDocument/2006/relationships/slide" Target="slide61.xml"/></Relationships>
</file>

<file path=ppt/slides/_rels/slide62.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notesSlide" Target="../notesSlides/notesSlide47.xml"/><Relationship Id="rId1" Type="http://schemas.openxmlformats.org/officeDocument/2006/relationships/slideLayout" Target="../slideLayouts/slideLayout5.xml"/><Relationship Id="rId6" Type="http://schemas.openxmlformats.org/officeDocument/2006/relationships/slide" Target="slide59.xml"/><Relationship Id="rId5" Type="http://schemas.openxmlformats.org/officeDocument/2006/relationships/slide" Target="slide54.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470152" y="2243770"/>
            <a:ext cx="1668145" cy="521334"/>
          </a:xfrm>
          <a:prstGeom prst="rect">
            <a:avLst/>
          </a:prstGeom>
        </p:spPr>
        <p:txBody>
          <a:bodyPr vert="horz" wrap="square" lIns="0" tIns="17145" rIns="0" bIns="0" rtlCol="0">
            <a:spAutoFit/>
          </a:bodyPr>
          <a:lstStyle/>
          <a:p>
            <a:pPr marL="12700">
              <a:lnSpc>
                <a:spcPct val="100000"/>
              </a:lnSpc>
              <a:spcBef>
                <a:spcPts val="135"/>
              </a:spcBef>
            </a:pPr>
            <a:r>
              <a:rPr sz="1400" spc="15" dirty="0">
                <a:latin typeface="Arial"/>
                <a:cs typeface="Arial"/>
              </a:rPr>
              <a:t>Chapter</a:t>
            </a:r>
            <a:r>
              <a:rPr sz="1400" spc="-20" dirty="0">
                <a:latin typeface="Arial"/>
                <a:cs typeface="Arial"/>
              </a:rPr>
              <a:t> </a:t>
            </a:r>
            <a:r>
              <a:rPr sz="1400" spc="15" dirty="0">
                <a:latin typeface="Arial"/>
                <a:cs typeface="Arial"/>
              </a:rPr>
              <a:t>05:</a:t>
            </a:r>
            <a:r>
              <a:rPr sz="1400" spc="75" dirty="0">
                <a:latin typeface="Arial"/>
                <a:cs typeface="Arial"/>
              </a:rPr>
              <a:t> </a:t>
            </a:r>
            <a:r>
              <a:rPr sz="1400" spc="15" dirty="0">
                <a:latin typeface="Arial"/>
                <a:cs typeface="Arial"/>
              </a:rPr>
              <a:t>Naming</a:t>
            </a:r>
            <a:endParaRPr sz="1400">
              <a:latin typeface="Arial"/>
              <a:cs typeface="Arial"/>
            </a:endParaRPr>
          </a:p>
          <a:p>
            <a:pPr marL="80010">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2</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14935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Names,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identifiers,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addresses</a:t>
            </a:r>
            <a:endParaRPr sz="600">
              <a:latin typeface="Arial"/>
              <a:cs typeface="Arial"/>
            </a:endParaRPr>
          </a:p>
        </p:txBody>
      </p:sp>
      <p:sp>
        <p:nvSpPr>
          <p:cNvPr id="3" name="object 3"/>
          <p:cNvSpPr txBox="1">
            <a:spLocks noGrp="1"/>
          </p:cNvSpPr>
          <p:nvPr>
            <p:ph type="title"/>
          </p:nvPr>
        </p:nvSpPr>
        <p:spPr>
          <a:xfrm>
            <a:off x="95300" y="188846"/>
            <a:ext cx="653415" cy="244475"/>
          </a:xfrm>
          <a:prstGeom prst="rect">
            <a:avLst/>
          </a:prstGeom>
        </p:spPr>
        <p:txBody>
          <a:bodyPr vert="horz" wrap="square" lIns="0" tIns="17145" rIns="0" bIns="0" rtlCol="0">
            <a:spAutoFit/>
          </a:bodyPr>
          <a:lstStyle/>
          <a:p>
            <a:pPr marL="12700">
              <a:lnSpc>
                <a:spcPct val="100000"/>
              </a:lnSpc>
              <a:spcBef>
                <a:spcPts val="135"/>
              </a:spcBef>
            </a:pPr>
            <a:r>
              <a:rPr spc="15" dirty="0"/>
              <a:t>Naming</a:t>
            </a:r>
          </a:p>
        </p:txBody>
      </p:sp>
      <p:sp>
        <p:nvSpPr>
          <p:cNvPr id="4" name="object 4"/>
          <p:cNvSpPr txBox="1"/>
          <p:nvPr/>
        </p:nvSpPr>
        <p:spPr>
          <a:xfrm>
            <a:off x="343128" y="1082659"/>
            <a:ext cx="3917315" cy="122491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16510" marR="5080">
              <a:lnSpc>
                <a:spcPts val="1200"/>
              </a:lnSpc>
              <a:spcBef>
                <a:spcPts val="10"/>
              </a:spcBef>
            </a:pPr>
            <a:r>
              <a:rPr sz="1000" spc="-5" dirty="0">
                <a:latin typeface="Arial"/>
                <a:cs typeface="Arial"/>
              </a:rPr>
              <a:t>Names are used to denote entities in a distributed</a:t>
            </a:r>
            <a:r>
              <a:rPr sz="1000" dirty="0">
                <a:latin typeface="Arial"/>
                <a:cs typeface="Arial"/>
              </a:rPr>
              <a:t> </a:t>
            </a:r>
            <a:r>
              <a:rPr sz="1000" spc="-5" dirty="0">
                <a:latin typeface="Arial"/>
                <a:cs typeface="Arial"/>
              </a:rPr>
              <a:t>system.</a:t>
            </a:r>
            <a:r>
              <a:rPr sz="1000" spc="60" dirty="0">
                <a:latin typeface="Arial"/>
                <a:cs typeface="Arial"/>
              </a:rPr>
              <a:t> </a:t>
            </a:r>
            <a:r>
              <a:rPr sz="1000" spc="-65" dirty="0">
                <a:latin typeface="Arial"/>
                <a:cs typeface="Arial"/>
              </a:rPr>
              <a:t>To</a:t>
            </a:r>
            <a:r>
              <a:rPr sz="1000" spc="-5" dirty="0">
                <a:latin typeface="Arial"/>
                <a:cs typeface="Arial"/>
              </a:rPr>
              <a:t> operate </a:t>
            </a:r>
            <a:r>
              <a:rPr sz="1000" spc="-265" dirty="0">
                <a:latin typeface="Arial"/>
                <a:cs typeface="Arial"/>
              </a:rPr>
              <a:t> </a:t>
            </a:r>
            <a:r>
              <a:rPr sz="1000" spc="-5" dirty="0">
                <a:latin typeface="Arial"/>
                <a:cs typeface="Arial"/>
              </a:rPr>
              <a:t>on an</a:t>
            </a:r>
            <a:r>
              <a:rPr sz="1000" dirty="0">
                <a:latin typeface="Arial"/>
                <a:cs typeface="Arial"/>
              </a:rPr>
              <a:t> </a:t>
            </a:r>
            <a:r>
              <a:rPr sz="1000" spc="-20" dirty="0">
                <a:latin typeface="Arial"/>
                <a:cs typeface="Arial"/>
              </a:rPr>
              <a:t>entity,</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an</a:t>
            </a:r>
            <a:r>
              <a:rPr sz="1000" dirty="0">
                <a:latin typeface="Arial"/>
                <a:cs typeface="Arial"/>
              </a:rPr>
              <a:t> </a:t>
            </a:r>
            <a:r>
              <a:rPr sz="1000" spc="-5" dirty="0">
                <a:solidFill>
                  <a:srgbClr val="FA0000"/>
                </a:solidFill>
                <a:latin typeface="Arial"/>
                <a:cs typeface="Arial"/>
              </a:rPr>
              <a:t>access</a:t>
            </a:r>
            <a:r>
              <a:rPr sz="1000" dirty="0">
                <a:solidFill>
                  <a:srgbClr val="FA0000"/>
                </a:solidFill>
                <a:latin typeface="Arial"/>
                <a:cs typeface="Arial"/>
              </a:rPr>
              <a:t> </a:t>
            </a:r>
            <a:r>
              <a:rPr sz="1000" spc="-5" dirty="0">
                <a:solidFill>
                  <a:srgbClr val="FA0000"/>
                </a:solidFill>
                <a:latin typeface="Arial"/>
                <a:cs typeface="Arial"/>
              </a:rPr>
              <a:t>point</a:t>
            </a:r>
            <a:r>
              <a:rPr sz="1000" spc="-5" dirty="0">
                <a:latin typeface="Arial"/>
                <a:cs typeface="Arial"/>
              </a:rPr>
              <a:t>.</a:t>
            </a:r>
            <a:r>
              <a:rPr sz="1000" spc="65" dirty="0">
                <a:latin typeface="Arial"/>
                <a:cs typeface="Arial"/>
              </a:rPr>
              <a:t> </a:t>
            </a:r>
            <a:r>
              <a:rPr sz="1000" spc="-5" dirty="0">
                <a:latin typeface="Arial"/>
                <a:cs typeface="Arial"/>
              </a:rPr>
              <a:t>Access</a:t>
            </a:r>
            <a:r>
              <a:rPr sz="1000" dirty="0">
                <a:latin typeface="Arial"/>
                <a:cs typeface="Arial"/>
              </a:rPr>
              <a:t> </a:t>
            </a:r>
            <a:r>
              <a:rPr sz="1000" spc="-5" dirty="0">
                <a:latin typeface="Arial"/>
                <a:cs typeface="Arial"/>
              </a:rPr>
              <a:t>points </a:t>
            </a:r>
            <a:r>
              <a:rPr sz="1000" dirty="0">
                <a:latin typeface="Arial"/>
                <a:cs typeface="Arial"/>
              </a:rPr>
              <a:t> </a:t>
            </a:r>
            <a:r>
              <a:rPr sz="1000" spc="-5" dirty="0">
                <a:latin typeface="Arial"/>
                <a:cs typeface="Arial"/>
              </a:rPr>
              <a:t>are entities that are named </a:t>
            </a:r>
            <a:r>
              <a:rPr sz="1000" spc="-15" dirty="0">
                <a:latin typeface="Arial"/>
                <a:cs typeface="Arial"/>
              </a:rPr>
              <a:t>by</a:t>
            </a:r>
            <a:r>
              <a:rPr sz="1000" spc="-5" dirty="0">
                <a:latin typeface="Arial"/>
                <a:cs typeface="Arial"/>
              </a:rPr>
              <a:t> means</a:t>
            </a:r>
            <a:r>
              <a:rPr sz="1000" dirty="0">
                <a:latin typeface="Arial"/>
                <a:cs typeface="Arial"/>
              </a:rPr>
              <a:t> </a:t>
            </a:r>
            <a:r>
              <a:rPr sz="1000" spc="-5" dirty="0">
                <a:latin typeface="Arial"/>
                <a:cs typeface="Arial"/>
              </a:rPr>
              <a:t>of an </a:t>
            </a:r>
            <a:r>
              <a:rPr sz="1000" spc="-5" dirty="0">
                <a:solidFill>
                  <a:srgbClr val="FA0000"/>
                </a:solidFill>
                <a:latin typeface="Arial"/>
                <a:cs typeface="Arial"/>
              </a:rPr>
              <a:t>address</a:t>
            </a:r>
            <a:r>
              <a:rPr sz="1000" spc="-5" dirty="0">
                <a:latin typeface="Arial"/>
                <a:cs typeface="Arial"/>
              </a:rPr>
              <a:t>.</a:t>
            </a:r>
            <a:endParaRPr sz="1000" dirty="0">
              <a:latin typeface="Arial"/>
              <a:cs typeface="Arial"/>
            </a:endParaRPr>
          </a:p>
          <a:p>
            <a:pPr marL="16510">
              <a:lnSpc>
                <a:spcPts val="1410"/>
              </a:lnSpc>
              <a:spcBef>
                <a:spcPts val="645"/>
              </a:spcBef>
            </a:pPr>
            <a:r>
              <a:rPr sz="1200" spc="-5" dirty="0">
                <a:solidFill>
                  <a:srgbClr val="FA0000"/>
                </a:solidFill>
                <a:latin typeface="Arial"/>
                <a:cs typeface="Arial"/>
              </a:rPr>
              <a:t>Note</a:t>
            </a:r>
            <a:endParaRPr sz="1200" dirty="0">
              <a:latin typeface="Arial"/>
              <a:cs typeface="Arial"/>
            </a:endParaRPr>
          </a:p>
          <a:p>
            <a:pPr marL="16510" marR="33655" indent="-4445">
              <a:lnSpc>
                <a:spcPts val="1200"/>
              </a:lnSpc>
              <a:spcBef>
                <a:spcPts val="10"/>
              </a:spcBef>
            </a:pPr>
            <a:r>
              <a:rPr sz="1000" spc="-5" dirty="0">
                <a:latin typeface="Arial"/>
                <a:cs typeface="Arial"/>
              </a:rPr>
              <a:t>A</a:t>
            </a:r>
            <a:r>
              <a:rPr sz="1000" dirty="0">
                <a:latin typeface="Arial"/>
                <a:cs typeface="Arial"/>
              </a:rPr>
              <a:t> </a:t>
            </a:r>
            <a:r>
              <a:rPr sz="1000" spc="-5" dirty="0">
                <a:solidFill>
                  <a:srgbClr val="0000FA"/>
                </a:solidFill>
                <a:latin typeface="Arial"/>
                <a:cs typeface="Arial"/>
              </a:rPr>
              <a:t>location-independent</a:t>
            </a:r>
            <a:r>
              <a:rPr sz="1000" spc="5" dirty="0">
                <a:solidFill>
                  <a:srgbClr val="0000FA"/>
                </a:solidFill>
                <a:latin typeface="Arial"/>
                <a:cs typeface="Arial"/>
              </a:rPr>
              <a:t> </a:t>
            </a:r>
            <a:r>
              <a:rPr sz="1000" spc="-5" dirty="0">
                <a:latin typeface="Arial"/>
                <a:cs typeface="Arial"/>
              </a:rPr>
              <a:t>name</a:t>
            </a:r>
            <a:r>
              <a:rPr sz="1000"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entity</a:t>
            </a:r>
            <a:r>
              <a:rPr sz="1000" spc="5" dirty="0">
                <a:latin typeface="Arial"/>
                <a:cs typeface="Arial"/>
              </a:rPr>
              <a:t> </a:t>
            </a:r>
            <a:r>
              <a:rPr sz="1000" i="1" spc="-5" dirty="0">
                <a:latin typeface="Arial"/>
                <a:cs typeface="Arial"/>
              </a:rPr>
              <a:t>E</a:t>
            </a:r>
            <a:r>
              <a:rPr sz="1000" i="1" spc="-185" dirty="0">
                <a:latin typeface="Arial"/>
                <a:cs typeface="Arial"/>
              </a:rPr>
              <a:t> </a:t>
            </a:r>
            <a:r>
              <a:rPr sz="1000" spc="-5" dirty="0">
                <a:latin typeface="Arial"/>
                <a:cs typeface="Arial"/>
              </a:rPr>
              <a:t>,</a:t>
            </a:r>
            <a:r>
              <a:rPr sz="1000" spc="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independent</a:t>
            </a:r>
            <a:r>
              <a:rPr sz="1000" spc="5" dirty="0">
                <a:latin typeface="Arial"/>
                <a:cs typeface="Arial"/>
              </a:rPr>
              <a:t> </a:t>
            </a:r>
            <a:r>
              <a:rPr sz="1000" spc="-5" dirty="0">
                <a:latin typeface="Arial"/>
                <a:cs typeface="Arial"/>
              </a:rPr>
              <a:t>from</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addresses of the access points </a:t>
            </a:r>
            <a:r>
              <a:rPr sz="1000" spc="-10" dirty="0">
                <a:latin typeface="Arial"/>
                <a:cs typeface="Arial"/>
              </a:rPr>
              <a:t>offered</a:t>
            </a:r>
            <a:r>
              <a:rPr sz="1000" spc="-5" dirty="0">
                <a:latin typeface="Arial"/>
                <a:cs typeface="Arial"/>
              </a:rPr>
              <a:t> </a:t>
            </a:r>
            <a:r>
              <a:rPr sz="1000" spc="-15" dirty="0">
                <a:latin typeface="Arial"/>
                <a:cs typeface="Arial"/>
              </a:rPr>
              <a:t>by</a:t>
            </a:r>
            <a:r>
              <a:rPr sz="1000" spc="-5" dirty="0">
                <a:latin typeface="Arial"/>
                <a:cs typeface="Arial"/>
              </a:rPr>
              <a:t> </a:t>
            </a:r>
            <a:r>
              <a:rPr sz="1000" i="1" spc="-5" dirty="0">
                <a:latin typeface="Arial"/>
                <a:cs typeface="Arial"/>
              </a:rPr>
              <a:t>E</a:t>
            </a:r>
            <a:r>
              <a:rPr sz="1000" i="1" spc="-185" dirty="0">
                <a:latin typeface="Arial"/>
                <a:cs typeface="Arial"/>
              </a:rPr>
              <a:t> </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3</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14935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Names,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identifiers,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addresses</a:t>
            </a:r>
            <a:endParaRPr sz="600">
              <a:latin typeface="Arial"/>
              <a:cs typeface="Arial"/>
            </a:endParaRPr>
          </a:p>
        </p:txBody>
      </p:sp>
      <p:sp>
        <p:nvSpPr>
          <p:cNvPr id="3" name="object 3"/>
          <p:cNvSpPr txBox="1">
            <a:spLocks noGrp="1"/>
          </p:cNvSpPr>
          <p:nvPr>
            <p:ph type="title"/>
          </p:nvPr>
        </p:nvSpPr>
        <p:spPr>
          <a:xfrm>
            <a:off x="95300" y="188846"/>
            <a:ext cx="815340" cy="244475"/>
          </a:xfrm>
          <a:prstGeom prst="rect">
            <a:avLst/>
          </a:prstGeom>
        </p:spPr>
        <p:txBody>
          <a:bodyPr vert="horz" wrap="square" lIns="0" tIns="17145" rIns="0" bIns="0" rtlCol="0">
            <a:spAutoFit/>
          </a:bodyPr>
          <a:lstStyle/>
          <a:p>
            <a:pPr marL="12700">
              <a:lnSpc>
                <a:spcPct val="100000"/>
              </a:lnSpc>
              <a:spcBef>
                <a:spcPts val="135"/>
              </a:spcBef>
            </a:pPr>
            <a:r>
              <a:rPr spc="10" dirty="0"/>
              <a:t>Identifiers</a:t>
            </a:r>
          </a:p>
        </p:txBody>
      </p:sp>
      <p:sp>
        <p:nvSpPr>
          <p:cNvPr id="4" name="object 4"/>
          <p:cNvSpPr txBox="1"/>
          <p:nvPr/>
        </p:nvSpPr>
        <p:spPr>
          <a:xfrm>
            <a:off x="343128" y="720938"/>
            <a:ext cx="3755390" cy="215392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Pure</a:t>
            </a:r>
            <a:r>
              <a:rPr sz="1200" spc="-45" dirty="0">
                <a:solidFill>
                  <a:srgbClr val="3333B2"/>
                </a:solidFill>
                <a:latin typeface="Arial"/>
                <a:cs typeface="Arial"/>
              </a:rPr>
              <a:t> </a:t>
            </a:r>
            <a:r>
              <a:rPr sz="1200" spc="-5" dirty="0">
                <a:solidFill>
                  <a:srgbClr val="3333B2"/>
                </a:solidFill>
                <a:latin typeface="Arial"/>
                <a:cs typeface="Arial"/>
              </a:rPr>
              <a:t>name</a:t>
            </a:r>
            <a:endParaRPr sz="1200" dirty="0">
              <a:latin typeface="Arial"/>
              <a:cs typeface="Arial"/>
            </a:endParaRPr>
          </a:p>
          <a:p>
            <a:pPr marL="16510" marR="61594" indent="-4445">
              <a:lnSpc>
                <a:spcPts val="1200"/>
              </a:lnSpc>
              <a:spcBef>
                <a:spcPts val="10"/>
              </a:spcBef>
            </a:pPr>
            <a:r>
              <a:rPr sz="1000" spc="-5" dirty="0">
                <a:latin typeface="Arial"/>
                <a:cs typeface="Arial"/>
              </a:rPr>
              <a:t>A name that</a:t>
            </a:r>
            <a:r>
              <a:rPr sz="1000" dirty="0">
                <a:latin typeface="Arial"/>
                <a:cs typeface="Arial"/>
              </a:rPr>
              <a:t> </a:t>
            </a:r>
            <a:r>
              <a:rPr sz="1000" spc="-5" dirty="0">
                <a:latin typeface="Arial"/>
                <a:cs typeface="Arial"/>
              </a:rPr>
              <a:t>has no</a:t>
            </a:r>
            <a:r>
              <a:rPr sz="1000" dirty="0">
                <a:latin typeface="Arial"/>
                <a:cs typeface="Arial"/>
              </a:rPr>
              <a:t> </a:t>
            </a:r>
            <a:r>
              <a:rPr sz="1000" spc="-5" dirty="0">
                <a:latin typeface="Arial"/>
                <a:cs typeface="Arial"/>
              </a:rPr>
              <a:t>meaning at</a:t>
            </a:r>
            <a:r>
              <a:rPr sz="1000" dirty="0">
                <a:latin typeface="Arial"/>
                <a:cs typeface="Arial"/>
              </a:rPr>
              <a:t> </a:t>
            </a:r>
            <a:r>
              <a:rPr sz="1000" spc="-5" dirty="0">
                <a:latin typeface="Arial"/>
                <a:cs typeface="Arial"/>
              </a:rPr>
              <a:t>all; it</a:t>
            </a:r>
            <a:r>
              <a:rPr sz="1000" dirty="0">
                <a:latin typeface="Arial"/>
                <a:cs typeface="Arial"/>
              </a:rPr>
              <a:t> </a:t>
            </a:r>
            <a:r>
              <a:rPr sz="1000" spc="-5" dirty="0">
                <a:latin typeface="Arial"/>
                <a:cs typeface="Arial"/>
              </a:rPr>
              <a:t>is just a</a:t>
            </a:r>
            <a:r>
              <a:rPr sz="1000" dirty="0">
                <a:latin typeface="Arial"/>
                <a:cs typeface="Arial"/>
              </a:rPr>
              <a:t> </a:t>
            </a:r>
            <a:r>
              <a:rPr sz="1000" spc="-5" dirty="0">
                <a:latin typeface="Arial"/>
                <a:cs typeface="Arial"/>
              </a:rPr>
              <a:t>random </a:t>
            </a:r>
            <a:r>
              <a:rPr sz="1000" dirty="0">
                <a:latin typeface="Arial"/>
                <a:cs typeface="Arial"/>
              </a:rPr>
              <a:t>string.</a:t>
            </a:r>
            <a:r>
              <a:rPr sz="1000" spc="65" dirty="0">
                <a:latin typeface="Arial"/>
                <a:cs typeface="Arial"/>
              </a:rPr>
              <a:t> </a:t>
            </a:r>
            <a:r>
              <a:rPr sz="1000" spc="-5" dirty="0">
                <a:latin typeface="Arial"/>
                <a:cs typeface="Arial"/>
              </a:rPr>
              <a:t>Pure </a:t>
            </a:r>
            <a:r>
              <a:rPr sz="1000" spc="-265" dirty="0">
                <a:latin typeface="Arial"/>
                <a:cs typeface="Arial"/>
              </a:rPr>
              <a:t> </a:t>
            </a:r>
            <a:r>
              <a:rPr sz="1000" spc="-5" dirty="0">
                <a:latin typeface="Arial"/>
                <a:cs typeface="Arial"/>
              </a:rPr>
              <a:t>names can be used </a:t>
            </a:r>
            <a:r>
              <a:rPr sz="1000" spc="-15" dirty="0">
                <a:latin typeface="Arial"/>
                <a:cs typeface="Arial"/>
              </a:rPr>
              <a:t>for</a:t>
            </a:r>
            <a:r>
              <a:rPr sz="1000" spc="-5" dirty="0">
                <a:latin typeface="Arial"/>
                <a:cs typeface="Arial"/>
              </a:rPr>
              <a:t> comparison </a:t>
            </a:r>
            <a:r>
              <a:rPr sz="1000" spc="-25" dirty="0">
                <a:latin typeface="Arial"/>
                <a:cs typeface="Arial"/>
              </a:rPr>
              <a:t>only.</a:t>
            </a:r>
            <a:endParaRPr sz="1000" dirty="0">
              <a:latin typeface="Arial"/>
              <a:cs typeface="Arial"/>
            </a:endParaRPr>
          </a:p>
          <a:p>
            <a:pPr marL="16510">
              <a:lnSpc>
                <a:spcPct val="100000"/>
              </a:lnSpc>
              <a:spcBef>
                <a:spcPts val="650"/>
              </a:spcBef>
            </a:pPr>
            <a:r>
              <a:rPr sz="1200" dirty="0">
                <a:solidFill>
                  <a:srgbClr val="3333B2"/>
                </a:solidFill>
                <a:latin typeface="Arial"/>
                <a:cs typeface="Arial"/>
              </a:rPr>
              <a:t>Identifier:</a:t>
            </a:r>
            <a:r>
              <a:rPr sz="1200" spc="75" dirty="0">
                <a:solidFill>
                  <a:srgbClr val="3333B2"/>
                </a:solidFill>
                <a:latin typeface="Arial"/>
                <a:cs typeface="Arial"/>
              </a:rPr>
              <a:t> </a:t>
            </a:r>
            <a:r>
              <a:rPr sz="1200" spc="-5" dirty="0">
                <a:solidFill>
                  <a:srgbClr val="3333B2"/>
                </a:solidFill>
                <a:latin typeface="Arial"/>
                <a:cs typeface="Arial"/>
              </a:rPr>
              <a:t>A name </a:t>
            </a:r>
            <a:r>
              <a:rPr sz="1200" spc="-10" dirty="0">
                <a:solidFill>
                  <a:srgbClr val="3333B2"/>
                </a:solidFill>
                <a:latin typeface="Arial"/>
                <a:cs typeface="Arial"/>
              </a:rPr>
              <a:t>having</a:t>
            </a:r>
            <a:r>
              <a:rPr sz="1200" spc="-5" dirty="0">
                <a:solidFill>
                  <a:srgbClr val="3333B2"/>
                </a:solidFill>
                <a:latin typeface="Arial"/>
                <a:cs typeface="Arial"/>
              </a:rPr>
              <a:t> some specific </a:t>
            </a:r>
            <a:r>
              <a:rPr sz="1200" dirty="0">
                <a:solidFill>
                  <a:srgbClr val="3333B2"/>
                </a:solidFill>
                <a:latin typeface="Arial"/>
                <a:cs typeface="Arial"/>
              </a:rPr>
              <a:t>properties</a:t>
            </a:r>
            <a:endParaRPr sz="1200" dirty="0">
              <a:latin typeface="Arial"/>
              <a:cs typeface="Arial"/>
            </a:endParaRPr>
          </a:p>
          <a:p>
            <a:pPr marL="294005" indent="-175895">
              <a:lnSpc>
                <a:spcPts val="1200"/>
              </a:lnSpc>
              <a:spcBef>
                <a:spcPts val="790"/>
              </a:spcBef>
              <a:buClr>
                <a:srgbClr val="3333B2"/>
              </a:buClr>
              <a:buAutoNum type="arabicPeriod"/>
              <a:tabLst>
                <a:tab pos="294640" algn="l"/>
              </a:tabLst>
            </a:pPr>
            <a:r>
              <a:rPr sz="1000" spc="-5" dirty="0">
                <a:latin typeface="Arial"/>
                <a:cs typeface="Arial"/>
              </a:rPr>
              <a:t>An identifier </a:t>
            </a:r>
            <a:r>
              <a:rPr sz="1000" spc="-10" dirty="0">
                <a:latin typeface="Arial"/>
                <a:cs typeface="Arial"/>
              </a:rPr>
              <a:t>refers</a:t>
            </a:r>
            <a:r>
              <a:rPr sz="1000" dirty="0">
                <a:latin typeface="Arial"/>
                <a:cs typeface="Arial"/>
              </a:rPr>
              <a:t> </a:t>
            </a:r>
            <a:r>
              <a:rPr sz="1000" spc="-5" dirty="0">
                <a:latin typeface="Arial"/>
                <a:cs typeface="Arial"/>
              </a:rPr>
              <a:t>to at</a:t>
            </a:r>
            <a:r>
              <a:rPr sz="1000" dirty="0">
                <a:latin typeface="Arial"/>
                <a:cs typeface="Arial"/>
              </a:rPr>
              <a:t> </a:t>
            </a:r>
            <a:r>
              <a:rPr sz="1000" spc="-5" dirty="0">
                <a:latin typeface="Arial"/>
                <a:cs typeface="Arial"/>
              </a:rPr>
              <a:t>most one</a:t>
            </a:r>
            <a:r>
              <a:rPr sz="1000" dirty="0">
                <a:latin typeface="Arial"/>
                <a:cs typeface="Arial"/>
              </a:rPr>
              <a:t> </a:t>
            </a:r>
            <a:r>
              <a:rPr sz="1000" spc="-20" dirty="0">
                <a:latin typeface="Arial"/>
                <a:cs typeface="Arial"/>
              </a:rPr>
              <a:t>entity.</a:t>
            </a:r>
            <a:endParaRPr sz="1000" dirty="0">
              <a:latin typeface="Arial"/>
              <a:cs typeface="Arial"/>
            </a:endParaRPr>
          </a:p>
          <a:p>
            <a:pPr marL="294005" indent="-175895">
              <a:lnSpc>
                <a:spcPts val="1195"/>
              </a:lnSpc>
              <a:buClr>
                <a:srgbClr val="3333B2"/>
              </a:buClr>
              <a:buAutoNum type="arabicPeriod"/>
              <a:tabLst>
                <a:tab pos="294640" algn="l"/>
              </a:tabLst>
            </a:pPr>
            <a:r>
              <a:rPr sz="1000" spc="-5" dirty="0">
                <a:latin typeface="Arial"/>
                <a:cs typeface="Arial"/>
              </a:rPr>
              <a:t>Each</a:t>
            </a:r>
            <a:r>
              <a:rPr sz="1000" dirty="0">
                <a:latin typeface="Arial"/>
                <a:cs typeface="Arial"/>
              </a:rPr>
              <a:t> </a:t>
            </a:r>
            <a:r>
              <a:rPr sz="1000" spc="-5" dirty="0">
                <a:latin typeface="Arial"/>
                <a:cs typeface="Arial"/>
              </a:rPr>
              <a:t>entity</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referred</a:t>
            </a:r>
            <a:r>
              <a:rPr sz="1000" dirty="0">
                <a:latin typeface="Arial"/>
                <a:cs typeface="Arial"/>
              </a:rPr>
              <a:t> </a:t>
            </a:r>
            <a:r>
              <a:rPr sz="1000" spc="-5" dirty="0">
                <a:latin typeface="Arial"/>
                <a:cs typeface="Arial"/>
              </a:rPr>
              <a:t>to</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most</a:t>
            </a:r>
            <a:r>
              <a:rPr sz="1000" dirty="0">
                <a:latin typeface="Arial"/>
                <a:cs typeface="Arial"/>
              </a:rPr>
              <a:t> </a:t>
            </a:r>
            <a:r>
              <a:rPr sz="1000" spc="-5" dirty="0">
                <a:latin typeface="Arial"/>
                <a:cs typeface="Arial"/>
              </a:rPr>
              <a:t>one</a:t>
            </a:r>
            <a:r>
              <a:rPr sz="1000" dirty="0">
                <a:latin typeface="Arial"/>
                <a:cs typeface="Arial"/>
              </a:rPr>
              <a:t> </a:t>
            </a:r>
            <a:r>
              <a:rPr sz="1000" spc="-10" dirty="0">
                <a:latin typeface="Arial"/>
                <a:cs typeface="Arial"/>
              </a:rPr>
              <a:t>identifier.</a:t>
            </a:r>
            <a:endParaRPr sz="1000" dirty="0">
              <a:latin typeface="Arial"/>
              <a:cs typeface="Arial"/>
            </a:endParaRPr>
          </a:p>
          <a:p>
            <a:pPr marL="293370" marR="131445" indent="-175260">
              <a:lnSpc>
                <a:spcPts val="1200"/>
              </a:lnSpc>
              <a:spcBef>
                <a:spcPts val="35"/>
              </a:spcBef>
              <a:buClr>
                <a:srgbClr val="3333B2"/>
              </a:buClr>
              <a:buAutoNum type="arabicPeriod"/>
              <a:tabLst>
                <a:tab pos="294640" algn="l"/>
              </a:tabLst>
            </a:pPr>
            <a:r>
              <a:rPr sz="1000" spc="-5" dirty="0">
                <a:latin typeface="Arial"/>
                <a:cs typeface="Arial"/>
              </a:rPr>
              <a:t>An identifier</a:t>
            </a:r>
            <a:r>
              <a:rPr sz="1000" dirty="0">
                <a:latin typeface="Arial"/>
                <a:cs typeface="Arial"/>
              </a:rPr>
              <a:t> </a:t>
            </a:r>
            <a:r>
              <a:rPr sz="1000" spc="-10" dirty="0">
                <a:latin typeface="Arial"/>
                <a:cs typeface="Arial"/>
              </a:rPr>
              <a:t>always</a:t>
            </a:r>
            <a:r>
              <a:rPr sz="1000" dirty="0">
                <a:latin typeface="Arial"/>
                <a:cs typeface="Arial"/>
              </a:rPr>
              <a:t> </a:t>
            </a:r>
            <a:r>
              <a:rPr sz="1000" spc="-10" dirty="0">
                <a:latin typeface="Arial"/>
                <a:cs typeface="Arial"/>
              </a:rPr>
              <a:t>refers</a:t>
            </a:r>
            <a:r>
              <a:rPr sz="1000" spc="-5" dirty="0">
                <a:latin typeface="Arial"/>
                <a:cs typeface="Arial"/>
              </a:rPr>
              <a:t> 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 entity</a:t>
            </a:r>
            <a:r>
              <a:rPr sz="1000" dirty="0">
                <a:latin typeface="Arial"/>
                <a:cs typeface="Arial"/>
              </a:rPr>
              <a:t> </a:t>
            </a:r>
            <a:r>
              <a:rPr sz="1000" spc="-5" dirty="0">
                <a:latin typeface="Arial"/>
                <a:cs typeface="Arial"/>
              </a:rPr>
              <a:t>(i.e.,</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 </a:t>
            </a:r>
            <a:r>
              <a:rPr sz="1000" spc="-15" dirty="0">
                <a:latin typeface="Arial"/>
                <a:cs typeface="Arial"/>
              </a:rPr>
              <a:t>never </a:t>
            </a:r>
            <a:r>
              <a:rPr sz="1000" spc="-260" dirty="0">
                <a:latin typeface="Arial"/>
                <a:cs typeface="Arial"/>
              </a:rPr>
              <a:t> </a:t>
            </a:r>
            <a:r>
              <a:rPr sz="1000" spc="-5" dirty="0">
                <a:latin typeface="Arial"/>
                <a:cs typeface="Arial"/>
              </a:rPr>
              <a:t>reused).</a:t>
            </a:r>
            <a:endParaRPr sz="1000" dirty="0">
              <a:latin typeface="Arial"/>
              <a:cs typeface="Arial"/>
            </a:endParaRPr>
          </a:p>
          <a:p>
            <a:pPr>
              <a:lnSpc>
                <a:spcPct val="100000"/>
              </a:lnSpc>
              <a:spcBef>
                <a:spcPts val="15"/>
              </a:spcBef>
            </a:pPr>
            <a:endParaRPr sz="1250" dirty="0">
              <a:latin typeface="Arial"/>
              <a:cs typeface="Arial"/>
            </a:endParaRPr>
          </a:p>
          <a:p>
            <a:pPr marL="16510">
              <a:lnSpc>
                <a:spcPts val="1410"/>
              </a:lnSpc>
            </a:pPr>
            <a:r>
              <a:rPr sz="1200" spc="-5" dirty="0">
                <a:solidFill>
                  <a:srgbClr val="3333B2"/>
                </a:solidFill>
                <a:latin typeface="Arial"/>
                <a:cs typeface="Arial"/>
              </a:rPr>
              <a:t>Observation</a:t>
            </a:r>
            <a:endParaRPr sz="1200" dirty="0">
              <a:latin typeface="Arial"/>
              <a:cs typeface="Arial"/>
            </a:endParaRPr>
          </a:p>
          <a:p>
            <a:pPr marL="16510" marR="5080" indent="-4445">
              <a:lnSpc>
                <a:spcPts val="1200"/>
              </a:lnSpc>
              <a:spcBef>
                <a:spcPts val="15"/>
              </a:spcBef>
            </a:pPr>
            <a:r>
              <a:rPr sz="1000" spc="-5" dirty="0">
                <a:latin typeface="Arial"/>
                <a:cs typeface="Arial"/>
              </a:rPr>
              <a:t>An</a:t>
            </a:r>
            <a:r>
              <a:rPr sz="1000" dirty="0">
                <a:latin typeface="Arial"/>
                <a:cs typeface="Arial"/>
              </a:rPr>
              <a:t> </a:t>
            </a:r>
            <a:r>
              <a:rPr sz="1000" spc="-5" dirty="0">
                <a:latin typeface="Arial"/>
                <a:cs typeface="Arial"/>
              </a:rPr>
              <a:t>identifier</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not</a:t>
            </a:r>
            <a:r>
              <a:rPr sz="1000" spc="5" dirty="0">
                <a:latin typeface="Arial"/>
                <a:cs typeface="Arial"/>
              </a:rPr>
              <a:t> </a:t>
            </a:r>
            <a:r>
              <a:rPr sz="1000" spc="-5" dirty="0">
                <a:latin typeface="Arial"/>
                <a:cs typeface="Arial"/>
              </a:rPr>
              <a:t>necessarily</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pure</a:t>
            </a:r>
            <a:r>
              <a:rPr sz="1000" spc="5" dirty="0">
                <a:latin typeface="Arial"/>
                <a:cs typeface="Arial"/>
              </a:rPr>
              <a:t> </a:t>
            </a:r>
            <a:r>
              <a:rPr sz="1000" spc="-10" dirty="0">
                <a:latin typeface="Arial"/>
                <a:cs typeface="Arial"/>
              </a:rPr>
              <a:t>name,</a:t>
            </a:r>
            <a:r>
              <a:rPr sz="1000" dirty="0">
                <a:latin typeface="Arial"/>
                <a:cs typeface="Arial"/>
              </a:rPr>
              <a:t> </a:t>
            </a:r>
            <a:r>
              <a:rPr sz="1000" spc="-5" dirty="0">
                <a:latin typeface="Arial"/>
                <a:cs typeface="Arial"/>
              </a:rPr>
              <a:t>i.e.,</a:t>
            </a:r>
            <a:r>
              <a:rPr sz="1000" dirty="0">
                <a:latin typeface="Arial"/>
                <a:cs typeface="Arial"/>
              </a:rPr>
              <a:t> </a:t>
            </a:r>
            <a:r>
              <a:rPr sz="1000" spc="-5" dirty="0">
                <a:latin typeface="Arial"/>
                <a:cs typeface="Arial"/>
              </a:rPr>
              <a:t>it</a:t>
            </a:r>
            <a:r>
              <a:rPr sz="1000" dirty="0">
                <a:latin typeface="Arial"/>
                <a:cs typeface="Arial"/>
              </a:rPr>
              <a:t> </a:t>
            </a:r>
            <a:r>
              <a:rPr sz="1000" spc="-15" dirty="0">
                <a:latin typeface="Arial"/>
                <a:cs typeface="Arial"/>
              </a:rPr>
              <a:t>may</a:t>
            </a:r>
            <a:r>
              <a:rPr sz="1000" spc="5" dirty="0">
                <a:latin typeface="Arial"/>
                <a:cs typeface="Arial"/>
              </a:rPr>
              <a:t> </a:t>
            </a:r>
            <a:r>
              <a:rPr sz="1000" spc="-15" dirty="0">
                <a:latin typeface="Arial"/>
                <a:cs typeface="Arial"/>
              </a:rPr>
              <a:t>have </a:t>
            </a:r>
            <a:r>
              <a:rPr sz="1000" spc="-265" dirty="0">
                <a:latin typeface="Arial"/>
                <a:cs typeface="Arial"/>
              </a:rPr>
              <a:t> </a:t>
            </a:r>
            <a:r>
              <a:rPr sz="1000" spc="-5" dirty="0">
                <a:latin typeface="Arial"/>
                <a:cs typeface="Arial"/>
              </a:rPr>
              <a:t>content.</a:t>
            </a:r>
            <a:endParaRPr sz="1000" dirty="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Simple</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solutions</a:t>
            </a:r>
            <a:endParaRPr sz="600">
              <a:latin typeface="Arial"/>
              <a:cs typeface="Arial"/>
            </a:endParaRPr>
          </a:p>
        </p:txBody>
      </p:sp>
      <p:sp>
        <p:nvSpPr>
          <p:cNvPr id="4" name="object 4"/>
          <p:cNvSpPr txBox="1"/>
          <p:nvPr/>
        </p:nvSpPr>
        <p:spPr>
          <a:xfrm>
            <a:off x="95300" y="188846"/>
            <a:ext cx="10890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Broadcasting</a:t>
            </a:r>
            <a:endParaRPr sz="1400" dirty="0">
              <a:latin typeface="Arial"/>
              <a:cs typeface="Arial"/>
            </a:endParaRPr>
          </a:p>
        </p:txBody>
      </p:sp>
      <p:sp>
        <p:nvSpPr>
          <p:cNvPr id="5" name="object 5"/>
          <p:cNvSpPr txBox="1"/>
          <p:nvPr/>
        </p:nvSpPr>
        <p:spPr>
          <a:xfrm>
            <a:off x="309194" y="971191"/>
            <a:ext cx="3989704" cy="1459230"/>
          </a:xfrm>
          <a:prstGeom prst="rect">
            <a:avLst/>
          </a:prstGeom>
        </p:spPr>
        <p:txBody>
          <a:bodyPr vert="horz" wrap="square" lIns="0" tIns="22860" rIns="0" bIns="0" rtlCol="0">
            <a:spAutoFit/>
          </a:bodyPr>
          <a:lstStyle/>
          <a:p>
            <a:pPr marL="50800" marR="43180">
              <a:lnSpc>
                <a:spcPts val="1390"/>
              </a:lnSpc>
              <a:spcBef>
                <a:spcPts val="180"/>
              </a:spcBef>
            </a:pPr>
            <a:r>
              <a:rPr sz="1200" spc="-5" dirty="0">
                <a:solidFill>
                  <a:srgbClr val="3333B2"/>
                </a:solidFill>
                <a:latin typeface="Arial"/>
                <a:cs typeface="Arial"/>
              </a:rPr>
              <a:t>Broadcast the</a:t>
            </a:r>
            <a:r>
              <a:rPr sz="1200" dirty="0">
                <a:solidFill>
                  <a:srgbClr val="3333B2"/>
                </a:solidFill>
                <a:latin typeface="Arial"/>
                <a:cs typeface="Arial"/>
              </a:rPr>
              <a:t> </a:t>
            </a:r>
            <a:r>
              <a:rPr sz="1200" spc="-35" dirty="0">
                <a:solidFill>
                  <a:srgbClr val="3333B2"/>
                </a:solidFill>
                <a:latin typeface="Arial"/>
                <a:cs typeface="Arial"/>
              </a:rPr>
              <a:t>ID,</a:t>
            </a:r>
            <a:r>
              <a:rPr sz="1200" spc="-5" dirty="0">
                <a:solidFill>
                  <a:srgbClr val="3333B2"/>
                </a:solidFill>
                <a:latin typeface="Arial"/>
                <a:cs typeface="Arial"/>
              </a:rPr>
              <a:t> requesting</a:t>
            </a:r>
            <a:r>
              <a:rPr sz="1200" dirty="0">
                <a:solidFill>
                  <a:srgbClr val="3333B2"/>
                </a:solidFill>
                <a:latin typeface="Arial"/>
                <a:cs typeface="Arial"/>
              </a:rPr>
              <a:t> </a:t>
            </a:r>
            <a:r>
              <a:rPr sz="1200" spc="-5" dirty="0">
                <a:solidFill>
                  <a:srgbClr val="3333B2"/>
                </a:solidFill>
                <a:latin typeface="Arial"/>
                <a:cs typeface="Arial"/>
              </a:rPr>
              <a:t>the entity</a:t>
            </a:r>
            <a:r>
              <a:rPr sz="1200" dirty="0">
                <a:solidFill>
                  <a:srgbClr val="3333B2"/>
                </a:solidFill>
                <a:latin typeface="Arial"/>
                <a:cs typeface="Arial"/>
              </a:rPr>
              <a:t> </a:t>
            </a:r>
            <a:r>
              <a:rPr sz="1200" spc="-5" dirty="0">
                <a:solidFill>
                  <a:srgbClr val="3333B2"/>
                </a:solidFill>
                <a:latin typeface="Arial"/>
                <a:cs typeface="Arial"/>
              </a:rPr>
              <a:t>to </a:t>
            </a:r>
            <a:r>
              <a:rPr sz="1200" dirty="0">
                <a:solidFill>
                  <a:srgbClr val="3333B2"/>
                </a:solidFill>
                <a:latin typeface="Arial"/>
                <a:cs typeface="Arial"/>
              </a:rPr>
              <a:t>return </a:t>
            </a:r>
            <a:r>
              <a:rPr sz="1200" spc="-5" dirty="0">
                <a:solidFill>
                  <a:srgbClr val="3333B2"/>
                </a:solidFill>
                <a:latin typeface="Arial"/>
                <a:cs typeface="Arial"/>
              </a:rPr>
              <a:t>its</a:t>
            </a:r>
            <a:r>
              <a:rPr sz="1200" dirty="0">
                <a:solidFill>
                  <a:srgbClr val="3333B2"/>
                </a:solidFill>
                <a:latin typeface="Arial"/>
                <a:cs typeface="Arial"/>
              </a:rPr>
              <a:t> </a:t>
            </a:r>
            <a:r>
              <a:rPr sz="1200" spc="-5" dirty="0">
                <a:solidFill>
                  <a:srgbClr val="3333B2"/>
                </a:solidFill>
                <a:latin typeface="Arial"/>
                <a:cs typeface="Arial"/>
              </a:rPr>
              <a:t>current </a:t>
            </a:r>
            <a:r>
              <a:rPr sz="1200" spc="-320" dirty="0">
                <a:solidFill>
                  <a:srgbClr val="3333B2"/>
                </a:solidFill>
                <a:latin typeface="Arial"/>
                <a:cs typeface="Arial"/>
              </a:rPr>
              <a:t> </a:t>
            </a:r>
            <a:r>
              <a:rPr sz="1200" spc="-5" dirty="0">
                <a:solidFill>
                  <a:srgbClr val="3333B2"/>
                </a:solidFill>
                <a:latin typeface="Arial"/>
                <a:cs typeface="Arial"/>
              </a:rPr>
              <a:t>address</a:t>
            </a:r>
            <a:endParaRPr sz="1200" dirty="0">
              <a:latin typeface="Arial"/>
              <a:cs typeface="Arial"/>
            </a:endParaRPr>
          </a:p>
          <a:p>
            <a:pPr marL="327660" indent="-168275">
              <a:lnSpc>
                <a:spcPts val="1200"/>
              </a:lnSpc>
              <a:spcBef>
                <a:spcPts val="509"/>
              </a:spcBef>
              <a:buClr>
                <a:srgbClr val="3333B2"/>
              </a:buClr>
              <a:buChar char="►"/>
              <a:tabLst>
                <a:tab pos="328295" algn="l"/>
              </a:tabLst>
            </a:pPr>
            <a:r>
              <a:rPr sz="1000" spc="-5" dirty="0">
                <a:latin typeface="Arial"/>
                <a:cs typeface="Arial"/>
              </a:rPr>
              <a:t>Can</a:t>
            </a:r>
            <a:r>
              <a:rPr sz="1000" spc="-10" dirty="0">
                <a:latin typeface="Arial"/>
                <a:cs typeface="Arial"/>
              </a:rPr>
              <a:t> </a:t>
            </a:r>
            <a:r>
              <a:rPr sz="1000" spc="-15" dirty="0">
                <a:latin typeface="Arial"/>
                <a:cs typeface="Arial"/>
              </a:rPr>
              <a:t>never</a:t>
            </a:r>
            <a:r>
              <a:rPr sz="1000" spc="-5" dirty="0">
                <a:latin typeface="Arial"/>
                <a:cs typeface="Arial"/>
              </a:rPr>
              <a:t> scale </a:t>
            </a:r>
            <a:r>
              <a:rPr sz="1000" spc="-10" dirty="0">
                <a:latin typeface="Arial"/>
                <a:cs typeface="Arial"/>
              </a:rPr>
              <a:t>beyond</a:t>
            </a:r>
            <a:r>
              <a:rPr sz="1000" spc="-5" dirty="0">
                <a:latin typeface="Arial"/>
                <a:cs typeface="Arial"/>
              </a:rPr>
              <a:t> local-area networks</a:t>
            </a:r>
            <a:endParaRPr sz="1000" dirty="0">
              <a:latin typeface="Arial"/>
              <a:cs typeface="Arial"/>
            </a:endParaRPr>
          </a:p>
          <a:p>
            <a:pPr marL="327660" indent="-168275">
              <a:lnSpc>
                <a:spcPts val="1200"/>
              </a:lnSpc>
              <a:buClr>
                <a:srgbClr val="3333B2"/>
              </a:buClr>
              <a:buChar char="►"/>
              <a:tabLst>
                <a:tab pos="328295" algn="l"/>
              </a:tabLst>
            </a:pPr>
            <a:r>
              <a:rPr sz="1000" spc="-5" dirty="0">
                <a:latin typeface="Arial"/>
                <a:cs typeface="Arial"/>
              </a:rPr>
              <a:t>Requires</a:t>
            </a:r>
            <a:r>
              <a:rPr sz="1000" dirty="0">
                <a:latin typeface="Arial"/>
                <a:cs typeface="Arial"/>
              </a:rPr>
              <a:t> </a:t>
            </a:r>
            <a:r>
              <a:rPr sz="1000" spc="-5" dirty="0">
                <a:latin typeface="Arial"/>
                <a:cs typeface="Arial"/>
              </a:rPr>
              <a:t>all</a:t>
            </a:r>
            <a:r>
              <a:rPr sz="1000" spc="5"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listen</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incoming</a:t>
            </a:r>
            <a:r>
              <a:rPr sz="1000" spc="5" dirty="0">
                <a:latin typeface="Arial"/>
                <a:cs typeface="Arial"/>
              </a:rPr>
              <a:t> </a:t>
            </a:r>
            <a:r>
              <a:rPr sz="1000" spc="-5" dirty="0">
                <a:latin typeface="Arial"/>
                <a:cs typeface="Arial"/>
              </a:rPr>
              <a:t>location</a:t>
            </a:r>
            <a:r>
              <a:rPr sz="1000" dirty="0">
                <a:latin typeface="Arial"/>
                <a:cs typeface="Arial"/>
              </a:rPr>
              <a:t> </a:t>
            </a:r>
            <a:r>
              <a:rPr sz="1000" spc="-5" dirty="0">
                <a:latin typeface="Arial"/>
                <a:cs typeface="Arial"/>
              </a:rPr>
              <a:t>requests</a:t>
            </a:r>
            <a:endParaRPr sz="1000" dirty="0">
              <a:latin typeface="Arial"/>
              <a:cs typeface="Arial"/>
            </a:endParaRPr>
          </a:p>
          <a:p>
            <a:pPr>
              <a:lnSpc>
                <a:spcPct val="100000"/>
              </a:lnSpc>
              <a:spcBef>
                <a:spcPts val="15"/>
              </a:spcBef>
            </a:pPr>
            <a:endParaRPr sz="1300" dirty="0">
              <a:latin typeface="Arial"/>
              <a:cs typeface="Arial"/>
            </a:endParaRPr>
          </a:p>
          <a:p>
            <a:pPr marL="45720">
              <a:lnSpc>
                <a:spcPct val="100000"/>
              </a:lnSpc>
              <a:spcBef>
                <a:spcPts val="5"/>
              </a:spcBef>
            </a:pPr>
            <a:r>
              <a:rPr sz="1200" spc="-5" dirty="0">
                <a:solidFill>
                  <a:srgbClr val="007C00"/>
                </a:solidFill>
                <a:latin typeface="Arial"/>
                <a:cs typeface="Arial"/>
              </a:rPr>
              <a:t>Address</a:t>
            </a:r>
            <a:r>
              <a:rPr sz="1200" spc="-10" dirty="0">
                <a:solidFill>
                  <a:srgbClr val="007C00"/>
                </a:solidFill>
                <a:latin typeface="Arial"/>
                <a:cs typeface="Arial"/>
              </a:rPr>
              <a:t> </a:t>
            </a:r>
            <a:r>
              <a:rPr sz="1200" spc="-5" dirty="0">
                <a:solidFill>
                  <a:srgbClr val="007C00"/>
                </a:solidFill>
                <a:latin typeface="Arial"/>
                <a:cs typeface="Arial"/>
              </a:rPr>
              <a:t>Resolution</a:t>
            </a:r>
            <a:r>
              <a:rPr sz="1200" spc="-10" dirty="0">
                <a:solidFill>
                  <a:srgbClr val="007C00"/>
                </a:solidFill>
                <a:latin typeface="Arial"/>
                <a:cs typeface="Arial"/>
              </a:rPr>
              <a:t> </a:t>
            </a:r>
            <a:r>
              <a:rPr sz="1200" spc="-5" dirty="0">
                <a:solidFill>
                  <a:srgbClr val="007C00"/>
                </a:solidFill>
                <a:latin typeface="Arial"/>
                <a:cs typeface="Arial"/>
              </a:rPr>
              <a:t>Protocol</a:t>
            </a:r>
            <a:r>
              <a:rPr sz="1200" spc="-10" dirty="0">
                <a:solidFill>
                  <a:srgbClr val="007C00"/>
                </a:solidFill>
                <a:latin typeface="Arial"/>
                <a:cs typeface="Arial"/>
              </a:rPr>
              <a:t> </a:t>
            </a:r>
            <a:r>
              <a:rPr sz="1200" spc="-5" dirty="0">
                <a:solidFill>
                  <a:srgbClr val="007C00"/>
                </a:solidFill>
                <a:latin typeface="Arial"/>
                <a:cs typeface="Arial"/>
              </a:rPr>
              <a:t>(ARP)</a:t>
            </a:r>
            <a:endParaRPr sz="1200" dirty="0">
              <a:latin typeface="Arial"/>
              <a:cs typeface="Arial"/>
            </a:endParaRPr>
          </a:p>
          <a:p>
            <a:pPr marL="50165" marR="320040" indent="-4445">
              <a:lnSpc>
                <a:spcPct val="100000"/>
              </a:lnSpc>
              <a:spcBef>
                <a:spcPts val="170"/>
              </a:spcBef>
            </a:pPr>
            <a:r>
              <a:rPr sz="1000" spc="-65" dirty="0">
                <a:latin typeface="Arial"/>
                <a:cs typeface="Arial"/>
              </a:rPr>
              <a:t>To</a:t>
            </a:r>
            <a:r>
              <a:rPr sz="1000" spc="-5" dirty="0">
                <a:latin typeface="Arial"/>
                <a:cs typeface="Arial"/>
              </a:rPr>
              <a:t> find</a:t>
            </a:r>
            <a:r>
              <a:rPr sz="1000" dirty="0">
                <a:latin typeface="Arial"/>
                <a:cs typeface="Arial"/>
              </a:rPr>
              <a:t> </a:t>
            </a:r>
            <a:r>
              <a:rPr sz="1000" spc="-5" dirty="0">
                <a:latin typeface="Arial"/>
                <a:cs typeface="Arial"/>
              </a:rPr>
              <a:t>out</a:t>
            </a:r>
            <a:r>
              <a:rPr sz="1000" dirty="0">
                <a:latin typeface="Arial"/>
                <a:cs typeface="Arial"/>
              </a:rPr>
              <a:t> </a:t>
            </a:r>
            <a:r>
              <a:rPr sz="1000" spc="-5" dirty="0">
                <a:latin typeface="Arial"/>
                <a:cs typeface="Arial"/>
              </a:rPr>
              <a:t>which</a:t>
            </a:r>
            <a:r>
              <a:rPr sz="1000" dirty="0">
                <a:latin typeface="Arial"/>
                <a:cs typeface="Arial"/>
              </a:rPr>
              <a:t> </a:t>
            </a:r>
            <a:r>
              <a:rPr sz="1000" spc="-15" dirty="0">
                <a:latin typeface="Arial"/>
                <a:cs typeface="Arial"/>
              </a:rPr>
              <a:t>MAC</a:t>
            </a:r>
            <a:r>
              <a:rPr sz="1000" dirty="0">
                <a:latin typeface="Arial"/>
                <a:cs typeface="Arial"/>
              </a:rPr>
              <a:t> </a:t>
            </a:r>
            <a:r>
              <a:rPr sz="1000" spc="-5" dirty="0">
                <a:latin typeface="Arial"/>
                <a:cs typeface="Arial"/>
              </a:rPr>
              <a:t>address is</a:t>
            </a:r>
            <a:r>
              <a:rPr sz="1000" dirty="0">
                <a:latin typeface="Arial"/>
                <a:cs typeface="Arial"/>
              </a:rPr>
              <a:t> </a:t>
            </a:r>
            <a:r>
              <a:rPr sz="1000" spc="-5" dirty="0">
                <a:latin typeface="Arial"/>
                <a:cs typeface="Arial"/>
              </a:rPr>
              <a:t>associated</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IP address, </a:t>
            </a:r>
            <a:r>
              <a:rPr sz="1000" spc="-260" dirty="0">
                <a:latin typeface="Arial"/>
                <a:cs typeface="Arial"/>
              </a:rPr>
              <a:t> </a:t>
            </a:r>
            <a:r>
              <a:rPr sz="1000" spc="-5" dirty="0">
                <a:latin typeface="Arial"/>
                <a:cs typeface="Arial"/>
              </a:rPr>
              <a:t>broadcast the </a:t>
            </a:r>
            <a:r>
              <a:rPr sz="1000" dirty="0">
                <a:latin typeface="Arial"/>
                <a:cs typeface="Arial"/>
              </a:rPr>
              <a:t>query</a:t>
            </a:r>
            <a:r>
              <a:rPr sz="1000" spc="-5" dirty="0">
                <a:latin typeface="Arial"/>
                <a:cs typeface="Arial"/>
              </a:rPr>
              <a:t> “who has this IP address”?</a:t>
            </a:r>
            <a:endParaRPr sz="1000" dirty="0">
              <a:latin typeface="Arial"/>
              <a:cs typeface="Arial"/>
            </a:endParaRPr>
          </a:p>
        </p:txBody>
      </p:sp>
      <p:sp>
        <p:nvSpPr>
          <p:cNvPr id="6" name="object 6"/>
          <p:cNvSpPr txBox="1"/>
          <p:nvPr/>
        </p:nvSpPr>
        <p:spPr>
          <a:xfrm>
            <a:off x="66713" y="3327684"/>
            <a:ext cx="4686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Broadcasting</a:t>
            </a:r>
            <a:endParaRPr sz="600">
              <a:latin typeface="Arial"/>
              <a:cs typeface="Arial"/>
            </a:endParaRPr>
          </a:p>
        </p:txBody>
      </p:sp>
      <p:sp>
        <p:nvSpPr>
          <p:cNvPr id="7" name="object 7"/>
          <p:cNvSpPr txBox="1"/>
          <p:nvPr/>
        </p:nvSpPr>
        <p:spPr>
          <a:xfrm>
            <a:off x="4325963" y="3327684"/>
            <a:ext cx="2159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692785" cy="119380"/>
          </a:xfrm>
          <a:prstGeom prst="rect">
            <a:avLst/>
          </a:prstGeom>
        </p:spPr>
        <p:txBody>
          <a:bodyPr vert="horz" wrap="square" lIns="0" tIns="8890" rIns="0" bIns="0" rtlCol="0">
            <a:spAutoFit/>
          </a:bodyPr>
          <a:lstStyle/>
          <a:p>
            <a:pPr marL="12700">
              <a:lnSpc>
                <a:spcPct val="100000"/>
              </a:lnSpc>
              <a:spcBef>
                <a:spcPts val="70"/>
              </a:spcBef>
            </a:pPr>
            <a:r>
              <a:rPr sz="600" spc="-25" dirty="0">
                <a:solidFill>
                  <a:srgbClr val="3333B2"/>
                </a:solidFill>
                <a:latin typeface="Arial"/>
                <a:cs typeface="Arial"/>
                <a:hlinkClick r:id="rId3" action="ppaction://hlinksldjump"/>
              </a:rPr>
              <a:t>F</a:t>
            </a:r>
            <a:r>
              <a:rPr sz="600" spc="-5" dirty="0">
                <a:solidFill>
                  <a:srgbClr val="3333B2"/>
                </a:solidFill>
                <a:latin typeface="Arial"/>
                <a:cs typeface="Arial"/>
                <a:hlinkClick r:id="rId3" action="ppaction://hlinksldjump"/>
              </a:rPr>
              <a:t>or</a:t>
            </a:r>
            <a:r>
              <a:rPr sz="600" spc="-15" dirty="0">
                <a:solidFill>
                  <a:srgbClr val="3333B2"/>
                </a:solidFill>
                <a:latin typeface="Arial"/>
                <a:cs typeface="Arial"/>
                <a:hlinkClick r:id="rId3" action="ppaction://hlinksldjump"/>
              </a:rPr>
              <a:t>w</a:t>
            </a:r>
            <a:r>
              <a:rPr sz="600" spc="-5" dirty="0">
                <a:solidFill>
                  <a:srgbClr val="3333B2"/>
                </a:solidFill>
                <a:latin typeface="Arial"/>
                <a:cs typeface="Arial"/>
                <a:hlinkClick r:id="rId3" action="ppaction://hlinksldjump"/>
              </a:rPr>
              <a:t>arding pointers</a:t>
            </a:r>
            <a:endParaRPr sz="600">
              <a:latin typeface="Arial"/>
              <a:cs typeface="Arial"/>
            </a:endParaRPr>
          </a:p>
        </p:txBody>
      </p:sp>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5</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Flat</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Simple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solutions</a:t>
            </a:r>
            <a:endParaRPr sz="600">
              <a:latin typeface="Arial"/>
              <a:cs typeface="Arial"/>
            </a:endParaRPr>
          </a:p>
        </p:txBody>
      </p:sp>
      <p:sp>
        <p:nvSpPr>
          <p:cNvPr id="4" name="object 4"/>
          <p:cNvSpPr txBox="1"/>
          <p:nvPr/>
        </p:nvSpPr>
        <p:spPr>
          <a:xfrm>
            <a:off x="95300" y="188846"/>
            <a:ext cx="162750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Forwarding</a:t>
            </a:r>
            <a:r>
              <a:rPr sz="1400" spc="-70" dirty="0">
                <a:solidFill>
                  <a:srgbClr val="3333B2"/>
                </a:solidFill>
                <a:latin typeface="Arial"/>
                <a:cs typeface="Arial"/>
              </a:rPr>
              <a:t> </a:t>
            </a:r>
            <a:r>
              <a:rPr sz="1400" spc="15" dirty="0">
                <a:solidFill>
                  <a:srgbClr val="3333B2"/>
                </a:solidFill>
                <a:latin typeface="Arial"/>
                <a:cs typeface="Arial"/>
              </a:rPr>
              <a:t>pointers</a:t>
            </a:r>
            <a:endParaRPr sz="1400" dirty="0">
              <a:latin typeface="Arial"/>
              <a:cs typeface="Arial"/>
            </a:endParaRPr>
          </a:p>
        </p:txBody>
      </p:sp>
      <p:sp>
        <p:nvSpPr>
          <p:cNvPr id="5" name="object 5"/>
          <p:cNvSpPr txBox="1"/>
          <p:nvPr/>
        </p:nvSpPr>
        <p:spPr>
          <a:xfrm>
            <a:off x="314769" y="831174"/>
            <a:ext cx="3970654" cy="1732280"/>
          </a:xfrm>
          <a:prstGeom prst="rect">
            <a:avLst/>
          </a:prstGeom>
        </p:spPr>
        <p:txBody>
          <a:bodyPr vert="horz" wrap="square" lIns="0" tIns="22860" rIns="0" bIns="0" rtlCol="0">
            <a:spAutoFit/>
          </a:bodyPr>
          <a:lstStyle/>
          <a:p>
            <a:pPr marL="45085" marR="30480" indent="-7620">
              <a:lnSpc>
                <a:spcPts val="1390"/>
              </a:lnSpc>
              <a:spcBef>
                <a:spcPts val="180"/>
              </a:spcBef>
            </a:pPr>
            <a:r>
              <a:rPr sz="1200" spc="-15" dirty="0">
                <a:solidFill>
                  <a:srgbClr val="3333B2"/>
                </a:solidFill>
                <a:latin typeface="Arial"/>
                <a:cs typeface="Arial"/>
              </a:rPr>
              <a:t>When</a:t>
            </a:r>
            <a:r>
              <a:rPr sz="1200" spc="-5" dirty="0">
                <a:solidFill>
                  <a:srgbClr val="3333B2"/>
                </a:solidFill>
                <a:latin typeface="Arial"/>
                <a:cs typeface="Arial"/>
              </a:rPr>
              <a:t> </a:t>
            </a:r>
            <a:r>
              <a:rPr sz="1200" spc="-15" dirty="0">
                <a:solidFill>
                  <a:srgbClr val="3333B2"/>
                </a:solidFill>
                <a:latin typeface="Arial"/>
                <a:cs typeface="Arial"/>
              </a:rPr>
              <a:t>an</a:t>
            </a:r>
            <a:r>
              <a:rPr sz="1200" spc="-5" dirty="0">
                <a:solidFill>
                  <a:srgbClr val="3333B2"/>
                </a:solidFill>
                <a:latin typeface="Arial"/>
                <a:cs typeface="Arial"/>
              </a:rPr>
              <a:t> </a:t>
            </a:r>
            <a:r>
              <a:rPr sz="1200" spc="-10" dirty="0">
                <a:solidFill>
                  <a:srgbClr val="3333B2"/>
                </a:solidFill>
                <a:latin typeface="Arial"/>
                <a:cs typeface="Arial"/>
              </a:rPr>
              <a:t>entity</a:t>
            </a:r>
            <a:r>
              <a:rPr sz="1200" spc="-5" dirty="0">
                <a:solidFill>
                  <a:srgbClr val="3333B2"/>
                </a:solidFill>
                <a:latin typeface="Arial"/>
                <a:cs typeface="Arial"/>
              </a:rPr>
              <a:t> </a:t>
            </a:r>
            <a:r>
              <a:rPr sz="1200" spc="-25" dirty="0">
                <a:solidFill>
                  <a:srgbClr val="3333B2"/>
                </a:solidFill>
                <a:latin typeface="Arial"/>
                <a:cs typeface="Arial"/>
              </a:rPr>
              <a:t>moves,</a:t>
            </a:r>
            <a:r>
              <a:rPr sz="1200" spc="-5" dirty="0">
                <a:solidFill>
                  <a:srgbClr val="3333B2"/>
                </a:solidFill>
                <a:latin typeface="Arial"/>
                <a:cs typeface="Arial"/>
              </a:rPr>
              <a:t> </a:t>
            </a:r>
            <a:r>
              <a:rPr sz="1200" spc="-10" dirty="0">
                <a:solidFill>
                  <a:srgbClr val="3333B2"/>
                </a:solidFill>
                <a:latin typeface="Arial"/>
                <a:cs typeface="Arial"/>
              </a:rPr>
              <a:t>it</a:t>
            </a:r>
            <a:r>
              <a:rPr sz="1200" spc="-5" dirty="0">
                <a:solidFill>
                  <a:srgbClr val="3333B2"/>
                </a:solidFill>
                <a:latin typeface="Arial"/>
                <a:cs typeface="Arial"/>
              </a:rPr>
              <a:t> </a:t>
            </a:r>
            <a:r>
              <a:rPr sz="1200" spc="-25" dirty="0">
                <a:solidFill>
                  <a:srgbClr val="3333B2"/>
                </a:solidFill>
                <a:latin typeface="Arial"/>
                <a:cs typeface="Arial"/>
              </a:rPr>
              <a:t>leaves</a:t>
            </a:r>
            <a:r>
              <a:rPr sz="1200" spc="-5" dirty="0">
                <a:solidFill>
                  <a:srgbClr val="3333B2"/>
                </a:solidFill>
                <a:latin typeface="Arial"/>
                <a:cs typeface="Arial"/>
              </a:rPr>
              <a:t> </a:t>
            </a:r>
            <a:r>
              <a:rPr sz="1200" spc="-15" dirty="0">
                <a:solidFill>
                  <a:srgbClr val="3333B2"/>
                </a:solidFill>
                <a:latin typeface="Arial"/>
                <a:cs typeface="Arial"/>
              </a:rPr>
              <a:t>behind</a:t>
            </a:r>
            <a:r>
              <a:rPr sz="1200" spc="-5" dirty="0">
                <a:solidFill>
                  <a:srgbClr val="3333B2"/>
                </a:solidFill>
                <a:latin typeface="Arial"/>
                <a:cs typeface="Arial"/>
              </a:rPr>
              <a:t> </a:t>
            </a:r>
            <a:r>
              <a:rPr sz="1200" spc="-15" dirty="0">
                <a:solidFill>
                  <a:srgbClr val="3333B2"/>
                </a:solidFill>
                <a:latin typeface="Arial"/>
                <a:cs typeface="Arial"/>
              </a:rPr>
              <a:t>a</a:t>
            </a:r>
            <a:r>
              <a:rPr sz="1200" spc="-5" dirty="0">
                <a:solidFill>
                  <a:srgbClr val="3333B2"/>
                </a:solidFill>
                <a:latin typeface="Arial"/>
                <a:cs typeface="Arial"/>
              </a:rPr>
              <a:t> </a:t>
            </a:r>
            <a:r>
              <a:rPr sz="1200" spc="-10" dirty="0">
                <a:solidFill>
                  <a:srgbClr val="3333B2"/>
                </a:solidFill>
                <a:latin typeface="Arial"/>
                <a:cs typeface="Arial"/>
              </a:rPr>
              <a:t>pointer</a:t>
            </a:r>
            <a:r>
              <a:rPr sz="1200" spc="-5" dirty="0">
                <a:solidFill>
                  <a:srgbClr val="3333B2"/>
                </a:solidFill>
                <a:latin typeface="Arial"/>
                <a:cs typeface="Arial"/>
              </a:rPr>
              <a:t> </a:t>
            </a:r>
            <a:r>
              <a:rPr sz="1200" spc="-10" dirty="0">
                <a:solidFill>
                  <a:srgbClr val="3333B2"/>
                </a:solidFill>
                <a:latin typeface="Arial"/>
                <a:cs typeface="Arial"/>
              </a:rPr>
              <a:t>to</a:t>
            </a:r>
            <a:r>
              <a:rPr sz="1200" spc="-5" dirty="0">
                <a:solidFill>
                  <a:srgbClr val="3333B2"/>
                </a:solidFill>
                <a:latin typeface="Arial"/>
                <a:cs typeface="Arial"/>
              </a:rPr>
              <a:t> </a:t>
            </a:r>
            <a:r>
              <a:rPr sz="1200" spc="-10" dirty="0">
                <a:solidFill>
                  <a:srgbClr val="3333B2"/>
                </a:solidFill>
                <a:latin typeface="Arial"/>
                <a:cs typeface="Arial"/>
              </a:rPr>
              <a:t>its</a:t>
            </a:r>
            <a:r>
              <a:rPr sz="1200" spc="-5" dirty="0">
                <a:solidFill>
                  <a:srgbClr val="3333B2"/>
                </a:solidFill>
                <a:latin typeface="Arial"/>
                <a:cs typeface="Arial"/>
              </a:rPr>
              <a:t> </a:t>
            </a:r>
            <a:r>
              <a:rPr sz="1200" spc="-25" dirty="0">
                <a:solidFill>
                  <a:srgbClr val="3333B2"/>
                </a:solidFill>
                <a:latin typeface="Arial"/>
                <a:cs typeface="Arial"/>
              </a:rPr>
              <a:t>next </a:t>
            </a:r>
            <a:r>
              <a:rPr sz="1200" spc="-315" dirty="0">
                <a:solidFill>
                  <a:srgbClr val="3333B2"/>
                </a:solidFill>
                <a:latin typeface="Arial"/>
                <a:cs typeface="Arial"/>
              </a:rPr>
              <a:t> </a:t>
            </a:r>
            <a:r>
              <a:rPr sz="1200" spc="-5" dirty="0">
                <a:solidFill>
                  <a:srgbClr val="3333B2"/>
                </a:solidFill>
                <a:latin typeface="Arial"/>
                <a:cs typeface="Arial"/>
              </a:rPr>
              <a:t>location</a:t>
            </a:r>
            <a:endParaRPr sz="1200" dirty="0">
              <a:latin typeface="Arial"/>
              <a:cs typeface="Arial"/>
            </a:endParaRPr>
          </a:p>
          <a:p>
            <a:pPr marL="321945" marR="264795" indent="-168275">
              <a:lnSpc>
                <a:spcPct val="100000"/>
              </a:lnSpc>
              <a:spcBef>
                <a:spcPts val="509"/>
              </a:spcBef>
              <a:buClr>
                <a:srgbClr val="3333B2"/>
              </a:buClr>
              <a:buChar char="►"/>
              <a:tabLst>
                <a:tab pos="322580" algn="l"/>
              </a:tabLst>
            </a:pPr>
            <a:r>
              <a:rPr sz="1000" spc="-5" dirty="0">
                <a:latin typeface="Arial"/>
                <a:cs typeface="Arial"/>
              </a:rPr>
              <a:t>Dereferencing can</a:t>
            </a:r>
            <a:r>
              <a:rPr sz="1000" dirty="0">
                <a:latin typeface="Arial"/>
                <a:cs typeface="Arial"/>
              </a:rPr>
              <a:t> </a:t>
            </a:r>
            <a:r>
              <a:rPr sz="1000" spc="-5" dirty="0">
                <a:latin typeface="Arial"/>
                <a:cs typeface="Arial"/>
              </a:rPr>
              <a:t>be made</a:t>
            </a:r>
            <a:r>
              <a:rPr sz="1000" dirty="0">
                <a:latin typeface="Arial"/>
                <a:cs typeface="Arial"/>
              </a:rPr>
              <a:t> </a:t>
            </a:r>
            <a:r>
              <a:rPr sz="1000" spc="-5" dirty="0">
                <a:latin typeface="Arial"/>
                <a:cs typeface="Arial"/>
              </a:rPr>
              <a:t>entirely transparent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clients </a:t>
            </a:r>
            <a:r>
              <a:rPr sz="1000" spc="-15" dirty="0">
                <a:latin typeface="Arial"/>
                <a:cs typeface="Arial"/>
              </a:rPr>
              <a:t>by </a:t>
            </a:r>
            <a:r>
              <a:rPr sz="1000" spc="-260" dirty="0">
                <a:latin typeface="Arial"/>
                <a:cs typeface="Arial"/>
              </a:rPr>
              <a:t> </a:t>
            </a:r>
            <a:r>
              <a:rPr sz="1000" spc="-5" dirty="0">
                <a:latin typeface="Arial"/>
                <a:cs typeface="Arial"/>
              </a:rPr>
              <a:t>simply </a:t>
            </a:r>
            <a:r>
              <a:rPr sz="1000" spc="-10" dirty="0">
                <a:latin typeface="Arial"/>
                <a:cs typeface="Arial"/>
              </a:rPr>
              <a:t>following</a:t>
            </a:r>
            <a:r>
              <a:rPr sz="1000" spc="-5" dirty="0">
                <a:latin typeface="Arial"/>
                <a:cs typeface="Arial"/>
              </a:rPr>
              <a:t> the chain of pointers</a:t>
            </a:r>
            <a:endParaRPr sz="1000" dirty="0">
              <a:latin typeface="Arial"/>
              <a:cs typeface="Arial"/>
            </a:endParaRPr>
          </a:p>
          <a:p>
            <a:pPr marL="321945" indent="-168275">
              <a:lnSpc>
                <a:spcPct val="100000"/>
              </a:lnSpc>
              <a:spcBef>
                <a:spcPts val="590"/>
              </a:spcBef>
              <a:buClr>
                <a:srgbClr val="3333B2"/>
              </a:buClr>
              <a:buChar char="►"/>
              <a:tabLst>
                <a:tab pos="322580" algn="l"/>
              </a:tabLst>
            </a:pPr>
            <a:r>
              <a:rPr sz="1000" spc="-5" dirty="0">
                <a:latin typeface="Arial"/>
                <a:cs typeface="Arial"/>
              </a:rPr>
              <a:t>Update</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client’s</a:t>
            </a:r>
            <a:r>
              <a:rPr sz="1000" dirty="0">
                <a:latin typeface="Arial"/>
                <a:cs typeface="Arial"/>
              </a:rPr>
              <a:t> </a:t>
            </a:r>
            <a:r>
              <a:rPr sz="1000" spc="-10" dirty="0">
                <a:latin typeface="Arial"/>
                <a:cs typeface="Arial"/>
              </a:rPr>
              <a:t>reference</a:t>
            </a:r>
            <a:r>
              <a:rPr sz="1000" dirty="0">
                <a:latin typeface="Arial"/>
                <a:cs typeface="Arial"/>
              </a:rPr>
              <a:t> </a:t>
            </a:r>
            <a:r>
              <a:rPr sz="1000" spc="-5" dirty="0">
                <a:latin typeface="Arial"/>
                <a:cs typeface="Arial"/>
              </a:rPr>
              <a:t>when</a:t>
            </a:r>
            <a:r>
              <a:rPr sz="1000" spc="5" dirty="0">
                <a:latin typeface="Arial"/>
                <a:cs typeface="Arial"/>
              </a:rPr>
              <a:t> </a:t>
            </a:r>
            <a:r>
              <a:rPr sz="1000" spc="-5" dirty="0">
                <a:latin typeface="Arial"/>
                <a:cs typeface="Arial"/>
              </a:rPr>
              <a:t>present</a:t>
            </a:r>
            <a:r>
              <a:rPr sz="1000" dirty="0">
                <a:latin typeface="Arial"/>
                <a:cs typeface="Arial"/>
              </a:rPr>
              <a:t> </a:t>
            </a:r>
            <a:r>
              <a:rPr sz="1000" spc="-5" dirty="0">
                <a:latin typeface="Arial"/>
                <a:cs typeface="Arial"/>
              </a:rPr>
              <a:t>location</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found</a:t>
            </a:r>
            <a:endParaRPr sz="1000" dirty="0">
              <a:latin typeface="Arial"/>
              <a:cs typeface="Arial"/>
            </a:endParaRPr>
          </a:p>
          <a:p>
            <a:pPr marL="321945" marR="309880" indent="-168275">
              <a:lnSpc>
                <a:spcPct val="100000"/>
              </a:lnSpc>
              <a:spcBef>
                <a:spcPts val="595"/>
              </a:spcBef>
              <a:buClr>
                <a:srgbClr val="3333B2"/>
              </a:buClr>
              <a:buChar char="►"/>
              <a:tabLst>
                <a:tab pos="322580" algn="l"/>
              </a:tabLst>
            </a:pPr>
            <a:r>
              <a:rPr sz="1000" spc="-5" dirty="0">
                <a:latin typeface="Arial"/>
                <a:cs typeface="Arial"/>
              </a:rPr>
              <a:t>Geographical scalability problems </a:t>
            </a:r>
            <a:r>
              <a:rPr sz="1000" spc="-10" dirty="0">
                <a:latin typeface="Arial"/>
                <a:cs typeface="Arial"/>
              </a:rPr>
              <a:t>(for</a:t>
            </a:r>
            <a:r>
              <a:rPr sz="1000" spc="-5" dirty="0">
                <a:latin typeface="Arial"/>
                <a:cs typeface="Arial"/>
              </a:rPr>
              <a:t> which</a:t>
            </a:r>
            <a:r>
              <a:rPr sz="1000" dirty="0">
                <a:latin typeface="Arial"/>
                <a:cs typeface="Arial"/>
              </a:rPr>
              <a:t> </a:t>
            </a:r>
            <a:r>
              <a:rPr sz="1000" spc="-5" dirty="0">
                <a:latin typeface="Arial"/>
                <a:cs typeface="Arial"/>
              </a:rPr>
              <a:t>separate chain </a:t>
            </a:r>
            <a:r>
              <a:rPr sz="1000" spc="-265" dirty="0">
                <a:latin typeface="Arial"/>
                <a:cs typeface="Arial"/>
              </a:rPr>
              <a:t> </a:t>
            </a:r>
            <a:r>
              <a:rPr sz="1000" spc="-5" dirty="0">
                <a:latin typeface="Arial"/>
                <a:cs typeface="Arial"/>
              </a:rPr>
              <a:t>reduction</a:t>
            </a:r>
            <a:r>
              <a:rPr sz="1000" spc="-10" dirty="0">
                <a:latin typeface="Arial"/>
                <a:cs typeface="Arial"/>
              </a:rPr>
              <a:t> </a:t>
            </a:r>
            <a:r>
              <a:rPr sz="1000" spc="-5" dirty="0">
                <a:latin typeface="Arial"/>
                <a:cs typeface="Arial"/>
              </a:rPr>
              <a:t>mechanisms are needed):</a:t>
            </a:r>
            <a:endParaRPr sz="1000" dirty="0">
              <a:latin typeface="Arial"/>
              <a:cs typeface="Arial"/>
            </a:endParaRPr>
          </a:p>
          <a:p>
            <a:pPr marL="598805" lvl="1" indent="-168275">
              <a:lnSpc>
                <a:spcPts val="1200"/>
              </a:lnSpc>
              <a:spcBef>
                <a:spcPts val="484"/>
              </a:spcBef>
              <a:buClr>
                <a:srgbClr val="3333B2"/>
              </a:buClr>
              <a:buChar char="►"/>
              <a:tabLst>
                <a:tab pos="599440" algn="l"/>
              </a:tabLst>
            </a:pPr>
            <a:r>
              <a:rPr sz="1000" spc="-5" dirty="0">
                <a:latin typeface="Arial"/>
                <a:cs typeface="Arial"/>
              </a:rPr>
              <a:t>Long</a:t>
            </a:r>
            <a:r>
              <a:rPr sz="1000" spc="-10" dirty="0">
                <a:latin typeface="Arial"/>
                <a:cs typeface="Arial"/>
              </a:rPr>
              <a:t> </a:t>
            </a:r>
            <a:r>
              <a:rPr sz="1000" spc="-5" dirty="0">
                <a:latin typeface="Arial"/>
                <a:cs typeface="Arial"/>
              </a:rPr>
              <a:t>chains</a:t>
            </a:r>
            <a:r>
              <a:rPr sz="1000" spc="-10" dirty="0">
                <a:latin typeface="Arial"/>
                <a:cs typeface="Arial"/>
              </a:rPr>
              <a:t> </a:t>
            </a:r>
            <a:r>
              <a:rPr sz="1000" spc="-5" dirty="0">
                <a:latin typeface="Arial"/>
                <a:cs typeface="Arial"/>
              </a:rPr>
              <a:t>are</a:t>
            </a:r>
            <a:r>
              <a:rPr sz="1000" spc="-10" dirty="0">
                <a:latin typeface="Arial"/>
                <a:cs typeface="Arial"/>
              </a:rPr>
              <a:t> </a:t>
            </a:r>
            <a:r>
              <a:rPr sz="1000" spc="-5" dirty="0">
                <a:latin typeface="Arial"/>
                <a:cs typeface="Arial"/>
              </a:rPr>
              <a:t>not </a:t>
            </a:r>
            <a:r>
              <a:rPr sz="1000" spc="-10" dirty="0">
                <a:latin typeface="Arial"/>
                <a:cs typeface="Arial"/>
              </a:rPr>
              <a:t>fault </a:t>
            </a:r>
            <a:r>
              <a:rPr sz="1000" spc="-5" dirty="0">
                <a:latin typeface="Arial"/>
                <a:cs typeface="Arial"/>
              </a:rPr>
              <a:t>tolerant</a:t>
            </a:r>
            <a:endParaRPr sz="1000" dirty="0">
              <a:latin typeface="Arial"/>
              <a:cs typeface="Arial"/>
            </a:endParaRPr>
          </a:p>
          <a:p>
            <a:pPr marL="598805" lvl="1" indent="-168275">
              <a:lnSpc>
                <a:spcPts val="1200"/>
              </a:lnSpc>
              <a:buClr>
                <a:srgbClr val="3333B2"/>
              </a:buClr>
              <a:buChar char="►"/>
              <a:tabLst>
                <a:tab pos="599440" algn="l"/>
              </a:tabLst>
            </a:pPr>
            <a:r>
              <a:rPr sz="1000" spc="-5" dirty="0">
                <a:latin typeface="Arial"/>
                <a:cs typeface="Arial"/>
              </a:rPr>
              <a:t>Increased</a:t>
            </a:r>
            <a:r>
              <a:rPr sz="1000" spc="-10" dirty="0">
                <a:latin typeface="Arial"/>
                <a:cs typeface="Arial"/>
              </a:rPr>
              <a:t> </a:t>
            </a:r>
            <a:r>
              <a:rPr sz="1000" spc="-5" dirty="0">
                <a:latin typeface="Arial"/>
                <a:cs typeface="Arial"/>
              </a:rPr>
              <a:t>network latency</a:t>
            </a:r>
            <a:r>
              <a:rPr sz="1000" spc="-10" dirty="0">
                <a:latin typeface="Arial"/>
                <a:cs typeface="Arial"/>
              </a:rPr>
              <a:t> </a:t>
            </a:r>
            <a:r>
              <a:rPr sz="1000" spc="-5" dirty="0">
                <a:latin typeface="Arial"/>
                <a:cs typeface="Arial"/>
              </a:rPr>
              <a:t>at dereferencing</a:t>
            </a:r>
            <a:endParaRPr sz="1000" dirty="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Simple</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solutions</a:t>
            </a:r>
            <a:endParaRPr sz="600">
              <a:latin typeface="Arial"/>
              <a:cs typeface="Arial"/>
            </a:endParaRPr>
          </a:p>
        </p:txBody>
      </p:sp>
      <p:sp>
        <p:nvSpPr>
          <p:cNvPr id="4" name="object 4"/>
          <p:cNvSpPr txBox="1"/>
          <p:nvPr/>
        </p:nvSpPr>
        <p:spPr>
          <a:xfrm>
            <a:off x="95300" y="188846"/>
            <a:ext cx="3044825" cy="89598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75" dirty="0">
                <a:solidFill>
                  <a:srgbClr val="3333B2"/>
                </a:solidFill>
                <a:latin typeface="Arial"/>
                <a:cs typeface="Arial"/>
              </a:rPr>
              <a:t> </a:t>
            </a:r>
            <a:r>
              <a:rPr sz="1400" spc="20" dirty="0">
                <a:solidFill>
                  <a:srgbClr val="3333B2"/>
                </a:solidFill>
                <a:latin typeface="Arial"/>
                <a:cs typeface="Arial"/>
              </a:rPr>
              <a:t>SSP</a:t>
            </a:r>
            <a:r>
              <a:rPr sz="1400" spc="-10" dirty="0">
                <a:solidFill>
                  <a:srgbClr val="3333B2"/>
                </a:solidFill>
                <a:latin typeface="Arial"/>
                <a:cs typeface="Arial"/>
              </a:rPr>
              <a:t> </a:t>
            </a:r>
            <a:r>
              <a:rPr sz="1400" spc="15" dirty="0">
                <a:solidFill>
                  <a:srgbClr val="3333B2"/>
                </a:solidFill>
                <a:latin typeface="Arial"/>
                <a:cs typeface="Arial"/>
              </a:rPr>
              <a:t>chains</a:t>
            </a:r>
            <a:endParaRPr sz="1400">
              <a:latin typeface="Arial"/>
              <a:cs typeface="Arial"/>
            </a:endParaRPr>
          </a:p>
          <a:p>
            <a:pPr>
              <a:lnSpc>
                <a:spcPct val="100000"/>
              </a:lnSpc>
              <a:spcBef>
                <a:spcPts val="5"/>
              </a:spcBef>
            </a:pPr>
            <a:endParaRPr sz="2000">
              <a:latin typeface="Arial"/>
              <a:cs typeface="Arial"/>
            </a:endParaRPr>
          </a:p>
          <a:p>
            <a:pPr marL="259715">
              <a:lnSpc>
                <a:spcPts val="1415"/>
              </a:lnSpc>
            </a:pPr>
            <a:r>
              <a:rPr sz="1200" spc="-5" dirty="0">
                <a:solidFill>
                  <a:srgbClr val="3333B2"/>
                </a:solidFill>
                <a:latin typeface="Arial"/>
                <a:cs typeface="Arial"/>
              </a:rPr>
              <a:t>The principle of</a:t>
            </a:r>
            <a:r>
              <a:rPr sz="1200" dirty="0">
                <a:solidFill>
                  <a:srgbClr val="3333B2"/>
                </a:solidFill>
                <a:latin typeface="Arial"/>
                <a:cs typeface="Arial"/>
              </a:rPr>
              <a:t> </a:t>
            </a:r>
            <a:r>
              <a:rPr sz="1200" spc="-10" dirty="0">
                <a:solidFill>
                  <a:srgbClr val="3333B2"/>
                </a:solidFill>
                <a:latin typeface="Arial"/>
                <a:cs typeface="Arial"/>
              </a:rPr>
              <a:t>forwarding</a:t>
            </a:r>
            <a:r>
              <a:rPr sz="1200" spc="-5" dirty="0">
                <a:solidFill>
                  <a:srgbClr val="3333B2"/>
                </a:solidFill>
                <a:latin typeface="Arial"/>
                <a:cs typeface="Arial"/>
              </a:rPr>
              <a:t> pointers using</a:t>
            </a:r>
            <a:endParaRPr sz="1200">
              <a:latin typeface="Arial"/>
              <a:cs typeface="Arial"/>
            </a:endParaRPr>
          </a:p>
          <a:p>
            <a:pPr marL="254000">
              <a:lnSpc>
                <a:spcPts val="1415"/>
              </a:lnSpc>
            </a:pPr>
            <a:r>
              <a:rPr sz="1200" i="1" spc="-5" dirty="0">
                <a:solidFill>
                  <a:srgbClr val="3333B2"/>
                </a:solidFill>
                <a:latin typeface="Arial"/>
                <a:cs typeface="Arial"/>
              </a:rPr>
              <a:t>(client</a:t>
            </a:r>
            <a:r>
              <a:rPr sz="1200" i="1" spc="-15" dirty="0">
                <a:solidFill>
                  <a:srgbClr val="3333B2"/>
                </a:solidFill>
                <a:latin typeface="Arial"/>
                <a:cs typeface="Arial"/>
              </a:rPr>
              <a:t> stub,</a:t>
            </a:r>
            <a:r>
              <a:rPr sz="1200" i="1" spc="-10" dirty="0">
                <a:solidFill>
                  <a:srgbClr val="3333B2"/>
                </a:solidFill>
                <a:latin typeface="Arial"/>
                <a:cs typeface="Arial"/>
              </a:rPr>
              <a:t> </a:t>
            </a:r>
            <a:r>
              <a:rPr sz="1200" i="1" spc="-5" dirty="0">
                <a:solidFill>
                  <a:srgbClr val="3333B2"/>
                </a:solidFill>
                <a:latin typeface="Arial"/>
                <a:cs typeface="Arial"/>
              </a:rPr>
              <a:t>server</a:t>
            </a:r>
            <a:r>
              <a:rPr sz="1200" i="1" spc="-10" dirty="0">
                <a:solidFill>
                  <a:srgbClr val="3333B2"/>
                </a:solidFill>
                <a:latin typeface="Arial"/>
                <a:cs typeface="Arial"/>
              </a:rPr>
              <a:t> </a:t>
            </a:r>
            <a:r>
              <a:rPr sz="1200" i="1" spc="-5" dirty="0">
                <a:solidFill>
                  <a:srgbClr val="3333B2"/>
                </a:solidFill>
                <a:latin typeface="Arial"/>
                <a:cs typeface="Arial"/>
              </a:rPr>
              <a:t>stub)</a:t>
            </a:r>
            <a:endParaRPr sz="1200">
              <a:latin typeface="Arial"/>
              <a:cs typeface="Arial"/>
            </a:endParaRPr>
          </a:p>
        </p:txBody>
      </p:sp>
      <p:sp>
        <p:nvSpPr>
          <p:cNvPr id="5" name="object 5"/>
          <p:cNvSpPr txBox="1"/>
          <p:nvPr/>
        </p:nvSpPr>
        <p:spPr>
          <a:xfrm>
            <a:off x="1237764" y="1182810"/>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 P2</a:t>
            </a:r>
            <a:endParaRPr sz="650">
              <a:latin typeface="Arial"/>
              <a:cs typeface="Arial"/>
            </a:endParaRPr>
          </a:p>
        </p:txBody>
      </p:sp>
      <p:sp>
        <p:nvSpPr>
          <p:cNvPr id="6" name="object 6"/>
          <p:cNvSpPr txBox="1"/>
          <p:nvPr/>
        </p:nvSpPr>
        <p:spPr>
          <a:xfrm>
            <a:off x="2864853" y="2090818"/>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 P4</a:t>
            </a:r>
            <a:endParaRPr sz="650">
              <a:latin typeface="Arial"/>
              <a:cs typeface="Arial"/>
            </a:endParaRPr>
          </a:p>
        </p:txBody>
      </p:sp>
      <p:sp>
        <p:nvSpPr>
          <p:cNvPr id="7" name="object 7"/>
          <p:cNvSpPr/>
          <p:nvPr/>
        </p:nvSpPr>
        <p:spPr>
          <a:xfrm>
            <a:off x="1048744" y="1309746"/>
            <a:ext cx="2271395" cy="1374775"/>
          </a:xfrm>
          <a:custGeom>
            <a:avLst/>
            <a:gdLst/>
            <a:ahLst/>
            <a:cxnLst/>
            <a:rect l="l" t="t" r="r" b="b"/>
            <a:pathLst>
              <a:path w="2271395" h="1374775">
                <a:moveTo>
                  <a:pt x="1792800" y="1374480"/>
                </a:moveTo>
                <a:lnTo>
                  <a:pt x="2270876" y="1374480"/>
                </a:lnTo>
                <a:lnTo>
                  <a:pt x="2270876" y="896400"/>
                </a:lnTo>
                <a:lnTo>
                  <a:pt x="1792800" y="896400"/>
                </a:lnTo>
                <a:lnTo>
                  <a:pt x="1792800" y="1374480"/>
                </a:lnTo>
                <a:close/>
              </a:path>
              <a:path w="2271395" h="1374775">
                <a:moveTo>
                  <a:pt x="1097980" y="809198"/>
                </a:moveTo>
                <a:lnTo>
                  <a:pt x="1576059" y="809198"/>
                </a:lnTo>
                <a:lnTo>
                  <a:pt x="1576059" y="331114"/>
                </a:lnTo>
                <a:lnTo>
                  <a:pt x="1097980" y="331114"/>
                </a:lnTo>
                <a:lnTo>
                  <a:pt x="1097980" y="809198"/>
                </a:lnTo>
                <a:close/>
              </a:path>
              <a:path w="2271395" h="1374775">
                <a:moveTo>
                  <a:pt x="0" y="1195200"/>
                </a:moveTo>
                <a:lnTo>
                  <a:pt x="478079" y="1195200"/>
                </a:lnTo>
                <a:lnTo>
                  <a:pt x="478079" y="717116"/>
                </a:lnTo>
                <a:lnTo>
                  <a:pt x="0" y="717116"/>
                </a:lnTo>
                <a:lnTo>
                  <a:pt x="0" y="1195200"/>
                </a:lnTo>
                <a:close/>
              </a:path>
              <a:path w="2271395" h="1374775">
                <a:moveTo>
                  <a:pt x="179279" y="478079"/>
                </a:moveTo>
                <a:lnTo>
                  <a:pt x="657363" y="478079"/>
                </a:lnTo>
                <a:lnTo>
                  <a:pt x="657363" y="0"/>
                </a:lnTo>
                <a:lnTo>
                  <a:pt x="179279" y="0"/>
                </a:lnTo>
                <a:lnTo>
                  <a:pt x="179279" y="478079"/>
                </a:lnTo>
                <a:close/>
              </a:path>
            </a:pathLst>
          </a:custGeom>
          <a:ln w="5267">
            <a:solidFill>
              <a:srgbClr val="231F20"/>
            </a:solidFill>
          </a:ln>
        </p:spPr>
        <p:txBody>
          <a:bodyPr wrap="square" lIns="0" tIns="0" rIns="0" bIns="0" rtlCol="0"/>
          <a:lstStyle/>
          <a:p>
            <a:endParaRPr/>
          </a:p>
        </p:txBody>
      </p:sp>
      <p:sp>
        <p:nvSpPr>
          <p:cNvPr id="8" name="object 8"/>
          <p:cNvSpPr txBox="1"/>
          <p:nvPr/>
        </p:nvSpPr>
        <p:spPr>
          <a:xfrm>
            <a:off x="3478992" y="2097682"/>
            <a:ext cx="2692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Object</a:t>
            </a:r>
            <a:endParaRPr sz="650">
              <a:latin typeface="Arial"/>
              <a:cs typeface="Arial"/>
            </a:endParaRPr>
          </a:p>
        </p:txBody>
      </p:sp>
      <p:sp>
        <p:nvSpPr>
          <p:cNvPr id="9" name="object 9"/>
          <p:cNvSpPr/>
          <p:nvPr/>
        </p:nvSpPr>
        <p:spPr>
          <a:xfrm>
            <a:off x="3050709" y="2295787"/>
            <a:ext cx="239395" cy="358775"/>
          </a:xfrm>
          <a:custGeom>
            <a:avLst/>
            <a:gdLst/>
            <a:ahLst/>
            <a:cxnLst/>
            <a:rect l="l" t="t" r="r" b="b"/>
            <a:pathLst>
              <a:path w="239395" h="358775">
                <a:moveTo>
                  <a:pt x="239038" y="63270"/>
                </a:moveTo>
                <a:lnTo>
                  <a:pt x="239038" y="295282"/>
                </a:lnTo>
                <a:lnTo>
                  <a:pt x="234600" y="319851"/>
                </a:lnTo>
                <a:lnTo>
                  <a:pt x="222516" y="339969"/>
                </a:lnTo>
                <a:lnTo>
                  <a:pt x="204631" y="353562"/>
                </a:lnTo>
                <a:lnTo>
                  <a:pt x="182791" y="358554"/>
                </a:lnTo>
                <a:lnTo>
                  <a:pt x="56246" y="358554"/>
                </a:lnTo>
                <a:lnTo>
                  <a:pt x="34401" y="353562"/>
                </a:lnTo>
                <a:lnTo>
                  <a:pt x="16517" y="339970"/>
                </a:lnTo>
                <a:lnTo>
                  <a:pt x="4436" y="319852"/>
                </a:lnTo>
                <a:lnTo>
                  <a:pt x="0" y="295282"/>
                </a:lnTo>
                <a:lnTo>
                  <a:pt x="0" y="63270"/>
                </a:lnTo>
                <a:lnTo>
                  <a:pt x="4436" y="38702"/>
                </a:lnTo>
                <a:lnTo>
                  <a:pt x="16517" y="18584"/>
                </a:lnTo>
                <a:lnTo>
                  <a:pt x="34401" y="4991"/>
                </a:lnTo>
                <a:lnTo>
                  <a:pt x="56246" y="0"/>
                </a:lnTo>
                <a:lnTo>
                  <a:pt x="182791" y="0"/>
                </a:lnTo>
                <a:lnTo>
                  <a:pt x="204631" y="4991"/>
                </a:lnTo>
                <a:lnTo>
                  <a:pt x="222516" y="18584"/>
                </a:lnTo>
                <a:lnTo>
                  <a:pt x="234600" y="38703"/>
                </a:lnTo>
                <a:lnTo>
                  <a:pt x="239038" y="63274"/>
                </a:lnTo>
                <a:close/>
              </a:path>
            </a:pathLst>
          </a:custGeom>
          <a:ln w="5267">
            <a:solidFill>
              <a:srgbClr val="231F20"/>
            </a:solidFill>
          </a:ln>
        </p:spPr>
        <p:txBody>
          <a:bodyPr wrap="square" lIns="0" tIns="0" rIns="0" bIns="0" rtlCol="0"/>
          <a:lstStyle/>
          <a:p>
            <a:endParaRPr/>
          </a:p>
        </p:txBody>
      </p:sp>
      <p:sp>
        <p:nvSpPr>
          <p:cNvPr id="10" name="object 10"/>
          <p:cNvSpPr txBox="1"/>
          <p:nvPr/>
        </p:nvSpPr>
        <p:spPr>
          <a:xfrm>
            <a:off x="1025906" y="1480903"/>
            <a:ext cx="2484120" cy="518159"/>
          </a:xfrm>
          <a:prstGeom prst="rect">
            <a:avLst/>
          </a:prstGeom>
        </p:spPr>
        <p:txBody>
          <a:bodyPr vert="horz" wrap="square" lIns="0" tIns="47625" rIns="0" bIns="0" rtlCol="0">
            <a:spAutoFit/>
          </a:bodyPr>
          <a:lstStyle/>
          <a:p>
            <a:pPr marL="263525" algn="ctr">
              <a:lnSpc>
                <a:spcPct val="100000"/>
              </a:lnSpc>
              <a:spcBef>
                <a:spcPts val="375"/>
              </a:spcBef>
            </a:pPr>
            <a:r>
              <a:rPr sz="650" spc="5" dirty="0">
                <a:solidFill>
                  <a:srgbClr val="231F20"/>
                </a:solidFill>
                <a:latin typeface="Arial"/>
                <a:cs typeface="Arial"/>
              </a:rPr>
              <a:t>Process</a:t>
            </a:r>
            <a:r>
              <a:rPr sz="650" spc="-40" dirty="0">
                <a:solidFill>
                  <a:srgbClr val="231F20"/>
                </a:solidFill>
                <a:latin typeface="Arial"/>
                <a:cs typeface="Arial"/>
              </a:rPr>
              <a:t> </a:t>
            </a:r>
            <a:r>
              <a:rPr sz="650" spc="5" dirty="0">
                <a:solidFill>
                  <a:srgbClr val="231F20"/>
                </a:solidFill>
                <a:latin typeface="Arial"/>
                <a:cs typeface="Arial"/>
              </a:rPr>
              <a:t>P3</a:t>
            </a:r>
            <a:endParaRPr sz="650">
              <a:latin typeface="Arial"/>
              <a:cs typeface="Arial"/>
            </a:endParaRPr>
          </a:p>
          <a:p>
            <a:pPr marL="1715135" algn="ctr">
              <a:lnSpc>
                <a:spcPct val="100000"/>
              </a:lnSpc>
              <a:spcBef>
                <a:spcPts val="275"/>
              </a:spcBef>
            </a:pPr>
            <a:r>
              <a:rPr sz="650" spc="5" dirty="0">
                <a:solidFill>
                  <a:srgbClr val="231F20"/>
                </a:solidFill>
                <a:latin typeface="Arial"/>
                <a:cs typeface="Arial"/>
              </a:rPr>
              <a:t>Identical</a:t>
            </a:r>
            <a:r>
              <a:rPr sz="650" spc="-30" dirty="0">
                <a:solidFill>
                  <a:srgbClr val="231F20"/>
                </a:solidFill>
                <a:latin typeface="Arial"/>
                <a:cs typeface="Arial"/>
              </a:rPr>
              <a:t> </a:t>
            </a:r>
            <a:r>
              <a:rPr sz="650" spc="5" dirty="0">
                <a:solidFill>
                  <a:srgbClr val="231F20"/>
                </a:solidFill>
                <a:latin typeface="Arial"/>
                <a:cs typeface="Arial"/>
              </a:rPr>
              <a:t>client</a:t>
            </a:r>
            <a:r>
              <a:rPr sz="650" spc="-25"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a:p>
            <a:pPr>
              <a:lnSpc>
                <a:spcPct val="100000"/>
              </a:lnSpc>
              <a:spcBef>
                <a:spcPts val="5"/>
              </a:spcBef>
            </a:pPr>
            <a:endParaRPr sz="850">
              <a:latin typeface="Arial"/>
              <a:cs typeface="Arial"/>
            </a:endParaRPr>
          </a:p>
          <a:p>
            <a:pPr marL="50800">
              <a:lnSpc>
                <a:spcPct val="100000"/>
              </a:lnSpc>
            </a:pPr>
            <a:r>
              <a:rPr sz="975" spc="7" baseline="-17094" dirty="0">
                <a:solidFill>
                  <a:srgbClr val="231F20"/>
                </a:solidFill>
                <a:latin typeface="Arial"/>
                <a:cs typeface="Arial"/>
              </a:rPr>
              <a:t>Process</a:t>
            </a:r>
            <a:r>
              <a:rPr sz="975" spc="-15" baseline="-17094" dirty="0">
                <a:solidFill>
                  <a:srgbClr val="231F20"/>
                </a:solidFill>
                <a:latin typeface="Arial"/>
                <a:cs typeface="Arial"/>
              </a:rPr>
              <a:t> </a:t>
            </a:r>
            <a:r>
              <a:rPr sz="975" spc="7" baseline="-17094" dirty="0">
                <a:solidFill>
                  <a:srgbClr val="231F20"/>
                </a:solidFill>
                <a:latin typeface="Arial"/>
                <a:cs typeface="Arial"/>
              </a:rPr>
              <a:t>P1 </a:t>
            </a:r>
            <a:r>
              <a:rPr sz="975" spc="195" baseline="-17094" dirty="0">
                <a:solidFill>
                  <a:srgbClr val="231F20"/>
                </a:solidFill>
                <a:latin typeface="Arial"/>
                <a:cs typeface="Arial"/>
              </a:rPr>
              <a:t> </a:t>
            </a:r>
            <a:r>
              <a:rPr sz="650" spc="5" dirty="0">
                <a:solidFill>
                  <a:srgbClr val="231F20"/>
                </a:solidFill>
                <a:latin typeface="Arial"/>
                <a:cs typeface="Arial"/>
              </a:rPr>
              <a:t>Server</a:t>
            </a:r>
            <a:r>
              <a:rPr sz="650" spc="-10"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sp>
        <p:nvSpPr>
          <p:cNvPr id="11" name="object 11"/>
          <p:cNvSpPr txBox="1"/>
          <p:nvPr/>
        </p:nvSpPr>
        <p:spPr>
          <a:xfrm>
            <a:off x="2276054" y="2515106"/>
            <a:ext cx="44259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Identical </a:t>
            </a:r>
            <a:r>
              <a:rPr sz="650" spc="10" dirty="0">
                <a:solidFill>
                  <a:srgbClr val="231F20"/>
                </a:solidFill>
                <a:latin typeface="Arial"/>
                <a:cs typeface="Arial"/>
              </a:rPr>
              <a:t> </a:t>
            </a:r>
            <a:r>
              <a:rPr sz="650" spc="5" dirty="0">
                <a:solidFill>
                  <a:srgbClr val="231F20"/>
                </a:solidFill>
                <a:latin typeface="Arial"/>
                <a:cs typeface="Arial"/>
              </a:rPr>
              <a:t>server</a:t>
            </a:r>
            <a:r>
              <a:rPr sz="650"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grpSp>
        <p:nvGrpSpPr>
          <p:cNvPr id="12" name="object 12"/>
          <p:cNvGrpSpPr/>
          <p:nvPr/>
        </p:nvGrpSpPr>
        <p:grpSpPr>
          <a:xfrm>
            <a:off x="1434326" y="1877042"/>
            <a:ext cx="1619250" cy="601345"/>
            <a:chOff x="1434326" y="1877042"/>
            <a:chExt cx="1619250" cy="601345"/>
          </a:xfrm>
        </p:grpSpPr>
        <p:sp>
          <p:nvSpPr>
            <p:cNvPr id="13" name="object 13"/>
            <p:cNvSpPr/>
            <p:nvPr/>
          </p:nvSpPr>
          <p:spPr>
            <a:xfrm>
              <a:off x="2348521" y="1879899"/>
              <a:ext cx="702310" cy="595630"/>
            </a:xfrm>
            <a:custGeom>
              <a:avLst/>
              <a:gdLst/>
              <a:ahLst/>
              <a:cxnLst/>
              <a:rect l="l" t="t" r="r" b="b"/>
              <a:pathLst>
                <a:path w="702310" h="595630">
                  <a:moveTo>
                    <a:pt x="627484" y="595162"/>
                  </a:moveTo>
                  <a:lnTo>
                    <a:pt x="702188" y="595162"/>
                  </a:lnTo>
                </a:path>
                <a:path w="702310" h="595630">
                  <a:moveTo>
                    <a:pt x="0" y="0"/>
                  </a:moveTo>
                  <a:lnTo>
                    <a:pt x="119524" y="0"/>
                  </a:lnTo>
                </a:path>
                <a:path w="702310" h="595630">
                  <a:moveTo>
                    <a:pt x="224101" y="0"/>
                  </a:moveTo>
                  <a:lnTo>
                    <a:pt x="557998" y="504238"/>
                  </a:lnTo>
                </a:path>
              </a:pathLst>
            </a:custGeom>
            <a:ln w="5267">
              <a:solidFill>
                <a:srgbClr val="231F20"/>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2859506" y="2335690"/>
              <a:ext cx="67641" cy="79613"/>
            </a:xfrm>
            <a:prstGeom prst="rect">
              <a:avLst/>
            </a:prstGeom>
          </p:spPr>
        </p:pic>
        <p:sp>
          <p:nvSpPr>
            <p:cNvPr id="15" name="object 15"/>
            <p:cNvSpPr/>
            <p:nvPr/>
          </p:nvSpPr>
          <p:spPr>
            <a:xfrm>
              <a:off x="1437184" y="1955205"/>
              <a:ext cx="769620" cy="328295"/>
            </a:xfrm>
            <a:custGeom>
              <a:avLst/>
              <a:gdLst/>
              <a:ahLst/>
              <a:cxnLst/>
              <a:rect l="l" t="t" r="r" b="b"/>
              <a:pathLst>
                <a:path w="769619" h="328294">
                  <a:moveTo>
                    <a:pt x="0" y="328071"/>
                  </a:moveTo>
                  <a:lnTo>
                    <a:pt x="769054" y="0"/>
                  </a:lnTo>
                </a:path>
              </a:pathLst>
            </a:custGeom>
            <a:ln w="5267">
              <a:solidFill>
                <a:srgbClr val="231F20"/>
              </a:solidFill>
            </a:ln>
          </p:spPr>
          <p:txBody>
            <a:bodyPr wrap="square" lIns="0" tIns="0" rIns="0" bIns="0" rtlCol="0"/>
            <a:lstStyle/>
            <a:p>
              <a:endParaRPr/>
            </a:p>
          </p:txBody>
        </p:sp>
        <p:sp>
          <p:nvSpPr>
            <p:cNvPr id="16" name="object 16"/>
            <p:cNvSpPr/>
            <p:nvPr/>
          </p:nvSpPr>
          <p:spPr>
            <a:xfrm>
              <a:off x="2159700" y="1940406"/>
              <a:ext cx="81280" cy="59055"/>
            </a:xfrm>
            <a:custGeom>
              <a:avLst/>
              <a:gdLst/>
              <a:ahLst/>
              <a:cxnLst/>
              <a:rect l="l" t="t" r="r" b="b"/>
              <a:pathLst>
                <a:path w="81280" h="59055">
                  <a:moveTo>
                    <a:pt x="0" y="0"/>
                  </a:moveTo>
                  <a:lnTo>
                    <a:pt x="11749" y="12313"/>
                  </a:lnTo>
                  <a:lnTo>
                    <a:pt x="19835" y="26192"/>
                  </a:lnTo>
                  <a:lnTo>
                    <a:pt x="24256" y="41634"/>
                  </a:lnTo>
                  <a:lnTo>
                    <a:pt x="25013" y="58638"/>
                  </a:lnTo>
                  <a:lnTo>
                    <a:pt x="80923" y="135"/>
                  </a:lnTo>
                  <a:lnTo>
                    <a:pt x="0" y="0"/>
                  </a:lnTo>
                  <a:close/>
                </a:path>
              </a:pathLst>
            </a:custGeom>
            <a:solidFill>
              <a:srgbClr val="231F20"/>
            </a:solidFill>
          </p:spPr>
          <p:txBody>
            <a:bodyPr wrap="square" lIns="0" tIns="0" rIns="0" bIns="0" rtlCol="0"/>
            <a:lstStyle/>
            <a:p>
              <a:endParaRPr/>
            </a:p>
          </p:txBody>
        </p:sp>
      </p:grpSp>
      <p:sp>
        <p:nvSpPr>
          <p:cNvPr id="17" name="object 17"/>
          <p:cNvSpPr txBox="1"/>
          <p:nvPr/>
        </p:nvSpPr>
        <p:spPr>
          <a:xfrm>
            <a:off x="1554290" y="2405060"/>
            <a:ext cx="592455"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Interprocess </a:t>
            </a:r>
            <a:r>
              <a:rPr sz="650" spc="10" dirty="0">
                <a:solidFill>
                  <a:srgbClr val="231F20"/>
                </a:solidFill>
                <a:latin typeface="Arial"/>
                <a:cs typeface="Arial"/>
              </a:rPr>
              <a:t> </a:t>
            </a:r>
            <a:r>
              <a:rPr sz="650" spc="5" dirty="0">
                <a:solidFill>
                  <a:srgbClr val="231F20"/>
                </a:solidFill>
                <a:latin typeface="Arial"/>
                <a:cs typeface="Arial"/>
              </a:rPr>
              <a:t>communication</a:t>
            </a:r>
            <a:endParaRPr sz="650">
              <a:latin typeface="Arial"/>
              <a:cs typeface="Arial"/>
            </a:endParaRPr>
          </a:p>
        </p:txBody>
      </p:sp>
      <p:sp>
        <p:nvSpPr>
          <p:cNvPr id="18" name="object 18"/>
          <p:cNvSpPr/>
          <p:nvPr/>
        </p:nvSpPr>
        <p:spPr>
          <a:xfrm>
            <a:off x="1738702" y="2155599"/>
            <a:ext cx="51435" cy="252729"/>
          </a:xfrm>
          <a:custGeom>
            <a:avLst/>
            <a:gdLst/>
            <a:ahLst/>
            <a:cxnLst/>
            <a:rect l="l" t="t" r="r" b="b"/>
            <a:pathLst>
              <a:path w="51435" h="252730">
                <a:moveTo>
                  <a:pt x="51218" y="252189"/>
                </a:moveTo>
                <a:lnTo>
                  <a:pt x="0" y="0"/>
                </a:lnTo>
              </a:path>
            </a:pathLst>
          </a:custGeom>
          <a:ln w="5267">
            <a:solidFill>
              <a:srgbClr val="231F20"/>
            </a:solidFill>
          </a:ln>
        </p:spPr>
        <p:txBody>
          <a:bodyPr wrap="square" lIns="0" tIns="0" rIns="0" bIns="0" rtlCol="0"/>
          <a:lstStyle/>
          <a:p>
            <a:endParaRPr/>
          </a:p>
        </p:txBody>
      </p:sp>
      <p:sp>
        <p:nvSpPr>
          <p:cNvPr id="19" name="object 19"/>
          <p:cNvSpPr txBox="1"/>
          <p:nvPr/>
        </p:nvSpPr>
        <p:spPr>
          <a:xfrm>
            <a:off x="2293509" y="2225187"/>
            <a:ext cx="405130" cy="221615"/>
          </a:xfrm>
          <a:prstGeom prst="rect">
            <a:avLst/>
          </a:prstGeom>
        </p:spPr>
        <p:txBody>
          <a:bodyPr vert="horz" wrap="square" lIns="0" tIns="20320" rIns="0" bIns="0" rtlCol="0">
            <a:spAutoFit/>
          </a:bodyPr>
          <a:lstStyle/>
          <a:p>
            <a:pPr marL="12700" marR="5080">
              <a:lnSpc>
                <a:spcPts val="750"/>
              </a:lnSpc>
              <a:spcBef>
                <a:spcPts val="160"/>
              </a:spcBef>
            </a:pPr>
            <a:r>
              <a:rPr sz="650" spc="5" dirty="0">
                <a:solidFill>
                  <a:srgbClr val="231F20"/>
                </a:solidFill>
                <a:latin typeface="Arial"/>
                <a:cs typeface="Arial"/>
              </a:rPr>
              <a:t>Local </a:t>
            </a:r>
            <a:r>
              <a:rPr sz="650" spc="10" dirty="0">
                <a:solidFill>
                  <a:srgbClr val="231F20"/>
                </a:solidFill>
                <a:latin typeface="Arial"/>
                <a:cs typeface="Arial"/>
              </a:rPr>
              <a:t> </a:t>
            </a:r>
            <a:r>
              <a:rPr sz="650" spc="5" dirty="0">
                <a:solidFill>
                  <a:srgbClr val="231F20"/>
                </a:solidFill>
                <a:latin typeface="Arial"/>
                <a:cs typeface="Arial"/>
              </a:rPr>
              <a:t>invocation</a:t>
            </a:r>
            <a:endParaRPr sz="650">
              <a:latin typeface="Arial"/>
              <a:cs typeface="Arial"/>
            </a:endParaRPr>
          </a:p>
        </p:txBody>
      </p:sp>
      <p:grpSp>
        <p:nvGrpSpPr>
          <p:cNvPr id="20" name="object 20"/>
          <p:cNvGrpSpPr/>
          <p:nvPr/>
        </p:nvGrpSpPr>
        <p:grpSpPr>
          <a:xfrm>
            <a:off x="1216704" y="1623060"/>
            <a:ext cx="2277745" cy="991869"/>
            <a:chOff x="1216704" y="1623060"/>
            <a:chExt cx="2277745" cy="991869"/>
          </a:xfrm>
        </p:grpSpPr>
        <p:sp>
          <p:nvSpPr>
            <p:cNvPr id="21" name="object 21"/>
            <p:cNvSpPr/>
            <p:nvPr/>
          </p:nvSpPr>
          <p:spPr>
            <a:xfrm>
              <a:off x="1219562" y="1625918"/>
              <a:ext cx="2272030" cy="986155"/>
            </a:xfrm>
            <a:custGeom>
              <a:avLst/>
              <a:gdLst/>
              <a:ahLst/>
              <a:cxnLst/>
              <a:rect l="l" t="t" r="r" b="b"/>
              <a:pathLst>
                <a:path w="2272029" h="986155">
                  <a:moveTo>
                    <a:pt x="1188726" y="612543"/>
                  </a:moveTo>
                  <a:lnTo>
                    <a:pt x="1187619" y="254738"/>
                  </a:lnTo>
                </a:path>
                <a:path w="2272029" h="986155">
                  <a:moveTo>
                    <a:pt x="0" y="527049"/>
                  </a:moveTo>
                  <a:lnTo>
                    <a:pt x="112434" y="628939"/>
                  </a:lnTo>
                </a:path>
                <a:path w="2272029" h="986155">
                  <a:moveTo>
                    <a:pt x="1502458" y="89639"/>
                  </a:moveTo>
                  <a:lnTo>
                    <a:pt x="1321142" y="210815"/>
                  </a:lnTo>
                </a:path>
                <a:path w="2272029" h="986155">
                  <a:moveTo>
                    <a:pt x="815227" y="313734"/>
                  </a:moveTo>
                  <a:lnTo>
                    <a:pt x="1063604" y="253981"/>
                  </a:lnTo>
                </a:path>
                <a:path w="2272029" h="986155">
                  <a:moveTo>
                    <a:pt x="2271919" y="568576"/>
                  </a:moveTo>
                  <a:lnTo>
                    <a:pt x="2068678" y="718636"/>
                  </a:lnTo>
                </a:path>
                <a:path w="2272029" h="986155">
                  <a:moveTo>
                    <a:pt x="1423031" y="985583"/>
                  </a:moveTo>
                  <a:lnTo>
                    <a:pt x="1671472" y="879024"/>
                  </a:lnTo>
                </a:path>
                <a:path w="2272029" h="986155">
                  <a:moveTo>
                    <a:pt x="441724" y="0"/>
                  </a:moveTo>
                  <a:lnTo>
                    <a:pt x="988921" y="182400"/>
                  </a:lnTo>
                </a:path>
              </a:pathLst>
            </a:custGeom>
            <a:ln w="5267">
              <a:solidFill>
                <a:srgbClr val="231F20"/>
              </a:solidFill>
            </a:ln>
          </p:spPr>
          <p:txBody>
            <a:bodyPr wrap="square" lIns="0" tIns="0" rIns="0" bIns="0" rtlCol="0"/>
            <a:lstStyle/>
            <a:p>
              <a:endParaRPr/>
            </a:p>
          </p:txBody>
        </p:sp>
        <p:sp>
          <p:nvSpPr>
            <p:cNvPr id="22" name="object 22"/>
            <p:cNvSpPr/>
            <p:nvPr/>
          </p:nvSpPr>
          <p:spPr>
            <a:xfrm>
              <a:off x="2163305" y="1766377"/>
              <a:ext cx="80645" cy="60960"/>
            </a:xfrm>
            <a:custGeom>
              <a:avLst/>
              <a:gdLst/>
              <a:ahLst/>
              <a:cxnLst/>
              <a:rect l="l" t="t" r="r" b="b"/>
              <a:pathLst>
                <a:path w="80644" h="60960">
                  <a:moveTo>
                    <a:pt x="20164" y="0"/>
                  </a:moveTo>
                  <a:lnTo>
                    <a:pt x="20791" y="17010"/>
                  </a:lnTo>
                  <a:lnTo>
                    <a:pt x="17640" y="32759"/>
                  </a:lnTo>
                  <a:lnTo>
                    <a:pt x="10710" y="47249"/>
                  </a:lnTo>
                  <a:lnTo>
                    <a:pt x="0" y="60478"/>
                  </a:lnTo>
                  <a:lnTo>
                    <a:pt x="80649" y="53759"/>
                  </a:lnTo>
                  <a:lnTo>
                    <a:pt x="20164" y="0"/>
                  </a:lnTo>
                  <a:close/>
                </a:path>
              </a:pathLst>
            </a:custGeom>
            <a:solidFill>
              <a:srgbClr val="231F20"/>
            </a:solidFill>
          </p:spPr>
          <p:txBody>
            <a:bodyPr wrap="square" lIns="0" tIns="0" rIns="0" bIns="0" rtlCol="0"/>
            <a:lstStyle/>
            <a:p>
              <a:endParaRPr/>
            </a:p>
          </p:txBody>
        </p:sp>
      </p:grpSp>
      <p:sp>
        <p:nvSpPr>
          <p:cNvPr id="23" name="object 23"/>
          <p:cNvSpPr txBox="1"/>
          <p:nvPr/>
        </p:nvSpPr>
        <p:spPr>
          <a:xfrm>
            <a:off x="1947427" y="1170245"/>
            <a:ext cx="784860" cy="314960"/>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Stub cs* refers to </a:t>
            </a:r>
            <a:r>
              <a:rPr sz="650" spc="10" dirty="0">
                <a:solidFill>
                  <a:srgbClr val="231F20"/>
                </a:solidFill>
                <a:latin typeface="Arial"/>
                <a:cs typeface="Arial"/>
              </a:rPr>
              <a:t> </a:t>
            </a:r>
            <a:r>
              <a:rPr sz="650" spc="5" dirty="0">
                <a:solidFill>
                  <a:srgbClr val="231F20"/>
                </a:solidFill>
                <a:latin typeface="Arial"/>
                <a:cs typeface="Arial"/>
              </a:rPr>
              <a:t>same</a:t>
            </a:r>
            <a:r>
              <a:rPr sz="650" spc="-25" dirty="0">
                <a:solidFill>
                  <a:srgbClr val="231F20"/>
                </a:solidFill>
                <a:latin typeface="Arial"/>
                <a:cs typeface="Arial"/>
              </a:rPr>
              <a:t> </a:t>
            </a:r>
            <a:r>
              <a:rPr sz="650" spc="5" dirty="0">
                <a:solidFill>
                  <a:srgbClr val="231F20"/>
                </a:solidFill>
                <a:latin typeface="Arial"/>
                <a:cs typeface="Arial"/>
              </a:rPr>
              <a:t>server</a:t>
            </a:r>
            <a:r>
              <a:rPr sz="650" spc="-20" dirty="0">
                <a:solidFill>
                  <a:srgbClr val="231F20"/>
                </a:solidFill>
                <a:latin typeface="Arial"/>
                <a:cs typeface="Arial"/>
              </a:rPr>
              <a:t> </a:t>
            </a:r>
            <a:r>
              <a:rPr sz="650" spc="5" dirty="0">
                <a:solidFill>
                  <a:srgbClr val="231F20"/>
                </a:solidFill>
                <a:latin typeface="Arial"/>
                <a:cs typeface="Arial"/>
              </a:rPr>
              <a:t>stub</a:t>
            </a:r>
            <a:r>
              <a:rPr sz="650" spc="-20" dirty="0">
                <a:solidFill>
                  <a:srgbClr val="231F20"/>
                </a:solidFill>
                <a:latin typeface="Arial"/>
                <a:cs typeface="Arial"/>
              </a:rPr>
              <a:t> </a:t>
            </a:r>
            <a:r>
              <a:rPr sz="650" spc="5" dirty="0">
                <a:solidFill>
                  <a:srgbClr val="231F20"/>
                </a:solidFill>
                <a:latin typeface="Arial"/>
                <a:cs typeface="Arial"/>
              </a:rPr>
              <a:t>as </a:t>
            </a:r>
            <a:r>
              <a:rPr sz="650" spc="-165" dirty="0">
                <a:solidFill>
                  <a:srgbClr val="231F20"/>
                </a:solidFill>
                <a:latin typeface="Arial"/>
                <a:cs typeface="Arial"/>
              </a:rPr>
              <a:t> </a:t>
            </a:r>
            <a:r>
              <a:rPr sz="650" spc="5" dirty="0">
                <a:solidFill>
                  <a:srgbClr val="231F20"/>
                </a:solidFill>
                <a:latin typeface="Arial"/>
                <a:cs typeface="Arial"/>
              </a:rPr>
              <a:t>stub</a:t>
            </a:r>
            <a:r>
              <a:rPr sz="650" spc="-5" dirty="0">
                <a:solidFill>
                  <a:srgbClr val="231F20"/>
                </a:solidFill>
                <a:latin typeface="Arial"/>
                <a:cs typeface="Arial"/>
              </a:rPr>
              <a:t> </a:t>
            </a:r>
            <a:r>
              <a:rPr sz="650" spc="5" dirty="0">
                <a:solidFill>
                  <a:srgbClr val="231F20"/>
                </a:solidFill>
                <a:latin typeface="Arial"/>
                <a:cs typeface="Arial"/>
              </a:rPr>
              <a:t>cs.</a:t>
            </a:r>
            <a:endParaRPr sz="650">
              <a:latin typeface="Arial"/>
              <a:cs typeface="Arial"/>
            </a:endParaRPr>
          </a:p>
        </p:txBody>
      </p:sp>
      <p:grpSp>
        <p:nvGrpSpPr>
          <p:cNvPr id="24" name="object 24"/>
          <p:cNvGrpSpPr/>
          <p:nvPr/>
        </p:nvGrpSpPr>
        <p:grpSpPr>
          <a:xfrm>
            <a:off x="1194963" y="1325493"/>
            <a:ext cx="1784350" cy="1212215"/>
            <a:chOff x="1194963" y="1325493"/>
            <a:chExt cx="1784350" cy="1212215"/>
          </a:xfrm>
        </p:grpSpPr>
        <p:sp>
          <p:nvSpPr>
            <p:cNvPr id="25" name="object 25"/>
            <p:cNvSpPr/>
            <p:nvPr/>
          </p:nvSpPr>
          <p:spPr>
            <a:xfrm>
              <a:off x="1332610" y="1425512"/>
              <a:ext cx="1644014" cy="1109345"/>
            </a:xfrm>
            <a:custGeom>
              <a:avLst/>
              <a:gdLst/>
              <a:ahLst/>
              <a:cxnLst/>
              <a:rect l="l" t="t" r="r" b="b"/>
              <a:pathLst>
                <a:path w="1644014" h="1109345">
                  <a:moveTo>
                    <a:pt x="602861" y="0"/>
                  </a:moveTo>
                  <a:lnTo>
                    <a:pt x="305075" y="167022"/>
                  </a:lnTo>
                </a:path>
                <a:path w="1644014" h="1109345">
                  <a:moveTo>
                    <a:pt x="911344" y="394623"/>
                  </a:moveTo>
                  <a:lnTo>
                    <a:pt x="950556" y="454386"/>
                  </a:lnTo>
                  <a:lnTo>
                    <a:pt x="911344" y="514140"/>
                  </a:lnTo>
                  <a:lnTo>
                    <a:pt x="1015910" y="514140"/>
                  </a:lnTo>
                  <a:lnTo>
                    <a:pt x="1015910" y="394623"/>
                  </a:lnTo>
                  <a:lnTo>
                    <a:pt x="911344" y="394623"/>
                  </a:lnTo>
                  <a:close/>
                </a:path>
                <a:path w="1644014" h="1109345">
                  <a:moveTo>
                    <a:pt x="1538818" y="989790"/>
                  </a:moveTo>
                  <a:lnTo>
                    <a:pt x="1578030" y="1049549"/>
                  </a:lnTo>
                  <a:lnTo>
                    <a:pt x="1538818" y="1109311"/>
                  </a:lnTo>
                  <a:lnTo>
                    <a:pt x="1643395" y="1109311"/>
                  </a:lnTo>
                  <a:lnTo>
                    <a:pt x="1643395" y="989790"/>
                  </a:lnTo>
                  <a:lnTo>
                    <a:pt x="1538818" y="989790"/>
                  </a:lnTo>
                  <a:close/>
                </a:path>
                <a:path w="1644014" h="1109345">
                  <a:moveTo>
                    <a:pt x="1135435" y="394623"/>
                  </a:moveTo>
                  <a:lnTo>
                    <a:pt x="1135435" y="514140"/>
                  </a:lnTo>
                  <a:lnTo>
                    <a:pt x="1195192" y="514140"/>
                  </a:lnTo>
                  <a:lnTo>
                    <a:pt x="1240012" y="454386"/>
                  </a:lnTo>
                  <a:lnTo>
                    <a:pt x="1195192" y="394623"/>
                  </a:lnTo>
                  <a:lnTo>
                    <a:pt x="1135435" y="394623"/>
                  </a:lnTo>
                  <a:close/>
                </a:path>
                <a:path w="1644014" h="1109345">
                  <a:moveTo>
                    <a:pt x="0" y="798006"/>
                  </a:moveTo>
                  <a:lnTo>
                    <a:pt x="0" y="917519"/>
                  </a:lnTo>
                  <a:lnTo>
                    <a:pt x="59753" y="917519"/>
                  </a:lnTo>
                  <a:lnTo>
                    <a:pt x="104574" y="857764"/>
                  </a:lnTo>
                  <a:lnTo>
                    <a:pt x="59753" y="798006"/>
                  </a:lnTo>
                  <a:lnTo>
                    <a:pt x="0" y="798006"/>
                  </a:lnTo>
                  <a:close/>
                </a:path>
              </a:pathLst>
            </a:custGeom>
            <a:ln w="5267">
              <a:solidFill>
                <a:srgbClr val="231F20"/>
              </a:solidFill>
            </a:ln>
          </p:spPr>
          <p:txBody>
            <a:bodyPr wrap="square" lIns="0" tIns="0" rIns="0" bIns="0" rtlCol="0"/>
            <a:lstStyle/>
            <a:p>
              <a:endParaRPr/>
            </a:p>
          </p:txBody>
        </p:sp>
        <p:pic>
          <p:nvPicPr>
            <p:cNvPr id="26" name="object 26"/>
            <p:cNvPicPr/>
            <p:nvPr/>
          </p:nvPicPr>
          <p:blipFill>
            <a:blip r:embed="rId6" cstate="print"/>
            <a:stretch>
              <a:fillRect/>
            </a:stretch>
          </p:blipFill>
          <p:spPr>
            <a:xfrm>
              <a:off x="1419611" y="1429066"/>
              <a:ext cx="244309" cy="260100"/>
            </a:xfrm>
            <a:prstGeom prst="rect">
              <a:avLst/>
            </a:prstGeom>
          </p:spPr>
        </p:pic>
        <p:sp>
          <p:nvSpPr>
            <p:cNvPr id="27" name="object 27"/>
            <p:cNvSpPr/>
            <p:nvPr/>
          </p:nvSpPr>
          <p:spPr>
            <a:xfrm>
              <a:off x="1194963" y="1325493"/>
              <a:ext cx="67310" cy="120014"/>
            </a:xfrm>
            <a:custGeom>
              <a:avLst/>
              <a:gdLst/>
              <a:ahLst/>
              <a:cxnLst/>
              <a:rect l="l" t="t" r="r" b="b"/>
              <a:pathLst>
                <a:path w="67309" h="120015">
                  <a:moveTo>
                    <a:pt x="66762" y="0"/>
                  </a:moveTo>
                  <a:lnTo>
                    <a:pt x="0" y="0"/>
                  </a:lnTo>
                  <a:lnTo>
                    <a:pt x="0" y="119467"/>
                  </a:lnTo>
                  <a:lnTo>
                    <a:pt x="66762" y="119467"/>
                  </a:lnTo>
                  <a:lnTo>
                    <a:pt x="66762" y="0"/>
                  </a:lnTo>
                  <a:close/>
                </a:path>
              </a:pathLst>
            </a:custGeom>
            <a:solidFill>
              <a:srgbClr val="FFFFFF"/>
            </a:solidFill>
          </p:spPr>
          <p:txBody>
            <a:bodyPr wrap="square" lIns="0" tIns="0" rIns="0" bIns="0" rtlCol="0"/>
            <a:lstStyle/>
            <a:p>
              <a:endParaRPr/>
            </a:p>
          </p:txBody>
        </p:sp>
      </p:grpSp>
      <p:sp>
        <p:nvSpPr>
          <p:cNvPr id="28" name="object 28"/>
          <p:cNvSpPr txBox="1"/>
          <p:nvPr/>
        </p:nvSpPr>
        <p:spPr>
          <a:xfrm>
            <a:off x="1046552" y="1305338"/>
            <a:ext cx="564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r>
              <a:rPr sz="650" spc="-35" dirty="0">
                <a:solidFill>
                  <a:srgbClr val="231F20"/>
                </a:solidFill>
                <a:latin typeface="Arial"/>
                <a:cs typeface="Arial"/>
              </a:rPr>
              <a:t> </a:t>
            </a:r>
            <a:r>
              <a:rPr sz="650" spc="5" dirty="0">
                <a:solidFill>
                  <a:srgbClr val="231F20"/>
                </a:solidFill>
                <a:latin typeface="Arial"/>
                <a:cs typeface="Arial"/>
              </a:rPr>
              <a:t>stub</a:t>
            </a:r>
            <a:r>
              <a:rPr sz="650" spc="-30" dirty="0">
                <a:solidFill>
                  <a:srgbClr val="231F20"/>
                </a:solidFill>
                <a:latin typeface="Arial"/>
                <a:cs typeface="Arial"/>
              </a:rPr>
              <a:t> </a:t>
            </a:r>
            <a:r>
              <a:rPr sz="650" spc="5" dirty="0">
                <a:solidFill>
                  <a:srgbClr val="231F20"/>
                </a:solidFill>
                <a:latin typeface="Arial"/>
                <a:cs typeface="Arial"/>
              </a:rPr>
              <a:t>cs*</a:t>
            </a:r>
            <a:endParaRPr sz="650">
              <a:latin typeface="Arial"/>
              <a:cs typeface="Arial"/>
            </a:endParaRPr>
          </a:p>
        </p:txBody>
      </p:sp>
      <p:sp>
        <p:nvSpPr>
          <p:cNvPr id="29" name="object 29"/>
          <p:cNvSpPr/>
          <p:nvPr/>
        </p:nvSpPr>
        <p:spPr>
          <a:xfrm>
            <a:off x="1001713" y="2059853"/>
            <a:ext cx="67310" cy="120014"/>
          </a:xfrm>
          <a:custGeom>
            <a:avLst/>
            <a:gdLst/>
            <a:ahLst/>
            <a:cxnLst/>
            <a:rect l="l" t="t" r="r" b="b"/>
            <a:pathLst>
              <a:path w="67309" h="120014">
                <a:moveTo>
                  <a:pt x="66754" y="0"/>
                </a:moveTo>
                <a:lnTo>
                  <a:pt x="0" y="0"/>
                </a:lnTo>
                <a:lnTo>
                  <a:pt x="0" y="119463"/>
                </a:lnTo>
                <a:lnTo>
                  <a:pt x="66754" y="119463"/>
                </a:lnTo>
                <a:lnTo>
                  <a:pt x="66754" y="0"/>
                </a:lnTo>
                <a:close/>
              </a:path>
            </a:pathLst>
          </a:custGeom>
          <a:solidFill>
            <a:srgbClr val="FFFFFF"/>
          </a:solidFill>
        </p:spPr>
        <p:txBody>
          <a:bodyPr wrap="square" lIns="0" tIns="0" rIns="0" bIns="0" rtlCol="0"/>
          <a:lstStyle/>
          <a:p>
            <a:endParaRPr/>
          </a:p>
        </p:txBody>
      </p:sp>
      <p:sp>
        <p:nvSpPr>
          <p:cNvPr id="30" name="object 30"/>
          <p:cNvSpPr txBox="1"/>
          <p:nvPr/>
        </p:nvSpPr>
        <p:spPr>
          <a:xfrm>
            <a:off x="853779" y="2040003"/>
            <a:ext cx="532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r>
              <a:rPr sz="650" spc="-35" dirty="0">
                <a:solidFill>
                  <a:srgbClr val="231F20"/>
                </a:solidFill>
                <a:latin typeface="Arial"/>
                <a:cs typeface="Arial"/>
              </a:rPr>
              <a:t> </a:t>
            </a:r>
            <a:r>
              <a:rPr sz="650" spc="5" dirty="0">
                <a:solidFill>
                  <a:srgbClr val="231F20"/>
                </a:solidFill>
                <a:latin typeface="Arial"/>
                <a:cs typeface="Arial"/>
              </a:rPr>
              <a:t>stub</a:t>
            </a:r>
            <a:r>
              <a:rPr sz="650" spc="-30" dirty="0">
                <a:solidFill>
                  <a:srgbClr val="231F20"/>
                </a:solidFill>
                <a:latin typeface="Arial"/>
                <a:cs typeface="Arial"/>
              </a:rPr>
              <a:t> </a:t>
            </a:r>
            <a:r>
              <a:rPr sz="650" spc="5" dirty="0">
                <a:solidFill>
                  <a:srgbClr val="231F20"/>
                </a:solidFill>
                <a:latin typeface="Arial"/>
                <a:cs typeface="Arial"/>
              </a:rPr>
              <a:t>cs</a:t>
            </a:r>
            <a:endParaRPr sz="650">
              <a:latin typeface="Arial"/>
              <a:cs typeface="Arial"/>
            </a:endParaRPr>
          </a:p>
        </p:txBody>
      </p:sp>
      <p:sp>
        <p:nvSpPr>
          <p:cNvPr id="31" name="object 31"/>
          <p:cNvSpPr txBox="1"/>
          <p:nvPr/>
        </p:nvSpPr>
        <p:spPr>
          <a:xfrm>
            <a:off x="66713" y="3331252"/>
            <a:ext cx="692785" cy="119380"/>
          </a:xfrm>
          <a:prstGeom prst="rect">
            <a:avLst/>
          </a:prstGeom>
        </p:spPr>
        <p:txBody>
          <a:bodyPr vert="horz" wrap="square" lIns="0" tIns="8890" rIns="0" bIns="0" rtlCol="0">
            <a:spAutoFit/>
          </a:bodyPr>
          <a:lstStyle/>
          <a:p>
            <a:pPr marL="12700">
              <a:lnSpc>
                <a:spcPct val="100000"/>
              </a:lnSpc>
              <a:spcBef>
                <a:spcPts val="70"/>
              </a:spcBef>
            </a:pPr>
            <a:r>
              <a:rPr sz="600" spc="-25" dirty="0">
                <a:solidFill>
                  <a:srgbClr val="3333B2"/>
                </a:solidFill>
                <a:latin typeface="Arial"/>
                <a:cs typeface="Arial"/>
                <a:hlinkClick r:id="rId7" action="ppaction://hlinksldjump"/>
              </a:rPr>
              <a:t>F</a:t>
            </a:r>
            <a:r>
              <a:rPr sz="600" spc="-5" dirty="0">
                <a:solidFill>
                  <a:srgbClr val="3333B2"/>
                </a:solidFill>
                <a:latin typeface="Arial"/>
                <a:cs typeface="Arial"/>
                <a:hlinkClick r:id="rId7" action="ppaction://hlinksldjump"/>
              </a:rPr>
              <a:t>or</a:t>
            </a:r>
            <a:r>
              <a:rPr sz="600" spc="-15" dirty="0">
                <a:solidFill>
                  <a:srgbClr val="3333B2"/>
                </a:solidFill>
                <a:latin typeface="Arial"/>
                <a:cs typeface="Arial"/>
                <a:hlinkClick r:id="rId7" action="ppaction://hlinksldjump"/>
              </a:rPr>
              <a:t>w</a:t>
            </a:r>
            <a:r>
              <a:rPr sz="600" spc="-5" dirty="0">
                <a:solidFill>
                  <a:srgbClr val="3333B2"/>
                </a:solidFill>
                <a:latin typeface="Arial"/>
                <a:cs typeface="Arial"/>
                <a:hlinkClick r:id="rId7" action="ppaction://hlinksldjump"/>
              </a:rPr>
              <a:t>arding pointers</a:t>
            </a:r>
            <a:endParaRPr sz="600">
              <a:latin typeface="Arial"/>
              <a:cs typeface="Arial"/>
            </a:endParaRPr>
          </a:p>
        </p:txBody>
      </p:sp>
      <p:sp>
        <p:nvSpPr>
          <p:cNvPr id="32" name="object 32"/>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6</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Simple</a:t>
            </a:r>
            <a:r>
              <a:rPr sz="600" spc="-3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solutions</a:t>
            </a:r>
            <a:endParaRPr sz="600">
              <a:latin typeface="Arial"/>
              <a:cs typeface="Arial"/>
            </a:endParaRPr>
          </a:p>
        </p:txBody>
      </p:sp>
      <p:sp>
        <p:nvSpPr>
          <p:cNvPr id="4" name="object 4"/>
          <p:cNvSpPr txBox="1"/>
          <p:nvPr/>
        </p:nvSpPr>
        <p:spPr>
          <a:xfrm>
            <a:off x="95300" y="188846"/>
            <a:ext cx="4124325" cy="87503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75" dirty="0">
                <a:solidFill>
                  <a:srgbClr val="3333B2"/>
                </a:solidFill>
                <a:latin typeface="Arial"/>
                <a:cs typeface="Arial"/>
              </a:rPr>
              <a:t> </a:t>
            </a:r>
            <a:r>
              <a:rPr sz="1400" spc="20" dirty="0">
                <a:solidFill>
                  <a:srgbClr val="3333B2"/>
                </a:solidFill>
                <a:latin typeface="Arial"/>
                <a:cs typeface="Arial"/>
              </a:rPr>
              <a:t>SSP</a:t>
            </a:r>
            <a:r>
              <a:rPr sz="1400" spc="-10" dirty="0">
                <a:solidFill>
                  <a:srgbClr val="3333B2"/>
                </a:solidFill>
                <a:latin typeface="Arial"/>
                <a:cs typeface="Arial"/>
              </a:rPr>
              <a:t> </a:t>
            </a:r>
            <a:r>
              <a:rPr sz="1400" spc="15" dirty="0">
                <a:solidFill>
                  <a:srgbClr val="3333B2"/>
                </a:solidFill>
                <a:latin typeface="Arial"/>
                <a:cs typeface="Arial"/>
              </a:rPr>
              <a:t>chains</a:t>
            </a:r>
            <a:endParaRPr sz="1400">
              <a:latin typeface="Arial"/>
              <a:cs typeface="Arial"/>
            </a:endParaRPr>
          </a:p>
          <a:p>
            <a:pPr>
              <a:lnSpc>
                <a:spcPct val="100000"/>
              </a:lnSpc>
              <a:spcBef>
                <a:spcPts val="35"/>
              </a:spcBef>
            </a:pPr>
            <a:endParaRPr sz="1900">
              <a:latin typeface="Arial"/>
              <a:cs typeface="Arial"/>
            </a:endParaRPr>
          </a:p>
          <a:p>
            <a:pPr marL="264160" marR="5080">
              <a:lnSpc>
                <a:spcPts val="1390"/>
              </a:lnSpc>
              <a:spcBef>
                <a:spcPts val="5"/>
              </a:spcBef>
            </a:pPr>
            <a:r>
              <a:rPr sz="1200" spc="-5" dirty="0">
                <a:solidFill>
                  <a:srgbClr val="3333B2"/>
                </a:solidFill>
                <a:latin typeface="Arial"/>
                <a:cs typeface="Arial"/>
              </a:rPr>
              <a:t>Redirecting a </a:t>
            </a:r>
            <a:r>
              <a:rPr sz="1200" spc="-10" dirty="0">
                <a:solidFill>
                  <a:srgbClr val="3333B2"/>
                </a:solidFill>
                <a:latin typeface="Arial"/>
                <a:cs typeface="Arial"/>
              </a:rPr>
              <a:t>forwarding</a:t>
            </a:r>
            <a:r>
              <a:rPr sz="1200" spc="-5" dirty="0">
                <a:solidFill>
                  <a:srgbClr val="3333B2"/>
                </a:solidFill>
                <a:latin typeface="Arial"/>
                <a:cs typeface="Arial"/>
              </a:rPr>
              <a:t> pointer</a:t>
            </a:r>
            <a:r>
              <a:rPr sz="1200" dirty="0">
                <a:solidFill>
                  <a:srgbClr val="3333B2"/>
                </a:solidFill>
                <a:latin typeface="Arial"/>
                <a:cs typeface="Arial"/>
              </a:rPr>
              <a:t> </a:t>
            </a:r>
            <a:r>
              <a:rPr sz="1200" spc="-15" dirty="0">
                <a:solidFill>
                  <a:srgbClr val="3333B2"/>
                </a:solidFill>
                <a:latin typeface="Arial"/>
                <a:cs typeface="Arial"/>
              </a:rPr>
              <a:t>by</a:t>
            </a:r>
            <a:r>
              <a:rPr sz="1200" spc="-5" dirty="0">
                <a:solidFill>
                  <a:srgbClr val="3333B2"/>
                </a:solidFill>
                <a:latin typeface="Arial"/>
                <a:cs typeface="Arial"/>
              </a:rPr>
              <a:t> </a:t>
            </a:r>
            <a:r>
              <a:rPr sz="1200" dirty="0">
                <a:solidFill>
                  <a:srgbClr val="3333B2"/>
                </a:solidFill>
                <a:latin typeface="Arial"/>
                <a:cs typeface="Arial"/>
              </a:rPr>
              <a:t>storing</a:t>
            </a:r>
            <a:r>
              <a:rPr sz="1200" spc="-5" dirty="0">
                <a:solidFill>
                  <a:srgbClr val="3333B2"/>
                </a:solidFill>
                <a:latin typeface="Arial"/>
                <a:cs typeface="Arial"/>
              </a:rPr>
              <a:t> a </a:t>
            </a:r>
            <a:r>
              <a:rPr sz="1200" dirty="0">
                <a:solidFill>
                  <a:srgbClr val="3333B2"/>
                </a:solidFill>
                <a:latin typeface="Arial"/>
                <a:cs typeface="Arial"/>
              </a:rPr>
              <a:t>shortcut </a:t>
            </a:r>
            <a:r>
              <a:rPr sz="1200" spc="-5" dirty="0">
                <a:solidFill>
                  <a:srgbClr val="3333B2"/>
                </a:solidFill>
                <a:latin typeface="Arial"/>
                <a:cs typeface="Arial"/>
              </a:rPr>
              <a:t>in a </a:t>
            </a:r>
            <a:r>
              <a:rPr sz="1200" spc="-320" dirty="0">
                <a:solidFill>
                  <a:srgbClr val="3333B2"/>
                </a:solidFill>
                <a:latin typeface="Arial"/>
                <a:cs typeface="Arial"/>
              </a:rPr>
              <a:t> </a:t>
            </a:r>
            <a:r>
              <a:rPr sz="1200" spc="-5" dirty="0">
                <a:solidFill>
                  <a:srgbClr val="3333B2"/>
                </a:solidFill>
                <a:latin typeface="Arial"/>
                <a:cs typeface="Arial"/>
              </a:rPr>
              <a:t>client</a:t>
            </a:r>
            <a:r>
              <a:rPr sz="1200" spc="-10" dirty="0">
                <a:solidFill>
                  <a:srgbClr val="3333B2"/>
                </a:solidFill>
                <a:latin typeface="Arial"/>
                <a:cs typeface="Arial"/>
              </a:rPr>
              <a:t> </a:t>
            </a:r>
            <a:r>
              <a:rPr sz="1200" spc="-5" dirty="0">
                <a:solidFill>
                  <a:srgbClr val="3333B2"/>
                </a:solidFill>
                <a:latin typeface="Arial"/>
                <a:cs typeface="Arial"/>
              </a:rPr>
              <a:t>stub</a:t>
            </a:r>
            <a:endParaRPr sz="1200">
              <a:latin typeface="Arial"/>
              <a:cs typeface="Arial"/>
            </a:endParaRPr>
          </a:p>
        </p:txBody>
      </p:sp>
      <p:grpSp>
        <p:nvGrpSpPr>
          <p:cNvPr id="5" name="object 5"/>
          <p:cNvGrpSpPr/>
          <p:nvPr/>
        </p:nvGrpSpPr>
        <p:grpSpPr>
          <a:xfrm>
            <a:off x="843937" y="1982610"/>
            <a:ext cx="990600" cy="64135"/>
            <a:chOff x="843937" y="1982610"/>
            <a:chExt cx="990600" cy="64135"/>
          </a:xfrm>
        </p:grpSpPr>
        <p:sp>
          <p:nvSpPr>
            <p:cNvPr id="6" name="object 6"/>
            <p:cNvSpPr/>
            <p:nvPr/>
          </p:nvSpPr>
          <p:spPr>
            <a:xfrm>
              <a:off x="881321" y="2014488"/>
              <a:ext cx="950594" cy="0"/>
            </a:xfrm>
            <a:custGeom>
              <a:avLst/>
              <a:gdLst/>
              <a:ahLst/>
              <a:cxnLst/>
              <a:rect l="l" t="t" r="r" b="b"/>
              <a:pathLst>
                <a:path w="950594">
                  <a:moveTo>
                    <a:pt x="949972" y="0"/>
                  </a:moveTo>
                  <a:lnTo>
                    <a:pt x="0" y="0"/>
                  </a:lnTo>
                </a:path>
              </a:pathLst>
            </a:custGeom>
            <a:ln w="5267">
              <a:solidFill>
                <a:srgbClr val="231F20"/>
              </a:solidFill>
              <a:prstDash val="lgDash"/>
            </a:ln>
          </p:spPr>
          <p:txBody>
            <a:bodyPr wrap="square" lIns="0" tIns="0" rIns="0" bIns="0" rtlCol="0"/>
            <a:lstStyle/>
            <a:p>
              <a:endParaRPr/>
            </a:p>
          </p:txBody>
        </p:sp>
        <p:pic>
          <p:nvPicPr>
            <p:cNvPr id="7" name="object 7"/>
            <p:cNvPicPr/>
            <p:nvPr/>
          </p:nvPicPr>
          <p:blipFill>
            <a:blip r:embed="rId5" cstate="print"/>
            <a:stretch>
              <a:fillRect/>
            </a:stretch>
          </p:blipFill>
          <p:spPr>
            <a:xfrm>
              <a:off x="843937" y="1982610"/>
              <a:ext cx="74380" cy="63751"/>
            </a:xfrm>
            <a:prstGeom prst="rect">
              <a:avLst/>
            </a:prstGeom>
          </p:spPr>
        </p:pic>
      </p:grpSp>
      <p:sp>
        <p:nvSpPr>
          <p:cNvPr id="8" name="object 8"/>
          <p:cNvSpPr txBox="1"/>
          <p:nvPr/>
        </p:nvSpPr>
        <p:spPr>
          <a:xfrm>
            <a:off x="532227" y="1335572"/>
            <a:ext cx="527050" cy="314960"/>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Invocation </a:t>
            </a:r>
            <a:r>
              <a:rPr sz="650" spc="10" dirty="0">
                <a:solidFill>
                  <a:srgbClr val="231F20"/>
                </a:solidFill>
                <a:latin typeface="Arial"/>
                <a:cs typeface="Arial"/>
              </a:rPr>
              <a:t> </a:t>
            </a:r>
            <a:r>
              <a:rPr sz="650" spc="5" dirty="0">
                <a:solidFill>
                  <a:srgbClr val="231F20"/>
                </a:solidFill>
                <a:latin typeface="Arial"/>
                <a:cs typeface="Arial"/>
              </a:rPr>
              <a:t>request is </a:t>
            </a:r>
            <a:r>
              <a:rPr sz="650" spc="10" dirty="0">
                <a:solidFill>
                  <a:srgbClr val="231F20"/>
                </a:solidFill>
                <a:latin typeface="Arial"/>
                <a:cs typeface="Arial"/>
              </a:rPr>
              <a:t> </a:t>
            </a:r>
            <a:r>
              <a:rPr sz="650" spc="5" dirty="0">
                <a:solidFill>
                  <a:srgbClr val="231F20"/>
                </a:solidFill>
                <a:latin typeface="Arial"/>
                <a:cs typeface="Arial"/>
              </a:rPr>
              <a:t>sent</a:t>
            </a:r>
            <a:r>
              <a:rPr sz="650" spc="-45" dirty="0">
                <a:solidFill>
                  <a:srgbClr val="231F20"/>
                </a:solidFill>
                <a:latin typeface="Arial"/>
                <a:cs typeface="Arial"/>
              </a:rPr>
              <a:t> </a:t>
            </a:r>
            <a:r>
              <a:rPr sz="650" spc="5" dirty="0">
                <a:solidFill>
                  <a:srgbClr val="231F20"/>
                </a:solidFill>
                <a:latin typeface="Arial"/>
                <a:cs typeface="Arial"/>
              </a:rPr>
              <a:t>to</a:t>
            </a:r>
            <a:r>
              <a:rPr sz="650" spc="-40" dirty="0">
                <a:solidFill>
                  <a:srgbClr val="231F20"/>
                </a:solidFill>
                <a:latin typeface="Arial"/>
                <a:cs typeface="Arial"/>
              </a:rPr>
              <a:t> </a:t>
            </a:r>
            <a:r>
              <a:rPr sz="650" spc="5" dirty="0">
                <a:solidFill>
                  <a:srgbClr val="231F20"/>
                </a:solidFill>
                <a:latin typeface="Arial"/>
                <a:cs typeface="Arial"/>
              </a:rPr>
              <a:t>object</a:t>
            </a:r>
            <a:endParaRPr sz="650">
              <a:latin typeface="Arial"/>
              <a:cs typeface="Arial"/>
            </a:endParaRPr>
          </a:p>
        </p:txBody>
      </p:sp>
      <p:grpSp>
        <p:nvGrpSpPr>
          <p:cNvPr id="9" name="object 9"/>
          <p:cNvGrpSpPr/>
          <p:nvPr/>
        </p:nvGrpSpPr>
        <p:grpSpPr>
          <a:xfrm>
            <a:off x="465262" y="1354409"/>
            <a:ext cx="1769745" cy="876935"/>
            <a:chOff x="465262" y="1354409"/>
            <a:chExt cx="1769745" cy="876935"/>
          </a:xfrm>
        </p:grpSpPr>
        <p:sp>
          <p:nvSpPr>
            <p:cNvPr id="10" name="object 10"/>
            <p:cNvSpPr/>
            <p:nvPr/>
          </p:nvSpPr>
          <p:spPr>
            <a:xfrm>
              <a:off x="467895" y="1357043"/>
              <a:ext cx="1764664" cy="871219"/>
            </a:xfrm>
            <a:custGeom>
              <a:avLst/>
              <a:gdLst/>
              <a:ahLst/>
              <a:cxnLst/>
              <a:rect l="l" t="t" r="r" b="b"/>
              <a:pathLst>
                <a:path w="1764664" h="871219">
                  <a:moveTo>
                    <a:pt x="819554" y="811669"/>
                  </a:moveTo>
                  <a:lnTo>
                    <a:pt x="964797" y="661847"/>
                  </a:lnTo>
                </a:path>
                <a:path w="1764664" h="871219">
                  <a:moveTo>
                    <a:pt x="1285959" y="871135"/>
                  </a:moveTo>
                  <a:lnTo>
                    <a:pt x="1764043" y="871135"/>
                  </a:lnTo>
                  <a:lnTo>
                    <a:pt x="1764043" y="393055"/>
                  </a:lnTo>
                  <a:lnTo>
                    <a:pt x="1285959" y="393055"/>
                  </a:lnTo>
                  <a:lnTo>
                    <a:pt x="1285959" y="871135"/>
                  </a:lnTo>
                  <a:close/>
                </a:path>
                <a:path w="1764664" h="871219">
                  <a:moveTo>
                    <a:pt x="675093" y="478079"/>
                  </a:moveTo>
                  <a:lnTo>
                    <a:pt x="1153172" y="478079"/>
                  </a:lnTo>
                  <a:lnTo>
                    <a:pt x="1153172" y="0"/>
                  </a:lnTo>
                  <a:lnTo>
                    <a:pt x="675093" y="0"/>
                  </a:lnTo>
                  <a:lnTo>
                    <a:pt x="675093" y="478079"/>
                  </a:lnTo>
                  <a:close/>
                </a:path>
                <a:path w="1764664" h="871219">
                  <a:moveTo>
                    <a:pt x="420301" y="299487"/>
                  </a:moveTo>
                  <a:lnTo>
                    <a:pt x="581369" y="457615"/>
                  </a:lnTo>
                </a:path>
                <a:path w="1764664" h="871219">
                  <a:moveTo>
                    <a:pt x="0" y="869401"/>
                  </a:moveTo>
                  <a:lnTo>
                    <a:pt x="478079" y="869401"/>
                  </a:lnTo>
                  <a:lnTo>
                    <a:pt x="478079" y="391321"/>
                  </a:lnTo>
                  <a:lnTo>
                    <a:pt x="0" y="391321"/>
                  </a:lnTo>
                  <a:lnTo>
                    <a:pt x="0" y="869401"/>
                  </a:lnTo>
                  <a:close/>
                </a:path>
                <a:path w="1764664" h="871219">
                  <a:moveTo>
                    <a:pt x="1731296" y="542124"/>
                  </a:moveTo>
                  <a:lnTo>
                    <a:pt x="1731296" y="774133"/>
                  </a:lnTo>
                  <a:lnTo>
                    <a:pt x="1726858" y="798702"/>
                  </a:lnTo>
                  <a:lnTo>
                    <a:pt x="1714774" y="818823"/>
                  </a:lnTo>
                  <a:lnTo>
                    <a:pt x="1696889" y="832419"/>
                  </a:lnTo>
                  <a:lnTo>
                    <a:pt x="1675049" y="837412"/>
                  </a:lnTo>
                  <a:lnTo>
                    <a:pt x="1548494" y="837408"/>
                  </a:lnTo>
                  <a:lnTo>
                    <a:pt x="1526659" y="832415"/>
                  </a:lnTo>
                  <a:lnTo>
                    <a:pt x="1508778" y="818821"/>
                  </a:lnTo>
                  <a:lnTo>
                    <a:pt x="1496695" y="798702"/>
                  </a:lnTo>
                  <a:lnTo>
                    <a:pt x="1492257" y="774133"/>
                  </a:lnTo>
                  <a:lnTo>
                    <a:pt x="1492257" y="542124"/>
                  </a:lnTo>
                  <a:lnTo>
                    <a:pt x="1496695" y="517553"/>
                  </a:lnTo>
                  <a:lnTo>
                    <a:pt x="1508778" y="497432"/>
                  </a:lnTo>
                  <a:lnTo>
                    <a:pt x="1526659" y="483837"/>
                  </a:lnTo>
                  <a:lnTo>
                    <a:pt x="1548494" y="478844"/>
                  </a:lnTo>
                  <a:lnTo>
                    <a:pt x="1675049" y="478844"/>
                  </a:lnTo>
                  <a:lnTo>
                    <a:pt x="1696889" y="483838"/>
                  </a:lnTo>
                  <a:lnTo>
                    <a:pt x="1714774" y="497433"/>
                  </a:lnTo>
                  <a:lnTo>
                    <a:pt x="1726858" y="517555"/>
                  </a:lnTo>
                  <a:lnTo>
                    <a:pt x="1731296" y="542124"/>
                  </a:lnTo>
                  <a:close/>
                </a:path>
                <a:path w="1764664" h="871219">
                  <a:moveTo>
                    <a:pt x="1438098" y="657445"/>
                  </a:moveTo>
                  <a:lnTo>
                    <a:pt x="1492257" y="657445"/>
                  </a:lnTo>
                </a:path>
                <a:path w="1764664" h="871219">
                  <a:moveTo>
                    <a:pt x="870386" y="239124"/>
                  </a:moveTo>
                  <a:lnTo>
                    <a:pt x="989828" y="238889"/>
                  </a:lnTo>
                </a:path>
                <a:path w="1764664" h="871219">
                  <a:moveTo>
                    <a:pt x="1094482" y="239124"/>
                  </a:moveTo>
                  <a:lnTo>
                    <a:pt x="1350660" y="568192"/>
                  </a:lnTo>
                </a:path>
              </a:pathLst>
            </a:custGeom>
            <a:ln w="5267">
              <a:solidFill>
                <a:srgbClr val="231F20"/>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1770679" y="1876459"/>
              <a:ext cx="70835" cy="78271"/>
            </a:xfrm>
            <a:prstGeom prst="rect">
              <a:avLst/>
            </a:prstGeom>
          </p:spPr>
        </p:pic>
        <p:sp>
          <p:nvSpPr>
            <p:cNvPr id="12" name="object 12"/>
            <p:cNvSpPr/>
            <p:nvPr/>
          </p:nvSpPr>
          <p:spPr>
            <a:xfrm>
              <a:off x="828340" y="1679660"/>
              <a:ext cx="376555" cy="309880"/>
            </a:xfrm>
            <a:custGeom>
              <a:avLst/>
              <a:gdLst/>
              <a:ahLst/>
              <a:cxnLst/>
              <a:rect l="l" t="t" r="r" b="b"/>
              <a:pathLst>
                <a:path w="376555" h="309880">
                  <a:moveTo>
                    <a:pt x="0" y="309361"/>
                  </a:moveTo>
                  <a:lnTo>
                    <a:pt x="376478" y="0"/>
                  </a:lnTo>
                </a:path>
              </a:pathLst>
            </a:custGeom>
            <a:ln w="5267">
              <a:solidFill>
                <a:srgbClr val="231F20"/>
              </a:solidFill>
            </a:ln>
          </p:spPr>
          <p:txBody>
            <a:bodyPr wrap="square" lIns="0" tIns="0" rIns="0" bIns="0" rtlCol="0"/>
            <a:lstStyle/>
            <a:p>
              <a:endParaRPr/>
            </a:p>
          </p:txBody>
        </p:sp>
        <p:pic>
          <p:nvPicPr>
            <p:cNvPr id="13" name="object 13"/>
            <p:cNvPicPr/>
            <p:nvPr/>
          </p:nvPicPr>
          <p:blipFill>
            <a:blip r:embed="rId7" cstate="print"/>
            <a:stretch>
              <a:fillRect/>
            </a:stretch>
          </p:blipFill>
          <p:spPr>
            <a:xfrm>
              <a:off x="1155992" y="1533775"/>
              <a:ext cx="184923" cy="194002"/>
            </a:xfrm>
            <a:prstGeom prst="rect">
              <a:avLst/>
            </a:prstGeom>
          </p:spPr>
        </p:pic>
        <p:sp>
          <p:nvSpPr>
            <p:cNvPr id="14" name="object 14"/>
            <p:cNvSpPr/>
            <p:nvPr/>
          </p:nvSpPr>
          <p:spPr>
            <a:xfrm>
              <a:off x="739363" y="1536409"/>
              <a:ext cx="1167130" cy="537845"/>
            </a:xfrm>
            <a:custGeom>
              <a:avLst/>
              <a:gdLst/>
              <a:ahLst/>
              <a:cxnLst/>
              <a:rect l="l" t="t" r="r" b="b"/>
              <a:pathLst>
                <a:path w="1167130" h="537844">
                  <a:moveTo>
                    <a:pt x="1062053" y="418321"/>
                  </a:moveTo>
                  <a:lnTo>
                    <a:pt x="1101276" y="478079"/>
                  </a:lnTo>
                  <a:lnTo>
                    <a:pt x="1062053" y="537837"/>
                  </a:lnTo>
                  <a:lnTo>
                    <a:pt x="1166630" y="537837"/>
                  </a:lnTo>
                  <a:lnTo>
                    <a:pt x="1166630" y="418321"/>
                  </a:lnTo>
                  <a:lnTo>
                    <a:pt x="1062053" y="418321"/>
                  </a:lnTo>
                  <a:close/>
                </a:path>
                <a:path w="1167130" h="537844">
                  <a:moveTo>
                    <a:pt x="718435" y="0"/>
                  </a:moveTo>
                  <a:lnTo>
                    <a:pt x="718435" y="119521"/>
                  </a:lnTo>
                  <a:lnTo>
                    <a:pt x="778194" y="119521"/>
                  </a:lnTo>
                  <a:lnTo>
                    <a:pt x="823014" y="59759"/>
                  </a:lnTo>
                  <a:lnTo>
                    <a:pt x="778194" y="0"/>
                  </a:lnTo>
                  <a:lnTo>
                    <a:pt x="718435" y="0"/>
                  </a:lnTo>
                  <a:close/>
                </a:path>
                <a:path w="1167130" h="537844">
                  <a:moveTo>
                    <a:pt x="0" y="417436"/>
                  </a:moveTo>
                  <a:lnTo>
                    <a:pt x="0" y="536953"/>
                  </a:lnTo>
                  <a:lnTo>
                    <a:pt x="59754" y="536953"/>
                  </a:lnTo>
                  <a:lnTo>
                    <a:pt x="104574" y="477189"/>
                  </a:lnTo>
                  <a:lnTo>
                    <a:pt x="59754" y="417436"/>
                  </a:lnTo>
                  <a:lnTo>
                    <a:pt x="0" y="417436"/>
                  </a:lnTo>
                  <a:close/>
                </a:path>
              </a:pathLst>
            </a:custGeom>
            <a:ln w="5267">
              <a:solidFill>
                <a:srgbClr val="231F20"/>
              </a:solidFill>
            </a:ln>
          </p:spPr>
          <p:txBody>
            <a:bodyPr wrap="square" lIns="0" tIns="0" rIns="0" bIns="0" rtlCol="0"/>
            <a:lstStyle/>
            <a:p>
              <a:endParaRPr/>
            </a:p>
          </p:txBody>
        </p:sp>
      </p:grpSp>
      <p:sp>
        <p:nvSpPr>
          <p:cNvPr id="15" name="object 15"/>
          <p:cNvSpPr txBox="1"/>
          <p:nvPr/>
        </p:nvSpPr>
        <p:spPr>
          <a:xfrm>
            <a:off x="937508" y="2201538"/>
            <a:ext cx="892810" cy="528320"/>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Server stub at object's </a:t>
            </a:r>
            <a:r>
              <a:rPr sz="650" spc="10" dirty="0">
                <a:solidFill>
                  <a:srgbClr val="231F20"/>
                </a:solidFill>
                <a:latin typeface="Arial"/>
                <a:cs typeface="Arial"/>
              </a:rPr>
              <a:t> </a:t>
            </a:r>
            <a:r>
              <a:rPr sz="650" spc="5" dirty="0">
                <a:solidFill>
                  <a:srgbClr val="231F20"/>
                </a:solidFill>
                <a:latin typeface="Arial"/>
                <a:cs typeface="Arial"/>
              </a:rPr>
              <a:t>current</a:t>
            </a:r>
            <a:r>
              <a:rPr sz="650" spc="-35" dirty="0">
                <a:solidFill>
                  <a:srgbClr val="231F20"/>
                </a:solidFill>
                <a:latin typeface="Arial"/>
                <a:cs typeface="Arial"/>
              </a:rPr>
              <a:t> </a:t>
            </a:r>
            <a:r>
              <a:rPr sz="650" spc="5" dirty="0">
                <a:solidFill>
                  <a:srgbClr val="231F20"/>
                </a:solidFill>
                <a:latin typeface="Arial"/>
                <a:cs typeface="Arial"/>
              </a:rPr>
              <a:t>process</a:t>
            </a:r>
            <a:r>
              <a:rPr sz="650" spc="-35" dirty="0">
                <a:solidFill>
                  <a:srgbClr val="231F20"/>
                </a:solidFill>
                <a:latin typeface="Arial"/>
                <a:cs typeface="Arial"/>
              </a:rPr>
              <a:t> </a:t>
            </a:r>
            <a:r>
              <a:rPr sz="650" spc="5" dirty="0">
                <a:solidFill>
                  <a:srgbClr val="231F20"/>
                </a:solidFill>
                <a:latin typeface="Arial"/>
                <a:cs typeface="Arial"/>
              </a:rPr>
              <a:t>returns </a:t>
            </a:r>
            <a:r>
              <a:rPr sz="650" spc="-165" dirty="0">
                <a:solidFill>
                  <a:srgbClr val="231F20"/>
                </a:solidFill>
                <a:latin typeface="Arial"/>
                <a:cs typeface="Arial"/>
              </a:rPr>
              <a:t> </a:t>
            </a:r>
            <a:r>
              <a:rPr sz="650" spc="5" dirty="0">
                <a:solidFill>
                  <a:srgbClr val="231F20"/>
                </a:solidFill>
                <a:latin typeface="Arial"/>
                <a:cs typeface="Arial"/>
              </a:rPr>
              <a:t>the</a:t>
            </a:r>
            <a:r>
              <a:rPr sz="650" spc="-10" dirty="0">
                <a:solidFill>
                  <a:srgbClr val="231F20"/>
                </a:solidFill>
                <a:latin typeface="Arial"/>
                <a:cs typeface="Arial"/>
              </a:rPr>
              <a:t> </a:t>
            </a:r>
            <a:r>
              <a:rPr sz="650" spc="5" dirty="0">
                <a:solidFill>
                  <a:srgbClr val="231F20"/>
                </a:solidFill>
                <a:latin typeface="Arial"/>
                <a:cs typeface="Arial"/>
              </a:rPr>
              <a:t>current</a:t>
            </a:r>
            <a:r>
              <a:rPr sz="650" spc="-10" dirty="0">
                <a:solidFill>
                  <a:srgbClr val="231F20"/>
                </a:solidFill>
                <a:latin typeface="Arial"/>
                <a:cs typeface="Arial"/>
              </a:rPr>
              <a:t> </a:t>
            </a:r>
            <a:r>
              <a:rPr sz="650" spc="5" dirty="0">
                <a:solidFill>
                  <a:srgbClr val="231F20"/>
                </a:solidFill>
                <a:latin typeface="Arial"/>
                <a:cs typeface="Arial"/>
              </a:rPr>
              <a:t>location</a:t>
            </a:r>
            <a:endParaRPr sz="650">
              <a:latin typeface="Arial"/>
              <a:cs typeface="Arial"/>
            </a:endParaRPr>
          </a:p>
          <a:p>
            <a:pPr marR="21590" algn="ctr">
              <a:lnSpc>
                <a:spcPct val="100000"/>
              </a:lnSpc>
              <a:spcBef>
                <a:spcPts val="465"/>
              </a:spcBef>
            </a:pPr>
            <a:r>
              <a:rPr sz="1000" spc="-5" dirty="0">
                <a:latin typeface="Arial"/>
                <a:cs typeface="Arial"/>
              </a:rPr>
              <a:t>(a)</a:t>
            </a:r>
            <a:endParaRPr sz="1000">
              <a:latin typeface="Arial"/>
              <a:cs typeface="Arial"/>
            </a:endParaRPr>
          </a:p>
        </p:txBody>
      </p:sp>
      <p:grpSp>
        <p:nvGrpSpPr>
          <p:cNvPr id="16" name="object 16"/>
          <p:cNvGrpSpPr/>
          <p:nvPr/>
        </p:nvGrpSpPr>
        <p:grpSpPr>
          <a:xfrm>
            <a:off x="2903237" y="1982984"/>
            <a:ext cx="982980" cy="188595"/>
            <a:chOff x="2903237" y="1982984"/>
            <a:chExt cx="982980" cy="188595"/>
          </a:xfrm>
        </p:grpSpPr>
        <p:sp>
          <p:nvSpPr>
            <p:cNvPr id="17" name="object 17"/>
            <p:cNvSpPr/>
            <p:nvPr/>
          </p:nvSpPr>
          <p:spPr>
            <a:xfrm>
              <a:off x="2906095" y="2014055"/>
              <a:ext cx="942340" cy="1270"/>
            </a:xfrm>
            <a:custGeom>
              <a:avLst/>
              <a:gdLst/>
              <a:ahLst/>
              <a:cxnLst/>
              <a:rect l="l" t="t" r="r" b="b"/>
              <a:pathLst>
                <a:path w="942339" h="1269">
                  <a:moveTo>
                    <a:pt x="942211" y="840"/>
                  </a:moveTo>
                  <a:lnTo>
                    <a:pt x="0" y="0"/>
                  </a:lnTo>
                </a:path>
              </a:pathLst>
            </a:custGeom>
            <a:ln w="5267">
              <a:solidFill>
                <a:srgbClr val="231F20"/>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3811286" y="1982984"/>
              <a:ext cx="74398" cy="63753"/>
            </a:xfrm>
            <a:prstGeom prst="rect">
              <a:avLst/>
            </a:prstGeom>
          </p:spPr>
        </p:pic>
        <p:sp>
          <p:nvSpPr>
            <p:cNvPr id="19" name="object 19"/>
            <p:cNvSpPr/>
            <p:nvPr/>
          </p:nvSpPr>
          <p:spPr>
            <a:xfrm>
              <a:off x="3332504" y="2018890"/>
              <a:ext cx="137160" cy="149860"/>
            </a:xfrm>
            <a:custGeom>
              <a:avLst/>
              <a:gdLst/>
              <a:ahLst/>
              <a:cxnLst/>
              <a:rect l="l" t="t" r="r" b="b"/>
              <a:pathLst>
                <a:path w="137160" h="149860">
                  <a:moveTo>
                    <a:pt x="0" y="149822"/>
                  </a:moveTo>
                  <a:lnTo>
                    <a:pt x="137098" y="0"/>
                  </a:lnTo>
                </a:path>
              </a:pathLst>
            </a:custGeom>
            <a:ln w="5267">
              <a:solidFill>
                <a:srgbClr val="231F20"/>
              </a:solidFill>
            </a:ln>
          </p:spPr>
          <p:txBody>
            <a:bodyPr wrap="square" lIns="0" tIns="0" rIns="0" bIns="0" rtlCol="0"/>
            <a:lstStyle/>
            <a:p>
              <a:endParaRPr/>
            </a:p>
          </p:txBody>
        </p:sp>
      </p:grpSp>
      <p:sp>
        <p:nvSpPr>
          <p:cNvPr id="20" name="object 20"/>
          <p:cNvSpPr txBox="1"/>
          <p:nvPr/>
        </p:nvSpPr>
        <p:spPr>
          <a:xfrm>
            <a:off x="3006028" y="2167383"/>
            <a:ext cx="60198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Client</a:t>
            </a:r>
            <a:r>
              <a:rPr sz="650" spc="-40" dirty="0">
                <a:solidFill>
                  <a:srgbClr val="231F20"/>
                </a:solidFill>
                <a:latin typeface="Arial"/>
                <a:cs typeface="Arial"/>
              </a:rPr>
              <a:t> </a:t>
            </a:r>
            <a:r>
              <a:rPr sz="650" spc="5" dirty="0">
                <a:solidFill>
                  <a:srgbClr val="231F20"/>
                </a:solidFill>
                <a:latin typeface="Arial"/>
                <a:cs typeface="Arial"/>
              </a:rPr>
              <a:t>stub</a:t>
            </a:r>
            <a:r>
              <a:rPr sz="650" spc="-40" dirty="0">
                <a:solidFill>
                  <a:srgbClr val="231F20"/>
                </a:solidFill>
                <a:latin typeface="Arial"/>
                <a:cs typeface="Arial"/>
              </a:rPr>
              <a:t> </a:t>
            </a:r>
            <a:r>
              <a:rPr sz="650" spc="5" dirty="0">
                <a:solidFill>
                  <a:srgbClr val="231F20"/>
                </a:solidFill>
                <a:latin typeface="Arial"/>
                <a:cs typeface="Arial"/>
              </a:rPr>
              <a:t>sets </a:t>
            </a:r>
            <a:r>
              <a:rPr sz="650" spc="-170" dirty="0">
                <a:solidFill>
                  <a:srgbClr val="231F20"/>
                </a:solidFill>
                <a:latin typeface="Arial"/>
                <a:cs typeface="Arial"/>
              </a:rPr>
              <a:t> </a:t>
            </a:r>
            <a:r>
              <a:rPr sz="650" spc="5" dirty="0">
                <a:solidFill>
                  <a:srgbClr val="231F20"/>
                </a:solidFill>
                <a:latin typeface="Arial"/>
                <a:cs typeface="Arial"/>
              </a:rPr>
              <a:t>a</a:t>
            </a:r>
            <a:r>
              <a:rPr sz="650" spc="-10" dirty="0">
                <a:solidFill>
                  <a:srgbClr val="231F20"/>
                </a:solidFill>
                <a:latin typeface="Arial"/>
                <a:cs typeface="Arial"/>
              </a:rPr>
              <a:t> </a:t>
            </a:r>
            <a:r>
              <a:rPr sz="650" spc="5" dirty="0">
                <a:solidFill>
                  <a:srgbClr val="231F20"/>
                </a:solidFill>
                <a:latin typeface="Arial"/>
                <a:cs typeface="Arial"/>
              </a:rPr>
              <a:t>shortcut</a:t>
            </a:r>
            <a:endParaRPr sz="650">
              <a:latin typeface="Arial"/>
              <a:cs typeface="Arial"/>
            </a:endParaRPr>
          </a:p>
        </p:txBody>
      </p:sp>
      <p:sp>
        <p:nvSpPr>
          <p:cNvPr id="21" name="object 21"/>
          <p:cNvSpPr txBox="1"/>
          <p:nvPr/>
        </p:nvSpPr>
        <p:spPr>
          <a:xfrm>
            <a:off x="2474474" y="1310186"/>
            <a:ext cx="686435" cy="314960"/>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Server stub is no </a:t>
            </a:r>
            <a:r>
              <a:rPr sz="650" spc="-170" dirty="0">
                <a:solidFill>
                  <a:srgbClr val="231F20"/>
                </a:solidFill>
                <a:latin typeface="Arial"/>
                <a:cs typeface="Arial"/>
              </a:rPr>
              <a:t> </a:t>
            </a:r>
            <a:r>
              <a:rPr sz="650" spc="5" dirty="0">
                <a:solidFill>
                  <a:srgbClr val="231F20"/>
                </a:solidFill>
                <a:latin typeface="Arial"/>
                <a:cs typeface="Arial"/>
              </a:rPr>
              <a:t>longer</a:t>
            </a:r>
            <a:r>
              <a:rPr sz="650" dirty="0">
                <a:solidFill>
                  <a:srgbClr val="231F20"/>
                </a:solidFill>
                <a:latin typeface="Arial"/>
                <a:cs typeface="Arial"/>
              </a:rPr>
              <a:t> </a:t>
            </a:r>
            <a:r>
              <a:rPr sz="650" spc="5" dirty="0">
                <a:solidFill>
                  <a:srgbClr val="231F20"/>
                </a:solidFill>
                <a:latin typeface="Arial"/>
                <a:cs typeface="Arial"/>
              </a:rPr>
              <a:t>referenced  by</a:t>
            </a:r>
            <a:r>
              <a:rPr sz="650" spc="-25" dirty="0">
                <a:solidFill>
                  <a:srgbClr val="231F20"/>
                </a:solidFill>
                <a:latin typeface="Arial"/>
                <a:cs typeface="Arial"/>
              </a:rPr>
              <a:t> </a:t>
            </a:r>
            <a:r>
              <a:rPr sz="650" spc="5" dirty="0">
                <a:solidFill>
                  <a:srgbClr val="231F20"/>
                </a:solidFill>
                <a:latin typeface="Arial"/>
                <a:cs typeface="Arial"/>
              </a:rPr>
              <a:t>any</a:t>
            </a:r>
            <a:r>
              <a:rPr sz="650" spc="-20" dirty="0">
                <a:solidFill>
                  <a:srgbClr val="231F20"/>
                </a:solidFill>
                <a:latin typeface="Arial"/>
                <a:cs typeface="Arial"/>
              </a:rPr>
              <a:t> </a:t>
            </a:r>
            <a:r>
              <a:rPr sz="650" spc="5" dirty="0">
                <a:solidFill>
                  <a:srgbClr val="231F20"/>
                </a:solidFill>
                <a:latin typeface="Arial"/>
                <a:cs typeface="Arial"/>
              </a:rPr>
              <a:t>client</a:t>
            </a:r>
            <a:r>
              <a:rPr sz="650" spc="-25" dirty="0">
                <a:solidFill>
                  <a:srgbClr val="231F20"/>
                </a:solidFill>
                <a:latin typeface="Arial"/>
                <a:cs typeface="Arial"/>
              </a:rPr>
              <a:t> </a:t>
            </a:r>
            <a:r>
              <a:rPr sz="650" spc="5" dirty="0">
                <a:solidFill>
                  <a:srgbClr val="231F20"/>
                </a:solidFill>
                <a:latin typeface="Arial"/>
                <a:cs typeface="Arial"/>
              </a:rPr>
              <a:t>stub</a:t>
            </a:r>
            <a:endParaRPr sz="650">
              <a:latin typeface="Arial"/>
              <a:cs typeface="Arial"/>
            </a:endParaRPr>
          </a:p>
        </p:txBody>
      </p:sp>
      <p:grpSp>
        <p:nvGrpSpPr>
          <p:cNvPr id="22" name="object 22"/>
          <p:cNvGrpSpPr/>
          <p:nvPr/>
        </p:nvGrpSpPr>
        <p:grpSpPr>
          <a:xfrm>
            <a:off x="2499239" y="1354496"/>
            <a:ext cx="1768475" cy="871855"/>
            <a:chOff x="2499239" y="1354496"/>
            <a:chExt cx="1768475" cy="871855"/>
          </a:xfrm>
        </p:grpSpPr>
        <p:sp>
          <p:nvSpPr>
            <p:cNvPr id="23" name="object 23"/>
            <p:cNvSpPr/>
            <p:nvPr/>
          </p:nvSpPr>
          <p:spPr>
            <a:xfrm>
              <a:off x="2501873" y="1357130"/>
              <a:ext cx="1763395" cy="866775"/>
            </a:xfrm>
            <a:custGeom>
              <a:avLst/>
              <a:gdLst/>
              <a:ahLst/>
              <a:cxnLst/>
              <a:rect l="l" t="t" r="r" b="b"/>
              <a:pathLst>
                <a:path w="1763395" h="866775">
                  <a:moveTo>
                    <a:pt x="1284841" y="865844"/>
                  </a:moveTo>
                  <a:lnTo>
                    <a:pt x="1762925" y="865844"/>
                  </a:lnTo>
                  <a:lnTo>
                    <a:pt x="1762925" y="387764"/>
                  </a:lnTo>
                  <a:lnTo>
                    <a:pt x="1284841" y="387764"/>
                  </a:lnTo>
                  <a:lnTo>
                    <a:pt x="1284841" y="865844"/>
                  </a:lnTo>
                  <a:close/>
                </a:path>
                <a:path w="1763395" h="866775">
                  <a:moveTo>
                    <a:pt x="646299" y="144193"/>
                  </a:moveTo>
                  <a:lnTo>
                    <a:pt x="776879" y="179279"/>
                  </a:lnTo>
                </a:path>
                <a:path w="1763395" h="866775">
                  <a:moveTo>
                    <a:pt x="702187" y="478079"/>
                  </a:moveTo>
                  <a:lnTo>
                    <a:pt x="1180262" y="478079"/>
                  </a:lnTo>
                  <a:lnTo>
                    <a:pt x="1180262" y="0"/>
                  </a:lnTo>
                  <a:lnTo>
                    <a:pt x="702187" y="0"/>
                  </a:lnTo>
                  <a:lnTo>
                    <a:pt x="702187" y="478079"/>
                  </a:lnTo>
                  <a:close/>
                </a:path>
                <a:path w="1763395" h="866775">
                  <a:moveTo>
                    <a:pt x="0" y="866519"/>
                  </a:moveTo>
                  <a:lnTo>
                    <a:pt x="478079" y="866519"/>
                  </a:lnTo>
                  <a:lnTo>
                    <a:pt x="478079" y="388440"/>
                  </a:lnTo>
                  <a:lnTo>
                    <a:pt x="0" y="388440"/>
                  </a:lnTo>
                  <a:lnTo>
                    <a:pt x="0" y="866519"/>
                  </a:lnTo>
                  <a:close/>
                </a:path>
                <a:path w="1763395" h="866775">
                  <a:moveTo>
                    <a:pt x="1740855" y="540300"/>
                  </a:moveTo>
                  <a:lnTo>
                    <a:pt x="1740855" y="772309"/>
                  </a:lnTo>
                  <a:lnTo>
                    <a:pt x="1736416" y="796880"/>
                  </a:lnTo>
                  <a:lnTo>
                    <a:pt x="1724330" y="817000"/>
                  </a:lnTo>
                  <a:lnTo>
                    <a:pt x="1706445" y="830595"/>
                  </a:lnTo>
                  <a:lnTo>
                    <a:pt x="1684609" y="835588"/>
                  </a:lnTo>
                  <a:lnTo>
                    <a:pt x="1558053" y="835588"/>
                  </a:lnTo>
                  <a:lnTo>
                    <a:pt x="1536219" y="830595"/>
                  </a:lnTo>
                  <a:lnTo>
                    <a:pt x="1518338" y="817001"/>
                  </a:lnTo>
                  <a:lnTo>
                    <a:pt x="1506255" y="796882"/>
                  </a:lnTo>
                  <a:lnTo>
                    <a:pt x="1501817" y="772313"/>
                  </a:lnTo>
                  <a:lnTo>
                    <a:pt x="1501817" y="540300"/>
                  </a:lnTo>
                  <a:lnTo>
                    <a:pt x="1506254" y="515729"/>
                  </a:lnTo>
                  <a:lnTo>
                    <a:pt x="1518334" y="495610"/>
                  </a:lnTo>
                  <a:lnTo>
                    <a:pt x="1536215" y="482017"/>
                  </a:lnTo>
                  <a:lnTo>
                    <a:pt x="1558053" y="477025"/>
                  </a:lnTo>
                  <a:lnTo>
                    <a:pt x="1684609" y="477025"/>
                  </a:lnTo>
                  <a:lnTo>
                    <a:pt x="1706449" y="482018"/>
                  </a:lnTo>
                  <a:lnTo>
                    <a:pt x="1724334" y="495612"/>
                  </a:lnTo>
                  <a:lnTo>
                    <a:pt x="1736418" y="515731"/>
                  </a:lnTo>
                  <a:lnTo>
                    <a:pt x="1740855" y="540300"/>
                  </a:lnTo>
                  <a:close/>
                </a:path>
              </a:pathLst>
            </a:custGeom>
            <a:ln w="5267">
              <a:solidFill>
                <a:srgbClr val="231F20"/>
              </a:solidFill>
            </a:ln>
          </p:spPr>
          <p:txBody>
            <a:bodyPr wrap="square" lIns="0" tIns="0" rIns="0" bIns="0" rtlCol="0"/>
            <a:lstStyle/>
            <a:p>
              <a:endParaRPr/>
            </a:p>
          </p:txBody>
        </p:sp>
        <p:sp>
          <p:nvSpPr>
            <p:cNvPr id="24" name="object 24"/>
            <p:cNvSpPr/>
            <p:nvPr/>
          </p:nvSpPr>
          <p:spPr>
            <a:xfrm>
              <a:off x="3951047" y="2014487"/>
              <a:ext cx="52705" cy="0"/>
            </a:xfrm>
            <a:custGeom>
              <a:avLst/>
              <a:gdLst/>
              <a:ahLst/>
              <a:cxnLst/>
              <a:rect l="l" t="t" r="r" b="b"/>
              <a:pathLst>
                <a:path w="52704">
                  <a:moveTo>
                    <a:pt x="0" y="0"/>
                  </a:moveTo>
                  <a:lnTo>
                    <a:pt x="52643" y="0"/>
                  </a:lnTo>
                </a:path>
              </a:pathLst>
            </a:custGeom>
            <a:ln w="5267">
              <a:solidFill>
                <a:srgbClr val="231F20"/>
              </a:solidFill>
            </a:ln>
          </p:spPr>
          <p:txBody>
            <a:bodyPr wrap="square" lIns="0" tIns="0" rIns="0" bIns="0" rtlCol="0"/>
            <a:lstStyle/>
            <a:p>
              <a:endParaRPr/>
            </a:p>
          </p:txBody>
        </p:sp>
        <p:sp>
          <p:nvSpPr>
            <p:cNvPr id="25" name="object 25"/>
            <p:cNvSpPr/>
            <p:nvPr/>
          </p:nvSpPr>
          <p:spPr>
            <a:xfrm>
              <a:off x="3383335" y="1596168"/>
              <a:ext cx="492125" cy="329565"/>
            </a:xfrm>
            <a:custGeom>
              <a:avLst/>
              <a:gdLst/>
              <a:ahLst/>
              <a:cxnLst/>
              <a:rect l="l" t="t" r="r" b="b"/>
              <a:pathLst>
                <a:path w="492125" h="329564">
                  <a:moveTo>
                    <a:pt x="0" y="0"/>
                  </a:moveTo>
                  <a:lnTo>
                    <a:pt x="119517" y="0"/>
                  </a:lnTo>
                </a:path>
                <a:path w="492125" h="329564">
                  <a:moveTo>
                    <a:pt x="224098" y="0"/>
                  </a:moveTo>
                  <a:lnTo>
                    <a:pt x="491860" y="329553"/>
                  </a:lnTo>
                </a:path>
              </a:pathLst>
            </a:custGeom>
            <a:ln w="5267">
              <a:solidFill>
                <a:srgbClr val="231F20"/>
              </a:solidFill>
            </a:ln>
          </p:spPr>
          <p:txBody>
            <a:bodyPr wrap="square" lIns="0" tIns="0" rIns="0" bIns="0" rtlCol="0"/>
            <a:lstStyle/>
            <a:p>
              <a:endParaRPr/>
            </a:p>
          </p:txBody>
        </p:sp>
        <p:sp>
          <p:nvSpPr>
            <p:cNvPr id="26" name="object 26"/>
            <p:cNvSpPr/>
            <p:nvPr/>
          </p:nvSpPr>
          <p:spPr>
            <a:xfrm>
              <a:off x="3827129" y="1876904"/>
              <a:ext cx="71755" cy="78105"/>
            </a:xfrm>
            <a:custGeom>
              <a:avLst/>
              <a:gdLst/>
              <a:ahLst/>
              <a:cxnLst/>
              <a:rect l="l" t="t" r="r" b="b"/>
              <a:pathLst>
                <a:path w="71754" h="78105">
                  <a:moveTo>
                    <a:pt x="49468" y="0"/>
                  </a:moveTo>
                  <a:lnTo>
                    <a:pt x="40869" y="14688"/>
                  </a:lnTo>
                  <a:lnTo>
                    <a:pt x="29758" y="26285"/>
                  </a:lnTo>
                  <a:lnTo>
                    <a:pt x="16135" y="34790"/>
                  </a:lnTo>
                  <a:lnTo>
                    <a:pt x="0" y="40203"/>
                  </a:lnTo>
                  <a:lnTo>
                    <a:pt x="71636" y="77826"/>
                  </a:lnTo>
                  <a:lnTo>
                    <a:pt x="49468" y="0"/>
                  </a:lnTo>
                  <a:close/>
                </a:path>
              </a:pathLst>
            </a:custGeom>
            <a:solidFill>
              <a:srgbClr val="231F20"/>
            </a:solidFill>
          </p:spPr>
          <p:txBody>
            <a:bodyPr wrap="square" lIns="0" tIns="0" rIns="0" bIns="0" rtlCol="0"/>
            <a:lstStyle/>
            <a:p>
              <a:endParaRPr/>
            </a:p>
          </p:txBody>
        </p:sp>
        <p:sp>
          <p:nvSpPr>
            <p:cNvPr id="27" name="object 27"/>
            <p:cNvSpPr/>
            <p:nvPr/>
          </p:nvSpPr>
          <p:spPr>
            <a:xfrm>
              <a:off x="2798916" y="1536409"/>
              <a:ext cx="1152525" cy="537845"/>
            </a:xfrm>
            <a:custGeom>
              <a:avLst/>
              <a:gdLst/>
              <a:ahLst/>
              <a:cxnLst/>
              <a:rect l="l" t="t" r="r" b="b"/>
              <a:pathLst>
                <a:path w="1152525" h="537844">
                  <a:moveTo>
                    <a:pt x="479836" y="0"/>
                  </a:moveTo>
                  <a:lnTo>
                    <a:pt x="519049" y="59759"/>
                  </a:lnTo>
                  <a:lnTo>
                    <a:pt x="479836" y="119521"/>
                  </a:lnTo>
                  <a:lnTo>
                    <a:pt x="584419" y="119521"/>
                  </a:lnTo>
                  <a:lnTo>
                    <a:pt x="584419" y="0"/>
                  </a:lnTo>
                  <a:lnTo>
                    <a:pt x="479836" y="0"/>
                  </a:lnTo>
                  <a:close/>
                </a:path>
                <a:path w="1152525" h="537844">
                  <a:moveTo>
                    <a:pt x="1047556" y="418321"/>
                  </a:moveTo>
                  <a:lnTo>
                    <a:pt x="1086768" y="478079"/>
                  </a:lnTo>
                  <a:lnTo>
                    <a:pt x="1047556" y="537837"/>
                  </a:lnTo>
                  <a:lnTo>
                    <a:pt x="1152133" y="537837"/>
                  </a:lnTo>
                  <a:lnTo>
                    <a:pt x="1152133" y="418321"/>
                  </a:lnTo>
                  <a:lnTo>
                    <a:pt x="1047556" y="418321"/>
                  </a:lnTo>
                  <a:close/>
                </a:path>
                <a:path w="1152525" h="537844">
                  <a:moveTo>
                    <a:pt x="703936" y="0"/>
                  </a:moveTo>
                  <a:lnTo>
                    <a:pt x="703936" y="119521"/>
                  </a:lnTo>
                  <a:lnTo>
                    <a:pt x="763697" y="119521"/>
                  </a:lnTo>
                  <a:lnTo>
                    <a:pt x="808517" y="59759"/>
                  </a:lnTo>
                  <a:lnTo>
                    <a:pt x="763697" y="0"/>
                  </a:lnTo>
                  <a:lnTo>
                    <a:pt x="703936" y="0"/>
                  </a:lnTo>
                  <a:close/>
                </a:path>
                <a:path w="1152525" h="537844">
                  <a:moveTo>
                    <a:pt x="0" y="415896"/>
                  </a:moveTo>
                  <a:lnTo>
                    <a:pt x="0" y="535417"/>
                  </a:lnTo>
                  <a:lnTo>
                    <a:pt x="59757" y="535417"/>
                  </a:lnTo>
                  <a:lnTo>
                    <a:pt x="104585" y="475658"/>
                  </a:lnTo>
                  <a:lnTo>
                    <a:pt x="59757" y="415896"/>
                  </a:lnTo>
                  <a:lnTo>
                    <a:pt x="0" y="415896"/>
                  </a:lnTo>
                  <a:close/>
                </a:path>
              </a:pathLst>
            </a:custGeom>
            <a:ln w="5267">
              <a:solidFill>
                <a:srgbClr val="231F20"/>
              </a:solidFill>
            </a:ln>
          </p:spPr>
          <p:txBody>
            <a:bodyPr wrap="square" lIns="0" tIns="0" rIns="0" bIns="0" rtlCol="0"/>
            <a:lstStyle/>
            <a:p>
              <a:endParaRPr/>
            </a:p>
          </p:txBody>
        </p:sp>
      </p:grpSp>
      <p:sp>
        <p:nvSpPr>
          <p:cNvPr id="28" name="object 28"/>
          <p:cNvSpPr txBox="1"/>
          <p:nvPr/>
        </p:nvSpPr>
        <p:spPr>
          <a:xfrm>
            <a:off x="3296356" y="2552362"/>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
        <p:nvSpPr>
          <p:cNvPr id="29" name="object 29"/>
          <p:cNvSpPr txBox="1"/>
          <p:nvPr/>
        </p:nvSpPr>
        <p:spPr>
          <a:xfrm>
            <a:off x="66713" y="3331252"/>
            <a:ext cx="692785" cy="119380"/>
          </a:xfrm>
          <a:prstGeom prst="rect">
            <a:avLst/>
          </a:prstGeom>
        </p:spPr>
        <p:txBody>
          <a:bodyPr vert="horz" wrap="square" lIns="0" tIns="8890" rIns="0" bIns="0" rtlCol="0">
            <a:spAutoFit/>
          </a:bodyPr>
          <a:lstStyle/>
          <a:p>
            <a:pPr marL="12700">
              <a:lnSpc>
                <a:spcPct val="100000"/>
              </a:lnSpc>
              <a:spcBef>
                <a:spcPts val="70"/>
              </a:spcBef>
            </a:pPr>
            <a:r>
              <a:rPr sz="600" spc="-25" dirty="0">
                <a:solidFill>
                  <a:srgbClr val="3333B2"/>
                </a:solidFill>
                <a:latin typeface="Arial"/>
                <a:cs typeface="Arial"/>
                <a:hlinkClick r:id="rId9" action="ppaction://hlinksldjump"/>
              </a:rPr>
              <a:t>F</a:t>
            </a:r>
            <a:r>
              <a:rPr sz="600" spc="-5" dirty="0">
                <a:solidFill>
                  <a:srgbClr val="3333B2"/>
                </a:solidFill>
                <a:latin typeface="Arial"/>
                <a:cs typeface="Arial"/>
                <a:hlinkClick r:id="rId9" action="ppaction://hlinksldjump"/>
              </a:rPr>
              <a:t>or</a:t>
            </a:r>
            <a:r>
              <a:rPr sz="600" spc="-15" dirty="0">
                <a:solidFill>
                  <a:srgbClr val="3333B2"/>
                </a:solidFill>
                <a:latin typeface="Arial"/>
                <a:cs typeface="Arial"/>
                <a:hlinkClick r:id="rId9" action="ppaction://hlinksldjump"/>
              </a:rPr>
              <a:t>w</a:t>
            </a:r>
            <a:r>
              <a:rPr sz="600" spc="-5" dirty="0">
                <a:solidFill>
                  <a:srgbClr val="3333B2"/>
                </a:solidFill>
                <a:latin typeface="Arial"/>
                <a:cs typeface="Arial"/>
                <a:hlinkClick r:id="rId9" action="ppaction://hlinksldjump"/>
              </a:rPr>
              <a:t>arding pointers</a:t>
            </a:r>
            <a:endParaRPr sz="600">
              <a:latin typeface="Arial"/>
              <a:cs typeface="Arial"/>
            </a:endParaRPr>
          </a:p>
        </p:txBody>
      </p:sp>
      <p:sp>
        <p:nvSpPr>
          <p:cNvPr id="30" name="object 30"/>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7</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5" dirty="0"/>
              <a:t>8</a:t>
            </a:fld>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63606"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Home-based</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207137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Home-based</a:t>
            </a:r>
            <a:r>
              <a:rPr sz="1400" spc="-20" dirty="0">
                <a:solidFill>
                  <a:srgbClr val="3333B2"/>
                </a:solidFill>
                <a:latin typeface="Arial"/>
                <a:cs typeface="Arial"/>
              </a:rPr>
              <a:t> </a:t>
            </a:r>
            <a:r>
              <a:rPr sz="1400" spc="15" dirty="0">
                <a:solidFill>
                  <a:srgbClr val="3333B2"/>
                </a:solidFill>
                <a:latin typeface="Arial"/>
                <a:cs typeface="Arial"/>
              </a:rPr>
              <a:t>approaches</a:t>
            </a:r>
            <a:endParaRPr sz="1400" dirty="0">
              <a:latin typeface="Arial"/>
              <a:cs typeface="Arial"/>
            </a:endParaRPr>
          </a:p>
        </p:txBody>
      </p:sp>
      <p:sp>
        <p:nvSpPr>
          <p:cNvPr id="5" name="object 5"/>
          <p:cNvSpPr txBox="1"/>
          <p:nvPr/>
        </p:nvSpPr>
        <p:spPr>
          <a:xfrm>
            <a:off x="321894" y="1099169"/>
            <a:ext cx="3964304" cy="1091565"/>
          </a:xfrm>
          <a:prstGeom prst="rect">
            <a:avLst/>
          </a:prstGeom>
        </p:spPr>
        <p:txBody>
          <a:bodyPr vert="horz" wrap="square" lIns="0" tIns="22860" rIns="0" bIns="0" rtlCol="0">
            <a:spAutoFit/>
          </a:bodyPr>
          <a:lstStyle/>
          <a:p>
            <a:pPr marL="38100" marR="30480">
              <a:lnSpc>
                <a:spcPts val="1390"/>
              </a:lnSpc>
              <a:spcBef>
                <a:spcPts val="180"/>
              </a:spcBef>
            </a:pPr>
            <a:r>
              <a:rPr sz="1200" spc="-5" dirty="0">
                <a:solidFill>
                  <a:srgbClr val="3333B2"/>
                </a:solidFill>
                <a:latin typeface="Arial"/>
                <a:cs typeface="Arial"/>
              </a:rPr>
              <a:t>Single-tiered scheme:</a:t>
            </a:r>
            <a:r>
              <a:rPr sz="1200" spc="75" dirty="0">
                <a:solidFill>
                  <a:srgbClr val="3333B2"/>
                </a:solidFill>
                <a:latin typeface="Arial"/>
                <a:cs typeface="Arial"/>
              </a:rPr>
              <a:t> </a:t>
            </a:r>
            <a:r>
              <a:rPr sz="1200" spc="-5" dirty="0">
                <a:solidFill>
                  <a:srgbClr val="3333B2"/>
                </a:solidFill>
                <a:latin typeface="Arial"/>
                <a:cs typeface="Arial"/>
              </a:rPr>
              <a:t>Let a </a:t>
            </a:r>
            <a:r>
              <a:rPr sz="1200" spc="-5" dirty="0">
                <a:solidFill>
                  <a:srgbClr val="0000FA"/>
                </a:solidFill>
                <a:latin typeface="Arial"/>
                <a:cs typeface="Arial"/>
              </a:rPr>
              <a:t>home </a:t>
            </a:r>
            <a:r>
              <a:rPr sz="1200" spc="-10" dirty="0">
                <a:solidFill>
                  <a:srgbClr val="3333B2"/>
                </a:solidFill>
                <a:latin typeface="Arial"/>
                <a:cs typeface="Arial"/>
              </a:rPr>
              <a:t>keep</a:t>
            </a:r>
            <a:r>
              <a:rPr sz="1200" spc="-5" dirty="0">
                <a:solidFill>
                  <a:srgbClr val="3333B2"/>
                </a:solidFill>
                <a:latin typeface="Arial"/>
                <a:cs typeface="Arial"/>
              </a:rPr>
              <a:t> </a:t>
            </a:r>
            <a:r>
              <a:rPr sz="1200" spc="-15" dirty="0">
                <a:solidFill>
                  <a:srgbClr val="3333B2"/>
                </a:solidFill>
                <a:latin typeface="Arial"/>
                <a:cs typeface="Arial"/>
              </a:rPr>
              <a:t>track</a:t>
            </a:r>
            <a:r>
              <a:rPr sz="1200" spc="-5" dirty="0">
                <a:solidFill>
                  <a:srgbClr val="3333B2"/>
                </a:solidFill>
                <a:latin typeface="Arial"/>
                <a:cs typeface="Arial"/>
              </a:rPr>
              <a:t> of where the </a:t>
            </a:r>
            <a:r>
              <a:rPr sz="1200" spc="-315" dirty="0">
                <a:solidFill>
                  <a:srgbClr val="3333B2"/>
                </a:solidFill>
                <a:latin typeface="Arial"/>
                <a:cs typeface="Arial"/>
              </a:rPr>
              <a:t> </a:t>
            </a:r>
            <a:r>
              <a:rPr sz="1200" spc="-5" dirty="0">
                <a:solidFill>
                  <a:srgbClr val="3333B2"/>
                </a:solidFill>
                <a:latin typeface="Arial"/>
                <a:cs typeface="Arial"/>
              </a:rPr>
              <a:t>entity</a:t>
            </a:r>
            <a:r>
              <a:rPr sz="1200" spc="-10" dirty="0">
                <a:solidFill>
                  <a:srgbClr val="3333B2"/>
                </a:solidFill>
                <a:latin typeface="Arial"/>
                <a:cs typeface="Arial"/>
              </a:rPr>
              <a:t> </a:t>
            </a:r>
            <a:r>
              <a:rPr sz="1200" spc="-5" dirty="0">
                <a:solidFill>
                  <a:srgbClr val="3333B2"/>
                </a:solidFill>
                <a:latin typeface="Arial"/>
                <a:cs typeface="Arial"/>
              </a:rPr>
              <a:t>is</a:t>
            </a:r>
            <a:endParaRPr sz="1200" dirty="0">
              <a:latin typeface="Arial"/>
              <a:cs typeface="Arial"/>
            </a:endParaRPr>
          </a:p>
          <a:p>
            <a:pPr marL="314960" indent="-168275">
              <a:lnSpc>
                <a:spcPts val="1200"/>
              </a:lnSpc>
              <a:spcBef>
                <a:spcPts val="745"/>
              </a:spcBef>
              <a:buClr>
                <a:srgbClr val="3333B2"/>
              </a:buClr>
              <a:buChar char="►"/>
              <a:tabLst>
                <a:tab pos="315595" algn="l"/>
              </a:tabLst>
            </a:pPr>
            <a:r>
              <a:rPr sz="1000" spc="-10" dirty="0">
                <a:latin typeface="Arial"/>
                <a:cs typeface="Arial"/>
              </a:rPr>
              <a:t>Entity’s</a:t>
            </a:r>
            <a:r>
              <a:rPr sz="1000" spc="-5" dirty="0">
                <a:latin typeface="Arial"/>
                <a:cs typeface="Arial"/>
              </a:rPr>
              <a:t> </a:t>
            </a:r>
            <a:r>
              <a:rPr sz="1000" spc="-5" dirty="0">
                <a:solidFill>
                  <a:srgbClr val="FA0000"/>
                </a:solidFill>
                <a:latin typeface="Arial"/>
                <a:cs typeface="Arial"/>
              </a:rPr>
              <a:t>home address</a:t>
            </a:r>
            <a:r>
              <a:rPr sz="1000" dirty="0">
                <a:solidFill>
                  <a:srgbClr val="FA0000"/>
                </a:solidFill>
                <a:latin typeface="Arial"/>
                <a:cs typeface="Arial"/>
              </a:rPr>
              <a:t> </a:t>
            </a:r>
            <a:r>
              <a:rPr sz="1000" spc="-5" dirty="0">
                <a:latin typeface="Arial"/>
                <a:cs typeface="Arial"/>
              </a:rPr>
              <a:t>registered at</a:t>
            </a:r>
            <a:r>
              <a:rPr sz="1000" dirty="0">
                <a:latin typeface="Arial"/>
                <a:cs typeface="Arial"/>
              </a:rPr>
              <a:t> </a:t>
            </a:r>
            <a:r>
              <a:rPr sz="1000" spc="-5" dirty="0">
                <a:latin typeface="Arial"/>
                <a:cs typeface="Arial"/>
              </a:rPr>
              <a:t>a naming</a:t>
            </a:r>
            <a:r>
              <a:rPr sz="1000" dirty="0">
                <a:latin typeface="Arial"/>
                <a:cs typeface="Arial"/>
              </a:rPr>
              <a:t> service</a:t>
            </a:r>
          </a:p>
          <a:p>
            <a:pPr marL="314960" indent="-168275">
              <a:lnSpc>
                <a:spcPts val="1195"/>
              </a:lnSpc>
              <a:buClr>
                <a:srgbClr val="3333B2"/>
              </a:buClr>
              <a:buChar char="►"/>
              <a:tabLst>
                <a:tab pos="315595" algn="l"/>
              </a:tabLst>
            </a:pPr>
            <a:r>
              <a:rPr sz="1000" spc="-5" dirty="0">
                <a:latin typeface="Arial"/>
                <a:cs typeface="Arial"/>
              </a:rPr>
              <a:t>The home</a:t>
            </a:r>
            <a:r>
              <a:rPr sz="1000" dirty="0">
                <a:latin typeface="Arial"/>
                <a:cs typeface="Arial"/>
              </a:rPr>
              <a:t> </a:t>
            </a:r>
            <a:r>
              <a:rPr sz="1000" spc="-5" dirty="0">
                <a:latin typeface="Arial"/>
                <a:cs typeface="Arial"/>
              </a:rPr>
              <a:t>registers</a:t>
            </a:r>
            <a:r>
              <a:rPr sz="1000" dirty="0">
                <a:latin typeface="Arial"/>
                <a:cs typeface="Arial"/>
              </a:rPr>
              <a:t> </a:t>
            </a:r>
            <a:r>
              <a:rPr sz="1000" spc="-5" dirty="0">
                <a:latin typeface="Arial"/>
                <a:cs typeface="Arial"/>
              </a:rPr>
              <a:t>the</a:t>
            </a:r>
            <a:r>
              <a:rPr sz="1000" dirty="0">
                <a:latin typeface="Arial"/>
                <a:cs typeface="Arial"/>
              </a:rPr>
              <a:t> </a:t>
            </a:r>
            <a:r>
              <a:rPr sz="1000" spc="-10" dirty="0">
                <a:solidFill>
                  <a:srgbClr val="FA0000"/>
                </a:solidFill>
                <a:latin typeface="Arial"/>
                <a:cs typeface="Arial"/>
              </a:rPr>
              <a:t>foreign</a:t>
            </a:r>
            <a:r>
              <a:rPr sz="1000" dirty="0">
                <a:solidFill>
                  <a:srgbClr val="FA0000"/>
                </a:solidFill>
                <a:latin typeface="Arial"/>
                <a:cs typeface="Arial"/>
              </a:rPr>
              <a:t> </a:t>
            </a:r>
            <a:r>
              <a:rPr sz="1000" spc="-5" dirty="0">
                <a:solidFill>
                  <a:srgbClr val="FA0000"/>
                </a:solidFill>
                <a:latin typeface="Arial"/>
                <a:cs typeface="Arial"/>
              </a:rPr>
              <a:t>address</a:t>
            </a:r>
            <a:r>
              <a:rPr sz="1000" dirty="0">
                <a:solidFill>
                  <a:srgbClr val="FA0000"/>
                </a:solidFill>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entity</a:t>
            </a:r>
            <a:endParaRPr sz="1000" dirty="0">
              <a:latin typeface="Arial"/>
              <a:cs typeface="Arial"/>
            </a:endParaRPr>
          </a:p>
          <a:p>
            <a:pPr marL="314960" marR="193040" indent="-168275">
              <a:lnSpc>
                <a:spcPts val="1200"/>
              </a:lnSpc>
              <a:spcBef>
                <a:spcPts val="40"/>
              </a:spcBef>
              <a:buClr>
                <a:srgbClr val="3333B2"/>
              </a:buClr>
              <a:buChar char="►"/>
              <a:tabLst>
                <a:tab pos="315595" algn="l"/>
              </a:tabLst>
            </a:pPr>
            <a:r>
              <a:rPr sz="1000" spc="-5" dirty="0">
                <a:latin typeface="Arial"/>
                <a:cs typeface="Arial"/>
              </a:rPr>
              <a:t>Client</a:t>
            </a:r>
            <a:r>
              <a:rPr sz="1000" dirty="0">
                <a:latin typeface="Arial"/>
                <a:cs typeface="Arial"/>
              </a:rPr>
              <a:t> </a:t>
            </a:r>
            <a:r>
              <a:rPr sz="1000" spc="-5" dirty="0">
                <a:latin typeface="Arial"/>
                <a:cs typeface="Arial"/>
              </a:rPr>
              <a:t>contacts</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home</a:t>
            </a:r>
            <a:r>
              <a:rPr sz="1000" dirty="0">
                <a:latin typeface="Arial"/>
                <a:cs typeface="Arial"/>
              </a:rPr>
              <a:t> </a:t>
            </a:r>
            <a:r>
              <a:rPr sz="1000" spc="-5" dirty="0">
                <a:latin typeface="Arial"/>
                <a:cs typeface="Arial"/>
              </a:rPr>
              <a:t>first,</a:t>
            </a:r>
            <a:r>
              <a:rPr sz="1000" spc="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then</a:t>
            </a:r>
            <a:r>
              <a:rPr sz="1000" spc="5" dirty="0">
                <a:latin typeface="Arial"/>
                <a:cs typeface="Arial"/>
              </a:rPr>
              <a:t> </a:t>
            </a:r>
            <a:r>
              <a:rPr sz="1000" spc="-5" dirty="0">
                <a:latin typeface="Arial"/>
                <a:cs typeface="Arial"/>
              </a:rPr>
              <a:t>continues</a:t>
            </a:r>
            <a:r>
              <a:rPr sz="1000" dirty="0">
                <a:latin typeface="Arial"/>
                <a:cs typeface="Arial"/>
              </a:rPr>
              <a:t> </a:t>
            </a:r>
            <a:r>
              <a:rPr sz="1000" spc="-5" dirty="0">
                <a:latin typeface="Arial"/>
                <a:cs typeface="Arial"/>
              </a:rPr>
              <a:t>with</a:t>
            </a:r>
            <a:r>
              <a:rPr sz="1000" spc="5" dirty="0">
                <a:latin typeface="Arial"/>
                <a:cs typeface="Arial"/>
              </a:rPr>
              <a:t> </a:t>
            </a:r>
            <a:r>
              <a:rPr sz="1000" spc="-10" dirty="0">
                <a:latin typeface="Arial"/>
                <a:cs typeface="Arial"/>
              </a:rPr>
              <a:t>foreign </a:t>
            </a:r>
            <a:r>
              <a:rPr sz="1000" spc="-265" dirty="0">
                <a:latin typeface="Arial"/>
                <a:cs typeface="Arial"/>
              </a:rPr>
              <a:t> </a:t>
            </a:r>
            <a:r>
              <a:rPr sz="1000" spc="-5" dirty="0">
                <a:latin typeface="Arial"/>
                <a:cs typeface="Arial"/>
              </a:rPr>
              <a:t>location</a:t>
            </a:r>
            <a:endParaRPr sz="1000" dirty="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63606"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Home-based</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208407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The</a:t>
            </a:r>
            <a:r>
              <a:rPr sz="1400" spc="-10" dirty="0">
                <a:solidFill>
                  <a:srgbClr val="3333B2"/>
                </a:solidFill>
                <a:latin typeface="Arial"/>
                <a:cs typeface="Arial"/>
              </a:rPr>
              <a:t> </a:t>
            </a:r>
            <a:r>
              <a:rPr sz="1400" spc="15" dirty="0">
                <a:solidFill>
                  <a:srgbClr val="3333B2"/>
                </a:solidFill>
                <a:latin typeface="Arial"/>
                <a:cs typeface="Arial"/>
              </a:rPr>
              <a:t>principle</a:t>
            </a:r>
            <a:r>
              <a:rPr sz="1400" spc="-5"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mobile</a:t>
            </a:r>
            <a:r>
              <a:rPr sz="1400" spc="-5" dirty="0">
                <a:solidFill>
                  <a:srgbClr val="3333B2"/>
                </a:solidFill>
                <a:latin typeface="Arial"/>
                <a:cs typeface="Arial"/>
              </a:rPr>
              <a:t> </a:t>
            </a:r>
            <a:r>
              <a:rPr sz="1400" spc="15" dirty="0">
                <a:solidFill>
                  <a:srgbClr val="3333B2"/>
                </a:solidFill>
                <a:latin typeface="Arial"/>
                <a:cs typeface="Arial"/>
              </a:rPr>
              <a:t>IP</a:t>
            </a:r>
            <a:endParaRPr sz="1400">
              <a:latin typeface="Arial"/>
              <a:cs typeface="Arial"/>
            </a:endParaRPr>
          </a:p>
        </p:txBody>
      </p:sp>
      <p:grpSp>
        <p:nvGrpSpPr>
          <p:cNvPr id="5" name="object 5"/>
          <p:cNvGrpSpPr/>
          <p:nvPr/>
        </p:nvGrpSpPr>
        <p:grpSpPr>
          <a:xfrm>
            <a:off x="414282" y="696305"/>
            <a:ext cx="3776979" cy="2209800"/>
            <a:chOff x="414282" y="696305"/>
            <a:chExt cx="3776979" cy="2209800"/>
          </a:xfrm>
        </p:grpSpPr>
        <p:sp>
          <p:nvSpPr>
            <p:cNvPr id="6" name="object 6"/>
            <p:cNvSpPr/>
            <p:nvPr/>
          </p:nvSpPr>
          <p:spPr>
            <a:xfrm>
              <a:off x="1548796" y="699163"/>
              <a:ext cx="299085" cy="483234"/>
            </a:xfrm>
            <a:custGeom>
              <a:avLst/>
              <a:gdLst/>
              <a:ahLst/>
              <a:cxnLst/>
              <a:rect l="l" t="t" r="r" b="b"/>
              <a:pathLst>
                <a:path w="299085" h="483234">
                  <a:moveTo>
                    <a:pt x="7768" y="99960"/>
                  </a:moveTo>
                  <a:lnTo>
                    <a:pt x="24602" y="135905"/>
                  </a:lnTo>
                  <a:lnTo>
                    <a:pt x="66028" y="150504"/>
                  </a:lnTo>
                  <a:lnTo>
                    <a:pt x="84159" y="201048"/>
                  </a:lnTo>
                  <a:lnTo>
                    <a:pt x="66028" y="238110"/>
                  </a:lnTo>
                  <a:lnTo>
                    <a:pt x="91928" y="258317"/>
                  </a:lnTo>
                  <a:lnTo>
                    <a:pt x="75094" y="272927"/>
                  </a:lnTo>
                  <a:lnTo>
                    <a:pt x="75094" y="287526"/>
                  </a:lnTo>
                  <a:lnTo>
                    <a:pt x="91928" y="287526"/>
                  </a:lnTo>
                  <a:lnTo>
                    <a:pt x="91928" y="316725"/>
                  </a:lnTo>
                  <a:lnTo>
                    <a:pt x="58270" y="352680"/>
                  </a:lnTo>
                  <a:lnTo>
                    <a:pt x="58270" y="431295"/>
                  </a:lnTo>
                  <a:lnTo>
                    <a:pt x="66028" y="439159"/>
                  </a:lnTo>
                  <a:lnTo>
                    <a:pt x="84159" y="468357"/>
                  </a:lnTo>
                  <a:lnTo>
                    <a:pt x="99696" y="482956"/>
                  </a:lnTo>
                  <a:lnTo>
                    <a:pt x="115244" y="460494"/>
                  </a:lnTo>
                  <a:lnTo>
                    <a:pt x="115244" y="431295"/>
                  </a:lnTo>
                  <a:lnTo>
                    <a:pt x="150198" y="395350"/>
                  </a:lnTo>
                  <a:lnTo>
                    <a:pt x="150198" y="359405"/>
                  </a:lnTo>
                  <a:lnTo>
                    <a:pt x="199404" y="352680"/>
                  </a:lnTo>
                  <a:lnTo>
                    <a:pt x="258960" y="302126"/>
                  </a:lnTo>
                  <a:lnTo>
                    <a:pt x="291332" y="287526"/>
                  </a:lnTo>
                  <a:lnTo>
                    <a:pt x="291332" y="272927"/>
                  </a:lnTo>
                  <a:lnTo>
                    <a:pt x="258960" y="272927"/>
                  </a:lnTo>
                  <a:lnTo>
                    <a:pt x="266729" y="238110"/>
                  </a:lnTo>
                  <a:lnTo>
                    <a:pt x="299090" y="258317"/>
                  </a:lnTo>
                  <a:lnTo>
                    <a:pt x="299090" y="244846"/>
                  </a:lnTo>
                  <a:lnTo>
                    <a:pt x="258960" y="215647"/>
                  </a:lnTo>
                  <a:lnTo>
                    <a:pt x="266729" y="187566"/>
                  </a:lnTo>
                  <a:lnTo>
                    <a:pt x="282266" y="187566"/>
                  </a:lnTo>
                  <a:lnTo>
                    <a:pt x="291332" y="172967"/>
                  </a:lnTo>
                  <a:lnTo>
                    <a:pt x="249895" y="93224"/>
                  </a:lnTo>
                  <a:lnTo>
                    <a:pt x="258960" y="70761"/>
                  </a:lnTo>
                  <a:lnTo>
                    <a:pt x="240840" y="64026"/>
                  </a:lnTo>
                  <a:lnTo>
                    <a:pt x="225292" y="78625"/>
                  </a:lnTo>
                  <a:lnTo>
                    <a:pt x="249895" y="28081"/>
                  </a:lnTo>
                  <a:lnTo>
                    <a:pt x="240840" y="20228"/>
                  </a:lnTo>
                  <a:lnTo>
                    <a:pt x="216238" y="49426"/>
                  </a:lnTo>
                  <a:lnTo>
                    <a:pt x="199404" y="42680"/>
                  </a:lnTo>
                  <a:lnTo>
                    <a:pt x="199404" y="28081"/>
                  </a:lnTo>
                  <a:lnTo>
                    <a:pt x="183866" y="35944"/>
                  </a:lnTo>
                  <a:lnTo>
                    <a:pt x="167032" y="28081"/>
                  </a:lnTo>
                  <a:lnTo>
                    <a:pt x="208458" y="6735"/>
                  </a:lnTo>
                  <a:lnTo>
                    <a:pt x="199404" y="0"/>
                  </a:lnTo>
                  <a:lnTo>
                    <a:pt x="167032" y="0"/>
                  </a:lnTo>
                  <a:lnTo>
                    <a:pt x="150198" y="20228"/>
                  </a:lnTo>
                  <a:lnTo>
                    <a:pt x="115244" y="0"/>
                  </a:lnTo>
                  <a:lnTo>
                    <a:pt x="75094" y="13481"/>
                  </a:lnTo>
                  <a:lnTo>
                    <a:pt x="84159" y="35944"/>
                  </a:lnTo>
                  <a:lnTo>
                    <a:pt x="58270" y="35944"/>
                  </a:lnTo>
                  <a:lnTo>
                    <a:pt x="50501" y="42680"/>
                  </a:lnTo>
                  <a:lnTo>
                    <a:pt x="50501" y="64026"/>
                  </a:lnTo>
                  <a:lnTo>
                    <a:pt x="7768" y="64026"/>
                  </a:lnTo>
                  <a:lnTo>
                    <a:pt x="0" y="70761"/>
                  </a:lnTo>
                  <a:lnTo>
                    <a:pt x="24602" y="93224"/>
                  </a:lnTo>
                  <a:lnTo>
                    <a:pt x="7768" y="99960"/>
                  </a:lnTo>
                  <a:close/>
                </a:path>
              </a:pathLst>
            </a:custGeom>
            <a:ln w="5270">
              <a:solidFill>
                <a:srgbClr val="00000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1063200" y="1783747"/>
              <a:ext cx="264229" cy="91748"/>
            </a:xfrm>
            <a:prstGeom prst="rect">
              <a:avLst/>
            </a:prstGeom>
          </p:spPr>
        </p:pic>
        <p:pic>
          <p:nvPicPr>
            <p:cNvPr id="8" name="object 8"/>
            <p:cNvPicPr/>
            <p:nvPr/>
          </p:nvPicPr>
          <p:blipFill>
            <a:blip r:embed="rId7" cstate="print"/>
            <a:stretch>
              <a:fillRect/>
            </a:stretch>
          </p:blipFill>
          <p:spPr>
            <a:xfrm>
              <a:off x="1346762" y="1362560"/>
              <a:ext cx="71303" cy="65923"/>
            </a:xfrm>
            <a:prstGeom prst="rect">
              <a:avLst/>
            </a:prstGeom>
          </p:spPr>
        </p:pic>
        <p:pic>
          <p:nvPicPr>
            <p:cNvPr id="9" name="object 9"/>
            <p:cNvPicPr/>
            <p:nvPr/>
          </p:nvPicPr>
          <p:blipFill>
            <a:blip r:embed="rId8" cstate="print"/>
            <a:stretch>
              <a:fillRect/>
            </a:stretch>
          </p:blipFill>
          <p:spPr>
            <a:xfrm>
              <a:off x="1401142" y="1278327"/>
              <a:ext cx="73899" cy="64795"/>
            </a:xfrm>
            <a:prstGeom prst="rect">
              <a:avLst/>
            </a:prstGeom>
          </p:spPr>
        </p:pic>
        <p:sp>
          <p:nvSpPr>
            <p:cNvPr id="10" name="object 10"/>
            <p:cNvSpPr/>
            <p:nvPr/>
          </p:nvSpPr>
          <p:spPr>
            <a:xfrm>
              <a:off x="417140" y="718263"/>
              <a:ext cx="1313180" cy="2185035"/>
            </a:xfrm>
            <a:custGeom>
              <a:avLst/>
              <a:gdLst/>
              <a:ahLst/>
              <a:cxnLst/>
              <a:rect l="l" t="t" r="r" b="b"/>
              <a:pathLst>
                <a:path w="1313180" h="2185035">
                  <a:moveTo>
                    <a:pt x="0" y="144886"/>
                  </a:moveTo>
                  <a:lnTo>
                    <a:pt x="84163" y="180820"/>
                  </a:lnTo>
                  <a:lnTo>
                    <a:pt x="142430" y="166221"/>
                  </a:lnTo>
                  <a:lnTo>
                    <a:pt x="191631" y="180820"/>
                  </a:lnTo>
                  <a:lnTo>
                    <a:pt x="133364" y="187556"/>
                  </a:lnTo>
                  <a:lnTo>
                    <a:pt x="183862" y="202165"/>
                  </a:lnTo>
                  <a:lnTo>
                    <a:pt x="199397" y="252709"/>
                  </a:lnTo>
                  <a:lnTo>
                    <a:pt x="199397" y="311107"/>
                  </a:lnTo>
                  <a:lnTo>
                    <a:pt x="233067" y="288644"/>
                  </a:lnTo>
                  <a:lnTo>
                    <a:pt x="233067" y="331324"/>
                  </a:lnTo>
                  <a:lnTo>
                    <a:pt x="208460" y="353787"/>
                  </a:lnTo>
                  <a:lnTo>
                    <a:pt x="191631" y="418941"/>
                  </a:lnTo>
                  <a:lnTo>
                    <a:pt x="216234" y="490810"/>
                  </a:lnTo>
                  <a:lnTo>
                    <a:pt x="199397" y="526754"/>
                  </a:lnTo>
                  <a:lnTo>
                    <a:pt x="191631" y="505419"/>
                  </a:lnTo>
                  <a:lnTo>
                    <a:pt x="116531" y="598633"/>
                  </a:lnTo>
                  <a:lnTo>
                    <a:pt x="108765" y="699722"/>
                  </a:lnTo>
                  <a:lnTo>
                    <a:pt x="91933" y="722184"/>
                  </a:lnTo>
                  <a:lnTo>
                    <a:pt x="100996" y="764865"/>
                  </a:lnTo>
                  <a:lnTo>
                    <a:pt x="116531" y="764865"/>
                  </a:lnTo>
                  <a:lnTo>
                    <a:pt x="125594" y="836744"/>
                  </a:lnTo>
                  <a:lnTo>
                    <a:pt x="116531" y="858090"/>
                  </a:lnTo>
                  <a:lnTo>
                    <a:pt x="167029" y="965913"/>
                  </a:lnTo>
                  <a:lnTo>
                    <a:pt x="174799" y="937822"/>
                  </a:lnTo>
                  <a:lnTo>
                    <a:pt x="157967" y="915369"/>
                  </a:lnTo>
                  <a:lnTo>
                    <a:pt x="157967" y="851354"/>
                  </a:lnTo>
                  <a:lnTo>
                    <a:pt x="142430" y="830008"/>
                  </a:lnTo>
                  <a:lnTo>
                    <a:pt x="150197" y="807545"/>
                  </a:lnTo>
                  <a:lnTo>
                    <a:pt x="167029" y="830008"/>
                  </a:lnTo>
                  <a:lnTo>
                    <a:pt x="167029" y="858090"/>
                  </a:lnTo>
                  <a:lnTo>
                    <a:pt x="199397" y="959167"/>
                  </a:lnTo>
                  <a:lnTo>
                    <a:pt x="233067" y="988366"/>
                  </a:lnTo>
                  <a:lnTo>
                    <a:pt x="233067" y="1045656"/>
                  </a:lnTo>
                  <a:lnTo>
                    <a:pt x="283560" y="1095072"/>
                  </a:lnTo>
                  <a:lnTo>
                    <a:pt x="300393" y="1095072"/>
                  </a:lnTo>
                  <a:lnTo>
                    <a:pt x="374193" y="1132134"/>
                  </a:lnTo>
                  <a:lnTo>
                    <a:pt x="415632" y="1132134"/>
                  </a:lnTo>
                  <a:lnTo>
                    <a:pt x="441528" y="1174818"/>
                  </a:lnTo>
                  <a:lnTo>
                    <a:pt x="499795" y="1204020"/>
                  </a:lnTo>
                  <a:lnTo>
                    <a:pt x="533457" y="1204020"/>
                  </a:lnTo>
                  <a:lnTo>
                    <a:pt x="533457" y="1246694"/>
                  </a:lnTo>
                  <a:lnTo>
                    <a:pt x="548996" y="1246694"/>
                  </a:lnTo>
                  <a:lnTo>
                    <a:pt x="558059" y="1290497"/>
                  </a:lnTo>
                  <a:lnTo>
                    <a:pt x="574892" y="1290497"/>
                  </a:lnTo>
                  <a:lnTo>
                    <a:pt x="633159" y="1333184"/>
                  </a:lnTo>
                  <a:lnTo>
                    <a:pt x="648695" y="1333184"/>
                  </a:lnTo>
                  <a:lnTo>
                    <a:pt x="665527" y="1318584"/>
                  </a:lnTo>
                  <a:lnTo>
                    <a:pt x="682360" y="1318584"/>
                  </a:lnTo>
                  <a:lnTo>
                    <a:pt x="682360" y="1348905"/>
                  </a:lnTo>
                  <a:lnTo>
                    <a:pt x="697897" y="1348905"/>
                  </a:lnTo>
                  <a:lnTo>
                    <a:pt x="708256" y="1398328"/>
                  </a:lnTo>
                  <a:lnTo>
                    <a:pt x="648695" y="1455608"/>
                  </a:lnTo>
                  <a:lnTo>
                    <a:pt x="633159" y="1484806"/>
                  </a:lnTo>
                  <a:lnTo>
                    <a:pt x="657757" y="1492670"/>
                  </a:lnTo>
                  <a:lnTo>
                    <a:pt x="624097" y="1535353"/>
                  </a:lnTo>
                  <a:lnTo>
                    <a:pt x="624097" y="1556690"/>
                  </a:lnTo>
                  <a:lnTo>
                    <a:pt x="697897" y="1665633"/>
                  </a:lnTo>
                  <a:lnTo>
                    <a:pt x="725088" y="1672373"/>
                  </a:lnTo>
                  <a:lnTo>
                    <a:pt x="772997" y="1744255"/>
                  </a:lnTo>
                  <a:lnTo>
                    <a:pt x="757456" y="1830740"/>
                  </a:lnTo>
                  <a:lnTo>
                    <a:pt x="732855" y="1845341"/>
                  </a:lnTo>
                  <a:lnTo>
                    <a:pt x="697897" y="2032909"/>
                  </a:lnTo>
                  <a:lnTo>
                    <a:pt x="725088" y="2003708"/>
                  </a:lnTo>
                  <a:lnTo>
                    <a:pt x="716026" y="2062111"/>
                  </a:lnTo>
                  <a:lnTo>
                    <a:pt x="697897" y="2075588"/>
                  </a:lnTo>
                  <a:lnTo>
                    <a:pt x="732855" y="2184535"/>
                  </a:lnTo>
                  <a:lnTo>
                    <a:pt x="749691" y="2184535"/>
                  </a:lnTo>
                  <a:lnTo>
                    <a:pt x="772997" y="2140732"/>
                  </a:lnTo>
                  <a:lnTo>
                    <a:pt x="798892" y="2127255"/>
                  </a:lnTo>
                  <a:lnTo>
                    <a:pt x="798892" y="2104790"/>
                  </a:lnTo>
                  <a:lnTo>
                    <a:pt x="782059" y="2090193"/>
                  </a:lnTo>
                  <a:lnTo>
                    <a:pt x="815725" y="2062111"/>
                  </a:lnTo>
                  <a:lnTo>
                    <a:pt x="823495" y="2011572"/>
                  </a:lnTo>
                  <a:lnTo>
                    <a:pt x="889528" y="2011572"/>
                  </a:lnTo>
                  <a:lnTo>
                    <a:pt x="915424" y="1996967"/>
                  </a:lnTo>
                  <a:lnTo>
                    <a:pt x="907654" y="1954292"/>
                  </a:lnTo>
                  <a:lnTo>
                    <a:pt x="947792" y="1961024"/>
                  </a:lnTo>
                  <a:lnTo>
                    <a:pt x="1056561" y="1895880"/>
                  </a:lnTo>
                  <a:lnTo>
                    <a:pt x="1056561" y="1866682"/>
                  </a:lnTo>
                  <a:lnTo>
                    <a:pt x="1122590" y="1824004"/>
                  </a:lnTo>
                  <a:lnTo>
                    <a:pt x="1122590" y="1845341"/>
                  </a:lnTo>
                  <a:lnTo>
                    <a:pt x="1173082" y="1824004"/>
                  </a:lnTo>
                  <a:lnTo>
                    <a:pt x="1230056" y="1752123"/>
                  </a:lnTo>
                  <a:lnTo>
                    <a:pt x="1230056" y="1722917"/>
                  </a:lnTo>
                  <a:lnTo>
                    <a:pt x="1289623" y="1701576"/>
                  </a:lnTo>
                  <a:lnTo>
                    <a:pt x="1312919" y="1639804"/>
                  </a:lnTo>
                  <a:lnTo>
                    <a:pt x="1257252" y="1579156"/>
                  </a:lnTo>
                  <a:lnTo>
                    <a:pt x="1214529" y="1571291"/>
                  </a:lnTo>
                  <a:lnTo>
                    <a:pt x="1173082" y="1528613"/>
                  </a:lnTo>
                  <a:lnTo>
                    <a:pt x="1131656" y="1528613"/>
                  </a:lnTo>
                  <a:lnTo>
                    <a:pt x="1131656" y="1549950"/>
                  </a:lnTo>
                  <a:lnTo>
                    <a:pt x="1097998" y="1520748"/>
                  </a:lnTo>
                  <a:lnTo>
                    <a:pt x="1073395" y="1535353"/>
                  </a:lnTo>
                  <a:lnTo>
                    <a:pt x="1073395" y="1506147"/>
                  </a:lnTo>
                  <a:lnTo>
                    <a:pt x="1105756" y="1492670"/>
                  </a:lnTo>
                  <a:lnTo>
                    <a:pt x="1114822" y="1470209"/>
                  </a:lnTo>
                  <a:lnTo>
                    <a:pt x="1082450" y="1406189"/>
                  </a:lnTo>
                  <a:lnTo>
                    <a:pt x="1015127" y="1398328"/>
                  </a:lnTo>
                  <a:lnTo>
                    <a:pt x="998290" y="1362382"/>
                  </a:lnTo>
                  <a:lnTo>
                    <a:pt x="947792" y="1326448"/>
                  </a:lnTo>
                  <a:lnTo>
                    <a:pt x="907654" y="1333184"/>
                  </a:lnTo>
                  <a:lnTo>
                    <a:pt x="881758" y="1311843"/>
                  </a:lnTo>
                  <a:lnTo>
                    <a:pt x="824791" y="1311843"/>
                  </a:lnTo>
                  <a:lnTo>
                    <a:pt x="815725" y="1336556"/>
                  </a:lnTo>
                  <a:lnTo>
                    <a:pt x="789825" y="1326448"/>
                  </a:lnTo>
                  <a:lnTo>
                    <a:pt x="815725" y="1297242"/>
                  </a:lnTo>
                  <a:lnTo>
                    <a:pt x="740624" y="1326448"/>
                  </a:lnTo>
                  <a:lnTo>
                    <a:pt x="732855" y="1341044"/>
                  </a:lnTo>
                  <a:lnTo>
                    <a:pt x="716026" y="1341044"/>
                  </a:lnTo>
                  <a:lnTo>
                    <a:pt x="690130" y="1297242"/>
                  </a:lnTo>
                  <a:lnTo>
                    <a:pt x="633159" y="1297242"/>
                  </a:lnTo>
                  <a:lnTo>
                    <a:pt x="590427" y="1268036"/>
                  </a:lnTo>
                  <a:lnTo>
                    <a:pt x="607264" y="1218617"/>
                  </a:lnTo>
                  <a:lnTo>
                    <a:pt x="599494" y="1174818"/>
                  </a:lnTo>
                  <a:lnTo>
                    <a:pt x="548996" y="1181558"/>
                  </a:lnTo>
                  <a:lnTo>
                    <a:pt x="515331" y="1174818"/>
                  </a:lnTo>
                  <a:lnTo>
                    <a:pt x="533457" y="1132134"/>
                  </a:lnTo>
                  <a:lnTo>
                    <a:pt x="565825" y="1088337"/>
                  </a:lnTo>
                  <a:lnTo>
                    <a:pt x="548996" y="1081601"/>
                  </a:lnTo>
                  <a:lnTo>
                    <a:pt x="499795" y="1088337"/>
                  </a:lnTo>
                  <a:lnTo>
                    <a:pt x="482958" y="1132134"/>
                  </a:lnTo>
                  <a:lnTo>
                    <a:pt x="449298" y="1132134"/>
                  </a:lnTo>
                  <a:lnTo>
                    <a:pt x="366426" y="1088337"/>
                  </a:lnTo>
                  <a:lnTo>
                    <a:pt x="367724" y="1059138"/>
                  </a:lnTo>
                  <a:lnTo>
                    <a:pt x="358661" y="1032174"/>
                  </a:lnTo>
                  <a:lnTo>
                    <a:pt x="391029" y="965913"/>
                  </a:lnTo>
                  <a:lnTo>
                    <a:pt x="458355" y="937822"/>
                  </a:lnTo>
                  <a:lnTo>
                    <a:pt x="507561" y="937822"/>
                  </a:lnTo>
                  <a:lnTo>
                    <a:pt x="541227" y="959167"/>
                  </a:lnTo>
                  <a:lnTo>
                    <a:pt x="558059" y="959167"/>
                  </a:lnTo>
                  <a:lnTo>
                    <a:pt x="548996" y="937822"/>
                  </a:lnTo>
                  <a:lnTo>
                    <a:pt x="624097" y="944568"/>
                  </a:lnTo>
                  <a:lnTo>
                    <a:pt x="648695" y="965913"/>
                  </a:lnTo>
                  <a:lnTo>
                    <a:pt x="657757" y="995112"/>
                  </a:lnTo>
                  <a:lnTo>
                    <a:pt x="682360" y="1038910"/>
                  </a:lnTo>
                  <a:lnTo>
                    <a:pt x="697897" y="1016447"/>
                  </a:lnTo>
                  <a:lnTo>
                    <a:pt x="697897" y="981630"/>
                  </a:lnTo>
                  <a:lnTo>
                    <a:pt x="682360" y="937822"/>
                  </a:lnTo>
                  <a:lnTo>
                    <a:pt x="708256" y="887299"/>
                  </a:lnTo>
                  <a:lnTo>
                    <a:pt x="765227" y="865943"/>
                  </a:lnTo>
                  <a:lnTo>
                    <a:pt x="757456" y="800810"/>
                  </a:lnTo>
                  <a:lnTo>
                    <a:pt x="782059" y="822145"/>
                  </a:lnTo>
                  <a:lnTo>
                    <a:pt x="789825" y="794074"/>
                  </a:lnTo>
                  <a:lnTo>
                    <a:pt x="819607" y="763748"/>
                  </a:lnTo>
                  <a:lnTo>
                    <a:pt x="849390" y="750266"/>
                  </a:lnTo>
                  <a:lnTo>
                    <a:pt x="840323" y="727803"/>
                  </a:lnTo>
                  <a:lnTo>
                    <a:pt x="932257" y="657041"/>
                  </a:lnTo>
                  <a:lnTo>
                    <a:pt x="915424" y="657041"/>
                  </a:lnTo>
                  <a:lnTo>
                    <a:pt x="915424" y="621107"/>
                  </a:lnTo>
                  <a:lnTo>
                    <a:pt x="857159" y="627843"/>
                  </a:lnTo>
                  <a:lnTo>
                    <a:pt x="881758" y="584034"/>
                  </a:lnTo>
                  <a:lnTo>
                    <a:pt x="990524" y="554836"/>
                  </a:lnTo>
                  <a:lnTo>
                    <a:pt x="990524" y="526754"/>
                  </a:lnTo>
                  <a:lnTo>
                    <a:pt x="932257" y="526754"/>
                  </a:lnTo>
                  <a:lnTo>
                    <a:pt x="947792" y="497556"/>
                  </a:lnTo>
                  <a:lnTo>
                    <a:pt x="915424" y="497556"/>
                  </a:lnTo>
                  <a:lnTo>
                    <a:pt x="872700" y="418941"/>
                  </a:lnTo>
                  <a:lnTo>
                    <a:pt x="857159" y="447012"/>
                  </a:lnTo>
                  <a:lnTo>
                    <a:pt x="840323" y="447012"/>
                  </a:lnTo>
                  <a:lnTo>
                    <a:pt x="823495" y="418941"/>
                  </a:lnTo>
                  <a:lnTo>
                    <a:pt x="725088" y="389732"/>
                  </a:lnTo>
                  <a:lnTo>
                    <a:pt x="725088" y="454875"/>
                  </a:lnTo>
                  <a:lnTo>
                    <a:pt x="749691" y="484074"/>
                  </a:lnTo>
                  <a:lnTo>
                    <a:pt x="732855" y="512155"/>
                  </a:lnTo>
                  <a:lnTo>
                    <a:pt x="749691" y="591898"/>
                  </a:lnTo>
                  <a:lnTo>
                    <a:pt x="708256" y="591898"/>
                  </a:lnTo>
                  <a:lnTo>
                    <a:pt x="674595" y="518901"/>
                  </a:lnTo>
                  <a:lnTo>
                    <a:pt x="624097" y="476210"/>
                  </a:lnTo>
                  <a:lnTo>
                    <a:pt x="599494" y="484074"/>
                  </a:lnTo>
                  <a:lnTo>
                    <a:pt x="590427" y="397595"/>
                  </a:lnTo>
                  <a:lnTo>
                    <a:pt x="599494" y="360533"/>
                  </a:lnTo>
                  <a:lnTo>
                    <a:pt x="624097" y="382986"/>
                  </a:lnTo>
                  <a:lnTo>
                    <a:pt x="640926" y="367269"/>
                  </a:lnTo>
                  <a:lnTo>
                    <a:pt x="624097" y="339188"/>
                  </a:lnTo>
                  <a:lnTo>
                    <a:pt x="657757" y="345923"/>
                  </a:lnTo>
                  <a:lnTo>
                    <a:pt x="708256" y="311107"/>
                  </a:lnTo>
                  <a:lnTo>
                    <a:pt x="708256" y="280780"/>
                  </a:lnTo>
                  <a:lnTo>
                    <a:pt x="665527" y="303243"/>
                  </a:lnTo>
                  <a:lnTo>
                    <a:pt x="624097" y="238100"/>
                  </a:lnTo>
                  <a:lnTo>
                    <a:pt x="624097" y="295390"/>
                  </a:lnTo>
                  <a:lnTo>
                    <a:pt x="599494" y="303243"/>
                  </a:lnTo>
                  <a:lnTo>
                    <a:pt x="599494" y="288644"/>
                  </a:lnTo>
                  <a:lnTo>
                    <a:pt x="533457" y="274044"/>
                  </a:lnTo>
                  <a:lnTo>
                    <a:pt x="524394" y="295390"/>
                  </a:lnTo>
                  <a:lnTo>
                    <a:pt x="473896" y="252709"/>
                  </a:lnTo>
                  <a:lnTo>
                    <a:pt x="490728" y="231364"/>
                  </a:lnTo>
                  <a:lnTo>
                    <a:pt x="391029" y="166221"/>
                  </a:lnTo>
                  <a:lnTo>
                    <a:pt x="366426" y="166221"/>
                  </a:lnTo>
                  <a:lnTo>
                    <a:pt x="358661" y="93224"/>
                  </a:lnTo>
                  <a:lnTo>
                    <a:pt x="341829" y="72996"/>
                  </a:lnTo>
                  <a:lnTo>
                    <a:pt x="349595" y="50533"/>
                  </a:lnTo>
                  <a:lnTo>
                    <a:pt x="283560" y="7863"/>
                  </a:lnTo>
                  <a:lnTo>
                    <a:pt x="249896" y="0"/>
                  </a:lnTo>
                  <a:lnTo>
                    <a:pt x="240832" y="35934"/>
                  </a:lnTo>
                  <a:lnTo>
                    <a:pt x="224000" y="42680"/>
                  </a:lnTo>
                  <a:lnTo>
                    <a:pt x="216234" y="22462"/>
                  </a:lnTo>
                  <a:lnTo>
                    <a:pt x="183862" y="22462"/>
                  </a:lnTo>
                  <a:lnTo>
                    <a:pt x="183862" y="50533"/>
                  </a:lnTo>
                  <a:lnTo>
                    <a:pt x="191631" y="72996"/>
                  </a:lnTo>
                  <a:lnTo>
                    <a:pt x="174799" y="79742"/>
                  </a:lnTo>
                  <a:lnTo>
                    <a:pt x="116531" y="58407"/>
                  </a:lnTo>
                  <a:lnTo>
                    <a:pt x="76397" y="79742"/>
                  </a:lnTo>
                  <a:lnTo>
                    <a:pt x="91933" y="101077"/>
                  </a:lnTo>
                  <a:lnTo>
                    <a:pt x="84163" y="108941"/>
                  </a:lnTo>
                  <a:lnTo>
                    <a:pt x="91933" y="144886"/>
                  </a:lnTo>
                  <a:lnTo>
                    <a:pt x="84163" y="151621"/>
                  </a:lnTo>
                  <a:lnTo>
                    <a:pt x="0" y="144886"/>
                  </a:lnTo>
                  <a:close/>
                </a:path>
              </a:pathLst>
            </a:custGeom>
            <a:ln w="5270">
              <a:solidFill>
                <a:srgbClr val="000000"/>
              </a:solidFill>
            </a:ln>
          </p:spPr>
          <p:txBody>
            <a:bodyPr wrap="square" lIns="0" tIns="0" rIns="0" bIns="0" rtlCol="0"/>
            <a:lstStyle/>
            <a:p>
              <a:endParaRPr/>
            </a:p>
          </p:txBody>
        </p:sp>
        <p:pic>
          <p:nvPicPr>
            <p:cNvPr id="11" name="object 11"/>
            <p:cNvPicPr/>
            <p:nvPr/>
          </p:nvPicPr>
          <p:blipFill>
            <a:blip r:embed="rId9" cstate="print"/>
            <a:stretch>
              <a:fillRect/>
            </a:stretch>
          </p:blipFill>
          <p:spPr>
            <a:xfrm>
              <a:off x="980330" y="1337852"/>
              <a:ext cx="172300" cy="134440"/>
            </a:xfrm>
            <a:prstGeom prst="rect">
              <a:avLst/>
            </a:prstGeom>
          </p:spPr>
        </p:pic>
        <p:sp>
          <p:nvSpPr>
            <p:cNvPr id="12" name="object 12"/>
            <p:cNvSpPr/>
            <p:nvPr/>
          </p:nvSpPr>
          <p:spPr>
            <a:xfrm>
              <a:off x="567296" y="1017428"/>
              <a:ext cx="93980" cy="210820"/>
            </a:xfrm>
            <a:custGeom>
              <a:avLst/>
              <a:gdLst/>
              <a:ahLst/>
              <a:cxnLst/>
              <a:rect l="l" t="t" r="r" b="b"/>
              <a:pathLst>
                <a:path w="93979" h="210819">
                  <a:moveTo>
                    <a:pt x="93526" y="0"/>
                  </a:moveTo>
                  <a:lnTo>
                    <a:pt x="0" y="0"/>
                  </a:lnTo>
                  <a:lnTo>
                    <a:pt x="0" y="210428"/>
                  </a:lnTo>
                  <a:lnTo>
                    <a:pt x="93526" y="210428"/>
                  </a:lnTo>
                  <a:lnTo>
                    <a:pt x="93526" y="0"/>
                  </a:lnTo>
                  <a:close/>
                </a:path>
              </a:pathLst>
            </a:custGeom>
            <a:solidFill>
              <a:srgbClr val="FEFEFE"/>
            </a:solidFill>
          </p:spPr>
          <p:txBody>
            <a:bodyPr wrap="square" lIns="0" tIns="0" rIns="0" bIns="0" rtlCol="0"/>
            <a:lstStyle/>
            <a:p>
              <a:endParaRPr/>
            </a:p>
          </p:txBody>
        </p:sp>
        <p:sp>
          <p:nvSpPr>
            <p:cNvPr id="13" name="object 13"/>
            <p:cNvSpPr/>
            <p:nvPr/>
          </p:nvSpPr>
          <p:spPr>
            <a:xfrm>
              <a:off x="1158930" y="1510324"/>
              <a:ext cx="54610" cy="54610"/>
            </a:xfrm>
            <a:custGeom>
              <a:avLst/>
              <a:gdLst/>
              <a:ahLst/>
              <a:cxnLst/>
              <a:rect l="l" t="t" r="r" b="b"/>
              <a:pathLst>
                <a:path w="54609" h="54609">
                  <a:moveTo>
                    <a:pt x="27213" y="10"/>
                  </a:moveTo>
                  <a:lnTo>
                    <a:pt x="16636" y="2153"/>
                  </a:lnTo>
                  <a:lnTo>
                    <a:pt x="7984" y="7994"/>
                  </a:lnTo>
                  <a:lnTo>
                    <a:pt x="2143" y="16646"/>
                  </a:lnTo>
                  <a:lnTo>
                    <a:pt x="0" y="27227"/>
                  </a:lnTo>
                  <a:lnTo>
                    <a:pt x="2143" y="37797"/>
                  </a:lnTo>
                  <a:lnTo>
                    <a:pt x="7984" y="46447"/>
                  </a:lnTo>
                  <a:lnTo>
                    <a:pt x="16636" y="52289"/>
                  </a:lnTo>
                  <a:lnTo>
                    <a:pt x="27213" y="54433"/>
                  </a:lnTo>
                  <a:lnTo>
                    <a:pt x="37788" y="52289"/>
                  </a:lnTo>
                  <a:lnTo>
                    <a:pt x="46440" y="46447"/>
                  </a:lnTo>
                  <a:lnTo>
                    <a:pt x="52281" y="37797"/>
                  </a:lnTo>
                  <a:lnTo>
                    <a:pt x="54426" y="27227"/>
                  </a:lnTo>
                  <a:lnTo>
                    <a:pt x="52281" y="16645"/>
                  </a:lnTo>
                  <a:lnTo>
                    <a:pt x="46440" y="7988"/>
                  </a:lnTo>
                  <a:lnTo>
                    <a:pt x="37788" y="2144"/>
                  </a:lnTo>
                  <a:lnTo>
                    <a:pt x="27213" y="0"/>
                  </a:lnTo>
                  <a:close/>
                </a:path>
              </a:pathLst>
            </a:custGeom>
            <a:solidFill>
              <a:srgbClr val="000000"/>
            </a:solidFill>
          </p:spPr>
          <p:txBody>
            <a:bodyPr wrap="square" lIns="0" tIns="0" rIns="0" bIns="0" rtlCol="0"/>
            <a:lstStyle/>
            <a:p>
              <a:endParaRPr/>
            </a:p>
          </p:txBody>
        </p:sp>
        <p:sp>
          <p:nvSpPr>
            <p:cNvPr id="14" name="object 14"/>
            <p:cNvSpPr/>
            <p:nvPr/>
          </p:nvSpPr>
          <p:spPr>
            <a:xfrm>
              <a:off x="750725" y="1238198"/>
              <a:ext cx="462915" cy="327025"/>
            </a:xfrm>
            <a:custGeom>
              <a:avLst/>
              <a:gdLst/>
              <a:ahLst/>
              <a:cxnLst/>
              <a:rect l="l" t="t" r="r" b="b"/>
              <a:pathLst>
                <a:path w="462915" h="327025">
                  <a:moveTo>
                    <a:pt x="435418" y="272126"/>
                  </a:moveTo>
                  <a:lnTo>
                    <a:pt x="445992" y="274271"/>
                  </a:lnTo>
                  <a:lnTo>
                    <a:pt x="454644" y="280115"/>
                  </a:lnTo>
                  <a:lnTo>
                    <a:pt x="460486" y="288771"/>
                  </a:lnTo>
                  <a:lnTo>
                    <a:pt x="462630" y="299353"/>
                  </a:lnTo>
                  <a:lnTo>
                    <a:pt x="460486" y="309923"/>
                  </a:lnTo>
                  <a:lnTo>
                    <a:pt x="454644" y="318574"/>
                  </a:lnTo>
                  <a:lnTo>
                    <a:pt x="445992" y="324415"/>
                  </a:lnTo>
                  <a:lnTo>
                    <a:pt x="435418" y="326560"/>
                  </a:lnTo>
                  <a:lnTo>
                    <a:pt x="424841" y="324415"/>
                  </a:lnTo>
                  <a:lnTo>
                    <a:pt x="416189" y="318574"/>
                  </a:lnTo>
                  <a:lnTo>
                    <a:pt x="410348" y="309923"/>
                  </a:lnTo>
                  <a:lnTo>
                    <a:pt x="408204" y="299353"/>
                  </a:lnTo>
                  <a:lnTo>
                    <a:pt x="410348" y="288773"/>
                  </a:lnTo>
                  <a:lnTo>
                    <a:pt x="416189" y="280120"/>
                  </a:lnTo>
                  <a:lnTo>
                    <a:pt x="424841" y="274280"/>
                  </a:lnTo>
                  <a:lnTo>
                    <a:pt x="435418" y="272136"/>
                  </a:lnTo>
                  <a:close/>
                </a:path>
                <a:path w="462915" h="327025">
                  <a:moveTo>
                    <a:pt x="0" y="0"/>
                  </a:moveTo>
                  <a:lnTo>
                    <a:pt x="77636" y="220121"/>
                  </a:lnTo>
                  <a:lnTo>
                    <a:pt x="221904" y="306393"/>
                  </a:lnTo>
                  <a:lnTo>
                    <a:pt x="361069" y="316128"/>
                  </a:lnTo>
                  <a:lnTo>
                    <a:pt x="423398" y="306637"/>
                  </a:lnTo>
                </a:path>
              </a:pathLst>
            </a:custGeom>
            <a:ln w="5270">
              <a:solidFill>
                <a:srgbClr val="000000"/>
              </a:solidFill>
            </a:ln>
          </p:spPr>
          <p:txBody>
            <a:bodyPr wrap="square" lIns="0" tIns="0" rIns="0" bIns="0" rtlCol="0"/>
            <a:lstStyle/>
            <a:p>
              <a:endParaRPr/>
            </a:p>
          </p:txBody>
        </p:sp>
        <p:sp>
          <p:nvSpPr>
            <p:cNvPr id="15" name="object 15"/>
            <p:cNvSpPr/>
            <p:nvPr/>
          </p:nvSpPr>
          <p:spPr>
            <a:xfrm>
              <a:off x="1815525" y="1635878"/>
              <a:ext cx="979169" cy="958215"/>
            </a:xfrm>
            <a:custGeom>
              <a:avLst/>
              <a:gdLst/>
              <a:ahLst/>
              <a:cxnLst/>
              <a:rect l="l" t="t" r="r" b="b"/>
              <a:pathLst>
                <a:path w="979169" h="958214">
                  <a:moveTo>
                    <a:pt x="0" y="295393"/>
                  </a:moveTo>
                  <a:lnTo>
                    <a:pt x="73797" y="395352"/>
                  </a:lnTo>
                  <a:lnTo>
                    <a:pt x="107465" y="417813"/>
                  </a:lnTo>
                  <a:lnTo>
                    <a:pt x="148902" y="395352"/>
                  </a:lnTo>
                  <a:lnTo>
                    <a:pt x="198107" y="424550"/>
                  </a:lnTo>
                  <a:lnTo>
                    <a:pt x="240830" y="409953"/>
                  </a:lnTo>
                  <a:lnTo>
                    <a:pt x="265432" y="388616"/>
                  </a:lnTo>
                  <a:lnTo>
                    <a:pt x="381963" y="432414"/>
                  </a:lnTo>
                  <a:lnTo>
                    <a:pt x="374194" y="489694"/>
                  </a:lnTo>
                  <a:lnTo>
                    <a:pt x="448003" y="625594"/>
                  </a:lnTo>
                  <a:lnTo>
                    <a:pt x="440234" y="662660"/>
                  </a:lnTo>
                  <a:lnTo>
                    <a:pt x="407862" y="684002"/>
                  </a:lnTo>
                  <a:lnTo>
                    <a:pt x="415631" y="742406"/>
                  </a:lnTo>
                  <a:lnTo>
                    <a:pt x="440234" y="763748"/>
                  </a:lnTo>
                  <a:lnTo>
                    <a:pt x="457068" y="850229"/>
                  </a:lnTo>
                  <a:lnTo>
                    <a:pt x="472605" y="856965"/>
                  </a:lnTo>
                  <a:lnTo>
                    <a:pt x="472605" y="886171"/>
                  </a:lnTo>
                  <a:lnTo>
                    <a:pt x="489429" y="892912"/>
                  </a:lnTo>
                  <a:lnTo>
                    <a:pt x="498504" y="958048"/>
                  </a:lnTo>
                  <a:lnTo>
                    <a:pt x="596905" y="943451"/>
                  </a:lnTo>
                  <a:lnTo>
                    <a:pt x="679767" y="878307"/>
                  </a:lnTo>
                  <a:lnTo>
                    <a:pt x="696601" y="828884"/>
                  </a:lnTo>
                  <a:lnTo>
                    <a:pt x="730269" y="814286"/>
                  </a:lnTo>
                  <a:lnTo>
                    <a:pt x="739324" y="742406"/>
                  </a:lnTo>
                  <a:lnTo>
                    <a:pt x="820911" y="698603"/>
                  </a:lnTo>
                  <a:lnTo>
                    <a:pt x="820911" y="633459"/>
                  </a:lnTo>
                  <a:lnTo>
                    <a:pt x="796309" y="618858"/>
                  </a:lnTo>
                  <a:lnTo>
                    <a:pt x="796309" y="561579"/>
                  </a:lnTo>
                  <a:lnTo>
                    <a:pt x="829966" y="504299"/>
                  </a:lnTo>
                  <a:lnTo>
                    <a:pt x="912840" y="460492"/>
                  </a:lnTo>
                  <a:lnTo>
                    <a:pt x="978868" y="366146"/>
                  </a:lnTo>
                  <a:lnTo>
                    <a:pt x="978868" y="316731"/>
                  </a:lnTo>
                  <a:lnTo>
                    <a:pt x="946497" y="316731"/>
                  </a:lnTo>
                  <a:lnTo>
                    <a:pt x="929663" y="331327"/>
                  </a:lnTo>
                  <a:lnTo>
                    <a:pt x="854569" y="339192"/>
                  </a:lnTo>
                  <a:lnTo>
                    <a:pt x="813132" y="287528"/>
                  </a:lnTo>
                  <a:lnTo>
                    <a:pt x="762641" y="259447"/>
                  </a:lnTo>
                  <a:lnTo>
                    <a:pt x="762641" y="208912"/>
                  </a:lnTo>
                  <a:lnTo>
                    <a:pt x="745807" y="171849"/>
                  </a:lnTo>
                  <a:lnTo>
                    <a:pt x="713425" y="157240"/>
                  </a:lnTo>
                  <a:lnTo>
                    <a:pt x="696601" y="101077"/>
                  </a:lnTo>
                  <a:lnTo>
                    <a:pt x="722501" y="107823"/>
                  </a:lnTo>
                  <a:lnTo>
                    <a:pt x="713425" y="64015"/>
                  </a:lnTo>
                  <a:lnTo>
                    <a:pt x="672009" y="64015"/>
                  </a:lnTo>
                  <a:lnTo>
                    <a:pt x="655165" y="79742"/>
                  </a:lnTo>
                  <a:lnTo>
                    <a:pt x="555468" y="57279"/>
                  </a:lnTo>
                  <a:lnTo>
                    <a:pt x="532162" y="64015"/>
                  </a:lnTo>
                  <a:lnTo>
                    <a:pt x="523097" y="93224"/>
                  </a:lnTo>
                  <a:lnTo>
                    <a:pt x="481670" y="57279"/>
                  </a:lnTo>
                  <a:lnTo>
                    <a:pt x="423400" y="42680"/>
                  </a:lnTo>
                  <a:lnTo>
                    <a:pt x="448003" y="6735"/>
                  </a:lnTo>
                  <a:lnTo>
                    <a:pt x="415631" y="0"/>
                  </a:lnTo>
                  <a:lnTo>
                    <a:pt x="265432" y="0"/>
                  </a:lnTo>
                  <a:lnTo>
                    <a:pt x="257664" y="6735"/>
                  </a:lnTo>
                  <a:lnTo>
                    <a:pt x="216227" y="0"/>
                  </a:lnTo>
                  <a:lnTo>
                    <a:pt x="191624" y="6735"/>
                  </a:lnTo>
                  <a:lnTo>
                    <a:pt x="191624" y="29198"/>
                  </a:lnTo>
                  <a:lnTo>
                    <a:pt x="148902" y="42680"/>
                  </a:lnTo>
                  <a:lnTo>
                    <a:pt x="107465" y="107823"/>
                  </a:lnTo>
                  <a:lnTo>
                    <a:pt x="58270" y="122423"/>
                  </a:lnTo>
                  <a:lnTo>
                    <a:pt x="7768" y="171849"/>
                  </a:lnTo>
                  <a:lnTo>
                    <a:pt x="15537" y="230246"/>
                  </a:lnTo>
                  <a:lnTo>
                    <a:pt x="0" y="295393"/>
                  </a:lnTo>
                  <a:close/>
                </a:path>
              </a:pathLst>
            </a:custGeom>
            <a:ln w="5270">
              <a:solidFill>
                <a:srgbClr val="000000"/>
              </a:solidFill>
            </a:ln>
          </p:spPr>
          <p:txBody>
            <a:bodyPr wrap="square" lIns="0" tIns="0" rIns="0" bIns="0" rtlCol="0"/>
            <a:lstStyle/>
            <a:p>
              <a:endParaRPr/>
            </a:p>
          </p:txBody>
        </p:sp>
        <p:pic>
          <p:nvPicPr>
            <p:cNvPr id="16" name="object 16"/>
            <p:cNvPicPr/>
            <p:nvPr/>
          </p:nvPicPr>
          <p:blipFill>
            <a:blip r:embed="rId10" cstate="print"/>
            <a:stretch>
              <a:fillRect/>
            </a:stretch>
          </p:blipFill>
          <p:spPr>
            <a:xfrm>
              <a:off x="2633802" y="2295904"/>
              <a:ext cx="147690" cy="184974"/>
            </a:xfrm>
            <a:prstGeom prst="rect">
              <a:avLst/>
            </a:prstGeom>
          </p:spPr>
        </p:pic>
        <p:sp>
          <p:nvSpPr>
            <p:cNvPr id="17" name="object 17"/>
            <p:cNvSpPr/>
            <p:nvPr/>
          </p:nvSpPr>
          <p:spPr>
            <a:xfrm>
              <a:off x="3476755" y="2269337"/>
              <a:ext cx="524510" cy="411480"/>
            </a:xfrm>
            <a:custGeom>
              <a:avLst/>
              <a:gdLst/>
              <a:ahLst/>
              <a:cxnLst/>
              <a:rect l="l" t="t" r="r" b="b"/>
              <a:pathLst>
                <a:path w="524510" h="411480">
                  <a:moveTo>
                    <a:pt x="33667" y="94346"/>
                  </a:moveTo>
                  <a:lnTo>
                    <a:pt x="25899" y="159490"/>
                  </a:lnTo>
                  <a:lnTo>
                    <a:pt x="0" y="159490"/>
                  </a:lnTo>
                  <a:lnTo>
                    <a:pt x="25899" y="231374"/>
                  </a:lnTo>
                  <a:lnTo>
                    <a:pt x="7768" y="259453"/>
                  </a:lnTo>
                  <a:lnTo>
                    <a:pt x="25899" y="303256"/>
                  </a:lnTo>
                  <a:lnTo>
                    <a:pt x="91938" y="274050"/>
                  </a:lnTo>
                  <a:lnTo>
                    <a:pt x="107465" y="288654"/>
                  </a:lnTo>
                  <a:lnTo>
                    <a:pt x="125596" y="281910"/>
                  </a:lnTo>
                  <a:lnTo>
                    <a:pt x="125596" y="267309"/>
                  </a:lnTo>
                  <a:lnTo>
                    <a:pt x="167032" y="271805"/>
                  </a:lnTo>
                  <a:lnTo>
                    <a:pt x="225292" y="267309"/>
                  </a:lnTo>
                  <a:lnTo>
                    <a:pt x="257664" y="281910"/>
                  </a:lnTo>
                  <a:lnTo>
                    <a:pt x="260257" y="304375"/>
                  </a:lnTo>
                  <a:lnTo>
                    <a:pt x="283563" y="313364"/>
                  </a:lnTo>
                  <a:lnTo>
                    <a:pt x="315934" y="296510"/>
                  </a:lnTo>
                  <a:lnTo>
                    <a:pt x="283563" y="332453"/>
                  </a:lnTo>
                  <a:lnTo>
                    <a:pt x="299100" y="339193"/>
                  </a:lnTo>
                  <a:lnTo>
                    <a:pt x="318527" y="333581"/>
                  </a:lnTo>
                  <a:lnTo>
                    <a:pt x="332768" y="339193"/>
                  </a:lnTo>
                  <a:lnTo>
                    <a:pt x="315934" y="353790"/>
                  </a:lnTo>
                  <a:lnTo>
                    <a:pt x="315934" y="381877"/>
                  </a:lnTo>
                  <a:lnTo>
                    <a:pt x="391028" y="411074"/>
                  </a:lnTo>
                  <a:lnTo>
                    <a:pt x="449289" y="396473"/>
                  </a:lnTo>
                  <a:lnTo>
                    <a:pt x="524393" y="288654"/>
                  </a:lnTo>
                  <a:lnTo>
                    <a:pt x="524393" y="231374"/>
                  </a:lnTo>
                  <a:lnTo>
                    <a:pt x="464837" y="115679"/>
                  </a:lnTo>
                  <a:lnTo>
                    <a:pt x="433762" y="29201"/>
                  </a:lnTo>
                  <a:lnTo>
                    <a:pt x="424696" y="29201"/>
                  </a:lnTo>
                  <a:lnTo>
                    <a:pt x="433762" y="86481"/>
                  </a:lnTo>
                  <a:lnTo>
                    <a:pt x="415631" y="122424"/>
                  </a:lnTo>
                  <a:lnTo>
                    <a:pt x="349592" y="58400"/>
                  </a:lnTo>
                  <a:lnTo>
                    <a:pt x="349592" y="43803"/>
                  </a:lnTo>
                  <a:lnTo>
                    <a:pt x="308166" y="0"/>
                  </a:lnTo>
                  <a:lnTo>
                    <a:pt x="299100" y="14605"/>
                  </a:lnTo>
                  <a:lnTo>
                    <a:pt x="274498" y="14605"/>
                  </a:lnTo>
                  <a:lnTo>
                    <a:pt x="257664" y="29201"/>
                  </a:lnTo>
                  <a:lnTo>
                    <a:pt x="249895" y="50543"/>
                  </a:lnTo>
                  <a:lnTo>
                    <a:pt x="233072" y="43803"/>
                  </a:lnTo>
                  <a:lnTo>
                    <a:pt x="225292" y="22461"/>
                  </a:lnTo>
                  <a:lnTo>
                    <a:pt x="174801" y="65144"/>
                  </a:lnTo>
                  <a:lnTo>
                    <a:pt x="148902" y="58400"/>
                  </a:lnTo>
                  <a:lnTo>
                    <a:pt x="133364" y="94346"/>
                  </a:lnTo>
                  <a:lnTo>
                    <a:pt x="84159" y="108947"/>
                  </a:lnTo>
                  <a:lnTo>
                    <a:pt x="33667" y="94346"/>
                  </a:lnTo>
                  <a:close/>
                </a:path>
              </a:pathLst>
            </a:custGeom>
            <a:ln w="5270">
              <a:solidFill>
                <a:srgbClr val="000000"/>
              </a:solidFill>
            </a:ln>
          </p:spPr>
          <p:txBody>
            <a:bodyPr wrap="square" lIns="0" tIns="0" rIns="0" bIns="0" rtlCol="0"/>
            <a:lstStyle/>
            <a:p>
              <a:endParaRPr/>
            </a:p>
          </p:txBody>
        </p:sp>
        <p:pic>
          <p:nvPicPr>
            <p:cNvPr id="18" name="object 18"/>
            <p:cNvPicPr/>
            <p:nvPr/>
          </p:nvPicPr>
          <p:blipFill>
            <a:blip r:embed="rId11" cstate="print"/>
            <a:stretch>
              <a:fillRect/>
            </a:stretch>
          </p:blipFill>
          <p:spPr>
            <a:xfrm>
              <a:off x="3790055" y="2137542"/>
              <a:ext cx="221498" cy="178233"/>
            </a:xfrm>
            <a:prstGeom prst="rect">
              <a:avLst/>
            </a:prstGeom>
          </p:spPr>
        </p:pic>
        <p:pic>
          <p:nvPicPr>
            <p:cNvPr id="19" name="object 19"/>
            <p:cNvPicPr/>
            <p:nvPr/>
          </p:nvPicPr>
          <p:blipFill>
            <a:blip r:embed="rId12" cstate="print"/>
            <a:stretch>
              <a:fillRect/>
            </a:stretch>
          </p:blipFill>
          <p:spPr>
            <a:xfrm>
              <a:off x="3325218" y="2053305"/>
              <a:ext cx="129570" cy="132182"/>
            </a:xfrm>
            <a:prstGeom prst="rect">
              <a:avLst/>
            </a:prstGeom>
          </p:spPr>
        </p:pic>
        <p:pic>
          <p:nvPicPr>
            <p:cNvPr id="20" name="object 20"/>
            <p:cNvPicPr/>
            <p:nvPr/>
          </p:nvPicPr>
          <p:blipFill>
            <a:blip r:embed="rId13" cstate="print"/>
            <a:stretch>
              <a:fillRect/>
            </a:stretch>
          </p:blipFill>
          <p:spPr>
            <a:xfrm>
              <a:off x="3985169" y="2622279"/>
              <a:ext cx="205971" cy="163637"/>
            </a:xfrm>
            <a:prstGeom prst="rect">
              <a:avLst/>
            </a:prstGeom>
          </p:spPr>
        </p:pic>
        <p:pic>
          <p:nvPicPr>
            <p:cNvPr id="21" name="object 21"/>
            <p:cNvPicPr/>
            <p:nvPr/>
          </p:nvPicPr>
          <p:blipFill>
            <a:blip r:embed="rId14" cstate="print"/>
            <a:stretch>
              <a:fillRect/>
            </a:stretch>
          </p:blipFill>
          <p:spPr>
            <a:xfrm>
              <a:off x="3490954" y="2015113"/>
              <a:ext cx="207257" cy="159145"/>
            </a:xfrm>
            <a:prstGeom prst="rect">
              <a:avLst/>
            </a:prstGeom>
          </p:spPr>
        </p:pic>
        <p:sp>
          <p:nvSpPr>
            <p:cNvPr id="22" name="object 22"/>
            <p:cNvSpPr/>
            <p:nvPr/>
          </p:nvSpPr>
          <p:spPr>
            <a:xfrm>
              <a:off x="3133635" y="1990796"/>
              <a:ext cx="444500" cy="233679"/>
            </a:xfrm>
            <a:custGeom>
              <a:avLst/>
              <a:gdLst/>
              <a:ahLst/>
              <a:cxnLst/>
              <a:rect l="l" t="t" r="r" b="b"/>
              <a:pathLst>
                <a:path w="444500" h="233680">
                  <a:moveTo>
                    <a:pt x="361250" y="213397"/>
                  </a:moveTo>
                  <a:lnTo>
                    <a:pt x="396204" y="210029"/>
                  </a:lnTo>
                  <a:lnTo>
                    <a:pt x="429872" y="217894"/>
                  </a:lnTo>
                  <a:lnTo>
                    <a:pt x="438927" y="217894"/>
                  </a:lnTo>
                  <a:lnTo>
                    <a:pt x="444113" y="226879"/>
                  </a:lnTo>
                  <a:lnTo>
                    <a:pt x="428575" y="228002"/>
                  </a:lnTo>
                  <a:lnTo>
                    <a:pt x="409148" y="223501"/>
                  </a:lnTo>
                  <a:lnTo>
                    <a:pt x="376788" y="230242"/>
                  </a:lnTo>
                  <a:lnTo>
                    <a:pt x="361250" y="233614"/>
                  </a:lnTo>
                  <a:lnTo>
                    <a:pt x="354778" y="221261"/>
                  </a:lnTo>
                  <a:lnTo>
                    <a:pt x="361250" y="213397"/>
                  </a:lnTo>
                  <a:close/>
                </a:path>
                <a:path w="444500" h="233680">
                  <a:moveTo>
                    <a:pt x="10351" y="0"/>
                  </a:moveTo>
                  <a:lnTo>
                    <a:pt x="0" y="13480"/>
                  </a:lnTo>
                  <a:lnTo>
                    <a:pt x="2593" y="37062"/>
                  </a:lnTo>
                  <a:lnTo>
                    <a:pt x="20713" y="39310"/>
                  </a:lnTo>
                  <a:lnTo>
                    <a:pt x="33667" y="24710"/>
                  </a:lnTo>
                  <a:lnTo>
                    <a:pt x="20713" y="19092"/>
                  </a:lnTo>
                  <a:lnTo>
                    <a:pt x="22009" y="7864"/>
                  </a:lnTo>
                  <a:lnTo>
                    <a:pt x="10351" y="0"/>
                  </a:lnTo>
                  <a:close/>
                </a:path>
              </a:pathLst>
            </a:custGeom>
            <a:ln w="5270">
              <a:solidFill>
                <a:srgbClr val="000000"/>
              </a:solidFill>
            </a:ln>
          </p:spPr>
          <p:txBody>
            <a:bodyPr wrap="square" lIns="0" tIns="0" rIns="0" bIns="0" rtlCol="0"/>
            <a:lstStyle/>
            <a:p>
              <a:endParaRPr/>
            </a:p>
          </p:txBody>
        </p:sp>
        <p:pic>
          <p:nvPicPr>
            <p:cNvPr id="23" name="object 23"/>
            <p:cNvPicPr/>
            <p:nvPr/>
          </p:nvPicPr>
          <p:blipFill>
            <a:blip r:embed="rId15" cstate="print"/>
            <a:stretch>
              <a:fillRect/>
            </a:stretch>
          </p:blipFill>
          <p:spPr>
            <a:xfrm>
              <a:off x="1995460" y="1245755"/>
              <a:ext cx="121791" cy="140048"/>
            </a:xfrm>
            <a:prstGeom prst="rect">
              <a:avLst/>
            </a:prstGeom>
          </p:spPr>
        </p:pic>
        <p:pic>
          <p:nvPicPr>
            <p:cNvPr id="24" name="object 24"/>
            <p:cNvPicPr/>
            <p:nvPr/>
          </p:nvPicPr>
          <p:blipFill>
            <a:blip r:embed="rId16" cstate="print"/>
            <a:stretch>
              <a:fillRect/>
            </a:stretch>
          </p:blipFill>
          <p:spPr>
            <a:xfrm>
              <a:off x="3753794" y="1562481"/>
              <a:ext cx="108857" cy="126566"/>
            </a:xfrm>
            <a:prstGeom prst="rect">
              <a:avLst/>
            </a:prstGeom>
          </p:spPr>
        </p:pic>
        <p:pic>
          <p:nvPicPr>
            <p:cNvPr id="25" name="object 25"/>
            <p:cNvPicPr/>
            <p:nvPr/>
          </p:nvPicPr>
          <p:blipFill>
            <a:blip r:embed="rId17" cstate="print"/>
            <a:stretch>
              <a:fillRect/>
            </a:stretch>
          </p:blipFill>
          <p:spPr>
            <a:xfrm>
              <a:off x="3780989" y="1297417"/>
              <a:ext cx="114032" cy="241136"/>
            </a:xfrm>
            <a:prstGeom prst="rect">
              <a:avLst/>
            </a:prstGeom>
          </p:spPr>
        </p:pic>
        <p:sp>
          <p:nvSpPr>
            <p:cNvPr id="26" name="object 26"/>
            <p:cNvSpPr/>
            <p:nvPr/>
          </p:nvSpPr>
          <p:spPr>
            <a:xfrm>
              <a:off x="1978668" y="772170"/>
              <a:ext cx="2160270" cy="1321435"/>
            </a:xfrm>
            <a:custGeom>
              <a:avLst/>
              <a:gdLst/>
              <a:ahLst/>
              <a:cxnLst/>
              <a:rect l="l" t="t" r="r" b="b"/>
              <a:pathLst>
                <a:path w="2160270" h="1321435">
                  <a:moveTo>
                    <a:pt x="547699" y="967041"/>
                  </a:moveTo>
                  <a:lnTo>
                    <a:pt x="605970" y="1025438"/>
                  </a:lnTo>
                  <a:lnTo>
                    <a:pt x="613739" y="1046784"/>
                  </a:lnTo>
                  <a:lnTo>
                    <a:pt x="688833" y="1133264"/>
                  </a:lnTo>
                  <a:lnTo>
                    <a:pt x="763937" y="1133264"/>
                  </a:lnTo>
                  <a:lnTo>
                    <a:pt x="863634" y="1090585"/>
                  </a:lnTo>
                  <a:lnTo>
                    <a:pt x="863634" y="1075983"/>
                  </a:lnTo>
                  <a:lnTo>
                    <a:pt x="880468" y="1053520"/>
                  </a:lnTo>
                  <a:lnTo>
                    <a:pt x="822208" y="1017585"/>
                  </a:lnTo>
                  <a:lnTo>
                    <a:pt x="796298" y="1025438"/>
                  </a:lnTo>
                  <a:lnTo>
                    <a:pt x="747103" y="982758"/>
                  </a:lnTo>
                  <a:lnTo>
                    <a:pt x="738038" y="946824"/>
                  </a:lnTo>
                  <a:lnTo>
                    <a:pt x="837735" y="1010839"/>
                  </a:lnTo>
                  <a:lnTo>
                    <a:pt x="1004768" y="1033302"/>
                  </a:lnTo>
                  <a:lnTo>
                    <a:pt x="995702" y="1061383"/>
                  </a:lnTo>
                  <a:lnTo>
                    <a:pt x="1021602" y="1069236"/>
                  </a:lnTo>
                  <a:lnTo>
                    <a:pt x="1046204" y="1061383"/>
                  </a:lnTo>
                  <a:lnTo>
                    <a:pt x="1037139" y="1090585"/>
                  </a:lnTo>
                  <a:lnTo>
                    <a:pt x="1061742" y="1141129"/>
                  </a:lnTo>
                  <a:lnTo>
                    <a:pt x="1061742" y="1155725"/>
                  </a:lnTo>
                  <a:lnTo>
                    <a:pt x="1104475" y="1219746"/>
                  </a:lnTo>
                  <a:lnTo>
                    <a:pt x="1138132" y="1198408"/>
                  </a:lnTo>
                  <a:lnTo>
                    <a:pt x="1179558" y="1119788"/>
                  </a:lnTo>
                  <a:lnTo>
                    <a:pt x="1237829" y="1097326"/>
                  </a:lnTo>
                  <a:lnTo>
                    <a:pt x="1279266" y="1046784"/>
                  </a:lnTo>
                  <a:lnTo>
                    <a:pt x="1296100" y="1090585"/>
                  </a:lnTo>
                  <a:lnTo>
                    <a:pt x="1311637" y="1104063"/>
                  </a:lnTo>
                  <a:lnTo>
                    <a:pt x="1320702" y="1133264"/>
                  </a:lnTo>
                  <a:lnTo>
                    <a:pt x="1336240" y="1141129"/>
                  </a:lnTo>
                  <a:lnTo>
                    <a:pt x="1354360" y="1119788"/>
                  </a:lnTo>
                  <a:lnTo>
                    <a:pt x="1386731" y="1190544"/>
                  </a:lnTo>
                  <a:lnTo>
                    <a:pt x="1386731" y="1241092"/>
                  </a:lnTo>
                  <a:lnTo>
                    <a:pt x="1420399" y="1299495"/>
                  </a:lnTo>
                  <a:lnTo>
                    <a:pt x="1454057" y="1320832"/>
                  </a:lnTo>
                  <a:lnTo>
                    <a:pt x="1437233" y="1270289"/>
                  </a:lnTo>
                  <a:lnTo>
                    <a:pt x="1403565" y="1234346"/>
                  </a:lnTo>
                  <a:lnTo>
                    <a:pt x="1403565" y="1177067"/>
                  </a:lnTo>
                  <a:lnTo>
                    <a:pt x="1429464" y="1183812"/>
                  </a:lnTo>
                  <a:lnTo>
                    <a:pt x="1439826" y="1214130"/>
                  </a:lnTo>
                  <a:lnTo>
                    <a:pt x="1470891" y="1241092"/>
                  </a:lnTo>
                  <a:lnTo>
                    <a:pt x="1529161" y="1183812"/>
                  </a:lnTo>
                  <a:lnTo>
                    <a:pt x="1529161" y="1147869"/>
                  </a:lnTo>
                  <a:lnTo>
                    <a:pt x="1503262" y="1111927"/>
                  </a:lnTo>
                  <a:lnTo>
                    <a:pt x="1470891" y="1104063"/>
                  </a:lnTo>
                  <a:lnTo>
                    <a:pt x="1503262" y="1069236"/>
                  </a:lnTo>
                  <a:lnTo>
                    <a:pt x="1512327" y="1075983"/>
                  </a:lnTo>
                  <a:lnTo>
                    <a:pt x="1595201" y="1053520"/>
                  </a:lnTo>
                  <a:lnTo>
                    <a:pt x="1653471" y="1002976"/>
                  </a:lnTo>
                  <a:lnTo>
                    <a:pt x="1670295" y="961423"/>
                  </a:lnTo>
                  <a:lnTo>
                    <a:pt x="1653471" y="953559"/>
                  </a:lnTo>
                  <a:lnTo>
                    <a:pt x="1627572" y="903015"/>
                  </a:lnTo>
                  <a:lnTo>
                    <a:pt x="1636627" y="845736"/>
                  </a:lnTo>
                  <a:lnTo>
                    <a:pt x="1612024" y="867071"/>
                  </a:lnTo>
                  <a:lnTo>
                    <a:pt x="1595201" y="852471"/>
                  </a:lnTo>
                  <a:lnTo>
                    <a:pt x="1595201" y="824401"/>
                  </a:lnTo>
                  <a:lnTo>
                    <a:pt x="1627572" y="795191"/>
                  </a:lnTo>
                  <a:lnTo>
                    <a:pt x="1645692" y="807556"/>
                  </a:lnTo>
                  <a:lnTo>
                    <a:pt x="1670295" y="795191"/>
                  </a:lnTo>
                  <a:lnTo>
                    <a:pt x="1670295" y="845736"/>
                  </a:lnTo>
                  <a:lnTo>
                    <a:pt x="1702666" y="860335"/>
                  </a:lnTo>
                  <a:lnTo>
                    <a:pt x="1702666" y="881680"/>
                  </a:lnTo>
                  <a:lnTo>
                    <a:pt x="1719500" y="910879"/>
                  </a:lnTo>
                  <a:lnTo>
                    <a:pt x="1744103" y="874945"/>
                  </a:lnTo>
                  <a:lnTo>
                    <a:pt x="1702666" y="809791"/>
                  </a:lnTo>
                  <a:lnTo>
                    <a:pt x="1736334" y="744658"/>
                  </a:lnTo>
                  <a:lnTo>
                    <a:pt x="1753157" y="767121"/>
                  </a:lnTo>
                  <a:lnTo>
                    <a:pt x="1803659" y="679514"/>
                  </a:lnTo>
                  <a:lnTo>
                    <a:pt x="1794594" y="564944"/>
                  </a:lnTo>
                  <a:lnTo>
                    <a:pt x="1770002" y="521136"/>
                  </a:lnTo>
                  <a:lnTo>
                    <a:pt x="1736334" y="507665"/>
                  </a:lnTo>
                  <a:lnTo>
                    <a:pt x="1747982" y="416685"/>
                  </a:lnTo>
                  <a:lnTo>
                    <a:pt x="1828262" y="384114"/>
                  </a:lnTo>
                  <a:lnTo>
                    <a:pt x="1852865" y="405459"/>
                  </a:lnTo>
                  <a:lnTo>
                    <a:pt x="1960330" y="290899"/>
                  </a:lnTo>
                  <a:lnTo>
                    <a:pt x="1960330" y="333580"/>
                  </a:lnTo>
                  <a:lnTo>
                    <a:pt x="1918894" y="413323"/>
                  </a:lnTo>
                  <a:lnTo>
                    <a:pt x="1918894" y="456003"/>
                  </a:lnTo>
                  <a:lnTo>
                    <a:pt x="1952562" y="535746"/>
                  </a:lnTo>
                  <a:lnTo>
                    <a:pt x="1977164" y="542482"/>
                  </a:lnTo>
                  <a:lnTo>
                    <a:pt x="1993998" y="593026"/>
                  </a:lnTo>
                  <a:lnTo>
                    <a:pt x="2010832" y="499801"/>
                  </a:lnTo>
                  <a:lnTo>
                    <a:pt x="2027656" y="491948"/>
                  </a:lnTo>
                  <a:lnTo>
                    <a:pt x="1993998" y="449267"/>
                  </a:lnTo>
                  <a:lnTo>
                    <a:pt x="1981054" y="370642"/>
                  </a:lnTo>
                  <a:lnTo>
                    <a:pt x="2039314" y="334708"/>
                  </a:lnTo>
                  <a:lnTo>
                    <a:pt x="2069092" y="261701"/>
                  </a:lnTo>
                  <a:lnTo>
                    <a:pt x="2093695" y="254965"/>
                  </a:lnTo>
                  <a:lnTo>
                    <a:pt x="2043204" y="193184"/>
                  </a:lnTo>
                  <a:lnTo>
                    <a:pt x="2135132" y="175212"/>
                  </a:lnTo>
                  <a:lnTo>
                    <a:pt x="2159724" y="147131"/>
                  </a:lnTo>
                  <a:lnTo>
                    <a:pt x="2124770" y="130286"/>
                  </a:lnTo>
                  <a:lnTo>
                    <a:pt x="2151966" y="121305"/>
                  </a:lnTo>
                  <a:lnTo>
                    <a:pt x="2120891" y="96597"/>
                  </a:lnTo>
                  <a:lnTo>
                    <a:pt x="2093695" y="110069"/>
                  </a:lnTo>
                  <a:lnTo>
                    <a:pt x="1984933" y="44925"/>
                  </a:lnTo>
                  <a:lnTo>
                    <a:pt x="1952562" y="52789"/>
                  </a:lnTo>
                  <a:lnTo>
                    <a:pt x="1886533" y="38190"/>
                  </a:lnTo>
                  <a:lnTo>
                    <a:pt x="1852865" y="59535"/>
                  </a:lnTo>
                  <a:lnTo>
                    <a:pt x="1903367" y="96597"/>
                  </a:lnTo>
                  <a:lnTo>
                    <a:pt x="1811428" y="87606"/>
                  </a:lnTo>
                  <a:lnTo>
                    <a:pt x="1736334" y="107823"/>
                  </a:lnTo>
                  <a:lnTo>
                    <a:pt x="1570598" y="81998"/>
                  </a:lnTo>
                  <a:lnTo>
                    <a:pt x="1545995" y="59535"/>
                  </a:lnTo>
                  <a:lnTo>
                    <a:pt x="1512327" y="88734"/>
                  </a:lnTo>
                  <a:lnTo>
                    <a:pt x="1529161" y="117932"/>
                  </a:lnTo>
                  <a:lnTo>
                    <a:pt x="1463132" y="147131"/>
                  </a:lnTo>
                  <a:lnTo>
                    <a:pt x="1362129" y="89851"/>
                  </a:lnTo>
                  <a:lnTo>
                    <a:pt x="1320702" y="103333"/>
                  </a:lnTo>
                  <a:lnTo>
                    <a:pt x="1262432" y="96597"/>
                  </a:lnTo>
                  <a:lnTo>
                    <a:pt x="1179558" y="139278"/>
                  </a:lnTo>
                  <a:lnTo>
                    <a:pt x="1171790" y="96597"/>
                  </a:lnTo>
                  <a:lnTo>
                    <a:pt x="1204161" y="66271"/>
                  </a:lnTo>
                  <a:lnTo>
                    <a:pt x="1196392" y="16844"/>
                  </a:lnTo>
                  <a:lnTo>
                    <a:pt x="1129067" y="16844"/>
                  </a:lnTo>
                  <a:lnTo>
                    <a:pt x="1104475" y="38190"/>
                  </a:lnTo>
                  <a:lnTo>
                    <a:pt x="1081158" y="0"/>
                  </a:lnTo>
                  <a:lnTo>
                    <a:pt x="1046204" y="8991"/>
                  </a:lnTo>
                  <a:lnTo>
                    <a:pt x="1029370" y="68516"/>
                  </a:lnTo>
                  <a:lnTo>
                    <a:pt x="963341" y="131414"/>
                  </a:lnTo>
                  <a:lnTo>
                    <a:pt x="990527" y="148259"/>
                  </a:lnTo>
                  <a:lnTo>
                    <a:pt x="929663" y="168476"/>
                  </a:lnTo>
                  <a:lnTo>
                    <a:pt x="995702" y="217893"/>
                  </a:lnTo>
                  <a:lnTo>
                    <a:pt x="971100" y="245974"/>
                  </a:lnTo>
                  <a:lnTo>
                    <a:pt x="897302" y="211157"/>
                  </a:lnTo>
                  <a:lnTo>
                    <a:pt x="905071" y="254965"/>
                  </a:lnTo>
                  <a:lnTo>
                    <a:pt x="971100" y="304381"/>
                  </a:lnTo>
                  <a:lnTo>
                    <a:pt x="929663" y="301008"/>
                  </a:lnTo>
                  <a:lnTo>
                    <a:pt x="875292" y="354915"/>
                  </a:lnTo>
                  <a:lnTo>
                    <a:pt x="897302" y="297635"/>
                  </a:lnTo>
                  <a:lnTo>
                    <a:pt x="863634" y="189811"/>
                  </a:lnTo>
                  <a:lnTo>
                    <a:pt x="845504" y="198803"/>
                  </a:lnTo>
                  <a:lnTo>
                    <a:pt x="844218" y="256083"/>
                  </a:lnTo>
                  <a:lnTo>
                    <a:pt x="863634" y="304381"/>
                  </a:lnTo>
                  <a:lnTo>
                    <a:pt x="805363" y="276290"/>
                  </a:lnTo>
                  <a:lnTo>
                    <a:pt x="779464" y="276290"/>
                  </a:lnTo>
                  <a:lnTo>
                    <a:pt x="788540" y="304381"/>
                  </a:lnTo>
                  <a:lnTo>
                    <a:pt x="629276" y="330207"/>
                  </a:lnTo>
                  <a:lnTo>
                    <a:pt x="605970" y="369514"/>
                  </a:lnTo>
                  <a:lnTo>
                    <a:pt x="538634" y="413323"/>
                  </a:lnTo>
                  <a:lnTo>
                    <a:pt x="514042" y="358288"/>
                  </a:lnTo>
                  <a:lnTo>
                    <a:pt x="560654" y="356032"/>
                  </a:lnTo>
                  <a:lnTo>
                    <a:pt x="564533" y="321226"/>
                  </a:lnTo>
                  <a:lnTo>
                    <a:pt x="476484" y="302136"/>
                  </a:lnTo>
                  <a:lnTo>
                    <a:pt x="451892" y="280791"/>
                  </a:lnTo>
                  <a:lnTo>
                    <a:pt x="323703" y="316735"/>
                  </a:lnTo>
                  <a:lnTo>
                    <a:pt x="312055" y="344817"/>
                  </a:lnTo>
                  <a:lnTo>
                    <a:pt x="200700" y="456003"/>
                  </a:lnTo>
                  <a:lnTo>
                    <a:pt x="203293" y="472848"/>
                  </a:lnTo>
                  <a:lnTo>
                    <a:pt x="191635" y="491948"/>
                  </a:lnTo>
                  <a:lnTo>
                    <a:pt x="199404" y="542482"/>
                  </a:lnTo>
                  <a:lnTo>
                    <a:pt x="224006" y="535746"/>
                  </a:lnTo>
                  <a:lnTo>
                    <a:pt x="240830" y="514400"/>
                  </a:lnTo>
                  <a:lnTo>
                    <a:pt x="291332" y="579544"/>
                  </a:lnTo>
                  <a:lnTo>
                    <a:pt x="306869" y="571680"/>
                  </a:lnTo>
                  <a:lnTo>
                    <a:pt x="306869" y="542482"/>
                  </a:lnTo>
                  <a:lnTo>
                    <a:pt x="340537" y="521136"/>
                  </a:lnTo>
                  <a:lnTo>
                    <a:pt x="315934" y="477338"/>
                  </a:lnTo>
                  <a:lnTo>
                    <a:pt x="323703" y="456003"/>
                  </a:lnTo>
                  <a:lnTo>
                    <a:pt x="348306" y="456003"/>
                  </a:lnTo>
                  <a:lnTo>
                    <a:pt x="365140" y="398723"/>
                  </a:lnTo>
                  <a:lnTo>
                    <a:pt x="389742" y="391988"/>
                  </a:lnTo>
                  <a:lnTo>
                    <a:pt x="414335" y="420058"/>
                  </a:lnTo>
                  <a:lnTo>
                    <a:pt x="374205" y="462739"/>
                  </a:lnTo>
                  <a:lnTo>
                    <a:pt x="380677" y="498684"/>
                  </a:lnTo>
                  <a:lnTo>
                    <a:pt x="453178" y="479583"/>
                  </a:lnTo>
                  <a:lnTo>
                    <a:pt x="472605" y="505419"/>
                  </a:lnTo>
                  <a:lnTo>
                    <a:pt x="371612" y="560454"/>
                  </a:lnTo>
                  <a:lnTo>
                    <a:pt x="365140" y="582917"/>
                  </a:lnTo>
                  <a:lnTo>
                    <a:pt x="291332" y="607625"/>
                  </a:lnTo>
                  <a:lnTo>
                    <a:pt x="240830" y="607625"/>
                  </a:lnTo>
                  <a:lnTo>
                    <a:pt x="249906" y="557091"/>
                  </a:lnTo>
                  <a:lnTo>
                    <a:pt x="216227" y="579544"/>
                  </a:lnTo>
                  <a:lnTo>
                    <a:pt x="216227" y="600889"/>
                  </a:lnTo>
                  <a:lnTo>
                    <a:pt x="183866" y="607625"/>
                  </a:lnTo>
                  <a:lnTo>
                    <a:pt x="148902" y="666033"/>
                  </a:lnTo>
                  <a:lnTo>
                    <a:pt x="73808" y="679514"/>
                  </a:lnTo>
                  <a:lnTo>
                    <a:pt x="75104" y="692986"/>
                  </a:lnTo>
                  <a:lnTo>
                    <a:pt x="99707" y="694114"/>
                  </a:lnTo>
                  <a:lnTo>
                    <a:pt x="91928" y="752511"/>
                  </a:lnTo>
                  <a:lnTo>
                    <a:pt x="58260" y="759257"/>
                  </a:lnTo>
                  <a:lnTo>
                    <a:pt x="7768" y="752511"/>
                  </a:lnTo>
                  <a:lnTo>
                    <a:pt x="0" y="816537"/>
                  </a:lnTo>
                  <a:lnTo>
                    <a:pt x="24602" y="845736"/>
                  </a:lnTo>
                  <a:lnTo>
                    <a:pt x="91928" y="845736"/>
                  </a:lnTo>
                  <a:lnTo>
                    <a:pt x="124299" y="787338"/>
                  </a:lnTo>
                  <a:lnTo>
                    <a:pt x="207172" y="752511"/>
                  </a:lnTo>
                  <a:lnTo>
                    <a:pt x="299100" y="808673"/>
                  </a:lnTo>
                  <a:lnTo>
                    <a:pt x="300397" y="849109"/>
                  </a:lnTo>
                  <a:lnTo>
                    <a:pt x="315934" y="818782"/>
                  </a:lnTo>
                  <a:lnTo>
                    <a:pt x="334065" y="816537"/>
                  </a:lnTo>
                  <a:lnTo>
                    <a:pt x="335361" y="804183"/>
                  </a:lnTo>
                  <a:lnTo>
                    <a:pt x="257664" y="759257"/>
                  </a:lnTo>
                  <a:lnTo>
                    <a:pt x="274498" y="744658"/>
                  </a:lnTo>
                  <a:lnTo>
                    <a:pt x="315934" y="752511"/>
                  </a:lnTo>
                  <a:lnTo>
                    <a:pt x="315934" y="767121"/>
                  </a:lnTo>
                  <a:lnTo>
                    <a:pt x="357371" y="795191"/>
                  </a:lnTo>
                  <a:lnTo>
                    <a:pt x="358668" y="821027"/>
                  </a:lnTo>
                  <a:lnTo>
                    <a:pt x="380677" y="824401"/>
                  </a:lnTo>
                  <a:lnTo>
                    <a:pt x="374205" y="845736"/>
                  </a:lnTo>
                  <a:lnTo>
                    <a:pt x="397511" y="852471"/>
                  </a:lnTo>
                  <a:lnTo>
                    <a:pt x="406566" y="839000"/>
                  </a:lnTo>
                  <a:lnTo>
                    <a:pt x="397511" y="809791"/>
                  </a:lnTo>
                  <a:lnTo>
                    <a:pt x="448003" y="816537"/>
                  </a:lnTo>
                  <a:lnTo>
                    <a:pt x="457068" y="852471"/>
                  </a:lnTo>
                  <a:lnTo>
                    <a:pt x="523107" y="881680"/>
                  </a:lnTo>
                  <a:lnTo>
                    <a:pt x="555468" y="863708"/>
                  </a:lnTo>
                  <a:lnTo>
                    <a:pt x="572302" y="867071"/>
                  </a:lnTo>
                  <a:lnTo>
                    <a:pt x="538634" y="925478"/>
                  </a:lnTo>
                  <a:lnTo>
                    <a:pt x="547699" y="967041"/>
                  </a:lnTo>
                  <a:close/>
                </a:path>
              </a:pathLst>
            </a:custGeom>
            <a:ln w="5270">
              <a:solidFill>
                <a:srgbClr val="000000"/>
              </a:solidFill>
            </a:ln>
          </p:spPr>
          <p:txBody>
            <a:bodyPr wrap="square" lIns="0" tIns="0" rIns="0" bIns="0" rtlCol="0"/>
            <a:lstStyle/>
            <a:p>
              <a:endParaRPr/>
            </a:p>
          </p:txBody>
        </p:sp>
        <p:sp>
          <p:nvSpPr>
            <p:cNvPr id="27" name="object 27"/>
            <p:cNvSpPr/>
            <p:nvPr/>
          </p:nvSpPr>
          <p:spPr>
            <a:xfrm>
              <a:off x="1956130" y="1127315"/>
              <a:ext cx="1931670" cy="1466215"/>
            </a:xfrm>
            <a:custGeom>
              <a:avLst/>
              <a:gdLst/>
              <a:ahLst/>
              <a:cxnLst/>
              <a:rect l="l" t="t" r="r" b="b"/>
              <a:pathLst>
                <a:path w="1931670" h="1466214">
                  <a:moveTo>
                    <a:pt x="327329" y="946950"/>
                  </a:moveTo>
                  <a:lnTo>
                    <a:pt x="182372" y="946950"/>
                  </a:lnTo>
                  <a:lnTo>
                    <a:pt x="182372" y="1162050"/>
                  </a:lnTo>
                  <a:lnTo>
                    <a:pt x="327329" y="1162050"/>
                  </a:lnTo>
                  <a:lnTo>
                    <a:pt x="327329" y="946950"/>
                  </a:lnTo>
                  <a:close/>
                </a:path>
                <a:path w="1931670" h="1466214">
                  <a:moveTo>
                    <a:pt x="448906" y="315658"/>
                  </a:moveTo>
                  <a:lnTo>
                    <a:pt x="0" y="315658"/>
                  </a:lnTo>
                  <a:lnTo>
                    <a:pt x="0" y="526084"/>
                  </a:lnTo>
                  <a:lnTo>
                    <a:pt x="448906" y="526084"/>
                  </a:lnTo>
                  <a:lnTo>
                    <a:pt x="448906" y="315658"/>
                  </a:lnTo>
                  <a:close/>
                </a:path>
                <a:path w="1931670" h="1466214">
                  <a:moveTo>
                    <a:pt x="1229842" y="0"/>
                  </a:moveTo>
                  <a:lnTo>
                    <a:pt x="14020" y="0"/>
                  </a:lnTo>
                  <a:lnTo>
                    <a:pt x="14020" y="98209"/>
                  </a:lnTo>
                  <a:lnTo>
                    <a:pt x="1229842" y="98209"/>
                  </a:lnTo>
                  <a:lnTo>
                    <a:pt x="1229842" y="0"/>
                  </a:lnTo>
                  <a:close/>
                </a:path>
                <a:path w="1931670" h="1466214">
                  <a:moveTo>
                    <a:pt x="1931276" y="1358455"/>
                  </a:moveTo>
                  <a:lnTo>
                    <a:pt x="1491703" y="1358455"/>
                  </a:lnTo>
                  <a:lnTo>
                    <a:pt x="1491703" y="1466011"/>
                  </a:lnTo>
                  <a:lnTo>
                    <a:pt x="1931276" y="1466011"/>
                  </a:lnTo>
                  <a:lnTo>
                    <a:pt x="1931276" y="1358455"/>
                  </a:lnTo>
                  <a:close/>
                </a:path>
              </a:pathLst>
            </a:custGeom>
            <a:solidFill>
              <a:srgbClr val="FEFEFE"/>
            </a:solidFill>
          </p:spPr>
          <p:txBody>
            <a:bodyPr wrap="square" lIns="0" tIns="0" rIns="0" bIns="0" rtlCol="0"/>
            <a:lstStyle/>
            <a:p>
              <a:endParaRPr/>
            </a:p>
          </p:txBody>
        </p:sp>
        <p:sp>
          <p:nvSpPr>
            <p:cNvPr id="28" name="object 28"/>
            <p:cNvSpPr/>
            <p:nvPr/>
          </p:nvSpPr>
          <p:spPr>
            <a:xfrm>
              <a:off x="3444869" y="1972958"/>
              <a:ext cx="54610" cy="54610"/>
            </a:xfrm>
            <a:custGeom>
              <a:avLst/>
              <a:gdLst/>
              <a:ahLst/>
              <a:cxnLst/>
              <a:rect l="l" t="t" r="r" b="b"/>
              <a:pathLst>
                <a:path w="54610" h="54610">
                  <a:moveTo>
                    <a:pt x="27216" y="4"/>
                  </a:moveTo>
                  <a:lnTo>
                    <a:pt x="16636" y="2147"/>
                  </a:lnTo>
                  <a:lnTo>
                    <a:pt x="7983" y="7988"/>
                  </a:lnTo>
                  <a:lnTo>
                    <a:pt x="2143" y="16639"/>
                  </a:lnTo>
                  <a:lnTo>
                    <a:pt x="0" y="27213"/>
                  </a:lnTo>
                  <a:lnTo>
                    <a:pt x="2143" y="37789"/>
                  </a:lnTo>
                  <a:lnTo>
                    <a:pt x="7983" y="46444"/>
                  </a:lnTo>
                  <a:lnTo>
                    <a:pt x="16636" y="52289"/>
                  </a:lnTo>
                  <a:lnTo>
                    <a:pt x="27216" y="54434"/>
                  </a:lnTo>
                  <a:lnTo>
                    <a:pt x="37792" y="52289"/>
                  </a:lnTo>
                  <a:lnTo>
                    <a:pt x="46444" y="46444"/>
                  </a:lnTo>
                  <a:lnTo>
                    <a:pt x="52284" y="37789"/>
                  </a:lnTo>
                  <a:lnTo>
                    <a:pt x="54423" y="27213"/>
                  </a:lnTo>
                  <a:lnTo>
                    <a:pt x="52280" y="16640"/>
                  </a:lnTo>
                  <a:lnTo>
                    <a:pt x="46441" y="7987"/>
                  </a:lnTo>
                  <a:lnTo>
                    <a:pt x="37791" y="2145"/>
                  </a:lnTo>
                  <a:lnTo>
                    <a:pt x="27216" y="0"/>
                  </a:lnTo>
                  <a:close/>
                </a:path>
              </a:pathLst>
            </a:custGeom>
            <a:solidFill>
              <a:srgbClr val="000000"/>
            </a:solidFill>
          </p:spPr>
          <p:txBody>
            <a:bodyPr wrap="square" lIns="0" tIns="0" rIns="0" bIns="0" rtlCol="0"/>
            <a:lstStyle/>
            <a:p>
              <a:endParaRPr/>
            </a:p>
          </p:txBody>
        </p:sp>
        <p:sp>
          <p:nvSpPr>
            <p:cNvPr id="29" name="object 29"/>
            <p:cNvSpPr/>
            <p:nvPr/>
          </p:nvSpPr>
          <p:spPr>
            <a:xfrm>
              <a:off x="3444869" y="1972958"/>
              <a:ext cx="54610" cy="54610"/>
            </a:xfrm>
            <a:custGeom>
              <a:avLst/>
              <a:gdLst/>
              <a:ahLst/>
              <a:cxnLst/>
              <a:rect l="l" t="t" r="r" b="b"/>
              <a:pathLst>
                <a:path w="54610" h="54610">
                  <a:moveTo>
                    <a:pt x="27216" y="0"/>
                  </a:moveTo>
                  <a:lnTo>
                    <a:pt x="37791" y="2145"/>
                  </a:lnTo>
                  <a:lnTo>
                    <a:pt x="46441" y="7987"/>
                  </a:lnTo>
                  <a:lnTo>
                    <a:pt x="52280" y="16640"/>
                  </a:lnTo>
                  <a:lnTo>
                    <a:pt x="54423" y="27213"/>
                  </a:lnTo>
                  <a:lnTo>
                    <a:pt x="52284" y="37789"/>
                  </a:lnTo>
                  <a:lnTo>
                    <a:pt x="46444" y="46444"/>
                  </a:lnTo>
                  <a:lnTo>
                    <a:pt x="37792" y="52289"/>
                  </a:lnTo>
                  <a:lnTo>
                    <a:pt x="27216" y="54434"/>
                  </a:lnTo>
                  <a:lnTo>
                    <a:pt x="16636" y="52289"/>
                  </a:lnTo>
                  <a:lnTo>
                    <a:pt x="7983" y="46444"/>
                  </a:lnTo>
                  <a:lnTo>
                    <a:pt x="2143" y="37789"/>
                  </a:lnTo>
                  <a:lnTo>
                    <a:pt x="0" y="27213"/>
                  </a:lnTo>
                  <a:lnTo>
                    <a:pt x="2143" y="16639"/>
                  </a:lnTo>
                  <a:lnTo>
                    <a:pt x="7983" y="7988"/>
                  </a:lnTo>
                  <a:lnTo>
                    <a:pt x="16636" y="2147"/>
                  </a:lnTo>
                  <a:lnTo>
                    <a:pt x="27216" y="4"/>
                  </a:lnTo>
                  <a:close/>
                </a:path>
              </a:pathLst>
            </a:custGeom>
            <a:ln w="5270">
              <a:solidFill>
                <a:srgbClr val="000000"/>
              </a:solidFill>
            </a:ln>
          </p:spPr>
          <p:txBody>
            <a:bodyPr wrap="square" lIns="0" tIns="0" rIns="0" bIns="0" rtlCol="0"/>
            <a:lstStyle/>
            <a:p>
              <a:endParaRPr/>
            </a:p>
          </p:txBody>
        </p:sp>
        <p:sp>
          <p:nvSpPr>
            <p:cNvPr id="30" name="object 30"/>
            <p:cNvSpPr/>
            <p:nvPr/>
          </p:nvSpPr>
          <p:spPr>
            <a:xfrm>
              <a:off x="3444869" y="1972958"/>
              <a:ext cx="54610" cy="54610"/>
            </a:xfrm>
            <a:custGeom>
              <a:avLst/>
              <a:gdLst/>
              <a:ahLst/>
              <a:cxnLst/>
              <a:rect l="l" t="t" r="r" b="b"/>
              <a:pathLst>
                <a:path w="54610" h="54610">
                  <a:moveTo>
                    <a:pt x="27216" y="0"/>
                  </a:moveTo>
                  <a:lnTo>
                    <a:pt x="37791" y="2145"/>
                  </a:lnTo>
                  <a:lnTo>
                    <a:pt x="46441" y="7987"/>
                  </a:lnTo>
                  <a:lnTo>
                    <a:pt x="52280" y="16640"/>
                  </a:lnTo>
                  <a:lnTo>
                    <a:pt x="54423" y="27213"/>
                  </a:lnTo>
                  <a:lnTo>
                    <a:pt x="52280" y="37789"/>
                  </a:lnTo>
                  <a:lnTo>
                    <a:pt x="46441" y="46444"/>
                  </a:lnTo>
                  <a:lnTo>
                    <a:pt x="37791" y="52289"/>
                  </a:lnTo>
                  <a:lnTo>
                    <a:pt x="27216" y="54434"/>
                  </a:lnTo>
                  <a:lnTo>
                    <a:pt x="16636" y="52289"/>
                  </a:lnTo>
                  <a:lnTo>
                    <a:pt x="7983" y="46444"/>
                  </a:lnTo>
                  <a:lnTo>
                    <a:pt x="2143" y="37789"/>
                  </a:lnTo>
                  <a:lnTo>
                    <a:pt x="0" y="27213"/>
                  </a:lnTo>
                  <a:lnTo>
                    <a:pt x="2143" y="16639"/>
                  </a:lnTo>
                  <a:lnTo>
                    <a:pt x="7983" y="7988"/>
                  </a:lnTo>
                  <a:lnTo>
                    <a:pt x="16636" y="2147"/>
                  </a:lnTo>
                  <a:lnTo>
                    <a:pt x="27216" y="4"/>
                  </a:lnTo>
                  <a:close/>
                </a:path>
              </a:pathLst>
            </a:custGeom>
            <a:ln w="5270">
              <a:solidFill>
                <a:srgbClr val="000000"/>
              </a:solidFill>
            </a:ln>
          </p:spPr>
          <p:txBody>
            <a:bodyPr wrap="square" lIns="0" tIns="0" rIns="0" bIns="0" rtlCol="0"/>
            <a:lstStyle/>
            <a:p>
              <a:endParaRPr/>
            </a:p>
          </p:txBody>
        </p:sp>
        <p:sp>
          <p:nvSpPr>
            <p:cNvPr id="31" name="object 31"/>
            <p:cNvSpPr/>
            <p:nvPr/>
          </p:nvSpPr>
          <p:spPr>
            <a:xfrm>
              <a:off x="2315506" y="2571663"/>
              <a:ext cx="54610" cy="54610"/>
            </a:xfrm>
            <a:custGeom>
              <a:avLst/>
              <a:gdLst/>
              <a:ahLst/>
              <a:cxnLst/>
              <a:rect l="l" t="t" r="r" b="b"/>
              <a:pathLst>
                <a:path w="54610" h="54610">
                  <a:moveTo>
                    <a:pt x="27206" y="0"/>
                  </a:moveTo>
                  <a:lnTo>
                    <a:pt x="16636" y="2143"/>
                  </a:lnTo>
                  <a:lnTo>
                    <a:pt x="7986" y="7984"/>
                  </a:lnTo>
                  <a:lnTo>
                    <a:pt x="2144" y="16634"/>
                  </a:lnTo>
                  <a:lnTo>
                    <a:pt x="0" y="27208"/>
                  </a:lnTo>
                  <a:lnTo>
                    <a:pt x="2144" y="37783"/>
                  </a:lnTo>
                  <a:lnTo>
                    <a:pt x="7986" y="46436"/>
                  </a:lnTo>
                  <a:lnTo>
                    <a:pt x="16636" y="52279"/>
                  </a:lnTo>
                  <a:lnTo>
                    <a:pt x="27206" y="54426"/>
                  </a:lnTo>
                  <a:lnTo>
                    <a:pt x="37787" y="52281"/>
                  </a:lnTo>
                  <a:lnTo>
                    <a:pt x="46439" y="46437"/>
                  </a:lnTo>
                  <a:lnTo>
                    <a:pt x="52279" y="37784"/>
                  </a:lnTo>
                  <a:lnTo>
                    <a:pt x="54423" y="27208"/>
                  </a:lnTo>
                  <a:lnTo>
                    <a:pt x="52280" y="16636"/>
                  </a:lnTo>
                  <a:lnTo>
                    <a:pt x="46441" y="7985"/>
                  </a:lnTo>
                  <a:lnTo>
                    <a:pt x="37791" y="2144"/>
                  </a:lnTo>
                  <a:lnTo>
                    <a:pt x="27216" y="0"/>
                  </a:lnTo>
                  <a:close/>
                </a:path>
              </a:pathLst>
            </a:custGeom>
            <a:solidFill>
              <a:srgbClr val="000000"/>
            </a:solidFill>
          </p:spPr>
          <p:txBody>
            <a:bodyPr wrap="square" lIns="0" tIns="0" rIns="0" bIns="0" rtlCol="0"/>
            <a:lstStyle/>
            <a:p>
              <a:endParaRPr/>
            </a:p>
          </p:txBody>
        </p:sp>
        <p:sp>
          <p:nvSpPr>
            <p:cNvPr id="32" name="object 32"/>
            <p:cNvSpPr/>
            <p:nvPr/>
          </p:nvSpPr>
          <p:spPr>
            <a:xfrm>
              <a:off x="2315506" y="2571663"/>
              <a:ext cx="54610" cy="54610"/>
            </a:xfrm>
            <a:custGeom>
              <a:avLst/>
              <a:gdLst/>
              <a:ahLst/>
              <a:cxnLst/>
              <a:rect l="l" t="t" r="r" b="b"/>
              <a:pathLst>
                <a:path w="54610" h="54610">
                  <a:moveTo>
                    <a:pt x="27216" y="0"/>
                  </a:moveTo>
                  <a:lnTo>
                    <a:pt x="37791" y="2144"/>
                  </a:lnTo>
                  <a:lnTo>
                    <a:pt x="46441" y="7985"/>
                  </a:lnTo>
                  <a:lnTo>
                    <a:pt x="52280" y="16636"/>
                  </a:lnTo>
                  <a:lnTo>
                    <a:pt x="54423" y="27208"/>
                  </a:lnTo>
                  <a:lnTo>
                    <a:pt x="52279" y="37784"/>
                  </a:lnTo>
                  <a:lnTo>
                    <a:pt x="46439" y="46437"/>
                  </a:lnTo>
                  <a:lnTo>
                    <a:pt x="37787" y="52281"/>
                  </a:lnTo>
                  <a:lnTo>
                    <a:pt x="27206" y="54426"/>
                  </a:lnTo>
                  <a:lnTo>
                    <a:pt x="16636" y="52279"/>
                  </a:lnTo>
                  <a:lnTo>
                    <a:pt x="7986" y="46436"/>
                  </a:lnTo>
                  <a:lnTo>
                    <a:pt x="2144" y="37783"/>
                  </a:lnTo>
                  <a:lnTo>
                    <a:pt x="0" y="27208"/>
                  </a:lnTo>
                  <a:lnTo>
                    <a:pt x="2144" y="16634"/>
                  </a:lnTo>
                  <a:lnTo>
                    <a:pt x="7986" y="7984"/>
                  </a:lnTo>
                  <a:lnTo>
                    <a:pt x="16636" y="2143"/>
                  </a:lnTo>
                  <a:lnTo>
                    <a:pt x="27206" y="0"/>
                  </a:lnTo>
                  <a:close/>
                </a:path>
              </a:pathLst>
            </a:custGeom>
            <a:ln w="5270">
              <a:solidFill>
                <a:srgbClr val="000000"/>
              </a:solidFill>
            </a:ln>
          </p:spPr>
          <p:txBody>
            <a:bodyPr wrap="square" lIns="0" tIns="0" rIns="0" bIns="0" rtlCol="0"/>
            <a:lstStyle/>
            <a:p>
              <a:endParaRPr/>
            </a:p>
          </p:txBody>
        </p:sp>
        <p:sp>
          <p:nvSpPr>
            <p:cNvPr id="33" name="object 33"/>
            <p:cNvSpPr/>
            <p:nvPr/>
          </p:nvSpPr>
          <p:spPr>
            <a:xfrm>
              <a:off x="1236748" y="1260345"/>
              <a:ext cx="2218690" cy="1365885"/>
            </a:xfrm>
            <a:custGeom>
              <a:avLst/>
              <a:gdLst/>
              <a:ahLst/>
              <a:cxnLst/>
              <a:rect l="l" t="t" r="r" b="b"/>
              <a:pathLst>
                <a:path w="2218690" h="1365885">
                  <a:moveTo>
                    <a:pt x="1105975" y="1311317"/>
                  </a:moveTo>
                  <a:lnTo>
                    <a:pt x="1116549" y="1313461"/>
                  </a:lnTo>
                  <a:lnTo>
                    <a:pt x="1125199" y="1319303"/>
                  </a:lnTo>
                  <a:lnTo>
                    <a:pt x="1131038" y="1327953"/>
                  </a:lnTo>
                  <a:lnTo>
                    <a:pt x="1133181" y="1338526"/>
                  </a:lnTo>
                  <a:lnTo>
                    <a:pt x="1131038" y="1349102"/>
                  </a:lnTo>
                  <a:lnTo>
                    <a:pt x="1125198" y="1357755"/>
                  </a:lnTo>
                  <a:lnTo>
                    <a:pt x="1116545" y="1363598"/>
                  </a:lnTo>
                  <a:lnTo>
                    <a:pt x="1105964" y="1365743"/>
                  </a:lnTo>
                  <a:lnTo>
                    <a:pt x="1095394" y="1363597"/>
                  </a:lnTo>
                  <a:lnTo>
                    <a:pt x="1086744" y="1357754"/>
                  </a:lnTo>
                  <a:lnTo>
                    <a:pt x="1080903" y="1349101"/>
                  </a:lnTo>
                  <a:lnTo>
                    <a:pt x="1078758" y="1338526"/>
                  </a:lnTo>
                  <a:lnTo>
                    <a:pt x="1080903" y="1327952"/>
                  </a:lnTo>
                  <a:lnTo>
                    <a:pt x="1086744" y="1319301"/>
                  </a:lnTo>
                  <a:lnTo>
                    <a:pt x="1095394" y="1313461"/>
                  </a:lnTo>
                  <a:lnTo>
                    <a:pt x="1105964" y="1311317"/>
                  </a:lnTo>
                  <a:close/>
                </a:path>
                <a:path w="2218690" h="1365885">
                  <a:moveTo>
                    <a:pt x="2218535" y="686582"/>
                  </a:moveTo>
                  <a:lnTo>
                    <a:pt x="1418399" y="103049"/>
                  </a:lnTo>
                  <a:lnTo>
                    <a:pt x="706165" y="0"/>
                  </a:lnTo>
                  <a:lnTo>
                    <a:pt x="195482" y="124012"/>
                  </a:lnTo>
                  <a:lnTo>
                    <a:pt x="0" y="221666"/>
                  </a:lnTo>
                </a:path>
              </a:pathLst>
            </a:custGeom>
            <a:ln w="5270">
              <a:solidFill>
                <a:srgbClr val="000000"/>
              </a:solidFill>
            </a:ln>
          </p:spPr>
          <p:txBody>
            <a:bodyPr wrap="square" lIns="0" tIns="0" rIns="0" bIns="0" rtlCol="0"/>
            <a:lstStyle/>
            <a:p>
              <a:endParaRPr/>
            </a:p>
          </p:txBody>
        </p:sp>
        <p:pic>
          <p:nvPicPr>
            <p:cNvPr id="34" name="object 34"/>
            <p:cNvPicPr/>
            <p:nvPr/>
          </p:nvPicPr>
          <p:blipFill>
            <a:blip r:embed="rId18" cstate="print"/>
            <a:stretch>
              <a:fillRect/>
            </a:stretch>
          </p:blipFill>
          <p:spPr>
            <a:xfrm>
              <a:off x="1205442" y="1435093"/>
              <a:ext cx="79712" cy="67335"/>
            </a:xfrm>
            <a:prstGeom prst="rect">
              <a:avLst/>
            </a:prstGeom>
          </p:spPr>
        </p:pic>
        <p:sp>
          <p:nvSpPr>
            <p:cNvPr id="35" name="object 35"/>
            <p:cNvSpPr/>
            <p:nvPr/>
          </p:nvSpPr>
          <p:spPr>
            <a:xfrm>
              <a:off x="1230436" y="1390190"/>
              <a:ext cx="2183130" cy="581025"/>
            </a:xfrm>
            <a:custGeom>
              <a:avLst/>
              <a:gdLst/>
              <a:ahLst/>
              <a:cxnLst/>
              <a:rect l="l" t="t" r="r" b="b"/>
              <a:pathLst>
                <a:path w="2183129" h="581025">
                  <a:moveTo>
                    <a:pt x="2182873" y="580948"/>
                  </a:moveTo>
                  <a:lnTo>
                    <a:pt x="1371090" y="105050"/>
                  </a:lnTo>
                  <a:lnTo>
                    <a:pt x="673028" y="0"/>
                  </a:lnTo>
                  <a:lnTo>
                    <a:pt x="184171" y="76088"/>
                  </a:lnTo>
                  <a:lnTo>
                    <a:pt x="0" y="143608"/>
                  </a:lnTo>
                </a:path>
              </a:pathLst>
            </a:custGeom>
            <a:ln w="5270">
              <a:solidFill>
                <a:srgbClr val="000000"/>
              </a:solidFill>
            </a:ln>
          </p:spPr>
          <p:txBody>
            <a:bodyPr wrap="square" lIns="0" tIns="0" rIns="0" bIns="0" rtlCol="0"/>
            <a:lstStyle/>
            <a:p>
              <a:endParaRPr/>
            </a:p>
          </p:txBody>
        </p:sp>
        <p:pic>
          <p:nvPicPr>
            <p:cNvPr id="36" name="object 36"/>
            <p:cNvPicPr/>
            <p:nvPr/>
          </p:nvPicPr>
          <p:blipFill>
            <a:blip r:embed="rId19" cstate="print"/>
            <a:stretch>
              <a:fillRect/>
            </a:stretch>
          </p:blipFill>
          <p:spPr>
            <a:xfrm>
              <a:off x="3364473" y="1922819"/>
              <a:ext cx="77096" cy="72786"/>
            </a:xfrm>
            <a:prstGeom prst="rect">
              <a:avLst/>
            </a:prstGeom>
          </p:spPr>
        </p:pic>
        <p:sp>
          <p:nvSpPr>
            <p:cNvPr id="37" name="object 37"/>
            <p:cNvSpPr/>
            <p:nvPr/>
          </p:nvSpPr>
          <p:spPr>
            <a:xfrm>
              <a:off x="2424363" y="2027393"/>
              <a:ext cx="1034415" cy="571500"/>
            </a:xfrm>
            <a:custGeom>
              <a:avLst/>
              <a:gdLst/>
              <a:ahLst/>
              <a:cxnLst/>
              <a:rect l="l" t="t" r="r" b="b"/>
              <a:pathLst>
                <a:path w="1034414" h="571500">
                  <a:moveTo>
                    <a:pt x="1034114" y="0"/>
                  </a:moveTo>
                  <a:lnTo>
                    <a:pt x="792167" y="255760"/>
                  </a:lnTo>
                  <a:lnTo>
                    <a:pt x="445620" y="433709"/>
                  </a:lnTo>
                  <a:lnTo>
                    <a:pt x="134791" y="537673"/>
                  </a:lnTo>
                  <a:lnTo>
                    <a:pt x="0" y="571478"/>
                  </a:lnTo>
                </a:path>
              </a:pathLst>
            </a:custGeom>
            <a:ln w="5270">
              <a:solidFill>
                <a:srgbClr val="000000"/>
              </a:solidFill>
            </a:ln>
          </p:spPr>
          <p:txBody>
            <a:bodyPr wrap="square" lIns="0" tIns="0" rIns="0" bIns="0" rtlCol="0"/>
            <a:lstStyle/>
            <a:p>
              <a:endParaRPr/>
            </a:p>
          </p:txBody>
        </p:sp>
        <p:pic>
          <p:nvPicPr>
            <p:cNvPr id="38" name="object 38"/>
            <p:cNvPicPr/>
            <p:nvPr/>
          </p:nvPicPr>
          <p:blipFill>
            <a:blip r:embed="rId20" cstate="print"/>
            <a:stretch>
              <a:fillRect/>
            </a:stretch>
          </p:blipFill>
          <p:spPr>
            <a:xfrm>
              <a:off x="2385140" y="2557448"/>
              <a:ext cx="84602" cy="67665"/>
            </a:xfrm>
            <a:prstGeom prst="rect">
              <a:avLst/>
            </a:prstGeom>
          </p:spPr>
        </p:pic>
        <p:sp>
          <p:nvSpPr>
            <p:cNvPr id="39" name="object 39"/>
            <p:cNvSpPr/>
            <p:nvPr/>
          </p:nvSpPr>
          <p:spPr>
            <a:xfrm>
              <a:off x="2111401" y="1891323"/>
              <a:ext cx="1646555" cy="830580"/>
            </a:xfrm>
            <a:custGeom>
              <a:avLst/>
              <a:gdLst/>
              <a:ahLst/>
              <a:cxnLst/>
              <a:rect l="l" t="t" r="r" b="b"/>
              <a:pathLst>
                <a:path w="1646554" h="830580">
                  <a:moveTo>
                    <a:pt x="0" y="830008"/>
                  </a:moveTo>
                  <a:lnTo>
                    <a:pt x="206424" y="720786"/>
                  </a:lnTo>
                </a:path>
                <a:path w="1646554" h="830580">
                  <a:moveTo>
                    <a:pt x="1646419" y="0"/>
                  </a:moveTo>
                  <a:lnTo>
                    <a:pt x="1376475" y="98871"/>
                  </a:lnTo>
                </a:path>
              </a:pathLst>
            </a:custGeom>
            <a:ln w="5270">
              <a:solidFill>
                <a:srgbClr val="000000"/>
              </a:solidFill>
            </a:ln>
          </p:spPr>
          <p:txBody>
            <a:bodyPr wrap="square" lIns="0" tIns="0" rIns="0" bIns="0" rtlCol="0"/>
            <a:lstStyle/>
            <a:p>
              <a:endParaRPr/>
            </a:p>
          </p:txBody>
        </p:sp>
        <p:sp>
          <p:nvSpPr>
            <p:cNvPr id="40" name="object 40"/>
            <p:cNvSpPr/>
            <p:nvPr/>
          </p:nvSpPr>
          <p:spPr>
            <a:xfrm>
              <a:off x="1712224" y="1152330"/>
              <a:ext cx="120014" cy="69850"/>
            </a:xfrm>
            <a:custGeom>
              <a:avLst/>
              <a:gdLst/>
              <a:ahLst/>
              <a:cxnLst/>
              <a:rect l="l" t="t" r="r" b="b"/>
              <a:pathLst>
                <a:path w="120014" h="69850">
                  <a:moveTo>
                    <a:pt x="119521" y="0"/>
                  </a:moveTo>
                  <a:lnTo>
                    <a:pt x="0" y="0"/>
                  </a:lnTo>
                  <a:lnTo>
                    <a:pt x="0" y="69718"/>
                  </a:lnTo>
                  <a:lnTo>
                    <a:pt x="119521" y="69718"/>
                  </a:lnTo>
                  <a:lnTo>
                    <a:pt x="119521" y="0"/>
                  </a:lnTo>
                  <a:close/>
                </a:path>
              </a:pathLst>
            </a:custGeom>
            <a:solidFill>
              <a:srgbClr val="E3E3E3"/>
            </a:solidFill>
          </p:spPr>
          <p:txBody>
            <a:bodyPr wrap="square" lIns="0" tIns="0" rIns="0" bIns="0" rtlCol="0"/>
            <a:lstStyle/>
            <a:p>
              <a:endParaRPr/>
            </a:p>
          </p:txBody>
        </p:sp>
        <p:sp>
          <p:nvSpPr>
            <p:cNvPr id="41" name="object 41"/>
            <p:cNvSpPr/>
            <p:nvPr/>
          </p:nvSpPr>
          <p:spPr>
            <a:xfrm>
              <a:off x="1712224" y="1152330"/>
              <a:ext cx="120014" cy="69850"/>
            </a:xfrm>
            <a:custGeom>
              <a:avLst/>
              <a:gdLst/>
              <a:ahLst/>
              <a:cxnLst/>
              <a:rect l="l" t="t" r="r" b="b"/>
              <a:pathLst>
                <a:path w="120014" h="69850">
                  <a:moveTo>
                    <a:pt x="0" y="69718"/>
                  </a:moveTo>
                  <a:lnTo>
                    <a:pt x="119521" y="69718"/>
                  </a:lnTo>
                  <a:lnTo>
                    <a:pt x="119521" y="0"/>
                  </a:lnTo>
                  <a:lnTo>
                    <a:pt x="0" y="0"/>
                  </a:lnTo>
                  <a:lnTo>
                    <a:pt x="0" y="69718"/>
                  </a:lnTo>
                  <a:close/>
                </a:path>
              </a:pathLst>
            </a:custGeom>
            <a:ln w="3513">
              <a:solidFill>
                <a:srgbClr val="000000"/>
              </a:solidFill>
            </a:ln>
          </p:spPr>
          <p:txBody>
            <a:bodyPr wrap="square" lIns="0" tIns="0" rIns="0" bIns="0" rtlCol="0"/>
            <a:lstStyle/>
            <a:p>
              <a:endParaRPr/>
            </a:p>
          </p:txBody>
        </p:sp>
        <p:sp>
          <p:nvSpPr>
            <p:cNvPr id="42" name="object 42"/>
            <p:cNvSpPr/>
            <p:nvPr/>
          </p:nvSpPr>
          <p:spPr>
            <a:xfrm>
              <a:off x="1458245" y="1961577"/>
              <a:ext cx="179705" cy="104775"/>
            </a:xfrm>
            <a:custGeom>
              <a:avLst/>
              <a:gdLst/>
              <a:ahLst/>
              <a:cxnLst/>
              <a:rect l="l" t="t" r="r" b="b"/>
              <a:pathLst>
                <a:path w="179705" h="104775">
                  <a:moveTo>
                    <a:pt x="179279" y="0"/>
                  </a:moveTo>
                  <a:lnTo>
                    <a:pt x="0" y="0"/>
                  </a:lnTo>
                  <a:lnTo>
                    <a:pt x="0" y="104578"/>
                  </a:lnTo>
                  <a:lnTo>
                    <a:pt x="179279" y="104578"/>
                  </a:lnTo>
                  <a:lnTo>
                    <a:pt x="179279" y="0"/>
                  </a:lnTo>
                  <a:close/>
                </a:path>
              </a:pathLst>
            </a:custGeom>
            <a:solidFill>
              <a:srgbClr val="959595"/>
            </a:solidFill>
          </p:spPr>
          <p:txBody>
            <a:bodyPr wrap="square" lIns="0" tIns="0" rIns="0" bIns="0" rtlCol="0"/>
            <a:lstStyle/>
            <a:p>
              <a:endParaRPr/>
            </a:p>
          </p:txBody>
        </p:sp>
        <p:sp>
          <p:nvSpPr>
            <p:cNvPr id="43" name="object 43"/>
            <p:cNvSpPr/>
            <p:nvPr/>
          </p:nvSpPr>
          <p:spPr>
            <a:xfrm>
              <a:off x="1458245" y="1961577"/>
              <a:ext cx="179705" cy="104775"/>
            </a:xfrm>
            <a:custGeom>
              <a:avLst/>
              <a:gdLst/>
              <a:ahLst/>
              <a:cxnLst/>
              <a:rect l="l" t="t" r="r" b="b"/>
              <a:pathLst>
                <a:path w="179705" h="104775">
                  <a:moveTo>
                    <a:pt x="0" y="104578"/>
                  </a:moveTo>
                  <a:lnTo>
                    <a:pt x="179279" y="104578"/>
                  </a:lnTo>
                  <a:lnTo>
                    <a:pt x="179279" y="0"/>
                  </a:lnTo>
                  <a:lnTo>
                    <a:pt x="0" y="0"/>
                  </a:lnTo>
                  <a:lnTo>
                    <a:pt x="0" y="104578"/>
                  </a:lnTo>
                  <a:close/>
                </a:path>
              </a:pathLst>
            </a:custGeom>
            <a:ln w="5270">
              <a:solidFill>
                <a:srgbClr val="000000"/>
              </a:solidFill>
            </a:ln>
          </p:spPr>
          <p:txBody>
            <a:bodyPr wrap="square" lIns="0" tIns="0" rIns="0" bIns="0" rtlCol="0"/>
            <a:lstStyle/>
            <a:p>
              <a:endParaRPr/>
            </a:p>
          </p:txBody>
        </p:sp>
        <p:sp>
          <p:nvSpPr>
            <p:cNvPr id="44" name="object 44"/>
            <p:cNvSpPr/>
            <p:nvPr/>
          </p:nvSpPr>
          <p:spPr>
            <a:xfrm>
              <a:off x="3107483" y="2363737"/>
              <a:ext cx="179705" cy="104775"/>
            </a:xfrm>
            <a:custGeom>
              <a:avLst/>
              <a:gdLst/>
              <a:ahLst/>
              <a:cxnLst/>
              <a:rect l="l" t="t" r="r" b="b"/>
              <a:pathLst>
                <a:path w="179704" h="104775">
                  <a:moveTo>
                    <a:pt x="179283" y="0"/>
                  </a:moveTo>
                  <a:lnTo>
                    <a:pt x="0" y="0"/>
                  </a:lnTo>
                  <a:lnTo>
                    <a:pt x="0" y="104582"/>
                  </a:lnTo>
                  <a:lnTo>
                    <a:pt x="179283" y="104582"/>
                  </a:lnTo>
                  <a:lnTo>
                    <a:pt x="179283" y="0"/>
                  </a:lnTo>
                  <a:close/>
                </a:path>
              </a:pathLst>
            </a:custGeom>
            <a:solidFill>
              <a:srgbClr val="959595"/>
            </a:solidFill>
          </p:spPr>
          <p:txBody>
            <a:bodyPr wrap="square" lIns="0" tIns="0" rIns="0" bIns="0" rtlCol="0"/>
            <a:lstStyle/>
            <a:p>
              <a:endParaRPr/>
            </a:p>
          </p:txBody>
        </p:sp>
        <p:sp>
          <p:nvSpPr>
            <p:cNvPr id="45" name="object 45"/>
            <p:cNvSpPr/>
            <p:nvPr/>
          </p:nvSpPr>
          <p:spPr>
            <a:xfrm>
              <a:off x="1189322" y="1573138"/>
              <a:ext cx="2098040" cy="1001394"/>
            </a:xfrm>
            <a:custGeom>
              <a:avLst/>
              <a:gdLst/>
              <a:ahLst/>
              <a:cxnLst/>
              <a:rect l="l" t="t" r="r" b="b"/>
              <a:pathLst>
                <a:path w="2098040" h="1001394">
                  <a:moveTo>
                    <a:pt x="1918161" y="895181"/>
                  </a:moveTo>
                  <a:lnTo>
                    <a:pt x="2097444" y="895181"/>
                  </a:lnTo>
                  <a:lnTo>
                    <a:pt x="2097444" y="790599"/>
                  </a:lnTo>
                  <a:lnTo>
                    <a:pt x="1918161" y="790599"/>
                  </a:lnTo>
                  <a:lnTo>
                    <a:pt x="1918161" y="895181"/>
                  </a:lnTo>
                  <a:close/>
                </a:path>
                <a:path w="2098040" h="1001394">
                  <a:moveTo>
                    <a:pt x="0" y="0"/>
                  </a:moveTo>
                  <a:lnTo>
                    <a:pt x="212194" y="471542"/>
                  </a:lnTo>
                  <a:lnTo>
                    <a:pt x="577058" y="780613"/>
                  </a:lnTo>
                  <a:lnTo>
                    <a:pt x="922313" y="949622"/>
                  </a:lnTo>
                  <a:lnTo>
                    <a:pt x="1075682" y="1000978"/>
                  </a:lnTo>
                </a:path>
              </a:pathLst>
            </a:custGeom>
            <a:ln w="5270">
              <a:solidFill>
                <a:srgbClr val="000000"/>
              </a:solidFill>
            </a:ln>
          </p:spPr>
          <p:txBody>
            <a:bodyPr wrap="square" lIns="0" tIns="0" rIns="0" bIns="0" rtlCol="0"/>
            <a:lstStyle/>
            <a:p>
              <a:endParaRPr/>
            </a:p>
          </p:txBody>
        </p:sp>
        <p:pic>
          <p:nvPicPr>
            <p:cNvPr id="46" name="object 46"/>
            <p:cNvPicPr/>
            <p:nvPr/>
          </p:nvPicPr>
          <p:blipFill>
            <a:blip r:embed="rId21" cstate="print"/>
            <a:stretch>
              <a:fillRect/>
            </a:stretch>
          </p:blipFill>
          <p:spPr>
            <a:xfrm>
              <a:off x="2218508" y="2531281"/>
              <a:ext cx="85287" cy="66948"/>
            </a:xfrm>
            <a:prstGeom prst="rect">
              <a:avLst/>
            </a:prstGeom>
          </p:spPr>
        </p:pic>
      </p:grpSp>
      <p:sp>
        <p:nvSpPr>
          <p:cNvPr id="47" name="object 47"/>
          <p:cNvSpPr txBox="1"/>
          <p:nvPr/>
        </p:nvSpPr>
        <p:spPr>
          <a:xfrm>
            <a:off x="3760605" y="1717450"/>
            <a:ext cx="316230" cy="220979"/>
          </a:xfrm>
          <a:prstGeom prst="rect">
            <a:avLst/>
          </a:prstGeom>
        </p:spPr>
        <p:txBody>
          <a:bodyPr vert="horz" wrap="square" lIns="0" tIns="21590" rIns="0" bIns="0" rtlCol="0">
            <a:spAutoFit/>
          </a:bodyPr>
          <a:lstStyle/>
          <a:p>
            <a:pPr marL="12700" marR="5080">
              <a:lnSpc>
                <a:spcPts val="740"/>
              </a:lnSpc>
              <a:spcBef>
                <a:spcPts val="170"/>
              </a:spcBef>
            </a:pPr>
            <a:r>
              <a:rPr sz="650" spc="5" dirty="0">
                <a:latin typeface="Arial"/>
                <a:cs typeface="Arial"/>
              </a:rPr>
              <a:t>Client's </a:t>
            </a:r>
            <a:r>
              <a:rPr sz="650" spc="-170" dirty="0">
                <a:latin typeface="Arial"/>
                <a:cs typeface="Arial"/>
              </a:rPr>
              <a:t> </a:t>
            </a:r>
            <a:r>
              <a:rPr sz="650" spc="5" dirty="0">
                <a:latin typeface="Arial"/>
                <a:cs typeface="Arial"/>
              </a:rPr>
              <a:t>location</a:t>
            </a:r>
            <a:endParaRPr sz="650">
              <a:latin typeface="Arial"/>
              <a:cs typeface="Arial"/>
            </a:endParaRPr>
          </a:p>
        </p:txBody>
      </p:sp>
      <p:sp>
        <p:nvSpPr>
          <p:cNvPr id="48" name="object 48"/>
          <p:cNvSpPr txBox="1"/>
          <p:nvPr/>
        </p:nvSpPr>
        <p:spPr>
          <a:xfrm>
            <a:off x="1878900" y="1101696"/>
            <a:ext cx="129921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1.</a:t>
            </a:r>
            <a:r>
              <a:rPr sz="650" spc="-10" dirty="0">
                <a:latin typeface="Arial"/>
                <a:cs typeface="Arial"/>
              </a:rPr>
              <a:t> </a:t>
            </a:r>
            <a:r>
              <a:rPr sz="650" spc="5" dirty="0">
                <a:latin typeface="Arial"/>
                <a:cs typeface="Arial"/>
              </a:rPr>
              <a:t>Send</a:t>
            </a:r>
            <a:r>
              <a:rPr sz="650" spc="-5" dirty="0">
                <a:latin typeface="Arial"/>
                <a:cs typeface="Arial"/>
              </a:rPr>
              <a:t> </a:t>
            </a:r>
            <a:r>
              <a:rPr sz="650" spc="5" dirty="0">
                <a:latin typeface="Arial"/>
                <a:cs typeface="Arial"/>
              </a:rPr>
              <a:t>packet</a:t>
            </a:r>
            <a:r>
              <a:rPr sz="650" spc="-5" dirty="0">
                <a:latin typeface="Arial"/>
                <a:cs typeface="Arial"/>
              </a:rPr>
              <a:t> </a:t>
            </a:r>
            <a:r>
              <a:rPr sz="650" spc="5" dirty="0">
                <a:latin typeface="Arial"/>
                <a:cs typeface="Arial"/>
              </a:rPr>
              <a:t>to</a:t>
            </a:r>
            <a:r>
              <a:rPr sz="650" spc="-5" dirty="0">
                <a:latin typeface="Arial"/>
                <a:cs typeface="Arial"/>
              </a:rPr>
              <a:t> </a:t>
            </a:r>
            <a:r>
              <a:rPr sz="650" spc="5" dirty="0">
                <a:latin typeface="Arial"/>
                <a:cs typeface="Arial"/>
              </a:rPr>
              <a:t>host</a:t>
            </a:r>
            <a:r>
              <a:rPr sz="650" spc="-5" dirty="0">
                <a:latin typeface="Arial"/>
                <a:cs typeface="Arial"/>
              </a:rPr>
              <a:t> </a:t>
            </a:r>
            <a:r>
              <a:rPr sz="650" spc="5" dirty="0">
                <a:latin typeface="Arial"/>
                <a:cs typeface="Arial"/>
              </a:rPr>
              <a:t>at</a:t>
            </a:r>
            <a:r>
              <a:rPr sz="650" spc="-10" dirty="0">
                <a:latin typeface="Arial"/>
                <a:cs typeface="Arial"/>
              </a:rPr>
              <a:t> </a:t>
            </a:r>
            <a:r>
              <a:rPr sz="650" dirty="0">
                <a:latin typeface="Arial"/>
                <a:cs typeface="Arial"/>
              </a:rPr>
              <a:t>its</a:t>
            </a:r>
            <a:r>
              <a:rPr sz="650" spc="-5" dirty="0">
                <a:latin typeface="Arial"/>
                <a:cs typeface="Arial"/>
              </a:rPr>
              <a:t> </a:t>
            </a:r>
            <a:r>
              <a:rPr sz="650" spc="5" dirty="0">
                <a:latin typeface="Arial"/>
                <a:cs typeface="Arial"/>
              </a:rPr>
              <a:t>home</a:t>
            </a:r>
            <a:endParaRPr sz="650">
              <a:latin typeface="Arial"/>
              <a:cs typeface="Arial"/>
            </a:endParaRPr>
          </a:p>
        </p:txBody>
      </p:sp>
      <p:sp>
        <p:nvSpPr>
          <p:cNvPr id="49" name="object 49"/>
          <p:cNvSpPr txBox="1"/>
          <p:nvPr/>
        </p:nvSpPr>
        <p:spPr>
          <a:xfrm>
            <a:off x="1624914" y="1431323"/>
            <a:ext cx="789305" cy="220979"/>
          </a:xfrm>
          <a:prstGeom prst="rect">
            <a:avLst/>
          </a:prstGeom>
        </p:spPr>
        <p:txBody>
          <a:bodyPr vert="horz" wrap="square" lIns="0" tIns="21590" rIns="0" bIns="0" rtlCol="0">
            <a:spAutoFit/>
          </a:bodyPr>
          <a:lstStyle/>
          <a:p>
            <a:pPr marL="106045" marR="5080" indent="-93980">
              <a:lnSpc>
                <a:spcPts val="740"/>
              </a:lnSpc>
              <a:spcBef>
                <a:spcPts val="170"/>
              </a:spcBef>
            </a:pPr>
            <a:r>
              <a:rPr sz="650" spc="5" dirty="0">
                <a:latin typeface="Arial"/>
                <a:cs typeface="Arial"/>
              </a:rPr>
              <a:t>2.  Return  address </a:t>
            </a:r>
            <a:r>
              <a:rPr sz="650" spc="10" dirty="0">
                <a:latin typeface="Arial"/>
                <a:cs typeface="Arial"/>
              </a:rPr>
              <a:t> </a:t>
            </a:r>
            <a:r>
              <a:rPr sz="650" spc="5" dirty="0">
                <a:latin typeface="Arial"/>
                <a:cs typeface="Arial"/>
              </a:rPr>
              <a:t>of</a:t>
            </a:r>
            <a:r>
              <a:rPr sz="650" spc="-40" dirty="0">
                <a:latin typeface="Arial"/>
                <a:cs typeface="Arial"/>
              </a:rPr>
              <a:t> </a:t>
            </a:r>
            <a:r>
              <a:rPr sz="650" spc="5" dirty="0">
                <a:latin typeface="Arial"/>
                <a:cs typeface="Arial"/>
              </a:rPr>
              <a:t>current</a:t>
            </a:r>
            <a:r>
              <a:rPr sz="650" spc="-40" dirty="0">
                <a:latin typeface="Arial"/>
                <a:cs typeface="Arial"/>
              </a:rPr>
              <a:t> </a:t>
            </a:r>
            <a:r>
              <a:rPr sz="650" spc="5" dirty="0">
                <a:latin typeface="Arial"/>
                <a:cs typeface="Arial"/>
              </a:rPr>
              <a:t>location</a:t>
            </a:r>
            <a:endParaRPr sz="650">
              <a:latin typeface="Arial"/>
              <a:cs typeface="Arial"/>
            </a:endParaRPr>
          </a:p>
        </p:txBody>
      </p:sp>
      <p:sp>
        <p:nvSpPr>
          <p:cNvPr id="50" name="object 50"/>
          <p:cNvSpPr txBox="1"/>
          <p:nvPr/>
        </p:nvSpPr>
        <p:spPr>
          <a:xfrm>
            <a:off x="1548262" y="2073398"/>
            <a:ext cx="739775" cy="220979"/>
          </a:xfrm>
          <a:prstGeom prst="rect">
            <a:avLst/>
          </a:prstGeom>
        </p:spPr>
        <p:txBody>
          <a:bodyPr vert="horz" wrap="square" lIns="0" tIns="21590" rIns="0" bIns="0" rtlCol="0">
            <a:spAutoFit/>
          </a:bodyPr>
          <a:lstStyle/>
          <a:p>
            <a:pPr marL="106680" marR="5080" indent="-94615">
              <a:lnSpc>
                <a:spcPts val="740"/>
              </a:lnSpc>
              <a:spcBef>
                <a:spcPts val="170"/>
              </a:spcBef>
            </a:pPr>
            <a:r>
              <a:rPr sz="650" spc="5" dirty="0">
                <a:latin typeface="Arial"/>
                <a:cs typeface="Arial"/>
              </a:rPr>
              <a:t>3.</a:t>
            </a:r>
            <a:r>
              <a:rPr sz="650" spc="-30" dirty="0">
                <a:latin typeface="Arial"/>
                <a:cs typeface="Arial"/>
              </a:rPr>
              <a:t> </a:t>
            </a:r>
            <a:r>
              <a:rPr sz="650" dirty="0">
                <a:latin typeface="Arial"/>
                <a:cs typeface="Arial"/>
              </a:rPr>
              <a:t>Tunnel</a:t>
            </a:r>
            <a:r>
              <a:rPr sz="650" spc="-20" dirty="0">
                <a:latin typeface="Arial"/>
                <a:cs typeface="Arial"/>
              </a:rPr>
              <a:t> </a:t>
            </a:r>
            <a:r>
              <a:rPr sz="650" spc="5" dirty="0">
                <a:latin typeface="Arial"/>
                <a:cs typeface="Arial"/>
              </a:rPr>
              <a:t>packet</a:t>
            </a:r>
            <a:r>
              <a:rPr sz="650" spc="-20" dirty="0">
                <a:latin typeface="Arial"/>
                <a:cs typeface="Arial"/>
              </a:rPr>
              <a:t> </a:t>
            </a:r>
            <a:r>
              <a:rPr sz="650" spc="5" dirty="0">
                <a:latin typeface="Arial"/>
                <a:cs typeface="Arial"/>
              </a:rPr>
              <a:t>to </a:t>
            </a:r>
            <a:r>
              <a:rPr sz="650" spc="-165" dirty="0">
                <a:latin typeface="Arial"/>
                <a:cs typeface="Arial"/>
              </a:rPr>
              <a:t> </a:t>
            </a:r>
            <a:r>
              <a:rPr sz="650" spc="5" dirty="0">
                <a:latin typeface="Arial"/>
                <a:cs typeface="Arial"/>
              </a:rPr>
              <a:t>current</a:t>
            </a:r>
            <a:r>
              <a:rPr sz="650" spc="-30" dirty="0">
                <a:latin typeface="Arial"/>
                <a:cs typeface="Arial"/>
              </a:rPr>
              <a:t> </a:t>
            </a:r>
            <a:r>
              <a:rPr sz="650" spc="5" dirty="0">
                <a:latin typeface="Arial"/>
                <a:cs typeface="Arial"/>
              </a:rPr>
              <a:t>location</a:t>
            </a:r>
            <a:endParaRPr sz="650">
              <a:latin typeface="Arial"/>
              <a:cs typeface="Arial"/>
            </a:endParaRPr>
          </a:p>
        </p:txBody>
      </p:sp>
      <p:sp>
        <p:nvSpPr>
          <p:cNvPr id="51" name="object 51"/>
          <p:cNvSpPr txBox="1"/>
          <p:nvPr/>
        </p:nvSpPr>
        <p:spPr>
          <a:xfrm>
            <a:off x="1729650" y="2461982"/>
            <a:ext cx="2157095" cy="381000"/>
          </a:xfrm>
          <a:prstGeom prst="rect">
            <a:avLst/>
          </a:prstGeom>
        </p:spPr>
        <p:txBody>
          <a:bodyPr vert="horz" wrap="square" lIns="0" tIns="21590" rIns="0" bIns="0" rtlCol="0">
            <a:spAutoFit/>
          </a:bodyPr>
          <a:lstStyle/>
          <a:p>
            <a:pPr marL="1196340" marR="5080" indent="-93980">
              <a:lnSpc>
                <a:spcPts val="740"/>
              </a:lnSpc>
              <a:spcBef>
                <a:spcPts val="170"/>
              </a:spcBef>
            </a:pPr>
            <a:r>
              <a:rPr sz="650" spc="5" dirty="0">
                <a:latin typeface="Arial"/>
                <a:cs typeface="Arial"/>
              </a:rPr>
              <a:t>4.</a:t>
            </a:r>
            <a:r>
              <a:rPr sz="650" spc="-20" dirty="0">
                <a:latin typeface="Arial"/>
                <a:cs typeface="Arial"/>
              </a:rPr>
              <a:t> </a:t>
            </a:r>
            <a:r>
              <a:rPr sz="650" spc="5" dirty="0">
                <a:latin typeface="Arial"/>
                <a:cs typeface="Arial"/>
              </a:rPr>
              <a:t>Send</a:t>
            </a:r>
            <a:r>
              <a:rPr sz="650" spc="-15" dirty="0">
                <a:latin typeface="Arial"/>
                <a:cs typeface="Arial"/>
              </a:rPr>
              <a:t> </a:t>
            </a:r>
            <a:r>
              <a:rPr sz="650" spc="5" dirty="0">
                <a:latin typeface="Arial"/>
                <a:cs typeface="Arial"/>
              </a:rPr>
              <a:t>successive</a:t>
            </a:r>
            <a:r>
              <a:rPr sz="650" spc="-20" dirty="0">
                <a:latin typeface="Arial"/>
                <a:cs typeface="Arial"/>
              </a:rPr>
              <a:t> </a:t>
            </a:r>
            <a:r>
              <a:rPr sz="650" spc="5" dirty="0">
                <a:latin typeface="Arial"/>
                <a:cs typeface="Arial"/>
              </a:rPr>
              <a:t>packets </a:t>
            </a:r>
            <a:r>
              <a:rPr sz="650" spc="-165" dirty="0">
                <a:latin typeface="Arial"/>
                <a:cs typeface="Arial"/>
              </a:rPr>
              <a:t> </a:t>
            </a:r>
            <a:r>
              <a:rPr sz="650" spc="5" dirty="0">
                <a:latin typeface="Arial"/>
                <a:cs typeface="Arial"/>
              </a:rPr>
              <a:t>to</a:t>
            </a:r>
            <a:r>
              <a:rPr sz="650" spc="-10" dirty="0">
                <a:latin typeface="Arial"/>
                <a:cs typeface="Arial"/>
              </a:rPr>
              <a:t> </a:t>
            </a:r>
            <a:r>
              <a:rPr sz="650" spc="5" dirty="0">
                <a:latin typeface="Arial"/>
                <a:cs typeface="Arial"/>
              </a:rPr>
              <a:t>current</a:t>
            </a:r>
            <a:r>
              <a:rPr sz="650" spc="-5" dirty="0">
                <a:latin typeface="Arial"/>
                <a:cs typeface="Arial"/>
              </a:rPr>
              <a:t> </a:t>
            </a:r>
            <a:r>
              <a:rPr sz="650" spc="5" dirty="0">
                <a:latin typeface="Arial"/>
                <a:cs typeface="Arial"/>
              </a:rPr>
              <a:t>location</a:t>
            </a:r>
            <a:endParaRPr sz="650">
              <a:latin typeface="Arial"/>
              <a:cs typeface="Arial"/>
            </a:endParaRPr>
          </a:p>
          <a:p>
            <a:pPr marL="12700">
              <a:lnSpc>
                <a:spcPct val="100000"/>
              </a:lnSpc>
              <a:spcBef>
                <a:spcPts val="465"/>
              </a:spcBef>
            </a:pPr>
            <a:r>
              <a:rPr sz="650" spc="5" dirty="0">
                <a:latin typeface="Arial"/>
                <a:cs typeface="Arial"/>
              </a:rPr>
              <a:t>Host's</a:t>
            </a:r>
            <a:r>
              <a:rPr sz="650" spc="-25" dirty="0">
                <a:latin typeface="Arial"/>
                <a:cs typeface="Arial"/>
              </a:rPr>
              <a:t> </a:t>
            </a:r>
            <a:r>
              <a:rPr sz="650" spc="5" dirty="0">
                <a:latin typeface="Arial"/>
                <a:cs typeface="Arial"/>
              </a:rPr>
              <a:t>current</a:t>
            </a:r>
            <a:r>
              <a:rPr sz="650" spc="-25" dirty="0">
                <a:latin typeface="Arial"/>
                <a:cs typeface="Arial"/>
              </a:rPr>
              <a:t> </a:t>
            </a:r>
            <a:r>
              <a:rPr sz="650" spc="5" dirty="0">
                <a:latin typeface="Arial"/>
                <a:cs typeface="Arial"/>
              </a:rPr>
              <a:t>location</a:t>
            </a:r>
            <a:endParaRPr sz="650">
              <a:latin typeface="Arial"/>
              <a:cs typeface="Arial"/>
            </a:endParaRPr>
          </a:p>
        </p:txBody>
      </p:sp>
      <p:sp>
        <p:nvSpPr>
          <p:cNvPr id="52" name="object 52"/>
          <p:cNvSpPr txBox="1"/>
          <p:nvPr/>
        </p:nvSpPr>
        <p:spPr>
          <a:xfrm>
            <a:off x="444750" y="1013140"/>
            <a:ext cx="491490" cy="220979"/>
          </a:xfrm>
          <a:prstGeom prst="rect">
            <a:avLst/>
          </a:prstGeom>
        </p:spPr>
        <p:txBody>
          <a:bodyPr vert="horz" wrap="square" lIns="0" tIns="21590" rIns="0" bIns="0" rtlCol="0">
            <a:spAutoFit/>
          </a:bodyPr>
          <a:lstStyle/>
          <a:p>
            <a:pPr marL="12700" marR="5080">
              <a:lnSpc>
                <a:spcPts val="740"/>
              </a:lnSpc>
              <a:spcBef>
                <a:spcPts val="170"/>
              </a:spcBef>
            </a:pPr>
            <a:r>
              <a:rPr sz="650" spc="5" dirty="0">
                <a:latin typeface="Arial"/>
                <a:cs typeface="Arial"/>
              </a:rPr>
              <a:t>Host</a:t>
            </a:r>
            <a:r>
              <a:rPr sz="650" dirty="0">
                <a:latin typeface="Arial"/>
                <a:cs typeface="Arial"/>
              </a:rPr>
              <a:t>'s </a:t>
            </a:r>
            <a:r>
              <a:rPr sz="650" spc="5" dirty="0">
                <a:latin typeface="Arial"/>
                <a:cs typeface="Arial"/>
              </a:rPr>
              <a:t>home  location</a:t>
            </a:r>
            <a:endParaRPr sz="650">
              <a:latin typeface="Arial"/>
              <a:cs typeface="Arial"/>
            </a:endParaRPr>
          </a:p>
        </p:txBody>
      </p:sp>
      <p:grpSp>
        <p:nvGrpSpPr>
          <p:cNvPr id="53" name="object 53"/>
          <p:cNvGrpSpPr/>
          <p:nvPr/>
        </p:nvGrpSpPr>
        <p:grpSpPr>
          <a:xfrm>
            <a:off x="1486365" y="1977254"/>
            <a:ext cx="1772285" cy="475615"/>
            <a:chOff x="1486365" y="1977254"/>
            <a:chExt cx="1772285" cy="475615"/>
          </a:xfrm>
        </p:grpSpPr>
        <p:sp>
          <p:nvSpPr>
            <p:cNvPr id="54" name="object 54"/>
            <p:cNvSpPr/>
            <p:nvPr/>
          </p:nvSpPr>
          <p:spPr>
            <a:xfrm>
              <a:off x="1488122" y="1979011"/>
              <a:ext cx="120014" cy="69850"/>
            </a:xfrm>
            <a:custGeom>
              <a:avLst/>
              <a:gdLst/>
              <a:ahLst/>
              <a:cxnLst/>
              <a:rect l="l" t="t" r="r" b="b"/>
              <a:pathLst>
                <a:path w="120015" h="69850">
                  <a:moveTo>
                    <a:pt x="119521" y="0"/>
                  </a:moveTo>
                  <a:lnTo>
                    <a:pt x="0" y="0"/>
                  </a:lnTo>
                  <a:lnTo>
                    <a:pt x="0" y="69714"/>
                  </a:lnTo>
                  <a:lnTo>
                    <a:pt x="119521" y="69714"/>
                  </a:lnTo>
                  <a:lnTo>
                    <a:pt x="119521" y="0"/>
                  </a:lnTo>
                  <a:close/>
                </a:path>
              </a:pathLst>
            </a:custGeom>
            <a:solidFill>
              <a:srgbClr val="E3E3E3"/>
            </a:solidFill>
          </p:spPr>
          <p:txBody>
            <a:bodyPr wrap="square" lIns="0" tIns="0" rIns="0" bIns="0" rtlCol="0"/>
            <a:lstStyle/>
            <a:p>
              <a:endParaRPr/>
            </a:p>
          </p:txBody>
        </p:sp>
        <p:sp>
          <p:nvSpPr>
            <p:cNvPr id="55" name="object 55"/>
            <p:cNvSpPr/>
            <p:nvPr/>
          </p:nvSpPr>
          <p:spPr>
            <a:xfrm>
              <a:off x="1488122" y="1979011"/>
              <a:ext cx="120014" cy="69850"/>
            </a:xfrm>
            <a:custGeom>
              <a:avLst/>
              <a:gdLst/>
              <a:ahLst/>
              <a:cxnLst/>
              <a:rect l="l" t="t" r="r" b="b"/>
              <a:pathLst>
                <a:path w="120015" h="69850">
                  <a:moveTo>
                    <a:pt x="0" y="69714"/>
                  </a:moveTo>
                  <a:lnTo>
                    <a:pt x="119521" y="69714"/>
                  </a:lnTo>
                  <a:lnTo>
                    <a:pt x="119521" y="0"/>
                  </a:lnTo>
                  <a:lnTo>
                    <a:pt x="0" y="0"/>
                  </a:lnTo>
                  <a:lnTo>
                    <a:pt x="0" y="69714"/>
                  </a:lnTo>
                  <a:close/>
                </a:path>
              </a:pathLst>
            </a:custGeom>
            <a:ln w="3513">
              <a:solidFill>
                <a:srgbClr val="000000"/>
              </a:solidFill>
            </a:ln>
          </p:spPr>
          <p:txBody>
            <a:bodyPr wrap="square" lIns="0" tIns="0" rIns="0" bIns="0" rtlCol="0"/>
            <a:lstStyle/>
            <a:p>
              <a:endParaRPr/>
            </a:p>
          </p:txBody>
        </p:sp>
        <p:sp>
          <p:nvSpPr>
            <p:cNvPr id="56" name="object 56"/>
            <p:cNvSpPr/>
            <p:nvPr/>
          </p:nvSpPr>
          <p:spPr>
            <a:xfrm>
              <a:off x="3137356" y="2381171"/>
              <a:ext cx="120014" cy="69850"/>
            </a:xfrm>
            <a:custGeom>
              <a:avLst/>
              <a:gdLst/>
              <a:ahLst/>
              <a:cxnLst/>
              <a:rect l="l" t="t" r="r" b="b"/>
              <a:pathLst>
                <a:path w="120014" h="69850">
                  <a:moveTo>
                    <a:pt x="119517" y="0"/>
                  </a:moveTo>
                  <a:lnTo>
                    <a:pt x="0" y="0"/>
                  </a:lnTo>
                  <a:lnTo>
                    <a:pt x="0" y="69714"/>
                  </a:lnTo>
                  <a:lnTo>
                    <a:pt x="119517" y="69714"/>
                  </a:lnTo>
                  <a:lnTo>
                    <a:pt x="119517" y="0"/>
                  </a:lnTo>
                  <a:close/>
                </a:path>
              </a:pathLst>
            </a:custGeom>
            <a:solidFill>
              <a:srgbClr val="E3E3E3"/>
            </a:solidFill>
          </p:spPr>
          <p:txBody>
            <a:bodyPr wrap="square" lIns="0" tIns="0" rIns="0" bIns="0" rtlCol="0"/>
            <a:lstStyle/>
            <a:p>
              <a:endParaRPr/>
            </a:p>
          </p:txBody>
        </p:sp>
        <p:sp>
          <p:nvSpPr>
            <p:cNvPr id="57" name="object 57"/>
            <p:cNvSpPr/>
            <p:nvPr/>
          </p:nvSpPr>
          <p:spPr>
            <a:xfrm>
              <a:off x="3137356" y="2381171"/>
              <a:ext cx="120014" cy="69850"/>
            </a:xfrm>
            <a:custGeom>
              <a:avLst/>
              <a:gdLst/>
              <a:ahLst/>
              <a:cxnLst/>
              <a:rect l="l" t="t" r="r" b="b"/>
              <a:pathLst>
                <a:path w="120014" h="69850">
                  <a:moveTo>
                    <a:pt x="0" y="69714"/>
                  </a:moveTo>
                  <a:lnTo>
                    <a:pt x="119517" y="69714"/>
                  </a:lnTo>
                  <a:lnTo>
                    <a:pt x="119517" y="0"/>
                  </a:lnTo>
                  <a:lnTo>
                    <a:pt x="0" y="0"/>
                  </a:lnTo>
                  <a:lnTo>
                    <a:pt x="0" y="69714"/>
                  </a:lnTo>
                  <a:close/>
                </a:path>
              </a:pathLst>
            </a:custGeom>
            <a:ln w="3513">
              <a:solidFill>
                <a:srgbClr val="000000"/>
              </a:solidFill>
            </a:ln>
          </p:spPr>
          <p:txBody>
            <a:bodyPr wrap="square" lIns="0" tIns="0" rIns="0" bIns="0" rtlCol="0"/>
            <a:lstStyle/>
            <a:p>
              <a:endParaRPr/>
            </a:p>
          </p:txBody>
        </p:sp>
      </p:grpSp>
      <p:sp>
        <p:nvSpPr>
          <p:cNvPr id="58" name="object 5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5" dirty="0"/>
              <a:t>9</a:t>
            </a:fld>
            <a:r>
              <a:rPr spc="-40" dirty="0"/>
              <a:t> </a:t>
            </a:r>
            <a:r>
              <a:rPr spc="-5" dirty="0"/>
              <a:t>/</a:t>
            </a:r>
            <a:r>
              <a:rPr spc="-35" dirty="0"/>
              <a:t> </a:t>
            </a:r>
            <a:r>
              <a:rPr spc="-5" dirty="0"/>
              <a:t>46</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5" dirty="0"/>
              <a:t>10</a:t>
            </a:fld>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63606"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Home-based</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207137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Home-based</a:t>
            </a:r>
            <a:r>
              <a:rPr sz="1400" spc="-15" dirty="0">
                <a:solidFill>
                  <a:srgbClr val="3333B2"/>
                </a:solidFill>
                <a:latin typeface="Arial"/>
                <a:cs typeface="Arial"/>
              </a:rPr>
              <a:t> </a:t>
            </a:r>
            <a:r>
              <a:rPr sz="1400" spc="15" dirty="0">
                <a:solidFill>
                  <a:srgbClr val="3333B2"/>
                </a:solidFill>
                <a:latin typeface="Arial"/>
                <a:cs typeface="Arial"/>
              </a:rPr>
              <a:t>approaches</a:t>
            </a:r>
            <a:endParaRPr sz="1400" dirty="0">
              <a:latin typeface="Arial"/>
              <a:cs typeface="Arial"/>
            </a:endParaRPr>
          </a:p>
        </p:txBody>
      </p:sp>
      <p:sp>
        <p:nvSpPr>
          <p:cNvPr id="5" name="object 5"/>
          <p:cNvSpPr txBox="1"/>
          <p:nvPr/>
        </p:nvSpPr>
        <p:spPr>
          <a:xfrm>
            <a:off x="321894" y="937295"/>
            <a:ext cx="3368675" cy="458470"/>
          </a:xfrm>
          <a:prstGeom prst="rect">
            <a:avLst/>
          </a:prstGeom>
        </p:spPr>
        <p:txBody>
          <a:bodyPr vert="horz" wrap="square" lIns="0" tIns="12065" rIns="0" bIns="0" rtlCol="0">
            <a:spAutoFit/>
          </a:bodyPr>
          <a:lstStyle/>
          <a:p>
            <a:pPr marL="38100">
              <a:lnSpc>
                <a:spcPct val="100000"/>
              </a:lnSpc>
              <a:spcBef>
                <a:spcPts val="95"/>
              </a:spcBef>
            </a:pPr>
            <a:r>
              <a:rPr sz="1200" spc="-10" dirty="0">
                <a:solidFill>
                  <a:srgbClr val="3333B2"/>
                </a:solidFill>
                <a:latin typeface="Arial"/>
                <a:cs typeface="Arial"/>
              </a:rPr>
              <a:t>Problems </a:t>
            </a:r>
            <a:r>
              <a:rPr sz="1200" spc="-5" dirty="0">
                <a:solidFill>
                  <a:srgbClr val="3333B2"/>
                </a:solidFill>
                <a:latin typeface="Arial"/>
                <a:cs typeface="Arial"/>
              </a:rPr>
              <a:t>with home-based approaches</a:t>
            </a:r>
            <a:endParaRPr sz="1200" dirty="0">
              <a:latin typeface="Arial"/>
              <a:cs typeface="Arial"/>
            </a:endParaRPr>
          </a:p>
          <a:p>
            <a:pPr marL="314960" indent="-168275">
              <a:lnSpc>
                <a:spcPct val="100000"/>
              </a:lnSpc>
              <a:spcBef>
                <a:spcPts val="770"/>
              </a:spcBef>
              <a:buClr>
                <a:srgbClr val="3333B2"/>
              </a:buClr>
              <a:buChar char="►"/>
              <a:tabLst>
                <a:tab pos="315595" algn="l"/>
              </a:tabLst>
            </a:pPr>
            <a:r>
              <a:rPr sz="1000" spc="-5" dirty="0">
                <a:latin typeface="Arial"/>
                <a:cs typeface="Arial"/>
              </a:rPr>
              <a:t>Home address</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a:t>
            </a:r>
            <a:r>
              <a:rPr sz="1000" dirty="0">
                <a:latin typeface="Arial"/>
                <a:cs typeface="Arial"/>
              </a:rPr>
              <a:t>supported </a:t>
            </a:r>
            <a:r>
              <a:rPr sz="1000" spc="-15" dirty="0">
                <a:latin typeface="Arial"/>
                <a:cs typeface="Arial"/>
              </a:rPr>
              <a:t>for</a:t>
            </a:r>
            <a:r>
              <a:rPr sz="1000" dirty="0">
                <a:latin typeface="Arial"/>
                <a:cs typeface="Arial"/>
              </a:rPr>
              <a:t> </a:t>
            </a:r>
            <a:r>
              <a:rPr sz="1000" spc="-10" dirty="0">
                <a:latin typeface="Arial"/>
                <a:cs typeface="Arial"/>
              </a:rPr>
              <a:t>entity’s</a:t>
            </a:r>
            <a:r>
              <a:rPr sz="1000" dirty="0">
                <a:latin typeface="Arial"/>
                <a:cs typeface="Arial"/>
              </a:rPr>
              <a:t> </a:t>
            </a:r>
            <a:r>
              <a:rPr sz="1000" spc="-10" dirty="0">
                <a:latin typeface="Arial"/>
                <a:cs typeface="Arial"/>
              </a:rPr>
              <a:t>lifetime</a:t>
            </a:r>
            <a:endParaRPr sz="1000" dirty="0">
              <a:latin typeface="Arial"/>
              <a:cs typeface="Arial"/>
            </a:endParaRPr>
          </a:p>
        </p:txBody>
      </p:sp>
      <p:sp>
        <p:nvSpPr>
          <p:cNvPr id="6" name="object 6"/>
          <p:cNvSpPr txBox="1"/>
          <p:nvPr/>
        </p:nvSpPr>
        <p:spPr>
          <a:xfrm>
            <a:off x="456704" y="1445849"/>
            <a:ext cx="367157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5" dirty="0">
                <a:latin typeface="Arial"/>
                <a:cs typeface="Arial"/>
              </a:rPr>
              <a:t>Home address is</a:t>
            </a:r>
            <a:r>
              <a:rPr sz="1000" dirty="0">
                <a:latin typeface="Arial"/>
                <a:cs typeface="Arial"/>
              </a:rPr>
              <a:t> </a:t>
            </a:r>
            <a:r>
              <a:rPr sz="1000" spc="-10" dirty="0">
                <a:latin typeface="Arial"/>
                <a:cs typeface="Arial"/>
              </a:rPr>
              <a:t>fixed</a:t>
            </a:r>
            <a:r>
              <a:rPr sz="1000" spc="-5" dirty="0">
                <a:latin typeface="Arial"/>
                <a:cs typeface="Arial"/>
              </a:rPr>
              <a:t> </a:t>
            </a:r>
            <a:r>
              <a:rPr sz="1000" i="1" spc="-5" dirty="0">
                <a:latin typeface="メイリオ"/>
                <a:cs typeface="メイリオ"/>
              </a:rPr>
              <a:t>⇒</a:t>
            </a:r>
            <a:r>
              <a:rPr sz="1000" i="1" spc="-60" dirty="0">
                <a:latin typeface="メイリオ"/>
                <a:cs typeface="メイリオ"/>
              </a:rPr>
              <a:t> </a:t>
            </a:r>
            <a:r>
              <a:rPr sz="1000" dirty="0">
                <a:latin typeface="Arial"/>
                <a:cs typeface="Arial"/>
              </a:rPr>
              <a:t>unnecessary</a:t>
            </a:r>
            <a:r>
              <a:rPr sz="1000" spc="-5" dirty="0">
                <a:latin typeface="Arial"/>
                <a:cs typeface="Arial"/>
              </a:rPr>
              <a:t> </a:t>
            </a:r>
            <a:r>
              <a:rPr sz="1000" spc="-10" dirty="0">
                <a:latin typeface="Arial"/>
                <a:cs typeface="Arial"/>
              </a:rPr>
              <a:t>burden</a:t>
            </a:r>
            <a:r>
              <a:rPr sz="1000" dirty="0">
                <a:latin typeface="Arial"/>
                <a:cs typeface="Arial"/>
              </a:rPr>
              <a:t> </a:t>
            </a:r>
            <a:r>
              <a:rPr sz="1000" spc="-5" dirty="0">
                <a:latin typeface="Arial"/>
                <a:cs typeface="Arial"/>
              </a:rPr>
              <a:t>when the</a:t>
            </a:r>
            <a:r>
              <a:rPr sz="1000" dirty="0">
                <a:latin typeface="Arial"/>
                <a:cs typeface="Arial"/>
              </a:rPr>
              <a:t> </a:t>
            </a:r>
            <a:r>
              <a:rPr sz="1000" spc="-5" dirty="0">
                <a:latin typeface="Arial"/>
                <a:cs typeface="Arial"/>
              </a:rPr>
              <a:t>entity</a:t>
            </a:r>
            <a:endParaRPr sz="1000" dirty="0">
              <a:latin typeface="Arial"/>
              <a:cs typeface="Arial"/>
            </a:endParaRPr>
          </a:p>
        </p:txBody>
      </p:sp>
      <p:sp>
        <p:nvSpPr>
          <p:cNvPr id="7" name="object 7"/>
          <p:cNvSpPr txBox="1"/>
          <p:nvPr/>
        </p:nvSpPr>
        <p:spPr>
          <a:xfrm>
            <a:off x="431304" y="1521758"/>
            <a:ext cx="3455670" cy="481330"/>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permanently</a:t>
            </a:r>
            <a:r>
              <a:rPr sz="1000" spc="-20" dirty="0">
                <a:latin typeface="Arial"/>
                <a:cs typeface="Arial"/>
              </a:rPr>
              <a:t> </a:t>
            </a:r>
            <a:r>
              <a:rPr sz="1000" spc="-15" dirty="0">
                <a:latin typeface="Arial"/>
                <a:cs typeface="Arial"/>
              </a:rPr>
              <a:t>moves</a:t>
            </a:r>
            <a:endParaRPr sz="1000" dirty="0">
              <a:latin typeface="Arial"/>
              <a:cs typeface="Arial"/>
            </a:endParaRPr>
          </a:p>
          <a:p>
            <a:pPr marL="205740" indent="-168275">
              <a:lnSpc>
                <a:spcPct val="100000"/>
              </a:lnSpc>
              <a:spcBef>
                <a:spcPts val="590"/>
              </a:spcBef>
              <a:buClr>
                <a:srgbClr val="3333B2"/>
              </a:buClr>
              <a:buChar char="►"/>
              <a:tabLst>
                <a:tab pos="206375" algn="l"/>
              </a:tabLst>
            </a:pPr>
            <a:r>
              <a:rPr sz="1000" spc="-15" dirty="0">
                <a:latin typeface="Arial"/>
                <a:cs typeface="Arial"/>
              </a:rPr>
              <a:t>Poor</a:t>
            </a:r>
            <a:r>
              <a:rPr sz="1000" spc="-5" dirty="0">
                <a:latin typeface="Arial"/>
                <a:cs typeface="Arial"/>
              </a:rPr>
              <a:t> geographical</a:t>
            </a:r>
            <a:r>
              <a:rPr sz="1000" dirty="0">
                <a:latin typeface="Arial"/>
                <a:cs typeface="Arial"/>
              </a:rPr>
              <a:t> </a:t>
            </a:r>
            <a:r>
              <a:rPr sz="1000" spc="-5" dirty="0">
                <a:latin typeface="Arial"/>
                <a:cs typeface="Arial"/>
              </a:rPr>
              <a:t>scalability (entity</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 </a:t>
            </a:r>
            <a:r>
              <a:rPr sz="1000" spc="-10" dirty="0">
                <a:latin typeface="Arial"/>
                <a:cs typeface="Arial"/>
              </a:rPr>
              <a:t>next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client)</a:t>
            </a:r>
            <a:endParaRPr sz="1000" dirty="0">
              <a:latin typeface="Arial"/>
              <a:cs typeface="Arial"/>
            </a:endParaRPr>
          </a:p>
        </p:txBody>
      </p:sp>
      <p:sp>
        <p:nvSpPr>
          <p:cNvPr id="8" name="object 8"/>
          <p:cNvSpPr txBox="1"/>
          <p:nvPr/>
        </p:nvSpPr>
        <p:spPr>
          <a:xfrm>
            <a:off x="347294" y="2169894"/>
            <a:ext cx="3914140" cy="354965"/>
          </a:xfrm>
          <a:prstGeom prst="rect">
            <a:avLst/>
          </a:prstGeom>
        </p:spPr>
        <p:txBody>
          <a:bodyPr vert="horz" wrap="square" lIns="0" tIns="12065" rIns="0" bIns="0" rtlCol="0">
            <a:spAutoFit/>
          </a:bodyPr>
          <a:lstStyle/>
          <a:p>
            <a:pPr marL="12700">
              <a:lnSpc>
                <a:spcPts val="1420"/>
              </a:lnSpc>
              <a:spcBef>
                <a:spcPts val="95"/>
              </a:spcBef>
            </a:pPr>
            <a:r>
              <a:rPr sz="1200" spc="-5" dirty="0">
                <a:solidFill>
                  <a:srgbClr val="FA0000"/>
                </a:solidFill>
                <a:latin typeface="Arial"/>
                <a:cs typeface="Arial"/>
              </a:rPr>
              <a:t>Note</a:t>
            </a:r>
            <a:endParaRPr sz="1200" dirty="0">
              <a:latin typeface="Arial"/>
              <a:cs typeface="Arial"/>
            </a:endParaRPr>
          </a:p>
          <a:p>
            <a:pPr marL="12700">
              <a:lnSpc>
                <a:spcPts val="1180"/>
              </a:lnSpc>
            </a:pPr>
            <a:r>
              <a:rPr sz="1000" spc="-10" dirty="0">
                <a:latin typeface="Arial"/>
                <a:cs typeface="Arial"/>
              </a:rPr>
              <a:t>Permanent</a:t>
            </a:r>
            <a:r>
              <a:rPr sz="1000" dirty="0">
                <a:latin typeface="Arial"/>
                <a:cs typeface="Arial"/>
              </a:rPr>
              <a:t> </a:t>
            </a:r>
            <a:r>
              <a:rPr sz="1000" spc="-15" dirty="0">
                <a:latin typeface="Arial"/>
                <a:cs typeface="Arial"/>
              </a:rPr>
              <a:t>moves</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tackled</a:t>
            </a:r>
            <a:r>
              <a:rPr sz="1000" spc="5"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another</a:t>
            </a:r>
            <a:r>
              <a:rPr sz="1000" dirty="0">
                <a:latin typeface="Arial"/>
                <a:cs typeface="Arial"/>
              </a:rPr>
              <a:t> </a:t>
            </a:r>
            <a:r>
              <a:rPr sz="1000" spc="-15" dirty="0">
                <a:latin typeface="Arial"/>
                <a:cs typeface="Arial"/>
              </a:rPr>
              <a:t>level</a:t>
            </a:r>
            <a:r>
              <a:rPr sz="1000"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naming</a:t>
            </a:r>
            <a:r>
              <a:rPr sz="1000" dirty="0">
                <a:latin typeface="Arial"/>
                <a:cs typeface="Arial"/>
              </a:rPr>
              <a:t> </a:t>
            </a:r>
            <a:r>
              <a:rPr sz="1000" spc="-5" dirty="0">
                <a:latin typeface="Arial"/>
                <a:cs typeface="Arial"/>
              </a:rPr>
              <a:t>(DNS)</a:t>
            </a:r>
            <a:endParaRPr sz="1000" dirty="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General</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mechanism</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5" dirty="0"/>
              <a:t>11</a:t>
            </a:fld>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Flat</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endParaRPr sz="600">
              <a:latin typeface="Arial"/>
              <a:cs typeface="Arial"/>
            </a:endParaRPr>
          </a:p>
        </p:txBody>
      </p:sp>
      <p:sp>
        <p:nvSpPr>
          <p:cNvPr id="3" name="object 3"/>
          <p:cNvSpPr txBox="1"/>
          <p:nvPr/>
        </p:nvSpPr>
        <p:spPr>
          <a:xfrm>
            <a:off x="3745674" y="716"/>
            <a:ext cx="7956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Distributed</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hash</a:t>
            </a:r>
            <a:r>
              <a:rPr sz="600" spc="-2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tables</a:t>
            </a:r>
            <a:endParaRPr sz="600">
              <a:latin typeface="Arial"/>
              <a:cs typeface="Arial"/>
            </a:endParaRPr>
          </a:p>
        </p:txBody>
      </p:sp>
      <p:sp>
        <p:nvSpPr>
          <p:cNvPr id="4" name="object 4"/>
          <p:cNvSpPr txBox="1"/>
          <p:nvPr/>
        </p:nvSpPr>
        <p:spPr>
          <a:xfrm>
            <a:off x="82600" y="188846"/>
            <a:ext cx="4216400" cy="2589530"/>
          </a:xfrm>
          <a:prstGeom prst="rect">
            <a:avLst/>
          </a:prstGeom>
        </p:spPr>
        <p:txBody>
          <a:bodyPr vert="horz" wrap="square" lIns="0" tIns="17145" rIns="0" bIns="0" rtlCol="0">
            <a:spAutoFit/>
          </a:bodyPr>
          <a:lstStyle/>
          <a:p>
            <a:pPr marL="25400">
              <a:lnSpc>
                <a:spcPct val="100000"/>
              </a:lnSpc>
              <a:spcBef>
                <a:spcPts val="135"/>
              </a:spcBef>
            </a:pPr>
            <a:r>
              <a:rPr sz="1400" spc="5" dirty="0">
                <a:solidFill>
                  <a:srgbClr val="3333B2"/>
                </a:solidFill>
                <a:latin typeface="Arial"/>
                <a:cs typeface="Arial"/>
              </a:rPr>
              <a:t>Illustrative:</a:t>
            </a:r>
            <a:r>
              <a:rPr sz="1400" spc="60" dirty="0">
                <a:solidFill>
                  <a:srgbClr val="3333B2"/>
                </a:solidFill>
                <a:latin typeface="Arial"/>
                <a:cs typeface="Arial"/>
              </a:rPr>
              <a:t> </a:t>
            </a:r>
            <a:r>
              <a:rPr sz="1400" spc="15" dirty="0">
                <a:solidFill>
                  <a:srgbClr val="3333B2"/>
                </a:solidFill>
                <a:latin typeface="Arial"/>
                <a:cs typeface="Arial"/>
              </a:rPr>
              <a:t>Chord</a:t>
            </a:r>
            <a:endParaRPr sz="1400" dirty="0">
              <a:latin typeface="Arial"/>
              <a:cs typeface="Arial"/>
            </a:endParaRPr>
          </a:p>
          <a:p>
            <a:pPr>
              <a:lnSpc>
                <a:spcPct val="100000"/>
              </a:lnSpc>
              <a:spcBef>
                <a:spcPts val="30"/>
              </a:spcBef>
            </a:pPr>
            <a:endParaRPr sz="2450" dirty="0">
              <a:latin typeface="Arial"/>
              <a:cs typeface="Arial"/>
            </a:endParaRPr>
          </a:p>
          <a:p>
            <a:pPr marL="276860">
              <a:lnSpc>
                <a:spcPct val="100000"/>
              </a:lnSpc>
            </a:pPr>
            <a:r>
              <a:rPr sz="1200" spc="-15" dirty="0">
                <a:solidFill>
                  <a:srgbClr val="3333B2"/>
                </a:solidFill>
                <a:latin typeface="Arial"/>
                <a:cs typeface="Arial"/>
              </a:rPr>
              <a:t>Consider</a:t>
            </a:r>
            <a:r>
              <a:rPr sz="1200" dirty="0">
                <a:solidFill>
                  <a:srgbClr val="3333B2"/>
                </a:solidFill>
                <a:latin typeface="Arial"/>
                <a:cs typeface="Arial"/>
              </a:rPr>
              <a:t> </a:t>
            </a:r>
            <a:r>
              <a:rPr sz="1200" spc="-15" dirty="0">
                <a:solidFill>
                  <a:srgbClr val="3333B2"/>
                </a:solidFill>
                <a:latin typeface="Arial"/>
                <a:cs typeface="Arial"/>
              </a:rPr>
              <a:t>the</a:t>
            </a:r>
            <a:r>
              <a:rPr sz="1200" dirty="0">
                <a:solidFill>
                  <a:srgbClr val="3333B2"/>
                </a:solidFill>
                <a:latin typeface="Arial"/>
                <a:cs typeface="Arial"/>
              </a:rPr>
              <a:t> </a:t>
            </a:r>
            <a:r>
              <a:rPr sz="1200" spc="-15" dirty="0">
                <a:solidFill>
                  <a:srgbClr val="3333B2"/>
                </a:solidFill>
                <a:latin typeface="Arial"/>
                <a:cs typeface="Arial"/>
              </a:rPr>
              <a:t>organization</a:t>
            </a:r>
            <a:r>
              <a:rPr sz="1200" spc="5" dirty="0">
                <a:solidFill>
                  <a:srgbClr val="3333B2"/>
                </a:solidFill>
                <a:latin typeface="Arial"/>
                <a:cs typeface="Arial"/>
              </a:rPr>
              <a:t> </a:t>
            </a:r>
            <a:r>
              <a:rPr sz="1200" spc="-15" dirty="0">
                <a:solidFill>
                  <a:srgbClr val="3333B2"/>
                </a:solidFill>
                <a:latin typeface="Arial"/>
                <a:cs typeface="Arial"/>
              </a:rPr>
              <a:t>of</a:t>
            </a:r>
            <a:r>
              <a:rPr sz="1200" dirty="0">
                <a:solidFill>
                  <a:srgbClr val="3333B2"/>
                </a:solidFill>
                <a:latin typeface="Arial"/>
                <a:cs typeface="Arial"/>
              </a:rPr>
              <a:t> </a:t>
            </a:r>
            <a:r>
              <a:rPr sz="1200" spc="-25" dirty="0">
                <a:solidFill>
                  <a:srgbClr val="3333B2"/>
                </a:solidFill>
                <a:latin typeface="Arial"/>
                <a:cs typeface="Arial"/>
              </a:rPr>
              <a:t>many</a:t>
            </a:r>
            <a:r>
              <a:rPr sz="1200" dirty="0">
                <a:solidFill>
                  <a:srgbClr val="3333B2"/>
                </a:solidFill>
                <a:latin typeface="Arial"/>
                <a:cs typeface="Arial"/>
              </a:rPr>
              <a:t> </a:t>
            </a:r>
            <a:r>
              <a:rPr sz="1200" spc="-15" dirty="0">
                <a:solidFill>
                  <a:srgbClr val="3333B2"/>
                </a:solidFill>
                <a:latin typeface="Arial"/>
                <a:cs typeface="Arial"/>
              </a:rPr>
              <a:t>nodes</a:t>
            </a:r>
            <a:r>
              <a:rPr sz="1200" spc="5" dirty="0">
                <a:solidFill>
                  <a:srgbClr val="3333B2"/>
                </a:solidFill>
                <a:latin typeface="Arial"/>
                <a:cs typeface="Arial"/>
              </a:rPr>
              <a:t> </a:t>
            </a:r>
            <a:r>
              <a:rPr sz="1200" spc="-15" dirty="0">
                <a:solidFill>
                  <a:srgbClr val="3333B2"/>
                </a:solidFill>
                <a:latin typeface="Arial"/>
                <a:cs typeface="Arial"/>
              </a:rPr>
              <a:t>into</a:t>
            </a:r>
            <a:r>
              <a:rPr sz="1200" dirty="0">
                <a:solidFill>
                  <a:srgbClr val="3333B2"/>
                </a:solidFill>
                <a:latin typeface="Arial"/>
                <a:cs typeface="Arial"/>
              </a:rPr>
              <a:t> </a:t>
            </a:r>
            <a:r>
              <a:rPr sz="1200" spc="-15" dirty="0">
                <a:solidFill>
                  <a:srgbClr val="3333B2"/>
                </a:solidFill>
                <a:latin typeface="Arial"/>
                <a:cs typeface="Arial"/>
              </a:rPr>
              <a:t>a</a:t>
            </a:r>
            <a:r>
              <a:rPr sz="1200" spc="5" dirty="0">
                <a:solidFill>
                  <a:srgbClr val="3333B2"/>
                </a:solidFill>
                <a:latin typeface="Arial"/>
                <a:cs typeface="Arial"/>
              </a:rPr>
              <a:t> </a:t>
            </a:r>
            <a:r>
              <a:rPr sz="1200" spc="-15" dirty="0">
                <a:solidFill>
                  <a:srgbClr val="0000FA"/>
                </a:solidFill>
                <a:latin typeface="Arial"/>
                <a:cs typeface="Arial"/>
              </a:rPr>
              <a:t>logical</a:t>
            </a:r>
            <a:r>
              <a:rPr sz="1200" dirty="0">
                <a:solidFill>
                  <a:srgbClr val="0000FA"/>
                </a:solidFill>
                <a:latin typeface="Arial"/>
                <a:cs typeface="Arial"/>
              </a:rPr>
              <a:t> </a:t>
            </a:r>
            <a:r>
              <a:rPr sz="1200" spc="-10" dirty="0">
                <a:solidFill>
                  <a:srgbClr val="0000FA"/>
                </a:solidFill>
                <a:latin typeface="Arial"/>
                <a:cs typeface="Arial"/>
              </a:rPr>
              <a:t>ring</a:t>
            </a:r>
            <a:endParaRPr sz="1200" dirty="0">
              <a:latin typeface="Arial"/>
              <a:cs typeface="Arial"/>
            </a:endParaRPr>
          </a:p>
          <a:p>
            <a:pPr marL="554355" indent="-168275">
              <a:lnSpc>
                <a:spcPts val="1200"/>
              </a:lnSpc>
              <a:spcBef>
                <a:spcPts val="790"/>
              </a:spcBef>
              <a:buClr>
                <a:srgbClr val="3333B2"/>
              </a:buClr>
              <a:buChar char="►"/>
              <a:tabLst>
                <a:tab pos="554990" algn="l"/>
              </a:tabLst>
            </a:pPr>
            <a:r>
              <a:rPr sz="1000" spc="-5" dirty="0">
                <a:latin typeface="Arial"/>
                <a:cs typeface="Arial"/>
              </a:rPr>
              <a:t>Each node is assigned a</a:t>
            </a:r>
            <a:r>
              <a:rPr sz="1000" dirty="0">
                <a:latin typeface="Arial"/>
                <a:cs typeface="Arial"/>
              </a:rPr>
              <a:t> </a:t>
            </a:r>
            <a:r>
              <a:rPr sz="1000" spc="-5" dirty="0">
                <a:latin typeface="Arial"/>
                <a:cs typeface="Arial"/>
              </a:rPr>
              <a:t>random </a:t>
            </a:r>
            <a:r>
              <a:rPr sz="1000" i="1" dirty="0">
                <a:latin typeface="Arial"/>
                <a:cs typeface="Arial"/>
              </a:rPr>
              <a:t>m</a:t>
            </a:r>
            <a:r>
              <a:rPr sz="1000" dirty="0">
                <a:latin typeface="Arial"/>
                <a:cs typeface="Arial"/>
              </a:rPr>
              <a:t>-bit</a:t>
            </a:r>
            <a:r>
              <a:rPr sz="1000" spc="-5" dirty="0">
                <a:latin typeface="Arial"/>
                <a:cs typeface="Arial"/>
              </a:rPr>
              <a:t> </a:t>
            </a:r>
            <a:r>
              <a:rPr sz="1000" spc="-5" dirty="0">
                <a:solidFill>
                  <a:srgbClr val="FA0000"/>
                </a:solidFill>
                <a:latin typeface="Arial"/>
                <a:cs typeface="Arial"/>
              </a:rPr>
              <a:t>identifier</a:t>
            </a:r>
            <a:r>
              <a:rPr sz="1000" spc="-5" dirty="0">
                <a:latin typeface="Arial"/>
                <a:cs typeface="Arial"/>
              </a:rPr>
              <a:t>.</a:t>
            </a:r>
            <a:endParaRPr sz="1000" dirty="0">
              <a:latin typeface="Arial"/>
              <a:cs typeface="Arial"/>
            </a:endParaRPr>
          </a:p>
          <a:p>
            <a:pPr marL="554355" indent="-168275">
              <a:lnSpc>
                <a:spcPts val="1195"/>
              </a:lnSpc>
              <a:buClr>
                <a:srgbClr val="3333B2"/>
              </a:buClr>
              <a:buChar char="►"/>
              <a:tabLst>
                <a:tab pos="554990" algn="l"/>
              </a:tabLst>
            </a:pPr>
            <a:r>
              <a:rPr sz="1000" spc="-5" dirty="0">
                <a:latin typeface="Arial"/>
                <a:cs typeface="Arial"/>
              </a:rPr>
              <a:t>Every entity is assigned a unique</a:t>
            </a:r>
            <a:r>
              <a:rPr sz="1000" dirty="0">
                <a:latin typeface="Arial"/>
                <a:cs typeface="Arial"/>
              </a:rPr>
              <a:t> </a:t>
            </a:r>
            <a:r>
              <a:rPr sz="1000" i="1" dirty="0">
                <a:latin typeface="Arial"/>
                <a:cs typeface="Arial"/>
              </a:rPr>
              <a:t>m</a:t>
            </a:r>
            <a:r>
              <a:rPr sz="1000" dirty="0">
                <a:latin typeface="Arial"/>
                <a:cs typeface="Arial"/>
              </a:rPr>
              <a:t>-bit</a:t>
            </a:r>
            <a:r>
              <a:rPr sz="1000" spc="-5" dirty="0">
                <a:latin typeface="Arial"/>
                <a:cs typeface="Arial"/>
              </a:rPr>
              <a:t> </a:t>
            </a:r>
            <a:r>
              <a:rPr sz="1000" spc="-15" dirty="0">
                <a:solidFill>
                  <a:srgbClr val="FA0000"/>
                </a:solidFill>
                <a:latin typeface="Arial"/>
                <a:cs typeface="Arial"/>
              </a:rPr>
              <a:t>key</a:t>
            </a:r>
            <a:r>
              <a:rPr sz="1000" spc="-15" dirty="0">
                <a:latin typeface="Arial"/>
                <a:cs typeface="Arial"/>
              </a:rPr>
              <a:t>.</a:t>
            </a:r>
            <a:endParaRPr sz="1000" dirty="0">
              <a:latin typeface="Arial"/>
              <a:cs typeface="Arial"/>
            </a:endParaRPr>
          </a:p>
          <a:p>
            <a:pPr marL="554355" indent="-168275">
              <a:lnSpc>
                <a:spcPts val="1195"/>
              </a:lnSpc>
              <a:buClr>
                <a:srgbClr val="3333B2"/>
              </a:buClr>
              <a:buChar char="►"/>
              <a:tabLst>
                <a:tab pos="554990" algn="l"/>
              </a:tabLst>
            </a:pPr>
            <a:r>
              <a:rPr sz="1000" spc="-5" dirty="0">
                <a:latin typeface="Arial"/>
                <a:cs typeface="Arial"/>
              </a:rPr>
              <a:t>Entity</a:t>
            </a:r>
            <a:r>
              <a:rPr sz="1000" dirty="0">
                <a:latin typeface="Arial"/>
                <a:cs typeface="Arial"/>
              </a:rPr>
              <a:t> </a:t>
            </a:r>
            <a:r>
              <a:rPr sz="1000" spc="-5" dirty="0">
                <a:latin typeface="Arial"/>
                <a:cs typeface="Arial"/>
              </a:rPr>
              <a:t>with</a:t>
            </a:r>
            <a:r>
              <a:rPr sz="1000" dirty="0">
                <a:latin typeface="Arial"/>
                <a:cs typeface="Arial"/>
              </a:rPr>
              <a:t> </a:t>
            </a:r>
            <a:r>
              <a:rPr sz="1000" spc="-20" dirty="0">
                <a:latin typeface="Arial"/>
                <a:cs typeface="Arial"/>
              </a:rPr>
              <a:t>key</a:t>
            </a:r>
            <a:r>
              <a:rPr sz="1000" spc="5" dirty="0">
                <a:latin typeface="Arial"/>
                <a:cs typeface="Arial"/>
              </a:rPr>
              <a:t> </a:t>
            </a:r>
            <a:r>
              <a:rPr sz="1000" i="1" spc="-5" dirty="0">
                <a:latin typeface="Arial"/>
                <a:cs typeface="Arial"/>
              </a:rPr>
              <a:t>k</a:t>
            </a:r>
            <a:r>
              <a:rPr sz="1000" i="1" spc="105" dirty="0">
                <a:latin typeface="Arial"/>
                <a:cs typeface="Arial"/>
              </a:rPr>
              <a:t> </a:t>
            </a:r>
            <a:r>
              <a:rPr sz="1000" spc="-10" dirty="0">
                <a:latin typeface="Arial"/>
                <a:cs typeface="Arial"/>
              </a:rPr>
              <a:t>falls</a:t>
            </a:r>
            <a:r>
              <a:rPr sz="1000" spc="5" dirty="0">
                <a:latin typeface="Arial"/>
                <a:cs typeface="Arial"/>
              </a:rPr>
              <a:t> </a:t>
            </a:r>
            <a:r>
              <a:rPr sz="1000" spc="-5" dirty="0">
                <a:latin typeface="Arial"/>
                <a:cs typeface="Arial"/>
              </a:rPr>
              <a:t>under</a:t>
            </a:r>
            <a:r>
              <a:rPr sz="1000" dirty="0">
                <a:latin typeface="Arial"/>
                <a:cs typeface="Arial"/>
              </a:rPr>
              <a:t> </a:t>
            </a:r>
            <a:r>
              <a:rPr sz="1000" spc="-5" dirty="0">
                <a:latin typeface="Arial"/>
                <a:cs typeface="Arial"/>
              </a:rPr>
              <a:t>jurisdiction</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smallest</a:t>
            </a:r>
            <a:endParaRPr sz="1000" dirty="0">
              <a:latin typeface="Arial"/>
              <a:cs typeface="Arial"/>
            </a:endParaRPr>
          </a:p>
          <a:p>
            <a:pPr marL="554355">
              <a:lnSpc>
                <a:spcPts val="1200"/>
              </a:lnSpc>
            </a:pPr>
            <a:r>
              <a:rPr sz="1000" i="1" spc="-5" dirty="0">
                <a:latin typeface="Arial"/>
                <a:cs typeface="Arial"/>
              </a:rPr>
              <a:t>id</a:t>
            </a:r>
            <a:r>
              <a:rPr sz="1000" i="1" spc="35"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k</a:t>
            </a:r>
            <a:r>
              <a:rPr sz="1000" i="1" spc="95" dirty="0">
                <a:latin typeface="Arial"/>
                <a:cs typeface="Arial"/>
              </a:rPr>
              <a:t> </a:t>
            </a:r>
            <a:r>
              <a:rPr sz="1000" spc="-5" dirty="0">
                <a:latin typeface="Arial"/>
                <a:cs typeface="Arial"/>
              </a:rPr>
              <a:t>(called its </a:t>
            </a:r>
            <a:r>
              <a:rPr sz="1000" spc="-5" dirty="0">
                <a:solidFill>
                  <a:srgbClr val="FA0000"/>
                </a:solidFill>
                <a:latin typeface="Arial"/>
                <a:cs typeface="Arial"/>
              </a:rPr>
              <a:t>successor </a:t>
            </a:r>
            <a:r>
              <a:rPr sz="1000" i="1" spc="-5" dirty="0">
                <a:latin typeface="Arial"/>
                <a:cs typeface="Arial"/>
              </a:rPr>
              <a:t>succ</a:t>
            </a:r>
            <a:r>
              <a:rPr sz="1000" spc="50" dirty="0">
                <a:latin typeface="Arial"/>
                <a:cs typeface="Arial"/>
              </a:rPr>
              <a:t>(</a:t>
            </a:r>
            <a:r>
              <a:rPr sz="1000" i="1" spc="-5" dirty="0">
                <a:latin typeface="Arial"/>
                <a:cs typeface="Arial"/>
              </a:rPr>
              <a:t>k</a:t>
            </a:r>
            <a:r>
              <a:rPr sz="1000" i="1" spc="-180" dirty="0">
                <a:latin typeface="Arial"/>
                <a:cs typeface="Arial"/>
              </a:rPr>
              <a:t> </a:t>
            </a:r>
            <a:r>
              <a:rPr sz="1000" spc="50" dirty="0">
                <a:latin typeface="Arial"/>
                <a:cs typeface="Arial"/>
              </a:rPr>
              <a:t>)</a:t>
            </a:r>
            <a:r>
              <a:rPr sz="1000" spc="-5" dirty="0">
                <a:latin typeface="Arial"/>
                <a:cs typeface="Arial"/>
              </a:rPr>
              <a:t>).</a:t>
            </a:r>
            <a:endParaRPr sz="1000" dirty="0">
              <a:latin typeface="Arial"/>
              <a:cs typeface="Arial"/>
            </a:endParaRPr>
          </a:p>
          <a:p>
            <a:pPr marL="276860">
              <a:lnSpc>
                <a:spcPts val="1410"/>
              </a:lnSpc>
              <a:spcBef>
                <a:spcPts val="1540"/>
              </a:spcBef>
            </a:pPr>
            <a:r>
              <a:rPr sz="1200" spc="-5" dirty="0">
                <a:solidFill>
                  <a:srgbClr val="FA0000"/>
                </a:solidFill>
                <a:latin typeface="Arial"/>
                <a:cs typeface="Arial"/>
              </a:rPr>
              <a:t>Nonsolution</a:t>
            </a:r>
            <a:endParaRPr sz="1200" dirty="0">
              <a:latin typeface="Arial"/>
              <a:cs typeface="Arial"/>
            </a:endParaRPr>
          </a:p>
          <a:p>
            <a:pPr marL="276860" marR="50165">
              <a:lnSpc>
                <a:spcPts val="1200"/>
              </a:lnSpc>
              <a:spcBef>
                <a:spcPts val="10"/>
              </a:spcBef>
            </a:pPr>
            <a:r>
              <a:rPr sz="1000" spc="-5" dirty="0">
                <a:latin typeface="Arial"/>
                <a:cs typeface="Arial"/>
              </a:rPr>
              <a:t>Let</a:t>
            </a:r>
            <a:r>
              <a:rPr sz="100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node</a:t>
            </a:r>
            <a:r>
              <a:rPr sz="1000" dirty="0">
                <a:latin typeface="Arial"/>
                <a:cs typeface="Arial"/>
              </a:rPr>
              <a:t> </a:t>
            </a:r>
            <a:r>
              <a:rPr sz="1000" spc="-10" dirty="0">
                <a:latin typeface="Arial"/>
                <a:cs typeface="Arial"/>
              </a:rPr>
              <a:t>keep</a:t>
            </a:r>
            <a:r>
              <a:rPr sz="1000" dirty="0">
                <a:latin typeface="Arial"/>
                <a:cs typeface="Arial"/>
              </a:rPr>
              <a:t> </a:t>
            </a:r>
            <a:r>
              <a:rPr sz="1000" spc="-10" dirty="0">
                <a:latin typeface="Arial"/>
                <a:cs typeface="Arial"/>
              </a:rPr>
              <a:t>track</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its</a:t>
            </a:r>
            <a:r>
              <a:rPr sz="1000" dirty="0">
                <a:latin typeface="Arial"/>
                <a:cs typeface="Arial"/>
              </a:rPr>
              <a:t> </a:t>
            </a:r>
            <a:r>
              <a:rPr sz="1000" spc="-5" dirty="0">
                <a:latin typeface="Arial"/>
                <a:cs typeface="Arial"/>
              </a:rPr>
              <a:t>neighbor</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start</a:t>
            </a:r>
            <a:r>
              <a:rPr sz="1000" dirty="0">
                <a:latin typeface="Arial"/>
                <a:cs typeface="Arial"/>
              </a:rPr>
              <a:t> </a:t>
            </a:r>
            <a:r>
              <a:rPr sz="1000" spc="-5" dirty="0">
                <a:latin typeface="Arial"/>
                <a:cs typeface="Arial"/>
              </a:rPr>
              <a:t>linear</a:t>
            </a:r>
            <a:r>
              <a:rPr sz="1000" dirty="0">
                <a:latin typeface="Arial"/>
                <a:cs typeface="Arial"/>
              </a:rPr>
              <a:t> </a:t>
            </a:r>
            <a:r>
              <a:rPr sz="1000" spc="-5" dirty="0">
                <a:latin typeface="Arial"/>
                <a:cs typeface="Arial"/>
              </a:rPr>
              <a:t>search</a:t>
            </a:r>
            <a:r>
              <a:rPr sz="1000" dirty="0">
                <a:latin typeface="Arial"/>
                <a:cs typeface="Arial"/>
              </a:rPr>
              <a:t> </a:t>
            </a:r>
            <a:r>
              <a:rPr sz="1000" spc="-5" dirty="0">
                <a:latin typeface="Arial"/>
                <a:cs typeface="Arial"/>
              </a:rPr>
              <a:t>along </a:t>
            </a:r>
            <a:r>
              <a:rPr sz="1000" spc="-265" dirty="0">
                <a:latin typeface="Arial"/>
                <a:cs typeface="Arial"/>
              </a:rPr>
              <a:t> </a:t>
            </a:r>
            <a:r>
              <a:rPr sz="1000" spc="-5" dirty="0">
                <a:latin typeface="Arial"/>
                <a:cs typeface="Arial"/>
              </a:rPr>
              <a:t>the</a:t>
            </a:r>
            <a:r>
              <a:rPr sz="1000" spc="-10" dirty="0">
                <a:latin typeface="Arial"/>
                <a:cs typeface="Arial"/>
              </a:rPr>
              <a:t> </a:t>
            </a:r>
            <a:r>
              <a:rPr sz="1000" dirty="0">
                <a:latin typeface="Arial"/>
                <a:cs typeface="Arial"/>
              </a:rPr>
              <a:t>ring.</a:t>
            </a:r>
          </a:p>
          <a:p>
            <a:pPr marL="276860">
              <a:lnSpc>
                <a:spcPts val="1420"/>
              </a:lnSpc>
              <a:spcBef>
                <a:spcPts val="650"/>
              </a:spcBef>
            </a:pPr>
            <a:r>
              <a:rPr sz="1200" spc="-5" dirty="0">
                <a:solidFill>
                  <a:srgbClr val="3333B2"/>
                </a:solidFill>
                <a:latin typeface="Arial"/>
                <a:cs typeface="Arial"/>
              </a:rPr>
              <a:t>Notation</a:t>
            </a:r>
            <a:endParaRPr sz="1200" dirty="0">
              <a:latin typeface="Arial"/>
              <a:cs typeface="Arial"/>
            </a:endParaRPr>
          </a:p>
          <a:p>
            <a:pPr marL="271145">
              <a:lnSpc>
                <a:spcPts val="1180"/>
              </a:lnSpc>
            </a:pPr>
            <a:r>
              <a:rPr sz="1000" spc="-20" dirty="0">
                <a:latin typeface="Arial"/>
                <a:cs typeface="Arial"/>
              </a:rPr>
              <a:t>We</a:t>
            </a:r>
            <a:r>
              <a:rPr sz="1000" spc="-5" dirty="0">
                <a:latin typeface="Arial"/>
                <a:cs typeface="Arial"/>
              </a:rPr>
              <a:t> will speak</a:t>
            </a:r>
            <a:r>
              <a:rPr sz="1000" dirty="0">
                <a:latin typeface="Arial"/>
                <a:cs typeface="Arial"/>
              </a:rPr>
              <a:t> </a:t>
            </a:r>
            <a:r>
              <a:rPr sz="1000" spc="-5" dirty="0">
                <a:latin typeface="Arial"/>
                <a:cs typeface="Arial"/>
              </a:rPr>
              <a:t>of node</a:t>
            </a:r>
            <a:r>
              <a:rPr sz="1000" dirty="0">
                <a:latin typeface="Arial"/>
                <a:cs typeface="Arial"/>
              </a:rPr>
              <a:t> </a:t>
            </a:r>
            <a:r>
              <a:rPr sz="1000" i="1" spc="-5" dirty="0">
                <a:latin typeface="Arial"/>
                <a:cs typeface="Arial"/>
              </a:rPr>
              <a:t>p</a:t>
            </a:r>
            <a:r>
              <a:rPr sz="1000" i="1" spc="25" dirty="0">
                <a:latin typeface="Arial"/>
                <a:cs typeface="Arial"/>
              </a:rPr>
              <a:t> </a:t>
            </a:r>
            <a:r>
              <a:rPr sz="1000" spc="-5" dirty="0">
                <a:latin typeface="Arial"/>
                <a:cs typeface="Arial"/>
              </a:rPr>
              <a:t>as the</a:t>
            </a:r>
            <a:r>
              <a:rPr sz="1000" dirty="0">
                <a:latin typeface="Arial"/>
                <a:cs typeface="Arial"/>
              </a:rPr>
              <a:t> </a:t>
            </a:r>
            <a:r>
              <a:rPr sz="1000" spc="-5" dirty="0">
                <a:latin typeface="Arial"/>
                <a:cs typeface="Arial"/>
              </a:rPr>
              <a:t>node </a:t>
            </a:r>
            <a:r>
              <a:rPr sz="1000" spc="-15" dirty="0">
                <a:latin typeface="Arial"/>
                <a:cs typeface="Arial"/>
              </a:rPr>
              <a:t>have</a:t>
            </a:r>
            <a:r>
              <a:rPr sz="1000" dirty="0">
                <a:latin typeface="Arial"/>
                <a:cs typeface="Arial"/>
              </a:rPr>
              <a:t> </a:t>
            </a:r>
            <a:r>
              <a:rPr sz="1000" spc="-5" dirty="0">
                <a:latin typeface="Arial"/>
                <a:cs typeface="Arial"/>
              </a:rPr>
              <a:t>identifier </a:t>
            </a:r>
            <a:r>
              <a:rPr sz="1000" i="1" spc="-5" dirty="0">
                <a:latin typeface="Arial"/>
                <a:cs typeface="Arial"/>
              </a:rPr>
              <a:t>p</a:t>
            </a:r>
            <a:endParaRPr sz="1000" dirty="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General</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745674" y="716"/>
            <a:ext cx="7956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Distributed</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hash</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tables</a:t>
            </a:r>
            <a:endParaRPr sz="600">
              <a:latin typeface="Arial"/>
              <a:cs typeface="Arial"/>
            </a:endParaRPr>
          </a:p>
        </p:txBody>
      </p:sp>
      <p:sp>
        <p:nvSpPr>
          <p:cNvPr id="4" name="object 4"/>
          <p:cNvSpPr txBox="1"/>
          <p:nvPr/>
        </p:nvSpPr>
        <p:spPr>
          <a:xfrm>
            <a:off x="82600" y="188846"/>
            <a:ext cx="4234180" cy="167068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Chord</a:t>
            </a:r>
            <a:r>
              <a:rPr sz="1400" spc="-15" dirty="0">
                <a:solidFill>
                  <a:srgbClr val="3333B2"/>
                </a:solidFill>
                <a:latin typeface="Arial"/>
                <a:cs typeface="Arial"/>
              </a:rPr>
              <a:t> </a:t>
            </a:r>
            <a:r>
              <a:rPr sz="1400" spc="10" dirty="0">
                <a:solidFill>
                  <a:srgbClr val="3333B2"/>
                </a:solidFill>
                <a:latin typeface="Arial"/>
                <a:cs typeface="Arial"/>
              </a:rPr>
              <a:t>finger</a:t>
            </a:r>
            <a:r>
              <a:rPr sz="1400" spc="-10" dirty="0">
                <a:solidFill>
                  <a:srgbClr val="3333B2"/>
                </a:solidFill>
                <a:latin typeface="Arial"/>
                <a:cs typeface="Arial"/>
              </a:rPr>
              <a:t> </a:t>
            </a:r>
            <a:r>
              <a:rPr sz="1400" spc="10" dirty="0">
                <a:solidFill>
                  <a:srgbClr val="3333B2"/>
                </a:solidFill>
                <a:latin typeface="Arial"/>
                <a:cs typeface="Arial"/>
              </a:rPr>
              <a:t>tables</a:t>
            </a:r>
            <a:endParaRPr sz="1400" dirty="0">
              <a:latin typeface="Arial"/>
              <a:cs typeface="Arial"/>
            </a:endParaRPr>
          </a:p>
          <a:p>
            <a:pPr>
              <a:lnSpc>
                <a:spcPct val="100000"/>
              </a:lnSpc>
              <a:spcBef>
                <a:spcPts val="25"/>
              </a:spcBef>
            </a:pPr>
            <a:endParaRPr sz="1800" dirty="0">
              <a:latin typeface="Arial"/>
              <a:cs typeface="Arial"/>
            </a:endParaRPr>
          </a:p>
          <a:p>
            <a:pPr marL="276860">
              <a:lnSpc>
                <a:spcPct val="100000"/>
              </a:lnSpc>
            </a:pPr>
            <a:r>
              <a:rPr sz="1200" spc="-5" dirty="0">
                <a:solidFill>
                  <a:srgbClr val="3333B2"/>
                </a:solidFill>
                <a:latin typeface="Arial"/>
                <a:cs typeface="Arial"/>
              </a:rPr>
              <a:t>Principle</a:t>
            </a:r>
            <a:endParaRPr sz="1200" dirty="0">
              <a:latin typeface="Arial"/>
              <a:cs typeface="Arial"/>
            </a:endParaRPr>
          </a:p>
          <a:p>
            <a:pPr marL="554355" indent="-168275">
              <a:lnSpc>
                <a:spcPct val="100000"/>
              </a:lnSpc>
              <a:spcBef>
                <a:spcPts val="775"/>
              </a:spcBef>
              <a:buClr>
                <a:srgbClr val="3333B2"/>
              </a:buClr>
              <a:buChar char="►"/>
              <a:tabLst>
                <a:tab pos="554990" algn="l"/>
              </a:tabLst>
            </a:pPr>
            <a:r>
              <a:rPr sz="1000" spc="-15" dirty="0">
                <a:latin typeface="Arial"/>
                <a:cs typeface="Arial"/>
              </a:rPr>
              <a:t>Each</a:t>
            </a:r>
            <a:r>
              <a:rPr sz="1000" spc="-5" dirty="0">
                <a:latin typeface="Arial"/>
                <a:cs typeface="Arial"/>
              </a:rPr>
              <a:t> </a:t>
            </a:r>
            <a:r>
              <a:rPr sz="1000" spc="-15" dirty="0">
                <a:latin typeface="Arial"/>
                <a:cs typeface="Arial"/>
              </a:rPr>
              <a:t>node</a:t>
            </a:r>
            <a:r>
              <a:rPr sz="1000" spc="-5" dirty="0">
                <a:latin typeface="Arial"/>
                <a:cs typeface="Arial"/>
              </a:rPr>
              <a:t> </a:t>
            </a:r>
            <a:r>
              <a:rPr sz="1000" i="1" spc="-5" dirty="0">
                <a:latin typeface="Arial"/>
                <a:cs typeface="Arial"/>
              </a:rPr>
              <a:t>p</a:t>
            </a:r>
            <a:r>
              <a:rPr sz="1000" i="1" spc="25" dirty="0">
                <a:latin typeface="Arial"/>
                <a:cs typeface="Arial"/>
              </a:rPr>
              <a:t> </a:t>
            </a:r>
            <a:r>
              <a:rPr sz="1000" spc="-15" dirty="0">
                <a:latin typeface="Arial"/>
                <a:cs typeface="Arial"/>
              </a:rPr>
              <a:t>maintains</a:t>
            </a:r>
            <a:r>
              <a:rPr sz="1000" dirty="0">
                <a:latin typeface="Arial"/>
                <a:cs typeface="Arial"/>
              </a:rPr>
              <a:t> </a:t>
            </a:r>
            <a:r>
              <a:rPr sz="1000" spc="-15" dirty="0">
                <a:latin typeface="Arial"/>
                <a:cs typeface="Arial"/>
              </a:rPr>
              <a:t>a</a:t>
            </a:r>
            <a:r>
              <a:rPr sz="1000" spc="-5" dirty="0">
                <a:latin typeface="Arial"/>
                <a:cs typeface="Arial"/>
              </a:rPr>
              <a:t> </a:t>
            </a:r>
            <a:r>
              <a:rPr sz="1000" spc="-10" dirty="0">
                <a:solidFill>
                  <a:srgbClr val="FA0000"/>
                </a:solidFill>
                <a:latin typeface="Arial"/>
                <a:cs typeface="Arial"/>
              </a:rPr>
              <a:t>finger</a:t>
            </a:r>
            <a:r>
              <a:rPr sz="1000" spc="-5" dirty="0">
                <a:solidFill>
                  <a:srgbClr val="FA0000"/>
                </a:solidFill>
                <a:latin typeface="Arial"/>
                <a:cs typeface="Arial"/>
              </a:rPr>
              <a:t> </a:t>
            </a:r>
            <a:r>
              <a:rPr sz="1000" spc="-15" dirty="0">
                <a:solidFill>
                  <a:srgbClr val="FA0000"/>
                </a:solidFill>
                <a:latin typeface="Arial"/>
                <a:cs typeface="Arial"/>
              </a:rPr>
              <a:t>table</a:t>
            </a:r>
            <a:r>
              <a:rPr sz="1000" dirty="0">
                <a:solidFill>
                  <a:srgbClr val="FA0000"/>
                </a:solidFill>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spc="5" dirty="0">
                <a:latin typeface="Arial"/>
                <a:cs typeface="Arial"/>
              </a:rPr>
              <a:t>[]</a:t>
            </a:r>
            <a:r>
              <a:rPr sz="1000" spc="-5" dirty="0">
                <a:latin typeface="Arial"/>
                <a:cs typeface="Arial"/>
              </a:rPr>
              <a:t> </a:t>
            </a:r>
            <a:r>
              <a:rPr sz="1000" spc="-15" dirty="0">
                <a:latin typeface="Arial"/>
                <a:cs typeface="Arial"/>
              </a:rPr>
              <a:t>with</a:t>
            </a:r>
            <a:r>
              <a:rPr sz="1000" spc="-5" dirty="0">
                <a:latin typeface="Arial"/>
                <a:cs typeface="Arial"/>
              </a:rPr>
              <a:t> </a:t>
            </a:r>
            <a:r>
              <a:rPr sz="1000" spc="-10" dirty="0">
                <a:latin typeface="Arial"/>
                <a:cs typeface="Arial"/>
              </a:rPr>
              <a:t>at</a:t>
            </a:r>
            <a:r>
              <a:rPr sz="1000" dirty="0">
                <a:latin typeface="Arial"/>
                <a:cs typeface="Arial"/>
              </a:rPr>
              <a:t> </a:t>
            </a:r>
            <a:r>
              <a:rPr sz="1000" spc="-15" dirty="0">
                <a:latin typeface="Arial"/>
                <a:cs typeface="Arial"/>
              </a:rPr>
              <a:t>most</a:t>
            </a:r>
            <a:r>
              <a:rPr sz="1000" spc="-5" dirty="0">
                <a:latin typeface="Arial"/>
                <a:cs typeface="Arial"/>
              </a:rPr>
              <a:t> </a:t>
            </a:r>
            <a:r>
              <a:rPr sz="1000" i="1" spc="-20" dirty="0">
                <a:latin typeface="Arial"/>
                <a:cs typeface="Arial"/>
              </a:rPr>
              <a:t>m</a:t>
            </a:r>
            <a:r>
              <a:rPr sz="1000" i="1" spc="15" dirty="0">
                <a:latin typeface="Arial"/>
                <a:cs typeface="Arial"/>
              </a:rPr>
              <a:t> </a:t>
            </a:r>
            <a:r>
              <a:rPr sz="1000" spc="-10" dirty="0">
                <a:latin typeface="Arial"/>
                <a:cs typeface="Arial"/>
              </a:rPr>
              <a:t>entries:</a:t>
            </a:r>
            <a:endParaRPr sz="1000" dirty="0">
              <a:latin typeface="Arial"/>
              <a:cs typeface="Arial"/>
            </a:endParaRPr>
          </a:p>
          <a:p>
            <a:pPr marL="1720214">
              <a:lnSpc>
                <a:spcPct val="100000"/>
              </a:lnSpc>
              <a:spcBef>
                <a:spcPts val="1140"/>
              </a:spcBef>
            </a:pP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i</a:t>
            </a:r>
            <a:r>
              <a:rPr sz="1000" i="1" spc="-195"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2</a:t>
            </a:r>
            <a:r>
              <a:rPr sz="1050" i="1" spc="97" baseline="31746" dirty="0">
                <a:latin typeface="Arial"/>
                <a:cs typeface="Arial"/>
              </a:rPr>
              <a:t>i</a:t>
            </a:r>
            <a:r>
              <a:rPr sz="1050" i="1" spc="15" baseline="31746" dirty="0">
                <a:latin typeface="メイリオ"/>
                <a:cs typeface="メイリオ"/>
              </a:rPr>
              <a:t>−</a:t>
            </a:r>
            <a:r>
              <a:rPr sz="1050" spc="97" baseline="31746" dirty="0">
                <a:latin typeface="Arial"/>
                <a:cs typeface="Arial"/>
              </a:rPr>
              <a:t>1</a:t>
            </a:r>
            <a:r>
              <a:rPr sz="1000" spc="50" dirty="0">
                <a:latin typeface="Arial"/>
                <a:cs typeface="Arial"/>
              </a:rPr>
              <a:t>)</a:t>
            </a:r>
            <a:endParaRPr sz="1000" dirty="0">
              <a:latin typeface="Arial"/>
              <a:cs typeface="Arial"/>
            </a:endParaRPr>
          </a:p>
          <a:p>
            <a:pPr marL="554355" marR="236220">
              <a:lnSpc>
                <a:spcPct val="100000"/>
              </a:lnSpc>
              <a:spcBef>
                <a:spcPts val="995"/>
              </a:spcBef>
            </a:pPr>
            <a:r>
              <a:rPr sz="1000" spc="-5" dirty="0">
                <a:solidFill>
                  <a:srgbClr val="FA0000"/>
                </a:solidFill>
                <a:latin typeface="Arial"/>
                <a:cs typeface="Arial"/>
              </a:rPr>
              <a:t>Note</a:t>
            </a:r>
            <a:r>
              <a:rPr sz="1000" spc="-5" dirty="0">
                <a:latin typeface="Arial"/>
                <a:cs typeface="Arial"/>
              </a:rPr>
              <a:t>: the </a:t>
            </a:r>
            <a:r>
              <a:rPr sz="1000" i="1" spc="-5" dirty="0">
                <a:latin typeface="Arial"/>
                <a:cs typeface="Arial"/>
              </a:rPr>
              <a:t>i </a:t>
            </a:r>
            <a:r>
              <a:rPr sz="1000" spc="-5" dirty="0">
                <a:latin typeface="Arial"/>
                <a:cs typeface="Arial"/>
              </a:rPr>
              <a:t>-th </a:t>
            </a:r>
            <a:r>
              <a:rPr sz="1000" dirty="0">
                <a:latin typeface="Arial"/>
                <a:cs typeface="Arial"/>
              </a:rPr>
              <a:t>entry </a:t>
            </a:r>
            <a:r>
              <a:rPr sz="1000" spc="-5" dirty="0">
                <a:latin typeface="Arial"/>
                <a:cs typeface="Arial"/>
              </a:rPr>
              <a:t>points to the first node succeeding </a:t>
            </a:r>
            <a:r>
              <a:rPr sz="1000" i="1" spc="-5" dirty="0">
                <a:latin typeface="Arial"/>
                <a:cs typeface="Arial"/>
              </a:rPr>
              <a:t>p </a:t>
            </a:r>
            <a:r>
              <a:rPr sz="1000" spc="-15" dirty="0">
                <a:latin typeface="Arial"/>
                <a:cs typeface="Arial"/>
              </a:rPr>
              <a:t>by </a:t>
            </a:r>
            <a:r>
              <a:rPr sz="1000" spc="-5" dirty="0">
                <a:latin typeface="Arial"/>
                <a:cs typeface="Arial"/>
              </a:rPr>
              <a:t>at </a:t>
            </a:r>
            <a:r>
              <a:rPr sz="1000" spc="-265" dirty="0">
                <a:latin typeface="Arial"/>
                <a:cs typeface="Arial"/>
              </a:rPr>
              <a:t> </a:t>
            </a:r>
            <a:r>
              <a:rPr sz="1000" spc="-5" dirty="0">
                <a:latin typeface="Arial"/>
                <a:cs typeface="Arial"/>
              </a:rPr>
              <a:t>least</a:t>
            </a:r>
            <a:r>
              <a:rPr sz="1000" spc="-10" dirty="0">
                <a:latin typeface="Arial"/>
                <a:cs typeface="Arial"/>
              </a:rPr>
              <a:t> </a:t>
            </a:r>
            <a:r>
              <a:rPr sz="1000" spc="25" dirty="0">
                <a:latin typeface="Arial"/>
                <a:cs typeface="Arial"/>
              </a:rPr>
              <a:t>2</a:t>
            </a:r>
            <a:r>
              <a:rPr sz="1050" i="1" spc="37" baseline="27777" dirty="0">
                <a:latin typeface="Arial"/>
                <a:cs typeface="Arial"/>
              </a:rPr>
              <a:t>i</a:t>
            </a:r>
            <a:r>
              <a:rPr sz="1050" i="1" spc="37" baseline="27777" dirty="0">
                <a:latin typeface="メイリオ"/>
                <a:cs typeface="メイリオ"/>
              </a:rPr>
              <a:t>−</a:t>
            </a:r>
            <a:r>
              <a:rPr sz="1050" spc="37" baseline="27777" dirty="0">
                <a:latin typeface="Arial"/>
                <a:cs typeface="Arial"/>
              </a:rPr>
              <a:t>1</a:t>
            </a:r>
            <a:r>
              <a:rPr sz="1000" spc="25" dirty="0">
                <a:latin typeface="Arial"/>
                <a:cs typeface="Arial"/>
              </a:rPr>
              <a:t>.</a:t>
            </a:r>
            <a:endParaRPr sz="1000" dirty="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General</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745674" y="716"/>
            <a:ext cx="7956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Distributed</a:t>
            </a:r>
            <a:r>
              <a:rPr sz="600" spc="-2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hash</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tables</a:t>
            </a:r>
            <a:endParaRPr sz="600">
              <a:latin typeface="Arial"/>
              <a:cs typeface="Arial"/>
            </a:endParaRPr>
          </a:p>
        </p:txBody>
      </p:sp>
      <p:sp>
        <p:nvSpPr>
          <p:cNvPr id="4" name="object 4"/>
          <p:cNvSpPr txBox="1"/>
          <p:nvPr/>
        </p:nvSpPr>
        <p:spPr>
          <a:xfrm>
            <a:off x="82600" y="188846"/>
            <a:ext cx="4234180" cy="232854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Chord</a:t>
            </a:r>
            <a:r>
              <a:rPr sz="1400" spc="-15" dirty="0">
                <a:solidFill>
                  <a:srgbClr val="3333B2"/>
                </a:solidFill>
                <a:latin typeface="Arial"/>
                <a:cs typeface="Arial"/>
              </a:rPr>
              <a:t> </a:t>
            </a:r>
            <a:r>
              <a:rPr sz="1400" spc="10" dirty="0">
                <a:solidFill>
                  <a:srgbClr val="3333B2"/>
                </a:solidFill>
                <a:latin typeface="Arial"/>
                <a:cs typeface="Arial"/>
              </a:rPr>
              <a:t>finger</a:t>
            </a:r>
            <a:r>
              <a:rPr sz="1400" spc="-10" dirty="0">
                <a:solidFill>
                  <a:srgbClr val="3333B2"/>
                </a:solidFill>
                <a:latin typeface="Arial"/>
                <a:cs typeface="Arial"/>
              </a:rPr>
              <a:t> </a:t>
            </a:r>
            <a:r>
              <a:rPr sz="1400" spc="10" dirty="0">
                <a:solidFill>
                  <a:srgbClr val="3333B2"/>
                </a:solidFill>
                <a:latin typeface="Arial"/>
                <a:cs typeface="Arial"/>
              </a:rPr>
              <a:t>tables</a:t>
            </a:r>
            <a:endParaRPr sz="1400">
              <a:latin typeface="Arial"/>
              <a:cs typeface="Arial"/>
            </a:endParaRPr>
          </a:p>
          <a:p>
            <a:pPr>
              <a:lnSpc>
                <a:spcPct val="100000"/>
              </a:lnSpc>
              <a:spcBef>
                <a:spcPts val="25"/>
              </a:spcBef>
            </a:pPr>
            <a:endParaRPr sz="1800">
              <a:latin typeface="Arial"/>
              <a:cs typeface="Arial"/>
            </a:endParaRPr>
          </a:p>
          <a:p>
            <a:pPr marL="276860">
              <a:lnSpc>
                <a:spcPct val="100000"/>
              </a:lnSpc>
            </a:pPr>
            <a:r>
              <a:rPr sz="1200" spc="-5" dirty="0">
                <a:solidFill>
                  <a:srgbClr val="3333B2"/>
                </a:solidFill>
                <a:latin typeface="Arial"/>
                <a:cs typeface="Arial"/>
              </a:rPr>
              <a:t>Principle</a:t>
            </a:r>
            <a:endParaRPr sz="1200">
              <a:latin typeface="Arial"/>
              <a:cs typeface="Arial"/>
            </a:endParaRPr>
          </a:p>
          <a:p>
            <a:pPr marL="554355" indent="-168275">
              <a:lnSpc>
                <a:spcPct val="100000"/>
              </a:lnSpc>
              <a:spcBef>
                <a:spcPts val="775"/>
              </a:spcBef>
              <a:buClr>
                <a:srgbClr val="3333B2"/>
              </a:buClr>
              <a:buChar char="►"/>
              <a:tabLst>
                <a:tab pos="554990" algn="l"/>
              </a:tabLst>
            </a:pPr>
            <a:r>
              <a:rPr sz="1000" spc="-15" dirty="0">
                <a:latin typeface="Arial"/>
                <a:cs typeface="Arial"/>
              </a:rPr>
              <a:t>Each</a:t>
            </a:r>
            <a:r>
              <a:rPr sz="1000" spc="-5" dirty="0">
                <a:latin typeface="Arial"/>
                <a:cs typeface="Arial"/>
              </a:rPr>
              <a:t> </a:t>
            </a:r>
            <a:r>
              <a:rPr sz="1000" spc="-15" dirty="0">
                <a:latin typeface="Arial"/>
                <a:cs typeface="Arial"/>
              </a:rPr>
              <a:t>node</a:t>
            </a:r>
            <a:r>
              <a:rPr sz="1000" spc="-5" dirty="0">
                <a:latin typeface="Arial"/>
                <a:cs typeface="Arial"/>
              </a:rPr>
              <a:t> </a:t>
            </a:r>
            <a:r>
              <a:rPr sz="1000" i="1" spc="-5" dirty="0">
                <a:latin typeface="Arial"/>
                <a:cs typeface="Arial"/>
              </a:rPr>
              <a:t>p</a:t>
            </a:r>
            <a:r>
              <a:rPr sz="1000" i="1" spc="25" dirty="0">
                <a:latin typeface="Arial"/>
                <a:cs typeface="Arial"/>
              </a:rPr>
              <a:t> </a:t>
            </a:r>
            <a:r>
              <a:rPr sz="1000" spc="-15" dirty="0">
                <a:latin typeface="Arial"/>
                <a:cs typeface="Arial"/>
              </a:rPr>
              <a:t>maintains</a:t>
            </a:r>
            <a:r>
              <a:rPr sz="1000" dirty="0">
                <a:latin typeface="Arial"/>
                <a:cs typeface="Arial"/>
              </a:rPr>
              <a:t> </a:t>
            </a:r>
            <a:r>
              <a:rPr sz="1000" spc="-15" dirty="0">
                <a:latin typeface="Arial"/>
                <a:cs typeface="Arial"/>
              </a:rPr>
              <a:t>a</a:t>
            </a:r>
            <a:r>
              <a:rPr sz="1000" spc="-5" dirty="0">
                <a:latin typeface="Arial"/>
                <a:cs typeface="Arial"/>
              </a:rPr>
              <a:t> </a:t>
            </a:r>
            <a:r>
              <a:rPr sz="1000" spc="-10" dirty="0">
                <a:solidFill>
                  <a:srgbClr val="FA0000"/>
                </a:solidFill>
                <a:latin typeface="Arial"/>
                <a:cs typeface="Arial"/>
              </a:rPr>
              <a:t>finger</a:t>
            </a:r>
            <a:r>
              <a:rPr sz="1000" spc="-5" dirty="0">
                <a:solidFill>
                  <a:srgbClr val="FA0000"/>
                </a:solidFill>
                <a:latin typeface="Arial"/>
                <a:cs typeface="Arial"/>
              </a:rPr>
              <a:t> </a:t>
            </a:r>
            <a:r>
              <a:rPr sz="1000" spc="-15" dirty="0">
                <a:solidFill>
                  <a:srgbClr val="FA0000"/>
                </a:solidFill>
                <a:latin typeface="Arial"/>
                <a:cs typeface="Arial"/>
              </a:rPr>
              <a:t>table</a:t>
            </a:r>
            <a:r>
              <a:rPr sz="1000" dirty="0">
                <a:solidFill>
                  <a:srgbClr val="FA0000"/>
                </a:solidFill>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spc="5" dirty="0">
                <a:latin typeface="Arial"/>
                <a:cs typeface="Arial"/>
              </a:rPr>
              <a:t>[]</a:t>
            </a:r>
            <a:r>
              <a:rPr sz="1000" spc="-5" dirty="0">
                <a:latin typeface="Arial"/>
                <a:cs typeface="Arial"/>
              </a:rPr>
              <a:t> </a:t>
            </a:r>
            <a:r>
              <a:rPr sz="1000" spc="-15" dirty="0">
                <a:latin typeface="Arial"/>
                <a:cs typeface="Arial"/>
              </a:rPr>
              <a:t>with</a:t>
            </a:r>
            <a:r>
              <a:rPr sz="1000" spc="-5" dirty="0">
                <a:latin typeface="Arial"/>
                <a:cs typeface="Arial"/>
              </a:rPr>
              <a:t> </a:t>
            </a:r>
            <a:r>
              <a:rPr sz="1000" spc="-10" dirty="0">
                <a:latin typeface="Arial"/>
                <a:cs typeface="Arial"/>
              </a:rPr>
              <a:t>at</a:t>
            </a:r>
            <a:r>
              <a:rPr sz="1000" dirty="0">
                <a:latin typeface="Arial"/>
                <a:cs typeface="Arial"/>
              </a:rPr>
              <a:t> </a:t>
            </a:r>
            <a:r>
              <a:rPr sz="1000" spc="-15" dirty="0">
                <a:latin typeface="Arial"/>
                <a:cs typeface="Arial"/>
              </a:rPr>
              <a:t>most</a:t>
            </a:r>
            <a:r>
              <a:rPr sz="1000" spc="-5" dirty="0">
                <a:latin typeface="Arial"/>
                <a:cs typeface="Arial"/>
              </a:rPr>
              <a:t> </a:t>
            </a:r>
            <a:r>
              <a:rPr sz="1000" i="1" spc="-20" dirty="0">
                <a:latin typeface="Arial"/>
                <a:cs typeface="Arial"/>
              </a:rPr>
              <a:t>m</a:t>
            </a:r>
            <a:r>
              <a:rPr sz="1000" i="1" spc="15" dirty="0">
                <a:latin typeface="Arial"/>
                <a:cs typeface="Arial"/>
              </a:rPr>
              <a:t> </a:t>
            </a:r>
            <a:r>
              <a:rPr sz="1000" spc="-10" dirty="0">
                <a:latin typeface="Arial"/>
                <a:cs typeface="Arial"/>
              </a:rPr>
              <a:t>entries:</a:t>
            </a:r>
            <a:endParaRPr sz="1000">
              <a:latin typeface="Arial"/>
              <a:cs typeface="Arial"/>
            </a:endParaRPr>
          </a:p>
          <a:p>
            <a:pPr marL="485775" algn="ctr">
              <a:lnSpc>
                <a:spcPct val="100000"/>
              </a:lnSpc>
              <a:spcBef>
                <a:spcPts val="1140"/>
              </a:spcBef>
            </a:pP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i</a:t>
            </a:r>
            <a:r>
              <a:rPr sz="1000" i="1" spc="-195"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2</a:t>
            </a:r>
            <a:r>
              <a:rPr sz="1050" i="1" spc="97" baseline="31746" dirty="0">
                <a:latin typeface="Arial"/>
                <a:cs typeface="Arial"/>
              </a:rPr>
              <a:t>i</a:t>
            </a:r>
            <a:r>
              <a:rPr sz="1050" i="1" spc="15" baseline="31746" dirty="0">
                <a:latin typeface="メイリオ"/>
                <a:cs typeface="メイリオ"/>
              </a:rPr>
              <a:t>−</a:t>
            </a:r>
            <a:r>
              <a:rPr sz="1050" spc="97" baseline="31746" dirty="0">
                <a:latin typeface="Arial"/>
                <a:cs typeface="Arial"/>
              </a:rPr>
              <a:t>1</a:t>
            </a:r>
            <a:r>
              <a:rPr sz="1000" spc="50" dirty="0">
                <a:latin typeface="Arial"/>
                <a:cs typeface="Arial"/>
              </a:rPr>
              <a:t>)</a:t>
            </a:r>
            <a:endParaRPr sz="1000">
              <a:latin typeface="Arial"/>
              <a:cs typeface="Arial"/>
            </a:endParaRPr>
          </a:p>
          <a:p>
            <a:pPr marL="554355" marR="236220">
              <a:lnSpc>
                <a:spcPct val="100000"/>
              </a:lnSpc>
              <a:spcBef>
                <a:spcPts val="995"/>
              </a:spcBef>
            </a:pPr>
            <a:r>
              <a:rPr sz="1000" spc="-5" dirty="0">
                <a:solidFill>
                  <a:srgbClr val="FA0000"/>
                </a:solidFill>
                <a:latin typeface="Arial"/>
                <a:cs typeface="Arial"/>
              </a:rPr>
              <a:t>Note</a:t>
            </a:r>
            <a:r>
              <a:rPr sz="1000" spc="-5" dirty="0">
                <a:latin typeface="Arial"/>
                <a:cs typeface="Arial"/>
              </a:rPr>
              <a:t>: the </a:t>
            </a:r>
            <a:r>
              <a:rPr sz="1000" i="1" spc="-5" dirty="0">
                <a:latin typeface="Arial"/>
                <a:cs typeface="Arial"/>
              </a:rPr>
              <a:t>i </a:t>
            </a:r>
            <a:r>
              <a:rPr sz="1000" spc="-5" dirty="0">
                <a:latin typeface="Arial"/>
                <a:cs typeface="Arial"/>
              </a:rPr>
              <a:t>-th </a:t>
            </a:r>
            <a:r>
              <a:rPr sz="1000" dirty="0">
                <a:latin typeface="Arial"/>
                <a:cs typeface="Arial"/>
              </a:rPr>
              <a:t>entry </a:t>
            </a:r>
            <a:r>
              <a:rPr sz="1000" spc="-5" dirty="0">
                <a:latin typeface="Arial"/>
                <a:cs typeface="Arial"/>
              </a:rPr>
              <a:t>points to the first node succeeding </a:t>
            </a:r>
            <a:r>
              <a:rPr sz="1000" i="1" spc="-5" dirty="0">
                <a:latin typeface="Arial"/>
                <a:cs typeface="Arial"/>
              </a:rPr>
              <a:t>p </a:t>
            </a:r>
            <a:r>
              <a:rPr sz="1000" spc="-15" dirty="0">
                <a:latin typeface="Arial"/>
                <a:cs typeface="Arial"/>
              </a:rPr>
              <a:t>by </a:t>
            </a:r>
            <a:r>
              <a:rPr sz="1000" spc="-5" dirty="0">
                <a:latin typeface="Arial"/>
                <a:cs typeface="Arial"/>
              </a:rPr>
              <a:t>at </a:t>
            </a:r>
            <a:r>
              <a:rPr sz="1000" spc="-265" dirty="0">
                <a:latin typeface="Arial"/>
                <a:cs typeface="Arial"/>
              </a:rPr>
              <a:t> </a:t>
            </a:r>
            <a:r>
              <a:rPr sz="1000" spc="-5" dirty="0">
                <a:latin typeface="Arial"/>
                <a:cs typeface="Arial"/>
              </a:rPr>
              <a:t>least</a:t>
            </a:r>
            <a:r>
              <a:rPr sz="1000" spc="-10" dirty="0">
                <a:latin typeface="Arial"/>
                <a:cs typeface="Arial"/>
              </a:rPr>
              <a:t> </a:t>
            </a:r>
            <a:r>
              <a:rPr sz="1000" spc="25" dirty="0">
                <a:latin typeface="Arial"/>
                <a:cs typeface="Arial"/>
              </a:rPr>
              <a:t>2</a:t>
            </a:r>
            <a:r>
              <a:rPr sz="1050" i="1" spc="37" baseline="27777" dirty="0">
                <a:latin typeface="Arial"/>
                <a:cs typeface="Arial"/>
              </a:rPr>
              <a:t>i</a:t>
            </a:r>
            <a:r>
              <a:rPr sz="1050" i="1" spc="37" baseline="27777" dirty="0">
                <a:latin typeface="メイリオ"/>
                <a:cs typeface="メイリオ"/>
              </a:rPr>
              <a:t>−</a:t>
            </a:r>
            <a:r>
              <a:rPr sz="1050" spc="37" baseline="27777" dirty="0">
                <a:latin typeface="Arial"/>
                <a:cs typeface="Arial"/>
              </a:rPr>
              <a:t>1</a:t>
            </a:r>
            <a:r>
              <a:rPr sz="1000" spc="25" dirty="0">
                <a:latin typeface="Arial"/>
                <a:cs typeface="Arial"/>
              </a:rPr>
              <a:t>.</a:t>
            </a:r>
            <a:endParaRPr sz="1000">
              <a:latin typeface="Arial"/>
              <a:cs typeface="Arial"/>
            </a:endParaRPr>
          </a:p>
          <a:p>
            <a:pPr marL="554355" marR="291465" indent="-168275">
              <a:lnSpc>
                <a:spcPct val="100000"/>
              </a:lnSpc>
              <a:spcBef>
                <a:spcPts val="585"/>
              </a:spcBef>
              <a:buClr>
                <a:srgbClr val="3333B2"/>
              </a:buClr>
              <a:buChar char="►"/>
              <a:tabLst>
                <a:tab pos="554990" algn="l"/>
              </a:tabLst>
            </a:pPr>
            <a:r>
              <a:rPr sz="1000" spc="-65" dirty="0">
                <a:latin typeface="Arial"/>
                <a:cs typeface="Arial"/>
              </a:rPr>
              <a:t>To </a:t>
            </a:r>
            <a:r>
              <a:rPr sz="1000" spc="-5" dirty="0">
                <a:latin typeface="Arial"/>
                <a:cs typeface="Arial"/>
              </a:rPr>
              <a:t>look up a </a:t>
            </a:r>
            <a:r>
              <a:rPr sz="1000" spc="-20" dirty="0">
                <a:latin typeface="Arial"/>
                <a:cs typeface="Arial"/>
              </a:rPr>
              <a:t>key </a:t>
            </a:r>
            <a:r>
              <a:rPr sz="1000" i="1" spc="-5" dirty="0">
                <a:latin typeface="Arial"/>
                <a:cs typeface="Arial"/>
              </a:rPr>
              <a:t>k </a:t>
            </a:r>
            <a:r>
              <a:rPr sz="1000" spc="-5" dirty="0">
                <a:latin typeface="Arial"/>
                <a:cs typeface="Arial"/>
              </a:rPr>
              <a:t>, node </a:t>
            </a:r>
            <a:r>
              <a:rPr sz="1000" i="1" spc="-5" dirty="0">
                <a:latin typeface="Arial"/>
                <a:cs typeface="Arial"/>
              </a:rPr>
              <a:t>p </a:t>
            </a:r>
            <a:r>
              <a:rPr sz="1000" spc="-10" dirty="0">
                <a:latin typeface="Arial"/>
                <a:cs typeface="Arial"/>
              </a:rPr>
              <a:t>forwards </a:t>
            </a:r>
            <a:r>
              <a:rPr sz="1000" spc="-5" dirty="0">
                <a:latin typeface="Arial"/>
                <a:cs typeface="Arial"/>
              </a:rPr>
              <a:t>the request to node with </a:t>
            </a:r>
            <a:r>
              <a:rPr sz="1000" spc="-265" dirty="0">
                <a:latin typeface="Arial"/>
                <a:cs typeface="Arial"/>
              </a:rPr>
              <a:t> </a:t>
            </a:r>
            <a:r>
              <a:rPr sz="1000" spc="-10" dirty="0">
                <a:latin typeface="Arial"/>
                <a:cs typeface="Arial"/>
              </a:rPr>
              <a:t>index </a:t>
            </a:r>
            <a:r>
              <a:rPr sz="1000" i="1" spc="-5" dirty="0">
                <a:latin typeface="Arial"/>
                <a:cs typeface="Arial"/>
              </a:rPr>
              <a:t>j</a:t>
            </a:r>
            <a:r>
              <a:rPr sz="1000" i="1" spc="80" dirty="0">
                <a:latin typeface="Arial"/>
                <a:cs typeface="Arial"/>
              </a:rPr>
              <a:t> </a:t>
            </a:r>
            <a:r>
              <a:rPr sz="1000" spc="-5" dirty="0">
                <a:latin typeface="Arial"/>
                <a:cs typeface="Arial"/>
              </a:rPr>
              <a:t>satisfying</a:t>
            </a:r>
            <a:endParaRPr sz="1000">
              <a:latin typeface="Arial"/>
              <a:cs typeface="Arial"/>
            </a:endParaRPr>
          </a:p>
          <a:p>
            <a:pPr marL="485775" algn="ctr">
              <a:lnSpc>
                <a:spcPct val="100000"/>
              </a:lnSpc>
              <a:spcBef>
                <a:spcPts val="990"/>
              </a:spcBef>
            </a:pPr>
            <a:r>
              <a:rPr sz="1000" i="1" spc="-5" dirty="0">
                <a:latin typeface="Arial"/>
                <a:cs typeface="Arial"/>
              </a:rPr>
              <a:t>q</a:t>
            </a:r>
            <a:r>
              <a:rPr sz="1000" i="1" spc="-1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j</a:t>
            </a:r>
            <a:r>
              <a:rPr sz="1000" i="1" spc="-195" dirty="0">
                <a:latin typeface="Arial"/>
                <a:cs typeface="Arial"/>
              </a:rPr>
              <a:t> </a:t>
            </a:r>
            <a:r>
              <a:rPr sz="1000" spc="5" dirty="0">
                <a:latin typeface="Arial"/>
                <a:cs typeface="Arial"/>
              </a:rPr>
              <a:t>]</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k</a:t>
            </a:r>
            <a:r>
              <a:rPr sz="1000" i="1" spc="40" dirty="0">
                <a:latin typeface="Arial"/>
                <a:cs typeface="Arial"/>
              </a:rPr>
              <a:t> </a:t>
            </a:r>
            <a:r>
              <a:rPr sz="1000" i="1" spc="190" dirty="0">
                <a:latin typeface="Arial"/>
                <a:cs typeface="Arial"/>
              </a:rPr>
              <a:t>&lt;</a:t>
            </a:r>
            <a:r>
              <a:rPr sz="1000" i="1" spc="-60" dirty="0">
                <a:latin typeface="Arial"/>
                <a:cs typeface="Arial"/>
              </a:rPr>
              <a:t> </a:t>
            </a: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j</a:t>
            </a:r>
            <a:r>
              <a:rPr sz="1000" i="1" spc="-55"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General</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5" action="ppaction://hlinksldjump"/>
              </a:rPr>
              <a:t>Flat</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endParaRPr sz="600">
              <a:latin typeface="Arial"/>
              <a:cs typeface="Arial"/>
            </a:endParaRPr>
          </a:p>
        </p:txBody>
      </p:sp>
      <p:sp>
        <p:nvSpPr>
          <p:cNvPr id="3" name="object 3"/>
          <p:cNvSpPr txBox="1"/>
          <p:nvPr/>
        </p:nvSpPr>
        <p:spPr>
          <a:xfrm>
            <a:off x="3745674" y="716"/>
            <a:ext cx="7956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Distributed</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hash</a:t>
            </a:r>
            <a:r>
              <a:rPr sz="600" spc="-2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tables</a:t>
            </a:r>
            <a:endParaRPr sz="600">
              <a:latin typeface="Arial"/>
              <a:cs typeface="Arial"/>
            </a:endParaRPr>
          </a:p>
        </p:txBody>
      </p:sp>
      <p:sp>
        <p:nvSpPr>
          <p:cNvPr id="4" name="object 4"/>
          <p:cNvSpPr txBox="1"/>
          <p:nvPr/>
        </p:nvSpPr>
        <p:spPr>
          <a:xfrm>
            <a:off x="82600" y="188846"/>
            <a:ext cx="4234180" cy="264477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Chord</a:t>
            </a:r>
            <a:r>
              <a:rPr sz="1400" spc="-15" dirty="0">
                <a:solidFill>
                  <a:srgbClr val="3333B2"/>
                </a:solidFill>
                <a:latin typeface="Arial"/>
                <a:cs typeface="Arial"/>
              </a:rPr>
              <a:t> </a:t>
            </a:r>
            <a:r>
              <a:rPr sz="1400" spc="10" dirty="0">
                <a:solidFill>
                  <a:srgbClr val="3333B2"/>
                </a:solidFill>
                <a:latin typeface="Arial"/>
                <a:cs typeface="Arial"/>
              </a:rPr>
              <a:t>finger</a:t>
            </a:r>
            <a:r>
              <a:rPr sz="1400" spc="-10" dirty="0">
                <a:solidFill>
                  <a:srgbClr val="3333B2"/>
                </a:solidFill>
                <a:latin typeface="Arial"/>
                <a:cs typeface="Arial"/>
              </a:rPr>
              <a:t> </a:t>
            </a:r>
            <a:r>
              <a:rPr sz="1400" spc="10" dirty="0">
                <a:solidFill>
                  <a:srgbClr val="3333B2"/>
                </a:solidFill>
                <a:latin typeface="Arial"/>
                <a:cs typeface="Arial"/>
              </a:rPr>
              <a:t>tables</a:t>
            </a:r>
            <a:endParaRPr sz="1400" dirty="0">
              <a:latin typeface="Arial"/>
              <a:cs typeface="Arial"/>
            </a:endParaRPr>
          </a:p>
          <a:p>
            <a:pPr>
              <a:lnSpc>
                <a:spcPct val="100000"/>
              </a:lnSpc>
              <a:spcBef>
                <a:spcPts val="25"/>
              </a:spcBef>
            </a:pPr>
            <a:endParaRPr sz="1800" dirty="0">
              <a:latin typeface="Arial"/>
              <a:cs typeface="Arial"/>
            </a:endParaRPr>
          </a:p>
          <a:p>
            <a:pPr marL="276860">
              <a:lnSpc>
                <a:spcPct val="100000"/>
              </a:lnSpc>
            </a:pPr>
            <a:r>
              <a:rPr sz="1200" spc="-5" dirty="0">
                <a:solidFill>
                  <a:srgbClr val="3333B2"/>
                </a:solidFill>
                <a:latin typeface="Arial"/>
                <a:cs typeface="Arial"/>
              </a:rPr>
              <a:t>Principle</a:t>
            </a:r>
            <a:endParaRPr sz="1200" dirty="0">
              <a:latin typeface="Arial"/>
              <a:cs typeface="Arial"/>
            </a:endParaRPr>
          </a:p>
          <a:p>
            <a:pPr marL="554355" indent="-168275">
              <a:lnSpc>
                <a:spcPct val="100000"/>
              </a:lnSpc>
              <a:spcBef>
                <a:spcPts val="775"/>
              </a:spcBef>
              <a:buClr>
                <a:srgbClr val="3333B2"/>
              </a:buClr>
              <a:buChar char="►"/>
              <a:tabLst>
                <a:tab pos="554990" algn="l"/>
              </a:tabLst>
            </a:pPr>
            <a:r>
              <a:rPr sz="1000" spc="-15" dirty="0">
                <a:latin typeface="Arial"/>
                <a:cs typeface="Arial"/>
              </a:rPr>
              <a:t>Each</a:t>
            </a:r>
            <a:r>
              <a:rPr sz="1000" spc="-5" dirty="0">
                <a:latin typeface="Arial"/>
                <a:cs typeface="Arial"/>
              </a:rPr>
              <a:t> </a:t>
            </a:r>
            <a:r>
              <a:rPr sz="1000" spc="-15" dirty="0">
                <a:latin typeface="Arial"/>
                <a:cs typeface="Arial"/>
              </a:rPr>
              <a:t>node</a:t>
            </a:r>
            <a:r>
              <a:rPr sz="1000" spc="-5" dirty="0">
                <a:latin typeface="Arial"/>
                <a:cs typeface="Arial"/>
              </a:rPr>
              <a:t> </a:t>
            </a:r>
            <a:r>
              <a:rPr sz="1000" i="1" spc="-5" dirty="0">
                <a:latin typeface="Arial"/>
                <a:cs typeface="Arial"/>
              </a:rPr>
              <a:t>p</a:t>
            </a:r>
            <a:r>
              <a:rPr sz="1000" i="1" spc="25" dirty="0">
                <a:latin typeface="Arial"/>
                <a:cs typeface="Arial"/>
              </a:rPr>
              <a:t> </a:t>
            </a:r>
            <a:r>
              <a:rPr sz="1000" spc="-15" dirty="0">
                <a:latin typeface="Arial"/>
                <a:cs typeface="Arial"/>
              </a:rPr>
              <a:t>maintains</a:t>
            </a:r>
            <a:r>
              <a:rPr sz="1000" dirty="0">
                <a:latin typeface="Arial"/>
                <a:cs typeface="Arial"/>
              </a:rPr>
              <a:t> </a:t>
            </a:r>
            <a:r>
              <a:rPr sz="1000" spc="-15" dirty="0">
                <a:latin typeface="Arial"/>
                <a:cs typeface="Arial"/>
              </a:rPr>
              <a:t>a</a:t>
            </a:r>
            <a:r>
              <a:rPr sz="1000" spc="-5" dirty="0">
                <a:latin typeface="Arial"/>
                <a:cs typeface="Arial"/>
              </a:rPr>
              <a:t> </a:t>
            </a:r>
            <a:r>
              <a:rPr sz="1000" spc="-10" dirty="0">
                <a:solidFill>
                  <a:srgbClr val="FA0000"/>
                </a:solidFill>
                <a:latin typeface="Arial"/>
                <a:cs typeface="Arial"/>
              </a:rPr>
              <a:t>finger</a:t>
            </a:r>
            <a:r>
              <a:rPr sz="1000" spc="-5" dirty="0">
                <a:solidFill>
                  <a:srgbClr val="FA0000"/>
                </a:solidFill>
                <a:latin typeface="Arial"/>
                <a:cs typeface="Arial"/>
              </a:rPr>
              <a:t> </a:t>
            </a:r>
            <a:r>
              <a:rPr sz="1000" spc="-15" dirty="0">
                <a:solidFill>
                  <a:srgbClr val="FA0000"/>
                </a:solidFill>
                <a:latin typeface="Arial"/>
                <a:cs typeface="Arial"/>
              </a:rPr>
              <a:t>table</a:t>
            </a:r>
            <a:r>
              <a:rPr sz="1000" dirty="0">
                <a:solidFill>
                  <a:srgbClr val="FA0000"/>
                </a:solidFill>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spc="5" dirty="0">
                <a:latin typeface="Arial"/>
                <a:cs typeface="Arial"/>
              </a:rPr>
              <a:t>[]</a:t>
            </a:r>
            <a:r>
              <a:rPr sz="1000" spc="-5" dirty="0">
                <a:latin typeface="Arial"/>
                <a:cs typeface="Arial"/>
              </a:rPr>
              <a:t> </a:t>
            </a:r>
            <a:r>
              <a:rPr sz="1000" spc="-15" dirty="0">
                <a:latin typeface="Arial"/>
                <a:cs typeface="Arial"/>
              </a:rPr>
              <a:t>with</a:t>
            </a:r>
            <a:r>
              <a:rPr sz="1000" spc="-5" dirty="0">
                <a:latin typeface="Arial"/>
                <a:cs typeface="Arial"/>
              </a:rPr>
              <a:t> </a:t>
            </a:r>
            <a:r>
              <a:rPr sz="1000" spc="-10" dirty="0">
                <a:latin typeface="Arial"/>
                <a:cs typeface="Arial"/>
              </a:rPr>
              <a:t>at</a:t>
            </a:r>
            <a:r>
              <a:rPr sz="1000" dirty="0">
                <a:latin typeface="Arial"/>
                <a:cs typeface="Arial"/>
              </a:rPr>
              <a:t> </a:t>
            </a:r>
            <a:r>
              <a:rPr sz="1000" spc="-15" dirty="0">
                <a:latin typeface="Arial"/>
                <a:cs typeface="Arial"/>
              </a:rPr>
              <a:t>most</a:t>
            </a:r>
            <a:r>
              <a:rPr sz="1000" spc="-5" dirty="0">
                <a:latin typeface="Arial"/>
                <a:cs typeface="Arial"/>
              </a:rPr>
              <a:t> </a:t>
            </a:r>
            <a:r>
              <a:rPr sz="1000" i="1" spc="-20" dirty="0">
                <a:latin typeface="Arial"/>
                <a:cs typeface="Arial"/>
              </a:rPr>
              <a:t>m</a:t>
            </a:r>
            <a:r>
              <a:rPr sz="1000" i="1" spc="15" dirty="0">
                <a:latin typeface="Arial"/>
                <a:cs typeface="Arial"/>
              </a:rPr>
              <a:t> </a:t>
            </a:r>
            <a:r>
              <a:rPr sz="1000" spc="-10" dirty="0">
                <a:latin typeface="Arial"/>
                <a:cs typeface="Arial"/>
              </a:rPr>
              <a:t>entries:</a:t>
            </a:r>
            <a:endParaRPr sz="1000" dirty="0">
              <a:latin typeface="Arial"/>
              <a:cs typeface="Arial"/>
            </a:endParaRPr>
          </a:p>
          <a:p>
            <a:pPr marL="485775" algn="ctr">
              <a:lnSpc>
                <a:spcPct val="100000"/>
              </a:lnSpc>
              <a:spcBef>
                <a:spcPts val="1140"/>
              </a:spcBef>
            </a:pP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i</a:t>
            </a:r>
            <a:r>
              <a:rPr sz="1000" i="1" spc="-195" dirty="0">
                <a:latin typeface="Arial"/>
                <a:cs typeface="Arial"/>
              </a:rPr>
              <a:t> </a:t>
            </a:r>
            <a:r>
              <a:rPr sz="1000" spc="5"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2</a:t>
            </a:r>
            <a:r>
              <a:rPr sz="1050" i="1" spc="97" baseline="31746" dirty="0">
                <a:latin typeface="Arial"/>
                <a:cs typeface="Arial"/>
              </a:rPr>
              <a:t>i</a:t>
            </a:r>
            <a:r>
              <a:rPr sz="1050" i="1" spc="15" baseline="31746" dirty="0">
                <a:latin typeface="メイリオ"/>
                <a:cs typeface="メイリオ"/>
              </a:rPr>
              <a:t>−</a:t>
            </a:r>
            <a:r>
              <a:rPr sz="1050" spc="97" baseline="31746" dirty="0">
                <a:latin typeface="Arial"/>
                <a:cs typeface="Arial"/>
              </a:rPr>
              <a:t>1</a:t>
            </a:r>
            <a:r>
              <a:rPr sz="1000" spc="50" dirty="0">
                <a:latin typeface="Arial"/>
                <a:cs typeface="Arial"/>
              </a:rPr>
              <a:t>)</a:t>
            </a:r>
            <a:endParaRPr sz="1000" dirty="0">
              <a:latin typeface="Arial"/>
              <a:cs typeface="Arial"/>
            </a:endParaRPr>
          </a:p>
          <a:p>
            <a:pPr marL="554355" marR="236220">
              <a:lnSpc>
                <a:spcPct val="100000"/>
              </a:lnSpc>
              <a:spcBef>
                <a:spcPts val="995"/>
              </a:spcBef>
            </a:pPr>
            <a:r>
              <a:rPr sz="1000" spc="-5" dirty="0">
                <a:solidFill>
                  <a:srgbClr val="FA0000"/>
                </a:solidFill>
                <a:latin typeface="Arial"/>
                <a:cs typeface="Arial"/>
              </a:rPr>
              <a:t>Note</a:t>
            </a:r>
            <a:r>
              <a:rPr sz="1000" spc="-5" dirty="0">
                <a:latin typeface="Arial"/>
                <a:cs typeface="Arial"/>
              </a:rPr>
              <a:t>: the </a:t>
            </a:r>
            <a:r>
              <a:rPr sz="1000" i="1" spc="-5" dirty="0">
                <a:latin typeface="Arial"/>
                <a:cs typeface="Arial"/>
              </a:rPr>
              <a:t>i </a:t>
            </a:r>
            <a:r>
              <a:rPr sz="1000" spc="-5" dirty="0">
                <a:latin typeface="Arial"/>
                <a:cs typeface="Arial"/>
              </a:rPr>
              <a:t>-th </a:t>
            </a:r>
            <a:r>
              <a:rPr sz="1000" dirty="0">
                <a:latin typeface="Arial"/>
                <a:cs typeface="Arial"/>
              </a:rPr>
              <a:t>entry </a:t>
            </a:r>
            <a:r>
              <a:rPr sz="1000" spc="-5" dirty="0">
                <a:latin typeface="Arial"/>
                <a:cs typeface="Arial"/>
              </a:rPr>
              <a:t>points to the first node succeeding </a:t>
            </a:r>
            <a:r>
              <a:rPr sz="1000" i="1" spc="-5" dirty="0">
                <a:latin typeface="Arial"/>
                <a:cs typeface="Arial"/>
              </a:rPr>
              <a:t>p </a:t>
            </a:r>
            <a:r>
              <a:rPr sz="1000" spc="-15" dirty="0">
                <a:latin typeface="Arial"/>
                <a:cs typeface="Arial"/>
              </a:rPr>
              <a:t>by </a:t>
            </a:r>
            <a:r>
              <a:rPr sz="1000" spc="-5" dirty="0">
                <a:latin typeface="Arial"/>
                <a:cs typeface="Arial"/>
              </a:rPr>
              <a:t>at </a:t>
            </a:r>
            <a:r>
              <a:rPr sz="1000" spc="-265" dirty="0">
                <a:latin typeface="Arial"/>
                <a:cs typeface="Arial"/>
              </a:rPr>
              <a:t> </a:t>
            </a:r>
            <a:r>
              <a:rPr sz="1000" spc="-5" dirty="0">
                <a:latin typeface="Arial"/>
                <a:cs typeface="Arial"/>
              </a:rPr>
              <a:t>least</a:t>
            </a:r>
            <a:r>
              <a:rPr sz="1000" spc="-10" dirty="0">
                <a:latin typeface="Arial"/>
                <a:cs typeface="Arial"/>
              </a:rPr>
              <a:t> </a:t>
            </a:r>
            <a:r>
              <a:rPr sz="1000" spc="25" dirty="0">
                <a:latin typeface="Arial"/>
                <a:cs typeface="Arial"/>
              </a:rPr>
              <a:t>2</a:t>
            </a:r>
            <a:r>
              <a:rPr sz="1050" i="1" spc="37" baseline="27777" dirty="0">
                <a:latin typeface="Arial"/>
                <a:cs typeface="Arial"/>
              </a:rPr>
              <a:t>i</a:t>
            </a:r>
            <a:r>
              <a:rPr sz="1050" i="1" spc="37" baseline="27777" dirty="0">
                <a:latin typeface="メイリオ"/>
                <a:cs typeface="メイリオ"/>
              </a:rPr>
              <a:t>−</a:t>
            </a:r>
            <a:r>
              <a:rPr sz="1050" spc="37" baseline="27777" dirty="0">
                <a:latin typeface="Arial"/>
                <a:cs typeface="Arial"/>
              </a:rPr>
              <a:t>1</a:t>
            </a:r>
            <a:r>
              <a:rPr sz="1000" spc="25" dirty="0">
                <a:latin typeface="Arial"/>
                <a:cs typeface="Arial"/>
              </a:rPr>
              <a:t>.</a:t>
            </a:r>
            <a:endParaRPr sz="1000" dirty="0">
              <a:latin typeface="Arial"/>
              <a:cs typeface="Arial"/>
            </a:endParaRPr>
          </a:p>
          <a:p>
            <a:pPr marL="554355" marR="291465" indent="-168275">
              <a:lnSpc>
                <a:spcPct val="100000"/>
              </a:lnSpc>
              <a:spcBef>
                <a:spcPts val="585"/>
              </a:spcBef>
              <a:buClr>
                <a:srgbClr val="3333B2"/>
              </a:buClr>
              <a:buChar char="►"/>
              <a:tabLst>
                <a:tab pos="554990" algn="l"/>
              </a:tabLst>
            </a:pPr>
            <a:r>
              <a:rPr sz="1000" spc="-65" dirty="0">
                <a:latin typeface="Arial"/>
                <a:cs typeface="Arial"/>
              </a:rPr>
              <a:t>To </a:t>
            </a:r>
            <a:r>
              <a:rPr sz="1000" spc="-5" dirty="0">
                <a:latin typeface="Arial"/>
                <a:cs typeface="Arial"/>
              </a:rPr>
              <a:t>look up a </a:t>
            </a:r>
            <a:r>
              <a:rPr sz="1000" spc="-20" dirty="0">
                <a:latin typeface="Arial"/>
                <a:cs typeface="Arial"/>
              </a:rPr>
              <a:t>key </a:t>
            </a:r>
            <a:r>
              <a:rPr sz="1000" i="1" spc="-5" dirty="0">
                <a:latin typeface="Arial"/>
                <a:cs typeface="Arial"/>
              </a:rPr>
              <a:t>k </a:t>
            </a:r>
            <a:r>
              <a:rPr sz="1000" spc="-5" dirty="0">
                <a:latin typeface="Arial"/>
                <a:cs typeface="Arial"/>
              </a:rPr>
              <a:t>, node </a:t>
            </a:r>
            <a:r>
              <a:rPr sz="1000" i="1" spc="-5" dirty="0">
                <a:latin typeface="Arial"/>
                <a:cs typeface="Arial"/>
              </a:rPr>
              <a:t>p </a:t>
            </a:r>
            <a:r>
              <a:rPr sz="1000" spc="-10" dirty="0">
                <a:latin typeface="Arial"/>
                <a:cs typeface="Arial"/>
              </a:rPr>
              <a:t>forwards </a:t>
            </a:r>
            <a:r>
              <a:rPr sz="1000" spc="-5" dirty="0">
                <a:latin typeface="Arial"/>
                <a:cs typeface="Arial"/>
              </a:rPr>
              <a:t>the request to node with </a:t>
            </a:r>
            <a:r>
              <a:rPr sz="1000" spc="-265" dirty="0">
                <a:latin typeface="Arial"/>
                <a:cs typeface="Arial"/>
              </a:rPr>
              <a:t> </a:t>
            </a:r>
            <a:r>
              <a:rPr sz="1000" spc="-10" dirty="0">
                <a:latin typeface="Arial"/>
                <a:cs typeface="Arial"/>
              </a:rPr>
              <a:t>index </a:t>
            </a:r>
            <a:r>
              <a:rPr sz="1000" i="1" spc="-5" dirty="0">
                <a:latin typeface="Arial"/>
                <a:cs typeface="Arial"/>
              </a:rPr>
              <a:t>j</a:t>
            </a:r>
            <a:r>
              <a:rPr sz="1000" i="1" spc="80" dirty="0">
                <a:latin typeface="Arial"/>
                <a:cs typeface="Arial"/>
              </a:rPr>
              <a:t> </a:t>
            </a:r>
            <a:r>
              <a:rPr sz="1000" spc="-5" dirty="0">
                <a:latin typeface="Arial"/>
                <a:cs typeface="Arial"/>
              </a:rPr>
              <a:t>satisfying</a:t>
            </a:r>
            <a:endParaRPr sz="1000" dirty="0">
              <a:latin typeface="Arial"/>
              <a:cs typeface="Arial"/>
            </a:endParaRPr>
          </a:p>
          <a:p>
            <a:pPr marL="485775" algn="ctr">
              <a:lnSpc>
                <a:spcPct val="100000"/>
              </a:lnSpc>
              <a:spcBef>
                <a:spcPts val="990"/>
              </a:spcBef>
            </a:pPr>
            <a:r>
              <a:rPr sz="1000" i="1" spc="-5" dirty="0">
                <a:latin typeface="Arial"/>
                <a:cs typeface="Arial"/>
              </a:rPr>
              <a:t>q</a:t>
            </a:r>
            <a:r>
              <a:rPr sz="1000" i="1" spc="-1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j</a:t>
            </a:r>
            <a:r>
              <a:rPr sz="1000" i="1" spc="-195" dirty="0">
                <a:latin typeface="Arial"/>
                <a:cs typeface="Arial"/>
              </a:rPr>
              <a:t> </a:t>
            </a:r>
            <a:r>
              <a:rPr sz="1000" spc="5" dirty="0">
                <a:latin typeface="Arial"/>
                <a:cs typeface="Arial"/>
              </a:rPr>
              <a:t>]</a:t>
            </a:r>
            <a:r>
              <a:rPr sz="1000" spc="-60" dirty="0">
                <a:latin typeface="Arial"/>
                <a:cs typeface="Arial"/>
              </a:rPr>
              <a:t> </a:t>
            </a:r>
            <a:r>
              <a:rPr sz="1000" i="1" spc="-35" dirty="0">
                <a:latin typeface="メイリオ"/>
                <a:cs typeface="メイリオ"/>
              </a:rPr>
              <a:t>≤</a:t>
            </a:r>
            <a:r>
              <a:rPr sz="1000" i="1" spc="-120" dirty="0">
                <a:latin typeface="メイリオ"/>
                <a:cs typeface="メイリオ"/>
              </a:rPr>
              <a:t> </a:t>
            </a:r>
            <a:r>
              <a:rPr sz="1000" i="1" spc="-5" dirty="0">
                <a:latin typeface="Arial"/>
                <a:cs typeface="Arial"/>
              </a:rPr>
              <a:t>k</a:t>
            </a:r>
            <a:r>
              <a:rPr sz="1000" i="1" spc="40" dirty="0">
                <a:latin typeface="Arial"/>
                <a:cs typeface="Arial"/>
              </a:rPr>
              <a:t> </a:t>
            </a:r>
            <a:r>
              <a:rPr sz="1000" i="1" spc="190" dirty="0">
                <a:latin typeface="Arial"/>
                <a:cs typeface="Arial"/>
              </a:rPr>
              <a:t>&lt;</a:t>
            </a:r>
            <a:r>
              <a:rPr sz="1000" i="1" spc="-60" dirty="0">
                <a:latin typeface="Arial"/>
                <a:cs typeface="Arial"/>
              </a:rPr>
              <a:t> </a:t>
            </a:r>
            <a:r>
              <a:rPr sz="1000" i="1" spc="-5" dirty="0">
                <a:latin typeface="Arial"/>
                <a:cs typeface="Arial"/>
              </a:rPr>
              <a:t>FT</a:t>
            </a:r>
            <a:r>
              <a:rPr sz="1050" i="1" spc="30" baseline="-11904" dirty="0">
                <a:latin typeface="Arial"/>
                <a:cs typeface="Arial"/>
              </a:rPr>
              <a:t>p</a:t>
            </a:r>
            <a:r>
              <a:rPr sz="1050" i="1" spc="-187" baseline="-11904" dirty="0">
                <a:latin typeface="Arial"/>
                <a:cs typeface="Arial"/>
              </a:rPr>
              <a:t> </a:t>
            </a:r>
            <a:r>
              <a:rPr sz="1000" spc="5" dirty="0">
                <a:latin typeface="Arial"/>
                <a:cs typeface="Arial"/>
              </a:rPr>
              <a:t>[</a:t>
            </a:r>
            <a:r>
              <a:rPr sz="1000" i="1" spc="-5" dirty="0">
                <a:latin typeface="Arial"/>
                <a:cs typeface="Arial"/>
              </a:rPr>
              <a:t>j</a:t>
            </a:r>
            <a:r>
              <a:rPr sz="1000" i="1" spc="-55"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 dirty="0">
                <a:latin typeface="Arial"/>
                <a:cs typeface="Arial"/>
              </a:rPr>
              <a:t>]</a:t>
            </a:r>
            <a:endParaRPr sz="1000" dirty="0">
              <a:latin typeface="Arial"/>
              <a:cs typeface="Arial"/>
            </a:endParaRPr>
          </a:p>
          <a:p>
            <a:pPr marL="554355" indent="-168275">
              <a:lnSpc>
                <a:spcPct val="100000"/>
              </a:lnSpc>
              <a:spcBef>
                <a:spcPts val="1290"/>
              </a:spcBef>
              <a:buClr>
                <a:srgbClr val="3333B2"/>
              </a:buClr>
              <a:buChar char="►"/>
              <a:tabLst>
                <a:tab pos="554990" algn="l"/>
              </a:tabLst>
            </a:pPr>
            <a:r>
              <a:rPr sz="1000" spc="-5" dirty="0">
                <a:latin typeface="Arial"/>
                <a:cs typeface="Arial"/>
              </a:rPr>
              <a:t>If </a:t>
            </a:r>
            <a:r>
              <a:rPr sz="1000" i="1" spc="-5" dirty="0">
                <a:latin typeface="Arial"/>
                <a:cs typeface="Arial"/>
              </a:rPr>
              <a:t>p</a:t>
            </a:r>
            <a:r>
              <a:rPr sz="1000" i="1" spc="-30" dirty="0">
                <a:latin typeface="Arial"/>
                <a:cs typeface="Arial"/>
              </a:rPr>
              <a:t> </a:t>
            </a:r>
            <a:r>
              <a:rPr sz="1000" i="1" spc="190" dirty="0">
                <a:latin typeface="Arial"/>
                <a:cs typeface="Arial"/>
              </a:rPr>
              <a:t>&lt;</a:t>
            </a:r>
            <a:r>
              <a:rPr sz="1000" i="1" spc="-60" dirty="0">
                <a:latin typeface="Arial"/>
                <a:cs typeface="Arial"/>
              </a:rPr>
              <a:t> </a:t>
            </a:r>
            <a:r>
              <a:rPr sz="1000" i="1" spc="-5" dirty="0">
                <a:latin typeface="Arial"/>
                <a:cs typeface="Arial"/>
              </a:rPr>
              <a:t>k</a:t>
            </a:r>
            <a:r>
              <a:rPr sz="1000" i="1" spc="45" dirty="0">
                <a:latin typeface="Arial"/>
                <a:cs typeface="Arial"/>
              </a:rPr>
              <a:t> </a:t>
            </a:r>
            <a:r>
              <a:rPr sz="1000" i="1" spc="190" dirty="0">
                <a:latin typeface="Arial"/>
                <a:cs typeface="Arial"/>
              </a:rPr>
              <a:t>&lt;</a:t>
            </a:r>
            <a:r>
              <a:rPr sz="1000" i="1" spc="-60" dirty="0">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dirty="0">
                <a:latin typeface="Arial"/>
                <a:cs typeface="Arial"/>
              </a:rPr>
              <a:t>[1],</a:t>
            </a:r>
            <a:r>
              <a:rPr sz="1000" spc="-5" dirty="0">
                <a:latin typeface="Arial"/>
                <a:cs typeface="Arial"/>
              </a:rPr>
              <a:t> the request</a:t>
            </a:r>
            <a:r>
              <a:rPr sz="1000" dirty="0">
                <a:latin typeface="Arial"/>
                <a:cs typeface="Arial"/>
              </a:rPr>
              <a:t> </a:t>
            </a:r>
            <a:r>
              <a:rPr sz="1000" spc="-5" dirty="0">
                <a:latin typeface="Arial"/>
                <a:cs typeface="Arial"/>
              </a:rPr>
              <a:t>is also </a:t>
            </a:r>
            <a:r>
              <a:rPr sz="1000" spc="-10" dirty="0">
                <a:latin typeface="Arial"/>
                <a:cs typeface="Arial"/>
              </a:rPr>
              <a:t>forwarded</a:t>
            </a:r>
            <a:r>
              <a:rPr sz="1000" dirty="0">
                <a:latin typeface="Arial"/>
                <a:cs typeface="Arial"/>
              </a:rPr>
              <a:t> </a:t>
            </a:r>
            <a:r>
              <a:rPr sz="1000" spc="-5" dirty="0">
                <a:latin typeface="Arial"/>
                <a:cs typeface="Arial"/>
              </a:rPr>
              <a:t>to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spc="5" dirty="0">
                <a:latin typeface="Arial"/>
                <a:cs typeface="Arial"/>
              </a:rPr>
              <a:t>[1]</a:t>
            </a:r>
            <a:endParaRPr sz="1000" dirty="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91254"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Distributed</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hash</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tables</a:t>
            </a:r>
            <a:endParaRPr sz="600">
              <a:latin typeface="Arial"/>
              <a:cs typeface="Arial"/>
            </a:endParaRPr>
          </a:p>
        </p:txBody>
      </p:sp>
      <p:sp>
        <p:nvSpPr>
          <p:cNvPr id="3" name="object 3"/>
          <p:cNvSpPr txBox="1">
            <a:spLocks noGrp="1"/>
          </p:cNvSpPr>
          <p:nvPr>
            <p:ph type="title"/>
          </p:nvPr>
        </p:nvSpPr>
        <p:spPr>
          <a:xfrm>
            <a:off x="95300" y="188846"/>
            <a:ext cx="1842770" cy="244475"/>
          </a:xfrm>
          <a:prstGeom prst="rect">
            <a:avLst/>
          </a:prstGeom>
        </p:spPr>
        <p:txBody>
          <a:bodyPr vert="horz" wrap="square" lIns="0" tIns="17145" rIns="0" bIns="0" rtlCol="0">
            <a:spAutoFit/>
          </a:bodyPr>
          <a:lstStyle/>
          <a:p>
            <a:pPr marL="12700">
              <a:lnSpc>
                <a:spcPct val="100000"/>
              </a:lnSpc>
              <a:spcBef>
                <a:spcPts val="135"/>
              </a:spcBef>
            </a:pPr>
            <a:r>
              <a:rPr spc="15" dirty="0"/>
              <a:t>Chord</a:t>
            </a:r>
            <a:r>
              <a:rPr spc="-20" dirty="0"/>
              <a:t> </a:t>
            </a:r>
            <a:r>
              <a:rPr spc="15" dirty="0"/>
              <a:t>lookup</a:t>
            </a:r>
            <a:r>
              <a:rPr spc="-20" dirty="0"/>
              <a:t> </a:t>
            </a:r>
            <a:r>
              <a:rPr spc="10" dirty="0"/>
              <a:t>example</a:t>
            </a:r>
          </a:p>
        </p:txBody>
      </p:sp>
      <p:pic>
        <p:nvPicPr>
          <p:cNvPr id="4" name="object 4"/>
          <p:cNvPicPr/>
          <p:nvPr/>
        </p:nvPicPr>
        <p:blipFill>
          <a:blip r:embed="rId6" cstate="print"/>
          <a:stretch>
            <a:fillRect/>
          </a:stretch>
        </p:blipFill>
        <p:spPr>
          <a:xfrm>
            <a:off x="1101845" y="754691"/>
            <a:ext cx="2394699" cy="2452303"/>
          </a:xfrm>
          <a:prstGeom prst="rect">
            <a:avLst/>
          </a:prstGeom>
        </p:spPr>
      </p:pic>
      <p:sp>
        <p:nvSpPr>
          <p:cNvPr id="5" name="object 5"/>
          <p:cNvSpPr txBox="1"/>
          <p:nvPr/>
        </p:nvSpPr>
        <p:spPr>
          <a:xfrm>
            <a:off x="2225495" y="1048221"/>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0</a:t>
            </a:r>
            <a:endParaRPr sz="500">
              <a:latin typeface="Helvetica"/>
              <a:cs typeface="Helvetica"/>
            </a:endParaRPr>
          </a:p>
        </p:txBody>
      </p:sp>
      <p:sp>
        <p:nvSpPr>
          <p:cNvPr id="48" name="object 48"/>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General</a:t>
            </a:r>
            <a:r>
              <a:rPr sz="600" spc="-3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mechanism</a:t>
            </a:r>
            <a:endParaRPr sz="600">
              <a:latin typeface="Arial"/>
              <a:cs typeface="Arial"/>
            </a:endParaRPr>
          </a:p>
        </p:txBody>
      </p:sp>
      <p:sp>
        <p:nvSpPr>
          <p:cNvPr id="49" name="object 4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13</a:t>
            </a:r>
            <a:r>
              <a:rPr spc="-40" dirty="0"/>
              <a:t> </a:t>
            </a:r>
            <a:r>
              <a:rPr spc="-5" dirty="0"/>
              <a:t>/</a:t>
            </a:r>
            <a:r>
              <a:rPr spc="-35" dirty="0"/>
              <a:t> </a:t>
            </a:r>
            <a:r>
              <a:rPr spc="-5" dirty="0"/>
              <a:t>46</a:t>
            </a:r>
          </a:p>
        </p:txBody>
      </p:sp>
      <p:sp>
        <p:nvSpPr>
          <p:cNvPr id="6" name="object 6"/>
          <p:cNvSpPr txBox="1"/>
          <p:nvPr/>
        </p:nvSpPr>
        <p:spPr>
          <a:xfrm>
            <a:off x="2705555" y="1193647"/>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3</a:t>
            </a:r>
            <a:endParaRPr sz="500">
              <a:latin typeface="Helvetica"/>
              <a:cs typeface="Helvetica"/>
            </a:endParaRPr>
          </a:p>
        </p:txBody>
      </p:sp>
      <p:sp>
        <p:nvSpPr>
          <p:cNvPr id="7" name="object 7"/>
          <p:cNvSpPr txBox="1"/>
          <p:nvPr/>
        </p:nvSpPr>
        <p:spPr>
          <a:xfrm>
            <a:off x="2832768" y="1303661"/>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4</a:t>
            </a:r>
            <a:endParaRPr sz="500">
              <a:latin typeface="Helvetica"/>
              <a:cs typeface="Helvetica"/>
            </a:endParaRPr>
          </a:p>
        </p:txBody>
      </p:sp>
      <p:sp>
        <p:nvSpPr>
          <p:cNvPr id="8" name="object 8"/>
          <p:cNvSpPr txBox="1"/>
          <p:nvPr/>
        </p:nvSpPr>
        <p:spPr>
          <a:xfrm>
            <a:off x="2943585" y="1431677"/>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5</a:t>
            </a:r>
            <a:endParaRPr sz="500">
              <a:latin typeface="Helvetica"/>
              <a:cs typeface="Helvetica"/>
            </a:endParaRPr>
          </a:p>
        </p:txBody>
      </p:sp>
      <p:sp>
        <p:nvSpPr>
          <p:cNvPr id="9" name="object 9"/>
          <p:cNvSpPr txBox="1"/>
          <p:nvPr/>
        </p:nvSpPr>
        <p:spPr>
          <a:xfrm>
            <a:off x="3023992" y="1580896"/>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6</a:t>
            </a:r>
            <a:endParaRPr sz="500">
              <a:latin typeface="Helvetica"/>
              <a:cs typeface="Helvetica"/>
            </a:endParaRPr>
          </a:p>
        </p:txBody>
      </p:sp>
      <p:sp>
        <p:nvSpPr>
          <p:cNvPr id="10" name="object 10"/>
          <p:cNvSpPr txBox="1"/>
          <p:nvPr/>
        </p:nvSpPr>
        <p:spPr>
          <a:xfrm>
            <a:off x="3070604" y="1745563"/>
            <a:ext cx="61594"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7</a:t>
            </a:r>
            <a:endParaRPr sz="500">
              <a:latin typeface="Helvetica"/>
              <a:cs typeface="Helvetica"/>
            </a:endParaRPr>
          </a:p>
        </p:txBody>
      </p:sp>
      <p:sp>
        <p:nvSpPr>
          <p:cNvPr id="11" name="object 11"/>
          <p:cNvSpPr txBox="1"/>
          <p:nvPr/>
        </p:nvSpPr>
        <p:spPr>
          <a:xfrm>
            <a:off x="3090000" y="1910537"/>
            <a:ext cx="61594" cy="102235"/>
          </a:xfrm>
          <a:prstGeom prst="rect">
            <a:avLst/>
          </a:prstGeom>
        </p:spPr>
        <p:txBody>
          <a:bodyPr vert="horz" wrap="square" lIns="0" tIns="13335" rIns="0" bIns="0" rtlCol="0">
            <a:spAutoFit/>
          </a:bodyPr>
          <a:lstStyle/>
          <a:p>
            <a:pPr marL="12700">
              <a:lnSpc>
                <a:spcPct val="100000"/>
              </a:lnSpc>
              <a:spcBef>
                <a:spcPts val="105"/>
              </a:spcBef>
            </a:pPr>
            <a:r>
              <a:rPr sz="500" dirty="0">
                <a:solidFill>
                  <a:srgbClr val="231F20"/>
                </a:solidFill>
                <a:latin typeface="Helvetica"/>
                <a:cs typeface="Helvetica"/>
              </a:rPr>
              <a:t>8</a:t>
            </a:r>
            <a:endParaRPr sz="500">
              <a:latin typeface="Helvetica"/>
              <a:cs typeface="Helvetica"/>
            </a:endParaRPr>
          </a:p>
        </p:txBody>
      </p:sp>
      <p:sp>
        <p:nvSpPr>
          <p:cNvPr id="12" name="object 12"/>
          <p:cNvSpPr txBox="1"/>
          <p:nvPr/>
        </p:nvSpPr>
        <p:spPr>
          <a:xfrm>
            <a:off x="3076170" y="2081502"/>
            <a:ext cx="61594" cy="102235"/>
          </a:xfrm>
          <a:prstGeom prst="rect">
            <a:avLst/>
          </a:prstGeom>
        </p:spPr>
        <p:txBody>
          <a:bodyPr vert="horz" wrap="square" lIns="0" tIns="13335" rIns="0" bIns="0" rtlCol="0">
            <a:spAutoFit/>
          </a:bodyPr>
          <a:lstStyle/>
          <a:p>
            <a:pPr marL="12700">
              <a:lnSpc>
                <a:spcPct val="100000"/>
              </a:lnSpc>
              <a:spcBef>
                <a:spcPts val="105"/>
              </a:spcBef>
            </a:pPr>
            <a:r>
              <a:rPr sz="500" dirty="0">
                <a:solidFill>
                  <a:srgbClr val="231F20"/>
                </a:solidFill>
                <a:latin typeface="Helvetica"/>
                <a:cs typeface="Helvetica"/>
              </a:rPr>
              <a:t>9</a:t>
            </a:r>
            <a:endParaRPr sz="500">
              <a:latin typeface="Helvetica"/>
              <a:cs typeface="Helvetica"/>
            </a:endParaRPr>
          </a:p>
        </p:txBody>
      </p:sp>
      <p:sp>
        <p:nvSpPr>
          <p:cNvPr id="13" name="object 13"/>
          <p:cNvSpPr txBox="1"/>
          <p:nvPr/>
        </p:nvSpPr>
        <p:spPr>
          <a:xfrm>
            <a:off x="3004999" y="2243778"/>
            <a:ext cx="83820" cy="102235"/>
          </a:xfrm>
          <a:prstGeom prst="rect">
            <a:avLst/>
          </a:prstGeom>
        </p:spPr>
        <p:txBody>
          <a:bodyPr vert="horz" wrap="square" lIns="0" tIns="13335" rIns="0" bIns="0" rtlCol="0">
            <a:spAutoFit/>
          </a:bodyPr>
          <a:lstStyle/>
          <a:p>
            <a:pPr marL="12700">
              <a:lnSpc>
                <a:spcPct val="100000"/>
              </a:lnSpc>
              <a:spcBef>
                <a:spcPts val="105"/>
              </a:spcBef>
            </a:pPr>
            <a:r>
              <a:rPr sz="500" spc="-55" dirty="0">
                <a:solidFill>
                  <a:srgbClr val="231F20"/>
                </a:solidFill>
                <a:latin typeface="Helvetica"/>
                <a:cs typeface="Helvetica"/>
              </a:rPr>
              <a:t>10</a:t>
            </a:r>
            <a:endParaRPr sz="500">
              <a:latin typeface="Helvetica"/>
              <a:cs typeface="Helvetica"/>
            </a:endParaRPr>
          </a:p>
        </p:txBody>
      </p:sp>
      <p:sp>
        <p:nvSpPr>
          <p:cNvPr id="14" name="object 14"/>
          <p:cNvSpPr txBox="1"/>
          <p:nvPr/>
        </p:nvSpPr>
        <p:spPr>
          <a:xfrm>
            <a:off x="2930990" y="2391797"/>
            <a:ext cx="83820" cy="102235"/>
          </a:xfrm>
          <a:prstGeom prst="rect">
            <a:avLst/>
          </a:prstGeom>
        </p:spPr>
        <p:txBody>
          <a:bodyPr vert="horz" wrap="square" lIns="0" tIns="13335" rIns="0" bIns="0" rtlCol="0">
            <a:spAutoFit/>
          </a:bodyPr>
          <a:lstStyle/>
          <a:p>
            <a:pPr marL="12700">
              <a:lnSpc>
                <a:spcPct val="100000"/>
              </a:lnSpc>
              <a:spcBef>
                <a:spcPts val="105"/>
              </a:spcBef>
            </a:pPr>
            <a:r>
              <a:rPr sz="500" spc="-55" dirty="0">
                <a:solidFill>
                  <a:srgbClr val="231F20"/>
                </a:solidFill>
                <a:latin typeface="Helvetica"/>
                <a:cs typeface="Helvetica"/>
              </a:rPr>
              <a:t>11</a:t>
            </a:r>
            <a:endParaRPr sz="500">
              <a:latin typeface="Helvetica"/>
              <a:cs typeface="Helvetica"/>
            </a:endParaRPr>
          </a:p>
        </p:txBody>
      </p:sp>
      <p:sp>
        <p:nvSpPr>
          <p:cNvPr id="15" name="object 15"/>
          <p:cNvSpPr txBox="1"/>
          <p:nvPr/>
        </p:nvSpPr>
        <p:spPr>
          <a:xfrm>
            <a:off x="2814975" y="2523813"/>
            <a:ext cx="83820" cy="102235"/>
          </a:xfrm>
          <a:prstGeom prst="rect">
            <a:avLst/>
          </a:prstGeom>
        </p:spPr>
        <p:txBody>
          <a:bodyPr vert="horz" wrap="square" lIns="0" tIns="13335" rIns="0" bIns="0" rtlCol="0">
            <a:spAutoFit/>
          </a:bodyPr>
          <a:lstStyle/>
          <a:p>
            <a:pPr marL="12700">
              <a:lnSpc>
                <a:spcPct val="100000"/>
              </a:lnSpc>
              <a:spcBef>
                <a:spcPts val="105"/>
              </a:spcBef>
            </a:pPr>
            <a:r>
              <a:rPr sz="500" spc="-55" dirty="0">
                <a:solidFill>
                  <a:srgbClr val="231F20"/>
                </a:solidFill>
                <a:latin typeface="Helvetica"/>
                <a:cs typeface="Helvetica"/>
              </a:rPr>
              <a:t>12</a:t>
            </a:r>
            <a:endParaRPr sz="500">
              <a:latin typeface="Helvetica"/>
              <a:cs typeface="Helvetica"/>
            </a:endParaRPr>
          </a:p>
        </p:txBody>
      </p:sp>
      <p:sp>
        <p:nvSpPr>
          <p:cNvPr id="16" name="object 16"/>
          <p:cNvSpPr txBox="1"/>
          <p:nvPr/>
        </p:nvSpPr>
        <p:spPr>
          <a:xfrm>
            <a:off x="2684959" y="2627827"/>
            <a:ext cx="83820" cy="102235"/>
          </a:xfrm>
          <a:prstGeom prst="rect">
            <a:avLst/>
          </a:prstGeom>
        </p:spPr>
        <p:txBody>
          <a:bodyPr vert="horz" wrap="square" lIns="0" tIns="13335" rIns="0" bIns="0" rtlCol="0">
            <a:spAutoFit/>
          </a:bodyPr>
          <a:lstStyle/>
          <a:p>
            <a:pPr marL="12700">
              <a:lnSpc>
                <a:spcPct val="100000"/>
              </a:lnSpc>
              <a:spcBef>
                <a:spcPts val="105"/>
              </a:spcBef>
            </a:pPr>
            <a:r>
              <a:rPr sz="500" spc="-55" dirty="0">
                <a:solidFill>
                  <a:srgbClr val="231F20"/>
                </a:solidFill>
                <a:latin typeface="Helvetica"/>
                <a:cs typeface="Helvetica"/>
              </a:rPr>
              <a:t>13</a:t>
            </a:r>
            <a:endParaRPr sz="500">
              <a:latin typeface="Helvetica"/>
              <a:cs typeface="Helvetica"/>
            </a:endParaRPr>
          </a:p>
        </p:txBody>
      </p:sp>
      <p:sp>
        <p:nvSpPr>
          <p:cNvPr id="17" name="object 17"/>
          <p:cNvSpPr txBox="1"/>
          <p:nvPr/>
        </p:nvSpPr>
        <p:spPr>
          <a:xfrm>
            <a:off x="2536940" y="2711837"/>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14</a:t>
            </a:r>
            <a:endParaRPr sz="500">
              <a:latin typeface="Helvetica"/>
              <a:cs typeface="Helvetica"/>
            </a:endParaRPr>
          </a:p>
        </p:txBody>
      </p:sp>
      <p:sp>
        <p:nvSpPr>
          <p:cNvPr id="18" name="object 18"/>
          <p:cNvSpPr txBox="1"/>
          <p:nvPr/>
        </p:nvSpPr>
        <p:spPr>
          <a:xfrm>
            <a:off x="2370813" y="2759037"/>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15</a:t>
            </a:r>
            <a:endParaRPr sz="500">
              <a:latin typeface="Helvetica"/>
              <a:cs typeface="Helvetica"/>
            </a:endParaRPr>
          </a:p>
        </p:txBody>
      </p:sp>
      <p:sp>
        <p:nvSpPr>
          <p:cNvPr id="19" name="object 19"/>
          <p:cNvSpPr txBox="1"/>
          <p:nvPr/>
        </p:nvSpPr>
        <p:spPr>
          <a:xfrm>
            <a:off x="2204899" y="2773845"/>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16</a:t>
            </a:r>
            <a:endParaRPr sz="500">
              <a:latin typeface="Helvetica"/>
              <a:cs typeface="Helvetica"/>
            </a:endParaRPr>
          </a:p>
        </p:txBody>
      </p:sp>
      <p:sp>
        <p:nvSpPr>
          <p:cNvPr id="20" name="object 20"/>
          <p:cNvSpPr txBox="1"/>
          <p:nvPr/>
        </p:nvSpPr>
        <p:spPr>
          <a:xfrm>
            <a:off x="2033981" y="2765637"/>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17</a:t>
            </a:r>
            <a:endParaRPr sz="500">
              <a:latin typeface="Helvetica"/>
              <a:cs typeface="Helvetica"/>
            </a:endParaRPr>
          </a:p>
        </p:txBody>
      </p:sp>
      <p:sp>
        <p:nvSpPr>
          <p:cNvPr id="21" name="object 21"/>
          <p:cNvSpPr txBox="1"/>
          <p:nvPr/>
        </p:nvSpPr>
        <p:spPr>
          <a:xfrm>
            <a:off x="1872857" y="2711837"/>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18</a:t>
            </a:r>
            <a:endParaRPr sz="500">
              <a:latin typeface="Helvetica"/>
              <a:cs typeface="Helvetica"/>
            </a:endParaRPr>
          </a:p>
        </p:txBody>
      </p:sp>
      <p:sp>
        <p:nvSpPr>
          <p:cNvPr id="22" name="object 22"/>
          <p:cNvSpPr txBox="1"/>
          <p:nvPr/>
        </p:nvSpPr>
        <p:spPr>
          <a:xfrm>
            <a:off x="1724839" y="2631827"/>
            <a:ext cx="83820" cy="102235"/>
          </a:xfrm>
          <a:prstGeom prst="rect">
            <a:avLst/>
          </a:prstGeom>
        </p:spPr>
        <p:txBody>
          <a:bodyPr vert="horz" wrap="square" lIns="0" tIns="12700" rIns="0" bIns="0" rtlCol="0">
            <a:spAutoFit/>
          </a:bodyPr>
          <a:lstStyle/>
          <a:p>
            <a:pPr marL="12700">
              <a:lnSpc>
                <a:spcPct val="100000"/>
              </a:lnSpc>
              <a:spcBef>
                <a:spcPts val="100"/>
              </a:spcBef>
            </a:pPr>
            <a:r>
              <a:rPr sz="500" spc="-55" dirty="0">
                <a:solidFill>
                  <a:srgbClr val="231F20"/>
                </a:solidFill>
                <a:latin typeface="Helvetica"/>
                <a:cs typeface="Helvetica"/>
              </a:rPr>
              <a:t>19</a:t>
            </a:r>
            <a:endParaRPr sz="500">
              <a:latin typeface="Helvetica"/>
              <a:cs typeface="Helvetica"/>
            </a:endParaRPr>
          </a:p>
        </p:txBody>
      </p:sp>
      <p:sp>
        <p:nvSpPr>
          <p:cNvPr id="23" name="object 23"/>
          <p:cNvSpPr txBox="1"/>
          <p:nvPr/>
        </p:nvSpPr>
        <p:spPr>
          <a:xfrm>
            <a:off x="1597223" y="2521813"/>
            <a:ext cx="90170" cy="102235"/>
          </a:xfrm>
          <a:prstGeom prst="rect">
            <a:avLst/>
          </a:prstGeom>
        </p:spPr>
        <p:txBody>
          <a:bodyPr vert="horz" wrap="square" lIns="0" tIns="13335" rIns="0" bIns="0" rtlCol="0">
            <a:spAutoFit/>
          </a:bodyPr>
          <a:lstStyle/>
          <a:p>
            <a:pPr marL="12700">
              <a:lnSpc>
                <a:spcPct val="100000"/>
              </a:lnSpc>
              <a:spcBef>
                <a:spcPts val="105"/>
              </a:spcBef>
            </a:pPr>
            <a:r>
              <a:rPr sz="500" spc="-30" dirty="0">
                <a:solidFill>
                  <a:srgbClr val="231F20"/>
                </a:solidFill>
                <a:latin typeface="Helvetica"/>
                <a:cs typeface="Helvetica"/>
              </a:rPr>
              <a:t>20</a:t>
            </a:r>
            <a:endParaRPr sz="500">
              <a:latin typeface="Helvetica"/>
              <a:cs typeface="Helvetica"/>
            </a:endParaRPr>
          </a:p>
        </p:txBody>
      </p:sp>
      <p:sp>
        <p:nvSpPr>
          <p:cNvPr id="24" name="object 24"/>
          <p:cNvSpPr txBox="1"/>
          <p:nvPr/>
        </p:nvSpPr>
        <p:spPr>
          <a:xfrm>
            <a:off x="1494810" y="2389797"/>
            <a:ext cx="83820" cy="102235"/>
          </a:xfrm>
          <a:prstGeom prst="rect">
            <a:avLst/>
          </a:prstGeom>
        </p:spPr>
        <p:txBody>
          <a:bodyPr vert="horz" wrap="square" lIns="0" tIns="13335" rIns="0" bIns="0" rtlCol="0">
            <a:spAutoFit/>
          </a:bodyPr>
          <a:lstStyle/>
          <a:p>
            <a:pPr marL="12700">
              <a:lnSpc>
                <a:spcPct val="100000"/>
              </a:lnSpc>
              <a:spcBef>
                <a:spcPts val="105"/>
              </a:spcBef>
            </a:pPr>
            <a:r>
              <a:rPr sz="500" spc="-55" dirty="0">
                <a:solidFill>
                  <a:srgbClr val="231F20"/>
                </a:solidFill>
                <a:latin typeface="Helvetica"/>
                <a:cs typeface="Helvetica"/>
              </a:rPr>
              <a:t>21</a:t>
            </a:r>
            <a:endParaRPr sz="500">
              <a:latin typeface="Helvetica"/>
              <a:cs typeface="Helvetica"/>
            </a:endParaRPr>
          </a:p>
        </p:txBody>
      </p:sp>
      <p:sp>
        <p:nvSpPr>
          <p:cNvPr id="25" name="object 25"/>
          <p:cNvSpPr txBox="1"/>
          <p:nvPr/>
        </p:nvSpPr>
        <p:spPr>
          <a:xfrm>
            <a:off x="1409199" y="2239778"/>
            <a:ext cx="90170" cy="102235"/>
          </a:xfrm>
          <a:prstGeom prst="rect">
            <a:avLst/>
          </a:prstGeom>
        </p:spPr>
        <p:txBody>
          <a:bodyPr vert="horz" wrap="square" lIns="0" tIns="13335" rIns="0" bIns="0" rtlCol="0">
            <a:spAutoFit/>
          </a:bodyPr>
          <a:lstStyle/>
          <a:p>
            <a:pPr marL="12700">
              <a:lnSpc>
                <a:spcPct val="100000"/>
              </a:lnSpc>
              <a:spcBef>
                <a:spcPts val="105"/>
              </a:spcBef>
            </a:pPr>
            <a:r>
              <a:rPr sz="500" spc="-30" dirty="0">
                <a:solidFill>
                  <a:srgbClr val="231F20"/>
                </a:solidFill>
                <a:latin typeface="Helvetica"/>
                <a:cs typeface="Helvetica"/>
              </a:rPr>
              <a:t>22</a:t>
            </a:r>
            <a:endParaRPr sz="500">
              <a:latin typeface="Helvetica"/>
              <a:cs typeface="Helvetica"/>
            </a:endParaRPr>
          </a:p>
        </p:txBody>
      </p:sp>
      <p:sp>
        <p:nvSpPr>
          <p:cNvPr id="26" name="object 26"/>
          <p:cNvSpPr txBox="1"/>
          <p:nvPr/>
        </p:nvSpPr>
        <p:spPr>
          <a:xfrm>
            <a:off x="1361193" y="2077758"/>
            <a:ext cx="90170" cy="102235"/>
          </a:xfrm>
          <a:prstGeom prst="rect">
            <a:avLst/>
          </a:prstGeom>
        </p:spPr>
        <p:txBody>
          <a:bodyPr vert="horz" wrap="square" lIns="0" tIns="13335" rIns="0" bIns="0" rtlCol="0">
            <a:spAutoFit/>
          </a:bodyPr>
          <a:lstStyle/>
          <a:p>
            <a:pPr marL="12700">
              <a:lnSpc>
                <a:spcPct val="100000"/>
              </a:lnSpc>
              <a:spcBef>
                <a:spcPts val="105"/>
              </a:spcBef>
            </a:pPr>
            <a:r>
              <a:rPr sz="500" spc="-30" dirty="0">
                <a:solidFill>
                  <a:srgbClr val="231F20"/>
                </a:solidFill>
                <a:latin typeface="Helvetica"/>
                <a:cs typeface="Helvetica"/>
              </a:rPr>
              <a:t>23</a:t>
            </a:r>
            <a:endParaRPr sz="500">
              <a:latin typeface="Helvetica"/>
              <a:cs typeface="Helvetica"/>
            </a:endParaRPr>
          </a:p>
        </p:txBody>
      </p:sp>
      <p:sp>
        <p:nvSpPr>
          <p:cNvPr id="27" name="object 27"/>
          <p:cNvSpPr txBox="1"/>
          <p:nvPr/>
        </p:nvSpPr>
        <p:spPr>
          <a:xfrm>
            <a:off x="1345191" y="1911737"/>
            <a:ext cx="90170" cy="102235"/>
          </a:xfrm>
          <a:prstGeom prst="rect">
            <a:avLst/>
          </a:prstGeom>
        </p:spPr>
        <p:txBody>
          <a:bodyPr vert="horz" wrap="square" lIns="0" tIns="13335" rIns="0" bIns="0" rtlCol="0">
            <a:spAutoFit/>
          </a:bodyPr>
          <a:lstStyle/>
          <a:p>
            <a:pPr marL="12700">
              <a:lnSpc>
                <a:spcPct val="100000"/>
              </a:lnSpc>
              <a:spcBef>
                <a:spcPts val="105"/>
              </a:spcBef>
            </a:pPr>
            <a:r>
              <a:rPr sz="500" spc="-30" dirty="0">
                <a:solidFill>
                  <a:srgbClr val="231F20"/>
                </a:solidFill>
                <a:latin typeface="Helvetica"/>
                <a:cs typeface="Helvetica"/>
              </a:rPr>
              <a:t>24</a:t>
            </a:r>
            <a:endParaRPr sz="500">
              <a:latin typeface="Helvetica"/>
              <a:cs typeface="Helvetica"/>
            </a:endParaRPr>
          </a:p>
        </p:txBody>
      </p:sp>
      <p:sp>
        <p:nvSpPr>
          <p:cNvPr id="28" name="object 28"/>
          <p:cNvSpPr txBox="1"/>
          <p:nvPr/>
        </p:nvSpPr>
        <p:spPr>
          <a:xfrm>
            <a:off x="1361193" y="1741716"/>
            <a:ext cx="90170" cy="102235"/>
          </a:xfrm>
          <a:prstGeom prst="rect">
            <a:avLst/>
          </a:prstGeom>
        </p:spPr>
        <p:txBody>
          <a:bodyPr vert="horz" wrap="square" lIns="0" tIns="12700" rIns="0" bIns="0" rtlCol="0">
            <a:spAutoFit/>
          </a:bodyPr>
          <a:lstStyle/>
          <a:p>
            <a:pPr marL="12700">
              <a:lnSpc>
                <a:spcPct val="100000"/>
              </a:lnSpc>
              <a:spcBef>
                <a:spcPts val="100"/>
              </a:spcBef>
            </a:pPr>
            <a:r>
              <a:rPr sz="500" spc="-30" dirty="0">
                <a:solidFill>
                  <a:srgbClr val="231F20"/>
                </a:solidFill>
                <a:latin typeface="Helvetica"/>
                <a:cs typeface="Helvetica"/>
              </a:rPr>
              <a:t>25</a:t>
            </a:r>
            <a:endParaRPr sz="500">
              <a:latin typeface="Helvetica"/>
              <a:cs typeface="Helvetica"/>
            </a:endParaRPr>
          </a:p>
        </p:txBody>
      </p:sp>
      <p:sp>
        <p:nvSpPr>
          <p:cNvPr id="29" name="object 29"/>
          <p:cNvSpPr txBox="1"/>
          <p:nvPr/>
        </p:nvSpPr>
        <p:spPr>
          <a:xfrm>
            <a:off x="1411200" y="1579695"/>
            <a:ext cx="90170" cy="102235"/>
          </a:xfrm>
          <a:prstGeom prst="rect">
            <a:avLst/>
          </a:prstGeom>
        </p:spPr>
        <p:txBody>
          <a:bodyPr vert="horz" wrap="square" lIns="0" tIns="12700" rIns="0" bIns="0" rtlCol="0">
            <a:spAutoFit/>
          </a:bodyPr>
          <a:lstStyle/>
          <a:p>
            <a:pPr marL="12700">
              <a:lnSpc>
                <a:spcPct val="100000"/>
              </a:lnSpc>
              <a:spcBef>
                <a:spcPts val="100"/>
              </a:spcBef>
            </a:pPr>
            <a:r>
              <a:rPr sz="500" spc="-30" dirty="0">
                <a:solidFill>
                  <a:srgbClr val="231F20"/>
                </a:solidFill>
                <a:latin typeface="Helvetica"/>
                <a:cs typeface="Helvetica"/>
              </a:rPr>
              <a:t>26</a:t>
            </a:r>
            <a:endParaRPr sz="500">
              <a:latin typeface="Helvetica"/>
              <a:cs typeface="Helvetica"/>
            </a:endParaRPr>
          </a:p>
        </p:txBody>
      </p:sp>
      <p:sp>
        <p:nvSpPr>
          <p:cNvPr id="30" name="object 30"/>
          <p:cNvSpPr txBox="1"/>
          <p:nvPr/>
        </p:nvSpPr>
        <p:spPr>
          <a:xfrm>
            <a:off x="1487209" y="1431677"/>
            <a:ext cx="90170" cy="102235"/>
          </a:xfrm>
          <a:prstGeom prst="rect">
            <a:avLst/>
          </a:prstGeom>
        </p:spPr>
        <p:txBody>
          <a:bodyPr vert="horz" wrap="square" lIns="0" tIns="12700" rIns="0" bIns="0" rtlCol="0">
            <a:spAutoFit/>
          </a:bodyPr>
          <a:lstStyle/>
          <a:p>
            <a:pPr marL="12700">
              <a:lnSpc>
                <a:spcPct val="100000"/>
              </a:lnSpc>
              <a:spcBef>
                <a:spcPts val="100"/>
              </a:spcBef>
            </a:pPr>
            <a:r>
              <a:rPr sz="500" spc="-30" dirty="0">
                <a:solidFill>
                  <a:srgbClr val="231F20"/>
                </a:solidFill>
                <a:latin typeface="Helvetica"/>
                <a:cs typeface="Helvetica"/>
              </a:rPr>
              <a:t>27</a:t>
            </a:r>
            <a:endParaRPr sz="500">
              <a:latin typeface="Helvetica"/>
              <a:cs typeface="Helvetica"/>
            </a:endParaRPr>
          </a:p>
        </p:txBody>
      </p:sp>
      <p:sp>
        <p:nvSpPr>
          <p:cNvPr id="31" name="object 31"/>
          <p:cNvSpPr txBox="1"/>
          <p:nvPr/>
        </p:nvSpPr>
        <p:spPr>
          <a:xfrm>
            <a:off x="1596223" y="1298160"/>
            <a:ext cx="90170" cy="102235"/>
          </a:xfrm>
          <a:prstGeom prst="rect">
            <a:avLst/>
          </a:prstGeom>
        </p:spPr>
        <p:txBody>
          <a:bodyPr vert="horz" wrap="square" lIns="0" tIns="12700" rIns="0" bIns="0" rtlCol="0">
            <a:spAutoFit/>
          </a:bodyPr>
          <a:lstStyle/>
          <a:p>
            <a:pPr marL="12700">
              <a:lnSpc>
                <a:spcPct val="100000"/>
              </a:lnSpc>
              <a:spcBef>
                <a:spcPts val="100"/>
              </a:spcBef>
            </a:pPr>
            <a:r>
              <a:rPr sz="500" spc="-30" dirty="0">
                <a:solidFill>
                  <a:srgbClr val="231F20"/>
                </a:solidFill>
                <a:latin typeface="Helvetica"/>
                <a:cs typeface="Helvetica"/>
              </a:rPr>
              <a:t>28</a:t>
            </a:r>
            <a:endParaRPr sz="500">
              <a:latin typeface="Helvetica"/>
              <a:cs typeface="Helvetica"/>
            </a:endParaRPr>
          </a:p>
        </p:txBody>
      </p:sp>
      <p:sp>
        <p:nvSpPr>
          <p:cNvPr id="32" name="object 32"/>
          <p:cNvSpPr txBox="1"/>
          <p:nvPr/>
        </p:nvSpPr>
        <p:spPr>
          <a:xfrm>
            <a:off x="1729239" y="1193647"/>
            <a:ext cx="90170" cy="102235"/>
          </a:xfrm>
          <a:prstGeom prst="rect">
            <a:avLst/>
          </a:prstGeom>
        </p:spPr>
        <p:txBody>
          <a:bodyPr vert="horz" wrap="square" lIns="0" tIns="12700" rIns="0" bIns="0" rtlCol="0">
            <a:spAutoFit/>
          </a:bodyPr>
          <a:lstStyle/>
          <a:p>
            <a:pPr marL="12700">
              <a:lnSpc>
                <a:spcPct val="100000"/>
              </a:lnSpc>
              <a:spcBef>
                <a:spcPts val="100"/>
              </a:spcBef>
            </a:pPr>
            <a:r>
              <a:rPr sz="500" spc="-30" dirty="0">
                <a:solidFill>
                  <a:srgbClr val="231F20"/>
                </a:solidFill>
                <a:latin typeface="Helvetica"/>
                <a:cs typeface="Helvetica"/>
              </a:rPr>
              <a:t>29</a:t>
            </a:r>
            <a:endParaRPr sz="500">
              <a:latin typeface="Helvetica"/>
              <a:cs typeface="Helvetica"/>
            </a:endParaRPr>
          </a:p>
        </p:txBody>
      </p:sp>
      <p:sp>
        <p:nvSpPr>
          <p:cNvPr id="33" name="object 33"/>
          <p:cNvSpPr txBox="1"/>
          <p:nvPr/>
        </p:nvSpPr>
        <p:spPr>
          <a:xfrm>
            <a:off x="1877258" y="1114034"/>
            <a:ext cx="741045" cy="102235"/>
          </a:xfrm>
          <a:prstGeom prst="rect">
            <a:avLst/>
          </a:prstGeom>
        </p:spPr>
        <p:txBody>
          <a:bodyPr vert="horz" wrap="square" lIns="0" tIns="12700" rIns="0" bIns="0" rtlCol="0">
            <a:spAutoFit/>
          </a:bodyPr>
          <a:lstStyle/>
          <a:p>
            <a:pPr marL="12700">
              <a:lnSpc>
                <a:spcPct val="100000"/>
              </a:lnSpc>
              <a:spcBef>
                <a:spcPts val="100"/>
              </a:spcBef>
              <a:tabLst>
                <a:tab pos="691515" algn="l"/>
              </a:tabLst>
            </a:pPr>
            <a:r>
              <a:rPr sz="500" spc="-30" dirty="0">
                <a:solidFill>
                  <a:srgbClr val="231F20"/>
                </a:solidFill>
                <a:latin typeface="Helvetica"/>
                <a:cs typeface="Helvetica"/>
              </a:rPr>
              <a:t>3</a:t>
            </a:r>
            <a:r>
              <a:rPr sz="500" dirty="0">
                <a:solidFill>
                  <a:srgbClr val="231F20"/>
                </a:solidFill>
                <a:latin typeface="Helvetica"/>
                <a:cs typeface="Helvetica"/>
              </a:rPr>
              <a:t>0	2</a:t>
            </a:r>
            <a:endParaRPr sz="500">
              <a:latin typeface="Helvetica"/>
              <a:cs typeface="Helvetica"/>
            </a:endParaRPr>
          </a:p>
        </p:txBody>
      </p:sp>
      <p:sp>
        <p:nvSpPr>
          <p:cNvPr id="34" name="object 34"/>
          <p:cNvSpPr txBox="1"/>
          <p:nvPr/>
        </p:nvSpPr>
        <p:spPr>
          <a:xfrm>
            <a:off x="2041278" y="1066831"/>
            <a:ext cx="413384" cy="102235"/>
          </a:xfrm>
          <a:prstGeom prst="rect">
            <a:avLst/>
          </a:prstGeom>
        </p:spPr>
        <p:txBody>
          <a:bodyPr vert="horz" wrap="square" lIns="0" tIns="12700" rIns="0" bIns="0" rtlCol="0">
            <a:spAutoFit/>
          </a:bodyPr>
          <a:lstStyle/>
          <a:p>
            <a:pPr marL="12700">
              <a:lnSpc>
                <a:spcPct val="100000"/>
              </a:lnSpc>
              <a:spcBef>
                <a:spcPts val="100"/>
              </a:spcBef>
              <a:tabLst>
                <a:tab pos="363855" algn="l"/>
              </a:tabLst>
            </a:pPr>
            <a:r>
              <a:rPr sz="750" spc="-44" baseline="5555" dirty="0">
                <a:solidFill>
                  <a:srgbClr val="231F20"/>
                </a:solidFill>
                <a:latin typeface="Helvetica"/>
                <a:cs typeface="Helvetica"/>
              </a:rPr>
              <a:t>3</a:t>
            </a:r>
            <a:r>
              <a:rPr sz="750" baseline="5555" dirty="0">
                <a:solidFill>
                  <a:srgbClr val="231F20"/>
                </a:solidFill>
                <a:latin typeface="Helvetica"/>
                <a:cs typeface="Helvetica"/>
              </a:rPr>
              <a:t>1	</a:t>
            </a:r>
            <a:r>
              <a:rPr sz="500" dirty="0">
                <a:solidFill>
                  <a:srgbClr val="231F20"/>
                </a:solidFill>
                <a:latin typeface="Helvetica"/>
                <a:cs typeface="Helvetica"/>
              </a:rPr>
              <a:t>1</a:t>
            </a:r>
            <a:endParaRPr sz="500">
              <a:latin typeface="Helvetica"/>
              <a:cs typeface="Helvetica"/>
            </a:endParaRPr>
          </a:p>
        </p:txBody>
      </p:sp>
      <p:sp>
        <p:nvSpPr>
          <p:cNvPr id="35" name="object 35"/>
          <p:cNvSpPr txBox="1"/>
          <p:nvPr/>
        </p:nvSpPr>
        <p:spPr>
          <a:xfrm>
            <a:off x="3293453" y="1946309"/>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11</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11</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14</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325" dirty="0">
                <a:solidFill>
                  <a:srgbClr val="231F20"/>
                </a:solidFill>
                <a:latin typeface="Helvetica"/>
                <a:cs typeface="Helvetica"/>
              </a:rPr>
              <a:t> </a:t>
            </a:r>
            <a:r>
              <a:rPr sz="450" spc="-10" dirty="0">
                <a:solidFill>
                  <a:srgbClr val="231F20"/>
                </a:solidFill>
                <a:latin typeface="Helvetica"/>
                <a:cs typeface="Helvetica"/>
              </a:rPr>
              <a:t>18</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p:txBody>
      </p:sp>
      <p:sp>
        <p:nvSpPr>
          <p:cNvPr id="36" name="object 36"/>
          <p:cNvSpPr txBox="1"/>
          <p:nvPr/>
        </p:nvSpPr>
        <p:spPr>
          <a:xfrm>
            <a:off x="3149435" y="2407171"/>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14</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14</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18</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325" dirty="0">
                <a:solidFill>
                  <a:srgbClr val="231F20"/>
                </a:solidFill>
                <a:latin typeface="Helvetica"/>
                <a:cs typeface="Helvetica"/>
              </a:rPr>
              <a:t> </a:t>
            </a:r>
            <a:r>
              <a:rPr sz="450" spc="-10" dirty="0">
                <a:solidFill>
                  <a:srgbClr val="231F20"/>
                </a:solidFill>
                <a:latin typeface="Helvetica"/>
                <a:cs typeface="Helvetica"/>
              </a:rPr>
              <a:t>20</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p:txBody>
      </p:sp>
      <p:sp>
        <p:nvSpPr>
          <p:cNvPr id="37" name="object 37"/>
          <p:cNvSpPr txBox="1"/>
          <p:nvPr/>
        </p:nvSpPr>
        <p:spPr>
          <a:xfrm>
            <a:off x="2746184" y="2781614"/>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18</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18</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18</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204" dirty="0">
                <a:solidFill>
                  <a:srgbClr val="231F20"/>
                </a:solidFill>
                <a:latin typeface="Helvetica"/>
                <a:cs typeface="Helvetica"/>
              </a:rPr>
              <a:t>  </a:t>
            </a:r>
            <a:r>
              <a:rPr sz="450" spc="-10" dirty="0">
                <a:solidFill>
                  <a:srgbClr val="231F20"/>
                </a:solidFill>
                <a:latin typeface="Helvetica"/>
                <a:cs typeface="Helvetica"/>
              </a:rPr>
              <a:t>1</a:t>
            </a:r>
            <a:endParaRPr sz="450">
              <a:latin typeface="Helvetica"/>
              <a:cs typeface="Helvetica"/>
            </a:endParaRPr>
          </a:p>
        </p:txBody>
      </p:sp>
      <p:sp>
        <p:nvSpPr>
          <p:cNvPr id="38" name="object 38"/>
          <p:cNvSpPr txBox="1"/>
          <p:nvPr/>
        </p:nvSpPr>
        <p:spPr>
          <a:xfrm>
            <a:off x="1824471" y="2896829"/>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20</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20</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204" dirty="0">
                <a:solidFill>
                  <a:srgbClr val="231F20"/>
                </a:solidFill>
                <a:latin typeface="Helvetica"/>
                <a:cs typeface="Helvetica"/>
              </a:rPr>
              <a:t>  </a:t>
            </a:r>
            <a:r>
              <a:rPr sz="450" spc="-10" dirty="0">
                <a:solidFill>
                  <a:srgbClr val="231F20"/>
                </a:solidFill>
                <a:latin typeface="Helvetica"/>
                <a:cs typeface="Helvetica"/>
              </a:rPr>
              <a:t>4</a:t>
            </a:r>
            <a:endParaRPr sz="450">
              <a:latin typeface="Helvetica"/>
              <a:cs typeface="Helvetica"/>
            </a:endParaRPr>
          </a:p>
        </p:txBody>
      </p:sp>
      <p:sp>
        <p:nvSpPr>
          <p:cNvPr id="39" name="object 39"/>
          <p:cNvSpPr txBox="1"/>
          <p:nvPr/>
        </p:nvSpPr>
        <p:spPr>
          <a:xfrm>
            <a:off x="1421221" y="2666400"/>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21</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204" dirty="0">
                <a:solidFill>
                  <a:srgbClr val="231F20"/>
                </a:solidFill>
                <a:latin typeface="Helvetica"/>
                <a:cs typeface="Helvetica"/>
              </a:rPr>
              <a:t>  </a:t>
            </a:r>
            <a:r>
              <a:rPr sz="450" spc="-10" dirty="0">
                <a:solidFill>
                  <a:srgbClr val="231F20"/>
                </a:solidFill>
                <a:latin typeface="Helvetica"/>
                <a:cs typeface="Helvetica"/>
              </a:rPr>
              <a:t>4</a:t>
            </a:r>
            <a:endParaRPr sz="450">
              <a:latin typeface="Helvetica"/>
              <a:cs typeface="Helvetica"/>
            </a:endParaRPr>
          </a:p>
        </p:txBody>
      </p:sp>
      <p:sp>
        <p:nvSpPr>
          <p:cNvPr id="40" name="object 40"/>
          <p:cNvSpPr txBox="1"/>
          <p:nvPr/>
        </p:nvSpPr>
        <p:spPr>
          <a:xfrm>
            <a:off x="1133185" y="2320756"/>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325" dirty="0">
                <a:solidFill>
                  <a:srgbClr val="231F20"/>
                </a:solidFill>
                <a:latin typeface="Helvetica"/>
                <a:cs typeface="Helvetica"/>
              </a:rPr>
              <a:t> </a:t>
            </a:r>
            <a:r>
              <a:rPr sz="450" spc="-10" dirty="0">
                <a:solidFill>
                  <a:srgbClr val="231F20"/>
                </a:solidFill>
                <a:latin typeface="Helvetica"/>
                <a:cs typeface="Helvetica"/>
              </a:rPr>
              <a:t>28</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204" dirty="0">
                <a:solidFill>
                  <a:srgbClr val="231F20"/>
                </a:solidFill>
                <a:latin typeface="Helvetica"/>
                <a:cs typeface="Helvetica"/>
              </a:rPr>
              <a:t>  </a:t>
            </a:r>
            <a:r>
              <a:rPr sz="450" spc="-10" dirty="0">
                <a:solidFill>
                  <a:srgbClr val="231F20"/>
                </a:solidFill>
                <a:latin typeface="Helvetica"/>
                <a:cs typeface="Helvetica"/>
              </a:rPr>
              <a:t>1</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p:txBody>
      </p:sp>
      <p:sp>
        <p:nvSpPr>
          <p:cNvPr id="41" name="object 41"/>
          <p:cNvSpPr txBox="1"/>
          <p:nvPr/>
        </p:nvSpPr>
        <p:spPr>
          <a:xfrm>
            <a:off x="1133185" y="1226219"/>
            <a:ext cx="187325" cy="323215"/>
          </a:xfrm>
          <a:prstGeom prst="rect">
            <a:avLst/>
          </a:prstGeom>
        </p:spPr>
        <p:txBody>
          <a:bodyPr vert="horz" wrap="square" lIns="0" tIns="11430" rIns="0" bIns="0" rtlCol="0">
            <a:spAutoFit/>
          </a:bodyPr>
          <a:lstStyle/>
          <a:p>
            <a:pPr marL="12700">
              <a:lnSpc>
                <a:spcPts val="495"/>
              </a:lnSpc>
              <a:spcBef>
                <a:spcPts val="90"/>
              </a:spcBef>
            </a:pPr>
            <a:r>
              <a:rPr sz="450" spc="-10" dirty="0">
                <a:solidFill>
                  <a:srgbClr val="231F20"/>
                </a:solidFill>
                <a:latin typeface="Helvetica"/>
                <a:cs typeface="Helvetica"/>
              </a:rPr>
              <a:t>1</a:t>
            </a:r>
            <a:r>
              <a:rPr sz="450" spc="204" dirty="0">
                <a:solidFill>
                  <a:srgbClr val="231F20"/>
                </a:solidFill>
                <a:latin typeface="Helvetica"/>
                <a:cs typeface="Helvetica"/>
              </a:rPr>
              <a:t>  </a:t>
            </a:r>
            <a:r>
              <a:rPr sz="450" spc="-10" dirty="0">
                <a:solidFill>
                  <a:srgbClr val="231F20"/>
                </a:solidFill>
                <a:latin typeface="Helvetica"/>
                <a:cs typeface="Helvetica"/>
              </a:rPr>
              <a:t>1</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204" dirty="0">
                <a:solidFill>
                  <a:srgbClr val="231F20"/>
                </a:solidFill>
                <a:latin typeface="Helvetica"/>
                <a:cs typeface="Helvetica"/>
              </a:rPr>
              <a:t>  </a:t>
            </a:r>
            <a:r>
              <a:rPr sz="450" spc="-10" dirty="0">
                <a:solidFill>
                  <a:srgbClr val="231F20"/>
                </a:solidFill>
                <a:latin typeface="Helvetica"/>
                <a:cs typeface="Helvetica"/>
              </a:rPr>
              <a:t>1</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204" dirty="0">
                <a:solidFill>
                  <a:srgbClr val="231F20"/>
                </a:solidFill>
                <a:latin typeface="Helvetica"/>
                <a:cs typeface="Helvetica"/>
              </a:rPr>
              <a:t>  </a:t>
            </a:r>
            <a:r>
              <a:rPr sz="450" spc="-10" dirty="0">
                <a:solidFill>
                  <a:srgbClr val="231F20"/>
                </a:solidFill>
                <a:latin typeface="Helvetica"/>
                <a:cs typeface="Helvetica"/>
              </a:rPr>
              <a:t>1</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204" dirty="0">
                <a:solidFill>
                  <a:srgbClr val="231F20"/>
                </a:solidFill>
                <a:latin typeface="Helvetica"/>
                <a:cs typeface="Helvetica"/>
              </a:rPr>
              <a:t>  </a:t>
            </a:r>
            <a:r>
              <a:rPr sz="450" spc="-10" dirty="0">
                <a:solidFill>
                  <a:srgbClr val="231F20"/>
                </a:solidFill>
                <a:latin typeface="Helvetica"/>
                <a:cs typeface="Helvetica"/>
              </a:rPr>
              <a:t>4</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325" dirty="0">
                <a:solidFill>
                  <a:srgbClr val="231F20"/>
                </a:solidFill>
                <a:latin typeface="Helvetica"/>
                <a:cs typeface="Helvetica"/>
              </a:rPr>
              <a:t> </a:t>
            </a:r>
            <a:r>
              <a:rPr sz="450" spc="-10" dirty="0">
                <a:solidFill>
                  <a:srgbClr val="231F20"/>
                </a:solidFill>
                <a:latin typeface="Helvetica"/>
                <a:cs typeface="Helvetica"/>
              </a:rPr>
              <a:t>14</a:t>
            </a:r>
            <a:endParaRPr sz="450">
              <a:latin typeface="Helvetica"/>
              <a:cs typeface="Helvetica"/>
            </a:endParaRPr>
          </a:p>
        </p:txBody>
      </p:sp>
      <p:sp>
        <p:nvSpPr>
          <p:cNvPr id="42" name="object 42"/>
          <p:cNvSpPr txBox="1"/>
          <p:nvPr/>
        </p:nvSpPr>
        <p:spPr>
          <a:xfrm>
            <a:off x="1855497" y="2092431"/>
            <a:ext cx="448945" cy="178435"/>
          </a:xfrm>
          <a:prstGeom prst="rect">
            <a:avLst/>
          </a:prstGeom>
        </p:spPr>
        <p:txBody>
          <a:bodyPr vert="horz" wrap="square" lIns="0" tIns="13335" rIns="0" bIns="0" rtlCol="0">
            <a:spAutoFit/>
          </a:bodyPr>
          <a:lstStyle/>
          <a:p>
            <a:pPr marL="53340" marR="5080" indent="-41275">
              <a:lnSpc>
                <a:spcPct val="100000"/>
              </a:lnSpc>
              <a:spcBef>
                <a:spcPts val="105"/>
              </a:spcBef>
            </a:pPr>
            <a:r>
              <a:rPr sz="500" spc="-5" dirty="0">
                <a:solidFill>
                  <a:srgbClr val="231F20"/>
                </a:solidFill>
                <a:latin typeface="Helvetica"/>
                <a:cs typeface="Helvetica"/>
              </a:rPr>
              <a:t>Resolve</a:t>
            </a:r>
            <a:r>
              <a:rPr sz="500" spc="-20" dirty="0">
                <a:solidFill>
                  <a:srgbClr val="231F20"/>
                </a:solidFill>
                <a:latin typeface="Helvetica"/>
                <a:cs typeface="Helvetica"/>
              </a:rPr>
              <a:t> </a:t>
            </a:r>
            <a:r>
              <a:rPr sz="500" dirty="0">
                <a:solidFill>
                  <a:srgbClr val="231F20"/>
                </a:solidFill>
                <a:latin typeface="Helvetica"/>
                <a:cs typeface="Helvetica"/>
              </a:rPr>
              <a:t>k</a:t>
            </a:r>
            <a:r>
              <a:rPr sz="500" spc="-20" dirty="0">
                <a:solidFill>
                  <a:srgbClr val="231F20"/>
                </a:solidFill>
                <a:latin typeface="Helvetica"/>
                <a:cs typeface="Helvetica"/>
              </a:rPr>
              <a:t> </a:t>
            </a:r>
            <a:r>
              <a:rPr sz="500" dirty="0">
                <a:solidFill>
                  <a:srgbClr val="231F20"/>
                </a:solidFill>
                <a:latin typeface="Helvetica"/>
                <a:cs typeface="Helvetica"/>
              </a:rPr>
              <a:t>=</a:t>
            </a:r>
            <a:r>
              <a:rPr sz="500" spc="-15" dirty="0">
                <a:solidFill>
                  <a:srgbClr val="231F20"/>
                </a:solidFill>
                <a:latin typeface="Helvetica"/>
                <a:cs typeface="Helvetica"/>
              </a:rPr>
              <a:t> </a:t>
            </a:r>
            <a:r>
              <a:rPr sz="500" dirty="0">
                <a:solidFill>
                  <a:srgbClr val="231F20"/>
                </a:solidFill>
                <a:latin typeface="Helvetica"/>
                <a:cs typeface="Helvetica"/>
              </a:rPr>
              <a:t>26 </a:t>
            </a:r>
            <a:r>
              <a:rPr sz="500" spc="-125" dirty="0">
                <a:solidFill>
                  <a:srgbClr val="231F20"/>
                </a:solidFill>
                <a:latin typeface="Helvetica"/>
                <a:cs typeface="Helvetica"/>
              </a:rPr>
              <a:t> </a:t>
            </a:r>
            <a:r>
              <a:rPr sz="500" dirty="0">
                <a:solidFill>
                  <a:srgbClr val="231F20"/>
                </a:solidFill>
                <a:latin typeface="Helvetica"/>
                <a:cs typeface="Helvetica"/>
              </a:rPr>
              <a:t>from</a:t>
            </a:r>
            <a:r>
              <a:rPr sz="500" spc="-20" dirty="0">
                <a:solidFill>
                  <a:srgbClr val="231F20"/>
                </a:solidFill>
                <a:latin typeface="Helvetica"/>
                <a:cs typeface="Helvetica"/>
              </a:rPr>
              <a:t> </a:t>
            </a:r>
            <a:r>
              <a:rPr sz="500" dirty="0">
                <a:solidFill>
                  <a:srgbClr val="231F20"/>
                </a:solidFill>
                <a:latin typeface="Helvetica"/>
                <a:cs typeface="Helvetica"/>
              </a:rPr>
              <a:t>node</a:t>
            </a:r>
            <a:r>
              <a:rPr sz="500" spc="-20" dirty="0">
                <a:solidFill>
                  <a:srgbClr val="231F20"/>
                </a:solidFill>
                <a:latin typeface="Helvetica"/>
                <a:cs typeface="Helvetica"/>
              </a:rPr>
              <a:t> </a:t>
            </a:r>
            <a:r>
              <a:rPr sz="500" dirty="0">
                <a:solidFill>
                  <a:srgbClr val="231F20"/>
                </a:solidFill>
                <a:latin typeface="Helvetica"/>
                <a:cs typeface="Helvetica"/>
              </a:rPr>
              <a:t>1</a:t>
            </a:r>
            <a:endParaRPr sz="500">
              <a:latin typeface="Helvetica"/>
              <a:cs typeface="Helvetica"/>
            </a:endParaRPr>
          </a:p>
        </p:txBody>
      </p:sp>
      <p:sp>
        <p:nvSpPr>
          <p:cNvPr id="43" name="object 43"/>
          <p:cNvSpPr txBox="1"/>
          <p:nvPr/>
        </p:nvSpPr>
        <p:spPr>
          <a:xfrm>
            <a:off x="1747483" y="1481683"/>
            <a:ext cx="448945" cy="178435"/>
          </a:xfrm>
          <a:prstGeom prst="rect">
            <a:avLst/>
          </a:prstGeom>
        </p:spPr>
        <p:txBody>
          <a:bodyPr vert="horz" wrap="square" lIns="0" tIns="12700" rIns="0" bIns="0" rtlCol="0">
            <a:spAutoFit/>
          </a:bodyPr>
          <a:lstStyle/>
          <a:p>
            <a:pPr marL="35560" marR="5080" indent="-23495">
              <a:lnSpc>
                <a:spcPct val="100000"/>
              </a:lnSpc>
              <a:spcBef>
                <a:spcPts val="100"/>
              </a:spcBef>
            </a:pPr>
            <a:r>
              <a:rPr sz="500" spc="-5" dirty="0">
                <a:solidFill>
                  <a:srgbClr val="231F20"/>
                </a:solidFill>
                <a:latin typeface="Helvetica"/>
                <a:cs typeface="Helvetica"/>
              </a:rPr>
              <a:t>Resolve</a:t>
            </a:r>
            <a:r>
              <a:rPr sz="500" spc="-20" dirty="0">
                <a:solidFill>
                  <a:srgbClr val="231F20"/>
                </a:solidFill>
                <a:latin typeface="Helvetica"/>
                <a:cs typeface="Helvetica"/>
              </a:rPr>
              <a:t> </a:t>
            </a:r>
            <a:r>
              <a:rPr sz="500" dirty="0">
                <a:solidFill>
                  <a:srgbClr val="231F20"/>
                </a:solidFill>
                <a:latin typeface="Helvetica"/>
                <a:cs typeface="Helvetica"/>
              </a:rPr>
              <a:t>k</a:t>
            </a:r>
            <a:r>
              <a:rPr sz="500" spc="-20" dirty="0">
                <a:solidFill>
                  <a:srgbClr val="231F20"/>
                </a:solidFill>
                <a:latin typeface="Helvetica"/>
                <a:cs typeface="Helvetica"/>
              </a:rPr>
              <a:t> </a:t>
            </a:r>
            <a:r>
              <a:rPr sz="500" dirty="0">
                <a:solidFill>
                  <a:srgbClr val="231F20"/>
                </a:solidFill>
                <a:latin typeface="Helvetica"/>
                <a:cs typeface="Helvetica"/>
              </a:rPr>
              <a:t>=</a:t>
            </a:r>
            <a:r>
              <a:rPr sz="500" spc="-15" dirty="0">
                <a:solidFill>
                  <a:srgbClr val="231F20"/>
                </a:solidFill>
                <a:latin typeface="Helvetica"/>
                <a:cs typeface="Helvetica"/>
              </a:rPr>
              <a:t> </a:t>
            </a:r>
            <a:r>
              <a:rPr sz="500" dirty="0">
                <a:solidFill>
                  <a:srgbClr val="231F20"/>
                </a:solidFill>
                <a:latin typeface="Helvetica"/>
                <a:cs typeface="Helvetica"/>
              </a:rPr>
              <a:t>12 </a:t>
            </a:r>
            <a:r>
              <a:rPr sz="500" spc="-125" dirty="0">
                <a:solidFill>
                  <a:srgbClr val="231F20"/>
                </a:solidFill>
                <a:latin typeface="Helvetica"/>
                <a:cs typeface="Helvetica"/>
              </a:rPr>
              <a:t> </a:t>
            </a:r>
            <a:r>
              <a:rPr sz="500" dirty="0">
                <a:solidFill>
                  <a:srgbClr val="231F20"/>
                </a:solidFill>
                <a:latin typeface="Helvetica"/>
                <a:cs typeface="Helvetica"/>
              </a:rPr>
              <a:t>from</a:t>
            </a:r>
            <a:r>
              <a:rPr sz="500" spc="-25" dirty="0">
                <a:solidFill>
                  <a:srgbClr val="231F20"/>
                </a:solidFill>
                <a:latin typeface="Helvetica"/>
                <a:cs typeface="Helvetica"/>
              </a:rPr>
              <a:t> </a:t>
            </a:r>
            <a:r>
              <a:rPr sz="500" dirty="0">
                <a:solidFill>
                  <a:srgbClr val="231F20"/>
                </a:solidFill>
                <a:latin typeface="Helvetica"/>
                <a:cs typeface="Helvetica"/>
              </a:rPr>
              <a:t>node</a:t>
            </a:r>
            <a:r>
              <a:rPr sz="500" spc="-25" dirty="0">
                <a:solidFill>
                  <a:srgbClr val="231F20"/>
                </a:solidFill>
                <a:latin typeface="Helvetica"/>
                <a:cs typeface="Helvetica"/>
              </a:rPr>
              <a:t> </a:t>
            </a:r>
            <a:r>
              <a:rPr sz="500" dirty="0">
                <a:solidFill>
                  <a:srgbClr val="231F20"/>
                </a:solidFill>
                <a:latin typeface="Helvetica"/>
                <a:cs typeface="Helvetica"/>
              </a:rPr>
              <a:t>28</a:t>
            </a:r>
            <a:endParaRPr sz="500">
              <a:latin typeface="Helvetica"/>
              <a:cs typeface="Helvetica"/>
            </a:endParaRPr>
          </a:p>
        </p:txBody>
      </p:sp>
      <p:sp>
        <p:nvSpPr>
          <p:cNvPr id="44" name="object 44"/>
          <p:cNvSpPr txBox="1"/>
          <p:nvPr/>
        </p:nvSpPr>
        <p:spPr>
          <a:xfrm>
            <a:off x="3090227" y="1037218"/>
            <a:ext cx="179070" cy="426084"/>
          </a:xfrm>
          <a:prstGeom prst="rect">
            <a:avLst/>
          </a:prstGeom>
        </p:spPr>
        <p:txBody>
          <a:bodyPr vert="horz" wrap="square" lIns="0" tIns="29209" rIns="0" bIns="0" rtlCol="0">
            <a:spAutoFit/>
          </a:bodyPr>
          <a:lstStyle/>
          <a:p>
            <a:pPr marL="29845">
              <a:lnSpc>
                <a:spcPct val="100000"/>
              </a:lnSpc>
              <a:spcBef>
                <a:spcPts val="229"/>
              </a:spcBef>
            </a:pPr>
            <a:r>
              <a:rPr sz="450" spc="-5" dirty="0">
                <a:solidFill>
                  <a:srgbClr val="231F20"/>
                </a:solidFill>
                <a:latin typeface="Helvetica"/>
                <a:cs typeface="Helvetica"/>
              </a:rPr>
              <a:t>i</a:t>
            </a:r>
            <a:endParaRPr sz="450">
              <a:latin typeface="Helvetica"/>
              <a:cs typeface="Helvetica"/>
            </a:endParaRPr>
          </a:p>
          <a:p>
            <a:pPr marL="12700">
              <a:lnSpc>
                <a:spcPts val="495"/>
              </a:lnSpc>
              <a:spcBef>
                <a:spcPts val="130"/>
              </a:spcBef>
            </a:pPr>
            <a:r>
              <a:rPr sz="450" spc="-10" dirty="0">
                <a:solidFill>
                  <a:srgbClr val="231F20"/>
                </a:solidFill>
                <a:latin typeface="Helvetica"/>
                <a:cs typeface="Helvetica"/>
              </a:rPr>
              <a:t>1</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a:p>
            <a:pPr marL="12700">
              <a:lnSpc>
                <a:spcPts val="455"/>
              </a:lnSpc>
            </a:pPr>
            <a:r>
              <a:rPr sz="450" spc="-10" dirty="0">
                <a:solidFill>
                  <a:srgbClr val="231F20"/>
                </a:solidFill>
                <a:latin typeface="Helvetica"/>
                <a:cs typeface="Helvetica"/>
              </a:rPr>
              <a:t>2</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a:p>
            <a:pPr marL="12700">
              <a:lnSpc>
                <a:spcPts val="455"/>
              </a:lnSpc>
            </a:pPr>
            <a:r>
              <a:rPr sz="450" spc="-10" dirty="0">
                <a:solidFill>
                  <a:srgbClr val="231F20"/>
                </a:solidFill>
                <a:latin typeface="Helvetica"/>
                <a:cs typeface="Helvetica"/>
              </a:rPr>
              <a:t>3</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a:p>
            <a:pPr marL="12700">
              <a:lnSpc>
                <a:spcPts val="455"/>
              </a:lnSpc>
            </a:pPr>
            <a:r>
              <a:rPr sz="450" spc="-10" dirty="0">
                <a:solidFill>
                  <a:srgbClr val="231F20"/>
                </a:solidFill>
                <a:latin typeface="Helvetica"/>
                <a:cs typeface="Helvetica"/>
              </a:rPr>
              <a:t>4</a:t>
            </a:r>
            <a:r>
              <a:rPr sz="450" spc="110" dirty="0">
                <a:solidFill>
                  <a:srgbClr val="231F20"/>
                </a:solidFill>
                <a:latin typeface="Helvetica"/>
                <a:cs typeface="Helvetica"/>
              </a:rPr>
              <a:t>  </a:t>
            </a:r>
            <a:r>
              <a:rPr sz="450" spc="-55" dirty="0">
                <a:solidFill>
                  <a:srgbClr val="231F20"/>
                </a:solidFill>
                <a:latin typeface="Helvetica"/>
                <a:cs typeface="Helvetica"/>
              </a:rPr>
              <a:t>14</a:t>
            </a:r>
            <a:endParaRPr sz="450">
              <a:latin typeface="Helvetica"/>
              <a:cs typeface="Helvetica"/>
            </a:endParaRPr>
          </a:p>
          <a:p>
            <a:pPr marL="12700">
              <a:lnSpc>
                <a:spcPts val="495"/>
              </a:lnSpc>
            </a:pPr>
            <a:r>
              <a:rPr sz="450" spc="-10" dirty="0">
                <a:solidFill>
                  <a:srgbClr val="231F20"/>
                </a:solidFill>
                <a:latin typeface="Helvetica"/>
                <a:cs typeface="Helvetica"/>
              </a:rPr>
              <a:t>5</a:t>
            </a:r>
            <a:r>
              <a:rPr sz="450" spc="110" dirty="0">
                <a:solidFill>
                  <a:srgbClr val="231F20"/>
                </a:solidFill>
                <a:latin typeface="Helvetica"/>
                <a:cs typeface="Helvetica"/>
              </a:rPr>
              <a:t>  </a:t>
            </a:r>
            <a:r>
              <a:rPr sz="450" spc="-55" dirty="0">
                <a:solidFill>
                  <a:srgbClr val="231F20"/>
                </a:solidFill>
                <a:latin typeface="Helvetica"/>
                <a:cs typeface="Helvetica"/>
              </a:rPr>
              <a:t>20</a:t>
            </a:r>
            <a:endParaRPr sz="450">
              <a:latin typeface="Helvetica"/>
              <a:cs typeface="Helvetica"/>
            </a:endParaRPr>
          </a:p>
        </p:txBody>
      </p:sp>
      <p:sp>
        <p:nvSpPr>
          <p:cNvPr id="45" name="object 45"/>
          <p:cNvSpPr txBox="1"/>
          <p:nvPr/>
        </p:nvSpPr>
        <p:spPr>
          <a:xfrm rot="19080000">
            <a:off x="3178233" y="974867"/>
            <a:ext cx="346273" cy="57150"/>
          </a:xfrm>
          <a:prstGeom prst="rect">
            <a:avLst/>
          </a:prstGeom>
        </p:spPr>
        <p:txBody>
          <a:bodyPr vert="horz" wrap="square" lIns="0" tIns="0" rIns="0" bIns="0" rtlCol="0">
            <a:spAutoFit/>
          </a:bodyPr>
          <a:lstStyle/>
          <a:p>
            <a:pPr>
              <a:lnSpc>
                <a:spcPts val="440"/>
              </a:lnSpc>
            </a:pPr>
            <a:r>
              <a:rPr sz="450" spc="-5" dirty="0">
                <a:solidFill>
                  <a:srgbClr val="231F20"/>
                </a:solidFill>
                <a:latin typeface="Helvetica"/>
                <a:cs typeface="Helvetica"/>
              </a:rPr>
              <a:t>succ(p </a:t>
            </a:r>
            <a:r>
              <a:rPr sz="450" spc="-10" dirty="0">
                <a:solidFill>
                  <a:srgbClr val="231F20"/>
                </a:solidFill>
                <a:latin typeface="Helvetica"/>
                <a:cs typeface="Helvetica"/>
              </a:rPr>
              <a:t>+</a:t>
            </a:r>
            <a:r>
              <a:rPr sz="450" spc="-5" dirty="0">
                <a:solidFill>
                  <a:srgbClr val="231F20"/>
                </a:solidFill>
                <a:latin typeface="Helvetica"/>
                <a:cs typeface="Helvetica"/>
              </a:rPr>
              <a:t> </a:t>
            </a:r>
            <a:r>
              <a:rPr sz="450" spc="15" dirty="0">
                <a:solidFill>
                  <a:srgbClr val="231F20"/>
                </a:solidFill>
                <a:latin typeface="Helvetica"/>
                <a:cs typeface="Helvetica"/>
              </a:rPr>
              <a:t>2</a:t>
            </a:r>
            <a:r>
              <a:rPr sz="525" spc="15" baseline="31746" dirty="0">
                <a:solidFill>
                  <a:srgbClr val="231F20"/>
                </a:solidFill>
                <a:latin typeface="Helvetica"/>
                <a:cs typeface="Helvetica"/>
              </a:rPr>
              <a:t>i-1</a:t>
            </a:r>
            <a:r>
              <a:rPr sz="525" spc="-89" baseline="31746" dirty="0">
                <a:solidFill>
                  <a:srgbClr val="231F20"/>
                </a:solidFill>
                <a:latin typeface="Helvetica"/>
                <a:cs typeface="Helvetica"/>
              </a:rPr>
              <a:t> </a:t>
            </a:r>
            <a:r>
              <a:rPr sz="450" spc="-5" dirty="0">
                <a:solidFill>
                  <a:srgbClr val="231F20"/>
                </a:solidFill>
                <a:latin typeface="Helvetica"/>
                <a:cs typeface="Helvetica"/>
              </a:rPr>
              <a:t>)</a:t>
            </a:r>
            <a:endParaRPr sz="450">
              <a:latin typeface="Helvetica"/>
              <a:cs typeface="Helvetica"/>
            </a:endParaRPr>
          </a:p>
        </p:txBody>
      </p:sp>
      <p:sp>
        <p:nvSpPr>
          <p:cNvPr id="46" name="object 46"/>
          <p:cNvSpPr txBox="1"/>
          <p:nvPr/>
        </p:nvSpPr>
        <p:spPr>
          <a:xfrm>
            <a:off x="334594" y="429321"/>
            <a:ext cx="3778250" cy="630555"/>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Resolving</a:t>
            </a:r>
            <a:r>
              <a:rPr sz="1200" spc="-10" dirty="0">
                <a:solidFill>
                  <a:srgbClr val="3333B2"/>
                </a:solidFill>
                <a:latin typeface="Arial"/>
                <a:cs typeface="Arial"/>
              </a:rPr>
              <a:t> </a:t>
            </a:r>
            <a:r>
              <a:rPr sz="1200" spc="-20" dirty="0">
                <a:solidFill>
                  <a:srgbClr val="3333B2"/>
                </a:solidFill>
                <a:latin typeface="Arial"/>
                <a:cs typeface="Arial"/>
              </a:rPr>
              <a:t>key</a:t>
            </a:r>
            <a:r>
              <a:rPr sz="1200" spc="-5" dirty="0">
                <a:solidFill>
                  <a:srgbClr val="3333B2"/>
                </a:solidFill>
                <a:latin typeface="Arial"/>
                <a:cs typeface="Arial"/>
              </a:rPr>
              <a:t> 26 from node </a:t>
            </a:r>
            <a:r>
              <a:rPr sz="1200" i="1" spc="-5" dirty="0">
                <a:solidFill>
                  <a:srgbClr val="3333B2"/>
                </a:solidFill>
                <a:latin typeface="Arial"/>
                <a:cs typeface="Arial"/>
              </a:rPr>
              <a:t>1 </a:t>
            </a:r>
            <a:r>
              <a:rPr sz="1200" spc="-5" dirty="0">
                <a:solidFill>
                  <a:srgbClr val="3333B2"/>
                </a:solidFill>
                <a:latin typeface="Arial"/>
                <a:cs typeface="Arial"/>
              </a:rPr>
              <a:t>and </a:t>
            </a:r>
            <a:r>
              <a:rPr sz="1200" spc="-20" dirty="0">
                <a:solidFill>
                  <a:srgbClr val="3333B2"/>
                </a:solidFill>
                <a:latin typeface="Arial"/>
                <a:cs typeface="Arial"/>
              </a:rPr>
              <a:t>key</a:t>
            </a:r>
            <a:r>
              <a:rPr sz="1200" spc="-5" dirty="0">
                <a:solidFill>
                  <a:srgbClr val="3333B2"/>
                </a:solidFill>
                <a:latin typeface="Arial"/>
                <a:cs typeface="Arial"/>
              </a:rPr>
              <a:t> </a:t>
            </a:r>
            <a:r>
              <a:rPr sz="1200" i="1" spc="-5" dirty="0">
                <a:solidFill>
                  <a:srgbClr val="3333B2"/>
                </a:solidFill>
                <a:latin typeface="Arial"/>
                <a:cs typeface="Arial"/>
              </a:rPr>
              <a:t>12</a:t>
            </a:r>
            <a:r>
              <a:rPr sz="1200" i="1" spc="70" dirty="0">
                <a:solidFill>
                  <a:srgbClr val="3333B2"/>
                </a:solidFill>
                <a:latin typeface="Arial"/>
                <a:cs typeface="Arial"/>
              </a:rPr>
              <a:t> </a:t>
            </a:r>
            <a:r>
              <a:rPr sz="1200" spc="-5" dirty="0">
                <a:solidFill>
                  <a:srgbClr val="3333B2"/>
                </a:solidFill>
                <a:latin typeface="Arial"/>
                <a:cs typeface="Arial"/>
              </a:rPr>
              <a:t>from</a:t>
            </a:r>
            <a:r>
              <a:rPr sz="1200" spc="-10" dirty="0">
                <a:solidFill>
                  <a:srgbClr val="3333B2"/>
                </a:solidFill>
                <a:latin typeface="Arial"/>
                <a:cs typeface="Arial"/>
              </a:rPr>
              <a:t> </a:t>
            </a:r>
            <a:r>
              <a:rPr sz="1200" spc="-5" dirty="0">
                <a:solidFill>
                  <a:srgbClr val="3333B2"/>
                </a:solidFill>
                <a:latin typeface="Arial"/>
                <a:cs typeface="Arial"/>
              </a:rPr>
              <a:t>node </a:t>
            </a:r>
            <a:r>
              <a:rPr sz="1200" i="1" spc="-5" dirty="0">
                <a:solidFill>
                  <a:srgbClr val="3333B2"/>
                </a:solidFill>
                <a:latin typeface="Arial"/>
                <a:cs typeface="Arial"/>
              </a:rPr>
              <a:t>28</a:t>
            </a:r>
            <a:endParaRPr sz="1200">
              <a:latin typeface="Arial"/>
              <a:cs typeface="Arial"/>
            </a:endParaRPr>
          </a:p>
          <a:p>
            <a:pPr marL="2251075">
              <a:lnSpc>
                <a:spcPts val="495"/>
              </a:lnSpc>
              <a:spcBef>
                <a:spcPts val="1035"/>
              </a:spcBef>
            </a:pPr>
            <a:r>
              <a:rPr sz="675" spc="-15" baseline="12345" dirty="0">
                <a:solidFill>
                  <a:srgbClr val="231F20"/>
                </a:solidFill>
                <a:latin typeface="Helvetica"/>
                <a:cs typeface="Helvetica"/>
              </a:rPr>
              <a:t>1</a:t>
            </a:r>
            <a:r>
              <a:rPr sz="675" spc="307" baseline="12345" dirty="0">
                <a:solidFill>
                  <a:srgbClr val="231F20"/>
                </a:solidFill>
                <a:latin typeface="Helvetica"/>
                <a:cs typeface="Helvetica"/>
              </a:rPr>
              <a:t>  </a:t>
            </a:r>
            <a:r>
              <a:rPr sz="675" spc="-15" baseline="12345" dirty="0">
                <a:solidFill>
                  <a:srgbClr val="231F20"/>
                </a:solidFill>
                <a:latin typeface="Helvetica"/>
                <a:cs typeface="Helvetica"/>
              </a:rPr>
              <a:t>4</a:t>
            </a:r>
            <a:r>
              <a:rPr sz="675" spc="187" baseline="12345" dirty="0">
                <a:solidFill>
                  <a:srgbClr val="231F20"/>
                </a:solidFill>
                <a:latin typeface="Helvetica"/>
                <a:cs typeface="Helvetica"/>
              </a:rPr>
              <a:t> </a:t>
            </a:r>
            <a:r>
              <a:rPr sz="675" spc="195" baseline="12345" dirty="0">
                <a:solidFill>
                  <a:srgbClr val="231F20"/>
                </a:solidFill>
                <a:latin typeface="Helvetica"/>
                <a:cs typeface="Helvetica"/>
              </a:rPr>
              <a:t> </a:t>
            </a:r>
            <a:r>
              <a:rPr sz="500" dirty="0">
                <a:solidFill>
                  <a:srgbClr val="231F20"/>
                </a:solidFill>
                <a:latin typeface="Helvetica"/>
                <a:cs typeface="Helvetica"/>
              </a:rPr>
              <a:t>Finger</a:t>
            </a:r>
            <a:r>
              <a:rPr sz="500" spc="-10" dirty="0">
                <a:solidFill>
                  <a:srgbClr val="231F20"/>
                </a:solidFill>
                <a:latin typeface="Helvetica"/>
                <a:cs typeface="Helvetica"/>
              </a:rPr>
              <a:t> </a:t>
            </a:r>
            <a:r>
              <a:rPr sz="500" spc="-5" dirty="0">
                <a:solidFill>
                  <a:srgbClr val="231F20"/>
                </a:solidFill>
                <a:latin typeface="Helvetica"/>
                <a:cs typeface="Helvetica"/>
              </a:rPr>
              <a:t>table</a:t>
            </a:r>
            <a:endParaRPr sz="500">
              <a:latin typeface="Helvetica"/>
              <a:cs typeface="Helvetica"/>
            </a:endParaRPr>
          </a:p>
          <a:p>
            <a:pPr marL="871219" algn="ctr">
              <a:lnSpc>
                <a:spcPts val="390"/>
              </a:lnSpc>
            </a:pPr>
            <a:r>
              <a:rPr sz="450" spc="-10" dirty="0">
                <a:solidFill>
                  <a:srgbClr val="231F20"/>
                </a:solidFill>
                <a:latin typeface="Helvetica"/>
                <a:cs typeface="Helvetica"/>
              </a:rPr>
              <a:t>2</a:t>
            </a:r>
            <a:r>
              <a:rPr sz="450" spc="204" dirty="0">
                <a:solidFill>
                  <a:srgbClr val="231F20"/>
                </a:solidFill>
                <a:latin typeface="Helvetica"/>
                <a:cs typeface="Helvetica"/>
              </a:rPr>
              <a:t>  </a:t>
            </a:r>
            <a:r>
              <a:rPr sz="450" spc="-10" dirty="0">
                <a:solidFill>
                  <a:srgbClr val="231F20"/>
                </a:solidFill>
                <a:latin typeface="Helvetica"/>
                <a:cs typeface="Helvetica"/>
              </a:rPr>
              <a:t>4</a:t>
            </a:r>
            <a:endParaRPr sz="450">
              <a:latin typeface="Helvetica"/>
              <a:cs typeface="Helvetica"/>
            </a:endParaRPr>
          </a:p>
          <a:p>
            <a:pPr marL="871219" algn="ctr">
              <a:lnSpc>
                <a:spcPts val="455"/>
              </a:lnSpc>
            </a:pPr>
            <a:r>
              <a:rPr sz="450" spc="-10" dirty="0">
                <a:solidFill>
                  <a:srgbClr val="231F20"/>
                </a:solidFill>
                <a:latin typeface="Helvetica"/>
                <a:cs typeface="Helvetica"/>
              </a:rPr>
              <a:t>3</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a:p>
            <a:pPr marL="871219" algn="ctr">
              <a:lnSpc>
                <a:spcPts val="455"/>
              </a:lnSpc>
            </a:pPr>
            <a:r>
              <a:rPr sz="450" spc="-10" dirty="0">
                <a:solidFill>
                  <a:srgbClr val="231F20"/>
                </a:solidFill>
                <a:latin typeface="Helvetica"/>
                <a:cs typeface="Helvetica"/>
              </a:rPr>
              <a:t>4</a:t>
            </a:r>
            <a:r>
              <a:rPr sz="450" spc="204" dirty="0">
                <a:solidFill>
                  <a:srgbClr val="231F20"/>
                </a:solidFill>
                <a:latin typeface="Helvetica"/>
                <a:cs typeface="Helvetica"/>
              </a:rPr>
              <a:t>  </a:t>
            </a:r>
            <a:r>
              <a:rPr sz="450" spc="-10" dirty="0">
                <a:solidFill>
                  <a:srgbClr val="231F20"/>
                </a:solidFill>
                <a:latin typeface="Helvetica"/>
                <a:cs typeface="Helvetica"/>
              </a:rPr>
              <a:t>9</a:t>
            </a:r>
            <a:endParaRPr sz="450">
              <a:latin typeface="Helvetica"/>
              <a:cs typeface="Helvetica"/>
            </a:endParaRPr>
          </a:p>
          <a:p>
            <a:pPr marL="878205" algn="ctr">
              <a:lnSpc>
                <a:spcPts val="495"/>
              </a:lnSpc>
            </a:pPr>
            <a:r>
              <a:rPr sz="450" spc="-10" dirty="0">
                <a:solidFill>
                  <a:srgbClr val="231F20"/>
                </a:solidFill>
                <a:latin typeface="Helvetica"/>
                <a:cs typeface="Helvetica"/>
              </a:rPr>
              <a:t>5</a:t>
            </a:r>
            <a:r>
              <a:rPr sz="450" spc="110" dirty="0">
                <a:solidFill>
                  <a:srgbClr val="231F20"/>
                </a:solidFill>
                <a:latin typeface="Helvetica"/>
                <a:cs typeface="Helvetica"/>
              </a:rPr>
              <a:t>  </a:t>
            </a:r>
            <a:r>
              <a:rPr sz="450" spc="-55" dirty="0">
                <a:solidFill>
                  <a:srgbClr val="231F20"/>
                </a:solidFill>
                <a:latin typeface="Helvetica"/>
                <a:cs typeface="Helvetica"/>
              </a:rPr>
              <a:t>18</a:t>
            </a:r>
            <a:endParaRPr sz="450">
              <a:latin typeface="Helvetica"/>
              <a:cs typeface="Helvetica"/>
            </a:endParaRPr>
          </a:p>
        </p:txBody>
      </p:sp>
      <p:sp>
        <p:nvSpPr>
          <p:cNvPr id="47" name="object 47"/>
          <p:cNvSpPr txBox="1"/>
          <p:nvPr/>
        </p:nvSpPr>
        <p:spPr>
          <a:xfrm>
            <a:off x="1322182" y="1030963"/>
            <a:ext cx="363855" cy="102235"/>
          </a:xfrm>
          <a:prstGeom prst="rect">
            <a:avLst/>
          </a:prstGeom>
        </p:spPr>
        <p:txBody>
          <a:bodyPr vert="horz" wrap="square" lIns="0" tIns="12700" rIns="0" bIns="0" rtlCol="0">
            <a:spAutoFit/>
          </a:bodyPr>
          <a:lstStyle/>
          <a:p>
            <a:pPr marL="12700">
              <a:lnSpc>
                <a:spcPct val="100000"/>
              </a:lnSpc>
              <a:spcBef>
                <a:spcPts val="100"/>
              </a:spcBef>
            </a:pPr>
            <a:r>
              <a:rPr sz="500" dirty="0">
                <a:solidFill>
                  <a:srgbClr val="231F20"/>
                </a:solidFill>
                <a:latin typeface="Helvetica"/>
                <a:cs typeface="Helvetica"/>
              </a:rPr>
              <a:t>Actual node</a:t>
            </a:r>
            <a:endParaRPr sz="500">
              <a:latin typeface="Helvetica"/>
              <a:cs typeface="Helvetica"/>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object 18"/>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General</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mechanism</a:t>
            </a:r>
            <a:endParaRPr sz="600">
              <a:latin typeface="Arial"/>
              <a:cs typeface="Arial"/>
            </a:endParaRPr>
          </a:p>
        </p:txBody>
      </p:sp>
      <p:sp>
        <p:nvSpPr>
          <p:cNvPr id="19" name="object 1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5" action="ppaction://hlinksldjump"/>
              </a:rPr>
              <a:t>Flat</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endParaRPr sz="600">
              <a:latin typeface="Arial"/>
              <a:cs typeface="Arial"/>
            </a:endParaRPr>
          </a:p>
        </p:txBody>
      </p:sp>
      <p:sp>
        <p:nvSpPr>
          <p:cNvPr id="3" name="object 3"/>
          <p:cNvSpPr txBox="1"/>
          <p:nvPr/>
        </p:nvSpPr>
        <p:spPr>
          <a:xfrm>
            <a:off x="3745674" y="716"/>
            <a:ext cx="7956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Distributed</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hash</a:t>
            </a:r>
            <a:r>
              <a:rPr sz="600" spc="-2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tables</a:t>
            </a:r>
            <a:endParaRPr sz="600">
              <a:latin typeface="Arial"/>
              <a:cs typeface="Arial"/>
            </a:endParaRPr>
          </a:p>
        </p:txBody>
      </p:sp>
      <p:sp>
        <p:nvSpPr>
          <p:cNvPr id="4" name="object 4"/>
          <p:cNvSpPr txBox="1"/>
          <p:nvPr/>
        </p:nvSpPr>
        <p:spPr>
          <a:xfrm>
            <a:off x="95300" y="188846"/>
            <a:ext cx="133223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Chord</a:t>
            </a:r>
            <a:r>
              <a:rPr sz="1400" spc="-25" dirty="0">
                <a:solidFill>
                  <a:srgbClr val="3333B2"/>
                </a:solidFill>
                <a:latin typeface="Arial"/>
                <a:cs typeface="Arial"/>
              </a:rPr>
              <a:t> </a:t>
            </a:r>
            <a:r>
              <a:rPr sz="1400" spc="10" dirty="0">
                <a:solidFill>
                  <a:srgbClr val="3333B2"/>
                </a:solidFill>
                <a:latin typeface="Arial"/>
                <a:cs typeface="Arial"/>
              </a:rPr>
              <a:t>in</a:t>
            </a:r>
            <a:r>
              <a:rPr sz="1400" spc="-20" dirty="0">
                <a:solidFill>
                  <a:srgbClr val="3333B2"/>
                </a:solidFill>
                <a:latin typeface="Arial"/>
                <a:cs typeface="Arial"/>
              </a:rPr>
              <a:t> </a:t>
            </a:r>
            <a:r>
              <a:rPr sz="1400" spc="15" dirty="0">
                <a:solidFill>
                  <a:srgbClr val="3333B2"/>
                </a:solidFill>
                <a:latin typeface="Arial"/>
                <a:cs typeface="Arial"/>
              </a:rPr>
              <a:t>Python</a:t>
            </a:r>
            <a:endParaRPr sz="1400">
              <a:latin typeface="Arial"/>
              <a:cs typeface="Arial"/>
            </a:endParaRPr>
          </a:p>
        </p:txBody>
      </p:sp>
      <p:sp>
        <p:nvSpPr>
          <p:cNvPr id="5" name="object 5"/>
          <p:cNvSpPr txBox="1"/>
          <p:nvPr/>
        </p:nvSpPr>
        <p:spPr>
          <a:xfrm>
            <a:off x="352361" y="701419"/>
            <a:ext cx="962025" cy="147320"/>
          </a:xfrm>
          <a:prstGeom prst="rect">
            <a:avLst/>
          </a:prstGeom>
        </p:spPr>
        <p:txBody>
          <a:bodyPr vert="horz" wrap="square" lIns="0" tIns="12065" rIns="0" bIns="0" rtlCol="0">
            <a:spAutoFit/>
          </a:bodyPr>
          <a:lstStyle/>
          <a:p>
            <a:pPr marL="12700">
              <a:lnSpc>
                <a:spcPct val="100000"/>
              </a:lnSpc>
              <a:spcBef>
                <a:spcPts val="95"/>
              </a:spcBef>
            </a:pPr>
            <a:r>
              <a:rPr sz="600" spc="55" dirty="0">
                <a:latin typeface="Times New Roman"/>
                <a:cs typeface="Times New Roman"/>
              </a:rPr>
              <a:t>1 </a:t>
            </a:r>
            <a:r>
              <a:rPr sz="600" spc="130" dirty="0">
                <a:latin typeface="Times New Roman"/>
                <a:cs typeface="Times New Roman"/>
              </a:rPr>
              <a:t> </a:t>
            </a:r>
            <a:r>
              <a:rPr sz="800" b="1" spc="100" dirty="0">
                <a:solidFill>
                  <a:srgbClr val="FF0059"/>
                </a:solidFill>
                <a:latin typeface="Times New Roman"/>
                <a:cs typeface="Times New Roman"/>
              </a:rPr>
              <a:t>class</a:t>
            </a:r>
            <a:r>
              <a:rPr sz="800" b="1" spc="40" dirty="0">
                <a:solidFill>
                  <a:srgbClr val="FF0059"/>
                </a:solidFill>
                <a:latin typeface="Times New Roman"/>
                <a:cs typeface="Times New Roman"/>
              </a:rPr>
              <a:t> </a:t>
            </a:r>
            <a:r>
              <a:rPr sz="800" spc="10" dirty="0">
                <a:latin typeface="Times New Roman"/>
                <a:cs typeface="Times New Roman"/>
              </a:rPr>
              <a:t>ChordNode:</a:t>
            </a:r>
            <a:endParaRPr sz="800">
              <a:latin typeface="Times New Roman"/>
              <a:cs typeface="Times New Roman"/>
            </a:endParaRPr>
          </a:p>
        </p:txBody>
      </p:sp>
      <p:sp>
        <p:nvSpPr>
          <p:cNvPr id="6" name="object 6"/>
          <p:cNvSpPr txBox="1"/>
          <p:nvPr/>
        </p:nvSpPr>
        <p:spPr>
          <a:xfrm>
            <a:off x="3353549" y="917777"/>
            <a:ext cx="899794" cy="363220"/>
          </a:xfrm>
          <a:prstGeom prst="rect">
            <a:avLst/>
          </a:prstGeom>
        </p:spPr>
        <p:txBody>
          <a:bodyPr vert="horz" wrap="square" lIns="0" tIns="27305" rIns="0" bIns="0" rtlCol="0">
            <a:spAutoFit/>
          </a:bodyPr>
          <a:lstStyle/>
          <a:p>
            <a:pPr marL="12700" marR="5080" algn="just">
              <a:lnSpc>
                <a:spcPts val="850"/>
              </a:lnSpc>
              <a:spcBef>
                <a:spcPts val="215"/>
              </a:spcBef>
            </a:pPr>
            <a:r>
              <a:rPr sz="800" i="1" spc="75" dirty="0">
                <a:solidFill>
                  <a:srgbClr val="009600"/>
                </a:solidFill>
                <a:latin typeface="Times New Roman"/>
                <a:cs typeface="Times New Roman"/>
              </a:rPr>
              <a:t># </a:t>
            </a:r>
            <a:r>
              <a:rPr sz="800" i="1" spc="70" dirty="0">
                <a:solidFill>
                  <a:srgbClr val="009600"/>
                </a:solidFill>
                <a:latin typeface="Times New Roman"/>
                <a:cs typeface="Times New Roman"/>
              </a:rPr>
              <a:t>succ(p+2ˆ(i-1)) </a:t>
            </a:r>
            <a:r>
              <a:rPr sz="800" i="1" spc="-190"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150" dirty="0">
                <a:solidFill>
                  <a:srgbClr val="009600"/>
                </a:solidFill>
                <a:latin typeface="Times New Roman"/>
                <a:cs typeface="Times New Roman"/>
              </a:rPr>
              <a:t>self</a:t>
            </a:r>
            <a:r>
              <a:rPr sz="800" i="1" spc="60" dirty="0">
                <a:solidFill>
                  <a:srgbClr val="009600"/>
                </a:solidFill>
                <a:latin typeface="Times New Roman"/>
                <a:cs typeface="Times New Roman"/>
              </a:rPr>
              <a:t> </a:t>
            </a:r>
            <a:r>
              <a:rPr sz="800" i="1" spc="135" dirty="0">
                <a:solidFill>
                  <a:srgbClr val="009600"/>
                </a:solidFill>
                <a:latin typeface="Times New Roman"/>
                <a:cs typeface="Times New Roman"/>
              </a:rPr>
              <a:t>in</a:t>
            </a:r>
            <a:r>
              <a:rPr sz="800" i="1" spc="55" dirty="0">
                <a:solidFill>
                  <a:srgbClr val="009600"/>
                </a:solidFill>
                <a:latin typeface="Times New Roman"/>
                <a:cs typeface="Times New Roman"/>
              </a:rPr>
              <a:t> </a:t>
            </a:r>
            <a:r>
              <a:rPr sz="800" i="1" spc="65" dirty="0">
                <a:solidFill>
                  <a:srgbClr val="009600"/>
                </a:solidFill>
                <a:latin typeface="Times New Roman"/>
                <a:cs typeface="Times New Roman"/>
              </a:rPr>
              <a:t>nodeset </a:t>
            </a:r>
            <a:r>
              <a:rPr sz="800" i="1" spc="-190" dirty="0">
                <a:solidFill>
                  <a:srgbClr val="009600"/>
                </a:solidFill>
                <a:latin typeface="Times New Roman"/>
                <a:cs typeface="Times New Roman"/>
              </a:rPr>
              <a:t> </a:t>
            </a:r>
            <a:r>
              <a:rPr sz="800" i="1" dirty="0">
                <a:solidFill>
                  <a:srgbClr val="009600"/>
                </a:solidFill>
                <a:latin typeface="Times New Roman"/>
                <a:cs typeface="Times New Roman"/>
              </a:rPr>
              <a:t> </a:t>
            </a:r>
            <a:r>
              <a:rPr sz="800" i="1" spc="75" dirty="0">
                <a:solidFill>
                  <a:srgbClr val="009600"/>
                </a:solidFill>
                <a:latin typeface="Times New Roman"/>
                <a:cs typeface="Times New Roman"/>
              </a:rPr>
              <a:t>#</a:t>
            </a:r>
            <a:r>
              <a:rPr sz="800" i="1" spc="70" dirty="0">
                <a:solidFill>
                  <a:srgbClr val="009600"/>
                </a:solidFill>
                <a:latin typeface="Times New Roman"/>
                <a:cs typeface="Times New Roman"/>
              </a:rPr>
              <a:t> </a:t>
            </a:r>
            <a:r>
              <a:rPr sz="800" i="1" spc="95" dirty="0">
                <a:solidFill>
                  <a:srgbClr val="009600"/>
                </a:solidFill>
                <a:latin typeface="Times New Roman"/>
                <a:cs typeface="Times New Roman"/>
              </a:rPr>
              <a:t>next</a:t>
            </a:r>
            <a:r>
              <a:rPr sz="800" i="1" spc="45" dirty="0">
                <a:solidFill>
                  <a:srgbClr val="009600"/>
                </a:solidFill>
                <a:latin typeface="Times New Roman"/>
                <a:cs typeface="Times New Roman"/>
              </a:rPr>
              <a:t> </a:t>
            </a:r>
            <a:r>
              <a:rPr sz="800" i="1" spc="50" dirty="0">
                <a:solidFill>
                  <a:srgbClr val="009600"/>
                </a:solidFill>
                <a:latin typeface="Times New Roman"/>
                <a:cs typeface="Times New Roman"/>
              </a:rPr>
              <a:t>neighbor</a:t>
            </a:r>
            <a:endParaRPr sz="800">
              <a:latin typeface="Times New Roman"/>
              <a:cs typeface="Times New Roman"/>
            </a:endParaRPr>
          </a:p>
        </p:txBody>
      </p:sp>
      <p:sp>
        <p:nvSpPr>
          <p:cNvPr id="7" name="object 7"/>
          <p:cNvSpPr txBox="1"/>
          <p:nvPr/>
        </p:nvSpPr>
        <p:spPr>
          <a:xfrm>
            <a:off x="668680" y="1242312"/>
            <a:ext cx="3769970" cy="135293"/>
          </a:xfrm>
          <a:prstGeom prst="rect">
            <a:avLst/>
          </a:prstGeom>
        </p:spPr>
        <p:txBody>
          <a:bodyPr vert="horz" wrap="square" lIns="0" tIns="12065" rIns="0" bIns="0" rtlCol="0">
            <a:spAutoFit/>
          </a:bodyPr>
          <a:lstStyle/>
          <a:p>
            <a:pPr marL="12700">
              <a:lnSpc>
                <a:spcPct val="100000"/>
              </a:lnSpc>
              <a:spcBef>
                <a:spcPts val="95"/>
              </a:spcBef>
              <a:tabLst>
                <a:tab pos="2697480" algn="l"/>
              </a:tabLst>
            </a:pPr>
            <a:r>
              <a:rPr sz="800" b="1" spc="95" dirty="0">
                <a:solidFill>
                  <a:srgbClr val="FF0059"/>
                </a:solidFill>
                <a:latin typeface="Times New Roman"/>
                <a:cs typeface="Times New Roman"/>
              </a:rPr>
              <a:t>for</a:t>
            </a:r>
            <a:r>
              <a:rPr sz="800" b="1" spc="120" dirty="0">
                <a:solidFill>
                  <a:srgbClr val="FF0059"/>
                </a:solidFill>
                <a:latin typeface="Times New Roman"/>
                <a:cs typeface="Times New Roman"/>
              </a:rPr>
              <a:t> </a:t>
            </a:r>
            <a:r>
              <a:rPr sz="800" spc="75" dirty="0">
                <a:latin typeface="Times New Roman"/>
                <a:cs typeface="Times New Roman"/>
              </a:rPr>
              <a:t>k</a:t>
            </a:r>
            <a:r>
              <a:rPr sz="800" spc="130" dirty="0">
                <a:latin typeface="Times New Roman"/>
                <a:cs typeface="Times New Roman"/>
              </a:rPr>
              <a:t> </a:t>
            </a:r>
            <a:r>
              <a:rPr sz="800" b="1" spc="114" dirty="0">
                <a:solidFill>
                  <a:srgbClr val="FF0059"/>
                </a:solidFill>
                <a:latin typeface="Times New Roman"/>
                <a:cs typeface="Times New Roman"/>
              </a:rPr>
              <a:t>in</a:t>
            </a:r>
            <a:r>
              <a:rPr sz="800" b="1" spc="95" dirty="0">
                <a:solidFill>
                  <a:srgbClr val="FF0059"/>
                </a:solidFill>
                <a:latin typeface="Times New Roman"/>
                <a:cs typeface="Times New Roman"/>
              </a:rPr>
              <a:t> </a:t>
            </a:r>
            <a:r>
              <a:rPr sz="800" b="1" spc="70" dirty="0">
                <a:solidFill>
                  <a:srgbClr val="FF0059"/>
                </a:solidFill>
                <a:latin typeface="Times New Roman"/>
                <a:cs typeface="Times New Roman"/>
              </a:rPr>
              <a:t>range</a:t>
            </a:r>
            <a:r>
              <a:rPr sz="800" spc="70" dirty="0">
                <a:latin typeface="Times New Roman"/>
                <a:cs typeface="Times New Roman"/>
              </a:rPr>
              <a:t>(</a:t>
            </a:r>
            <a:r>
              <a:rPr sz="800" b="1" spc="70" dirty="0">
                <a:solidFill>
                  <a:srgbClr val="FF0059"/>
                </a:solidFill>
                <a:latin typeface="Times New Roman"/>
                <a:cs typeface="Times New Roman"/>
              </a:rPr>
              <a:t>len</a:t>
            </a:r>
            <a:r>
              <a:rPr sz="800" spc="70" dirty="0">
                <a:latin typeface="Times New Roman"/>
                <a:cs typeface="Times New Roman"/>
              </a:rPr>
              <a:t>(self.nodeSet)):	</a:t>
            </a:r>
            <a:r>
              <a:rPr sz="800" i="1" spc="75" dirty="0">
                <a:solidFill>
                  <a:srgbClr val="009600"/>
                </a:solidFill>
                <a:latin typeface="Times New Roman"/>
                <a:cs typeface="Times New Roman"/>
              </a:rPr>
              <a:t>#</a:t>
            </a:r>
            <a:r>
              <a:rPr sz="800" i="1" spc="55" dirty="0">
                <a:solidFill>
                  <a:srgbClr val="009600"/>
                </a:solidFill>
                <a:latin typeface="Times New Roman"/>
                <a:cs typeface="Times New Roman"/>
              </a:rPr>
              <a:t> </a:t>
            </a:r>
            <a:r>
              <a:rPr sz="800" i="1" spc="65" dirty="0">
                <a:solidFill>
                  <a:srgbClr val="009600"/>
                </a:solidFill>
                <a:latin typeface="Times New Roman"/>
                <a:cs typeface="Times New Roman"/>
              </a:rPr>
              <a:t>process</a:t>
            </a:r>
            <a:r>
              <a:rPr sz="800" i="1" spc="30" dirty="0">
                <a:solidFill>
                  <a:srgbClr val="009600"/>
                </a:solidFill>
                <a:latin typeface="Times New Roman"/>
                <a:cs typeface="Times New Roman"/>
              </a:rPr>
              <a:t> </a:t>
            </a:r>
            <a:r>
              <a:rPr sz="800" i="1" spc="45" dirty="0">
                <a:solidFill>
                  <a:srgbClr val="009600"/>
                </a:solidFill>
                <a:latin typeface="Times New Roman"/>
                <a:cs typeface="Times New Roman"/>
              </a:rPr>
              <a:t>segments</a:t>
            </a:r>
            <a:endParaRPr sz="800" dirty="0">
              <a:latin typeface="Times New Roman"/>
              <a:cs typeface="Times New Roman"/>
            </a:endParaRPr>
          </a:p>
        </p:txBody>
      </p:sp>
      <p:sp>
        <p:nvSpPr>
          <p:cNvPr id="8" name="object 8"/>
          <p:cNvSpPr txBox="1"/>
          <p:nvPr/>
        </p:nvSpPr>
        <p:spPr>
          <a:xfrm>
            <a:off x="770737" y="1350491"/>
            <a:ext cx="3482340" cy="147320"/>
          </a:xfrm>
          <a:prstGeom prst="rect">
            <a:avLst/>
          </a:prstGeom>
        </p:spPr>
        <p:txBody>
          <a:bodyPr vert="horz" wrap="square" lIns="0" tIns="12065" rIns="0" bIns="0" rtlCol="0">
            <a:spAutoFit/>
          </a:bodyPr>
          <a:lstStyle/>
          <a:p>
            <a:pPr marL="12700">
              <a:lnSpc>
                <a:spcPct val="100000"/>
              </a:lnSpc>
              <a:spcBef>
                <a:spcPts val="95"/>
              </a:spcBef>
            </a:pPr>
            <a:r>
              <a:rPr sz="800" b="1" spc="204" dirty="0">
                <a:solidFill>
                  <a:srgbClr val="FF0059"/>
                </a:solidFill>
                <a:latin typeface="Times New Roman"/>
                <a:cs typeface="Times New Roman"/>
              </a:rPr>
              <a:t>if</a:t>
            </a:r>
            <a:r>
              <a:rPr sz="800" b="1" spc="110" dirty="0">
                <a:solidFill>
                  <a:srgbClr val="FF0059"/>
                </a:solidFill>
                <a:latin typeface="Times New Roman"/>
                <a:cs typeface="Times New Roman"/>
              </a:rPr>
              <a:t> </a:t>
            </a:r>
            <a:r>
              <a:rPr sz="800" spc="70" dirty="0">
                <a:latin typeface="Times New Roman"/>
                <a:cs typeface="Times New Roman"/>
              </a:rPr>
              <a:t>self.inbetween(succ,</a:t>
            </a:r>
            <a:r>
              <a:rPr sz="800" spc="120" dirty="0">
                <a:latin typeface="Times New Roman"/>
                <a:cs typeface="Times New Roman"/>
              </a:rPr>
              <a:t> </a:t>
            </a:r>
            <a:r>
              <a:rPr sz="800" spc="70" dirty="0">
                <a:latin typeface="Times New Roman"/>
                <a:cs typeface="Times New Roman"/>
              </a:rPr>
              <a:t>self.nodeSet[lwbi]+1,</a:t>
            </a:r>
            <a:r>
              <a:rPr sz="800" spc="114" dirty="0">
                <a:latin typeface="Times New Roman"/>
                <a:cs typeface="Times New Roman"/>
              </a:rPr>
              <a:t> </a:t>
            </a:r>
            <a:r>
              <a:rPr sz="800" spc="70" dirty="0">
                <a:latin typeface="Times New Roman"/>
                <a:cs typeface="Times New Roman"/>
              </a:rPr>
              <a:t>self.nodeSet[upbi]+1):</a:t>
            </a:r>
            <a:endParaRPr sz="800">
              <a:latin typeface="Times New Roman"/>
              <a:cs typeface="Times New Roman"/>
            </a:endParaRPr>
          </a:p>
        </p:txBody>
      </p:sp>
      <p:sp>
        <p:nvSpPr>
          <p:cNvPr id="9" name="object 9"/>
          <p:cNvSpPr txBox="1"/>
          <p:nvPr/>
        </p:nvSpPr>
        <p:spPr>
          <a:xfrm>
            <a:off x="870026" y="1458669"/>
            <a:ext cx="3644824" cy="135293"/>
          </a:xfrm>
          <a:prstGeom prst="rect">
            <a:avLst/>
          </a:prstGeom>
        </p:spPr>
        <p:txBody>
          <a:bodyPr vert="horz" wrap="square" lIns="0" tIns="12065" rIns="0" bIns="0" rtlCol="0">
            <a:spAutoFit/>
          </a:bodyPr>
          <a:lstStyle/>
          <a:p>
            <a:pPr marL="12700">
              <a:lnSpc>
                <a:spcPct val="100000"/>
              </a:lnSpc>
              <a:spcBef>
                <a:spcPts val="95"/>
              </a:spcBef>
              <a:tabLst>
                <a:tab pos="2495550" algn="l"/>
              </a:tabLst>
            </a:pPr>
            <a:r>
              <a:rPr sz="800" b="1" spc="45" dirty="0">
                <a:solidFill>
                  <a:srgbClr val="FF0059"/>
                </a:solidFill>
                <a:latin typeface="Times New Roman"/>
                <a:cs typeface="Times New Roman"/>
              </a:rPr>
              <a:t>return</a:t>
            </a:r>
            <a:r>
              <a:rPr sz="800" b="1" spc="75" dirty="0">
                <a:solidFill>
                  <a:srgbClr val="FF0059"/>
                </a:solidFill>
                <a:latin typeface="Times New Roman"/>
                <a:cs typeface="Times New Roman"/>
              </a:rPr>
              <a:t> </a:t>
            </a:r>
            <a:r>
              <a:rPr sz="800" spc="75" dirty="0">
                <a:latin typeface="Times New Roman"/>
                <a:cs typeface="Times New Roman"/>
              </a:rPr>
              <a:t>self.nodeSet[upbi]	</a:t>
            </a:r>
            <a:r>
              <a:rPr sz="800" i="1" spc="75" dirty="0">
                <a:solidFill>
                  <a:srgbClr val="009600"/>
                </a:solidFill>
                <a:latin typeface="Times New Roman"/>
                <a:cs typeface="Times New Roman"/>
              </a:rPr>
              <a:t>#</a:t>
            </a:r>
            <a:r>
              <a:rPr sz="800" i="1" spc="60" dirty="0">
                <a:solidFill>
                  <a:srgbClr val="009600"/>
                </a:solidFill>
                <a:latin typeface="Times New Roman"/>
                <a:cs typeface="Times New Roman"/>
              </a:rPr>
              <a:t> </a:t>
            </a:r>
            <a:r>
              <a:rPr sz="800" i="1" spc="55" dirty="0">
                <a:solidFill>
                  <a:srgbClr val="009600"/>
                </a:solidFill>
                <a:latin typeface="Times New Roman"/>
                <a:cs typeface="Times New Roman"/>
              </a:rPr>
              <a:t>found</a:t>
            </a:r>
            <a:r>
              <a:rPr sz="800" i="1" spc="35" dirty="0">
                <a:solidFill>
                  <a:srgbClr val="009600"/>
                </a:solidFill>
                <a:latin typeface="Times New Roman"/>
                <a:cs typeface="Times New Roman"/>
              </a:rPr>
              <a:t> </a:t>
            </a:r>
            <a:r>
              <a:rPr sz="800" i="1" spc="65" dirty="0">
                <a:solidFill>
                  <a:srgbClr val="009600"/>
                </a:solidFill>
                <a:latin typeface="Times New Roman"/>
                <a:cs typeface="Times New Roman"/>
              </a:rPr>
              <a:t>successor</a:t>
            </a:r>
            <a:endParaRPr sz="800">
              <a:latin typeface="Times New Roman"/>
              <a:cs typeface="Times New Roman"/>
            </a:endParaRPr>
          </a:p>
        </p:txBody>
      </p:sp>
      <p:sp>
        <p:nvSpPr>
          <p:cNvPr id="10" name="object 10"/>
          <p:cNvSpPr txBox="1"/>
          <p:nvPr/>
        </p:nvSpPr>
        <p:spPr>
          <a:xfrm>
            <a:off x="772426" y="1566848"/>
            <a:ext cx="3329304" cy="147320"/>
          </a:xfrm>
          <a:prstGeom prst="rect">
            <a:avLst/>
          </a:prstGeom>
        </p:spPr>
        <p:txBody>
          <a:bodyPr vert="horz" wrap="square" lIns="0" tIns="12065" rIns="0" bIns="0" rtlCol="0">
            <a:spAutoFit/>
          </a:bodyPr>
          <a:lstStyle/>
          <a:p>
            <a:pPr marL="12700">
              <a:lnSpc>
                <a:spcPct val="100000"/>
              </a:lnSpc>
              <a:spcBef>
                <a:spcPts val="95"/>
              </a:spcBef>
            </a:pPr>
            <a:r>
              <a:rPr sz="800" spc="75" dirty="0">
                <a:latin typeface="Times New Roman"/>
                <a:cs typeface="Times New Roman"/>
              </a:rPr>
              <a:t>(lwbi,upbi)</a:t>
            </a:r>
            <a:r>
              <a:rPr sz="800" spc="120" dirty="0">
                <a:latin typeface="Times New Roman"/>
                <a:cs typeface="Times New Roman"/>
              </a:rPr>
              <a:t> </a:t>
            </a:r>
            <a:r>
              <a:rPr sz="800" spc="25" dirty="0">
                <a:latin typeface="Times New Roman"/>
                <a:cs typeface="Times New Roman"/>
              </a:rPr>
              <a:t>=</a:t>
            </a:r>
            <a:r>
              <a:rPr sz="800" spc="125" dirty="0">
                <a:latin typeface="Times New Roman"/>
                <a:cs typeface="Times New Roman"/>
              </a:rPr>
              <a:t> </a:t>
            </a:r>
            <a:r>
              <a:rPr sz="800" spc="95" dirty="0">
                <a:latin typeface="Times New Roman"/>
                <a:cs typeface="Times New Roman"/>
              </a:rPr>
              <a:t>(upbi,</a:t>
            </a:r>
            <a:r>
              <a:rPr sz="800" spc="120" dirty="0">
                <a:latin typeface="Times New Roman"/>
                <a:cs typeface="Times New Roman"/>
              </a:rPr>
              <a:t> </a:t>
            </a:r>
            <a:r>
              <a:rPr sz="800" spc="55" dirty="0">
                <a:latin typeface="Times New Roman"/>
                <a:cs typeface="Times New Roman"/>
              </a:rPr>
              <a:t>(upbi+1)</a:t>
            </a:r>
            <a:r>
              <a:rPr sz="800" spc="105" dirty="0">
                <a:latin typeface="Times New Roman"/>
                <a:cs typeface="Times New Roman"/>
              </a:rPr>
              <a:t> </a:t>
            </a:r>
            <a:r>
              <a:rPr sz="800" spc="-190" dirty="0">
                <a:latin typeface="Times New Roman"/>
                <a:cs typeface="Times New Roman"/>
              </a:rPr>
              <a:t>%</a:t>
            </a:r>
            <a:r>
              <a:rPr sz="800" spc="-5" dirty="0">
                <a:latin typeface="Times New Roman"/>
                <a:cs typeface="Times New Roman"/>
              </a:rPr>
              <a:t> </a:t>
            </a:r>
            <a:r>
              <a:rPr sz="800" b="1" spc="80" dirty="0">
                <a:solidFill>
                  <a:srgbClr val="FF0059"/>
                </a:solidFill>
                <a:latin typeface="Times New Roman"/>
                <a:cs typeface="Times New Roman"/>
              </a:rPr>
              <a:t>len</a:t>
            </a:r>
            <a:r>
              <a:rPr sz="800" spc="80" dirty="0">
                <a:latin typeface="Times New Roman"/>
                <a:cs typeface="Times New Roman"/>
              </a:rPr>
              <a:t>(self.nodeSet))</a:t>
            </a:r>
            <a:r>
              <a:rPr sz="800" spc="110" dirty="0">
                <a:latin typeface="Times New Roman"/>
                <a:cs typeface="Times New Roman"/>
              </a:rPr>
              <a:t> </a:t>
            </a:r>
            <a:r>
              <a:rPr sz="800" i="1" spc="75" dirty="0">
                <a:solidFill>
                  <a:srgbClr val="009600"/>
                </a:solidFill>
                <a:latin typeface="Times New Roman"/>
                <a:cs typeface="Times New Roman"/>
              </a:rPr>
              <a:t>#</a:t>
            </a:r>
            <a:r>
              <a:rPr sz="800" i="1" spc="100" dirty="0">
                <a:solidFill>
                  <a:srgbClr val="009600"/>
                </a:solidFill>
                <a:latin typeface="Times New Roman"/>
                <a:cs typeface="Times New Roman"/>
              </a:rPr>
              <a:t> </a:t>
            </a:r>
            <a:r>
              <a:rPr sz="800" i="1" spc="95" dirty="0">
                <a:solidFill>
                  <a:srgbClr val="009600"/>
                </a:solidFill>
                <a:latin typeface="Times New Roman"/>
                <a:cs typeface="Times New Roman"/>
              </a:rPr>
              <a:t>next</a:t>
            </a:r>
            <a:r>
              <a:rPr sz="800" i="1" spc="65" dirty="0">
                <a:solidFill>
                  <a:srgbClr val="009600"/>
                </a:solidFill>
                <a:latin typeface="Times New Roman"/>
                <a:cs typeface="Times New Roman"/>
              </a:rPr>
              <a:t> </a:t>
            </a:r>
            <a:r>
              <a:rPr sz="800" i="1" spc="40" dirty="0">
                <a:solidFill>
                  <a:srgbClr val="009600"/>
                </a:solidFill>
                <a:latin typeface="Times New Roman"/>
                <a:cs typeface="Times New Roman"/>
              </a:rPr>
              <a:t>segment</a:t>
            </a:r>
            <a:endParaRPr sz="800">
              <a:latin typeface="Times New Roman"/>
              <a:cs typeface="Times New Roman"/>
            </a:endParaRPr>
          </a:p>
        </p:txBody>
      </p:sp>
      <p:sp>
        <p:nvSpPr>
          <p:cNvPr id="11" name="object 11"/>
          <p:cNvSpPr txBox="1"/>
          <p:nvPr/>
        </p:nvSpPr>
        <p:spPr>
          <a:xfrm>
            <a:off x="768807" y="2432277"/>
            <a:ext cx="3534410" cy="147320"/>
          </a:xfrm>
          <a:prstGeom prst="rect">
            <a:avLst/>
          </a:prstGeom>
        </p:spPr>
        <p:txBody>
          <a:bodyPr vert="horz" wrap="square" lIns="0" tIns="12065" rIns="0" bIns="0" rtlCol="0">
            <a:spAutoFit/>
          </a:bodyPr>
          <a:lstStyle/>
          <a:p>
            <a:pPr marL="12700">
              <a:lnSpc>
                <a:spcPct val="100000"/>
              </a:lnSpc>
              <a:spcBef>
                <a:spcPts val="95"/>
              </a:spcBef>
              <a:tabLst>
                <a:tab pos="2597150" algn="l"/>
              </a:tabLst>
            </a:pPr>
            <a:r>
              <a:rPr sz="800" b="1" spc="45" dirty="0">
                <a:solidFill>
                  <a:srgbClr val="FF0059"/>
                </a:solidFill>
                <a:latin typeface="Times New Roman"/>
                <a:cs typeface="Times New Roman"/>
              </a:rPr>
              <a:t>return</a:t>
            </a:r>
            <a:r>
              <a:rPr sz="800" b="1" spc="85" dirty="0">
                <a:solidFill>
                  <a:srgbClr val="FF0059"/>
                </a:solidFill>
                <a:latin typeface="Times New Roman"/>
                <a:cs typeface="Times New Roman"/>
              </a:rPr>
              <a:t> </a:t>
            </a:r>
            <a:r>
              <a:rPr sz="800" spc="65" dirty="0">
                <a:latin typeface="Times New Roman"/>
                <a:cs typeface="Times New Roman"/>
              </a:rPr>
              <a:t>self.nodeID	</a:t>
            </a:r>
            <a:r>
              <a:rPr sz="800" i="1" spc="75" dirty="0">
                <a:solidFill>
                  <a:srgbClr val="009600"/>
                </a:solidFill>
                <a:latin typeface="Times New Roman"/>
                <a:cs typeface="Times New Roman"/>
              </a:rPr>
              <a:t>#</a:t>
            </a:r>
            <a:r>
              <a:rPr sz="800" i="1" spc="65" dirty="0">
                <a:solidFill>
                  <a:srgbClr val="009600"/>
                </a:solidFill>
                <a:latin typeface="Times New Roman"/>
                <a:cs typeface="Times New Roman"/>
              </a:rPr>
              <a:t> </a:t>
            </a:r>
            <a:r>
              <a:rPr sz="800" i="1" spc="70" dirty="0">
                <a:solidFill>
                  <a:srgbClr val="009600"/>
                </a:solidFill>
                <a:latin typeface="Times New Roman"/>
                <a:cs typeface="Times New Roman"/>
              </a:rPr>
              <a:t>responsible</a:t>
            </a:r>
            <a:r>
              <a:rPr sz="800" i="1" spc="45" dirty="0">
                <a:solidFill>
                  <a:srgbClr val="009600"/>
                </a:solidFill>
                <a:latin typeface="Times New Roman"/>
                <a:cs typeface="Times New Roman"/>
              </a:rPr>
              <a:t> </a:t>
            </a:r>
            <a:r>
              <a:rPr sz="800" i="1" spc="40" dirty="0">
                <a:solidFill>
                  <a:srgbClr val="009600"/>
                </a:solidFill>
                <a:latin typeface="Times New Roman"/>
                <a:cs typeface="Times New Roman"/>
              </a:rPr>
              <a:t>node</a:t>
            </a:r>
            <a:endParaRPr sz="800">
              <a:latin typeface="Times New Roman"/>
              <a:cs typeface="Times New Roman"/>
            </a:endParaRPr>
          </a:p>
        </p:txBody>
      </p:sp>
      <p:sp>
        <p:nvSpPr>
          <p:cNvPr id="12" name="object 12"/>
          <p:cNvSpPr txBox="1"/>
          <p:nvPr/>
        </p:nvSpPr>
        <p:spPr>
          <a:xfrm>
            <a:off x="668172" y="2540455"/>
            <a:ext cx="3584575" cy="147320"/>
          </a:xfrm>
          <a:prstGeom prst="rect">
            <a:avLst/>
          </a:prstGeom>
        </p:spPr>
        <p:txBody>
          <a:bodyPr vert="horz" wrap="square" lIns="0" tIns="12065" rIns="0" bIns="0" rtlCol="0">
            <a:spAutoFit/>
          </a:bodyPr>
          <a:lstStyle/>
          <a:p>
            <a:pPr marL="12700">
              <a:lnSpc>
                <a:spcPct val="100000"/>
              </a:lnSpc>
              <a:spcBef>
                <a:spcPts val="95"/>
              </a:spcBef>
            </a:pPr>
            <a:r>
              <a:rPr sz="800" b="1" spc="160" dirty="0">
                <a:solidFill>
                  <a:srgbClr val="FF0059"/>
                </a:solidFill>
                <a:latin typeface="Times New Roman"/>
                <a:cs typeface="Times New Roman"/>
              </a:rPr>
              <a:t>elif</a:t>
            </a:r>
            <a:r>
              <a:rPr sz="800" b="1" spc="75" dirty="0">
                <a:solidFill>
                  <a:srgbClr val="FF0059"/>
                </a:solidFill>
                <a:latin typeface="Times New Roman"/>
                <a:cs typeface="Times New Roman"/>
              </a:rPr>
              <a:t> </a:t>
            </a:r>
            <a:r>
              <a:rPr sz="800" spc="70" dirty="0">
                <a:latin typeface="Times New Roman"/>
                <a:cs typeface="Times New Roman"/>
              </a:rPr>
              <a:t>self.inbetween(key,</a:t>
            </a:r>
            <a:r>
              <a:rPr sz="800" spc="105" dirty="0">
                <a:latin typeface="Times New Roman"/>
                <a:cs typeface="Times New Roman"/>
              </a:rPr>
              <a:t> </a:t>
            </a:r>
            <a:r>
              <a:rPr sz="800" spc="60" dirty="0">
                <a:latin typeface="Times New Roman"/>
                <a:cs typeface="Times New Roman"/>
              </a:rPr>
              <a:t>self.nodeID+1,</a:t>
            </a:r>
            <a:r>
              <a:rPr sz="800" spc="95" dirty="0">
                <a:latin typeface="Times New Roman"/>
                <a:cs typeface="Times New Roman"/>
              </a:rPr>
              <a:t> self.FT[1]):</a:t>
            </a:r>
            <a:r>
              <a:rPr sz="800" spc="100" dirty="0">
                <a:latin typeface="Times New Roman"/>
                <a:cs typeface="Times New Roman"/>
              </a:rPr>
              <a:t> </a:t>
            </a:r>
            <a:r>
              <a:rPr sz="800" i="1" spc="75" dirty="0">
                <a:solidFill>
                  <a:srgbClr val="009600"/>
                </a:solidFill>
                <a:latin typeface="Times New Roman"/>
                <a:cs typeface="Times New Roman"/>
              </a:rPr>
              <a:t>#</a:t>
            </a:r>
            <a:r>
              <a:rPr sz="800" i="1" spc="114" dirty="0">
                <a:solidFill>
                  <a:srgbClr val="009600"/>
                </a:solidFill>
                <a:latin typeface="Times New Roman"/>
                <a:cs typeface="Times New Roman"/>
              </a:rPr>
              <a:t> </a:t>
            </a:r>
            <a:r>
              <a:rPr sz="800" i="1" spc="135" dirty="0">
                <a:solidFill>
                  <a:srgbClr val="009600"/>
                </a:solidFill>
                <a:latin typeface="Times New Roman"/>
                <a:cs typeface="Times New Roman"/>
              </a:rPr>
              <a:t>in</a:t>
            </a:r>
            <a:r>
              <a:rPr sz="800" i="1" spc="114" dirty="0">
                <a:solidFill>
                  <a:srgbClr val="009600"/>
                </a:solidFill>
                <a:latin typeface="Times New Roman"/>
                <a:cs typeface="Times New Roman"/>
              </a:rPr>
              <a:t> </a:t>
            </a:r>
            <a:r>
              <a:rPr sz="800" i="1" spc="80" dirty="0">
                <a:solidFill>
                  <a:srgbClr val="009600"/>
                </a:solidFill>
                <a:latin typeface="Times New Roman"/>
                <a:cs typeface="Times New Roman"/>
              </a:rPr>
              <a:t>(self,FT[1]]</a:t>
            </a:r>
            <a:endParaRPr sz="800">
              <a:latin typeface="Times New Roman"/>
              <a:cs typeface="Times New Roman"/>
            </a:endParaRPr>
          </a:p>
        </p:txBody>
      </p:sp>
      <p:sp>
        <p:nvSpPr>
          <p:cNvPr id="13" name="object 13"/>
          <p:cNvSpPr txBox="1"/>
          <p:nvPr/>
        </p:nvSpPr>
        <p:spPr>
          <a:xfrm>
            <a:off x="768807" y="2648634"/>
            <a:ext cx="3586479" cy="147320"/>
          </a:xfrm>
          <a:prstGeom prst="rect">
            <a:avLst/>
          </a:prstGeom>
        </p:spPr>
        <p:txBody>
          <a:bodyPr vert="horz" wrap="square" lIns="0" tIns="12065" rIns="0" bIns="0" rtlCol="0">
            <a:spAutoFit/>
          </a:bodyPr>
          <a:lstStyle/>
          <a:p>
            <a:pPr marL="12700">
              <a:lnSpc>
                <a:spcPct val="100000"/>
              </a:lnSpc>
              <a:spcBef>
                <a:spcPts val="95"/>
              </a:spcBef>
              <a:tabLst>
                <a:tab pos="2597150" algn="l"/>
              </a:tabLst>
            </a:pPr>
            <a:r>
              <a:rPr sz="800" b="1" spc="45" dirty="0">
                <a:solidFill>
                  <a:srgbClr val="FF0059"/>
                </a:solidFill>
                <a:latin typeface="Times New Roman"/>
                <a:cs typeface="Times New Roman"/>
              </a:rPr>
              <a:t>return</a:t>
            </a:r>
            <a:r>
              <a:rPr sz="800" b="1" spc="80" dirty="0">
                <a:solidFill>
                  <a:srgbClr val="FF0059"/>
                </a:solidFill>
                <a:latin typeface="Times New Roman"/>
                <a:cs typeface="Times New Roman"/>
              </a:rPr>
              <a:t> </a:t>
            </a:r>
            <a:r>
              <a:rPr sz="800" spc="85" dirty="0">
                <a:latin typeface="Times New Roman"/>
                <a:cs typeface="Times New Roman"/>
              </a:rPr>
              <a:t>self.FT[1]	</a:t>
            </a:r>
            <a:r>
              <a:rPr sz="800" i="1" spc="75" dirty="0">
                <a:solidFill>
                  <a:srgbClr val="009600"/>
                </a:solidFill>
                <a:latin typeface="Times New Roman"/>
                <a:cs typeface="Times New Roman"/>
              </a:rPr>
              <a:t>#</a:t>
            </a:r>
            <a:r>
              <a:rPr sz="800" i="1" spc="80" dirty="0">
                <a:solidFill>
                  <a:srgbClr val="009600"/>
                </a:solidFill>
                <a:latin typeface="Times New Roman"/>
                <a:cs typeface="Times New Roman"/>
              </a:rPr>
              <a:t> </a:t>
            </a:r>
            <a:r>
              <a:rPr sz="800" i="1" spc="90" dirty="0">
                <a:solidFill>
                  <a:srgbClr val="009600"/>
                </a:solidFill>
                <a:latin typeface="Times New Roman"/>
                <a:cs typeface="Times New Roman"/>
              </a:rPr>
              <a:t>succ.</a:t>
            </a:r>
            <a:r>
              <a:rPr sz="800" i="1" spc="75" dirty="0">
                <a:solidFill>
                  <a:srgbClr val="009600"/>
                </a:solidFill>
                <a:latin typeface="Times New Roman"/>
                <a:cs typeface="Times New Roman"/>
              </a:rPr>
              <a:t> </a:t>
            </a:r>
            <a:r>
              <a:rPr sz="800" i="1" spc="70" dirty="0">
                <a:solidFill>
                  <a:srgbClr val="009600"/>
                </a:solidFill>
                <a:latin typeface="Times New Roman"/>
                <a:cs typeface="Times New Roman"/>
              </a:rPr>
              <a:t>responsible</a:t>
            </a:r>
            <a:endParaRPr sz="800">
              <a:latin typeface="Times New Roman"/>
              <a:cs typeface="Times New Roman"/>
            </a:endParaRPr>
          </a:p>
        </p:txBody>
      </p:sp>
      <p:sp>
        <p:nvSpPr>
          <p:cNvPr id="14" name="object 14"/>
          <p:cNvSpPr txBox="1"/>
          <p:nvPr/>
        </p:nvSpPr>
        <p:spPr>
          <a:xfrm>
            <a:off x="668680" y="2756813"/>
            <a:ext cx="3329940" cy="147320"/>
          </a:xfrm>
          <a:prstGeom prst="rect">
            <a:avLst/>
          </a:prstGeom>
        </p:spPr>
        <p:txBody>
          <a:bodyPr vert="horz" wrap="square" lIns="0" tIns="12065" rIns="0" bIns="0" rtlCol="0">
            <a:spAutoFit/>
          </a:bodyPr>
          <a:lstStyle/>
          <a:p>
            <a:pPr marL="12700">
              <a:lnSpc>
                <a:spcPct val="100000"/>
              </a:lnSpc>
              <a:spcBef>
                <a:spcPts val="95"/>
              </a:spcBef>
              <a:tabLst>
                <a:tab pos="2697480" algn="l"/>
              </a:tabLst>
            </a:pPr>
            <a:r>
              <a:rPr sz="800" b="1" spc="95" dirty="0">
                <a:solidFill>
                  <a:srgbClr val="FF0059"/>
                </a:solidFill>
                <a:latin typeface="Times New Roman"/>
                <a:cs typeface="Times New Roman"/>
              </a:rPr>
              <a:t>for</a:t>
            </a:r>
            <a:r>
              <a:rPr sz="800" b="1" spc="105" dirty="0">
                <a:solidFill>
                  <a:srgbClr val="FF0059"/>
                </a:solidFill>
                <a:latin typeface="Times New Roman"/>
                <a:cs typeface="Times New Roman"/>
              </a:rPr>
              <a:t> </a:t>
            </a:r>
            <a:r>
              <a:rPr sz="800" spc="254" dirty="0">
                <a:latin typeface="Times New Roman"/>
                <a:cs typeface="Times New Roman"/>
              </a:rPr>
              <a:t>i</a:t>
            </a:r>
            <a:r>
              <a:rPr sz="800" spc="120" dirty="0">
                <a:latin typeface="Times New Roman"/>
                <a:cs typeface="Times New Roman"/>
              </a:rPr>
              <a:t> </a:t>
            </a:r>
            <a:r>
              <a:rPr sz="800" b="1" spc="114" dirty="0">
                <a:solidFill>
                  <a:srgbClr val="FF0059"/>
                </a:solidFill>
                <a:latin typeface="Times New Roman"/>
                <a:cs typeface="Times New Roman"/>
              </a:rPr>
              <a:t>in</a:t>
            </a:r>
            <a:r>
              <a:rPr sz="800" b="1" spc="85" dirty="0">
                <a:solidFill>
                  <a:srgbClr val="FF0059"/>
                </a:solidFill>
                <a:latin typeface="Times New Roman"/>
                <a:cs typeface="Times New Roman"/>
              </a:rPr>
              <a:t> </a:t>
            </a:r>
            <a:r>
              <a:rPr sz="800" b="1" spc="55" dirty="0">
                <a:solidFill>
                  <a:srgbClr val="FF0059"/>
                </a:solidFill>
                <a:latin typeface="Times New Roman"/>
                <a:cs typeface="Times New Roman"/>
              </a:rPr>
              <a:t>range</a:t>
            </a:r>
            <a:r>
              <a:rPr sz="800" spc="55" dirty="0">
                <a:latin typeface="Times New Roman"/>
                <a:cs typeface="Times New Roman"/>
              </a:rPr>
              <a:t>(1,</a:t>
            </a:r>
            <a:r>
              <a:rPr sz="800" spc="95" dirty="0">
                <a:latin typeface="Times New Roman"/>
                <a:cs typeface="Times New Roman"/>
              </a:rPr>
              <a:t> </a:t>
            </a:r>
            <a:r>
              <a:rPr sz="800" spc="90" dirty="0">
                <a:latin typeface="Times New Roman"/>
                <a:cs typeface="Times New Roman"/>
              </a:rPr>
              <a:t>self.nBits+1):	</a:t>
            </a:r>
            <a:r>
              <a:rPr sz="800" i="1" spc="75" dirty="0">
                <a:solidFill>
                  <a:srgbClr val="009600"/>
                </a:solidFill>
                <a:latin typeface="Times New Roman"/>
                <a:cs typeface="Times New Roman"/>
              </a:rPr>
              <a:t># </a:t>
            </a:r>
            <a:r>
              <a:rPr sz="800" i="1" spc="125" dirty="0">
                <a:solidFill>
                  <a:srgbClr val="009600"/>
                </a:solidFill>
                <a:latin typeface="Times New Roman"/>
                <a:cs typeface="Times New Roman"/>
              </a:rPr>
              <a:t>rest</a:t>
            </a:r>
            <a:r>
              <a:rPr sz="800" i="1" spc="60" dirty="0">
                <a:solidFill>
                  <a:srgbClr val="009600"/>
                </a:solidFill>
                <a:latin typeface="Times New Roman"/>
                <a:cs typeface="Times New Roman"/>
              </a:rPr>
              <a:t> </a:t>
            </a:r>
            <a:r>
              <a:rPr sz="800" i="1" spc="135" dirty="0">
                <a:solidFill>
                  <a:srgbClr val="009600"/>
                </a:solidFill>
                <a:latin typeface="Times New Roman"/>
                <a:cs typeface="Times New Roman"/>
              </a:rPr>
              <a:t>of</a:t>
            </a:r>
            <a:r>
              <a:rPr sz="800" i="1" spc="70" dirty="0">
                <a:solidFill>
                  <a:srgbClr val="009600"/>
                </a:solidFill>
                <a:latin typeface="Times New Roman"/>
                <a:cs typeface="Times New Roman"/>
              </a:rPr>
              <a:t> </a:t>
            </a:r>
            <a:r>
              <a:rPr sz="800" i="1" spc="-20" dirty="0">
                <a:solidFill>
                  <a:srgbClr val="009600"/>
                </a:solidFill>
                <a:latin typeface="Times New Roman"/>
                <a:cs typeface="Times New Roman"/>
              </a:rPr>
              <a:t>FT</a:t>
            </a:r>
            <a:endParaRPr sz="800">
              <a:latin typeface="Times New Roman"/>
              <a:cs typeface="Times New Roman"/>
            </a:endParaRPr>
          </a:p>
        </p:txBody>
      </p:sp>
      <p:sp>
        <p:nvSpPr>
          <p:cNvPr id="15" name="object 15"/>
          <p:cNvSpPr txBox="1"/>
          <p:nvPr/>
        </p:nvSpPr>
        <p:spPr>
          <a:xfrm>
            <a:off x="770737" y="2864991"/>
            <a:ext cx="3482340" cy="147320"/>
          </a:xfrm>
          <a:prstGeom prst="rect">
            <a:avLst/>
          </a:prstGeom>
        </p:spPr>
        <p:txBody>
          <a:bodyPr vert="horz" wrap="square" lIns="0" tIns="12065" rIns="0" bIns="0" rtlCol="0">
            <a:spAutoFit/>
          </a:bodyPr>
          <a:lstStyle/>
          <a:p>
            <a:pPr marL="12700">
              <a:lnSpc>
                <a:spcPct val="100000"/>
              </a:lnSpc>
              <a:spcBef>
                <a:spcPts val="95"/>
              </a:spcBef>
            </a:pPr>
            <a:r>
              <a:rPr sz="800" b="1" spc="204" dirty="0">
                <a:solidFill>
                  <a:srgbClr val="FF0059"/>
                </a:solidFill>
                <a:latin typeface="Times New Roman"/>
                <a:cs typeface="Times New Roman"/>
              </a:rPr>
              <a:t>if</a:t>
            </a:r>
            <a:r>
              <a:rPr sz="800" b="1" spc="80" dirty="0">
                <a:solidFill>
                  <a:srgbClr val="FF0059"/>
                </a:solidFill>
                <a:latin typeface="Times New Roman"/>
                <a:cs typeface="Times New Roman"/>
              </a:rPr>
              <a:t> </a:t>
            </a:r>
            <a:r>
              <a:rPr sz="800" spc="70" dirty="0">
                <a:latin typeface="Times New Roman"/>
                <a:cs typeface="Times New Roman"/>
              </a:rPr>
              <a:t>self.inbetween(key,</a:t>
            </a:r>
            <a:r>
              <a:rPr sz="800" spc="95" dirty="0">
                <a:latin typeface="Times New Roman"/>
                <a:cs typeface="Times New Roman"/>
              </a:rPr>
              <a:t> </a:t>
            </a:r>
            <a:r>
              <a:rPr sz="800" spc="110" dirty="0">
                <a:latin typeface="Times New Roman"/>
                <a:cs typeface="Times New Roman"/>
              </a:rPr>
              <a:t>self.FT[i],</a:t>
            </a:r>
            <a:r>
              <a:rPr sz="800" spc="95" dirty="0">
                <a:latin typeface="Times New Roman"/>
                <a:cs typeface="Times New Roman"/>
              </a:rPr>
              <a:t> </a:t>
            </a:r>
            <a:r>
              <a:rPr sz="800" spc="85" dirty="0">
                <a:latin typeface="Times New Roman"/>
                <a:cs typeface="Times New Roman"/>
              </a:rPr>
              <a:t>self.FT[(i+1)</a:t>
            </a:r>
            <a:r>
              <a:rPr sz="800" spc="100" dirty="0">
                <a:latin typeface="Times New Roman"/>
                <a:cs typeface="Times New Roman"/>
              </a:rPr>
              <a:t> </a:t>
            </a:r>
            <a:r>
              <a:rPr sz="800" spc="-190" dirty="0">
                <a:latin typeface="Times New Roman"/>
                <a:cs typeface="Times New Roman"/>
              </a:rPr>
              <a:t>%</a:t>
            </a:r>
            <a:r>
              <a:rPr sz="800" spc="-30" dirty="0">
                <a:latin typeface="Times New Roman"/>
                <a:cs typeface="Times New Roman"/>
              </a:rPr>
              <a:t> </a:t>
            </a:r>
            <a:r>
              <a:rPr sz="800" spc="100" dirty="0">
                <a:latin typeface="Times New Roman"/>
                <a:cs typeface="Times New Roman"/>
              </a:rPr>
              <a:t>self.nBits</a:t>
            </a:r>
            <a:r>
              <a:rPr sz="800" spc="90" dirty="0">
                <a:latin typeface="Times New Roman"/>
                <a:cs typeface="Times New Roman"/>
              </a:rPr>
              <a:t> </a:t>
            </a:r>
            <a:r>
              <a:rPr sz="800" spc="25" dirty="0">
                <a:latin typeface="Times New Roman"/>
                <a:cs typeface="Times New Roman"/>
              </a:rPr>
              <a:t>+</a:t>
            </a:r>
            <a:r>
              <a:rPr sz="800" spc="95" dirty="0">
                <a:latin typeface="Times New Roman"/>
                <a:cs typeface="Times New Roman"/>
              </a:rPr>
              <a:t> </a:t>
            </a:r>
            <a:r>
              <a:rPr sz="800" spc="140" dirty="0">
                <a:latin typeface="Times New Roman"/>
                <a:cs typeface="Times New Roman"/>
              </a:rPr>
              <a:t>1]):</a:t>
            </a:r>
            <a:endParaRPr sz="800">
              <a:latin typeface="Times New Roman"/>
              <a:cs typeface="Times New Roman"/>
            </a:endParaRPr>
          </a:p>
        </p:txBody>
      </p:sp>
      <p:sp>
        <p:nvSpPr>
          <p:cNvPr id="16" name="object 16"/>
          <p:cNvSpPr txBox="1"/>
          <p:nvPr/>
        </p:nvSpPr>
        <p:spPr>
          <a:xfrm>
            <a:off x="306806" y="809598"/>
            <a:ext cx="4131844" cy="2305685"/>
          </a:xfrm>
          <a:prstGeom prst="rect">
            <a:avLst/>
          </a:prstGeom>
        </p:spPr>
        <p:txBody>
          <a:bodyPr vert="horz" wrap="square" lIns="0" tIns="12065" rIns="0" bIns="0" rtlCol="0">
            <a:spAutoFit/>
          </a:bodyPr>
          <a:lstStyle/>
          <a:p>
            <a:pPr marL="57785">
              <a:lnSpc>
                <a:spcPts val="905"/>
              </a:lnSpc>
              <a:spcBef>
                <a:spcPts val="95"/>
              </a:spcBef>
              <a:tabLst>
                <a:tab pos="273050" algn="l"/>
              </a:tabLst>
            </a:pPr>
            <a:r>
              <a:rPr sz="600" spc="55" dirty="0">
                <a:latin typeface="Times New Roman"/>
                <a:cs typeface="Times New Roman"/>
              </a:rPr>
              <a:t>2	</a:t>
            </a:r>
            <a:r>
              <a:rPr sz="800" b="1" spc="80" dirty="0">
                <a:solidFill>
                  <a:srgbClr val="FF0059"/>
                </a:solidFill>
                <a:latin typeface="Times New Roman"/>
                <a:cs typeface="Times New Roman"/>
              </a:rPr>
              <a:t>def</a:t>
            </a:r>
            <a:r>
              <a:rPr sz="800" b="1" spc="45" dirty="0">
                <a:solidFill>
                  <a:srgbClr val="FF0059"/>
                </a:solidFill>
                <a:latin typeface="Times New Roman"/>
                <a:cs typeface="Times New Roman"/>
              </a:rPr>
              <a:t> </a:t>
            </a:r>
            <a:r>
              <a:rPr sz="800" spc="110" dirty="0">
                <a:latin typeface="Times New Roman"/>
                <a:cs typeface="Times New Roman"/>
              </a:rPr>
              <a:t>finger(self,</a:t>
            </a:r>
            <a:r>
              <a:rPr sz="800" spc="85" dirty="0">
                <a:latin typeface="Times New Roman"/>
                <a:cs typeface="Times New Roman"/>
              </a:rPr>
              <a:t> </a:t>
            </a:r>
            <a:r>
              <a:rPr sz="800" spc="190" dirty="0">
                <a:latin typeface="Times New Roman"/>
                <a:cs typeface="Times New Roman"/>
              </a:rPr>
              <a:t>i):</a:t>
            </a:r>
            <a:endParaRPr sz="800" dirty="0">
              <a:latin typeface="Times New Roman"/>
              <a:cs typeface="Times New Roman"/>
            </a:endParaRPr>
          </a:p>
          <a:p>
            <a:pPr marL="57785">
              <a:lnSpc>
                <a:spcPts val="850"/>
              </a:lnSpc>
              <a:tabLst>
                <a:tab pos="373380" algn="l"/>
              </a:tabLst>
            </a:pPr>
            <a:r>
              <a:rPr sz="600" spc="55" dirty="0">
                <a:latin typeface="Times New Roman"/>
                <a:cs typeface="Times New Roman"/>
              </a:rPr>
              <a:t>3	</a:t>
            </a:r>
            <a:r>
              <a:rPr sz="800" spc="100" dirty="0">
                <a:latin typeface="Times New Roman"/>
                <a:cs typeface="Times New Roman"/>
              </a:rPr>
              <a:t>s</a:t>
            </a:r>
            <a:r>
              <a:rPr sz="800" spc="10" dirty="0">
                <a:latin typeface="Times New Roman"/>
                <a:cs typeface="Times New Roman"/>
              </a:rPr>
              <a:t>u</a:t>
            </a:r>
            <a:r>
              <a:rPr sz="800" spc="55" dirty="0">
                <a:latin typeface="Times New Roman"/>
                <a:cs typeface="Times New Roman"/>
              </a:rPr>
              <a:t>c</a:t>
            </a:r>
            <a:r>
              <a:rPr sz="800" spc="120" dirty="0">
                <a:latin typeface="Times New Roman"/>
                <a:cs typeface="Times New Roman"/>
              </a:rPr>
              <a:t>c</a:t>
            </a:r>
            <a:r>
              <a:rPr sz="800" spc="90" dirty="0">
                <a:latin typeface="Times New Roman"/>
                <a:cs typeface="Times New Roman"/>
              </a:rPr>
              <a:t> </a:t>
            </a:r>
            <a:r>
              <a:rPr sz="800" spc="25" dirty="0">
                <a:latin typeface="Times New Roman"/>
                <a:cs typeface="Times New Roman"/>
              </a:rPr>
              <a:t>=</a:t>
            </a:r>
            <a:r>
              <a:rPr sz="800" dirty="0">
                <a:latin typeface="Times New Roman"/>
                <a:cs typeface="Times New Roman"/>
              </a:rPr>
              <a:t> </a:t>
            </a:r>
            <a:r>
              <a:rPr sz="800" spc="-85" dirty="0">
                <a:latin typeface="Times New Roman"/>
                <a:cs typeface="Times New Roman"/>
              </a:rPr>
              <a:t> </a:t>
            </a:r>
            <a:r>
              <a:rPr sz="800" spc="105" dirty="0">
                <a:latin typeface="Times New Roman"/>
                <a:cs typeface="Times New Roman"/>
              </a:rPr>
              <a:t>(</a:t>
            </a:r>
            <a:r>
              <a:rPr sz="800" spc="100" dirty="0">
                <a:latin typeface="Times New Roman"/>
                <a:cs typeface="Times New Roman"/>
              </a:rPr>
              <a:t>s</a:t>
            </a:r>
            <a:r>
              <a:rPr sz="800" spc="55" dirty="0">
                <a:latin typeface="Times New Roman"/>
                <a:cs typeface="Times New Roman"/>
              </a:rPr>
              <a:t>e</a:t>
            </a:r>
            <a:r>
              <a:rPr sz="800" spc="190" dirty="0">
                <a:latin typeface="Times New Roman"/>
                <a:cs typeface="Times New Roman"/>
              </a:rPr>
              <a:t>l</a:t>
            </a:r>
            <a:r>
              <a:rPr sz="800" spc="105" dirty="0">
                <a:latin typeface="Times New Roman"/>
                <a:cs typeface="Times New Roman"/>
              </a:rPr>
              <a:t>f</a:t>
            </a:r>
            <a:r>
              <a:rPr sz="800" spc="165" dirty="0">
                <a:latin typeface="Times New Roman"/>
                <a:cs typeface="Times New Roman"/>
              </a:rPr>
              <a:t>.</a:t>
            </a:r>
            <a:r>
              <a:rPr sz="800" spc="5" dirty="0">
                <a:latin typeface="Times New Roman"/>
                <a:cs typeface="Times New Roman"/>
              </a:rPr>
              <a:t>nod</a:t>
            </a:r>
            <a:r>
              <a:rPr sz="800" spc="50" dirty="0">
                <a:latin typeface="Times New Roman"/>
                <a:cs typeface="Times New Roman"/>
              </a:rPr>
              <a:t>e</a:t>
            </a:r>
            <a:r>
              <a:rPr sz="800" spc="140" dirty="0">
                <a:latin typeface="Times New Roman"/>
                <a:cs typeface="Times New Roman"/>
              </a:rPr>
              <a:t>I</a:t>
            </a:r>
            <a:r>
              <a:rPr sz="800" spc="-100" dirty="0">
                <a:latin typeface="Times New Roman"/>
                <a:cs typeface="Times New Roman"/>
              </a:rPr>
              <a:t>D</a:t>
            </a:r>
            <a:r>
              <a:rPr sz="800" spc="90" dirty="0">
                <a:latin typeface="Times New Roman"/>
                <a:cs typeface="Times New Roman"/>
              </a:rPr>
              <a:t> </a:t>
            </a:r>
            <a:r>
              <a:rPr sz="800" spc="25" dirty="0">
                <a:latin typeface="Times New Roman"/>
                <a:cs typeface="Times New Roman"/>
              </a:rPr>
              <a:t>+</a:t>
            </a:r>
            <a:r>
              <a:rPr sz="800" spc="95" dirty="0">
                <a:latin typeface="Times New Roman"/>
                <a:cs typeface="Times New Roman"/>
              </a:rPr>
              <a:t> </a:t>
            </a:r>
            <a:r>
              <a:rPr sz="800" b="1" spc="-30" dirty="0">
                <a:solidFill>
                  <a:srgbClr val="FF0059"/>
                </a:solidFill>
                <a:latin typeface="Times New Roman"/>
                <a:cs typeface="Times New Roman"/>
              </a:rPr>
              <a:t>p</a:t>
            </a:r>
            <a:r>
              <a:rPr sz="800" b="1" spc="15" dirty="0">
                <a:solidFill>
                  <a:srgbClr val="FF0059"/>
                </a:solidFill>
                <a:latin typeface="Times New Roman"/>
                <a:cs typeface="Times New Roman"/>
              </a:rPr>
              <a:t>o</a:t>
            </a:r>
            <a:r>
              <a:rPr sz="800" b="1" spc="-210" dirty="0">
                <a:solidFill>
                  <a:srgbClr val="FF0059"/>
                </a:solidFill>
                <a:latin typeface="Times New Roman"/>
                <a:cs typeface="Times New Roman"/>
              </a:rPr>
              <a:t>w</a:t>
            </a:r>
            <a:r>
              <a:rPr sz="800" spc="160" dirty="0">
                <a:latin typeface="Times New Roman"/>
                <a:cs typeface="Times New Roman"/>
              </a:rPr>
              <a:t>(</a:t>
            </a:r>
            <a:r>
              <a:rPr sz="800" spc="-25" dirty="0">
                <a:latin typeface="Times New Roman"/>
                <a:cs typeface="Times New Roman"/>
              </a:rPr>
              <a:t>2</a:t>
            </a:r>
            <a:r>
              <a:rPr sz="800" spc="275" dirty="0">
                <a:latin typeface="Times New Roman"/>
                <a:cs typeface="Times New Roman"/>
              </a:rPr>
              <a:t>,</a:t>
            </a:r>
            <a:r>
              <a:rPr sz="800" dirty="0">
                <a:latin typeface="Times New Roman"/>
                <a:cs typeface="Times New Roman"/>
              </a:rPr>
              <a:t> </a:t>
            </a:r>
            <a:r>
              <a:rPr sz="800" spc="-80" dirty="0">
                <a:latin typeface="Times New Roman"/>
                <a:cs typeface="Times New Roman"/>
              </a:rPr>
              <a:t> </a:t>
            </a:r>
            <a:r>
              <a:rPr sz="800" spc="135" dirty="0">
                <a:latin typeface="Times New Roman"/>
                <a:cs typeface="Times New Roman"/>
              </a:rPr>
              <a:t>i</a:t>
            </a:r>
            <a:r>
              <a:rPr sz="800" spc="145" dirty="0">
                <a:latin typeface="Times New Roman"/>
                <a:cs typeface="Times New Roman"/>
              </a:rPr>
              <a:t>-</a:t>
            </a:r>
            <a:r>
              <a:rPr sz="800" spc="10" dirty="0">
                <a:latin typeface="Times New Roman"/>
                <a:cs typeface="Times New Roman"/>
              </a:rPr>
              <a:t>1</a:t>
            </a:r>
            <a:r>
              <a:rPr sz="800" spc="145" dirty="0">
                <a:latin typeface="Times New Roman"/>
                <a:cs typeface="Times New Roman"/>
              </a:rPr>
              <a:t>)</a:t>
            </a:r>
            <a:r>
              <a:rPr sz="800" spc="210" dirty="0">
                <a:latin typeface="Times New Roman"/>
                <a:cs typeface="Times New Roman"/>
              </a:rPr>
              <a:t>)</a:t>
            </a:r>
            <a:r>
              <a:rPr sz="800" spc="90" dirty="0">
                <a:latin typeface="Times New Roman"/>
                <a:cs typeface="Times New Roman"/>
              </a:rPr>
              <a:t> </a:t>
            </a:r>
            <a:r>
              <a:rPr sz="800" spc="-190" dirty="0">
                <a:latin typeface="Times New Roman"/>
                <a:cs typeface="Times New Roman"/>
              </a:rPr>
              <a:t>%</a:t>
            </a:r>
            <a:r>
              <a:rPr sz="800" spc="90" dirty="0">
                <a:latin typeface="Times New Roman"/>
                <a:cs typeface="Times New Roman"/>
              </a:rPr>
              <a:t> </a:t>
            </a:r>
            <a:r>
              <a:rPr sz="800" spc="100" dirty="0">
                <a:latin typeface="Times New Roman"/>
                <a:cs typeface="Times New Roman"/>
              </a:rPr>
              <a:t>s</a:t>
            </a:r>
            <a:r>
              <a:rPr sz="800" spc="55" dirty="0">
                <a:latin typeface="Times New Roman"/>
                <a:cs typeface="Times New Roman"/>
              </a:rPr>
              <a:t>e</a:t>
            </a:r>
            <a:r>
              <a:rPr sz="800" spc="190" dirty="0">
                <a:latin typeface="Times New Roman"/>
                <a:cs typeface="Times New Roman"/>
              </a:rPr>
              <a:t>l</a:t>
            </a:r>
            <a:r>
              <a:rPr sz="800" spc="105" dirty="0">
                <a:latin typeface="Times New Roman"/>
                <a:cs typeface="Times New Roman"/>
              </a:rPr>
              <a:t>f</a:t>
            </a:r>
            <a:r>
              <a:rPr sz="800" spc="165" dirty="0">
                <a:latin typeface="Times New Roman"/>
                <a:cs typeface="Times New Roman"/>
              </a:rPr>
              <a:t>.</a:t>
            </a:r>
            <a:r>
              <a:rPr sz="800" spc="-305" dirty="0">
                <a:latin typeface="Times New Roman"/>
                <a:cs typeface="Times New Roman"/>
              </a:rPr>
              <a:t>M</a:t>
            </a:r>
            <a:r>
              <a:rPr sz="800" spc="-175" dirty="0">
                <a:latin typeface="Times New Roman"/>
                <a:cs typeface="Times New Roman"/>
              </a:rPr>
              <a:t>A</a:t>
            </a:r>
            <a:r>
              <a:rPr sz="800" spc="-170" dirty="0">
                <a:latin typeface="Times New Roman"/>
                <a:cs typeface="Times New Roman"/>
              </a:rPr>
              <a:t>X</a:t>
            </a:r>
            <a:r>
              <a:rPr sz="800" spc="-45" dirty="0">
                <a:latin typeface="Times New Roman"/>
                <a:cs typeface="Times New Roman"/>
              </a:rPr>
              <a:t>P</a:t>
            </a:r>
            <a:r>
              <a:rPr sz="800" spc="-130" dirty="0">
                <a:latin typeface="Times New Roman"/>
                <a:cs typeface="Times New Roman"/>
              </a:rPr>
              <a:t>R</a:t>
            </a:r>
            <a:r>
              <a:rPr sz="800" spc="-175" dirty="0">
                <a:latin typeface="Times New Roman"/>
                <a:cs typeface="Times New Roman"/>
              </a:rPr>
              <a:t>O</a:t>
            </a:r>
            <a:r>
              <a:rPr sz="800" spc="-60" dirty="0">
                <a:latin typeface="Times New Roman"/>
                <a:cs typeface="Times New Roman"/>
              </a:rPr>
              <a:t>C</a:t>
            </a:r>
            <a:endParaRPr sz="800" dirty="0">
              <a:latin typeface="Times New Roman"/>
              <a:cs typeface="Times New Roman"/>
            </a:endParaRPr>
          </a:p>
          <a:p>
            <a:pPr marL="57785">
              <a:lnSpc>
                <a:spcPts val="850"/>
              </a:lnSpc>
              <a:tabLst>
                <a:tab pos="373380" algn="l"/>
              </a:tabLst>
            </a:pPr>
            <a:r>
              <a:rPr sz="600" spc="55" dirty="0">
                <a:latin typeface="Times New Roman"/>
                <a:cs typeface="Times New Roman"/>
              </a:rPr>
              <a:t>4	</a:t>
            </a:r>
            <a:r>
              <a:rPr sz="800" spc="70" dirty="0">
                <a:latin typeface="Times New Roman"/>
                <a:cs typeface="Times New Roman"/>
              </a:rPr>
              <a:t>lwbi</a:t>
            </a:r>
            <a:r>
              <a:rPr sz="800" spc="65" dirty="0">
                <a:latin typeface="Times New Roman"/>
                <a:cs typeface="Times New Roman"/>
              </a:rPr>
              <a:t> </a:t>
            </a:r>
            <a:r>
              <a:rPr sz="800" spc="25" dirty="0">
                <a:latin typeface="Times New Roman"/>
                <a:cs typeface="Times New Roman"/>
              </a:rPr>
              <a:t>=</a:t>
            </a:r>
            <a:r>
              <a:rPr sz="800" spc="70" dirty="0">
                <a:latin typeface="Times New Roman"/>
                <a:cs typeface="Times New Roman"/>
              </a:rPr>
              <a:t> self.nodeSet.index(self.nodeID)</a:t>
            </a:r>
            <a:endParaRPr sz="800" dirty="0">
              <a:latin typeface="Times New Roman"/>
              <a:cs typeface="Times New Roman"/>
            </a:endParaRPr>
          </a:p>
          <a:p>
            <a:pPr marL="57785">
              <a:lnSpc>
                <a:spcPts val="905"/>
              </a:lnSpc>
              <a:tabLst>
                <a:tab pos="373380" algn="l"/>
              </a:tabLst>
            </a:pPr>
            <a:r>
              <a:rPr sz="600" spc="55" dirty="0">
                <a:latin typeface="Times New Roman"/>
                <a:cs typeface="Times New Roman"/>
              </a:rPr>
              <a:t>5	</a:t>
            </a:r>
            <a:r>
              <a:rPr sz="800" spc="10" dirty="0">
                <a:latin typeface="Times New Roman"/>
                <a:cs typeface="Times New Roman"/>
              </a:rPr>
              <a:t>upb</a:t>
            </a:r>
            <a:r>
              <a:rPr sz="800" spc="254" dirty="0">
                <a:latin typeface="Times New Roman"/>
                <a:cs typeface="Times New Roman"/>
              </a:rPr>
              <a:t>i</a:t>
            </a:r>
            <a:r>
              <a:rPr sz="800" spc="90" dirty="0">
                <a:latin typeface="Times New Roman"/>
                <a:cs typeface="Times New Roman"/>
              </a:rPr>
              <a:t> </a:t>
            </a:r>
            <a:r>
              <a:rPr sz="800" spc="25" dirty="0">
                <a:latin typeface="Times New Roman"/>
                <a:cs typeface="Times New Roman"/>
              </a:rPr>
              <a:t>=</a:t>
            </a:r>
            <a:r>
              <a:rPr sz="800" dirty="0">
                <a:latin typeface="Times New Roman"/>
                <a:cs typeface="Times New Roman"/>
              </a:rPr>
              <a:t> </a:t>
            </a:r>
            <a:r>
              <a:rPr sz="800" spc="-85" dirty="0">
                <a:latin typeface="Times New Roman"/>
                <a:cs typeface="Times New Roman"/>
              </a:rPr>
              <a:t> </a:t>
            </a:r>
            <a:r>
              <a:rPr sz="800" spc="105" dirty="0">
                <a:latin typeface="Times New Roman"/>
                <a:cs typeface="Times New Roman"/>
              </a:rPr>
              <a:t>(</a:t>
            </a:r>
            <a:r>
              <a:rPr sz="800" spc="190" dirty="0">
                <a:latin typeface="Times New Roman"/>
                <a:cs typeface="Times New Roman"/>
              </a:rPr>
              <a:t>l</a:t>
            </a:r>
            <a:r>
              <a:rPr sz="800" spc="-165" dirty="0">
                <a:latin typeface="Times New Roman"/>
                <a:cs typeface="Times New Roman"/>
              </a:rPr>
              <a:t>w</a:t>
            </a:r>
            <a:r>
              <a:rPr sz="800" spc="10" dirty="0">
                <a:latin typeface="Times New Roman"/>
                <a:cs typeface="Times New Roman"/>
              </a:rPr>
              <a:t>b</a:t>
            </a:r>
            <a:r>
              <a:rPr sz="800" spc="254" dirty="0">
                <a:latin typeface="Times New Roman"/>
                <a:cs typeface="Times New Roman"/>
              </a:rPr>
              <a:t>i</a:t>
            </a:r>
            <a:r>
              <a:rPr sz="800" spc="90" dirty="0">
                <a:latin typeface="Times New Roman"/>
                <a:cs typeface="Times New Roman"/>
              </a:rPr>
              <a:t> </a:t>
            </a:r>
            <a:r>
              <a:rPr sz="800" spc="25" dirty="0">
                <a:latin typeface="Times New Roman"/>
                <a:cs typeface="Times New Roman"/>
              </a:rPr>
              <a:t>+</a:t>
            </a:r>
            <a:r>
              <a:rPr sz="800" dirty="0">
                <a:latin typeface="Times New Roman"/>
                <a:cs typeface="Times New Roman"/>
              </a:rPr>
              <a:t> </a:t>
            </a:r>
            <a:r>
              <a:rPr sz="800" spc="-95" dirty="0">
                <a:latin typeface="Times New Roman"/>
                <a:cs typeface="Times New Roman"/>
              </a:rPr>
              <a:t> </a:t>
            </a:r>
            <a:r>
              <a:rPr sz="800" spc="20" dirty="0">
                <a:latin typeface="Times New Roman"/>
                <a:cs typeface="Times New Roman"/>
              </a:rPr>
              <a:t>1</a:t>
            </a:r>
            <a:r>
              <a:rPr sz="800" spc="210" dirty="0">
                <a:latin typeface="Times New Roman"/>
                <a:cs typeface="Times New Roman"/>
              </a:rPr>
              <a:t>)</a:t>
            </a:r>
            <a:r>
              <a:rPr sz="800" dirty="0">
                <a:latin typeface="Times New Roman"/>
                <a:cs typeface="Times New Roman"/>
              </a:rPr>
              <a:t> </a:t>
            </a:r>
            <a:r>
              <a:rPr sz="800" spc="-95" dirty="0">
                <a:latin typeface="Times New Roman"/>
                <a:cs typeface="Times New Roman"/>
              </a:rPr>
              <a:t> </a:t>
            </a:r>
            <a:r>
              <a:rPr sz="800" spc="-190" dirty="0">
                <a:latin typeface="Times New Roman"/>
                <a:cs typeface="Times New Roman"/>
              </a:rPr>
              <a:t>%</a:t>
            </a:r>
            <a:r>
              <a:rPr sz="800" spc="95" dirty="0">
                <a:latin typeface="Times New Roman"/>
                <a:cs typeface="Times New Roman"/>
              </a:rPr>
              <a:t> </a:t>
            </a:r>
            <a:r>
              <a:rPr sz="800" b="1" spc="195" dirty="0">
                <a:solidFill>
                  <a:srgbClr val="FF0059"/>
                </a:solidFill>
                <a:latin typeface="Times New Roman"/>
                <a:cs typeface="Times New Roman"/>
              </a:rPr>
              <a:t>l</a:t>
            </a:r>
            <a:r>
              <a:rPr sz="800" b="1" spc="60" dirty="0">
                <a:solidFill>
                  <a:srgbClr val="FF0059"/>
                </a:solidFill>
                <a:latin typeface="Times New Roman"/>
                <a:cs typeface="Times New Roman"/>
              </a:rPr>
              <a:t>e</a:t>
            </a:r>
            <a:r>
              <a:rPr sz="800" b="1" spc="-70" dirty="0">
                <a:solidFill>
                  <a:srgbClr val="FF0059"/>
                </a:solidFill>
                <a:latin typeface="Times New Roman"/>
                <a:cs typeface="Times New Roman"/>
              </a:rPr>
              <a:t>n</a:t>
            </a:r>
            <a:r>
              <a:rPr sz="800" spc="105" dirty="0">
                <a:latin typeface="Times New Roman"/>
                <a:cs typeface="Times New Roman"/>
              </a:rPr>
              <a:t>(</a:t>
            </a:r>
            <a:r>
              <a:rPr sz="800" spc="100" dirty="0">
                <a:latin typeface="Times New Roman"/>
                <a:cs typeface="Times New Roman"/>
              </a:rPr>
              <a:t>s</a:t>
            </a:r>
            <a:r>
              <a:rPr sz="800" spc="55" dirty="0">
                <a:latin typeface="Times New Roman"/>
                <a:cs typeface="Times New Roman"/>
              </a:rPr>
              <a:t>e</a:t>
            </a:r>
            <a:r>
              <a:rPr sz="800" spc="190" dirty="0">
                <a:latin typeface="Times New Roman"/>
                <a:cs typeface="Times New Roman"/>
              </a:rPr>
              <a:t>l</a:t>
            </a:r>
            <a:r>
              <a:rPr sz="800" spc="105" dirty="0">
                <a:latin typeface="Times New Roman"/>
                <a:cs typeface="Times New Roman"/>
              </a:rPr>
              <a:t>f</a:t>
            </a:r>
            <a:r>
              <a:rPr sz="800" spc="165" dirty="0">
                <a:latin typeface="Times New Roman"/>
                <a:cs typeface="Times New Roman"/>
              </a:rPr>
              <a:t>.</a:t>
            </a:r>
            <a:r>
              <a:rPr sz="800" dirty="0">
                <a:latin typeface="Times New Roman"/>
                <a:cs typeface="Times New Roman"/>
              </a:rPr>
              <a:t>n</a:t>
            </a:r>
            <a:r>
              <a:rPr sz="800" spc="5" dirty="0">
                <a:latin typeface="Times New Roman"/>
                <a:cs typeface="Times New Roman"/>
              </a:rPr>
              <a:t>o</a:t>
            </a:r>
            <a:r>
              <a:rPr sz="800" dirty="0">
                <a:latin typeface="Times New Roman"/>
                <a:cs typeface="Times New Roman"/>
              </a:rPr>
              <a:t>d</a:t>
            </a:r>
            <a:r>
              <a:rPr sz="800" spc="50" dirty="0">
                <a:latin typeface="Times New Roman"/>
                <a:cs typeface="Times New Roman"/>
              </a:rPr>
              <a:t>e</a:t>
            </a:r>
            <a:r>
              <a:rPr sz="800" spc="-45" dirty="0">
                <a:latin typeface="Times New Roman"/>
                <a:cs typeface="Times New Roman"/>
              </a:rPr>
              <a:t>S</a:t>
            </a:r>
            <a:r>
              <a:rPr sz="800" spc="50" dirty="0">
                <a:latin typeface="Times New Roman"/>
                <a:cs typeface="Times New Roman"/>
              </a:rPr>
              <a:t>e</a:t>
            </a:r>
            <a:r>
              <a:rPr sz="800" spc="145" dirty="0">
                <a:latin typeface="Times New Roman"/>
                <a:cs typeface="Times New Roman"/>
              </a:rPr>
              <a:t>t</a:t>
            </a:r>
            <a:r>
              <a:rPr sz="800" spc="210" dirty="0">
                <a:latin typeface="Times New Roman"/>
                <a:cs typeface="Times New Roman"/>
              </a:rPr>
              <a:t>)</a:t>
            </a:r>
            <a:endParaRPr sz="800" dirty="0">
              <a:latin typeface="Times New Roman"/>
              <a:cs typeface="Times New Roman"/>
            </a:endParaRPr>
          </a:p>
          <a:p>
            <a:pPr marL="57785">
              <a:lnSpc>
                <a:spcPct val="100000"/>
              </a:lnSpc>
              <a:spcBef>
                <a:spcPts val="90"/>
              </a:spcBef>
            </a:pPr>
            <a:r>
              <a:rPr sz="600" spc="55" dirty="0">
                <a:latin typeface="Times New Roman"/>
                <a:cs typeface="Times New Roman"/>
              </a:rPr>
              <a:t>6</a:t>
            </a:r>
            <a:endParaRPr sz="600" dirty="0">
              <a:latin typeface="Times New Roman"/>
              <a:cs typeface="Times New Roman"/>
            </a:endParaRPr>
          </a:p>
          <a:p>
            <a:pPr marL="57785">
              <a:lnSpc>
                <a:spcPct val="100000"/>
              </a:lnSpc>
              <a:spcBef>
                <a:spcPts val="135"/>
              </a:spcBef>
            </a:pPr>
            <a:r>
              <a:rPr sz="600" spc="55" dirty="0">
                <a:latin typeface="Times New Roman"/>
                <a:cs typeface="Times New Roman"/>
              </a:rPr>
              <a:t>7</a:t>
            </a:r>
            <a:endParaRPr sz="600" dirty="0">
              <a:latin typeface="Times New Roman"/>
              <a:cs typeface="Times New Roman"/>
            </a:endParaRPr>
          </a:p>
          <a:p>
            <a:pPr marL="57785">
              <a:lnSpc>
                <a:spcPct val="100000"/>
              </a:lnSpc>
              <a:spcBef>
                <a:spcPts val="130"/>
              </a:spcBef>
            </a:pPr>
            <a:r>
              <a:rPr sz="600" spc="55" dirty="0">
                <a:latin typeface="Times New Roman"/>
                <a:cs typeface="Times New Roman"/>
              </a:rPr>
              <a:t>8</a:t>
            </a:r>
            <a:endParaRPr sz="600" dirty="0">
              <a:latin typeface="Times New Roman"/>
              <a:cs typeface="Times New Roman"/>
            </a:endParaRPr>
          </a:p>
          <a:p>
            <a:pPr marL="57785">
              <a:lnSpc>
                <a:spcPct val="100000"/>
              </a:lnSpc>
              <a:spcBef>
                <a:spcPts val="135"/>
              </a:spcBef>
            </a:pPr>
            <a:r>
              <a:rPr sz="600" spc="55" dirty="0">
                <a:latin typeface="Times New Roman"/>
                <a:cs typeface="Times New Roman"/>
              </a:rPr>
              <a:t>9</a:t>
            </a:r>
            <a:endParaRPr sz="600" dirty="0">
              <a:latin typeface="Times New Roman"/>
              <a:cs typeface="Times New Roman"/>
            </a:endParaRPr>
          </a:p>
          <a:p>
            <a:pPr marL="12700">
              <a:lnSpc>
                <a:spcPts val="685"/>
              </a:lnSpc>
              <a:spcBef>
                <a:spcPts val="130"/>
              </a:spcBef>
            </a:pPr>
            <a:r>
              <a:rPr sz="600" spc="55" dirty="0">
                <a:latin typeface="Times New Roman"/>
                <a:cs typeface="Times New Roman"/>
              </a:rPr>
              <a:t>10</a:t>
            </a:r>
            <a:endParaRPr sz="600" dirty="0">
              <a:latin typeface="Times New Roman"/>
              <a:cs typeface="Times New Roman"/>
            </a:endParaRPr>
          </a:p>
          <a:p>
            <a:pPr marL="12700">
              <a:lnSpc>
                <a:spcPts val="869"/>
              </a:lnSpc>
              <a:tabLst>
                <a:tab pos="273050" algn="l"/>
              </a:tabLst>
            </a:pPr>
            <a:r>
              <a:rPr sz="600" spc="55" dirty="0">
                <a:latin typeface="Times New Roman"/>
                <a:cs typeface="Times New Roman"/>
              </a:rPr>
              <a:t>11	</a:t>
            </a:r>
            <a:r>
              <a:rPr sz="800" b="1" spc="80" dirty="0">
                <a:solidFill>
                  <a:srgbClr val="FF0059"/>
                </a:solidFill>
                <a:latin typeface="Times New Roman"/>
                <a:cs typeface="Times New Roman"/>
              </a:rPr>
              <a:t>def</a:t>
            </a:r>
            <a:r>
              <a:rPr sz="800" b="1" spc="70" dirty="0">
                <a:solidFill>
                  <a:srgbClr val="FF0059"/>
                </a:solidFill>
                <a:latin typeface="Times New Roman"/>
                <a:cs typeface="Times New Roman"/>
              </a:rPr>
              <a:t> </a:t>
            </a:r>
            <a:r>
              <a:rPr sz="800" spc="55" dirty="0">
                <a:latin typeface="Times New Roman"/>
                <a:cs typeface="Times New Roman"/>
              </a:rPr>
              <a:t>recomputeFingerTable(self):</a:t>
            </a:r>
            <a:endParaRPr sz="800" dirty="0">
              <a:latin typeface="Times New Roman"/>
              <a:cs typeface="Times New Roman"/>
            </a:endParaRPr>
          </a:p>
          <a:p>
            <a:pPr marL="12700">
              <a:lnSpc>
                <a:spcPts val="850"/>
              </a:lnSpc>
              <a:tabLst>
                <a:tab pos="373380" algn="l"/>
              </a:tabLst>
            </a:pPr>
            <a:r>
              <a:rPr sz="600" spc="55" dirty="0">
                <a:latin typeface="Times New Roman"/>
                <a:cs typeface="Times New Roman"/>
              </a:rPr>
              <a:t>12	</a:t>
            </a:r>
            <a:r>
              <a:rPr sz="800" spc="85" dirty="0">
                <a:latin typeface="Times New Roman"/>
                <a:cs typeface="Times New Roman"/>
              </a:rPr>
              <a:t>self.FT[0] </a:t>
            </a:r>
            <a:r>
              <a:rPr sz="800" spc="240" dirty="0">
                <a:latin typeface="Times New Roman"/>
                <a:cs typeface="Times New Roman"/>
              </a:rPr>
              <a:t> </a:t>
            </a:r>
            <a:r>
              <a:rPr sz="800" spc="25" dirty="0">
                <a:latin typeface="Times New Roman"/>
                <a:cs typeface="Times New Roman"/>
              </a:rPr>
              <a:t>=</a:t>
            </a:r>
            <a:r>
              <a:rPr sz="800" spc="105" dirty="0">
                <a:latin typeface="Times New Roman"/>
                <a:cs typeface="Times New Roman"/>
              </a:rPr>
              <a:t> </a:t>
            </a:r>
            <a:r>
              <a:rPr sz="800" spc="70" dirty="0">
                <a:latin typeface="Times New Roman"/>
                <a:cs typeface="Times New Roman"/>
              </a:rPr>
              <a:t>self.nodeSet[self.nodeSet.index(self.nodeID)-1]</a:t>
            </a:r>
            <a:r>
              <a:rPr sz="800" spc="120" dirty="0">
                <a:latin typeface="Times New Roman"/>
                <a:cs typeface="Times New Roman"/>
              </a:rPr>
              <a:t> </a:t>
            </a:r>
            <a:r>
              <a:rPr sz="800" i="1" spc="75" dirty="0">
                <a:solidFill>
                  <a:srgbClr val="009600"/>
                </a:solidFill>
                <a:latin typeface="Times New Roman"/>
                <a:cs typeface="Times New Roman"/>
              </a:rPr>
              <a:t>#</a:t>
            </a:r>
            <a:r>
              <a:rPr sz="800" i="1" spc="105" dirty="0">
                <a:solidFill>
                  <a:srgbClr val="009600"/>
                </a:solidFill>
                <a:latin typeface="Times New Roman"/>
                <a:cs typeface="Times New Roman"/>
              </a:rPr>
              <a:t> </a:t>
            </a:r>
            <a:r>
              <a:rPr sz="800" i="1" spc="65" dirty="0">
                <a:solidFill>
                  <a:srgbClr val="009600"/>
                </a:solidFill>
                <a:latin typeface="Times New Roman"/>
                <a:cs typeface="Times New Roman"/>
              </a:rPr>
              <a:t>Pred.</a:t>
            </a:r>
            <a:endParaRPr sz="800" dirty="0">
              <a:latin typeface="Times New Roman"/>
              <a:cs typeface="Times New Roman"/>
            </a:endParaRPr>
          </a:p>
          <a:p>
            <a:pPr marL="12700">
              <a:lnSpc>
                <a:spcPts val="905"/>
              </a:lnSpc>
              <a:tabLst>
                <a:tab pos="373380" algn="l"/>
              </a:tabLst>
            </a:pPr>
            <a:r>
              <a:rPr sz="600" spc="55" dirty="0">
                <a:latin typeface="Times New Roman"/>
                <a:cs typeface="Times New Roman"/>
              </a:rPr>
              <a:t>13	</a:t>
            </a:r>
            <a:r>
              <a:rPr sz="800" spc="95" dirty="0">
                <a:latin typeface="Times New Roman"/>
                <a:cs typeface="Times New Roman"/>
              </a:rPr>
              <a:t>self.FT[1:]</a:t>
            </a:r>
            <a:r>
              <a:rPr sz="800" spc="90" dirty="0">
                <a:latin typeface="Times New Roman"/>
                <a:cs typeface="Times New Roman"/>
              </a:rPr>
              <a:t> </a:t>
            </a:r>
            <a:r>
              <a:rPr sz="800" spc="25" dirty="0">
                <a:latin typeface="Times New Roman"/>
                <a:cs typeface="Times New Roman"/>
              </a:rPr>
              <a:t>=</a:t>
            </a:r>
            <a:r>
              <a:rPr sz="800" spc="114" dirty="0">
                <a:latin typeface="Times New Roman"/>
                <a:cs typeface="Times New Roman"/>
              </a:rPr>
              <a:t> [self.finger(i)</a:t>
            </a:r>
            <a:r>
              <a:rPr sz="800" spc="100" dirty="0">
                <a:latin typeface="Times New Roman"/>
                <a:cs typeface="Times New Roman"/>
              </a:rPr>
              <a:t> </a:t>
            </a:r>
            <a:r>
              <a:rPr sz="800" b="1" spc="95" dirty="0">
                <a:solidFill>
                  <a:srgbClr val="FF0059"/>
                </a:solidFill>
                <a:latin typeface="Times New Roman"/>
                <a:cs typeface="Times New Roman"/>
              </a:rPr>
              <a:t>for </a:t>
            </a:r>
            <a:r>
              <a:rPr sz="800" spc="254" dirty="0">
                <a:latin typeface="Times New Roman"/>
                <a:cs typeface="Times New Roman"/>
              </a:rPr>
              <a:t>i</a:t>
            </a:r>
            <a:r>
              <a:rPr sz="800" spc="105" dirty="0">
                <a:latin typeface="Times New Roman"/>
                <a:cs typeface="Times New Roman"/>
              </a:rPr>
              <a:t> </a:t>
            </a:r>
            <a:r>
              <a:rPr sz="800" b="1" spc="114" dirty="0">
                <a:solidFill>
                  <a:srgbClr val="FF0059"/>
                </a:solidFill>
                <a:latin typeface="Times New Roman"/>
                <a:cs typeface="Times New Roman"/>
              </a:rPr>
              <a:t>in</a:t>
            </a:r>
            <a:r>
              <a:rPr sz="800" b="1" spc="80" dirty="0">
                <a:solidFill>
                  <a:srgbClr val="FF0059"/>
                </a:solidFill>
                <a:latin typeface="Times New Roman"/>
                <a:cs typeface="Times New Roman"/>
              </a:rPr>
              <a:t> </a:t>
            </a:r>
            <a:r>
              <a:rPr sz="800" b="1" spc="70" dirty="0">
                <a:solidFill>
                  <a:srgbClr val="FF0059"/>
                </a:solidFill>
                <a:latin typeface="Times New Roman"/>
                <a:cs typeface="Times New Roman"/>
              </a:rPr>
              <a:t>range</a:t>
            </a:r>
            <a:r>
              <a:rPr sz="800" spc="70" dirty="0">
                <a:latin typeface="Times New Roman"/>
                <a:cs typeface="Times New Roman"/>
              </a:rPr>
              <a:t>(1,self.nBits+1)]</a:t>
            </a:r>
            <a:r>
              <a:rPr sz="800" spc="90" dirty="0">
                <a:latin typeface="Times New Roman"/>
                <a:cs typeface="Times New Roman"/>
              </a:rPr>
              <a:t> </a:t>
            </a:r>
            <a:r>
              <a:rPr sz="800" i="1" spc="75" dirty="0">
                <a:solidFill>
                  <a:srgbClr val="009600"/>
                </a:solidFill>
                <a:latin typeface="Times New Roman"/>
                <a:cs typeface="Times New Roman"/>
              </a:rPr>
              <a:t>#</a:t>
            </a:r>
            <a:r>
              <a:rPr sz="800" i="1" spc="90" dirty="0">
                <a:solidFill>
                  <a:srgbClr val="009600"/>
                </a:solidFill>
                <a:latin typeface="Times New Roman"/>
                <a:cs typeface="Times New Roman"/>
              </a:rPr>
              <a:t> </a:t>
            </a:r>
            <a:r>
              <a:rPr sz="800" i="1" spc="75" dirty="0">
                <a:solidFill>
                  <a:srgbClr val="009600"/>
                </a:solidFill>
                <a:latin typeface="Times New Roman"/>
                <a:cs typeface="Times New Roman"/>
              </a:rPr>
              <a:t>Succ.</a:t>
            </a:r>
            <a:endParaRPr sz="800" dirty="0">
              <a:latin typeface="Times New Roman"/>
              <a:cs typeface="Times New Roman"/>
            </a:endParaRPr>
          </a:p>
          <a:p>
            <a:pPr marL="12700">
              <a:lnSpc>
                <a:spcPts val="685"/>
              </a:lnSpc>
              <a:spcBef>
                <a:spcPts val="90"/>
              </a:spcBef>
            </a:pPr>
            <a:r>
              <a:rPr sz="600" spc="55" dirty="0">
                <a:latin typeface="Times New Roman"/>
                <a:cs typeface="Times New Roman"/>
              </a:rPr>
              <a:t>14</a:t>
            </a:r>
            <a:endParaRPr sz="600" dirty="0">
              <a:latin typeface="Times New Roman"/>
              <a:cs typeface="Times New Roman"/>
            </a:endParaRPr>
          </a:p>
          <a:p>
            <a:pPr marL="12700">
              <a:lnSpc>
                <a:spcPts val="869"/>
              </a:lnSpc>
              <a:tabLst>
                <a:tab pos="273050" algn="l"/>
              </a:tabLst>
            </a:pPr>
            <a:r>
              <a:rPr sz="600" spc="55" dirty="0">
                <a:latin typeface="Times New Roman"/>
                <a:cs typeface="Times New Roman"/>
              </a:rPr>
              <a:t>15	</a:t>
            </a:r>
            <a:r>
              <a:rPr sz="800" b="1" spc="80" dirty="0">
                <a:solidFill>
                  <a:srgbClr val="FF0059"/>
                </a:solidFill>
                <a:latin typeface="Times New Roman"/>
                <a:cs typeface="Times New Roman"/>
              </a:rPr>
              <a:t>def</a:t>
            </a:r>
            <a:r>
              <a:rPr sz="800" b="1" spc="50" dirty="0">
                <a:solidFill>
                  <a:srgbClr val="FF0059"/>
                </a:solidFill>
                <a:latin typeface="Times New Roman"/>
                <a:cs typeface="Times New Roman"/>
              </a:rPr>
              <a:t> </a:t>
            </a:r>
            <a:r>
              <a:rPr sz="800" spc="60" dirty="0">
                <a:latin typeface="Times New Roman"/>
                <a:cs typeface="Times New Roman"/>
              </a:rPr>
              <a:t>localSuccNode(self,</a:t>
            </a:r>
            <a:r>
              <a:rPr sz="800" spc="80" dirty="0">
                <a:latin typeface="Times New Roman"/>
                <a:cs typeface="Times New Roman"/>
              </a:rPr>
              <a:t> </a:t>
            </a:r>
            <a:r>
              <a:rPr sz="800" spc="90" dirty="0">
                <a:latin typeface="Times New Roman"/>
                <a:cs typeface="Times New Roman"/>
              </a:rPr>
              <a:t>key):</a:t>
            </a:r>
            <a:endParaRPr sz="800" dirty="0">
              <a:latin typeface="Times New Roman"/>
              <a:cs typeface="Times New Roman"/>
            </a:endParaRPr>
          </a:p>
          <a:p>
            <a:pPr marL="12700">
              <a:lnSpc>
                <a:spcPts val="905"/>
              </a:lnSpc>
              <a:tabLst>
                <a:tab pos="375285" algn="l"/>
              </a:tabLst>
            </a:pPr>
            <a:r>
              <a:rPr sz="600" spc="55" dirty="0">
                <a:latin typeface="Times New Roman"/>
                <a:cs typeface="Times New Roman"/>
              </a:rPr>
              <a:t>16	</a:t>
            </a:r>
            <a:r>
              <a:rPr sz="800" b="1" spc="204" dirty="0">
                <a:solidFill>
                  <a:srgbClr val="FF0059"/>
                </a:solidFill>
                <a:latin typeface="Times New Roman"/>
                <a:cs typeface="Times New Roman"/>
              </a:rPr>
              <a:t>if</a:t>
            </a:r>
            <a:r>
              <a:rPr sz="800" b="1" spc="85" dirty="0">
                <a:solidFill>
                  <a:srgbClr val="FF0059"/>
                </a:solidFill>
                <a:latin typeface="Times New Roman"/>
                <a:cs typeface="Times New Roman"/>
              </a:rPr>
              <a:t> </a:t>
            </a:r>
            <a:r>
              <a:rPr sz="800" spc="70" dirty="0">
                <a:latin typeface="Times New Roman"/>
                <a:cs typeface="Times New Roman"/>
              </a:rPr>
              <a:t>self.inbetween(key,</a:t>
            </a:r>
            <a:r>
              <a:rPr sz="800" spc="95" dirty="0">
                <a:latin typeface="Times New Roman"/>
                <a:cs typeface="Times New Roman"/>
              </a:rPr>
              <a:t> </a:t>
            </a:r>
            <a:r>
              <a:rPr sz="800" spc="75" dirty="0">
                <a:latin typeface="Times New Roman"/>
                <a:cs typeface="Times New Roman"/>
              </a:rPr>
              <a:t>self.FT[0]+1,</a:t>
            </a:r>
            <a:r>
              <a:rPr sz="800" spc="80" dirty="0">
                <a:latin typeface="Times New Roman"/>
                <a:cs typeface="Times New Roman"/>
              </a:rPr>
              <a:t> </a:t>
            </a:r>
            <a:r>
              <a:rPr sz="800" spc="65" dirty="0">
                <a:latin typeface="Times New Roman"/>
                <a:cs typeface="Times New Roman"/>
              </a:rPr>
              <a:t>self.nodeID+1):</a:t>
            </a:r>
            <a:r>
              <a:rPr sz="800" spc="95" dirty="0">
                <a:latin typeface="Times New Roman"/>
                <a:cs typeface="Times New Roman"/>
              </a:rPr>
              <a:t> </a:t>
            </a:r>
            <a:r>
              <a:rPr sz="800" i="1" spc="75" dirty="0">
                <a:solidFill>
                  <a:srgbClr val="009600"/>
                </a:solidFill>
                <a:latin typeface="Times New Roman"/>
                <a:cs typeface="Times New Roman"/>
              </a:rPr>
              <a:t>#</a:t>
            </a:r>
            <a:r>
              <a:rPr sz="800" i="1" spc="110" dirty="0">
                <a:solidFill>
                  <a:srgbClr val="009600"/>
                </a:solidFill>
                <a:latin typeface="Times New Roman"/>
                <a:cs typeface="Times New Roman"/>
              </a:rPr>
              <a:t> </a:t>
            </a:r>
            <a:r>
              <a:rPr sz="800" i="1" spc="135" dirty="0">
                <a:solidFill>
                  <a:srgbClr val="009600"/>
                </a:solidFill>
                <a:latin typeface="Times New Roman"/>
                <a:cs typeface="Times New Roman"/>
              </a:rPr>
              <a:t>in</a:t>
            </a:r>
            <a:r>
              <a:rPr sz="800" i="1" spc="110" dirty="0">
                <a:solidFill>
                  <a:srgbClr val="009600"/>
                </a:solidFill>
                <a:latin typeface="Times New Roman"/>
                <a:cs typeface="Times New Roman"/>
              </a:rPr>
              <a:t> </a:t>
            </a:r>
            <a:r>
              <a:rPr sz="800" i="1" spc="80" dirty="0">
                <a:solidFill>
                  <a:srgbClr val="009600"/>
                </a:solidFill>
                <a:latin typeface="Times New Roman"/>
                <a:cs typeface="Times New Roman"/>
              </a:rPr>
              <a:t>(FT[0],self]</a:t>
            </a:r>
            <a:endParaRPr sz="800" dirty="0">
              <a:latin typeface="Times New Roman"/>
              <a:cs typeface="Times New Roman"/>
            </a:endParaRPr>
          </a:p>
          <a:p>
            <a:pPr marL="12700">
              <a:lnSpc>
                <a:spcPct val="100000"/>
              </a:lnSpc>
              <a:spcBef>
                <a:spcPts val="95"/>
              </a:spcBef>
            </a:pPr>
            <a:r>
              <a:rPr sz="600" spc="55" dirty="0">
                <a:latin typeface="Times New Roman"/>
                <a:cs typeface="Times New Roman"/>
              </a:rPr>
              <a:t>17</a:t>
            </a:r>
            <a:endParaRPr sz="600" dirty="0">
              <a:latin typeface="Times New Roman"/>
              <a:cs typeface="Times New Roman"/>
            </a:endParaRPr>
          </a:p>
          <a:p>
            <a:pPr marL="12700">
              <a:lnSpc>
                <a:spcPct val="100000"/>
              </a:lnSpc>
              <a:spcBef>
                <a:spcPts val="130"/>
              </a:spcBef>
            </a:pPr>
            <a:r>
              <a:rPr sz="600" spc="55" dirty="0">
                <a:latin typeface="Times New Roman"/>
                <a:cs typeface="Times New Roman"/>
              </a:rPr>
              <a:t>18</a:t>
            </a:r>
            <a:endParaRPr sz="600" dirty="0">
              <a:latin typeface="Times New Roman"/>
              <a:cs typeface="Times New Roman"/>
            </a:endParaRPr>
          </a:p>
          <a:p>
            <a:pPr marL="12700">
              <a:lnSpc>
                <a:spcPct val="100000"/>
              </a:lnSpc>
              <a:spcBef>
                <a:spcPts val="130"/>
              </a:spcBef>
            </a:pPr>
            <a:r>
              <a:rPr sz="600" spc="55" dirty="0">
                <a:latin typeface="Times New Roman"/>
                <a:cs typeface="Times New Roman"/>
              </a:rPr>
              <a:t>19</a:t>
            </a:r>
            <a:endParaRPr sz="600" dirty="0">
              <a:latin typeface="Times New Roman"/>
              <a:cs typeface="Times New Roman"/>
            </a:endParaRPr>
          </a:p>
          <a:p>
            <a:pPr marL="12700">
              <a:lnSpc>
                <a:spcPct val="100000"/>
              </a:lnSpc>
              <a:spcBef>
                <a:spcPts val="135"/>
              </a:spcBef>
            </a:pPr>
            <a:r>
              <a:rPr sz="600" spc="55" dirty="0">
                <a:latin typeface="Times New Roman"/>
                <a:cs typeface="Times New Roman"/>
              </a:rPr>
              <a:t>20</a:t>
            </a:r>
            <a:endParaRPr sz="600" dirty="0">
              <a:latin typeface="Times New Roman"/>
              <a:cs typeface="Times New Roman"/>
            </a:endParaRPr>
          </a:p>
          <a:p>
            <a:pPr marL="12700">
              <a:lnSpc>
                <a:spcPct val="100000"/>
              </a:lnSpc>
              <a:spcBef>
                <a:spcPts val="130"/>
              </a:spcBef>
            </a:pPr>
            <a:r>
              <a:rPr sz="600" spc="55" dirty="0">
                <a:latin typeface="Times New Roman"/>
                <a:cs typeface="Times New Roman"/>
              </a:rPr>
              <a:t>21</a:t>
            </a:r>
            <a:endParaRPr sz="600" dirty="0">
              <a:latin typeface="Times New Roman"/>
              <a:cs typeface="Times New Roman"/>
            </a:endParaRPr>
          </a:p>
          <a:p>
            <a:pPr marL="12700">
              <a:lnSpc>
                <a:spcPct val="100000"/>
              </a:lnSpc>
              <a:spcBef>
                <a:spcPts val="130"/>
              </a:spcBef>
            </a:pPr>
            <a:r>
              <a:rPr sz="600" spc="55" dirty="0">
                <a:latin typeface="Times New Roman"/>
                <a:cs typeface="Times New Roman"/>
              </a:rPr>
              <a:t>22</a:t>
            </a:r>
            <a:endParaRPr sz="600" dirty="0">
              <a:latin typeface="Times New Roman"/>
              <a:cs typeface="Times New Roman"/>
            </a:endParaRPr>
          </a:p>
        </p:txBody>
      </p:sp>
      <p:sp>
        <p:nvSpPr>
          <p:cNvPr id="17" name="object 17"/>
          <p:cNvSpPr txBox="1"/>
          <p:nvPr/>
        </p:nvSpPr>
        <p:spPr>
          <a:xfrm>
            <a:off x="870026" y="2973170"/>
            <a:ext cx="3797224" cy="135293"/>
          </a:xfrm>
          <a:prstGeom prst="rect">
            <a:avLst/>
          </a:prstGeom>
        </p:spPr>
        <p:txBody>
          <a:bodyPr vert="horz" wrap="square" lIns="0" tIns="12065" rIns="0" bIns="0" rtlCol="0">
            <a:spAutoFit/>
          </a:bodyPr>
          <a:lstStyle/>
          <a:p>
            <a:pPr marL="12700">
              <a:lnSpc>
                <a:spcPct val="100000"/>
              </a:lnSpc>
              <a:spcBef>
                <a:spcPts val="95"/>
              </a:spcBef>
              <a:tabLst>
                <a:tab pos="2495550" algn="l"/>
              </a:tabLst>
            </a:pPr>
            <a:r>
              <a:rPr sz="800" b="1" spc="45" dirty="0">
                <a:solidFill>
                  <a:srgbClr val="FF0059"/>
                </a:solidFill>
                <a:latin typeface="Times New Roman"/>
                <a:cs typeface="Times New Roman"/>
              </a:rPr>
              <a:t>return</a:t>
            </a:r>
            <a:r>
              <a:rPr sz="800" b="1" spc="85" dirty="0">
                <a:solidFill>
                  <a:srgbClr val="FF0059"/>
                </a:solidFill>
                <a:latin typeface="Times New Roman"/>
                <a:cs typeface="Times New Roman"/>
              </a:rPr>
              <a:t> </a:t>
            </a:r>
            <a:r>
              <a:rPr sz="800" spc="100" dirty="0">
                <a:latin typeface="Times New Roman"/>
                <a:cs typeface="Times New Roman"/>
              </a:rPr>
              <a:t>self.FT[i]	</a:t>
            </a:r>
            <a:r>
              <a:rPr sz="800" i="1" spc="75" dirty="0">
                <a:solidFill>
                  <a:srgbClr val="009600"/>
                </a:solidFill>
                <a:latin typeface="Times New Roman"/>
                <a:cs typeface="Times New Roman"/>
              </a:rPr>
              <a:t>#</a:t>
            </a:r>
            <a:r>
              <a:rPr sz="800" i="1" spc="85" dirty="0">
                <a:solidFill>
                  <a:srgbClr val="009600"/>
                </a:solidFill>
                <a:latin typeface="Times New Roman"/>
                <a:cs typeface="Times New Roman"/>
              </a:rPr>
              <a:t> </a:t>
            </a:r>
            <a:r>
              <a:rPr sz="800" i="1" spc="135" dirty="0">
                <a:solidFill>
                  <a:srgbClr val="009600"/>
                </a:solidFill>
                <a:latin typeface="Times New Roman"/>
                <a:cs typeface="Times New Roman"/>
              </a:rPr>
              <a:t>in</a:t>
            </a:r>
            <a:r>
              <a:rPr sz="800" i="1" spc="85" dirty="0">
                <a:solidFill>
                  <a:srgbClr val="009600"/>
                </a:solidFill>
                <a:latin typeface="Times New Roman"/>
                <a:cs typeface="Times New Roman"/>
              </a:rPr>
              <a:t> </a:t>
            </a:r>
            <a:r>
              <a:rPr sz="800" i="1" spc="50" dirty="0">
                <a:solidFill>
                  <a:srgbClr val="009600"/>
                </a:solidFill>
                <a:latin typeface="Times New Roman"/>
                <a:cs typeface="Times New Roman"/>
              </a:rPr>
              <a:t>[FT[i],FT[i+1])</a:t>
            </a:r>
            <a:endParaRPr sz="800" dirty="0">
              <a:latin typeface="Times New Roman"/>
              <a:cs typeface="Times New Roman"/>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General</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91254"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Distributed</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hash</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tables</a:t>
            </a:r>
            <a:endParaRPr sz="600">
              <a:latin typeface="Arial"/>
              <a:cs typeface="Arial"/>
            </a:endParaRPr>
          </a:p>
        </p:txBody>
      </p:sp>
      <p:sp>
        <p:nvSpPr>
          <p:cNvPr id="3" name="object 3"/>
          <p:cNvSpPr txBox="1">
            <a:spLocks noGrp="1"/>
          </p:cNvSpPr>
          <p:nvPr>
            <p:ph type="title"/>
          </p:nvPr>
        </p:nvSpPr>
        <p:spPr>
          <a:xfrm>
            <a:off x="95300" y="188846"/>
            <a:ext cx="2279015" cy="244475"/>
          </a:xfrm>
          <a:prstGeom prst="rect">
            <a:avLst/>
          </a:prstGeom>
        </p:spPr>
        <p:txBody>
          <a:bodyPr vert="horz" wrap="square" lIns="0" tIns="17145" rIns="0" bIns="0" rtlCol="0">
            <a:spAutoFit/>
          </a:bodyPr>
          <a:lstStyle/>
          <a:p>
            <a:pPr marL="12700">
              <a:lnSpc>
                <a:spcPct val="100000"/>
              </a:lnSpc>
              <a:spcBef>
                <a:spcPts val="135"/>
              </a:spcBef>
            </a:pPr>
            <a:r>
              <a:rPr spc="10" dirty="0"/>
              <a:t>Exploiting</a:t>
            </a:r>
            <a:r>
              <a:rPr spc="-10" dirty="0"/>
              <a:t> </a:t>
            </a:r>
            <a:r>
              <a:rPr spc="15" dirty="0"/>
              <a:t>network</a:t>
            </a:r>
            <a:r>
              <a:rPr spc="-5" dirty="0"/>
              <a:t> </a:t>
            </a:r>
            <a:r>
              <a:rPr spc="10" dirty="0"/>
              <a:t>proximity</a:t>
            </a:r>
          </a:p>
        </p:txBody>
      </p:sp>
      <p:sp>
        <p:nvSpPr>
          <p:cNvPr id="4" name="object 4"/>
          <p:cNvSpPr txBox="1"/>
          <p:nvPr/>
        </p:nvSpPr>
        <p:spPr>
          <a:xfrm>
            <a:off x="343382" y="469745"/>
            <a:ext cx="3733800" cy="927735"/>
          </a:xfrm>
          <a:prstGeom prst="rect">
            <a:avLst/>
          </a:prstGeom>
        </p:spPr>
        <p:txBody>
          <a:bodyPr vert="horz" wrap="square" lIns="0" tIns="12065" rIns="0" bIns="0" rtlCol="0">
            <a:spAutoFit/>
          </a:bodyPr>
          <a:lstStyle/>
          <a:p>
            <a:pPr marL="16510">
              <a:lnSpc>
                <a:spcPts val="1410"/>
              </a:lnSpc>
              <a:spcBef>
                <a:spcPts val="95"/>
              </a:spcBef>
            </a:pPr>
            <a:r>
              <a:rPr sz="1200" spc="-10" dirty="0">
                <a:solidFill>
                  <a:srgbClr val="FA0000"/>
                </a:solidFill>
                <a:latin typeface="Arial"/>
                <a:cs typeface="Arial"/>
              </a:rPr>
              <a:t>Problem</a:t>
            </a:r>
            <a:endParaRPr sz="1200">
              <a:latin typeface="Arial"/>
              <a:cs typeface="Arial"/>
            </a:endParaRPr>
          </a:p>
          <a:p>
            <a:pPr marL="16510" marR="508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logical</a:t>
            </a:r>
            <a:r>
              <a:rPr sz="1000" dirty="0">
                <a:latin typeface="Arial"/>
                <a:cs typeface="Arial"/>
              </a:rPr>
              <a:t> </a:t>
            </a:r>
            <a:r>
              <a:rPr sz="1000" spc="-5" dirty="0">
                <a:latin typeface="Arial"/>
                <a:cs typeface="Arial"/>
              </a:rPr>
              <a:t>organization</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spc="5" dirty="0">
                <a:latin typeface="Arial"/>
                <a:cs typeface="Arial"/>
              </a:rPr>
              <a:t> </a:t>
            </a:r>
            <a:r>
              <a:rPr sz="1000" spc="-15" dirty="0">
                <a:latin typeface="Arial"/>
                <a:cs typeface="Arial"/>
              </a:rPr>
              <a:t>overlay</a:t>
            </a:r>
            <a:r>
              <a:rPr sz="1000" dirty="0">
                <a:latin typeface="Arial"/>
                <a:cs typeface="Arial"/>
              </a:rPr>
              <a:t> </a:t>
            </a:r>
            <a:r>
              <a:rPr sz="1000" spc="-15" dirty="0">
                <a:latin typeface="Arial"/>
                <a:cs typeface="Arial"/>
              </a:rPr>
              <a:t>may</a:t>
            </a:r>
            <a:r>
              <a:rPr sz="1000" spc="5" dirty="0">
                <a:latin typeface="Arial"/>
                <a:cs typeface="Arial"/>
              </a:rPr>
              <a:t> </a:t>
            </a:r>
            <a:r>
              <a:rPr sz="1000" spc="-5" dirty="0">
                <a:latin typeface="Arial"/>
                <a:cs typeface="Arial"/>
              </a:rPr>
              <a:t>lead</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erratic </a:t>
            </a:r>
            <a:r>
              <a:rPr sz="1000" spc="-260" dirty="0">
                <a:solidFill>
                  <a:srgbClr val="0000FA"/>
                </a:solidFill>
                <a:latin typeface="Arial"/>
                <a:cs typeface="Arial"/>
              </a:rPr>
              <a:t> </a:t>
            </a:r>
            <a:r>
              <a:rPr sz="1000" spc="-5" dirty="0">
                <a:solidFill>
                  <a:srgbClr val="0000FA"/>
                </a:solidFill>
                <a:latin typeface="Arial"/>
                <a:cs typeface="Arial"/>
              </a:rPr>
              <a:t>message </a:t>
            </a:r>
            <a:r>
              <a:rPr sz="1000" spc="-10" dirty="0">
                <a:solidFill>
                  <a:srgbClr val="0000FA"/>
                </a:solidFill>
                <a:latin typeface="Arial"/>
                <a:cs typeface="Arial"/>
              </a:rPr>
              <a:t>transfers</a:t>
            </a:r>
            <a:r>
              <a:rPr sz="1000" dirty="0">
                <a:solidFill>
                  <a:srgbClr val="0000FA"/>
                </a:solidFill>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 underlying</a:t>
            </a:r>
            <a:r>
              <a:rPr sz="1000" dirty="0">
                <a:latin typeface="Arial"/>
                <a:cs typeface="Arial"/>
              </a:rPr>
              <a:t> Internet:</a:t>
            </a:r>
            <a:r>
              <a:rPr sz="1000" spc="65" dirty="0">
                <a:latin typeface="Arial"/>
                <a:cs typeface="Arial"/>
              </a:rPr>
              <a:t> </a:t>
            </a:r>
            <a:r>
              <a:rPr sz="1000" spc="-5" dirty="0">
                <a:latin typeface="Arial"/>
                <a:cs typeface="Arial"/>
              </a:rPr>
              <a:t>node </a:t>
            </a:r>
            <a:r>
              <a:rPr sz="1000" i="1" spc="-5" dirty="0">
                <a:latin typeface="Arial"/>
                <a:cs typeface="Arial"/>
              </a:rPr>
              <a:t>p</a:t>
            </a:r>
            <a:r>
              <a:rPr sz="1000" i="1" spc="3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node </a:t>
            </a:r>
            <a:r>
              <a:rPr sz="100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m</a:t>
            </a:r>
            <a:r>
              <a:rPr sz="1000" spc="-35" dirty="0">
                <a:latin typeface="Arial"/>
                <a:cs typeface="Arial"/>
              </a:rPr>
              <a:t>a</a:t>
            </a:r>
            <a:r>
              <a:rPr sz="1000" spc="-5" dirty="0">
                <a:latin typeface="Arial"/>
                <a:cs typeface="Arial"/>
              </a:rPr>
              <a:t>y be </a:t>
            </a:r>
            <a:r>
              <a:rPr sz="1000" spc="-30" dirty="0">
                <a:latin typeface="Arial"/>
                <a:cs typeface="Arial"/>
              </a:rPr>
              <a:t>v</a:t>
            </a:r>
            <a:r>
              <a:rPr sz="1000" spc="-5" dirty="0">
                <a:latin typeface="Arial"/>
                <a:cs typeface="Arial"/>
              </a:rPr>
              <a:t>e</a:t>
            </a:r>
            <a:r>
              <a:rPr sz="1000" spc="20" dirty="0">
                <a:latin typeface="Arial"/>
                <a:cs typeface="Arial"/>
              </a:rPr>
              <a:t>r</a:t>
            </a:r>
            <a:r>
              <a:rPr sz="1000" spc="-5" dirty="0">
                <a:latin typeface="Arial"/>
                <a:cs typeface="Arial"/>
              </a:rPr>
              <a:t>y </a:t>
            </a:r>
            <a:r>
              <a:rPr sz="1000" spc="-35" dirty="0">
                <a:latin typeface="Arial"/>
                <a:cs typeface="Arial"/>
              </a:rPr>
              <a:t>f</a:t>
            </a:r>
            <a:r>
              <a:rPr sz="1000" spc="-5" dirty="0">
                <a:latin typeface="Arial"/>
                <a:cs typeface="Arial"/>
              </a:rPr>
              <a:t>ar apa</a:t>
            </a:r>
            <a:r>
              <a:rPr sz="1000" spc="30" dirty="0">
                <a:latin typeface="Arial"/>
                <a:cs typeface="Arial"/>
              </a:rPr>
              <a:t>r</a:t>
            </a:r>
            <a:r>
              <a:rPr sz="1000" spc="-5" dirty="0">
                <a:latin typeface="Arial"/>
                <a:cs typeface="Arial"/>
              </a:rPr>
              <a:t>t.</a:t>
            </a:r>
            <a:endParaRPr sz="1000">
              <a:latin typeface="Arial"/>
              <a:cs typeface="Arial"/>
            </a:endParaRPr>
          </a:p>
          <a:p>
            <a:pPr marL="16510">
              <a:lnSpc>
                <a:spcPct val="100000"/>
              </a:lnSpc>
              <a:spcBef>
                <a:spcPts val="645"/>
              </a:spcBef>
            </a:pPr>
            <a:r>
              <a:rPr sz="1200" spc="-5" dirty="0">
                <a:solidFill>
                  <a:srgbClr val="3333B2"/>
                </a:solidFill>
                <a:latin typeface="Arial"/>
                <a:cs typeface="Arial"/>
              </a:rPr>
              <a:t>Solutions</a:t>
            </a:r>
            <a:endParaRPr sz="12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General</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91254"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Distributed</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hash</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tables</a:t>
            </a:r>
            <a:endParaRPr sz="600">
              <a:latin typeface="Arial"/>
              <a:cs typeface="Arial"/>
            </a:endParaRPr>
          </a:p>
        </p:txBody>
      </p:sp>
      <p:sp>
        <p:nvSpPr>
          <p:cNvPr id="3" name="object 3"/>
          <p:cNvSpPr txBox="1">
            <a:spLocks noGrp="1"/>
          </p:cNvSpPr>
          <p:nvPr>
            <p:ph type="title"/>
          </p:nvPr>
        </p:nvSpPr>
        <p:spPr>
          <a:xfrm>
            <a:off x="95300" y="188846"/>
            <a:ext cx="2279015" cy="244475"/>
          </a:xfrm>
          <a:prstGeom prst="rect">
            <a:avLst/>
          </a:prstGeom>
        </p:spPr>
        <p:txBody>
          <a:bodyPr vert="horz" wrap="square" lIns="0" tIns="17145" rIns="0" bIns="0" rtlCol="0">
            <a:spAutoFit/>
          </a:bodyPr>
          <a:lstStyle/>
          <a:p>
            <a:pPr marL="12700">
              <a:lnSpc>
                <a:spcPct val="100000"/>
              </a:lnSpc>
              <a:spcBef>
                <a:spcPts val="135"/>
              </a:spcBef>
            </a:pPr>
            <a:r>
              <a:rPr spc="10" dirty="0"/>
              <a:t>Exploiting</a:t>
            </a:r>
            <a:r>
              <a:rPr spc="-10" dirty="0"/>
              <a:t> </a:t>
            </a:r>
            <a:r>
              <a:rPr spc="15" dirty="0"/>
              <a:t>network</a:t>
            </a:r>
            <a:r>
              <a:rPr spc="-5" dirty="0"/>
              <a:t> </a:t>
            </a:r>
            <a:r>
              <a:rPr spc="10" dirty="0"/>
              <a:t>proximity</a:t>
            </a:r>
          </a:p>
        </p:txBody>
      </p:sp>
      <p:sp>
        <p:nvSpPr>
          <p:cNvPr id="4" name="object 4"/>
          <p:cNvSpPr txBox="1"/>
          <p:nvPr/>
        </p:nvSpPr>
        <p:spPr>
          <a:xfrm>
            <a:off x="330682" y="469745"/>
            <a:ext cx="3921125" cy="1452880"/>
          </a:xfrm>
          <a:prstGeom prst="rect">
            <a:avLst/>
          </a:prstGeom>
        </p:spPr>
        <p:txBody>
          <a:bodyPr vert="horz" wrap="square" lIns="0" tIns="12065" rIns="0" bIns="0" rtlCol="0">
            <a:spAutoFit/>
          </a:bodyPr>
          <a:lstStyle/>
          <a:p>
            <a:pPr marL="29209">
              <a:lnSpc>
                <a:spcPts val="1410"/>
              </a:lnSpc>
              <a:spcBef>
                <a:spcPts val="95"/>
              </a:spcBef>
            </a:pPr>
            <a:r>
              <a:rPr sz="1200" spc="-10" dirty="0">
                <a:solidFill>
                  <a:srgbClr val="FA0000"/>
                </a:solidFill>
                <a:latin typeface="Arial"/>
                <a:cs typeface="Arial"/>
              </a:rPr>
              <a:t>Problem</a:t>
            </a:r>
            <a:endParaRPr sz="1200">
              <a:latin typeface="Arial"/>
              <a:cs typeface="Arial"/>
            </a:endParaRPr>
          </a:p>
          <a:p>
            <a:pPr marL="29209" marR="179705"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logical</a:t>
            </a:r>
            <a:r>
              <a:rPr sz="1000" dirty="0">
                <a:latin typeface="Arial"/>
                <a:cs typeface="Arial"/>
              </a:rPr>
              <a:t> </a:t>
            </a:r>
            <a:r>
              <a:rPr sz="1000" spc="-5" dirty="0">
                <a:latin typeface="Arial"/>
                <a:cs typeface="Arial"/>
              </a:rPr>
              <a:t>organization</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spc="5" dirty="0">
                <a:latin typeface="Arial"/>
                <a:cs typeface="Arial"/>
              </a:rPr>
              <a:t> </a:t>
            </a:r>
            <a:r>
              <a:rPr sz="1000" spc="-15" dirty="0">
                <a:latin typeface="Arial"/>
                <a:cs typeface="Arial"/>
              </a:rPr>
              <a:t>overlay</a:t>
            </a:r>
            <a:r>
              <a:rPr sz="1000" dirty="0">
                <a:latin typeface="Arial"/>
                <a:cs typeface="Arial"/>
              </a:rPr>
              <a:t> </a:t>
            </a:r>
            <a:r>
              <a:rPr sz="1000" spc="-15" dirty="0">
                <a:latin typeface="Arial"/>
                <a:cs typeface="Arial"/>
              </a:rPr>
              <a:t>may</a:t>
            </a:r>
            <a:r>
              <a:rPr sz="1000" spc="5" dirty="0">
                <a:latin typeface="Arial"/>
                <a:cs typeface="Arial"/>
              </a:rPr>
              <a:t> </a:t>
            </a:r>
            <a:r>
              <a:rPr sz="1000" spc="-5" dirty="0">
                <a:latin typeface="Arial"/>
                <a:cs typeface="Arial"/>
              </a:rPr>
              <a:t>lead</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erratic </a:t>
            </a:r>
            <a:r>
              <a:rPr sz="1000" spc="-260" dirty="0">
                <a:solidFill>
                  <a:srgbClr val="0000FA"/>
                </a:solidFill>
                <a:latin typeface="Arial"/>
                <a:cs typeface="Arial"/>
              </a:rPr>
              <a:t> </a:t>
            </a:r>
            <a:r>
              <a:rPr sz="1000" spc="-5" dirty="0">
                <a:solidFill>
                  <a:srgbClr val="0000FA"/>
                </a:solidFill>
                <a:latin typeface="Arial"/>
                <a:cs typeface="Arial"/>
              </a:rPr>
              <a:t>message </a:t>
            </a:r>
            <a:r>
              <a:rPr sz="1000" spc="-10" dirty="0">
                <a:solidFill>
                  <a:srgbClr val="0000FA"/>
                </a:solidFill>
                <a:latin typeface="Arial"/>
                <a:cs typeface="Arial"/>
              </a:rPr>
              <a:t>transfers</a:t>
            </a:r>
            <a:r>
              <a:rPr sz="1000" dirty="0">
                <a:solidFill>
                  <a:srgbClr val="0000FA"/>
                </a:solidFill>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 underlying</a:t>
            </a:r>
            <a:r>
              <a:rPr sz="1000" dirty="0">
                <a:latin typeface="Arial"/>
                <a:cs typeface="Arial"/>
              </a:rPr>
              <a:t> Internet:</a:t>
            </a:r>
            <a:r>
              <a:rPr sz="1000" spc="65" dirty="0">
                <a:latin typeface="Arial"/>
                <a:cs typeface="Arial"/>
              </a:rPr>
              <a:t> </a:t>
            </a:r>
            <a:r>
              <a:rPr sz="1000" spc="-5" dirty="0">
                <a:latin typeface="Arial"/>
                <a:cs typeface="Arial"/>
              </a:rPr>
              <a:t>node </a:t>
            </a:r>
            <a:r>
              <a:rPr sz="1000" i="1" spc="-5" dirty="0">
                <a:latin typeface="Arial"/>
                <a:cs typeface="Arial"/>
              </a:rPr>
              <a:t>p</a:t>
            </a:r>
            <a:r>
              <a:rPr sz="1000" i="1" spc="3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node </a:t>
            </a:r>
            <a:r>
              <a:rPr sz="100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m</a:t>
            </a:r>
            <a:r>
              <a:rPr sz="1000" spc="-35" dirty="0">
                <a:latin typeface="Arial"/>
                <a:cs typeface="Arial"/>
              </a:rPr>
              <a:t>a</a:t>
            </a:r>
            <a:r>
              <a:rPr sz="1000" spc="-5" dirty="0">
                <a:latin typeface="Arial"/>
                <a:cs typeface="Arial"/>
              </a:rPr>
              <a:t>y be </a:t>
            </a:r>
            <a:r>
              <a:rPr sz="1000" spc="-30" dirty="0">
                <a:latin typeface="Arial"/>
                <a:cs typeface="Arial"/>
              </a:rPr>
              <a:t>v</a:t>
            </a:r>
            <a:r>
              <a:rPr sz="1000" spc="-5" dirty="0">
                <a:latin typeface="Arial"/>
                <a:cs typeface="Arial"/>
              </a:rPr>
              <a:t>e</a:t>
            </a:r>
            <a:r>
              <a:rPr sz="1000" spc="20" dirty="0">
                <a:latin typeface="Arial"/>
                <a:cs typeface="Arial"/>
              </a:rPr>
              <a:t>r</a:t>
            </a:r>
            <a:r>
              <a:rPr sz="1000" spc="-5" dirty="0">
                <a:latin typeface="Arial"/>
                <a:cs typeface="Arial"/>
              </a:rPr>
              <a:t>y </a:t>
            </a:r>
            <a:r>
              <a:rPr sz="1000" spc="-35" dirty="0">
                <a:latin typeface="Arial"/>
                <a:cs typeface="Arial"/>
              </a:rPr>
              <a:t>f</a:t>
            </a:r>
            <a:r>
              <a:rPr sz="1000" spc="-5" dirty="0">
                <a:latin typeface="Arial"/>
                <a:cs typeface="Arial"/>
              </a:rPr>
              <a:t>ar apa</a:t>
            </a:r>
            <a:r>
              <a:rPr sz="1000" spc="30" dirty="0">
                <a:latin typeface="Arial"/>
                <a:cs typeface="Arial"/>
              </a:rPr>
              <a:t>r</a:t>
            </a:r>
            <a:r>
              <a:rPr sz="1000" spc="-5" dirty="0">
                <a:latin typeface="Arial"/>
                <a:cs typeface="Arial"/>
              </a:rPr>
              <a:t>t.</a:t>
            </a:r>
            <a:endParaRPr sz="1000">
              <a:latin typeface="Arial"/>
              <a:cs typeface="Arial"/>
            </a:endParaRPr>
          </a:p>
          <a:p>
            <a:pPr marL="29209">
              <a:lnSpc>
                <a:spcPct val="100000"/>
              </a:lnSpc>
              <a:spcBef>
                <a:spcPts val="645"/>
              </a:spcBef>
            </a:pPr>
            <a:r>
              <a:rPr sz="1200" spc="-5" dirty="0">
                <a:solidFill>
                  <a:srgbClr val="3333B2"/>
                </a:solidFill>
                <a:latin typeface="Arial"/>
                <a:cs typeface="Arial"/>
              </a:rPr>
              <a:t>Solutions</a:t>
            </a:r>
            <a:endParaRPr sz="1200">
              <a:latin typeface="Arial"/>
              <a:cs typeface="Arial"/>
            </a:endParaRPr>
          </a:p>
          <a:p>
            <a:pPr marL="306070" marR="17780" indent="-168275">
              <a:lnSpc>
                <a:spcPct val="100000"/>
              </a:lnSpc>
              <a:spcBef>
                <a:spcPts val="540"/>
              </a:spcBef>
              <a:buClr>
                <a:srgbClr val="3333B2"/>
              </a:buClr>
              <a:buChar char="►"/>
              <a:tabLst>
                <a:tab pos="306705" algn="l"/>
              </a:tabLst>
            </a:pPr>
            <a:r>
              <a:rPr sz="1000" spc="-15" dirty="0">
                <a:solidFill>
                  <a:srgbClr val="FA0000"/>
                </a:solidFill>
                <a:latin typeface="Arial"/>
                <a:cs typeface="Arial"/>
              </a:rPr>
              <a:t>Topology-aware</a:t>
            </a:r>
            <a:r>
              <a:rPr sz="1000" spc="-5" dirty="0">
                <a:solidFill>
                  <a:srgbClr val="FA0000"/>
                </a:solidFill>
                <a:latin typeface="Arial"/>
                <a:cs typeface="Arial"/>
              </a:rPr>
              <a:t> node</a:t>
            </a:r>
            <a:r>
              <a:rPr sz="1000" dirty="0">
                <a:solidFill>
                  <a:srgbClr val="FA0000"/>
                </a:solidFill>
                <a:latin typeface="Arial"/>
                <a:cs typeface="Arial"/>
              </a:rPr>
              <a:t> </a:t>
            </a:r>
            <a:r>
              <a:rPr sz="1000" spc="-5" dirty="0">
                <a:solidFill>
                  <a:srgbClr val="FA0000"/>
                </a:solidFill>
                <a:latin typeface="Arial"/>
                <a:cs typeface="Arial"/>
              </a:rPr>
              <a:t>assignment</a:t>
            </a:r>
            <a:r>
              <a:rPr sz="1000" spc="-5" dirty="0">
                <a:latin typeface="Arial"/>
                <a:cs typeface="Arial"/>
              </a:rPr>
              <a:t>:</a:t>
            </a:r>
            <a:r>
              <a:rPr sz="1000" spc="60" dirty="0">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assigning an</a:t>
            </a:r>
            <a:r>
              <a:rPr sz="1000" dirty="0">
                <a:latin typeface="Arial"/>
                <a:cs typeface="Arial"/>
              </a:rPr>
              <a:t> </a:t>
            </a:r>
            <a:r>
              <a:rPr sz="1000" spc="-5" dirty="0">
                <a:latin typeface="Arial"/>
                <a:cs typeface="Arial"/>
              </a:rPr>
              <a:t>ID to</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node, </a:t>
            </a:r>
            <a:r>
              <a:rPr sz="1000" spc="-10" dirty="0">
                <a:latin typeface="Arial"/>
                <a:cs typeface="Arial"/>
              </a:rPr>
              <a:t>make</a:t>
            </a:r>
            <a:r>
              <a:rPr sz="1000" dirty="0">
                <a:latin typeface="Arial"/>
                <a:cs typeface="Arial"/>
              </a:rPr>
              <a:t> </a:t>
            </a:r>
            <a:r>
              <a:rPr sz="1000" spc="-5" dirty="0">
                <a:latin typeface="Arial"/>
                <a:cs typeface="Arial"/>
              </a:rPr>
              <a:t>sure</a:t>
            </a:r>
            <a:r>
              <a:rPr sz="1000" dirty="0">
                <a:latin typeface="Arial"/>
                <a:cs typeface="Arial"/>
              </a:rPr>
              <a:t> </a:t>
            </a:r>
            <a:r>
              <a:rPr sz="1000" spc="-5" dirty="0">
                <a:latin typeface="Arial"/>
                <a:cs typeface="Arial"/>
              </a:rPr>
              <a:t>that nodes</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in the</a:t>
            </a:r>
            <a:r>
              <a:rPr sz="1000" dirty="0">
                <a:latin typeface="Arial"/>
                <a:cs typeface="Arial"/>
              </a:rPr>
              <a:t> </a:t>
            </a:r>
            <a:r>
              <a:rPr sz="1000" spc="-5" dirty="0">
                <a:latin typeface="Arial"/>
                <a:cs typeface="Arial"/>
              </a:rPr>
              <a:t>ID</a:t>
            </a:r>
            <a:r>
              <a:rPr sz="1000" dirty="0">
                <a:latin typeface="Arial"/>
                <a:cs typeface="Arial"/>
              </a:rPr>
              <a:t> </a:t>
            </a:r>
            <a:r>
              <a:rPr sz="1000" spc="-5" dirty="0">
                <a:latin typeface="Arial"/>
                <a:cs typeface="Arial"/>
              </a:rPr>
              <a:t>space are</a:t>
            </a:r>
            <a:r>
              <a:rPr sz="1000"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close </a:t>
            </a:r>
            <a:r>
              <a:rPr sz="1000" spc="-265" dirty="0">
                <a:latin typeface="Arial"/>
                <a:cs typeface="Arial"/>
              </a:rPr>
              <a:t> </a:t>
            </a:r>
            <a:r>
              <a:rPr sz="1000" spc="-5" dirty="0">
                <a:latin typeface="Arial"/>
                <a:cs typeface="Arial"/>
              </a:rPr>
              <a:t>in the network.</a:t>
            </a:r>
            <a:r>
              <a:rPr sz="1000" spc="60" dirty="0">
                <a:latin typeface="Arial"/>
                <a:cs typeface="Arial"/>
              </a:rPr>
              <a:t> </a:t>
            </a:r>
            <a:r>
              <a:rPr sz="1000" spc="-5" dirty="0">
                <a:solidFill>
                  <a:srgbClr val="0000FA"/>
                </a:solidFill>
                <a:latin typeface="Arial"/>
                <a:cs typeface="Arial"/>
              </a:rPr>
              <a:t>Can be very difficult</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General</a:t>
            </a:r>
            <a:r>
              <a:rPr sz="600" spc="-3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91254"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Distributed</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hash</a:t>
            </a:r>
            <a:r>
              <a:rPr sz="600" spc="-2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tables</a:t>
            </a:r>
            <a:endParaRPr sz="600">
              <a:latin typeface="Arial"/>
              <a:cs typeface="Arial"/>
            </a:endParaRPr>
          </a:p>
        </p:txBody>
      </p:sp>
      <p:sp>
        <p:nvSpPr>
          <p:cNvPr id="3" name="object 3"/>
          <p:cNvSpPr txBox="1">
            <a:spLocks noGrp="1"/>
          </p:cNvSpPr>
          <p:nvPr>
            <p:ph type="title"/>
          </p:nvPr>
        </p:nvSpPr>
        <p:spPr>
          <a:xfrm>
            <a:off x="95300" y="188846"/>
            <a:ext cx="2279015" cy="244475"/>
          </a:xfrm>
          <a:prstGeom prst="rect">
            <a:avLst/>
          </a:prstGeom>
        </p:spPr>
        <p:txBody>
          <a:bodyPr vert="horz" wrap="square" lIns="0" tIns="17145" rIns="0" bIns="0" rtlCol="0">
            <a:spAutoFit/>
          </a:bodyPr>
          <a:lstStyle/>
          <a:p>
            <a:pPr marL="12700">
              <a:lnSpc>
                <a:spcPct val="100000"/>
              </a:lnSpc>
              <a:spcBef>
                <a:spcPts val="135"/>
              </a:spcBef>
            </a:pPr>
            <a:r>
              <a:rPr spc="10" dirty="0"/>
              <a:t>Exploiting</a:t>
            </a:r>
            <a:r>
              <a:rPr spc="-10" dirty="0"/>
              <a:t> </a:t>
            </a:r>
            <a:r>
              <a:rPr spc="15" dirty="0"/>
              <a:t>network</a:t>
            </a:r>
            <a:r>
              <a:rPr spc="-5" dirty="0"/>
              <a:t> </a:t>
            </a:r>
            <a:r>
              <a:rPr spc="10" dirty="0"/>
              <a:t>proximity</a:t>
            </a:r>
          </a:p>
        </p:txBody>
      </p:sp>
      <p:sp>
        <p:nvSpPr>
          <p:cNvPr id="4" name="object 4"/>
          <p:cNvSpPr txBox="1"/>
          <p:nvPr/>
        </p:nvSpPr>
        <p:spPr>
          <a:xfrm>
            <a:off x="305282" y="469745"/>
            <a:ext cx="3971925" cy="2300605"/>
          </a:xfrm>
          <a:prstGeom prst="rect">
            <a:avLst/>
          </a:prstGeom>
        </p:spPr>
        <p:txBody>
          <a:bodyPr vert="horz" wrap="square" lIns="0" tIns="12065" rIns="0" bIns="0" rtlCol="0">
            <a:spAutoFit/>
          </a:bodyPr>
          <a:lstStyle/>
          <a:p>
            <a:pPr marL="54610">
              <a:lnSpc>
                <a:spcPts val="1410"/>
              </a:lnSpc>
              <a:spcBef>
                <a:spcPts val="95"/>
              </a:spcBef>
            </a:pPr>
            <a:r>
              <a:rPr sz="1200" spc="-10" dirty="0">
                <a:solidFill>
                  <a:srgbClr val="FA0000"/>
                </a:solidFill>
                <a:latin typeface="Arial"/>
                <a:cs typeface="Arial"/>
              </a:rPr>
              <a:t>Problem</a:t>
            </a:r>
            <a:endParaRPr sz="1200">
              <a:latin typeface="Arial"/>
              <a:cs typeface="Arial"/>
            </a:endParaRPr>
          </a:p>
          <a:p>
            <a:pPr marL="54610" marR="205104"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logical</a:t>
            </a:r>
            <a:r>
              <a:rPr sz="1000" dirty="0">
                <a:latin typeface="Arial"/>
                <a:cs typeface="Arial"/>
              </a:rPr>
              <a:t> </a:t>
            </a:r>
            <a:r>
              <a:rPr sz="1000" spc="-5" dirty="0">
                <a:latin typeface="Arial"/>
                <a:cs typeface="Arial"/>
              </a:rPr>
              <a:t>organization</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spc="5" dirty="0">
                <a:latin typeface="Arial"/>
                <a:cs typeface="Arial"/>
              </a:rPr>
              <a:t> </a:t>
            </a:r>
            <a:r>
              <a:rPr sz="1000" spc="-15" dirty="0">
                <a:latin typeface="Arial"/>
                <a:cs typeface="Arial"/>
              </a:rPr>
              <a:t>overlay</a:t>
            </a:r>
            <a:r>
              <a:rPr sz="1000" dirty="0">
                <a:latin typeface="Arial"/>
                <a:cs typeface="Arial"/>
              </a:rPr>
              <a:t> </a:t>
            </a:r>
            <a:r>
              <a:rPr sz="1000" spc="-15" dirty="0">
                <a:latin typeface="Arial"/>
                <a:cs typeface="Arial"/>
              </a:rPr>
              <a:t>may</a:t>
            </a:r>
            <a:r>
              <a:rPr sz="1000" spc="5" dirty="0">
                <a:latin typeface="Arial"/>
                <a:cs typeface="Arial"/>
              </a:rPr>
              <a:t> </a:t>
            </a:r>
            <a:r>
              <a:rPr sz="1000" spc="-5" dirty="0">
                <a:latin typeface="Arial"/>
                <a:cs typeface="Arial"/>
              </a:rPr>
              <a:t>lead</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erratic </a:t>
            </a:r>
            <a:r>
              <a:rPr sz="1000" spc="-260" dirty="0">
                <a:solidFill>
                  <a:srgbClr val="0000FA"/>
                </a:solidFill>
                <a:latin typeface="Arial"/>
                <a:cs typeface="Arial"/>
              </a:rPr>
              <a:t> </a:t>
            </a:r>
            <a:r>
              <a:rPr sz="1000" spc="-5" dirty="0">
                <a:solidFill>
                  <a:srgbClr val="0000FA"/>
                </a:solidFill>
                <a:latin typeface="Arial"/>
                <a:cs typeface="Arial"/>
              </a:rPr>
              <a:t>message </a:t>
            </a:r>
            <a:r>
              <a:rPr sz="1000" spc="-10" dirty="0">
                <a:solidFill>
                  <a:srgbClr val="0000FA"/>
                </a:solidFill>
                <a:latin typeface="Arial"/>
                <a:cs typeface="Arial"/>
              </a:rPr>
              <a:t>transfers</a:t>
            </a:r>
            <a:r>
              <a:rPr sz="1000" dirty="0">
                <a:solidFill>
                  <a:srgbClr val="0000FA"/>
                </a:solidFill>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 underlying</a:t>
            </a:r>
            <a:r>
              <a:rPr sz="1000" dirty="0">
                <a:latin typeface="Arial"/>
                <a:cs typeface="Arial"/>
              </a:rPr>
              <a:t> Internet:</a:t>
            </a:r>
            <a:r>
              <a:rPr sz="1000" spc="65" dirty="0">
                <a:latin typeface="Arial"/>
                <a:cs typeface="Arial"/>
              </a:rPr>
              <a:t> </a:t>
            </a:r>
            <a:r>
              <a:rPr sz="1000" spc="-5" dirty="0">
                <a:latin typeface="Arial"/>
                <a:cs typeface="Arial"/>
              </a:rPr>
              <a:t>node </a:t>
            </a:r>
            <a:r>
              <a:rPr sz="1000" i="1" spc="-5" dirty="0">
                <a:latin typeface="Arial"/>
                <a:cs typeface="Arial"/>
              </a:rPr>
              <a:t>p</a:t>
            </a:r>
            <a:r>
              <a:rPr sz="1000" i="1" spc="3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node </a:t>
            </a:r>
            <a:r>
              <a:rPr sz="100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m</a:t>
            </a:r>
            <a:r>
              <a:rPr sz="1000" spc="-35" dirty="0">
                <a:latin typeface="Arial"/>
                <a:cs typeface="Arial"/>
              </a:rPr>
              <a:t>a</a:t>
            </a:r>
            <a:r>
              <a:rPr sz="1000" spc="-5" dirty="0">
                <a:latin typeface="Arial"/>
                <a:cs typeface="Arial"/>
              </a:rPr>
              <a:t>y be </a:t>
            </a:r>
            <a:r>
              <a:rPr sz="1000" spc="-30" dirty="0">
                <a:latin typeface="Arial"/>
                <a:cs typeface="Arial"/>
              </a:rPr>
              <a:t>v</a:t>
            </a:r>
            <a:r>
              <a:rPr sz="1000" spc="-5" dirty="0">
                <a:latin typeface="Arial"/>
                <a:cs typeface="Arial"/>
              </a:rPr>
              <a:t>e</a:t>
            </a:r>
            <a:r>
              <a:rPr sz="1000" spc="20" dirty="0">
                <a:latin typeface="Arial"/>
                <a:cs typeface="Arial"/>
              </a:rPr>
              <a:t>r</a:t>
            </a:r>
            <a:r>
              <a:rPr sz="1000" spc="-5" dirty="0">
                <a:latin typeface="Arial"/>
                <a:cs typeface="Arial"/>
              </a:rPr>
              <a:t>y </a:t>
            </a:r>
            <a:r>
              <a:rPr sz="1000" spc="-35" dirty="0">
                <a:latin typeface="Arial"/>
                <a:cs typeface="Arial"/>
              </a:rPr>
              <a:t>f</a:t>
            </a:r>
            <a:r>
              <a:rPr sz="1000" spc="-5" dirty="0">
                <a:latin typeface="Arial"/>
                <a:cs typeface="Arial"/>
              </a:rPr>
              <a:t>ar apa</a:t>
            </a:r>
            <a:r>
              <a:rPr sz="1000" spc="30" dirty="0">
                <a:latin typeface="Arial"/>
                <a:cs typeface="Arial"/>
              </a:rPr>
              <a:t>r</a:t>
            </a:r>
            <a:r>
              <a:rPr sz="1000" spc="-5" dirty="0">
                <a:latin typeface="Arial"/>
                <a:cs typeface="Arial"/>
              </a:rPr>
              <a:t>t.</a:t>
            </a:r>
            <a:endParaRPr sz="1000">
              <a:latin typeface="Arial"/>
              <a:cs typeface="Arial"/>
            </a:endParaRPr>
          </a:p>
          <a:p>
            <a:pPr marL="54610">
              <a:lnSpc>
                <a:spcPct val="100000"/>
              </a:lnSpc>
              <a:spcBef>
                <a:spcPts val="645"/>
              </a:spcBef>
            </a:pPr>
            <a:r>
              <a:rPr sz="1200" spc="-5" dirty="0">
                <a:solidFill>
                  <a:srgbClr val="3333B2"/>
                </a:solidFill>
                <a:latin typeface="Arial"/>
                <a:cs typeface="Arial"/>
              </a:rPr>
              <a:t>Solutions</a:t>
            </a:r>
            <a:endParaRPr sz="1200">
              <a:latin typeface="Arial"/>
              <a:cs typeface="Arial"/>
            </a:endParaRPr>
          </a:p>
          <a:p>
            <a:pPr marL="331470" marR="43180" indent="-168275">
              <a:lnSpc>
                <a:spcPct val="100000"/>
              </a:lnSpc>
              <a:spcBef>
                <a:spcPts val="540"/>
              </a:spcBef>
              <a:buClr>
                <a:srgbClr val="3333B2"/>
              </a:buClr>
              <a:buChar char="►"/>
              <a:tabLst>
                <a:tab pos="332105" algn="l"/>
              </a:tabLst>
            </a:pPr>
            <a:r>
              <a:rPr sz="1000" spc="-15" dirty="0">
                <a:solidFill>
                  <a:srgbClr val="FA0000"/>
                </a:solidFill>
                <a:latin typeface="Arial"/>
                <a:cs typeface="Arial"/>
              </a:rPr>
              <a:t>Topology-aware</a:t>
            </a:r>
            <a:r>
              <a:rPr sz="1000" spc="-5" dirty="0">
                <a:solidFill>
                  <a:srgbClr val="FA0000"/>
                </a:solidFill>
                <a:latin typeface="Arial"/>
                <a:cs typeface="Arial"/>
              </a:rPr>
              <a:t> node</a:t>
            </a:r>
            <a:r>
              <a:rPr sz="1000" dirty="0">
                <a:solidFill>
                  <a:srgbClr val="FA0000"/>
                </a:solidFill>
                <a:latin typeface="Arial"/>
                <a:cs typeface="Arial"/>
              </a:rPr>
              <a:t> </a:t>
            </a:r>
            <a:r>
              <a:rPr sz="1000" spc="-5" dirty="0">
                <a:solidFill>
                  <a:srgbClr val="FA0000"/>
                </a:solidFill>
                <a:latin typeface="Arial"/>
                <a:cs typeface="Arial"/>
              </a:rPr>
              <a:t>assignment</a:t>
            </a:r>
            <a:r>
              <a:rPr sz="1000" spc="-5" dirty="0">
                <a:latin typeface="Arial"/>
                <a:cs typeface="Arial"/>
              </a:rPr>
              <a:t>:</a:t>
            </a:r>
            <a:r>
              <a:rPr sz="1000" spc="60" dirty="0">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assigning an</a:t>
            </a:r>
            <a:r>
              <a:rPr sz="1000" dirty="0">
                <a:latin typeface="Arial"/>
                <a:cs typeface="Arial"/>
              </a:rPr>
              <a:t> </a:t>
            </a:r>
            <a:r>
              <a:rPr sz="1000" spc="-5" dirty="0">
                <a:latin typeface="Arial"/>
                <a:cs typeface="Arial"/>
              </a:rPr>
              <a:t>ID to</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node, </a:t>
            </a:r>
            <a:r>
              <a:rPr sz="1000" spc="-10" dirty="0">
                <a:latin typeface="Arial"/>
                <a:cs typeface="Arial"/>
              </a:rPr>
              <a:t>make</a:t>
            </a:r>
            <a:r>
              <a:rPr sz="1000" dirty="0">
                <a:latin typeface="Arial"/>
                <a:cs typeface="Arial"/>
              </a:rPr>
              <a:t> </a:t>
            </a:r>
            <a:r>
              <a:rPr sz="1000" spc="-5" dirty="0">
                <a:latin typeface="Arial"/>
                <a:cs typeface="Arial"/>
              </a:rPr>
              <a:t>sure</a:t>
            </a:r>
            <a:r>
              <a:rPr sz="1000" dirty="0">
                <a:latin typeface="Arial"/>
                <a:cs typeface="Arial"/>
              </a:rPr>
              <a:t> </a:t>
            </a:r>
            <a:r>
              <a:rPr sz="1000" spc="-5" dirty="0">
                <a:latin typeface="Arial"/>
                <a:cs typeface="Arial"/>
              </a:rPr>
              <a:t>that nodes</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in the</a:t>
            </a:r>
            <a:r>
              <a:rPr sz="1000" dirty="0">
                <a:latin typeface="Arial"/>
                <a:cs typeface="Arial"/>
              </a:rPr>
              <a:t> </a:t>
            </a:r>
            <a:r>
              <a:rPr sz="1000" spc="-5" dirty="0">
                <a:latin typeface="Arial"/>
                <a:cs typeface="Arial"/>
              </a:rPr>
              <a:t>ID</a:t>
            </a:r>
            <a:r>
              <a:rPr sz="1000" dirty="0">
                <a:latin typeface="Arial"/>
                <a:cs typeface="Arial"/>
              </a:rPr>
              <a:t> </a:t>
            </a:r>
            <a:r>
              <a:rPr sz="1000" spc="-5" dirty="0">
                <a:latin typeface="Arial"/>
                <a:cs typeface="Arial"/>
              </a:rPr>
              <a:t>space are</a:t>
            </a:r>
            <a:r>
              <a:rPr sz="1000"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close </a:t>
            </a:r>
            <a:r>
              <a:rPr sz="1000" spc="-265" dirty="0">
                <a:latin typeface="Arial"/>
                <a:cs typeface="Arial"/>
              </a:rPr>
              <a:t> </a:t>
            </a:r>
            <a:r>
              <a:rPr sz="1000" spc="-5" dirty="0">
                <a:latin typeface="Arial"/>
                <a:cs typeface="Arial"/>
              </a:rPr>
              <a:t>in the network.</a:t>
            </a:r>
            <a:r>
              <a:rPr sz="1000" spc="60" dirty="0">
                <a:latin typeface="Arial"/>
                <a:cs typeface="Arial"/>
              </a:rPr>
              <a:t> </a:t>
            </a:r>
            <a:r>
              <a:rPr sz="1000" spc="-5" dirty="0">
                <a:solidFill>
                  <a:srgbClr val="0000FA"/>
                </a:solidFill>
                <a:latin typeface="Arial"/>
                <a:cs typeface="Arial"/>
              </a:rPr>
              <a:t>Can be very difficult</a:t>
            </a:r>
            <a:r>
              <a:rPr sz="1000" spc="-5" dirty="0">
                <a:latin typeface="Arial"/>
                <a:cs typeface="Arial"/>
              </a:rPr>
              <a:t>.</a:t>
            </a:r>
            <a:endParaRPr sz="1000">
              <a:latin typeface="Arial"/>
              <a:cs typeface="Arial"/>
            </a:endParaRPr>
          </a:p>
          <a:p>
            <a:pPr marL="331470" marR="155575" indent="-168275">
              <a:lnSpc>
                <a:spcPct val="100000"/>
              </a:lnSpc>
              <a:spcBef>
                <a:spcPts val="585"/>
              </a:spcBef>
              <a:buClr>
                <a:srgbClr val="3333B2"/>
              </a:buClr>
              <a:buChar char="►"/>
              <a:tabLst>
                <a:tab pos="332105" algn="l"/>
              </a:tabLst>
            </a:pPr>
            <a:r>
              <a:rPr sz="1000" spc="-10" dirty="0">
                <a:solidFill>
                  <a:srgbClr val="FA0000"/>
                </a:solidFill>
                <a:latin typeface="Arial"/>
                <a:cs typeface="Arial"/>
              </a:rPr>
              <a:t>Proximity</a:t>
            </a:r>
            <a:r>
              <a:rPr sz="1000" dirty="0">
                <a:solidFill>
                  <a:srgbClr val="FA0000"/>
                </a:solidFill>
                <a:latin typeface="Arial"/>
                <a:cs typeface="Arial"/>
              </a:rPr>
              <a:t> </a:t>
            </a:r>
            <a:r>
              <a:rPr sz="1000" spc="-5" dirty="0">
                <a:solidFill>
                  <a:srgbClr val="FA0000"/>
                </a:solidFill>
                <a:latin typeface="Arial"/>
                <a:cs typeface="Arial"/>
              </a:rPr>
              <a:t>routing</a:t>
            </a:r>
            <a:r>
              <a:rPr sz="1000" spc="-5" dirty="0">
                <a:latin typeface="Arial"/>
                <a:cs typeface="Arial"/>
              </a:rPr>
              <a:t>:</a:t>
            </a:r>
            <a:r>
              <a:rPr sz="1000" spc="70" dirty="0">
                <a:latin typeface="Arial"/>
                <a:cs typeface="Arial"/>
              </a:rPr>
              <a:t> </a:t>
            </a:r>
            <a:r>
              <a:rPr sz="1000" spc="-5" dirty="0">
                <a:latin typeface="Arial"/>
                <a:cs typeface="Arial"/>
              </a:rPr>
              <a:t>Maintain</a:t>
            </a:r>
            <a:r>
              <a:rPr sz="1000" spc="5" dirty="0">
                <a:latin typeface="Arial"/>
                <a:cs typeface="Arial"/>
              </a:rPr>
              <a:t> </a:t>
            </a:r>
            <a:r>
              <a:rPr sz="1000" spc="-5" dirty="0">
                <a:latin typeface="Arial"/>
                <a:cs typeface="Arial"/>
              </a:rPr>
              <a:t>more</a:t>
            </a:r>
            <a:r>
              <a:rPr sz="1000" spc="5" dirty="0">
                <a:latin typeface="Arial"/>
                <a:cs typeface="Arial"/>
              </a:rPr>
              <a:t> </a:t>
            </a:r>
            <a:r>
              <a:rPr sz="1000" spc="-5" dirty="0">
                <a:latin typeface="Arial"/>
                <a:cs typeface="Arial"/>
              </a:rPr>
              <a:t>than</a:t>
            </a:r>
            <a:r>
              <a:rPr sz="1000" spc="5" dirty="0">
                <a:latin typeface="Arial"/>
                <a:cs typeface="Arial"/>
              </a:rPr>
              <a:t> </a:t>
            </a:r>
            <a:r>
              <a:rPr sz="1000" spc="-5" dirty="0">
                <a:latin typeface="Arial"/>
                <a:cs typeface="Arial"/>
              </a:rPr>
              <a:t>one</a:t>
            </a:r>
            <a:r>
              <a:rPr sz="1000" spc="5" dirty="0">
                <a:latin typeface="Arial"/>
                <a:cs typeface="Arial"/>
              </a:rPr>
              <a:t> </a:t>
            </a:r>
            <a:r>
              <a:rPr sz="1000" spc="-5" dirty="0">
                <a:latin typeface="Arial"/>
                <a:cs typeface="Arial"/>
              </a:rPr>
              <a:t>possible</a:t>
            </a:r>
            <a:r>
              <a:rPr sz="1000" dirty="0">
                <a:latin typeface="Arial"/>
                <a:cs typeface="Arial"/>
              </a:rPr>
              <a:t> </a:t>
            </a:r>
            <a:r>
              <a:rPr sz="1000" spc="-10" dirty="0">
                <a:latin typeface="Arial"/>
                <a:cs typeface="Arial"/>
              </a:rPr>
              <a:t>successor, </a:t>
            </a:r>
            <a:r>
              <a:rPr sz="1000" spc="-260" dirty="0">
                <a:latin typeface="Arial"/>
                <a:cs typeface="Arial"/>
              </a:rPr>
              <a:t> </a:t>
            </a:r>
            <a:r>
              <a:rPr sz="1000" spc="-5" dirty="0">
                <a:latin typeface="Arial"/>
                <a:cs typeface="Arial"/>
              </a:rPr>
              <a:t>and</a:t>
            </a:r>
            <a:r>
              <a:rPr sz="1000" spc="-10" dirty="0">
                <a:latin typeface="Arial"/>
                <a:cs typeface="Arial"/>
              </a:rPr>
              <a:t> forward</a:t>
            </a:r>
            <a:r>
              <a:rPr sz="1000" spc="-5" dirty="0">
                <a:latin typeface="Arial"/>
                <a:cs typeface="Arial"/>
              </a:rPr>
              <a:t> to the closest.</a:t>
            </a:r>
            <a:endParaRPr sz="1000">
              <a:latin typeface="Arial"/>
              <a:cs typeface="Arial"/>
            </a:endParaRPr>
          </a:p>
          <a:p>
            <a:pPr marL="331470">
              <a:lnSpc>
                <a:spcPts val="1190"/>
              </a:lnSpc>
            </a:pPr>
            <a:r>
              <a:rPr sz="1000" spc="-5" dirty="0">
                <a:solidFill>
                  <a:srgbClr val="0000FA"/>
                </a:solidFill>
                <a:latin typeface="Arial"/>
                <a:cs typeface="Arial"/>
              </a:rPr>
              <a:t>Example:</a:t>
            </a:r>
            <a:r>
              <a:rPr sz="1000" spc="60" dirty="0">
                <a:solidFill>
                  <a:srgbClr val="0000FA"/>
                </a:solidFill>
                <a:latin typeface="Arial"/>
                <a:cs typeface="Arial"/>
              </a:rPr>
              <a:t> </a:t>
            </a:r>
            <a:r>
              <a:rPr sz="1000" spc="-5" dirty="0">
                <a:latin typeface="Arial"/>
                <a:cs typeface="Arial"/>
              </a:rPr>
              <a:t>in Chord</a:t>
            </a:r>
            <a:r>
              <a:rPr sz="1000" dirty="0">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dirty="0">
                <a:latin typeface="Arial"/>
                <a:cs typeface="Arial"/>
              </a:rPr>
              <a:t>[</a:t>
            </a:r>
            <a:r>
              <a:rPr sz="1000" i="1" dirty="0">
                <a:latin typeface="Arial"/>
                <a:cs typeface="Arial"/>
              </a:rPr>
              <a:t>i</a:t>
            </a:r>
            <a:r>
              <a:rPr sz="1000" i="1" spc="-195"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points to first</a:t>
            </a:r>
            <a:r>
              <a:rPr sz="1000" dirty="0">
                <a:latin typeface="Arial"/>
                <a:cs typeface="Arial"/>
              </a:rPr>
              <a:t> </a:t>
            </a:r>
            <a:r>
              <a:rPr sz="1000" spc="-5" dirty="0">
                <a:latin typeface="Arial"/>
                <a:cs typeface="Arial"/>
              </a:rPr>
              <a:t>node in</a:t>
            </a:r>
            <a:endParaRPr sz="1000">
              <a:latin typeface="Arial"/>
              <a:cs typeface="Arial"/>
            </a:endParaRPr>
          </a:p>
          <a:p>
            <a:pPr marL="331470" marR="240665">
              <a:lnSpc>
                <a:spcPct val="100000"/>
              </a:lnSpc>
              <a:spcBef>
                <a:spcPts val="100"/>
              </a:spcBef>
            </a:pPr>
            <a:r>
              <a:rPr sz="1000" i="1" spc="-5" dirty="0">
                <a:latin typeface="Arial"/>
                <a:cs typeface="Arial"/>
              </a:rPr>
              <a:t>INT</a:t>
            </a:r>
            <a:r>
              <a:rPr sz="1000" i="1" spc="80" dirty="0">
                <a:latin typeface="Arial"/>
                <a:cs typeface="Arial"/>
              </a:rPr>
              <a:t> </a:t>
            </a:r>
            <a:r>
              <a:rPr sz="1000" spc="190" dirty="0">
                <a:latin typeface="Arial"/>
                <a:cs typeface="Arial"/>
              </a:rPr>
              <a:t>=</a:t>
            </a:r>
            <a:r>
              <a:rPr sz="1000" spc="-60" dirty="0">
                <a:latin typeface="Arial"/>
                <a:cs typeface="Arial"/>
              </a:rPr>
              <a:t> </a:t>
            </a:r>
            <a:r>
              <a:rPr sz="1000" dirty="0">
                <a:latin typeface="Arial"/>
                <a:cs typeface="Arial"/>
              </a:rPr>
              <a:t>[</a:t>
            </a:r>
            <a:r>
              <a:rPr sz="1000" i="1" dirty="0">
                <a:latin typeface="Arial"/>
                <a:cs typeface="Arial"/>
              </a:rPr>
              <a:t>p</a:t>
            </a:r>
            <a:r>
              <a:rPr sz="1000" i="1" spc="-110" dirty="0">
                <a:latin typeface="Arial"/>
                <a:cs typeface="Arial"/>
              </a:rPr>
              <a:t> </a:t>
            </a:r>
            <a:r>
              <a:rPr sz="1000" spc="190" dirty="0">
                <a:latin typeface="Arial"/>
                <a:cs typeface="Arial"/>
              </a:rPr>
              <a:t>+</a:t>
            </a:r>
            <a:r>
              <a:rPr sz="1000" spc="-140" dirty="0">
                <a:latin typeface="Arial"/>
                <a:cs typeface="Arial"/>
              </a:rPr>
              <a:t> </a:t>
            </a:r>
            <a:r>
              <a:rPr sz="1000" spc="25" dirty="0">
                <a:latin typeface="Arial"/>
                <a:cs typeface="Arial"/>
              </a:rPr>
              <a:t>2</a:t>
            </a:r>
            <a:r>
              <a:rPr sz="1050" i="1" spc="37" baseline="27777" dirty="0">
                <a:latin typeface="Arial"/>
                <a:cs typeface="Arial"/>
              </a:rPr>
              <a:t>i</a:t>
            </a:r>
            <a:r>
              <a:rPr sz="1050" i="1" spc="37" baseline="27777" dirty="0">
                <a:latin typeface="メイリオ"/>
                <a:cs typeface="メイリオ"/>
              </a:rPr>
              <a:t>−</a:t>
            </a:r>
            <a:r>
              <a:rPr sz="1050" spc="37" baseline="27777" dirty="0">
                <a:latin typeface="Arial"/>
                <a:cs typeface="Arial"/>
              </a:rPr>
              <a:t>1</a:t>
            </a:r>
            <a:r>
              <a:rPr sz="1000" i="1" spc="25" dirty="0">
                <a:latin typeface="Arial"/>
                <a:cs typeface="Arial"/>
              </a:rPr>
              <a:t>,</a:t>
            </a:r>
            <a:r>
              <a:rPr sz="1000" i="1" spc="-170" dirty="0">
                <a:latin typeface="Arial"/>
                <a:cs typeface="Arial"/>
              </a:rPr>
              <a:t> </a:t>
            </a:r>
            <a:r>
              <a:rPr sz="1000" i="1" spc="-5" dirty="0">
                <a:latin typeface="Arial"/>
                <a:cs typeface="Arial"/>
              </a:rPr>
              <a:t>p</a:t>
            </a:r>
            <a:r>
              <a:rPr sz="1000" i="1" spc="-114" dirty="0">
                <a:latin typeface="Arial"/>
                <a:cs typeface="Arial"/>
              </a:rPr>
              <a:t> </a:t>
            </a:r>
            <a:r>
              <a:rPr sz="1000" spc="190" dirty="0">
                <a:latin typeface="Arial"/>
                <a:cs typeface="Arial"/>
              </a:rPr>
              <a:t>+</a:t>
            </a:r>
            <a:r>
              <a:rPr sz="1000" spc="-135" dirty="0">
                <a:latin typeface="Arial"/>
                <a:cs typeface="Arial"/>
              </a:rPr>
              <a:t> </a:t>
            </a:r>
            <a:r>
              <a:rPr sz="1000" dirty="0">
                <a:latin typeface="Arial"/>
                <a:cs typeface="Arial"/>
              </a:rPr>
              <a:t>2</a:t>
            </a:r>
            <a:r>
              <a:rPr sz="1050" i="1" baseline="27777" dirty="0">
                <a:latin typeface="Arial"/>
                <a:cs typeface="Arial"/>
              </a:rPr>
              <a:t>i</a:t>
            </a:r>
            <a:r>
              <a:rPr sz="1050" i="1" spc="82" baseline="27777" dirty="0">
                <a:latin typeface="Arial"/>
                <a:cs typeface="Arial"/>
              </a:rPr>
              <a:t> </a:t>
            </a:r>
            <a:r>
              <a:rPr sz="1000" i="1" spc="-30" dirty="0">
                <a:latin typeface="メイリオ"/>
                <a:cs typeface="メイリオ"/>
              </a:rPr>
              <a:t>−</a:t>
            </a:r>
            <a:r>
              <a:rPr sz="1000" i="1" spc="-204" dirty="0">
                <a:latin typeface="メイリオ"/>
                <a:cs typeface="メイリオ"/>
              </a:rPr>
              <a:t> </a:t>
            </a:r>
            <a:r>
              <a:rPr sz="1000" dirty="0">
                <a:latin typeface="Arial"/>
                <a:cs typeface="Arial"/>
              </a:rPr>
              <a:t>1].</a:t>
            </a:r>
            <a:r>
              <a:rPr sz="1000" spc="65" dirty="0">
                <a:latin typeface="Arial"/>
                <a:cs typeface="Arial"/>
              </a:rPr>
              <a:t> </a:t>
            </a:r>
            <a:r>
              <a:rPr sz="1000" spc="-5" dirty="0">
                <a:latin typeface="Arial"/>
                <a:cs typeface="Arial"/>
              </a:rPr>
              <a:t>Node </a:t>
            </a:r>
            <a:r>
              <a:rPr sz="1000" i="1" spc="-5" dirty="0">
                <a:latin typeface="Arial"/>
                <a:cs typeface="Arial"/>
              </a:rPr>
              <a:t>p</a:t>
            </a:r>
            <a:r>
              <a:rPr sz="1000" i="1" spc="30" dirty="0">
                <a:latin typeface="Arial"/>
                <a:cs typeface="Arial"/>
              </a:rPr>
              <a:t> </a:t>
            </a:r>
            <a:r>
              <a:rPr sz="1000" spc="-5" dirty="0">
                <a:latin typeface="Arial"/>
                <a:cs typeface="Arial"/>
              </a:rPr>
              <a:t>can also</a:t>
            </a:r>
            <a:r>
              <a:rPr sz="1000" dirty="0">
                <a:latin typeface="Arial"/>
                <a:cs typeface="Arial"/>
              </a:rPr>
              <a:t> </a:t>
            </a:r>
            <a:r>
              <a:rPr sz="1000" spc="-5" dirty="0">
                <a:latin typeface="Arial"/>
                <a:cs typeface="Arial"/>
              </a:rPr>
              <a:t>store pointers to </a:t>
            </a:r>
            <a:r>
              <a:rPr sz="1000" spc="-260" dirty="0">
                <a:latin typeface="Arial"/>
                <a:cs typeface="Arial"/>
              </a:rPr>
              <a:t> </a:t>
            </a:r>
            <a:r>
              <a:rPr sz="1000" spc="-5" dirty="0">
                <a:latin typeface="Arial"/>
                <a:cs typeface="Arial"/>
              </a:rPr>
              <a:t>other</a:t>
            </a:r>
            <a:r>
              <a:rPr sz="1000" spc="-10" dirty="0">
                <a:latin typeface="Arial"/>
                <a:cs typeface="Arial"/>
              </a:rPr>
              <a:t> </a:t>
            </a:r>
            <a:r>
              <a:rPr sz="1000" spc="-5" dirty="0">
                <a:latin typeface="Arial"/>
                <a:cs typeface="Arial"/>
              </a:rPr>
              <a:t>nodes in </a:t>
            </a:r>
            <a:r>
              <a:rPr sz="1000" i="1" spc="-5" dirty="0">
                <a:latin typeface="Arial"/>
                <a:cs typeface="Arial"/>
              </a:rPr>
              <a:t>INT</a:t>
            </a:r>
            <a:r>
              <a:rPr sz="1000" i="1" spc="-140" dirty="0">
                <a:latin typeface="Arial"/>
                <a:cs typeface="Arial"/>
              </a:rPr>
              <a:t> </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6713" y="3331252"/>
            <a:ext cx="70421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General</a:t>
            </a:r>
            <a:r>
              <a:rPr sz="600" spc="-3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mechanism</a:t>
            </a:r>
            <a:endParaRPr sz="600">
              <a:latin typeface="Arial"/>
              <a:cs typeface="Arial"/>
            </a:endParaRPr>
          </a:p>
        </p:txBody>
      </p:sp>
      <p:sp>
        <p:nvSpPr>
          <p:cNvPr id="8" name="object 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91254" algn="l"/>
              </a:tabLst>
            </a:pPr>
            <a:r>
              <a:rPr sz="600" spc="-5" dirty="0">
                <a:solidFill>
                  <a:srgbClr val="3333B2"/>
                </a:solidFill>
                <a:latin typeface="Arial"/>
                <a:cs typeface="Arial"/>
                <a:hlinkClick r:id="rId4"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Flat</a:t>
            </a:r>
            <a:r>
              <a:rPr sz="600" spc="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Distributed</a:t>
            </a:r>
            <a:r>
              <a:rPr sz="600" spc="-2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hash</a:t>
            </a:r>
            <a:r>
              <a:rPr sz="600" spc="-2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tables</a:t>
            </a:r>
            <a:endParaRPr sz="600">
              <a:latin typeface="Arial"/>
              <a:cs typeface="Arial"/>
            </a:endParaRPr>
          </a:p>
        </p:txBody>
      </p:sp>
      <p:sp>
        <p:nvSpPr>
          <p:cNvPr id="3" name="object 3"/>
          <p:cNvSpPr txBox="1">
            <a:spLocks noGrp="1"/>
          </p:cNvSpPr>
          <p:nvPr>
            <p:ph type="title"/>
          </p:nvPr>
        </p:nvSpPr>
        <p:spPr>
          <a:xfrm>
            <a:off x="95300" y="188846"/>
            <a:ext cx="2279015" cy="244475"/>
          </a:xfrm>
          <a:prstGeom prst="rect">
            <a:avLst/>
          </a:prstGeom>
        </p:spPr>
        <p:txBody>
          <a:bodyPr vert="horz" wrap="square" lIns="0" tIns="17145" rIns="0" bIns="0" rtlCol="0">
            <a:spAutoFit/>
          </a:bodyPr>
          <a:lstStyle/>
          <a:p>
            <a:pPr marL="12700">
              <a:lnSpc>
                <a:spcPct val="100000"/>
              </a:lnSpc>
              <a:spcBef>
                <a:spcPts val="135"/>
              </a:spcBef>
            </a:pPr>
            <a:r>
              <a:rPr spc="10" dirty="0"/>
              <a:t>Exploiting</a:t>
            </a:r>
            <a:r>
              <a:rPr spc="-10" dirty="0"/>
              <a:t> </a:t>
            </a:r>
            <a:r>
              <a:rPr spc="15" dirty="0"/>
              <a:t>network</a:t>
            </a:r>
            <a:r>
              <a:rPr spc="-5" dirty="0"/>
              <a:t> </a:t>
            </a:r>
            <a:r>
              <a:rPr spc="10" dirty="0"/>
              <a:t>proximity</a:t>
            </a:r>
          </a:p>
        </p:txBody>
      </p:sp>
      <p:sp>
        <p:nvSpPr>
          <p:cNvPr id="4" name="object 4"/>
          <p:cNvSpPr txBox="1"/>
          <p:nvPr/>
        </p:nvSpPr>
        <p:spPr>
          <a:xfrm>
            <a:off x="330682" y="469745"/>
            <a:ext cx="3921125" cy="1984375"/>
          </a:xfrm>
          <a:prstGeom prst="rect">
            <a:avLst/>
          </a:prstGeom>
        </p:spPr>
        <p:txBody>
          <a:bodyPr vert="horz" wrap="square" lIns="0" tIns="12065" rIns="0" bIns="0" rtlCol="0">
            <a:spAutoFit/>
          </a:bodyPr>
          <a:lstStyle/>
          <a:p>
            <a:pPr marL="29209">
              <a:lnSpc>
                <a:spcPts val="1410"/>
              </a:lnSpc>
              <a:spcBef>
                <a:spcPts val="95"/>
              </a:spcBef>
            </a:pPr>
            <a:r>
              <a:rPr sz="1200" spc="-10" dirty="0">
                <a:solidFill>
                  <a:srgbClr val="FA0000"/>
                </a:solidFill>
                <a:latin typeface="Arial"/>
                <a:cs typeface="Arial"/>
              </a:rPr>
              <a:t>Problem</a:t>
            </a:r>
            <a:endParaRPr sz="1200" dirty="0">
              <a:latin typeface="Arial"/>
              <a:cs typeface="Arial"/>
            </a:endParaRPr>
          </a:p>
          <a:p>
            <a:pPr marL="29209" marR="179705"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logical</a:t>
            </a:r>
            <a:r>
              <a:rPr sz="1000" dirty="0">
                <a:latin typeface="Arial"/>
                <a:cs typeface="Arial"/>
              </a:rPr>
              <a:t> </a:t>
            </a:r>
            <a:r>
              <a:rPr sz="1000" spc="-5" dirty="0">
                <a:latin typeface="Arial"/>
                <a:cs typeface="Arial"/>
              </a:rPr>
              <a:t>organization</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nodes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spc="5" dirty="0">
                <a:latin typeface="Arial"/>
                <a:cs typeface="Arial"/>
              </a:rPr>
              <a:t> </a:t>
            </a:r>
            <a:r>
              <a:rPr sz="1000" spc="-15" dirty="0">
                <a:latin typeface="Arial"/>
                <a:cs typeface="Arial"/>
              </a:rPr>
              <a:t>overlay</a:t>
            </a:r>
            <a:r>
              <a:rPr sz="1000" dirty="0">
                <a:latin typeface="Arial"/>
                <a:cs typeface="Arial"/>
              </a:rPr>
              <a:t> </a:t>
            </a:r>
            <a:r>
              <a:rPr sz="1000" spc="-15" dirty="0">
                <a:latin typeface="Arial"/>
                <a:cs typeface="Arial"/>
              </a:rPr>
              <a:t>may</a:t>
            </a:r>
            <a:r>
              <a:rPr sz="1000" spc="5" dirty="0">
                <a:latin typeface="Arial"/>
                <a:cs typeface="Arial"/>
              </a:rPr>
              <a:t> </a:t>
            </a:r>
            <a:r>
              <a:rPr sz="1000" spc="-5" dirty="0">
                <a:latin typeface="Arial"/>
                <a:cs typeface="Arial"/>
              </a:rPr>
              <a:t>lead</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erratic </a:t>
            </a:r>
            <a:r>
              <a:rPr sz="1000" spc="-260" dirty="0">
                <a:solidFill>
                  <a:srgbClr val="0000FA"/>
                </a:solidFill>
                <a:latin typeface="Arial"/>
                <a:cs typeface="Arial"/>
              </a:rPr>
              <a:t> </a:t>
            </a:r>
            <a:r>
              <a:rPr sz="1000" spc="-5" dirty="0">
                <a:solidFill>
                  <a:srgbClr val="0000FA"/>
                </a:solidFill>
                <a:latin typeface="Arial"/>
                <a:cs typeface="Arial"/>
              </a:rPr>
              <a:t>message </a:t>
            </a:r>
            <a:r>
              <a:rPr sz="1000" spc="-10" dirty="0">
                <a:solidFill>
                  <a:srgbClr val="0000FA"/>
                </a:solidFill>
                <a:latin typeface="Arial"/>
                <a:cs typeface="Arial"/>
              </a:rPr>
              <a:t>transfers</a:t>
            </a:r>
            <a:r>
              <a:rPr sz="1000" dirty="0">
                <a:solidFill>
                  <a:srgbClr val="0000FA"/>
                </a:solidFill>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 underlying</a:t>
            </a:r>
            <a:r>
              <a:rPr sz="1000" dirty="0">
                <a:latin typeface="Arial"/>
                <a:cs typeface="Arial"/>
              </a:rPr>
              <a:t> Internet:</a:t>
            </a:r>
            <a:r>
              <a:rPr sz="1000" spc="65" dirty="0">
                <a:latin typeface="Arial"/>
                <a:cs typeface="Arial"/>
              </a:rPr>
              <a:t> </a:t>
            </a:r>
            <a:r>
              <a:rPr sz="1000" spc="-5" dirty="0">
                <a:latin typeface="Arial"/>
                <a:cs typeface="Arial"/>
              </a:rPr>
              <a:t>node </a:t>
            </a:r>
            <a:r>
              <a:rPr sz="1000" i="1" spc="-5" dirty="0">
                <a:latin typeface="Arial"/>
                <a:cs typeface="Arial"/>
              </a:rPr>
              <a:t>p</a:t>
            </a:r>
            <a:r>
              <a:rPr sz="1000" i="1" spc="3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node </a:t>
            </a:r>
            <a:r>
              <a:rPr sz="1000" dirty="0">
                <a:latin typeface="Arial"/>
                <a:cs typeface="Arial"/>
              </a:rPr>
              <a:t> </a:t>
            </a:r>
            <a:r>
              <a:rPr sz="1000" i="1" spc="-5" dirty="0">
                <a:latin typeface="Arial"/>
                <a:cs typeface="Arial"/>
              </a:rPr>
              <a:t>succ</a:t>
            </a:r>
            <a:r>
              <a:rPr sz="1000" spc="50" dirty="0">
                <a:latin typeface="Arial"/>
                <a:cs typeface="Arial"/>
              </a:rPr>
              <a:t>(</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m</a:t>
            </a:r>
            <a:r>
              <a:rPr sz="1000" spc="-35" dirty="0">
                <a:latin typeface="Arial"/>
                <a:cs typeface="Arial"/>
              </a:rPr>
              <a:t>a</a:t>
            </a:r>
            <a:r>
              <a:rPr sz="1000" spc="-5" dirty="0">
                <a:latin typeface="Arial"/>
                <a:cs typeface="Arial"/>
              </a:rPr>
              <a:t>y be </a:t>
            </a:r>
            <a:r>
              <a:rPr sz="1000" spc="-30" dirty="0">
                <a:latin typeface="Arial"/>
                <a:cs typeface="Arial"/>
              </a:rPr>
              <a:t>v</a:t>
            </a:r>
            <a:r>
              <a:rPr sz="1000" spc="-5" dirty="0">
                <a:latin typeface="Arial"/>
                <a:cs typeface="Arial"/>
              </a:rPr>
              <a:t>e</a:t>
            </a:r>
            <a:r>
              <a:rPr sz="1000" spc="20" dirty="0">
                <a:latin typeface="Arial"/>
                <a:cs typeface="Arial"/>
              </a:rPr>
              <a:t>r</a:t>
            </a:r>
            <a:r>
              <a:rPr sz="1000" spc="-5" dirty="0">
                <a:latin typeface="Arial"/>
                <a:cs typeface="Arial"/>
              </a:rPr>
              <a:t>y </a:t>
            </a:r>
            <a:r>
              <a:rPr sz="1000" spc="-35" dirty="0">
                <a:latin typeface="Arial"/>
                <a:cs typeface="Arial"/>
              </a:rPr>
              <a:t>f</a:t>
            </a:r>
            <a:r>
              <a:rPr sz="1000" spc="-5" dirty="0">
                <a:latin typeface="Arial"/>
                <a:cs typeface="Arial"/>
              </a:rPr>
              <a:t>ar apa</a:t>
            </a:r>
            <a:r>
              <a:rPr sz="1000" spc="30" dirty="0">
                <a:latin typeface="Arial"/>
                <a:cs typeface="Arial"/>
              </a:rPr>
              <a:t>r</a:t>
            </a:r>
            <a:r>
              <a:rPr sz="1000" spc="-5" dirty="0">
                <a:latin typeface="Arial"/>
                <a:cs typeface="Arial"/>
              </a:rPr>
              <a:t>t.</a:t>
            </a:r>
            <a:endParaRPr sz="1000" dirty="0">
              <a:latin typeface="Arial"/>
              <a:cs typeface="Arial"/>
            </a:endParaRPr>
          </a:p>
          <a:p>
            <a:pPr marL="29209">
              <a:lnSpc>
                <a:spcPct val="100000"/>
              </a:lnSpc>
              <a:spcBef>
                <a:spcPts val="645"/>
              </a:spcBef>
            </a:pPr>
            <a:r>
              <a:rPr sz="1200" spc="-5" dirty="0">
                <a:solidFill>
                  <a:srgbClr val="3333B2"/>
                </a:solidFill>
                <a:latin typeface="Arial"/>
                <a:cs typeface="Arial"/>
              </a:rPr>
              <a:t>Solutions</a:t>
            </a:r>
            <a:endParaRPr sz="1200" dirty="0">
              <a:latin typeface="Arial"/>
              <a:cs typeface="Arial"/>
            </a:endParaRPr>
          </a:p>
          <a:p>
            <a:pPr marL="306070" marR="17780" indent="-168275">
              <a:lnSpc>
                <a:spcPct val="100000"/>
              </a:lnSpc>
              <a:spcBef>
                <a:spcPts val="540"/>
              </a:spcBef>
              <a:buClr>
                <a:srgbClr val="3333B2"/>
              </a:buClr>
              <a:buChar char="►"/>
              <a:tabLst>
                <a:tab pos="306705" algn="l"/>
              </a:tabLst>
            </a:pPr>
            <a:r>
              <a:rPr sz="1000" spc="-15" dirty="0">
                <a:solidFill>
                  <a:srgbClr val="FA0000"/>
                </a:solidFill>
                <a:latin typeface="Arial"/>
                <a:cs typeface="Arial"/>
              </a:rPr>
              <a:t>Topology-aware</a:t>
            </a:r>
            <a:r>
              <a:rPr sz="1000" spc="-5" dirty="0">
                <a:solidFill>
                  <a:srgbClr val="FA0000"/>
                </a:solidFill>
                <a:latin typeface="Arial"/>
                <a:cs typeface="Arial"/>
              </a:rPr>
              <a:t> node</a:t>
            </a:r>
            <a:r>
              <a:rPr sz="1000" dirty="0">
                <a:solidFill>
                  <a:srgbClr val="FA0000"/>
                </a:solidFill>
                <a:latin typeface="Arial"/>
                <a:cs typeface="Arial"/>
              </a:rPr>
              <a:t> </a:t>
            </a:r>
            <a:r>
              <a:rPr sz="1000" spc="-5" dirty="0">
                <a:solidFill>
                  <a:srgbClr val="FA0000"/>
                </a:solidFill>
                <a:latin typeface="Arial"/>
                <a:cs typeface="Arial"/>
              </a:rPr>
              <a:t>assignment</a:t>
            </a:r>
            <a:r>
              <a:rPr sz="1000" spc="-5" dirty="0">
                <a:latin typeface="Arial"/>
                <a:cs typeface="Arial"/>
              </a:rPr>
              <a:t>:</a:t>
            </a:r>
            <a:r>
              <a:rPr sz="1000" spc="60" dirty="0">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assigning an</a:t>
            </a:r>
            <a:r>
              <a:rPr sz="1000" dirty="0">
                <a:latin typeface="Arial"/>
                <a:cs typeface="Arial"/>
              </a:rPr>
              <a:t> </a:t>
            </a:r>
            <a:r>
              <a:rPr sz="1000" spc="-5" dirty="0">
                <a:latin typeface="Arial"/>
                <a:cs typeface="Arial"/>
              </a:rPr>
              <a:t>ID to</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node, </a:t>
            </a:r>
            <a:r>
              <a:rPr sz="1000" spc="-10" dirty="0">
                <a:latin typeface="Arial"/>
                <a:cs typeface="Arial"/>
              </a:rPr>
              <a:t>make</a:t>
            </a:r>
            <a:r>
              <a:rPr sz="1000" dirty="0">
                <a:latin typeface="Arial"/>
                <a:cs typeface="Arial"/>
              </a:rPr>
              <a:t> </a:t>
            </a:r>
            <a:r>
              <a:rPr sz="1000" spc="-5" dirty="0">
                <a:latin typeface="Arial"/>
                <a:cs typeface="Arial"/>
              </a:rPr>
              <a:t>sure</a:t>
            </a:r>
            <a:r>
              <a:rPr sz="1000" dirty="0">
                <a:latin typeface="Arial"/>
                <a:cs typeface="Arial"/>
              </a:rPr>
              <a:t> </a:t>
            </a:r>
            <a:r>
              <a:rPr sz="1000" spc="-5" dirty="0">
                <a:latin typeface="Arial"/>
                <a:cs typeface="Arial"/>
              </a:rPr>
              <a:t>that nodes</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in the</a:t>
            </a:r>
            <a:r>
              <a:rPr sz="1000" dirty="0">
                <a:latin typeface="Arial"/>
                <a:cs typeface="Arial"/>
              </a:rPr>
              <a:t> </a:t>
            </a:r>
            <a:r>
              <a:rPr sz="1000" spc="-5" dirty="0">
                <a:latin typeface="Arial"/>
                <a:cs typeface="Arial"/>
              </a:rPr>
              <a:t>ID</a:t>
            </a:r>
            <a:r>
              <a:rPr sz="1000" dirty="0">
                <a:latin typeface="Arial"/>
                <a:cs typeface="Arial"/>
              </a:rPr>
              <a:t> </a:t>
            </a:r>
            <a:r>
              <a:rPr sz="1000" spc="-5" dirty="0">
                <a:latin typeface="Arial"/>
                <a:cs typeface="Arial"/>
              </a:rPr>
              <a:t>space are</a:t>
            </a:r>
            <a:r>
              <a:rPr sz="1000"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close </a:t>
            </a:r>
            <a:r>
              <a:rPr sz="1000" spc="-265" dirty="0">
                <a:latin typeface="Arial"/>
                <a:cs typeface="Arial"/>
              </a:rPr>
              <a:t> </a:t>
            </a:r>
            <a:r>
              <a:rPr sz="1000" spc="-5" dirty="0">
                <a:latin typeface="Arial"/>
                <a:cs typeface="Arial"/>
              </a:rPr>
              <a:t>in the network.</a:t>
            </a:r>
            <a:r>
              <a:rPr sz="1000" spc="60" dirty="0">
                <a:latin typeface="Arial"/>
                <a:cs typeface="Arial"/>
              </a:rPr>
              <a:t> </a:t>
            </a:r>
            <a:r>
              <a:rPr sz="1000" spc="-5" dirty="0">
                <a:solidFill>
                  <a:srgbClr val="0000FA"/>
                </a:solidFill>
                <a:latin typeface="Arial"/>
                <a:cs typeface="Arial"/>
              </a:rPr>
              <a:t>Can be very difficult</a:t>
            </a:r>
            <a:r>
              <a:rPr sz="1000" spc="-5" dirty="0">
                <a:latin typeface="Arial"/>
                <a:cs typeface="Arial"/>
              </a:rPr>
              <a:t>.</a:t>
            </a:r>
            <a:endParaRPr sz="1000" dirty="0">
              <a:latin typeface="Arial"/>
              <a:cs typeface="Arial"/>
            </a:endParaRPr>
          </a:p>
          <a:p>
            <a:pPr marL="306070" marR="130175" indent="-168275">
              <a:lnSpc>
                <a:spcPct val="100000"/>
              </a:lnSpc>
              <a:spcBef>
                <a:spcPts val="585"/>
              </a:spcBef>
              <a:buClr>
                <a:srgbClr val="3333B2"/>
              </a:buClr>
              <a:buChar char="►"/>
              <a:tabLst>
                <a:tab pos="306705" algn="l"/>
              </a:tabLst>
            </a:pPr>
            <a:r>
              <a:rPr sz="1000" spc="-10" dirty="0">
                <a:solidFill>
                  <a:srgbClr val="FA0000"/>
                </a:solidFill>
                <a:latin typeface="Arial"/>
                <a:cs typeface="Arial"/>
              </a:rPr>
              <a:t>Proximity</a:t>
            </a:r>
            <a:r>
              <a:rPr sz="1000" dirty="0">
                <a:solidFill>
                  <a:srgbClr val="FA0000"/>
                </a:solidFill>
                <a:latin typeface="Arial"/>
                <a:cs typeface="Arial"/>
              </a:rPr>
              <a:t> </a:t>
            </a:r>
            <a:r>
              <a:rPr sz="1000" spc="-5" dirty="0">
                <a:solidFill>
                  <a:srgbClr val="FA0000"/>
                </a:solidFill>
                <a:latin typeface="Arial"/>
                <a:cs typeface="Arial"/>
              </a:rPr>
              <a:t>routing</a:t>
            </a:r>
            <a:r>
              <a:rPr sz="1000" spc="-5" dirty="0">
                <a:latin typeface="Arial"/>
                <a:cs typeface="Arial"/>
              </a:rPr>
              <a:t>:</a:t>
            </a:r>
            <a:r>
              <a:rPr sz="1000" spc="70" dirty="0">
                <a:latin typeface="Arial"/>
                <a:cs typeface="Arial"/>
              </a:rPr>
              <a:t> </a:t>
            </a:r>
            <a:r>
              <a:rPr sz="1000" spc="-5" dirty="0">
                <a:latin typeface="Arial"/>
                <a:cs typeface="Arial"/>
              </a:rPr>
              <a:t>Maintain</a:t>
            </a:r>
            <a:r>
              <a:rPr sz="1000" spc="5" dirty="0">
                <a:latin typeface="Arial"/>
                <a:cs typeface="Arial"/>
              </a:rPr>
              <a:t> </a:t>
            </a:r>
            <a:r>
              <a:rPr sz="1000" spc="-5" dirty="0">
                <a:latin typeface="Arial"/>
                <a:cs typeface="Arial"/>
              </a:rPr>
              <a:t>more</a:t>
            </a:r>
            <a:r>
              <a:rPr sz="1000" spc="5" dirty="0">
                <a:latin typeface="Arial"/>
                <a:cs typeface="Arial"/>
              </a:rPr>
              <a:t> </a:t>
            </a:r>
            <a:r>
              <a:rPr sz="1000" spc="-5" dirty="0">
                <a:latin typeface="Arial"/>
                <a:cs typeface="Arial"/>
              </a:rPr>
              <a:t>than</a:t>
            </a:r>
            <a:r>
              <a:rPr sz="1000" spc="5" dirty="0">
                <a:latin typeface="Arial"/>
                <a:cs typeface="Arial"/>
              </a:rPr>
              <a:t> </a:t>
            </a:r>
            <a:r>
              <a:rPr sz="1000" spc="-5" dirty="0">
                <a:latin typeface="Arial"/>
                <a:cs typeface="Arial"/>
              </a:rPr>
              <a:t>one</a:t>
            </a:r>
            <a:r>
              <a:rPr sz="1000" spc="5" dirty="0">
                <a:latin typeface="Arial"/>
                <a:cs typeface="Arial"/>
              </a:rPr>
              <a:t> </a:t>
            </a:r>
            <a:r>
              <a:rPr sz="1000" spc="-5" dirty="0">
                <a:latin typeface="Arial"/>
                <a:cs typeface="Arial"/>
              </a:rPr>
              <a:t>possible</a:t>
            </a:r>
            <a:r>
              <a:rPr sz="1000" dirty="0">
                <a:latin typeface="Arial"/>
                <a:cs typeface="Arial"/>
              </a:rPr>
              <a:t> </a:t>
            </a:r>
            <a:r>
              <a:rPr sz="1000" spc="-10" dirty="0">
                <a:latin typeface="Arial"/>
                <a:cs typeface="Arial"/>
              </a:rPr>
              <a:t>successor, </a:t>
            </a:r>
            <a:r>
              <a:rPr sz="1000" spc="-260" dirty="0">
                <a:latin typeface="Arial"/>
                <a:cs typeface="Arial"/>
              </a:rPr>
              <a:t> </a:t>
            </a:r>
            <a:r>
              <a:rPr sz="1000" spc="-5" dirty="0">
                <a:latin typeface="Arial"/>
                <a:cs typeface="Arial"/>
              </a:rPr>
              <a:t>and</a:t>
            </a:r>
            <a:r>
              <a:rPr sz="1000" spc="-10" dirty="0">
                <a:latin typeface="Arial"/>
                <a:cs typeface="Arial"/>
              </a:rPr>
              <a:t> forward</a:t>
            </a:r>
            <a:r>
              <a:rPr sz="1000" spc="-5" dirty="0">
                <a:latin typeface="Arial"/>
                <a:cs typeface="Arial"/>
              </a:rPr>
              <a:t> to the closest.</a:t>
            </a:r>
            <a:endParaRPr sz="1000" dirty="0">
              <a:latin typeface="Arial"/>
              <a:cs typeface="Arial"/>
            </a:endParaRPr>
          </a:p>
          <a:p>
            <a:pPr marL="306070">
              <a:lnSpc>
                <a:spcPts val="1190"/>
              </a:lnSpc>
            </a:pPr>
            <a:r>
              <a:rPr sz="1000" spc="-5" dirty="0">
                <a:solidFill>
                  <a:srgbClr val="0000FA"/>
                </a:solidFill>
                <a:latin typeface="Arial"/>
                <a:cs typeface="Arial"/>
              </a:rPr>
              <a:t>Example:</a:t>
            </a:r>
            <a:r>
              <a:rPr sz="1000" spc="60" dirty="0">
                <a:solidFill>
                  <a:srgbClr val="0000FA"/>
                </a:solidFill>
                <a:latin typeface="Arial"/>
                <a:cs typeface="Arial"/>
              </a:rPr>
              <a:t> </a:t>
            </a:r>
            <a:r>
              <a:rPr sz="1000" spc="-5" dirty="0">
                <a:latin typeface="Arial"/>
                <a:cs typeface="Arial"/>
              </a:rPr>
              <a:t>in Chord</a:t>
            </a:r>
            <a:r>
              <a:rPr sz="1000" dirty="0">
                <a:latin typeface="Arial"/>
                <a:cs typeface="Arial"/>
              </a:rPr>
              <a:t> </a:t>
            </a:r>
            <a:r>
              <a:rPr sz="1000" i="1" spc="5" dirty="0">
                <a:latin typeface="Arial"/>
                <a:cs typeface="Arial"/>
              </a:rPr>
              <a:t>FT</a:t>
            </a:r>
            <a:r>
              <a:rPr sz="1050" i="1" spc="7" baseline="-11904" dirty="0">
                <a:latin typeface="Arial"/>
                <a:cs typeface="Arial"/>
              </a:rPr>
              <a:t>p</a:t>
            </a:r>
            <a:r>
              <a:rPr sz="1050" i="1" spc="-187" baseline="-11904" dirty="0">
                <a:latin typeface="Arial"/>
                <a:cs typeface="Arial"/>
              </a:rPr>
              <a:t> </a:t>
            </a:r>
            <a:r>
              <a:rPr sz="1000" dirty="0">
                <a:latin typeface="Arial"/>
                <a:cs typeface="Arial"/>
              </a:rPr>
              <a:t>[</a:t>
            </a:r>
            <a:r>
              <a:rPr sz="1000" i="1" dirty="0">
                <a:latin typeface="Arial"/>
                <a:cs typeface="Arial"/>
              </a:rPr>
              <a:t>i</a:t>
            </a:r>
            <a:r>
              <a:rPr sz="1000" i="1" spc="-195"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points to first</a:t>
            </a:r>
            <a:r>
              <a:rPr sz="1000" dirty="0">
                <a:latin typeface="Arial"/>
                <a:cs typeface="Arial"/>
              </a:rPr>
              <a:t> </a:t>
            </a:r>
            <a:r>
              <a:rPr sz="1000" spc="-5" dirty="0">
                <a:latin typeface="Arial"/>
                <a:cs typeface="Arial"/>
              </a:rPr>
              <a:t>node in</a:t>
            </a:r>
            <a:endParaRPr sz="1000" dirty="0">
              <a:latin typeface="Arial"/>
              <a:cs typeface="Arial"/>
            </a:endParaRPr>
          </a:p>
        </p:txBody>
      </p:sp>
      <p:sp>
        <p:nvSpPr>
          <p:cNvPr id="5" name="object 5"/>
          <p:cNvSpPr txBox="1"/>
          <p:nvPr/>
        </p:nvSpPr>
        <p:spPr>
          <a:xfrm>
            <a:off x="598995" y="2441021"/>
            <a:ext cx="3468370" cy="177800"/>
          </a:xfrm>
          <a:prstGeom prst="rect">
            <a:avLst/>
          </a:prstGeom>
        </p:spPr>
        <p:txBody>
          <a:bodyPr vert="horz" wrap="square" lIns="0" tIns="12065" rIns="0" bIns="0" rtlCol="0">
            <a:spAutoFit/>
          </a:bodyPr>
          <a:lstStyle/>
          <a:p>
            <a:pPr marL="38100">
              <a:lnSpc>
                <a:spcPct val="100000"/>
              </a:lnSpc>
              <a:spcBef>
                <a:spcPts val="95"/>
              </a:spcBef>
            </a:pPr>
            <a:r>
              <a:rPr sz="1000" i="1" spc="-5" dirty="0">
                <a:latin typeface="Arial"/>
                <a:cs typeface="Arial"/>
              </a:rPr>
              <a:t>INT</a:t>
            </a:r>
            <a:r>
              <a:rPr sz="1000" i="1" spc="80" dirty="0">
                <a:latin typeface="Arial"/>
                <a:cs typeface="Arial"/>
              </a:rPr>
              <a:t> </a:t>
            </a:r>
            <a:r>
              <a:rPr sz="1000" spc="190" dirty="0">
                <a:latin typeface="Arial"/>
                <a:cs typeface="Arial"/>
              </a:rPr>
              <a:t>=</a:t>
            </a:r>
            <a:r>
              <a:rPr sz="1000" spc="-60" dirty="0">
                <a:latin typeface="Arial"/>
                <a:cs typeface="Arial"/>
              </a:rPr>
              <a:t> </a:t>
            </a:r>
            <a:r>
              <a:rPr sz="1000" dirty="0">
                <a:latin typeface="Arial"/>
                <a:cs typeface="Arial"/>
              </a:rPr>
              <a:t>[</a:t>
            </a:r>
            <a:r>
              <a:rPr sz="1000" i="1" dirty="0">
                <a:latin typeface="Arial"/>
                <a:cs typeface="Arial"/>
              </a:rPr>
              <a:t>p</a:t>
            </a:r>
            <a:r>
              <a:rPr sz="1000" i="1" spc="-110" dirty="0">
                <a:latin typeface="Arial"/>
                <a:cs typeface="Arial"/>
              </a:rPr>
              <a:t> </a:t>
            </a:r>
            <a:r>
              <a:rPr sz="1000" spc="190" dirty="0">
                <a:latin typeface="Arial"/>
                <a:cs typeface="Arial"/>
              </a:rPr>
              <a:t>+</a:t>
            </a:r>
            <a:r>
              <a:rPr sz="1000" spc="-140" dirty="0">
                <a:latin typeface="Arial"/>
                <a:cs typeface="Arial"/>
              </a:rPr>
              <a:t> </a:t>
            </a:r>
            <a:r>
              <a:rPr sz="1000" spc="25" dirty="0">
                <a:latin typeface="Arial"/>
                <a:cs typeface="Arial"/>
              </a:rPr>
              <a:t>2</a:t>
            </a:r>
            <a:r>
              <a:rPr sz="1050" i="1" spc="37" baseline="27777" dirty="0">
                <a:latin typeface="Arial"/>
                <a:cs typeface="Arial"/>
              </a:rPr>
              <a:t>i</a:t>
            </a:r>
            <a:r>
              <a:rPr sz="1050" i="1" spc="37" baseline="27777" dirty="0">
                <a:latin typeface="メイリオ"/>
                <a:cs typeface="メイリオ"/>
              </a:rPr>
              <a:t>−</a:t>
            </a:r>
            <a:r>
              <a:rPr sz="1050" spc="37" baseline="27777" dirty="0">
                <a:latin typeface="Arial"/>
                <a:cs typeface="Arial"/>
              </a:rPr>
              <a:t>1</a:t>
            </a:r>
            <a:r>
              <a:rPr sz="1000" i="1" spc="25" dirty="0">
                <a:latin typeface="Arial"/>
                <a:cs typeface="Arial"/>
              </a:rPr>
              <a:t>,</a:t>
            </a:r>
            <a:r>
              <a:rPr sz="1000" i="1" spc="-170" dirty="0">
                <a:latin typeface="Arial"/>
                <a:cs typeface="Arial"/>
              </a:rPr>
              <a:t> </a:t>
            </a:r>
            <a:r>
              <a:rPr sz="1000" i="1" spc="-5" dirty="0">
                <a:latin typeface="Arial"/>
                <a:cs typeface="Arial"/>
              </a:rPr>
              <a:t>p</a:t>
            </a:r>
            <a:r>
              <a:rPr sz="1000" i="1" spc="-114" dirty="0">
                <a:latin typeface="Arial"/>
                <a:cs typeface="Arial"/>
              </a:rPr>
              <a:t> </a:t>
            </a:r>
            <a:r>
              <a:rPr sz="1000" spc="190" dirty="0">
                <a:latin typeface="Arial"/>
                <a:cs typeface="Arial"/>
              </a:rPr>
              <a:t>+</a:t>
            </a:r>
            <a:r>
              <a:rPr sz="1000" spc="-140" dirty="0">
                <a:latin typeface="Arial"/>
                <a:cs typeface="Arial"/>
              </a:rPr>
              <a:t> </a:t>
            </a:r>
            <a:r>
              <a:rPr sz="1000" dirty="0">
                <a:latin typeface="Arial"/>
                <a:cs typeface="Arial"/>
              </a:rPr>
              <a:t>2</a:t>
            </a:r>
            <a:r>
              <a:rPr sz="1050" i="1" baseline="27777" dirty="0">
                <a:latin typeface="Arial"/>
                <a:cs typeface="Arial"/>
              </a:rPr>
              <a:t>i</a:t>
            </a:r>
            <a:r>
              <a:rPr sz="1050" i="1" spc="89" baseline="27777" dirty="0">
                <a:latin typeface="Arial"/>
                <a:cs typeface="Arial"/>
              </a:rPr>
              <a:t> </a:t>
            </a:r>
            <a:r>
              <a:rPr sz="1000" i="1" spc="-30" dirty="0">
                <a:latin typeface="メイリオ"/>
                <a:cs typeface="メイリオ"/>
              </a:rPr>
              <a:t>−</a:t>
            </a:r>
            <a:r>
              <a:rPr sz="1000" i="1" spc="-204" dirty="0">
                <a:latin typeface="メイリオ"/>
                <a:cs typeface="メイリオ"/>
              </a:rPr>
              <a:t> </a:t>
            </a:r>
            <a:r>
              <a:rPr sz="1000" dirty="0">
                <a:latin typeface="Arial"/>
                <a:cs typeface="Arial"/>
              </a:rPr>
              <a:t>1].</a:t>
            </a:r>
            <a:r>
              <a:rPr sz="1000" spc="65" dirty="0">
                <a:latin typeface="Arial"/>
                <a:cs typeface="Arial"/>
              </a:rPr>
              <a:t> </a:t>
            </a:r>
            <a:r>
              <a:rPr sz="1000" spc="-5" dirty="0">
                <a:latin typeface="Arial"/>
                <a:cs typeface="Arial"/>
              </a:rPr>
              <a:t>Node </a:t>
            </a:r>
            <a:r>
              <a:rPr sz="1000" i="1" spc="-5" dirty="0">
                <a:latin typeface="Arial"/>
                <a:cs typeface="Arial"/>
              </a:rPr>
              <a:t>p</a:t>
            </a:r>
            <a:r>
              <a:rPr sz="1000" i="1" spc="25"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also store</a:t>
            </a:r>
            <a:r>
              <a:rPr sz="1000" dirty="0">
                <a:latin typeface="Arial"/>
                <a:cs typeface="Arial"/>
              </a:rPr>
              <a:t> </a:t>
            </a:r>
            <a:r>
              <a:rPr sz="1000" spc="-5" dirty="0">
                <a:latin typeface="Arial"/>
                <a:cs typeface="Arial"/>
              </a:rPr>
              <a:t>pointers to</a:t>
            </a:r>
            <a:endParaRPr sz="1000" dirty="0">
              <a:latin typeface="Arial"/>
              <a:cs typeface="Arial"/>
            </a:endParaRPr>
          </a:p>
        </p:txBody>
      </p:sp>
      <p:sp>
        <p:nvSpPr>
          <p:cNvPr id="6" name="object 6"/>
          <p:cNvSpPr txBox="1"/>
          <p:nvPr/>
        </p:nvSpPr>
        <p:spPr>
          <a:xfrm>
            <a:off x="431304" y="2516930"/>
            <a:ext cx="3855085" cy="633095"/>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other nodes in </a:t>
            </a:r>
            <a:r>
              <a:rPr sz="1000" i="1" spc="-5" dirty="0">
                <a:latin typeface="Arial"/>
                <a:cs typeface="Arial"/>
              </a:rPr>
              <a:t>INT</a:t>
            </a:r>
            <a:r>
              <a:rPr sz="1000" i="1" spc="-140" dirty="0">
                <a:latin typeface="Arial"/>
                <a:cs typeface="Arial"/>
              </a:rPr>
              <a:t> </a:t>
            </a:r>
            <a:r>
              <a:rPr sz="1000" spc="-5" dirty="0">
                <a:latin typeface="Arial"/>
                <a:cs typeface="Arial"/>
              </a:rPr>
              <a:t>.</a:t>
            </a:r>
            <a:endParaRPr sz="1000" dirty="0">
              <a:latin typeface="Arial"/>
              <a:cs typeface="Arial"/>
            </a:endParaRPr>
          </a:p>
          <a:p>
            <a:pPr marL="200660" marR="30480" indent="-163195">
              <a:lnSpc>
                <a:spcPct val="100000"/>
              </a:lnSpc>
              <a:spcBef>
                <a:spcPts val="590"/>
              </a:spcBef>
              <a:buClr>
                <a:srgbClr val="3333B2"/>
              </a:buClr>
              <a:buChar char="►"/>
              <a:tabLst>
                <a:tab pos="206375" algn="l"/>
              </a:tabLst>
            </a:pPr>
            <a:r>
              <a:rPr sz="1000" spc="-10" dirty="0">
                <a:solidFill>
                  <a:srgbClr val="FA0000"/>
                </a:solidFill>
                <a:latin typeface="Arial"/>
                <a:cs typeface="Arial"/>
              </a:rPr>
              <a:t>Proximity</a:t>
            </a:r>
            <a:r>
              <a:rPr sz="1000" spc="-5" dirty="0">
                <a:solidFill>
                  <a:srgbClr val="FA0000"/>
                </a:solidFill>
                <a:latin typeface="Arial"/>
                <a:cs typeface="Arial"/>
              </a:rPr>
              <a:t> neighbor</a:t>
            </a:r>
            <a:r>
              <a:rPr sz="1000" dirty="0">
                <a:solidFill>
                  <a:srgbClr val="FA0000"/>
                </a:solidFill>
                <a:latin typeface="Arial"/>
                <a:cs typeface="Arial"/>
              </a:rPr>
              <a:t> </a:t>
            </a:r>
            <a:r>
              <a:rPr sz="1000" spc="-5" dirty="0">
                <a:solidFill>
                  <a:srgbClr val="FA0000"/>
                </a:solidFill>
                <a:latin typeface="Arial"/>
                <a:cs typeface="Arial"/>
              </a:rPr>
              <a:t>selection</a:t>
            </a:r>
            <a:r>
              <a:rPr sz="1000" spc="-5" dirty="0">
                <a:latin typeface="Arial"/>
                <a:cs typeface="Arial"/>
              </a:rPr>
              <a:t>:</a:t>
            </a:r>
            <a:r>
              <a:rPr sz="1000" spc="65" dirty="0">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choice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selecting </a:t>
            </a:r>
            <a:r>
              <a:rPr sz="1000" spc="-265" dirty="0">
                <a:latin typeface="Arial"/>
                <a:cs typeface="Arial"/>
              </a:rPr>
              <a:t> </a:t>
            </a:r>
            <a:r>
              <a:rPr sz="1000" spc="-5" dirty="0">
                <a:latin typeface="Arial"/>
                <a:cs typeface="Arial"/>
              </a:rPr>
              <a:t>who </a:t>
            </a:r>
            <a:r>
              <a:rPr sz="1000" spc="-10" dirty="0">
                <a:latin typeface="Arial"/>
                <a:cs typeface="Arial"/>
              </a:rPr>
              <a:t>your</a:t>
            </a:r>
            <a:r>
              <a:rPr sz="1000" dirty="0">
                <a:latin typeface="Arial"/>
                <a:cs typeface="Arial"/>
              </a:rPr>
              <a:t> </a:t>
            </a:r>
            <a:r>
              <a:rPr sz="1000" spc="-5" dirty="0">
                <a:latin typeface="Arial"/>
                <a:cs typeface="Arial"/>
              </a:rPr>
              <a:t>neighbor</a:t>
            </a:r>
            <a:r>
              <a:rPr sz="1000" dirty="0">
                <a:latin typeface="Arial"/>
                <a:cs typeface="Arial"/>
              </a:rPr>
              <a:t> </a:t>
            </a:r>
            <a:r>
              <a:rPr sz="1000" spc="-5" dirty="0">
                <a:latin typeface="Arial"/>
                <a:cs typeface="Arial"/>
              </a:rPr>
              <a:t>will</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Chord), </a:t>
            </a:r>
            <a:r>
              <a:rPr sz="1000" spc="-10" dirty="0">
                <a:latin typeface="Arial"/>
                <a:cs typeface="Arial"/>
              </a:rPr>
              <a:t>pick</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closest</a:t>
            </a:r>
            <a:r>
              <a:rPr sz="1000" dirty="0">
                <a:latin typeface="Arial"/>
                <a:cs typeface="Arial"/>
              </a:rPr>
              <a:t> </a:t>
            </a:r>
            <a:r>
              <a:rPr sz="1000" spc="-10" dirty="0">
                <a:latin typeface="Arial"/>
                <a:cs typeface="Arial"/>
              </a:rPr>
              <a:t>one.</a:t>
            </a:r>
            <a:endParaRPr sz="1000" dirty="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43629"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Hierarchical</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3" name="object 3"/>
          <p:cNvSpPr txBox="1">
            <a:spLocks noGrp="1"/>
          </p:cNvSpPr>
          <p:nvPr>
            <p:ph type="title"/>
          </p:nvPr>
        </p:nvSpPr>
        <p:spPr>
          <a:xfrm>
            <a:off x="95300" y="188846"/>
            <a:ext cx="3006090" cy="244475"/>
          </a:xfrm>
          <a:prstGeom prst="rect">
            <a:avLst/>
          </a:prstGeom>
        </p:spPr>
        <p:txBody>
          <a:bodyPr vert="horz" wrap="square" lIns="0" tIns="17145" rIns="0" bIns="0" rtlCol="0">
            <a:spAutoFit/>
          </a:bodyPr>
          <a:lstStyle/>
          <a:p>
            <a:pPr marL="12700">
              <a:lnSpc>
                <a:spcPct val="100000"/>
              </a:lnSpc>
              <a:spcBef>
                <a:spcPts val="135"/>
              </a:spcBef>
            </a:pPr>
            <a:r>
              <a:rPr spc="10" dirty="0"/>
              <a:t>Hierarchical</a:t>
            </a:r>
            <a:r>
              <a:rPr spc="-5" dirty="0"/>
              <a:t> </a:t>
            </a:r>
            <a:r>
              <a:rPr spc="15" dirty="0"/>
              <a:t>Location</a:t>
            </a:r>
            <a:r>
              <a:rPr dirty="0"/>
              <a:t> </a:t>
            </a:r>
            <a:r>
              <a:rPr spc="20" dirty="0"/>
              <a:t>Services</a:t>
            </a:r>
            <a:r>
              <a:rPr dirty="0"/>
              <a:t> </a:t>
            </a:r>
            <a:r>
              <a:rPr spc="15" dirty="0"/>
              <a:t>(HLS)</a:t>
            </a:r>
          </a:p>
        </p:txBody>
      </p:sp>
      <p:sp>
        <p:nvSpPr>
          <p:cNvPr id="4" name="object 4"/>
          <p:cNvSpPr txBox="1"/>
          <p:nvPr/>
        </p:nvSpPr>
        <p:spPr>
          <a:xfrm>
            <a:off x="1293207" y="2814834"/>
            <a:ext cx="111760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A</a:t>
            </a:r>
            <a:r>
              <a:rPr sz="650" spc="-45" dirty="0">
                <a:latin typeface="Arial"/>
                <a:cs typeface="Arial"/>
              </a:rPr>
              <a:t> </a:t>
            </a:r>
            <a:r>
              <a:rPr sz="650" spc="5" dirty="0">
                <a:latin typeface="Arial"/>
                <a:cs typeface="Arial"/>
              </a:rPr>
              <a:t>leaf</a:t>
            </a:r>
            <a:r>
              <a:rPr sz="650" spc="-10" dirty="0">
                <a:latin typeface="Arial"/>
                <a:cs typeface="Arial"/>
              </a:rPr>
              <a:t> </a:t>
            </a:r>
            <a:r>
              <a:rPr sz="650" spc="5" dirty="0">
                <a:latin typeface="Arial"/>
                <a:cs typeface="Arial"/>
              </a:rPr>
              <a:t>domain,</a:t>
            </a:r>
            <a:r>
              <a:rPr sz="650" spc="-15" dirty="0">
                <a:latin typeface="Arial"/>
                <a:cs typeface="Arial"/>
              </a:rPr>
              <a:t> </a:t>
            </a:r>
            <a:r>
              <a:rPr sz="650" spc="5" dirty="0">
                <a:latin typeface="Arial"/>
                <a:cs typeface="Arial"/>
              </a:rPr>
              <a:t>contained</a:t>
            </a:r>
            <a:r>
              <a:rPr sz="650" spc="-10" dirty="0">
                <a:latin typeface="Arial"/>
                <a:cs typeface="Arial"/>
              </a:rPr>
              <a:t> </a:t>
            </a:r>
            <a:r>
              <a:rPr sz="650" spc="5" dirty="0">
                <a:latin typeface="Arial"/>
                <a:cs typeface="Arial"/>
              </a:rPr>
              <a:t>in</a:t>
            </a:r>
            <a:r>
              <a:rPr sz="650" spc="-10" dirty="0">
                <a:latin typeface="Arial"/>
                <a:cs typeface="Arial"/>
              </a:rPr>
              <a:t> </a:t>
            </a:r>
            <a:r>
              <a:rPr sz="650" spc="5" dirty="0">
                <a:latin typeface="Arial"/>
                <a:cs typeface="Arial"/>
              </a:rPr>
              <a:t>S</a:t>
            </a:r>
            <a:endParaRPr sz="650">
              <a:latin typeface="Arial"/>
              <a:cs typeface="Arial"/>
            </a:endParaRPr>
          </a:p>
        </p:txBody>
      </p:sp>
      <p:pic>
        <p:nvPicPr>
          <p:cNvPr id="5" name="object 5"/>
          <p:cNvPicPr/>
          <p:nvPr/>
        </p:nvPicPr>
        <p:blipFill>
          <a:blip r:embed="rId6" cstate="print"/>
          <a:stretch>
            <a:fillRect/>
          </a:stretch>
        </p:blipFill>
        <p:spPr>
          <a:xfrm>
            <a:off x="637514" y="1670741"/>
            <a:ext cx="2523336" cy="1139343"/>
          </a:xfrm>
          <a:prstGeom prst="rect">
            <a:avLst/>
          </a:prstGeom>
        </p:spPr>
      </p:pic>
      <p:sp>
        <p:nvSpPr>
          <p:cNvPr id="6" name="object 6"/>
          <p:cNvSpPr txBox="1"/>
          <p:nvPr/>
        </p:nvSpPr>
        <p:spPr>
          <a:xfrm>
            <a:off x="3010716" y="1844131"/>
            <a:ext cx="976630" cy="554355"/>
          </a:xfrm>
          <a:prstGeom prst="rect">
            <a:avLst/>
          </a:prstGeom>
        </p:spPr>
        <p:txBody>
          <a:bodyPr vert="horz" wrap="square" lIns="0" tIns="21590" rIns="0" bIns="0" rtlCol="0">
            <a:spAutoFit/>
          </a:bodyPr>
          <a:lstStyle/>
          <a:p>
            <a:pPr marL="12700" marR="275590">
              <a:lnSpc>
                <a:spcPts val="740"/>
              </a:lnSpc>
              <a:spcBef>
                <a:spcPts val="170"/>
              </a:spcBef>
            </a:pPr>
            <a:r>
              <a:rPr sz="650" spc="5" dirty="0">
                <a:latin typeface="Arial"/>
                <a:cs typeface="Arial"/>
              </a:rPr>
              <a:t>Directory node </a:t>
            </a:r>
            <a:r>
              <a:rPr sz="650" spc="10" dirty="0">
                <a:latin typeface="Arial"/>
                <a:cs typeface="Arial"/>
              </a:rPr>
              <a:t> </a:t>
            </a:r>
            <a:r>
              <a:rPr sz="650" spc="5" dirty="0">
                <a:latin typeface="Arial"/>
                <a:cs typeface="Arial"/>
              </a:rPr>
              <a:t>dir(S)</a:t>
            </a:r>
            <a:r>
              <a:rPr sz="650" spc="-25" dirty="0">
                <a:latin typeface="Arial"/>
                <a:cs typeface="Arial"/>
              </a:rPr>
              <a:t> </a:t>
            </a:r>
            <a:r>
              <a:rPr sz="650" spc="5" dirty="0">
                <a:latin typeface="Arial"/>
                <a:cs typeface="Arial"/>
              </a:rPr>
              <a:t>of</a:t>
            </a:r>
            <a:r>
              <a:rPr sz="650" spc="-25" dirty="0">
                <a:latin typeface="Arial"/>
                <a:cs typeface="Arial"/>
              </a:rPr>
              <a:t> </a:t>
            </a:r>
            <a:r>
              <a:rPr sz="650" spc="5" dirty="0">
                <a:latin typeface="Arial"/>
                <a:cs typeface="Arial"/>
              </a:rPr>
              <a:t>domain</a:t>
            </a:r>
            <a:r>
              <a:rPr sz="650" spc="-25" dirty="0">
                <a:latin typeface="Arial"/>
                <a:cs typeface="Arial"/>
              </a:rPr>
              <a:t> </a:t>
            </a:r>
            <a:r>
              <a:rPr sz="650" spc="5" dirty="0">
                <a:latin typeface="Arial"/>
                <a:cs typeface="Arial"/>
              </a:rPr>
              <a:t>S</a:t>
            </a:r>
            <a:endParaRPr sz="650">
              <a:latin typeface="Arial"/>
              <a:cs typeface="Arial"/>
            </a:endParaRPr>
          </a:p>
          <a:p>
            <a:pPr marL="177165">
              <a:lnSpc>
                <a:spcPts val="760"/>
              </a:lnSpc>
              <a:spcBef>
                <a:spcPts val="345"/>
              </a:spcBef>
            </a:pPr>
            <a:r>
              <a:rPr sz="650" spc="5" dirty="0">
                <a:latin typeface="Arial"/>
                <a:cs typeface="Arial"/>
              </a:rPr>
              <a:t>A</a:t>
            </a:r>
            <a:r>
              <a:rPr sz="650" spc="-35" dirty="0">
                <a:latin typeface="Arial"/>
                <a:cs typeface="Arial"/>
              </a:rPr>
              <a:t> </a:t>
            </a:r>
            <a:r>
              <a:rPr sz="650" spc="5" dirty="0">
                <a:latin typeface="Arial"/>
                <a:cs typeface="Arial"/>
              </a:rPr>
              <a:t>subdomain</a:t>
            </a:r>
            <a:r>
              <a:rPr sz="650" dirty="0">
                <a:latin typeface="Arial"/>
                <a:cs typeface="Arial"/>
              </a:rPr>
              <a:t> </a:t>
            </a:r>
            <a:r>
              <a:rPr sz="650" spc="5" dirty="0">
                <a:latin typeface="Arial"/>
                <a:cs typeface="Arial"/>
              </a:rPr>
              <a:t>S</a:t>
            </a:r>
            <a:endParaRPr sz="650">
              <a:latin typeface="Arial"/>
              <a:cs typeface="Arial"/>
            </a:endParaRPr>
          </a:p>
          <a:p>
            <a:pPr marL="177165" marR="5080">
              <a:lnSpc>
                <a:spcPts val="740"/>
              </a:lnSpc>
              <a:spcBef>
                <a:spcPts val="40"/>
              </a:spcBef>
            </a:pPr>
            <a:r>
              <a:rPr sz="650" spc="5" dirty="0">
                <a:latin typeface="Arial"/>
                <a:cs typeface="Arial"/>
              </a:rPr>
              <a:t>of</a:t>
            </a:r>
            <a:r>
              <a:rPr sz="650" spc="-25" dirty="0">
                <a:latin typeface="Arial"/>
                <a:cs typeface="Arial"/>
              </a:rPr>
              <a:t> </a:t>
            </a:r>
            <a:r>
              <a:rPr sz="650" spc="5" dirty="0">
                <a:latin typeface="Arial"/>
                <a:cs typeface="Arial"/>
              </a:rPr>
              <a:t>top-level</a:t>
            </a:r>
            <a:r>
              <a:rPr sz="650" spc="-25" dirty="0">
                <a:latin typeface="Arial"/>
                <a:cs typeface="Arial"/>
              </a:rPr>
              <a:t> </a:t>
            </a:r>
            <a:r>
              <a:rPr sz="650" spc="5" dirty="0">
                <a:latin typeface="Arial"/>
                <a:cs typeface="Arial"/>
              </a:rPr>
              <a:t>domain</a:t>
            </a:r>
            <a:r>
              <a:rPr sz="650" spc="-30" dirty="0">
                <a:latin typeface="Arial"/>
                <a:cs typeface="Arial"/>
              </a:rPr>
              <a:t> </a:t>
            </a:r>
            <a:r>
              <a:rPr sz="650" spc="5" dirty="0">
                <a:latin typeface="Arial"/>
                <a:cs typeface="Arial"/>
              </a:rPr>
              <a:t>T </a:t>
            </a:r>
            <a:r>
              <a:rPr sz="650" spc="-165" dirty="0">
                <a:latin typeface="Arial"/>
                <a:cs typeface="Arial"/>
              </a:rPr>
              <a:t> </a:t>
            </a:r>
            <a:r>
              <a:rPr sz="650" spc="5" dirty="0">
                <a:latin typeface="Arial"/>
                <a:cs typeface="Arial"/>
              </a:rPr>
              <a:t>(S</a:t>
            </a:r>
            <a:r>
              <a:rPr sz="650" spc="-15" dirty="0">
                <a:latin typeface="Arial"/>
                <a:cs typeface="Arial"/>
              </a:rPr>
              <a:t> </a:t>
            </a:r>
            <a:r>
              <a:rPr sz="650" spc="5" dirty="0">
                <a:latin typeface="Arial"/>
                <a:cs typeface="Arial"/>
              </a:rPr>
              <a:t>is</a:t>
            </a:r>
            <a:r>
              <a:rPr sz="650" spc="-15" dirty="0">
                <a:latin typeface="Arial"/>
                <a:cs typeface="Arial"/>
              </a:rPr>
              <a:t> </a:t>
            </a:r>
            <a:r>
              <a:rPr sz="650" spc="5" dirty="0">
                <a:latin typeface="Arial"/>
                <a:cs typeface="Arial"/>
              </a:rPr>
              <a:t>contained</a:t>
            </a:r>
            <a:r>
              <a:rPr sz="650" spc="-15" dirty="0">
                <a:latin typeface="Arial"/>
                <a:cs typeface="Arial"/>
              </a:rPr>
              <a:t> </a:t>
            </a:r>
            <a:r>
              <a:rPr sz="650" spc="5" dirty="0">
                <a:latin typeface="Arial"/>
                <a:cs typeface="Arial"/>
              </a:rPr>
              <a:t>in</a:t>
            </a:r>
            <a:r>
              <a:rPr sz="650" spc="-20" dirty="0">
                <a:latin typeface="Arial"/>
                <a:cs typeface="Arial"/>
              </a:rPr>
              <a:t> </a:t>
            </a:r>
            <a:r>
              <a:rPr sz="650" spc="5" dirty="0">
                <a:latin typeface="Arial"/>
                <a:cs typeface="Arial"/>
              </a:rPr>
              <a:t>T)</a:t>
            </a:r>
            <a:endParaRPr sz="65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16</a:t>
            </a:r>
            <a:r>
              <a:rPr spc="-40" dirty="0"/>
              <a:t> </a:t>
            </a:r>
            <a:r>
              <a:rPr spc="-5" dirty="0"/>
              <a:t>/</a:t>
            </a:r>
            <a:r>
              <a:rPr spc="-35" dirty="0"/>
              <a:t> </a:t>
            </a:r>
            <a:r>
              <a:rPr spc="-5" dirty="0"/>
              <a:t>46</a:t>
            </a:r>
          </a:p>
        </p:txBody>
      </p:sp>
      <p:sp>
        <p:nvSpPr>
          <p:cNvPr id="7" name="object 7"/>
          <p:cNvSpPr txBox="1"/>
          <p:nvPr/>
        </p:nvSpPr>
        <p:spPr>
          <a:xfrm>
            <a:off x="2697268" y="1560286"/>
            <a:ext cx="375920" cy="220979"/>
          </a:xfrm>
          <a:prstGeom prst="rect">
            <a:avLst/>
          </a:prstGeom>
        </p:spPr>
        <p:txBody>
          <a:bodyPr vert="horz" wrap="square" lIns="0" tIns="21590" rIns="0" bIns="0" rtlCol="0">
            <a:spAutoFit/>
          </a:bodyPr>
          <a:lstStyle/>
          <a:p>
            <a:pPr marL="12700" marR="5080">
              <a:lnSpc>
                <a:spcPts val="740"/>
              </a:lnSpc>
              <a:spcBef>
                <a:spcPts val="170"/>
              </a:spcBef>
            </a:pPr>
            <a:r>
              <a:rPr sz="650" spc="-5" dirty="0">
                <a:latin typeface="Arial"/>
                <a:cs typeface="Arial"/>
              </a:rPr>
              <a:t>Top-level </a:t>
            </a:r>
            <a:r>
              <a:rPr sz="650" spc="-170" dirty="0">
                <a:latin typeface="Arial"/>
                <a:cs typeface="Arial"/>
              </a:rPr>
              <a:t> </a:t>
            </a:r>
            <a:r>
              <a:rPr sz="650" spc="5" dirty="0">
                <a:latin typeface="Arial"/>
                <a:cs typeface="Arial"/>
              </a:rPr>
              <a:t>domain</a:t>
            </a:r>
            <a:r>
              <a:rPr sz="650" spc="-10" dirty="0">
                <a:latin typeface="Arial"/>
                <a:cs typeface="Arial"/>
              </a:rPr>
              <a:t> </a:t>
            </a:r>
            <a:r>
              <a:rPr sz="650" spc="5" dirty="0">
                <a:latin typeface="Arial"/>
                <a:cs typeface="Arial"/>
              </a:rPr>
              <a:t>T</a:t>
            </a:r>
            <a:endParaRPr sz="650">
              <a:latin typeface="Arial"/>
              <a:cs typeface="Arial"/>
            </a:endParaRPr>
          </a:p>
        </p:txBody>
      </p:sp>
      <p:sp>
        <p:nvSpPr>
          <p:cNvPr id="8" name="object 8"/>
          <p:cNvSpPr txBox="1"/>
          <p:nvPr/>
        </p:nvSpPr>
        <p:spPr>
          <a:xfrm>
            <a:off x="347294" y="509242"/>
            <a:ext cx="3783329" cy="113347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a:latin typeface="Arial"/>
              <a:cs typeface="Arial"/>
            </a:endParaRPr>
          </a:p>
          <a:p>
            <a:pPr marL="12700" marR="5080">
              <a:lnSpc>
                <a:spcPts val="1200"/>
              </a:lnSpc>
              <a:spcBef>
                <a:spcPts val="10"/>
              </a:spcBef>
            </a:pPr>
            <a:r>
              <a:rPr sz="1000" spc="-5" dirty="0">
                <a:latin typeface="Arial"/>
                <a:cs typeface="Arial"/>
              </a:rPr>
              <a:t>Build</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large-scale</a:t>
            </a:r>
            <a:r>
              <a:rPr sz="1000" spc="5" dirty="0">
                <a:latin typeface="Arial"/>
                <a:cs typeface="Arial"/>
              </a:rPr>
              <a:t> </a:t>
            </a:r>
            <a:r>
              <a:rPr sz="1000" spc="-5" dirty="0">
                <a:latin typeface="Arial"/>
                <a:cs typeface="Arial"/>
              </a:rPr>
              <a:t>search</a:t>
            </a:r>
            <a:r>
              <a:rPr sz="1000" dirty="0">
                <a:latin typeface="Arial"/>
                <a:cs typeface="Arial"/>
              </a:rPr>
              <a:t> </a:t>
            </a:r>
            <a:r>
              <a:rPr sz="1000" spc="-5" dirty="0">
                <a:latin typeface="Arial"/>
                <a:cs typeface="Arial"/>
              </a:rPr>
              <a:t>tree</a:t>
            </a:r>
            <a:r>
              <a:rPr sz="1000" spc="5"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which</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underlying</a:t>
            </a:r>
            <a:r>
              <a:rPr sz="1000" spc="5" dirty="0">
                <a:latin typeface="Arial"/>
                <a:cs typeface="Arial"/>
              </a:rPr>
              <a:t> </a:t>
            </a:r>
            <a:r>
              <a:rPr sz="1000" spc="-5" dirty="0">
                <a:latin typeface="Arial"/>
                <a:cs typeface="Arial"/>
              </a:rPr>
              <a:t>network</a:t>
            </a:r>
            <a:r>
              <a:rPr sz="1000" dirty="0">
                <a:latin typeface="Arial"/>
                <a:cs typeface="Arial"/>
              </a:rPr>
              <a:t> </a:t>
            </a:r>
            <a:r>
              <a:rPr sz="1000" spc="-5" dirty="0">
                <a:latin typeface="Arial"/>
                <a:cs typeface="Arial"/>
              </a:rPr>
              <a:t>is </a:t>
            </a:r>
            <a:r>
              <a:rPr sz="1000" dirty="0">
                <a:latin typeface="Arial"/>
                <a:cs typeface="Arial"/>
              </a:rPr>
              <a:t> </a:t>
            </a:r>
            <a:r>
              <a:rPr sz="1000" spc="-5" dirty="0">
                <a:latin typeface="Arial"/>
                <a:cs typeface="Arial"/>
              </a:rPr>
              <a:t>divided</a:t>
            </a:r>
            <a:r>
              <a:rPr sz="1000" dirty="0">
                <a:latin typeface="Arial"/>
                <a:cs typeface="Arial"/>
              </a:rPr>
              <a:t> </a:t>
            </a:r>
            <a:r>
              <a:rPr sz="1000" spc="-5" dirty="0">
                <a:latin typeface="Arial"/>
                <a:cs typeface="Arial"/>
              </a:rPr>
              <a:t>into</a:t>
            </a:r>
            <a:r>
              <a:rPr sz="1000" dirty="0">
                <a:latin typeface="Arial"/>
                <a:cs typeface="Arial"/>
              </a:rPr>
              <a:t> </a:t>
            </a:r>
            <a:r>
              <a:rPr sz="1000" spc="-5" dirty="0">
                <a:latin typeface="Arial"/>
                <a:cs typeface="Arial"/>
              </a:rPr>
              <a:t>hierarchical</a:t>
            </a:r>
            <a:r>
              <a:rPr sz="1000" dirty="0">
                <a:latin typeface="Arial"/>
                <a:cs typeface="Arial"/>
              </a:rPr>
              <a:t> </a:t>
            </a:r>
            <a:r>
              <a:rPr sz="1000" spc="-5" dirty="0">
                <a:latin typeface="Arial"/>
                <a:cs typeface="Arial"/>
              </a:rPr>
              <a:t>domains.</a:t>
            </a:r>
            <a:r>
              <a:rPr sz="1000" spc="65"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domain</a:t>
            </a:r>
            <a:r>
              <a:rPr sz="1000"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represented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 </a:t>
            </a:r>
            <a:r>
              <a:rPr sz="1000" spc="-265" dirty="0">
                <a:latin typeface="Arial"/>
                <a:cs typeface="Arial"/>
              </a:rPr>
              <a:t> </a:t>
            </a:r>
            <a:r>
              <a:rPr sz="1000" spc="-5" dirty="0">
                <a:latin typeface="Arial"/>
                <a:cs typeface="Arial"/>
              </a:rPr>
              <a:t>separate</a:t>
            </a:r>
            <a:r>
              <a:rPr sz="1000" spc="-10" dirty="0">
                <a:latin typeface="Arial"/>
                <a:cs typeface="Arial"/>
              </a:rPr>
              <a:t> </a:t>
            </a:r>
            <a:r>
              <a:rPr sz="1000" dirty="0">
                <a:latin typeface="Arial"/>
                <a:cs typeface="Arial"/>
              </a:rPr>
              <a:t>directory</a:t>
            </a:r>
            <a:r>
              <a:rPr sz="1000" spc="-5" dirty="0">
                <a:latin typeface="Arial"/>
                <a:cs typeface="Arial"/>
              </a:rPr>
              <a:t> node.</a:t>
            </a:r>
            <a:endParaRPr sz="1000">
              <a:latin typeface="Arial"/>
              <a:cs typeface="Arial"/>
            </a:endParaRPr>
          </a:p>
          <a:p>
            <a:pPr marL="12700">
              <a:lnSpc>
                <a:spcPct val="100000"/>
              </a:lnSpc>
              <a:spcBef>
                <a:spcPts val="645"/>
              </a:spcBef>
            </a:pPr>
            <a:r>
              <a:rPr sz="1200" spc="-5" dirty="0">
                <a:solidFill>
                  <a:srgbClr val="3333B2"/>
                </a:solidFill>
                <a:latin typeface="Arial"/>
                <a:cs typeface="Arial"/>
              </a:rPr>
              <a:t>Principle</a:t>
            </a:r>
            <a:endParaRPr sz="1200">
              <a:latin typeface="Arial"/>
              <a:cs typeface="Arial"/>
            </a:endParaRPr>
          </a:p>
          <a:p>
            <a:pPr marL="657860">
              <a:lnSpc>
                <a:spcPct val="100000"/>
              </a:lnSpc>
              <a:spcBef>
                <a:spcPts val="835"/>
              </a:spcBef>
            </a:pPr>
            <a:r>
              <a:rPr sz="650" spc="5" dirty="0">
                <a:latin typeface="Arial"/>
                <a:cs typeface="Arial"/>
              </a:rPr>
              <a:t>The</a:t>
            </a:r>
            <a:r>
              <a:rPr sz="650" spc="-25" dirty="0">
                <a:latin typeface="Arial"/>
                <a:cs typeface="Arial"/>
              </a:rPr>
              <a:t> </a:t>
            </a:r>
            <a:r>
              <a:rPr sz="650" spc="5" dirty="0">
                <a:latin typeface="Arial"/>
                <a:cs typeface="Arial"/>
              </a:rPr>
              <a:t>root</a:t>
            </a:r>
            <a:r>
              <a:rPr sz="650" spc="-25" dirty="0">
                <a:latin typeface="Arial"/>
                <a:cs typeface="Arial"/>
              </a:rPr>
              <a:t> </a:t>
            </a:r>
            <a:r>
              <a:rPr sz="650" spc="5" dirty="0">
                <a:latin typeface="Arial"/>
                <a:cs typeface="Arial"/>
              </a:rPr>
              <a:t>directory</a:t>
            </a:r>
            <a:endParaRPr sz="650">
              <a:latin typeface="Arial"/>
              <a:cs typeface="Arial"/>
            </a:endParaRPr>
          </a:p>
        </p:txBody>
      </p:sp>
      <p:sp>
        <p:nvSpPr>
          <p:cNvPr id="9" name="object 9"/>
          <p:cNvSpPr txBox="1"/>
          <p:nvPr/>
        </p:nvSpPr>
        <p:spPr>
          <a:xfrm>
            <a:off x="1116370" y="1609623"/>
            <a:ext cx="438150" cy="127000"/>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node dir(T)</a:t>
            </a:r>
            <a:endParaRPr sz="65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98214" y="716"/>
            <a:ext cx="843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187706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HLS:</a:t>
            </a:r>
            <a:r>
              <a:rPr sz="1400" spc="-25" dirty="0">
                <a:solidFill>
                  <a:srgbClr val="3333B2"/>
                </a:solidFill>
                <a:latin typeface="Arial"/>
                <a:cs typeface="Arial"/>
              </a:rPr>
              <a:t> </a:t>
            </a:r>
            <a:r>
              <a:rPr sz="1400" spc="-30" dirty="0">
                <a:solidFill>
                  <a:srgbClr val="3333B2"/>
                </a:solidFill>
                <a:latin typeface="Arial"/>
                <a:cs typeface="Arial"/>
              </a:rPr>
              <a:t>Tree</a:t>
            </a:r>
            <a:r>
              <a:rPr sz="1400" spc="-20" dirty="0">
                <a:solidFill>
                  <a:srgbClr val="3333B2"/>
                </a:solidFill>
                <a:latin typeface="Arial"/>
                <a:cs typeface="Arial"/>
              </a:rPr>
              <a:t> </a:t>
            </a:r>
            <a:r>
              <a:rPr sz="1400" spc="15" dirty="0">
                <a:solidFill>
                  <a:srgbClr val="3333B2"/>
                </a:solidFill>
                <a:latin typeface="Arial"/>
                <a:cs typeface="Arial"/>
              </a:rPr>
              <a:t>organization</a:t>
            </a:r>
            <a:endParaRPr sz="1400">
              <a:latin typeface="Arial"/>
              <a:cs typeface="Arial"/>
            </a:endParaRPr>
          </a:p>
        </p:txBody>
      </p:sp>
      <p:grpSp>
        <p:nvGrpSpPr>
          <p:cNvPr id="5" name="object 5"/>
          <p:cNvGrpSpPr/>
          <p:nvPr/>
        </p:nvGrpSpPr>
        <p:grpSpPr>
          <a:xfrm>
            <a:off x="1835016" y="2009437"/>
            <a:ext cx="1691639" cy="1216025"/>
            <a:chOff x="1835016" y="2009437"/>
            <a:chExt cx="1691639" cy="1216025"/>
          </a:xfrm>
        </p:grpSpPr>
        <p:sp>
          <p:nvSpPr>
            <p:cNvPr id="6" name="object 6"/>
            <p:cNvSpPr/>
            <p:nvPr/>
          </p:nvSpPr>
          <p:spPr>
            <a:xfrm>
              <a:off x="2346117" y="2340983"/>
              <a:ext cx="259079" cy="146050"/>
            </a:xfrm>
            <a:custGeom>
              <a:avLst/>
              <a:gdLst/>
              <a:ahLst/>
              <a:cxnLst/>
              <a:rect l="l" t="t" r="r" b="b"/>
              <a:pathLst>
                <a:path w="259080" h="146050">
                  <a:moveTo>
                    <a:pt x="258781" y="0"/>
                  </a:moveTo>
                  <a:lnTo>
                    <a:pt x="0" y="145971"/>
                  </a:lnTo>
                </a:path>
              </a:pathLst>
            </a:custGeom>
            <a:ln w="10541">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2313577" y="2441011"/>
              <a:ext cx="80438" cy="64308"/>
            </a:xfrm>
            <a:prstGeom prst="rect">
              <a:avLst/>
            </a:prstGeom>
          </p:spPr>
        </p:pic>
        <p:pic>
          <p:nvPicPr>
            <p:cNvPr id="8" name="object 8"/>
            <p:cNvPicPr/>
            <p:nvPr/>
          </p:nvPicPr>
          <p:blipFill>
            <a:blip r:embed="rId7" cstate="print"/>
            <a:stretch>
              <a:fillRect/>
            </a:stretch>
          </p:blipFill>
          <p:spPr>
            <a:xfrm>
              <a:off x="2711679" y="2335713"/>
              <a:ext cx="184552" cy="169607"/>
            </a:xfrm>
            <a:prstGeom prst="rect">
              <a:avLst/>
            </a:prstGeom>
          </p:spPr>
        </p:pic>
        <p:sp>
          <p:nvSpPr>
            <p:cNvPr id="9" name="object 9"/>
            <p:cNvSpPr/>
            <p:nvPr/>
          </p:nvSpPr>
          <p:spPr>
            <a:xfrm>
              <a:off x="2767894" y="2101945"/>
              <a:ext cx="606425" cy="169545"/>
            </a:xfrm>
            <a:custGeom>
              <a:avLst/>
              <a:gdLst/>
              <a:ahLst/>
              <a:cxnLst/>
              <a:rect l="l" t="t" r="r" b="b"/>
              <a:pathLst>
                <a:path w="606425" h="169544">
                  <a:moveTo>
                    <a:pt x="606413" y="0"/>
                  </a:moveTo>
                  <a:lnTo>
                    <a:pt x="0" y="169225"/>
                  </a:lnTo>
                </a:path>
              </a:pathLst>
            </a:custGeom>
            <a:ln w="10541">
              <a:solidFill>
                <a:srgbClr val="231F20"/>
              </a:solidFill>
            </a:ln>
          </p:spPr>
          <p:txBody>
            <a:bodyPr wrap="square" lIns="0" tIns="0" rIns="0" bIns="0" rtlCol="0"/>
            <a:lstStyle/>
            <a:p>
              <a:endParaRPr/>
            </a:p>
          </p:txBody>
        </p:sp>
        <p:pic>
          <p:nvPicPr>
            <p:cNvPr id="10" name="object 10"/>
            <p:cNvPicPr/>
            <p:nvPr/>
          </p:nvPicPr>
          <p:blipFill>
            <a:blip r:embed="rId8" cstate="print"/>
            <a:stretch>
              <a:fillRect/>
            </a:stretch>
          </p:blipFill>
          <p:spPr>
            <a:xfrm>
              <a:off x="2591471" y="2230524"/>
              <a:ext cx="367161" cy="157912"/>
            </a:xfrm>
            <a:prstGeom prst="rect">
              <a:avLst/>
            </a:prstGeom>
          </p:spPr>
        </p:pic>
        <p:sp>
          <p:nvSpPr>
            <p:cNvPr id="11" name="object 11"/>
            <p:cNvSpPr/>
            <p:nvPr/>
          </p:nvSpPr>
          <p:spPr>
            <a:xfrm>
              <a:off x="3374307" y="2012294"/>
              <a:ext cx="149860" cy="149860"/>
            </a:xfrm>
            <a:custGeom>
              <a:avLst/>
              <a:gdLst/>
              <a:ahLst/>
              <a:cxnLst/>
              <a:rect l="l" t="t" r="r" b="b"/>
              <a:pathLst>
                <a:path w="149860" h="149860">
                  <a:moveTo>
                    <a:pt x="74704" y="0"/>
                  </a:moveTo>
                  <a:lnTo>
                    <a:pt x="103731" y="5886"/>
                  </a:lnTo>
                  <a:lnTo>
                    <a:pt x="127478" y="21923"/>
                  </a:lnTo>
                  <a:lnTo>
                    <a:pt x="143512" y="45674"/>
                  </a:lnTo>
                  <a:lnTo>
                    <a:pt x="149397" y="74704"/>
                  </a:lnTo>
                  <a:lnTo>
                    <a:pt x="143512" y="103733"/>
                  </a:lnTo>
                  <a:lnTo>
                    <a:pt x="127478" y="127484"/>
                  </a:lnTo>
                  <a:lnTo>
                    <a:pt x="103731" y="143521"/>
                  </a:lnTo>
                  <a:lnTo>
                    <a:pt x="74704" y="149408"/>
                  </a:lnTo>
                  <a:lnTo>
                    <a:pt x="45674" y="143521"/>
                  </a:lnTo>
                  <a:lnTo>
                    <a:pt x="21923" y="127484"/>
                  </a:lnTo>
                  <a:lnTo>
                    <a:pt x="5886" y="103733"/>
                  </a:lnTo>
                  <a:lnTo>
                    <a:pt x="0" y="74704"/>
                  </a:lnTo>
                  <a:lnTo>
                    <a:pt x="5886" y="45676"/>
                  </a:lnTo>
                  <a:lnTo>
                    <a:pt x="21923" y="21929"/>
                  </a:lnTo>
                  <a:lnTo>
                    <a:pt x="45674" y="5895"/>
                  </a:lnTo>
                  <a:lnTo>
                    <a:pt x="74704" y="10"/>
                  </a:lnTo>
                  <a:close/>
                </a:path>
              </a:pathLst>
            </a:custGeom>
            <a:ln w="5267">
              <a:solidFill>
                <a:srgbClr val="231F20"/>
              </a:solidFill>
            </a:ln>
          </p:spPr>
          <p:txBody>
            <a:bodyPr wrap="square" lIns="0" tIns="0" rIns="0" bIns="0" rtlCol="0"/>
            <a:lstStyle/>
            <a:p>
              <a:endParaRPr/>
            </a:p>
          </p:txBody>
        </p:sp>
        <p:sp>
          <p:nvSpPr>
            <p:cNvPr id="12" name="object 12"/>
            <p:cNvSpPr/>
            <p:nvPr/>
          </p:nvSpPr>
          <p:spPr>
            <a:xfrm>
              <a:off x="2194053" y="2490381"/>
              <a:ext cx="149860" cy="149860"/>
            </a:xfrm>
            <a:custGeom>
              <a:avLst/>
              <a:gdLst/>
              <a:ahLst/>
              <a:cxnLst/>
              <a:rect l="l" t="t" r="r" b="b"/>
              <a:pathLst>
                <a:path w="149860" h="149860">
                  <a:moveTo>
                    <a:pt x="74693" y="0"/>
                  </a:moveTo>
                  <a:lnTo>
                    <a:pt x="45665" y="5886"/>
                  </a:lnTo>
                  <a:lnTo>
                    <a:pt x="21917" y="21922"/>
                  </a:lnTo>
                  <a:lnTo>
                    <a:pt x="5884" y="45673"/>
                  </a:lnTo>
                  <a:lnTo>
                    <a:pt x="0" y="74705"/>
                  </a:lnTo>
                  <a:lnTo>
                    <a:pt x="5885" y="103732"/>
                  </a:lnTo>
                  <a:lnTo>
                    <a:pt x="21918" y="127481"/>
                  </a:lnTo>
                  <a:lnTo>
                    <a:pt x="45666" y="143516"/>
                  </a:lnTo>
                  <a:lnTo>
                    <a:pt x="74693" y="149402"/>
                  </a:lnTo>
                  <a:lnTo>
                    <a:pt x="103722" y="143516"/>
                  </a:lnTo>
                  <a:lnTo>
                    <a:pt x="127473" y="127481"/>
                  </a:lnTo>
                  <a:lnTo>
                    <a:pt x="143510" y="103732"/>
                  </a:lnTo>
                  <a:lnTo>
                    <a:pt x="149397" y="74705"/>
                  </a:lnTo>
                  <a:lnTo>
                    <a:pt x="143509" y="45671"/>
                  </a:lnTo>
                  <a:lnTo>
                    <a:pt x="127471" y="21920"/>
                  </a:lnTo>
                  <a:lnTo>
                    <a:pt x="103719" y="5885"/>
                  </a:lnTo>
                  <a:lnTo>
                    <a:pt x="74693" y="0"/>
                  </a:lnTo>
                  <a:close/>
                </a:path>
              </a:pathLst>
            </a:custGeom>
            <a:solidFill>
              <a:srgbClr val="FFFFFF"/>
            </a:solidFill>
          </p:spPr>
          <p:txBody>
            <a:bodyPr wrap="square" lIns="0" tIns="0" rIns="0" bIns="0" rtlCol="0"/>
            <a:lstStyle/>
            <a:p>
              <a:endParaRPr/>
            </a:p>
          </p:txBody>
        </p:sp>
        <p:sp>
          <p:nvSpPr>
            <p:cNvPr id="13" name="object 13"/>
            <p:cNvSpPr/>
            <p:nvPr/>
          </p:nvSpPr>
          <p:spPr>
            <a:xfrm>
              <a:off x="2194053" y="2490381"/>
              <a:ext cx="149860" cy="149860"/>
            </a:xfrm>
            <a:custGeom>
              <a:avLst/>
              <a:gdLst/>
              <a:ahLst/>
              <a:cxnLst/>
              <a:rect l="l" t="t" r="r" b="b"/>
              <a:pathLst>
                <a:path w="149860" h="149860">
                  <a:moveTo>
                    <a:pt x="74693" y="0"/>
                  </a:moveTo>
                  <a:lnTo>
                    <a:pt x="103722" y="5886"/>
                  </a:lnTo>
                  <a:lnTo>
                    <a:pt x="127473" y="21922"/>
                  </a:lnTo>
                  <a:lnTo>
                    <a:pt x="143510" y="45673"/>
                  </a:lnTo>
                  <a:lnTo>
                    <a:pt x="149397" y="74705"/>
                  </a:lnTo>
                  <a:lnTo>
                    <a:pt x="143510" y="103732"/>
                  </a:lnTo>
                  <a:lnTo>
                    <a:pt x="127473" y="127481"/>
                  </a:lnTo>
                  <a:lnTo>
                    <a:pt x="103722" y="143516"/>
                  </a:lnTo>
                  <a:lnTo>
                    <a:pt x="74693" y="149402"/>
                  </a:lnTo>
                  <a:lnTo>
                    <a:pt x="45666" y="143516"/>
                  </a:lnTo>
                  <a:lnTo>
                    <a:pt x="21918" y="127481"/>
                  </a:lnTo>
                  <a:lnTo>
                    <a:pt x="5885" y="103732"/>
                  </a:lnTo>
                  <a:lnTo>
                    <a:pt x="0" y="74705"/>
                  </a:lnTo>
                  <a:lnTo>
                    <a:pt x="5885" y="45671"/>
                  </a:lnTo>
                  <a:lnTo>
                    <a:pt x="21918" y="21920"/>
                  </a:lnTo>
                  <a:lnTo>
                    <a:pt x="45666" y="5885"/>
                  </a:lnTo>
                  <a:lnTo>
                    <a:pt x="74693" y="0"/>
                  </a:lnTo>
                  <a:close/>
                </a:path>
              </a:pathLst>
            </a:custGeom>
            <a:ln w="5267">
              <a:solidFill>
                <a:srgbClr val="231F20"/>
              </a:solidFill>
            </a:ln>
          </p:spPr>
          <p:txBody>
            <a:bodyPr wrap="square" lIns="0" tIns="0" rIns="0" bIns="0" rtlCol="0"/>
            <a:lstStyle/>
            <a:p>
              <a:endParaRPr/>
            </a:p>
          </p:txBody>
        </p:sp>
        <p:sp>
          <p:nvSpPr>
            <p:cNvPr id="14" name="object 14"/>
            <p:cNvSpPr/>
            <p:nvPr/>
          </p:nvSpPr>
          <p:spPr>
            <a:xfrm>
              <a:off x="2881284" y="2475438"/>
              <a:ext cx="149860" cy="149860"/>
            </a:xfrm>
            <a:custGeom>
              <a:avLst/>
              <a:gdLst/>
              <a:ahLst/>
              <a:cxnLst/>
              <a:rect l="l" t="t" r="r" b="b"/>
              <a:pathLst>
                <a:path w="149860" h="149860">
                  <a:moveTo>
                    <a:pt x="74714" y="4"/>
                  </a:moveTo>
                  <a:lnTo>
                    <a:pt x="45679" y="5889"/>
                  </a:lnTo>
                  <a:lnTo>
                    <a:pt x="21925" y="21924"/>
                  </a:lnTo>
                  <a:lnTo>
                    <a:pt x="5887" y="45674"/>
                  </a:lnTo>
                  <a:lnTo>
                    <a:pt x="0" y="74705"/>
                  </a:lnTo>
                  <a:lnTo>
                    <a:pt x="5887" y="103732"/>
                  </a:lnTo>
                  <a:lnTo>
                    <a:pt x="21925" y="127481"/>
                  </a:lnTo>
                  <a:lnTo>
                    <a:pt x="45679" y="143516"/>
                  </a:lnTo>
                  <a:lnTo>
                    <a:pt x="74714" y="149402"/>
                  </a:lnTo>
                  <a:lnTo>
                    <a:pt x="103737" y="143516"/>
                  </a:lnTo>
                  <a:lnTo>
                    <a:pt x="127485" y="127481"/>
                  </a:lnTo>
                  <a:lnTo>
                    <a:pt x="143521" y="103732"/>
                  </a:lnTo>
                  <a:lnTo>
                    <a:pt x="149408" y="74705"/>
                  </a:lnTo>
                  <a:lnTo>
                    <a:pt x="143521" y="45675"/>
                  </a:lnTo>
                  <a:lnTo>
                    <a:pt x="127485" y="21924"/>
                  </a:lnTo>
                  <a:lnTo>
                    <a:pt x="103737" y="5887"/>
                  </a:lnTo>
                  <a:lnTo>
                    <a:pt x="74714" y="0"/>
                  </a:lnTo>
                  <a:close/>
                </a:path>
              </a:pathLst>
            </a:custGeom>
            <a:solidFill>
              <a:srgbClr val="FFFFFF"/>
            </a:solidFill>
          </p:spPr>
          <p:txBody>
            <a:bodyPr wrap="square" lIns="0" tIns="0" rIns="0" bIns="0" rtlCol="0"/>
            <a:lstStyle/>
            <a:p>
              <a:endParaRPr/>
            </a:p>
          </p:txBody>
        </p:sp>
        <p:sp>
          <p:nvSpPr>
            <p:cNvPr id="15" name="object 15"/>
            <p:cNvSpPr/>
            <p:nvPr/>
          </p:nvSpPr>
          <p:spPr>
            <a:xfrm>
              <a:off x="2194053" y="2475438"/>
              <a:ext cx="836930" cy="508000"/>
            </a:xfrm>
            <a:custGeom>
              <a:avLst/>
              <a:gdLst/>
              <a:ahLst/>
              <a:cxnLst/>
              <a:rect l="l" t="t" r="r" b="b"/>
              <a:pathLst>
                <a:path w="836930" h="508000">
                  <a:moveTo>
                    <a:pt x="761945" y="0"/>
                  </a:moveTo>
                  <a:lnTo>
                    <a:pt x="790968" y="5887"/>
                  </a:lnTo>
                  <a:lnTo>
                    <a:pt x="814716" y="21924"/>
                  </a:lnTo>
                  <a:lnTo>
                    <a:pt x="830752" y="45675"/>
                  </a:lnTo>
                  <a:lnTo>
                    <a:pt x="836639" y="74705"/>
                  </a:lnTo>
                  <a:lnTo>
                    <a:pt x="830752" y="103732"/>
                  </a:lnTo>
                  <a:lnTo>
                    <a:pt x="814716" y="127481"/>
                  </a:lnTo>
                  <a:lnTo>
                    <a:pt x="790968" y="143516"/>
                  </a:lnTo>
                  <a:lnTo>
                    <a:pt x="761945" y="149402"/>
                  </a:lnTo>
                  <a:lnTo>
                    <a:pt x="732910" y="143516"/>
                  </a:lnTo>
                  <a:lnTo>
                    <a:pt x="709156" y="127481"/>
                  </a:lnTo>
                  <a:lnTo>
                    <a:pt x="693118" y="103732"/>
                  </a:lnTo>
                  <a:lnTo>
                    <a:pt x="687231" y="74705"/>
                  </a:lnTo>
                  <a:lnTo>
                    <a:pt x="693118" y="45674"/>
                  </a:lnTo>
                  <a:lnTo>
                    <a:pt x="709156" y="21924"/>
                  </a:lnTo>
                  <a:lnTo>
                    <a:pt x="732910" y="5889"/>
                  </a:lnTo>
                  <a:lnTo>
                    <a:pt x="761945" y="4"/>
                  </a:lnTo>
                  <a:close/>
                </a:path>
                <a:path w="836930" h="508000">
                  <a:moveTo>
                    <a:pt x="74693" y="358563"/>
                  </a:moveTo>
                  <a:lnTo>
                    <a:pt x="103722" y="364450"/>
                  </a:lnTo>
                  <a:lnTo>
                    <a:pt x="127473" y="380486"/>
                  </a:lnTo>
                  <a:lnTo>
                    <a:pt x="143510" y="404236"/>
                  </a:lnTo>
                  <a:lnTo>
                    <a:pt x="149397" y="433264"/>
                  </a:lnTo>
                  <a:lnTo>
                    <a:pt x="143510" y="462291"/>
                  </a:lnTo>
                  <a:lnTo>
                    <a:pt x="127473" y="486041"/>
                  </a:lnTo>
                  <a:lnTo>
                    <a:pt x="103722" y="502078"/>
                  </a:lnTo>
                  <a:lnTo>
                    <a:pt x="74693" y="507965"/>
                  </a:lnTo>
                  <a:lnTo>
                    <a:pt x="45666" y="502079"/>
                  </a:lnTo>
                  <a:lnTo>
                    <a:pt x="21918" y="486043"/>
                  </a:lnTo>
                  <a:lnTo>
                    <a:pt x="5885" y="462293"/>
                  </a:lnTo>
                  <a:lnTo>
                    <a:pt x="0" y="433264"/>
                  </a:lnTo>
                  <a:lnTo>
                    <a:pt x="5885" y="404235"/>
                  </a:lnTo>
                  <a:lnTo>
                    <a:pt x="21918" y="380486"/>
                  </a:lnTo>
                  <a:lnTo>
                    <a:pt x="45666" y="364452"/>
                  </a:lnTo>
                  <a:lnTo>
                    <a:pt x="74693" y="358566"/>
                  </a:lnTo>
                  <a:close/>
                </a:path>
                <a:path w="836930" h="508000">
                  <a:moveTo>
                    <a:pt x="74693" y="164345"/>
                  </a:moveTo>
                  <a:lnTo>
                    <a:pt x="74693" y="358563"/>
                  </a:lnTo>
                </a:path>
                <a:path w="836930" h="508000">
                  <a:moveTo>
                    <a:pt x="134460" y="134459"/>
                  </a:moveTo>
                  <a:lnTo>
                    <a:pt x="343615" y="373501"/>
                  </a:lnTo>
                </a:path>
              </a:pathLst>
            </a:custGeom>
            <a:ln w="5267">
              <a:solidFill>
                <a:srgbClr val="231F20"/>
              </a:solidFill>
            </a:ln>
          </p:spPr>
          <p:txBody>
            <a:bodyPr wrap="square" lIns="0" tIns="0" rIns="0" bIns="0" rtlCol="0"/>
            <a:lstStyle/>
            <a:p>
              <a:endParaRPr/>
            </a:p>
          </p:txBody>
        </p:sp>
        <p:sp>
          <p:nvSpPr>
            <p:cNvPr id="16" name="object 16"/>
            <p:cNvSpPr/>
            <p:nvPr/>
          </p:nvSpPr>
          <p:spPr>
            <a:xfrm>
              <a:off x="1837556" y="2776310"/>
              <a:ext cx="269240" cy="269240"/>
            </a:xfrm>
            <a:custGeom>
              <a:avLst/>
              <a:gdLst/>
              <a:ahLst/>
              <a:cxnLst/>
              <a:rect l="l" t="t" r="r" b="b"/>
              <a:pathLst>
                <a:path w="269239" h="269239">
                  <a:moveTo>
                    <a:pt x="134460" y="4"/>
                  </a:moveTo>
                  <a:lnTo>
                    <a:pt x="92039" y="6878"/>
                  </a:lnTo>
                  <a:lnTo>
                    <a:pt x="55138" y="26005"/>
                  </a:lnTo>
                  <a:lnTo>
                    <a:pt x="26002" y="55140"/>
                  </a:lnTo>
                  <a:lnTo>
                    <a:pt x="6874" y="92041"/>
                  </a:lnTo>
                  <a:lnTo>
                    <a:pt x="0" y="134464"/>
                  </a:lnTo>
                  <a:lnTo>
                    <a:pt x="6874" y="176884"/>
                  </a:lnTo>
                  <a:lnTo>
                    <a:pt x="26002" y="213785"/>
                  </a:lnTo>
                  <a:lnTo>
                    <a:pt x="55138" y="242921"/>
                  </a:lnTo>
                  <a:lnTo>
                    <a:pt x="92039" y="262050"/>
                  </a:lnTo>
                  <a:lnTo>
                    <a:pt x="134460" y="268927"/>
                  </a:lnTo>
                  <a:lnTo>
                    <a:pt x="176884" y="262052"/>
                  </a:lnTo>
                  <a:lnTo>
                    <a:pt x="213785" y="242923"/>
                  </a:lnTo>
                  <a:lnTo>
                    <a:pt x="242921" y="213786"/>
                  </a:lnTo>
                  <a:lnTo>
                    <a:pt x="262047" y="176884"/>
                  </a:lnTo>
                  <a:lnTo>
                    <a:pt x="268921" y="134464"/>
                  </a:lnTo>
                  <a:lnTo>
                    <a:pt x="262047" y="92041"/>
                  </a:lnTo>
                  <a:lnTo>
                    <a:pt x="242921" y="55139"/>
                  </a:lnTo>
                  <a:lnTo>
                    <a:pt x="213785" y="26002"/>
                  </a:lnTo>
                  <a:lnTo>
                    <a:pt x="176884" y="6874"/>
                  </a:lnTo>
                  <a:lnTo>
                    <a:pt x="134460" y="0"/>
                  </a:lnTo>
                  <a:close/>
                </a:path>
              </a:pathLst>
            </a:custGeom>
            <a:solidFill>
              <a:srgbClr val="808285"/>
            </a:solidFill>
          </p:spPr>
          <p:txBody>
            <a:bodyPr wrap="square" lIns="0" tIns="0" rIns="0" bIns="0" rtlCol="0"/>
            <a:lstStyle/>
            <a:p>
              <a:endParaRPr/>
            </a:p>
          </p:txBody>
        </p:sp>
        <p:sp>
          <p:nvSpPr>
            <p:cNvPr id="17" name="object 17"/>
            <p:cNvSpPr/>
            <p:nvPr/>
          </p:nvSpPr>
          <p:spPr>
            <a:xfrm>
              <a:off x="1837556" y="2776311"/>
              <a:ext cx="269240" cy="269240"/>
            </a:xfrm>
            <a:custGeom>
              <a:avLst/>
              <a:gdLst/>
              <a:ahLst/>
              <a:cxnLst/>
              <a:rect l="l" t="t" r="r" b="b"/>
              <a:pathLst>
                <a:path w="269239" h="269239">
                  <a:moveTo>
                    <a:pt x="134458" y="0"/>
                  </a:moveTo>
                  <a:lnTo>
                    <a:pt x="176881" y="6874"/>
                  </a:lnTo>
                  <a:lnTo>
                    <a:pt x="213783" y="26002"/>
                  </a:lnTo>
                  <a:lnTo>
                    <a:pt x="242918" y="55139"/>
                  </a:lnTo>
                  <a:lnTo>
                    <a:pt x="262045" y="92041"/>
                  </a:lnTo>
                  <a:lnTo>
                    <a:pt x="268919" y="134464"/>
                  </a:lnTo>
                  <a:lnTo>
                    <a:pt x="262045" y="176884"/>
                  </a:lnTo>
                  <a:lnTo>
                    <a:pt x="242918" y="213786"/>
                  </a:lnTo>
                  <a:lnTo>
                    <a:pt x="213783" y="242923"/>
                  </a:lnTo>
                  <a:lnTo>
                    <a:pt x="176881" y="262052"/>
                  </a:lnTo>
                  <a:lnTo>
                    <a:pt x="134458" y="268927"/>
                  </a:lnTo>
                  <a:lnTo>
                    <a:pt x="92038" y="262050"/>
                  </a:lnTo>
                  <a:lnTo>
                    <a:pt x="55138" y="242921"/>
                  </a:lnTo>
                  <a:lnTo>
                    <a:pt x="26002" y="213785"/>
                  </a:lnTo>
                  <a:lnTo>
                    <a:pt x="6874" y="176884"/>
                  </a:lnTo>
                  <a:lnTo>
                    <a:pt x="0" y="134464"/>
                  </a:lnTo>
                  <a:lnTo>
                    <a:pt x="6874" y="92041"/>
                  </a:lnTo>
                  <a:lnTo>
                    <a:pt x="26002" y="55140"/>
                  </a:lnTo>
                  <a:lnTo>
                    <a:pt x="55138" y="26005"/>
                  </a:lnTo>
                  <a:lnTo>
                    <a:pt x="92038" y="6878"/>
                  </a:lnTo>
                  <a:lnTo>
                    <a:pt x="134458" y="4"/>
                  </a:lnTo>
                  <a:close/>
                </a:path>
              </a:pathLst>
            </a:custGeom>
            <a:ln w="4741">
              <a:solidFill>
                <a:srgbClr val="231F20"/>
              </a:solidFill>
              <a:prstDash val="lgDash"/>
            </a:ln>
          </p:spPr>
          <p:txBody>
            <a:bodyPr wrap="square" lIns="0" tIns="0" rIns="0" bIns="0" rtlCol="0"/>
            <a:lstStyle/>
            <a:p>
              <a:endParaRPr/>
            </a:p>
          </p:txBody>
        </p:sp>
        <p:sp>
          <p:nvSpPr>
            <p:cNvPr id="18" name="object 18"/>
            <p:cNvSpPr/>
            <p:nvPr/>
          </p:nvSpPr>
          <p:spPr>
            <a:xfrm>
              <a:off x="1895251" y="2834002"/>
              <a:ext cx="149860" cy="149860"/>
            </a:xfrm>
            <a:custGeom>
              <a:avLst/>
              <a:gdLst/>
              <a:ahLst/>
              <a:cxnLst/>
              <a:rect l="l" t="t" r="r" b="b"/>
              <a:pathLst>
                <a:path w="149860" h="149860">
                  <a:moveTo>
                    <a:pt x="74699" y="3"/>
                  </a:moveTo>
                  <a:lnTo>
                    <a:pt x="45671" y="5888"/>
                  </a:lnTo>
                  <a:lnTo>
                    <a:pt x="21921" y="21923"/>
                  </a:lnTo>
                  <a:lnTo>
                    <a:pt x="5886" y="45671"/>
                  </a:lnTo>
                  <a:lnTo>
                    <a:pt x="0" y="74700"/>
                  </a:lnTo>
                  <a:lnTo>
                    <a:pt x="5886" y="103729"/>
                  </a:lnTo>
                  <a:lnTo>
                    <a:pt x="21921" y="127479"/>
                  </a:lnTo>
                  <a:lnTo>
                    <a:pt x="45671" y="143515"/>
                  </a:lnTo>
                  <a:lnTo>
                    <a:pt x="74699" y="149401"/>
                  </a:lnTo>
                  <a:lnTo>
                    <a:pt x="103727" y="143514"/>
                  </a:lnTo>
                  <a:lnTo>
                    <a:pt x="127474" y="127478"/>
                  </a:lnTo>
                  <a:lnTo>
                    <a:pt x="143508" y="103728"/>
                  </a:lnTo>
                  <a:lnTo>
                    <a:pt x="149393" y="74700"/>
                  </a:lnTo>
                  <a:lnTo>
                    <a:pt x="143508" y="45673"/>
                  </a:lnTo>
                  <a:lnTo>
                    <a:pt x="127474" y="21923"/>
                  </a:lnTo>
                  <a:lnTo>
                    <a:pt x="103727" y="5886"/>
                  </a:lnTo>
                  <a:lnTo>
                    <a:pt x="74699" y="0"/>
                  </a:lnTo>
                  <a:close/>
                </a:path>
              </a:pathLst>
            </a:custGeom>
            <a:solidFill>
              <a:srgbClr val="FFFFFF"/>
            </a:solidFill>
          </p:spPr>
          <p:txBody>
            <a:bodyPr wrap="square" lIns="0" tIns="0" rIns="0" bIns="0" rtlCol="0"/>
            <a:lstStyle/>
            <a:p>
              <a:endParaRPr/>
            </a:p>
          </p:txBody>
        </p:sp>
        <p:sp>
          <p:nvSpPr>
            <p:cNvPr id="19" name="object 19"/>
            <p:cNvSpPr/>
            <p:nvPr/>
          </p:nvSpPr>
          <p:spPr>
            <a:xfrm>
              <a:off x="1895251" y="2834002"/>
              <a:ext cx="149860" cy="149860"/>
            </a:xfrm>
            <a:custGeom>
              <a:avLst/>
              <a:gdLst/>
              <a:ahLst/>
              <a:cxnLst/>
              <a:rect l="l" t="t" r="r" b="b"/>
              <a:pathLst>
                <a:path w="149860" h="149860">
                  <a:moveTo>
                    <a:pt x="74699" y="0"/>
                  </a:moveTo>
                  <a:lnTo>
                    <a:pt x="103727" y="5886"/>
                  </a:lnTo>
                  <a:lnTo>
                    <a:pt x="127474" y="21923"/>
                  </a:lnTo>
                  <a:lnTo>
                    <a:pt x="143508" y="45673"/>
                  </a:lnTo>
                  <a:lnTo>
                    <a:pt x="149393" y="74700"/>
                  </a:lnTo>
                  <a:lnTo>
                    <a:pt x="143508" y="103728"/>
                  </a:lnTo>
                  <a:lnTo>
                    <a:pt x="127474" y="127478"/>
                  </a:lnTo>
                  <a:lnTo>
                    <a:pt x="103727" y="143514"/>
                  </a:lnTo>
                  <a:lnTo>
                    <a:pt x="74699" y="149401"/>
                  </a:lnTo>
                  <a:lnTo>
                    <a:pt x="45671" y="143515"/>
                  </a:lnTo>
                  <a:lnTo>
                    <a:pt x="21921" y="127479"/>
                  </a:lnTo>
                  <a:lnTo>
                    <a:pt x="5886" y="103729"/>
                  </a:lnTo>
                  <a:lnTo>
                    <a:pt x="0" y="74700"/>
                  </a:lnTo>
                  <a:lnTo>
                    <a:pt x="5886" y="45671"/>
                  </a:lnTo>
                  <a:lnTo>
                    <a:pt x="21921" y="21923"/>
                  </a:lnTo>
                  <a:lnTo>
                    <a:pt x="45671" y="5888"/>
                  </a:lnTo>
                  <a:lnTo>
                    <a:pt x="74699" y="3"/>
                  </a:lnTo>
                  <a:close/>
                </a:path>
              </a:pathLst>
            </a:custGeom>
            <a:ln w="5267">
              <a:solidFill>
                <a:srgbClr val="231F20"/>
              </a:solidFill>
            </a:ln>
          </p:spPr>
          <p:txBody>
            <a:bodyPr wrap="square" lIns="0" tIns="0" rIns="0" bIns="0" rtlCol="0"/>
            <a:lstStyle/>
            <a:p>
              <a:endParaRPr/>
            </a:p>
          </p:txBody>
        </p:sp>
        <p:sp>
          <p:nvSpPr>
            <p:cNvPr id="20" name="object 20"/>
            <p:cNvSpPr/>
            <p:nvPr/>
          </p:nvSpPr>
          <p:spPr>
            <a:xfrm>
              <a:off x="2036338" y="2609898"/>
              <a:ext cx="172720" cy="208915"/>
            </a:xfrm>
            <a:custGeom>
              <a:avLst/>
              <a:gdLst/>
              <a:ahLst/>
              <a:cxnLst/>
              <a:rect l="l" t="t" r="r" b="b"/>
              <a:pathLst>
                <a:path w="172719" h="208914">
                  <a:moveTo>
                    <a:pt x="172651" y="0"/>
                  </a:moveTo>
                  <a:lnTo>
                    <a:pt x="0" y="208674"/>
                  </a:lnTo>
                </a:path>
              </a:pathLst>
            </a:custGeom>
            <a:ln w="10541">
              <a:solidFill>
                <a:srgbClr val="231F20"/>
              </a:solidFill>
            </a:ln>
          </p:spPr>
          <p:txBody>
            <a:bodyPr wrap="square" lIns="0" tIns="0" rIns="0" bIns="0" rtlCol="0"/>
            <a:lstStyle/>
            <a:p>
              <a:endParaRPr/>
            </a:p>
          </p:txBody>
        </p:sp>
        <p:sp>
          <p:nvSpPr>
            <p:cNvPr id="21" name="object 21"/>
            <p:cNvSpPr/>
            <p:nvPr/>
          </p:nvSpPr>
          <p:spPr>
            <a:xfrm>
              <a:off x="2012516" y="2769746"/>
              <a:ext cx="72390" cy="78105"/>
            </a:xfrm>
            <a:custGeom>
              <a:avLst/>
              <a:gdLst/>
              <a:ahLst/>
              <a:cxnLst/>
              <a:rect l="l" t="t" r="r" b="b"/>
              <a:pathLst>
                <a:path w="72389" h="78105">
                  <a:moveTo>
                    <a:pt x="22852" y="0"/>
                  </a:moveTo>
                  <a:lnTo>
                    <a:pt x="0" y="77624"/>
                  </a:lnTo>
                  <a:lnTo>
                    <a:pt x="71963" y="40636"/>
                  </a:lnTo>
                  <a:lnTo>
                    <a:pt x="55877" y="35082"/>
                  </a:lnTo>
                  <a:lnTo>
                    <a:pt x="42328" y="26457"/>
                  </a:lnTo>
                  <a:lnTo>
                    <a:pt x="31319" y="14763"/>
                  </a:lnTo>
                  <a:lnTo>
                    <a:pt x="22852" y="0"/>
                  </a:lnTo>
                  <a:close/>
                </a:path>
              </a:pathLst>
            </a:custGeom>
            <a:solidFill>
              <a:srgbClr val="231F20"/>
            </a:solidFill>
          </p:spPr>
          <p:txBody>
            <a:bodyPr wrap="square" lIns="0" tIns="0" rIns="0" bIns="0" rtlCol="0"/>
            <a:lstStyle/>
            <a:p>
              <a:endParaRPr/>
            </a:p>
          </p:txBody>
        </p:sp>
        <p:sp>
          <p:nvSpPr>
            <p:cNvPr id="22" name="object 22"/>
            <p:cNvSpPr/>
            <p:nvPr/>
          </p:nvSpPr>
          <p:spPr>
            <a:xfrm>
              <a:off x="2492848" y="2834002"/>
              <a:ext cx="149860" cy="149860"/>
            </a:xfrm>
            <a:custGeom>
              <a:avLst/>
              <a:gdLst/>
              <a:ahLst/>
              <a:cxnLst/>
              <a:rect l="l" t="t" r="r" b="b"/>
              <a:pathLst>
                <a:path w="149860" h="149860">
                  <a:moveTo>
                    <a:pt x="74704" y="3"/>
                  </a:moveTo>
                  <a:lnTo>
                    <a:pt x="45674" y="5888"/>
                  </a:lnTo>
                  <a:lnTo>
                    <a:pt x="21923" y="21923"/>
                  </a:lnTo>
                  <a:lnTo>
                    <a:pt x="5886" y="45671"/>
                  </a:lnTo>
                  <a:lnTo>
                    <a:pt x="0" y="74700"/>
                  </a:lnTo>
                  <a:lnTo>
                    <a:pt x="5886" y="103729"/>
                  </a:lnTo>
                  <a:lnTo>
                    <a:pt x="21923" y="127479"/>
                  </a:lnTo>
                  <a:lnTo>
                    <a:pt x="45674" y="143515"/>
                  </a:lnTo>
                  <a:lnTo>
                    <a:pt x="74704" y="149401"/>
                  </a:lnTo>
                  <a:lnTo>
                    <a:pt x="103727" y="143514"/>
                  </a:lnTo>
                  <a:lnTo>
                    <a:pt x="127474" y="127478"/>
                  </a:lnTo>
                  <a:lnTo>
                    <a:pt x="143510" y="103728"/>
                  </a:lnTo>
                  <a:lnTo>
                    <a:pt x="149397" y="74700"/>
                  </a:lnTo>
                  <a:lnTo>
                    <a:pt x="143512" y="45673"/>
                  </a:lnTo>
                  <a:lnTo>
                    <a:pt x="127478" y="21923"/>
                  </a:lnTo>
                  <a:lnTo>
                    <a:pt x="103731" y="5886"/>
                  </a:lnTo>
                  <a:lnTo>
                    <a:pt x="74704" y="0"/>
                  </a:lnTo>
                  <a:close/>
                </a:path>
              </a:pathLst>
            </a:custGeom>
            <a:solidFill>
              <a:srgbClr val="FFFFFF"/>
            </a:solidFill>
          </p:spPr>
          <p:txBody>
            <a:bodyPr wrap="square" lIns="0" tIns="0" rIns="0" bIns="0" rtlCol="0"/>
            <a:lstStyle/>
            <a:p>
              <a:endParaRPr/>
            </a:p>
          </p:txBody>
        </p:sp>
        <p:sp>
          <p:nvSpPr>
            <p:cNvPr id="23" name="object 23"/>
            <p:cNvSpPr/>
            <p:nvPr/>
          </p:nvSpPr>
          <p:spPr>
            <a:xfrm>
              <a:off x="2492848" y="2834002"/>
              <a:ext cx="149860" cy="149860"/>
            </a:xfrm>
            <a:custGeom>
              <a:avLst/>
              <a:gdLst/>
              <a:ahLst/>
              <a:cxnLst/>
              <a:rect l="l" t="t" r="r" b="b"/>
              <a:pathLst>
                <a:path w="149860" h="149860">
                  <a:moveTo>
                    <a:pt x="74704" y="0"/>
                  </a:moveTo>
                  <a:lnTo>
                    <a:pt x="103731" y="5886"/>
                  </a:lnTo>
                  <a:lnTo>
                    <a:pt x="127478" y="21923"/>
                  </a:lnTo>
                  <a:lnTo>
                    <a:pt x="143512" y="45673"/>
                  </a:lnTo>
                  <a:lnTo>
                    <a:pt x="149397" y="74700"/>
                  </a:lnTo>
                  <a:lnTo>
                    <a:pt x="143510" y="103728"/>
                  </a:lnTo>
                  <a:lnTo>
                    <a:pt x="127474" y="127478"/>
                  </a:lnTo>
                  <a:lnTo>
                    <a:pt x="103727" y="143514"/>
                  </a:lnTo>
                  <a:lnTo>
                    <a:pt x="74704" y="149401"/>
                  </a:lnTo>
                  <a:lnTo>
                    <a:pt x="45674" y="143515"/>
                  </a:lnTo>
                  <a:lnTo>
                    <a:pt x="21923" y="127479"/>
                  </a:lnTo>
                  <a:lnTo>
                    <a:pt x="5886" y="103729"/>
                  </a:lnTo>
                  <a:lnTo>
                    <a:pt x="0" y="74700"/>
                  </a:lnTo>
                  <a:lnTo>
                    <a:pt x="5886" y="45671"/>
                  </a:lnTo>
                  <a:lnTo>
                    <a:pt x="21923" y="21923"/>
                  </a:lnTo>
                  <a:lnTo>
                    <a:pt x="45674" y="5888"/>
                  </a:lnTo>
                  <a:lnTo>
                    <a:pt x="74704" y="3"/>
                  </a:lnTo>
                  <a:close/>
                </a:path>
              </a:pathLst>
            </a:custGeom>
            <a:ln w="5267">
              <a:solidFill>
                <a:srgbClr val="231F20"/>
              </a:solidFill>
            </a:ln>
          </p:spPr>
          <p:txBody>
            <a:bodyPr wrap="square" lIns="0" tIns="0" rIns="0" bIns="0" rtlCol="0"/>
            <a:lstStyle/>
            <a:p>
              <a:endParaRPr/>
            </a:p>
          </p:txBody>
        </p:sp>
        <p:sp>
          <p:nvSpPr>
            <p:cNvPr id="24" name="object 24"/>
            <p:cNvSpPr/>
            <p:nvPr/>
          </p:nvSpPr>
          <p:spPr>
            <a:xfrm>
              <a:off x="2955998" y="2385799"/>
              <a:ext cx="209550" cy="60325"/>
            </a:xfrm>
            <a:custGeom>
              <a:avLst/>
              <a:gdLst/>
              <a:ahLst/>
              <a:cxnLst/>
              <a:rect l="l" t="t" r="r" b="b"/>
              <a:pathLst>
                <a:path w="209550" h="60325">
                  <a:moveTo>
                    <a:pt x="0" y="0"/>
                  </a:moveTo>
                  <a:lnTo>
                    <a:pt x="209154" y="59763"/>
                  </a:lnTo>
                </a:path>
              </a:pathLst>
            </a:custGeom>
            <a:ln w="5267">
              <a:solidFill>
                <a:srgbClr val="231F20"/>
              </a:solidFill>
              <a:prstDash val="lgDash"/>
            </a:ln>
          </p:spPr>
          <p:txBody>
            <a:bodyPr wrap="square" lIns="0" tIns="0" rIns="0" bIns="0" rtlCol="0"/>
            <a:lstStyle/>
            <a:p>
              <a:endParaRPr/>
            </a:p>
          </p:txBody>
        </p:sp>
        <p:sp>
          <p:nvSpPr>
            <p:cNvPr id="25" name="object 25"/>
            <p:cNvSpPr/>
            <p:nvPr/>
          </p:nvSpPr>
          <p:spPr>
            <a:xfrm>
              <a:off x="2731886" y="2609898"/>
              <a:ext cx="179705" cy="374015"/>
            </a:xfrm>
            <a:custGeom>
              <a:avLst/>
              <a:gdLst/>
              <a:ahLst/>
              <a:cxnLst/>
              <a:rect l="l" t="t" r="r" b="b"/>
              <a:pathLst>
                <a:path w="179705" h="374014">
                  <a:moveTo>
                    <a:pt x="74704" y="224103"/>
                  </a:moveTo>
                  <a:lnTo>
                    <a:pt x="103731" y="229990"/>
                  </a:lnTo>
                  <a:lnTo>
                    <a:pt x="127478" y="246026"/>
                  </a:lnTo>
                  <a:lnTo>
                    <a:pt x="143512" y="269776"/>
                  </a:lnTo>
                  <a:lnTo>
                    <a:pt x="149397" y="298804"/>
                  </a:lnTo>
                  <a:lnTo>
                    <a:pt x="143512" y="327831"/>
                  </a:lnTo>
                  <a:lnTo>
                    <a:pt x="127478" y="351581"/>
                  </a:lnTo>
                  <a:lnTo>
                    <a:pt x="103731" y="367618"/>
                  </a:lnTo>
                  <a:lnTo>
                    <a:pt x="74704" y="373505"/>
                  </a:lnTo>
                  <a:lnTo>
                    <a:pt x="45674" y="367619"/>
                  </a:lnTo>
                  <a:lnTo>
                    <a:pt x="21923" y="351583"/>
                  </a:lnTo>
                  <a:lnTo>
                    <a:pt x="5886" y="327833"/>
                  </a:lnTo>
                  <a:lnTo>
                    <a:pt x="0" y="298804"/>
                  </a:lnTo>
                  <a:lnTo>
                    <a:pt x="5886" y="269775"/>
                  </a:lnTo>
                  <a:lnTo>
                    <a:pt x="21923" y="246026"/>
                  </a:lnTo>
                  <a:lnTo>
                    <a:pt x="45674" y="229992"/>
                  </a:lnTo>
                  <a:lnTo>
                    <a:pt x="74704" y="224106"/>
                  </a:lnTo>
                  <a:close/>
                </a:path>
                <a:path w="179705" h="374014">
                  <a:moveTo>
                    <a:pt x="179281" y="0"/>
                  </a:moveTo>
                  <a:lnTo>
                    <a:pt x="89640" y="224103"/>
                  </a:lnTo>
                </a:path>
              </a:pathLst>
            </a:custGeom>
            <a:ln w="5267">
              <a:solidFill>
                <a:srgbClr val="231F20"/>
              </a:solidFill>
            </a:ln>
          </p:spPr>
          <p:txBody>
            <a:bodyPr wrap="square" lIns="0" tIns="0" rIns="0" bIns="0" rtlCol="0"/>
            <a:lstStyle/>
            <a:p>
              <a:endParaRPr/>
            </a:p>
          </p:txBody>
        </p:sp>
        <p:sp>
          <p:nvSpPr>
            <p:cNvPr id="26" name="object 26"/>
            <p:cNvSpPr/>
            <p:nvPr/>
          </p:nvSpPr>
          <p:spPr>
            <a:xfrm>
              <a:off x="2970935" y="2774234"/>
              <a:ext cx="269240" cy="269240"/>
            </a:xfrm>
            <a:custGeom>
              <a:avLst/>
              <a:gdLst/>
              <a:ahLst/>
              <a:cxnLst/>
              <a:rect l="l" t="t" r="r" b="b"/>
              <a:pathLst>
                <a:path w="269239" h="269239">
                  <a:moveTo>
                    <a:pt x="134450" y="4"/>
                  </a:moveTo>
                  <a:lnTo>
                    <a:pt x="92032" y="6878"/>
                  </a:lnTo>
                  <a:lnTo>
                    <a:pt x="55134" y="26006"/>
                  </a:lnTo>
                  <a:lnTo>
                    <a:pt x="26000" y="55143"/>
                  </a:lnTo>
                  <a:lnTo>
                    <a:pt x="6873" y="92045"/>
                  </a:lnTo>
                  <a:lnTo>
                    <a:pt x="0" y="134468"/>
                  </a:lnTo>
                  <a:lnTo>
                    <a:pt x="6873" y="176891"/>
                  </a:lnTo>
                  <a:lnTo>
                    <a:pt x="26000" y="213792"/>
                  </a:lnTo>
                  <a:lnTo>
                    <a:pt x="55134" y="242929"/>
                  </a:lnTo>
                  <a:lnTo>
                    <a:pt x="92032" y="262056"/>
                  </a:lnTo>
                  <a:lnTo>
                    <a:pt x="134450" y="268931"/>
                  </a:lnTo>
                  <a:lnTo>
                    <a:pt x="176873" y="262056"/>
                  </a:lnTo>
                  <a:lnTo>
                    <a:pt x="213775" y="242929"/>
                  </a:lnTo>
                  <a:lnTo>
                    <a:pt x="242910" y="213792"/>
                  </a:lnTo>
                  <a:lnTo>
                    <a:pt x="262037" y="176891"/>
                  </a:lnTo>
                  <a:lnTo>
                    <a:pt x="268911" y="134468"/>
                  </a:lnTo>
                  <a:lnTo>
                    <a:pt x="262037" y="92045"/>
                  </a:lnTo>
                  <a:lnTo>
                    <a:pt x="242911" y="55142"/>
                  </a:lnTo>
                  <a:lnTo>
                    <a:pt x="213777" y="26003"/>
                  </a:lnTo>
                  <a:lnTo>
                    <a:pt x="176879" y="6875"/>
                  </a:lnTo>
                  <a:lnTo>
                    <a:pt x="134460" y="0"/>
                  </a:lnTo>
                  <a:close/>
                </a:path>
              </a:pathLst>
            </a:custGeom>
            <a:solidFill>
              <a:srgbClr val="808285"/>
            </a:solidFill>
          </p:spPr>
          <p:txBody>
            <a:bodyPr wrap="square" lIns="0" tIns="0" rIns="0" bIns="0" rtlCol="0"/>
            <a:lstStyle/>
            <a:p>
              <a:endParaRPr/>
            </a:p>
          </p:txBody>
        </p:sp>
        <p:sp>
          <p:nvSpPr>
            <p:cNvPr id="27" name="object 27"/>
            <p:cNvSpPr/>
            <p:nvPr/>
          </p:nvSpPr>
          <p:spPr>
            <a:xfrm>
              <a:off x="2970931" y="2774235"/>
              <a:ext cx="269240" cy="269240"/>
            </a:xfrm>
            <a:custGeom>
              <a:avLst/>
              <a:gdLst/>
              <a:ahLst/>
              <a:cxnLst/>
              <a:rect l="l" t="t" r="r" b="b"/>
              <a:pathLst>
                <a:path w="269239" h="269239">
                  <a:moveTo>
                    <a:pt x="134460" y="0"/>
                  </a:moveTo>
                  <a:lnTo>
                    <a:pt x="176884" y="6875"/>
                  </a:lnTo>
                  <a:lnTo>
                    <a:pt x="213785" y="26003"/>
                  </a:lnTo>
                  <a:lnTo>
                    <a:pt x="242920" y="55141"/>
                  </a:lnTo>
                  <a:lnTo>
                    <a:pt x="262047" y="92044"/>
                  </a:lnTo>
                  <a:lnTo>
                    <a:pt x="268921" y="134467"/>
                  </a:lnTo>
                  <a:lnTo>
                    <a:pt x="262047" y="176890"/>
                  </a:lnTo>
                  <a:lnTo>
                    <a:pt x="242920" y="213792"/>
                  </a:lnTo>
                  <a:lnTo>
                    <a:pt x="213785" y="242929"/>
                  </a:lnTo>
                  <a:lnTo>
                    <a:pt x="176884" y="262056"/>
                  </a:lnTo>
                  <a:lnTo>
                    <a:pt x="134460" y="268931"/>
                  </a:lnTo>
                  <a:lnTo>
                    <a:pt x="92037" y="262056"/>
                  </a:lnTo>
                  <a:lnTo>
                    <a:pt x="55136" y="242929"/>
                  </a:lnTo>
                  <a:lnTo>
                    <a:pt x="26000" y="213792"/>
                  </a:lnTo>
                  <a:lnTo>
                    <a:pt x="6874" y="176890"/>
                  </a:lnTo>
                  <a:lnTo>
                    <a:pt x="0" y="134467"/>
                  </a:lnTo>
                  <a:lnTo>
                    <a:pt x="6874" y="92044"/>
                  </a:lnTo>
                  <a:lnTo>
                    <a:pt x="26000" y="55143"/>
                  </a:lnTo>
                  <a:lnTo>
                    <a:pt x="55136" y="26006"/>
                  </a:lnTo>
                  <a:lnTo>
                    <a:pt x="92037" y="6878"/>
                  </a:lnTo>
                  <a:lnTo>
                    <a:pt x="134460" y="4"/>
                  </a:lnTo>
                  <a:close/>
                </a:path>
              </a:pathLst>
            </a:custGeom>
            <a:ln w="4741">
              <a:solidFill>
                <a:srgbClr val="231F20"/>
              </a:solidFill>
              <a:prstDash val="lgDash"/>
            </a:ln>
          </p:spPr>
          <p:txBody>
            <a:bodyPr wrap="square" lIns="0" tIns="0" rIns="0" bIns="0" rtlCol="0"/>
            <a:lstStyle/>
            <a:p>
              <a:endParaRPr/>
            </a:p>
          </p:txBody>
        </p:sp>
        <p:sp>
          <p:nvSpPr>
            <p:cNvPr id="28" name="object 28"/>
            <p:cNvSpPr/>
            <p:nvPr/>
          </p:nvSpPr>
          <p:spPr>
            <a:xfrm>
              <a:off x="3030692" y="2834002"/>
              <a:ext cx="149860" cy="149860"/>
            </a:xfrm>
            <a:custGeom>
              <a:avLst/>
              <a:gdLst/>
              <a:ahLst/>
              <a:cxnLst/>
              <a:rect l="l" t="t" r="r" b="b"/>
              <a:pathLst>
                <a:path w="149860" h="149860">
                  <a:moveTo>
                    <a:pt x="74693" y="3"/>
                  </a:moveTo>
                  <a:lnTo>
                    <a:pt x="45666" y="5888"/>
                  </a:lnTo>
                  <a:lnTo>
                    <a:pt x="21918" y="21923"/>
                  </a:lnTo>
                  <a:lnTo>
                    <a:pt x="5885" y="45671"/>
                  </a:lnTo>
                  <a:lnTo>
                    <a:pt x="0" y="74700"/>
                  </a:lnTo>
                  <a:lnTo>
                    <a:pt x="5886" y="103729"/>
                  </a:lnTo>
                  <a:lnTo>
                    <a:pt x="21922" y="127479"/>
                  </a:lnTo>
                  <a:lnTo>
                    <a:pt x="45670" y="143515"/>
                  </a:lnTo>
                  <a:lnTo>
                    <a:pt x="74693" y="149401"/>
                  </a:lnTo>
                  <a:lnTo>
                    <a:pt x="103722" y="143514"/>
                  </a:lnTo>
                  <a:lnTo>
                    <a:pt x="127473" y="127478"/>
                  </a:lnTo>
                  <a:lnTo>
                    <a:pt x="143510" y="103728"/>
                  </a:lnTo>
                  <a:lnTo>
                    <a:pt x="149397" y="74700"/>
                  </a:lnTo>
                  <a:lnTo>
                    <a:pt x="143512" y="45673"/>
                  </a:lnTo>
                  <a:lnTo>
                    <a:pt x="127478" y="21923"/>
                  </a:lnTo>
                  <a:lnTo>
                    <a:pt x="103731" y="5886"/>
                  </a:lnTo>
                  <a:lnTo>
                    <a:pt x="74704" y="0"/>
                  </a:lnTo>
                  <a:close/>
                </a:path>
              </a:pathLst>
            </a:custGeom>
            <a:solidFill>
              <a:srgbClr val="FFFFFF"/>
            </a:solidFill>
          </p:spPr>
          <p:txBody>
            <a:bodyPr wrap="square" lIns="0" tIns="0" rIns="0" bIns="0" rtlCol="0"/>
            <a:lstStyle/>
            <a:p>
              <a:endParaRPr/>
            </a:p>
          </p:txBody>
        </p:sp>
        <p:sp>
          <p:nvSpPr>
            <p:cNvPr id="29" name="object 29"/>
            <p:cNvSpPr/>
            <p:nvPr/>
          </p:nvSpPr>
          <p:spPr>
            <a:xfrm>
              <a:off x="3030692" y="2834002"/>
              <a:ext cx="149860" cy="149860"/>
            </a:xfrm>
            <a:custGeom>
              <a:avLst/>
              <a:gdLst/>
              <a:ahLst/>
              <a:cxnLst/>
              <a:rect l="l" t="t" r="r" b="b"/>
              <a:pathLst>
                <a:path w="149860" h="149860">
                  <a:moveTo>
                    <a:pt x="74704" y="0"/>
                  </a:moveTo>
                  <a:lnTo>
                    <a:pt x="103731" y="5886"/>
                  </a:lnTo>
                  <a:lnTo>
                    <a:pt x="127478" y="21923"/>
                  </a:lnTo>
                  <a:lnTo>
                    <a:pt x="143512" y="45673"/>
                  </a:lnTo>
                  <a:lnTo>
                    <a:pt x="149397" y="74700"/>
                  </a:lnTo>
                  <a:lnTo>
                    <a:pt x="143510" y="103728"/>
                  </a:lnTo>
                  <a:lnTo>
                    <a:pt x="127473" y="127478"/>
                  </a:lnTo>
                  <a:lnTo>
                    <a:pt x="103722" y="143514"/>
                  </a:lnTo>
                  <a:lnTo>
                    <a:pt x="74693" y="149401"/>
                  </a:lnTo>
                  <a:lnTo>
                    <a:pt x="45670" y="143515"/>
                  </a:lnTo>
                  <a:lnTo>
                    <a:pt x="21922" y="127479"/>
                  </a:lnTo>
                  <a:lnTo>
                    <a:pt x="5886" y="103729"/>
                  </a:lnTo>
                  <a:lnTo>
                    <a:pt x="0" y="74700"/>
                  </a:lnTo>
                  <a:lnTo>
                    <a:pt x="5885" y="45671"/>
                  </a:lnTo>
                  <a:lnTo>
                    <a:pt x="21918" y="21923"/>
                  </a:lnTo>
                  <a:lnTo>
                    <a:pt x="45666" y="5888"/>
                  </a:lnTo>
                  <a:lnTo>
                    <a:pt x="74693" y="3"/>
                  </a:lnTo>
                  <a:close/>
                </a:path>
              </a:pathLst>
            </a:custGeom>
            <a:ln w="5267">
              <a:solidFill>
                <a:srgbClr val="231F20"/>
              </a:solidFill>
            </a:ln>
          </p:spPr>
          <p:txBody>
            <a:bodyPr wrap="square" lIns="0" tIns="0" rIns="0" bIns="0" rtlCol="0"/>
            <a:lstStyle/>
            <a:p>
              <a:endParaRPr/>
            </a:p>
          </p:txBody>
        </p:sp>
        <p:sp>
          <p:nvSpPr>
            <p:cNvPr id="30" name="object 30"/>
            <p:cNvSpPr/>
            <p:nvPr/>
          </p:nvSpPr>
          <p:spPr>
            <a:xfrm>
              <a:off x="3000808" y="2609898"/>
              <a:ext cx="76200" cy="189865"/>
            </a:xfrm>
            <a:custGeom>
              <a:avLst/>
              <a:gdLst/>
              <a:ahLst/>
              <a:cxnLst/>
              <a:rect l="l" t="t" r="r" b="b"/>
              <a:pathLst>
                <a:path w="76200" h="189864">
                  <a:moveTo>
                    <a:pt x="0" y="0"/>
                  </a:moveTo>
                  <a:lnTo>
                    <a:pt x="75768" y="189400"/>
                  </a:lnTo>
                </a:path>
              </a:pathLst>
            </a:custGeom>
            <a:ln w="10541">
              <a:solidFill>
                <a:srgbClr val="231F20"/>
              </a:solidFill>
            </a:ln>
          </p:spPr>
          <p:txBody>
            <a:bodyPr wrap="square" lIns="0" tIns="0" rIns="0" bIns="0" rtlCol="0"/>
            <a:lstStyle/>
            <a:p>
              <a:endParaRPr/>
            </a:p>
          </p:txBody>
        </p:sp>
        <p:sp>
          <p:nvSpPr>
            <p:cNvPr id="31" name="object 31"/>
            <p:cNvSpPr/>
            <p:nvPr/>
          </p:nvSpPr>
          <p:spPr>
            <a:xfrm>
              <a:off x="3033232" y="2753103"/>
              <a:ext cx="59690" cy="81280"/>
            </a:xfrm>
            <a:custGeom>
              <a:avLst/>
              <a:gdLst/>
              <a:ahLst/>
              <a:cxnLst/>
              <a:rect l="l" t="t" r="r" b="b"/>
              <a:pathLst>
                <a:path w="59689" h="81280">
                  <a:moveTo>
                    <a:pt x="59187" y="0"/>
                  </a:moveTo>
                  <a:lnTo>
                    <a:pt x="46607" y="11467"/>
                  </a:lnTo>
                  <a:lnTo>
                    <a:pt x="32550" y="19237"/>
                  </a:lnTo>
                  <a:lnTo>
                    <a:pt x="17015" y="23307"/>
                  </a:lnTo>
                  <a:lnTo>
                    <a:pt x="0" y="23676"/>
                  </a:lnTo>
                  <a:lnTo>
                    <a:pt x="57216" y="80899"/>
                  </a:lnTo>
                  <a:lnTo>
                    <a:pt x="59187" y="0"/>
                  </a:lnTo>
                  <a:close/>
                </a:path>
              </a:pathLst>
            </a:custGeom>
            <a:solidFill>
              <a:srgbClr val="231F20"/>
            </a:solidFill>
          </p:spPr>
          <p:txBody>
            <a:bodyPr wrap="square" lIns="0" tIns="0" rIns="0" bIns="0" rtlCol="0"/>
            <a:lstStyle/>
            <a:p>
              <a:endParaRPr/>
            </a:p>
          </p:txBody>
        </p:sp>
        <p:sp>
          <p:nvSpPr>
            <p:cNvPr id="32" name="object 32"/>
            <p:cNvSpPr/>
            <p:nvPr/>
          </p:nvSpPr>
          <p:spPr>
            <a:xfrm>
              <a:off x="3147929" y="3048626"/>
              <a:ext cx="47625" cy="173990"/>
            </a:xfrm>
            <a:custGeom>
              <a:avLst/>
              <a:gdLst/>
              <a:ahLst/>
              <a:cxnLst/>
              <a:rect l="l" t="t" r="r" b="b"/>
              <a:pathLst>
                <a:path w="47625" h="173989">
                  <a:moveTo>
                    <a:pt x="47107" y="173814"/>
                  </a:moveTo>
                  <a:lnTo>
                    <a:pt x="0" y="0"/>
                  </a:lnTo>
                </a:path>
              </a:pathLst>
            </a:custGeom>
            <a:ln w="5267">
              <a:solidFill>
                <a:srgbClr val="231F20"/>
              </a:solidFill>
            </a:ln>
          </p:spPr>
          <p:txBody>
            <a:bodyPr wrap="square" lIns="0" tIns="0" rIns="0" bIns="0" rtlCol="0"/>
            <a:lstStyle/>
            <a:p>
              <a:endParaRPr/>
            </a:p>
          </p:txBody>
        </p:sp>
      </p:grpSp>
      <p:sp>
        <p:nvSpPr>
          <p:cNvPr id="33" name="object 33"/>
          <p:cNvSpPr txBox="1"/>
          <p:nvPr/>
        </p:nvSpPr>
        <p:spPr>
          <a:xfrm>
            <a:off x="3063128" y="3244837"/>
            <a:ext cx="4476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Domain D2</a:t>
            </a:r>
            <a:endParaRPr sz="650">
              <a:latin typeface="Arial"/>
              <a:cs typeface="Arial"/>
            </a:endParaRPr>
          </a:p>
        </p:txBody>
      </p:sp>
      <p:sp>
        <p:nvSpPr>
          <p:cNvPr id="34" name="object 34"/>
          <p:cNvSpPr txBox="1"/>
          <p:nvPr/>
        </p:nvSpPr>
        <p:spPr>
          <a:xfrm>
            <a:off x="1957335" y="3184881"/>
            <a:ext cx="4476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Domain D1</a:t>
            </a:r>
            <a:endParaRPr sz="650">
              <a:latin typeface="Arial"/>
              <a:cs typeface="Arial"/>
            </a:endParaRPr>
          </a:p>
        </p:txBody>
      </p:sp>
      <p:grpSp>
        <p:nvGrpSpPr>
          <p:cNvPr id="35" name="object 35"/>
          <p:cNvGrpSpPr/>
          <p:nvPr/>
        </p:nvGrpSpPr>
        <p:grpSpPr>
          <a:xfrm>
            <a:off x="1947171" y="2099088"/>
            <a:ext cx="1814830" cy="1096645"/>
            <a:chOff x="1947171" y="2099088"/>
            <a:chExt cx="1814830" cy="1096645"/>
          </a:xfrm>
        </p:grpSpPr>
        <p:sp>
          <p:nvSpPr>
            <p:cNvPr id="36" name="object 36"/>
            <p:cNvSpPr/>
            <p:nvPr/>
          </p:nvSpPr>
          <p:spPr>
            <a:xfrm>
              <a:off x="2051665" y="3031056"/>
              <a:ext cx="97790" cy="161925"/>
            </a:xfrm>
            <a:custGeom>
              <a:avLst/>
              <a:gdLst/>
              <a:ahLst/>
              <a:cxnLst/>
              <a:rect l="l" t="t" r="r" b="b"/>
              <a:pathLst>
                <a:path w="97789" h="161925">
                  <a:moveTo>
                    <a:pt x="97567" y="161503"/>
                  </a:moveTo>
                  <a:lnTo>
                    <a:pt x="0" y="0"/>
                  </a:lnTo>
                </a:path>
              </a:pathLst>
            </a:custGeom>
            <a:ln w="5267">
              <a:solidFill>
                <a:srgbClr val="231F20"/>
              </a:solidFill>
            </a:ln>
          </p:spPr>
          <p:txBody>
            <a:bodyPr wrap="square" lIns="0" tIns="0" rIns="0" bIns="0" rtlCol="0"/>
            <a:lstStyle/>
            <a:p>
              <a:endParaRPr/>
            </a:p>
          </p:txBody>
        </p:sp>
        <p:sp>
          <p:nvSpPr>
            <p:cNvPr id="37" name="object 37"/>
            <p:cNvSpPr/>
            <p:nvPr/>
          </p:nvSpPr>
          <p:spPr>
            <a:xfrm>
              <a:off x="1950029" y="2878821"/>
              <a:ext cx="40005" cy="60325"/>
            </a:xfrm>
            <a:custGeom>
              <a:avLst/>
              <a:gdLst/>
              <a:ahLst/>
              <a:cxnLst/>
              <a:rect l="l" t="t" r="r" b="b"/>
              <a:pathLst>
                <a:path w="40005" h="60325">
                  <a:moveTo>
                    <a:pt x="39837" y="0"/>
                  </a:moveTo>
                  <a:lnTo>
                    <a:pt x="0" y="0"/>
                  </a:lnTo>
                  <a:lnTo>
                    <a:pt x="0" y="59758"/>
                  </a:lnTo>
                  <a:lnTo>
                    <a:pt x="39837" y="59758"/>
                  </a:lnTo>
                  <a:lnTo>
                    <a:pt x="39837" y="0"/>
                  </a:lnTo>
                  <a:close/>
                </a:path>
              </a:pathLst>
            </a:custGeom>
            <a:solidFill>
              <a:srgbClr val="231F20"/>
            </a:solidFill>
          </p:spPr>
          <p:txBody>
            <a:bodyPr wrap="square" lIns="0" tIns="0" rIns="0" bIns="0" rtlCol="0"/>
            <a:lstStyle/>
            <a:p>
              <a:endParaRPr/>
            </a:p>
          </p:txBody>
        </p:sp>
        <p:sp>
          <p:nvSpPr>
            <p:cNvPr id="38" name="object 38"/>
            <p:cNvSpPr/>
            <p:nvPr/>
          </p:nvSpPr>
          <p:spPr>
            <a:xfrm>
              <a:off x="1950029" y="2878821"/>
              <a:ext cx="40005" cy="60325"/>
            </a:xfrm>
            <a:custGeom>
              <a:avLst/>
              <a:gdLst/>
              <a:ahLst/>
              <a:cxnLst/>
              <a:rect l="l" t="t" r="r" b="b"/>
              <a:pathLst>
                <a:path w="40005" h="60325">
                  <a:moveTo>
                    <a:pt x="0" y="59758"/>
                  </a:moveTo>
                  <a:lnTo>
                    <a:pt x="39837" y="59758"/>
                  </a:lnTo>
                  <a:lnTo>
                    <a:pt x="39837" y="0"/>
                  </a:lnTo>
                  <a:lnTo>
                    <a:pt x="0" y="0"/>
                  </a:lnTo>
                  <a:lnTo>
                    <a:pt x="0" y="59758"/>
                  </a:lnTo>
                  <a:close/>
                </a:path>
              </a:pathLst>
            </a:custGeom>
            <a:ln w="5267">
              <a:solidFill>
                <a:srgbClr val="231F20"/>
              </a:solidFill>
            </a:ln>
          </p:spPr>
          <p:txBody>
            <a:bodyPr wrap="square" lIns="0" tIns="0" rIns="0" bIns="0" rtlCol="0"/>
            <a:lstStyle/>
            <a:p>
              <a:endParaRPr/>
            </a:p>
          </p:txBody>
        </p:sp>
        <p:sp>
          <p:nvSpPr>
            <p:cNvPr id="39" name="object 39"/>
            <p:cNvSpPr/>
            <p:nvPr/>
          </p:nvSpPr>
          <p:spPr>
            <a:xfrm>
              <a:off x="3085473" y="2878821"/>
              <a:ext cx="40005" cy="60325"/>
            </a:xfrm>
            <a:custGeom>
              <a:avLst/>
              <a:gdLst/>
              <a:ahLst/>
              <a:cxnLst/>
              <a:rect l="l" t="t" r="r" b="b"/>
              <a:pathLst>
                <a:path w="40005" h="60325">
                  <a:moveTo>
                    <a:pt x="39837" y="0"/>
                  </a:moveTo>
                  <a:lnTo>
                    <a:pt x="0" y="0"/>
                  </a:lnTo>
                  <a:lnTo>
                    <a:pt x="0" y="59758"/>
                  </a:lnTo>
                  <a:lnTo>
                    <a:pt x="39837" y="59758"/>
                  </a:lnTo>
                  <a:lnTo>
                    <a:pt x="39837" y="0"/>
                  </a:lnTo>
                  <a:close/>
                </a:path>
              </a:pathLst>
            </a:custGeom>
            <a:solidFill>
              <a:srgbClr val="231F20"/>
            </a:solidFill>
          </p:spPr>
          <p:txBody>
            <a:bodyPr wrap="square" lIns="0" tIns="0" rIns="0" bIns="0" rtlCol="0"/>
            <a:lstStyle/>
            <a:p>
              <a:endParaRPr/>
            </a:p>
          </p:txBody>
        </p:sp>
        <p:sp>
          <p:nvSpPr>
            <p:cNvPr id="40" name="object 40"/>
            <p:cNvSpPr/>
            <p:nvPr/>
          </p:nvSpPr>
          <p:spPr>
            <a:xfrm>
              <a:off x="3085473" y="2101945"/>
              <a:ext cx="558165" cy="836930"/>
            </a:xfrm>
            <a:custGeom>
              <a:avLst/>
              <a:gdLst/>
              <a:ahLst/>
              <a:cxnLst/>
              <a:rect l="l" t="t" r="r" b="b"/>
              <a:pathLst>
                <a:path w="558164" h="836930">
                  <a:moveTo>
                    <a:pt x="0" y="836633"/>
                  </a:moveTo>
                  <a:lnTo>
                    <a:pt x="39837" y="836633"/>
                  </a:lnTo>
                  <a:lnTo>
                    <a:pt x="39837" y="776875"/>
                  </a:lnTo>
                  <a:lnTo>
                    <a:pt x="0" y="776875"/>
                  </a:lnTo>
                  <a:lnTo>
                    <a:pt x="0" y="836633"/>
                  </a:lnTo>
                  <a:close/>
                </a:path>
                <a:path w="558164" h="836930">
                  <a:moveTo>
                    <a:pt x="438231" y="0"/>
                  </a:moveTo>
                  <a:lnTo>
                    <a:pt x="557755" y="29873"/>
                  </a:lnTo>
                </a:path>
              </a:pathLst>
            </a:custGeom>
            <a:ln w="5267">
              <a:solidFill>
                <a:srgbClr val="231F20"/>
              </a:solidFill>
            </a:ln>
          </p:spPr>
          <p:txBody>
            <a:bodyPr wrap="square" lIns="0" tIns="0" rIns="0" bIns="0" rtlCol="0"/>
            <a:lstStyle/>
            <a:p>
              <a:endParaRPr/>
            </a:p>
          </p:txBody>
        </p:sp>
        <p:sp>
          <p:nvSpPr>
            <p:cNvPr id="41" name="object 41"/>
            <p:cNvSpPr/>
            <p:nvPr/>
          </p:nvSpPr>
          <p:spPr>
            <a:xfrm>
              <a:off x="3643229" y="2131819"/>
              <a:ext cx="115570" cy="29209"/>
            </a:xfrm>
            <a:custGeom>
              <a:avLst/>
              <a:gdLst/>
              <a:ahLst/>
              <a:cxnLst/>
              <a:rect l="l" t="t" r="r" b="b"/>
              <a:pathLst>
                <a:path w="115570" h="29210">
                  <a:moveTo>
                    <a:pt x="0" y="0"/>
                  </a:moveTo>
                  <a:lnTo>
                    <a:pt x="115423" y="28858"/>
                  </a:lnTo>
                </a:path>
              </a:pathLst>
            </a:custGeom>
            <a:ln w="5267">
              <a:solidFill>
                <a:srgbClr val="231F20"/>
              </a:solidFill>
              <a:prstDash val="lgDash"/>
            </a:ln>
          </p:spPr>
          <p:txBody>
            <a:bodyPr wrap="square" lIns="0" tIns="0" rIns="0" bIns="0" rtlCol="0"/>
            <a:lstStyle/>
            <a:p>
              <a:endParaRPr/>
            </a:p>
          </p:txBody>
        </p:sp>
        <p:sp>
          <p:nvSpPr>
            <p:cNvPr id="42" name="object 42"/>
            <p:cNvSpPr/>
            <p:nvPr/>
          </p:nvSpPr>
          <p:spPr>
            <a:xfrm>
              <a:off x="3449011" y="2161702"/>
              <a:ext cx="0" cy="90170"/>
            </a:xfrm>
            <a:custGeom>
              <a:avLst/>
              <a:gdLst/>
              <a:ahLst/>
              <a:cxnLst/>
              <a:rect l="l" t="t" r="r" b="b"/>
              <a:pathLst>
                <a:path h="90169">
                  <a:moveTo>
                    <a:pt x="0" y="0"/>
                  </a:moveTo>
                  <a:lnTo>
                    <a:pt x="0" y="89640"/>
                  </a:lnTo>
                </a:path>
              </a:pathLst>
            </a:custGeom>
            <a:ln w="5267">
              <a:solidFill>
                <a:srgbClr val="231F20"/>
              </a:solidFill>
            </a:ln>
          </p:spPr>
          <p:txBody>
            <a:bodyPr wrap="square" lIns="0" tIns="0" rIns="0" bIns="0" rtlCol="0"/>
            <a:lstStyle/>
            <a:p>
              <a:endParaRPr/>
            </a:p>
          </p:txBody>
        </p:sp>
        <p:sp>
          <p:nvSpPr>
            <p:cNvPr id="43" name="object 43"/>
            <p:cNvSpPr/>
            <p:nvPr/>
          </p:nvSpPr>
          <p:spPr>
            <a:xfrm>
              <a:off x="3449011" y="2251343"/>
              <a:ext cx="0" cy="90170"/>
            </a:xfrm>
            <a:custGeom>
              <a:avLst/>
              <a:gdLst/>
              <a:ahLst/>
              <a:cxnLst/>
              <a:rect l="l" t="t" r="r" b="b"/>
              <a:pathLst>
                <a:path h="90169">
                  <a:moveTo>
                    <a:pt x="0" y="0"/>
                  </a:moveTo>
                  <a:lnTo>
                    <a:pt x="0" y="89640"/>
                  </a:lnTo>
                </a:path>
              </a:pathLst>
            </a:custGeom>
            <a:ln w="5267">
              <a:solidFill>
                <a:srgbClr val="231F20"/>
              </a:solidFill>
              <a:prstDash val="lgDash"/>
            </a:ln>
          </p:spPr>
          <p:txBody>
            <a:bodyPr wrap="square" lIns="0" tIns="0" rIns="0" bIns="0" rtlCol="0"/>
            <a:lstStyle/>
            <a:p>
              <a:endParaRPr/>
            </a:p>
          </p:txBody>
        </p:sp>
      </p:grpSp>
      <p:sp>
        <p:nvSpPr>
          <p:cNvPr id="44" name="object 44"/>
          <p:cNvSpPr txBox="1"/>
          <p:nvPr/>
        </p:nvSpPr>
        <p:spPr>
          <a:xfrm>
            <a:off x="851539" y="2617184"/>
            <a:ext cx="850900" cy="315595"/>
          </a:xfrm>
          <a:prstGeom prst="rect">
            <a:avLst/>
          </a:prstGeom>
        </p:spPr>
        <p:txBody>
          <a:bodyPr vert="horz" wrap="square" lIns="0" tIns="21590" rIns="0" bIns="0" rtlCol="0">
            <a:spAutoFit/>
          </a:bodyPr>
          <a:lstStyle/>
          <a:p>
            <a:pPr marL="12700" marR="135890">
              <a:lnSpc>
                <a:spcPts val="740"/>
              </a:lnSpc>
              <a:spcBef>
                <a:spcPts val="170"/>
              </a:spcBef>
            </a:pPr>
            <a:r>
              <a:rPr sz="650" spc="5" dirty="0">
                <a:solidFill>
                  <a:srgbClr val="231F20"/>
                </a:solidFill>
                <a:latin typeface="Arial"/>
                <a:cs typeface="Arial"/>
              </a:rPr>
              <a:t>Location record </a:t>
            </a:r>
            <a:r>
              <a:rPr sz="650" spc="10" dirty="0">
                <a:solidFill>
                  <a:srgbClr val="231F20"/>
                </a:solidFill>
                <a:latin typeface="Arial"/>
                <a:cs typeface="Arial"/>
              </a:rPr>
              <a:t> </a:t>
            </a:r>
            <a:r>
              <a:rPr sz="650" spc="5" dirty="0">
                <a:solidFill>
                  <a:srgbClr val="231F20"/>
                </a:solidFill>
                <a:latin typeface="Arial"/>
                <a:cs typeface="Arial"/>
              </a:rPr>
              <a:t>with</a:t>
            </a:r>
            <a:r>
              <a:rPr sz="650" spc="-20" dirty="0">
                <a:solidFill>
                  <a:srgbClr val="231F20"/>
                </a:solidFill>
                <a:latin typeface="Arial"/>
                <a:cs typeface="Arial"/>
              </a:rPr>
              <a:t> </a:t>
            </a:r>
            <a:r>
              <a:rPr sz="650" spc="5" dirty="0">
                <a:solidFill>
                  <a:srgbClr val="231F20"/>
                </a:solidFill>
                <a:latin typeface="Arial"/>
                <a:cs typeface="Arial"/>
              </a:rPr>
              <a:t>only</a:t>
            </a:r>
            <a:r>
              <a:rPr sz="650" spc="-15" dirty="0">
                <a:solidFill>
                  <a:srgbClr val="231F20"/>
                </a:solidFill>
                <a:latin typeface="Arial"/>
                <a:cs typeface="Arial"/>
              </a:rPr>
              <a:t> </a:t>
            </a:r>
            <a:r>
              <a:rPr sz="650" spc="5" dirty="0">
                <a:solidFill>
                  <a:srgbClr val="231F20"/>
                </a:solidFill>
                <a:latin typeface="Arial"/>
                <a:cs typeface="Arial"/>
              </a:rPr>
              <a:t>one</a:t>
            </a:r>
            <a:r>
              <a:rPr sz="650" spc="-15" dirty="0">
                <a:solidFill>
                  <a:srgbClr val="231F20"/>
                </a:solidFill>
                <a:latin typeface="Arial"/>
                <a:cs typeface="Arial"/>
              </a:rPr>
              <a:t> </a:t>
            </a:r>
            <a:r>
              <a:rPr sz="650" dirty="0">
                <a:solidFill>
                  <a:srgbClr val="231F20"/>
                </a:solidFill>
                <a:latin typeface="Arial"/>
                <a:cs typeface="Arial"/>
              </a:rPr>
              <a:t>field,</a:t>
            </a:r>
            <a:endParaRPr sz="650">
              <a:latin typeface="Arial"/>
              <a:cs typeface="Arial"/>
            </a:endParaRPr>
          </a:p>
          <a:p>
            <a:pPr marL="12700">
              <a:lnSpc>
                <a:spcPts val="730"/>
              </a:lnSpc>
            </a:pPr>
            <a:r>
              <a:rPr sz="650" spc="5" dirty="0">
                <a:solidFill>
                  <a:srgbClr val="231F20"/>
                </a:solidFill>
                <a:latin typeface="Arial"/>
                <a:cs typeface="Arial"/>
              </a:rPr>
              <a:t>containing</a:t>
            </a:r>
            <a:r>
              <a:rPr sz="650" spc="-30" dirty="0">
                <a:solidFill>
                  <a:srgbClr val="231F20"/>
                </a:solidFill>
                <a:latin typeface="Arial"/>
                <a:cs typeface="Arial"/>
              </a:rPr>
              <a:t> </a:t>
            </a:r>
            <a:r>
              <a:rPr sz="650" spc="5" dirty="0">
                <a:solidFill>
                  <a:srgbClr val="231F20"/>
                </a:solidFill>
                <a:latin typeface="Arial"/>
                <a:cs typeface="Arial"/>
              </a:rPr>
              <a:t>an</a:t>
            </a:r>
            <a:r>
              <a:rPr sz="650" spc="-25" dirty="0">
                <a:solidFill>
                  <a:srgbClr val="231F20"/>
                </a:solidFill>
                <a:latin typeface="Arial"/>
                <a:cs typeface="Arial"/>
              </a:rPr>
              <a:t> </a:t>
            </a:r>
            <a:r>
              <a:rPr sz="650" spc="5" dirty="0">
                <a:solidFill>
                  <a:srgbClr val="231F20"/>
                </a:solidFill>
                <a:latin typeface="Arial"/>
                <a:cs typeface="Arial"/>
              </a:rPr>
              <a:t>address</a:t>
            </a:r>
            <a:endParaRPr sz="650">
              <a:latin typeface="Arial"/>
              <a:cs typeface="Arial"/>
            </a:endParaRPr>
          </a:p>
        </p:txBody>
      </p:sp>
      <p:grpSp>
        <p:nvGrpSpPr>
          <p:cNvPr id="45" name="object 45"/>
          <p:cNvGrpSpPr/>
          <p:nvPr/>
        </p:nvGrpSpPr>
        <p:grpSpPr>
          <a:xfrm>
            <a:off x="1476935" y="2009439"/>
            <a:ext cx="511175" cy="433705"/>
            <a:chOff x="1476935" y="2009439"/>
            <a:chExt cx="511175" cy="433705"/>
          </a:xfrm>
        </p:grpSpPr>
        <p:pic>
          <p:nvPicPr>
            <p:cNvPr id="46" name="object 46"/>
            <p:cNvPicPr/>
            <p:nvPr/>
          </p:nvPicPr>
          <p:blipFill>
            <a:blip r:embed="rId9" cstate="print"/>
            <a:stretch>
              <a:fillRect/>
            </a:stretch>
          </p:blipFill>
          <p:spPr>
            <a:xfrm>
              <a:off x="1476935" y="2009662"/>
              <a:ext cx="406008" cy="361201"/>
            </a:xfrm>
            <a:prstGeom prst="rect">
              <a:avLst/>
            </a:prstGeom>
          </p:spPr>
        </p:pic>
        <p:sp>
          <p:nvSpPr>
            <p:cNvPr id="47" name="object 47"/>
            <p:cNvSpPr/>
            <p:nvPr/>
          </p:nvSpPr>
          <p:spPr>
            <a:xfrm>
              <a:off x="1820547" y="2131816"/>
              <a:ext cx="0" cy="273685"/>
            </a:xfrm>
            <a:custGeom>
              <a:avLst/>
              <a:gdLst/>
              <a:ahLst/>
              <a:cxnLst/>
              <a:rect l="l" t="t" r="r" b="b"/>
              <a:pathLst>
                <a:path h="273685">
                  <a:moveTo>
                    <a:pt x="0" y="0"/>
                  </a:moveTo>
                  <a:lnTo>
                    <a:pt x="0" y="273431"/>
                  </a:lnTo>
                </a:path>
              </a:pathLst>
            </a:custGeom>
            <a:ln w="10541">
              <a:solidFill>
                <a:srgbClr val="231F20"/>
              </a:solidFill>
            </a:ln>
          </p:spPr>
          <p:txBody>
            <a:bodyPr wrap="square" lIns="0" tIns="0" rIns="0" bIns="0" rtlCol="0"/>
            <a:lstStyle/>
            <a:p>
              <a:endParaRPr/>
            </a:p>
          </p:txBody>
        </p:sp>
        <p:pic>
          <p:nvPicPr>
            <p:cNvPr id="48" name="object 48"/>
            <p:cNvPicPr/>
            <p:nvPr/>
          </p:nvPicPr>
          <p:blipFill>
            <a:blip r:embed="rId10" cstate="print"/>
            <a:stretch>
              <a:fillRect/>
            </a:stretch>
          </p:blipFill>
          <p:spPr>
            <a:xfrm>
              <a:off x="1788672" y="2368254"/>
              <a:ext cx="63751" cy="74375"/>
            </a:xfrm>
            <a:prstGeom prst="rect">
              <a:avLst/>
            </a:prstGeom>
          </p:spPr>
        </p:pic>
        <p:sp>
          <p:nvSpPr>
            <p:cNvPr id="49" name="object 49"/>
            <p:cNvSpPr/>
            <p:nvPr/>
          </p:nvSpPr>
          <p:spPr>
            <a:xfrm>
              <a:off x="1799295" y="2110568"/>
              <a:ext cx="42545" cy="42545"/>
            </a:xfrm>
            <a:custGeom>
              <a:avLst/>
              <a:gdLst/>
              <a:ahLst/>
              <a:cxnLst/>
              <a:rect l="l" t="t" r="r" b="b"/>
              <a:pathLst>
                <a:path w="42544" h="42544">
                  <a:moveTo>
                    <a:pt x="21254" y="0"/>
                  </a:moveTo>
                  <a:lnTo>
                    <a:pt x="12993" y="1678"/>
                  </a:lnTo>
                  <a:lnTo>
                    <a:pt x="6236" y="6246"/>
                  </a:lnTo>
                  <a:lnTo>
                    <a:pt x="1674" y="13007"/>
                  </a:lnTo>
                  <a:lnTo>
                    <a:pt x="0" y="21261"/>
                  </a:lnTo>
                  <a:lnTo>
                    <a:pt x="1674" y="29507"/>
                  </a:lnTo>
                  <a:lnTo>
                    <a:pt x="6236" y="36261"/>
                  </a:lnTo>
                  <a:lnTo>
                    <a:pt x="12993" y="40824"/>
                  </a:lnTo>
                  <a:lnTo>
                    <a:pt x="21254" y="42501"/>
                  </a:lnTo>
                  <a:lnTo>
                    <a:pt x="29515" y="40824"/>
                  </a:lnTo>
                  <a:lnTo>
                    <a:pt x="36271" y="36261"/>
                  </a:lnTo>
                  <a:lnTo>
                    <a:pt x="40831" y="29507"/>
                  </a:lnTo>
                  <a:lnTo>
                    <a:pt x="42505" y="21250"/>
                  </a:lnTo>
                  <a:lnTo>
                    <a:pt x="40831" y="13002"/>
                  </a:lnTo>
                  <a:lnTo>
                    <a:pt x="36270" y="6245"/>
                  </a:lnTo>
                  <a:lnTo>
                    <a:pt x="29514" y="1677"/>
                  </a:lnTo>
                  <a:lnTo>
                    <a:pt x="21254" y="0"/>
                  </a:lnTo>
                  <a:close/>
                </a:path>
              </a:pathLst>
            </a:custGeom>
            <a:solidFill>
              <a:srgbClr val="231F20"/>
            </a:solidFill>
          </p:spPr>
          <p:txBody>
            <a:bodyPr wrap="square" lIns="0" tIns="0" rIns="0" bIns="0" rtlCol="0"/>
            <a:lstStyle/>
            <a:p>
              <a:endParaRPr/>
            </a:p>
          </p:txBody>
        </p:sp>
        <p:sp>
          <p:nvSpPr>
            <p:cNvPr id="50" name="object 50"/>
            <p:cNvSpPr/>
            <p:nvPr/>
          </p:nvSpPr>
          <p:spPr>
            <a:xfrm>
              <a:off x="1880309" y="2012296"/>
              <a:ext cx="104775" cy="179705"/>
            </a:xfrm>
            <a:custGeom>
              <a:avLst/>
              <a:gdLst/>
              <a:ahLst/>
              <a:cxnLst/>
              <a:rect l="l" t="t" r="r" b="b"/>
              <a:pathLst>
                <a:path w="104775" h="179705">
                  <a:moveTo>
                    <a:pt x="0" y="179279"/>
                  </a:moveTo>
                  <a:lnTo>
                    <a:pt x="104582" y="179279"/>
                  </a:lnTo>
                  <a:lnTo>
                    <a:pt x="104582" y="0"/>
                  </a:lnTo>
                  <a:lnTo>
                    <a:pt x="0" y="0"/>
                  </a:lnTo>
                  <a:lnTo>
                    <a:pt x="0" y="179279"/>
                  </a:lnTo>
                  <a:close/>
                </a:path>
              </a:pathLst>
            </a:custGeom>
            <a:ln w="5267">
              <a:solidFill>
                <a:srgbClr val="231F20"/>
              </a:solidFill>
            </a:ln>
          </p:spPr>
          <p:txBody>
            <a:bodyPr wrap="square" lIns="0" tIns="0" rIns="0" bIns="0" rtlCol="0"/>
            <a:lstStyle/>
            <a:p>
              <a:endParaRPr/>
            </a:p>
          </p:txBody>
        </p:sp>
      </p:grpSp>
      <p:sp>
        <p:nvSpPr>
          <p:cNvPr id="51" name="object 51"/>
          <p:cNvSpPr txBox="1"/>
          <p:nvPr/>
        </p:nvSpPr>
        <p:spPr>
          <a:xfrm>
            <a:off x="321894" y="270059"/>
            <a:ext cx="3873500" cy="1697355"/>
          </a:xfrm>
          <a:prstGeom prst="rect">
            <a:avLst/>
          </a:prstGeom>
        </p:spPr>
        <p:txBody>
          <a:bodyPr vert="horz" wrap="square" lIns="0" tIns="95250" rIns="0" bIns="0" rtlCol="0">
            <a:spAutoFit/>
          </a:bodyPr>
          <a:lstStyle/>
          <a:p>
            <a:pPr marL="38100">
              <a:lnSpc>
                <a:spcPct val="100000"/>
              </a:lnSpc>
              <a:spcBef>
                <a:spcPts val="750"/>
              </a:spcBef>
            </a:pPr>
            <a:r>
              <a:rPr sz="1200" spc="-10" dirty="0">
                <a:solidFill>
                  <a:srgbClr val="3333B2"/>
                </a:solidFill>
                <a:latin typeface="Arial"/>
                <a:cs typeface="Arial"/>
              </a:rPr>
              <a:t>Invariants</a:t>
            </a:r>
            <a:endParaRPr sz="1200">
              <a:latin typeface="Arial"/>
              <a:cs typeface="Arial"/>
            </a:endParaRPr>
          </a:p>
          <a:p>
            <a:pPr marL="314960" indent="-168275">
              <a:lnSpc>
                <a:spcPts val="1200"/>
              </a:lnSpc>
              <a:spcBef>
                <a:spcPts val="545"/>
              </a:spcBef>
              <a:buClr>
                <a:srgbClr val="3333B2"/>
              </a:buClr>
              <a:buChar char="►"/>
              <a:tabLst>
                <a:tab pos="315595" algn="l"/>
              </a:tabLst>
            </a:pPr>
            <a:r>
              <a:rPr sz="1000" spc="-5" dirty="0">
                <a:latin typeface="Arial"/>
                <a:cs typeface="Arial"/>
              </a:rPr>
              <a:t>Address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entity</a:t>
            </a:r>
            <a:r>
              <a:rPr sz="1000" dirty="0">
                <a:latin typeface="Arial"/>
                <a:cs typeface="Arial"/>
              </a:rPr>
              <a:t> </a:t>
            </a:r>
            <a:r>
              <a:rPr sz="1000" i="1" spc="-5" dirty="0">
                <a:latin typeface="Arial"/>
                <a:cs typeface="Arial"/>
              </a:rPr>
              <a:t>E</a:t>
            </a:r>
            <a:r>
              <a:rPr sz="1000" i="1" spc="1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stored</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leaf</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intermediate</a:t>
            </a:r>
            <a:r>
              <a:rPr sz="1000" dirty="0">
                <a:latin typeface="Arial"/>
                <a:cs typeface="Arial"/>
              </a:rPr>
              <a:t> </a:t>
            </a:r>
            <a:r>
              <a:rPr sz="1000" spc="-5" dirty="0">
                <a:latin typeface="Arial"/>
                <a:cs typeface="Arial"/>
              </a:rPr>
              <a:t>node</a:t>
            </a:r>
            <a:endParaRPr sz="1000">
              <a:latin typeface="Arial"/>
              <a:cs typeface="Arial"/>
            </a:endParaRPr>
          </a:p>
          <a:p>
            <a:pPr marL="314960" marR="30480" indent="-168275">
              <a:lnSpc>
                <a:spcPts val="1200"/>
              </a:lnSpc>
              <a:spcBef>
                <a:spcPts val="35"/>
              </a:spcBef>
              <a:buClr>
                <a:srgbClr val="3333B2"/>
              </a:buClr>
              <a:buChar char="►"/>
              <a:tabLst>
                <a:tab pos="315595" algn="l"/>
              </a:tabLst>
            </a:pPr>
            <a:r>
              <a:rPr sz="1000" spc="-5" dirty="0">
                <a:latin typeface="Arial"/>
                <a:cs typeface="Arial"/>
              </a:rPr>
              <a:t>Intermediate</a:t>
            </a:r>
            <a:r>
              <a:rPr sz="1000" dirty="0">
                <a:latin typeface="Arial"/>
                <a:cs typeface="Arial"/>
              </a:rPr>
              <a:t> </a:t>
            </a:r>
            <a:r>
              <a:rPr sz="1000" spc="-5" dirty="0">
                <a:latin typeface="Arial"/>
                <a:cs typeface="Arial"/>
              </a:rPr>
              <a:t>nodes</a:t>
            </a:r>
            <a:r>
              <a:rPr sz="1000" spc="5" dirty="0">
                <a:latin typeface="Arial"/>
                <a:cs typeface="Arial"/>
              </a:rPr>
              <a:t> </a:t>
            </a:r>
            <a:r>
              <a:rPr sz="1000" spc="-5" dirty="0">
                <a:latin typeface="Arial"/>
                <a:cs typeface="Arial"/>
              </a:rPr>
              <a:t>contain</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pointer</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child</a:t>
            </a:r>
            <a:r>
              <a:rPr sz="1000" spc="5" dirty="0">
                <a:latin typeface="Arial"/>
                <a:cs typeface="Arial"/>
              </a:rPr>
              <a:t> </a:t>
            </a:r>
            <a:r>
              <a:rPr sz="1000" spc="-5" dirty="0">
                <a:latin typeface="Arial"/>
                <a:cs typeface="Arial"/>
              </a:rPr>
              <a:t>if</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if</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subtree rooted</a:t>
            </a:r>
            <a:r>
              <a:rPr sz="1000" dirty="0">
                <a:latin typeface="Arial"/>
                <a:cs typeface="Arial"/>
              </a:rPr>
              <a:t> </a:t>
            </a:r>
            <a:r>
              <a:rPr sz="1000" spc="-5" dirty="0">
                <a:latin typeface="Arial"/>
                <a:cs typeface="Arial"/>
              </a:rPr>
              <a:t>at the</a:t>
            </a:r>
            <a:r>
              <a:rPr sz="1000" dirty="0">
                <a:latin typeface="Arial"/>
                <a:cs typeface="Arial"/>
              </a:rPr>
              <a:t> </a:t>
            </a:r>
            <a:r>
              <a:rPr sz="1000" spc="-5" dirty="0">
                <a:latin typeface="Arial"/>
                <a:cs typeface="Arial"/>
              </a:rPr>
              <a:t>child stores</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address of</a:t>
            </a:r>
            <a:r>
              <a:rPr sz="1000" dirty="0">
                <a:latin typeface="Arial"/>
                <a:cs typeface="Arial"/>
              </a:rPr>
              <a:t> </a:t>
            </a:r>
            <a:r>
              <a:rPr sz="1000" spc="-5" dirty="0">
                <a:latin typeface="Arial"/>
                <a:cs typeface="Arial"/>
              </a:rPr>
              <a:t>the entity</a:t>
            </a:r>
            <a:endParaRPr sz="1000">
              <a:latin typeface="Arial"/>
              <a:cs typeface="Arial"/>
            </a:endParaRPr>
          </a:p>
          <a:p>
            <a:pPr marL="314960" indent="-168275">
              <a:lnSpc>
                <a:spcPts val="1150"/>
              </a:lnSpc>
              <a:buClr>
                <a:srgbClr val="3333B2"/>
              </a:buClr>
              <a:buChar char="►"/>
              <a:tabLst>
                <a:tab pos="315595" algn="l"/>
              </a:tabLst>
            </a:pPr>
            <a:r>
              <a:rPr sz="1000" spc="-5" dirty="0">
                <a:latin typeface="Arial"/>
                <a:cs typeface="Arial"/>
              </a:rPr>
              <a:t>The</a:t>
            </a:r>
            <a:r>
              <a:rPr sz="1000" spc="-10" dirty="0">
                <a:latin typeface="Arial"/>
                <a:cs typeface="Arial"/>
              </a:rPr>
              <a:t> </a:t>
            </a:r>
            <a:r>
              <a:rPr sz="1000" spc="-5" dirty="0">
                <a:latin typeface="Arial"/>
                <a:cs typeface="Arial"/>
              </a:rPr>
              <a:t>root </a:t>
            </a:r>
            <a:r>
              <a:rPr sz="1000" spc="-10" dirty="0">
                <a:latin typeface="Arial"/>
                <a:cs typeface="Arial"/>
              </a:rPr>
              <a:t>knows</a:t>
            </a:r>
            <a:r>
              <a:rPr sz="1000" spc="-5" dirty="0">
                <a:latin typeface="Arial"/>
                <a:cs typeface="Arial"/>
              </a:rPr>
              <a:t> about all entities</a:t>
            </a:r>
            <a:endParaRPr sz="1000">
              <a:latin typeface="Arial"/>
              <a:cs typeface="Arial"/>
            </a:endParaRPr>
          </a:p>
          <a:p>
            <a:pPr marL="38100" marR="99695">
              <a:lnSpc>
                <a:spcPts val="1390"/>
              </a:lnSpc>
              <a:spcBef>
                <a:spcPts val="880"/>
              </a:spcBef>
            </a:pPr>
            <a:r>
              <a:rPr sz="1200" dirty="0">
                <a:solidFill>
                  <a:srgbClr val="3333B2"/>
                </a:solidFill>
                <a:latin typeface="Arial"/>
                <a:cs typeface="Arial"/>
              </a:rPr>
              <a:t>Storing</a:t>
            </a:r>
            <a:r>
              <a:rPr sz="1200" spc="-5" dirty="0">
                <a:solidFill>
                  <a:srgbClr val="3333B2"/>
                </a:solidFill>
                <a:latin typeface="Arial"/>
                <a:cs typeface="Arial"/>
              </a:rPr>
              <a:t> information of an entity </a:t>
            </a:r>
            <a:r>
              <a:rPr sz="1200" spc="-10" dirty="0">
                <a:solidFill>
                  <a:srgbClr val="3333B2"/>
                </a:solidFill>
                <a:latin typeface="Arial"/>
                <a:cs typeface="Arial"/>
              </a:rPr>
              <a:t>having</a:t>
            </a:r>
            <a:r>
              <a:rPr sz="1200" spc="-5" dirty="0">
                <a:solidFill>
                  <a:srgbClr val="3333B2"/>
                </a:solidFill>
                <a:latin typeface="Arial"/>
                <a:cs typeface="Arial"/>
              </a:rPr>
              <a:t> </a:t>
            </a:r>
            <a:r>
              <a:rPr sz="1200" spc="-10" dirty="0">
                <a:solidFill>
                  <a:srgbClr val="3333B2"/>
                </a:solidFill>
                <a:latin typeface="Arial"/>
                <a:cs typeface="Arial"/>
              </a:rPr>
              <a:t>two</a:t>
            </a:r>
            <a:r>
              <a:rPr sz="1200" spc="-5" dirty="0">
                <a:solidFill>
                  <a:srgbClr val="3333B2"/>
                </a:solidFill>
                <a:latin typeface="Arial"/>
                <a:cs typeface="Arial"/>
              </a:rPr>
              <a:t> addresses</a:t>
            </a:r>
            <a:r>
              <a:rPr sz="1200" dirty="0">
                <a:solidFill>
                  <a:srgbClr val="3333B2"/>
                </a:solidFill>
                <a:latin typeface="Arial"/>
                <a:cs typeface="Arial"/>
              </a:rPr>
              <a:t> </a:t>
            </a:r>
            <a:r>
              <a:rPr sz="1200" spc="-5" dirty="0">
                <a:solidFill>
                  <a:srgbClr val="3333B2"/>
                </a:solidFill>
                <a:latin typeface="Arial"/>
                <a:cs typeface="Arial"/>
              </a:rPr>
              <a:t>in </a:t>
            </a:r>
            <a:r>
              <a:rPr sz="1200" spc="-320" dirty="0">
                <a:solidFill>
                  <a:srgbClr val="3333B2"/>
                </a:solidFill>
                <a:latin typeface="Arial"/>
                <a:cs typeface="Arial"/>
              </a:rPr>
              <a:t> </a:t>
            </a:r>
            <a:r>
              <a:rPr sz="1200" spc="-10" dirty="0">
                <a:solidFill>
                  <a:srgbClr val="3333B2"/>
                </a:solidFill>
                <a:latin typeface="Arial"/>
                <a:cs typeface="Arial"/>
              </a:rPr>
              <a:t>different </a:t>
            </a:r>
            <a:r>
              <a:rPr sz="1200" spc="-5" dirty="0">
                <a:solidFill>
                  <a:srgbClr val="3333B2"/>
                </a:solidFill>
                <a:latin typeface="Arial"/>
                <a:cs typeface="Arial"/>
              </a:rPr>
              <a:t>leaf domains</a:t>
            </a:r>
            <a:endParaRPr sz="1200">
              <a:latin typeface="Arial"/>
              <a:cs typeface="Arial"/>
            </a:endParaRPr>
          </a:p>
          <a:p>
            <a:pPr marR="266065" algn="ctr">
              <a:lnSpc>
                <a:spcPts val="745"/>
              </a:lnSpc>
              <a:spcBef>
                <a:spcPts val="595"/>
              </a:spcBef>
            </a:pPr>
            <a:r>
              <a:rPr sz="650" spc="5" dirty="0">
                <a:solidFill>
                  <a:srgbClr val="231F20"/>
                </a:solidFill>
                <a:latin typeface="Arial"/>
                <a:cs typeface="Arial"/>
              </a:rPr>
              <a:t>Field</a:t>
            </a:r>
            <a:r>
              <a:rPr sz="650" spc="-20" dirty="0">
                <a:solidFill>
                  <a:srgbClr val="231F20"/>
                </a:solidFill>
                <a:latin typeface="Arial"/>
                <a:cs typeface="Arial"/>
              </a:rPr>
              <a:t> </a:t>
            </a:r>
            <a:r>
              <a:rPr sz="650" spc="5" dirty="0">
                <a:solidFill>
                  <a:srgbClr val="231F20"/>
                </a:solidFill>
                <a:latin typeface="Arial"/>
                <a:cs typeface="Arial"/>
              </a:rPr>
              <a:t>with</a:t>
            </a:r>
            <a:r>
              <a:rPr sz="650" spc="-20" dirty="0">
                <a:solidFill>
                  <a:srgbClr val="231F20"/>
                </a:solidFill>
                <a:latin typeface="Arial"/>
                <a:cs typeface="Arial"/>
              </a:rPr>
              <a:t> </a:t>
            </a:r>
            <a:r>
              <a:rPr sz="650" spc="5" dirty="0">
                <a:solidFill>
                  <a:srgbClr val="231F20"/>
                </a:solidFill>
                <a:latin typeface="Arial"/>
                <a:cs typeface="Arial"/>
              </a:rPr>
              <a:t>no</a:t>
            </a:r>
            <a:r>
              <a:rPr sz="650" spc="-20" dirty="0">
                <a:solidFill>
                  <a:srgbClr val="231F20"/>
                </a:solidFill>
                <a:latin typeface="Arial"/>
                <a:cs typeface="Arial"/>
              </a:rPr>
              <a:t> </a:t>
            </a:r>
            <a:r>
              <a:rPr sz="650" spc="5" dirty="0">
                <a:solidFill>
                  <a:srgbClr val="231F20"/>
                </a:solidFill>
                <a:latin typeface="Arial"/>
                <a:cs typeface="Arial"/>
              </a:rPr>
              <a:t>data</a:t>
            </a:r>
            <a:endParaRPr sz="650">
              <a:latin typeface="Arial"/>
              <a:cs typeface="Arial"/>
            </a:endParaRPr>
          </a:p>
          <a:p>
            <a:pPr marR="2204720" algn="ctr">
              <a:lnSpc>
                <a:spcPts val="745"/>
              </a:lnSpc>
            </a:pPr>
            <a:r>
              <a:rPr sz="650" spc="5" dirty="0">
                <a:solidFill>
                  <a:srgbClr val="231F20"/>
                </a:solidFill>
                <a:latin typeface="Arial"/>
                <a:cs typeface="Arial"/>
              </a:rPr>
              <a:t>Field</a:t>
            </a:r>
            <a:r>
              <a:rPr sz="650" spc="-25" dirty="0">
                <a:solidFill>
                  <a:srgbClr val="231F20"/>
                </a:solidFill>
                <a:latin typeface="Arial"/>
                <a:cs typeface="Arial"/>
              </a:rPr>
              <a:t> </a:t>
            </a:r>
            <a:r>
              <a:rPr sz="650" spc="5" dirty="0">
                <a:solidFill>
                  <a:srgbClr val="231F20"/>
                </a:solidFill>
                <a:latin typeface="Arial"/>
                <a:cs typeface="Arial"/>
              </a:rPr>
              <a:t>for</a:t>
            </a:r>
            <a:r>
              <a:rPr sz="650" spc="-25" dirty="0">
                <a:solidFill>
                  <a:srgbClr val="231F20"/>
                </a:solidFill>
                <a:latin typeface="Arial"/>
                <a:cs typeface="Arial"/>
              </a:rPr>
              <a:t> </a:t>
            </a:r>
            <a:r>
              <a:rPr sz="650" spc="5" dirty="0">
                <a:solidFill>
                  <a:srgbClr val="231F20"/>
                </a:solidFill>
                <a:latin typeface="Arial"/>
                <a:cs typeface="Arial"/>
              </a:rPr>
              <a:t>domain</a:t>
            </a:r>
            <a:endParaRPr sz="650">
              <a:latin typeface="Arial"/>
              <a:cs typeface="Arial"/>
            </a:endParaRPr>
          </a:p>
        </p:txBody>
      </p:sp>
      <p:sp>
        <p:nvSpPr>
          <p:cNvPr id="52" name="object 52"/>
          <p:cNvSpPr txBox="1"/>
          <p:nvPr/>
        </p:nvSpPr>
        <p:spPr>
          <a:xfrm>
            <a:off x="837119" y="1934886"/>
            <a:ext cx="480059"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dom(N) with  pointer</a:t>
            </a:r>
            <a:r>
              <a:rPr sz="650" spc="-35" dirty="0">
                <a:solidFill>
                  <a:srgbClr val="231F20"/>
                </a:solidFill>
                <a:latin typeface="Arial"/>
                <a:cs typeface="Arial"/>
              </a:rPr>
              <a:t> </a:t>
            </a:r>
            <a:r>
              <a:rPr sz="650" spc="5" dirty="0">
                <a:solidFill>
                  <a:srgbClr val="231F20"/>
                </a:solidFill>
                <a:latin typeface="Arial"/>
                <a:cs typeface="Arial"/>
              </a:rPr>
              <a:t>to</a:t>
            </a:r>
            <a:r>
              <a:rPr sz="650" spc="-30" dirty="0">
                <a:solidFill>
                  <a:srgbClr val="231F20"/>
                </a:solidFill>
                <a:latin typeface="Arial"/>
                <a:cs typeface="Arial"/>
              </a:rPr>
              <a:t> </a:t>
            </a:r>
            <a:r>
              <a:rPr sz="650" spc="10" dirty="0">
                <a:solidFill>
                  <a:srgbClr val="231F20"/>
                </a:solidFill>
                <a:latin typeface="Arial"/>
                <a:cs typeface="Arial"/>
              </a:rPr>
              <a:t>N</a:t>
            </a:r>
            <a:endParaRPr sz="650">
              <a:latin typeface="Arial"/>
              <a:cs typeface="Arial"/>
            </a:endParaRPr>
          </a:p>
        </p:txBody>
      </p:sp>
      <p:sp>
        <p:nvSpPr>
          <p:cNvPr id="53" name="object 53"/>
          <p:cNvSpPr/>
          <p:nvPr/>
        </p:nvSpPr>
        <p:spPr>
          <a:xfrm>
            <a:off x="1461988" y="1922653"/>
            <a:ext cx="1136015" cy="433705"/>
          </a:xfrm>
          <a:custGeom>
            <a:avLst/>
            <a:gdLst/>
            <a:ahLst/>
            <a:cxnLst/>
            <a:rect l="l" t="t" r="r" b="b"/>
            <a:pathLst>
              <a:path w="1136014" h="433705">
                <a:moveTo>
                  <a:pt x="328682" y="0"/>
                </a:moveTo>
                <a:lnTo>
                  <a:pt x="387632" y="3501"/>
                </a:lnTo>
                <a:lnTo>
                  <a:pt x="443169" y="13591"/>
                </a:lnTo>
                <a:lnTo>
                  <a:pt x="494353" y="29651"/>
                </a:lnTo>
                <a:lnTo>
                  <a:pt x="540242" y="51060"/>
                </a:lnTo>
                <a:lnTo>
                  <a:pt x="579897" y="77198"/>
                </a:lnTo>
                <a:lnTo>
                  <a:pt x="612377" y="107444"/>
                </a:lnTo>
                <a:lnTo>
                  <a:pt x="636741" y="141180"/>
                </a:lnTo>
                <a:lnTo>
                  <a:pt x="652049" y="177785"/>
                </a:lnTo>
                <a:lnTo>
                  <a:pt x="657360" y="216638"/>
                </a:lnTo>
                <a:lnTo>
                  <a:pt x="652049" y="255491"/>
                </a:lnTo>
                <a:lnTo>
                  <a:pt x="636741" y="292096"/>
                </a:lnTo>
                <a:lnTo>
                  <a:pt x="612377" y="325831"/>
                </a:lnTo>
                <a:lnTo>
                  <a:pt x="579897" y="356077"/>
                </a:lnTo>
                <a:lnTo>
                  <a:pt x="540242" y="382213"/>
                </a:lnTo>
                <a:lnTo>
                  <a:pt x="494353" y="403621"/>
                </a:lnTo>
                <a:lnTo>
                  <a:pt x="443169" y="419680"/>
                </a:lnTo>
                <a:lnTo>
                  <a:pt x="387632" y="429770"/>
                </a:lnTo>
                <a:lnTo>
                  <a:pt x="328682" y="433271"/>
                </a:lnTo>
                <a:lnTo>
                  <a:pt x="269731" y="429770"/>
                </a:lnTo>
                <a:lnTo>
                  <a:pt x="214194" y="419679"/>
                </a:lnTo>
                <a:lnTo>
                  <a:pt x="163010" y="403620"/>
                </a:lnTo>
                <a:lnTo>
                  <a:pt x="117120" y="382212"/>
                </a:lnTo>
                <a:lnTo>
                  <a:pt x="77465" y="356076"/>
                </a:lnTo>
                <a:lnTo>
                  <a:pt x="44984" y="325830"/>
                </a:lnTo>
                <a:lnTo>
                  <a:pt x="20620" y="292095"/>
                </a:lnTo>
                <a:lnTo>
                  <a:pt x="5311" y="255491"/>
                </a:lnTo>
                <a:lnTo>
                  <a:pt x="0" y="216638"/>
                </a:lnTo>
                <a:lnTo>
                  <a:pt x="5311" y="177782"/>
                </a:lnTo>
                <a:lnTo>
                  <a:pt x="20620" y="141177"/>
                </a:lnTo>
                <a:lnTo>
                  <a:pt x="44984" y="107442"/>
                </a:lnTo>
                <a:lnTo>
                  <a:pt x="77465" y="77198"/>
                </a:lnTo>
                <a:lnTo>
                  <a:pt x="117120" y="51062"/>
                </a:lnTo>
                <a:lnTo>
                  <a:pt x="163010" y="29656"/>
                </a:lnTo>
                <a:lnTo>
                  <a:pt x="214194" y="13599"/>
                </a:lnTo>
                <a:lnTo>
                  <a:pt x="269731" y="3511"/>
                </a:lnTo>
                <a:lnTo>
                  <a:pt x="328682" y="10"/>
                </a:lnTo>
                <a:close/>
              </a:path>
              <a:path w="1136014" h="433705">
                <a:moveTo>
                  <a:pt x="657360" y="253995"/>
                </a:moveTo>
                <a:lnTo>
                  <a:pt x="1135448" y="343626"/>
                </a:lnTo>
              </a:path>
            </a:pathLst>
          </a:custGeom>
          <a:ln w="5267">
            <a:solidFill>
              <a:srgbClr val="231F20"/>
            </a:solidFill>
            <a:prstDash val="lgDash"/>
          </a:ln>
        </p:spPr>
        <p:txBody>
          <a:bodyPr wrap="square" lIns="0" tIns="0" rIns="0" bIns="0" rtlCol="0"/>
          <a:lstStyle/>
          <a:p>
            <a:endParaRPr/>
          </a:p>
        </p:txBody>
      </p:sp>
      <p:sp>
        <p:nvSpPr>
          <p:cNvPr id="54" name="object 54"/>
          <p:cNvSpPr txBox="1"/>
          <p:nvPr/>
        </p:nvSpPr>
        <p:spPr>
          <a:xfrm>
            <a:off x="2241183" y="1899973"/>
            <a:ext cx="607060" cy="344170"/>
          </a:xfrm>
          <a:prstGeom prst="rect">
            <a:avLst/>
          </a:prstGeom>
        </p:spPr>
        <p:txBody>
          <a:bodyPr vert="horz" wrap="square" lIns="0" tIns="20320" rIns="0" bIns="0" rtlCol="0">
            <a:spAutoFit/>
          </a:bodyPr>
          <a:lstStyle/>
          <a:p>
            <a:pPr marL="12700" marR="5080">
              <a:lnSpc>
                <a:spcPts val="750"/>
              </a:lnSpc>
              <a:spcBef>
                <a:spcPts val="160"/>
              </a:spcBef>
            </a:pPr>
            <a:r>
              <a:rPr sz="650" spc="5" dirty="0">
                <a:solidFill>
                  <a:srgbClr val="231F20"/>
                </a:solidFill>
                <a:latin typeface="Arial"/>
                <a:cs typeface="Arial"/>
              </a:rPr>
              <a:t>Location record  for</a:t>
            </a:r>
            <a:r>
              <a:rPr sz="650" spc="-20" dirty="0">
                <a:solidFill>
                  <a:srgbClr val="231F20"/>
                </a:solidFill>
                <a:latin typeface="Arial"/>
                <a:cs typeface="Arial"/>
              </a:rPr>
              <a:t> </a:t>
            </a:r>
            <a:r>
              <a:rPr sz="650" spc="5" dirty="0">
                <a:solidFill>
                  <a:srgbClr val="231F20"/>
                </a:solidFill>
                <a:latin typeface="Arial"/>
                <a:cs typeface="Arial"/>
              </a:rPr>
              <a:t>E</a:t>
            </a:r>
            <a:r>
              <a:rPr sz="650" spc="-20" dirty="0">
                <a:solidFill>
                  <a:srgbClr val="231F20"/>
                </a:solidFill>
                <a:latin typeface="Arial"/>
                <a:cs typeface="Arial"/>
              </a:rPr>
              <a:t> </a:t>
            </a:r>
            <a:r>
              <a:rPr sz="650" spc="5" dirty="0">
                <a:solidFill>
                  <a:srgbClr val="231F20"/>
                </a:solidFill>
                <a:latin typeface="Arial"/>
                <a:cs typeface="Arial"/>
              </a:rPr>
              <a:t>at</a:t>
            </a:r>
            <a:r>
              <a:rPr sz="650" spc="-20" dirty="0">
                <a:solidFill>
                  <a:srgbClr val="231F20"/>
                </a:solidFill>
                <a:latin typeface="Arial"/>
                <a:cs typeface="Arial"/>
              </a:rPr>
              <a:t> </a:t>
            </a:r>
            <a:r>
              <a:rPr sz="650" spc="5" dirty="0">
                <a:solidFill>
                  <a:srgbClr val="231F20"/>
                </a:solidFill>
                <a:latin typeface="Arial"/>
                <a:cs typeface="Arial"/>
              </a:rPr>
              <a:t>node</a:t>
            </a:r>
            <a:r>
              <a:rPr sz="650" spc="-15" dirty="0">
                <a:solidFill>
                  <a:srgbClr val="231F20"/>
                </a:solidFill>
                <a:latin typeface="Arial"/>
                <a:cs typeface="Arial"/>
              </a:rPr>
              <a:t> </a:t>
            </a:r>
            <a:r>
              <a:rPr sz="650" spc="10" dirty="0">
                <a:solidFill>
                  <a:srgbClr val="231F20"/>
                </a:solidFill>
                <a:latin typeface="Arial"/>
                <a:cs typeface="Arial"/>
              </a:rPr>
              <a:t>M</a:t>
            </a:r>
            <a:endParaRPr sz="650">
              <a:latin typeface="Arial"/>
              <a:cs typeface="Arial"/>
            </a:endParaRPr>
          </a:p>
          <a:p>
            <a:pPr marL="390525">
              <a:lnSpc>
                <a:spcPct val="100000"/>
              </a:lnSpc>
              <a:spcBef>
                <a:spcPts val="160"/>
              </a:spcBef>
            </a:pPr>
            <a:r>
              <a:rPr sz="650" spc="10" dirty="0">
                <a:solidFill>
                  <a:srgbClr val="231F20"/>
                </a:solidFill>
                <a:latin typeface="Arial"/>
                <a:cs typeface="Arial"/>
              </a:rPr>
              <a:t>M</a:t>
            </a:r>
            <a:endParaRPr sz="650">
              <a:latin typeface="Arial"/>
              <a:cs typeface="Arial"/>
            </a:endParaRPr>
          </a:p>
        </p:txBody>
      </p:sp>
      <p:sp>
        <p:nvSpPr>
          <p:cNvPr id="55" name="object 55"/>
          <p:cNvSpPr/>
          <p:nvPr/>
        </p:nvSpPr>
        <p:spPr>
          <a:xfrm>
            <a:off x="1387287" y="1877833"/>
            <a:ext cx="2106930" cy="1023619"/>
          </a:xfrm>
          <a:custGeom>
            <a:avLst/>
            <a:gdLst/>
            <a:ahLst/>
            <a:cxnLst/>
            <a:rect l="l" t="t" r="r" b="b"/>
            <a:pathLst>
              <a:path w="2106929" h="1023619">
                <a:moveTo>
                  <a:pt x="0" y="209165"/>
                </a:moveTo>
                <a:lnTo>
                  <a:pt x="253275" y="208047"/>
                </a:lnTo>
              </a:path>
              <a:path w="2106929" h="1023619">
                <a:moveTo>
                  <a:pt x="672304" y="0"/>
                </a:moveTo>
                <a:lnTo>
                  <a:pt x="555457" y="130740"/>
                </a:lnTo>
              </a:path>
              <a:path w="2106929" h="1023619">
                <a:moveTo>
                  <a:pt x="283861" y="926287"/>
                </a:moveTo>
                <a:lnTo>
                  <a:pt x="558968" y="1023223"/>
                </a:lnTo>
              </a:path>
              <a:path w="2106929" h="1023619">
                <a:moveTo>
                  <a:pt x="851586" y="134460"/>
                </a:moveTo>
                <a:lnTo>
                  <a:pt x="710052" y="186965"/>
                </a:lnTo>
              </a:path>
              <a:path w="2106929" h="1023619">
                <a:moveTo>
                  <a:pt x="1240022" y="463150"/>
                </a:moveTo>
                <a:lnTo>
                  <a:pt x="1329661" y="463150"/>
                </a:lnTo>
                <a:lnTo>
                  <a:pt x="1329661" y="403383"/>
                </a:lnTo>
                <a:lnTo>
                  <a:pt x="1240022" y="403383"/>
                </a:lnTo>
                <a:lnTo>
                  <a:pt x="1240022" y="463150"/>
                </a:lnTo>
                <a:close/>
              </a:path>
              <a:path w="2106929" h="1023619">
                <a:moveTo>
                  <a:pt x="1269905" y="403382"/>
                </a:moveTo>
                <a:lnTo>
                  <a:pt x="1269905" y="463150"/>
                </a:lnTo>
              </a:path>
              <a:path w="2106929" h="1023619">
                <a:moveTo>
                  <a:pt x="1299779" y="403382"/>
                </a:moveTo>
                <a:lnTo>
                  <a:pt x="1299779" y="463150"/>
                </a:lnTo>
              </a:path>
              <a:path w="2106929" h="1023619">
                <a:moveTo>
                  <a:pt x="836639" y="717130"/>
                </a:moveTo>
                <a:lnTo>
                  <a:pt x="926287" y="717130"/>
                </a:lnTo>
                <a:lnTo>
                  <a:pt x="926287" y="657368"/>
                </a:lnTo>
                <a:lnTo>
                  <a:pt x="836639" y="657368"/>
                </a:lnTo>
                <a:lnTo>
                  <a:pt x="836639" y="717130"/>
                </a:lnTo>
                <a:close/>
              </a:path>
              <a:path w="2106929" h="1023619">
                <a:moveTo>
                  <a:pt x="866522" y="657368"/>
                </a:moveTo>
                <a:lnTo>
                  <a:pt x="866522" y="717130"/>
                </a:lnTo>
              </a:path>
              <a:path w="2106929" h="1023619">
                <a:moveTo>
                  <a:pt x="896396" y="657368"/>
                </a:moveTo>
                <a:lnTo>
                  <a:pt x="896396" y="717130"/>
                </a:lnTo>
              </a:path>
              <a:path w="2106929" h="1023619">
                <a:moveTo>
                  <a:pt x="2016904" y="239048"/>
                </a:moveTo>
                <a:lnTo>
                  <a:pt x="2106544" y="239048"/>
                </a:lnTo>
                <a:lnTo>
                  <a:pt x="2106544" y="179290"/>
                </a:lnTo>
                <a:lnTo>
                  <a:pt x="2016904" y="179290"/>
                </a:lnTo>
                <a:lnTo>
                  <a:pt x="2016904" y="239048"/>
                </a:lnTo>
                <a:close/>
              </a:path>
              <a:path w="2106929" h="1023619">
                <a:moveTo>
                  <a:pt x="2046777" y="179291"/>
                </a:moveTo>
                <a:lnTo>
                  <a:pt x="2046777" y="239048"/>
                </a:lnTo>
              </a:path>
              <a:path w="2106929" h="1023619">
                <a:moveTo>
                  <a:pt x="2076671" y="179291"/>
                </a:moveTo>
                <a:lnTo>
                  <a:pt x="2076671" y="239048"/>
                </a:lnTo>
              </a:path>
              <a:path w="2106929" h="1023619">
                <a:moveTo>
                  <a:pt x="1538817" y="702187"/>
                </a:moveTo>
                <a:lnTo>
                  <a:pt x="1598579" y="702187"/>
                </a:lnTo>
                <a:lnTo>
                  <a:pt x="1598579" y="642425"/>
                </a:lnTo>
                <a:lnTo>
                  <a:pt x="1538817" y="642425"/>
                </a:lnTo>
                <a:lnTo>
                  <a:pt x="1538817" y="702187"/>
                </a:lnTo>
                <a:close/>
              </a:path>
              <a:path w="2106929" h="1023619">
                <a:moveTo>
                  <a:pt x="1568711" y="642425"/>
                </a:moveTo>
                <a:lnTo>
                  <a:pt x="1568711" y="702187"/>
                </a:lnTo>
              </a:path>
            </a:pathLst>
          </a:custGeom>
          <a:ln w="5267">
            <a:solidFill>
              <a:srgbClr val="231F20"/>
            </a:solidFill>
          </a:ln>
        </p:spPr>
        <p:txBody>
          <a:bodyPr wrap="square" lIns="0" tIns="0" rIns="0" bIns="0" rtlCol="0"/>
          <a:lstStyle/>
          <a:p>
            <a:endParaRPr/>
          </a:p>
        </p:txBody>
      </p:sp>
      <p:sp>
        <p:nvSpPr>
          <p:cNvPr id="56" name="object 56"/>
          <p:cNvSpPr txBox="1"/>
          <p:nvPr/>
        </p:nvSpPr>
        <p:spPr>
          <a:xfrm>
            <a:off x="2226005" y="2363693"/>
            <a:ext cx="86360"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N</a:t>
            </a:r>
            <a:endParaRPr sz="650">
              <a:latin typeface="Arial"/>
              <a:cs typeface="Arial"/>
            </a:endParaRPr>
          </a:p>
        </p:txBody>
      </p:sp>
      <p:sp>
        <p:nvSpPr>
          <p:cNvPr id="57" name="object 5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17</a:t>
            </a:r>
            <a:r>
              <a:rPr spc="-40" dirty="0"/>
              <a:t> </a:t>
            </a:r>
            <a:r>
              <a:rPr spc="-5" dirty="0"/>
              <a:t>/</a:t>
            </a:r>
            <a:r>
              <a:rPr spc="-35" dirty="0"/>
              <a:t> </a:t>
            </a:r>
            <a:r>
              <a:rPr spc="-5" dirty="0"/>
              <a:t>46</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98214" y="716"/>
            <a:ext cx="843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31800" y="148132"/>
            <a:ext cx="4026535" cy="1409065"/>
          </a:xfrm>
          <a:prstGeom prst="rect">
            <a:avLst/>
          </a:prstGeom>
        </p:spPr>
        <p:txBody>
          <a:bodyPr vert="horz" wrap="square" lIns="0" tIns="57785" rIns="0" bIns="0" rtlCol="0">
            <a:spAutoFit/>
          </a:bodyPr>
          <a:lstStyle/>
          <a:p>
            <a:pPr marL="76200">
              <a:lnSpc>
                <a:spcPct val="100000"/>
              </a:lnSpc>
              <a:spcBef>
                <a:spcPts val="455"/>
              </a:spcBef>
            </a:pPr>
            <a:r>
              <a:rPr sz="1400" spc="15" dirty="0">
                <a:solidFill>
                  <a:srgbClr val="3333B2"/>
                </a:solidFill>
                <a:latin typeface="Arial"/>
                <a:cs typeface="Arial"/>
              </a:rPr>
              <a:t>HLS:</a:t>
            </a:r>
            <a:r>
              <a:rPr sz="1400" spc="-5" dirty="0">
                <a:solidFill>
                  <a:srgbClr val="3333B2"/>
                </a:solidFill>
                <a:latin typeface="Arial"/>
                <a:cs typeface="Arial"/>
              </a:rPr>
              <a:t> </a:t>
            </a:r>
            <a:r>
              <a:rPr sz="1400" spc="15" dirty="0">
                <a:solidFill>
                  <a:srgbClr val="3333B2"/>
                </a:solidFill>
                <a:latin typeface="Arial"/>
                <a:cs typeface="Arial"/>
              </a:rPr>
              <a:t>Lookup</a:t>
            </a:r>
            <a:r>
              <a:rPr sz="1400" dirty="0">
                <a:solidFill>
                  <a:srgbClr val="3333B2"/>
                </a:solidFill>
                <a:latin typeface="Arial"/>
                <a:cs typeface="Arial"/>
              </a:rPr>
              <a:t> </a:t>
            </a:r>
            <a:r>
              <a:rPr sz="1400" spc="10" dirty="0">
                <a:solidFill>
                  <a:srgbClr val="3333B2"/>
                </a:solidFill>
                <a:latin typeface="Arial"/>
                <a:cs typeface="Arial"/>
              </a:rPr>
              <a:t>operation</a:t>
            </a:r>
            <a:endParaRPr sz="1400">
              <a:latin typeface="Arial"/>
              <a:cs typeface="Arial"/>
            </a:endParaRPr>
          </a:p>
          <a:p>
            <a:pPr marL="327660">
              <a:lnSpc>
                <a:spcPct val="100000"/>
              </a:lnSpc>
              <a:spcBef>
                <a:spcPts val="270"/>
              </a:spcBef>
            </a:pPr>
            <a:r>
              <a:rPr sz="1200" spc="-5" dirty="0">
                <a:solidFill>
                  <a:srgbClr val="3333B2"/>
                </a:solidFill>
                <a:latin typeface="Arial"/>
                <a:cs typeface="Arial"/>
              </a:rPr>
              <a:t>Basic</a:t>
            </a:r>
            <a:r>
              <a:rPr sz="1200" spc="-25" dirty="0">
                <a:solidFill>
                  <a:srgbClr val="3333B2"/>
                </a:solidFill>
                <a:latin typeface="Arial"/>
                <a:cs typeface="Arial"/>
              </a:rPr>
              <a:t> </a:t>
            </a:r>
            <a:r>
              <a:rPr sz="1200" spc="-5" dirty="0">
                <a:solidFill>
                  <a:srgbClr val="3333B2"/>
                </a:solidFill>
                <a:latin typeface="Arial"/>
                <a:cs typeface="Arial"/>
              </a:rPr>
              <a:t>principles</a:t>
            </a:r>
            <a:endParaRPr sz="1200">
              <a:latin typeface="Arial"/>
              <a:cs typeface="Arial"/>
            </a:endParaRPr>
          </a:p>
          <a:p>
            <a:pPr marL="605155" indent="-168275">
              <a:lnSpc>
                <a:spcPts val="1200"/>
              </a:lnSpc>
              <a:spcBef>
                <a:spcPts val="770"/>
              </a:spcBef>
              <a:buClr>
                <a:srgbClr val="3333B2"/>
              </a:buClr>
              <a:buChar char="►"/>
              <a:tabLst>
                <a:tab pos="605790" algn="l"/>
              </a:tabLst>
            </a:pPr>
            <a:r>
              <a:rPr sz="1000" spc="5" dirty="0">
                <a:latin typeface="Arial"/>
                <a:cs typeface="Arial"/>
              </a:rPr>
              <a:t>Start</a:t>
            </a:r>
            <a:r>
              <a:rPr sz="1000" spc="-10" dirty="0">
                <a:latin typeface="Arial"/>
                <a:cs typeface="Arial"/>
              </a:rPr>
              <a:t> </a:t>
            </a:r>
            <a:r>
              <a:rPr sz="1000" spc="-5" dirty="0">
                <a:latin typeface="Arial"/>
                <a:cs typeface="Arial"/>
              </a:rPr>
              <a:t>lookup</a:t>
            </a:r>
            <a:r>
              <a:rPr sz="1000" spc="-10" dirty="0">
                <a:latin typeface="Arial"/>
                <a:cs typeface="Arial"/>
              </a:rPr>
              <a:t> </a:t>
            </a:r>
            <a:r>
              <a:rPr sz="1000" spc="-5" dirty="0">
                <a:latin typeface="Arial"/>
                <a:cs typeface="Arial"/>
              </a:rPr>
              <a:t>at</a:t>
            </a:r>
            <a:r>
              <a:rPr sz="1000" spc="-10" dirty="0">
                <a:latin typeface="Arial"/>
                <a:cs typeface="Arial"/>
              </a:rPr>
              <a:t> </a:t>
            </a:r>
            <a:r>
              <a:rPr sz="1000" spc="-5" dirty="0">
                <a:latin typeface="Arial"/>
                <a:cs typeface="Arial"/>
              </a:rPr>
              <a:t>local</a:t>
            </a:r>
            <a:r>
              <a:rPr sz="1000" spc="-15" dirty="0">
                <a:latin typeface="Arial"/>
                <a:cs typeface="Arial"/>
              </a:rPr>
              <a:t> </a:t>
            </a:r>
            <a:r>
              <a:rPr sz="1000" spc="-5" dirty="0">
                <a:latin typeface="Arial"/>
                <a:cs typeface="Arial"/>
              </a:rPr>
              <a:t>leaf</a:t>
            </a:r>
            <a:r>
              <a:rPr sz="1000" spc="-10" dirty="0">
                <a:latin typeface="Arial"/>
                <a:cs typeface="Arial"/>
              </a:rPr>
              <a:t> </a:t>
            </a:r>
            <a:r>
              <a:rPr sz="1000" spc="-5" dirty="0">
                <a:latin typeface="Arial"/>
                <a:cs typeface="Arial"/>
              </a:rPr>
              <a:t>node</a:t>
            </a:r>
            <a:endParaRPr sz="1000">
              <a:latin typeface="Arial"/>
              <a:cs typeface="Arial"/>
            </a:endParaRPr>
          </a:p>
          <a:p>
            <a:pPr marL="605155" indent="-168275">
              <a:lnSpc>
                <a:spcPts val="1195"/>
              </a:lnSpc>
              <a:buClr>
                <a:srgbClr val="3333B2"/>
              </a:buClr>
              <a:buChar char="►"/>
              <a:tabLst>
                <a:tab pos="605790" algn="l"/>
              </a:tabLst>
            </a:pPr>
            <a:r>
              <a:rPr sz="1000" spc="-5" dirty="0">
                <a:latin typeface="Arial"/>
                <a:cs typeface="Arial"/>
              </a:rPr>
              <a:t>Node </a:t>
            </a:r>
            <a:r>
              <a:rPr sz="1000" spc="-10" dirty="0">
                <a:latin typeface="Arial"/>
                <a:cs typeface="Arial"/>
              </a:rPr>
              <a:t>knows</a:t>
            </a:r>
            <a:r>
              <a:rPr sz="1000" dirty="0">
                <a:latin typeface="Arial"/>
                <a:cs typeface="Arial"/>
              </a:rPr>
              <a:t> </a:t>
            </a:r>
            <a:r>
              <a:rPr sz="1000" spc="-5" dirty="0">
                <a:latin typeface="Arial"/>
                <a:cs typeface="Arial"/>
              </a:rPr>
              <a:t>about </a:t>
            </a:r>
            <a:r>
              <a:rPr sz="1000" i="1" spc="-5" dirty="0">
                <a:latin typeface="Arial"/>
                <a:cs typeface="Arial"/>
              </a:rPr>
              <a:t>E</a:t>
            </a:r>
            <a:r>
              <a:rPr sz="1000" i="1" spc="95" dirty="0">
                <a:latin typeface="Arial"/>
                <a:cs typeface="Arial"/>
              </a:rPr>
              <a:t> </a:t>
            </a:r>
            <a:r>
              <a:rPr sz="1000" i="1" spc="-5" dirty="0">
                <a:latin typeface="メイリオ"/>
                <a:cs typeface="メイリオ"/>
              </a:rPr>
              <a:t>⇒</a:t>
            </a:r>
            <a:r>
              <a:rPr sz="1000" i="1" spc="-65" dirty="0">
                <a:latin typeface="メイリオ"/>
                <a:cs typeface="メイリオ"/>
              </a:rPr>
              <a:t> </a:t>
            </a:r>
            <a:r>
              <a:rPr sz="1000" spc="-10" dirty="0">
                <a:latin typeface="Arial"/>
                <a:cs typeface="Arial"/>
              </a:rPr>
              <a:t>follow</a:t>
            </a:r>
            <a:r>
              <a:rPr sz="1000" dirty="0">
                <a:latin typeface="Arial"/>
                <a:cs typeface="Arial"/>
              </a:rPr>
              <a:t> </a:t>
            </a:r>
            <a:r>
              <a:rPr sz="1000" spc="-10" dirty="0">
                <a:latin typeface="Arial"/>
                <a:cs typeface="Arial"/>
              </a:rPr>
              <a:t>downward</a:t>
            </a:r>
            <a:r>
              <a:rPr sz="1000" spc="-5" dirty="0">
                <a:latin typeface="Arial"/>
                <a:cs typeface="Arial"/>
              </a:rPr>
              <a:t> </a:t>
            </a:r>
            <a:r>
              <a:rPr sz="1000" spc="-10" dirty="0">
                <a:latin typeface="Arial"/>
                <a:cs typeface="Arial"/>
              </a:rPr>
              <a:t>pointer,</a:t>
            </a:r>
            <a:r>
              <a:rPr sz="1000" dirty="0">
                <a:latin typeface="Arial"/>
                <a:cs typeface="Arial"/>
              </a:rPr>
              <a:t> </a:t>
            </a:r>
            <a:r>
              <a:rPr sz="1000" spc="-5" dirty="0">
                <a:latin typeface="Arial"/>
                <a:cs typeface="Arial"/>
              </a:rPr>
              <a:t>else go</a:t>
            </a:r>
            <a:r>
              <a:rPr sz="1000" dirty="0">
                <a:latin typeface="Arial"/>
                <a:cs typeface="Arial"/>
              </a:rPr>
              <a:t> </a:t>
            </a:r>
            <a:r>
              <a:rPr sz="1000" spc="-5" dirty="0">
                <a:latin typeface="Arial"/>
                <a:cs typeface="Arial"/>
              </a:rPr>
              <a:t>up</a:t>
            </a:r>
            <a:endParaRPr sz="1000">
              <a:latin typeface="Arial"/>
              <a:cs typeface="Arial"/>
            </a:endParaRPr>
          </a:p>
          <a:p>
            <a:pPr marL="605155" indent="-168275">
              <a:lnSpc>
                <a:spcPts val="1200"/>
              </a:lnSpc>
              <a:buClr>
                <a:srgbClr val="3333B2"/>
              </a:buClr>
              <a:buChar char="►"/>
              <a:tabLst>
                <a:tab pos="605790" algn="l"/>
              </a:tabLst>
            </a:pPr>
            <a:r>
              <a:rPr sz="1000" spc="-5" dirty="0">
                <a:latin typeface="Arial"/>
                <a:cs typeface="Arial"/>
              </a:rPr>
              <a:t>Upward</a:t>
            </a:r>
            <a:r>
              <a:rPr sz="1000" spc="-15" dirty="0">
                <a:latin typeface="Arial"/>
                <a:cs typeface="Arial"/>
              </a:rPr>
              <a:t> </a:t>
            </a:r>
            <a:r>
              <a:rPr sz="1000" spc="-5" dirty="0">
                <a:latin typeface="Arial"/>
                <a:cs typeface="Arial"/>
              </a:rPr>
              <a:t>lookup</a:t>
            </a:r>
            <a:r>
              <a:rPr sz="1000" spc="-10" dirty="0">
                <a:latin typeface="Arial"/>
                <a:cs typeface="Arial"/>
              </a:rPr>
              <a:t> always </a:t>
            </a:r>
            <a:r>
              <a:rPr sz="1000" spc="-5" dirty="0">
                <a:latin typeface="Arial"/>
                <a:cs typeface="Arial"/>
              </a:rPr>
              <a:t>stops</a:t>
            </a:r>
            <a:r>
              <a:rPr sz="1000" spc="-15" dirty="0">
                <a:latin typeface="Arial"/>
                <a:cs typeface="Arial"/>
              </a:rPr>
              <a:t> </a:t>
            </a:r>
            <a:r>
              <a:rPr sz="1000" spc="-5" dirty="0">
                <a:latin typeface="Arial"/>
                <a:cs typeface="Arial"/>
              </a:rPr>
              <a:t>at</a:t>
            </a:r>
            <a:r>
              <a:rPr sz="1000" spc="-10" dirty="0">
                <a:latin typeface="Arial"/>
                <a:cs typeface="Arial"/>
              </a:rPr>
              <a:t> </a:t>
            </a:r>
            <a:r>
              <a:rPr sz="1000" spc="-5" dirty="0">
                <a:latin typeface="Arial"/>
                <a:cs typeface="Arial"/>
              </a:rPr>
              <a:t>root</a:t>
            </a:r>
            <a:endParaRPr sz="1000">
              <a:latin typeface="Arial"/>
              <a:cs typeface="Arial"/>
            </a:endParaRPr>
          </a:p>
          <a:p>
            <a:pPr>
              <a:lnSpc>
                <a:spcPct val="100000"/>
              </a:lnSpc>
              <a:spcBef>
                <a:spcPts val="25"/>
              </a:spcBef>
            </a:pPr>
            <a:endParaRPr sz="1150">
              <a:latin typeface="Arial"/>
              <a:cs typeface="Arial"/>
            </a:endParaRPr>
          </a:p>
          <a:p>
            <a:pPr marL="327660">
              <a:lnSpc>
                <a:spcPct val="100000"/>
              </a:lnSpc>
            </a:pPr>
            <a:r>
              <a:rPr sz="1200" spc="-5" dirty="0">
                <a:solidFill>
                  <a:srgbClr val="3333B2"/>
                </a:solidFill>
                <a:latin typeface="Arial"/>
                <a:cs typeface="Arial"/>
              </a:rPr>
              <a:t>Looking</a:t>
            </a:r>
            <a:r>
              <a:rPr sz="1200" spc="-20" dirty="0">
                <a:solidFill>
                  <a:srgbClr val="3333B2"/>
                </a:solidFill>
                <a:latin typeface="Arial"/>
                <a:cs typeface="Arial"/>
              </a:rPr>
              <a:t> </a:t>
            </a:r>
            <a:r>
              <a:rPr sz="1200" spc="-5" dirty="0">
                <a:solidFill>
                  <a:srgbClr val="3333B2"/>
                </a:solidFill>
                <a:latin typeface="Arial"/>
                <a:cs typeface="Arial"/>
              </a:rPr>
              <a:t>up</a:t>
            </a:r>
            <a:r>
              <a:rPr sz="1200" spc="-15" dirty="0">
                <a:solidFill>
                  <a:srgbClr val="3333B2"/>
                </a:solidFill>
                <a:latin typeface="Arial"/>
                <a:cs typeface="Arial"/>
              </a:rPr>
              <a:t> </a:t>
            </a:r>
            <a:r>
              <a:rPr sz="1200" spc="-5" dirty="0">
                <a:solidFill>
                  <a:srgbClr val="3333B2"/>
                </a:solidFill>
                <a:latin typeface="Arial"/>
                <a:cs typeface="Arial"/>
              </a:rPr>
              <a:t>a</a:t>
            </a:r>
            <a:r>
              <a:rPr sz="1200" spc="-20" dirty="0">
                <a:solidFill>
                  <a:srgbClr val="3333B2"/>
                </a:solidFill>
                <a:latin typeface="Arial"/>
                <a:cs typeface="Arial"/>
              </a:rPr>
              <a:t> </a:t>
            </a:r>
            <a:r>
              <a:rPr sz="1200" spc="-5" dirty="0">
                <a:solidFill>
                  <a:srgbClr val="3333B2"/>
                </a:solidFill>
                <a:latin typeface="Arial"/>
                <a:cs typeface="Arial"/>
              </a:rPr>
              <a:t>location</a:t>
            </a:r>
            <a:endParaRPr sz="1200">
              <a:latin typeface="Arial"/>
              <a:cs typeface="Arial"/>
            </a:endParaRPr>
          </a:p>
        </p:txBody>
      </p:sp>
      <p:grpSp>
        <p:nvGrpSpPr>
          <p:cNvPr id="5" name="object 5"/>
          <p:cNvGrpSpPr/>
          <p:nvPr/>
        </p:nvGrpSpPr>
        <p:grpSpPr>
          <a:xfrm>
            <a:off x="1606457" y="1902940"/>
            <a:ext cx="1653539" cy="1010919"/>
            <a:chOff x="1606457" y="1902940"/>
            <a:chExt cx="1653539" cy="1010919"/>
          </a:xfrm>
        </p:grpSpPr>
        <p:sp>
          <p:nvSpPr>
            <p:cNvPr id="6" name="object 6"/>
            <p:cNvSpPr/>
            <p:nvPr/>
          </p:nvSpPr>
          <p:spPr>
            <a:xfrm>
              <a:off x="2075556" y="2226561"/>
              <a:ext cx="284480" cy="160655"/>
            </a:xfrm>
            <a:custGeom>
              <a:avLst/>
              <a:gdLst/>
              <a:ahLst/>
              <a:cxnLst/>
              <a:rect l="l" t="t" r="r" b="b"/>
              <a:pathLst>
                <a:path w="284480" h="160655">
                  <a:moveTo>
                    <a:pt x="284310" y="0"/>
                  </a:moveTo>
                  <a:lnTo>
                    <a:pt x="0" y="160376"/>
                  </a:lnTo>
                </a:path>
              </a:pathLst>
            </a:custGeom>
            <a:ln w="5143">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2464074" y="2221417"/>
              <a:ext cx="180105" cy="165520"/>
            </a:xfrm>
            <a:prstGeom prst="rect">
              <a:avLst/>
            </a:prstGeom>
          </p:spPr>
        </p:pic>
        <p:sp>
          <p:nvSpPr>
            <p:cNvPr id="8" name="object 8"/>
            <p:cNvSpPr/>
            <p:nvPr/>
          </p:nvSpPr>
          <p:spPr>
            <a:xfrm>
              <a:off x="2518934" y="1993278"/>
              <a:ext cx="591820" cy="165735"/>
            </a:xfrm>
            <a:custGeom>
              <a:avLst/>
              <a:gdLst/>
              <a:ahLst/>
              <a:cxnLst/>
              <a:rect l="l" t="t" r="r" b="b"/>
              <a:pathLst>
                <a:path w="591819" h="165735">
                  <a:moveTo>
                    <a:pt x="591800" y="0"/>
                  </a:moveTo>
                  <a:lnTo>
                    <a:pt x="0" y="165154"/>
                  </a:lnTo>
                </a:path>
              </a:pathLst>
            </a:custGeom>
            <a:ln w="10287">
              <a:solidFill>
                <a:srgbClr val="231F20"/>
              </a:solidFill>
            </a:ln>
          </p:spPr>
          <p:txBody>
            <a:bodyPr wrap="square" lIns="0" tIns="0" rIns="0" bIns="0" rtlCol="0"/>
            <a:lstStyle/>
            <a:p>
              <a:endParaRPr/>
            </a:p>
          </p:txBody>
        </p:sp>
        <p:sp>
          <p:nvSpPr>
            <p:cNvPr id="9" name="object 9"/>
            <p:cNvSpPr/>
            <p:nvPr/>
          </p:nvSpPr>
          <p:spPr>
            <a:xfrm>
              <a:off x="2483804" y="2118769"/>
              <a:ext cx="78740" cy="60325"/>
            </a:xfrm>
            <a:custGeom>
              <a:avLst/>
              <a:gdLst/>
              <a:ahLst/>
              <a:cxnLst/>
              <a:rect l="l" t="t" r="r" b="b"/>
              <a:pathLst>
                <a:path w="78739" h="60325">
                  <a:moveTo>
                    <a:pt x="61547" y="0"/>
                  </a:moveTo>
                  <a:lnTo>
                    <a:pt x="0" y="49474"/>
                  </a:lnTo>
                  <a:lnTo>
                    <a:pt x="78273" y="59917"/>
                  </a:lnTo>
                  <a:lnTo>
                    <a:pt x="68473" y="46509"/>
                  </a:lnTo>
                  <a:lnTo>
                    <a:pt x="62418" y="32053"/>
                  </a:lnTo>
                  <a:lnTo>
                    <a:pt x="60110" y="16550"/>
                  </a:lnTo>
                  <a:lnTo>
                    <a:pt x="61547" y="0"/>
                  </a:lnTo>
                  <a:close/>
                </a:path>
              </a:pathLst>
            </a:custGeom>
            <a:solidFill>
              <a:srgbClr val="231F20"/>
            </a:solidFill>
          </p:spPr>
          <p:txBody>
            <a:bodyPr wrap="square" lIns="0" tIns="0" rIns="0" bIns="0" rtlCol="0"/>
            <a:lstStyle/>
            <a:p>
              <a:endParaRPr/>
            </a:p>
          </p:txBody>
        </p:sp>
        <p:sp>
          <p:nvSpPr>
            <p:cNvPr id="10" name="object 10"/>
            <p:cNvSpPr/>
            <p:nvPr/>
          </p:nvSpPr>
          <p:spPr>
            <a:xfrm>
              <a:off x="2483804" y="2211978"/>
              <a:ext cx="219075" cy="58419"/>
            </a:xfrm>
            <a:custGeom>
              <a:avLst/>
              <a:gdLst/>
              <a:ahLst/>
              <a:cxnLst/>
              <a:rect l="l" t="t" r="r" b="b"/>
              <a:pathLst>
                <a:path w="219075" h="58419">
                  <a:moveTo>
                    <a:pt x="0" y="0"/>
                  </a:moveTo>
                  <a:lnTo>
                    <a:pt x="218691" y="58323"/>
                  </a:lnTo>
                </a:path>
              </a:pathLst>
            </a:custGeom>
            <a:ln w="5143">
              <a:solidFill>
                <a:srgbClr val="231F20"/>
              </a:solidFill>
            </a:ln>
          </p:spPr>
          <p:txBody>
            <a:bodyPr wrap="square" lIns="0" tIns="0" rIns="0" bIns="0" rtlCol="0"/>
            <a:lstStyle/>
            <a:p>
              <a:endParaRPr/>
            </a:p>
          </p:txBody>
        </p:sp>
        <p:pic>
          <p:nvPicPr>
            <p:cNvPr id="11" name="object 11"/>
            <p:cNvPicPr/>
            <p:nvPr/>
          </p:nvPicPr>
          <p:blipFill>
            <a:blip r:embed="rId7" cstate="print"/>
            <a:stretch>
              <a:fillRect/>
            </a:stretch>
          </p:blipFill>
          <p:spPr>
            <a:xfrm>
              <a:off x="2346761" y="2121927"/>
              <a:ext cx="150941" cy="150946"/>
            </a:xfrm>
            <a:prstGeom prst="rect">
              <a:avLst/>
            </a:prstGeom>
          </p:spPr>
        </p:pic>
        <p:sp>
          <p:nvSpPr>
            <p:cNvPr id="12" name="object 12"/>
            <p:cNvSpPr/>
            <p:nvPr/>
          </p:nvSpPr>
          <p:spPr>
            <a:xfrm>
              <a:off x="3110735" y="1905798"/>
              <a:ext cx="146050" cy="146050"/>
            </a:xfrm>
            <a:custGeom>
              <a:avLst/>
              <a:gdLst/>
              <a:ahLst/>
              <a:cxnLst/>
              <a:rect l="l" t="t" r="r" b="b"/>
              <a:pathLst>
                <a:path w="146050" h="146050">
                  <a:moveTo>
                    <a:pt x="72903" y="0"/>
                  </a:moveTo>
                  <a:lnTo>
                    <a:pt x="101231" y="5745"/>
                  </a:lnTo>
                  <a:lnTo>
                    <a:pt x="124407" y="21395"/>
                  </a:lnTo>
                  <a:lnTo>
                    <a:pt x="140054" y="44574"/>
                  </a:lnTo>
                  <a:lnTo>
                    <a:pt x="145797" y="72903"/>
                  </a:lnTo>
                  <a:lnTo>
                    <a:pt x="140054" y="101231"/>
                  </a:lnTo>
                  <a:lnTo>
                    <a:pt x="124407" y="124407"/>
                  </a:lnTo>
                  <a:lnTo>
                    <a:pt x="101231" y="140054"/>
                  </a:lnTo>
                  <a:lnTo>
                    <a:pt x="72903" y="145797"/>
                  </a:lnTo>
                  <a:lnTo>
                    <a:pt x="44574" y="140054"/>
                  </a:lnTo>
                  <a:lnTo>
                    <a:pt x="21395" y="124407"/>
                  </a:lnTo>
                  <a:lnTo>
                    <a:pt x="5745" y="101231"/>
                  </a:lnTo>
                  <a:lnTo>
                    <a:pt x="0" y="72903"/>
                  </a:lnTo>
                  <a:lnTo>
                    <a:pt x="5745" y="44574"/>
                  </a:lnTo>
                  <a:lnTo>
                    <a:pt x="21395" y="21395"/>
                  </a:lnTo>
                  <a:lnTo>
                    <a:pt x="44574" y="5745"/>
                  </a:lnTo>
                  <a:lnTo>
                    <a:pt x="72903" y="0"/>
                  </a:lnTo>
                  <a:close/>
                </a:path>
              </a:pathLst>
            </a:custGeom>
            <a:ln w="5143">
              <a:solidFill>
                <a:srgbClr val="231F20"/>
              </a:solidFill>
            </a:ln>
          </p:spPr>
          <p:txBody>
            <a:bodyPr wrap="square" lIns="0" tIns="0" rIns="0" bIns="0" rtlCol="0"/>
            <a:lstStyle/>
            <a:p>
              <a:endParaRPr/>
            </a:p>
          </p:txBody>
        </p:sp>
        <p:sp>
          <p:nvSpPr>
            <p:cNvPr id="13" name="object 13"/>
            <p:cNvSpPr/>
            <p:nvPr/>
          </p:nvSpPr>
          <p:spPr>
            <a:xfrm>
              <a:off x="1958915" y="2372355"/>
              <a:ext cx="146050" cy="146050"/>
            </a:xfrm>
            <a:custGeom>
              <a:avLst/>
              <a:gdLst/>
              <a:ahLst/>
              <a:cxnLst/>
              <a:rect l="l" t="t" r="r" b="b"/>
              <a:pathLst>
                <a:path w="146050" h="146050">
                  <a:moveTo>
                    <a:pt x="72896" y="0"/>
                  </a:moveTo>
                  <a:lnTo>
                    <a:pt x="44569" y="5744"/>
                  </a:lnTo>
                  <a:lnTo>
                    <a:pt x="21393" y="21394"/>
                  </a:lnTo>
                  <a:lnTo>
                    <a:pt x="5744" y="44573"/>
                  </a:lnTo>
                  <a:lnTo>
                    <a:pt x="0" y="72904"/>
                  </a:lnTo>
                  <a:lnTo>
                    <a:pt x="5744" y="101234"/>
                  </a:lnTo>
                  <a:lnTo>
                    <a:pt x="21393" y="124412"/>
                  </a:lnTo>
                  <a:lnTo>
                    <a:pt x="44569" y="140061"/>
                  </a:lnTo>
                  <a:lnTo>
                    <a:pt x="72896" y="145805"/>
                  </a:lnTo>
                  <a:lnTo>
                    <a:pt x="101229" y="140061"/>
                  </a:lnTo>
                  <a:lnTo>
                    <a:pt x="124408" y="124412"/>
                  </a:lnTo>
                  <a:lnTo>
                    <a:pt x="140058" y="101234"/>
                  </a:lnTo>
                  <a:lnTo>
                    <a:pt x="145802" y="72904"/>
                  </a:lnTo>
                  <a:lnTo>
                    <a:pt x="140058" y="44573"/>
                  </a:lnTo>
                  <a:lnTo>
                    <a:pt x="124408" y="21394"/>
                  </a:lnTo>
                  <a:lnTo>
                    <a:pt x="101229" y="5744"/>
                  </a:lnTo>
                  <a:lnTo>
                    <a:pt x="72896" y="0"/>
                  </a:lnTo>
                  <a:close/>
                </a:path>
              </a:pathLst>
            </a:custGeom>
            <a:solidFill>
              <a:srgbClr val="FFFFFF"/>
            </a:solidFill>
          </p:spPr>
          <p:txBody>
            <a:bodyPr wrap="square" lIns="0" tIns="0" rIns="0" bIns="0" rtlCol="0"/>
            <a:lstStyle/>
            <a:p>
              <a:endParaRPr/>
            </a:p>
          </p:txBody>
        </p:sp>
        <p:sp>
          <p:nvSpPr>
            <p:cNvPr id="14" name="object 14"/>
            <p:cNvSpPr/>
            <p:nvPr/>
          </p:nvSpPr>
          <p:spPr>
            <a:xfrm>
              <a:off x="1958915" y="2372355"/>
              <a:ext cx="146050" cy="146050"/>
            </a:xfrm>
            <a:custGeom>
              <a:avLst/>
              <a:gdLst/>
              <a:ahLst/>
              <a:cxnLst/>
              <a:rect l="l" t="t" r="r" b="b"/>
              <a:pathLst>
                <a:path w="146050" h="146050">
                  <a:moveTo>
                    <a:pt x="72896" y="0"/>
                  </a:moveTo>
                  <a:lnTo>
                    <a:pt x="101229" y="5744"/>
                  </a:lnTo>
                  <a:lnTo>
                    <a:pt x="124408" y="21394"/>
                  </a:lnTo>
                  <a:lnTo>
                    <a:pt x="140058" y="44573"/>
                  </a:lnTo>
                  <a:lnTo>
                    <a:pt x="145802" y="72904"/>
                  </a:lnTo>
                  <a:lnTo>
                    <a:pt x="140058" y="101234"/>
                  </a:lnTo>
                  <a:lnTo>
                    <a:pt x="124408" y="124412"/>
                  </a:lnTo>
                  <a:lnTo>
                    <a:pt x="101229" y="140061"/>
                  </a:lnTo>
                  <a:lnTo>
                    <a:pt x="72896" y="145805"/>
                  </a:lnTo>
                  <a:lnTo>
                    <a:pt x="44569" y="140061"/>
                  </a:lnTo>
                  <a:lnTo>
                    <a:pt x="21393" y="124412"/>
                  </a:lnTo>
                  <a:lnTo>
                    <a:pt x="5744" y="101234"/>
                  </a:lnTo>
                  <a:lnTo>
                    <a:pt x="0" y="72904"/>
                  </a:lnTo>
                  <a:lnTo>
                    <a:pt x="5744" y="44573"/>
                  </a:lnTo>
                  <a:lnTo>
                    <a:pt x="21393" y="21394"/>
                  </a:lnTo>
                  <a:lnTo>
                    <a:pt x="44569" y="5744"/>
                  </a:lnTo>
                  <a:lnTo>
                    <a:pt x="72896" y="0"/>
                  </a:lnTo>
                  <a:close/>
                </a:path>
              </a:pathLst>
            </a:custGeom>
            <a:ln w="5143">
              <a:solidFill>
                <a:srgbClr val="231F20"/>
              </a:solidFill>
            </a:ln>
          </p:spPr>
          <p:txBody>
            <a:bodyPr wrap="square" lIns="0" tIns="0" rIns="0" bIns="0" rtlCol="0"/>
            <a:lstStyle/>
            <a:p>
              <a:endParaRPr/>
            </a:p>
          </p:txBody>
        </p:sp>
        <p:sp>
          <p:nvSpPr>
            <p:cNvPr id="15" name="object 15"/>
            <p:cNvSpPr/>
            <p:nvPr/>
          </p:nvSpPr>
          <p:spPr>
            <a:xfrm>
              <a:off x="2629602" y="2357781"/>
              <a:ext cx="146050" cy="146050"/>
            </a:xfrm>
            <a:custGeom>
              <a:avLst/>
              <a:gdLst/>
              <a:ahLst/>
              <a:cxnLst/>
              <a:rect l="l" t="t" r="r" b="b"/>
              <a:pathLst>
                <a:path w="146050" h="146050">
                  <a:moveTo>
                    <a:pt x="72893" y="0"/>
                  </a:moveTo>
                  <a:lnTo>
                    <a:pt x="44565" y="5744"/>
                  </a:lnTo>
                  <a:lnTo>
                    <a:pt x="21390" y="21393"/>
                  </a:lnTo>
                  <a:lnTo>
                    <a:pt x="5743" y="44569"/>
                  </a:lnTo>
                  <a:lnTo>
                    <a:pt x="0" y="72896"/>
                  </a:lnTo>
                  <a:lnTo>
                    <a:pt x="5743" y="101226"/>
                  </a:lnTo>
                  <a:lnTo>
                    <a:pt x="21390" y="124403"/>
                  </a:lnTo>
                  <a:lnTo>
                    <a:pt x="44565" y="140053"/>
                  </a:lnTo>
                  <a:lnTo>
                    <a:pt x="72893" y="145797"/>
                  </a:lnTo>
                  <a:lnTo>
                    <a:pt x="101223" y="140053"/>
                  </a:lnTo>
                  <a:lnTo>
                    <a:pt x="124401" y="124403"/>
                  </a:lnTo>
                  <a:lnTo>
                    <a:pt x="140052" y="101226"/>
                  </a:lnTo>
                  <a:lnTo>
                    <a:pt x="145797" y="72896"/>
                  </a:lnTo>
                  <a:lnTo>
                    <a:pt x="140052" y="44569"/>
                  </a:lnTo>
                  <a:lnTo>
                    <a:pt x="124401" y="21393"/>
                  </a:lnTo>
                  <a:lnTo>
                    <a:pt x="101223" y="5744"/>
                  </a:lnTo>
                  <a:lnTo>
                    <a:pt x="72893" y="0"/>
                  </a:lnTo>
                  <a:close/>
                </a:path>
              </a:pathLst>
            </a:custGeom>
            <a:solidFill>
              <a:srgbClr val="FFFFFF"/>
            </a:solidFill>
          </p:spPr>
          <p:txBody>
            <a:bodyPr wrap="square" lIns="0" tIns="0" rIns="0" bIns="0" rtlCol="0"/>
            <a:lstStyle/>
            <a:p>
              <a:endParaRPr/>
            </a:p>
          </p:txBody>
        </p:sp>
        <p:sp>
          <p:nvSpPr>
            <p:cNvPr id="16" name="object 16"/>
            <p:cNvSpPr/>
            <p:nvPr/>
          </p:nvSpPr>
          <p:spPr>
            <a:xfrm>
              <a:off x="1958915" y="2357781"/>
              <a:ext cx="816610" cy="495934"/>
            </a:xfrm>
            <a:custGeom>
              <a:avLst/>
              <a:gdLst/>
              <a:ahLst/>
              <a:cxnLst/>
              <a:rect l="l" t="t" r="r" b="b"/>
              <a:pathLst>
                <a:path w="816610" h="495935">
                  <a:moveTo>
                    <a:pt x="743580" y="0"/>
                  </a:moveTo>
                  <a:lnTo>
                    <a:pt x="771909" y="5744"/>
                  </a:lnTo>
                  <a:lnTo>
                    <a:pt x="795088" y="21393"/>
                  </a:lnTo>
                  <a:lnTo>
                    <a:pt x="810739" y="44569"/>
                  </a:lnTo>
                  <a:lnTo>
                    <a:pt x="816484" y="72896"/>
                  </a:lnTo>
                  <a:lnTo>
                    <a:pt x="810739" y="101226"/>
                  </a:lnTo>
                  <a:lnTo>
                    <a:pt x="795088" y="124403"/>
                  </a:lnTo>
                  <a:lnTo>
                    <a:pt x="771909" y="140053"/>
                  </a:lnTo>
                  <a:lnTo>
                    <a:pt x="743580" y="145797"/>
                  </a:lnTo>
                  <a:lnTo>
                    <a:pt x="715252" y="140053"/>
                  </a:lnTo>
                  <a:lnTo>
                    <a:pt x="692077" y="124403"/>
                  </a:lnTo>
                  <a:lnTo>
                    <a:pt x="676430" y="101226"/>
                  </a:lnTo>
                  <a:lnTo>
                    <a:pt x="670686" y="72896"/>
                  </a:lnTo>
                  <a:lnTo>
                    <a:pt x="676430" y="44569"/>
                  </a:lnTo>
                  <a:lnTo>
                    <a:pt x="692077" y="21393"/>
                  </a:lnTo>
                  <a:lnTo>
                    <a:pt x="715252" y="5744"/>
                  </a:lnTo>
                  <a:lnTo>
                    <a:pt x="743580" y="0"/>
                  </a:lnTo>
                  <a:close/>
                </a:path>
                <a:path w="816610" h="495935">
                  <a:moveTo>
                    <a:pt x="72896" y="349922"/>
                  </a:moveTo>
                  <a:lnTo>
                    <a:pt x="101229" y="355667"/>
                  </a:lnTo>
                  <a:lnTo>
                    <a:pt x="124408" y="371315"/>
                  </a:lnTo>
                  <a:lnTo>
                    <a:pt x="140058" y="394492"/>
                  </a:lnTo>
                  <a:lnTo>
                    <a:pt x="145802" y="422819"/>
                  </a:lnTo>
                  <a:lnTo>
                    <a:pt x="140058" y="451148"/>
                  </a:lnTo>
                  <a:lnTo>
                    <a:pt x="124408" y="474326"/>
                  </a:lnTo>
                  <a:lnTo>
                    <a:pt x="101229" y="489975"/>
                  </a:lnTo>
                  <a:lnTo>
                    <a:pt x="72896" y="495720"/>
                  </a:lnTo>
                  <a:lnTo>
                    <a:pt x="44569" y="489975"/>
                  </a:lnTo>
                  <a:lnTo>
                    <a:pt x="21393" y="474326"/>
                  </a:lnTo>
                  <a:lnTo>
                    <a:pt x="5744" y="451148"/>
                  </a:lnTo>
                  <a:lnTo>
                    <a:pt x="0" y="422819"/>
                  </a:lnTo>
                  <a:lnTo>
                    <a:pt x="5744" y="394492"/>
                  </a:lnTo>
                  <a:lnTo>
                    <a:pt x="21393" y="371315"/>
                  </a:lnTo>
                  <a:lnTo>
                    <a:pt x="44569" y="355667"/>
                  </a:lnTo>
                  <a:lnTo>
                    <a:pt x="72896" y="349922"/>
                  </a:lnTo>
                  <a:close/>
                </a:path>
                <a:path w="816610" h="495935">
                  <a:moveTo>
                    <a:pt x="72896" y="160380"/>
                  </a:moveTo>
                  <a:lnTo>
                    <a:pt x="72896" y="349922"/>
                  </a:lnTo>
                </a:path>
                <a:path w="816610" h="495935">
                  <a:moveTo>
                    <a:pt x="364504" y="349922"/>
                  </a:moveTo>
                  <a:lnTo>
                    <a:pt x="392834" y="355667"/>
                  </a:lnTo>
                  <a:lnTo>
                    <a:pt x="416012" y="371315"/>
                  </a:lnTo>
                  <a:lnTo>
                    <a:pt x="431663" y="394492"/>
                  </a:lnTo>
                  <a:lnTo>
                    <a:pt x="437408" y="422819"/>
                  </a:lnTo>
                  <a:lnTo>
                    <a:pt x="431663" y="451148"/>
                  </a:lnTo>
                  <a:lnTo>
                    <a:pt x="416012" y="474326"/>
                  </a:lnTo>
                  <a:lnTo>
                    <a:pt x="392834" y="489975"/>
                  </a:lnTo>
                  <a:lnTo>
                    <a:pt x="364504" y="495720"/>
                  </a:lnTo>
                  <a:lnTo>
                    <a:pt x="336174" y="489975"/>
                  </a:lnTo>
                  <a:lnTo>
                    <a:pt x="312996" y="474326"/>
                  </a:lnTo>
                  <a:lnTo>
                    <a:pt x="297345" y="451148"/>
                  </a:lnTo>
                  <a:lnTo>
                    <a:pt x="291600" y="422819"/>
                  </a:lnTo>
                  <a:lnTo>
                    <a:pt x="297345" y="394492"/>
                  </a:lnTo>
                  <a:lnTo>
                    <a:pt x="312996" y="371315"/>
                  </a:lnTo>
                  <a:lnTo>
                    <a:pt x="336174" y="355667"/>
                  </a:lnTo>
                  <a:lnTo>
                    <a:pt x="364504" y="349922"/>
                  </a:lnTo>
                  <a:close/>
                </a:path>
                <a:path w="816610" h="495935">
                  <a:moveTo>
                    <a:pt x="131219" y="131223"/>
                  </a:moveTo>
                  <a:lnTo>
                    <a:pt x="335340" y="364505"/>
                  </a:lnTo>
                </a:path>
              </a:pathLst>
            </a:custGeom>
            <a:ln w="5143">
              <a:solidFill>
                <a:srgbClr val="231F20"/>
              </a:solidFill>
            </a:ln>
          </p:spPr>
          <p:txBody>
            <a:bodyPr wrap="square" lIns="0" tIns="0" rIns="0" bIns="0" rtlCol="0"/>
            <a:lstStyle/>
            <a:p>
              <a:endParaRPr/>
            </a:p>
          </p:txBody>
        </p:sp>
        <p:sp>
          <p:nvSpPr>
            <p:cNvPr id="17" name="object 17"/>
            <p:cNvSpPr/>
            <p:nvPr/>
          </p:nvSpPr>
          <p:spPr>
            <a:xfrm>
              <a:off x="1608997" y="2648794"/>
              <a:ext cx="262890" cy="262890"/>
            </a:xfrm>
            <a:custGeom>
              <a:avLst/>
              <a:gdLst/>
              <a:ahLst/>
              <a:cxnLst/>
              <a:rect l="l" t="t" r="r" b="b"/>
              <a:pathLst>
                <a:path w="262889" h="262889">
                  <a:moveTo>
                    <a:pt x="131219" y="0"/>
                  </a:moveTo>
                  <a:lnTo>
                    <a:pt x="80227" y="10339"/>
                  </a:lnTo>
                  <a:lnTo>
                    <a:pt x="38508" y="38507"/>
                  </a:lnTo>
                  <a:lnTo>
                    <a:pt x="10340" y="80226"/>
                  </a:lnTo>
                  <a:lnTo>
                    <a:pt x="0" y="131219"/>
                  </a:lnTo>
                  <a:lnTo>
                    <a:pt x="10340" y="182211"/>
                  </a:lnTo>
                  <a:lnTo>
                    <a:pt x="38508" y="223928"/>
                  </a:lnTo>
                  <a:lnTo>
                    <a:pt x="80227" y="252095"/>
                  </a:lnTo>
                  <a:lnTo>
                    <a:pt x="131219" y="262434"/>
                  </a:lnTo>
                  <a:lnTo>
                    <a:pt x="182212" y="252095"/>
                  </a:lnTo>
                  <a:lnTo>
                    <a:pt x="223932" y="223928"/>
                  </a:lnTo>
                  <a:lnTo>
                    <a:pt x="252102" y="182211"/>
                  </a:lnTo>
                  <a:lnTo>
                    <a:pt x="262442" y="131219"/>
                  </a:lnTo>
                  <a:lnTo>
                    <a:pt x="252102" y="80226"/>
                  </a:lnTo>
                  <a:lnTo>
                    <a:pt x="223932" y="38507"/>
                  </a:lnTo>
                  <a:lnTo>
                    <a:pt x="182212" y="10339"/>
                  </a:lnTo>
                  <a:lnTo>
                    <a:pt x="131219" y="0"/>
                  </a:lnTo>
                  <a:close/>
                </a:path>
              </a:pathLst>
            </a:custGeom>
            <a:solidFill>
              <a:srgbClr val="939598"/>
            </a:solidFill>
          </p:spPr>
          <p:txBody>
            <a:bodyPr wrap="square" lIns="0" tIns="0" rIns="0" bIns="0" rtlCol="0"/>
            <a:lstStyle/>
            <a:p>
              <a:endParaRPr/>
            </a:p>
          </p:txBody>
        </p:sp>
        <p:sp>
          <p:nvSpPr>
            <p:cNvPr id="18" name="object 18"/>
            <p:cNvSpPr/>
            <p:nvPr/>
          </p:nvSpPr>
          <p:spPr>
            <a:xfrm>
              <a:off x="1608997" y="2648794"/>
              <a:ext cx="262890" cy="262890"/>
            </a:xfrm>
            <a:custGeom>
              <a:avLst/>
              <a:gdLst/>
              <a:ahLst/>
              <a:cxnLst/>
              <a:rect l="l" t="t" r="r" b="b"/>
              <a:pathLst>
                <a:path w="262889" h="262889">
                  <a:moveTo>
                    <a:pt x="131218" y="0"/>
                  </a:moveTo>
                  <a:lnTo>
                    <a:pt x="182211" y="10339"/>
                  </a:lnTo>
                  <a:lnTo>
                    <a:pt x="223932" y="38507"/>
                  </a:lnTo>
                  <a:lnTo>
                    <a:pt x="252102" y="80225"/>
                  </a:lnTo>
                  <a:lnTo>
                    <a:pt x="262442" y="131219"/>
                  </a:lnTo>
                  <a:lnTo>
                    <a:pt x="252102" y="182211"/>
                  </a:lnTo>
                  <a:lnTo>
                    <a:pt x="223932" y="223928"/>
                  </a:lnTo>
                  <a:lnTo>
                    <a:pt x="182211" y="252095"/>
                  </a:lnTo>
                  <a:lnTo>
                    <a:pt x="131218" y="262434"/>
                  </a:lnTo>
                  <a:lnTo>
                    <a:pt x="80226" y="252095"/>
                  </a:lnTo>
                  <a:lnTo>
                    <a:pt x="38508" y="223928"/>
                  </a:lnTo>
                  <a:lnTo>
                    <a:pt x="10339" y="182211"/>
                  </a:lnTo>
                  <a:lnTo>
                    <a:pt x="0" y="131219"/>
                  </a:lnTo>
                  <a:lnTo>
                    <a:pt x="10339" y="80225"/>
                  </a:lnTo>
                  <a:lnTo>
                    <a:pt x="38508" y="38507"/>
                  </a:lnTo>
                  <a:lnTo>
                    <a:pt x="80226" y="10339"/>
                  </a:lnTo>
                  <a:lnTo>
                    <a:pt x="131218" y="0"/>
                  </a:lnTo>
                  <a:close/>
                </a:path>
              </a:pathLst>
            </a:custGeom>
            <a:ln w="4629">
              <a:solidFill>
                <a:srgbClr val="231F20"/>
              </a:solidFill>
              <a:prstDash val="lgDash"/>
            </a:ln>
          </p:spPr>
          <p:txBody>
            <a:bodyPr wrap="square" lIns="0" tIns="0" rIns="0" bIns="0" rtlCol="0"/>
            <a:lstStyle/>
            <a:p>
              <a:endParaRPr/>
            </a:p>
          </p:txBody>
        </p:sp>
        <p:sp>
          <p:nvSpPr>
            <p:cNvPr id="19" name="object 19"/>
            <p:cNvSpPr/>
            <p:nvPr/>
          </p:nvSpPr>
          <p:spPr>
            <a:xfrm>
              <a:off x="1667319" y="2707703"/>
              <a:ext cx="146050" cy="146050"/>
            </a:xfrm>
            <a:custGeom>
              <a:avLst/>
              <a:gdLst/>
              <a:ahLst/>
              <a:cxnLst/>
              <a:rect l="l" t="t" r="r" b="b"/>
              <a:pathLst>
                <a:path w="146050" h="146050">
                  <a:moveTo>
                    <a:pt x="72897" y="0"/>
                  </a:moveTo>
                  <a:lnTo>
                    <a:pt x="44570" y="5744"/>
                  </a:lnTo>
                  <a:lnTo>
                    <a:pt x="21393" y="21393"/>
                  </a:lnTo>
                  <a:lnTo>
                    <a:pt x="5744" y="44569"/>
                  </a:lnTo>
                  <a:lnTo>
                    <a:pt x="0" y="72896"/>
                  </a:lnTo>
                  <a:lnTo>
                    <a:pt x="5744" y="101226"/>
                  </a:lnTo>
                  <a:lnTo>
                    <a:pt x="21393" y="124403"/>
                  </a:lnTo>
                  <a:lnTo>
                    <a:pt x="44570" y="140053"/>
                  </a:lnTo>
                  <a:lnTo>
                    <a:pt x="72897" y="145797"/>
                  </a:lnTo>
                  <a:lnTo>
                    <a:pt x="101224" y="140053"/>
                  </a:lnTo>
                  <a:lnTo>
                    <a:pt x="124401" y="124403"/>
                  </a:lnTo>
                  <a:lnTo>
                    <a:pt x="140050" y="101226"/>
                  </a:lnTo>
                  <a:lnTo>
                    <a:pt x="145794" y="72896"/>
                  </a:lnTo>
                  <a:lnTo>
                    <a:pt x="140050" y="44569"/>
                  </a:lnTo>
                  <a:lnTo>
                    <a:pt x="124401" y="21393"/>
                  </a:lnTo>
                  <a:lnTo>
                    <a:pt x="101224" y="5744"/>
                  </a:lnTo>
                  <a:lnTo>
                    <a:pt x="72897" y="0"/>
                  </a:lnTo>
                  <a:close/>
                </a:path>
              </a:pathLst>
            </a:custGeom>
            <a:solidFill>
              <a:srgbClr val="FFFFFF"/>
            </a:solidFill>
          </p:spPr>
          <p:txBody>
            <a:bodyPr wrap="square" lIns="0" tIns="0" rIns="0" bIns="0" rtlCol="0"/>
            <a:lstStyle/>
            <a:p>
              <a:endParaRPr/>
            </a:p>
          </p:txBody>
        </p:sp>
        <p:sp>
          <p:nvSpPr>
            <p:cNvPr id="20" name="object 20"/>
            <p:cNvSpPr/>
            <p:nvPr/>
          </p:nvSpPr>
          <p:spPr>
            <a:xfrm>
              <a:off x="1667319" y="2489004"/>
              <a:ext cx="306705" cy="365125"/>
            </a:xfrm>
            <a:custGeom>
              <a:avLst/>
              <a:gdLst/>
              <a:ahLst/>
              <a:cxnLst/>
              <a:rect l="l" t="t" r="r" b="b"/>
              <a:pathLst>
                <a:path w="306705" h="365125">
                  <a:moveTo>
                    <a:pt x="72897" y="218699"/>
                  </a:moveTo>
                  <a:lnTo>
                    <a:pt x="101224" y="224444"/>
                  </a:lnTo>
                  <a:lnTo>
                    <a:pt x="124401" y="240092"/>
                  </a:lnTo>
                  <a:lnTo>
                    <a:pt x="140050" y="263269"/>
                  </a:lnTo>
                  <a:lnTo>
                    <a:pt x="145794" y="291596"/>
                  </a:lnTo>
                  <a:lnTo>
                    <a:pt x="140050" y="319925"/>
                  </a:lnTo>
                  <a:lnTo>
                    <a:pt x="124401" y="343103"/>
                  </a:lnTo>
                  <a:lnTo>
                    <a:pt x="101224" y="358752"/>
                  </a:lnTo>
                  <a:lnTo>
                    <a:pt x="72897" y="364497"/>
                  </a:lnTo>
                  <a:lnTo>
                    <a:pt x="44570" y="358752"/>
                  </a:lnTo>
                  <a:lnTo>
                    <a:pt x="21393" y="343103"/>
                  </a:lnTo>
                  <a:lnTo>
                    <a:pt x="5744" y="319925"/>
                  </a:lnTo>
                  <a:lnTo>
                    <a:pt x="0" y="291596"/>
                  </a:lnTo>
                  <a:lnTo>
                    <a:pt x="5744" y="263269"/>
                  </a:lnTo>
                  <a:lnTo>
                    <a:pt x="21393" y="240092"/>
                  </a:lnTo>
                  <a:lnTo>
                    <a:pt x="44570" y="224444"/>
                  </a:lnTo>
                  <a:lnTo>
                    <a:pt x="72897" y="218699"/>
                  </a:lnTo>
                  <a:close/>
                </a:path>
                <a:path w="306705" h="365125">
                  <a:moveTo>
                    <a:pt x="306179" y="0"/>
                  </a:moveTo>
                  <a:lnTo>
                    <a:pt x="116637" y="233282"/>
                  </a:lnTo>
                </a:path>
              </a:pathLst>
            </a:custGeom>
            <a:ln w="5143">
              <a:solidFill>
                <a:srgbClr val="231F20"/>
              </a:solidFill>
            </a:ln>
          </p:spPr>
          <p:txBody>
            <a:bodyPr wrap="square" lIns="0" tIns="0" rIns="0" bIns="0" rtlCol="0"/>
            <a:lstStyle/>
            <a:p>
              <a:endParaRPr/>
            </a:p>
          </p:txBody>
        </p:sp>
        <p:sp>
          <p:nvSpPr>
            <p:cNvPr id="21" name="object 21"/>
            <p:cNvSpPr/>
            <p:nvPr/>
          </p:nvSpPr>
          <p:spPr>
            <a:xfrm>
              <a:off x="2702496" y="2270301"/>
              <a:ext cx="204470" cy="58419"/>
            </a:xfrm>
            <a:custGeom>
              <a:avLst/>
              <a:gdLst/>
              <a:ahLst/>
              <a:cxnLst/>
              <a:rect l="l" t="t" r="r" b="b"/>
              <a:pathLst>
                <a:path w="204469" h="58419">
                  <a:moveTo>
                    <a:pt x="0" y="0"/>
                  </a:moveTo>
                  <a:lnTo>
                    <a:pt x="204114" y="58313"/>
                  </a:lnTo>
                </a:path>
              </a:pathLst>
            </a:custGeom>
            <a:ln w="5143">
              <a:solidFill>
                <a:srgbClr val="231F20"/>
              </a:solidFill>
              <a:prstDash val="lgDash"/>
            </a:ln>
          </p:spPr>
          <p:txBody>
            <a:bodyPr wrap="square" lIns="0" tIns="0" rIns="0" bIns="0" rtlCol="0"/>
            <a:lstStyle/>
            <a:p>
              <a:endParaRPr/>
            </a:p>
          </p:txBody>
        </p:sp>
        <p:sp>
          <p:nvSpPr>
            <p:cNvPr id="22" name="object 22"/>
            <p:cNvSpPr/>
            <p:nvPr/>
          </p:nvSpPr>
          <p:spPr>
            <a:xfrm>
              <a:off x="2483804" y="2489004"/>
              <a:ext cx="437515" cy="365125"/>
            </a:xfrm>
            <a:custGeom>
              <a:avLst/>
              <a:gdLst/>
              <a:ahLst/>
              <a:cxnLst/>
              <a:rect l="l" t="t" r="r" b="b"/>
              <a:pathLst>
                <a:path w="437514" h="365125">
                  <a:moveTo>
                    <a:pt x="72893" y="218699"/>
                  </a:moveTo>
                  <a:lnTo>
                    <a:pt x="101223" y="224444"/>
                  </a:lnTo>
                  <a:lnTo>
                    <a:pt x="124401" y="240092"/>
                  </a:lnTo>
                  <a:lnTo>
                    <a:pt x="140052" y="263269"/>
                  </a:lnTo>
                  <a:lnTo>
                    <a:pt x="145797" y="291596"/>
                  </a:lnTo>
                  <a:lnTo>
                    <a:pt x="140052" y="319925"/>
                  </a:lnTo>
                  <a:lnTo>
                    <a:pt x="124401" y="343103"/>
                  </a:lnTo>
                  <a:lnTo>
                    <a:pt x="101223" y="358752"/>
                  </a:lnTo>
                  <a:lnTo>
                    <a:pt x="72893" y="364497"/>
                  </a:lnTo>
                  <a:lnTo>
                    <a:pt x="44565" y="358752"/>
                  </a:lnTo>
                  <a:lnTo>
                    <a:pt x="21390" y="343103"/>
                  </a:lnTo>
                  <a:lnTo>
                    <a:pt x="5743" y="319925"/>
                  </a:lnTo>
                  <a:lnTo>
                    <a:pt x="0" y="291596"/>
                  </a:lnTo>
                  <a:lnTo>
                    <a:pt x="5743" y="263269"/>
                  </a:lnTo>
                  <a:lnTo>
                    <a:pt x="21390" y="240092"/>
                  </a:lnTo>
                  <a:lnTo>
                    <a:pt x="44565" y="224444"/>
                  </a:lnTo>
                  <a:lnTo>
                    <a:pt x="72893" y="218699"/>
                  </a:lnTo>
                  <a:close/>
                </a:path>
                <a:path w="437514" h="365125">
                  <a:moveTo>
                    <a:pt x="174951" y="0"/>
                  </a:moveTo>
                  <a:lnTo>
                    <a:pt x="87470" y="218699"/>
                  </a:lnTo>
                </a:path>
                <a:path w="437514" h="365125">
                  <a:moveTo>
                    <a:pt x="364488" y="218699"/>
                  </a:moveTo>
                  <a:lnTo>
                    <a:pt x="392818" y="224444"/>
                  </a:lnTo>
                  <a:lnTo>
                    <a:pt x="415997" y="240092"/>
                  </a:lnTo>
                  <a:lnTo>
                    <a:pt x="431647" y="263269"/>
                  </a:lnTo>
                  <a:lnTo>
                    <a:pt x="437392" y="291596"/>
                  </a:lnTo>
                  <a:lnTo>
                    <a:pt x="431647" y="319925"/>
                  </a:lnTo>
                  <a:lnTo>
                    <a:pt x="415997" y="343103"/>
                  </a:lnTo>
                  <a:lnTo>
                    <a:pt x="392818" y="358752"/>
                  </a:lnTo>
                  <a:lnTo>
                    <a:pt x="364488" y="364497"/>
                  </a:lnTo>
                  <a:lnTo>
                    <a:pt x="336160" y="358752"/>
                  </a:lnTo>
                  <a:lnTo>
                    <a:pt x="312985" y="343103"/>
                  </a:lnTo>
                  <a:lnTo>
                    <a:pt x="297338" y="319925"/>
                  </a:lnTo>
                  <a:lnTo>
                    <a:pt x="291595" y="291596"/>
                  </a:lnTo>
                  <a:lnTo>
                    <a:pt x="297338" y="263269"/>
                  </a:lnTo>
                  <a:lnTo>
                    <a:pt x="312985" y="240092"/>
                  </a:lnTo>
                  <a:lnTo>
                    <a:pt x="336160" y="224444"/>
                  </a:lnTo>
                  <a:lnTo>
                    <a:pt x="364488" y="218699"/>
                  </a:lnTo>
                  <a:close/>
                </a:path>
              </a:pathLst>
            </a:custGeom>
            <a:ln w="5143">
              <a:solidFill>
                <a:srgbClr val="231F20"/>
              </a:solidFill>
            </a:ln>
          </p:spPr>
          <p:txBody>
            <a:bodyPr wrap="square" lIns="0" tIns="0" rIns="0" bIns="0" rtlCol="0"/>
            <a:lstStyle/>
            <a:p>
              <a:endParaRPr/>
            </a:p>
          </p:txBody>
        </p:sp>
        <p:sp>
          <p:nvSpPr>
            <p:cNvPr id="23" name="object 23"/>
            <p:cNvSpPr/>
            <p:nvPr/>
          </p:nvSpPr>
          <p:spPr>
            <a:xfrm>
              <a:off x="2746236" y="2489004"/>
              <a:ext cx="74295" cy="185420"/>
            </a:xfrm>
            <a:custGeom>
              <a:avLst/>
              <a:gdLst/>
              <a:ahLst/>
              <a:cxnLst/>
              <a:rect l="l" t="t" r="r" b="b"/>
              <a:pathLst>
                <a:path w="74294" h="185419">
                  <a:moveTo>
                    <a:pt x="0" y="0"/>
                  </a:moveTo>
                  <a:lnTo>
                    <a:pt x="73932" y="184824"/>
                  </a:lnTo>
                </a:path>
              </a:pathLst>
            </a:custGeom>
            <a:ln w="10287">
              <a:solidFill>
                <a:srgbClr val="231F20"/>
              </a:solidFill>
            </a:ln>
          </p:spPr>
          <p:txBody>
            <a:bodyPr wrap="square" lIns="0" tIns="0" rIns="0" bIns="0" rtlCol="0"/>
            <a:lstStyle/>
            <a:p>
              <a:endParaRPr/>
            </a:p>
          </p:txBody>
        </p:sp>
        <p:sp>
          <p:nvSpPr>
            <p:cNvPr id="24" name="object 24"/>
            <p:cNvSpPr/>
            <p:nvPr/>
          </p:nvSpPr>
          <p:spPr>
            <a:xfrm>
              <a:off x="2777879" y="2628751"/>
              <a:ext cx="57785" cy="79375"/>
            </a:xfrm>
            <a:custGeom>
              <a:avLst/>
              <a:gdLst/>
              <a:ahLst/>
              <a:cxnLst/>
              <a:rect l="l" t="t" r="r" b="b"/>
              <a:pathLst>
                <a:path w="57785" h="79375">
                  <a:moveTo>
                    <a:pt x="57761" y="0"/>
                  </a:moveTo>
                  <a:lnTo>
                    <a:pt x="45488" y="11195"/>
                  </a:lnTo>
                  <a:lnTo>
                    <a:pt x="31770" y="18779"/>
                  </a:lnTo>
                  <a:lnTo>
                    <a:pt x="16606" y="22751"/>
                  </a:lnTo>
                  <a:lnTo>
                    <a:pt x="0" y="23113"/>
                  </a:lnTo>
                  <a:lnTo>
                    <a:pt x="55837" y="78952"/>
                  </a:lnTo>
                  <a:lnTo>
                    <a:pt x="57761" y="0"/>
                  </a:lnTo>
                  <a:close/>
                </a:path>
              </a:pathLst>
            </a:custGeom>
            <a:solidFill>
              <a:srgbClr val="231F20"/>
            </a:solidFill>
          </p:spPr>
          <p:txBody>
            <a:bodyPr wrap="square" lIns="0" tIns="0" rIns="0" bIns="0" rtlCol="0"/>
            <a:lstStyle/>
            <a:p>
              <a:endParaRPr/>
            </a:p>
          </p:txBody>
        </p:sp>
      </p:grpSp>
      <p:sp>
        <p:nvSpPr>
          <p:cNvPr id="25" name="object 25"/>
          <p:cNvSpPr txBox="1"/>
          <p:nvPr/>
        </p:nvSpPr>
        <p:spPr>
          <a:xfrm>
            <a:off x="1975373" y="2961081"/>
            <a:ext cx="391795"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Domain D</a:t>
            </a:r>
            <a:endParaRPr sz="650">
              <a:latin typeface="Arial"/>
              <a:cs typeface="Arial"/>
            </a:endParaRPr>
          </a:p>
        </p:txBody>
      </p:sp>
      <p:grpSp>
        <p:nvGrpSpPr>
          <p:cNvPr id="26" name="object 26"/>
          <p:cNvGrpSpPr/>
          <p:nvPr/>
        </p:nvGrpSpPr>
        <p:grpSpPr>
          <a:xfrm>
            <a:off x="1830071" y="1990421"/>
            <a:ext cx="1663064" cy="1002665"/>
            <a:chOff x="1830071" y="1990421"/>
            <a:chExt cx="1663064" cy="1002665"/>
          </a:xfrm>
        </p:grpSpPr>
        <p:sp>
          <p:nvSpPr>
            <p:cNvPr id="27" name="object 27"/>
            <p:cNvSpPr/>
            <p:nvPr/>
          </p:nvSpPr>
          <p:spPr>
            <a:xfrm>
              <a:off x="1832928" y="2872725"/>
              <a:ext cx="125730" cy="117475"/>
            </a:xfrm>
            <a:custGeom>
              <a:avLst/>
              <a:gdLst/>
              <a:ahLst/>
              <a:cxnLst/>
              <a:rect l="l" t="t" r="r" b="b"/>
              <a:pathLst>
                <a:path w="125730" h="117475">
                  <a:moveTo>
                    <a:pt x="125501" y="117111"/>
                  </a:moveTo>
                  <a:lnTo>
                    <a:pt x="0" y="0"/>
                  </a:lnTo>
                </a:path>
              </a:pathLst>
            </a:custGeom>
            <a:ln w="5143">
              <a:solidFill>
                <a:srgbClr val="231F20"/>
              </a:solidFill>
            </a:ln>
          </p:spPr>
          <p:txBody>
            <a:bodyPr wrap="square" lIns="0" tIns="0" rIns="0" bIns="0" rtlCol="0"/>
            <a:lstStyle/>
            <a:p>
              <a:endParaRPr/>
            </a:p>
          </p:txBody>
        </p:sp>
        <p:sp>
          <p:nvSpPr>
            <p:cNvPr id="28" name="object 28"/>
            <p:cNvSpPr/>
            <p:nvPr/>
          </p:nvSpPr>
          <p:spPr>
            <a:xfrm>
              <a:off x="2828851" y="2751439"/>
              <a:ext cx="39370" cy="58419"/>
            </a:xfrm>
            <a:custGeom>
              <a:avLst/>
              <a:gdLst/>
              <a:ahLst/>
              <a:cxnLst/>
              <a:rect l="l" t="t" r="r" b="b"/>
              <a:pathLst>
                <a:path w="39369" h="58419">
                  <a:moveTo>
                    <a:pt x="38885" y="0"/>
                  </a:moveTo>
                  <a:lnTo>
                    <a:pt x="0" y="0"/>
                  </a:lnTo>
                  <a:lnTo>
                    <a:pt x="0" y="58326"/>
                  </a:lnTo>
                  <a:lnTo>
                    <a:pt x="38885" y="58326"/>
                  </a:lnTo>
                  <a:lnTo>
                    <a:pt x="38885" y="0"/>
                  </a:lnTo>
                  <a:close/>
                </a:path>
              </a:pathLst>
            </a:custGeom>
            <a:solidFill>
              <a:srgbClr val="231F20"/>
            </a:solidFill>
          </p:spPr>
          <p:txBody>
            <a:bodyPr wrap="square" lIns="0" tIns="0" rIns="0" bIns="0" rtlCol="0"/>
            <a:lstStyle/>
            <a:p>
              <a:endParaRPr/>
            </a:p>
          </p:txBody>
        </p:sp>
        <p:sp>
          <p:nvSpPr>
            <p:cNvPr id="29" name="object 29"/>
            <p:cNvSpPr/>
            <p:nvPr/>
          </p:nvSpPr>
          <p:spPr>
            <a:xfrm>
              <a:off x="2828851" y="1993278"/>
              <a:ext cx="544830" cy="816610"/>
            </a:xfrm>
            <a:custGeom>
              <a:avLst/>
              <a:gdLst/>
              <a:ahLst/>
              <a:cxnLst/>
              <a:rect l="l" t="t" r="r" b="b"/>
              <a:pathLst>
                <a:path w="544829" h="816610">
                  <a:moveTo>
                    <a:pt x="0" y="816487"/>
                  </a:moveTo>
                  <a:lnTo>
                    <a:pt x="38885" y="816487"/>
                  </a:lnTo>
                  <a:lnTo>
                    <a:pt x="38885" y="758160"/>
                  </a:lnTo>
                  <a:lnTo>
                    <a:pt x="0" y="758160"/>
                  </a:lnTo>
                  <a:lnTo>
                    <a:pt x="0" y="816487"/>
                  </a:lnTo>
                  <a:close/>
                </a:path>
                <a:path w="544829" h="816610">
                  <a:moveTo>
                    <a:pt x="427682" y="0"/>
                  </a:moveTo>
                  <a:lnTo>
                    <a:pt x="544326" y="29163"/>
                  </a:lnTo>
                </a:path>
              </a:pathLst>
            </a:custGeom>
            <a:ln w="5143">
              <a:solidFill>
                <a:srgbClr val="231F20"/>
              </a:solidFill>
            </a:ln>
          </p:spPr>
          <p:txBody>
            <a:bodyPr wrap="square" lIns="0" tIns="0" rIns="0" bIns="0" rtlCol="0"/>
            <a:lstStyle/>
            <a:p>
              <a:endParaRPr/>
            </a:p>
          </p:txBody>
        </p:sp>
        <p:sp>
          <p:nvSpPr>
            <p:cNvPr id="30" name="object 30"/>
            <p:cNvSpPr/>
            <p:nvPr/>
          </p:nvSpPr>
          <p:spPr>
            <a:xfrm>
              <a:off x="3373177" y="2022442"/>
              <a:ext cx="116839" cy="29209"/>
            </a:xfrm>
            <a:custGeom>
              <a:avLst/>
              <a:gdLst/>
              <a:ahLst/>
              <a:cxnLst/>
              <a:rect l="l" t="t" r="r" b="b"/>
              <a:pathLst>
                <a:path w="116839" h="29210">
                  <a:moveTo>
                    <a:pt x="0" y="0"/>
                  </a:moveTo>
                  <a:lnTo>
                    <a:pt x="116634" y="29153"/>
                  </a:lnTo>
                </a:path>
              </a:pathLst>
            </a:custGeom>
            <a:ln w="5143">
              <a:solidFill>
                <a:srgbClr val="231F20"/>
              </a:solidFill>
              <a:prstDash val="lgDash"/>
            </a:ln>
          </p:spPr>
          <p:txBody>
            <a:bodyPr wrap="square" lIns="0" tIns="0" rIns="0" bIns="0" rtlCol="0"/>
            <a:lstStyle/>
            <a:p>
              <a:endParaRPr/>
            </a:p>
          </p:txBody>
        </p:sp>
        <p:sp>
          <p:nvSpPr>
            <p:cNvPr id="31" name="object 31"/>
            <p:cNvSpPr/>
            <p:nvPr/>
          </p:nvSpPr>
          <p:spPr>
            <a:xfrm>
              <a:off x="3183639" y="2051595"/>
              <a:ext cx="0" cy="87630"/>
            </a:xfrm>
            <a:custGeom>
              <a:avLst/>
              <a:gdLst/>
              <a:ahLst/>
              <a:cxnLst/>
              <a:rect l="l" t="t" r="r" b="b"/>
              <a:pathLst>
                <a:path h="87630">
                  <a:moveTo>
                    <a:pt x="0" y="0"/>
                  </a:moveTo>
                  <a:lnTo>
                    <a:pt x="0" y="87485"/>
                  </a:lnTo>
                </a:path>
              </a:pathLst>
            </a:custGeom>
            <a:ln w="5143">
              <a:solidFill>
                <a:srgbClr val="231F20"/>
              </a:solidFill>
            </a:ln>
          </p:spPr>
          <p:txBody>
            <a:bodyPr wrap="square" lIns="0" tIns="0" rIns="0" bIns="0" rtlCol="0"/>
            <a:lstStyle/>
            <a:p>
              <a:endParaRPr/>
            </a:p>
          </p:txBody>
        </p:sp>
        <p:sp>
          <p:nvSpPr>
            <p:cNvPr id="32" name="object 32"/>
            <p:cNvSpPr/>
            <p:nvPr/>
          </p:nvSpPr>
          <p:spPr>
            <a:xfrm>
              <a:off x="3183639" y="2139081"/>
              <a:ext cx="0" cy="87630"/>
            </a:xfrm>
            <a:custGeom>
              <a:avLst/>
              <a:gdLst/>
              <a:ahLst/>
              <a:cxnLst/>
              <a:rect l="l" t="t" r="r" b="b"/>
              <a:pathLst>
                <a:path h="87630">
                  <a:moveTo>
                    <a:pt x="0" y="0"/>
                  </a:moveTo>
                  <a:lnTo>
                    <a:pt x="0" y="87479"/>
                  </a:lnTo>
                </a:path>
              </a:pathLst>
            </a:custGeom>
            <a:ln w="5143">
              <a:solidFill>
                <a:srgbClr val="231F20"/>
              </a:solidFill>
              <a:prstDash val="lgDash"/>
            </a:ln>
          </p:spPr>
          <p:txBody>
            <a:bodyPr wrap="square" lIns="0" tIns="0" rIns="0" bIns="0" rtlCol="0"/>
            <a:lstStyle/>
            <a:p>
              <a:endParaRPr/>
            </a:p>
          </p:txBody>
        </p:sp>
      </p:grpSp>
      <p:sp>
        <p:nvSpPr>
          <p:cNvPr id="33" name="object 33"/>
          <p:cNvSpPr txBox="1"/>
          <p:nvPr/>
        </p:nvSpPr>
        <p:spPr>
          <a:xfrm>
            <a:off x="2373676" y="2007821"/>
            <a:ext cx="93980"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M</a:t>
            </a:r>
            <a:endParaRPr sz="650">
              <a:latin typeface="Arial"/>
              <a:cs typeface="Arial"/>
            </a:endParaRPr>
          </a:p>
        </p:txBody>
      </p:sp>
      <p:grpSp>
        <p:nvGrpSpPr>
          <p:cNvPr id="34" name="object 34"/>
          <p:cNvGrpSpPr/>
          <p:nvPr/>
        </p:nvGrpSpPr>
        <p:grpSpPr>
          <a:xfrm>
            <a:off x="1650106" y="2130064"/>
            <a:ext cx="1329055" cy="1003300"/>
            <a:chOff x="1650106" y="2130064"/>
            <a:chExt cx="1329055" cy="1003300"/>
          </a:xfrm>
        </p:grpSpPr>
        <p:sp>
          <p:nvSpPr>
            <p:cNvPr id="35" name="object 35"/>
            <p:cNvSpPr/>
            <p:nvPr/>
          </p:nvSpPr>
          <p:spPr>
            <a:xfrm>
              <a:off x="1740217" y="2889393"/>
              <a:ext cx="0" cy="240665"/>
            </a:xfrm>
            <a:custGeom>
              <a:avLst/>
              <a:gdLst/>
              <a:ahLst/>
              <a:cxnLst/>
              <a:rect l="l" t="t" r="r" b="b"/>
              <a:pathLst>
                <a:path h="240664">
                  <a:moveTo>
                    <a:pt x="0" y="240538"/>
                  </a:moveTo>
                  <a:lnTo>
                    <a:pt x="0" y="0"/>
                  </a:lnTo>
                </a:path>
              </a:pathLst>
            </a:custGeom>
            <a:ln w="5143">
              <a:solidFill>
                <a:srgbClr val="231F20"/>
              </a:solidFill>
              <a:prstDash val="lgDash"/>
            </a:ln>
          </p:spPr>
          <p:txBody>
            <a:bodyPr wrap="square" lIns="0" tIns="0" rIns="0" bIns="0" rtlCol="0"/>
            <a:lstStyle/>
            <a:p>
              <a:endParaRPr/>
            </a:p>
          </p:txBody>
        </p:sp>
        <p:sp>
          <p:nvSpPr>
            <p:cNvPr id="36" name="object 36"/>
            <p:cNvSpPr/>
            <p:nvPr/>
          </p:nvSpPr>
          <p:spPr>
            <a:xfrm>
              <a:off x="1709110" y="2852906"/>
              <a:ext cx="62230" cy="73025"/>
            </a:xfrm>
            <a:custGeom>
              <a:avLst/>
              <a:gdLst/>
              <a:ahLst/>
              <a:cxnLst/>
              <a:rect l="l" t="t" r="r" b="b"/>
              <a:pathLst>
                <a:path w="62230" h="73025">
                  <a:moveTo>
                    <a:pt x="31106" y="0"/>
                  </a:moveTo>
                  <a:lnTo>
                    <a:pt x="0" y="72588"/>
                  </a:lnTo>
                  <a:lnTo>
                    <a:pt x="15553" y="66754"/>
                  </a:lnTo>
                  <a:lnTo>
                    <a:pt x="31106" y="64809"/>
                  </a:lnTo>
                  <a:lnTo>
                    <a:pt x="58879" y="64809"/>
                  </a:lnTo>
                  <a:lnTo>
                    <a:pt x="31106" y="0"/>
                  </a:lnTo>
                  <a:close/>
                </a:path>
                <a:path w="62230" h="73025">
                  <a:moveTo>
                    <a:pt x="58879" y="64809"/>
                  </a:moveTo>
                  <a:lnTo>
                    <a:pt x="31106" y="64809"/>
                  </a:lnTo>
                  <a:lnTo>
                    <a:pt x="46659" y="66754"/>
                  </a:lnTo>
                  <a:lnTo>
                    <a:pt x="62212" y="72588"/>
                  </a:lnTo>
                  <a:lnTo>
                    <a:pt x="58879" y="64809"/>
                  </a:lnTo>
                  <a:close/>
                </a:path>
              </a:pathLst>
            </a:custGeom>
            <a:solidFill>
              <a:srgbClr val="231F20"/>
            </a:solidFill>
          </p:spPr>
          <p:txBody>
            <a:bodyPr wrap="square" lIns="0" tIns="0" rIns="0" bIns="0" rtlCol="0"/>
            <a:lstStyle/>
            <a:p>
              <a:endParaRPr/>
            </a:p>
          </p:txBody>
        </p:sp>
        <p:sp>
          <p:nvSpPr>
            <p:cNvPr id="37" name="object 37"/>
            <p:cNvSpPr/>
            <p:nvPr/>
          </p:nvSpPr>
          <p:spPr>
            <a:xfrm>
              <a:off x="1652963" y="2430095"/>
              <a:ext cx="276860" cy="292100"/>
            </a:xfrm>
            <a:custGeom>
              <a:avLst/>
              <a:gdLst/>
              <a:ahLst/>
              <a:cxnLst/>
              <a:rect l="l" t="t" r="r" b="b"/>
              <a:pathLst>
                <a:path w="276860" h="292100">
                  <a:moveTo>
                    <a:pt x="43512" y="291592"/>
                  </a:moveTo>
                  <a:lnTo>
                    <a:pt x="0" y="110711"/>
                  </a:lnTo>
                  <a:lnTo>
                    <a:pt x="89075" y="25511"/>
                  </a:lnTo>
                  <a:lnTo>
                    <a:pt x="213689" y="454"/>
                  </a:lnTo>
                  <a:lnTo>
                    <a:pt x="276794" y="0"/>
                  </a:lnTo>
                </a:path>
              </a:pathLst>
            </a:custGeom>
            <a:ln w="5143">
              <a:solidFill>
                <a:srgbClr val="231F20"/>
              </a:solidFill>
              <a:prstDash val="lgDash"/>
            </a:ln>
          </p:spPr>
          <p:txBody>
            <a:bodyPr wrap="square" lIns="0" tIns="0" rIns="0" bIns="0" rtlCol="0"/>
            <a:lstStyle/>
            <a:p>
              <a:endParaRPr/>
            </a:p>
          </p:txBody>
        </p:sp>
        <p:sp>
          <p:nvSpPr>
            <p:cNvPr id="38" name="object 38"/>
            <p:cNvSpPr/>
            <p:nvPr/>
          </p:nvSpPr>
          <p:spPr>
            <a:xfrm>
              <a:off x="1891592" y="2396570"/>
              <a:ext cx="74930" cy="62230"/>
            </a:xfrm>
            <a:custGeom>
              <a:avLst/>
              <a:gdLst/>
              <a:ahLst/>
              <a:cxnLst/>
              <a:rect l="l" t="t" r="r" b="b"/>
              <a:pathLst>
                <a:path w="74930" h="62230">
                  <a:moveTo>
                    <a:pt x="4283" y="0"/>
                  </a:moveTo>
                  <a:lnTo>
                    <a:pt x="9031" y="15919"/>
                  </a:lnTo>
                  <a:lnTo>
                    <a:pt x="9900" y="31570"/>
                  </a:lnTo>
                  <a:lnTo>
                    <a:pt x="6890" y="46952"/>
                  </a:lnTo>
                  <a:lnTo>
                    <a:pt x="0" y="62067"/>
                  </a:lnTo>
                  <a:lnTo>
                    <a:pt x="74556" y="36032"/>
                  </a:lnTo>
                  <a:lnTo>
                    <a:pt x="4283" y="0"/>
                  </a:lnTo>
                  <a:close/>
                </a:path>
              </a:pathLst>
            </a:custGeom>
            <a:solidFill>
              <a:srgbClr val="231F20"/>
            </a:solidFill>
          </p:spPr>
          <p:txBody>
            <a:bodyPr wrap="square" lIns="0" tIns="0" rIns="0" bIns="0" rtlCol="0"/>
            <a:lstStyle/>
            <a:p>
              <a:endParaRPr/>
            </a:p>
          </p:txBody>
        </p:sp>
        <p:sp>
          <p:nvSpPr>
            <p:cNvPr id="39" name="object 39"/>
            <p:cNvSpPr/>
            <p:nvPr/>
          </p:nvSpPr>
          <p:spPr>
            <a:xfrm>
              <a:off x="1958234" y="2156717"/>
              <a:ext cx="351155" cy="229870"/>
            </a:xfrm>
            <a:custGeom>
              <a:avLst/>
              <a:gdLst/>
              <a:ahLst/>
              <a:cxnLst/>
              <a:rect l="l" t="t" r="r" b="b"/>
              <a:pathLst>
                <a:path w="351155" h="229869">
                  <a:moveTo>
                    <a:pt x="29843" y="229637"/>
                  </a:moveTo>
                  <a:lnTo>
                    <a:pt x="0" y="60145"/>
                  </a:lnTo>
                  <a:lnTo>
                    <a:pt x="119144" y="1"/>
                  </a:lnTo>
                  <a:lnTo>
                    <a:pt x="273827" y="0"/>
                  </a:lnTo>
                  <a:lnTo>
                    <a:pt x="350599" y="10934"/>
                  </a:lnTo>
                </a:path>
              </a:pathLst>
            </a:custGeom>
            <a:ln w="5143">
              <a:solidFill>
                <a:srgbClr val="231F20"/>
              </a:solidFill>
              <a:prstDash val="lgDash"/>
            </a:ln>
          </p:spPr>
          <p:txBody>
            <a:bodyPr wrap="square" lIns="0" tIns="0" rIns="0" bIns="0" rtlCol="0"/>
            <a:lstStyle/>
            <a:p>
              <a:endParaRPr/>
            </a:p>
          </p:txBody>
        </p:sp>
        <p:sp>
          <p:nvSpPr>
            <p:cNvPr id="40" name="object 40"/>
            <p:cNvSpPr/>
            <p:nvPr/>
          </p:nvSpPr>
          <p:spPr>
            <a:xfrm>
              <a:off x="2267335" y="2130064"/>
              <a:ext cx="77470" cy="61594"/>
            </a:xfrm>
            <a:custGeom>
              <a:avLst/>
              <a:gdLst/>
              <a:ahLst/>
              <a:cxnLst/>
              <a:rect l="l" t="t" r="r" b="b"/>
              <a:pathLst>
                <a:path w="77469" h="61594">
                  <a:moveTo>
                    <a:pt x="12200" y="0"/>
                  </a:moveTo>
                  <a:lnTo>
                    <a:pt x="14869" y="16395"/>
                  </a:lnTo>
                  <a:lnTo>
                    <a:pt x="13726" y="32030"/>
                  </a:lnTo>
                  <a:lnTo>
                    <a:pt x="8770" y="46901"/>
                  </a:lnTo>
                  <a:lnTo>
                    <a:pt x="0" y="61007"/>
                  </a:lnTo>
                  <a:lnTo>
                    <a:pt x="77275" y="44741"/>
                  </a:lnTo>
                  <a:lnTo>
                    <a:pt x="12200" y="0"/>
                  </a:lnTo>
                  <a:close/>
                </a:path>
              </a:pathLst>
            </a:custGeom>
            <a:solidFill>
              <a:srgbClr val="231F20"/>
            </a:solidFill>
          </p:spPr>
          <p:txBody>
            <a:bodyPr wrap="square" lIns="0" tIns="0" rIns="0" bIns="0" rtlCol="0"/>
            <a:lstStyle/>
            <a:p>
              <a:endParaRPr/>
            </a:p>
          </p:txBody>
        </p:sp>
        <p:pic>
          <p:nvPicPr>
            <p:cNvPr id="41" name="object 41"/>
            <p:cNvPicPr/>
            <p:nvPr/>
          </p:nvPicPr>
          <p:blipFill>
            <a:blip r:embed="rId8" cstate="print"/>
            <a:stretch>
              <a:fillRect/>
            </a:stretch>
          </p:blipFill>
          <p:spPr>
            <a:xfrm>
              <a:off x="2401033" y="2267134"/>
              <a:ext cx="233269" cy="219829"/>
            </a:xfrm>
            <a:prstGeom prst="rect">
              <a:avLst/>
            </a:prstGeom>
          </p:spPr>
        </p:pic>
        <p:sp>
          <p:nvSpPr>
            <p:cNvPr id="42" name="object 42"/>
            <p:cNvSpPr/>
            <p:nvPr/>
          </p:nvSpPr>
          <p:spPr>
            <a:xfrm>
              <a:off x="2789976" y="2430095"/>
              <a:ext cx="186055" cy="277495"/>
            </a:xfrm>
            <a:custGeom>
              <a:avLst/>
              <a:gdLst/>
              <a:ahLst/>
              <a:cxnLst/>
              <a:rect l="l" t="t" r="r" b="b"/>
              <a:pathLst>
                <a:path w="186055" h="277494">
                  <a:moveTo>
                    <a:pt x="0" y="0"/>
                  </a:moveTo>
                  <a:lnTo>
                    <a:pt x="155823" y="55584"/>
                  </a:lnTo>
                  <a:lnTo>
                    <a:pt x="185895" y="149442"/>
                  </a:lnTo>
                  <a:lnTo>
                    <a:pt x="155824" y="237833"/>
                  </a:lnTo>
                  <a:lnTo>
                    <a:pt x="131220" y="277017"/>
                  </a:lnTo>
                </a:path>
              </a:pathLst>
            </a:custGeom>
            <a:ln w="5143">
              <a:solidFill>
                <a:srgbClr val="231F20"/>
              </a:solidFill>
              <a:prstDash val="lgDash"/>
            </a:ln>
          </p:spPr>
          <p:txBody>
            <a:bodyPr wrap="square" lIns="0" tIns="0" rIns="0" bIns="0" rtlCol="0"/>
            <a:lstStyle/>
            <a:p>
              <a:endParaRPr/>
            </a:p>
          </p:txBody>
        </p:sp>
        <p:pic>
          <p:nvPicPr>
            <p:cNvPr id="43" name="object 43"/>
            <p:cNvPicPr/>
            <p:nvPr/>
          </p:nvPicPr>
          <p:blipFill>
            <a:blip r:embed="rId9" cstate="print"/>
            <a:stretch>
              <a:fillRect/>
            </a:stretch>
          </p:blipFill>
          <p:spPr>
            <a:xfrm>
              <a:off x="2899039" y="2659536"/>
              <a:ext cx="68799" cy="76549"/>
            </a:xfrm>
            <a:prstGeom prst="rect">
              <a:avLst/>
            </a:prstGeom>
          </p:spPr>
        </p:pic>
      </p:grpSp>
      <p:sp>
        <p:nvSpPr>
          <p:cNvPr id="44" name="object 44"/>
          <p:cNvSpPr txBox="1"/>
          <p:nvPr/>
        </p:nvSpPr>
        <p:spPr>
          <a:xfrm>
            <a:off x="1100576" y="1839381"/>
            <a:ext cx="588010" cy="492125"/>
          </a:xfrm>
          <a:prstGeom prst="rect">
            <a:avLst/>
          </a:prstGeom>
        </p:spPr>
        <p:txBody>
          <a:bodyPr vert="horz" wrap="square" lIns="0" tIns="21590" rIns="0" bIns="0" rtlCol="0">
            <a:spAutoFit/>
          </a:bodyPr>
          <a:lstStyle/>
          <a:p>
            <a:pPr marL="12700" marR="5080">
              <a:lnSpc>
                <a:spcPts val="720"/>
              </a:lnSpc>
              <a:spcBef>
                <a:spcPts val="170"/>
              </a:spcBef>
            </a:pPr>
            <a:r>
              <a:rPr sz="650" spc="-5" dirty="0">
                <a:solidFill>
                  <a:srgbClr val="231F20"/>
                </a:solidFill>
                <a:latin typeface="Arial"/>
                <a:cs typeface="Arial"/>
              </a:rPr>
              <a:t>Node has no </a:t>
            </a:r>
            <a:r>
              <a:rPr sz="650" dirty="0">
                <a:solidFill>
                  <a:srgbClr val="231F20"/>
                </a:solidFill>
                <a:latin typeface="Arial"/>
                <a:cs typeface="Arial"/>
              </a:rPr>
              <a:t> </a:t>
            </a:r>
            <a:r>
              <a:rPr sz="650" spc="-5" dirty="0">
                <a:solidFill>
                  <a:srgbClr val="231F20"/>
                </a:solidFill>
                <a:latin typeface="Arial"/>
                <a:cs typeface="Arial"/>
              </a:rPr>
              <a:t>record</a:t>
            </a:r>
            <a:r>
              <a:rPr sz="650" spc="-25" dirty="0">
                <a:solidFill>
                  <a:srgbClr val="231F20"/>
                </a:solidFill>
                <a:latin typeface="Arial"/>
                <a:cs typeface="Arial"/>
              </a:rPr>
              <a:t> </a:t>
            </a:r>
            <a:r>
              <a:rPr sz="650" spc="-5" dirty="0">
                <a:solidFill>
                  <a:srgbClr val="231F20"/>
                </a:solidFill>
                <a:latin typeface="Arial"/>
                <a:cs typeface="Arial"/>
              </a:rPr>
              <a:t>for</a:t>
            </a:r>
            <a:r>
              <a:rPr sz="650" spc="-20" dirty="0">
                <a:solidFill>
                  <a:srgbClr val="231F20"/>
                </a:solidFill>
                <a:latin typeface="Arial"/>
                <a:cs typeface="Arial"/>
              </a:rPr>
              <a:t> </a:t>
            </a:r>
            <a:r>
              <a:rPr sz="650" spc="-5" dirty="0">
                <a:solidFill>
                  <a:srgbClr val="231F20"/>
                </a:solidFill>
                <a:latin typeface="Arial"/>
                <a:cs typeface="Arial"/>
              </a:rPr>
              <a:t>E,</a:t>
            </a:r>
            <a:r>
              <a:rPr sz="650" spc="-20" dirty="0">
                <a:solidFill>
                  <a:srgbClr val="231F20"/>
                </a:solidFill>
                <a:latin typeface="Arial"/>
                <a:cs typeface="Arial"/>
              </a:rPr>
              <a:t> </a:t>
            </a:r>
            <a:r>
              <a:rPr sz="650" spc="-5" dirty="0">
                <a:solidFill>
                  <a:srgbClr val="231F20"/>
                </a:solidFill>
                <a:latin typeface="Arial"/>
                <a:cs typeface="Arial"/>
              </a:rPr>
              <a:t>so </a:t>
            </a:r>
            <a:r>
              <a:rPr sz="650" spc="-165" dirty="0">
                <a:solidFill>
                  <a:srgbClr val="231F20"/>
                </a:solidFill>
                <a:latin typeface="Arial"/>
                <a:cs typeface="Arial"/>
              </a:rPr>
              <a:t> </a:t>
            </a:r>
            <a:r>
              <a:rPr sz="650" spc="-5" dirty="0">
                <a:solidFill>
                  <a:srgbClr val="231F20"/>
                </a:solidFill>
                <a:latin typeface="Arial"/>
                <a:cs typeface="Arial"/>
              </a:rPr>
              <a:t>that request is </a:t>
            </a:r>
            <a:r>
              <a:rPr sz="650" dirty="0">
                <a:solidFill>
                  <a:srgbClr val="231F20"/>
                </a:solidFill>
                <a:latin typeface="Arial"/>
                <a:cs typeface="Arial"/>
              </a:rPr>
              <a:t> </a:t>
            </a:r>
            <a:r>
              <a:rPr sz="650" spc="-5" dirty="0">
                <a:solidFill>
                  <a:srgbClr val="231F20"/>
                </a:solidFill>
                <a:latin typeface="Arial"/>
                <a:cs typeface="Arial"/>
              </a:rPr>
              <a:t>forwarded to </a:t>
            </a:r>
            <a:r>
              <a:rPr sz="650" dirty="0">
                <a:solidFill>
                  <a:srgbClr val="231F20"/>
                </a:solidFill>
                <a:latin typeface="Arial"/>
                <a:cs typeface="Arial"/>
              </a:rPr>
              <a:t> </a:t>
            </a:r>
            <a:r>
              <a:rPr sz="650" spc="-5" dirty="0">
                <a:solidFill>
                  <a:srgbClr val="231F20"/>
                </a:solidFill>
                <a:latin typeface="Arial"/>
                <a:cs typeface="Arial"/>
              </a:rPr>
              <a:t>parent</a:t>
            </a:r>
            <a:endParaRPr sz="650">
              <a:latin typeface="Arial"/>
              <a:cs typeface="Arial"/>
            </a:endParaRPr>
          </a:p>
        </p:txBody>
      </p:sp>
      <p:sp>
        <p:nvSpPr>
          <p:cNvPr id="45" name="object 45"/>
          <p:cNvSpPr/>
          <p:nvPr/>
        </p:nvSpPr>
        <p:spPr>
          <a:xfrm>
            <a:off x="1404872" y="2196809"/>
            <a:ext cx="567055" cy="567690"/>
          </a:xfrm>
          <a:custGeom>
            <a:avLst/>
            <a:gdLst/>
            <a:ahLst/>
            <a:cxnLst/>
            <a:rect l="l" t="t" r="r" b="b"/>
            <a:pathLst>
              <a:path w="567055" h="567689">
                <a:moveTo>
                  <a:pt x="233282" y="0"/>
                </a:moveTo>
                <a:lnTo>
                  <a:pt x="566568" y="207198"/>
                </a:lnTo>
              </a:path>
              <a:path w="567055" h="567689">
                <a:moveTo>
                  <a:pt x="0" y="72896"/>
                </a:moveTo>
                <a:lnTo>
                  <a:pt x="35229" y="279309"/>
                </a:lnTo>
                <a:lnTo>
                  <a:pt x="126945" y="434888"/>
                </a:lnTo>
                <a:lnTo>
                  <a:pt x="221394" y="533059"/>
                </a:lnTo>
                <a:lnTo>
                  <a:pt x="264822" y="567243"/>
                </a:lnTo>
              </a:path>
            </a:pathLst>
          </a:custGeom>
          <a:ln w="5143">
            <a:solidFill>
              <a:srgbClr val="231F20"/>
            </a:solidFill>
          </a:ln>
        </p:spPr>
        <p:txBody>
          <a:bodyPr wrap="square" lIns="0" tIns="0" rIns="0" bIns="0" rtlCol="0"/>
          <a:lstStyle/>
          <a:p>
            <a:endParaRPr/>
          </a:p>
        </p:txBody>
      </p:sp>
      <p:sp>
        <p:nvSpPr>
          <p:cNvPr id="46" name="object 46"/>
          <p:cNvSpPr txBox="1"/>
          <p:nvPr/>
        </p:nvSpPr>
        <p:spPr>
          <a:xfrm>
            <a:off x="1363014" y="2918301"/>
            <a:ext cx="323215" cy="216535"/>
          </a:xfrm>
          <a:prstGeom prst="rect">
            <a:avLst/>
          </a:prstGeom>
        </p:spPr>
        <p:txBody>
          <a:bodyPr vert="horz" wrap="square" lIns="0" tIns="21590" rIns="0" bIns="0" rtlCol="0">
            <a:spAutoFit/>
          </a:bodyPr>
          <a:lstStyle/>
          <a:p>
            <a:pPr marL="12700" marR="5080">
              <a:lnSpc>
                <a:spcPts val="720"/>
              </a:lnSpc>
              <a:spcBef>
                <a:spcPts val="170"/>
              </a:spcBef>
            </a:pPr>
            <a:r>
              <a:rPr sz="650" spc="-5" dirty="0">
                <a:solidFill>
                  <a:srgbClr val="231F20"/>
                </a:solidFill>
                <a:latin typeface="Arial"/>
                <a:cs typeface="Arial"/>
              </a:rPr>
              <a:t>Look-up  request</a:t>
            </a:r>
            <a:endParaRPr sz="650">
              <a:latin typeface="Arial"/>
              <a:cs typeface="Arial"/>
            </a:endParaRPr>
          </a:p>
        </p:txBody>
      </p:sp>
      <p:sp>
        <p:nvSpPr>
          <p:cNvPr id="47" name="object 47"/>
          <p:cNvSpPr txBox="1"/>
          <p:nvPr/>
        </p:nvSpPr>
        <p:spPr>
          <a:xfrm>
            <a:off x="1917058" y="1635258"/>
            <a:ext cx="757555" cy="308610"/>
          </a:xfrm>
          <a:prstGeom prst="rect">
            <a:avLst/>
          </a:prstGeom>
        </p:spPr>
        <p:txBody>
          <a:bodyPr vert="horz" wrap="square" lIns="0" tIns="12065" rIns="0" bIns="0" rtlCol="0">
            <a:spAutoFit/>
          </a:bodyPr>
          <a:lstStyle/>
          <a:p>
            <a:pPr marL="12700">
              <a:lnSpc>
                <a:spcPts val="750"/>
              </a:lnSpc>
              <a:spcBef>
                <a:spcPts val="95"/>
              </a:spcBef>
            </a:pPr>
            <a:r>
              <a:rPr sz="650" spc="-5" dirty="0">
                <a:solidFill>
                  <a:srgbClr val="231F20"/>
                </a:solidFill>
                <a:latin typeface="Arial"/>
                <a:cs typeface="Arial"/>
              </a:rPr>
              <a:t>Node</a:t>
            </a:r>
            <a:r>
              <a:rPr sz="650" spc="-35" dirty="0">
                <a:solidFill>
                  <a:srgbClr val="231F20"/>
                </a:solidFill>
                <a:latin typeface="Arial"/>
                <a:cs typeface="Arial"/>
              </a:rPr>
              <a:t> </a:t>
            </a:r>
            <a:r>
              <a:rPr sz="650" spc="-5" dirty="0">
                <a:solidFill>
                  <a:srgbClr val="231F20"/>
                </a:solidFill>
                <a:latin typeface="Arial"/>
                <a:cs typeface="Arial"/>
              </a:rPr>
              <a:t>knows</a:t>
            </a:r>
            <a:endParaRPr sz="650">
              <a:latin typeface="Arial"/>
              <a:cs typeface="Arial"/>
            </a:endParaRPr>
          </a:p>
          <a:p>
            <a:pPr marL="12700" marR="5080">
              <a:lnSpc>
                <a:spcPts val="720"/>
              </a:lnSpc>
              <a:spcBef>
                <a:spcPts val="45"/>
              </a:spcBef>
            </a:pPr>
            <a:r>
              <a:rPr sz="650" spc="-5" dirty="0">
                <a:solidFill>
                  <a:srgbClr val="231F20"/>
                </a:solidFill>
                <a:latin typeface="Arial"/>
                <a:cs typeface="Arial"/>
              </a:rPr>
              <a:t>about E, so request </a:t>
            </a:r>
            <a:r>
              <a:rPr sz="650" spc="-170" dirty="0">
                <a:solidFill>
                  <a:srgbClr val="231F20"/>
                </a:solidFill>
                <a:latin typeface="Arial"/>
                <a:cs typeface="Arial"/>
              </a:rPr>
              <a:t> </a:t>
            </a:r>
            <a:r>
              <a:rPr sz="650" spc="-5" dirty="0">
                <a:solidFill>
                  <a:srgbClr val="231F20"/>
                </a:solidFill>
                <a:latin typeface="Arial"/>
                <a:cs typeface="Arial"/>
              </a:rPr>
              <a:t>is</a:t>
            </a:r>
            <a:r>
              <a:rPr sz="650" spc="-15" dirty="0">
                <a:solidFill>
                  <a:srgbClr val="231F20"/>
                </a:solidFill>
                <a:latin typeface="Arial"/>
                <a:cs typeface="Arial"/>
              </a:rPr>
              <a:t> </a:t>
            </a:r>
            <a:r>
              <a:rPr sz="650" spc="-5" dirty="0">
                <a:solidFill>
                  <a:srgbClr val="231F20"/>
                </a:solidFill>
                <a:latin typeface="Arial"/>
                <a:cs typeface="Arial"/>
              </a:rPr>
              <a:t>forwarded</a:t>
            </a:r>
            <a:r>
              <a:rPr sz="650" spc="-15" dirty="0">
                <a:solidFill>
                  <a:srgbClr val="231F20"/>
                </a:solidFill>
                <a:latin typeface="Arial"/>
                <a:cs typeface="Arial"/>
              </a:rPr>
              <a:t> </a:t>
            </a:r>
            <a:r>
              <a:rPr sz="650" spc="-5" dirty="0">
                <a:solidFill>
                  <a:srgbClr val="231F20"/>
                </a:solidFill>
                <a:latin typeface="Arial"/>
                <a:cs typeface="Arial"/>
              </a:rPr>
              <a:t>to</a:t>
            </a:r>
            <a:r>
              <a:rPr sz="650" spc="-15" dirty="0">
                <a:solidFill>
                  <a:srgbClr val="231F20"/>
                </a:solidFill>
                <a:latin typeface="Arial"/>
                <a:cs typeface="Arial"/>
              </a:rPr>
              <a:t> </a:t>
            </a:r>
            <a:r>
              <a:rPr sz="650" spc="-5" dirty="0">
                <a:solidFill>
                  <a:srgbClr val="231F20"/>
                </a:solidFill>
                <a:latin typeface="Arial"/>
                <a:cs typeface="Arial"/>
              </a:rPr>
              <a:t>child</a:t>
            </a:r>
            <a:endParaRPr sz="650">
              <a:latin typeface="Arial"/>
              <a:cs typeface="Arial"/>
            </a:endParaRPr>
          </a:p>
        </p:txBody>
      </p:sp>
      <p:sp>
        <p:nvSpPr>
          <p:cNvPr id="48" name="object 48"/>
          <p:cNvSpPr/>
          <p:nvPr/>
        </p:nvSpPr>
        <p:spPr>
          <a:xfrm>
            <a:off x="2294256" y="1948952"/>
            <a:ext cx="933450" cy="510540"/>
          </a:xfrm>
          <a:custGeom>
            <a:avLst/>
            <a:gdLst/>
            <a:ahLst/>
            <a:cxnLst/>
            <a:rect l="l" t="t" r="r" b="b"/>
            <a:pathLst>
              <a:path w="933450" h="510539">
                <a:moveTo>
                  <a:pt x="0" y="0"/>
                </a:moveTo>
                <a:lnTo>
                  <a:pt x="88663" y="187597"/>
                </a:lnTo>
              </a:path>
              <a:path w="933450" h="510539">
                <a:moveTo>
                  <a:pt x="87480" y="277022"/>
                </a:moveTo>
                <a:lnTo>
                  <a:pt x="174960" y="277022"/>
                </a:lnTo>
                <a:lnTo>
                  <a:pt x="174960" y="218700"/>
                </a:lnTo>
                <a:lnTo>
                  <a:pt x="87480" y="218700"/>
                </a:lnTo>
                <a:lnTo>
                  <a:pt x="87480" y="277022"/>
                </a:lnTo>
                <a:close/>
              </a:path>
              <a:path w="933450" h="510539">
                <a:moveTo>
                  <a:pt x="116644" y="218699"/>
                </a:moveTo>
                <a:lnTo>
                  <a:pt x="116644" y="277022"/>
                </a:lnTo>
              </a:path>
              <a:path w="933450" h="510539">
                <a:moveTo>
                  <a:pt x="145797" y="218699"/>
                </a:moveTo>
                <a:lnTo>
                  <a:pt x="145797" y="277022"/>
                </a:lnTo>
              </a:path>
              <a:path w="933450" h="510539">
                <a:moveTo>
                  <a:pt x="845642" y="58317"/>
                </a:moveTo>
                <a:lnTo>
                  <a:pt x="933122" y="58317"/>
                </a:lnTo>
                <a:lnTo>
                  <a:pt x="933122" y="2"/>
                </a:lnTo>
                <a:lnTo>
                  <a:pt x="845642" y="2"/>
                </a:lnTo>
                <a:lnTo>
                  <a:pt x="845642" y="58317"/>
                </a:lnTo>
                <a:close/>
              </a:path>
              <a:path w="933450" h="510539">
                <a:moveTo>
                  <a:pt x="874796" y="0"/>
                </a:moveTo>
                <a:lnTo>
                  <a:pt x="874796" y="58317"/>
                </a:lnTo>
              </a:path>
              <a:path w="933450" h="510539">
                <a:moveTo>
                  <a:pt x="903959" y="0"/>
                </a:moveTo>
                <a:lnTo>
                  <a:pt x="903959" y="58317"/>
                </a:lnTo>
              </a:path>
              <a:path w="933450" h="510539">
                <a:moveTo>
                  <a:pt x="379086" y="510300"/>
                </a:moveTo>
                <a:lnTo>
                  <a:pt x="437404" y="510300"/>
                </a:lnTo>
                <a:lnTo>
                  <a:pt x="437404" y="451977"/>
                </a:lnTo>
                <a:lnTo>
                  <a:pt x="379086" y="451977"/>
                </a:lnTo>
                <a:lnTo>
                  <a:pt x="379086" y="510300"/>
                </a:lnTo>
                <a:close/>
              </a:path>
              <a:path w="933450" h="510539">
                <a:moveTo>
                  <a:pt x="408239" y="451977"/>
                </a:moveTo>
                <a:lnTo>
                  <a:pt x="408239" y="510300"/>
                </a:lnTo>
              </a:path>
            </a:pathLst>
          </a:custGeom>
          <a:ln w="5143">
            <a:solidFill>
              <a:srgbClr val="231F20"/>
            </a:solidFill>
          </a:ln>
        </p:spPr>
        <p:txBody>
          <a:bodyPr wrap="square" lIns="0" tIns="0" rIns="0" bIns="0" rtlCol="0"/>
          <a:lstStyle/>
          <a:p>
            <a:endParaRPr/>
          </a:p>
        </p:txBody>
      </p:sp>
      <p:sp>
        <p:nvSpPr>
          <p:cNvPr id="49" name="object 4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18</a:t>
            </a:r>
            <a:r>
              <a:rPr spc="-40" dirty="0"/>
              <a:t> </a:t>
            </a:r>
            <a:r>
              <a:rPr spc="-5" dirty="0"/>
              <a:t>/</a:t>
            </a:r>
            <a:r>
              <a:rPr spc="-35" dirty="0"/>
              <a:t> </a:t>
            </a:r>
            <a:r>
              <a:rPr spc="-5" dirty="0"/>
              <a:t>46</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43629" algn="l"/>
              </a:tabLst>
            </a:pPr>
            <a:r>
              <a:rPr sz="600" spc="-5" dirty="0">
                <a:solidFill>
                  <a:srgbClr val="3333B2"/>
                </a:solidFill>
                <a:latin typeface="Arial"/>
                <a:cs typeface="Arial"/>
                <a:hlinkClick r:id="rId3" action="ppaction://hlinksldjump"/>
              </a:rPr>
              <a:t>Naming:</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3" name="object 3"/>
          <p:cNvSpPr txBox="1">
            <a:spLocks noGrp="1"/>
          </p:cNvSpPr>
          <p:nvPr>
            <p:ph type="title"/>
          </p:nvPr>
        </p:nvSpPr>
        <p:spPr>
          <a:xfrm>
            <a:off x="95300" y="188846"/>
            <a:ext cx="1752600" cy="244475"/>
          </a:xfrm>
          <a:prstGeom prst="rect">
            <a:avLst/>
          </a:prstGeom>
        </p:spPr>
        <p:txBody>
          <a:bodyPr vert="horz" wrap="square" lIns="0" tIns="17145" rIns="0" bIns="0" rtlCol="0">
            <a:spAutoFit/>
          </a:bodyPr>
          <a:lstStyle/>
          <a:p>
            <a:pPr marL="12700">
              <a:lnSpc>
                <a:spcPct val="100000"/>
              </a:lnSpc>
              <a:spcBef>
                <a:spcPts val="135"/>
              </a:spcBef>
            </a:pPr>
            <a:r>
              <a:rPr spc="15" dirty="0"/>
              <a:t>HLS:</a:t>
            </a:r>
            <a:r>
              <a:rPr spc="-10" dirty="0"/>
              <a:t> </a:t>
            </a:r>
            <a:r>
              <a:rPr spc="20" dirty="0"/>
              <a:t>Insert</a:t>
            </a:r>
            <a:r>
              <a:rPr spc="-5" dirty="0"/>
              <a:t> </a:t>
            </a:r>
            <a:r>
              <a:rPr spc="10" dirty="0"/>
              <a:t>operation</a:t>
            </a:r>
          </a:p>
        </p:txBody>
      </p:sp>
      <p:grpSp>
        <p:nvGrpSpPr>
          <p:cNvPr id="4" name="object 4"/>
          <p:cNvGrpSpPr/>
          <p:nvPr/>
        </p:nvGrpSpPr>
        <p:grpSpPr>
          <a:xfrm>
            <a:off x="528354" y="1447927"/>
            <a:ext cx="1696720" cy="1041400"/>
            <a:chOff x="528354" y="1447927"/>
            <a:chExt cx="1696720" cy="1041400"/>
          </a:xfrm>
        </p:grpSpPr>
        <p:sp>
          <p:nvSpPr>
            <p:cNvPr id="5" name="object 5"/>
            <p:cNvSpPr/>
            <p:nvPr/>
          </p:nvSpPr>
          <p:spPr>
            <a:xfrm>
              <a:off x="997454" y="1757551"/>
              <a:ext cx="284480" cy="160655"/>
            </a:xfrm>
            <a:custGeom>
              <a:avLst/>
              <a:gdLst/>
              <a:ahLst/>
              <a:cxnLst/>
              <a:rect l="l" t="t" r="r" b="b"/>
              <a:pathLst>
                <a:path w="284480" h="160655">
                  <a:moveTo>
                    <a:pt x="284306" y="0"/>
                  </a:moveTo>
                  <a:lnTo>
                    <a:pt x="0" y="160384"/>
                  </a:lnTo>
                </a:path>
              </a:pathLst>
            </a:custGeom>
            <a:ln w="5143">
              <a:solidFill>
                <a:srgbClr val="231F20"/>
              </a:solidFill>
            </a:ln>
          </p:spPr>
          <p:txBody>
            <a:bodyPr wrap="square" lIns="0" tIns="0" rIns="0" bIns="0" rtlCol="0"/>
            <a:lstStyle/>
            <a:p>
              <a:endParaRPr/>
            </a:p>
          </p:txBody>
        </p:sp>
        <p:pic>
          <p:nvPicPr>
            <p:cNvPr id="6" name="object 6"/>
            <p:cNvPicPr/>
            <p:nvPr/>
          </p:nvPicPr>
          <p:blipFill>
            <a:blip r:embed="rId6" cstate="print"/>
            <a:stretch>
              <a:fillRect/>
            </a:stretch>
          </p:blipFill>
          <p:spPr>
            <a:xfrm>
              <a:off x="1385965" y="1752407"/>
              <a:ext cx="180115" cy="165528"/>
            </a:xfrm>
            <a:prstGeom prst="rect">
              <a:avLst/>
            </a:prstGeom>
          </p:spPr>
        </p:pic>
        <p:sp>
          <p:nvSpPr>
            <p:cNvPr id="7" name="object 7"/>
            <p:cNvSpPr/>
            <p:nvPr/>
          </p:nvSpPr>
          <p:spPr>
            <a:xfrm>
              <a:off x="1440291" y="1552852"/>
              <a:ext cx="403225" cy="135255"/>
            </a:xfrm>
            <a:custGeom>
              <a:avLst/>
              <a:gdLst/>
              <a:ahLst/>
              <a:cxnLst/>
              <a:rect l="l" t="t" r="r" b="b"/>
              <a:pathLst>
                <a:path w="403225" h="135255">
                  <a:moveTo>
                    <a:pt x="402797" y="0"/>
                  </a:moveTo>
                  <a:lnTo>
                    <a:pt x="0" y="134811"/>
                  </a:lnTo>
                </a:path>
              </a:pathLst>
            </a:custGeom>
            <a:ln w="10287">
              <a:solidFill>
                <a:srgbClr val="231F20"/>
              </a:solidFill>
            </a:ln>
          </p:spPr>
          <p:txBody>
            <a:bodyPr wrap="square" lIns="0" tIns="0" rIns="0" bIns="0" rtlCol="0"/>
            <a:lstStyle/>
            <a:p>
              <a:endParaRPr/>
            </a:p>
          </p:txBody>
        </p:sp>
        <p:pic>
          <p:nvPicPr>
            <p:cNvPr id="8" name="object 8"/>
            <p:cNvPicPr/>
            <p:nvPr/>
          </p:nvPicPr>
          <p:blipFill>
            <a:blip r:embed="rId7" cstate="print"/>
            <a:stretch>
              <a:fillRect/>
            </a:stretch>
          </p:blipFill>
          <p:spPr>
            <a:xfrm>
              <a:off x="1268669" y="1646700"/>
              <a:ext cx="358300" cy="157161"/>
            </a:xfrm>
            <a:prstGeom prst="rect">
              <a:avLst/>
            </a:prstGeom>
          </p:spPr>
        </p:pic>
        <p:sp>
          <p:nvSpPr>
            <p:cNvPr id="9" name="object 9"/>
            <p:cNvSpPr/>
            <p:nvPr/>
          </p:nvSpPr>
          <p:spPr>
            <a:xfrm>
              <a:off x="1843089" y="1450784"/>
              <a:ext cx="146050" cy="146050"/>
            </a:xfrm>
            <a:custGeom>
              <a:avLst/>
              <a:gdLst/>
              <a:ahLst/>
              <a:cxnLst/>
              <a:rect l="l" t="t" r="r" b="b"/>
              <a:pathLst>
                <a:path w="146050" h="146050">
                  <a:moveTo>
                    <a:pt x="72893" y="0"/>
                  </a:moveTo>
                  <a:lnTo>
                    <a:pt x="101229" y="5745"/>
                  </a:lnTo>
                  <a:lnTo>
                    <a:pt x="124410" y="21395"/>
                  </a:lnTo>
                  <a:lnTo>
                    <a:pt x="140062" y="44574"/>
                  </a:lnTo>
                  <a:lnTo>
                    <a:pt x="145807" y="72903"/>
                  </a:lnTo>
                  <a:lnTo>
                    <a:pt x="140062" y="101233"/>
                  </a:lnTo>
                  <a:lnTo>
                    <a:pt x="124410" y="124412"/>
                  </a:lnTo>
                  <a:lnTo>
                    <a:pt x="101229" y="140062"/>
                  </a:lnTo>
                  <a:lnTo>
                    <a:pt x="72893" y="145807"/>
                  </a:lnTo>
                  <a:lnTo>
                    <a:pt x="44570" y="140062"/>
                  </a:lnTo>
                  <a:lnTo>
                    <a:pt x="21394" y="124412"/>
                  </a:lnTo>
                  <a:lnTo>
                    <a:pt x="5744" y="101233"/>
                  </a:lnTo>
                  <a:lnTo>
                    <a:pt x="0" y="72903"/>
                  </a:lnTo>
                  <a:lnTo>
                    <a:pt x="5744" y="44574"/>
                  </a:lnTo>
                  <a:lnTo>
                    <a:pt x="21394" y="21395"/>
                  </a:lnTo>
                  <a:lnTo>
                    <a:pt x="44570" y="5745"/>
                  </a:lnTo>
                  <a:lnTo>
                    <a:pt x="72893" y="0"/>
                  </a:lnTo>
                  <a:close/>
                </a:path>
              </a:pathLst>
            </a:custGeom>
            <a:ln w="5143">
              <a:solidFill>
                <a:srgbClr val="231F20"/>
              </a:solidFill>
            </a:ln>
          </p:spPr>
          <p:txBody>
            <a:bodyPr wrap="square" lIns="0" tIns="0" rIns="0" bIns="0" rtlCol="0"/>
            <a:lstStyle/>
            <a:p>
              <a:endParaRPr/>
            </a:p>
          </p:txBody>
        </p:sp>
        <p:sp>
          <p:nvSpPr>
            <p:cNvPr id="10" name="object 10"/>
            <p:cNvSpPr/>
            <p:nvPr/>
          </p:nvSpPr>
          <p:spPr>
            <a:xfrm>
              <a:off x="880813" y="1903353"/>
              <a:ext cx="146050" cy="146050"/>
            </a:xfrm>
            <a:custGeom>
              <a:avLst/>
              <a:gdLst/>
              <a:ahLst/>
              <a:cxnLst/>
              <a:rect l="l" t="t" r="r" b="b"/>
              <a:pathLst>
                <a:path w="146050" h="146050">
                  <a:moveTo>
                    <a:pt x="72900" y="0"/>
                  </a:moveTo>
                  <a:lnTo>
                    <a:pt x="44571" y="5744"/>
                  </a:lnTo>
                  <a:lnTo>
                    <a:pt x="21393" y="21393"/>
                  </a:lnTo>
                  <a:lnTo>
                    <a:pt x="5744" y="44570"/>
                  </a:lnTo>
                  <a:lnTo>
                    <a:pt x="0" y="72897"/>
                  </a:lnTo>
                  <a:lnTo>
                    <a:pt x="5744" y="101229"/>
                  </a:lnTo>
                  <a:lnTo>
                    <a:pt x="21393" y="124408"/>
                  </a:lnTo>
                  <a:lnTo>
                    <a:pt x="44571" y="140058"/>
                  </a:lnTo>
                  <a:lnTo>
                    <a:pt x="72900" y="145802"/>
                  </a:lnTo>
                  <a:lnTo>
                    <a:pt x="101228" y="140058"/>
                  </a:lnTo>
                  <a:lnTo>
                    <a:pt x="124404" y="124408"/>
                  </a:lnTo>
                  <a:lnTo>
                    <a:pt x="140053" y="101229"/>
                  </a:lnTo>
                  <a:lnTo>
                    <a:pt x="145797" y="72897"/>
                  </a:lnTo>
                  <a:lnTo>
                    <a:pt x="140053" y="44570"/>
                  </a:lnTo>
                  <a:lnTo>
                    <a:pt x="124404" y="21393"/>
                  </a:lnTo>
                  <a:lnTo>
                    <a:pt x="101228" y="5744"/>
                  </a:lnTo>
                  <a:lnTo>
                    <a:pt x="72900" y="0"/>
                  </a:lnTo>
                  <a:close/>
                </a:path>
              </a:pathLst>
            </a:custGeom>
            <a:solidFill>
              <a:srgbClr val="FFFFFF"/>
            </a:solidFill>
          </p:spPr>
          <p:txBody>
            <a:bodyPr wrap="square" lIns="0" tIns="0" rIns="0" bIns="0" rtlCol="0"/>
            <a:lstStyle/>
            <a:p>
              <a:endParaRPr/>
            </a:p>
          </p:txBody>
        </p:sp>
        <p:sp>
          <p:nvSpPr>
            <p:cNvPr id="11" name="object 11"/>
            <p:cNvSpPr/>
            <p:nvPr/>
          </p:nvSpPr>
          <p:spPr>
            <a:xfrm>
              <a:off x="880813" y="1903353"/>
              <a:ext cx="146050" cy="146050"/>
            </a:xfrm>
            <a:custGeom>
              <a:avLst/>
              <a:gdLst/>
              <a:ahLst/>
              <a:cxnLst/>
              <a:rect l="l" t="t" r="r" b="b"/>
              <a:pathLst>
                <a:path w="146050" h="146050">
                  <a:moveTo>
                    <a:pt x="72900" y="0"/>
                  </a:moveTo>
                  <a:lnTo>
                    <a:pt x="101228" y="5744"/>
                  </a:lnTo>
                  <a:lnTo>
                    <a:pt x="124404" y="21393"/>
                  </a:lnTo>
                  <a:lnTo>
                    <a:pt x="140053" y="44570"/>
                  </a:lnTo>
                  <a:lnTo>
                    <a:pt x="145797" y="72897"/>
                  </a:lnTo>
                  <a:lnTo>
                    <a:pt x="140053" y="101229"/>
                  </a:lnTo>
                  <a:lnTo>
                    <a:pt x="124404" y="124408"/>
                  </a:lnTo>
                  <a:lnTo>
                    <a:pt x="101228" y="140058"/>
                  </a:lnTo>
                  <a:lnTo>
                    <a:pt x="72900" y="145802"/>
                  </a:lnTo>
                  <a:lnTo>
                    <a:pt x="44571" y="140058"/>
                  </a:lnTo>
                  <a:lnTo>
                    <a:pt x="21393" y="124408"/>
                  </a:lnTo>
                  <a:lnTo>
                    <a:pt x="5744" y="101229"/>
                  </a:lnTo>
                  <a:lnTo>
                    <a:pt x="0" y="72897"/>
                  </a:lnTo>
                  <a:lnTo>
                    <a:pt x="5744" y="44570"/>
                  </a:lnTo>
                  <a:lnTo>
                    <a:pt x="21393" y="21393"/>
                  </a:lnTo>
                  <a:lnTo>
                    <a:pt x="44571" y="5744"/>
                  </a:lnTo>
                  <a:lnTo>
                    <a:pt x="72900" y="0"/>
                  </a:lnTo>
                  <a:close/>
                </a:path>
              </a:pathLst>
            </a:custGeom>
            <a:ln w="5143">
              <a:solidFill>
                <a:srgbClr val="231F20"/>
              </a:solidFill>
            </a:ln>
          </p:spPr>
          <p:txBody>
            <a:bodyPr wrap="square" lIns="0" tIns="0" rIns="0" bIns="0" rtlCol="0"/>
            <a:lstStyle/>
            <a:p>
              <a:endParaRPr/>
            </a:p>
          </p:txBody>
        </p:sp>
        <p:sp>
          <p:nvSpPr>
            <p:cNvPr id="12" name="object 12"/>
            <p:cNvSpPr/>
            <p:nvPr/>
          </p:nvSpPr>
          <p:spPr>
            <a:xfrm>
              <a:off x="1551493" y="1888771"/>
              <a:ext cx="146050" cy="146050"/>
            </a:xfrm>
            <a:custGeom>
              <a:avLst/>
              <a:gdLst/>
              <a:ahLst/>
              <a:cxnLst/>
              <a:rect l="l" t="t" r="r" b="b"/>
              <a:pathLst>
                <a:path w="146050" h="146050">
                  <a:moveTo>
                    <a:pt x="72903" y="0"/>
                  </a:moveTo>
                  <a:lnTo>
                    <a:pt x="44574" y="5744"/>
                  </a:lnTo>
                  <a:lnTo>
                    <a:pt x="21395" y="21393"/>
                  </a:lnTo>
                  <a:lnTo>
                    <a:pt x="5745" y="44572"/>
                  </a:lnTo>
                  <a:lnTo>
                    <a:pt x="0" y="72904"/>
                  </a:lnTo>
                  <a:lnTo>
                    <a:pt x="5745" y="101232"/>
                  </a:lnTo>
                  <a:lnTo>
                    <a:pt x="21395" y="124408"/>
                  </a:lnTo>
                  <a:lnTo>
                    <a:pt x="44574" y="140057"/>
                  </a:lnTo>
                  <a:lnTo>
                    <a:pt x="72903" y="145801"/>
                  </a:lnTo>
                  <a:lnTo>
                    <a:pt x="101227" y="140057"/>
                  </a:lnTo>
                  <a:lnTo>
                    <a:pt x="124403" y="124408"/>
                  </a:lnTo>
                  <a:lnTo>
                    <a:pt x="140052" y="101232"/>
                  </a:lnTo>
                  <a:lnTo>
                    <a:pt x="145797" y="72904"/>
                  </a:lnTo>
                  <a:lnTo>
                    <a:pt x="140052" y="44572"/>
                  </a:lnTo>
                  <a:lnTo>
                    <a:pt x="124403" y="21393"/>
                  </a:lnTo>
                  <a:lnTo>
                    <a:pt x="101227" y="5744"/>
                  </a:lnTo>
                  <a:lnTo>
                    <a:pt x="72903" y="0"/>
                  </a:lnTo>
                  <a:close/>
                </a:path>
              </a:pathLst>
            </a:custGeom>
            <a:solidFill>
              <a:srgbClr val="FFFFFF"/>
            </a:solidFill>
          </p:spPr>
          <p:txBody>
            <a:bodyPr wrap="square" lIns="0" tIns="0" rIns="0" bIns="0" rtlCol="0"/>
            <a:lstStyle/>
            <a:p>
              <a:endParaRPr/>
            </a:p>
          </p:txBody>
        </p:sp>
        <p:sp>
          <p:nvSpPr>
            <p:cNvPr id="13" name="object 13"/>
            <p:cNvSpPr/>
            <p:nvPr/>
          </p:nvSpPr>
          <p:spPr>
            <a:xfrm>
              <a:off x="880813" y="1888771"/>
              <a:ext cx="816610" cy="495934"/>
            </a:xfrm>
            <a:custGeom>
              <a:avLst/>
              <a:gdLst/>
              <a:ahLst/>
              <a:cxnLst/>
              <a:rect l="l" t="t" r="r" b="b"/>
              <a:pathLst>
                <a:path w="816610" h="495935">
                  <a:moveTo>
                    <a:pt x="743584" y="0"/>
                  </a:moveTo>
                  <a:lnTo>
                    <a:pt x="771908" y="5744"/>
                  </a:lnTo>
                  <a:lnTo>
                    <a:pt x="795083" y="21393"/>
                  </a:lnTo>
                  <a:lnTo>
                    <a:pt x="810733" y="44572"/>
                  </a:lnTo>
                  <a:lnTo>
                    <a:pt x="816478" y="72904"/>
                  </a:lnTo>
                  <a:lnTo>
                    <a:pt x="810733" y="101232"/>
                  </a:lnTo>
                  <a:lnTo>
                    <a:pt x="795083" y="124408"/>
                  </a:lnTo>
                  <a:lnTo>
                    <a:pt x="771908" y="140057"/>
                  </a:lnTo>
                  <a:lnTo>
                    <a:pt x="743584" y="145801"/>
                  </a:lnTo>
                  <a:lnTo>
                    <a:pt x="715254" y="140057"/>
                  </a:lnTo>
                  <a:lnTo>
                    <a:pt x="692076" y="124408"/>
                  </a:lnTo>
                  <a:lnTo>
                    <a:pt x="676425" y="101232"/>
                  </a:lnTo>
                  <a:lnTo>
                    <a:pt x="670680" y="72904"/>
                  </a:lnTo>
                  <a:lnTo>
                    <a:pt x="676425" y="44572"/>
                  </a:lnTo>
                  <a:lnTo>
                    <a:pt x="692076" y="21393"/>
                  </a:lnTo>
                  <a:lnTo>
                    <a:pt x="715254" y="5744"/>
                  </a:lnTo>
                  <a:lnTo>
                    <a:pt x="743584" y="0"/>
                  </a:lnTo>
                  <a:close/>
                </a:path>
                <a:path w="816610" h="495935">
                  <a:moveTo>
                    <a:pt x="72900" y="349930"/>
                  </a:moveTo>
                  <a:lnTo>
                    <a:pt x="101228" y="355673"/>
                  </a:lnTo>
                  <a:lnTo>
                    <a:pt x="124404" y="371319"/>
                  </a:lnTo>
                  <a:lnTo>
                    <a:pt x="140053" y="394495"/>
                  </a:lnTo>
                  <a:lnTo>
                    <a:pt x="145797" y="422827"/>
                  </a:lnTo>
                  <a:lnTo>
                    <a:pt x="140053" y="451154"/>
                  </a:lnTo>
                  <a:lnTo>
                    <a:pt x="124404" y="474331"/>
                  </a:lnTo>
                  <a:lnTo>
                    <a:pt x="101228" y="489979"/>
                  </a:lnTo>
                  <a:lnTo>
                    <a:pt x="72900" y="495724"/>
                  </a:lnTo>
                  <a:lnTo>
                    <a:pt x="44571" y="489979"/>
                  </a:lnTo>
                  <a:lnTo>
                    <a:pt x="21393" y="474331"/>
                  </a:lnTo>
                  <a:lnTo>
                    <a:pt x="5744" y="451154"/>
                  </a:lnTo>
                  <a:lnTo>
                    <a:pt x="0" y="422827"/>
                  </a:lnTo>
                  <a:lnTo>
                    <a:pt x="5744" y="394495"/>
                  </a:lnTo>
                  <a:lnTo>
                    <a:pt x="21393" y="371319"/>
                  </a:lnTo>
                  <a:lnTo>
                    <a:pt x="44571" y="355673"/>
                  </a:lnTo>
                  <a:lnTo>
                    <a:pt x="72900" y="349930"/>
                  </a:lnTo>
                  <a:close/>
                </a:path>
                <a:path w="816610" h="495935">
                  <a:moveTo>
                    <a:pt x="72900" y="160384"/>
                  </a:moveTo>
                  <a:lnTo>
                    <a:pt x="72900" y="349930"/>
                  </a:lnTo>
                </a:path>
                <a:path w="816610" h="495935">
                  <a:moveTo>
                    <a:pt x="364501" y="349930"/>
                  </a:moveTo>
                  <a:lnTo>
                    <a:pt x="392830" y="355673"/>
                  </a:lnTo>
                  <a:lnTo>
                    <a:pt x="416008" y="371319"/>
                  </a:lnTo>
                  <a:lnTo>
                    <a:pt x="431657" y="394495"/>
                  </a:lnTo>
                  <a:lnTo>
                    <a:pt x="437402" y="422827"/>
                  </a:lnTo>
                  <a:lnTo>
                    <a:pt x="431657" y="451154"/>
                  </a:lnTo>
                  <a:lnTo>
                    <a:pt x="416008" y="474331"/>
                  </a:lnTo>
                  <a:lnTo>
                    <a:pt x="392830" y="489979"/>
                  </a:lnTo>
                  <a:lnTo>
                    <a:pt x="364501" y="495724"/>
                  </a:lnTo>
                  <a:lnTo>
                    <a:pt x="336171" y="489979"/>
                  </a:lnTo>
                  <a:lnTo>
                    <a:pt x="312994" y="474331"/>
                  </a:lnTo>
                  <a:lnTo>
                    <a:pt x="297344" y="451154"/>
                  </a:lnTo>
                  <a:lnTo>
                    <a:pt x="291600" y="422827"/>
                  </a:lnTo>
                  <a:lnTo>
                    <a:pt x="297344" y="394495"/>
                  </a:lnTo>
                  <a:lnTo>
                    <a:pt x="312994" y="371319"/>
                  </a:lnTo>
                  <a:lnTo>
                    <a:pt x="336171" y="355673"/>
                  </a:lnTo>
                  <a:lnTo>
                    <a:pt x="364501" y="349930"/>
                  </a:lnTo>
                  <a:close/>
                </a:path>
                <a:path w="816610" h="495935">
                  <a:moveTo>
                    <a:pt x="131218" y="131218"/>
                  </a:moveTo>
                  <a:lnTo>
                    <a:pt x="335339" y="364504"/>
                  </a:lnTo>
                </a:path>
              </a:pathLst>
            </a:custGeom>
            <a:ln w="5143">
              <a:solidFill>
                <a:srgbClr val="231F20"/>
              </a:solidFill>
            </a:ln>
          </p:spPr>
          <p:txBody>
            <a:bodyPr wrap="square" lIns="0" tIns="0" rIns="0" bIns="0" rtlCol="0"/>
            <a:lstStyle/>
            <a:p>
              <a:endParaRPr/>
            </a:p>
          </p:txBody>
        </p:sp>
        <p:sp>
          <p:nvSpPr>
            <p:cNvPr id="14" name="object 14"/>
            <p:cNvSpPr/>
            <p:nvPr/>
          </p:nvSpPr>
          <p:spPr>
            <a:xfrm>
              <a:off x="530894" y="2179788"/>
              <a:ext cx="262890" cy="262890"/>
            </a:xfrm>
            <a:custGeom>
              <a:avLst/>
              <a:gdLst/>
              <a:ahLst/>
              <a:cxnLst/>
              <a:rect l="l" t="t" r="r" b="b"/>
              <a:pathLst>
                <a:path w="262890" h="262889">
                  <a:moveTo>
                    <a:pt x="131218" y="0"/>
                  </a:moveTo>
                  <a:lnTo>
                    <a:pt x="80226" y="10338"/>
                  </a:lnTo>
                  <a:lnTo>
                    <a:pt x="38508" y="38505"/>
                  </a:lnTo>
                  <a:lnTo>
                    <a:pt x="10339" y="80225"/>
                  </a:lnTo>
                  <a:lnTo>
                    <a:pt x="0" y="131223"/>
                  </a:lnTo>
                  <a:lnTo>
                    <a:pt x="10339" y="182212"/>
                  </a:lnTo>
                  <a:lnTo>
                    <a:pt x="38508" y="223930"/>
                  </a:lnTo>
                  <a:lnTo>
                    <a:pt x="80226" y="252098"/>
                  </a:lnTo>
                  <a:lnTo>
                    <a:pt x="131218" y="262438"/>
                  </a:lnTo>
                  <a:lnTo>
                    <a:pt x="182211" y="252098"/>
                  </a:lnTo>
                  <a:lnTo>
                    <a:pt x="223932" y="223930"/>
                  </a:lnTo>
                  <a:lnTo>
                    <a:pt x="252102" y="182212"/>
                  </a:lnTo>
                  <a:lnTo>
                    <a:pt x="262442" y="131223"/>
                  </a:lnTo>
                  <a:lnTo>
                    <a:pt x="252102" y="80225"/>
                  </a:lnTo>
                  <a:lnTo>
                    <a:pt x="223932" y="38505"/>
                  </a:lnTo>
                  <a:lnTo>
                    <a:pt x="182211" y="10338"/>
                  </a:lnTo>
                  <a:lnTo>
                    <a:pt x="131218" y="0"/>
                  </a:lnTo>
                  <a:close/>
                </a:path>
              </a:pathLst>
            </a:custGeom>
            <a:solidFill>
              <a:srgbClr val="A7A9AC"/>
            </a:solidFill>
          </p:spPr>
          <p:txBody>
            <a:bodyPr wrap="square" lIns="0" tIns="0" rIns="0" bIns="0" rtlCol="0"/>
            <a:lstStyle/>
            <a:p>
              <a:endParaRPr/>
            </a:p>
          </p:txBody>
        </p:sp>
        <p:sp>
          <p:nvSpPr>
            <p:cNvPr id="15" name="object 15"/>
            <p:cNvSpPr/>
            <p:nvPr/>
          </p:nvSpPr>
          <p:spPr>
            <a:xfrm>
              <a:off x="530894" y="2179788"/>
              <a:ext cx="262890" cy="262890"/>
            </a:xfrm>
            <a:custGeom>
              <a:avLst/>
              <a:gdLst/>
              <a:ahLst/>
              <a:cxnLst/>
              <a:rect l="l" t="t" r="r" b="b"/>
              <a:pathLst>
                <a:path w="262890" h="262889">
                  <a:moveTo>
                    <a:pt x="131218" y="0"/>
                  </a:moveTo>
                  <a:lnTo>
                    <a:pt x="182211" y="10339"/>
                  </a:lnTo>
                  <a:lnTo>
                    <a:pt x="223932" y="38506"/>
                  </a:lnTo>
                  <a:lnTo>
                    <a:pt x="252101" y="80226"/>
                  </a:lnTo>
                  <a:lnTo>
                    <a:pt x="262442" y="131224"/>
                  </a:lnTo>
                  <a:lnTo>
                    <a:pt x="252101" y="182213"/>
                  </a:lnTo>
                  <a:lnTo>
                    <a:pt x="223932" y="223931"/>
                  </a:lnTo>
                  <a:lnTo>
                    <a:pt x="182211" y="252098"/>
                  </a:lnTo>
                  <a:lnTo>
                    <a:pt x="131218" y="262438"/>
                  </a:lnTo>
                  <a:lnTo>
                    <a:pt x="80226" y="252098"/>
                  </a:lnTo>
                  <a:lnTo>
                    <a:pt x="38508" y="223931"/>
                  </a:lnTo>
                  <a:lnTo>
                    <a:pt x="10339" y="182213"/>
                  </a:lnTo>
                  <a:lnTo>
                    <a:pt x="0" y="131224"/>
                  </a:lnTo>
                  <a:lnTo>
                    <a:pt x="10339" y="80226"/>
                  </a:lnTo>
                  <a:lnTo>
                    <a:pt x="38508" y="38506"/>
                  </a:lnTo>
                  <a:lnTo>
                    <a:pt x="80226" y="10339"/>
                  </a:lnTo>
                  <a:lnTo>
                    <a:pt x="131218" y="0"/>
                  </a:lnTo>
                  <a:close/>
                </a:path>
              </a:pathLst>
            </a:custGeom>
            <a:ln w="4629">
              <a:solidFill>
                <a:srgbClr val="231F20"/>
              </a:solidFill>
              <a:prstDash val="lgDash"/>
            </a:ln>
          </p:spPr>
          <p:txBody>
            <a:bodyPr wrap="square" lIns="0" tIns="0" rIns="0" bIns="0" rtlCol="0"/>
            <a:lstStyle/>
            <a:p>
              <a:endParaRPr/>
            </a:p>
          </p:txBody>
        </p:sp>
        <p:sp>
          <p:nvSpPr>
            <p:cNvPr id="16" name="object 16"/>
            <p:cNvSpPr/>
            <p:nvPr/>
          </p:nvSpPr>
          <p:spPr>
            <a:xfrm>
              <a:off x="589212" y="2238702"/>
              <a:ext cx="146050" cy="146050"/>
            </a:xfrm>
            <a:custGeom>
              <a:avLst/>
              <a:gdLst/>
              <a:ahLst/>
              <a:cxnLst/>
              <a:rect l="l" t="t" r="r" b="b"/>
              <a:pathLst>
                <a:path w="146050" h="146050">
                  <a:moveTo>
                    <a:pt x="72900" y="0"/>
                  </a:moveTo>
                  <a:lnTo>
                    <a:pt x="44571" y="5742"/>
                  </a:lnTo>
                  <a:lnTo>
                    <a:pt x="21393" y="21388"/>
                  </a:lnTo>
                  <a:lnTo>
                    <a:pt x="5744" y="44564"/>
                  </a:lnTo>
                  <a:lnTo>
                    <a:pt x="0" y="72896"/>
                  </a:lnTo>
                  <a:lnTo>
                    <a:pt x="5744" y="101223"/>
                  </a:lnTo>
                  <a:lnTo>
                    <a:pt x="21393" y="124400"/>
                  </a:lnTo>
                  <a:lnTo>
                    <a:pt x="44571" y="140049"/>
                  </a:lnTo>
                  <a:lnTo>
                    <a:pt x="72900" y="145793"/>
                  </a:lnTo>
                  <a:lnTo>
                    <a:pt x="101230" y="140049"/>
                  </a:lnTo>
                  <a:lnTo>
                    <a:pt x="124408" y="124400"/>
                  </a:lnTo>
                  <a:lnTo>
                    <a:pt x="140057" y="101223"/>
                  </a:lnTo>
                  <a:lnTo>
                    <a:pt x="145801" y="72896"/>
                  </a:lnTo>
                  <a:lnTo>
                    <a:pt x="140057" y="44564"/>
                  </a:lnTo>
                  <a:lnTo>
                    <a:pt x="124408" y="21388"/>
                  </a:lnTo>
                  <a:lnTo>
                    <a:pt x="101230" y="5742"/>
                  </a:lnTo>
                  <a:lnTo>
                    <a:pt x="72900" y="0"/>
                  </a:lnTo>
                  <a:close/>
                </a:path>
              </a:pathLst>
            </a:custGeom>
            <a:solidFill>
              <a:srgbClr val="FFFFFF"/>
            </a:solidFill>
          </p:spPr>
          <p:txBody>
            <a:bodyPr wrap="square" lIns="0" tIns="0" rIns="0" bIns="0" rtlCol="0"/>
            <a:lstStyle/>
            <a:p>
              <a:endParaRPr/>
            </a:p>
          </p:txBody>
        </p:sp>
        <p:sp>
          <p:nvSpPr>
            <p:cNvPr id="17" name="object 17"/>
            <p:cNvSpPr/>
            <p:nvPr/>
          </p:nvSpPr>
          <p:spPr>
            <a:xfrm>
              <a:off x="589212" y="2019990"/>
              <a:ext cx="306705" cy="365125"/>
            </a:xfrm>
            <a:custGeom>
              <a:avLst/>
              <a:gdLst/>
              <a:ahLst/>
              <a:cxnLst/>
              <a:rect l="l" t="t" r="r" b="b"/>
              <a:pathLst>
                <a:path w="306705" h="365125">
                  <a:moveTo>
                    <a:pt x="72900" y="218711"/>
                  </a:moveTo>
                  <a:lnTo>
                    <a:pt x="101230" y="224454"/>
                  </a:lnTo>
                  <a:lnTo>
                    <a:pt x="124408" y="240100"/>
                  </a:lnTo>
                  <a:lnTo>
                    <a:pt x="140057" y="263276"/>
                  </a:lnTo>
                  <a:lnTo>
                    <a:pt x="145801" y="291608"/>
                  </a:lnTo>
                  <a:lnTo>
                    <a:pt x="140057" y="319935"/>
                  </a:lnTo>
                  <a:lnTo>
                    <a:pt x="124408" y="343112"/>
                  </a:lnTo>
                  <a:lnTo>
                    <a:pt x="101230" y="358761"/>
                  </a:lnTo>
                  <a:lnTo>
                    <a:pt x="72900" y="364505"/>
                  </a:lnTo>
                  <a:lnTo>
                    <a:pt x="44571" y="358761"/>
                  </a:lnTo>
                  <a:lnTo>
                    <a:pt x="21393" y="343112"/>
                  </a:lnTo>
                  <a:lnTo>
                    <a:pt x="5744" y="319935"/>
                  </a:lnTo>
                  <a:lnTo>
                    <a:pt x="0" y="291608"/>
                  </a:lnTo>
                  <a:lnTo>
                    <a:pt x="5744" y="263276"/>
                  </a:lnTo>
                  <a:lnTo>
                    <a:pt x="21393" y="240100"/>
                  </a:lnTo>
                  <a:lnTo>
                    <a:pt x="44571" y="224454"/>
                  </a:lnTo>
                  <a:lnTo>
                    <a:pt x="72900" y="218711"/>
                  </a:lnTo>
                  <a:close/>
                </a:path>
                <a:path w="306705" h="365125">
                  <a:moveTo>
                    <a:pt x="306179" y="0"/>
                  </a:moveTo>
                  <a:lnTo>
                    <a:pt x="116637" y="233285"/>
                  </a:lnTo>
                </a:path>
              </a:pathLst>
            </a:custGeom>
            <a:ln w="5143">
              <a:solidFill>
                <a:srgbClr val="231F20"/>
              </a:solidFill>
            </a:ln>
          </p:spPr>
          <p:txBody>
            <a:bodyPr wrap="square" lIns="0" tIns="0" rIns="0" bIns="0" rtlCol="0"/>
            <a:lstStyle/>
            <a:p>
              <a:endParaRPr/>
            </a:p>
          </p:txBody>
        </p:sp>
        <p:sp>
          <p:nvSpPr>
            <p:cNvPr id="18" name="object 18"/>
            <p:cNvSpPr/>
            <p:nvPr/>
          </p:nvSpPr>
          <p:spPr>
            <a:xfrm>
              <a:off x="1624397" y="1801290"/>
              <a:ext cx="204470" cy="58419"/>
            </a:xfrm>
            <a:custGeom>
              <a:avLst/>
              <a:gdLst/>
              <a:ahLst/>
              <a:cxnLst/>
              <a:rect l="l" t="t" r="r" b="b"/>
              <a:pathLst>
                <a:path w="204469" h="58419">
                  <a:moveTo>
                    <a:pt x="0" y="0"/>
                  </a:moveTo>
                  <a:lnTo>
                    <a:pt x="204114" y="58323"/>
                  </a:lnTo>
                </a:path>
              </a:pathLst>
            </a:custGeom>
            <a:ln w="5143">
              <a:solidFill>
                <a:srgbClr val="231F20"/>
              </a:solidFill>
              <a:prstDash val="lgDash"/>
            </a:ln>
          </p:spPr>
          <p:txBody>
            <a:bodyPr wrap="square" lIns="0" tIns="0" rIns="0" bIns="0" rtlCol="0"/>
            <a:lstStyle/>
            <a:p>
              <a:endParaRPr/>
            </a:p>
          </p:txBody>
        </p:sp>
        <p:sp>
          <p:nvSpPr>
            <p:cNvPr id="19" name="object 19"/>
            <p:cNvSpPr/>
            <p:nvPr/>
          </p:nvSpPr>
          <p:spPr>
            <a:xfrm>
              <a:off x="1405696" y="2019990"/>
              <a:ext cx="437515" cy="365125"/>
            </a:xfrm>
            <a:custGeom>
              <a:avLst/>
              <a:gdLst/>
              <a:ahLst/>
              <a:cxnLst/>
              <a:rect l="l" t="t" r="r" b="b"/>
              <a:pathLst>
                <a:path w="437514" h="365125">
                  <a:moveTo>
                    <a:pt x="72893" y="218711"/>
                  </a:moveTo>
                  <a:lnTo>
                    <a:pt x="101223" y="224454"/>
                  </a:lnTo>
                  <a:lnTo>
                    <a:pt x="124401" y="240100"/>
                  </a:lnTo>
                  <a:lnTo>
                    <a:pt x="140052" y="263276"/>
                  </a:lnTo>
                  <a:lnTo>
                    <a:pt x="145797" y="291608"/>
                  </a:lnTo>
                  <a:lnTo>
                    <a:pt x="140052" y="319935"/>
                  </a:lnTo>
                  <a:lnTo>
                    <a:pt x="124401" y="343112"/>
                  </a:lnTo>
                  <a:lnTo>
                    <a:pt x="101223" y="358761"/>
                  </a:lnTo>
                  <a:lnTo>
                    <a:pt x="72893" y="364505"/>
                  </a:lnTo>
                  <a:lnTo>
                    <a:pt x="44570" y="358761"/>
                  </a:lnTo>
                  <a:lnTo>
                    <a:pt x="21394" y="343112"/>
                  </a:lnTo>
                  <a:lnTo>
                    <a:pt x="5744" y="319935"/>
                  </a:lnTo>
                  <a:lnTo>
                    <a:pt x="0" y="291608"/>
                  </a:lnTo>
                  <a:lnTo>
                    <a:pt x="5744" y="263276"/>
                  </a:lnTo>
                  <a:lnTo>
                    <a:pt x="21394" y="240100"/>
                  </a:lnTo>
                  <a:lnTo>
                    <a:pt x="44570" y="224454"/>
                  </a:lnTo>
                  <a:lnTo>
                    <a:pt x="72893" y="218711"/>
                  </a:lnTo>
                  <a:close/>
                </a:path>
                <a:path w="437514" h="365125">
                  <a:moveTo>
                    <a:pt x="174951" y="0"/>
                  </a:moveTo>
                  <a:lnTo>
                    <a:pt x="87480" y="218711"/>
                  </a:lnTo>
                </a:path>
                <a:path w="437514" h="365125">
                  <a:moveTo>
                    <a:pt x="364509" y="218711"/>
                  </a:moveTo>
                  <a:lnTo>
                    <a:pt x="392831" y="224454"/>
                  </a:lnTo>
                  <a:lnTo>
                    <a:pt x="416003" y="240100"/>
                  </a:lnTo>
                  <a:lnTo>
                    <a:pt x="431649" y="263276"/>
                  </a:lnTo>
                  <a:lnTo>
                    <a:pt x="437392" y="291608"/>
                  </a:lnTo>
                  <a:lnTo>
                    <a:pt x="431649" y="319935"/>
                  </a:lnTo>
                  <a:lnTo>
                    <a:pt x="416003" y="343112"/>
                  </a:lnTo>
                  <a:lnTo>
                    <a:pt x="392831" y="358761"/>
                  </a:lnTo>
                  <a:lnTo>
                    <a:pt x="364509" y="364505"/>
                  </a:lnTo>
                  <a:lnTo>
                    <a:pt x="336174" y="358761"/>
                  </a:lnTo>
                  <a:lnTo>
                    <a:pt x="312992" y="343112"/>
                  </a:lnTo>
                  <a:lnTo>
                    <a:pt x="297340" y="319935"/>
                  </a:lnTo>
                  <a:lnTo>
                    <a:pt x="291595" y="291608"/>
                  </a:lnTo>
                  <a:lnTo>
                    <a:pt x="297340" y="263276"/>
                  </a:lnTo>
                  <a:lnTo>
                    <a:pt x="312992" y="240100"/>
                  </a:lnTo>
                  <a:lnTo>
                    <a:pt x="336174" y="224454"/>
                  </a:lnTo>
                  <a:lnTo>
                    <a:pt x="364509" y="218711"/>
                  </a:lnTo>
                  <a:close/>
                </a:path>
              </a:pathLst>
            </a:custGeom>
            <a:ln w="5143">
              <a:solidFill>
                <a:srgbClr val="231F20"/>
              </a:solidFill>
            </a:ln>
          </p:spPr>
          <p:txBody>
            <a:bodyPr wrap="square" lIns="0" tIns="0" rIns="0" bIns="0" rtlCol="0"/>
            <a:lstStyle/>
            <a:p>
              <a:endParaRPr/>
            </a:p>
          </p:txBody>
        </p:sp>
        <p:sp>
          <p:nvSpPr>
            <p:cNvPr id="20" name="object 20"/>
            <p:cNvSpPr/>
            <p:nvPr/>
          </p:nvSpPr>
          <p:spPr>
            <a:xfrm>
              <a:off x="1668138" y="2019990"/>
              <a:ext cx="74295" cy="185420"/>
            </a:xfrm>
            <a:custGeom>
              <a:avLst/>
              <a:gdLst/>
              <a:ahLst/>
              <a:cxnLst/>
              <a:rect l="l" t="t" r="r" b="b"/>
              <a:pathLst>
                <a:path w="74294" h="185419">
                  <a:moveTo>
                    <a:pt x="0" y="0"/>
                  </a:moveTo>
                  <a:lnTo>
                    <a:pt x="73922" y="184836"/>
                  </a:lnTo>
                </a:path>
              </a:pathLst>
            </a:custGeom>
            <a:ln w="10287">
              <a:solidFill>
                <a:srgbClr val="231F20"/>
              </a:solidFill>
            </a:ln>
          </p:spPr>
          <p:txBody>
            <a:bodyPr wrap="square" lIns="0" tIns="0" rIns="0" bIns="0" rtlCol="0"/>
            <a:lstStyle/>
            <a:p>
              <a:endParaRPr/>
            </a:p>
          </p:txBody>
        </p:sp>
        <p:sp>
          <p:nvSpPr>
            <p:cNvPr id="21" name="object 21"/>
            <p:cNvSpPr/>
            <p:nvPr/>
          </p:nvSpPr>
          <p:spPr>
            <a:xfrm>
              <a:off x="1699770" y="2159749"/>
              <a:ext cx="57785" cy="79375"/>
            </a:xfrm>
            <a:custGeom>
              <a:avLst/>
              <a:gdLst/>
              <a:ahLst/>
              <a:cxnLst/>
              <a:rect l="l" t="t" r="r" b="b"/>
              <a:pathLst>
                <a:path w="57785" h="79375">
                  <a:moveTo>
                    <a:pt x="57771" y="0"/>
                  </a:moveTo>
                  <a:lnTo>
                    <a:pt x="45492" y="11188"/>
                  </a:lnTo>
                  <a:lnTo>
                    <a:pt x="31771" y="18770"/>
                  </a:lnTo>
                  <a:lnTo>
                    <a:pt x="16607" y="22742"/>
                  </a:lnTo>
                  <a:lnTo>
                    <a:pt x="0" y="23104"/>
                  </a:lnTo>
                  <a:lnTo>
                    <a:pt x="55848" y="78952"/>
                  </a:lnTo>
                  <a:lnTo>
                    <a:pt x="57771" y="0"/>
                  </a:lnTo>
                  <a:close/>
                </a:path>
              </a:pathLst>
            </a:custGeom>
            <a:solidFill>
              <a:srgbClr val="231F20"/>
            </a:solidFill>
          </p:spPr>
          <p:txBody>
            <a:bodyPr wrap="square" lIns="0" tIns="0" rIns="0" bIns="0" rtlCol="0"/>
            <a:lstStyle/>
            <a:p>
              <a:endParaRPr/>
            </a:p>
          </p:txBody>
        </p:sp>
        <p:sp>
          <p:nvSpPr>
            <p:cNvPr id="22" name="object 22"/>
            <p:cNvSpPr/>
            <p:nvPr/>
          </p:nvSpPr>
          <p:spPr>
            <a:xfrm>
              <a:off x="767580" y="2392990"/>
              <a:ext cx="172085" cy="93345"/>
            </a:xfrm>
            <a:custGeom>
              <a:avLst/>
              <a:gdLst/>
              <a:ahLst/>
              <a:cxnLst/>
              <a:rect l="l" t="t" r="r" b="b"/>
              <a:pathLst>
                <a:path w="172084" h="93344">
                  <a:moveTo>
                    <a:pt x="171551" y="92976"/>
                  </a:moveTo>
                  <a:lnTo>
                    <a:pt x="0" y="0"/>
                  </a:lnTo>
                </a:path>
              </a:pathLst>
            </a:custGeom>
            <a:ln w="5600">
              <a:solidFill>
                <a:srgbClr val="231F20"/>
              </a:solidFill>
            </a:ln>
          </p:spPr>
          <p:txBody>
            <a:bodyPr wrap="square" lIns="0" tIns="0" rIns="0" bIns="0" rtlCol="0"/>
            <a:lstStyle/>
            <a:p>
              <a:endParaRPr/>
            </a:p>
          </p:txBody>
        </p:sp>
        <p:sp>
          <p:nvSpPr>
            <p:cNvPr id="23" name="object 23"/>
            <p:cNvSpPr/>
            <p:nvPr/>
          </p:nvSpPr>
          <p:spPr>
            <a:xfrm>
              <a:off x="1750753" y="2282433"/>
              <a:ext cx="39370" cy="58419"/>
            </a:xfrm>
            <a:custGeom>
              <a:avLst/>
              <a:gdLst/>
              <a:ahLst/>
              <a:cxnLst/>
              <a:rect l="l" t="t" r="r" b="b"/>
              <a:pathLst>
                <a:path w="39369" h="58419">
                  <a:moveTo>
                    <a:pt x="38873" y="0"/>
                  </a:moveTo>
                  <a:lnTo>
                    <a:pt x="0" y="0"/>
                  </a:lnTo>
                  <a:lnTo>
                    <a:pt x="0" y="58322"/>
                  </a:lnTo>
                  <a:lnTo>
                    <a:pt x="38873" y="58322"/>
                  </a:lnTo>
                  <a:lnTo>
                    <a:pt x="38873" y="0"/>
                  </a:lnTo>
                  <a:close/>
                </a:path>
              </a:pathLst>
            </a:custGeom>
            <a:solidFill>
              <a:srgbClr val="231F20"/>
            </a:solidFill>
          </p:spPr>
          <p:txBody>
            <a:bodyPr wrap="square" lIns="0" tIns="0" rIns="0" bIns="0" rtlCol="0"/>
            <a:lstStyle/>
            <a:p>
              <a:endParaRPr/>
            </a:p>
          </p:txBody>
        </p:sp>
        <p:sp>
          <p:nvSpPr>
            <p:cNvPr id="24" name="object 24"/>
            <p:cNvSpPr/>
            <p:nvPr/>
          </p:nvSpPr>
          <p:spPr>
            <a:xfrm>
              <a:off x="1750753" y="1538265"/>
              <a:ext cx="354965" cy="802640"/>
            </a:xfrm>
            <a:custGeom>
              <a:avLst/>
              <a:gdLst/>
              <a:ahLst/>
              <a:cxnLst/>
              <a:rect l="l" t="t" r="r" b="b"/>
              <a:pathLst>
                <a:path w="354964" h="802639">
                  <a:moveTo>
                    <a:pt x="0" y="802490"/>
                  </a:moveTo>
                  <a:lnTo>
                    <a:pt x="38873" y="802490"/>
                  </a:lnTo>
                  <a:lnTo>
                    <a:pt x="38873" y="744168"/>
                  </a:lnTo>
                  <a:lnTo>
                    <a:pt x="0" y="744168"/>
                  </a:lnTo>
                  <a:lnTo>
                    <a:pt x="0" y="802490"/>
                  </a:lnTo>
                  <a:close/>
                </a:path>
                <a:path w="354964" h="802639">
                  <a:moveTo>
                    <a:pt x="238144" y="0"/>
                  </a:moveTo>
                  <a:lnTo>
                    <a:pt x="354788" y="29163"/>
                  </a:lnTo>
                </a:path>
              </a:pathLst>
            </a:custGeom>
            <a:ln w="5143">
              <a:solidFill>
                <a:srgbClr val="231F20"/>
              </a:solidFill>
            </a:ln>
          </p:spPr>
          <p:txBody>
            <a:bodyPr wrap="square" lIns="0" tIns="0" rIns="0" bIns="0" rtlCol="0"/>
            <a:lstStyle/>
            <a:p>
              <a:endParaRPr/>
            </a:p>
          </p:txBody>
        </p:sp>
        <p:sp>
          <p:nvSpPr>
            <p:cNvPr id="25" name="object 25"/>
            <p:cNvSpPr/>
            <p:nvPr/>
          </p:nvSpPr>
          <p:spPr>
            <a:xfrm>
              <a:off x="2105541" y="1567429"/>
              <a:ext cx="116839" cy="29209"/>
            </a:xfrm>
            <a:custGeom>
              <a:avLst/>
              <a:gdLst/>
              <a:ahLst/>
              <a:cxnLst/>
              <a:rect l="l" t="t" r="r" b="b"/>
              <a:pathLst>
                <a:path w="116839" h="29209">
                  <a:moveTo>
                    <a:pt x="0" y="0"/>
                  </a:moveTo>
                  <a:lnTo>
                    <a:pt x="116634" y="29163"/>
                  </a:lnTo>
                </a:path>
              </a:pathLst>
            </a:custGeom>
            <a:ln w="5143">
              <a:solidFill>
                <a:srgbClr val="231F20"/>
              </a:solidFill>
              <a:prstDash val="lgDash"/>
            </a:ln>
          </p:spPr>
          <p:txBody>
            <a:bodyPr wrap="square" lIns="0" tIns="0" rIns="0" bIns="0" rtlCol="0"/>
            <a:lstStyle/>
            <a:p>
              <a:endParaRPr/>
            </a:p>
          </p:txBody>
        </p:sp>
        <p:sp>
          <p:nvSpPr>
            <p:cNvPr id="26" name="object 26"/>
            <p:cNvSpPr/>
            <p:nvPr/>
          </p:nvSpPr>
          <p:spPr>
            <a:xfrm>
              <a:off x="1915982" y="1596592"/>
              <a:ext cx="0" cy="87630"/>
            </a:xfrm>
            <a:custGeom>
              <a:avLst/>
              <a:gdLst/>
              <a:ahLst/>
              <a:cxnLst/>
              <a:rect l="l" t="t" r="r" b="b"/>
              <a:pathLst>
                <a:path h="87630">
                  <a:moveTo>
                    <a:pt x="0" y="0"/>
                  </a:moveTo>
                  <a:lnTo>
                    <a:pt x="0" y="87470"/>
                  </a:lnTo>
                </a:path>
              </a:pathLst>
            </a:custGeom>
            <a:ln w="5143">
              <a:solidFill>
                <a:srgbClr val="231F20"/>
              </a:solidFill>
            </a:ln>
          </p:spPr>
          <p:txBody>
            <a:bodyPr wrap="square" lIns="0" tIns="0" rIns="0" bIns="0" rtlCol="0"/>
            <a:lstStyle/>
            <a:p>
              <a:endParaRPr/>
            </a:p>
          </p:txBody>
        </p:sp>
        <p:sp>
          <p:nvSpPr>
            <p:cNvPr id="27" name="object 27"/>
            <p:cNvSpPr/>
            <p:nvPr/>
          </p:nvSpPr>
          <p:spPr>
            <a:xfrm>
              <a:off x="1915982" y="1684063"/>
              <a:ext cx="0" cy="87630"/>
            </a:xfrm>
            <a:custGeom>
              <a:avLst/>
              <a:gdLst/>
              <a:ahLst/>
              <a:cxnLst/>
              <a:rect l="l" t="t" r="r" b="b"/>
              <a:pathLst>
                <a:path h="87630">
                  <a:moveTo>
                    <a:pt x="0" y="0"/>
                  </a:moveTo>
                  <a:lnTo>
                    <a:pt x="0" y="87483"/>
                  </a:lnTo>
                </a:path>
              </a:pathLst>
            </a:custGeom>
            <a:ln w="5143">
              <a:solidFill>
                <a:srgbClr val="231F20"/>
              </a:solidFill>
              <a:prstDash val="lgDash"/>
            </a:ln>
          </p:spPr>
          <p:txBody>
            <a:bodyPr wrap="square" lIns="0" tIns="0" rIns="0" bIns="0" rtlCol="0"/>
            <a:lstStyle/>
            <a:p>
              <a:endParaRPr/>
            </a:p>
          </p:txBody>
        </p:sp>
      </p:grpSp>
      <p:sp>
        <p:nvSpPr>
          <p:cNvPr id="28" name="object 28"/>
          <p:cNvSpPr txBox="1"/>
          <p:nvPr/>
        </p:nvSpPr>
        <p:spPr>
          <a:xfrm>
            <a:off x="1295574" y="1538816"/>
            <a:ext cx="93980"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M</a:t>
            </a:r>
            <a:endParaRPr sz="650">
              <a:latin typeface="Arial"/>
              <a:cs typeface="Arial"/>
            </a:endParaRPr>
          </a:p>
        </p:txBody>
      </p:sp>
      <p:grpSp>
        <p:nvGrpSpPr>
          <p:cNvPr id="29" name="object 29"/>
          <p:cNvGrpSpPr/>
          <p:nvPr/>
        </p:nvGrpSpPr>
        <p:grpSpPr>
          <a:xfrm>
            <a:off x="567127" y="1661061"/>
            <a:ext cx="699770" cy="1003300"/>
            <a:chOff x="567127" y="1661061"/>
            <a:chExt cx="699770" cy="1003300"/>
          </a:xfrm>
        </p:grpSpPr>
        <p:sp>
          <p:nvSpPr>
            <p:cNvPr id="30" name="object 30"/>
            <p:cNvSpPr/>
            <p:nvPr/>
          </p:nvSpPr>
          <p:spPr>
            <a:xfrm>
              <a:off x="662113" y="2420392"/>
              <a:ext cx="0" cy="240665"/>
            </a:xfrm>
            <a:custGeom>
              <a:avLst/>
              <a:gdLst/>
              <a:ahLst/>
              <a:cxnLst/>
              <a:rect l="l" t="t" r="r" b="b"/>
              <a:pathLst>
                <a:path h="240664">
                  <a:moveTo>
                    <a:pt x="0" y="240534"/>
                  </a:moveTo>
                  <a:lnTo>
                    <a:pt x="0" y="0"/>
                  </a:lnTo>
                </a:path>
              </a:pathLst>
            </a:custGeom>
            <a:ln w="5143">
              <a:solidFill>
                <a:srgbClr val="231F20"/>
              </a:solidFill>
              <a:prstDash val="lgDash"/>
            </a:ln>
          </p:spPr>
          <p:txBody>
            <a:bodyPr wrap="square" lIns="0" tIns="0" rIns="0" bIns="0" rtlCol="0"/>
            <a:lstStyle/>
            <a:p>
              <a:endParaRPr/>
            </a:p>
          </p:txBody>
        </p:sp>
        <p:sp>
          <p:nvSpPr>
            <p:cNvPr id="31" name="object 31"/>
            <p:cNvSpPr/>
            <p:nvPr/>
          </p:nvSpPr>
          <p:spPr>
            <a:xfrm>
              <a:off x="567118" y="1927567"/>
              <a:ext cx="321310" cy="528955"/>
            </a:xfrm>
            <a:custGeom>
              <a:avLst/>
              <a:gdLst/>
              <a:ahLst/>
              <a:cxnLst/>
              <a:rect l="l" t="t" r="r" b="b"/>
              <a:pathLst>
                <a:path w="321309" h="528955">
                  <a:moveTo>
                    <a:pt x="8394" y="152895"/>
                  </a:moveTo>
                  <a:lnTo>
                    <a:pt x="3302" y="152107"/>
                  </a:lnTo>
                  <a:lnTo>
                    <a:pt x="1384" y="160502"/>
                  </a:lnTo>
                  <a:lnTo>
                    <a:pt x="0" y="176860"/>
                  </a:lnTo>
                  <a:lnTo>
                    <a:pt x="5143" y="176949"/>
                  </a:lnTo>
                  <a:lnTo>
                    <a:pt x="6477" y="161277"/>
                  </a:lnTo>
                  <a:lnTo>
                    <a:pt x="8394" y="152895"/>
                  </a:lnTo>
                  <a:close/>
                </a:path>
                <a:path w="321309" h="528955">
                  <a:moveTo>
                    <a:pt x="8648" y="215595"/>
                  </a:moveTo>
                  <a:lnTo>
                    <a:pt x="5854" y="198678"/>
                  </a:lnTo>
                  <a:lnTo>
                    <a:pt x="5524" y="191427"/>
                  </a:lnTo>
                  <a:lnTo>
                    <a:pt x="419" y="191973"/>
                  </a:lnTo>
                  <a:lnTo>
                    <a:pt x="736" y="199224"/>
                  </a:lnTo>
                  <a:lnTo>
                    <a:pt x="3632" y="216712"/>
                  </a:lnTo>
                  <a:lnTo>
                    <a:pt x="8648" y="215595"/>
                  </a:lnTo>
                  <a:close/>
                </a:path>
                <a:path w="321309" h="528955">
                  <a:moveTo>
                    <a:pt x="19418" y="253047"/>
                  </a:moveTo>
                  <a:lnTo>
                    <a:pt x="15684" y="243027"/>
                  </a:lnTo>
                  <a:lnTo>
                    <a:pt x="12039" y="229743"/>
                  </a:lnTo>
                  <a:lnTo>
                    <a:pt x="7150" y="231330"/>
                  </a:lnTo>
                  <a:lnTo>
                    <a:pt x="10782" y="244614"/>
                  </a:lnTo>
                  <a:lnTo>
                    <a:pt x="14681" y="255041"/>
                  </a:lnTo>
                  <a:lnTo>
                    <a:pt x="19418" y="253047"/>
                  </a:lnTo>
                  <a:close/>
                </a:path>
                <a:path w="321309" h="528955">
                  <a:moveTo>
                    <a:pt x="23202" y="117322"/>
                  </a:moveTo>
                  <a:lnTo>
                    <a:pt x="18542" y="115125"/>
                  </a:lnTo>
                  <a:lnTo>
                    <a:pt x="11277" y="127990"/>
                  </a:lnTo>
                  <a:lnTo>
                    <a:pt x="7569" y="137579"/>
                  </a:lnTo>
                  <a:lnTo>
                    <a:pt x="12484" y="139077"/>
                  </a:lnTo>
                  <a:lnTo>
                    <a:pt x="15938" y="130187"/>
                  </a:lnTo>
                  <a:lnTo>
                    <a:pt x="23202" y="117322"/>
                  </a:lnTo>
                  <a:close/>
                </a:path>
                <a:path w="321309" h="528955">
                  <a:moveTo>
                    <a:pt x="34861" y="289166"/>
                  </a:moveTo>
                  <a:lnTo>
                    <a:pt x="25006" y="267995"/>
                  </a:lnTo>
                  <a:lnTo>
                    <a:pt x="24599" y="266915"/>
                  </a:lnTo>
                  <a:lnTo>
                    <a:pt x="19862" y="268922"/>
                  </a:lnTo>
                  <a:lnTo>
                    <a:pt x="20256" y="269989"/>
                  </a:lnTo>
                  <a:lnTo>
                    <a:pt x="30276" y="291503"/>
                  </a:lnTo>
                  <a:lnTo>
                    <a:pt x="34861" y="289166"/>
                  </a:lnTo>
                  <a:close/>
                </a:path>
                <a:path w="321309" h="528955">
                  <a:moveTo>
                    <a:pt x="49225" y="89192"/>
                  </a:moveTo>
                  <a:lnTo>
                    <a:pt x="45770" y="85382"/>
                  </a:lnTo>
                  <a:lnTo>
                    <a:pt x="40043" y="89992"/>
                  </a:lnTo>
                  <a:lnTo>
                    <a:pt x="28867" y="101295"/>
                  </a:lnTo>
                  <a:lnTo>
                    <a:pt x="27609" y="102958"/>
                  </a:lnTo>
                  <a:lnTo>
                    <a:pt x="31902" y="105791"/>
                  </a:lnTo>
                  <a:lnTo>
                    <a:pt x="32753" y="104673"/>
                  </a:lnTo>
                  <a:lnTo>
                    <a:pt x="43484" y="93814"/>
                  </a:lnTo>
                  <a:lnTo>
                    <a:pt x="49225" y="89192"/>
                  </a:lnTo>
                  <a:close/>
                </a:path>
                <a:path w="321309" h="528955">
                  <a:moveTo>
                    <a:pt x="53454" y="323811"/>
                  </a:moveTo>
                  <a:lnTo>
                    <a:pt x="41554" y="302196"/>
                  </a:lnTo>
                  <a:lnTo>
                    <a:pt x="37122" y="304812"/>
                  </a:lnTo>
                  <a:lnTo>
                    <a:pt x="49034" y="326428"/>
                  </a:lnTo>
                  <a:lnTo>
                    <a:pt x="53454" y="323811"/>
                  </a:lnTo>
                  <a:close/>
                </a:path>
                <a:path w="321309" h="528955">
                  <a:moveTo>
                    <a:pt x="82080" y="68402"/>
                  </a:moveTo>
                  <a:lnTo>
                    <a:pt x="79463" y="63969"/>
                  </a:lnTo>
                  <a:lnTo>
                    <a:pt x="66103" y="71094"/>
                  </a:lnTo>
                  <a:lnTo>
                    <a:pt x="57912" y="76441"/>
                  </a:lnTo>
                  <a:lnTo>
                    <a:pt x="60921" y="80606"/>
                  </a:lnTo>
                  <a:lnTo>
                    <a:pt x="68719" y="75526"/>
                  </a:lnTo>
                  <a:lnTo>
                    <a:pt x="82080" y="68402"/>
                  </a:lnTo>
                  <a:close/>
                </a:path>
                <a:path w="321309" h="528955">
                  <a:moveTo>
                    <a:pt x="118325" y="54254"/>
                  </a:moveTo>
                  <a:lnTo>
                    <a:pt x="116700" y="49377"/>
                  </a:lnTo>
                  <a:lnTo>
                    <a:pt x="111620" y="50901"/>
                  </a:lnTo>
                  <a:lnTo>
                    <a:pt x="95846" y="56654"/>
                  </a:lnTo>
                  <a:lnTo>
                    <a:pt x="93167" y="57835"/>
                  </a:lnTo>
                  <a:lnTo>
                    <a:pt x="95415" y="62458"/>
                  </a:lnTo>
                  <a:lnTo>
                    <a:pt x="97764" y="61417"/>
                  </a:lnTo>
                  <a:lnTo>
                    <a:pt x="113245" y="55791"/>
                  </a:lnTo>
                  <a:lnTo>
                    <a:pt x="118325" y="54254"/>
                  </a:lnTo>
                  <a:close/>
                </a:path>
                <a:path w="321309" h="528955">
                  <a:moveTo>
                    <a:pt x="126098" y="528929"/>
                  </a:moveTo>
                  <a:lnTo>
                    <a:pt x="122758" y="521157"/>
                  </a:lnTo>
                  <a:lnTo>
                    <a:pt x="94983" y="456349"/>
                  </a:lnTo>
                  <a:lnTo>
                    <a:pt x="63881" y="528929"/>
                  </a:lnTo>
                  <a:lnTo>
                    <a:pt x="79438" y="523100"/>
                  </a:lnTo>
                  <a:lnTo>
                    <a:pt x="94996" y="521157"/>
                  </a:lnTo>
                  <a:lnTo>
                    <a:pt x="110540" y="523100"/>
                  </a:lnTo>
                  <a:lnTo>
                    <a:pt x="126098" y="528929"/>
                  </a:lnTo>
                  <a:close/>
                </a:path>
                <a:path w="321309" h="528955">
                  <a:moveTo>
                    <a:pt x="156375" y="44716"/>
                  </a:moveTo>
                  <a:lnTo>
                    <a:pt x="155244" y="39712"/>
                  </a:lnTo>
                  <a:lnTo>
                    <a:pt x="144018" y="41986"/>
                  </a:lnTo>
                  <a:lnTo>
                    <a:pt x="131064" y="45212"/>
                  </a:lnTo>
                  <a:lnTo>
                    <a:pt x="132422" y="50177"/>
                  </a:lnTo>
                  <a:lnTo>
                    <a:pt x="145161" y="47015"/>
                  </a:lnTo>
                  <a:lnTo>
                    <a:pt x="156375" y="44716"/>
                  </a:lnTo>
                  <a:close/>
                </a:path>
                <a:path w="321309" h="528955">
                  <a:moveTo>
                    <a:pt x="195148" y="38836"/>
                  </a:moveTo>
                  <a:lnTo>
                    <a:pt x="194551" y="33731"/>
                  </a:lnTo>
                  <a:lnTo>
                    <a:pt x="191947" y="33997"/>
                  </a:lnTo>
                  <a:lnTo>
                    <a:pt x="176314" y="36042"/>
                  </a:lnTo>
                  <a:lnTo>
                    <a:pt x="169913" y="37096"/>
                  </a:lnTo>
                  <a:lnTo>
                    <a:pt x="170853" y="42151"/>
                  </a:lnTo>
                  <a:lnTo>
                    <a:pt x="177063" y="41122"/>
                  </a:lnTo>
                  <a:lnTo>
                    <a:pt x="192544" y="39103"/>
                  </a:lnTo>
                  <a:lnTo>
                    <a:pt x="195148" y="38836"/>
                  </a:lnTo>
                  <a:close/>
                </a:path>
                <a:path w="321309" h="528955">
                  <a:moveTo>
                    <a:pt x="234391" y="35890"/>
                  </a:moveTo>
                  <a:lnTo>
                    <a:pt x="234061" y="30759"/>
                  </a:lnTo>
                  <a:lnTo>
                    <a:pt x="221259" y="31407"/>
                  </a:lnTo>
                  <a:lnTo>
                    <a:pt x="209359" y="32296"/>
                  </a:lnTo>
                  <a:lnTo>
                    <a:pt x="209804" y="37426"/>
                  </a:lnTo>
                  <a:lnTo>
                    <a:pt x="221589" y="36537"/>
                  </a:lnTo>
                  <a:lnTo>
                    <a:pt x="234391" y="35890"/>
                  </a:lnTo>
                  <a:close/>
                </a:path>
                <a:path w="321309" h="528955">
                  <a:moveTo>
                    <a:pt x="320916" y="36029"/>
                  </a:moveTo>
                  <a:lnTo>
                    <a:pt x="250647" y="0"/>
                  </a:lnTo>
                  <a:lnTo>
                    <a:pt x="255397" y="15925"/>
                  </a:lnTo>
                  <a:lnTo>
                    <a:pt x="256184" y="30289"/>
                  </a:lnTo>
                  <a:lnTo>
                    <a:pt x="248970" y="30353"/>
                  </a:lnTo>
                  <a:lnTo>
                    <a:pt x="249085" y="35496"/>
                  </a:lnTo>
                  <a:lnTo>
                    <a:pt x="255498" y="35433"/>
                  </a:lnTo>
                  <a:lnTo>
                    <a:pt x="253250" y="46951"/>
                  </a:lnTo>
                  <a:lnTo>
                    <a:pt x="246367" y="62064"/>
                  </a:lnTo>
                  <a:lnTo>
                    <a:pt x="320916" y="36029"/>
                  </a:lnTo>
                  <a:close/>
                </a:path>
              </a:pathLst>
            </a:custGeom>
            <a:solidFill>
              <a:srgbClr val="231F20"/>
            </a:solidFill>
          </p:spPr>
          <p:txBody>
            <a:bodyPr wrap="square" lIns="0" tIns="0" rIns="0" bIns="0" rtlCol="0"/>
            <a:lstStyle/>
            <a:p>
              <a:endParaRPr/>
            </a:p>
          </p:txBody>
        </p:sp>
        <p:sp>
          <p:nvSpPr>
            <p:cNvPr id="32" name="object 32"/>
            <p:cNvSpPr/>
            <p:nvPr/>
          </p:nvSpPr>
          <p:spPr>
            <a:xfrm>
              <a:off x="880130" y="1687714"/>
              <a:ext cx="351155" cy="229870"/>
            </a:xfrm>
            <a:custGeom>
              <a:avLst/>
              <a:gdLst/>
              <a:ahLst/>
              <a:cxnLst/>
              <a:rect l="l" t="t" r="r" b="b"/>
              <a:pathLst>
                <a:path w="351155" h="229869">
                  <a:moveTo>
                    <a:pt x="29843" y="229626"/>
                  </a:moveTo>
                  <a:lnTo>
                    <a:pt x="0" y="60140"/>
                  </a:lnTo>
                  <a:lnTo>
                    <a:pt x="119146" y="0"/>
                  </a:lnTo>
                  <a:lnTo>
                    <a:pt x="273832" y="0"/>
                  </a:lnTo>
                  <a:lnTo>
                    <a:pt x="350605" y="10935"/>
                  </a:lnTo>
                </a:path>
              </a:pathLst>
            </a:custGeom>
            <a:ln w="5143">
              <a:solidFill>
                <a:srgbClr val="231F20"/>
              </a:solidFill>
              <a:prstDash val="lgDash"/>
            </a:ln>
          </p:spPr>
          <p:txBody>
            <a:bodyPr wrap="square" lIns="0" tIns="0" rIns="0" bIns="0" rtlCol="0"/>
            <a:lstStyle/>
            <a:p>
              <a:endParaRPr/>
            </a:p>
          </p:txBody>
        </p:sp>
        <p:sp>
          <p:nvSpPr>
            <p:cNvPr id="33" name="object 33"/>
            <p:cNvSpPr/>
            <p:nvPr/>
          </p:nvSpPr>
          <p:spPr>
            <a:xfrm>
              <a:off x="1189225" y="1661061"/>
              <a:ext cx="77470" cy="61594"/>
            </a:xfrm>
            <a:custGeom>
              <a:avLst/>
              <a:gdLst/>
              <a:ahLst/>
              <a:cxnLst/>
              <a:rect l="l" t="t" r="r" b="b"/>
              <a:pathLst>
                <a:path w="77469" h="61594">
                  <a:moveTo>
                    <a:pt x="12204" y="0"/>
                  </a:moveTo>
                  <a:lnTo>
                    <a:pt x="14872" y="16398"/>
                  </a:lnTo>
                  <a:lnTo>
                    <a:pt x="13726" y="32033"/>
                  </a:lnTo>
                  <a:lnTo>
                    <a:pt x="8769" y="46904"/>
                  </a:lnTo>
                  <a:lnTo>
                    <a:pt x="0" y="61012"/>
                  </a:lnTo>
                  <a:lnTo>
                    <a:pt x="77276" y="44738"/>
                  </a:lnTo>
                  <a:lnTo>
                    <a:pt x="12204" y="0"/>
                  </a:lnTo>
                  <a:close/>
                </a:path>
              </a:pathLst>
            </a:custGeom>
            <a:solidFill>
              <a:srgbClr val="231F20"/>
            </a:solidFill>
          </p:spPr>
          <p:txBody>
            <a:bodyPr wrap="square" lIns="0" tIns="0" rIns="0" bIns="0" rtlCol="0"/>
            <a:lstStyle/>
            <a:p>
              <a:endParaRPr/>
            </a:p>
          </p:txBody>
        </p:sp>
      </p:grpSp>
      <p:sp>
        <p:nvSpPr>
          <p:cNvPr id="34" name="object 34"/>
          <p:cNvSpPr txBox="1"/>
          <p:nvPr/>
        </p:nvSpPr>
        <p:spPr>
          <a:xfrm>
            <a:off x="459871" y="1209993"/>
            <a:ext cx="492125" cy="492125"/>
          </a:xfrm>
          <a:prstGeom prst="rect">
            <a:avLst/>
          </a:prstGeom>
        </p:spPr>
        <p:txBody>
          <a:bodyPr vert="horz" wrap="square" lIns="0" tIns="21590" rIns="0" bIns="0" rtlCol="0">
            <a:spAutoFit/>
          </a:bodyPr>
          <a:lstStyle/>
          <a:p>
            <a:pPr marL="12700" marR="5080" algn="just">
              <a:lnSpc>
                <a:spcPts val="720"/>
              </a:lnSpc>
              <a:spcBef>
                <a:spcPts val="170"/>
              </a:spcBef>
            </a:pPr>
            <a:r>
              <a:rPr sz="650" spc="-5" dirty="0">
                <a:solidFill>
                  <a:srgbClr val="231F20"/>
                </a:solidFill>
                <a:latin typeface="Arial"/>
                <a:cs typeface="Arial"/>
              </a:rPr>
              <a:t>Node</a:t>
            </a:r>
            <a:r>
              <a:rPr sz="650" spc="-40" dirty="0">
                <a:solidFill>
                  <a:srgbClr val="231F20"/>
                </a:solidFill>
                <a:latin typeface="Arial"/>
                <a:cs typeface="Arial"/>
              </a:rPr>
              <a:t> </a:t>
            </a:r>
            <a:r>
              <a:rPr sz="650" spc="-5" dirty="0">
                <a:solidFill>
                  <a:srgbClr val="231F20"/>
                </a:solidFill>
                <a:latin typeface="Arial"/>
                <a:cs typeface="Arial"/>
              </a:rPr>
              <a:t>has</a:t>
            </a:r>
            <a:r>
              <a:rPr sz="650" spc="-35" dirty="0">
                <a:solidFill>
                  <a:srgbClr val="231F20"/>
                </a:solidFill>
                <a:latin typeface="Arial"/>
                <a:cs typeface="Arial"/>
              </a:rPr>
              <a:t> </a:t>
            </a:r>
            <a:r>
              <a:rPr sz="650" spc="-5" dirty="0">
                <a:solidFill>
                  <a:srgbClr val="231F20"/>
                </a:solidFill>
                <a:latin typeface="Arial"/>
                <a:cs typeface="Arial"/>
              </a:rPr>
              <a:t>no </a:t>
            </a:r>
            <a:r>
              <a:rPr sz="650" spc="-170" dirty="0">
                <a:solidFill>
                  <a:srgbClr val="231F20"/>
                </a:solidFill>
                <a:latin typeface="Arial"/>
                <a:cs typeface="Arial"/>
              </a:rPr>
              <a:t> </a:t>
            </a:r>
            <a:r>
              <a:rPr sz="650" spc="-5" dirty="0">
                <a:solidFill>
                  <a:srgbClr val="231F20"/>
                </a:solidFill>
                <a:latin typeface="Arial"/>
                <a:cs typeface="Arial"/>
              </a:rPr>
              <a:t>record for E, </a:t>
            </a:r>
            <a:r>
              <a:rPr sz="650" spc="-170" dirty="0">
                <a:solidFill>
                  <a:srgbClr val="231F20"/>
                </a:solidFill>
                <a:latin typeface="Arial"/>
                <a:cs typeface="Arial"/>
              </a:rPr>
              <a:t> </a:t>
            </a:r>
            <a:r>
              <a:rPr sz="650" spc="-5" dirty="0">
                <a:solidFill>
                  <a:srgbClr val="231F20"/>
                </a:solidFill>
                <a:latin typeface="Arial"/>
                <a:cs typeface="Arial"/>
              </a:rPr>
              <a:t>so</a:t>
            </a:r>
            <a:r>
              <a:rPr sz="650" spc="-35" dirty="0">
                <a:solidFill>
                  <a:srgbClr val="231F20"/>
                </a:solidFill>
                <a:latin typeface="Arial"/>
                <a:cs typeface="Arial"/>
              </a:rPr>
              <a:t> </a:t>
            </a:r>
            <a:r>
              <a:rPr sz="650" spc="-5" dirty="0">
                <a:solidFill>
                  <a:srgbClr val="231F20"/>
                </a:solidFill>
                <a:latin typeface="Arial"/>
                <a:cs typeface="Arial"/>
              </a:rPr>
              <a:t>request</a:t>
            </a:r>
            <a:r>
              <a:rPr sz="650" spc="-30" dirty="0">
                <a:solidFill>
                  <a:srgbClr val="231F20"/>
                </a:solidFill>
                <a:latin typeface="Arial"/>
                <a:cs typeface="Arial"/>
              </a:rPr>
              <a:t> </a:t>
            </a:r>
            <a:r>
              <a:rPr sz="650" spc="-5" dirty="0">
                <a:solidFill>
                  <a:srgbClr val="231F20"/>
                </a:solidFill>
                <a:latin typeface="Arial"/>
                <a:cs typeface="Arial"/>
              </a:rPr>
              <a:t>is </a:t>
            </a:r>
            <a:r>
              <a:rPr sz="650" spc="-170" dirty="0">
                <a:solidFill>
                  <a:srgbClr val="231F20"/>
                </a:solidFill>
                <a:latin typeface="Arial"/>
                <a:cs typeface="Arial"/>
              </a:rPr>
              <a:t> </a:t>
            </a:r>
            <a:r>
              <a:rPr sz="650" spc="-5" dirty="0">
                <a:solidFill>
                  <a:srgbClr val="231F20"/>
                </a:solidFill>
                <a:latin typeface="Arial"/>
                <a:cs typeface="Arial"/>
              </a:rPr>
              <a:t>forwarded</a:t>
            </a:r>
            <a:endParaRPr sz="650">
              <a:latin typeface="Arial"/>
              <a:cs typeface="Arial"/>
            </a:endParaRPr>
          </a:p>
          <a:p>
            <a:pPr marL="12700" algn="just">
              <a:lnSpc>
                <a:spcPts val="720"/>
              </a:lnSpc>
            </a:pPr>
            <a:r>
              <a:rPr sz="650" spc="-5" dirty="0">
                <a:solidFill>
                  <a:srgbClr val="231F20"/>
                </a:solidFill>
                <a:latin typeface="Arial"/>
                <a:cs typeface="Arial"/>
              </a:rPr>
              <a:t>to</a:t>
            </a:r>
            <a:r>
              <a:rPr sz="650" spc="-40" dirty="0">
                <a:solidFill>
                  <a:srgbClr val="231F20"/>
                </a:solidFill>
                <a:latin typeface="Arial"/>
                <a:cs typeface="Arial"/>
              </a:rPr>
              <a:t> </a:t>
            </a:r>
            <a:r>
              <a:rPr sz="650" spc="-5" dirty="0">
                <a:solidFill>
                  <a:srgbClr val="231F20"/>
                </a:solidFill>
                <a:latin typeface="Arial"/>
                <a:cs typeface="Arial"/>
              </a:rPr>
              <a:t>parent</a:t>
            </a:r>
            <a:endParaRPr sz="650">
              <a:latin typeface="Arial"/>
              <a:cs typeface="Arial"/>
            </a:endParaRPr>
          </a:p>
        </p:txBody>
      </p:sp>
      <p:sp>
        <p:nvSpPr>
          <p:cNvPr id="35" name="object 35"/>
          <p:cNvSpPr/>
          <p:nvPr/>
        </p:nvSpPr>
        <p:spPr>
          <a:xfrm>
            <a:off x="473067" y="1713216"/>
            <a:ext cx="422275" cy="579755"/>
          </a:xfrm>
          <a:custGeom>
            <a:avLst/>
            <a:gdLst/>
            <a:ahLst/>
            <a:cxnLst/>
            <a:rect l="l" t="t" r="r" b="b"/>
            <a:pathLst>
              <a:path w="422275" h="579755">
                <a:moveTo>
                  <a:pt x="276525" y="0"/>
                </a:moveTo>
                <a:lnTo>
                  <a:pt x="421656" y="214150"/>
                </a:lnTo>
              </a:path>
              <a:path w="422275" h="579755">
                <a:moveTo>
                  <a:pt x="43248" y="0"/>
                </a:moveTo>
                <a:lnTo>
                  <a:pt x="0" y="305811"/>
                </a:lnTo>
                <a:lnTo>
                  <a:pt x="32796" y="481037"/>
                </a:lnTo>
                <a:lnTo>
                  <a:pt x="90197" y="560580"/>
                </a:lnTo>
                <a:lnTo>
                  <a:pt x="120762" y="579339"/>
                </a:lnTo>
              </a:path>
            </a:pathLst>
          </a:custGeom>
          <a:ln w="5143">
            <a:solidFill>
              <a:srgbClr val="231F20"/>
            </a:solidFill>
          </a:ln>
        </p:spPr>
        <p:txBody>
          <a:bodyPr wrap="square" lIns="0" tIns="0" rIns="0" bIns="0" rtlCol="0"/>
          <a:lstStyle/>
          <a:p>
            <a:endParaRPr/>
          </a:p>
        </p:txBody>
      </p:sp>
      <p:sp>
        <p:nvSpPr>
          <p:cNvPr id="36" name="object 36"/>
          <p:cNvSpPr txBox="1"/>
          <p:nvPr/>
        </p:nvSpPr>
        <p:spPr>
          <a:xfrm>
            <a:off x="693149" y="2434708"/>
            <a:ext cx="668655" cy="289560"/>
          </a:xfrm>
          <a:prstGeom prst="rect">
            <a:avLst/>
          </a:prstGeom>
        </p:spPr>
        <p:txBody>
          <a:bodyPr vert="horz" wrap="square" lIns="0" tIns="12065" rIns="0" bIns="0" rtlCol="0">
            <a:spAutoFit/>
          </a:bodyPr>
          <a:lstStyle/>
          <a:p>
            <a:pPr marL="289560">
              <a:lnSpc>
                <a:spcPts val="675"/>
              </a:lnSpc>
              <a:spcBef>
                <a:spcPts val="95"/>
              </a:spcBef>
            </a:pPr>
            <a:r>
              <a:rPr sz="650" spc="-5" dirty="0">
                <a:solidFill>
                  <a:srgbClr val="231F20"/>
                </a:solidFill>
                <a:latin typeface="Arial"/>
                <a:cs typeface="Arial"/>
              </a:rPr>
              <a:t>Domain D</a:t>
            </a:r>
            <a:endParaRPr sz="650">
              <a:latin typeface="Arial"/>
              <a:cs typeface="Arial"/>
            </a:endParaRPr>
          </a:p>
          <a:p>
            <a:pPr marL="12700">
              <a:lnSpc>
                <a:spcPts val="650"/>
              </a:lnSpc>
            </a:pPr>
            <a:r>
              <a:rPr sz="650" spc="-5" dirty="0">
                <a:solidFill>
                  <a:srgbClr val="231F20"/>
                </a:solidFill>
                <a:latin typeface="Arial"/>
                <a:cs typeface="Arial"/>
              </a:rPr>
              <a:t>Insert</a:t>
            </a:r>
            <a:endParaRPr sz="650">
              <a:latin typeface="Arial"/>
              <a:cs typeface="Arial"/>
            </a:endParaRPr>
          </a:p>
          <a:p>
            <a:pPr marL="12700">
              <a:lnSpc>
                <a:spcPts val="750"/>
              </a:lnSpc>
            </a:pPr>
            <a:r>
              <a:rPr sz="650" spc="-5" dirty="0">
                <a:solidFill>
                  <a:srgbClr val="231F20"/>
                </a:solidFill>
                <a:latin typeface="Arial"/>
                <a:cs typeface="Arial"/>
              </a:rPr>
              <a:t>request</a:t>
            </a:r>
            <a:endParaRPr sz="650">
              <a:latin typeface="Arial"/>
              <a:cs typeface="Arial"/>
            </a:endParaRPr>
          </a:p>
        </p:txBody>
      </p:sp>
      <p:sp>
        <p:nvSpPr>
          <p:cNvPr id="37" name="object 37"/>
          <p:cNvSpPr txBox="1"/>
          <p:nvPr/>
        </p:nvSpPr>
        <p:spPr>
          <a:xfrm>
            <a:off x="342290" y="507286"/>
            <a:ext cx="3918585" cy="741045"/>
          </a:xfrm>
          <a:prstGeom prst="rect">
            <a:avLst/>
          </a:prstGeom>
        </p:spPr>
        <p:txBody>
          <a:bodyPr vert="horz" wrap="square" lIns="0" tIns="22860" rIns="0" bIns="0" rtlCol="0">
            <a:spAutoFit/>
          </a:bodyPr>
          <a:lstStyle/>
          <a:p>
            <a:pPr marL="17145" marR="5080" indent="-5080">
              <a:lnSpc>
                <a:spcPts val="1390"/>
              </a:lnSpc>
              <a:spcBef>
                <a:spcPts val="180"/>
              </a:spcBef>
            </a:pPr>
            <a:r>
              <a:rPr sz="1200" spc="-5" dirty="0">
                <a:solidFill>
                  <a:srgbClr val="3333B2"/>
                </a:solidFill>
                <a:latin typeface="Arial"/>
                <a:cs typeface="Arial"/>
              </a:rPr>
              <a:t>(a) An </a:t>
            </a:r>
            <a:r>
              <a:rPr sz="1200" spc="5" dirty="0">
                <a:solidFill>
                  <a:srgbClr val="3333B2"/>
                </a:solidFill>
                <a:latin typeface="Arial"/>
                <a:cs typeface="Arial"/>
              </a:rPr>
              <a:t>insert </a:t>
            </a:r>
            <a:r>
              <a:rPr sz="1200" spc="-5" dirty="0">
                <a:solidFill>
                  <a:srgbClr val="3333B2"/>
                </a:solidFill>
                <a:latin typeface="Arial"/>
                <a:cs typeface="Arial"/>
              </a:rPr>
              <a:t>request is </a:t>
            </a:r>
            <a:r>
              <a:rPr sz="1200" spc="-10" dirty="0">
                <a:solidFill>
                  <a:srgbClr val="3333B2"/>
                </a:solidFill>
                <a:latin typeface="Arial"/>
                <a:cs typeface="Arial"/>
              </a:rPr>
              <a:t>forwarded </a:t>
            </a:r>
            <a:r>
              <a:rPr sz="1200" spc="-5" dirty="0">
                <a:solidFill>
                  <a:srgbClr val="3333B2"/>
                </a:solidFill>
                <a:latin typeface="Arial"/>
                <a:cs typeface="Arial"/>
              </a:rPr>
              <a:t>to the first node that </a:t>
            </a:r>
            <a:r>
              <a:rPr sz="1200" dirty="0">
                <a:solidFill>
                  <a:srgbClr val="3333B2"/>
                </a:solidFill>
                <a:latin typeface="Arial"/>
                <a:cs typeface="Arial"/>
              </a:rPr>
              <a:t> </a:t>
            </a:r>
            <a:r>
              <a:rPr sz="1200" spc="-15" dirty="0">
                <a:solidFill>
                  <a:srgbClr val="3333B2"/>
                </a:solidFill>
                <a:latin typeface="Arial"/>
                <a:cs typeface="Arial"/>
              </a:rPr>
              <a:t>knows</a:t>
            </a:r>
            <a:r>
              <a:rPr sz="1200" spc="-5" dirty="0">
                <a:solidFill>
                  <a:srgbClr val="3333B2"/>
                </a:solidFill>
                <a:latin typeface="Arial"/>
                <a:cs typeface="Arial"/>
              </a:rPr>
              <a:t> </a:t>
            </a:r>
            <a:r>
              <a:rPr sz="1200" spc="-10" dirty="0">
                <a:solidFill>
                  <a:srgbClr val="3333B2"/>
                </a:solidFill>
                <a:latin typeface="Arial"/>
                <a:cs typeface="Arial"/>
              </a:rPr>
              <a:t>about</a:t>
            </a:r>
            <a:r>
              <a:rPr sz="1200" dirty="0">
                <a:solidFill>
                  <a:srgbClr val="3333B2"/>
                </a:solidFill>
                <a:latin typeface="Arial"/>
                <a:cs typeface="Arial"/>
              </a:rPr>
              <a:t> </a:t>
            </a:r>
            <a:r>
              <a:rPr sz="1200" spc="-5" dirty="0">
                <a:solidFill>
                  <a:srgbClr val="3333B2"/>
                </a:solidFill>
                <a:latin typeface="Arial"/>
                <a:cs typeface="Arial"/>
              </a:rPr>
              <a:t>entity </a:t>
            </a:r>
            <a:r>
              <a:rPr sz="1200" i="1" spc="-5" dirty="0">
                <a:solidFill>
                  <a:srgbClr val="3333B2"/>
                </a:solidFill>
                <a:latin typeface="Arial"/>
                <a:cs typeface="Arial"/>
              </a:rPr>
              <a:t>E</a:t>
            </a:r>
            <a:r>
              <a:rPr sz="1200" i="1" spc="-220" dirty="0">
                <a:solidFill>
                  <a:srgbClr val="3333B2"/>
                </a:solidFill>
                <a:latin typeface="Arial"/>
                <a:cs typeface="Arial"/>
              </a:rPr>
              <a:t> </a:t>
            </a:r>
            <a:r>
              <a:rPr sz="1200" spc="-5" dirty="0">
                <a:solidFill>
                  <a:srgbClr val="3333B2"/>
                </a:solidFill>
                <a:latin typeface="Arial"/>
                <a:cs typeface="Arial"/>
              </a:rPr>
              <a:t>.</a:t>
            </a:r>
            <a:r>
              <a:rPr sz="1200" spc="80" dirty="0">
                <a:solidFill>
                  <a:srgbClr val="3333B2"/>
                </a:solidFill>
                <a:latin typeface="Arial"/>
                <a:cs typeface="Arial"/>
              </a:rPr>
              <a:t> </a:t>
            </a:r>
            <a:r>
              <a:rPr sz="1200" spc="-5" dirty="0">
                <a:solidFill>
                  <a:srgbClr val="3333B2"/>
                </a:solidFill>
                <a:latin typeface="Arial"/>
                <a:cs typeface="Arial"/>
              </a:rPr>
              <a:t>(b)</a:t>
            </a:r>
            <a:r>
              <a:rPr sz="1200" dirty="0">
                <a:solidFill>
                  <a:srgbClr val="3333B2"/>
                </a:solidFill>
                <a:latin typeface="Arial"/>
                <a:cs typeface="Arial"/>
              </a:rPr>
              <a:t> </a:t>
            </a:r>
            <a:r>
              <a:rPr sz="1200" spc="-10" dirty="0">
                <a:solidFill>
                  <a:srgbClr val="3333B2"/>
                </a:solidFill>
                <a:latin typeface="Arial"/>
                <a:cs typeface="Arial"/>
              </a:rPr>
              <a:t>A</a:t>
            </a:r>
            <a:r>
              <a:rPr sz="1200" spc="-5" dirty="0">
                <a:solidFill>
                  <a:srgbClr val="3333B2"/>
                </a:solidFill>
                <a:latin typeface="Arial"/>
                <a:cs typeface="Arial"/>
              </a:rPr>
              <a:t> </a:t>
            </a:r>
            <a:r>
              <a:rPr sz="1200" spc="-10" dirty="0">
                <a:solidFill>
                  <a:srgbClr val="3333B2"/>
                </a:solidFill>
                <a:latin typeface="Arial"/>
                <a:cs typeface="Arial"/>
              </a:rPr>
              <a:t>chain</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15" dirty="0">
                <a:solidFill>
                  <a:srgbClr val="3333B2"/>
                </a:solidFill>
                <a:latin typeface="Arial"/>
                <a:cs typeface="Arial"/>
              </a:rPr>
              <a:t>forwarding</a:t>
            </a:r>
            <a:r>
              <a:rPr sz="1200" spc="-5" dirty="0">
                <a:solidFill>
                  <a:srgbClr val="3333B2"/>
                </a:solidFill>
                <a:latin typeface="Arial"/>
                <a:cs typeface="Arial"/>
              </a:rPr>
              <a:t> pointers</a:t>
            </a:r>
            <a:r>
              <a:rPr sz="1200" dirty="0">
                <a:solidFill>
                  <a:srgbClr val="3333B2"/>
                </a:solidFill>
                <a:latin typeface="Arial"/>
                <a:cs typeface="Arial"/>
              </a:rPr>
              <a:t> </a:t>
            </a:r>
            <a:r>
              <a:rPr sz="1200" spc="-5" dirty="0">
                <a:solidFill>
                  <a:srgbClr val="3333B2"/>
                </a:solidFill>
                <a:latin typeface="Arial"/>
                <a:cs typeface="Arial"/>
              </a:rPr>
              <a:t>to </a:t>
            </a:r>
            <a:r>
              <a:rPr sz="1200" spc="-320" dirty="0">
                <a:solidFill>
                  <a:srgbClr val="3333B2"/>
                </a:solidFill>
                <a:latin typeface="Arial"/>
                <a:cs typeface="Arial"/>
              </a:rPr>
              <a:t> </a:t>
            </a:r>
            <a:r>
              <a:rPr sz="1200" spc="-5" dirty="0">
                <a:solidFill>
                  <a:srgbClr val="3333B2"/>
                </a:solidFill>
                <a:latin typeface="Arial"/>
                <a:cs typeface="Arial"/>
              </a:rPr>
              <a:t>the</a:t>
            </a:r>
            <a:r>
              <a:rPr sz="1200" spc="-10" dirty="0">
                <a:solidFill>
                  <a:srgbClr val="3333B2"/>
                </a:solidFill>
                <a:latin typeface="Arial"/>
                <a:cs typeface="Arial"/>
              </a:rPr>
              <a:t> </a:t>
            </a:r>
            <a:r>
              <a:rPr sz="1200" spc="-5" dirty="0">
                <a:solidFill>
                  <a:srgbClr val="3333B2"/>
                </a:solidFill>
                <a:latin typeface="Arial"/>
                <a:cs typeface="Arial"/>
              </a:rPr>
              <a:t>leaf node is created</a:t>
            </a:r>
            <a:endParaRPr sz="1200">
              <a:latin typeface="Arial"/>
              <a:cs typeface="Arial"/>
            </a:endParaRPr>
          </a:p>
          <a:p>
            <a:pPr marL="958215">
              <a:lnSpc>
                <a:spcPct val="100000"/>
              </a:lnSpc>
              <a:spcBef>
                <a:spcPts val="600"/>
              </a:spcBef>
            </a:pPr>
            <a:r>
              <a:rPr sz="650" spc="-5" dirty="0">
                <a:solidFill>
                  <a:srgbClr val="231F20"/>
                </a:solidFill>
                <a:latin typeface="Arial"/>
                <a:cs typeface="Arial"/>
              </a:rPr>
              <a:t>Node</a:t>
            </a:r>
            <a:r>
              <a:rPr sz="650" spc="-35" dirty="0">
                <a:solidFill>
                  <a:srgbClr val="231F20"/>
                </a:solidFill>
                <a:latin typeface="Arial"/>
                <a:cs typeface="Arial"/>
              </a:rPr>
              <a:t> </a:t>
            </a:r>
            <a:r>
              <a:rPr sz="650" spc="-5" dirty="0">
                <a:solidFill>
                  <a:srgbClr val="231F20"/>
                </a:solidFill>
                <a:latin typeface="Arial"/>
                <a:cs typeface="Arial"/>
              </a:rPr>
              <a:t>knows</a:t>
            </a:r>
            <a:endParaRPr sz="650">
              <a:latin typeface="Arial"/>
              <a:cs typeface="Arial"/>
            </a:endParaRPr>
          </a:p>
        </p:txBody>
      </p:sp>
      <p:sp>
        <p:nvSpPr>
          <p:cNvPr id="38" name="object 38"/>
          <p:cNvSpPr txBox="1"/>
          <p:nvPr/>
        </p:nvSpPr>
        <p:spPr>
          <a:xfrm>
            <a:off x="1288425" y="1215916"/>
            <a:ext cx="840105" cy="216535"/>
          </a:xfrm>
          <a:prstGeom prst="rect">
            <a:avLst/>
          </a:prstGeom>
        </p:spPr>
        <p:txBody>
          <a:bodyPr vert="horz" wrap="square" lIns="0" tIns="12065" rIns="0" bIns="0" rtlCol="0">
            <a:spAutoFit/>
          </a:bodyPr>
          <a:lstStyle/>
          <a:p>
            <a:pPr marL="12700">
              <a:lnSpc>
                <a:spcPts val="750"/>
              </a:lnSpc>
              <a:spcBef>
                <a:spcPts val="95"/>
              </a:spcBef>
            </a:pPr>
            <a:r>
              <a:rPr sz="650" spc="-5" dirty="0">
                <a:solidFill>
                  <a:srgbClr val="231F20"/>
                </a:solidFill>
                <a:latin typeface="Arial"/>
                <a:cs typeface="Arial"/>
              </a:rPr>
              <a:t>about</a:t>
            </a:r>
            <a:r>
              <a:rPr sz="650" spc="-15" dirty="0">
                <a:solidFill>
                  <a:srgbClr val="231F20"/>
                </a:solidFill>
                <a:latin typeface="Arial"/>
                <a:cs typeface="Arial"/>
              </a:rPr>
              <a:t> </a:t>
            </a:r>
            <a:r>
              <a:rPr sz="650" spc="-5" dirty="0">
                <a:solidFill>
                  <a:srgbClr val="231F20"/>
                </a:solidFill>
                <a:latin typeface="Arial"/>
                <a:cs typeface="Arial"/>
              </a:rPr>
              <a:t>E,</a:t>
            </a:r>
            <a:r>
              <a:rPr sz="650" spc="-15" dirty="0">
                <a:solidFill>
                  <a:srgbClr val="231F20"/>
                </a:solidFill>
                <a:latin typeface="Arial"/>
                <a:cs typeface="Arial"/>
              </a:rPr>
              <a:t> </a:t>
            </a:r>
            <a:r>
              <a:rPr sz="650" spc="-5" dirty="0">
                <a:solidFill>
                  <a:srgbClr val="231F20"/>
                </a:solidFill>
                <a:latin typeface="Arial"/>
                <a:cs typeface="Arial"/>
              </a:rPr>
              <a:t>so</a:t>
            </a:r>
            <a:r>
              <a:rPr sz="650" spc="-15" dirty="0">
                <a:solidFill>
                  <a:srgbClr val="231F20"/>
                </a:solidFill>
                <a:latin typeface="Arial"/>
                <a:cs typeface="Arial"/>
              </a:rPr>
              <a:t> </a:t>
            </a:r>
            <a:r>
              <a:rPr sz="650" spc="-5" dirty="0">
                <a:solidFill>
                  <a:srgbClr val="231F20"/>
                </a:solidFill>
                <a:latin typeface="Arial"/>
                <a:cs typeface="Arial"/>
              </a:rPr>
              <a:t>request</a:t>
            </a:r>
            <a:endParaRPr sz="650">
              <a:latin typeface="Arial"/>
              <a:cs typeface="Arial"/>
            </a:endParaRPr>
          </a:p>
          <a:p>
            <a:pPr marL="12700">
              <a:lnSpc>
                <a:spcPts val="750"/>
              </a:lnSpc>
            </a:pPr>
            <a:r>
              <a:rPr sz="650" spc="-5" dirty="0">
                <a:solidFill>
                  <a:srgbClr val="231F20"/>
                </a:solidFill>
                <a:latin typeface="Arial"/>
                <a:cs typeface="Arial"/>
              </a:rPr>
              <a:t>is</a:t>
            </a:r>
            <a:r>
              <a:rPr sz="650" spc="-15" dirty="0">
                <a:solidFill>
                  <a:srgbClr val="231F20"/>
                </a:solidFill>
                <a:latin typeface="Arial"/>
                <a:cs typeface="Arial"/>
              </a:rPr>
              <a:t> </a:t>
            </a:r>
            <a:r>
              <a:rPr sz="650" spc="-5" dirty="0">
                <a:solidFill>
                  <a:srgbClr val="231F20"/>
                </a:solidFill>
                <a:latin typeface="Arial"/>
                <a:cs typeface="Arial"/>
              </a:rPr>
              <a:t>no</a:t>
            </a:r>
            <a:r>
              <a:rPr sz="650" spc="-10" dirty="0">
                <a:solidFill>
                  <a:srgbClr val="231F20"/>
                </a:solidFill>
                <a:latin typeface="Arial"/>
                <a:cs typeface="Arial"/>
              </a:rPr>
              <a:t> </a:t>
            </a:r>
            <a:r>
              <a:rPr sz="650" spc="-5" dirty="0">
                <a:solidFill>
                  <a:srgbClr val="231F20"/>
                </a:solidFill>
                <a:latin typeface="Arial"/>
                <a:cs typeface="Arial"/>
              </a:rPr>
              <a:t>longer</a:t>
            </a:r>
            <a:r>
              <a:rPr sz="650" spc="-15" dirty="0">
                <a:solidFill>
                  <a:srgbClr val="231F20"/>
                </a:solidFill>
                <a:latin typeface="Arial"/>
                <a:cs typeface="Arial"/>
              </a:rPr>
              <a:t> </a:t>
            </a:r>
            <a:r>
              <a:rPr sz="650" spc="-5" dirty="0">
                <a:solidFill>
                  <a:srgbClr val="231F20"/>
                </a:solidFill>
                <a:latin typeface="Arial"/>
                <a:cs typeface="Arial"/>
              </a:rPr>
              <a:t>forwarded</a:t>
            </a:r>
            <a:endParaRPr sz="650">
              <a:latin typeface="Arial"/>
              <a:cs typeface="Arial"/>
            </a:endParaRPr>
          </a:p>
        </p:txBody>
      </p:sp>
      <p:grpSp>
        <p:nvGrpSpPr>
          <p:cNvPr id="39" name="object 39"/>
          <p:cNvGrpSpPr/>
          <p:nvPr/>
        </p:nvGrpSpPr>
        <p:grpSpPr>
          <a:xfrm>
            <a:off x="1301060" y="1433636"/>
            <a:ext cx="661670" cy="559435"/>
            <a:chOff x="1301060" y="1433636"/>
            <a:chExt cx="661670" cy="559435"/>
          </a:xfrm>
        </p:grpSpPr>
        <p:sp>
          <p:nvSpPr>
            <p:cNvPr id="40" name="object 40"/>
            <p:cNvSpPr/>
            <p:nvPr/>
          </p:nvSpPr>
          <p:spPr>
            <a:xfrm>
              <a:off x="1303632" y="1436208"/>
              <a:ext cx="656590" cy="321310"/>
            </a:xfrm>
            <a:custGeom>
              <a:avLst/>
              <a:gdLst/>
              <a:ahLst/>
              <a:cxnLst/>
              <a:rect l="l" t="t" r="r" b="b"/>
              <a:pathLst>
                <a:path w="656589" h="321310">
                  <a:moveTo>
                    <a:pt x="262448" y="0"/>
                  </a:moveTo>
                  <a:lnTo>
                    <a:pt x="82291" y="228844"/>
                  </a:lnTo>
                </a:path>
                <a:path w="656589" h="321310">
                  <a:moveTo>
                    <a:pt x="0" y="320756"/>
                  </a:moveTo>
                  <a:lnTo>
                    <a:pt x="87479" y="320756"/>
                  </a:lnTo>
                  <a:lnTo>
                    <a:pt x="87479" y="262438"/>
                  </a:lnTo>
                  <a:lnTo>
                    <a:pt x="0" y="262438"/>
                  </a:lnTo>
                  <a:lnTo>
                    <a:pt x="0" y="320756"/>
                  </a:lnTo>
                  <a:close/>
                </a:path>
                <a:path w="656589" h="321310">
                  <a:moveTo>
                    <a:pt x="568609" y="116644"/>
                  </a:moveTo>
                  <a:lnTo>
                    <a:pt x="656089" y="116644"/>
                  </a:lnTo>
                  <a:lnTo>
                    <a:pt x="656089" y="58325"/>
                  </a:lnTo>
                  <a:lnTo>
                    <a:pt x="568609" y="58325"/>
                  </a:lnTo>
                  <a:lnTo>
                    <a:pt x="568609" y="116644"/>
                  </a:lnTo>
                  <a:close/>
                </a:path>
                <a:path w="656589" h="321310">
                  <a:moveTo>
                    <a:pt x="29157" y="262441"/>
                  </a:moveTo>
                  <a:lnTo>
                    <a:pt x="29157" y="320756"/>
                  </a:lnTo>
                </a:path>
                <a:path w="656589" h="321310">
                  <a:moveTo>
                    <a:pt x="597783" y="58317"/>
                  </a:moveTo>
                  <a:lnTo>
                    <a:pt x="597783" y="116644"/>
                  </a:lnTo>
                </a:path>
                <a:path w="656589" h="321310">
                  <a:moveTo>
                    <a:pt x="58323" y="262441"/>
                  </a:moveTo>
                  <a:lnTo>
                    <a:pt x="58323" y="320756"/>
                  </a:lnTo>
                </a:path>
                <a:path w="656589" h="321310">
                  <a:moveTo>
                    <a:pt x="626937" y="58317"/>
                  </a:moveTo>
                  <a:lnTo>
                    <a:pt x="626937" y="116644"/>
                  </a:lnTo>
                </a:path>
              </a:pathLst>
            </a:custGeom>
            <a:ln w="5143">
              <a:solidFill>
                <a:srgbClr val="231F20"/>
              </a:solidFill>
            </a:ln>
          </p:spPr>
          <p:txBody>
            <a:bodyPr wrap="square" lIns="0" tIns="0" rIns="0" bIns="0" rtlCol="0"/>
            <a:lstStyle/>
            <a:p>
              <a:endParaRPr/>
            </a:p>
          </p:txBody>
        </p:sp>
        <p:sp>
          <p:nvSpPr>
            <p:cNvPr id="41" name="object 41"/>
            <p:cNvSpPr/>
            <p:nvPr/>
          </p:nvSpPr>
          <p:spPr>
            <a:xfrm>
              <a:off x="1595234" y="1931923"/>
              <a:ext cx="58419" cy="58419"/>
            </a:xfrm>
            <a:custGeom>
              <a:avLst/>
              <a:gdLst/>
              <a:ahLst/>
              <a:cxnLst/>
              <a:rect l="l" t="t" r="r" b="b"/>
              <a:pathLst>
                <a:path w="58419" h="58419">
                  <a:moveTo>
                    <a:pt x="58318" y="0"/>
                  </a:moveTo>
                  <a:lnTo>
                    <a:pt x="0" y="0"/>
                  </a:lnTo>
                  <a:lnTo>
                    <a:pt x="0" y="58322"/>
                  </a:lnTo>
                  <a:lnTo>
                    <a:pt x="58318" y="58322"/>
                  </a:lnTo>
                  <a:lnTo>
                    <a:pt x="58318" y="0"/>
                  </a:lnTo>
                  <a:close/>
                </a:path>
              </a:pathLst>
            </a:custGeom>
            <a:solidFill>
              <a:srgbClr val="FFFFFF"/>
            </a:solidFill>
          </p:spPr>
          <p:txBody>
            <a:bodyPr wrap="square" lIns="0" tIns="0" rIns="0" bIns="0" rtlCol="0"/>
            <a:lstStyle/>
            <a:p>
              <a:endParaRPr/>
            </a:p>
          </p:txBody>
        </p:sp>
        <p:sp>
          <p:nvSpPr>
            <p:cNvPr id="42" name="object 42"/>
            <p:cNvSpPr/>
            <p:nvPr/>
          </p:nvSpPr>
          <p:spPr>
            <a:xfrm>
              <a:off x="1595234" y="1931923"/>
              <a:ext cx="58419" cy="58419"/>
            </a:xfrm>
            <a:custGeom>
              <a:avLst/>
              <a:gdLst/>
              <a:ahLst/>
              <a:cxnLst/>
              <a:rect l="l" t="t" r="r" b="b"/>
              <a:pathLst>
                <a:path w="58419" h="58419">
                  <a:moveTo>
                    <a:pt x="0" y="58322"/>
                  </a:moveTo>
                  <a:lnTo>
                    <a:pt x="58318" y="58322"/>
                  </a:lnTo>
                  <a:lnTo>
                    <a:pt x="58318" y="0"/>
                  </a:lnTo>
                  <a:lnTo>
                    <a:pt x="0" y="0"/>
                  </a:lnTo>
                  <a:lnTo>
                    <a:pt x="0" y="58322"/>
                  </a:lnTo>
                  <a:close/>
                </a:path>
                <a:path w="58419" h="58419">
                  <a:moveTo>
                    <a:pt x="29163" y="0"/>
                  </a:moveTo>
                  <a:lnTo>
                    <a:pt x="29163" y="58322"/>
                  </a:lnTo>
                </a:path>
              </a:pathLst>
            </a:custGeom>
            <a:ln w="5143">
              <a:solidFill>
                <a:srgbClr val="231F20"/>
              </a:solidFill>
            </a:ln>
          </p:spPr>
          <p:txBody>
            <a:bodyPr wrap="square" lIns="0" tIns="0" rIns="0" bIns="0" rtlCol="0"/>
            <a:lstStyle/>
            <a:p>
              <a:endParaRPr/>
            </a:p>
          </p:txBody>
        </p:sp>
      </p:grpSp>
      <p:grpSp>
        <p:nvGrpSpPr>
          <p:cNvPr id="43" name="object 43"/>
          <p:cNvGrpSpPr/>
          <p:nvPr/>
        </p:nvGrpSpPr>
        <p:grpSpPr>
          <a:xfrm>
            <a:off x="2471945" y="1491667"/>
            <a:ext cx="1653539" cy="953769"/>
            <a:chOff x="2471945" y="1491667"/>
            <a:chExt cx="1653539" cy="953769"/>
          </a:xfrm>
        </p:grpSpPr>
        <p:sp>
          <p:nvSpPr>
            <p:cNvPr id="44" name="object 44"/>
            <p:cNvSpPr/>
            <p:nvPr/>
          </p:nvSpPr>
          <p:spPr>
            <a:xfrm>
              <a:off x="2914813" y="1815287"/>
              <a:ext cx="252729" cy="142875"/>
            </a:xfrm>
            <a:custGeom>
              <a:avLst/>
              <a:gdLst/>
              <a:ahLst/>
              <a:cxnLst/>
              <a:rect l="l" t="t" r="r" b="b"/>
              <a:pathLst>
                <a:path w="252730" h="142875">
                  <a:moveTo>
                    <a:pt x="252545" y="0"/>
                  </a:moveTo>
                  <a:lnTo>
                    <a:pt x="0" y="142454"/>
                  </a:lnTo>
                </a:path>
              </a:pathLst>
            </a:custGeom>
            <a:ln w="10287">
              <a:solidFill>
                <a:srgbClr val="231F20"/>
              </a:solidFill>
            </a:ln>
          </p:spPr>
          <p:txBody>
            <a:bodyPr wrap="square" lIns="0" tIns="0" rIns="0" bIns="0" rtlCol="0"/>
            <a:lstStyle/>
            <a:p>
              <a:endParaRPr/>
            </a:p>
          </p:txBody>
        </p:sp>
        <p:sp>
          <p:nvSpPr>
            <p:cNvPr id="45" name="object 45"/>
            <p:cNvSpPr/>
            <p:nvPr/>
          </p:nvSpPr>
          <p:spPr>
            <a:xfrm>
              <a:off x="2883032" y="1912908"/>
              <a:ext cx="78740" cy="62865"/>
            </a:xfrm>
            <a:custGeom>
              <a:avLst/>
              <a:gdLst/>
              <a:ahLst/>
              <a:cxnLst/>
              <a:rect l="l" t="t" r="r" b="b"/>
              <a:pathLst>
                <a:path w="78739" h="62864">
                  <a:moveTo>
                    <a:pt x="47938" y="0"/>
                  </a:moveTo>
                  <a:lnTo>
                    <a:pt x="0" y="62754"/>
                  </a:lnTo>
                  <a:lnTo>
                    <a:pt x="78510" y="54191"/>
                  </a:lnTo>
                  <a:lnTo>
                    <a:pt x="65790" y="43508"/>
                  </a:lnTo>
                  <a:lnTo>
                    <a:pt x="56454" y="30916"/>
                  </a:lnTo>
                  <a:lnTo>
                    <a:pt x="50503" y="16413"/>
                  </a:lnTo>
                  <a:lnTo>
                    <a:pt x="47938" y="0"/>
                  </a:lnTo>
                  <a:close/>
                </a:path>
              </a:pathLst>
            </a:custGeom>
            <a:solidFill>
              <a:srgbClr val="231F20"/>
            </a:solidFill>
          </p:spPr>
          <p:txBody>
            <a:bodyPr wrap="square" lIns="0" tIns="0" rIns="0" bIns="0" rtlCol="0"/>
            <a:lstStyle/>
            <a:p>
              <a:endParaRPr/>
            </a:p>
          </p:txBody>
        </p:sp>
        <p:pic>
          <p:nvPicPr>
            <p:cNvPr id="46" name="object 46"/>
            <p:cNvPicPr/>
            <p:nvPr/>
          </p:nvPicPr>
          <p:blipFill>
            <a:blip r:embed="rId8" cstate="print"/>
            <a:stretch>
              <a:fillRect/>
            </a:stretch>
          </p:blipFill>
          <p:spPr>
            <a:xfrm>
              <a:off x="3271549" y="1810143"/>
              <a:ext cx="180105" cy="165520"/>
            </a:xfrm>
            <a:prstGeom prst="rect">
              <a:avLst/>
            </a:prstGeom>
          </p:spPr>
        </p:pic>
        <p:sp>
          <p:nvSpPr>
            <p:cNvPr id="47" name="object 47"/>
            <p:cNvSpPr/>
            <p:nvPr/>
          </p:nvSpPr>
          <p:spPr>
            <a:xfrm>
              <a:off x="3325772" y="1596592"/>
              <a:ext cx="432434" cy="148590"/>
            </a:xfrm>
            <a:custGeom>
              <a:avLst/>
              <a:gdLst/>
              <a:ahLst/>
              <a:cxnLst/>
              <a:rect l="l" t="t" r="r" b="b"/>
              <a:pathLst>
                <a:path w="432435" h="148589">
                  <a:moveTo>
                    <a:pt x="432064" y="0"/>
                  </a:moveTo>
                  <a:lnTo>
                    <a:pt x="0" y="148517"/>
                  </a:lnTo>
                </a:path>
              </a:pathLst>
            </a:custGeom>
            <a:ln w="10287">
              <a:solidFill>
                <a:srgbClr val="231F20"/>
              </a:solidFill>
            </a:ln>
          </p:spPr>
          <p:txBody>
            <a:bodyPr wrap="square" lIns="0" tIns="0" rIns="0" bIns="0" rtlCol="0"/>
            <a:lstStyle/>
            <a:p>
              <a:endParaRPr/>
            </a:p>
          </p:txBody>
        </p:sp>
        <p:sp>
          <p:nvSpPr>
            <p:cNvPr id="48" name="object 48"/>
            <p:cNvSpPr/>
            <p:nvPr/>
          </p:nvSpPr>
          <p:spPr>
            <a:xfrm>
              <a:off x="3291270" y="1703958"/>
              <a:ext cx="79375" cy="59055"/>
            </a:xfrm>
            <a:custGeom>
              <a:avLst/>
              <a:gdLst/>
              <a:ahLst/>
              <a:cxnLst/>
              <a:rect l="l" t="t" r="r" b="b"/>
              <a:pathLst>
                <a:path w="79375" h="59055">
                  <a:moveTo>
                    <a:pt x="58533" y="0"/>
                  </a:moveTo>
                  <a:lnTo>
                    <a:pt x="0" y="53006"/>
                  </a:lnTo>
                  <a:lnTo>
                    <a:pt x="78767" y="58829"/>
                  </a:lnTo>
                  <a:lnTo>
                    <a:pt x="68194" y="46020"/>
                  </a:lnTo>
                  <a:lnTo>
                    <a:pt x="61301" y="31944"/>
                  </a:lnTo>
                  <a:lnTo>
                    <a:pt x="58082" y="16604"/>
                  </a:lnTo>
                  <a:lnTo>
                    <a:pt x="58533" y="0"/>
                  </a:lnTo>
                  <a:close/>
                </a:path>
              </a:pathLst>
            </a:custGeom>
            <a:solidFill>
              <a:srgbClr val="231F20"/>
            </a:solidFill>
          </p:spPr>
          <p:txBody>
            <a:bodyPr wrap="square" lIns="0" tIns="0" rIns="0" bIns="0" rtlCol="0"/>
            <a:lstStyle/>
            <a:p>
              <a:endParaRPr/>
            </a:p>
          </p:txBody>
        </p:sp>
        <p:sp>
          <p:nvSpPr>
            <p:cNvPr id="49" name="object 49"/>
            <p:cNvSpPr/>
            <p:nvPr/>
          </p:nvSpPr>
          <p:spPr>
            <a:xfrm>
              <a:off x="3291269" y="1800704"/>
              <a:ext cx="219075" cy="58419"/>
            </a:xfrm>
            <a:custGeom>
              <a:avLst/>
              <a:gdLst/>
              <a:ahLst/>
              <a:cxnLst/>
              <a:rect l="l" t="t" r="r" b="b"/>
              <a:pathLst>
                <a:path w="219075" h="58419">
                  <a:moveTo>
                    <a:pt x="0" y="0"/>
                  </a:moveTo>
                  <a:lnTo>
                    <a:pt x="218711" y="58322"/>
                  </a:lnTo>
                </a:path>
              </a:pathLst>
            </a:custGeom>
            <a:ln w="5143">
              <a:solidFill>
                <a:srgbClr val="231F20"/>
              </a:solidFill>
            </a:ln>
          </p:spPr>
          <p:txBody>
            <a:bodyPr wrap="square" lIns="0" tIns="0" rIns="0" bIns="0" rtlCol="0"/>
            <a:lstStyle/>
            <a:p>
              <a:endParaRPr/>
            </a:p>
          </p:txBody>
        </p:sp>
        <p:sp>
          <p:nvSpPr>
            <p:cNvPr id="50" name="object 50"/>
            <p:cNvSpPr/>
            <p:nvPr/>
          </p:nvSpPr>
          <p:spPr>
            <a:xfrm>
              <a:off x="3156813" y="1713217"/>
              <a:ext cx="146050" cy="146050"/>
            </a:xfrm>
            <a:custGeom>
              <a:avLst/>
              <a:gdLst/>
              <a:ahLst/>
              <a:cxnLst/>
              <a:rect l="l" t="t" r="r" b="b"/>
              <a:pathLst>
                <a:path w="146050" h="146050">
                  <a:moveTo>
                    <a:pt x="145796" y="72910"/>
                  </a:moveTo>
                  <a:lnTo>
                    <a:pt x="140055" y="44577"/>
                  </a:lnTo>
                  <a:lnTo>
                    <a:pt x="124396" y="21399"/>
                  </a:lnTo>
                  <a:lnTo>
                    <a:pt x="101219" y="5753"/>
                  </a:lnTo>
                  <a:lnTo>
                    <a:pt x="72898" y="0"/>
                  </a:lnTo>
                  <a:lnTo>
                    <a:pt x="44564" y="5753"/>
                  </a:lnTo>
                  <a:lnTo>
                    <a:pt x="21386" y="21399"/>
                  </a:lnTo>
                  <a:lnTo>
                    <a:pt x="5740" y="44577"/>
                  </a:lnTo>
                  <a:lnTo>
                    <a:pt x="0" y="72910"/>
                  </a:lnTo>
                  <a:lnTo>
                    <a:pt x="5740" y="101244"/>
                  </a:lnTo>
                  <a:lnTo>
                    <a:pt x="21386" y="124421"/>
                  </a:lnTo>
                  <a:lnTo>
                    <a:pt x="44564" y="140068"/>
                  </a:lnTo>
                  <a:lnTo>
                    <a:pt x="72898" y="145821"/>
                  </a:lnTo>
                  <a:lnTo>
                    <a:pt x="101219" y="140068"/>
                  </a:lnTo>
                  <a:lnTo>
                    <a:pt x="124396" y="124421"/>
                  </a:lnTo>
                  <a:lnTo>
                    <a:pt x="140055" y="101244"/>
                  </a:lnTo>
                  <a:lnTo>
                    <a:pt x="145796" y="72910"/>
                  </a:lnTo>
                  <a:close/>
                </a:path>
              </a:pathLst>
            </a:custGeom>
            <a:solidFill>
              <a:srgbClr val="FFFFFF"/>
            </a:solidFill>
          </p:spPr>
          <p:txBody>
            <a:bodyPr wrap="square" lIns="0" tIns="0" rIns="0" bIns="0" rtlCol="0"/>
            <a:lstStyle/>
            <a:p>
              <a:endParaRPr/>
            </a:p>
          </p:txBody>
        </p:sp>
        <p:sp>
          <p:nvSpPr>
            <p:cNvPr id="51" name="object 51"/>
            <p:cNvSpPr/>
            <p:nvPr/>
          </p:nvSpPr>
          <p:spPr>
            <a:xfrm>
              <a:off x="3156823" y="1713216"/>
              <a:ext cx="146050" cy="146050"/>
            </a:xfrm>
            <a:custGeom>
              <a:avLst/>
              <a:gdLst/>
              <a:ahLst/>
              <a:cxnLst/>
              <a:rect l="l" t="t" r="r" b="b"/>
              <a:pathLst>
                <a:path w="146050" h="146050">
                  <a:moveTo>
                    <a:pt x="72893" y="0"/>
                  </a:moveTo>
                  <a:lnTo>
                    <a:pt x="101220" y="5745"/>
                  </a:lnTo>
                  <a:lnTo>
                    <a:pt x="124398" y="21397"/>
                  </a:lnTo>
                  <a:lnTo>
                    <a:pt x="140048" y="44576"/>
                  </a:lnTo>
                  <a:lnTo>
                    <a:pt x="145793" y="72904"/>
                  </a:lnTo>
                  <a:lnTo>
                    <a:pt x="140048" y="101237"/>
                  </a:lnTo>
                  <a:lnTo>
                    <a:pt x="124398" y="124416"/>
                  </a:lnTo>
                  <a:lnTo>
                    <a:pt x="101220" y="140065"/>
                  </a:lnTo>
                  <a:lnTo>
                    <a:pt x="72893" y="145809"/>
                  </a:lnTo>
                  <a:lnTo>
                    <a:pt x="44564" y="140065"/>
                  </a:lnTo>
                  <a:lnTo>
                    <a:pt x="21389" y="124416"/>
                  </a:lnTo>
                  <a:lnTo>
                    <a:pt x="5743" y="101237"/>
                  </a:lnTo>
                  <a:lnTo>
                    <a:pt x="0" y="72904"/>
                  </a:lnTo>
                  <a:lnTo>
                    <a:pt x="5743" y="44576"/>
                  </a:lnTo>
                  <a:lnTo>
                    <a:pt x="21389" y="21397"/>
                  </a:lnTo>
                  <a:lnTo>
                    <a:pt x="44564" y="5745"/>
                  </a:lnTo>
                  <a:lnTo>
                    <a:pt x="72893" y="0"/>
                  </a:lnTo>
                  <a:close/>
                </a:path>
              </a:pathLst>
            </a:custGeom>
            <a:ln w="5143">
              <a:solidFill>
                <a:srgbClr val="231F20"/>
              </a:solidFill>
            </a:ln>
          </p:spPr>
          <p:txBody>
            <a:bodyPr wrap="square" lIns="0" tIns="0" rIns="0" bIns="0" rtlCol="0"/>
            <a:lstStyle/>
            <a:p>
              <a:endParaRPr/>
            </a:p>
          </p:txBody>
        </p:sp>
        <p:sp>
          <p:nvSpPr>
            <p:cNvPr id="52" name="object 52"/>
            <p:cNvSpPr/>
            <p:nvPr/>
          </p:nvSpPr>
          <p:spPr>
            <a:xfrm>
              <a:off x="3743249" y="1494525"/>
              <a:ext cx="146050" cy="146050"/>
            </a:xfrm>
            <a:custGeom>
              <a:avLst/>
              <a:gdLst/>
              <a:ahLst/>
              <a:cxnLst/>
              <a:rect l="l" t="t" r="r" b="b"/>
              <a:pathLst>
                <a:path w="146050" h="146050">
                  <a:moveTo>
                    <a:pt x="72914" y="0"/>
                  </a:moveTo>
                  <a:lnTo>
                    <a:pt x="44578" y="5745"/>
                  </a:lnTo>
                  <a:lnTo>
                    <a:pt x="21396" y="21395"/>
                  </a:lnTo>
                  <a:lnTo>
                    <a:pt x="5745" y="44574"/>
                  </a:lnTo>
                  <a:lnTo>
                    <a:pt x="0" y="72903"/>
                  </a:lnTo>
                  <a:lnTo>
                    <a:pt x="5745" y="101231"/>
                  </a:lnTo>
                  <a:lnTo>
                    <a:pt x="21396" y="124407"/>
                  </a:lnTo>
                  <a:lnTo>
                    <a:pt x="44578" y="140054"/>
                  </a:lnTo>
                  <a:lnTo>
                    <a:pt x="72914" y="145797"/>
                  </a:lnTo>
                  <a:lnTo>
                    <a:pt x="101237" y="140054"/>
                  </a:lnTo>
                  <a:lnTo>
                    <a:pt x="124413" y="124407"/>
                  </a:lnTo>
                  <a:lnTo>
                    <a:pt x="140062" y="101231"/>
                  </a:lnTo>
                  <a:lnTo>
                    <a:pt x="145807" y="72903"/>
                  </a:lnTo>
                  <a:lnTo>
                    <a:pt x="140062" y="44574"/>
                  </a:lnTo>
                  <a:lnTo>
                    <a:pt x="124413" y="21395"/>
                  </a:lnTo>
                  <a:lnTo>
                    <a:pt x="101237" y="5745"/>
                  </a:lnTo>
                  <a:lnTo>
                    <a:pt x="72914" y="0"/>
                  </a:lnTo>
                  <a:close/>
                </a:path>
              </a:pathLst>
            </a:custGeom>
            <a:solidFill>
              <a:srgbClr val="FFFFFF"/>
            </a:solidFill>
          </p:spPr>
          <p:txBody>
            <a:bodyPr wrap="square" lIns="0" tIns="0" rIns="0" bIns="0" rtlCol="0"/>
            <a:lstStyle/>
            <a:p>
              <a:endParaRPr/>
            </a:p>
          </p:txBody>
        </p:sp>
        <p:sp>
          <p:nvSpPr>
            <p:cNvPr id="53" name="object 53"/>
            <p:cNvSpPr/>
            <p:nvPr/>
          </p:nvSpPr>
          <p:spPr>
            <a:xfrm>
              <a:off x="3743249" y="1494525"/>
              <a:ext cx="146050" cy="146050"/>
            </a:xfrm>
            <a:custGeom>
              <a:avLst/>
              <a:gdLst/>
              <a:ahLst/>
              <a:cxnLst/>
              <a:rect l="l" t="t" r="r" b="b"/>
              <a:pathLst>
                <a:path w="146050" h="146050">
                  <a:moveTo>
                    <a:pt x="72914" y="0"/>
                  </a:moveTo>
                  <a:lnTo>
                    <a:pt x="101237" y="5745"/>
                  </a:lnTo>
                  <a:lnTo>
                    <a:pt x="124413" y="21395"/>
                  </a:lnTo>
                  <a:lnTo>
                    <a:pt x="140062" y="44574"/>
                  </a:lnTo>
                  <a:lnTo>
                    <a:pt x="145807" y="72903"/>
                  </a:lnTo>
                  <a:lnTo>
                    <a:pt x="140062" y="101231"/>
                  </a:lnTo>
                  <a:lnTo>
                    <a:pt x="124413" y="124407"/>
                  </a:lnTo>
                  <a:lnTo>
                    <a:pt x="101237" y="140054"/>
                  </a:lnTo>
                  <a:lnTo>
                    <a:pt x="72914" y="145797"/>
                  </a:lnTo>
                  <a:lnTo>
                    <a:pt x="44578" y="140054"/>
                  </a:lnTo>
                  <a:lnTo>
                    <a:pt x="21396" y="124407"/>
                  </a:lnTo>
                  <a:lnTo>
                    <a:pt x="5745" y="101231"/>
                  </a:lnTo>
                  <a:lnTo>
                    <a:pt x="0" y="72903"/>
                  </a:lnTo>
                  <a:lnTo>
                    <a:pt x="5745" y="44574"/>
                  </a:lnTo>
                  <a:lnTo>
                    <a:pt x="21396" y="21395"/>
                  </a:lnTo>
                  <a:lnTo>
                    <a:pt x="44578" y="5745"/>
                  </a:lnTo>
                  <a:lnTo>
                    <a:pt x="72914" y="0"/>
                  </a:lnTo>
                  <a:close/>
                </a:path>
              </a:pathLst>
            </a:custGeom>
            <a:ln w="5143">
              <a:solidFill>
                <a:srgbClr val="231F20"/>
              </a:solidFill>
            </a:ln>
          </p:spPr>
          <p:txBody>
            <a:bodyPr wrap="square" lIns="0" tIns="0" rIns="0" bIns="0" rtlCol="0"/>
            <a:lstStyle/>
            <a:p>
              <a:endParaRPr/>
            </a:p>
          </p:txBody>
        </p:sp>
        <p:sp>
          <p:nvSpPr>
            <p:cNvPr id="54" name="object 54"/>
            <p:cNvSpPr/>
            <p:nvPr/>
          </p:nvSpPr>
          <p:spPr>
            <a:xfrm>
              <a:off x="2766399" y="1961081"/>
              <a:ext cx="146050" cy="146050"/>
            </a:xfrm>
            <a:custGeom>
              <a:avLst/>
              <a:gdLst/>
              <a:ahLst/>
              <a:cxnLst/>
              <a:rect l="l" t="t" r="r" b="b"/>
              <a:pathLst>
                <a:path w="146050" h="146050">
                  <a:moveTo>
                    <a:pt x="72892" y="0"/>
                  </a:moveTo>
                  <a:lnTo>
                    <a:pt x="44569" y="5745"/>
                  </a:lnTo>
                  <a:lnTo>
                    <a:pt x="21394" y="21395"/>
                  </a:lnTo>
                  <a:lnTo>
                    <a:pt x="5744" y="44574"/>
                  </a:lnTo>
                  <a:lnTo>
                    <a:pt x="0" y="72904"/>
                  </a:lnTo>
                  <a:lnTo>
                    <a:pt x="5744" y="101234"/>
                  </a:lnTo>
                  <a:lnTo>
                    <a:pt x="21394" y="124412"/>
                  </a:lnTo>
                  <a:lnTo>
                    <a:pt x="44569" y="140061"/>
                  </a:lnTo>
                  <a:lnTo>
                    <a:pt x="72892" y="145805"/>
                  </a:lnTo>
                  <a:lnTo>
                    <a:pt x="101228" y="140061"/>
                  </a:lnTo>
                  <a:lnTo>
                    <a:pt x="124406" y="124412"/>
                  </a:lnTo>
                  <a:lnTo>
                    <a:pt x="140054" y="101234"/>
                  </a:lnTo>
                  <a:lnTo>
                    <a:pt x="145797" y="72904"/>
                  </a:lnTo>
                  <a:lnTo>
                    <a:pt x="140054" y="44574"/>
                  </a:lnTo>
                  <a:lnTo>
                    <a:pt x="124406" y="21395"/>
                  </a:lnTo>
                  <a:lnTo>
                    <a:pt x="101228" y="5745"/>
                  </a:lnTo>
                  <a:lnTo>
                    <a:pt x="72892" y="0"/>
                  </a:lnTo>
                  <a:close/>
                </a:path>
              </a:pathLst>
            </a:custGeom>
            <a:solidFill>
              <a:srgbClr val="FFFFFF"/>
            </a:solidFill>
          </p:spPr>
          <p:txBody>
            <a:bodyPr wrap="square" lIns="0" tIns="0" rIns="0" bIns="0" rtlCol="0"/>
            <a:lstStyle/>
            <a:p>
              <a:endParaRPr/>
            </a:p>
          </p:txBody>
        </p:sp>
        <p:sp>
          <p:nvSpPr>
            <p:cNvPr id="55" name="object 55"/>
            <p:cNvSpPr/>
            <p:nvPr/>
          </p:nvSpPr>
          <p:spPr>
            <a:xfrm>
              <a:off x="2766399" y="1961081"/>
              <a:ext cx="146050" cy="146050"/>
            </a:xfrm>
            <a:custGeom>
              <a:avLst/>
              <a:gdLst/>
              <a:ahLst/>
              <a:cxnLst/>
              <a:rect l="l" t="t" r="r" b="b"/>
              <a:pathLst>
                <a:path w="146050" h="146050">
                  <a:moveTo>
                    <a:pt x="72892" y="0"/>
                  </a:moveTo>
                  <a:lnTo>
                    <a:pt x="101228" y="5745"/>
                  </a:lnTo>
                  <a:lnTo>
                    <a:pt x="124406" y="21395"/>
                  </a:lnTo>
                  <a:lnTo>
                    <a:pt x="140054" y="44574"/>
                  </a:lnTo>
                  <a:lnTo>
                    <a:pt x="145797" y="72904"/>
                  </a:lnTo>
                  <a:lnTo>
                    <a:pt x="140054" y="101234"/>
                  </a:lnTo>
                  <a:lnTo>
                    <a:pt x="124406" y="124412"/>
                  </a:lnTo>
                  <a:lnTo>
                    <a:pt x="101228" y="140061"/>
                  </a:lnTo>
                  <a:lnTo>
                    <a:pt x="72892" y="145805"/>
                  </a:lnTo>
                  <a:lnTo>
                    <a:pt x="44569" y="140061"/>
                  </a:lnTo>
                  <a:lnTo>
                    <a:pt x="21394" y="124412"/>
                  </a:lnTo>
                  <a:lnTo>
                    <a:pt x="5744" y="101234"/>
                  </a:lnTo>
                  <a:lnTo>
                    <a:pt x="0" y="72904"/>
                  </a:lnTo>
                  <a:lnTo>
                    <a:pt x="5744" y="44574"/>
                  </a:lnTo>
                  <a:lnTo>
                    <a:pt x="21394" y="21395"/>
                  </a:lnTo>
                  <a:lnTo>
                    <a:pt x="44569" y="5745"/>
                  </a:lnTo>
                  <a:lnTo>
                    <a:pt x="72892" y="0"/>
                  </a:lnTo>
                  <a:close/>
                </a:path>
              </a:pathLst>
            </a:custGeom>
            <a:ln w="5143">
              <a:solidFill>
                <a:srgbClr val="231F20"/>
              </a:solidFill>
            </a:ln>
          </p:spPr>
          <p:txBody>
            <a:bodyPr wrap="square" lIns="0" tIns="0" rIns="0" bIns="0" rtlCol="0"/>
            <a:lstStyle/>
            <a:p>
              <a:endParaRPr/>
            </a:p>
          </p:txBody>
        </p:sp>
        <p:sp>
          <p:nvSpPr>
            <p:cNvPr id="56" name="object 56"/>
            <p:cNvSpPr/>
            <p:nvPr/>
          </p:nvSpPr>
          <p:spPr>
            <a:xfrm>
              <a:off x="3437088" y="1946507"/>
              <a:ext cx="146050" cy="146050"/>
            </a:xfrm>
            <a:custGeom>
              <a:avLst/>
              <a:gdLst/>
              <a:ahLst/>
              <a:cxnLst/>
              <a:rect l="l" t="t" r="r" b="b"/>
              <a:pathLst>
                <a:path w="146050" h="146050">
                  <a:moveTo>
                    <a:pt x="72893" y="0"/>
                  </a:moveTo>
                  <a:lnTo>
                    <a:pt x="44561" y="5744"/>
                  </a:lnTo>
                  <a:lnTo>
                    <a:pt x="21386" y="21392"/>
                  </a:lnTo>
                  <a:lnTo>
                    <a:pt x="5742" y="44569"/>
                  </a:lnTo>
                  <a:lnTo>
                    <a:pt x="0" y="72896"/>
                  </a:lnTo>
                  <a:lnTo>
                    <a:pt x="5742" y="101226"/>
                  </a:lnTo>
                  <a:lnTo>
                    <a:pt x="21386" y="124403"/>
                  </a:lnTo>
                  <a:lnTo>
                    <a:pt x="44561" y="140053"/>
                  </a:lnTo>
                  <a:lnTo>
                    <a:pt x="72893" y="145797"/>
                  </a:lnTo>
                  <a:lnTo>
                    <a:pt x="101221" y="140053"/>
                  </a:lnTo>
                  <a:lnTo>
                    <a:pt x="124396" y="124403"/>
                  </a:lnTo>
                  <a:lnTo>
                    <a:pt x="140043" y="101226"/>
                  </a:lnTo>
                  <a:lnTo>
                    <a:pt x="145787" y="72896"/>
                  </a:lnTo>
                  <a:lnTo>
                    <a:pt x="140043" y="44569"/>
                  </a:lnTo>
                  <a:lnTo>
                    <a:pt x="124396" y="21392"/>
                  </a:lnTo>
                  <a:lnTo>
                    <a:pt x="101221" y="5744"/>
                  </a:lnTo>
                  <a:lnTo>
                    <a:pt x="72893" y="0"/>
                  </a:lnTo>
                  <a:close/>
                </a:path>
              </a:pathLst>
            </a:custGeom>
            <a:solidFill>
              <a:srgbClr val="FFFFFF"/>
            </a:solidFill>
          </p:spPr>
          <p:txBody>
            <a:bodyPr wrap="square" lIns="0" tIns="0" rIns="0" bIns="0" rtlCol="0"/>
            <a:lstStyle/>
            <a:p>
              <a:endParaRPr/>
            </a:p>
          </p:txBody>
        </p:sp>
        <p:sp>
          <p:nvSpPr>
            <p:cNvPr id="57" name="object 57"/>
            <p:cNvSpPr/>
            <p:nvPr/>
          </p:nvSpPr>
          <p:spPr>
            <a:xfrm>
              <a:off x="2474803" y="1946507"/>
              <a:ext cx="1108075" cy="495934"/>
            </a:xfrm>
            <a:custGeom>
              <a:avLst/>
              <a:gdLst/>
              <a:ahLst/>
              <a:cxnLst/>
              <a:rect l="l" t="t" r="r" b="b"/>
              <a:pathLst>
                <a:path w="1108075" h="495935">
                  <a:moveTo>
                    <a:pt x="1035178" y="0"/>
                  </a:moveTo>
                  <a:lnTo>
                    <a:pt x="1063506" y="5744"/>
                  </a:lnTo>
                  <a:lnTo>
                    <a:pt x="1086681" y="21392"/>
                  </a:lnTo>
                  <a:lnTo>
                    <a:pt x="1102328" y="44569"/>
                  </a:lnTo>
                  <a:lnTo>
                    <a:pt x="1108072" y="72896"/>
                  </a:lnTo>
                  <a:lnTo>
                    <a:pt x="1102328" y="101226"/>
                  </a:lnTo>
                  <a:lnTo>
                    <a:pt x="1086681" y="124403"/>
                  </a:lnTo>
                  <a:lnTo>
                    <a:pt x="1063506" y="140053"/>
                  </a:lnTo>
                  <a:lnTo>
                    <a:pt x="1035178" y="145797"/>
                  </a:lnTo>
                  <a:lnTo>
                    <a:pt x="1006846" y="140053"/>
                  </a:lnTo>
                  <a:lnTo>
                    <a:pt x="983671" y="124403"/>
                  </a:lnTo>
                  <a:lnTo>
                    <a:pt x="968027" y="101226"/>
                  </a:lnTo>
                  <a:lnTo>
                    <a:pt x="962285" y="72896"/>
                  </a:lnTo>
                  <a:lnTo>
                    <a:pt x="968027" y="44569"/>
                  </a:lnTo>
                  <a:lnTo>
                    <a:pt x="983671" y="21392"/>
                  </a:lnTo>
                  <a:lnTo>
                    <a:pt x="1006846" y="5744"/>
                  </a:lnTo>
                  <a:lnTo>
                    <a:pt x="1035178" y="0"/>
                  </a:lnTo>
                  <a:close/>
                </a:path>
                <a:path w="1108075" h="495935">
                  <a:moveTo>
                    <a:pt x="364488" y="349922"/>
                  </a:moveTo>
                  <a:lnTo>
                    <a:pt x="392824" y="355666"/>
                  </a:lnTo>
                  <a:lnTo>
                    <a:pt x="416002" y="371315"/>
                  </a:lnTo>
                  <a:lnTo>
                    <a:pt x="431650" y="394490"/>
                  </a:lnTo>
                  <a:lnTo>
                    <a:pt x="437393" y="422815"/>
                  </a:lnTo>
                  <a:lnTo>
                    <a:pt x="431650" y="451145"/>
                  </a:lnTo>
                  <a:lnTo>
                    <a:pt x="416002" y="474324"/>
                  </a:lnTo>
                  <a:lnTo>
                    <a:pt x="392824" y="489975"/>
                  </a:lnTo>
                  <a:lnTo>
                    <a:pt x="364488" y="495720"/>
                  </a:lnTo>
                  <a:lnTo>
                    <a:pt x="336165" y="489975"/>
                  </a:lnTo>
                  <a:lnTo>
                    <a:pt x="312990" y="474324"/>
                  </a:lnTo>
                  <a:lnTo>
                    <a:pt x="297341" y="451145"/>
                  </a:lnTo>
                  <a:lnTo>
                    <a:pt x="291596" y="422815"/>
                  </a:lnTo>
                  <a:lnTo>
                    <a:pt x="297341" y="394490"/>
                  </a:lnTo>
                  <a:lnTo>
                    <a:pt x="312990" y="371315"/>
                  </a:lnTo>
                  <a:lnTo>
                    <a:pt x="336165" y="355666"/>
                  </a:lnTo>
                  <a:lnTo>
                    <a:pt x="364488" y="349922"/>
                  </a:lnTo>
                  <a:close/>
                </a:path>
                <a:path w="1108075" h="495935">
                  <a:moveTo>
                    <a:pt x="364488" y="160380"/>
                  </a:moveTo>
                  <a:lnTo>
                    <a:pt x="364488" y="349922"/>
                  </a:lnTo>
                </a:path>
                <a:path w="1108075" h="495935">
                  <a:moveTo>
                    <a:pt x="656097" y="349922"/>
                  </a:moveTo>
                  <a:lnTo>
                    <a:pt x="684426" y="355666"/>
                  </a:lnTo>
                  <a:lnTo>
                    <a:pt x="707605" y="371315"/>
                  </a:lnTo>
                  <a:lnTo>
                    <a:pt x="723256" y="394490"/>
                  </a:lnTo>
                  <a:lnTo>
                    <a:pt x="729002" y="422815"/>
                  </a:lnTo>
                  <a:lnTo>
                    <a:pt x="723256" y="451145"/>
                  </a:lnTo>
                  <a:lnTo>
                    <a:pt x="707605" y="474324"/>
                  </a:lnTo>
                  <a:lnTo>
                    <a:pt x="684426" y="489975"/>
                  </a:lnTo>
                  <a:lnTo>
                    <a:pt x="656097" y="495720"/>
                  </a:lnTo>
                  <a:lnTo>
                    <a:pt x="627767" y="489975"/>
                  </a:lnTo>
                  <a:lnTo>
                    <a:pt x="604588" y="474324"/>
                  </a:lnTo>
                  <a:lnTo>
                    <a:pt x="588937" y="451145"/>
                  </a:lnTo>
                  <a:lnTo>
                    <a:pt x="583192" y="422815"/>
                  </a:lnTo>
                  <a:lnTo>
                    <a:pt x="588937" y="394490"/>
                  </a:lnTo>
                  <a:lnTo>
                    <a:pt x="604588" y="371315"/>
                  </a:lnTo>
                  <a:lnTo>
                    <a:pt x="627767" y="355666"/>
                  </a:lnTo>
                  <a:lnTo>
                    <a:pt x="656097" y="349922"/>
                  </a:lnTo>
                  <a:close/>
                </a:path>
                <a:path w="1108075" h="495935">
                  <a:moveTo>
                    <a:pt x="422819" y="131223"/>
                  </a:moveTo>
                  <a:lnTo>
                    <a:pt x="626931" y="364504"/>
                  </a:lnTo>
                </a:path>
                <a:path w="1108075" h="495935">
                  <a:moveTo>
                    <a:pt x="72896" y="349922"/>
                  </a:moveTo>
                  <a:lnTo>
                    <a:pt x="101225" y="355666"/>
                  </a:lnTo>
                  <a:lnTo>
                    <a:pt x="124403" y="371315"/>
                  </a:lnTo>
                  <a:lnTo>
                    <a:pt x="140053" y="394490"/>
                  </a:lnTo>
                  <a:lnTo>
                    <a:pt x="145798" y="422815"/>
                  </a:lnTo>
                  <a:lnTo>
                    <a:pt x="140053" y="451145"/>
                  </a:lnTo>
                  <a:lnTo>
                    <a:pt x="124403" y="474324"/>
                  </a:lnTo>
                  <a:lnTo>
                    <a:pt x="101225" y="489975"/>
                  </a:lnTo>
                  <a:lnTo>
                    <a:pt x="72896" y="495720"/>
                  </a:lnTo>
                  <a:lnTo>
                    <a:pt x="44567" y="489975"/>
                  </a:lnTo>
                  <a:lnTo>
                    <a:pt x="21391" y="474324"/>
                  </a:lnTo>
                  <a:lnTo>
                    <a:pt x="5743" y="451145"/>
                  </a:lnTo>
                  <a:lnTo>
                    <a:pt x="0" y="422815"/>
                  </a:lnTo>
                  <a:lnTo>
                    <a:pt x="5743" y="394490"/>
                  </a:lnTo>
                  <a:lnTo>
                    <a:pt x="21391" y="371315"/>
                  </a:lnTo>
                  <a:lnTo>
                    <a:pt x="44567" y="355666"/>
                  </a:lnTo>
                  <a:lnTo>
                    <a:pt x="72896" y="349922"/>
                  </a:lnTo>
                  <a:close/>
                </a:path>
              </a:pathLst>
            </a:custGeom>
            <a:ln w="5143">
              <a:solidFill>
                <a:srgbClr val="231F20"/>
              </a:solidFill>
            </a:ln>
          </p:spPr>
          <p:txBody>
            <a:bodyPr wrap="square" lIns="0" tIns="0" rIns="0" bIns="0" rtlCol="0"/>
            <a:lstStyle/>
            <a:p>
              <a:endParaRPr/>
            </a:p>
          </p:txBody>
        </p:sp>
        <p:sp>
          <p:nvSpPr>
            <p:cNvPr id="58" name="object 58"/>
            <p:cNvSpPr/>
            <p:nvPr/>
          </p:nvSpPr>
          <p:spPr>
            <a:xfrm>
              <a:off x="2614440" y="2077730"/>
              <a:ext cx="167005" cy="205104"/>
            </a:xfrm>
            <a:custGeom>
              <a:avLst/>
              <a:gdLst/>
              <a:ahLst/>
              <a:cxnLst/>
              <a:rect l="l" t="t" r="r" b="b"/>
              <a:pathLst>
                <a:path w="167005" h="205105">
                  <a:moveTo>
                    <a:pt x="166545" y="0"/>
                  </a:moveTo>
                  <a:lnTo>
                    <a:pt x="0" y="204960"/>
                  </a:lnTo>
                </a:path>
              </a:pathLst>
            </a:custGeom>
            <a:ln w="10287">
              <a:solidFill>
                <a:srgbClr val="231F20"/>
              </a:solidFill>
            </a:ln>
          </p:spPr>
          <p:txBody>
            <a:bodyPr wrap="square" lIns="0" tIns="0" rIns="0" bIns="0" rtlCol="0"/>
            <a:lstStyle/>
            <a:p>
              <a:endParaRPr/>
            </a:p>
          </p:txBody>
        </p:sp>
        <p:sp>
          <p:nvSpPr>
            <p:cNvPr id="59" name="object 59"/>
            <p:cNvSpPr/>
            <p:nvPr/>
          </p:nvSpPr>
          <p:spPr>
            <a:xfrm>
              <a:off x="2591440" y="2235057"/>
              <a:ext cx="70485" cy="76200"/>
            </a:xfrm>
            <a:custGeom>
              <a:avLst/>
              <a:gdLst/>
              <a:ahLst/>
              <a:cxnLst/>
              <a:rect l="l" t="t" r="r" b="b"/>
              <a:pathLst>
                <a:path w="70485" h="76200">
                  <a:moveTo>
                    <a:pt x="21634" y="0"/>
                  </a:moveTo>
                  <a:lnTo>
                    <a:pt x="0" y="75954"/>
                  </a:lnTo>
                  <a:lnTo>
                    <a:pt x="69919" y="39234"/>
                  </a:lnTo>
                  <a:lnTo>
                    <a:pt x="54166" y="33953"/>
                  </a:lnTo>
                  <a:lnTo>
                    <a:pt x="40866" y="25654"/>
                  </a:lnTo>
                  <a:lnTo>
                    <a:pt x="30021" y="14336"/>
                  </a:lnTo>
                  <a:lnTo>
                    <a:pt x="21634" y="0"/>
                  </a:lnTo>
                  <a:close/>
                </a:path>
              </a:pathLst>
            </a:custGeom>
            <a:solidFill>
              <a:srgbClr val="231F20"/>
            </a:solidFill>
          </p:spPr>
          <p:txBody>
            <a:bodyPr wrap="square" lIns="0" tIns="0" rIns="0" bIns="0" rtlCol="0"/>
            <a:lstStyle/>
            <a:p>
              <a:endParaRPr/>
            </a:p>
          </p:txBody>
        </p:sp>
        <p:sp>
          <p:nvSpPr>
            <p:cNvPr id="60" name="object 60"/>
            <p:cNvSpPr/>
            <p:nvPr/>
          </p:nvSpPr>
          <p:spPr>
            <a:xfrm>
              <a:off x="3509981" y="1859026"/>
              <a:ext cx="204470" cy="58419"/>
            </a:xfrm>
            <a:custGeom>
              <a:avLst/>
              <a:gdLst/>
              <a:ahLst/>
              <a:cxnLst/>
              <a:rect l="l" t="t" r="r" b="b"/>
              <a:pathLst>
                <a:path w="204470" h="58419">
                  <a:moveTo>
                    <a:pt x="0" y="0"/>
                  </a:moveTo>
                  <a:lnTo>
                    <a:pt x="204114" y="58314"/>
                  </a:lnTo>
                </a:path>
              </a:pathLst>
            </a:custGeom>
            <a:ln w="5143">
              <a:solidFill>
                <a:srgbClr val="231F20"/>
              </a:solidFill>
              <a:prstDash val="lgDash"/>
            </a:ln>
          </p:spPr>
          <p:txBody>
            <a:bodyPr wrap="square" lIns="0" tIns="0" rIns="0" bIns="0" rtlCol="0"/>
            <a:lstStyle/>
            <a:p>
              <a:endParaRPr/>
            </a:p>
          </p:txBody>
        </p:sp>
        <p:sp>
          <p:nvSpPr>
            <p:cNvPr id="61" name="object 61"/>
            <p:cNvSpPr/>
            <p:nvPr/>
          </p:nvSpPr>
          <p:spPr>
            <a:xfrm>
              <a:off x="3291269" y="2077730"/>
              <a:ext cx="437515" cy="365125"/>
            </a:xfrm>
            <a:custGeom>
              <a:avLst/>
              <a:gdLst/>
              <a:ahLst/>
              <a:cxnLst/>
              <a:rect l="l" t="t" r="r" b="b"/>
              <a:pathLst>
                <a:path w="437514" h="365125">
                  <a:moveTo>
                    <a:pt x="72903" y="218699"/>
                  </a:moveTo>
                  <a:lnTo>
                    <a:pt x="101239" y="224443"/>
                  </a:lnTo>
                  <a:lnTo>
                    <a:pt x="124421" y="240092"/>
                  </a:lnTo>
                  <a:lnTo>
                    <a:pt x="140072" y="263267"/>
                  </a:lnTo>
                  <a:lnTo>
                    <a:pt x="145818" y="291592"/>
                  </a:lnTo>
                  <a:lnTo>
                    <a:pt x="140072" y="319922"/>
                  </a:lnTo>
                  <a:lnTo>
                    <a:pt x="124421" y="343101"/>
                  </a:lnTo>
                  <a:lnTo>
                    <a:pt x="101239" y="358752"/>
                  </a:lnTo>
                  <a:lnTo>
                    <a:pt x="72903" y="364497"/>
                  </a:lnTo>
                  <a:lnTo>
                    <a:pt x="44574" y="358752"/>
                  </a:lnTo>
                  <a:lnTo>
                    <a:pt x="21395" y="343101"/>
                  </a:lnTo>
                  <a:lnTo>
                    <a:pt x="5745" y="319922"/>
                  </a:lnTo>
                  <a:lnTo>
                    <a:pt x="0" y="291592"/>
                  </a:lnTo>
                  <a:lnTo>
                    <a:pt x="5745" y="263267"/>
                  </a:lnTo>
                  <a:lnTo>
                    <a:pt x="21395" y="240092"/>
                  </a:lnTo>
                  <a:lnTo>
                    <a:pt x="44574" y="224443"/>
                  </a:lnTo>
                  <a:lnTo>
                    <a:pt x="72903" y="218699"/>
                  </a:lnTo>
                  <a:close/>
                </a:path>
                <a:path w="437514" h="365125">
                  <a:moveTo>
                    <a:pt x="174971" y="0"/>
                  </a:moveTo>
                  <a:lnTo>
                    <a:pt x="87490" y="218699"/>
                  </a:lnTo>
                </a:path>
                <a:path w="437514" h="365125">
                  <a:moveTo>
                    <a:pt x="364509" y="218699"/>
                  </a:moveTo>
                  <a:lnTo>
                    <a:pt x="392837" y="224443"/>
                  </a:lnTo>
                  <a:lnTo>
                    <a:pt x="416012" y="240092"/>
                  </a:lnTo>
                  <a:lnTo>
                    <a:pt x="431659" y="263267"/>
                  </a:lnTo>
                  <a:lnTo>
                    <a:pt x="437403" y="291592"/>
                  </a:lnTo>
                  <a:lnTo>
                    <a:pt x="431659" y="319922"/>
                  </a:lnTo>
                  <a:lnTo>
                    <a:pt x="416012" y="343101"/>
                  </a:lnTo>
                  <a:lnTo>
                    <a:pt x="392837" y="358752"/>
                  </a:lnTo>
                  <a:lnTo>
                    <a:pt x="364509" y="364497"/>
                  </a:lnTo>
                  <a:lnTo>
                    <a:pt x="336175" y="358752"/>
                  </a:lnTo>
                  <a:lnTo>
                    <a:pt x="312997" y="343101"/>
                  </a:lnTo>
                  <a:lnTo>
                    <a:pt x="297349" y="319922"/>
                  </a:lnTo>
                  <a:lnTo>
                    <a:pt x="291605" y="291592"/>
                  </a:lnTo>
                  <a:lnTo>
                    <a:pt x="297349" y="263267"/>
                  </a:lnTo>
                  <a:lnTo>
                    <a:pt x="312997" y="240092"/>
                  </a:lnTo>
                  <a:lnTo>
                    <a:pt x="336175" y="224443"/>
                  </a:lnTo>
                  <a:lnTo>
                    <a:pt x="364509" y="218699"/>
                  </a:lnTo>
                  <a:close/>
                </a:path>
              </a:pathLst>
            </a:custGeom>
            <a:ln w="5143">
              <a:solidFill>
                <a:srgbClr val="231F20"/>
              </a:solidFill>
            </a:ln>
          </p:spPr>
          <p:txBody>
            <a:bodyPr wrap="square" lIns="0" tIns="0" rIns="0" bIns="0" rtlCol="0"/>
            <a:lstStyle/>
            <a:p>
              <a:endParaRPr/>
            </a:p>
          </p:txBody>
        </p:sp>
        <p:sp>
          <p:nvSpPr>
            <p:cNvPr id="62" name="object 62"/>
            <p:cNvSpPr/>
            <p:nvPr/>
          </p:nvSpPr>
          <p:spPr>
            <a:xfrm>
              <a:off x="3553722" y="2077730"/>
              <a:ext cx="74295" cy="185420"/>
            </a:xfrm>
            <a:custGeom>
              <a:avLst/>
              <a:gdLst/>
              <a:ahLst/>
              <a:cxnLst/>
              <a:rect l="l" t="t" r="r" b="b"/>
              <a:pathLst>
                <a:path w="74295" h="185419">
                  <a:moveTo>
                    <a:pt x="0" y="0"/>
                  </a:moveTo>
                  <a:lnTo>
                    <a:pt x="73932" y="184824"/>
                  </a:lnTo>
                </a:path>
              </a:pathLst>
            </a:custGeom>
            <a:ln w="10287">
              <a:solidFill>
                <a:srgbClr val="231F20"/>
              </a:solidFill>
            </a:ln>
          </p:spPr>
          <p:txBody>
            <a:bodyPr wrap="square" lIns="0" tIns="0" rIns="0" bIns="0" rtlCol="0"/>
            <a:lstStyle/>
            <a:p>
              <a:endParaRPr/>
            </a:p>
          </p:txBody>
        </p:sp>
        <p:sp>
          <p:nvSpPr>
            <p:cNvPr id="63" name="object 63"/>
            <p:cNvSpPr/>
            <p:nvPr/>
          </p:nvSpPr>
          <p:spPr>
            <a:xfrm>
              <a:off x="3585349" y="2217496"/>
              <a:ext cx="90170" cy="181610"/>
            </a:xfrm>
            <a:custGeom>
              <a:avLst/>
              <a:gdLst/>
              <a:ahLst/>
              <a:cxnLst/>
              <a:rect l="l" t="t" r="r" b="b"/>
              <a:pathLst>
                <a:path w="90170" h="181610">
                  <a:moveTo>
                    <a:pt x="57772" y="0"/>
                  </a:moveTo>
                  <a:lnTo>
                    <a:pt x="45491" y="11188"/>
                  </a:lnTo>
                  <a:lnTo>
                    <a:pt x="31775" y="18757"/>
                  </a:lnTo>
                  <a:lnTo>
                    <a:pt x="16611" y="22733"/>
                  </a:lnTo>
                  <a:lnTo>
                    <a:pt x="0" y="23101"/>
                  </a:lnTo>
                  <a:lnTo>
                    <a:pt x="55841" y="78943"/>
                  </a:lnTo>
                  <a:lnTo>
                    <a:pt x="57772" y="0"/>
                  </a:lnTo>
                  <a:close/>
                </a:path>
                <a:path w="90170" h="181610">
                  <a:moveTo>
                    <a:pt x="89852" y="122669"/>
                  </a:moveTo>
                  <a:lnTo>
                    <a:pt x="50977" y="122669"/>
                  </a:lnTo>
                  <a:lnTo>
                    <a:pt x="50977" y="181000"/>
                  </a:lnTo>
                  <a:lnTo>
                    <a:pt x="89852" y="181000"/>
                  </a:lnTo>
                  <a:lnTo>
                    <a:pt x="89852" y="122669"/>
                  </a:lnTo>
                  <a:close/>
                </a:path>
              </a:pathLst>
            </a:custGeom>
            <a:solidFill>
              <a:srgbClr val="231F20"/>
            </a:solidFill>
          </p:spPr>
          <p:txBody>
            <a:bodyPr wrap="square" lIns="0" tIns="0" rIns="0" bIns="0" rtlCol="0"/>
            <a:lstStyle/>
            <a:p>
              <a:endParaRPr/>
            </a:p>
          </p:txBody>
        </p:sp>
        <p:sp>
          <p:nvSpPr>
            <p:cNvPr id="64" name="object 64"/>
            <p:cNvSpPr/>
            <p:nvPr/>
          </p:nvSpPr>
          <p:spPr>
            <a:xfrm>
              <a:off x="3636337" y="2340165"/>
              <a:ext cx="39370" cy="58419"/>
            </a:xfrm>
            <a:custGeom>
              <a:avLst/>
              <a:gdLst/>
              <a:ahLst/>
              <a:cxnLst/>
              <a:rect l="l" t="t" r="r" b="b"/>
              <a:pathLst>
                <a:path w="39370" h="58419">
                  <a:moveTo>
                    <a:pt x="0" y="58322"/>
                  </a:moveTo>
                  <a:lnTo>
                    <a:pt x="38873" y="58322"/>
                  </a:lnTo>
                  <a:lnTo>
                    <a:pt x="38873" y="0"/>
                  </a:lnTo>
                  <a:lnTo>
                    <a:pt x="0" y="0"/>
                  </a:lnTo>
                  <a:lnTo>
                    <a:pt x="0" y="58322"/>
                  </a:lnTo>
                  <a:close/>
                </a:path>
              </a:pathLst>
            </a:custGeom>
            <a:ln w="5143">
              <a:solidFill>
                <a:srgbClr val="231F20"/>
              </a:solidFill>
            </a:ln>
          </p:spPr>
          <p:txBody>
            <a:bodyPr wrap="square" lIns="0" tIns="0" rIns="0" bIns="0" rtlCol="0"/>
            <a:lstStyle/>
            <a:p>
              <a:endParaRPr/>
            </a:p>
          </p:txBody>
        </p:sp>
        <p:sp>
          <p:nvSpPr>
            <p:cNvPr id="65" name="object 65"/>
            <p:cNvSpPr/>
            <p:nvPr/>
          </p:nvSpPr>
          <p:spPr>
            <a:xfrm>
              <a:off x="2528255" y="2340165"/>
              <a:ext cx="39370" cy="58419"/>
            </a:xfrm>
            <a:custGeom>
              <a:avLst/>
              <a:gdLst/>
              <a:ahLst/>
              <a:cxnLst/>
              <a:rect l="l" t="t" r="r" b="b"/>
              <a:pathLst>
                <a:path w="39369" h="58419">
                  <a:moveTo>
                    <a:pt x="38885" y="0"/>
                  </a:moveTo>
                  <a:lnTo>
                    <a:pt x="0" y="0"/>
                  </a:lnTo>
                  <a:lnTo>
                    <a:pt x="0" y="58322"/>
                  </a:lnTo>
                  <a:lnTo>
                    <a:pt x="38885" y="58322"/>
                  </a:lnTo>
                  <a:lnTo>
                    <a:pt x="38885" y="0"/>
                  </a:lnTo>
                  <a:close/>
                </a:path>
              </a:pathLst>
            </a:custGeom>
            <a:solidFill>
              <a:srgbClr val="231F20"/>
            </a:solidFill>
          </p:spPr>
          <p:txBody>
            <a:bodyPr wrap="square" lIns="0" tIns="0" rIns="0" bIns="0" rtlCol="0"/>
            <a:lstStyle/>
            <a:p>
              <a:endParaRPr/>
            </a:p>
          </p:txBody>
        </p:sp>
        <p:sp>
          <p:nvSpPr>
            <p:cNvPr id="66" name="object 66"/>
            <p:cNvSpPr/>
            <p:nvPr/>
          </p:nvSpPr>
          <p:spPr>
            <a:xfrm>
              <a:off x="2528255" y="1582005"/>
              <a:ext cx="1477645" cy="816610"/>
            </a:xfrm>
            <a:custGeom>
              <a:avLst/>
              <a:gdLst/>
              <a:ahLst/>
              <a:cxnLst/>
              <a:rect l="l" t="t" r="r" b="b"/>
              <a:pathLst>
                <a:path w="1477645" h="816610">
                  <a:moveTo>
                    <a:pt x="0" y="816482"/>
                  </a:moveTo>
                  <a:lnTo>
                    <a:pt x="38885" y="816482"/>
                  </a:lnTo>
                  <a:lnTo>
                    <a:pt x="38885" y="758159"/>
                  </a:lnTo>
                  <a:lnTo>
                    <a:pt x="0" y="758159"/>
                  </a:lnTo>
                  <a:lnTo>
                    <a:pt x="0" y="816482"/>
                  </a:lnTo>
                  <a:close/>
                </a:path>
                <a:path w="1477645" h="816610">
                  <a:moveTo>
                    <a:pt x="1360802" y="0"/>
                  </a:moveTo>
                  <a:lnTo>
                    <a:pt x="1477446" y="29163"/>
                  </a:lnTo>
                </a:path>
              </a:pathLst>
            </a:custGeom>
            <a:ln w="5143">
              <a:solidFill>
                <a:srgbClr val="231F20"/>
              </a:solidFill>
            </a:ln>
          </p:spPr>
          <p:txBody>
            <a:bodyPr wrap="square" lIns="0" tIns="0" rIns="0" bIns="0" rtlCol="0"/>
            <a:lstStyle/>
            <a:p>
              <a:endParaRPr/>
            </a:p>
          </p:txBody>
        </p:sp>
        <p:sp>
          <p:nvSpPr>
            <p:cNvPr id="67" name="object 67"/>
            <p:cNvSpPr/>
            <p:nvPr/>
          </p:nvSpPr>
          <p:spPr>
            <a:xfrm>
              <a:off x="4005702" y="1611169"/>
              <a:ext cx="116839" cy="29209"/>
            </a:xfrm>
            <a:custGeom>
              <a:avLst/>
              <a:gdLst/>
              <a:ahLst/>
              <a:cxnLst/>
              <a:rect l="l" t="t" r="r" b="b"/>
              <a:pathLst>
                <a:path w="116839" h="29210">
                  <a:moveTo>
                    <a:pt x="0" y="0"/>
                  </a:moveTo>
                  <a:lnTo>
                    <a:pt x="116634" y="29153"/>
                  </a:lnTo>
                </a:path>
              </a:pathLst>
            </a:custGeom>
            <a:ln w="5143">
              <a:solidFill>
                <a:srgbClr val="231F20"/>
              </a:solidFill>
              <a:prstDash val="lgDash"/>
            </a:ln>
          </p:spPr>
          <p:txBody>
            <a:bodyPr wrap="square" lIns="0" tIns="0" rIns="0" bIns="0" rtlCol="0"/>
            <a:lstStyle/>
            <a:p>
              <a:endParaRPr/>
            </a:p>
          </p:txBody>
        </p:sp>
        <p:sp>
          <p:nvSpPr>
            <p:cNvPr id="68" name="object 68"/>
            <p:cNvSpPr/>
            <p:nvPr/>
          </p:nvSpPr>
          <p:spPr>
            <a:xfrm>
              <a:off x="3816164" y="1640322"/>
              <a:ext cx="0" cy="87630"/>
            </a:xfrm>
            <a:custGeom>
              <a:avLst/>
              <a:gdLst/>
              <a:ahLst/>
              <a:cxnLst/>
              <a:rect l="l" t="t" r="r" b="b"/>
              <a:pathLst>
                <a:path h="87630">
                  <a:moveTo>
                    <a:pt x="0" y="0"/>
                  </a:moveTo>
                  <a:lnTo>
                    <a:pt x="0" y="87490"/>
                  </a:lnTo>
                </a:path>
              </a:pathLst>
            </a:custGeom>
            <a:ln w="5143">
              <a:solidFill>
                <a:srgbClr val="231F20"/>
              </a:solidFill>
            </a:ln>
          </p:spPr>
          <p:txBody>
            <a:bodyPr wrap="square" lIns="0" tIns="0" rIns="0" bIns="0" rtlCol="0"/>
            <a:lstStyle/>
            <a:p>
              <a:endParaRPr/>
            </a:p>
          </p:txBody>
        </p:sp>
        <p:sp>
          <p:nvSpPr>
            <p:cNvPr id="69" name="object 69"/>
            <p:cNvSpPr/>
            <p:nvPr/>
          </p:nvSpPr>
          <p:spPr>
            <a:xfrm>
              <a:off x="3816164" y="1727813"/>
              <a:ext cx="0" cy="87630"/>
            </a:xfrm>
            <a:custGeom>
              <a:avLst/>
              <a:gdLst/>
              <a:ahLst/>
              <a:cxnLst/>
              <a:rect l="l" t="t" r="r" b="b"/>
              <a:pathLst>
                <a:path h="87630">
                  <a:moveTo>
                    <a:pt x="0" y="0"/>
                  </a:moveTo>
                  <a:lnTo>
                    <a:pt x="0" y="87473"/>
                  </a:lnTo>
                </a:path>
              </a:pathLst>
            </a:custGeom>
            <a:ln w="5143">
              <a:solidFill>
                <a:srgbClr val="231F20"/>
              </a:solidFill>
              <a:prstDash val="lgDash"/>
            </a:ln>
          </p:spPr>
          <p:txBody>
            <a:bodyPr wrap="square" lIns="0" tIns="0" rIns="0" bIns="0" rtlCol="0"/>
            <a:lstStyle/>
            <a:p>
              <a:endParaRPr/>
            </a:p>
          </p:txBody>
        </p:sp>
      </p:grpSp>
      <p:sp>
        <p:nvSpPr>
          <p:cNvPr id="70" name="object 70"/>
          <p:cNvSpPr txBox="1"/>
          <p:nvPr/>
        </p:nvSpPr>
        <p:spPr>
          <a:xfrm>
            <a:off x="3181160" y="1596537"/>
            <a:ext cx="93980"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M</a:t>
            </a:r>
            <a:endParaRPr sz="650">
              <a:latin typeface="Arial"/>
              <a:cs typeface="Arial"/>
            </a:endParaRPr>
          </a:p>
        </p:txBody>
      </p:sp>
      <p:sp>
        <p:nvSpPr>
          <p:cNvPr id="71" name="object 71"/>
          <p:cNvSpPr txBox="1"/>
          <p:nvPr/>
        </p:nvSpPr>
        <p:spPr>
          <a:xfrm>
            <a:off x="2491260" y="1355797"/>
            <a:ext cx="771525" cy="216535"/>
          </a:xfrm>
          <a:prstGeom prst="rect">
            <a:avLst/>
          </a:prstGeom>
        </p:spPr>
        <p:txBody>
          <a:bodyPr vert="horz" wrap="square" lIns="0" tIns="21590" rIns="0" bIns="0" rtlCol="0">
            <a:spAutoFit/>
          </a:bodyPr>
          <a:lstStyle/>
          <a:p>
            <a:pPr marL="12700" marR="5080">
              <a:lnSpc>
                <a:spcPts val="720"/>
              </a:lnSpc>
              <a:spcBef>
                <a:spcPts val="170"/>
              </a:spcBef>
            </a:pPr>
            <a:r>
              <a:rPr sz="650" spc="-5" dirty="0">
                <a:solidFill>
                  <a:srgbClr val="231F20"/>
                </a:solidFill>
                <a:latin typeface="Arial"/>
                <a:cs typeface="Arial"/>
              </a:rPr>
              <a:t>Node</a:t>
            </a:r>
            <a:r>
              <a:rPr sz="650" spc="-25" dirty="0">
                <a:solidFill>
                  <a:srgbClr val="231F20"/>
                </a:solidFill>
                <a:latin typeface="Arial"/>
                <a:cs typeface="Arial"/>
              </a:rPr>
              <a:t> </a:t>
            </a:r>
            <a:r>
              <a:rPr sz="650" spc="-5" dirty="0">
                <a:solidFill>
                  <a:srgbClr val="231F20"/>
                </a:solidFill>
                <a:latin typeface="Arial"/>
                <a:cs typeface="Arial"/>
              </a:rPr>
              <a:t>creates</a:t>
            </a:r>
            <a:r>
              <a:rPr sz="650" spc="-20" dirty="0">
                <a:solidFill>
                  <a:srgbClr val="231F20"/>
                </a:solidFill>
                <a:latin typeface="Arial"/>
                <a:cs typeface="Arial"/>
              </a:rPr>
              <a:t> </a:t>
            </a:r>
            <a:r>
              <a:rPr sz="650" spc="-5" dirty="0">
                <a:solidFill>
                  <a:srgbClr val="231F20"/>
                </a:solidFill>
                <a:latin typeface="Arial"/>
                <a:cs typeface="Arial"/>
              </a:rPr>
              <a:t>record </a:t>
            </a:r>
            <a:r>
              <a:rPr sz="650" spc="-165" dirty="0">
                <a:solidFill>
                  <a:srgbClr val="231F20"/>
                </a:solidFill>
                <a:latin typeface="Arial"/>
                <a:cs typeface="Arial"/>
              </a:rPr>
              <a:t> </a:t>
            </a:r>
            <a:r>
              <a:rPr sz="650" spc="-5" dirty="0">
                <a:solidFill>
                  <a:srgbClr val="231F20"/>
                </a:solidFill>
                <a:latin typeface="Arial"/>
                <a:cs typeface="Arial"/>
              </a:rPr>
              <a:t>and</a:t>
            </a:r>
            <a:r>
              <a:rPr sz="650" spc="-15" dirty="0">
                <a:solidFill>
                  <a:srgbClr val="231F20"/>
                </a:solidFill>
                <a:latin typeface="Arial"/>
                <a:cs typeface="Arial"/>
              </a:rPr>
              <a:t> </a:t>
            </a:r>
            <a:r>
              <a:rPr sz="650" spc="-5" dirty="0">
                <a:solidFill>
                  <a:srgbClr val="231F20"/>
                </a:solidFill>
                <a:latin typeface="Arial"/>
                <a:cs typeface="Arial"/>
              </a:rPr>
              <a:t>stores</a:t>
            </a:r>
            <a:r>
              <a:rPr sz="650" spc="-10" dirty="0">
                <a:solidFill>
                  <a:srgbClr val="231F20"/>
                </a:solidFill>
                <a:latin typeface="Arial"/>
                <a:cs typeface="Arial"/>
              </a:rPr>
              <a:t> </a:t>
            </a:r>
            <a:r>
              <a:rPr sz="650" spc="-5" dirty="0">
                <a:solidFill>
                  <a:srgbClr val="231F20"/>
                </a:solidFill>
                <a:latin typeface="Arial"/>
                <a:cs typeface="Arial"/>
              </a:rPr>
              <a:t>pointer</a:t>
            </a:r>
            <a:endParaRPr sz="650">
              <a:latin typeface="Arial"/>
              <a:cs typeface="Arial"/>
            </a:endParaRPr>
          </a:p>
        </p:txBody>
      </p:sp>
      <p:sp>
        <p:nvSpPr>
          <p:cNvPr id="72" name="object 72"/>
          <p:cNvSpPr/>
          <p:nvPr/>
        </p:nvSpPr>
        <p:spPr>
          <a:xfrm>
            <a:off x="2839292" y="1567429"/>
            <a:ext cx="352425" cy="393700"/>
          </a:xfrm>
          <a:custGeom>
            <a:avLst/>
            <a:gdLst/>
            <a:ahLst/>
            <a:cxnLst/>
            <a:rect l="l" t="t" r="r" b="b"/>
            <a:pathLst>
              <a:path w="352425" h="393700">
                <a:moveTo>
                  <a:pt x="255150" y="14576"/>
                </a:moveTo>
                <a:lnTo>
                  <a:pt x="351992" y="161917"/>
                </a:lnTo>
              </a:path>
              <a:path w="352425" h="393700">
                <a:moveTo>
                  <a:pt x="36459" y="0"/>
                </a:moveTo>
                <a:lnTo>
                  <a:pt x="0" y="393652"/>
                </a:lnTo>
              </a:path>
            </a:pathLst>
          </a:custGeom>
          <a:ln w="5143">
            <a:solidFill>
              <a:srgbClr val="231F20"/>
            </a:solidFill>
          </a:ln>
        </p:spPr>
        <p:txBody>
          <a:bodyPr wrap="square" lIns="0" tIns="0" rIns="0" bIns="0" rtlCol="0"/>
          <a:lstStyle/>
          <a:p>
            <a:endParaRPr/>
          </a:p>
        </p:txBody>
      </p:sp>
      <p:sp>
        <p:nvSpPr>
          <p:cNvPr id="73" name="object 73"/>
          <p:cNvSpPr txBox="1"/>
          <p:nvPr/>
        </p:nvSpPr>
        <p:spPr>
          <a:xfrm>
            <a:off x="2219398" y="1650160"/>
            <a:ext cx="565150" cy="308610"/>
          </a:xfrm>
          <a:prstGeom prst="rect">
            <a:avLst/>
          </a:prstGeom>
        </p:spPr>
        <p:txBody>
          <a:bodyPr vert="horz" wrap="square" lIns="0" tIns="21590" rIns="0" bIns="0" rtlCol="0">
            <a:spAutoFit/>
          </a:bodyPr>
          <a:lstStyle/>
          <a:p>
            <a:pPr marL="12700" marR="5080">
              <a:lnSpc>
                <a:spcPts val="720"/>
              </a:lnSpc>
              <a:spcBef>
                <a:spcPts val="170"/>
              </a:spcBef>
            </a:pPr>
            <a:r>
              <a:rPr sz="650" spc="-5" dirty="0">
                <a:solidFill>
                  <a:srgbClr val="231F20"/>
                </a:solidFill>
                <a:latin typeface="Arial"/>
                <a:cs typeface="Arial"/>
              </a:rPr>
              <a:t>Node creates </a:t>
            </a:r>
            <a:r>
              <a:rPr sz="650" dirty="0">
                <a:solidFill>
                  <a:srgbClr val="231F20"/>
                </a:solidFill>
                <a:latin typeface="Arial"/>
                <a:cs typeface="Arial"/>
              </a:rPr>
              <a:t> </a:t>
            </a:r>
            <a:r>
              <a:rPr sz="650" spc="-5" dirty="0">
                <a:solidFill>
                  <a:srgbClr val="231F20"/>
                </a:solidFill>
                <a:latin typeface="Arial"/>
                <a:cs typeface="Arial"/>
              </a:rPr>
              <a:t>record and </a:t>
            </a:r>
            <a:r>
              <a:rPr sz="650" dirty="0">
                <a:solidFill>
                  <a:srgbClr val="231F20"/>
                </a:solidFill>
                <a:latin typeface="Arial"/>
                <a:cs typeface="Arial"/>
              </a:rPr>
              <a:t> </a:t>
            </a:r>
            <a:r>
              <a:rPr sz="650" spc="-5" dirty="0">
                <a:solidFill>
                  <a:srgbClr val="231F20"/>
                </a:solidFill>
                <a:latin typeface="Arial"/>
                <a:cs typeface="Arial"/>
              </a:rPr>
              <a:t>stores address</a:t>
            </a:r>
            <a:endParaRPr sz="650">
              <a:latin typeface="Arial"/>
              <a:cs typeface="Arial"/>
            </a:endParaRPr>
          </a:p>
        </p:txBody>
      </p:sp>
      <p:grpSp>
        <p:nvGrpSpPr>
          <p:cNvPr id="74" name="object 74"/>
          <p:cNvGrpSpPr/>
          <p:nvPr/>
        </p:nvGrpSpPr>
        <p:grpSpPr>
          <a:xfrm>
            <a:off x="2479516" y="1535694"/>
            <a:ext cx="1383030" cy="762000"/>
            <a:chOff x="2479516" y="1535694"/>
            <a:chExt cx="1383030" cy="762000"/>
          </a:xfrm>
        </p:grpSpPr>
        <p:sp>
          <p:nvSpPr>
            <p:cNvPr id="75" name="object 75"/>
            <p:cNvSpPr/>
            <p:nvPr/>
          </p:nvSpPr>
          <p:spPr>
            <a:xfrm>
              <a:off x="2482088" y="1538265"/>
              <a:ext cx="1377950" cy="756920"/>
            </a:xfrm>
            <a:custGeom>
              <a:avLst/>
              <a:gdLst/>
              <a:ahLst/>
              <a:cxnLst/>
              <a:rect l="l" t="t" r="r" b="b"/>
              <a:pathLst>
                <a:path w="1377950" h="756919">
                  <a:moveTo>
                    <a:pt x="0" y="451980"/>
                  </a:moveTo>
                  <a:lnTo>
                    <a:pt x="50828" y="756861"/>
                  </a:lnTo>
                </a:path>
                <a:path w="1377950" h="756919">
                  <a:moveTo>
                    <a:pt x="699833" y="277021"/>
                  </a:moveTo>
                  <a:lnTo>
                    <a:pt x="787313" y="277021"/>
                  </a:lnTo>
                  <a:lnTo>
                    <a:pt x="787313" y="218699"/>
                  </a:lnTo>
                  <a:lnTo>
                    <a:pt x="699833" y="218699"/>
                  </a:lnTo>
                  <a:lnTo>
                    <a:pt x="699833" y="277021"/>
                  </a:lnTo>
                  <a:close/>
                </a:path>
                <a:path w="1377950" h="756919">
                  <a:moveTo>
                    <a:pt x="728998" y="218699"/>
                  </a:moveTo>
                  <a:lnTo>
                    <a:pt x="728998" y="277021"/>
                  </a:lnTo>
                </a:path>
                <a:path w="1377950" h="756919">
                  <a:moveTo>
                    <a:pt x="758160" y="218699"/>
                  </a:moveTo>
                  <a:lnTo>
                    <a:pt x="758160" y="277021"/>
                  </a:lnTo>
                </a:path>
                <a:path w="1377950" h="756919">
                  <a:moveTo>
                    <a:pt x="1290325" y="58327"/>
                  </a:moveTo>
                  <a:lnTo>
                    <a:pt x="1377808" y="58327"/>
                  </a:lnTo>
                  <a:lnTo>
                    <a:pt x="1377808" y="0"/>
                  </a:lnTo>
                  <a:lnTo>
                    <a:pt x="1290325" y="0"/>
                  </a:lnTo>
                  <a:lnTo>
                    <a:pt x="1290325" y="58327"/>
                  </a:lnTo>
                  <a:close/>
                </a:path>
                <a:path w="1377950" h="756919">
                  <a:moveTo>
                    <a:pt x="1319488" y="0"/>
                  </a:moveTo>
                  <a:lnTo>
                    <a:pt x="1319488" y="58327"/>
                  </a:lnTo>
                </a:path>
                <a:path w="1377950" h="756919">
                  <a:moveTo>
                    <a:pt x="1348662" y="0"/>
                  </a:moveTo>
                  <a:lnTo>
                    <a:pt x="1348662" y="58327"/>
                  </a:lnTo>
                </a:path>
              </a:pathLst>
            </a:custGeom>
            <a:ln w="5143">
              <a:solidFill>
                <a:srgbClr val="231F20"/>
              </a:solidFill>
            </a:ln>
          </p:spPr>
          <p:txBody>
            <a:bodyPr wrap="square" lIns="0" tIns="0" rIns="0" bIns="0" rtlCol="0"/>
            <a:lstStyle/>
            <a:p>
              <a:endParaRPr/>
            </a:p>
          </p:txBody>
        </p:sp>
        <p:sp>
          <p:nvSpPr>
            <p:cNvPr id="76" name="object 76"/>
            <p:cNvSpPr/>
            <p:nvPr/>
          </p:nvSpPr>
          <p:spPr>
            <a:xfrm>
              <a:off x="3473535" y="1990245"/>
              <a:ext cx="58419" cy="58419"/>
            </a:xfrm>
            <a:custGeom>
              <a:avLst/>
              <a:gdLst/>
              <a:ahLst/>
              <a:cxnLst/>
              <a:rect l="l" t="t" r="r" b="b"/>
              <a:pathLst>
                <a:path w="58420" h="58419">
                  <a:moveTo>
                    <a:pt x="58314" y="0"/>
                  </a:moveTo>
                  <a:lnTo>
                    <a:pt x="0" y="0"/>
                  </a:lnTo>
                  <a:lnTo>
                    <a:pt x="0" y="58318"/>
                  </a:lnTo>
                  <a:lnTo>
                    <a:pt x="58314" y="58318"/>
                  </a:lnTo>
                  <a:lnTo>
                    <a:pt x="58314" y="0"/>
                  </a:lnTo>
                  <a:close/>
                </a:path>
              </a:pathLst>
            </a:custGeom>
            <a:solidFill>
              <a:srgbClr val="FFFFFF"/>
            </a:solidFill>
          </p:spPr>
          <p:txBody>
            <a:bodyPr wrap="square" lIns="0" tIns="0" rIns="0" bIns="0" rtlCol="0"/>
            <a:lstStyle/>
            <a:p>
              <a:endParaRPr/>
            </a:p>
          </p:txBody>
        </p:sp>
        <p:sp>
          <p:nvSpPr>
            <p:cNvPr id="77" name="object 77"/>
            <p:cNvSpPr/>
            <p:nvPr/>
          </p:nvSpPr>
          <p:spPr>
            <a:xfrm>
              <a:off x="2795223" y="1990245"/>
              <a:ext cx="737235" cy="71755"/>
            </a:xfrm>
            <a:custGeom>
              <a:avLst/>
              <a:gdLst/>
              <a:ahLst/>
              <a:cxnLst/>
              <a:rect l="l" t="t" r="r" b="b"/>
              <a:pathLst>
                <a:path w="737235" h="71755">
                  <a:moveTo>
                    <a:pt x="678311" y="58318"/>
                  </a:moveTo>
                  <a:lnTo>
                    <a:pt x="736625" y="58318"/>
                  </a:lnTo>
                  <a:lnTo>
                    <a:pt x="736625" y="0"/>
                  </a:lnTo>
                  <a:lnTo>
                    <a:pt x="678311" y="0"/>
                  </a:lnTo>
                  <a:lnTo>
                    <a:pt x="678311" y="58318"/>
                  </a:lnTo>
                  <a:close/>
                </a:path>
                <a:path w="737235" h="71755">
                  <a:moveTo>
                    <a:pt x="707464" y="0"/>
                  </a:moveTo>
                  <a:lnTo>
                    <a:pt x="707464" y="58318"/>
                  </a:lnTo>
                </a:path>
                <a:path w="737235" h="71755">
                  <a:moveTo>
                    <a:pt x="0" y="71712"/>
                  </a:moveTo>
                  <a:lnTo>
                    <a:pt x="87471" y="71712"/>
                  </a:lnTo>
                  <a:lnTo>
                    <a:pt x="87471" y="13393"/>
                  </a:lnTo>
                  <a:lnTo>
                    <a:pt x="0" y="13393"/>
                  </a:lnTo>
                  <a:lnTo>
                    <a:pt x="0" y="71712"/>
                  </a:lnTo>
                  <a:close/>
                </a:path>
                <a:path w="737235" h="71755">
                  <a:moveTo>
                    <a:pt x="29164" y="13394"/>
                  </a:moveTo>
                  <a:lnTo>
                    <a:pt x="29164" y="71712"/>
                  </a:lnTo>
                </a:path>
                <a:path w="737235" h="71755">
                  <a:moveTo>
                    <a:pt x="58318" y="13394"/>
                  </a:moveTo>
                  <a:lnTo>
                    <a:pt x="58318" y="71712"/>
                  </a:lnTo>
                </a:path>
              </a:pathLst>
            </a:custGeom>
            <a:ln w="5143">
              <a:solidFill>
                <a:srgbClr val="231F20"/>
              </a:solidFill>
            </a:ln>
          </p:spPr>
          <p:txBody>
            <a:bodyPr wrap="square" lIns="0" tIns="0" rIns="0" bIns="0" rtlCol="0"/>
            <a:lstStyle/>
            <a:p>
              <a:endParaRPr/>
            </a:p>
          </p:txBody>
        </p:sp>
      </p:grpSp>
      <p:sp>
        <p:nvSpPr>
          <p:cNvPr id="78" name="object 78"/>
          <p:cNvSpPr txBox="1"/>
          <p:nvPr/>
        </p:nvSpPr>
        <p:spPr>
          <a:xfrm>
            <a:off x="1186535" y="280925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sp>
        <p:nvSpPr>
          <p:cNvPr id="80" name="object 8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46</a:t>
            </a:r>
          </a:p>
        </p:txBody>
      </p:sp>
      <p:sp>
        <p:nvSpPr>
          <p:cNvPr id="79" name="object 79"/>
          <p:cNvSpPr txBox="1"/>
          <p:nvPr/>
        </p:nvSpPr>
        <p:spPr>
          <a:xfrm>
            <a:off x="3089598" y="2809257"/>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98214" y="716"/>
            <a:ext cx="843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4165600" cy="9429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Can</a:t>
            </a:r>
            <a:r>
              <a:rPr sz="1400" spc="-15" dirty="0">
                <a:solidFill>
                  <a:srgbClr val="3333B2"/>
                </a:solidFill>
                <a:latin typeface="Arial"/>
                <a:cs typeface="Arial"/>
              </a:rPr>
              <a:t> </a:t>
            </a:r>
            <a:r>
              <a:rPr sz="1400" spc="15" dirty="0">
                <a:solidFill>
                  <a:srgbClr val="3333B2"/>
                </a:solidFill>
                <a:latin typeface="Arial"/>
                <a:cs typeface="Arial"/>
              </a:rPr>
              <a:t>an</a:t>
            </a:r>
            <a:r>
              <a:rPr sz="1400" spc="-10" dirty="0">
                <a:solidFill>
                  <a:srgbClr val="3333B2"/>
                </a:solidFill>
                <a:latin typeface="Arial"/>
                <a:cs typeface="Arial"/>
              </a:rPr>
              <a:t> </a:t>
            </a:r>
            <a:r>
              <a:rPr sz="1400" spc="20" dirty="0">
                <a:solidFill>
                  <a:srgbClr val="3333B2"/>
                </a:solidFill>
                <a:latin typeface="Arial"/>
                <a:cs typeface="Arial"/>
              </a:rPr>
              <a:t>HLS</a:t>
            </a:r>
            <a:r>
              <a:rPr sz="1400" spc="-15" dirty="0">
                <a:solidFill>
                  <a:srgbClr val="3333B2"/>
                </a:solidFill>
                <a:latin typeface="Arial"/>
                <a:cs typeface="Arial"/>
              </a:rPr>
              <a:t> </a:t>
            </a:r>
            <a:r>
              <a:rPr sz="1400" spc="15" dirty="0">
                <a:solidFill>
                  <a:srgbClr val="3333B2"/>
                </a:solidFill>
                <a:latin typeface="Arial"/>
                <a:cs typeface="Arial"/>
              </a:rPr>
              <a:t>scale?</a:t>
            </a:r>
            <a:endParaRPr sz="1400" dirty="0">
              <a:latin typeface="Arial"/>
              <a:cs typeface="Arial"/>
            </a:endParaRPr>
          </a:p>
          <a:p>
            <a:pPr>
              <a:lnSpc>
                <a:spcPct val="100000"/>
              </a:lnSpc>
              <a:spcBef>
                <a:spcPts val="45"/>
              </a:spcBef>
            </a:pPr>
            <a:endParaRPr sz="2500" dirty="0">
              <a:latin typeface="Arial"/>
              <a:cs typeface="Arial"/>
            </a:endParaRPr>
          </a:p>
          <a:p>
            <a:pPr marL="264160">
              <a:lnSpc>
                <a:spcPts val="1410"/>
              </a:lnSpc>
              <a:spcBef>
                <a:spcPts val="5"/>
              </a:spcBef>
            </a:pPr>
            <a:r>
              <a:rPr sz="1200" spc="-5" dirty="0">
                <a:solidFill>
                  <a:srgbClr val="3333B2"/>
                </a:solidFill>
                <a:latin typeface="Arial"/>
                <a:cs typeface="Arial"/>
              </a:rPr>
              <a:t>Observation</a:t>
            </a:r>
            <a:endParaRPr sz="1200" dirty="0">
              <a:latin typeface="Arial"/>
              <a:cs typeface="Arial"/>
            </a:endParaRPr>
          </a:p>
          <a:p>
            <a:pPr marL="260350">
              <a:lnSpc>
                <a:spcPts val="1170"/>
              </a:lnSpc>
            </a:pPr>
            <a:r>
              <a:rPr sz="1000" spc="-15" dirty="0">
                <a:latin typeface="Arial"/>
                <a:cs typeface="Arial"/>
              </a:rPr>
              <a:t>A</a:t>
            </a:r>
            <a:r>
              <a:rPr sz="1000" spc="-5" dirty="0">
                <a:latin typeface="Arial"/>
                <a:cs typeface="Arial"/>
              </a:rPr>
              <a:t> </a:t>
            </a:r>
            <a:r>
              <a:rPr sz="1000" spc="-10" dirty="0">
                <a:latin typeface="Arial"/>
                <a:cs typeface="Arial"/>
              </a:rPr>
              <a:t>design</a:t>
            </a:r>
            <a:r>
              <a:rPr sz="1000" spc="-5" dirty="0">
                <a:latin typeface="Arial"/>
                <a:cs typeface="Arial"/>
              </a:rPr>
              <a:t> </a:t>
            </a:r>
            <a:r>
              <a:rPr sz="1000" spc="-15" dirty="0">
                <a:latin typeface="Arial"/>
                <a:cs typeface="Arial"/>
              </a:rPr>
              <a:t>flaw</a:t>
            </a:r>
            <a:r>
              <a:rPr sz="1000" spc="-5" dirty="0">
                <a:latin typeface="Arial"/>
                <a:cs typeface="Arial"/>
              </a:rPr>
              <a:t> </a:t>
            </a:r>
            <a:r>
              <a:rPr sz="1000" spc="-10" dirty="0">
                <a:latin typeface="Arial"/>
                <a:cs typeface="Arial"/>
              </a:rPr>
              <a:t>seems</a:t>
            </a:r>
            <a:r>
              <a:rPr sz="1000" spc="-5" dirty="0">
                <a:latin typeface="Arial"/>
                <a:cs typeface="Arial"/>
              </a:rPr>
              <a:t> </a:t>
            </a:r>
            <a:r>
              <a:rPr sz="1000" spc="-10" dirty="0">
                <a:latin typeface="Arial"/>
                <a:cs typeface="Arial"/>
              </a:rPr>
              <a:t>to</a:t>
            </a:r>
            <a:r>
              <a:rPr sz="1000" spc="-5" dirty="0">
                <a:latin typeface="Arial"/>
                <a:cs typeface="Arial"/>
              </a:rPr>
              <a:t> </a:t>
            </a:r>
            <a:r>
              <a:rPr sz="1000" spc="-10" dirty="0">
                <a:latin typeface="Arial"/>
                <a:cs typeface="Arial"/>
              </a:rPr>
              <a:t>be</a:t>
            </a:r>
            <a:r>
              <a:rPr sz="1000" spc="-5" dirty="0">
                <a:latin typeface="Arial"/>
                <a:cs typeface="Arial"/>
              </a:rPr>
              <a:t> </a:t>
            </a:r>
            <a:r>
              <a:rPr sz="1000" spc="-10" dirty="0">
                <a:latin typeface="Arial"/>
                <a:cs typeface="Arial"/>
              </a:rPr>
              <a:t>that</a:t>
            </a:r>
            <a:r>
              <a:rPr sz="1000" spc="-5" dirty="0">
                <a:latin typeface="Arial"/>
                <a:cs typeface="Arial"/>
              </a:rPr>
              <a:t> </a:t>
            </a:r>
            <a:r>
              <a:rPr sz="1000" spc="-10" dirty="0">
                <a:latin typeface="Arial"/>
                <a:cs typeface="Arial"/>
              </a:rPr>
              <a:t>the</a:t>
            </a:r>
            <a:r>
              <a:rPr sz="1000" spc="-5" dirty="0">
                <a:latin typeface="Arial"/>
                <a:cs typeface="Arial"/>
              </a:rPr>
              <a:t> </a:t>
            </a:r>
            <a:r>
              <a:rPr sz="1000" spc="-10" dirty="0">
                <a:latin typeface="Arial"/>
                <a:cs typeface="Arial"/>
              </a:rPr>
              <a:t>root</a:t>
            </a:r>
            <a:r>
              <a:rPr sz="1000" spc="-5" dirty="0">
                <a:latin typeface="Arial"/>
                <a:cs typeface="Arial"/>
              </a:rPr>
              <a:t> </a:t>
            </a:r>
            <a:r>
              <a:rPr sz="1000" spc="-10" dirty="0">
                <a:latin typeface="Arial"/>
                <a:cs typeface="Arial"/>
              </a:rPr>
              <a:t>node</a:t>
            </a:r>
            <a:r>
              <a:rPr sz="1000" spc="-5" dirty="0">
                <a:latin typeface="Arial"/>
                <a:cs typeface="Arial"/>
              </a:rPr>
              <a:t> </a:t>
            </a:r>
            <a:r>
              <a:rPr sz="1000" spc="-10" dirty="0">
                <a:latin typeface="Arial"/>
                <a:cs typeface="Arial"/>
              </a:rPr>
              <a:t>needs</a:t>
            </a:r>
            <a:r>
              <a:rPr sz="1000" spc="-5"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keep</a:t>
            </a:r>
            <a:r>
              <a:rPr sz="1000" spc="-5" dirty="0">
                <a:latin typeface="Arial"/>
                <a:cs typeface="Arial"/>
              </a:rPr>
              <a:t> </a:t>
            </a:r>
            <a:r>
              <a:rPr sz="1000" spc="-15" dirty="0">
                <a:latin typeface="Arial"/>
                <a:cs typeface="Arial"/>
              </a:rPr>
              <a:t>track</a:t>
            </a:r>
            <a:r>
              <a:rPr sz="1000" spc="-5" dirty="0">
                <a:latin typeface="Arial"/>
                <a:cs typeface="Arial"/>
              </a:rPr>
              <a:t> </a:t>
            </a:r>
            <a:r>
              <a:rPr sz="1000" spc="-10" dirty="0">
                <a:latin typeface="Arial"/>
                <a:cs typeface="Arial"/>
              </a:rPr>
              <a:t>of</a:t>
            </a:r>
            <a:r>
              <a:rPr sz="1000" spc="-5" dirty="0">
                <a:latin typeface="Arial"/>
                <a:cs typeface="Arial"/>
              </a:rPr>
              <a:t> </a:t>
            </a:r>
            <a:r>
              <a:rPr sz="1000" spc="-10" dirty="0">
                <a:solidFill>
                  <a:srgbClr val="0000FA"/>
                </a:solidFill>
                <a:latin typeface="Arial"/>
                <a:cs typeface="Arial"/>
              </a:rPr>
              <a:t>all</a:t>
            </a:r>
            <a:endParaRPr sz="1000" dirty="0">
              <a:latin typeface="Arial"/>
              <a:cs typeface="Arial"/>
            </a:endParaRPr>
          </a:p>
        </p:txBody>
      </p:sp>
      <p:sp>
        <p:nvSpPr>
          <p:cNvPr id="5" name="object 5"/>
          <p:cNvSpPr txBox="1"/>
          <p:nvPr/>
        </p:nvSpPr>
        <p:spPr>
          <a:xfrm>
            <a:off x="347294" y="1106149"/>
            <a:ext cx="360108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identifiers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0" dirty="0">
                <a:latin typeface="Arial"/>
                <a:cs typeface="Arial"/>
              </a:rPr>
              <a:t>make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distinction</a:t>
            </a:r>
            <a:r>
              <a:rPr sz="1000" spc="5"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logical</a:t>
            </a:r>
            <a:r>
              <a:rPr sz="1000" dirty="0">
                <a:solidFill>
                  <a:srgbClr val="FA0000"/>
                </a:solidFill>
                <a:latin typeface="Arial"/>
                <a:cs typeface="Arial"/>
              </a:rPr>
              <a:t> </a:t>
            </a:r>
            <a:r>
              <a:rPr sz="1000" spc="-5" dirty="0">
                <a:solidFill>
                  <a:srgbClr val="FA0000"/>
                </a:solidFill>
                <a:latin typeface="Arial"/>
                <a:cs typeface="Arial"/>
              </a:rPr>
              <a:t>design</a:t>
            </a:r>
            <a:r>
              <a:rPr sz="1000" spc="5" dirty="0">
                <a:solidFill>
                  <a:srgbClr val="FA0000"/>
                </a:solidFill>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its</a:t>
            </a:r>
            <a:endParaRPr sz="1000" dirty="0">
              <a:latin typeface="Arial"/>
              <a:cs typeface="Arial"/>
            </a:endParaRPr>
          </a:p>
        </p:txBody>
      </p:sp>
      <p:sp>
        <p:nvSpPr>
          <p:cNvPr id="6" name="object 6"/>
          <p:cNvSpPr txBox="1"/>
          <p:nvPr/>
        </p:nvSpPr>
        <p:spPr>
          <a:xfrm>
            <a:off x="347294" y="1184167"/>
            <a:ext cx="1407160" cy="521970"/>
          </a:xfrm>
          <a:prstGeom prst="rect">
            <a:avLst/>
          </a:prstGeom>
        </p:spPr>
        <p:txBody>
          <a:bodyPr vert="horz" wrap="square" lIns="0" tIns="85725" rIns="0" bIns="0" rtlCol="0">
            <a:spAutoFit/>
          </a:bodyPr>
          <a:lstStyle/>
          <a:p>
            <a:pPr marL="12700">
              <a:lnSpc>
                <a:spcPct val="100000"/>
              </a:lnSpc>
              <a:spcBef>
                <a:spcPts val="675"/>
              </a:spcBef>
            </a:pPr>
            <a:r>
              <a:rPr sz="1000" spc="-10" dirty="0">
                <a:solidFill>
                  <a:srgbClr val="FA0000"/>
                </a:solidFill>
                <a:latin typeface="Arial"/>
                <a:cs typeface="Arial"/>
              </a:rPr>
              <a:t>physical</a:t>
            </a:r>
            <a:r>
              <a:rPr sz="1000" spc="-20" dirty="0">
                <a:solidFill>
                  <a:srgbClr val="FA0000"/>
                </a:solidFill>
                <a:latin typeface="Arial"/>
                <a:cs typeface="Arial"/>
              </a:rPr>
              <a:t> </a:t>
            </a:r>
            <a:r>
              <a:rPr sz="1000" spc="-5" dirty="0">
                <a:solidFill>
                  <a:srgbClr val="FA0000"/>
                </a:solidFill>
                <a:latin typeface="Arial"/>
                <a:cs typeface="Arial"/>
              </a:rPr>
              <a:t>implementation</a:t>
            </a:r>
            <a:r>
              <a:rPr sz="1000" spc="-5" dirty="0">
                <a:latin typeface="Arial"/>
                <a:cs typeface="Arial"/>
              </a:rPr>
              <a:t>.</a:t>
            </a:r>
            <a:endParaRPr sz="1000" dirty="0">
              <a:latin typeface="Arial"/>
              <a:cs typeface="Arial"/>
            </a:endParaRPr>
          </a:p>
          <a:p>
            <a:pPr marL="12700">
              <a:lnSpc>
                <a:spcPct val="100000"/>
              </a:lnSpc>
              <a:spcBef>
                <a:spcPts val="695"/>
              </a:spcBef>
            </a:pPr>
            <a:r>
              <a:rPr sz="1200" spc="-5" dirty="0">
                <a:solidFill>
                  <a:srgbClr val="3333B2"/>
                </a:solidFill>
                <a:latin typeface="Arial"/>
                <a:cs typeface="Arial"/>
              </a:rPr>
              <a:t>Notation</a:t>
            </a:r>
            <a:endParaRPr sz="1200" dirty="0">
              <a:latin typeface="Arial"/>
              <a:cs typeface="Arial"/>
            </a:endParaRPr>
          </a:p>
        </p:txBody>
      </p:sp>
      <p:sp>
        <p:nvSpPr>
          <p:cNvPr id="7" name="object 7"/>
          <p:cNvSpPr txBox="1"/>
          <p:nvPr/>
        </p:nvSpPr>
        <p:spPr>
          <a:xfrm>
            <a:off x="418604" y="1750039"/>
            <a:ext cx="3719829" cy="936625"/>
          </a:xfrm>
          <a:prstGeom prst="rect">
            <a:avLst/>
          </a:prstGeom>
        </p:spPr>
        <p:txBody>
          <a:bodyPr vert="horz" wrap="square" lIns="0" tIns="12065" rIns="0" bIns="0" rtlCol="0">
            <a:spAutoFit/>
          </a:bodyPr>
          <a:lstStyle/>
          <a:p>
            <a:pPr marL="218440" marR="43180" indent="-168275">
              <a:lnSpc>
                <a:spcPct val="100000"/>
              </a:lnSpc>
              <a:spcBef>
                <a:spcPts val="95"/>
              </a:spcBef>
              <a:buClr>
                <a:srgbClr val="3333B2"/>
              </a:buClr>
              <a:buChar char="►"/>
              <a:tabLst>
                <a:tab pos="219075" algn="l"/>
              </a:tabLst>
            </a:pPr>
            <a:r>
              <a:rPr sz="1000" spc="-5" dirty="0">
                <a:latin typeface="Arial"/>
                <a:cs typeface="Arial"/>
              </a:rPr>
              <a:t>Assume</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total</a:t>
            </a:r>
            <a:r>
              <a:rPr sz="1000" spc="5" dirty="0">
                <a:latin typeface="Arial"/>
                <a:cs typeface="Arial"/>
              </a:rPr>
              <a:t> </a:t>
            </a:r>
            <a:r>
              <a:rPr sz="1000" spc="-5" dirty="0">
                <a:latin typeface="Arial"/>
                <a:cs typeface="Arial"/>
              </a:rPr>
              <a:t>of</a:t>
            </a:r>
            <a:r>
              <a:rPr sz="1000" dirty="0">
                <a:latin typeface="Arial"/>
                <a:cs typeface="Arial"/>
              </a:rPr>
              <a:t> </a:t>
            </a:r>
            <a:r>
              <a:rPr sz="1000" i="1" spc="-5" dirty="0">
                <a:latin typeface="Arial"/>
                <a:cs typeface="Arial"/>
              </a:rPr>
              <a:t>N</a:t>
            </a:r>
            <a:r>
              <a:rPr sz="1000" i="1" spc="80" dirty="0">
                <a:latin typeface="Arial"/>
                <a:cs typeface="Arial"/>
              </a:rPr>
              <a:t> </a:t>
            </a:r>
            <a:r>
              <a:rPr sz="1000" spc="-10" dirty="0">
                <a:latin typeface="Arial"/>
                <a:cs typeface="Arial"/>
              </a:rPr>
              <a:t>physical</a:t>
            </a:r>
            <a:r>
              <a:rPr sz="1000" spc="5" dirty="0">
                <a:latin typeface="Arial"/>
                <a:cs typeface="Arial"/>
              </a:rPr>
              <a:t> </a:t>
            </a:r>
            <a:r>
              <a:rPr sz="1000" spc="-5" dirty="0">
                <a:latin typeface="Arial"/>
                <a:cs typeface="Arial"/>
              </a:rPr>
              <a:t>hosts</a:t>
            </a:r>
            <a:r>
              <a:rPr sz="1000" dirty="0">
                <a:latin typeface="Arial"/>
                <a:cs typeface="Arial"/>
              </a:rPr>
              <a:t> </a:t>
            </a:r>
            <a:r>
              <a:rPr sz="1000" i="1" spc="-15" dirty="0">
                <a:latin typeface="メイリオ"/>
                <a:cs typeface="メイリオ"/>
              </a:rPr>
              <a:t>{</a:t>
            </a:r>
            <a:r>
              <a:rPr sz="1000" i="1" spc="-15" dirty="0">
                <a:latin typeface="Arial"/>
                <a:cs typeface="Arial"/>
              </a:rPr>
              <a:t>H</a:t>
            </a:r>
            <a:r>
              <a:rPr sz="1050" i="1" spc="-22" baseline="-15873" dirty="0">
                <a:latin typeface="Arial"/>
                <a:cs typeface="Arial"/>
              </a:rPr>
              <a:t>1</a:t>
            </a:r>
            <a:r>
              <a:rPr sz="1000" i="1" spc="-15" dirty="0">
                <a:latin typeface="Arial"/>
                <a:cs typeface="Arial"/>
              </a:rPr>
              <a:t>,</a:t>
            </a:r>
            <a:r>
              <a:rPr sz="1000" i="1" spc="-170" dirty="0">
                <a:latin typeface="Arial"/>
                <a:cs typeface="Arial"/>
              </a:rPr>
              <a:t> </a:t>
            </a:r>
            <a:r>
              <a:rPr sz="1000" i="1" spc="5" dirty="0">
                <a:latin typeface="Arial"/>
                <a:cs typeface="Arial"/>
              </a:rPr>
              <a:t>H</a:t>
            </a:r>
            <a:r>
              <a:rPr sz="1050" i="1" spc="7" baseline="-15873" dirty="0">
                <a:latin typeface="Arial"/>
                <a:cs typeface="Arial"/>
              </a:rPr>
              <a:t>2</a:t>
            </a:r>
            <a:r>
              <a:rPr sz="1050" i="1" spc="-150" baseline="-15873"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spc="10" dirty="0">
                <a:latin typeface="Arial"/>
                <a:cs typeface="Arial"/>
              </a:rPr>
              <a:t>H</a:t>
            </a:r>
            <a:r>
              <a:rPr sz="1050" i="1" spc="15" baseline="-15873" dirty="0">
                <a:latin typeface="Arial"/>
                <a:cs typeface="Arial"/>
              </a:rPr>
              <a:t>N</a:t>
            </a:r>
            <a:r>
              <a:rPr sz="1050" i="1" spc="-127" baseline="-15873" dirty="0">
                <a:latin typeface="Arial"/>
                <a:cs typeface="Arial"/>
              </a:rPr>
              <a:t> </a:t>
            </a:r>
            <a:r>
              <a:rPr sz="1000" i="1" spc="-55" dirty="0">
                <a:latin typeface="メイリオ"/>
                <a:cs typeface="メイリオ"/>
              </a:rPr>
              <a:t>}</a:t>
            </a:r>
            <a:r>
              <a:rPr sz="1000" spc="-55" dirty="0">
                <a:latin typeface="Arial"/>
                <a:cs typeface="Arial"/>
              </a:rPr>
              <a:t>. </a:t>
            </a:r>
            <a:r>
              <a:rPr sz="1000" spc="-265" dirty="0">
                <a:latin typeface="Arial"/>
                <a:cs typeface="Arial"/>
              </a:rPr>
              <a:t> </a:t>
            </a:r>
            <a:r>
              <a:rPr sz="1000" spc="-5" dirty="0">
                <a:latin typeface="Arial"/>
                <a:cs typeface="Arial"/>
              </a:rPr>
              <a:t>Each host</a:t>
            </a:r>
            <a:r>
              <a:rPr sz="1000" dirty="0">
                <a:latin typeface="Arial"/>
                <a:cs typeface="Arial"/>
              </a:rPr>
              <a:t> </a:t>
            </a:r>
            <a:r>
              <a:rPr sz="1000" spc="-5" dirty="0">
                <a:latin typeface="Arial"/>
                <a:cs typeface="Arial"/>
              </a:rPr>
              <a:t>is capable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running one</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more location</a:t>
            </a:r>
            <a:r>
              <a:rPr sz="1000" dirty="0">
                <a:latin typeface="Arial"/>
                <a:cs typeface="Arial"/>
              </a:rPr>
              <a:t> </a:t>
            </a:r>
            <a:r>
              <a:rPr sz="1000" spc="-5" dirty="0">
                <a:latin typeface="Arial"/>
                <a:cs typeface="Arial"/>
              </a:rPr>
              <a:t>servers.</a:t>
            </a:r>
            <a:endParaRPr sz="1000" dirty="0">
              <a:latin typeface="Arial"/>
              <a:cs typeface="Arial"/>
            </a:endParaRPr>
          </a:p>
          <a:p>
            <a:pPr marL="218440" marR="77470" indent="-168275">
              <a:lnSpc>
                <a:spcPts val="1200"/>
              </a:lnSpc>
              <a:spcBef>
                <a:spcPts val="30"/>
              </a:spcBef>
              <a:buClr>
                <a:srgbClr val="3333B2"/>
              </a:buClr>
              <a:buFont typeface="Arial"/>
              <a:buChar char="►"/>
              <a:tabLst>
                <a:tab pos="219075" algn="l"/>
              </a:tabLst>
            </a:pPr>
            <a:r>
              <a:rPr sz="1000" i="1" spc="5" dirty="0">
                <a:latin typeface="Arial"/>
                <a:cs typeface="Arial"/>
              </a:rPr>
              <a:t>D</a:t>
            </a:r>
            <a:r>
              <a:rPr sz="1050" i="1" spc="7" baseline="-15873" dirty="0">
                <a:latin typeface="Arial"/>
                <a:cs typeface="Arial"/>
              </a:rPr>
              <a:t>k</a:t>
            </a:r>
            <a:r>
              <a:rPr sz="1050" i="1" spc="-112" baseline="-15873" dirty="0">
                <a:latin typeface="Arial"/>
                <a:cs typeface="Arial"/>
              </a:rPr>
              <a:t> </a:t>
            </a:r>
            <a:r>
              <a:rPr sz="1000" spc="30" dirty="0">
                <a:latin typeface="Arial"/>
                <a:cs typeface="Arial"/>
              </a:rPr>
              <a:t>(</a:t>
            </a:r>
            <a:r>
              <a:rPr sz="1000" i="1" spc="30" dirty="0">
                <a:latin typeface="Arial"/>
                <a:cs typeface="Arial"/>
              </a:rPr>
              <a:t>A</a:t>
            </a:r>
            <a:r>
              <a:rPr sz="1000" spc="30" dirty="0">
                <a:latin typeface="Arial"/>
                <a:cs typeface="Arial"/>
              </a:rPr>
              <a:t>)</a:t>
            </a:r>
            <a:r>
              <a:rPr sz="1000" dirty="0">
                <a:latin typeface="Arial"/>
                <a:cs typeface="Arial"/>
              </a:rPr>
              <a:t> </a:t>
            </a:r>
            <a:r>
              <a:rPr sz="1000" spc="-5" dirty="0">
                <a:latin typeface="Arial"/>
                <a:cs typeface="Arial"/>
              </a:rPr>
              <a:t>denotes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domain</a:t>
            </a:r>
            <a:r>
              <a:rPr sz="1000" dirty="0">
                <a:latin typeface="Arial"/>
                <a:cs typeface="Arial"/>
              </a:rPr>
              <a:t> </a:t>
            </a:r>
            <a:r>
              <a:rPr sz="1000" spc="-5" dirty="0">
                <a:latin typeface="Arial"/>
                <a:cs typeface="Arial"/>
              </a:rPr>
              <a:t>at</a:t>
            </a:r>
            <a:r>
              <a:rPr sz="1000" dirty="0">
                <a:latin typeface="Arial"/>
                <a:cs typeface="Arial"/>
              </a:rPr>
              <a:t> </a:t>
            </a:r>
            <a:r>
              <a:rPr sz="1000" spc="-15" dirty="0">
                <a:latin typeface="Arial"/>
                <a:cs typeface="Arial"/>
              </a:rPr>
              <a:t>level</a:t>
            </a:r>
            <a:r>
              <a:rPr sz="1000" dirty="0">
                <a:latin typeface="Arial"/>
                <a:cs typeface="Arial"/>
              </a:rPr>
              <a:t> </a:t>
            </a:r>
            <a:r>
              <a:rPr sz="1000" i="1" spc="-5" dirty="0">
                <a:latin typeface="Arial"/>
                <a:cs typeface="Arial"/>
              </a:rPr>
              <a:t>k</a:t>
            </a:r>
            <a:r>
              <a:rPr sz="1000" i="1" spc="105"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contains</a:t>
            </a:r>
            <a:r>
              <a:rPr sz="1000" dirty="0">
                <a:latin typeface="Arial"/>
                <a:cs typeface="Arial"/>
              </a:rPr>
              <a:t> </a:t>
            </a:r>
            <a:r>
              <a:rPr sz="1000" spc="-5" dirty="0">
                <a:latin typeface="Arial"/>
                <a:cs typeface="Arial"/>
              </a:rPr>
              <a:t>address</a:t>
            </a:r>
            <a:r>
              <a:rPr sz="1000" dirty="0">
                <a:latin typeface="Arial"/>
                <a:cs typeface="Arial"/>
              </a:rPr>
              <a:t> </a:t>
            </a:r>
            <a:r>
              <a:rPr sz="1000" i="1" spc="-5" dirty="0">
                <a:latin typeface="Arial"/>
                <a:cs typeface="Arial"/>
              </a:rPr>
              <a:t>A</a:t>
            </a:r>
            <a:r>
              <a:rPr sz="1000" spc="-5" dirty="0">
                <a:latin typeface="Arial"/>
                <a:cs typeface="Arial"/>
              </a:rPr>
              <a:t>; </a:t>
            </a:r>
            <a:r>
              <a:rPr sz="1000" spc="-265" dirty="0">
                <a:latin typeface="Arial"/>
                <a:cs typeface="Arial"/>
              </a:rPr>
              <a:t> </a:t>
            </a:r>
            <a:r>
              <a:rPr sz="1000" i="1" spc="-5" dirty="0">
                <a:latin typeface="Arial"/>
                <a:cs typeface="Arial"/>
              </a:rPr>
              <a:t>k</a:t>
            </a:r>
            <a:r>
              <a:rPr sz="1000" i="1" spc="35"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0 denotes the root domain.</a:t>
            </a:r>
            <a:endParaRPr sz="1000" dirty="0">
              <a:latin typeface="Arial"/>
              <a:cs typeface="Arial"/>
            </a:endParaRPr>
          </a:p>
          <a:p>
            <a:pPr marL="218440" indent="-168275">
              <a:lnSpc>
                <a:spcPts val="1150"/>
              </a:lnSpc>
              <a:buClr>
                <a:srgbClr val="3333B2"/>
              </a:buClr>
              <a:buFont typeface="Arial"/>
              <a:buChar char="►"/>
              <a:tabLst>
                <a:tab pos="219075" algn="l"/>
              </a:tabLst>
            </a:pPr>
            <a:r>
              <a:rPr sz="1000" i="1" dirty="0">
                <a:latin typeface="Arial"/>
                <a:cs typeface="Arial"/>
              </a:rPr>
              <a:t>LS</a:t>
            </a:r>
            <a:r>
              <a:rPr sz="1050" i="1" baseline="-15873" dirty="0">
                <a:latin typeface="Arial"/>
                <a:cs typeface="Arial"/>
              </a:rPr>
              <a:t>k</a:t>
            </a:r>
            <a:r>
              <a:rPr sz="1050" i="1" spc="-112" baseline="-15873" dirty="0">
                <a:latin typeface="Arial"/>
                <a:cs typeface="Arial"/>
              </a:rPr>
              <a:t> </a:t>
            </a:r>
            <a:r>
              <a:rPr sz="1000" spc="45" dirty="0">
                <a:latin typeface="Arial"/>
                <a:cs typeface="Arial"/>
              </a:rPr>
              <a:t>(</a:t>
            </a:r>
            <a:r>
              <a:rPr sz="1000" i="1" spc="45" dirty="0">
                <a:latin typeface="Arial"/>
                <a:cs typeface="Arial"/>
              </a:rPr>
              <a:t>E,</a:t>
            </a:r>
            <a:r>
              <a:rPr sz="1000" i="1" spc="-170" dirty="0">
                <a:latin typeface="Arial"/>
                <a:cs typeface="Arial"/>
              </a:rPr>
              <a:t> </a:t>
            </a:r>
            <a:r>
              <a:rPr sz="1000" i="1" spc="25" dirty="0">
                <a:latin typeface="Arial"/>
                <a:cs typeface="Arial"/>
              </a:rPr>
              <a:t>A</a:t>
            </a:r>
            <a:r>
              <a:rPr sz="1000" spc="25" dirty="0">
                <a:latin typeface="Arial"/>
                <a:cs typeface="Arial"/>
              </a:rPr>
              <a:t>)</a:t>
            </a:r>
            <a:r>
              <a:rPr sz="1000" spc="5" dirty="0">
                <a:latin typeface="Arial"/>
                <a:cs typeface="Arial"/>
              </a:rPr>
              <a:t> </a:t>
            </a:r>
            <a:r>
              <a:rPr sz="1000" spc="-5" dirty="0">
                <a:latin typeface="Arial"/>
                <a:cs typeface="Arial"/>
              </a:rPr>
              <a:t>denotes</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unique</a:t>
            </a:r>
            <a:r>
              <a:rPr sz="1000" dirty="0">
                <a:latin typeface="Arial"/>
                <a:cs typeface="Arial"/>
              </a:rPr>
              <a:t> </a:t>
            </a:r>
            <a:r>
              <a:rPr sz="1000" spc="-5" dirty="0">
                <a:latin typeface="Arial"/>
                <a:cs typeface="Arial"/>
              </a:rPr>
              <a:t>location server</a:t>
            </a:r>
            <a:r>
              <a:rPr sz="1000" dirty="0">
                <a:latin typeface="Arial"/>
                <a:cs typeface="Arial"/>
              </a:rPr>
              <a:t> </a:t>
            </a:r>
            <a:r>
              <a:rPr sz="1000" spc="-5" dirty="0">
                <a:latin typeface="Arial"/>
                <a:cs typeface="Arial"/>
              </a:rPr>
              <a:t>in</a:t>
            </a:r>
            <a:r>
              <a:rPr sz="1000" dirty="0">
                <a:latin typeface="Arial"/>
                <a:cs typeface="Arial"/>
              </a:rPr>
              <a:t> </a:t>
            </a:r>
            <a:r>
              <a:rPr sz="1000" i="1" spc="5" dirty="0">
                <a:latin typeface="Arial"/>
                <a:cs typeface="Arial"/>
              </a:rPr>
              <a:t>D</a:t>
            </a:r>
            <a:r>
              <a:rPr sz="1050" i="1" spc="7" baseline="-15873" dirty="0">
                <a:latin typeface="Arial"/>
                <a:cs typeface="Arial"/>
              </a:rPr>
              <a:t>k</a:t>
            </a:r>
            <a:r>
              <a:rPr sz="1050" i="1" spc="-104" baseline="-15873" dirty="0">
                <a:latin typeface="Arial"/>
                <a:cs typeface="Arial"/>
              </a:rPr>
              <a:t> </a:t>
            </a:r>
            <a:r>
              <a:rPr sz="1000" spc="30" dirty="0">
                <a:latin typeface="Arial"/>
                <a:cs typeface="Arial"/>
              </a:rPr>
              <a:t>(</a:t>
            </a:r>
            <a:r>
              <a:rPr sz="1000" i="1" spc="30" dirty="0">
                <a:latin typeface="Arial"/>
                <a:cs typeface="Arial"/>
              </a:rPr>
              <a:t>A</a:t>
            </a:r>
            <a:r>
              <a:rPr sz="1000" spc="30" dirty="0">
                <a:latin typeface="Arial"/>
                <a:cs typeface="Arial"/>
              </a:rPr>
              <a:t>)</a:t>
            </a:r>
            <a:endParaRPr sz="1000" dirty="0">
              <a:latin typeface="Arial"/>
              <a:cs typeface="Arial"/>
            </a:endParaRPr>
          </a:p>
          <a:p>
            <a:pPr marL="218440">
              <a:lnSpc>
                <a:spcPts val="1200"/>
              </a:lnSpc>
            </a:pPr>
            <a:r>
              <a:rPr sz="1000" spc="-5" dirty="0">
                <a:latin typeface="Arial"/>
                <a:cs typeface="Arial"/>
              </a:rPr>
              <a:t>responsi</a:t>
            </a:r>
            <a:r>
              <a:rPr sz="1000" spc="-25" dirty="0">
                <a:latin typeface="Arial"/>
                <a:cs typeface="Arial"/>
              </a:rPr>
              <a:t>b</a:t>
            </a:r>
            <a:r>
              <a:rPr sz="1000" spc="-5" dirty="0">
                <a:latin typeface="Arial"/>
                <a:cs typeface="Arial"/>
              </a:rPr>
              <a:t>le </a:t>
            </a:r>
            <a:r>
              <a:rPr sz="1000" spc="-35" dirty="0">
                <a:latin typeface="Arial"/>
                <a:cs typeface="Arial"/>
              </a:rPr>
              <a:t>f</a:t>
            </a:r>
            <a:r>
              <a:rPr sz="1000" spc="-5" dirty="0">
                <a:latin typeface="Arial"/>
                <a:cs typeface="Arial"/>
              </a:rPr>
              <a:t>or </a:t>
            </a:r>
            <a:r>
              <a:rPr sz="1000" spc="-25" dirty="0">
                <a:latin typeface="Arial"/>
                <a:cs typeface="Arial"/>
              </a:rPr>
              <a:t>k</a:t>
            </a:r>
            <a:r>
              <a:rPr sz="1000" spc="-5" dirty="0">
                <a:latin typeface="Arial"/>
                <a:cs typeface="Arial"/>
              </a:rPr>
              <a:t>eeping t</a:t>
            </a:r>
            <a:r>
              <a:rPr sz="1000" spc="-15" dirty="0">
                <a:latin typeface="Arial"/>
                <a:cs typeface="Arial"/>
              </a:rPr>
              <a:t>r</a:t>
            </a:r>
            <a:r>
              <a:rPr sz="1000" spc="-5" dirty="0">
                <a:latin typeface="Arial"/>
                <a:cs typeface="Arial"/>
              </a:rPr>
              <a:t>a</a:t>
            </a:r>
            <a:r>
              <a:rPr sz="1000" spc="-25" dirty="0">
                <a:latin typeface="Arial"/>
                <a:cs typeface="Arial"/>
              </a:rPr>
              <a:t>c</a:t>
            </a:r>
            <a:r>
              <a:rPr sz="1000" spc="-5" dirty="0">
                <a:latin typeface="Arial"/>
                <a:cs typeface="Arial"/>
              </a:rPr>
              <a:t>k of entity </a:t>
            </a:r>
            <a:r>
              <a:rPr sz="1000" i="1" spc="-5" dirty="0">
                <a:latin typeface="Arial"/>
                <a:cs typeface="Arial"/>
              </a:rPr>
              <a:t>E</a:t>
            </a:r>
            <a:r>
              <a:rPr sz="1000" i="1" spc="-185" dirty="0">
                <a:latin typeface="Arial"/>
                <a:cs typeface="Arial"/>
              </a:rPr>
              <a:t> </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46</a:t>
            </a:r>
          </a:p>
        </p:txBody>
      </p:sp>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98214" y="716"/>
            <a:ext cx="843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88846"/>
            <a:ext cx="159512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Can</a:t>
            </a:r>
            <a:r>
              <a:rPr sz="1400" spc="-20" dirty="0">
                <a:solidFill>
                  <a:srgbClr val="3333B2"/>
                </a:solidFill>
                <a:latin typeface="Arial"/>
                <a:cs typeface="Arial"/>
              </a:rPr>
              <a:t> </a:t>
            </a:r>
            <a:r>
              <a:rPr sz="1400" spc="15" dirty="0">
                <a:solidFill>
                  <a:srgbClr val="3333B2"/>
                </a:solidFill>
                <a:latin typeface="Arial"/>
                <a:cs typeface="Arial"/>
              </a:rPr>
              <a:t>an</a:t>
            </a:r>
            <a:r>
              <a:rPr sz="1400" spc="-15" dirty="0">
                <a:solidFill>
                  <a:srgbClr val="3333B2"/>
                </a:solidFill>
                <a:latin typeface="Arial"/>
                <a:cs typeface="Arial"/>
              </a:rPr>
              <a:t> </a:t>
            </a:r>
            <a:r>
              <a:rPr sz="1400" spc="20" dirty="0">
                <a:solidFill>
                  <a:srgbClr val="3333B2"/>
                </a:solidFill>
                <a:latin typeface="Arial"/>
                <a:cs typeface="Arial"/>
              </a:rPr>
              <a:t>HLS</a:t>
            </a:r>
            <a:r>
              <a:rPr sz="1400" spc="-20" dirty="0">
                <a:solidFill>
                  <a:srgbClr val="3333B2"/>
                </a:solidFill>
                <a:latin typeface="Arial"/>
                <a:cs typeface="Arial"/>
              </a:rPr>
              <a:t> </a:t>
            </a:r>
            <a:r>
              <a:rPr sz="1400" spc="15" dirty="0">
                <a:solidFill>
                  <a:srgbClr val="3333B2"/>
                </a:solidFill>
                <a:latin typeface="Arial"/>
                <a:cs typeface="Arial"/>
              </a:rPr>
              <a:t>scale?</a:t>
            </a:r>
            <a:endParaRPr sz="1400" dirty="0">
              <a:latin typeface="Arial"/>
              <a:cs typeface="Arial"/>
            </a:endParaRPr>
          </a:p>
        </p:txBody>
      </p:sp>
      <p:sp>
        <p:nvSpPr>
          <p:cNvPr id="5" name="object 5"/>
          <p:cNvSpPr txBox="1"/>
          <p:nvPr/>
        </p:nvSpPr>
        <p:spPr>
          <a:xfrm>
            <a:off x="321894" y="1094470"/>
            <a:ext cx="3964304" cy="111823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Basic</a:t>
            </a:r>
            <a:r>
              <a:rPr sz="1200" spc="-15" dirty="0">
                <a:solidFill>
                  <a:srgbClr val="3333B2"/>
                </a:solidFill>
                <a:latin typeface="Arial"/>
                <a:cs typeface="Arial"/>
              </a:rPr>
              <a:t> </a:t>
            </a:r>
            <a:r>
              <a:rPr sz="1200" spc="-5" dirty="0">
                <a:solidFill>
                  <a:srgbClr val="3333B2"/>
                </a:solidFill>
                <a:latin typeface="Arial"/>
                <a:cs typeface="Arial"/>
              </a:rPr>
              <a:t>idea</a:t>
            </a:r>
            <a:r>
              <a:rPr sz="1200" spc="-15" dirty="0">
                <a:solidFill>
                  <a:srgbClr val="3333B2"/>
                </a:solidFill>
                <a:latin typeface="Arial"/>
                <a:cs typeface="Arial"/>
              </a:rPr>
              <a:t> </a:t>
            </a:r>
            <a:r>
              <a:rPr sz="1200" spc="-20" dirty="0">
                <a:solidFill>
                  <a:srgbClr val="3333B2"/>
                </a:solidFill>
                <a:latin typeface="Arial"/>
                <a:cs typeface="Arial"/>
              </a:rPr>
              <a:t>for</a:t>
            </a:r>
            <a:r>
              <a:rPr sz="1200" spc="-15" dirty="0">
                <a:solidFill>
                  <a:srgbClr val="3333B2"/>
                </a:solidFill>
                <a:latin typeface="Arial"/>
                <a:cs typeface="Arial"/>
              </a:rPr>
              <a:t> </a:t>
            </a:r>
            <a:r>
              <a:rPr sz="1200" spc="-5" dirty="0">
                <a:solidFill>
                  <a:srgbClr val="3333B2"/>
                </a:solidFill>
                <a:latin typeface="Arial"/>
                <a:cs typeface="Arial"/>
              </a:rPr>
              <a:t>scaling</a:t>
            </a:r>
            <a:endParaRPr sz="1200" dirty="0">
              <a:latin typeface="Arial"/>
              <a:cs typeface="Arial"/>
            </a:endParaRPr>
          </a:p>
          <a:p>
            <a:pPr marL="314960" marR="30480" indent="-168275">
              <a:lnSpc>
                <a:spcPct val="100000"/>
              </a:lnSpc>
              <a:spcBef>
                <a:spcPts val="790"/>
              </a:spcBef>
              <a:buClr>
                <a:srgbClr val="3333B2"/>
              </a:buClr>
              <a:buChar char="►"/>
              <a:tabLst>
                <a:tab pos="315595" algn="l"/>
              </a:tabLst>
            </a:pPr>
            <a:r>
              <a:rPr sz="1000" spc="-5" dirty="0">
                <a:latin typeface="Arial"/>
                <a:cs typeface="Arial"/>
              </a:rPr>
              <a:t>Choose</a:t>
            </a:r>
            <a:r>
              <a:rPr sz="1000" spc="-10" dirty="0">
                <a:latin typeface="Arial"/>
                <a:cs typeface="Arial"/>
              </a:rPr>
              <a:t> different</a:t>
            </a:r>
            <a:r>
              <a:rPr sz="1000" spc="-5" dirty="0">
                <a:latin typeface="Arial"/>
                <a:cs typeface="Arial"/>
              </a:rPr>
              <a:t> </a:t>
            </a:r>
            <a:r>
              <a:rPr sz="1000" spc="-10" dirty="0">
                <a:latin typeface="Arial"/>
                <a:cs typeface="Arial"/>
              </a:rPr>
              <a:t>physical</a:t>
            </a:r>
            <a:r>
              <a:rPr sz="1000" spc="-5" dirty="0">
                <a:latin typeface="Arial"/>
                <a:cs typeface="Arial"/>
              </a:rPr>
              <a:t> servers </a:t>
            </a:r>
            <a:r>
              <a:rPr sz="1000" spc="-15" dirty="0">
                <a:latin typeface="Arial"/>
                <a:cs typeface="Arial"/>
              </a:rPr>
              <a:t>for</a:t>
            </a:r>
            <a:r>
              <a:rPr sz="1000" spc="-5" dirty="0">
                <a:latin typeface="Arial"/>
                <a:cs typeface="Arial"/>
              </a:rPr>
              <a:t> the logical name servers on </a:t>
            </a:r>
            <a:r>
              <a:rPr sz="1000" spc="-26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per-entity basis</a:t>
            </a:r>
            <a:endParaRPr sz="1000" dirty="0">
              <a:latin typeface="Arial"/>
              <a:cs typeface="Arial"/>
            </a:endParaRPr>
          </a:p>
          <a:p>
            <a:pPr marL="591820" lvl="1" indent="-168275">
              <a:lnSpc>
                <a:spcPct val="100000"/>
              </a:lnSpc>
              <a:spcBef>
                <a:spcPts val="190"/>
              </a:spcBef>
              <a:buClr>
                <a:srgbClr val="3333B2"/>
              </a:buClr>
              <a:buChar char="►"/>
              <a:tabLst>
                <a:tab pos="592455" algn="l"/>
              </a:tabLst>
            </a:pPr>
            <a:r>
              <a:rPr sz="1000" spc="-5" dirty="0">
                <a:latin typeface="Arial"/>
                <a:cs typeface="Arial"/>
              </a:rPr>
              <a:t>(at root</a:t>
            </a:r>
            <a:r>
              <a:rPr sz="1000" dirty="0">
                <a:latin typeface="Arial"/>
                <a:cs typeface="Arial"/>
              </a:rPr>
              <a:t> </a:t>
            </a:r>
            <a:r>
              <a:rPr sz="1000" spc="-15" dirty="0">
                <a:latin typeface="Arial"/>
                <a:cs typeface="Arial"/>
              </a:rPr>
              <a:t>level,</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also</a:t>
            </a:r>
            <a:r>
              <a:rPr sz="1000" dirty="0">
                <a:latin typeface="Arial"/>
                <a:cs typeface="Arial"/>
              </a:rPr>
              <a:t> </a:t>
            </a:r>
            <a:r>
              <a:rPr sz="1000" spc="-5" dirty="0">
                <a:latin typeface="Arial"/>
                <a:cs typeface="Arial"/>
              </a:rPr>
              <a:t>intermediate)</a:t>
            </a:r>
            <a:endParaRPr sz="1000" dirty="0">
              <a:latin typeface="Arial"/>
              <a:cs typeface="Arial"/>
            </a:endParaRPr>
          </a:p>
          <a:p>
            <a:pPr marL="314960" marR="31750" indent="-168275">
              <a:lnSpc>
                <a:spcPct val="100000"/>
              </a:lnSpc>
              <a:spcBef>
                <a:spcPts val="195"/>
              </a:spcBef>
              <a:buClr>
                <a:srgbClr val="3333B2"/>
              </a:buClr>
              <a:buChar char="►"/>
              <a:tabLst>
                <a:tab pos="315595" algn="l"/>
              </a:tabLst>
            </a:pPr>
            <a:r>
              <a:rPr sz="1000" spc="-10" dirty="0">
                <a:latin typeface="Arial"/>
                <a:cs typeface="Arial"/>
              </a:rPr>
              <a:t>Implement</a:t>
            </a:r>
            <a:r>
              <a:rPr sz="1000" spc="-5"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mapping</a:t>
            </a:r>
            <a:r>
              <a:rPr sz="1000" dirty="0">
                <a:latin typeface="Arial"/>
                <a:cs typeface="Arial"/>
              </a:rPr>
              <a:t> </a:t>
            </a:r>
            <a:r>
              <a:rPr sz="1000" spc="-5" dirty="0">
                <a:latin typeface="Arial"/>
                <a:cs typeface="Arial"/>
              </a:rPr>
              <a:t>of entities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physical</a:t>
            </a:r>
            <a:r>
              <a:rPr sz="1000" dirty="0">
                <a:latin typeface="Arial"/>
                <a:cs typeface="Arial"/>
              </a:rPr>
              <a:t> </a:t>
            </a:r>
            <a:r>
              <a:rPr sz="1000" spc="-10" dirty="0">
                <a:latin typeface="Arial"/>
                <a:cs typeface="Arial"/>
              </a:rPr>
              <a:t>servers</a:t>
            </a:r>
            <a:r>
              <a:rPr sz="1000" spc="-5" dirty="0">
                <a:latin typeface="Arial"/>
                <a:cs typeface="Arial"/>
              </a:rPr>
              <a:t> </a:t>
            </a:r>
            <a:r>
              <a:rPr sz="1000" spc="-10" dirty="0">
                <a:latin typeface="Arial"/>
                <a:cs typeface="Arial"/>
              </a:rPr>
              <a:t>such</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load of storing records will be distributed</a:t>
            </a:r>
            <a:endParaRPr sz="1000" dirty="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448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Flat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698214" y="716"/>
            <a:ext cx="84328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approaches</a:t>
            </a:r>
            <a:endParaRPr sz="600">
              <a:latin typeface="Arial"/>
              <a:cs typeface="Arial"/>
            </a:endParaRPr>
          </a:p>
        </p:txBody>
      </p:sp>
      <p:sp>
        <p:nvSpPr>
          <p:cNvPr id="4" name="object 4"/>
          <p:cNvSpPr txBox="1"/>
          <p:nvPr/>
        </p:nvSpPr>
        <p:spPr>
          <a:xfrm>
            <a:off x="95300" y="156178"/>
            <a:ext cx="1595120" cy="486409"/>
          </a:xfrm>
          <a:prstGeom prst="rect">
            <a:avLst/>
          </a:prstGeom>
        </p:spPr>
        <p:txBody>
          <a:bodyPr vert="horz" wrap="square" lIns="0" tIns="49530" rIns="0" bIns="0" rtlCol="0">
            <a:spAutoFit/>
          </a:bodyPr>
          <a:lstStyle/>
          <a:p>
            <a:pPr marL="12700">
              <a:lnSpc>
                <a:spcPct val="100000"/>
              </a:lnSpc>
              <a:spcBef>
                <a:spcPts val="390"/>
              </a:spcBef>
            </a:pPr>
            <a:r>
              <a:rPr sz="1400" spc="20" dirty="0">
                <a:solidFill>
                  <a:srgbClr val="3333B2"/>
                </a:solidFill>
                <a:latin typeface="Arial"/>
                <a:cs typeface="Arial"/>
              </a:rPr>
              <a:t>Can</a:t>
            </a:r>
            <a:r>
              <a:rPr sz="1400" spc="-20" dirty="0">
                <a:solidFill>
                  <a:srgbClr val="3333B2"/>
                </a:solidFill>
                <a:latin typeface="Arial"/>
                <a:cs typeface="Arial"/>
              </a:rPr>
              <a:t> </a:t>
            </a:r>
            <a:r>
              <a:rPr sz="1400" spc="15" dirty="0">
                <a:solidFill>
                  <a:srgbClr val="3333B2"/>
                </a:solidFill>
                <a:latin typeface="Arial"/>
                <a:cs typeface="Arial"/>
              </a:rPr>
              <a:t>an</a:t>
            </a:r>
            <a:r>
              <a:rPr sz="1400" spc="-15" dirty="0">
                <a:solidFill>
                  <a:srgbClr val="3333B2"/>
                </a:solidFill>
                <a:latin typeface="Arial"/>
                <a:cs typeface="Arial"/>
              </a:rPr>
              <a:t> </a:t>
            </a:r>
            <a:r>
              <a:rPr sz="1400" spc="20" dirty="0">
                <a:solidFill>
                  <a:srgbClr val="3333B2"/>
                </a:solidFill>
                <a:latin typeface="Arial"/>
                <a:cs typeface="Arial"/>
              </a:rPr>
              <a:t>HLS</a:t>
            </a:r>
            <a:r>
              <a:rPr sz="1400" spc="-20" dirty="0">
                <a:solidFill>
                  <a:srgbClr val="3333B2"/>
                </a:solidFill>
                <a:latin typeface="Arial"/>
                <a:cs typeface="Arial"/>
              </a:rPr>
              <a:t> </a:t>
            </a:r>
            <a:r>
              <a:rPr sz="1400" spc="15" dirty="0">
                <a:solidFill>
                  <a:srgbClr val="3333B2"/>
                </a:solidFill>
                <a:latin typeface="Arial"/>
                <a:cs typeface="Arial"/>
              </a:rPr>
              <a:t>scale?</a:t>
            </a:r>
            <a:endParaRPr sz="1400">
              <a:latin typeface="Arial"/>
              <a:cs typeface="Arial"/>
            </a:endParaRPr>
          </a:p>
          <a:p>
            <a:pPr marL="264160">
              <a:lnSpc>
                <a:spcPct val="100000"/>
              </a:lnSpc>
              <a:spcBef>
                <a:spcPts val="215"/>
              </a:spcBef>
            </a:pPr>
            <a:r>
              <a:rPr sz="1200" spc="-5" dirty="0">
                <a:solidFill>
                  <a:srgbClr val="3333B2"/>
                </a:solidFill>
                <a:latin typeface="Arial"/>
                <a:cs typeface="Arial"/>
              </a:rPr>
              <a:t>Solution</a:t>
            </a:r>
            <a:endParaRPr sz="1200">
              <a:latin typeface="Arial"/>
              <a:cs typeface="Arial"/>
            </a:endParaRPr>
          </a:p>
        </p:txBody>
      </p:sp>
      <p:grpSp>
        <p:nvGrpSpPr>
          <p:cNvPr id="5" name="object 5"/>
          <p:cNvGrpSpPr/>
          <p:nvPr/>
        </p:nvGrpSpPr>
        <p:grpSpPr>
          <a:xfrm>
            <a:off x="1083751" y="2034954"/>
            <a:ext cx="2483485" cy="979805"/>
            <a:chOff x="1083751" y="2034954"/>
            <a:chExt cx="2483485" cy="979805"/>
          </a:xfrm>
        </p:grpSpPr>
        <p:sp>
          <p:nvSpPr>
            <p:cNvPr id="6" name="object 6"/>
            <p:cNvSpPr/>
            <p:nvPr/>
          </p:nvSpPr>
          <p:spPr>
            <a:xfrm>
              <a:off x="1086599" y="2845765"/>
              <a:ext cx="199390" cy="132715"/>
            </a:xfrm>
            <a:custGeom>
              <a:avLst/>
              <a:gdLst/>
              <a:ahLst/>
              <a:cxnLst/>
              <a:rect l="l" t="t" r="r" b="b"/>
              <a:pathLst>
                <a:path w="199390" h="132714">
                  <a:moveTo>
                    <a:pt x="33134" y="0"/>
                  </a:moveTo>
                  <a:lnTo>
                    <a:pt x="0" y="0"/>
                  </a:lnTo>
                  <a:lnTo>
                    <a:pt x="0" y="132524"/>
                  </a:lnTo>
                  <a:lnTo>
                    <a:pt x="33134" y="132524"/>
                  </a:lnTo>
                  <a:lnTo>
                    <a:pt x="33134" y="0"/>
                  </a:lnTo>
                  <a:close/>
                </a:path>
                <a:path w="199390" h="132714">
                  <a:moveTo>
                    <a:pt x="198793" y="0"/>
                  </a:moveTo>
                  <a:lnTo>
                    <a:pt x="165658" y="0"/>
                  </a:lnTo>
                  <a:lnTo>
                    <a:pt x="165658" y="132524"/>
                  </a:lnTo>
                  <a:lnTo>
                    <a:pt x="198793" y="132524"/>
                  </a:lnTo>
                  <a:lnTo>
                    <a:pt x="198793" y="0"/>
                  </a:lnTo>
                  <a:close/>
                </a:path>
              </a:pathLst>
            </a:custGeom>
            <a:solidFill>
              <a:srgbClr val="808285"/>
            </a:solidFill>
          </p:spPr>
          <p:txBody>
            <a:bodyPr wrap="square" lIns="0" tIns="0" rIns="0" bIns="0" rtlCol="0"/>
            <a:lstStyle/>
            <a:p>
              <a:endParaRPr/>
            </a:p>
          </p:txBody>
        </p:sp>
        <p:sp>
          <p:nvSpPr>
            <p:cNvPr id="7" name="object 7"/>
            <p:cNvSpPr/>
            <p:nvPr/>
          </p:nvSpPr>
          <p:spPr>
            <a:xfrm>
              <a:off x="1086609" y="2845761"/>
              <a:ext cx="199390" cy="132715"/>
            </a:xfrm>
            <a:custGeom>
              <a:avLst/>
              <a:gdLst/>
              <a:ahLst/>
              <a:cxnLst/>
              <a:rect l="l" t="t" r="r" b="b"/>
              <a:pathLst>
                <a:path w="199390" h="132714">
                  <a:moveTo>
                    <a:pt x="0" y="132520"/>
                  </a:moveTo>
                  <a:lnTo>
                    <a:pt x="198788" y="132520"/>
                  </a:lnTo>
                  <a:lnTo>
                    <a:pt x="198788" y="0"/>
                  </a:lnTo>
                  <a:lnTo>
                    <a:pt x="0" y="0"/>
                  </a:lnTo>
                  <a:lnTo>
                    <a:pt x="0" y="132520"/>
                  </a:lnTo>
                  <a:close/>
                </a:path>
              </a:pathLst>
            </a:custGeom>
            <a:ln w="5270">
              <a:solidFill>
                <a:srgbClr val="231F20"/>
              </a:solidFill>
            </a:ln>
          </p:spPr>
          <p:txBody>
            <a:bodyPr wrap="square" lIns="0" tIns="0" rIns="0" bIns="0" rtlCol="0"/>
            <a:lstStyle/>
            <a:p>
              <a:endParaRPr/>
            </a:p>
          </p:txBody>
        </p:sp>
        <p:sp>
          <p:nvSpPr>
            <p:cNvPr id="8" name="object 8"/>
            <p:cNvSpPr/>
            <p:nvPr/>
          </p:nvSpPr>
          <p:spPr>
            <a:xfrm>
              <a:off x="1086599" y="2613850"/>
              <a:ext cx="464184" cy="132715"/>
            </a:xfrm>
            <a:custGeom>
              <a:avLst/>
              <a:gdLst/>
              <a:ahLst/>
              <a:cxnLst/>
              <a:rect l="l" t="t" r="r" b="b"/>
              <a:pathLst>
                <a:path w="464184" h="132714">
                  <a:moveTo>
                    <a:pt x="33134" y="0"/>
                  </a:moveTo>
                  <a:lnTo>
                    <a:pt x="0" y="0"/>
                  </a:lnTo>
                  <a:lnTo>
                    <a:pt x="0" y="132524"/>
                  </a:lnTo>
                  <a:lnTo>
                    <a:pt x="33134" y="132524"/>
                  </a:lnTo>
                  <a:lnTo>
                    <a:pt x="33134" y="0"/>
                  </a:lnTo>
                  <a:close/>
                </a:path>
                <a:path w="464184" h="132714">
                  <a:moveTo>
                    <a:pt x="298183" y="0"/>
                  </a:moveTo>
                  <a:lnTo>
                    <a:pt x="165658" y="0"/>
                  </a:lnTo>
                  <a:lnTo>
                    <a:pt x="165658" y="132524"/>
                  </a:lnTo>
                  <a:lnTo>
                    <a:pt x="298183" y="132524"/>
                  </a:lnTo>
                  <a:lnTo>
                    <a:pt x="298183" y="0"/>
                  </a:lnTo>
                  <a:close/>
                </a:path>
                <a:path w="464184" h="132714">
                  <a:moveTo>
                    <a:pt x="463842" y="0"/>
                  </a:moveTo>
                  <a:lnTo>
                    <a:pt x="430707" y="0"/>
                  </a:lnTo>
                  <a:lnTo>
                    <a:pt x="430707" y="132524"/>
                  </a:lnTo>
                  <a:lnTo>
                    <a:pt x="463842" y="132524"/>
                  </a:lnTo>
                  <a:lnTo>
                    <a:pt x="463842" y="0"/>
                  </a:lnTo>
                  <a:close/>
                </a:path>
              </a:pathLst>
            </a:custGeom>
            <a:solidFill>
              <a:srgbClr val="808285"/>
            </a:solidFill>
          </p:spPr>
          <p:txBody>
            <a:bodyPr wrap="square" lIns="0" tIns="0" rIns="0" bIns="0" rtlCol="0"/>
            <a:lstStyle/>
            <a:p>
              <a:endParaRPr/>
            </a:p>
          </p:txBody>
        </p:sp>
        <p:sp>
          <p:nvSpPr>
            <p:cNvPr id="9" name="object 9"/>
            <p:cNvSpPr/>
            <p:nvPr/>
          </p:nvSpPr>
          <p:spPr>
            <a:xfrm>
              <a:off x="1086609" y="2613843"/>
              <a:ext cx="464184" cy="132715"/>
            </a:xfrm>
            <a:custGeom>
              <a:avLst/>
              <a:gdLst/>
              <a:ahLst/>
              <a:cxnLst/>
              <a:rect l="l" t="t" r="r" b="b"/>
              <a:pathLst>
                <a:path w="464184" h="132714">
                  <a:moveTo>
                    <a:pt x="0" y="132524"/>
                  </a:moveTo>
                  <a:lnTo>
                    <a:pt x="463832" y="132524"/>
                  </a:lnTo>
                  <a:lnTo>
                    <a:pt x="463832" y="0"/>
                  </a:lnTo>
                  <a:lnTo>
                    <a:pt x="0" y="0"/>
                  </a:lnTo>
                  <a:lnTo>
                    <a:pt x="0" y="132524"/>
                  </a:lnTo>
                  <a:close/>
                </a:path>
              </a:pathLst>
            </a:custGeom>
            <a:ln w="5270">
              <a:solidFill>
                <a:srgbClr val="231F20"/>
              </a:solidFill>
            </a:ln>
          </p:spPr>
          <p:txBody>
            <a:bodyPr wrap="square" lIns="0" tIns="0" rIns="0" bIns="0" rtlCol="0"/>
            <a:lstStyle/>
            <a:p>
              <a:endParaRPr/>
            </a:p>
          </p:txBody>
        </p:sp>
        <p:sp>
          <p:nvSpPr>
            <p:cNvPr id="10" name="object 10"/>
            <p:cNvSpPr/>
            <p:nvPr/>
          </p:nvSpPr>
          <p:spPr>
            <a:xfrm>
              <a:off x="1086599" y="2381935"/>
              <a:ext cx="994410" cy="132715"/>
            </a:xfrm>
            <a:custGeom>
              <a:avLst/>
              <a:gdLst/>
              <a:ahLst/>
              <a:cxnLst/>
              <a:rect l="l" t="t" r="r" b="b"/>
              <a:pathLst>
                <a:path w="994410" h="132714">
                  <a:moveTo>
                    <a:pt x="33134" y="0"/>
                  </a:moveTo>
                  <a:lnTo>
                    <a:pt x="0" y="0"/>
                  </a:lnTo>
                  <a:lnTo>
                    <a:pt x="0" y="132524"/>
                  </a:lnTo>
                  <a:lnTo>
                    <a:pt x="33134" y="132524"/>
                  </a:lnTo>
                  <a:lnTo>
                    <a:pt x="33134" y="0"/>
                  </a:lnTo>
                  <a:close/>
                </a:path>
                <a:path w="994410" h="132714">
                  <a:moveTo>
                    <a:pt x="298183" y="0"/>
                  </a:moveTo>
                  <a:lnTo>
                    <a:pt x="165658" y="0"/>
                  </a:lnTo>
                  <a:lnTo>
                    <a:pt x="165658" y="132524"/>
                  </a:lnTo>
                  <a:lnTo>
                    <a:pt x="298183" y="132524"/>
                  </a:lnTo>
                  <a:lnTo>
                    <a:pt x="298183" y="0"/>
                  </a:lnTo>
                  <a:close/>
                </a:path>
                <a:path w="994410" h="132714">
                  <a:moveTo>
                    <a:pt x="563232" y="0"/>
                  </a:moveTo>
                  <a:lnTo>
                    <a:pt x="430707" y="0"/>
                  </a:lnTo>
                  <a:lnTo>
                    <a:pt x="430707" y="132524"/>
                  </a:lnTo>
                  <a:lnTo>
                    <a:pt x="563232" y="132524"/>
                  </a:lnTo>
                  <a:lnTo>
                    <a:pt x="563232" y="0"/>
                  </a:lnTo>
                  <a:close/>
                </a:path>
                <a:path w="994410" h="132714">
                  <a:moveTo>
                    <a:pt x="828281" y="0"/>
                  </a:moveTo>
                  <a:lnTo>
                    <a:pt x="695756" y="0"/>
                  </a:lnTo>
                  <a:lnTo>
                    <a:pt x="695756" y="132524"/>
                  </a:lnTo>
                  <a:lnTo>
                    <a:pt x="828281" y="132524"/>
                  </a:lnTo>
                  <a:lnTo>
                    <a:pt x="828281" y="0"/>
                  </a:lnTo>
                  <a:close/>
                </a:path>
                <a:path w="994410" h="132714">
                  <a:moveTo>
                    <a:pt x="993927" y="0"/>
                  </a:moveTo>
                  <a:lnTo>
                    <a:pt x="960805" y="0"/>
                  </a:lnTo>
                  <a:lnTo>
                    <a:pt x="960805" y="132524"/>
                  </a:lnTo>
                  <a:lnTo>
                    <a:pt x="993927" y="132524"/>
                  </a:lnTo>
                  <a:lnTo>
                    <a:pt x="993927" y="0"/>
                  </a:lnTo>
                  <a:close/>
                </a:path>
              </a:pathLst>
            </a:custGeom>
            <a:solidFill>
              <a:srgbClr val="808285"/>
            </a:solidFill>
          </p:spPr>
          <p:txBody>
            <a:bodyPr wrap="square" lIns="0" tIns="0" rIns="0" bIns="0" rtlCol="0"/>
            <a:lstStyle/>
            <a:p>
              <a:endParaRPr/>
            </a:p>
          </p:txBody>
        </p:sp>
        <p:sp>
          <p:nvSpPr>
            <p:cNvPr id="11" name="object 11"/>
            <p:cNvSpPr/>
            <p:nvPr/>
          </p:nvSpPr>
          <p:spPr>
            <a:xfrm>
              <a:off x="1086609" y="2381925"/>
              <a:ext cx="994410" cy="132715"/>
            </a:xfrm>
            <a:custGeom>
              <a:avLst/>
              <a:gdLst/>
              <a:ahLst/>
              <a:cxnLst/>
              <a:rect l="l" t="t" r="r" b="b"/>
              <a:pathLst>
                <a:path w="994410" h="132714">
                  <a:moveTo>
                    <a:pt x="0" y="132524"/>
                  </a:moveTo>
                  <a:lnTo>
                    <a:pt x="993929" y="132524"/>
                  </a:lnTo>
                  <a:lnTo>
                    <a:pt x="993929" y="0"/>
                  </a:lnTo>
                  <a:lnTo>
                    <a:pt x="0" y="0"/>
                  </a:lnTo>
                  <a:lnTo>
                    <a:pt x="0" y="132524"/>
                  </a:lnTo>
                  <a:close/>
                </a:path>
              </a:pathLst>
            </a:custGeom>
            <a:ln w="5270">
              <a:solidFill>
                <a:srgbClr val="231F20"/>
              </a:solidFill>
            </a:ln>
          </p:spPr>
          <p:txBody>
            <a:bodyPr wrap="square" lIns="0" tIns="0" rIns="0" bIns="0" rtlCol="0"/>
            <a:lstStyle/>
            <a:p>
              <a:endParaRPr/>
            </a:p>
          </p:txBody>
        </p:sp>
        <p:sp>
          <p:nvSpPr>
            <p:cNvPr id="12" name="object 12"/>
            <p:cNvSpPr/>
            <p:nvPr/>
          </p:nvSpPr>
          <p:spPr>
            <a:xfrm>
              <a:off x="1086599" y="2150021"/>
              <a:ext cx="2319655" cy="132715"/>
            </a:xfrm>
            <a:custGeom>
              <a:avLst/>
              <a:gdLst/>
              <a:ahLst/>
              <a:cxnLst/>
              <a:rect l="l" t="t" r="r" b="b"/>
              <a:pathLst>
                <a:path w="2319654" h="132714">
                  <a:moveTo>
                    <a:pt x="33134" y="0"/>
                  </a:moveTo>
                  <a:lnTo>
                    <a:pt x="0" y="0"/>
                  </a:lnTo>
                  <a:lnTo>
                    <a:pt x="0" y="132524"/>
                  </a:lnTo>
                  <a:lnTo>
                    <a:pt x="33134" y="132524"/>
                  </a:lnTo>
                  <a:lnTo>
                    <a:pt x="33134" y="0"/>
                  </a:lnTo>
                  <a:close/>
                </a:path>
                <a:path w="2319654" h="132714">
                  <a:moveTo>
                    <a:pt x="298183" y="0"/>
                  </a:moveTo>
                  <a:lnTo>
                    <a:pt x="165658" y="0"/>
                  </a:lnTo>
                  <a:lnTo>
                    <a:pt x="165658" y="132524"/>
                  </a:lnTo>
                  <a:lnTo>
                    <a:pt x="298183" y="132524"/>
                  </a:lnTo>
                  <a:lnTo>
                    <a:pt x="298183" y="0"/>
                  </a:lnTo>
                  <a:close/>
                </a:path>
                <a:path w="2319654" h="132714">
                  <a:moveTo>
                    <a:pt x="563232" y="0"/>
                  </a:moveTo>
                  <a:lnTo>
                    <a:pt x="430707" y="0"/>
                  </a:lnTo>
                  <a:lnTo>
                    <a:pt x="430707" y="132524"/>
                  </a:lnTo>
                  <a:lnTo>
                    <a:pt x="563232" y="132524"/>
                  </a:lnTo>
                  <a:lnTo>
                    <a:pt x="563232" y="0"/>
                  </a:lnTo>
                  <a:close/>
                </a:path>
                <a:path w="2319654" h="132714">
                  <a:moveTo>
                    <a:pt x="828281" y="0"/>
                  </a:moveTo>
                  <a:lnTo>
                    <a:pt x="695756" y="0"/>
                  </a:lnTo>
                  <a:lnTo>
                    <a:pt x="695756" y="132524"/>
                  </a:lnTo>
                  <a:lnTo>
                    <a:pt x="828281" y="132524"/>
                  </a:lnTo>
                  <a:lnTo>
                    <a:pt x="828281" y="0"/>
                  </a:lnTo>
                  <a:close/>
                </a:path>
                <a:path w="2319654" h="132714">
                  <a:moveTo>
                    <a:pt x="1093317" y="0"/>
                  </a:moveTo>
                  <a:lnTo>
                    <a:pt x="960805" y="0"/>
                  </a:lnTo>
                  <a:lnTo>
                    <a:pt x="960805" y="132524"/>
                  </a:lnTo>
                  <a:lnTo>
                    <a:pt x="1093317" y="132524"/>
                  </a:lnTo>
                  <a:lnTo>
                    <a:pt x="1093317" y="0"/>
                  </a:lnTo>
                  <a:close/>
                </a:path>
                <a:path w="2319654" h="132714">
                  <a:moveTo>
                    <a:pt x="1358379" y="0"/>
                  </a:moveTo>
                  <a:lnTo>
                    <a:pt x="1225842" y="0"/>
                  </a:lnTo>
                  <a:lnTo>
                    <a:pt x="1225842" y="132524"/>
                  </a:lnTo>
                  <a:lnTo>
                    <a:pt x="1358379" y="132524"/>
                  </a:lnTo>
                  <a:lnTo>
                    <a:pt x="1358379" y="0"/>
                  </a:lnTo>
                  <a:close/>
                </a:path>
                <a:path w="2319654" h="132714">
                  <a:moveTo>
                    <a:pt x="1623415" y="0"/>
                  </a:moveTo>
                  <a:lnTo>
                    <a:pt x="1490903" y="0"/>
                  </a:lnTo>
                  <a:lnTo>
                    <a:pt x="1490903" y="132524"/>
                  </a:lnTo>
                  <a:lnTo>
                    <a:pt x="1623415" y="132524"/>
                  </a:lnTo>
                  <a:lnTo>
                    <a:pt x="1623415" y="0"/>
                  </a:lnTo>
                  <a:close/>
                </a:path>
                <a:path w="2319654" h="132714">
                  <a:moveTo>
                    <a:pt x="1888477" y="0"/>
                  </a:moveTo>
                  <a:lnTo>
                    <a:pt x="1755940" y="0"/>
                  </a:lnTo>
                  <a:lnTo>
                    <a:pt x="1755940" y="132524"/>
                  </a:lnTo>
                  <a:lnTo>
                    <a:pt x="1888477" y="132524"/>
                  </a:lnTo>
                  <a:lnTo>
                    <a:pt x="1888477" y="0"/>
                  </a:lnTo>
                  <a:close/>
                </a:path>
                <a:path w="2319654" h="132714">
                  <a:moveTo>
                    <a:pt x="2153513" y="0"/>
                  </a:moveTo>
                  <a:lnTo>
                    <a:pt x="2021001" y="0"/>
                  </a:lnTo>
                  <a:lnTo>
                    <a:pt x="2021001" y="132524"/>
                  </a:lnTo>
                  <a:lnTo>
                    <a:pt x="2153513" y="132524"/>
                  </a:lnTo>
                  <a:lnTo>
                    <a:pt x="2153513" y="0"/>
                  </a:lnTo>
                  <a:close/>
                </a:path>
                <a:path w="2319654" h="132714">
                  <a:moveTo>
                    <a:pt x="2319172" y="0"/>
                  </a:moveTo>
                  <a:lnTo>
                    <a:pt x="2286038" y="0"/>
                  </a:lnTo>
                  <a:lnTo>
                    <a:pt x="2286038" y="132524"/>
                  </a:lnTo>
                  <a:lnTo>
                    <a:pt x="2319172" y="132524"/>
                  </a:lnTo>
                  <a:lnTo>
                    <a:pt x="2319172" y="0"/>
                  </a:lnTo>
                  <a:close/>
                </a:path>
              </a:pathLst>
            </a:custGeom>
            <a:solidFill>
              <a:srgbClr val="808285"/>
            </a:solidFill>
          </p:spPr>
          <p:txBody>
            <a:bodyPr wrap="square" lIns="0" tIns="0" rIns="0" bIns="0" rtlCol="0"/>
            <a:lstStyle/>
            <a:p>
              <a:endParaRPr/>
            </a:p>
          </p:txBody>
        </p:sp>
        <p:sp>
          <p:nvSpPr>
            <p:cNvPr id="13" name="object 13"/>
            <p:cNvSpPr/>
            <p:nvPr/>
          </p:nvSpPr>
          <p:spPr>
            <a:xfrm>
              <a:off x="1086609" y="2150010"/>
              <a:ext cx="2319655" cy="132715"/>
            </a:xfrm>
            <a:custGeom>
              <a:avLst/>
              <a:gdLst/>
              <a:ahLst/>
              <a:cxnLst/>
              <a:rect l="l" t="t" r="r" b="b"/>
              <a:pathLst>
                <a:path w="2319654" h="132714">
                  <a:moveTo>
                    <a:pt x="0" y="132524"/>
                  </a:moveTo>
                  <a:lnTo>
                    <a:pt x="2319167" y="132524"/>
                  </a:lnTo>
                  <a:lnTo>
                    <a:pt x="2319167" y="0"/>
                  </a:lnTo>
                  <a:lnTo>
                    <a:pt x="0" y="0"/>
                  </a:lnTo>
                  <a:lnTo>
                    <a:pt x="0" y="132524"/>
                  </a:lnTo>
                  <a:close/>
                </a:path>
              </a:pathLst>
            </a:custGeom>
            <a:ln w="5270">
              <a:solidFill>
                <a:srgbClr val="231F20"/>
              </a:solidFill>
            </a:ln>
          </p:spPr>
          <p:txBody>
            <a:bodyPr wrap="square" lIns="0" tIns="0" rIns="0" bIns="0" rtlCol="0"/>
            <a:lstStyle/>
            <a:p>
              <a:endParaRPr/>
            </a:p>
          </p:txBody>
        </p:sp>
        <p:sp>
          <p:nvSpPr>
            <p:cNvPr id="14" name="object 14"/>
            <p:cNvSpPr/>
            <p:nvPr/>
          </p:nvSpPr>
          <p:spPr>
            <a:xfrm>
              <a:off x="1119738" y="2116881"/>
              <a:ext cx="132715" cy="894715"/>
            </a:xfrm>
            <a:custGeom>
              <a:avLst/>
              <a:gdLst/>
              <a:ahLst/>
              <a:cxnLst/>
              <a:rect l="l" t="t" r="r" b="b"/>
              <a:pathLst>
                <a:path w="132715"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15" name="object 15"/>
            <p:cNvSpPr/>
            <p:nvPr/>
          </p:nvSpPr>
          <p:spPr>
            <a:xfrm>
              <a:off x="1119738" y="2116881"/>
              <a:ext cx="132715" cy="894715"/>
            </a:xfrm>
            <a:custGeom>
              <a:avLst/>
              <a:gdLst/>
              <a:ahLst/>
              <a:cxnLst/>
              <a:rect l="l" t="t" r="r" b="b"/>
              <a:pathLst>
                <a:path w="132715"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16" name="object 16"/>
            <p:cNvSpPr/>
            <p:nvPr/>
          </p:nvSpPr>
          <p:spPr>
            <a:xfrm>
              <a:off x="1152873" y="2183141"/>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17" name="object 17"/>
            <p:cNvSpPr/>
            <p:nvPr/>
          </p:nvSpPr>
          <p:spPr>
            <a:xfrm>
              <a:off x="1152873" y="2183141"/>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18" name="object 18"/>
            <p:cNvSpPr/>
            <p:nvPr/>
          </p:nvSpPr>
          <p:spPr>
            <a:xfrm>
              <a:off x="1152873" y="2415059"/>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19" name="object 19"/>
            <p:cNvSpPr/>
            <p:nvPr/>
          </p:nvSpPr>
          <p:spPr>
            <a:xfrm>
              <a:off x="1152873" y="2415059"/>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20" name="object 20"/>
            <p:cNvSpPr/>
            <p:nvPr/>
          </p:nvSpPr>
          <p:spPr>
            <a:xfrm>
              <a:off x="1152873" y="2646973"/>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21" name="object 21"/>
            <p:cNvSpPr/>
            <p:nvPr/>
          </p:nvSpPr>
          <p:spPr>
            <a:xfrm>
              <a:off x="1152873" y="2646973"/>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22" name="object 22"/>
            <p:cNvSpPr/>
            <p:nvPr/>
          </p:nvSpPr>
          <p:spPr>
            <a:xfrm>
              <a:off x="1152873" y="2878892"/>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23" name="object 23"/>
            <p:cNvSpPr/>
            <p:nvPr/>
          </p:nvSpPr>
          <p:spPr>
            <a:xfrm>
              <a:off x="1152873" y="2878892"/>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24" name="object 24"/>
            <p:cNvSpPr/>
            <p:nvPr/>
          </p:nvSpPr>
          <p:spPr>
            <a:xfrm>
              <a:off x="1351648" y="2845765"/>
              <a:ext cx="199390" cy="132715"/>
            </a:xfrm>
            <a:custGeom>
              <a:avLst/>
              <a:gdLst/>
              <a:ahLst/>
              <a:cxnLst/>
              <a:rect l="l" t="t" r="r" b="b"/>
              <a:pathLst>
                <a:path w="199390" h="132714">
                  <a:moveTo>
                    <a:pt x="33134" y="0"/>
                  </a:moveTo>
                  <a:lnTo>
                    <a:pt x="0" y="0"/>
                  </a:lnTo>
                  <a:lnTo>
                    <a:pt x="0" y="132524"/>
                  </a:lnTo>
                  <a:lnTo>
                    <a:pt x="33134" y="132524"/>
                  </a:lnTo>
                  <a:lnTo>
                    <a:pt x="33134" y="0"/>
                  </a:lnTo>
                  <a:close/>
                </a:path>
                <a:path w="199390" h="132714">
                  <a:moveTo>
                    <a:pt x="198793" y="0"/>
                  </a:moveTo>
                  <a:lnTo>
                    <a:pt x="165658" y="0"/>
                  </a:lnTo>
                  <a:lnTo>
                    <a:pt x="165658" y="132524"/>
                  </a:lnTo>
                  <a:lnTo>
                    <a:pt x="198793" y="132524"/>
                  </a:lnTo>
                  <a:lnTo>
                    <a:pt x="198793" y="0"/>
                  </a:lnTo>
                  <a:close/>
                </a:path>
              </a:pathLst>
            </a:custGeom>
            <a:solidFill>
              <a:srgbClr val="808285"/>
            </a:solidFill>
          </p:spPr>
          <p:txBody>
            <a:bodyPr wrap="square" lIns="0" tIns="0" rIns="0" bIns="0" rtlCol="0"/>
            <a:lstStyle/>
            <a:p>
              <a:endParaRPr/>
            </a:p>
          </p:txBody>
        </p:sp>
        <p:sp>
          <p:nvSpPr>
            <p:cNvPr id="25" name="object 25"/>
            <p:cNvSpPr/>
            <p:nvPr/>
          </p:nvSpPr>
          <p:spPr>
            <a:xfrm>
              <a:off x="1351657" y="2845761"/>
              <a:ext cx="199390" cy="132715"/>
            </a:xfrm>
            <a:custGeom>
              <a:avLst/>
              <a:gdLst/>
              <a:ahLst/>
              <a:cxnLst/>
              <a:rect l="l" t="t" r="r" b="b"/>
              <a:pathLst>
                <a:path w="199390" h="132714">
                  <a:moveTo>
                    <a:pt x="0" y="132520"/>
                  </a:moveTo>
                  <a:lnTo>
                    <a:pt x="198784" y="132520"/>
                  </a:lnTo>
                  <a:lnTo>
                    <a:pt x="198784" y="0"/>
                  </a:lnTo>
                  <a:lnTo>
                    <a:pt x="0" y="0"/>
                  </a:lnTo>
                  <a:lnTo>
                    <a:pt x="0" y="132520"/>
                  </a:lnTo>
                  <a:close/>
                </a:path>
              </a:pathLst>
            </a:custGeom>
            <a:ln w="5270">
              <a:solidFill>
                <a:srgbClr val="231F20"/>
              </a:solidFill>
            </a:ln>
          </p:spPr>
          <p:txBody>
            <a:bodyPr wrap="square" lIns="0" tIns="0" rIns="0" bIns="0" rtlCol="0"/>
            <a:lstStyle/>
            <a:p>
              <a:endParaRPr/>
            </a:p>
          </p:txBody>
        </p:sp>
        <p:sp>
          <p:nvSpPr>
            <p:cNvPr id="26" name="object 26"/>
            <p:cNvSpPr/>
            <p:nvPr/>
          </p:nvSpPr>
          <p:spPr>
            <a:xfrm>
              <a:off x="1384788" y="2116881"/>
              <a:ext cx="132715" cy="894715"/>
            </a:xfrm>
            <a:custGeom>
              <a:avLst/>
              <a:gdLst/>
              <a:ahLst/>
              <a:cxnLst/>
              <a:rect l="l" t="t" r="r" b="b"/>
              <a:pathLst>
                <a:path w="132715"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27" name="object 27"/>
            <p:cNvSpPr/>
            <p:nvPr/>
          </p:nvSpPr>
          <p:spPr>
            <a:xfrm>
              <a:off x="1384788" y="2116881"/>
              <a:ext cx="132715" cy="894715"/>
            </a:xfrm>
            <a:custGeom>
              <a:avLst/>
              <a:gdLst/>
              <a:ahLst/>
              <a:cxnLst/>
              <a:rect l="l" t="t" r="r" b="b"/>
              <a:pathLst>
                <a:path w="132715"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28" name="object 28"/>
            <p:cNvSpPr/>
            <p:nvPr/>
          </p:nvSpPr>
          <p:spPr>
            <a:xfrm>
              <a:off x="1417917" y="2183141"/>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29" name="object 29"/>
            <p:cNvSpPr/>
            <p:nvPr/>
          </p:nvSpPr>
          <p:spPr>
            <a:xfrm>
              <a:off x="1417917" y="2183141"/>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30" name="object 30"/>
            <p:cNvSpPr/>
            <p:nvPr/>
          </p:nvSpPr>
          <p:spPr>
            <a:xfrm>
              <a:off x="1417917" y="2415059"/>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31" name="object 31"/>
            <p:cNvSpPr/>
            <p:nvPr/>
          </p:nvSpPr>
          <p:spPr>
            <a:xfrm>
              <a:off x="1417917" y="2415059"/>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32" name="object 32"/>
            <p:cNvSpPr/>
            <p:nvPr/>
          </p:nvSpPr>
          <p:spPr>
            <a:xfrm>
              <a:off x="1417917" y="2646973"/>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33" name="object 33"/>
            <p:cNvSpPr/>
            <p:nvPr/>
          </p:nvSpPr>
          <p:spPr>
            <a:xfrm>
              <a:off x="1417917" y="2646973"/>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34" name="object 34"/>
            <p:cNvSpPr/>
            <p:nvPr/>
          </p:nvSpPr>
          <p:spPr>
            <a:xfrm>
              <a:off x="1417917" y="2878892"/>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35" name="object 35"/>
            <p:cNvSpPr/>
            <p:nvPr/>
          </p:nvSpPr>
          <p:spPr>
            <a:xfrm>
              <a:off x="1417917" y="2878892"/>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36" name="object 36"/>
            <p:cNvSpPr/>
            <p:nvPr/>
          </p:nvSpPr>
          <p:spPr>
            <a:xfrm>
              <a:off x="1616697" y="2613850"/>
              <a:ext cx="464184" cy="132715"/>
            </a:xfrm>
            <a:custGeom>
              <a:avLst/>
              <a:gdLst/>
              <a:ahLst/>
              <a:cxnLst/>
              <a:rect l="l" t="t" r="r" b="b"/>
              <a:pathLst>
                <a:path w="464185" h="132714">
                  <a:moveTo>
                    <a:pt x="33134" y="0"/>
                  </a:moveTo>
                  <a:lnTo>
                    <a:pt x="0" y="0"/>
                  </a:lnTo>
                  <a:lnTo>
                    <a:pt x="0" y="132524"/>
                  </a:lnTo>
                  <a:lnTo>
                    <a:pt x="33134" y="132524"/>
                  </a:lnTo>
                  <a:lnTo>
                    <a:pt x="33134" y="0"/>
                  </a:lnTo>
                  <a:close/>
                </a:path>
                <a:path w="464185" h="132714">
                  <a:moveTo>
                    <a:pt x="298183" y="0"/>
                  </a:moveTo>
                  <a:lnTo>
                    <a:pt x="165658" y="0"/>
                  </a:lnTo>
                  <a:lnTo>
                    <a:pt x="165658" y="132524"/>
                  </a:lnTo>
                  <a:lnTo>
                    <a:pt x="298183" y="132524"/>
                  </a:lnTo>
                  <a:lnTo>
                    <a:pt x="298183" y="0"/>
                  </a:lnTo>
                  <a:close/>
                </a:path>
                <a:path w="464185" h="132714">
                  <a:moveTo>
                    <a:pt x="463829" y="0"/>
                  </a:moveTo>
                  <a:lnTo>
                    <a:pt x="430707" y="0"/>
                  </a:lnTo>
                  <a:lnTo>
                    <a:pt x="430707" y="132524"/>
                  </a:lnTo>
                  <a:lnTo>
                    <a:pt x="463829" y="132524"/>
                  </a:lnTo>
                  <a:lnTo>
                    <a:pt x="463829" y="0"/>
                  </a:lnTo>
                  <a:close/>
                </a:path>
              </a:pathLst>
            </a:custGeom>
            <a:solidFill>
              <a:srgbClr val="808285"/>
            </a:solidFill>
          </p:spPr>
          <p:txBody>
            <a:bodyPr wrap="square" lIns="0" tIns="0" rIns="0" bIns="0" rtlCol="0"/>
            <a:lstStyle/>
            <a:p>
              <a:endParaRPr/>
            </a:p>
          </p:txBody>
        </p:sp>
        <p:sp>
          <p:nvSpPr>
            <p:cNvPr id="37" name="object 37"/>
            <p:cNvSpPr/>
            <p:nvPr/>
          </p:nvSpPr>
          <p:spPr>
            <a:xfrm>
              <a:off x="1616705" y="2613843"/>
              <a:ext cx="464184" cy="132715"/>
            </a:xfrm>
            <a:custGeom>
              <a:avLst/>
              <a:gdLst/>
              <a:ahLst/>
              <a:cxnLst/>
              <a:rect l="l" t="t" r="r" b="b"/>
              <a:pathLst>
                <a:path w="464185" h="132714">
                  <a:moveTo>
                    <a:pt x="0" y="132524"/>
                  </a:moveTo>
                  <a:lnTo>
                    <a:pt x="463832" y="132524"/>
                  </a:lnTo>
                  <a:lnTo>
                    <a:pt x="463832" y="0"/>
                  </a:lnTo>
                  <a:lnTo>
                    <a:pt x="0" y="0"/>
                  </a:lnTo>
                  <a:lnTo>
                    <a:pt x="0" y="132524"/>
                  </a:lnTo>
                  <a:close/>
                </a:path>
              </a:pathLst>
            </a:custGeom>
            <a:ln w="5270">
              <a:solidFill>
                <a:srgbClr val="231F20"/>
              </a:solidFill>
            </a:ln>
          </p:spPr>
          <p:txBody>
            <a:bodyPr wrap="square" lIns="0" tIns="0" rIns="0" bIns="0" rtlCol="0"/>
            <a:lstStyle/>
            <a:p>
              <a:endParaRPr/>
            </a:p>
          </p:txBody>
        </p:sp>
        <p:sp>
          <p:nvSpPr>
            <p:cNvPr id="38" name="object 38"/>
            <p:cNvSpPr/>
            <p:nvPr/>
          </p:nvSpPr>
          <p:spPr>
            <a:xfrm>
              <a:off x="1616697" y="2845765"/>
              <a:ext cx="199390" cy="132715"/>
            </a:xfrm>
            <a:custGeom>
              <a:avLst/>
              <a:gdLst/>
              <a:ahLst/>
              <a:cxnLst/>
              <a:rect l="l" t="t" r="r" b="b"/>
              <a:pathLst>
                <a:path w="199389" h="132714">
                  <a:moveTo>
                    <a:pt x="33134" y="0"/>
                  </a:moveTo>
                  <a:lnTo>
                    <a:pt x="0" y="0"/>
                  </a:lnTo>
                  <a:lnTo>
                    <a:pt x="0" y="132524"/>
                  </a:lnTo>
                  <a:lnTo>
                    <a:pt x="33134" y="132524"/>
                  </a:lnTo>
                  <a:lnTo>
                    <a:pt x="33134" y="0"/>
                  </a:lnTo>
                  <a:close/>
                </a:path>
                <a:path w="199389" h="132714">
                  <a:moveTo>
                    <a:pt x="198780" y="0"/>
                  </a:moveTo>
                  <a:lnTo>
                    <a:pt x="165658" y="0"/>
                  </a:lnTo>
                  <a:lnTo>
                    <a:pt x="165658" y="132524"/>
                  </a:lnTo>
                  <a:lnTo>
                    <a:pt x="198780" y="132524"/>
                  </a:lnTo>
                  <a:lnTo>
                    <a:pt x="198780" y="0"/>
                  </a:lnTo>
                  <a:close/>
                </a:path>
              </a:pathLst>
            </a:custGeom>
            <a:solidFill>
              <a:srgbClr val="808285"/>
            </a:solidFill>
          </p:spPr>
          <p:txBody>
            <a:bodyPr wrap="square" lIns="0" tIns="0" rIns="0" bIns="0" rtlCol="0"/>
            <a:lstStyle/>
            <a:p>
              <a:endParaRPr/>
            </a:p>
          </p:txBody>
        </p:sp>
        <p:sp>
          <p:nvSpPr>
            <p:cNvPr id="39" name="object 39"/>
            <p:cNvSpPr/>
            <p:nvPr/>
          </p:nvSpPr>
          <p:spPr>
            <a:xfrm>
              <a:off x="1616705" y="2845761"/>
              <a:ext cx="199390" cy="132715"/>
            </a:xfrm>
            <a:custGeom>
              <a:avLst/>
              <a:gdLst/>
              <a:ahLst/>
              <a:cxnLst/>
              <a:rect l="l" t="t" r="r" b="b"/>
              <a:pathLst>
                <a:path w="199389" h="132714">
                  <a:moveTo>
                    <a:pt x="0" y="132520"/>
                  </a:moveTo>
                  <a:lnTo>
                    <a:pt x="198784" y="132520"/>
                  </a:lnTo>
                  <a:lnTo>
                    <a:pt x="198784" y="0"/>
                  </a:lnTo>
                  <a:lnTo>
                    <a:pt x="0" y="0"/>
                  </a:lnTo>
                  <a:lnTo>
                    <a:pt x="0" y="132520"/>
                  </a:lnTo>
                  <a:close/>
                </a:path>
              </a:pathLst>
            </a:custGeom>
            <a:ln w="5270">
              <a:solidFill>
                <a:srgbClr val="231F20"/>
              </a:solidFill>
            </a:ln>
          </p:spPr>
          <p:txBody>
            <a:bodyPr wrap="square" lIns="0" tIns="0" rIns="0" bIns="0" rtlCol="0"/>
            <a:lstStyle/>
            <a:p>
              <a:endParaRPr/>
            </a:p>
          </p:txBody>
        </p:sp>
        <p:sp>
          <p:nvSpPr>
            <p:cNvPr id="40" name="object 40"/>
            <p:cNvSpPr/>
            <p:nvPr/>
          </p:nvSpPr>
          <p:spPr>
            <a:xfrm>
              <a:off x="1649836" y="2116881"/>
              <a:ext cx="132715" cy="894715"/>
            </a:xfrm>
            <a:custGeom>
              <a:avLst/>
              <a:gdLst/>
              <a:ahLst/>
              <a:cxnLst/>
              <a:rect l="l" t="t" r="r" b="b"/>
              <a:pathLst>
                <a:path w="132714"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41" name="object 41"/>
            <p:cNvSpPr/>
            <p:nvPr/>
          </p:nvSpPr>
          <p:spPr>
            <a:xfrm>
              <a:off x="1649836" y="2116881"/>
              <a:ext cx="132715" cy="894715"/>
            </a:xfrm>
            <a:custGeom>
              <a:avLst/>
              <a:gdLst/>
              <a:ahLst/>
              <a:cxnLst/>
              <a:rect l="l" t="t" r="r" b="b"/>
              <a:pathLst>
                <a:path w="132714"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42" name="object 42"/>
            <p:cNvSpPr/>
            <p:nvPr/>
          </p:nvSpPr>
          <p:spPr>
            <a:xfrm>
              <a:off x="1682966" y="2183141"/>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43" name="object 43"/>
            <p:cNvSpPr/>
            <p:nvPr/>
          </p:nvSpPr>
          <p:spPr>
            <a:xfrm>
              <a:off x="1682966" y="2183141"/>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44" name="object 44"/>
            <p:cNvSpPr/>
            <p:nvPr/>
          </p:nvSpPr>
          <p:spPr>
            <a:xfrm>
              <a:off x="1682966" y="2415059"/>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45" name="object 45"/>
            <p:cNvSpPr/>
            <p:nvPr/>
          </p:nvSpPr>
          <p:spPr>
            <a:xfrm>
              <a:off x="1682966" y="2415059"/>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46" name="object 46"/>
            <p:cNvSpPr/>
            <p:nvPr/>
          </p:nvSpPr>
          <p:spPr>
            <a:xfrm>
              <a:off x="1682966" y="2646973"/>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47" name="object 47"/>
            <p:cNvSpPr/>
            <p:nvPr/>
          </p:nvSpPr>
          <p:spPr>
            <a:xfrm>
              <a:off x="1682966" y="2646973"/>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48" name="object 48"/>
            <p:cNvSpPr/>
            <p:nvPr/>
          </p:nvSpPr>
          <p:spPr>
            <a:xfrm>
              <a:off x="1682966" y="2878892"/>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49" name="object 49"/>
            <p:cNvSpPr/>
            <p:nvPr/>
          </p:nvSpPr>
          <p:spPr>
            <a:xfrm>
              <a:off x="1682966" y="2878892"/>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50" name="object 50"/>
            <p:cNvSpPr/>
            <p:nvPr/>
          </p:nvSpPr>
          <p:spPr>
            <a:xfrm>
              <a:off x="1881746" y="2845765"/>
              <a:ext cx="199390" cy="132715"/>
            </a:xfrm>
            <a:custGeom>
              <a:avLst/>
              <a:gdLst/>
              <a:ahLst/>
              <a:cxnLst/>
              <a:rect l="l" t="t" r="r" b="b"/>
              <a:pathLst>
                <a:path w="199389" h="132714">
                  <a:moveTo>
                    <a:pt x="33134" y="0"/>
                  </a:moveTo>
                  <a:lnTo>
                    <a:pt x="0" y="0"/>
                  </a:lnTo>
                  <a:lnTo>
                    <a:pt x="0" y="132524"/>
                  </a:lnTo>
                  <a:lnTo>
                    <a:pt x="33134" y="132524"/>
                  </a:lnTo>
                  <a:lnTo>
                    <a:pt x="33134" y="0"/>
                  </a:lnTo>
                  <a:close/>
                </a:path>
                <a:path w="199389" h="132714">
                  <a:moveTo>
                    <a:pt x="198780" y="0"/>
                  </a:moveTo>
                  <a:lnTo>
                    <a:pt x="165658" y="0"/>
                  </a:lnTo>
                  <a:lnTo>
                    <a:pt x="165658" y="132524"/>
                  </a:lnTo>
                  <a:lnTo>
                    <a:pt x="198780" y="132524"/>
                  </a:lnTo>
                  <a:lnTo>
                    <a:pt x="198780" y="0"/>
                  </a:lnTo>
                  <a:close/>
                </a:path>
              </a:pathLst>
            </a:custGeom>
            <a:solidFill>
              <a:srgbClr val="808285"/>
            </a:solidFill>
          </p:spPr>
          <p:txBody>
            <a:bodyPr wrap="square" lIns="0" tIns="0" rIns="0" bIns="0" rtlCol="0"/>
            <a:lstStyle/>
            <a:p>
              <a:endParaRPr/>
            </a:p>
          </p:txBody>
        </p:sp>
        <p:sp>
          <p:nvSpPr>
            <p:cNvPr id="51" name="object 51"/>
            <p:cNvSpPr/>
            <p:nvPr/>
          </p:nvSpPr>
          <p:spPr>
            <a:xfrm>
              <a:off x="1881755" y="2845761"/>
              <a:ext cx="199390" cy="132715"/>
            </a:xfrm>
            <a:custGeom>
              <a:avLst/>
              <a:gdLst/>
              <a:ahLst/>
              <a:cxnLst/>
              <a:rect l="l" t="t" r="r" b="b"/>
              <a:pathLst>
                <a:path w="199389" h="132714">
                  <a:moveTo>
                    <a:pt x="0" y="132520"/>
                  </a:moveTo>
                  <a:lnTo>
                    <a:pt x="198784" y="132520"/>
                  </a:lnTo>
                  <a:lnTo>
                    <a:pt x="198784" y="0"/>
                  </a:lnTo>
                  <a:lnTo>
                    <a:pt x="0" y="0"/>
                  </a:lnTo>
                  <a:lnTo>
                    <a:pt x="0" y="132520"/>
                  </a:lnTo>
                  <a:close/>
                </a:path>
              </a:pathLst>
            </a:custGeom>
            <a:ln w="5270">
              <a:solidFill>
                <a:srgbClr val="231F20"/>
              </a:solidFill>
            </a:ln>
          </p:spPr>
          <p:txBody>
            <a:bodyPr wrap="square" lIns="0" tIns="0" rIns="0" bIns="0" rtlCol="0"/>
            <a:lstStyle/>
            <a:p>
              <a:endParaRPr/>
            </a:p>
          </p:txBody>
        </p:sp>
        <p:sp>
          <p:nvSpPr>
            <p:cNvPr id="52" name="object 52"/>
            <p:cNvSpPr/>
            <p:nvPr/>
          </p:nvSpPr>
          <p:spPr>
            <a:xfrm>
              <a:off x="1914885" y="2116881"/>
              <a:ext cx="132715" cy="894715"/>
            </a:xfrm>
            <a:custGeom>
              <a:avLst/>
              <a:gdLst/>
              <a:ahLst/>
              <a:cxnLst/>
              <a:rect l="l" t="t" r="r" b="b"/>
              <a:pathLst>
                <a:path w="132714"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53" name="object 53"/>
            <p:cNvSpPr/>
            <p:nvPr/>
          </p:nvSpPr>
          <p:spPr>
            <a:xfrm>
              <a:off x="1914885" y="2116881"/>
              <a:ext cx="132715" cy="894715"/>
            </a:xfrm>
            <a:custGeom>
              <a:avLst/>
              <a:gdLst/>
              <a:ahLst/>
              <a:cxnLst/>
              <a:rect l="l" t="t" r="r" b="b"/>
              <a:pathLst>
                <a:path w="132714"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54" name="object 54"/>
            <p:cNvSpPr/>
            <p:nvPr/>
          </p:nvSpPr>
          <p:spPr>
            <a:xfrm>
              <a:off x="1948015" y="2183141"/>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55" name="object 55"/>
            <p:cNvSpPr/>
            <p:nvPr/>
          </p:nvSpPr>
          <p:spPr>
            <a:xfrm>
              <a:off x="1948015" y="2183141"/>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56" name="object 56"/>
            <p:cNvSpPr/>
            <p:nvPr/>
          </p:nvSpPr>
          <p:spPr>
            <a:xfrm>
              <a:off x="1948015" y="2415059"/>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57" name="object 57"/>
            <p:cNvSpPr/>
            <p:nvPr/>
          </p:nvSpPr>
          <p:spPr>
            <a:xfrm>
              <a:off x="1948015" y="2415059"/>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58" name="object 58"/>
            <p:cNvSpPr/>
            <p:nvPr/>
          </p:nvSpPr>
          <p:spPr>
            <a:xfrm>
              <a:off x="1948015" y="2646973"/>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59" name="object 59"/>
            <p:cNvSpPr/>
            <p:nvPr/>
          </p:nvSpPr>
          <p:spPr>
            <a:xfrm>
              <a:off x="1948015" y="2646973"/>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60" name="object 60"/>
            <p:cNvSpPr/>
            <p:nvPr/>
          </p:nvSpPr>
          <p:spPr>
            <a:xfrm>
              <a:off x="1948015" y="2878892"/>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61" name="object 61"/>
            <p:cNvSpPr/>
            <p:nvPr/>
          </p:nvSpPr>
          <p:spPr>
            <a:xfrm>
              <a:off x="1948015" y="2878892"/>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62" name="object 62"/>
            <p:cNvSpPr/>
            <p:nvPr/>
          </p:nvSpPr>
          <p:spPr>
            <a:xfrm>
              <a:off x="2146795" y="2381935"/>
              <a:ext cx="1259205" cy="132715"/>
            </a:xfrm>
            <a:custGeom>
              <a:avLst/>
              <a:gdLst/>
              <a:ahLst/>
              <a:cxnLst/>
              <a:rect l="l" t="t" r="r" b="b"/>
              <a:pathLst>
                <a:path w="1259204" h="132714">
                  <a:moveTo>
                    <a:pt x="33121" y="0"/>
                  </a:moveTo>
                  <a:lnTo>
                    <a:pt x="0" y="0"/>
                  </a:lnTo>
                  <a:lnTo>
                    <a:pt x="0" y="132524"/>
                  </a:lnTo>
                  <a:lnTo>
                    <a:pt x="33121" y="132524"/>
                  </a:lnTo>
                  <a:lnTo>
                    <a:pt x="33121" y="0"/>
                  </a:lnTo>
                  <a:close/>
                </a:path>
                <a:path w="1259204" h="132714">
                  <a:moveTo>
                    <a:pt x="298183" y="0"/>
                  </a:moveTo>
                  <a:lnTo>
                    <a:pt x="165646" y="0"/>
                  </a:lnTo>
                  <a:lnTo>
                    <a:pt x="165646" y="132524"/>
                  </a:lnTo>
                  <a:lnTo>
                    <a:pt x="298183" y="132524"/>
                  </a:lnTo>
                  <a:lnTo>
                    <a:pt x="298183" y="0"/>
                  </a:lnTo>
                  <a:close/>
                </a:path>
                <a:path w="1259204" h="132714">
                  <a:moveTo>
                    <a:pt x="563219" y="0"/>
                  </a:moveTo>
                  <a:lnTo>
                    <a:pt x="430707" y="0"/>
                  </a:lnTo>
                  <a:lnTo>
                    <a:pt x="430707" y="132524"/>
                  </a:lnTo>
                  <a:lnTo>
                    <a:pt x="563219" y="132524"/>
                  </a:lnTo>
                  <a:lnTo>
                    <a:pt x="563219" y="0"/>
                  </a:lnTo>
                  <a:close/>
                </a:path>
                <a:path w="1259204" h="132714">
                  <a:moveTo>
                    <a:pt x="828281" y="0"/>
                  </a:moveTo>
                  <a:lnTo>
                    <a:pt x="695744" y="0"/>
                  </a:lnTo>
                  <a:lnTo>
                    <a:pt x="695744" y="132524"/>
                  </a:lnTo>
                  <a:lnTo>
                    <a:pt x="828281" y="132524"/>
                  </a:lnTo>
                  <a:lnTo>
                    <a:pt x="828281" y="0"/>
                  </a:lnTo>
                  <a:close/>
                </a:path>
                <a:path w="1259204" h="132714">
                  <a:moveTo>
                    <a:pt x="1093317" y="0"/>
                  </a:moveTo>
                  <a:lnTo>
                    <a:pt x="960805" y="0"/>
                  </a:lnTo>
                  <a:lnTo>
                    <a:pt x="960805" y="132524"/>
                  </a:lnTo>
                  <a:lnTo>
                    <a:pt x="1093317" y="132524"/>
                  </a:lnTo>
                  <a:lnTo>
                    <a:pt x="1093317" y="0"/>
                  </a:lnTo>
                  <a:close/>
                </a:path>
                <a:path w="1259204" h="132714">
                  <a:moveTo>
                    <a:pt x="1258976" y="0"/>
                  </a:moveTo>
                  <a:lnTo>
                    <a:pt x="1225842" y="0"/>
                  </a:lnTo>
                  <a:lnTo>
                    <a:pt x="1225842" y="132524"/>
                  </a:lnTo>
                  <a:lnTo>
                    <a:pt x="1258976" y="132524"/>
                  </a:lnTo>
                  <a:lnTo>
                    <a:pt x="1258976" y="0"/>
                  </a:lnTo>
                  <a:close/>
                </a:path>
              </a:pathLst>
            </a:custGeom>
            <a:solidFill>
              <a:srgbClr val="808285"/>
            </a:solidFill>
          </p:spPr>
          <p:txBody>
            <a:bodyPr wrap="square" lIns="0" tIns="0" rIns="0" bIns="0" rtlCol="0"/>
            <a:lstStyle/>
            <a:p>
              <a:endParaRPr/>
            </a:p>
          </p:txBody>
        </p:sp>
        <p:sp>
          <p:nvSpPr>
            <p:cNvPr id="63" name="object 63"/>
            <p:cNvSpPr/>
            <p:nvPr/>
          </p:nvSpPr>
          <p:spPr>
            <a:xfrm>
              <a:off x="2146797" y="2381925"/>
              <a:ext cx="1259205" cy="132715"/>
            </a:xfrm>
            <a:custGeom>
              <a:avLst/>
              <a:gdLst/>
              <a:ahLst/>
              <a:cxnLst/>
              <a:rect l="l" t="t" r="r" b="b"/>
              <a:pathLst>
                <a:path w="1259204" h="132714">
                  <a:moveTo>
                    <a:pt x="0" y="132524"/>
                  </a:moveTo>
                  <a:lnTo>
                    <a:pt x="1258974" y="132524"/>
                  </a:lnTo>
                  <a:lnTo>
                    <a:pt x="1258974" y="0"/>
                  </a:lnTo>
                  <a:lnTo>
                    <a:pt x="0" y="0"/>
                  </a:lnTo>
                  <a:lnTo>
                    <a:pt x="0" y="132524"/>
                  </a:lnTo>
                  <a:close/>
                </a:path>
              </a:pathLst>
            </a:custGeom>
            <a:ln w="5270">
              <a:solidFill>
                <a:srgbClr val="231F20"/>
              </a:solidFill>
            </a:ln>
          </p:spPr>
          <p:txBody>
            <a:bodyPr wrap="square" lIns="0" tIns="0" rIns="0" bIns="0" rtlCol="0"/>
            <a:lstStyle/>
            <a:p>
              <a:endParaRPr/>
            </a:p>
          </p:txBody>
        </p:sp>
        <p:sp>
          <p:nvSpPr>
            <p:cNvPr id="64" name="object 64"/>
            <p:cNvSpPr/>
            <p:nvPr/>
          </p:nvSpPr>
          <p:spPr>
            <a:xfrm>
              <a:off x="2146795" y="2613850"/>
              <a:ext cx="728980" cy="132715"/>
            </a:xfrm>
            <a:custGeom>
              <a:avLst/>
              <a:gdLst/>
              <a:ahLst/>
              <a:cxnLst/>
              <a:rect l="l" t="t" r="r" b="b"/>
              <a:pathLst>
                <a:path w="728980" h="132714">
                  <a:moveTo>
                    <a:pt x="33121" y="0"/>
                  </a:moveTo>
                  <a:lnTo>
                    <a:pt x="0" y="0"/>
                  </a:lnTo>
                  <a:lnTo>
                    <a:pt x="0" y="132524"/>
                  </a:lnTo>
                  <a:lnTo>
                    <a:pt x="33121" y="132524"/>
                  </a:lnTo>
                  <a:lnTo>
                    <a:pt x="33121" y="0"/>
                  </a:lnTo>
                  <a:close/>
                </a:path>
                <a:path w="728980" h="132714">
                  <a:moveTo>
                    <a:pt x="298183" y="0"/>
                  </a:moveTo>
                  <a:lnTo>
                    <a:pt x="165646" y="0"/>
                  </a:lnTo>
                  <a:lnTo>
                    <a:pt x="165646" y="132524"/>
                  </a:lnTo>
                  <a:lnTo>
                    <a:pt x="298183" y="132524"/>
                  </a:lnTo>
                  <a:lnTo>
                    <a:pt x="298183" y="0"/>
                  </a:lnTo>
                  <a:close/>
                </a:path>
                <a:path w="728980" h="132714">
                  <a:moveTo>
                    <a:pt x="563219" y="0"/>
                  </a:moveTo>
                  <a:lnTo>
                    <a:pt x="430707" y="0"/>
                  </a:lnTo>
                  <a:lnTo>
                    <a:pt x="430707" y="132524"/>
                  </a:lnTo>
                  <a:lnTo>
                    <a:pt x="563219" y="132524"/>
                  </a:lnTo>
                  <a:lnTo>
                    <a:pt x="563219" y="0"/>
                  </a:lnTo>
                  <a:close/>
                </a:path>
                <a:path w="728980" h="132714">
                  <a:moveTo>
                    <a:pt x="728878" y="0"/>
                  </a:moveTo>
                  <a:lnTo>
                    <a:pt x="695744" y="0"/>
                  </a:lnTo>
                  <a:lnTo>
                    <a:pt x="695744" y="132524"/>
                  </a:lnTo>
                  <a:lnTo>
                    <a:pt x="728878" y="132524"/>
                  </a:lnTo>
                  <a:lnTo>
                    <a:pt x="728878" y="0"/>
                  </a:lnTo>
                  <a:close/>
                </a:path>
              </a:pathLst>
            </a:custGeom>
            <a:solidFill>
              <a:srgbClr val="808285"/>
            </a:solidFill>
          </p:spPr>
          <p:txBody>
            <a:bodyPr wrap="square" lIns="0" tIns="0" rIns="0" bIns="0" rtlCol="0"/>
            <a:lstStyle/>
            <a:p>
              <a:endParaRPr/>
            </a:p>
          </p:txBody>
        </p:sp>
        <p:sp>
          <p:nvSpPr>
            <p:cNvPr id="65" name="object 65"/>
            <p:cNvSpPr/>
            <p:nvPr/>
          </p:nvSpPr>
          <p:spPr>
            <a:xfrm>
              <a:off x="2146797" y="2613843"/>
              <a:ext cx="728980" cy="132715"/>
            </a:xfrm>
            <a:custGeom>
              <a:avLst/>
              <a:gdLst/>
              <a:ahLst/>
              <a:cxnLst/>
              <a:rect l="l" t="t" r="r" b="b"/>
              <a:pathLst>
                <a:path w="728980" h="132714">
                  <a:moveTo>
                    <a:pt x="0" y="132524"/>
                  </a:moveTo>
                  <a:lnTo>
                    <a:pt x="728881" y="132524"/>
                  </a:lnTo>
                  <a:lnTo>
                    <a:pt x="728881" y="0"/>
                  </a:lnTo>
                  <a:lnTo>
                    <a:pt x="0" y="0"/>
                  </a:lnTo>
                  <a:lnTo>
                    <a:pt x="0" y="132524"/>
                  </a:lnTo>
                  <a:close/>
                </a:path>
              </a:pathLst>
            </a:custGeom>
            <a:ln w="5270">
              <a:solidFill>
                <a:srgbClr val="231F20"/>
              </a:solidFill>
            </a:ln>
          </p:spPr>
          <p:txBody>
            <a:bodyPr wrap="square" lIns="0" tIns="0" rIns="0" bIns="0" rtlCol="0"/>
            <a:lstStyle/>
            <a:p>
              <a:endParaRPr/>
            </a:p>
          </p:txBody>
        </p:sp>
        <p:sp>
          <p:nvSpPr>
            <p:cNvPr id="66" name="object 66"/>
            <p:cNvSpPr/>
            <p:nvPr/>
          </p:nvSpPr>
          <p:spPr>
            <a:xfrm>
              <a:off x="2146795" y="2845765"/>
              <a:ext cx="468630" cy="132715"/>
            </a:xfrm>
            <a:custGeom>
              <a:avLst/>
              <a:gdLst/>
              <a:ahLst/>
              <a:cxnLst/>
              <a:rect l="l" t="t" r="r" b="b"/>
              <a:pathLst>
                <a:path w="468630" h="132714">
                  <a:moveTo>
                    <a:pt x="33121" y="0"/>
                  </a:moveTo>
                  <a:lnTo>
                    <a:pt x="0" y="0"/>
                  </a:lnTo>
                  <a:lnTo>
                    <a:pt x="0" y="132524"/>
                  </a:lnTo>
                  <a:lnTo>
                    <a:pt x="33121" y="132524"/>
                  </a:lnTo>
                  <a:lnTo>
                    <a:pt x="33121" y="0"/>
                  </a:lnTo>
                  <a:close/>
                </a:path>
                <a:path w="468630" h="132714">
                  <a:moveTo>
                    <a:pt x="298183" y="0"/>
                  </a:moveTo>
                  <a:lnTo>
                    <a:pt x="165646" y="0"/>
                  </a:lnTo>
                  <a:lnTo>
                    <a:pt x="165646" y="132524"/>
                  </a:lnTo>
                  <a:lnTo>
                    <a:pt x="298183" y="132524"/>
                  </a:lnTo>
                  <a:lnTo>
                    <a:pt x="298183" y="0"/>
                  </a:lnTo>
                  <a:close/>
                </a:path>
                <a:path w="468630" h="132714">
                  <a:moveTo>
                    <a:pt x="468350" y="0"/>
                  </a:moveTo>
                  <a:lnTo>
                    <a:pt x="430707" y="0"/>
                  </a:lnTo>
                  <a:lnTo>
                    <a:pt x="430707" y="132524"/>
                  </a:lnTo>
                  <a:lnTo>
                    <a:pt x="468350" y="132524"/>
                  </a:lnTo>
                  <a:lnTo>
                    <a:pt x="468350" y="0"/>
                  </a:lnTo>
                  <a:close/>
                </a:path>
              </a:pathLst>
            </a:custGeom>
            <a:solidFill>
              <a:srgbClr val="808285"/>
            </a:solidFill>
          </p:spPr>
          <p:txBody>
            <a:bodyPr wrap="square" lIns="0" tIns="0" rIns="0" bIns="0" rtlCol="0"/>
            <a:lstStyle/>
            <a:p>
              <a:endParaRPr/>
            </a:p>
          </p:txBody>
        </p:sp>
        <p:sp>
          <p:nvSpPr>
            <p:cNvPr id="67" name="object 67"/>
            <p:cNvSpPr/>
            <p:nvPr/>
          </p:nvSpPr>
          <p:spPr>
            <a:xfrm>
              <a:off x="2146797" y="2845761"/>
              <a:ext cx="468630" cy="132715"/>
            </a:xfrm>
            <a:custGeom>
              <a:avLst/>
              <a:gdLst/>
              <a:ahLst/>
              <a:cxnLst/>
              <a:rect l="l" t="t" r="r" b="b"/>
              <a:pathLst>
                <a:path w="468630" h="132714">
                  <a:moveTo>
                    <a:pt x="0" y="132520"/>
                  </a:moveTo>
                  <a:lnTo>
                    <a:pt x="468353" y="132520"/>
                  </a:lnTo>
                  <a:lnTo>
                    <a:pt x="468353" y="0"/>
                  </a:lnTo>
                  <a:lnTo>
                    <a:pt x="0" y="0"/>
                  </a:lnTo>
                  <a:lnTo>
                    <a:pt x="0" y="132520"/>
                  </a:lnTo>
                  <a:close/>
                </a:path>
              </a:pathLst>
            </a:custGeom>
            <a:ln w="5270">
              <a:solidFill>
                <a:srgbClr val="231F20"/>
              </a:solidFill>
            </a:ln>
          </p:spPr>
          <p:txBody>
            <a:bodyPr wrap="square" lIns="0" tIns="0" rIns="0" bIns="0" rtlCol="0"/>
            <a:lstStyle/>
            <a:p>
              <a:endParaRPr/>
            </a:p>
          </p:txBody>
        </p:sp>
        <p:sp>
          <p:nvSpPr>
            <p:cNvPr id="68" name="object 68"/>
            <p:cNvSpPr/>
            <p:nvPr/>
          </p:nvSpPr>
          <p:spPr>
            <a:xfrm>
              <a:off x="2179928" y="2116881"/>
              <a:ext cx="132715" cy="894715"/>
            </a:xfrm>
            <a:custGeom>
              <a:avLst/>
              <a:gdLst/>
              <a:ahLst/>
              <a:cxnLst/>
              <a:rect l="l" t="t" r="r" b="b"/>
              <a:pathLst>
                <a:path w="132714" h="894714">
                  <a:moveTo>
                    <a:pt x="132520" y="0"/>
                  </a:moveTo>
                  <a:lnTo>
                    <a:pt x="0" y="0"/>
                  </a:lnTo>
                  <a:lnTo>
                    <a:pt x="0" y="894535"/>
                  </a:lnTo>
                  <a:lnTo>
                    <a:pt x="132520" y="894535"/>
                  </a:lnTo>
                  <a:lnTo>
                    <a:pt x="132520" y="0"/>
                  </a:lnTo>
                  <a:close/>
                </a:path>
              </a:pathLst>
            </a:custGeom>
            <a:solidFill>
              <a:srgbClr val="BBBDC0"/>
            </a:solidFill>
          </p:spPr>
          <p:txBody>
            <a:bodyPr wrap="square" lIns="0" tIns="0" rIns="0" bIns="0" rtlCol="0"/>
            <a:lstStyle/>
            <a:p>
              <a:endParaRPr/>
            </a:p>
          </p:txBody>
        </p:sp>
        <p:sp>
          <p:nvSpPr>
            <p:cNvPr id="69" name="object 69"/>
            <p:cNvSpPr/>
            <p:nvPr/>
          </p:nvSpPr>
          <p:spPr>
            <a:xfrm>
              <a:off x="2179928" y="2116881"/>
              <a:ext cx="132715" cy="894715"/>
            </a:xfrm>
            <a:custGeom>
              <a:avLst/>
              <a:gdLst/>
              <a:ahLst/>
              <a:cxnLst/>
              <a:rect l="l" t="t" r="r" b="b"/>
              <a:pathLst>
                <a:path w="132714" h="894714">
                  <a:moveTo>
                    <a:pt x="0" y="894535"/>
                  </a:moveTo>
                  <a:lnTo>
                    <a:pt x="132520" y="894535"/>
                  </a:lnTo>
                  <a:lnTo>
                    <a:pt x="132520" y="0"/>
                  </a:lnTo>
                  <a:lnTo>
                    <a:pt x="0" y="0"/>
                  </a:lnTo>
                  <a:lnTo>
                    <a:pt x="0" y="894535"/>
                  </a:lnTo>
                  <a:close/>
                </a:path>
              </a:pathLst>
            </a:custGeom>
            <a:ln w="5270">
              <a:solidFill>
                <a:srgbClr val="231F20"/>
              </a:solidFill>
            </a:ln>
          </p:spPr>
          <p:txBody>
            <a:bodyPr wrap="square" lIns="0" tIns="0" rIns="0" bIns="0" rtlCol="0"/>
            <a:lstStyle/>
            <a:p>
              <a:endParaRPr/>
            </a:p>
          </p:txBody>
        </p:sp>
        <p:sp>
          <p:nvSpPr>
            <p:cNvPr id="70" name="object 70"/>
            <p:cNvSpPr/>
            <p:nvPr/>
          </p:nvSpPr>
          <p:spPr>
            <a:xfrm>
              <a:off x="2213058" y="2183141"/>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71" name="object 71"/>
            <p:cNvSpPr/>
            <p:nvPr/>
          </p:nvSpPr>
          <p:spPr>
            <a:xfrm>
              <a:off x="2213058" y="2183141"/>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72" name="object 72"/>
            <p:cNvSpPr/>
            <p:nvPr/>
          </p:nvSpPr>
          <p:spPr>
            <a:xfrm>
              <a:off x="2213058" y="2415059"/>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73" name="object 73"/>
            <p:cNvSpPr/>
            <p:nvPr/>
          </p:nvSpPr>
          <p:spPr>
            <a:xfrm>
              <a:off x="2213058" y="2415059"/>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74" name="object 74"/>
            <p:cNvSpPr/>
            <p:nvPr/>
          </p:nvSpPr>
          <p:spPr>
            <a:xfrm>
              <a:off x="2213058" y="2646973"/>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75" name="object 75"/>
            <p:cNvSpPr/>
            <p:nvPr/>
          </p:nvSpPr>
          <p:spPr>
            <a:xfrm>
              <a:off x="2213058" y="2646973"/>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76" name="object 76"/>
            <p:cNvSpPr/>
            <p:nvPr/>
          </p:nvSpPr>
          <p:spPr>
            <a:xfrm>
              <a:off x="2213058" y="2878892"/>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77" name="object 77"/>
            <p:cNvSpPr/>
            <p:nvPr/>
          </p:nvSpPr>
          <p:spPr>
            <a:xfrm>
              <a:off x="2213058" y="2878892"/>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78" name="object 78"/>
            <p:cNvSpPr/>
            <p:nvPr/>
          </p:nvSpPr>
          <p:spPr>
            <a:xfrm>
              <a:off x="2444981" y="2116881"/>
              <a:ext cx="132715" cy="894715"/>
            </a:xfrm>
            <a:custGeom>
              <a:avLst/>
              <a:gdLst/>
              <a:ahLst/>
              <a:cxnLst/>
              <a:rect l="l" t="t" r="r" b="b"/>
              <a:pathLst>
                <a:path w="132714"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79" name="object 79"/>
            <p:cNvSpPr/>
            <p:nvPr/>
          </p:nvSpPr>
          <p:spPr>
            <a:xfrm>
              <a:off x="2444981" y="2116881"/>
              <a:ext cx="132715" cy="894715"/>
            </a:xfrm>
            <a:custGeom>
              <a:avLst/>
              <a:gdLst/>
              <a:ahLst/>
              <a:cxnLst/>
              <a:rect l="l" t="t" r="r" b="b"/>
              <a:pathLst>
                <a:path w="132714"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80" name="object 80"/>
            <p:cNvSpPr/>
            <p:nvPr/>
          </p:nvSpPr>
          <p:spPr>
            <a:xfrm>
              <a:off x="2478112" y="2183141"/>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81" name="object 81"/>
            <p:cNvSpPr/>
            <p:nvPr/>
          </p:nvSpPr>
          <p:spPr>
            <a:xfrm>
              <a:off x="2478112" y="2183141"/>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82" name="object 82"/>
            <p:cNvSpPr/>
            <p:nvPr/>
          </p:nvSpPr>
          <p:spPr>
            <a:xfrm>
              <a:off x="2478112" y="2415059"/>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83" name="object 83"/>
            <p:cNvSpPr/>
            <p:nvPr/>
          </p:nvSpPr>
          <p:spPr>
            <a:xfrm>
              <a:off x="2478112" y="2415059"/>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84" name="object 84"/>
            <p:cNvSpPr/>
            <p:nvPr/>
          </p:nvSpPr>
          <p:spPr>
            <a:xfrm>
              <a:off x="2478112" y="2646973"/>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85" name="object 85"/>
            <p:cNvSpPr/>
            <p:nvPr/>
          </p:nvSpPr>
          <p:spPr>
            <a:xfrm>
              <a:off x="2478112" y="2646973"/>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86" name="object 86"/>
            <p:cNvSpPr/>
            <p:nvPr/>
          </p:nvSpPr>
          <p:spPr>
            <a:xfrm>
              <a:off x="2478112" y="2878892"/>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87" name="object 87"/>
            <p:cNvSpPr/>
            <p:nvPr/>
          </p:nvSpPr>
          <p:spPr>
            <a:xfrm>
              <a:off x="2478112" y="2878892"/>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88" name="object 88"/>
            <p:cNvSpPr/>
            <p:nvPr/>
          </p:nvSpPr>
          <p:spPr>
            <a:xfrm>
              <a:off x="2941942" y="2613850"/>
              <a:ext cx="464184" cy="132715"/>
            </a:xfrm>
            <a:custGeom>
              <a:avLst/>
              <a:gdLst/>
              <a:ahLst/>
              <a:cxnLst/>
              <a:rect l="l" t="t" r="r" b="b"/>
              <a:pathLst>
                <a:path w="464185" h="132714">
                  <a:moveTo>
                    <a:pt x="33134" y="0"/>
                  </a:moveTo>
                  <a:lnTo>
                    <a:pt x="0" y="0"/>
                  </a:lnTo>
                  <a:lnTo>
                    <a:pt x="0" y="132524"/>
                  </a:lnTo>
                  <a:lnTo>
                    <a:pt x="33134" y="132524"/>
                  </a:lnTo>
                  <a:lnTo>
                    <a:pt x="33134" y="0"/>
                  </a:lnTo>
                  <a:close/>
                </a:path>
                <a:path w="464185" h="132714">
                  <a:moveTo>
                    <a:pt x="298170" y="0"/>
                  </a:moveTo>
                  <a:lnTo>
                    <a:pt x="165658" y="0"/>
                  </a:lnTo>
                  <a:lnTo>
                    <a:pt x="165658" y="132524"/>
                  </a:lnTo>
                  <a:lnTo>
                    <a:pt x="298170" y="132524"/>
                  </a:lnTo>
                  <a:lnTo>
                    <a:pt x="298170" y="0"/>
                  </a:lnTo>
                  <a:close/>
                </a:path>
                <a:path w="464185" h="132714">
                  <a:moveTo>
                    <a:pt x="463829" y="0"/>
                  </a:moveTo>
                  <a:lnTo>
                    <a:pt x="430695" y="0"/>
                  </a:lnTo>
                  <a:lnTo>
                    <a:pt x="430695" y="132524"/>
                  </a:lnTo>
                  <a:lnTo>
                    <a:pt x="463829" y="132524"/>
                  </a:lnTo>
                  <a:lnTo>
                    <a:pt x="463829" y="0"/>
                  </a:lnTo>
                  <a:close/>
                </a:path>
              </a:pathLst>
            </a:custGeom>
            <a:solidFill>
              <a:srgbClr val="808285"/>
            </a:solidFill>
          </p:spPr>
          <p:txBody>
            <a:bodyPr wrap="square" lIns="0" tIns="0" rIns="0" bIns="0" rtlCol="0"/>
            <a:lstStyle/>
            <a:p>
              <a:endParaRPr/>
            </a:p>
          </p:txBody>
        </p:sp>
        <p:sp>
          <p:nvSpPr>
            <p:cNvPr id="89" name="object 89"/>
            <p:cNvSpPr/>
            <p:nvPr/>
          </p:nvSpPr>
          <p:spPr>
            <a:xfrm>
              <a:off x="2941947" y="2613843"/>
              <a:ext cx="464184" cy="132715"/>
            </a:xfrm>
            <a:custGeom>
              <a:avLst/>
              <a:gdLst/>
              <a:ahLst/>
              <a:cxnLst/>
              <a:rect l="l" t="t" r="r" b="b"/>
              <a:pathLst>
                <a:path w="464185" h="132714">
                  <a:moveTo>
                    <a:pt x="0" y="132524"/>
                  </a:moveTo>
                  <a:lnTo>
                    <a:pt x="463832" y="132524"/>
                  </a:lnTo>
                  <a:lnTo>
                    <a:pt x="463832" y="0"/>
                  </a:lnTo>
                  <a:lnTo>
                    <a:pt x="0" y="0"/>
                  </a:lnTo>
                  <a:lnTo>
                    <a:pt x="0" y="132524"/>
                  </a:lnTo>
                  <a:close/>
                </a:path>
              </a:pathLst>
            </a:custGeom>
            <a:ln w="5270">
              <a:solidFill>
                <a:srgbClr val="231F20"/>
              </a:solidFill>
            </a:ln>
          </p:spPr>
          <p:txBody>
            <a:bodyPr wrap="square" lIns="0" tIns="0" rIns="0" bIns="0" rtlCol="0"/>
            <a:lstStyle/>
            <a:p>
              <a:endParaRPr/>
            </a:p>
          </p:txBody>
        </p:sp>
        <p:sp>
          <p:nvSpPr>
            <p:cNvPr id="90" name="object 90"/>
            <p:cNvSpPr/>
            <p:nvPr/>
          </p:nvSpPr>
          <p:spPr>
            <a:xfrm>
              <a:off x="2941942" y="2845765"/>
              <a:ext cx="199390" cy="132715"/>
            </a:xfrm>
            <a:custGeom>
              <a:avLst/>
              <a:gdLst/>
              <a:ahLst/>
              <a:cxnLst/>
              <a:rect l="l" t="t" r="r" b="b"/>
              <a:pathLst>
                <a:path w="199389" h="132714">
                  <a:moveTo>
                    <a:pt x="33134" y="0"/>
                  </a:moveTo>
                  <a:lnTo>
                    <a:pt x="0" y="0"/>
                  </a:lnTo>
                  <a:lnTo>
                    <a:pt x="0" y="132524"/>
                  </a:lnTo>
                  <a:lnTo>
                    <a:pt x="33134" y="132524"/>
                  </a:lnTo>
                  <a:lnTo>
                    <a:pt x="33134" y="0"/>
                  </a:lnTo>
                  <a:close/>
                </a:path>
                <a:path w="199389" h="132714">
                  <a:moveTo>
                    <a:pt x="198780" y="0"/>
                  </a:moveTo>
                  <a:lnTo>
                    <a:pt x="165658" y="0"/>
                  </a:lnTo>
                  <a:lnTo>
                    <a:pt x="165658" y="132524"/>
                  </a:lnTo>
                  <a:lnTo>
                    <a:pt x="198780" y="132524"/>
                  </a:lnTo>
                  <a:lnTo>
                    <a:pt x="198780" y="0"/>
                  </a:lnTo>
                  <a:close/>
                </a:path>
              </a:pathLst>
            </a:custGeom>
            <a:solidFill>
              <a:srgbClr val="808285"/>
            </a:solidFill>
          </p:spPr>
          <p:txBody>
            <a:bodyPr wrap="square" lIns="0" tIns="0" rIns="0" bIns="0" rtlCol="0"/>
            <a:lstStyle/>
            <a:p>
              <a:endParaRPr/>
            </a:p>
          </p:txBody>
        </p:sp>
        <p:sp>
          <p:nvSpPr>
            <p:cNvPr id="91" name="object 91"/>
            <p:cNvSpPr/>
            <p:nvPr/>
          </p:nvSpPr>
          <p:spPr>
            <a:xfrm>
              <a:off x="2941947" y="2845761"/>
              <a:ext cx="199390" cy="132715"/>
            </a:xfrm>
            <a:custGeom>
              <a:avLst/>
              <a:gdLst/>
              <a:ahLst/>
              <a:cxnLst/>
              <a:rect l="l" t="t" r="r" b="b"/>
              <a:pathLst>
                <a:path w="199389" h="132714">
                  <a:moveTo>
                    <a:pt x="0" y="132520"/>
                  </a:moveTo>
                  <a:lnTo>
                    <a:pt x="198784" y="132520"/>
                  </a:lnTo>
                  <a:lnTo>
                    <a:pt x="198784" y="0"/>
                  </a:lnTo>
                  <a:lnTo>
                    <a:pt x="0" y="0"/>
                  </a:lnTo>
                  <a:lnTo>
                    <a:pt x="0" y="132520"/>
                  </a:lnTo>
                  <a:close/>
                </a:path>
              </a:pathLst>
            </a:custGeom>
            <a:ln w="5270">
              <a:solidFill>
                <a:srgbClr val="231F20"/>
              </a:solidFill>
            </a:ln>
          </p:spPr>
          <p:txBody>
            <a:bodyPr wrap="square" lIns="0" tIns="0" rIns="0" bIns="0" rtlCol="0"/>
            <a:lstStyle/>
            <a:p>
              <a:endParaRPr/>
            </a:p>
          </p:txBody>
        </p:sp>
        <p:sp>
          <p:nvSpPr>
            <p:cNvPr id="92" name="object 92"/>
            <p:cNvSpPr/>
            <p:nvPr/>
          </p:nvSpPr>
          <p:spPr>
            <a:xfrm>
              <a:off x="2975077" y="2116881"/>
              <a:ext cx="132715" cy="894715"/>
            </a:xfrm>
            <a:custGeom>
              <a:avLst/>
              <a:gdLst/>
              <a:ahLst/>
              <a:cxnLst/>
              <a:rect l="l" t="t" r="r" b="b"/>
              <a:pathLst>
                <a:path w="132714"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93" name="object 93"/>
            <p:cNvSpPr/>
            <p:nvPr/>
          </p:nvSpPr>
          <p:spPr>
            <a:xfrm>
              <a:off x="2975077" y="2116881"/>
              <a:ext cx="132715" cy="894715"/>
            </a:xfrm>
            <a:custGeom>
              <a:avLst/>
              <a:gdLst/>
              <a:ahLst/>
              <a:cxnLst/>
              <a:rect l="l" t="t" r="r" b="b"/>
              <a:pathLst>
                <a:path w="132714"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94" name="object 94"/>
            <p:cNvSpPr/>
            <p:nvPr/>
          </p:nvSpPr>
          <p:spPr>
            <a:xfrm>
              <a:off x="3008208" y="2183141"/>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95" name="object 95"/>
            <p:cNvSpPr/>
            <p:nvPr/>
          </p:nvSpPr>
          <p:spPr>
            <a:xfrm>
              <a:off x="3008208" y="2183141"/>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96" name="object 96"/>
            <p:cNvSpPr/>
            <p:nvPr/>
          </p:nvSpPr>
          <p:spPr>
            <a:xfrm>
              <a:off x="3008208" y="2415059"/>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97" name="object 97"/>
            <p:cNvSpPr/>
            <p:nvPr/>
          </p:nvSpPr>
          <p:spPr>
            <a:xfrm>
              <a:off x="3008208" y="2415059"/>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98" name="object 98"/>
            <p:cNvSpPr/>
            <p:nvPr/>
          </p:nvSpPr>
          <p:spPr>
            <a:xfrm>
              <a:off x="3008208" y="2646973"/>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99" name="object 99"/>
            <p:cNvSpPr/>
            <p:nvPr/>
          </p:nvSpPr>
          <p:spPr>
            <a:xfrm>
              <a:off x="3008208" y="2646973"/>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100" name="object 100"/>
            <p:cNvSpPr/>
            <p:nvPr/>
          </p:nvSpPr>
          <p:spPr>
            <a:xfrm>
              <a:off x="3008208" y="2878892"/>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101" name="object 101"/>
            <p:cNvSpPr/>
            <p:nvPr/>
          </p:nvSpPr>
          <p:spPr>
            <a:xfrm>
              <a:off x="3008208" y="2878892"/>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102" name="object 102"/>
            <p:cNvSpPr/>
            <p:nvPr/>
          </p:nvSpPr>
          <p:spPr>
            <a:xfrm>
              <a:off x="2676893" y="2845765"/>
              <a:ext cx="199390" cy="132715"/>
            </a:xfrm>
            <a:custGeom>
              <a:avLst/>
              <a:gdLst/>
              <a:ahLst/>
              <a:cxnLst/>
              <a:rect l="l" t="t" r="r" b="b"/>
              <a:pathLst>
                <a:path w="199389" h="132714">
                  <a:moveTo>
                    <a:pt x="33121" y="0"/>
                  </a:moveTo>
                  <a:lnTo>
                    <a:pt x="0" y="0"/>
                  </a:lnTo>
                  <a:lnTo>
                    <a:pt x="0" y="132524"/>
                  </a:lnTo>
                  <a:lnTo>
                    <a:pt x="33121" y="132524"/>
                  </a:lnTo>
                  <a:lnTo>
                    <a:pt x="33121" y="0"/>
                  </a:lnTo>
                  <a:close/>
                </a:path>
                <a:path w="199389" h="132714">
                  <a:moveTo>
                    <a:pt x="198780" y="0"/>
                  </a:moveTo>
                  <a:lnTo>
                    <a:pt x="165646" y="0"/>
                  </a:lnTo>
                  <a:lnTo>
                    <a:pt x="165646" y="132524"/>
                  </a:lnTo>
                  <a:lnTo>
                    <a:pt x="198780" y="132524"/>
                  </a:lnTo>
                  <a:lnTo>
                    <a:pt x="198780" y="0"/>
                  </a:lnTo>
                  <a:close/>
                </a:path>
              </a:pathLst>
            </a:custGeom>
            <a:solidFill>
              <a:srgbClr val="808285"/>
            </a:solidFill>
          </p:spPr>
          <p:txBody>
            <a:bodyPr wrap="square" lIns="0" tIns="0" rIns="0" bIns="0" rtlCol="0"/>
            <a:lstStyle/>
            <a:p>
              <a:endParaRPr/>
            </a:p>
          </p:txBody>
        </p:sp>
        <p:sp>
          <p:nvSpPr>
            <p:cNvPr id="103" name="object 103"/>
            <p:cNvSpPr/>
            <p:nvPr/>
          </p:nvSpPr>
          <p:spPr>
            <a:xfrm>
              <a:off x="2676894" y="2845761"/>
              <a:ext cx="199390" cy="132715"/>
            </a:xfrm>
            <a:custGeom>
              <a:avLst/>
              <a:gdLst/>
              <a:ahLst/>
              <a:cxnLst/>
              <a:rect l="l" t="t" r="r" b="b"/>
              <a:pathLst>
                <a:path w="199389" h="132714">
                  <a:moveTo>
                    <a:pt x="0" y="132520"/>
                  </a:moveTo>
                  <a:lnTo>
                    <a:pt x="198784" y="132520"/>
                  </a:lnTo>
                  <a:lnTo>
                    <a:pt x="198784" y="0"/>
                  </a:lnTo>
                  <a:lnTo>
                    <a:pt x="0" y="0"/>
                  </a:lnTo>
                  <a:lnTo>
                    <a:pt x="0" y="132520"/>
                  </a:lnTo>
                  <a:close/>
                </a:path>
              </a:pathLst>
            </a:custGeom>
            <a:ln w="5270">
              <a:solidFill>
                <a:srgbClr val="231F20"/>
              </a:solidFill>
            </a:ln>
          </p:spPr>
          <p:txBody>
            <a:bodyPr wrap="square" lIns="0" tIns="0" rIns="0" bIns="0" rtlCol="0"/>
            <a:lstStyle/>
            <a:p>
              <a:endParaRPr/>
            </a:p>
          </p:txBody>
        </p:sp>
        <p:sp>
          <p:nvSpPr>
            <p:cNvPr id="104" name="object 104"/>
            <p:cNvSpPr/>
            <p:nvPr/>
          </p:nvSpPr>
          <p:spPr>
            <a:xfrm>
              <a:off x="2710024" y="2116881"/>
              <a:ext cx="132715" cy="894715"/>
            </a:xfrm>
            <a:custGeom>
              <a:avLst/>
              <a:gdLst/>
              <a:ahLst/>
              <a:cxnLst/>
              <a:rect l="l" t="t" r="r" b="b"/>
              <a:pathLst>
                <a:path w="132714" h="894714">
                  <a:moveTo>
                    <a:pt x="132524" y="0"/>
                  </a:moveTo>
                  <a:lnTo>
                    <a:pt x="0" y="0"/>
                  </a:lnTo>
                  <a:lnTo>
                    <a:pt x="0" y="894535"/>
                  </a:lnTo>
                  <a:lnTo>
                    <a:pt x="132524" y="894535"/>
                  </a:lnTo>
                  <a:lnTo>
                    <a:pt x="132524" y="0"/>
                  </a:lnTo>
                  <a:close/>
                </a:path>
              </a:pathLst>
            </a:custGeom>
            <a:solidFill>
              <a:srgbClr val="BBBDC0"/>
            </a:solidFill>
          </p:spPr>
          <p:txBody>
            <a:bodyPr wrap="square" lIns="0" tIns="0" rIns="0" bIns="0" rtlCol="0"/>
            <a:lstStyle/>
            <a:p>
              <a:endParaRPr/>
            </a:p>
          </p:txBody>
        </p:sp>
        <p:sp>
          <p:nvSpPr>
            <p:cNvPr id="105" name="object 105"/>
            <p:cNvSpPr/>
            <p:nvPr/>
          </p:nvSpPr>
          <p:spPr>
            <a:xfrm>
              <a:off x="2710024" y="2116881"/>
              <a:ext cx="132715" cy="894715"/>
            </a:xfrm>
            <a:custGeom>
              <a:avLst/>
              <a:gdLst/>
              <a:ahLst/>
              <a:cxnLst/>
              <a:rect l="l" t="t" r="r" b="b"/>
              <a:pathLst>
                <a:path w="132714" h="894714">
                  <a:moveTo>
                    <a:pt x="0" y="894535"/>
                  </a:moveTo>
                  <a:lnTo>
                    <a:pt x="132524" y="894535"/>
                  </a:lnTo>
                  <a:lnTo>
                    <a:pt x="132524" y="0"/>
                  </a:lnTo>
                  <a:lnTo>
                    <a:pt x="0" y="0"/>
                  </a:lnTo>
                  <a:lnTo>
                    <a:pt x="0" y="894535"/>
                  </a:lnTo>
                  <a:close/>
                </a:path>
              </a:pathLst>
            </a:custGeom>
            <a:ln w="5270">
              <a:solidFill>
                <a:srgbClr val="231F20"/>
              </a:solidFill>
            </a:ln>
          </p:spPr>
          <p:txBody>
            <a:bodyPr wrap="square" lIns="0" tIns="0" rIns="0" bIns="0" rtlCol="0"/>
            <a:lstStyle/>
            <a:p>
              <a:endParaRPr/>
            </a:p>
          </p:txBody>
        </p:sp>
        <p:sp>
          <p:nvSpPr>
            <p:cNvPr id="106" name="object 106"/>
            <p:cNvSpPr/>
            <p:nvPr/>
          </p:nvSpPr>
          <p:spPr>
            <a:xfrm>
              <a:off x="2743154" y="2183141"/>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107" name="object 107"/>
            <p:cNvSpPr/>
            <p:nvPr/>
          </p:nvSpPr>
          <p:spPr>
            <a:xfrm>
              <a:off x="2743154" y="2183141"/>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108" name="object 108"/>
            <p:cNvSpPr/>
            <p:nvPr/>
          </p:nvSpPr>
          <p:spPr>
            <a:xfrm>
              <a:off x="2743154" y="2415059"/>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109" name="object 109"/>
            <p:cNvSpPr/>
            <p:nvPr/>
          </p:nvSpPr>
          <p:spPr>
            <a:xfrm>
              <a:off x="2743154" y="2415059"/>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110" name="object 110"/>
            <p:cNvSpPr/>
            <p:nvPr/>
          </p:nvSpPr>
          <p:spPr>
            <a:xfrm>
              <a:off x="2743154" y="2646973"/>
              <a:ext cx="66675" cy="66675"/>
            </a:xfrm>
            <a:custGeom>
              <a:avLst/>
              <a:gdLst/>
              <a:ahLst/>
              <a:cxnLst/>
              <a:rect l="l" t="t" r="r" b="b"/>
              <a:pathLst>
                <a:path w="66675" h="66675">
                  <a:moveTo>
                    <a:pt x="66264" y="0"/>
                  </a:moveTo>
                  <a:lnTo>
                    <a:pt x="0" y="0"/>
                  </a:lnTo>
                  <a:lnTo>
                    <a:pt x="0" y="66264"/>
                  </a:lnTo>
                  <a:lnTo>
                    <a:pt x="66264" y="66264"/>
                  </a:lnTo>
                  <a:lnTo>
                    <a:pt x="66264" y="0"/>
                  </a:lnTo>
                  <a:close/>
                </a:path>
              </a:pathLst>
            </a:custGeom>
            <a:solidFill>
              <a:srgbClr val="FFFFFF"/>
            </a:solidFill>
          </p:spPr>
          <p:txBody>
            <a:bodyPr wrap="square" lIns="0" tIns="0" rIns="0" bIns="0" rtlCol="0"/>
            <a:lstStyle/>
            <a:p>
              <a:endParaRPr/>
            </a:p>
          </p:txBody>
        </p:sp>
        <p:sp>
          <p:nvSpPr>
            <p:cNvPr id="111" name="object 111"/>
            <p:cNvSpPr/>
            <p:nvPr/>
          </p:nvSpPr>
          <p:spPr>
            <a:xfrm>
              <a:off x="2743154" y="2646973"/>
              <a:ext cx="66675" cy="66675"/>
            </a:xfrm>
            <a:custGeom>
              <a:avLst/>
              <a:gdLst/>
              <a:ahLst/>
              <a:cxnLst/>
              <a:rect l="l" t="t" r="r" b="b"/>
              <a:pathLst>
                <a:path w="66675" h="66675">
                  <a:moveTo>
                    <a:pt x="0" y="66264"/>
                  </a:moveTo>
                  <a:lnTo>
                    <a:pt x="66264" y="66264"/>
                  </a:lnTo>
                  <a:lnTo>
                    <a:pt x="66264" y="0"/>
                  </a:lnTo>
                  <a:lnTo>
                    <a:pt x="0" y="0"/>
                  </a:lnTo>
                  <a:lnTo>
                    <a:pt x="0" y="66264"/>
                  </a:lnTo>
                  <a:close/>
                </a:path>
              </a:pathLst>
            </a:custGeom>
            <a:ln w="5270">
              <a:solidFill>
                <a:srgbClr val="231F20"/>
              </a:solidFill>
            </a:ln>
          </p:spPr>
          <p:txBody>
            <a:bodyPr wrap="square" lIns="0" tIns="0" rIns="0" bIns="0" rtlCol="0"/>
            <a:lstStyle/>
            <a:p>
              <a:endParaRPr/>
            </a:p>
          </p:txBody>
        </p:sp>
        <p:sp>
          <p:nvSpPr>
            <p:cNvPr id="112" name="object 112"/>
            <p:cNvSpPr/>
            <p:nvPr/>
          </p:nvSpPr>
          <p:spPr>
            <a:xfrm>
              <a:off x="2743154" y="2878892"/>
              <a:ext cx="66675" cy="66675"/>
            </a:xfrm>
            <a:custGeom>
              <a:avLst/>
              <a:gdLst/>
              <a:ahLst/>
              <a:cxnLst/>
              <a:rect l="l" t="t" r="r" b="b"/>
              <a:pathLst>
                <a:path w="66675" h="66675">
                  <a:moveTo>
                    <a:pt x="66264" y="0"/>
                  </a:moveTo>
                  <a:lnTo>
                    <a:pt x="0" y="0"/>
                  </a:lnTo>
                  <a:lnTo>
                    <a:pt x="0" y="66260"/>
                  </a:lnTo>
                  <a:lnTo>
                    <a:pt x="66264" y="66260"/>
                  </a:lnTo>
                  <a:lnTo>
                    <a:pt x="66264" y="0"/>
                  </a:lnTo>
                  <a:close/>
                </a:path>
              </a:pathLst>
            </a:custGeom>
            <a:solidFill>
              <a:srgbClr val="FFFFFF"/>
            </a:solidFill>
          </p:spPr>
          <p:txBody>
            <a:bodyPr wrap="square" lIns="0" tIns="0" rIns="0" bIns="0" rtlCol="0"/>
            <a:lstStyle/>
            <a:p>
              <a:endParaRPr/>
            </a:p>
          </p:txBody>
        </p:sp>
        <p:sp>
          <p:nvSpPr>
            <p:cNvPr id="113" name="object 113"/>
            <p:cNvSpPr/>
            <p:nvPr/>
          </p:nvSpPr>
          <p:spPr>
            <a:xfrm>
              <a:off x="2743154" y="2878892"/>
              <a:ext cx="66675" cy="66675"/>
            </a:xfrm>
            <a:custGeom>
              <a:avLst/>
              <a:gdLst/>
              <a:ahLst/>
              <a:cxnLst/>
              <a:rect l="l" t="t" r="r" b="b"/>
              <a:pathLst>
                <a:path w="66675" h="66675">
                  <a:moveTo>
                    <a:pt x="0" y="66260"/>
                  </a:moveTo>
                  <a:lnTo>
                    <a:pt x="66264" y="66260"/>
                  </a:lnTo>
                  <a:lnTo>
                    <a:pt x="66264" y="0"/>
                  </a:lnTo>
                  <a:lnTo>
                    <a:pt x="0" y="0"/>
                  </a:lnTo>
                  <a:lnTo>
                    <a:pt x="0" y="66260"/>
                  </a:lnTo>
                  <a:close/>
                </a:path>
              </a:pathLst>
            </a:custGeom>
            <a:ln w="5270">
              <a:solidFill>
                <a:srgbClr val="231F20"/>
              </a:solidFill>
            </a:ln>
          </p:spPr>
          <p:txBody>
            <a:bodyPr wrap="square" lIns="0" tIns="0" rIns="0" bIns="0" rtlCol="0"/>
            <a:lstStyle/>
            <a:p>
              <a:endParaRPr/>
            </a:p>
          </p:txBody>
        </p:sp>
        <p:sp>
          <p:nvSpPr>
            <p:cNvPr id="114" name="object 114"/>
            <p:cNvSpPr/>
            <p:nvPr/>
          </p:nvSpPr>
          <p:spPr>
            <a:xfrm>
              <a:off x="3206978" y="2845765"/>
              <a:ext cx="199390" cy="132715"/>
            </a:xfrm>
            <a:custGeom>
              <a:avLst/>
              <a:gdLst/>
              <a:ahLst/>
              <a:cxnLst/>
              <a:rect l="l" t="t" r="r" b="b"/>
              <a:pathLst>
                <a:path w="199389" h="132714">
                  <a:moveTo>
                    <a:pt x="33134" y="0"/>
                  </a:moveTo>
                  <a:lnTo>
                    <a:pt x="0" y="0"/>
                  </a:lnTo>
                  <a:lnTo>
                    <a:pt x="0" y="132524"/>
                  </a:lnTo>
                  <a:lnTo>
                    <a:pt x="33134" y="132524"/>
                  </a:lnTo>
                  <a:lnTo>
                    <a:pt x="33134" y="0"/>
                  </a:lnTo>
                  <a:close/>
                </a:path>
                <a:path w="199389" h="132714">
                  <a:moveTo>
                    <a:pt x="198793" y="0"/>
                  </a:moveTo>
                  <a:lnTo>
                    <a:pt x="165658" y="0"/>
                  </a:lnTo>
                  <a:lnTo>
                    <a:pt x="165658" y="132524"/>
                  </a:lnTo>
                  <a:lnTo>
                    <a:pt x="198793" y="132524"/>
                  </a:lnTo>
                  <a:lnTo>
                    <a:pt x="198793" y="0"/>
                  </a:lnTo>
                  <a:close/>
                </a:path>
              </a:pathLst>
            </a:custGeom>
            <a:solidFill>
              <a:srgbClr val="808285"/>
            </a:solidFill>
          </p:spPr>
          <p:txBody>
            <a:bodyPr wrap="square" lIns="0" tIns="0" rIns="0" bIns="0" rtlCol="0"/>
            <a:lstStyle/>
            <a:p>
              <a:endParaRPr/>
            </a:p>
          </p:txBody>
        </p:sp>
        <p:sp>
          <p:nvSpPr>
            <p:cNvPr id="115" name="object 115"/>
            <p:cNvSpPr/>
            <p:nvPr/>
          </p:nvSpPr>
          <p:spPr>
            <a:xfrm>
              <a:off x="3206990" y="2845761"/>
              <a:ext cx="199390" cy="132715"/>
            </a:xfrm>
            <a:custGeom>
              <a:avLst/>
              <a:gdLst/>
              <a:ahLst/>
              <a:cxnLst/>
              <a:rect l="l" t="t" r="r" b="b"/>
              <a:pathLst>
                <a:path w="199389" h="132714">
                  <a:moveTo>
                    <a:pt x="0" y="132520"/>
                  </a:moveTo>
                  <a:lnTo>
                    <a:pt x="198788" y="132520"/>
                  </a:lnTo>
                  <a:lnTo>
                    <a:pt x="198788" y="0"/>
                  </a:lnTo>
                  <a:lnTo>
                    <a:pt x="0" y="0"/>
                  </a:lnTo>
                  <a:lnTo>
                    <a:pt x="0" y="132520"/>
                  </a:lnTo>
                  <a:close/>
                </a:path>
              </a:pathLst>
            </a:custGeom>
            <a:ln w="5270">
              <a:solidFill>
                <a:srgbClr val="231F20"/>
              </a:solidFill>
            </a:ln>
          </p:spPr>
          <p:txBody>
            <a:bodyPr wrap="square" lIns="0" tIns="0" rIns="0" bIns="0" rtlCol="0"/>
            <a:lstStyle/>
            <a:p>
              <a:endParaRPr/>
            </a:p>
          </p:txBody>
        </p:sp>
        <p:sp>
          <p:nvSpPr>
            <p:cNvPr id="116" name="object 116"/>
            <p:cNvSpPr/>
            <p:nvPr/>
          </p:nvSpPr>
          <p:spPr>
            <a:xfrm>
              <a:off x="3240120" y="2116881"/>
              <a:ext cx="132715" cy="894715"/>
            </a:xfrm>
            <a:custGeom>
              <a:avLst/>
              <a:gdLst/>
              <a:ahLst/>
              <a:cxnLst/>
              <a:rect l="l" t="t" r="r" b="b"/>
              <a:pathLst>
                <a:path w="132714" h="894714">
                  <a:moveTo>
                    <a:pt x="132520" y="0"/>
                  </a:moveTo>
                  <a:lnTo>
                    <a:pt x="0" y="0"/>
                  </a:lnTo>
                  <a:lnTo>
                    <a:pt x="0" y="894535"/>
                  </a:lnTo>
                  <a:lnTo>
                    <a:pt x="132520" y="894535"/>
                  </a:lnTo>
                  <a:lnTo>
                    <a:pt x="132520" y="0"/>
                  </a:lnTo>
                  <a:close/>
                </a:path>
              </a:pathLst>
            </a:custGeom>
            <a:solidFill>
              <a:srgbClr val="BBBDC0"/>
            </a:solidFill>
          </p:spPr>
          <p:txBody>
            <a:bodyPr wrap="square" lIns="0" tIns="0" rIns="0" bIns="0" rtlCol="0"/>
            <a:lstStyle/>
            <a:p>
              <a:endParaRPr/>
            </a:p>
          </p:txBody>
        </p:sp>
        <p:sp>
          <p:nvSpPr>
            <p:cNvPr id="117" name="object 117"/>
            <p:cNvSpPr/>
            <p:nvPr/>
          </p:nvSpPr>
          <p:spPr>
            <a:xfrm>
              <a:off x="3240120" y="2116881"/>
              <a:ext cx="132715" cy="894715"/>
            </a:xfrm>
            <a:custGeom>
              <a:avLst/>
              <a:gdLst/>
              <a:ahLst/>
              <a:cxnLst/>
              <a:rect l="l" t="t" r="r" b="b"/>
              <a:pathLst>
                <a:path w="132714" h="894714">
                  <a:moveTo>
                    <a:pt x="0" y="894535"/>
                  </a:moveTo>
                  <a:lnTo>
                    <a:pt x="132520" y="894535"/>
                  </a:lnTo>
                  <a:lnTo>
                    <a:pt x="132520" y="0"/>
                  </a:lnTo>
                  <a:lnTo>
                    <a:pt x="0" y="0"/>
                  </a:lnTo>
                  <a:lnTo>
                    <a:pt x="0" y="894535"/>
                  </a:lnTo>
                  <a:close/>
                </a:path>
              </a:pathLst>
            </a:custGeom>
            <a:ln w="5270">
              <a:solidFill>
                <a:srgbClr val="231F20"/>
              </a:solidFill>
            </a:ln>
          </p:spPr>
          <p:txBody>
            <a:bodyPr wrap="square" lIns="0" tIns="0" rIns="0" bIns="0" rtlCol="0"/>
            <a:lstStyle/>
            <a:p>
              <a:endParaRPr/>
            </a:p>
          </p:txBody>
        </p:sp>
        <p:sp>
          <p:nvSpPr>
            <p:cNvPr id="118" name="object 118"/>
            <p:cNvSpPr/>
            <p:nvPr/>
          </p:nvSpPr>
          <p:spPr>
            <a:xfrm>
              <a:off x="3273251" y="2183141"/>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119" name="object 119"/>
            <p:cNvSpPr/>
            <p:nvPr/>
          </p:nvSpPr>
          <p:spPr>
            <a:xfrm>
              <a:off x="3273251" y="2183141"/>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120" name="object 120"/>
            <p:cNvSpPr/>
            <p:nvPr/>
          </p:nvSpPr>
          <p:spPr>
            <a:xfrm>
              <a:off x="3273251" y="2415059"/>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121" name="object 121"/>
            <p:cNvSpPr/>
            <p:nvPr/>
          </p:nvSpPr>
          <p:spPr>
            <a:xfrm>
              <a:off x="3273251" y="2415059"/>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122" name="object 122"/>
            <p:cNvSpPr/>
            <p:nvPr/>
          </p:nvSpPr>
          <p:spPr>
            <a:xfrm>
              <a:off x="3273251" y="2646973"/>
              <a:ext cx="66675" cy="66675"/>
            </a:xfrm>
            <a:custGeom>
              <a:avLst/>
              <a:gdLst/>
              <a:ahLst/>
              <a:cxnLst/>
              <a:rect l="l" t="t" r="r" b="b"/>
              <a:pathLst>
                <a:path w="66675" h="66675">
                  <a:moveTo>
                    <a:pt x="66260" y="0"/>
                  </a:moveTo>
                  <a:lnTo>
                    <a:pt x="0" y="0"/>
                  </a:lnTo>
                  <a:lnTo>
                    <a:pt x="0" y="66264"/>
                  </a:lnTo>
                  <a:lnTo>
                    <a:pt x="66260" y="66264"/>
                  </a:lnTo>
                  <a:lnTo>
                    <a:pt x="66260" y="0"/>
                  </a:lnTo>
                  <a:close/>
                </a:path>
              </a:pathLst>
            </a:custGeom>
            <a:solidFill>
              <a:srgbClr val="FFFFFF"/>
            </a:solidFill>
          </p:spPr>
          <p:txBody>
            <a:bodyPr wrap="square" lIns="0" tIns="0" rIns="0" bIns="0" rtlCol="0"/>
            <a:lstStyle/>
            <a:p>
              <a:endParaRPr/>
            </a:p>
          </p:txBody>
        </p:sp>
        <p:sp>
          <p:nvSpPr>
            <p:cNvPr id="123" name="object 123"/>
            <p:cNvSpPr/>
            <p:nvPr/>
          </p:nvSpPr>
          <p:spPr>
            <a:xfrm>
              <a:off x="3273251" y="2646973"/>
              <a:ext cx="66675" cy="66675"/>
            </a:xfrm>
            <a:custGeom>
              <a:avLst/>
              <a:gdLst/>
              <a:ahLst/>
              <a:cxnLst/>
              <a:rect l="l" t="t" r="r" b="b"/>
              <a:pathLst>
                <a:path w="66675" h="66675">
                  <a:moveTo>
                    <a:pt x="0" y="66264"/>
                  </a:moveTo>
                  <a:lnTo>
                    <a:pt x="66260" y="66264"/>
                  </a:lnTo>
                  <a:lnTo>
                    <a:pt x="66260" y="0"/>
                  </a:lnTo>
                  <a:lnTo>
                    <a:pt x="0" y="0"/>
                  </a:lnTo>
                  <a:lnTo>
                    <a:pt x="0" y="66264"/>
                  </a:lnTo>
                  <a:close/>
                </a:path>
              </a:pathLst>
            </a:custGeom>
            <a:ln w="5270">
              <a:solidFill>
                <a:srgbClr val="231F20"/>
              </a:solidFill>
            </a:ln>
          </p:spPr>
          <p:txBody>
            <a:bodyPr wrap="square" lIns="0" tIns="0" rIns="0" bIns="0" rtlCol="0"/>
            <a:lstStyle/>
            <a:p>
              <a:endParaRPr/>
            </a:p>
          </p:txBody>
        </p:sp>
        <p:sp>
          <p:nvSpPr>
            <p:cNvPr id="124" name="object 124"/>
            <p:cNvSpPr/>
            <p:nvPr/>
          </p:nvSpPr>
          <p:spPr>
            <a:xfrm>
              <a:off x="3273251" y="2878892"/>
              <a:ext cx="66675" cy="66675"/>
            </a:xfrm>
            <a:custGeom>
              <a:avLst/>
              <a:gdLst/>
              <a:ahLst/>
              <a:cxnLst/>
              <a:rect l="l" t="t" r="r" b="b"/>
              <a:pathLst>
                <a:path w="66675" h="66675">
                  <a:moveTo>
                    <a:pt x="66260" y="0"/>
                  </a:moveTo>
                  <a:lnTo>
                    <a:pt x="0" y="0"/>
                  </a:lnTo>
                  <a:lnTo>
                    <a:pt x="0" y="66260"/>
                  </a:lnTo>
                  <a:lnTo>
                    <a:pt x="66260" y="66260"/>
                  </a:lnTo>
                  <a:lnTo>
                    <a:pt x="66260" y="0"/>
                  </a:lnTo>
                  <a:close/>
                </a:path>
              </a:pathLst>
            </a:custGeom>
            <a:solidFill>
              <a:srgbClr val="FFFFFF"/>
            </a:solidFill>
          </p:spPr>
          <p:txBody>
            <a:bodyPr wrap="square" lIns="0" tIns="0" rIns="0" bIns="0" rtlCol="0"/>
            <a:lstStyle/>
            <a:p>
              <a:endParaRPr/>
            </a:p>
          </p:txBody>
        </p:sp>
        <p:sp>
          <p:nvSpPr>
            <p:cNvPr id="125" name="object 125"/>
            <p:cNvSpPr/>
            <p:nvPr/>
          </p:nvSpPr>
          <p:spPr>
            <a:xfrm>
              <a:off x="3273251" y="2878892"/>
              <a:ext cx="66675" cy="66675"/>
            </a:xfrm>
            <a:custGeom>
              <a:avLst/>
              <a:gdLst/>
              <a:ahLst/>
              <a:cxnLst/>
              <a:rect l="l" t="t" r="r" b="b"/>
              <a:pathLst>
                <a:path w="66675" h="66675">
                  <a:moveTo>
                    <a:pt x="0" y="66260"/>
                  </a:moveTo>
                  <a:lnTo>
                    <a:pt x="66260" y="66260"/>
                  </a:lnTo>
                  <a:lnTo>
                    <a:pt x="66260" y="0"/>
                  </a:lnTo>
                  <a:lnTo>
                    <a:pt x="0" y="0"/>
                  </a:lnTo>
                  <a:lnTo>
                    <a:pt x="0" y="66260"/>
                  </a:lnTo>
                  <a:close/>
                </a:path>
              </a:pathLst>
            </a:custGeom>
            <a:ln w="5270">
              <a:solidFill>
                <a:srgbClr val="231F20"/>
              </a:solidFill>
            </a:ln>
          </p:spPr>
          <p:txBody>
            <a:bodyPr wrap="square" lIns="0" tIns="0" rIns="0" bIns="0" rtlCol="0"/>
            <a:lstStyle/>
            <a:p>
              <a:endParaRPr/>
            </a:p>
          </p:txBody>
        </p:sp>
        <p:sp>
          <p:nvSpPr>
            <p:cNvPr id="126" name="object 126"/>
            <p:cNvSpPr/>
            <p:nvPr/>
          </p:nvSpPr>
          <p:spPr>
            <a:xfrm>
              <a:off x="1119738" y="2148722"/>
              <a:ext cx="2253615" cy="829944"/>
            </a:xfrm>
            <a:custGeom>
              <a:avLst/>
              <a:gdLst/>
              <a:ahLst/>
              <a:cxnLst/>
              <a:rect l="l" t="t" r="r" b="b"/>
              <a:pathLst>
                <a:path w="2253615" h="829944">
                  <a:moveTo>
                    <a:pt x="0" y="697036"/>
                  </a:moveTo>
                  <a:lnTo>
                    <a:pt x="132524" y="697036"/>
                  </a:lnTo>
                </a:path>
                <a:path w="2253615" h="829944">
                  <a:moveTo>
                    <a:pt x="265049" y="697027"/>
                  </a:moveTo>
                  <a:lnTo>
                    <a:pt x="397572" y="697027"/>
                  </a:lnTo>
                </a:path>
                <a:path w="2253615" h="829944">
                  <a:moveTo>
                    <a:pt x="530097" y="697019"/>
                  </a:moveTo>
                  <a:lnTo>
                    <a:pt x="662621" y="697019"/>
                  </a:lnTo>
                </a:path>
                <a:path w="2253615" h="829944">
                  <a:moveTo>
                    <a:pt x="795146" y="697015"/>
                  </a:moveTo>
                  <a:lnTo>
                    <a:pt x="927668" y="697015"/>
                  </a:lnTo>
                </a:path>
                <a:path w="2253615" h="829944">
                  <a:moveTo>
                    <a:pt x="1060189" y="697006"/>
                  </a:moveTo>
                  <a:lnTo>
                    <a:pt x="1192710" y="697006"/>
                  </a:lnTo>
                </a:path>
                <a:path w="2253615" h="829944">
                  <a:moveTo>
                    <a:pt x="1325242" y="696999"/>
                  </a:moveTo>
                  <a:lnTo>
                    <a:pt x="1457764" y="696999"/>
                  </a:lnTo>
                </a:path>
                <a:path w="2253615" h="829944">
                  <a:moveTo>
                    <a:pt x="1590391" y="697135"/>
                  </a:moveTo>
                  <a:lnTo>
                    <a:pt x="1722912" y="697135"/>
                  </a:lnTo>
                </a:path>
                <a:path w="2253615" h="829944">
                  <a:moveTo>
                    <a:pt x="0" y="829559"/>
                  </a:moveTo>
                  <a:lnTo>
                    <a:pt x="132524" y="829559"/>
                  </a:lnTo>
                </a:path>
                <a:path w="2253615" h="829944">
                  <a:moveTo>
                    <a:pt x="265049" y="829552"/>
                  </a:moveTo>
                  <a:lnTo>
                    <a:pt x="397572" y="829552"/>
                  </a:lnTo>
                </a:path>
                <a:path w="2253615" h="829944">
                  <a:moveTo>
                    <a:pt x="530097" y="829543"/>
                  </a:moveTo>
                  <a:lnTo>
                    <a:pt x="662621" y="829543"/>
                  </a:lnTo>
                </a:path>
                <a:path w="2253615" h="829944">
                  <a:moveTo>
                    <a:pt x="795146" y="829539"/>
                  </a:moveTo>
                  <a:lnTo>
                    <a:pt x="927668" y="829539"/>
                  </a:lnTo>
                </a:path>
                <a:path w="2253615" h="829944">
                  <a:moveTo>
                    <a:pt x="1060189" y="829527"/>
                  </a:moveTo>
                  <a:lnTo>
                    <a:pt x="1192710" y="829527"/>
                  </a:lnTo>
                </a:path>
                <a:path w="2253615" h="829944">
                  <a:moveTo>
                    <a:pt x="1325242" y="829522"/>
                  </a:moveTo>
                  <a:lnTo>
                    <a:pt x="1457764" y="829522"/>
                  </a:lnTo>
                </a:path>
                <a:path w="2253615" h="829944">
                  <a:moveTo>
                    <a:pt x="1590391" y="829658"/>
                  </a:moveTo>
                  <a:lnTo>
                    <a:pt x="1722912" y="829658"/>
                  </a:lnTo>
                </a:path>
                <a:path w="2253615" h="829944">
                  <a:moveTo>
                    <a:pt x="2751" y="464972"/>
                  </a:moveTo>
                  <a:lnTo>
                    <a:pt x="135274" y="464972"/>
                  </a:lnTo>
                </a:path>
                <a:path w="2253615" h="829944">
                  <a:moveTo>
                    <a:pt x="267799" y="464965"/>
                  </a:moveTo>
                  <a:lnTo>
                    <a:pt x="400323" y="464965"/>
                  </a:lnTo>
                </a:path>
                <a:path w="2253615" h="829944">
                  <a:moveTo>
                    <a:pt x="532847" y="464961"/>
                  </a:moveTo>
                  <a:lnTo>
                    <a:pt x="665367" y="464961"/>
                  </a:lnTo>
                </a:path>
                <a:path w="2253615" h="829944">
                  <a:moveTo>
                    <a:pt x="797887" y="464952"/>
                  </a:moveTo>
                  <a:lnTo>
                    <a:pt x="930419" y="464952"/>
                  </a:lnTo>
                </a:path>
                <a:path w="2253615" h="829944">
                  <a:moveTo>
                    <a:pt x="1062940" y="464944"/>
                  </a:moveTo>
                  <a:lnTo>
                    <a:pt x="1195462" y="464944"/>
                  </a:lnTo>
                </a:path>
                <a:path w="2253615" h="829944">
                  <a:moveTo>
                    <a:pt x="1327994" y="464936"/>
                  </a:moveTo>
                  <a:lnTo>
                    <a:pt x="1460515" y="464936"/>
                  </a:lnTo>
                </a:path>
                <a:path w="2253615" h="829944">
                  <a:moveTo>
                    <a:pt x="1593131" y="465072"/>
                  </a:moveTo>
                  <a:lnTo>
                    <a:pt x="1725663" y="465072"/>
                  </a:lnTo>
                </a:path>
                <a:path w="2253615" h="829944">
                  <a:moveTo>
                    <a:pt x="2751" y="597497"/>
                  </a:moveTo>
                  <a:lnTo>
                    <a:pt x="135274" y="597497"/>
                  </a:lnTo>
                </a:path>
                <a:path w="2253615" h="829944">
                  <a:moveTo>
                    <a:pt x="267799" y="597489"/>
                  </a:moveTo>
                  <a:lnTo>
                    <a:pt x="400323" y="597489"/>
                  </a:lnTo>
                </a:path>
                <a:path w="2253615" h="829944">
                  <a:moveTo>
                    <a:pt x="532847" y="597484"/>
                  </a:moveTo>
                  <a:lnTo>
                    <a:pt x="665367" y="597484"/>
                  </a:lnTo>
                </a:path>
                <a:path w="2253615" h="829944">
                  <a:moveTo>
                    <a:pt x="797887" y="597477"/>
                  </a:moveTo>
                  <a:lnTo>
                    <a:pt x="930419" y="597477"/>
                  </a:lnTo>
                </a:path>
                <a:path w="2253615" h="829944">
                  <a:moveTo>
                    <a:pt x="1062940" y="597469"/>
                  </a:moveTo>
                  <a:lnTo>
                    <a:pt x="1195462" y="597469"/>
                  </a:lnTo>
                </a:path>
                <a:path w="2253615" h="829944">
                  <a:moveTo>
                    <a:pt x="1327994" y="597460"/>
                  </a:moveTo>
                  <a:lnTo>
                    <a:pt x="1460515" y="597460"/>
                  </a:lnTo>
                </a:path>
                <a:path w="2253615" h="829944">
                  <a:moveTo>
                    <a:pt x="1593131" y="597596"/>
                  </a:moveTo>
                  <a:lnTo>
                    <a:pt x="1725663" y="597596"/>
                  </a:lnTo>
                </a:path>
                <a:path w="2253615" h="829944">
                  <a:moveTo>
                    <a:pt x="2725" y="232507"/>
                  </a:moveTo>
                  <a:lnTo>
                    <a:pt x="135246" y="232507"/>
                  </a:lnTo>
                </a:path>
                <a:path w="2253615" h="829944">
                  <a:moveTo>
                    <a:pt x="267770" y="232499"/>
                  </a:moveTo>
                  <a:lnTo>
                    <a:pt x="400294" y="232499"/>
                  </a:lnTo>
                </a:path>
                <a:path w="2253615" h="829944">
                  <a:moveTo>
                    <a:pt x="532819" y="232491"/>
                  </a:moveTo>
                  <a:lnTo>
                    <a:pt x="665343" y="232491"/>
                  </a:lnTo>
                </a:path>
                <a:path w="2253615" h="829944">
                  <a:moveTo>
                    <a:pt x="797866" y="232482"/>
                  </a:moveTo>
                  <a:lnTo>
                    <a:pt x="930387" y="232482"/>
                  </a:lnTo>
                </a:path>
                <a:path w="2253615" h="829944">
                  <a:moveTo>
                    <a:pt x="1062919" y="232474"/>
                  </a:moveTo>
                  <a:lnTo>
                    <a:pt x="1195441" y="232474"/>
                  </a:lnTo>
                </a:path>
                <a:path w="2253615" h="829944">
                  <a:moveTo>
                    <a:pt x="1327962" y="232465"/>
                  </a:moveTo>
                  <a:lnTo>
                    <a:pt x="1460483" y="232465"/>
                  </a:lnTo>
                </a:path>
                <a:path w="2253615" h="829944">
                  <a:moveTo>
                    <a:pt x="1855233" y="233211"/>
                  </a:moveTo>
                  <a:lnTo>
                    <a:pt x="1987755" y="233211"/>
                  </a:lnTo>
                </a:path>
                <a:path w="2253615" h="829944">
                  <a:moveTo>
                    <a:pt x="1855339" y="465125"/>
                  </a:moveTo>
                  <a:lnTo>
                    <a:pt x="1987860" y="465125"/>
                  </a:lnTo>
                </a:path>
                <a:path w="2253615" h="829944">
                  <a:moveTo>
                    <a:pt x="1855434" y="697044"/>
                  </a:moveTo>
                  <a:lnTo>
                    <a:pt x="1987955" y="697044"/>
                  </a:lnTo>
                </a:path>
                <a:path w="2253615" h="829944">
                  <a:moveTo>
                    <a:pt x="1855233" y="1144"/>
                  </a:moveTo>
                  <a:lnTo>
                    <a:pt x="1987755" y="1144"/>
                  </a:lnTo>
                </a:path>
                <a:path w="2253615" h="829944">
                  <a:moveTo>
                    <a:pt x="1593110" y="232601"/>
                  </a:moveTo>
                  <a:lnTo>
                    <a:pt x="1725632" y="232601"/>
                  </a:lnTo>
                </a:path>
                <a:path w="2253615" h="829944">
                  <a:moveTo>
                    <a:pt x="2120382" y="233342"/>
                  </a:moveTo>
                  <a:lnTo>
                    <a:pt x="2252903" y="233342"/>
                  </a:lnTo>
                </a:path>
                <a:path w="2253615" h="829944">
                  <a:moveTo>
                    <a:pt x="2120487" y="465261"/>
                  </a:moveTo>
                  <a:lnTo>
                    <a:pt x="2253009" y="465261"/>
                  </a:lnTo>
                </a:path>
                <a:path w="2253615" h="829944">
                  <a:moveTo>
                    <a:pt x="2120582" y="697180"/>
                  </a:moveTo>
                  <a:lnTo>
                    <a:pt x="2253114" y="697180"/>
                  </a:lnTo>
                </a:path>
                <a:path w="2253615" h="829944">
                  <a:moveTo>
                    <a:pt x="2120382" y="1280"/>
                  </a:moveTo>
                  <a:lnTo>
                    <a:pt x="2252903" y="1280"/>
                  </a:lnTo>
                </a:path>
                <a:path w="2253615" h="829944">
                  <a:moveTo>
                    <a:pt x="2725" y="365031"/>
                  </a:moveTo>
                  <a:lnTo>
                    <a:pt x="135246" y="365031"/>
                  </a:lnTo>
                </a:path>
                <a:path w="2253615" h="829944">
                  <a:moveTo>
                    <a:pt x="267770" y="365019"/>
                  </a:moveTo>
                  <a:lnTo>
                    <a:pt x="400294" y="365019"/>
                  </a:lnTo>
                </a:path>
                <a:path w="2253615" h="829944">
                  <a:moveTo>
                    <a:pt x="532819" y="365014"/>
                  </a:moveTo>
                  <a:lnTo>
                    <a:pt x="665343" y="365014"/>
                  </a:lnTo>
                </a:path>
                <a:path w="2253615" h="829944">
                  <a:moveTo>
                    <a:pt x="797866" y="365007"/>
                  </a:moveTo>
                  <a:lnTo>
                    <a:pt x="930387" y="365007"/>
                  </a:lnTo>
                </a:path>
                <a:path w="2253615" h="829944">
                  <a:moveTo>
                    <a:pt x="1062919" y="364998"/>
                  </a:moveTo>
                  <a:lnTo>
                    <a:pt x="1195441" y="364998"/>
                  </a:lnTo>
                </a:path>
                <a:path w="2253615" h="829944">
                  <a:moveTo>
                    <a:pt x="1327962" y="364990"/>
                  </a:moveTo>
                  <a:lnTo>
                    <a:pt x="1460483" y="364990"/>
                  </a:lnTo>
                </a:path>
                <a:path w="2253615" h="829944">
                  <a:moveTo>
                    <a:pt x="1855233" y="365735"/>
                  </a:moveTo>
                  <a:lnTo>
                    <a:pt x="1987755" y="365735"/>
                  </a:lnTo>
                </a:path>
                <a:path w="2253615" h="829944">
                  <a:moveTo>
                    <a:pt x="1855339" y="597650"/>
                  </a:moveTo>
                  <a:lnTo>
                    <a:pt x="1987860" y="597650"/>
                  </a:lnTo>
                </a:path>
                <a:path w="2253615" h="829944">
                  <a:moveTo>
                    <a:pt x="1855434" y="829568"/>
                  </a:moveTo>
                  <a:lnTo>
                    <a:pt x="1987955" y="829568"/>
                  </a:lnTo>
                </a:path>
                <a:path w="2253615" h="829944">
                  <a:moveTo>
                    <a:pt x="1855233" y="133669"/>
                  </a:moveTo>
                  <a:lnTo>
                    <a:pt x="1987755" y="133669"/>
                  </a:lnTo>
                </a:path>
                <a:path w="2253615" h="829944">
                  <a:moveTo>
                    <a:pt x="1593110" y="365126"/>
                  </a:moveTo>
                  <a:lnTo>
                    <a:pt x="1725632" y="365126"/>
                  </a:lnTo>
                </a:path>
                <a:path w="2253615" h="829944">
                  <a:moveTo>
                    <a:pt x="2120382" y="365867"/>
                  </a:moveTo>
                  <a:lnTo>
                    <a:pt x="2252903" y="365867"/>
                  </a:lnTo>
                </a:path>
                <a:path w="2253615" h="829944">
                  <a:moveTo>
                    <a:pt x="2120487" y="597786"/>
                  </a:moveTo>
                  <a:lnTo>
                    <a:pt x="2253009" y="597786"/>
                  </a:lnTo>
                </a:path>
                <a:path w="2253615" h="829944">
                  <a:moveTo>
                    <a:pt x="2120582" y="829704"/>
                  </a:moveTo>
                  <a:lnTo>
                    <a:pt x="2253114" y="829704"/>
                  </a:lnTo>
                </a:path>
                <a:path w="2253615" h="829944">
                  <a:moveTo>
                    <a:pt x="2120382" y="133805"/>
                  </a:moveTo>
                  <a:lnTo>
                    <a:pt x="2252903" y="133805"/>
                  </a:lnTo>
                </a:path>
                <a:path w="2253615" h="829944">
                  <a:moveTo>
                    <a:pt x="2697" y="36"/>
                  </a:moveTo>
                  <a:lnTo>
                    <a:pt x="135222" y="36"/>
                  </a:lnTo>
                </a:path>
                <a:path w="2253615" h="829944">
                  <a:moveTo>
                    <a:pt x="267745" y="28"/>
                  </a:moveTo>
                  <a:lnTo>
                    <a:pt x="400270" y="28"/>
                  </a:lnTo>
                </a:path>
                <a:path w="2253615" h="829944">
                  <a:moveTo>
                    <a:pt x="532794" y="21"/>
                  </a:moveTo>
                  <a:lnTo>
                    <a:pt x="665314" y="21"/>
                  </a:lnTo>
                </a:path>
                <a:path w="2253615" h="829944">
                  <a:moveTo>
                    <a:pt x="797834" y="16"/>
                  </a:moveTo>
                  <a:lnTo>
                    <a:pt x="930366" y="16"/>
                  </a:lnTo>
                </a:path>
                <a:path w="2253615" h="829944">
                  <a:moveTo>
                    <a:pt x="1062887" y="8"/>
                  </a:moveTo>
                  <a:lnTo>
                    <a:pt x="1195409" y="8"/>
                  </a:lnTo>
                </a:path>
                <a:path w="2253615" h="829944">
                  <a:moveTo>
                    <a:pt x="1327930" y="0"/>
                  </a:moveTo>
                  <a:lnTo>
                    <a:pt x="1460462" y="0"/>
                  </a:lnTo>
                </a:path>
                <a:path w="2253615" h="829944">
                  <a:moveTo>
                    <a:pt x="1593079" y="135"/>
                  </a:moveTo>
                  <a:lnTo>
                    <a:pt x="1725611" y="135"/>
                  </a:lnTo>
                </a:path>
                <a:path w="2253615" h="829944">
                  <a:moveTo>
                    <a:pt x="2697" y="132561"/>
                  </a:moveTo>
                  <a:lnTo>
                    <a:pt x="135222" y="132561"/>
                  </a:lnTo>
                </a:path>
                <a:path w="2253615" h="829944">
                  <a:moveTo>
                    <a:pt x="267745" y="132553"/>
                  </a:moveTo>
                  <a:lnTo>
                    <a:pt x="400270" y="132553"/>
                  </a:lnTo>
                </a:path>
                <a:path w="2253615" h="829944">
                  <a:moveTo>
                    <a:pt x="532794" y="132544"/>
                  </a:moveTo>
                  <a:lnTo>
                    <a:pt x="665314" y="132544"/>
                  </a:lnTo>
                </a:path>
                <a:path w="2253615" h="829944">
                  <a:moveTo>
                    <a:pt x="797834" y="132540"/>
                  </a:moveTo>
                  <a:lnTo>
                    <a:pt x="930366" y="132540"/>
                  </a:lnTo>
                </a:path>
                <a:path w="2253615" h="829944">
                  <a:moveTo>
                    <a:pt x="1062887" y="132528"/>
                  </a:moveTo>
                  <a:lnTo>
                    <a:pt x="1195409" y="132528"/>
                  </a:lnTo>
                </a:path>
                <a:path w="2253615" h="829944">
                  <a:moveTo>
                    <a:pt x="1327930" y="132524"/>
                  </a:moveTo>
                  <a:lnTo>
                    <a:pt x="1460462" y="132524"/>
                  </a:lnTo>
                </a:path>
                <a:path w="2253615" h="829944">
                  <a:moveTo>
                    <a:pt x="1593079" y="132660"/>
                  </a:moveTo>
                  <a:lnTo>
                    <a:pt x="1725611" y="132660"/>
                  </a:lnTo>
                </a:path>
              </a:pathLst>
            </a:custGeom>
            <a:ln w="5270">
              <a:solidFill>
                <a:srgbClr val="231F20"/>
              </a:solidFill>
              <a:prstDash val="lgDash"/>
            </a:ln>
          </p:spPr>
          <p:txBody>
            <a:bodyPr wrap="square" lIns="0" tIns="0" rIns="0" bIns="0" rtlCol="0"/>
            <a:lstStyle/>
            <a:p>
              <a:endParaRPr/>
            </a:p>
          </p:txBody>
        </p:sp>
        <p:sp>
          <p:nvSpPr>
            <p:cNvPr id="127" name="object 127"/>
            <p:cNvSpPr/>
            <p:nvPr/>
          </p:nvSpPr>
          <p:spPr>
            <a:xfrm>
              <a:off x="3405772" y="2485837"/>
              <a:ext cx="158750" cy="395605"/>
            </a:xfrm>
            <a:custGeom>
              <a:avLst/>
              <a:gdLst/>
              <a:ahLst/>
              <a:cxnLst/>
              <a:rect l="l" t="t" r="r" b="b"/>
              <a:pathLst>
                <a:path w="158750" h="395605">
                  <a:moveTo>
                    <a:pt x="158125" y="52704"/>
                  </a:moveTo>
                  <a:lnTo>
                    <a:pt x="0" y="0"/>
                  </a:lnTo>
                </a:path>
                <a:path w="158750" h="395605">
                  <a:moveTo>
                    <a:pt x="158125" y="105414"/>
                  </a:moveTo>
                  <a:lnTo>
                    <a:pt x="0" y="395311"/>
                  </a:lnTo>
                </a:path>
              </a:pathLst>
            </a:custGeom>
            <a:ln w="5270">
              <a:solidFill>
                <a:srgbClr val="231F20"/>
              </a:solidFill>
            </a:ln>
          </p:spPr>
          <p:txBody>
            <a:bodyPr wrap="square" lIns="0" tIns="0" rIns="0" bIns="0" rtlCol="0"/>
            <a:lstStyle/>
            <a:p>
              <a:endParaRPr/>
            </a:p>
          </p:txBody>
        </p:sp>
        <p:sp>
          <p:nvSpPr>
            <p:cNvPr id="128" name="object 128"/>
            <p:cNvSpPr/>
            <p:nvPr/>
          </p:nvSpPr>
          <p:spPr>
            <a:xfrm>
              <a:off x="1186003" y="2216271"/>
              <a:ext cx="2120900" cy="695960"/>
            </a:xfrm>
            <a:custGeom>
              <a:avLst/>
              <a:gdLst/>
              <a:ahLst/>
              <a:cxnLst/>
              <a:rect l="l" t="t" r="r" b="b"/>
              <a:pathLst>
                <a:path w="2120900" h="695960">
                  <a:moveTo>
                    <a:pt x="530092" y="0"/>
                  </a:moveTo>
                  <a:lnTo>
                    <a:pt x="265048" y="231918"/>
                  </a:lnTo>
                </a:path>
                <a:path w="2120900" h="695960">
                  <a:moveTo>
                    <a:pt x="530092" y="0"/>
                  </a:moveTo>
                  <a:lnTo>
                    <a:pt x="1855335" y="231918"/>
                  </a:lnTo>
                </a:path>
                <a:path w="2120900" h="695960">
                  <a:moveTo>
                    <a:pt x="265048" y="231918"/>
                  </a:moveTo>
                  <a:lnTo>
                    <a:pt x="265048" y="463832"/>
                  </a:lnTo>
                </a:path>
                <a:path w="2120900" h="695960">
                  <a:moveTo>
                    <a:pt x="795142" y="463832"/>
                  </a:moveTo>
                  <a:lnTo>
                    <a:pt x="265048" y="231918"/>
                  </a:lnTo>
                </a:path>
                <a:path w="2120900" h="695960">
                  <a:moveTo>
                    <a:pt x="1855335" y="231918"/>
                  </a:moveTo>
                  <a:lnTo>
                    <a:pt x="1325238" y="463832"/>
                  </a:lnTo>
                </a:path>
                <a:path w="2120900" h="695960">
                  <a:moveTo>
                    <a:pt x="1845879" y="230267"/>
                  </a:moveTo>
                  <a:lnTo>
                    <a:pt x="2120377" y="463832"/>
                  </a:lnTo>
                </a:path>
                <a:path w="2120900" h="695960">
                  <a:moveTo>
                    <a:pt x="795142" y="463832"/>
                  </a:moveTo>
                  <a:lnTo>
                    <a:pt x="530092" y="695751"/>
                  </a:lnTo>
                </a:path>
                <a:path w="2120900" h="695960">
                  <a:moveTo>
                    <a:pt x="795142" y="463832"/>
                  </a:moveTo>
                  <a:lnTo>
                    <a:pt x="795142" y="695751"/>
                  </a:lnTo>
                </a:path>
                <a:path w="2120900" h="695960">
                  <a:moveTo>
                    <a:pt x="265048" y="463832"/>
                  </a:moveTo>
                  <a:lnTo>
                    <a:pt x="265048" y="695751"/>
                  </a:lnTo>
                </a:path>
                <a:path w="2120900" h="695960">
                  <a:moveTo>
                    <a:pt x="265048" y="463832"/>
                  </a:moveTo>
                  <a:lnTo>
                    <a:pt x="0" y="695751"/>
                  </a:lnTo>
                </a:path>
                <a:path w="2120900" h="695960">
                  <a:moveTo>
                    <a:pt x="1325238" y="463832"/>
                  </a:moveTo>
                  <a:lnTo>
                    <a:pt x="1060185" y="695751"/>
                  </a:lnTo>
                </a:path>
                <a:path w="2120900" h="695960">
                  <a:moveTo>
                    <a:pt x="1325238" y="463832"/>
                  </a:moveTo>
                  <a:lnTo>
                    <a:pt x="1590281" y="695751"/>
                  </a:lnTo>
                </a:path>
                <a:path w="2120900" h="695960">
                  <a:moveTo>
                    <a:pt x="2120377" y="463832"/>
                  </a:moveTo>
                  <a:lnTo>
                    <a:pt x="1855335" y="695751"/>
                  </a:lnTo>
                </a:path>
                <a:path w="2120900" h="695960">
                  <a:moveTo>
                    <a:pt x="2120377" y="463832"/>
                  </a:moveTo>
                  <a:lnTo>
                    <a:pt x="2120377" y="695751"/>
                  </a:lnTo>
                </a:path>
              </a:pathLst>
            </a:custGeom>
            <a:ln w="10541">
              <a:solidFill>
                <a:srgbClr val="231F20"/>
              </a:solidFill>
            </a:ln>
          </p:spPr>
          <p:txBody>
            <a:bodyPr wrap="square" lIns="0" tIns="0" rIns="0" bIns="0" rtlCol="0"/>
            <a:lstStyle/>
            <a:p>
              <a:endParaRPr/>
            </a:p>
          </p:txBody>
        </p:sp>
        <p:sp>
          <p:nvSpPr>
            <p:cNvPr id="129" name="object 129"/>
            <p:cNvSpPr/>
            <p:nvPr/>
          </p:nvSpPr>
          <p:spPr>
            <a:xfrm>
              <a:off x="1702919" y="2203094"/>
              <a:ext cx="26670" cy="26670"/>
            </a:xfrm>
            <a:custGeom>
              <a:avLst/>
              <a:gdLst/>
              <a:ahLst/>
              <a:cxnLst/>
              <a:rect l="l" t="t" r="r" b="b"/>
              <a:pathLst>
                <a:path w="26669" h="26669">
                  <a:moveTo>
                    <a:pt x="20456" y="0"/>
                  </a:moveTo>
                  <a:lnTo>
                    <a:pt x="13176" y="0"/>
                  </a:lnTo>
                  <a:lnTo>
                    <a:pt x="5900" y="0"/>
                  </a:lnTo>
                  <a:lnTo>
                    <a:pt x="0" y="5900"/>
                  </a:lnTo>
                  <a:lnTo>
                    <a:pt x="0" y="20455"/>
                  </a:lnTo>
                  <a:lnTo>
                    <a:pt x="5900" y="26352"/>
                  </a:lnTo>
                  <a:lnTo>
                    <a:pt x="20456" y="26352"/>
                  </a:lnTo>
                  <a:lnTo>
                    <a:pt x="26356" y="20455"/>
                  </a:lnTo>
                  <a:lnTo>
                    <a:pt x="26356" y="5900"/>
                  </a:lnTo>
                  <a:lnTo>
                    <a:pt x="20456" y="0"/>
                  </a:lnTo>
                  <a:close/>
                </a:path>
              </a:pathLst>
            </a:custGeom>
            <a:solidFill>
              <a:srgbClr val="231F20"/>
            </a:solidFill>
          </p:spPr>
          <p:txBody>
            <a:bodyPr wrap="square" lIns="0" tIns="0" rIns="0" bIns="0" rtlCol="0"/>
            <a:lstStyle/>
            <a:p>
              <a:endParaRPr/>
            </a:p>
          </p:txBody>
        </p:sp>
        <p:sp>
          <p:nvSpPr>
            <p:cNvPr id="130" name="object 130"/>
            <p:cNvSpPr/>
            <p:nvPr/>
          </p:nvSpPr>
          <p:spPr>
            <a:xfrm>
              <a:off x="1702919" y="2203094"/>
              <a:ext cx="26670" cy="26670"/>
            </a:xfrm>
            <a:custGeom>
              <a:avLst/>
              <a:gdLst/>
              <a:ahLst/>
              <a:cxnLst/>
              <a:rect l="l" t="t" r="r" b="b"/>
              <a:pathLst>
                <a:path w="26669" h="26669">
                  <a:moveTo>
                    <a:pt x="13176" y="0"/>
                  </a:moveTo>
                  <a:lnTo>
                    <a:pt x="20456" y="0"/>
                  </a:lnTo>
                  <a:lnTo>
                    <a:pt x="26356" y="5900"/>
                  </a:lnTo>
                  <a:lnTo>
                    <a:pt x="26356" y="13176"/>
                  </a:lnTo>
                  <a:lnTo>
                    <a:pt x="26356" y="20455"/>
                  </a:lnTo>
                  <a:lnTo>
                    <a:pt x="20456" y="26352"/>
                  </a:lnTo>
                  <a:lnTo>
                    <a:pt x="13176" y="26352"/>
                  </a:lnTo>
                  <a:lnTo>
                    <a:pt x="5900" y="26352"/>
                  </a:lnTo>
                  <a:lnTo>
                    <a:pt x="0" y="20455"/>
                  </a:lnTo>
                  <a:lnTo>
                    <a:pt x="0" y="13176"/>
                  </a:lnTo>
                  <a:lnTo>
                    <a:pt x="0" y="5900"/>
                  </a:lnTo>
                  <a:lnTo>
                    <a:pt x="5900" y="0"/>
                  </a:lnTo>
                  <a:lnTo>
                    <a:pt x="13176" y="0"/>
                  </a:lnTo>
                  <a:close/>
                </a:path>
              </a:pathLst>
            </a:custGeom>
            <a:ln w="5270">
              <a:solidFill>
                <a:srgbClr val="231F20"/>
              </a:solidFill>
            </a:ln>
          </p:spPr>
          <p:txBody>
            <a:bodyPr wrap="square" lIns="0" tIns="0" rIns="0" bIns="0" rtlCol="0"/>
            <a:lstStyle/>
            <a:p>
              <a:endParaRPr/>
            </a:p>
          </p:txBody>
        </p:sp>
        <p:sp>
          <p:nvSpPr>
            <p:cNvPr id="131" name="object 131"/>
            <p:cNvSpPr/>
            <p:nvPr/>
          </p:nvSpPr>
          <p:spPr>
            <a:xfrm>
              <a:off x="1437871" y="2435013"/>
              <a:ext cx="26670" cy="26670"/>
            </a:xfrm>
            <a:custGeom>
              <a:avLst/>
              <a:gdLst/>
              <a:ahLst/>
              <a:cxnLst/>
              <a:rect l="l" t="t" r="r" b="b"/>
              <a:pathLst>
                <a:path w="26669" h="26669">
                  <a:moveTo>
                    <a:pt x="20455" y="0"/>
                  </a:moveTo>
                  <a:lnTo>
                    <a:pt x="13180" y="0"/>
                  </a:lnTo>
                  <a:lnTo>
                    <a:pt x="5900" y="0"/>
                  </a:lnTo>
                  <a:lnTo>
                    <a:pt x="0" y="5896"/>
                  </a:lnTo>
                  <a:lnTo>
                    <a:pt x="0" y="20455"/>
                  </a:lnTo>
                  <a:lnTo>
                    <a:pt x="5900" y="26352"/>
                  </a:lnTo>
                  <a:lnTo>
                    <a:pt x="20455" y="26352"/>
                  </a:lnTo>
                  <a:lnTo>
                    <a:pt x="26356" y="20455"/>
                  </a:lnTo>
                  <a:lnTo>
                    <a:pt x="26356" y="5896"/>
                  </a:lnTo>
                  <a:lnTo>
                    <a:pt x="20455" y="0"/>
                  </a:lnTo>
                  <a:close/>
                </a:path>
              </a:pathLst>
            </a:custGeom>
            <a:solidFill>
              <a:srgbClr val="231F20"/>
            </a:solidFill>
          </p:spPr>
          <p:txBody>
            <a:bodyPr wrap="square" lIns="0" tIns="0" rIns="0" bIns="0" rtlCol="0"/>
            <a:lstStyle/>
            <a:p>
              <a:endParaRPr/>
            </a:p>
          </p:txBody>
        </p:sp>
        <p:sp>
          <p:nvSpPr>
            <p:cNvPr id="132" name="object 132"/>
            <p:cNvSpPr/>
            <p:nvPr/>
          </p:nvSpPr>
          <p:spPr>
            <a:xfrm>
              <a:off x="1437871" y="2435013"/>
              <a:ext cx="26670" cy="26670"/>
            </a:xfrm>
            <a:custGeom>
              <a:avLst/>
              <a:gdLst/>
              <a:ahLst/>
              <a:cxnLst/>
              <a:rect l="l" t="t" r="r" b="b"/>
              <a:pathLst>
                <a:path w="26669" h="26669">
                  <a:moveTo>
                    <a:pt x="13180" y="0"/>
                  </a:moveTo>
                  <a:lnTo>
                    <a:pt x="20455" y="0"/>
                  </a:lnTo>
                  <a:lnTo>
                    <a:pt x="26356" y="5896"/>
                  </a:lnTo>
                  <a:lnTo>
                    <a:pt x="26356" y="13176"/>
                  </a:lnTo>
                  <a:lnTo>
                    <a:pt x="26356" y="20455"/>
                  </a:lnTo>
                  <a:lnTo>
                    <a:pt x="20455" y="26352"/>
                  </a:lnTo>
                  <a:lnTo>
                    <a:pt x="13180" y="26352"/>
                  </a:lnTo>
                  <a:lnTo>
                    <a:pt x="5900" y="26352"/>
                  </a:lnTo>
                  <a:lnTo>
                    <a:pt x="0" y="20455"/>
                  </a:lnTo>
                  <a:lnTo>
                    <a:pt x="0" y="13176"/>
                  </a:lnTo>
                  <a:lnTo>
                    <a:pt x="0" y="5896"/>
                  </a:lnTo>
                  <a:lnTo>
                    <a:pt x="5900" y="0"/>
                  </a:lnTo>
                  <a:lnTo>
                    <a:pt x="13180" y="0"/>
                  </a:lnTo>
                  <a:close/>
                </a:path>
              </a:pathLst>
            </a:custGeom>
            <a:ln w="5270">
              <a:solidFill>
                <a:srgbClr val="231F20"/>
              </a:solidFill>
            </a:ln>
          </p:spPr>
          <p:txBody>
            <a:bodyPr wrap="square" lIns="0" tIns="0" rIns="0" bIns="0" rtlCol="0"/>
            <a:lstStyle/>
            <a:p>
              <a:endParaRPr/>
            </a:p>
          </p:txBody>
        </p:sp>
        <p:sp>
          <p:nvSpPr>
            <p:cNvPr id="133" name="object 133"/>
            <p:cNvSpPr/>
            <p:nvPr/>
          </p:nvSpPr>
          <p:spPr>
            <a:xfrm>
              <a:off x="1437871" y="2666927"/>
              <a:ext cx="26670" cy="26670"/>
            </a:xfrm>
            <a:custGeom>
              <a:avLst/>
              <a:gdLst/>
              <a:ahLst/>
              <a:cxnLst/>
              <a:rect l="l" t="t" r="r" b="b"/>
              <a:pathLst>
                <a:path w="26669" h="26669">
                  <a:moveTo>
                    <a:pt x="20455" y="0"/>
                  </a:moveTo>
                  <a:lnTo>
                    <a:pt x="13180" y="0"/>
                  </a:lnTo>
                  <a:lnTo>
                    <a:pt x="5900" y="0"/>
                  </a:lnTo>
                  <a:lnTo>
                    <a:pt x="0" y="5900"/>
                  </a:lnTo>
                  <a:lnTo>
                    <a:pt x="0" y="20456"/>
                  </a:lnTo>
                  <a:lnTo>
                    <a:pt x="5900" y="26356"/>
                  </a:lnTo>
                  <a:lnTo>
                    <a:pt x="20455" y="26356"/>
                  </a:lnTo>
                  <a:lnTo>
                    <a:pt x="26356" y="20456"/>
                  </a:lnTo>
                  <a:lnTo>
                    <a:pt x="26356" y="5900"/>
                  </a:lnTo>
                  <a:lnTo>
                    <a:pt x="20455" y="0"/>
                  </a:lnTo>
                  <a:close/>
                </a:path>
              </a:pathLst>
            </a:custGeom>
            <a:solidFill>
              <a:srgbClr val="231F20"/>
            </a:solidFill>
          </p:spPr>
          <p:txBody>
            <a:bodyPr wrap="square" lIns="0" tIns="0" rIns="0" bIns="0" rtlCol="0"/>
            <a:lstStyle/>
            <a:p>
              <a:endParaRPr/>
            </a:p>
          </p:txBody>
        </p:sp>
        <p:sp>
          <p:nvSpPr>
            <p:cNvPr id="134" name="object 134"/>
            <p:cNvSpPr/>
            <p:nvPr/>
          </p:nvSpPr>
          <p:spPr>
            <a:xfrm>
              <a:off x="1437871" y="2666927"/>
              <a:ext cx="26670" cy="26670"/>
            </a:xfrm>
            <a:custGeom>
              <a:avLst/>
              <a:gdLst/>
              <a:ahLst/>
              <a:cxnLst/>
              <a:rect l="l" t="t" r="r" b="b"/>
              <a:pathLst>
                <a:path w="26669" h="26669">
                  <a:moveTo>
                    <a:pt x="13180" y="0"/>
                  </a:moveTo>
                  <a:lnTo>
                    <a:pt x="20455" y="0"/>
                  </a:lnTo>
                  <a:lnTo>
                    <a:pt x="26356" y="5900"/>
                  </a:lnTo>
                  <a:lnTo>
                    <a:pt x="26356" y="13176"/>
                  </a:lnTo>
                  <a:lnTo>
                    <a:pt x="26356" y="20456"/>
                  </a:lnTo>
                  <a:lnTo>
                    <a:pt x="20455" y="26356"/>
                  </a:lnTo>
                  <a:lnTo>
                    <a:pt x="13180" y="26356"/>
                  </a:lnTo>
                  <a:lnTo>
                    <a:pt x="5900" y="26356"/>
                  </a:lnTo>
                  <a:lnTo>
                    <a:pt x="0" y="20456"/>
                  </a:lnTo>
                  <a:lnTo>
                    <a:pt x="0" y="13176"/>
                  </a:lnTo>
                  <a:lnTo>
                    <a:pt x="0" y="5900"/>
                  </a:lnTo>
                  <a:lnTo>
                    <a:pt x="5900" y="0"/>
                  </a:lnTo>
                  <a:lnTo>
                    <a:pt x="13180" y="0"/>
                  </a:lnTo>
                  <a:close/>
                </a:path>
              </a:pathLst>
            </a:custGeom>
            <a:ln w="5270">
              <a:solidFill>
                <a:srgbClr val="231F20"/>
              </a:solidFill>
            </a:ln>
          </p:spPr>
          <p:txBody>
            <a:bodyPr wrap="square" lIns="0" tIns="0" rIns="0" bIns="0" rtlCol="0"/>
            <a:lstStyle/>
            <a:p>
              <a:endParaRPr/>
            </a:p>
          </p:txBody>
        </p:sp>
        <p:sp>
          <p:nvSpPr>
            <p:cNvPr id="135" name="object 135"/>
            <p:cNvSpPr/>
            <p:nvPr/>
          </p:nvSpPr>
          <p:spPr>
            <a:xfrm>
              <a:off x="1437871" y="2898846"/>
              <a:ext cx="26670" cy="26670"/>
            </a:xfrm>
            <a:custGeom>
              <a:avLst/>
              <a:gdLst/>
              <a:ahLst/>
              <a:cxnLst/>
              <a:rect l="l" t="t" r="r" b="b"/>
              <a:pathLst>
                <a:path w="26669" h="26669">
                  <a:moveTo>
                    <a:pt x="20455" y="0"/>
                  </a:moveTo>
                  <a:lnTo>
                    <a:pt x="13180" y="0"/>
                  </a:lnTo>
                  <a:lnTo>
                    <a:pt x="5900" y="0"/>
                  </a:lnTo>
                  <a:lnTo>
                    <a:pt x="0" y="5896"/>
                  </a:lnTo>
                  <a:lnTo>
                    <a:pt x="0" y="20455"/>
                  </a:lnTo>
                  <a:lnTo>
                    <a:pt x="5900" y="26352"/>
                  </a:lnTo>
                  <a:lnTo>
                    <a:pt x="20455" y="26352"/>
                  </a:lnTo>
                  <a:lnTo>
                    <a:pt x="26356" y="20455"/>
                  </a:lnTo>
                  <a:lnTo>
                    <a:pt x="26356" y="5896"/>
                  </a:lnTo>
                  <a:lnTo>
                    <a:pt x="20455" y="0"/>
                  </a:lnTo>
                  <a:close/>
                </a:path>
              </a:pathLst>
            </a:custGeom>
            <a:solidFill>
              <a:srgbClr val="231F20"/>
            </a:solidFill>
          </p:spPr>
          <p:txBody>
            <a:bodyPr wrap="square" lIns="0" tIns="0" rIns="0" bIns="0" rtlCol="0"/>
            <a:lstStyle/>
            <a:p>
              <a:endParaRPr/>
            </a:p>
          </p:txBody>
        </p:sp>
        <p:sp>
          <p:nvSpPr>
            <p:cNvPr id="136" name="object 136"/>
            <p:cNvSpPr/>
            <p:nvPr/>
          </p:nvSpPr>
          <p:spPr>
            <a:xfrm>
              <a:off x="1437871" y="2898846"/>
              <a:ext cx="26670" cy="26670"/>
            </a:xfrm>
            <a:custGeom>
              <a:avLst/>
              <a:gdLst/>
              <a:ahLst/>
              <a:cxnLst/>
              <a:rect l="l" t="t" r="r" b="b"/>
              <a:pathLst>
                <a:path w="26669" h="26669">
                  <a:moveTo>
                    <a:pt x="13180" y="0"/>
                  </a:moveTo>
                  <a:lnTo>
                    <a:pt x="20455" y="0"/>
                  </a:lnTo>
                  <a:lnTo>
                    <a:pt x="26356" y="5896"/>
                  </a:lnTo>
                  <a:lnTo>
                    <a:pt x="26356" y="13176"/>
                  </a:lnTo>
                  <a:lnTo>
                    <a:pt x="26356" y="20455"/>
                  </a:lnTo>
                  <a:lnTo>
                    <a:pt x="20455" y="26352"/>
                  </a:lnTo>
                  <a:lnTo>
                    <a:pt x="13180" y="26352"/>
                  </a:lnTo>
                  <a:lnTo>
                    <a:pt x="5900" y="26352"/>
                  </a:lnTo>
                  <a:lnTo>
                    <a:pt x="0" y="20455"/>
                  </a:lnTo>
                  <a:lnTo>
                    <a:pt x="0" y="13176"/>
                  </a:lnTo>
                  <a:lnTo>
                    <a:pt x="0" y="5896"/>
                  </a:lnTo>
                  <a:lnTo>
                    <a:pt x="5900" y="0"/>
                  </a:lnTo>
                  <a:lnTo>
                    <a:pt x="13180" y="0"/>
                  </a:lnTo>
                  <a:close/>
                </a:path>
              </a:pathLst>
            </a:custGeom>
            <a:ln w="5270">
              <a:solidFill>
                <a:srgbClr val="231F20"/>
              </a:solidFill>
            </a:ln>
          </p:spPr>
          <p:txBody>
            <a:bodyPr wrap="square" lIns="0" tIns="0" rIns="0" bIns="0" rtlCol="0"/>
            <a:lstStyle/>
            <a:p>
              <a:endParaRPr/>
            </a:p>
          </p:txBody>
        </p:sp>
        <p:sp>
          <p:nvSpPr>
            <p:cNvPr id="137" name="object 137"/>
            <p:cNvSpPr/>
            <p:nvPr/>
          </p:nvSpPr>
          <p:spPr>
            <a:xfrm>
              <a:off x="1172827" y="2898846"/>
              <a:ext cx="26670" cy="26670"/>
            </a:xfrm>
            <a:custGeom>
              <a:avLst/>
              <a:gdLst/>
              <a:ahLst/>
              <a:cxnLst/>
              <a:rect l="l" t="t" r="r" b="b"/>
              <a:pathLst>
                <a:path w="26669" h="26669">
                  <a:moveTo>
                    <a:pt x="20455" y="0"/>
                  </a:moveTo>
                  <a:lnTo>
                    <a:pt x="13176" y="0"/>
                  </a:lnTo>
                  <a:lnTo>
                    <a:pt x="5895" y="0"/>
                  </a:lnTo>
                  <a:lnTo>
                    <a:pt x="0" y="5896"/>
                  </a:lnTo>
                  <a:lnTo>
                    <a:pt x="0" y="20455"/>
                  </a:lnTo>
                  <a:lnTo>
                    <a:pt x="5895" y="26352"/>
                  </a:lnTo>
                  <a:lnTo>
                    <a:pt x="20455" y="26352"/>
                  </a:lnTo>
                  <a:lnTo>
                    <a:pt x="26352" y="20455"/>
                  </a:lnTo>
                  <a:lnTo>
                    <a:pt x="26352" y="5896"/>
                  </a:lnTo>
                  <a:lnTo>
                    <a:pt x="20455" y="0"/>
                  </a:lnTo>
                  <a:close/>
                </a:path>
              </a:pathLst>
            </a:custGeom>
            <a:solidFill>
              <a:srgbClr val="231F20"/>
            </a:solidFill>
          </p:spPr>
          <p:txBody>
            <a:bodyPr wrap="square" lIns="0" tIns="0" rIns="0" bIns="0" rtlCol="0"/>
            <a:lstStyle/>
            <a:p>
              <a:endParaRPr/>
            </a:p>
          </p:txBody>
        </p:sp>
        <p:sp>
          <p:nvSpPr>
            <p:cNvPr id="138" name="object 138"/>
            <p:cNvSpPr/>
            <p:nvPr/>
          </p:nvSpPr>
          <p:spPr>
            <a:xfrm>
              <a:off x="1172827" y="2898846"/>
              <a:ext cx="26670" cy="26670"/>
            </a:xfrm>
            <a:custGeom>
              <a:avLst/>
              <a:gdLst/>
              <a:ahLst/>
              <a:cxnLst/>
              <a:rect l="l" t="t" r="r" b="b"/>
              <a:pathLst>
                <a:path w="26669" h="26669">
                  <a:moveTo>
                    <a:pt x="13176" y="0"/>
                  </a:moveTo>
                  <a:lnTo>
                    <a:pt x="20455" y="0"/>
                  </a:lnTo>
                  <a:lnTo>
                    <a:pt x="26352" y="5896"/>
                  </a:lnTo>
                  <a:lnTo>
                    <a:pt x="26352" y="13176"/>
                  </a:lnTo>
                  <a:lnTo>
                    <a:pt x="26352" y="20455"/>
                  </a:lnTo>
                  <a:lnTo>
                    <a:pt x="20455" y="26352"/>
                  </a:lnTo>
                  <a:lnTo>
                    <a:pt x="13176" y="26352"/>
                  </a:lnTo>
                  <a:lnTo>
                    <a:pt x="5895" y="26352"/>
                  </a:lnTo>
                  <a:lnTo>
                    <a:pt x="0" y="20455"/>
                  </a:lnTo>
                  <a:lnTo>
                    <a:pt x="0" y="13176"/>
                  </a:lnTo>
                  <a:lnTo>
                    <a:pt x="0" y="5896"/>
                  </a:lnTo>
                  <a:lnTo>
                    <a:pt x="5895" y="0"/>
                  </a:lnTo>
                  <a:lnTo>
                    <a:pt x="13176" y="0"/>
                  </a:lnTo>
                  <a:close/>
                </a:path>
              </a:pathLst>
            </a:custGeom>
            <a:ln w="5270">
              <a:solidFill>
                <a:srgbClr val="231F20"/>
              </a:solidFill>
            </a:ln>
          </p:spPr>
          <p:txBody>
            <a:bodyPr wrap="square" lIns="0" tIns="0" rIns="0" bIns="0" rtlCol="0"/>
            <a:lstStyle/>
            <a:p>
              <a:endParaRPr/>
            </a:p>
          </p:txBody>
        </p:sp>
        <p:sp>
          <p:nvSpPr>
            <p:cNvPr id="139" name="object 139"/>
            <p:cNvSpPr/>
            <p:nvPr/>
          </p:nvSpPr>
          <p:spPr>
            <a:xfrm>
              <a:off x="1702919" y="2898846"/>
              <a:ext cx="26670" cy="26670"/>
            </a:xfrm>
            <a:custGeom>
              <a:avLst/>
              <a:gdLst/>
              <a:ahLst/>
              <a:cxnLst/>
              <a:rect l="l" t="t" r="r" b="b"/>
              <a:pathLst>
                <a:path w="26669" h="26669">
                  <a:moveTo>
                    <a:pt x="20456" y="0"/>
                  </a:moveTo>
                  <a:lnTo>
                    <a:pt x="13176" y="0"/>
                  </a:lnTo>
                  <a:lnTo>
                    <a:pt x="5900" y="0"/>
                  </a:lnTo>
                  <a:lnTo>
                    <a:pt x="0" y="5896"/>
                  </a:lnTo>
                  <a:lnTo>
                    <a:pt x="0" y="20455"/>
                  </a:lnTo>
                  <a:lnTo>
                    <a:pt x="5900" y="26352"/>
                  </a:lnTo>
                  <a:lnTo>
                    <a:pt x="20456" y="26352"/>
                  </a:lnTo>
                  <a:lnTo>
                    <a:pt x="26356" y="20455"/>
                  </a:lnTo>
                  <a:lnTo>
                    <a:pt x="26356" y="5896"/>
                  </a:lnTo>
                  <a:lnTo>
                    <a:pt x="20456" y="0"/>
                  </a:lnTo>
                  <a:close/>
                </a:path>
              </a:pathLst>
            </a:custGeom>
            <a:solidFill>
              <a:srgbClr val="231F20"/>
            </a:solidFill>
          </p:spPr>
          <p:txBody>
            <a:bodyPr wrap="square" lIns="0" tIns="0" rIns="0" bIns="0" rtlCol="0"/>
            <a:lstStyle/>
            <a:p>
              <a:endParaRPr/>
            </a:p>
          </p:txBody>
        </p:sp>
        <p:sp>
          <p:nvSpPr>
            <p:cNvPr id="140" name="object 140"/>
            <p:cNvSpPr/>
            <p:nvPr/>
          </p:nvSpPr>
          <p:spPr>
            <a:xfrm>
              <a:off x="1702919" y="2898846"/>
              <a:ext cx="26670" cy="26670"/>
            </a:xfrm>
            <a:custGeom>
              <a:avLst/>
              <a:gdLst/>
              <a:ahLst/>
              <a:cxnLst/>
              <a:rect l="l" t="t" r="r" b="b"/>
              <a:pathLst>
                <a:path w="26669" h="26669">
                  <a:moveTo>
                    <a:pt x="13176" y="0"/>
                  </a:moveTo>
                  <a:lnTo>
                    <a:pt x="20456" y="0"/>
                  </a:lnTo>
                  <a:lnTo>
                    <a:pt x="26356" y="5896"/>
                  </a:lnTo>
                  <a:lnTo>
                    <a:pt x="26356" y="13176"/>
                  </a:lnTo>
                  <a:lnTo>
                    <a:pt x="26356" y="20455"/>
                  </a:lnTo>
                  <a:lnTo>
                    <a:pt x="20456" y="26352"/>
                  </a:lnTo>
                  <a:lnTo>
                    <a:pt x="13176" y="26352"/>
                  </a:lnTo>
                  <a:lnTo>
                    <a:pt x="5900" y="26352"/>
                  </a:lnTo>
                  <a:lnTo>
                    <a:pt x="0" y="20455"/>
                  </a:lnTo>
                  <a:lnTo>
                    <a:pt x="0" y="13176"/>
                  </a:lnTo>
                  <a:lnTo>
                    <a:pt x="0" y="5896"/>
                  </a:lnTo>
                  <a:lnTo>
                    <a:pt x="5900" y="0"/>
                  </a:lnTo>
                  <a:lnTo>
                    <a:pt x="13176" y="0"/>
                  </a:lnTo>
                  <a:close/>
                </a:path>
              </a:pathLst>
            </a:custGeom>
            <a:ln w="5270">
              <a:solidFill>
                <a:srgbClr val="231F20"/>
              </a:solidFill>
            </a:ln>
          </p:spPr>
          <p:txBody>
            <a:bodyPr wrap="square" lIns="0" tIns="0" rIns="0" bIns="0" rtlCol="0"/>
            <a:lstStyle/>
            <a:p>
              <a:endParaRPr/>
            </a:p>
          </p:txBody>
        </p:sp>
        <p:sp>
          <p:nvSpPr>
            <p:cNvPr id="141" name="object 141"/>
            <p:cNvSpPr/>
            <p:nvPr/>
          </p:nvSpPr>
          <p:spPr>
            <a:xfrm>
              <a:off x="2233012" y="2898846"/>
              <a:ext cx="26670" cy="26670"/>
            </a:xfrm>
            <a:custGeom>
              <a:avLst/>
              <a:gdLst/>
              <a:ahLst/>
              <a:cxnLst/>
              <a:rect l="l" t="t" r="r" b="b"/>
              <a:pathLst>
                <a:path w="26669" h="26669">
                  <a:moveTo>
                    <a:pt x="20460" y="0"/>
                  </a:moveTo>
                  <a:lnTo>
                    <a:pt x="13176" y="0"/>
                  </a:lnTo>
                  <a:lnTo>
                    <a:pt x="5902" y="0"/>
                  </a:lnTo>
                  <a:lnTo>
                    <a:pt x="0" y="5896"/>
                  </a:lnTo>
                  <a:lnTo>
                    <a:pt x="0" y="20455"/>
                  </a:lnTo>
                  <a:lnTo>
                    <a:pt x="5902" y="26352"/>
                  </a:lnTo>
                  <a:lnTo>
                    <a:pt x="20460" y="26352"/>
                  </a:lnTo>
                  <a:lnTo>
                    <a:pt x="26352" y="20455"/>
                  </a:lnTo>
                  <a:lnTo>
                    <a:pt x="26352" y="5896"/>
                  </a:lnTo>
                  <a:lnTo>
                    <a:pt x="20460" y="0"/>
                  </a:lnTo>
                  <a:close/>
                </a:path>
              </a:pathLst>
            </a:custGeom>
            <a:solidFill>
              <a:srgbClr val="231F20"/>
            </a:solidFill>
          </p:spPr>
          <p:txBody>
            <a:bodyPr wrap="square" lIns="0" tIns="0" rIns="0" bIns="0" rtlCol="0"/>
            <a:lstStyle/>
            <a:p>
              <a:endParaRPr/>
            </a:p>
          </p:txBody>
        </p:sp>
        <p:sp>
          <p:nvSpPr>
            <p:cNvPr id="142" name="object 142"/>
            <p:cNvSpPr/>
            <p:nvPr/>
          </p:nvSpPr>
          <p:spPr>
            <a:xfrm>
              <a:off x="2233012" y="2898846"/>
              <a:ext cx="26670" cy="26670"/>
            </a:xfrm>
            <a:custGeom>
              <a:avLst/>
              <a:gdLst/>
              <a:ahLst/>
              <a:cxnLst/>
              <a:rect l="l" t="t" r="r" b="b"/>
              <a:pathLst>
                <a:path w="26669" h="26669">
                  <a:moveTo>
                    <a:pt x="13176" y="0"/>
                  </a:moveTo>
                  <a:lnTo>
                    <a:pt x="20460" y="0"/>
                  </a:lnTo>
                  <a:lnTo>
                    <a:pt x="26352" y="5896"/>
                  </a:lnTo>
                  <a:lnTo>
                    <a:pt x="26352" y="13176"/>
                  </a:lnTo>
                  <a:lnTo>
                    <a:pt x="26352" y="20455"/>
                  </a:lnTo>
                  <a:lnTo>
                    <a:pt x="20460" y="26352"/>
                  </a:lnTo>
                  <a:lnTo>
                    <a:pt x="13176" y="26352"/>
                  </a:lnTo>
                  <a:lnTo>
                    <a:pt x="5902" y="26352"/>
                  </a:lnTo>
                  <a:lnTo>
                    <a:pt x="0" y="20455"/>
                  </a:lnTo>
                  <a:lnTo>
                    <a:pt x="0" y="13176"/>
                  </a:lnTo>
                  <a:lnTo>
                    <a:pt x="0" y="5896"/>
                  </a:lnTo>
                  <a:lnTo>
                    <a:pt x="5902" y="0"/>
                  </a:lnTo>
                  <a:lnTo>
                    <a:pt x="13176" y="0"/>
                  </a:lnTo>
                  <a:close/>
                </a:path>
              </a:pathLst>
            </a:custGeom>
            <a:ln w="5270">
              <a:solidFill>
                <a:srgbClr val="231F20"/>
              </a:solidFill>
            </a:ln>
          </p:spPr>
          <p:txBody>
            <a:bodyPr wrap="square" lIns="0" tIns="0" rIns="0" bIns="0" rtlCol="0"/>
            <a:lstStyle/>
            <a:p>
              <a:endParaRPr/>
            </a:p>
          </p:txBody>
        </p:sp>
        <p:sp>
          <p:nvSpPr>
            <p:cNvPr id="143" name="object 143"/>
            <p:cNvSpPr/>
            <p:nvPr/>
          </p:nvSpPr>
          <p:spPr>
            <a:xfrm>
              <a:off x="1967969" y="2666927"/>
              <a:ext cx="26670" cy="26670"/>
            </a:xfrm>
            <a:custGeom>
              <a:avLst/>
              <a:gdLst/>
              <a:ahLst/>
              <a:cxnLst/>
              <a:rect l="l" t="t" r="r" b="b"/>
              <a:pathLst>
                <a:path w="26669" h="26669">
                  <a:moveTo>
                    <a:pt x="20460" y="0"/>
                  </a:moveTo>
                  <a:lnTo>
                    <a:pt x="13176" y="0"/>
                  </a:lnTo>
                  <a:lnTo>
                    <a:pt x="5892" y="0"/>
                  </a:lnTo>
                  <a:lnTo>
                    <a:pt x="0" y="5900"/>
                  </a:lnTo>
                  <a:lnTo>
                    <a:pt x="0" y="20456"/>
                  </a:lnTo>
                  <a:lnTo>
                    <a:pt x="5892" y="26356"/>
                  </a:lnTo>
                  <a:lnTo>
                    <a:pt x="20460" y="26356"/>
                  </a:lnTo>
                  <a:lnTo>
                    <a:pt x="26352" y="20456"/>
                  </a:lnTo>
                  <a:lnTo>
                    <a:pt x="26352" y="5900"/>
                  </a:lnTo>
                  <a:lnTo>
                    <a:pt x="20460" y="0"/>
                  </a:lnTo>
                  <a:close/>
                </a:path>
              </a:pathLst>
            </a:custGeom>
            <a:solidFill>
              <a:srgbClr val="231F20"/>
            </a:solidFill>
          </p:spPr>
          <p:txBody>
            <a:bodyPr wrap="square" lIns="0" tIns="0" rIns="0" bIns="0" rtlCol="0"/>
            <a:lstStyle/>
            <a:p>
              <a:endParaRPr/>
            </a:p>
          </p:txBody>
        </p:sp>
        <p:sp>
          <p:nvSpPr>
            <p:cNvPr id="144" name="object 144"/>
            <p:cNvSpPr/>
            <p:nvPr/>
          </p:nvSpPr>
          <p:spPr>
            <a:xfrm>
              <a:off x="1967969" y="2666927"/>
              <a:ext cx="26670" cy="26670"/>
            </a:xfrm>
            <a:custGeom>
              <a:avLst/>
              <a:gdLst/>
              <a:ahLst/>
              <a:cxnLst/>
              <a:rect l="l" t="t" r="r" b="b"/>
              <a:pathLst>
                <a:path w="26669" h="26669">
                  <a:moveTo>
                    <a:pt x="13176" y="0"/>
                  </a:moveTo>
                  <a:lnTo>
                    <a:pt x="20460" y="0"/>
                  </a:lnTo>
                  <a:lnTo>
                    <a:pt x="26352" y="5900"/>
                  </a:lnTo>
                  <a:lnTo>
                    <a:pt x="26352" y="13176"/>
                  </a:lnTo>
                  <a:lnTo>
                    <a:pt x="26352" y="20456"/>
                  </a:lnTo>
                  <a:lnTo>
                    <a:pt x="20460" y="26356"/>
                  </a:lnTo>
                  <a:lnTo>
                    <a:pt x="13176" y="26356"/>
                  </a:lnTo>
                  <a:lnTo>
                    <a:pt x="5892" y="26356"/>
                  </a:lnTo>
                  <a:lnTo>
                    <a:pt x="0" y="20456"/>
                  </a:lnTo>
                  <a:lnTo>
                    <a:pt x="0" y="13176"/>
                  </a:lnTo>
                  <a:lnTo>
                    <a:pt x="0" y="5900"/>
                  </a:lnTo>
                  <a:lnTo>
                    <a:pt x="5892" y="0"/>
                  </a:lnTo>
                  <a:lnTo>
                    <a:pt x="13176" y="0"/>
                  </a:lnTo>
                  <a:close/>
                </a:path>
              </a:pathLst>
            </a:custGeom>
            <a:ln w="5270">
              <a:solidFill>
                <a:srgbClr val="231F20"/>
              </a:solidFill>
            </a:ln>
          </p:spPr>
          <p:txBody>
            <a:bodyPr wrap="square" lIns="0" tIns="0" rIns="0" bIns="0" rtlCol="0"/>
            <a:lstStyle/>
            <a:p>
              <a:endParaRPr/>
            </a:p>
          </p:txBody>
        </p:sp>
        <p:sp>
          <p:nvSpPr>
            <p:cNvPr id="145" name="object 145"/>
            <p:cNvSpPr/>
            <p:nvPr/>
          </p:nvSpPr>
          <p:spPr>
            <a:xfrm>
              <a:off x="1967969" y="2898846"/>
              <a:ext cx="26670" cy="26670"/>
            </a:xfrm>
            <a:custGeom>
              <a:avLst/>
              <a:gdLst/>
              <a:ahLst/>
              <a:cxnLst/>
              <a:rect l="l" t="t" r="r" b="b"/>
              <a:pathLst>
                <a:path w="26669" h="26669">
                  <a:moveTo>
                    <a:pt x="20460" y="0"/>
                  </a:moveTo>
                  <a:lnTo>
                    <a:pt x="13176" y="0"/>
                  </a:lnTo>
                  <a:lnTo>
                    <a:pt x="5892" y="0"/>
                  </a:lnTo>
                  <a:lnTo>
                    <a:pt x="0" y="5896"/>
                  </a:lnTo>
                  <a:lnTo>
                    <a:pt x="0" y="20455"/>
                  </a:lnTo>
                  <a:lnTo>
                    <a:pt x="5892" y="26352"/>
                  </a:lnTo>
                  <a:lnTo>
                    <a:pt x="20460" y="26352"/>
                  </a:lnTo>
                  <a:lnTo>
                    <a:pt x="26352" y="20455"/>
                  </a:lnTo>
                  <a:lnTo>
                    <a:pt x="26352" y="5896"/>
                  </a:lnTo>
                  <a:lnTo>
                    <a:pt x="20460" y="0"/>
                  </a:lnTo>
                  <a:close/>
                </a:path>
              </a:pathLst>
            </a:custGeom>
            <a:solidFill>
              <a:srgbClr val="231F20"/>
            </a:solidFill>
          </p:spPr>
          <p:txBody>
            <a:bodyPr wrap="square" lIns="0" tIns="0" rIns="0" bIns="0" rtlCol="0"/>
            <a:lstStyle/>
            <a:p>
              <a:endParaRPr/>
            </a:p>
          </p:txBody>
        </p:sp>
        <p:sp>
          <p:nvSpPr>
            <p:cNvPr id="146" name="object 146"/>
            <p:cNvSpPr/>
            <p:nvPr/>
          </p:nvSpPr>
          <p:spPr>
            <a:xfrm>
              <a:off x="1967969" y="2898846"/>
              <a:ext cx="26670" cy="26670"/>
            </a:xfrm>
            <a:custGeom>
              <a:avLst/>
              <a:gdLst/>
              <a:ahLst/>
              <a:cxnLst/>
              <a:rect l="l" t="t" r="r" b="b"/>
              <a:pathLst>
                <a:path w="26669" h="26669">
                  <a:moveTo>
                    <a:pt x="13176" y="0"/>
                  </a:moveTo>
                  <a:lnTo>
                    <a:pt x="20460" y="0"/>
                  </a:lnTo>
                  <a:lnTo>
                    <a:pt x="26352" y="5896"/>
                  </a:lnTo>
                  <a:lnTo>
                    <a:pt x="26352" y="13176"/>
                  </a:lnTo>
                  <a:lnTo>
                    <a:pt x="26352" y="20455"/>
                  </a:lnTo>
                  <a:lnTo>
                    <a:pt x="20460" y="26352"/>
                  </a:lnTo>
                  <a:lnTo>
                    <a:pt x="13176" y="26352"/>
                  </a:lnTo>
                  <a:lnTo>
                    <a:pt x="5892" y="26352"/>
                  </a:lnTo>
                  <a:lnTo>
                    <a:pt x="0" y="20455"/>
                  </a:lnTo>
                  <a:lnTo>
                    <a:pt x="0" y="13176"/>
                  </a:lnTo>
                  <a:lnTo>
                    <a:pt x="0" y="5896"/>
                  </a:lnTo>
                  <a:lnTo>
                    <a:pt x="5892" y="0"/>
                  </a:lnTo>
                  <a:lnTo>
                    <a:pt x="13176" y="0"/>
                  </a:lnTo>
                  <a:close/>
                </a:path>
              </a:pathLst>
            </a:custGeom>
            <a:ln w="5270">
              <a:solidFill>
                <a:srgbClr val="231F20"/>
              </a:solidFill>
            </a:ln>
          </p:spPr>
          <p:txBody>
            <a:bodyPr wrap="square" lIns="0" tIns="0" rIns="0" bIns="0" rtlCol="0"/>
            <a:lstStyle/>
            <a:p>
              <a:endParaRPr/>
            </a:p>
          </p:txBody>
        </p:sp>
        <p:sp>
          <p:nvSpPr>
            <p:cNvPr id="147" name="object 147"/>
            <p:cNvSpPr/>
            <p:nvPr/>
          </p:nvSpPr>
          <p:spPr>
            <a:xfrm>
              <a:off x="2498066" y="2666927"/>
              <a:ext cx="26670" cy="26670"/>
            </a:xfrm>
            <a:custGeom>
              <a:avLst/>
              <a:gdLst/>
              <a:ahLst/>
              <a:cxnLst/>
              <a:rect l="l" t="t" r="r" b="b"/>
              <a:pathLst>
                <a:path w="26669" h="26669">
                  <a:moveTo>
                    <a:pt x="20449" y="0"/>
                  </a:moveTo>
                  <a:lnTo>
                    <a:pt x="13176" y="0"/>
                  </a:lnTo>
                  <a:lnTo>
                    <a:pt x="5892" y="0"/>
                  </a:lnTo>
                  <a:lnTo>
                    <a:pt x="0" y="5900"/>
                  </a:lnTo>
                  <a:lnTo>
                    <a:pt x="0" y="20456"/>
                  </a:lnTo>
                  <a:lnTo>
                    <a:pt x="5892" y="26356"/>
                  </a:lnTo>
                  <a:lnTo>
                    <a:pt x="20449" y="26356"/>
                  </a:lnTo>
                  <a:lnTo>
                    <a:pt x="26352" y="20456"/>
                  </a:lnTo>
                  <a:lnTo>
                    <a:pt x="26352" y="5900"/>
                  </a:lnTo>
                  <a:lnTo>
                    <a:pt x="20449" y="0"/>
                  </a:lnTo>
                  <a:close/>
                </a:path>
              </a:pathLst>
            </a:custGeom>
            <a:solidFill>
              <a:srgbClr val="231F20"/>
            </a:solidFill>
          </p:spPr>
          <p:txBody>
            <a:bodyPr wrap="square" lIns="0" tIns="0" rIns="0" bIns="0" rtlCol="0"/>
            <a:lstStyle/>
            <a:p>
              <a:endParaRPr/>
            </a:p>
          </p:txBody>
        </p:sp>
        <p:sp>
          <p:nvSpPr>
            <p:cNvPr id="148" name="object 148"/>
            <p:cNvSpPr/>
            <p:nvPr/>
          </p:nvSpPr>
          <p:spPr>
            <a:xfrm>
              <a:off x="2498066" y="2666927"/>
              <a:ext cx="26670" cy="26670"/>
            </a:xfrm>
            <a:custGeom>
              <a:avLst/>
              <a:gdLst/>
              <a:ahLst/>
              <a:cxnLst/>
              <a:rect l="l" t="t" r="r" b="b"/>
              <a:pathLst>
                <a:path w="26669" h="26669">
                  <a:moveTo>
                    <a:pt x="13176" y="0"/>
                  </a:moveTo>
                  <a:lnTo>
                    <a:pt x="20449" y="0"/>
                  </a:lnTo>
                  <a:lnTo>
                    <a:pt x="26352" y="5900"/>
                  </a:lnTo>
                  <a:lnTo>
                    <a:pt x="26352" y="13176"/>
                  </a:lnTo>
                  <a:lnTo>
                    <a:pt x="26352" y="20456"/>
                  </a:lnTo>
                  <a:lnTo>
                    <a:pt x="20449" y="26356"/>
                  </a:lnTo>
                  <a:lnTo>
                    <a:pt x="13176" y="26356"/>
                  </a:lnTo>
                  <a:lnTo>
                    <a:pt x="5892" y="26356"/>
                  </a:lnTo>
                  <a:lnTo>
                    <a:pt x="0" y="20456"/>
                  </a:lnTo>
                  <a:lnTo>
                    <a:pt x="0" y="13176"/>
                  </a:lnTo>
                  <a:lnTo>
                    <a:pt x="0" y="5900"/>
                  </a:lnTo>
                  <a:lnTo>
                    <a:pt x="5892" y="0"/>
                  </a:lnTo>
                  <a:lnTo>
                    <a:pt x="13176" y="0"/>
                  </a:lnTo>
                  <a:close/>
                </a:path>
              </a:pathLst>
            </a:custGeom>
            <a:ln w="5270">
              <a:solidFill>
                <a:srgbClr val="231F20"/>
              </a:solidFill>
            </a:ln>
          </p:spPr>
          <p:txBody>
            <a:bodyPr wrap="square" lIns="0" tIns="0" rIns="0" bIns="0" rtlCol="0"/>
            <a:lstStyle/>
            <a:p>
              <a:endParaRPr/>
            </a:p>
          </p:txBody>
        </p:sp>
        <p:sp>
          <p:nvSpPr>
            <p:cNvPr id="149" name="object 149"/>
            <p:cNvSpPr/>
            <p:nvPr/>
          </p:nvSpPr>
          <p:spPr>
            <a:xfrm>
              <a:off x="3018696" y="2433357"/>
              <a:ext cx="26670" cy="26670"/>
            </a:xfrm>
            <a:custGeom>
              <a:avLst/>
              <a:gdLst/>
              <a:ahLst/>
              <a:cxnLst/>
              <a:rect l="l" t="t" r="r" b="b"/>
              <a:pathLst>
                <a:path w="26669" h="26669">
                  <a:moveTo>
                    <a:pt x="20460" y="0"/>
                  </a:moveTo>
                  <a:lnTo>
                    <a:pt x="13186" y="0"/>
                  </a:lnTo>
                  <a:lnTo>
                    <a:pt x="5902" y="0"/>
                  </a:lnTo>
                  <a:lnTo>
                    <a:pt x="0" y="5900"/>
                  </a:lnTo>
                  <a:lnTo>
                    <a:pt x="0" y="20456"/>
                  </a:lnTo>
                  <a:lnTo>
                    <a:pt x="5902" y="26356"/>
                  </a:lnTo>
                  <a:lnTo>
                    <a:pt x="20460" y="26356"/>
                  </a:lnTo>
                  <a:lnTo>
                    <a:pt x="26363" y="20456"/>
                  </a:lnTo>
                  <a:lnTo>
                    <a:pt x="26363" y="5900"/>
                  </a:lnTo>
                  <a:lnTo>
                    <a:pt x="20460" y="0"/>
                  </a:lnTo>
                  <a:close/>
                </a:path>
              </a:pathLst>
            </a:custGeom>
            <a:solidFill>
              <a:srgbClr val="231F20"/>
            </a:solidFill>
          </p:spPr>
          <p:txBody>
            <a:bodyPr wrap="square" lIns="0" tIns="0" rIns="0" bIns="0" rtlCol="0"/>
            <a:lstStyle/>
            <a:p>
              <a:endParaRPr/>
            </a:p>
          </p:txBody>
        </p:sp>
        <p:sp>
          <p:nvSpPr>
            <p:cNvPr id="150" name="object 150"/>
            <p:cNvSpPr/>
            <p:nvPr/>
          </p:nvSpPr>
          <p:spPr>
            <a:xfrm>
              <a:off x="3018696" y="2433357"/>
              <a:ext cx="26670" cy="26670"/>
            </a:xfrm>
            <a:custGeom>
              <a:avLst/>
              <a:gdLst/>
              <a:ahLst/>
              <a:cxnLst/>
              <a:rect l="l" t="t" r="r" b="b"/>
              <a:pathLst>
                <a:path w="26669" h="26669">
                  <a:moveTo>
                    <a:pt x="13186" y="0"/>
                  </a:moveTo>
                  <a:lnTo>
                    <a:pt x="20460" y="0"/>
                  </a:lnTo>
                  <a:lnTo>
                    <a:pt x="26363" y="5900"/>
                  </a:lnTo>
                  <a:lnTo>
                    <a:pt x="26363" y="13180"/>
                  </a:lnTo>
                  <a:lnTo>
                    <a:pt x="26363" y="20456"/>
                  </a:lnTo>
                  <a:lnTo>
                    <a:pt x="20460" y="26356"/>
                  </a:lnTo>
                  <a:lnTo>
                    <a:pt x="13186" y="26356"/>
                  </a:lnTo>
                  <a:lnTo>
                    <a:pt x="5902" y="26356"/>
                  </a:lnTo>
                  <a:lnTo>
                    <a:pt x="0" y="20456"/>
                  </a:lnTo>
                  <a:lnTo>
                    <a:pt x="0" y="13180"/>
                  </a:lnTo>
                  <a:lnTo>
                    <a:pt x="0" y="5900"/>
                  </a:lnTo>
                  <a:lnTo>
                    <a:pt x="5902" y="0"/>
                  </a:lnTo>
                  <a:lnTo>
                    <a:pt x="13186" y="0"/>
                  </a:lnTo>
                  <a:close/>
                </a:path>
              </a:pathLst>
            </a:custGeom>
            <a:ln w="5270">
              <a:solidFill>
                <a:srgbClr val="231F20"/>
              </a:solidFill>
            </a:ln>
          </p:spPr>
          <p:txBody>
            <a:bodyPr wrap="square" lIns="0" tIns="0" rIns="0" bIns="0" rtlCol="0"/>
            <a:lstStyle/>
            <a:p>
              <a:endParaRPr/>
            </a:p>
          </p:txBody>
        </p:sp>
        <p:sp>
          <p:nvSpPr>
            <p:cNvPr id="151" name="object 151"/>
            <p:cNvSpPr/>
            <p:nvPr/>
          </p:nvSpPr>
          <p:spPr>
            <a:xfrm>
              <a:off x="3293205" y="2666927"/>
              <a:ext cx="26670" cy="26670"/>
            </a:xfrm>
            <a:custGeom>
              <a:avLst/>
              <a:gdLst/>
              <a:ahLst/>
              <a:cxnLst/>
              <a:rect l="l" t="t" r="r" b="b"/>
              <a:pathLst>
                <a:path w="26670" h="26669">
                  <a:moveTo>
                    <a:pt x="20460" y="0"/>
                  </a:moveTo>
                  <a:lnTo>
                    <a:pt x="13176" y="0"/>
                  </a:lnTo>
                  <a:lnTo>
                    <a:pt x="5902" y="0"/>
                  </a:lnTo>
                  <a:lnTo>
                    <a:pt x="0" y="5900"/>
                  </a:lnTo>
                  <a:lnTo>
                    <a:pt x="0" y="20456"/>
                  </a:lnTo>
                  <a:lnTo>
                    <a:pt x="5902" y="26356"/>
                  </a:lnTo>
                  <a:lnTo>
                    <a:pt x="20460" y="26356"/>
                  </a:lnTo>
                  <a:lnTo>
                    <a:pt x="26352" y="20456"/>
                  </a:lnTo>
                  <a:lnTo>
                    <a:pt x="26352" y="5900"/>
                  </a:lnTo>
                  <a:lnTo>
                    <a:pt x="20460" y="0"/>
                  </a:lnTo>
                  <a:close/>
                </a:path>
              </a:pathLst>
            </a:custGeom>
            <a:solidFill>
              <a:srgbClr val="231F20"/>
            </a:solidFill>
          </p:spPr>
          <p:txBody>
            <a:bodyPr wrap="square" lIns="0" tIns="0" rIns="0" bIns="0" rtlCol="0"/>
            <a:lstStyle/>
            <a:p>
              <a:endParaRPr/>
            </a:p>
          </p:txBody>
        </p:sp>
        <p:sp>
          <p:nvSpPr>
            <p:cNvPr id="152" name="object 152"/>
            <p:cNvSpPr/>
            <p:nvPr/>
          </p:nvSpPr>
          <p:spPr>
            <a:xfrm>
              <a:off x="3293205" y="2666927"/>
              <a:ext cx="26670" cy="26670"/>
            </a:xfrm>
            <a:custGeom>
              <a:avLst/>
              <a:gdLst/>
              <a:ahLst/>
              <a:cxnLst/>
              <a:rect l="l" t="t" r="r" b="b"/>
              <a:pathLst>
                <a:path w="26670" h="26669">
                  <a:moveTo>
                    <a:pt x="13176" y="0"/>
                  </a:moveTo>
                  <a:lnTo>
                    <a:pt x="20460" y="0"/>
                  </a:lnTo>
                  <a:lnTo>
                    <a:pt x="26352" y="5900"/>
                  </a:lnTo>
                  <a:lnTo>
                    <a:pt x="26352" y="13176"/>
                  </a:lnTo>
                  <a:lnTo>
                    <a:pt x="26352" y="20456"/>
                  </a:lnTo>
                  <a:lnTo>
                    <a:pt x="20460" y="26356"/>
                  </a:lnTo>
                  <a:lnTo>
                    <a:pt x="13176" y="26356"/>
                  </a:lnTo>
                  <a:lnTo>
                    <a:pt x="5902" y="26356"/>
                  </a:lnTo>
                  <a:lnTo>
                    <a:pt x="0" y="20456"/>
                  </a:lnTo>
                  <a:lnTo>
                    <a:pt x="0" y="13176"/>
                  </a:lnTo>
                  <a:lnTo>
                    <a:pt x="0" y="5900"/>
                  </a:lnTo>
                  <a:lnTo>
                    <a:pt x="5902" y="0"/>
                  </a:lnTo>
                  <a:lnTo>
                    <a:pt x="13176" y="0"/>
                  </a:lnTo>
                  <a:close/>
                </a:path>
              </a:pathLst>
            </a:custGeom>
            <a:ln w="5270">
              <a:solidFill>
                <a:srgbClr val="231F20"/>
              </a:solidFill>
            </a:ln>
          </p:spPr>
          <p:txBody>
            <a:bodyPr wrap="square" lIns="0" tIns="0" rIns="0" bIns="0" rtlCol="0"/>
            <a:lstStyle/>
            <a:p>
              <a:endParaRPr/>
            </a:p>
          </p:txBody>
        </p:sp>
        <p:sp>
          <p:nvSpPr>
            <p:cNvPr id="153" name="object 153"/>
            <p:cNvSpPr/>
            <p:nvPr/>
          </p:nvSpPr>
          <p:spPr>
            <a:xfrm>
              <a:off x="3293205" y="2898846"/>
              <a:ext cx="26670" cy="26670"/>
            </a:xfrm>
            <a:custGeom>
              <a:avLst/>
              <a:gdLst/>
              <a:ahLst/>
              <a:cxnLst/>
              <a:rect l="l" t="t" r="r" b="b"/>
              <a:pathLst>
                <a:path w="26670" h="26669">
                  <a:moveTo>
                    <a:pt x="20460" y="0"/>
                  </a:moveTo>
                  <a:lnTo>
                    <a:pt x="13176" y="0"/>
                  </a:lnTo>
                  <a:lnTo>
                    <a:pt x="5902" y="0"/>
                  </a:lnTo>
                  <a:lnTo>
                    <a:pt x="0" y="5896"/>
                  </a:lnTo>
                  <a:lnTo>
                    <a:pt x="0" y="20455"/>
                  </a:lnTo>
                  <a:lnTo>
                    <a:pt x="5902" y="26352"/>
                  </a:lnTo>
                  <a:lnTo>
                    <a:pt x="20460" y="26352"/>
                  </a:lnTo>
                  <a:lnTo>
                    <a:pt x="26352" y="20455"/>
                  </a:lnTo>
                  <a:lnTo>
                    <a:pt x="26352" y="5896"/>
                  </a:lnTo>
                  <a:lnTo>
                    <a:pt x="20460" y="0"/>
                  </a:lnTo>
                  <a:close/>
                </a:path>
              </a:pathLst>
            </a:custGeom>
            <a:solidFill>
              <a:srgbClr val="231F20"/>
            </a:solidFill>
          </p:spPr>
          <p:txBody>
            <a:bodyPr wrap="square" lIns="0" tIns="0" rIns="0" bIns="0" rtlCol="0"/>
            <a:lstStyle/>
            <a:p>
              <a:endParaRPr/>
            </a:p>
          </p:txBody>
        </p:sp>
        <p:sp>
          <p:nvSpPr>
            <p:cNvPr id="154" name="object 154"/>
            <p:cNvSpPr/>
            <p:nvPr/>
          </p:nvSpPr>
          <p:spPr>
            <a:xfrm>
              <a:off x="3293205" y="2898846"/>
              <a:ext cx="26670" cy="26670"/>
            </a:xfrm>
            <a:custGeom>
              <a:avLst/>
              <a:gdLst/>
              <a:ahLst/>
              <a:cxnLst/>
              <a:rect l="l" t="t" r="r" b="b"/>
              <a:pathLst>
                <a:path w="26670" h="26669">
                  <a:moveTo>
                    <a:pt x="13176" y="0"/>
                  </a:moveTo>
                  <a:lnTo>
                    <a:pt x="20460" y="0"/>
                  </a:lnTo>
                  <a:lnTo>
                    <a:pt x="26352" y="5896"/>
                  </a:lnTo>
                  <a:lnTo>
                    <a:pt x="26352" y="13176"/>
                  </a:lnTo>
                  <a:lnTo>
                    <a:pt x="26352" y="20455"/>
                  </a:lnTo>
                  <a:lnTo>
                    <a:pt x="20460" y="26352"/>
                  </a:lnTo>
                  <a:lnTo>
                    <a:pt x="13176" y="26352"/>
                  </a:lnTo>
                  <a:lnTo>
                    <a:pt x="5902" y="26352"/>
                  </a:lnTo>
                  <a:lnTo>
                    <a:pt x="0" y="20455"/>
                  </a:lnTo>
                  <a:lnTo>
                    <a:pt x="0" y="13176"/>
                  </a:lnTo>
                  <a:lnTo>
                    <a:pt x="0" y="5896"/>
                  </a:lnTo>
                  <a:lnTo>
                    <a:pt x="5902" y="0"/>
                  </a:lnTo>
                  <a:lnTo>
                    <a:pt x="13176" y="0"/>
                  </a:lnTo>
                  <a:close/>
                </a:path>
              </a:pathLst>
            </a:custGeom>
            <a:ln w="5270">
              <a:solidFill>
                <a:srgbClr val="231F20"/>
              </a:solidFill>
            </a:ln>
          </p:spPr>
          <p:txBody>
            <a:bodyPr wrap="square" lIns="0" tIns="0" rIns="0" bIns="0" rtlCol="0"/>
            <a:lstStyle/>
            <a:p>
              <a:endParaRPr/>
            </a:p>
          </p:txBody>
        </p:sp>
        <p:sp>
          <p:nvSpPr>
            <p:cNvPr id="155" name="object 155"/>
            <p:cNvSpPr/>
            <p:nvPr/>
          </p:nvSpPr>
          <p:spPr>
            <a:xfrm>
              <a:off x="3028162" y="2898846"/>
              <a:ext cx="26670" cy="26670"/>
            </a:xfrm>
            <a:custGeom>
              <a:avLst/>
              <a:gdLst/>
              <a:ahLst/>
              <a:cxnLst/>
              <a:rect l="l" t="t" r="r" b="b"/>
              <a:pathLst>
                <a:path w="26669" h="26669">
                  <a:moveTo>
                    <a:pt x="20449" y="0"/>
                  </a:moveTo>
                  <a:lnTo>
                    <a:pt x="13176" y="0"/>
                  </a:lnTo>
                  <a:lnTo>
                    <a:pt x="5892" y="0"/>
                  </a:lnTo>
                  <a:lnTo>
                    <a:pt x="0" y="5896"/>
                  </a:lnTo>
                  <a:lnTo>
                    <a:pt x="0" y="20455"/>
                  </a:lnTo>
                  <a:lnTo>
                    <a:pt x="5892" y="26352"/>
                  </a:lnTo>
                  <a:lnTo>
                    <a:pt x="20449" y="26352"/>
                  </a:lnTo>
                  <a:lnTo>
                    <a:pt x="26352" y="20455"/>
                  </a:lnTo>
                  <a:lnTo>
                    <a:pt x="26352" y="5896"/>
                  </a:lnTo>
                  <a:lnTo>
                    <a:pt x="20449" y="0"/>
                  </a:lnTo>
                  <a:close/>
                </a:path>
              </a:pathLst>
            </a:custGeom>
            <a:solidFill>
              <a:srgbClr val="231F20"/>
            </a:solidFill>
          </p:spPr>
          <p:txBody>
            <a:bodyPr wrap="square" lIns="0" tIns="0" rIns="0" bIns="0" rtlCol="0"/>
            <a:lstStyle/>
            <a:p>
              <a:endParaRPr/>
            </a:p>
          </p:txBody>
        </p:sp>
        <p:sp>
          <p:nvSpPr>
            <p:cNvPr id="156" name="object 156"/>
            <p:cNvSpPr/>
            <p:nvPr/>
          </p:nvSpPr>
          <p:spPr>
            <a:xfrm>
              <a:off x="3028162" y="2898846"/>
              <a:ext cx="26670" cy="26670"/>
            </a:xfrm>
            <a:custGeom>
              <a:avLst/>
              <a:gdLst/>
              <a:ahLst/>
              <a:cxnLst/>
              <a:rect l="l" t="t" r="r" b="b"/>
              <a:pathLst>
                <a:path w="26669" h="26669">
                  <a:moveTo>
                    <a:pt x="13176" y="0"/>
                  </a:moveTo>
                  <a:lnTo>
                    <a:pt x="20449" y="0"/>
                  </a:lnTo>
                  <a:lnTo>
                    <a:pt x="26352" y="5896"/>
                  </a:lnTo>
                  <a:lnTo>
                    <a:pt x="26352" y="13176"/>
                  </a:lnTo>
                  <a:lnTo>
                    <a:pt x="26352" y="20455"/>
                  </a:lnTo>
                  <a:lnTo>
                    <a:pt x="20449" y="26352"/>
                  </a:lnTo>
                  <a:lnTo>
                    <a:pt x="13176" y="26352"/>
                  </a:lnTo>
                  <a:lnTo>
                    <a:pt x="5892" y="26352"/>
                  </a:lnTo>
                  <a:lnTo>
                    <a:pt x="0" y="20455"/>
                  </a:lnTo>
                  <a:lnTo>
                    <a:pt x="0" y="13176"/>
                  </a:lnTo>
                  <a:lnTo>
                    <a:pt x="0" y="5896"/>
                  </a:lnTo>
                  <a:lnTo>
                    <a:pt x="5892" y="0"/>
                  </a:lnTo>
                  <a:lnTo>
                    <a:pt x="13176" y="0"/>
                  </a:lnTo>
                  <a:close/>
                </a:path>
              </a:pathLst>
            </a:custGeom>
            <a:ln w="5270">
              <a:solidFill>
                <a:srgbClr val="231F20"/>
              </a:solidFill>
            </a:ln>
          </p:spPr>
          <p:txBody>
            <a:bodyPr wrap="square" lIns="0" tIns="0" rIns="0" bIns="0" rtlCol="0"/>
            <a:lstStyle/>
            <a:p>
              <a:endParaRPr/>
            </a:p>
          </p:txBody>
        </p:sp>
        <p:sp>
          <p:nvSpPr>
            <p:cNvPr id="157" name="object 157"/>
            <p:cNvSpPr/>
            <p:nvPr/>
          </p:nvSpPr>
          <p:spPr>
            <a:xfrm>
              <a:off x="2763109" y="2898846"/>
              <a:ext cx="26670" cy="26670"/>
            </a:xfrm>
            <a:custGeom>
              <a:avLst/>
              <a:gdLst/>
              <a:ahLst/>
              <a:cxnLst/>
              <a:rect l="l" t="t" r="r" b="b"/>
              <a:pathLst>
                <a:path w="26669" h="26669">
                  <a:moveTo>
                    <a:pt x="20460" y="0"/>
                  </a:moveTo>
                  <a:lnTo>
                    <a:pt x="13176" y="0"/>
                  </a:lnTo>
                  <a:lnTo>
                    <a:pt x="5902" y="0"/>
                  </a:lnTo>
                  <a:lnTo>
                    <a:pt x="0" y="5896"/>
                  </a:lnTo>
                  <a:lnTo>
                    <a:pt x="0" y="20455"/>
                  </a:lnTo>
                  <a:lnTo>
                    <a:pt x="5902" y="26352"/>
                  </a:lnTo>
                  <a:lnTo>
                    <a:pt x="20460" y="26352"/>
                  </a:lnTo>
                  <a:lnTo>
                    <a:pt x="26352" y="20455"/>
                  </a:lnTo>
                  <a:lnTo>
                    <a:pt x="26352" y="5896"/>
                  </a:lnTo>
                  <a:lnTo>
                    <a:pt x="20460" y="0"/>
                  </a:lnTo>
                  <a:close/>
                </a:path>
              </a:pathLst>
            </a:custGeom>
            <a:solidFill>
              <a:srgbClr val="231F20"/>
            </a:solidFill>
          </p:spPr>
          <p:txBody>
            <a:bodyPr wrap="square" lIns="0" tIns="0" rIns="0" bIns="0" rtlCol="0"/>
            <a:lstStyle/>
            <a:p>
              <a:endParaRPr/>
            </a:p>
          </p:txBody>
        </p:sp>
        <p:sp>
          <p:nvSpPr>
            <p:cNvPr id="158" name="object 158"/>
            <p:cNvSpPr/>
            <p:nvPr/>
          </p:nvSpPr>
          <p:spPr>
            <a:xfrm>
              <a:off x="2279319" y="2037811"/>
              <a:ext cx="510540" cy="887730"/>
            </a:xfrm>
            <a:custGeom>
              <a:avLst/>
              <a:gdLst/>
              <a:ahLst/>
              <a:cxnLst/>
              <a:rect l="l" t="t" r="r" b="b"/>
              <a:pathLst>
                <a:path w="510539" h="887730">
                  <a:moveTo>
                    <a:pt x="496965" y="861034"/>
                  </a:moveTo>
                  <a:lnTo>
                    <a:pt x="504249" y="861034"/>
                  </a:lnTo>
                  <a:lnTo>
                    <a:pt x="510142" y="866930"/>
                  </a:lnTo>
                  <a:lnTo>
                    <a:pt x="510142" y="874210"/>
                  </a:lnTo>
                  <a:lnTo>
                    <a:pt x="510142" y="881490"/>
                  </a:lnTo>
                  <a:lnTo>
                    <a:pt x="504249" y="887386"/>
                  </a:lnTo>
                  <a:lnTo>
                    <a:pt x="496965" y="887386"/>
                  </a:lnTo>
                  <a:lnTo>
                    <a:pt x="489692" y="887386"/>
                  </a:lnTo>
                  <a:lnTo>
                    <a:pt x="483789" y="881490"/>
                  </a:lnTo>
                  <a:lnTo>
                    <a:pt x="483789" y="874210"/>
                  </a:lnTo>
                  <a:lnTo>
                    <a:pt x="483789" y="866930"/>
                  </a:lnTo>
                  <a:lnTo>
                    <a:pt x="489692" y="861034"/>
                  </a:lnTo>
                  <a:lnTo>
                    <a:pt x="496965" y="861034"/>
                  </a:lnTo>
                  <a:close/>
                </a:path>
                <a:path w="510539" h="887730">
                  <a:moveTo>
                    <a:pt x="0" y="145328"/>
                  </a:moveTo>
                  <a:lnTo>
                    <a:pt x="177710" y="0"/>
                  </a:lnTo>
                </a:path>
                <a:path w="510539" h="887730">
                  <a:moveTo>
                    <a:pt x="335836" y="0"/>
                  </a:moveTo>
                  <a:lnTo>
                    <a:pt x="463835" y="145328"/>
                  </a:lnTo>
                </a:path>
              </a:pathLst>
            </a:custGeom>
            <a:ln w="5270">
              <a:solidFill>
                <a:srgbClr val="231F20"/>
              </a:solidFill>
            </a:ln>
          </p:spPr>
          <p:txBody>
            <a:bodyPr wrap="square" lIns="0" tIns="0" rIns="0" bIns="0" rtlCol="0"/>
            <a:lstStyle/>
            <a:p>
              <a:endParaRPr/>
            </a:p>
          </p:txBody>
        </p:sp>
      </p:grpSp>
      <p:sp>
        <p:nvSpPr>
          <p:cNvPr id="159" name="object 159"/>
          <p:cNvSpPr txBox="1"/>
          <p:nvPr/>
        </p:nvSpPr>
        <p:spPr>
          <a:xfrm>
            <a:off x="271094" y="686376"/>
            <a:ext cx="4103370" cy="2276475"/>
          </a:xfrm>
          <a:prstGeom prst="rect">
            <a:avLst/>
          </a:prstGeom>
        </p:spPr>
        <p:txBody>
          <a:bodyPr vert="horz" wrap="square" lIns="0" tIns="12065" rIns="0" bIns="0" rtlCol="0">
            <a:spAutoFit/>
          </a:bodyPr>
          <a:lstStyle/>
          <a:p>
            <a:pPr marL="365760" indent="-168275">
              <a:lnSpc>
                <a:spcPts val="1200"/>
              </a:lnSpc>
              <a:spcBef>
                <a:spcPts val="95"/>
              </a:spcBef>
              <a:buClr>
                <a:srgbClr val="3333B2"/>
              </a:buClr>
              <a:buFont typeface="Arial"/>
              <a:buChar char="►"/>
              <a:tabLst>
                <a:tab pos="366395" algn="l"/>
              </a:tabLst>
            </a:pPr>
            <a:r>
              <a:rPr sz="1000" b="1" spc="5" dirty="0">
                <a:latin typeface="Arial"/>
                <a:cs typeface="Arial"/>
              </a:rPr>
              <a:t>D</a:t>
            </a:r>
            <a:r>
              <a:rPr sz="1050" i="1" spc="7" baseline="-15873" dirty="0">
                <a:latin typeface="Arial"/>
                <a:cs typeface="Arial"/>
              </a:rPr>
              <a:t>k</a:t>
            </a:r>
            <a:r>
              <a:rPr sz="1050" i="1" spc="232" baseline="-15873" dirty="0">
                <a:latin typeface="Arial"/>
                <a:cs typeface="Arial"/>
              </a:rPr>
              <a:t> </a:t>
            </a:r>
            <a:r>
              <a:rPr sz="1000" spc="190" dirty="0">
                <a:latin typeface="Arial"/>
                <a:cs typeface="Arial"/>
              </a:rPr>
              <a:t>=</a:t>
            </a:r>
            <a:r>
              <a:rPr sz="1000" spc="-60" dirty="0">
                <a:latin typeface="Arial"/>
                <a:cs typeface="Arial"/>
              </a:rPr>
              <a:t> </a:t>
            </a:r>
            <a:r>
              <a:rPr sz="1000" i="1" spc="5" dirty="0">
                <a:latin typeface="メイリオ"/>
                <a:cs typeface="メイリオ"/>
              </a:rPr>
              <a:t>{</a:t>
            </a:r>
            <a:r>
              <a:rPr sz="1000" i="1" spc="5" dirty="0">
                <a:latin typeface="Arial"/>
                <a:cs typeface="Arial"/>
              </a:rPr>
              <a:t>D</a:t>
            </a:r>
            <a:r>
              <a:rPr sz="1050" i="1" spc="7" baseline="-15873" dirty="0">
                <a:latin typeface="Arial"/>
                <a:cs typeface="Arial"/>
              </a:rPr>
              <a:t>k,1</a:t>
            </a:r>
            <a:r>
              <a:rPr sz="1000" i="1" spc="5" dirty="0">
                <a:latin typeface="Arial"/>
                <a:cs typeface="Arial"/>
              </a:rPr>
              <a:t>,</a:t>
            </a:r>
            <a:r>
              <a:rPr sz="1000" i="1" spc="-165" dirty="0">
                <a:latin typeface="Arial"/>
                <a:cs typeface="Arial"/>
              </a:rPr>
              <a:t> </a:t>
            </a:r>
            <a:r>
              <a:rPr sz="1000" i="1" spc="25" dirty="0">
                <a:latin typeface="Arial"/>
                <a:cs typeface="Arial"/>
              </a:rPr>
              <a:t>D</a:t>
            </a:r>
            <a:r>
              <a:rPr sz="1050" i="1" spc="37" baseline="-15873" dirty="0">
                <a:latin typeface="Arial"/>
                <a:cs typeface="Arial"/>
              </a:rPr>
              <a:t>k,2</a:t>
            </a:r>
            <a:r>
              <a:rPr sz="1050" i="1" spc="-150" baseline="-15873"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spc="20" dirty="0">
                <a:latin typeface="Arial"/>
                <a:cs typeface="Arial"/>
              </a:rPr>
              <a:t>D</a:t>
            </a:r>
            <a:r>
              <a:rPr sz="1050" i="1" spc="30" baseline="-15873" dirty="0">
                <a:latin typeface="Arial"/>
                <a:cs typeface="Arial"/>
              </a:rPr>
              <a:t>k,N</a:t>
            </a:r>
            <a:r>
              <a:rPr sz="900" i="1" spc="30" baseline="-32407" dirty="0">
                <a:latin typeface="Arial"/>
                <a:cs typeface="Arial"/>
              </a:rPr>
              <a:t>k</a:t>
            </a:r>
            <a:r>
              <a:rPr sz="900" i="1" spc="-7" baseline="-32407" dirty="0">
                <a:latin typeface="Arial"/>
                <a:cs typeface="Arial"/>
              </a:rPr>
              <a:t> </a:t>
            </a:r>
            <a:r>
              <a:rPr sz="1000" i="1" spc="-105" dirty="0">
                <a:latin typeface="メイリオ"/>
                <a:cs typeface="メイリオ"/>
              </a:rPr>
              <a:t>}</a:t>
            </a:r>
            <a:r>
              <a:rPr sz="1000" i="1" spc="-60" dirty="0">
                <a:latin typeface="メイリオ"/>
                <a:cs typeface="メイリオ"/>
              </a:rPr>
              <a:t> </a:t>
            </a:r>
            <a:r>
              <a:rPr sz="1000" spc="-5" dirty="0">
                <a:latin typeface="Arial"/>
                <a:cs typeface="Arial"/>
              </a:rPr>
              <a:t>denotes</a:t>
            </a:r>
            <a:r>
              <a:rPr sz="1000" dirty="0">
                <a:latin typeface="Arial"/>
                <a:cs typeface="Arial"/>
              </a:rPr>
              <a:t> </a:t>
            </a:r>
            <a:r>
              <a:rPr sz="1000" spc="-5" dirty="0">
                <a:latin typeface="Arial"/>
                <a:cs typeface="Arial"/>
              </a:rPr>
              <a:t>the</a:t>
            </a:r>
            <a:r>
              <a:rPr sz="1000" dirty="0">
                <a:latin typeface="Arial"/>
                <a:cs typeface="Arial"/>
              </a:rPr>
              <a:t> </a:t>
            </a:r>
            <a:r>
              <a:rPr sz="1000" i="1" spc="5" dirty="0">
                <a:latin typeface="Arial"/>
                <a:cs typeface="Arial"/>
              </a:rPr>
              <a:t>N</a:t>
            </a:r>
            <a:r>
              <a:rPr sz="1050" i="1" spc="7" baseline="-15873" dirty="0">
                <a:latin typeface="Arial"/>
                <a:cs typeface="Arial"/>
              </a:rPr>
              <a:t>k</a:t>
            </a:r>
            <a:r>
              <a:rPr sz="1050" i="1" spc="30" baseline="-15873" dirty="0">
                <a:latin typeface="Arial"/>
                <a:cs typeface="Arial"/>
              </a:rPr>
              <a:t> </a:t>
            </a:r>
            <a:r>
              <a:rPr sz="1000" spc="-5" dirty="0">
                <a:latin typeface="Arial"/>
                <a:cs typeface="Arial"/>
              </a:rPr>
              <a:t>domains</a:t>
            </a:r>
            <a:r>
              <a:rPr sz="1000" dirty="0">
                <a:latin typeface="Arial"/>
                <a:cs typeface="Arial"/>
              </a:rPr>
              <a:t> </a:t>
            </a:r>
            <a:r>
              <a:rPr sz="1000" spc="-5" dirty="0">
                <a:latin typeface="Arial"/>
                <a:cs typeface="Arial"/>
              </a:rPr>
              <a:t>at </a:t>
            </a:r>
            <a:r>
              <a:rPr sz="1000" spc="-15" dirty="0">
                <a:latin typeface="Arial"/>
                <a:cs typeface="Arial"/>
              </a:rPr>
              <a:t>level</a:t>
            </a:r>
            <a:r>
              <a:rPr sz="1000" dirty="0">
                <a:latin typeface="Arial"/>
                <a:cs typeface="Arial"/>
              </a:rPr>
              <a:t> </a:t>
            </a:r>
            <a:r>
              <a:rPr sz="1000" i="1" spc="-5" dirty="0">
                <a:latin typeface="Arial"/>
                <a:cs typeface="Arial"/>
              </a:rPr>
              <a:t>k</a:t>
            </a:r>
            <a:endParaRPr sz="1000">
              <a:latin typeface="Arial"/>
              <a:cs typeface="Arial"/>
            </a:endParaRPr>
          </a:p>
          <a:p>
            <a:pPr marL="365760" indent="-168275">
              <a:lnSpc>
                <a:spcPts val="1195"/>
              </a:lnSpc>
              <a:buClr>
                <a:srgbClr val="3333B2"/>
              </a:buClr>
              <a:buChar char="►"/>
              <a:tabLst>
                <a:tab pos="366395" algn="l"/>
              </a:tabLst>
            </a:pPr>
            <a:r>
              <a:rPr sz="1000" spc="-5" dirty="0">
                <a:solidFill>
                  <a:srgbClr val="0000FA"/>
                </a:solidFill>
                <a:latin typeface="Arial"/>
                <a:cs typeface="Arial"/>
              </a:rPr>
              <a:t>Note</a:t>
            </a:r>
            <a:r>
              <a:rPr sz="1000" spc="-5" dirty="0">
                <a:latin typeface="Arial"/>
                <a:cs typeface="Arial"/>
              </a:rPr>
              <a:t>:</a:t>
            </a:r>
            <a:r>
              <a:rPr sz="1000" spc="60" dirty="0">
                <a:latin typeface="Arial"/>
                <a:cs typeface="Arial"/>
              </a:rPr>
              <a:t> </a:t>
            </a:r>
            <a:r>
              <a:rPr sz="1000" i="1" spc="-5" dirty="0">
                <a:latin typeface="Arial"/>
                <a:cs typeface="Arial"/>
              </a:rPr>
              <a:t>N</a:t>
            </a:r>
            <a:r>
              <a:rPr sz="1050" spc="30" baseline="-15873" dirty="0">
                <a:latin typeface="Arial"/>
                <a:cs typeface="Arial"/>
              </a:rPr>
              <a:t>0</a:t>
            </a:r>
            <a:r>
              <a:rPr sz="1050" spc="112" baseline="-15873" dirty="0">
                <a:latin typeface="Arial"/>
                <a:cs typeface="Arial"/>
              </a:rPr>
              <a:t> </a:t>
            </a:r>
            <a:r>
              <a:rPr sz="1000" spc="190" dirty="0">
                <a:latin typeface="Arial"/>
                <a:cs typeface="Arial"/>
              </a:rPr>
              <a:t>=</a:t>
            </a:r>
            <a:r>
              <a:rPr sz="1000" spc="-60" dirty="0">
                <a:latin typeface="Arial"/>
                <a:cs typeface="Arial"/>
              </a:rPr>
              <a:t> </a:t>
            </a:r>
            <a:r>
              <a:rPr sz="1000" i="1" spc="-165" dirty="0">
                <a:latin typeface="メイリオ"/>
                <a:cs typeface="メイリオ"/>
              </a:rPr>
              <a:t>|</a:t>
            </a:r>
            <a:r>
              <a:rPr sz="1000" b="1" spc="-5" dirty="0">
                <a:latin typeface="Arial"/>
                <a:cs typeface="Arial"/>
              </a:rPr>
              <a:t>D</a:t>
            </a:r>
            <a:r>
              <a:rPr sz="1050" spc="97" baseline="-15873" dirty="0">
                <a:latin typeface="Arial"/>
                <a:cs typeface="Arial"/>
              </a:rPr>
              <a:t>0</a:t>
            </a:r>
            <a:r>
              <a:rPr sz="1000" i="1" spc="-165" dirty="0">
                <a:latin typeface="メイリオ"/>
                <a:cs typeface="メイリオ"/>
              </a:rPr>
              <a:t>|</a:t>
            </a:r>
            <a:r>
              <a:rPr sz="1000" i="1" spc="-120" dirty="0">
                <a:latin typeface="メイリオ"/>
                <a:cs typeface="メイリオ"/>
              </a:rPr>
              <a:t> </a:t>
            </a:r>
            <a:r>
              <a:rPr sz="1000" spc="190" dirty="0">
                <a:latin typeface="Arial"/>
                <a:cs typeface="Arial"/>
              </a:rPr>
              <a:t>=</a:t>
            </a:r>
            <a:r>
              <a:rPr sz="1000" spc="-60" dirty="0">
                <a:latin typeface="Arial"/>
                <a:cs typeface="Arial"/>
              </a:rPr>
              <a:t> </a:t>
            </a:r>
            <a:r>
              <a:rPr sz="1000" spc="-5" dirty="0">
                <a:latin typeface="Arial"/>
                <a:cs typeface="Arial"/>
              </a:rPr>
              <a:t>1.</a:t>
            </a:r>
            <a:endParaRPr sz="1000">
              <a:latin typeface="Arial"/>
              <a:cs typeface="Arial"/>
            </a:endParaRPr>
          </a:p>
          <a:p>
            <a:pPr marL="361315" marR="119380" indent="-163195">
              <a:lnSpc>
                <a:spcPts val="1200"/>
              </a:lnSpc>
              <a:spcBef>
                <a:spcPts val="40"/>
              </a:spcBef>
              <a:buClr>
                <a:srgbClr val="3333B2"/>
              </a:buClr>
              <a:buChar char="►"/>
              <a:tabLst>
                <a:tab pos="366395" algn="l"/>
              </a:tabLst>
            </a:pPr>
            <a:r>
              <a:rPr sz="1000" spc="-15" dirty="0">
                <a:latin typeface="Arial"/>
                <a:cs typeface="Arial"/>
              </a:rPr>
              <a:t>For </a:t>
            </a:r>
            <a:r>
              <a:rPr sz="1000" spc="-5" dirty="0">
                <a:latin typeface="Arial"/>
                <a:cs typeface="Arial"/>
              </a:rPr>
              <a:t>each </a:t>
            </a:r>
            <a:r>
              <a:rPr sz="1000" spc="-15" dirty="0">
                <a:latin typeface="Arial"/>
                <a:cs typeface="Arial"/>
              </a:rPr>
              <a:t>level </a:t>
            </a:r>
            <a:r>
              <a:rPr sz="1000" i="1" spc="-5" dirty="0">
                <a:latin typeface="Arial"/>
                <a:cs typeface="Arial"/>
              </a:rPr>
              <a:t>k </a:t>
            </a:r>
            <a:r>
              <a:rPr sz="1000" spc="-5" dirty="0">
                <a:latin typeface="Arial"/>
                <a:cs typeface="Arial"/>
              </a:rPr>
              <a:t>, the set of hosts is </a:t>
            </a:r>
            <a:r>
              <a:rPr sz="1000" dirty="0">
                <a:latin typeface="Arial"/>
                <a:cs typeface="Arial"/>
              </a:rPr>
              <a:t>partitioned </a:t>
            </a:r>
            <a:r>
              <a:rPr sz="1000" spc="-5" dirty="0">
                <a:latin typeface="Arial"/>
                <a:cs typeface="Arial"/>
              </a:rPr>
              <a:t>into </a:t>
            </a:r>
            <a:r>
              <a:rPr sz="1000" i="1" spc="5" dirty="0">
                <a:latin typeface="Arial"/>
                <a:cs typeface="Arial"/>
              </a:rPr>
              <a:t>N</a:t>
            </a:r>
            <a:r>
              <a:rPr sz="1050" i="1" spc="7" baseline="-15873" dirty="0">
                <a:latin typeface="Arial"/>
                <a:cs typeface="Arial"/>
              </a:rPr>
              <a:t>k</a:t>
            </a:r>
            <a:r>
              <a:rPr sz="1050" i="1" spc="15" baseline="-15873" dirty="0">
                <a:latin typeface="Arial"/>
                <a:cs typeface="Arial"/>
              </a:rPr>
              <a:t> </a:t>
            </a:r>
            <a:r>
              <a:rPr sz="1000" spc="-5" dirty="0">
                <a:latin typeface="Arial"/>
                <a:cs typeface="Arial"/>
              </a:rPr>
              <a:t>subsets, </a:t>
            </a:r>
            <a:r>
              <a:rPr sz="1000" dirty="0">
                <a:latin typeface="Arial"/>
                <a:cs typeface="Arial"/>
              </a:rPr>
              <a:t> </a:t>
            </a:r>
            <a:r>
              <a:rPr sz="1000" spc="-10" dirty="0">
                <a:latin typeface="Arial"/>
                <a:cs typeface="Arial"/>
              </a:rPr>
              <a:t>with</a:t>
            </a:r>
            <a:r>
              <a:rPr sz="1000" spc="5" dirty="0">
                <a:latin typeface="Arial"/>
                <a:cs typeface="Arial"/>
              </a:rPr>
              <a:t> </a:t>
            </a:r>
            <a:r>
              <a:rPr sz="1000" spc="-10" dirty="0">
                <a:latin typeface="Arial"/>
                <a:cs typeface="Arial"/>
              </a:rPr>
              <a:t>each</a:t>
            </a:r>
            <a:r>
              <a:rPr sz="1000" spc="5" dirty="0">
                <a:latin typeface="Arial"/>
                <a:cs typeface="Arial"/>
              </a:rPr>
              <a:t> </a:t>
            </a:r>
            <a:r>
              <a:rPr sz="1000" spc="-10" dirty="0">
                <a:latin typeface="Arial"/>
                <a:cs typeface="Arial"/>
              </a:rPr>
              <a:t>host</a:t>
            </a:r>
            <a:r>
              <a:rPr sz="1000" spc="5" dirty="0">
                <a:latin typeface="Arial"/>
                <a:cs typeface="Arial"/>
              </a:rPr>
              <a:t> </a:t>
            </a:r>
            <a:r>
              <a:rPr sz="1000" spc="-5" dirty="0">
                <a:latin typeface="Arial"/>
                <a:cs typeface="Arial"/>
              </a:rPr>
              <a:t>running</a:t>
            </a:r>
            <a:r>
              <a:rPr sz="1000" spc="5" dirty="0">
                <a:latin typeface="Arial"/>
                <a:cs typeface="Arial"/>
              </a:rPr>
              <a:t> </a:t>
            </a:r>
            <a:r>
              <a:rPr sz="1000" spc="-10" dirty="0">
                <a:latin typeface="Arial"/>
                <a:cs typeface="Arial"/>
              </a:rPr>
              <a:t>a</a:t>
            </a:r>
            <a:r>
              <a:rPr sz="1000" spc="5" dirty="0">
                <a:latin typeface="Arial"/>
                <a:cs typeface="Arial"/>
              </a:rPr>
              <a:t> </a:t>
            </a:r>
            <a:r>
              <a:rPr sz="1000" spc="-10" dirty="0">
                <a:latin typeface="Arial"/>
                <a:cs typeface="Arial"/>
              </a:rPr>
              <a:t>location</a:t>
            </a:r>
            <a:r>
              <a:rPr sz="1000" spc="5" dirty="0">
                <a:latin typeface="Arial"/>
                <a:cs typeface="Arial"/>
              </a:rPr>
              <a:t> </a:t>
            </a:r>
            <a:r>
              <a:rPr sz="1000" spc="-10" dirty="0">
                <a:latin typeface="Arial"/>
                <a:cs typeface="Arial"/>
              </a:rPr>
              <a:t>server</a:t>
            </a:r>
            <a:r>
              <a:rPr sz="1000" spc="5" dirty="0">
                <a:latin typeface="Arial"/>
                <a:cs typeface="Arial"/>
              </a:rPr>
              <a:t> </a:t>
            </a:r>
            <a:r>
              <a:rPr sz="1000" spc="-10" dirty="0">
                <a:latin typeface="Arial"/>
                <a:cs typeface="Arial"/>
              </a:rPr>
              <a:t>representing</a:t>
            </a:r>
            <a:r>
              <a:rPr sz="1000" spc="5" dirty="0">
                <a:latin typeface="Arial"/>
                <a:cs typeface="Arial"/>
              </a:rPr>
              <a:t> </a:t>
            </a:r>
            <a:r>
              <a:rPr sz="1000" spc="-10" dirty="0">
                <a:latin typeface="Arial"/>
                <a:cs typeface="Arial"/>
              </a:rPr>
              <a:t>exactly</a:t>
            </a:r>
            <a:r>
              <a:rPr sz="1000" spc="5" dirty="0">
                <a:latin typeface="Arial"/>
                <a:cs typeface="Arial"/>
              </a:rPr>
              <a:t> </a:t>
            </a:r>
            <a:r>
              <a:rPr sz="1000" spc="-10" dirty="0">
                <a:latin typeface="Arial"/>
                <a:cs typeface="Arial"/>
              </a:rPr>
              <a:t>one </a:t>
            </a:r>
            <a:r>
              <a:rPr sz="1000" spc="-265"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the domains </a:t>
            </a:r>
            <a:r>
              <a:rPr sz="1000" i="1" spc="25" dirty="0">
                <a:latin typeface="Arial"/>
                <a:cs typeface="Arial"/>
              </a:rPr>
              <a:t>D</a:t>
            </a:r>
            <a:r>
              <a:rPr sz="1050" i="1" spc="37" baseline="-15873" dirty="0">
                <a:latin typeface="Arial"/>
                <a:cs typeface="Arial"/>
              </a:rPr>
              <a:t>k,i</a:t>
            </a:r>
            <a:r>
              <a:rPr sz="1050" i="1" spc="292" baseline="-15873" dirty="0">
                <a:latin typeface="Arial"/>
                <a:cs typeface="Arial"/>
              </a:rPr>
              <a:t> </a:t>
            </a:r>
            <a:r>
              <a:rPr sz="1000" spc="-5" dirty="0">
                <a:latin typeface="Arial"/>
                <a:cs typeface="Arial"/>
              </a:rPr>
              <a:t>from </a:t>
            </a:r>
            <a:r>
              <a:rPr sz="1000" b="1" spc="5" dirty="0">
                <a:latin typeface="Arial"/>
                <a:cs typeface="Arial"/>
              </a:rPr>
              <a:t>D</a:t>
            </a:r>
            <a:r>
              <a:rPr sz="1050" i="1" spc="7" baseline="-15873" dirty="0">
                <a:latin typeface="Arial"/>
                <a:cs typeface="Arial"/>
              </a:rPr>
              <a:t>k</a:t>
            </a:r>
            <a:r>
              <a:rPr sz="1050" i="1" spc="-112" baseline="-15873" dirty="0">
                <a:latin typeface="Arial"/>
                <a:cs typeface="Arial"/>
              </a:rPr>
              <a:t> </a:t>
            </a:r>
            <a:r>
              <a:rPr sz="1000" spc="-5" dirty="0">
                <a:latin typeface="Arial"/>
                <a:cs typeface="Arial"/>
              </a:rPr>
              <a:t>.</a:t>
            </a:r>
            <a:endParaRPr sz="1000">
              <a:latin typeface="Arial"/>
              <a:cs typeface="Arial"/>
            </a:endParaRPr>
          </a:p>
          <a:p>
            <a:pPr>
              <a:lnSpc>
                <a:spcPct val="100000"/>
              </a:lnSpc>
              <a:spcBef>
                <a:spcPts val="15"/>
              </a:spcBef>
            </a:pPr>
            <a:endParaRPr sz="1150">
              <a:latin typeface="Arial"/>
              <a:cs typeface="Arial"/>
            </a:endParaRPr>
          </a:p>
          <a:p>
            <a:pPr marL="88900">
              <a:lnSpc>
                <a:spcPct val="100000"/>
              </a:lnSpc>
            </a:pPr>
            <a:r>
              <a:rPr sz="1200" spc="-5" dirty="0">
                <a:solidFill>
                  <a:srgbClr val="3333B2"/>
                </a:solidFill>
                <a:latin typeface="Arial"/>
                <a:cs typeface="Arial"/>
              </a:rPr>
              <a:t>Principle</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5" dirty="0">
                <a:solidFill>
                  <a:srgbClr val="3333B2"/>
                </a:solidFill>
                <a:latin typeface="Arial"/>
                <a:cs typeface="Arial"/>
              </a:rPr>
              <a:t>distributing</a:t>
            </a:r>
            <a:r>
              <a:rPr sz="1200" spc="5" dirty="0">
                <a:solidFill>
                  <a:srgbClr val="3333B2"/>
                </a:solidFill>
                <a:latin typeface="Arial"/>
                <a:cs typeface="Arial"/>
              </a:rPr>
              <a:t> </a:t>
            </a:r>
            <a:r>
              <a:rPr sz="1200" spc="-5" dirty="0">
                <a:solidFill>
                  <a:srgbClr val="3333B2"/>
                </a:solidFill>
                <a:latin typeface="Arial"/>
                <a:cs typeface="Arial"/>
              </a:rPr>
              <a:t>logical</a:t>
            </a:r>
            <a:r>
              <a:rPr sz="1200" dirty="0">
                <a:solidFill>
                  <a:srgbClr val="3333B2"/>
                </a:solidFill>
                <a:latin typeface="Arial"/>
                <a:cs typeface="Arial"/>
              </a:rPr>
              <a:t> </a:t>
            </a:r>
            <a:r>
              <a:rPr sz="1200" spc="-5" dirty="0">
                <a:solidFill>
                  <a:srgbClr val="3333B2"/>
                </a:solidFill>
                <a:latin typeface="Arial"/>
                <a:cs typeface="Arial"/>
              </a:rPr>
              <a:t>location</a:t>
            </a:r>
            <a:r>
              <a:rPr sz="1200" spc="5" dirty="0">
                <a:solidFill>
                  <a:srgbClr val="3333B2"/>
                </a:solidFill>
                <a:latin typeface="Arial"/>
                <a:cs typeface="Arial"/>
              </a:rPr>
              <a:t> </a:t>
            </a:r>
            <a:r>
              <a:rPr sz="1200" spc="-5" dirty="0">
                <a:solidFill>
                  <a:srgbClr val="3333B2"/>
                </a:solidFill>
                <a:latin typeface="Arial"/>
                <a:cs typeface="Arial"/>
              </a:rPr>
              <a:t>servers</a:t>
            </a:r>
            <a:endParaRPr sz="1200">
              <a:latin typeface="Arial"/>
              <a:cs typeface="Arial"/>
            </a:endParaRPr>
          </a:p>
          <a:p>
            <a:pPr marL="901700">
              <a:lnSpc>
                <a:spcPct val="100000"/>
              </a:lnSpc>
              <a:spcBef>
                <a:spcPts val="869"/>
              </a:spcBef>
              <a:tabLst>
                <a:tab pos="2029460" algn="l"/>
                <a:tab pos="2811145" algn="l"/>
              </a:tabLst>
            </a:pPr>
            <a:r>
              <a:rPr sz="975" baseline="4273" dirty="0">
                <a:solidFill>
                  <a:srgbClr val="231F20"/>
                </a:solidFill>
                <a:latin typeface="Arial"/>
                <a:cs typeface="Arial"/>
              </a:rPr>
              <a:t>Tree </a:t>
            </a:r>
            <a:r>
              <a:rPr sz="975" spc="7" baseline="4273" dirty="0">
                <a:solidFill>
                  <a:srgbClr val="231F20"/>
                </a:solidFill>
                <a:latin typeface="Arial"/>
                <a:cs typeface="Arial"/>
              </a:rPr>
              <a:t>for one specific</a:t>
            </a:r>
            <a:r>
              <a:rPr sz="975" baseline="4273" dirty="0">
                <a:solidFill>
                  <a:srgbClr val="231F20"/>
                </a:solidFill>
                <a:latin typeface="Arial"/>
                <a:cs typeface="Arial"/>
              </a:rPr>
              <a:t> </a:t>
            </a:r>
            <a:r>
              <a:rPr sz="975" spc="7" baseline="4273" dirty="0">
                <a:solidFill>
                  <a:srgbClr val="231F20"/>
                </a:solidFill>
                <a:latin typeface="Arial"/>
                <a:cs typeface="Arial"/>
              </a:rPr>
              <a:t>entity	</a:t>
            </a:r>
            <a:r>
              <a:rPr sz="650" spc="5" dirty="0">
                <a:solidFill>
                  <a:srgbClr val="231F20"/>
                </a:solidFill>
                <a:latin typeface="Arial"/>
                <a:cs typeface="Arial"/>
              </a:rPr>
              <a:t>Location</a:t>
            </a:r>
            <a:r>
              <a:rPr sz="650" spc="10" dirty="0">
                <a:solidFill>
                  <a:srgbClr val="231F20"/>
                </a:solidFill>
                <a:latin typeface="Arial"/>
                <a:cs typeface="Arial"/>
              </a:rPr>
              <a:t> </a:t>
            </a:r>
            <a:r>
              <a:rPr sz="650" spc="5" dirty="0">
                <a:solidFill>
                  <a:srgbClr val="231F20"/>
                </a:solidFill>
                <a:latin typeface="Arial"/>
                <a:cs typeface="Arial"/>
              </a:rPr>
              <a:t>server	Host</a:t>
            </a:r>
            <a:endParaRPr sz="650">
              <a:latin typeface="Arial"/>
              <a:cs typeface="Arial"/>
            </a:endParaRPr>
          </a:p>
          <a:p>
            <a:pPr>
              <a:lnSpc>
                <a:spcPct val="100000"/>
              </a:lnSpc>
              <a:spcBef>
                <a:spcPts val="5"/>
              </a:spcBef>
            </a:pPr>
            <a:endParaRPr sz="1000">
              <a:latin typeface="Arial"/>
              <a:cs typeface="Arial"/>
            </a:endParaRPr>
          </a:p>
          <a:p>
            <a:pPr marL="467995">
              <a:lnSpc>
                <a:spcPct val="100000"/>
              </a:lnSpc>
            </a:pPr>
            <a:r>
              <a:rPr sz="650" spc="5" dirty="0">
                <a:solidFill>
                  <a:srgbClr val="231F20"/>
                </a:solidFill>
                <a:latin typeface="Arial"/>
                <a:cs typeface="Arial"/>
              </a:rPr>
              <a:t>Level 0</a:t>
            </a:r>
            <a:endParaRPr sz="650">
              <a:latin typeface="Arial"/>
              <a:cs typeface="Arial"/>
            </a:endParaRPr>
          </a:p>
          <a:p>
            <a:pPr>
              <a:lnSpc>
                <a:spcPct val="100000"/>
              </a:lnSpc>
              <a:spcBef>
                <a:spcPts val="20"/>
              </a:spcBef>
            </a:pPr>
            <a:endParaRPr sz="850">
              <a:latin typeface="Arial"/>
              <a:cs typeface="Arial"/>
            </a:endParaRPr>
          </a:p>
          <a:p>
            <a:pPr marL="467995">
              <a:lnSpc>
                <a:spcPct val="100000"/>
              </a:lnSpc>
            </a:pPr>
            <a:r>
              <a:rPr sz="650" spc="5" dirty="0">
                <a:solidFill>
                  <a:srgbClr val="231F20"/>
                </a:solidFill>
                <a:latin typeface="Arial"/>
                <a:cs typeface="Arial"/>
              </a:rPr>
              <a:t>Level 1</a:t>
            </a:r>
            <a:endParaRPr sz="650">
              <a:latin typeface="Arial"/>
              <a:cs typeface="Arial"/>
            </a:endParaRPr>
          </a:p>
          <a:p>
            <a:pPr marL="3312160">
              <a:lnSpc>
                <a:spcPct val="100000"/>
              </a:lnSpc>
              <a:spcBef>
                <a:spcPts val="70"/>
              </a:spcBef>
            </a:pPr>
            <a:r>
              <a:rPr sz="650" spc="5" dirty="0">
                <a:solidFill>
                  <a:srgbClr val="231F20"/>
                </a:solidFill>
                <a:latin typeface="Arial"/>
                <a:cs typeface="Arial"/>
              </a:rPr>
              <a:t>Domain</a:t>
            </a:r>
            <a:endParaRPr sz="650">
              <a:latin typeface="Arial"/>
              <a:cs typeface="Arial"/>
            </a:endParaRPr>
          </a:p>
          <a:p>
            <a:pPr marL="467995">
              <a:lnSpc>
                <a:spcPct val="100000"/>
              </a:lnSpc>
              <a:spcBef>
                <a:spcPts val="145"/>
              </a:spcBef>
            </a:pPr>
            <a:r>
              <a:rPr sz="650" spc="5" dirty="0">
                <a:solidFill>
                  <a:srgbClr val="231F20"/>
                </a:solidFill>
                <a:latin typeface="Arial"/>
                <a:cs typeface="Arial"/>
              </a:rPr>
              <a:t>Level 2</a:t>
            </a:r>
            <a:endParaRPr sz="650">
              <a:latin typeface="Arial"/>
              <a:cs typeface="Arial"/>
            </a:endParaRPr>
          </a:p>
          <a:p>
            <a:pPr>
              <a:lnSpc>
                <a:spcPct val="100000"/>
              </a:lnSpc>
              <a:spcBef>
                <a:spcPts val="15"/>
              </a:spcBef>
            </a:pPr>
            <a:endParaRPr sz="850">
              <a:latin typeface="Arial"/>
              <a:cs typeface="Arial"/>
            </a:endParaRPr>
          </a:p>
          <a:p>
            <a:pPr marL="466725">
              <a:lnSpc>
                <a:spcPct val="100000"/>
              </a:lnSpc>
            </a:pPr>
            <a:r>
              <a:rPr sz="650" spc="5" dirty="0">
                <a:solidFill>
                  <a:srgbClr val="231F20"/>
                </a:solidFill>
                <a:latin typeface="Arial"/>
                <a:cs typeface="Arial"/>
              </a:rPr>
              <a:t>Level 3</a:t>
            </a:r>
            <a:endParaRPr sz="650">
              <a:latin typeface="Arial"/>
              <a:cs typeface="Arial"/>
            </a:endParaRPr>
          </a:p>
        </p:txBody>
      </p:sp>
      <p:sp>
        <p:nvSpPr>
          <p:cNvPr id="160" name="object 160"/>
          <p:cNvSpPr/>
          <p:nvPr/>
        </p:nvSpPr>
        <p:spPr>
          <a:xfrm>
            <a:off x="1534630" y="2037812"/>
            <a:ext cx="1772285" cy="274955"/>
          </a:xfrm>
          <a:custGeom>
            <a:avLst/>
            <a:gdLst/>
            <a:ahLst/>
            <a:cxnLst/>
            <a:rect l="l" t="t" r="r" b="b"/>
            <a:pathLst>
              <a:path w="1772285" h="274955">
                <a:moveTo>
                  <a:pt x="0" y="0"/>
                </a:moveTo>
                <a:lnTo>
                  <a:pt x="71357" y="274810"/>
                </a:lnTo>
              </a:path>
              <a:path w="1772285" h="274955">
                <a:moveTo>
                  <a:pt x="1581243" y="0"/>
                </a:moveTo>
                <a:lnTo>
                  <a:pt x="1506708" y="79069"/>
                </a:lnTo>
              </a:path>
              <a:path w="1772285" h="274955">
                <a:moveTo>
                  <a:pt x="1686664" y="0"/>
                </a:moveTo>
                <a:lnTo>
                  <a:pt x="1771751" y="79069"/>
                </a:lnTo>
              </a:path>
            </a:pathLst>
          </a:custGeom>
          <a:ln w="5270">
            <a:solidFill>
              <a:srgbClr val="231F20"/>
            </a:solidFill>
          </a:ln>
        </p:spPr>
        <p:txBody>
          <a:bodyPr wrap="square" lIns="0" tIns="0" rIns="0" bIns="0" rtlCol="0"/>
          <a:lstStyle/>
          <a:p>
            <a:endParaRPr/>
          </a:p>
        </p:txBody>
      </p:sp>
      <p:sp>
        <p:nvSpPr>
          <p:cNvPr id="161" name="object 161"/>
          <p:cNvSpPr txBox="1"/>
          <p:nvPr/>
        </p:nvSpPr>
        <p:spPr>
          <a:xfrm>
            <a:off x="1112220"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1</a:t>
            </a:r>
            <a:endParaRPr sz="450" baseline="-27777">
              <a:latin typeface="Arial"/>
              <a:cs typeface="Arial"/>
            </a:endParaRPr>
          </a:p>
        </p:txBody>
      </p:sp>
      <p:sp>
        <p:nvSpPr>
          <p:cNvPr id="170" name="object 17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46</a:t>
            </a:r>
          </a:p>
        </p:txBody>
      </p:sp>
      <p:sp>
        <p:nvSpPr>
          <p:cNvPr id="162" name="object 162"/>
          <p:cNvSpPr txBox="1"/>
          <p:nvPr/>
        </p:nvSpPr>
        <p:spPr>
          <a:xfrm>
            <a:off x="1379055"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2</a:t>
            </a:r>
            <a:endParaRPr sz="450" baseline="-27777">
              <a:latin typeface="Arial"/>
              <a:cs typeface="Arial"/>
            </a:endParaRPr>
          </a:p>
        </p:txBody>
      </p:sp>
      <p:sp>
        <p:nvSpPr>
          <p:cNvPr id="163" name="object 163"/>
          <p:cNvSpPr txBox="1"/>
          <p:nvPr/>
        </p:nvSpPr>
        <p:spPr>
          <a:xfrm>
            <a:off x="1645891"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3</a:t>
            </a:r>
            <a:endParaRPr sz="450" baseline="-27777">
              <a:latin typeface="Arial"/>
              <a:cs typeface="Arial"/>
            </a:endParaRPr>
          </a:p>
        </p:txBody>
      </p:sp>
      <p:sp>
        <p:nvSpPr>
          <p:cNvPr id="164" name="object 164"/>
          <p:cNvSpPr txBox="1"/>
          <p:nvPr/>
        </p:nvSpPr>
        <p:spPr>
          <a:xfrm>
            <a:off x="1912730"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4</a:t>
            </a:r>
            <a:endParaRPr sz="450" baseline="-27777">
              <a:latin typeface="Arial"/>
              <a:cs typeface="Arial"/>
            </a:endParaRPr>
          </a:p>
        </p:txBody>
      </p:sp>
      <p:sp>
        <p:nvSpPr>
          <p:cNvPr id="165" name="object 165"/>
          <p:cNvSpPr txBox="1"/>
          <p:nvPr/>
        </p:nvSpPr>
        <p:spPr>
          <a:xfrm>
            <a:off x="2179561"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5</a:t>
            </a:r>
            <a:endParaRPr sz="450" baseline="-27777">
              <a:latin typeface="Arial"/>
              <a:cs typeface="Arial"/>
            </a:endParaRPr>
          </a:p>
        </p:txBody>
      </p:sp>
      <p:sp>
        <p:nvSpPr>
          <p:cNvPr id="166" name="object 166"/>
          <p:cNvSpPr txBox="1"/>
          <p:nvPr/>
        </p:nvSpPr>
        <p:spPr>
          <a:xfrm>
            <a:off x="2446401"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6</a:t>
            </a:r>
            <a:endParaRPr sz="450" baseline="-27777">
              <a:latin typeface="Arial"/>
              <a:cs typeface="Arial"/>
            </a:endParaRPr>
          </a:p>
        </p:txBody>
      </p:sp>
      <p:sp>
        <p:nvSpPr>
          <p:cNvPr id="167" name="object 167"/>
          <p:cNvSpPr txBox="1"/>
          <p:nvPr/>
        </p:nvSpPr>
        <p:spPr>
          <a:xfrm>
            <a:off x="2713232"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7</a:t>
            </a:r>
            <a:endParaRPr sz="450" baseline="-27777">
              <a:latin typeface="Arial"/>
              <a:cs typeface="Arial"/>
            </a:endParaRPr>
          </a:p>
        </p:txBody>
      </p:sp>
      <p:sp>
        <p:nvSpPr>
          <p:cNvPr id="168" name="object 168"/>
          <p:cNvSpPr txBox="1"/>
          <p:nvPr/>
        </p:nvSpPr>
        <p:spPr>
          <a:xfrm>
            <a:off x="2980071"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8</a:t>
            </a:r>
            <a:endParaRPr sz="450" baseline="-27777">
              <a:latin typeface="Arial"/>
              <a:cs typeface="Arial"/>
            </a:endParaRPr>
          </a:p>
        </p:txBody>
      </p:sp>
      <p:sp>
        <p:nvSpPr>
          <p:cNvPr id="169" name="object 169"/>
          <p:cNvSpPr txBox="1"/>
          <p:nvPr/>
        </p:nvSpPr>
        <p:spPr>
          <a:xfrm>
            <a:off x="3246907" y="3016712"/>
            <a:ext cx="160655" cy="127000"/>
          </a:xfrm>
          <a:prstGeom prst="rect">
            <a:avLst/>
          </a:prstGeom>
        </p:spPr>
        <p:txBody>
          <a:bodyPr vert="horz" wrap="square" lIns="0" tIns="13970" rIns="0" bIns="0" rtlCol="0">
            <a:spAutoFit/>
          </a:bodyPr>
          <a:lstStyle/>
          <a:p>
            <a:pPr marL="38100">
              <a:lnSpc>
                <a:spcPct val="100000"/>
              </a:lnSpc>
              <a:spcBef>
                <a:spcPts val="110"/>
              </a:spcBef>
            </a:pPr>
            <a:r>
              <a:rPr sz="650" spc="10" dirty="0">
                <a:solidFill>
                  <a:srgbClr val="231F20"/>
                </a:solidFill>
                <a:latin typeface="Arial"/>
                <a:cs typeface="Arial"/>
              </a:rPr>
              <a:t>H</a:t>
            </a:r>
            <a:r>
              <a:rPr sz="450" spc="22" baseline="-27777" dirty="0">
                <a:solidFill>
                  <a:srgbClr val="231F20"/>
                </a:solidFill>
                <a:latin typeface="Arial"/>
                <a:cs typeface="Arial"/>
              </a:rPr>
              <a:t>9</a:t>
            </a:r>
            <a:endParaRPr sz="450" baseline="-27777">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97325" algn="l"/>
              </a:tabLst>
            </a:pPr>
            <a:r>
              <a:rPr sz="600" spc="-5" dirty="0">
                <a:solidFill>
                  <a:srgbClr val="3333B2"/>
                </a:solidFill>
                <a:latin typeface="Arial"/>
                <a:cs typeface="Arial"/>
                <a:hlinkClick r:id="rId3" action="ppaction://hlinksldjump"/>
              </a:rPr>
              <a:t>Naming:</a:t>
            </a:r>
            <a:r>
              <a:rPr sz="600" spc="-5"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4" action="ppaction://hlinksldjump"/>
              </a:rPr>
              <a:t>St</a:t>
            </a:r>
            <a:r>
              <a:rPr sz="600" dirty="0">
                <a:solidFill>
                  <a:srgbClr val="3333B2"/>
                </a:solidFill>
                <a:latin typeface="Arial"/>
                <a:cs typeface="Arial"/>
                <a:hlinkClick r:id="rId4" action="ppaction://hlinksldjump"/>
              </a:rPr>
              <a:t>r</a:t>
            </a:r>
            <a:r>
              <a:rPr sz="600" spc="-5" dirty="0">
                <a:solidFill>
                  <a:srgbClr val="3333B2"/>
                </a:solidFill>
                <a:latin typeface="Arial"/>
                <a:cs typeface="Arial"/>
                <a:hlinkClick r:id="rId4" action="ppaction://hlinksldjump"/>
              </a:rPr>
              <a:t>uctured naming</a:t>
            </a:r>
            <a:r>
              <a:rPr sz="600" dirty="0">
                <a:solidFill>
                  <a:srgbClr val="3333B2"/>
                </a:solidFill>
                <a:latin typeface="Arial"/>
                <a:cs typeface="Arial"/>
              </a:rPr>
              <a:t>	</a:t>
            </a:r>
            <a:r>
              <a:rPr sz="600" spc="-5" dirty="0">
                <a:solidFill>
                  <a:srgbClr val="262685"/>
                </a:solidFill>
                <a:latin typeface="Arial"/>
                <a:cs typeface="Arial"/>
                <a:hlinkClick r:id="rId4" action="ppaction://hlinksldjump"/>
              </a:rPr>
              <a:t>Name spaces</a:t>
            </a:r>
            <a:endParaRPr sz="600">
              <a:latin typeface="Arial"/>
              <a:cs typeface="Arial"/>
            </a:endParaRPr>
          </a:p>
        </p:txBody>
      </p:sp>
      <p:sp>
        <p:nvSpPr>
          <p:cNvPr id="3" name="object 3"/>
          <p:cNvSpPr txBox="1">
            <a:spLocks noGrp="1"/>
          </p:cNvSpPr>
          <p:nvPr>
            <p:ph type="title"/>
          </p:nvPr>
        </p:nvSpPr>
        <p:spPr>
          <a:xfrm>
            <a:off x="95300" y="188846"/>
            <a:ext cx="1048385" cy="244475"/>
          </a:xfrm>
          <a:prstGeom prst="rect">
            <a:avLst/>
          </a:prstGeom>
        </p:spPr>
        <p:txBody>
          <a:bodyPr vert="horz" wrap="square" lIns="0" tIns="17145" rIns="0" bIns="0" rtlCol="0">
            <a:spAutoFit/>
          </a:bodyPr>
          <a:lstStyle/>
          <a:p>
            <a:pPr marL="12700">
              <a:lnSpc>
                <a:spcPct val="100000"/>
              </a:lnSpc>
              <a:spcBef>
                <a:spcPts val="135"/>
              </a:spcBef>
            </a:pPr>
            <a:r>
              <a:rPr spc="20" dirty="0"/>
              <a:t>Name</a:t>
            </a:r>
            <a:r>
              <a:rPr spc="-70" dirty="0"/>
              <a:t> </a:t>
            </a:r>
            <a:r>
              <a:rPr spc="15" dirty="0"/>
              <a:t>space</a:t>
            </a:r>
          </a:p>
        </p:txBody>
      </p:sp>
      <p:sp>
        <p:nvSpPr>
          <p:cNvPr id="4" name="object 4"/>
          <p:cNvSpPr txBox="1"/>
          <p:nvPr/>
        </p:nvSpPr>
        <p:spPr>
          <a:xfrm>
            <a:off x="342290" y="407560"/>
            <a:ext cx="3877310" cy="836930"/>
          </a:xfrm>
          <a:prstGeom prst="rect">
            <a:avLst/>
          </a:prstGeom>
        </p:spPr>
        <p:txBody>
          <a:bodyPr vert="horz" wrap="square" lIns="0" tIns="41910" rIns="0" bIns="0" rtlCol="0">
            <a:spAutoFit/>
          </a:bodyPr>
          <a:lstStyle/>
          <a:p>
            <a:pPr marL="17145">
              <a:lnSpc>
                <a:spcPct val="100000"/>
              </a:lnSpc>
              <a:spcBef>
                <a:spcPts val="330"/>
              </a:spcBef>
            </a:pPr>
            <a:r>
              <a:rPr sz="1200" spc="-5" dirty="0">
                <a:solidFill>
                  <a:srgbClr val="3333B2"/>
                </a:solidFill>
                <a:latin typeface="Arial"/>
                <a:cs typeface="Arial"/>
              </a:rPr>
              <a:t>Naming</a:t>
            </a:r>
            <a:r>
              <a:rPr sz="1200" spc="-45" dirty="0">
                <a:solidFill>
                  <a:srgbClr val="3333B2"/>
                </a:solidFill>
                <a:latin typeface="Arial"/>
                <a:cs typeface="Arial"/>
              </a:rPr>
              <a:t> </a:t>
            </a:r>
            <a:r>
              <a:rPr sz="1200" spc="-10" dirty="0">
                <a:solidFill>
                  <a:srgbClr val="3333B2"/>
                </a:solidFill>
                <a:latin typeface="Arial"/>
                <a:cs typeface="Arial"/>
              </a:rPr>
              <a:t>graph</a:t>
            </a:r>
            <a:endParaRPr sz="1200">
              <a:latin typeface="Arial"/>
              <a:cs typeface="Arial"/>
            </a:endParaRPr>
          </a:p>
          <a:p>
            <a:pPr marL="17145" marR="5080" indent="-4445">
              <a:lnSpc>
                <a:spcPct val="100000"/>
              </a:lnSpc>
              <a:spcBef>
                <a:spcPts val="190"/>
              </a:spcBef>
            </a:pPr>
            <a:r>
              <a:rPr sz="1000" spc="-5" dirty="0">
                <a:latin typeface="Arial"/>
                <a:cs typeface="Arial"/>
              </a:rPr>
              <a:t>A</a:t>
            </a:r>
            <a:r>
              <a:rPr sz="1000" dirty="0">
                <a:latin typeface="Arial"/>
                <a:cs typeface="Arial"/>
              </a:rPr>
              <a:t> </a:t>
            </a:r>
            <a:r>
              <a:rPr sz="1000" spc="-10" dirty="0">
                <a:latin typeface="Arial"/>
                <a:cs typeface="Arial"/>
              </a:rPr>
              <a:t>graph</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leaf</a:t>
            </a:r>
            <a:r>
              <a:rPr sz="1000" dirty="0">
                <a:solidFill>
                  <a:srgbClr val="FA0000"/>
                </a:solidFill>
                <a:latin typeface="Arial"/>
                <a:cs typeface="Arial"/>
              </a:rPr>
              <a:t> </a:t>
            </a:r>
            <a:r>
              <a:rPr sz="1000" spc="-5" dirty="0">
                <a:solidFill>
                  <a:srgbClr val="FA0000"/>
                </a:solidFill>
                <a:latin typeface="Arial"/>
                <a:cs typeface="Arial"/>
              </a:rPr>
              <a:t>node</a:t>
            </a:r>
            <a:r>
              <a:rPr sz="1000" dirty="0">
                <a:solidFill>
                  <a:srgbClr val="FA0000"/>
                </a:solidFill>
                <a:latin typeface="Arial"/>
                <a:cs typeface="Arial"/>
              </a:rPr>
              <a:t> </a:t>
            </a:r>
            <a:r>
              <a:rPr sz="1000" spc="-5" dirty="0">
                <a:latin typeface="Arial"/>
                <a:cs typeface="Arial"/>
              </a:rPr>
              <a:t>represents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(named)</a:t>
            </a:r>
            <a:r>
              <a:rPr sz="1000" spc="5" dirty="0">
                <a:latin typeface="Arial"/>
                <a:cs typeface="Arial"/>
              </a:rPr>
              <a:t> </a:t>
            </a:r>
            <a:r>
              <a:rPr sz="1000" spc="-20" dirty="0">
                <a:latin typeface="Arial"/>
                <a:cs typeface="Arial"/>
              </a:rPr>
              <a:t>entity.</a:t>
            </a:r>
            <a:r>
              <a:rPr sz="1000" spc="65" dirty="0">
                <a:latin typeface="Arial"/>
                <a:cs typeface="Arial"/>
              </a:rPr>
              <a:t> </a:t>
            </a:r>
            <a:r>
              <a:rPr sz="1000" spc="-5" dirty="0">
                <a:latin typeface="Arial"/>
                <a:cs typeface="Arial"/>
              </a:rPr>
              <a:t>A</a:t>
            </a:r>
            <a:r>
              <a:rPr sz="1000" dirty="0">
                <a:latin typeface="Arial"/>
                <a:cs typeface="Arial"/>
              </a:rPr>
              <a:t> </a:t>
            </a:r>
            <a:r>
              <a:rPr sz="1000" dirty="0">
                <a:solidFill>
                  <a:srgbClr val="FA0000"/>
                </a:solidFill>
                <a:latin typeface="Arial"/>
                <a:cs typeface="Arial"/>
              </a:rPr>
              <a:t>directory </a:t>
            </a:r>
            <a:r>
              <a:rPr sz="1000" spc="-265" dirty="0">
                <a:solidFill>
                  <a:srgbClr val="FA0000"/>
                </a:solidFill>
                <a:latin typeface="Arial"/>
                <a:cs typeface="Arial"/>
              </a:rPr>
              <a:t> </a:t>
            </a:r>
            <a:r>
              <a:rPr sz="1000" spc="-5" dirty="0">
                <a:solidFill>
                  <a:srgbClr val="FA0000"/>
                </a:solidFill>
                <a:latin typeface="Arial"/>
                <a:cs typeface="Arial"/>
              </a:rPr>
              <a:t>node </a:t>
            </a:r>
            <a:r>
              <a:rPr sz="1000" spc="-5" dirty="0">
                <a:latin typeface="Arial"/>
                <a:cs typeface="Arial"/>
              </a:rPr>
              <a:t>is an entity that </a:t>
            </a:r>
            <a:r>
              <a:rPr sz="1000" spc="-10" dirty="0">
                <a:latin typeface="Arial"/>
                <a:cs typeface="Arial"/>
              </a:rPr>
              <a:t>refers</a:t>
            </a:r>
            <a:r>
              <a:rPr sz="1000" spc="-5" dirty="0">
                <a:latin typeface="Arial"/>
                <a:cs typeface="Arial"/>
              </a:rPr>
              <a:t> to other nodes.</a:t>
            </a:r>
            <a:endParaRPr sz="1000">
              <a:latin typeface="Arial"/>
              <a:cs typeface="Arial"/>
            </a:endParaRPr>
          </a:p>
          <a:p>
            <a:pPr marL="12700">
              <a:lnSpc>
                <a:spcPct val="100000"/>
              </a:lnSpc>
              <a:spcBef>
                <a:spcPts val="685"/>
              </a:spcBef>
            </a:pPr>
            <a:r>
              <a:rPr sz="1200" spc="-5" dirty="0">
                <a:solidFill>
                  <a:srgbClr val="3333B2"/>
                </a:solidFill>
                <a:latin typeface="Arial"/>
                <a:cs typeface="Arial"/>
              </a:rPr>
              <a:t>A</a:t>
            </a:r>
            <a:r>
              <a:rPr sz="1200" spc="-10" dirty="0">
                <a:solidFill>
                  <a:srgbClr val="3333B2"/>
                </a:solidFill>
                <a:latin typeface="Arial"/>
                <a:cs typeface="Arial"/>
              </a:rPr>
              <a:t> </a:t>
            </a:r>
            <a:r>
              <a:rPr sz="1200" spc="-5" dirty="0">
                <a:solidFill>
                  <a:srgbClr val="3333B2"/>
                </a:solidFill>
                <a:latin typeface="Arial"/>
                <a:cs typeface="Arial"/>
              </a:rPr>
              <a:t>general naming</a:t>
            </a:r>
            <a:r>
              <a:rPr sz="1200" spc="-10" dirty="0">
                <a:solidFill>
                  <a:srgbClr val="3333B2"/>
                </a:solidFill>
                <a:latin typeface="Arial"/>
                <a:cs typeface="Arial"/>
              </a:rPr>
              <a:t> graph</a:t>
            </a:r>
            <a:r>
              <a:rPr sz="1200" spc="-5" dirty="0">
                <a:solidFill>
                  <a:srgbClr val="3333B2"/>
                </a:solidFill>
                <a:latin typeface="Arial"/>
                <a:cs typeface="Arial"/>
              </a:rPr>
              <a:t> with</a:t>
            </a:r>
            <a:r>
              <a:rPr sz="1200" spc="-10" dirty="0">
                <a:solidFill>
                  <a:srgbClr val="3333B2"/>
                </a:solidFill>
                <a:latin typeface="Arial"/>
                <a:cs typeface="Arial"/>
              </a:rPr>
              <a:t> </a:t>
            </a:r>
            <a:r>
              <a:rPr sz="1200" spc="-5" dirty="0">
                <a:solidFill>
                  <a:srgbClr val="3333B2"/>
                </a:solidFill>
                <a:latin typeface="Arial"/>
                <a:cs typeface="Arial"/>
              </a:rPr>
              <a:t>a single root</a:t>
            </a:r>
            <a:r>
              <a:rPr sz="1200" spc="-10" dirty="0">
                <a:solidFill>
                  <a:srgbClr val="3333B2"/>
                </a:solidFill>
                <a:latin typeface="Arial"/>
                <a:cs typeface="Arial"/>
              </a:rPr>
              <a:t> </a:t>
            </a:r>
            <a:r>
              <a:rPr sz="1200" spc="-5" dirty="0">
                <a:solidFill>
                  <a:srgbClr val="3333B2"/>
                </a:solidFill>
                <a:latin typeface="Arial"/>
                <a:cs typeface="Arial"/>
              </a:rPr>
              <a:t>node</a:t>
            </a:r>
            <a:endParaRPr sz="1200">
              <a:latin typeface="Arial"/>
              <a:cs typeface="Arial"/>
            </a:endParaRPr>
          </a:p>
        </p:txBody>
      </p:sp>
      <p:sp>
        <p:nvSpPr>
          <p:cNvPr id="5" name="object 5"/>
          <p:cNvSpPr/>
          <p:nvPr/>
        </p:nvSpPr>
        <p:spPr>
          <a:xfrm>
            <a:off x="956736" y="1470218"/>
            <a:ext cx="729615" cy="339725"/>
          </a:xfrm>
          <a:custGeom>
            <a:avLst/>
            <a:gdLst/>
            <a:ahLst/>
            <a:cxnLst/>
            <a:rect l="l" t="t" r="r" b="b"/>
            <a:pathLst>
              <a:path w="729614" h="339725">
                <a:moveTo>
                  <a:pt x="39824" y="0"/>
                </a:moveTo>
                <a:lnTo>
                  <a:pt x="458719" y="0"/>
                </a:lnTo>
                <a:lnTo>
                  <a:pt x="474182" y="3142"/>
                </a:lnTo>
                <a:lnTo>
                  <a:pt x="486845" y="11699"/>
                </a:lnTo>
                <a:lnTo>
                  <a:pt x="495401" y="24365"/>
                </a:lnTo>
                <a:lnTo>
                  <a:pt x="498543" y="39834"/>
                </a:lnTo>
                <a:lnTo>
                  <a:pt x="498548" y="299608"/>
                </a:lnTo>
                <a:lnTo>
                  <a:pt x="495405" y="315077"/>
                </a:lnTo>
                <a:lnTo>
                  <a:pt x="486848" y="327741"/>
                </a:lnTo>
                <a:lnTo>
                  <a:pt x="474183" y="336296"/>
                </a:lnTo>
                <a:lnTo>
                  <a:pt x="458719" y="339438"/>
                </a:lnTo>
                <a:lnTo>
                  <a:pt x="39824" y="339438"/>
                </a:lnTo>
                <a:lnTo>
                  <a:pt x="24361" y="336296"/>
                </a:lnTo>
                <a:lnTo>
                  <a:pt x="11698" y="327741"/>
                </a:lnTo>
                <a:lnTo>
                  <a:pt x="3142" y="315078"/>
                </a:lnTo>
                <a:lnTo>
                  <a:pt x="0" y="299612"/>
                </a:lnTo>
                <a:lnTo>
                  <a:pt x="0" y="39834"/>
                </a:lnTo>
                <a:lnTo>
                  <a:pt x="3142" y="24365"/>
                </a:lnTo>
                <a:lnTo>
                  <a:pt x="11698" y="11699"/>
                </a:lnTo>
                <a:lnTo>
                  <a:pt x="24361" y="3142"/>
                </a:lnTo>
                <a:lnTo>
                  <a:pt x="39824" y="0"/>
                </a:lnTo>
                <a:close/>
              </a:path>
              <a:path w="729614" h="339725">
                <a:moveTo>
                  <a:pt x="498548" y="233360"/>
                </a:moveTo>
                <a:lnTo>
                  <a:pt x="729074" y="234864"/>
                </a:lnTo>
              </a:path>
            </a:pathLst>
          </a:custGeom>
          <a:ln w="5267">
            <a:solidFill>
              <a:srgbClr val="231F20"/>
            </a:solidFill>
          </a:ln>
        </p:spPr>
        <p:txBody>
          <a:bodyPr wrap="square" lIns="0" tIns="0" rIns="0" bIns="0" rtlCol="0"/>
          <a:lstStyle/>
          <a:p>
            <a:endParaRPr/>
          </a:p>
        </p:txBody>
      </p:sp>
      <p:sp>
        <p:nvSpPr>
          <p:cNvPr id="6" name="object 6"/>
          <p:cNvSpPr txBox="1"/>
          <p:nvPr/>
        </p:nvSpPr>
        <p:spPr>
          <a:xfrm>
            <a:off x="1299532" y="1847118"/>
            <a:ext cx="1803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elke</a:t>
            </a:r>
            <a:endParaRPr sz="650">
              <a:latin typeface="Arial"/>
              <a:cs typeface="Arial"/>
            </a:endParaRPr>
          </a:p>
        </p:txBody>
      </p:sp>
      <p:sp>
        <p:nvSpPr>
          <p:cNvPr id="7" name="object 7"/>
          <p:cNvSpPr txBox="1"/>
          <p:nvPr/>
        </p:nvSpPr>
        <p:spPr>
          <a:xfrm>
            <a:off x="1581084" y="2295551"/>
            <a:ext cx="3676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.procmail</a:t>
            </a:r>
            <a:endParaRPr sz="650">
              <a:latin typeface="Arial"/>
              <a:cs typeface="Arial"/>
            </a:endParaRPr>
          </a:p>
        </p:txBody>
      </p:sp>
      <p:sp>
        <p:nvSpPr>
          <p:cNvPr id="8" name="object 8"/>
          <p:cNvSpPr txBox="1"/>
          <p:nvPr/>
        </p:nvSpPr>
        <p:spPr>
          <a:xfrm>
            <a:off x="2046341" y="1847118"/>
            <a:ext cx="2317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steen</a:t>
            </a:r>
            <a:endParaRPr sz="650">
              <a:latin typeface="Arial"/>
              <a:cs typeface="Arial"/>
            </a:endParaRPr>
          </a:p>
        </p:txBody>
      </p:sp>
      <p:sp>
        <p:nvSpPr>
          <p:cNvPr id="9" name="object 9"/>
          <p:cNvSpPr txBox="1"/>
          <p:nvPr/>
        </p:nvSpPr>
        <p:spPr>
          <a:xfrm>
            <a:off x="1837630" y="1443356"/>
            <a:ext cx="23685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home</a:t>
            </a:r>
            <a:endParaRPr sz="650">
              <a:latin typeface="Arial"/>
              <a:cs typeface="Arial"/>
            </a:endParaRPr>
          </a:p>
        </p:txBody>
      </p:sp>
      <p:sp>
        <p:nvSpPr>
          <p:cNvPr id="10" name="object 10"/>
          <p:cNvSpPr txBox="1"/>
          <p:nvPr/>
        </p:nvSpPr>
        <p:spPr>
          <a:xfrm>
            <a:off x="2510060" y="1443356"/>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keys</a:t>
            </a:r>
            <a:endParaRPr sz="650">
              <a:latin typeface="Arial"/>
              <a:cs typeface="Arial"/>
            </a:endParaRPr>
          </a:p>
        </p:txBody>
      </p:sp>
      <p:sp>
        <p:nvSpPr>
          <p:cNvPr id="11" name="object 11"/>
          <p:cNvSpPr txBox="1"/>
          <p:nvPr/>
        </p:nvSpPr>
        <p:spPr>
          <a:xfrm>
            <a:off x="2255811" y="2248094"/>
            <a:ext cx="898525" cy="323215"/>
          </a:xfrm>
          <a:prstGeom prst="rect">
            <a:avLst/>
          </a:prstGeom>
        </p:spPr>
        <p:txBody>
          <a:bodyPr vert="horz" wrap="square" lIns="0" tIns="61594" rIns="0" bIns="0" rtlCol="0">
            <a:spAutoFit/>
          </a:bodyPr>
          <a:lstStyle/>
          <a:p>
            <a:pPr marL="12700">
              <a:lnSpc>
                <a:spcPct val="100000"/>
              </a:lnSpc>
              <a:spcBef>
                <a:spcPts val="484"/>
              </a:spcBef>
            </a:pPr>
            <a:r>
              <a:rPr sz="650" spc="5" dirty="0">
                <a:solidFill>
                  <a:srgbClr val="231F20"/>
                </a:solidFill>
                <a:latin typeface="Arial"/>
                <a:cs typeface="Arial"/>
              </a:rPr>
              <a:t>mbox</a:t>
            </a:r>
            <a:endParaRPr sz="650">
              <a:latin typeface="Arial"/>
              <a:cs typeface="Arial"/>
            </a:endParaRPr>
          </a:p>
          <a:p>
            <a:pPr marL="131445">
              <a:lnSpc>
                <a:spcPct val="100000"/>
              </a:lnSpc>
              <a:spcBef>
                <a:spcPts val="395"/>
              </a:spcBef>
            </a:pPr>
            <a:r>
              <a:rPr sz="650" spc="5" dirty="0">
                <a:solidFill>
                  <a:srgbClr val="231F20"/>
                </a:solidFill>
                <a:latin typeface="Arial"/>
                <a:cs typeface="Arial"/>
              </a:rPr>
              <a:t>"/home/steen/mbox"</a:t>
            </a:r>
            <a:endParaRPr sz="650">
              <a:latin typeface="Arial"/>
              <a:cs typeface="Arial"/>
            </a:endParaRPr>
          </a:p>
        </p:txBody>
      </p:sp>
      <p:sp>
        <p:nvSpPr>
          <p:cNvPr id="12" name="object 12"/>
          <p:cNvSpPr txBox="1"/>
          <p:nvPr/>
        </p:nvSpPr>
        <p:spPr>
          <a:xfrm>
            <a:off x="2957842" y="1623229"/>
            <a:ext cx="2825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"/keys"</a:t>
            </a:r>
            <a:endParaRPr sz="650">
              <a:latin typeface="Arial"/>
              <a:cs typeface="Arial"/>
            </a:endParaRPr>
          </a:p>
        </p:txBody>
      </p:sp>
      <p:sp>
        <p:nvSpPr>
          <p:cNvPr id="13" name="object 13"/>
          <p:cNvSpPr txBox="1"/>
          <p:nvPr/>
        </p:nvSpPr>
        <p:spPr>
          <a:xfrm>
            <a:off x="806972" y="1303963"/>
            <a:ext cx="668020" cy="485775"/>
          </a:xfrm>
          <a:prstGeom prst="rect">
            <a:avLst/>
          </a:prstGeom>
        </p:spPr>
        <p:txBody>
          <a:bodyPr vert="horz" wrap="square" lIns="0" tIns="12065" rIns="0" bIns="0" rtlCol="0">
            <a:spAutoFit/>
          </a:bodyPr>
          <a:lstStyle/>
          <a:p>
            <a:pPr marL="180340" marR="5080" indent="-168275">
              <a:lnSpc>
                <a:spcPct val="137100"/>
              </a:lnSpc>
              <a:spcBef>
                <a:spcPts val="95"/>
              </a:spcBef>
            </a:pPr>
            <a:r>
              <a:rPr sz="650" spc="5" dirty="0">
                <a:solidFill>
                  <a:srgbClr val="231F20"/>
                </a:solidFill>
                <a:latin typeface="Arial"/>
                <a:cs typeface="Arial"/>
              </a:rPr>
              <a:t>Data</a:t>
            </a:r>
            <a:r>
              <a:rPr sz="650" spc="-25" dirty="0">
                <a:solidFill>
                  <a:srgbClr val="231F20"/>
                </a:solidFill>
                <a:latin typeface="Arial"/>
                <a:cs typeface="Arial"/>
              </a:rPr>
              <a:t> </a:t>
            </a:r>
            <a:r>
              <a:rPr sz="650" spc="5" dirty="0">
                <a:solidFill>
                  <a:srgbClr val="231F20"/>
                </a:solidFill>
                <a:latin typeface="Arial"/>
                <a:cs typeface="Arial"/>
              </a:rPr>
              <a:t>stored</a:t>
            </a:r>
            <a:r>
              <a:rPr sz="650" spc="-25" dirty="0">
                <a:solidFill>
                  <a:srgbClr val="231F20"/>
                </a:solidFill>
                <a:latin typeface="Arial"/>
                <a:cs typeface="Arial"/>
              </a:rPr>
              <a:t> </a:t>
            </a:r>
            <a:r>
              <a:rPr sz="650" spc="5" dirty="0">
                <a:solidFill>
                  <a:srgbClr val="231F20"/>
                </a:solidFill>
                <a:latin typeface="Arial"/>
                <a:cs typeface="Arial"/>
              </a:rPr>
              <a:t>in</a:t>
            </a:r>
            <a:r>
              <a:rPr sz="650" spc="-25" dirty="0">
                <a:solidFill>
                  <a:srgbClr val="231F20"/>
                </a:solidFill>
                <a:latin typeface="Arial"/>
                <a:cs typeface="Arial"/>
              </a:rPr>
              <a:t> </a:t>
            </a:r>
            <a:r>
              <a:rPr sz="650" spc="5" dirty="0">
                <a:solidFill>
                  <a:srgbClr val="231F20"/>
                </a:solidFill>
                <a:latin typeface="Arial"/>
                <a:cs typeface="Arial"/>
              </a:rPr>
              <a:t>n1 </a:t>
            </a:r>
            <a:r>
              <a:rPr sz="650" spc="-165" dirty="0">
                <a:solidFill>
                  <a:srgbClr val="231F20"/>
                </a:solidFill>
                <a:latin typeface="Arial"/>
                <a:cs typeface="Arial"/>
              </a:rPr>
              <a:t> </a:t>
            </a:r>
            <a:r>
              <a:rPr sz="650" spc="5" dirty="0">
                <a:solidFill>
                  <a:srgbClr val="231F20"/>
                </a:solidFill>
                <a:latin typeface="Arial"/>
                <a:cs typeface="Arial"/>
              </a:rPr>
              <a:t>n2:</a:t>
            </a:r>
            <a:r>
              <a:rPr sz="650" spc="-15" dirty="0">
                <a:solidFill>
                  <a:srgbClr val="231F20"/>
                </a:solidFill>
                <a:latin typeface="Arial"/>
                <a:cs typeface="Arial"/>
              </a:rPr>
              <a:t> </a:t>
            </a:r>
            <a:r>
              <a:rPr sz="650" spc="5" dirty="0">
                <a:solidFill>
                  <a:srgbClr val="231F20"/>
                </a:solidFill>
                <a:latin typeface="Arial"/>
                <a:cs typeface="Arial"/>
              </a:rPr>
              <a:t>"elke"</a:t>
            </a:r>
            <a:endParaRPr sz="650">
              <a:latin typeface="Arial"/>
              <a:cs typeface="Arial"/>
            </a:endParaRPr>
          </a:p>
          <a:p>
            <a:pPr marL="180340" marR="72390">
              <a:lnSpc>
                <a:spcPts val="740"/>
              </a:lnSpc>
              <a:spcBef>
                <a:spcPts val="20"/>
              </a:spcBef>
            </a:pPr>
            <a:r>
              <a:rPr sz="650" spc="5" dirty="0">
                <a:solidFill>
                  <a:srgbClr val="231F20"/>
                </a:solidFill>
                <a:latin typeface="Arial"/>
                <a:cs typeface="Arial"/>
              </a:rPr>
              <a:t>n3: "max" </a:t>
            </a:r>
            <a:r>
              <a:rPr sz="650" spc="10" dirty="0">
                <a:solidFill>
                  <a:srgbClr val="231F20"/>
                </a:solidFill>
                <a:latin typeface="Arial"/>
                <a:cs typeface="Arial"/>
              </a:rPr>
              <a:t> </a:t>
            </a:r>
            <a:r>
              <a:rPr sz="650" spc="5" dirty="0">
                <a:solidFill>
                  <a:srgbClr val="231F20"/>
                </a:solidFill>
                <a:latin typeface="Arial"/>
                <a:cs typeface="Arial"/>
              </a:rPr>
              <a:t>n4:</a:t>
            </a:r>
            <a:r>
              <a:rPr sz="650" dirty="0">
                <a:solidFill>
                  <a:srgbClr val="231F20"/>
                </a:solidFill>
                <a:latin typeface="Arial"/>
                <a:cs typeface="Arial"/>
              </a:rPr>
              <a:t> </a:t>
            </a:r>
            <a:r>
              <a:rPr sz="650" spc="5" dirty="0">
                <a:solidFill>
                  <a:srgbClr val="231F20"/>
                </a:solidFill>
                <a:latin typeface="Arial"/>
                <a:cs typeface="Arial"/>
              </a:rPr>
              <a:t>"steen"</a:t>
            </a:r>
            <a:endParaRPr sz="650">
              <a:latin typeface="Arial"/>
              <a:cs typeface="Arial"/>
            </a:endParaRPr>
          </a:p>
        </p:txBody>
      </p:sp>
      <p:sp>
        <p:nvSpPr>
          <p:cNvPr id="14" name="object 14"/>
          <p:cNvSpPr txBox="1"/>
          <p:nvPr/>
        </p:nvSpPr>
        <p:spPr>
          <a:xfrm>
            <a:off x="3228471" y="2217461"/>
            <a:ext cx="5740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Directory node</a:t>
            </a:r>
            <a:endParaRPr sz="650">
              <a:latin typeface="Arial"/>
              <a:cs typeface="Arial"/>
            </a:endParaRPr>
          </a:p>
        </p:txBody>
      </p:sp>
      <p:sp>
        <p:nvSpPr>
          <p:cNvPr id="15" name="object 15"/>
          <p:cNvSpPr txBox="1"/>
          <p:nvPr/>
        </p:nvSpPr>
        <p:spPr>
          <a:xfrm>
            <a:off x="3232325" y="1997060"/>
            <a:ext cx="4006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Leaf node</a:t>
            </a:r>
            <a:endParaRPr sz="650">
              <a:latin typeface="Arial"/>
              <a:cs typeface="Arial"/>
            </a:endParaRPr>
          </a:p>
        </p:txBody>
      </p:sp>
      <p:pic>
        <p:nvPicPr>
          <p:cNvPr id="16" name="object 16"/>
          <p:cNvPicPr/>
          <p:nvPr/>
        </p:nvPicPr>
        <p:blipFill>
          <a:blip r:embed="rId5" cstate="print"/>
          <a:stretch>
            <a:fillRect/>
          </a:stretch>
        </p:blipFill>
        <p:spPr>
          <a:xfrm>
            <a:off x="3034193" y="1997361"/>
            <a:ext cx="154665" cy="154665"/>
          </a:xfrm>
          <a:prstGeom prst="rect">
            <a:avLst/>
          </a:prstGeom>
        </p:spPr>
      </p:pic>
      <p:sp>
        <p:nvSpPr>
          <p:cNvPr id="17" name="object 17"/>
          <p:cNvSpPr txBox="1"/>
          <p:nvPr/>
        </p:nvSpPr>
        <p:spPr>
          <a:xfrm>
            <a:off x="1568200" y="1891896"/>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max</a:t>
            </a:r>
            <a:endParaRPr sz="650">
              <a:latin typeface="Arial"/>
              <a:cs typeface="Arial"/>
            </a:endParaRPr>
          </a:p>
        </p:txBody>
      </p:sp>
      <p:sp>
        <p:nvSpPr>
          <p:cNvPr id="18" name="object 18"/>
          <p:cNvSpPr txBox="1"/>
          <p:nvPr/>
        </p:nvSpPr>
        <p:spPr>
          <a:xfrm>
            <a:off x="2554837" y="2056587"/>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keys</a:t>
            </a:r>
            <a:endParaRPr sz="650">
              <a:latin typeface="Arial"/>
              <a:cs typeface="Arial"/>
            </a:endParaRPr>
          </a:p>
        </p:txBody>
      </p:sp>
      <p:sp>
        <p:nvSpPr>
          <p:cNvPr id="19" name="object 19"/>
          <p:cNvSpPr/>
          <p:nvPr/>
        </p:nvSpPr>
        <p:spPr>
          <a:xfrm>
            <a:off x="3036827" y="2209151"/>
            <a:ext cx="149860" cy="149860"/>
          </a:xfrm>
          <a:custGeom>
            <a:avLst/>
            <a:gdLst/>
            <a:ahLst/>
            <a:cxnLst/>
            <a:rect l="l" t="t" r="r" b="b"/>
            <a:pathLst>
              <a:path w="149860" h="149860">
                <a:moveTo>
                  <a:pt x="0" y="149401"/>
                </a:moveTo>
                <a:lnTo>
                  <a:pt x="149397" y="149401"/>
                </a:lnTo>
                <a:lnTo>
                  <a:pt x="149397" y="0"/>
                </a:lnTo>
                <a:lnTo>
                  <a:pt x="0" y="0"/>
                </a:lnTo>
                <a:lnTo>
                  <a:pt x="0" y="149401"/>
                </a:lnTo>
                <a:close/>
              </a:path>
            </a:pathLst>
          </a:custGeom>
          <a:ln w="5267">
            <a:solidFill>
              <a:srgbClr val="231F20"/>
            </a:solidFill>
          </a:ln>
        </p:spPr>
        <p:txBody>
          <a:bodyPr wrap="square" lIns="0" tIns="0" rIns="0" bIns="0" rtlCol="0"/>
          <a:lstStyle/>
          <a:p>
            <a:endParaRPr/>
          </a:p>
        </p:txBody>
      </p:sp>
      <p:grpSp>
        <p:nvGrpSpPr>
          <p:cNvPr id="20" name="object 20"/>
          <p:cNvGrpSpPr/>
          <p:nvPr/>
        </p:nvGrpSpPr>
        <p:grpSpPr>
          <a:xfrm>
            <a:off x="1339557" y="1358822"/>
            <a:ext cx="1574165" cy="1230630"/>
            <a:chOff x="1339557" y="1358822"/>
            <a:chExt cx="1574165" cy="1230630"/>
          </a:xfrm>
        </p:grpSpPr>
        <p:sp>
          <p:nvSpPr>
            <p:cNvPr id="21" name="object 21"/>
            <p:cNvSpPr/>
            <p:nvPr/>
          </p:nvSpPr>
          <p:spPr>
            <a:xfrm>
              <a:off x="1685811" y="1361456"/>
              <a:ext cx="687705" cy="448309"/>
            </a:xfrm>
            <a:custGeom>
              <a:avLst/>
              <a:gdLst/>
              <a:ahLst/>
              <a:cxnLst/>
              <a:rect l="l" t="t" r="r" b="b"/>
              <a:pathLst>
                <a:path w="687705" h="448310">
                  <a:moveTo>
                    <a:pt x="0" y="448200"/>
                  </a:moveTo>
                  <a:lnTo>
                    <a:pt x="149397" y="448200"/>
                  </a:lnTo>
                  <a:lnTo>
                    <a:pt x="149397" y="298805"/>
                  </a:lnTo>
                  <a:lnTo>
                    <a:pt x="0" y="298805"/>
                  </a:lnTo>
                  <a:lnTo>
                    <a:pt x="0" y="448200"/>
                  </a:lnTo>
                  <a:close/>
                </a:path>
                <a:path w="687705" h="448310">
                  <a:moveTo>
                    <a:pt x="537840" y="149397"/>
                  </a:moveTo>
                  <a:lnTo>
                    <a:pt x="687238" y="149397"/>
                  </a:lnTo>
                  <a:lnTo>
                    <a:pt x="687238" y="0"/>
                  </a:lnTo>
                  <a:lnTo>
                    <a:pt x="537840" y="0"/>
                  </a:lnTo>
                  <a:lnTo>
                    <a:pt x="537840" y="149397"/>
                  </a:lnTo>
                  <a:close/>
                </a:path>
                <a:path w="687705" h="448310">
                  <a:moveTo>
                    <a:pt x="537840" y="149397"/>
                  </a:moveTo>
                  <a:lnTo>
                    <a:pt x="184286" y="285387"/>
                  </a:lnTo>
                </a:path>
              </a:pathLst>
            </a:custGeom>
            <a:ln w="5267">
              <a:solidFill>
                <a:srgbClr val="231F20"/>
              </a:solidFill>
            </a:ln>
          </p:spPr>
          <p:txBody>
            <a:bodyPr wrap="square" lIns="0" tIns="0" rIns="0" bIns="0" rtlCol="0"/>
            <a:lstStyle/>
            <a:p>
              <a:endParaRPr/>
            </a:p>
          </p:txBody>
        </p:sp>
        <p:sp>
          <p:nvSpPr>
            <p:cNvPr id="22" name="object 22"/>
            <p:cNvSpPr/>
            <p:nvPr/>
          </p:nvSpPr>
          <p:spPr>
            <a:xfrm>
              <a:off x="1835209" y="1603806"/>
              <a:ext cx="81280" cy="59690"/>
            </a:xfrm>
            <a:custGeom>
              <a:avLst/>
              <a:gdLst/>
              <a:ahLst/>
              <a:cxnLst/>
              <a:rect l="l" t="t" r="r" b="b"/>
              <a:pathLst>
                <a:path w="81280" h="59689">
                  <a:moveTo>
                    <a:pt x="57982" y="0"/>
                  </a:moveTo>
                  <a:lnTo>
                    <a:pt x="0" y="56455"/>
                  </a:lnTo>
                  <a:lnTo>
                    <a:pt x="80856" y="59507"/>
                  </a:lnTo>
                  <a:lnTo>
                    <a:pt x="69561" y="46775"/>
                  </a:lnTo>
                  <a:lnTo>
                    <a:pt x="61984" y="32614"/>
                  </a:lnTo>
                  <a:lnTo>
                    <a:pt x="58125" y="17022"/>
                  </a:lnTo>
                  <a:lnTo>
                    <a:pt x="57982" y="0"/>
                  </a:lnTo>
                  <a:close/>
                </a:path>
              </a:pathLst>
            </a:custGeom>
            <a:solidFill>
              <a:srgbClr val="231F20"/>
            </a:solidFill>
          </p:spPr>
          <p:txBody>
            <a:bodyPr wrap="square" lIns="0" tIns="0" rIns="0" bIns="0" rtlCol="0"/>
            <a:lstStyle/>
            <a:p>
              <a:endParaRPr/>
            </a:p>
          </p:txBody>
        </p:sp>
        <p:pic>
          <p:nvPicPr>
            <p:cNvPr id="23" name="object 23"/>
            <p:cNvPicPr/>
            <p:nvPr/>
          </p:nvPicPr>
          <p:blipFill>
            <a:blip r:embed="rId6" cstate="print"/>
            <a:stretch>
              <a:fillRect/>
            </a:stretch>
          </p:blipFill>
          <p:spPr>
            <a:xfrm>
              <a:off x="2758862" y="1657628"/>
              <a:ext cx="154665" cy="154662"/>
            </a:xfrm>
            <a:prstGeom prst="rect">
              <a:avLst/>
            </a:prstGeom>
          </p:spPr>
        </p:pic>
        <p:sp>
          <p:nvSpPr>
            <p:cNvPr id="24" name="object 24"/>
            <p:cNvSpPr/>
            <p:nvPr/>
          </p:nvSpPr>
          <p:spPr>
            <a:xfrm>
              <a:off x="2373049" y="1510853"/>
              <a:ext cx="383540" cy="151130"/>
            </a:xfrm>
            <a:custGeom>
              <a:avLst/>
              <a:gdLst/>
              <a:ahLst/>
              <a:cxnLst/>
              <a:rect l="l" t="t" r="r" b="b"/>
              <a:pathLst>
                <a:path w="383539" h="151130">
                  <a:moveTo>
                    <a:pt x="0" y="0"/>
                  </a:moveTo>
                  <a:lnTo>
                    <a:pt x="383534" y="150680"/>
                  </a:lnTo>
                </a:path>
              </a:pathLst>
            </a:custGeom>
            <a:ln w="5267">
              <a:solidFill>
                <a:srgbClr val="231F20"/>
              </a:solidFill>
            </a:ln>
          </p:spPr>
          <p:txBody>
            <a:bodyPr wrap="square" lIns="0" tIns="0" rIns="0" bIns="0" rtlCol="0"/>
            <a:lstStyle/>
            <a:p>
              <a:endParaRPr/>
            </a:p>
          </p:txBody>
        </p:sp>
        <p:sp>
          <p:nvSpPr>
            <p:cNvPr id="25" name="object 25"/>
            <p:cNvSpPr/>
            <p:nvPr/>
          </p:nvSpPr>
          <p:spPr>
            <a:xfrm>
              <a:off x="2710488" y="1618333"/>
              <a:ext cx="81280" cy="59690"/>
            </a:xfrm>
            <a:custGeom>
              <a:avLst/>
              <a:gdLst/>
              <a:ahLst/>
              <a:cxnLst/>
              <a:rect l="l" t="t" r="r" b="b"/>
              <a:pathLst>
                <a:path w="81280" h="59689">
                  <a:moveTo>
                    <a:pt x="23316" y="0"/>
                  </a:moveTo>
                  <a:lnTo>
                    <a:pt x="23050" y="17019"/>
                  </a:lnTo>
                  <a:lnTo>
                    <a:pt x="19073" y="32582"/>
                  </a:lnTo>
                  <a:lnTo>
                    <a:pt x="11389" y="46687"/>
                  </a:lnTo>
                  <a:lnTo>
                    <a:pt x="0" y="59334"/>
                  </a:lnTo>
                  <a:lnTo>
                    <a:pt x="80881" y="56863"/>
                  </a:lnTo>
                  <a:lnTo>
                    <a:pt x="23316" y="0"/>
                  </a:lnTo>
                  <a:close/>
                </a:path>
              </a:pathLst>
            </a:custGeom>
            <a:solidFill>
              <a:srgbClr val="231F20"/>
            </a:solidFill>
          </p:spPr>
          <p:txBody>
            <a:bodyPr wrap="square" lIns="0" tIns="0" rIns="0" bIns="0" rtlCol="0"/>
            <a:lstStyle/>
            <a:p>
              <a:endParaRPr/>
            </a:p>
          </p:txBody>
        </p:sp>
        <p:pic>
          <p:nvPicPr>
            <p:cNvPr id="26" name="object 26"/>
            <p:cNvPicPr/>
            <p:nvPr/>
          </p:nvPicPr>
          <p:blipFill>
            <a:blip r:embed="rId7" cstate="print"/>
            <a:stretch>
              <a:fillRect/>
            </a:stretch>
          </p:blipFill>
          <p:spPr>
            <a:xfrm>
              <a:off x="1683173" y="2075945"/>
              <a:ext cx="154669" cy="154665"/>
            </a:xfrm>
            <a:prstGeom prst="rect">
              <a:avLst/>
            </a:prstGeom>
          </p:spPr>
        </p:pic>
        <p:sp>
          <p:nvSpPr>
            <p:cNvPr id="27" name="object 27"/>
            <p:cNvSpPr/>
            <p:nvPr/>
          </p:nvSpPr>
          <p:spPr>
            <a:xfrm>
              <a:off x="1760512" y="1809656"/>
              <a:ext cx="0" cy="231775"/>
            </a:xfrm>
            <a:custGeom>
              <a:avLst/>
              <a:gdLst/>
              <a:ahLst/>
              <a:cxnLst/>
              <a:rect l="l" t="t" r="r" b="b"/>
              <a:pathLst>
                <a:path h="231775">
                  <a:moveTo>
                    <a:pt x="0" y="0"/>
                  </a:moveTo>
                  <a:lnTo>
                    <a:pt x="0" y="231539"/>
                  </a:lnTo>
                </a:path>
              </a:pathLst>
            </a:custGeom>
            <a:ln w="5267">
              <a:solidFill>
                <a:srgbClr val="231F20"/>
              </a:solidFill>
            </a:ln>
          </p:spPr>
          <p:txBody>
            <a:bodyPr wrap="square" lIns="0" tIns="0" rIns="0" bIns="0" rtlCol="0"/>
            <a:lstStyle/>
            <a:p>
              <a:endParaRPr/>
            </a:p>
          </p:txBody>
        </p:sp>
        <p:sp>
          <p:nvSpPr>
            <p:cNvPr id="28" name="object 28"/>
            <p:cNvSpPr/>
            <p:nvPr/>
          </p:nvSpPr>
          <p:spPr>
            <a:xfrm>
              <a:off x="1728638" y="2004203"/>
              <a:ext cx="64135" cy="74930"/>
            </a:xfrm>
            <a:custGeom>
              <a:avLst/>
              <a:gdLst/>
              <a:ahLst/>
              <a:cxnLst/>
              <a:rect l="l" t="t" r="r" b="b"/>
              <a:pathLst>
                <a:path w="64135" h="74930">
                  <a:moveTo>
                    <a:pt x="63751" y="0"/>
                  </a:moveTo>
                  <a:lnTo>
                    <a:pt x="47811" y="5975"/>
                  </a:lnTo>
                  <a:lnTo>
                    <a:pt x="31872" y="7967"/>
                  </a:lnTo>
                  <a:lnTo>
                    <a:pt x="15935" y="5975"/>
                  </a:lnTo>
                  <a:lnTo>
                    <a:pt x="0" y="0"/>
                  </a:lnTo>
                  <a:lnTo>
                    <a:pt x="31873" y="74376"/>
                  </a:lnTo>
                  <a:lnTo>
                    <a:pt x="63751" y="0"/>
                  </a:lnTo>
                  <a:close/>
                </a:path>
              </a:pathLst>
            </a:custGeom>
            <a:solidFill>
              <a:srgbClr val="231F20"/>
            </a:solidFill>
          </p:spPr>
          <p:txBody>
            <a:bodyPr wrap="square" lIns="0" tIns="0" rIns="0" bIns="0" rtlCol="0"/>
            <a:lstStyle/>
            <a:p>
              <a:endParaRPr/>
            </a:p>
          </p:txBody>
        </p:sp>
        <p:sp>
          <p:nvSpPr>
            <p:cNvPr id="29" name="object 29"/>
            <p:cNvSpPr/>
            <p:nvPr/>
          </p:nvSpPr>
          <p:spPr>
            <a:xfrm>
              <a:off x="2029434" y="2078579"/>
              <a:ext cx="149860" cy="149860"/>
            </a:xfrm>
            <a:custGeom>
              <a:avLst/>
              <a:gdLst/>
              <a:ahLst/>
              <a:cxnLst/>
              <a:rect l="l" t="t" r="r" b="b"/>
              <a:pathLst>
                <a:path w="149860" h="149860">
                  <a:moveTo>
                    <a:pt x="0" y="149397"/>
                  </a:moveTo>
                  <a:lnTo>
                    <a:pt x="149397" y="149397"/>
                  </a:lnTo>
                  <a:lnTo>
                    <a:pt x="149397" y="0"/>
                  </a:lnTo>
                  <a:lnTo>
                    <a:pt x="0" y="0"/>
                  </a:lnTo>
                  <a:lnTo>
                    <a:pt x="0" y="149397"/>
                  </a:lnTo>
                  <a:close/>
                </a:path>
              </a:pathLst>
            </a:custGeom>
            <a:ln w="5267">
              <a:solidFill>
                <a:srgbClr val="231F20"/>
              </a:solidFill>
            </a:ln>
          </p:spPr>
          <p:txBody>
            <a:bodyPr wrap="square" lIns="0" tIns="0" rIns="0" bIns="0" rtlCol="0"/>
            <a:lstStyle/>
            <a:p>
              <a:endParaRPr/>
            </a:p>
          </p:txBody>
        </p:sp>
        <p:pic>
          <p:nvPicPr>
            <p:cNvPr id="30" name="object 30"/>
            <p:cNvPicPr/>
            <p:nvPr/>
          </p:nvPicPr>
          <p:blipFill>
            <a:blip r:embed="rId8" cstate="print"/>
            <a:stretch>
              <a:fillRect/>
            </a:stretch>
          </p:blipFill>
          <p:spPr>
            <a:xfrm>
              <a:off x="1854987" y="2434503"/>
              <a:ext cx="154670" cy="154670"/>
            </a:xfrm>
            <a:prstGeom prst="rect">
              <a:avLst/>
            </a:prstGeom>
          </p:spPr>
        </p:pic>
        <p:pic>
          <p:nvPicPr>
            <p:cNvPr id="31" name="object 31"/>
            <p:cNvPicPr/>
            <p:nvPr/>
          </p:nvPicPr>
          <p:blipFill>
            <a:blip r:embed="rId9" cstate="print"/>
            <a:stretch>
              <a:fillRect/>
            </a:stretch>
          </p:blipFill>
          <p:spPr>
            <a:xfrm>
              <a:off x="1957892" y="2225343"/>
              <a:ext cx="104048" cy="216315"/>
            </a:xfrm>
            <a:prstGeom prst="rect">
              <a:avLst/>
            </a:prstGeom>
          </p:spPr>
        </p:pic>
        <p:pic>
          <p:nvPicPr>
            <p:cNvPr id="32" name="object 32"/>
            <p:cNvPicPr/>
            <p:nvPr/>
          </p:nvPicPr>
          <p:blipFill>
            <a:blip r:embed="rId10" cstate="print"/>
            <a:stretch>
              <a:fillRect/>
            </a:stretch>
          </p:blipFill>
          <p:spPr>
            <a:xfrm>
              <a:off x="2198608" y="2434503"/>
              <a:ext cx="154665" cy="154670"/>
            </a:xfrm>
            <a:prstGeom prst="rect">
              <a:avLst/>
            </a:prstGeom>
          </p:spPr>
        </p:pic>
        <p:pic>
          <p:nvPicPr>
            <p:cNvPr id="33" name="object 33"/>
            <p:cNvPicPr/>
            <p:nvPr/>
          </p:nvPicPr>
          <p:blipFill>
            <a:blip r:embed="rId11" cstate="print"/>
            <a:stretch>
              <a:fillRect/>
            </a:stretch>
          </p:blipFill>
          <p:spPr>
            <a:xfrm>
              <a:off x="2146314" y="2225343"/>
              <a:ext cx="96090" cy="219770"/>
            </a:xfrm>
            <a:prstGeom prst="rect">
              <a:avLst/>
            </a:prstGeom>
          </p:spPr>
        </p:pic>
        <p:sp>
          <p:nvSpPr>
            <p:cNvPr id="34" name="object 34"/>
            <p:cNvSpPr/>
            <p:nvPr/>
          </p:nvSpPr>
          <p:spPr>
            <a:xfrm>
              <a:off x="2178832" y="1839541"/>
              <a:ext cx="628015" cy="328930"/>
            </a:xfrm>
            <a:custGeom>
              <a:avLst/>
              <a:gdLst/>
              <a:ahLst/>
              <a:cxnLst/>
              <a:rect l="l" t="t" r="r" b="b"/>
              <a:pathLst>
                <a:path w="628014" h="328930">
                  <a:moveTo>
                    <a:pt x="0" y="328677"/>
                  </a:moveTo>
                  <a:lnTo>
                    <a:pt x="268221" y="277321"/>
                  </a:lnTo>
                  <a:lnTo>
                    <a:pt x="465010" y="164338"/>
                  </a:lnTo>
                  <a:lnTo>
                    <a:pt x="586165" y="51355"/>
                  </a:lnTo>
                  <a:lnTo>
                    <a:pt x="627484" y="0"/>
                  </a:lnTo>
                </a:path>
              </a:pathLst>
            </a:custGeom>
            <a:ln w="5267">
              <a:solidFill>
                <a:srgbClr val="231F20"/>
              </a:solidFill>
            </a:ln>
          </p:spPr>
          <p:txBody>
            <a:bodyPr wrap="square" lIns="0" tIns="0" rIns="0" bIns="0" rtlCol="0"/>
            <a:lstStyle/>
            <a:p>
              <a:endParaRPr/>
            </a:p>
          </p:txBody>
        </p:sp>
        <p:pic>
          <p:nvPicPr>
            <p:cNvPr id="35" name="object 35"/>
            <p:cNvPicPr/>
            <p:nvPr/>
          </p:nvPicPr>
          <p:blipFill>
            <a:blip r:embed="rId12" cstate="print"/>
            <a:stretch>
              <a:fillRect/>
            </a:stretch>
          </p:blipFill>
          <p:spPr>
            <a:xfrm>
              <a:off x="2759124" y="1808651"/>
              <a:ext cx="68242" cy="79414"/>
            </a:xfrm>
            <a:prstGeom prst="rect">
              <a:avLst/>
            </a:prstGeom>
          </p:spPr>
        </p:pic>
        <p:pic>
          <p:nvPicPr>
            <p:cNvPr id="36" name="object 36"/>
            <p:cNvPicPr/>
            <p:nvPr/>
          </p:nvPicPr>
          <p:blipFill>
            <a:blip r:embed="rId13" cstate="print"/>
            <a:stretch>
              <a:fillRect/>
            </a:stretch>
          </p:blipFill>
          <p:spPr>
            <a:xfrm>
              <a:off x="1339557" y="2075945"/>
              <a:ext cx="154665" cy="154665"/>
            </a:xfrm>
            <a:prstGeom prst="rect">
              <a:avLst/>
            </a:prstGeom>
          </p:spPr>
        </p:pic>
        <p:sp>
          <p:nvSpPr>
            <p:cNvPr id="37" name="object 37"/>
            <p:cNvSpPr/>
            <p:nvPr/>
          </p:nvSpPr>
          <p:spPr>
            <a:xfrm>
              <a:off x="1430595" y="1794721"/>
              <a:ext cx="255270" cy="244475"/>
            </a:xfrm>
            <a:custGeom>
              <a:avLst/>
              <a:gdLst/>
              <a:ahLst/>
              <a:cxnLst/>
              <a:rect l="l" t="t" r="r" b="b"/>
              <a:pathLst>
                <a:path w="255269" h="244475">
                  <a:moveTo>
                    <a:pt x="255215" y="0"/>
                  </a:moveTo>
                  <a:lnTo>
                    <a:pt x="133400" y="63329"/>
                  </a:lnTo>
                  <a:lnTo>
                    <a:pt x="54774" y="144394"/>
                  </a:lnTo>
                  <a:lnTo>
                    <a:pt x="12564" y="214256"/>
                  </a:lnTo>
                  <a:lnTo>
                    <a:pt x="0" y="243974"/>
                  </a:lnTo>
                </a:path>
              </a:pathLst>
            </a:custGeom>
            <a:ln w="5267">
              <a:solidFill>
                <a:srgbClr val="231F20"/>
              </a:solidFill>
            </a:ln>
          </p:spPr>
          <p:txBody>
            <a:bodyPr wrap="square" lIns="0" tIns="0" rIns="0" bIns="0" rtlCol="0"/>
            <a:lstStyle/>
            <a:p>
              <a:endParaRPr/>
            </a:p>
          </p:txBody>
        </p:sp>
        <p:sp>
          <p:nvSpPr>
            <p:cNvPr id="38" name="object 38"/>
            <p:cNvSpPr/>
            <p:nvPr/>
          </p:nvSpPr>
          <p:spPr>
            <a:xfrm>
              <a:off x="1411963" y="1993555"/>
              <a:ext cx="60960" cy="80645"/>
            </a:xfrm>
            <a:custGeom>
              <a:avLst/>
              <a:gdLst/>
              <a:ahLst/>
              <a:cxnLst/>
              <a:rect l="l" t="t" r="r" b="b"/>
              <a:pathLst>
                <a:path w="60959" h="80644">
                  <a:moveTo>
                    <a:pt x="0" y="0"/>
                  </a:moveTo>
                  <a:lnTo>
                    <a:pt x="6884" y="80621"/>
                  </a:lnTo>
                  <a:lnTo>
                    <a:pt x="60520" y="20032"/>
                  </a:lnTo>
                  <a:lnTo>
                    <a:pt x="43512" y="20696"/>
                  </a:lnTo>
                  <a:lnTo>
                    <a:pt x="27757" y="17580"/>
                  </a:lnTo>
                  <a:lnTo>
                    <a:pt x="13253" y="10682"/>
                  </a:lnTo>
                  <a:lnTo>
                    <a:pt x="0" y="0"/>
                  </a:lnTo>
                  <a:close/>
                </a:path>
              </a:pathLst>
            </a:custGeom>
            <a:solidFill>
              <a:srgbClr val="231F20"/>
            </a:solidFill>
          </p:spPr>
          <p:txBody>
            <a:bodyPr wrap="square" lIns="0" tIns="0" rIns="0" bIns="0" rtlCol="0"/>
            <a:lstStyle/>
            <a:p>
              <a:endParaRPr/>
            </a:p>
          </p:txBody>
        </p:sp>
        <p:sp>
          <p:nvSpPr>
            <p:cNvPr id="39" name="object 39"/>
            <p:cNvSpPr/>
            <p:nvPr/>
          </p:nvSpPr>
          <p:spPr>
            <a:xfrm>
              <a:off x="1835209" y="1794721"/>
              <a:ext cx="254000" cy="245745"/>
            </a:xfrm>
            <a:custGeom>
              <a:avLst/>
              <a:gdLst/>
              <a:ahLst/>
              <a:cxnLst/>
              <a:rect l="l" t="t" r="r" b="b"/>
              <a:pathLst>
                <a:path w="254000" h="245744">
                  <a:moveTo>
                    <a:pt x="0" y="0"/>
                  </a:moveTo>
                  <a:lnTo>
                    <a:pt x="121623" y="63522"/>
                  </a:lnTo>
                  <a:lnTo>
                    <a:pt x="199825" y="145010"/>
                  </a:lnTo>
                  <a:lnTo>
                    <a:pt x="241610" y="215295"/>
                  </a:lnTo>
                  <a:lnTo>
                    <a:pt x="253982" y="245205"/>
                  </a:lnTo>
                </a:path>
              </a:pathLst>
            </a:custGeom>
            <a:ln w="5267">
              <a:solidFill>
                <a:srgbClr val="231F20"/>
              </a:solidFill>
            </a:ln>
          </p:spPr>
          <p:txBody>
            <a:bodyPr wrap="square" lIns="0" tIns="0" rIns="0" bIns="0" rtlCol="0"/>
            <a:lstStyle/>
            <a:p>
              <a:endParaRPr/>
            </a:p>
          </p:txBody>
        </p:sp>
        <p:sp>
          <p:nvSpPr>
            <p:cNvPr id="40" name="object 40"/>
            <p:cNvSpPr/>
            <p:nvPr/>
          </p:nvSpPr>
          <p:spPr>
            <a:xfrm>
              <a:off x="2047512" y="1994938"/>
              <a:ext cx="60960" cy="80645"/>
            </a:xfrm>
            <a:custGeom>
              <a:avLst/>
              <a:gdLst/>
              <a:ahLst/>
              <a:cxnLst/>
              <a:rect l="l" t="t" r="r" b="b"/>
              <a:pathLst>
                <a:path w="60960" h="80644">
                  <a:moveTo>
                    <a:pt x="60673" y="0"/>
                  </a:moveTo>
                  <a:lnTo>
                    <a:pt x="47335" y="10575"/>
                  </a:lnTo>
                  <a:lnTo>
                    <a:pt x="32775" y="17359"/>
                  </a:lnTo>
                  <a:lnTo>
                    <a:pt x="16997" y="20352"/>
                  </a:lnTo>
                  <a:lnTo>
                    <a:pt x="0" y="19550"/>
                  </a:lnTo>
                  <a:lnTo>
                    <a:pt x="53147" y="80569"/>
                  </a:lnTo>
                  <a:lnTo>
                    <a:pt x="60673" y="0"/>
                  </a:lnTo>
                  <a:close/>
                </a:path>
              </a:pathLst>
            </a:custGeom>
            <a:solidFill>
              <a:srgbClr val="231F20"/>
            </a:solidFill>
          </p:spPr>
          <p:txBody>
            <a:bodyPr wrap="square" lIns="0" tIns="0" rIns="0" bIns="0" rtlCol="0"/>
            <a:lstStyle/>
            <a:p>
              <a:endParaRPr/>
            </a:p>
          </p:txBody>
        </p:sp>
      </p:grpSp>
      <p:sp>
        <p:nvSpPr>
          <p:cNvPr id="41" name="object 41"/>
          <p:cNvSpPr txBox="1"/>
          <p:nvPr/>
        </p:nvSpPr>
        <p:spPr>
          <a:xfrm>
            <a:off x="1708605" y="1667246"/>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n1</a:t>
            </a:r>
            <a:endParaRPr sz="650">
              <a:latin typeface="Arial"/>
              <a:cs typeface="Arial"/>
            </a:endParaRPr>
          </a:p>
        </p:txBody>
      </p:sp>
      <p:sp>
        <p:nvSpPr>
          <p:cNvPr id="48" name="object 4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23</a:t>
            </a:r>
            <a:r>
              <a:rPr spc="-40" dirty="0"/>
              <a:t> </a:t>
            </a:r>
            <a:r>
              <a:rPr spc="-5" dirty="0"/>
              <a:t>/</a:t>
            </a:r>
            <a:r>
              <a:rPr spc="-35" dirty="0"/>
              <a:t> </a:t>
            </a:r>
            <a:r>
              <a:rPr spc="-5" dirty="0"/>
              <a:t>46</a:t>
            </a:r>
          </a:p>
        </p:txBody>
      </p:sp>
      <p:sp>
        <p:nvSpPr>
          <p:cNvPr id="42" name="object 42"/>
          <p:cNvSpPr txBox="1"/>
          <p:nvPr/>
        </p:nvSpPr>
        <p:spPr>
          <a:xfrm>
            <a:off x="1359488" y="2085427"/>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n2</a:t>
            </a:r>
            <a:endParaRPr sz="650">
              <a:latin typeface="Arial"/>
              <a:cs typeface="Arial"/>
            </a:endParaRPr>
          </a:p>
        </p:txBody>
      </p:sp>
      <p:sp>
        <p:nvSpPr>
          <p:cNvPr id="43" name="object 43"/>
          <p:cNvSpPr txBox="1"/>
          <p:nvPr/>
        </p:nvSpPr>
        <p:spPr>
          <a:xfrm>
            <a:off x="2752569" y="1717336"/>
            <a:ext cx="977265" cy="127000"/>
          </a:xfrm>
          <a:prstGeom prst="rect">
            <a:avLst/>
          </a:prstGeom>
        </p:spPr>
        <p:txBody>
          <a:bodyPr vert="horz" wrap="square" lIns="0" tIns="13970" rIns="0" bIns="0" rtlCol="0">
            <a:spAutoFit/>
          </a:bodyPr>
          <a:lstStyle/>
          <a:p>
            <a:pPr marL="38100">
              <a:lnSpc>
                <a:spcPct val="100000"/>
              </a:lnSpc>
              <a:spcBef>
                <a:spcPts val="110"/>
              </a:spcBef>
            </a:pPr>
            <a:r>
              <a:rPr sz="975" spc="7" baseline="34188" dirty="0">
                <a:solidFill>
                  <a:srgbClr val="231F20"/>
                </a:solidFill>
                <a:latin typeface="Arial"/>
                <a:cs typeface="Arial"/>
              </a:rPr>
              <a:t>n5  </a:t>
            </a:r>
            <a:r>
              <a:rPr sz="975" spc="112" baseline="34188" dirty="0">
                <a:solidFill>
                  <a:srgbClr val="231F20"/>
                </a:solidFill>
                <a:latin typeface="Arial"/>
                <a:cs typeface="Arial"/>
              </a:rPr>
              <a:t> </a:t>
            </a:r>
            <a:r>
              <a:rPr sz="650" spc="5" dirty="0">
                <a:solidFill>
                  <a:srgbClr val="231F20"/>
                </a:solidFill>
                <a:latin typeface="Arial"/>
                <a:cs typeface="Arial"/>
              </a:rPr>
              <a:t>"/home/steen/keys"</a:t>
            </a:r>
            <a:endParaRPr sz="650">
              <a:latin typeface="Arial"/>
              <a:cs typeface="Arial"/>
            </a:endParaRPr>
          </a:p>
        </p:txBody>
      </p:sp>
      <p:sp>
        <p:nvSpPr>
          <p:cNvPr id="44" name="object 44"/>
          <p:cNvSpPr txBox="1"/>
          <p:nvPr/>
        </p:nvSpPr>
        <p:spPr>
          <a:xfrm>
            <a:off x="2240629" y="1368220"/>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n0</a:t>
            </a:r>
            <a:endParaRPr sz="650">
              <a:latin typeface="Arial"/>
              <a:cs typeface="Arial"/>
            </a:endParaRPr>
          </a:p>
        </p:txBody>
      </p:sp>
      <p:sp>
        <p:nvSpPr>
          <p:cNvPr id="45" name="object 45"/>
          <p:cNvSpPr txBox="1"/>
          <p:nvPr/>
        </p:nvSpPr>
        <p:spPr>
          <a:xfrm>
            <a:off x="1702535" y="2085427"/>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n3</a:t>
            </a:r>
            <a:endParaRPr sz="650">
              <a:latin typeface="Arial"/>
              <a:cs typeface="Arial"/>
            </a:endParaRPr>
          </a:p>
        </p:txBody>
      </p:sp>
      <p:sp>
        <p:nvSpPr>
          <p:cNvPr id="46" name="object 46"/>
          <p:cNvSpPr txBox="1"/>
          <p:nvPr/>
        </p:nvSpPr>
        <p:spPr>
          <a:xfrm>
            <a:off x="2046341" y="2085427"/>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n4</a:t>
            </a:r>
            <a:endParaRPr sz="650">
              <a:latin typeface="Arial"/>
              <a:cs typeface="Arial"/>
            </a:endParaRPr>
          </a:p>
        </p:txBody>
      </p:sp>
      <p:sp>
        <p:nvSpPr>
          <p:cNvPr id="47" name="object 47"/>
          <p:cNvSpPr txBox="1"/>
          <p:nvPr/>
        </p:nvSpPr>
        <p:spPr>
          <a:xfrm>
            <a:off x="343128" y="2805910"/>
            <a:ext cx="3914775" cy="354965"/>
          </a:xfrm>
          <a:prstGeom prst="rect">
            <a:avLst/>
          </a:prstGeom>
        </p:spPr>
        <p:txBody>
          <a:bodyPr vert="horz" wrap="square" lIns="0" tIns="12065" rIns="0" bIns="0" rtlCol="0">
            <a:spAutoFit/>
          </a:bodyPr>
          <a:lstStyle/>
          <a:p>
            <a:pPr marL="16510">
              <a:lnSpc>
                <a:spcPts val="1420"/>
              </a:lnSpc>
              <a:spcBef>
                <a:spcPts val="95"/>
              </a:spcBef>
            </a:pPr>
            <a:r>
              <a:rPr sz="1200" spc="-5" dirty="0">
                <a:solidFill>
                  <a:srgbClr val="3333B2"/>
                </a:solidFill>
                <a:latin typeface="Arial"/>
                <a:cs typeface="Arial"/>
              </a:rPr>
              <a:t>Note</a:t>
            </a:r>
            <a:endParaRPr sz="1200">
              <a:latin typeface="Arial"/>
              <a:cs typeface="Arial"/>
            </a:endParaRPr>
          </a:p>
          <a:p>
            <a:pPr marL="12700">
              <a:lnSpc>
                <a:spcPts val="1180"/>
              </a:lnSpc>
            </a:pPr>
            <a:r>
              <a:rPr sz="1000" spc="-5" dirty="0">
                <a:latin typeface="Arial"/>
                <a:cs typeface="Arial"/>
              </a:rPr>
              <a:t>A</a:t>
            </a:r>
            <a:r>
              <a:rPr sz="1000" dirty="0">
                <a:latin typeface="Arial"/>
                <a:cs typeface="Arial"/>
              </a:rPr>
              <a:t> directory </a:t>
            </a:r>
            <a:r>
              <a:rPr sz="1000" spc="-5" dirty="0">
                <a:latin typeface="Arial"/>
                <a:cs typeface="Arial"/>
              </a:rPr>
              <a:t>node</a:t>
            </a:r>
            <a:r>
              <a:rPr sz="1000" dirty="0">
                <a:latin typeface="Arial"/>
                <a:cs typeface="Arial"/>
              </a:rPr>
              <a:t> </a:t>
            </a:r>
            <a:r>
              <a:rPr sz="1000" spc="-5" dirty="0">
                <a:latin typeface="Arial"/>
                <a:cs typeface="Arial"/>
              </a:rPr>
              <a:t>contains</a:t>
            </a:r>
            <a:r>
              <a:rPr sz="1000" spc="5"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table</a:t>
            </a:r>
            <a:r>
              <a:rPr sz="1000" dirty="0">
                <a:latin typeface="Arial"/>
                <a:cs typeface="Arial"/>
              </a:rPr>
              <a:t> </a:t>
            </a:r>
            <a:r>
              <a:rPr sz="1000" spc="-5" dirty="0">
                <a:latin typeface="Arial"/>
                <a:cs typeface="Arial"/>
              </a:rPr>
              <a:t>of</a:t>
            </a:r>
            <a:r>
              <a:rPr sz="1000" spc="5" dirty="0">
                <a:latin typeface="Arial"/>
                <a:cs typeface="Arial"/>
              </a:rPr>
              <a:t> </a:t>
            </a:r>
            <a:r>
              <a:rPr sz="1000" i="1" spc="-5" dirty="0">
                <a:latin typeface="Arial"/>
                <a:cs typeface="Arial"/>
              </a:rPr>
              <a:t>(node</a:t>
            </a:r>
            <a:r>
              <a:rPr sz="1000" i="1" dirty="0">
                <a:latin typeface="Arial"/>
                <a:cs typeface="Arial"/>
              </a:rPr>
              <a:t> </a:t>
            </a:r>
            <a:r>
              <a:rPr sz="1000" i="1" spc="-10" dirty="0">
                <a:latin typeface="Arial"/>
                <a:cs typeface="Arial"/>
              </a:rPr>
              <a:t>identifier,</a:t>
            </a:r>
            <a:r>
              <a:rPr sz="1000" i="1" dirty="0">
                <a:latin typeface="Arial"/>
                <a:cs typeface="Arial"/>
              </a:rPr>
              <a:t> </a:t>
            </a:r>
            <a:r>
              <a:rPr sz="1000" i="1" spc="-5" dirty="0">
                <a:latin typeface="Arial"/>
                <a:cs typeface="Arial"/>
              </a:rPr>
              <a:t>edge</a:t>
            </a:r>
            <a:r>
              <a:rPr sz="1000" i="1" spc="5" dirty="0">
                <a:latin typeface="Arial"/>
                <a:cs typeface="Arial"/>
              </a:rPr>
              <a:t> </a:t>
            </a:r>
            <a:r>
              <a:rPr sz="1000" i="1" spc="-5" dirty="0">
                <a:latin typeface="Arial"/>
                <a:cs typeface="Arial"/>
              </a:rPr>
              <a:t>label)</a:t>
            </a:r>
            <a:r>
              <a:rPr sz="1000" i="1" dirty="0">
                <a:latin typeface="Arial"/>
                <a:cs typeface="Arial"/>
              </a:rPr>
              <a:t> </a:t>
            </a:r>
            <a:r>
              <a:rPr sz="1000" spc="-5" dirty="0">
                <a:latin typeface="Arial"/>
                <a:cs typeface="Arial"/>
              </a:rPr>
              <a:t>pairs.</a:t>
            </a:r>
            <a:endParaRPr sz="10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4051833" y="716"/>
            <a:ext cx="48958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Name spaces</a:t>
            </a:r>
            <a:endParaRPr sz="600">
              <a:latin typeface="Arial"/>
              <a:cs typeface="Arial"/>
            </a:endParaRPr>
          </a:p>
        </p:txBody>
      </p:sp>
      <p:sp>
        <p:nvSpPr>
          <p:cNvPr id="4" name="object 4"/>
          <p:cNvSpPr txBox="1"/>
          <p:nvPr/>
        </p:nvSpPr>
        <p:spPr>
          <a:xfrm>
            <a:off x="95300" y="188846"/>
            <a:ext cx="104838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Name</a:t>
            </a:r>
            <a:r>
              <a:rPr sz="1400" spc="-55" dirty="0">
                <a:solidFill>
                  <a:srgbClr val="3333B2"/>
                </a:solidFill>
                <a:latin typeface="Arial"/>
                <a:cs typeface="Arial"/>
              </a:rPr>
              <a:t> </a:t>
            </a:r>
            <a:r>
              <a:rPr sz="1400" spc="15" dirty="0">
                <a:solidFill>
                  <a:srgbClr val="3333B2"/>
                </a:solidFill>
                <a:latin typeface="Arial"/>
                <a:cs typeface="Arial"/>
              </a:rPr>
              <a:t>space</a:t>
            </a:r>
            <a:endParaRPr sz="1400" dirty="0">
              <a:latin typeface="Arial"/>
              <a:cs typeface="Arial"/>
            </a:endParaRPr>
          </a:p>
        </p:txBody>
      </p:sp>
      <p:sp>
        <p:nvSpPr>
          <p:cNvPr id="5" name="object 5"/>
          <p:cNvSpPr txBox="1"/>
          <p:nvPr/>
        </p:nvSpPr>
        <p:spPr>
          <a:xfrm>
            <a:off x="314769" y="888464"/>
            <a:ext cx="3488690" cy="1066800"/>
          </a:xfrm>
          <a:prstGeom prst="rect">
            <a:avLst/>
          </a:prstGeom>
        </p:spPr>
        <p:txBody>
          <a:bodyPr vert="horz" wrap="square" lIns="0" tIns="12065" rIns="0" bIns="0" rtlCol="0">
            <a:spAutoFit/>
          </a:bodyPr>
          <a:lstStyle/>
          <a:p>
            <a:pPr marL="38100">
              <a:lnSpc>
                <a:spcPct val="100000"/>
              </a:lnSpc>
              <a:spcBef>
                <a:spcPts val="95"/>
              </a:spcBef>
            </a:pPr>
            <a:r>
              <a:rPr sz="1200" spc="-25" dirty="0">
                <a:solidFill>
                  <a:srgbClr val="3333B2"/>
                </a:solidFill>
                <a:latin typeface="Arial"/>
                <a:cs typeface="Arial"/>
              </a:rPr>
              <a:t>We</a:t>
            </a:r>
            <a:r>
              <a:rPr sz="1200" spc="-5" dirty="0">
                <a:solidFill>
                  <a:srgbClr val="3333B2"/>
                </a:solidFill>
                <a:latin typeface="Arial"/>
                <a:cs typeface="Arial"/>
              </a:rPr>
              <a:t> can easily store all</a:t>
            </a:r>
            <a:r>
              <a:rPr sz="1200" dirty="0">
                <a:solidFill>
                  <a:srgbClr val="3333B2"/>
                </a:solidFill>
                <a:latin typeface="Arial"/>
                <a:cs typeface="Arial"/>
              </a:rPr>
              <a:t> </a:t>
            </a:r>
            <a:r>
              <a:rPr sz="1200" spc="-5" dirty="0">
                <a:solidFill>
                  <a:srgbClr val="3333B2"/>
                </a:solidFill>
                <a:latin typeface="Arial"/>
                <a:cs typeface="Arial"/>
              </a:rPr>
              <a:t>kinds of </a:t>
            </a:r>
            <a:r>
              <a:rPr sz="1200" spc="-5" dirty="0">
                <a:solidFill>
                  <a:srgbClr val="0000FA"/>
                </a:solidFill>
                <a:latin typeface="Arial"/>
                <a:cs typeface="Arial"/>
              </a:rPr>
              <a:t>attributes </a:t>
            </a:r>
            <a:r>
              <a:rPr sz="1200" spc="-5" dirty="0">
                <a:solidFill>
                  <a:srgbClr val="3333B2"/>
                </a:solidFill>
                <a:latin typeface="Arial"/>
                <a:cs typeface="Arial"/>
              </a:rPr>
              <a:t>in</a:t>
            </a:r>
            <a:r>
              <a:rPr sz="1200" dirty="0">
                <a:solidFill>
                  <a:srgbClr val="3333B2"/>
                </a:solidFill>
                <a:latin typeface="Arial"/>
                <a:cs typeface="Arial"/>
              </a:rPr>
              <a:t> </a:t>
            </a:r>
            <a:r>
              <a:rPr sz="1200" spc="-5" dirty="0">
                <a:solidFill>
                  <a:srgbClr val="3333B2"/>
                </a:solidFill>
                <a:latin typeface="Arial"/>
                <a:cs typeface="Arial"/>
              </a:rPr>
              <a:t>a node</a:t>
            </a:r>
            <a:endParaRPr sz="1200" dirty="0">
              <a:latin typeface="Arial"/>
              <a:cs typeface="Arial"/>
            </a:endParaRPr>
          </a:p>
          <a:p>
            <a:pPr marL="321945" indent="-168275">
              <a:lnSpc>
                <a:spcPts val="1200"/>
              </a:lnSpc>
              <a:spcBef>
                <a:spcPts val="780"/>
              </a:spcBef>
              <a:buClr>
                <a:srgbClr val="3333B2"/>
              </a:buClr>
              <a:buChar char="►"/>
              <a:tabLst>
                <a:tab pos="322580" algn="l"/>
              </a:tabLst>
            </a:pPr>
            <a:r>
              <a:rPr sz="1000" spc="-35" dirty="0">
                <a:latin typeface="Arial"/>
                <a:cs typeface="Arial"/>
              </a:rPr>
              <a:t>Type</a:t>
            </a:r>
            <a:r>
              <a:rPr sz="1000" spc="-20" dirty="0">
                <a:latin typeface="Arial"/>
                <a:cs typeface="Arial"/>
              </a:rPr>
              <a:t> </a:t>
            </a:r>
            <a:r>
              <a:rPr sz="1000" spc="-5" dirty="0">
                <a:latin typeface="Arial"/>
                <a:cs typeface="Arial"/>
              </a:rPr>
              <a:t>of</a:t>
            </a:r>
            <a:r>
              <a:rPr sz="1000" spc="-15" dirty="0">
                <a:latin typeface="Arial"/>
                <a:cs typeface="Arial"/>
              </a:rPr>
              <a:t> </a:t>
            </a:r>
            <a:r>
              <a:rPr sz="1000" spc="-5" dirty="0">
                <a:latin typeface="Arial"/>
                <a:cs typeface="Arial"/>
              </a:rPr>
              <a:t>the</a:t>
            </a:r>
            <a:r>
              <a:rPr sz="1000" spc="-20" dirty="0">
                <a:latin typeface="Arial"/>
                <a:cs typeface="Arial"/>
              </a:rPr>
              <a:t> </a:t>
            </a:r>
            <a:r>
              <a:rPr sz="1000" spc="-5" dirty="0">
                <a:latin typeface="Arial"/>
                <a:cs typeface="Arial"/>
              </a:rPr>
              <a:t>entity</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An</a:t>
            </a:r>
            <a:r>
              <a:rPr sz="1000" spc="-10" dirty="0">
                <a:latin typeface="Arial"/>
                <a:cs typeface="Arial"/>
              </a:rPr>
              <a:t> </a:t>
            </a:r>
            <a:r>
              <a:rPr sz="1000" spc="-5" dirty="0">
                <a:latin typeface="Arial"/>
                <a:cs typeface="Arial"/>
              </a:rPr>
              <a:t>identifier</a:t>
            </a:r>
            <a:r>
              <a:rPr sz="1000" spc="-10" dirty="0">
                <a:latin typeface="Arial"/>
                <a:cs typeface="Arial"/>
              </a:rPr>
              <a:t> </a:t>
            </a:r>
            <a:r>
              <a:rPr sz="1000" spc="-15" dirty="0">
                <a:latin typeface="Arial"/>
                <a:cs typeface="Arial"/>
              </a:rPr>
              <a:t>for</a:t>
            </a:r>
            <a:r>
              <a:rPr sz="1000" spc="-5" dirty="0">
                <a:latin typeface="Arial"/>
                <a:cs typeface="Arial"/>
              </a:rPr>
              <a:t> that</a:t>
            </a:r>
            <a:r>
              <a:rPr sz="1000" spc="-10" dirty="0">
                <a:latin typeface="Arial"/>
                <a:cs typeface="Arial"/>
              </a:rPr>
              <a:t> </a:t>
            </a:r>
            <a:r>
              <a:rPr sz="1000" spc="-5" dirty="0">
                <a:latin typeface="Arial"/>
                <a:cs typeface="Arial"/>
              </a:rPr>
              <a:t>entity</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Address</a:t>
            </a:r>
            <a:r>
              <a:rPr sz="1000" spc="-10"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the</a:t>
            </a:r>
            <a:r>
              <a:rPr sz="1000" spc="-10" dirty="0">
                <a:latin typeface="Arial"/>
                <a:cs typeface="Arial"/>
              </a:rPr>
              <a:t> entity’s</a:t>
            </a:r>
            <a:r>
              <a:rPr sz="1000" spc="-5" dirty="0">
                <a:latin typeface="Arial"/>
                <a:cs typeface="Arial"/>
              </a:rPr>
              <a:t> location</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Nicknames</a:t>
            </a:r>
            <a:endParaRPr sz="1000" dirty="0">
              <a:latin typeface="Arial"/>
              <a:cs typeface="Arial"/>
            </a:endParaRPr>
          </a:p>
          <a:p>
            <a:pPr marL="321945" indent="-168275">
              <a:lnSpc>
                <a:spcPts val="1200"/>
              </a:lnSpc>
              <a:buClr>
                <a:srgbClr val="3333B2"/>
              </a:buClr>
              <a:buChar char="►"/>
              <a:tabLst>
                <a:tab pos="322580" algn="l"/>
              </a:tabLst>
            </a:pP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4051833" y="716"/>
            <a:ext cx="48958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Name spaces</a:t>
            </a:r>
            <a:endParaRPr sz="600">
              <a:latin typeface="Arial"/>
              <a:cs typeface="Arial"/>
            </a:endParaRPr>
          </a:p>
        </p:txBody>
      </p:sp>
      <p:sp>
        <p:nvSpPr>
          <p:cNvPr id="4" name="object 4"/>
          <p:cNvSpPr txBox="1"/>
          <p:nvPr/>
        </p:nvSpPr>
        <p:spPr>
          <a:xfrm>
            <a:off x="95300" y="188846"/>
            <a:ext cx="104838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Name</a:t>
            </a:r>
            <a:r>
              <a:rPr sz="1400" spc="-55" dirty="0">
                <a:solidFill>
                  <a:srgbClr val="3333B2"/>
                </a:solidFill>
                <a:latin typeface="Arial"/>
                <a:cs typeface="Arial"/>
              </a:rPr>
              <a:t> </a:t>
            </a:r>
            <a:r>
              <a:rPr sz="1400" spc="15" dirty="0">
                <a:solidFill>
                  <a:srgbClr val="3333B2"/>
                </a:solidFill>
                <a:latin typeface="Arial"/>
                <a:cs typeface="Arial"/>
              </a:rPr>
              <a:t>space</a:t>
            </a:r>
            <a:endParaRPr sz="1400" dirty="0">
              <a:latin typeface="Arial"/>
              <a:cs typeface="Arial"/>
            </a:endParaRPr>
          </a:p>
        </p:txBody>
      </p:sp>
      <p:sp>
        <p:nvSpPr>
          <p:cNvPr id="5" name="object 5"/>
          <p:cNvSpPr txBox="1"/>
          <p:nvPr/>
        </p:nvSpPr>
        <p:spPr>
          <a:xfrm>
            <a:off x="314769" y="888464"/>
            <a:ext cx="3597275" cy="1710689"/>
          </a:xfrm>
          <a:prstGeom prst="rect">
            <a:avLst/>
          </a:prstGeom>
        </p:spPr>
        <p:txBody>
          <a:bodyPr vert="horz" wrap="square" lIns="0" tIns="12065" rIns="0" bIns="0" rtlCol="0">
            <a:spAutoFit/>
          </a:bodyPr>
          <a:lstStyle/>
          <a:p>
            <a:pPr marL="38100">
              <a:lnSpc>
                <a:spcPct val="100000"/>
              </a:lnSpc>
              <a:spcBef>
                <a:spcPts val="95"/>
              </a:spcBef>
            </a:pPr>
            <a:r>
              <a:rPr sz="1200" spc="-25" dirty="0">
                <a:solidFill>
                  <a:srgbClr val="3333B2"/>
                </a:solidFill>
                <a:latin typeface="Arial"/>
                <a:cs typeface="Arial"/>
              </a:rPr>
              <a:t>We</a:t>
            </a:r>
            <a:r>
              <a:rPr sz="1200" spc="-5" dirty="0">
                <a:solidFill>
                  <a:srgbClr val="3333B2"/>
                </a:solidFill>
                <a:latin typeface="Arial"/>
                <a:cs typeface="Arial"/>
              </a:rPr>
              <a:t> can easily store all</a:t>
            </a:r>
            <a:r>
              <a:rPr sz="1200" dirty="0">
                <a:solidFill>
                  <a:srgbClr val="3333B2"/>
                </a:solidFill>
                <a:latin typeface="Arial"/>
                <a:cs typeface="Arial"/>
              </a:rPr>
              <a:t> </a:t>
            </a:r>
            <a:r>
              <a:rPr sz="1200" spc="-5" dirty="0">
                <a:solidFill>
                  <a:srgbClr val="3333B2"/>
                </a:solidFill>
                <a:latin typeface="Arial"/>
                <a:cs typeface="Arial"/>
              </a:rPr>
              <a:t>kinds of </a:t>
            </a:r>
            <a:r>
              <a:rPr sz="1200" spc="-5" dirty="0">
                <a:solidFill>
                  <a:srgbClr val="0000FA"/>
                </a:solidFill>
                <a:latin typeface="Arial"/>
                <a:cs typeface="Arial"/>
              </a:rPr>
              <a:t>attributes </a:t>
            </a:r>
            <a:r>
              <a:rPr sz="1200" spc="-5" dirty="0">
                <a:solidFill>
                  <a:srgbClr val="3333B2"/>
                </a:solidFill>
                <a:latin typeface="Arial"/>
                <a:cs typeface="Arial"/>
              </a:rPr>
              <a:t>in</a:t>
            </a:r>
            <a:r>
              <a:rPr sz="1200" dirty="0">
                <a:solidFill>
                  <a:srgbClr val="3333B2"/>
                </a:solidFill>
                <a:latin typeface="Arial"/>
                <a:cs typeface="Arial"/>
              </a:rPr>
              <a:t> </a:t>
            </a:r>
            <a:r>
              <a:rPr sz="1200" spc="-5" dirty="0">
                <a:solidFill>
                  <a:srgbClr val="3333B2"/>
                </a:solidFill>
                <a:latin typeface="Arial"/>
                <a:cs typeface="Arial"/>
              </a:rPr>
              <a:t>a node</a:t>
            </a:r>
            <a:endParaRPr sz="1200" dirty="0">
              <a:latin typeface="Arial"/>
              <a:cs typeface="Arial"/>
            </a:endParaRPr>
          </a:p>
          <a:p>
            <a:pPr marL="321945" indent="-168275">
              <a:lnSpc>
                <a:spcPts val="1200"/>
              </a:lnSpc>
              <a:spcBef>
                <a:spcPts val="780"/>
              </a:spcBef>
              <a:buClr>
                <a:srgbClr val="3333B2"/>
              </a:buClr>
              <a:buChar char="►"/>
              <a:tabLst>
                <a:tab pos="322580" algn="l"/>
              </a:tabLst>
            </a:pPr>
            <a:r>
              <a:rPr sz="1000" spc="-35" dirty="0">
                <a:latin typeface="Arial"/>
                <a:cs typeface="Arial"/>
              </a:rPr>
              <a:t>Type</a:t>
            </a:r>
            <a:r>
              <a:rPr sz="1000" spc="-20" dirty="0">
                <a:latin typeface="Arial"/>
                <a:cs typeface="Arial"/>
              </a:rPr>
              <a:t> </a:t>
            </a:r>
            <a:r>
              <a:rPr sz="1000" spc="-5" dirty="0">
                <a:latin typeface="Arial"/>
                <a:cs typeface="Arial"/>
              </a:rPr>
              <a:t>of</a:t>
            </a:r>
            <a:r>
              <a:rPr sz="1000" spc="-15" dirty="0">
                <a:latin typeface="Arial"/>
                <a:cs typeface="Arial"/>
              </a:rPr>
              <a:t> </a:t>
            </a:r>
            <a:r>
              <a:rPr sz="1000" spc="-5" dirty="0">
                <a:latin typeface="Arial"/>
                <a:cs typeface="Arial"/>
              </a:rPr>
              <a:t>the</a:t>
            </a:r>
            <a:r>
              <a:rPr sz="1000" spc="-20" dirty="0">
                <a:latin typeface="Arial"/>
                <a:cs typeface="Arial"/>
              </a:rPr>
              <a:t> </a:t>
            </a:r>
            <a:r>
              <a:rPr sz="1000" spc="-5" dirty="0">
                <a:latin typeface="Arial"/>
                <a:cs typeface="Arial"/>
              </a:rPr>
              <a:t>entity</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An</a:t>
            </a:r>
            <a:r>
              <a:rPr sz="1000" spc="-10" dirty="0">
                <a:latin typeface="Arial"/>
                <a:cs typeface="Arial"/>
              </a:rPr>
              <a:t> </a:t>
            </a:r>
            <a:r>
              <a:rPr sz="1000" spc="-5" dirty="0">
                <a:latin typeface="Arial"/>
                <a:cs typeface="Arial"/>
              </a:rPr>
              <a:t>identifier</a:t>
            </a:r>
            <a:r>
              <a:rPr sz="1000" spc="-10" dirty="0">
                <a:latin typeface="Arial"/>
                <a:cs typeface="Arial"/>
              </a:rPr>
              <a:t> </a:t>
            </a:r>
            <a:r>
              <a:rPr sz="1000" spc="-15" dirty="0">
                <a:latin typeface="Arial"/>
                <a:cs typeface="Arial"/>
              </a:rPr>
              <a:t>for</a:t>
            </a:r>
            <a:r>
              <a:rPr sz="1000" spc="-5" dirty="0">
                <a:latin typeface="Arial"/>
                <a:cs typeface="Arial"/>
              </a:rPr>
              <a:t> that</a:t>
            </a:r>
            <a:r>
              <a:rPr sz="1000" spc="-10" dirty="0">
                <a:latin typeface="Arial"/>
                <a:cs typeface="Arial"/>
              </a:rPr>
              <a:t> </a:t>
            </a:r>
            <a:r>
              <a:rPr sz="1000" spc="-5" dirty="0">
                <a:latin typeface="Arial"/>
                <a:cs typeface="Arial"/>
              </a:rPr>
              <a:t>entity</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Address</a:t>
            </a:r>
            <a:r>
              <a:rPr sz="1000" spc="-10"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the</a:t>
            </a:r>
            <a:r>
              <a:rPr sz="1000" spc="-10" dirty="0">
                <a:latin typeface="Arial"/>
                <a:cs typeface="Arial"/>
              </a:rPr>
              <a:t> entity’s</a:t>
            </a:r>
            <a:r>
              <a:rPr sz="1000" spc="-5" dirty="0">
                <a:latin typeface="Arial"/>
                <a:cs typeface="Arial"/>
              </a:rPr>
              <a:t> location</a:t>
            </a:r>
            <a:endParaRPr sz="1000" dirty="0">
              <a:latin typeface="Arial"/>
              <a:cs typeface="Arial"/>
            </a:endParaRPr>
          </a:p>
          <a:p>
            <a:pPr marL="321945" indent="-168275">
              <a:lnSpc>
                <a:spcPts val="1195"/>
              </a:lnSpc>
              <a:buClr>
                <a:srgbClr val="3333B2"/>
              </a:buClr>
              <a:buChar char="►"/>
              <a:tabLst>
                <a:tab pos="322580" algn="l"/>
              </a:tabLst>
            </a:pPr>
            <a:r>
              <a:rPr sz="1000" spc="-5" dirty="0">
                <a:latin typeface="Arial"/>
                <a:cs typeface="Arial"/>
              </a:rPr>
              <a:t>Nicknames</a:t>
            </a:r>
            <a:endParaRPr sz="1000" dirty="0">
              <a:latin typeface="Arial"/>
              <a:cs typeface="Arial"/>
            </a:endParaRPr>
          </a:p>
          <a:p>
            <a:pPr marL="321945" indent="-168275">
              <a:lnSpc>
                <a:spcPts val="1200"/>
              </a:lnSpc>
              <a:buClr>
                <a:srgbClr val="3333B2"/>
              </a:buClr>
              <a:buChar char="►"/>
              <a:tabLst>
                <a:tab pos="322580" algn="l"/>
              </a:tabLst>
            </a:pPr>
            <a:r>
              <a:rPr sz="1000" spc="-5" dirty="0">
                <a:latin typeface="Arial"/>
                <a:cs typeface="Arial"/>
              </a:rPr>
              <a:t>...</a:t>
            </a:r>
            <a:endParaRPr sz="1000" dirty="0">
              <a:latin typeface="Arial"/>
              <a:cs typeface="Arial"/>
            </a:endParaRPr>
          </a:p>
          <a:p>
            <a:pPr>
              <a:lnSpc>
                <a:spcPct val="100000"/>
              </a:lnSpc>
              <a:spcBef>
                <a:spcPts val="20"/>
              </a:spcBef>
            </a:pPr>
            <a:endParaRPr sz="1100" dirty="0">
              <a:latin typeface="Arial"/>
              <a:cs typeface="Arial"/>
            </a:endParaRPr>
          </a:p>
          <a:p>
            <a:pPr marL="45085">
              <a:lnSpc>
                <a:spcPts val="1410"/>
              </a:lnSpc>
              <a:spcBef>
                <a:spcPts val="5"/>
              </a:spcBef>
            </a:pPr>
            <a:r>
              <a:rPr sz="1200" spc="-5" dirty="0">
                <a:solidFill>
                  <a:srgbClr val="FA0000"/>
                </a:solidFill>
                <a:latin typeface="Arial"/>
                <a:cs typeface="Arial"/>
              </a:rPr>
              <a:t>Note</a:t>
            </a:r>
            <a:endParaRPr sz="1200" dirty="0">
              <a:latin typeface="Arial"/>
              <a:cs typeface="Arial"/>
            </a:endParaRPr>
          </a:p>
          <a:p>
            <a:pPr marL="45085" marR="30480">
              <a:lnSpc>
                <a:spcPts val="1200"/>
              </a:lnSpc>
              <a:spcBef>
                <a:spcPts val="10"/>
              </a:spcBef>
            </a:pPr>
            <a:r>
              <a:rPr sz="1000" dirty="0">
                <a:latin typeface="Arial"/>
                <a:cs typeface="Arial"/>
              </a:rPr>
              <a:t>Directory</a:t>
            </a:r>
            <a:r>
              <a:rPr sz="1000" spc="-5" dirty="0">
                <a:latin typeface="Arial"/>
                <a:cs typeface="Arial"/>
              </a:rPr>
              <a:t> nodes</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also</a:t>
            </a:r>
            <a:r>
              <a:rPr sz="1000" dirty="0">
                <a:latin typeface="Arial"/>
                <a:cs typeface="Arial"/>
              </a:rPr>
              <a:t> </a:t>
            </a:r>
            <a:r>
              <a:rPr sz="1000" spc="-15" dirty="0">
                <a:latin typeface="Arial"/>
                <a:cs typeface="Arial"/>
              </a:rPr>
              <a:t>have</a:t>
            </a:r>
            <a:r>
              <a:rPr sz="1000" spc="-5" dirty="0">
                <a:latin typeface="Arial"/>
                <a:cs typeface="Arial"/>
              </a:rPr>
              <a:t> attributes,</a:t>
            </a:r>
            <a:r>
              <a:rPr sz="1000" dirty="0">
                <a:latin typeface="Arial"/>
                <a:cs typeface="Arial"/>
              </a:rPr>
              <a:t> </a:t>
            </a:r>
            <a:r>
              <a:rPr sz="1000" spc="-5" dirty="0">
                <a:latin typeface="Arial"/>
                <a:cs typeface="Arial"/>
              </a:rPr>
              <a:t>besides</a:t>
            </a:r>
            <a:r>
              <a:rPr sz="1000" dirty="0">
                <a:latin typeface="Arial"/>
                <a:cs typeface="Arial"/>
              </a:rPr>
              <a:t> </a:t>
            </a:r>
            <a:r>
              <a:rPr sz="1000" spc="-5" dirty="0">
                <a:latin typeface="Arial"/>
                <a:cs typeface="Arial"/>
              </a:rPr>
              <a:t>just</a:t>
            </a:r>
            <a:r>
              <a:rPr sz="1000" dirty="0">
                <a:latin typeface="Arial"/>
                <a:cs typeface="Arial"/>
              </a:rPr>
              <a:t> </a:t>
            </a:r>
            <a:r>
              <a:rPr sz="1000" spc="-5" dirty="0">
                <a:latin typeface="Arial"/>
                <a:cs typeface="Arial"/>
              </a:rPr>
              <a:t>storing</a:t>
            </a:r>
            <a:r>
              <a:rPr sz="1000" dirty="0">
                <a:latin typeface="Arial"/>
                <a:cs typeface="Arial"/>
              </a:rPr>
              <a:t> </a:t>
            </a:r>
            <a:r>
              <a:rPr sz="1000" spc="-5" dirty="0">
                <a:latin typeface="Arial"/>
                <a:cs typeface="Arial"/>
              </a:rPr>
              <a:t>a </a:t>
            </a:r>
            <a:r>
              <a:rPr sz="1000" spc="-265" dirty="0">
                <a:latin typeface="Arial"/>
                <a:cs typeface="Arial"/>
              </a:rPr>
              <a:t> </a:t>
            </a:r>
            <a:r>
              <a:rPr sz="1000" dirty="0">
                <a:latin typeface="Arial"/>
                <a:cs typeface="Arial"/>
              </a:rPr>
              <a:t>directory</a:t>
            </a:r>
            <a:r>
              <a:rPr sz="1000" spc="-5" dirty="0">
                <a:latin typeface="Arial"/>
                <a:cs typeface="Arial"/>
              </a:rPr>
              <a:t> </a:t>
            </a:r>
            <a:r>
              <a:rPr sz="1000" spc="-10" dirty="0">
                <a:latin typeface="Arial"/>
                <a:cs typeface="Arial"/>
              </a:rPr>
              <a:t>table</a:t>
            </a:r>
            <a:r>
              <a:rPr sz="1000" spc="-5" dirty="0">
                <a:latin typeface="Arial"/>
                <a:cs typeface="Arial"/>
              </a:rPr>
              <a:t> with </a:t>
            </a:r>
            <a:r>
              <a:rPr sz="1000" i="1" spc="-10" dirty="0">
                <a:latin typeface="Arial"/>
                <a:cs typeface="Arial"/>
              </a:rPr>
              <a:t>(identifier,</a:t>
            </a:r>
            <a:r>
              <a:rPr sz="1000" i="1" spc="-5" dirty="0">
                <a:latin typeface="Arial"/>
                <a:cs typeface="Arial"/>
              </a:rPr>
              <a:t> label) </a:t>
            </a:r>
            <a:r>
              <a:rPr sz="1000" spc="-5" dirty="0">
                <a:latin typeface="Arial"/>
                <a:cs typeface="Arial"/>
              </a:rPr>
              <a:t>pairs.</a:t>
            </a:r>
            <a:endParaRPr sz="1000" dirty="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6965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Closure</a:t>
            </a:r>
            <a:r>
              <a:rPr sz="600" spc="-3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Name</a:t>
            </a:r>
            <a:r>
              <a:rPr sz="600" spc="-3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resolution</a:t>
            </a:r>
            <a:endParaRPr sz="600">
              <a:latin typeface="Arial"/>
              <a:cs typeface="Arial"/>
            </a:endParaRPr>
          </a:p>
        </p:txBody>
      </p:sp>
      <p:sp>
        <p:nvSpPr>
          <p:cNvPr id="4" name="object 4"/>
          <p:cNvSpPr txBox="1"/>
          <p:nvPr/>
        </p:nvSpPr>
        <p:spPr>
          <a:xfrm>
            <a:off x="95300" y="188846"/>
            <a:ext cx="4164329" cy="967740"/>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Name</a:t>
            </a:r>
            <a:r>
              <a:rPr sz="1400" spc="-35" dirty="0">
                <a:solidFill>
                  <a:srgbClr val="3333B2"/>
                </a:solidFill>
                <a:latin typeface="Arial"/>
                <a:cs typeface="Arial"/>
              </a:rPr>
              <a:t> </a:t>
            </a:r>
            <a:r>
              <a:rPr sz="1400" spc="10" dirty="0">
                <a:solidFill>
                  <a:srgbClr val="3333B2"/>
                </a:solidFill>
                <a:latin typeface="Arial"/>
                <a:cs typeface="Arial"/>
              </a:rPr>
              <a:t>resolution</a:t>
            </a:r>
            <a:endParaRPr sz="1400">
              <a:latin typeface="Arial"/>
              <a:cs typeface="Arial"/>
            </a:endParaRPr>
          </a:p>
          <a:p>
            <a:pPr>
              <a:lnSpc>
                <a:spcPct val="100000"/>
              </a:lnSpc>
              <a:spcBef>
                <a:spcPts val="25"/>
              </a:spcBef>
            </a:pPr>
            <a:endParaRPr sz="1650">
              <a:latin typeface="Arial"/>
              <a:cs typeface="Arial"/>
            </a:endParaRPr>
          </a:p>
          <a:p>
            <a:pPr marL="264160">
              <a:lnSpc>
                <a:spcPts val="1410"/>
              </a:lnSpc>
            </a:pPr>
            <a:r>
              <a:rPr sz="1200" spc="-10" dirty="0">
                <a:solidFill>
                  <a:srgbClr val="FA0000"/>
                </a:solidFill>
                <a:latin typeface="Arial"/>
                <a:cs typeface="Arial"/>
              </a:rPr>
              <a:t>Problem</a:t>
            </a:r>
            <a:endParaRPr sz="1200">
              <a:latin typeface="Arial"/>
              <a:cs typeface="Arial"/>
            </a:endParaRPr>
          </a:p>
          <a:p>
            <a:pPr marL="264160" marR="5080" indent="-4445">
              <a:lnSpc>
                <a:spcPts val="1200"/>
              </a:lnSpc>
              <a:spcBef>
                <a:spcPts val="15"/>
              </a:spcBef>
            </a:pPr>
            <a:r>
              <a:rPr sz="1000" spc="-65" dirty="0">
                <a:latin typeface="Arial"/>
                <a:cs typeface="Arial"/>
              </a:rPr>
              <a:t>To</a:t>
            </a:r>
            <a:r>
              <a:rPr sz="1000" spc="-5" dirty="0">
                <a:latin typeface="Arial"/>
                <a:cs typeface="Arial"/>
              </a:rPr>
              <a:t> </a:t>
            </a:r>
            <a:r>
              <a:rPr sz="1000" spc="-10" dirty="0">
                <a:latin typeface="Arial"/>
                <a:cs typeface="Arial"/>
              </a:rPr>
              <a:t>resolve</a:t>
            </a:r>
            <a:r>
              <a:rPr sz="1000" dirty="0">
                <a:latin typeface="Arial"/>
                <a:cs typeface="Arial"/>
              </a:rPr>
              <a:t> </a:t>
            </a:r>
            <a:r>
              <a:rPr sz="1000" spc="-5" dirty="0">
                <a:latin typeface="Arial"/>
                <a:cs typeface="Arial"/>
              </a:rPr>
              <a:t>a name</a:t>
            </a:r>
            <a:r>
              <a:rPr sz="1000" dirty="0">
                <a:latin typeface="Arial"/>
                <a:cs typeface="Arial"/>
              </a:rPr>
              <a:t> </a:t>
            </a:r>
            <a:r>
              <a:rPr sz="1000" spc="-10" dirty="0">
                <a:latin typeface="Arial"/>
                <a:cs typeface="Arial"/>
              </a:rPr>
              <a:t>we</a:t>
            </a:r>
            <a:r>
              <a:rPr sz="1000" spc="-5" dirty="0">
                <a:latin typeface="Arial"/>
                <a:cs typeface="Arial"/>
              </a:rPr>
              <a:t> need</a:t>
            </a:r>
            <a:r>
              <a:rPr sz="1000" dirty="0">
                <a:latin typeface="Arial"/>
                <a:cs typeface="Arial"/>
              </a:rPr>
              <a:t> </a:t>
            </a:r>
            <a:r>
              <a:rPr sz="1000" spc="-5" dirty="0">
                <a:latin typeface="Arial"/>
                <a:cs typeface="Arial"/>
              </a:rPr>
              <a:t>a </a:t>
            </a:r>
            <a:r>
              <a:rPr sz="1000" dirty="0">
                <a:latin typeface="Arial"/>
                <a:cs typeface="Arial"/>
              </a:rPr>
              <a:t>directory </a:t>
            </a:r>
            <a:r>
              <a:rPr sz="1000" spc="-5" dirty="0">
                <a:latin typeface="Arial"/>
                <a:cs typeface="Arial"/>
              </a:rPr>
              <a:t>node.</a:t>
            </a:r>
            <a:r>
              <a:rPr sz="1000" spc="65" dirty="0">
                <a:latin typeface="Arial"/>
                <a:cs typeface="Arial"/>
              </a:rPr>
              <a:t> </a:t>
            </a:r>
            <a:r>
              <a:rPr sz="1000" spc="-10" dirty="0">
                <a:latin typeface="Arial"/>
                <a:cs typeface="Arial"/>
              </a:rPr>
              <a:t>How</a:t>
            </a:r>
            <a:r>
              <a:rPr sz="1000" spc="-5" dirty="0">
                <a:latin typeface="Arial"/>
                <a:cs typeface="Arial"/>
              </a:rPr>
              <a:t> do</a:t>
            </a:r>
            <a:r>
              <a:rPr sz="1000" dirty="0">
                <a:latin typeface="Arial"/>
                <a:cs typeface="Arial"/>
              </a:rPr>
              <a:t> </a:t>
            </a:r>
            <a:r>
              <a:rPr sz="1000" spc="-10" dirty="0">
                <a:latin typeface="Arial"/>
                <a:cs typeface="Arial"/>
              </a:rPr>
              <a:t>we</a:t>
            </a:r>
            <a:r>
              <a:rPr sz="1000" spc="-5" dirty="0">
                <a:latin typeface="Arial"/>
                <a:cs typeface="Arial"/>
              </a:rPr>
              <a:t> actually</a:t>
            </a:r>
            <a:r>
              <a:rPr sz="1000" dirty="0">
                <a:latin typeface="Arial"/>
                <a:cs typeface="Arial"/>
              </a:rPr>
              <a:t> </a:t>
            </a:r>
            <a:r>
              <a:rPr sz="1000" spc="-5" dirty="0">
                <a:latin typeface="Arial"/>
                <a:cs typeface="Arial"/>
              </a:rPr>
              <a:t>find </a:t>
            </a:r>
            <a:r>
              <a:rPr sz="1000" spc="-265" dirty="0">
                <a:latin typeface="Arial"/>
                <a:cs typeface="Arial"/>
              </a:rPr>
              <a:t> </a:t>
            </a:r>
            <a:r>
              <a:rPr sz="1000" spc="-5" dirty="0">
                <a:latin typeface="Arial"/>
                <a:cs typeface="Arial"/>
              </a:rPr>
              <a:t>that</a:t>
            </a:r>
            <a:r>
              <a:rPr sz="1000" spc="-10" dirty="0">
                <a:latin typeface="Arial"/>
                <a:cs typeface="Arial"/>
              </a:rPr>
              <a:t> </a:t>
            </a:r>
            <a:r>
              <a:rPr sz="1000" spc="-5" dirty="0">
                <a:latin typeface="Arial"/>
                <a:cs typeface="Arial"/>
              </a:rPr>
              <a:t>(initial) node?</a:t>
            </a:r>
            <a:endParaRPr sz="10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6965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Closure</a:t>
            </a:r>
            <a:r>
              <a:rPr sz="600" spc="-3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Name</a:t>
            </a:r>
            <a:r>
              <a:rPr sz="600" spc="-3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resolution</a:t>
            </a:r>
            <a:endParaRPr sz="600">
              <a:latin typeface="Arial"/>
              <a:cs typeface="Arial"/>
            </a:endParaRPr>
          </a:p>
        </p:txBody>
      </p:sp>
      <p:sp>
        <p:nvSpPr>
          <p:cNvPr id="4" name="object 4"/>
          <p:cNvSpPr txBox="1"/>
          <p:nvPr/>
        </p:nvSpPr>
        <p:spPr>
          <a:xfrm>
            <a:off x="82600" y="188846"/>
            <a:ext cx="4215130" cy="2243455"/>
          </a:xfrm>
          <a:prstGeom prst="rect">
            <a:avLst/>
          </a:prstGeom>
        </p:spPr>
        <p:txBody>
          <a:bodyPr vert="horz" wrap="square" lIns="0" tIns="17145" rIns="0" bIns="0" rtlCol="0">
            <a:spAutoFit/>
          </a:bodyPr>
          <a:lstStyle/>
          <a:p>
            <a:pPr marL="25400">
              <a:lnSpc>
                <a:spcPct val="100000"/>
              </a:lnSpc>
              <a:spcBef>
                <a:spcPts val="135"/>
              </a:spcBef>
            </a:pPr>
            <a:r>
              <a:rPr sz="1400" spc="20" dirty="0">
                <a:solidFill>
                  <a:srgbClr val="3333B2"/>
                </a:solidFill>
                <a:latin typeface="Arial"/>
                <a:cs typeface="Arial"/>
              </a:rPr>
              <a:t>Name</a:t>
            </a:r>
            <a:r>
              <a:rPr sz="1400" spc="-15" dirty="0">
                <a:solidFill>
                  <a:srgbClr val="3333B2"/>
                </a:solidFill>
                <a:latin typeface="Arial"/>
                <a:cs typeface="Arial"/>
              </a:rPr>
              <a:t> </a:t>
            </a:r>
            <a:r>
              <a:rPr sz="1400" spc="10" dirty="0">
                <a:solidFill>
                  <a:srgbClr val="3333B2"/>
                </a:solidFill>
                <a:latin typeface="Arial"/>
                <a:cs typeface="Arial"/>
              </a:rPr>
              <a:t>resolution</a:t>
            </a:r>
            <a:endParaRPr sz="1400">
              <a:latin typeface="Arial"/>
              <a:cs typeface="Arial"/>
            </a:endParaRPr>
          </a:p>
          <a:p>
            <a:pPr>
              <a:lnSpc>
                <a:spcPct val="100000"/>
              </a:lnSpc>
              <a:spcBef>
                <a:spcPts val="25"/>
              </a:spcBef>
            </a:pPr>
            <a:endParaRPr sz="1650">
              <a:latin typeface="Arial"/>
              <a:cs typeface="Arial"/>
            </a:endParaRPr>
          </a:p>
          <a:p>
            <a:pPr marL="276860">
              <a:lnSpc>
                <a:spcPts val="1410"/>
              </a:lnSpc>
            </a:pPr>
            <a:r>
              <a:rPr sz="1200" spc="-10" dirty="0">
                <a:solidFill>
                  <a:srgbClr val="FA0000"/>
                </a:solidFill>
                <a:latin typeface="Arial"/>
                <a:cs typeface="Arial"/>
              </a:rPr>
              <a:t>Problem</a:t>
            </a:r>
            <a:endParaRPr sz="1200">
              <a:latin typeface="Arial"/>
              <a:cs typeface="Arial"/>
            </a:endParaRPr>
          </a:p>
          <a:p>
            <a:pPr marL="276860" marR="43180" indent="-4445">
              <a:lnSpc>
                <a:spcPts val="1200"/>
              </a:lnSpc>
              <a:spcBef>
                <a:spcPts val="15"/>
              </a:spcBef>
            </a:pPr>
            <a:r>
              <a:rPr sz="1000" spc="-65" dirty="0">
                <a:latin typeface="Arial"/>
                <a:cs typeface="Arial"/>
              </a:rPr>
              <a:t>To</a:t>
            </a:r>
            <a:r>
              <a:rPr sz="1000" spc="-5" dirty="0">
                <a:latin typeface="Arial"/>
                <a:cs typeface="Arial"/>
              </a:rPr>
              <a:t> </a:t>
            </a:r>
            <a:r>
              <a:rPr sz="1000" spc="-10" dirty="0">
                <a:latin typeface="Arial"/>
                <a:cs typeface="Arial"/>
              </a:rPr>
              <a:t>resolve</a:t>
            </a:r>
            <a:r>
              <a:rPr sz="1000" dirty="0">
                <a:latin typeface="Arial"/>
                <a:cs typeface="Arial"/>
              </a:rPr>
              <a:t> </a:t>
            </a:r>
            <a:r>
              <a:rPr sz="1000" spc="-5" dirty="0">
                <a:latin typeface="Arial"/>
                <a:cs typeface="Arial"/>
              </a:rPr>
              <a:t>a name</a:t>
            </a:r>
            <a:r>
              <a:rPr sz="1000" dirty="0">
                <a:latin typeface="Arial"/>
                <a:cs typeface="Arial"/>
              </a:rPr>
              <a:t> </a:t>
            </a:r>
            <a:r>
              <a:rPr sz="1000" spc="-10" dirty="0">
                <a:latin typeface="Arial"/>
                <a:cs typeface="Arial"/>
              </a:rPr>
              <a:t>we</a:t>
            </a:r>
            <a:r>
              <a:rPr sz="1000" spc="-5" dirty="0">
                <a:latin typeface="Arial"/>
                <a:cs typeface="Arial"/>
              </a:rPr>
              <a:t> need</a:t>
            </a:r>
            <a:r>
              <a:rPr sz="1000" dirty="0">
                <a:latin typeface="Arial"/>
                <a:cs typeface="Arial"/>
              </a:rPr>
              <a:t> </a:t>
            </a:r>
            <a:r>
              <a:rPr sz="1000" spc="-5" dirty="0">
                <a:latin typeface="Arial"/>
                <a:cs typeface="Arial"/>
              </a:rPr>
              <a:t>a </a:t>
            </a:r>
            <a:r>
              <a:rPr sz="1000" dirty="0">
                <a:latin typeface="Arial"/>
                <a:cs typeface="Arial"/>
              </a:rPr>
              <a:t>directory </a:t>
            </a:r>
            <a:r>
              <a:rPr sz="1000" spc="-5" dirty="0">
                <a:latin typeface="Arial"/>
                <a:cs typeface="Arial"/>
              </a:rPr>
              <a:t>node.</a:t>
            </a:r>
            <a:r>
              <a:rPr sz="1000" spc="65" dirty="0">
                <a:latin typeface="Arial"/>
                <a:cs typeface="Arial"/>
              </a:rPr>
              <a:t> </a:t>
            </a:r>
            <a:r>
              <a:rPr sz="1000" spc="-10" dirty="0">
                <a:latin typeface="Arial"/>
                <a:cs typeface="Arial"/>
              </a:rPr>
              <a:t>How</a:t>
            </a:r>
            <a:r>
              <a:rPr sz="1000" spc="-5" dirty="0">
                <a:latin typeface="Arial"/>
                <a:cs typeface="Arial"/>
              </a:rPr>
              <a:t> do</a:t>
            </a:r>
            <a:r>
              <a:rPr sz="1000" dirty="0">
                <a:latin typeface="Arial"/>
                <a:cs typeface="Arial"/>
              </a:rPr>
              <a:t> </a:t>
            </a:r>
            <a:r>
              <a:rPr sz="1000" spc="-10" dirty="0">
                <a:latin typeface="Arial"/>
                <a:cs typeface="Arial"/>
              </a:rPr>
              <a:t>we</a:t>
            </a:r>
            <a:r>
              <a:rPr sz="1000" spc="-5" dirty="0">
                <a:latin typeface="Arial"/>
                <a:cs typeface="Arial"/>
              </a:rPr>
              <a:t> actually</a:t>
            </a:r>
            <a:r>
              <a:rPr sz="1000" dirty="0">
                <a:latin typeface="Arial"/>
                <a:cs typeface="Arial"/>
              </a:rPr>
              <a:t> </a:t>
            </a:r>
            <a:r>
              <a:rPr sz="1000" spc="-5" dirty="0">
                <a:latin typeface="Arial"/>
                <a:cs typeface="Arial"/>
              </a:rPr>
              <a:t>find </a:t>
            </a:r>
            <a:r>
              <a:rPr sz="1000" spc="-265" dirty="0">
                <a:latin typeface="Arial"/>
                <a:cs typeface="Arial"/>
              </a:rPr>
              <a:t> </a:t>
            </a:r>
            <a:r>
              <a:rPr sz="1000" spc="-5" dirty="0">
                <a:latin typeface="Arial"/>
                <a:cs typeface="Arial"/>
              </a:rPr>
              <a:t>that</a:t>
            </a:r>
            <a:r>
              <a:rPr sz="1000" spc="-10" dirty="0">
                <a:latin typeface="Arial"/>
                <a:cs typeface="Arial"/>
              </a:rPr>
              <a:t> </a:t>
            </a:r>
            <a:r>
              <a:rPr sz="1000" spc="-5" dirty="0">
                <a:latin typeface="Arial"/>
                <a:cs typeface="Arial"/>
              </a:rPr>
              <a:t>(initial) node?</a:t>
            </a:r>
            <a:endParaRPr sz="1000">
              <a:latin typeface="Arial"/>
              <a:cs typeface="Arial"/>
            </a:endParaRPr>
          </a:p>
          <a:p>
            <a:pPr marL="276860" marR="46355">
              <a:lnSpc>
                <a:spcPts val="1390"/>
              </a:lnSpc>
              <a:spcBef>
                <a:spcPts val="725"/>
              </a:spcBef>
            </a:pPr>
            <a:r>
              <a:rPr sz="1200" spc="-5" dirty="0">
                <a:solidFill>
                  <a:srgbClr val="3333B2"/>
                </a:solidFill>
                <a:latin typeface="Arial"/>
                <a:cs typeface="Arial"/>
              </a:rPr>
              <a:t>Closure mechanism:</a:t>
            </a:r>
            <a:r>
              <a:rPr sz="1200" spc="80" dirty="0">
                <a:solidFill>
                  <a:srgbClr val="3333B2"/>
                </a:solidFill>
                <a:latin typeface="Arial"/>
                <a:cs typeface="Arial"/>
              </a:rPr>
              <a:t> </a:t>
            </a: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mechanism</a:t>
            </a:r>
            <a:r>
              <a:rPr sz="1200" dirty="0">
                <a:solidFill>
                  <a:srgbClr val="3333B2"/>
                </a:solidFill>
                <a:latin typeface="Arial"/>
                <a:cs typeface="Arial"/>
              </a:rPr>
              <a:t> </a:t>
            </a:r>
            <a:r>
              <a:rPr sz="1200" spc="-5" dirty="0">
                <a:solidFill>
                  <a:srgbClr val="3333B2"/>
                </a:solidFill>
                <a:latin typeface="Arial"/>
                <a:cs typeface="Arial"/>
              </a:rPr>
              <a:t>to</a:t>
            </a:r>
            <a:r>
              <a:rPr sz="1200" dirty="0">
                <a:solidFill>
                  <a:srgbClr val="3333B2"/>
                </a:solidFill>
                <a:latin typeface="Arial"/>
                <a:cs typeface="Arial"/>
              </a:rPr>
              <a:t> </a:t>
            </a:r>
            <a:r>
              <a:rPr sz="1200" spc="-5" dirty="0">
                <a:solidFill>
                  <a:srgbClr val="3333B2"/>
                </a:solidFill>
                <a:latin typeface="Arial"/>
                <a:cs typeface="Arial"/>
              </a:rPr>
              <a:t>select</a:t>
            </a:r>
            <a:r>
              <a:rPr sz="1200" dirty="0">
                <a:solidFill>
                  <a:srgbClr val="3333B2"/>
                </a:solidFill>
                <a:latin typeface="Arial"/>
                <a:cs typeface="Arial"/>
              </a:rPr>
              <a:t> </a:t>
            </a:r>
            <a:r>
              <a:rPr sz="1200" spc="-5" dirty="0">
                <a:solidFill>
                  <a:srgbClr val="3333B2"/>
                </a:solidFill>
                <a:latin typeface="Arial"/>
                <a:cs typeface="Arial"/>
              </a:rPr>
              <a:t>the implicit </a:t>
            </a:r>
            <a:r>
              <a:rPr sz="1200" spc="-315" dirty="0">
                <a:solidFill>
                  <a:srgbClr val="3333B2"/>
                </a:solidFill>
                <a:latin typeface="Arial"/>
                <a:cs typeface="Arial"/>
              </a:rPr>
              <a:t> </a:t>
            </a:r>
            <a:r>
              <a:rPr sz="1200" spc="-10" dirty="0">
                <a:solidFill>
                  <a:srgbClr val="3333B2"/>
                </a:solidFill>
                <a:latin typeface="Arial"/>
                <a:cs typeface="Arial"/>
              </a:rPr>
              <a:t>context </a:t>
            </a:r>
            <a:r>
              <a:rPr sz="1200" spc="-5" dirty="0">
                <a:solidFill>
                  <a:srgbClr val="3333B2"/>
                </a:solidFill>
                <a:latin typeface="Arial"/>
                <a:cs typeface="Arial"/>
              </a:rPr>
              <a:t>from which to </a:t>
            </a:r>
            <a:r>
              <a:rPr sz="1200" spc="5" dirty="0">
                <a:solidFill>
                  <a:srgbClr val="3333B2"/>
                </a:solidFill>
                <a:latin typeface="Arial"/>
                <a:cs typeface="Arial"/>
              </a:rPr>
              <a:t>start</a:t>
            </a:r>
            <a:r>
              <a:rPr sz="1200" spc="-5" dirty="0">
                <a:solidFill>
                  <a:srgbClr val="3333B2"/>
                </a:solidFill>
                <a:latin typeface="Arial"/>
                <a:cs typeface="Arial"/>
              </a:rPr>
              <a:t> name resolution</a:t>
            </a:r>
            <a:endParaRPr sz="1200">
              <a:latin typeface="Arial"/>
              <a:cs typeface="Arial"/>
            </a:endParaRPr>
          </a:p>
          <a:p>
            <a:pPr marL="548005" indent="-161925">
              <a:lnSpc>
                <a:spcPts val="1200"/>
              </a:lnSpc>
              <a:spcBef>
                <a:spcPts val="509"/>
              </a:spcBef>
              <a:buClr>
                <a:srgbClr val="3333B2"/>
              </a:buClr>
              <a:buFont typeface="Arial"/>
              <a:buChar char="►"/>
              <a:tabLst>
                <a:tab pos="548640" algn="l"/>
              </a:tabLst>
            </a:pPr>
            <a:r>
              <a:rPr sz="1000" spc="65" dirty="0">
                <a:latin typeface="Times New Roman"/>
                <a:cs typeface="Times New Roman"/>
                <a:hlinkClick r:id="rId5"/>
              </a:rPr>
              <a:t>www.distributed-systems.net</a:t>
            </a:r>
            <a:r>
              <a:rPr sz="1000" spc="65" dirty="0">
                <a:latin typeface="Arial"/>
                <a:cs typeface="Arial"/>
                <a:hlinkClick r:id="rId5"/>
              </a:rPr>
              <a:t>:</a:t>
            </a:r>
            <a:r>
              <a:rPr sz="1000" spc="50" dirty="0">
                <a:latin typeface="Arial"/>
                <a:cs typeface="Arial"/>
                <a:hlinkClick r:id="rId5"/>
              </a:rPr>
              <a:t> </a:t>
            </a:r>
            <a:r>
              <a:rPr sz="1000" spc="5" dirty="0">
                <a:latin typeface="Arial"/>
                <a:cs typeface="Arial"/>
              </a:rPr>
              <a:t>start</a:t>
            </a:r>
            <a:r>
              <a:rPr sz="1000" spc="-10" dirty="0">
                <a:latin typeface="Arial"/>
                <a:cs typeface="Arial"/>
              </a:rPr>
              <a:t> </a:t>
            </a:r>
            <a:r>
              <a:rPr sz="1000" spc="-5" dirty="0">
                <a:latin typeface="Arial"/>
                <a:cs typeface="Arial"/>
              </a:rPr>
              <a:t>at</a:t>
            </a:r>
            <a:r>
              <a:rPr sz="1000" spc="-15"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DNS</a:t>
            </a:r>
            <a:r>
              <a:rPr sz="1000" spc="-10" dirty="0">
                <a:latin typeface="Arial"/>
                <a:cs typeface="Arial"/>
              </a:rPr>
              <a:t> </a:t>
            </a:r>
            <a:r>
              <a:rPr sz="1000" spc="-5" dirty="0">
                <a:latin typeface="Arial"/>
                <a:cs typeface="Arial"/>
              </a:rPr>
              <a:t>name</a:t>
            </a:r>
            <a:r>
              <a:rPr sz="1000" spc="-15" dirty="0">
                <a:latin typeface="Arial"/>
                <a:cs typeface="Arial"/>
              </a:rPr>
              <a:t> </a:t>
            </a:r>
            <a:r>
              <a:rPr sz="1000" spc="-5" dirty="0">
                <a:latin typeface="Arial"/>
                <a:cs typeface="Arial"/>
              </a:rPr>
              <a:t>server</a:t>
            </a:r>
            <a:endParaRPr sz="1000">
              <a:latin typeface="Arial"/>
              <a:cs typeface="Arial"/>
            </a:endParaRPr>
          </a:p>
          <a:p>
            <a:pPr marL="554355" marR="125095" indent="-168275">
              <a:lnSpc>
                <a:spcPts val="1200"/>
              </a:lnSpc>
              <a:spcBef>
                <a:spcPts val="40"/>
              </a:spcBef>
              <a:buClr>
                <a:srgbClr val="3333B2"/>
              </a:buClr>
              <a:buFont typeface="Arial"/>
              <a:buChar char="►"/>
              <a:tabLst>
                <a:tab pos="548640" algn="l"/>
              </a:tabLst>
            </a:pPr>
            <a:r>
              <a:rPr sz="1000" spc="20" dirty="0">
                <a:latin typeface="Times New Roman"/>
                <a:cs typeface="Times New Roman"/>
              </a:rPr>
              <a:t>/home/maarten/mbox</a:t>
            </a:r>
            <a:r>
              <a:rPr sz="1000" spc="20" dirty="0">
                <a:latin typeface="Arial"/>
                <a:cs typeface="Arial"/>
              </a:rPr>
              <a:t>:</a:t>
            </a:r>
            <a:r>
              <a:rPr sz="1000" spc="65" dirty="0">
                <a:latin typeface="Arial"/>
                <a:cs typeface="Arial"/>
              </a:rPr>
              <a:t> </a:t>
            </a:r>
            <a:r>
              <a:rPr sz="1000" spc="5" dirty="0">
                <a:latin typeface="Arial"/>
                <a:cs typeface="Arial"/>
              </a:rPr>
              <a:t>start </a:t>
            </a:r>
            <a:r>
              <a:rPr sz="1000" spc="-5" dirty="0">
                <a:latin typeface="Arial"/>
                <a:cs typeface="Arial"/>
              </a:rPr>
              <a:t>at</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NFS</a:t>
            </a:r>
            <a:r>
              <a:rPr sz="1000" spc="5"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(possible </a:t>
            </a:r>
            <a:r>
              <a:rPr sz="1000" spc="-265" dirty="0">
                <a:latin typeface="Arial"/>
                <a:cs typeface="Arial"/>
              </a:rPr>
              <a:t> </a:t>
            </a:r>
            <a:r>
              <a:rPr sz="1000" spc="-5" dirty="0">
                <a:latin typeface="Arial"/>
                <a:cs typeface="Arial"/>
              </a:rPr>
              <a:t>recursive</a:t>
            </a:r>
            <a:r>
              <a:rPr sz="1000" spc="-10" dirty="0">
                <a:latin typeface="Arial"/>
                <a:cs typeface="Arial"/>
              </a:rPr>
              <a:t> </a:t>
            </a:r>
            <a:r>
              <a:rPr sz="1000" spc="-5" dirty="0">
                <a:latin typeface="Arial"/>
                <a:cs typeface="Arial"/>
              </a:rPr>
              <a:t>search)</a:t>
            </a:r>
            <a:endParaRPr sz="1000">
              <a:latin typeface="Arial"/>
              <a:cs typeface="Arial"/>
            </a:endParaRPr>
          </a:p>
          <a:p>
            <a:pPr marL="548005" indent="-161925">
              <a:lnSpc>
                <a:spcPts val="1150"/>
              </a:lnSpc>
              <a:buClr>
                <a:srgbClr val="3333B2"/>
              </a:buClr>
              <a:buFont typeface="Arial"/>
              <a:buChar char="►"/>
              <a:tabLst>
                <a:tab pos="548640" algn="l"/>
              </a:tabLst>
            </a:pPr>
            <a:r>
              <a:rPr sz="1000" spc="20" dirty="0">
                <a:latin typeface="Times New Roman"/>
                <a:cs typeface="Times New Roman"/>
              </a:rPr>
              <a:t>0031</a:t>
            </a:r>
            <a:r>
              <a:rPr sz="1000" spc="180" dirty="0">
                <a:latin typeface="Times New Roman"/>
                <a:cs typeface="Times New Roman"/>
              </a:rPr>
              <a:t> </a:t>
            </a:r>
            <a:r>
              <a:rPr sz="1000" spc="45" dirty="0">
                <a:latin typeface="Times New Roman"/>
                <a:cs typeface="Times New Roman"/>
              </a:rPr>
              <a:t>20</a:t>
            </a:r>
            <a:r>
              <a:rPr sz="1000" spc="180" dirty="0">
                <a:latin typeface="Times New Roman"/>
                <a:cs typeface="Times New Roman"/>
              </a:rPr>
              <a:t> </a:t>
            </a:r>
            <a:r>
              <a:rPr sz="1000" spc="30" dirty="0">
                <a:latin typeface="Times New Roman"/>
                <a:cs typeface="Times New Roman"/>
              </a:rPr>
              <a:t>598</a:t>
            </a:r>
            <a:r>
              <a:rPr sz="1000" spc="180" dirty="0">
                <a:latin typeface="Times New Roman"/>
                <a:cs typeface="Times New Roman"/>
              </a:rPr>
              <a:t> </a:t>
            </a:r>
            <a:r>
              <a:rPr sz="1000" spc="5" dirty="0">
                <a:latin typeface="Times New Roman"/>
                <a:cs typeface="Times New Roman"/>
              </a:rPr>
              <a:t>7784</a:t>
            </a:r>
            <a:r>
              <a:rPr sz="1000" spc="5" dirty="0">
                <a:latin typeface="Arial"/>
                <a:cs typeface="Arial"/>
              </a:rPr>
              <a:t>:</a:t>
            </a:r>
            <a:r>
              <a:rPr sz="1000" spc="55" dirty="0">
                <a:latin typeface="Arial"/>
                <a:cs typeface="Arial"/>
              </a:rPr>
              <a:t> </a:t>
            </a:r>
            <a:r>
              <a:rPr sz="1000" spc="-5" dirty="0">
                <a:latin typeface="Arial"/>
                <a:cs typeface="Arial"/>
              </a:rPr>
              <a:t>dial a</a:t>
            </a:r>
            <a:r>
              <a:rPr sz="1000" spc="-10" dirty="0">
                <a:latin typeface="Arial"/>
                <a:cs typeface="Arial"/>
              </a:rPr>
              <a:t> </a:t>
            </a:r>
            <a:r>
              <a:rPr sz="1000" spc="-5" dirty="0">
                <a:latin typeface="Arial"/>
                <a:cs typeface="Arial"/>
              </a:rPr>
              <a:t>phone number</a:t>
            </a:r>
            <a:endParaRPr sz="1000">
              <a:latin typeface="Arial"/>
              <a:cs typeface="Arial"/>
            </a:endParaRPr>
          </a:p>
          <a:p>
            <a:pPr marL="548005" indent="-161925">
              <a:lnSpc>
                <a:spcPts val="1200"/>
              </a:lnSpc>
              <a:buClr>
                <a:srgbClr val="3333B2"/>
              </a:buClr>
              <a:buFont typeface="Arial"/>
              <a:buChar char="►"/>
              <a:tabLst>
                <a:tab pos="548640" algn="l"/>
              </a:tabLst>
            </a:pPr>
            <a:r>
              <a:rPr sz="1000" spc="60" dirty="0">
                <a:latin typeface="Times New Roman"/>
                <a:cs typeface="Times New Roman"/>
              </a:rPr>
              <a:t>77.167.55.6</a:t>
            </a:r>
            <a:r>
              <a:rPr sz="1000" spc="60" dirty="0">
                <a:latin typeface="Arial"/>
                <a:cs typeface="Arial"/>
              </a:rPr>
              <a:t>:</a:t>
            </a:r>
            <a:r>
              <a:rPr sz="1000" spc="65" dirty="0">
                <a:latin typeface="Arial"/>
                <a:cs typeface="Arial"/>
              </a:rPr>
              <a:t> </a:t>
            </a:r>
            <a:r>
              <a:rPr sz="1000" spc="-5" dirty="0">
                <a:latin typeface="Arial"/>
                <a:cs typeface="Arial"/>
              </a:rPr>
              <a:t>route</a:t>
            </a:r>
            <a:r>
              <a:rPr sz="1000" dirty="0">
                <a:latin typeface="Arial"/>
                <a:cs typeface="Arial"/>
              </a:rPr>
              <a:t> </a:t>
            </a:r>
            <a:r>
              <a:rPr sz="1000" spc="-5" dirty="0">
                <a:latin typeface="Arial"/>
                <a:cs typeface="Arial"/>
              </a:rPr>
              <a:t>message</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specific</a:t>
            </a:r>
            <a:r>
              <a:rPr sz="1000" spc="5" dirty="0">
                <a:latin typeface="Arial"/>
                <a:cs typeface="Arial"/>
              </a:rPr>
              <a:t> </a:t>
            </a:r>
            <a:r>
              <a:rPr sz="1000" spc="-5" dirty="0">
                <a:latin typeface="Arial"/>
                <a:cs typeface="Arial"/>
              </a:rPr>
              <a:t>IP</a:t>
            </a:r>
            <a:r>
              <a:rPr sz="1000" dirty="0">
                <a:latin typeface="Arial"/>
                <a:cs typeface="Arial"/>
              </a:rPr>
              <a:t> </a:t>
            </a:r>
            <a:r>
              <a:rPr sz="1000" spc="-5" dirty="0">
                <a:latin typeface="Arial"/>
                <a:cs typeface="Arial"/>
              </a:rPr>
              <a:t>address</a:t>
            </a:r>
            <a:endParaRPr sz="10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965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Closure</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mechanism</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Structured 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Name</a:t>
            </a:r>
            <a:r>
              <a:rPr sz="600" spc="-3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resolution</a:t>
            </a:r>
            <a:endParaRPr sz="600">
              <a:latin typeface="Arial"/>
              <a:cs typeface="Arial"/>
            </a:endParaRPr>
          </a:p>
        </p:txBody>
      </p:sp>
      <p:sp>
        <p:nvSpPr>
          <p:cNvPr id="4" name="object 4"/>
          <p:cNvSpPr txBox="1"/>
          <p:nvPr/>
        </p:nvSpPr>
        <p:spPr>
          <a:xfrm>
            <a:off x="69900" y="188846"/>
            <a:ext cx="4240530" cy="2765425"/>
          </a:xfrm>
          <a:prstGeom prst="rect">
            <a:avLst/>
          </a:prstGeom>
        </p:spPr>
        <p:txBody>
          <a:bodyPr vert="horz" wrap="square" lIns="0" tIns="17145" rIns="0" bIns="0" rtlCol="0">
            <a:spAutoFit/>
          </a:bodyPr>
          <a:lstStyle/>
          <a:p>
            <a:pPr marL="38100">
              <a:lnSpc>
                <a:spcPct val="100000"/>
              </a:lnSpc>
              <a:spcBef>
                <a:spcPts val="135"/>
              </a:spcBef>
            </a:pPr>
            <a:r>
              <a:rPr sz="1400" spc="20" dirty="0">
                <a:solidFill>
                  <a:srgbClr val="3333B2"/>
                </a:solidFill>
                <a:latin typeface="Arial"/>
                <a:cs typeface="Arial"/>
              </a:rPr>
              <a:t>Name</a:t>
            </a:r>
            <a:r>
              <a:rPr sz="1400" spc="-15" dirty="0">
                <a:solidFill>
                  <a:srgbClr val="3333B2"/>
                </a:solidFill>
                <a:latin typeface="Arial"/>
                <a:cs typeface="Arial"/>
              </a:rPr>
              <a:t> </a:t>
            </a:r>
            <a:r>
              <a:rPr sz="1400" spc="10" dirty="0">
                <a:solidFill>
                  <a:srgbClr val="3333B2"/>
                </a:solidFill>
                <a:latin typeface="Arial"/>
                <a:cs typeface="Arial"/>
              </a:rPr>
              <a:t>resolution</a:t>
            </a:r>
            <a:endParaRPr sz="1400" dirty="0">
              <a:latin typeface="Arial"/>
              <a:cs typeface="Arial"/>
            </a:endParaRPr>
          </a:p>
          <a:p>
            <a:pPr>
              <a:lnSpc>
                <a:spcPct val="100000"/>
              </a:lnSpc>
              <a:spcBef>
                <a:spcPts val="25"/>
              </a:spcBef>
            </a:pPr>
            <a:endParaRPr sz="1650" dirty="0">
              <a:latin typeface="Arial"/>
              <a:cs typeface="Arial"/>
            </a:endParaRPr>
          </a:p>
          <a:p>
            <a:pPr marL="289560">
              <a:lnSpc>
                <a:spcPts val="1410"/>
              </a:lnSpc>
            </a:pPr>
            <a:r>
              <a:rPr sz="1200" spc="-10" dirty="0">
                <a:solidFill>
                  <a:srgbClr val="FA0000"/>
                </a:solidFill>
                <a:latin typeface="Arial"/>
                <a:cs typeface="Arial"/>
              </a:rPr>
              <a:t>Problem</a:t>
            </a:r>
            <a:endParaRPr sz="1200" dirty="0">
              <a:latin typeface="Arial"/>
              <a:cs typeface="Arial"/>
            </a:endParaRPr>
          </a:p>
          <a:p>
            <a:pPr marL="289560" marR="55880" indent="-4445">
              <a:lnSpc>
                <a:spcPts val="1200"/>
              </a:lnSpc>
              <a:spcBef>
                <a:spcPts val="15"/>
              </a:spcBef>
            </a:pPr>
            <a:r>
              <a:rPr sz="1000" spc="-65" dirty="0">
                <a:latin typeface="Arial"/>
                <a:cs typeface="Arial"/>
              </a:rPr>
              <a:t>To</a:t>
            </a:r>
            <a:r>
              <a:rPr sz="1000" spc="-5" dirty="0">
                <a:latin typeface="Arial"/>
                <a:cs typeface="Arial"/>
              </a:rPr>
              <a:t> </a:t>
            </a:r>
            <a:r>
              <a:rPr sz="1000" spc="-10" dirty="0">
                <a:latin typeface="Arial"/>
                <a:cs typeface="Arial"/>
              </a:rPr>
              <a:t>resolve</a:t>
            </a:r>
            <a:r>
              <a:rPr sz="1000" dirty="0">
                <a:latin typeface="Arial"/>
                <a:cs typeface="Arial"/>
              </a:rPr>
              <a:t> </a:t>
            </a:r>
            <a:r>
              <a:rPr sz="1000" spc="-5" dirty="0">
                <a:latin typeface="Arial"/>
                <a:cs typeface="Arial"/>
              </a:rPr>
              <a:t>a name</a:t>
            </a:r>
            <a:r>
              <a:rPr sz="1000" dirty="0">
                <a:latin typeface="Arial"/>
                <a:cs typeface="Arial"/>
              </a:rPr>
              <a:t> </a:t>
            </a:r>
            <a:r>
              <a:rPr sz="1000" spc="-10" dirty="0">
                <a:latin typeface="Arial"/>
                <a:cs typeface="Arial"/>
              </a:rPr>
              <a:t>we</a:t>
            </a:r>
            <a:r>
              <a:rPr sz="1000" spc="-5" dirty="0">
                <a:latin typeface="Arial"/>
                <a:cs typeface="Arial"/>
              </a:rPr>
              <a:t> need</a:t>
            </a:r>
            <a:r>
              <a:rPr sz="1000" dirty="0">
                <a:latin typeface="Arial"/>
                <a:cs typeface="Arial"/>
              </a:rPr>
              <a:t> </a:t>
            </a:r>
            <a:r>
              <a:rPr sz="1000" spc="-5" dirty="0">
                <a:latin typeface="Arial"/>
                <a:cs typeface="Arial"/>
              </a:rPr>
              <a:t>a </a:t>
            </a:r>
            <a:r>
              <a:rPr sz="1000" dirty="0">
                <a:latin typeface="Arial"/>
                <a:cs typeface="Arial"/>
              </a:rPr>
              <a:t>directory </a:t>
            </a:r>
            <a:r>
              <a:rPr sz="1000" spc="-5" dirty="0">
                <a:latin typeface="Arial"/>
                <a:cs typeface="Arial"/>
              </a:rPr>
              <a:t>node.</a:t>
            </a:r>
            <a:r>
              <a:rPr sz="1000" spc="65" dirty="0">
                <a:latin typeface="Arial"/>
                <a:cs typeface="Arial"/>
              </a:rPr>
              <a:t> </a:t>
            </a:r>
            <a:r>
              <a:rPr sz="1000" spc="-10" dirty="0">
                <a:latin typeface="Arial"/>
                <a:cs typeface="Arial"/>
              </a:rPr>
              <a:t>How</a:t>
            </a:r>
            <a:r>
              <a:rPr sz="1000" spc="-5" dirty="0">
                <a:latin typeface="Arial"/>
                <a:cs typeface="Arial"/>
              </a:rPr>
              <a:t> do</a:t>
            </a:r>
            <a:r>
              <a:rPr sz="1000" dirty="0">
                <a:latin typeface="Arial"/>
                <a:cs typeface="Arial"/>
              </a:rPr>
              <a:t> </a:t>
            </a:r>
            <a:r>
              <a:rPr sz="1000" spc="-10" dirty="0">
                <a:latin typeface="Arial"/>
                <a:cs typeface="Arial"/>
              </a:rPr>
              <a:t>we</a:t>
            </a:r>
            <a:r>
              <a:rPr sz="1000" spc="-5" dirty="0">
                <a:latin typeface="Arial"/>
                <a:cs typeface="Arial"/>
              </a:rPr>
              <a:t> actually</a:t>
            </a:r>
            <a:r>
              <a:rPr sz="1000" dirty="0">
                <a:latin typeface="Arial"/>
                <a:cs typeface="Arial"/>
              </a:rPr>
              <a:t> </a:t>
            </a:r>
            <a:r>
              <a:rPr sz="1000" spc="-5" dirty="0">
                <a:latin typeface="Arial"/>
                <a:cs typeface="Arial"/>
              </a:rPr>
              <a:t>find </a:t>
            </a:r>
            <a:r>
              <a:rPr sz="1000" spc="-265" dirty="0">
                <a:latin typeface="Arial"/>
                <a:cs typeface="Arial"/>
              </a:rPr>
              <a:t> </a:t>
            </a:r>
            <a:r>
              <a:rPr sz="1000" spc="-5" dirty="0">
                <a:latin typeface="Arial"/>
                <a:cs typeface="Arial"/>
              </a:rPr>
              <a:t>that</a:t>
            </a:r>
            <a:r>
              <a:rPr sz="1000" spc="-10" dirty="0">
                <a:latin typeface="Arial"/>
                <a:cs typeface="Arial"/>
              </a:rPr>
              <a:t> </a:t>
            </a:r>
            <a:r>
              <a:rPr sz="1000" spc="-5" dirty="0">
                <a:latin typeface="Arial"/>
                <a:cs typeface="Arial"/>
              </a:rPr>
              <a:t>(initial) node?</a:t>
            </a:r>
            <a:endParaRPr sz="1000" dirty="0">
              <a:latin typeface="Arial"/>
              <a:cs typeface="Arial"/>
            </a:endParaRPr>
          </a:p>
          <a:p>
            <a:pPr marL="289560" marR="59055">
              <a:lnSpc>
                <a:spcPts val="1390"/>
              </a:lnSpc>
              <a:spcBef>
                <a:spcPts val="725"/>
              </a:spcBef>
            </a:pPr>
            <a:r>
              <a:rPr sz="1200" spc="-5" dirty="0">
                <a:solidFill>
                  <a:srgbClr val="3333B2"/>
                </a:solidFill>
                <a:latin typeface="Arial"/>
                <a:cs typeface="Arial"/>
              </a:rPr>
              <a:t>Closure mechanism:</a:t>
            </a:r>
            <a:r>
              <a:rPr sz="1200" spc="80" dirty="0">
                <a:solidFill>
                  <a:srgbClr val="3333B2"/>
                </a:solidFill>
                <a:latin typeface="Arial"/>
                <a:cs typeface="Arial"/>
              </a:rPr>
              <a:t> </a:t>
            </a:r>
            <a:r>
              <a:rPr sz="1200" spc="-5" dirty="0">
                <a:solidFill>
                  <a:srgbClr val="3333B2"/>
                </a:solidFill>
                <a:latin typeface="Arial"/>
                <a:cs typeface="Arial"/>
              </a:rPr>
              <a:t>The</a:t>
            </a:r>
            <a:r>
              <a:rPr sz="1200" dirty="0">
                <a:solidFill>
                  <a:srgbClr val="3333B2"/>
                </a:solidFill>
                <a:latin typeface="Arial"/>
                <a:cs typeface="Arial"/>
              </a:rPr>
              <a:t> </a:t>
            </a:r>
            <a:r>
              <a:rPr sz="1200" spc="-5" dirty="0">
                <a:solidFill>
                  <a:srgbClr val="3333B2"/>
                </a:solidFill>
                <a:latin typeface="Arial"/>
                <a:cs typeface="Arial"/>
              </a:rPr>
              <a:t>mechanism</a:t>
            </a:r>
            <a:r>
              <a:rPr sz="1200" dirty="0">
                <a:solidFill>
                  <a:srgbClr val="3333B2"/>
                </a:solidFill>
                <a:latin typeface="Arial"/>
                <a:cs typeface="Arial"/>
              </a:rPr>
              <a:t> </a:t>
            </a:r>
            <a:r>
              <a:rPr sz="1200" spc="-5" dirty="0">
                <a:solidFill>
                  <a:srgbClr val="3333B2"/>
                </a:solidFill>
                <a:latin typeface="Arial"/>
                <a:cs typeface="Arial"/>
              </a:rPr>
              <a:t>to</a:t>
            </a:r>
            <a:r>
              <a:rPr sz="1200" dirty="0">
                <a:solidFill>
                  <a:srgbClr val="3333B2"/>
                </a:solidFill>
                <a:latin typeface="Arial"/>
                <a:cs typeface="Arial"/>
              </a:rPr>
              <a:t> </a:t>
            </a:r>
            <a:r>
              <a:rPr sz="1200" spc="-5" dirty="0">
                <a:solidFill>
                  <a:srgbClr val="3333B2"/>
                </a:solidFill>
                <a:latin typeface="Arial"/>
                <a:cs typeface="Arial"/>
              </a:rPr>
              <a:t>select</a:t>
            </a:r>
            <a:r>
              <a:rPr sz="1200" dirty="0">
                <a:solidFill>
                  <a:srgbClr val="3333B2"/>
                </a:solidFill>
                <a:latin typeface="Arial"/>
                <a:cs typeface="Arial"/>
              </a:rPr>
              <a:t> </a:t>
            </a:r>
            <a:r>
              <a:rPr sz="1200" spc="-5" dirty="0">
                <a:solidFill>
                  <a:srgbClr val="3333B2"/>
                </a:solidFill>
                <a:latin typeface="Arial"/>
                <a:cs typeface="Arial"/>
              </a:rPr>
              <a:t>the implicit </a:t>
            </a:r>
            <a:r>
              <a:rPr sz="1200" spc="-315" dirty="0">
                <a:solidFill>
                  <a:srgbClr val="3333B2"/>
                </a:solidFill>
                <a:latin typeface="Arial"/>
                <a:cs typeface="Arial"/>
              </a:rPr>
              <a:t> </a:t>
            </a:r>
            <a:r>
              <a:rPr sz="1200" spc="-10" dirty="0">
                <a:solidFill>
                  <a:srgbClr val="3333B2"/>
                </a:solidFill>
                <a:latin typeface="Arial"/>
                <a:cs typeface="Arial"/>
              </a:rPr>
              <a:t>context </a:t>
            </a:r>
            <a:r>
              <a:rPr sz="1200" spc="-5" dirty="0">
                <a:solidFill>
                  <a:srgbClr val="3333B2"/>
                </a:solidFill>
                <a:latin typeface="Arial"/>
                <a:cs typeface="Arial"/>
              </a:rPr>
              <a:t>from which to </a:t>
            </a:r>
            <a:r>
              <a:rPr sz="1200" spc="5" dirty="0">
                <a:solidFill>
                  <a:srgbClr val="3333B2"/>
                </a:solidFill>
                <a:latin typeface="Arial"/>
                <a:cs typeface="Arial"/>
              </a:rPr>
              <a:t>start</a:t>
            </a:r>
            <a:r>
              <a:rPr sz="1200" spc="-5" dirty="0">
                <a:solidFill>
                  <a:srgbClr val="3333B2"/>
                </a:solidFill>
                <a:latin typeface="Arial"/>
                <a:cs typeface="Arial"/>
              </a:rPr>
              <a:t> name resolution</a:t>
            </a:r>
            <a:endParaRPr sz="1200" dirty="0">
              <a:latin typeface="Arial"/>
              <a:cs typeface="Arial"/>
            </a:endParaRPr>
          </a:p>
          <a:p>
            <a:pPr marL="560705" indent="-161925">
              <a:lnSpc>
                <a:spcPts val="1200"/>
              </a:lnSpc>
              <a:spcBef>
                <a:spcPts val="509"/>
              </a:spcBef>
              <a:buClr>
                <a:srgbClr val="3333B2"/>
              </a:buClr>
              <a:buFont typeface="Arial"/>
              <a:buChar char="►"/>
              <a:tabLst>
                <a:tab pos="561340" algn="l"/>
              </a:tabLst>
            </a:pPr>
            <a:r>
              <a:rPr sz="1000" spc="65" dirty="0">
                <a:latin typeface="Times New Roman"/>
                <a:cs typeface="Times New Roman"/>
                <a:hlinkClick r:id="rId6"/>
              </a:rPr>
              <a:t>www.distributed-systems.net</a:t>
            </a:r>
            <a:r>
              <a:rPr sz="1000" spc="65" dirty="0">
                <a:latin typeface="Arial"/>
                <a:cs typeface="Arial"/>
                <a:hlinkClick r:id="rId6"/>
              </a:rPr>
              <a:t>:</a:t>
            </a:r>
            <a:r>
              <a:rPr sz="1000" spc="50" dirty="0">
                <a:latin typeface="Arial"/>
                <a:cs typeface="Arial"/>
                <a:hlinkClick r:id="rId6"/>
              </a:rPr>
              <a:t> </a:t>
            </a:r>
            <a:r>
              <a:rPr sz="1000" spc="5" dirty="0">
                <a:latin typeface="Arial"/>
                <a:cs typeface="Arial"/>
              </a:rPr>
              <a:t>start</a:t>
            </a:r>
            <a:r>
              <a:rPr sz="1000" spc="-10" dirty="0">
                <a:latin typeface="Arial"/>
                <a:cs typeface="Arial"/>
              </a:rPr>
              <a:t> </a:t>
            </a:r>
            <a:r>
              <a:rPr sz="1000" spc="-5" dirty="0">
                <a:latin typeface="Arial"/>
                <a:cs typeface="Arial"/>
              </a:rPr>
              <a:t>at</a:t>
            </a:r>
            <a:r>
              <a:rPr sz="1000" spc="-15"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DNS</a:t>
            </a:r>
            <a:r>
              <a:rPr sz="1000" spc="-10" dirty="0">
                <a:latin typeface="Arial"/>
                <a:cs typeface="Arial"/>
              </a:rPr>
              <a:t> </a:t>
            </a:r>
            <a:r>
              <a:rPr sz="1000" spc="-5" dirty="0">
                <a:latin typeface="Arial"/>
                <a:cs typeface="Arial"/>
              </a:rPr>
              <a:t>name</a:t>
            </a:r>
            <a:r>
              <a:rPr sz="1000" spc="-15" dirty="0">
                <a:latin typeface="Arial"/>
                <a:cs typeface="Arial"/>
              </a:rPr>
              <a:t> </a:t>
            </a:r>
            <a:r>
              <a:rPr sz="1000" spc="-5" dirty="0">
                <a:latin typeface="Arial"/>
                <a:cs typeface="Arial"/>
              </a:rPr>
              <a:t>server</a:t>
            </a:r>
            <a:endParaRPr sz="1000" dirty="0">
              <a:latin typeface="Arial"/>
              <a:cs typeface="Arial"/>
            </a:endParaRPr>
          </a:p>
          <a:p>
            <a:pPr marL="567055" marR="137795" indent="-168275">
              <a:lnSpc>
                <a:spcPts val="1200"/>
              </a:lnSpc>
              <a:spcBef>
                <a:spcPts val="40"/>
              </a:spcBef>
              <a:buClr>
                <a:srgbClr val="3333B2"/>
              </a:buClr>
              <a:buFont typeface="Arial"/>
              <a:buChar char="►"/>
              <a:tabLst>
                <a:tab pos="561340" algn="l"/>
              </a:tabLst>
            </a:pPr>
            <a:r>
              <a:rPr sz="1000" spc="20" dirty="0">
                <a:latin typeface="Times New Roman"/>
                <a:cs typeface="Times New Roman"/>
              </a:rPr>
              <a:t>/home/maarten/mbox</a:t>
            </a:r>
            <a:r>
              <a:rPr sz="1000" spc="20" dirty="0">
                <a:latin typeface="Arial"/>
                <a:cs typeface="Arial"/>
              </a:rPr>
              <a:t>:</a:t>
            </a:r>
            <a:r>
              <a:rPr sz="1000" spc="65" dirty="0">
                <a:latin typeface="Arial"/>
                <a:cs typeface="Arial"/>
              </a:rPr>
              <a:t> </a:t>
            </a:r>
            <a:r>
              <a:rPr sz="1000" spc="5" dirty="0">
                <a:latin typeface="Arial"/>
                <a:cs typeface="Arial"/>
              </a:rPr>
              <a:t>start </a:t>
            </a:r>
            <a:r>
              <a:rPr sz="1000" spc="-5" dirty="0">
                <a:latin typeface="Arial"/>
                <a:cs typeface="Arial"/>
              </a:rPr>
              <a:t>at</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NFS</a:t>
            </a:r>
            <a:r>
              <a:rPr sz="1000" spc="5"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(possible </a:t>
            </a:r>
            <a:r>
              <a:rPr sz="1000" spc="-265" dirty="0">
                <a:latin typeface="Arial"/>
                <a:cs typeface="Arial"/>
              </a:rPr>
              <a:t> </a:t>
            </a:r>
            <a:r>
              <a:rPr sz="1000" spc="-5" dirty="0">
                <a:latin typeface="Arial"/>
                <a:cs typeface="Arial"/>
              </a:rPr>
              <a:t>recursive</a:t>
            </a:r>
            <a:r>
              <a:rPr sz="1000" spc="-10" dirty="0">
                <a:latin typeface="Arial"/>
                <a:cs typeface="Arial"/>
              </a:rPr>
              <a:t> </a:t>
            </a:r>
            <a:r>
              <a:rPr sz="1000" spc="-5" dirty="0">
                <a:latin typeface="Arial"/>
                <a:cs typeface="Arial"/>
              </a:rPr>
              <a:t>search)</a:t>
            </a:r>
            <a:endParaRPr sz="1000" dirty="0">
              <a:latin typeface="Arial"/>
              <a:cs typeface="Arial"/>
            </a:endParaRPr>
          </a:p>
          <a:p>
            <a:pPr marL="560705" indent="-161925">
              <a:lnSpc>
                <a:spcPts val="1150"/>
              </a:lnSpc>
              <a:buClr>
                <a:srgbClr val="3333B2"/>
              </a:buClr>
              <a:buFont typeface="Arial"/>
              <a:buChar char="►"/>
              <a:tabLst>
                <a:tab pos="561340" algn="l"/>
              </a:tabLst>
            </a:pPr>
            <a:r>
              <a:rPr sz="1000" spc="20" dirty="0">
                <a:latin typeface="Times New Roman"/>
                <a:cs typeface="Times New Roman"/>
              </a:rPr>
              <a:t>0031</a:t>
            </a:r>
            <a:r>
              <a:rPr sz="1000" spc="180" dirty="0">
                <a:latin typeface="Times New Roman"/>
                <a:cs typeface="Times New Roman"/>
              </a:rPr>
              <a:t> </a:t>
            </a:r>
            <a:r>
              <a:rPr sz="1000" spc="45" dirty="0">
                <a:latin typeface="Times New Roman"/>
                <a:cs typeface="Times New Roman"/>
              </a:rPr>
              <a:t>20</a:t>
            </a:r>
            <a:r>
              <a:rPr sz="1000" spc="180" dirty="0">
                <a:latin typeface="Times New Roman"/>
                <a:cs typeface="Times New Roman"/>
              </a:rPr>
              <a:t> </a:t>
            </a:r>
            <a:r>
              <a:rPr sz="1000" spc="30" dirty="0">
                <a:latin typeface="Times New Roman"/>
                <a:cs typeface="Times New Roman"/>
              </a:rPr>
              <a:t>598</a:t>
            </a:r>
            <a:r>
              <a:rPr sz="1000" spc="180" dirty="0">
                <a:latin typeface="Times New Roman"/>
                <a:cs typeface="Times New Roman"/>
              </a:rPr>
              <a:t> </a:t>
            </a:r>
            <a:r>
              <a:rPr sz="1000" spc="5" dirty="0">
                <a:latin typeface="Times New Roman"/>
                <a:cs typeface="Times New Roman"/>
              </a:rPr>
              <a:t>7784</a:t>
            </a:r>
            <a:r>
              <a:rPr sz="1000" spc="5" dirty="0">
                <a:latin typeface="Arial"/>
                <a:cs typeface="Arial"/>
              </a:rPr>
              <a:t>:</a:t>
            </a:r>
            <a:r>
              <a:rPr sz="1000" spc="55" dirty="0">
                <a:latin typeface="Arial"/>
                <a:cs typeface="Arial"/>
              </a:rPr>
              <a:t> </a:t>
            </a:r>
            <a:r>
              <a:rPr sz="1000" spc="-5" dirty="0">
                <a:latin typeface="Arial"/>
                <a:cs typeface="Arial"/>
              </a:rPr>
              <a:t>dial a</a:t>
            </a:r>
            <a:r>
              <a:rPr sz="1000" spc="-10" dirty="0">
                <a:latin typeface="Arial"/>
                <a:cs typeface="Arial"/>
              </a:rPr>
              <a:t> </a:t>
            </a:r>
            <a:r>
              <a:rPr sz="1000" spc="-5" dirty="0">
                <a:latin typeface="Arial"/>
                <a:cs typeface="Arial"/>
              </a:rPr>
              <a:t>phone number</a:t>
            </a:r>
            <a:endParaRPr sz="1000" dirty="0">
              <a:latin typeface="Arial"/>
              <a:cs typeface="Arial"/>
            </a:endParaRPr>
          </a:p>
          <a:p>
            <a:pPr marL="560705" indent="-161925">
              <a:lnSpc>
                <a:spcPts val="1200"/>
              </a:lnSpc>
              <a:buClr>
                <a:srgbClr val="3333B2"/>
              </a:buClr>
              <a:buFont typeface="Arial"/>
              <a:buChar char="►"/>
              <a:tabLst>
                <a:tab pos="561340" algn="l"/>
              </a:tabLst>
            </a:pPr>
            <a:r>
              <a:rPr sz="1000" spc="60" dirty="0">
                <a:latin typeface="Times New Roman"/>
                <a:cs typeface="Times New Roman"/>
              </a:rPr>
              <a:t>77.167.55.6</a:t>
            </a:r>
            <a:r>
              <a:rPr sz="1000" spc="60" dirty="0">
                <a:latin typeface="Arial"/>
                <a:cs typeface="Arial"/>
              </a:rPr>
              <a:t>:</a:t>
            </a:r>
            <a:r>
              <a:rPr sz="1000" spc="65" dirty="0">
                <a:latin typeface="Arial"/>
                <a:cs typeface="Arial"/>
              </a:rPr>
              <a:t> </a:t>
            </a:r>
            <a:r>
              <a:rPr sz="1000" spc="-5" dirty="0">
                <a:latin typeface="Arial"/>
                <a:cs typeface="Arial"/>
              </a:rPr>
              <a:t>route</a:t>
            </a:r>
            <a:r>
              <a:rPr sz="1000" dirty="0">
                <a:latin typeface="Arial"/>
                <a:cs typeface="Arial"/>
              </a:rPr>
              <a:t> </a:t>
            </a:r>
            <a:r>
              <a:rPr sz="1000" spc="-5" dirty="0">
                <a:latin typeface="Arial"/>
                <a:cs typeface="Arial"/>
              </a:rPr>
              <a:t>message</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specific</a:t>
            </a:r>
            <a:r>
              <a:rPr sz="1000" spc="5" dirty="0">
                <a:latin typeface="Arial"/>
                <a:cs typeface="Arial"/>
              </a:rPr>
              <a:t> </a:t>
            </a:r>
            <a:r>
              <a:rPr sz="1000" spc="-5" dirty="0">
                <a:latin typeface="Arial"/>
                <a:cs typeface="Arial"/>
              </a:rPr>
              <a:t>IP</a:t>
            </a:r>
            <a:r>
              <a:rPr sz="1000" dirty="0">
                <a:latin typeface="Arial"/>
                <a:cs typeface="Arial"/>
              </a:rPr>
              <a:t> </a:t>
            </a:r>
            <a:r>
              <a:rPr sz="1000" spc="-5" dirty="0">
                <a:latin typeface="Arial"/>
                <a:cs typeface="Arial"/>
              </a:rPr>
              <a:t>address</a:t>
            </a:r>
            <a:endParaRPr sz="1000" dirty="0">
              <a:latin typeface="Arial"/>
              <a:cs typeface="Arial"/>
            </a:endParaRPr>
          </a:p>
          <a:p>
            <a:pPr>
              <a:lnSpc>
                <a:spcPct val="100000"/>
              </a:lnSpc>
              <a:spcBef>
                <a:spcPts val="15"/>
              </a:spcBef>
            </a:pPr>
            <a:endParaRPr sz="1300" dirty="0">
              <a:latin typeface="Arial"/>
              <a:cs typeface="Arial"/>
            </a:endParaRPr>
          </a:p>
          <a:p>
            <a:pPr marL="289560">
              <a:lnSpc>
                <a:spcPts val="1420"/>
              </a:lnSpc>
            </a:pPr>
            <a:r>
              <a:rPr sz="1200" spc="-5" dirty="0">
                <a:solidFill>
                  <a:srgbClr val="3333B2"/>
                </a:solidFill>
                <a:latin typeface="Arial"/>
                <a:cs typeface="Arial"/>
              </a:rPr>
              <a:t>Note</a:t>
            </a:r>
            <a:endParaRPr sz="1200" dirty="0">
              <a:latin typeface="Arial"/>
              <a:cs typeface="Arial"/>
            </a:endParaRPr>
          </a:p>
          <a:p>
            <a:pPr marL="285750">
              <a:lnSpc>
                <a:spcPts val="1180"/>
              </a:lnSpc>
            </a:pPr>
            <a:r>
              <a:rPr sz="1000" spc="-65" dirty="0">
                <a:latin typeface="Arial"/>
                <a:cs typeface="Arial"/>
              </a:rPr>
              <a:t>You</a:t>
            </a:r>
            <a:r>
              <a:rPr sz="1000" spc="-5" dirty="0">
                <a:latin typeface="Arial"/>
                <a:cs typeface="Arial"/>
              </a:rPr>
              <a:t> </a:t>
            </a:r>
            <a:r>
              <a:rPr sz="1000" spc="-15" dirty="0">
                <a:latin typeface="Arial"/>
                <a:cs typeface="Arial"/>
              </a:rPr>
              <a:t>cannot</a:t>
            </a:r>
            <a:r>
              <a:rPr sz="1000" spc="-5" dirty="0">
                <a:latin typeface="Arial"/>
                <a:cs typeface="Arial"/>
              </a:rPr>
              <a:t> </a:t>
            </a:r>
            <a:r>
              <a:rPr sz="1000" spc="-30" dirty="0">
                <a:latin typeface="Arial"/>
                <a:cs typeface="Arial"/>
              </a:rPr>
              <a:t>have</a:t>
            </a:r>
            <a:r>
              <a:rPr sz="1000" dirty="0">
                <a:latin typeface="Arial"/>
                <a:cs typeface="Arial"/>
              </a:rPr>
              <a:t> </a:t>
            </a:r>
            <a:r>
              <a:rPr sz="1000" spc="-15" dirty="0">
                <a:latin typeface="Arial"/>
                <a:cs typeface="Arial"/>
              </a:rPr>
              <a:t>an</a:t>
            </a:r>
            <a:r>
              <a:rPr sz="1000" spc="-5" dirty="0">
                <a:latin typeface="Arial"/>
                <a:cs typeface="Arial"/>
              </a:rPr>
              <a:t> </a:t>
            </a:r>
            <a:r>
              <a:rPr sz="1000" spc="-15" dirty="0">
                <a:latin typeface="Arial"/>
                <a:cs typeface="Arial"/>
              </a:rPr>
              <a:t>explicit</a:t>
            </a:r>
            <a:r>
              <a:rPr sz="1000" dirty="0">
                <a:latin typeface="Arial"/>
                <a:cs typeface="Arial"/>
              </a:rPr>
              <a:t> </a:t>
            </a:r>
            <a:r>
              <a:rPr sz="1000" spc="-15" dirty="0">
                <a:latin typeface="Arial"/>
                <a:cs typeface="Arial"/>
              </a:rPr>
              <a:t>closure</a:t>
            </a:r>
            <a:r>
              <a:rPr sz="1000" spc="-5" dirty="0">
                <a:latin typeface="Arial"/>
                <a:cs typeface="Arial"/>
              </a:rPr>
              <a:t> </a:t>
            </a:r>
            <a:r>
              <a:rPr sz="1000" spc="-15" dirty="0">
                <a:latin typeface="Arial"/>
                <a:cs typeface="Arial"/>
              </a:rPr>
              <a:t>mechanism</a:t>
            </a:r>
            <a:r>
              <a:rPr sz="1000" dirty="0">
                <a:latin typeface="Arial"/>
                <a:cs typeface="Arial"/>
              </a:rPr>
              <a:t> </a:t>
            </a:r>
            <a:r>
              <a:rPr sz="1000" spc="-15" dirty="0">
                <a:latin typeface="Arial"/>
                <a:cs typeface="Arial"/>
              </a:rPr>
              <a:t>–</a:t>
            </a:r>
            <a:r>
              <a:rPr sz="1000" spc="-5" dirty="0">
                <a:latin typeface="Arial"/>
                <a:cs typeface="Arial"/>
              </a:rPr>
              <a:t> </a:t>
            </a:r>
            <a:r>
              <a:rPr sz="1000" spc="-20" dirty="0">
                <a:latin typeface="Arial"/>
                <a:cs typeface="Arial"/>
              </a:rPr>
              <a:t>how</a:t>
            </a:r>
            <a:r>
              <a:rPr sz="1000" dirty="0">
                <a:latin typeface="Arial"/>
                <a:cs typeface="Arial"/>
              </a:rPr>
              <a:t> </a:t>
            </a:r>
            <a:r>
              <a:rPr sz="1000" spc="-15" dirty="0">
                <a:latin typeface="Arial"/>
                <a:cs typeface="Arial"/>
              </a:rPr>
              <a:t>would</a:t>
            </a:r>
            <a:r>
              <a:rPr sz="1000" spc="-5" dirty="0">
                <a:latin typeface="Arial"/>
                <a:cs typeface="Arial"/>
              </a:rPr>
              <a:t> </a:t>
            </a:r>
            <a:r>
              <a:rPr sz="1000" spc="-20" dirty="0">
                <a:latin typeface="Arial"/>
                <a:cs typeface="Arial"/>
              </a:rPr>
              <a:t>you</a:t>
            </a:r>
            <a:r>
              <a:rPr sz="1000" dirty="0">
                <a:latin typeface="Arial"/>
                <a:cs typeface="Arial"/>
              </a:rPr>
              <a:t> </a:t>
            </a:r>
            <a:r>
              <a:rPr sz="1000" spc="-5" dirty="0">
                <a:latin typeface="Arial"/>
                <a:cs typeface="Arial"/>
              </a:rPr>
              <a:t>start?</a:t>
            </a:r>
            <a:endParaRPr sz="1000" dirty="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473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Linking</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mounting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09060" algn="l"/>
              </a:tabLst>
            </a:pP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5" action="ppaction://hlinksldjump"/>
              </a:rPr>
              <a:t>St</a:t>
            </a:r>
            <a:r>
              <a:rPr sz="600" dirty="0">
                <a:solidFill>
                  <a:srgbClr val="3333B2"/>
                </a:solidFill>
                <a:latin typeface="Arial"/>
                <a:cs typeface="Arial"/>
                <a:hlinkClick r:id="rId5" action="ppaction://hlinksldjump"/>
              </a:rPr>
              <a:t>r</a:t>
            </a:r>
            <a:r>
              <a:rPr sz="600" spc="-5" dirty="0">
                <a:solidFill>
                  <a:srgbClr val="3333B2"/>
                </a:solidFill>
                <a:latin typeface="Arial"/>
                <a:cs typeface="Arial"/>
                <a:hlinkClick r:id="rId5" action="ppaction://hlinksldjump"/>
              </a:rPr>
              <a:t>uctured naming</a:t>
            </a:r>
            <a:r>
              <a:rPr sz="600" dirty="0">
                <a:solidFill>
                  <a:srgbClr val="3333B2"/>
                </a:solidFill>
                <a:latin typeface="Arial"/>
                <a:cs typeface="Arial"/>
              </a:rPr>
              <a:t>	</a:t>
            </a:r>
            <a:r>
              <a:rPr sz="600" spc="-5" dirty="0">
                <a:solidFill>
                  <a:srgbClr val="262685"/>
                </a:solidFill>
                <a:latin typeface="Arial"/>
                <a:cs typeface="Arial"/>
                <a:hlinkClick r:id="rId6" action="ppaction://hlinksldjump"/>
              </a:rPr>
              <a:t>Name resolution</a:t>
            </a:r>
            <a:endParaRPr sz="600">
              <a:latin typeface="Arial"/>
              <a:cs typeface="Arial"/>
            </a:endParaRPr>
          </a:p>
        </p:txBody>
      </p:sp>
      <p:sp>
        <p:nvSpPr>
          <p:cNvPr id="3" name="object 3"/>
          <p:cNvSpPr txBox="1">
            <a:spLocks noGrp="1"/>
          </p:cNvSpPr>
          <p:nvPr>
            <p:ph type="title"/>
          </p:nvPr>
        </p:nvSpPr>
        <p:spPr>
          <a:xfrm>
            <a:off x="95300" y="188846"/>
            <a:ext cx="1078865" cy="244475"/>
          </a:xfrm>
          <a:prstGeom prst="rect">
            <a:avLst/>
          </a:prstGeom>
        </p:spPr>
        <p:txBody>
          <a:bodyPr vert="horz" wrap="square" lIns="0" tIns="17145" rIns="0" bIns="0" rtlCol="0">
            <a:spAutoFit/>
          </a:bodyPr>
          <a:lstStyle/>
          <a:p>
            <a:pPr marL="12700">
              <a:lnSpc>
                <a:spcPct val="100000"/>
              </a:lnSpc>
              <a:spcBef>
                <a:spcPts val="135"/>
              </a:spcBef>
            </a:pPr>
            <a:r>
              <a:rPr spc="20" dirty="0"/>
              <a:t>Name</a:t>
            </a:r>
            <a:r>
              <a:rPr spc="-45" dirty="0"/>
              <a:t> </a:t>
            </a:r>
            <a:r>
              <a:rPr spc="10" dirty="0"/>
              <a:t>linking</a:t>
            </a:r>
          </a:p>
        </p:txBody>
      </p:sp>
      <p:sp>
        <p:nvSpPr>
          <p:cNvPr id="4" name="object 4"/>
          <p:cNvSpPr txBox="1"/>
          <p:nvPr/>
        </p:nvSpPr>
        <p:spPr>
          <a:xfrm>
            <a:off x="328650" y="440408"/>
            <a:ext cx="3945254" cy="1583055"/>
          </a:xfrm>
          <a:prstGeom prst="rect">
            <a:avLst/>
          </a:prstGeom>
        </p:spPr>
        <p:txBody>
          <a:bodyPr vert="horz" wrap="square" lIns="0" tIns="12065" rIns="0" bIns="0" rtlCol="0">
            <a:spAutoFit/>
          </a:bodyPr>
          <a:lstStyle/>
          <a:p>
            <a:pPr marL="31115">
              <a:lnSpc>
                <a:spcPts val="1410"/>
              </a:lnSpc>
              <a:spcBef>
                <a:spcPts val="95"/>
              </a:spcBef>
            </a:pPr>
            <a:r>
              <a:rPr sz="1200" spc="-5" dirty="0">
                <a:solidFill>
                  <a:srgbClr val="3333B2"/>
                </a:solidFill>
                <a:latin typeface="Arial"/>
                <a:cs typeface="Arial"/>
              </a:rPr>
              <a:t>Hard link</a:t>
            </a:r>
            <a:endParaRPr sz="1200" dirty="0">
              <a:latin typeface="Arial"/>
              <a:cs typeface="Arial"/>
            </a:endParaRPr>
          </a:p>
          <a:p>
            <a:pPr marL="31115" marR="17780" indent="-6350">
              <a:lnSpc>
                <a:spcPts val="1200"/>
              </a:lnSpc>
              <a:spcBef>
                <a:spcPts val="10"/>
              </a:spcBef>
            </a:pPr>
            <a:r>
              <a:rPr sz="1000" spc="-5" dirty="0">
                <a:latin typeface="Arial"/>
                <a:cs typeface="Arial"/>
              </a:rPr>
              <a:t>What </a:t>
            </a:r>
            <a:r>
              <a:rPr sz="1000" spc="-10" dirty="0">
                <a:latin typeface="Arial"/>
                <a:cs typeface="Arial"/>
              </a:rPr>
              <a:t>we</a:t>
            </a:r>
            <a:r>
              <a:rPr sz="1000" spc="-5"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described so </a:t>
            </a:r>
            <a:r>
              <a:rPr sz="1000" spc="-15" dirty="0">
                <a:latin typeface="Arial"/>
                <a:cs typeface="Arial"/>
              </a:rPr>
              <a:t>far</a:t>
            </a:r>
            <a:r>
              <a:rPr sz="1000" dirty="0">
                <a:latin typeface="Arial"/>
                <a:cs typeface="Arial"/>
              </a:rPr>
              <a:t> </a:t>
            </a:r>
            <a:r>
              <a:rPr sz="1000" spc="-5" dirty="0">
                <a:latin typeface="Arial"/>
                <a:cs typeface="Arial"/>
              </a:rPr>
              <a:t>as a</a:t>
            </a:r>
            <a:r>
              <a:rPr sz="1000" dirty="0">
                <a:latin typeface="Arial"/>
                <a:cs typeface="Arial"/>
              </a:rPr>
              <a:t> </a:t>
            </a:r>
            <a:r>
              <a:rPr sz="1000" spc="-5" dirty="0">
                <a:solidFill>
                  <a:srgbClr val="FA0000"/>
                </a:solidFill>
                <a:latin typeface="Arial"/>
                <a:cs typeface="Arial"/>
              </a:rPr>
              <a:t>path name</a:t>
            </a:r>
            <a:r>
              <a:rPr sz="1000" spc="-5" dirty="0">
                <a:latin typeface="Arial"/>
                <a:cs typeface="Arial"/>
              </a:rPr>
              <a:t>:</a:t>
            </a:r>
            <a:r>
              <a:rPr sz="1000" spc="6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name that is </a:t>
            </a:r>
            <a:r>
              <a:rPr sz="1000" dirty="0">
                <a:latin typeface="Arial"/>
                <a:cs typeface="Arial"/>
              </a:rPr>
              <a:t> </a:t>
            </a:r>
            <a:r>
              <a:rPr sz="1000" spc="-10" dirty="0">
                <a:latin typeface="Arial"/>
                <a:cs typeface="Arial"/>
              </a:rPr>
              <a:t>resolved </a:t>
            </a:r>
            <a:r>
              <a:rPr sz="1000" spc="-15" dirty="0">
                <a:latin typeface="Arial"/>
                <a:cs typeface="Arial"/>
              </a:rPr>
              <a:t>by</a:t>
            </a:r>
            <a:r>
              <a:rPr sz="1000" spc="-5" dirty="0">
                <a:latin typeface="Arial"/>
                <a:cs typeface="Arial"/>
              </a:rPr>
              <a:t> </a:t>
            </a:r>
            <a:r>
              <a:rPr sz="1000" spc="-10" dirty="0">
                <a:latin typeface="Arial"/>
                <a:cs typeface="Arial"/>
              </a:rPr>
              <a:t>following</a:t>
            </a:r>
            <a:r>
              <a:rPr sz="1000" spc="-5" dirty="0">
                <a:latin typeface="Arial"/>
                <a:cs typeface="Arial"/>
              </a:rPr>
              <a:t> a</a:t>
            </a:r>
            <a:r>
              <a:rPr sz="1000" spc="-10" dirty="0">
                <a:latin typeface="Arial"/>
                <a:cs typeface="Arial"/>
              </a:rPr>
              <a:t> </a:t>
            </a:r>
            <a:r>
              <a:rPr sz="1000" spc="-5" dirty="0">
                <a:latin typeface="Arial"/>
                <a:cs typeface="Arial"/>
              </a:rPr>
              <a:t>specific path in</a:t>
            </a:r>
            <a:r>
              <a:rPr sz="1000" spc="-10" dirty="0">
                <a:latin typeface="Arial"/>
                <a:cs typeface="Arial"/>
              </a:rPr>
              <a:t> </a:t>
            </a:r>
            <a:r>
              <a:rPr sz="1000" spc="-5" dirty="0">
                <a:latin typeface="Arial"/>
                <a:cs typeface="Arial"/>
              </a:rPr>
              <a:t>a naming </a:t>
            </a:r>
            <a:r>
              <a:rPr sz="1000" spc="-10" dirty="0">
                <a:latin typeface="Arial"/>
                <a:cs typeface="Arial"/>
              </a:rPr>
              <a:t>graph </a:t>
            </a:r>
            <a:r>
              <a:rPr sz="1000" spc="-5" dirty="0">
                <a:latin typeface="Arial"/>
                <a:cs typeface="Arial"/>
              </a:rPr>
              <a:t>from one node </a:t>
            </a:r>
            <a:r>
              <a:rPr sz="1000" spc="-265" dirty="0">
                <a:latin typeface="Arial"/>
                <a:cs typeface="Arial"/>
              </a:rPr>
              <a:t> </a:t>
            </a:r>
            <a:r>
              <a:rPr sz="1000" spc="-5" dirty="0">
                <a:latin typeface="Arial"/>
                <a:cs typeface="Arial"/>
              </a:rPr>
              <a:t>to</a:t>
            </a:r>
            <a:r>
              <a:rPr sz="1000" spc="-10" dirty="0">
                <a:latin typeface="Arial"/>
                <a:cs typeface="Arial"/>
              </a:rPr>
              <a:t> another.</a:t>
            </a:r>
            <a:endParaRPr sz="1000" dirty="0">
              <a:latin typeface="Arial"/>
              <a:cs typeface="Arial"/>
            </a:endParaRPr>
          </a:p>
          <a:p>
            <a:pPr marL="31115" marR="265430">
              <a:lnSpc>
                <a:spcPts val="1390"/>
              </a:lnSpc>
              <a:spcBef>
                <a:spcPts val="365"/>
              </a:spcBef>
            </a:pPr>
            <a:r>
              <a:rPr sz="1200" spc="-5" dirty="0">
                <a:solidFill>
                  <a:srgbClr val="3333B2"/>
                </a:solidFill>
                <a:latin typeface="Arial"/>
                <a:cs typeface="Arial"/>
              </a:rPr>
              <a:t>Soft link:</a:t>
            </a:r>
            <a:r>
              <a:rPr sz="1200" spc="75" dirty="0">
                <a:solidFill>
                  <a:srgbClr val="3333B2"/>
                </a:solidFill>
                <a:latin typeface="Arial"/>
                <a:cs typeface="Arial"/>
              </a:rPr>
              <a:t> </a:t>
            </a:r>
            <a:r>
              <a:rPr sz="1200" spc="-10" dirty="0">
                <a:solidFill>
                  <a:srgbClr val="3333B2"/>
                </a:solidFill>
                <a:latin typeface="Arial"/>
                <a:cs typeface="Arial"/>
              </a:rPr>
              <a:t>Allow</a:t>
            </a:r>
            <a:r>
              <a:rPr sz="1200" dirty="0">
                <a:solidFill>
                  <a:srgbClr val="3333B2"/>
                </a:solidFill>
                <a:latin typeface="Arial"/>
                <a:cs typeface="Arial"/>
              </a:rPr>
              <a:t> </a:t>
            </a:r>
            <a:r>
              <a:rPr sz="1200" spc="-5" dirty="0">
                <a:solidFill>
                  <a:srgbClr val="3333B2"/>
                </a:solidFill>
                <a:latin typeface="Arial"/>
                <a:cs typeface="Arial"/>
              </a:rPr>
              <a:t>a node</a:t>
            </a:r>
            <a:r>
              <a:rPr sz="1200" dirty="0">
                <a:solidFill>
                  <a:srgbClr val="3333B2"/>
                </a:solidFill>
                <a:latin typeface="Arial"/>
                <a:cs typeface="Arial"/>
              </a:rPr>
              <a:t> </a:t>
            </a:r>
            <a:r>
              <a:rPr sz="1200" i="1" spc="-5" dirty="0">
                <a:solidFill>
                  <a:srgbClr val="3333B2"/>
                </a:solidFill>
                <a:latin typeface="Arial"/>
                <a:cs typeface="Arial"/>
              </a:rPr>
              <a:t>N</a:t>
            </a:r>
            <a:r>
              <a:rPr sz="1200" i="1" spc="90" dirty="0">
                <a:solidFill>
                  <a:srgbClr val="3333B2"/>
                </a:solidFill>
                <a:latin typeface="Arial"/>
                <a:cs typeface="Arial"/>
              </a:rPr>
              <a:t> </a:t>
            </a:r>
            <a:r>
              <a:rPr sz="1200" spc="-5" dirty="0">
                <a:solidFill>
                  <a:srgbClr val="3333B2"/>
                </a:solidFill>
                <a:latin typeface="Arial"/>
                <a:cs typeface="Arial"/>
              </a:rPr>
              <a:t>to contain</a:t>
            </a:r>
            <a:r>
              <a:rPr sz="1200" dirty="0">
                <a:solidFill>
                  <a:srgbClr val="3333B2"/>
                </a:solidFill>
                <a:latin typeface="Arial"/>
                <a:cs typeface="Arial"/>
              </a:rPr>
              <a:t> </a:t>
            </a:r>
            <a:r>
              <a:rPr sz="1200" spc="-5" dirty="0">
                <a:solidFill>
                  <a:srgbClr val="3333B2"/>
                </a:solidFill>
                <a:latin typeface="Arial"/>
                <a:cs typeface="Arial"/>
              </a:rPr>
              <a:t>a </a:t>
            </a:r>
            <a:r>
              <a:rPr sz="1200" spc="-5" dirty="0">
                <a:solidFill>
                  <a:srgbClr val="FA0000"/>
                </a:solidFill>
                <a:latin typeface="Arial"/>
                <a:cs typeface="Arial"/>
              </a:rPr>
              <a:t>name</a:t>
            </a:r>
            <a:r>
              <a:rPr sz="1200" dirty="0">
                <a:solidFill>
                  <a:srgbClr val="FA0000"/>
                </a:solidFill>
                <a:latin typeface="Arial"/>
                <a:cs typeface="Arial"/>
              </a:rPr>
              <a:t> </a:t>
            </a:r>
            <a:r>
              <a:rPr sz="1200" spc="-5" dirty="0">
                <a:solidFill>
                  <a:srgbClr val="3333B2"/>
                </a:solidFill>
                <a:latin typeface="Arial"/>
                <a:cs typeface="Arial"/>
              </a:rPr>
              <a:t>of another </a:t>
            </a:r>
            <a:r>
              <a:rPr sz="1200" spc="-320" dirty="0">
                <a:solidFill>
                  <a:srgbClr val="3333B2"/>
                </a:solidFill>
                <a:latin typeface="Arial"/>
                <a:cs typeface="Arial"/>
              </a:rPr>
              <a:t> </a:t>
            </a:r>
            <a:r>
              <a:rPr sz="1200" spc="-5" dirty="0">
                <a:solidFill>
                  <a:srgbClr val="3333B2"/>
                </a:solidFill>
                <a:latin typeface="Arial"/>
                <a:cs typeface="Arial"/>
              </a:rPr>
              <a:t>node</a:t>
            </a:r>
            <a:endParaRPr sz="1200" dirty="0">
              <a:latin typeface="Arial"/>
              <a:cs typeface="Arial"/>
            </a:endParaRPr>
          </a:p>
          <a:p>
            <a:pPr marL="307975" indent="-168275">
              <a:lnSpc>
                <a:spcPts val="1200"/>
              </a:lnSpc>
              <a:spcBef>
                <a:spcPts val="509"/>
              </a:spcBef>
              <a:buClr>
                <a:srgbClr val="3333B2"/>
              </a:buClr>
              <a:buChar char="►"/>
              <a:tabLst>
                <a:tab pos="308610" algn="l"/>
              </a:tabLst>
            </a:pPr>
            <a:r>
              <a:rPr sz="1000" spc="-5" dirty="0">
                <a:latin typeface="Arial"/>
                <a:cs typeface="Arial"/>
              </a:rPr>
              <a:t>First</a:t>
            </a:r>
            <a:r>
              <a:rPr sz="1000" spc="-10" dirty="0">
                <a:latin typeface="Arial"/>
                <a:cs typeface="Arial"/>
              </a:rPr>
              <a:t> resolve</a:t>
            </a:r>
            <a:r>
              <a:rPr sz="1000" spc="-5" dirty="0">
                <a:latin typeface="Arial"/>
                <a:cs typeface="Arial"/>
              </a:rPr>
              <a:t> </a:t>
            </a:r>
            <a:r>
              <a:rPr sz="1000" i="1" spc="5" dirty="0">
                <a:latin typeface="Arial"/>
                <a:cs typeface="Arial"/>
              </a:rPr>
              <a:t>N</a:t>
            </a:r>
            <a:r>
              <a:rPr sz="1000" spc="5" dirty="0">
                <a:latin typeface="Arial"/>
                <a:cs typeface="Arial"/>
              </a:rPr>
              <a:t>’s</a:t>
            </a:r>
            <a:r>
              <a:rPr sz="1000" spc="-5" dirty="0">
                <a:latin typeface="Arial"/>
                <a:cs typeface="Arial"/>
              </a:rPr>
              <a:t> name (leading to </a:t>
            </a:r>
            <a:r>
              <a:rPr sz="1000" i="1" spc="35" dirty="0">
                <a:latin typeface="Arial"/>
                <a:cs typeface="Arial"/>
              </a:rPr>
              <a:t>N</a:t>
            </a:r>
            <a:r>
              <a:rPr sz="1000" spc="35" dirty="0">
                <a:latin typeface="Arial"/>
                <a:cs typeface="Arial"/>
              </a:rPr>
              <a:t>)</a:t>
            </a:r>
            <a:endParaRPr sz="1000" dirty="0">
              <a:latin typeface="Arial"/>
              <a:cs typeface="Arial"/>
            </a:endParaRPr>
          </a:p>
          <a:p>
            <a:pPr marL="307975" indent="-168275">
              <a:lnSpc>
                <a:spcPts val="1195"/>
              </a:lnSpc>
              <a:buClr>
                <a:srgbClr val="3333B2"/>
              </a:buClr>
              <a:buChar char="►"/>
              <a:tabLst>
                <a:tab pos="308610" algn="l"/>
              </a:tabLst>
            </a:pPr>
            <a:r>
              <a:rPr sz="1000" spc="-5" dirty="0">
                <a:latin typeface="Arial"/>
                <a:cs typeface="Arial"/>
              </a:rPr>
              <a:t>Read</a:t>
            </a:r>
            <a:r>
              <a:rPr sz="1000" spc="-10" dirty="0">
                <a:latin typeface="Arial"/>
                <a:cs typeface="Arial"/>
              </a:rPr>
              <a:t> </a:t>
            </a:r>
            <a:r>
              <a:rPr sz="1000" spc="-5" dirty="0">
                <a:latin typeface="Arial"/>
                <a:cs typeface="Arial"/>
              </a:rPr>
              <a:t>the content</a:t>
            </a:r>
            <a:r>
              <a:rPr sz="1000" spc="-10" dirty="0">
                <a:latin typeface="Arial"/>
                <a:cs typeface="Arial"/>
              </a:rPr>
              <a:t> </a:t>
            </a:r>
            <a:r>
              <a:rPr sz="1000" spc="-5" dirty="0">
                <a:latin typeface="Arial"/>
                <a:cs typeface="Arial"/>
              </a:rPr>
              <a:t>of </a:t>
            </a:r>
            <a:r>
              <a:rPr sz="1000" i="1" spc="35" dirty="0">
                <a:latin typeface="Arial"/>
                <a:cs typeface="Arial"/>
              </a:rPr>
              <a:t>N</a:t>
            </a:r>
            <a:r>
              <a:rPr sz="1000" spc="35" dirty="0">
                <a:latin typeface="Arial"/>
                <a:cs typeface="Arial"/>
              </a:rPr>
              <a:t>,</a:t>
            </a:r>
            <a:r>
              <a:rPr sz="1000" spc="-10" dirty="0">
                <a:latin typeface="Arial"/>
                <a:cs typeface="Arial"/>
              </a:rPr>
              <a:t> </a:t>
            </a:r>
            <a:r>
              <a:rPr sz="1000" spc="-5" dirty="0">
                <a:latin typeface="Arial"/>
                <a:cs typeface="Arial"/>
              </a:rPr>
              <a:t>yielding </a:t>
            </a:r>
            <a:r>
              <a:rPr sz="1000" i="1" spc="-5" dirty="0">
                <a:latin typeface="Arial"/>
                <a:cs typeface="Arial"/>
              </a:rPr>
              <a:t>name</a:t>
            </a:r>
            <a:endParaRPr sz="1000" dirty="0">
              <a:latin typeface="Arial"/>
              <a:cs typeface="Arial"/>
            </a:endParaRPr>
          </a:p>
          <a:p>
            <a:pPr marL="307975" indent="-168275">
              <a:lnSpc>
                <a:spcPts val="1200"/>
              </a:lnSpc>
              <a:buClr>
                <a:srgbClr val="3333B2"/>
              </a:buClr>
              <a:buChar char="►"/>
              <a:tabLst>
                <a:tab pos="308610" algn="l"/>
              </a:tabLst>
            </a:pPr>
            <a:r>
              <a:rPr sz="1000" spc="-5" dirty="0">
                <a:latin typeface="Arial"/>
                <a:cs typeface="Arial"/>
              </a:rPr>
              <a:t>Name</a:t>
            </a:r>
            <a:r>
              <a:rPr sz="1000" spc="-10" dirty="0">
                <a:latin typeface="Arial"/>
                <a:cs typeface="Arial"/>
              </a:rPr>
              <a:t> </a:t>
            </a:r>
            <a:r>
              <a:rPr sz="1000" spc="-5" dirty="0">
                <a:latin typeface="Arial"/>
                <a:cs typeface="Arial"/>
              </a:rPr>
              <a:t>resolution</a:t>
            </a:r>
            <a:r>
              <a:rPr sz="1000" spc="-10" dirty="0">
                <a:latin typeface="Arial"/>
                <a:cs typeface="Arial"/>
              </a:rPr>
              <a:t> </a:t>
            </a:r>
            <a:r>
              <a:rPr sz="1000" spc="-5" dirty="0">
                <a:latin typeface="Arial"/>
                <a:cs typeface="Arial"/>
              </a:rPr>
              <a:t>continues</a:t>
            </a:r>
            <a:r>
              <a:rPr sz="1000" spc="-10" dirty="0">
                <a:latin typeface="Arial"/>
                <a:cs typeface="Arial"/>
              </a:rPr>
              <a:t> </a:t>
            </a:r>
            <a:r>
              <a:rPr sz="1000" spc="-5" dirty="0">
                <a:latin typeface="Arial"/>
                <a:cs typeface="Arial"/>
              </a:rPr>
              <a:t>with</a:t>
            </a:r>
            <a:r>
              <a:rPr sz="1000" spc="-10" dirty="0">
                <a:latin typeface="Arial"/>
                <a:cs typeface="Arial"/>
              </a:rPr>
              <a:t> </a:t>
            </a:r>
            <a:r>
              <a:rPr sz="1000" i="1" spc="-5" dirty="0">
                <a:latin typeface="Arial"/>
                <a:cs typeface="Arial"/>
              </a:rPr>
              <a:t>name</a:t>
            </a:r>
            <a:endParaRPr sz="1000" dirty="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473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Linking</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mounting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09060" algn="l"/>
              </a:tabLst>
            </a:pPr>
            <a:r>
              <a:rPr sz="600" spc="-5" dirty="0">
                <a:solidFill>
                  <a:srgbClr val="3333B2"/>
                </a:solidFill>
                <a:latin typeface="Arial"/>
                <a:cs typeface="Arial"/>
                <a:hlinkClick r:id="rId4"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5" action="ppaction://hlinksldjump"/>
              </a:rPr>
              <a:t>Structured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Name</a:t>
            </a:r>
            <a:r>
              <a:rPr sz="600" spc="-3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resolution</a:t>
            </a:r>
            <a:endParaRPr sz="600">
              <a:latin typeface="Arial"/>
              <a:cs typeface="Arial"/>
            </a:endParaRPr>
          </a:p>
        </p:txBody>
      </p:sp>
      <p:sp>
        <p:nvSpPr>
          <p:cNvPr id="3" name="object 3"/>
          <p:cNvSpPr txBox="1">
            <a:spLocks noGrp="1"/>
          </p:cNvSpPr>
          <p:nvPr>
            <p:ph type="title"/>
          </p:nvPr>
        </p:nvSpPr>
        <p:spPr>
          <a:xfrm>
            <a:off x="95300" y="188846"/>
            <a:ext cx="1078865" cy="244475"/>
          </a:xfrm>
          <a:prstGeom prst="rect">
            <a:avLst/>
          </a:prstGeom>
        </p:spPr>
        <p:txBody>
          <a:bodyPr vert="horz" wrap="square" lIns="0" tIns="17145" rIns="0" bIns="0" rtlCol="0">
            <a:spAutoFit/>
          </a:bodyPr>
          <a:lstStyle/>
          <a:p>
            <a:pPr marL="12700">
              <a:lnSpc>
                <a:spcPct val="100000"/>
              </a:lnSpc>
              <a:spcBef>
                <a:spcPts val="135"/>
              </a:spcBef>
            </a:pPr>
            <a:r>
              <a:rPr spc="20" dirty="0"/>
              <a:t>Name</a:t>
            </a:r>
            <a:r>
              <a:rPr spc="-45" dirty="0"/>
              <a:t> </a:t>
            </a:r>
            <a:r>
              <a:rPr spc="10" dirty="0"/>
              <a:t>linking</a:t>
            </a:r>
          </a:p>
        </p:txBody>
      </p:sp>
      <p:sp>
        <p:nvSpPr>
          <p:cNvPr id="4" name="object 4"/>
          <p:cNvSpPr txBox="1"/>
          <p:nvPr/>
        </p:nvSpPr>
        <p:spPr>
          <a:xfrm>
            <a:off x="328650" y="440408"/>
            <a:ext cx="3945254" cy="2739390"/>
          </a:xfrm>
          <a:prstGeom prst="rect">
            <a:avLst/>
          </a:prstGeom>
        </p:spPr>
        <p:txBody>
          <a:bodyPr vert="horz" wrap="square" lIns="0" tIns="12065" rIns="0" bIns="0" rtlCol="0">
            <a:spAutoFit/>
          </a:bodyPr>
          <a:lstStyle/>
          <a:p>
            <a:pPr marL="31115">
              <a:lnSpc>
                <a:spcPts val="1410"/>
              </a:lnSpc>
              <a:spcBef>
                <a:spcPts val="95"/>
              </a:spcBef>
            </a:pPr>
            <a:r>
              <a:rPr sz="1200" spc="-5" dirty="0">
                <a:solidFill>
                  <a:srgbClr val="3333B2"/>
                </a:solidFill>
                <a:latin typeface="Arial"/>
                <a:cs typeface="Arial"/>
              </a:rPr>
              <a:t>Hard link</a:t>
            </a:r>
            <a:endParaRPr sz="1200" dirty="0">
              <a:latin typeface="Arial"/>
              <a:cs typeface="Arial"/>
            </a:endParaRPr>
          </a:p>
          <a:p>
            <a:pPr marL="31115" marR="17780" indent="-6350">
              <a:lnSpc>
                <a:spcPts val="1200"/>
              </a:lnSpc>
              <a:spcBef>
                <a:spcPts val="10"/>
              </a:spcBef>
            </a:pPr>
            <a:r>
              <a:rPr sz="1000" spc="-5" dirty="0">
                <a:latin typeface="Arial"/>
                <a:cs typeface="Arial"/>
              </a:rPr>
              <a:t>What </a:t>
            </a:r>
            <a:r>
              <a:rPr sz="1000" spc="-10" dirty="0">
                <a:latin typeface="Arial"/>
                <a:cs typeface="Arial"/>
              </a:rPr>
              <a:t>we</a:t>
            </a:r>
            <a:r>
              <a:rPr sz="1000" spc="-5"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described so </a:t>
            </a:r>
            <a:r>
              <a:rPr sz="1000" spc="-15" dirty="0">
                <a:latin typeface="Arial"/>
                <a:cs typeface="Arial"/>
              </a:rPr>
              <a:t>far</a:t>
            </a:r>
            <a:r>
              <a:rPr sz="1000" dirty="0">
                <a:latin typeface="Arial"/>
                <a:cs typeface="Arial"/>
              </a:rPr>
              <a:t> </a:t>
            </a:r>
            <a:r>
              <a:rPr sz="1000" spc="-5" dirty="0">
                <a:latin typeface="Arial"/>
                <a:cs typeface="Arial"/>
              </a:rPr>
              <a:t>as a</a:t>
            </a:r>
            <a:r>
              <a:rPr sz="1000" dirty="0">
                <a:latin typeface="Arial"/>
                <a:cs typeface="Arial"/>
              </a:rPr>
              <a:t> </a:t>
            </a:r>
            <a:r>
              <a:rPr sz="1000" spc="-5" dirty="0">
                <a:solidFill>
                  <a:srgbClr val="FA0000"/>
                </a:solidFill>
                <a:latin typeface="Arial"/>
                <a:cs typeface="Arial"/>
              </a:rPr>
              <a:t>path name</a:t>
            </a:r>
            <a:r>
              <a:rPr sz="1000" spc="-5" dirty="0">
                <a:latin typeface="Arial"/>
                <a:cs typeface="Arial"/>
              </a:rPr>
              <a:t>:</a:t>
            </a:r>
            <a:r>
              <a:rPr sz="1000" spc="6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name that is </a:t>
            </a:r>
            <a:r>
              <a:rPr sz="1000" dirty="0">
                <a:latin typeface="Arial"/>
                <a:cs typeface="Arial"/>
              </a:rPr>
              <a:t> </a:t>
            </a:r>
            <a:r>
              <a:rPr sz="1000" spc="-10" dirty="0">
                <a:latin typeface="Arial"/>
                <a:cs typeface="Arial"/>
              </a:rPr>
              <a:t>resolved </a:t>
            </a:r>
            <a:r>
              <a:rPr sz="1000" spc="-15" dirty="0">
                <a:latin typeface="Arial"/>
                <a:cs typeface="Arial"/>
              </a:rPr>
              <a:t>by</a:t>
            </a:r>
            <a:r>
              <a:rPr sz="1000" spc="-5" dirty="0">
                <a:latin typeface="Arial"/>
                <a:cs typeface="Arial"/>
              </a:rPr>
              <a:t> </a:t>
            </a:r>
            <a:r>
              <a:rPr sz="1000" spc="-10" dirty="0">
                <a:latin typeface="Arial"/>
                <a:cs typeface="Arial"/>
              </a:rPr>
              <a:t>following</a:t>
            </a:r>
            <a:r>
              <a:rPr sz="1000" spc="-5" dirty="0">
                <a:latin typeface="Arial"/>
                <a:cs typeface="Arial"/>
              </a:rPr>
              <a:t> a</a:t>
            </a:r>
            <a:r>
              <a:rPr sz="1000" spc="-10" dirty="0">
                <a:latin typeface="Arial"/>
                <a:cs typeface="Arial"/>
              </a:rPr>
              <a:t> </a:t>
            </a:r>
            <a:r>
              <a:rPr sz="1000" spc="-5" dirty="0">
                <a:latin typeface="Arial"/>
                <a:cs typeface="Arial"/>
              </a:rPr>
              <a:t>specific path in</a:t>
            </a:r>
            <a:r>
              <a:rPr sz="1000" spc="-10" dirty="0">
                <a:latin typeface="Arial"/>
                <a:cs typeface="Arial"/>
              </a:rPr>
              <a:t> </a:t>
            </a:r>
            <a:r>
              <a:rPr sz="1000" spc="-5" dirty="0">
                <a:latin typeface="Arial"/>
                <a:cs typeface="Arial"/>
              </a:rPr>
              <a:t>a naming </a:t>
            </a:r>
            <a:r>
              <a:rPr sz="1000" spc="-10" dirty="0">
                <a:latin typeface="Arial"/>
                <a:cs typeface="Arial"/>
              </a:rPr>
              <a:t>graph </a:t>
            </a:r>
            <a:r>
              <a:rPr sz="1000" spc="-5" dirty="0">
                <a:latin typeface="Arial"/>
                <a:cs typeface="Arial"/>
              </a:rPr>
              <a:t>from one node </a:t>
            </a:r>
            <a:r>
              <a:rPr sz="1000" spc="-265" dirty="0">
                <a:latin typeface="Arial"/>
                <a:cs typeface="Arial"/>
              </a:rPr>
              <a:t> </a:t>
            </a:r>
            <a:r>
              <a:rPr sz="1000" spc="-5" dirty="0">
                <a:latin typeface="Arial"/>
                <a:cs typeface="Arial"/>
              </a:rPr>
              <a:t>to</a:t>
            </a:r>
            <a:r>
              <a:rPr sz="1000" spc="-10" dirty="0">
                <a:latin typeface="Arial"/>
                <a:cs typeface="Arial"/>
              </a:rPr>
              <a:t> another.</a:t>
            </a:r>
            <a:endParaRPr sz="1000" dirty="0">
              <a:latin typeface="Arial"/>
              <a:cs typeface="Arial"/>
            </a:endParaRPr>
          </a:p>
          <a:p>
            <a:pPr marL="31115" marR="265430">
              <a:lnSpc>
                <a:spcPts val="1390"/>
              </a:lnSpc>
              <a:spcBef>
                <a:spcPts val="365"/>
              </a:spcBef>
            </a:pPr>
            <a:r>
              <a:rPr sz="1200" spc="-5" dirty="0">
                <a:solidFill>
                  <a:srgbClr val="3333B2"/>
                </a:solidFill>
                <a:latin typeface="Arial"/>
                <a:cs typeface="Arial"/>
              </a:rPr>
              <a:t>Soft link:</a:t>
            </a:r>
            <a:r>
              <a:rPr sz="1200" spc="75" dirty="0">
                <a:solidFill>
                  <a:srgbClr val="3333B2"/>
                </a:solidFill>
                <a:latin typeface="Arial"/>
                <a:cs typeface="Arial"/>
              </a:rPr>
              <a:t> </a:t>
            </a:r>
            <a:r>
              <a:rPr sz="1200" spc="-10" dirty="0">
                <a:solidFill>
                  <a:srgbClr val="3333B2"/>
                </a:solidFill>
                <a:latin typeface="Arial"/>
                <a:cs typeface="Arial"/>
              </a:rPr>
              <a:t>Allow</a:t>
            </a:r>
            <a:r>
              <a:rPr sz="1200" dirty="0">
                <a:solidFill>
                  <a:srgbClr val="3333B2"/>
                </a:solidFill>
                <a:latin typeface="Arial"/>
                <a:cs typeface="Arial"/>
              </a:rPr>
              <a:t> </a:t>
            </a:r>
            <a:r>
              <a:rPr sz="1200" spc="-5" dirty="0">
                <a:solidFill>
                  <a:srgbClr val="3333B2"/>
                </a:solidFill>
                <a:latin typeface="Arial"/>
                <a:cs typeface="Arial"/>
              </a:rPr>
              <a:t>a node</a:t>
            </a:r>
            <a:r>
              <a:rPr sz="1200" dirty="0">
                <a:solidFill>
                  <a:srgbClr val="3333B2"/>
                </a:solidFill>
                <a:latin typeface="Arial"/>
                <a:cs typeface="Arial"/>
              </a:rPr>
              <a:t> </a:t>
            </a:r>
            <a:r>
              <a:rPr sz="1200" i="1" spc="-5" dirty="0">
                <a:solidFill>
                  <a:srgbClr val="3333B2"/>
                </a:solidFill>
                <a:latin typeface="Arial"/>
                <a:cs typeface="Arial"/>
              </a:rPr>
              <a:t>N</a:t>
            </a:r>
            <a:r>
              <a:rPr sz="1200" i="1" spc="90" dirty="0">
                <a:solidFill>
                  <a:srgbClr val="3333B2"/>
                </a:solidFill>
                <a:latin typeface="Arial"/>
                <a:cs typeface="Arial"/>
              </a:rPr>
              <a:t> </a:t>
            </a:r>
            <a:r>
              <a:rPr sz="1200" spc="-5" dirty="0">
                <a:solidFill>
                  <a:srgbClr val="3333B2"/>
                </a:solidFill>
                <a:latin typeface="Arial"/>
                <a:cs typeface="Arial"/>
              </a:rPr>
              <a:t>to contain</a:t>
            </a:r>
            <a:r>
              <a:rPr sz="1200" dirty="0">
                <a:solidFill>
                  <a:srgbClr val="3333B2"/>
                </a:solidFill>
                <a:latin typeface="Arial"/>
                <a:cs typeface="Arial"/>
              </a:rPr>
              <a:t> </a:t>
            </a:r>
            <a:r>
              <a:rPr sz="1200" spc="-5" dirty="0">
                <a:solidFill>
                  <a:srgbClr val="3333B2"/>
                </a:solidFill>
                <a:latin typeface="Arial"/>
                <a:cs typeface="Arial"/>
              </a:rPr>
              <a:t>a </a:t>
            </a:r>
            <a:r>
              <a:rPr sz="1200" spc="-5" dirty="0">
                <a:solidFill>
                  <a:srgbClr val="FA0000"/>
                </a:solidFill>
                <a:latin typeface="Arial"/>
                <a:cs typeface="Arial"/>
              </a:rPr>
              <a:t>name</a:t>
            </a:r>
            <a:r>
              <a:rPr sz="1200" dirty="0">
                <a:solidFill>
                  <a:srgbClr val="FA0000"/>
                </a:solidFill>
                <a:latin typeface="Arial"/>
                <a:cs typeface="Arial"/>
              </a:rPr>
              <a:t> </a:t>
            </a:r>
            <a:r>
              <a:rPr sz="1200" spc="-5" dirty="0">
                <a:solidFill>
                  <a:srgbClr val="3333B2"/>
                </a:solidFill>
                <a:latin typeface="Arial"/>
                <a:cs typeface="Arial"/>
              </a:rPr>
              <a:t>of another </a:t>
            </a:r>
            <a:r>
              <a:rPr sz="1200" spc="-320" dirty="0">
                <a:solidFill>
                  <a:srgbClr val="3333B2"/>
                </a:solidFill>
                <a:latin typeface="Arial"/>
                <a:cs typeface="Arial"/>
              </a:rPr>
              <a:t> </a:t>
            </a:r>
            <a:r>
              <a:rPr sz="1200" spc="-5" dirty="0">
                <a:solidFill>
                  <a:srgbClr val="3333B2"/>
                </a:solidFill>
                <a:latin typeface="Arial"/>
                <a:cs typeface="Arial"/>
              </a:rPr>
              <a:t>node</a:t>
            </a:r>
            <a:endParaRPr sz="1200" dirty="0">
              <a:latin typeface="Arial"/>
              <a:cs typeface="Arial"/>
            </a:endParaRPr>
          </a:p>
          <a:p>
            <a:pPr marL="307975" indent="-168275">
              <a:lnSpc>
                <a:spcPts val="1200"/>
              </a:lnSpc>
              <a:spcBef>
                <a:spcPts val="509"/>
              </a:spcBef>
              <a:buClr>
                <a:srgbClr val="3333B2"/>
              </a:buClr>
              <a:buChar char="►"/>
              <a:tabLst>
                <a:tab pos="308610" algn="l"/>
              </a:tabLst>
            </a:pPr>
            <a:r>
              <a:rPr sz="1000" spc="-5" dirty="0">
                <a:latin typeface="Arial"/>
                <a:cs typeface="Arial"/>
              </a:rPr>
              <a:t>First</a:t>
            </a:r>
            <a:r>
              <a:rPr sz="1000" spc="-10" dirty="0">
                <a:latin typeface="Arial"/>
                <a:cs typeface="Arial"/>
              </a:rPr>
              <a:t> resolve</a:t>
            </a:r>
            <a:r>
              <a:rPr sz="1000" spc="-5" dirty="0">
                <a:latin typeface="Arial"/>
                <a:cs typeface="Arial"/>
              </a:rPr>
              <a:t> </a:t>
            </a:r>
            <a:r>
              <a:rPr sz="1000" i="1" spc="5" dirty="0">
                <a:latin typeface="Arial"/>
                <a:cs typeface="Arial"/>
              </a:rPr>
              <a:t>N</a:t>
            </a:r>
            <a:r>
              <a:rPr sz="1000" spc="5" dirty="0">
                <a:latin typeface="Arial"/>
                <a:cs typeface="Arial"/>
              </a:rPr>
              <a:t>’s</a:t>
            </a:r>
            <a:r>
              <a:rPr sz="1000" spc="-5" dirty="0">
                <a:latin typeface="Arial"/>
                <a:cs typeface="Arial"/>
              </a:rPr>
              <a:t> name (leading to </a:t>
            </a:r>
            <a:r>
              <a:rPr sz="1000" i="1" spc="35" dirty="0">
                <a:latin typeface="Arial"/>
                <a:cs typeface="Arial"/>
              </a:rPr>
              <a:t>N</a:t>
            </a:r>
            <a:r>
              <a:rPr sz="1000" spc="35" dirty="0">
                <a:latin typeface="Arial"/>
                <a:cs typeface="Arial"/>
              </a:rPr>
              <a:t>)</a:t>
            </a:r>
            <a:endParaRPr sz="1000" dirty="0">
              <a:latin typeface="Arial"/>
              <a:cs typeface="Arial"/>
            </a:endParaRPr>
          </a:p>
          <a:p>
            <a:pPr marL="307975" indent="-168275">
              <a:lnSpc>
                <a:spcPts val="1195"/>
              </a:lnSpc>
              <a:buClr>
                <a:srgbClr val="3333B2"/>
              </a:buClr>
              <a:buChar char="►"/>
              <a:tabLst>
                <a:tab pos="308610" algn="l"/>
              </a:tabLst>
            </a:pPr>
            <a:r>
              <a:rPr sz="1000" spc="-5" dirty="0">
                <a:latin typeface="Arial"/>
                <a:cs typeface="Arial"/>
              </a:rPr>
              <a:t>Read</a:t>
            </a:r>
            <a:r>
              <a:rPr sz="1000" spc="-10" dirty="0">
                <a:latin typeface="Arial"/>
                <a:cs typeface="Arial"/>
              </a:rPr>
              <a:t> </a:t>
            </a:r>
            <a:r>
              <a:rPr sz="1000" spc="-5" dirty="0">
                <a:latin typeface="Arial"/>
                <a:cs typeface="Arial"/>
              </a:rPr>
              <a:t>the content</a:t>
            </a:r>
            <a:r>
              <a:rPr sz="1000" spc="-10" dirty="0">
                <a:latin typeface="Arial"/>
                <a:cs typeface="Arial"/>
              </a:rPr>
              <a:t> </a:t>
            </a:r>
            <a:r>
              <a:rPr sz="1000" spc="-5" dirty="0">
                <a:latin typeface="Arial"/>
                <a:cs typeface="Arial"/>
              </a:rPr>
              <a:t>of </a:t>
            </a:r>
            <a:r>
              <a:rPr sz="1000" i="1" spc="35" dirty="0">
                <a:latin typeface="Arial"/>
                <a:cs typeface="Arial"/>
              </a:rPr>
              <a:t>N</a:t>
            </a:r>
            <a:r>
              <a:rPr sz="1000" spc="35" dirty="0">
                <a:latin typeface="Arial"/>
                <a:cs typeface="Arial"/>
              </a:rPr>
              <a:t>,</a:t>
            </a:r>
            <a:r>
              <a:rPr sz="1000" spc="-10" dirty="0">
                <a:latin typeface="Arial"/>
                <a:cs typeface="Arial"/>
              </a:rPr>
              <a:t> </a:t>
            </a:r>
            <a:r>
              <a:rPr sz="1000" spc="-5" dirty="0">
                <a:latin typeface="Arial"/>
                <a:cs typeface="Arial"/>
              </a:rPr>
              <a:t>yielding </a:t>
            </a:r>
            <a:r>
              <a:rPr sz="1000" i="1" spc="-5" dirty="0">
                <a:latin typeface="Arial"/>
                <a:cs typeface="Arial"/>
              </a:rPr>
              <a:t>name</a:t>
            </a:r>
            <a:endParaRPr sz="1000" dirty="0">
              <a:latin typeface="Arial"/>
              <a:cs typeface="Arial"/>
            </a:endParaRPr>
          </a:p>
          <a:p>
            <a:pPr marL="307975" indent="-168275">
              <a:lnSpc>
                <a:spcPts val="1200"/>
              </a:lnSpc>
              <a:buClr>
                <a:srgbClr val="3333B2"/>
              </a:buClr>
              <a:buChar char="►"/>
              <a:tabLst>
                <a:tab pos="308610" algn="l"/>
              </a:tabLst>
            </a:pPr>
            <a:r>
              <a:rPr sz="1000" spc="-5" dirty="0">
                <a:latin typeface="Arial"/>
                <a:cs typeface="Arial"/>
              </a:rPr>
              <a:t>Name</a:t>
            </a:r>
            <a:r>
              <a:rPr sz="1000" spc="-10" dirty="0">
                <a:latin typeface="Arial"/>
                <a:cs typeface="Arial"/>
              </a:rPr>
              <a:t> </a:t>
            </a:r>
            <a:r>
              <a:rPr sz="1000" spc="-5" dirty="0">
                <a:latin typeface="Arial"/>
                <a:cs typeface="Arial"/>
              </a:rPr>
              <a:t>resolution</a:t>
            </a:r>
            <a:r>
              <a:rPr sz="1000" spc="-10" dirty="0">
                <a:latin typeface="Arial"/>
                <a:cs typeface="Arial"/>
              </a:rPr>
              <a:t> </a:t>
            </a:r>
            <a:r>
              <a:rPr sz="1000" spc="-5" dirty="0">
                <a:latin typeface="Arial"/>
                <a:cs typeface="Arial"/>
              </a:rPr>
              <a:t>continues</a:t>
            </a:r>
            <a:r>
              <a:rPr sz="1000" spc="-10" dirty="0">
                <a:latin typeface="Arial"/>
                <a:cs typeface="Arial"/>
              </a:rPr>
              <a:t> </a:t>
            </a:r>
            <a:r>
              <a:rPr sz="1000" spc="-5" dirty="0">
                <a:latin typeface="Arial"/>
                <a:cs typeface="Arial"/>
              </a:rPr>
              <a:t>with</a:t>
            </a:r>
            <a:r>
              <a:rPr sz="1000" spc="-10" dirty="0">
                <a:latin typeface="Arial"/>
                <a:cs typeface="Arial"/>
              </a:rPr>
              <a:t> </a:t>
            </a:r>
            <a:r>
              <a:rPr sz="1000" i="1" spc="-5" dirty="0">
                <a:latin typeface="Arial"/>
                <a:cs typeface="Arial"/>
              </a:rPr>
              <a:t>name</a:t>
            </a:r>
            <a:endParaRPr sz="1000" dirty="0">
              <a:latin typeface="Arial"/>
              <a:cs typeface="Arial"/>
            </a:endParaRPr>
          </a:p>
          <a:p>
            <a:pPr marL="31115">
              <a:lnSpc>
                <a:spcPct val="100000"/>
              </a:lnSpc>
              <a:spcBef>
                <a:spcPts val="1140"/>
              </a:spcBef>
            </a:pPr>
            <a:r>
              <a:rPr sz="1200" spc="-5" dirty="0">
                <a:solidFill>
                  <a:srgbClr val="3333B2"/>
                </a:solidFill>
                <a:latin typeface="Arial"/>
                <a:cs typeface="Arial"/>
              </a:rPr>
              <a:t>Observations</a:t>
            </a:r>
            <a:endParaRPr sz="1200" dirty="0">
              <a:latin typeface="Arial"/>
              <a:cs typeface="Arial"/>
            </a:endParaRPr>
          </a:p>
          <a:p>
            <a:pPr marL="307975" marR="17780" indent="-168275" algn="just">
              <a:lnSpc>
                <a:spcPct val="100000"/>
              </a:lnSpc>
              <a:spcBef>
                <a:spcPts val="540"/>
              </a:spcBef>
              <a:buClr>
                <a:srgbClr val="3333B2"/>
              </a:buClr>
              <a:buChar char="►"/>
              <a:tabLst>
                <a:tab pos="308610" algn="l"/>
              </a:tabLst>
            </a:pPr>
            <a:r>
              <a:rPr sz="1000" spc="-15" dirty="0">
                <a:latin typeface="Arial"/>
                <a:cs typeface="Arial"/>
              </a:rPr>
              <a:t>The name resolution process </a:t>
            </a:r>
            <a:r>
              <a:rPr sz="1000" spc="-10" dirty="0">
                <a:latin typeface="Arial"/>
                <a:cs typeface="Arial"/>
              </a:rPr>
              <a:t>determines that </a:t>
            </a:r>
            <a:r>
              <a:rPr sz="1000" spc="-25" dirty="0">
                <a:latin typeface="Arial"/>
                <a:cs typeface="Arial"/>
              </a:rPr>
              <a:t>we </a:t>
            </a:r>
            <a:r>
              <a:rPr sz="1000" spc="-15" dirty="0">
                <a:latin typeface="Arial"/>
                <a:cs typeface="Arial"/>
              </a:rPr>
              <a:t>read the </a:t>
            </a:r>
            <a:r>
              <a:rPr sz="1000" spc="-15" dirty="0">
                <a:solidFill>
                  <a:srgbClr val="0000FA"/>
                </a:solidFill>
                <a:latin typeface="Arial"/>
                <a:cs typeface="Arial"/>
              </a:rPr>
              <a:t>content </a:t>
            </a:r>
            <a:r>
              <a:rPr sz="1000" spc="-265" dirty="0">
                <a:solidFill>
                  <a:srgbClr val="0000FA"/>
                </a:solidFill>
                <a:latin typeface="Arial"/>
                <a:cs typeface="Arial"/>
              </a:rPr>
              <a:t> </a:t>
            </a:r>
            <a:r>
              <a:rPr sz="1000" spc="-5" dirty="0">
                <a:latin typeface="Arial"/>
                <a:cs typeface="Arial"/>
              </a:rPr>
              <a:t>of a node, in particular, the name in the other node that </a:t>
            </a:r>
            <a:r>
              <a:rPr sz="1000" spc="-10" dirty="0">
                <a:latin typeface="Arial"/>
                <a:cs typeface="Arial"/>
              </a:rPr>
              <a:t>we </a:t>
            </a:r>
            <a:r>
              <a:rPr sz="1000" spc="-5" dirty="0">
                <a:latin typeface="Arial"/>
                <a:cs typeface="Arial"/>
              </a:rPr>
              <a:t>need </a:t>
            </a:r>
            <a:r>
              <a:rPr sz="1000"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go </a:t>
            </a:r>
            <a:r>
              <a:rPr sz="1000" spc="-15" dirty="0">
                <a:latin typeface="Arial"/>
                <a:cs typeface="Arial"/>
              </a:rPr>
              <a:t>to.</a:t>
            </a:r>
            <a:endParaRPr sz="1000" dirty="0">
              <a:latin typeface="Arial"/>
              <a:cs typeface="Arial"/>
            </a:endParaRPr>
          </a:p>
          <a:p>
            <a:pPr marL="307975" marR="229870" indent="-168275" algn="just">
              <a:lnSpc>
                <a:spcPts val="1200"/>
              </a:lnSpc>
              <a:spcBef>
                <a:spcPts val="30"/>
              </a:spcBef>
              <a:buClr>
                <a:srgbClr val="3333B2"/>
              </a:buClr>
              <a:buChar char="►"/>
              <a:tabLst>
                <a:tab pos="308610" algn="l"/>
              </a:tabLst>
            </a:pPr>
            <a:r>
              <a:rPr sz="1000" spc="-5" dirty="0">
                <a:latin typeface="Arial"/>
                <a:cs typeface="Arial"/>
              </a:rPr>
              <a:t>One </a:t>
            </a:r>
            <a:r>
              <a:rPr sz="1000" spc="-20" dirty="0">
                <a:latin typeface="Arial"/>
                <a:cs typeface="Arial"/>
              </a:rPr>
              <a:t>way </a:t>
            </a:r>
            <a:r>
              <a:rPr sz="1000" spc="-5" dirty="0">
                <a:latin typeface="Arial"/>
                <a:cs typeface="Arial"/>
              </a:rPr>
              <a:t>or the </a:t>
            </a:r>
            <a:r>
              <a:rPr sz="1000" spc="-10" dirty="0">
                <a:latin typeface="Arial"/>
                <a:cs typeface="Arial"/>
              </a:rPr>
              <a:t>other, we know </a:t>
            </a:r>
            <a:r>
              <a:rPr sz="1000" spc="-5" dirty="0">
                <a:latin typeface="Arial"/>
                <a:cs typeface="Arial"/>
              </a:rPr>
              <a:t>where and </a:t>
            </a:r>
            <a:r>
              <a:rPr sz="1000" spc="-10" dirty="0">
                <a:latin typeface="Arial"/>
                <a:cs typeface="Arial"/>
              </a:rPr>
              <a:t>how </a:t>
            </a:r>
            <a:r>
              <a:rPr sz="1000" spc="-5" dirty="0">
                <a:latin typeface="Arial"/>
                <a:cs typeface="Arial"/>
              </a:rPr>
              <a:t>to </a:t>
            </a:r>
            <a:r>
              <a:rPr sz="1000" spc="5" dirty="0">
                <a:latin typeface="Arial"/>
                <a:cs typeface="Arial"/>
              </a:rPr>
              <a:t>start </a:t>
            </a:r>
            <a:r>
              <a:rPr sz="1000" spc="-5" dirty="0">
                <a:latin typeface="Arial"/>
                <a:cs typeface="Arial"/>
              </a:rPr>
              <a:t>name </a:t>
            </a:r>
            <a:r>
              <a:rPr sz="1000" spc="-265" dirty="0">
                <a:latin typeface="Arial"/>
                <a:cs typeface="Arial"/>
              </a:rPr>
              <a:t> </a:t>
            </a:r>
            <a:r>
              <a:rPr sz="1000" spc="-5" dirty="0">
                <a:latin typeface="Arial"/>
                <a:cs typeface="Arial"/>
              </a:rPr>
              <a:t>resolution</a:t>
            </a:r>
            <a:r>
              <a:rPr sz="1000" spc="-10" dirty="0">
                <a:latin typeface="Arial"/>
                <a:cs typeface="Arial"/>
              </a:rPr>
              <a:t> given</a:t>
            </a:r>
            <a:r>
              <a:rPr sz="1000" spc="-5" dirty="0">
                <a:latin typeface="Arial"/>
                <a:cs typeface="Arial"/>
              </a:rPr>
              <a:t> </a:t>
            </a:r>
            <a:r>
              <a:rPr sz="1000" i="1" spc="-5" dirty="0">
                <a:latin typeface="Arial"/>
                <a:cs typeface="Arial"/>
              </a:rPr>
              <a:t>name</a:t>
            </a:r>
            <a:endParaRPr sz="1000" dirty="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3963238" y="716"/>
            <a:ext cx="57848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Name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resolution</a:t>
            </a:r>
            <a:endParaRPr sz="600">
              <a:latin typeface="Arial"/>
              <a:cs typeface="Arial"/>
            </a:endParaRPr>
          </a:p>
        </p:txBody>
      </p:sp>
      <p:sp>
        <p:nvSpPr>
          <p:cNvPr id="4" name="object 4"/>
          <p:cNvSpPr txBox="1"/>
          <p:nvPr/>
        </p:nvSpPr>
        <p:spPr>
          <a:xfrm>
            <a:off x="95300" y="188846"/>
            <a:ext cx="4165600" cy="712470"/>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Name</a:t>
            </a:r>
            <a:r>
              <a:rPr sz="1400" spc="-25" dirty="0">
                <a:solidFill>
                  <a:srgbClr val="3333B2"/>
                </a:solidFill>
                <a:latin typeface="Arial"/>
                <a:cs typeface="Arial"/>
              </a:rPr>
              <a:t> </a:t>
            </a:r>
            <a:r>
              <a:rPr sz="1400" spc="10" dirty="0">
                <a:solidFill>
                  <a:srgbClr val="3333B2"/>
                </a:solidFill>
                <a:latin typeface="Arial"/>
                <a:cs typeface="Arial"/>
              </a:rPr>
              <a:t>linking</a:t>
            </a:r>
            <a:endParaRPr sz="1400">
              <a:latin typeface="Arial"/>
              <a:cs typeface="Arial"/>
            </a:endParaRPr>
          </a:p>
          <a:p>
            <a:pPr>
              <a:lnSpc>
                <a:spcPct val="100000"/>
              </a:lnSpc>
              <a:spcBef>
                <a:spcPts val="10"/>
              </a:spcBef>
            </a:pPr>
            <a:endParaRPr sz="1950">
              <a:latin typeface="Arial"/>
              <a:cs typeface="Arial"/>
            </a:endParaRPr>
          </a:p>
          <a:p>
            <a:pPr marL="259715">
              <a:lnSpc>
                <a:spcPct val="100000"/>
              </a:lnSpc>
            </a:pPr>
            <a:r>
              <a:rPr sz="1200" spc="-20" dirty="0">
                <a:solidFill>
                  <a:srgbClr val="3333B2"/>
                </a:solidFill>
                <a:latin typeface="Arial"/>
                <a:cs typeface="Arial"/>
              </a:rPr>
              <a:t>The</a:t>
            </a:r>
            <a:r>
              <a:rPr sz="1200" spc="-10" dirty="0">
                <a:solidFill>
                  <a:srgbClr val="3333B2"/>
                </a:solidFill>
                <a:latin typeface="Arial"/>
                <a:cs typeface="Arial"/>
              </a:rPr>
              <a:t> </a:t>
            </a:r>
            <a:r>
              <a:rPr sz="1200" spc="-15" dirty="0">
                <a:solidFill>
                  <a:srgbClr val="3333B2"/>
                </a:solidFill>
                <a:latin typeface="Arial"/>
                <a:cs typeface="Arial"/>
              </a:rPr>
              <a:t>concept</a:t>
            </a:r>
            <a:r>
              <a:rPr sz="1200" spc="-5" dirty="0">
                <a:solidFill>
                  <a:srgbClr val="3333B2"/>
                </a:solidFill>
                <a:latin typeface="Arial"/>
                <a:cs typeface="Arial"/>
              </a:rPr>
              <a:t> </a:t>
            </a:r>
            <a:r>
              <a:rPr sz="1200" spc="-15" dirty="0">
                <a:solidFill>
                  <a:srgbClr val="3333B2"/>
                </a:solidFill>
                <a:latin typeface="Arial"/>
                <a:cs typeface="Arial"/>
              </a:rPr>
              <a:t>of</a:t>
            </a:r>
            <a:r>
              <a:rPr sz="1200" spc="-10" dirty="0">
                <a:solidFill>
                  <a:srgbClr val="3333B2"/>
                </a:solidFill>
                <a:latin typeface="Arial"/>
                <a:cs typeface="Arial"/>
              </a:rPr>
              <a:t> </a:t>
            </a:r>
            <a:r>
              <a:rPr sz="1200" spc="-20" dirty="0">
                <a:solidFill>
                  <a:srgbClr val="3333B2"/>
                </a:solidFill>
                <a:latin typeface="Arial"/>
                <a:cs typeface="Arial"/>
              </a:rPr>
              <a:t>a</a:t>
            </a:r>
            <a:r>
              <a:rPr sz="1200" spc="-10" dirty="0">
                <a:solidFill>
                  <a:srgbClr val="3333B2"/>
                </a:solidFill>
                <a:latin typeface="Arial"/>
                <a:cs typeface="Arial"/>
              </a:rPr>
              <a:t> </a:t>
            </a:r>
            <a:r>
              <a:rPr sz="1200" spc="-15" dirty="0">
                <a:solidFill>
                  <a:srgbClr val="3333B2"/>
                </a:solidFill>
                <a:latin typeface="Arial"/>
                <a:cs typeface="Arial"/>
              </a:rPr>
              <a:t>symbolic</a:t>
            </a:r>
            <a:r>
              <a:rPr sz="1200" spc="-10" dirty="0">
                <a:solidFill>
                  <a:srgbClr val="3333B2"/>
                </a:solidFill>
                <a:latin typeface="Arial"/>
                <a:cs typeface="Arial"/>
              </a:rPr>
              <a:t> </a:t>
            </a:r>
            <a:r>
              <a:rPr sz="1200" spc="-15" dirty="0">
                <a:solidFill>
                  <a:srgbClr val="3333B2"/>
                </a:solidFill>
                <a:latin typeface="Arial"/>
                <a:cs typeface="Arial"/>
              </a:rPr>
              <a:t>link</a:t>
            </a:r>
            <a:r>
              <a:rPr sz="1200" spc="-5" dirty="0">
                <a:solidFill>
                  <a:srgbClr val="3333B2"/>
                </a:solidFill>
                <a:latin typeface="Arial"/>
                <a:cs typeface="Arial"/>
              </a:rPr>
              <a:t> </a:t>
            </a:r>
            <a:r>
              <a:rPr sz="1200" spc="-20" dirty="0">
                <a:solidFill>
                  <a:srgbClr val="3333B2"/>
                </a:solidFill>
                <a:latin typeface="Arial"/>
                <a:cs typeface="Arial"/>
              </a:rPr>
              <a:t>explained</a:t>
            </a:r>
            <a:r>
              <a:rPr sz="1200" spc="-15" dirty="0">
                <a:solidFill>
                  <a:srgbClr val="3333B2"/>
                </a:solidFill>
                <a:latin typeface="Arial"/>
                <a:cs typeface="Arial"/>
              </a:rPr>
              <a:t> in</a:t>
            </a:r>
            <a:r>
              <a:rPr sz="1200" spc="-5" dirty="0">
                <a:solidFill>
                  <a:srgbClr val="3333B2"/>
                </a:solidFill>
                <a:latin typeface="Arial"/>
                <a:cs typeface="Arial"/>
              </a:rPr>
              <a:t> </a:t>
            </a:r>
            <a:r>
              <a:rPr sz="1200" spc="-20" dirty="0">
                <a:solidFill>
                  <a:srgbClr val="3333B2"/>
                </a:solidFill>
                <a:latin typeface="Arial"/>
                <a:cs typeface="Arial"/>
              </a:rPr>
              <a:t>a</a:t>
            </a:r>
            <a:r>
              <a:rPr sz="1200" spc="-10" dirty="0">
                <a:solidFill>
                  <a:srgbClr val="3333B2"/>
                </a:solidFill>
                <a:latin typeface="Arial"/>
                <a:cs typeface="Arial"/>
              </a:rPr>
              <a:t> </a:t>
            </a:r>
            <a:r>
              <a:rPr sz="1200" spc="-20" dirty="0">
                <a:solidFill>
                  <a:srgbClr val="3333B2"/>
                </a:solidFill>
                <a:latin typeface="Arial"/>
                <a:cs typeface="Arial"/>
              </a:rPr>
              <a:t>naming</a:t>
            </a:r>
            <a:r>
              <a:rPr sz="1200" spc="-5" dirty="0">
                <a:solidFill>
                  <a:srgbClr val="3333B2"/>
                </a:solidFill>
                <a:latin typeface="Arial"/>
                <a:cs typeface="Arial"/>
              </a:rPr>
              <a:t> </a:t>
            </a:r>
            <a:r>
              <a:rPr sz="1200" spc="-25" dirty="0">
                <a:solidFill>
                  <a:srgbClr val="3333B2"/>
                </a:solidFill>
                <a:latin typeface="Arial"/>
                <a:cs typeface="Arial"/>
              </a:rPr>
              <a:t>graph</a:t>
            </a:r>
            <a:endParaRPr sz="1200">
              <a:latin typeface="Arial"/>
              <a:cs typeface="Arial"/>
            </a:endParaRPr>
          </a:p>
        </p:txBody>
      </p:sp>
      <p:sp>
        <p:nvSpPr>
          <p:cNvPr id="5" name="object 5"/>
          <p:cNvSpPr/>
          <p:nvPr/>
        </p:nvSpPr>
        <p:spPr>
          <a:xfrm>
            <a:off x="1912682" y="1024524"/>
            <a:ext cx="687705" cy="866775"/>
          </a:xfrm>
          <a:custGeom>
            <a:avLst/>
            <a:gdLst/>
            <a:ahLst/>
            <a:cxnLst/>
            <a:rect l="l" t="t" r="r" b="b"/>
            <a:pathLst>
              <a:path w="687705" h="866775">
                <a:moveTo>
                  <a:pt x="343615" y="866521"/>
                </a:moveTo>
                <a:lnTo>
                  <a:pt x="493013" y="866521"/>
                </a:lnTo>
                <a:lnTo>
                  <a:pt x="493013" y="717120"/>
                </a:lnTo>
                <a:lnTo>
                  <a:pt x="343615" y="717120"/>
                </a:lnTo>
                <a:lnTo>
                  <a:pt x="343615" y="866521"/>
                </a:lnTo>
                <a:close/>
              </a:path>
              <a:path w="687705" h="866775">
                <a:moveTo>
                  <a:pt x="0" y="448200"/>
                </a:moveTo>
                <a:lnTo>
                  <a:pt x="149397" y="448200"/>
                </a:lnTo>
                <a:lnTo>
                  <a:pt x="149397" y="298802"/>
                </a:lnTo>
                <a:lnTo>
                  <a:pt x="0" y="298802"/>
                </a:lnTo>
                <a:lnTo>
                  <a:pt x="0" y="448200"/>
                </a:lnTo>
                <a:close/>
              </a:path>
              <a:path w="687705" h="866775">
                <a:moveTo>
                  <a:pt x="537843" y="149394"/>
                </a:moveTo>
                <a:lnTo>
                  <a:pt x="687241" y="149394"/>
                </a:lnTo>
                <a:lnTo>
                  <a:pt x="687241" y="0"/>
                </a:lnTo>
                <a:lnTo>
                  <a:pt x="537843" y="0"/>
                </a:lnTo>
                <a:lnTo>
                  <a:pt x="537843" y="149394"/>
                </a:lnTo>
                <a:close/>
              </a:path>
            </a:pathLst>
          </a:custGeom>
          <a:ln w="5267">
            <a:solidFill>
              <a:srgbClr val="231F20"/>
            </a:solidFill>
          </a:ln>
        </p:spPr>
        <p:txBody>
          <a:bodyPr wrap="square" lIns="0" tIns="0" rIns="0" bIns="0" rtlCol="0"/>
          <a:lstStyle/>
          <a:p>
            <a:endParaRPr/>
          </a:p>
        </p:txBody>
      </p:sp>
      <p:sp>
        <p:nvSpPr>
          <p:cNvPr id="6" name="object 6"/>
          <p:cNvSpPr txBox="1"/>
          <p:nvPr/>
        </p:nvSpPr>
        <p:spPr>
          <a:xfrm>
            <a:off x="1629353" y="1950759"/>
            <a:ext cx="3676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.procmail</a:t>
            </a:r>
            <a:endParaRPr sz="650">
              <a:latin typeface="Arial"/>
              <a:cs typeface="Arial"/>
            </a:endParaRPr>
          </a:p>
        </p:txBody>
      </p:sp>
      <p:sp>
        <p:nvSpPr>
          <p:cNvPr id="7" name="object 7"/>
          <p:cNvSpPr txBox="1"/>
          <p:nvPr/>
        </p:nvSpPr>
        <p:spPr>
          <a:xfrm>
            <a:off x="1935235" y="1331624"/>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n1</a:t>
            </a:r>
            <a:endParaRPr sz="650">
              <a:latin typeface="Arial"/>
              <a:cs typeface="Arial"/>
            </a:endParaRPr>
          </a:p>
        </p:txBody>
      </p:sp>
      <p:sp>
        <p:nvSpPr>
          <p:cNvPr id="8" name="object 8"/>
          <p:cNvSpPr txBox="1"/>
          <p:nvPr/>
        </p:nvSpPr>
        <p:spPr>
          <a:xfrm>
            <a:off x="1586114" y="1749810"/>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n2</a:t>
            </a:r>
            <a:endParaRPr sz="650">
              <a:latin typeface="Arial"/>
              <a:cs typeface="Arial"/>
            </a:endParaRPr>
          </a:p>
        </p:txBody>
      </p:sp>
      <p:sp>
        <p:nvSpPr>
          <p:cNvPr id="9" name="object 9"/>
          <p:cNvSpPr txBox="1"/>
          <p:nvPr/>
        </p:nvSpPr>
        <p:spPr>
          <a:xfrm>
            <a:off x="3005354" y="1330867"/>
            <a:ext cx="443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n5 </a:t>
            </a:r>
            <a:r>
              <a:rPr sz="650" spc="85" dirty="0">
                <a:solidFill>
                  <a:srgbClr val="231F20"/>
                </a:solidFill>
                <a:latin typeface="Arial"/>
                <a:cs typeface="Arial"/>
              </a:rPr>
              <a:t> </a:t>
            </a:r>
            <a:r>
              <a:rPr sz="650" spc="5" dirty="0">
                <a:solidFill>
                  <a:srgbClr val="231F20"/>
                </a:solidFill>
                <a:latin typeface="Arial"/>
                <a:cs typeface="Arial"/>
              </a:rPr>
              <a:t>"/keys"</a:t>
            </a:r>
            <a:endParaRPr sz="650">
              <a:latin typeface="Arial"/>
              <a:cs typeface="Arial"/>
            </a:endParaRPr>
          </a:p>
        </p:txBody>
      </p:sp>
      <p:sp>
        <p:nvSpPr>
          <p:cNvPr id="10" name="object 10"/>
          <p:cNvSpPr txBox="1"/>
          <p:nvPr/>
        </p:nvSpPr>
        <p:spPr>
          <a:xfrm>
            <a:off x="2468014" y="1031840"/>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n0</a:t>
            </a:r>
            <a:endParaRPr sz="650">
              <a:latin typeface="Arial"/>
              <a:cs typeface="Arial"/>
            </a:endParaRPr>
          </a:p>
        </p:txBody>
      </p:sp>
      <p:sp>
        <p:nvSpPr>
          <p:cNvPr id="11" name="object 11"/>
          <p:cNvSpPr txBox="1"/>
          <p:nvPr/>
        </p:nvSpPr>
        <p:spPr>
          <a:xfrm>
            <a:off x="1929917" y="1749052"/>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n3</a:t>
            </a:r>
            <a:endParaRPr sz="650">
              <a:latin typeface="Arial"/>
              <a:cs typeface="Arial"/>
            </a:endParaRPr>
          </a:p>
        </p:txBody>
      </p:sp>
      <p:sp>
        <p:nvSpPr>
          <p:cNvPr id="12" name="object 12"/>
          <p:cNvSpPr txBox="1"/>
          <p:nvPr/>
        </p:nvSpPr>
        <p:spPr>
          <a:xfrm>
            <a:off x="2612974" y="2167233"/>
            <a:ext cx="8959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n6 </a:t>
            </a:r>
            <a:r>
              <a:rPr sz="650" spc="15" dirty="0">
                <a:solidFill>
                  <a:srgbClr val="231F20"/>
                </a:solidFill>
                <a:latin typeface="Arial"/>
                <a:cs typeface="Arial"/>
              </a:rPr>
              <a:t> </a:t>
            </a:r>
            <a:r>
              <a:rPr sz="650" spc="5" dirty="0">
                <a:solidFill>
                  <a:srgbClr val="231F20"/>
                </a:solidFill>
                <a:latin typeface="Arial"/>
                <a:cs typeface="Arial"/>
              </a:rPr>
              <a:t>"/home/steen/keys"</a:t>
            </a:r>
            <a:endParaRPr sz="650">
              <a:latin typeface="Arial"/>
              <a:cs typeface="Arial"/>
            </a:endParaRPr>
          </a:p>
        </p:txBody>
      </p:sp>
      <p:sp>
        <p:nvSpPr>
          <p:cNvPr id="13" name="object 13"/>
          <p:cNvSpPr txBox="1"/>
          <p:nvPr/>
        </p:nvSpPr>
        <p:spPr>
          <a:xfrm>
            <a:off x="2105235" y="1958522"/>
            <a:ext cx="2317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mbox</a:t>
            </a:r>
            <a:endParaRPr sz="650">
              <a:latin typeface="Arial"/>
              <a:cs typeface="Arial"/>
            </a:endParaRPr>
          </a:p>
        </p:txBody>
      </p:sp>
      <p:sp>
        <p:nvSpPr>
          <p:cNvPr id="14" name="object 14"/>
          <p:cNvSpPr txBox="1"/>
          <p:nvPr/>
        </p:nvSpPr>
        <p:spPr>
          <a:xfrm>
            <a:off x="2912001" y="1760683"/>
            <a:ext cx="668020" cy="294640"/>
          </a:xfrm>
          <a:prstGeom prst="rect">
            <a:avLst/>
          </a:prstGeom>
        </p:spPr>
        <p:txBody>
          <a:bodyPr vert="horz" wrap="square" lIns="0" tIns="12065" rIns="0" bIns="0" rtlCol="0">
            <a:spAutoFit/>
          </a:bodyPr>
          <a:lstStyle/>
          <a:p>
            <a:pPr marL="27305" marR="5080" indent="-15240">
              <a:lnSpc>
                <a:spcPct val="135600"/>
              </a:lnSpc>
              <a:spcBef>
                <a:spcPts val="95"/>
              </a:spcBef>
            </a:pPr>
            <a:r>
              <a:rPr sz="650" spc="5" dirty="0">
                <a:solidFill>
                  <a:srgbClr val="231F20"/>
                </a:solidFill>
                <a:latin typeface="Arial"/>
                <a:cs typeface="Arial"/>
              </a:rPr>
              <a:t>Data</a:t>
            </a:r>
            <a:r>
              <a:rPr sz="650" spc="-25" dirty="0">
                <a:solidFill>
                  <a:srgbClr val="231F20"/>
                </a:solidFill>
                <a:latin typeface="Arial"/>
                <a:cs typeface="Arial"/>
              </a:rPr>
              <a:t> </a:t>
            </a:r>
            <a:r>
              <a:rPr sz="650" spc="5" dirty="0">
                <a:solidFill>
                  <a:srgbClr val="231F20"/>
                </a:solidFill>
                <a:latin typeface="Arial"/>
                <a:cs typeface="Arial"/>
              </a:rPr>
              <a:t>stored</a:t>
            </a:r>
            <a:r>
              <a:rPr sz="650" spc="-25" dirty="0">
                <a:solidFill>
                  <a:srgbClr val="231F20"/>
                </a:solidFill>
                <a:latin typeface="Arial"/>
                <a:cs typeface="Arial"/>
              </a:rPr>
              <a:t> </a:t>
            </a:r>
            <a:r>
              <a:rPr sz="650" spc="5" dirty="0">
                <a:solidFill>
                  <a:srgbClr val="231F20"/>
                </a:solidFill>
                <a:latin typeface="Arial"/>
                <a:cs typeface="Arial"/>
              </a:rPr>
              <a:t>in</a:t>
            </a:r>
            <a:r>
              <a:rPr sz="650" spc="-25" dirty="0">
                <a:solidFill>
                  <a:srgbClr val="231F20"/>
                </a:solidFill>
                <a:latin typeface="Arial"/>
                <a:cs typeface="Arial"/>
              </a:rPr>
              <a:t> </a:t>
            </a:r>
            <a:r>
              <a:rPr sz="650" spc="5" dirty="0">
                <a:solidFill>
                  <a:srgbClr val="231F20"/>
                </a:solidFill>
                <a:latin typeface="Arial"/>
                <a:cs typeface="Arial"/>
              </a:rPr>
              <a:t>n6 </a:t>
            </a:r>
            <a:r>
              <a:rPr sz="650" spc="-165" dirty="0">
                <a:solidFill>
                  <a:srgbClr val="231F20"/>
                </a:solidFill>
                <a:latin typeface="Arial"/>
                <a:cs typeface="Arial"/>
              </a:rPr>
              <a:t> </a:t>
            </a:r>
            <a:r>
              <a:rPr sz="650" spc="5" dirty="0">
                <a:solidFill>
                  <a:srgbClr val="231F20"/>
                </a:solidFill>
                <a:latin typeface="Arial"/>
                <a:cs typeface="Arial"/>
              </a:rPr>
              <a:t>"/keys"</a:t>
            </a:r>
            <a:endParaRPr sz="650">
              <a:latin typeface="Arial"/>
              <a:cs typeface="Arial"/>
            </a:endParaRPr>
          </a:p>
        </p:txBody>
      </p:sp>
      <p:sp>
        <p:nvSpPr>
          <p:cNvPr id="15" name="object 15"/>
          <p:cNvSpPr txBox="1"/>
          <p:nvPr/>
        </p:nvSpPr>
        <p:spPr>
          <a:xfrm>
            <a:off x="2273722" y="1749810"/>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n4</a:t>
            </a:r>
            <a:endParaRPr sz="650">
              <a:latin typeface="Arial"/>
              <a:cs typeface="Arial"/>
            </a:endParaRPr>
          </a:p>
        </p:txBody>
      </p:sp>
      <p:sp>
        <p:nvSpPr>
          <p:cNvPr id="16" name="object 16"/>
          <p:cNvSpPr/>
          <p:nvPr/>
        </p:nvSpPr>
        <p:spPr>
          <a:xfrm>
            <a:off x="1183606" y="1133283"/>
            <a:ext cx="2025014" cy="937260"/>
          </a:xfrm>
          <a:custGeom>
            <a:avLst/>
            <a:gdLst/>
            <a:ahLst/>
            <a:cxnLst/>
            <a:rect l="l" t="t" r="r" b="b"/>
            <a:pathLst>
              <a:path w="2025014" h="937260">
                <a:moveTo>
                  <a:pt x="39826" y="0"/>
                </a:moveTo>
                <a:lnTo>
                  <a:pt x="458719" y="0"/>
                </a:lnTo>
                <a:lnTo>
                  <a:pt x="474181" y="3143"/>
                </a:lnTo>
                <a:lnTo>
                  <a:pt x="486844" y="11703"/>
                </a:lnTo>
                <a:lnTo>
                  <a:pt x="495401" y="24369"/>
                </a:lnTo>
                <a:lnTo>
                  <a:pt x="498543" y="39834"/>
                </a:lnTo>
                <a:lnTo>
                  <a:pt x="498543" y="299616"/>
                </a:lnTo>
                <a:lnTo>
                  <a:pt x="495401" y="315080"/>
                </a:lnTo>
                <a:lnTo>
                  <a:pt x="486844" y="327745"/>
                </a:lnTo>
                <a:lnTo>
                  <a:pt x="474181" y="336302"/>
                </a:lnTo>
                <a:lnTo>
                  <a:pt x="458719" y="339445"/>
                </a:lnTo>
                <a:lnTo>
                  <a:pt x="39826" y="339441"/>
                </a:lnTo>
                <a:lnTo>
                  <a:pt x="24359" y="336299"/>
                </a:lnTo>
                <a:lnTo>
                  <a:pt x="11696" y="327743"/>
                </a:lnTo>
                <a:lnTo>
                  <a:pt x="3141" y="315080"/>
                </a:lnTo>
                <a:lnTo>
                  <a:pt x="0" y="299616"/>
                </a:lnTo>
                <a:lnTo>
                  <a:pt x="0" y="39834"/>
                </a:lnTo>
                <a:lnTo>
                  <a:pt x="3141" y="24369"/>
                </a:lnTo>
                <a:lnTo>
                  <a:pt x="11696" y="11703"/>
                </a:lnTo>
                <a:lnTo>
                  <a:pt x="24359" y="3143"/>
                </a:lnTo>
                <a:lnTo>
                  <a:pt x="39826" y="0"/>
                </a:lnTo>
                <a:close/>
              </a:path>
              <a:path w="2025014" h="937260">
                <a:moveTo>
                  <a:pt x="498543" y="233369"/>
                </a:moveTo>
                <a:lnTo>
                  <a:pt x="729075" y="234859"/>
                </a:lnTo>
              </a:path>
              <a:path w="2025014" h="937260">
                <a:moveTo>
                  <a:pt x="1785652" y="802583"/>
                </a:moveTo>
                <a:lnTo>
                  <a:pt x="1980460" y="802583"/>
                </a:lnTo>
                <a:lnTo>
                  <a:pt x="1997748" y="806119"/>
                </a:lnTo>
                <a:lnTo>
                  <a:pt x="2011906" y="815748"/>
                </a:lnTo>
                <a:lnTo>
                  <a:pt x="2021472" y="830001"/>
                </a:lnTo>
                <a:lnTo>
                  <a:pt x="2024986" y="847406"/>
                </a:lnTo>
                <a:lnTo>
                  <a:pt x="2024986" y="892222"/>
                </a:lnTo>
                <a:lnTo>
                  <a:pt x="2021472" y="909626"/>
                </a:lnTo>
                <a:lnTo>
                  <a:pt x="2011906" y="923878"/>
                </a:lnTo>
                <a:lnTo>
                  <a:pt x="1997748" y="933509"/>
                </a:lnTo>
                <a:lnTo>
                  <a:pt x="1980460" y="937046"/>
                </a:lnTo>
                <a:lnTo>
                  <a:pt x="1785652" y="937042"/>
                </a:lnTo>
                <a:lnTo>
                  <a:pt x="1768360" y="933506"/>
                </a:lnTo>
                <a:lnTo>
                  <a:pt x="1754203" y="923878"/>
                </a:lnTo>
                <a:lnTo>
                  <a:pt x="1744639" y="909629"/>
                </a:lnTo>
                <a:lnTo>
                  <a:pt x="1741127" y="892227"/>
                </a:lnTo>
                <a:lnTo>
                  <a:pt x="1741127" y="847402"/>
                </a:lnTo>
                <a:lnTo>
                  <a:pt x="1744639" y="829998"/>
                </a:lnTo>
                <a:lnTo>
                  <a:pt x="1754202" y="815748"/>
                </a:lnTo>
                <a:lnTo>
                  <a:pt x="1768356" y="806121"/>
                </a:lnTo>
                <a:lnTo>
                  <a:pt x="1785642" y="802586"/>
                </a:lnTo>
                <a:close/>
              </a:path>
            </a:pathLst>
          </a:custGeom>
          <a:ln w="5267">
            <a:solidFill>
              <a:srgbClr val="231F20"/>
            </a:solidFill>
          </a:ln>
        </p:spPr>
        <p:txBody>
          <a:bodyPr wrap="square" lIns="0" tIns="0" rIns="0" bIns="0" rtlCol="0"/>
          <a:lstStyle/>
          <a:p>
            <a:endParaRPr/>
          </a:p>
        </p:txBody>
      </p:sp>
      <p:sp>
        <p:nvSpPr>
          <p:cNvPr id="17" name="object 17"/>
          <p:cNvSpPr txBox="1"/>
          <p:nvPr/>
        </p:nvSpPr>
        <p:spPr>
          <a:xfrm>
            <a:off x="1526155" y="1509981"/>
            <a:ext cx="1803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elke</a:t>
            </a:r>
            <a:endParaRPr sz="650">
              <a:latin typeface="Arial"/>
              <a:cs typeface="Arial"/>
            </a:endParaRPr>
          </a:p>
        </p:txBody>
      </p:sp>
      <p:sp>
        <p:nvSpPr>
          <p:cNvPr id="18" name="object 18"/>
          <p:cNvSpPr txBox="1"/>
          <p:nvPr/>
        </p:nvSpPr>
        <p:spPr>
          <a:xfrm>
            <a:off x="2273722" y="1509981"/>
            <a:ext cx="23177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steen</a:t>
            </a:r>
            <a:endParaRPr sz="650">
              <a:latin typeface="Arial"/>
              <a:cs typeface="Arial"/>
            </a:endParaRPr>
          </a:p>
        </p:txBody>
      </p:sp>
      <p:sp>
        <p:nvSpPr>
          <p:cNvPr id="19" name="object 19"/>
          <p:cNvSpPr txBox="1"/>
          <p:nvPr/>
        </p:nvSpPr>
        <p:spPr>
          <a:xfrm>
            <a:off x="2064252" y="1106978"/>
            <a:ext cx="23685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home</a:t>
            </a:r>
            <a:endParaRPr sz="650">
              <a:latin typeface="Arial"/>
              <a:cs typeface="Arial"/>
            </a:endParaRPr>
          </a:p>
        </p:txBody>
      </p:sp>
      <p:sp>
        <p:nvSpPr>
          <p:cNvPr id="20" name="object 20"/>
          <p:cNvSpPr txBox="1"/>
          <p:nvPr/>
        </p:nvSpPr>
        <p:spPr>
          <a:xfrm>
            <a:off x="2736682" y="1106978"/>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keys</a:t>
            </a:r>
            <a:endParaRPr sz="650">
              <a:latin typeface="Arial"/>
              <a:cs typeface="Arial"/>
            </a:endParaRPr>
          </a:p>
        </p:txBody>
      </p:sp>
      <p:sp>
        <p:nvSpPr>
          <p:cNvPr id="21" name="object 21"/>
          <p:cNvSpPr txBox="1"/>
          <p:nvPr/>
        </p:nvSpPr>
        <p:spPr>
          <a:xfrm>
            <a:off x="1033593" y="966817"/>
            <a:ext cx="668020" cy="485775"/>
          </a:xfrm>
          <a:prstGeom prst="rect">
            <a:avLst/>
          </a:prstGeom>
        </p:spPr>
        <p:txBody>
          <a:bodyPr vert="horz" wrap="square" lIns="0" tIns="12065" rIns="0" bIns="0" rtlCol="0">
            <a:spAutoFit/>
          </a:bodyPr>
          <a:lstStyle/>
          <a:p>
            <a:pPr marL="180340" marR="5080" indent="-168275">
              <a:lnSpc>
                <a:spcPct val="137100"/>
              </a:lnSpc>
              <a:spcBef>
                <a:spcPts val="95"/>
              </a:spcBef>
            </a:pPr>
            <a:r>
              <a:rPr sz="650" spc="5" dirty="0">
                <a:solidFill>
                  <a:srgbClr val="231F20"/>
                </a:solidFill>
                <a:latin typeface="Arial"/>
                <a:cs typeface="Arial"/>
              </a:rPr>
              <a:t>Data</a:t>
            </a:r>
            <a:r>
              <a:rPr sz="650" spc="-25" dirty="0">
                <a:solidFill>
                  <a:srgbClr val="231F20"/>
                </a:solidFill>
                <a:latin typeface="Arial"/>
                <a:cs typeface="Arial"/>
              </a:rPr>
              <a:t> </a:t>
            </a:r>
            <a:r>
              <a:rPr sz="650" spc="5" dirty="0">
                <a:solidFill>
                  <a:srgbClr val="231F20"/>
                </a:solidFill>
                <a:latin typeface="Arial"/>
                <a:cs typeface="Arial"/>
              </a:rPr>
              <a:t>stored</a:t>
            </a:r>
            <a:r>
              <a:rPr sz="650" spc="-25" dirty="0">
                <a:solidFill>
                  <a:srgbClr val="231F20"/>
                </a:solidFill>
                <a:latin typeface="Arial"/>
                <a:cs typeface="Arial"/>
              </a:rPr>
              <a:t> </a:t>
            </a:r>
            <a:r>
              <a:rPr sz="650" spc="5" dirty="0">
                <a:solidFill>
                  <a:srgbClr val="231F20"/>
                </a:solidFill>
                <a:latin typeface="Arial"/>
                <a:cs typeface="Arial"/>
              </a:rPr>
              <a:t>in</a:t>
            </a:r>
            <a:r>
              <a:rPr sz="650" spc="-25" dirty="0">
                <a:solidFill>
                  <a:srgbClr val="231F20"/>
                </a:solidFill>
                <a:latin typeface="Arial"/>
                <a:cs typeface="Arial"/>
              </a:rPr>
              <a:t> </a:t>
            </a:r>
            <a:r>
              <a:rPr sz="650" spc="5" dirty="0">
                <a:solidFill>
                  <a:srgbClr val="231F20"/>
                </a:solidFill>
                <a:latin typeface="Arial"/>
                <a:cs typeface="Arial"/>
              </a:rPr>
              <a:t>n1 </a:t>
            </a:r>
            <a:r>
              <a:rPr sz="650" spc="-165" dirty="0">
                <a:solidFill>
                  <a:srgbClr val="231F20"/>
                </a:solidFill>
                <a:latin typeface="Arial"/>
                <a:cs typeface="Arial"/>
              </a:rPr>
              <a:t> </a:t>
            </a:r>
            <a:r>
              <a:rPr sz="650" spc="5" dirty="0">
                <a:solidFill>
                  <a:srgbClr val="231F20"/>
                </a:solidFill>
                <a:latin typeface="Arial"/>
                <a:cs typeface="Arial"/>
              </a:rPr>
              <a:t>n2:</a:t>
            </a:r>
            <a:r>
              <a:rPr sz="650" spc="-15" dirty="0">
                <a:solidFill>
                  <a:srgbClr val="231F20"/>
                </a:solidFill>
                <a:latin typeface="Arial"/>
                <a:cs typeface="Arial"/>
              </a:rPr>
              <a:t> </a:t>
            </a:r>
            <a:r>
              <a:rPr sz="650" spc="5" dirty="0">
                <a:solidFill>
                  <a:srgbClr val="231F20"/>
                </a:solidFill>
                <a:latin typeface="Arial"/>
                <a:cs typeface="Arial"/>
              </a:rPr>
              <a:t>"elke"</a:t>
            </a:r>
            <a:endParaRPr sz="650">
              <a:latin typeface="Arial"/>
              <a:cs typeface="Arial"/>
            </a:endParaRPr>
          </a:p>
          <a:p>
            <a:pPr marL="180340" marR="72390">
              <a:lnSpc>
                <a:spcPts val="740"/>
              </a:lnSpc>
              <a:spcBef>
                <a:spcPts val="20"/>
              </a:spcBef>
            </a:pPr>
            <a:r>
              <a:rPr sz="650" spc="5" dirty="0">
                <a:solidFill>
                  <a:srgbClr val="231F20"/>
                </a:solidFill>
                <a:latin typeface="Arial"/>
                <a:cs typeface="Arial"/>
              </a:rPr>
              <a:t>n3: "max" </a:t>
            </a:r>
            <a:r>
              <a:rPr sz="650" spc="10" dirty="0">
                <a:solidFill>
                  <a:srgbClr val="231F20"/>
                </a:solidFill>
                <a:latin typeface="Arial"/>
                <a:cs typeface="Arial"/>
              </a:rPr>
              <a:t> </a:t>
            </a:r>
            <a:r>
              <a:rPr sz="650" spc="5" dirty="0">
                <a:solidFill>
                  <a:srgbClr val="231F20"/>
                </a:solidFill>
                <a:latin typeface="Arial"/>
                <a:cs typeface="Arial"/>
              </a:rPr>
              <a:t>n4:</a:t>
            </a:r>
            <a:r>
              <a:rPr sz="650" dirty="0">
                <a:solidFill>
                  <a:srgbClr val="231F20"/>
                </a:solidFill>
                <a:latin typeface="Arial"/>
                <a:cs typeface="Arial"/>
              </a:rPr>
              <a:t> </a:t>
            </a:r>
            <a:r>
              <a:rPr sz="650" spc="5" dirty="0">
                <a:solidFill>
                  <a:srgbClr val="231F20"/>
                </a:solidFill>
                <a:latin typeface="Arial"/>
                <a:cs typeface="Arial"/>
              </a:rPr>
              <a:t>"steen"</a:t>
            </a:r>
            <a:endParaRPr sz="650">
              <a:latin typeface="Arial"/>
              <a:cs typeface="Arial"/>
            </a:endParaRPr>
          </a:p>
        </p:txBody>
      </p:sp>
      <p:sp>
        <p:nvSpPr>
          <p:cNvPr id="22" name="object 22"/>
          <p:cNvSpPr txBox="1"/>
          <p:nvPr/>
        </p:nvSpPr>
        <p:spPr>
          <a:xfrm>
            <a:off x="1795584" y="1554756"/>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max</a:t>
            </a:r>
            <a:endParaRPr sz="650">
              <a:latin typeface="Arial"/>
              <a:cs typeface="Arial"/>
            </a:endParaRPr>
          </a:p>
        </p:txBody>
      </p:sp>
      <p:sp>
        <p:nvSpPr>
          <p:cNvPr id="23" name="object 23"/>
          <p:cNvSpPr txBox="1"/>
          <p:nvPr/>
        </p:nvSpPr>
        <p:spPr>
          <a:xfrm>
            <a:off x="2643331" y="1950167"/>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keys</a:t>
            </a:r>
            <a:endParaRPr sz="650">
              <a:latin typeface="Arial"/>
              <a:cs typeface="Arial"/>
            </a:endParaRPr>
          </a:p>
        </p:txBody>
      </p:sp>
      <p:grpSp>
        <p:nvGrpSpPr>
          <p:cNvPr id="24" name="object 24"/>
          <p:cNvGrpSpPr/>
          <p:nvPr/>
        </p:nvGrpSpPr>
        <p:grpSpPr>
          <a:xfrm>
            <a:off x="1566419" y="1171285"/>
            <a:ext cx="1574165" cy="1141095"/>
            <a:chOff x="1566419" y="1171285"/>
            <a:chExt cx="1574165" cy="1141095"/>
          </a:xfrm>
        </p:grpSpPr>
        <p:sp>
          <p:nvSpPr>
            <p:cNvPr id="25" name="object 25"/>
            <p:cNvSpPr/>
            <p:nvPr/>
          </p:nvSpPr>
          <p:spPr>
            <a:xfrm>
              <a:off x="2096968" y="1173919"/>
              <a:ext cx="353695" cy="136525"/>
            </a:xfrm>
            <a:custGeom>
              <a:avLst/>
              <a:gdLst/>
              <a:ahLst/>
              <a:cxnLst/>
              <a:rect l="l" t="t" r="r" b="b"/>
              <a:pathLst>
                <a:path w="353694" h="136525">
                  <a:moveTo>
                    <a:pt x="353557" y="0"/>
                  </a:moveTo>
                  <a:lnTo>
                    <a:pt x="0" y="135992"/>
                  </a:lnTo>
                </a:path>
              </a:pathLst>
            </a:custGeom>
            <a:ln w="5267">
              <a:solidFill>
                <a:srgbClr val="231F20"/>
              </a:solidFill>
            </a:ln>
          </p:spPr>
          <p:txBody>
            <a:bodyPr wrap="square" lIns="0" tIns="0" rIns="0" bIns="0" rtlCol="0"/>
            <a:lstStyle/>
            <a:p>
              <a:endParaRPr/>
            </a:p>
          </p:txBody>
        </p:sp>
        <p:sp>
          <p:nvSpPr>
            <p:cNvPr id="26" name="object 26"/>
            <p:cNvSpPr/>
            <p:nvPr/>
          </p:nvSpPr>
          <p:spPr>
            <a:xfrm>
              <a:off x="2062079" y="1266880"/>
              <a:ext cx="81280" cy="59690"/>
            </a:xfrm>
            <a:custGeom>
              <a:avLst/>
              <a:gdLst/>
              <a:ahLst/>
              <a:cxnLst/>
              <a:rect l="l" t="t" r="r" b="b"/>
              <a:pathLst>
                <a:path w="81280" h="59690">
                  <a:moveTo>
                    <a:pt x="57975" y="0"/>
                  </a:moveTo>
                  <a:lnTo>
                    <a:pt x="0" y="56447"/>
                  </a:lnTo>
                  <a:lnTo>
                    <a:pt x="80860" y="59498"/>
                  </a:lnTo>
                  <a:lnTo>
                    <a:pt x="69562" y="46769"/>
                  </a:lnTo>
                  <a:lnTo>
                    <a:pt x="61982" y="32608"/>
                  </a:lnTo>
                  <a:lnTo>
                    <a:pt x="58119" y="17018"/>
                  </a:lnTo>
                  <a:lnTo>
                    <a:pt x="57975" y="0"/>
                  </a:lnTo>
                  <a:close/>
                </a:path>
              </a:pathLst>
            </a:custGeom>
            <a:solidFill>
              <a:srgbClr val="231F20"/>
            </a:solidFill>
          </p:spPr>
          <p:txBody>
            <a:bodyPr wrap="square" lIns="0" tIns="0" rIns="0" bIns="0" rtlCol="0"/>
            <a:lstStyle/>
            <a:p>
              <a:endParaRPr/>
            </a:p>
          </p:txBody>
        </p:sp>
        <p:pic>
          <p:nvPicPr>
            <p:cNvPr id="27" name="object 27"/>
            <p:cNvPicPr/>
            <p:nvPr/>
          </p:nvPicPr>
          <p:blipFill>
            <a:blip r:embed="rId6" cstate="print"/>
            <a:stretch>
              <a:fillRect/>
            </a:stretch>
          </p:blipFill>
          <p:spPr>
            <a:xfrm>
              <a:off x="2985725" y="1320693"/>
              <a:ext cx="154665" cy="154669"/>
            </a:xfrm>
            <a:prstGeom prst="rect">
              <a:avLst/>
            </a:prstGeom>
          </p:spPr>
        </p:pic>
        <p:sp>
          <p:nvSpPr>
            <p:cNvPr id="28" name="object 28"/>
            <p:cNvSpPr/>
            <p:nvPr/>
          </p:nvSpPr>
          <p:spPr>
            <a:xfrm>
              <a:off x="2599923" y="1173919"/>
              <a:ext cx="379730" cy="151130"/>
            </a:xfrm>
            <a:custGeom>
              <a:avLst/>
              <a:gdLst/>
              <a:ahLst/>
              <a:cxnLst/>
              <a:rect l="l" t="t" r="r" b="b"/>
              <a:pathLst>
                <a:path w="379730" h="151130">
                  <a:moveTo>
                    <a:pt x="0" y="0"/>
                  </a:moveTo>
                  <a:lnTo>
                    <a:pt x="379697" y="150569"/>
                  </a:lnTo>
                </a:path>
              </a:pathLst>
            </a:custGeom>
            <a:ln w="5267">
              <a:solidFill>
                <a:srgbClr val="231F20"/>
              </a:solidFill>
            </a:ln>
          </p:spPr>
          <p:txBody>
            <a:bodyPr wrap="square" lIns="0" tIns="0" rIns="0" bIns="0" rtlCol="0"/>
            <a:lstStyle/>
            <a:p>
              <a:endParaRPr/>
            </a:p>
          </p:txBody>
        </p:sp>
        <p:sp>
          <p:nvSpPr>
            <p:cNvPr id="29" name="object 29"/>
            <p:cNvSpPr/>
            <p:nvPr/>
          </p:nvSpPr>
          <p:spPr>
            <a:xfrm>
              <a:off x="2933483" y="1281217"/>
              <a:ext cx="81280" cy="59690"/>
            </a:xfrm>
            <a:custGeom>
              <a:avLst/>
              <a:gdLst/>
              <a:ahLst/>
              <a:cxnLst/>
              <a:rect l="l" t="t" r="r" b="b"/>
              <a:pathLst>
                <a:path w="81280" h="59690">
                  <a:moveTo>
                    <a:pt x="23495" y="0"/>
                  </a:moveTo>
                  <a:lnTo>
                    <a:pt x="23177" y="17017"/>
                  </a:lnTo>
                  <a:lnTo>
                    <a:pt x="19155" y="32568"/>
                  </a:lnTo>
                  <a:lnTo>
                    <a:pt x="11429" y="46651"/>
                  </a:lnTo>
                  <a:lnTo>
                    <a:pt x="0" y="59263"/>
                  </a:lnTo>
                  <a:lnTo>
                    <a:pt x="80881" y="57048"/>
                  </a:lnTo>
                  <a:lnTo>
                    <a:pt x="23495" y="0"/>
                  </a:lnTo>
                  <a:close/>
                </a:path>
              </a:pathLst>
            </a:custGeom>
            <a:solidFill>
              <a:srgbClr val="231F20"/>
            </a:solidFill>
          </p:spPr>
          <p:txBody>
            <a:bodyPr wrap="square" lIns="0" tIns="0" rIns="0" bIns="0" rtlCol="0"/>
            <a:lstStyle/>
            <a:p>
              <a:endParaRPr/>
            </a:p>
          </p:txBody>
        </p:sp>
        <p:pic>
          <p:nvPicPr>
            <p:cNvPr id="30" name="object 30"/>
            <p:cNvPicPr/>
            <p:nvPr/>
          </p:nvPicPr>
          <p:blipFill>
            <a:blip r:embed="rId7" cstate="print"/>
            <a:stretch>
              <a:fillRect/>
            </a:stretch>
          </p:blipFill>
          <p:spPr>
            <a:xfrm>
              <a:off x="1910044" y="1739010"/>
              <a:ext cx="154669" cy="154673"/>
            </a:xfrm>
            <a:prstGeom prst="rect">
              <a:avLst/>
            </a:prstGeom>
          </p:spPr>
        </p:pic>
        <p:sp>
          <p:nvSpPr>
            <p:cNvPr id="31" name="object 31"/>
            <p:cNvSpPr/>
            <p:nvPr/>
          </p:nvSpPr>
          <p:spPr>
            <a:xfrm>
              <a:off x="1987379" y="1472725"/>
              <a:ext cx="0" cy="231775"/>
            </a:xfrm>
            <a:custGeom>
              <a:avLst/>
              <a:gdLst/>
              <a:ahLst/>
              <a:cxnLst/>
              <a:rect l="l" t="t" r="r" b="b"/>
              <a:pathLst>
                <a:path h="231775">
                  <a:moveTo>
                    <a:pt x="0" y="0"/>
                  </a:moveTo>
                  <a:lnTo>
                    <a:pt x="0" y="231544"/>
                  </a:lnTo>
                </a:path>
              </a:pathLst>
            </a:custGeom>
            <a:ln w="5267">
              <a:solidFill>
                <a:srgbClr val="231F20"/>
              </a:solidFill>
            </a:ln>
          </p:spPr>
          <p:txBody>
            <a:bodyPr wrap="square" lIns="0" tIns="0" rIns="0" bIns="0" rtlCol="0"/>
            <a:lstStyle/>
            <a:p>
              <a:endParaRPr/>
            </a:p>
          </p:txBody>
        </p:sp>
        <p:sp>
          <p:nvSpPr>
            <p:cNvPr id="32" name="object 32"/>
            <p:cNvSpPr/>
            <p:nvPr/>
          </p:nvSpPr>
          <p:spPr>
            <a:xfrm>
              <a:off x="1955500" y="1667264"/>
              <a:ext cx="64135" cy="74930"/>
            </a:xfrm>
            <a:custGeom>
              <a:avLst/>
              <a:gdLst/>
              <a:ahLst/>
              <a:cxnLst/>
              <a:rect l="l" t="t" r="r" b="b"/>
              <a:pathLst>
                <a:path w="64135" h="74930">
                  <a:moveTo>
                    <a:pt x="63756" y="0"/>
                  </a:moveTo>
                  <a:lnTo>
                    <a:pt x="47817" y="5978"/>
                  </a:lnTo>
                  <a:lnTo>
                    <a:pt x="31878" y="7972"/>
                  </a:lnTo>
                  <a:lnTo>
                    <a:pt x="15938" y="5981"/>
                  </a:lnTo>
                  <a:lnTo>
                    <a:pt x="0" y="4"/>
                  </a:lnTo>
                  <a:lnTo>
                    <a:pt x="31878" y="74380"/>
                  </a:lnTo>
                  <a:lnTo>
                    <a:pt x="63756" y="0"/>
                  </a:lnTo>
                  <a:close/>
                </a:path>
              </a:pathLst>
            </a:custGeom>
            <a:solidFill>
              <a:srgbClr val="231F20"/>
            </a:solidFill>
          </p:spPr>
          <p:txBody>
            <a:bodyPr wrap="square" lIns="0" tIns="0" rIns="0" bIns="0" rtlCol="0"/>
            <a:lstStyle/>
            <a:p>
              <a:endParaRPr/>
            </a:p>
          </p:txBody>
        </p:sp>
        <p:pic>
          <p:nvPicPr>
            <p:cNvPr id="33" name="object 33"/>
            <p:cNvPicPr/>
            <p:nvPr/>
          </p:nvPicPr>
          <p:blipFill>
            <a:blip r:embed="rId8" cstate="print"/>
            <a:stretch>
              <a:fillRect/>
            </a:stretch>
          </p:blipFill>
          <p:spPr>
            <a:xfrm>
              <a:off x="2253663" y="2157331"/>
              <a:ext cx="154665" cy="154670"/>
            </a:xfrm>
            <a:prstGeom prst="rect">
              <a:avLst/>
            </a:prstGeom>
          </p:spPr>
        </p:pic>
        <p:sp>
          <p:nvSpPr>
            <p:cNvPr id="34" name="object 34"/>
            <p:cNvSpPr/>
            <p:nvPr/>
          </p:nvSpPr>
          <p:spPr>
            <a:xfrm>
              <a:off x="2331001" y="1891046"/>
              <a:ext cx="0" cy="231775"/>
            </a:xfrm>
            <a:custGeom>
              <a:avLst/>
              <a:gdLst/>
              <a:ahLst/>
              <a:cxnLst/>
              <a:rect l="l" t="t" r="r" b="b"/>
              <a:pathLst>
                <a:path h="231775">
                  <a:moveTo>
                    <a:pt x="0" y="0"/>
                  </a:moveTo>
                  <a:lnTo>
                    <a:pt x="0" y="231535"/>
                  </a:lnTo>
                </a:path>
              </a:pathLst>
            </a:custGeom>
            <a:ln w="5267">
              <a:solidFill>
                <a:srgbClr val="231F20"/>
              </a:solidFill>
            </a:ln>
          </p:spPr>
          <p:txBody>
            <a:bodyPr wrap="square" lIns="0" tIns="0" rIns="0" bIns="0" rtlCol="0"/>
            <a:lstStyle/>
            <a:p>
              <a:endParaRPr/>
            </a:p>
          </p:txBody>
        </p:sp>
        <p:sp>
          <p:nvSpPr>
            <p:cNvPr id="35" name="object 35"/>
            <p:cNvSpPr/>
            <p:nvPr/>
          </p:nvSpPr>
          <p:spPr>
            <a:xfrm>
              <a:off x="2299125" y="2085586"/>
              <a:ext cx="64135" cy="74930"/>
            </a:xfrm>
            <a:custGeom>
              <a:avLst/>
              <a:gdLst/>
              <a:ahLst/>
              <a:cxnLst/>
              <a:rect l="l" t="t" r="r" b="b"/>
              <a:pathLst>
                <a:path w="64135" h="74930">
                  <a:moveTo>
                    <a:pt x="63751" y="0"/>
                  </a:moveTo>
                  <a:lnTo>
                    <a:pt x="47813" y="5980"/>
                  </a:lnTo>
                  <a:lnTo>
                    <a:pt x="31875" y="7974"/>
                  </a:lnTo>
                  <a:lnTo>
                    <a:pt x="15937" y="5982"/>
                  </a:lnTo>
                  <a:lnTo>
                    <a:pt x="0" y="4"/>
                  </a:lnTo>
                  <a:lnTo>
                    <a:pt x="31875" y="74379"/>
                  </a:lnTo>
                  <a:lnTo>
                    <a:pt x="63751" y="0"/>
                  </a:lnTo>
                  <a:close/>
                </a:path>
              </a:pathLst>
            </a:custGeom>
            <a:solidFill>
              <a:srgbClr val="231F20"/>
            </a:solidFill>
          </p:spPr>
          <p:txBody>
            <a:bodyPr wrap="square" lIns="0" tIns="0" rIns="0" bIns="0" rtlCol="0"/>
            <a:lstStyle/>
            <a:p>
              <a:endParaRPr/>
            </a:p>
          </p:txBody>
        </p:sp>
        <p:pic>
          <p:nvPicPr>
            <p:cNvPr id="36" name="object 36"/>
            <p:cNvPicPr/>
            <p:nvPr/>
          </p:nvPicPr>
          <p:blipFill>
            <a:blip r:embed="rId9" cstate="print"/>
            <a:stretch>
              <a:fillRect/>
            </a:stretch>
          </p:blipFill>
          <p:spPr>
            <a:xfrm>
              <a:off x="1566419" y="1739010"/>
              <a:ext cx="154674" cy="154673"/>
            </a:xfrm>
            <a:prstGeom prst="rect">
              <a:avLst/>
            </a:prstGeom>
          </p:spPr>
        </p:pic>
        <p:sp>
          <p:nvSpPr>
            <p:cNvPr id="37" name="object 37"/>
            <p:cNvSpPr/>
            <p:nvPr/>
          </p:nvSpPr>
          <p:spPr>
            <a:xfrm>
              <a:off x="1657465" y="1457783"/>
              <a:ext cx="255270" cy="244475"/>
            </a:xfrm>
            <a:custGeom>
              <a:avLst/>
              <a:gdLst/>
              <a:ahLst/>
              <a:cxnLst/>
              <a:rect l="l" t="t" r="r" b="b"/>
              <a:pathLst>
                <a:path w="255269" h="244475">
                  <a:moveTo>
                    <a:pt x="255216" y="0"/>
                  </a:moveTo>
                  <a:lnTo>
                    <a:pt x="133401" y="63333"/>
                  </a:lnTo>
                  <a:lnTo>
                    <a:pt x="54774" y="144400"/>
                  </a:lnTo>
                  <a:lnTo>
                    <a:pt x="12565" y="214261"/>
                  </a:lnTo>
                  <a:lnTo>
                    <a:pt x="0" y="243978"/>
                  </a:lnTo>
                </a:path>
              </a:pathLst>
            </a:custGeom>
            <a:ln w="5267">
              <a:solidFill>
                <a:srgbClr val="231F20"/>
              </a:solidFill>
            </a:ln>
          </p:spPr>
          <p:txBody>
            <a:bodyPr wrap="square" lIns="0" tIns="0" rIns="0" bIns="0" rtlCol="0"/>
            <a:lstStyle/>
            <a:p>
              <a:endParaRPr/>
            </a:p>
          </p:txBody>
        </p:sp>
        <p:sp>
          <p:nvSpPr>
            <p:cNvPr id="38" name="object 38"/>
            <p:cNvSpPr/>
            <p:nvPr/>
          </p:nvSpPr>
          <p:spPr>
            <a:xfrm>
              <a:off x="1638834" y="1656620"/>
              <a:ext cx="60960" cy="80645"/>
            </a:xfrm>
            <a:custGeom>
              <a:avLst/>
              <a:gdLst/>
              <a:ahLst/>
              <a:cxnLst/>
              <a:rect l="l" t="t" r="r" b="b"/>
              <a:pathLst>
                <a:path w="60960" h="80644">
                  <a:moveTo>
                    <a:pt x="0" y="0"/>
                  </a:moveTo>
                  <a:lnTo>
                    <a:pt x="6880" y="80622"/>
                  </a:lnTo>
                  <a:lnTo>
                    <a:pt x="60520" y="20040"/>
                  </a:lnTo>
                  <a:lnTo>
                    <a:pt x="43511" y="20703"/>
                  </a:lnTo>
                  <a:lnTo>
                    <a:pt x="27755" y="17585"/>
                  </a:lnTo>
                  <a:lnTo>
                    <a:pt x="13250" y="10684"/>
                  </a:lnTo>
                  <a:lnTo>
                    <a:pt x="0" y="0"/>
                  </a:lnTo>
                  <a:close/>
                </a:path>
              </a:pathLst>
            </a:custGeom>
            <a:solidFill>
              <a:srgbClr val="231F20"/>
            </a:solidFill>
          </p:spPr>
          <p:txBody>
            <a:bodyPr wrap="square" lIns="0" tIns="0" rIns="0" bIns="0" rtlCol="0"/>
            <a:lstStyle/>
            <a:p>
              <a:endParaRPr/>
            </a:p>
          </p:txBody>
        </p:sp>
        <p:pic>
          <p:nvPicPr>
            <p:cNvPr id="39" name="object 39"/>
            <p:cNvPicPr/>
            <p:nvPr/>
          </p:nvPicPr>
          <p:blipFill>
            <a:blip r:embed="rId10" cstate="print"/>
            <a:stretch>
              <a:fillRect/>
            </a:stretch>
          </p:blipFill>
          <p:spPr>
            <a:xfrm>
              <a:off x="1911114" y="2157331"/>
              <a:ext cx="154670" cy="154670"/>
            </a:xfrm>
            <a:prstGeom prst="rect">
              <a:avLst/>
            </a:prstGeom>
          </p:spPr>
        </p:pic>
        <p:sp>
          <p:nvSpPr>
            <p:cNvPr id="40" name="object 40"/>
            <p:cNvSpPr/>
            <p:nvPr/>
          </p:nvSpPr>
          <p:spPr>
            <a:xfrm>
              <a:off x="2002160" y="1876103"/>
              <a:ext cx="255270" cy="244475"/>
            </a:xfrm>
            <a:custGeom>
              <a:avLst/>
              <a:gdLst/>
              <a:ahLst/>
              <a:cxnLst/>
              <a:rect l="l" t="t" r="r" b="b"/>
              <a:pathLst>
                <a:path w="255269" h="244475">
                  <a:moveTo>
                    <a:pt x="255212" y="0"/>
                  </a:moveTo>
                  <a:lnTo>
                    <a:pt x="133397" y="63334"/>
                  </a:lnTo>
                  <a:lnTo>
                    <a:pt x="54772" y="144400"/>
                  </a:lnTo>
                  <a:lnTo>
                    <a:pt x="12564" y="214261"/>
                  </a:lnTo>
                  <a:lnTo>
                    <a:pt x="0" y="243978"/>
                  </a:lnTo>
                </a:path>
              </a:pathLst>
            </a:custGeom>
            <a:ln w="5267">
              <a:solidFill>
                <a:srgbClr val="231F20"/>
              </a:solidFill>
            </a:ln>
          </p:spPr>
          <p:txBody>
            <a:bodyPr wrap="square" lIns="0" tIns="0" rIns="0" bIns="0" rtlCol="0"/>
            <a:lstStyle/>
            <a:p>
              <a:endParaRPr/>
            </a:p>
          </p:txBody>
        </p:sp>
        <p:sp>
          <p:nvSpPr>
            <p:cNvPr id="41" name="object 41"/>
            <p:cNvSpPr/>
            <p:nvPr/>
          </p:nvSpPr>
          <p:spPr>
            <a:xfrm>
              <a:off x="1983525" y="2074937"/>
              <a:ext cx="60960" cy="80645"/>
            </a:xfrm>
            <a:custGeom>
              <a:avLst/>
              <a:gdLst/>
              <a:ahLst/>
              <a:cxnLst/>
              <a:rect l="l" t="t" r="r" b="b"/>
              <a:pathLst>
                <a:path w="60960" h="80644">
                  <a:moveTo>
                    <a:pt x="0" y="0"/>
                  </a:moveTo>
                  <a:lnTo>
                    <a:pt x="6884" y="80625"/>
                  </a:lnTo>
                  <a:lnTo>
                    <a:pt x="60520" y="20040"/>
                  </a:lnTo>
                  <a:lnTo>
                    <a:pt x="43514" y="20705"/>
                  </a:lnTo>
                  <a:lnTo>
                    <a:pt x="27758" y="17587"/>
                  </a:lnTo>
                  <a:lnTo>
                    <a:pt x="13253" y="10685"/>
                  </a:lnTo>
                  <a:lnTo>
                    <a:pt x="0" y="0"/>
                  </a:lnTo>
                  <a:close/>
                </a:path>
              </a:pathLst>
            </a:custGeom>
            <a:solidFill>
              <a:srgbClr val="231F20"/>
            </a:solidFill>
          </p:spPr>
          <p:txBody>
            <a:bodyPr wrap="square" lIns="0" tIns="0" rIns="0" bIns="0" rtlCol="0"/>
            <a:lstStyle/>
            <a:p>
              <a:endParaRPr/>
            </a:p>
          </p:txBody>
        </p:sp>
        <p:sp>
          <p:nvSpPr>
            <p:cNvPr id="42" name="object 42"/>
            <p:cNvSpPr/>
            <p:nvPr/>
          </p:nvSpPr>
          <p:spPr>
            <a:xfrm>
              <a:off x="2062079" y="1457783"/>
              <a:ext cx="254000" cy="245745"/>
            </a:xfrm>
            <a:custGeom>
              <a:avLst/>
              <a:gdLst/>
              <a:ahLst/>
              <a:cxnLst/>
              <a:rect l="l" t="t" r="r" b="b"/>
              <a:pathLst>
                <a:path w="254000" h="245744">
                  <a:moveTo>
                    <a:pt x="0" y="0"/>
                  </a:moveTo>
                  <a:lnTo>
                    <a:pt x="121619" y="63527"/>
                  </a:lnTo>
                  <a:lnTo>
                    <a:pt x="199819" y="145019"/>
                  </a:lnTo>
                  <a:lnTo>
                    <a:pt x="241603" y="215306"/>
                  </a:lnTo>
                  <a:lnTo>
                    <a:pt x="253974" y="245217"/>
                  </a:lnTo>
                </a:path>
              </a:pathLst>
            </a:custGeom>
            <a:ln w="5267">
              <a:solidFill>
                <a:srgbClr val="231F20"/>
              </a:solidFill>
            </a:ln>
          </p:spPr>
          <p:txBody>
            <a:bodyPr wrap="square" lIns="0" tIns="0" rIns="0" bIns="0" rtlCol="0"/>
            <a:lstStyle/>
            <a:p>
              <a:endParaRPr/>
            </a:p>
          </p:txBody>
        </p:sp>
        <p:sp>
          <p:nvSpPr>
            <p:cNvPr id="43" name="object 43"/>
            <p:cNvSpPr/>
            <p:nvPr/>
          </p:nvSpPr>
          <p:spPr>
            <a:xfrm>
              <a:off x="2274375" y="1658008"/>
              <a:ext cx="60960" cy="80645"/>
            </a:xfrm>
            <a:custGeom>
              <a:avLst/>
              <a:gdLst/>
              <a:ahLst/>
              <a:cxnLst/>
              <a:rect l="l" t="t" r="r" b="b"/>
              <a:pathLst>
                <a:path w="60960" h="80644">
                  <a:moveTo>
                    <a:pt x="60673" y="0"/>
                  </a:moveTo>
                  <a:lnTo>
                    <a:pt x="47341" y="10574"/>
                  </a:lnTo>
                  <a:lnTo>
                    <a:pt x="32783" y="17358"/>
                  </a:lnTo>
                  <a:lnTo>
                    <a:pt x="17003" y="20351"/>
                  </a:lnTo>
                  <a:lnTo>
                    <a:pt x="0" y="19554"/>
                  </a:lnTo>
                  <a:lnTo>
                    <a:pt x="53147" y="80564"/>
                  </a:lnTo>
                  <a:lnTo>
                    <a:pt x="60673" y="0"/>
                  </a:lnTo>
                  <a:close/>
                </a:path>
              </a:pathLst>
            </a:custGeom>
            <a:solidFill>
              <a:srgbClr val="231F20"/>
            </a:solidFill>
          </p:spPr>
          <p:txBody>
            <a:bodyPr wrap="square" lIns="0" tIns="0" rIns="0" bIns="0" rtlCol="0"/>
            <a:lstStyle/>
            <a:p>
              <a:endParaRPr/>
            </a:p>
          </p:txBody>
        </p:sp>
        <p:pic>
          <p:nvPicPr>
            <p:cNvPr id="44" name="object 44"/>
            <p:cNvPicPr/>
            <p:nvPr/>
          </p:nvPicPr>
          <p:blipFill>
            <a:blip r:embed="rId11" cstate="print"/>
            <a:stretch>
              <a:fillRect/>
            </a:stretch>
          </p:blipFill>
          <p:spPr>
            <a:xfrm>
              <a:off x="2593410" y="2157331"/>
              <a:ext cx="154675" cy="154670"/>
            </a:xfrm>
            <a:prstGeom prst="rect">
              <a:avLst/>
            </a:prstGeom>
          </p:spPr>
        </p:pic>
        <p:sp>
          <p:nvSpPr>
            <p:cNvPr id="45" name="object 45"/>
            <p:cNvSpPr/>
            <p:nvPr/>
          </p:nvSpPr>
          <p:spPr>
            <a:xfrm>
              <a:off x="2406770" y="1876103"/>
              <a:ext cx="254000" cy="245745"/>
            </a:xfrm>
            <a:custGeom>
              <a:avLst/>
              <a:gdLst/>
              <a:ahLst/>
              <a:cxnLst/>
              <a:rect l="l" t="t" r="r" b="b"/>
              <a:pathLst>
                <a:path w="254000" h="245744">
                  <a:moveTo>
                    <a:pt x="0" y="0"/>
                  </a:moveTo>
                  <a:lnTo>
                    <a:pt x="121620" y="63527"/>
                  </a:lnTo>
                  <a:lnTo>
                    <a:pt x="199824" y="145018"/>
                  </a:lnTo>
                  <a:lnTo>
                    <a:pt x="241612" y="215303"/>
                  </a:lnTo>
                  <a:lnTo>
                    <a:pt x="253985" y="245214"/>
                  </a:lnTo>
                </a:path>
              </a:pathLst>
            </a:custGeom>
            <a:ln w="5267">
              <a:solidFill>
                <a:srgbClr val="231F20"/>
              </a:solidFill>
            </a:ln>
          </p:spPr>
          <p:txBody>
            <a:bodyPr wrap="square" lIns="0" tIns="0" rIns="0" bIns="0" rtlCol="0"/>
            <a:lstStyle/>
            <a:p>
              <a:endParaRPr/>
            </a:p>
          </p:txBody>
        </p:sp>
        <p:sp>
          <p:nvSpPr>
            <p:cNvPr id="46" name="object 46"/>
            <p:cNvSpPr/>
            <p:nvPr/>
          </p:nvSpPr>
          <p:spPr>
            <a:xfrm>
              <a:off x="2619066" y="2076325"/>
              <a:ext cx="60960" cy="80645"/>
            </a:xfrm>
            <a:custGeom>
              <a:avLst/>
              <a:gdLst/>
              <a:ahLst/>
              <a:cxnLst/>
              <a:rect l="l" t="t" r="r" b="b"/>
              <a:pathLst>
                <a:path w="60960" h="80644">
                  <a:moveTo>
                    <a:pt x="60673" y="0"/>
                  </a:moveTo>
                  <a:lnTo>
                    <a:pt x="47341" y="10576"/>
                  </a:lnTo>
                  <a:lnTo>
                    <a:pt x="32783" y="17361"/>
                  </a:lnTo>
                  <a:lnTo>
                    <a:pt x="17003" y="20355"/>
                  </a:lnTo>
                  <a:lnTo>
                    <a:pt x="0" y="19557"/>
                  </a:lnTo>
                  <a:lnTo>
                    <a:pt x="53147" y="80568"/>
                  </a:lnTo>
                  <a:lnTo>
                    <a:pt x="60673" y="0"/>
                  </a:lnTo>
                  <a:close/>
                </a:path>
              </a:pathLst>
            </a:custGeom>
            <a:solidFill>
              <a:srgbClr val="231F20"/>
            </a:solidFill>
          </p:spPr>
          <p:txBody>
            <a:bodyPr wrap="square" lIns="0" tIns="0" rIns="0" bIns="0" rtlCol="0"/>
            <a:lstStyle/>
            <a:p>
              <a:endParaRPr/>
            </a:p>
          </p:txBody>
        </p:sp>
        <p:sp>
          <p:nvSpPr>
            <p:cNvPr id="47" name="object 47"/>
            <p:cNvSpPr/>
            <p:nvPr/>
          </p:nvSpPr>
          <p:spPr>
            <a:xfrm>
              <a:off x="2730505" y="2055382"/>
              <a:ext cx="209550" cy="134620"/>
            </a:xfrm>
            <a:custGeom>
              <a:avLst/>
              <a:gdLst/>
              <a:ahLst/>
              <a:cxnLst/>
              <a:rect l="l" t="t" r="r" b="b"/>
              <a:pathLst>
                <a:path w="209550" h="134619">
                  <a:moveTo>
                    <a:pt x="0" y="134459"/>
                  </a:moveTo>
                  <a:lnTo>
                    <a:pt x="209165" y="0"/>
                  </a:lnTo>
                </a:path>
              </a:pathLst>
            </a:custGeom>
            <a:ln w="5267">
              <a:solidFill>
                <a:srgbClr val="231F20"/>
              </a:solidFill>
            </a:ln>
          </p:spPr>
          <p:txBody>
            <a:bodyPr wrap="square" lIns="0" tIns="0" rIns="0" bIns="0" rtlCol="0"/>
            <a:lstStyle/>
            <a:p>
              <a:endParaRPr/>
            </a:p>
          </p:txBody>
        </p:sp>
      </p:grpSp>
      <p:sp>
        <p:nvSpPr>
          <p:cNvPr id="48" name="object 48"/>
          <p:cNvSpPr txBox="1"/>
          <p:nvPr/>
        </p:nvSpPr>
        <p:spPr>
          <a:xfrm>
            <a:off x="347294" y="2536606"/>
            <a:ext cx="1616075" cy="354965"/>
          </a:xfrm>
          <a:prstGeom prst="rect">
            <a:avLst/>
          </a:prstGeom>
        </p:spPr>
        <p:txBody>
          <a:bodyPr vert="horz" wrap="square" lIns="0" tIns="12065" rIns="0" bIns="0" rtlCol="0">
            <a:spAutoFit/>
          </a:bodyPr>
          <a:lstStyle/>
          <a:p>
            <a:pPr marL="12700">
              <a:lnSpc>
                <a:spcPts val="1420"/>
              </a:lnSpc>
              <a:spcBef>
                <a:spcPts val="95"/>
              </a:spcBef>
            </a:pPr>
            <a:r>
              <a:rPr sz="1200" spc="-5" dirty="0">
                <a:solidFill>
                  <a:srgbClr val="FA0000"/>
                </a:solidFill>
                <a:latin typeface="Arial"/>
                <a:cs typeface="Arial"/>
              </a:rPr>
              <a:t>Observation</a:t>
            </a:r>
            <a:endParaRPr sz="1200">
              <a:latin typeface="Arial"/>
              <a:cs typeface="Arial"/>
            </a:endParaRPr>
          </a:p>
          <a:p>
            <a:pPr marL="12700">
              <a:lnSpc>
                <a:spcPts val="1180"/>
              </a:lnSpc>
            </a:pPr>
            <a:r>
              <a:rPr sz="1000" spc="-5" dirty="0">
                <a:latin typeface="Arial"/>
                <a:cs typeface="Arial"/>
              </a:rPr>
              <a:t>Node</a:t>
            </a:r>
            <a:r>
              <a:rPr sz="1000" spc="-15" dirty="0">
                <a:latin typeface="Arial"/>
                <a:cs typeface="Arial"/>
              </a:rPr>
              <a:t> </a:t>
            </a:r>
            <a:r>
              <a:rPr sz="1000" i="1" spc="-5" dirty="0">
                <a:latin typeface="Arial"/>
                <a:cs typeface="Arial"/>
              </a:rPr>
              <a:t>n5</a:t>
            </a:r>
            <a:r>
              <a:rPr sz="1000" i="1" spc="50" dirty="0">
                <a:latin typeface="Arial"/>
                <a:cs typeface="Arial"/>
              </a:rPr>
              <a:t> </a:t>
            </a:r>
            <a:r>
              <a:rPr sz="1000" spc="-5" dirty="0">
                <a:latin typeface="Arial"/>
                <a:cs typeface="Arial"/>
              </a:rPr>
              <a:t>has</a:t>
            </a:r>
            <a:r>
              <a:rPr sz="1000" spc="-15" dirty="0">
                <a:latin typeface="Arial"/>
                <a:cs typeface="Arial"/>
              </a:rPr>
              <a:t> </a:t>
            </a:r>
            <a:r>
              <a:rPr sz="1000" spc="-5" dirty="0">
                <a:latin typeface="Arial"/>
                <a:cs typeface="Arial"/>
              </a:rPr>
              <a:t>only</a:t>
            </a:r>
            <a:r>
              <a:rPr sz="1000" spc="-10" dirty="0">
                <a:latin typeface="Arial"/>
                <a:cs typeface="Arial"/>
              </a:rPr>
              <a:t> </a:t>
            </a:r>
            <a:r>
              <a:rPr sz="1000" spc="-5" dirty="0">
                <a:latin typeface="Arial"/>
                <a:cs typeface="Arial"/>
              </a:rPr>
              <a:t>one</a:t>
            </a:r>
            <a:r>
              <a:rPr sz="1000" spc="-15" dirty="0">
                <a:latin typeface="Arial"/>
                <a:cs typeface="Arial"/>
              </a:rPr>
              <a:t> </a:t>
            </a:r>
            <a:r>
              <a:rPr sz="1000" spc="-5" dirty="0">
                <a:latin typeface="Arial"/>
                <a:cs typeface="Arial"/>
              </a:rPr>
              <a:t>name</a:t>
            </a:r>
            <a:endParaRPr sz="1000">
              <a:latin typeface="Arial"/>
              <a:cs typeface="Arial"/>
            </a:endParaRPr>
          </a:p>
        </p:txBody>
      </p:sp>
      <p:sp>
        <p:nvSpPr>
          <p:cNvPr id="49" name="object 49"/>
          <p:cNvSpPr txBox="1"/>
          <p:nvPr/>
        </p:nvSpPr>
        <p:spPr>
          <a:xfrm>
            <a:off x="66713" y="3331252"/>
            <a:ext cx="7473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2" action="ppaction://hlinksldjump"/>
              </a:rPr>
              <a:t>Linking</a:t>
            </a:r>
            <a:r>
              <a:rPr sz="600" spc="-20" dirty="0">
                <a:solidFill>
                  <a:srgbClr val="3333B2"/>
                </a:solidFill>
                <a:latin typeface="Arial"/>
                <a:cs typeface="Arial"/>
                <a:hlinkClick r:id="rId12" action="ppaction://hlinksldjump"/>
              </a:rPr>
              <a:t> </a:t>
            </a:r>
            <a:r>
              <a:rPr sz="600" spc="-5" dirty="0">
                <a:solidFill>
                  <a:srgbClr val="3333B2"/>
                </a:solidFill>
                <a:latin typeface="Arial"/>
                <a:cs typeface="Arial"/>
                <a:hlinkClick r:id="rId12" action="ppaction://hlinksldjump"/>
              </a:rPr>
              <a:t>and</a:t>
            </a:r>
            <a:r>
              <a:rPr sz="600" spc="-15" dirty="0">
                <a:solidFill>
                  <a:srgbClr val="3333B2"/>
                </a:solidFill>
                <a:latin typeface="Arial"/>
                <a:cs typeface="Arial"/>
                <a:hlinkClick r:id="rId12" action="ppaction://hlinksldjump"/>
              </a:rPr>
              <a:t> </a:t>
            </a:r>
            <a:r>
              <a:rPr sz="600" spc="-5" dirty="0">
                <a:solidFill>
                  <a:srgbClr val="3333B2"/>
                </a:solidFill>
                <a:latin typeface="Arial"/>
                <a:cs typeface="Arial"/>
                <a:hlinkClick r:id="rId12" action="ppaction://hlinksldjump"/>
              </a:rPr>
              <a:t>mounting</a:t>
            </a:r>
            <a:endParaRPr sz="600">
              <a:latin typeface="Arial"/>
              <a:cs typeface="Arial"/>
            </a:endParaRPr>
          </a:p>
        </p:txBody>
      </p:sp>
      <p:sp>
        <p:nvSpPr>
          <p:cNvPr id="50" name="object 5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27</a:t>
            </a:r>
            <a:r>
              <a:rPr spc="-40" dirty="0"/>
              <a:t> </a:t>
            </a:r>
            <a:r>
              <a:rPr spc="-5" dirty="0"/>
              <a:t>/</a:t>
            </a:r>
            <a:r>
              <a:rPr spc="-35" dirty="0"/>
              <a:t> </a:t>
            </a:r>
            <a:r>
              <a:rPr spc="-5" dirty="0"/>
              <a:t>46</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473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Linking</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and</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mounting</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28</a:t>
            </a:r>
            <a:r>
              <a:rPr spc="-40" dirty="0"/>
              <a:t> </a:t>
            </a:r>
            <a:r>
              <a:rPr spc="-5" dirty="0"/>
              <a:t>/</a:t>
            </a:r>
            <a:r>
              <a:rPr spc="-35" dirty="0"/>
              <a:t> </a:t>
            </a:r>
            <a:r>
              <a:rPr spc="-5" dirty="0"/>
              <a:t>46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09060" algn="l"/>
              </a:tabLst>
            </a:pPr>
            <a:r>
              <a:rPr sz="600" spc="-5" dirty="0">
                <a:solidFill>
                  <a:srgbClr val="3333B2"/>
                </a:solidFill>
                <a:latin typeface="Arial"/>
                <a:cs typeface="Arial"/>
                <a:hlinkClick r:id="rId4"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5" action="ppaction://hlinksldjump"/>
              </a:rPr>
              <a:t>Structured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Name</a:t>
            </a:r>
            <a:r>
              <a:rPr sz="600" spc="-3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resolution</a:t>
            </a:r>
            <a:endParaRPr sz="600">
              <a:latin typeface="Arial"/>
              <a:cs typeface="Arial"/>
            </a:endParaRPr>
          </a:p>
        </p:txBody>
      </p:sp>
      <p:sp>
        <p:nvSpPr>
          <p:cNvPr id="3" name="object 3"/>
          <p:cNvSpPr txBox="1">
            <a:spLocks noGrp="1"/>
          </p:cNvSpPr>
          <p:nvPr>
            <p:ph type="title"/>
          </p:nvPr>
        </p:nvSpPr>
        <p:spPr>
          <a:xfrm>
            <a:off x="95300" y="188846"/>
            <a:ext cx="775335" cy="244475"/>
          </a:xfrm>
          <a:prstGeom prst="rect">
            <a:avLst/>
          </a:prstGeom>
        </p:spPr>
        <p:txBody>
          <a:bodyPr vert="horz" wrap="square" lIns="0" tIns="17145" rIns="0" bIns="0" rtlCol="0">
            <a:spAutoFit/>
          </a:bodyPr>
          <a:lstStyle/>
          <a:p>
            <a:pPr marL="12700">
              <a:lnSpc>
                <a:spcPct val="100000"/>
              </a:lnSpc>
              <a:spcBef>
                <a:spcPts val="135"/>
              </a:spcBef>
            </a:pPr>
            <a:r>
              <a:rPr spc="15" dirty="0"/>
              <a:t>Mounting</a:t>
            </a:r>
          </a:p>
        </p:txBody>
      </p:sp>
      <p:sp>
        <p:nvSpPr>
          <p:cNvPr id="4" name="object 4"/>
          <p:cNvSpPr txBox="1"/>
          <p:nvPr/>
        </p:nvSpPr>
        <p:spPr>
          <a:xfrm>
            <a:off x="317195" y="464792"/>
            <a:ext cx="3969385" cy="2692400"/>
          </a:xfrm>
          <a:prstGeom prst="rect">
            <a:avLst/>
          </a:prstGeom>
        </p:spPr>
        <p:txBody>
          <a:bodyPr vert="horz" wrap="square" lIns="0" tIns="12065" rIns="0" bIns="0" rtlCol="0">
            <a:spAutoFit/>
          </a:bodyPr>
          <a:lstStyle/>
          <a:p>
            <a:pPr marL="42545">
              <a:lnSpc>
                <a:spcPts val="1410"/>
              </a:lnSpc>
              <a:spcBef>
                <a:spcPts val="95"/>
              </a:spcBef>
            </a:pPr>
            <a:r>
              <a:rPr sz="1200" spc="-5" dirty="0">
                <a:solidFill>
                  <a:srgbClr val="3333B2"/>
                </a:solidFill>
                <a:latin typeface="Arial"/>
                <a:cs typeface="Arial"/>
              </a:rPr>
              <a:t>Issue</a:t>
            </a:r>
            <a:endParaRPr sz="1200" dirty="0">
              <a:latin typeface="Arial"/>
              <a:cs typeface="Arial"/>
            </a:endParaRPr>
          </a:p>
          <a:p>
            <a:pPr marL="42545" marR="30480">
              <a:lnSpc>
                <a:spcPts val="1200"/>
              </a:lnSpc>
              <a:spcBef>
                <a:spcPts val="10"/>
              </a:spcBef>
            </a:pPr>
            <a:r>
              <a:rPr sz="1000" spc="-20" dirty="0">
                <a:latin typeface="Arial"/>
                <a:cs typeface="Arial"/>
              </a:rPr>
              <a:t>Name</a:t>
            </a:r>
            <a:r>
              <a:rPr sz="1000" spc="-5" dirty="0">
                <a:latin typeface="Arial"/>
                <a:cs typeface="Arial"/>
              </a:rPr>
              <a:t> </a:t>
            </a:r>
            <a:r>
              <a:rPr sz="1000" spc="-15" dirty="0">
                <a:latin typeface="Arial"/>
                <a:cs typeface="Arial"/>
              </a:rPr>
              <a:t>resolution</a:t>
            </a:r>
            <a:r>
              <a:rPr sz="100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also</a:t>
            </a:r>
            <a:r>
              <a:rPr sz="1000" dirty="0">
                <a:latin typeface="Arial"/>
                <a:cs typeface="Arial"/>
              </a:rPr>
              <a:t> </a:t>
            </a:r>
            <a:r>
              <a:rPr sz="1000" spc="-15" dirty="0">
                <a:latin typeface="Arial"/>
                <a:cs typeface="Arial"/>
              </a:rPr>
              <a:t>be</a:t>
            </a:r>
            <a:r>
              <a:rPr sz="1000" spc="-5" dirty="0">
                <a:latin typeface="Arial"/>
                <a:cs typeface="Arial"/>
              </a:rPr>
              <a:t> </a:t>
            </a:r>
            <a:r>
              <a:rPr sz="1000" spc="-15" dirty="0">
                <a:latin typeface="Arial"/>
                <a:cs typeface="Arial"/>
              </a:rPr>
              <a:t>used</a:t>
            </a:r>
            <a:r>
              <a:rPr sz="1000"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merge</a:t>
            </a:r>
            <a:r>
              <a:rPr sz="1000" dirty="0">
                <a:latin typeface="Arial"/>
                <a:cs typeface="Arial"/>
              </a:rPr>
              <a:t> </a:t>
            </a:r>
            <a:r>
              <a:rPr sz="1000" spc="-15" dirty="0">
                <a:solidFill>
                  <a:srgbClr val="0000FA"/>
                </a:solidFill>
                <a:latin typeface="Arial"/>
                <a:cs typeface="Arial"/>
              </a:rPr>
              <a:t>different</a:t>
            </a:r>
            <a:r>
              <a:rPr sz="1000" spc="-5" dirty="0">
                <a:solidFill>
                  <a:srgbClr val="0000FA"/>
                </a:solidFill>
                <a:latin typeface="Arial"/>
                <a:cs typeface="Arial"/>
              </a:rPr>
              <a:t> </a:t>
            </a:r>
            <a:r>
              <a:rPr sz="1000" spc="-15" dirty="0">
                <a:solidFill>
                  <a:srgbClr val="0000FA"/>
                </a:solidFill>
                <a:latin typeface="Arial"/>
                <a:cs typeface="Arial"/>
              </a:rPr>
              <a:t>name</a:t>
            </a:r>
            <a:r>
              <a:rPr sz="1000" dirty="0">
                <a:solidFill>
                  <a:srgbClr val="0000FA"/>
                </a:solidFill>
                <a:latin typeface="Arial"/>
                <a:cs typeface="Arial"/>
              </a:rPr>
              <a:t> </a:t>
            </a:r>
            <a:r>
              <a:rPr sz="1000" spc="-15" dirty="0">
                <a:solidFill>
                  <a:srgbClr val="0000FA"/>
                </a:solidFill>
                <a:latin typeface="Arial"/>
                <a:cs typeface="Arial"/>
              </a:rPr>
              <a:t>spaces</a:t>
            </a:r>
            <a:r>
              <a:rPr sz="1000" spc="-5" dirty="0">
                <a:solidFill>
                  <a:srgbClr val="0000FA"/>
                </a:solidFill>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a </a:t>
            </a:r>
            <a:r>
              <a:rPr sz="1000" spc="-265" dirty="0">
                <a:latin typeface="Arial"/>
                <a:cs typeface="Arial"/>
              </a:rPr>
              <a:t> </a:t>
            </a:r>
            <a:r>
              <a:rPr sz="1000" spc="-5" dirty="0">
                <a:latin typeface="Arial"/>
                <a:cs typeface="Arial"/>
              </a:rPr>
              <a:t>transparent</a:t>
            </a:r>
            <a:r>
              <a:rPr sz="1000" dirty="0">
                <a:latin typeface="Arial"/>
                <a:cs typeface="Arial"/>
              </a:rPr>
              <a:t> </a:t>
            </a:r>
            <a:r>
              <a:rPr sz="1000" spc="-20" dirty="0">
                <a:latin typeface="Arial"/>
                <a:cs typeface="Arial"/>
              </a:rPr>
              <a:t>way</a:t>
            </a:r>
            <a:r>
              <a:rPr sz="1000" dirty="0">
                <a:latin typeface="Arial"/>
                <a:cs typeface="Arial"/>
              </a:rPr>
              <a:t> </a:t>
            </a:r>
            <a:r>
              <a:rPr sz="1000" spc="-5" dirty="0">
                <a:latin typeface="Arial"/>
                <a:cs typeface="Arial"/>
              </a:rPr>
              <a:t>through</a:t>
            </a:r>
            <a:r>
              <a:rPr sz="1000" dirty="0">
                <a:latin typeface="Arial"/>
                <a:cs typeface="Arial"/>
              </a:rPr>
              <a:t> </a:t>
            </a:r>
            <a:r>
              <a:rPr sz="1000" spc="-5" dirty="0">
                <a:solidFill>
                  <a:srgbClr val="FA0000"/>
                </a:solidFill>
                <a:latin typeface="Arial"/>
                <a:cs typeface="Arial"/>
              </a:rPr>
              <a:t>mounting</a:t>
            </a:r>
            <a:r>
              <a:rPr sz="1000" spc="-5" dirty="0">
                <a:latin typeface="Arial"/>
                <a:cs typeface="Arial"/>
              </a:rPr>
              <a:t>:</a:t>
            </a:r>
            <a:r>
              <a:rPr sz="1000" spc="65" dirty="0">
                <a:latin typeface="Arial"/>
                <a:cs typeface="Arial"/>
              </a:rPr>
              <a:t> </a:t>
            </a:r>
            <a:r>
              <a:rPr sz="1000" spc="-5" dirty="0">
                <a:latin typeface="Arial"/>
                <a:cs typeface="Arial"/>
              </a:rPr>
              <a:t>associating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identifier</a:t>
            </a:r>
            <a:r>
              <a:rPr sz="1000" dirty="0">
                <a:latin typeface="Arial"/>
                <a:cs typeface="Arial"/>
              </a:rPr>
              <a:t> </a:t>
            </a:r>
            <a:r>
              <a:rPr sz="1000" spc="-5" dirty="0">
                <a:latin typeface="Arial"/>
                <a:cs typeface="Arial"/>
              </a:rPr>
              <a:t>of </a:t>
            </a:r>
            <a:r>
              <a:rPr sz="1000" dirty="0">
                <a:latin typeface="Arial"/>
                <a:cs typeface="Arial"/>
              </a:rPr>
              <a:t> </a:t>
            </a:r>
            <a:r>
              <a:rPr sz="1000" spc="-5" dirty="0">
                <a:latin typeface="Arial"/>
                <a:cs typeface="Arial"/>
              </a:rPr>
              <a:t>another name space with a node in a</a:t>
            </a:r>
            <a:r>
              <a:rPr sz="1000" dirty="0">
                <a:latin typeface="Arial"/>
                <a:cs typeface="Arial"/>
              </a:rPr>
              <a:t> </a:t>
            </a:r>
            <a:r>
              <a:rPr sz="1000" spc="-5" dirty="0">
                <a:latin typeface="Arial"/>
                <a:cs typeface="Arial"/>
              </a:rPr>
              <a:t>current name space.</a:t>
            </a:r>
            <a:endParaRPr sz="1000" dirty="0">
              <a:latin typeface="Arial"/>
              <a:cs typeface="Arial"/>
            </a:endParaRPr>
          </a:p>
          <a:p>
            <a:pPr marL="38100">
              <a:lnSpc>
                <a:spcPct val="100000"/>
              </a:lnSpc>
              <a:spcBef>
                <a:spcPts val="645"/>
              </a:spcBef>
            </a:pPr>
            <a:r>
              <a:rPr sz="1200" spc="-15" dirty="0">
                <a:solidFill>
                  <a:srgbClr val="3333B2"/>
                </a:solidFill>
                <a:latin typeface="Arial"/>
                <a:cs typeface="Arial"/>
              </a:rPr>
              <a:t>Terminology</a:t>
            </a:r>
            <a:endParaRPr sz="1200" dirty="0">
              <a:latin typeface="Arial"/>
              <a:cs typeface="Arial"/>
            </a:endParaRPr>
          </a:p>
          <a:p>
            <a:pPr marL="319405" indent="-168275">
              <a:lnSpc>
                <a:spcPts val="1200"/>
              </a:lnSpc>
              <a:spcBef>
                <a:spcPts val="790"/>
              </a:spcBef>
              <a:buClr>
                <a:srgbClr val="3333B2"/>
              </a:buClr>
              <a:buChar char="►"/>
              <a:tabLst>
                <a:tab pos="320040" algn="l"/>
              </a:tabLst>
            </a:pPr>
            <a:r>
              <a:rPr sz="1000" spc="-15" dirty="0">
                <a:solidFill>
                  <a:srgbClr val="FA0000"/>
                </a:solidFill>
                <a:latin typeface="Arial"/>
                <a:cs typeface="Arial"/>
              </a:rPr>
              <a:t>Foreign</a:t>
            </a:r>
            <a:r>
              <a:rPr sz="1000" dirty="0">
                <a:solidFill>
                  <a:srgbClr val="FA0000"/>
                </a:solidFill>
                <a:latin typeface="Arial"/>
                <a:cs typeface="Arial"/>
              </a:rPr>
              <a:t> </a:t>
            </a:r>
            <a:r>
              <a:rPr sz="1000" spc="-10" dirty="0">
                <a:solidFill>
                  <a:srgbClr val="FA0000"/>
                </a:solidFill>
                <a:latin typeface="Arial"/>
                <a:cs typeface="Arial"/>
              </a:rPr>
              <a:t>name</a:t>
            </a:r>
            <a:r>
              <a:rPr sz="1000" dirty="0">
                <a:solidFill>
                  <a:srgbClr val="FA0000"/>
                </a:solidFill>
                <a:latin typeface="Arial"/>
                <a:cs typeface="Arial"/>
              </a:rPr>
              <a:t> </a:t>
            </a:r>
            <a:r>
              <a:rPr sz="1000" spc="-10" dirty="0">
                <a:solidFill>
                  <a:srgbClr val="FA0000"/>
                </a:solidFill>
                <a:latin typeface="Arial"/>
                <a:cs typeface="Arial"/>
              </a:rPr>
              <a:t>space</a:t>
            </a:r>
            <a:r>
              <a:rPr sz="1000" spc="-10" dirty="0">
                <a:latin typeface="Arial"/>
                <a:cs typeface="Arial"/>
              </a:rPr>
              <a:t>:</a:t>
            </a:r>
            <a:r>
              <a:rPr sz="1000" spc="75" dirty="0">
                <a:latin typeface="Arial"/>
                <a:cs typeface="Arial"/>
              </a:rPr>
              <a:t> </a:t>
            </a:r>
            <a:r>
              <a:rPr sz="1000" spc="-10" dirty="0">
                <a:latin typeface="Arial"/>
                <a:cs typeface="Arial"/>
              </a:rPr>
              <a:t>the</a:t>
            </a:r>
            <a:r>
              <a:rPr sz="1000" dirty="0">
                <a:latin typeface="Arial"/>
                <a:cs typeface="Arial"/>
              </a:rPr>
              <a:t> </a:t>
            </a:r>
            <a:r>
              <a:rPr sz="1000" spc="-10" dirty="0">
                <a:latin typeface="Arial"/>
                <a:cs typeface="Arial"/>
              </a:rPr>
              <a:t>name</a:t>
            </a:r>
            <a:r>
              <a:rPr sz="1000" dirty="0">
                <a:latin typeface="Arial"/>
                <a:cs typeface="Arial"/>
              </a:rPr>
              <a:t> </a:t>
            </a:r>
            <a:r>
              <a:rPr sz="1000" spc="-10" dirty="0">
                <a:latin typeface="Arial"/>
                <a:cs typeface="Arial"/>
              </a:rPr>
              <a:t>space</a:t>
            </a:r>
            <a:r>
              <a:rPr sz="1000" spc="5"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needs</a:t>
            </a:r>
            <a:r>
              <a:rPr sz="1000" dirty="0">
                <a:latin typeface="Arial"/>
                <a:cs typeface="Arial"/>
              </a:rPr>
              <a:t> </a:t>
            </a:r>
            <a:r>
              <a:rPr sz="1000" spc="-10" dirty="0">
                <a:latin typeface="Arial"/>
                <a:cs typeface="Arial"/>
              </a:rPr>
              <a:t>to</a:t>
            </a:r>
            <a:r>
              <a:rPr sz="1000" spc="5" dirty="0">
                <a:latin typeface="Arial"/>
                <a:cs typeface="Arial"/>
              </a:rPr>
              <a:t> </a:t>
            </a:r>
            <a:r>
              <a:rPr sz="1000" spc="-10" dirty="0">
                <a:latin typeface="Arial"/>
                <a:cs typeface="Arial"/>
              </a:rPr>
              <a:t>be</a:t>
            </a:r>
            <a:r>
              <a:rPr sz="1000" dirty="0">
                <a:latin typeface="Arial"/>
                <a:cs typeface="Arial"/>
              </a:rPr>
              <a:t> </a:t>
            </a:r>
            <a:r>
              <a:rPr sz="1000" spc="-10" dirty="0">
                <a:latin typeface="Arial"/>
                <a:cs typeface="Arial"/>
              </a:rPr>
              <a:t>accessed</a:t>
            </a:r>
            <a:endParaRPr sz="1000" dirty="0">
              <a:latin typeface="Arial"/>
              <a:cs typeface="Arial"/>
            </a:endParaRPr>
          </a:p>
          <a:p>
            <a:pPr marL="319405" marR="88265" indent="-168275">
              <a:lnSpc>
                <a:spcPts val="1200"/>
              </a:lnSpc>
              <a:spcBef>
                <a:spcPts val="35"/>
              </a:spcBef>
              <a:buClr>
                <a:srgbClr val="3333B2"/>
              </a:buClr>
              <a:buChar char="►"/>
              <a:tabLst>
                <a:tab pos="320040" algn="l"/>
              </a:tabLst>
            </a:pPr>
            <a:r>
              <a:rPr sz="1000" spc="-5" dirty="0">
                <a:solidFill>
                  <a:srgbClr val="FA0000"/>
                </a:solidFill>
                <a:latin typeface="Arial"/>
                <a:cs typeface="Arial"/>
              </a:rPr>
              <a:t>Mount</a:t>
            </a:r>
            <a:r>
              <a:rPr sz="1000" dirty="0">
                <a:solidFill>
                  <a:srgbClr val="FA0000"/>
                </a:solidFill>
                <a:latin typeface="Arial"/>
                <a:cs typeface="Arial"/>
              </a:rPr>
              <a:t> </a:t>
            </a:r>
            <a:r>
              <a:rPr sz="1000" spc="-5" dirty="0">
                <a:solidFill>
                  <a:srgbClr val="FA0000"/>
                </a:solidFill>
                <a:latin typeface="Arial"/>
                <a:cs typeface="Arial"/>
              </a:rPr>
              <a:t>point</a:t>
            </a:r>
            <a:r>
              <a:rPr sz="1000" spc="-5" dirty="0">
                <a:latin typeface="Arial"/>
                <a:cs typeface="Arial"/>
              </a:rPr>
              <a:t>:</a:t>
            </a:r>
            <a:r>
              <a:rPr sz="1000" spc="6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current</a:t>
            </a:r>
            <a:r>
              <a:rPr sz="1000" dirty="0">
                <a:latin typeface="Arial"/>
                <a:cs typeface="Arial"/>
              </a:rPr>
              <a:t> </a:t>
            </a:r>
            <a:r>
              <a:rPr sz="1000" spc="-5" dirty="0">
                <a:latin typeface="Arial"/>
                <a:cs typeface="Arial"/>
              </a:rPr>
              <a:t>name</a:t>
            </a:r>
            <a:r>
              <a:rPr sz="1000" dirty="0">
                <a:latin typeface="Arial"/>
                <a:cs typeface="Arial"/>
              </a:rPr>
              <a:t> </a:t>
            </a:r>
            <a:r>
              <a:rPr sz="1000" spc="-5" dirty="0">
                <a:latin typeface="Arial"/>
                <a:cs typeface="Arial"/>
              </a:rPr>
              <a:t>space</a:t>
            </a:r>
            <a:r>
              <a:rPr sz="1000" dirty="0">
                <a:latin typeface="Arial"/>
                <a:cs typeface="Arial"/>
              </a:rPr>
              <a:t> </a:t>
            </a:r>
            <a:r>
              <a:rPr sz="1000" spc="-5" dirty="0">
                <a:latin typeface="Arial"/>
                <a:cs typeface="Arial"/>
              </a:rPr>
              <a:t>containing</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node identifier of the </a:t>
            </a:r>
            <a:r>
              <a:rPr sz="1000" spc="-10" dirty="0">
                <a:latin typeface="Arial"/>
                <a:cs typeface="Arial"/>
              </a:rPr>
              <a:t>foreign</a:t>
            </a:r>
            <a:r>
              <a:rPr sz="1000" spc="-5" dirty="0">
                <a:latin typeface="Arial"/>
                <a:cs typeface="Arial"/>
              </a:rPr>
              <a:t> name space</a:t>
            </a:r>
            <a:endParaRPr sz="1000" dirty="0">
              <a:latin typeface="Arial"/>
              <a:cs typeface="Arial"/>
            </a:endParaRPr>
          </a:p>
          <a:p>
            <a:pPr marL="319405" indent="-168275">
              <a:lnSpc>
                <a:spcPts val="1150"/>
              </a:lnSpc>
              <a:buClr>
                <a:srgbClr val="3333B2"/>
              </a:buClr>
              <a:buChar char="►"/>
              <a:tabLst>
                <a:tab pos="320040" algn="l"/>
              </a:tabLst>
            </a:pPr>
            <a:r>
              <a:rPr sz="1000" spc="-5" dirty="0">
                <a:solidFill>
                  <a:srgbClr val="FA0000"/>
                </a:solidFill>
                <a:latin typeface="Arial"/>
                <a:cs typeface="Arial"/>
              </a:rPr>
              <a:t>Mounting point</a:t>
            </a:r>
            <a:r>
              <a:rPr sz="1000" spc="-5" dirty="0">
                <a:latin typeface="Arial"/>
                <a:cs typeface="Arial"/>
              </a:rPr>
              <a:t>:</a:t>
            </a:r>
            <a:r>
              <a:rPr sz="1000" spc="7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node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foreign</a:t>
            </a:r>
            <a:r>
              <a:rPr sz="1000" dirty="0">
                <a:latin typeface="Arial"/>
                <a:cs typeface="Arial"/>
              </a:rPr>
              <a:t> </a:t>
            </a:r>
            <a:r>
              <a:rPr sz="1000" spc="-5" dirty="0">
                <a:latin typeface="Arial"/>
                <a:cs typeface="Arial"/>
              </a:rPr>
              <a:t>name space</a:t>
            </a:r>
            <a:r>
              <a:rPr sz="1000" dirty="0">
                <a:latin typeface="Arial"/>
                <a:cs typeface="Arial"/>
              </a:rPr>
              <a:t> </a:t>
            </a:r>
            <a:r>
              <a:rPr sz="1000" spc="-5" dirty="0">
                <a:latin typeface="Arial"/>
                <a:cs typeface="Arial"/>
              </a:rPr>
              <a:t>where</a:t>
            </a:r>
            <a:r>
              <a:rPr sz="1000" dirty="0">
                <a:latin typeface="Arial"/>
                <a:cs typeface="Arial"/>
              </a:rPr>
              <a:t> </a:t>
            </a:r>
            <a:r>
              <a:rPr sz="1000" spc="-5" dirty="0">
                <a:latin typeface="Arial"/>
                <a:cs typeface="Arial"/>
              </a:rPr>
              <a:t>to</a:t>
            </a:r>
            <a:endParaRPr sz="1000" dirty="0">
              <a:latin typeface="Arial"/>
              <a:cs typeface="Arial"/>
            </a:endParaRPr>
          </a:p>
          <a:p>
            <a:pPr marL="319405">
              <a:lnSpc>
                <a:spcPts val="1200"/>
              </a:lnSpc>
            </a:pPr>
            <a:r>
              <a:rPr sz="1000" spc="-5" dirty="0">
                <a:latin typeface="Arial"/>
                <a:cs typeface="Arial"/>
              </a:rPr>
              <a:t>continue</a:t>
            </a:r>
            <a:r>
              <a:rPr sz="1000" spc="-20" dirty="0">
                <a:latin typeface="Arial"/>
                <a:cs typeface="Arial"/>
              </a:rPr>
              <a:t> </a:t>
            </a:r>
            <a:r>
              <a:rPr sz="1000" spc="-5" dirty="0">
                <a:latin typeface="Arial"/>
                <a:cs typeface="Arial"/>
              </a:rPr>
              <a:t>name</a:t>
            </a:r>
            <a:r>
              <a:rPr sz="1000" spc="-20" dirty="0">
                <a:latin typeface="Arial"/>
                <a:cs typeface="Arial"/>
              </a:rPr>
              <a:t> </a:t>
            </a:r>
            <a:r>
              <a:rPr sz="1000" spc="-5" dirty="0">
                <a:latin typeface="Arial"/>
                <a:cs typeface="Arial"/>
              </a:rPr>
              <a:t>resolution</a:t>
            </a:r>
            <a:endParaRPr sz="1000" dirty="0">
              <a:latin typeface="Arial"/>
              <a:cs typeface="Arial"/>
            </a:endParaRPr>
          </a:p>
          <a:p>
            <a:pPr>
              <a:lnSpc>
                <a:spcPct val="100000"/>
              </a:lnSpc>
              <a:spcBef>
                <a:spcPts val="40"/>
              </a:spcBef>
            </a:pPr>
            <a:endParaRPr sz="1100" dirty="0">
              <a:latin typeface="Arial"/>
              <a:cs typeface="Arial"/>
            </a:endParaRPr>
          </a:p>
          <a:p>
            <a:pPr marL="42545">
              <a:lnSpc>
                <a:spcPct val="100000"/>
              </a:lnSpc>
            </a:pPr>
            <a:r>
              <a:rPr sz="1200" spc="-5" dirty="0">
                <a:solidFill>
                  <a:srgbClr val="3333B2"/>
                </a:solidFill>
                <a:latin typeface="Arial"/>
                <a:cs typeface="Arial"/>
              </a:rPr>
              <a:t>Mounting</a:t>
            </a:r>
            <a:r>
              <a:rPr sz="1200" spc="-15" dirty="0">
                <a:solidFill>
                  <a:srgbClr val="3333B2"/>
                </a:solidFill>
                <a:latin typeface="Arial"/>
                <a:cs typeface="Arial"/>
              </a:rPr>
              <a:t> </a:t>
            </a:r>
            <a:r>
              <a:rPr sz="1200" spc="-5" dirty="0">
                <a:solidFill>
                  <a:srgbClr val="3333B2"/>
                </a:solidFill>
                <a:latin typeface="Arial"/>
                <a:cs typeface="Arial"/>
              </a:rPr>
              <a:t>across</a:t>
            </a:r>
            <a:r>
              <a:rPr sz="1200" spc="-15" dirty="0">
                <a:solidFill>
                  <a:srgbClr val="3333B2"/>
                </a:solidFill>
                <a:latin typeface="Arial"/>
                <a:cs typeface="Arial"/>
              </a:rPr>
              <a:t> </a:t>
            </a:r>
            <a:r>
              <a:rPr sz="1200" spc="-5" dirty="0">
                <a:solidFill>
                  <a:srgbClr val="3333B2"/>
                </a:solidFill>
                <a:latin typeface="Arial"/>
                <a:cs typeface="Arial"/>
              </a:rPr>
              <a:t>a</a:t>
            </a:r>
            <a:r>
              <a:rPr sz="1200" spc="-15" dirty="0">
                <a:solidFill>
                  <a:srgbClr val="3333B2"/>
                </a:solidFill>
                <a:latin typeface="Arial"/>
                <a:cs typeface="Arial"/>
              </a:rPr>
              <a:t> </a:t>
            </a:r>
            <a:r>
              <a:rPr sz="1200" spc="-5" dirty="0">
                <a:solidFill>
                  <a:srgbClr val="3333B2"/>
                </a:solidFill>
                <a:latin typeface="Arial"/>
                <a:cs typeface="Arial"/>
              </a:rPr>
              <a:t>network</a:t>
            </a:r>
            <a:endParaRPr sz="1200" dirty="0">
              <a:latin typeface="Arial"/>
              <a:cs typeface="Arial"/>
            </a:endParaRPr>
          </a:p>
          <a:p>
            <a:pPr marL="319405" indent="-175260">
              <a:lnSpc>
                <a:spcPts val="1200"/>
              </a:lnSpc>
              <a:spcBef>
                <a:spcPts val="790"/>
              </a:spcBef>
              <a:buClr>
                <a:srgbClr val="3333B2"/>
              </a:buClr>
              <a:buAutoNum type="arabicPeriod"/>
              <a:tabLst>
                <a:tab pos="320040" algn="l"/>
              </a:tabLst>
            </a:pPr>
            <a:r>
              <a:rPr sz="1000" spc="-5" dirty="0">
                <a:latin typeface="Arial"/>
                <a:cs typeface="Arial"/>
              </a:rPr>
              <a:t>The</a:t>
            </a:r>
            <a:r>
              <a:rPr sz="1000" spc="-10" dirty="0">
                <a:latin typeface="Arial"/>
                <a:cs typeface="Arial"/>
              </a:rPr>
              <a:t> </a:t>
            </a:r>
            <a:r>
              <a:rPr sz="1000" spc="-5" dirty="0">
                <a:latin typeface="Arial"/>
                <a:cs typeface="Arial"/>
              </a:rPr>
              <a:t>name</a:t>
            </a:r>
            <a:r>
              <a:rPr sz="1000" spc="-10" dirty="0">
                <a:latin typeface="Arial"/>
                <a:cs typeface="Arial"/>
              </a:rPr>
              <a:t> </a:t>
            </a:r>
            <a:r>
              <a:rPr sz="1000" spc="-5" dirty="0">
                <a:latin typeface="Arial"/>
                <a:cs typeface="Arial"/>
              </a:rPr>
              <a:t>of an</a:t>
            </a:r>
            <a:r>
              <a:rPr sz="1000" spc="-10" dirty="0">
                <a:latin typeface="Arial"/>
                <a:cs typeface="Arial"/>
              </a:rPr>
              <a:t> </a:t>
            </a:r>
            <a:r>
              <a:rPr sz="1000" spc="-5" dirty="0">
                <a:latin typeface="Arial"/>
                <a:cs typeface="Arial"/>
              </a:rPr>
              <a:t>access</a:t>
            </a:r>
            <a:r>
              <a:rPr sz="1000" spc="-10" dirty="0">
                <a:latin typeface="Arial"/>
                <a:cs typeface="Arial"/>
              </a:rPr>
              <a:t> </a:t>
            </a:r>
            <a:r>
              <a:rPr sz="1000" spc="-5" dirty="0">
                <a:latin typeface="Arial"/>
                <a:cs typeface="Arial"/>
              </a:rPr>
              <a:t>protocol.</a:t>
            </a:r>
            <a:endParaRPr sz="1000" dirty="0">
              <a:latin typeface="Arial"/>
              <a:cs typeface="Arial"/>
            </a:endParaRPr>
          </a:p>
          <a:p>
            <a:pPr marL="319405" indent="-175260">
              <a:lnSpc>
                <a:spcPts val="1195"/>
              </a:lnSpc>
              <a:buClr>
                <a:srgbClr val="3333B2"/>
              </a:buClr>
              <a:buAutoNum type="arabicPeriod"/>
              <a:tabLst>
                <a:tab pos="320040" algn="l"/>
              </a:tabLst>
            </a:pPr>
            <a:r>
              <a:rPr sz="1000" spc="-5" dirty="0">
                <a:latin typeface="Arial"/>
                <a:cs typeface="Arial"/>
              </a:rPr>
              <a:t>The</a:t>
            </a:r>
            <a:r>
              <a:rPr sz="1000" spc="-20" dirty="0">
                <a:latin typeface="Arial"/>
                <a:cs typeface="Arial"/>
              </a:rPr>
              <a:t> </a:t>
            </a:r>
            <a:r>
              <a:rPr sz="1000" spc="-5" dirty="0">
                <a:latin typeface="Arial"/>
                <a:cs typeface="Arial"/>
              </a:rPr>
              <a:t>name</a:t>
            </a:r>
            <a:r>
              <a:rPr sz="1000" spc="-15" dirty="0">
                <a:latin typeface="Arial"/>
                <a:cs typeface="Arial"/>
              </a:rPr>
              <a:t> </a:t>
            </a:r>
            <a:r>
              <a:rPr sz="1000" spc="-5" dirty="0">
                <a:latin typeface="Arial"/>
                <a:cs typeface="Arial"/>
              </a:rPr>
              <a:t>of</a:t>
            </a:r>
            <a:r>
              <a:rPr sz="1000" spc="-15" dirty="0">
                <a:latin typeface="Arial"/>
                <a:cs typeface="Arial"/>
              </a:rPr>
              <a:t> </a:t>
            </a:r>
            <a:r>
              <a:rPr sz="1000" spc="-5" dirty="0">
                <a:latin typeface="Arial"/>
                <a:cs typeface="Arial"/>
              </a:rPr>
              <a:t>the</a:t>
            </a:r>
            <a:r>
              <a:rPr sz="1000" spc="-15" dirty="0">
                <a:latin typeface="Arial"/>
                <a:cs typeface="Arial"/>
              </a:rPr>
              <a:t> </a:t>
            </a:r>
            <a:r>
              <a:rPr sz="1000" spc="-10" dirty="0">
                <a:latin typeface="Arial"/>
                <a:cs typeface="Arial"/>
              </a:rPr>
              <a:t>server.</a:t>
            </a:r>
            <a:endParaRPr sz="1000" dirty="0">
              <a:latin typeface="Arial"/>
              <a:cs typeface="Arial"/>
            </a:endParaRPr>
          </a:p>
          <a:p>
            <a:pPr marL="319405" indent="-175260">
              <a:lnSpc>
                <a:spcPts val="1200"/>
              </a:lnSpc>
              <a:buClr>
                <a:srgbClr val="3333B2"/>
              </a:buClr>
              <a:buAutoNum type="arabicPeriod"/>
              <a:tabLst>
                <a:tab pos="320040" algn="l"/>
              </a:tabLst>
            </a:pPr>
            <a:r>
              <a:rPr sz="1000" spc="-5" dirty="0">
                <a:latin typeface="Arial"/>
                <a:cs typeface="Arial"/>
              </a:rPr>
              <a:t>The name</a:t>
            </a:r>
            <a:r>
              <a:rPr sz="1000" dirty="0">
                <a:latin typeface="Arial"/>
                <a:cs typeface="Arial"/>
              </a:rPr>
              <a:t> </a:t>
            </a:r>
            <a:r>
              <a:rPr sz="1000" spc="-5" dirty="0">
                <a:latin typeface="Arial"/>
                <a:cs typeface="Arial"/>
              </a:rPr>
              <a:t>of the</a:t>
            </a:r>
            <a:r>
              <a:rPr sz="1000" dirty="0">
                <a:latin typeface="Arial"/>
                <a:cs typeface="Arial"/>
              </a:rPr>
              <a:t> </a:t>
            </a:r>
            <a:r>
              <a:rPr sz="1000" spc="-5" dirty="0">
                <a:latin typeface="Arial"/>
                <a:cs typeface="Arial"/>
              </a:rPr>
              <a:t>mounting</a:t>
            </a:r>
            <a:r>
              <a:rPr sz="1000" dirty="0">
                <a:latin typeface="Arial"/>
                <a:cs typeface="Arial"/>
              </a:rPr>
              <a:t> </a:t>
            </a:r>
            <a:r>
              <a:rPr sz="1000" spc="-5" dirty="0">
                <a:latin typeface="Arial"/>
                <a:cs typeface="Arial"/>
              </a:rPr>
              <a:t>point in</a:t>
            </a:r>
            <a:r>
              <a:rPr sz="1000" dirty="0">
                <a:latin typeface="Arial"/>
                <a:cs typeface="Arial"/>
              </a:rPr>
              <a:t> </a:t>
            </a:r>
            <a:r>
              <a:rPr sz="1000" spc="-5" dirty="0">
                <a:latin typeface="Arial"/>
                <a:cs typeface="Arial"/>
              </a:rPr>
              <a:t>the </a:t>
            </a:r>
            <a:r>
              <a:rPr sz="1000" spc="-10" dirty="0">
                <a:latin typeface="Arial"/>
                <a:cs typeface="Arial"/>
              </a:rPr>
              <a:t>foreign</a:t>
            </a:r>
            <a:r>
              <a:rPr sz="1000" dirty="0">
                <a:latin typeface="Arial"/>
                <a:cs typeface="Arial"/>
              </a:rPr>
              <a:t> </a:t>
            </a:r>
            <a:r>
              <a:rPr sz="1000" spc="-5" dirty="0">
                <a:latin typeface="Arial"/>
                <a:cs typeface="Arial"/>
              </a:rPr>
              <a:t>name</a:t>
            </a:r>
            <a:r>
              <a:rPr sz="1000" dirty="0">
                <a:latin typeface="Arial"/>
                <a:cs typeface="Arial"/>
              </a:rPr>
              <a:t> </a:t>
            </a:r>
            <a:r>
              <a:rPr sz="1000" spc="-5" dirty="0">
                <a:latin typeface="Arial"/>
                <a:cs typeface="Arial"/>
              </a:rPr>
              <a:t>space.</a:t>
            </a:r>
            <a:endParaRPr sz="1000" dirty="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09060"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Name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resolution</a:t>
            </a:r>
            <a:endParaRPr sz="600">
              <a:latin typeface="Arial"/>
              <a:cs typeface="Arial"/>
            </a:endParaRPr>
          </a:p>
        </p:txBody>
      </p:sp>
      <p:sp>
        <p:nvSpPr>
          <p:cNvPr id="3" name="object 3"/>
          <p:cNvSpPr txBox="1">
            <a:spLocks noGrp="1"/>
          </p:cNvSpPr>
          <p:nvPr>
            <p:ph type="title"/>
          </p:nvPr>
        </p:nvSpPr>
        <p:spPr>
          <a:xfrm>
            <a:off x="95300" y="188846"/>
            <a:ext cx="2576195" cy="244475"/>
          </a:xfrm>
          <a:prstGeom prst="rect">
            <a:avLst/>
          </a:prstGeom>
        </p:spPr>
        <p:txBody>
          <a:bodyPr vert="horz" wrap="square" lIns="0" tIns="17145" rIns="0" bIns="0" rtlCol="0">
            <a:spAutoFit/>
          </a:bodyPr>
          <a:lstStyle/>
          <a:p>
            <a:pPr marL="12700">
              <a:lnSpc>
                <a:spcPct val="100000"/>
              </a:lnSpc>
              <a:spcBef>
                <a:spcPts val="135"/>
              </a:spcBef>
            </a:pPr>
            <a:r>
              <a:rPr spc="15" dirty="0"/>
              <a:t>Mounting</a:t>
            </a:r>
            <a:r>
              <a:rPr dirty="0"/>
              <a:t> </a:t>
            </a:r>
            <a:r>
              <a:rPr spc="10" dirty="0"/>
              <a:t>in</a:t>
            </a:r>
            <a:r>
              <a:rPr dirty="0"/>
              <a:t> </a:t>
            </a:r>
            <a:r>
              <a:rPr spc="10" dirty="0"/>
              <a:t>distributed</a:t>
            </a:r>
            <a:r>
              <a:rPr dirty="0"/>
              <a:t> </a:t>
            </a:r>
            <a:r>
              <a:rPr spc="15" dirty="0"/>
              <a:t>systems</a:t>
            </a:r>
          </a:p>
        </p:txBody>
      </p:sp>
      <p:sp>
        <p:nvSpPr>
          <p:cNvPr id="4" name="object 4"/>
          <p:cNvSpPr txBox="1"/>
          <p:nvPr/>
        </p:nvSpPr>
        <p:spPr>
          <a:xfrm>
            <a:off x="347294" y="368792"/>
            <a:ext cx="3856990" cy="384810"/>
          </a:xfrm>
          <a:prstGeom prst="rect">
            <a:avLst/>
          </a:prstGeom>
        </p:spPr>
        <p:txBody>
          <a:bodyPr vert="horz" wrap="square" lIns="0" tIns="22860" rIns="0" bIns="0" rtlCol="0">
            <a:spAutoFit/>
          </a:bodyPr>
          <a:lstStyle/>
          <a:p>
            <a:pPr marL="12700" marR="5080">
              <a:lnSpc>
                <a:spcPts val="1390"/>
              </a:lnSpc>
              <a:spcBef>
                <a:spcPts val="180"/>
              </a:spcBef>
            </a:pPr>
            <a:r>
              <a:rPr sz="1200" spc="-5" dirty="0">
                <a:solidFill>
                  <a:srgbClr val="3333B2"/>
                </a:solidFill>
                <a:latin typeface="Arial"/>
                <a:cs typeface="Arial"/>
              </a:rPr>
              <a:t>Mounting remote</a:t>
            </a:r>
            <a:r>
              <a:rPr sz="1200" dirty="0">
                <a:solidFill>
                  <a:srgbClr val="3333B2"/>
                </a:solidFill>
                <a:latin typeface="Arial"/>
                <a:cs typeface="Arial"/>
              </a:rPr>
              <a:t> </a:t>
            </a:r>
            <a:r>
              <a:rPr sz="1200" spc="-5" dirty="0">
                <a:solidFill>
                  <a:srgbClr val="3333B2"/>
                </a:solidFill>
                <a:latin typeface="Arial"/>
                <a:cs typeface="Arial"/>
              </a:rPr>
              <a:t>name spaces</a:t>
            </a:r>
            <a:r>
              <a:rPr sz="1200" dirty="0">
                <a:solidFill>
                  <a:srgbClr val="3333B2"/>
                </a:solidFill>
                <a:latin typeface="Arial"/>
                <a:cs typeface="Arial"/>
              </a:rPr>
              <a:t> </a:t>
            </a:r>
            <a:r>
              <a:rPr sz="1200" spc="-5" dirty="0">
                <a:solidFill>
                  <a:srgbClr val="3333B2"/>
                </a:solidFill>
                <a:latin typeface="Arial"/>
                <a:cs typeface="Arial"/>
              </a:rPr>
              <a:t>through</a:t>
            </a:r>
            <a:r>
              <a:rPr sz="1200" dirty="0">
                <a:solidFill>
                  <a:srgbClr val="3333B2"/>
                </a:solidFill>
                <a:latin typeface="Arial"/>
                <a:cs typeface="Arial"/>
              </a:rPr>
              <a:t> </a:t>
            </a:r>
            <a:r>
              <a:rPr sz="1200" spc="-5" dirty="0">
                <a:solidFill>
                  <a:srgbClr val="3333B2"/>
                </a:solidFill>
                <a:latin typeface="Arial"/>
                <a:cs typeface="Arial"/>
              </a:rPr>
              <a:t>a specific</a:t>
            </a:r>
            <a:r>
              <a:rPr sz="1200" dirty="0">
                <a:solidFill>
                  <a:srgbClr val="3333B2"/>
                </a:solidFill>
                <a:latin typeface="Arial"/>
                <a:cs typeface="Arial"/>
              </a:rPr>
              <a:t> </a:t>
            </a:r>
            <a:r>
              <a:rPr sz="1200" spc="-5" dirty="0">
                <a:solidFill>
                  <a:srgbClr val="3333B2"/>
                </a:solidFill>
                <a:latin typeface="Arial"/>
                <a:cs typeface="Arial"/>
              </a:rPr>
              <a:t>access </a:t>
            </a:r>
            <a:r>
              <a:rPr sz="1200" spc="-320" dirty="0">
                <a:solidFill>
                  <a:srgbClr val="3333B2"/>
                </a:solidFill>
                <a:latin typeface="Arial"/>
                <a:cs typeface="Arial"/>
              </a:rPr>
              <a:t> </a:t>
            </a:r>
            <a:r>
              <a:rPr sz="1200" spc="-5" dirty="0">
                <a:solidFill>
                  <a:srgbClr val="3333B2"/>
                </a:solidFill>
                <a:latin typeface="Arial"/>
                <a:cs typeface="Arial"/>
              </a:rPr>
              <a:t>protocol</a:t>
            </a:r>
            <a:endParaRPr sz="1200">
              <a:latin typeface="Arial"/>
              <a:cs typeface="Arial"/>
            </a:endParaRPr>
          </a:p>
        </p:txBody>
      </p:sp>
      <p:grpSp>
        <p:nvGrpSpPr>
          <p:cNvPr id="5" name="object 5"/>
          <p:cNvGrpSpPr/>
          <p:nvPr/>
        </p:nvGrpSpPr>
        <p:grpSpPr>
          <a:xfrm>
            <a:off x="599403" y="945125"/>
            <a:ext cx="3407410" cy="1950085"/>
            <a:chOff x="599403" y="945125"/>
            <a:chExt cx="3407410" cy="1950085"/>
          </a:xfrm>
        </p:grpSpPr>
        <p:sp>
          <p:nvSpPr>
            <p:cNvPr id="6" name="object 6"/>
            <p:cNvSpPr/>
            <p:nvPr/>
          </p:nvSpPr>
          <p:spPr>
            <a:xfrm>
              <a:off x="604483" y="1093778"/>
              <a:ext cx="1166495" cy="1400175"/>
            </a:xfrm>
            <a:custGeom>
              <a:avLst/>
              <a:gdLst/>
              <a:ahLst/>
              <a:cxnLst/>
              <a:rect l="l" t="t" r="r" b="b"/>
              <a:pathLst>
                <a:path w="1166495" h="1400175">
                  <a:moveTo>
                    <a:pt x="0" y="0"/>
                  </a:moveTo>
                  <a:lnTo>
                    <a:pt x="1166411" y="0"/>
                  </a:lnTo>
                  <a:lnTo>
                    <a:pt x="1166411" y="1399685"/>
                  </a:lnTo>
                  <a:lnTo>
                    <a:pt x="0" y="1399685"/>
                  </a:lnTo>
                  <a:lnTo>
                    <a:pt x="0" y="0"/>
                  </a:lnTo>
                  <a:close/>
                </a:path>
              </a:pathLst>
            </a:custGeom>
            <a:ln w="9784">
              <a:solidFill>
                <a:srgbClr val="231F20"/>
              </a:solidFill>
            </a:ln>
          </p:spPr>
          <p:txBody>
            <a:bodyPr wrap="square" lIns="0" tIns="0" rIns="0" bIns="0" rtlCol="0"/>
            <a:lstStyle/>
            <a:p>
              <a:endParaRPr/>
            </a:p>
          </p:txBody>
        </p:sp>
        <p:sp>
          <p:nvSpPr>
            <p:cNvPr id="7" name="object 7"/>
            <p:cNvSpPr/>
            <p:nvPr/>
          </p:nvSpPr>
          <p:spPr>
            <a:xfrm>
              <a:off x="721124" y="1210417"/>
              <a:ext cx="933450" cy="1283335"/>
            </a:xfrm>
            <a:custGeom>
              <a:avLst/>
              <a:gdLst/>
              <a:ahLst/>
              <a:cxnLst/>
              <a:rect l="l" t="t" r="r" b="b"/>
              <a:pathLst>
                <a:path w="933450" h="1283335">
                  <a:moveTo>
                    <a:pt x="933123" y="0"/>
                  </a:moveTo>
                  <a:lnTo>
                    <a:pt x="0" y="0"/>
                  </a:lnTo>
                  <a:lnTo>
                    <a:pt x="0" y="1283046"/>
                  </a:lnTo>
                  <a:lnTo>
                    <a:pt x="933123" y="1283046"/>
                  </a:lnTo>
                  <a:lnTo>
                    <a:pt x="933123" y="0"/>
                  </a:lnTo>
                  <a:close/>
                </a:path>
              </a:pathLst>
            </a:custGeom>
            <a:solidFill>
              <a:srgbClr val="D1D3D4"/>
            </a:solidFill>
          </p:spPr>
          <p:txBody>
            <a:bodyPr wrap="square" lIns="0" tIns="0" rIns="0" bIns="0" rtlCol="0"/>
            <a:lstStyle/>
            <a:p>
              <a:endParaRPr/>
            </a:p>
          </p:txBody>
        </p:sp>
        <p:sp>
          <p:nvSpPr>
            <p:cNvPr id="8" name="object 8"/>
            <p:cNvSpPr/>
            <p:nvPr/>
          </p:nvSpPr>
          <p:spPr>
            <a:xfrm>
              <a:off x="721124" y="977136"/>
              <a:ext cx="933450" cy="1516380"/>
            </a:xfrm>
            <a:custGeom>
              <a:avLst/>
              <a:gdLst/>
              <a:ahLst/>
              <a:cxnLst/>
              <a:rect l="l" t="t" r="r" b="b"/>
              <a:pathLst>
                <a:path w="933450" h="1516380">
                  <a:moveTo>
                    <a:pt x="0" y="1516327"/>
                  </a:moveTo>
                  <a:lnTo>
                    <a:pt x="933123" y="1516327"/>
                  </a:lnTo>
                  <a:lnTo>
                    <a:pt x="933123" y="233281"/>
                  </a:lnTo>
                  <a:lnTo>
                    <a:pt x="0" y="233281"/>
                  </a:lnTo>
                  <a:lnTo>
                    <a:pt x="0" y="1516327"/>
                  </a:lnTo>
                  <a:close/>
                </a:path>
                <a:path w="933450" h="1516380">
                  <a:moveTo>
                    <a:pt x="102062" y="0"/>
                  </a:moveTo>
                  <a:lnTo>
                    <a:pt x="169579" y="230202"/>
                  </a:lnTo>
                </a:path>
              </a:pathLst>
            </a:custGeom>
            <a:ln w="5140">
              <a:solidFill>
                <a:srgbClr val="231F20"/>
              </a:solidFill>
            </a:ln>
          </p:spPr>
          <p:txBody>
            <a:bodyPr wrap="square" lIns="0" tIns="0" rIns="0" bIns="0" rtlCol="0"/>
            <a:lstStyle/>
            <a:p>
              <a:endParaRPr/>
            </a:p>
          </p:txBody>
        </p:sp>
        <p:sp>
          <p:nvSpPr>
            <p:cNvPr id="9" name="object 9"/>
            <p:cNvSpPr/>
            <p:nvPr/>
          </p:nvSpPr>
          <p:spPr>
            <a:xfrm>
              <a:off x="954406" y="2682997"/>
              <a:ext cx="2755900" cy="204470"/>
            </a:xfrm>
            <a:custGeom>
              <a:avLst/>
              <a:gdLst/>
              <a:ahLst/>
              <a:cxnLst/>
              <a:rect l="l" t="t" r="r" b="b"/>
              <a:pathLst>
                <a:path w="2755900" h="204469">
                  <a:moveTo>
                    <a:pt x="0" y="204120"/>
                  </a:moveTo>
                  <a:lnTo>
                    <a:pt x="2755618" y="204120"/>
                  </a:lnTo>
                </a:path>
                <a:path w="2755900" h="204469">
                  <a:moveTo>
                    <a:pt x="218698" y="0"/>
                  </a:moveTo>
                  <a:lnTo>
                    <a:pt x="218698" y="204120"/>
                  </a:lnTo>
                </a:path>
              </a:pathLst>
            </a:custGeom>
            <a:ln w="15431">
              <a:solidFill>
                <a:srgbClr val="231F20"/>
              </a:solidFill>
            </a:ln>
          </p:spPr>
          <p:txBody>
            <a:bodyPr wrap="square" lIns="0" tIns="0" rIns="0" bIns="0" rtlCol="0"/>
            <a:lstStyle/>
            <a:p>
              <a:endParaRPr/>
            </a:p>
          </p:txBody>
        </p:sp>
        <p:sp>
          <p:nvSpPr>
            <p:cNvPr id="10" name="object 10"/>
            <p:cNvSpPr/>
            <p:nvPr/>
          </p:nvSpPr>
          <p:spPr>
            <a:xfrm>
              <a:off x="3418419" y="2680004"/>
              <a:ext cx="0" cy="207645"/>
            </a:xfrm>
            <a:custGeom>
              <a:avLst/>
              <a:gdLst/>
              <a:ahLst/>
              <a:cxnLst/>
              <a:rect l="l" t="t" r="r" b="b"/>
              <a:pathLst>
                <a:path h="207644">
                  <a:moveTo>
                    <a:pt x="0" y="0"/>
                  </a:moveTo>
                  <a:lnTo>
                    <a:pt x="0" y="207114"/>
                  </a:lnTo>
                </a:path>
              </a:pathLst>
            </a:custGeom>
            <a:ln w="15431">
              <a:solidFill>
                <a:srgbClr val="231F20"/>
              </a:solidFill>
            </a:ln>
          </p:spPr>
          <p:txBody>
            <a:bodyPr wrap="square" lIns="0" tIns="0" rIns="0" bIns="0" rtlCol="0"/>
            <a:lstStyle/>
            <a:p>
              <a:endParaRPr/>
            </a:p>
          </p:txBody>
        </p:sp>
        <p:sp>
          <p:nvSpPr>
            <p:cNvPr id="11" name="object 11"/>
            <p:cNvSpPr/>
            <p:nvPr/>
          </p:nvSpPr>
          <p:spPr>
            <a:xfrm>
              <a:off x="2835212" y="1093778"/>
              <a:ext cx="1166495" cy="1400175"/>
            </a:xfrm>
            <a:custGeom>
              <a:avLst/>
              <a:gdLst/>
              <a:ahLst/>
              <a:cxnLst/>
              <a:rect l="l" t="t" r="r" b="b"/>
              <a:pathLst>
                <a:path w="1166495" h="1400175">
                  <a:moveTo>
                    <a:pt x="0" y="0"/>
                  </a:moveTo>
                  <a:lnTo>
                    <a:pt x="1166413" y="0"/>
                  </a:lnTo>
                  <a:lnTo>
                    <a:pt x="1166413" y="1399685"/>
                  </a:lnTo>
                  <a:lnTo>
                    <a:pt x="0" y="1399685"/>
                  </a:lnTo>
                  <a:lnTo>
                    <a:pt x="0" y="0"/>
                  </a:lnTo>
                  <a:close/>
                </a:path>
              </a:pathLst>
            </a:custGeom>
            <a:ln w="9784">
              <a:solidFill>
                <a:srgbClr val="231F20"/>
              </a:solidFill>
            </a:ln>
          </p:spPr>
          <p:txBody>
            <a:bodyPr wrap="square" lIns="0" tIns="0" rIns="0" bIns="0" rtlCol="0"/>
            <a:lstStyle/>
            <a:p>
              <a:endParaRPr/>
            </a:p>
          </p:txBody>
        </p:sp>
        <p:sp>
          <p:nvSpPr>
            <p:cNvPr id="12" name="object 12"/>
            <p:cNvSpPr/>
            <p:nvPr/>
          </p:nvSpPr>
          <p:spPr>
            <a:xfrm>
              <a:off x="2951873" y="1210417"/>
              <a:ext cx="933450" cy="1283335"/>
            </a:xfrm>
            <a:custGeom>
              <a:avLst/>
              <a:gdLst/>
              <a:ahLst/>
              <a:cxnLst/>
              <a:rect l="l" t="t" r="r" b="b"/>
              <a:pathLst>
                <a:path w="933450" h="1283335">
                  <a:moveTo>
                    <a:pt x="933115" y="0"/>
                  </a:moveTo>
                  <a:lnTo>
                    <a:pt x="0" y="0"/>
                  </a:lnTo>
                  <a:lnTo>
                    <a:pt x="0" y="1283046"/>
                  </a:lnTo>
                  <a:lnTo>
                    <a:pt x="933115" y="1283046"/>
                  </a:lnTo>
                  <a:lnTo>
                    <a:pt x="933115" y="0"/>
                  </a:lnTo>
                  <a:close/>
                </a:path>
              </a:pathLst>
            </a:custGeom>
            <a:solidFill>
              <a:srgbClr val="D1D3D4"/>
            </a:solidFill>
          </p:spPr>
          <p:txBody>
            <a:bodyPr wrap="square" lIns="0" tIns="0" rIns="0" bIns="0" rtlCol="0"/>
            <a:lstStyle/>
            <a:p>
              <a:endParaRPr/>
            </a:p>
          </p:txBody>
        </p:sp>
        <p:sp>
          <p:nvSpPr>
            <p:cNvPr id="13" name="object 13"/>
            <p:cNvSpPr/>
            <p:nvPr/>
          </p:nvSpPr>
          <p:spPr>
            <a:xfrm>
              <a:off x="2951873" y="1210417"/>
              <a:ext cx="933450" cy="1283335"/>
            </a:xfrm>
            <a:custGeom>
              <a:avLst/>
              <a:gdLst/>
              <a:ahLst/>
              <a:cxnLst/>
              <a:rect l="l" t="t" r="r" b="b"/>
              <a:pathLst>
                <a:path w="933450" h="1283335">
                  <a:moveTo>
                    <a:pt x="0" y="1283046"/>
                  </a:moveTo>
                  <a:lnTo>
                    <a:pt x="933115" y="1283046"/>
                  </a:lnTo>
                  <a:lnTo>
                    <a:pt x="933115" y="0"/>
                  </a:lnTo>
                  <a:lnTo>
                    <a:pt x="0" y="0"/>
                  </a:lnTo>
                  <a:lnTo>
                    <a:pt x="0" y="1283046"/>
                  </a:lnTo>
                  <a:close/>
                </a:path>
              </a:pathLst>
            </a:custGeom>
            <a:ln w="5140">
              <a:solidFill>
                <a:srgbClr val="231F20"/>
              </a:solidFill>
            </a:ln>
          </p:spPr>
          <p:txBody>
            <a:bodyPr wrap="square" lIns="0" tIns="0" rIns="0" bIns="0" rtlCol="0"/>
            <a:lstStyle/>
            <a:p>
              <a:endParaRPr/>
            </a:p>
          </p:txBody>
        </p:sp>
        <p:sp>
          <p:nvSpPr>
            <p:cNvPr id="14" name="object 14"/>
            <p:cNvSpPr/>
            <p:nvPr/>
          </p:nvSpPr>
          <p:spPr>
            <a:xfrm>
              <a:off x="3593391" y="2010372"/>
              <a:ext cx="73025" cy="62230"/>
            </a:xfrm>
            <a:custGeom>
              <a:avLst/>
              <a:gdLst/>
              <a:ahLst/>
              <a:cxnLst/>
              <a:rect l="l" t="t" r="r" b="b"/>
              <a:pathLst>
                <a:path w="73025" h="62230">
                  <a:moveTo>
                    <a:pt x="72574" y="0"/>
                  </a:moveTo>
                  <a:lnTo>
                    <a:pt x="0" y="31097"/>
                  </a:lnTo>
                  <a:lnTo>
                    <a:pt x="72585" y="62215"/>
                  </a:lnTo>
                  <a:lnTo>
                    <a:pt x="66752" y="46661"/>
                  </a:lnTo>
                  <a:lnTo>
                    <a:pt x="64806" y="31107"/>
                  </a:lnTo>
                  <a:lnTo>
                    <a:pt x="66748" y="15553"/>
                  </a:lnTo>
                  <a:lnTo>
                    <a:pt x="72574" y="0"/>
                  </a:lnTo>
                  <a:close/>
                </a:path>
              </a:pathLst>
            </a:custGeom>
            <a:solidFill>
              <a:srgbClr val="231F20"/>
            </a:solidFill>
          </p:spPr>
          <p:txBody>
            <a:bodyPr wrap="square" lIns="0" tIns="0" rIns="0" bIns="0" rtlCol="0"/>
            <a:lstStyle/>
            <a:p>
              <a:endParaRPr/>
            </a:p>
          </p:txBody>
        </p:sp>
        <p:sp>
          <p:nvSpPr>
            <p:cNvPr id="15" name="object 15"/>
            <p:cNvSpPr/>
            <p:nvPr/>
          </p:nvSpPr>
          <p:spPr>
            <a:xfrm>
              <a:off x="2995613" y="947983"/>
              <a:ext cx="86360" cy="259715"/>
            </a:xfrm>
            <a:custGeom>
              <a:avLst/>
              <a:gdLst/>
              <a:ahLst/>
              <a:cxnLst/>
              <a:rect l="l" t="t" r="r" b="b"/>
              <a:pathLst>
                <a:path w="86360" h="259715">
                  <a:moveTo>
                    <a:pt x="0" y="0"/>
                  </a:moveTo>
                  <a:lnTo>
                    <a:pt x="86215" y="259355"/>
                  </a:lnTo>
                </a:path>
              </a:pathLst>
            </a:custGeom>
            <a:ln w="5140">
              <a:solidFill>
                <a:srgbClr val="231F20"/>
              </a:solidFill>
            </a:ln>
          </p:spPr>
          <p:txBody>
            <a:bodyPr wrap="square" lIns="0" tIns="0" rIns="0" bIns="0" rtlCol="0"/>
            <a:lstStyle/>
            <a:p>
              <a:endParaRPr/>
            </a:p>
          </p:txBody>
        </p:sp>
      </p:grpSp>
      <p:sp>
        <p:nvSpPr>
          <p:cNvPr id="16" name="object 16"/>
          <p:cNvSpPr txBox="1"/>
          <p:nvPr/>
        </p:nvSpPr>
        <p:spPr>
          <a:xfrm>
            <a:off x="926761" y="2979235"/>
            <a:ext cx="1242695"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Reference to foreign name</a:t>
            </a:r>
            <a:r>
              <a:rPr sz="650"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p:txBody>
      </p:sp>
      <p:sp>
        <p:nvSpPr>
          <p:cNvPr id="17" name="object 17"/>
          <p:cNvSpPr/>
          <p:nvPr/>
        </p:nvSpPr>
        <p:spPr>
          <a:xfrm>
            <a:off x="1173105" y="1910259"/>
            <a:ext cx="365125" cy="1076325"/>
          </a:xfrm>
          <a:custGeom>
            <a:avLst/>
            <a:gdLst/>
            <a:ahLst/>
            <a:cxnLst/>
            <a:rect l="l" t="t" r="r" b="b"/>
            <a:pathLst>
              <a:path w="365125" h="1076325">
                <a:moveTo>
                  <a:pt x="204120" y="87480"/>
                </a:moveTo>
                <a:lnTo>
                  <a:pt x="364501" y="0"/>
                </a:lnTo>
              </a:path>
              <a:path w="365125" h="1076325">
                <a:moveTo>
                  <a:pt x="0" y="1076176"/>
                </a:moveTo>
                <a:lnTo>
                  <a:pt x="154791" y="881278"/>
                </a:lnTo>
              </a:path>
            </a:pathLst>
          </a:custGeom>
          <a:ln w="5140">
            <a:solidFill>
              <a:srgbClr val="231F20"/>
            </a:solidFill>
          </a:ln>
        </p:spPr>
        <p:txBody>
          <a:bodyPr wrap="square" lIns="0" tIns="0" rIns="0" bIns="0" rtlCol="0"/>
          <a:lstStyle/>
          <a:p>
            <a:endParaRPr/>
          </a:p>
        </p:txBody>
      </p:sp>
      <p:sp>
        <p:nvSpPr>
          <p:cNvPr id="18" name="object 18"/>
          <p:cNvSpPr txBox="1"/>
          <p:nvPr/>
        </p:nvSpPr>
        <p:spPr>
          <a:xfrm>
            <a:off x="2851744" y="2905908"/>
            <a:ext cx="327660"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Network</a:t>
            </a:r>
            <a:endParaRPr sz="650">
              <a:latin typeface="Arial"/>
              <a:cs typeface="Arial"/>
            </a:endParaRPr>
          </a:p>
        </p:txBody>
      </p:sp>
      <p:sp>
        <p:nvSpPr>
          <p:cNvPr id="19" name="object 19"/>
          <p:cNvSpPr txBox="1"/>
          <p:nvPr/>
        </p:nvSpPr>
        <p:spPr>
          <a:xfrm>
            <a:off x="577168" y="834507"/>
            <a:ext cx="861694" cy="259715"/>
          </a:xfrm>
          <a:prstGeom prst="rect">
            <a:avLst/>
          </a:prstGeom>
        </p:spPr>
        <p:txBody>
          <a:bodyPr vert="horz" wrap="square" lIns="0" tIns="30480" rIns="0" bIns="0" rtlCol="0">
            <a:spAutoFit/>
          </a:bodyPr>
          <a:lstStyle/>
          <a:p>
            <a:pPr marL="12700">
              <a:lnSpc>
                <a:spcPct val="100000"/>
              </a:lnSpc>
              <a:spcBef>
                <a:spcPts val="240"/>
              </a:spcBef>
            </a:pPr>
            <a:r>
              <a:rPr sz="650" spc="-5" dirty="0">
                <a:solidFill>
                  <a:srgbClr val="231F20"/>
                </a:solidFill>
                <a:latin typeface="Arial"/>
                <a:cs typeface="Arial"/>
              </a:rPr>
              <a:t>Name</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a:p>
            <a:pPr marL="464184">
              <a:lnSpc>
                <a:spcPct val="100000"/>
              </a:lnSpc>
              <a:spcBef>
                <a:spcPts val="140"/>
              </a:spcBef>
            </a:pPr>
            <a:r>
              <a:rPr sz="650" spc="-5" dirty="0">
                <a:solidFill>
                  <a:srgbClr val="231F20"/>
                </a:solidFill>
                <a:latin typeface="Arial"/>
                <a:cs typeface="Arial"/>
              </a:rPr>
              <a:t>Machine</a:t>
            </a:r>
            <a:r>
              <a:rPr sz="650" spc="-40"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sp>
        <p:nvSpPr>
          <p:cNvPr id="20" name="object 20"/>
          <p:cNvSpPr txBox="1"/>
          <p:nvPr/>
        </p:nvSpPr>
        <p:spPr>
          <a:xfrm>
            <a:off x="2399943" y="806362"/>
            <a:ext cx="1361440" cy="287655"/>
          </a:xfrm>
          <a:prstGeom prst="rect">
            <a:avLst/>
          </a:prstGeom>
        </p:spPr>
        <p:txBody>
          <a:bodyPr vert="horz" wrap="square" lIns="0" tIns="44450" rIns="0" bIns="0" rtlCol="0">
            <a:spAutoFit/>
          </a:bodyPr>
          <a:lstStyle/>
          <a:p>
            <a:pPr marL="12700">
              <a:lnSpc>
                <a:spcPct val="100000"/>
              </a:lnSpc>
              <a:spcBef>
                <a:spcPts val="350"/>
              </a:spcBef>
            </a:pPr>
            <a:r>
              <a:rPr sz="650" spc="-5" dirty="0">
                <a:solidFill>
                  <a:srgbClr val="231F20"/>
                </a:solidFill>
                <a:latin typeface="Arial"/>
                <a:cs typeface="Arial"/>
              </a:rPr>
              <a:t>Name server for</a:t>
            </a:r>
            <a:r>
              <a:rPr sz="650" dirty="0">
                <a:solidFill>
                  <a:srgbClr val="231F20"/>
                </a:solidFill>
                <a:latin typeface="Arial"/>
                <a:cs typeface="Arial"/>
              </a:rPr>
              <a:t> </a:t>
            </a:r>
            <a:r>
              <a:rPr sz="650" spc="-5" dirty="0">
                <a:solidFill>
                  <a:srgbClr val="231F20"/>
                </a:solidFill>
                <a:latin typeface="Arial"/>
                <a:cs typeface="Arial"/>
              </a:rPr>
              <a:t>foreign name</a:t>
            </a:r>
            <a:r>
              <a:rPr sz="650"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a:p>
            <a:pPr marL="828675">
              <a:lnSpc>
                <a:spcPct val="100000"/>
              </a:lnSpc>
              <a:spcBef>
                <a:spcPts val="254"/>
              </a:spcBef>
            </a:pPr>
            <a:r>
              <a:rPr sz="650" spc="-5" dirty="0">
                <a:solidFill>
                  <a:srgbClr val="231F20"/>
                </a:solidFill>
                <a:latin typeface="Arial"/>
                <a:cs typeface="Arial"/>
              </a:rPr>
              <a:t>Machine</a:t>
            </a:r>
            <a:r>
              <a:rPr sz="650" spc="-40" dirty="0">
                <a:solidFill>
                  <a:srgbClr val="231F20"/>
                </a:solidFill>
                <a:latin typeface="Arial"/>
                <a:cs typeface="Arial"/>
              </a:rPr>
              <a:t> </a:t>
            </a:r>
            <a:r>
              <a:rPr sz="650" spc="-5" dirty="0">
                <a:solidFill>
                  <a:srgbClr val="231F20"/>
                </a:solidFill>
                <a:latin typeface="Arial"/>
                <a:cs typeface="Arial"/>
              </a:rPr>
              <a:t>B</a:t>
            </a:r>
            <a:endParaRPr sz="650">
              <a:latin typeface="Arial"/>
              <a:cs typeface="Arial"/>
            </a:endParaRPr>
          </a:p>
        </p:txBody>
      </p:sp>
      <p:sp>
        <p:nvSpPr>
          <p:cNvPr id="21" name="object 21"/>
          <p:cNvSpPr txBox="1"/>
          <p:nvPr/>
        </p:nvSpPr>
        <p:spPr>
          <a:xfrm>
            <a:off x="880206" y="1421620"/>
            <a:ext cx="269240" cy="124460"/>
          </a:xfrm>
          <a:prstGeom prst="rect">
            <a:avLst/>
          </a:prstGeom>
        </p:spPr>
        <p:txBody>
          <a:bodyPr vert="horz" wrap="square" lIns="0" tIns="12065" rIns="0" bIns="0" rtlCol="0">
            <a:spAutoFit/>
          </a:bodyPr>
          <a:lstStyle/>
          <a:p>
            <a:pPr>
              <a:lnSpc>
                <a:spcPct val="100000"/>
              </a:lnSpc>
              <a:spcBef>
                <a:spcPts val="95"/>
              </a:spcBef>
            </a:pPr>
            <a:r>
              <a:rPr sz="650" spc="-5" dirty="0">
                <a:solidFill>
                  <a:srgbClr val="231F20"/>
                </a:solidFill>
                <a:latin typeface="Arial"/>
                <a:cs typeface="Arial"/>
              </a:rPr>
              <a:t>remote</a:t>
            </a:r>
            <a:endParaRPr sz="650">
              <a:latin typeface="Arial"/>
              <a:cs typeface="Arial"/>
            </a:endParaRPr>
          </a:p>
        </p:txBody>
      </p:sp>
      <p:sp>
        <p:nvSpPr>
          <p:cNvPr id="22" name="object 22"/>
          <p:cNvSpPr txBox="1"/>
          <p:nvPr/>
        </p:nvSpPr>
        <p:spPr>
          <a:xfrm>
            <a:off x="1435704" y="1363105"/>
            <a:ext cx="182245" cy="124460"/>
          </a:xfrm>
          <a:prstGeom prst="rect">
            <a:avLst/>
          </a:prstGeom>
        </p:spPr>
        <p:txBody>
          <a:bodyPr vert="horz" wrap="square" lIns="0" tIns="12065" rIns="0" bIns="0" rtlCol="0">
            <a:spAutoFit/>
          </a:bodyPr>
          <a:lstStyle/>
          <a:p>
            <a:pPr>
              <a:lnSpc>
                <a:spcPct val="100000"/>
              </a:lnSpc>
              <a:spcBef>
                <a:spcPts val="95"/>
              </a:spcBef>
            </a:pPr>
            <a:r>
              <a:rPr sz="650" spc="-5" dirty="0">
                <a:solidFill>
                  <a:srgbClr val="231F20"/>
                </a:solidFill>
                <a:latin typeface="Arial"/>
                <a:cs typeface="Arial"/>
              </a:rPr>
              <a:t>keys</a:t>
            </a:r>
            <a:endParaRPr sz="650">
              <a:latin typeface="Arial"/>
              <a:cs typeface="Arial"/>
            </a:endParaRPr>
          </a:p>
        </p:txBody>
      </p:sp>
      <p:grpSp>
        <p:nvGrpSpPr>
          <p:cNvPr id="23" name="object 23"/>
          <p:cNvGrpSpPr/>
          <p:nvPr/>
        </p:nvGrpSpPr>
        <p:grpSpPr>
          <a:xfrm>
            <a:off x="760757" y="1236716"/>
            <a:ext cx="2602230" cy="866140"/>
            <a:chOff x="760757" y="1236716"/>
            <a:chExt cx="2602230" cy="866140"/>
          </a:xfrm>
        </p:grpSpPr>
        <p:sp>
          <p:nvSpPr>
            <p:cNvPr id="24" name="object 24"/>
            <p:cNvSpPr/>
            <p:nvPr/>
          </p:nvSpPr>
          <p:spPr>
            <a:xfrm>
              <a:off x="763614" y="1953989"/>
              <a:ext cx="146050" cy="146050"/>
            </a:xfrm>
            <a:custGeom>
              <a:avLst/>
              <a:gdLst/>
              <a:ahLst/>
              <a:cxnLst/>
              <a:rect l="l" t="t" r="r" b="b"/>
              <a:pathLst>
                <a:path w="146050" h="146050">
                  <a:moveTo>
                    <a:pt x="72900" y="0"/>
                  </a:moveTo>
                  <a:lnTo>
                    <a:pt x="44571" y="5753"/>
                  </a:lnTo>
                  <a:lnTo>
                    <a:pt x="21393" y="21402"/>
                  </a:lnTo>
                  <a:lnTo>
                    <a:pt x="5744" y="44580"/>
                  </a:lnTo>
                  <a:lnTo>
                    <a:pt x="0" y="72914"/>
                  </a:lnTo>
                  <a:lnTo>
                    <a:pt x="5744" y="101242"/>
                  </a:lnTo>
                  <a:lnTo>
                    <a:pt x="21393" y="124418"/>
                  </a:lnTo>
                  <a:lnTo>
                    <a:pt x="44571" y="140067"/>
                  </a:lnTo>
                  <a:lnTo>
                    <a:pt x="72900" y="145811"/>
                  </a:lnTo>
                  <a:lnTo>
                    <a:pt x="101231" y="140067"/>
                  </a:lnTo>
                  <a:lnTo>
                    <a:pt x="124408" y="124418"/>
                  </a:lnTo>
                  <a:lnTo>
                    <a:pt x="140055" y="101242"/>
                  </a:lnTo>
                  <a:lnTo>
                    <a:pt x="145798" y="72914"/>
                  </a:lnTo>
                  <a:lnTo>
                    <a:pt x="140055" y="44578"/>
                  </a:lnTo>
                  <a:lnTo>
                    <a:pt x="124409" y="21396"/>
                  </a:lnTo>
                  <a:lnTo>
                    <a:pt x="101233" y="5745"/>
                  </a:lnTo>
                  <a:lnTo>
                    <a:pt x="72900" y="0"/>
                  </a:lnTo>
                  <a:close/>
                </a:path>
              </a:pathLst>
            </a:custGeom>
            <a:solidFill>
              <a:srgbClr val="FFFFFF"/>
            </a:solidFill>
          </p:spPr>
          <p:txBody>
            <a:bodyPr wrap="square" lIns="0" tIns="0" rIns="0" bIns="0" rtlCol="0"/>
            <a:lstStyle/>
            <a:p>
              <a:endParaRPr/>
            </a:p>
          </p:txBody>
        </p:sp>
        <p:sp>
          <p:nvSpPr>
            <p:cNvPr id="25" name="object 25"/>
            <p:cNvSpPr/>
            <p:nvPr/>
          </p:nvSpPr>
          <p:spPr>
            <a:xfrm>
              <a:off x="763614" y="1953989"/>
              <a:ext cx="146050" cy="146050"/>
            </a:xfrm>
            <a:custGeom>
              <a:avLst/>
              <a:gdLst/>
              <a:ahLst/>
              <a:cxnLst/>
              <a:rect l="l" t="t" r="r" b="b"/>
              <a:pathLst>
                <a:path w="146050" h="146050">
                  <a:moveTo>
                    <a:pt x="72900" y="0"/>
                  </a:moveTo>
                  <a:lnTo>
                    <a:pt x="101233" y="5745"/>
                  </a:lnTo>
                  <a:lnTo>
                    <a:pt x="124409" y="21396"/>
                  </a:lnTo>
                  <a:lnTo>
                    <a:pt x="140055" y="44578"/>
                  </a:lnTo>
                  <a:lnTo>
                    <a:pt x="145798" y="72914"/>
                  </a:lnTo>
                  <a:lnTo>
                    <a:pt x="140055" y="101242"/>
                  </a:lnTo>
                  <a:lnTo>
                    <a:pt x="124408" y="124418"/>
                  </a:lnTo>
                  <a:lnTo>
                    <a:pt x="101231" y="140067"/>
                  </a:lnTo>
                  <a:lnTo>
                    <a:pt x="72900" y="145811"/>
                  </a:lnTo>
                  <a:lnTo>
                    <a:pt x="44571" y="140067"/>
                  </a:lnTo>
                  <a:lnTo>
                    <a:pt x="21393" y="124418"/>
                  </a:lnTo>
                  <a:lnTo>
                    <a:pt x="5744" y="101242"/>
                  </a:lnTo>
                  <a:lnTo>
                    <a:pt x="0" y="72914"/>
                  </a:lnTo>
                  <a:lnTo>
                    <a:pt x="5744" y="44580"/>
                  </a:lnTo>
                  <a:lnTo>
                    <a:pt x="21393" y="21402"/>
                  </a:lnTo>
                  <a:lnTo>
                    <a:pt x="44571" y="5753"/>
                  </a:lnTo>
                  <a:lnTo>
                    <a:pt x="72900" y="10"/>
                  </a:lnTo>
                  <a:close/>
                </a:path>
              </a:pathLst>
            </a:custGeom>
            <a:ln w="5140">
              <a:solidFill>
                <a:srgbClr val="231F20"/>
              </a:solidFill>
            </a:ln>
          </p:spPr>
          <p:txBody>
            <a:bodyPr wrap="square" lIns="0" tIns="0" rIns="0" bIns="0" rtlCol="0"/>
            <a:lstStyle/>
            <a:p>
              <a:endParaRPr/>
            </a:p>
          </p:txBody>
        </p:sp>
        <p:sp>
          <p:nvSpPr>
            <p:cNvPr id="26" name="object 26"/>
            <p:cNvSpPr/>
            <p:nvPr/>
          </p:nvSpPr>
          <p:spPr>
            <a:xfrm>
              <a:off x="996893" y="1953989"/>
              <a:ext cx="146050" cy="146050"/>
            </a:xfrm>
            <a:custGeom>
              <a:avLst/>
              <a:gdLst/>
              <a:ahLst/>
              <a:cxnLst/>
              <a:rect l="l" t="t" r="r" b="b"/>
              <a:pathLst>
                <a:path w="146050" h="146050">
                  <a:moveTo>
                    <a:pt x="72900" y="0"/>
                  </a:moveTo>
                  <a:lnTo>
                    <a:pt x="44571" y="5753"/>
                  </a:lnTo>
                  <a:lnTo>
                    <a:pt x="21393" y="21402"/>
                  </a:lnTo>
                  <a:lnTo>
                    <a:pt x="5744" y="44580"/>
                  </a:lnTo>
                  <a:lnTo>
                    <a:pt x="0" y="72914"/>
                  </a:lnTo>
                  <a:lnTo>
                    <a:pt x="5744" y="101242"/>
                  </a:lnTo>
                  <a:lnTo>
                    <a:pt x="21393" y="124418"/>
                  </a:lnTo>
                  <a:lnTo>
                    <a:pt x="44571" y="140067"/>
                  </a:lnTo>
                  <a:lnTo>
                    <a:pt x="72900" y="145811"/>
                  </a:lnTo>
                  <a:lnTo>
                    <a:pt x="101232" y="140067"/>
                  </a:lnTo>
                  <a:lnTo>
                    <a:pt x="124411" y="124418"/>
                  </a:lnTo>
                  <a:lnTo>
                    <a:pt x="140061" y="101242"/>
                  </a:lnTo>
                  <a:lnTo>
                    <a:pt x="145805" y="72914"/>
                  </a:lnTo>
                  <a:lnTo>
                    <a:pt x="140061" y="44578"/>
                  </a:lnTo>
                  <a:lnTo>
                    <a:pt x="124411" y="21396"/>
                  </a:lnTo>
                  <a:lnTo>
                    <a:pt x="101232" y="5745"/>
                  </a:lnTo>
                  <a:lnTo>
                    <a:pt x="72900" y="0"/>
                  </a:lnTo>
                  <a:close/>
                </a:path>
              </a:pathLst>
            </a:custGeom>
            <a:solidFill>
              <a:srgbClr val="FFFFFF"/>
            </a:solidFill>
          </p:spPr>
          <p:txBody>
            <a:bodyPr wrap="square" lIns="0" tIns="0" rIns="0" bIns="0" rtlCol="0"/>
            <a:lstStyle/>
            <a:p>
              <a:endParaRPr/>
            </a:p>
          </p:txBody>
        </p:sp>
        <p:sp>
          <p:nvSpPr>
            <p:cNvPr id="27" name="object 27"/>
            <p:cNvSpPr/>
            <p:nvPr/>
          </p:nvSpPr>
          <p:spPr>
            <a:xfrm>
              <a:off x="996893" y="1953989"/>
              <a:ext cx="146050" cy="146050"/>
            </a:xfrm>
            <a:custGeom>
              <a:avLst/>
              <a:gdLst/>
              <a:ahLst/>
              <a:cxnLst/>
              <a:rect l="l" t="t" r="r" b="b"/>
              <a:pathLst>
                <a:path w="146050" h="146050">
                  <a:moveTo>
                    <a:pt x="72900" y="0"/>
                  </a:moveTo>
                  <a:lnTo>
                    <a:pt x="101232" y="5745"/>
                  </a:lnTo>
                  <a:lnTo>
                    <a:pt x="124411" y="21396"/>
                  </a:lnTo>
                  <a:lnTo>
                    <a:pt x="140061" y="44578"/>
                  </a:lnTo>
                  <a:lnTo>
                    <a:pt x="145805" y="72914"/>
                  </a:lnTo>
                  <a:lnTo>
                    <a:pt x="140061" y="101242"/>
                  </a:lnTo>
                  <a:lnTo>
                    <a:pt x="124411" y="124418"/>
                  </a:lnTo>
                  <a:lnTo>
                    <a:pt x="101232" y="140067"/>
                  </a:lnTo>
                  <a:lnTo>
                    <a:pt x="72900" y="145811"/>
                  </a:lnTo>
                  <a:lnTo>
                    <a:pt x="44571" y="140067"/>
                  </a:lnTo>
                  <a:lnTo>
                    <a:pt x="21393" y="124418"/>
                  </a:lnTo>
                  <a:lnTo>
                    <a:pt x="5744" y="101242"/>
                  </a:lnTo>
                  <a:lnTo>
                    <a:pt x="0" y="72914"/>
                  </a:lnTo>
                  <a:lnTo>
                    <a:pt x="5744" y="44580"/>
                  </a:lnTo>
                  <a:lnTo>
                    <a:pt x="21393" y="21402"/>
                  </a:lnTo>
                  <a:lnTo>
                    <a:pt x="44571" y="5753"/>
                  </a:lnTo>
                  <a:lnTo>
                    <a:pt x="72900" y="10"/>
                  </a:lnTo>
                  <a:close/>
                </a:path>
              </a:pathLst>
            </a:custGeom>
            <a:ln w="5140">
              <a:solidFill>
                <a:srgbClr val="231F20"/>
              </a:solidFill>
            </a:ln>
          </p:spPr>
          <p:txBody>
            <a:bodyPr wrap="square" lIns="0" tIns="0" rIns="0" bIns="0" rtlCol="0"/>
            <a:lstStyle/>
            <a:p>
              <a:endParaRPr/>
            </a:p>
          </p:txBody>
        </p:sp>
        <p:sp>
          <p:nvSpPr>
            <p:cNvPr id="28" name="object 28"/>
            <p:cNvSpPr/>
            <p:nvPr/>
          </p:nvSpPr>
          <p:spPr>
            <a:xfrm>
              <a:off x="1463455" y="1604077"/>
              <a:ext cx="146050" cy="146050"/>
            </a:xfrm>
            <a:custGeom>
              <a:avLst/>
              <a:gdLst/>
              <a:ahLst/>
              <a:cxnLst/>
              <a:rect l="l" t="t" r="r" b="b"/>
              <a:pathLst>
                <a:path w="146050" h="146050">
                  <a:moveTo>
                    <a:pt x="72901" y="0"/>
                  </a:moveTo>
                  <a:lnTo>
                    <a:pt x="44567" y="5745"/>
                  </a:lnTo>
                  <a:lnTo>
                    <a:pt x="21389" y="21395"/>
                  </a:lnTo>
                  <a:lnTo>
                    <a:pt x="5743" y="44574"/>
                  </a:lnTo>
                  <a:lnTo>
                    <a:pt x="0" y="72903"/>
                  </a:lnTo>
                  <a:lnTo>
                    <a:pt x="5744" y="101233"/>
                  </a:lnTo>
                  <a:lnTo>
                    <a:pt x="21398" y="124412"/>
                  </a:lnTo>
                  <a:lnTo>
                    <a:pt x="44591" y="140062"/>
                  </a:lnTo>
                  <a:lnTo>
                    <a:pt x="72901" y="145807"/>
                  </a:lnTo>
                  <a:lnTo>
                    <a:pt x="101237" y="140058"/>
                  </a:lnTo>
                  <a:lnTo>
                    <a:pt x="124409" y="124408"/>
                  </a:lnTo>
                  <a:lnTo>
                    <a:pt x="140055" y="101232"/>
                  </a:lnTo>
                  <a:lnTo>
                    <a:pt x="145798" y="72903"/>
                  </a:lnTo>
                  <a:lnTo>
                    <a:pt x="140051" y="44570"/>
                  </a:lnTo>
                  <a:lnTo>
                    <a:pt x="124401" y="21391"/>
                  </a:lnTo>
                  <a:lnTo>
                    <a:pt x="101223" y="5743"/>
                  </a:lnTo>
                  <a:lnTo>
                    <a:pt x="72901" y="0"/>
                  </a:lnTo>
                  <a:close/>
                </a:path>
              </a:pathLst>
            </a:custGeom>
            <a:solidFill>
              <a:srgbClr val="FFFFFF"/>
            </a:solidFill>
          </p:spPr>
          <p:txBody>
            <a:bodyPr wrap="square" lIns="0" tIns="0" rIns="0" bIns="0" rtlCol="0"/>
            <a:lstStyle/>
            <a:p>
              <a:endParaRPr/>
            </a:p>
          </p:txBody>
        </p:sp>
        <p:sp>
          <p:nvSpPr>
            <p:cNvPr id="29" name="object 29"/>
            <p:cNvSpPr/>
            <p:nvPr/>
          </p:nvSpPr>
          <p:spPr>
            <a:xfrm>
              <a:off x="1133769" y="1385376"/>
              <a:ext cx="475615" cy="365125"/>
            </a:xfrm>
            <a:custGeom>
              <a:avLst/>
              <a:gdLst/>
              <a:ahLst/>
              <a:cxnLst/>
              <a:rect l="l" t="t" r="r" b="b"/>
              <a:pathLst>
                <a:path w="475615" h="365125">
                  <a:moveTo>
                    <a:pt x="402587" y="218701"/>
                  </a:moveTo>
                  <a:lnTo>
                    <a:pt x="430916" y="224446"/>
                  </a:lnTo>
                  <a:lnTo>
                    <a:pt x="454092" y="240097"/>
                  </a:lnTo>
                  <a:lnTo>
                    <a:pt x="469740" y="263275"/>
                  </a:lnTo>
                  <a:lnTo>
                    <a:pt x="475484" y="291605"/>
                  </a:lnTo>
                  <a:lnTo>
                    <a:pt x="469740" y="319935"/>
                  </a:lnTo>
                  <a:lnTo>
                    <a:pt x="454092" y="343113"/>
                  </a:lnTo>
                  <a:lnTo>
                    <a:pt x="430916" y="358764"/>
                  </a:lnTo>
                  <a:lnTo>
                    <a:pt x="402587" y="364509"/>
                  </a:lnTo>
                  <a:lnTo>
                    <a:pt x="374256" y="358760"/>
                  </a:lnTo>
                  <a:lnTo>
                    <a:pt x="351078" y="343110"/>
                  </a:lnTo>
                  <a:lnTo>
                    <a:pt x="335429" y="319933"/>
                  </a:lnTo>
                  <a:lnTo>
                    <a:pt x="329686" y="291605"/>
                  </a:lnTo>
                  <a:lnTo>
                    <a:pt x="335429" y="263271"/>
                  </a:lnTo>
                  <a:lnTo>
                    <a:pt x="351078" y="240093"/>
                  </a:lnTo>
                  <a:lnTo>
                    <a:pt x="374256" y="224445"/>
                  </a:lnTo>
                  <a:lnTo>
                    <a:pt x="402587" y="218701"/>
                  </a:lnTo>
                  <a:close/>
                </a:path>
                <a:path w="475615" h="365125">
                  <a:moveTo>
                    <a:pt x="125566" y="0"/>
                  </a:moveTo>
                  <a:lnTo>
                    <a:pt x="0" y="188344"/>
                  </a:lnTo>
                </a:path>
              </a:pathLst>
            </a:custGeom>
            <a:ln w="5140">
              <a:solidFill>
                <a:srgbClr val="231F20"/>
              </a:solidFill>
            </a:ln>
          </p:spPr>
          <p:txBody>
            <a:bodyPr wrap="square" lIns="0" tIns="0" rIns="0" bIns="0" rtlCol="0"/>
            <a:lstStyle/>
            <a:p>
              <a:endParaRPr/>
            </a:p>
          </p:txBody>
        </p:sp>
        <p:sp>
          <p:nvSpPr>
            <p:cNvPr id="30" name="object 30"/>
            <p:cNvSpPr/>
            <p:nvPr/>
          </p:nvSpPr>
          <p:spPr>
            <a:xfrm>
              <a:off x="1113533" y="1526431"/>
              <a:ext cx="66675" cy="78105"/>
            </a:xfrm>
            <a:custGeom>
              <a:avLst/>
              <a:gdLst/>
              <a:ahLst/>
              <a:cxnLst/>
              <a:rect l="l" t="t" r="r" b="b"/>
              <a:pathLst>
                <a:path w="66675" h="78105">
                  <a:moveTo>
                    <a:pt x="14378" y="0"/>
                  </a:moveTo>
                  <a:lnTo>
                    <a:pt x="0" y="77646"/>
                  </a:lnTo>
                  <a:lnTo>
                    <a:pt x="66146" y="34512"/>
                  </a:lnTo>
                  <a:lnTo>
                    <a:pt x="49970" y="30736"/>
                  </a:lnTo>
                  <a:lnTo>
                    <a:pt x="35949" y="23725"/>
                  </a:lnTo>
                  <a:lnTo>
                    <a:pt x="24085" y="13480"/>
                  </a:lnTo>
                  <a:lnTo>
                    <a:pt x="14378" y="0"/>
                  </a:lnTo>
                  <a:close/>
                </a:path>
              </a:pathLst>
            </a:custGeom>
            <a:solidFill>
              <a:srgbClr val="231F20"/>
            </a:solidFill>
          </p:spPr>
          <p:txBody>
            <a:bodyPr wrap="square" lIns="0" tIns="0" rIns="0" bIns="0" rtlCol="0"/>
            <a:lstStyle/>
            <a:p>
              <a:endParaRPr/>
            </a:p>
          </p:txBody>
        </p:sp>
        <p:sp>
          <p:nvSpPr>
            <p:cNvPr id="31" name="object 31"/>
            <p:cNvSpPr/>
            <p:nvPr/>
          </p:nvSpPr>
          <p:spPr>
            <a:xfrm>
              <a:off x="900492" y="1735298"/>
              <a:ext cx="125730" cy="188595"/>
            </a:xfrm>
            <a:custGeom>
              <a:avLst/>
              <a:gdLst/>
              <a:ahLst/>
              <a:cxnLst/>
              <a:rect l="l" t="t" r="r" b="b"/>
              <a:pathLst>
                <a:path w="125730" h="188594">
                  <a:moveTo>
                    <a:pt x="125561" y="0"/>
                  </a:moveTo>
                  <a:lnTo>
                    <a:pt x="0" y="188344"/>
                  </a:lnTo>
                </a:path>
              </a:pathLst>
            </a:custGeom>
            <a:ln w="5140">
              <a:solidFill>
                <a:srgbClr val="231F20"/>
              </a:solidFill>
            </a:ln>
          </p:spPr>
          <p:txBody>
            <a:bodyPr wrap="square" lIns="0" tIns="0" rIns="0" bIns="0" rtlCol="0"/>
            <a:lstStyle/>
            <a:p>
              <a:endParaRPr/>
            </a:p>
          </p:txBody>
        </p:sp>
        <p:sp>
          <p:nvSpPr>
            <p:cNvPr id="32" name="object 32"/>
            <p:cNvSpPr/>
            <p:nvPr/>
          </p:nvSpPr>
          <p:spPr>
            <a:xfrm>
              <a:off x="880255" y="1876343"/>
              <a:ext cx="66675" cy="78105"/>
            </a:xfrm>
            <a:custGeom>
              <a:avLst/>
              <a:gdLst/>
              <a:ahLst/>
              <a:cxnLst/>
              <a:rect l="l" t="t" r="r" b="b"/>
              <a:pathLst>
                <a:path w="66675" h="78105">
                  <a:moveTo>
                    <a:pt x="14377" y="0"/>
                  </a:moveTo>
                  <a:lnTo>
                    <a:pt x="0" y="77646"/>
                  </a:lnTo>
                  <a:lnTo>
                    <a:pt x="66146" y="34523"/>
                  </a:lnTo>
                  <a:lnTo>
                    <a:pt x="49968" y="30744"/>
                  </a:lnTo>
                  <a:lnTo>
                    <a:pt x="35947" y="23730"/>
                  </a:lnTo>
                  <a:lnTo>
                    <a:pt x="24083" y="13482"/>
                  </a:lnTo>
                  <a:lnTo>
                    <a:pt x="14377" y="0"/>
                  </a:lnTo>
                  <a:close/>
                </a:path>
              </a:pathLst>
            </a:custGeom>
            <a:solidFill>
              <a:srgbClr val="231F20"/>
            </a:solidFill>
          </p:spPr>
          <p:txBody>
            <a:bodyPr wrap="square" lIns="0" tIns="0" rIns="0" bIns="0" rtlCol="0"/>
            <a:lstStyle/>
            <a:p>
              <a:endParaRPr/>
            </a:p>
          </p:txBody>
        </p:sp>
        <p:sp>
          <p:nvSpPr>
            <p:cNvPr id="33" name="object 33"/>
            <p:cNvSpPr/>
            <p:nvPr/>
          </p:nvSpPr>
          <p:spPr>
            <a:xfrm>
              <a:off x="1069793" y="1749875"/>
              <a:ext cx="0" cy="168275"/>
            </a:xfrm>
            <a:custGeom>
              <a:avLst/>
              <a:gdLst/>
              <a:ahLst/>
              <a:cxnLst/>
              <a:rect l="l" t="t" r="r" b="b"/>
              <a:pathLst>
                <a:path h="168275">
                  <a:moveTo>
                    <a:pt x="0" y="0"/>
                  </a:moveTo>
                  <a:lnTo>
                    <a:pt x="0" y="167647"/>
                  </a:lnTo>
                </a:path>
              </a:pathLst>
            </a:custGeom>
            <a:ln w="5140">
              <a:solidFill>
                <a:srgbClr val="231F20"/>
              </a:solidFill>
            </a:ln>
          </p:spPr>
          <p:txBody>
            <a:bodyPr wrap="square" lIns="0" tIns="0" rIns="0" bIns="0" rtlCol="0"/>
            <a:lstStyle/>
            <a:p>
              <a:endParaRPr/>
            </a:p>
          </p:txBody>
        </p:sp>
        <p:sp>
          <p:nvSpPr>
            <p:cNvPr id="34" name="object 34"/>
            <p:cNvSpPr/>
            <p:nvPr/>
          </p:nvSpPr>
          <p:spPr>
            <a:xfrm>
              <a:off x="1038687" y="1881415"/>
              <a:ext cx="62230" cy="73025"/>
            </a:xfrm>
            <a:custGeom>
              <a:avLst/>
              <a:gdLst/>
              <a:ahLst/>
              <a:cxnLst/>
              <a:rect l="l" t="t" r="r" b="b"/>
              <a:pathLst>
                <a:path w="62230" h="73025">
                  <a:moveTo>
                    <a:pt x="62220" y="0"/>
                  </a:moveTo>
                  <a:lnTo>
                    <a:pt x="46664" y="5832"/>
                  </a:lnTo>
                  <a:lnTo>
                    <a:pt x="31109" y="7776"/>
                  </a:lnTo>
                  <a:lnTo>
                    <a:pt x="15554" y="5832"/>
                  </a:lnTo>
                  <a:lnTo>
                    <a:pt x="0" y="0"/>
                  </a:lnTo>
                  <a:lnTo>
                    <a:pt x="31106" y="72574"/>
                  </a:lnTo>
                  <a:lnTo>
                    <a:pt x="62220" y="0"/>
                  </a:lnTo>
                  <a:close/>
                </a:path>
              </a:pathLst>
            </a:custGeom>
            <a:solidFill>
              <a:srgbClr val="231F20"/>
            </a:solidFill>
          </p:spPr>
          <p:txBody>
            <a:bodyPr wrap="square" lIns="0" tIns="0" rIns="0" bIns="0" rtlCol="0"/>
            <a:lstStyle/>
            <a:p>
              <a:endParaRPr/>
            </a:p>
          </p:txBody>
        </p:sp>
        <p:sp>
          <p:nvSpPr>
            <p:cNvPr id="35" name="object 35"/>
            <p:cNvSpPr/>
            <p:nvPr/>
          </p:nvSpPr>
          <p:spPr>
            <a:xfrm>
              <a:off x="1346815" y="1385376"/>
              <a:ext cx="125730" cy="188595"/>
            </a:xfrm>
            <a:custGeom>
              <a:avLst/>
              <a:gdLst/>
              <a:ahLst/>
              <a:cxnLst/>
              <a:rect l="l" t="t" r="r" b="b"/>
              <a:pathLst>
                <a:path w="125730" h="188594">
                  <a:moveTo>
                    <a:pt x="0" y="0"/>
                  </a:moveTo>
                  <a:lnTo>
                    <a:pt x="125565" y="188344"/>
                  </a:lnTo>
                </a:path>
              </a:pathLst>
            </a:custGeom>
            <a:ln w="5140">
              <a:solidFill>
                <a:srgbClr val="231F20"/>
              </a:solidFill>
            </a:ln>
          </p:spPr>
          <p:txBody>
            <a:bodyPr wrap="square" lIns="0" tIns="0" rIns="0" bIns="0" rtlCol="0"/>
            <a:lstStyle/>
            <a:p>
              <a:endParaRPr/>
            </a:p>
          </p:txBody>
        </p:sp>
        <p:sp>
          <p:nvSpPr>
            <p:cNvPr id="36" name="object 36"/>
            <p:cNvSpPr/>
            <p:nvPr/>
          </p:nvSpPr>
          <p:spPr>
            <a:xfrm>
              <a:off x="1426466" y="1526431"/>
              <a:ext cx="66675" cy="78105"/>
            </a:xfrm>
            <a:custGeom>
              <a:avLst/>
              <a:gdLst/>
              <a:ahLst/>
              <a:cxnLst/>
              <a:rect l="l" t="t" r="r" b="b"/>
              <a:pathLst>
                <a:path w="66675" h="78105">
                  <a:moveTo>
                    <a:pt x="51769" y="0"/>
                  </a:moveTo>
                  <a:lnTo>
                    <a:pt x="42062" y="13480"/>
                  </a:lnTo>
                  <a:lnTo>
                    <a:pt x="30199" y="23725"/>
                  </a:lnTo>
                  <a:lnTo>
                    <a:pt x="16178" y="30736"/>
                  </a:lnTo>
                  <a:lnTo>
                    <a:pt x="0" y="34512"/>
                  </a:lnTo>
                  <a:lnTo>
                    <a:pt x="66150" y="77646"/>
                  </a:lnTo>
                  <a:lnTo>
                    <a:pt x="51769" y="0"/>
                  </a:lnTo>
                  <a:close/>
                </a:path>
              </a:pathLst>
            </a:custGeom>
            <a:solidFill>
              <a:srgbClr val="231F20"/>
            </a:solidFill>
          </p:spPr>
          <p:txBody>
            <a:bodyPr wrap="square" lIns="0" tIns="0" rIns="0" bIns="0" rtlCol="0"/>
            <a:lstStyle/>
            <a:p>
              <a:endParaRPr/>
            </a:p>
          </p:txBody>
        </p:sp>
        <p:sp>
          <p:nvSpPr>
            <p:cNvPr id="37" name="object 37"/>
            <p:cNvSpPr/>
            <p:nvPr/>
          </p:nvSpPr>
          <p:spPr>
            <a:xfrm>
              <a:off x="1113533" y="1735298"/>
              <a:ext cx="125730" cy="188595"/>
            </a:xfrm>
            <a:custGeom>
              <a:avLst/>
              <a:gdLst/>
              <a:ahLst/>
              <a:cxnLst/>
              <a:rect l="l" t="t" r="r" b="b"/>
              <a:pathLst>
                <a:path w="125730" h="188594">
                  <a:moveTo>
                    <a:pt x="0" y="0"/>
                  </a:moveTo>
                  <a:lnTo>
                    <a:pt x="125570" y="188344"/>
                  </a:lnTo>
                </a:path>
              </a:pathLst>
            </a:custGeom>
            <a:ln w="5140">
              <a:solidFill>
                <a:srgbClr val="231F20"/>
              </a:solidFill>
            </a:ln>
          </p:spPr>
          <p:txBody>
            <a:bodyPr wrap="square" lIns="0" tIns="0" rIns="0" bIns="0" rtlCol="0"/>
            <a:lstStyle/>
            <a:p>
              <a:endParaRPr/>
            </a:p>
          </p:txBody>
        </p:sp>
        <p:sp>
          <p:nvSpPr>
            <p:cNvPr id="38" name="object 38"/>
            <p:cNvSpPr/>
            <p:nvPr/>
          </p:nvSpPr>
          <p:spPr>
            <a:xfrm>
              <a:off x="1193189" y="1876343"/>
              <a:ext cx="66675" cy="78105"/>
            </a:xfrm>
            <a:custGeom>
              <a:avLst/>
              <a:gdLst/>
              <a:ahLst/>
              <a:cxnLst/>
              <a:rect l="l" t="t" r="r" b="b"/>
              <a:pathLst>
                <a:path w="66675" h="78105">
                  <a:moveTo>
                    <a:pt x="51772" y="0"/>
                  </a:moveTo>
                  <a:lnTo>
                    <a:pt x="42063" y="13482"/>
                  </a:lnTo>
                  <a:lnTo>
                    <a:pt x="30199" y="23730"/>
                  </a:lnTo>
                  <a:lnTo>
                    <a:pt x="16178" y="30744"/>
                  </a:lnTo>
                  <a:lnTo>
                    <a:pt x="0" y="34523"/>
                  </a:lnTo>
                  <a:lnTo>
                    <a:pt x="66146" y="77646"/>
                  </a:lnTo>
                  <a:lnTo>
                    <a:pt x="51772" y="0"/>
                  </a:lnTo>
                  <a:close/>
                </a:path>
              </a:pathLst>
            </a:custGeom>
            <a:solidFill>
              <a:srgbClr val="231F20"/>
            </a:solidFill>
          </p:spPr>
          <p:txBody>
            <a:bodyPr wrap="square" lIns="0" tIns="0" rIns="0" bIns="0" rtlCol="0"/>
            <a:lstStyle/>
            <a:p>
              <a:endParaRPr/>
            </a:p>
          </p:txBody>
        </p:sp>
        <p:sp>
          <p:nvSpPr>
            <p:cNvPr id="39" name="object 39"/>
            <p:cNvSpPr/>
            <p:nvPr/>
          </p:nvSpPr>
          <p:spPr>
            <a:xfrm>
              <a:off x="1231428" y="1239574"/>
              <a:ext cx="146050" cy="146050"/>
            </a:xfrm>
            <a:custGeom>
              <a:avLst/>
              <a:gdLst/>
              <a:ahLst/>
              <a:cxnLst/>
              <a:rect l="l" t="t" r="r" b="b"/>
              <a:pathLst>
                <a:path w="146050" h="146050">
                  <a:moveTo>
                    <a:pt x="145797" y="0"/>
                  </a:moveTo>
                  <a:lnTo>
                    <a:pt x="0" y="0"/>
                  </a:lnTo>
                  <a:lnTo>
                    <a:pt x="0" y="145801"/>
                  </a:lnTo>
                  <a:lnTo>
                    <a:pt x="145797" y="145801"/>
                  </a:lnTo>
                  <a:lnTo>
                    <a:pt x="145797" y="0"/>
                  </a:lnTo>
                  <a:close/>
                </a:path>
              </a:pathLst>
            </a:custGeom>
            <a:solidFill>
              <a:srgbClr val="FFFFFF"/>
            </a:solidFill>
          </p:spPr>
          <p:txBody>
            <a:bodyPr wrap="square" lIns="0" tIns="0" rIns="0" bIns="0" rtlCol="0"/>
            <a:lstStyle/>
            <a:p>
              <a:endParaRPr/>
            </a:p>
          </p:txBody>
        </p:sp>
        <p:sp>
          <p:nvSpPr>
            <p:cNvPr id="40" name="object 40"/>
            <p:cNvSpPr/>
            <p:nvPr/>
          </p:nvSpPr>
          <p:spPr>
            <a:xfrm>
              <a:off x="1231428" y="1239574"/>
              <a:ext cx="146050" cy="146050"/>
            </a:xfrm>
            <a:custGeom>
              <a:avLst/>
              <a:gdLst/>
              <a:ahLst/>
              <a:cxnLst/>
              <a:rect l="l" t="t" r="r" b="b"/>
              <a:pathLst>
                <a:path w="146050" h="146050">
                  <a:moveTo>
                    <a:pt x="0" y="145801"/>
                  </a:moveTo>
                  <a:lnTo>
                    <a:pt x="145797" y="145801"/>
                  </a:lnTo>
                  <a:lnTo>
                    <a:pt x="145797" y="0"/>
                  </a:lnTo>
                  <a:lnTo>
                    <a:pt x="0" y="0"/>
                  </a:lnTo>
                  <a:lnTo>
                    <a:pt x="0" y="145801"/>
                  </a:lnTo>
                  <a:close/>
                </a:path>
              </a:pathLst>
            </a:custGeom>
            <a:ln w="5140">
              <a:solidFill>
                <a:srgbClr val="231F20"/>
              </a:solidFill>
            </a:ln>
          </p:spPr>
          <p:txBody>
            <a:bodyPr wrap="square" lIns="0" tIns="0" rIns="0" bIns="0" rtlCol="0"/>
            <a:lstStyle/>
            <a:p>
              <a:endParaRPr/>
            </a:p>
          </p:txBody>
        </p:sp>
        <p:sp>
          <p:nvSpPr>
            <p:cNvPr id="41" name="object 41"/>
            <p:cNvSpPr/>
            <p:nvPr/>
          </p:nvSpPr>
          <p:spPr>
            <a:xfrm>
              <a:off x="998145" y="1604077"/>
              <a:ext cx="146050" cy="146050"/>
            </a:xfrm>
            <a:custGeom>
              <a:avLst/>
              <a:gdLst/>
              <a:ahLst/>
              <a:cxnLst/>
              <a:rect l="l" t="t" r="r" b="b"/>
              <a:pathLst>
                <a:path w="146050" h="146050">
                  <a:moveTo>
                    <a:pt x="145801" y="0"/>
                  </a:moveTo>
                  <a:lnTo>
                    <a:pt x="0" y="0"/>
                  </a:lnTo>
                  <a:lnTo>
                    <a:pt x="0" y="145797"/>
                  </a:lnTo>
                  <a:lnTo>
                    <a:pt x="145801" y="145797"/>
                  </a:lnTo>
                  <a:lnTo>
                    <a:pt x="145801" y="0"/>
                  </a:lnTo>
                  <a:close/>
                </a:path>
              </a:pathLst>
            </a:custGeom>
            <a:solidFill>
              <a:srgbClr val="FFFFFF"/>
            </a:solidFill>
          </p:spPr>
          <p:txBody>
            <a:bodyPr wrap="square" lIns="0" tIns="0" rIns="0" bIns="0" rtlCol="0"/>
            <a:lstStyle/>
            <a:p>
              <a:endParaRPr/>
            </a:p>
          </p:txBody>
        </p:sp>
        <p:sp>
          <p:nvSpPr>
            <p:cNvPr id="42" name="object 42"/>
            <p:cNvSpPr/>
            <p:nvPr/>
          </p:nvSpPr>
          <p:spPr>
            <a:xfrm>
              <a:off x="998145" y="1604077"/>
              <a:ext cx="146050" cy="146050"/>
            </a:xfrm>
            <a:custGeom>
              <a:avLst/>
              <a:gdLst/>
              <a:ahLst/>
              <a:cxnLst/>
              <a:rect l="l" t="t" r="r" b="b"/>
              <a:pathLst>
                <a:path w="146050" h="146050">
                  <a:moveTo>
                    <a:pt x="0" y="145797"/>
                  </a:moveTo>
                  <a:lnTo>
                    <a:pt x="145801" y="145797"/>
                  </a:lnTo>
                  <a:lnTo>
                    <a:pt x="145801" y="0"/>
                  </a:lnTo>
                  <a:lnTo>
                    <a:pt x="0" y="0"/>
                  </a:lnTo>
                  <a:lnTo>
                    <a:pt x="0" y="145797"/>
                  </a:lnTo>
                  <a:close/>
                </a:path>
              </a:pathLst>
            </a:custGeom>
            <a:ln w="5140">
              <a:solidFill>
                <a:srgbClr val="231F20"/>
              </a:solidFill>
            </a:ln>
          </p:spPr>
          <p:txBody>
            <a:bodyPr wrap="square" lIns="0" tIns="0" rIns="0" bIns="0" rtlCol="0"/>
            <a:lstStyle/>
            <a:p>
              <a:endParaRPr/>
            </a:p>
          </p:txBody>
        </p:sp>
        <p:sp>
          <p:nvSpPr>
            <p:cNvPr id="43" name="object 43"/>
            <p:cNvSpPr/>
            <p:nvPr/>
          </p:nvSpPr>
          <p:spPr>
            <a:xfrm>
              <a:off x="1231428" y="1953995"/>
              <a:ext cx="146050" cy="146050"/>
            </a:xfrm>
            <a:custGeom>
              <a:avLst/>
              <a:gdLst/>
              <a:ahLst/>
              <a:cxnLst/>
              <a:rect l="l" t="t" r="r" b="b"/>
              <a:pathLst>
                <a:path w="146050" h="146050">
                  <a:moveTo>
                    <a:pt x="145797" y="0"/>
                  </a:moveTo>
                  <a:lnTo>
                    <a:pt x="0" y="0"/>
                  </a:lnTo>
                  <a:lnTo>
                    <a:pt x="0" y="145805"/>
                  </a:lnTo>
                  <a:lnTo>
                    <a:pt x="145797" y="145805"/>
                  </a:lnTo>
                  <a:lnTo>
                    <a:pt x="145797" y="0"/>
                  </a:lnTo>
                  <a:close/>
                </a:path>
              </a:pathLst>
            </a:custGeom>
            <a:solidFill>
              <a:srgbClr val="FFFFFF"/>
            </a:solidFill>
          </p:spPr>
          <p:txBody>
            <a:bodyPr wrap="square" lIns="0" tIns="0" rIns="0" bIns="0" rtlCol="0"/>
            <a:lstStyle/>
            <a:p>
              <a:endParaRPr/>
            </a:p>
          </p:txBody>
        </p:sp>
        <p:sp>
          <p:nvSpPr>
            <p:cNvPr id="44" name="object 44"/>
            <p:cNvSpPr/>
            <p:nvPr/>
          </p:nvSpPr>
          <p:spPr>
            <a:xfrm>
              <a:off x="1231428" y="1953995"/>
              <a:ext cx="146050" cy="146050"/>
            </a:xfrm>
            <a:custGeom>
              <a:avLst/>
              <a:gdLst/>
              <a:ahLst/>
              <a:cxnLst/>
              <a:rect l="l" t="t" r="r" b="b"/>
              <a:pathLst>
                <a:path w="146050" h="146050">
                  <a:moveTo>
                    <a:pt x="0" y="145805"/>
                  </a:moveTo>
                  <a:lnTo>
                    <a:pt x="145797" y="145805"/>
                  </a:lnTo>
                  <a:lnTo>
                    <a:pt x="145797" y="0"/>
                  </a:lnTo>
                  <a:lnTo>
                    <a:pt x="0" y="0"/>
                  </a:lnTo>
                  <a:lnTo>
                    <a:pt x="0" y="145805"/>
                  </a:lnTo>
                  <a:close/>
                </a:path>
              </a:pathLst>
            </a:custGeom>
            <a:ln w="5140">
              <a:solidFill>
                <a:srgbClr val="231F20"/>
              </a:solidFill>
            </a:ln>
          </p:spPr>
          <p:txBody>
            <a:bodyPr wrap="square" lIns="0" tIns="0" rIns="0" bIns="0" rtlCol="0"/>
            <a:lstStyle/>
            <a:p>
              <a:endParaRPr/>
            </a:p>
          </p:txBody>
        </p:sp>
        <p:sp>
          <p:nvSpPr>
            <p:cNvPr id="45" name="object 45"/>
            <p:cNvSpPr/>
            <p:nvPr/>
          </p:nvSpPr>
          <p:spPr>
            <a:xfrm>
              <a:off x="1333486" y="1792679"/>
              <a:ext cx="1210310" cy="118110"/>
            </a:xfrm>
            <a:custGeom>
              <a:avLst/>
              <a:gdLst/>
              <a:ahLst/>
              <a:cxnLst/>
              <a:rect l="l" t="t" r="r" b="b"/>
              <a:pathLst>
                <a:path w="1210310" h="118110">
                  <a:moveTo>
                    <a:pt x="1182475" y="0"/>
                  </a:moveTo>
                  <a:lnTo>
                    <a:pt x="27657" y="0"/>
                  </a:lnTo>
                  <a:lnTo>
                    <a:pt x="16918" y="2649"/>
                  </a:lnTo>
                  <a:lnTo>
                    <a:pt x="8125" y="9865"/>
                  </a:lnTo>
                  <a:lnTo>
                    <a:pt x="2185" y="20544"/>
                  </a:lnTo>
                  <a:lnTo>
                    <a:pt x="4" y="33587"/>
                  </a:lnTo>
                  <a:lnTo>
                    <a:pt x="0" y="83993"/>
                  </a:lnTo>
                  <a:lnTo>
                    <a:pt x="2182" y="97035"/>
                  </a:lnTo>
                  <a:lnTo>
                    <a:pt x="8123" y="107715"/>
                  </a:lnTo>
                  <a:lnTo>
                    <a:pt x="16917" y="114930"/>
                  </a:lnTo>
                  <a:lnTo>
                    <a:pt x="27657" y="117580"/>
                  </a:lnTo>
                  <a:lnTo>
                    <a:pt x="1182475" y="117580"/>
                  </a:lnTo>
                  <a:lnTo>
                    <a:pt x="1193220" y="114930"/>
                  </a:lnTo>
                  <a:lnTo>
                    <a:pt x="1202015" y="107715"/>
                  </a:lnTo>
                  <a:lnTo>
                    <a:pt x="1207955" y="97035"/>
                  </a:lnTo>
                  <a:lnTo>
                    <a:pt x="1210136" y="83993"/>
                  </a:lnTo>
                  <a:lnTo>
                    <a:pt x="1210136" y="33587"/>
                  </a:lnTo>
                  <a:lnTo>
                    <a:pt x="1207955" y="20544"/>
                  </a:lnTo>
                  <a:lnTo>
                    <a:pt x="1202015" y="9865"/>
                  </a:lnTo>
                  <a:lnTo>
                    <a:pt x="1193220" y="2649"/>
                  </a:lnTo>
                  <a:lnTo>
                    <a:pt x="1182475" y="0"/>
                  </a:lnTo>
                  <a:close/>
                </a:path>
              </a:pathLst>
            </a:custGeom>
            <a:solidFill>
              <a:srgbClr val="FFFFFF"/>
            </a:solidFill>
          </p:spPr>
          <p:txBody>
            <a:bodyPr wrap="square" lIns="0" tIns="0" rIns="0" bIns="0" rtlCol="0"/>
            <a:lstStyle/>
            <a:p>
              <a:endParaRPr/>
            </a:p>
          </p:txBody>
        </p:sp>
        <p:sp>
          <p:nvSpPr>
            <p:cNvPr id="46" name="object 46"/>
            <p:cNvSpPr/>
            <p:nvPr/>
          </p:nvSpPr>
          <p:spPr>
            <a:xfrm>
              <a:off x="1333486" y="1792677"/>
              <a:ext cx="1210310" cy="118110"/>
            </a:xfrm>
            <a:custGeom>
              <a:avLst/>
              <a:gdLst/>
              <a:ahLst/>
              <a:cxnLst/>
              <a:rect l="l" t="t" r="r" b="b"/>
              <a:pathLst>
                <a:path w="1210310" h="118110">
                  <a:moveTo>
                    <a:pt x="27657" y="0"/>
                  </a:moveTo>
                  <a:lnTo>
                    <a:pt x="1182475" y="0"/>
                  </a:lnTo>
                  <a:lnTo>
                    <a:pt x="1193222" y="2649"/>
                  </a:lnTo>
                  <a:lnTo>
                    <a:pt x="1202019" y="9865"/>
                  </a:lnTo>
                  <a:lnTo>
                    <a:pt x="1207960" y="20547"/>
                  </a:lnTo>
                  <a:lnTo>
                    <a:pt x="1210141" y="33592"/>
                  </a:lnTo>
                  <a:lnTo>
                    <a:pt x="1210141" y="83993"/>
                  </a:lnTo>
                  <a:lnTo>
                    <a:pt x="1207960" y="97039"/>
                  </a:lnTo>
                  <a:lnTo>
                    <a:pt x="1202019" y="107720"/>
                  </a:lnTo>
                  <a:lnTo>
                    <a:pt x="1193222" y="114936"/>
                  </a:lnTo>
                  <a:lnTo>
                    <a:pt x="1182475" y="117586"/>
                  </a:lnTo>
                  <a:lnTo>
                    <a:pt x="27657" y="117586"/>
                  </a:lnTo>
                  <a:lnTo>
                    <a:pt x="16917" y="114936"/>
                  </a:lnTo>
                  <a:lnTo>
                    <a:pt x="8123" y="107720"/>
                  </a:lnTo>
                  <a:lnTo>
                    <a:pt x="2182" y="97039"/>
                  </a:lnTo>
                  <a:lnTo>
                    <a:pt x="0" y="83993"/>
                  </a:lnTo>
                  <a:lnTo>
                    <a:pt x="3" y="33592"/>
                  </a:lnTo>
                  <a:lnTo>
                    <a:pt x="2185" y="20547"/>
                  </a:lnTo>
                  <a:lnTo>
                    <a:pt x="8125" y="9865"/>
                  </a:lnTo>
                  <a:lnTo>
                    <a:pt x="16918" y="2649"/>
                  </a:lnTo>
                  <a:lnTo>
                    <a:pt x="27657" y="0"/>
                  </a:lnTo>
                  <a:close/>
                </a:path>
              </a:pathLst>
            </a:custGeom>
            <a:ln w="5915">
              <a:solidFill>
                <a:srgbClr val="231F20"/>
              </a:solidFill>
            </a:ln>
          </p:spPr>
          <p:txBody>
            <a:bodyPr wrap="square" lIns="0" tIns="0" rIns="0" bIns="0" rtlCol="0"/>
            <a:lstStyle/>
            <a:p>
              <a:endParaRPr/>
            </a:p>
          </p:txBody>
        </p:sp>
        <p:pic>
          <p:nvPicPr>
            <p:cNvPr id="47" name="object 47"/>
            <p:cNvPicPr/>
            <p:nvPr/>
          </p:nvPicPr>
          <p:blipFill>
            <a:blip r:embed="rId6" cstate="print"/>
            <a:stretch>
              <a:fillRect/>
            </a:stretch>
          </p:blipFill>
          <p:spPr>
            <a:xfrm>
              <a:off x="2978456" y="1951419"/>
              <a:ext cx="150938" cy="150951"/>
            </a:xfrm>
            <a:prstGeom prst="rect">
              <a:avLst/>
            </a:prstGeom>
          </p:spPr>
        </p:pic>
        <p:pic>
          <p:nvPicPr>
            <p:cNvPr id="48" name="object 48"/>
            <p:cNvPicPr/>
            <p:nvPr/>
          </p:nvPicPr>
          <p:blipFill>
            <a:blip r:embed="rId7" cstate="print"/>
            <a:stretch>
              <a:fillRect/>
            </a:stretch>
          </p:blipFill>
          <p:spPr>
            <a:xfrm>
              <a:off x="3211734" y="1951419"/>
              <a:ext cx="150948" cy="150951"/>
            </a:xfrm>
            <a:prstGeom prst="rect">
              <a:avLst/>
            </a:prstGeom>
          </p:spPr>
        </p:pic>
      </p:grpSp>
      <p:sp>
        <p:nvSpPr>
          <p:cNvPr id="49" name="object 49"/>
          <p:cNvSpPr txBox="1"/>
          <p:nvPr/>
        </p:nvSpPr>
        <p:spPr>
          <a:xfrm>
            <a:off x="1176994" y="1786019"/>
            <a:ext cx="563880" cy="124460"/>
          </a:xfrm>
          <a:prstGeom prst="rect">
            <a:avLst/>
          </a:prstGeom>
        </p:spPr>
        <p:txBody>
          <a:bodyPr vert="horz" wrap="square" lIns="0" tIns="12065" rIns="0" bIns="0" rtlCol="0">
            <a:spAutoFit/>
          </a:bodyPr>
          <a:lstStyle/>
          <a:p>
            <a:pPr marL="25400">
              <a:lnSpc>
                <a:spcPct val="100000"/>
              </a:lnSpc>
              <a:spcBef>
                <a:spcPts val="95"/>
              </a:spcBef>
            </a:pPr>
            <a:r>
              <a:rPr sz="975" spc="-7" baseline="29914" dirty="0">
                <a:solidFill>
                  <a:srgbClr val="231F20"/>
                </a:solidFill>
                <a:latin typeface="Arial"/>
                <a:cs typeface="Arial"/>
              </a:rPr>
              <a:t>vu</a:t>
            </a:r>
            <a:r>
              <a:rPr sz="975" spc="644" baseline="29914" dirty="0">
                <a:solidFill>
                  <a:srgbClr val="231F20"/>
                </a:solidFill>
                <a:latin typeface="Arial"/>
                <a:cs typeface="Arial"/>
              </a:rPr>
              <a:t> </a:t>
            </a:r>
            <a:r>
              <a:rPr sz="650" spc="-5" dirty="0">
                <a:solidFill>
                  <a:srgbClr val="231F20"/>
                </a:solidFill>
                <a:latin typeface="Arial"/>
                <a:cs typeface="Arial"/>
              </a:rPr>
              <a:t>"nfs://flits</a:t>
            </a:r>
            <a:endParaRPr sz="650">
              <a:latin typeface="Arial"/>
              <a:cs typeface="Arial"/>
            </a:endParaRPr>
          </a:p>
        </p:txBody>
      </p:sp>
      <p:sp>
        <p:nvSpPr>
          <p:cNvPr id="50" name="object 50"/>
          <p:cNvSpPr txBox="1"/>
          <p:nvPr/>
        </p:nvSpPr>
        <p:spPr>
          <a:xfrm>
            <a:off x="1689635" y="1786019"/>
            <a:ext cx="809625"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.cs.vu.nl/home/steen"</a:t>
            </a:r>
            <a:endParaRPr sz="650">
              <a:latin typeface="Arial"/>
              <a:cs typeface="Arial"/>
            </a:endParaRPr>
          </a:p>
        </p:txBody>
      </p:sp>
      <p:grpSp>
        <p:nvGrpSpPr>
          <p:cNvPr id="51" name="object 51"/>
          <p:cNvGrpSpPr/>
          <p:nvPr/>
        </p:nvGrpSpPr>
        <p:grpSpPr>
          <a:xfrm>
            <a:off x="3097671" y="1251303"/>
            <a:ext cx="612775" cy="1201420"/>
            <a:chOff x="3097671" y="1251303"/>
            <a:chExt cx="612775" cy="1201420"/>
          </a:xfrm>
        </p:grpSpPr>
        <p:sp>
          <p:nvSpPr>
            <p:cNvPr id="52" name="object 52"/>
            <p:cNvSpPr/>
            <p:nvPr/>
          </p:nvSpPr>
          <p:spPr>
            <a:xfrm>
              <a:off x="3351184" y="1385376"/>
              <a:ext cx="125730" cy="188595"/>
            </a:xfrm>
            <a:custGeom>
              <a:avLst/>
              <a:gdLst/>
              <a:ahLst/>
              <a:cxnLst/>
              <a:rect l="l" t="t" r="r" b="b"/>
              <a:pathLst>
                <a:path w="125729" h="188594">
                  <a:moveTo>
                    <a:pt x="125563" y="0"/>
                  </a:moveTo>
                  <a:lnTo>
                    <a:pt x="0" y="188344"/>
                  </a:lnTo>
                </a:path>
              </a:pathLst>
            </a:custGeom>
            <a:ln w="5140">
              <a:solidFill>
                <a:srgbClr val="231F20"/>
              </a:solidFill>
            </a:ln>
          </p:spPr>
          <p:txBody>
            <a:bodyPr wrap="square" lIns="0" tIns="0" rIns="0" bIns="0" rtlCol="0"/>
            <a:lstStyle/>
            <a:p>
              <a:endParaRPr/>
            </a:p>
          </p:txBody>
        </p:sp>
        <p:sp>
          <p:nvSpPr>
            <p:cNvPr id="53" name="object 53"/>
            <p:cNvSpPr/>
            <p:nvPr/>
          </p:nvSpPr>
          <p:spPr>
            <a:xfrm>
              <a:off x="3330949" y="1526431"/>
              <a:ext cx="66675" cy="78105"/>
            </a:xfrm>
            <a:custGeom>
              <a:avLst/>
              <a:gdLst/>
              <a:ahLst/>
              <a:cxnLst/>
              <a:rect l="l" t="t" r="r" b="b"/>
              <a:pathLst>
                <a:path w="66675" h="78105">
                  <a:moveTo>
                    <a:pt x="14381" y="0"/>
                  </a:moveTo>
                  <a:lnTo>
                    <a:pt x="0" y="77646"/>
                  </a:lnTo>
                  <a:lnTo>
                    <a:pt x="66145" y="34512"/>
                  </a:lnTo>
                  <a:lnTo>
                    <a:pt x="49966" y="30736"/>
                  </a:lnTo>
                  <a:lnTo>
                    <a:pt x="35946" y="23725"/>
                  </a:lnTo>
                  <a:lnTo>
                    <a:pt x="24085" y="13480"/>
                  </a:lnTo>
                  <a:lnTo>
                    <a:pt x="14381" y="0"/>
                  </a:lnTo>
                  <a:close/>
                </a:path>
              </a:pathLst>
            </a:custGeom>
            <a:solidFill>
              <a:srgbClr val="231F20"/>
            </a:solidFill>
          </p:spPr>
          <p:txBody>
            <a:bodyPr wrap="square" lIns="0" tIns="0" rIns="0" bIns="0" rtlCol="0"/>
            <a:lstStyle/>
            <a:p>
              <a:endParaRPr/>
            </a:p>
          </p:txBody>
        </p:sp>
        <p:sp>
          <p:nvSpPr>
            <p:cNvPr id="54" name="object 54"/>
            <p:cNvSpPr/>
            <p:nvPr/>
          </p:nvSpPr>
          <p:spPr>
            <a:xfrm>
              <a:off x="3564227" y="1385376"/>
              <a:ext cx="125730" cy="188595"/>
            </a:xfrm>
            <a:custGeom>
              <a:avLst/>
              <a:gdLst/>
              <a:ahLst/>
              <a:cxnLst/>
              <a:rect l="l" t="t" r="r" b="b"/>
              <a:pathLst>
                <a:path w="125729" h="188594">
                  <a:moveTo>
                    <a:pt x="0" y="0"/>
                  </a:moveTo>
                  <a:lnTo>
                    <a:pt x="125563" y="188344"/>
                  </a:lnTo>
                </a:path>
              </a:pathLst>
            </a:custGeom>
            <a:ln w="5140">
              <a:solidFill>
                <a:srgbClr val="231F20"/>
              </a:solidFill>
            </a:ln>
          </p:spPr>
          <p:txBody>
            <a:bodyPr wrap="square" lIns="0" tIns="0" rIns="0" bIns="0" rtlCol="0"/>
            <a:lstStyle/>
            <a:p>
              <a:endParaRPr/>
            </a:p>
          </p:txBody>
        </p:sp>
        <p:sp>
          <p:nvSpPr>
            <p:cNvPr id="55" name="object 55"/>
            <p:cNvSpPr/>
            <p:nvPr/>
          </p:nvSpPr>
          <p:spPr>
            <a:xfrm>
              <a:off x="3643880" y="1526431"/>
              <a:ext cx="66675" cy="78105"/>
            </a:xfrm>
            <a:custGeom>
              <a:avLst/>
              <a:gdLst/>
              <a:ahLst/>
              <a:cxnLst/>
              <a:rect l="l" t="t" r="r" b="b"/>
              <a:pathLst>
                <a:path w="66675" h="78105">
                  <a:moveTo>
                    <a:pt x="51774" y="0"/>
                  </a:moveTo>
                  <a:lnTo>
                    <a:pt x="42063" y="13480"/>
                  </a:lnTo>
                  <a:lnTo>
                    <a:pt x="30196" y="23725"/>
                  </a:lnTo>
                  <a:lnTo>
                    <a:pt x="16174" y="30736"/>
                  </a:lnTo>
                  <a:lnTo>
                    <a:pt x="0" y="34512"/>
                  </a:lnTo>
                  <a:lnTo>
                    <a:pt x="66145" y="77646"/>
                  </a:lnTo>
                  <a:lnTo>
                    <a:pt x="51774" y="0"/>
                  </a:lnTo>
                  <a:close/>
                </a:path>
              </a:pathLst>
            </a:custGeom>
            <a:solidFill>
              <a:srgbClr val="231F20"/>
            </a:solidFill>
          </p:spPr>
          <p:txBody>
            <a:bodyPr wrap="square" lIns="0" tIns="0" rIns="0" bIns="0" rtlCol="0"/>
            <a:lstStyle/>
            <a:p>
              <a:endParaRPr/>
            </a:p>
          </p:txBody>
        </p:sp>
        <p:sp>
          <p:nvSpPr>
            <p:cNvPr id="56" name="object 56"/>
            <p:cNvSpPr/>
            <p:nvPr/>
          </p:nvSpPr>
          <p:spPr>
            <a:xfrm>
              <a:off x="3117905" y="1735298"/>
              <a:ext cx="125730" cy="188595"/>
            </a:xfrm>
            <a:custGeom>
              <a:avLst/>
              <a:gdLst/>
              <a:ahLst/>
              <a:cxnLst/>
              <a:rect l="l" t="t" r="r" b="b"/>
              <a:pathLst>
                <a:path w="125730" h="188594">
                  <a:moveTo>
                    <a:pt x="125563" y="0"/>
                  </a:moveTo>
                  <a:lnTo>
                    <a:pt x="0" y="188344"/>
                  </a:lnTo>
                </a:path>
              </a:pathLst>
            </a:custGeom>
            <a:ln w="5140">
              <a:solidFill>
                <a:srgbClr val="231F20"/>
              </a:solidFill>
            </a:ln>
          </p:spPr>
          <p:txBody>
            <a:bodyPr wrap="square" lIns="0" tIns="0" rIns="0" bIns="0" rtlCol="0"/>
            <a:lstStyle/>
            <a:p>
              <a:endParaRPr/>
            </a:p>
          </p:txBody>
        </p:sp>
        <p:sp>
          <p:nvSpPr>
            <p:cNvPr id="57" name="object 57"/>
            <p:cNvSpPr/>
            <p:nvPr/>
          </p:nvSpPr>
          <p:spPr>
            <a:xfrm>
              <a:off x="3097671" y="1876343"/>
              <a:ext cx="66675" cy="78105"/>
            </a:xfrm>
            <a:custGeom>
              <a:avLst/>
              <a:gdLst/>
              <a:ahLst/>
              <a:cxnLst/>
              <a:rect l="l" t="t" r="r" b="b"/>
              <a:pathLst>
                <a:path w="66675" h="78105">
                  <a:moveTo>
                    <a:pt x="14370" y="0"/>
                  </a:moveTo>
                  <a:lnTo>
                    <a:pt x="0" y="77646"/>
                  </a:lnTo>
                  <a:lnTo>
                    <a:pt x="66145" y="34523"/>
                  </a:lnTo>
                  <a:lnTo>
                    <a:pt x="49966" y="30744"/>
                  </a:lnTo>
                  <a:lnTo>
                    <a:pt x="35945" y="23730"/>
                  </a:lnTo>
                  <a:lnTo>
                    <a:pt x="24080" y="13482"/>
                  </a:lnTo>
                  <a:lnTo>
                    <a:pt x="14370" y="0"/>
                  </a:lnTo>
                  <a:close/>
                </a:path>
              </a:pathLst>
            </a:custGeom>
            <a:solidFill>
              <a:srgbClr val="231F20"/>
            </a:solidFill>
          </p:spPr>
          <p:txBody>
            <a:bodyPr wrap="square" lIns="0" tIns="0" rIns="0" bIns="0" rtlCol="0"/>
            <a:lstStyle/>
            <a:p>
              <a:endParaRPr/>
            </a:p>
          </p:txBody>
        </p:sp>
        <p:sp>
          <p:nvSpPr>
            <p:cNvPr id="58" name="object 58"/>
            <p:cNvSpPr/>
            <p:nvPr/>
          </p:nvSpPr>
          <p:spPr>
            <a:xfrm>
              <a:off x="3287209" y="1749875"/>
              <a:ext cx="0" cy="168275"/>
            </a:xfrm>
            <a:custGeom>
              <a:avLst/>
              <a:gdLst/>
              <a:ahLst/>
              <a:cxnLst/>
              <a:rect l="l" t="t" r="r" b="b"/>
              <a:pathLst>
                <a:path h="168275">
                  <a:moveTo>
                    <a:pt x="0" y="0"/>
                  </a:moveTo>
                  <a:lnTo>
                    <a:pt x="0" y="167647"/>
                  </a:lnTo>
                </a:path>
              </a:pathLst>
            </a:custGeom>
            <a:ln w="5140">
              <a:solidFill>
                <a:srgbClr val="231F20"/>
              </a:solidFill>
            </a:ln>
          </p:spPr>
          <p:txBody>
            <a:bodyPr wrap="square" lIns="0" tIns="0" rIns="0" bIns="0" rtlCol="0"/>
            <a:lstStyle/>
            <a:p>
              <a:endParaRPr/>
            </a:p>
          </p:txBody>
        </p:sp>
        <p:sp>
          <p:nvSpPr>
            <p:cNvPr id="59" name="object 59"/>
            <p:cNvSpPr/>
            <p:nvPr/>
          </p:nvSpPr>
          <p:spPr>
            <a:xfrm>
              <a:off x="3256101" y="1881415"/>
              <a:ext cx="62230" cy="73025"/>
            </a:xfrm>
            <a:custGeom>
              <a:avLst/>
              <a:gdLst/>
              <a:ahLst/>
              <a:cxnLst/>
              <a:rect l="l" t="t" r="r" b="b"/>
              <a:pathLst>
                <a:path w="62229" h="73025">
                  <a:moveTo>
                    <a:pt x="62215" y="0"/>
                  </a:moveTo>
                  <a:lnTo>
                    <a:pt x="46661" y="5832"/>
                  </a:lnTo>
                  <a:lnTo>
                    <a:pt x="31107" y="7776"/>
                  </a:lnTo>
                  <a:lnTo>
                    <a:pt x="15553" y="5832"/>
                  </a:lnTo>
                  <a:lnTo>
                    <a:pt x="0" y="0"/>
                  </a:lnTo>
                  <a:lnTo>
                    <a:pt x="31107" y="72574"/>
                  </a:lnTo>
                  <a:lnTo>
                    <a:pt x="62215" y="0"/>
                  </a:lnTo>
                  <a:close/>
                </a:path>
              </a:pathLst>
            </a:custGeom>
            <a:solidFill>
              <a:srgbClr val="231F20"/>
            </a:solidFill>
          </p:spPr>
          <p:txBody>
            <a:bodyPr wrap="square" lIns="0" tIns="0" rIns="0" bIns="0" rtlCol="0"/>
            <a:lstStyle/>
            <a:p>
              <a:endParaRPr/>
            </a:p>
          </p:txBody>
        </p:sp>
        <p:sp>
          <p:nvSpPr>
            <p:cNvPr id="60" name="object 60"/>
            <p:cNvSpPr/>
            <p:nvPr/>
          </p:nvSpPr>
          <p:spPr>
            <a:xfrm>
              <a:off x="3330949" y="1735298"/>
              <a:ext cx="125730" cy="188595"/>
            </a:xfrm>
            <a:custGeom>
              <a:avLst/>
              <a:gdLst/>
              <a:ahLst/>
              <a:cxnLst/>
              <a:rect l="l" t="t" r="r" b="b"/>
              <a:pathLst>
                <a:path w="125729" h="188594">
                  <a:moveTo>
                    <a:pt x="0" y="0"/>
                  </a:moveTo>
                  <a:lnTo>
                    <a:pt x="125563" y="188344"/>
                  </a:lnTo>
                </a:path>
              </a:pathLst>
            </a:custGeom>
            <a:ln w="5140">
              <a:solidFill>
                <a:srgbClr val="231F20"/>
              </a:solidFill>
            </a:ln>
          </p:spPr>
          <p:txBody>
            <a:bodyPr wrap="square" lIns="0" tIns="0" rIns="0" bIns="0" rtlCol="0"/>
            <a:lstStyle/>
            <a:p>
              <a:endParaRPr/>
            </a:p>
          </p:txBody>
        </p:sp>
        <p:sp>
          <p:nvSpPr>
            <p:cNvPr id="61" name="object 61"/>
            <p:cNvSpPr/>
            <p:nvPr/>
          </p:nvSpPr>
          <p:spPr>
            <a:xfrm>
              <a:off x="3410601" y="1876343"/>
              <a:ext cx="66675" cy="78105"/>
            </a:xfrm>
            <a:custGeom>
              <a:avLst/>
              <a:gdLst/>
              <a:ahLst/>
              <a:cxnLst/>
              <a:rect l="l" t="t" r="r" b="b"/>
              <a:pathLst>
                <a:path w="66675" h="78105">
                  <a:moveTo>
                    <a:pt x="51764" y="0"/>
                  </a:moveTo>
                  <a:lnTo>
                    <a:pt x="42060" y="13482"/>
                  </a:lnTo>
                  <a:lnTo>
                    <a:pt x="30198" y="23730"/>
                  </a:lnTo>
                  <a:lnTo>
                    <a:pt x="16179" y="30744"/>
                  </a:lnTo>
                  <a:lnTo>
                    <a:pt x="0" y="34523"/>
                  </a:lnTo>
                  <a:lnTo>
                    <a:pt x="66145" y="77646"/>
                  </a:lnTo>
                  <a:lnTo>
                    <a:pt x="51764" y="0"/>
                  </a:lnTo>
                  <a:close/>
                </a:path>
              </a:pathLst>
            </a:custGeom>
            <a:solidFill>
              <a:srgbClr val="231F20"/>
            </a:solidFill>
          </p:spPr>
          <p:txBody>
            <a:bodyPr wrap="square" lIns="0" tIns="0" rIns="0" bIns="0" rtlCol="0"/>
            <a:lstStyle/>
            <a:p>
              <a:endParaRPr/>
            </a:p>
          </p:txBody>
        </p:sp>
        <p:sp>
          <p:nvSpPr>
            <p:cNvPr id="62" name="object 62"/>
            <p:cNvSpPr/>
            <p:nvPr/>
          </p:nvSpPr>
          <p:spPr>
            <a:xfrm>
              <a:off x="3214305" y="1604077"/>
              <a:ext cx="146050" cy="146050"/>
            </a:xfrm>
            <a:custGeom>
              <a:avLst/>
              <a:gdLst/>
              <a:ahLst/>
              <a:cxnLst/>
              <a:rect l="l" t="t" r="r" b="b"/>
              <a:pathLst>
                <a:path w="146050" h="146050">
                  <a:moveTo>
                    <a:pt x="145801" y="0"/>
                  </a:moveTo>
                  <a:lnTo>
                    <a:pt x="0" y="0"/>
                  </a:lnTo>
                  <a:lnTo>
                    <a:pt x="0" y="145797"/>
                  </a:lnTo>
                  <a:lnTo>
                    <a:pt x="145801" y="145797"/>
                  </a:lnTo>
                  <a:lnTo>
                    <a:pt x="145801" y="0"/>
                  </a:lnTo>
                  <a:close/>
                </a:path>
              </a:pathLst>
            </a:custGeom>
            <a:solidFill>
              <a:srgbClr val="FFFFFF"/>
            </a:solidFill>
          </p:spPr>
          <p:txBody>
            <a:bodyPr wrap="square" lIns="0" tIns="0" rIns="0" bIns="0" rtlCol="0"/>
            <a:lstStyle/>
            <a:p>
              <a:endParaRPr/>
            </a:p>
          </p:txBody>
        </p:sp>
        <p:sp>
          <p:nvSpPr>
            <p:cNvPr id="63" name="object 63"/>
            <p:cNvSpPr/>
            <p:nvPr/>
          </p:nvSpPr>
          <p:spPr>
            <a:xfrm>
              <a:off x="3214305" y="1604077"/>
              <a:ext cx="146050" cy="146050"/>
            </a:xfrm>
            <a:custGeom>
              <a:avLst/>
              <a:gdLst/>
              <a:ahLst/>
              <a:cxnLst/>
              <a:rect l="l" t="t" r="r" b="b"/>
              <a:pathLst>
                <a:path w="146050" h="146050">
                  <a:moveTo>
                    <a:pt x="0" y="145797"/>
                  </a:moveTo>
                  <a:lnTo>
                    <a:pt x="145801" y="145797"/>
                  </a:lnTo>
                  <a:lnTo>
                    <a:pt x="145801" y="0"/>
                  </a:lnTo>
                  <a:lnTo>
                    <a:pt x="0" y="0"/>
                  </a:lnTo>
                  <a:lnTo>
                    <a:pt x="0" y="145797"/>
                  </a:lnTo>
                  <a:close/>
                </a:path>
              </a:pathLst>
            </a:custGeom>
            <a:ln w="5140">
              <a:solidFill>
                <a:srgbClr val="231F20"/>
              </a:solidFill>
            </a:ln>
          </p:spPr>
          <p:txBody>
            <a:bodyPr wrap="square" lIns="0" tIns="0" rIns="0" bIns="0" rtlCol="0"/>
            <a:lstStyle/>
            <a:p>
              <a:endParaRPr/>
            </a:p>
          </p:txBody>
        </p:sp>
        <p:sp>
          <p:nvSpPr>
            <p:cNvPr id="64" name="object 64"/>
            <p:cNvSpPr/>
            <p:nvPr/>
          </p:nvSpPr>
          <p:spPr>
            <a:xfrm>
              <a:off x="3447593" y="1254161"/>
              <a:ext cx="146050" cy="146050"/>
            </a:xfrm>
            <a:custGeom>
              <a:avLst/>
              <a:gdLst/>
              <a:ahLst/>
              <a:cxnLst/>
              <a:rect l="l" t="t" r="r" b="b"/>
              <a:pathLst>
                <a:path w="146050" h="146050">
                  <a:moveTo>
                    <a:pt x="145801" y="0"/>
                  </a:moveTo>
                  <a:lnTo>
                    <a:pt x="0" y="0"/>
                  </a:lnTo>
                  <a:lnTo>
                    <a:pt x="0" y="145801"/>
                  </a:lnTo>
                  <a:lnTo>
                    <a:pt x="145801" y="145801"/>
                  </a:lnTo>
                  <a:lnTo>
                    <a:pt x="145801" y="0"/>
                  </a:lnTo>
                  <a:close/>
                </a:path>
              </a:pathLst>
            </a:custGeom>
            <a:solidFill>
              <a:srgbClr val="FFFFFF"/>
            </a:solidFill>
          </p:spPr>
          <p:txBody>
            <a:bodyPr wrap="square" lIns="0" tIns="0" rIns="0" bIns="0" rtlCol="0"/>
            <a:lstStyle/>
            <a:p>
              <a:endParaRPr/>
            </a:p>
          </p:txBody>
        </p:sp>
        <p:sp>
          <p:nvSpPr>
            <p:cNvPr id="65" name="object 65"/>
            <p:cNvSpPr/>
            <p:nvPr/>
          </p:nvSpPr>
          <p:spPr>
            <a:xfrm>
              <a:off x="3447593" y="1254161"/>
              <a:ext cx="146050" cy="146050"/>
            </a:xfrm>
            <a:custGeom>
              <a:avLst/>
              <a:gdLst/>
              <a:ahLst/>
              <a:cxnLst/>
              <a:rect l="l" t="t" r="r" b="b"/>
              <a:pathLst>
                <a:path w="146050" h="146050">
                  <a:moveTo>
                    <a:pt x="0" y="145801"/>
                  </a:moveTo>
                  <a:lnTo>
                    <a:pt x="145801" y="145801"/>
                  </a:lnTo>
                  <a:lnTo>
                    <a:pt x="145801" y="0"/>
                  </a:lnTo>
                  <a:lnTo>
                    <a:pt x="0" y="0"/>
                  </a:lnTo>
                  <a:lnTo>
                    <a:pt x="0" y="145801"/>
                  </a:lnTo>
                  <a:close/>
                </a:path>
              </a:pathLst>
            </a:custGeom>
            <a:ln w="5140">
              <a:solidFill>
                <a:srgbClr val="231F20"/>
              </a:solidFill>
            </a:ln>
          </p:spPr>
          <p:txBody>
            <a:bodyPr wrap="square" lIns="0" tIns="0" rIns="0" bIns="0" rtlCol="0"/>
            <a:lstStyle/>
            <a:p>
              <a:endParaRPr/>
            </a:p>
          </p:txBody>
        </p:sp>
        <p:sp>
          <p:nvSpPr>
            <p:cNvPr id="66" name="object 66"/>
            <p:cNvSpPr/>
            <p:nvPr/>
          </p:nvSpPr>
          <p:spPr>
            <a:xfrm>
              <a:off x="3319880" y="2303921"/>
              <a:ext cx="146050" cy="146050"/>
            </a:xfrm>
            <a:custGeom>
              <a:avLst/>
              <a:gdLst/>
              <a:ahLst/>
              <a:cxnLst/>
              <a:rect l="l" t="t" r="r" b="b"/>
              <a:pathLst>
                <a:path w="146050" h="146050">
                  <a:moveTo>
                    <a:pt x="72903" y="0"/>
                  </a:moveTo>
                  <a:lnTo>
                    <a:pt x="44570" y="5743"/>
                  </a:lnTo>
                  <a:lnTo>
                    <a:pt x="21391" y="21392"/>
                  </a:lnTo>
                  <a:lnTo>
                    <a:pt x="5743" y="44569"/>
                  </a:lnTo>
                  <a:lnTo>
                    <a:pt x="0" y="72900"/>
                  </a:lnTo>
                  <a:lnTo>
                    <a:pt x="5745" y="101229"/>
                  </a:lnTo>
                  <a:lnTo>
                    <a:pt x="21397" y="124406"/>
                  </a:lnTo>
                  <a:lnTo>
                    <a:pt x="44582" y="140054"/>
                  </a:lnTo>
                  <a:lnTo>
                    <a:pt x="72903" y="145798"/>
                  </a:lnTo>
                  <a:lnTo>
                    <a:pt x="101234" y="140052"/>
                  </a:lnTo>
                  <a:lnTo>
                    <a:pt x="124408" y="124404"/>
                  </a:lnTo>
                  <a:lnTo>
                    <a:pt x="140054" y="101229"/>
                  </a:lnTo>
                  <a:lnTo>
                    <a:pt x="145797" y="72900"/>
                  </a:lnTo>
                  <a:lnTo>
                    <a:pt x="140054" y="44569"/>
                  </a:lnTo>
                  <a:lnTo>
                    <a:pt x="124407" y="21392"/>
                  </a:lnTo>
                  <a:lnTo>
                    <a:pt x="101231" y="5743"/>
                  </a:lnTo>
                  <a:lnTo>
                    <a:pt x="72903" y="0"/>
                  </a:lnTo>
                  <a:close/>
                </a:path>
              </a:pathLst>
            </a:custGeom>
            <a:solidFill>
              <a:srgbClr val="FFFFFF"/>
            </a:solidFill>
          </p:spPr>
          <p:txBody>
            <a:bodyPr wrap="square" lIns="0" tIns="0" rIns="0" bIns="0" rtlCol="0"/>
            <a:lstStyle/>
            <a:p>
              <a:endParaRPr/>
            </a:p>
          </p:txBody>
        </p:sp>
        <p:sp>
          <p:nvSpPr>
            <p:cNvPr id="67" name="object 67"/>
            <p:cNvSpPr/>
            <p:nvPr/>
          </p:nvSpPr>
          <p:spPr>
            <a:xfrm>
              <a:off x="3319880" y="2303921"/>
              <a:ext cx="146050" cy="146050"/>
            </a:xfrm>
            <a:custGeom>
              <a:avLst/>
              <a:gdLst/>
              <a:ahLst/>
              <a:cxnLst/>
              <a:rect l="l" t="t" r="r" b="b"/>
              <a:pathLst>
                <a:path w="146050" h="146050">
                  <a:moveTo>
                    <a:pt x="72903" y="0"/>
                  </a:moveTo>
                  <a:lnTo>
                    <a:pt x="101231" y="5743"/>
                  </a:lnTo>
                  <a:lnTo>
                    <a:pt x="124407" y="21392"/>
                  </a:lnTo>
                  <a:lnTo>
                    <a:pt x="140054" y="44569"/>
                  </a:lnTo>
                  <a:lnTo>
                    <a:pt x="145797" y="72900"/>
                  </a:lnTo>
                  <a:lnTo>
                    <a:pt x="140054" y="101229"/>
                  </a:lnTo>
                  <a:lnTo>
                    <a:pt x="124407" y="124406"/>
                  </a:lnTo>
                  <a:lnTo>
                    <a:pt x="101231" y="140054"/>
                  </a:lnTo>
                  <a:lnTo>
                    <a:pt x="72903" y="145798"/>
                  </a:lnTo>
                  <a:lnTo>
                    <a:pt x="44574" y="140052"/>
                  </a:lnTo>
                  <a:lnTo>
                    <a:pt x="21395" y="124404"/>
                  </a:lnTo>
                  <a:lnTo>
                    <a:pt x="5745" y="101229"/>
                  </a:lnTo>
                  <a:lnTo>
                    <a:pt x="0" y="72900"/>
                  </a:lnTo>
                  <a:lnTo>
                    <a:pt x="5743" y="44569"/>
                  </a:lnTo>
                  <a:lnTo>
                    <a:pt x="21391" y="21392"/>
                  </a:lnTo>
                  <a:lnTo>
                    <a:pt x="44570" y="5743"/>
                  </a:lnTo>
                  <a:lnTo>
                    <a:pt x="72903" y="0"/>
                  </a:lnTo>
                  <a:close/>
                </a:path>
              </a:pathLst>
            </a:custGeom>
            <a:ln w="5140">
              <a:solidFill>
                <a:srgbClr val="231F20"/>
              </a:solidFill>
            </a:ln>
          </p:spPr>
          <p:txBody>
            <a:bodyPr wrap="square" lIns="0" tIns="0" rIns="0" bIns="0" rtlCol="0"/>
            <a:lstStyle/>
            <a:p>
              <a:endParaRPr/>
            </a:p>
          </p:txBody>
        </p:sp>
      </p:grpSp>
      <p:sp>
        <p:nvSpPr>
          <p:cNvPr id="68" name="object 68"/>
          <p:cNvSpPr txBox="1"/>
          <p:nvPr/>
        </p:nvSpPr>
        <p:spPr>
          <a:xfrm>
            <a:off x="3433272" y="1742323"/>
            <a:ext cx="389255" cy="459740"/>
          </a:xfrm>
          <a:prstGeom prst="rect">
            <a:avLst/>
          </a:prstGeom>
        </p:spPr>
        <p:txBody>
          <a:bodyPr vert="horz" wrap="square" lIns="0" tIns="12065" rIns="0" bIns="0" rtlCol="0">
            <a:spAutoFit/>
          </a:bodyPr>
          <a:lstStyle/>
          <a:p>
            <a:pPr>
              <a:lnSpc>
                <a:spcPct val="100000"/>
              </a:lnSpc>
              <a:spcBef>
                <a:spcPts val="95"/>
              </a:spcBef>
            </a:pPr>
            <a:r>
              <a:rPr sz="650" spc="-5" dirty="0">
                <a:solidFill>
                  <a:srgbClr val="231F20"/>
                </a:solidFill>
                <a:latin typeface="Arial"/>
                <a:cs typeface="Arial"/>
              </a:rPr>
              <a:t>steen</a:t>
            </a:r>
            <a:endParaRPr sz="650">
              <a:latin typeface="Arial"/>
              <a:cs typeface="Arial"/>
            </a:endParaRPr>
          </a:p>
          <a:p>
            <a:pPr>
              <a:lnSpc>
                <a:spcPct val="100000"/>
              </a:lnSpc>
            </a:pPr>
            <a:endParaRPr sz="600">
              <a:latin typeface="Arial"/>
              <a:cs typeface="Arial"/>
            </a:endParaRPr>
          </a:p>
          <a:p>
            <a:pPr>
              <a:lnSpc>
                <a:spcPct val="100000"/>
              </a:lnSpc>
            </a:pPr>
            <a:endParaRPr sz="600">
              <a:latin typeface="Arial"/>
              <a:cs typeface="Arial"/>
            </a:endParaRPr>
          </a:p>
          <a:p>
            <a:pPr marL="174625">
              <a:lnSpc>
                <a:spcPct val="100000"/>
              </a:lnSpc>
              <a:spcBef>
                <a:spcPts val="484"/>
              </a:spcBef>
            </a:pPr>
            <a:r>
              <a:rPr sz="650" spc="-5" dirty="0">
                <a:solidFill>
                  <a:srgbClr val="231F20"/>
                </a:solidFill>
                <a:latin typeface="Arial"/>
                <a:cs typeface="Arial"/>
              </a:rPr>
              <a:t>mbox</a:t>
            </a:r>
            <a:endParaRPr sz="650">
              <a:latin typeface="Arial"/>
              <a:cs typeface="Arial"/>
            </a:endParaRPr>
          </a:p>
        </p:txBody>
      </p:sp>
      <p:sp>
        <p:nvSpPr>
          <p:cNvPr id="69" name="object 69"/>
          <p:cNvSpPr txBox="1"/>
          <p:nvPr/>
        </p:nvSpPr>
        <p:spPr>
          <a:xfrm>
            <a:off x="3112566" y="1436430"/>
            <a:ext cx="219075" cy="124460"/>
          </a:xfrm>
          <a:prstGeom prst="rect">
            <a:avLst/>
          </a:prstGeom>
        </p:spPr>
        <p:txBody>
          <a:bodyPr vert="horz" wrap="square" lIns="0" tIns="12065" rIns="0" bIns="0" rtlCol="0">
            <a:spAutoFit/>
          </a:bodyPr>
          <a:lstStyle/>
          <a:p>
            <a:pPr>
              <a:lnSpc>
                <a:spcPct val="100000"/>
              </a:lnSpc>
              <a:spcBef>
                <a:spcPts val="95"/>
              </a:spcBef>
            </a:pPr>
            <a:r>
              <a:rPr sz="650" spc="-5" dirty="0">
                <a:solidFill>
                  <a:srgbClr val="231F20"/>
                </a:solidFill>
                <a:latin typeface="Arial"/>
                <a:cs typeface="Arial"/>
              </a:rPr>
              <a:t>home</a:t>
            </a:r>
            <a:endParaRPr sz="650">
              <a:latin typeface="Arial"/>
              <a:cs typeface="Arial"/>
            </a:endParaRPr>
          </a:p>
        </p:txBody>
      </p:sp>
      <p:grpSp>
        <p:nvGrpSpPr>
          <p:cNvPr id="70" name="object 70"/>
          <p:cNvGrpSpPr/>
          <p:nvPr/>
        </p:nvGrpSpPr>
        <p:grpSpPr>
          <a:xfrm>
            <a:off x="599339" y="1601507"/>
            <a:ext cx="3408045" cy="1244600"/>
            <a:chOff x="599339" y="1601507"/>
            <a:chExt cx="3408045" cy="1244600"/>
          </a:xfrm>
        </p:grpSpPr>
        <p:sp>
          <p:nvSpPr>
            <p:cNvPr id="71" name="object 71"/>
            <p:cNvSpPr/>
            <p:nvPr/>
          </p:nvSpPr>
          <p:spPr>
            <a:xfrm>
              <a:off x="604483" y="2493463"/>
              <a:ext cx="1166495" cy="186690"/>
            </a:xfrm>
            <a:custGeom>
              <a:avLst/>
              <a:gdLst/>
              <a:ahLst/>
              <a:cxnLst/>
              <a:rect l="l" t="t" r="r" b="b"/>
              <a:pathLst>
                <a:path w="1166495" h="186689">
                  <a:moveTo>
                    <a:pt x="1166412" y="0"/>
                  </a:moveTo>
                  <a:lnTo>
                    <a:pt x="0" y="0"/>
                  </a:lnTo>
                  <a:lnTo>
                    <a:pt x="0" y="186540"/>
                  </a:lnTo>
                  <a:lnTo>
                    <a:pt x="1166412" y="186540"/>
                  </a:lnTo>
                  <a:lnTo>
                    <a:pt x="1166412" y="0"/>
                  </a:lnTo>
                  <a:close/>
                </a:path>
              </a:pathLst>
            </a:custGeom>
            <a:solidFill>
              <a:srgbClr val="808285"/>
            </a:solidFill>
          </p:spPr>
          <p:txBody>
            <a:bodyPr wrap="square" lIns="0" tIns="0" rIns="0" bIns="0" rtlCol="0"/>
            <a:lstStyle/>
            <a:p>
              <a:endParaRPr/>
            </a:p>
          </p:txBody>
        </p:sp>
        <p:sp>
          <p:nvSpPr>
            <p:cNvPr id="72" name="object 72"/>
            <p:cNvSpPr/>
            <p:nvPr/>
          </p:nvSpPr>
          <p:spPr>
            <a:xfrm>
              <a:off x="604483" y="2493463"/>
              <a:ext cx="1166495" cy="186690"/>
            </a:xfrm>
            <a:custGeom>
              <a:avLst/>
              <a:gdLst/>
              <a:ahLst/>
              <a:cxnLst/>
              <a:rect l="l" t="t" r="r" b="b"/>
              <a:pathLst>
                <a:path w="1166495" h="186689">
                  <a:moveTo>
                    <a:pt x="0" y="186540"/>
                  </a:moveTo>
                  <a:lnTo>
                    <a:pt x="1166412" y="186540"/>
                  </a:lnTo>
                  <a:lnTo>
                    <a:pt x="1166412" y="0"/>
                  </a:lnTo>
                  <a:lnTo>
                    <a:pt x="0" y="0"/>
                  </a:lnTo>
                  <a:lnTo>
                    <a:pt x="0" y="186540"/>
                  </a:lnTo>
                  <a:close/>
                </a:path>
              </a:pathLst>
            </a:custGeom>
            <a:ln w="10287">
              <a:solidFill>
                <a:srgbClr val="231F20"/>
              </a:solidFill>
            </a:ln>
          </p:spPr>
          <p:txBody>
            <a:bodyPr wrap="square" lIns="0" tIns="0" rIns="0" bIns="0" rtlCol="0"/>
            <a:lstStyle/>
            <a:p>
              <a:endParaRPr/>
            </a:p>
          </p:txBody>
        </p:sp>
        <p:sp>
          <p:nvSpPr>
            <p:cNvPr id="73" name="object 73"/>
            <p:cNvSpPr/>
            <p:nvPr/>
          </p:nvSpPr>
          <p:spPr>
            <a:xfrm>
              <a:off x="3680872" y="1604077"/>
              <a:ext cx="146050" cy="146050"/>
            </a:xfrm>
            <a:custGeom>
              <a:avLst/>
              <a:gdLst/>
              <a:ahLst/>
              <a:cxnLst/>
              <a:rect l="l" t="t" r="r" b="b"/>
              <a:pathLst>
                <a:path w="146050" h="146050">
                  <a:moveTo>
                    <a:pt x="72893" y="0"/>
                  </a:moveTo>
                  <a:lnTo>
                    <a:pt x="44563" y="5745"/>
                  </a:lnTo>
                  <a:lnTo>
                    <a:pt x="21387" y="21395"/>
                  </a:lnTo>
                  <a:lnTo>
                    <a:pt x="5742" y="44574"/>
                  </a:lnTo>
                  <a:lnTo>
                    <a:pt x="0" y="72903"/>
                  </a:lnTo>
                  <a:lnTo>
                    <a:pt x="5744" y="101233"/>
                  </a:lnTo>
                  <a:lnTo>
                    <a:pt x="21396" y="124412"/>
                  </a:lnTo>
                  <a:lnTo>
                    <a:pt x="44587" y="140062"/>
                  </a:lnTo>
                  <a:lnTo>
                    <a:pt x="72893" y="145807"/>
                  </a:lnTo>
                  <a:lnTo>
                    <a:pt x="101229" y="140058"/>
                  </a:lnTo>
                  <a:lnTo>
                    <a:pt x="124404" y="124408"/>
                  </a:lnTo>
                  <a:lnTo>
                    <a:pt x="140052" y="101232"/>
                  </a:lnTo>
                  <a:lnTo>
                    <a:pt x="145797" y="72903"/>
                  </a:lnTo>
                  <a:lnTo>
                    <a:pt x="140049" y="44570"/>
                  </a:lnTo>
                  <a:lnTo>
                    <a:pt x="124396" y="21391"/>
                  </a:lnTo>
                  <a:lnTo>
                    <a:pt x="101216" y="5743"/>
                  </a:lnTo>
                  <a:lnTo>
                    <a:pt x="72893" y="0"/>
                  </a:lnTo>
                  <a:close/>
                </a:path>
              </a:pathLst>
            </a:custGeom>
            <a:solidFill>
              <a:srgbClr val="FFFFFF"/>
            </a:solidFill>
          </p:spPr>
          <p:txBody>
            <a:bodyPr wrap="square" lIns="0" tIns="0" rIns="0" bIns="0" rtlCol="0"/>
            <a:lstStyle/>
            <a:p>
              <a:endParaRPr/>
            </a:p>
          </p:txBody>
        </p:sp>
        <p:sp>
          <p:nvSpPr>
            <p:cNvPr id="74" name="object 74"/>
            <p:cNvSpPr/>
            <p:nvPr/>
          </p:nvSpPr>
          <p:spPr>
            <a:xfrm>
              <a:off x="3680872" y="1604077"/>
              <a:ext cx="146050" cy="146050"/>
            </a:xfrm>
            <a:custGeom>
              <a:avLst/>
              <a:gdLst/>
              <a:ahLst/>
              <a:cxnLst/>
              <a:rect l="l" t="t" r="r" b="b"/>
              <a:pathLst>
                <a:path w="146050" h="146050">
                  <a:moveTo>
                    <a:pt x="72893" y="0"/>
                  </a:moveTo>
                  <a:lnTo>
                    <a:pt x="101223" y="5745"/>
                  </a:lnTo>
                  <a:lnTo>
                    <a:pt x="124401" y="21395"/>
                  </a:lnTo>
                  <a:lnTo>
                    <a:pt x="140052" y="44574"/>
                  </a:lnTo>
                  <a:lnTo>
                    <a:pt x="145797" y="72903"/>
                  </a:lnTo>
                  <a:lnTo>
                    <a:pt x="140052" y="101233"/>
                  </a:lnTo>
                  <a:lnTo>
                    <a:pt x="124401" y="124412"/>
                  </a:lnTo>
                  <a:lnTo>
                    <a:pt x="101223" y="140062"/>
                  </a:lnTo>
                  <a:lnTo>
                    <a:pt x="72893" y="145807"/>
                  </a:lnTo>
                  <a:lnTo>
                    <a:pt x="44565" y="140058"/>
                  </a:lnTo>
                  <a:lnTo>
                    <a:pt x="21390" y="124408"/>
                  </a:lnTo>
                  <a:lnTo>
                    <a:pt x="5743" y="101232"/>
                  </a:lnTo>
                  <a:lnTo>
                    <a:pt x="0" y="72903"/>
                  </a:lnTo>
                  <a:lnTo>
                    <a:pt x="5743" y="44570"/>
                  </a:lnTo>
                  <a:lnTo>
                    <a:pt x="21390" y="21391"/>
                  </a:lnTo>
                  <a:lnTo>
                    <a:pt x="44565" y="5743"/>
                  </a:lnTo>
                  <a:lnTo>
                    <a:pt x="72893" y="0"/>
                  </a:lnTo>
                  <a:close/>
                </a:path>
              </a:pathLst>
            </a:custGeom>
            <a:ln w="5140">
              <a:solidFill>
                <a:srgbClr val="231F20"/>
              </a:solidFill>
            </a:ln>
          </p:spPr>
          <p:txBody>
            <a:bodyPr wrap="square" lIns="0" tIns="0" rIns="0" bIns="0" rtlCol="0"/>
            <a:lstStyle/>
            <a:p>
              <a:endParaRPr/>
            </a:p>
          </p:txBody>
        </p:sp>
        <p:sp>
          <p:nvSpPr>
            <p:cNvPr id="75" name="object 75"/>
            <p:cNvSpPr/>
            <p:nvPr/>
          </p:nvSpPr>
          <p:spPr>
            <a:xfrm>
              <a:off x="3611486" y="2303921"/>
              <a:ext cx="146050" cy="146050"/>
            </a:xfrm>
            <a:custGeom>
              <a:avLst/>
              <a:gdLst/>
              <a:ahLst/>
              <a:cxnLst/>
              <a:rect l="l" t="t" r="r" b="b"/>
              <a:pathLst>
                <a:path w="146050" h="146050">
                  <a:moveTo>
                    <a:pt x="72893" y="0"/>
                  </a:moveTo>
                  <a:lnTo>
                    <a:pt x="44561" y="5743"/>
                  </a:lnTo>
                  <a:lnTo>
                    <a:pt x="21386" y="21392"/>
                  </a:lnTo>
                  <a:lnTo>
                    <a:pt x="5742" y="44569"/>
                  </a:lnTo>
                  <a:lnTo>
                    <a:pt x="0" y="72900"/>
                  </a:lnTo>
                  <a:lnTo>
                    <a:pt x="5742" y="101229"/>
                  </a:lnTo>
                  <a:lnTo>
                    <a:pt x="21388" y="124406"/>
                  </a:lnTo>
                  <a:lnTo>
                    <a:pt x="44569" y="140054"/>
                  </a:lnTo>
                  <a:lnTo>
                    <a:pt x="72893" y="145798"/>
                  </a:lnTo>
                  <a:lnTo>
                    <a:pt x="101225" y="140052"/>
                  </a:lnTo>
                  <a:lnTo>
                    <a:pt x="124403" y="124404"/>
                  </a:lnTo>
                  <a:lnTo>
                    <a:pt x="140052" y="101229"/>
                  </a:lnTo>
                  <a:lnTo>
                    <a:pt x="145797" y="72900"/>
                  </a:lnTo>
                  <a:lnTo>
                    <a:pt x="140052" y="44569"/>
                  </a:lnTo>
                  <a:lnTo>
                    <a:pt x="124401" y="21392"/>
                  </a:lnTo>
                  <a:lnTo>
                    <a:pt x="101223" y="5743"/>
                  </a:lnTo>
                  <a:lnTo>
                    <a:pt x="72893" y="0"/>
                  </a:lnTo>
                  <a:close/>
                </a:path>
              </a:pathLst>
            </a:custGeom>
            <a:solidFill>
              <a:srgbClr val="FFFFFF"/>
            </a:solidFill>
          </p:spPr>
          <p:txBody>
            <a:bodyPr wrap="square" lIns="0" tIns="0" rIns="0" bIns="0" rtlCol="0"/>
            <a:lstStyle/>
            <a:p>
              <a:endParaRPr/>
            </a:p>
          </p:txBody>
        </p:sp>
        <p:sp>
          <p:nvSpPr>
            <p:cNvPr id="76" name="object 76"/>
            <p:cNvSpPr/>
            <p:nvPr/>
          </p:nvSpPr>
          <p:spPr>
            <a:xfrm>
              <a:off x="3421732" y="2099800"/>
              <a:ext cx="335915" cy="350520"/>
            </a:xfrm>
            <a:custGeom>
              <a:avLst/>
              <a:gdLst/>
              <a:ahLst/>
              <a:cxnLst/>
              <a:rect l="l" t="t" r="r" b="b"/>
              <a:pathLst>
                <a:path w="335914" h="350519">
                  <a:moveTo>
                    <a:pt x="262647" y="204120"/>
                  </a:moveTo>
                  <a:lnTo>
                    <a:pt x="290977" y="209864"/>
                  </a:lnTo>
                  <a:lnTo>
                    <a:pt x="314155" y="225513"/>
                  </a:lnTo>
                  <a:lnTo>
                    <a:pt x="329806" y="248690"/>
                  </a:lnTo>
                  <a:lnTo>
                    <a:pt x="335551" y="277021"/>
                  </a:lnTo>
                  <a:lnTo>
                    <a:pt x="329806" y="305350"/>
                  </a:lnTo>
                  <a:lnTo>
                    <a:pt x="314155" y="328527"/>
                  </a:lnTo>
                  <a:lnTo>
                    <a:pt x="290977" y="344175"/>
                  </a:lnTo>
                  <a:lnTo>
                    <a:pt x="262647" y="349919"/>
                  </a:lnTo>
                  <a:lnTo>
                    <a:pt x="234315" y="344173"/>
                  </a:lnTo>
                  <a:lnTo>
                    <a:pt x="211140" y="328525"/>
                  </a:lnTo>
                  <a:lnTo>
                    <a:pt x="195496" y="305350"/>
                  </a:lnTo>
                  <a:lnTo>
                    <a:pt x="189754" y="277021"/>
                  </a:lnTo>
                  <a:lnTo>
                    <a:pt x="195496" y="248690"/>
                  </a:lnTo>
                  <a:lnTo>
                    <a:pt x="211140" y="225513"/>
                  </a:lnTo>
                  <a:lnTo>
                    <a:pt x="234315" y="209864"/>
                  </a:lnTo>
                  <a:lnTo>
                    <a:pt x="262647" y="204120"/>
                  </a:lnTo>
                  <a:close/>
                </a:path>
                <a:path w="335914" h="350519">
                  <a:moveTo>
                    <a:pt x="73109" y="0"/>
                  </a:moveTo>
                  <a:lnTo>
                    <a:pt x="0" y="170591"/>
                  </a:lnTo>
                </a:path>
              </a:pathLst>
            </a:custGeom>
            <a:ln w="5140">
              <a:solidFill>
                <a:srgbClr val="231F20"/>
              </a:solidFill>
            </a:ln>
          </p:spPr>
          <p:txBody>
            <a:bodyPr wrap="square" lIns="0" tIns="0" rIns="0" bIns="0" rtlCol="0"/>
            <a:lstStyle/>
            <a:p>
              <a:endParaRPr/>
            </a:p>
          </p:txBody>
        </p:sp>
        <p:sp>
          <p:nvSpPr>
            <p:cNvPr id="77" name="object 77"/>
            <p:cNvSpPr/>
            <p:nvPr/>
          </p:nvSpPr>
          <p:spPr>
            <a:xfrm>
              <a:off x="3407361" y="2224952"/>
              <a:ext cx="57785" cy="79375"/>
            </a:xfrm>
            <a:custGeom>
              <a:avLst/>
              <a:gdLst/>
              <a:ahLst/>
              <a:cxnLst/>
              <a:rect l="l" t="t" r="r" b="b"/>
              <a:pathLst>
                <a:path w="57785" h="79375">
                  <a:moveTo>
                    <a:pt x="0" y="0"/>
                  </a:moveTo>
                  <a:lnTo>
                    <a:pt x="0" y="78969"/>
                  </a:lnTo>
                  <a:lnTo>
                    <a:pt x="57185" y="24504"/>
                  </a:lnTo>
                  <a:lnTo>
                    <a:pt x="40591" y="23737"/>
                  </a:lnTo>
                  <a:lnTo>
                    <a:pt x="25529" y="19398"/>
                  </a:lnTo>
                  <a:lnTo>
                    <a:pt x="11999" y="11486"/>
                  </a:lnTo>
                  <a:lnTo>
                    <a:pt x="0" y="0"/>
                  </a:lnTo>
                  <a:close/>
                </a:path>
              </a:pathLst>
            </a:custGeom>
            <a:solidFill>
              <a:srgbClr val="231F20"/>
            </a:solidFill>
          </p:spPr>
          <p:txBody>
            <a:bodyPr wrap="square" lIns="0" tIns="0" rIns="0" bIns="0" rtlCol="0"/>
            <a:lstStyle/>
            <a:p>
              <a:endParaRPr/>
            </a:p>
          </p:txBody>
        </p:sp>
        <p:sp>
          <p:nvSpPr>
            <p:cNvPr id="78" name="object 78"/>
            <p:cNvSpPr/>
            <p:nvPr/>
          </p:nvSpPr>
          <p:spPr>
            <a:xfrm>
              <a:off x="3553158" y="2099800"/>
              <a:ext cx="86360" cy="172085"/>
            </a:xfrm>
            <a:custGeom>
              <a:avLst/>
              <a:gdLst/>
              <a:ahLst/>
              <a:cxnLst/>
              <a:rect l="l" t="t" r="r" b="b"/>
              <a:pathLst>
                <a:path w="86360" h="172085">
                  <a:moveTo>
                    <a:pt x="0" y="0"/>
                  </a:moveTo>
                  <a:lnTo>
                    <a:pt x="85752" y="171491"/>
                  </a:lnTo>
                </a:path>
              </a:pathLst>
            </a:custGeom>
            <a:ln w="5140">
              <a:solidFill>
                <a:srgbClr val="231F20"/>
              </a:solidFill>
            </a:ln>
          </p:spPr>
          <p:txBody>
            <a:bodyPr wrap="square" lIns="0" tIns="0" rIns="0" bIns="0" rtlCol="0"/>
            <a:lstStyle/>
            <a:p>
              <a:endParaRPr/>
            </a:p>
          </p:txBody>
        </p:sp>
        <p:sp>
          <p:nvSpPr>
            <p:cNvPr id="79" name="object 79"/>
            <p:cNvSpPr/>
            <p:nvPr/>
          </p:nvSpPr>
          <p:spPr>
            <a:xfrm>
              <a:off x="3594934" y="2225089"/>
              <a:ext cx="60325" cy="79375"/>
            </a:xfrm>
            <a:custGeom>
              <a:avLst/>
              <a:gdLst/>
              <a:ahLst/>
              <a:cxnLst/>
              <a:rect l="l" t="t" r="r" b="b"/>
              <a:pathLst>
                <a:path w="60325" h="79375">
                  <a:moveTo>
                    <a:pt x="55652" y="0"/>
                  </a:moveTo>
                  <a:lnTo>
                    <a:pt x="44345" y="12171"/>
                  </a:lnTo>
                  <a:lnTo>
                    <a:pt x="31302" y="20865"/>
                  </a:lnTo>
                  <a:lnTo>
                    <a:pt x="16520" y="26080"/>
                  </a:lnTo>
                  <a:lnTo>
                    <a:pt x="0" y="27819"/>
                  </a:lnTo>
                  <a:lnTo>
                    <a:pt x="60292" y="78832"/>
                  </a:lnTo>
                  <a:lnTo>
                    <a:pt x="55652" y="0"/>
                  </a:lnTo>
                  <a:close/>
                </a:path>
              </a:pathLst>
            </a:custGeom>
            <a:solidFill>
              <a:srgbClr val="231F20"/>
            </a:solidFill>
          </p:spPr>
          <p:txBody>
            <a:bodyPr wrap="square" lIns="0" tIns="0" rIns="0" bIns="0" rtlCol="0"/>
            <a:lstStyle/>
            <a:p>
              <a:endParaRPr/>
            </a:p>
          </p:txBody>
        </p:sp>
        <p:sp>
          <p:nvSpPr>
            <p:cNvPr id="80" name="object 80"/>
            <p:cNvSpPr/>
            <p:nvPr/>
          </p:nvSpPr>
          <p:spPr>
            <a:xfrm>
              <a:off x="3447593" y="1953995"/>
              <a:ext cx="146050" cy="146050"/>
            </a:xfrm>
            <a:custGeom>
              <a:avLst/>
              <a:gdLst/>
              <a:ahLst/>
              <a:cxnLst/>
              <a:rect l="l" t="t" r="r" b="b"/>
              <a:pathLst>
                <a:path w="146050" h="146050">
                  <a:moveTo>
                    <a:pt x="145801" y="0"/>
                  </a:moveTo>
                  <a:lnTo>
                    <a:pt x="0" y="0"/>
                  </a:lnTo>
                  <a:lnTo>
                    <a:pt x="0" y="145805"/>
                  </a:lnTo>
                  <a:lnTo>
                    <a:pt x="145801" y="145805"/>
                  </a:lnTo>
                  <a:lnTo>
                    <a:pt x="145801" y="0"/>
                  </a:lnTo>
                  <a:close/>
                </a:path>
              </a:pathLst>
            </a:custGeom>
            <a:solidFill>
              <a:srgbClr val="FFFFFF"/>
            </a:solidFill>
          </p:spPr>
          <p:txBody>
            <a:bodyPr wrap="square" lIns="0" tIns="0" rIns="0" bIns="0" rtlCol="0"/>
            <a:lstStyle/>
            <a:p>
              <a:endParaRPr/>
            </a:p>
          </p:txBody>
        </p:sp>
        <p:sp>
          <p:nvSpPr>
            <p:cNvPr id="81" name="object 81"/>
            <p:cNvSpPr/>
            <p:nvPr/>
          </p:nvSpPr>
          <p:spPr>
            <a:xfrm>
              <a:off x="3447593" y="1953995"/>
              <a:ext cx="146050" cy="146050"/>
            </a:xfrm>
            <a:custGeom>
              <a:avLst/>
              <a:gdLst/>
              <a:ahLst/>
              <a:cxnLst/>
              <a:rect l="l" t="t" r="r" b="b"/>
              <a:pathLst>
                <a:path w="146050" h="146050">
                  <a:moveTo>
                    <a:pt x="0" y="145805"/>
                  </a:moveTo>
                  <a:lnTo>
                    <a:pt x="145801" y="145805"/>
                  </a:lnTo>
                  <a:lnTo>
                    <a:pt x="145801" y="0"/>
                  </a:lnTo>
                  <a:lnTo>
                    <a:pt x="0" y="0"/>
                  </a:lnTo>
                  <a:lnTo>
                    <a:pt x="0" y="145805"/>
                  </a:lnTo>
                  <a:close/>
                </a:path>
              </a:pathLst>
            </a:custGeom>
            <a:ln w="5140">
              <a:solidFill>
                <a:srgbClr val="231F20"/>
              </a:solidFill>
            </a:ln>
          </p:spPr>
          <p:txBody>
            <a:bodyPr wrap="square" lIns="0" tIns="0" rIns="0" bIns="0" rtlCol="0"/>
            <a:lstStyle/>
            <a:p>
              <a:endParaRPr/>
            </a:p>
          </p:txBody>
        </p:sp>
        <p:sp>
          <p:nvSpPr>
            <p:cNvPr id="82" name="object 82"/>
            <p:cNvSpPr/>
            <p:nvPr/>
          </p:nvSpPr>
          <p:spPr>
            <a:xfrm>
              <a:off x="2835219" y="2493463"/>
              <a:ext cx="1166495" cy="186690"/>
            </a:xfrm>
            <a:custGeom>
              <a:avLst/>
              <a:gdLst/>
              <a:ahLst/>
              <a:cxnLst/>
              <a:rect l="l" t="t" r="r" b="b"/>
              <a:pathLst>
                <a:path w="1166495" h="186689">
                  <a:moveTo>
                    <a:pt x="1166412" y="0"/>
                  </a:moveTo>
                  <a:lnTo>
                    <a:pt x="0" y="0"/>
                  </a:lnTo>
                  <a:lnTo>
                    <a:pt x="0" y="186540"/>
                  </a:lnTo>
                  <a:lnTo>
                    <a:pt x="1166412" y="186540"/>
                  </a:lnTo>
                  <a:lnTo>
                    <a:pt x="1166412" y="0"/>
                  </a:lnTo>
                  <a:close/>
                </a:path>
              </a:pathLst>
            </a:custGeom>
            <a:solidFill>
              <a:srgbClr val="808285"/>
            </a:solidFill>
          </p:spPr>
          <p:txBody>
            <a:bodyPr wrap="square" lIns="0" tIns="0" rIns="0" bIns="0" rtlCol="0"/>
            <a:lstStyle/>
            <a:p>
              <a:endParaRPr/>
            </a:p>
          </p:txBody>
        </p:sp>
        <p:sp>
          <p:nvSpPr>
            <p:cNvPr id="83" name="object 83"/>
            <p:cNvSpPr/>
            <p:nvPr/>
          </p:nvSpPr>
          <p:spPr>
            <a:xfrm>
              <a:off x="2835219" y="2493463"/>
              <a:ext cx="1166495" cy="186690"/>
            </a:xfrm>
            <a:custGeom>
              <a:avLst/>
              <a:gdLst/>
              <a:ahLst/>
              <a:cxnLst/>
              <a:rect l="l" t="t" r="r" b="b"/>
              <a:pathLst>
                <a:path w="1166495" h="186689">
                  <a:moveTo>
                    <a:pt x="0" y="186540"/>
                  </a:moveTo>
                  <a:lnTo>
                    <a:pt x="1166412" y="186540"/>
                  </a:lnTo>
                  <a:lnTo>
                    <a:pt x="1166412" y="0"/>
                  </a:lnTo>
                  <a:lnTo>
                    <a:pt x="0" y="0"/>
                  </a:lnTo>
                  <a:lnTo>
                    <a:pt x="0" y="186540"/>
                  </a:lnTo>
                  <a:close/>
                </a:path>
              </a:pathLst>
            </a:custGeom>
            <a:ln w="10287">
              <a:solidFill>
                <a:srgbClr val="231F20"/>
              </a:solidFill>
            </a:ln>
          </p:spPr>
          <p:txBody>
            <a:bodyPr wrap="square" lIns="0" tIns="0" rIns="0" bIns="0" rtlCol="0"/>
            <a:lstStyle/>
            <a:p>
              <a:endParaRPr/>
            </a:p>
          </p:txBody>
        </p:sp>
        <p:sp>
          <p:nvSpPr>
            <p:cNvPr id="84" name="object 84"/>
            <p:cNvSpPr/>
            <p:nvPr/>
          </p:nvSpPr>
          <p:spPr>
            <a:xfrm>
              <a:off x="1304325" y="2041470"/>
              <a:ext cx="2537460" cy="802005"/>
            </a:xfrm>
            <a:custGeom>
              <a:avLst/>
              <a:gdLst/>
              <a:ahLst/>
              <a:cxnLst/>
              <a:rect l="l" t="t" r="r" b="b"/>
              <a:pathLst>
                <a:path w="2537460" h="802005">
                  <a:moveTo>
                    <a:pt x="0" y="58330"/>
                  </a:moveTo>
                  <a:lnTo>
                    <a:pt x="0" y="626944"/>
                  </a:lnTo>
                  <a:lnTo>
                    <a:pt x="3712" y="680406"/>
                  </a:lnTo>
                  <a:lnTo>
                    <a:pt x="15120" y="724148"/>
                  </a:lnTo>
                  <a:lnTo>
                    <a:pt x="34627" y="758170"/>
                  </a:lnTo>
                  <a:lnTo>
                    <a:pt x="99561" y="797051"/>
                  </a:lnTo>
                  <a:lnTo>
                    <a:pt x="145798" y="801911"/>
                  </a:lnTo>
                  <a:lnTo>
                    <a:pt x="2332806" y="801907"/>
                  </a:lnTo>
                  <a:lnTo>
                    <a:pt x="2380837" y="797572"/>
                  </a:lnTo>
                  <a:lnTo>
                    <a:pt x="2424278" y="785075"/>
                  </a:lnTo>
                  <a:lnTo>
                    <a:pt x="2462109" y="765182"/>
                  </a:lnTo>
                  <a:lnTo>
                    <a:pt x="2493309" y="738657"/>
                  </a:lnTo>
                  <a:lnTo>
                    <a:pt x="2516857" y="706266"/>
                  </a:lnTo>
                  <a:lnTo>
                    <a:pt x="2531735" y="668773"/>
                  </a:lnTo>
                  <a:lnTo>
                    <a:pt x="2536921" y="626944"/>
                  </a:lnTo>
                  <a:lnTo>
                    <a:pt x="2536921" y="116653"/>
                  </a:lnTo>
                  <a:lnTo>
                    <a:pt x="2533276" y="67670"/>
                  </a:lnTo>
                  <a:lnTo>
                    <a:pt x="2518697" y="30992"/>
                  </a:lnTo>
                  <a:lnTo>
                    <a:pt x="2487716" y="7983"/>
                  </a:lnTo>
                  <a:lnTo>
                    <a:pt x="2434863" y="10"/>
                  </a:lnTo>
                  <a:lnTo>
                    <a:pt x="2325544" y="0"/>
                  </a:lnTo>
                </a:path>
              </a:pathLst>
            </a:custGeom>
            <a:ln w="5140">
              <a:solidFill>
                <a:srgbClr val="231F20"/>
              </a:solidFill>
              <a:prstDash val="lgDash"/>
            </a:ln>
          </p:spPr>
          <p:txBody>
            <a:bodyPr wrap="square" lIns="0" tIns="0" rIns="0" bIns="0" rtlCol="0"/>
            <a:lstStyle/>
            <a:p>
              <a:endParaRPr/>
            </a:p>
          </p:txBody>
        </p:sp>
      </p:grpSp>
      <p:sp>
        <p:nvSpPr>
          <p:cNvPr id="85" name="object 85"/>
          <p:cNvSpPr txBox="1"/>
          <p:nvPr/>
        </p:nvSpPr>
        <p:spPr>
          <a:xfrm>
            <a:off x="66713" y="3331252"/>
            <a:ext cx="7473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8" action="ppaction://hlinksldjump"/>
              </a:rPr>
              <a:t>Linking</a:t>
            </a:r>
            <a:r>
              <a:rPr sz="600" spc="-2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and</a:t>
            </a:r>
            <a:r>
              <a:rPr sz="600" spc="-15"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mounting</a:t>
            </a:r>
            <a:endParaRPr sz="600">
              <a:latin typeface="Arial"/>
              <a:cs typeface="Arial"/>
            </a:endParaRPr>
          </a:p>
        </p:txBody>
      </p:sp>
      <p:sp>
        <p:nvSpPr>
          <p:cNvPr id="86" name="object 8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29</a:t>
            </a:r>
            <a:r>
              <a:rPr spc="-40" dirty="0"/>
              <a:t> </a:t>
            </a:r>
            <a:r>
              <a:rPr spc="-5" dirty="0"/>
              <a:t>/</a:t>
            </a:r>
            <a:r>
              <a:rPr spc="-35" dirty="0"/>
              <a:t> </a:t>
            </a:r>
            <a:r>
              <a:rPr spc="-5" dirty="0"/>
              <a:t>46</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Name</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space</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distribution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The implementation of</a:t>
            </a:r>
            <a:r>
              <a:rPr sz="60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a name</a:t>
            </a:r>
            <a:r>
              <a:rPr sz="60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30" dirty="0"/>
              <a:t> </a:t>
            </a:r>
            <a:r>
              <a:rPr spc="15" dirty="0"/>
              <a:t>implementation</a:t>
            </a:r>
          </a:p>
        </p:txBody>
      </p:sp>
      <p:sp>
        <p:nvSpPr>
          <p:cNvPr id="4" name="object 4"/>
          <p:cNvSpPr txBox="1"/>
          <p:nvPr/>
        </p:nvSpPr>
        <p:spPr>
          <a:xfrm>
            <a:off x="347294" y="594281"/>
            <a:ext cx="3795395" cy="6572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issue</a:t>
            </a:r>
            <a:endParaRPr sz="1200">
              <a:latin typeface="Arial"/>
              <a:cs typeface="Arial"/>
            </a:endParaRPr>
          </a:p>
          <a:p>
            <a:pPr marL="12700" marR="5080">
              <a:lnSpc>
                <a:spcPts val="1200"/>
              </a:lnSpc>
              <a:spcBef>
                <a:spcPts val="10"/>
              </a:spcBef>
            </a:pPr>
            <a:r>
              <a:rPr sz="1000" spc="-5" dirty="0">
                <a:latin typeface="Arial"/>
                <a:cs typeface="Arial"/>
              </a:rPr>
              <a:t>Distribute the name</a:t>
            </a:r>
            <a:r>
              <a:rPr sz="1000" dirty="0">
                <a:latin typeface="Arial"/>
                <a:cs typeface="Arial"/>
              </a:rPr>
              <a:t> </a:t>
            </a:r>
            <a:r>
              <a:rPr sz="1000" spc="-5" dirty="0">
                <a:latin typeface="Arial"/>
                <a:cs typeface="Arial"/>
              </a:rPr>
              <a:t>resolution process</a:t>
            </a:r>
            <a:r>
              <a:rPr sz="1000" dirty="0">
                <a:latin typeface="Arial"/>
                <a:cs typeface="Arial"/>
              </a:rPr>
              <a:t> </a:t>
            </a:r>
            <a:r>
              <a:rPr sz="1000" spc="-5" dirty="0">
                <a:latin typeface="Arial"/>
                <a:cs typeface="Arial"/>
              </a:rPr>
              <a:t>as well as</a:t>
            </a:r>
            <a:r>
              <a:rPr sz="1000" dirty="0">
                <a:latin typeface="Arial"/>
                <a:cs typeface="Arial"/>
              </a:rPr>
              <a:t> </a:t>
            </a:r>
            <a:r>
              <a:rPr sz="1000" spc="-5" dirty="0">
                <a:latin typeface="Arial"/>
                <a:cs typeface="Arial"/>
              </a:rPr>
              <a:t>name space </a:t>
            </a:r>
            <a:r>
              <a:rPr sz="1000" dirty="0">
                <a:latin typeface="Arial"/>
                <a:cs typeface="Arial"/>
              </a:rPr>
              <a:t> </a:t>
            </a:r>
            <a:r>
              <a:rPr sz="1000" spc="-5" dirty="0">
                <a:latin typeface="Arial"/>
                <a:cs typeface="Arial"/>
              </a:rPr>
              <a:t>management</a:t>
            </a:r>
            <a:r>
              <a:rPr sz="1000" dirty="0">
                <a:latin typeface="Arial"/>
                <a:cs typeface="Arial"/>
              </a:rPr>
              <a:t> </a:t>
            </a:r>
            <a:r>
              <a:rPr sz="1000" spc="-5" dirty="0">
                <a:latin typeface="Arial"/>
                <a:cs typeface="Arial"/>
              </a:rPr>
              <a:t>across</a:t>
            </a:r>
            <a:r>
              <a:rPr sz="100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machines,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distributing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naming</a:t>
            </a:r>
            <a:r>
              <a:rPr sz="1000" spc="-10" dirty="0">
                <a:latin typeface="Arial"/>
                <a:cs typeface="Arial"/>
              </a:rPr>
              <a:t> graph.</a:t>
            </a:r>
            <a:endParaRPr sz="10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Name</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space</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distribution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The implementation of</a:t>
            </a:r>
            <a:r>
              <a:rPr sz="60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25" dirty="0"/>
              <a:t> </a:t>
            </a:r>
            <a:r>
              <a:rPr spc="15" dirty="0"/>
              <a:t>implementation</a:t>
            </a:r>
          </a:p>
        </p:txBody>
      </p:sp>
      <p:sp>
        <p:nvSpPr>
          <p:cNvPr id="4" name="object 4"/>
          <p:cNvSpPr txBox="1"/>
          <p:nvPr/>
        </p:nvSpPr>
        <p:spPr>
          <a:xfrm>
            <a:off x="347294" y="594281"/>
            <a:ext cx="3795395" cy="92773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issue</a:t>
            </a:r>
            <a:endParaRPr sz="1200">
              <a:latin typeface="Arial"/>
              <a:cs typeface="Arial"/>
            </a:endParaRPr>
          </a:p>
          <a:p>
            <a:pPr marL="12700" marR="5080">
              <a:lnSpc>
                <a:spcPts val="1200"/>
              </a:lnSpc>
              <a:spcBef>
                <a:spcPts val="10"/>
              </a:spcBef>
            </a:pPr>
            <a:r>
              <a:rPr sz="1000" spc="-5" dirty="0">
                <a:latin typeface="Arial"/>
                <a:cs typeface="Arial"/>
              </a:rPr>
              <a:t>Distribute the name</a:t>
            </a:r>
            <a:r>
              <a:rPr sz="1000" dirty="0">
                <a:latin typeface="Arial"/>
                <a:cs typeface="Arial"/>
              </a:rPr>
              <a:t> </a:t>
            </a:r>
            <a:r>
              <a:rPr sz="1000" spc="-5" dirty="0">
                <a:latin typeface="Arial"/>
                <a:cs typeface="Arial"/>
              </a:rPr>
              <a:t>resolution process</a:t>
            </a:r>
            <a:r>
              <a:rPr sz="1000" dirty="0">
                <a:latin typeface="Arial"/>
                <a:cs typeface="Arial"/>
              </a:rPr>
              <a:t> </a:t>
            </a:r>
            <a:r>
              <a:rPr sz="1000" spc="-5" dirty="0">
                <a:latin typeface="Arial"/>
                <a:cs typeface="Arial"/>
              </a:rPr>
              <a:t>as well as</a:t>
            </a:r>
            <a:r>
              <a:rPr sz="1000" dirty="0">
                <a:latin typeface="Arial"/>
                <a:cs typeface="Arial"/>
              </a:rPr>
              <a:t> </a:t>
            </a:r>
            <a:r>
              <a:rPr sz="1000" spc="-5" dirty="0">
                <a:latin typeface="Arial"/>
                <a:cs typeface="Arial"/>
              </a:rPr>
              <a:t>name space </a:t>
            </a:r>
            <a:r>
              <a:rPr sz="1000" dirty="0">
                <a:latin typeface="Arial"/>
                <a:cs typeface="Arial"/>
              </a:rPr>
              <a:t> </a:t>
            </a:r>
            <a:r>
              <a:rPr sz="1000" spc="-5" dirty="0">
                <a:latin typeface="Arial"/>
                <a:cs typeface="Arial"/>
              </a:rPr>
              <a:t>management</a:t>
            </a:r>
            <a:r>
              <a:rPr sz="1000" dirty="0">
                <a:latin typeface="Arial"/>
                <a:cs typeface="Arial"/>
              </a:rPr>
              <a:t> </a:t>
            </a:r>
            <a:r>
              <a:rPr sz="1000" spc="-5" dirty="0">
                <a:latin typeface="Arial"/>
                <a:cs typeface="Arial"/>
              </a:rPr>
              <a:t>across</a:t>
            </a:r>
            <a:r>
              <a:rPr sz="100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machines,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distributing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naming</a:t>
            </a:r>
            <a:r>
              <a:rPr sz="1000" spc="-10" dirty="0">
                <a:latin typeface="Arial"/>
                <a:cs typeface="Arial"/>
              </a:rPr>
              <a:t> graph.</a:t>
            </a:r>
            <a:endParaRPr sz="1000">
              <a:latin typeface="Arial"/>
              <a:cs typeface="Arial"/>
            </a:endParaRPr>
          </a:p>
          <a:p>
            <a:pPr marL="12700">
              <a:lnSpc>
                <a:spcPct val="100000"/>
              </a:lnSpc>
              <a:spcBef>
                <a:spcPts val="645"/>
              </a:spcBef>
            </a:pPr>
            <a:r>
              <a:rPr sz="1200" spc="-5" dirty="0">
                <a:solidFill>
                  <a:srgbClr val="3333B2"/>
                </a:solidFill>
                <a:latin typeface="Arial"/>
                <a:cs typeface="Arial"/>
              </a:rPr>
              <a:t>Distinguish</a:t>
            </a:r>
            <a:r>
              <a:rPr sz="1200" spc="-20" dirty="0">
                <a:solidFill>
                  <a:srgbClr val="3333B2"/>
                </a:solidFill>
                <a:latin typeface="Arial"/>
                <a:cs typeface="Arial"/>
              </a:rPr>
              <a:t> </a:t>
            </a:r>
            <a:r>
              <a:rPr sz="1200" spc="-5" dirty="0">
                <a:solidFill>
                  <a:srgbClr val="3333B2"/>
                </a:solidFill>
                <a:latin typeface="Arial"/>
                <a:cs typeface="Arial"/>
              </a:rPr>
              <a:t>three</a:t>
            </a:r>
            <a:r>
              <a:rPr sz="1200" spc="-20" dirty="0">
                <a:solidFill>
                  <a:srgbClr val="3333B2"/>
                </a:solidFill>
                <a:latin typeface="Arial"/>
                <a:cs typeface="Arial"/>
              </a:rPr>
              <a:t> </a:t>
            </a:r>
            <a:r>
              <a:rPr sz="1200" spc="-15" dirty="0">
                <a:solidFill>
                  <a:srgbClr val="3333B2"/>
                </a:solidFill>
                <a:latin typeface="Arial"/>
                <a:cs typeface="Arial"/>
              </a:rPr>
              <a:t>levels</a:t>
            </a:r>
            <a:endParaRPr sz="12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Name</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space</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distribution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The implementation of</a:t>
            </a:r>
            <a:r>
              <a:rPr sz="60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25" dirty="0"/>
              <a:t> </a:t>
            </a:r>
            <a:r>
              <a:rPr spc="15" dirty="0"/>
              <a:t>implementation</a:t>
            </a:r>
          </a:p>
        </p:txBody>
      </p:sp>
      <p:sp>
        <p:nvSpPr>
          <p:cNvPr id="4" name="object 4"/>
          <p:cNvSpPr txBox="1"/>
          <p:nvPr/>
        </p:nvSpPr>
        <p:spPr>
          <a:xfrm>
            <a:off x="334594" y="594281"/>
            <a:ext cx="3863975" cy="1483995"/>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issue</a:t>
            </a:r>
            <a:endParaRPr sz="1200">
              <a:latin typeface="Arial"/>
              <a:cs typeface="Arial"/>
            </a:endParaRPr>
          </a:p>
          <a:p>
            <a:pPr marL="25400" marR="60325">
              <a:lnSpc>
                <a:spcPts val="1200"/>
              </a:lnSpc>
              <a:spcBef>
                <a:spcPts val="10"/>
              </a:spcBef>
            </a:pPr>
            <a:r>
              <a:rPr sz="1000" spc="-5" dirty="0">
                <a:latin typeface="Arial"/>
                <a:cs typeface="Arial"/>
              </a:rPr>
              <a:t>Distribute the name</a:t>
            </a:r>
            <a:r>
              <a:rPr sz="1000" dirty="0">
                <a:latin typeface="Arial"/>
                <a:cs typeface="Arial"/>
              </a:rPr>
              <a:t> </a:t>
            </a:r>
            <a:r>
              <a:rPr sz="1000" spc="-5" dirty="0">
                <a:latin typeface="Arial"/>
                <a:cs typeface="Arial"/>
              </a:rPr>
              <a:t>resolution process</a:t>
            </a:r>
            <a:r>
              <a:rPr sz="1000" dirty="0">
                <a:latin typeface="Arial"/>
                <a:cs typeface="Arial"/>
              </a:rPr>
              <a:t> </a:t>
            </a:r>
            <a:r>
              <a:rPr sz="1000" spc="-5" dirty="0">
                <a:latin typeface="Arial"/>
                <a:cs typeface="Arial"/>
              </a:rPr>
              <a:t>as well as</a:t>
            </a:r>
            <a:r>
              <a:rPr sz="1000" dirty="0">
                <a:latin typeface="Arial"/>
                <a:cs typeface="Arial"/>
              </a:rPr>
              <a:t> </a:t>
            </a:r>
            <a:r>
              <a:rPr sz="1000" spc="-5" dirty="0">
                <a:latin typeface="Arial"/>
                <a:cs typeface="Arial"/>
              </a:rPr>
              <a:t>name space </a:t>
            </a:r>
            <a:r>
              <a:rPr sz="1000" dirty="0">
                <a:latin typeface="Arial"/>
                <a:cs typeface="Arial"/>
              </a:rPr>
              <a:t> </a:t>
            </a:r>
            <a:r>
              <a:rPr sz="1000" spc="-5" dirty="0">
                <a:latin typeface="Arial"/>
                <a:cs typeface="Arial"/>
              </a:rPr>
              <a:t>management</a:t>
            </a:r>
            <a:r>
              <a:rPr sz="1000" dirty="0">
                <a:latin typeface="Arial"/>
                <a:cs typeface="Arial"/>
              </a:rPr>
              <a:t> </a:t>
            </a:r>
            <a:r>
              <a:rPr sz="1000" spc="-5" dirty="0">
                <a:latin typeface="Arial"/>
                <a:cs typeface="Arial"/>
              </a:rPr>
              <a:t>across</a:t>
            </a:r>
            <a:r>
              <a:rPr sz="100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machines,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distributing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naming</a:t>
            </a:r>
            <a:r>
              <a:rPr sz="1000" spc="-10" dirty="0">
                <a:latin typeface="Arial"/>
                <a:cs typeface="Arial"/>
              </a:rPr>
              <a:t> graph.</a:t>
            </a:r>
            <a:endParaRPr sz="1000">
              <a:latin typeface="Arial"/>
              <a:cs typeface="Arial"/>
            </a:endParaRPr>
          </a:p>
          <a:p>
            <a:pPr marL="25400">
              <a:lnSpc>
                <a:spcPct val="100000"/>
              </a:lnSpc>
              <a:spcBef>
                <a:spcPts val="645"/>
              </a:spcBef>
            </a:pPr>
            <a:r>
              <a:rPr sz="1200" spc="-5" dirty="0">
                <a:solidFill>
                  <a:srgbClr val="3333B2"/>
                </a:solidFill>
                <a:latin typeface="Arial"/>
                <a:cs typeface="Arial"/>
              </a:rPr>
              <a:t>Distinguish</a:t>
            </a:r>
            <a:r>
              <a:rPr sz="1200" spc="-20" dirty="0">
                <a:solidFill>
                  <a:srgbClr val="3333B2"/>
                </a:solidFill>
                <a:latin typeface="Arial"/>
                <a:cs typeface="Arial"/>
              </a:rPr>
              <a:t> </a:t>
            </a:r>
            <a:r>
              <a:rPr sz="1200" spc="-5" dirty="0">
                <a:solidFill>
                  <a:srgbClr val="3333B2"/>
                </a:solidFill>
                <a:latin typeface="Arial"/>
                <a:cs typeface="Arial"/>
              </a:rPr>
              <a:t>three</a:t>
            </a:r>
            <a:r>
              <a:rPr sz="1200" spc="-20" dirty="0">
                <a:solidFill>
                  <a:srgbClr val="3333B2"/>
                </a:solidFill>
                <a:latin typeface="Arial"/>
                <a:cs typeface="Arial"/>
              </a:rPr>
              <a:t> </a:t>
            </a:r>
            <a:r>
              <a:rPr sz="1200" spc="-15" dirty="0">
                <a:solidFill>
                  <a:srgbClr val="3333B2"/>
                </a:solidFill>
                <a:latin typeface="Arial"/>
                <a:cs typeface="Arial"/>
              </a:rPr>
              <a:t>levels</a:t>
            </a:r>
            <a:endParaRPr sz="1200">
              <a:latin typeface="Arial"/>
              <a:cs typeface="Arial"/>
            </a:endParaRPr>
          </a:p>
          <a:p>
            <a:pPr marL="302260" marR="17780" indent="-168275">
              <a:lnSpc>
                <a:spcPct val="100000"/>
              </a:lnSpc>
              <a:spcBef>
                <a:spcPts val="790"/>
              </a:spcBef>
              <a:buClr>
                <a:srgbClr val="3333B2"/>
              </a:buClr>
              <a:buChar char="►"/>
              <a:tabLst>
                <a:tab pos="302895" algn="l"/>
              </a:tabLst>
            </a:pPr>
            <a:r>
              <a:rPr sz="1000" spc="-5" dirty="0">
                <a:solidFill>
                  <a:srgbClr val="0000FA"/>
                </a:solidFill>
                <a:latin typeface="Arial"/>
                <a:cs typeface="Arial"/>
              </a:rPr>
              <a:t>Global </a:t>
            </a:r>
            <a:r>
              <a:rPr sz="1000" spc="-15" dirty="0">
                <a:solidFill>
                  <a:srgbClr val="0000FA"/>
                </a:solidFill>
                <a:latin typeface="Arial"/>
                <a:cs typeface="Arial"/>
              </a:rPr>
              <a:t>level:</a:t>
            </a:r>
            <a:r>
              <a:rPr sz="1000" spc="65" dirty="0">
                <a:solidFill>
                  <a:srgbClr val="0000FA"/>
                </a:solidFill>
                <a:latin typeface="Arial"/>
                <a:cs typeface="Arial"/>
              </a:rPr>
              <a:t> </a:t>
            </a:r>
            <a:r>
              <a:rPr sz="1000" spc="-5" dirty="0">
                <a:latin typeface="Arial"/>
                <a:cs typeface="Arial"/>
              </a:rPr>
              <a:t>Consists of</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high-level</a:t>
            </a:r>
            <a:r>
              <a:rPr sz="1000" spc="-5" dirty="0">
                <a:latin typeface="Arial"/>
                <a:cs typeface="Arial"/>
              </a:rPr>
              <a:t> </a:t>
            </a:r>
            <a:r>
              <a:rPr sz="1000" dirty="0">
                <a:latin typeface="Arial"/>
                <a:cs typeface="Arial"/>
              </a:rPr>
              <a:t>directory </a:t>
            </a:r>
            <a:r>
              <a:rPr sz="1000" spc="-5" dirty="0">
                <a:latin typeface="Arial"/>
                <a:cs typeface="Arial"/>
              </a:rPr>
              <a:t>nodes.</a:t>
            </a:r>
            <a:r>
              <a:rPr sz="1000" spc="65" dirty="0">
                <a:latin typeface="Arial"/>
                <a:cs typeface="Arial"/>
              </a:rPr>
              <a:t> </a:t>
            </a:r>
            <a:r>
              <a:rPr sz="1000" spc="-5" dirty="0">
                <a:latin typeface="Arial"/>
                <a:cs typeface="Arial"/>
              </a:rPr>
              <a:t>Main </a:t>
            </a:r>
            <a:r>
              <a:rPr sz="1000" dirty="0">
                <a:latin typeface="Arial"/>
                <a:cs typeface="Arial"/>
              </a:rPr>
              <a:t> </a:t>
            </a:r>
            <a:r>
              <a:rPr sz="1000" spc="-5" dirty="0">
                <a:latin typeface="Arial"/>
                <a:cs typeface="Arial"/>
              </a:rPr>
              <a:t>aspect is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these</a:t>
            </a:r>
            <a:r>
              <a:rPr sz="1000" dirty="0">
                <a:latin typeface="Arial"/>
                <a:cs typeface="Arial"/>
              </a:rPr>
              <a:t> directory </a:t>
            </a:r>
            <a:r>
              <a:rPr sz="1000" spc="-5" dirty="0">
                <a:latin typeface="Arial"/>
                <a:cs typeface="Arial"/>
              </a:rPr>
              <a:t>nodes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jointly</a:t>
            </a:r>
            <a:r>
              <a:rPr sz="1000" dirty="0">
                <a:latin typeface="Arial"/>
                <a:cs typeface="Arial"/>
              </a:rPr>
              <a:t> </a:t>
            </a:r>
            <a:r>
              <a:rPr sz="1000" spc="-5" dirty="0">
                <a:latin typeface="Arial"/>
                <a:cs typeface="Arial"/>
              </a:rPr>
              <a:t>managed </a:t>
            </a:r>
            <a:r>
              <a:rPr sz="1000" spc="-265"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different administrations</a:t>
            </a:r>
            <a:endParaRPr sz="10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Name</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space</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distribution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The implementation of</a:t>
            </a:r>
            <a:r>
              <a:rPr sz="60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25" dirty="0"/>
              <a:t> </a:t>
            </a:r>
            <a:r>
              <a:rPr spc="15" dirty="0"/>
              <a:t>implementation</a:t>
            </a:r>
          </a:p>
        </p:txBody>
      </p:sp>
      <p:sp>
        <p:nvSpPr>
          <p:cNvPr id="4" name="object 4"/>
          <p:cNvSpPr txBox="1"/>
          <p:nvPr/>
        </p:nvSpPr>
        <p:spPr>
          <a:xfrm>
            <a:off x="334594" y="594281"/>
            <a:ext cx="3938904" cy="1939289"/>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issue</a:t>
            </a:r>
            <a:endParaRPr sz="1200">
              <a:latin typeface="Arial"/>
              <a:cs typeface="Arial"/>
            </a:endParaRPr>
          </a:p>
          <a:p>
            <a:pPr marL="25400" marR="135890">
              <a:lnSpc>
                <a:spcPts val="1200"/>
              </a:lnSpc>
              <a:spcBef>
                <a:spcPts val="10"/>
              </a:spcBef>
            </a:pPr>
            <a:r>
              <a:rPr sz="1000" spc="-5" dirty="0">
                <a:latin typeface="Arial"/>
                <a:cs typeface="Arial"/>
              </a:rPr>
              <a:t>Distribute the name</a:t>
            </a:r>
            <a:r>
              <a:rPr sz="1000" dirty="0">
                <a:latin typeface="Arial"/>
                <a:cs typeface="Arial"/>
              </a:rPr>
              <a:t> </a:t>
            </a:r>
            <a:r>
              <a:rPr sz="1000" spc="-5" dirty="0">
                <a:latin typeface="Arial"/>
                <a:cs typeface="Arial"/>
              </a:rPr>
              <a:t>resolution process</a:t>
            </a:r>
            <a:r>
              <a:rPr sz="1000" dirty="0">
                <a:latin typeface="Arial"/>
                <a:cs typeface="Arial"/>
              </a:rPr>
              <a:t> </a:t>
            </a:r>
            <a:r>
              <a:rPr sz="1000" spc="-5" dirty="0">
                <a:latin typeface="Arial"/>
                <a:cs typeface="Arial"/>
              </a:rPr>
              <a:t>as well as</a:t>
            </a:r>
            <a:r>
              <a:rPr sz="1000" dirty="0">
                <a:latin typeface="Arial"/>
                <a:cs typeface="Arial"/>
              </a:rPr>
              <a:t> </a:t>
            </a:r>
            <a:r>
              <a:rPr sz="1000" spc="-5" dirty="0">
                <a:latin typeface="Arial"/>
                <a:cs typeface="Arial"/>
              </a:rPr>
              <a:t>name space </a:t>
            </a:r>
            <a:r>
              <a:rPr sz="1000" dirty="0">
                <a:latin typeface="Arial"/>
                <a:cs typeface="Arial"/>
              </a:rPr>
              <a:t> </a:t>
            </a:r>
            <a:r>
              <a:rPr sz="1000" spc="-5" dirty="0">
                <a:latin typeface="Arial"/>
                <a:cs typeface="Arial"/>
              </a:rPr>
              <a:t>management</a:t>
            </a:r>
            <a:r>
              <a:rPr sz="1000" dirty="0">
                <a:latin typeface="Arial"/>
                <a:cs typeface="Arial"/>
              </a:rPr>
              <a:t> </a:t>
            </a:r>
            <a:r>
              <a:rPr sz="1000" spc="-5" dirty="0">
                <a:latin typeface="Arial"/>
                <a:cs typeface="Arial"/>
              </a:rPr>
              <a:t>across</a:t>
            </a:r>
            <a:r>
              <a:rPr sz="100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machines,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distributing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naming</a:t>
            </a:r>
            <a:r>
              <a:rPr sz="1000" spc="-10" dirty="0">
                <a:latin typeface="Arial"/>
                <a:cs typeface="Arial"/>
              </a:rPr>
              <a:t> graph.</a:t>
            </a:r>
            <a:endParaRPr sz="1000">
              <a:latin typeface="Arial"/>
              <a:cs typeface="Arial"/>
            </a:endParaRPr>
          </a:p>
          <a:p>
            <a:pPr marL="25400">
              <a:lnSpc>
                <a:spcPct val="100000"/>
              </a:lnSpc>
              <a:spcBef>
                <a:spcPts val="645"/>
              </a:spcBef>
            </a:pPr>
            <a:r>
              <a:rPr sz="1200" spc="-5" dirty="0">
                <a:solidFill>
                  <a:srgbClr val="3333B2"/>
                </a:solidFill>
                <a:latin typeface="Arial"/>
                <a:cs typeface="Arial"/>
              </a:rPr>
              <a:t>Distinguish</a:t>
            </a:r>
            <a:r>
              <a:rPr sz="1200" spc="-20" dirty="0">
                <a:solidFill>
                  <a:srgbClr val="3333B2"/>
                </a:solidFill>
                <a:latin typeface="Arial"/>
                <a:cs typeface="Arial"/>
              </a:rPr>
              <a:t> </a:t>
            </a:r>
            <a:r>
              <a:rPr sz="1200" spc="-5" dirty="0">
                <a:solidFill>
                  <a:srgbClr val="3333B2"/>
                </a:solidFill>
                <a:latin typeface="Arial"/>
                <a:cs typeface="Arial"/>
              </a:rPr>
              <a:t>three</a:t>
            </a:r>
            <a:r>
              <a:rPr sz="1200" spc="-20" dirty="0">
                <a:solidFill>
                  <a:srgbClr val="3333B2"/>
                </a:solidFill>
                <a:latin typeface="Arial"/>
                <a:cs typeface="Arial"/>
              </a:rPr>
              <a:t> </a:t>
            </a:r>
            <a:r>
              <a:rPr sz="1200" spc="-15" dirty="0">
                <a:solidFill>
                  <a:srgbClr val="3333B2"/>
                </a:solidFill>
                <a:latin typeface="Arial"/>
                <a:cs typeface="Arial"/>
              </a:rPr>
              <a:t>levels</a:t>
            </a:r>
            <a:endParaRPr sz="1200">
              <a:latin typeface="Arial"/>
              <a:cs typeface="Arial"/>
            </a:endParaRPr>
          </a:p>
          <a:p>
            <a:pPr marL="302260" marR="92710" indent="-168275">
              <a:lnSpc>
                <a:spcPct val="100000"/>
              </a:lnSpc>
              <a:spcBef>
                <a:spcPts val="790"/>
              </a:spcBef>
              <a:buClr>
                <a:srgbClr val="3333B2"/>
              </a:buClr>
              <a:buChar char="►"/>
              <a:tabLst>
                <a:tab pos="302895" algn="l"/>
              </a:tabLst>
            </a:pPr>
            <a:r>
              <a:rPr sz="1000" spc="-5" dirty="0">
                <a:solidFill>
                  <a:srgbClr val="0000FA"/>
                </a:solidFill>
                <a:latin typeface="Arial"/>
                <a:cs typeface="Arial"/>
              </a:rPr>
              <a:t>Global </a:t>
            </a:r>
            <a:r>
              <a:rPr sz="1000" spc="-15" dirty="0">
                <a:solidFill>
                  <a:srgbClr val="0000FA"/>
                </a:solidFill>
                <a:latin typeface="Arial"/>
                <a:cs typeface="Arial"/>
              </a:rPr>
              <a:t>level:</a:t>
            </a:r>
            <a:r>
              <a:rPr sz="1000" spc="65" dirty="0">
                <a:solidFill>
                  <a:srgbClr val="0000FA"/>
                </a:solidFill>
                <a:latin typeface="Arial"/>
                <a:cs typeface="Arial"/>
              </a:rPr>
              <a:t> </a:t>
            </a:r>
            <a:r>
              <a:rPr sz="1000" spc="-5" dirty="0">
                <a:latin typeface="Arial"/>
                <a:cs typeface="Arial"/>
              </a:rPr>
              <a:t>Consists of</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high-level</a:t>
            </a:r>
            <a:r>
              <a:rPr sz="1000" spc="-5" dirty="0">
                <a:latin typeface="Arial"/>
                <a:cs typeface="Arial"/>
              </a:rPr>
              <a:t> </a:t>
            </a:r>
            <a:r>
              <a:rPr sz="1000" dirty="0">
                <a:latin typeface="Arial"/>
                <a:cs typeface="Arial"/>
              </a:rPr>
              <a:t>directory </a:t>
            </a:r>
            <a:r>
              <a:rPr sz="1000" spc="-5" dirty="0">
                <a:latin typeface="Arial"/>
                <a:cs typeface="Arial"/>
              </a:rPr>
              <a:t>nodes.</a:t>
            </a:r>
            <a:r>
              <a:rPr sz="1000" spc="65" dirty="0">
                <a:latin typeface="Arial"/>
                <a:cs typeface="Arial"/>
              </a:rPr>
              <a:t> </a:t>
            </a:r>
            <a:r>
              <a:rPr sz="1000" spc="-5" dirty="0">
                <a:latin typeface="Arial"/>
                <a:cs typeface="Arial"/>
              </a:rPr>
              <a:t>Main </a:t>
            </a:r>
            <a:r>
              <a:rPr sz="1000" dirty="0">
                <a:latin typeface="Arial"/>
                <a:cs typeface="Arial"/>
              </a:rPr>
              <a:t> </a:t>
            </a:r>
            <a:r>
              <a:rPr sz="1000" spc="-5" dirty="0">
                <a:latin typeface="Arial"/>
                <a:cs typeface="Arial"/>
              </a:rPr>
              <a:t>aspect is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these</a:t>
            </a:r>
            <a:r>
              <a:rPr sz="1000" dirty="0">
                <a:latin typeface="Arial"/>
                <a:cs typeface="Arial"/>
              </a:rPr>
              <a:t> directory </a:t>
            </a:r>
            <a:r>
              <a:rPr sz="1000" spc="-5" dirty="0">
                <a:latin typeface="Arial"/>
                <a:cs typeface="Arial"/>
              </a:rPr>
              <a:t>nodes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jointly</a:t>
            </a:r>
            <a:r>
              <a:rPr sz="1000" dirty="0">
                <a:latin typeface="Arial"/>
                <a:cs typeface="Arial"/>
              </a:rPr>
              <a:t> </a:t>
            </a:r>
            <a:r>
              <a:rPr sz="1000" spc="-5" dirty="0">
                <a:latin typeface="Arial"/>
                <a:cs typeface="Arial"/>
              </a:rPr>
              <a:t>managed </a:t>
            </a:r>
            <a:r>
              <a:rPr sz="1000" spc="-265"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different administrations</a:t>
            </a:r>
            <a:endParaRPr sz="1000">
              <a:latin typeface="Arial"/>
              <a:cs typeface="Arial"/>
            </a:endParaRPr>
          </a:p>
          <a:p>
            <a:pPr marL="302260" marR="17780" indent="-168275">
              <a:lnSpc>
                <a:spcPts val="1200"/>
              </a:lnSpc>
              <a:spcBef>
                <a:spcPts val="25"/>
              </a:spcBef>
              <a:buClr>
                <a:srgbClr val="3333B2"/>
              </a:buClr>
              <a:buChar char="►"/>
              <a:tabLst>
                <a:tab pos="302895" algn="l"/>
              </a:tabLst>
            </a:pPr>
            <a:r>
              <a:rPr sz="1000" spc="-15" dirty="0">
                <a:solidFill>
                  <a:srgbClr val="0000FA"/>
                </a:solidFill>
                <a:latin typeface="Arial"/>
                <a:cs typeface="Arial"/>
              </a:rPr>
              <a:t>Administrational</a:t>
            </a:r>
            <a:r>
              <a:rPr sz="1000" spc="-5" dirty="0">
                <a:solidFill>
                  <a:srgbClr val="0000FA"/>
                </a:solidFill>
                <a:latin typeface="Arial"/>
                <a:cs typeface="Arial"/>
              </a:rPr>
              <a:t> </a:t>
            </a:r>
            <a:r>
              <a:rPr sz="1000" spc="-25" dirty="0">
                <a:solidFill>
                  <a:srgbClr val="0000FA"/>
                </a:solidFill>
                <a:latin typeface="Arial"/>
                <a:cs typeface="Arial"/>
              </a:rPr>
              <a:t>level:</a:t>
            </a:r>
            <a:r>
              <a:rPr sz="1000" spc="75" dirty="0">
                <a:solidFill>
                  <a:srgbClr val="0000FA"/>
                </a:solidFill>
                <a:latin typeface="Arial"/>
                <a:cs typeface="Arial"/>
              </a:rPr>
              <a:t> </a:t>
            </a:r>
            <a:r>
              <a:rPr sz="1000" spc="-15" dirty="0">
                <a:latin typeface="Arial"/>
                <a:cs typeface="Arial"/>
              </a:rPr>
              <a:t>Contains</a:t>
            </a:r>
            <a:r>
              <a:rPr sz="1000" spc="-5" dirty="0">
                <a:latin typeface="Arial"/>
                <a:cs typeface="Arial"/>
              </a:rPr>
              <a:t> </a:t>
            </a:r>
            <a:r>
              <a:rPr sz="1000" spc="-20" dirty="0">
                <a:latin typeface="Arial"/>
                <a:cs typeface="Arial"/>
              </a:rPr>
              <a:t>mid-level</a:t>
            </a:r>
            <a:r>
              <a:rPr sz="1000" spc="-5" dirty="0">
                <a:latin typeface="Arial"/>
                <a:cs typeface="Arial"/>
              </a:rPr>
              <a:t> </a:t>
            </a:r>
            <a:r>
              <a:rPr sz="1000" spc="-10" dirty="0">
                <a:latin typeface="Arial"/>
                <a:cs typeface="Arial"/>
              </a:rPr>
              <a:t>directory</a:t>
            </a:r>
            <a:r>
              <a:rPr sz="1000" dirty="0">
                <a:latin typeface="Arial"/>
                <a:cs typeface="Arial"/>
              </a:rPr>
              <a:t> </a:t>
            </a:r>
            <a:r>
              <a:rPr sz="1000" spc="-15" dirty="0">
                <a:latin typeface="Arial"/>
                <a:cs typeface="Arial"/>
              </a:rPr>
              <a:t>nodes</a:t>
            </a:r>
            <a:r>
              <a:rPr sz="1000" spc="-5" dirty="0">
                <a:latin typeface="Arial"/>
                <a:cs typeface="Arial"/>
              </a:rPr>
              <a:t> </a:t>
            </a:r>
            <a:r>
              <a:rPr sz="1000" spc="-10" dirty="0">
                <a:latin typeface="Arial"/>
                <a:cs typeface="Arial"/>
              </a:rPr>
              <a:t>that</a:t>
            </a:r>
            <a:r>
              <a:rPr sz="1000" spc="-5" dirty="0">
                <a:latin typeface="Arial"/>
                <a:cs typeface="Arial"/>
              </a:rPr>
              <a:t> </a:t>
            </a:r>
            <a:r>
              <a:rPr sz="1000" spc="-15" dirty="0">
                <a:latin typeface="Arial"/>
                <a:cs typeface="Arial"/>
              </a:rPr>
              <a:t>can </a:t>
            </a:r>
            <a:r>
              <a:rPr sz="1000" spc="-260" dirty="0">
                <a:latin typeface="Arial"/>
                <a:cs typeface="Arial"/>
              </a:rPr>
              <a:t> </a:t>
            </a:r>
            <a:r>
              <a:rPr sz="1000" spc="-5" dirty="0">
                <a:latin typeface="Arial"/>
                <a:cs typeface="Arial"/>
              </a:rPr>
              <a:t>be grouped in such</a:t>
            </a:r>
            <a:r>
              <a:rPr sz="1000" dirty="0">
                <a:latin typeface="Arial"/>
                <a:cs typeface="Arial"/>
              </a:rPr>
              <a:t> </a:t>
            </a:r>
            <a:r>
              <a:rPr sz="1000" spc="-5" dirty="0">
                <a:latin typeface="Arial"/>
                <a:cs typeface="Arial"/>
              </a:rPr>
              <a:t>a </a:t>
            </a:r>
            <a:r>
              <a:rPr sz="1000" spc="-20" dirty="0">
                <a:latin typeface="Arial"/>
                <a:cs typeface="Arial"/>
              </a:rPr>
              <a:t>way</a:t>
            </a:r>
            <a:r>
              <a:rPr sz="1000" spc="-5" dirty="0">
                <a:latin typeface="Arial"/>
                <a:cs typeface="Arial"/>
              </a:rPr>
              <a:t> that</a:t>
            </a:r>
            <a:r>
              <a:rPr sz="1000" dirty="0">
                <a:latin typeface="Arial"/>
                <a:cs typeface="Arial"/>
              </a:rPr>
              <a:t> </a:t>
            </a:r>
            <a:r>
              <a:rPr sz="1000" spc="-5" dirty="0">
                <a:latin typeface="Arial"/>
                <a:cs typeface="Arial"/>
              </a:rPr>
              <a:t>each group can</a:t>
            </a:r>
            <a:r>
              <a:rPr sz="1000" dirty="0">
                <a:latin typeface="Arial"/>
                <a:cs typeface="Arial"/>
              </a:rPr>
              <a:t> </a:t>
            </a:r>
            <a:r>
              <a:rPr sz="1000" spc="-5" dirty="0">
                <a:latin typeface="Arial"/>
                <a:cs typeface="Arial"/>
              </a:rPr>
              <a:t>be assigned to</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separate</a:t>
            </a:r>
            <a:r>
              <a:rPr sz="1000" spc="-10" dirty="0">
                <a:latin typeface="Arial"/>
                <a:cs typeface="Arial"/>
              </a:rPr>
              <a:t> </a:t>
            </a:r>
            <a:r>
              <a:rPr sz="1000" spc="-5" dirty="0">
                <a:latin typeface="Arial"/>
                <a:cs typeface="Arial"/>
              </a:rPr>
              <a:t>administration.</a:t>
            </a:r>
            <a:endParaRPr sz="10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Name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space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4"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5" action="ppaction://hlinksldjump"/>
              </a:rPr>
              <a:t>Structured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The implementation of</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25" dirty="0"/>
              <a:t> </a:t>
            </a:r>
            <a:r>
              <a:rPr spc="15" dirty="0"/>
              <a:t>implementation</a:t>
            </a:r>
          </a:p>
        </p:txBody>
      </p:sp>
      <p:sp>
        <p:nvSpPr>
          <p:cNvPr id="4" name="object 4"/>
          <p:cNvSpPr txBox="1"/>
          <p:nvPr/>
        </p:nvSpPr>
        <p:spPr>
          <a:xfrm>
            <a:off x="334594" y="594281"/>
            <a:ext cx="3938904" cy="2395220"/>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issue</a:t>
            </a:r>
            <a:endParaRPr sz="1200" dirty="0">
              <a:latin typeface="Arial"/>
              <a:cs typeface="Arial"/>
            </a:endParaRPr>
          </a:p>
          <a:p>
            <a:pPr marL="25400" marR="135890">
              <a:lnSpc>
                <a:spcPts val="1200"/>
              </a:lnSpc>
              <a:spcBef>
                <a:spcPts val="10"/>
              </a:spcBef>
            </a:pPr>
            <a:r>
              <a:rPr sz="1000" spc="-5" dirty="0">
                <a:latin typeface="Arial"/>
                <a:cs typeface="Arial"/>
              </a:rPr>
              <a:t>Distribute the name</a:t>
            </a:r>
            <a:r>
              <a:rPr sz="1000" dirty="0">
                <a:latin typeface="Arial"/>
                <a:cs typeface="Arial"/>
              </a:rPr>
              <a:t> </a:t>
            </a:r>
            <a:r>
              <a:rPr sz="1000" spc="-5" dirty="0">
                <a:latin typeface="Arial"/>
                <a:cs typeface="Arial"/>
              </a:rPr>
              <a:t>resolution process</a:t>
            </a:r>
            <a:r>
              <a:rPr sz="1000" dirty="0">
                <a:latin typeface="Arial"/>
                <a:cs typeface="Arial"/>
              </a:rPr>
              <a:t> </a:t>
            </a:r>
            <a:r>
              <a:rPr sz="1000" spc="-5" dirty="0">
                <a:latin typeface="Arial"/>
                <a:cs typeface="Arial"/>
              </a:rPr>
              <a:t>as well as</a:t>
            </a:r>
            <a:r>
              <a:rPr sz="1000" dirty="0">
                <a:latin typeface="Arial"/>
                <a:cs typeface="Arial"/>
              </a:rPr>
              <a:t> </a:t>
            </a:r>
            <a:r>
              <a:rPr sz="1000" spc="-5" dirty="0">
                <a:latin typeface="Arial"/>
                <a:cs typeface="Arial"/>
              </a:rPr>
              <a:t>name space </a:t>
            </a:r>
            <a:r>
              <a:rPr sz="1000" dirty="0">
                <a:latin typeface="Arial"/>
                <a:cs typeface="Arial"/>
              </a:rPr>
              <a:t> </a:t>
            </a:r>
            <a:r>
              <a:rPr sz="1000" spc="-5" dirty="0">
                <a:latin typeface="Arial"/>
                <a:cs typeface="Arial"/>
              </a:rPr>
              <a:t>management</a:t>
            </a:r>
            <a:r>
              <a:rPr sz="1000" dirty="0">
                <a:latin typeface="Arial"/>
                <a:cs typeface="Arial"/>
              </a:rPr>
              <a:t> </a:t>
            </a:r>
            <a:r>
              <a:rPr sz="1000" spc="-5" dirty="0">
                <a:latin typeface="Arial"/>
                <a:cs typeface="Arial"/>
              </a:rPr>
              <a:t>across</a:t>
            </a:r>
            <a:r>
              <a:rPr sz="1000" dirty="0">
                <a:latin typeface="Arial"/>
                <a:cs typeface="Arial"/>
              </a:rPr>
              <a:t> </a:t>
            </a:r>
            <a:r>
              <a:rPr sz="1000" spc="-5" dirty="0">
                <a:latin typeface="Arial"/>
                <a:cs typeface="Arial"/>
              </a:rPr>
              <a:t>multiple</a:t>
            </a:r>
            <a:r>
              <a:rPr sz="1000" dirty="0">
                <a:latin typeface="Arial"/>
                <a:cs typeface="Arial"/>
              </a:rPr>
              <a:t> </a:t>
            </a:r>
            <a:r>
              <a:rPr sz="1000" spc="-5" dirty="0">
                <a:latin typeface="Arial"/>
                <a:cs typeface="Arial"/>
              </a:rPr>
              <a:t>machines,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distributing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naming</a:t>
            </a:r>
            <a:r>
              <a:rPr sz="1000" spc="-10" dirty="0">
                <a:latin typeface="Arial"/>
                <a:cs typeface="Arial"/>
              </a:rPr>
              <a:t> graph.</a:t>
            </a:r>
            <a:endParaRPr sz="1000" dirty="0">
              <a:latin typeface="Arial"/>
              <a:cs typeface="Arial"/>
            </a:endParaRPr>
          </a:p>
          <a:p>
            <a:pPr marL="25400">
              <a:lnSpc>
                <a:spcPct val="100000"/>
              </a:lnSpc>
              <a:spcBef>
                <a:spcPts val="645"/>
              </a:spcBef>
            </a:pPr>
            <a:r>
              <a:rPr sz="1200" spc="-5" dirty="0">
                <a:solidFill>
                  <a:srgbClr val="3333B2"/>
                </a:solidFill>
                <a:latin typeface="Arial"/>
                <a:cs typeface="Arial"/>
              </a:rPr>
              <a:t>Distinguish</a:t>
            </a:r>
            <a:r>
              <a:rPr sz="1200" spc="-20" dirty="0">
                <a:solidFill>
                  <a:srgbClr val="3333B2"/>
                </a:solidFill>
                <a:latin typeface="Arial"/>
                <a:cs typeface="Arial"/>
              </a:rPr>
              <a:t> </a:t>
            </a:r>
            <a:r>
              <a:rPr sz="1200" spc="-5" dirty="0">
                <a:solidFill>
                  <a:srgbClr val="3333B2"/>
                </a:solidFill>
                <a:latin typeface="Arial"/>
                <a:cs typeface="Arial"/>
              </a:rPr>
              <a:t>three</a:t>
            </a:r>
            <a:r>
              <a:rPr sz="1200" spc="-20" dirty="0">
                <a:solidFill>
                  <a:srgbClr val="3333B2"/>
                </a:solidFill>
                <a:latin typeface="Arial"/>
                <a:cs typeface="Arial"/>
              </a:rPr>
              <a:t> </a:t>
            </a:r>
            <a:r>
              <a:rPr sz="1200" spc="-15" dirty="0">
                <a:solidFill>
                  <a:srgbClr val="3333B2"/>
                </a:solidFill>
                <a:latin typeface="Arial"/>
                <a:cs typeface="Arial"/>
              </a:rPr>
              <a:t>levels</a:t>
            </a:r>
            <a:endParaRPr sz="1200" dirty="0">
              <a:latin typeface="Arial"/>
              <a:cs typeface="Arial"/>
            </a:endParaRPr>
          </a:p>
          <a:p>
            <a:pPr marL="302260" marR="92710" indent="-168275">
              <a:lnSpc>
                <a:spcPct val="100000"/>
              </a:lnSpc>
              <a:spcBef>
                <a:spcPts val="790"/>
              </a:spcBef>
              <a:buClr>
                <a:srgbClr val="3333B2"/>
              </a:buClr>
              <a:buChar char="►"/>
              <a:tabLst>
                <a:tab pos="302895" algn="l"/>
              </a:tabLst>
            </a:pPr>
            <a:r>
              <a:rPr sz="1000" spc="-5" dirty="0">
                <a:solidFill>
                  <a:srgbClr val="0000FA"/>
                </a:solidFill>
                <a:latin typeface="Arial"/>
                <a:cs typeface="Arial"/>
              </a:rPr>
              <a:t>Global </a:t>
            </a:r>
            <a:r>
              <a:rPr sz="1000" spc="-15" dirty="0">
                <a:solidFill>
                  <a:srgbClr val="0000FA"/>
                </a:solidFill>
                <a:latin typeface="Arial"/>
                <a:cs typeface="Arial"/>
              </a:rPr>
              <a:t>level:</a:t>
            </a:r>
            <a:r>
              <a:rPr sz="1000" spc="65" dirty="0">
                <a:solidFill>
                  <a:srgbClr val="0000FA"/>
                </a:solidFill>
                <a:latin typeface="Arial"/>
                <a:cs typeface="Arial"/>
              </a:rPr>
              <a:t> </a:t>
            </a:r>
            <a:r>
              <a:rPr sz="1000" spc="-5" dirty="0">
                <a:latin typeface="Arial"/>
                <a:cs typeface="Arial"/>
              </a:rPr>
              <a:t>Consists of</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high-level</a:t>
            </a:r>
            <a:r>
              <a:rPr sz="1000" spc="-5" dirty="0">
                <a:latin typeface="Arial"/>
                <a:cs typeface="Arial"/>
              </a:rPr>
              <a:t> </a:t>
            </a:r>
            <a:r>
              <a:rPr sz="1000" dirty="0">
                <a:latin typeface="Arial"/>
                <a:cs typeface="Arial"/>
              </a:rPr>
              <a:t>directory </a:t>
            </a:r>
            <a:r>
              <a:rPr sz="1000" spc="-5" dirty="0">
                <a:latin typeface="Arial"/>
                <a:cs typeface="Arial"/>
              </a:rPr>
              <a:t>nodes.</a:t>
            </a:r>
            <a:r>
              <a:rPr sz="1000" spc="65" dirty="0">
                <a:latin typeface="Arial"/>
                <a:cs typeface="Arial"/>
              </a:rPr>
              <a:t> </a:t>
            </a:r>
            <a:r>
              <a:rPr sz="1000" spc="-5" dirty="0">
                <a:latin typeface="Arial"/>
                <a:cs typeface="Arial"/>
              </a:rPr>
              <a:t>Main </a:t>
            </a:r>
            <a:r>
              <a:rPr sz="1000" dirty="0">
                <a:latin typeface="Arial"/>
                <a:cs typeface="Arial"/>
              </a:rPr>
              <a:t> </a:t>
            </a:r>
            <a:r>
              <a:rPr sz="1000" spc="-5" dirty="0">
                <a:latin typeface="Arial"/>
                <a:cs typeface="Arial"/>
              </a:rPr>
              <a:t>aspect is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these</a:t>
            </a:r>
            <a:r>
              <a:rPr sz="1000" dirty="0">
                <a:latin typeface="Arial"/>
                <a:cs typeface="Arial"/>
              </a:rPr>
              <a:t> directory </a:t>
            </a:r>
            <a:r>
              <a:rPr sz="1000" spc="-5" dirty="0">
                <a:latin typeface="Arial"/>
                <a:cs typeface="Arial"/>
              </a:rPr>
              <a:t>nodes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jointly</a:t>
            </a:r>
            <a:r>
              <a:rPr sz="1000" dirty="0">
                <a:latin typeface="Arial"/>
                <a:cs typeface="Arial"/>
              </a:rPr>
              <a:t> </a:t>
            </a:r>
            <a:r>
              <a:rPr sz="1000" spc="-5" dirty="0">
                <a:latin typeface="Arial"/>
                <a:cs typeface="Arial"/>
              </a:rPr>
              <a:t>managed </a:t>
            </a:r>
            <a:r>
              <a:rPr sz="1000" spc="-265"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different administrations</a:t>
            </a:r>
            <a:endParaRPr sz="1000" dirty="0">
              <a:latin typeface="Arial"/>
              <a:cs typeface="Arial"/>
            </a:endParaRPr>
          </a:p>
          <a:p>
            <a:pPr marL="302260" marR="17780" indent="-168275">
              <a:lnSpc>
                <a:spcPts val="1200"/>
              </a:lnSpc>
              <a:spcBef>
                <a:spcPts val="25"/>
              </a:spcBef>
              <a:buClr>
                <a:srgbClr val="3333B2"/>
              </a:buClr>
              <a:buChar char="►"/>
              <a:tabLst>
                <a:tab pos="302895" algn="l"/>
              </a:tabLst>
            </a:pPr>
            <a:r>
              <a:rPr sz="1000" spc="-15" dirty="0">
                <a:solidFill>
                  <a:srgbClr val="0000FA"/>
                </a:solidFill>
                <a:latin typeface="Arial"/>
                <a:cs typeface="Arial"/>
              </a:rPr>
              <a:t>Administrational</a:t>
            </a:r>
            <a:r>
              <a:rPr sz="1000" spc="-5" dirty="0">
                <a:solidFill>
                  <a:srgbClr val="0000FA"/>
                </a:solidFill>
                <a:latin typeface="Arial"/>
                <a:cs typeface="Arial"/>
              </a:rPr>
              <a:t> </a:t>
            </a:r>
            <a:r>
              <a:rPr sz="1000" spc="-25" dirty="0">
                <a:solidFill>
                  <a:srgbClr val="0000FA"/>
                </a:solidFill>
                <a:latin typeface="Arial"/>
                <a:cs typeface="Arial"/>
              </a:rPr>
              <a:t>level:</a:t>
            </a:r>
            <a:r>
              <a:rPr sz="1000" spc="75" dirty="0">
                <a:solidFill>
                  <a:srgbClr val="0000FA"/>
                </a:solidFill>
                <a:latin typeface="Arial"/>
                <a:cs typeface="Arial"/>
              </a:rPr>
              <a:t> </a:t>
            </a:r>
            <a:r>
              <a:rPr sz="1000" spc="-15" dirty="0">
                <a:latin typeface="Arial"/>
                <a:cs typeface="Arial"/>
              </a:rPr>
              <a:t>Contains</a:t>
            </a:r>
            <a:r>
              <a:rPr sz="1000" spc="-5" dirty="0">
                <a:latin typeface="Arial"/>
                <a:cs typeface="Arial"/>
              </a:rPr>
              <a:t> </a:t>
            </a:r>
            <a:r>
              <a:rPr sz="1000" spc="-20" dirty="0">
                <a:latin typeface="Arial"/>
                <a:cs typeface="Arial"/>
              </a:rPr>
              <a:t>mid-level</a:t>
            </a:r>
            <a:r>
              <a:rPr sz="1000" spc="-5" dirty="0">
                <a:latin typeface="Arial"/>
                <a:cs typeface="Arial"/>
              </a:rPr>
              <a:t> </a:t>
            </a:r>
            <a:r>
              <a:rPr sz="1000" spc="-10" dirty="0">
                <a:latin typeface="Arial"/>
                <a:cs typeface="Arial"/>
              </a:rPr>
              <a:t>directory</a:t>
            </a:r>
            <a:r>
              <a:rPr sz="1000" dirty="0">
                <a:latin typeface="Arial"/>
                <a:cs typeface="Arial"/>
              </a:rPr>
              <a:t> </a:t>
            </a:r>
            <a:r>
              <a:rPr sz="1000" spc="-15" dirty="0">
                <a:latin typeface="Arial"/>
                <a:cs typeface="Arial"/>
              </a:rPr>
              <a:t>nodes</a:t>
            </a:r>
            <a:r>
              <a:rPr sz="1000" spc="-5" dirty="0">
                <a:latin typeface="Arial"/>
                <a:cs typeface="Arial"/>
              </a:rPr>
              <a:t> </a:t>
            </a:r>
            <a:r>
              <a:rPr sz="1000" spc="-10" dirty="0">
                <a:latin typeface="Arial"/>
                <a:cs typeface="Arial"/>
              </a:rPr>
              <a:t>that</a:t>
            </a:r>
            <a:r>
              <a:rPr sz="1000" spc="-5" dirty="0">
                <a:latin typeface="Arial"/>
                <a:cs typeface="Arial"/>
              </a:rPr>
              <a:t> </a:t>
            </a:r>
            <a:r>
              <a:rPr sz="1000" spc="-15" dirty="0">
                <a:latin typeface="Arial"/>
                <a:cs typeface="Arial"/>
              </a:rPr>
              <a:t>can </a:t>
            </a:r>
            <a:r>
              <a:rPr sz="1000" spc="-260" dirty="0">
                <a:latin typeface="Arial"/>
                <a:cs typeface="Arial"/>
              </a:rPr>
              <a:t> </a:t>
            </a:r>
            <a:r>
              <a:rPr sz="1000" spc="-5" dirty="0">
                <a:latin typeface="Arial"/>
                <a:cs typeface="Arial"/>
              </a:rPr>
              <a:t>be grouped in such</a:t>
            </a:r>
            <a:r>
              <a:rPr sz="1000" dirty="0">
                <a:latin typeface="Arial"/>
                <a:cs typeface="Arial"/>
              </a:rPr>
              <a:t> </a:t>
            </a:r>
            <a:r>
              <a:rPr sz="1000" spc="-5" dirty="0">
                <a:latin typeface="Arial"/>
                <a:cs typeface="Arial"/>
              </a:rPr>
              <a:t>a </a:t>
            </a:r>
            <a:r>
              <a:rPr sz="1000" spc="-20" dirty="0">
                <a:latin typeface="Arial"/>
                <a:cs typeface="Arial"/>
              </a:rPr>
              <a:t>way</a:t>
            </a:r>
            <a:r>
              <a:rPr sz="1000" spc="-5" dirty="0">
                <a:latin typeface="Arial"/>
                <a:cs typeface="Arial"/>
              </a:rPr>
              <a:t> that</a:t>
            </a:r>
            <a:r>
              <a:rPr sz="1000" dirty="0">
                <a:latin typeface="Arial"/>
                <a:cs typeface="Arial"/>
              </a:rPr>
              <a:t> </a:t>
            </a:r>
            <a:r>
              <a:rPr sz="1000" spc="-5" dirty="0">
                <a:latin typeface="Arial"/>
                <a:cs typeface="Arial"/>
              </a:rPr>
              <a:t>each group can</a:t>
            </a:r>
            <a:r>
              <a:rPr sz="1000" dirty="0">
                <a:latin typeface="Arial"/>
                <a:cs typeface="Arial"/>
              </a:rPr>
              <a:t> </a:t>
            </a:r>
            <a:r>
              <a:rPr sz="1000" spc="-5" dirty="0">
                <a:latin typeface="Arial"/>
                <a:cs typeface="Arial"/>
              </a:rPr>
              <a:t>be assigned to</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separate</a:t>
            </a:r>
            <a:r>
              <a:rPr sz="1000" spc="-10" dirty="0">
                <a:latin typeface="Arial"/>
                <a:cs typeface="Arial"/>
              </a:rPr>
              <a:t> </a:t>
            </a:r>
            <a:r>
              <a:rPr sz="1000" spc="-5" dirty="0">
                <a:latin typeface="Arial"/>
                <a:cs typeface="Arial"/>
              </a:rPr>
              <a:t>administration.</a:t>
            </a:r>
            <a:endParaRPr sz="1000" dirty="0">
              <a:latin typeface="Arial"/>
              <a:cs typeface="Arial"/>
            </a:endParaRPr>
          </a:p>
          <a:p>
            <a:pPr marL="302260" indent="-168275">
              <a:lnSpc>
                <a:spcPts val="1145"/>
              </a:lnSpc>
              <a:buClr>
                <a:srgbClr val="3333B2"/>
              </a:buClr>
              <a:buChar char="►"/>
              <a:tabLst>
                <a:tab pos="302895" algn="l"/>
              </a:tabLst>
            </a:pPr>
            <a:r>
              <a:rPr sz="1000" spc="-5" dirty="0">
                <a:solidFill>
                  <a:srgbClr val="0000FA"/>
                </a:solidFill>
                <a:latin typeface="Arial"/>
                <a:cs typeface="Arial"/>
              </a:rPr>
              <a:t>Managerial</a:t>
            </a:r>
            <a:r>
              <a:rPr sz="1000" dirty="0">
                <a:solidFill>
                  <a:srgbClr val="0000FA"/>
                </a:solidFill>
                <a:latin typeface="Arial"/>
                <a:cs typeface="Arial"/>
              </a:rPr>
              <a:t> </a:t>
            </a:r>
            <a:r>
              <a:rPr sz="1000" spc="-15" dirty="0">
                <a:solidFill>
                  <a:srgbClr val="0000FA"/>
                </a:solidFill>
                <a:latin typeface="Arial"/>
                <a:cs typeface="Arial"/>
              </a:rPr>
              <a:t>level:</a:t>
            </a:r>
            <a:r>
              <a:rPr sz="1000" spc="65" dirty="0">
                <a:solidFill>
                  <a:srgbClr val="0000FA"/>
                </a:solidFill>
                <a:latin typeface="Arial"/>
                <a:cs typeface="Arial"/>
              </a:rPr>
              <a:t> </a:t>
            </a:r>
            <a:r>
              <a:rPr sz="1000" spc="-5" dirty="0">
                <a:latin typeface="Arial"/>
                <a:cs typeface="Arial"/>
              </a:rPr>
              <a:t>Consists</a:t>
            </a:r>
            <a:r>
              <a:rPr sz="1000" dirty="0">
                <a:latin typeface="Arial"/>
                <a:cs typeface="Arial"/>
              </a:rPr>
              <a:t> </a:t>
            </a:r>
            <a:r>
              <a:rPr sz="1000" spc="-5" dirty="0">
                <a:latin typeface="Arial"/>
                <a:cs typeface="Arial"/>
              </a:rPr>
              <a:t>of</a:t>
            </a:r>
            <a:r>
              <a:rPr sz="1000" dirty="0">
                <a:latin typeface="Arial"/>
                <a:cs typeface="Arial"/>
              </a:rPr>
              <a:t> </a:t>
            </a:r>
            <a:r>
              <a:rPr sz="1000" spc="-10" dirty="0">
                <a:latin typeface="Arial"/>
                <a:cs typeface="Arial"/>
              </a:rPr>
              <a:t>low-level</a:t>
            </a:r>
            <a:r>
              <a:rPr sz="1000" dirty="0">
                <a:latin typeface="Arial"/>
                <a:cs typeface="Arial"/>
              </a:rPr>
              <a:t> directory </a:t>
            </a:r>
            <a:r>
              <a:rPr sz="1000" spc="-5" dirty="0">
                <a:latin typeface="Arial"/>
                <a:cs typeface="Arial"/>
              </a:rPr>
              <a:t>nodes</a:t>
            </a:r>
            <a:r>
              <a:rPr sz="1000" dirty="0">
                <a:latin typeface="Arial"/>
                <a:cs typeface="Arial"/>
              </a:rPr>
              <a:t> </a:t>
            </a:r>
            <a:r>
              <a:rPr sz="1000" spc="-5" dirty="0">
                <a:latin typeface="Arial"/>
                <a:cs typeface="Arial"/>
              </a:rPr>
              <a:t>within</a:t>
            </a:r>
            <a:r>
              <a:rPr sz="1000" dirty="0">
                <a:latin typeface="Arial"/>
                <a:cs typeface="Arial"/>
              </a:rPr>
              <a:t> </a:t>
            </a:r>
            <a:r>
              <a:rPr sz="1000" spc="-5" dirty="0">
                <a:latin typeface="Arial"/>
                <a:cs typeface="Arial"/>
              </a:rPr>
              <a:t>a</a:t>
            </a:r>
            <a:endParaRPr sz="1000" dirty="0">
              <a:latin typeface="Arial"/>
              <a:cs typeface="Arial"/>
            </a:endParaRPr>
          </a:p>
          <a:p>
            <a:pPr marL="302260" marR="31750">
              <a:lnSpc>
                <a:spcPts val="1200"/>
              </a:lnSpc>
              <a:spcBef>
                <a:spcPts val="35"/>
              </a:spcBef>
            </a:pPr>
            <a:r>
              <a:rPr sz="1000" spc="-5" dirty="0">
                <a:latin typeface="Arial"/>
                <a:cs typeface="Arial"/>
              </a:rPr>
              <a:t>single</a:t>
            </a:r>
            <a:r>
              <a:rPr sz="1000" dirty="0">
                <a:latin typeface="Arial"/>
                <a:cs typeface="Arial"/>
              </a:rPr>
              <a:t> </a:t>
            </a:r>
            <a:r>
              <a:rPr sz="1000" spc="-5" dirty="0">
                <a:latin typeface="Arial"/>
                <a:cs typeface="Arial"/>
              </a:rPr>
              <a:t>administration.</a:t>
            </a:r>
            <a:r>
              <a:rPr sz="1000" spc="70" dirty="0">
                <a:latin typeface="Arial"/>
                <a:cs typeface="Arial"/>
              </a:rPr>
              <a:t> </a:t>
            </a:r>
            <a:r>
              <a:rPr sz="1000" spc="-5" dirty="0">
                <a:latin typeface="Arial"/>
                <a:cs typeface="Arial"/>
              </a:rPr>
              <a:t>Main</a:t>
            </a:r>
            <a:r>
              <a:rPr sz="1000" spc="5" dirty="0">
                <a:latin typeface="Arial"/>
                <a:cs typeface="Arial"/>
              </a:rPr>
              <a:t> </a:t>
            </a:r>
            <a:r>
              <a:rPr sz="1000" spc="-5" dirty="0">
                <a:latin typeface="Arial"/>
                <a:cs typeface="Arial"/>
              </a:rPr>
              <a:t>issue</a:t>
            </a:r>
            <a:r>
              <a:rPr sz="1000" spc="5"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effectively</a:t>
            </a:r>
            <a:r>
              <a:rPr sz="1000" spc="5" dirty="0">
                <a:latin typeface="Arial"/>
                <a:cs typeface="Arial"/>
              </a:rPr>
              <a:t> </a:t>
            </a:r>
            <a:r>
              <a:rPr sz="1000" spc="-5" dirty="0">
                <a:latin typeface="Arial"/>
                <a:cs typeface="Arial"/>
              </a:rPr>
              <a:t>mapping</a:t>
            </a:r>
            <a:r>
              <a:rPr sz="1000" spc="5" dirty="0">
                <a:latin typeface="Arial"/>
                <a:cs typeface="Arial"/>
              </a:rPr>
              <a:t> </a:t>
            </a:r>
            <a:r>
              <a:rPr sz="1000" dirty="0">
                <a:latin typeface="Arial"/>
                <a:cs typeface="Arial"/>
              </a:rPr>
              <a:t>directory </a:t>
            </a:r>
            <a:r>
              <a:rPr sz="1000" spc="-265" dirty="0">
                <a:latin typeface="Arial"/>
                <a:cs typeface="Arial"/>
              </a:rPr>
              <a:t> </a:t>
            </a:r>
            <a:r>
              <a:rPr sz="1000" spc="-5" dirty="0">
                <a:latin typeface="Arial"/>
                <a:cs typeface="Arial"/>
              </a:rPr>
              <a:t>nodes</a:t>
            </a:r>
            <a:r>
              <a:rPr sz="1000" spc="-10" dirty="0">
                <a:latin typeface="Arial"/>
                <a:cs typeface="Arial"/>
              </a:rPr>
              <a:t> </a:t>
            </a:r>
            <a:r>
              <a:rPr sz="1000" spc="-5" dirty="0">
                <a:latin typeface="Arial"/>
                <a:cs typeface="Arial"/>
              </a:rPr>
              <a:t>to local name servers.</a:t>
            </a:r>
            <a:endParaRPr sz="1000" dirty="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3266931" y="716"/>
            <a:ext cx="12744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 space</a:t>
            </a:r>
            <a:endParaRPr sz="600">
              <a:latin typeface="Arial"/>
              <a:cs typeface="Arial"/>
            </a:endParaRPr>
          </a:p>
        </p:txBody>
      </p:sp>
      <p:sp>
        <p:nvSpPr>
          <p:cNvPr id="4" name="object 4"/>
          <p:cNvSpPr txBox="1"/>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Name-space</a:t>
            </a:r>
            <a:r>
              <a:rPr sz="1400" spc="-25" dirty="0">
                <a:solidFill>
                  <a:srgbClr val="3333B2"/>
                </a:solidFill>
                <a:latin typeface="Arial"/>
                <a:cs typeface="Arial"/>
              </a:rPr>
              <a:t> </a:t>
            </a:r>
            <a:r>
              <a:rPr sz="1400" spc="15" dirty="0">
                <a:solidFill>
                  <a:srgbClr val="3333B2"/>
                </a:solidFill>
                <a:latin typeface="Arial"/>
                <a:cs typeface="Arial"/>
              </a:rPr>
              <a:t>implementation</a:t>
            </a:r>
            <a:endParaRPr sz="1400">
              <a:latin typeface="Arial"/>
              <a:cs typeface="Arial"/>
            </a:endParaRPr>
          </a:p>
        </p:txBody>
      </p:sp>
      <p:sp>
        <p:nvSpPr>
          <p:cNvPr id="5" name="object 5"/>
          <p:cNvSpPr txBox="1"/>
          <p:nvPr/>
        </p:nvSpPr>
        <p:spPr>
          <a:xfrm>
            <a:off x="355840" y="378428"/>
            <a:ext cx="3918585" cy="384810"/>
          </a:xfrm>
          <a:prstGeom prst="rect">
            <a:avLst/>
          </a:prstGeom>
        </p:spPr>
        <p:txBody>
          <a:bodyPr vert="horz" wrap="square" lIns="0" tIns="22860" rIns="0" bIns="0" rtlCol="0">
            <a:spAutoFit/>
          </a:bodyPr>
          <a:lstStyle/>
          <a:p>
            <a:pPr marL="17145" marR="5080" indent="-5080">
              <a:lnSpc>
                <a:spcPts val="1390"/>
              </a:lnSpc>
              <a:spcBef>
                <a:spcPts val="180"/>
              </a:spcBef>
            </a:pPr>
            <a:r>
              <a:rPr sz="1200" spc="-10" dirty="0">
                <a:solidFill>
                  <a:srgbClr val="3333B2"/>
                </a:solidFill>
                <a:latin typeface="Arial"/>
                <a:cs typeface="Arial"/>
              </a:rPr>
              <a:t>An</a:t>
            </a:r>
            <a:r>
              <a:rPr sz="1200" spc="-5" dirty="0">
                <a:solidFill>
                  <a:srgbClr val="3333B2"/>
                </a:solidFill>
                <a:latin typeface="Arial"/>
                <a:cs typeface="Arial"/>
              </a:rPr>
              <a:t> </a:t>
            </a:r>
            <a:r>
              <a:rPr sz="1200" spc="-15" dirty="0">
                <a:solidFill>
                  <a:srgbClr val="3333B2"/>
                </a:solidFill>
                <a:latin typeface="Arial"/>
                <a:cs typeface="Arial"/>
              </a:rPr>
              <a:t>example</a:t>
            </a:r>
            <a:r>
              <a:rPr sz="1200" dirty="0">
                <a:solidFill>
                  <a:srgbClr val="3333B2"/>
                </a:solidFill>
                <a:latin typeface="Arial"/>
                <a:cs typeface="Arial"/>
              </a:rPr>
              <a:t> </a:t>
            </a:r>
            <a:r>
              <a:rPr sz="1200" spc="-5" dirty="0">
                <a:solidFill>
                  <a:srgbClr val="3333B2"/>
                </a:solidFill>
                <a:latin typeface="Arial"/>
                <a:cs typeface="Arial"/>
              </a:rPr>
              <a:t>partitioning</a:t>
            </a:r>
            <a:r>
              <a:rPr sz="1200" dirty="0">
                <a:solidFill>
                  <a:srgbClr val="3333B2"/>
                </a:solidFill>
                <a:latin typeface="Arial"/>
                <a:cs typeface="Arial"/>
              </a:rPr>
              <a:t> </a:t>
            </a:r>
            <a:r>
              <a:rPr sz="1200" spc="-10" dirty="0">
                <a:solidFill>
                  <a:srgbClr val="3333B2"/>
                </a:solidFill>
                <a:latin typeface="Arial"/>
                <a:cs typeface="Arial"/>
              </a:rPr>
              <a:t>of</a:t>
            </a:r>
            <a:r>
              <a:rPr sz="1200" dirty="0">
                <a:solidFill>
                  <a:srgbClr val="3333B2"/>
                </a:solidFill>
                <a:latin typeface="Arial"/>
                <a:cs typeface="Arial"/>
              </a:rPr>
              <a:t> </a:t>
            </a:r>
            <a:r>
              <a:rPr sz="1200" spc="-10" dirty="0">
                <a:solidFill>
                  <a:srgbClr val="3333B2"/>
                </a:solidFill>
                <a:latin typeface="Arial"/>
                <a:cs typeface="Arial"/>
              </a:rPr>
              <a:t>the</a:t>
            </a:r>
            <a:r>
              <a:rPr sz="1200" dirty="0">
                <a:solidFill>
                  <a:srgbClr val="3333B2"/>
                </a:solidFill>
                <a:latin typeface="Arial"/>
                <a:cs typeface="Arial"/>
              </a:rPr>
              <a:t> </a:t>
            </a:r>
            <a:r>
              <a:rPr sz="1200" spc="-10" dirty="0">
                <a:solidFill>
                  <a:srgbClr val="3333B2"/>
                </a:solidFill>
                <a:latin typeface="Arial"/>
                <a:cs typeface="Arial"/>
              </a:rPr>
              <a:t>DNS</a:t>
            </a:r>
            <a:r>
              <a:rPr sz="1200" spc="-5" dirty="0">
                <a:solidFill>
                  <a:srgbClr val="3333B2"/>
                </a:solidFill>
                <a:latin typeface="Arial"/>
                <a:cs typeface="Arial"/>
              </a:rPr>
              <a:t> </a:t>
            </a:r>
            <a:r>
              <a:rPr sz="1200" spc="-10" dirty="0">
                <a:solidFill>
                  <a:srgbClr val="3333B2"/>
                </a:solidFill>
                <a:latin typeface="Arial"/>
                <a:cs typeface="Arial"/>
              </a:rPr>
              <a:t>name</a:t>
            </a:r>
            <a:r>
              <a:rPr sz="1200" dirty="0">
                <a:solidFill>
                  <a:srgbClr val="3333B2"/>
                </a:solidFill>
                <a:latin typeface="Arial"/>
                <a:cs typeface="Arial"/>
              </a:rPr>
              <a:t> </a:t>
            </a:r>
            <a:r>
              <a:rPr sz="1200" spc="-15" dirty="0">
                <a:solidFill>
                  <a:srgbClr val="3333B2"/>
                </a:solidFill>
                <a:latin typeface="Arial"/>
                <a:cs typeface="Arial"/>
              </a:rPr>
              <a:t>space,</a:t>
            </a:r>
            <a:r>
              <a:rPr sz="1200" dirty="0">
                <a:solidFill>
                  <a:srgbClr val="3333B2"/>
                </a:solidFill>
                <a:latin typeface="Arial"/>
                <a:cs typeface="Arial"/>
              </a:rPr>
              <a:t> </a:t>
            </a:r>
            <a:r>
              <a:rPr sz="1200" spc="-10" dirty="0">
                <a:solidFill>
                  <a:srgbClr val="3333B2"/>
                </a:solidFill>
                <a:latin typeface="Arial"/>
                <a:cs typeface="Arial"/>
              </a:rPr>
              <a:t>including </a:t>
            </a:r>
            <a:r>
              <a:rPr sz="1200" spc="-320" dirty="0">
                <a:solidFill>
                  <a:srgbClr val="3333B2"/>
                </a:solidFill>
                <a:latin typeface="Arial"/>
                <a:cs typeface="Arial"/>
              </a:rPr>
              <a:t> </a:t>
            </a:r>
            <a:r>
              <a:rPr sz="1200" spc="-5" dirty="0">
                <a:solidFill>
                  <a:srgbClr val="3333B2"/>
                </a:solidFill>
                <a:latin typeface="Arial"/>
                <a:cs typeface="Arial"/>
              </a:rPr>
              <a:t>network</a:t>
            </a:r>
            <a:r>
              <a:rPr sz="1200" spc="-10" dirty="0">
                <a:solidFill>
                  <a:srgbClr val="3333B2"/>
                </a:solidFill>
                <a:latin typeface="Arial"/>
                <a:cs typeface="Arial"/>
              </a:rPr>
              <a:t> </a:t>
            </a:r>
            <a:r>
              <a:rPr sz="1200" spc="-5" dirty="0">
                <a:solidFill>
                  <a:srgbClr val="3333B2"/>
                </a:solidFill>
                <a:latin typeface="Arial"/>
                <a:cs typeface="Arial"/>
              </a:rPr>
              <a:t>files</a:t>
            </a:r>
            <a:endParaRPr sz="1200" dirty="0">
              <a:latin typeface="Arial"/>
              <a:cs typeface="Arial"/>
            </a:endParaRPr>
          </a:p>
        </p:txBody>
      </p:sp>
      <p:grpSp>
        <p:nvGrpSpPr>
          <p:cNvPr id="6" name="object 6"/>
          <p:cNvGrpSpPr/>
          <p:nvPr/>
        </p:nvGrpSpPr>
        <p:grpSpPr>
          <a:xfrm>
            <a:off x="944235" y="884495"/>
            <a:ext cx="2755265" cy="1858645"/>
            <a:chOff x="944235" y="884495"/>
            <a:chExt cx="2755265" cy="1858645"/>
          </a:xfrm>
        </p:grpSpPr>
        <p:sp>
          <p:nvSpPr>
            <p:cNvPr id="7" name="object 7"/>
            <p:cNvSpPr/>
            <p:nvPr/>
          </p:nvSpPr>
          <p:spPr>
            <a:xfrm>
              <a:off x="947092" y="2261829"/>
              <a:ext cx="149860" cy="149860"/>
            </a:xfrm>
            <a:custGeom>
              <a:avLst/>
              <a:gdLst/>
              <a:ahLst/>
              <a:cxnLst/>
              <a:rect l="l" t="t" r="r" b="b"/>
              <a:pathLst>
                <a:path w="149859" h="149860">
                  <a:moveTo>
                    <a:pt x="149401" y="0"/>
                  </a:moveTo>
                  <a:lnTo>
                    <a:pt x="0" y="0"/>
                  </a:lnTo>
                  <a:lnTo>
                    <a:pt x="0" y="149397"/>
                  </a:lnTo>
                  <a:lnTo>
                    <a:pt x="149401" y="149397"/>
                  </a:lnTo>
                  <a:lnTo>
                    <a:pt x="149401" y="0"/>
                  </a:lnTo>
                  <a:close/>
                </a:path>
              </a:pathLst>
            </a:custGeom>
            <a:solidFill>
              <a:srgbClr val="D1D3D4"/>
            </a:solidFill>
          </p:spPr>
          <p:txBody>
            <a:bodyPr wrap="square" lIns="0" tIns="0" rIns="0" bIns="0" rtlCol="0"/>
            <a:lstStyle/>
            <a:p>
              <a:endParaRPr/>
            </a:p>
          </p:txBody>
        </p:sp>
        <p:sp>
          <p:nvSpPr>
            <p:cNvPr id="8" name="object 8"/>
            <p:cNvSpPr/>
            <p:nvPr/>
          </p:nvSpPr>
          <p:spPr>
            <a:xfrm>
              <a:off x="947092" y="2261829"/>
              <a:ext cx="149860" cy="149860"/>
            </a:xfrm>
            <a:custGeom>
              <a:avLst/>
              <a:gdLst/>
              <a:ahLst/>
              <a:cxnLst/>
              <a:rect l="l" t="t" r="r" b="b"/>
              <a:pathLst>
                <a:path w="149859" h="149860">
                  <a:moveTo>
                    <a:pt x="0" y="149397"/>
                  </a:moveTo>
                  <a:lnTo>
                    <a:pt x="149401" y="149397"/>
                  </a:lnTo>
                  <a:lnTo>
                    <a:pt x="149401" y="0"/>
                  </a:lnTo>
                  <a:lnTo>
                    <a:pt x="0" y="0"/>
                  </a:lnTo>
                  <a:lnTo>
                    <a:pt x="0" y="149397"/>
                  </a:lnTo>
                  <a:close/>
                </a:path>
              </a:pathLst>
            </a:custGeom>
            <a:ln w="5267">
              <a:solidFill>
                <a:srgbClr val="231F20"/>
              </a:solidFill>
            </a:ln>
          </p:spPr>
          <p:txBody>
            <a:bodyPr wrap="square" lIns="0" tIns="0" rIns="0" bIns="0" rtlCol="0"/>
            <a:lstStyle/>
            <a:p>
              <a:endParaRPr/>
            </a:p>
          </p:txBody>
        </p:sp>
        <p:sp>
          <p:nvSpPr>
            <p:cNvPr id="9" name="object 9"/>
            <p:cNvSpPr/>
            <p:nvPr/>
          </p:nvSpPr>
          <p:spPr>
            <a:xfrm>
              <a:off x="1216011" y="2261829"/>
              <a:ext cx="149860" cy="149860"/>
            </a:xfrm>
            <a:custGeom>
              <a:avLst/>
              <a:gdLst/>
              <a:ahLst/>
              <a:cxnLst/>
              <a:rect l="l" t="t" r="r" b="b"/>
              <a:pathLst>
                <a:path w="149859" h="149860">
                  <a:moveTo>
                    <a:pt x="149397" y="0"/>
                  </a:moveTo>
                  <a:lnTo>
                    <a:pt x="0" y="0"/>
                  </a:lnTo>
                  <a:lnTo>
                    <a:pt x="0" y="149397"/>
                  </a:lnTo>
                  <a:lnTo>
                    <a:pt x="149397" y="149397"/>
                  </a:lnTo>
                  <a:lnTo>
                    <a:pt x="149397" y="0"/>
                  </a:lnTo>
                  <a:close/>
                </a:path>
              </a:pathLst>
            </a:custGeom>
            <a:solidFill>
              <a:srgbClr val="D1D3D4"/>
            </a:solidFill>
          </p:spPr>
          <p:txBody>
            <a:bodyPr wrap="square" lIns="0" tIns="0" rIns="0" bIns="0" rtlCol="0"/>
            <a:lstStyle/>
            <a:p>
              <a:endParaRPr/>
            </a:p>
          </p:txBody>
        </p:sp>
        <p:sp>
          <p:nvSpPr>
            <p:cNvPr id="10" name="object 10"/>
            <p:cNvSpPr/>
            <p:nvPr/>
          </p:nvSpPr>
          <p:spPr>
            <a:xfrm>
              <a:off x="1216011" y="2261829"/>
              <a:ext cx="149860" cy="149860"/>
            </a:xfrm>
            <a:custGeom>
              <a:avLst/>
              <a:gdLst/>
              <a:ahLst/>
              <a:cxnLst/>
              <a:rect l="l" t="t" r="r" b="b"/>
              <a:pathLst>
                <a:path w="149859" h="149860">
                  <a:moveTo>
                    <a:pt x="0" y="149397"/>
                  </a:moveTo>
                  <a:lnTo>
                    <a:pt x="149397" y="149397"/>
                  </a:lnTo>
                  <a:lnTo>
                    <a:pt x="149397" y="0"/>
                  </a:lnTo>
                  <a:lnTo>
                    <a:pt x="0" y="0"/>
                  </a:lnTo>
                  <a:lnTo>
                    <a:pt x="0" y="149397"/>
                  </a:lnTo>
                  <a:close/>
                </a:path>
              </a:pathLst>
            </a:custGeom>
            <a:ln w="5267">
              <a:solidFill>
                <a:srgbClr val="231F20"/>
              </a:solidFill>
            </a:ln>
          </p:spPr>
          <p:txBody>
            <a:bodyPr wrap="square" lIns="0" tIns="0" rIns="0" bIns="0" rtlCol="0"/>
            <a:lstStyle/>
            <a:p>
              <a:endParaRPr/>
            </a:p>
          </p:txBody>
        </p:sp>
        <p:sp>
          <p:nvSpPr>
            <p:cNvPr id="11" name="object 11"/>
            <p:cNvSpPr/>
            <p:nvPr/>
          </p:nvSpPr>
          <p:spPr>
            <a:xfrm>
              <a:off x="947092" y="2590503"/>
              <a:ext cx="149860" cy="149860"/>
            </a:xfrm>
            <a:custGeom>
              <a:avLst/>
              <a:gdLst/>
              <a:ahLst/>
              <a:cxnLst/>
              <a:rect l="l" t="t" r="r" b="b"/>
              <a:pathLst>
                <a:path w="149859" h="149860">
                  <a:moveTo>
                    <a:pt x="149401" y="0"/>
                  </a:moveTo>
                  <a:lnTo>
                    <a:pt x="0" y="0"/>
                  </a:lnTo>
                  <a:lnTo>
                    <a:pt x="0" y="149406"/>
                  </a:lnTo>
                  <a:lnTo>
                    <a:pt x="149401" y="149406"/>
                  </a:lnTo>
                  <a:lnTo>
                    <a:pt x="149401" y="0"/>
                  </a:lnTo>
                  <a:close/>
                </a:path>
              </a:pathLst>
            </a:custGeom>
            <a:solidFill>
              <a:srgbClr val="808285"/>
            </a:solidFill>
          </p:spPr>
          <p:txBody>
            <a:bodyPr wrap="square" lIns="0" tIns="0" rIns="0" bIns="0" rtlCol="0"/>
            <a:lstStyle/>
            <a:p>
              <a:endParaRPr/>
            </a:p>
          </p:txBody>
        </p:sp>
        <p:sp>
          <p:nvSpPr>
            <p:cNvPr id="12" name="object 12"/>
            <p:cNvSpPr/>
            <p:nvPr/>
          </p:nvSpPr>
          <p:spPr>
            <a:xfrm>
              <a:off x="947092" y="887353"/>
              <a:ext cx="2749550" cy="1852930"/>
            </a:xfrm>
            <a:custGeom>
              <a:avLst/>
              <a:gdLst/>
              <a:ahLst/>
              <a:cxnLst/>
              <a:rect l="l" t="t" r="r" b="b"/>
              <a:pathLst>
                <a:path w="2749550" h="1852930">
                  <a:moveTo>
                    <a:pt x="0" y="1852556"/>
                  </a:moveTo>
                  <a:lnTo>
                    <a:pt x="149401" y="1852556"/>
                  </a:lnTo>
                  <a:lnTo>
                    <a:pt x="149401" y="1703150"/>
                  </a:lnTo>
                  <a:lnTo>
                    <a:pt x="0" y="1703150"/>
                  </a:lnTo>
                  <a:lnTo>
                    <a:pt x="0" y="1852556"/>
                  </a:lnTo>
                  <a:close/>
                </a:path>
                <a:path w="2749550" h="1852930">
                  <a:moveTo>
                    <a:pt x="2748968" y="418309"/>
                  </a:moveTo>
                  <a:lnTo>
                    <a:pt x="1219311" y="0"/>
                  </a:lnTo>
                  <a:lnTo>
                    <a:pt x="2390405" y="418309"/>
                  </a:lnTo>
                </a:path>
                <a:path w="2749550" h="1852930">
                  <a:moveTo>
                    <a:pt x="2031843" y="418309"/>
                  </a:moveTo>
                  <a:lnTo>
                    <a:pt x="1219311" y="0"/>
                  </a:lnTo>
                </a:path>
                <a:path w="2749550" h="1852930">
                  <a:moveTo>
                    <a:pt x="1673280" y="418309"/>
                  </a:moveTo>
                  <a:lnTo>
                    <a:pt x="1219311" y="0"/>
                  </a:lnTo>
                </a:path>
                <a:path w="2749550" h="1852930">
                  <a:moveTo>
                    <a:pt x="1389421" y="418309"/>
                  </a:moveTo>
                  <a:lnTo>
                    <a:pt x="1225077" y="0"/>
                  </a:lnTo>
                  <a:lnTo>
                    <a:pt x="1030859" y="418309"/>
                  </a:lnTo>
                </a:path>
              </a:pathLst>
            </a:custGeom>
            <a:ln w="5267">
              <a:solidFill>
                <a:srgbClr val="231F20"/>
              </a:solidFill>
            </a:ln>
          </p:spPr>
          <p:txBody>
            <a:bodyPr wrap="square" lIns="0" tIns="0" rIns="0" bIns="0" rtlCol="0"/>
            <a:lstStyle/>
            <a:p>
              <a:endParaRPr/>
            </a:p>
          </p:txBody>
        </p:sp>
        <p:sp>
          <p:nvSpPr>
            <p:cNvPr id="13" name="object 13"/>
            <p:cNvSpPr/>
            <p:nvPr/>
          </p:nvSpPr>
          <p:spPr>
            <a:xfrm>
              <a:off x="2231937" y="1126385"/>
              <a:ext cx="120014" cy="60325"/>
            </a:xfrm>
            <a:custGeom>
              <a:avLst/>
              <a:gdLst/>
              <a:ahLst/>
              <a:cxnLst/>
              <a:rect l="l" t="t" r="r" b="b"/>
              <a:pathLst>
                <a:path w="120014" h="60325">
                  <a:moveTo>
                    <a:pt x="119517" y="0"/>
                  </a:moveTo>
                  <a:lnTo>
                    <a:pt x="0" y="0"/>
                  </a:lnTo>
                  <a:lnTo>
                    <a:pt x="0" y="59762"/>
                  </a:lnTo>
                  <a:lnTo>
                    <a:pt x="119517" y="59762"/>
                  </a:lnTo>
                  <a:lnTo>
                    <a:pt x="119517" y="0"/>
                  </a:lnTo>
                  <a:close/>
                </a:path>
              </a:pathLst>
            </a:custGeom>
            <a:solidFill>
              <a:srgbClr val="FFFFFF"/>
            </a:solidFill>
          </p:spPr>
          <p:txBody>
            <a:bodyPr wrap="square" lIns="0" tIns="0" rIns="0" bIns="0" rtlCol="0"/>
            <a:lstStyle/>
            <a:p>
              <a:endParaRPr/>
            </a:p>
          </p:txBody>
        </p:sp>
        <p:sp>
          <p:nvSpPr>
            <p:cNvPr id="14" name="object 14"/>
            <p:cNvSpPr/>
            <p:nvPr/>
          </p:nvSpPr>
          <p:spPr>
            <a:xfrm>
              <a:off x="2231937" y="1126385"/>
              <a:ext cx="120014" cy="60325"/>
            </a:xfrm>
            <a:custGeom>
              <a:avLst/>
              <a:gdLst/>
              <a:ahLst/>
              <a:cxnLst/>
              <a:rect l="l" t="t" r="r" b="b"/>
              <a:pathLst>
                <a:path w="120014" h="60325">
                  <a:moveTo>
                    <a:pt x="0" y="59762"/>
                  </a:moveTo>
                  <a:lnTo>
                    <a:pt x="119517" y="59762"/>
                  </a:lnTo>
                  <a:lnTo>
                    <a:pt x="119517" y="0"/>
                  </a:lnTo>
                  <a:lnTo>
                    <a:pt x="0" y="0"/>
                  </a:lnTo>
                  <a:lnTo>
                    <a:pt x="0" y="59762"/>
                  </a:lnTo>
                  <a:close/>
                </a:path>
              </a:pathLst>
            </a:custGeom>
            <a:ln w="5267">
              <a:solidFill>
                <a:srgbClr val="FFFFFF"/>
              </a:solidFill>
            </a:ln>
          </p:spPr>
          <p:txBody>
            <a:bodyPr wrap="square" lIns="0" tIns="0" rIns="0" bIns="0" rtlCol="0"/>
            <a:lstStyle/>
            <a:p>
              <a:endParaRPr/>
            </a:p>
          </p:txBody>
        </p:sp>
        <p:sp>
          <p:nvSpPr>
            <p:cNvPr id="15" name="object 15"/>
            <p:cNvSpPr/>
            <p:nvPr/>
          </p:nvSpPr>
          <p:spPr>
            <a:xfrm>
              <a:off x="2470975" y="1126388"/>
              <a:ext cx="1165860" cy="180340"/>
            </a:xfrm>
            <a:custGeom>
              <a:avLst/>
              <a:gdLst/>
              <a:ahLst/>
              <a:cxnLst/>
              <a:rect l="l" t="t" r="r" b="b"/>
              <a:pathLst>
                <a:path w="1165860" h="180340">
                  <a:moveTo>
                    <a:pt x="119519" y="0"/>
                  </a:moveTo>
                  <a:lnTo>
                    <a:pt x="0" y="0"/>
                  </a:lnTo>
                  <a:lnTo>
                    <a:pt x="0" y="59766"/>
                  </a:lnTo>
                  <a:lnTo>
                    <a:pt x="119519" y="59766"/>
                  </a:lnTo>
                  <a:lnTo>
                    <a:pt x="119519" y="0"/>
                  </a:lnTo>
                  <a:close/>
                </a:path>
                <a:path w="1165860" h="180340">
                  <a:moveTo>
                    <a:pt x="388429" y="59766"/>
                  </a:moveTo>
                  <a:lnTo>
                    <a:pt x="268909" y="59766"/>
                  </a:lnTo>
                  <a:lnTo>
                    <a:pt x="268909" y="119519"/>
                  </a:lnTo>
                  <a:lnTo>
                    <a:pt x="388429" y="119519"/>
                  </a:lnTo>
                  <a:lnTo>
                    <a:pt x="388429" y="59766"/>
                  </a:lnTo>
                  <a:close/>
                </a:path>
                <a:path w="1165860" h="180340">
                  <a:moveTo>
                    <a:pt x="657352" y="59766"/>
                  </a:moveTo>
                  <a:lnTo>
                    <a:pt x="537832" y="59766"/>
                  </a:lnTo>
                  <a:lnTo>
                    <a:pt x="537832" y="119519"/>
                  </a:lnTo>
                  <a:lnTo>
                    <a:pt x="657352" y="119519"/>
                  </a:lnTo>
                  <a:lnTo>
                    <a:pt x="657352" y="59766"/>
                  </a:lnTo>
                  <a:close/>
                </a:path>
                <a:path w="1165860" h="180340">
                  <a:moveTo>
                    <a:pt x="1165313" y="120129"/>
                  </a:moveTo>
                  <a:lnTo>
                    <a:pt x="1045794" y="120129"/>
                  </a:lnTo>
                  <a:lnTo>
                    <a:pt x="1045794" y="179895"/>
                  </a:lnTo>
                  <a:lnTo>
                    <a:pt x="1165313" y="179895"/>
                  </a:lnTo>
                  <a:lnTo>
                    <a:pt x="1165313" y="120129"/>
                  </a:lnTo>
                  <a:close/>
                </a:path>
              </a:pathLst>
            </a:custGeom>
            <a:solidFill>
              <a:srgbClr val="FFFFFF"/>
            </a:solidFill>
          </p:spPr>
          <p:txBody>
            <a:bodyPr wrap="square" lIns="0" tIns="0" rIns="0" bIns="0" rtlCol="0"/>
            <a:lstStyle/>
            <a:p>
              <a:endParaRPr/>
            </a:p>
          </p:txBody>
        </p:sp>
        <p:sp>
          <p:nvSpPr>
            <p:cNvPr id="16" name="object 16"/>
            <p:cNvSpPr/>
            <p:nvPr/>
          </p:nvSpPr>
          <p:spPr>
            <a:xfrm>
              <a:off x="976974" y="899780"/>
              <a:ext cx="1154430" cy="406400"/>
            </a:xfrm>
            <a:custGeom>
              <a:avLst/>
              <a:gdLst/>
              <a:ahLst/>
              <a:cxnLst/>
              <a:rect l="l" t="t" r="r" b="b"/>
              <a:pathLst>
                <a:path w="1154430" h="406400">
                  <a:moveTo>
                    <a:pt x="0" y="405881"/>
                  </a:moveTo>
                  <a:lnTo>
                    <a:pt x="1154180" y="0"/>
                  </a:lnTo>
                </a:path>
              </a:pathLst>
            </a:custGeom>
            <a:ln w="5267">
              <a:solidFill>
                <a:srgbClr val="231F20"/>
              </a:solidFill>
            </a:ln>
          </p:spPr>
          <p:txBody>
            <a:bodyPr wrap="square" lIns="0" tIns="0" rIns="0" bIns="0" rtlCol="0"/>
            <a:lstStyle/>
            <a:p>
              <a:endParaRPr/>
            </a:p>
          </p:txBody>
        </p:sp>
        <p:sp>
          <p:nvSpPr>
            <p:cNvPr id="17" name="object 17"/>
            <p:cNvSpPr/>
            <p:nvPr/>
          </p:nvSpPr>
          <p:spPr>
            <a:xfrm>
              <a:off x="1124149" y="1173308"/>
              <a:ext cx="151765" cy="73025"/>
            </a:xfrm>
            <a:custGeom>
              <a:avLst/>
              <a:gdLst/>
              <a:ahLst/>
              <a:cxnLst/>
              <a:rect l="l" t="t" r="r" b="b"/>
              <a:pathLst>
                <a:path w="151765" h="73025">
                  <a:moveTo>
                    <a:pt x="151625" y="0"/>
                  </a:moveTo>
                  <a:lnTo>
                    <a:pt x="0" y="0"/>
                  </a:lnTo>
                  <a:lnTo>
                    <a:pt x="0" y="72597"/>
                  </a:lnTo>
                  <a:lnTo>
                    <a:pt x="151625" y="72597"/>
                  </a:lnTo>
                  <a:lnTo>
                    <a:pt x="151625" y="0"/>
                  </a:lnTo>
                  <a:close/>
                </a:path>
              </a:pathLst>
            </a:custGeom>
            <a:solidFill>
              <a:srgbClr val="FFFFFF"/>
            </a:solidFill>
          </p:spPr>
          <p:txBody>
            <a:bodyPr wrap="square" lIns="0" tIns="0" rIns="0" bIns="0" rtlCol="0"/>
            <a:lstStyle/>
            <a:p>
              <a:endParaRPr/>
            </a:p>
          </p:txBody>
        </p:sp>
        <p:sp>
          <p:nvSpPr>
            <p:cNvPr id="18" name="object 18"/>
            <p:cNvSpPr/>
            <p:nvPr/>
          </p:nvSpPr>
          <p:spPr>
            <a:xfrm>
              <a:off x="1335533" y="887353"/>
              <a:ext cx="831215" cy="418465"/>
            </a:xfrm>
            <a:custGeom>
              <a:avLst/>
              <a:gdLst/>
              <a:ahLst/>
              <a:cxnLst/>
              <a:rect l="l" t="t" r="r" b="b"/>
              <a:pathLst>
                <a:path w="831214" h="418465">
                  <a:moveTo>
                    <a:pt x="0" y="418309"/>
                  </a:moveTo>
                  <a:lnTo>
                    <a:pt x="830871" y="0"/>
                  </a:lnTo>
                </a:path>
                <a:path w="831214" h="418465">
                  <a:moveTo>
                    <a:pt x="358560" y="418309"/>
                  </a:moveTo>
                  <a:lnTo>
                    <a:pt x="830871" y="0"/>
                  </a:lnTo>
                </a:path>
              </a:pathLst>
            </a:custGeom>
            <a:ln w="5267">
              <a:solidFill>
                <a:srgbClr val="231F20"/>
              </a:solidFill>
            </a:ln>
          </p:spPr>
          <p:txBody>
            <a:bodyPr wrap="square" lIns="0" tIns="0" rIns="0" bIns="0" rtlCol="0"/>
            <a:lstStyle/>
            <a:p>
              <a:endParaRPr/>
            </a:p>
          </p:txBody>
        </p:sp>
      </p:grpSp>
      <p:sp>
        <p:nvSpPr>
          <p:cNvPr id="19" name="object 19"/>
          <p:cNvSpPr txBox="1"/>
          <p:nvPr/>
        </p:nvSpPr>
        <p:spPr>
          <a:xfrm>
            <a:off x="2756955" y="1149152"/>
            <a:ext cx="914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jp</a:t>
            </a:r>
            <a:endParaRPr sz="650">
              <a:latin typeface="Arial"/>
              <a:cs typeface="Arial"/>
            </a:endParaRPr>
          </a:p>
        </p:txBody>
      </p:sp>
      <p:sp>
        <p:nvSpPr>
          <p:cNvPr id="20" name="object 20"/>
          <p:cNvSpPr txBox="1"/>
          <p:nvPr/>
        </p:nvSpPr>
        <p:spPr>
          <a:xfrm>
            <a:off x="2996026" y="1149152"/>
            <a:ext cx="1149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us</a:t>
            </a:r>
            <a:endParaRPr sz="650">
              <a:latin typeface="Arial"/>
              <a:cs typeface="Arial"/>
            </a:endParaRPr>
          </a:p>
        </p:txBody>
      </p:sp>
      <p:sp>
        <p:nvSpPr>
          <p:cNvPr id="21" name="object 21"/>
          <p:cNvSpPr txBox="1"/>
          <p:nvPr/>
        </p:nvSpPr>
        <p:spPr>
          <a:xfrm>
            <a:off x="3534123" y="1209112"/>
            <a:ext cx="914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nl</a:t>
            </a:r>
            <a:endParaRPr sz="650">
              <a:latin typeface="Arial"/>
              <a:cs typeface="Arial"/>
            </a:endParaRPr>
          </a:p>
        </p:txBody>
      </p:sp>
      <p:sp>
        <p:nvSpPr>
          <p:cNvPr id="22" name="object 22"/>
          <p:cNvSpPr txBox="1"/>
          <p:nvPr/>
        </p:nvSpPr>
        <p:spPr>
          <a:xfrm>
            <a:off x="926838" y="1498981"/>
            <a:ext cx="2552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oracle</a:t>
            </a:r>
            <a:endParaRPr sz="650">
              <a:latin typeface="Arial"/>
              <a:cs typeface="Arial"/>
            </a:endParaRPr>
          </a:p>
        </p:txBody>
      </p:sp>
      <p:sp>
        <p:nvSpPr>
          <p:cNvPr id="23" name="object 23"/>
          <p:cNvSpPr txBox="1"/>
          <p:nvPr/>
        </p:nvSpPr>
        <p:spPr>
          <a:xfrm>
            <a:off x="934711" y="1776049"/>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eng</a:t>
            </a:r>
            <a:endParaRPr sz="650">
              <a:latin typeface="Arial"/>
              <a:cs typeface="Arial"/>
            </a:endParaRPr>
          </a:p>
        </p:txBody>
      </p:sp>
      <p:sp>
        <p:nvSpPr>
          <p:cNvPr id="24" name="object 24"/>
          <p:cNvSpPr txBox="1"/>
          <p:nvPr/>
        </p:nvSpPr>
        <p:spPr>
          <a:xfrm>
            <a:off x="1309731" y="1498981"/>
            <a:ext cx="1803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yale</a:t>
            </a:r>
            <a:endParaRPr sz="650">
              <a:latin typeface="Arial"/>
              <a:cs typeface="Arial"/>
            </a:endParaRPr>
          </a:p>
        </p:txBody>
      </p:sp>
      <p:sp>
        <p:nvSpPr>
          <p:cNvPr id="25" name="object 25"/>
          <p:cNvSpPr txBox="1"/>
          <p:nvPr/>
        </p:nvSpPr>
        <p:spPr>
          <a:xfrm>
            <a:off x="934710" y="2135032"/>
            <a:ext cx="914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ai</a:t>
            </a:r>
            <a:endParaRPr sz="650">
              <a:latin typeface="Arial"/>
              <a:cs typeface="Arial"/>
            </a:endParaRPr>
          </a:p>
        </p:txBody>
      </p:sp>
      <p:sp>
        <p:nvSpPr>
          <p:cNvPr id="26" name="object 26"/>
          <p:cNvSpPr txBox="1"/>
          <p:nvPr/>
        </p:nvSpPr>
        <p:spPr>
          <a:xfrm>
            <a:off x="1292935" y="2135032"/>
            <a:ext cx="2038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linda</a:t>
            </a:r>
            <a:endParaRPr sz="650">
              <a:latin typeface="Arial"/>
              <a:cs typeface="Arial"/>
            </a:endParaRPr>
          </a:p>
        </p:txBody>
      </p:sp>
      <p:sp>
        <p:nvSpPr>
          <p:cNvPr id="27" name="object 27"/>
          <p:cNvSpPr txBox="1"/>
          <p:nvPr/>
        </p:nvSpPr>
        <p:spPr>
          <a:xfrm>
            <a:off x="1053864" y="2463660"/>
            <a:ext cx="21780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robot</a:t>
            </a:r>
            <a:endParaRPr sz="650">
              <a:latin typeface="Arial"/>
              <a:cs typeface="Arial"/>
            </a:endParaRPr>
          </a:p>
        </p:txBody>
      </p:sp>
      <p:sp>
        <p:nvSpPr>
          <p:cNvPr id="28" name="object 28"/>
          <p:cNvSpPr txBox="1"/>
          <p:nvPr/>
        </p:nvSpPr>
        <p:spPr>
          <a:xfrm>
            <a:off x="1980545" y="1507378"/>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acm</a:t>
            </a:r>
            <a:endParaRPr sz="650">
              <a:latin typeface="Arial"/>
              <a:cs typeface="Arial"/>
            </a:endParaRPr>
          </a:p>
        </p:txBody>
      </p:sp>
      <p:sp>
        <p:nvSpPr>
          <p:cNvPr id="29" name="object 29"/>
          <p:cNvSpPr txBox="1"/>
          <p:nvPr/>
        </p:nvSpPr>
        <p:spPr>
          <a:xfrm>
            <a:off x="1860629" y="1806405"/>
            <a:ext cx="17589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jack</a:t>
            </a:r>
            <a:endParaRPr sz="650">
              <a:latin typeface="Arial"/>
              <a:cs typeface="Arial"/>
            </a:endParaRPr>
          </a:p>
        </p:txBody>
      </p:sp>
      <p:sp>
        <p:nvSpPr>
          <p:cNvPr id="30" name="object 30"/>
          <p:cNvSpPr txBox="1"/>
          <p:nvPr/>
        </p:nvSpPr>
        <p:spPr>
          <a:xfrm>
            <a:off x="2338771" y="1806405"/>
            <a:ext cx="100330"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Arial"/>
                <a:cs typeface="Arial"/>
              </a:rPr>
              <a:t>jill</a:t>
            </a:r>
            <a:endParaRPr sz="650">
              <a:latin typeface="Arial"/>
              <a:cs typeface="Arial"/>
            </a:endParaRPr>
          </a:p>
        </p:txBody>
      </p:sp>
      <p:sp>
        <p:nvSpPr>
          <p:cNvPr id="31" name="object 31"/>
          <p:cNvSpPr txBox="1"/>
          <p:nvPr/>
        </p:nvSpPr>
        <p:spPr>
          <a:xfrm>
            <a:off x="2696995" y="1806405"/>
            <a:ext cx="1803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keio</a:t>
            </a:r>
            <a:endParaRPr sz="650">
              <a:latin typeface="Arial"/>
              <a:cs typeface="Arial"/>
            </a:endParaRPr>
          </a:p>
        </p:txBody>
      </p:sp>
      <p:sp>
        <p:nvSpPr>
          <p:cNvPr id="32" name="object 32"/>
          <p:cNvSpPr txBox="1"/>
          <p:nvPr/>
        </p:nvSpPr>
        <p:spPr>
          <a:xfrm>
            <a:off x="2756951" y="2075077"/>
            <a:ext cx="1098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cs</a:t>
            </a:r>
            <a:endParaRPr sz="650">
              <a:latin typeface="Arial"/>
              <a:cs typeface="Arial"/>
            </a:endParaRPr>
          </a:p>
        </p:txBody>
      </p:sp>
      <p:sp>
        <p:nvSpPr>
          <p:cNvPr id="33" name="object 33"/>
          <p:cNvSpPr txBox="1"/>
          <p:nvPr/>
        </p:nvSpPr>
        <p:spPr>
          <a:xfrm>
            <a:off x="4012258" y="1806405"/>
            <a:ext cx="10985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cs</a:t>
            </a:r>
            <a:endParaRPr sz="650">
              <a:latin typeface="Arial"/>
              <a:cs typeface="Arial"/>
            </a:endParaRPr>
          </a:p>
        </p:txBody>
      </p:sp>
      <p:sp>
        <p:nvSpPr>
          <p:cNvPr id="34" name="object 34"/>
          <p:cNvSpPr txBox="1"/>
          <p:nvPr/>
        </p:nvSpPr>
        <p:spPr>
          <a:xfrm>
            <a:off x="2667395" y="2343745"/>
            <a:ext cx="20827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pc24</a:t>
            </a:r>
            <a:endParaRPr sz="650">
              <a:latin typeface="Arial"/>
              <a:cs typeface="Arial"/>
            </a:endParaRPr>
          </a:p>
        </p:txBody>
      </p:sp>
      <p:sp>
        <p:nvSpPr>
          <p:cNvPr id="35" name="object 35"/>
          <p:cNvSpPr txBox="1"/>
          <p:nvPr/>
        </p:nvSpPr>
        <p:spPr>
          <a:xfrm>
            <a:off x="3218192" y="1507379"/>
            <a:ext cx="102235" cy="127000"/>
          </a:xfrm>
          <a:prstGeom prst="rect">
            <a:avLst/>
          </a:prstGeom>
        </p:spPr>
        <p:txBody>
          <a:bodyPr vert="horz" wrap="square" lIns="0" tIns="13970" rIns="0" bIns="0" rtlCol="0">
            <a:spAutoFit/>
          </a:bodyPr>
          <a:lstStyle/>
          <a:p>
            <a:pPr>
              <a:lnSpc>
                <a:spcPct val="100000"/>
              </a:lnSpc>
              <a:spcBef>
                <a:spcPts val="110"/>
              </a:spcBef>
            </a:pPr>
            <a:r>
              <a:rPr sz="650" spc="5" dirty="0">
                <a:solidFill>
                  <a:srgbClr val="231F20"/>
                </a:solidFill>
                <a:latin typeface="Arial"/>
                <a:cs typeface="Arial"/>
              </a:rPr>
              <a:t>co</a:t>
            </a:r>
            <a:endParaRPr sz="650">
              <a:latin typeface="Arial"/>
              <a:cs typeface="Arial"/>
            </a:endParaRPr>
          </a:p>
        </p:txBody>
      </p:sp>
      <p:sp>
        <p:nvSpPr>
          <p:cNvPr id="36" name="object 36"/>
          <p:cNvSpPr txBox="1"/>
          <p:nvPr/>
        </p:nvSpPr>
        <p:spPr>
          <a:xfrm>
            <a:off x="3264690" y="1806406"/>
            <a:ext cx="1619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nec</a:t>
            </a:r>
            <a:endParaRPr sz="650">
              <a:latin typeface="Arial"/>
              <a:cs typeface="Arial"/>
            </a:endParaRPr>
          </a:p>
        </p:txBody>
      </p:sp>
      <p:sp>
        <p:nvSpPr>
          <p:cNvPr id="37" name="object 37"/>
          <p:cNvSpPr txBox="1"/>
          <p:nvPr/>
        </p:nvSpPr>
        <p:spPr>
          <a:xfrm>
            <a:off x="3295049" y="2104675"/>
            <a:ext cx="1289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csl</a:t>
            </a:r>
            <a:endParaRPr sz="650">
              <a:latin typeface="Arial"/>
              <a:cs typeface="Arial"/>
            </a:endParaRPr>
          </a:p>
        </p:txBody>
      </p:sp>
      <p:sp>
        <p:nvSpPr>
          <p:cNvPr id="38" name="object 38"/>
          <p:cNvSpPr txBox="1"/>
          <p:nvPr/>
        </p:nvSpPr>
        <p:spPr>
          <a:xfrm>
            <a:off x="3474160" y="1507379"/>
            <a:ext cx="1619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uva</a:t>
            </a:r>
            <a:endParaRPr sz="650">
              <a:latin typeface="Arial"/>
              <a:cs typeface="Arial"/>
            </a:endParaRPr>
          </a:p>
        </p:txBody>
      </p:sp>
      <p:sp>
        <p:nvSpPr>
          <p:cNvPr id="39" name="object 39"/>
          <p:cNvSpPr txBox="1"/>
          <p:nvPr/>
        </p:nvSpPr>
        <p:spPr>
          <a:xfrm>
            <a:off x="4012257" y="1507379"/>
            <a:ext cx="1149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vu</a:t>
            </a:r>
            <a:endParaRPr sz="650">
              <a:latin typeface="Arial"/>
              <a:cs typeface="Arial"/>
            </a:endParaRPr>
          </a:p>
        </p:txBody>
      </p:sp>
      <p:sp>
        <p:nvSpPr>
          <p:cNvPr id="40" name="object 40"/>
          <p:cNvSpPr txBox="1"/>
          <p:nvPr/>
        </p:nvSpPr>
        <p:spPr>
          <a:xfrm>
            <a:off x="1232974" y="1776051"/>
            <a:ext cx="3759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cs    </a:t>
            </a:r>
            <a:r>
              <a:rPr sz="650" spc="80" dirty="0">
                <a:solidFill>
                  <a:srgbClr val="231F20"/>
                </a:solidFill>
                <a:latin typeface="Arial"/>
                <a:cs typeface="Arial"/>
              </a:rPr>
              <a:t> </a:t>
            </a:r>
            <a:r>
              <a:rPr sz="650" spc="5" dirty="0">
                <a:solidFill>
                  <a:srgbClr val="231F20"/>
                </a:solidFill>
                <a:latin typeface="Arial"/>
                <a:cs typeface="Arial"/>
              </a:rPr>
              <a:t>eng</a:t>
            </a:r>
            <a:endParaRPr sz="650">
              <a:latin typeface="Arial"/>
              <a:cs typeface="Arial"/>
            </a:endParaRPr>
          </a:p>
        </p:txBody>
      </p:sp>
      <p:sp>
        <p:nvSpPr>
          <p:cNvPr id="41" name="object 41"/>
          <p:cNvSpPr txBox="1"/>
          <p:nvPr/>
        </p:nvSpPr>
        <p:spPr>
          <a:xfrm>
            <a:off x="3713229" y="2045477"/>
            <a:ext cx="507365" cy="127000"/>
          </a:xfrm>
          <a:prstGeom prst="rect">
            <a:avLst/>
          </a:prstGeom>
        </p:spPr>
        <p:txBody>
          <a:bodyPr vert="horz" wrap="square" lIns="0" tIns="13970" rIns="0" bIns="0" rtlCol="0">
            <a:spAutoFit/>
          </a:bodyPr>
          <a:lstStyle/>
          <a:p>
            <a:pPr marL="12700">
              <a:lnSpc>
                <a:spcPct val="100000"/>
              </a:lnSpc>
              <a:spcBef>
                <a:spcPts val="110"/>
              </a:spcBef>
              <a:tabLst>
                <a:tab pos="311150" algn="l"/>
              </a:tabLst>
            </a:pPr>
            <a:r>
              <a:rPr sz="650" spc="5" dirty="0">
                <a:solidFill>
                  <a:srgbClr val="231F20"/>
                </a:solidFill>
                <a:latin typeface="Arial"/>
                <a:cs typeface="Arial"/>
              </a:rPr>
              <a:t>ftp	</a:t>
            </a:r>
            <a:r>
              <a:rPr sz="650" spc="10" dirty="0">
                <a:solidFill>
                  <a:srgbClr val="231F20"/>
                </a:solidFill>
                <a:latin typeface="Arial"/>
                <a:cs typeface="Arial"/>
              </a:rPr>
              <a:t>www</a:t>
            </a:r>
            <a:endParaRPr sz="650">
              <a:latin typeface="Arial"/>
              <a:cs typeface="Arial"/>
            </a:endParaRPr>
          </a:p>
        </p:txBody>
      </p:sp>
      <p:sp>
        <p:nvSpPr>
          <p:cNvPr id="42" name="object 42"/>
          <p:cNvSpPr txBox="1"/>
          <p:nvPr/>
        </p:nvSpPr>
        <p:spPr>
          <a:xfrm>
            <a:off x="2488283" y="1507378"/>
            <a:ext cx="414020" cy="127000"/>
          </a:xfrm>
          <a:prstGeom prst="rect">
            <a:avLst/>
          </a:prstGeom>
        </p:spPr>
        <p:txBody>
          <a:bodyPr vert="horz" wrap="square" lIns="0" tIns="13970" rIns="0" bIns="0" rtlCol="0">
            <a:spAutoFit/>
          </a:bodyPr>
          <a:lstStyle/>
          <a:p>
            <a:pPr marL="12700">
              <a:lnSpc>
                <a:spcPct val="100000"/>
              </a:lnSpc>
              <a:spcBef>
                <a:spcPts val="110"/>
              </a:spcBef>
              <a:tabLst>
                <a:tab pos="311150" algn="l"/>
              </a:tabLst>
            </a:pPr>
            <a:r>
              <a:rPr sz="650" spc="5" dirty="0">
                <a:solidFill>
                  <a:srgbClr val="231F20"/>
                </a:solidFill>
                <a:latin typeface="Arial"/>
                <a:cs typeface="Arial"/>
              </a:rPr>
              <a:t>ieee	ac</a:t>
            </a:r>
            <a:endParaRPr sz="650">
              <a:latin typeface="Arial"/>
              <a:cs typeface="Arial"/>
            </a:endParaRPr>
          </a:p>
        </p:txBody>
      </p:sp>
      <p:grpSp>
        <p:nvGrpSpPr>
          <p:cNvPr id="43" name="object 43"/>
          <p:cNvGrpSpPr/>
          <p:nvPr/>
        </p:nvGrpSpPr>
        <p:grpSpPr>
          <a:xfrm>
            <a:off x="1395296" y="1186150"/>
            <a:ext cx="2483485" cy="2065020"/>
            <a:chOff x="1395296" y="1186150"/>
            <a:chExt cx="2483485" cy="2065020"/>
          </a:xfrm>
        </p:grpSpPr>
        <p:sp>
          <p:nvSpPr>
            <p:cNvPr id="44" name="object 44"/>
            <p:cNvSpPr/>
            <p:nvPr/>
          </p:nvSpPr>
          <p:spPr>
            <a:xfrm>
              <a:off x="1395296" y="1186150"/>
              <a:ext cx="149860" cy="60325"/>
            </a:xfrm>
            <a:custGeom>
              <a:avLst/>
              <a:gdLst/>
              <a:ahLst/>
              <a:cxnLst/>
              <a:rect l="l" t="t" r="r" b="b"/>
              <a:pathLst>
                <a:path w="149859" h="60325">
                  <a:moveTo>
                    <a:pt x="149394" y="0"/>
                  </a:moveTo>
                  <a:lnTo>
                    <a:pt x="0" y="0"/>
                  </a:lnTo>
                  <a:lnTo>
                    <a:pt x="0" y="59754"/>
                  </a:lnTo>
                  <a:lnTo>
                    <a:pt x="149394" y="59754"/>
                  </a:lnTo>
                  <a:lnTo>
                    <a:pt x="149394" y="0"/>
                  </a:lnTo>
                  <a:close/>
                </a:path>
              </a:pathLst>
            </a:custGeom>
            <a:solidFill>
              <a:srgbClr val="FFFFFF"/>
            </a:solidFill>
          </p:spPr>
          <p:txBody>
            <a:bodyPr wrap="square" lIns="0" tIns="0" rIns="0" bIns="0" rtlCol="0"/>
            <a:lstStyle/>
            <a:p>
              <a:endParaRPr/>
            </a:p>
          </p:txBody>
        </p:sp>
        <p:sp>
          <p:nvSpPr>
            <p:cNvPr id="45" name="object 45"/>
            <p:cNvSpPr/>
            <p:nvPr/>
          </p:nvSpPr>
          <p:spPr>
            <a:xfrm>
              <a:off x="3725934" y="3098467"/>
              <a:ext cx="149860" cy="149860"/>
            </a:xfrm>
            <a:custGeom>
              <a:avLst/>
              <a:gdLst/>
              <a:ahLst/>
              <a:cxnLst/>
              <a:rect l="l" t="t" r="r" b="b"/>
              <a:pathLst>
                <a:path w="149860" h="149860">
                  <a:moveTo>
                    <a:pt x="74693" y="0"/>
                  </a:moveTo>
                  <a:lnTo>
                    <a:pt x="45666" y="5886"/>
                  </a:lnTo>
                  <a:lnTo>
                    <a:pt x="21918" y="21921"/>
                  </a:lnTo>
                  <a:lnTo>
                    <a:pt x="5885" y="45671"/>
                  </a:lnTo>
                  <a:lnTo>
                    <a:pt x="0" y="74700"/>
                  </a:lnTo>
                  <a:lnTo>
                    <a:pt x="5885" y="103731"/>
                  </a:lnTo>
                  <a:lnTo>
                    <a:pt x="21918" y="127479"/>
                  </a:lnTo>
                  <a:lnTo>
                    <a:pt x="45666" y="143513"/>
                  </a:lnTo>
                  <a:lnTo>
                    <a:pt x="74693" y="149398"/>
                  </a:lnTo>
                  <a:lnTo>
                    <a:pt x="103727" y="143513"/>
                  </a:lnTo>
                  <a:lnTo>
                    <a:pt x="127477" y="127479"/>
                  </a:lnTo>
                  <a:lnTo>
                    <a:pt x="143512" y="103731"/>
                  </a:lnTo>
                  <a:lnTo>
                    <a:pt x="149397" y="74700"/>
                  </a:lnTo>
                  <a:lnTo>
                    <a:pt x="143512" y="45671"/>
                  </a:lnTo>
                  <a:lnTo>
                    <a:pt x="127478" y="21921"/>
                  </a:lnTo>
                  <a:lnTo>
                    <a:pt x="103731" y="5886"/>
                  </a:lnTo>
                  <a:lnTo>
                    <a:pt x="74704" y="0"/>
                  </a:lnTo>
                  <a:close/>
                </a:path>
              </a:pathLst>
            </a:custGeom>
            <a:solidFill>
              <a:srgbClr val="808285"/>
            </a:solidFill>
          </p:spPr>
          <p:txBody>
            <a:bodyPr wrap="square" lIns="0" tIns="0" rIns="0" bIns="0" rtlCol="0"/>
            <a:lstStyle/>
            <a:p>
              <a:endParaRPr/>
            </a:p>
          </p:txBody>
        </p:sp>
        <p:sp>
          <p:nvSpPr>
            <p:cNvPr id="46" name="object 46"/>
            <p:cNvSpPr/>
            <p:nvPr/>
          </p:nvSpPr>
          <p:spPr>
            <a:xfrm>
              <a:off x="3725934" y="3098467"/>
              <a:ext cx="149860" cy="149860"/>
            </a:xfrm>
            <a:custGeom>
              <a:avLst/>
              <a:gdLst/>
              <a:ahLst/>
              <a:cxnLst/>
              <a:rect l="l" t="t" r="r" b="b"/>
              <a:pathLst>
                <a:path w="149860" h="149860">
                  <a:moveTo>
                    <a:pt x="74704" y="0"/>
                  </a:moveTo>
                  <a:lnTo>
                    <a:pt x="103731" y="5886"/>
                  </a:lnTo>
                  <a:lnTo>
                    <a:pt x="127478" y="21921"/>
                  </a:lnTo>
                  <a:lnTo>
                    <a:pt x="143512" y="45671"/>
                  </a:lnTo>
                  <a:lnTo>
                    <a:pt x="149397" y="74700"/>
                  </a:lnTo>
                  <a:lnTo>
                    <a:pt x="143512" y="103731"/>
                  </a:lnTo>
                  <a:lnTo>
                    <a:pt x="127477" y="127479"/>
                  </a:lnTo>
                  <a:lnTo>
                    <a:pt x="103727" y="143513"/>
                  </a:lnTo>
                  <a:lnTo>
                    <a:pt x="74693" y="149398"/>
                  </a:lnTo>
                  <a:lnTo>
                    <a:pt x="45666" y="143513"/>
                  </a:lnTo>
                  <a:lnTo>
                    <a:pt x="21918" y="127479"/>
                  </a:lnTo>
                  <a:lnTo>
                    <a:pt x="5885" y="103731"/>
                  </a:lnTo>
                  <a:lnTo>
                    <a:pt x="0" y="74700"/>
                  </a:lnTo>
                  <a:lnTo>
                    <a:pt x="5885" y="45671"/>
                  </a:lnTo>
                  <a:lnTo>
                    <a:pt x="21918" y="21921"/>
                  </a:lnTo>
                  <a:lnTo>
                    <a:pt x="45666" y="5886"/>
                  </a:lnTo>
                  <a:lnTo>
                    <a:pt x="74693" y="0"/>
                  </a:lnTo>
                  <a:close/>
                </a:path>
              </a:pathLst>
            </a:custGeom>
            <a:ln w="5267">
              <a:solidFill>
                <a:srgbClr val="231F20"/>
              </a:solidFill>
            </a:ln>
          </p:spPr>
          <p:txBody>
            <a:bodyPr wrap="square" lIns="0" tIns="0" rIns="0" bIns="0" rtlCol="0"/>
            <a:lstStyle/>
            <a:p>
              <a:endParaRPr/>
            </a:p>
          </p:txBody>
        </p:sp>
      </p:grpSp>
      <p:sp>
        <p:nvSpPr>
          <p:cNvPr id="47" name="object 47"/>
          <p:cNvSpPr txBox="1"/>
          <p:nvPr/>
        </p:nvSpPr>
        <p:spPr>
          <a:xfrm>
            <a:off x="1109271" y="1149153"/>
            <a:ext cx="469900" cy="127000"/>
          </a:xfrm>
          <a:prstGeom prst="rect">
            <a:avLst/>
          </a:prstGeom>
        </p:spPr>
        <p:txBody>
          <a:bodyPr vert="horz" wrap="square" lIns="0" tIns="13970" rIns="0" bIns="0" rtlCol="0">
            <a:spAutoFit/>
          </a:bodyPr>
          <a:lstStyle/>
          <a:p>
            <a:pPr marL="12700">
              <a:lnSpc>
                <a:spcPct val="100000"/>
              </a:lnSpc>
              <a:spcBef>
                <a:spcPts val="110"/>
              </a:spcBef>
              <a:tabLst>
                <a:tab pos="315595" algn="l"/>
              </a:tabLst>
            </a:pPr>
            <a:r>
              <a:rPr sz="975" spc="7" baseline="4273" dirty="0">
                <a:solidFill>
                  <a:srgbClr val="231F20"/>
                </a:solidFill>
                <a:latin typeface="Arial"/>
                <a:cs typeface="Arial"/>
              </a:rPr>
              <a:t>com	</a:t>
            </a:r>
            <a:r>
              <a:rPr sz="650" spc="5" dirty="0">
                <a:solidFill>
                  <a:srgbClr val="231F20"/>
                </a:solidFill>
                <a:latin typeface="Arial"/>
                <a:cs typeface="Arial"/>
              </a:rPr>
              <a:t>edu</a:t>
            </a:r>
            <a:endParaRPr sz="650">
              <a:latin typeface="Arial"/>
              <a:cs typeface="Arial"/>
            </a:endParaRPr>
          </a:p>
        </p:txBody>
      </p:sp>
      <p:grpSp>
        <p:nvGrpSpPr>
          <p:cNvPr id="48" name="object 48"/>
          <p:cNvGrpSpPr/>
          <p:nvPr/>
        </p:nvGrpSpPr>
        <p:grpSpPr>
          <a:xfrm>
            <a:off x="1753850" y="1123528"/>
            <a:ext cx="361950" cy="66040"/>
            <a:chOff x="1753850" y="1123528"/>
            <a:chExt cx="361950" cy="66040"/>
          </a:xfrm>
        </p:grpSpPr>
        <p:sp>
          <p:nvSpPr>
            <p:cNvPr id="49" name="object 49"/>
            <p:cNvSpPr/>
            <p:nvPr/>
          </p:nvSpPr>
          <p:spPr>
            <a:xfrm>
              <a:off x="1753844" y="1126388"/>
              <a:ext cx="358775" cy="60325"/>
            </a:xfrm>
            <a:custGeom>
              <a:avLst/>
              <a:gdLst/>
              <a:ahLst/>
              <a:cxnLst/>
              <a:rect l="l" t="t" r="r" b="b"/>
              <a:pathLst>
                <a:path w="358775" h="60325">
                  <a:moveTo>
                    <a:pt x="149402" y="0"/>
                  </a:moveTo>
                  <a:lnTo>
                    <a:pt x="0" y="0"/>
                  </a:lnTo>
                  <a:lnTo>
                    <a:pt x="0" y="59766"/>
                  </a:lnTo>
                  <a:lnTo>
                    <a:pt x="149402" y="59766"/>
                  </a:lnTo>
                  <a:lnTo>
                    <a:pt x="149402" y="0"/>
                  </a:lnTo>
                  <a:close/>
                </a:path>
                <a:path w="358775" h="60325">
                  <a:moveTo>
                    <a:pt x="358559" y="0"/>
                  </a:moveTo>
                  <a:lnTo>
                    <a:pt x="209169" y="0"/>
                  </a:lnTo>
                  <a:lnTo>
                    <a:pt x="209169" y="59766"/>
                  </a:lnTo>
                  <a:lnTo>
                    <a:pt x="358559" y="59766"/>
                  </a:lnTo>
                  <a:lnTo>
                    <a:pt x="358559" y="0"/>
                  </a:lnTo>
                  <a:close/>
                </a:path>
              </a:pathLst>
            </a:custGeom>
            <a:solidFill>
              <a:srgbClr val="FFFFFF"/>
            </a:solidFill>
          </p:spPr>
          <p:txBody>
            <a:bodyPr wrap="square" lIns="0" tIns="0" rIns="0" bIns="0" rtlCol="0"/>
            <a:lstStyle/>
            <a:p>
              <a:endParaRPr/>
            </a:p>
          </p:txBody>
        </p:sp>
        <p:sp>
          <p:nvSpPr>
            <p:cNvPr id="50" name="object 50"/>
            <p:cNvSpPr/>
            <p:nvPr/>
          </p:nvSpPr>
          <p:spPr>
            <a:xfrm>
              <a:off x="1963015" y="1126385"/>
              <a:ext cx="149860" cy="60325"/>
            </a:xfrm>
            <a:custGeom>
              <a:avLst/>
              <a:gdLst/>
              <a:ahLst/>
              <a:cxnLst/>
              <a:rect l="l" t="t" r="r" b="b"/>
              <a:pathLst>
                <a:path w="149860" h="60325">
                  <a:moveTo>
                    <a:pt x="0" y="59762"/>
                  </a:moveTo>
                  <a:lnTo>
                    <a:pt x="149397" y="59762"/>
                  </a:lnTo>
                  <a:lnTo>
                    <a:pt x="149397" y="0"/>
                  </a:lnTo>
                  <a:lnTo>
                    <a:pt x="0" y="0"/>
                  </a:lnTo>
                  <a:lnTo>
                    <a:pt x="0" y="59762"/>
                  </a:lnTo>
                  <a:close/>
                </a:path>
              </a:pathLst>
            </a:custGeom>
            <a:ln w="5267">
              <a:solidFill>
                <a:srgbClr val="FFFFFF"/>
              </a:solidFill>
            </a:ln>
          </p:spPr>
          <p:txBody>
            <a:bodyPr wrap="square" lIns="0" tIns="0" rIns="0" bIns="0" rtlCol="0"/>
            <a:lstStyle/>
            <a:p>
              <a:endParaRPr/>
            </a:p>
          </p:txBody>
        </p:sp>
      </p:grpSp>
      <p:sp>
        <p:nvSpPr>
          <p:cNvPr id="51" name="object 51"/>
          <p:cNvSpPr txBox="1"/>
          <p:nvPr/>
        </p:nvSpPr>
        <p:spPr>
          <a:xfrm>
            <a:off x="1741477" y="1089196"/>
            <a:ext cx="859155" cy="127000"/>
          </a:xfrm>
          <a:prstGeom prst="rect">
            <a:avLst/>
          </a:prstGeom>
        </p:spPr>
        <p:txBody>
          <a:bodyPr vert="horz" wrap="square" lIns="0" tIns="13970" rIns="0" bIns="0" rtlCol="0">
            <a:spAutoFit/>
          </a:bodyPr>
          <a:lstStyle/>
          <a:p>
            <a:pPr marL="12700">
              <a:lnSpc>
                <a:spcPct val="100000"/>
              </a:lnSpc>
              <a:spcBef>
                <a:spcPts val="110"/>
              </a:spcBef>
              <a:tabLst>
                <a:tab pos="489584" algn="l"/>
              </a:tabLst>
            </a:pPr>
            <a:r>
              <a:rPr sz="650" spc="5" dirty="0">
                <a:solidFill>
                  <a:srgbClr val="231F20"/>
                </a:solidFill>
                <a:latin typeface="Arial"/>
                <a:cs typeface="Arial"/>
              </a:rPr>
              <a:t>gov   </a:t>
            </a:r>
            <a:r>
              <a:rPr sz="650" spc="85" dirty="0">
                <a:solidFill>
                  <a:srgbClr val="231F20"/>
                </a:solidFill>
                <a:latin typeface="Arial"/>
                <a:cs typeface="Arial"/>
              </a:rPr>
              <a:t> </a:t>
            </a:r>
            <a:r>
              <a:rPr sz="650" spc="5" dirty="0">
                <a:solidFill>
                  <a:srgbClr val="231F20"/>
                </a:solidFill>
                <a:latin typeface="Arial"/>
                <a:cs typeface="Arial"/>
              </a:rPr>
              <a:t>mil</a:t>
            </a:r>
            <a:r>
              <a:rPr sz="650" dirty="0">
                <a:solidFill>
                  <a:srgbClr val="231F20"/>
                </a:solidFill>
                <a:latin typeface="Arial"/>
                <a:cs typeface="Arial"/>
              </a:rPr>
              <a:t>	</a:t>
            </a:r>
            <a:r>
              <a:rPr sz="650" spc="5" dirty="0">
                <a:solidFill>
                  <a:srgbClr val="231F20"/>
                </a:solidFill>
                <a:latin typeface="Arial"/>
                <a:cs typeface="Arial"/>
              </a:rPr>
              <a:t>org</a:t>
            </a:r>
            <a:r>
              <a:rPr sz="650" dirty="0">
                <a:solidFill>
                  <a:srgbClr val="231F20"/>
                </a:solidFill>
                <a:latin typeface="Arial"/>
                <a:cs typeface="Arial"/>
              </a:rPr>
              <a:t>    </a:t>
            </a:r>
            <a:r>
              <a:rPr sz="650" spc="20" dirty="0">
                <a:solidFill>
                  <a:srgbClr val="231F20"/>
                </a:solidFill>
                <a:latin typeface="Arial"/>
                <a:cs typeface="Arial"/>
              </a:rPr>
              <a:t> </a:t>
            </a:r>
            <a:r>
              <a:rPr sz="650" spc="5" dirty="0">
                <a:solidFill>
                  <a:srgbClr val="231F20"/>
                </a:solidFill>
                <a:latin typeface="Arial"/>
                <a:cs typeface="Arial"/>
              </a:rPr>
              <a:t>net</a:t>
            </a:r>
            <a:endParaRPr sz="650">
              <a:latin typeface="Arial"/>
              <a:cs typeface="Arial"/>
            </a:endParaRPr>
          </a:p>
        </p:txBody>
      </p:sp>
      <p:sp>
        <p:nvSpPr>
          <p:cNvPr id="52" name="object 52"/>
          <p:cNvSpPr/>
          <p:nvPr/>
        </p:nvSpPr>
        <p:spPr>
          <a:xfrm>
            <a:off x="902269" y="1455070"/>
            <a:ext cx="537845" cy="1136015"/>
          </a:xfrm>
          <a:custGeom>
            <a:avLst/>
            <a:gdLst/>
            <a:ahLst/>
            <a:cxnLst/>
            <a:rect l="l" t="t" r="r" b="b"/>
            <a:pathLst>
              <a:path w="537844" h="1136014">
                <a:moveTo>
                  <a:pt x="283865" y="567717"/>
                </a:moveTo>
                <a:lnTo>
                  <a:pt x="388440" y="806759"/>
                </a:lnTo>
              </a:path>
              <a:path w="537844" h="1136014">
                <a:moveTo>
                  <a:pt x="253984" y="567717"/>
                </a:moveTo>
                <a:lnTo>
                  <a:pt x="119524" y="806759"/>
                </a:lnTo>
              </a:path>
              <a:path w="537844" h="1136014">
                <a:moveTo>
                  <a:pt x="119524" y="956157"/>
                </a:moveTo>
                <a:lnTo>
                  <a:pt x="119524" y="1135433"/>
                </a:lnTo>
              </a:path>
              <a:path w="537844" h="1136014">
                <a:moveTo>
                  <a:pt x="0" y="0"/>
                </a:moveTo>
                <a:lnTo>
                  <a:pt x="8" y="179281"/>
                </a:lnTo>
              </a:path>
              <a:path w="537844" h="1136014">
                <a:moveTo>
                  <a:pt x="0" y="328678"/>
                </a:moveTo>
                <a:lnTo>
                  <a:pt x="8" y="478087"/>
                </a:lnTo>
              </a:path>
              <a:path w="537844" h="1136014">
                <a:moveTo>
                  <a:pt x="358566" y="0"/>
                </a:moveTo>
                <a:lnTo>
                  <a:pt x="358562" y="179281"/>
                </a:lnTo>
              </a:path>
              <a:path w="537844" h="1136014">
                <a:moveTo>
                  <a:pt x="373505" y="268921"/>
                </a:moveTo>
                <a:lnTo>
                  <a:pt x="537838" y="478087"/>
                </a:lnTo>
              </a:path>
              <a:path w="537844" h="1136014">
                <a:moveTo>
                  <a:pt x="343623" y="268921"/>
                </a:moveTo>
                <a:lnTo>
                  <a:pt x="268923" y="478087"/>
                </a:lnTo>
              </a:path>
            </a:pathLst>
          </a:custGeom>
          <a:ln w="5267">
            <a:solidFill>
              <a:srgbClr val="231F20"/>
            </a:solidFill>
          </a:ln>
        </p:spPr>
        <p:txBody>
          <a:bodyPr wrap="square" lIns="0" tIns="0" rIns="0" bIns="0" rtlCol="0"/>
          <a:lstStyle/>
          <a:p>
            <a:endParaRPr/>
          </a:p>
        </p:txBody>
      </p:sp>
      <p:sp>
        <p:nvSpPr>
          <p:cNvPr id="53" name="object 53"/>
          <p:cNvSpPr txBox="1"/>
          <p:nvPr/>
        </p:nvSpPr>
        <p:spPr>
          <a:xfrm>
            <a:off x="3563721" y="2463658"/>
            <a:ext cx="1663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pub</a:t>
            </a:r>
            <a:endParaRPr sz="650">
              <a:latin typeface="Arial"/>
              <a:cs typeface="Arial"/>
            </a:endParaRPr>
          </a:p>
        </p:txBody>
      </p:sp>
      <p:sp>
        <p:nvSpPr>
          <p:cNvPr id="54" name="object 54"/>
          <p:cNvSpPr txBox="1"/>
          <p:nvPr/>
        </p:nvSpPr>
        <p:spPr>
          <a:xfrm>
            <a:off x="3416736" y="2711268"/>
            <a:ext cx="2978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globule</a:t>
            </a:r>
            <a:endParaRPr sz="650">
              <a:latin typeface="Arial"/>
              <a:cs typeface="Arial"/>
            </a:endParaRPr>
          </a:p>
        </p:txBody>
      </p:sp>
      <p:sp>
        <p:nvSpPr>
          <p:cNvPr id="55" name="object 55"/>
          <p:cNvSpPr txBox="1"/>
          <p:nvPr/>
        </p:nvSpPr>
        <p:spPr>
          <a:xfrm>
            <a:off x="3375383" y="2974810"/>
            <a:ext cx="39116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index.htm</a:t>
            </a:r>
            <a:endParaRPr sz="650">
              <a:latin typeface="Arial"/>
              <a:cs typeface="Arial"/>
            </a:endParaRPr>
          </a:p>
        </p:txBody>
      </p:sp>
      <p:grpSp>
        <p:nvGrpSpPr>
          <p:cNvPr id="56" name="object 56"/>
          <p:cNvGrpSpPr/>
          <p:nvPr/>
        </p:nvGrpSpPr>
        <p:grpSpPr>
          <a:xfrm>
            <a:off x="764956" y="1392445"/>
            <a:ext cx="3382645" cy="1709420"/>
            <a:chOff x="764956" y="1392445"/>
            <a:chExt cx="3382645" cy="1709420"/>
          </a:xfrm>
        </p:grpSpPr>
        <p:sp>
          <p:nvSpPr>
            <p:cNvPr id="57" name="object 57"/>
            <p:cNvSpPr/>
            <p:nvPr/>
          </p:nvSpPr>
          <p:spPr>
            <a:xfrm>
              <a:off x="2934115" y="2351469"/>
              <a:ext cx="866775" cy="478155"/>
            </a:xfrm>
            <a:custGeom>
              <a:avLst/>
              <a:gdLst/>
              <a:ahLst/>
              <a:cxnLst/>
              <a:rect l="l" t="t" r="r" b="b"/>
              <a:pathLst>
                <a:path w="866775" h="478155">
                  <a:moveTo>
                    <a:pt x="0" y="0"/>
                  </a:moveTo>
                  <a:lnTo>
                    <a:pt x="0" y="52260"/>
                  </a:lnTo>
                </a:path>
                <a:path w="866775" h="478155">
                  <a:moveTo>
                    <a:pt x="866522" y="29881"/>
                  </a:moveTo>
                  <a:lnTo>
                    <a:pt x="866512" y="209160"/>
                  </a:lnTo>
                </a:path>
                <a:path w="866775" h="478155">
                  <a:moveTo>
                    <a:pt x="866522" y="358558"/>
                  </a:moveTo>
                  <a:lnTo>
                    <a:pt x="866512" y="478075"/>
                  </a:lnTo>
                </a:path>
              </a:pathLst>
            </a:custGeom>
            <a:ln w="5267">
              <a:solidFill>
                <a:srgbClr val="231F20"/>
              </a:solidFill>
            </a:ln>
          </p:spPr>
          <p:txBody>
            <a:bodyPr wrap="square" lIns="0" tIns="0" rIns="0" bIns="0" rtlCol="0"/>
            <a:lstStyle/>
            <a:p>
              <a:endParaRPr/>
            </a:p>
          </p:txBody>
        </p:sp>
        <p:sp>
          <p:nvSpPr>
            <p:cNvPr id="58" name="object 58"/>
            <p:cNvSpPr/>
            <p:nvPr/>
          </p:nvSpPr>
          <p:spPr>
            <a:xfrm>
              <a:off x="767813" y="2441109"/>
              <a:ext cx="3376929" cy="269240"/>
            </a:xfrm>
            <a:custGeom>
              <a:avLst/>
              <a:gdLst/>
              <a:ahLst/>
              <a:cxnLst/>
              <a:rect l="l" t="t" r="r" b="b"/>
              <a:pathLst>
                <a:path w="3376929" h="269239">
                  <a:moveTo>
                    <a:pt x="3376440" y="0"/>
                  </a:moveTo>
                  <a:lnTo>
                    <a:pt x="2420276" y="0"/>
                  </a:lnTo>
                  <a:lnTo>
                    <a:pt x="2420276" y="268918"/>
                  </a:lnTo>
                  <a:lnTo>
                    <a:pt x="567719" y="268918"/>
                  </a:lnTo>
                  <a:lnTo>
                    <a:pt x="567719" y="29877"/>
                  </a:lnTo>
                  <a:lnTo>
                    <a:pt x="0" y="29877"/>
                  </a:lnTo>
                </a:path>
              </a:pathLst>
            </a:custGeom>
            <a:ln w="5267">
              <a:solidFill>
                <a:srgbClr val="231F20"/>
              </a:solidFill>
              <a:prstDash val="lgDash"/>
            </a:ln>
          </p:spPr>
          <p:txBody>
            <a:bodyPr wrap="square" lIns="0" tIns="0" rIns="0" bIns="0" rtlCol="0"/>
            <a:lstStyle/>
            <a:p>
              <a:endParaRPr/>
            </a:p>
          </p:txBody>
        </p:sp>
        <p:sp>
          <p:nvSpPr>
            <p:cNvPr id="59" name="object 59"/>
            <p:cNvSpPr/>
            <p:nvPr/>
          </p:nvSpPr>
          <p:spPr>
            <a:xfrm>
              <a:off x="2037709" y="1395302"/>
              <a:ext cx="1882775" cy="538480"/>
            </a:xfrm>
            <a:custGeom>
              <a:avLst/>
              <a:gdLst/>
              <a:ahLst/>
              <a:cxnLst/>
              <a:rect l="l" t="t" r="r" b="b"/>
              <a:pathLst>
                <a:path w="1882775" h="538480">
                  <a:moveTo>
                    <a:pt x="283869" y="29883"/>
                  </a:moveTo>
                  <a:lnTo>
                    <a:pt x="119524" y="239048"/>
                  </a:lnTo>
                </a:path>
                <a:path w="1882775" h="538480">
                  <a:moveTo>
                    <a:pt x="313742" y="29883"/>
                  </a:moveTo>
                  <a:lnTo>
                    <a:pt x="478087" y="239048"/>
                  </a:lnTo>
                </a:path>
                <a:path w="1882775" h="538480">
                  <a:moveTo>
                    <a:pt x="104577" y="328689"/>
                  </a:moveTo>
                  <a:lnTo>
                    <a:pt x="0" y="537854"/>
                  </a:lnTo>
                </a:path>
                <a:path w="1882775" h="538480">
                  <a:moveTo>
                    <a:pt x="134460" y="328689"/>
                  </a:moveTo>
                  <a:lnTo>
                    <a:pt x="268921" y="537854"/>
                  </a:lnTo>
                </a:path>
                <a:path w="1882775" h="538480">
                  <a:moveTo>
                    <a:pt x="1000983" y="0"/>
                  </a:moveTo>
                  <a:lnTo>
                    <a:pt x="896406" y="239048"/>
                  </a:lnTo>
                </a:path>
                <a:path w="1882775" h="538480">
                  <a:moveTo>
                    <a:pt x="1030867" y="0"/>
                  </a:moveTo>
                  <a:lnTo>
                    <a:pt x="1165318" y="239048"/>
                  </a:lnTo>
                </a:path>
                <a:path w="1882775" h="538480">
                  <a:moveTo>
                    <a:pt x="1718109" y="0"/>
                  </a:moveTo>
                  <a:lnTo>
                    <a:pt x="1613521" y="239048"/>
                  </a:lnTo>
                </a:path>
                <a:path w="1882775" h="538480">
                  <a:moveTo>
                    <a:pt x="1747992" y="0"/>
                  </a:moveTo>
                  <a:lnTo>
                    <a:pt x="1882443" y="239048"/>
                  </a:lnTo>
                </a:path>
                <a:path w="1882775" h="538480">
                  <a:moveTo>
                    <a:pt x="896406" y="388446"/>
                  </a:moveTo>
                  <a:lnTo>
                    <a:pt x="896406" y="537854"/>
                  </a:lnTo>
                </a:path>
                <a:path w="1882775" h="538480">
                  <a:moveTo>
                    <a:pt x="1165328" y="388446"/>
                  </a:moveTo>
                  <a:lnTo>
                    <a:pt x="1165318" y="537854"/>
                  </a:lnTo>
                </a:path>
                <a:path w="1882775" h="538480">
                  <a:moveTo>
                    <a:pt x="1882443" y="388446"/>
                  </a:moveTo>
                  <a:lnTo>
                    <a:pt x="1882443" y="537854"/>
                  </a:lnTo>
                </a:path>
              </a:pathLst>
            </a:custGeom>
            <a:ln w="5267">
              <a:solidFill>
                <a:srgbClr val="231F20"/>
              </a:solidFill>
            </a:ln>
          </p:spPr>
          <p:txBody>
            <a:bodyPr wrap="square" lIns="0" tIns="0" rIns="0" bIns="0" rtlCol="0"/>
            <a:lstStyle/>
            <a:p>
              <a:endParaRPr/>
            </a:p>
          </p:txBody>
        </p:sp>
        <p:sp>
          <p:nvSpPr>
            <p:cNvPr id="60" name="object 60"/>
            <p:cNvSpPr/>
            <p:nvPr/>
          </p:nvSpPr>
          <p:spPr>
            <a:xfrm>
              <a:off x="767813" y="1514827"/>
              <a:ext cx="3376929" cy="299085"/>
            </a:xfrm>
            <a:custGeom>
              <a:avLst/>
              <a:gdLst/>
              <a:ahLst/>
              <a:cxnLst/>
              <a:rect l="l" t="t" r="r" b="b"/>
              <a:pathLst>
                <a:path w="3376929" h="299085">
                  <a:moveTo>
                    <a:pt x="0" y="0"/>
                  </a:moveTo>
                  <a:lnTo>
                    <a:pt x="1942200" y="0"/>
                  </a:lnTo>
                  <a:lnTo>
                    <a:pt x="1942200" y="298795"/>
                  </a:lnTo>
                  <a:lnTo>
                    <a:pt x="2689198" y="298795"/>
                  </a:lnTo>
                  <a:lnTo>
                    <a:pt x="2689198" y="0"/>
                  </a:lnTo>
                  <a:lnTo>
                    <a:pt x="3376440" y="0"/>
                  </a:lnTo>
                </a:path>
              </a:pathLst>
            </a:custGeom>
            <a:ln w="5267">
              <a:solidFill>
                <a:srgbClr val="231F20"/>
              </a:solidFill>
              <a:prstDash val="lgDash"/>
            </a:ln>
          </p:spPr>
          <p:txBody>
            <a:bodyPr wrap="square" lIns="0" tIns="0" rIns="0" bIns="0" rtlCol="0"/>
            <a:lstStyle/>
            <a:p>
              <a:endParaRPr/>
            </a:p>
          </p:txBody>
        </p:sp>
        <p:sp>
          <p:nvSpPr>
            <p:cNvPr id="61" name="object 61"/>
            <p:cNvSpPr/>
            <p:nvPr/>
          </p:nvSpPr>
          <p:spPr>
            <a:xfrm>
              <a:off x="2934115" y="2022787"/>
              <a:ext cx="1106170" cy="1075690"/>
            </a:xfrm>
            <a:custGeom>
              <a:avLst/>
              <a:gdLst/>
              <a:ahLst/>
              <a:cxnLst/>
              <a:rect l="l" t="t" r="r" b="b"/>
              <a:pathLst>
                <a:path w="1106170" h="1075689">
                  <a:moveTo>
                    <a:pt x="1000983" y="0"/>
                  </a:moveTo>
                  <a:lnTo>
                    <a:pt x="1105561" y="209160"/>
                  </a:lnTo>
                </a:path>
                <a:path w="1106170" h="1075689">
                  <a:moveTo>
                    <a:pt x="971100" y="0"/>
                  </a:moveTo>
                  <a:lnTo>
                    <a:pt x="866512" y="209160"/>
                  </a:lnTo>
                </a:path>
                <a:path w="1106170" h="1075689">
                  <a:moveTo>
                    <a:pt x="866522" y="956159"/>
                  </a:moveTo>
                  <a:lnTo>
                    <a:pt x="866512" y="1075680"/>
                  </a:lnTo>
                </a:path>
                <a:path w="1106170" h="1075689">
                  <a:moveTo>
                    <a:pt x="0" y="59756"/>
                  </a:moveTo>
                  <a:lnTo>
                    <a:pt x="0" y="179281"/>
                  </a:lnTo>
                </a:path>
                <a:path w="1106170" h="1075689">
                  <a:moveTo>
                    <a:pt x="268921" y="59756"/>
                  </a:moveTo>
                  <a:lnTo>
                    <a:pt x="268911" y="179281"/>
                  </a:lnTo>
                </a:path>
              </a:pathLst>
            </a:custGeom>
            <a:ln w="5267">
              <a:solidFill>
                <a:srgbClr val="231F20"/>
              </a:solidFill>
            </a:ln>
          </p:spPr>
          <p:txBody>
            <a:bodyPr wrap="square" lIns="0" tIns="0" rIns="0" bIns="0" rtlCol="0"/>
            <a:lstStyle/>
            <a:p>
              <a:endParaRPr/>
            </a:p>
          </p:txBody>
        </p:sp>
      </p:grpSp>
      <p:sp>
        <p:nvSpPr>
          <p:cNvPr id="62" name="object 62"/>
          <p:cNvSpPr txBox="1"/>
          <p:nvPr/>
        </p:nvSpPr>
        <p:spPr>
          <a:xfrm>
            <a:off x="426214" y="2762684"/>
            <a:ext cx="265430" cy="314960"/>
          </a:xfrm>
          <a:prstGeom prst="rect">
            <a:avLst/>
          </a:prstGeom>
        </p:spPr>
        <p:txBody>
          <a:bodyPr vert="horz" wrap="square" lIns="0" tIns="21590" rIns="0" bIns="0" rtlCol="0">
            <a:spAutoFit/>
          </a:bodyPr>
          <a:lstStyle/>
          <a:p>
            <a:pPr marL="45720" marR="5080" indent="-33655" algn="just">
              <a:lnSpc>
                <a:spcPts val="740"/>
              </a:lnSpc>
              <a:spcBef>
                <a:spcPts val="170"/>
              </a:spcBef>
            </a:pPr>
            <a:r>
              <a:rPr sz="650" spc="5" dirty="0">
                <a:solidFill>
                  <a:srgbClr val="231F20"/>
                </a:solidFill>
                <a:latin typeface="Arial"/>
                <a:cs typeface="Arial"/>
              </a:rPr>
              <a:t>Mana-  gerial  layer</a:t>
            </a:r>
            <a:endParaRPr sz="650">
              <a:latin typeface="Arial"/>
              <a:cs typeface="Arial"/>
            </a:endParaRPr>
          </a:p>
        </p:txBody>
      </p:sp>
      <p:sp>
        <p:nvSpPr>
          <p:cNvPr id="63" name="object 63"/>
          <p:cNvSpPr txBox="1"/>
          <p:nvPr/>
        </p:nvSpPr>
        <p:spPr>
          <a:xfrm>
            <a:off x="362461" y="1836002"/>
            <a:ext cx="353695" cy="314960"/>
          </a:xfrm>
          <a:prstGeom prst="rect">
            <a:avLst/>
          </a:prstGeom>
        </p:spPr>
        <p:txBody>
          <a:bodyPr vert="horz" wrap="square" lIns="0" tIns="13970" rIns="0" bIns="0" rtlCol="0">
            <a:spAutoFit/>
          </a:bodyPr>
          <a:lstStyle/>
          <a:p>
            <a:pPr marL="13335" marR="5080" indent="-1270">
              <a:lnSpc>
                <a:spcPct val="100000"/>
              </a:lnSpc>
              <a:spcBef>
                <a:spcPts val="110"/>
              </a:spcBef>
            </a:pPr>
            <a:r>
              <a:rPr sz="650" spc="5" dirty="0">
                <a:solidFill>
                  <a:srgbClr val="231F20"/>
                </a:solidFill>
                <a:latin typeface="Arial"/>
                <a:cs typeface="Arial"/>
              </a:rPr>
              <a:t>Adminis-  trational</a:t>
            </a:r>
            <a:endParaRPr sz="650">
              <a:latin typeface="Arial"/>
              <a:cs typeface="Arial"/>
            </a:endParaRPr>
          </a:p>
          <a:p>
            <a:pPr marL="132080">
              <a:lnSpc>
                <a:spcPts val="700"/>
              </a:lnSpc>
            </a:pPr>
            <a:r>
              <a:rPr sz="650" spc="5" dirty="0">
                <a:solidFill>
                  <a:srgbClr val="231F20"/>
                </a:solidFill>
                <a:latin typeface="Arial"/>
                <a:cs typeface="Arial"/>
              </a:rPr>
              <a:t>layer</a:t>
            </a:r>
            <a:endParaRPr sz="650">
              <a:latin typeface="Arial"/>
              <a:cs typeface="Arial"/>
            </a:endParaRPr>
          </a:p>
        </p:txBody>
      </p:sp>
      <p:sp>
        <p:nvSpPr>
          <p:cNvPr id="64" name="object 64"/>
          <p:cNvSpPr txBox="1"/>
          <p:nvPr/>
        </p:nvSpPr>
        <p:spPr>
          <a:xfrm>
            <a:off x="421659" y="1029236"/>
            <a:ext cx="269240" cy="220979"/>
          </a:xfrm>
          <a:prstGeom prst="rect">
            <a:avLst/>
          </a:prstGeom>
        </p:spPr>
        <p:txBody>
          <a:bodyPr vert="horz" wrap="square" lIns="0" tIns="21590" rIns="0" bIns="0" rtlCol="0">
            <a:spAutoFit/>
          </a:bodyPr>
          <a:lstStyle/>
          <a:p>
            <a:pPr marL="73025" marR="5080" indent="-60960">
              <a:lnSpc>
                <a:spcPts val="740"/>
              </a:lnSpc>
              <a:spcBef>
                <a:spcPts val="170"/>
              </a:spcBef>
            </a:pPr>
            <a:r>
              <a:rPr sz="650" spc="5" dirty="0">
                <a:solidFill>
                  <a:srgbClr val="231F20"/>
                </a:solidFill>
                <a:latin typeface="Arial"/>
                <a:cs typeface="Arial"/>
              </a:rPr>
              <a:t>Global  layer</a:t>
            </a:r>
            <a:endParaRPr sz="650">
              <a:latin typeface="Arial"/>
              <a:cs typeface="Arial"/>
            </a:endParaRPr>
          </a:p>
        </p:txBody>
      </p:sp>
      <p:sp>
        <p:nvSpPr>
          <p:cNvPr id="65" name="object 65"/>
          <p:cNvSpPr/>
          <p:nvPr/>
        </p:nvSpPr>
        <p:spPr>
          <a:xfrm>
            <a:off x="3307614" y="1245905"/>
            <a:ext cx="926465" cy="2032000"/>
          </a:xfrm>
          <a:custGeom>
            <a:avLst/>
            <a:gdLst/>
            <a:ahLst/>
            <a:cxnLst/>
            <a:rect l="l" t="t" r="r" b="b"/>
            <a:pathLst>
              <a:path w="926464" h="2032000">
                <a:moveTo>
                  <a:pt x="463139" y="0"/>
                </a:moveTo>
                <a:lnTo>
                  <a:pt x="505563" y="6875"/>
                </a:lnTo>
                <a:lnTo>
                  <a:pt x="542464" y="26004"/>
                </a:lnTo>
                <a:lnTo>
                  <a:pt x="571600" y="55143"/>
                </a:lnTo>
                <a:lnTo>
                  <a:pt x="590726" y="92047"/>
                </a:lnTo>
                <a:lnTo>
                  <a:pt x="597600" y="134471"/>
                </a:lnTo>
                <a:lnTo>
                  <a:pt x="590725" y="176889"/>
                </a:lnTo>
                <a:lnTo>
                  <a:pt x="571597" y="213787"/>
                </a:lnTo>
                <a:lnTo>
                  <a:pt x="542459" y="242921"/>
                </a:lnTo>
                <a:lnTo>
                  <a:pt x="505559" y="262047"/>
                </a:lnTo>
                <a:lnTo>
                  <a:pt x="463139" y="268921"/>
                </a:lnTo>
                <a:lnTo>
                  <a:pt x="420720" y="262047"/>
                </a:lnTo>
                <a:lnTo>
                  <a:pt x="383819" y="242921"/>
                </a:lnTo>
                <a:lnTo>
                  <a:pt x="354682" y="213787"/>
                </a:lnTo>
                <a:lnTo>
                  <a:pt x="335554" y="176889"/>
                </a:lnTo>
                <a:lnTo>
                  <a:pt x="328678" y="134471"/>
                </a:lnTo>
                <a:lnTo>
                  <a:pt x="335552" y="92047"/>
                </a:lnTo>
                <a:lnTo>
                  <a:pt x="354679" y="55143"/>
                </a:lnTo>
                <a:lnTo>
                  <a:pt x="383815" y="26004"/>
                </a:lnTo>
                <a:lnTo>
                  <a:pt x="420716" y="6875"/>
                </a:lnTo>
                <a:lnTo>
                  <a:pt x="463139" y="0"/>
                </a:lnTo>
                <a:close/>
              </a:path>
              <a:path w="926464" h="2032000">
                <a:moveTo>
                  <a:pt x="612537" y="328689"/>
                </a:moveTo>
                <a:lnTo>
                  <a:pt x="654960" y="335563"/>
                </a:lnTo>
                <a:lnTo>
                  <a:pt x="691862" y="354689"/>
                </a:lnTo>
                <a:lnTo>
                  <a:pt x="720997" y="383823"/>
                </a:lnTo>
                <a:lnTo>
                  <a:pt x="740124" y="420721"/>
                </a:lnTo>
                <a:lnTo>
                  <a:pt x="746998" y="463139"/>
                </a:lnTo>
                <a:lnTo>
                  <a:pt x="740124" y="505564"/>
                </a:lnTo>
                <a:lnTo>
                  <a:pt x="720997" y="542468"/>
                </a:lnTo>
                <a:lnTo>
                  <a:pt x="691862" y="571607"/>
                </a:lnTo>
                <a:lnTo>
                  <a:pt x="654960" y="590736"/>
                </a:lnTo>
                <a:lnTo>
                  <a:pt x="612537" y="597611"/>
                </a:lnTo>
                <a:lnTo>
                  <a:pt x="570114" y="590736"/>
                </a:lnTo>
                <a:lnTo>
                  <a:pt x="533212" y="571607"/>
                </a:lnTo>
                <a:lnTo>
                  <a:pt x="504077" y="542468"/>
                </a:lnTo>
                <a:lnTo>
                  <a:pt x="484950" y="505564"/>
                </a:lnTo>
                <a:lnTo>
                  <a:pt x="478076" y="463139"/>
                </a:lnTo>
                <a:lnTo>
                  <a:pt x="484950" y="420721"/>
                </a:lnTo>
                <a:lnTo>
                  <a:pt x="504077" y="383823"/>
                </a:lnTo>
                <a:lnTo>
                  <a:pt x="533212" y="354689"/>
                </a:lnTo>
                <a:lnTo>
                  <a:pt x="570114" y="335563"/>
                </a:lnTo>
                <a:lnTo>
                  <a:pt x="612537" y="328689"/>
                </a:lnTo>
                <a:close/>
              </a:path>
              <a:path w="926464" h="2032000">
                <a:moveTo>
                  <a:pt x="612537" y="657357"/>
                </a:moveTo>
                <a:lnTo>
                  <a:pt x="663314" y="661084"/>
                </a:lnTo>
                <a:lnTo>
                  <a:pt x="711525" y="671871"/>
                </a:lnTo>
                <a:lnTo>
                  <a:pt x="756514" y="689124"/>
                </a:lnTo>
                <a:lnTo>
                  <a:pt x="797628" y="712252"/>
                </a:lnTo>
                <a:lnTo>
                  <a:pt x="834212" y="740663"/>
                </a:lnTo>
                <a:lnTo>
                  <a:pt x="865611" y="773764"/>
                </a:lnTo>
                <a:lnTo>
                  <a:pt x="891172" y="810963"/>
                </a:lnTo>
                <a:lnTo>
                  <a:pt x="910240" y="851668"/>
                </a:lnTo>
                <a:lnTo>
                  <a:pt x="922160" y="895286"/>
                </a:lnTo>
                <a:lnTo>
                  <a:pt x="926279" y="941226"/>
                </a:lnTo>
                <a:lnTo>
                  <a:pt x="922160" y="987165"/>
                </a:lnTo>
                <a:lnTo>
                  <a:pt x="910240" y="1030782"/>
                </a:lnTo>
                <a:lnTo>
                  <a:pt x="891172" y="1071485"/>
                </a:lnTo>
                <a:lnTo>
                  <a:pt x="865611" y="1108682"/>
                </a:lnTo>
                <a:lnTo>
                  <a:pt x="834212" y="1141781"/>
                </a:lnTo>
                <a:lnTo>
                  <a:pt x="797628" y="1170190"/>
                </a:lnTo>
                <a:lnTo>
                  <a:pt x="756514" y="1193317"/>
                </a:lnTo>
                <a:lnTo>
                  <a:pt x="711525" y="1210569"/>
                </a:lnTo>
                <a:lnTo>
                  <a:pt x="663314" y="1221354"/>
                </a:lnTo>
                <a:lnTo>
                  <a:pt x="612537" y="1225081"/>
                </a:lnTo>
                <a:lnTo>
                  <a:pt x="561765" y="1221354"/>
                </a:lnTo>
                <a:lnTo>
                  <a:pt x="513557" y="1210569"/>
                </a:lnTo>
                <a:lnTo>
                  <a:pt x="468569" y="1193317"/>
                </a:lnTo>
                <a:lnTo>
                  <a:pt x="427455" y="1170190"/>
                </a:lnTo>
                <a:lnTo>
                  <a:pt x="390870" y="1141781"/>
                </a:lnTo>
                <a:lnTo>
                  <a:pt x="359469" y="1108682"/>
                </a:lnTo>
                <a:lnTo>
                  <a:pt x="333906" y="1071485"/>
                </a:lnTo>
                <a:lnTo>
                  <a:pt x="314836" y="1030782"/>
                </a:lnTo>
                <a:lnTo>
                  <a:pt x="302914" y="987165"/>
                </a:lnTo>
                <a:lnTo>
                  <a:pt x="298795" y="941226"/>
                </a:lnTo>
                <a:lnTo>
                  <a:pt x="302914" y="895284"/>
                </a:lnTo>
                <a:lnTo>
                  <a:pt x="314835" y="851664"/>
                </a:lnTo>
                <a:lnTo>
                  <a:pt x="333904" y="810958"/>
                </a:lnTo>
                <a:lnTo>
                  <a:pt x="359466" y="773759"/>
                </a:lnTo>
                <a:lnTo>
                  <a:pt x="390866" y="740659"/>
                </a:lnTo>
                <a:lnTo>
                  <a:pt x="427451" y="712249"/>
                </a:lnTo>
                <a:lnTo>
                  <a:pt x="468564" y="689122"/>
                </a:lnTo>
                <a:lnTo>
                  <a:pt x="513553" y="671870"/>
                </a:lnTo>
                <a:lnTo>
                  <a:pt x="561762" y="661084"/>
                </a:lnTo>
                <a:lnTo>
                  <a:pt x="612537" y="657357"/>
                </a:lnTo>
                <a:close/>
              </a:path>
              <a:path w="926464" h="2032000">
                <a:moveTo>
                  <a:pt x="418319" y="1225081"/>
                </a:moveTo>
                <a:lnTo>
                  <a:pt x="466988" y="1227803"/>
                </a:lnTo>
                <a:lnTo>
                  <a:pt x="514039" y="1235766"/>
                </a:lnTo>
                <a:lnTo>
                  <a:pt x="559152" y="1248663"/>
                </a:lnTo>
                <a:lnTo>
                  <a:pt x="602012" y="1266188"/>
                </a:lnTo>
                <a:lnTo>
                  <a:pt x="642298" y="1288033"/>
                </a:lnTo>
                <a:lnTo>
                  <a:pt x="679694" y="1313891"/>
                </a:lnTo>
                <a:lnTo>
                  <a:pt x="713881" y="1343457"/>
                </a:lnTo>
                <a:lnTo>
                  <a:pt x="744541" y="1376424"/>
                </a:lnTo>
                <a:lnTo>
                  <a:pt x="771357" y="1412485"/>
                </a:lnTo>
                <a:lnTo>
                  <a:pt x="794011" y="1451332"/>
                </a:lnTo>
                <a:lnTo>
                  <a:pt x="812183" y="1492661"/>
                </a:lnTo>
                <a:lnTo>
                  <a:pt x="825558" y="1536163"/>
                </a:lnTo>
                <a:lnTo>
                  <a:pt x="833815" y="1581533"/>
                </a:lnTo>
                <a:lnTo>
                  <a:pt x="836639" y="1628463"/>
                </a:lnTo>
                <a:lnTo>
                  <a:pt x="833815" y="1675393"/>
                </a:lnTo>
                <a:lnTo>
                  <a:pt x="825558" y="1720763"/>
                </a:lnTo>
                <a:lnTo>
                  <a:pt x="812183" y="1764265"/>
                </a:lnTo>
                <a:lnTo>
                  <a:pt x="794011" y="1805593"/>
                </a:lnTo>
                <a:lnTo>
                  <a:pt x="771357" y="1844440"/>
                </a:lnTo>
                <a:lnTo>
                  <a:pt x="744541" y="1880501"/>
                </a:lnTo>
                <a:lnTo>
                  <a:pt x="713881" y="1913467"/>
                </a:lnTo>
                <a:lnTo>
                  <a:pt x="679694" y="1943033"/>
                </a:lnTo>
                <a:lnTo>
                  <a:pt x="642298" y="1968891"/>
                </a:lnTo>
                <a:lnTo>
                  <a:pt x="602012" y="1990736"/>
                </a:lnTo>
                <a:lnTo>
                  <a:pt x="559152" y="2008260"/>
                </a:lnTo>
                <a:lnTo>
                  <a:pt x="514039" y="2021156"/>
                </a:lnTo>
                <a:lnTo>
                  <a:pt x="466988" y="2029119"/>
                </a:lnTo>
                <a:lnTo>
                  <a:pt x="418319" y="2031842"/>
                </a:lnTo>
                <a:lnTo>
                  <a:pt x="369652" y="2029119"/>
                </a:lnTo>
                <a:lnTo>
                  <a:pt x="322603" y="2021155"/>
                </a:lnTo>
                <a:lnTo>
                  <a:pt x="277490" y="2008258"/>
                </a:lnTo>
                <a:lnTo>
                  <a:pt x="234631" y="1990735"/>
                </a:lnTo>
                <a:lnTo>
                  <a:pt x="194345" y="1968890"/>
                </a:lnTo>
                <a:lnTo>
                  <a:pt x="156949" y="1943032"/>
                </a:lnTo>
                <a:lnTo>
                  <a:pt x="122761" y="1913467"/>
                </a:lnTo>
                <a:lnTo>
                  <a:pt x="92100" y="1880501"/>
                </a:lnTo>
                <a:lnTo>
                  <a:pt x="65283" y="1844441"/>
                </a:lnTo>
                <a:lnTo>
                  <a:pt x="42629" y="1805594"/>
                </a:lnTo>
                <a:lnTo>
                  <a:pt x="24456" y="1764266"/>
                </a:lnTo>
                <a:lnTo>
                  <a:pt x="11081" y="1720764"/>
                </a:lnTo>
                <a:lnTo>
                  <a:pt x="2823" y="1675394"/>
                </a:lnTo>
                <a:lnTo>
                  <a:pt x="0" y="1628463"/>
                </a:lnTo>
                <a:lnTo>
                  <a:pt x="2823" y="1581533"/>
                </a:lnTo>
                <a:lnTo>
                  <a:pt x="11080" y="1536163"/>
                </a:lnTo>
                <a:lnTo>
                  <a:pt x="24455" y="1492661"/>
                </a:lnTo>
                <a:lnTo>
                  <a:pt x="42628" y="1451332"/>
                </a:lnTo>
                <a:lnTo>
                  <a:pt x="65281" y="1412485"/>
                </a:lnTo>
                <a:lnTo>
                  <a:pt x="92097" y="1376424"/>
                </a:lnTo>
                <a:lnTo>
                  <a:pt x="122757" y="1343457"/>
                </a:lnTo>
                <a:lnTo>
                  <a:pt x="156944" y="1313891"/>
                </a:lnTo>
                <a:lnTo>
                  <a:pt x="194340" y="1288033"/>
                </a:lnTo>
                <a:lnTo>
                  <a:pt x="234627" y="1266188"/>
                </a:lnTo>
                <a:lnTo>
                  <a:pt x="277486" y="1248663"/>
                </a:lnTo>
                <a:lnTo>
                  <a:pt x="322599" y="1235766"/>
                </a:lnTo>
                <a:lnTo>
                  <a:pt x="369650" y="1227803"/>
                </a:lnTo>
                <a:lnTo>
                  <a:pt x="418319" y="1225081"/>
                </a:lnTo>
                <a:close/>
              </a:path>
            </a:pathLst>
          </a:custGeom>
          <a:ln w="5267">
            <a:solidFill>
              <a:srgbClr val="231F20"/>
            </a:solidFill>
            <a:prstDash val="lgDash"/>
          </a:ln>
        </p:spPr>
        <p:txBody>
          <a:bodyPr wrap="square" lIns="0" tIns="0" rIns="0" bIns="0" rtlCol="0"/>
          <a:lstStyle/>
          <a:p>
            <a:endParaRPr/>
          </a:p>
        </p:txBody>
      </p:sp>
      <p:sp>
        <p:nvSpPr>
          <p:cNvPr id="66" name="object 66"/>
          <p:cNvSpPr txBox="1"/>
          <p:nvPr/>
        </p:nvSpPr>
        <p:spPr>
          <a:xfrm>
            <a:off x="2637799" y="2911435"/>
            <a:ext cx="21780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Zone</a:t>
            </a:r>
            <a:endParaRPr sz="650">
              <a:latin typeface="Arial"/>
              <a:cs typeface="Arial"/>
            </a:endParaRPr>
          </a:p>
        </p:txBody>
      </p:sp>
      <p:grpSp>
        <p:nvGrpSpPr>
          <p:cNvPr id="67" name="object 67"/>
          <p:cNvGrpSpPr/>
          <p:nvPr/>
        </p:nvGrpSpPr>
        <p:grpSpPr>
          <a:xfrm>
            <a:off x="705409" y="795078"/>
            <a:ext cx="3411854" cy="2455545"/>
            <a:chOff x="705409" y="795078"/>
            <a:chExt cx="3411854" cy="2455545"/>
          </a:xfrm>
        </p:grpSpPr>
        <p:sp>
          <p:nvSpPr>
            <p:cNvPr id="68" name="object 68"/>
            <p:cNvSpPr/>
            <p:nvPr/>
          </p:nvSpPr>
          <p:spPr>
            <a:xfrm>
              <a:off x="827572" y="1305668"/>
              <a:ext cx="2482215" cy="1673860"/>
            </a:xfrm>
            <a:custGeom>
              <a:avLst/>
              <a:gdLst/>
              <a:ahLst/>
              <a:cxnLst/>
              <a:rect l="l" t="t" r="r" b="b"/>
              <a:pathLst>
                <a:path w="2482215" h="1673860">
                  <a:moveTo>
                    <a:pt x="2061722" y="1673278"/>
                  </a:moveTo>
                  <a:lnTo>
                    <a:pt x="2481791" y="1625884"/>
                  </a:lnTo>
                </a:path>
                <a:path w="2482215" h="1673860">
                  <a:moveTo>
                    <a:pt x="0" y="149401"/>
                  </a:moveTo>
                  <a:lnTo>
                    <a:pt x="149401" y="149401"/>
                  </a:lnTo>
                  <a:lnTo>
                    <a:pt x="149401" y="0"/>
                  </a:lnTo>
                  <a:lnTo>
                    <a:pt x="0" y="0"/>
                  </a:lnTo>
                  <a:lnTo>
                    <a:pt x="0" y="149401"/>
                  </a:lnTo>
                  <a:close/>
                </a:path>
              </a:pathLst>
            </a:custGeom>
            <a:ln w="5267">
              <a:solidFill>
                <a:srgbClr val="231F20"/>
              </a:solidFill>
            </a:ln>
          </p:spPr>
          <p:txBody>
            <a:bodyPr wrap="square" lIns="0" tIns="0" rIns="0" bIns="0" rtlCol="0"/>
            <a:lstStyle/>
            <a:p>
              <a:endParaRPr/>
            </a:p>
          </p:txBody>
        </p:sp>
        <p:sp>
          <p:nvSpPr>
            <p:cNvPr id="69" name="object 69"/>
            <p:cNvSpPr/>
            <p:nvPr/>
          </p:nvSpPr>
          <p:spPr>
            <a:xfrm>
              <a:off x="827572" y="1634351"/>
              <a:ext cx="149860" cy="149860"/>
            </a:xfrm>
            <a:custGeom>
              <a:avLst/>
              <a:gdLst/>
              <a:ahLst/>
              <a:cxnLst/>
              <a:rect l="l" t="t" r="r" b="b"/>
              <a:pathLst>
                <a:path w="149859" h="149860">
                  <a:moveTo>
                    <a:pt x="149401" y="0"/>
                  </a:moveTo>
                  <a:lnTo>
                    <a:pt x="0" y="0"/>
                  </a:lnTo>
                  <a:lnTo>
                    <a:pt x="0" y="149397"/>
                  </a:lnTo>
                  <a:lnTo>
                    <a:pt x="149401" y="149397"/>
                  </a:lnTo>
                  <a:lnTo>
                    <a:pt x="149401" y="0"/>
                  </a:lnTo>
                  <a:close/>
                </a:path>
              </a:pathLst>
            </a:custGeom>
            <a:solidFill>
              <a:srgbClr val="D1D3D4"/>
            </a:solidFill>
          </p:spPr>
          <p:txBody>
            <a:bodyPr wrap="square" lIns="0" tIns="0" rIns="0" bIns="0" rtlCol="0"/>
            <a:lstStyle/>
            <a:p>
              <a:endParaRPr/>
            </a:p>
          </p:txBody>
        </p:sp>
        <p:sp>
          <p:nvSpPr>
            <p:cNvPr id="70" name="object 70"/>
            <p:cNvSpPr/>
            <p:nvPr/>
          </p:nvSpPr>
          <p:spPr>
            <a:xfrm>
              <a:off x="827572" y="1634351"/>
              <a:ext cx="149860" cy="149860"/>
            </a:xfrm>
            <a:custGeom>
              <a:avLst/>
              <a:gdLst/>
              <a:ahLst/>
              <a:cxnLst/>
              <a:rect l="l" t="t" r="r" b="b"/>
              <a:pathLst>
                <a:path w="149859" h="149860">
                  <a:moveTo>
                    <a:pt x="0" y="149397"/>
                  </a:moveTo>
                  <a:lnTo>
                    <a:pt x="149401" y="149397"/>
                  </a:lnTo>
                  <a:lnTo>
                    <a:pt x="149401" y="0"/>
                  </a:lnTo>
                  <a:lnTo>
                    <a:pt x="0" y="0"/>
                  </a:lnTo>
                  <a:lnTo>
                    <a:pt x="0" y="149397"/>
                  </a:lnTo>
                  <a:close/>
                </a:path>
              </a:pathLst>
            </a:custGeom>
            <a:ln w="5267">
              <a:solidFill>
                <a:srgbClr val="231F20"/>
              </a:solidFill>
            </a:ln>
          </p:spPr>
          <p:txBody>
            <a:bodyPr wrap="square" lIns="0" tIns="0" rIns="0" bIns="0" rtlCol="0"/>
            <a:lstStyle/>
            <a:p>
              <a:endParaRPr/>
            </a:p>
          </p:txBody>
        </p:sp>
        <p:sp>
          <p:nvSpPr>
            <p:cNvPr id="71" name="object 71"/>
            <p:cNvSpPr/>
            <p:nvPr/>
          </p:nvSpPr>
          <p:spPr>
            <a:xfrm>
              <a:off x="827572" y="1933149"/>
              <a:ext cx="149860" cy="149860"/>
            </a:xfrm>
            <a:custGeom>
              <a:avLst/>
              <a:gdLst/>
              <a:ahLst/>
              <a:cxnLst/>
              <a:rect l="l" t="t" r="r" b="b"/>
              <a:pathLst>
                <a:path w="149859" h="149860">
                  <a:moveTo>
                    <a:pt x="149401" y="0"/>
                  </a:moveTo>
                  <a:lnTo>
                    <a:pt x="0" y="0"/>
                  </a:lnTo>
                  <a:lnTo>
                    <a:pt x="0" y="149394"/>
                  </a:lnTo>
                  <a:lnTo>
                    <a:pt x="149401" y="149394"/>
                  </a:lnTo>
                  <a:lnTo>
                    <a:pt x="149401" y="0"/>
                  </a:lnTo>
                  <a:close/>
                </a:path>
              </a:pathLst>
            </a:custGeom>
            <a:solidFill>
              <a:srgbClr val="D1D3D4"/>
            </a:solidFill>
          </p:spPr>
          <p:txBody>
            <a:bodyPr wrap="square" lIns="0" tIns="0" rIns="0" bIns="0" rtlCol="0"/>
            <a:lstStyle/>
            <a:p>
              <a:endParaRPr/>
            </a:p>
          </p:txBody>
        </p:sp>
        <p:sp>
          <p:nvSpPr>
            <p:cNvPr id="72" name="object 72"/>
            <p:cNvSpPr/>
            <p:nvPr/>
          </p:nvSpPr>
          <p:spPr>
            <a:xfrm>
              <a:off x="827572" y="1933149"/>
              <a:ext cx="149860" cy="149860"/>
            </a:xfrm>
            <a:custGeom>
              <a:avLst/>
              <a:gdLst/>
              <a:ahLst/>
              <a:cxnLst/>
              <a:rect l="l" t="t" r="r" b="b"/>
              <a:pathLst>
                <a:path w="149859" h="149860">
                  <a:moveTo>
                    <a:pt x="0" y="149394"/>
                  </a:moveTo>
                  <a:lnTo>
                    <a:pt x="149401" y="149394"/>
                  </a:lnTo>
                  <a:lnTo>
                    <a:pt x="149401" y="0"/>
                  </a:lnTo>
                  <a:lnTo>
                    <a:pt x="0" y="0"/>
                  </a:lnTo>
                  <a:lnTo>
                    <a:pt x="0" y="149394"/>
                  </a:lnTo>
                  <a:close/>
                </a:path>
              </a:pathLst>
            </a:custGeom>
            <a:ln w="5267">
              <a:solidFill>
                <a:srgbClr val="231F20"/>
              </a:solidFill>
            </a:ln>
          </p:spPr>
          <p:txBody>
            <a:bodyPr wrap="square" lIns="0" tIns="0" rIns="0" bIns="0" rtlCol="0"/>
            <a:lstStyle/>
            <a:p>
              <a:endParaRPr/>
            </a:p>
          </p:txBody>
        </p:sp>
        <p:sp>
          <p:nvSpPr>
            <p:cNvPr id="73" name="object 73"/>
            <p:cNvSpPr/>
            <p:nvPr/>
          </p:nvSpPr>
          <p:spPr>
            <a:xfrm>
              <a:off x="1096495" y="1933149"/>
              <a:ext cx="149860" cy="149860"/>
            </a:xfrm>
            <a:custGeom>
              <a:avLst/>
              <a:gdLst/>
              <a:ahLst/>
              <a:cxnLst/>
              <a:rect l="l" t="t" r="r" b="b"/>
              <a:pathLst>
                <a:path w="149859" h="149860">
                  <a:moveTo>
                    <a:pt x="149397" y="0"/>
                  </a:moveTo>
                  <a:lnTo>
                    <a:pt x="0" y="0"/>
                  </a:lnTo>
                  <a:lnTo>
                    <a:pt x="0" y="149394"/>
                  </a:lnTo>
                  <a:lnTo>
                    <a:pt x="149397" y="149394"/>
                  </a:lnTo>
                  <a:lnTo>
                    <a:pt x="149397" y="0"/>
                  </a:lnTo>
                  <a:close/>
                </a:path>
              </a:pathLst>
            </a:custGeom>
            <a:solidFill>
              <a:srgbClr val="D1D3D4"/>
            </a:solidFill>
          </p:spPr>
          <p:txBody>
            <a:bodyPr wrap="square" lIns="0" tIns="0" rIns="0" bIns="0" rtlCol="0"/>
            <a:lstStyle/>
            <a:p>
              <a:endParaRPr/>
            </a:p>
          </p:txBody>
        </p:sp>
        <p:sp>
          <p:nvSpPr>
            <p:cNvPr id="74" name="object 74"/>
            <p:cNvSpPr/>
            <p:nvPr/>
          </p:nvSpPr>
          <p:spPr>
            <a:xfrm>
              <a:off x="1096495" y="1933149"/>
              <a:ext cx="149860" cy="149860"/>
            </a:xfrm>
            <a:custGeom>
              <a:avLst/>
              <a:gdLst/>
              <a:ahLst/>
              <a:cxnLst/>
              <a:rect l="l" t="t" r="r" b="b"/>
              <a:pathLst>
                <a:path w="149859" h="149860">
                  <a:moveTo>
                    <a:pt x="0" y="149394"/>
                  </a:moveTo>
                  <a:lnTo>
                    <a:pt x="149397" y="149394"/>
                  </a:lnTo>
                  <a:lnTo>
                    <a:pt x="149397" y="0"/>
                  </a:lnTo>
                  <a:lnTo>
                    <a:pt x="0" y="0"/>
                  </a:lnTo>
                  <a:lnTo>
                    <a:pt x="0" y="149394"/>
                  </a:lnTo>
                  <a:close/>
                </a:path>
              </a:pathLst>
            </a:custGeom>
            <a:ln w="5267">
              <a:solidFill>
                <a:srgbClr val="231F20"/>
              </a:solidFill>
            </a:ln>
          </p:spPr>
          <p:txBody>
            <a:bodyPr wrap="square" lIns="0" tIns="0" rIns="0" bIns="0" rtlCol="0"/>
            <a:lstStyle/>
            <a:p>
              <a:endParaRPr/>
            </a:p>
          </p:txBody>
        </p:sp>
        <p:sp>
          <p:nvSpPr>
            <p:cNvPr id="75" name="object 75"/>
            <p:cNvSpPr/>
            <p:nvPr/>
          </p:nvSpPr>
          <p:spPr>
            <a:xfrm>
              <a:off x="1365410" y="1933149"/>
              <a:ext cx="149860" cy="149860"/>
            </a:xfrm>
            <a:custGeom>
              <a:avLst/>
              <a:gdLst/>
              <a:ahLst/>
              <a:cxnLst/>
              <a:rect l="l" t="t" r="r" b="b"/>
              <a:pathLst>
                <a:path w="149859" h="149860">
                  <a:moveTo>
                    <a:pt x="149401" y="0"/>
                  </a:moveTo>
                  <a:lnTo>
                    <a:pt x="0" y="0"/>
                  </a:lnTo>
                  <a:lnTo>
                    <a:pt x="0" y="149394"/>
                  </a:lnTo>
                  <a:lnTo>
                    <a:pt x="149401" y="149394"/>
                  </a:lnTo>
                  <a:lnTo>
                    <a:pt x="149401" y="0"/>
                  </a:lnTo>
                  <a:close/>
                </a:path>
              </a:pathLst>
            </a:custGeom>
            <a:solidFill>
              <a:srgbClr val="D1D3D4"/>
            </a:solidFill>
          </p:spPr>
          <p:txBody>
            <a:bodyPr wrap="square" lIns="0" tIns="0" rIns="0" bIns="0" rtlCol="0"/>
            <a:lstStyle/>
            <a:p>
              <a:endParaRPr/>
            </a:p>
          </p:txBody>
        </p:sp>
        <p:sp>
          <p:nvSpPr>
            <p:cNvPr id="76" name="object 76"/>
            <p:cNvSpPr/>
            <p:nvPr/>
          </p:nvSpPr>
          <p:spPr>
            <a:xfrm>
              <a:off x="1365410" y="1933149"/>
              <a:ext cx="149860" cy="149860"/>
            </a:xfrm>
            <a:custGeom>
              <a:avLst/>
              <a:gdLst/>
              <a:ahLst/>
              <a:cxnLst/>
              <a:rect l="l" t="t" r="r" b="b"/>
              <a:pathLst>
                <a:path w="149859" h="149860">
                  <a:moveTo>
                    <a:pt x="0" y="149394"/>
                  </a:moveTo>
                  <a:lnTo>
                    <a:pt x="149401" y="149394"/>
                  </a:lnTo>
                  <a:lnTo>
                    <a:pt x="149401" y="0"/>
                  </a:lnTo>
                  <a:lnTo>
                    <a:pt x="0" y="0"/>
                  </a:lnTo>
                  <a:lnTo>
                    <a:pt x="0" y="149394"/>
                  </a:lnTo>
                  <a:close/>
                </a:path>
              </a:pathLst>
            </a:custGeom>
            <a:ln w="5267">
              <a:solidFill>
                <a:srgbClr val="231F20"/>
              </a:solidFill>
            </a:ln>
          </p:spPr>
          <p:txBody>
            <a:bodyPr wrap="square" lIns="0" tIns="0" rIns="0" bIns="0" rtlCol="0"/>
            <a:lstStyle/>
            <a:p>
              <a:endParaRPr/>
            </a:p>
          </p:txBody>
        </p:sp>
        <p:sp>
          <p:nvSpPr>
            <p:cNvPr id="77" name="object 77"/>
            <p:cNvSpPr/>
            <p:nvPr/>
          </p:nvSpPr>
          <p:spPr>
            <a:xfrm>
              <a:off x="1963015" y="1933149"/>
              <a:ext cx="149860" cy="149860"/>
            </a:xfrm>
            <a:custGeom>
              <a:avLst/>
              <a:gdLst/>
              <a:ahLst/>
              <a:cxnLst/>
              <a:rect l="l" t="t" r="r" b="b"/>
              <a:pathLst>
                <a:path w="149860" h="149860">
                  <a:moveTo>
                    <a:pt x="149397" y="0"/>
                  </a:moveTo>
                  <a:lnTo>
                    <a:pt x="0" y="0"/>
                  </a:lnTo>
                  <a:lnTo>
                    <a:pt x="0" y="149394"/>
                  </a:lnTo>
                  <a:lnTo>
                    <a:pt x="149397" y="149394"/>
                  </a:lnTo>
                  <a:lnTo>
                    <a:pt x="149397" y="0"/>
                  </a:lnTo>
                  <a:close/>
                </a:path>
              </a:pathLst>
            </a:custGeom>
            <a:solidFill>
              <a:srgbClr val="D1D3D4"/>
            </a:solidFill>
          </p:spPr>
          <p:txBody>
            <a:bodyPr wrap="square" lIns="0" tIns="0" rIns="0" bIns="0" rtlCol="0"/>
            <a:lstStyle/>
            <a:p>
              <a:endParaRPr/>
            </a:p>
          </p:txBody>
        </p:sp>
        <p:sp>
          <p:nvSpPr>
            <p:cNvPr id="78" name="object 78"/>
            <p:cNvSpPr/>
            <p:nvPr/>
          </p:nvSpPr>
          <p:spPr>
            <a:xfrm>
              <a:off x="1963015" y="1933149"/>
              <a:ext cx="149860" cy="149860"/>
            </a:xfrm>
            <a:custGeom>
              <a:avLst/>
              <a:gdLst/>
              <a:ahLst/>
              <a:cxnLst/>
              <a:rect l="l" t="t" r="r" b="b"/>
              <a:pathLst>
                <a:path w="149860" h="149860">
                  <a:moveTo>
                    <a:pt x="0" y="149394"/>
                  </a:moveTo>
                  <a:lnTo>
                    <a:pt x="149397" y="149394"/>
                  </a:lnTo>
                  <a:lnTo>
                    <a:pt x="149397" y="0"/>
                  </a:lnTo>
                  <a:lnTo>
                    <a:pt x="0" y="0"/>
                  </a:lnTo>
                  <a:lnTo>
                    <a:pt x="0" y="149394"/>
                  </a:lnTo>
                  <a:close/>
                </a:path>
              </a:pathLst>
            </a:custGeom>
            <a:ln w="5267">
              <a:solidFill>
                <a:srgbClr val="231F20"/>
              </a:solidFill>
            </a:ln>
          </p:spPr>
          <p:txBody>
            <a:bodyPr wrap="square" lIns="0" tIns="0" rIns="0" bIns="0" rtlCol="0"/>
            <a:lstStyle/>
            <a:p>
              <a:endParaRPr/>
            </a:p>
          </p:txBody>
        </p:sp>
        <p:sp>
          <p:nvSpPr>
            <p:cNvPr id="79" name="object 79"/>
            <p:cNvSpPr/>
            <p:nvPr/>
          </p:nvSpPr>
          <p:spPr>
            <a:xfrm>
              <a:off x="1186135" y="1634351"/>
              <a:ext cx="149860" cy="149860"/>
            </a:xfrm>
            <a:custGeom>
              <a:avLst/>
              <a:gdLst/>
              <a:ahLst/>
              <a:cxnLst/>
              <a:rect l="l" t="t" r="r" b="b"/>
              <a:pathLst>
                <a:path w="149859" h="149860">
                  <a:moveTo>
                    <a:pt x="149397" y="0"/>
                  </a:moveTo>
                  <a:lnTo>
                    <a:pt x="0" y="0"/>
                  </a:lnTo>
                  <a:lnTo>
                    <a:pt x="0" y="149397"/>
                  </a:lnTo>
                  <a:lnTo>
                    <a:pt x="149397" y="149397"/>
                  </a:lnTo>
                  <a:lnTo>
                    <a:pt x="149397" y="0"/>
                  </a:lnTo>
                  <a:close/>
                </a:path>
              </a:pathLst>
            </a:custGeom>
            <a:solidFill>
              <a:srgbClr val="D1D3D4"/>
            </a:solidFill>
          </p:spPr>
          <p:txBody>
            <a:bodyPr wrap="square" lIns="0" tIns="0" rIns="0" bIns="0" rtlCol="0"/>
            <a:lstStyle/>
            <a:p>
              <a:endParaRPr/>
            </a:p>
          </p:txBody>
        </p:sp>
        <p:sp>
          <p:nvSpPr>
            <p:cNvPr id="80" name="object 80"/>
            <p:cNvSpPr/>
            <p:nvPr/>
          </p:nvSpPr>
          <p:spPr>
            <a:xfrm>
              <a:off x="1186135" y="1634351"/>
              <a:ext cx="149860" cy="149860"/>
            </a:xfrm>
            <a:custGeom>
              <a:avLst/>
              <a:gdLst/>
              <a:ahLst/>
              <a:cxnLst/>
              <a:rect l="l" t="t" r="r" b="b"/>
              <a:pathLst>
                <a:path w="149859" h="149860">
                  <a:moveTo>
                    <a:pt x="0" y="149397"/>
                  </a:moveTo>
                  <a:lnTo>
                    <a:pt x="149397" y="149397"/>
                  </a:lnTo>
                  <a:lnTo>
                    <a:pt x="149397" y="0"/>
                  </a:lnTo>
                  <a:lnTo>
                    <a:pt x="0" y="0"/>
                  </a:lnTo>
                  <a:lnTo>
                    <a:pt x="0" y="149397"/>
                  </a:lnTo>
                  <a:close/>
                </a:path>
              </a:pathLst>
            </a:custGeom>
            <a:ln w="5267">
              <a:solidFill>
                <a:srgbClr val="231F20"/>
              </a:solidFill>
            </a:ln>
          </p:spPr>
          <p:txBody>
            <a:bodyPr wrap="square" lIns="0" tIns="0" rIns="0" bIns="0" rtlCol="0"/>
            <a:lstStyle/>
            <a:p>
              <a:endParaRPr/>
            </a:p>
          </p:txBody>
        </p:sp>
        <p:sp>
          <p:nvSpPr>
            <p:cNvPr id="81" name="object 81"/>
            <p:cNvSpPr/>
            <p:nvPr/>
          </p:nvSpPr>
          <p:spPr>
            <a:xfrm>
              <a:off x="2082539" y="1634351"/>
              <a:ext cx="149860" cy="149860"/>
            </a:xfrm>
            <a:custGeom>
              <a:avLst/>
              <a:gdLst/>
              <a:ahLst/>
              <a:cxnLst/>
              <a:rect l="l" t="t" r="r" b="b"/>
              <a:pathLst>
                <a:path w="149860" h="149860">
                  <a:moveTo>
                    <a:pt x="149401" y="0"/>
                  </a:moveTo>
                  <a:lnTo>
                    <a:pt x="0" y="0"/>
                  </a:lnTo>
                  <a:lnTo>
                    <a:pt x="0" y="149397"/>
                  </a:lnTo>
                  <a:lnTo>
                    <a:pt x="149401" y="149397"/>
                  </a:lnTo>
                  <a:lnTo>
                    <a:pt x="149401" y="0"/>
                  </a:lnTo>
                  <a:close/>
                </a:path>
              </a:pathLst>
            </a:custGeom>
            <a:solidFill>
              <a:srgbClr val="D1D3D4"/>
            </a:solidFill>
          </p:spPr>
          <p:txBody>
            <a:bodyPr wrap="square" lIns="0" tIns="0" rIns="0" bIns="0" rtlCol="0"/>
            <a:lstStyle/>
            <a:p>
              <a:endParaRPr/>
            </a:p>
          </p:txBody>
        </p:sp>
        <p:sp>
          <p:nvSpPr>
            <p:cNvPr id="82" name="object 82"/>
            <p:cNvSpPr/>
            <p:nvPr/>
          </p:nvSpPr>
          <p:spPr>
            <a:xfrm>
              <a:off x="2082539" y="1634351"/>
              <a:ext cx="149860" cy="149860"/>
            </a:xfrm>
            <a:custGeom>
              <a:avLst/>
              <a:gdLst/>
              <a:ahLst/>
              <a:cxnLst/>
              <a:rect l="l" t="t" r="r" b="b"/>
              <a:pathLst>
                <a:path w="149860" h="149860">
                  <a:moveTo>
                    <a:pt x="0" y="149397"/>
                  </a:moveTo>
                  <a:lnTo>
                    <a:pt x="149401" y="149397"/>
                  </a:lnTo>
                  <a:lnTo>
                    <a:pt x="149401" y="0"/>
                  </a:lnTo>
                  <a:lnTo>
                    <a:pt x="0" y="0"/>
                  </a:lnTo>
                  <a:lnTo>
                    <a:pt x="0" y="149397"/>
                  </a:lnTo>
                  <a:close/>
                </a:path>
              </a:pathLst>
            </a:custGeom>
            <a:ln w="5267">
              <a:solidFill>
                <a:srgbClr val="231F20"/>
              </a:solidFill>
            </a:ln>
          </p:spPr>
          <p:txBody>
            <a:bodyPr wrap="square" lIns="0" tIns="0" rIns="0" bIns="0" rtlCol="0"/>
            <a:lstStyle/>
            <a:p>
              <a:endParaRPr/>
            </a:p>
          </p:txBody>
        </p:sp>
        <p:sp>
          <p:nvSpPr>
            <p:cNvPr id="83" name="object 83"/>
            <p:cNvSpPr/>
            <p:nvPr/>
          </p:nvSpPr>
          <p:spPr>
            <a:xfrm>
              <a:off x="2441092" y="1634351"/>
              <a:ext cx="149860" cy="149860"/>
            </a:xfrm>
            <a:custGeom>
              <a:avLst/>
              <a:gdLst/>
              <a:ahLst/>
              <a:cxnLst/>
              <a:rect l="l" t="t" r="r" b="b"/>
              <a:pathLst>
                <a:path w="149860" h="149860">
                  <a:moveTo>
                    <a:pt x="149397" y="0"/>
                  </a:moveTo>
                  <a:lnTo>
                    <a:pt x="0" y="0"/>
                  </a:lnTo>
                  <a:lnTo>
                    <a:pt x="0" y="149397"/>
                  </a:lnTo>
                  <a:lnTo>
                    <a:pt x="149397" y="149397"/>
                  </a:lnTo>
                  <a:lnTo>
                    <a:pt x="149397" y="0"/>
                  </a:lnTo>
                  <a:close/>
                </a:path>
              </a:pathLst>
            </a:custGeom>
            <a:solidFill>
              <a:srgbClr val="D1D3D4"/>
            </a:solidFill>
          </p:spPr>
          <p:txBody>
            <a:bodyPr wrap="square" lIns="0" tIns="0" rIns="0" bIns="0" rtlCol="0"/>
            <a:lstStyle/>
            <a:p>
              <a:endParaRPr/>
            </a:p>
          </p:txBody>
        </p:sp>
        <p:sp>
          <p:nvSpPr>
            <p:cNvPr id="84" name="object 84"/>
            <p:cNvSpPr/>
            <p:nvPr/>
          </p:nvSpPr>
          <p:spPr>
            <a:xfrm>
              <a:off x="2441092" y="1634351"/>
              <a:ext cx="836930" cy="149860"/>
            </a:xfrm>
            <a:custGeom>
              <a:avLst/>
              <a:gdLst/>
              <a:ahLst/>
              <a:cxnLst/>
              <a:rect l="l" t="t" r="r" b="b"/>
              <a:pathLst>
                <a:path w="836929" h="149860">
                  <a:moveTo>
                    <a:pt x="0" y="149397"/>
                  </a:moveTo>
                  <a:lnTo>
                    <a:pt x="149397" y="149397"/>
                  </a:lnTo>
                  <a:lnTo>
                    <a:pt x="149397" y="0"/>
                  </a:lnTo>
                  <a:lnTo>
                    <a:pt x="0" y="0"/>
                  </a:lnTo>
                  <a:lnTo>
                    <a:pt x="0" y="149397"/>
                  </a:lnTo>
                  <a:close/>
                </a:path>
                <a:path w="836929" h="149860">
                  <a:moveTo>
                    <a:pt x="418319" y="149397"/>
                  </a:moveTo>
                  <a:lnTo>
                    <a:pt x="567725" y="149397"/>
                  </a:lnTo>
                  <a:lnTo>
                    <a:pt x="567725" y="0"/>
                  </a:lnTo>
                  <a:lnTo>
                    <a:pt x="418319" y="0"/>
                  </a:lnTo>
                  <a:lnTo>
                    <a:pt x="418319" y="149397"/>
                  </a:lnTo>
                  <a:close/>
                </a:path>
                <a:path w="836929" h="149860">
                  <a:moveTo>
                    <a:pt x="687241" y="149397"/>
                  </a:moveTo>
                  <a:lnTo>
                    <a:pt x="836639" y="149397"/>
                  </a:lnTo>
                  <a:lnTo>
                    <a:pt x="836639" y="0"/>
                  </a:lnTo>
                  <a:lnTo>
                    <a:pt x="687241" y="0"/>
                  </a:lnTo>
                  <a:lnTo>
                    <a:pt x="687241" y="149397"/>
                  </a:lnTo>
                  <a:close/>
                </a:path>
              </a:pathLst>
            </a:custGeom>
            <a:ln w="5267">
              <a:solidFill>
                <a:srgbClr val="231F20"/>
              </a:solidFill>
            </a:ln>
          </p:spPr>
          <p:txBody>
            <a:bodyPr wrap="square" lIns="0" tIns="0" rIns="0" bIns="0" rtlCol="0"/>
            <a:lstStyle/>
            <a:p>
              <a:endParaRPr/>
            </a:p>
          </p:txBody>
        </p:sp>
        <p:sp>
          <p:nvSpPr>
            <p:cNvPr id="85" name="object 85"/>
            <p:cNvSpPr/>
            <p:nvPr/>
          </p:nvSpPr>
          <p:spPr>
            <a:xfrm>
              <a:off x="3576536" y="1634351"/>
              <a:ext cx="149860" cy="149860"/>
            </a:xfrm>
            <a:custGeom>
              <a:avLst/>
              <a:gdLst/>
              <a:ahLst/>
              <a:cxnLst/>
              <a:rect l="l" t="t" r="r" b="b"/>
              <a:pathLst>
                <a:path w="149860" h="149860">
                  <a:moveTo>
                    <a:pt x="149397" y="0"/>
                  </a:moveTo>
                  <a:lnTo>
                    <a:pt x="0" y="0"/>
                  </a:lnTo>
                  <a:lnTo>
                    <a:pt x="0" y="149397"/>
                  </a:lnTo>
                  <a:lnTo>
                    <a:pt x="149397" y="149397"/>
                  </a:lnTo>
                  <a:lnTo>
                    <a:pt x="149397" y="0"/>
                  </a:lnTo>
                  <a:close/>
                </a:path>
              </a:pathLst>
            </a:custGeom>
            <a:solidFill>
              <a:srgbClr val="D1D3D4"/>
            </a:solidFill>
          </p:spPr>
          <p:txBody>
            <a:bodyPr wrap="square" lIns="0" tIns="0" rIns="0" bIns="0" rtlCol="0"/>
            <a:lstStyle/>
            <a:p>
              <a:endParaRPr/>
            </a:p>
          </p:txBody>
        </p:sp>
        <p:sp>
          <p:nvSpPr>
            <p:cNvPr id="86" name="object 86"/>
            <p:cNvSpPr/>
            <p:nvPr/>
          </p:nvSpPr>
          <p:spPr>
            <a:xfrm>
              <a:off x="3576536" y="1634351"/>
              <a:ext cx="149860" cy="149860"/>
            </a:xfrm>
            <a:custGeom>
              <a:avLst/>
              <a:gdLst/>
              <a:ahLst/>
              <a:cxnLst/>
              <a:rect l="l" t="t" r="r" b="b"/>
              <a:pathLst>
                <a:path w="149860" h="149860">
                  <a:moveTo>
                    <a:pt x="0" y="149397"/>
                  </a:moveTo>
                  <a:lnTo>
                    <a:pt x="149397" y="149397"/>
                  </a:lnTo>
                  <a:lnTo>
                    <a:pt x="149397" y="0"/>
                  </a:lnTo>
                  <a:lnTo>
                    <a:pt x="0" y="0"/>
                  </a:lnTo>
                  <a:lnTo>
                    <a:pt x="0" y="149397"/>
                  </a:lnTo>
                  <a:close/>
                </a:path>
              </a:pathLst>
            </a:custGeom>
            <a:ln w="5267">
              <a:solidFill>
                <a:srgbClr val="231F20"/>
              </a:solidFill>
            </a:ln>
          </p:spPr>
          <p:txBody>
            <a:bodyPr wrap="square" lIns="0" tIns="0" rIns="0" bIns="0" rtlCol="0"/>
            <a:lstStyle/>
            <a:p>
              <a:endParaRPr/>
            </a:p>
          </p:txBody>
        </p:sp>
        <p:sp>
          <p:nvSpPr>
            <p:cNvPr id="87" name="object 87"/>
            <p:cNvSpPr/>
            <p:nvPr/>
          </p:nvSpPr>
          <p:spPr>
            <a:xfrm>
              <a:off x="3845458" y="1634351"/>
              <a:ext cx="149860" cy="149860"/>
            </a:xfrm>
            <a:custGeom>
              <a:avLst/>
              <a:gdLst/>
              <a:ahLst/>
              <a:cxnLst/>
              <a:rect l="l" t="t" r="r" b="b"/>
              <a:pathLst>
                <a:path w="149860" h="149860">
                  <a:moveTo>
                    <a:pt x="149394" y="0"/>
                  </a:moveTo>
                  <a:lnTo>
                    <a:pt x="0" y="0"/>
                  </a:lnTo>
                  <a:lnTo>
                    <a:pt x="0" y="149397"/>
                  </a:lnTo>
                  <a:lnTo>
                    <a:pt x="149394" y="149397"/>
                  </a:lnTo>
                  <a:lnTo>
                    <a:pt x="149394" y="0"/>
                  </a:lnTo>
                  <a:close/>
                </a:path>
              </a:pathLst>
            </a:custGeom>
            <a:solidFill>
              <a:srgbClr val="D1D3D4"/>
            </a:solidFill>
          </p:spPr>
          <p:txBody>
            <a:bodyPr wrap="square" lIns="0" tIns="0" rIns="0" bIns="0" rtlCol="0"/>
            <a:lstStyle/>
            <a:p>
              <a:endParaRPr/>
            </a:p>
          </p:txBody>
        </p:sp>
        <p:sp>
          <p:nvSpPr>
            <p:cNvPr id="88" name="object 88"/>
            <p:cNvSpPr/>
            <p:nvPr/>
          </p:nvSpPr>
          <p:spPr>
            <a:xfrm>
              <a:off x="1186135" y="1305668"/>
              <a:ext cx="2809240" cy="478155"/>
            </a:xfrm>
            <a:custGeom>
              <a:avLst/>
              <a:gdLst/>
              <a:ahLst/>
              <a:cxnLst/>
              <a:rect l="l" t="t" r="r" b="b"/>
              <a:pathLst>
                <a:path w="2809240" h="478155">
                  <a:moveTo>
                    <a:pt x="2659323" y="478080"/>
                  </a:moveTo>
                  <a:lnTo>
                    <a:pt x="2808717" y="478080"/>
                  </a:lnTo>
                  <a:lnTo>
                    <a:pt x="2808717" y="328683"/>
                  </a:lnTo>
                  <a:lnTo>
                    <a:pt x="2659323" y="328683"/>
                  </a:lnTo>
                  <a:lnTo>
                    <a:pt x="2659323" y="478080"/>
                  </a:lnTo>
                  <a:close/>
                </a:path>
                <a:path w="2809240" h="478155">
                  <a:moveTo>
                    <a:pt x="0" y="149401"/>
                  </a:moveTo>
                  <a:lnTo>
                    <a:pt x="149397" y="149401"/>
                  </a:lnTo>
                  <a:lnTo>
                    <a:pt x="149397" y="0"/>
                  </a:lnTo>
                  <a:lnTo>
                    <a:pt x="0" y="0"/>
                  </a:lnTo>
                  <a:lnTo>
                    <a:pt x="0" y="149401"/>
                  </a:lnTo>
                  <a:close/>
                </a:path>
                <a:path w="2809240" h="478155">
                  <a:moveTo>
                    <a:pt x="358549" y="149401"/>
                  </a:moveTo>
                  <a:lnTo>
                    <a:pt x="507951" y="149401"/>
                  </a:lnTo>
                  <a:lnTo>
                    <a:pt x="507951" y="0"/>
                  </a:lnTo>
                  <a:lnTo>
                    <a:pt x="358549" y="0"/>
                  </a:lnTo>
                  <a:lnTo>
                    <a:pt x="358549" y="149401"/>
                  </a:lnTo>
                  <a:close/>
                </a:path>
                <a:path w="2809240" h="478155">
                  <a:moveTo>
                    <a:pt x="717123" y="149401"/>
                  </a:moveTo>
                  <a:lnTo>
                    <a:pt x="866517" y="149401"/>
                  </a:lnTo>
                  <a:lnTo>
                    <a:pt x="866517" y="0"/>
                  </a:lnTo>
                  <a:lnTo>
                    <a:pt x="717123" y="0"/>
                  </a:lnTo>
                  <a:lnTo>
                    <a:pt x="717123" y="149401"/>
                  </a:lnTo>
                  <a:close/>
                </a:path>
              </a:pathLst>
            </a:custGeom>
            <a:ln w="5267">
              <a:solidFill>
                <a:srgbClr val="231F20"/>
              </a:solidFill>
            </a:ln>
          </p:spPr>
          <p:txBody>
            <a:bodyPr wrap="square" lIns="0" tIns="0" rIns="0" bIns="0" rtlCol="0"/>
            <a:lstStyle/>
            <a:p>
              <a:endParaRPr/>
            </a:p>
          </p:txBody>
        </p:sp>
        <p:sp>
          <p:nvSpPr>
            <p:cNvPr id="89" name="object 89"/>
            <p:cNvSpPr/>
            <p:nvPr/>
          </p:nvSpPr>
          <p:spPr>
            <a:xfrm>
              <a:off x="2097466" y="812644"/>
              <a:ext cx="149860" cy="149860"/>
            </a:xfrm>
            <a:custGeom>
              <a:avLst/>
              <a:gdLst/>
              <a:ahLst/>
              <a:cxnLst/>
              <a:rect l="l" t="t" r="r" b="b"/>
              <a:pathLst>
                <a:path w="149860" h="149859">
                  <a:moveTo>
                    <a:pt x="149401" y="0"/>
                  </a:moveTo>
                  <a:lnTo>
                    <a:pt x="0" y="0"/>
                  </a:lnTo>
                  <a:lnTo>
                    <a:pt x="0" y="149401"/>
                  </a:lnTo>
                  <a:lnTo>
                    <a:pt x="149401" y="149401"/>
                  </a:lnTo>
                  <a:lnTo>
                    <a:pt x="149401" y="0"/>
                  </a:lnTo>
                  <a:close/>
                </a:path>
              </a:pathLst>
            </a:custGeom>
            <a:solidFill>
              <a:srgbClr val="FFFFFF"/>
            </a:solidFill>
          </p:spPr>
          <p:txBody>
            <a:bodyPr wrap="square" lIns="0" tIns="0" rIns="0" bIns="0" rtlCol="0"/>
            <a:lstStyle/>
            <a:p>
              <a:endParaRPr/>
            </a:p>
          </p:txBody>
        </p:sp>
        <p:sp>
          <p:nvSpPr>
            <p:cNvPr id="90" name="object 90"/>
            <p:cNvSpPr/>
            <p:nvPr/>
          </p:nvSpPr>
          <p:spPr>
            <a:xfrm>
              <a:off x="2097466" y="812644"/>
              <a:ext cx="149860" cy="149860"/>
            </a:xfrm>
            <a:custGeom>
              <a:avLst/>
              <a:gdLst/>
              <a:ahLst/>
              <a:cxnLst/>
              <a:rect l="l" t="t" r="r" b="b"/>
              <a:pathLst>
                <a:path w="149860" h="149859">
                  <a:moveTo>
                    <a:pt x="0" y="149401"/>
                  </a:moveTo>
                  <a:lnTo>
                    <a:pt x="149401" y="149401"/>
                  </a:lnTo>
                  <a:lnTo>
                    <a:pt x="149401" y="0"/>
                  </a:lnTo>
                  <a:lnTo>
                    <a:pt x="0" y="0"/>
                  </a:lnTo>
                  <a:lnTo>
                    <a:pt x="0" y="149401"/>
                  </a:lnTo>
                  <a:close/>
                </a:path>
              </a:pathLst>
            </a:custGeom>
            <a:ln w="5267">
              <a:solidFill>
                <a:srgbClr val="231F20"/>
              </a:solidFill>
            </a:ln>
          </p:spPr>
          <p:txBody>
            <a:bodyPr wrap="square" lIns="0" tIns="0" rIns="0" bIns="0" rtlCol="0"/>
            <a:lstStyle/>
            <a:p>
              <a:endParaRPr/>
            </a:p>
          </p:txBody>
        </p:sp>
        <p:sp>
          <p:nvSpPr>
            <p:cNvPr id="91" name="object 91"/>
            <p:cNvSpPr/>
            <p:nvPr/>
          </p:nvSpPr>
          <p:spPr>
            <a:xfrm>
              <a:off x="2261810" y="1305668"/>
              <a:ext cx="149860" cy="149860"/>
            </a:xfrm>
            <a:custGeom>
              <a:avLst/>
              <a:gdLst/>
              <a:ahLst/>
              <a:cxnLst/>
              <a:rect l="l" t="t" r="r" b="b"/>
              <a:pathLst>
                <a:path w="149860" h="149859">
                  <a:moveTo>
                    <a:pt x="149401" y="0"/>
                  </a:moveTo>
                  <a:lnTo>
                    <a:pt x="0" y="0"/>
                  </a:lnTo>
                  <a:lnTo>
                    <a:pt x="0" y="149401"/>
                  </a:lnTo>
                  <a:lnTo>
                    <a:pt x="149401" y="149401"/>
                  </a:lnTo>
                  <a:lnTo>
                    <a:pt x="149401" y="0"/>
                  </a:lnTo>
                  <a:close/>
                </a:path>
              </a:pathLst>
            </a:custGeom>
            <a:solidFill>
              <a:srgbClr val="FFFFFF"/>
            </a:solidFill>
          </p:spPr>
          <p:txBody>
            <a:bodyPr wrap="square" lIns="0" tIns="0" rIns="0" bIns="0" rtlCol="0"/>
            <a:lstStyle/>
            <a:p>
              <a:endParaRPr/>
            </a:p>
          </p:txBody>
        </p:sp>
        <p:sp>
          <p:nvSpPr>
            <p:cNvPr id="92" name="object 92"/>
            <p:cNvSpPr/>
            <p:nvPr/>
          </p:nvSpPr>
          <p:spPr>
            <a:xfrm>
              <a:off x="2261810" y="1305668"/>
              <a:ext cx="508000" cy="149860"/>
            </a:xfrm>
            <a:custGeom>
              <a:avLst/>
              <a:gdLst/>
              <a:ahLst/>
              <a:cxnLst/>
              <a:rect l="l" t="t" r="r" b="b"/>
              <a:pathLst>
                <a:path w="508000" h="149859">
                  <a:moveTo>
                    <a:pt x="0" y="149401"/>
                  </a:moveTo>
                  <a:lnTo>
                    <a:pt x="149401" y="149401"/>
                  </a:lnTo>
                  <a:lnTo>
                    <a:pt x="149401" y="0"/>
                  </a:lnTo>
                  <a:lnTo>
                    <a:pt x="0" y="0"/>
                  </a:lnTo>
                  <a:lnTo>
                    <a:pt x="0" y="149401"/>
                  </a:lnTo>
                  <a:close/>
                </a:path>
                <a:path w="508000" h="149859">
                  <a:moveTo>
                    <a:pt x="358562" y="149401"/>
                  </a:moveTo>
                  <a:lnTo>
                    <a:pt x="507964" y="149401"/>
                  </a:lnTo>
                  <a:lnTo>
                    <a:pt x="507964" y="0"/>
                  </a:lnTo>
                  <a:lnTo>
                    <a:pt x="358562" y="0"/>
                  </a:lnTo>
                  <a:lnTo>
                    <a:pt x="358562" y="149401"/>
                  </a:lnTo>
                  <a:close/>
                </a:path>
              </a:pathLst>
            </a:custGeom>
            <a:ln w="5267">
              <a:solidFill>
                <a:srgbClr val="231F20"/>
              </a:solidFill>
            </a:ln>
          </p:spPr>
          <p:txBody>
            <a:bodyPr wrap="square" lIns="0" tIns="0" rIns="0" bIns="0" rtlCol="0"/>
            <a:lstStyle/>
            <a:p>
              <a:endParaRPr/>
            </a:p>
          </p:txBody>
        </p:sp>
        <p:sp>
          <p:nvSpPr>
            <p:cNvPr id="93" name="object 93"/>
            <p:cNvSpPr/>
            <p:nvPr/>
          </p:nvSpPr>
          <p:spPr>
            <a:xfrm>
              <a:off x="2978935" y="1305668"/>
              <a:ext cx="149860" cy="149860"/>
            </a:xfrm>
            <a:custGeom>
              <a:avLst/>
              <a:gdLst/>
              <a:ahLst/>
              <a:cxnLst/>
              <a:rect l="l" t="t" r="r" b="b"/>
              <a:pathLst>
                <a:path w="149860" h="149859">
                  <a:moveTo>
                    <a:pt x="149401" y="0"/>
                  </a:moveTo>
                  <a:lnTo>
                    <a:pt x="0" y="0"/>
                  </a:lnTo>
                  <a:lnTo>
                    <a:pt x="0" y="149401"/>
                  </a:lnTo>
                  <a:lnTo>
                    <a:pt x="149401" y="149401"/>
                  </a:lnTo>
                  <a:lnTo>
                    <a:pt x="149401" y="0"/>
                  </a:lnTo>
                  <a:close/>
                </a:path>
              </a:pathLst>
            </a:custGeom>
            <a:solidFill>
              <a:srgbClr val="FFFFFF"/>
            </a:solidFill>
          </p:spPr>
          <p:txBody>
            <a:bodyPr wrap="square" lIns="0" tIns="0" rIns="0" bIns="0" rtlCol="0"/>
            <a:lstStyle/>
            <a:p>
              <a:endParaRPr/>
            </a:p>
          </p:txBody>
        </p:sp>
        <p:sp>
          <p:nvSpPr>
            <p:cNvPr id="94" name="object 94"/>
            <p:cNvSpPr/>
            <p:nvPr/>
          </p:nvSpPr>
          <p:spPr>
            <a:xfrm>
              <a:off x="2978935" y="1305668"/>
              <a:ext cx="508000" cy="149860"/>
            </a:xfrm>
            <a:custGeom>
              <a:avLst/>
              <a:gdLst/>
              <a:ahLst/>
              <a:cxnLst/>
              <a:rect l="l" t="t" r="r" b="b"/>
              <a:pathLst>
                <a:path w="508000" h="149859">
                  <a:moveTo>
                    <a:pt x="0" y="149401"/>
                  </a:moveTo>
                  <a:lnTo>
                    <a:pt x="149401" y="149401"/>
                  </a:lnTo>
                  <a:lnTo>
                    <a:pt x="149401" y="0"/>
                  </a:lnTo>
                  <a:lnTo>
                    <a:pt x="0" y="0"/>
                  </a:lnTo>
                  <a:lnTo>
                    <a:pt x="0" y="149401"/>
                  </a:lnTo>
                  <a:close/>
                </a:path>
                <a:path w="508000" h="149859">
                  <a:moveTo>
                    <a:pt x="358562" y="149401"/>
                  </a:moveTo>
                  <a:lnTo>
                    <a:pt x="507960" y="149401"/>
                  </a:lnTo>
                  <a:lnTo>
                    <a:pt x="507960" y="0"/>
                  </a:lnTo>
                  <a:lnTo>
                    <a:pt x="358562" y="0"/>
                  </a:lnTo>
                  <a:lnTo>
                    <a:pt x="358562" y="149401"/>
                  </a:lnTo>
                  <a:close/>
                </a:path>
              </a:pathLst>
            </a:custGeom>
            <a:ln w="5267">
              <a:solidFill>
                <a:srgbClr val="231F20"/>
              </a:solidFill>
            </a:ln>
          </p:spPr>
          <p:txBody>
            <a:bodyPr wrap="square" lIns="0" tIns="0" rIns="0" bIns="0" rtlCol="0"/>
            <a:lstStyle/>
            <a:p>
              <a:endParaRPr/>
            </a:p>
          </p:txBody>
        </p:sp>
        <p:sp>
          <p:nvSpPr>
            <p:cNvPr id="95" name="object 95"/>
            <p:cNvSpPr/>
            <p:nvPr/>
          </p:nvSpPr>
          <p:spPr>
            <a:xfrm>
              <a:off x="3696061" y="1305668"/>
              <a:ext cx="149860" cy="149860"/>
            </a:xfrm>
            <a:custGeom>
              <a:avLst/>
              <a:gdLst/>
              <a:ahLst/>
              <a:cxnLst/>
              <a:rect l="l" t="t" r="r" b="b"/>
              <a:pathLst>
                <a:path w="149860" h="149859">
                  <a:moveTo>
                    <a:pt x="149397" y="0"/>
                  </a:moveTo>
                  <a:lnTo>
                    <a:pt x="0" y="0"/>
                  </a:lnTo>
                  <a:lnTo>
                    <a:pt x="0" y="149401"/>
                  </a:lnTo>
                  <a:lnTo>
                    <a:pt x="149397" y="149401"/>
                  </a:lnTo>
                  <a:lnTo>
                    <a:pt x="149397" y="0"/>
                  </a:lnTo>
                  <a:close/>
                </a:path>
              </a:pathLst>
            </a:custGeom>
            <a:solidFill>
              <a:srgbClr val="FFFFFF"/>
            </a:solidFill>
          </p:spPr>
          <p:txBody>
            <a:bodyPr wrap="square" lIns="0" tIns="0" rIns="0" bIns="0" rtlCol="0"/>
            <a:lstStyle/>
            <a:p>
              <a:endParaRPr/>
            </a:p>
          </p:txBody>
        </p:sp>
        <p:sp>
          <p:nvSpPr>
            <p:cNvPr id="96" name="object 96"/>
            <p:cNvSpPr/>
            <p:nvPr/>
          </p:nvSpPr>
          <p:spPr>
            <a:xfrm>
              <a:off x="3696061" y="1305668"/>
              <a:ext cx="149860" cy="149860"/>
            </a:xfrm>
            <a:custGeom>
              <a:avLst/>
              <a:gdLst/>
              <a:ahLst/>
              <a:cxnLst/>
              <a:rect l="l" t="t" r="r" b="b"/>
              <a:pathLst>
                <a:path w="149860" h="149859">
                  <a:moveTo>
                    <a:pt x="0" y="149401"/>
                  </a:moveTo>
                  <a:lnTo>
                    <a:pt x="149397" y="149401"/>
                  </a:lnTo>
                  <a:lnTo>
                    <a:pt x="149397" y="0"/>
                  </a:lnTo>
                  <a:lnTo>
                    <a:pt x="0" y="0"/>
                  </a:lnTo>
                  <a:lnTo>
                    <a:pt x="0" y="149401"/>
                  </a:lnTo>
                  <a:close/>
                </a:path>
              </a:pathLst>
            </a:custGeom>
            <a:ln w="5267">
              <a:solidFill>
                <a:srgbClr val="231F20"/>
              </a:solidFill>
            </a:ln>
          </p:spPr>
          <p:txBody>
            <a:bodyPr wrap="square" lIns="0" tIns="0" rIns="0" bIns="0" rtlCol="0"/>
            <a:lstStyle/>
            <a:p>
              <a:endParaRPr/>
            </a:p>
          </p:txBody>
        </p:sp>
        <p:sp>
          <p:nvSpPr>
            <p:cNvPr id="97" name="object 97"/>
            <p:cNvSpPr/>
            <p:nvPr/>
          </p:nvSpPr>
          <p:spPr>
            <a:xfrm>
              <a:off x="2231937" y="1933149"/>
              <a:ext cx="149860" cy="149860"/>
            </a:xfrm>
            <a:custGeom>
              <a:avLst/>
              <a:gdLst/>
              <a:ahLst/>
              <a:cxnLst/>
              <a:rect l="l" t="t" r="r" b="b"/>
              <a:pathLst>
                <a:path w="149860" h="149860">
                  <a:moveTo>
                    <a:pt x="149394" y="0"/>
                  </a:moveTo>
                  <a:lnTo>
                    <a:pt x="0" y="0"/>
                  </a:lnTo>
                  <a:lnTo>
                    <a:pt x="0" y="149394"/>
                  </a:lnTo>
                  <a:lnTo>
                    <a:pt x="149394" y="149394"/>
                  </a:lnTo>
                  <a:lnTo>
                    <a:pt x="149394" y="0"/>
                  </a:lnTo>
                  <a:close/>
                </a:path>
              </a:pathLst>
            </a:custGeom>
            <a:solidFill>
              <a:srgbClr val="D1D3D4"/>
            </a:solidFill>
          </p:spPr>
          <p:txBody>
            <a:bodyPr wrap="square" lIns="0" tIns="0" rIns="0" bIns="0" rtlCol="0"/>
            <a:lstStyle/>
            <a:p>
              <a:endParaRPr/>
            </a:p>
          </p:txBody>
        </p:sp>
        <p:sp>
          <p:nvSpPr>
            <p:cNvPr id="98" name="object 98"/>
            <p:cNvSpPr/>
            <p:nvPr/>
          </p:nvSpPr>
          <p:spPr>
            <a:xfrm>
              <a:off x="2231937" y="1933149"/>
              <a:ext cx="149860" cy="149860"/>
            </a:xfrm>
            <a:custGeom>
              <a:avLst/>
              <a:gdLst/>
              <a:ahLst/>
              <a:cxnLst/>
              <a:rect l="l" t="t" r="r" b="b"/>
              <a:pathLst>
                <a:path w="149860" h="149860">
                  <a:moveTo>
                    <a:pt x="0" y="149394"/>
                  </a:moveTo>
                  <a:lnTo>
                    <a:pt x="149394" y="149394"/>
                  </a:lnTo>
                  <a:lnTo>
                    <a:pt x="149394" y="0"/>
                  </a:lnTo>
                  <a:lnTo>
                    <a:pt x="0" y="0"/>
                  </a:lnTo>
                  <a:lnTo>
                    <a:pt x="0" y="149394"/>
                  </a:lnTo>
                  <a:close/>
                </a:path>
              </a:pathLst>
            </a:custGeom>
            <a:ln w="5267">
              <a:solidFill>
                <a:srgbClr val="231F20"/>
              </a:solidFill>
            </a:ln>
          </p:spPr>
          <p:txBody>
            <a:bodyPr wrap="square" lIns="0" tIns="0" rIns="0" bIns="0" rtlCol="0"/>
            <a:lstStyle/>
            <a:p>
              <a:endParaRPr/>
            </a:p>
          </p:txBody>
        </p:sp>
        <p:sp>
          <p:nvSpPr>
            <p:cNvPr id="99" name="object 99"/>
            <p:cNvSpPr/>
            <p:nvPr/>
          </p:nvSpPr>
          <p:spPr>
            <a:xfrm>
              <a:off x="2859411" y="1933149"/>
              <a:ext cx="149860" cy="149860"/>
            </a:xfrm>
            <a:custGeom>
              <a:avLst/>
              <a:gdLst/>
              <a:ahLst/>
              <a:cxnLst/>
              <a:rect l="l" t="t" r="r" b="b"/>
              <a:pathLst>
                <a:path w="149860" h="149860">
                  <a:moveTo>
                    <a:pt x="149406" y="0"/>
                  </a:moveTo>
                  <a:lnTo>
                    <a:pt x="0" y="0"/>
                  </a:lnTo>
                  <a:lnTo>
                    <a:pt x="0" y="149394"/>
                  </a:lnTo>
                  <a:lnTo>
                    <a:pt x="149406" y="149394"/>
                  </a:lnTo>
                  <a:lnTo>
                    <a:pt x="149406" y="0"/>
                  </a:lnTo>
                  <a:close/>
                </a:path>
              </a:pathLst>
            </a:custGeom>
            <a:solidFill>
              <a:srgbClr val="D1D3D4"/>
            </a:solidFill>
          </p:spPr>
          <p:txBody>
            <a:bodyPr wrap="square" lIns="0" tIns="0" rIns="0" bIns="0" rtlCol="0"/>
            <a:lstStyle/>
            <a:p>
              <a:endParaRPr/>
            </a:p>
          </p:txBody>
        </p:sp>
        <p:sp>
          <p:nvSpPr>
            <p:cNvPr id="100" name="object 100"/>
            <p:cNvSpPr/>
            <p:nvPr/>
          </p:nvSpPr>
          <p:spPr>
            <a:xfrm>
              <a:off x="2859411" y="1933149"/>
              <a:ext cx="149860" cy="149860"/>
            </a:xfrm>
            <a:custGeom>
              <a:avLst/>
              <a:gdLst/>
              <a:ahLst/>
              <a:cxnLst/>
              <a:rect l="l" t="t" r="r" b="b"/>
              <a:pathLst>
                <a:path w="149860" h="149860">
                  <a:moveTo>
                    <a:pt x="0" y="149394"/>
                  </a:moveTo>
                  <a:lnTo>
                    <a:pt x="149406" y="149394"/>
                  </a:lnTo>
                  <a:lnTo>
                    <a:pt x="149406" y="0"/>
                  </a:lnTo>
                  <a:lnTo>
                    <a:pt x="0" y="0"/>
                  </a:lnTo>
                  <a:lnTo>
                    <a:pt x="0" y="149394"/>
                  </a:lnTo>
                  <a:close/>
                </a:path>
              </a:pathLst>
            </a:custGeom>
            <a:ln w="5267">
              <a:solidFill>
                <a:srgbClr val="231F20"/>
              </a:solidFill>
            </a:ln>
          </p:spPr>
          <p:txBody>
            <a:bodyPr wrap="square" lIns="0" tIns="0" rIns="0" bIns="0" rtlCol="0"/>
            <a:lstStyle/>
            <a:p>
              <a:endParaRPr/>
            </a:p>
          </p:txBody>
        </p:sp>
        <p:sp>
          <p:nvSpPr>
            <p:cNvPr id="101" name="object 101"/>
            <p:cNvSpPr/>
            <p:nvPr/>
          </p:nvSpPr>
          <p:spPr>
            <a:xfrm>
              <a:off x="3128333" y="1933149"/>
              <a:ext cx="149860" cy="149860"/>
            </a:xfrm>
            <a:custGeom>
              <a:avLst/>
              <a:gdLst/>
              <a:ahLst/>
              <a:cxnLst/>
              <a:rect l="l" t="t" r="r" b="b"/>
              <a:pathLst>
                <a:path w="149860" h="149860">
                  <a:moveTo>
                    <a:pt x="149397" y="0"/>
                  </a:moveTo>
                  <a:lnTo>
                    <a:pt x="0" y="0"/>
                  </a:lnTo>
                  <a:lnTo>
                    <a:pt x="0" y="149394"/>
                  </a:lnTo>
                  <a:lnTo>
                    <a:pt x="149397" y="149394"/>
                  </a:lnTo>
                  <a:lnTo>
                    <a:pt x="149397" y="0"/>
                  </a:lnTo>
                  <a:close/>
                </a:path>
              </a:pathLst>
            </a:custGeom>
            <a:solidFill>
              <a:srgbClr val="D1D3D4"/>
            </a:solidFill>
          </p:spPr>
          <p:txBody>
            <a:bodyPr wrap="square" lIns="0" tIns="0" rIns="0" bIns="0" rtlCol="0"/>
            <a:lstStyle/>
            <a:p>
              <a:endParaRPr/>
            </a:p>
          </p:txBody>
        </p:sp>
        <p:sp>
          <p:nvSpPr>
            <p:cNvPr id="102" name="object 102"/>
            <p:cNvSpPr/>
            <p:nvPr/>
          </p:nvSpPr>
          <p:spPr>
            <a:xfrm>
              <a:off x="3128333" y="1933149"/>
              <a:ext cx="149860" cy="149860"/>
            </a:xfrm>
            <a:custGeom>
              <a:avLst/>
              <a:gdLst/>
              <a:ahLst/>
              <a:cxnLst/>
              <a:rect l="l" t="t" r="r" b="b"/>
              <a:pathLst>
                <a:path w="149860" h="149860">
                  <a:moveTo>
                    <a:pt x="0" y="149394"/>
                  </a:moveTo>
                  <a:lnTo>
                    <a:pt x="149397" y="149394"/>
                  </a:lnTo>
                  <a:lnTo>
                    <a:pt x="149397" y="0"/>
                  </a:lnTo>
                  <a:lnTo>
                    <a:pt x="0" y="0"/>
                  </a:lnTo>
                  <a:lnTo>
                    <a:pt x="0" y="149394"/>
                  </a:lnTo>
                  <a:close/>
                </a:path>
              </a:pathLst>
            </a:custGeom>
            <a:ln w="5267">
              <a:solidFill>
                <a:srgbClr val="231F20"/>
              </a:solidFill>
            </a:ln>
          </p:spPr>
          <p:txBody>
            <a:bodyPr wrap="square" lIns="0" tIns="0" rIns="0" bIns="0" rtlCol="0"/>
            <a:lstStyle/>
            <a:p>
              <a:endParaRPr/>
            </a:p>
          </p:txBody>
        </p:sp>
        <p:sp>
          <p:nvSpPr>
            <p:cNvPr id="103" name="object 103"/>
            <p:cNvSpPr/>
            <p:nvPr/>
          </p:nvSpPr>
          <p:spPr>
            <a:xfrm>
              <a:off x="3845458" y="1933149"/>
              <a:ext cx="149860" cy="149860"/>
            </a:xfrm>
            <a:custGeom>
              <a:avLst/>
              <a:gdLst/>
              <a:ahLst/>
              <a:cxnLst/>
              <a:rect l="l" t="t" r="r" b="b"/>
              <a:pathLst>
                <a:path w="149860" h="149860">
                  <a:moveTo>
                    <a:pt x="149394" y="0"/>
                  </a:moveTo>
                  <a:lnTo>
                    <a:pt x="0" y="0"/>
                  </a:lnTo>
                  <a:lnTo>
                    <a:pt x="0" y="149394"/>
                  </a:lnTo>
                  <a:lnTo>
                    <a:pt x="149394" y="149394"/>
                  </a:lnTo>
                  <a:lnTo>
                    <a:pt x="149394" y="0"/>
                  </a:lnTo>
                  <a:close/>
                </a:path>
              </a:pathLst>
            </a:custGeom>
            <a:solidFill>
              <a:srgbClr val="D1D3D4"/>
            </a:solidFill>
          </p:spPr>
          <p:txBody>
            <a:bodyPr wrap="square" lIns="0" tIns="0" rIns="0" bIns="0" rtlCol="0"/>
            <a:lstStyle/>
            <a:p>
              <a:endParaRPr/>
            </a:p>
          </p:txBody>
        </p:sp>
        <p:sp>
          <p:nvSpPr>
            <p:cNvPr id="104" name="object 104"/>
            <p:cNvSpPr/>
            <p:nvPr/>
          </p:nvSpPr>
          <p:spPr>
            <a:xfrm>
              <a:off x="3845458" y="1933149"/>
              <a:ext cx="149860" cy="149860"/>
            </a:xfrm>
            <a:custGeom>
              <a:avLst/>
              <a:gdLst/>
              <a:ahLst/>
              <a:cxnLst/>
              <a:rect l="l" t="t" r="r" b="b"/>
              <a:pathLst>
                <a:path w="149860" h="149860">
                  <a:moveTo>
                    <a:pt x="0" y="149394"/>
                  </a:moveTo>
                  <a:lnTo>
                    <a:pt x="149394" y="149394"/>
                  </a:lnTo>
                  <a:lnTo>
                    <a:pt x="149394" y="0"/>
                  </a:lnTo>
                  <a:lnTo>
                    <a:pt x="0" y="0"/>
                  </a:lnTo>
                  <a:lnTo>
                    <a:pt x="0" y="149394"/>
                  </a:lnTo>
                  <a:close/>
                </a:path>
              </a:pathLst>
            </a:custGeom>
            <a:ln w="5267">
              <a:solidFill>
                <a:srgbClr val="231F20"/>
              </a:solidFill>
            </a:ln>
          </p:spPr>
          <p:txBody>
            <a:bodyPr wrap="square" lIns="0" tIns="0" rIns="0" bIns="0" rtlCol="0"/>
            <a:lstStyle/>
            <a:p>
              <a:endParaRPr/>
            </a:p>
          </p:txBody>
        </p:sp>
        <p:sp>
          <p:nvSpPr>
            <p:cNvPr id="105" name="object 105"/>
            <p:cNvSpPr/>
            <p:nvPr/>
          </p:nvSpPr>
          <p:spPr>
            <a:xfrm>
              <a:off x="3725934" y="2231949"/>
              <a:ext cx="149860" cy="149860"/>
            </a:xfrm>
            <a:custGeom>
              <a:avLst/>
              <a:gdLst/>
              <a:ahLst/>
              <a:cxnLst/>
              <a:rect l="l" t="t" r="r" b="b"/>
              <a:pathLst>
                <a:path w="149860" h="149860">
                  <a:moveTo>
                    <a:pt x="149401" y="0"/>
                  </a:moveTo>
                  <a:lnTo>
                    <a:pt x="0" y="0"/>
                  </a:lnTo>
                  <a:lnTo>
                    <a:pt x="0" y="149401"/>
                  </a:lnTo>
                  <a:lnTo>
                    <a:pt x="149401" y="149401"/>
                  </a:lnTo>
                  <a:lnTo>
                    <a:pt x="149401" y="0"/>
                  </a:lnTo>
                  <a:close/>
                </a:path>
              </a:pathLst>
            </a:custGeom>
            <a:solidFill>
              <a:srgbClr val="D1D3D4"/>
            </a:solidFill>
          </p:spPr>
          <p:txBody>
            <a:bodyPr wrap="square" lIns="0" tIns="0" rIns="0" bIns="0" rtlCol="0"/>
            <a:lstStyle/>
            <a:p>
              <a:endParaRPr/>
            </a:p>
          </p:txBody>
        </p:sp>
        <p:sp>
          <p:nvSpPr>
            <p:cNvPr id="106" name="object 106"/>
            <p:cNvSpPr/>
            <p:nvPr/>
          </p:nvSpPr>
          <p:spPr>
            <a:xfrm>
              <a:off x="3725934" y="2231949"/>
              <a:ext cx="149860" cy="149860"/>
            </a:xfrm>
            <a:custGeom>
              <a:avLst/>
              <a:gdLst/>
              <a:ahLst/>
              <a:cxnLst/>
              <a:rect l="l" t="t" r="r" b="b"/>
              <a:pathLst>
                <a:path w="149860" h="149860">
                  <a:moveTo>
                    <a:pt x="0" y="149401"/>
                  </a:moveTo>
                  <a:lnTo>
                    <a:pt x="149401" y="149401"/>
                  </a:lnTo>
                  <a:lnTo>
                    <a:pt x="149401" y="0"/>
                  </a:lnTo>
                  <a:lnTo>
                    <a:pt x="0" y="0"/>
                  </a:lnTo>
                  <a:lnTo>
                    <a:pt x="0" y="149401"/>
                  </a:lnTo>
                  <a:close/>
                </a:path>
              </a:pathLst>
            </a:custGeom>
            <a:ln w="5267">
              <a:solidFill>
                <a:srgbClr val="231F20"/>
              </a:solidFill>
            </a:ln>
          </p:spPr>
          <p:txBody>
            <a:bodyPr wrap="square" lIns="0" tIns="0" rIns="0" bIns="0" rtlCol="0"/>
            <a:lstStyle/>
            <a:p>
              <a:endParaRPr/>
            </a:p>
          </p:txBody>
        </p:sp>
        <p:sp>
          <p:nvSpPr>
            <p:cNvPr id="107" name="object 107"/>
            <p:cNvSpPr/>
            <p:nvPr/>
          </p:nvSpPr>
          <p:spPr>
            <a:xfrm>
              <a:off x="3725934" y="2560630"/>
              <a:ext cx="149860" cy="149860"/>
            </a:xfrm>
            <a:custGeom>
              <a:avLst/>
              <a:gdLst/>
              <a:ahLst/>
              <a:cxnLst/>
              <a:rect l="l" t="t" r="r" b="b"/>
              <a:pathLst>
                <a:path w="149860" h="149860">
                  <a:moveTo>
                    <a:pt x="149401" y="0"/>
                  </a:moveTo>
                  <a:lnTo>
                    <a:pt x="0" y="0"/>
                  </a:lnTo>
                  <a:lnTo>
                    <a:pt x="0" y="149397"/>
                  </a:lnTo>
                  <a:lnTo>
                    <a:pt x="149401" y="149397"/>
                  </a:lnTo>
                  <a:lnTo>
                    <a:pt x="149401" y="0"/>
                  </a:lnTo>
                  <a:close/>
                </a:path>
              </a:pathLst>
            </a:custGeom>
            <a:solidFill>
              <a:srgbClr val="808285"/>
            </a:solidFill>
          </p:spPr>
          <p:txBody>
            <a:bodyPr wrap="square" lIns="0" tIns="0" rIns="0" bIns="0" rtlCol="0"/>
            <a:lstStyle/>
            <a:p>
              <a:endParaRPr/>
            </a:p>
          </p:txBody>
        </p:sp>
        <p:sp>
          <p:nvSpPr>
            <p:cNvPr id="108" name="object 108"/>
            <p:cNvSpPr/>
            <p:nvPr/>
          </p:nvSpPr>
          <p:spPr>
            <a:xfrm>
              <a:off x="3725934" y="2560630"/>
              <a:ext cx="149860" cy="149860"/>
            </a:xfrm>
            <a:custGeom>
              <a:avLst/>
              <a:gdLst/>
              <a:ahLst/>
              <a:cxnLst/>
              <a:rect l="l" t="t" r="r" b="b"/>
              <a:pathLst>
                <a:path w="149860" h="149860">
                  <a:moveTo>
                    <a:pt x="0" y="149397"/>
                  </a:moveTo>
                  <a:lnTo>
                    <a:pt x="149401" y="149397"/>
                  </a:lnTo>
                  <a:lnTo>
                    <a:pt x="149401" y="0"/>
                  </a:lnTo>
                  <a:lnTo>
                    <a:pt x="0" y="0"/>
                  </a:lnTo>
                  <a:lnTo>
                    <a:pt x="0" y="149397"/>
                  </a:lnTo>
                  <a:close/>
                </a:path>
              </a:pathLst>
            </a:custGeom>
            <a:ln w="5267">
              <a:solidFill>
                <a:srgbClr val="231F20"/>
              </a:solidFill>
            </a:ln>
          </p:spPr>
          <p:txBody>
            <a:bodyPr wrap="square" lIns="0" tIns="0" rIns="0" bIns="0" rtlCol="0"/>
            <a:lstStyle/>
            <a:p>
              <a:endParaRPr/>
            </a:p>
          </p:txBody>
        </p:sp>
        <p:sp>
          <p:nvSpPr>
            <p:cNvPr id="109" name="object 109"/>
            <p:cNvSpPr/>
            <p:nvPr/>
          </p:nvSpPr>
          <p:spPr>
            <a:xfrm>
              <a:off x="3725934" y="2829544"/>
              <a:ext cx="149860" cy="149860"/>
            </a:xfrm>
            <a:custGeom>
              <a:avLst/>
              <a:gdLst/>
              <a:ahLst/>
              <a:cxnLst/>
              <a:rect l="l" t="t" r="r" b="b"/>
              <a:pathLst>
                <a:path w="149860" h="149860">
                  <a:moveTo>
                    <a:pt x="149401" y="0"/>
                  </a:moveTo>
                  <a:lnTo>
                    <a:pt x="0" y="0"/>
                  </a:lnTo>
                  <a:lnTo>
                    <a:pt x="0" y="149401"/>
                  </a:lnTo>
                  <a:lnTo>
                    <a:pt x="149401" y="149401"/>
                  </a:lnTo>
                  <a:lnTo>
                    <a:pt x="149401" y="0"/>
                  </a:lnTo>
                  <a:close/>
                </a:path>
              </a:pathLst>
            </a:custGeom>
            <a:solidFill>
              <a:srgbClr val="808285"/>
            </a:solidFill>
          </p:spPr>
          <p:txBody>
            <a:bodyPr wrap="square" lIns="0" tIns="0" rIns="0" bIns="0" rtlCol="0"/>
            <a:lstStyle/>
            <a:p>
              <a:endParaRPr/>
            </a:p>
          </p:txBody>
        </p:sp>
        <p:sp>
          <p:nvSpPr>
            <p:cNvPr id="110" name="object 110"/>
            <p:cNvSpPr/>
            <p:nvPr/>
          </p:nvSpPr>
          <p:spPr>
            <a:xfrm>
              <a:off x="3725934" y="2829544"/>
              <a:ext cx="149860" cy="149860"/>
            </a:xfrm>
            <a:custGeom>
              <a:avLst/>
              <a:gdLst/>
              <a:ahLst/>
              <a:cxnLst/>
              <a:rect l="l" t="t" r="r" b="b"/>
              <a:pathLst>
                <a:path w="149860" h="149860">
                  <a:moveTo>
                    <a:pt x="0" y="149401"/>
                  </a:moveTo>
                  <a:lnTo>
                    <a:pt x="149401" y="149401"/>
                  </a:lnTo>
                  <a:lnTo>
                    <a:pt x="149401" y="0"/>
                  </a:lnTo>
                  <a:lnTo>
                    <a:pt x="0" y="0"/>
                  </a:lnTo>
                  <a:lnTo>
                    <a:pt x="0" y="149401"/>
                  </a:lnTo>
                  <a:close/>
                </a:path>
              </a:pathLst>
            </a:custGeom>
            <a:ln w="5267">
              <a:solidFill>
                <a:srgbClr val="231F20"/>
              </a:solidFill>
            </a:ln>
          </p:spPr>
          <p:txBody>
            <a:bodyPr wrap="square" lIns="0" tIns="0" rIns="0" bIns="0" rtlCol="0"/>
            <a:lstStyle/>
            <a:p>
              <a:endParaRPr/>
            </a:p>
          </p:txBody>
        </p:sp>
        <p:sp>
          <p:nvSpPr>
            <p:cNvPr id="111" name="object 111"/>
            <p:cNvSpPr/>
            <p:nvPr/>
          </p:nvSpPr>
          <p:spPr>
            <a:xfrm>
              <a:off x="2859411" y="2202067"/>
              <a:ext cx="149860" cy="149860"/>
            </a:xfrm>
            <a:custGeom>
              <a:avLst/>
              <a:gdLst/>
              <a:ahLst/>
              <a:cxnLst/>
              <a:rect l="l" t="t" r="r" b="b"/>
              <a:pathLst>
                <a:path w="149860" h="149860">
                  <a:moveTo>
                    <a:pt x="149406" y="0"/>
                  </a:moveTo>
                  <a:lnTo>
                    <a:pt x="0" y="0"/>
                  </a:lnTo>
                  <a:lnTo>
                    <a:pt x="0" y="149401"/>
                  </a:lnTo>
                  <a:lnTo>
                    <a:pt x="149406" y="149401"/>
                  </a:lnTo>
                  <a:lnTo>
                    <a:pt x="149406" y="0"/>
                  </a:lnTo>
                  <a:close/>
                </a:path>
              </a:pathLst>
            </a:custGeom>
            <a:solidFill>
              <a:srgbClr val="D1D3D4"/>
            </a:solidFill>
          </p:spPr>
          <p:txBody>
            <a:bodyPr wrap="square" lIns="0" tIns="0" rIns="0" bIns="0" rtlCol="0"/>
            <a:lstStyle/>
            <a:p>
              <a:endParaRPr/>
            </a:p>
          </p:txBody>
        </p:sp>
        <p:sp>
          <p:nvSpPr>
            <p:cNvPr id="112" name="object 112"/>
            <p:cNvSpPr/>
            <p:nvPr/>
          </p:nvSpPr>
          <p:spPr>
            <a:xfrm>
              <a:off x="2859411" y="2202067"/>
              <a:ext cx="149860" cy="149860"/>
            </a:xfrm>
            <a:custGeom>
              <a:avLst/>
              <a:gdLst/>
              <a:ahLst/>
              <a:cxnLst/>
              <a:rect l="l" t="t" r="r" b="b"/>
              <a:pathLst>
                <a:path w="149860" h="149860">
                  <a:moveTo>
                    <a:pt x="0" y="149401"/>
                  </a:moveTo>
                  <a:lnTo>
                    <a:pt x="149406" y="149401"/>
                  </a:lnTo>
                  <a:lnTo>
                    <a:pt x="149406" y="0"/>
                  </a:lnTo>
                  <a:lnTo>
                    <a:pt x="0" y="0"/>
                  </a:lnTo>
                  <a:lnTo>
                    <a:pt x="0" y="149401"/>
                  </a:lnTo>
                  <a:close/>
                </a:path>
              </a:pathLst>
            </a:custGeom>
            <a:ln w="5267">
              <a:solidFill>
                <a:srgbClr val="231F20"/>
              </a:solidFill>
            </a:ln>
          </p:spPr>
          <p:txBody>
            <a:bodyPr wrap="square" lIns="0" tIns="0" rIns="0" bIns="0" rtlCol="0"/>
            <a:lstStyle/>
            <a:p>
              <a:endParaRPr/>
            </a:p>
          </p:txBody>
        </p:sp>
        <p:sp>
          <p:nvSpPr>
            <p:cNvPr id="113" name="object 113"/>
            <p:cNvSpPr/>
            <p:nvPr/>
          </p:nvSpPr>
          <p:spPr>
            <a:xfrm>
              <a:off x="3128333" y="2202067"/>
              <a:ext cx="149860" cy="149860"/>
            </a:xfrm>
            <a:custGeom>
              <a:avLst/>
              <a:gdLst/>
              <a:ahLst/>
              <a:cxnLst/>
              <a:rect l="l" t="t" r="r" b="b"/>
              <a:pathLst>
                <a:path w="149860" h="149860">
                  <a:moveTo>
                    <a:pt x="149397" y="0"/>
                  </a:moveTo>
                  <a:lnTo>
                    <a:pt x="0" y="0"/>
                  </a:lnTo>
                  <a:lnTo>
                    <a:pt x="0" y="149401"/>
                  </a:lnTo>
                  <a:lnTo>
                    <a:pt x="149397" y="149401"/>
                  </a:lnTo>
                  <a:lnTo>
                    <a:pt x="149397" y="0"/>
                  </a:lnTo>
                  <a:close/>
                </a:path>
              </a:pathLst>
            </a:custGeom>
            <a:solidFill>
              <a:srgbClr val="D1D3D4"/>
            </a:solidFill>
          </p:spPr>
          <p:txBody>
            <a:bodyPr wrap="square" lIns="0" tIns="0" rIns="0" bIns="0" rtlCol="0"/>
            <a:lstStyle/>
            <a:p>
              <a:endParaRPr/>
            </a:p>
          </p:txBody>
        </p:sp>
        <p:sp>
          <p:nvSpPr>
            <p:cNvPr id="114" name="object 114"/>
            <p:cNvSpPr/>
            <p:nvPr/>
          </p:nvSpPr>
          <p:spPr>
            <a:xfrm>
              <a:off x="3128333" y="2202067"/>
              <a:ext cx="149860" cy="149860"/>
            </a:xfrm>
            <a:custGeom>
              <a:avLst/>
              <a:gdLst/>
              <a:ahLst/>
              <a:cxnLst/>
              <a:rect l="l" t="t" r="r" b="b"/>
              <a:pathLst>
                <a:path w="149860" h="149860">
                  <a:moveTo>
                    <a:pt x="0" y="149401"/>
                  </a:moveTo>
                  <a:lnTo>
                    <a:pt x="149397" y="149401"/>
                  </a:lnTo>
                  <a:lnTo>
                    <a:pt x="149397" y="0"/>
                  </a:lnTo>
                  <a:lnTo>
                    <a:pt x="0" y="0"/>
                  </a:lnTo>
                  <a:lnTo>
                    <a:pt x="0" y="149401"/>
                  </a:lnTo>
                  <a:close/>
                </a:path>
              </a:pathLst>
            </a:custGeom>
            <a:ln w="5267">
              <a:solidFill>
                <a:srgbClr val="231F20"/>
              </a:solidFill>
            </a:ln>
          </p:spPr>
          <p:txBody>
            <a:bodyPr wrap="square" lIns="0" tIns="0" rIns="0" bIns="0" rtlCol="0"/>
            <a:lstStyle/>
            <a:p>
              <a:endParaRPr/>
            </a:p>
          </p:txBody>
        </p:sp>
        <p:sp>
          <p:nvSpPr>
            <p:cNvPr id="115" name="object 115"/>
            <p:cNvSpPr/>
            <p:nvPr/>
          </p:nvSpPr>
          <p:spPr>
            <a:xfrm>
              <a:off x="2859411" y="2441109"/>
              <a:ext cx="149860" cy="149860"/>
            </a:xfrm>
            <a:custGeom>
              <a:avLst/>
              <a:gdLst/>
              <a:ahLst/>
              <a:cxnLst/>
              <a:rect l="l" t="t" r="r" b="b"/>
              <a:pathLst>
                <a:path w="149860" h="149860">
                  <a:moveTo>
                    <a:pt x="149406" y="0"/>
                  </a:moveTo>
                  <a:lnTo>
                    <a:pt x="0" y="0"/>
                  </a:lnTo>
                  <a:lnTo>
                    <a:pt x="0" y="149394"/>
                  </a:lnTo>
                  <a:lnTo>
                    <a:pt x="149406" y="149394"/>
                  </a:lnTo>
                  <a:lnTo>
                    <a:pt x="149406" y="0"/>
                  </a:lnTo>
                  <a:close/>
                </a:path>
              </a:pathLst>
            </a:custGeom>
            <a:solidFill>
              <a:srgbClr val="D1D3D4"/>
            </a:solidFill>
          </p:spPr>
          <p:txBody>
            <a:bodyPr wrap="square" lIns="0" tIns="0" rIns="0" bIns="0" rtlCol="0"/>
            <a:lstStyle/>
            <a:p>
              <a:endParaRPr/>
            </a:p>
          </p:txBody>
        </p:sp>
        <p:sp>
          <p:nvSpPr>
            <p:cNvPr id="116" name="object 116"/>
            <p:cNvSpPr/>
            <p:nvPr/>
          </p:nvSpPr>
          <p:spPr>
            <a:xfrm>
              <a:off x="2859411" y="2441109"/>
              <a:ext cx="149860" cy="149860"/>
            </a:xfrm>
            <a:custGeom>
              <a:avLst/>
              <a:gdLst/>
              <a:ahLst/>
              <a:cxnLst/>
              <a:rect l="l" t="t" r="r" b="b"/>
              <a:pathLst>
                <a:path w="149860" h="149860">
                  <a:moveTo>
                    <a:pt x="0" y="149394"/>
                  </a:moveTo>
                  <a:lnTo>
                    <a:pt x="149406" y="149394"/>
                  </a:lnTo>
                  <a:lnTo>
                    <a:pt x="149406" y="0"/>
                  </a:lnTo>
                  <a:lnTo>
                    <a:pt x="0" y="0"/>
                  </a:lnTo>
                  <a:lnTo>
                    <a:pt x="0" y="149394"/>
                  </a:lnTo>
                  <a:close/>
                </a:path>
              </a:pathLst>
            </a:custGeom>
            <a:ln w="5267">
              <a:solidFill>
                <a:srgbClr val="231F20"/>
              </a:solidFill>
            </a:ln>
          </p:spPr>
          <p:txBody>
            <a:bodyPr wrap="square" lIns="0" tIns="0" rIns="0" bIns="0" rtlCol="0"/>
            <a:lstStyle/>
            <a:p>
              <a:endParaRPr/>
            </a:p>
          </p:txBody>
        </p:sp>
        <p:sp>
          <p:nvSpPr>
            <p:cNvPr id="117" name="object 117"/>
            <p:cNvSpPr/>
            <p:nvPr/>
          </p:nvSpPr>
          <p:spPr>
            <a:xfrm>
              <a:off x="3964972" y="2231949"/>
              <a:ext cx="149860" cy="149860"/>
            </a:xfrm>
            <a:custGeom>
              <a:avLst/>
              <a:gdLst/>
              <a:ahLst/>
              <a:cxnLst/>
              <a:rect l="l" t="t" r="r" b="b"/>
              <a:pathLst>
                <a:path w="149860" h="149860">
                  <a:moveTo>
                    <a:pt x="149401" y="0"/>
                  </a:moveTo>
                  <a:lnTo>
                    <a:pt x="0" y="0"/>
                  </a:lnTo>
                  <a:lnTo>
                    <a:pt x="0" y="149401"/>
                  </a:lnTo>
                  <a:lnTo>
                    <a:pt x="149401" y="149401"/>
                  </a:lnTo>
                  <a:lnTo>
                    <a:pt x="149401" y="0"/>
                  </a:lnTo>
                  <a:close/>
                </a:path>
              </a:pathLst>
            </a:custGeom>
            <a:solidFill>
              <a:srgbClr val="D1D3D4"/>
            </a:solidFill>
          </p:spPr>
          <p:txBody>
            <a:bodyPr wrap="square" lIns="0" tIns="0" rIns="0" bIns="0" rtlCol="0"/>
            <a:lstStyle/>
            <a:p>
              <a:endParaRPr/>
            </a:p>
          </p:txBody>
        </p:sp>
        <p:sp>
          <p:nvSpPr>
            <p:cNvPr id="118" name="object 118"/>
            <p:cNvSpPr/>
            <p:nvPr/>
          </p:nvSpPr>
          <p:spPr>
            <a:xfrm>
              <a:off x="708043" y="797712"/>
              <a:ext cx="3406775" cy="2450465"/>
            </a:xfrm>
            <a:custGeom>
              <a:avLst/>
              <a:gdLst/>
              <a:ahLst/>
              <a:cxnLst/>
              <a:rect l="l" t="t" r="r" b="b"/>
              <a:pathLst>
                <a:path w="3406775" h="2450465">
                  <a:moveTo>
                    <a:pt x="3256929" y="1583638"/>
                  </a:moveTo>
                  <a:lnTo>
                    <a:pt x="3406331" y="1583638"/>
                  </a:lnTo>
                  <a:lnTo>
                    <a:pt x="3406331" y="1434236"/>
                  </a:lnTo>
                  <a:lnTo>
                    <a:pt x="3256929" y="1434236"/>
                  </a:lnTo>
                  <a:lnTo>
                    <a:pt x="3256929" y="1583638"/>
                  </a:lnTo>
                  <a:close/>
                </a:path>
                <a:path w="3406775" h="2450465">
                  <a:moveTo>
                    <a:pt x="59762" y="0"/>
                  </a:moveTo>
                  <a:lnTo>
                    <a:pt x="46690" y="14764"/>
                  </a:lnTo>
                  <a:lnTo>
                    <a:pt x="38421" y="53689"/>
                  </a:lnTo>
                  <a:lnTo>
                    <a:pt x="33352" y="108722"/>
                  </a:lnTo>
                  <a:lnTo>
                    <a:pt x="29884" y="171807"/>
                  </a:lnTo>
                  <a:lnTo>
                    <a:pt x="26415" y="234893"/>
                  </a:lnTo>
                  <a:lnTo>
                    <a:pt x="21345" y="289925"/>
                  </a:lnTo>
                  <a:lnTo>
                    <a:pt x="13074" y="328850"/>
                  </a:lnTo>
                  <a:lnTo>
                    <a:pt x="0" y="343615"/>
                  </a:lnTo>
                </a:path>
                <a:path w="3406775" h="2450465">
                  <a:moveTo>
                    <a:pt x="59762" y="687241"/>
                  </a:moveTo>
                  <a:lnTo>
                    <a:pt x="46690" y="672476"/>
                  </a:lnTo>
                  <a:lnTo>
                    <a:pt x="38421" y="633549"/>
                  </a:lnTo>
                  <a:lnTo>
                    <a:pt x="33352" y="578516"/>
                  </a:lnTo>
                  <a:lnTo>
                    <a:pt x="29884" y="515428"/>
                  </a:lnTo>
                  <a:lnTo>
                    <a:pt x="26415" y="452340"/>
                  </a:lnTo>
                  <a:lnTo>
                    <a:pt x="21345" y="397307"/>
                  </a:lnTo>
                  <a:lnTo>
                    <a:pt x="13074" y="358380"/>
                  </a:lnTo>
                  <a:lnTo>
                    <a:pt x="0" y="343615"/>
                  </a:lnTo>
                </a:path>
                <a:path w="3406775" h="2450465">
                  <a:moveTo>
                    <a:pt x="59762" y="746998"/>
                  </a:moveTo>
                  <a:lnTo>
                    <a:pt x="42432" y="786059"/>
                  </a:lnTo>
                  <a:lnTo>
                    <a:pt x="37308" y="828824"/>
                  </a:lnTo>
                  <a:lnTo>
                    <a:pt x="33723" y="881692"/>
                  </a:lnTo>
                  <a:lnTo>
                    <a:pt x="31061" y="940620"/>
                  </a:lnTo>
                  <a:lnTo>
                    <a:pt x="28707" y="1001569"/>
                  </a:lnTo>
                  <a:lnTo>
                    <a:pt x="26044" y="1060497"/>
                  </a:lnTo>
                  <a:lnTo>
                    <a:pt x="22458" y="1113364"/>
                  </a:lnTo>
                  <a:lnTo>
                    <a:pt x="17333" y="1156130"/>
                  </a:lnTo>
                  <a:lnTo>
                    <a:pt x="10052" y="1184752"/>
                  </a:lnTo>
                  <a:lnTo>
                    <a:pt x="0" y="1195191"/>
                  </a:lnTo>
                </a:path>
                <a:path w="3406775" h="2450465">
                  <a:moveTo>
                    <a:pt x="59762" y="1643396"/>
                  </a:moveTo>
                  <a:lnTo>
                    <a:pt x="42432" y="1604334"/>
                  </a:lnTo>
                  <a:lnTo>
                    <a:pt x="37308" y="1561568"/>
                  </a:lnTo>
                  <a:lnTo>
                    <a:pt x="33723" y="1508699"/>
                  </a:lnTo>
                  <a:lnTo>
                    <a:pt x="31061" y="1449769"/>
                  </a:lnTo>
                  <a:lnTo>
                    <a:pt x="28707" y="1388818"/>
                  </a:lnTo>
                  <a:lnTo>
                    <a:pt x="26044" y="1329888"/>
                  </a:lnTo>
                  <a:lnTo>
                    <a:pt x="22458" y="1277019"/>
                  </a:lnTo>
                  <a:lnTo>
                    <a:pt x="17333" y="1234253"/>
                  </a:lnTo>
                  <a:lnTo>
                    <a:pt x="10052" y="1205630"/>
                  </a:lnTo>
                  <a:lnTo>
                    <a:pt x="0" y="1195191"/>
                  </a:lnTo>
                </a:path>
                <a:path w="3406775" h="2450465">
                  <a:moveTo>
                    <a:pt x="59762" y="1703154"/>
                  </a:moveTo>
                  <a:lnTo>
                    <a:pt x="39925" y="1750290"/>
                  </a:lnTo>
                  <a:lnTo>
                    <a:pt x="34785" y="1799988"/>
                  </a:lnTo>
                  <a:lnTo>
                    <a:pt x="31330" y="1858908"/>
                  </a:lnTo>
                  <a:lnTo>
                    <a:pt x="28437" y="1920902"/>
                  </a:lnTo>
                  <a:lnTo>
                    <a:pt x="24982" y="1979822"/>
                  </a:lnTo>
                  <a:lnTo>
                    <a:pt x="19840" y="2029520"/>
                  </a:lnTo>
                  <a:lnTo>
                    <a:pt x="11888" y="2063847"/>
                  </a:lnTo>
                  <a:lnTo>
                    <a:pt x="0" y="2076655"/>
                  </a:lnTo>
                </a:path>
                <a:path w="3406775" h="2450465">
                  <a:moveTo>
                    <a:pt x="59762" y="2450153"/>
                  </a:moveTo>
                  <a:lnTo>
                    <a:pt x="39925" y="2403018"/>
                  </a:lnTo>
                  <a:lnTo>
                    <a:pt x="34785" y="2353320"/>
                  </a:lnTo>
                  <a:lnTo>
                    <a:pt x="31330" y="2294401"/>
                  </a:lnTo>
                  <a:lnTo>
                    <a:pt x="28437" y="2232408"/>
                  </a:lnTo>
                  <a:lnTo>
                    <a:pt x="24982" y="2173488"/>
                  </a:lnTo>
                  <a:lnTo>
                    <a:pt x="19840" y="2123791"/>
                  </a:lnTo>
                  <a:lnTo>
                    <a:pt x="11888" y="2089464"/>
                  </a:lnTo>
                  <a:lnTo>
                    <a:pt x="0" y="2076655"/>
                  </a:lnTo>
                </a:path>
              </a:pathLst>
            </a:custGeom>
            <a:ln w="5267">
              <a:solidFill>
                <a:srgbClr val="231F20"/>
              </a:solidFill>
            </a:ln>
          </p:spPr>
          <p:txBody>
            <a:bodyPr wrap="square" lIns="0" tIns="0" rIns="0" bIns="0" rtlCol="0"/>
            <a:lstStyle/>
            <a:p>
              <a:endParaRPr/>
            </a:p>
          </p:txBody>
        </p:sp>
      </p:grpSp>
      <p:sp>
        <p:nvSpPr>
          <p:cNvPr id="119" name="object 119"/>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Name</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space</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distribution</a:t>
            </a:r>
            <a:endParaRPr sz="600">
              <a:latin typeface="Arial"/>
              <a:cs typeface="Arial"/>
            </a:endParaRPr>
          </a:p>
        </p:txBody>
      </p:sp>
      <p:sp>
        <p:nvSpPr>
          <p:cNvPr id="120" name="object 12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31</a:t>
            </a:r>
            <a:r>
              <a:rPr spc="-40" dirty="0"/>
              <a:t> </a:t>
            </a:r>
            <a:r>
              <a:rPr spc="-5" dirty="0"/>
              <a:t>/</a:t>
            </a:r>
            <a:r>
              <a:rPr spc="-35" dirty="0"/>
              <a:t> </a:t>
            </a:r>
            <a:r>
              <a:rPr spc="-5" dirty="0"/>
              <a:t>46</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839469"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Name</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space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distribution</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46</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4"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5" action="ppaction://hlinksldjump"/>
              </a:rPr>
              <a:t>Structured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The implementation of</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344420" cy="244475"/>
          </a:xfrm>
          <a:prstGeom prst="rect">
            <a:avLst/>
          </a:prstGeom>
        </p:spPr>
        <p:txBody>
          <a:bodyPr vert="horz" wrap="square" lIns="0" tIns="17145" rIns="0" bIns="0" rtlCol="0">
            <a:spAutoFit/>
          </a:bodyPr>
          <a:lstStyle/>
          <a:p>
            <a:pPr marL="12700">
              <a:lnSpc>
                <a:spcPct val="100000"/>
              </a:lnSpc>
              <a:spcBef>
                <a:spcPts val="135"/>
              </a:spcBef>
            </a:pPr>
            <a:r>
              <a:rPr spc="15" dirty="0"/>
              <a:t>Name-space</a:t>
            </a:r>
            <a:r>
              <a:rPr spc="-25" dirty="0"/>
              <a:t> </a:t>
            </a:r>
            <a:r>
              <a:rPr spc="15" dirty="0"/>
              <a:t>implementation</a:t>
            </a:r>
          </a:p>
        </p:txBody>
      </p:sp>
      <p:sp>
        <p:nvSpPr>
          <p:cNvPr id="4" name="object 4"/>
          <p:cNvSpPr txBox="1"/>
          <p:nvPr/>
        </p:nvSpPr>
        <p:spPr>
          <a:xfrm>
            <a:off x="342290" y="608822"/>
            <a:ext cx="3693160" cy="384810"/>
          </a:xfrm>
          <a:prstGeom prst="rect">
            <a:avLst/>
          </a:prstGeom>
        </p:spPr>
        <p:txBody>
          <a:bodyPr vert="horz" wrap="square" lIns="0" tIns="22860" rIns="0" bIns="0" rtlCol="0">
            <a:spAutoFit/>
          </a:bodyPr>
          <a:lstStyle/>
          <a:p>
            <a:pPr marL="17145" marR="5080" indent="-5080">
              <a:lnSpc>
                <a:spcPts val="1390"/>
              </a:lnSpc>
              <a:spcBef>
                <a:spcPts val="180"/>
              </a:spcBef>
            </a:pPr>
            <a:r>
              <a:rPr sz="1200" spc="-5" dirty="0">
                <a:solidFill>
                  <a:srgbClr val="3333B2"/>
                </a:solidFill>
                <a:latin typeface="Arial"/>
                <a:cs typeface="Arial"/>
              </a:rPr>
              <a:t>A comparison</a:t>
            </a:r>
            <a:r>
              <a:rPr sz="1200" dirty="0">
                <a:solidFill>
                  <a:srgbClr val="3333B2"/>
                </a:solidFill>
                <a:latin typeface="Arial"/>
                <a:cs typeface="Arial"/>
              </a:rPr>
              <a:t> </a:t>
            </a:r>
            <a:r>
              <a:rPr sz="1200" spc="-5" dirty="0">
                <a:solidFill>
                  <a:srgbClr val="3333B2"/>
                </a:solidFill>
                <a:latin typeface="Arial"/>
                <a:cs typeface="Arial"/>
              </a:rPr>
              <a:t>between</a:t>
            </a:r>
            <a:r>
              <a:rPr sz="1200" dirty="0">
                <a:solidFill>
                  <a:srgbClr val="3333B2"/>
                </a:solidFill>
                <a:latin typeface="Arial"/>
                <a:cs typeface="Arial"/>
              </a:rPr>
              <a:t> </a:t>
            </a:r>
            <a:r>
              <a:rPr sz="1200" spc="-5" dirty="0">
                <a:solidFill>
                  <a:srgbClr val="3333B2"/>
                </a:solidFill>
                <a:latin typeface="Arial"/>
                <a:cs typeface="Arial"/>
              </a:rPr>
              <a:t>name</a:t>
            </a:r>
            <a:r>
              <a:rPr sz="1200" dirty="0">
                <a:solidFill>
                  <a:srgbClr val="3333B2"/>
                </a:solidFill>
                <a:latin typeface="Arial"/>
                <a:cs typeface="Arial"/>
              </a:rPr>
              <a:t> </a:t>
            </a:r>
            <a:r>
              <a:rPr sz="1200" spc="-5" dirty="0">
                <a:solidFill>
                  <a:srgbClr val="3333B2"/>
                </a:solidFill>
                <a:latin typeface="Arial"/>
                <a:cs typeface="Arial"/>
              </a:rPr>
              <a:t>servers</a:t>
            </a:r>
            <a:r>
              <a:rPr sz="1200" dirty="0">
                <a:solidFill>
                  <a:srgbClr val="3333B2"/>
                </a:solidFill>
                <a:latin typeface="Arial"/>
                <a:cs typeface="Arial"/>
              </a:rPr>
              <a:t> </a:t>
            </a:r>
            <a:r>
              <a:rPr sz="1200" spc="-20" dirty="0">
                <a:solidFill>
                  <a:srgbClr val="3333B2"/>
                </a:solidFill>
                <a:latin typeface="Arial"/>
                <a:cs typeface="Arial"/>
              </a:rPr>
              <a:t>for</a:t>
            </a:r>
            <a:r>
              <a:rPr sz="1200" spc="-5" dirty="0">
                <a:solidFill>
                  <a:srgbClr val="3333B2"/>
                </a:solidFill>
                <a:latin typeface="Arial"/>
                <a:cs typeface="Arial"/>
              </a:rPr>
              <a:t> implementing </a:t>
            </a:r>
            <a:r>
              <a:rPr sz="1200" spc="-315" dirty="0">
                <a:solidFill>
                  <a:srgbClr val="3333B2"/>
                </a:solidFill>
                <a:latin typeface="Arial"/>
                <a:cs typeface="Arial"/>
              </a:rPr>
              <a:t> </a:t>
            </a:r>
            <a:r>
              <a:rPr sz="1200" spc="-5" dirty="0">
                <a:solidFill>
                  <a:srgbClr val="3333B2"/>
                </a:solidFill>
                <a:latin typeface="Arial"/>
                <a:cs typeface="Arial"/>
              </a:rPr>
              <a:t>nodes</a:t>
            </a:r>
            <a:r>
              <a:rPr sz="1200" spc="-10" dirty="0">
                <a:solidFill>
                  <a:srgbClr val="3333B2"/>
                </a:solidFill>
                <a:latin typeface="Arial"/>
                <a:cs typeface="Arial"/>
              </a:rPr>
              <a:t> </a:t>
            </a:r>
            <a:r>
              <a:rPr sz="1200" spc="-5" dirty="0">
                <a:solidFill>
                  <a:srgbClr val="3333B2"/>
                </a:solidFill>
                <a:latin typeface="Arial"/>
                <a:cs typeface="Arial"/>
              </a:rPr>
              <a:t>in a name space</a:t>
            </a:r>
            <a:endParaRPr sz="1200">
              <a:latin typeface="Arial"/>
              <a:cs typeface="Arial"/>
            </a:endParaRPr>
          </a:p>
        </p:txBody>
      </p:sp>
      <p:graphicFrame>
        <p:nvGraphicFramePr>
          <p:cNvPr id="5" name="object 5"/>
          <p:cNvGraphicFramePr>
            <a:graphicFrameLocks noGrp="1"/>
          </p:cNvGraphicFramePr>
          <p:nvPr/>
        </p:nvGraphicFramePr>
        <p:xfrm>
          <a:off x="616864" y="1104785"/>
          <a:ext cx="3370580" cy="1736090"/>
        </p:xfrm>
        <a:graphic>
          <a:graphicData uri="http://schemas.openxmlformats.org/drawingml/2006/table">
            <a:tbl>
              <a:tblPr firstRow="1" bandRow="1">
                <a:tableStyleId>{2D5ABB26-0587-4C30-8999-92F81FD0307C}</a:tableStyleId>
              </a:tblPr>
              <a:tblGrid>
                <a:gridCol w="403225">
                  <a:extLst>
                    <a:ext uri="{9D8B030D-6E8A-4147-A177-3AD203B41FA5}">
                      <a16:colId xmlns:a16="http://schemas.microsoft.com/office/drawing/2014/main" val="20000"/>
                    </a:ext>
                  </a:extLst>
                </a:gridCol>
                <a:gridCol w="983615">
                  <a:extLst>
                    <a:ext uri="{9D8B030D-6E8A-4147-A177-3AD203B41FA5}">
                      <a16:colId xmlns:a16="http://schemas.microsoft.com/office/drawing/2014/main" val="20001"/>
                    </a:ext>
                  </a:extLst>
                </a:gridCol>
                <a:gridCol w="1056005">
                  <a:extLst>
                    <a:ext uri="{9D8B030D-6E8A-4147-A177-3AD203B41FA5}">
                      <a16:colId xmlns:a16="http://schemas.microsoft.com/office/drawing/2014/main" val="20002"/>
                    </a:ext>
                  </a:extLst>
                </a:gridCol>
                <a:gridCol w="927735">
                  <a:extLst>
                    <a:ext uri="{9D8B030D-6E8A-4147-A177-3AD203B41FA5}">
                      <a16:colId xmlns:a16="http://schemas.microsoft.com/office/drawing/2014/main" val="20003"/>
                    </a:ext>
                  </a:extLst>
                </a:gridCol>
              </a:tblGrid>
              <a:tr h="171450">
                <a:tc>
                  <a:txBody>
                    <a:bodyPr/>
                    <a:lstStyle/>
                    <a:p>
                      <a:pPr marL="78105">
                        <a:lnSpc>
                          <a:spcPts val="1140"/>
                        </a:lnSpc>
                      </a:pPr>
                      <a:r>
                        <a:rPr sz="1000" spc="-5" dirty="0">
                          <a:solidFill>
                            <a:srgbClr val="0000FA"/>
                          </a:solidFill>
                          <a:latin typeface="Arial"/>
                          <a:cs typeface="Arial"/>
                        </a:rPr>
                        <a:t>Item</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solidFill>
                            <a:srgbClr val="0000FA"/>
                          </a:solidFill>
                          <a:latin typeface="Arial"/>
                          <a:cs typeface="Arial"/>
                        </a:rPr>
                        <a:t>Global</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solidFill>
                            <a:srgbClr val="0000FA"/>
                          </a:solidFill>
                          <a:latin typeface="Arial"/>
                          <a:cs typeface="Arial"/>
                        </a:rPr>
                        <a:t>Administrational</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solidFill>
                            <a:srgbClr val="0000FA"/>
                          </a:solidFill>
                          <a:latin typeface="Arial"/>
                          <a:cs typeface="Arial"/>
                        </a:rPr>
                        <a:t>Managerial</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1450">
                <a:tc>
                  <a:txBody>
                    <a:bodyPr/>
                    <a:lstStyle/>
                    <a:p>
                      <a:pPr marL="78105">
                        <a:lnSpc>
                          <a:spcPts val="1140"/>
                        </a:lnSpc>
                      </a:pPr>
                      <a:r>
                        <a:rPr sz="1000" dirty="0">
                          <a:latin typeface="Arial"/>
                          <a:cs typeface="Arial"/>
                        </a:rPr>
                        <a:t>1</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Worldwide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Organization</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dirty="0">
                          <a:latin typeface="Arial"/>
                          <a:cs typeface="Arial"/>
                        </a:rPr>
                        <a:t>Department</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1450">
                <a:tc>
                  <a:txBody>
                    <a:bodyPr/>
                    <a:lstStyle/>
                    <a:p>
                      <a:pPr marL="78105">
                        <a:lnSpc>
                          <a:spcPts val="1140"/>
                        </a:lnSpc>
                      </a:pPr>
                      <a:r>
                        <a:rPr sz="1000" dirty="0">
                          <a:latin typeface="Arial"/>
                          <a:cs typeface="Arial"/>
                        </a:rPr>
                        <a:t>2</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20" dirty="0">
                          <a:latin typeface="Arial"/>
                          <a:cs typeface="Arial"/>
                        </a:rPr>
                        <a:t>Few</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10" dirty="0">
                          <a:latin typeface="Arial"/>
                          <a:cs typeface="Arial"/>
                        </a:rPr>
                        <a:t>Many</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20" dirty="0">
                          <a:latin typeface="Arial"/>
                          <a:cs typeface="Arial"/>
                        </a:rPr>
                        <a:t>Vast</a:t>
                      </a:r>
                      <a:r>
                        <a:rPr sz="1000" spc="-45" dirty="0">
                          <a:latin typeface="Arial"/>
                          <a:cs typeface="Arial"/>
                        </a:rPr>
                        <a:t> </a:t>
                      </a:r>
                      <a:r>
                        <a:rPr sz="1000" spc="-5" dirty="0">
                          <a:latin typeface="Arial"/>
                          <a:cs typeface="Arial"/>
                        </a:rPr>
                        <a:t>numbers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71450">
                <a:tc>
                  <a:txBody>
                    <a:bodyPr/>
                    <a:lstStyle/>
                    <a:p>
                      <a:pPr marL="78105">
                        <a:lnSpc>
                          <a:spcPts val="1140"/>
                        </a:lnSpc>
                      </a:pPr>
                      <a:r>
                        <a:rPr sz="1000" dirty="0">
                          <a:latin typeface="Arial"/>
                          <a:cs typeface="Arial"/>
                        </a:rPr>
                        <a:t>3</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Seconds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Milliseconds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Immediate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71450">
                <a:tc>
                  <a:txBody>
                    <a:bodyPr/>
                    <a:lstStyle/>
                    <a:p>
                      <a:pPr marL="78105">
                        <a:lnSpc>
                          <a:spcPts val="1140"/>
                        </a:lnSpc>
                      </a:pPr>
                      <a:r>
                        <a:rPr sz="1000" dirty="0">
                          <a:latin typeface="Arial"/>
                          <a:cs typeface="Arial"/>
                        </a:rPr>
                        <a:t>4</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Lazy</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Immediate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Immediate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71450">
                <a:tc>
                  <a:txBody>
                    <a:bodyPr/>
                    <a:lstStyle/>
                    <a:p>
                      <a:pPr marL="78105">
                        <a:lnSpc>
                          <a:spcPts val="1140"/>
                        </a:lnSpc>
                      </a:pPr>
                      <a:r>
                        <a:rPr sz="1000" dirty="0">
                          <a:latin typeface="Arial"/>
                          <a:cs typeface="Arial"/>
                        </a:rPr>
                        <a:t>5</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10" dirty="0">
                          <a:latin typeface="Arial"/>
                          <a:cs typeface="Arial"/>
                        </a:rPr>
                        <a:t>Many</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None</a:t>
                      </a:r>
                      <a:r>
                        <a:rPr sz="1000" spc="-30" dirty="0">
                          <a:latin typeface="Arial"/>
                          <a:cs typeface="Arial"/>
                        </a:rPr>
                        <a:t> </a:t>
                      </a:r>
                      <a:r>
                        <a:rPr sz="1000" spc="-5" dirty="0">
                          <a:latin typeface="Arial"/>
                          <a:cs typeface="Arial"/>
                        </a:rPr>
                        <a:t>or</a:t>
                      </a:r>
                      <a:r>
                        <a:rPr sz="1000" spc="-30" dirty="0">
                          <a:latin typeface="Arial"/>
                          <a:cs typeface="Arial"/>
                        </a:rPr>
                        <a:t> </a:t>
                      </a:r>
                      <a:r>
                        <a:rPr sz="1000" spc="-20" dirty="0">
                          <a:latin typeface="Arial"/>
                          <a:cs typeface="Arial"/>
                        </a:rPr>
                        <a:t>few</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None</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186690">
                <a:tc>
                  <a:txBody>
                    <a:bodyPr/>
                    <a:lstStyle/>
                    <a:p>
                      <a:pPr marL="78105">
                        <a:lnSpc>
                          <a:spcPts val="1140"/>
                        </a:lnSpc>
                      </a:pPr>
                      <a:r>
                        <a:rPr sz="1000" dirty="0">
                          <a:latin typeface="Arial"/>
                          <a:cs typeface="Arial"/>
                        </a:rPr>
                        <a:t>6</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0" dirty="0">
                          <a:latin typeface="Arial"/>
                          <a:cs typeface="Arial"/>
                        </a:rPr>
                        <a:t>Yes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0" dirty="0">
                          <a:latin typeface="Arial"/>
                          <a:cs typeface="Arial"/>
                        </a:rPr>
                        <a:t>Yes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140"/>
                        </a:lnSpc>
                      </a:pPr>
                      <a:r>
                        <a:rPr sz="1000" spc="-5" dirty="0">
                          <a:latin typeface="Arial"/>
                          <a:cs typeface="Arial"/>
                        </a:rPr>
                        <a:t>Sometimes</a:t>
                      </a:r>
                      <a:endParaRPr sz="10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520700">
                <a:tc gridSpan="2">
                  <a:txBody>
                    <a:bodyPr/>
                    <a:lstStyle/>
                    <a:p>
                      <a:pPr marL="78105">
                        <a:lnSpc>
                          <a:spcPct val="100000"/>
                        </a:lnSpc>
                        <a:spcBef>
                          <a:spcPts val="60"/>
                        </a:spcBef>
                      </a:pPr>
                      <a:r>
                        <a:rPr sz="1000" spc="-5" dirty="0">
                          <a:latin typeface="Arial"/>
                          <a:cs typeface="Arial"/>
                        </a:rPr>
                        <a:t>1:</a:t>
                      </a:r>
                      <a:r>
                        <a:rPr sz="1000" spc="35" dirty="0">
                          <a:latin typeface="Arial"/>
                          <a:cs typeface="Arial"/>
                        </a:rPr>
                        <a:t> </a:t>
                      </a:r>
                      <a:r>
                        <a:rPr sz="1000" spc="-5" dirty="0">
                          <a:latin typeface="Arial"/>
                          <a:cs typeface="Arial"/>
                        </a:rPr>
                        <a:t>Geographical</a:t>
                      </a:r>
                      <a:r>
                        <a:rPr sz="1000" spc="-20" dirty="0">
                          <a:latin typeface="Arial"/>
                          <a:cs typeface="Arial"/>
                        </a:rPr>
                        <a:t> </a:t>
                      </a:r>
                      <a:r>
                        <a:rPr sz="1000" spc="-5" dirty="0">
                          <a:latin typeface="Arial"/>
                          <a:cs typeface="Arial"/>
                        </a:rPr>
                        <a:t>scale</a:t>
                      </a:r>
                      <a:endParaRPr sz="1000">
                        <a:latin typeface="Arial"/>
                        <a:cs typeface="Arial"/>
                      </a:endParaRPr>
                    </a:p>
                    <a:p>
                      <a:pPr marL="78105">
                        <a:lnSpc>
                          <a:spcPct val="100000"/>
                        </a:lnSpc>
                        <a:spcBef>
                          <a:spcPts val="114"/>
                        </a:spcBef>
                      </a:pPr>
                      <a:r>
                        <a:rPr sz="1000" spc="-5" dirty="0">
                          <a:latin typeface="Arial"/>
                          <a:cs typeface="Arial"/>
                        </a:rPr>
                        <a:t>2:</a:t>
                      </a:r>
                      <a:r>
                        <a:rPr sz="1000" spc="30" dirty="0">
                          <a:latin typeface="Arial"/>
                          <a:cs typeface="Arial"/>
                        </a:rPr>
                        <a:t> </a:t>
                      </a:r>
                      <a:r>
                        <a:rPr sz="1000" spc="-5" dirty="0">
                          <a:latin typeface="Arial"/>
                          <a:cs typeface="Arial"/>
                        </a:rPr>
                        <a:t>#</a:t>
                      </a:r>
                      <a:r>
                        <a:rPr sz="1000" spc="-25" dirty="0">
                          <a:latin typeface="Arial"/>
                          <a:cs typeface="Arial"/>
                        </a:rPr>
                        <a:t> </a:t>
                      </a:r>
                      <a:r>
                        <a:rPr sz="1000" spc="-5" dirty="0">
                          <a:latin typeface="Arial"/>
                          <a:cs typeface="Arial"/>
                        </a:rPr>
                        <a:t>Nodes</a:t>
                      </a:r>
                      <a:endParaRPr sz="1000">
                        <a:latin typeface="Arial"/>
                        <a:cs typeface="Arial"/>
                      </a:endParaRPr>
                    </a:p>
                    <a:p>
                      <a:pPr marL="78105">
                        <a:lnSpc>
                          <a:spcPct val="100000"/>
                        </a:lnSpc>
                        <a:spcBef>
                          <a:spcPts val="114"/>
                        </a:spcBef>
                      </a:pPr>
                      <a:r>
                        <a:rPr sz="1000" spc="-5" dirty="0">
                          <a:latin typeface="Arial"/>
                          <a:cs typeface="Arial"/>
                        </a:rPr>
                        <a:t>3:</a:t>
                      </a:r>
                      <a:r>
                        <a:rPr sz="1000" spc="20" dirty="0">
                          <a:latin typeface="Arial"/>
                          <a:cs typeface="Arial"/>
                        </a:rPr>
                        <a:t> </a:t>
                      </a:r>
                      <a:r>
                        <a:rPr sz="1000" spc="-5" dirty="0">
                          <a:latin typeface="Arial"/>
                          <a:cs typeface="Arial"/>
                        </a:rPr>
                        <a:t>Responsiveness</a:t>
                      </a:r>
                      <a:endParaRPr sz="1000">
                        <a:latin typeface="Arial"/>
                        <a:cs typeface="Arial"/>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gridSpan="2">
                  <a:txBody>
                    <a:bodyPr/>
                    <a:lstStyle/>
                    <a:p>
                      <a:pPr marL="78105">
                        <a:lnSpc>
                          <a:spcPct val="100000"/>
                        </a:lnSpc>
                        <a:spcBef>
                          <a:spcPts val="60"/>
                        </a:spcBef>
                      </a:pPr>
                      <a:r>
                        <a:rPr sz="1000" spc="-5" dirty="0">
                          <a:latin typeface="Arial"/>
                          <a:cs typeface="Arial"/>
                        </a:rPr>
                        <a:t>4:</a:t>
                      </a:r>
                      <a:r>
                        <a:rPr sz="1000" spc="45" dirty="0">
                          <a:latin typeface="Arial"/>
                          <a:cs typeface="Arial"/>
                        </a:rPr>
                        <a:t> </a:t>
                      </a:r>
                      <a:r>
                        <a:rPr sz="1000" spc="-5" dirty="0">
                          <a:latin typeface="Arial"/>
                          <a:cs typeface="Arial"/>
                        </a:rPr>
                        <a:t>Update</a:t>
                      </a:r>
                      <a:r>
                        <a:rPr sz="1000" spc="-20" dirty="0">
                          <a:latin typeface="Arial"/>
                          <a:cs typeface="Arial"/>
                        </a:rPr>
                        <a:t> </a:t>
                      </a:r>
                      <a:r>
                        <a:rPr sz="1000" spc="-5" dirty="0">
                          <a:latin typeface="Arial"/>
                          <a:cs typeface="Arial"/>
                        </a:rPr>
                        <a:t>propagation</a:t>
                      </a:r>
                      <a:endParaRPr sz="1000">
                        <a:latin typeface="Arial"/>
                        <a:cs typeface="Arial"/>
                      </a:endParaRPr>
                    </a:p>
                    <a:p>
                      <a:pPr marL="78105">
                        <a:lnSpc>
                          <a:spcPct val="100000"/>
                        </a:lnSpc>
                        <a:spcBef>
                          <a:spcPts val="114"/>
                        </a:spcBef>
                      </a:pPr>
                      <a:r>
                        <a:rPr sz="1000" spc="-5" dirty="0">
                          <a:latin typeface="Arial"/>
                          <a:cs typeface="Arial"/>
                        </a:rPr>
                        <a:t>5:</a:t>
                      </a:r>
                      <a:r>
                        <a:rPr sz="1000" spc="35" dirty="0">
                          <a:latin typeface="Arial"/>
                          <a:cs typeface="Arial"/>
                        </a:rPr>
                        <a:t> </a:t>
                      </a:r>
                      <a:r>
                        <a:rPr sz="1000" spc="-5" dirty="0">
                          <a:latin typeface="Arial"/>
                          <a:cs typeface="Arial"/>
                        </a:rPr>
                        <a:t>#</a:t>
                      </a:r>
                      <a:r>
                        <a:rPr sz="1000" spc="-25" dirty="0">
                          <a:latin typeface="Arial"/>
                          <a:cs typeface="Arial"/>
                        </a:rPr>
                        <a:t> </a:t>
                      </a:r>
                      <a:r>
                        <a:rPr sz="1000" spc="-5" dirty="0">
                          <a:latin typeface="Arial"/>
                          <a:cs typeface="Arial"/>
                        </a:rPr>
                        <a:t>Replicas</a:t>
                      </a:r>
                      <a:endParaRPr sz="1000">
                        <a:latin typeface="Arial"/>
                        <a:cs typeface="Arial"/>
                      </a:endParaRPr>
                    </a:p>
                    <a:p>
                      <a:pPr marL="78105">
                        <a:lnSpc>
                          <a:spcPct val="100000"/>
                        </a:lnSpc>
                        <a:spcBef>
                          <a:spcPts val="114"/>
                        </a:spcBef>
                      </a:pPr>
                      <a:r>
                        <a:rPr sz="1000" spc="-5" dirty="0">
                          <a:latin typeface="Arial"/>
                          <a:cs typeface="Arial"/>
                        </a:rPr>
                        <a:t>6:</a:t>
                      </a:r>
                      <a:r>
                        <a:rPr sz="1000" spc="45" dirty="0">
                          <a:latin typeface="Arial"/>
                          <a:cs typeface="Arial"/>
                        </a:rPr>
                        <a:t> </a:t>
                      </a:r>
                      <a:r>
                        <a:rPr sz="1000" spc="-5" dirty="0">
                          <a:latin typeface="Arial"/>
                          <a:cs typeface="Arial"/>
                        </a:rPr>
                        <a:t>Client-side</a:t>
                      </a:r>
                      <a:r>
                        <a:rPr sz="1000" spc="-15" dirty="0">
                          <a:latin typeface="Arial"/>
                          <a:cs typeface="Arial"/>
                        </a:rPr>
                        <a:t> </a:t>
                      </a:r>
                      <a:r>
                        <a:rPr sz="1000" spc="-5" dirty="0">
                          <a:latin typeface="Arial"/>
                          <a:cs typeface="Arial"/>
                        </a:rPr>
                        <a:t>caching?</a:t>
                      </a:r>
                      <a:endParaRPr sz="1000">
                        <a:latin typeface="Arial"/>
                        <a:cs typeface="Arial"/>
                      </a:endParaRPr>
                    </a:p>
                  </a:txBody>
                  <a:tcPr marL="0" marR="0" marT="762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7"/>
                  </a:ext>
                </a:extLst>
              </a:tr>
            </a:tbl>
          </a:graphicData>
        </a:graphic>
      </p:graphicFrame>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space</a:t>
            </a:r>
            <a:endParaRPr sz="600">
              <a:latin typeface="Arial"/>
              <a:cs typeface="Arial"/>
            </a:endParaRPr>
          </a:p>
        </p:txBody>
      </p:sp>
      <p:sp>
        <p:nvSpPr>
          <p:cNvPr id="3" name="object 3"/>
          <p:cNvSpPr txBox="1">
            <a:spLocks noGrp="1"/>
          </p:cNvSpPr>
          <p:nvPr>
            <p:ph type="title"/>
          </p:nvPr>
        </p:nvSpPr>
        <p:spPr>
          <a:xfrm>
            <a:off x="95300" y="188846"/>
            <a:ext cx="2014220" cy="244475"/>
          </a:xfrm>
          <a:prstGeom prst="rect">
            <a:avLst/>
          </a:prstGeom>
        </p:spPr>
        <p:txBody>
          <a:bodyPr vert="horz" wrap="square" lIns="0" tIns="17145" rIns="0" bIns="0" rtlCol="0">
            <a:spAutoFit/>
          </a:bodyPr>
          <a:lstStyle/>
          <a:p>
            <a:pPr marL="12700">
              <a:lnSpc>
                <a:spcPct val="100000"/>
              </a:lnSpc>
              <a:spcBef>
                <a:spcPts val="135"/>
              </a:spcBef>
            </a:pPr>
            <a:r>
              <a:rPr spc="5" dirty="0"/>
              <a:t>Iterative</a:t>
            </a:r>
            <a:r>
              <a:rPr spc="-5" dirty="0"/>
              <a:t> </a:t>
            </a:r>
            <a:r>
              <a:rPr spc="20" dirty="0"/>
              <a:t>name</a:t>
            </a:r>
            <a:r>
              <a:rPr spc="-5" dirty="0"/>
              <a:t> </a:t>
            </a:r>
            <a:r>
              <a:rPr spc="10" dirty="0"/>
              <a:t>resolution</a:t>
            </a:r>
          </a:p>
        </p:txBody>
      </p:sp>
      <p:pic>
        <p:nvPicPr>
          <p:cNvPr id="4" name="object 4"/>
          <p:cNvPicPr/>
          <p:nvPr/>
        </p:nvPicPr>
        <p:blipFill>
          <a:blip r:embed="rId6" cstate="print"/>
          <a:stretch>
            <a:fillRect/>
          </a:stretch>
        </p:blipFill>
        <p:spPr>
          <a:xfrm>
            <a:off x="1543607" y="2767205"/>
            <a:ext cx="74383" cy="63751"/>
          </a:xfrm>
          <a:prstGeom prst="rect">
            <a:avLst/>
          </a:prstGeom>
        </p:spPr>
      </p:pic>
      <p:pic>
        <p:nvPicPr>
          <p:cNvPr id="5" name="object 5"/>
          <p:cNvPicPr/>
          <p:nvPr/>
        </p:nvPicPr>
        <p:blipFill>
          <a:blip r:embed="rId7" cstate="print"/>
          <a:stretch>
            <a:fillRect/>
          </a:stretch>
        </p:blipFill>
        <p:spPr>
          <a:xfrm>
            <a:off x="2365629" y="2707422"/>
            <a:ext cx="74377" cy="63751"/>
          </a:xfrm>
          <a:prstGeom prst="rect">
            <a:avLst/>
          </a:prstGeom>
        </p:spPr>
      </p:pic>
      <p:grpSp>
        <p:nvGrpSpPr>
          <p:cNvPr id="6" name="object 6"/>
          <p:cNvGrpSpPr/>
          <p:nvPr/>
        </p:nvGrpSpPr>
        <p:grpSpPr>
          <a:xfrm>
            <a:off x="1543607" y="2378735"/>
            <a:ext cx="896619" cy="123825"/>
            <a:chOff x="1543607" y="2378735"/>
            <a:chExt cx="896619" cy="123825"/>
          </a:xfrm>
        </p:grpSpPr>
        <p:sp>
          <p:nvSpPr>
            <p:cNvPr id="7" name="object 7"/>
            <p:cNvSpPr/>
            <p:nvPr/>
          </p:nvSpPr>
          <p:spPr>
            <a:xfrm>
              <a:off x="1580982" y="2470381"/>
              <a:ext cx="859155" cy="0"/>
            </a:xfrm>
            <a:custGeom>
              <a:avLst/>
              <a:gdLst/>
              <a:ahLst/>
              <a:cxnLst/>
              <a:rect l="l" t="t" r="r" b="b"/>
              <a:pathLst>
                <a:path w="859155">
                  <a:moveTo>
                    <a:pt x="859024" y="0"/>
                  </a:moveTo>
                  <a:lnTo>
                    <a:pt x="0" y="0"/>
                  </a:lnTo>
                </a:path>
              </a:pathLst>
            </a:custGeom>
            <a:ln w="5267">
              <a:solidFill>
                <a:srgbClr val="231F20"/>
              </a:solidFill>
            </a:ln>
          </p:spPr>
          <p:txBody>
            <a:bodyPr wrap="square" lIns="0" tIns="0" rIns="0" bIns="0" rtlCol="0"/>
            <a:lstStyle/>
            <a:p>
              <a:endParaRPr/>
            </a:p>
          </p:txBody>
        </p:sp>
        <p:pic>
          <p:nvPicPr>
            <p:cNvPr id="8" name="object 8"/>
            <p:cNvPicPr/>
            <p:nvPr/>
          </p:nvPicPr>
          <p:blipFill>
            <a:blip r:embed="rId8" cstate="print"/>
            <a:stretch>
              <a:fillRect/>
            </a:stretch>
          </p:blipFill>
          <p:spPr>
            <a:xfrm>
              <a:off x="1543607" y="2438503"/>
              <a:ext cx="74370" cy="63747"/>
            </a:xfrm>
            <a:prstGeom prst="rect">
              <a:avLst/>
            </a:prstGeom>
          </p:spPr>
        </p:pic>
        <p:pic>
          <p:nvPicPr>
            <p:cNvPr id="9" name="object 9"/>
            <p:cNvPicPr/>
            <p:nvPr/>
          </p:nvPicPr>
          <p:blipFill>
            <a:blip r:embed="rId7" cstate="print"/>
            <a:stretch>
              <a:fillRect/>
            </a:stretch>
          </p:blipFill>
          <p:spPr>
            <a:xfrm>
              <a:off x="2365629" y="2378735"/>
              <a:ext cx="74377" cy="63757"/>
            </a:xfrm>
            <a:prstGeom prst="rect">
              <a:avLst/>
            </a:prstGeom>
          </p:spPr>
        </p:pic>
      </p:grpSp>
      <p:grpSp>
        <p:nvGrpSpPr>
          <p:cNvPr id="10" name="object 10"/>
          <p:cNvGrpSpPr/>
          <p:nvPr/>
        </p:nvGrpSpPr>
        <p:grpSpPr>
          <a:xfrm>
            <a:off x="1543598" y="1630877"/>
            <a:ext cx="2229485" cy="1649730"/>
            <a:chOff x="1543598" y="1630877"/>
            <a:chExt cx="2229485" cy="1649730"/>
          </a:xfrm>
        </p:grpSpPr>
        <p:sp>
          <p:nvSpPr>
            <p:cNvPr id="11" name="object 11"/>
            <p:cNvSpPr/>
            <p:nvPr/>
          </p:nvSpPr>
          <p:spPr>
            <a:xfrm>
              <a:off x="1580982" y="1962420"/>
              <a:ext cx="1621155" cy="928369"/>
            </a:xfrm>
            <a:custGeom>
              <a:avLst/>
              <a:gdLst/>
              <a:ahLst/>
              <a:cxnLst/>
              <a:rect l="l" t="t" r="r" b="b"/>
              <a:pathLst>
                <a:path w="1621155" h="928369">
                  <a:moveTo>
                    <a:pt x="865728" y="928069"/>
                  </a:moveTo>
                  <a:lnTo>
                    <a:pt x="1620958" y="928069"/>
                  </a:lnTo>
                  <a:lnTo>
                    <a:pt x="1620958" y="702179"/>
                  </a:lnTo>
                  <a:lnTo>
                    <a:pt x="865728" y="702179"/>
                  </a:lnTo>
                  <a:lnTo>
                    <a:pt x="865728" y="928069"/>
                  </a:lnTo>
                  <a:close/>
                </a:path>
                <a:path w="1621155" h="928369">
                  <a:moveTo>
                    <a:pt x="865728" y="836939"/>
                  </a:moveTo>
                  <a:lnTo>
                    <a:pt x="0" y="836650"/>
                  </a:lnTo>
                </a:path>
                <a:path w="1621155" h="928369">
                  <a:moveTo>
                    <a:pt x="865728" y="582657"/>
                  </a:moveTo>
                  <a:lnTo>
                    <a:pt x="1620958" y="582657"/>
                  </a:lnTo>
                  <a:lnTo>
                    <a:pt x="1620958" y="343616"/>
                  </a:lnTo>
                  <a:lnTo>
                    <a:pt x="865728" y="343616"/>
                  </a:lnTo>
                  <a:lnTo>
                    <a:pt x="865728" y="582657"/>
                  </a:lnTo>
                  <a:close/>
                </a:path>
                <a:path w="1621155" h="928369">
                  <a:moveTo>
                    <a:pt x="865728" y="238597"/>
                  </a:moveTo>
                  <a:lnTo>
                    <a:pt x="1620958" y="238597"/>
                  </a:lnTo>
                  <a:lnTo>
                    <a:pt x="1620958" y="0"/>
                  </a:lnTo>
                  <a:lnTo>
                    <a:pt x="865728" y="0"/>
                  </a:lnTo>
                  <a:lnTo>
                    <a:pt x="865728" y="238597"/>
                  </a:lnTo>
                  <a:close/>
                </a:path>
                <a:path w="1621155" h="928369">
                  <a:moveTo>
                    <a:pt x="859024" y="149399"/>
                  </a:moveTo>
                  <a:lnTo>
                    <a:pt x="0" y="149399"/>
                  </a:lnTo>
                </a:path>
              </a:pathLst>
            </a:custGeom>
            <a:ln w="5267">
              <a:solidFill>
                <a:srgbClr val="231F20"/>
              </a:solidFill>
            </a:ln>
          </p:spPr>
          <p:txBody>
            <a:bodyPr wrap="square" lIns="0" tIns="0" rIns="0" bIns="0" rtlCol="0"/>
            <a:lstStyle/>
            <a:p>
              <a:endParaRPr/>
            </a:p>
          </p:txBody>
        </p:sp>
        <p:pic>
          <p:nvPicPr>
            <p:cNvPr id="12" name="object 12"/>
            <p:cNvPicPr/>
            <p:nvPr/>
          </p:nvPicPr>
          <p:blipFill>
            <a:blip r:embed="rId9" cstate="print"/>
            <a:stretch>
              <a:fillRect/>
            </a:stretch>
          </p:blipFill>
          <p:spPr>
            <a:xfrm>
              <a:off x="1543598" y="2079943"/>
              <a:ext cx="74379" cy="63741"/>
            </a:xfrm>
            <a:prstGeom prst="rect">
              <a:avLst/>
            </a:prstGeom>
          </p:spPr>
        </p:pic>
        <p:pic>
          <p:nvPicPr>
            <p:cNvPr id="13" name="object 13"/>
            <p:cNvPicPr/>
            <p:nvPr/>
          </p:nvPicPr>
          <p:blipFill>
            <a:blip r:embed="rId10" cstate="print"/>
            <a:stretch>
              <a:fillRect/>
            </a:stretch>
          </p:blipFill>
          <p:spPr>
            <a:xfrm>
              <a:off x="2372322" y="2020587"/>
              <a:ext cx="74387" cy="63751"/>
            </a:xfrm>
            <a:prstGeom prst="rect">
              <a:avLst/>
            </a:prstGeom>
          </p:spPr>
        </p:pic>
        <p:sp>
          <p:nvSpPr>
            <p:cNvPr id="14" name="object 14"/>
            <p:cNvSpPr/>
            <p:nvPr/>
          </p:nvSpPr>
          <p:spPr>
            <a:xfrm>
              <a:off x="3485799" y="2156640"/>
              <a:ext cx="134620" cy="194310"/>
            </a:xfrm>
            <a:custGeom>
              <a:avLst/>
              <a:gdLst/>
              <a:ahLst/>
              <a:cxnLst/>
              <a:rect l="l" t="t" r="r" b="b"/>
              <a:pathLst>
                <a:path w="134620" h="194310">
                  <a:moveTo>
                    <a:pt x="0" y="194215"/>
                  </a:moveTo>
                  <a:lnTo>
                    <a:pt x="134460" y="0"/>
                  </a:lnTo>
                </a:path>
              </a:pathLst>
            </a:custGeom>
            <a:ln w="5267">
              <a:solidFill>
                <a:srgbClr val="231F20"/>
              </a:solidFill>
            </a:ln>
          </p:spPr>
          <p:txBody>
            <a:bodyPr wrap="square" lIns="0" tIns="0" rIns="0" bIns="0" rtlCol="0"/>
            <a:lstStyle/>
            <a:p>
              <a:endParaRPr/>
            </a:p>
          </p:txBody>
        </p:sp>
        <p:sp>
          <p:nvSpPr>
            <p:cNvPr id="15" name="object 15"/>
            <p:cNvSpPr/>
            <p:nvPr/>
          </p:nvSpPr>
          <p:spPr>
            <a:xfrm>
              <a:off x="3201941" y="1962419"/>
              <a:ext cx="568325" cy="239395"/>
            </a:xfrm>
            <a:custGeom>
              <a:avLst/>
              <a:gdLst/>
              <a:ahLst/>
              <a:cxnLst/>
              <a:rect l="l" t="t" r="r" b="b"/>
              <a:pathLst>
                <a:path w="568325" h="239394">
                  <a:moveTo>
                    <a:pt x="0" y="239041"/>
                  </a:moveTo>
                  <a:lnTo>
                    <a:pt x="567723" y="239041"/>
                  </a:lnTo>
                  <a:lnTo>
                    <a:pt x="567723" y="0"/>
                  </a:lnTo>
                  <a:lnTo>
                    <a:pt x="0" y="0"/>
                  </a:lnTo>
                  <a:lnTo>
                    <a:pt x="0" y="239041"/>
                  </a:lnTo>
                  <a:close/>
                </a:path>
              </a:pathLst>
            </a:custGeom>
            <a:ln w="5267">
              <a:solidFill>
                <a:srgbClr val="231F20"/>
              </a:solidFill>
              <a:prstDash val="lgDash"/>
            </a:ln>
          </p:spPr>
          <p:txBody>
            <a:bodyPr wrap="square" lIns="0" tIns="0" rIns="0" bIns="0" rtlCol="0"/>
            <a:lstStyle/>
            <a:p>
              <a:endParaRPr/>
            </a:p>
          </p:txBody>
        </p:sp>
        <p:sp>
          <p:nvSpPr>
            <p:cNvPr id="16" name="object 16"/>
            <p:cNvSpPr/>
            <p:nvPr/>
          </p:nvSpPr>
          <p:spPr>
            <a:xfrm>
              <a:off x="3485799" y="2500258"/>
              <a:ext cx="635" cy="269240"/>
            </a:xfrm>
            <a:custGeom>
              <a:avLst/>
              <a:gdLst/>
              <a:ahLst/>
              <a:cxnLst/>
              <a:rect l="l" t="t" r="r" b="b"/>
              <a:pathLst>
                <a:path w="635" h="269239">
                  <a:moveTo>
                    <a:pt x="10" y="0"/>
                  </a:moveTo>
                  <a:lnTo>
                    <a:pt x="0" y="268914"/>
                  </a:lnTo>
                </a:path>
              </a:pathLst>
            </a:custGeom>
            <a:ln w="5267">
              <a:solidFill>
                <a:srgbClr val="231F20"/>
              </a:solidFill>
            </a:ln>
          </p:spPr>
          <p:txBody>
            <a:bodyPr wrap="square" lIns="0" tIns="0" rIns="0" bIns="0" rtlCol="0"/>
            <a:lstStyle/>
            <a:p>
              <a:endParaRPr/>
            </a:p>
          </p:txBody>
        </p:sp>
        <p:sp>
          <p:nvSpPr>
            <p:cNvPr id="17" name="object 17"/>
            <p:cNvSpPr/>
            <p:nvPr/>
          </p:nvSpPr>
          <p:spPr>
            <a:xfrm>
              <a:off x="3201941" y="2306035"/>
              <a:ext cx="403860" cy="240665"/>
            </a:xfrm>
            <a:custGeom>
              <a:avLst/>
              <a:gdLst/>
              <a:ahLst/>
              <a:cxnLst/>
              <a:rect l="l" t="t" r="r" b="b"/>
              <a:pathLst>
                <a:path w="403860" h="240664">
                  <a:moveTo>
                    <a:pt x="0" y="240088"/>
                  </a:moveTo>
                  <a:lnTo>
                    <a:pt x="403382" y="240088"/>
                  </a:lnTo>
                  <a:lnTo>
                    <a:pt x="403382" y="0"/>
                  </a:lnTo>
                  <a:lnTo>
                    <a:pt x="0" y="0"/>
                  </a:lnTo>
                  <a:lnTo>
                    <a:pt x="0" y="240088"/>
                  </a:lnTo>
                  <a:close/>
                </a:path>
              </a:pathLst>
            </a:custGeom>
            <a:ln w="5267">
              <a:solidFill>
                <a:srgbClr val="231F20"/>
              </a:solidFill>
              <a:prstDash val="lgDash"/>
            </a:ln>
          </p:spPr>
          <p:txBody>
            <a:bodyPr wrap="square" lIns="0" tIns="0" rIns="0" bIns="0" rtlCol="0"/>
            <a:lstStyle/>
            <a:p>
              <a:endParaRPr/>
            </a:p>
          </p:txBody>
        </p:sp>
        <p:sp>
          <p:nvSpPr>
            <p:cNvPr id="18" name="object 18"/>
            <p:cNvSpPr/>
            <p:nvPr/>
          </p:nvSpPr>
          <p:spPr>
            <a:xfrm>
              <a:off x="3344866" y="2843878"/>
              <a:ext cx="281305" cy="272415"/>
            </a:xfrm>
            <a:custGeom>
              <a:avLst/>
              <a:gdLst/>
              <a:ahLst/>
              <a:cxnLst/>
              <a:rect l="l" t="t" r="r" b="b"/>
              <a:pathLst>
                <a:path w="281304" h="272414">
                  <a:moveTo>
                    <a:pt x="280896" y="272419"/>
                  </a:moveTo>
                  <a:lnTo>
                    <a:pt x="140943" y="0"/>
                  </a:lnTo>
                  <a:lnTo>
                    <a:pt x="0" y="271711"/>
                  </a:lnTo>
                </a:path>
              </a:pathLst>
            </a:custGeom>
            <a:ln w="5267">
              <a:solidFill>
                <a:srgbClr val="231F20"/>
              </a:solidFill>
            </a:ln>
          </p:spPr>
          <p:txBody>
            <a:bodyPr wrap="square" lIns="0" tIns="0" rIns="0" bIns="0" rtlCol="0"/>
            <a:lstStyle/>
            <a:p>
              <a:endParaRPr/>
            </a:p>
          </p:txBody>
        </p:sp>
        <p:sp>
          <p:nvSpPr>
            <p:cNvPr id="19" name="object 19"/>
            <p:cNvSpPr/>
            <p:nvPr/>
          </p:nvSpPr>
          <p:spPr>
            <a:xfrm>
              <a:off x="3201941" y="2664599"/>
              <a:ext cx="561975" cy="612775"/>
            </a:xfrm>
            <a:custGeom>
              <a:avLst/>
              <a:gdLst/>
              <a:ahLst/>
              <a:cxnLst/>
              <a:rect l="l" t="t" r="r" b="b"/>
              <a:pathLst>
                <a:path w="561975" h="612775">
                  <a:moveTo>
                    <a:pt x="0" y="612542"/>
                  </a:moveTo>
                  <a:lnTo>
                    <a:pt x="561452" y="612542"/>
                  </a:lnTo>
                  <a:lnTo>
                    <a:pt x="561452" y="0"/>
                  </a:lnTo>
                  <a:lnTo>
                    <a:pt x="0" y="0"/>
                  </a:lnTo>
                  <a:lnTo>
                    <a:pt x="0" y="612542"/>
                  </a:lnTo>
                  <a:close/>
                </a:path>
              </a:pathLst>
            </a:custGeom>
            <a:ln w="5267">
              <a:solidFill>
                <a:srgbClr val="231F20"/>
              </a:solidFill>
              <a:prstDash val="lgDash"/>
            </a:ln>
          </p:spPr>
          <p:txBody>
            <a:bodyPr wrap="square" lIns="0" tIns="0" rIns="0" bIns="0" rtlCol="0"/>
            <a:lstStyle/>
            <a:p>
              <a:endParaRPr/>
            </a:p>
          </p:txBody>
        </p:sp>
        <p:sp>
          <p:nvSpPr>
            <p:cNvPr id="20" name="object 20"/>
            <p:cNvSpPr/>
            <p:nvPr/>
          </p:nvSpPr>
          <p:spPr>
            <a:xfrm>
              <a:off x="1580982" y="1633734"/>
              <a:ext cx="1621155" cy="1494155"/>
            </a:xfrm>
            <a:custGeom>
              <a:avLst/>
              <a:gdLst/>
              <a:ahLst/>
              <a:cxnLst/>
              <a:rect l="l" t="t" r="r" b="b"/>
              <a:pathLst>
                <a:path w="1621155" h="1494155">
                  <a:moveTo>
                    <a:pt x="1366973" y="1494009"/>
                  </a:moveTo>
                  <a:lnTo>
                    <a:pt x="1614402" y="1381661"/>
                  </a:lnTo>
                </a:path>
                <a:path w="1621155" h="1494155">
                  <a:moveTo>
                    <a:pt x="865728" y="224099"/>
                  </a:moveTo>
                  <a:lnTo>
                    <a:pt x="1620958" y="224099"/>
                  </a:lnTo>
                  <a:lnTo>
                    <a:pt x="1620958" y="0"/>
                  </a:lnTo>
                  <a:lnTo>
                    <a:pt x="865728" y="0"/>
                  </a:lnTo>
                  <a:lnTo>
                    <a:pt x="865728" y="224099"/>
                  </a:lnTo>
                  <a:close/>
                </a:path>
                <a:path w="1621155" h="1494155">
                  <a:moveTo>
                    <a:pt x="859024" y="135059"/>
                  </a:moveTo>
                  <a:lnTo>
                    <a:pt x="0" y="135059"/>
                  </a:lnTo>
                </a:path>
              </a:pathLst>
            </a:custGeom>
            <a:ln w="5267">
              <a:solidFill>
                <a:srgbClr val="231F20"/>
              </a:solidFill>
            </a:ln>
          </p:spPr>
          <p:txBody>
            <a:bodyPr wrap="square" lIns="0" tIns="0" rIns="0" bIns="0" rtlCol="0"/>
            <a:lstStyle/>
            <a:p>
              <a:endParaRPr/>
            </a:p>
          </p:txBody>
        </p:sp>
        <p:pic>
          <p:nvPicPr>
            <p:cNvPr id="21" name="object 21"/>
            <p:cNvPicPr/>
            <p:nvPr/>
          </p:nvPicPr>
          <p:blipFill>
            <a:blip r:embed="rId9" cstate="print"/>
            <a:stretch>
              <a:fillRect/>
            </a:stretch>
          </p:blipFill>
          <p:spPr>
            <a:xfrm>
              <a:off x="1543607" y="1736918"/>
              <a:ext cx="74370" cy="63751"/>
            </a:xfrm>
            <a:prstGeom prst="rect">
              <a:avLst/>
            </a:prstGeom>
          </p:spPr>
        </p:pic>
        <p:pic>
          <p:nvPicPr>
            <p:cNvPr id="22" name="object 22"/>
            <p:cNvPicPr/>
            <p:nvPr/>
          </p:nvPicPr>
          <p:blipFill>
            <a:blip r:embed="rId11" cstate="print"/>
            <a:stretch>
              <a:fillRect/>
            </a:stretch>
          </p:blipFill>
          <p:spPr>
            <a:xfrm>
              <a:off x="2372322" y="1677425"/>
              <a:ext cx="74387" cy="63751"/>
            </a:xfrm>
            <a:prstGeom prst="rect">
              <a:avLst/>
            </a:prstGeom>
          </p:spPr>
        </p:pic>
        <p:sp>
          <p:nvSpPr>
            <p:cNvPr id="23" name="object 23"/>
            <p:cNvSpPr/>
            <p:nvPr/>
          </p:nvSpPr>
          <p:spPr>
            <a:xfrm>
              <a:off x="3201941" y="1633734"/>
              <a:ext cx="380365" cy="224154"/>
            </a:xfrm>
            <a:custGeom>
              <a:avLst/>
              <a:gdLst/>
              <a:ahLst/>
              <a:cxnLst/>
              <a:rect l="l" t="t" r="r" b="b"/>
              <a:pathLst>
                <a:path w="380364" h="224155">
                  <a:moveTo>
                    <a:pt x="0" y="224099"/>
                  </a:moveTo>
                  <a:lnTo>
                    <a:pt x="379756" y="224099"/>
                  </a:lnTo>
                  <a:lnTo>
                    <a:pt x="379756" y="0"/>
                  </a:lnTo>
                  <a:lnTo>
                    <a:pt x="0" y="0"/>
                  </a:lnTo>
                  <a:lnTo>
                    <a:pt x="0" y="224099"/>
                  </a:lnTo>
                  <a:close/>
                </a:path>
              </a:pathLst>
            </a:custGeom>
            <a:ln w="5267">
              <a:solidFill>
                <a:srgbClr val="231F20"/>
              </a:solidFill>
              <a:prstDash val="lgDash"/>
            </a:ln>
          </p:spPr>
          <p:txBody>
            <a:bodyPr wrap="square" lIns="0" tIns="0" rIns="0" bIns="0" rtlCol="0"/>
            <a:lstStyle/>
            <a:p>
              <a:endParaRPr/>
            </a:p>
          </p:txBody>
        </p:sp>
      </p:grpSp>
      <p:grpSp>
        <p:nvGrpSpPr>
          <p:cNvPr id="24" name="object 24"/>
          <p:cNvGrpSpPr/>
          <p:nvPr/>
        </p:nvGrpSpPr>
        <p:grpSpPr>
          <a:xfrm>
            <a:off x="1193209" y="2917233"/>
            <a:ext cx="64135" cy="201930"/>
            <a:chOff x="1193209" y="2917233"/>
            <a:chExt cx="64135" cy="201930"/>
          </a:xfrm>
        </p:grpSpPr>
        <p:sp>
          <p:nvSpPr>
            <p:cNvPr id="25" name="object 25"/>
            <p:cNvSpPr/>
            <p:nvPr/>
          </p:nvSpPr>
          <p:spPr>
            <a:xfrm>
              <a:off x="1225083" y="2954612"/>
              <a:ext cx="0" cy="164465"/>
            </a:xfrm>
            <a:custGeom>
              <a:avLst/>
              <a:gdLst/>
              <a:ahLst/>
              <a:cxnLst/>
              <a:rect l="l" t="t" r="r" b="b"/>
              <a:pathLst>
                <a:path h="164464">
                  <a:moveTo>
                    <a:pt x="0" y="164159"/>
                  </a:moveTo>
                  <a:lnTo>
                    <a:pt x="0" y="0"/>
                  </a:lnTo>
                </a:path>
              </a:pathLst>
            </a:custGeom>
            <a:ln w="5267">
              <a:solidFill>
                <a:srgbClr val="231F20"/>
              </a:solidFill>
            </a:ln>
          </p:spPr>
          <p:txBody>
            <a:bodyPr wrap="square" lIns="0" tIns="0" rIns="0" bIns="0" rtlCol="0"/>
            <a:lstStyle/>
            <a:p>
              <a:endParaRPr/>
            </a:p>
          </p:txBody>
        </p:sp>
        <p:sp>
          <p:nvSpPr>
            <p:cNvPr id="26" name="object 26"/>
            <p:cNvSpPr/>
            <p:nvPr/>
          </p:nvSpPr>
          <p:spPr>
            <a:xfrm>
              <a:off x="1193209" y="2917233"/>
              <a:ext cx="64135" cy="74930"/>
            </a:xfrm>
            <a:custGeom>
              <a:avLst/>
              <a:gdLst/>
              <a:ahLst/>
              <a:cxnLst/>
              <a:rect l="l" t="t" r="r" b="b"/>
              <a:pathLst>
                <a:path w="64134" h="74930">
                  <a:moveTo>
                    <a:pt x="31873" y="0"/>
                  </a:moveTo>
                  <a:lnTo>
                    <a:pt x="0" y="74372"/>
                  </a:lnTo>
                  <a:lnTo>
                    <a:pt x="15935" y="68398"/>
                  </a:lnTo>
                  <a:lnTo>
                    <a:pt x="31872" y="66407"/>
                  </a:lnTo>
                  <a:lnTo>
                    <a:pt x="47811" y="68399"/>
                  </a:lnTo>
                  <a:lnTo>
                    <a:pt x="63751" y="74375"/>
                  </a:lnTo>
                  <a:lnTo>
                    <a:pt x="31873" y="0"/>
                  </a:lnTo>
                  <a:close/>
                </a:path>
              </a:pathLst>
            </a:custGeom>
            <a:solidFill>
              <a:srgbClr val="231F20"/>
            </a:solidFill>
          </p:spPr>
          <p:txBody>
            <a:bodyPr wrap="square" lIns="0" tIns="0" rIns="0" bIns="0" rtlCol="0"/>
            <a:lstStyle/>
            <a:p>
              <a:endParaRPr/>
            </a:p>
          </p:txBody>
        </p:sp>
      </p:grpSp>
      <p:grpSp>
        <p:nvGrpSpPr>
          <p:cNvPr id="27" name="object 27"/>
          <p:cNvGrpSpPr/>
          <p:nvPr/>
        </p:nvGrpSpPr>
        <p:grpSpPr>
          <a:xfrm>
            <a:off x="1362926" y="2917233"/>
            <a:ext cx="64135" cy="201930"/>
            <a:chOff x="1362926" y="2917233"/>
            <a:chExt cx="64135" cy="201930"/>
          </a:xfrm>
        </p:grpSpPr>
        <p:sp>
          <p:nvSpPr>
            <p:cNvPr id="28" name="object 28"/>
            <p:cNvSpPr/>
            <p:nvPr/>
          </p:nvSpPr>
          <p:spPr>
            <a:xfrm>
              <a:off x="1394801" y="2917233"/>
              <a:ext cx="0" cy="164465"/>
            </a:xfrm>
            <a:custGeom>
              <a:avLst/>
              <a:gdLst/>
              <a:ahLst/>
              <a:cxnLst/>
              <a:rect l="l" t="t" r="r" b="b"/>
              <a:pathLst>
                <a:path h="164464">
                  <a:moveTo>
                    <a:pt x="0" y="164159"/>
                  </a:moveTo>
                  <a:lnTo>
                    <a:pt x="0" y="0"/>
                  </a:lnTo>
                </a:path>
              </a:pathLst>
            </a:custGeom>
            <a:ln w="5267">
              <a:solidFill>
                <a:srgbClr val="231F20"/>
              </a:solidFill>
            </a:ln>
          </p:spPr>
          <p:txBody>
            <a:bodyPr wrap="square" lIns="0" tIns="0" rIns="0" bIns="0" rtlCol="0"/>
            <a:lstStyle/>
            <a:p>
              <a:endParaRPr/>
            </a:p>
          </p:txBody>
        </p:sp>
        <p:sp>
          <p:nvSpPr>
            <p:cNvPr id="29" name="object 29"/>
            <p:cNvSpPr/>
            <p:nvPr/>
          </p:nvSpPr>
          <p:spPr>
            <a:xfrm>
              <a:off x="1362926" y="3044396"/>
              <a:ext cx="64135" cy="74930"/>
            </a:xfrm>
            <a:custGeom>
              <a:avLst/>
              <a:gdLst/>
              <a:ahLst/>
              <a:cxnLst/>
              <a:rect l="l" t="t" r="r" b="b"/>
              <a:pathLst>
                <a:path w="64134" h="74930">
                  <a:moveTo>
                    <a:pt x="63748" y="0"/>
                  </a:moveTo>
                  <a:lnTo>
                    <a:pt x="47813" y="5977"/>
                  </a:lnTo>
                  <a:lnTo>
                    <a:pt x="31876" y="7970"/>
                  </a:lnTo>
                  <a:lnTo>
                    <a:pt x="15938" y="5977"/>
                  </a:lnTo>
                  <a:lnTo>
                    <a:pt x="0" y="0"/>
                  </a:lnTo>
                  <a:lnTo>
                    <a:pt x="31874" y="74375"/>
                  </a:lnTo>
                  <a:lnTo>
                    <a:pt x="63748" y="0"/>
                  </a:lnTo>
                  <a:close/>
                </a:path>
              </a:pathLst>
            </a:custGeom>
            <a:solidFill>
              <a:srgbClr val="231F20"/>
            </a:solidFill>
          </p:spPr>
          <p:txBody>
            <a:bodyPr wrap="square" lIns="0" tIns="0" rIns="0" bIns="0" rtlCol="0"/>
            <a:lstStyle/>
            <a:p>
              <a:endParaRPr/>
            </a:p>
          </p:txBody>
        </p:sp>
      </p:grpSp>
      <p:sp>
        <p:nvSpPr>
          <p:cNvPr id="30" name="object 30"/>
          <p:cNvSpPr txBox="1"/>
          <p:nvPr/>
        </p:nvSpPr>
        <p:spPr>
          <a:xfrm>
            <a:off x="3234377" y="2925789"/>
            <a:ext cx="1193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ftp</a:t>
            </a:r>
            <a:endParaRPr sz="650">
              <a:latin typeface="Arial"/>
              <a:cs typeface="Arial"/>
            </a:endParaRPr>
          </a:p>
        </p:txBody>
      </p:sp>
      <p:sp>
        <p:nvSpPr>
          <p:cNvPr id="31" name="object 31"/>
          <p:cNvSpPr txBox="1"/>
          <p:nvPr/>
        </p:nvSpPr>
        <p:spPr>
          <a:xfrm>
            <a:off x="220294" y="429321"/>
            <a:ext cx="4061460" cy="2446655"/>
          </a:xfrm>
          <a:prstGeom prst="rect">
            <a:avLst/>
          </a:prstGeom>
        </p:spPr>
        <p:txBody>
          <a:bodyPr vert="horz" wrap="square" lIns="0" tIns="12065" rIns="0" bIns="0" rtlCol="0">
            <a:spAutoFit/>
          </a:bodyPr>
          <a:lstStyle/>
          <a:p>
            <a:pPr marL="139700">
              <a:lnSpc>
                <a:spcPct val="100000"/>
              </a:lnSpc>
              <a:spcBef>
                <a:spcPts val="95"/>
              </a:spcBef>
            </a:pPr>
            <a:r>
              <a:rPr sz="1200" spc="-5" dirty="0">
                <a:solidFill>
                  <a:srgbClr val="3333B2"/>
                </a:solidFill>
                <a:latin typeface="Arial"/>
                <a:cs typeface="Arial"/>
              </a:rPr>
              <a:t>Principle</a:t>
            </a:r>
            <a:endParaRPr sz="1200">
              <a:latin typeface="Arial"/>
              <a:cs typeface="Arial"/>
            </a:endParaRPr>
          </a:p>
          <a:p>
            <a:pPr marL="416559" indent="-175260">
              <a:lnSpc>
                <a:spcPts val="1200"/>
              </a:lnSpc>
              <a:spcBef>
                <a:spcPts val="770"/>
              </a:spcBef>
              <a:buClr>
                <a:srgbClr val="3333B2"/>
              </a:buClr>
              <a:buFont typeface="Arial"/>
              <a:buAutoNum type="arabicPeriod"/>
              <a:tabLst>
                <a:tab pos="417195" algn="l"/>
              </a:tabLst>
            </a:pPr>
            <a:r>
              <a:rPr sz="1000" i="1" spc="10" dirty="0">
                <a:latin typeface="Arial"/>
                <a:cs typeface="Arial"/>
              </a:rPr>
              <a:t>resolve</a:t>
            </a:r>
            <a:r>
              <a:rPr sz="1000" spc="10" dirty="0">
                <a:latin typeface="Arial"/>
                <a:cs typeface="Arial"/>
              </a:rPr>
              <a:t>(</a:t>
            </a:r>
            <a:r>
              <a:rPr sz="1000" i="1" spc="10" dirty="0">
                <a:latin typeface="Arial"/>
                <a:cs typeface="Arial"/>
              </a:rPr>
              <a:t>dir,</a:t>
            </a:r>
            <a:r>
              <a:rPr sz="1000" i="1" spc="-170" dirty="0">
                <a:latin typeface="Arial"/>
                <a:cs typeface="Arial"/>
              </a:rPr>
              <a:t> </a:t>
            </a:r>
            <a:r>
              <a:rPr sz="1000" spc="10" dirty="0">
                <a:latin typeface="Arial"/>
                <a:cs typeface="Arial"/>
              </a:rPr>
              <a:t>[</a:t>
            </a:r>
            <a:r>
              <a:rPr sz="1000" i="1" spc="10" dirty="0">
                <a:latin typeface="Arial"/>
                <a:cs typeface="Arial"/>
              </a:rPr>
              <a:t>name</a:t>
            </a:r>
            <a:r>
              <a:rPr sz="1050" i="1" spc="15" baseline="-15873" dirty="0">
                <a:latin typeface="Arial"/>
                <a:cs typeface="Arial"/>
              </a:rPr>
              <a:t>1</a:t>
            </a:r>
            <a:r>
              <a:rPr sz="1000" i="1" spc="10" dirty="0">
                <a:latin typeface="Arial"/>
                <a:cs typeface="Arial"/>
              </a:rPr>
              <a:t>,...,</a:t>
            </a:r>
            <a:r>
              <a:rPr sz="1000" i="1" spc="-170" dirty="0">
                <a:latin typeface="Arial"/>
                <a:cs typeface="Arial"/>
              </a:rPr>
              <a:t> </a:t>
            </a:r>
            <a:r>
              <a:rPr sz="1000" i="1" dirty="0">
                <a:latin typeface="Arial"/>
                <a:cs typeface="Arial"/>
              </a:rPr>
              <a:t>name</a:t>
            </a:r>
            <a:r>
              <a:rPr sz="1050" i="1" baseline="-15873" dirty="0">
                <a:latin typeface="Arial"/>
                <a:cs typeface="Arial"/>
              </a:rPr>
              <a:t>K</a:t>
            </a:r>
            <a:r>
              <a:rPr sz="1050" i="1" spc="-60" baseline="-15873" dirty="0">
                <a:latin typeface="Arial"/>
                <a:cs typeface="Arial"/>
              </a:rPr>
              <a:t> </a:t>
            </a:r>
            <a:r>
              <a:rPr sz="1000" spc="30" dirty="0">
                <a:latin typeface="Arial"/>
                <a:cs typeface="Arial"/>
              </a:rPr>
              <a:t>])</a:t>
            </a:r>
            <a:r>
              <a:rPr sz="1000" dirty="0">
                <a:latin typeface="Arial"/>
                <a:cs typeface="Arial"/>
              </a:rPr>
              <a:t> </a:t>
            </a:r>
            <a:r>
              <a:rPr sz="1000" spc="-5" dirty="0">
                <a:latin typeface="Arial"/>
                <a:cs typeface="Arial"/>
              </a:rPr>
              <a:t>sent</a:t>
            </a:r>
            <a:r>
              <a:rPr sz="1000" dirty="0">
                <a:latin typeface="Arial"/>
                <a:cs typeface="Arial"/>
              </a:rPr>
              <a:t> </a:t>
            </a:r>
            <a:r>
              <a:rPr sz="1000" spc="-5" dirty="0">
                <a:latin typeface="Arial"/>
                <a:cs typeface="Arial"/>
              </a:rPr>
              <a:t>to</a:t>
            </a:r>
            <a:r>
              <a:rPr sz="1000" dirty="0">
                <a:latin typeface="Arial"/>
                <a:cs typeface="Arial"/>
              </a:rPr>
              <a:t> </a:t>
            </a:r>
            <a:r>
              <a:rPr sz="1000" i="1" dirty="0">
                <a:latin typeface="Arial"/>
                <a:cs typeface="Arial"/>
              </a:rPr>
              <a:t>Server</a:t>
            </a:r>
            <a:r>
              <a:rPr sz="1050" i="1" baseline="-15873" dirty="0">
                <a:latin typeface="Arial"/>
                <a:cs typeface="Arial"/>
              </a:rPr>
              <a:t>0</a:t>
            </a:r>
            <a:r>
              <a:rPr sz="1050" i="1" spc="262" baseline="-15873" dirty="0">
                <a:latin typeface="Arial"/>
                <a:cs typeface="Arial"/>
              </a:rPr>
              <a:t> </a:t>
            </a:r>
            <a:r>
              <a:rPr sz="1000" spc="-5" dirty="0">
                <a:latin typeface="Arial"/>
                <a:cs typeface="Arial"/>
              </a:rPr>
              <a:t>responsible</a:t>
            </a:r>
            <a:r>
              <a:rPr sz="1000" dirty="0">
                <a:latin typeface="Arial"/>
                <a:cs typeface="Arial"/>
              </a:rPr>
              <a:t> </a:t>
            </a:r>
            <a:r>
              <a:rPr sz="1000" spc="-15" dirty="0">
                <a:latin typeface="Arial"/>
                <a:cs typeface="Arial"/>
              </a:rPr>
              <a:t>for</a:t>
            </a:r>
            <a:endParaRPr sz="1000">
              <a:latin typeface="Arial"/>
              <a:cs typeface="Arial"/>
            </a:endParaRPr>
          </a:p>
          <a:p>
            <a:pPr marL="416559">
              <a:lnSpc>
                <a:spcPts val="1195"/>
              </a:lnSpc>
            </a:pPr>
            <a:r>
              <a:rPr sz="1000" i="1" spc="-5" dirty="0">
                <a:latin typeface="Arial"/>
                <a:cs typeface="Arial"/>
              </a:rPr>
              <a:t>dir</a:t>
            </a:r>
            <a:endParaRPr sz="1000">
              <a:latin typeface="Arial"/>
              <a:cs typeface="Arial"/>
            </a:endParaRPr>
          </a:p>
          <a:p>
            <a:pPr marL="416559" marR="397510" indent="-175260">
              <a:lnSpc>
                <a:spcPts val="1200"/>
              </a:lnSpc>
              <a:spcBef>
                <a:spcPts val="40"/>
              </a:spcBef>
              <a:buClr>
                <a:srgbClr val="3333B2"/>
              </a:buClr>
              <a:buFont typeface="Arial"/>
              <a:buAutoNum type="arabicPeriod" startAt="2"/>
              <a:tabLst>
                <a:tab pos="417195" algn="l"/>
              </a:tabLst>
            </a:pPr>
            <a:r>
              <a:rPr sz="1000" i="1" spc="-5" dirty="0">
                <a:latin typeface="Arial"/>
                <a:cs typeface="Arial"/>
              </a:rPr>
              <a:t>Se</a:t>
            </a:r>
            <a:r>
              <a:rPr sz="1000" i="1" spc="20" dirty="0">
                <a:latin typeface="Arial"/>
                <a:cs typeface="Arial"/>
              </a:rPr>
              <a:t>r</a:t>
            </a:r>
            <a:r>
              <a:rPr sz="1000" i="1" spc="-30" dirty="0">
                <a:latin typeface="Arial"/>
                <a:cs typeface="Arial"/>
              </a:rPr>
              <a:t>v</a:t>
            </a:r>
            <a:r>
              <a:rPr sz="1000" i="1" spc="-5" dirty="0">
                <a:latin typeface="Arial"/>
                <a:cs typeface="Arial"/>
              </a:rPr>
              <a:t>e</a:t>
            </a:r>
            <a:r>
              <a:rPr sz="1000" i="1" spc="-10" dirty="0">
                <a:latin typeface="Arial"/>
                <a:cs typeface="Arial"/>
              </a:rPr>
              <a:t>r</a:t>
            </a:r>
            <a:r>
              <a:rPr sz="1050" i="1" spc="30" baseline="-15873" dirty="0">
                <a:latin typeface="Arial"/>
                <a:cs typeface="Arial"/>
              </a:rPr>
              <a:t>0</a:t>
            </a:r>
            <a:r>
              <a:rPr sz="1050" i="1" baseline="-15873" dirty="0">
                <a:latin typeface="Arial"/>
                <a:cs typeface="Arial"/>
              </a:rPr>
              <a:t> </a:t>
            </a:r>
            <a:r>
              <a:rPr sz="1050" i="1" spc="-37" baseline="-15873" dirty="0">
                <a:latin typeface="Arial"/>
                <a:cs typeface="Arial"/>
              </a:rPr>
              <a:t> </a:t>
            </a:r>
            <a:r>
              <a:rPr sz="1000" spc="-5" dirty="0">
                <a:latin typeface="Arial"/>
                <a:cs typeface="Arial"/>
              </a:rPr>
              <a:t>resol</a:t>
            </a:r>
            <a:r>
              <a:rPr sz="1000" spc="-30" dirty="0">
                <a:latin typeface="Arial"/>
                <a:cs typeface="Arial"/>
              </a:rPr>
              <a:t>v</a:t>
            </a:r>
            <a:r>
              <a:rPr sz="1000" spc="-5" dirty="0">
                <a:latin typeface="Arial"/>
                <a:cs typeface="Arial"/>
              </a:rPr>
              <a:t>es </a:t>
            </a:r>
            <a:r>
              <a:rPr sz="1000" i="1" spc="-5" dirty="0">
                <a:latin typeface="Arial"/>
                <a:cs typeface="Arial"/>
              </a:rPr>
              <a:t>resol</a:t>
            </a:r>
            <a:r>
              <a:rPr sz="1000" i="1" spc="-30" dirty="0">
                <a:latin typeface="Arial"/>
                <a:cs typeface="Arial"/>
              </a:rPr>
              <a:t>v</a:t>
            </a:r>
            <a:r>
              <a:rPr sz="1000" i="1" spc="15" dirty="0">
                <a:latin typeface="Arial"/>
                <a:cs typeface="Arial"/>
              </a:rPr>
              <a:t>e</a:t>
            </a:r>
            <a:r>
              <a:rPr sz="1000" spc="50" dirty="0">
                <a:latin typeface="Arial"/>
                <a:cs typeface="Arial"/>
              </a:rPr>
              <a:t>(</a:t>
            </a:r>
            <a:r>
              <a:rPr sz="1000" i="1" spc="-5" dirty="0">
                <a:latin typeface="Arial"/>
                <a:cs typeface="Arial"/>
              </a:rPr>
              <a:t>di</a:t>
            </a:r>
            <a:r>
              <a:rPr sz="1000" i="1" spc="105" dirty="0">
                <a:latin typeface="Arial"/>
                <a:cs typeface="Arial"/>
              </a:rPr>
              <a:t>r</a:t>
            </a:r>
            <a:r>
              <a:rPr sz="1000" i="1" spc="-5" dirty="0">
                <a:latin typeface="Arial"/>
                <a:cs typeface="Arial"/>
              </a:rPr>
              <a:t>,</a:t>
            </a:r>
            <a:r>
              <a:rPr sz="1000" i="1" spc="-170" dirty="0">
                <a:latin typeface="Arial"/>
                <a:cs typeface="Arial"/>
              </a:rPr>
              <a:t> </a:t>
            </a:r>
            <a:r>
              <a:rPr sz="1000" i="1" spc="-5" dirty="0">
                <a:latin typeface="Arial"/>
                <a:cs typeface="Arial"/>
              </a:rPr>
              <a:t>name</a:t>
            </a:r>
            <a:r>
              <a:rPr sz="1050" i="1" spc="97" baseline="-15873" dirty="0">
                <a:latin typeface="Arial"/>
                <a:cs typeface="Arial"/>
              </a:rPr>
              <a:t>1</a:t>
            </a:r>
            <a:r>
              <a:rPr sz="1000" spc="50" dirty="0">
                <a:latin typeface="Arial"/>
                <a:cs typeface="Arial"/>
              </a:rPr>
              <a:t>)</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dir</a:t>
            </a:r>
            <a:r>
              <a:rPr sz="1050" i="1" spc="97" baseline="-15873" dirty="0">
                <a:latin typeface="Arial"/>
                <a:cs typeface="Arial"/>
              </a:rPr>
              <a:t>1</a:t>
            </a:r>
            <a:r>
              <a:rPr sz="1000" spc="-5" dirty="0">
                <a:latin typeface="Arial"/>
                <a:cs typeface="Arial"/>
              </a:rPr>
              <a:t>, retu</a:t>
            </a:r>
            <a:r>
              <a:rPr sz="1000" spc="15" dirty="0">
                <a:latin typeface="Arial"/>
                <a:cs typeface="Arial"/>
              </a:rPr>
              <a:t>r</a:t>
            </a:r>
            <a:r>
              <a:rPr sz="1000" spc="-5" dirty="0">
                <a:latin typeface="Arial"/>
                <a:cs typeface="Arial"/>
              </a:rPr>
              <a:t>ning the  identification (address)</a:t>
            </a:r>
            <a:r>
              <a:rPr sz="1000" dirty="0">
                <a:latin typeface="Arial"/>
                <a:cs typeface="Arial"/>
              </a:rPr>
              <a:t> </a:t>
            </a:r>
            <a:r>
              <a:rPr sz="1000" spc="-5" dirty="0">
                <a:latin typeface="Arial"/>
                <a:cs typeface="Arial"/>
              </a:rPr>
              <a:t>of </a:t>
            </a:r>
            <a:r>
              <a:rPr sz="1000" i="1" spc="5" dirty="0">
                <a:latin typeface="Arial"/>
                <a:cs typeface="Arial"/>
              </a:rPr>
              <a:t>Server</a:t>
            </a:r>
            <a:r>
              <a:rPr sz="1050" i="1" spc="7" baseline="-15873" dirty="0">
                <a:latin typeface="Arial"/>
                <a:cs typeface="Arial"/>
              </a:rPr>
              <a:t>1</a:t>
            </a:r>
            <a:r>
              <a:rPr sz="1000" spc="5" dirty="0">
                <a:latin typeface="Arial"/>
                <a:cs typeface="Arial"/>
              </a:rPr>
              <a:t>,</a:t>
            </a:r>
            <a:r>
              <a:rPr sz="1000" dirty="0">
                <a:latin typeface="Arial"/>
                <a:cs typeface="Arial"/>
              </a:rPr>
              <a:t> </a:t>
            </a:r>
            <a:r>
              <a:rPr sz="1000" spc="-5" dirty="0">
                <a:latin typeface="Arial"/>
                <a:cs typeface="Arial"/>
              </a:rPr>
              <a:t>which stores</a:t>
            </a:r>
            <a:r>
              <a:rPr sz="1000" dirty="0">
                <a:latin typeface="Arial"/>
                <a:cs typeface="Arial"/>
              </a:rPr>
              <a:t> </a:t>
            </a:r>
            <a:r>
              <a:rPr sz="1000" i="1" spc="10" dirty="0">
                <a:latin typeface="Arial"/>
                <a:cs typeface="Arial"/>
              </a:rPr>
              <a:t>dir</a:t>
            </a:r>
            <a:r>
              <a:rPr sz="1050" i="1" spc="15" baseline="-15873" dirty="0">
                <a:latin typeface="Arial"/>
                <a:cs typeface="Arial"/>
              </a:rPr>
              <a:t>1</a:t>
            </a:r>
            <a:r>
              <a:rPr sz="1000" spc="10" dirty="0">
                <a:latin typeface="Arial"/>
                <a:cs typeface="Arial"/>
              </a:rPr>
              <a:t>.</a:t>
            </a:r>
            <a:endParaRPr sz="1000">
              <a:latin typeface="Arial"/>
              <a:cs typeface="Arial"/>
            </a:endParaRPr>
          </a:p>
          <a:p>
            <a:pPr marL="416559" indent="-175260">
              <a:lnSpc>
                <a:spcPts val="1150"/>
              </a:lnSpc>
              <a:buClr>
                <a:srgbClr val="3333B2"/>
              </a:buClr>
              <a:buAutoNum type="arabicPeriod" startAt="2"/>
              <a:tabLst>
                <a:tab pos="417195" algn="l"/>
              </a:tabLst>
            </a:pPr>
            <a:r>
              <a:rPr sz="1000" spc="-5" dirty="0">
                <a:latin typeface="Arial"/>
                <a:cs typeface="Arial"/>
              </a:rPr>
              <a:t>Client</a:t>
            </a:r>
            <a:r>
              <a:rPr sz="1000" dirty="0">
                <a:latin typeface="Arial"/>
                <a:cs typeface="Arial"/>
              </a:rPr>
              <a:t> </a:t>
            </a:r>
            <a:r>
              <a:rPr sz="1000" spc="-5" dirty="0">
                <a:latin typeface="Arial"/>
                <a:cs typeface="Arial"/>
              </a:rPr>
              <a:t>sends</a:t>
            </a:r>
            <a:r>
              <a:rPr sz="1000" dirty="0">
                <a:latin typeface="Arial"/>
                <a:cs typeface="Arial"/>
              </a:rPr>
              <a:t> </a:t>
            </a:r>
            <a:r>
              <a:rPr sz="1000" i="1" spc="5" dirty="0">
                <a:latin typeface="Arial"/>
                <a:cs typeface="Arial"/>
              </a:rPr>
              <a:t>resolve</a:t>
            </a:r>
            <a:r>
              <a:rPr sz="1000" spc="5" dirty="0">
                <a:latin typeface="Arial"/>
                <a:cs typeface="Arial"/>
              </a:rPr>
              <a:t>(</a:t>
            </a:r>
            <a:r>
              <a:rPr sz="1000" i="1" spc="5" dirty="0">
                <a:latin typeface="Arial"/>
                <a:cs typeface="Arial"/>
              </a:rPr>
              <a:t>dir</a:t>
            </a:r>
            <a:r>
              <a:rPr sz="1050" i="1" spc="7" baseline="-15873" dirty="0">
                <a:latin typeface="Arial"/>
                <a:cs typeface="Arial"/>
              </a:rPr>
              <a:t>1</a:t>
            </a:r>
            <a:r>
              <a:rPr sz="1000" i="1" spc="5" dirty="0">
                <a:latin typeface="Arial"/>
                <a:cs typeface="Arial"/>
              </a:rPr>
              <a:t>,</a:t>
            </a:r>
            <a:r>
              <a:rPr sz="1000" i="1" spc="-170" dirty="0">
                <a:latin typeface="Arial"/>
                <a:cs typeface="Arial"/>
              </a:rPr>
              <a:t> </a:t>
            </a:r>
            <a:r>
              <a:rPr sz="1000" dirty="0">
                <a:latin typeface="Arial"/>
                <a:cs typeface="Arial"/>
              </a:rPr>
              <a:t>[</a:t>
            </a:r>
            <a:r>
              <a:rPr sz="1000" i="1" dirty="0">
                <a:latin typeface="Arial"/>
                <a:cs typeface="Arial"/>
              </a:rPr>
              <a:t>name</a:t>
            </a:r>
            <a:r>
              <a:rPr sz="1050" i="1" baseline="-15873" dirty="0">
                <a:latin typeface="Arial"/>
                <a:cs typeface="Arial"/>
              </a:rPr>
              <a:t>2</a:t>
            </a:r>
            <a:r>
              <a:rPr sz="1050" i="1" spc="-157" baseline="-15873"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dirty="0">
                <a:latin typeface="Arial"/>
                <a:cs typeface="Arial"/>
              </a:rPr>
              <a:t>name</a:t>
            </a:r>
            <a:r>
              <a:rPr sz="1050" i="1" baseline="-15873" dirty="0">
                <a:latin typeface="Arial"/>
                <a:cs typeface="Arial"/>
              </a:rPr>
              <a:t>K</a:t>
            </a:r>
            <a:r>
              <a:rPr sz="1050" i="1" spc="-60" baseline="-15873" dirty="0">
                <a:latin typeface="Arial"/>
                <a:cs typeface="Arial"/>
              </a:rPr>
              <a:t> </a:t>
            </a:r>
            <a:r>
              <a:rPr sz="1000" spc="30" dirty="0">
                <a:latin typeface="Arial"/>
                <a:cs typeface="Arial"/>
              </a:rPr>
              <a:t>])</a:t>
            </a:r>
            <a:r>
              <a:rPr sz="1000" spc="5" dirty="0">
                <a:latin typeface="Arial"/>
                <a:cs typeface="Arial"/>
              </a:rPr>
              <a:t> </a:t>
            </a:r>
            <a:r>
              <a:rPr sz="1000" spc="-5" dirty="0">
                <a:latin typeface="Arial"/>
                <a:cs typeface="Arial"/>
              </a:rPr>
              <a:t>to</a:t>
            </a:r>
            <a:r>
              <a:rPr sz="1000" dirty="0">
                <a:latin typeface="Arial"/>
                <a:cs typeface="Arial"/>
              </a:rPr>
              <a:t> </a:t>
            </a:r>
            <a:r>
              <a:rPr sz="1000" i="1" spc="5" dirty="0">
                <a:latin typeface="Arial"/>
                <a:cs typeface="Arial"/>
              </a:rPr>
              <a:t>Server</a:t>
            </a:r>
            <a:r>
              <a:rPr sz="1050" i="1" spc="7" baseline="-15873" dirty="0">
                <a:latin typeface="Arial"/>
                <a:cs typeface="Arial"/>
              </a:rPr>
              <a:t>1</a:t>
            </a:r>
            <a:r>
              <a:rPr sz="1000" spc="5" dirty="0">
                <a:latin typeface="Arial"/>
                <a:cs typeface="Arial"/>
              </a:rPr>
              <a:t>,</a:t>
            </a:r>
            <a:r>
              <a:rPr sz="1000" dirty="0">
                <a:latin typeface="Arial"/>
                <a:cs typeface="Arial"/>
              </a:rPr>
              <a:t> </a:t>
            </a:r>
            <a:r>
              <a:rPr sz="1000" spc="-5" dirty="0">
                <a:latin typeface="Arial"/>
                <a:cs typeface="Arial"/>
              </a:rPr>
              <a:t>etc.</a:t>
            </a:r>
            <a:endParaRPr sz="1000">
              <a:latin typeface="Arial"/>
              <a:cs typeface="Arial"/>
            </a:endParaRPr>
          </a:p>
          <a:p>
            <a:pPr>
              <a:lnSpc>
                <a:spcPct val="100000"/>
              </a:lnSpc>
              <a:spcBef>
                <a:spcPts val="40"/>
              </a:spcBef>
            </a:pPr>
            <a:endParaRPr sz="1100">
              <a:latin typeface="Arial"/>
              <a:cs typeface="Arial"/>
            </a:endParaRPr>
          </a:p>
          <a:p>
            <a:pPr marL="2373630" marR="1210310" indent="144780">
              <a:lnSpc>
                <a:spcPts val="740"/>
              </a:lnSpc>
              <a:spcBef>
                <a:spcPts val="5"/>
              </a:spcBef>
            </a:pPr>
            <a:r>
              <a:rPr sz="650" spc="5" dirty="0">
                <a:solidFill>
                  <a:srgbClr val="231F20"/>
                </a:solidFill>
                <a:latin typeface="Arial"/>
                <a:cs typeface="Arial"/>
              </a:rPr>
              <a:t>Root </a:t>
            </a:r>
            <a:r>
              <a:rPr sz="650" spc="10" dirty="0">
                <a:solidFill>
                  <a:srgbClr val="231F20"/>
                </a:solidFill>
                <a:latin typeface="Arial"/>
                <a:cs typeface="Arial"/>
              </a:rPr>
              <a:t> </a:t>
            </a:r>
            <a:r>
              <a:rPr sz="650" spc="5" dirty="0">
                <a:solidFill>
                  <a:srgbClr val="231F20"/>
                </a:solidFill>
                <a:latin typeface="Arial"/>
                <a:cs typeface="Arial"/>
              </a:rPr>
              <a:t>name</a:t>
            </a:r>
            <a:r>
              <a:rPr sz="650"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a:p>
            <a:pPr marL="3399790">
              <a:lnSpc>
                <a:spcPts val="770"/>
              </a:lnSpc>
            </a:pPr>
            <a:r>
              <a:rPr sz="650" spc="5" dirty="0">
                <a:solidFill>
                  <a:srgbClr val="231F20"/>
                </a:solidFill>
                <a:latin typeface="Arial"/>
                <a:cs typeface="Arial"/>
              </a:rPr>
              <a:t>nl</a:t>
            </a:r>
            <a:endParaRPr sz="650">
              <a:latin typeface="Arial"/>
              <a:cs typeface="Arial"/>
            </a:endParaRPr>
          </a:p>
          <a:p>
            <a:pPr marL="2469515" marR="1203325" indent="-102870">
              <a:lnSpc>
                <a:spcPts val="750"/>
              </a:lnSpc>
              <a:spcBef>
                <a:spcPts val="380"/>
              </a:spcBef>
            </a:pPr>
            <a:r>
              <a:rPr sz="650" spc="5" dirty="0">
                <a:solidFill>
                  <a:srgbClr val="231F20"/>
                </a:solidFill>
                <a:latin typeface="Arial"/>
                <a:cs typeface="Arial"/>
              </a:rPr>
              <a:t>Name server  nl</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p>
            <a:pPr marL="3205480">
              <a:lnSpc>
                <a:spcPct val="100000"/>
              </a:lnSpc>
              <a:spcBef>
                <a:spcPts val="160"/>
              </a:spcBef>
            </a:pPr>
            <a:r>
              <a:rPr sz="650" spc="5" dirty="0">
                <a:solidFill>
                  <a:srgbClr val="231F20"/>
                </a:solidFill>
                <a:latin typeface="Arial"/>
                <a:cs typeface="Arial"/>
              </a:rPr>
              <a:t>vu</a:t>
            </a:r>
            <a:endParaRPr sz="650">
              <a:latin typeface="Arial"/>
              <a:cs typeface="Arial"/>
            </a:endParaRPr>
          </a:p>
          <a:p>
            <a:pPr marL="2432050" marR="1229360" indent="-91440">
              <a:lnSpc>
                <a:spcPts val="740"/>
              </a:lnSpc>
              <a:spcBef>
                <a:spcPts val="315"/>
              </a:spcBef>
            </a:pPr>
            <a:r>
              <a:rPr sz="650" spc="5" dirty="0">
                <a:solidFill>
                  <a:srgbClr val="231F20"/>
                </a:solidFill>
                <a:latin typeface="Arial"/>
                <a:cs typeface="Arial"/>
              </a:rPr>
              <a:t>Name server  vu</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p>
            <a:pPr marL="3161030">
              <a:lnSpc>
                <a:spcPct val="100000"/>
              </a:lnSpc>
              <a:spcBef>
                <a:spcPts val="365"/>
              </a:spcBef>
            </a:pPr>
            <a:r>
              <a:rPr sz="650" spc="5" dirty="0">
                <a:solidFill>
                  <a:srgbClr val="231F20"/>
                </a:solidFill>
                <a:latin typeface="Arial"/>
                <a:cs typeface="Arial"/>
              </a:rPr>
              <a:t>cs</a:t>
            </a:r>
            <a:endParaRPr sz="650">
              <a:latin typeface="Arial"/>
              <a:cs typeface="Arial"/>
            </a:endParaRPr>
          </a:p>
          <a:p>
            <a:pPr marL="2445385" marR="1218565" indent="-93345">
              <a:lnSpc>
                <a:spcPts val="750"/>
              </a:lnSpc>
              <a:spcBef>
                <a:spcPts val="70"/>
              </a:spcBef>
            </a:pPr>
            <a:r>
              <a:rPr sz="650" spc="5" dirty="0">
                <a:solidFill>
                  <a:srgbClr val="231F20"/>
                </a:solidFill>
                <a:latin typeface="Arial"/>
                <a:cs typeface="Arial"/>
              </a:rPr>
              <a:t>Name server  cs</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32" name="object 32"/>
          <p:cNvSpPr txBox="1"/>
          <p:nvPr/>
        </p:nvSpPr>
        <p:spPr>
          <a:xfrm>
            <a:off x="2442033" y="3016104"/>
            <a:ext cx="630555" cy="314960"/>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Nodes are </a:t>
            </a:r>
            <a:r>
              <a:rPr sz="650" spc="10" dirty="0">
                <a:solidFill>
                  <a:srgbClr val="231F20"/>
                </a:solidFill>
                <a:latin typeface="Arial"/>
                <a:cs typeface="Arial"/>
              </a:rPr>
              <a:t> </a:t>
            </a:r>
            <a:r>
              <a:rPr sz="650" spc="5" dirty="0">
                <a:solidFill>
                  <a:srgbClr val="231F20"/>
                </a:solidFill>
                <a:latin typeface="Arial"/>
                <a:cs typeface="Arial"/>
              </a:rPr>
              <a:t>managed </a:t>
            </a:r>
            <a:r>
              <a:rPr sz="650" spc="40" dirty="0">
                <a:solidFill>
                  <a:srgbClr val="231F20"/>
                </a:solidFill>
                <a:latin typeface="Arial"/>
                <a:cs typeface="Arial"/>
              </a:rPr>
              <a:t> </a:t>
            </a:r>
            <a:r>
              <a:rPr sz="650" spc="5" dirty="0">
                <a:solidFill>
                  <a:srgbClr val="231F20"/>
                </a:solidFill>
                <a:latin typeface="Arial"/>
                <a:cs typeface="Arial"/>
              </a:rPr>
              <a:t>by </a:t>
            </a:r>
            <a:r>
              <a:rPr sz="650" spc="10" dirty="0">
                <a:solidFill>
                  <a:srgbClr val="231F20"/>
                </a:solidFill>
                <a:latin typeface="Arial"/>
                <a:cs typeface="Arial"/>
              </a:rPr>
              <a:t> </a:t>
            </a:r>
            <a:r>
              <a:rPr sz="650" spc="5" dirty="0">
                <a:solidFill>
                  <a:srgbClr val="231F20"/>
                </a:solidFill>
                <a:latin typeface="Arial"/>
                <a:cs typeface="Arial"/>
              </a:rPr>
              <a:t>the</a:t>
            </a:r>
            <a:r>
              <a:rPr sz="650" spc="-35" dirty="0">
                <a:solidFill>
                  <a:srgbClr val="231F20"/>
                </a:solidFill>
                <a:latin typeface="Arial"/>
                <a:cs typeface="Arial"/>
              </a:rPr>
              <a:t> </a:t>
            </a:r>
            <a:r>
              <a:rPr sz="650" spc="5" dirty="0">
                <a:solidFill>
                  <a:srgbClr val="231F20"/>
                </a:solidFill>
                <a:latin typeface="Arial"/>
                <a:cs typeface="Arial"/>
              </a:rPr>
              <a:t>same</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graphicFrame>
        <p:nvGraphicFramePr>
          <p:cNvPr id="33" name="object 33"/>
          <p:cNvGraphicFramePr>
            <a:graphicFrameLocks noGrp="1"/>
          </p:cNvGraphicFramePr>
          <p:nvPr/>
        </p:nvGraphicFramePr>
        <p:xfrm>
          <a:off x="1137590" y="1631100"/>
          <a:ext cx="1271905" cy="1276350"/>
        </p:xfrm>
        <a:graphic>
          <a:graphicData uri="http://schemas.openxmlformats.org/drawingml/2006/table">
            <a:tbl>
              <a:tblPr firstRow="1" bandRow="1">
                <a:tableStyleId>{2D5ABB26-0587-4C30-8999-92F81FD0307C}</a:tableStyleId>
              </a:tblPr>
              <a:tblGrid>
                <a:gridCol w="396240">
                  <a:extLst>
                    <a:ext uri="{9D8B030D-6E8A-4147-A177-3AD203B41FA5}">
                      <a16:colId xmlns:a16="http://schemas.microsoft.com/office/drawing/2014/main" val="20000"/>
                    </a:ext>
                  </a:extLst>
                </a:gridCol>
                <a:gridCol w="875665">
                  <a:extLst>
                    <a:ext uri="{9D8B030D-6E8A-4147-A177-3AD203B41FA5}">
                      <a16:colId xmlns:a16="http://schemas.microsoft.com/office/drawing/2014/main" val="20001"/>
                    </a:ext>
                  </a:extLst>
                </a:gridCol>
              </a:tblGrid>
              <a:tr h="74930">
                <a:tc rowSpan="5">
                  <a:txBody>
                    <a:bodyPr/>
                    <a:lstStyle/>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marL="31750" marR="56515">
                        <a:lnSpc>
                          <a:spcPts val="740"/>
                        </a:lnSpc>
                        <a:spcBef>
                          <a:spcPts val="535"/>
                        </a:spcBef>
                      </a:pPr>
                      <a:r>
                        <a:rPr sz="650" spc="5" dirty="0">
                          <a:solidFill>
                            <a:srgbClr val="231F20"/>
                          </a:solidFill>
                          <a:latin typeface="Arial"/>
                          <a:cs typeface="Arial"/>
                        </a:rPr>
                        <a:t>Client's </a:t>
                      </a:r>
                      <a:r>
                        <a:rPr sz="650" spc="-170" dirty="0">
                          <a:solidFill>
                            <a:srgbClr val="231F20"/>
                          </a:solidFill>
                          <a:latin typeface="Arial"/>
                          <a:cs typeface="Arial"/>
                        </a:rPr>
                        <a:t> </a:t>
                      </a:r>
                      <a:r>
                        <a:rPr sz="650" spc="5" dirty="0">
                          <a:solidFill>
                            <a:srgbClr val="231F20"/>
                          </a:solidFill>
                          <a:latin typeface="Arial"/>
                          <a:cs typeface="Arial"/>
                        </a:rPr>
                        <a:t>name </a:t>
                      </a:r>
                      <a:r>
                        <a:rPr sz="650" spc="10" dirty="0">
                          <a:solidFill>
                            <a:srgbClr val="231F20"/>
                          </a:solidFill>
                          <a:latin typeface="Arial"/>
                          <a:cs typeface="Arial"/>
                        </a:rPr>
                        <a:t> </a:t>
                      </a:r>
                      <a:r>
                        <a:rPr sz="650" dirty="0">
                          <a:solidFill>
                            <a:srgbClr val="231F20"/>
                          </a:solidFill>
                          <a:latin typeface="Arial"/>
                          <a:cs typeface="Arial"/>
                        </a:rPr>
                        <a:t>resolver</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97155">
                        <a:lnSpc>
                          <a:spcPts val="495"/>
                        </a:lnSpc>
                      </a:pPr>
                      <a:r>
                        <a:rPr sz="650" spc="5" dirty="0">
                          <a:solidFill>
                            <a:srgbClr val="231F20"/>
                          </a:solidFill>
                          <a:latin typeface="Arial"/>
                          <a:cs typeface="Arial"/>
                        </a:rPr>
                        <a:t>1.</a:t>
                      </a:r>
                      <a:r>
                        <a:rPr sz="650" spc="-45" dirty="0">
                          <a:solidFill>
                            <a:srgbClr val="231F20"/>
                          </a:solidFill>
                          <a:latin typeface="Arial"/>
                          <a:cs typeface="Arial"/>
                        </a:rPr>
                        <a:t> </a:t>
                      </a:r>
                      <a:r>
                        <a:rPr sz="650" spc="5" dirty="0">
                          <a:solidFill>
                            <a:srgbClr val="231F20"/>
                          </a:solidFill>
                          <a:latin typeface="Arial"/>
                          <a:cs typeface="Arial"/>
                        </a:rPr>
                        <a:t>[nl,vu,cs,ftp]</a:t>
                      </a:r>
                      <a:endParaRPr sz="650">
                        <a:latin typeface="Arial"/>
                        <a:cs typeface="Arial"/>
                      </a:endParaRPr>
                    </a:p>
                  </a:txBody>
                  <a:tcPr marL="0" marR="0" marT="0" marB="0">
                    <a:lnL w="6350">
                      <a:solidFill>
                        <a:srgbClr val="231F20"/>
                      </a:solidFill>
                      <a:prstDash val="solid"/>
                    </a:lnL>
                    <a:lnB w="6350">
                      <a:solidFill>
                        <a:srgbClr val="231F20"/>
                      </a:solidFill>
                      <a:prstDash val="solid"/>
                    </a:lnB>
                  </a:tcPr>
                </a:tc>
                <a:extLst>
                  <a:ext uri="{0D108BD9-81ED-4DB2-BD59-A6C34878D82A}">
                    <a16:rowId xmlns:a16="http://schemas.microsoft.com/office/drawing/2014/main" val="10000"/>
                  </a:ext>
                </a:extLst>
              </a:tr>
              <a:tr h="342900">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90500" indent="-93980">
                        <a:lnSpc>
                          <a:spcPct val="100000"/>
                        </a:lnSpc>
                        <a:spcBef>
                          <a:spcPts val="505"/>
                        </a:spcBef>
                        <a:buAutoNum type="arabicPeriod" startAt="2"/>
                        <a:tabLst>
                          <a:tab pos="191135" algn="l"/>
                        </a:tabLst>
                      </a:pPr>
                      <a:r>
                        <a:rPr sz="650" spc="5" dirty="0">
                          <a:solidFill>
                            <a:srgbClr val="231F20"/>
                          </a:solidFill>
                          <a:latin typeface="Arial"/>
                          <a:cs typeface="Arial"/>
                        </a:rPr>
                        <a:t>#[nl],</a:t>
                      </a:r>
                      <a:r>
                        <a:rPr sz="650" spc="-45" dirty="0">
                          <a:solidFill>
                            <a:srgbClr val="231F20"/>
                          </a:solidFill>
                          <a:latin typeface="Arial"/>
                          <a:cs typeface="Arial"/>
                        </a:rPr>
                        <a:t> </a:t>
                      </a:r>
                      <a:r>
                        <a:rPr sz="650" spc="5" dirty="0">
                          <a:solidFill>
                            <a:srgbClr val="231F20"/>
                          </a:solidFill>
                          <a:latin typeface="Arial"/>
                          <a:cs typeface="Arial"/>
                        </a:rPr>
                        <a:t>[vu,cs,ftp]</a:t>
                      </a:r>
                      <a:endParaRPr sz="650">
                        <a:latin typeface="Arial"/>
                        <a:cs typeface="Arial"/>
                      </a:endParaRPr>
                    </a:p>
                    <a:p>
                      <a:pPr>
                        <a:lnSpc>
                          <a:spcPct val="100000"/>
                        </a:lnSpc>
                        <a:spcBef>
                          <a:spcPts val="25"/>
                        </a:spcBef>
                        <a:buClr>
                          <a:srgbClr val="231F20"/>
                        </a:buClr>
                        <a:buFont typeface="Arial"/>
                        <a:buAutoNum type="arabicPeriod" startAt="2"/>
                      </a:pPr>
                      <a:endParaRPr sz="450">
                        <a:latin typeface="Times New Roman"/>
                        <a:cs typeface="Times New Roman"/>
                      </a:endParaRPr>
                    </a:p>
                    <a:p>
                      <a:pPr marL="190500" indent="-93980">
                        <a:lnSpc>
                          <a:spcPts val="770"/>
                        </a:lnSpc>
                        <a:buAutoNum type="arabicPeriod" startAt="2"/>
                        <a:tabLst>
                          <a:tab pos="191135" algn="l"/>
                        </a:tabLst>
                      </a:pPr>
                      <a:r>
                        <a:rPr sz="650" spc="5" dirty="0">
                          <a:solidFill>
                            <a:srgbClr val="231F20"/>
                          </a:solidFill>
                          <a:latin typeface="Arial"/>
                          <a:cs typeface="Arial"/>
                        </a:rPr>
                        <a:t>[vu,cs,ftp]</a:t>
                      </a:r>
                      <a:endParaRPr sz="650">
                        <a:latin typeface="Arial"/>
                        <a:cs typeface="Arial"/>
                      </a:endParaRPr>
                    </a:p>
                  </a:txBody>
                  <a:tcPr marL="0" marR="0" marT="64135"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358140">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90500" indent="-93980">
                        <a:lnSpc>
                          <a:spcPct val="100000"/>
                        </a:lnSpc>
                        <a:spcBef>
                          <a:spcPts val="535"/>
                        </a:spcBef>
                        <a:buAutoNum type="arabicPeriod" startAt="4"/>
                        <a:tabLst>
                          <a:tab pos="191135" algn="l"/>
                        </a:tabLst>
                      </a:pPr>
                      <a:r>
                        <a:rPr sz="650" spc="5" dirty="0">
                          <a:solidFill>
                            <a:srgbClr val="231F20"/>
                          </a:solidFill>
                          <a:latin typeface="Arial"/>
                          <a:cs typeface="Arial"/>
                        </a:rPr>
                        <a:t>#[vu],</a:t>
                      </a:r>
                      <a:r>
                        <a:rPr sz="650" spc="-45" dirty="0">
                          <a:solidFill>
                            <a:srgbClr val="231F20"/>
                          </a:solidFill>
                          <a:latin typeface="Arial"/>
                          <a:cs typeface="Arial"/>
                        </a:rPr>
                        <a:t> </a:t>
                      </a:r>
                      <a:r>
                        <a:rPr sz="650" spc="5" dirty="0">
                          <a:solidFill>
                            <a:srgbClr val="231F20"/>
                          </a:solidFill>
                          <a:latin typeface="Arial"/>
                          <a:cs typeface="Arial"/>
                        </a:rPr>
                        <a:t>[cs,ftp]</a:t>
                      </a:r>
                      <a:endParaRPr sz="650">
                        <a:latin typeface="Arial"/>
                        <a:cs typeface="Arial"/>
                      </a:endParaRPr>
                    </a:p>
                    <a:p>
                      <a:pPr>
                        <a:lnSpc>
                          <a:spcPct val="100000"/>
                        </a:lnSpc>
                        <a:spcBef>
                          <a:spcPts val="45"/>
                        </a:spcBef>
                        <a:buClr>
                          <a:srgbClr val="231F20"/>
                        </a:buClr>
                        <a:buFont typeface="Arial"/>
                        <a:buAutoNum type="arabicPeriod" startAt="4"/>
                      </a:pPr>
                      <a:endParaRPr sz="500">
                        <a:latin typeface="Times New Roman"/>
                        <a:cs typeface="Times New Roman"/>
                      </a:endParaRPr>
                    </a:p>
                    <a:p>
                      <a:pPr marL="190500" indent="-93980">
                        <a:lnSpc>
                          <a:spcPct val="100000"/>
                        </a:lnSpc>
                        <a:buAutoNum type="arabicPeriod" startAt="4"/>
                        <a:tabLst>
                          <a:tab pos="191135" algn="l"/>
                        </a:tabLst>
                      </a:pPr>
                      <a:r>
                        <a:rPr sz="650" spc="5" dirty="0">
                          <a:solidFill>
                            <a:srgbClr val="231F20"/>
                          </a:solidFill>
                          <a:latin typeface="Arial"/>
                          <a:cs typeface="Arial"/>
                        </a:rPr>
                        <a:t>[cs,ftp]</a:t>
                      </a:r>
                      <a:endParaRPr sz="650">
                        <a:latin typeface="Arial"/>
                        <a:cs typeface="Arial"/>
                      </a:endParaRPr>
                    </a:p>
                  </a:txBody>
                  <a:tcPr marL="0" marR="0" marT="67945"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328295">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97155">
                        <a:lnSpc>
                          <a:spcPct val="100000"/>
                        </a:lnSpc>
                        <a:spcBef>
                          <a:spcPts val="535"/>
                        </a:spcBef>
                      </a:pPr>
                      <a:r>
                        <a:rPr sz="650" spc="5" dirty="0">
                          <a:solidFill>
                            <a:srgbClr val="231F20"/>
                          </a:solidFill>
                          <a:latin typeface="Arial"/>
                          <a:cs typeface="Arial"/>
                        </a:rPr>
                        <a:t>6.</a:t>
                      </a:r>
                      <a:r>
                        <a:rPr sz="650" spc="-25" dirty="0">
                          <a:solidFill>
                            <a:srgbClr val="231F20"/>
                          </a:solidFill>
                          <a:latin typeface="Arial"/>
                          <a:cs typeface="Arial"/>
                        </a:rPr>
                        <a:t> </a:t>
                      </a:r>
                      <a:r>
                        <a:rPr sz="650" spc="5" dirty="0">
                          <a:solidFill>
                            <a:srgbClr val="231F20"/>
                          </a:solidFill>
                          <a:latin typeface="Arial"/>
                          <a:cs typeface="Arial"/>
                        </a:rPr>
                        <a:t>#[cs],</a:t>
                      </a:r>
                      <a:r>
                        <a:rPr sz="650" spc="-20" dirty="0">
                          <a:solidFill>
                            <a:srgbClr val="231F20"/>
                          </a:solidFill>
                          <a:latin typeface="Arial"/>
                          <a:cs typeface="Arial"/>
                        </a:rPr>
                        <a:t> </a:t>
                      </a:r>
                      <a:r>
                        <a:rPr sz="650" dirty="0">
                          <a:solidFill>
                            <a:srgbClr val="231F20"/>
                          </a:solidFill>
                          <a:latin typeface="Arial"/>
                          <a:cs typeface="Arial"/>
                        </a:rPr>
                        <a:t>[ftp]</a:t>
                      </a:r>
                      <a:endParaRPr sz="650">
                        <a:latin typeface="Arial"/>
                        <a:cs typeface="Arial"/>
                      </a:endParaRPr>
                    </a:p>
                    <a:p>
                      <a:pPr marL="97155">
                        <a:lnSpc>
                          <a:spcPts val="775"/>
                        </a:lnSpc>
                        <a:spcBef>
                          <a:spcPts val="400"/>
                        </a:spcBef>
                      </a:pPr>
                      <a:r>
                        <a:rPr sz="650" spc="5" dirty="0">
                          <a:solidFill>
                            <a:srgbClr val="231F20"/>
                          </a:solidFill>
                          <a:latin typeface="Arial"/>
                          <a:cs typeface="Arial"/>
                        </a:rPr>
                        <a:t>7.</a:t>
                      </a:r>
                      <a:r>
                        <a:rPr sz="650" spc="-35" dirty="0">
                          <a:solidFill>
                            <a:srgbClr val="231F20"/>
                          </a:solidFill>
                          <a:latin typeface="Arial"/>
                          <a:cs typeface="Arial"/>
                        </a:rPr>
                        <a:t> </a:t>
                      </a:r>
                      <a:r>
                        <a:rPr sz="650" dirty="0">
                          <a:solidFill>
                            <a:srgbClr val="231F20"/>
                          </a:solidFill>
                          <a:latin typeface="Arial"/>
                          <a:cs typeface="Arial"/>
                        </a:rPr>
                        <a:t>[ftp]</a:t>
                      </a:r>
                      <a:endParaRPr sz="650">
                        <a:latin typeface="Arial"/>
                        <a:cs typeface="Arial"/>
                      </a:endParaRPr>
                    </a:p>
                  </a:txBody>
                  <a:tcPr marL="0" marR="0" marT="67945"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r h="172085">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97155">
                        <a:lnSpc>
                          <a:spcPct val="100000"/>
                        </a:lnSpc>
                        <a:spcBef>
                          <a:spcPts val="420"/>
                        </a:spcBef>
                      </a:pPr>
                      <a:r>
                        <a:rPr sz="650" spc="5" dirty="0">
                          <a:solidFill>
                            <a:srgbClr val="231F20"/>
                          </a:solidFill>
                          <a:latin typeface="Arial"/>
                          <a:cs typeface="Arial"/>
                        </a:rPr>
                        <a:t>8.</a:t>
                      </a:r>
                      <a:r>
                        <a:rPr sz="650" spc="-45" dirty="0">
                          <a:solidFill>
                            <a:srgbClr val="231F20"/>
                          </a:solidFill>
                          <a:latin typeface="Arial"/>
                          <a:cs typeface="Arial"/>
                        </a:rPr>
                        <a:t> </a:t>
                      </a:r>
                      <a:r>
                        <a:rPr sz="650" spc="5" dirty="0">
                          <a:solidFill>
                            <a:srgbClr val="231F20"/>
                          </a:solidFill>
                          <a:latin typeface="Arial"/>
                          <a:cs typeface="Arial"/>
                        </a:rPr>
                        <a:t>#[ftp]</a:t>
                      </a:r>
                      <a:endParaRPr sz="650">
                        <a:latin typeface="Arial"/>
                        <a:cs typeface="Arial"/>
                      </a:endParaRPr>
                    </a:p>
                  </a:txBody>
                  <a:tcPr marL="0" marR="0" marT="53340" marB="0">
                    <a:lnL w="6350">
                      <a:solidFill>
                        <a:srgbClr val="231F20"/>
                      </a:solidFill>
                      <a:prstDash val="solid"/>
                    </a:lnL>
                    <a:lnT w="6350">
                      <a:solidFill>
                        <a:srgbClr val="231F20"/>
                      </a:solidFill>
                      <a:prstDash val="solid"/>
                    </a:lnT>
                  </a:tcPr>
                </a:tc>
                <a:extLst>
                  <a:ext uri="{0D108BD9-81ED-4DB2-BD59-A6C34878D82A}">
                    <a16:rowId xmlns:a16="http://schemas.microsoft.com/office/drawing/2014/main" val="10004"/>
                  </a:ext>
                </a:extLst>
              </a:tr>
            </a:tbl>
          </a:graphicData>
        </a:graphic>
      </p:graphicFrame>
      <p:grpSp>
        <p:nvGrpSpPr>
          <p:cNvPr id="34" name="object 34"/>
          <p:cNvGrpSpPr/>
          <p:nvPr/>
        </p:nvGrpSpPr>
        <p:grpSpPr>
          <a:xfrm>
            <a:off x="3248987" y="1675925"/>
            <a:ext cx="628015" cy="1589405"/>
            <a:chOff x="3248987" y="1675925"/>
            <a:chExt cx="628015" cy="1589405"/>
          </a:xfrm>
        </p:grpSpPr>
        <p:pic>
          <p:nvPicPr>
            <p:cNvPr id="35" name="object 35"/>
            <p:cNvPicPr/>
            <p:nvPr/>
          </p:nvPicPr>
          <p:blipFill>
            <a:blip r:embed="rId12" cstate="print"/>
            <a:stretch>
              <a:fillRect/>
            </a:stretch>
          </p:blipFill>
          <p:spPr>
            <a:xfrm>
              <a:off x="3248987" y="3110612"/>
              <a:ext cx="154665" cy="154670"/>
            </a:xfrm>
            <a:prstGeom prst="rect">
              <a:avLst/>
            </a:prstGeom>
          </p:spPr>
        </p:pic>
        <p:pic>
          <p:nvPicPr>
            <p:cNvPr id="36" name="object 36"/>
            <p:cNvPicPr/>
            <p:nvPr/>
          </p:nvPicPr>
          <p:blipFill>
            <a:blip r:embed="rId13" cstate="print"/>
            <a:stretch>
              <a:fillRect/>
            </a:stretch>
          </p:blipFill>
          <p:spPr>
            <a:xfrm>
              <a:off x="3572353" y="3109718"/>
              <a:ext cx="154675" cy="154666"/>
            </a:xfrm>
            <a:prstGeom prst="rect">
              <a:avLst/>
            </a:prstGeom>
          </p:spPr>
        </p:pic>
        <p:sp>
          <p:nvSpPr>
            <p:cNvPr id="37" name="object 37"/>
            <p:cNvSpPr/>
            <p:nvPr/>
          </p:nvSpPr>
          <p:spPr>
            <a:xfrm>
              <a:off x="3515683" y="1813014"/>
              <a:ext cx="134620" cy="194310"/>
            </a:xfrm>
            <a:custGeom>
              <a:avLst/>
              <a:gdLst/>
              <a:ahLst/>
              <a:cxnLst/>
              <a:rect l="l" t="t" r="r" b="b"/>
              <a:pathLst>
                <a:path w="134620" h="194310">
                  <a:moveTo>
                    <a:pt x="0" y="0"/>
                  </a:moveTo>
                  <a:lnTo>
                    <a:pt x="134460" y="194217"/>
                  </a:lnTo>
                </a:path>
              </a:pathLst>
            </a:custGeom>
            <a:ln w="5267">
              <a:solidFill>
                <a:srgbClr val="231F20"/>
              </a:solidFill>
            </a:ln>
          </p:spPr>
          <p:txBody>
            <a:bodyPr wrap="square" lIns="0" tIns="0" rIns="0" bIns="0" rtlCol="0"/>
            <a:lstStyle/>
            <a:p>
              <a:endParaRPr/>
            </a:p>
          </p:txBody>
        </p:sp>
        <p:sp>
          <p:nvSpPr>
            <p:cNvPr id="38" name="object 38"/>
            <p:cNvSpPr/>
            <p:nvPr/>
          </p:nvSpPr>
          <p:spPr>
            <a:xfrm>
              <a:off x="3411106" y="1678559"/>
              <a:ext cx="149860" cy="149860"/>
            </a:xfrm>
            <a:custGeom>
              <a:avLst/>
              <a:gdLst/>
              <a:ahLst/>
              <a:cxnLst/>
              <a:rect l="l" t="t" r="r" b="b"/>
              <a:pathLst>
                <a:path w="149860" h="149860">
                  <a:moveTo>
                    <a:pt x="149401" y="0"/>
                  </a:moveTo>
                  <a:lnTo>
                    <a:pt x="0" y="0"/>
                  </a:lnTo>
                  <a:lnTo>
                    <a:pt x="0" y="149401"/>
                  </a:lnTo>
                  <a:lnTo>
                    <a:pt x="149401" y="149401"/>
                  </a:lnTo>
                  <a:lnTo>
                    <a:pt x="149401" y="0"/>
                  </a:lnTo>
                  <a:close/>
                </a:path>
              </a:pathLst>
            </a:custGeom>
            <a:solidFill>
              <a:srgbClr val="FFFFFF"/>
            </a:solidFill>
          </p:spPr>
          <p:txBody>
            <a:bodyPr wrap="square" lIns="0" tIns="0" rIns="0" bIns="0" rtlCol="0"/>
            <a:lstStyle/>
            <a:p>
              <a:endParaRPr/>
            </a:p>
          </p:txBody>
        </p:sp>
        <p:sp>
          <p:nvSpPr>
            <p:cNvPr id="39" name="object 39"/>
            <p:cNvSpPr/>
            <p:nvPr/>
          </p:nvSpPr>
          <p:spPr>
            <a:xfrm>
              <a:off x="3411106" y="1678559"/>
              <a:ext cx="463550" cy="822325"/>
            </a:xfrm>
            <a:custGeom>
              <a:avLst/>
              <a:gdLst/>
              <a:ahLst/>
              <a:cxnLst/>
              <a:rect l="l" t="t" r="r" b="b"/>
              <a:pathLst>
                <a:path w="463550" h="822325">
                  <a:moveTo>
                    <a:pt x="0" y="149401"/>
                  </a:moveTo>
                  <a:lnTo>
                    <a:pt x="149401" y="149401"/>
                  </a:lnTo>
                  <a:lnTo>
                    <a:pt x="149401" y="0"/>
                  </a:lnTo>
                  <a:lnTo>
                    <a:pt x="0" y="0"/>
                  </a:lnTo>
                  <a:lnTo>
                    <a:pt x="0" y="149401"/>
                  </a:lnTo>
                  <a:close/>
                </a:path>
                <a:path w="463550" h="822325">
                  <a:moveTo>
                    <a:pt x="0" y="821699"/>
                  </a:moveTo>
                  <a:lnTo>
                    <a:pt x="149401" y="821699"/>
                  </a:lnTo>
                  <a:lnTo>
                    <a:pt x="149401" y="672297"/>
                  </a:lnTo>
                  <a:lnTo>
                    <a:pt x="0" y="672297"/>
                  </a:lnTo>
                  <a:lnTo>
                    <a:pt x="0" y="821699"/>
                  </a:lnTo>
                  <a:close/>
                </a:path>
                <a:path w="463550" h="822325">
                  <a:moveTo>
                    <a:pt x="313742" y="821699"/>
                  </a:moveTo>
                  <a:lnTo>
                    <a:pt x="463139" y="821699"/>
                  </a:lnTo>
                  <a:lnTo>
                    <a:pt x="463139" y="672297"/>
                  </a:lnTo>
                  <a:lnTo>
                    <a:pt x="313742" y="672297"/>
                  </a:lnTo>
                  <a:lnTo>
                    <a:pt x="313742" y="821699"/>
                  </a:lnTo>
                  <a:close/>
                </a:path>
              </a:pathLst>
            </a:custGeom>
            <a:ln w="5267">
              <a:solidFill>
                <a:srgbClr val="231F20"/>
              </a:solidFill>
            </a:ln>
          </p:spPr>
          <p:txBody>
            <a:bodyPr wrap="square" lIns="0" tIns="0" rIns="0" bIns="0" rtlCol="0"/>
            <a:lstStyle/>
            <a:p>
              <a:endParaRPr/>
            </a:p>
          </p:txBody>
        </p:sp>
        <p:sp>
          <p:nvSpPr>
            <p:cNvPr id="40" name="object 40"/>
            <p:cNvSpPr/>
            <p:nvPr/>
          </p:nvSpPr>
          <p:spPr>
            <a:xfrm>
              <a:off x="3575451" y="2007238"/>
              <a:ext cx="149860" cy="149860"/>
            </a:xfrm>
            <a:custGeom>
              <a:avLst/>
              <a:gdLst/>
              <a:ahLst/>
              <a:cxnLst/>
              <a:rect l="l" t="t" r="r" b="b"/>
              <a:pathLst>
                <a:path w="149860" h="149860">
                  <a:moveTo>
                    <a:pt x="149397" y="0"/>
                  </a:moveTo>
                  <a:lnTo>
                    <a:pt x="0" y="0"/>
                  </a:lnTo>
                  <a:lnTo>
                    <a:pt x="0" y="149401"/>
                  </a:lnTo>
                  <a:lnTo>
                    <a:pt x="149397" y="149401"/>
                  </a:lnTo>
                  <a:lnTo>
                    <a:pt x="149397" y="0"/>
                  </a:lnTo>
                  <a:close/>
                </a:path>
              </a:pathLst>
            </a:custGeom>
            <a:solidFill>
              <a:srgbClr val="FFFFFF"/>
            </a:solidFill>
          </p:spPr>
          <p:txBody>
            <a:bodyPr wrap="square" lIns="0" tIns="0" rIns="0" bIns="0" rtlCol="0"/>
            <a:lstStyle/>
            <a:p>
              <a:endParaRPr/>
            </a:p>
          </p:txBody>
        </p:sp>
        <p:sp>
          <p:nvSpPr>
            <p:cNvPr id="41" name="object 41"/>
            <p:cNvSpPr/>
            <p:nvPr/>
          </p:nvSpPr>
          <p:spPr>
            <a:xfrm>
              <a:off x="3575451" y="2007238"/>
              <a:ext cx="149860" cy="149860"/>
            </a:xfrm>
            <a:custGeom>
              <a:avLst/>
              <a:gdLst/>
              <a:ahLst/>
              <a:cxnLst/>
              <a:rect l="l" t="t" r="r" b="b"/>
              <a:pathLst>
                <a:path w="149860" h="149860">
                  <a:moveTo>
                    <a:pt x="0" y="149401"/>
                  </a:moveTo>
                  <a:lnTo>
                    <a:pt x="149397" y="149401"/>
                  </a:lnTo>
                  <a:lnTo>
                    <a:pt x="149397" y="0"/>
                  </a:lnTo>
                  <a:lnTo>
                    <a:pt x="0" y="0"/>
                  </a:lnTo>
                  <a:lnTo>
                    <a:pt x="0" y="149401"/>
                  </a:lnTo>
                  <a:close/>
                </a:path>
              </a:pathLst>
            </a:custGeom>
            <a:ln w="5267">
              <a:solidFill>
                <a:srgbClr val="231F20"/>
              </a:solidFill>
            </a:ln>
          </p:spPr>
          <p:txBody>
            <a:bodyPr wrap="square" lIns="0" tIns="0" rIns="0" bIns="0" rtlCol="0"/>
            <a:lstStyle/>
            <a:p>
              <a:endParaRPr/>
            </a:p>
          </p:txBody>
        </p:sp>
        <p:sp>
          <p:nvSpPr>
            <p:cNvPr id="42" name="object 42"/>
            <p:cNvSpPr/>
            <p:nvPr/>
          </p:nvSpPr>
          <p:spPr>
            <a:xfrm>
              <a:off x="3411106" y="2769173"/>
              <a:ext cx="149860" cy="149860"/>
            </a:xfrm>
            <a:custGeom>
              <a:avLst/>
              <a:gdLst/>
              <a:ahLst/>
              <a:cxnLst/>
              <a:rect l="l" t="t" r="r" b="b"/>
              <a:pathLst>
                <a:path w="149860" h="149860">
                  <a:moveTo>
                    <a:pt x="149401" y="0"/>
                  </a:moveTo>
                  <a:lnTo>
                    <a:pt x="0" y="0"/>
                  </a:lnTo>
                  <a:lnTo>
                    <a:pt x="0" y="149401"/>
                  </a:lnTo>
                  <a:lnTo>
                    <a:pt x="149401" y="149401"/>
                  </a:lnTo>
                  <a:lnTo>
                    <a:pt x="149401" y="0"/>
                  </a:lnTo>
                  <a:close/>
                </a:path>
              </a:pathLst>
            </a:custGeom>
            <a:solidFill>
              <a:srgbClr val="FFFFFF"/>
            </a:solidFill>
          </p:spPr>
          <p:txBody>
            <a:bodyPr wrap="square" lIns="0" tIns="0" rIns="0" bIns="0" rtlCol="0"/>
            <a:lstStyle/>
            <a:p>
              <a:endParaRPr/>
            </a:p>
          </p:txBody>
        </p:sp>
        <p:sp>
          <p:nvSpPr>
            <p:cNvPr id="43" name="object 43"/>
            <p:cNvSpPr/>
            <p:nvPr/>
          </p:nvSpPr>
          <p:spPr>
            <a:xfrm>
              <a:off x="3411106" y="2769173"/>
              <a:ext cx="149860" cy="149860"/>
            </a:xfrm>
            <a:custGeom>
              <a:avLst/>
              <a:gdLst/>
              <a:ahLst/>
              <a:cxnLst/>
              <a:rect l="l" t="t" r="r" b="b"/>
              <a:pathLst>
                <a:path w="149860" h="149860">
                  <a:moveTo>
                    <a:pt x="0" y="149401"/>
                  </a:moveTo>
                  <a:lnTo>
                    <a:pt x="149401" y="149401"/>
                  </a:lnTo>
                  <a:lnTo>
                    <a:pt x="149401" y="0"/>
                  </a:lnTo>
                  <a:lnTo>
                    <a:pt x="0" y="0"/>
                  </a:lnTo>
                  <a:lnTo>
                    <a:pt x="0" y="149401"/>
                  </a:lnTo>
                  <a:close/>
                </a:path>
              </a:pathLst>
            </a:custGeom>
            <a:ln w="5267">
              <a:solidFill>
                <a:srgbClr val="231F20"/>
              </a:solidFill>
            </a:ln>
          </p:spPr>
          <p:txBody>
            <a:bodyPr wrap="square" lIns="0" tIns="0" rIns="0" bIns="0" rtlCol="0"/>
            <a:lstStyle/>
            <a:p>
              <a:endParaRPr/>
            </a:p>
          </p:txBody>
        </p:sp>
      </p:grpSp>
      <p:sp>
        <p:nvSpPr>
          <p:cNvPr id="44" name="object 44"/>
          <p:cNvSpPr txBox="1"/>
          <p:nvPr/>
        </p:nvSpPr>
        <p:spPr>
          <a:xfrm>
            <a:off x="1440974" y="2971330"/>
            <a:ext cx="522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#[nl,vu,cs,ftp]</a:t>
            </a:r>
            <a:endParaRPr sz="650">
              <a:latin typeface="Arial"/>
              <a:cs typeface="Arial"/>
            </a:endParaRPr>
          </a:p>
        </p:txBody>
      </p:sp>
      <p:sp>
        <p:nvSpPr>
          <p:cNvPr id="45" name="object 45"/>
          <p:cNvSpPr txBox="1"/>
          <p:nvPr/>
        </p:nvSpPr>
        <p:spPr>
          <a:xfrm>
            <a:off x="717026" y="2968003"/>
            <a:ext cx="4756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[nl,vu,cs,ftp]</a:t>
            </a:r>
            <a:endParaRPr sz="650">
              <a:latin typeface="Arial"/>
              <a:cs typeface="Arial"/>
            </a:endParaRPr>
          </a:p>
        </p:txBody>
      </p:sp>
      <p:sp>
        <p:nvSpPr>
          <p:cNvPr id="46" name="object 46"/>
          <p:cNvSpPr/>
          <p:nvPr/>
        </p:nvSpPr>
        <p:spPr>
          <a:xfrm>
            <a:off x="3680018" y="2141703"/>
            <a:ext cx="120014" cy="209550"/>
          </a:xfrm>
          <a:custGeom>
            <a:avLst/>
            <a:gdLst/>
            <a:ahLst/>
            <a:cxnLst/>
            <a:rect l="l" t="t" r="r" b="b"/>
            <a:pathLst>
              <a:path w="120014" h="209550">
                <a:moveTo>
                  <a:pt x="0" y="0"/>
                </a:moveTo>
                <a:lnTo>
                  <a:pt x="119524" y="209152"/>
                </a:lnTo>
              </a:path>
            </a:pathLst>
          </a:custGeom>
          <a:ln w="5267">
            <a:solidFill>
              <a:srgbClr val="231F20"/>
            </a:solidFill>
          </a:ln>
        </p:spPr>
        <p:txBody>
          <a:bodyPr wrap="square" lIns="0" tIns="0" rIns="0" bIns="0" rtlCol="0"/>
          <a:lstStyle/>
          <a:p>
            <a:endParaRPr/>
          </a:p>
        </p:txBody>
      </p:sp>
      <p:sp>
        <p:nvSpPr>
          <p:cNvPr id="47" name="object 47"/>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4" action="ppaction://hlinksldjump"/>
              </a:rPr>
              <a:t>Implementation of</a:t>
            </a:r>
            <a:r>
              <a:rPr sz="600" dirty="0">
                <a:solidFill>
                  <a:srgbClr val="3333B2"/>
                </a:solidFill>
                <a:latin typeface="Arial"/>
                <a:cs typeface="Arial"/>
                <a:hlinkClick r:id="rId14" action="ppaction://hlinksldjump"/>
              </a:rPr>
              <a:t> </a:t>
            </a:r>
            <a:r>
              <a:rPr sz="600" spc="-5" dirty="0">
                <a:solidFill>
                  <a:srgbClr val="3333B2"/>
                </a:solidFill>
                <a:latin typeface="Arial"/>
                <a:cs typeface="Arial"/>
                <a:hlinkClick r:id="rId14" action="ppaction://hlinksldjump"/>
              </a:rPr>
              <a:t>name</a:t>
            </a:r>
            <a:r>
              <a:rPr sz="600" dirty="0">
                <a:solidFill>
                  <a:srgbClr val="3333B2"/>
                </a:solidFill>
                <a:latin typeface="Arial"/>
                <a:cs typeface="Arial"/>
                <a:hlinkClick r:id="rId14" action="ppaction://hlinksldjump"/>
              </a:rPr>
              <a:t> </a:t>
            </a:r>
            <a:r>
              <a:rPr sz="600" spc="-5" dirty="0">
                <a:solidFill>
                  <a:srgbClr val="3333B2"/>
                </a:solidFill>
                <a:latin typeface="Arial"/>
                <a:cs typeface="Arial"/>
                <a:hlinkClick r:id="rId14" action="ppaction://hlinksldjump"/>
              </a:rPr>
              <a:t>resolution</a:t>
            </a:r>
            <a:endParaRPr sz="600">
              <a:latin typeface="Arial"/>
              <a:cs typeface="Arial"/>
            </a:endParaRPr>
          </a:p>
        </p:txBody>
      </p:sp>
      <p:sp>
        <p:nvSpPr>
          <p:cNvPr id="48" name="object 4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46</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2178050" cy="244475"/>
          </a:xfrm>
          <a:prstGeom prst="rect">
            <a:avLst/>
          </a:prstGeom>
        </p:spPr>
        <p:txBody>
          <a:bodyPr vert="horz" wrap="square" lIns="0" tIns="17145" rIns="0" bIns="0" rtlCol="0">
            <a:spAutoFit/>
          </a:bodyPr>
          <a:lstStyle/>
          <a:p>
            <a:pPr marL="12700">
              <a:lnSpc>
                <a:spcPct val="100000"/>
              </a:lnSpc>
              <a:spcBef>
                <a:spcPts val="135"/>
              </a:spcBef>
            </a:pPr>
            <a:r>
              <a:rPr spc="10" dirty="0"/>
              <a:t>Recursive</a:t>
            </a:r>
            <a:r>
              <a:rPr spc="-5" dirty="0"/>
              <a:t> </a:t>
            </a:r>
            <a:r>
              <a:rPr spc="20" dirty="0"/>
              <a:t>name</a:t>
            </a:r>
            <a:r>
              <a:rPr spc="-5" dirty="0"/>
              <a:t> </a:t>
            </a:r>
            <a:r>
              <a:rPr spc="10" dirty="0"/>
              <a:t>resolution</a:t>
            </a:r>
          </a:p>
        </p:txBody>
      </p:sp>
      <p:sp>
        <p:nvSpPr>
          <p:cNvPr id="4" name="object 4"/>
          <p:cNvSpPr/>
          <p:nvPr/>
        </p:nvSpPr>
        <p:spPr>
          <a:xfrm>
            <a:off x="2462448" y="1968037"/>
            <a:ext cx="755650" cy="928369"/>
          </a:xfrm>
          <a:custGeom>
            <a:avLst/>
            <a:gdLst/>
            <a:ahLst/>
            <a:cxnLst/>
            <a:rect l="l" t="t" r="r" b="b"/>
            <a:pathLst>
              <a:path w="755650" h="928369">
                <a:moveTo>
                  <a:pt x="0" y="928069"/>
                </a:moveTo>
                <a:lnTo>
                  <a:pt x="755234" y="928069"/>
                </a:lnTo>
                <a:lnTo>
                  <a:pt x="755234" y="702170"/>
                </a:lnTo>
                <a:lnTo>
                  <a:pt x="0" y="702170"/>
                </a:lnTo>
                <a:lnTo>
                  <a:pt x="0" y="928069"/>
                </a:lnTo>
                <a:close/>
              </a:path>
              <a:path w="755650" h="928369">
                <a:moveTo>
                  <a:pt x="0" y="582654"/>
                </a:moveTo>
                <a:lnTo>
                  <a:pt x="755234" y="582654"/>
                </a:lnTo>
                <a:lnTo>
                  <a:pt x="755234" y="343616"/>
                </a:lnTo>
                <a:lnTo>
                  <a:pt x="0" y="343616"/>
                </a:lnTo>
                <a:lnTo>
                  <a:pt x="0" y="582654"/>
                </a:lnTo>
                <a:close/>
              </a:path>
              <a:path w="755650" h="928369">
                <a:moveTo>
                  <a:pt x="0" y="238593"/>
                </a:moveTo>
                <a:lnTo>
                  <a:pt x="755234" y="238593"/>
                </a:lnTo>
                <a:lnTo>
                  <a:pt x="755234" y="0"/>
                </a:lnTo>
                <a:lnTo>
                  <a:pt x="0" y="0"/>
                </a:lnTo>
                <a:lnTo>
                  <a:pt x="0" y="238593"/>
                </a:lnTo>
                <a:close/>
              </a:path>
            </a:pathLst>
          </a:custGeom>
          <a:ln w="5267">
            <a:solidFill>
              <a:srgbClr val="231F20"/>
            </a:solidFill>
          </a:ln>
        </p:spPr>
        <p:txBody>
          <a:bodyPr wrap="square" lIns="0" tIns="0" rIns="0" bIns="0" rtlCol="0"/>
          <a:lstStyle/>
          <a:p>
            <a:endParaRPr/>
          </a:p>
        </p:txBody>
      </p:sp>
      <p:pic>
        <p:nvPicPr>
          <p:cNvPr id="5" name="object 5"/>
          <p:cNvPicPr/>
          <p:nvPr/>
        </p:nvPicPr>
        <p:blipFill>
          <a:blip r:embed="rId6" cstate="print"/>
          <a:stretch>
            <a:fillRect/>
          </a:stretch>
        </p:blipFill>
        <p:spPr>
          <a:xfrm>
            <a:off x="1553735" y="1694309"/>
            <a:ext cx="74380" cy="63741"/>
          </a:xfrm>
          <a:prstGeom prst="rect">
            <a:avLst/>
          </a:prstGeom>
        </p:spPr>
      </p:pic>
      <p:pic>
        <p:nvPicPr>
          <p:cNvPr id="6" name="object 6"/>
          <p:cNvPicPr/>
          <p:nvPr/>
        </p:nvPicPr>
        <p:blipFill>
          <a:blip r:embed="rId7" cstate="print"/>
          <a:stretch>
            <a:fillRect/>
          </a:stretch>
        </p:blipFill>
        <p:spPr>
          <a:xfrm>
            <a:off x="2382452" y="1634827"/>
            <a:ext cx="74387" cy="63741"/>
          </a:xfrm>
          <a:prstGeom prst="rect">
            <a:avLst/>
          </a:prstGeom>
        </p:spPr>
      </p:pic>
      <p:sp>
        <p:nvSpPr>
          <p:cNvPr id="7" name="object 7"/>
          <p:cNvSpPr txBox="1"/>
          <p:nvPr/>
        </p:nvSpPr>
        <p:spPr>
          <a:xfrm>
            <a:off x="283794" y="385366"/>
            <a:ext cx="3934460" cy="1456690"/>
          </a:xfrm>
          <a:prstGeom prst="rect">
            <a:avLst/>
          </a:prstGeom>
        </p:spPr>
        <p:txBody>
          <a:bodyPr vert="horz" wrap="square" lIns="0" tIns="12065" rIns="0" bIns="0" rtlCol="0">
            <a:spAutoFit/>
          </a:bodyPr>
          <a:lstStyle/>
          <a:p>
            <a:pPr marL="76200">
              <a:lnSpc>
                <a:spcPct val="100000"/>
              </a:lnSpc>
              <a:spcBef>
                <a:spcPts val="95"/>
              </a:spcBef>
            </a:pPr>
            <a:r>
              <a:rPr sz="1200" spc="-5" dirty="0">
                <a:solidFill>
                  <a:srgbClr val="3333B2"/>
                </a:solidFill>
                <a:latin typeface="Arial"/>
                <a:cs typeface="Arial"/>
              </a:rPr>
              <a:t>Principle</a:t>
            </a:r>
            <a:endParaRPr sz="1200">
              <a:latin typeface="Arial"/>
              <a:cs typeface="Arial"/>
            </a:endParaRPr>
          </a:p>
          <a:p>
            <a:pPr marL="353060" indent="-175260">
              <a:lnSpc>
                <a:spcPts val="1200"/>
              </a:lnSpc>
              <a:spcBef>
                <a:spcPts val="770"/>
              </a:spcBef>
              <a:buClr>
                <a:srgbClr val="3333B2"/>
              </a:buClr>
              <a:buFont typeface="Arial"/>
              <a:buAutoNum type="arabicPeriod"/>
              <a:tabLst>
                <a:tab pos="353695" algn="l"/>
              </a:tabLst>
            </a:pPr>
            <a:r>
              <a:rPr sz="1000" i="1" spc="10" dirty="0">
                <a:latin typeface="Arial"/>
                <a:cs typeface="Arial"/>
              </a:rPr>
              <a:t>resolve</a:t>
            </a:r>
            <a:r>
              <a:rPr sz="1000" spc="10" dirty="0">
                <a:latin typeface="Arial"/>
                <a:cs typeface="Arial"/>
              </a:rPr>
              <a:t>(</a:t>
            </a:r>
            <a:r>
              <a:rPr sz="1000" i="1" spc="10" dirty="0">
                <a:latin typeface="Arial"/>
                <a:cs typeface="Arial"/>
              </a:rPr>
              <a:t>dir,</a:t>
            </a:r>
            <a:r>
              <a:rPr sz="1000" i="1" spc="-170" dirty="0">
                <a:latin typeface="Arial"/>
                <a:cs typeface="Arial"/>
              </a:rPr>
              <a:t> </a:t>
            </a:r>
            <a:r>
              <a:rPr sz="1000" spc="10" dirty="0">
                <a:latin typeface="Arial"/>
                <a:cs typeface="Arial"/>
              </a:rPr>
              <a:t>[</a:t>
            </a:r>
            <a:r>
              <a:rPr sz="1000" i="1" spc="10" dirty="0">
                <a:latin typeface="Arial"/>
                <a:cs typeface="Arial"/>
              </a:rPr>
              <a:t>name</a:t>
            </a:r>
            <a:r>
              <a:rPr sz="1050" i="1" spc="15" baseline="-15873" dirty="0">
                <a:latin typeface="Arial"/>
                <a:cs typeface="Arial"/>
              </a:rPr>
              <a:t>1</a:t>
            </a:r>
            <a:r>
              <a:rPr sz="1000" i="1" spc="10" dirty="0">
                <a:latin typeface="Arial"/>
                <a:cs typeface="Arial"/>
              </a:rPr>
              <a:t>,...,</a:t>
            </a:r>
            <a:r>
              <a:rPr sz="1000" i="1" spc="-170" dirty="0">
                <a:latin typeface="Arial"/>
                <a:cs typeface="Arial"/>
              </a:rPr>
              <a:t> </a:t>
            </a:r>
            <a:r>
              <a:rPr sz="1000" i="1" dirty="0">
                <a:latin typeface="Arial"/>
                <a:cs typeface="Arial"/>
              </a:rPr>
              <a:t>name</a:t>
            </a:r>
            <a:r>
              <a:rPr sz="1050" i="1" baseline="-15873" dirty="0">
                <a:latin typeface="Arial"/>
                <a:cs typeface="Arial"/>
              </a:rPr>
              <a:t>K</a:t>
            </a:r>
            <a:r>
              <a:rPr sz="1050" i="1" spc="-60" baseline="-15873" dirty="0">
                <a:latin typeface="Arial"/>
                <a:cs typeface="Arial"/>
              </a:rPr>
              <a:t> </a:t>
            </a:r>
            <a:r>
              <a:rPr sz="1000" spc="30" dirty="0">
                <a:latin typeface="Arial"/>
                <a:cs typeface="Arial"/>
              </a:rPr>
              <a:t>])</a:t>
            </a:r>
            <a:r>
              <a:rPr sz="1000" dirty="0">
                <a:latin typeface="Arial"/>
                <a:cs typeface="Arial"/>
              </a:rPr>
              <a:t> </a:t>
            </a:r>
            <a:r>
              <a:rPr sz="1000" spc="-5" dirty="0">
                <a:latin typeface="Arial"/>
                <a:cs typeface="Arial"/>
              </a:rPr>
              <a:t>sent</a:t>
            </a:r>
            <a:r>
              <a:rPr sz="1000" dirty="0">
                <a:latin typeface="Arial"/>
                <a:cs typeface="Arial"/>
              </a:rPr>
              <a:t> </a:t>
            </a:r>
            <a:r>
              <a:rPr sz="1000" spc="-5" dirty="0">
                <a:latin typeface="Arial"/>
                <a:cs typeface="Arial"/>
              </a:rPr>
              <a:t>to</a:t>
            </a:r>
            <a:r>
              <a:rPr sz="1000" dirty="0">
                <a:latin typeface="Arial"/>
                <a:cs typeface="Arial"/>
              </a:rPr>
              <a:t> </a:t>
            </a:r>
            <a:r>
              <a:rPr sz="1000" i="1" dirty="0">
                <a:latin typeface="Arial"/>
                <a:cs typeface="Arial"/>
              </a:rPr>
              <a:t>Server</a:t>
            </a:r>
            <a:r>
              <a:rPr sz="1050" i="1" baseline="-15873" dirty="0">
                <a:latin typeface="Arial"/>
                <a:cs typeface="Arial"/>
              </a:rPr>
              <a:t>0</a:t>
            </a:r>
            <a:r>
              <a:rPr sz="1050" i="1" spc="262" baseline="-15873" dirty="0">
                <a:latin typeface="Arial"/>
                <a:cs typeface="Arial"/>
              </a:rPr>
              <a:t> </a:t>
            </a:r>
            <a:r>
              <a:rPr sz="1000" spc="-5" dirty="0">
                <a:latin typeface="Arial"/>
                <a:cs typeface="Arial"/>
              </a:rPr>
              <a:t>responsible</a:t>
            </a:r>
            <a:r>
              <a:rPr sz="1000" dirty="0">
                <a:latin typeface="Arial"/>
                <a:cs typeface="Arial"/>
              </a:rPr>
              <a:t> </a:t>
            </a:r>
            <a:r>
              <a:rPr sz="1000" spc="-15" dirty="0">
                <a:latin typeface="Arial"/>
                <a:cs typeface="Arial"/>
              </a:rPr>
              <a:t>for</a:t>
            </a:r>
            <a:endParaRPr sz="1000">
              <a:latin typeface="Arial"/>
              <a:cs typeface="Arial"/>
            </a:endParaRPr>
          </a:p>
          <a:p>
            <a:pPr marL="353060">
              <a:lnSpc>
                <a:spcPts val="1195"/>
              </a:lnSpc>
            </a:pPr>
            <a:r>
              <a:rPr sz="1000" i="1" spc="-5" dirty="0">
                <a:latin typeface="Arial"/>
                <a:cs typeface="Arial"/>
              </a:rPr>
              <a:t>dir</a:t>
            </a:r>
            <a:endParaRPr sz="1000">
              <a:latin typeface="Arial"/>
              <a:cs typeface="Arial"/>
            </a:endParaRPr>
          </a:p>
          <a:p>
            <a:pPr marL="353060" indent="-175260">
              <a:lnSpc>
                <a:spcPts val="1195"/>
              </a:lnSpc>
              <a:buClr>
                <a:srgbClr val="3333B2"/>
              </a:buClr>
              <a:buFont typeface="Arial"/>
              <a:buAutoNum type="arabicPeriod" startAt="2"/>
              <a:tabLst>
                <a:tab pos="353695" algn="l"/>
              </a:tabLst>
            </a:pPr>
            <a:r>
              <a:rPr sz="1000" i="1" spc="-5" dirty="0">
                <a:latin typeface="Arial"/>
                <a:cs typeface="Arial"/>
              </a:rPr>
              <a:t>Se</a:t>
            </a:r>
            <a:r>
              <a:rPr sz="1000" i="1" spc="20" dirty="0">
                <a:latin typeface="Arial"/>
                <a:cs typeface="Arial"/>
              </a:rPr>
              <a:t>r</a:t>
            </a:r>
            <a:r>
              <a:rPr sz="1000" i="1" spc="-30" dirty="0">
                <a:latin typeface="Arial"/>
                <a:cs typeface="Arial"/>
              </a:rPr>
              <a:t>v</a:t>
            </a:r>
            <a:r>
              <a:rPr sz="1000" i="1" spc="-5" dirty="0">
                <a:latin typeface="Arial"/>
                <a:cs typeface="Arial"/>
              </a:rPr>
              <a:t>e</a:t>
            </a:r>
            <a:r>
              <a:rPr sz="1000" i="1" spc="-10" dirty="0">
                <a:latin typeface="Arial"/>
                <a:cs typeface="Arial"/>
              </a:rPr>
              <a:t>r</a:t>
            </a:r>
            <a:r>
              <a:rPr sz="1050" i="1" spc="30" baseline="-15873" dirty="0">
                <a:latin typeface="Arial"/>
                <a:cs typeface="Arial"/>
              </a:rPr>
              <a:t>0</a:t>
            </a:r>
            <a:r>
              <a:rPr sz="1050" i="1" baseline="-15873" dirty="0">
                <a:latin typeface="Arial"/>
                <a:cs typeface="Arial"/>
              </a:rPr>
              <a:t> </a:t>
            </a:r>
            <a:r>
              <a:rPr sz="1050" i="1" spc="-37" baseline="-15873" dirty="0">
                <a:latin typeface="Arial"/>
                <a:cs typeface="Arial"/>
              </a:rPr>
              <a:t> </a:t>
            </a:r>
            <a:r>
              <a:rPr sz="1000" spc="-5" dirty="0">
                <a:latin typeface="Arial"/>
                <a:cs typeface="Arial"/>
              </a:rPr>
              <a:t>resol</a:t>
            </a:r>
            <a:r>
              <a:rPr sz="1000" spc="-30" dirty="0">
                <a:latin typeface="Arial"/>
                <a:cs typeface="Arial"/>
              </a:rPr>
              <a:t>v</a:t>
            </a:r>
            <a:r>
              <a:rPr sz="1000" spc="-5" dirty="0">
                <a:latin typeface="Arial"/>
                <a:cs typeface="Arial"/>
              </a:rPr>
              <a:t>es </a:t>
            </a:r>
            <a:r>
              <a:rPr sz="1000" i="1" spc="-5" dirty="0">
                <a:latin typeface="Arial"/>
                <a:cs typeface="Arial"/>
              </a:rPr>
              <a:t>resol</a:t>
            </a:r>
            <a:r>
              <a:rPr sz="1000" i="1" spc="-30" dirty="0">
                <a:latin typeface="Arial"/>
                <a:cs typeface="Arial"/>
              </a:rPr>
              <a:t>v</a:t>
            </a:r>
            <a:r>
              <a:rPr sz="1000" i="1" spc="15" dirty="0">
                <a:latin typeface="Arial"/>
                <a:cs typeface="Arial"/>
              </a:rPr>
              <a:t>e</a:t>
            </a:r>
            <a:r>
              <a:rPr sz="1000" spc="50" dirty="0">
                <a:latin typeface="Arial"/>
                <a:cs typeface="Arial"/>
              </a:rPr>
              <a:t>(</a:t>
            </a:r>
            <a:r>
              <a:rPr sz="1000" i="1" spc="-5" dirty="0">
                <a:latin typeface="Arial"/>
                <a:cs typeface="Arial"/>
              </a:rPr>
              <a:t>di</a:t>
            </a:r>
            <a:r>
              <a:rPr sz="1000" i="1" spc="105" dirty="0">
                <a:latin typeface="Arial"/>
                <a:cs typeface="Arial"/>
              </a:rPr>
              <a:t>r</a:t>
            </a:r>
            <a:r>
              <a:rPr sz="1000" i="1" spc="-5" dirty="0">
                <a:latin typeface="Arial"/>
                <a:cs typeface="Arial"/>
              </a:rPr>
              <a:t>,</a:t>
            </a:r>
            <a:r>
              <a:rPr sz="1000" i="1" spc="-170" dirty="0">
                <a:latin typeface="Arial"/>
                <a:cs typeface="Arial"/>
              </a:rPr>
              <a:t> </a:t>
            </a:r>
            <a:r>
              <a:rPr sz="1000" i="1" spc="-5" dirty="0">
                <a:latin typeface="Arial"/>
                <a:cs typeface="Arial"/>
              </a:rPr>
              <a:t>name</a:t>
            </a:r>
            <a:r>
              <a:rPr sz="1050" i="1" spc="97" baseline="-15873" dirty="0">
                <a:latin typeface="Arial"/>
                <a:cs typeface="Arial"/>
              </a:rPr>
              <a:t>1</a:t>
            </a:r>
            <a:r>
              <a:rPr sz="1000" spc="50" dirty="0">
                <a:latin typeface="Arial"/>
                <a:cs typeface="Arial"/>
              </a:rPr>
              <a:t>)</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dir</a:t>
            </a:r>
            <a:r>
              <a:rPr sz="1050" i="1" spc="97" baseline="-15873" dirty="0">
                <a:latin typeface="Arial"/>
                <a:cs typeface="Arial"/>
              </a:rPr>
              <a:t>1</a:t>
            </a:r>
            <a:r>
              <a:rPr sz="1000" spc="-5" dirty="0">
                <a:latin typeface="Arial"/>
                <a:cs typeface="Arial"/>
              </a:rPr>
              <a:t>, and sends</a:t>
            </a:r>
            <a:endParaRPr sz="1000">
              <a:latin typeface="Arial"/>
              <a:cs typeface="Arial"/>
            </a:endParaRPr>
          </a:p>
          <a:p>
            <a:pPr marL="353060">
              <a:lnSpc>
                <a:spcPts val="1195"/>
              </a:lnSpc>
            </a:pPr>
            <a:r>
              <a:rPr sz="1000" i="1" spc="5" dirty="0">
                <a:latin typeface="Arial"/>
                <a:cs typeface="Arial"/>
              </a:rPr>
              <a:t>resolve</a:t>
            </a:r>
            <a:r>
              <a:rPr sz="1000" spc="5" dirty="0">
                <a:latin typeface="Arial"/>
                <a:cs typeface="Arial"/>
              </a:rPr>
              <a:t>(</a:t>
            </a:r>
            <a:r>
              <a:rPr sz="1000" i="1" spc="5" dirty="0">
                <a:latin typeface="Arial"/>
                <a:cs typeface="Arial"/>
              </a:rPr>
              <a:t>dir</a:t>
            </a:r>
            <a:r>
              <a:rPr sz="1050" i="1" spc="7" baseline="-15873" dirty="0">
                <a:latin typeface="Arial"/>
                <a:cs typeface="Arial"/>
              </a:rPr>
              <a:t>1</a:t>
            </a:r>
            <a:r>
              <a:rPr sz="1000" i="1" spc="5" dirty="0">
                <a:latin typeface="Arial"/>
                <a:cs typeface="Arial"/>
              </a:rPr>
              <a:t>,</a:t>
            </a:r>
            <a:r>
              <a:rPr sz="1000" i="1" spc="-170" dirty="0">
                <a:latin typeface="Arial"/>
                <a:cs typeface="Arial"/>
              </a:rPr>
              <a:t> </a:t>
            </a:r>
            <a:r>
              <a:rPr sz="1000" dirty="0">
                <a:latin typeface="Arial"/>
                <a:cs typeface="Arial"/>
              </a:rPr>
              <a:t>[</a:t>
            </a:r>
            <a:r>
              <a:rPr sz="1000" i="1" dirty="0">
                <a:latin typeface="Arial"/>
                <a:cs typeface="Arial"/>
              </a:rPr>
              <a:t>name</a:t>
            </a:r>
            <a:r>
              <a:rPr sz="1050" i="1" baseline="-15873" dirty="0">
                <a:latin typeface="Arial"/>
                <a:cs typeface="Arial"/>
              </a:rPr>
              <a:t>2</a:t>
            </a:r>
            <a:r>
              <a:rPr sz="1050" i="1" spc="-157" baseline="-15873"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a:t>
            </a:r>
            <a:r>
              <a:rPr sz="1000" i="1" spc="-170" dirty="0">
                <a:latin typeface="Arial"/>
                <a:cs typeface="Arial"/>
              </a:rPr>
              <a:t> </a:t>
            </a:r>
            <a:r>
              <a:rPr sz="1000" i="1" dirty="0">
                <a:latin typeface="Arial"/>
                <a:cs typeface="Arial"/>
              </a:rPr>
              <a:t>name</a:t>
            </a:r>
            <a:r>
              <a:rPr sz="1050" i="1" baseline="-15873" dirty="0">
                <a:latin typeface="Arial"/>
                <a:cs typeface="Arial"/>
              </a:rPr>
              <a:t>K</a:t>
            </a:r>
            <a:r>
              <a:rPr sz="1050" i="1" spc="-60" baseline="-15873" dirty="0">
                <a:latin typeface="Arial"/>
                <a:cs typeface="Arial"/>
              </a:rPr>
              <a:t> </a:t>
            </a:r>
            <a:r>
              <a:rPr sz="1000" spc="30" dirty="0">
                <a:latin typeface="Arial"/>
                <a:cs typeface="Arial"/>
              </a:rPr>
              <a:t>])</a:t>
            </a:r>
            <a:r>
              <a:rPr sz="1000" spc="5" dirty="0">
                <a:latin typeface="Arial"/>
                <a:cs typeface="Arial"/>
              </a:rPr>
              <a:t> </a:t>
            </a:r>
            <a:r>
              <a:rPr sz="1000" spc="-5" dirty="0">
                <a:latin typeface="Arial"/>
                <a:cs typeface="Arial"/>
              </a:rPr>
              <a:t>to </a:t>
            </a:r>
            <a:r>
              <a:rPr sz="1000" i="1" spc="5" dirty="0">
                <a:latin typeface="Arial"/>
                <a:cs typeface="Arial"/>
              </a:rPr>
              <a:t>Server</a:t>
            </a:r>
            <a:r>
              <a:rPr sz="1050" i="1" spc="7" baseline="-15873" dirty="0">
                <a:latin typeface="Arial"/>
                <a:cs typeface="Arial"/>
              </a:rPr>
              <a:t>1</a:t>
            </a:r>
            <a:r>
              <a:rPr sz="1000" spc="5" dirty="0">
                <a:latin typeface="Arial"/>
                <a:cs typeface="Arial"/>
              </a:rPr>
              <a:t>,</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stores</a:t>
            </a:r>
            <a:r>
              <a:rPr sz="1000" dirty="0">
                <a:latin typeface="Arial"/>
                <a:cs typeface="Arial"/>
              </a:rPr>
              <a:t> </a:t>
            </a:r>
            <a:r>
              <a:rPr sz="1000" i="1" spc="10" dirty="0">
                <a:latin typeface="Arial"/>
                <a:cs typeface="Arial"/>
              </a:rPr>
              <a:t>dir</a:t>
            </a:r>
            <a:r>
              <a:rPr sz="1050" i="1" spc="15" baseline="-15873" dirty="0">
                <a:latin typeface="Arial"/>
                <a:cs typeface="Arial"/>
              </a:rPr>
              <a:t>1</a:t>
            </a:r>
            <a:r>
              <a:rPr sz="1000" spc="10" dirty="0">
                <a:latin typeface="Arial"/>
                <a:cs typeface="Arial"/>
              </a:rPr>
              <a:t>.</a:t>
            </a:r>
            <a:endParaRPr sz="1000">
              <a:latin typeface="Arial"/>
              <a:cs typeface="Arial"/>
            </a:endParaRPr>
          </a:p>
          <a:p>
            <a:pPr marL="353060" indent="-175260">
              <a:lnSpc>
                <a:spcPts val="1200"/>
              </a:lnSpc>
              <a:buClr>
                <a:srgbClr val="3333B2"/>
              </a:buClr>
              <a:buFont typeface="Arial"/>
              <a:buAutoNum type="arabicPeriod" startAt="3"/>
              <a:tabLst>
                <a:tab pos="353695" algn="l"/>
              </a:tabLst>
            </a:pPr>
            <a:r>
              <a:rPr sz="1000" i="1" dirty="0">
                <a:latin typeface="Arial"/>
                <a:cs typeface="Arial"/>
              </a:rPr>
              <a:t>Server</a:t>
            </a:r>
            <a:r>
              <a:rPr sz="1050" i="1" baseline="-15873" dirty="0">
                <a:latin typeface="Arial"/>
                <a:cs typeface="Arial"/>
              </a:rPr>
              <a:t>0</a:t>
            </a:r>
            <a:r>
              <a:rPr sz="1050" i="1" spc="254" baseline="-15873" dirty="0">
                <a:latin typeface="Arial"/>
                <a:cs typeface="Arial"/>
              </a:rPr>
              <a:t> </a:t>
            </a:r>
            <a:r>
              <a:rPr sz="1000" spc="-5" dirty="0">
                <a:latin typeface="Arial"/>
                <a:cs typeface="Arial"/>
              </a:rPr>
              <a:t>waits </a:t>
            </a:r>
            <a:r>
              <a:rPr sz="1000" spc="-15" dirty="0">
                <a:latin typeface="Arial"/>
                <a:cs typeface="Arial"/>
              </a:rPr>
              <a:t>for</a:t>
            </a:r>
            <a:r>
              <a:rPr sz="1000" spc="-5" dirty="0">
                <a:latin typeface="Arial"/>
                <a:cs typeface="Arial"/>
              </a:rPr>
              <a:t> result from</a:t>
            </a:r>
            <a:r>
              <a:rPr sz="1000" dirty="0">
                <a:latin typeface="Arial"/>
                <a:cs typeface="Arial"/>
              </a:rPr>
              <a:t> </a:t>
            </a:r>
            <a:r>
              <a:rPr sz="1000" i="1" spc="5" dirty="0">
                <a:latin typeface="Arial"/>
                <a:cs typeface="Arial"/>
              </a:rPr>
              <a:t>Server</a:t>
            </a:r>
            <a:r>
              <a:rPr sz="1050" i="1" spc="7" baseline="-15873" dirty="0">
                <a:latin typeface="Arial"/>
                <a:cs typeface="Arial"/>
              </a:rPr>
              <a:t>1</a:t>
            </a:r>
            <a:r>
              <a:rPr sz="1000" spc="5" dirty="0">
                <a:latin typeface="Arial"/>
                <a:cs typeface="Arial"/>
              </a:rPr>
              <a:t>,</a:t>
            </a:r>
            <a:r>
              <a:rPr sz="1000" spc="-5" dirty="0">
                <a:latin typeface="Arial"/>
                <a:cs typeface="Arial"/>
              </a:rPr>
              <a:t> and </a:t>
            </a:r>
            <a:r>
              <a:rPr sz="1000" dirty="0">
                <a:latin typeface="Arial"/>
                <a:cs typeface="Arial"/>
              </a:rPr>
              <a:t>returns</a:t>
            </a:r>
            <a:r>
              <a:rPr sz="1000" spc="-5" dirty="0">
                <a:latin typeface="Arial"/>
                <a:cs typeface="Arial"/>
              </a:rPr>
              <a:t> it</a:t>
            </a:r>
            <a:r>
              <a:rPr sz="1000" dirty="0">
                <a:latin typeface="Arial"/>
                <a:cs typeface="Arial"/>
              </a:rPr>
              <a:t> </a:t>
            </a:r>
            <a:r>
              <a:rPr sz="1000" spc="-5" dirty="0">
                <a:latin typeface="Arial"/>
                <a:cs typeface="Arial"/>
              </a:rPr>
              <a:t>to client.</a:t>
            </a:r>
            <a:endParaRPr sz="1000">
              <a:latin typeface="Arial"/>
              <a:cs typeface="Arial"/>
            </a:endParaRPr>
          </a:p>
          <a:p>
            <a:pPr marL="1489710" lvl="1" indent="-94615">
              <a:lnSpc>
                <a:spcPct val="100000"/>
              </a:lnSpc>
              <a:spcBef>
                <a:spcPts val="900"/>
              </a:spcBef>
              <a:buAutoNum type="arabicPeriod"/>
              <a:tabLst>
                <a:tab pos="1490345" algn="l"/>
              </a:tabLst>
            </a:pPr>
            <a:r>
              <a:rPr sz="650" spc="5" dirty="0">
                <a:solidFill>
                  <a:srgbClr val="231F20"/>
                </a:solidFill>
                <a:latin typeface="Arial"/>
                <a:cs typeface="Arial"/>
              </a:rPr>
              <a:t>[nl,vu,cs,ftp]</a:t>
            </a:r>
            <a:endParaRPr sz="650">
              <a:latin typeface="Arial"/>
              <a:cs typeface="Arial"/>
            </a:endParaRPr>
          </a:p>
          <a:p>
            <a:pPr lvl="1">
              <a:lnSpc>
                <a:spcPct val="100000"/>
              </a:lnSpc>
              <a:spcBef>
                <a:spcPts val="40"/>
              </a:spcBef>
              <a:buClr>
                <a:srgbClr val="231F20"/>
              </a:buClr>
              <a:buFont typeface="Arial"/>
              <a:buAutoNum type="arabicPeriod"/>
            </a:pPr>
            <a:endParaRPr sz="500">
              <a:latin typeface="Arial"/>
              <a:cs typeface="Arial"/>
            </a:endParaRPr>
          </a:p>
          <a:p>
            <a:pPr marL="93980" marR="372745" lvl="1" indent="-93980" algn="r">
              <a:lnSpc>
                <a:spcPct val="100000"/>
              </a:lnSpc>
              <a:buAutoNum type="arabicPeriod"/>
              <a:tabLst>
                <a:tab pos="93980" algn="l"/>
              </a:tabLst>
            </a:pPr>
            <a:r>
              <a:rPr sz="650" spc="5" dirty="0">
                <a:solidFill>
                  <a:srgbClr val="231F20"/>
                </a:solidFill>
                <a:latin typeface="Arial"/>
                <a:cs typeface="Arial"/>
              </a:rPr>
              <a:t>[vu,cs,ftp]</a:t>
            </a:r>
            <a:endParaRPr sz="650">
              <a:latin typeface="Arial"/>
              <a:cs typeface="Arial"/>
            </a:endParaRPr>
          </a:p>
        </p:txBody>
      </p:sp>
      <p:grpSp>
        <p:nvGrpSpPr>
          <p:cNvPr id="8" name="object 8"/>
          <p:cNvGrpSpPr/>
          <p:nvPr/>
        </p:nvGrpSpPr>
        <p:grpSpPr>
          <a:xfrm>
            <a:off x="1208942" y="2922850"/>
            <a:ext cx="64135" cy="201930"/>
            <a:chOff x="1208942" y="2922850"/>
            <a:chExt cx="64135" cy="201930"/>
          </a:xfrm>
        </p:grpSpPr>
        <p:sp>
          <p:nvSpPr>
            <p:cNvPr id="9" name="object 9"/>
            <p:cNvSpPr/>
            <p:nvPr/>
          </p:nvSpPr>
          <p:spPr>
            <a:xfrm>
              <a:off x="1240821" y="2960230"/>
              <a:ext cx="0" cy="164465"/>
            </a:xfrm>
            <a:custGeom>
              <a:avLst/>
              <a:gdLst/>
              <a:ahLst/>
              <a:cxnLst/>
              <a:rect l="l" t="t" r="r" b="b"/>
              <a:pathLst>
                <a:path h="164464">
                  <a:moveTo>
                    <a:pt x="0" y="164159"/>
                  </a:moveTo>
                  <a:lnTo>
                    <a:pt x="0" y="0"/>
                  </a:lnTo>
                </a:path>
              </a:pathLst>
            </a:custGeom>
            <a:ln w="5267">
              <a:solidFill>
                <a:srgbClr val="231F20"/>
              </a:solidFill>
            </a:ln>
          </p:spPr>
          <p:txBody>
            <a:bodyPr wrap="square" lIns="0" tIns="0" rIns="0" bIns="0" rtlCol="0"/>
            <a:lstStyle/>
            <a:p>
              <a:endParaRPr/>
            </a:p>
          </p:txBody>
        </p:sp>
        <p:sp>
          <p:nvSpPr>
            <p:cNvPr id="10" name="object 10"/>
            <p:cNvSpPr/>
            <p:nvPr/>
          </p:nvSpPr>
          <p:spPr>
            <a:xfrm>
              <a:off x="1208942" y="2922850"/>
              <a:ext cx="64135" cy="74930"/>
            </a:xfrm>
            <a:custGeom>
              <a:avLst/>
              <a:gdLst/>
              <a:ahLst/>
              <a:cxnLst/>
              <a:rect l="l" t="t" r="r" b="b"/>
              <a:pathLst>
                <a:path w="64134" h="74930">
                  <a:moveTo>
                    <a:pt x="31879" y="0"/>
                  </a:moveTo>
                  <a:lnTo>
                    <a:pt x="0" y="74380"/>
                  </a:lnTo>
                  <a:lnTo>
                    <a:pt x="15941" y="68400"/>
                  </a:lnTo>
                  <a:lnTo>
                    <a:pt x="31880" y="66408"/>
                  </a:lnTo>
                  <a:lnTo>
                    <a:pt x="47819" y="68401"/>
                  </a:lnTo>
                  <a:lnTo>
                    <a:pt x="63757" y="74380"/>
                  </a:lnTo>
                  <a:lnTo>
                    <a:pt x="31879" y="0"/>
                  </a:lnTo>
                  <a:close/>
                </a:path>
              </a:pathLst>
            </a:custGeom>
            <a:solidFill>
              <a:srgbClr val="231F20"/>
            </a:solidFill>
          </p:spPr>
          <p:txBody>
            <a:bodyPr wrap="square" lIns="0" tIns="0" rIns="0" bIns="0" rtlCol="0"/>
            <a:lstStyle/>
            <a:p>
              <a:endParaRPr/>
            </a:p>
          </p:txBody>
        </p:sp>
      </p:grpSp>
      <p:grpSp>
        <p:nvGrpSpPr>
          <p:cNvPr id="11" name="object 11"/>
          <p:cNvGrpSpPr/>
          <p:nvPr/>
        </p:nvGrpSpPr>
        <p:grpSpPr>
          <a:xfrm>
            <a:off x="1378664" y="2922850"/>
            <a:ext cx="64135" cy="201930"/>
            <a:chOff x="1378664" y="2922850"/>
            <a:chExt cx="64135" cy="201930"/>
          </a:xfrm>
        </p:grpSpPr>
        <p:sp>
          <p:nvSpPr>
            <p:cNvPr id="12" name="object 12"/>
            <p:cNvSpPr/>
            <p:nvPr/>
          </p:nvSpPr>
          <p:spPr>
            <a:xfrm>
              <a:off x="1410542" y="2922850"/>
              <a:ext cx="0" cy="164465"/>
            </a:xfrm>
            <a:custGeom>
              <a:avLst/>
              <a:gdLst/>
              <a:ahLst/>
              <a:cxnLst/>
              <a:rect l="l" t="t" r="r" b="b"/>
              <a:pathLst>
                <a:path h="164464">
                  <a:moveTo>
                    <a:pt x="0" y="164159"/>
                  </a:moveTo>
                  <a:lnTo>
                    <a:pt x="0" y="0"/>
                  </a:lnTo>
                </a:path>
              </a:pathLst>
            </a:custGeom>
            <a:ln w="5267">
              <a:solidFill>
                <a:srgbClr val="231F20"/>
              </a:solidFill>
            </a:ln>
          </p:spPr>
          <p:txBody>
            <a:bodyPr wrap="square" lIns="0" tIns="0" rIns="0" bIns="0" rtlCol="0"/>
            <a:lstStyle/>
            <a:p>
              <a:endParaRPr/>
            </a:p>
          </p:txBody>
        </p:sp>
        <p:sp>
          <p:nvSpPr>
            <p:cNvPr id="13" name="object 13"/>
            <p:cNvSpPr/>
            <p:nvPr/>
          </p:nvSpPr>
          <p:spPr>
            <a:xfrm>
              <a:off x="1378664" y="3050014"/>
              <a:ext cx="64135" cy="74930"/>
            </a:xfrm>
            <a:custGeom>
              <a:avLst/>
              <a:gdLst/>
              <a:ahLst/>
              <a:cxnLst/>
              <a:rect l="l" t="t" r="r" b="b"/>
              <a:pathLst>
                <a:path w="64134" h="74930">
                  <a:moveTo>
                    <a:pt x="63748" y="0"/>
                  </a:moveTo>
                  <a:lnTo>
                    <a:pt x="47811" y="5977"/>
                  </a:lnTo>
                  <a:lnTo>
                    <a:pt x="31875" y="7970"/>
                  </a:lnTo>
                  <a:lnTo>
                    <a:pt x="15939" y="5977"/>
                  </a:lnTo>
                  <a:lnTo>
                    <a:pt x="0" y="0"/>
                  </a:lnTo>
                  <a:lnTo>
                    <a:pt x="31878" y="74375"/>
                  </a:lnTo>
                  <a:lnTo>
                    <a:pt x="63748" y="0"/>
                  </a:lnTo>
                  <a:close/>
                </a:path>
              </a:pathLst>
            </a:custGeom>
            <a:solidFill>
              <a:srgbClr val="231F20"/>
            </a:solidFill>
          </p:spPr>
          <p:txBody>
            <a:bodyPr wrap="square" lIns="0" tIns="0" rIns="0" bIns="0" rtlCol="0"/>
            <a:lstStyle/>
            <a:p>
              <a:endParaRPr/>
            </a:p>
          </p:txBody>
        </p:sp>
      </p:grpSp>
      <p:sp>
        <p:nvSpPr>
          <p:cNvPr id="14" name="object 14"/>
          <p:cNvSpPr txBox="1"/>
          <p:nvPr/>
        </p:nvSpPr>
        <p:spPr>
          <a:xfrm>
            <a:off x="3370187" y="2073472"/>
            <a:ext cx="3676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3. [cs,ftp]</a:t>
            </a:r>
            <a:endParaRPr sz="650">
              <a:latin typeface="Arial"/>
              <a:cs typeface="Arial"/>
            </a:endParaRPr>
          </a:p>
        </p:txBody>
      </p:sp>
      <p:sp>
        <p:nvSpPr>
          <p:cNvPr id="15" name="object 15"/>
          <p:cNvSpPr txBox="1"/>
          <p:nvPr/>
        </p:nvSpPr>
        <p:spPr>
          <a:xfrm>
            <a:off x="3370187" y="2432455"/>
            <a:ext cx="2603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4. </a:t>
            </a:r>
            <a:r>
              <a:rPr sz="650" dirty="0">
                <a:solidFill>
                  <a:srgbClr val="231F20"/>
                </a:solidFill>
                <a:latin typeface="Arial"/>
                <a:cs typeface="Arial"/>
              </a:rPr>
              <a:t>[ftp]</a:t>
            </a:r>
            <a:endParaRPr sz="650">
              <a:latin typeface="Arial"/>
              <a:cs typeface="Arial"/>
            </a:endParaRPr>
          </a:p>
        </p:txBody>
      </p:sp>
      <p:graphicFrame>
        <p:nvGraphicFramePr>
          <p:cNvPr id="16" name="object 16"/>
          <p:cNvGraphicFramePr>
            <a:graphicFrameLocks noGrp="1"/>
          </p:cNvGraphicFramePr>
          <p:nvPr/>
        </p:nvGraphicFramePr>
        <p:xfrm>
          <a:off x="1153327" y="1650252"/>
          <a:ext cx="2062480" cy="1263650"/>
        </p:xfrm>
        <a:graphic>
          <a:graphicData uri="http://schemas.openxmlformats.org/drawingml/2006/table">
            <a:tbl>
              <a:tblPr firstRow="1" bandRow="1">
                <a:tableStyleId>{2D5ABB26-0587-4C30-8999-92F81FD0307C}</a:tableStyleId>
              </a:tblPr>
              <a:tblGrid>
                <a:gridCol w="396240">
                  <a:extLst>
                    <a:ext uri="{9D8B030D-6E8A-4147-A177-3AD203B41FA5}">
                      <a16:colId xmlns:a16="http://schemas.microsoft.com/office/drawing/2014/main" val="20000"/>
                    </a:ext>
                  </a:extLst>
                </a:gridCol>
                <a:gridCol w="910590">
                  <a:extLst>
                    <a:ext uri="{9D8B030D-6E8A-4147-A177-3AD203B41FA5}">
                      <a16:colId xmlns:a16="http://schemas.microsoft.com/office/drawing/2014/main" val="20001"/>
                    </a:ext>
                  </a:extLst>
                </a:gridCol>
                <a:gridCol w="755650">
                  <a:extLst>
                    <a:ext uri="{9D8B030D-6E8A-4147-A177-3AD203B41FA5}">
                      <a16:colId xmlns:a16="http://schemas.microsoft.com/office/drawing/2014/main" val="20002"/>
                    </a:ext>
                  </a:extLst>
                </a:gridCol>
              </a:tblGrid>
              <a:tr h="73025">
                <a:tc rowSpan="3">
                  <a:txBody>
                    <a:bodyPr/>
                    <a:lstStyle/>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marL="31750" marR="56515">
                        <a:lnSpc>
                          <a:spcPct val="95400"/>
                        </a:lnSpc>
                        <a:spcBef>
                          <a:spcPts val="405"/>
                        </a:spcBef>
                      </a:pPr>
                      <a:r>
                        <a:rPr sz="650" spc="5" dirty="0">
                          <a:solidFill>
                            <a:srgbClr val="231F20"/>
                          </a:solidFill>
                          <a:latin typeface="Arial"/>
                          <a:cs typeface="Arial"/>
                        </a:rPr>
                        <a:t>Client's </a:t>
                      </a:r>
                      <a:r>
                        <a:rPr sz="650" spc="-170" dirty="0">
                          <a:solidFill>
                            <a:srgbClr val="231F20"/>
                          </a:solidFill>
                          <a:latin typeface="Arial"/>
                          <a:cs typeface="Arial"/>
                        </a:rPr>
                        <a:t> </a:t>
                      </a:r>
                      <a:r>
                        <a:rPr sz="650" spc="5" dirty="0">
                          <a:solidFill>
                            <a:srgbClr val="231F20"/>
                          </a:solidFill>
                          <a:latin typeface="Arial"/>
                          <a:cs typeface="Arial"/>
                        </a:rPr>
                        <a:t>name </a:t>
                      </a:r>
                      <a:r>
                        <a:rPr sz="650" spc="10" dirty="0">
                          <a:solidFill>
                            <a:srgbClr val="231F20"/>
                          </a:solidFill>
                          <a:latin typeface="Arial"/>
                          <a:cs typeface="Arial"/>
                        </a:rPr>
                        <a:t> </a:t>
                      </a:r>
                      <a:r>
                        <a:rPr sz="650" dirty="0">
                          <a:solidFill>
                            <a:srgbClr val="231F20"/>
                          </a:solidFill>
                          <a:latin typeface="Arial"/>
                          <a:cs typeface="Arial"/>
                        </a:rPr>
                        <a:t>resolver</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nSpc>
                          <a:spcPct val="100000"/>
                        </a:lnSpc>
                      </a:pPr>
                      <a:endParaRPr sz="3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rowSpan="2">
                  <a:txBody>
                    <a:bodyPr/>
                    <a:lstStyle/>
                    <a:p>
                      <a:pPr marL="146685" marR="131445" indent="145415">
                        <a:lnSpc>
                          <a:spcPts val="740"/>
                        </a:lnSpc>
                        <a:spcBef>
                          <a:spcPts val="5"/>
                        </a:spcBef>
                      </a:pPr>
                      <a:r>
                        <a:rPr sz="650" spc="5" dirty="0">
                          <a:solidFill>
                            <a:srgbClr val="231F20"/>
                          </a:solidFill>
                          <a:latin typeface="Arial"/>
                          <a:cs typeface="Arial"/>
                        </a:rPr>
                        <a:t>Root </a:t>
                      </a:r>
                      <a:r>
                        <a:rPr sz="650" spc="10" dirty="0">
                          <a:solidFill>
                            <a:srgbClr val="231F20"/>
                          </a:solidFill>
                          <a:latin typeface="Arial"/>
                          <a:cs typeface="Arial"/>
                        </a:rPr>
                        <a:t> </a:t>
                      </a:r>
                      <a:r>
                        <a:rPr sz="650" dirty="0">
                          <a:solidFill>
                            <a:srgbClr val="231F20"/>
                          </a:solidFill>
                          <a:latin typeface="Arial"/>
                          <a:cs typeface="Arial"/>
                        </a:rPr>
                        <a:t>name server</a:t>
                      </a:r>
                      <a:endParaRPr sz="650">
                        <a:latin typeface="Arial"/>
                        <a:cs typeface="Arial"/>
                      </a:endParaRPr>
                    </a:p>
                  </a:txBody>
                  <a:tcPr marL="0" marR="0" marT="63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37160">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27635">
                        <a:lnSpc>
                          <a:spcPct val="100000"/>
                        </a:lnSpc>
                        <a:spcBef>
                          <a:spcPts val="40"/>
                        </a:spcBef>
                      </a:pPr>
                      <a:r>
                        <a:rPr sz="650" spc="5" dirty="0">
                          <a:solidFill>
                            <a:srgbClr val="231F20"/>
                          </a:solidFill>
                          <a:latin typeface="Arial"/>
                          <a:cs typeface="Arial"/>
                        </a:rPr>
                        <a:t>8.</a:t>
                      </a:r>
                      <a:r>
                        <a:rPr sz="650" spc="-45" dirty="0">
                          <a:solidFill>
                            <a:srgbClr val="231F20"/>
                          </a:solidFill>
                          <a:latin typeface="Arial"/>
                          <a:cs typeface="Arial"/>
                        </a:rPr>
                        <a:t> </a:t>
                      </a:r>
                      <a:r>
                        <a:rPr sz="650" spc="5" dirty="0">
                          <a:solidFill>
                            <a:srgbClr val="231F20"/>
                          </a:solidFill>
                          <a:latin typeface="Arial"/>
                          <a:cs typeface="Arial"/>
                        </a:rPr>
                        <a:t>#[nl,vu,cs,ftp]</a:t>
                      </a:r>
                      <a:endParaRPr sz="650">
                        <a:latin typeface="Arial"/>
                        <a:cs typeface="Arial"/>
                      </a:endParaRPr>
                    </a:p>
                  </a:txBody>
                  <a:tcPr marL="0" marR="0" marT="5080" marB="0">
                    <a:lnL w="6350">
                      <a:solidFill>
                        <a:srgbClr val="231F20"/>
                      </a:solidFill>
                      <a:prstDash val="solid"/>
                    </a:lnL>
                    <a:lnR w="6350">
                      <a:solidFill>
                        <a:srgbClr val="231F20"/>
                      </a:solidFill>
                      <a:prstDash val="solid"/>
                    </a:lnR>
                    <a:lnT w="6350">
                      <a:solidFill>
                        <a:srgbClr val="231F20"/>
                      </a:solidFill>
                      <a:prstDash val="solid"/>
                    </a:lnT>
                  </a:tcPr>
                </a:tc>
                <a:tc vMerge="1">
                  <a:txBody>
                    <a:bodyPr/>
                    <a:lstStyle/>
                    <a:p>
                      <a:endParaRPr/>
                    </a:p>
                  </a:txBody>
                  <a:tcPr marL="0" marR="0" marT="63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053465">
                <a:tc vMerge="1">
                  <a:txBody>
                    <a:bodyPr/>
                    <a:lstStyle/>
                    <a:p>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gridSpan="2">
                  <a:txBody>
                    <a:bodyPr/>
                    <a:lstStyle/>
                    <a:p>
                      <a:pPr>
                        <a:lnSpc>
                          <a:spcPct val="100000"/>
                        </a:lnSpc>
                      </a:pPr>
                      <a:endParaRPr sz="600">
                        <a:latin typeface="Times New Roman"/>
                        <a:cs typeface="Times New Roman"/>
                      </a:endParaRPr>
                    </a:p>
                    <a:p>
                      <a:pPr>
                        <a:lnSpc>
                          <a:spcPct val="100000"/>
                        </a:lnSpc>
                        <a:spcBef>
                          <a:spcPts val="20"/>
                        </a:spcBef>
                      </a:pPr>
                      <a:endParaRPr sz="500">
                        <a:latin typeface="Times New Roman"/>
                        <a:cs typeface="Times New Roman"/>
                      </a:endParaRPr>
                    </a:p>
                    <a:p>
                      <a:pPr marL="1153795" marR="124460" indent="-947419">
                        <a:lnSpc>
                          <a:spcPct val="75100"/>
                        </a:lnSpc>
                        <a:tabLst>
                          <a:tab pos="1050290" algn="l"/>
                        </a:tabLst>
                      </a:pPr>
                      <a:r>
                        <a:rPr sz="650" dirty="0">
                          <a:solidFill>
                            <a:srgbClr val="231F20"/>
                          </a:solidFill>
                          <a:latin typeface="Arial"/>
                          <a:cs typeface="Arial"/>
                        </a:rPr>
                        <a:t>7. #[vu,cs,ftp]	</a:t>
                      </a:r>
                      <a:r>
                        <a:rPr sz="975" baseline="12820" dirty="0">
                          <a:solidFill>
                            <a:srgbClr val="231F20"/>
                          </a:solidFill>
                          <a:latin typeface="Arial"/>
                          <a:cs typeface="Arial"/>
                        </a:rPr>
                        <a:t>Name server  </a:t>
                      </a:r>
                      <a:r>
                        <a:rPr sz="650" spc="5" dirty="0">
                          <a:solidFill>
                            <a:srgbClr val="231F20"/>
                          </a:solidFill>
                          <a:latin typeface="Arial"/>
                          <a:cs typeface="Arial"/>
                        </a:rPr>
                        <a:t>nl</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p>
                      <a:pPr>
                        <a:lnSpc>
                          <a:spcPct val="100000"/>
                        </a:lnSpc>
                      </a:pPr>
                      <a:endParaRPr sz="600">
                        <a:latin typeface="Times New Roman"/>
                        <a:cs typeface="Times New Roman"/>
                      </a:endParaRPr>
                    </a:p>
                    <a:p>
                      <a:pPr>
                        <a:lnSpc>
                          <a:spcPct val="100000"/>
                        </a:lnSpc>
                        <a:spcBef>
                          <a:spcPts val="45"/>
                        </a:spcBef>
                      </a:pPr>
                      <a:endParaRPr sz="650">
                        <a:latin typeface="Times New Roman"/>
                        <a:cs typeface="Times New Roman"/>
                      </a:endParaRPr>
                    </a:p>
                    <a:p>
                      <a:pPr marL="1116330" marR="149225" indent="-798195">
                        <a:lnSpc>
                          <a:spcPts val="630"/>
                        </a:lnSpc>
                        <a:tabLst>
                          <a:tab pos="1025525" algn="l"/>
                        </a:tabLst>
                      </a:pPr>
                      <a:r>
                        <a:rPr sz="650" dirty="0">
                          <a:solidFill>
                            <a:srgbClr val="231F20"/>
                          </a:solidFill>
                          <a:latin typeface="Arial"/>
                          <a:cs typeface="Arial"/>
                        </a:rPr>
                        <a:t>6. #[cs,ftp]	</a:t>
                      </a:r>
                      <a:r>
                        <a:rPr sz="975" baseline="8547" dirty="0">
                          <a:solidFill>
                            <a:srgbClr val="231F20"/>
                          </a:solidFill>
                          <a:latin typeface="Arial"/>
                          <a:cs typeface="Arial"/>
                        </a:rPr>
                        <a:t>Name server  </a:t>
                      </a:r>
                      <a:r>
                        <a:rPr sz="650" spc="5" dirty="0">
                          <a:solidFill>
                            <a:srgbClr val="231F20"/>
                          </a:solidFill>
                          <a:latin typeface="Arial"/>
                          <a:cs typeface="Arial"/>
                        </a:rPr>
                        <a:t>vu</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p>
                      <a:pPr>
                        <a:lnSpc>
                          <a:spcPct val="100000"/>
                        </a:lnSpc>
                      </a:pPr>
                      <a:endParaRPr sz="600">
                        <a:latin typeface="Times New Roman"/>
                        <a:cs typeface="Times New Roman"/>
                      </a:endParaRPr>
                    </a:p>
                    <a:p>
                      <a:pPr>
                        <a:lnSpc>
                          <a:spcPct val="100000"/>
                        </a:lnSpc>
                        <a:spcBef>
                          <a:spcPts val="35"/>
                        </a:spcBef>
                      </a:pPr>
                      <a:endParaRPr sz="450">
                        <a:latin typeface="Times New Roman"/>
                        <a:cs typeface="Times New Roman"/>
                      </a:endParaRPr>
                    </a:p>
                    <a:p>
                      <a:pPr marL="1129030" marR="139065" indent="-702945">
                        <a:lnSpc>
                          <a:spcPts val="740"/>
                        </a:lnSpc>
                        <a:spcBef>
                          <a:spcPts val="5"/>
                        </a:spcBef>
                        <a:tabLst>
                          <a:tab pos="1035685" algn="l"/>
                        </a:tabLst>
                      </a:pPr>
                      <a:r>
                        <a:rPr sz="975" baseline="-17094" dirty="0">
                          <a:solidFill>
                            <a:srgbClr val="231F20"/>
                          </a:solidFill>
                          <a:latin typeface="Arial"/>
                          <a:cs typeface="Arial"/>
                        </a:rPr>
                        <a:t>5. #[ftp]	</a:t>
                      </a:r>
                      <a:r>
                        <a:rPr sz="650" dirty="0">
                          <a:solidFill>
                            <a:srgbClr val="231F20"/>
                          </a:solidFill>
                          <a:latin typeface="Arial"/>
                          <a:cs typeface="Arial"/>
                        </a:rPr>
                        <a:t>Name server  </a:t>
                      </a:r>
                      <a:r>
                        <a:rPr sz="650" spc="5" dirty="0">
                          <a:solidFill>
                            <a:srgbClr val="231F20"/>
                          </a:solidFill>
                          <a:latin typeface="Arial"/>
                          <a:cs typeface="Arial"/>
                        </a:rPr>
                        <a:t>cs</a:t>
                      </a:r>
                      <a:r>
                        <a:rPr sz="650" spc="-2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a:txBody>
                  <a:tcPr marL="0" marR="0" marT="0" marB="0">
                    <a:lnL w="6350">
                      <a:solidFill>
                        <a:srgbClr val="231F20"/>
                      </a:solidFill>
                      <a:prstDash val="solid"/>
                    </a:ln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17" name="object 17"/>
          <p:cNvSpPr txBox="1"/>
          <p:nvPr/>
        </p:nvSpPr>
        <p:spPr>
          <a:xfrm>
            <a:off x="1456868" y="2976623"/>
            <a:ext cx="5226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#[nl,vu,cs,ftp]</a:t>
            </a:r>
            <a:endParaRPr sz="650">
              <a:latin typeface="Arial"/>
              <a:cs typeface="Arial"/>
            </a:endParaRPr>
          </a:p>
        </p:txBody>
      </p:sp>
      <p:sp>
        <p:nvSpPr>
          <p:cNvPr id="18" name="object 18"/>
          <p:cNvSpPr txBox="1"/>
          <p:nvPr/>
        </p:nvSpPr>
        <p:spPr>
          <a:xfrm>
            <a:off x="753906" y="2974399"/>
            <a:ext cx="4756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[nl,vu,cs,ftp]</a:t>
            </a:r>
            <a:endParaRPr sz="650">
              <a:latin typeface="Arial"/>
              <a:cs typeface="Arial"/>
            </a:endParaRPr>
          </a:p>
        </p:txBody>
      </p:sp>
      <p:grpSp>
        <p:nvGrpSpPr>
          <p:cNvPr id="19" name="object 19"/>
          <p:cNvGrpSpPr/>
          <p:nvPr/>
        </p:nvGrpSpPr>
        <p:grpSpPr>
          <a:xfrm>
            <a:off x="2293721" y="1751422"/>
            <a:ext cx="1088390" cy="1009650"/>
            <a:chOff x="2293721" y="1751422"/>
            <a:chExt cx="1088390" cy="1009650"/>
          </a:xfrm>
        </p:grpSpPr>
        <p:sp>
          <p:nvSpPr>
            <p:cNvPr id="20" name="object 20"/>
            <p:cNvSpPr/>
            <p:nvPr/>
          </p:nvSpPr>
          <p:spPr>
            <a:xfrm>
              <a:off x="2296355" y="1828749"/>
              <a:ext cx="160655" cy="269240"/>
            </a:xfrm>
            <a:custGeom>
              <a:avLst/>
              <a:gdLst/>
              <a:ahLst/>
              <a:cxnLst/>
              <a:rect l="l" t="t" r="r" b="b"/>
              <a:pathLst>
                <a:path w="160655" h="269239">
                  <a:moveTo>
                    <a:pt x="160484" y="268926"/>
                  </a:moveTo>
                  <a:lnTo>
                    <a:pt x="119339" y="261637"/>
                  </a:lnTo>
                  <a:lnTo>
                    <a:pt x="83311" y="247967"/>
                  </a:lnTo>
                  <a:lnTo>
                    <a:pt x="28901" y="205844"/>
                  </a:lnTo>
                  <a:lnTo>
                    <a:pt x="1841" y="151272"/>
                  </a:lnTo>
                  <a:lnTo>
                    <a:pt x="0" y="122040"/>
                  </a:lnTo>
                  <a:lnTo>
                    <a:pt x="6715" y="92964"/>
                  </a:lnTo>
                  <a:lnTo>
                    <a:pt x="22561" y="65132"/>
                  </a:lnTo>
                  <a:lnTo>
                    <a:pt x="48110" y="39635"/>
                  </a:lnTo>
                  <a:lnTo>
                    <a:pt x="83936" y="17561"/>
                  </a:lnTo>
                  <a:lnTo>
                    <a:pt x="130611" y="0"/>
                  </a:lnTo>
                </a:path>
              </a:pathLst>
            </a:custGeom>
            <a:ln w="5267">
              <a:solidFill>
                <a:srgbClr val="231F20"/>
              </a:solidFill>
            </a:ln>
          </p:spPr>
          <p:txBody>
            <a:bodyPr wrap="square" lIns="0" tIns="0" rIns="0" bIns="0" rtlCol="0"/>
            <a:lstStyle/>
            <a:p>
              <a:endParaRPr/>
            </a:p>
          </p:txBody>
        </p:sp>
        <p:sp>
          <p:nvSpPr>
            <p:cNvPr id="21" name="object 21"/>
            <p:cNvSpPr/>
            <p:nvPr/>
          </p:nvSpPr>
          <p:spPr>
            <a:xfrm>
              <a:off x="2382642" y="1808279"/>
              <a:ext cx="80645" cy="61594"/>
            </a:xfrm>
            <a:custGeom>
              <a:avLst/>
              <a:gdLst/>
              <a:ahLst/>
              <a:cxnLst/>
              <a:rect l="l" t="t" r="r" b="b"/>
              <a:pathLst>
                <a:path w="80644" h="61594">
                  <a:moveTo>
                    <a:pt x="0" y="0"/>
                  </a:moveTo>
                  <a:lnTo>
                    <a:pt x="10119" y="13680"/>
                  </a:lnTo>
                  <a:lnTo>
                    <a:pt x="16411" y="28458"/>
                  </a:lnTo>
                  <a:lnTo>
                    <a:pt x="18874" y="44330"/>
                  </a:lnTo>
                  <a:lnTo>
                    <a:pt x="17508" y="61295"/>
                  </a:lnTo>
                  <a:lnTo>
                    <a:pt x="80259" y="10214"/>
                  </a:lnTo>
                  <a:lnTo>
                    <a:pt x="0" y="0"/>
                  </a:lnTo>
                  <a:close/>
                </a:path>
              </a:pathLst>
            </a:custGeom>
            <a:solidFill>
              <a:srgbClr val="231F20"/>
            </a:solidFill>
          </p:spPr>
          <p:txBody>
            <a:bodyPr wrap="square" lIns="0" tIns="0" rIns="0" bIns="0" rtlCol="0"/>
            <a:lstStyle/>
            <a:p>
              <a:endParaRPr/>
            </a:p>
          </p:txBody>
        </p:sp>
        <p:sp>
          <p:nvSpPr>
            <p:cNvPr id="22" name="object 22"/>
            <p:cNvSpPr/>
            <p:nvPr/>
          </p:nvSpPr>
          <p:spPr>
            <a:xfrm>
              <a:off x="3218785" y="1754056"/>
              <a:ext cx="160655" cy="269240"/>
            </a:xfrm>
            <a:custGeom>
              <a:avLst/>
              <a:gdLst/>
              <a:ahLst/>
              <a:cxnLst/>
              <a:rect l="l" t="t" r="r" b="b"/>
              <a:pathLst>
                <a:path w="160654" h="269239">
                  <a:moveTo>
                    <a:pt x="0" y="0"/>
                  </a:moveTo>
                  <a:lnTo>
                    <a:pt x="41147" y="7289"/>
                  </a:lnTo>
                  <a:lnTo>
                    <a:pt x="77176" y="20959"/>
                  </a:lnTo>
                  <a:lnTo>
                    <a:pt x="131587" y="63082"/>
                  </a:lnTo>
                  <a:lnTo>
                    <a:pt x="158648" y="117653"/>
                  </a:lnTo>
                  <a:lnTo>
                    <a:pt x="160489" y="146884"/>
                  </a:lnTo>
                  <a:lnTo>
                    <a:pt x="153774" y="175959"/>
                  </a:lnTo>
                  <a:lnTo>
                    <a:pt x="137929" y="203790"/>
                  </a:lnTo>
                  <a:lnTo>
                    <a:pt x="112380" y="229287"/>
                  </a:lnTo>
                  <a:lnTo>
                    <a:pt x="76556" y="251360"/>
                  </a:lnTo>
                  <a:lnTo>
                    <a:pt x="29883" y="268921"/>
                  </a:lnTo>
                </a:path>
              </a:pathLst>
            </a:custGeom>
            <a:ln w="5267">
              <a:solidFill>
                <a:srgbClr val="231F20"/>
              </a:solidFill>
            </a:ln>
          </p:spPr>
          <p:txBody>
            <a:bodyPr wrap="square" lIns="0" tIns="0" rIns="0" bIns="0" rtlCol="0"/>
            <a:lstStyle/>
            <a:p>
              <a:endParaRPr/>
            </a:p>
          </p:txBody>
        </p:sp>
        <p:sp>
          <p:nvSpPr>
            <p:cNvPr id="23" name="object 23"/>
            <p:cNvSpPr/>
            <p:nvPr/>
          </p:nvSpPr>
          <p:spPr>
            <a:xfrm>
              <a:off x="3212724" y="1982163"/>
              <a:ext cx="80645" cy="61594"/>
            </a:xfrm>
            <a:custGeom>
              <a:avLst/>
              <a:gdLst/>
              <a:ahLst/>
              <a:cxnLst/>
              <a:rect l="l" t="t" r="r" b="b"/>
              <a:pathLst>
                <a:path w="80645" h="61594">
                  <a:moveTo>
                    <a:pt x="62761" y="0"/>
                  </a:moveTo>
                  <a:lnTo>
                    <a:pt x="0" y="51081"/>
                  </a:lnTo>
                  <a:lnTo>
                    <a:pt x="80280" y="61295"/>
                  </a:lnTo>
                  <a:lnTo>
                    <a:pt x="70154" y="47610"/>
                  </a:lnTo>
                  <a:lnTo>
                    <a:pt x="63860" y="32833"/>
                  </a:lnTo>
                  <a:lnTo>
                    <a:pt x="61395" y="16963"/>
                  </a:lnTo>
                  <a:lnTo>
                    <a:pt x="62761" y="0"/>
                  </a:lnTo>
                  <a:close/>
                </a:path>
              </a:pathLst>
            </a:custGeom>
            <a:solidFill>
              <a:srgbClr val="231F20"/>
            </a:solidFill>
          </p:spPr>
          <p:txBody>
            <a:bodyPr wrap="square" lIns="0" tIns="0" rIns="0" bIns="0" rtlCol="0"/>
            <a:lstStyle/>
            <a:p>
              <a:endParaRPr/>
            </a:p>
          </p:txBody>
        </p:sp>
        <p:sp>
          <p:nvSpPr>
            <p:cNvPr id="24" name="object 24"/>
            <p:cNvSpPr/>
            <p:nvPr/>
          </p:nvSpPr>
          <p:spPr>
            <a:xfrm>
              <a:off x="3218785" y="2112618"/>
              <a:ext cx="160655" cy="269240"/>
            </a:xfrm>
            <a:custGeom>
              <a:avLst/>
              <a:gdLst/>
              <a:ahLst/>
              <a:cxnLst/>
              <a:rect l="l" t="t" r="r" b="b"/>
              <a:pathLst>
                <a:path w="160654" h="269239">
                  <a:moveTo>
                    <a:pt x="0" y="0"/>
                  </a:moveTo>
                  <a:lnTo>
                    <a:pt x="41145" y="7288"/>
                  </a:lnTo>
                  <a:lnTo>
                    <a:pt x="77173" y="20957"/>
                  </a:lnTo>
                  <a:lnTo>
                    <a:pt x="131582" y="63079"/>
                  </a:lnTo>
                  <a:lnTo>
                    <a:pt x="158643" y="117651"/>
                  </a:lnTo>
                  <a:lnTo>
                    <a:pt x="160484" y="146882"/>
                  </a:lnTo>
                  <a:lnTo>
                    <a:pt x="153768" y="175958"/>
                  </a:lnTo>
                  <a:lnTo>
                    <a:pt x="137923" y="203788"/>
                  </a:lnTo>
                  <a:lnTo>
                    <a:pt x="112374" y="229284"/>
                  </a:lnTo>
                  <a:lnTo>
                    <a:pt x="76548" y="251356"/>
                  </a:lnTo>
                  <a:lnTo>
                    <a:pt x="29873" y="268914"/>
                  </a:lnTo>
                </a:path>
              </a:pathLst>
            </a:custGeom>
            <a:ln w="5267">
              <a:solidFill>
                <a:srgbClr val="231F20"/>
              </a:solidFill>
            </a:ln>
          </p:spPr>
          <p:txBody>
            <a:bodyPr wrap="square" lIns="0" tIns="0" rIns="0" bIns="0" rtlCol="0"/>
            <a:lstStyle/>
            <a:p>
              <a:endParaRPr/>
            </a:p>
          </p:txBody>
        </p:sp>
        <p:sp>
          <p:nvSpPr>
            <p:cNvPr id="25" name="object 25"/>
            <p:cNvSpPr/>
            <p:nvPr/>
          </p:nvSpPr>
          <p:spPr>
            <a:xfrm>
              <a:off x="3212724" y="2340719"/>
              <a:ext cx="80645" cy="61594"/>
            </a:xfrm>
            <a:custGeom>
              <a:avLst/>
              <a:gdLst/>
              <a:ahLst/>
              <a:cxnLst/>
              <a:rect l="l" t="t" r="r" b="b"/>
              <a:pathLst>
                <a:path w="80645" h="61594">
                  <a:moveTo>
                    <a:pt x="62761" y="0"/>
                  </a:moveTo>
                  <a:lnTo>
                    <a:pt x="0" y="51082"/>
                  </a:lnTo>
                  <a:lnTo>
                    <a:pt x="80280" y="61299"/>
                  </a:lnTo>
                  <a:lnTo>
                    <a:pt x="70149" y="47614"/>
                  </a:lnTo>
                  <a:lnTo>
                    <a:pt x="63852" y="32837"/>
                  </a:lnTo>
                  <a:lnTo>
                    <a:pt x="61389" y="16966"/>
                  </a:lnTo>
                  <a:lnTo>
                    <a:pt x="62761" y="0"/>
                  </a:lnTo>
                  <a:close/>
                </a:path>
              </a:pathLst>
            </a:custGeom>
            <a:solidFill>
              <a:srgbClr val="231F20"/>
            </a:solidFill>
          </p:spPr>
          <p:txBody>
            <a:bodyPr wrap="square" lIns="0" tIns="0" rIns="0" bIns="0" rtlCol="0"/>
            <a:lstStyle/>
            <a:p>
              <a:endParaRPr/>
            </a:p>
          </p:txBody>
        </p:sp>
        <p:sp>
          <p:nvSpPr>
            <p:cNvPr id="26" name="object 26"/>
            <p:cNvSpPr/>
            <p:nvPr/>
          </p:nvSpPr>
          <p:spPr>
            <a:xfrm>
              <a:off x="3218785" y="2471173"/>
              <a:ext cx="160655" cy="269240"/>
            </a:xfrm>
            <a:custGeom>
              <a:avLst/>
              <a:gdLst/>
              <a:ahLst/>
              <a:cxnLst/>
              <a:rect l="l" t="t" r="r" b="b"/>
              <a:pathLst>
                <a:path w="160654" h="269239">
                  <a:moveTo>
                    <a:pt x="0" y="0"/>
                  </a:moveTo>
                  <a:lnTo>
                    <a:pt x="41145" y="7288"/>
                  </a:lnTo>
                  <a:lnTo>
                    <a:pt x="77173" y="20957"/>
                  </a:lnTo>
                  <a:lnTo>
                    <a:pt x="131582" y="63080"/>
                  </a:lnTo>
                  <a:lnTo>
                    <a:pt x="158643" y="117654"/>
                  </a:lnTo>
                  <a:lnTo>
                    <a:pt x="160484" y="146886"/>
                  </a:lnTo>
                  <a:lnTo>
                    <a:pt x="153768" y="175962"/>
                  </a:lnTo>
                  <a:lnTo>
                    <a:pt x="137923" y="203794"/>
                  </a:lnTo>
                  <a:lnTo>
                    <a:pt x="112374" y="229290"/>
                  </a:lnTo>
                  <a:lnTo>
                    <a:pt x="76548" y="251363"/>
                  </a:lnTo>
                  <a:lnTo>
                    <a:pt x="29873" y="268923"/>
                  </a:lnTo>
                </a:path>
              </a:pathLst>
            </a:custGeom>
            <a:ln w="5267">
              <a:solidFill>
                <a:srgbClr val="231F20"/>
              </a:solidFill>
            </a:ln>
          </p:spPr>
          <p:txBody>
            <a:bodyPr wrap="square" lIns="0" tIns="0" rIns="0" bIns="0" rtlCol="0"/>
            <a:lstStyle/>
            <a:p>
              <a:endParaRPr/>
            </a:p>
          </p:txBody>
        </p:sp>
        <p:sp>
          <p:nvSpPr>
            <p:cNvPr id="27" name="object 27"/>
            <p:cNvSpPr/>
            <p:nvPr/>
          </p:nvSpPr>
          <p:spPr>
            <a:xfrm>
              <a:off x="3212724" y="2699278"/>
              <a:ext cx="80645" cy="61594"/>
            </a:xfrm>
            <a:custGeom>
              <a:avLst/>
              <a:gdLst/>
              <a:ahLst/>
              <a:cxnLst/>
              <a:rect l="l" t="t" r="r" b="b"/>
              <a:pathLst>
                <a:path w="80645" h="61594">
                  <a:moveTo>
                    <a:pt x="62761" y="0"/>
                  </a:moveTo>
                  <a:lnTo>
                    <a:pt x="0" y="51082"/>
                  </a:lnTo>
                  <a:lnTo>
                    <a:pt x="80280" y="61299"/>
                  </a:lnTo>
                  <a:lnTo>
                    <a:pt x="70149" y="47617"/>
                  </a:lnTo>
                  <a:lnTo>
                    <a:pt x="63852" y="32839"/>
                  </a:lnTo>
                  <a:lnTo>
                    <a:pt x="61389" y="16966"/>
                  </a:lnTo>
                  <a:lnTo>
                    <a:pt x="62761" y="0"/>
                  </a:lnTo>
                  <a:close/>
                </a:path>
              </a:pathLst>
            </a:custGeom>
            <a:solidFill>
              <a:srgbClr val="231F20"/>
            </a:solidFill>
          </p:spPr>
          <p:txBody>
            <a:bodyPr wrap="square" lIns="0" tIns="0" rIns="0" bIns="0" rtlCol="0"/>
            <a:lstStyle/>
            <a:p>
              <a:endParaRPr/>
            </a:p>
          </p:txBody>
        </p:sp>
      </p:grpSp>
      <p:grpSp>
        <p:nvGrpSpPr>
          <p:cNvPr id="28" name="object 28"/>
          <p:cNvGrpSpPr/>
          <p:nvPr/>
        </p:nvGrpSpPr>
        <p:grpSpPr>
          <a:xfrm>
            <a:off x="2293721" y="2151891"/>
            <a:ext cx="169545" cy="292100"/>
            <a:chOff x="2293721" y="2151891"/>
            <a:chExt cx="169545" cy="292100"/>
          </a:xfrm>
        </p:grpSpPr>
        <p:sp>
          <p:nvSpPr>
            <p:cNvPr id="29" name="object 29"/>
            <p:cNvSpPr/>
            <p:nvPr/>
          </p:nvSpPr>
          <p:spPr>
            <a:xfrm>
              <a:off x="2296355" y="2172376"/>
              <a:ext cx="160655" cy="269240"/>
            </a:xfrm>
            <a:custGeom>
              <a:avLst/>
              <a:gdLst/>
              <a:ahLst/>
              <a:cxnLst/>
              <a:rect l="l" t="t" r="r" b="b"/>
              <a:pathLst>
                <a:path w="160655" h="269239">
                  <a:moveTo>
                    <a:pt x="160484" y="268914"/>
                  </a:moveTo>
                  <a:lnTo>
                    <a:pt x="119339" y="261626"/>
                  </a:lnTo>
                  <a:lnTo>
                    <a:pt x="83311" y="247958"/>
                  </a:lnTo>
                  <a:lnTo>
                    <a:pt x="28901" y="205837"/>
                  </a:lnTo>
                  <a:lnTo>
                    <a:pt x="1841" y="151266"/>
                  </a:lnTo>
                  <a:lnTo>
                    <a:pt x="0" y="122035"/>
                  </a:lnTo>
                  <a:lnTo>
                    <a:pt x="6715" y="92959"/>
                  </a:lnTo>
                  <a:lnTo>
                    <a:pt x="22561" y="65129"/>
                  </a:lnTo>
                  <a:lnTo>
                    <a:pt x="48110" y="39632"/>
                  </a:lnTo>
                  <a:lnTo>
                    <a:pt x="83936" y="17560"/>
                  </a:lnTo>
                  <a:lnTo>
                    <a:pt x="130611" y="0"/>
                  </a:lnTo>
                </a:path>
              </a:pathLst>
            </a:custGeom>
            <a:ln w="5267">
              <a:solidFill>
                <a:srgbClr val="231F20"/>
              </a:solidFill>
            </a:ln>
          </p:spPr>
          <p:txBody>
            <a:bodyPr wrap="square" lIns="0" tIns="0" rIns="0" bIns="0" rtlCol="0"/>
            <a:lstStyle/>
            <a:p>
              <a:endParaRPr/>
            </a:p>
          </p:txBody>
        </p:sp>
        <p:sp>
          <p:nvSpPr>
            <p:cNvPr id="30" name="object 30"/>
            <p:cNvSpPr/>
            <p:nvPr/>
          </p:nvSpPr>
          <p:spPr>
            <a:xfrm>
              <a:off x="2382642" y="2151891"/>
              <a:ext cx="80645" cy="61594"/>
            </a:xfrm>
            <a:custGeom>
              <a:avLst/>
              <a:gdLst/>
              <a:ahLst/>
              <a:cxnLst/>
              <a:rect l="l" t="t" r="r" b="b"/>
              <a:pathLst>
                <a:path w="80644" h="61594">
                  <a:moveTo>
                    <a:pt x="0" y="0"/>
                  </a:moveTo>
                  <a:lnTo>
                    <a:pt x="10119" y="13684"/>
                  </a:lnTo>
                  <a:lnTo>
                    <a:pt x="16411" y="28462"/>
                  </a:lnTo>
                  <a:lnTo>
                    <a:pt x="18874" y="44334"/>
                  </a:lnTo>
                  <a:lnTo>
                    <a:pt x="17508" y="61303"/>
                  </a:lnTo>
                  <a:lnTo>
                    <a:pt x="80259" y="10216"/>
                  </a:lnTo>
                  <a:lnTo>
                    <a:pt x="0" y="0"/>
                  </a:lnTo>
                  <a:close/>
                </a:path>
              </a:pathLst>
            </a:custGeom>
            <a:solidFill>
              <a:srgbClr val="231F20"/>
            </a:solidFill>
          </p:spPr>
          <p:txBody>
            <a:bodyPr wrap="square" lIns="0" tIns="0" rIns="0" bIns="0" rtlCol="0"/>
            <a:lstStyle/>
            <a:p>
              <a:endParaRPr/>
            </a:p>
          </p:txBody>
        </p:sp>
      </p:grpSp>
      <p:grpSp>
        <p:nvGrpSpPr>
          <p:cNvPr id="31" name="object 31"/>
          <p:cNvGrpSpPr/>
          <p:nvPr/>
        </p:nvGrpSpPr>
        <p:grpSpPr>
          <a:xfrm>
            <a:off x="2293721" y="2495512"/>
            <a:ext cx="169545" cy="292100"/>
            <a:chOff x="2293721" y="2495512"/>
            <a:chExt cx="169545" cy="292100"/>
          </a:xfrm>
        </p:grpSpPr>
        <p:sp>
          <p:nvSpPr>
            <p:cNvPr id="32" name="object 32"/>
            <p:cNvSpPr/>
            <p:nvPr/>
          </p:nvSpPr>
          <p:spPr>
            <a:xfrm>
              <a:off x="2296355" y="2515993"/>
              <a:ext cx="160655" cy="269240"/>
            </a:xfrm>
            <a:custGeom>
              <a:avLst/>
              <a:gdLst/>
              <a:ahLst/>
              <a:cxnLst/>
              <a:rect l="l" t="t" r="r" b="b"/>
              <a:pathLst>
                <a:path w="160655" h="269239">
                  <a:moveTo>
                    <a:pt x="160484" y="268923"/>
                  </a:moveTo>
                  <a:lnTo>
                    <a:pt x="119339" y="261633"/>
                  </a:lnTo>
                  <a:lnTo>
                    <a:pt x="83311" y="247964"/>
                  </a:lnTo>
                  <a:lnTo>
                    <a:pt x="28901" y="205841"/>
                  </a:lnTo>
                  <a:lnTo>
                    <a:pt x="1841" y="151268"/>
                  </a:lnTo>
                  <a:lnTo>
                    <a:pt x="0" y="122037"/>
                  </a:lnTo>
                  <a:lnTo>
                    <a:pt x="6715" y="92961"/>
                  </a:lnTo>
                  <a:lnTo>
                    <a:pt x="22561" y="65130"/>
                  </a:lnTo>
                  <a:lnTo>
                    <a:pt x="48110" y="39633"/>
                  </a:lnTo>
                  <a:lnTo>
                    <a:pt x="83936" y="17560"/>
                  </a:lnTo>
                  <a:lnTo>
                    <a:pt x="130611" y="0"/>
                  </a:lnTo>
                </a:path>
              </a:pathLst>
            </a:custGeom>
            <a:ln w="5267">
              <a:solidFill>
                <a:srgbClr val="231F20"/>
              </a:solidFill>
            </a:ln>
          </p:spPr>
          <p:txBody>
            <a:bodyPr wrap="square" lIns="0" tIns="0" rIns="0" bIns="0" rtlCol="0"/>
            <a:lstStyle/>
            <a:p>
              <a:endParaRPr/>
            </a:p>
          </p:txBody>
        </p:sp>
        <p:sp>
          <p:nvSpPr>
            <p:cNvPr id="33" name="object 33"/>
            <p:cNvSpPr/>
            <p:nvPr/>
          </p:nvSpPr>
          <p:spPr>
            <a:xfrm>
              <a:off x="2382642" y="2495512"/>
              <a:ext cx="80645" cy="61594"/>
            </a:xfrm>
            <a:custGeom>
              <a:avLst/>
              <a:gdLst/>
              <a:ahLst/>
              <a:cxnLst/>
              <a:rect l="l" t="t" r="r" b="b"/>
              <a:pathLst>
                <a:path w="80644" h="61594">
                  <a:moveTo>
                    <a:pt x="0" y="0"/>
                  </a:moveTo>
                  <a:lnTo>
                    <a:pt x="10119" y="13682"/>
                  </a:lnTo>
                  <a:lnTo>
                    <a:pt x="16411" y="28461"/>
                  </a:lnTo>
                  <a:lnTo>
                    <a:pt x="18874" y="44335"/>
                  </a:lnTo>
                  <a:lnTo>
                    <a:pt x="17508" y="61302"/>
                  </a:lnTo>
                  <a:lnTo>
                    <a:pt x="80259" y="10219"/>
                  </a:lnTo>
                  <a:lnTo>
                    <a:pt x="0" y="0"/>
                  </a:lnTo>
                  <a:close/>
                </a:path>
              </a:pathLst>
            </a:custGeom>
            <a:solidFill>
              <a:srgbClr val="231F20"/>
            </a:solidFill>
          </p:spPr>
          <p:txBody>
            <a:bodyPr wrap="square" lIns="0" tIns="0" rIns="0" bIns="0" rtlCol="0"/>
            <a:lstStyle/>
            <a:p>
              <a:endParaRPr/>
            </a:p>
          </p:txBody>
        </p:sp>
      </p:grpSp>
      <p:sp>
        <p:nvSpPr>
          <p:cNvPr id="34" name="object 34"/>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8" action="ppaction://hlinksldjump"/>
              </a:rPr>
              <a:t>Implementation of</a:t>
            </a:r>
            <a:r>
              <a:rPr sz="60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name</a:t>
            </a:r>
            <a:r>
              <a:rPr sz="60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resolution</a:t>
            </a:r>
            <a:endParaRPr sz="600">
              <a:latin typeface="Arial"/>
              <a:cs typeface="Arial"/>
            </a:endParaRPr>
          </a:p>
        </p:txBody>
      </p:sp>
      <p:sp>
        <p:nvSpPr>
          <p:cNvPr id="35" name="object 3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34</a:t>
            </a:r>
            <a:r>
              <a:rPr spc="-40" dirty="0"/>
              <a:t> </a:t>
            </a:r>
            <a:r>
              <a:rPr spc="-5" dirty="0"/>
              <a:t>/</a:t>
            </a:r>
            <a:r>
              <a:rPr spc="-35" dirty="0"/>
              <a:t> </a:t>
            </a:r>
            <a:r>
              <a:rPr spc="-5" dirty="0"/>
              <a:t>46</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Implementation 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name</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resolution</a:t>
            </a:r>
            <a:endParaRPr sz="6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35</a:t>
            </a:r>
            <a:r>
              <a:rPr spc="-40" dirty="0"/>
              <a:t> </a:t>
            </a:r>
            <a:r>
              <a:rPr spc="-5" dirty="0"/>
              <a:t>/</a:t>
            </a:r>
            <a:r>
              <a:rPr spc="-35" dirty="0"/>
              <a:t> </a:t>
            </a:r>
            <a:r>
              <a:rPr spc="-5" dirty="0"/>
              <a:t>46</a:t>
            </a: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Structured naming</a:t>
            </a:r>
            <a:endParaRPr sz="600">
              <a:latin typeface="Arial"/>
              <a:cs typeface="Arial"/>
            </a:endParaRPr>
          </a:p>
        </p:txBody>
      </p:sp>
      <p:sp>
        <p:nvSpPr>
          <p:cNvPr id="3" name="object 3"/>
          <p:cNvSpPr txBox="1"/>
          <p:nvPr/>
        </p:nvSpPr>
        <p:spPr>
          <a:xfrm>
            <a:off x="3266931" y="716"/>
            <a:ext cx="12744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The implementation of</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a name space</a:t>
            </a:r>
            <a:endParaRPr sz="600">
              <a:latin typeface="Arial"/>
              <a:cs typeface="Arial"/>
            </a:endParaRPr>
          </a:p>
        </p:txBody>
      </p:sp>
      <p:sp>
        <p:nvSpPr>
          <p:cNvPr id="4" name="object 4"/>
          <p:cNvSpPr txBox="1"/>
          <p:nvPr/>
        </p:nvSpPr>
        <p:spPr>
          <a:xfrm>
            <a:off x="95300" y="188846"/>
            <a:ext cx="3205480" cy="71691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Caching</a:t>
            </a:r>
            <a:r>
              <a:rPr sz="1400" dirty="0">
                <a:solidFill>
                  <a:srgbClr val="3333B2"/>
                </a:solidFill>
                <a:latin typeface="Arial"/>
                <a:cs typeface="Arial"/>
              </a:rPr>
              <a:t> </a:t>
            </a:r>
            <a:r>
              <a:rPr sz="1400" spc="10" dirty="0">
                <a:solidFill>
                  <a:srgbClr val="3333B2"/>
                </a:solidFill>
                <a:latin typeface="Arial"/>
                <a:cs typeface="Arial"/>
              </a:rPr>
              <a:t>in</a:t>
            </a:r>
            <a:r>
              <a:rPr sz="1400" spc="5" dirty="0">
                <a:solidFill>
                  <a:srgbClr val="3333B2"/>
                </a:solidFill>
                <a:latin typeface="Arial"/>
                <a:cs typeface="Arial"/>
              </a:rPr>
              <a:t> </a:t>
            </a:r>
            <a:r>
              <a:rPr sz="1400" spc="10" dirty="0">
                <a:solidFill>
                  <a:srgbClr val="3333B2"/>
                </a:solidFill>
                <a:latin typeface="Arial"/>
                <a:cs typeface="Arial"/>
              </a:rPr>
              <a:t>recursive</a:t>
            </a:r>
            <a:r>
              <a:rPr sz="1400" spc="5" dirty="0">
                <a:solidFill>
                  <a:srgbClr val="3333B2"/>
                </a:solidFill>
                <a:latin typeface="Arial"/>
                <a:cs typeface="Arial"/>
              </a:rPr>
              <a:t> </a:t>
            </a:r>
            <a:r>
              <a:rPr sz="1400" spc="20" dirty="0">
                <a:solidFill>
                  <a:srgbClr val="3333B2"/>
                </a:solidFill>
                <a:latin typeface="Arial"/>
                <a:cs typeface="Arial"/>
              </a:rPr>
              <a:t>name</a:t>
            </a:r>
            <a:r>
              <a:rPr sz="1400" dirty="0">
                <a:solidFill>
                  <a:srgbClr val="3333B2"/>
                </a:solidFill>
                <a:latin typeface="Arial"/>
                <a:cs typeface="Arial"/>
              </a:rPr>
              <a:t> </a:t>
            </a:r>
            <a:r>
              <a:rPr sz="1400" spc="10" dirty="0">
                <a:solidFill>
                  <a:srgbClr val="3333B2"/>
                </a:solidFill>
                <a:latin typeface="Arial"/>
                <a:cs typeface="Arial"/>
              </a:rPr>
              <a:t>resolution</a:t>
            </a:r>
            <a:endParaRPr sz="1400">
              <a:latin typeface="Arial"/>
              <a:cs typeface="Arial"/>
            </a:endParaRPr>
          </a:p>
          <a:p>
            <a:pPr>
              <a:lnSpc>
                <a:spcPct val="100000"/>
              </a:lnSpc>
              <a:spcBef>
                <a:spcPts val="45"/>
              </a:spcBef>
            </a:pPr>
            <a:endParaRPr sz="1950">
              <a:latin typeface="Arial"/>
              <a:cs typeface="Arial"/>
            </a:endParaRPr>
          </a:p>
          <a:p>
            <a:pPr marL="264160">
              <a:lnSpc>
                <a:spcPct val="100000"/>
              </a:lnSpc>
            </a:pPr>
            <a:r>
              <a:rPr sz="1200" spc="-10" dirty="0">
                <a:solidFill>
                  <a:srgbClr val="3333B2"/>
                </a:solidFill>
                <a:latin typeface="Arial"/>
                <a:cs typeface="Arial"/>
              </a:rPr>
              <a:t>Recursive</a:t>
            </a:r>
            <a:r>
              <a:rPr sz="1200" spc="-5" dirty="0">
                <a:solidFill>
                  <a:srgbClr val="3333B2"/>
                </a:solidFill>
                <a:latin typeface="Arial"/>
                <a:cs typeface="Arial"/>
              </a:rPr>
              <a:t> name resolution</a:t>
            </a:r>
            <a:r>
              <a:rPr sz="1200" dirty="0">
                <a:solidFill>
                  <a:srgbClr val="3333B2"/>
                </a:solidFill>
                <a:latin typeface="Arial"/>
                <a:cs typeface="Arial"/>
              </a:rPr>
              <a:t> </a:t>
            </a:r>
            <a:r>
              <a:rPr sz="1200" spc="-5" dirty="0">
                <a:solidFill>
                  <a:srgbClr val="3333B2"/>
                </a:solidFill>
                <a:latin typeface="Arial"/>
                <a:cs typeface="Arial"/>
              </a:rPr>
              <a:t>of [</a:t>
            </a:r>
            <a:r>
              <a:rPr sz="1200" i="1" spc="-5" dirty="0">
                <a:solidFill>
                  <a:srgbClr val="3333B2"/>
                </a:solidFill>
                <a:latin typeface="Arial"/>
                <a:cs typeface="Arial"/>
              </a:rPr>
              <a:t>nl</a:t>
            </a:r>
            <a:r>
              <a:rPr sz="1200" i="1" spc="-235" dirty="0">
                <a:solidFill>
                  <a:srgbClr val="3333B2"/>
                </a:solidFill>
                <a:latin typeface="Arial"/>
                <a:cs typeface="Arial"/>
              </a:rPr>
              <a:t> </a:t>
            </a:r>
            <a:r>
              <a:rPr sz="1200" spc="-5" dirty="0">
                <a:solidFill>
                  <a:srgbClr val="3333B2"/>
                </a:solidFill>
                <a:latin typeface="Arial"/>
                <a:cs typeface="Arial"/>
              </a:rPr>
              <a:t>,</a:t>
            </a:r>
            <a:r>
              <a:rPr sz="1200" dirty="0">
                <a:solidFill>
                  <a:srgbClr val="3333B2"/>
                </a:solidFill>
                <a:latin typeface="Arial"/>
                <a:cs typeface="Arial"/>
              </a:rPr>
              <a:t> </a:t>
            </a:r>
            <a:r>
              <a:rPr sz="1200" i="1" spc="10" dirty="0">
                <a:solidFill>
                  <a:srgbClr val="3333B2"/>
                </a:solidFill>
                <a:latin typeface="Arial"/>
                <a:cs typeface="Arial"/>
              </a:rPr>
              <a:t>vu</a:t>
            </a:r>
            <a:r>
              <a:rPr sz="1200" spc="10" dirty="0">
                <a:solidFill>
                  <a:srgbClr val="3333B2"/>
                </a:solidFill>
                <a:latin typeface="Arial"/>
                <a:cs typeface="Arial"/>
              </a:rPr>
              <a:t>,</a:t>
            </a:r>
            <a:r>
              <a:rPr sz="1200" spc="-5" dirty="0">
                <a:solidFill>
                  <a:srgbClr val="3333B2"/>
                </a:solidFill>
                <a:latin typeface="Arial"/>
                <a:cs typeface="Arial"/>
              </a:rPr>
              <a:t> </a:t>
            </a:r>
            <a:r>
              <a:rPr sz="1200" i="1" spc="5" dirty="0">
                <a:solidFill>
                  <a:srgbClr val="3333B2"/>
                </a:solidFill>
                <a:latin typeface="Arial"/>
                <a:cs typeface="Arial"/>
              </a:rPr>
              <a:t>cs</a:t>
            </a:r>
            <a:r>
              <a:rPr sz="1200" spc="5" dirty="0">
                <a:solidFill>
                  <a:srgbClr val="3333B2"/>
                </a:solidFill>
                <a:latin typeface="Arial"/>
                <a:cs typeface="Arial"/>
              </a:rPr>
              <a:t>,</a:t>
            </a:r>
            <a:r>
              <a:rPr sz="1200" i="1" spc="5" dirty="0">
                <a:solidFill>
                  <a:srgbClr val="3333B2"/>
                </a:solidFill>
                <a:latin typeface="Arial"/>
                <a:cs typeface="Arial"/>
              </a:rPr>
              <a:t>ftp</a:t>
            </a:r>
            <a:r>
              <a:rPr sz="1200" spc="5" dirty="0">
                <a:solidFill>
                  <a:srgbClr val="3333B2"/>
                </a:solidFill>
                <a:latin typeface="Arial"/>
                <a:cs typeface="Arial"/>
              </a:rPr>
              <a:t>]</a:t>
            </a:r>
            <a:endParaRPr sz="1200">
              <a:latin typeface="Arial"/>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3736483491"/>
              </p:ext>
            </p:extLst>
          </p:nvPr>
        </p:nvGraphicFramePr>
        <p:xfrm>
          <a:off x="360006" y="1015034"/>
          <a:ext cx="3939605" cy="1769110"/>
        </p:xfrm>
        <a:graphic>
          <a:graphicData uri="http://schemas.openxmlformats.org/drawingml/2006/table">
            <a:tbl>
              <a:tblPr firstRow="1" bandRow="1">
                <a:tableStyleId>{2D5ABB26-0587-4C30-8999-92F81FD0307C}</a:tableStyleId>
              </a:tblPr>
              <a:tblGrid>
                <a:gridCol w="649267">
                  <a:extLst>
                    <a:ext uri="{9D8B030D-6E8A-4147-A177-3AD203B41FA5}">
                      <a16:colId xmlns:a16="http://schemas.microsoft.com/office/drawing/2014/main" val="20000"/>
                    </a:ext>
                  </a:extLst>
                </a:gridCol>
                <a:gridCol w="649267">
                  <a:extLst>
                    <a:ext uri="{9D8B030D-6E8A-4147-A177-3AD203B41FA5}">
                      <a16:colId xmlns:a16="http://schemas.microsoft.com/office/drawing/2014/main" val="20001"/>
                    </a:ext>
                  </a:extLst>
                </a:gridCol>
                <a:gridCol w="649267">
                  <a:extLst>
                    <a:ext uri="{9D8B030D-6E8A-4147-A177-3AD203B41FA5}">
                      <a16:colId xmlns:a16="http://schemas.microsoft.com/office/drawing/2014/main" val="20002"/>
                    </a:ext>
                  </a:extLst>
                </a:gridCol>
                <a:gridCol w="649266">
                  <a:extLst>
                    <a:ext uri="{9D8B030D-6E8A-4147-A177-3AD203B41FA5}">
                      <a16:colId xmlns:a16="http://schemas.microsoft.com/office/drawing/2014/main" val="20003"/>
                    </a:ext>
                  </a:extLst>
                </a:gridCol>
                <a:gridCol w="649266">
                  <a:extLst>
                    <a:ext uri="{9D8B030D-6E8A-4147-A177-3AD203B41FA5}">
                      <a16:colId xmlns:a16="http://schemas.microsoft.com/office/drawing/2014/main" val="20004"/>
                    </a:ext>
                  </a:extLst>
                </a:gridCol>
                <a:gridCol w="693272">
                  <a:extLst>
                    <a:ext uri="{9D8B030D-6E8A-4147-A177-3AD203B41FA5}">
                      <a16:colId xmlns:a16="http://schemas.microsoft.com/office/drawing/2014/main" val="20005"/>
                    </a:ext>
                  </a:extLst>
                </a:gridCol>
              </a:tblGrid>
              <a:tr h="300355">
                <a:tc>
                  <a:txBody>
                    <a:bodyPr/>
                    <a:lstStyle/>
                    <a:p>
                      <a:pPr marL="40005">
                        <a:lnSpc>
                          <a:spcPct val="100000"/>
                        </a:lnSpc>
                        <a:spcBef>
                          <a:spcPts val="15"/>
                        </a:spcBef>
                      </a:pPr>
                      <a:r>
                        <a:rPr sz="800" spc="-5" dirty="0">
                          <a:latin typeface="Arial"/>
                          <a:cs typeface="Arial"/>
                        </a:rPr>
                        <a:t>Server</a:t>
                      </a:r>
                      <a:endParaRPr sz="800">
                        <a:latin typeface="Arial"/>
                        <a:cs typeface="Arial"/>
                      </a:endParaRPr>
                    </a:p>
                    <a:p>
                      <a:pPr marL="40005">
                        <a:lnSpc>
                          <a:spcPct val="100000"/>
                        </a:lnSpc>
                        <a:spcBef>
                          <a:spcPts val="175"/>
                        </a:spcBef>
                      </a:pPr>
                      <a:r>
                        <a:rPr sz="800" spc="-10" dirty="0">
                          <a:latin typeface="Arial"/>
                          <a:cs typeface="Arial"/>
                        </a:rPr>
                        <a:t>for</a:t>
                      </a:r>
                      <a:r>
                        <a:rPr sz="800" spc="-45" dirty="0">
                          <a:latin typeface="Arial"/>
                          <a:cs typeface="Arial"/>
                        </a:rPr>
                        <a:t> </a:t>
                      </a:r>
                      <a:r>
                        <a:rPr sz="800" spc="-5" dirty="0">
                          <a:latin typeface="Arial"/>
                          <a:cs typeface="Arial"/>
                        </a:rPr>
                        <a:t>node</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0005">
                        <a:lnSpc>
                          <a:spcPct val="100000"/>
                        </a:lnSpc>
                        <a:spcBef>
                          <a:spcPts val="15"/>
                        </a:spcBef>
                      </a:pPr>
                      <a:r>
                        <a:rPr sz="800" spc="-5" dirty="0">
                          <a:latin typeface="Arial"/>
                          <a:cs typeface="Arial"/>
                        </a:rPr>
                        <a:t>Should</a:t>
                      </a:r>
                      <a:endParaRPr sz="800">
                        <a:latin typeface="Arial"/>
                        <a:cs typeface="Arial"/>
                      </a:endParaRPr>
                    </a:p>
                    <a:p>
                      <a:pPr marL="40005">
                        <a:lnSpc>
                          <a:spcPct val="100000"/>
                        </a:lnSpc>
                        <a:spcBef>
                          <a:spcPts val="175"/>
                        </a:spcBef>
                      </a:pPr>
                      <a:r>
                        <a:rPr sz="800" spc="-5" dirty="0">
                          <a:latin typeface="Arial"/>
                          <a:cs typeface="Arial"/>
                        </a:rPr>
                        <a:t>resolve</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0005">
                        <a:lnSpc>
                          <a:spcPct val="100000"/>
                        </a:lnSpc>
                        <a:spcBef>
                          <a:spcPts val="15"/>
                        </a:spcBef>
                      </a:pPr>
                      <a:r>
                        <a:rPr sz="800" spc="-5" dirty="0">
                          <a:latin typeface="Arial"/>
                          <a:cs typeface="Arial"/>
                        </a:rPr>
                        <a:t>Looks</a:t>
                      </a:r>
                      <a:r>
                        <a:rPr sz="800" spc="-40" dirty="0">
                          <a:latin typeface="Arial"/>
                          <a:cs typeface="Arial"/>
                        </a:rPr>
                        <a:t> </a:t>
                      </a:r>
                      <a:r>
                        <a:rPr sz="800" spc="-5" dirty="0">
                          <a:latin typeface="Arial"/>
                          <a:cs typeface="Arial"/>
                        </a:rPr>
                        <a:t>up</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0005">
                        <a:lnSpc>
                          <a:spcPct val="100000"/>
                        </a:lnSpc>
                        <a:spcBef>
                          <a:spcPts val="15"/>
                        </a:spcBef>
                      </a:pPr>
                      <a:r>
                        <a:rPr sz="800" spc="-10" dirty="0">
                          <a:latin typeface="Arial"/>
                          <a:cs typeface="Arial"/>
                        </a:rPr>
                        <a:t>Passes</a:t>
                      </a:r>
                      <a:r>
                        <a:rPr sz="800" spc="-40" dirty="0">
                          <a:latin typeface="Arial"/>
                          <a:cs typeface="Arial"/>
                        </a:rPr>
                        <a:t> </a:t>
                      </a:r>
                      <a:r>
                        <a:rPr sz="800" spc="-5" dirty="0">
                          <a:latin typeface="Arial"/>
                          <a:cs typeface="Arial"/>
                        </a:rPr>
                        <a:t>to</a:t>
                      </a:r>
                      <a:endParaRPr sz="800">
                        <a:latin typeface="Arial"/>
                        <a:cs typeface="Arial"/>
                      </a:endParaRPr>
                    </a:p>
                    <a:p>
                      <a:pPr marL="40005">
                        <a:lnSpc>
                          <a:spcPct val="100000"/>
                        </a:lnSpc>
                        <a:spcBef>
                          <a:spcPts val="175"/>
                        </a:spcBef>
                      </a:pPr>
                      <a:r>
                        <a:rPr sz="800" spc="-5" dirty="0">
                          <a:latin typeface="Arial"/>
                          <a:cs typeface="Arial"/>
                        </a:rPr>
                        <a:t>child</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0005">
                        <a:lnSpc>
                          <a:spcPct val="100000"/>
                        </a:lnSpc>
                        <a:spcBef>
                          <a:spcPts val="15"/>
                        </a:spcBef>
                      </a:pPr>
                      <a:r>
                        <a:rPr sz="800" spc="-5" dirty="0">
                          <a:latin typeface="Arial"/>
                          <a:cs typeface="Arial"/>
                        </a:rPr>
                        <a:t>Receives</a:t>
                      </a:r>
                      <a:endParaRPr sz="800">
                        <a:latin typeface="Arial"/>
                        <a:cs typeface="Arial"/>
                      </a:endParaRPr>
                    </a:p>
                    <a:p>
                      <a:pPr marL="40005">
                        <a:lnSpc>
                          <a:spcPct val="100000"/>
                        </a:lnSpc>
                        <a:spcBef>
                          <a:spcPts val="175"/>
                        </a:spcBef>
                      </a:pPr>
                      <a:r>
                        <a:rPr sz="800" spc="-5" dirty="0">
                          <a:latin typeface="Arial"/>
                          <a:cs typeface="Arial"/>
                        </a:rPr>
                        <a:t>and</a:t>
                      </a:r>
                      <a:r>
                        <a:rPr sz="800" spc="-40" dirty="0">
                          <a:latin typeface="Arial"/>
                          <a:cs typeface="Arial"/>
                        </a:rPr>
                        <a:t> </a:t>
                      </a:r>
                      <a:r>
                        <a:rPr sz="800" spc="-5" dirty="0">
                          <a:latin typeface="Arial"/>
                          <a:cs typeface="Arial"/>
                        </a:rPr>
                        <a:t>caches</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0005" marR="12065">
                        <a:lnSpc>
                          <a:spcPct val="100000"/>
                        </a:lnSpc>
                        <a:spcBef>
                          <a:spcPts val="15"/>
                        </a:spcBef>
                      </a:pPr>
                      <a:r>
                        <a:rPr sz="800" dirty="0">
                          <a:latin typeface="Arial"/>
                          <a:cs typeface="Arial"/>
                        </a:rPr>
                        <a:t>Returns</a:t>
                      </a:r>
                      <a:endParaRPr sz="800">
                        <a:latin typeface="Arial"/>
                        <a:cs typeface="Arial"/>
                      </a:endParaRPr>
                    </a:p>
                    <a:p>
                      <a:pPr marL="40005" marR="12065">
                        <a:lnSpc>
                          <a:spcPct val="100000"/>
                        </a:lnSpc>
                        <a:spcBef>
                          <a:spcPts val="175"/>
                        </a:spcBef>
                      </a:pPr>
                      <a:r>
                        <a:rPr sz="800" spc="-5" dirty="0">
                          <a:latin typeface="Arial"/>
                          <a:cs typeface="Arial"/>
                        </a:rPr>
                        <a:t>to</a:t>
                      </a:r>
                      <a:r>
                        <a:rPr sz="800" spc="-35" dirty="0">
                          <a:latin typeface="Arial"/>
                          <a:cs typeface="Arial"/>
                        </a:rPr>
                        <a:t> </a:t>
                      </a:r>
                      <a:r>
                        <a:rPr sz="800" spc="-5" dirty="0">
                          <a:latin typeface="Arial"/>
                          <a:cs typeface="Arial"/>
                        </a:rPr>
                        <a:t>requester</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210">
                <a:tc>
                  <a:txBody>
                    <a:bodyPr/>
                    <a:lstStyle/>
                    <a:p>
                      <a:pPr marL="40005">
                        <a:lnSpc>
                          <a:spcPct val="100000"/>
                        </a:lnSpc>
                        <a:spcBef>
                          <a:spcPts val="70"/>
                        </a:spcBef>
                      </a:pPr>
                      <a:r>
                        <a:rPr sz="800" i="1" spc="-5" dirty="0">
                          <a:latin typeface="Arial"/>
                          <a:cs typeface="Arial"/>
                        </a:rPr>
                        <a:t>cs</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40005">
                        <a:lnSpc>
                          <a:spcPct val="100000"/>
                        </a:lnSpc>
                        <a:spcBef>
                          <a:spcPts val="70"/>
                        </a:spcBef>
                      </a:pPr>
                      <a:r>
                        <a:rPr sz="800" dirty="0">
                          <a:latin typeface="Arial"/>
                          <a:cs typeface="Arial"/>
                        </a:rPr>
                        <a:t>[</a:t>
                      </a:r>
                      <a:r>
                        <a:rPr sz="800" i="1" dirty="0">
                          <a:latin typeface="Arial"/>
                          <a:cs typeface="Arial"/>
                        </a:rPr>
                        <a:t>ftp</a:t>
                      </a:r>
                      <a:r>
                        <a:rPr sz="800" dirty="0">
                          <a:latin typeface="Arial"/>
                          <a:cs typeface="Arial"/>
                        </a:rPr>
                        <a:t>]</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40005">
                        <a:lnSpc>
                          <a:spcPct val="100000"/>
                        </a:lnSpc>
                        <a:spcBef>
                          <a:spcPts val="70"/>
                        </a:spcBef>
                      </a:pPr>
                      <a:r>
                        <a:rPr sz="800" dirty="0">
                          <a:latin typeface="Arial"/>
                          <a:cs typeface="Arial"/>
                        </a:rPr>
                        <a:t>#[</a:t>
                      </a:r>
                      <a:r>
                        <a:rPr sz="800" i="1" dirty="0">
                          <a:latin typeface="Arial"/>
                          <a:cs typeface="Arial"/>
                        </a:rPr>
                        <a:t>ftp</a:t>
                      </a:r>
                      <a:r>
                        <a:rPr sz="800" dirty="0">
                          <a:latin typeface="Arial"/>
                          <a:cs typeface="Arial"/>
                        </a:rPr>
                        <a:t>]</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40005">
                        <a:lnSpc>
                          <a:spcPct val="100000"/>
                        </a:lnSpc>
                        <a:spcBef>
                          <a:spcPts val="70"/>
                        </a:spcBef>
                      </a:pPr>
                      <a:r>
                        <a:rPr sz="800" dirty="0">
                          <a:latin typeface="Arial"/>
                          <a:cs typeface="Arial"/>
                        </a:rPr>
                        <a:t>—</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40005">
                        <a:lnSpc>
                          <a:spcPct val="100000"/>
                        </a:lnSpc>
                        <a:spcBef>
                          <a:spcPts val="70"/>
                        </a:spcBef>
                      </a:pPr>
                      <a:r>
                        <a:rPr sz="800" dirty="0">
                          <a:latin typeface="Arial"/>
                          <a:cs typeface="Arial"/>
                        </a:rPr>
                        <a:t>—</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40005" marR="12065">
                        <a:lnSpc>
                          <a:spcPct val="100000"/>
                        </a:lnSpc>
                        <a:spcBef>
                          <a:spcPts val="70"/>
                        </a:spcBef>
                      </a:pPr>
                      <a:r>
                        <a:rPr sz="800" dirty="0">
                          <a:latin typeface="Arial"/>
                          <a:cs typeface="Arial"/>
                        </a:rPr>
                        <a:t>#[</a:t>
                      </a:r>
                      <a:r>
                        <a:rPr sz="800" i="1" dirty="0">
                          <a:latin typeface="Arial"/>
                          <a:cs typeface="Arial"/>
                        </a:rPr>
                        <a:t>ftp</a:t>
                      </a:r>
                      <a:r>
                        <a:rPr sz="800" dirty="0">
                          <a:latin typeface="Arial"/>
                          <a:cs typeface="Arial"/>
                        </a:rPr>
                        <a:t>]</a:t>
                      </a:r>
                      <a:endParaRPr sz="800">
                        <a:latin typeface="Arial"/>
                        <a:cs typeface="Arial"/>
                      </a:endParaRPr>
                    </a:p>
                  </a:txBody>
                  <a:tcPr marL="0" marR="0" marT="889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93370">
                <a:tc>
                  <a:txBody>
                    <a:bodyPr/>
                    <a:lstStyle/>
                    <a:p>
                      <a:pPr marL="40005">
                        <a:lnSpc>
                          <a:spcPct val="100000"/>
                        </a:lnSpc>
                        <a:spcBef>
                          <a:spcPts val="15"/>
                        </a:spcBef>
                      </a:pPr>
                      <a:r>
                        <a:rPr sz="800" i="1" spc="-5" dirty="0">
                          <a:latin typeface="Arial"/>
                          <a:cs typeface="Arial"/>
                        </a:rPr>
                        <a:t>vu</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cs</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ftp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ftp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marR="12065">
                        <a:lnSpc>
                          <a:spcPct val="100000"/>
                        </a:lnSpc>
                        <a:spcBef>
                          <a:spcPts val="15"/>
                        </a:spcBef>
                      </a:pPr>
                      <a:r>
                        <a:rPr sz="800" dirty="0">
                          <a:latin typeface="Arial"/>
                          <a:cs typeface="Arial"/>
                        </a:rPr>
                        <a:t>#[</a:t>
                      </a:r>
                      <a:r>
                        <a:rPr sz="800" i="1" dirty="0">
                          <a:latin typeface="Arial"/>
                          <a:cs typeface="Arial"/>
                        </a:rPr>
                        <a:t>cs</a:t>
                      </a:r>
                      <a:r>
                        <a:rPr sz="800" dirty="0">
                          <a:latin typeface="Arial"/>
                          <a:cs typeface="Arial"/>
                        </a:rPr>
                        <a:t>]</a:t>
                      </a:r>
                      <a:endParaRPr sz="800">
                        <a:latin typeface="Arial"/>
                        <a:cs typeface="Arial"/>
                      </a:endParaRPr>
                    </a:p>
                    <a:p>
                      <a:pPr marL="40005" marR="12065">
                        <a:lnSpc>
                          <a:spcPct val="100000"/>
                        </a:lnSpc>
                        <a:spcBef>
                          <a:spcPts val="175"/>
                        </a:spcBef>
                      </a:pPr>
                      <a:r>
                        <a:rPr sz="800" dirty="0">
                          <a:latin typeface="Arial"/>
                          <a:cs typeface="Arial"/>
                        </a:rPr>
                        <a:t>#[</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37515">
                <a:tc>
                  <a:txBody>
                    <a:bodyPr/>
                    <a:lstStyle/>
                    <a:p>
                      <a:pPr marL="40005">
                        <a:lnSpc>
                          <a:spcPct val="100000"/>
                        </a:lnSpc>
                        <a:spcBef>
                          <a:spcPts val="15"/>
                        </a:spcBef>
                      </a:pPr>
                      <a:r>
                        <a:rPr sz="800" i="1" spc="-5" dirty="0">
                          <a:latin typeface="Arial"/>
                          <a:cs typeface="Arial"/>
                        </a:rPr>
                        <a:t>nl</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spc="5" dirty="0">
                          <a:latin typeface="Arial"/>
                          <a:cs typeface="Arial"/>
                        </a:rPr>
                        <a:t>#[</a:t>
                      </a:r>
                      <a:r>
                        <a:rPr sz="800" i="1" spc="5" dirty="0">
                          <a:latin typeface="Arial"/>
                          <a:cs typeface="Arial"/>
                        </a:rPr>
                        <a:t>vu</a:t>
                      </a:r>
                      <a:r>
                        <a:rPr sz="800" spc="5"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cs</a:t>
                      </a:r>
                      <a:r>
                        <a:rPr sz="800" dirty="0">
                          <a:latin typeface="Arial"/>
                          <a:cs typeface="Arial"/>
                        </a:rPr>
                        <a:t>]</a:t>
                      </a:r>
                      <a:endParaRPr sz="800">
                        <a:latin typeface="Arial"/>
                        <a:cs typeface="Arial"/>
                      </a:endParaRPr>
                    </a:p>
                    <a:p>
                      <a:pPr marL="40005">
                        <a:lnSpc>
                          <a:spcPct val="100000"/>
                        </a:lnSpc>
                        <a:spcBef>
                          <a:spcPts val="175"/>
                        </a:spcBef>
                      </a:pPr>
                      <a:r>
                        <a:rPr sz="800" dirty="0">
                          <a:latin typeface="Arial"/>
                          <a:cs typeface="Arial"/>
                        </a:rPr>
                        <a:t>#[</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marR="12065">
                        <a:lnSpc>
                          <a:spcPct val="100000"/>
                        </a:lnSpc>
                        <a:spcBef>
                          <a:spcPts val="15"/>
                        </a:spcBef>
                      </a:pPr>
                      <a:r>
                        <a:rPr sz="800" spc="5" dirty="0">
                          <a:latin typeface="Arial"/>
                          <a:cs typeface="Arial"/>
                        </a:rPr>
                        <a:t>#[</a:t>
                      </a:r>
                      <a:r>
                        <a:rPr sz="800" i="1" spc="5" dirty="0">
                          <a:latin typeface="Arial"/>
                          <a:cs typeface="Arial"/>
                        </a:rPr>
                        <a:t>vu</a:t>
                      </a:r>
                      <a:r>
                        <a:rPr sz="800" spc="5" dirty="0">
                          <a:latin typeface="Arial"/>
                          <a:cs typeface="Arial"/>
                        </a:rPr>
                        <a:t>]</a:t>
                      </a:r>
                      <a:endParaRPr sz="800">
                        <a:latin typeface="Arial"/>
                        <a:cs typeface="Arial"/>
                      </a:endParaRPr>
                    </a:p>
                    <a:p>
                      <a:pPr marL="40005" marR="12065">
                        <a:lnSpc>
                          <a:spcPct val="100000"/>
                        </a:lnSpc>
                        <a:spcBef>
                          <a:spcPts val="17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dirty="0">
                          <a:latin typeface="Arial"/>
                          <a:cs typeface="Arial"/>
                        </a:rPr>
                        <a:t>]</a:t>
                      </a:r>
                      <a:endParaRPr sz="800">
                        <a:latin typeface="Arial"/>
                        <a:cs typeface="Arial"/>
                      </a:endParaRPr>
                    </a:p>
                    <a:p>
                      <a:pPr marL="40005" marR="12065">
                        <a:lnSpc>
                          <a:spcPct val="100000"/>
                        </a:lnSpc>
                        <a:spcBef>
                          <a:spcPts val="17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81660">
                <a:tc>
                  <a:txBody>
                    <a:bodyPr/>
                    <a:lstStyle/>
                    <a:p>
                      <a:pPr marL="40005">
                        <a:lnSpc>
                          <a:spcPct val="100000"/>
                        </a:lnSpc>
                        <a:spcBef>
                          <a:spcPts val="15"/>
                        </a:spcBef>
                      </a:pPr>
                      <a:r>
                        <a:rPr sz="800" i="1" spc="-5" dirty="0">
                          <a:latin typeface="Arial"/>
                          <a:cs typeface="Arial"/>
                        </a:rPr>
                        <a:t>root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n</a:t>
                      </a:r>
                      <a:r>
                        <a:rPr sz="800" i="1" spc="65" dirty="0">
                          <a:latin typeface="Arial"/>
                          <a:cs typeface="Arial"/>
                        </a:rPr>
                        <a:t>l</a:t>
                      </a:r>
                      <a:r>
                        <a:rPr sz="800" i="1" dirty="0">
                          <a:latin typeface="Arial"/>
                          <a:cs typeface="Arial"/>
                        </a:rPr>
                        <a:t>,</a:t>
                      </a:r>
                      <a:r>
                        <a:rPr sz="800" i="1" spc="-135" dirty="0">
                          <a:latin typeface="Arial"/>
                          <a:cs typeface="Arial"/>
                        </a:rPr>
                        <a:t> </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nl</a:t>
                      </a:r>
                      <a:r>
                        <a:rPr sz="800" i="1" spc="-155" dirty="0">
                          <a:latin typeface="Arial"/>
                          <a:cs typeface="Arial"/>
                        </a:rPr>
                        <a:t> </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a:lnSpc>
                          <a:spcPct val="100000"/>
                        </a:lnSpc>
                        <a:spcBef>
                          <a:spcPts val="15"/>
                        </a:spcBef>
                      </a:pPr>
                      <a:r>
                        <a:rPr sz="800" spc="5" dirty="0">
                          <a:latin typeface="Arial"/>
                          <a:cs typeface="Arial"/>
                        </a:rPr>
                        <a:t>#[</a:t>
                      </a:r>
                      <a:r>
                        <a:rPr sz="800" i="1" spc="5" dirty="0">
                          <a:latin typeface="Arial"/>
                          <a:cs typeface="Arial"/>
                        </a:rPr>
                        <a:t>vu</a:t>
                      </a:r>
                      <a:r>
                        <a:rPr sz="800" spc="5" dirty="0">
                          <a:latin typeface="Arial"/>
                          <a:cs typeface="Arial"/>
                        </a:rPr>
                        <a:t>]</a:t>
                      </a:r>
                      <a:endParaRPr sz="800">
                        <a:latin typeface="Arial"/>
                        <a:cs typeface="Arial"/>
                      </a:endParaRPr>
                    </a:p>
                    <a:p>
                      <a:pPr marL="40005">
                        <a:lnSpc>
                          <a:spcPct val="100000"/>
                        </a:lnSpc>
                        <a:spcBef>
                          <a:spcPts val="17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dirty="0">
                          <a:latin typeface="Arial"/>
                          <a:cs typeface="Arial"/>
                        </a:rPr>
                        <a:t>]</a:t>
                      </a:r>
                      <a:endParaRPr sz="800">
                        <a:latin typeface="Arial"/>
                        <a:cs typeface="Arial"/>
                      </a:endParaRPr>
                    </a:p>
                    <a:p>
                      <a:pPr marL="40005">
                        <a:lnSpc>
                          <a:spcPct val="100000"/>
                        </a:lnSpc>
                        <a:spcBef>
                          <a:spcPts val="175"/>
                        </a:spcBef>
                      </a:pPr>
                      <a:r>
                        <a:rPr sz="800" dirty="0">
                          <a:latin typeface="Arial"/>
                          <a:cs typeface="Arial"/>
                        </a:rPr>
                        <a:t>#[</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a:t>
                      </a:r>
                      <a:r>
                        <a:rPr sz="800" i="1" spc="20" dirty="0">
                          <a:latin typeface="Arial"/>
                          <a:cs typeface="Arial"/>
                        </a:rPr>
                        <a:t>p</a:t>
                      </a:r>
                      <a:r>
                        <a:rPr sz="800" dirty="0">
                          <a:latin typeface="Arial"/>
                          <a:cs typeface="Arial"/>
                        </a:rPr>
                        <a:t>]</a:t>
                      </a:r>
                      <a:endParaRPr sz="80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0005" marR="12065">
                        <a:lnSpc>
                          <a:spcPct val="100000"/>
                        </a:lnSpc>
                        <a:spcBef>
                          <a:spcPts val="15"/>
                        </a:spcBef>
                      </a:pPr>
                      <a:r>
                        <a:rPr sz="800" dirty="0">
                          <a:latin typeface="Arial"/>
                          <a:cs typeface="Arial"/>
                        </a:rPr>
                        <a:t>#[</a:t>
                      </a:r>
                      <a:r>
                        <a:rPr sz="800" i="1" dirty="0">
                          <a:latin typeface="Arial"/>
                          <a:cs typeface="Arial"/>
                        </a:rPr>
                        <a:t>nl</a:t>
                      </a:r>
                      <a:r>
                        <a:rPr sz="800" i="1" spc="-155" dirty="0">
                          <a:latin typeface="Arial"/>
                          <a:cs typeface="Arial"/>
                        </a:rPr>
                        <a:t> </a:t>
                      </a:r>
                      <a:r>
                        <a:rPr sz="800" dirty="0">
                          <a:latin typeface="Arial"/>
                          <a:cs typeface="Arial"/>
                        </a:rPr>
                        <a:t>]</a:t>
                      </a:r>
                    </a:p>
                    <a:p>
                      <a:pPr marL="40005" marR="12065">
                        <a:lnSpc>
                          <a:spcPct val="100000"/>
                        </a:lnSpc>
                        <a:spcBef>
                          <a:spcPts val="175"/>
                        </a:spcBef>
                      </a:pPr>
                      <a:r>
                        <a:rPr sz="800" dirty="0">
                          <a:latin typeface="Arial"/>
                          <a:cs typeface="Arial"/>
                        </a:rPr>
                        <a:t>#[</a:t>
                      </a:r>
                      <a:r>
                        <a:rPr sz="800" i="1" dirty="0">
                          <a:latin typeface="Arial"/>
                          <a:cs typeface="Arial"/>
                        </a:rPr>
                        <a:t>n</a:t>
                      </a:r>
                      <a:r>
                        <a:rPr sz="800" i="1" spc="65" dirty="0">
                          <a:latin typeface="Arial"/>
                          <a:cs typeface="Arial"/>
                        </a:rPr>
                        <a:t>l</a:t>
                      </a:r>
                      <a:r>
                        <a:rPr sz="800" i="1" dirty="0">
                          <a:latin typeface="Arial"/>
                          <a:cs typeface="Arial"/>
                        </a:rPr>
                        <a:t>,</a:t>
                      </a:r>
                      <a:r>
                        <a:rPr sz="800" i="1" spc="-135" dirty="0">
                          <a:latin typeface="Arial"/>
                          <a:cs typeface="Arial"/>
                        </a:rPr>
                        <a:t> </a:t>
                      </a:r>
                      <a:r>
                        <a:rPr sz="800" i="1" dirty="0">
                          <a:latin typeface="Arial"/>
                          <a:cs typeface="Arial"/>
                        </a:rPr>
                        <a:t>v</a:t>
                      </a:r>
                      <a:r>
                        <a:rPr sz="800" i="1" spc="35" dirty="0">
                          <a:latin typeface="Arial"/>
                          <a:cs typeface="Arial"/>
                        </a:rPr>
                        <a:t>u</a:t>
                      </a:r>
                      <a:r>
                        <a:rPr sz="800" dirty="0">
                          <a:latin typeface="Arial"/>
                          <a:cs typeface="Arial"/>
                        </a:rPr>
                        <a:t>]</a:t>
                      </a:r>
                    </a:p>
                    <a:p>
                      <a:pPr marL="40005">
                        <a:lnSpc>
                          <a:spcPct val="118300"/>
                        </a:lnSpc>
                      </a:pPr>
                      <a:r>
                        <a:rPr sz="800" dirty="0">
                          <a:latin typeface="Arial"/>
                          <a:cs typeface="Arial"/>
                        </a:rPr>
                        <a:t>#[</a:t>
                      </a:r>
                      <a:r>
                        <a:rPr sz="800" i="1" dirty="0">
                          <a:latin typeface="Arial"/>
                          <a:cs typeface="Arial"/>
                        </a:rPr>
                        <a:t>n</a:t>
                      </a:r>
                      <a:r>
                        <a:rPr sz="800" i="1" spc="65" dirty="0">
                          <a:latin typeface="Arial"/>
                          <a:cs typeface="Arial"/>
                        </a:rPr>
                        <a:t>l</a:t>
                      </a:r>
                      <a:r>
                        <a:rPr sz="800" i="1" dirty="0">
                          <a:latin typeface="Arial"/>
                          <a:cs typeface="Arial"/>
                        </a:rPr>
                        <a:t>,</a:t>
                      </a:r>
                      <a:r>
                        <a:rPr sz="800" i="1" spc="-135" dirty="0">
                          <a:latin typeface="Arial"/>
                          <a:cs typeface="Arial"/>
                        </a:rPr>
                        <a:t> </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dirty="0">
                          <a:latin typeface="Arial"/>
                          <a:cs typeface="Arial"/>
                        </a:rPr>
                        <a:t>]  #</a:t>
                      </a:r>
                      <a:r>
                        <a:rPr sz="800" spc="-5" dirty="0">
                          <a:latin typeface="Arial"/>
                          <a:cs typeface="Arial"/>
                        </a:rPr>
                        <a:t>[</a:t>
                      </a:r>
                      <a:r>
                        <a:rPr sz="800" i="1" dirty="0">
                          <a:latin typeface="Arial"/>
                          <a:cs typeface="Arial"/>
                        </a:rPr>
                        <a:t>n</a:t>
                      </a:r>
                      <a:r>
                        <a:rPr sz="800" i="1" spc="65" dirty="0">
                          <a:latin typeface="Arial"/>
                          <a:cs typeface="Arial"/>
                        </a:rPr>
                        <a:t>l</a:t>
                      </a:r>
                      <a:r>
                        <a:rPr sz="800" i="1" dirty="0">
                          <a:latin typeface="Arial"/>
                          <a:cs typeface="Arial"/>
                        </a:rPr>
                        <a:t>,</a:t>
                      </a:r>
                      <a:r>
                        <a:rPr sz="800" i="1" spc="-135" dirty="0">
                          <a:latin typeface="Arial"/>
                          <a:cs typeface="Arial"/>
                        </a:rPr>
                        <a:t> </a:t>
                      </a:r>
                      <a:r>
                        <a:rPr sz="800" i="1" dirty="0">
                          <a:latin typeface="Arial"/>
                          <a:cs typeface="Arial"/>
                        </a:rPr>
                        <a:t>v</a:t>
                      </a:r>
                      <a:r>
                        <a:rPr sz="800" i="1" spc="35" dirty="0">
                          <a:latin typeface="Arial"/>
                          <a:cs typeface="Arial"/>
                        </a:rPr>
                        <a:t>u</a:t>
                      </a:r>
                      <a:r>
                        <a:rPr sz="800" i="1" dirty="0">
                          <a:latin typeface="Arial"/>
                          <a:cs typeface="Arial"/>
                        </a:rPr>
                        <a:t>,</a:t>
                      </a:r>
                      <a:r>
                        <a:rPr sz="800" i="1" spc="-135" dirty="0">
                          <a:latin typeface="Arial"/>
                          <a:cs typeface="Arial"/>
                        </a:rPr>
                        <a:t> </a:t>
                      </a:r>
                      <a:r>
                        <a:rPr sz="800" i="1" dirty="0">
                          <a:latin typeface="Arial"/>
                          <a:cs typeface="Arial"/>
                        </a:rPr>
                        <a:t>c</a:t>
                      </a:r>
                      <a:r>
                        <a:rPr sz="800" i="1" spc="20" dirty="0">
                          <a:latin typeface="Arial"/>
                          <a:cs typeface="Arial"/>
                        </a:rPr>
                        <a:t>s</a:t>
                      </a:r>
                      <a:r>
                        <a:rPr sz="800" i="1" dirty="0">
                          <a:latin typeface="Arial"/>
                          <a:cs typeface="Arial"/>
                        </a:rPr>
                        <a:t>,</a:t>
                      </a:r>
                      <a:r>
                        <a:rPr sz="800" i="1" spc="-135" dirty="0">
                          <a:latin typeface="Arial"/>
                          <a:cs typeface="Arial"/>
                        </a:rPr>
                        <a:t> </a:t>
                      </a:r>
                      <a:r>
                        <a:rPr sz="800" i="1" dirty="0">
                          <a:latin typeface="Arial"/>
                          <a:cs typeface="Arial"/>
                        </a:rPr>
                        <a:t>ftp</a:t>
                      </a:r>
                      <a:endParaRPr sz="800" dirty="0">
                        <a:latin typeface="Arial"/>
                        <a:cs typeface="Arial"/>
                      </a:endParaRPr>
                    </a:p>
                  </a:txBody>
                  <a:tcPr marL="0" marR="0" marT="190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4245635" y="2627920"/>
            <a:ext cx="53975" cy="147320"/>
          </a:xfrm>
          <a:prstGeom prst="rect">
            <a:avLst/>
          </a:prstGeom>
        </p:spPr>
        <p:txBody>
          <a:bodyPr vert="horz" wrap="square" lIns="0" tIns="12065" rIns="0" bIns="0" rtlCol="0">
            <a:spAutoFit/>
          </a:bodyPr>
          <a:lstStyle/>
          <a:p>
            <a:pPr marL="12700">
              <a:lnSpc>
                <a:spcPct val="100000"/>
              </a:lnSpc>
              <a:spcBef>
                <a:spcPts val="95"/>
              </a:spcBef>
            </a:pPr>
            <a:r>
              <a:rPr sz="800" spc="-5" dirty="0">
                <a:latin typeface="Arial"/>
                <a:cs typeface="Arial"/>
              </a:rPr>
              <a:t>]</a:t>
            </a:r>
            <a:endParaRPr sz="800">
              <a:latin typeface="Arial"/>
              <a:cs typeface="Arial"/>
            </a:endParaRP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Implementation of</a:t>
            </a:r>
            <a:r>
              <a:rPr sz="60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name</a:t>
            </a:r>
            <a:r>
              <a:rPr sz="60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resolution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3266931" y="716"/>
            <a:ext cx="12744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 space</a:t>
            </a:r>
            <a:endParaRPr sz="600">
              <a:latin typeface="Arial"/>
              <a:cs typeface="Arial"/>
            </a:endParaRPr>
          </a:p>
        </p:txBody>
      </p:sp>
      <p:sp>
        <p:nvSpPr>
          <p:cNvPr id="4" name="object 4"/>
          <p:cNvSpPr txBox="1"/>
          <p:nvPr/>
        </p:nvSpPr>
        <p:spPr>
          <a:xfrm>
            <a:off x="95300" y="188846"/>
            <a:ext cx="4165600" cy="1017269"/>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Scalability</a:t>
            </a:r>
            <a:r>
              <a:rPr sz="1400" spc="-20" dirty="0">
                <a:solidFill>
                  <a:srgbClr val="3333B2"/>
                </a:solidFill>
                <a:latin typeface="Arial"/>
                <a:cs typeface="Arial"/>
              </a:rPr>
              <a:t> </a:t>
            </a:r>
            <a:r>
              <a:rPr sz="1400" spc="15" dirty="0">
                <a:solidFill>
                  <a:srgbClr val="3333B2"/>
                </a:solidFill>
                <a:latin typeface="Arial"/>
                <a:cs typeface="Arial"/>
              </a:rPr>
              <a:t>issues</a:t>
            </a:r>
            <a:endParaRPr sz="1400">
              <a:latin typeface="Arial"/>
              <a:cs typeface="Arial"/>
            </a:endParaRPr>
          </a:p>
          <a:p>
            <a:pPr>
              <a:lnSpc>
                <a:spcPct val="100000"/>
              </a:lnSpc>
              <a:spcBef>
                <a:spcPts val="5"/>
              </a:spcBef>
            </a:pPr>
            <a:endParaRPr sz="1800">
              <a:latin typeface="Arial"/>
              <a:cs typeface="Arial"/>
            </a:endParaRPr>
          </a:p>
          <a:p>
            <a:pPr marL="264160">
              <a:lnSpc>
                <a:spcPct val="100000"/>
              </a:lnSpc>
              <a:spcBef>
                <a:spcPts val="5"/>
              </a:spcBef>
            </a:pPr>
            <a:r>
              <a:rPr sz="1200" spc="-10" dirty="0">
                <a:solidFill>
                  <a:srgbClr val="FA0000"/>
                </a:solidFill>
                <a:latin typeface="Arial"/>
                <a:cs typeface="Arial"/>
              </a:rPr>
              <a:t>Size</a:t>
            </a:r>
            <a:r>
              <a:rPr sz="1200" spc="-30" dirty="0">
                <a:solidFill>
                  <a:srgbClr val="FA0000"/>
                </a:solidFill>
                <a:latin typeface="Arial"/>
                <a:cs typeface="Arial"/>
              </a:rPr>
              <a:t> </a:t>
            </a:r>
            <a:r>
              <a:rPr sz="1200" spc="-5" dirty="0">
                <a:solidFill>
                  <a:srgbClr val="FA0000"/>
                </a:solidFill>
                <a:latin typeface="Arial"/>
                <a:cs typeface="Arial"/>
              </a:rPr>
              <a:t>scalability</a:t>
            </a:r>
            <a:endParaRPr sz="1200">
              <a:latin typeface="Arial"/>
              <a:cs typeface="Arial"/>
            </a:endParaRPr>
          </a:p>
          <a:p>
            <a:pPr marL="264160" marR="5080" indent="-6350">
              <a:lnSpc>
                <a:spcPct val="100000"/>
              </a:lnSpc>
              <a:spcBef>
                <a:spcPts val="180"/>
              </a:spcBef>
            </a:pPr>
            <a:r>
              <a:rPr sz="1000" spc="-35" dirty="0">
                <a:latin typeface="Arial"/>
                <a:cs typeface="Arial"/>
              </a:rPr>
              <a:t>We</a:t>
            </a:r>
            <a:r>
              <a:rPr sz="1000" dirty="0">
                <a:latin typeface="Arial"/>
                <a:cs typeface="Arial"/>
              </a:rPr>
              <a:t> </a:t>
            </a:r>
            <a:r>
              <a:rPr sz="1000" spc="-15" dirty="0">
                <a:latin typeface="Arial"/>
                <a:cs typeface="Arial"/>
              </a:rPr>
              <a:t>need</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ensure</a:t>
            </a:r>
            <a:r>
              <a:rPr sz="1000" spc="5"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servers</a:t>
            </a:r>
            <a:r>
              <a:rPr sz="100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handle</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large</a:t>
            </a:r>
            <a:r>
              <a:rPr sz="1000" spc="5" dirty="0">
                <a:latin typeface="Arial"/>
                <a:cs typeface="Arial"/>
              </a:rPr>
              <a:t> </a:t>
            </a:r>
            <a:r>
              <a:rPr sz="1000" spc="-20" dirty="0">
                <a:latin typeface="Arial"/>
                <a:cs typeface="Arial"/>
              </a:rPr>
              <a:t>number</a:t>
            </a:r>
            <a:r>
              <a:rPr sz="1000" dirty="0">
                <a:latin typeface="Arial"/>
                <a:cs typeface="Arial"/>
              </a:rPr>
              <a:t> </a:t>
            </a:r>
            <a:r>
              <a:rPr sz="1000" spc="-10" dirty="0">
                <a:latin typeface="Arial"/>
                <a:cs typeface="Arial"/>
              </a:rPr>
              <a:t>of</a:t>
            </a:r>
            <a:r>
              <a:rPr sz="1000" dirty="0">
                <a:latin typeface="Arial"/>
                <a:cs typeface="Arial"/>
              </a:rPr>
              <a:t> </a:t>
            </a:r>
            <a:r>
              <a:rPr sz="1000" spc="-15" dirty="0">
                <a:latin typeface="Arial"/>
                <a:cs typeface="Arial"/>
              </a:rPr>
              <a:t>requests </a:t>
            </a:r>
            <a:r>
              <a:rPr sz="1000" spc="-260" dirty="0">
                <a:latin typeface="Arial"/>
                <a:cs typeface="Arial"/>
              </a:rPr>
              <a:t> </a:t>
            </a:r>
            <a:r>
              <a:rPr sz="1000" spc="-5" dirty="0">
                <a:latin typeface="Arial"/>
                <a:cs typeface="Arial"/>
              </a:rPr>
              <a:t>per time unit </a:t>
            </a:r>
            <a:r>
              <a:rPr sz="1000" i="1" spc="-5" dirty="0">
                <a:latin typeface="メイリオ"/>
                <a:cs typeface="メイリオ"/>
              </a:rPr>
              <a:t>⇒</a:t>
            </a:r>
            <a:r>
              <a:rPr sz="1000" i="1" spc="-65" dirty="0">
                <a:latin typeface="メイリオ"/>
                <a:cs typeface="メイリオ"/>
              </a:rPr>
              <a:t> </a:t>
            </a:r>
            <a:r>
              <a:rPr sz="1000" spc="-10" dirty="0">
                <a:latin typeface="Arial"/>
                <a:cs typeface="Arial"/>
              </a:rPr>
              <a:t>high-level</a:t>
            </a:r>
            <a:r>
              <a:rPr sz="1000" dirty="0">
                <a:latin typeface="Arial"/>
                <a:cs typeface="Arial"/>
              </a:rPr>
              <a:t> </a:t>
            </a:r>
            <a:r>
              <a:rPr sz="1000" spc="-5" dirty="0">
                <a:latin typeface="Arial"/>
                <a:cs typeface="Arial"/>
              </a:rPr>
              <a:t>servers are in big</a:t>
            </a:r>
            <a:r>
              <a:rPr sz="1000" dirty="0">
                <a:latin typeface="Arial"/>
                <a:cs typeface="Arial"/>
              </a:rPr>
              <a:t> </a:t>
            </a:r>
            <a:r>
              <a:rPr sz="1000" spc="-10" dirty="0">
                <a:latin typeface="Arial"/>
                <a:cs typeface="Arial"/>
              </a:rPr>
              <a:t>trouble.</a:t>
            </a:r>
            <a:endParaRPr sz="100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Implementation of</a:t>
            </a:r>
            <a:r>
              <a:rPr sz="60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name</a:t>
            </a:r>
            <a:r>
              <a:rPr sz="60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resolution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 naming</a:t>
            </a:r>
            <a:endParaRPr sz="600">
              <a:latin typeface="Arial"/>
              <a:cs typeface="Arial"/>
            </a:endParaRPr>
          </a:p>
        </p:txBody>
      </p:sp>
      <p:sp>
        <p:nvSpPr>
          <p:cNvPr id="3" name="object 3"/>
          <p:cNvSpPr txBox="1"/>
          <p:nvPr/>
        </p:nvSpPr>
        <p:spPr>
          <a:xfrm>
            <a:off x="3266931" y="716"/>
            <a:ext cx="12744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 space</a:t>
            </a:r>
            <a:endParaRPr sz="600">
              <a:latin typeface="Arial"/>
              <a:cs typeface="Arial"/>
            </a:endParaRPr>
          </a:p>
        </p:txBody>
      </p:sp>
      <p:sp>
        <p:nvSpPr>
          <p:cNvPr id="4" name="object 4"/>
          <p:cNvSpPr txBox="1"/>
          <p:nvPr/>
        </p:nvSpPr>
        <p:spPr>
          <a:xfrm>
            <a:off x="95300" y="188846"/>
            <a:ext cx="4168775" cy="188912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Scalability</a:t>
            </a:r>
            <a:r>
              <a:rPr sz="1400" spc="-20" dirty="0">
                <a:solidFill>
                  <a:srgbClr val="3333B2"/>
                </a:solidFill>
                <a:latin typeface="Arial"/>
                <a:cs typeface="Arial"/>
              </a:rPr>
              <a:t> </a:t>
            </a:r>
            <a:r>
              <a:rPr sz="1400" spc="15" dirty="0">
                <a:solidFill>
                  <a:srgbClr val="3333B2"/>
                </a:solidFill>
                <a:latin typeface="Arial"/>
                <a:cs typeface="Arial"/>
              </a:rPr>
              <a:t>issues</a:t>
            </a:r>
            <a:endParaRPr sz="1400">
              <a:latin typeface="Arial"/>
              <a:cs typeface="Arial"/>
            </a:endParaRPr>
          </a:p>
          <a:p>
            <a:pPr>
              <a:lnSpc>
                <a:spcPct val="100000"/>
              </a:lnSpc>
              <a:spcBef>
                <a:spcPts val="5"/>
              </a:spcBef>
            </a:pPr>
            <a:endParaRPr sz="1800">
              <a:latin typeface="Arial"/>
              <a:cs typeface="Arial"/>
            </a:endParaRPr>
          </a:p>
          <a:p>
            <a:pPr marL="264160">
              <a:lnSpc>
                <a:spcPct val="100000"/>
              </a:lnSpc>
              <a:spcBef>
                <a:spcPts val="5"/>
              </a:spcBef>
            </a:pPr>
            <a:r>
              <a:rPr sz="1200" spc="-10" dirty="0">
                <a:solidFill>
                  <a:srgbClr val="FA0000"/>
                </a:solidFill>
                <a:latin typeface="Arial"/>
                <a:cs typeface="Arial"/>
              </a:rPr>
              <a:t>Size</a:t>
            </a:r>
            <a:r>
              <a:rPr sz="1200" spc="-30" dirty="0">
                <a:solidFill>
                  <a:srgbClr val="FA0000"/>
                </a:solidFill>
                <a:latin typeface="Arial"/>
                <a:cs typeface="Arial"/>
              </a:rPr>
              <a:t> </a:t>
            </a:r>
            <a:r>
              <a:rPr sz="1200" spc="-5" dirty="0">
                <a:solidFill>
                  <a:srgbClr val="FA0000"/>
                </a:solidFill>
                <a:latin typeface="Arial"/>
                <a:cs typeface="Arial"/>
              </a:rPr>
              <a:t>scalability</a:t>
            </a:r>
            <a:endParaRPr sz="1200">
              <a:latin typeface="Arial"/>
              <a:cs typeface="Arial"/>
            </a:endParaRPr>
          </a:p>
          <a:p>
            <a:pPr marL="264160" marR="8255" indent="-6350">
              <a:lnSpc>
                <a:spcPct val="100000"/>
              </a:lnSpc>
              <a:spcBef>
                <a:spcPts val="180"/>
              </a:spcBef>
            </a:pPr>
            <a:r>
              <a:rPr sz="1000" spc="-35" dirty="0">
                <a:latin typeface="Arial"/>
                <a:cs typeface="Arial"/>
              </a:rPr>
              <a:t>We</a:t>
            </a:r>
            <a:r>
              <a:rPr sz="1000" dirty="0">
                <a:latin typeface="Arial"/>
                <a:cs typeface="Arial"/>
              </a:rPr>
              <a:t> </a:t>
            </a:r>
            <a:r>
              <a:rPr sz="1000" spc="-15" dirty="0">
                <a:latin typeface="Arial"/>
                <a:cs typeface="Arial"/>
              </a:rPr>
              <a:t>need</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ensure</a:t>
            </a:r>
            <a:r>
              <a:rPr sz="1000" spc="5"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servers</a:t>
            </a:r>
            <a:r>
              <a:rPr sz="100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handle</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large</a:t>
            </a:r>
            <a:r>
              <a:rPr sz="1000" spc="5" dirty="0">
                <a:latin typeface="Arial"/>
                <a:cs typeface="Arial"/>
              </a:rPr>
              <a:t> </a:t>
            </a:r>
            <a:r>
              <a:rPr sz="1000" spc="-20" dirty="0">
                <a:latin typeface="Arial"/>
                <a:cs typeface="Arial"/>
              </a:rPr>
              <a:t>number</a:t>
            </a:r>
            <a:r>
              <a:rPr sz="1000" dirty="0">
                <a:latin typeface="Arial"/>
                <a:cs typeface="Arial"/>
              </a:rPr>
              <a:t> </a:t>
            </a:r>
            <a:r>
              <a:rPr sz="1000" spc="-10" dirty="0">
                <a:latin typeface="Arial"/>
                <a:cs typeface="Arial"/>
              </a:rPr>
              <a:t>of</a:t>
            </a:r>
            <a:r>
              <a:rPr sz="1000" dirty="0">
                <a:latin typeface="Arial"/>
                <a:cs typeface="Arial"/>
              </a:rPr>
              <a:t> </a:t>
            </a:r>
            <a:r>
              <a:rPr sz="1000" spc="-15" dirty="0">
                <a:latin typeface="Arial"/>
                <a:cs typeface="Arial"/>
              </a:rPr>
              <a:t>requests </a:t>
            </a:r>
            <a:r>
              <a:rPr sz="1000" spc="-260" dirty="0">
                <a:latin typeface="Arial"/>
                <a:cs typeface="Arial"/>
              </a:rPr>
              <a:t> </a:t>
            </a:r>
            <a:r>
              <a:rPr sz="1000" spc="-5" dirty="0">
                <a:latin typeface="Arial"/>
                <a:cs typeface="Arial"/>
              </a:rPr>
              <a:t>per time unit </a:t>
            </a:r>
            <a:r>
              <a:rPr sz="1000" i="1" spc="-5" dirty="0">
                <a:latin typeface="メイリオ"/>
                <a:cs typeface="メイリオ"/>
              </a:rPr>
              <a:t>⇒</a:t>
            </a:r>
            <a:r>
              <a:rPr sz="1000" i="1" spc="-65" dirty="0">
                <a:latin typeface="メイリオ"/>
                <a:cs typeface="メイリオ"/>
              </a:rPr>
              <a:t> </a:t>
            </a:r>
            <a:r>
              <a:rPr sz="1000" spc="-10" dirty="0">
                <a:latin typeface="Arial"/>
                <a:cs typeface="Arial"/>
              </a:rPr>
              <a:t>high-level</a:t>
            </a:r>
            <a:r>
              <a:rPr sz="1000" dirty="0">
                <a:latin typeface="Arial"/>
                <a:cs typeface="Arial"/>
              </a:rPr>
              <a:t> </a:t>
            </a:r>
            <a:r>
              <a:rPr sz="1000" spc="-5" dirty="0">
                <a:latin typeface="Arial"/>
                <a:cs typeface="Arial"/>
              </a:rPr>
              <a:t>servers are in big</a:t>
            </a:r>
            <a:r>
              <a:rPr sz="1000" dirty="0">
                <a:latin typeface="Arial"/>
                <a:cs typeface="Arial"/>
              </a:rPr>
              <a:t> </a:t>
            </a:r>
            <a:r>
              <a:rPr sz="1000" spc="-10" dirty="0">
                <a:latin typeface="Arial"/>
                <a:cs typeface="Arial"/>
              </a:rPr>
              <a:t>trouble.</a:t>
            </a:r>
            <a:endParaRPr sz="1000">
              <a:latin typeface="Arial"/>
              <a:cs typeface="Arial"/>
            </a:endParaRPr>
          </a:p>
          <a:p>
            <a:pPr marL="264160">
              <a:lnSpc>
                <a:spcPts val="1410"/>
              </a:lnSpc>
              <a:spcBef>
                <a:spcPts val="685"/>
              </a:spcBef>
            </a:pPr>
            <a:r>
              <a:rPr sz="1200" spc="-5" dirty="0">
                <a:solidFill>
                  <a:srgbClr val="3333B2"/>
                </a:solidFill>
                <a:latin typeface="Arial"/>
                <a:cs typeface="Arial"/>
              </a:rPr>
              <a:t>Solution</a:t>
            </a:r>
            <a:endParaRPr sz="1200">
              <a:latin typeface="Arial"/>
              <a:cs typeface="Arial"/>
            </a:endParaRPr>
          </a:p>
          <a:p>
            <a:pPr marL="264160" marR="5080" indent="-4445">
              <a:lnSpc>
                <a:spcPts val="1200"/>
              </a:lnSpc>
              <a:spcBef>
                <a:spcPts val="15"/>
              </a:spcBef>
            </a:pPr>
            <a:r>
              <a:rPr sz="1000" spc="-5" dirty="0">
                <a:latin typeface="Arial"/>
                <a:cs typeface="Arial"/>
              </a:rPr>
              <a:t>Assume</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least</a:t>
            </a:r>
            <a:r>
              <a:rPr sz="1000" spc="5"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global</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administrational</a:t>
            </a:r>
            <a:r>
              <a:rPr sz="1000" dirty="0">
                <a:latin typeface="Arial"/>
                <a:cs typeface="Arial"/>
              </a:rPr>
              <a:t> </a:t>
            </a:r>
            <a:r>
              <a:rPr sz="1000" spc="-15" dirty="0">
                <a:latin typeface="Arial"/>
                <a:cs typeface="Arial"/>
              </a:rPr>
              <a:t>level)</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content</a:t>
            </a:r>
            <a:r>
              <a:rPr sz="1000" dirty="0">
                <a:latin typeface="Arial"/>
                <a:cs typeface="Arial"/>
              </a:rPr>
              <a:t> </a:t>
            </a:r>
            <a:r>
              <a:rPr sz="1000" spc="-5" dirty="0">
                <a:latin typeface="Arial"/>
                <a:cs typeface="Arial"/>
              </a:rPr>
              <a:t>of </a:t>
            </a:r>
            <a:r>
              <a:rPr sz="1000" dirty="0">
                <a:latin typeface="Arial"/>
                <a:cs typeface="Arial"/>
              </a:rPr>
              <a:t> </a:t>
            </a:r>
            <a:r>
              <a:rPr sz="1000" spc="-15" dirty="0">
                <a:latin typeface="Arial"/>
                <a:cs typeface="Arial"/>
              </a:rPr>
              <a:t>nodes</a:t>
            </a:r>
            <a:r>
              <a:rPr sz="1000" spc="-10" dirty="0">
                <a:latin typeface="Arial"/>
                <a:cs typeface="Arial"/>
              </a:rPr>
              <a:t> </a:t>
            </a:r>
            <a:r>
              <a:rPr sz="1000" spc="-15" dirty="0">
                <a:latin typeface="Arial"/>
                <a:cs typeface="Arial"/>
              </a:rPr>
              <a:t>hardly</a:t>
            </a:r>
            <a:r>
              <a:rPr sz="1000" spc="-10" dirty="0">
                <a:latin typeface="Arial"/>
                <a:cs typeface="Arial"/>
              </a:rPr>
              <a:t> </a:t>
            </a:r>
            <a:r>
              <a:rPr sz="1000" spc="-30" dirty="0">
                <a:latin typeface="Arial"/>
                <a:cs typeface="Arial"/>
              </a:rPr>
              <a:t>ever</a:t>
            </a:r>
            <a:r>
              <a:rPr sz="1000" spc="-5" dirty="0">
                <a:latin typeface="Arial"/>
                <a:cs typeface="Arial"/>
              </a:rPr>
              <a:t> </a:t>
            </a:r>
            <a:r>
              <a:rPr sz="1000" spc="-15" dirty="0">
                <a:latin typeface="Arial"/>
                <a:cs typeface="Arial"/>
              </a:rPr>
              <a:t>changes.</a:t>
            </a:r>
            <a:r>
              <a:rPr sz="1000" spc="60" dirty="0">
                <a:latin typeface="Arial"/>
                <a:cs typeface="Arial"/>
              </a:rPr>
              <a:t> </a:t>
            </a:r>
            <a:r>
              <a:rPr sz="1000" spc="-40" dirty="0">
                <a:latin typeface="Arial"/>
                <a:cs typeface="Arial"/>
              </a:rPr>
              <a:t>We</a:t>
            </a:r>
            <a:r>
              <a:rPr sz="1000" spc="-5" dirty="0">
                <a:latin typeface="Arial"/>
                <a:cs typeface="Arial"/>
              </a:rPr>
              <a:t> </a:t>
            </a:r>
            <a:r>
              <a:rPr sz="1000" spc="-15" dirty="0">
                <a:latin typeface="Arial"/>
                <a:cs typeface="Arial"/>
              </a:rPr>
              <a:t>can</a:t>
            </a:r>
            <a:r>
              <a:rPr sz="1000" spc="-10" dirty="0">
                <a:latin typeface="Arial"/>
                <a:cs typeface="Arial"/>
              </a:rPr>
              <a:t> </a:t>
            </a:r>
            <a:r>
              <a:rPr sz="1000" spc="-15" dirty="0">
                <a:latin typeface="Arial"/>
                <a:cs typeface="Arial"/>
              </a:rPr>
              <a:t>then</a:t>
            </a:r>
            <a:r>
              <a:rPr sz="1000" spc="-10" dirty="0">
                <a:latin typeface="Arial"/>
                <a:cs typeface="Arial"/>
              </a:rPr>
              <a:t> </a:t>
            </a:r>
            <a:r>
              <a:rPr sz="1000" spc="-15" dirty="0">
                <a:latin typeface="Arial"/>
                <a:cs typeface="Arial"/>
              </a:rPr>
              <a:t>apply</a:t>
            </a:r>
            <a:r>
              <a:rPr sz="1000" spc="-5" dirty="0">
                <a:latin typeface="Arial"/>
                <a:cs typeface="Arial"/>
              </a:rPr>
              <a:t> </a:t>
            </a:r>
            <a:r>
              <a:rPr sz="1000" spc="-20" dirty="0">
                <a:latin typeface="Arial"/>
                <a:cs typeface="Arial"/>
              </a:rPr>
              <a:t>extensive</a:t>
            </a:r>
            <a:r>
              <a:rPr sz="1000" spc="-10" dirty="0">
                <a:latin typeface="Arial"/>
                <a:cs typeface="Arial"/>
              </a:rPr>
              <a:t> replication </a:t>
            </a:r>
            <a:r>
              <a:rPr sz="1000" spc="-25" dirty="0">
                <a:latin typeface="Arial"/>
                <a:cs typeface="Arial"/>
              </a:rPr>
              <a:t>by </a:t>
            </a:r>
            <a:r>
              <a:rPr sz="1000" spc="-260" dirty="0">
                <a:latin typeface="Arial"/>
                <a:cs typeface="Arial"/>
              </a:rPr>
              <a:t> </a:t>
            </a:r>
            <a:r>
              <a:rPr sz="1000" spc="-5" dirty="0">
                <a:latin typeface="Arial"/>
                <a:cs typeface="Arial"/>
              </a:rPr>
              <a:t>mapping nodes</a:t>
            </a:r>
            <a:r>
              <a:rPr sz="1000" dirty="0">
                <a:latin typeface="Arial"/>
                <a:cs typeface="Arial"/>
              </a:rPr>
              <a:t> </a:t>
            </a:r>
            <a:r>
              <a:rPr sz="1000" spc="-5" dirty="0">
                <a:latin typeface="Arial"/>
                <a:cs typeface="Arial"/>
              </a:rPr>
              <a:t>to multiple</a:t>
            </a:r>
            <a:r>
              <a:rPr sz="1000" dirty="0">
                <a:latin typeface="Arial"/>
                <a:cs typeface="Arial"/>
              </a:rPr>
              <a:t> </a:t>
            </a:r>
            <a:r>
              <a:rPr sz="1000" spc="-5" dirty="0">
                <a:latin typeface="Arial"/>
                <a:cs typeface="Arial"/>
              </a:rPr>
              <a:t>servers, and</a:t>
            </a:r>
            <a:r>
              <a:rPr sz="1000" dirty="0">
                <a:latin typeface="Arial"/>
                <a:cs typeface="Arial"/>
              </a:rPr>
              <a:t> </a:t>
            </a:r>
            <a:r>
              <a:rPr sz="1000" spc="5" dirty="0">
                <a:latin typeface="Arial"/>
                <a:cs typeface="Arial"/>
              </a:rPr>
              <a:t>start</a:t>
            </a:r>
            <a:r>
              <a:rPr sz="1000" dirty="0">
                <a:latin typeface="Arial"/>
                <a:cs typeface="Arial"/>
              </a:rPr>
              <a:t> </a:t>
            </a:r>
            <a:r>
              <a:rPr sz="1000" spc="-5" dirty="0">
                <a:latin typeface="Arial"/>
                <a:cs typeface="Arial"/>
              </a:rPr>
              <a:t>name resolution</a:t>
            </a:r>
            <a:r>
              <a:rPr sz="1000" dirty="0">
                <a:latin typeface="Arial"/>
                <a:cs typeface="Arial"/>
              </a:rPr>
              <a:t> </a:t>
            </a:r>
            <a:r>
              <a:rPr sz="1000" spc="-5" dirty="0">
                <a:latin typeface="Arial"/>
                <a:cs typeface="Arial"/>
              </a:rPr>
              <a:t>at the </a:t>
            </a:r>
            <a:r>
              <a:rPr sz="1000" dirty="0">
                <a:latin typeface="Arial"/>
                <a:cs typeface="Arial"/>
              </a:rPr>
              <a:t> </a:t>
            </a:r>
            <a:r>
              <a:rPr sz="1000" spc="-5" dirty="0">
                <a:latin typeface="Arial"/>
                <a:cs typeface="Arial"/>
              </a:rPr>
              <a:t>nearest</a:t>
            </a:r>
            <a:r>
              <a:rPr sz="1000" spc="-10" dirty="0">
                <a:latin typeface="Arial"/>
                <a:cs typeface="Arial"/>
              </a:rPr>
              <a:t> server.</a:t>
            </a:r>
            <a:endParaRPr sz="100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Implementation of</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name</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resolution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5" action="ppaction://hlinksldjump"/>
              </a:rPr>
              <a:t>Structured naming</a:t>
            </a:r>
            <a:endParaRPr sz="600">
              <a:latin typeface="Arial"/>
              <a:cs typeface="Arial"/>
            </a:endParaRPr>
          </a:p>
        </p:txBody>
      </p:sp>
      <p:sp>
        <p:nvSpPr>
          <p:cNvPr id="3" name="object 3"/>
          <p:cNvSpPr txBox="1"/>
          <p:nvPr/>
        </p:nvSpPr>
        <p:spPr>
          <a:xfrm>
            <a:off x="3266931" y="716"/>
            <a:ext cx="12744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The implementation of</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a name space</a:t>
            </a:r>
            <a:endParaRPr sz="600">
              <a:latin typeface="Arial"/>
              <a:cs typeface="Arial"/>
            </a:endParaRPr>
          </a:p>
        </p:txBody>
      </p:sp>
      <p:sp>
        <p:nvSpPr>
          <p:cNvPr id="4" name="object 4"/>
          <p:cNvSpPr txBox="1"/>
          <p:nvPr/>
        </p:nvSpPr>
        <p:spPr>
          <a:xfrm>
            <a:off x="95300" y="188846"/>
            <a:ext cx="4168775" cy="2760980"/>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Scalability</a:t>
            </a:r>
            <a:r>
              <a:rPr sz="1400" spc="-20" dirty="0">
                <a:solidFill>
                  <a:srgbClr val="3333B2"/>
                </a:solidFill>
                <a:latin typeface="Arial"/>
                <a:cs typeface="Arial"/>
              </a:rPr>
              <a:t> </a:t>
            </a:r>
            <a:r>
              <a:rPr sz="1400" spc="15" dirty="0">
                <a:solidFill>
                  <a:srgbClr val="3333B2"/>
                </a:solidFill>
                <a:latin typeface="Arial"/>
                <a:cs typeface="Arial"/>
              </a:rPr>
              <a:t>issues</a:t>
            </a:r>
            <a:endParaRPr sz="1400" dirty="0">
              <a:latin typeface="Arial"/>
              <a:cs typeface="Arial"/>
            </a:endParaRPr>
          </a:p>
          <a:p>
            <a:pPr>
              <a:lnSpc>
                <a:spcPct val="100000"/>
              </a:lnSpc>
              <a:spcBef>
                <a:spcPts val="5"/>
              </a:spcBef>
            </a:pPr>
            <a:endParaRPr sz="1800" dirty="0">
              <a:latin typeface="Arial"/>
              <a:cs typeface="Arial"/>
            </a:endParaRPr>
          </a:p>
          <a:p>
            <a:pPr marL="264160">
              <a:lnSpc>
                <a:spcPct val="100000"/>
              </a:lnSpc>
              <a:spcBef>
                <a:spcPts val="5"/>
              </a:spcBef>
            </a:pPr>
            <a:r>
              <a:rPr sz="1200" spc="-10" dirty="0">
                <a:solidFill>
                  <a:srgbClr val="FA0000"/>
                </a:solidFill>
                <a:latin typeface="Arial"/>
                <a:cs typeface="Arial"/>
              </a:rPr>
              <a:t>Size</a:t>
            </a:r>
            <a:r>
              <a:rPr sz="1200" spc="-30" dirty="0">
                <a:solidFill>
                  <a:srgbClr val="FA0000"/>
                </a:solidFill>
                <a:latin typeface="Arial"/>
                <a:cs typeface="Arial"/>
              </a:rPr>
              <a:t> </a:t>
            </a:r>
            <a:r>
              <a:rPr sz="1200" spc="-5" dirty="0">
                <a:solidFill>
                  <a:srgbClr val="FA0000"/>
                </a:solidFill>
                <a:latin typeface="Arial"/>
                <a:cs typeface="Arial"/>
              </a:rPr>
              <a:t>scalability</a:t>
            </a:r>
            <a:endParaRPr sz="1200" dirty="0">
              <a:latin typeface="Arial"/>
              <a:cs typeface="Arial"/>
            </a:endParaRPr>
          </a:p>
          <a:p>
            <a:pPr marL="264160" marR="8255" indent="-6350">
              <a:lnSpc>
                <a:spcPct val="100000"/>
              </a:lnSpc>
              <a:spcBef>
                <a:spcPts val="180"/>
              </a:spcBef>
            </a:pPr>
            <a:r>
              <a:rPr sz="1000" spc="-35" dirty="0">
                <a:latin typeface="Arial"/>
                <a:cs typeface="Arial"/>
              </a:rPr>
              <a:t>We</a:t>
            </a:r>
            <a:r>
              <a:rPr sz="1000" dirty="0">
                <a:latin typeface="Arial"/>
                <a:cs typeface="Arial"/>
              </a:rPr>
              <a:t> </a:t>
            </a:r>
            <a:r>
              <a:rPr sz="1000" spc="-15" dirty="0">
                <a:latin typeface="Arial"/>
                <a:cs typeface="Arial"/>
              </a:rPr>
              <a:t>need</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ensure</a:t>
            </a:r>
            <a:r>
              <a:rPr sz="1000" spc="5"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servers</a:t>
            </a:r>
            <a:r>
              <a:rPr sz="100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handle</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large</a:t>
            </a:r>
            <a:r>
              <a:rPr sz="1000" spc="5" dirty="0">
                <a:latin typeface="Arial"/>
                <a:cs typeface="Arial"/>
              </a:rPr>
              <a:t> </a:t>
            </a:r>
            <a:r>
              <a:rPr sz="1000" spc="-20" dirty="0">
                <a:latin typeface="Arial"/>
                <a:cs typeface="Arial"/>
              </a:rPr>
              <a:t>number</a:t>
            </a:r>
            <a:r>
              <a:rPr sz="1000" dirty="0">
                <a:latin typeface="Arial"/>
                <a:cs typeface="Arial"/>
              </a:rPr>
              <a:t> </a:t>
            </a:r>
            <a:r>
              <a:rPr sz="1000" spc="-10" dirty="0">
                <a:latin typeface="Arial"/>
                <a:cs typeface="Arial"/>
              </a:rPr>
              <a:t>of</a:t>
            </a:r>
            <a:r>
              <a:rPr sz="1000" dirty="0">
                <a:latin typeface="Arial"/>
                <a:cs typeface="Arial"/>
              </a:rPr>
              <a:t> </a:t>
            </a:r>
            <a:r>
              <a:rPr sz="1000" spc="-15" dirty="0">
                <a:latin typeface="Arial"/>
                <a:cs typeface="Arial"/>
              </a:rPr>
              <a:t>requests </a:t>
            </a:r>
            <a:r>
              <a:rPr sz="1000" spc="-260" dirty="0">
                <a:latin typeface="Arial"/>
                <a:cs typeface="Arial"/>
              </a:rPr>
              <a:t> </a:t>
            </a:r>
            <a:r>
              <a:rPr sz="1000" spc="-5" dirty="0">
                <a:latin typeface="Arial"/>
                <a:cs typeface="Arial"/>
              </a:rPr>
              <a:t>per time unit </a:t>
            </a:r>
            <a:r>
              <a:rPr sz="1000" i="1" spc="-5" dirty="0">
                <a:latin typeface="メイリオ"/>
                <a:cs typeface="メイリオ"/>
              </a:rPr>
              <a:t>⇒</a:t>
            </a:r>
            <a:r>
              <a:rPr sz="1000" i="1" spc="-65" dirty="0">
                <a:latin typeface="メイリオ"/>
                <a:cs typeface="メイリオ"/>
              </a:rPr>
              <a:t> </a:t>
            </a:r>
            <a:r>
              <a:rPr sz="1000" spc="-10" dirty="0">
                <a:latin typeface="Arial"/>
                <a:cs typeface="Arial"/>
              </a:rPr>
              <a:t>high-level</a:t>
            </a:r>
            <a:r>
              <a:rPr sz="1000" dirty="0">
                <a:latin typeface="Arial"/>
                <a:cs typeface="Arial"/>
              </a:rPr>
              <a:t> </a:t>
            </a:r>
            <a:r>
              <a:rPr sz="1000" spc="-5" dirty="0">
                <a:latin typeface="Arial"/>
                <a:cs typeface="Arial"/>
              </a:rPr>
              <a:t>servers are in big</a:t>
            </a:r>
            <a:r>
              <a:rPr sz="1000" dirty="0">
                <a:latin typeface="Arial"/>
                <a:cs typeface="Arial"/>
              </a:rPr>
              <a:t> </a:t>
            </a:r>
            <a:r>
              <a:rPr sz="1000" spc="-10" dirty="0">
                <a:latin typeface="Arial"/>
                <a:cs typeface="Arial"/>
              </a:rPr>
              <a:t>trouble.</a:t>
            </a:r>
            <a:endParaRPr sz="1000" dirty="0">
              <a:latin typeface="Arial"/>
              <a:cs typeface="Arial"/>
            </a:endParaRPr>
          </a:p>
          <a:p>
            <a:pPr marL="264160">
              <a:lnSpc>
                <a:spcPts val="1410"/>
              </a:lnSpc>
              <a:spcBef>
                <a:spcPts val="685"/>
              </a:spcBef>
            </a:pPr>
            <a:r>
              <a:rPr sz="1200" spc="-5" dirty="0">
                <a:solidFill>
                  <a:srgbClr val="3333B2"/>
                </a:solidFill>
                <a:latin typeface="Arial"/>
                <a:cs typeface="Arial"/>
              </a:rPr>
              <a:t>Solution</a:t>
            </a:r>
            <a:endParaRPr sz="1200" dirty="0">
              <a:latin typeface="Arial"/>
              <a:cs typeface="Arial"/>
            </a:endParaRPr>
          </a:p>
          <a:p>
            <a:pPr marL="264160" marR="5080" indent="-4445">
              <a:lnSpc>
                <a:spcPts val="1200"/>
              </a:lnSpc>
              <a:spcBef>
                <a:spcPts val="15"/>
              </a:spcBef>
            </a:pPr>
            <a:r>
              <a:rPr sz="1000" spc="-5" dirty="0">
                <a:latin typeface="Arial"/>
                <a:cs typeface="Arial"/>
              </a:rPr>
              <a:t>Assume</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least</a:t>
            </a:r>
            <a:r>
              <a:rPr sz="1000" spc="5"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global</a:t>
            </a:r>
            <a:r>
              <a:rPr sz="1000"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administrational</a:t>
            </a:r>
            <a:r>
              <a:rPr sz="1000" dirty="0">
                <a:latin typeface="Arial"/>
                <a:cs typeface="Arial"/>
              </a:rPr>
              <a:t> </a:t>
            </a:r>
            <a:r>
              <a:rPr sz="1000" spc="-15" dirty="0">
                <a:latin typeface="Arial"/>
                <a:cs typeface="Arial"/>
              </a:rPr>
              <a:t>level)</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content</a:t>
            </a:r>
            <a:r>
              <a:rPr sz="1000" dirty="0">
                <a:latin typeface="Arial"/>
                <a:cs typeface="Arial"/>
              </a:rPr>
              <a:t> </a:t>
            </a:r>
            <a:r>
              <a:rPr sz="1000" spc="-5" dirty="0">
                <a:latin typeface="Arial"/>
                <a:cs typeface="Arial"/>
              </a:rPr>
              <a:t>of </a:t>
            </a:r>
            <a:r>
              <a:rPr sz="1000" dirty="0">
                <a:latin typeface="Arial"/>
                <a:cs typeface="Arial"/>
              </a:rPr>
              <a:t> </a:t>
            </a:r>
            <a:r>
              <a:rPr sz="1000" spc="-15" dirty="0">
                <a:latin typeface="Arial"/>
                <a:cs typeface="Arial"/>
              </a:rPr>
              <a:t>nodes</a:t>
            </a:r>
            <a:r>
              <a:rPr sz="1000" spc="-10" dirty="0">
                <a:latin typeface="Arial"/>
                <a:cs typeface="Arial"/>
              </a:rPr>
              <a:t> </a:t>
            </a:r>
            <a:r>
              <a:rPr sz="1000" spc="-15" dirty="0">
                <a:latin typeface="Arial"/>
                <a:cs typeface="Arial"/>
              </a:rPr>
              <a:t>hardly</a:t>
            </a:r>
            <a:r>
              <a:rPr sz="1000" spc="-10" dirty="0">
                <a:latin typeface="Arial"/>
                <a:cs typeface="Arial"/>
              </a:rPr>
              <a:t> </a:t>
            </a:r>
            <a:r>
              <a:rPr sz="1000" spc="-30" dirty="0">
                <a:latin typeface="Arial"/>
                <a:cs typeface="Arial"/>
              </a:rPr>
              <a:t>ever</a:t>
            </a:r>
            <a:r>
              <a:rPr sz="1000" spc="-5" dirty="0">
                <a:latin typeface="Arial"/>
                <a:cs typeface="Arial"/>
              </a:rPr>
              <a:t> </a:t>
            </a:r>
            <a:r>
              <a:rPr sz="1000" spc="-15" dirty="0">
                <a:latin typeface="Arial"/>
                <a:cs typeface="Arial"/>
              </a:rPr>
              <a:t>changes.</a:t>
            </a:r>
            <a:r>
              <a:rPr sz="1000" spc="60" dirty="0">
                <a:latin typeface="Arial"/>
                <a:cs typeface="Arial"/>
              </a:rPr>
              <a:t> </a:t>
            </a:r>
            <a:r>
              <a:rPr sz="1000" spc="-40" dirty="0">
                <a:latin typeface="Arial"/>
                <a:cs typeface="Arial"/>
              </a:rPr>
              <a:t>We</a:t>
            </a:r>
            <a:r>
              <a:rPr sz="1000" spc="-5" dirty="0">
                <a:latin typeface="Arial"/>
                <a:cs typeface="Arial"/>
              </a:rPr>
              <a:t> </a:t>
            </a:r>
            <a:r>
              <a:rPr sz="1000" spc="-15" dirty="0">
                <a:latin typeface="Arial"/>
                <a:cs typeface="Arial"/>
              </a:rPr>
              <a:t>can</a:t>
            </a:r>
            <a:r>
              <a:rPr sz="1000" spc="-10" dirty="0">
                <a:latin typeface="Arial"/>
                <a:cs typeface="Arial"/>
              </a:rPr>
              <a:t> </a:t>
            </a:r>
            <a:r>
              <a:rPr sz="1000" spc="-15" dirty="0">
                <a:latin typeface="Arial"/>
                <a:cs typeface="Arial"/>
              </a:rPr>
              <a:t>then</a:t>
            </a:r>
            <a:r>
              <a:rPr sz="1000" spc="-10" dirty="0">
                <a:latin typeface="Arial"/>
                <a:cs typeface="Arial"/>
              </a:rPr>
              <a:t> </a:t>
            </a:r>
            <a:r>
              <a:rPr sz="1000" spc="-15" dirty="0">
                <a:latin typeface="Arial"/>
                <a:cs typeface="Arial"/>
              </a:rPr>
              <a:t>apply</a:t>
            </a:r>
            <a:r>
              <a:rPr sz="1000" spc="-5" dirty="0">
                <a:latin typeface="Arial"/>
                <a:cs typeface="Arial"/>
              </a:rPr>
              <a:t> </a:t>
            </a:r>
            <a:r>
              <a:rPr sz="1000" spc="-20" dirty="0">
                <a:latin typeface="Arial"/>
                <a:cs typeface="Arial"/>
              </a:rPr>
              <a:t>extensive</a:t>
            </a:r>
            <a:r>
              <a:rPr sz="1000" spc="-10" dirty="0">
                <a:latin typeface="Arial"/>
                <a:cs typeface="Arial"/>
              </a:rPr>
              <a:t> replication </a:t>
            </a:r>
            <a:r>
              <a:rPr sz="1000" spc="-25" dirty="0">
                <a:latin typeface="Arial"/>
                <a:cs typeface="Arial"/>
              </a:rPr>
              <a:t>by </a:t>
            </a:r>
            <a:r>
              <a:rPr sz="1000" spc="-260" dirty="0">
                <a:latin typeface="Arial"/>
                <a:cs typeface="Arial"/>
              </a:rPr>
              <a:t> </a:t>
            </a:r>
            <a:r>
              <a:rPr sz="1000" spc="-5" dirty="0">
                <a:latin typeface="Arial"/>
                <a:cs typeface="Arial"/>
              </a:rPr>
              <a:t>mapping nodes</a:t>
            </a:r>
            <a:r>
              <a:rPr sz="1000" dirty="0">
                <a:latin typeface="Arial"/>
                <a:cs typeface="Arial"/>
              </a:rPr>
              <a:t> </a:t>
            </a:r>
            <a:r>
              <a:rPr sz="1000" spc="-5" dirty="0">
                <a:latin typeface="Arial"/>
                <a:cs typeface="Arial"/>
              </a:rPr>
              <a:t>to multiple</a:t>
            </a:r>
            <a:r>
              <a:rPr sz="1000" dirty="0">
                <a:latin typeface="Arial"/>
                <a:cs typeface="Arial"/>
              </a:rPr>
              <a:t> </a:t>
            </a:r>
            <a:r>
              <a:rPr sz="1000" spc="-5" dirty="0">
                <a:latin typeface="Arial"/>
                <a:cs typeface="Arial"/>
              </a:rPr>
              <a:t>servers, and</a:t>
            </a:r>
            <a:r>
              <a:rPr sz="1000" dirty="0">
                <a:latin typeface="Arial"/>
                <a:cs typeface="Arial"/>
              </a:rPr>
              <a:t> </a:t>
            </a:r>
            <a:r>
              <a:rPr sz="1000" spc="5" dirty="0">
                <a:latin typeface="Arial"/>
                <a:cs typeface="Arial"/>
              </a:rPr>
              <a:t>start</a:t>
            </a:r>
            <a:r>
              <a:rPr sz="1000" dirty="0">
                <a:latin typeface="Arial"/>
                <a:cs typeface="Arial"/>
              </a:rPr>
              <a:t> </a:t>
            </a:r>
            <a:r>
              <a:rPr sz="1000" spc="-5" dirty="0">
                <a:latin typeface="Arial"/>
                <a:cs typeface="Arial"/>
              </a:rPr>
              <a:t>name resolution</a:t>
            </a:r>
            <a:r>
              <a:rPr sz="1000" dirty="0">
                <a:latin typeface="Arial"/>
                <a:cs typeface="Arial"/>
              </a:rPr>
              <a:t> </a:t>
            </a:r>
            <a:r>
              <a:rPr sz="1000" spc="-5" dirty="0">
                <a:latin typeface="Arial"/>
                <a:cs typeface="Arial"/>
              </a:rPr>
              <a:t>at the </a:t>
            </a:r>
            <a:r>
              <a:rPr sz="1000" dirty="0">
                <a:latin typeface="Arial"/>
                <a:cs typeface="Arial"/>
              </a:rPr>
              <a:t> </a:t>
            </a:r>
            <a:r>
              <a:rPr sz="1000" spc="-5" dirty="0">
                <a:latin typeface="Arial"/>
                <a:cs typeface="Arial"/>
              </a:rPr>
              <a:t>nearest</a:t>
            </a:r>
            <a:r>
              <a:rPr sz="1000" spc="-10" dirty="0">
                <a:latin typeface="Arial"/>
                <a:cs typeface="Arial"/>
              </a:rPr>
              <a:t> server.</a:t>
            </a:r>
            <a:endParaRPr sz="1000" dirty="0">
              <a:latin typeface="Arial"/>
              <a:cs typeface="Arial"/>
            </a:endParaRPr>
          </a:p>
          <a:p>
            <a:pPr marL="264160">
              <a:lnSpc>
                <a:spcPts val="1410"/>
              </a:lnSpc>
              <a:spcBef>
                <a:spcPts val="635"/>
              </a:spcBef>
            </a:pPr>
            <a:r>
              <a:rPr sz="1200" spc="-5" dirty="0">
                <a:solidFill>
                  <a:srgbClr val="3333B2"/>
                </a:solidFill>
                <a:latin typeface="Arial"/>
                <a:cs typeface="Arial"/>
              </a:rPr>
              <a:t>Observation</a:t>
            </a:r>
            <a:endParaRPr sz="1200" dirty="0">
              <a:latin typeface="Arial"/>
              <a:cs typeface="Arial"/>
            </a:endParaRPr>
          </a:p>
          <a:p>
            <a:pPr marL="264160" marR="225425" indent="-4445">
              <a:lnSpc>
                <a:spcPts val="1200"/>
              </a:lnSpc>
              <a:spcBef>
                <a:spcPts val="15"/>
              </a:spcBef>
            </a:pPr>
            <a:r>
              <a:rPr sz="1000" spc="-5" dirty="0">
                <a:latin typeface="Arial"/>
                <a:cs typeface="Arial"/>
              </a:rPr>
              <a:t>An </a:t>
            </a:r>
            <a:r>
              <a:rPr sz="1000" dirty="0">
                <a:latin typeface="Arial"/>
                <a:cs typeface="Arial"/>
              </a:rPr>
              <a:t>important </a:t>
            </a:r>
            <a:r>
              <a:rPr sz="1000" spc="-5" dirty="0">
                <a:latin typeface="Arial"/>
                <a:cs typeface="Arial"/>
              </a:rPr>
              <a:t>attribute of</a:t>
            </a:r>
            <a:r>
              <a:rPr sz="1000" dirty="0">
                <a:latin typeface="Arial"/>
                <a:cs typeface="Arial"/>
              </a:rPr>
              <a:t> </a:t>
            </a:r>
            <a:r>
              <a:rPr sz="1000" spc="-10" dirty="0">
                <a:latin typeface="Arial"/>
                <a:cs typeface="Arial"/>
              </a:rPr>
              <a:t>many</a:t>
            </a:r>
            <a:r>
              <a:rPr sz="1000" spc="-5" dirty="0">
                <a:latin typeface="Arial"/>
                <a:cs typeface="Arial"/>
              </a:rPr>
              <a:t> nodes</a:t>
            </a:r>
            <a:r>
              <a:rPr sz="1000" dirty="0">
                <a:latin typeface="Arial"/>
                <a:cs typeface="Arial"/>
              </a:rPr>
              <a:t> </a:t>
            </a:r>
            <a:r>
              <a:rPr sz="1000" spc="-5" dirty="0">
                <a:latin typeface="Arial"/>
                <a:cs typeface="Arial"/>
              </a:rPr>
              <a:t>is the</a:t>
            </a:r>
            <a:r>
              <a:rPr sz="1000" dirty="0">
                <a:latin typeface="Arial"/>
                <a:cs typeface="Arial"/>
              </a:rPr>
              <a:t> </a:t>
            </a:r>
            <a:r>
              <a:rPr sz="1000" spc="-5" dirty="0">
                <a:solidFill>
                  <a:srgbClr val="0000FA"/>
                </a:solidFill>
                <a:latin typeface="Arial"/>
                <a:cs typeface="Arial"/>
              </a:rPr>
              <a:t>address</a:t>
            </a:r>
            <a:r>
              <a:rPr sz="1000" dirty="0">
                <a:solidFill>
                  <a:srgbClr val="0000FA"/>
                </a:solidFill>
                <a:latin typeface="Arial"/>
                <a:cs typeface="Arial"/>
              </a:rPr>
              <a:t> </a:t>
            </a:r>
            <a:r>
              <a:rPr sz="1000" spc="-5" dirty="0">
                <a:latin typeface="Arial"/>
                <a:cs typeface="Arial"/>
              </a:rPr>
              <a:t>where the </a:t>
            </a:r>
            <a:r>
              <a:rPr sz="1000" dirty="0">
                <a:latin typeface="Arial"/>
                <a:cs typeface="Arial"/>
              </a:rPr>
              <a:t> </a:t>
            </a:r>
            <a:r>
              <a:rPr sz="1000" spc="-5" dirty="0">
                <a:latin typeface="Arial"/>
                <a:cs typeface="Arial"/>
              </a:rPr>
              <a:t>represented</a:t>
            </a:r>
            <a:r>
              <a:rPr sz="1000" dirty="0">
                <a:latin typeface="Arial"/>
                <a:cs typeface="Arial"/>
              </a:rPr>
              <a:t> </a:t>
            </a:r>
            <a:r>
              <a:rPr sz="1000" spc="-5" dirty="0">
                <a:latin typeface="Arial"/>
                <a:cs typeface="Arial"/>
              </a:rPr>
              <a:t>entity</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contacted.</a:t>
            </a:r>
            <a:r>
              <a:rPr sz="1000" spc="65" dirty="0">
                <a:latin typeface="Arial"/>
                <a:cs typeface="Arial"/>
              </a:rPr>
              <a:t> </a:t>
            </a:r>
            <a:r>
              <a:rPr sz="1000" spc="-5" dirty="0">
                <a:latin typeface="Arial"/>
                <a:cs typeface="Arial"/>
              </a:rPr>
              <a:t>Replicating</a:t>
            </a:r>
            <a:r>
              <a:rPr sz="1000" spc="5" dirty="0">
                <a:latin typeface="Arial"/>
                <a:cs typeface="Arial"/>
              </a:rPr>
              <a:t> </a:t>
            </a:r>
            <a:r>
              <a:rPr sz="1000" spc="-5" dirty="0">
                <a:latin typeface="Arial"/>
                <a:cs typeface="Arial"/>
              </a:rPr>
              <a:t>nodes</a:t>
            </a:r>
            <a:r>
              <a:rPr sz="1000" dirty="0">
                <a:latin typeface="Arial"/>
                <a:cs typeface="Arial"/>
              </a:rPr>
              <a:t> </a:t>
            </a:r>
            <a:r>
              <a:rPr sz="1000" spc="-10" dirty="0">
                <a:latin typeface="Arial"/>
                <a:cs typeface="Arial"/>
              </a:rPr>
              <a:t>makes </a:t>
            </a:r>
            <a:r>
              <a:rPr sz="1000" spc="-5" dirty="0">
                <a:latin typeface="Arial"/>
                <a:cs typeface="Arial"/>
              </a:rPr>
              <a:t> large-scale</a:t>
            </a:r>
            <a:r>
              <a:rPr sz="1000" dirty="0">
                <a:latin typeface="Arial"/>
                <a:cs typeface="Arial"/>
              </a:rPr>
              <a:t> </a:t>
            </a:r>
            <a:r>
              <a:rPr sz="1000" spc="-5" dirty="0">
                <a:latin typeface="Arial"/>
                <a:cs typeface="Arial"/>
              </a:rPr>
              <a:t>traditional</a:t>
            </a:r>
            <a:r>
              <a:rPr sz="1000" spc="5" dirty="0">
                <a:latin typeface="Arial"/>
                <a:cs typeface="Arial"/>
              </a:rPr>
              <a:t> </a:t>
            </a:r>
            <a:r>
              <a:rPr sz="1000" spc="-5" dirty="0">
                <a:latin typeface="Arial"/>
                <a:cs typeface="Arial"/>
              </a:rPr>
              <a:t>name</a:t>
            </a:r>
            <a:r>
              <a:rPr sz="1000" spc="5" dirty="0">
                <a:latin typeface="Arial"/>
                <a:cs typeface="Arial"/>
              </a:rPr>
              <a:t> </a:t>
            </a:r>
            <a:r>
              <a:rPr sz="1000" spc="-5" dirty="0">
                <a:latin typeface="Arial"/>
                <a:cs typeface="Arial"/>
              </a:rPr>
              <a:t>servers</a:t>
            </a:r>
            <a:r>
              <a:rPr sz="1000" spc="5" dirty="0">
                <a:latin typeface="Arial"/>
                <a:cs typeface="Arial"/>
              </a:rPr>
              <a:t> </a:t>
            </a:r>
            <a:r>
              <a:rPr sz="1000" spc="-5" dirty="0">
                <a:latin typeface="Arial"/>
                <a:cs typeface="Arial"/>
              </a:rPr>
              <a:t>unsuitable</a:t>
            </a:r>
            <a:r>
              <a:rPr sz="1000"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locating</a:t>
            </a:r>
            <a:r>
              <a:rPr sz="1000" spc="5" dirty="0">
                <a:latin typeface="Arial"/>
                <a:cs typeface="Arial"/>
              </a:rPr>
              <a:t> </a:t>
            </a:r>
            <a:r>
              <a:rPr sz="1000" spc="-5" dirty="0">
                <a:latin typeface="Arial"/>
                <a:cs typeface="Arial"/>
              </a:rPr>
              <a:t>mobile </a:t>
            </a:r>
            <a:r>
              <a:rPr sz="1000" spc="-265" dirty="0">
                <a:latin typeface="Arial"/>
                <a:cs typeface="Arial"/>
              </a:rPr>
              <a:t> </a:t>
            </a:r>
            <a:r>
              <a:rPr sz="1000" spc="-5" dirty="0">
                <a:latin typeface="Arial"/>
                <a:cs typeface="Arial"/>
              </a:rPr>
              <a:t>entities.</a:t>
            </a:r>
            <a:endParaRPr sz="1000" dirty="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1246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The implementation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 name space</a:t>
            </a:r>
            <a:endParaRPr sz="600">
              <a:latin typeface="Arial"/>
              <a:cs typeface="Arial"/>
            </a:endParaRPr>
          </a:p>
        </p:txBody>
      </p:sp>
      <p:sp>
        <p:nvSpPr>
          <p:cNvPr id="3" name="object 3"/>
          <p:cNvSpPr txBox="1">
            <a:spLocks noGrp="1"/>
          </p:cNvSpPr>
          <p:nvPr>
            <p:ph type="title"/>
          </p:nvPr>
        </p:nvSpPr>
        <p:spPr>
          <a:xfrm>
            <a:off x="95300" y="188846"/>
            <a:ext cx="1412875" cy="244475"/>
          </a:xfrm>
          <a:prstGeom prst="rect">
            <a:avLst/>
          </a:prstGeom>
        </p:spPr>
        <p:txBody>
          <a:bodyPr vert="horz" wrap="square" lIns="0" tIns="17145" rIns="0" bIns="0" rtlCol="0">
            <a:spAutoFit/>
          </a:bodyPr>
          <a:lstStyle/>
          <a:p>
            <a:pPr marL="12700">
              <a:lnSpc>
                <a:spcPct val="100000"/>
              </a:lnSpc>
              <a:spcBef>
                <a:spcPts val="135"/>
              </a:spcBef>
            </a:pPr>
            <a:r>
              <a:rPr spc="10" dirty="0"/>
              <a:t>Scalability</a:t>
            </a:r>
            <a:r>
              <a:rPr spc="-35" dirty="0"/>
              <a:t> </a:t>
            </a:r>
            <a:r>
              <a:rPr spc="15" dirty="0"/>
              <a:t>issues</a:t>
            </a:r>
          </a:p>
        </p:txBody>
      </p:sp>
      <p:sp>
        <p:nvSpPr>
          <p:cNvPr id="4" name="object 4"/>
          <p:cNvSpPr txBox="1"/>
          <p:nvPr/>
        </p:nvSpPr>
        <p:spPr>
          <a:xfrm>
            <a:off x="3186730" y="1277390"/>
            <a:ext cx="537845" cy="194310"/>
          </a:xfrm>
          <a:prstGeom prst="rect">
            <a:avLst/>
          </a:prstGeom>
          <a:ln w="5267">
            <a:solidFill>
              <a:srgbClr val="231F20"/>
            </a:solidFill>
          </a:ln>
        </p:spPr>
        <p:txBody>
          <a:bodyPr vert="horz" wrap="square" lIns="0" tIns="0" rIns="0" bIns="0" rtlCol="0">
            <a:spAutoFit/>
          </a:bodyPr>
          <a:lstStyle/>
          <a:p>
            <a:pPr algn="ctr">
              <a:lnSpc>
                <a:spcPts val="700"/>
              </a:lnSpc>
            </a:pPr>
            <a:r>
              <a:rPr sz="650" spc="5" dirty="0">
                <a:solidFill>
                  <a:srgbClr val="231F20"/>
                </a:solidFill>
                <a:latin typeface="Arial"/>
                <a:cs typeface="Arial"/>
              </a:rPr>
              <a:t>Name</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a:p>
            <a:pPr algn="ctr">
              <a:lnSpc>
                <a:spcPts val="760"/>
              </a:lnSpc>
            </a:pPr>
            <a:r>
              <a:rPr sz="650" spc="5" dirty="0">
                <a:solidFill>
                  <a:srgbClr val="231F20"/>
                </a:solidFill>
                <a:latin typeface="Arial"/>
                <a:cs typeface="Arial"/>
              </a:rPr>
              <a:t>nl</a:t>
            </a:r>
            <a:r>
              <a:rPr sz="650" spc="-45"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5" name="object 5"/>
          <p:cNvSpPr txBox="1"/>
          <p:nvPr/>
        </p:nvSpPr>
        <p:spPr>
          <a:xfrm>
            <a:off x="3186730" y="1546309"/>
            <a:ext cx="537845" cy="194310"/>
          </a:xfrm>
          <a:prstGeom prst="rect">
            <a:avLst/>
          </a:prstGeom>
          <a:ln w="5267">
            <a:solidFill>
              <a:srgbClr val="231F20"/>
            </a:solidFill>
          </a:ln>
        </p:spPr>
        <p:txBody>
          <a:bodyPr vert="horz" wrap="square" lIns="0" tIns="0" rIns="0" bIns="0" rtlCol="0">
            <a:spAutoFit/>
          </a:bodyPr>
          <a:lstStyle/>
          <a:p>
            <a:pPr algn="ctr">
              <a:lnSpc>
                <a:spcPts val="700"/>
              </a:lnSpc>
            </a:pPr>
            <a:r>
              <a:rPr sz="650" spc="5" dirty="0">
                <a:solidFill>
                  <a:srgbClr val="231F20"/>
                </a:solidFill>
                <a:latin typeface="Arial"/>
                <a:cs typeface="Arial"/>
              </a:rPr>
              <a:t>Name</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a:p>
            <a:pPr algn="ctr">
              <a:lnSpc>
                <a:spcPts val="760"/>
              </a:lnSpc>
            </a:pPr>
            <a:r>
              <a:rPr sz="650" spc="5" dirty="0">
                <a:solidFill>
                  <a:srgbClr val="231F20"/>
                </a:solidFill>
                <a:latin typeface="Arial"/>
                <a:cs typeface="Arial"/>
              </a:rPr>
              <a:t>vu</a:t>
            </a:r>
            <a:r>
              <a:rPr sz="650" spc="-4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6" name="object 6"/>
          <p:cNvSpPr txBox="1"/>
          <p:nvPr/>
        </p:nvSpPr>
        <p:spPr>
          <a:xfrm>
            <a:off x="3186730" y="1815228"/>
            <a:ext cx="537845" cy="194310"/>
          </a:xfrm>
          <a:prstGeom prst="rect">
            <a:avLst/>
          </a:prstGeom>
          <a:ln w="5267">
            <a:solidFill>
              <a:srgbClr val="231F20"/>
            </a:solidFill>
          </a:ln>
        </p:spPr>
        <p:txBody>
          <a:bodyPr vert="horz" wrap="square" lIns="0" tIns="0" rIns="0" bIns="0" rtlCol="0">
            <a:spAutoFit/>
          </a:bodyPr>
          <a:lstStyle/>
          <a:p>
            <a:pPr algn="ctr">
              <a:lnSpc>
                <a:spcPts val="700"/>
              </a:lnSpc>
            </a:pPr>
            <a:r>
              <a:rPr sz="650" spc="5" dirty="0">
                <a:solidFill>
                  <a:srgbClr val="231F20"/>
                </a:solidFill>
                <a:latin typeface="Arial"/>
                <a:cs typeface="Arial"/>
              </a:rPr>
              <a:t>Name</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a:p>
            <a:pPr algn="ctr">
              <a:lnSpc>
                <a:spcPts val="765"/>
              </a:lnSpc>
            </a:pPr>
            <a:r>
              <a:rPr sz="650" spc="5" dirty="0">
                <a:solidFill>
                  <a:srgbClr val="231F20"/>
                </a:solidFill>
                <a:latin typeface="Arial"/>
                <a:cs typeface="Arial"/>
              </a:rPr>
              <a:t>cs</a:t>
            </a:r>
            <a:r>
              <a:rPr sz="650" spc="-40" dirty="0">
                <a:solidFill>
                  <a:srgbClr val="231F20"/>
                </a:solidFill>
                <a:latin typeface="Arial"/>
                <a:cs typeface="Arial"/>
              </a:rPr>
              <a:t> </a:t>
            </a:r>
            <a:r>
              <a:rPr sz="650" spc="5" dirty="0">
                <a:solidFill>
                  <a:srgbClr val="231F20"/>
                </a:solidFill>
                <a:latin typeface="Arial"/>
                <a:cs typeface="Arial"/>
              </a:rPr>
              <a:t>node</a:t>
            </a:r>
            <a:endParaRPr sz="650">
              <a:latin typeface="Arial"/>
              <a:cs typeface="Arial"/>
            </a:endParaRPr>
          </a:p>
        </p:txBody>
      </p:sp>
      <p:sp>
        <p:nvSpPr>
          <p:cNvPr id="7" name="object 7"/>
          <p:cNvSpPr txBox="1"/>
          <p:nvPr/>
        </p:nvSpPr>
        <p:spPr>
          <a:xfrm>
            <a:off x="628013" y="1546309"/>
            <a:ext cx="537845" cy="194310"/>
          </a:xfrm>
          <a:prstGeom prst="rect">
            <a:avLst/>
          </a:prstGeom>
          <a:ln w="5267">
            <a:solidFill>
              <a:srgbClr val="231F20"/>
            </a:solidFill>
          </a:ln>
        </p:spPr>
        <p:txBody>
          <a:bodyPr vert="horz" wrap="square" lIns="0" tIns="44450" rIns="0" bIns="0" rtlCol="0">
            <a:spAutoFit/>
          </a:bodyPr>
          <a:lstStyle/>
          <a:p>
            <a:pPr marL="161290">
              <a:lnSpc>
                <a:spcPct val="100000"/>
              </a:lnSpc>
              <a:spcBef>
                <a:spcPts val="350"/>
              </a:spcBef>
            </a:pPr>
            <a:r>
              <a:rPr sz="650" spc="5" dirty="0">
                <a:solidFill>
                  <a:srgbClr val="231F20"/>
                </a:solidFill>
                <a:latin typeface="Arial"/>
                <a:cs typeface="Arial"/>
              </a:rPr>
              <a:t>Client</a:t>
            </a:r>
            <a:endParaRPr sz="650">
              <a:latin typeface="Arial"/>
              <a:cs typeface="Arial"/>
            </a:endParaRPr>
          </a:p>
        </p:txBody>
      </p:sp>
      <p:grpSp>
        <p:nvGrpSpPr>
          <p:cNvPr id="8" name="object 8"/>
          <p:cNvGrpSpPr/>
          <p:nvPr/>
        </p:nvGrpSpPr>
        <p:grpSpPr>
          <a:xfrm>
            <a:off x="1161396" y="1244656"/>
            <a:ext cx="2028189" cy="699770"/>
            <a:chOff x="1161396" y="1244656"/>
            <a:chExt cx="2028189" cy="699770"/>
          </a:xfrm>
        </p:grpSpPr>
        <p:sp>
          <p:nvSpPr>
            <p:cNvPr id="9" name="object 9"/>
            <p:cNvSpPr/>
            <p:nvPr/>
          </p:nvSpPr>
          <p:spPr>
            <a:xfrm>
              <a:off x="1203066" y="1370582"/>
              <a:ext cx="1983739" cy="217170"/>
            </a:xfrm>
            <a:custGeom>
              <a:avLst/>
              <a:gdLst/>
              <a:ahLst/>
              <a:cxnLst/>
              <a:rect l="l" t="t" r="r" b="b"/>
              <a:pathLst>
                <a:path w="1983739" h="217169">
                  <a:moveTo>
                    <a:pt x="0" y="216996"/>
                  </a:moveTo>
                  <a:lnTo>
                    <a:pt x="1983666" y="0"/>
                  </a:lnTo>
                </a:path>
              </a:pathLst>
            </a:custGeom>
            <a:ln w="5259">
              <a:solidFill>
                <a:srgbClr val="231F20"/>
              </a:solidFill>
              <a:prstDash val="lgDash"/>
            </a:ln>
          </p:spPr>
          <p:txBody>
            <a:bodyPr wrap="square" lIns="0" tIns="0" rIns="0" bIns="0" rtlCol="0"/>
            <a:lstStyle/>
            <a:p>
              <a:endParaRPr/>
            </a:p>
          </p:txBody>
        </p:sp>
        <p:sp>
          <p:nvSpPr>
            <p:cNvPr id="10" name="object 10"/>
            <p:cNvSpPr/>
            <p:nvPr/>
          </p:nvSpPr>
          <p:spPr>
            <a:xfrm>
              <a:off x="1165847" y="1342377"/>
              <a:ext cx="2021205" cy="273685"/>
            </a:xfrm>
            <a:custGeom>
              <a:avLst/>
              <a:gdLst/>
              <a:ahLst/>
              <a:cxnLst/>
              <a:rect l="l" t="t" r="r" b="b"/>
              <a:pathLst>
                <a:path w="2021205" h="273684">
                  <a:moveTo>
                    <a:pt x="77076" y="273418"/>
                  </a:moveTo>
                  <a:lnTo>
                    <a:pt x="69608" y="258114"/>
                  </a:lnTo>
                  <a:lnTo>
                    <a:pt x="66103" y="242443"/>
                  </a:lnTo>
                  <a:lnTo>
                    <a:pt x="66573" y="226390"/>
                  </a:lnTo>
                  <a:lnTo>
                    <a:pt x="71005" y="209956"/>
                  </a:lnTo>
                  <a:lnTo>
                    <a:pt x="0" y="248767"/>
                  </a:lnTo>
                  <a:lnTo>
                    <a:pt x="77076" y="273418"/>
                  </a:lnTo>
                  <a:close/>
                </a:path>
                <a:path w="2021205" h="273684">
                  <a:moveTo>
                    <a:pt x="2020874" y="24663"/>
                  </a:moveTo>
                  <a:lnTo>
                    <a:pt x="1943798" y="0"/>
                  </a:lnTo>
                  <a:lnTo>
                    <a:pt x="1951266" y="15303"/>
                  </a:lnTo>
                  <a:lnTo>
                    <a:pt x="1954771" y="30975"/>
                  </a:lnTo>
                  <a:lnTo>
                    <a:pt x="1954301" y="47028"/>
                  </a:lnTo>
                  <a:lnTo>
                    <a:pt x="1949856" y="63461"/>
                  </a:lnTo>
                  <a:lnTo>
                    <a:pt x="2020874" y="24663"/>
                  </a:lnTo>
                  <a:close/>
                </a:path>
              </a:pathLst>
            </a:custGeom>
            <a:solidFill>
              <a:srgbClr val="231F20"/>
            </a:solidFill>
          </p:spPr>
          <p:txBody>
            <a:bodyPr wrap="square" lIns="0" tIns="0" rIns="0" bIns="0" rtlCol="0"/>
            <a:lstStyle/>
            <a:p>
              <a:endParaRPr/>
            </a:p>
          </p:txBody>
        </p:sp>
        <p:sp>
          <p:nvSpPr>
            <p:cNvPr id="11" name="object 11"/>
            <p:cNvSpPr/>
            <p:nvPr/>
          </p:nvSpPr>
          <p:spPr>
            <a:xfrm>
              <a:off x="1203042" y="1684560"/>
              <a:ext cx="1983739" cy="231775"/>
            </a:xfrm>
            <a:custGeom>
              <a:avLst/>
              <a:gdLst/>
              <a:ahLst/>
              <a:cxnLst/>
              <a:rect l="l" t="t" r="r" b="b"/>
              <a:pathLst>
                <a:path w="1983739" h="231775">
                  <a:moveTo>
                    <a:pt x="0" y="0"/>
                  </a:moveTo>
                  <a:lnTo>
                    <a:pt x="1983687" y="231464"/>
                  </a:lnTo>
                </a:path>
              </a:pathLst>
            </a:custGeom>
            <a:ln w="5258">
              <a:solidFill>
                <a:srgbClr val="231F20"/>
              </a:solidFill>
              <a:prstDash val="lgDash"/>
            </a:ln>
          </p:spPr>
          <p:txBody>
            <a:bodyPr wrap="square" lIns="0" tIns="0" rIns="0" bIns="0" rtlCol="0"/>
            <a:lstStyle/>
            <a:p>
              <a:endParaRPr/>
            </a:p>
          </p:txBody>
        </p:sp>
        <p:sp>
          <p:nvSpPr>
            <p:cNvPr id="12" name="object 12"/>
            <p:cNvSpPr/>
            <p:nvPr/>
          </p:nvSpPr>
          <p:spPr>
            <a:xfrm>
              <a:off x="1165847" y="1656600"/>
              <a:ext cx="2021205" cy="287655"/>
            </a:xfrm>
            <a:custGeom>
              <a:avLst/>
              <a:gdLst/>
              <a:ahLst/>
              <a:cxnLst/>
              <a:rect l="l" t="t" r="r" b="b"/>
              <a:pathLst>
                <a:path w="2021205" h="287655">
                  <a:moveTo>
                    <a:pt x="77228" y="0"/>
                  </a:moveTo>
                  <a:lnTo>
                    <a:pt x="0" y="24180"/>
                  </a:lnTo>
                  <a:lnTo>
                    <a:pt x="70764" y="63423"/>
                  </a:lnTo>
                  <a:lnTo>
                    <a:pt x="66433" y="46964"/>
                  </a:lnTo>
                  <a:lnTo>
                    <a:pt x="66065" y="30911"/>
                  </a:lnTo>
                  <a:lnTo>
                    <a:pt x="69659" y="15252"/>
                  </a:lnTo>
                  <a:lnTo>
                    <a:pt x="77228" y="0"/>
                  </a:lnTo>
                  <a:close/>
                </a:path>
                <a:path w="2021205" h="287655">
                  <a:moveTo>
                    <a:pt x="2020874" y="263207"/>
                  </a:moveTo>
                  <a:lnTo>
                    <a:pt x="1950110" y="223964"/>
                  </a:lnTo>
                  <a:lnTo>
                    <a:pt x="1954441" y="240423"/>
                  </a:lnTo>
                  <a:lnTo>
                    <a:pt x="1954809" y="256476"/>
                  </a:lnTo>
                  <a:lnTo>
                    <a:pt x="1951215" y="272135"/>
                  </a:lnTo>
                  <a:lnTo>
                    <a:pt x="1943658" y="287388"/>
                  </a:lnTo>
                  <a:lnTo>
                    <a:pt x="2020874" y="263207"/>
                  </a:lnTo>
                  <a:close/>
                </a:path>
              </a:pathLst>
            </a:custGeom>
            <a:solidFill>
              <a:srgbClr val="231F20"/>
            </a:solidFill>
          </p:spPr>
          <p:txBody>
            <a:bodyPr wrap="square" lIns="0" tIns="0" rIns="0" bIns="0" rtlCol="0"/>
            <a:lstStyle/>
            <a:p>
              <a:endParaRPr/>
            </a:p>
          </p:txBody>
        </p:sp>
        <p:sp>
          <p:nvSpPr>
            <p:cNvPr id="13" name="object 13"/>
            <p:cNvSpPr/>
            <p:nvPr/>
          </p:nvSpPr>
          <p:spPr>
            <a:xfrm>
              <a:off x="1203235" y="1635955"/>
              <a:ext cx="1909445" cy="0"/>
            </a:xfrm>
            <a:custGeom>
              <a:avLst/>
              <a:gdLst/>
              <a:ahLst/>
              <a:cxnLst/>
              <a:rect l="l" t="t" r="r" b="b"/>
              <a:pathLst>
                <a:path w="1909445">
                  <a:moveTo>
                    <a:pt x="0" y="0"/>
                  </a:moveTo>
                  <a:lnTo>
                    <a:pt x="1909117" y="0"/>
                  </a:lnTo>
                </a:path>
              </a:pathLst>
            </a:custGeom>
            <a:ln w="5267">
              <a:solidFill>
                <a:srgbClr val="231F20"/>
              </a:solidFill>
              <a:prstDash val="lgDash"/>
            </a:ln>
          </p:spPr>
          <p:txBody>
            <a:bodyPr wrap="square" lIns="0" tIns="0" rIns="0" bIns="0" rtlCol="0"/>
            <a:lstStyle/>
            <a:p>
              <a:endParaRPr/>
            </a:p>
          </p:txBody>
        </p:sp>
        <p:pic>
          <p:nvPicPr>
            <p:cNvPr id="14" name="object 14"/>
            <p:cNvPicPr/>
            <p:nvPr/>
          </p:nvPicPr>
          <p:blipFill>
            <a:blip r:embed="rId6" cstate="print"/>
            <a:stretch>
              <a:fillRect/>
            </a:stretch>
          </p:blipFill>
          <p:spPr>
            <a:xfrm>
              <a:off x="1165852" y="1604075"/>
              <a:ext cx="74379" cy="63751"/>
            </a:xfrm>
            <a:prstGeom prst="rect">
              <a:avLst/>
            </a:prstGeom>
          </p:spPr>
        </p:pic>
        <p:pic>
          <p:nvPicPr>
            <p:cNvPr id="15" name="object 15"/>
            <p:cNvPicPr/>
            <p:nvPr/>
          </p:nvPicPr>
          <p:blipFill>
            <a:blip r:embed="rId7" cstate="print"/>
            <a:stretch>
              <a:fillRect/>
            </a:stretch>
          </p:blipFill>
          <p:spPr>
            <a:xfrm>
              <a:off x="3112353" y="1604075"/>
              <a:ext cx="74377" cy="63751"/>
            </a:xfrm>
            <a:prstGeom prst="rect">
              <a:avLst/>
            </a:prstGeom>
          </p:spPr>
        </p:pic>
        <p:sp>
          <p:nvSpPr>
            <p:cNvPr id="16" name="object 16"/>
            <p:cNvSpPr/>
            <p:nvPr/>
          </p:nvSpPr>
          <p:spPr>
            <a:xfrm>
              <a:off x="1195737" y="1247513"/>
              <a:ext cx="1991360" cy="269240"/>
            </a:xfrm>
            <a:custGeom>
              <a:avLst/>
              <a:gdLst/>
              <a:ahLst/>
              <a:cxnLst/>
              <a:rect l="l" t="t" r="r" b="b"/>
              <a:pathLst>
                <a:path w="1991360" h="269240">
                  <a:moveTo>
                    <a:pt x="0" y="268919"/>
                  </a:moveTo>
                  <a:lnTo>
                    <a:pt x="671163" y="57426"/>
                  </a:lnTo>
                  <a:lnTo>
                    <a:pt x="1315559" y="0"/>
                  </a:lnTo>
                  <a:lnTo>
                    <a:pt x="1799924" y="21008"/>
                  </a:lnTo>
                  <a:lnTo>
                    <a:pt x="1990993" y="44818"/>
                  </a:lnTo>
                </a:path>
              </a:pathLst>
            </a:custGeom>
            <a:ln w="5256">
              <a:solidFill>
                <a:srgbClr val="231F20"/>
              </a:solidFill>
            </a:ln>
          </p:spPr>
          <p:txBody>
            <a:bodyPr wrap="square" lIns="0" tIns="0" rIns="0" bIns="0" rtlCol="0"/>
            <a:lstStyle/>
            <a:p>
              <a:endParaRPr/>
            </a:p>
          </p:txBody>
        </p:sp>
        <p:sp>
          <p:nvSpPr>
            <p:cNvPr id="17" name="object 17"/>
            <p:cNvSpPr/>
            <p:nvPr/>
          </p:nvSpPr>
          <p:spPr>
            <a:xfrm>
              <a:off x="1161389" y="1255331"/>
              <a:ext cx="2018030" cy="276225"/>
            </a:xfrm>
            <a:custGeom>
              <a:avLst/>
              <a:gdLst/>
              <a:ahLst/>
              <a:cxnLst/>
              <a:rect l="l" t="t" r="r" b="b"/>
              <a:pathLst>
                <a:path w="2018030" h="276225">
                  <a:moveTo>
                    <a:pt x="80924" y="275793"/>
                  </a:moveTo>
                  <a:lnTo>
                    <a:pt x="69138" y="263499"/>
                  </a:lnTo>
                  <a:lnTo>
                    <a:pt x="61010" y="249643"/>
                  </a:lnTo>
                  <a:lnTo>
                    <a:pt x="56553" y="234213"/>
                  </a:lnTo>
                  <a:lnTo>
                    <a:pt x="55740" y="217208"/>
                  </a:lnTo>
                  <a:lnTo>
                    <a:pt x="0" y="275869"/>
                  </a:lnTo>
                  <a:lnTo>
                    <a:pt x="80924" y="275793"/>
                  </a:lnTo>
                  <a:close/>
                </a:path>
                <a:path w="2018030" h="276225">
                  <a:moveTo>
                    <a:pt x="2017483" y="42545"/>
                  </a:moveTo>
                  <a:lnTo>
                    <a:pt x="1948649" y="0"/>
                  </a:lnTo>
                  <a:lnTo>
                    <a:pt x="1952193" y="16649"/>
                  </a:lnTo>
                  <a:lnTo>
                    <a:pt x="1951812" y="32702"/>
                  </a:lnTo>
                  <a:lnTo>
                    <a:pt x="1947481" y="48171"/>
                  </a:lnTo>
                  <a:lnTo>
                    <a:pt x="1939201" y="63055"/>
                  </a:lnTo>
                  <a:lnTo>
                    <a:pt x="2017483" y="42545"/>
                  </a:lnTo>
                  <a:close/>
                </a:path>
              </a:pathLst>
            </a:custGeom>
            <a:solidFill>
              <a:srgbClr val="231F20"/>
            </a:solidFill>
          </p:spPr>
          <p:txBody>
            <a:bodyPr wrap="square" lIns="0" tIns="0" rIns="0" bIns="0" rtlCol="0"/>
            <a:lstStyle/>
            <a:p>
              <a:endParaRPr/>
            </a:p>
          </p:txBody>
        </p:sp>
      </p:grpSp>
      <p:grpSp>
        <p:nvGrpSpPr>
          <p:cNvPr id="18" name="object 18"/>
          <p:cNvGrpSpPr/>
          <p:nvPr/>
        </p:nvGrpSpPr>
        <p:grpSpPr>
          <a:xfrm>
            <a:off x="3721012" y="1361759"/>
            <a:ext cx="124460" cy="589915"/>
            <a:chOff x="3721012" y="1361759"/>
            <a:chExt cx="124460" cy="589915"/>
          </a:xfrm>
        </p:grpSpPr>
        <p:pic>
          <p:nvPicPr>
            <p:cNvPr id="19" name="object 19"/>
            <p:cNvPicPr/>
            <p:nvPr/>
          </p:nvPicPr>
          <p:blipFill>
            <a:blip r:embed="rId8" cstate="print"/>
            <a:stretch>
              <a:fillRect/>
            </a:stretch>
          </p:blipFill>
          <p:spPr>
            <a:xfrm>
              <a:off x="3721012" y="1361759"/>
              <a:ext cx="124311" cy="275968"/>
            </a:xfrm>
            <a:prstGeom prst="rect">
              <a:avLst/>
            </a:prstGeom>
          </p:spPr>
        </p:pic>
        <p:pic>
          <p:nvPicPr>
            <p:cNvPr id="20" name="object 20"/>
            <p:cNvPicPr/>
            <p:nvPr/>
          </p:nvPicPr>
          <p:blipFill>
            <a:blip r:embed="rId9" cstate="print"/>
            <a:stretch>
              <a:fillRect/>
            </a:stretch>
          </p:blipFill>
          <p:spPr>
            <a:xfrm>
              <a:off x="3721012" y="1675498"/>
              <a:ext cx="124311" cy="275964"/>
            </a:xfrm>
            <a:prstGeom prst="rect">
              <a:avLst/>
            </a:prstGeom>
          </p:spPr>
        </p:pic>
      </p:grpSp>
      <p:grpSp>
        <p:nvGrpSpPr>
          <p:cNvPr id="21" name="object 21"/>
          <p:cNvGrpSpPr/>
          <p:nvPr/>
        </p:nvGrpSpPr>
        <p:grpSpPr>
          <a:xfrm>
            <a:off x="868147" y="2234365"/>
            <a:ext cx="2618105" cy="64135"/>
            <a:chOff x="868147" y="2234365"/>
            <a:chExt cx="2618105" cy="64135"/>
          </a:xfrm>
        </p:grpSpPr>
        <p:sp>
          <p:nvSpPr>
            <p:cNvPr id="22" name="object 22"/>
            <p:cNvSpPr/>
            <p:nvPr/>
          </p:nvSpPr>
          <p:spPr>
            <a:xfrm>
              <a:off x="902260" y="2266239"/>
              <a:ext cx="2550160" cy="0"/>
            </a:xfrm>
            <a:custGeom>
              <a:avLst/>
              <a:gdLst/>
              <a:ahLst/>
              <a:cxnLst/>
              <a:rect l="l" t="t" r="r" b="b"/>
              <a:pathLst>
                <a:path w="2550160">
                  <a:moveTo>
                    <a:pt x="0" y="0"/>
                  </a:moveTo>
                  <a:lnTo>
                    <a:pt x="2549798" y="0"/>
                  </a:lnTo>
                </a:path>
              </a:pathLst>
            </a:custGeom>
            <a:ln w="5267">
              <a:solidFill>
                <a:srgbClr val="231F20"/>
              </a:solidFill>
            </a:ln>
          </p:spPr>
          <p:txBody>
            <a:bodyPr wrap="square" lIns="0" tIns="0" rIns="0" bIns="0" rtlCol="0"/>
            <a:lstStyle/>
            <a:p>
              <a:endParaRPr/>
            </a:p>
          </p:txBody>
        </p:sp>
        <p:pic>
          <p:nvPicPr>
            <p:cNvPr id="23" name="object 23"/>
            <p:cNvPicPr/>
            <p:nvPr/>
          </p:nvPicPr>
          <p:blipFill>
            <a:blip r:embed="rId6" cstate="print"/>
            <a:stretch>
              <a:fillRect/>
            </a:stretch>
          </p:blipFill>
          <p:spPr>
            <a:xfrm>
              <a:off x="868147" y="2234365"/>
              <a:ext cx="67881" cy="63752"/>
            </a:xfrm>
            <a:prstGeom prst="rect">
              <a:avLst/>
            </a:prstGeom>
          </p:spPr>
        </p:pic>
        <p:pic>
          <p:nvPicPr>
            <p:cNvPr id="24" name="object 24"/>
            <p:cNvPicPr/>
            <p:nvPr/>
          </p:nvPicPr>
          <p:blipFill>
            <a:blip r:embed="rId10" cstate="print"/>
            <a:stretch>
              <a:fillRect/>
            </a:stretch>
          </p:blipFill>
          <p:spPr>
            <a:xfrm>
              <a:off x="3418295" y="2234365"/>
              <a:ext cx="67884" cy="63752"/>
            </a:xfrm>
            <a:prstGeom prst="rect">
              <a:avLst/>
            </a:prstGeom>
          </p:spPr>
        </p:pic>
      </p:grpSp>
      <p:sp>
        <p:nvSpPr>
          <p:cNvPr id="25" name="object 25"/>
          <p:cNvSpPr txBox="1"/>
          <p:nvPr/>
        </p:nvSpPr>
        <p:spPr>
          <a:xfrm>
            <a:off x="1693241" y="2118645"/>
            <a:ext cx="11455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Long-distance</a:t>
            </a:r>
            <a:r>
              <a:rPr sz="650" spc="-35" dirty="0">
                <a:solidFill>
                  <a:srgbClr val="231F20"/>
                </a:solidFill>
                <a:latin typeface="Arial"/>
                <a:cs typeface="Arial"/>
              </a:rPr>
              <a:t> </a:t>
            </a:r>
            <a:r>
              <a:rPr sz="650" spc="5" dirty="0">
                <a:solidFill>
                  <a:srgbClr val="231F20"/>
                </a:solidFill>
                <a:latin typeface="Arial"/>
                <a:cs typeface="Arial"/>
              </a:rPr>
              <a:t>communication</a:t>
            </a:r>
            <a:endParaRPr sz="650">
              <a:latin typeface="Arial"/>
              <a:cs typeface="Arial"/>
            </a:endParaRPr>
          </a:p>
        </p:txBody>
      </p:sp>
      <p:sp>
        <p:nvSpPr>
          <p:cNvPr id="26" name="object 26"/>
          <p:cNvSpPr txBox="1"/>
          <p:nvPr/>
        </p:nvSpPr>
        <p:spPr>
          <a:xfrm>
            <a:off x="958999" y="1882917"/>
            <a:ext cx="9486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Iterative</a:t>
            </a:r>
            <a:r>
              <a:rPr sz="650" spc="-30" dirty="0">
                <a:solidFill>
                  <a:srgbClr val="231F20"/>
                </a:solidFill>
                <a:latin typeface="Arial"/>
                <a:cs typeface="Arial"/>
              </a:rPr>
              <a:t> </a:t>
            </a:r>
            <a:r>
              <a:rPr sz="650" spc="5" dirty="0">
                <a:solidFill>
                  <a:srgbClr val="231F20"/>
                </a:solidFill>
                <a:latin typeface="Arial"/>
                <a:cs typeface="Arial"/>
              </a:rPr>
              <a:t>name</a:t>
            </a:r>
            <a:r>
              <a:rPr sz="650" spc="-25" dirty="0">
                <a:solidFill>
                  <a:srgbClr val="231F20"/>
                </a:solidFill>
                <a:latin typeface="Arial"/>
                <a:cs typeface="Arial"/>
              </a:rPr>
              <a:t> </a:t>
            </a:r>
            <a:r>
              <a:rPr sz="650" spc="5" dirty="0">
                <a:solidFill>
                  <a:srgbClr val="231F20"/>
                </a:solidFill>
                <a:latin typeface="Arial"/>
                <a:cs typeface="Arial"/>
              </a:rPr>
              <a:t>resolution</a:t>
            </a:r>
            <a:endParaRPr sz="650">
              <a:latin typeface="Arial"/>
              <a:cs typeface="Arial"/>
            </a:endParaRPr>
          </a:p>
        </p:txBody>
      </p:sp>
      <p:sp>
        <p:nvSpPr>
          <p:cNvPr id="27" name="object 27"/>
          <p:cNvSpPr/>
          <p:nvPr/>
        </p:nvSpPr>
        <p:spPr>
          <a:xfrm>
            <a:off x="1658878" y="1187753"/>
            <a:ext cx="175895" cy="702310"/>
          </a:xfrm>
          <a:custGeom>
            <a:avLst/>
            <a:gdLst/>
            <a:ahLst/>
            <a:cxnLst/>
            <a:rect l="l" t="t" r="r" b="b"/>
            <a:pathLst>
              <a:path w="175894" h="702310">
                <a:moveTo>
                  <a:pt x="0" y="702177"/>
                </a:moveTo>
                <a:lnTo>
                  <a:pt x="136767" y="559383"/>
                </a:lnTo>
              </a:path>
              <a:path w="175894" h="702310">
                <a:moveTo>
                  <a:pt x="14934" y="0"/>
                </a:moveTo>
                <a:lnTo>
                  <a:pt x="175421" y="137747"/>
                </a:lnTo>
              </a:path>
            </a:pathLst>
          </a:custGeom>
          <a:ln w="5267">
            <a:solidFill>
              <a:srgbClr val="231F20"/>
            </a:solidFill>
          </a:ln>
        </p:spPr>
        <p:txBody>
          <a:bodyPr wrap="square" lIns="0" tIns="0" rIns="0" bIns="0" rtlCol="0"/>
          <a:lstStyle/>
          <a:p>
            <a:endParaRPr/>
          </a:p>
        </p:txBody>
      </p:sp>
      <p:sp>
        <p:nvSpPr>
          <p:cNvPr id="28" name="object 28"/>
          <p:cNvSpPr txBox="1"/>
          <p:nvPr/>
        </p:nvSpPr>
        <p:spPr>
          <a:xfrm>
            <a:off x="2537080" y="1301668"/>
            <a:ext cx="958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I1</a:t>
            </a:r>
            <a:endParaRPr sz="650">
              <a:latin typeface="Arial"/>
              <a:cs typeface="Arial"/>
            </a:endParaRPr>
          </a:p>
        </p:txBody>
      </p:sp>
      <p:sp>
        <p:nvSpPr>
          <p:cNvPr id="35" name="object 35"/>
          <p:cNvSpPr txBox="1"/>
          <p:nvPr/>
        </p:nvSpPr>
        <p:spPr>
          <a:xfrm>
            <a:off x="347294" y="2854282"/>
            <a:ext cx="2361565" cy="182245"/>
          </a:xfrm>
          <a:prstGeom prst="rect">
            <a:avLst/>
          </a:prstGeom>
        </p:spPr>
        <p:txBody>
          <a:bodyPr vert="horz" wrap="square" lIns="0" tIns="6350" rIns="0" bIns="0" rtlCol="0">
            <a:spAutoFit/>
          </a:bodyPr>
          <a:lstStyle/>
          <a:p>
            <a:pPr marL="12700">
              <a:lnSpc>
                <a:spcPct val="100000"/>
              </a:lnSpc>
              <a:spcBef>
                <a:spcPts val="50"/>
              </a:spcBef>
            </a:pPr>
            <a:r>
              <a:rPr sz="1000" spc="-5" dirty="0">
                <a:latin typeface="Arial"/>
                <a:cs typeface="Arial"/>
              </a:rPr>
              <a:t>introduce</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implicit</a:t>
            </a:r>
            <a:r>
              <a:rPr sz="1000" spc="5" dirty="0">
                <a:latin typeface="Arial"/>
                <a:cs typeface="Arial"/>
              </a:rPr>
              <a:t> </a:t>
            </a:r>
            <a:r>
              <a:rPr sz="1000" spc="-5" dirty="0">
                <a:latin typeface="Arial"/>
                <a:cs typeface="Arial"/>
              </a:rPr>
              <a:t>location</a:t>
            </a:r>
            <a:r>
              <a:rPr sz="1000" dirty="0">
                <a:latin typeface="Arial"/>
                <a:cs typeface="Arial"/>
              </a:rPr>
              <a:t> </a:t>
            </a:r>
            <a:r>
              <a:rPr sz="1000" spc="-15" dirty="0">
                <a:latin typeface="Arial"/>
                <a:cs typeface="Arial"/>
              </a:rPr>
              <a:t>dependency.</a:t>
            </a:r>
            <a:endParaRPr sz="1000">
              <a:latin typeface="Arial"/>
              <a:cs typeface="Arial"/>
            </a:endParaRPr>
          </a:p>
        </p:txBody>
      </p:sp>
      <p:sp>
        <p:nvSpPr>
          <p:cNvPr id="36" name="object 36"/>
          <p:cNvSpPr txBox="1"/>
          <p:nvPr/>
        </p:nvSpPr>
        <p:spPr>
          <a:xfrm>
            <a:off x="66713" y="3331252"/>
            <a:ext cx="118999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1" action="ppaction://hlinksldjump"/>
              </a:rPr>
              <a:t>Implementation of</a:t>
            </a:r>
            <a:r>
              <a:rPr sz="600" dirty="0">
                <a:solidFill>
                  <a:srgbClr val="3333B2"/>
                </a:solidFill>
                <a:latin typeface="Arial"/>
                <a:cs typeface="Arial"/>
                <a:hlinkClick r:id="rId11" action="ppaction://hlinksldjump"/>
              </a:rPr>
              <a:t> </a:t>
            </a:r>
            <a:r>
              <a:rPr sz="600" spc="-5" dirty="0">
                <a:solidFill>
                  <a:srgbClr val="3333B2"/>
                </a:solidFill>
                <a:latin typeface="Arial"/>
                <a:cs typeface="Arial"/>
                <a:hlinkClick r:id="rId11" action="ppaction://hlinksldjump"/>
              </a:rPr>
              <a:t>name</a:t>
            </a:r>
            <a:r>
              <a:rPr sz="600" dirty="0">
                <a:solidFill>
                  <a:srgbClr val="3333B2"/>
                </a:solidFill>
                <a:latin typeface="Arial"/>
                <a:cs typeface="Arial"/>
                <a:hlinkClick r:id="rId11" action="ppaction://hlinksldjump"/>
              </a:rPr>
              <a:t> </a:t>
            </a:r>
            <a:r>
              <a:rPr sz="600" spc="-5" dirty="0">
                <a:solidFill>
                  <a:srgbClr val="3333B2"/>
                </a:solidFill>
                <a:latin typeface="Arial"/>
                <a:cs typeface="Arial"/>
                <a:hlinkClick r:id="rId11" action="ppaction://hlinksldjump"/>
              </a:rPr>
              <a:t>resolution</a:t>
            </a:r>
            <a:endParaRPr sz="600">
              <a:latin typeface="Arial"/>
              <a:cs typeface="Arial"/>
            </a:endParaRPr>
          </a:p>
        </p:txBody>
      </p:sp>
      <p:sp>
        <p:nvSpPr>
          <p:cNvPr id="37" name="object 3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9" name="object 29"/>
          <p:cNvSpPr txBox="1"/>
          <p:nvPr/>
        </p:nvSpPr>
        <p:spPr>
          <a:xfrm>
            <a:off x="2537080" y="1508758"/>
            <a:ext cx="958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I2</a:t>
            </a:r>
            <a:endParaRPr sz="650">
              <a:latin typeface="Arial"/>
              <a:cs typeface="Arial"/>
            </a:endParaRPr>
          </a:p>
        </p:txBody>
      </p:sp>
      <p:sp>
        <p:nvSpPr>
          <p:cNvPr id="30" name="object 30"/>
          <p:cNvSpPr txBox="1"/>
          <p:nvPr/>
        </p:nvSpPr>
        <p:spPr>
          <a:xfrm>
            <a:off x="2537080" y="1703049"/>
            <a:ext cx="958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I3</a:t>
            </a:r>
            <a:endParaRPr sz="650">
              <a:latin typeface="Arial"/>
              <a:cs typeface="Arial"/>
            </a:endParaRPr>
          </a:p>
        </p:txBody>
      </p:sp>
      <p:sp>
        <p:nvSpPr>
          <p:cNvPr id="31" name="object 31"/>
          <p:cNvSpPr txBox="1"/>
          <p:nvPr/>
        </p:nvSpPr>
        <p:spPr>
          <a:xfrm>
            <a:off x="340169" y="574329"/>
            <a:ext cx="3549015" cy="673735"/>
          </a:xfrm>
          <a:prstGeom prst="rect">
            <a:avLst/>
          </a:prstGeom>
        </p:spPr>
        <p:txBody>
          <a:bodyPr vert="horz" wrap="square" lIns="0" tIns="22860" rIns="0" bIns="0" rtlCol="0">
            <a:spAutoFit/>
          </a:bodyPr>
          <a:lstStyle/>
          <a:p>
            <a:pPr marL="19685" marR="5080" indent="-7620">
              <a:lnSpc>
                <a:spcPts val="1390"/>
              </a:lnSpc>
              <a:spcBef>
                <a:spcPts val="180"/>
              </a:spcBef>
            </a:pPr>
            <a:r>
              <a:rPr sz="1200" spc="-25" dirty="0">
                <a:solidFill>
                  <a:srgbClr val="FA0000"/>
                </a:solidFill>
                <a:latin typeface="Arial"/>
                <a:cs typeface="Arial"/>
              </a:rPr>
              <a:t>We</a:t>
            </a:r>
            <a:r>
              <a:rPr sz="1200" spc="-5" dirty="0">
                <a:solidFill>
                  <a:srgbClr val="FA0000"/>
                </a:solidFill>
                <a:latin typeface="Arial"/>
                <a:cs typeface="Arial"/>
              </a:rPr>
              <a:t> need to ensure</a:t>
            </a:r>
            <a:r>
              <a:rPr sz="1200" dirty="0">
                <a:solidFill>
                  <a:srgbClr val="FA0000"/>
                </a:solidFill>
                <a:latin typeface="Arial"/>
                <a:cs typeface="Arial"/>
              </a:rPr>
              <a:t> </a:t>
            </a:r>
            <a:r>
              <a:rPr sz="1200" spc="-5" dirty="0">
                <a:solidFill>
                  <a:srgbClr val="FA0000"/>
                </a:solidFill>
                <a:latin typeface="Arial"/>
                <a:cs typeface="Arial"/>
              </a:rPr>
              <a:t>that the name</a:t>
            </a:r>
            <a:r>
              <a:rPr sz="1200" dirty="0">
                <a:solidFill>
                  <a:srgbClr val="FA0000"/>
                </a:solidFill>
                <a:latin typeface="Arial"/>
                <a:cs typeface="Arial"/>
              </a:rPr>
              <a:t> </a:t>
            </a:r>
            <a:r>
              <a:rPr sz="1200" spc="-5" dirty="0">
                <a:solidFill>
                  <a:srgbClr val="FA0000"/>
                </a:solidFill>
                <a:latin typeface="Arial"/>
                <a:cs typeface="Arial"/>
              </a:rPr>
              <a:t>resolution process </a:t>
            </a:r>
            <a:r>
              <a:rPr sz="1200" spc="-320" dirty="0">
                <a:solidFill>
                  <a:srgbClr val="FA0000"/>
                </a:solidFill>
                <a:latin typeface="Arial"/>
                <a:cs typeface="Arial"/>
              </a:rPr>
              <a:t> </a:t>
            </a:r>
            <a:r>
              <a:rPr sz="1200" spc="-5" dirty="0">
                <a:solidFill>
                  <a:srgbClr val="FA0000"/>
                </a:solidFill>
                <a:latin typeface="Arial"/>
                <a:cs typeface="Arial"/>
              </a:rPr>
              <a:t>scales</a:t>
            </a:r>
            <a:r>
              <a:rPr sz="1200" spc="-10" dirty="0">
                <a:solidFill>
                  <a:srgbClr val="FA0000"/>
                </a:solidFill>
                <a:latin typeface="Arial"/>
                <a:cs typeface="Arial"/>
              </a:rPr>
              <a:t> </a:t>
            </a:r>
            <a:r>
              <a:rPr sz="1200" spc="-5" dirty="0">
                <a:solidFill>
                  <a:srgbClr val="FA0000"/>
                </a:solidFill>
                <a:latin typeface="Arial"/>
                <a:cs typeface="Arial"/>
              </a:rPr>
              <a:t>across large geographical</a:t>
            </a:r>
            <a:r>
              <a:rPr sz="1200" spc="-10" dirty="0">
                <a:solidFill>
                  <a:srgbClr val="FA0000"/>
                </a:solidFill>
                <a:latin typeface="Arial"/>
                <a:cs typeface="Arial"/>
              </a:rPr>
              <a:t> </a:t>
            </a:r>
            <a:r>
              <a:rPr sz="1200" spc="-5" dirty="0">
                <a:solidFill>
                  <a:srgbClr val="FA0000"/>
                </a:solidFill>
                <a:latin typeface="Arial"/>
                <a:cs typeface="Arial"/>
              </a:rPr>
              <a:t>distances</a:t>
            </a:r>
            <a:endParaRPr sz="1200">
              <a:latin typeface="Arial"/>
              <a:cs typeface="Arial"/>
            </a:endParaRPr>
          </a:p>
          <a:p>
            <a:pPr marL="646430">
              <a:lnSpc>
                <a:spcPts val="685"/>
              </a:lnSpc>
              <a:spcBef>
                <a:spcPts val="865"/>
              </a:spcBef>
            </a:pPr>
            <a:r>
              <a:rPr sz="650" spc="5" dirty="0">
                <a:solidFill>
                  <a:srgbClr val="231F20"/>
                </a:solidFill>
                <a:latin typeface="Arial"/>
                <a:cs typeface="Arial"/>
              </a:rPr>
              <a:t>Recursive</a:t>
            </a:r>
            <a:r>
              <a:rPr sz="650" spc="-20" dirty="0">
                <a:solidFill>
                  <a:srgbClr val="231F20"/>
                </a:solidFill>
                <a:latin typeface="Arial"/>
                <a:cs typeface="Arial"/>
              </a:rPr>
              <a:t> </a:t>
            </a:r>
            <a:r>
              <a:rPr sz="650" spc="5" dirty="0">
                <a:solidFill>
                  <a:srgbClr val="231F20"/>
                </a:solidFill>
                <a:latin typeface="Arial"/>
                <a:cs typeface="Arial"/>
              </a:rPr>
              <a:t>name</a:t>
            </a:r>
            <a:r>
              <a:rPr sz="650" spc="-20" dirty="0">
                <a:solidFill>
                  <a:srgbClr val="231F20"/>
                </a:solidFill>
                <a:latin typeface="Arial"/>
                <a:cs typeface="Arial"/>
              </a:rPr>
              <a:t> </a:t>
            </a:r>
            <a:r>
              <a:rPr sz="650" spc="5" dirty="0">
                <a:solidFill>
                  <a:srgbClr val="231F20"/>
                </a:solidFill>
                <a:latin typeface="Arial"/>
                <a:cs typeface="Arial"/>
              </a:rPr>
              <a:t>resolution</a:t>
            </a:r>
            <a:endParaRPr sz="650">
              <a:latin typeface="Arial"/>
              <a:cs typeface="Arial"/>
            </a:endParaRPr>
          </a:p>
          <a:p>
            <a:pPr marL="461645" algn="ctr">
              <a:lnSpc>
                <a:spcPts val="685"/>
              </a:lnSpc>
            </a:pPr>
            <a:r>
              <a:rPr sz="650" spc="5" dirty="0">
                <a:solidFill>
                  <a:srgbClr val="231F20"/>
                </a:solidFill>
                <a:latin typeface="Arial"/>
                <a:cs typeface="Arial"/>
              </a:rPr>
              <a:t>R1</a:t>
            </a:r>
            <a:endParaRPr sz="650">
              <a:latin typeface="Arial"/>
              <a:cs typeface="Arial"/>
            </a:endParaRPr>
          </a:p>
        </p:txBody>
      </p:sp>
      <p:sp>
        <p:nvSpPr>
          <p:cNvPr id="32" name="object 32"/>
          <p:cNvSpPr txBox="1"/>
          <p:nvPr/>
        </p:nvSpPr>
        <p:spPr>
          <a:xfrm>
            <a:off x="3861360" y="1434377"/>
            <a:ext cx="1333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R2</a:t>
            </a:r>
            <a:endParaRPr sz="650">
              <a:latin typeface="Arial"/>
              <a:cs typeface="Arial"/>
            </a:endParaRPr>
          </a:p>
        </p:txBody>
      </p:sp>
      <p:sp>
        <p:nvSpPr>
          <p:cNvPr id="33" name="object 33"/>
          <p:cNvSpPr txBox="1"/>
          <p:nvPr/>
        </p:nvSpPr>
        <p:spPr>
          <a:xfrm>
            <a:off x="3861360" y="1747823"/>
            <a:ext cx="1333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R3</a:t>
            </a:r>
            <a:endParaRPr sz="650">
              <a:latin typeface="Arial"/>
              <a:cs typeface="Arial"/>
            </a:endParaRPr>
          </a:p>
        </p:txBody>
      </p:sp>
      <p:sp>
        <p:nvSpPr>
          <p:cNvPr id="34" name="object 34"/>
          <p:cNvSpPr txBox="1"/>
          <p:nvPr/>
        </p:nvSpPr>
        <p:spPr>
          <a:xfrm>
            <a:off x="347294" y="2520756"/>
            <a:ext cx="3579495" cy="353060"/>
          </a:xfrm>
          <a:prstGeom prst="rect">
            <a:avLst/>
          </a:prstGeom>
        </p:spPr>
        <p:txBody>
          <a:bodyPr vert="horz" wrap="square" lIns="0" tIns="12065" rIns="0" bIns="0" rtlCol="0">
            <a:spAutoFit/>
          </a:bodyPr>
          <a:lstStyle/>
          <a:p>
            <a:pPr marL="12700">
              <a:lnSpc>
                <a:spcPts val="1410"/>
              </a:lnSpc>
              <a:spcBef>
                <a:spcPts val="95"/>
              </a:spcBef>
            </a:pPr>
            <a:r>
              <a:rPr sz="1200" spc="-10" dirty="0">
                <a:solidFill>
                  <a:srgbClr val="3333B2"/>
                </a:solidFill>
                <a:latin typeface="Arial"/>
                <a:cs typeface="Arial"/>
              </a:rPr>
              <a:t>Problem</a:t>
            </a:r>
            <a:endParaRPr sz="1200">
              <a:latin typeface="Arial"/>
              <a:cs typeface="Arial"/>
            </a:endParaRPr>
          </a:p>
          <a:p>
            <a:pPr marL="12700">
              <a:lnSpc>
                <a:spcPts val="1170"/>
              </a:lnSpc>
            </a:pPr>
            <a:r>
              <a:rPr sz="1000" spc="-5" dirty="0">
                <a:latin typeface="Arial"/>
                <a:cs typeface="Arial"/>
              </a:rPr>
              <a:t>By</a:t>
            </a:r>
            <a:r>
              <a:rPr sz="1000" dirty="0">
                <a:latin typeface="Arial"/>
                <a:cs typeface="Arial"/>
              </a:rPr>
              <a:t> </a:t>
            </a:r>
            <a:r>
              <a:rPr sz="1000" spc="-5" dirty="0">
                <a:latin typeface="Arial"/>
                <a:cs typeface="Arial"/>
              </a:rPr>
              <a:t>mapping</a:t>
            </a:r>
            <a:r>
              <a:rPr sz="1000" dirty="0">
                <a:latin typeface="Arial"/>
                <a:cs typeface="Arial"/>
              </a:rPr>
              <a:t> </a:t>
            </a:r>
            <a:r>
              <a:rPr sz="1000" spc="-5" dirty="0">
                <a:latin typeface="Arial"/>
                <a:cs typeface="Arial"/>
              </a:rPr>
              <a:t>nodes</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spc="5" dirty="0">
                <a:latin typeface="Arial"/>
                <a:cs typeface="Arial"/>
              </a:rPr>
              <a:t> </a:t>
            </a:r>
            <a:r>
              <a:rPr sz="1000" spc="-5" dirty="0">
                <a:latin typeface="Arial"/>
                <a:cs typeface="Arial"/>
              </a:rPr>
              <a:t>located</a:t>
            </a:r>
            <a:r>
              <a:rPr sz="1000" dirty="0">
                <a:latin typeface="Arial"/>
                <a:cs typeface="Arial"/>
              </a:rPr>
              <a:t> </a:t>
            </a:r>
            <a:r>
              <a:rPr sz="1000" spc="-10" dirty="0">
                <a:latin typeface="Arial"/>
                <a:cs typeface="Arial"/>
              </a:rPr>
              <a:t>anywhere,</a:t>
            </a:r>
            <a:r>
              <a:rPr sz="1000" dirty="0">
                <a:latin typeface="Arial"/>
                <a:cs typeface="Arial"/>
              </a:rPr>
              <a:t> </a:t>
            </a:r>
            <a:r>
              <a:rPr sz="1000" spc="-10" dirty="0">
                <a:latin typeface="Arial"/>
                <a:cs typeface="Arial"/>
              </a:rPr>
              <a:t>we</a:t>
            </a:r>
            <a:endParaRPr sz="10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6964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35" dirty="0">
                <a:solidFill>
                  <a:srgbClr val="3333B2"/>
                </a:solidFill>
                <a:latin typeface="Arial"/>
                <a:cs typeface="Arial"/>
              </a:rPr>
              <a:t> </a:t>
            </a:r>
            <a:r>
              <a:rPr sz="600" spc="-5" dirty="0">
                <a:solidFill>
                  <a:srgbClr val="3333B2"/>
                </a:solidFill>
                <a:latin typeface="Arial"/>
                <a:cs typeface="Arial"/>
                <a:hlinkClick r:id="rId4" action="ppaction://hlinksldjump"/>
              </a:rPr>
              <a:t>Structured</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endParaRPr sz="600">
              <a:latin typeface="Arial"/>
              <a:cs typeface="Arial"/>
            </a:endParaRPr>
          </a:p>
        </p:txBody>
      </p:sp>
      <p:sp>
        <p:nvSpPr>
          <p:cNvPr id="3" name="object 3"/>
          <p:cNvSpPr txBox="1"/>
          <p:nvPr/>
        </p:nvSpPr>
        <p:spPr>
          <a:xfrm>
            <a:off x="3262149" y="716"/>
            <a:ext cx="127952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The Domain Name System</a:t>
            </a:r>
            <a:endParaRPr sz="600">
              <a:latin typeface="Arial"/>
              <a:cs typeface="Arial"/>
            </a:endParaRPr>
          </a:p>
        </p:txBody>
      </p:sp>
      <p:sp>
        <p:nvSpPr>
          <p:cNvPr id="4" name="object 4"/>
          <p:cNvSpPr txBox="1"/>
          <p:nvPr/>
        </p:nvSpPr>
        <p:spPr>
          <a:xfrm>
            <a:off x="95300" y="188846"/>
            <a:ext cx="410209"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DNS</a:t>
            </a:r>
            <a:endParaRPr sz="1400">
              <a:latin typeface="Arial"/>
              <a:cs typeface="Arial"/>
            </a:endParaRPr>
          </a:p>
        </p:txBody>
      </p:sp>
      <p:sp>
        <p:nvSpPr>
          <p:cNvPr id="5" name="object 5"/>
          <p:cNvSpPr txBox="1"/>
          <p:nvPr/>
        </p:nvSpPr>
        <p:spPr>
          <a:xfrm>
            <a:off x="321894" y="270059"/>
            <a:ext cx="3716020" cy="512445"/>
          </a:xfrm>
          <a:prstGeom prst="rect">
            <a:avLst/>
          </a:prstGeom>
        </p:spPr>
        <p:txBody>
          <a:bodyPr vert="horz" wrap="square" lIns="0" tIns="95250" rIns="0" bIns="0" rtlCol="0">
            <a:spAutoFit/>
          </a:bodyPr>
          <a:lstStyle/>
          <a:p>
            <a:pPr marL="38100">
              <a:lnSpc>
                <a:spcPct val="100000"/>
              </a:lnSpc>
              <a:spcBef>
                <a:spcPts val="750"/>
              </a:spcBef>
            </a:pPr>
            <a:r>
              <a:rPr sz="1200" spc="-5" dirty="0">
                <a:solidFill>
                  <a:srgbClr val="3333B2"/>
                </a:solidFill>
                <a:latin typeface="Arial"/>
                <a:cs typeface="Arial"/>
              </a:rPr>
              <a:t>Essence</a:t>
            </a:r>
            <a:endParaRPr sz="1200">
              <a:latin typeface="Arial"/>
              <a:cs typeface="Arial"/>
            </a:endParaRPr>
          </a:p>
          <a:p>
            <a:pPr marL="314960" indent="-168275">
              <a:lnSpc>
                <a:spcPct val="100000"/>
              </a:lnSpc>
              <a:spcBef>
                <a:spcPts val="545"/>
              </a:spcBef>
              <a:buClr>
                <a:srgbClr val="3333B2"/>
              </a:buClr>
              <a:buChar char="►"/>
              <a:tabLst>
                <a:tab pos="315595" algn="l"/>
              </a:tabLst>
            </a:pPr>
            <a:r>
              <a:rPr sz="1000" spc="-5" dirty="0">
                <a:latin typeface="Arial"/>
                <a:cs typeface="Arial"/>
              </a:rPr>
              <a:t>Hierarchically</a:t>
            </a:r>
            <a:r>
              <a:rPr sz="1000" dirty="0">
                <a:latin typeface="Arial"/>
                <a:cs typeface="Arial"/>
              </a:rPr>
              <a:t> </a:t>
            </a:r>
            <a:r>
              <a:rPr sz="1000" spc="-5" dirty="0">
                <a:latin typeface="Arial"/>
                <a:cs typeface="Arial"/>
              </a:rPr>
              <a:t>organized</a:t>
            </a:r>
            <a:r>
              <a:rPr sz="1000" dirty="0">
                <a:latin typeface="Arial"/>
                <a:cs typeface="Arial"/>
              </a:rPr>
              <a:t> </a:t>
            </a:r>
            <a:r>
              <a:rPr sz="1000" spc="-5" dirty="0">
                <a:latin typeface="Arial"/>
                <a:cs typeface="Arial"/>
              </a:rPr>
              <a:t>name</a:t>
            </a:r>
            <a:r>
              <a:rPr sz="1000" dirty="0">
                <a:latin typeface="Arial"/>
                <a:cs typeface="Arial"/>
              </a:rPr>
              <a:t> </a:t>
            </a:r>
            <a:r>
              <a:rPr sz="1000" spc="-5" dirty="0">
                <a:latin typeface="Arial"/>
                <a:cs typeface="Arial"/>
              </a:rPr>
              <a:t>space</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node</a:t>
            </a:r>
            <a:r>
              <a:rPr sz="1000" dirty="0">
                <a:latin typeface="Arial"/>
                <a:cs typeface="Arial"/>
              </a:rPr>
              <a:t> </a:t>
            </a:r>
            <a:r>
              <a:rPr sz="1000" spc="-10" dirty="0">
                <a:latin typeface="Arial"/>
                <a:cs typeface="Arial"/>
              </a:rPr>
              <a:t>having</a:t>
            </a:r>
            <a:endParaRPr sz="1000">
              <a:latin typeface="Arial"/>
              <a:cs typeface="Arial"/>
            </a:endParaRPr>
          </a:p>
        </p:txBody>
      </p:sp>
      <p:sp>
        <p:nvSpPr>
          <p:cNvPr id="6" name="object 6"/>
          <p:cNvSpPr txBox="1"/>
          <p:nvPr/>
        </p:nvSpPr>
        <p:spPr>
          <a:xfrm>
            <a:off x="334594" y="756912"/>
            <a:ext cx="3378835" cy="740410"/>
          </a:xfrm>
          <a:prstGeom prst="rect">
            <a:avLst/>
          </a:prstGeom>
        </p:spPr>
        <p:txBody>
          <a:bodyPr vert="horz" wrap="square" lIns="0" tIns="12065" rIns="0" bIns="0" rtlCol="0">
            <a:spAutoFit/>
          </a:bodyPr>
          <a:lstStyle/>
          <a:p>
            <a:pPr marL="302260" marR="30480" indent="-168275">
              <a:lnSpc>
                <a:spcPct val="100000"/>
              </a:lnSpc>
              <a:spcBef>
                <a:spcPts val="95"/>
              </a:spcBef>
              <a:buClr>
                <a:srgbClr val="3333B2"/>
              </a:buClr>
              <a:buChar char="►"/>
              <a:tabLst>
                <a:tab pos="302895" algn="l"/>
              </a:tabLst>
            </a:pPr>
            <a:r>
              <a:rPr sz="1000" spc="-10" dirty="0">
                <a:latin typeface="Arial"/>
                <a:cs typeface="Arial"/>
              </a:rPr>
              <a:t>exactly </a:t>
            </a:r>
            <a:r>
              <a:rPr sz="1000" spc="-5" dirty="0">
                <a:latin typeface="Arial"/>
                <a:cs typeface="Arial"/>
              </a:rPr>
              <a:t>one incoming edge </a:t>
            </a:r>
            <a:r>
              <a:rPr sz="1000" i="1" spc="-5" dirty="0">
                <a:latin typeface="メイリオ"/>
                <a:cs typeface="メイリオ"/>
              </a:rPr>
              <a:t>⇒ </a:t>
            </a:r>
            <a:r>
              <a:rPr sz="1000" spc="-5" dirty="0">
                <a:latin typeface="Arial"/>
                <a:cs typeface="Arial"/>
              </a:rPr>
              <a:t>edge label = node label. </a:t>
            </a:r>
            <a:r>
              <a:rPr sz="1000" spc="-265" dirty="0">
                <a:latin typeface="Arial"/>
                <a:cs typeface="Arial"/>
              </a:rPr>
              <a:t> </a:t>
            </a:r>
            <a:r>
              <a:rPr sz="1000" spc="-5" dirty="0">
                <a:solidFill>
                  <a:srgbClr val="FA0000"/>
                </a:solidFill>
                <a:latin typeface="Arial"/>
                <a:cs typeface="Arial"/>
              </a:rPr>
              <a:t>domain</a:t>
            </a:r>
            <a:r>
              <a:rPr sz="1000" spc="-5" dirty="0">
                <a:latin typeface="Arial"/>
                <a:cs typeface="Arial"/>
              </a:rPr>
              <a:t>:</a:t>
            </a:r>
            <a:r>
              <a:rPr sz="1000" spc="55" dirty="0">
                <a:latin typeface="Arial"/>
                <a:cs typeface="Arial"/>
              </a:rPr>
              <a:t> </a:t>
            </a:r>
            <a:r>
              <a:rPr sz="1000" spc="-5" dirty="0">
                <a:latin typeface="Arial"/>
                <a:cs typeface="Arial"/>
              </a:rPr>
              <a:t>a subtree</a:t>
            </a:r>
            <a:endParaRPr sz="1000">
              <a:latin typeface="Arial"/>
              <a:cs typeface="Arial"/>
            </a:endParaRPr>
          </a:p>
          <a:p>
            <a:pPr marL="302260" indent="-168275">
              <a:lnSpc>
                <a:spcPts val="1190"/>
              </a:lnSpc>
              <a:buClr>
                <a:srgbClr val="3333B2"/>
              </a:buClr>
              <a:buChar char="►"/>
              <a:tabLst>
                <a:tab pos="302895" algn="l"/>
              </a:tabLst>
            </a:pPr>
            <a:r>
              <a:rPr sz="1000" spc="-5" dirty="0">
                <a:solidFill>
                  <a:srgbClr val="FA0000"/>
                </a:solidFill>
                <a:latin typeface="Arial"/>
                <a:cs typeface="Arial"/>
              </a:rPr>
              <a:t>domain</a:t>
            </a:r>
            <a:r>
              <a:rPr sz="1000" spc="-10" dirty="0">
                <a:solidFill>
                  <a:srgbClr val="FA0000"/>
                </a:solidFill>
                <a:latin typeface="Arial"/>
                <a:cs typeface="Arial"/>
              </a:rPr>
              <a:t> </a:t>
            </a:r>
            <a:r>
              <a:rPr sz="1000" spc="-5" dirty="0">
                <a:solidFill>
                  <a:srgbClr val="FA0000"/>
                </a:solidFill>
                <a:latin typeface="Arial"/>
                <a:cs typeface="Arial"/>
              </a:rPr>
              <a:t>name</a:t>
            </a:r>
            <a:r>
              <a:rPr sz="1000" spc="-5" dirty="0">
                <a:latin typeface="Arial"/>
                <a:cs typeface="Arial"/>
              </a:rPr>
              <a:t>:</a:t>
            </a:r>
            <a:r>
              <a:rPr sz="1000" spc="60" dirty="0">
                <a:latin typeface="Arial"/>
                <a:cs typeface="Arial"/>
              </a:rPr>
              <a:t> </a:t>
            </a:r>
            <a:r>
              <a:rPr sz="1000" spc="-5" dirty="0">
                <a:latin typeface="Arial"/>
                <a:cs typeface="Arial"/>
              </a:rPr>
              <a:t>a path name to a </a:t>
            </a:r>
            <a:r>
              <a:rPr sz="1000" spc="-10" dirty="0">
                <a:latin typeface="Arial"/>
                <a:cs typeface="Arial"/>
              </a:rPr>
              <a:t>domain’s </a:t>
            </a:r>
            <a:r>
              <a:rPr sz="1000" spc="-5" dirty="0">
                <a:latin typeface="Arial"/>
                <a:cs typeface="Arial"/>
              </a:rPr>
              <a:t>root node.</a:t>
            </a:r>
            <a:endParaRPr sz="1000">
              <a:latin typeface="Arial"/>
              <a:cs typeface="Arial"/>
            </a:endParaRPr>
          </a:p>
          <a:p>
            <a:pPr marL="25400">
              <a:lnSpc>
                <a:spcPct val="100000"/>
              </a:lnSpc>
              <a:spcBef>
                <a:spcPts val="600"/>
              </a:spcBef>
            </a:pPr>
            <a:r>
              <a:rPr sz="1200" spc="-5" dirty="0">
                <a:solidFill>
                  <a:srgbClr val="3333B2"/>
                </a:solidFill>
                <a:latin typeface="Arial"/>
                <a:cs typeface="Arial"/>
              </a:rPr>
              <a:t>Information</a:t>
            </a:r>
            <a:r>
              <a:rPr sz="1200" spc="-25" dirty="0">
                <a:solidFill>
                  <a:srgbClr val="3333B2"/>
                </a:solidFill>
                <a:latin typeface="Arial"/>
                <a:cs typeface="Arial"/>
              </a:rPr>
              <a:t> </a:t>
            </a:r>
            <a:r>
              <a:rPr sz="1200" spc="-5" dirty="0">
                <a:solidFill>
                  <a:srgbClr val="3333B2"/>
                </a:solidFill>
                <a:latin typeface="Arial"/>
                <a:cs typeface="Arial"/>
              </a:rPr>
              <a:t>in</a:t>
            </a:r>
            <a:r>
              <a:rPr sz="1200" spc="-20" dirty="0">
                <a:solidFill>
                  <a:srgbClr val="3333B2"/>
                </a:solidFill>
                <a:latin typeface="Arial"/>
                <a:cs typeface="Arial"/>
              </a:rPr>
              <a:t> </a:t>
            </a:r>
            <a:r>
              <a:rPr sz="1200" spc="-5" dirty="0">
                <a:solidFill>
                  <a:srgbClr val="3333B2"/>
                </a:solidFill>
                <a:latin typeface="Arial"/>
                <a:cs typeface="Arial"/>
              </a:rPr>
              <a:t>a</a:t>
            </a:r>
            <a:r>
              <a:rPr sz="1200" spc="-20" dirty="0">
                <a:solidFill>
                  <a:srgbClr val="3333B2"/>
                </a:solidFill>
                <a:latin typeface="Arial"/>
                <a:cs typeface="Arial"/>
              </a:rPr>
              <a:t> </a:t>
            </a:r>
            <a:r>
              <a:rPr sz="1200" spc="-5" dirty="0">
                <a:solidFill>
                  <a:srgbClr val="3333B2"/>
                </a:solidFill>
                <a:latin typeface="Arial"/>
                <a:cs typeface="Arial"/>
              </a:rPr>
              <a:t>node</a:t>
            </a:r>
            <a:endParaRPr sz="1200">
              <a:latin typeface="Arial"/>
              <a:cs typeface="Arial"/>
            </a:endParaRPr>
          </a:p>
        </p:txBody>
      </p:sp>
      <p:graphicFrame>
        <p:nvGraphicFramePr>
          <p:cNvPr id="7" name="object 7"/>
          <p:cNvGraphicFramePr>
            <a:graphicFrameLocks noGrp="1"/>
          </p:cNvGraphicFramePr>
          <p:nvPr/>
        </p:nvGraphicFramePr>
        <p:xfrm>
          <a:off x="633463" y="1579067"/>
          <a:ext cx="3336289" cy="1595120"/>
        </p:xfrm>
        <a:graphic>
          <a:graphicData uri="http://schemas.openxmlformats.org/drawingml/2006/table">
            <a:tbl>
              <a:tblPr firstRow="1" bandRow="1">
                <a:tableStyleId>{2D5ABB26-0587-4C30-8999-92F81FD0307C}</a:tableStyleId>
              </a:tblPr>
              <a:tblGrid>
                <a:gridCol w="579120">
                  <a:extLst>
                    <a:ext uri="{9D8B030D-6E8A-4147-A177-3AD203B41FA5}">
                      <a16:colId xmlns:a16="http://schemas.microsoft.com/office/drawing/2014/main" val="20000"/>
                    </a:ext>
                  </a:extLst>
                </a:gridCol>
                <a:gridCol w="647699">
                  <a:extLst>
                    <a:ext uri="{9D8B030D-6E8A-4147-A177-3AD203B41FA5}">
                      <a16:colId xmlns:a16="http://schemas.microsoft.com/office/drawing/2014/main" val="20001"/>
                    </a:ext>
                  </a:extLst>
                </a:gridCol>
                <a:gridCol w="2109470">
                  <a:extLst>
                    <a:ext uri="{9D8B030D-6E8A-4147-A177-3AD203B41FA5}">
                      <a16:colId xmlns:a16="http://schemas.microsoft.com/office/drawing/2014/main" val="20002"/>
                    </a:ext>
                  </a:extLst>
                </a:gridCol>
              </a:tblGrid>
              <a:tr h="165100">
                <a:tc>
                  <a:txBody>
                    <a:bodyPr/>
                    <a:lstStyle/>
                    <a:p>
                      <a:pPr marL="78105">
                        <a:lnSpc>
                          <a:spcPts val="1045"/>
                        </a:lnSpc>
                      </a:pPr>
                      <a:r>
                        <a:rPr sz="900" b="1" spc="-20" dirty="0">
                          <a:latin typeface="Arial"/>
                          <a:cs typeface="Arial"/>
                        </a:rPr>
                        <a:t>Type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1045"/>
                        </a:lnSpc>
                      </a:pPr>
                      <a:r>
                        <a:rPr sz="900" b="1" spc="-10" dirty="0">
                          <a:latin typeface="Arial"/>
                          <a:cs typeface="Arial"/>
                        </a:rPr>
                        <a:t>Refers</a:t>
                      </a:r>
                      <a:r>
                        <a:rPr sz="900" b="1" spc="-40" dirty="0">
                          <a:latin typeface="Arial"/>
                          <a:cs typeface="Arial"/>
                        </a:rPr>
                        <a:t> </a:t>
                      </a:r>
                      <a:r>
                        <a:rPr sz="900" b="1" spc="-5" dirty="0">
                          <a:latin typeface="Arial"/>
                          <a:cs typeface="Arial"/>
                        </a:rPr>
                        <a:t>to</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1045"/>
                        </a:lnSpc>
                      </a:pPr>
                      <a:r>
                        <a:rPr sz="900" b="1" spc="-5" dirty="0">
                          <a:latin typeface="Arial"/>
                          <a:cs typeface="Arial"/>
                        </a:rPr>
                        <a:t>Description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65100">
                <a:tc>
                  <a:txBody>
                    <a:bodyPr/>
                    <a:lstStyle/>
                    <a:p>
                      <a:pPr marL="78105">
                        <a:lnSpc>
                          <a:spcPct val="100000"/>
                        </a:lnSpc>
                        <a:spcBef>
                          <a:spcPts val="15"/>
                        </a:spcBef>
                      </a:pPr>
                      <a:r>
                        <a:rPr sz="900" i="1" spc="-10" dirty="0">
                          <a:latin typeface="Arial"/>
                          <a:cs typeface="Arial"/>
                        </a:rPr>
                        <a:t>SOA</a:t>
                      </a:r>
                      <a:endParaRPr sz="900">
                        <a:latin typeface="Arial"/>
                        <a:cs typeface="Arial"/>
                      </a:endParaRPr>
                    </a:p>
                  </a:txBody>
                  <a:tcPr marL="0" marR="0" marT="190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
                        </a:spcBef>
                      </a:pPr>
                      <a:r>
                        <a:rPr sz="900" spc="-5" dirty="0">
                          <a:latin typeface="Arial"/>
                          <a:cs typeface="Arial"/>
                        </a:rPr>
                        <a:t>Zone</a:t>
                      </a:r>
                      <a:endParaRPr sz="900">
                        <a:latin typeface="Arial"/>
                        <a:cs typeface="Arial"/>
                      </a:endParaRPr>
                    </a:p>
                  </a:txBody>
                  <a:tcPr marL="0" marR="0" marT="190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
                        </a:spcBef>
                      </a:pPr>
                      <a:r>
                        <a:rPr sz="900" spc="-5" dirty="0">
                          <a:latin typeface="Arial"/>
                          <a:cs typeface="Arial"/>
                        </a:rPr>
                        <a:t>Holds</a:t>
                      </a:r>
                      <a:r>
                        <a:rPr sz="900" spc="-10" dirty="0">
                          <a:latin typeface="Arial"/>
                          <a:cs typeface="Arial"/>
                        </a:rPr>
                        <a:t> info</a:t>
                      </a:r>
                      <a:r>
                        <a:rPr sz="900" spc="-5" dirty="0">
                          <a:latin typeface="Arial"/>
                          <a:cs typeface="Arial"/>
                        </a:rPr>
                        <a:t> on the</a:t>
                      </a:r>
                      <a:r>
                        <a:rPr sz="900" spc="-10" dirty="0">
                          <a:latin typeface="Arial"/>
                          <a:cs typeface="Arial"/>
                        </a:rPr>
                        <a:t> </a:t>
                      </a:r>
                      <a:r>
                        <a:rPr sz="900" spc="-5" dirty="0">
                          <a:latin typeface="Arial"/>
                          <a:cs typeface="Arial"/>
                        </a:rPr>
                        <a:t>represented </a:t>
                      </a:r>
                      <a:r>
                        <a:rPr sz="900" spc="-10" dirty="0">
                          <a:latin typeface="Arial"/>
                          <a:cs typeface="Arial"/>
                        </a:rPr>
                        <a:t>zone</a:t>
                      </a:r>
                      <a:endParaRPr sz="900">
                        <a:latin typeface="Arial"/>
                        <a:cs typeface="Arial"/>
                      </a:endParaRPr>
                    </a:p>
                  </a:txBody>
                  <a:tcPr marL="0" marR="0" marT="190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58115">
                <a:tc>
                  <a:txBody>
                    <a:bodyPr/>
                    <a:lstStyle/>
                    <a:p>
                      <a:pPr marL="78105">
                        <a:lnSpc>
                          <a:spcPts val="1045"/>
                        </a:lnSpc>
                      </a:pPr>
                      <a:r>
                        <a:rPr sz="900" i="1" dirty="0">
                          <a:latin typeface="Arial"/>
                          <a:cs typeface="Arial"/>
                        </a:rPr>
                        <a:t>A</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Host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IP </a:t>
                      </a:r>
                      <a:r>
                        <a:rPr sz="900" spc="-15" dirty="0">
                          <a:latin typeface="Arial"/>
                          <a:cs typeface="Arial"/>
                        </a:rPr>
                        <a:t>addr.</a:t>
                      </a:r>
                      <a:r>
                        <a:rPr sz="900" spc="55" dirty="0">
                          <a:latin typeface="Arial"/>
                          <a:cs typeface="Arial"/>
                        </a:rPr>
                        <a:t> </a:t>
                      </a:r>
                      <a:r>
                        <a:rPr sz="900" spc="-5" dirty="0">
                          <a:latin typeface="Arial"/>
                          <a:cs typeface="Arial"/>
                        </a:rPr>
                        <a:t>of host</a:t>
                      </a:r>
                      <a:r>
                        <a:rPr sz="900" dirty="0">
                          <a:latin typeface="Arial"/>
                          <a:cs typeface="Arial"/>
                        </a:rPr>
                        <a:t> </a:t>
                      </a:r>
                      <a:r>
                        <a:rPr sz="900" spc="-5" dirty="0">
                          <a:latin typeface="Arial"/>
                          <a:cs typeface="Arial"/>
                        </a:rPr>
                        <a:t>this node represents</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8115">
                <a:tc>
                  <a:txBody>
                    <a:bodyPr/>
                    <a:lstStyle/>
                    <a:p>
                      <a:pPr marL="78105">
                        <a:lnSpc>
                          <a:spcPts val="1045"/>
                        </a:lnSpc>
                      </a:pPr>
                      <a:r>
                        <a:rPr sz="900" i="1" spc="-5" dirty="0">
                          <a:latin typeface="Arial"/>
                          <a:cs typeface="Arial"/>
                        </a:rPr>
                        <a:t>MX</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Domain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Mail server to handle</a:t>
                      </a:r>
                      <a:r>
                        <a:rPr sz="900" dirty="0">
                          <a:latin typeface="Arial"/>
                          <a:cs typeface="Arial"/>
                        </a:rPr>
                        <a:t> </a:t>
                      </a:r>
                      <a:r>
                        <a:rPr sz="900" spc="-5" dirty="0">
                          <a:latin typeface="Arial"/>
                          <a:cs typeface="Arial"/>
                        </a:rPr>
                        <a:t>mail </a:t>
                      </a:r>
                      <a:r>
                        <a:rPr sz="900" spc="-15" dirty="0">
                          <a:latin typeface="Arial"/>
                          <a:cs typeface="Arial"/>
                        </a:rPr>
                        <a:t>for</a:t>
                      </a:r>
                      <a:r>
                        <a:rPr sz="900" spc="-5" dirty="0">
                          <a:latin typeface="Arial"/>
                          <a:cs typeface="Arial"/>
                        </a:rPr>
                        <a:t> this node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58115">
                <a:tc>
                  <a:txBody>
                    <a:bodyPr/>
                    <a:lstStyle/>
                    <a:p>
                      <a:pPr marL="78105">
                        <a:lnSpc>
                          <a:spcPts val="1045"/>
                        </a:lnSpc>
                      </a:pPr>
                      <a:r>
                        <a:rPr sz="900" i="1" spc="-20" dirty="0">
                          <a:latin typeface="Arial"/>
                          <a:cs typeface="Arial"/>
                        </a:rPr>
                        <a:t>SRV</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Domain</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Server</a:t>
                      </a:r>
                      <a:r>
                        <a:rPr sz="900" spc="-10" dirty="0">
                          <a:latin typeface="Arial"/>
                          <a:cs typeface="Arial"/>
                        </a:rPr>
                        <a:t> </a:t>
                      </a:r>
                      <a:r>
                        <a:rPr sz="900" spc="-5" dirty="0">
                          <a:latin typeface="Arial"/>
                          <a:cs typeface="Arial"/>
                        </a:rPr>
                        <a:t>handling a specific</a:t>
                      </a:r>
                      <a:r>
                        <a:rPr sz="900" spc="-10" dirty="0">
                          <a:latin typeface="Arial"/>
                          <a:cs typeface="Arial"/>
                        </a:rPr>
                        <a:t> </a:t>
                      </a:r>
                      <a:r>
                        <a:rPr sz="900" dirty="0">
                          <a:latin typeface="Arial"/>
                          <a:cs typeface="Arial"/>
                        </a:rPr>
                        <a:t>service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8115">
                <a:tc>
                  <a:txBody>
                    <a:bodyPr/>
                    <a:lstStyle/>
                    <a:p>
                      <a:pPr marL="78105">
                        <a:lnSpc>
                          <a:spcPts val="1045"/>
                        </a:lnSpc>
                      </a:pPr>
                      <a:r>
                        <a:rPr sz="900" i="1" spc="-5" dirty="0">
                          <a:latin typeface="Arial"/>
                          <a:cs typeface="Arial"/>
                        </a:rPr>
                        <a:t>NS</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Zone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Name server </a:t>
                      </a:r>
                      <a:r>
                        <a:rPr sz="900" spc="-15" dirty="0">
                          <a:latin typeface="Arial"/>
                          <a:cs typeface="Arial"/>
                        </a:rPr>
                        <a:t>for</a:t>
                      </a:r>
                      <a:r>
                        <a:rPr sz="900" spc="-5" dirty="0">
                          <a:latin typeface="Arial"/>
                          <a:cs typeface="Arial"/>
                        </a:rPr>
                        <a:t> the represented </a:t>
                      </a:r>
                      <a:r>
                        <a:rPr sz="900" spc="-10" dirty="0">
                          <a:latin typeface="Arial"/>
                          <a:cs typeface="Arial"/>
                        </a:rPr>
                        <a:t>zone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158115">
                <a:tc>
                  <a:txBody>
                    <a:bodyPr/>
                    <a:lstStyle/>
                    <a:p>
                      <a:pPr marL="78105">
                        <a:lnSpc>
                          <a:spcPts val="1045"/>
                        </a:lnSpc>
                      </a:pPr>
                      <a:r>
                        <a:rPr sz="900" i="1" spc="-5" dirty="0">
                          <a:latin typeface="Arial"/>
                          <a:cs typeface="Arial"/>
                        </a:rPr>
                        <a:t>CNAME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Node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Symbolic</a:t>
                      </a:r>
                      <a:r>
                        <a:rPr sz="900" spc="-35" dirty="0">
                          <a:latin typeface="Arial"/>
                          <a:cs typeface="Arial"/>
                        </a:rPr>
                        <a:t> </a:t>
                      </a:r>
                      <a:r>
                        <a:rPr sz="900" spc="-5" dirty="0">
                          <a:latin typeface="Arial"/>
                          <a:cs typeface="Arial"/>
                        </a:rPr>
                        <a:t>link</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158115">
                <a:tc>
                  <a:txBody>
                    <a:bodyPr/>
                    <a:lstStyle/>
                    <a:p>
                      <a:pPr marL="78105">
                        <a:lnSpc>
                          <a:spcPts val="1045"/>
                        </a:lnSpc>
                      </a:pPr>
                      <a:r>
                        <a:rPr sz="900" i="1" spc="-5" dirty="0">
                          <a:latin typeface="Arial"/>
                          <a:cs typeface="Arial"/>
                        </a:rPr>
                        <a:t>PTR</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Host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Canonical</a:t>
                      </a:r>
                      <a:r>
                        <a:rPr sz="900" spc="-15" dirty="0">
                          <a:latin typeface="Arial"/>
                          <a:cs typeface="Arial"/>
                        </a:rPr>
                        <a:t> </a:t>
                      </a:r>
                      <a:r>
                        <a:rPr sz="900" spc="-5" dirty="0">
                          <a:latin typeface="Arial"/>
                          <a:cs typeface="Arial"/>
                        </a:rPr>
                        <a:t>name</a:t>
                      </a:r>
                      <a:r>
                        <a:rPr sz="900" spc="-10" dirty="0">
                          <a:latin typeface="Arial"/>
                          <a:cs typeface="Arial"/>
                        </a:rPr>
                        <a:t> </a:t>
                      </a:r>
                      <a:r>
                        <a:rPr sz="900" spc="-5" dirty="0">
                          <a:latin typeface="Arial"/>
                          <a:cs typeface="Arial"/>
                        </a:rPr>
                        <a:t>of</a:t>
                      </a:r>
                      <a:r>
                        <a:rPr sz="900" spc="-15" dirty="0">
                          <a:latin typeface="Arial"/>
                          <a:cs typeface="Arial"/>
                        </a:rPr>
                        <a:t> </a:t>
                      </a:r>
                      <a:r>
                        <a:rPr sz="900" spc="-5" dirty="0">
                          <a:latin typeface="Arial"/>
                          <a:cs typeface="Arial"/>
                        </a:rPr>
                        <a:t>a</a:t>
                      </a:r>
                      <a:r>
                        <a:rPr sz="900" spc="-10" dirty="0">
                          <a:latin typeface="Arial"/>
                          <a:cs typeface="Arial"/>
                        </a:rPr>
                        <a:t> </a:t>
                      </a:r>
                      <a:r>
                        <a:rPr sz="900" spc="-5" dirty="0">
                          <a:latin typeface="Arial"/>
                          <a:cs typeface="Arial"/>
                        </a:rPr>
                        <a:t>host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158115">
                <a:tc>
                  <a:txBody>
                    <a:bodyPr/>
                    <a:lstStyle/>
                    <a:p>
                      <a:pPr marL="78105">
                        <a:lnSpc>
                          <a:spcPts val="1045"/>
                        </a:lnSpc>
                      </a:pPr>
                      <a:r>
                        <a:rPr sz="900" i="1" spc="-5" dirty="0">
                          <a:latin typeface="Arial"/>
                          <a:cs typeface="Arial"/>
                        </a:rPr>
                        <a:t>HINFO</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5" dirty="0">
                          <a:latin typeface="Arial"/>
                          <a:cs typeface="Arial"/>
                        </a:rPr>
                        <a:t>Host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10" dirty="0">
                          <a:latin typeface="Arial"/>
                          <a:cs typeface="Arial"/>
                        </a:rPr>
                        <a:t>Info</a:t>
                      </a:r>
                      <a:r>
                        <a:rPr sz="900" spc="-20" dirty="0">
                          <a:latin typeface="Arial"/>
                          <a:cs typeface="Arial"/>
                        </a:rPr>
                        <a:t> </a:t>
                      </a:r>
                      <a:r>
                        <a:rPr sz="900" spc="-5" dirty="0">
                          <a:latin typeface="Arial"/>
                          <a:cs typeface="Arial"/>
                        </a:rPr>
                        <a:t>on</a:t>
                      </a:r>
                      <a:r>
                        <a:rPr sz="900" spc="-20" dirty="0">
                          <a:latin typeface="Arial"/>
                          <a:cs typeface="Arial"/>
                        </a:rPr>
                        <a:t> </a:t>
                      </a:r>
                      <a:r>
                        <a:rPr sz="900" spc="-5" dirty="0">
                          <a:latin typeface="Arial"/>
                          <a:cs typeface="Arial"/>
                        </a:rPr>
                        <a:t>this</a:t>
                      </a:r>
                      <a:r>
                        <a:rPr sz="900" spc="-20" dirty="0">
                          <a:latin typeface="Arial"/>
                          <a:cs typeface="Arial"/>
                        </a:rPr>
                        <a:t> </a:t>
                      </a:r>
                      <a:r>
                        <a:rPr sz="900" spc="-5" dirty="0">
                          <a:latin typeface="Arial"/>
                          <a:cs typeface="Arial"/>
                        </a:rPr>
                        <a:t>host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158115">
                <a:tc>
                  <a:txBody>
                    <a:bodyPr/>
                    <a:lstStyle/>
                    <a:p>
                      <a:pPr marL="78105">
                        <a:lnSpc>
                          <a:spcPts val="1045"/>
                        </a:lnSpc>
                      </a:pPr>
                      <a:r>
                        <a:rPr sz="900" i="1" spc="-5" dirty="0">
                          <a:latin typeface="Arial"/>
                          <a:cs typeface="Arial"/>
                        </a:rPr>
                        <a:t>TXT</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10" dirty="0">
                          <a:latin typeface="Arial"/>
                          <a:cs typeface="Arial"/>
                        </a:rPr>
                        <a:t>Any</a:t>
                      </a:r>
                      <a:r>
                        <a:rPr sz="900" spc="-40" dirty="0">
                          <a:latin typeface="Arial"/>
                          <a:cs typeface="Arial"/>
                        </a:rPr>
                        <a:t> </a:t>
                      </a:r>
                      <a:r>
                        <a:rPr sz="900" spc="-5" dirty="0">
                          <a:latin typeface="Arial"/>
                          <a:cs typeface="Arial"/>
                        </a:rPr>
                        <a:t>kind</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ts val="1045"/>
                        </a:lnSpc>
                      </a:pPr>
                      <a:r>
                        <a:rPr sz="900" spc="-10" dirty="0">
                          <a:latin typeface="Arial"/>
                          <a:cs typeface="Arial"/>
                        </a:rPr>
                        <a:t>Any</a:t>
                      </a:r>
                      <a:r>
                        <a:rPr sz="900" spc="-15" dirty="0">
                          <a:latin typeface="Arial"/>
                          <a:cs typeface="Arial"/>
                        </a:rPr>
                        <a:t> </a:t>
                      </a:r>
                      <a:r>
                        <a:rPr sz="900" spc="-10" dirty="0">
                          <a:latin typeface="Arial"/>
                          <a:cs typeface="Arial"/>
                        </a:rPr>
                        <a:t>info</a:t>
                      </a:r>
                      <a:r>
                        <a:rPr sz="900" spc="-15" dirty="0">
                          <a:latin typeface="Arial"/>
                          <a:cs typeface="Arial"/>
                        </a:rPr>
                        <a:t> </a:t>
                      </a:r>
                      <a:r>
                        <a:rPr sz="900" spc="-5" dirty="0">
                          <a:latin typeface="Arial"/>
                          <a:cs typeface="Arial"/>
                        </a:rPr>
                        <a:t>considered</a:t>
                      </a:r>
                      <a:r>
                        <a:rPr sz="900" spc="-10" dirty="0">
                          <a:latin typeface="Arial"/>
                          <a:cs typeface="Arial"/>
                        </a:rPr>
                        <a:t> </a:t>
                      </a:r>
                      <a:r>
                        <a:rPr sz="900" spc="-5" dirty="0">
                          <a:latin typeface="Arial"/>
                          <a:cs typeface="Arial"/>
                        </a:rPr>
                        <a:t>useful</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
        <p:nvSpPr>
          <p:cNvPr id="8" name="object 8"/>
          <p:cNvSpPr txBox="1"/>
          <p:nvPr/>
        </p:nvSpPr>
        <p:spPr>
          <a:xfrm>
            <a:off x="66713" y="3327684"/>
            <a:ext cx="7727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The</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DNS</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name</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space</a:t>
            </a:r>
            <a:endParaRPr sz="600">
              <a:latin typeface="Arial"/>
              <a:cs typeface="Arial"/>
            </a:endParaRPr>
          </a:p>
        </p:txBody>
      </p:sp>
      <p:sp>
        <p:nvSpPr>
          <p:cNvPr id="9" name="object 9"/>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Attribute-based</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naming</a:t>
            </a:r>
            <a:endParaRPr sz="600">
              <a:latin typeface="Arial"/>
              <a:cs typeface="Arial"/>
            </a:endParaRPr>
          </a:p>
        </p:txBody>
      </p:sp>
      <p:sp>
        <p:nvSpPr>
          <p:cNvPr id="3" name="object 3"/>
          <p:cNvSpPr txBox="1"/>
          <p:nvPr/>
        </p:nvSpPr>
        <p:spPr>
          <a:xfrm>
            <a:off x="3908196"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Directo</a:t>
            </a:r>
            <a:r>
              <a:rPr sz="600" spc="10" dirty="0">
                <a:solidFill>
                  <a:srgbClr val="262685"/>
                </a:solidFill>
                <a:latin typeface="Arial"/>
                <a:cs typeface="Arial"/>
                <a:hlinkClick r:id="rId3" action="ppaction://hlinksldjump"/>
              </a:rPr>
              <a:t>r</a:t>
            </a:r>
            <a:r>
              <a:rPr sz="600" spc="-5" dirty="0">
                <a:solidFill>
                  <a:srgbClr val="262685"/>
                </a:solidFill>
                <a:latin typeface="Arial"/>
                <a:cs typeface="Arial"/>
                <a:hlinkClick r:id="rId3" action="ppaction://hlinksldjump"/>
              </a:rPr>
              <a:t>y se</a:t>
            </a:r>
            <a:r>
              <a:rPr sz="600" spc="10" dirty="0">
                <a:solidFill>
                  <a:srgbClr val="262685"/>
                </a:solidFill>
                <a:latin typeface="Arial"/>
                <a:cs typeface="Arial"/>
                <a:hlinkClick r:id="rId3" action="ppaction://hlinksldjump"/>
              </a:rPr>
              <a:t>r</a:t>
            </a:r>
            <a:r>
              <a:rPr sz="600" spc="-5" dirty="0">
                <a:solidFill>
                  <a:srgbClr val="262685"/>
                </a:solidFill>
                <a:latin typeface="Arial"/>
                <a:cs typeface="Arial"/>
                <a:hlinkClick r:id="rId3" action="ppaction://hlinksldjump"/>
              </a:rPr>
              <a:t>vices</a:t>
            </a:r>
            <a:endParaRPr sz="600">
              <a:latin typeface="Arial"/>
              <a:cs typeface="Arial"/>
            </a:endParaRPr>
          </a:p>
        </p:txBody>
      </p:sp>
      <p:sp>
        <p:nvSpPr>
          <p:cNvPr id="4" name="object 4"/>
          <p:cNvSpPr txBox="1"/>
          <p:nvPr/>
        </p:nvSpPr>
        <p:spPr>
          <a:xfrm>
            <a:off x="95300" y="188846"/>
            <a:ext cx="190817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Attribute-based</a:t>
            </a:r>
            <a:r>
              <a:rPr sz="1400" dirty="0">
                <a:solidFill>
                  <a:srgbClr val="3333B2"/>
                </a:solidFill>
                <a:latin typeface="Arial"/>
                <a:cs typeface="Arial"/>
              </a:rPr>
              <a:t> </a:t>
            </a:r>
            <a:r>
              <a:rPr sz="1400" spc="15" dirty="0">
                <a:solidFill>
                  <a:srgbClr val="3333B2"/>
                </a:solidFill>
                <a:latin typeface="Arial"/>
                <a:cs typeface="Arial"/>
              </a:rPr>
              <a:t>naming</a:t>
            </a:r>
            <a:endParaRPr sz="1400">
              <a:latin typeface="Arial"/>
              <a:cs typeface="Arial"/>
            </a:endParaRPr>
          </a:p>
        </p:txBody>
      </p:sp>
      <p:sp>
        <p:nvSpPr>
          <p:cNvPr id="5" name="object 5"/>
          <p:cNvSpPr txBox="1"/>
          <p:nvPr/>
        </p:nvSpPr>
        <p:spPr>
          <a:xfrm>
            <a:off x="343128" y="1022207"/>
            <a:ext cx="3759835" cy="65722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2700" marR="5080" indent="3810">
              <a:lnSpc>
                <a:spcPts val="1200"/>
              </a:lnSpc>
              <a:spcBef>
                <a:spcPts val="10"/>
              </a:spcBef>
            </a:pPr>
            <a:r>
              <a:rPr sz="1000" spc="-5" dirty="0">
                <a:latin typeface="Arial"/>
                <a:cs typeface="Arial"/>
              </a:rPr>
              <a:t>In </a:t>
            </a:r>
            <a:r>
              <a:rPr sz="1000" spc="-10" dirty="0">
                <a:latin typeface="Arial"/>
                <a:cs typeface="Arial"/>
              </a:rPr>
              <a:t>many</a:t>
            </a:r>
            <a:r>
              <a:rPr sz="1000" dirty="0">
                <a:latin typeface="Arial"/>
                <a:cs typeface="Arial"/>
              </a:rPr>
              <a:t> </a:t>
            </a:r>
            <a:r>
              <a:rPr sz="1000" spc="-5" dirty="0">
                <a:latin typeface="Arial"/>
                <a:cs typeface="Arial"/>
              </a:rPr>
              <a:t>cases, it</a:t>
            </a:r>
            <a:r>
              <a:rPr sz="1000" dirty="0">
                <a:latin typeface="Arial"/>
                <a:cs typeface="Arial"/>
              </a:rPr>
              <a:t> </a:t>
            </a:r>
            <a:r>
              <a:rPr sz="1000" spc="-5" dirty="0">
                <a:latin typeface="Arial"/>
                <a:cs typeface="Arial"/>
              </a:rPr>
              <a:t>is much</a:t>
            </a:r>
            <a:r>
              <a:rPr sz="1000" dirty="0">
                <a:latin typeface="Arial"/>
                <a:cs typeface="Arial"/>
              </a:rPr>
              <a:t> </a:t>
            </a:r>
            <a:r>
              <a:rPr sz="1000" spc="-5" dirty="0">
                <a:latin typeface="Arial"/>
                <a:cs typeface="Arial"/>
              </a:rPr>
              <a:t>more</a:t>
            </a:r>
            <a:r>
              <a:rPr sz="1000" dirty="0">
                <a:latin typeface="Arial"/>
                <a:cs typeface="Arial"/>
              </a:rPr>
              <a:t> </a:t>
            </a:r>
            <a:r>
              <a:rPr sz="1000" spc="-10" dirty="0">
                <a:latin typeface="Arial"/>
                <a:cs typeface="Arial"/>
              </a:rPr>
              <a:t>convenient</a:t>
            </a:r>
            <a:r>
              <a:rPr sz="1000" spc="-5" dirty="0">
                <a:latin typeface="Arial"/>
                <a:cs typeface="Arial"/>
              </a:rPr>
              <a:t> to</a:t>
            </a:r>
            <a:r>
              <a:rPr sz="1000" dirty="0">
                <a:latin typeface="Arial"/>
                <a:cs typeface="Arial"/>
              </a:rPr>
              <a:t> </a:t>
            </a:r>
            <a:r>
              <a:rPr sz="1000" spc="-10" dirty="0">
                <a:latin typeface="Arial"/>
                <a:cs typeface="Arial"/>
              </a:rPr>
              <a:t>name,</a:t>
            </a:r>
            <a:r>
              <a:rPr sz="1000" spc="-5" dirty="0">
                <a:latin typeface="Arial"/>
                <a:cs typeface="Arial"/>
              </a:rPr>
              <a:t> and</a:t>
            </a:r>
            <a:r>
              <a:rPr sz="1000" dirty="0">
                <a:latin typeface="Arial"/>
                <a:cs typeface="Arial"/>
              </a:rPr>
              <a:t> </a:t>
            </a:r>
            <a:r>
              <a:rPr sz="1000" spc="-5" dirty="0">
                <a:latin typeface="Arial"/>
                <a:cs typeface="Arial"/>
              </a:rPr>
              <a:t>look</a:t>
            </a:r>
            <a:r>
              <a:rPr sz="1000" dirty="0">
                <a:latin typeface="Arial"/>
                <a:cs typeface="Arial"/>
              </a:rPr>
              <a:t> </a:t>
            </a:r>
            <a:r>
              <a:rPr sz="1000" spc="-5" dirty="0">
                <a:latin typeface="Arial"/>
                <a:cs typeface="Arial"/>
              </a:rPr>
              <a:t>up </a:t>
            </a:r>
            <a:r>
              <a:rPr sz="1000" dirty="0">
                <a:latin typeface="Arial"/>
                <a:cs typeface="Arial"/>
              </a:rPr>
              <a:t> </a:t>
            </a:r>
            <a:r>
              <a:rPr sz="1000" spc="-5" dirty="0">
                <a:latin typeface="Arial"/>
                <a:cs typeface="Arial"/>
              </a:rPr>
              <a:t>entities </a:t>
            </a:r>
            <a:r>
              <a:rPr sz="1000" spc="-15" dirty="0">
                <a:latin typeface="Arial"/>
                <a:cs typeface="Arial"/>
              </a:rPr>
              <a:t>by </a:t>
            </a:r>
            <a:r>
              <a:rPr sz="1000" spc="-5" dirty="0">
                <a:latin typeface="Arial"/>
                <a:cs typeface="Arial"/>
              </a:rPr>
              <a:t>means of their </a:t>
            </a:r>
            <a:r>
              <a:rPr sz="1000" spc="-5" dirty="0">
                <a:solidFill>
                  <a:srgbClr val="FA0000"/>
                </a:solidFill>
                <a:latin typeface="Arial"/>
                <a:cs typeface="Arial"/>
              </a:rPr>
              <a:t>attributes </a:t>
            </a:r>
            <a:r>
              <a:rPr sz="1000" i="1" spc="-5" dirty="0">
                <a:latin typeface="メイリオ"/>
                <a:cs typeface="メイリオ"/>
              </a:rPr>
              <a:t>⇒ </a:t>
            </a:r>
            <a:r>
              <a:rPr sz="1000" spc="-5" dirty="0">
                <a:latin typeface="Arial"/>
                <a:cs typeface="Arial"/>
              </a:rPr>
              <a:t>traditional </a:t>
            </a:r>
            <a:r>
              <a:rPr sz="1000" dirty="0">
                <a:solidFill>
                  <a:srgbClr val="FA0000"/>
                </a:solidFill>
                <a:latin typeface="Arial"/>
                <a:cs typeface="Arial"/>
              </a:rPr>
              <a:t>directory services </a:t>
            </a:r>
            <a:r>
              <a:rPr sz="1000" spc="-265" dirty="0">
                <a:solidFill>
                  <a:srgbClr val="FA0000"/>
                </a:solidFill>
                <a:latin typeface="Arial"/>
                <a:cs typeface="Arial"/>
              </a:rPr>
              <a:t> </a:t>
            </a:r>
            <a:r>
              <a:rPr sz="1000" spc="-5" dirty="0">
                <a:latin typeface="Arial"/>
                <a:cs typeface="Arial"/>
              </a:rPr>
              <a:t>(aka</a:t>
            </a:r>
            <a:r>
              <a:rPr sz="1000" spc="-10" dirty="0">
                <a:latin typeface="Arial"/>
                <a:cs typeface="Arial"/>
              </a:rPr>
              <a:t> </a:t>
            </a:r>
            <a:r>
              <a:rPr sz="1000" spc="-10" dirty="0">
                <a:solidFill>
                  <a:srgbClr val="FA0000"/>
                </a:solidFill>
                <a:latin typeface="Arial"/>
                <a:cs typeface="Arial"/>
              </a:rPr>
              <a:t>yellow</a:t>
            </a:r>
            <a:r>
              <a:rPr sz="1000" spc="-5" dirty="0">
                <a:solidFill>
                  <a:srgbClr val="FA0000"/>
                </a:solidFill>
                <a:latin typeface="Arial"/>
                <a:cs typeface="Arial"/>
              </a:rPr>
              <a:t> pages</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46</a:t>
            </a:r>
            <a:endParaRPr sz="600">
              <a:latin typeface="Arial"/>
              <a:cs typeface="Arial"/>
            </a:endParaRP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Attribute-based naming</a:t>
            </a:r>
            <a:endParaRPr sz="600">
              <a:latin typeface="Arial"/>
              <a:cs typeface="Arial"/>
            </a:endParaRPr>
          </a:p>
        </p:txBody>
      </p:sp>
      <p:sp>
        <p:nvSpPr>
          <p:cNvPr id="3" name="object 3"/>
          <p:cNvSpPr txBox="1"/>
          <p:nvPr/>
        </p:nvSpPr>
        <p:spPr>
          <a:xfrm>
            <a:off x="3908196" y="716"/>
            <a:ext cx="6337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Directo</a:t>
            </a:r>
            <a:r>
              <a:rPr sz="600" spc="10" dirty="0">
                <a:solidFill>
                  <a:srgbClr val="262685"/>
                </a:solidFill>
                <a:latin typeface="Arial"/>
                <a:cs typeface="Arial"/>
                <a:hlinkClick r:id="rId4" action="ppaction://hlinksldjump"/>
              </a:rPr>
              <a:t>r</a:t>
            </a:r>
            <a:r>
              <a:rPr sz="600" spc="-5" dirty="0">
                <a:solidFill>
                  <a:srgbClr val="262685"/>
                </a:solidFill>
                <a:latin typeface="Arial"/>
                <a:cs typeface="Arial"/>
                <a:hlinkClick r:id="rId4" action="ppaction://hlinksldjump"/>
              </a:rPr>
              <a:t>y se</a:t>
            </a:r>
            <a:r>
              <a:rPr sz="600" spc="10" dirty="0">
                <a:solidFill>
                  <a:srgbClr val="262685"/>
                </a:solidFill>
                <a:latin typeface="Arial"/>
                <a:cs typeface="Arial"/>
                <a:hlinkClick r:id="rId4" action="ppaction://hlinksldjump"/>
              </a:rPr>
              <a:t>r</a:t>
            </a:r>
            <a:r>
              <a:rPr sz="600" spc="-5" dirty="0">
                <a:solidFill>
                  <a:srgbClr val="262685"/>
                </a:solidFill>
                <a:latin typeface="Arial"/>
                <a:cs typeface="Arial"/>
                <a:hlinkClick r:id="rId4" action="ppaction://hlinksldjump"/>
              </a:rPr>
              <a:t>vices</a:t>
            </a:r>
            <a:endParaRPr sz="600">
              <a:latin typeface="Arial"/>
              <a:cs typeface="Arial"/>
            </a:endParaRPr>
          </a:p>
        </p:txBody>
      </p:sp>
      <p:sp>
        <p:nvSpPr>
          <p:cNvPr id="4" name="object 4"/>
          <p:cNvSpPr txBox="1"/>
          <p:nvPr/>
        </p:nvSpPr>
        <p:spPr>
          <a:xfrm>
            <a:off x="95300" y="188846"/>
            <a:ext cx="190817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Attribute-based</a:t>
            </a:r>
            <a:r>
              <a:rPr sz="1400" dirty="0">
                <a:solidFill>
                  <a:srgbClr val="3333B2"/>
                </a:solidFill>
                <a:latin typeface="Arial"/>
                <a:cs typeface="Arial"/>
              </a:rPr>
              <a:t> </a:t>
            </a:r>
            <a:r>
              <a:rPr sz="1400" spc="15" dirty="0">
                <a:solidFill>
                  <a:srgbClr val="3333B2"/>
                </a:solidFill>
                <a:latin typeface="Arial"/>
                <a:cs typeface="Arial"/>
              </a:rPr>
              <a:t>naming</a:t>
            </a:r>
            <a:endParaRPr sz="1400" dirty="0">
              <a:latin typeface="Arial"/>
              <a:cs typeface="Arial"/>
            </a:endParaRPr>
          </a:p>
        </p:txBody>
      </p:sp>
      <p:sp>
        <p:nvSpPr>
          <p:cNvPr id="5" name="object 5"/>
          <p:cNvSpPr txBox="1"/>
          <p:nvPr/>
        </p:nvSpPr>
        <p:spPr>
          <a:xfrm>
            <a:off x="347294" y="1022207"/>
            <a:ext cx="3620770" cy="353060"/>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12700">
              <a:lnSpc>
                <a:spcPts val="1170"/>
              </a:lnSpc>
            </a:pPr>
            <a:r>
              <a:rPr sz="1000" spc="-5" dirty="0">
                <a:latin typeface="Arial"/>
                <a:cs typeface="Arial"/>
              </a:rPr>
              <a:t>In </a:t>
            </a:r>
            <a:r>
              <a:rPr sz="1000" spc="-10" dirty="0">
                <a:latin typeface="Arial"/>
                <a:cs typeface="Arial"/>
              </a:rPr>
              <a:t>many</a:t>
            </a:r>
            <a:r>
              <a:rPr sz="1000" dirty="0">
                <a:latin typeface="Arial"/>
                <a:cs typeface="Arial"/>
              </a:rPr>
              <a:t> </a:t>
            </a:r>
            <a:r>
              <a:rPr sz="1000" spc="-5" dirty="0">
                <a:latin typeface="Arial"/>
                <a:cs typeface="Arial"/>
              </a:rPr>
              <a:t>cases,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 much</a:t>
            </a:r>
            <a:r>
              <a:rPr sz="1000" dirty="0">
                <a:latin typeface="Arial"/>
                <a:cs typeface="Arial"/>
              </a:rPr>
              <a:t> </a:t>
            </a:r>
            <a:r>
              <a:rPr sz="1000" spc="-5" dirty="0">
                <a:latin typeface="Arial"/>
                <a:cs typeface="Arial"/>
              </a:rPr>
              <a:t>more</a:t>
            </a:r>
            <a:r>
              <a:rPr sz="1000" dirty="0">
                <a:latin typeface="Arial"/>
                <a:cs typeface="Arial"/>
              </a:rPr>
              <a:t> </a:t>
            </a:r>
            <a:r>
              <a:rPr sz="1000" spc="-10" dirty="0">
                <a:latin typeface="Arial"/>
                <a:cs typeface="Arial"/>
              </a:rPr>
              <a:t>convenient</a:t>
            </a:r>
            <a:r>
              <a:rPr sz="1000" dirty="0">
                <a:latin typeface="Arial"/>
                <a:cs typeface="Arial"/>
              </a:rPr>
              <a:t> </a:t>
            </a:r>
            <a:r>
              <a:rPr sz="1000" spc="-5" dirty="0">
                <a:latin typeface="Arial"/>
                <a:cs typeface="Arial"/>
              </a:rPr>
              <a:t>to </a:t>
            </a:r>
            <a:r>
              <a:rPr sz="1000" spc="-10" dirty="0">
                <a:latin typeface="Arial"/>
                <a:cs typeface="Arial"/>
              </a:rPr>
              <a:t>name,</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look</a:t>
            </a:r>
            <a:r>
              <a:rPr sz="1000" dirty="0">
                <a:latin typeface="Arial"/>
                <a:cs typeface="Arial"/>
              </a:rPr>
              <a:t> </a:t>
            </a:r>
            <a:r>
              <a:rPr sz="1000" spc="-5" dirty="0">
                <a:latin typeface="Arial"/>
                <a:cs typeface="Arial"/>
              </a:rPr>
              <a:t>up</a:t>
            </a:r>
            <a:endParaRPr sz="1000" dirty="0">
              <a:latin typeface="Arial"/>
              <a:cs typeface="Arial"/>
            </a:endParaRPr>
          </a:p>
        </p:txBody>
      </p:sp>
      <p:sp>
        <p:nvSpPr>
          <p:cNvPr id="6" name="object 6"/>
          <p:cNvSpPr txBox="1"/>
          <p:nvPr/>
        </p:nvSpPr>
        <p:spPr>
          <a:xfrm>
            <a:off x="347294" y="1349786"/>
            <a:ext cx="375539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entities </a:t>
            </a:r>
            <a:r>
              <a:rPr sz="1000" spc="-15" dirty="0">
                <a:latin typeface="Arial"/>
                <a:cs typeface="Arial"/>
              </a:rPr>
              <a:t>by</a:t>
            </a:r>
            <a:r>
              <a:rPr sz="1000" dirty="0">
                <a:latin typeface="Arial"/>
                <a:cs typeface="Arial"/>
              </a:rPr>
              <a:t> </a:t>
            </a:r>
            <a:r>
              <a:rPr sz="1000" spc="-5" dirty="0">
                <a:latin typeface="Arial"/>
                <a:cs typeface="Arial"/>
              </a:rPr>
              <a:t>means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their</a:t>
            </a:r>
            <a:r>
              <a:rPr sz="1000" dirty="0">
                <a:latin typeface="Arial"/>
                <a:cs typeface="Arial"/>
              </a:rPr>
              <a:t> </a:t>
            </a:r>
            <a:r>
              <a:rPr sz="1000" spc="-5" dirty="0">
                <a:solidFill>
                  <a:srgbClr val="FA0000"/>
                </a:solidFill>
                <a:latin typeface="Arial"/>
                <a:cs typeface="Arial"/>
              </a:rPr>
              <a:t>attributes</a:t>
            </a:r>
            <a:r>
              <a:rPr sz="1000" dirty="0">
                <a:solidFill>
                  <a:srgbClr val="FA0000"/>
                </a:solidFill>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traditional</a:t>
            </a:r>
            <a:r>
              <a:rPr sz="1000" dirty="0">
                <a:latin typeface="Arial"/>
                <a:cs typeface="Arial"/>
              </a:rPr>
              <a:t> </a:t>
            </a:r>
            <a:r>
              <a:rPr sz="1000" dirty="0">
                <a:solidFill>
                  <a:srgbClr val="FA0000"/>
                </a:solidFill>
                <a:latin typeface="Arial"/>
                <a:cs typeface="Arial"/>
              </a:rPr>
              <a:t>directory services</a:t>
            </a:r>
            <a:endParaRPr sz="1000" dirty="0">
              <a:latin typeface="Arial"/>
              <a:cs typeface="Arial"/>
            </a:endParaRPr>
          </a:p>
        </p:txBody>
      </p:sp>
      <p:sp>
        <p:nvSpPr>
          <p:cNvPr id="7" name="object 7"/>
          <p:cNvSpPr txBox="1"/>
          <p:nvPr/>
        </p:nvSpPr>
        <p:spPr>
          <a:xfrm>
            <a:off x="343128" y="1427804"/>
            <a:ext cx="3705860" cy="667385"/>
          </a:xfrm>
          <a:prstGeom prst="rect">
            <a:avLst/>
          </a:prstGeom>
        </p:spPr>
        <p:txBody>
          <a:bodyPr vert="horz" wrap="square" lIns="0" tIns="85725" rIns="0" bIns="0" rtlCol="0">
            <a:spAutoFit/>
          </a:bodyPr>
          <a:lstStyle/>
          <a:p>
            <a:pPr marL="12700">
              <a:lnSpc>
                <a:spcPct val="100000"/>
              </a:lnSpc>
              <a:spcBef>
                <a:spcPts val="675"/>
              </a:spcBef>
            </a:pPr>
            <a:r>
              <a:rPr sz="1000" spc="-5" dirty="0">
                <a:latin typeface="Arial"/>
                <a:cs typeface="Arial"/>
              </a:rPr>
              <a:t>(aka</a:t>
            </a:r>
            <a:r>
              <a:rPr sz="1000" spc="-25" dirty="0">
                <a:latin typeface="Arial"/>
                <a:cs typeface="Arial"/>
              </a:rPr>
              <a:t> </a:t>
            </a:r>
            <a:r>
              <a:rPr sz="1000" spc="-10" dirty="0">
                <a:solidFill>
                  <a:srgbClr val="FA0000"/>
                </a:solidFill>
                <a:latin typeface="Arial"/>
                <a:cs typeface="Arial"/>
              </a:rPr>
              <a:t>yellow</a:t>
            </a:r>
            <a:r>
              <a:rPr sz="1000" spc="-20" dirty="0">
                <a:solidFill>
                  <a:srgbClr val="FA0000"/>
                </a:solidFill>
                <a:latin typeface="Arial"/>
                <a:cs typeface="Arial"/>
              </a:rPr>
              <a:t> </a:t>
            </a:r>
            <a:r>
              <a:rPr sz="1000" spc="-5" dirty="0">
                <a:solidFill>
                  <a:srgbClr val="FA0000"/>
                </a:solidFill>
                <a:latin typeface="Arial"/>
                <a:cs typeface="Arial"/>
              </a:rPr>
              <a:t>pages</a:t>
            </a:r>
            <a:r>
              <a:rPr sz="1000" spc="-5" dirty="0">
                <a:latin typeface="Arial"/>
                <a:cs typeface="Arial"/>
              </a:rPr>
              <a:t>).</a:t>
            </a:r>
            <a:endParaRPr sz="1000" dirty="0">
              <a:latin typeface="Arial"/>
              <a:cs typeface="Arial"/>
            </a:endParaRPr>
          </a:p>
          <a:p>
            <a:pPr marL="16510">
              <a:lnSpc>
                <a:spcPts val="1410"/>
              </a:lnSpc>
              <a:spcBef>
                <a:spcPts val="695"/>
              </a:spcBef>
            </a:pPr>
            <a:r>
              <a:rPr sz="1200" spc="-10" dirty="0">
                <a:solidFill>
                  <a:srgbClr val="FA0000"/>
                </a:solidFill>
                <a:latin typeface="Arial"/>
                <a:cs typeface="Arial"/>
              </a:rPr>
              <a:t>Problem</a:t>
            </a:r>
            <a:endParaRPr sz="1200" dirty="0">
              <a:latin typeface="Arial"/>
              <a:cs typeface="Arial"/>
            </a:endParaRPr>
          </a:p>
          <a:p>
            <a:pPr marL="16510">
              <a:lnSpc>
                <a:spcPts val="1170"/>
              </a:lnSpc>
            </a:pPr>
            <a:r>
              <a:rPr sz="1000" spc="-5" dirty="0">
                <a:latin typeface="Arial"/>
                <a:cs typeface="Arial"/>
              </a:rPr>
              <a:t>Lookup</a:t>
            </a:r>
            <a:r>
              <a:rPr sz="1000" dirty="0">
                <a:latin typeface="Arial"/>
                <a:cs typeface="Arial"/>
              </a:rPr>
              <a:t> </a:t>
            </a:r>
            <a:r>
              <a:rPr sz="1000" spc="-5" dirty="0">
                <a:latin typeface="Arial"/>
                <a:cs typeface="Arial"/>
              </a:rPr>
              <a:t>operations</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dirty="0">
                <a:latin typeface="Arial"/>
                <a:cs typeface="Arial"/>
              </a:rPr>
              <a:t> </a:t>
            </a:r>
            <a:r>
              <a:rPr sz="1000" spc="-10" dirty="0">
                <a:latin typeface="Arial"/>
                <a:cs typeface="Arial"/>
              </a:rPr>
              <a:t>extremely</a:t>
            </a:r>
            <a:r>
              <a:rPr sz="1000" dirty="0">
                <a:latin typeface="Arial"/>
                <a:cs typeface="Arial"/>
              </a:rPr>
              <a:t> </a:t>
            </a:r>
            <a:r>
              <a:rPr sz="1000" spc="-10" dirty="0">
                <a:latin typeface="Arial"/>
                <a:cs typeface="Arial"/>
              </a:rPr>
              <a:t>expensive,</a:t>
            </a:r>
            <a:r>
              <a:rPr sz="1000" dirty="0">
                <a:latin typeface="Arial"/>
                <a:cs typeface="Arial"/>
              </a:rPr>
              <a:t> </a:t>
            </a:r>
            <a:r>
              <a:rPr sz="1000" spc="-5" dirty="0">
                <a:latin typeface="Arial"/>
                <a:cs typeface="Arial"/>
              </a:rPr>
              <a:t>as</a:t>
            </a:r>
            <a:r>
              <a:rPr sz="1000" spc="5" dirty="0">
                <a:latin typeface="Arial"/>
                <a:cs typeface="Arial"/>
              </a:rPr>
              <a:t> </a:t>
            </a:r>
            <a:r>
              <a:rPr sz="1000" spc="-10" dirty="0">
                <a:latin typeface="Arial"/>
                <a:cs typeface="Arial"/>
              </a:rPr>
              <a:t>they</a:t>
            </a:r>
            <a:r>
              <a:rPr sz="1000" dirty="0">
                <a:latin typeface="Arial"/>
                <a:cs typeface="Arial"/>
              </a:rPr>
              <a:t> </a:t>
            </a:r>
            <a:r>
              <a:rPr sz="1000" spc="-5" dirty="0">
                <a:latin typeface="Arial"/>
                <a:cs typeface="Arial"/>
              </a:rPr>
              <a:t>require</a:t>
            </a:r>
            <a:r>
              <a:rPr sz="1000" dirty="0">
                <a:latin typeface="Arial"/>
                <a:cs typeface="Arial"/>
              </a:rPr>
              <a:t> </a:t>
            </a:r>
            <a:r>
              <a:rPr sz="1000" spc="-5" dirty="0">
                <a:latin typeface="Arial"/>
                <a:cs typeface="Arial"/>
              </a:rPr>
              <a:t>to</a:t>
            </a:r>
            <a:endParaRPr sz="1000" dirty="0">
              <a:latin typeface="Arial"/>
              <a:cs typeface="Arial"/>
            </a:endParaRPr>
          </a:p>
        </p:txBody>
      </p:sp>
      <p:sp>
        <p:nvSpPr>
          <p:cNvPr id="8" name="object 8"/>
          <p:cNvSpPr txBox="1"/>
          <p:nvPr/>
        </p:nvSpPr>
        <p:spPr>
          <a:xfrm>
            <a:off x="347294" y="2069597"/>
            <a:ext cx="3759200" cy="329565"/>
          </a:xfrm>
          <a:prstGeom prst="rect">
            <a:avLst/>
          </a:prstGeom>
        </p:spPr>
        <p:txBody>
          <a:bodyPr vert="horz" wrap="square" lIns="0" tIns="12065" rIns="0" bIns="0" rtlCol="0">
            <a:spAutoFit/>
          </a:bodyPr>
          <a:lstStyle/>
          <a:p>
            <a:pPr marL="12700">
              <a:lnSpc>
                <a:spcPts val="1200"/>
              </a:lnSpc>
              <a:spcBef>
                <a:spcPts val="95"/>
              </a:spcBef>
            </a:pPr>
            <a:r>
              <a:rPr sz="1000" spc="-5" dirty="0">
                <a:latin typeface="Arial"/>
                <a:cs typeface="Arial"/>
              </a:rPr>
              <a:t>match</a:t>
            </a:r>
            <a:r>
              <a:rPr sz="1000" dirty="0">
                <a:latin typeface="Arial"/>
                <a:cs typeface="Arial"/>
              </a:rPr>
              <a:t> </a:t>
            </a:r>
            <a:r>
              <a:rPr sz="1000" spc="-5" dirty="0">
                <a:solidFill>
                  <a:srgbClr val="0000FA"/>
                </a:solidFill>
                <a:latin typeface="Arial"/>
                <a:cs typeface="Arial"/>
              </a:rPr>
              <a:t>requested</a:t>
            </a:r>
            <a:r>
              <a:rPr sz="1000" spc="5" dirty="0">
                <a:solidFill>
                  <a:srgbClr val="0000FA"/>
                </a:solidFill>
                <a:latin typeface="Arial"/>
                <a:cs typeface="Arial"/>
              </a:rPr>
              <a:t> </a:t>
            </a:r>
            <a:r>
              <a:rPr sz="1000" spc="-5" dirty="0">
                <a:solidFill>
                  <a:srgbClr val="0000FA"/>
                </a:solidFill>
                <a:latin typeface="Arial"/>
                <a:cs typeface="Arial"/>
              </a:rPr>
              <a:t>attribute</a:t>
            </a:r>
            <a:r>
              <a:rPr sz="1000" spc="5" dirty="0">
                <a:solidFill>
                  <a:srgbClr val="0000FA"/>
                </a:solidFill>
                <a:latin typeface="Arial"/>
                <a:cs typeface="Arial"/>
              </a:rPr>
              <a:t> </a:t>
            </a:r>
            <a:r>
              <a:rPr sz="1000" spc="-10" dirty="0">
                <a:solidFill>
                  <a:srgbClr val="0000FA"/>
                </a:solidFill>
                <a:latin typeface="Arial"/>
                <a:cs typeface="Arial"/>
              </a:rPr>
              <a:t>values</a:t>
            </a:r>
            <a:r>
              <a:rPr sz="1000" spc="-10" dirty="0">
                <a:latin typeface="Arial"/>
                <a:cs typeface="Arial"/>
              </a:rPr>
              <a:t>,</a:t>
            </a:r>
            <a:r>
              <a:rPr sz="1000" spc="5" dirty="0">
                <a:latin typeface="Arial"/>
                <a:cs typeface="Arial"/>
              </a:rPr>
              <a:t> </a:t>
            </a:r>
            <a:r>
              <a:rPr sz="1000" spc="-5" dirty="0">
                <a:latin typeface="Arial"/>
                <a:cs typeface="Arial"/>
              </a:rPr>
              <a:t>against</a:t>
            </a:r>
            <a:r>
              <a:rPr sz="1000" spc="5" dirty="0">
                <a:latin typeface="Arial"/>
                <a:cs typeface="Arial"/>
              </a:rPr>
              <a:t> </a:t>
            </a:r>
            <a:r>
              <a:rPr sz="1000" spc="-5" dirty="0">
                <a:solidFill>
                  <a:srgbClr val="0000FA"/>
                </a:solidFill>
                <a:latin typeface="Arial"/>
                <a:cs typeface="Arial"/>
              </a:rPr>
              <a:t>actual</a:t>
            </a:r>
            <a:r>
              <a:rPr sz="1000" spc="5" dirty="0">
                <a:solidFill>
                  <a:srgbClr val="0000FA"/>
                </a:solidFill>
                <a:latin typeface="Arial"/>
                <a:cs typeface="Arial"/>
              </a:rPr>
              <a:t> </a:t>
            </a:r>
            <a:r>
              <a:rPr sz="1000" spc="-5" dirty="0">
                <a:solidFill>
                  <a:srgbClr val="0000FA"/>
                </a:solidFill>
                <a:latin typeface="Arial"/>
                <a:cs typeface="Arial"/>
              </a:rPr>
              <a:t>attribute</a:t>
            </a:r>
            <a:r>
              <a:rPr sz="1000" spc="5" dirty="0">
                <a:solidFill>
                  <a:srgbClr val="0000FA"/>
                </a:solidFill>
                <a:latin typeface="Arial"/>
                <a:cs typeface="Arial"/>
              </a:rPr>
              <a:t> </a:t>
            </a:r>
            <a:r>
              <a:rPr sz="1000" spc="-10" dirty="0">
                <a:solidFill>
                  <a:srgbClr val="0000FA"/>
                </a:solidFill>
                <a:latin typeface="Arial"/>
                <a:cs typeface="Arial"/>
              </a:rPr>
              <a:t>values</a:t>
            </a:r>
            <a:r>
              <a:rPr sz="1000" spc="5" dirty="0">
                <a:solidFill>
                  <a:srgbClr val="0000FA"/>
                </a:solidFill>
                <a:latin typeface="Arial"/>
                <a:cs typeface="Arial"/>
              </a:rPr>
              <a:t> </a:t>
            </a:r>
            <a:r>
              <a:rPr sz="1000" i="1" spc="-5" dirty="0">
                <a:latin typeface="メイリオ"/>
                <a:cs typeface="メイリオ"/>
              </a:rPr>
              <a:t>⇒</a:t>
            </a:r>
            <a:endParaRPr sz="1000" dirty="0">
              <a:latin typeface="メイリオ"/>
              <a:cs typeface="メイリオ"/>
            </a:endParaRPr>
          </a:p>
          <a:p>
            <a:pPr marL="12700">
              <a:lnSpc>
                <a:spcPts val="1200"/>
              </a:lnSpc>
            </a:pPr>
            <a:r>
              <a:rPr sz="1000" spc="-5" dirty="0">
                <a:latin typeface="Arial"/>
                <a:cs typeface="Arial"/>
              </a:rPr>
              <a:t>inspect </a:t>
            </a:r>
            <a:r>
              <a:rPr sz="1000" spc="-5" dirty="0">
                <a:solidFill>
                  <a:srgbClr val="FA0000"/>
                </a:solidFill>
                <a:latin typeface="Arial"/>
                <a:cs typeface="Arial"/>
              </a:rPr>
              <a:t>all</a:t>
            </a:r>
            <a:r>
              <a:rPr sz="1000" dirty="0">
                <a:solidFill>
                  <a:srgbClr val="FA0000"/>
                </a:solidFill>
                <a:latin typeface="Arial"/>
                <a:cs typeface="Arial"/>
              </a:rPr>
              <a:t> </a:t>
            </a:r>
            <a:r>
              <a:rPr sz="1000" spc="-5" dirty="0">
                <a:solidFill>
                  <a:srgbClr val="FA0000"/>
                </a:solidFill>
                <a:latin typeface="Arial"/>
                <a:cs typeface="Arial"/>
              </a:rPr>
              <a:t>entities</a:t>
            </a:r>
            <a:r>
              <a:rPr sz="1000" dirty="0">
                <a:solidFill>
                  <a:srgbClr val="FA0000"/>
                </a:solidFill>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principle).</a:t>
            </a:r>
            <a:endParaRPr sz="1000" dirty="0">
              <a:latin typeface="Arial"/>
              <a:cs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4548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Attribute-based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Hierarchical</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implementations:</a:t>
            </a:r>
            <a:r>
              <a:rPr sz="600" spc="4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LDAP</a:t>
            </a:r>
            <a:endParaRPr sz="600">
              <a:latin typeface="Arial"/>
              <a:cs typeface="Arial"/>
            </a:endParaRPr>
          </a:p>
        </p:txBody>
      </p:sp>
      <p:sp>
        <p:nvSpPr>
          <p:cNvPr id="3" name="object 3"/>
          <p:cNvSpPr txBox="1">
            <a:spLocks noGrp="1"/>
          </p:cNvSpPr>
          <p:nvPr>
            <p:ph type="title"/>
          </p:nvPr>
        </p:nvSpPr>
        <p:spPr>
          <a:xfrm>
            <a:off x="95300" y="188846"/>
            <a:ext cx="2598420" cy="244475"/>
          </a:xfrm>
          <a:prstGeom prst="rect">
            <a:avLst/>
          </a:prstGeom>
        </p:spPr>
        <p:txBody>
          <a:bodyPr vert="horz" wrap="square" lIns="0" tIns="17145" rIns="0" bIns="0" rtlCol="0">
            <a:spAutoFit/>
          </a:bodyPr>
          <a:lstStyle/>
          <a:p>
            <a:pPr marL="12700">
              <a:lnSpc>
                <a:spcPct val="100000"/>
              </a:lnSpc>
              <a:spcBef>
                <a:spcPts val="135"/>
              </a:spcBef>
            </a:pPr>
            <a:r>
              <a:rPr spc="15" dirty="0"/>
              <a:t>Implementing</a:t>
            </a:r>
            <a:r>
              <a:rPr spc="-10" dirty="0"/>
              <a:t> </a:t>
            </a:r>
            <a:r>
              <a:rPr spc="15" dirty="0"/>
              <a:t>directory</a:t>
            </a:r>
            <a:r>
              <a:rPr spc="-15" dirty="0"/>
              <a:t> </a:t>
            </a:r>
            <a:r>
              <a:rPr spc="20" dirty="0"/>
              <a:t>services</a:t>
            </a:r>
          </a:p>
        </p:txBody>
      </p:sp>
      <p:sp>
        <p:nvSpPr>
          <p:cNvPr id="4" name="object 4"/>
          <p:cNvSpPr txBox="1"/>
          <p:nvPr/>
        </p:nvSpPr>
        <p:spPr>
          <a:xfrm>
            <a:off x="347294" y="480029"/>
            <a:ext cx="3916679" cy="1165225"/>
          </a:xfrm>
          <a:prstGeom prst="rect">
            <a:avLst/>
          </a:prstGeom>
        </p:spPr>
        <p:txBody>
          <a:bodyPr vert="horz" wrap="square" lIns="0" tIns="41910" rIns="0" bIns="0" rtlCol="0">
            <a:spAutoFit/>
          </a:bodyPr>
          <a:lstStyle/>
          <a:p>
            <a:pPr marL="12700">
              <a:lnSpc>
                <a:spcPct val="100000"/>
              </a:lnSpc>
              <a:spcBef>
                <a:spcPts val="330"/>
              </a:spcBef>
            </a:pPr>
            <a:r>
              <a:rPr sz="1200" spc="-5" dirty="0">
                <a:solidFill>
                  <a:srgbClr val="3333B2"/>
                </a:solidFill>
                <a:latin typeface="Arial"/>
                <a:cs typeface="Arial"/>
              </a:rPr>
              <a:t>Solution</a:t>
            </a:r>
            <a:r>
              <a:rPr sz="1200" spc="-10" dirty="0">
                <a:solidFill>
                  <a:srgbClr val="3333B2"/>
                </a:solidFill>
                <a:latin typeface="Arial"/>
                <a:cs typeface="Arial"/>
              </a:rPr>
              <a:t> </a:t>
            </a:r>
            <a:r>
              <a:rPr sz="1200" spc="-20" dirty="0">
                <a:solidFill>
                  <a:srgbClr val="3333B2"/>
                </a:solidFill>
                <a:latin typeface="Arial"/>
                <a:cs typeface="Arial"/>
              </a:rPr>
              <a:t>for</a:t>
            </a:r>
            <a:r>
              <a:rPr sz="1200" spc="-5" dirty="0">
                <a:solidFill>
                  <a:srgbClr val="3333B2"/>
                </a:solidFill>
                <a:latin typeface="Arial"/>
                <a:cs typeface="Arial"/>
              </a:rPr>
              <a:t> </a:t>
            </a:r>
            <a:r>
              <a:rPr sz="1200" spc="-10" dirty="0">
                <a:solidFill>
                  <a:srgbClr val="3333B2"/>
                </a:solidFill>
                <a:latin typeface="Arial"/>
                <a:cs typeface="Arial"/>
              </a:rPr>
              <a:t>scalable</a:t>
            </a:r>
            <a:r>
              <a:rPr sz="1200" spc="-5" dirty="0">
                <a:solidFill>
                  <a:srgbClr val="3333B2"/>
                </a:solidFill>
                <a:latin typeface="Arial"/>
                <a:cs typeface="Arial"/>
              </a:rPr>
              <a:t> searching</a:t>
            </a:r>
            <a:endParaRPr sz="1200">
              <a:latin typeface="Arial"/>
              <a:cs typeface="Arial"/>
            </a:endParaRPr>
          </a:p>
          <a:p>
            <a:pPr marL="12700" marR="233679">
              <a:lnSpc>
                <a:spcPct val="100000"/>
              </a:lnSpc>
              <a:spcBef>
                <a:spcPts val="190"/>
              </a:spcBef>
            </a:pPr>
            <a:r>
              <a:rPr sz="1000" spc="-5" dirty="0">
                <a:latin typeface="Arial"/>
                <a:cs typeface="Arial"/>
              </a:rPr>
              <a:t>Implement basic</a:t>
            </a:r>
            <a:r>
              <a:rPr sz="1000" dirty="0">
                <a:latin typeface="Arial"/>
                <a:cs typeface="Arial"/>
              </a:rPr>
              <a:t> directory</a:t>
            </a:r>
            <a:r>
              <a:rPr sz="1000" spc="-5" dirty="0">
                <a:latin typeface="Arial"/>
                <a:cs typeface="Arial"/>
              </a:rPr>
              <a:t> </a:t>
            </a:r>
            <a:r>
              <a:rPr sz="1000" dirty="0">
                <a:latin typeface="Arial"/>
                <a:cs typeface="Arial"/>
              </a:rPr>
              <a:t>service </a:t>
            </a:r>
            <a:r>
              <a:rPr sz="1000" spc="-5" dirty="0">
                <a:latin typeface="Arial"/>
                <a:cs typeface="Arial"/>
              </a:rPr>
              <a:t>as</a:t>
            </a:r>
            <a:r>
              <a:rPr sz="1000" dirty="0">
                <a:latin typeface="Arial"/>
                <a:cs typeface="Arial"/>
              </a:rPr>
              <a:t> </a:t>
            </a:r>
            <a:r>
              <a:rPr sz="1000" spc="-5" dirty="0">
                <a:latin typeface="Arial"/>
                <a:cs typeface="Arial"/>
              </a:rPr>
              <a:t>database, and</a:t>
            </a:r>
            <a:r>
              <a:rPr sz="1000" dirty="0">
                <a:latin typeface="Arial"/>
                <a:cs typeface="Arial"/>
              </a:rPr>
              <a:t> </a:t>
            </a:r>
            <a:r>
              <a:rPr sz="1000" spc="-5" dirty="0">
                <a:latin typeface="Arial"/>
                <a:cs typeface="Arial"/>
              </a:rPr>
              <a:t>combine</a:t>
            </a:r>
            <a:r>
              <a:rPr sz="1000" dirty="0">
                <a:latin typeface="Arial"/>
                <a:cs typeface="Arial"/>
              </a:rPr>
              <a:t> </a:t>
            </a:r>
            <a:r>
              <a:rPr sz="1000" spc="-5" dirty="0">
                <a:latin typeface="Arial"/>
                <a:cs typeface="Arial"/>
              </a:rPr>
              <a:t>with </a:t>
            </a:r>
            <a:r>
              <a:rPr sz="1000" spc="-265" dirty="0">
                <a:latin typeface="Arial"/>
                <a:cs typeface="Arial"/>
              </a:rPr>
              <a:t> </a:t>
            </a:r>
            <a:r>
              <a:rPr sz="1000" spc="-5" dirty="0">
                <a:latin typeface="Arial"/>
                <a:cs typeface="Arial"/>
              </a:rPr>
              <a:t>traditional structured naming system.</a:t>
            </a:r>
            <a:endParaRPr sz="1000">
              <a:latin typeface="Arial"/>
              <a:cs typeface="Arial"/>
            </a:endParaRPr>
          </a:p>
          <a:p>
            <a:pPr marL="12700">
              <a:lnSpc>
                <a:spcPct val="100000"/>
              </a:lnSpc>
              <a:spcBef>
                <a:spcPts val="685"/>
              </a:spcBef>
            </a:pPr>
            <a:r>
              <a:rPr sz="1200" spc="-5" dirty="0">
                <a:solidFill>
                  <a:srgbClr val="3333B2"/>
                </a:solidFill>
                <a:latin typeface="Arial"/>
                <a:cs typeface="Arial"/>
              </a:rPr>
              <a:t>Lightweight</a:t>
            </a:r>
            <a:r>
              <a:rPr sz="1200" spc="-10" dirty="0">
                <a:solidFill>
                  <a:srgbClr val="3333B2"/>
                </a:solidFill>
                <a:latin typeface="Arial"/>
                <a:cs typeface="Arial"/>
              </a:rPr>
              <a:t> </a:t>
            </a:r>
            <a:r>
              <a:rPr sz="1200" dirty="0">
                <a:solidFill>
                  <a:srgbClr val="3333B2"/>
                </a:solidFill>
                <a:latin typeface="Arial"/>
                <a:cs typeface="Arial"/>
              </a:rPr>
              <a:t>Directory</a:t>
            </a:r>
            <a:r>
              <a:rPr sz="1200" spc="-5" dirty="0">
                <a:solidFill>
                  <a:srgbClr val="3333B2"/>
                </a:solidFill>
                <a:latin typeface="Arial"/>
                <a:cs typeface="Arial"/>
              </a:rPr>
              <a:t> Access Protocol </a:t>
            </a:r>
            <a:r>
              <a:rPr sz="1200" spc="-15" dirty="0">
                <a:solidFill>
                  <a:srgbClr val="3333B2"/>
                </a:solidFill>
                <a:latin typeface="Arial"/>
                <a:cs typeface="Arial"/>
              </a:rPr>
              <a:t>(LDAP)</a:t>
            </a:r>
            <a:endParaRPr sz="1200">
              <a:latin typeface="Arial"/>
              <a:cs typeface="Arial"/>
            </a:endParaRPr>
          </a:p>
          <a:p>
            <a:pPr marL="12700" marR="5080">
              <a:lnSpc>
                <a:spcPct val="100000"/>
              </a:lnSpc>
              <a:spcBef>
                <a:spcPts val="195"/>
              </a:spcBef>
            </a:pPr>
            <a:r>
              <a:rPr sz="1000" spc="-10" dirty="0">
                <a:latin typeface="Arial"/>
                <a:cs typeface="Arial"/>
              </a:rPr>
              <a:t>Each</a:t>
            </a:r>
            <a:r>
              <a:rPr sz="1000" dirty="0">
                <a:latin typeface="Arial"/>
                <a:cs typeface="Arial"/>
              </a:rPr>
              <a:t> </a:t>
            </a:r>
            <a:r>
              <a:rPr sz="1000" spc="-5" dirty="0">
                <a:latin typeface="Arial"/>
                <a:cs typeface="Arial"/>
              </a:rPr>
              <a:t>directory</a:t>
            </a:r>
            <a:r>
              <a:rPr sz="1000" dirty="0">
                <a:latin typeface="Arial"/>
                <a:cs typeface="Arial"/>
              </a:rPr>
              <a:t> </a:t>
            </a:r>
            <a:r>
              <a:rPr sz="1000" spc="-5" dirty="0">
                <a:latin typeface="Arial"/>
                <a:cs typeface="Arial"/>
              </a:rPr>
              <a:t>entry</a:t>
            </a:r>
            <a:r>
              <a:rPr sz="1000" dirty="0">
                <a:latin typeface="Arial"/>
                <a:cs typeface="Arial"/>
              </a:rPr>
              <a:t> </a:t>
            </a:r>
            <a:r>
              <a:rPr sz="1000" spc="-10" dirty="0">
                <a:latin typeface="Arial"/>
                <a:cs typeface="Arial"/>
              </a:rPr>
              <a:t>consists</a:t>
            </a:r>
            <a:r>
              <a:rPr sz="1000"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a:t>
            </a:r>
            <a:r>
              <a:rPr sz="1000" i="1" spc="-10" dirty="0">
                <a:latin typeface="Arial"/>
                <a:cs typeface="Arial"/>
              </a:rPr>
              <a:t>attribute,</a:t>
            </a:r>
            <a:r>
              <a:rPr sz="1000" i="1" dirty="0">
                <a:latin typeface="Arial"/>
                <a:cs typeface="Arial"/>
              </a:rPr>
              <a:t> </a:t>
            </a:r>
            <a:r>
              <a:rPr sz="1000" i="1" spc="-15" dirty="0">
                <a:latin typeface="Arial"/>
                <a:cs typeface="Arial"/>
              </a:rPr>
              <a:t>value</a:t>
            </a:r>
            <a:r>
              <a:rPr sz="1000" spc="-15" dirty="0">
                <a:latin typeface="Arial"/>
                <a:cs typeface="Arial"/>
              </a:rPr>
              <a:t>)</a:t>
            </a:r>
            <a:r>
              <a:rPr sz="1000" dirty="0">
                <a:latin typeface="Arial"/>
                <a:cs typeface="Arial"/>
              </a:rPr>
              <a:t> </a:t>
            </a:r>
            <a:r>
              <a:rPr sz="1000" spc="-10" dirty="0">
                <a:latin typeface="Arial"/>
                <a:cs typeface="Arial"/>
              </a:rPr>
              <a:t>pairs,</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is</a:t>
            </a:r>
            <a:r>
              <a:rPr sz="1000" dirty="0">
                <a:latin typeface="Arial"/>
                <a:cs typeface="Arial"/>
              </a:rPr>
              <a:t> </a:t>
            </a:r>
            <a:r>
              <a:rPr sz="1000" spc="-10" dirty="0">
                <a:solidFill>
                  <a:srgbClr val="0000FA"/>
                </a:solidFill>
                <a:latin typeface="Arial"/>
                <a:cs typeface="Arial"/>
              </a:rPr>
              <a:t>uniquely </a:t>
            </a:r>
            <a:r>
              <a:rPr sz="1000" spc="-260" dirty="0">
                <a:solidFill>
                  <a:srgbClr val="0000FA"/>
                </a:solidFill>
                <a:latin typeface="Arial"/>
                <a:cs typeface="Arial"/>
              </a:rPr>
              <a:t> </a:t>
            </a:r>
            <a:r>
              <a:rPr sz="1000" spc="-5" dirty="0">
                <a:solidFill>
                  <a:srgbClr val="0000FA"/>
                </a:solidFill>
                <a:latin typeface="Arial"/>
                <a:cs typeface="Arial"/>
              </a:rPr>
              <a:t>named</a:t>
            </a:r>
            <a:r>
              <a:rPr sz="1000" spc="-10" dirty="0">
                <a:solidFill>
                  <a:srgbClr val="0000FA"/>
                </a:solidFill>
                <a:latin typeface="Arial"/>
                <a:cs typeface="Arial"/>
              </a:rPr>
              <a:t> </a:t>
            </a:r>
            <a:r>
              <a:rPr sz="1000" spc="-5" dirty="0">
                <a:latin typeface="Arial"/>
                <a:cs typeface="Arial"/>
              </a:rPr>
              <a:t>to ease lookups.</a:t>
            </a:r>
            <a:endParaRPr sz="1000">
              <a:latin typeface="Arial"/>
              <a:cs typeface="Arial"/>
            </a:endParaRPr>
          </a:p>
        </p:txBody>
      </p:sp>
      <p:sp>
        <p:nvSpPr>
          <p:cNvPr id="5" name="object 5"/>
          <p:cNvSpPr/>
          <p:nvPr/>
        </p:nvSpPr>
        <p:spPr>
          <a:xfrm>
            <a:off x="751954" y="2714053"/>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sp>
        <p:nvSpPr>
          <p:cNvPr id="6" name="object 6"/>
          <p:cNvSpPr/>
          <p:nvPr/>
        </p:nvSpPr>
        <p:spPr>
          <a:xfrm>
            <a:off x="758342" y="2853232"/>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sp>
        <p:nvSpPr>
          <p:cNvPr id="7" name="object 7"/>
          <p:cNvSpPr/>
          <p:nvPr/>
        </p:nvSpPr>
        <p:spPr>
          <a:xfrm>
            <a:off x="865720" y="2992412"/>
            <a:ext cx="34290" cy="0"/>
          </a:xfrm>
          <a:custGeom>
            <a:avLst/>
            <a:gdLst/>
            <a:ahLst/>
            <a:cxnLst/>
            <a:rect l="l" t="t" r="r" b="b"/>
            <a:pathLst>
              <a:path w="34290">
                <a:moveTo>
                  <a:pt x="0" y="0"/>
                </a:moveTo>
                <a:lnTo>
                  <a:pt x="34163" y="0"/>
                </a:lnTo>
              </a:path>
            </a:pathLst>
          </a:custGeom>
          <a:ln w="5054">
            <a:solidFill>
              <a:srgbClr val="000000"/>
            </a:solidFill>
          </a:ln>
        </p:spPr>
        <p:txBody>
          <a:bodyPr wrap="square" lIns="0" tIns="0" rIns="0" bIns="0" rtlCol="0"/>
          <a:lstStyle/>
          <a:p>
            <a:endParaRPr/>
          </a:p>
        </p:txBody>
      </p:sp>
      <p:graphicFrame>
        <p:nvGraphicFramePr>
          <p:cNvPr id="8" name="object 8"/>
          <p:cNvGraphicFramePr>
            <a:graphicFrameLocks noGrp="1"/>
          </p:cNvGraphicFramePr>
          <p:nvPr/>
        </p:nvGraphicFramePr>
        <p:xfrm>
          <a:off x="455422" y="1760054"/>
          <a:ext cx="3691254" cy="1275715"/>
        </p:xfrm>
        <a:graphic>
          <a:graphicData uri="http://schemas.openxmlformats.org/drawingml/2006/table">
            <a:tbl>
              <a:tblPr firstRow="1" bandRow="1">
                <a:tableStyleId>{2D5ABB26-0587-4C30-8999-92F81FD0307C}</a:tableStyleId>
              </a:tblPr>
              <a:tblGrid>
                <a:gridCol w="1093470">
                  <a:extLst>
                    <a:ext uri="{9D8B030D-6E8A-4147-A177-3AD203B41FA5}">
                      <a16:colId xmlns:a16="http://schemas.microsoft.com/office/drawing/2014/main" val="20000"/>
                    </a:ext>
                  </a:extLst>
                </a:gridCol>
                <a:gridCol w="447040">
                  <a:extLst>
                    <a:ext uri="{9D8B030D-6E8A-4147-A177-3AD203B41FA5}">
                      <a16:colId xmlns:a16="http://schemas.microsoft.com/office/drawing/2014/main" val="20001"/>
                    </a:ext>
                  </a:extLst>
                </a:gridCol>
                <a:gridCol w="2150744">
                  <a:extLst>
                    <a:ext uri="{9D8B030D-6E8A-4147-A177-3AD203B41FA5}">
                      <a16:colId xmlns:a16="http://schemas.microsoft.com/office/drawing/2014/main" val="20002"/>
                    </a:ext>
                  </a:extLst>
                </a:gridCol>
              </a:tblGrid>
              <a:tr h="151130">
                <a:tc>
                  <a:txBody>
                    <a:bodyPr/>
                    <a:lstStyle/>
                    <a:p>
                      <a:pPr marL="78105">
                        <a:lnSpc>
                          <a:spcPts val="965"/>
                        </a:lnSpc>
                      </a:pPr>
                      <a:r>
                        <a:rPr sz="900" b="1" spc="-5" dirty="0">
                          <a:latin typeface="Arial"/>
                          <a:cs typeface="Arial"/>
                        </a:rPr>
                        <a:t>Attribute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965"/>
                        </a:lnSpc>
                      </a:pPr>
                      <a:r>
                        <a:rPr sz="900" b="1" spc="-15" dirty="0">
                          <a:latin typeface="Arial"/>
                          <a:cs typeface="Arial"/>
                        </a:rPr>
                        <a:t>Abbr.</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ts val="965"/>
                        </a:lnSpc>
                      </a:pPr>
                      <a:r>
                        <a:rPr sz="900" b="1" spc="-15" dirty="0">
                          <a:latin typeface="Arial"/>
                          <a:cs typeface="Arial"/>
                        </a:rPr>
                        <a:t>Value</a:t>
                      </a:r>
                      <a:endParaRPr sz="9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38430">
                <a:tc>
                  <a:txBody>
                    <a:bodyPr/>
                    <a:lstStyle/>
                    <a:p>
                      <a:pPr marL="78105">
                        <a:lnSpc>
                          <a:spcPts val="990"/>
                        </a:lnSpc>
                      </a:pPr>
                      <a:r>
                        <a:rPr sz="900" dirty="0">
                          <a:latin typeface="Arial"/>
                          <a:cs typeface="Arial"/>
                        </a:rPr>
                        <a:t>Country</a:t>
                      </a:r>
                      <a:endParaRPr sz="9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8105">
                        <a:lnSpc>
                          <a:spcPts val="990"/>
                        </a:lnSpc>
                      </a:pPr>
                      <a:r>
                        <a:rPr sz="900" i="1" dirty="0">
                          <a:latin typeface="Arial"/>
                          <a:cs typeface="Arial"/>
                        </a:rPr>
                        <a:t>C</a:t>
                      </a:r>
                      <a:endParaRPr sz="9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tcPr>
                </a:tc>
                <a:tc>
                  <a:txBody>
                    <a:bodyPr/>
                    <a:lstStyle/>
                    <a:p>
                      <a:pPr marL="78105">
                        <a:lnSpc>
                          <a:spcPts val="990"/>
                        </a:lnSpc>
                      </a:pPr>
                      <a:r>
                        <a:rPr sz="900" spc="-5" dirty="0">
                          <a:latin typeface="Arial"/>
                          <a:cs typeface="Arial"/>
                        </a:rPr>
                        <a:t>NL</a:t>
                      </a:r>
                      <a:endParaRPr sz="9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tcPr>
                </a:tc>
                <a:extLst>
                  <a:ext uri="{0D108BD9-81ED-4DB2-BD59-A6C34878D82A}">
                    <a16:rowId xmlns:a16="http://schemas.microsoft.com/office/drawing/2014/main" val="10001"/>
                  </a:ext>
                </a:extLst>
              </a:tr>
              <a:tr h="139065">
                <a:tc>
                  <a:txBody>
                    <a:bodyPr/>
                    <a:lstStyle/>
                    <a:p>
                      <a:pPr marL="78105">
                        <a:lnSpc>
                          <a:spcPts val="994"/>
                        </a:lnSpc>
                      </a:pPr>
                      <a:r>
                        <a:rPr sz="900" spc="-5" dirty="0">
                          <a:latin typeface="Arial"/>
                          <a:cs typeface="Arial"/>
                        </a:rPr>
                        <a:t>Locality</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i="1" dirty="0">
                          <a:latin typeface="Arial"/>
                          <a:cs typeface="Arial"/>
                        </a:rPr>
                        <a:t>L</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Amsterdam</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139065">
                <a:tc>
                  <a:txBody>
                    <a:bodyPr/>
                    <a:lstStyle/>
                    <a:p>
                      <a:pPr marL="78105">
                        <a:lnSpc>
                          <a:spcPts val="994"/>
                        </a:lnSpc>
                      </a:pPr>
                      <a:r>
                        <a:rPr sz="900" spc="-5" dirty="0">
                          <a:latin typeface="Arial"/>
                          <a:cs typeface="Arial"/>
                        </a:rPr>
                        <a:t>Organization</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i="1" dirty="0">
                          <a:latin typeface="Arial"/>
                          <a:cs typeface="Arial"/>
                        </a:rPr>
                        <a:t>O</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VU</a:t>
                      </a:r>
                      <a:r>
                        <a:rPr sz="900" spc="-45" dirty="0">
                          <a:latin typeface="Arial"/>
                          <a:cs typeface="Arial"/>
                        </a:rPr>
                        <a:t> </a:t>
                      </a:r>
                      <a:r>
                        <a:rPr sz="900" spc="-5" dirty="0">
                          <a:latin typeface="Arial"/>
                          <a:cs typeface="Arial"/>
                        </a:rPr>
                        <a:t>University</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139065">
                <a:tc>
                  <a:txBody>
                    <a:bodyPr/>
                    <a:lstStyle/>
                    <a:p>
                      <a:pPr marL="78105">
                        <a:lnSpc>
                          <a:spcPts val="994"/>
                        </a:lnSpc>
                      </a:pPr>
                      <a:r>
                        <a:rPr sz="900" spc="-5" dirty="0">
                          <a:latin typeface="Arial"/>
                          <a:cs typeface="Arial"/>
                        </a:rPr>
                        <a:t>OrganizationalUnit</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i="1" spc="-5" dirty="0">
                          <a:latin typeface="Arial"/>
                          <a:cs typeface="Arial"/>
                        </a:rPr>
                        <a:t>OU</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Computer</a:t>
                      </a:r>
                      <a:r>
                        <a:rPr sz="900" spc="-30" dirty="0">
                          <a:latin typeface="Arial"/>
                          <a:cs typeface="Arial"/>
                        </a:rPr>
                        <a:t> </a:t>
                      </a:r>
                      <a:r>
                        <a:rPr sz="900" spc="-5" dirty="0">
                          <a:latin typeface="Arial"/>
                          <a:cs typeface="Arial"/>
                        </a:rPr>
                        <a:t>Science</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139065">
                <a:tc>
                  <a:txBody>
                    <a:bodyPr/>
                    <a:lstStyle/>
                    <a:p>
                      <a:pPr marL="78105">
                        <a:lnSpc>
                          <a:spcPts val="994"/>
                        </a:lnSpc>
                      </a:pPr>
                      <a:r>
                        <a:rPr sz="900" spc="-5" dirty="0">
                          <a:latin typeface="Arial"/>
                          <a:cs typeface="Arial"/>
                        </a:rPr>
                        <a:t>CommonName</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i="1" spc="-5" dirty="0">
                          <a:latin typeface="Arial"/>
                          <a:cs typeface="Arial"/>
                        </a:rPr>
                        <a:t>CN</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Main</a:t>
                      </a:r>
                      <a:r>
                        <a:rPr sz="900" spc="-40" dirty="0">
                          <a:latin typeface="Arial"/>
                          <a:cs typeface="Arial"/>
                        </a:rPr>
                        <a:t> </a:t>
                      </a:r>
                      <a:r>
                        <a:rPr sz="900" spc="-5" dirty="0">
                          <a:latin typeface="Arial"/>
                          <a:cs typeface="Arial"/>
                        </a:rPr>
                        <a:t>server</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139065">
                <a:tc>
                  <a:txBody>
                    <a:bodyPr/>
                    <a:lstStyle/>
                    <a:p>
                      <a:pPr marL="78105">
                        <a:lnSpc>
                          <a:spcPts val="994"/>
                        </a:lnSpc>
                      </a:pPr>
                      <a:r>
                        <a:rPr sz="900" spc="-5" dirty="0">
                          <a:latin typeface="Arial"/>
                          <a:cs typeface="Arial"/>
                        </a:rPr>
                        <a:t>Mail</a:t>
                      </a:r>
                      <a:r>
                        <a:rPr sz="900" spc="35" dirty="0">
                          <a:latin typeface="Arial"/>
                          <a:cs typeface="Arial"/>
                        </a:rPr>
                        <a:t> </a:t>
                      </a:r>
                      <a:r>
                        <a:rPr sz="900" spc="-5" dirty="0">
                          <a:latin typeface="Arial"/>
                          <a:cs typeface="Arial"/>
                        </a:rPr>
                        <a:t>Servers</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dirty="0">
                          <a:latin typeface="Arial"/>
                          <a:cs typeface="Arial"/>
                        </a:rPr>
                        <a:t>–</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137.37.20.3,</a:t>
                      </a:r>
                      <a:r>
                        <a:rPr sz="900" dirty="0">
                          <a:latin typeface="Arial"/>
                          <a:cs typeface="Arial"/>
                        </a:rPr>
                        <a:t> </a:t>
                      </a:r>
                      <a:r>
                        <a:rPr sz="900" spc="-5" dirty="0">
                          <a:latin typeface="Arial"/>
                          <a:cs typeface="Arial"/>
                        </a:rPr>
                        <a:t>130.37.24.6,</a:t>
                      </a:r>
                      <a:r>
                        <a:rPr sz="900" dirty="0">
                          <a:latin typeface="Arial"/>
                          <a:cs typeface="Arial"/>
                        </a:rPr>
                        <a:t> </a:t>
                      </a:r>
                      <a:r>
                        <a:rPr sz="900" spc="-5" dirty="0">
                          <a:latin typeface="Arial"/>
                          <a:cs typeface="Arial"/>
                        </a:rPr>
                        <a:t>137.37.20.10</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139065">
                <a:tc>
                  <a:txBody>
                    <a:bodyPr/>
                    <a:lstStyle/>
                    <a:p>
                      <a:pPr marL="78105">
                        <a:lnSpc>
                          <a:spcPts val="994"/>
                        </a:lnSpc>
                      </a:pPr>
                      <a:r>
                        <a:rPr sz="900" spc="-5" dirty="0">
                          <a:latin typeface="Arial"/>
                          <a:cs typeface="Arial"/>
                        </a:rPr>
                        <a:t>FTP</a:t>
                      </a:r>
                      <a:r>
                        <a:rPr sz="900" spc="30" dirty="0">
                          <a:latin typeface="Arial"/>
                          <a:cs typeface="Arial"/>
                        </a:rPr>
                        <a:t> </a:t>
                      </a:r>
                      <a:r>
                        <a:rPr sz="900" spc="-5" dirty="0">
                          <a:latin typeface="Arial"/>
                          <a:cs typeface="Arial"/>
                        </a:rPr>
                        <a:t>Server</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dirty="0">
                          <a:latin typeface="Arial"/>
                          <a:cs typeface="Arial"/>
                        </a:rPr>
                        <a:t>–</a:t>
                      </a:r>
                      <a:endParaRPr sz="900">
                        <a:latin typeface="Arial"/>
                        <a:cs typeface="Arial"/>
                      </a:endParaRPr>
                    </a:p>
                  </a:txBody>
                  <a:tcPr marL="0" marR="0" marT="0" marB="0">
                    <a:lnL w="6350">
                      <a:solidFill>
                        <a:srgbClr val="000000"/>
                      </a:solidFill>
                      <a:prstDash val="solid"/>
                    </a:lnL>
                    <a:lnR w="6350">
                      <a:solidFill>
                        <a:srgbClr val="000000"/>
                      </a:solidFill>
                      <a:prstDash val="solid"/>
                    </a:lnR>
                  </a:tcPr>
                </a:tc>
                <a:tc>
                  <a:txBody>
                    <a:bodyPr/>
                    <a:lstStyle/>
                    <a:p>
                      <a:pPr marL="78105">
                        <a:lnSpc>
                          <a:spcPts val="994"/>
                        </a:lnSpc>
                      </a:pPr>
                      <a:r>
                        <a:rPr sz="900" spc="-5" dirty="0">
                          <a:latin typeface="Arial"/>
                          <a:cs typeface="Arial"/>
                        </a:rPr>
                        <a:t>130.37.20.20</a:t>
                      </a:r>
                      <a:endParaRPr sz="900">
                        <a:latin typeface="Arial"/>
                        <a:cs typeface="Arial"/>
                      </a:endParaRP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151765">
                <a:tc>
                  <a:txBody>
                    <a:bodyPr/>
                    <a:lstStyle/>
                    <a:p>
                      <a:pPr marL="78105">
                        <a:lnSpc>
                          <a:spcPts val="1025"/>
                        </a:lnSpc>
                      </a:pPr>
                      <a:r>
                        <a:rPr sz="900" spc="-5" dirty="0">
                          <a:latin typeface="Arial"/>
                          <a:cs typeface="Arial"/>
                        </a:rPr>
                        <a:t>WWW</a:t>
                      </a:r>
                      <a:r>
                        <a:rPr sz="900" spc="30" dirty="0">
                          <a:latin typeface="Arial"/>
                          <a:cs typeface="Arial"/>
                        </a:rPr>
                        <a:t> </a:t>
                      </a:r>
                      <a:r>
                        <a:rPr sz="900" spc="-5" dirty="0">
                          <a:latin typeface="Arial"/>
                          <a:cs typeface="Arial"/>
                        </a:rPr>
                        <a:t>Server</a:t>
                      </a:r>
                      <a:endParaRPr sz="9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8105">
                        <a:lnSpc>
                          <a:spcPts val="1025"/>
                        </a:lnSpc>
                      </a:pPr>
                      <a:r>
                        <a:rPr sz="900" dirty="0">
                          <a:latin typeface="Arial"/>
                          <a:cs typeface="Arial"/>
                        </a:rPr>
                        <a:t>–</a:t>
                      </a:r>
                      <a:endParaRPr sz="9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marL="78105">
                        <a:lnSpc>
                          <a:spcPts val="1025"/>
                        </a:lnSpc>
                      </a:pPr>
                      <a:r>
                        <a:rPr sz="900" spc="-5" dirty="0">
                          <a:latin typeface="Arial"/>
                          <a:cs typeface="Arial"/>
                        </a:rPr>
                        <a:t>130.37.20.20</a:t>
                      </a:r>
                      <a:endParaRPr sz="900">
                        <a:latin typeface="Arial"/>
                        <a:cs typeface="Arial"/>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8"/>
                  </a:ext>
                </a:extLst>
              </a:tr>
            </a:tbl>
          </a:graphicData>
        </a:graphic>
      </p:graphicFrame>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40</a:t>
            </a:r>
            <a:r>
              <a:rPr spc="-40" dirty="0"/>
              <a:t> </a:t>
            </a:r>
            <a:r>
              <a:rPr spc="-5" dirty="0"/>
              <a:t>/</a:t>
            </a:r>
            <a:r>
              <a:rPr spc="-35" dirty="0"/>
              <a:t> </a:t>
            </a:r>
            <a:r>
              <a:rPr spc="-5" dirty="0"/>
              <a:t>46</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4548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Attribute-based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Hierarchical</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implementations:</a:t>
            </a:r>
            <a:r>
              <a:rPr sz="600" spc="35"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LDAP</a:t>
            </a:r>
            <a:endParaRPr sz="600">
              <a:latin typeface="Arial"/>
              <a:cs typeface="Arial"/>
            </a:endParaRPr>
          </a:p>
        </p:txBody>
      </p:sp>
      <p:sp>
        <p:nvSpPr>
          <p:cNvPr id="3" name="object 3"/>
          <p:cNvSpPr txBox="1">
            <a:spLocks noGrp="1"/>
          </p:cNvSpPr>
          <p:nvPr>
            <p:ph type="title"/>
          </p:nvPr>
        </p:nvSpPr>
        <p:spPr>
          <a:xfrm>
            <a:off x="95300" y="188846"/>
            <a:ext cx="494030" cy="244475"/>
          </a:xfrm>
          <a:prstGeom prst="rect">
            <a:avLst/>
          </a:prstGeom>
        </p:spPr>
        <p:txBody>
          <a:bodyPr vert="horz" wrap="square" lIns="0" tIns="17145" rIns="0" bIns="0" rtlCol="0">
            <a:spAutoFit/>
          </a:bodyPr>
          <a:lstStyle/>
          <a:p>
            <a:pPr marL="12700">
              <a:lnSpc>
                <a:spcPct val="100000"/>
              </a:lnSpc>
              <a:spcBef>
                <a:spcPts val="135"/>
              </a:spcBef>
            </a:pPr>
            <a:r>
              <a:rPr spc="15" dirty="0"/>
              <a:t>L</a:t>
            </a:r>
            <a:r>
              <a:rPr spc="-40" dirty="0"/>
              <a:t>D</a:t>
            </a:r>
            <a:r>
              <a:rPr spc="20" dirty="0"/>
              <a:t>AP</a:t>
            </a:r>
          </a:p>
        </p:txBody>
      </p:sp>
      <p:sp>
        <p:nvSpPr>
          <p:cNvPr id="4" name="object 4"/>
          <p:cNvSpPr txBox="1"/>
          <p:nvPr/>
        </p:nvSpPr>
        <p:spPr>
          <a:xfrm>
            <a:off x="321894" y="345952"/>
            <a:ext cx="3963035" cy="1759585"/>
          </a:xfrm>
          <a:prstGeom prst="rect">
            <a:avLst/>
          </a:prstGeom>
        </p:spPr>
        <p:txBody>
          <a:bodyPr vert="horz" wrap="square" lIns="0" tIns="95250" rIns="0" bIns="0" rtlCol="0">
            <a:spAutoFit/>
          </a:bodyPr>
          <a:lstStyle/>
          <a:p>
            <a:pPr marL="38100">
              <a:lnSpc>
                <a:spcPct val="100000"/>
              </a:lnSpc>
              <a:spcBef>
                <a:spcPts val="750"/>
              </a:spcBef>
            </a:pPr>
            <a:r>
              <a:rPr sz="1200" spc="-5" dirty="0">
                <a:solidFill>
                  <a:srgbClr val="3333B2"/>
                </a:solidFill>
                <a:latin typeface="Arial"/>
                <a:cs typeface="Arial"/>
              </a:rPr>
              <a:t>Essence</a:t>
            </a:r>
            <a:endParaRPr sz="1200">
              <a:latin typeface="Arial"/>
              <a:cs typeface="Arial"/>
            </a:endParaRPr>
          </a:p>
          <a:p>
            <a:pPr marL="314960" marR="30480" indent="-168275">
              <a:lnSpc>
                <a:spcPct val="100000"/>
              </a:lnSpc>
              <a:spcBef>
                <a:spcPts val="545"/>
              </a:spcBef>
              <a:buClr>
                <a:srgbClr val="3333B2"/>
              </a:buClr>
              <a:buChar char="►"/>
              <a:tabLst>
                <a:tab pos="315595" algn="l"/>
              </a:tabLst>
            </a:pPr>
            <a:r>
              <a:rPr sz="1000" spc="-10" dirty="0">
                <a:solidFill>
                  <a:srgbClr val="FA0000"/>
                </a:solidFill>
                <a:latin typeface="Arial"/>
                <a:cs typeface="Arial"/>
              </a:rPr>
              <a:t>Directory</a:t>
            </a:r>
            <a:r>
              <a:rPr sz="1000" dirty="0">
                <a:solidFill>
                  <a:srgbClr val="FA0000"/>
                </a:solidFill>
                <a:latin typeface="Arial"/>
                <a:cs typeface="Arial"/>
              </a:rPr>
              <a:t> </a:t>
            </a:r>
            <a:r>
              <a:rPr sz="1000" spc="-10" dirty="0">
                <a:solidFill>
                  <a:srgbClr val="FA0000"/>
                </a:solidFill>
                <a:latin typeface="Arial"/>
                <a:cs typeface="Arial"/>
              </a:rPr>
              <a:t>Information</a:t>
            </a:r>
            <a:r>
              <a:rPr sz="1000" dirty="0">
                <a:solidFill>
                  <a:srgbClr val="FA0000"/>
                </a:solidFill>
                <a:latin typeface="Arial"/>
                <a:cs typeface="Arial"/>
              </a:rPr>
              <a:t> </a:t>
            </a:r>
            <a:r>
              <a:rPr sz="1000" spc="-10" dirty="0">
                <a:solidFill>
                  <a:srgbClr val="FA0000"/>
                </a:solidFill>
                <a:latin typeface="Arial"/>
                <a:cs typeface="Arial"/>
              </a:rPr>
              <a:t>Base</a:t>
            </a:r>
            <a:r>
              <a:rPr sz="1000" spc="-10" dirty="0">
                <a:latin typeface="Arial"/>
                <a:cs typeface="Arial"/>
              </a:rPr>
              <a:t>:</a:t>
            </a:r>
            <a:r>
              <a:rPr sz="1000" spc="70" dirty="0">
                <a:latin typeface="Arial"/>
                <a:cs typeface="Arial"/>
              </a:rPr>
              <a:t> </a:t>
            </a:r>
            <a:r>
              <a:rPr sz="1000" spc="-10" dirty="0">
                <a:latin typeface="Arial"/>
                <a:cs typeface="Arial"/>
              </a:rPr>
              <a:t>collection</a:t>
            </a:r>
            <a:r>
              <a:rPr sz="1000"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all</a:t>
            </a:r>
            <a:r>
              <a:rPr sz="1000" dirty="0">
                <a:latin typeface="Arial"/>
                <a:cs typeface="Arial"/>
              </a:rPr>
              <a:t> </a:t>
            </a:r>
            <a:r>
              <a:rPr sz="1000" spc="-10" dirty="0">
                <a:latin typeface="Arial"/>
                <a:cs typeface="Arial"/>
              </a:rPr>
              <a:t>directory</a:t>
            </a:r>
            <a:r>
              <a:rPr sz="1000" spc="5" dirty="0">
                <a:latin typeface="Arial"/>
                <a:cs typeface="Arial"/>
              </a:rPr>
              <a:t> </a:t>
            </a:r>
            <a:r>
              <a:rPr sz="1000" spc="-10" dirty="0">
                <a:latin typeface="Arial"/>
                <a:cs typeface="Arial"/>
              </a:rPr>
              <a:t>entries</a:t>
            </a:r>
            <a:r>
              <a:rPr sz="1000" dirty="0">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an </a:t>
            </a:r>
            <a:r>
              <a:rPr sz="1000" spc="-260" dirty="0">
                <a:latin typeface="Arial"/>
                <a:cs typeface="Arial"/>
              </a:rPr>
              <a:t> </a:t>
            </a:r>
            <a:r>
              <a:rPr sz="1000" spc="-15" dirty="0">
                <a:latin typeface="Arial"/>
                <a:cs typeface="Arial"/>
              </a:rPr>
              <a:t>LDAP</a:t>
            </a:r>
            <a:r>
              <a:rPr sz="1000" spc="-10" dirty="0">
                <a:latin typeface="Arial"/>
                <a:cs typeface="Arial"/>
              </a:rPr>
              <a:t> </a:t>
            </a:r>
            <a:r>
              <a:rPr sz="1000" spc="-5" dirty="0">
                <a:latin typeface="Arial"/>
                <a:cs typeface="Arial"/>
              </a:rPr>
              <a:t>service.</a:t>
            </a:r>
            <a:endParaRPr sz="1000">
              <a:latin typeface="Arial"/>
              <a:cs typeface="Arial"/>
            </a:endParaRPr>
          </a:p>
          <a:p>
            <a:pPr marL="314960" marR="50165" indent="-168275">
              <a:lnSpc>
                <a:spcPts val="1200"/>
              </a:lnSpc>
              <a:spcBef>
                <a:spcPts val="30"/>
              </a:spcBef>
              <a:buClr>
                <a:srgbClr val="3333B2"/>
              </a:buClr>
              <a:buChar char="►"/>
              <a:tabLst>
                <a:tab pos="315595" algn="l"/>
              </a:tabLst>
            </a:pPr>
            <a:r>
              <a:rPr sz="1000" spc="-5" dirty="0">
                <a:latin typeface="Arial"/>
                <a:cs typeface="Arial"/>
              </a:rPr>
              <a:t>Each record is uniquely</a:t>
            </a:r>
            <a:r>
              <a:rPr sz="1000" dirty="0">
                <a:latin typeface="Arial"/>
                <a:cs typeface="Arial"/>
              </a:rPr>
              <a:t> </a:t>
            </a:r>
            <a:r>
              <a:rPr sz="1000" spc="-5" dirty="0">
                <a:latin typeface="Arial"/>
                <a:cs typeface="Arial"/>
              </a:rPr>
              <a:t>named as a</a:t>
            </a:r>
            <a:r>
              <a:rPr sz="1000" dirty="0">
                <a:latin typeface="Arial"/>
                <a:cs typeface="Arial"/>
              </a:rPr>
              <a:t> </a:t>
            </a:r>
            <a:r>
              <a:rPr sz="1000" spc="-5" dirty="0">
                <a:latin typeface="Arial"/>
                <a:cs typeface="Arial"/>
              </a:rPr>
              <a:t>sequence of naming </a:t>
            </a:r>
            <a:r>
              <a:rPr sz="1000" dirty="0">
                <a:latin typeface="Arial"/>
                <a:cs typeface="Arial"/>
              </a:rPr>
              <a:t> </a:t>
            </a:r>
            <a:r>
              <a:rPr sz="1000" spc="-5" dirty="0">
                <a:latin typeface="Arial"/>
                <a:cs typeface="Arial"/>
              </a:rPr>
              <a:t>attributes</a:t>
            </a:r>
            <a:r>
              <a:rPr sz="1000" dirty="0">
                <a:latin typeface="Arial"/>
                <a:cs typeface="Arial"/>
              </a:rPr>
              <a:t> </a:t>
            </a:r>
            <a:r>
              <a:rPr sz="1000" spc="-5" dirty="0">
                <a:latin typeface="Arial"/>
                <a:cs typeface="Arial"/>
              </a:rPr>
              <a:t>(called</a:t>
            </a:r>
            <a:r>
              <a:rPr sz="1000" dirty="0">
                <a:latin typeface="Arial"/>
                <a:cs typeface="Arial"/>
              </a:rPr>
              <a:t> </a:t>
            </a:r>
            <a:r>
              <a:rPr sz="1000" spc="-5" dirty="0">
                <a:solidFill>
                  <a:srgbClr val="FA0000"/>
                </a:solidFill>
                <a:latin typeface="Arial"/>
                <a:cs typeface="Arial"/>
              </a:rPr>
              <a:t>Relative</a:t>
            </a:r>
            <a:r>
              <a:rPr sz="1000" dirty="0">
                <a:solidFill>
                  <a:srgbClr val="FA0000"/>
                </a:solidFill>
                <a:latin typeface="Arial"/>
                <a:cs typeface="Arial"/>
              </a:rPr>
              <a:t> </a:t>
            </a:r>
            <a:r>
              <a:rPr sz="1000" spc="-5" dirty="0">
                <a:solidFill>
                  <a:srgbClr val="FA0000"/>
                </a:solidFill>
                <a:latin typeface="Arial"/>
                <a:cs typeface="Arial"/>
              </a:rPr>
              <a:t>Distinguished</a:t>
            </a:r>
            <a:r>
              <a:rPr sz="1000" dirty="0">
                <a:solidFill>
                  <a:srgbClr val="FA0000"/>
                </a:solidFill>
                <a:latin typeface="Arial"/>
                <a:cs typeface="Arial"/>
              </a:rPr>
              <a:t> </a:t>
            </a:r>
            <a:r>
              <a:rPr sz="1000" spc="-5" dirty="0">
                <a:solidFill>
                  <a:srgbClr val="FA0000"/>
                </a:solidFill>
                <a:latin typeface="Arial"/>
                <a:cs typeface="Arial"/>
              </a:rPr>
              <a:t>Name</a:t>
            </a:r>
            <a:r>
              <a:rPr sz="1000" spc="-5" dirty="0">
                <a:latin typeface="Arial"/>
                <a:cs typeface="Arial"/>
              </a:rPr>
              <a:t>),</a:t>
            </a:r>
            <a:r>
              <a:rPr sz="1000" dirty="0">
                <a:latin typeface="Arial"/>
                <a:cs typeface="Arial"/>
              </a:rPr>
              <a:t> </a:t>
            </a:r>
            <a:r>
              <a:rPr sz="1000" spc="-5" dirty="0">
                <a:latin typeface="Arial"/>
                <a:cs typeface="Arial"/>
              </a:rPr>
              <a:t>so</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 </a:t>
            </a:r>
            <a:r>
              <a:rPr sz="1000" spc="-265" dirty="0">
                <a:latin typeface="Arial"/>
                <a:cs typeface="Arial"/>
              </a:rPr>
              <a:t> </a:t>
            </a:r>
            <a:r>
              <a:rPr sz="1000" spc="-10" dirty="0">
                <a:latin typeface="Arial"/>
                <a:cs typeface="Arial"/>
              </a:rPr>
              <a:t>looked </a:t>
            </a:r>
            <a:r>
              <a:rPr sz="1000" spc="-15" dirty="0">
                <a:latin typeface="Arial"/>
                <a:cs typeface="Arial"/>
              </a:rPr>
              <a:t>up.</a:t>
            </a:r>
            <a:endParaRPr sz="1000">
              <a:latin typeface="Arial"/>
              <a:cs typeface="Arial"/>
            </a:endParaRPr>
          </a:p>
          <a:p>
            <a:pPr marL="314960" indent="-168275">
              <a:lnSpc>
                <a:spcPts val="1145"/>
              </a:lnSpc>
              <a:buClr>
                <a:srgbClr val="3333B2"/>
              </a:buClr>
              <a:buChar char="►"/>
              <a:tabLst>
                <a:tab pos="315595" algn="l"/>
              </a:tabLst>
            </a:pPr>
            <a:r>
              <a:rPr sz="1000" dirty="0">
                <a:solidFill>
                  <a:srgbClr val="FA0000"/>
                </a:solidFill>
                <a:latin typeface="Arial"/>
                <a:cs typeface="Arial"/>
              </a:rPr>
              <a:t>Directory</a:t>
            </a:r>
            <a:r>
              <a:rPr sz="1000" spc="-5" dirty="0">
                <a:solidFill>
                  <a:srgbClr val="FA0000"/>
                </a:solidFill>
                <a:latin typeface="Arial"/>
                <a:cs typeface="Arial"/>
              </a:rPr>
              <a:t> Information</a:t>
            </a:r>
            <a:r>
              <a:rPr sz="1000" dirty="0">
                <a:solidFill>
                  <a:srgbClr val="FA0000"/>
                </a:solidFill>
                <a:latin typeface="Arial"/>
                <a:cs typeface="Arial"/>
              </a:rPr>
              <a:t> </a:t>
            </a:r>
            <a:r>
              <a:rPr sz="1000" spc="-30" dirty="0">
                <a:solidFill>
                  <a:srgbClr val="FA0000"/>
                </a:solidFill>
                <a:latin typeface="Arial"/>
                <a:cs typeface="Arial"/>
              </a:rPr>
              <a:t>Tree</a:t>
            </a:r>
            <a:r>
              <a:rPr sz="1000" spc="-30" dirty="0">
                <a:latin typeface="Arial"/>
                <a:cs typeface="Arial"/>
              </a:rPr>
              <a:t>:</a:t>
            </a:r>
            <a:r>
              <a:rPr sz="1000" spc="6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naming </a:t>
            </a:r>
            <a:r>
              <a:rPr sz="1000" spc="-10" dirty="0">
                <a:latin typeface="Arial"/>
                <a:cs typeface="Arial"/>
              </a:rPr>
              <a:t>graph</a:t>
            </a:r>
            <a:r>
              <a:rPr sz="1000" dirty="0">
                <a:latin typeface="Arial"/>
                <a:cs typeface="Arial"/>
              </a:rPr>
              <a:t> </a:t>
            </a:r>
            <a:r>
              <a:rPr sz="1000" spc="-5" dirty="0">
                <a:latin typeface="Arial"/>
                <a:cs typeface="Arial"/>
              </a:rPr>
              <a:t>of an</a:t>
            </a:r>
            <a:r>
              <a:rPr sz="1000" dirty="0">
                <a:latin typeface="Arial"/>
                <a:cs typeface="Arial"/>
              </a:rPr>
              <a:t> </a:t>
            </a:r>
            <a:r>
              <a:rPr sz="1000" spc="-15" dirty="0">
                <a:latin typeface="Arial"/>
                <a:cs typeface="Arial"/>
              </a:rPr>
              <a:t>LDAP</a:t>
            </a:r>
            <a:endParaRPr sz="1000">
              <a:latin typeface="Arial"/>
              <a:cs typeface="Arial"/>
            </a:endParaRPr>
          </a:p>
          <a:p>
            <a:pPr marL="314960">
              <a:lnSpc>
                <a:spcPts val="1200"/>
              </a:lnSpc>
            </a:pPr>
            <a:r>
              <a:rPr sz="1000" dirty="0">
                <a:latin typeface="Arial"/>
                <a:cs typeface="Arial"/>
              </a:rPr>
              <a:t>directory</a:t>
            </a:r>
            <a:r>
              <a:rPr sz="1000" spc="-10" dirty="0">
                <a:latin typeface="Arial"/>
                <a:cs typeface="Arial"/>
              </a:rPr>
              <a:t> </a:t>
            </a:r>
            <a:r>
              <a:rPr sz="1000" dirty="0">
                <a:latin typeface="Arial"/>
                <a:cs typeface="Arial"/>
              </a:rPr>
              <a:t>service;</a:t>
            </a:r>
            <a:r>
              <a:rPr sz="1000" spc="-5" dirty="0">
                <a:latin typeface="Arial"/>
                <a:cs typeface="Arial"/>
              </a:rPr>
              <a:t> each node represents a </a:t>
            </a:r>
            <a:r>
              <a:rPr sz="1000" dirty="0">
                <a:latin typeface="Arial"/>
                <a:cs typeface="Arial"/>
              </a:rPr>
              <a:t>directory</a:t>
            </a:r>
            <a:r>
              <a:rPr sz="1000" spc="-5" dirty="0">
                <a:latin typeface="Arial"/>
                <a:cs typeface="Arial"/>
              </a:rPr>
              <a:t> </a:t>
            </a:r>
            <a:r>
              <a:rPr sz="1000" spc="-15" dirty="0">
                <a:latin typeface="Arial"/>
                <a:cs typeface="Arial"/>
              </a:rPr>
              <a:t>entry.</a:t>
            </a:r>
            <a:endParaRPr sz="1000">
              <a:latin typeface="Arial"/>
              <a:cs typeface="Arial"/>
            </a:endParaRPr>
          </a:p>
          <a:p>
            <a:pPr>
              <a:lnSpc>
                <a:spcPct val="100000"/>
              </a:lnSpc>
              <a:spcBef>
                <a:spcPts val="50"/>
              </a:spcBef>
            </a:pPr>
            <a:endParaRPr sz="1000">
              <a:latin typeface="Arial"/>
              <a:cs typeface="Arial"/>
            </a:endParaRPr>
          </a:p>
          <a:p>
            <a:pPr marL="38100">
              <a:lnSpc>
                <a:spcPct val="100000"/>
              </a:lnSpc>
              <a:spcBef>
                <a:spcPts val="5"/>
              </a:spcBef>
            </a:pPr>
            <a:r>
              <a:rPr sz="1200" spc="-5" dirty="0">
                <a:solidFill>
                  <a:srgbClr val="3333B2"/>
                </a:solidFill>
                <a:latin typeface="Arial"/>
                <a:cs typeface="Arial"/>
              </a:rPr>
              <a:t>Part</a:t>
            </a:r>
            <a:r>
              <a:rPr sz="1200" spc="-15" dirty="0">
                <a:solidFill>
                  <a:srgbClr val="3333B2"/>
                </a:solidFill>
                <a:latin typeface="Arial"/>
                <a:cs typeface="Arial"/>
              </a:rPr>
              <a:t> </a:t>
            </a:r>
            <a:r>
              <a:rPr sz="1200" spc="-5" dirty="0">
                <a:solidFill>
                  <a:srgbClr val="3333B2"/>
                </a:solidFill>
                <a:latin typeface="Arial"/>
                <a:cs typeface="Arial"/>
              </a:rPr>
              <a:t>of</a:t>
            </a:r>
            <a:r>
              <a:rPr sz="1200" spc="-10" dirty="0">
                <a:solidFill>
                  <a:srgbClr val="3333B2"/>
                </a:solidFill>
                <a:latin typeface="Arial"/>
                <a:cs typeface="Arial"/>
              </a:rPr>
              <a:t> </a:t>
            </a:r>
            <a:r>
              <a:rPr sz="1200" spc="-5" dirty="0">
                <a:solidFill>
                  <a:srgbClr val="3333B2"/>
                </a:solidFill>
                <a:latin typeface="Arial"/>
                <a:cs typeface="Arial"/>
              </a:rPr>
              <a:t>a</a:t>
            </a:r>
            <a:r>
              <a:rPr sz="1200" spc="-10" dirty="0">
                <a:solidFill>
                  <a:srgbClr val="3333B2"/>
                </a:solidFill>
                <a:latin typeface="Arial"/>
                <a:cs typeface="Arial"/>
              </a:rPr>
              <a:t> </a:t>
            </a:r>
            <a:r>
              <a:rPr sz="1200" dirty="0">
                <a:solidFill>
                  <a:srgbClr val="3333B2"/>
                </a:solidFill>
                <a:latin typeface="Arial"/>
                <a:cs typeface="Arial"/>
              </a:rPr>
              <a:t>directory</a:t>
            </a:r>
            <a:r>
              <a:rPr sz="1200" spc="-10" dirty="0">
                <a:solidFill>
                  <a:srgbClr val="3333B2"/>
                </a:solidFill>
                <a:latin typeface="Arial"/>
                <a:cs typeface="Arial"/>
              </a:rPr>
              <a:t> </a:t>
            </a:r>
            <a:r>
              <a:rPr sz="1200" spc="-5" dirty="0">
                <a:solidFill>
                  <a:srgbClr val="3333B2"/>
                </a:solidFill>
                <a:latin typeface="Arial"/>
                <a:cs typeface="Arial"/>
              </a:rPr>
              <a:t>information</a:t>
            </a:r>
            <a:r>
              <a:rPr sz="1200" spc="-15" dirty="0">
                <a:solidFill>
                  <a:srgbClr val="3333B2"/>
                </a:solidFill>
                <a:latin typeface="Arial"/>
                <a:cs typeface="Arial"/>
              </a:rPr>
              <a:t> </a:t>
            </a:r>
            <a:r>
              <a:rPr sz="1200" spc="-5" dirty="0">
                <a:solidFill>
                  <a:srgbClr val="3333B2"/>
                </a:solidFill>
                <a:latin typeface="Arial"/>
                <a:cs typeface="Arial"/>
              </a:rPr>
              <a:t>tree</a:t>
            </a:r>
            <a:endParaRPr sz="1200">
              <a:latin typeface="Arial"/>
              <a:cs typeface="Arial"/>
            </a:endParaRPr>
          </a:p>
        </p:txBody>
      </p:sp>
      <p:grpSp>
        <p:nvGrpSpPr>
          <p:cNvPr id="5" name="object 5"/>
          <p:cNvGrpSpPr/>
          <p:nvPr/>
        </p:nvGrpSpPr>
        <p:grpSpPr>
          <a:xfrm>
            <a:off x="1066751" y="2223983"/>
            <a:ext cx="1579880" cy="839469"/>
            <a:chOff x="1066751" y="2223983"/>
            <a:chExt cx="1579880" cy="839469"/>
          </a:xfrm>
        </p:grpSpPr>
        <p:sp>
          <p:nvSpPr>
            <p:cNvPr id="6" name="object 6"/>
            <p:cNvSpPr/>
            <p:nvPr/>
          </p:nvSpPr>
          <p:spPr>
            <a:xfrm>
              <a:off x="1162191" y="2319428"/>
              <a:ext cx="1481455" cy="741045"/>
            </a:xfrm>
            <a:custGeom>
              <a:avLst/>
              <a:gdLst/>
              <a:ahLst/>
              <a:cxnLst/>
              <a:rect l="l" t="t" r="r" b="b"/>
              <a:pathLst>
                <a:path w="1481455" h="741044">
                  <a:moveTo>
                    <a:pt x="0" y="0"/>
                  </a:moveTo>
                  <a:lnTo>
                    <a:pt x="1481328" y="740659"/>
                  </a:lnTo>
                </a:path>
              </a:pathLst>
            </a:custGeom>
            <a:ln w="5140">
              <a:solidFill>
                <a:srgbClr val="231F20"/>
              </a:solidFill>
            </a:ln>
          </p:spPr>
          <p:txBody>
            <a:bodyPr wrap="square" lIns="0" tIns="0" rIns="0" bIns="0" rtlCol="0"/>
            <a:lstStyle/>
            <a:p>
              <a:endParaRPr/>
            </a:p>
          </p:txBody>
        </p:sp>
        <p:sp>
          <p:nvSpPr>
            <p:cNvPr id="7" name="object 7"/>
            <p:cNvSpPr/>
            <p:nvPr/>
          </p:nvSpPr>
          <p:spPr>
            <a:xfrm>
              <a:off x="1069608" y="2226840"/>
              <a:ext cx="146050" cy="146050"/>
            </a:xfrm>
            <a:custGeom>
              <a:avLst/>
              <a:gdLst/>
              <a:ahLst/>
              <a:cxnLst/>
              <a:rect l="l" t="t" r="r" b="b"/>
              <a:pathLst>
                <a:path w="146050" h="146050">
                  <a:moveTo>
                    <a:pt x="145797" y="0"/>
                  </a:moveTo>
                  <a:lnTo>
                    <a:pt x="0" y="0"/>
                  </a:lnTo>
                  <a:lnTo>
                    <a:pt x="0" y="145797"/>
                  </a:lnTo>
                  <a:lnTo>
                    <a:pt x="145797" y="145797"/>
                  </a:lnTo>
                  <a:lnTo>
                    <a:pt x="145797" y="0"/>
                  </a:lnTo>
                  <a:close/>
                </a:path>
              </a:pathLst>
            </a:custGeom>
            <a:solidFill>
              <a:srgbClr val="FFFFFF"/>
            </a:solidFill>
          </p:spPr>
          <p:txBody>
            <a:bodyPr wrap="square" lIns="0" tIns="0" rIns="0" bIns="0" rtlCol="0"/>
            <a:lstStyle/>
            <a:p>
              <a:endParaRPr/>
            </a:p>
          </p:txBody>
        </p:sp>
        <p:sp>
          <p:nvSpPr>
            <p:cNvPr id="8" name="object 8"/>
            <p:cNvSpPr/>
            <p:nvPr/>
          </p:nvSpPr>
          <p:spPr>
            <a:xfrm>
              <a:off x="1069608" y="2226840"/>
              <a:ext cx="1124585" cy="753745"/>
            </a:xfrm>
            <a:custGeom>
              <a:avLst/>
              <a:gdLst/>
              <a:ahLst/>
              <a:cxnLst/>
              <a:rect l="l" t="t" r="r" b="b"/>
              <a:pathLst>
                <a:path w="1124585" h="753744">
                  <a:moveTo>
                    <a:pt x="0" y="145797"/>
                  </a:moveTo>
                  <a:lnTo>
                    <a:pt x="145797" y="145797"/>
                  </a:lnTo>
                  <a:lnTo>
                    <a:pt x="145797" y="0"/>
                  </a:lnTo>
                  <a:lnTo>
                    <a:pt x="0" y="0"/>
                  </a:lnTo>
                  <a:lnTo>
                    <a:pt x="0" y="145797"/>
                  </a:lnTo>
                  <a:close/>
                </a:path>
                <a:path w="1124585" h="753744">
                  <a:moveTo>
                    <a:pt x="380052" y="285989"/>
                  </a:moveTo>
                  <a:lnTo>
                    <a:pt x="252031" y="370332"/>
                  </a:lnTo>
                </a:path>
                <a:path w="1124585" h="753744">
                  <a:moveTo>
                    <a:pt x="752955" y="486586"/>
                  </a:moveTo>
                  <a:lnTo>
                    <a:pt x="624935" y="570924"/>
                  </a:lnTo>
                </a:path>
                <a:path w="1124585" h="753744">
                  <a:moveTo>
                    <a:pt x="1124575" y="669180"/>
                  </a:moveTo>
                  <a:lnTo>
                    <a:pt x="996553" y="753518"/>
                  </a:lnTo>
                </a:path>
              </a:pathLst>
            </a:custGeom>
            <a:ln w="5140">
              <a:solidFill>
                <a:srgbClr val="231F20"/>
              </a:solidFill>
            </a:ln>
          </p:spPr>
          <p:txBody>
            <a:bodyPr wrap="square" lIns="0" tIns="0" rIns="0" bIns="0" rtlCol="0"/>
            <a:lstStyle/>
            <a:p>
              <a:endParaRPr/>
            </a:p>
          </p:txBody>
        </p:sp>
      </p:grpSp>
      <p:sp>
        <p:nvSpPr>
          <p:cNvPr id="9" name="object 9"/>
          <p:cNvSpPr txBox="1"/>
          <p:nvPr/>
        </p:nvSpPr>
        <p:spPr>
          <a:xfrm>
            <a:off x="1801278" y="3084338"/>
            <a:ext cx="645160"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HostName</a:t>
            </a:r>
            <a:r>
              <a:rPr sz="650" spc="-25" dirty="0">
                <a:solidFill>
                  <a:srgbClr val="231F20"/>
                </a:solidFill>
                <a:latin typeface="Arial"/>
                <a:cs typeface="Arial"/>
              </a:rPr>
              <a:t> </a:t>
            </a:r>
            <a:r>
              <a:rPr sz="650" spc="-5" dirty="0">
                <a:solidFill>
                  <a:srgbClr val="231F20"/>
                </a:solidFill>
                <a:latin typeface="Arial"/>
                <a:cs typeface="Arial"/>
              </a:rPr>
              <a:t>=</a:t>
            </a:r>
            <a:r>
              <a:rPr sz="650" spc="-25" dirty="0">
                <a:solidFill>
                  <a:srgbClr val="231F20"/>
                </a:solidFill>
                <a:latin typeface="Arial"/>
                <a:cs typeface="Arial"/>
              </a:rPr>
              <a:t> </a:t>
            </a:r>
            <a:r>
              <a:rPr sz="650" spc="-5" dirty="0">
                <a:solidFill>
                  <a:srgbClr val="231F20"/>
                </a:solidFill>
                <a:latin typeface="Arial"/>
                <a:cs typeface="Arial"/>
              </a:rPr>
              <a:t>star</a:t>
            </a:r>
            <a:endParaRPr sz="650">
              <a:latin typeface="Arial"/>
              <a:cs typeface="Arial"/>
            </a:endParaRPr>
          </a:p>
        </p:txBody>
      </p:sp>
      <p:sp>
        <p:nvSpPr>
          <p:cNvPr id="10" name="object 10"/>
          <p:cNvSpPr txBox="1"/>
          <p:nvPr/>
        </p:nvSpPr>
        <p:spPr>
          <a:xfrm>
            <a:off x="2797200" y="3078556"/>
            <a:ext cx="755015" cy="124460"/>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HostName</a:t>
            </a:r>
            <a:r>
              <a:rPr sz="650" spc="-25" dirty="0">
                <a:solidFill>
                  <a:srgbClr val="231F20"/>
                </a:solidFill>
                <a:latin typeface="Arial"/>
                <a:cs typeface="Arial"/>
              </a:rPr>
              <a:t> </a:t>
            </a:r>
            <a:r>
              <a:rPr sz="650" spc="-5" dirty="0">
                <a:solidFill>
                  <a:srgbClr val="231F20"/>
                </a:solidFill>
                <a:latin typeface="Arial"/>
                <a:cs typeface="Arial"/>
              </a:rPr>
              <a:t>=</a:t>
            </a:r>
            <a:r>
              <a:rPr sz="650" spc="-20" dirty="0">
                <a:solidFill>
                  <a:srgbClr val="231F20"/>
                </a:solidFill>
                <a:latin typeface="Arial"/>
                <a:cs typeface="Arial"/>
              </a:rPr>
              <a:t> </a:t>
            </a:r>
            <a:r>
              <a:rPr sz="650" spc="-5" dirty="0">
                <a:solidFill>
                  <a:srgbClr val="231F20"/>
                </a:solidFill>
                <a:latin typeface="Arial"/>
                <a:cs typeface="Arial"/>
              </a:rPr>
              <a:t>zephyr</a:t>
            </a:r>
            <a:endParaRPr sz="650">
              <a:latin typeface="Arial"/>
              <a:cs typeface="Arial"/>
            </a:endParaRPr>
          </a:p>
        </p:txBody>
      </p:sp>
      <p:grpSp>
        <p:nvGrpSpPr>
          <p:cNvPr id="11" name="object 11"/>
          <p:cNvGrpSpPr/>
          <p:nvPr/>
        </p:nvGrpSpPr>
        <p:grpSpPr>
          <a:xfrm>
            <a:off x="1437370" y="2409435"/>
            <a:ext cx="1455420" cy="971550"/>
            <a:chOff x="1437370" y="2409435"/>
            <a:chExt cx="1455420" cy="971550"/>
          </a:xfrm>
        </p:grpSpPr>
        <p:sp>
          <p:nvSpPr>
            <p:cNvPr id="12" name="object 12"/>
            <p:cNvSpPr/>
            <p:nvPr/>
          </p:nvSpPr>
          <p:spPr>
            <a:xfrm>
              <a:off x="2367407" y="3101645"/>
              <a:ext cx="522605" cy="276860"/>
            </a:xfrm>
            <a:custGeom>
              <a:avLst/>
              <a:gdLst/>
              <a:ahLst/>
              <a:cxnLst/>
              <a:rect l="l" t="t" r="r" b="b"/>
              <a:pathLst>
                <a:path w="522605" h="276860">
                  <a:moveTo>
                    <a:pt x="194681" y="4504"/>
                  </a:moveTo>
                  <a:lnTo>
                    <a:pt x="107200" y="135720"/>
                  </a:lnTo>
                </a:path>
                <a:path w="522605" h="276860">
                  <a:moveTo>
                    <a:pt x="72903" y="130781"/>
                  </a:moveTo>
                  <a:lnTo>
                    <a:pt x="101231" y="136526"/>
                  </a:lnTo>
                  <a:lnTo>
                    <a:pt x="124407" y="152175"/>
                  </a:lnTo>
                  <a:lnTo>
                    <a:pt x="140054" y="175353"/>
                  </a:lnTo>
                  <a:lnTo>
                    <a:pt x="145797" y="203682"/>
                  </a:lnTo>
                  <a:lnTo>
                    <a:pt x="140054" y="232012"/>
                  </a:lnTo>
                  <a:lnTo>
                    <a:pt x="124407" y="255192"/>
                  </a:lnTo>
                  <a:lnTo>
                    <a:pt x="101231" y="270842"/>
                  </a:lnTo>
                  <a:lnTo>
                    <a:pt x="72903" y="276587"/>
                  </a:lnTo>
                  <a:lnTo>
                    <a:pt x="44570" y="270841"/>
                  </a:lnTo>
                  <a:lnTo>
                    <a:pt x="21391" y="255191"/>
                  </a:lnTo>
                  <a:lnTo>
                    <a:pt x="5743" y="232014"/>
                  </a:lnTo>
                  <a:lnTo>
                    <a:pt x="0" y="203682"/>
                  </a:lnTo>
                  <a:lnTo>
                    <a:pt x="5743" y="175353"/>
                  </a:lnTo>
                  <a:lnTo>
                    <a:pt x="21391" y="152175"/>
                  </a:lnTo>
                  <a:lnTo>
                    <a:pt x="44570" y="136526"/>
                  </a:lnTo>
                  <a:lnTo>
                    <a:pt x="72903" y="130781"/>
                  </a:lnTo>
                  <a:close/>
                </a:path>
                <a:path w="522605" h="276860">
                  <a:moveTo>
                    <a:pt x="324595" y="0"/>
                  </a:moveTo>
                  <a:lnTo>
                    <a:pt x="412076" y="131215"/>
                  </a:lnTo>
                </a:path>
                <a:path w="522605" h="276860">
                  <a:moveTo>
                    <a:pt x="449593" y="122423"/>
                  </a:moveTo>
                  <a:lnTo>
                    <a:pt x="421263" y="128168"/>
                  </a:lnTo>
                  <a:lnTo>
                    <a:pt x="398085" y="143818"/>
                  </a:lnTo>
                  <a:lnTo>
                    <a:pt x="382434" y="166996"/>
                  </a:lnTo>
                  <a:lnTo>
                    <a:pt x="376689" y="195324"/>
                  </a:lnTo>
                  <a:lnTo>
                    <a:pt x="382434" y="223654"/>
                  </a:lnTo>
                  <a:lnTo>
                    <a:pt x="398085" y="246831"/>
                  </a:lnTo>
                  <a:lnTo>
                    <a:pt x="421263" y="262481"/>
                  </a:lnTo>
                  <a:lnTo>
                    <a:pt x="449593" y="268225"/>
                  </a:lnTo>
                  <a:lnTo>
                    <a:pt x="477922" y="262481"/>
                  </a:lnTo>
                  <a:lnTo>
                    <a:pt x="501101" y="246831"/>
                  </a:lnTo>
                  <a:lnTo>
                    <a:pt x="516752" y="223654"/>
                  </a:lnTo>
                  <a:lnTo>
                    <a:pt x="522497" y="195324"/>
                  </a:lnTo>
                  <a:lnTo>
                    <a:pt x="516752" y="166997"/>
                  </a:lnTo>
                  <a:lnTo>
                    <a:pt x="501101" y="143820"/>
                  </a:lnTo>
                  <a:lnTo>
                    <a:pt x="477922" y="128172"/>
                  </a:lnTo>
                  <a:lnTo>
                    <a:pt x="449593" y="122427"/>
                  </a:lnTo>
                  <a:close/>
                </a:path>
              </a:pathLst>
            </a:custGeom>
            <a:ln w="5140">
              <a:solidFill>
                <a:srgbClr val="231F20"/>
              </a:solidFill>
            </a:ln>
          </p:spPr>
          <p:txBody>
            <a:bodyPr wrap="square" lIns="0" tIns="0" rIns="0" bIns="0" rtlCol="0"/>
            <a:lstStyle/>
            <a:p>
              <a:endParaRPr/>
            </a:p>
          </p:txBody>
        </p:sp>
        <p:sp>
          <p:nvSpPr>
            <p:cNvPr id="13" name="object 13"/>
            <p:cNvSpPr/>
            <p:nvPr/>
          </p:nvSpPr>
          <p:spPr>
            <a:xfrm>
              <a:off x="2550937" y="2967504"/>
              <a:ext cx="146050" cy="146050"/>
            </a:xfrm>
            <a:custGeom>
              <a:avLst/>
              <a:gdLst/>
              <a:ahLst/>
              <a:cxnLst/>
              <a:rect l="l" t="t" r="r" b="b"/>
              <a:pathLst>
                <a:path w="146050" h="146050">
                  <a:moveTo>
                    <a:pt x="145797" y="0"/>
                  </a:moveTo>
                  <a:lnTo>
                    <a:pt x="0" y="0"/>
                  </a:lnTo>
                  <a:lnTo>
                    <a:pt x="0" y="145797"/>
                  </a:lnTo>
                  <a:lnTo>
                    <a:pt x="145797" y="145797"/>
                  </a:lnTo>
                  <a:lnTo>
                    <a:pt x="145797" y="0"/>
                  </a:lnTo>
                  <a:close/>
                </a:path>
              </a:pathLst>
            </a:custGeom>
            <a:solidFill>
              <a:srgbClr val="FFFFFF"/>
            </a:solidFill>
          </p:spPr>
          <p:txBody>
            <a:bodyPr wrap="square" lIns="0" tIns="0" rIns="0" bIns="0" rtlCol="0"/>
            <a:lstStyle/>
            <a:p>
              <a:endParaRPr/>
            </a:p>
          </p:txBody>
        </p:sp>
        <p:sp>
          <p:nvSpPr>
            <p:cNvPr id="14" name="object 14"/>
            <p:cNvSpPr/>
            <p:nvPr/>
          </p:nvSpPr>
          <p:spPr>
            <a:xfrm>
              <a:off x="2550937" y="2967504"/>
              <a:ext cx="146050" cy="146050"/>
            </a:xfrm>
            <a:custGeom>
              <a:avLst/>
              <a:gdLst/>
              <a:ahLst/>
              <a:cxnLst/>
              <a:rect l="l" t="t" r="r" b="b"/>
              <a:pathLst>
                <a:path w="146050" h="146050">
                  <a:moveTo>
                    <a:pt x="0" y="145797"/>
                  </a:moveTo>
                  <a:lnTo>
                    <a:pt x="145797" y="145797"/>
                  </a:lnTo>
                  <a:lnTo>
                    <a:pt x="145797" y="0"/>
                  </a:lnTo>
                  <a:lnTo>
                    <a:pt x="0" y="0"/>
                  </a:lnTo>
                  <a:lnTo>
                    <a:pt x="0" y="145797"/>
                  </a:lnTo>
                  <a:close/>
                </a:path>
              </a:pathLst>
            </a:custGeom>
            <a:ln w="5140">
              <a:solidFill>
                <a:srgbClr val="231F20"/>
              </a:solidFill>
            </a:ln>
          </p:spPr>
          <p:txBody>
            <a:bodyPr wrap="square" lIns="0" tIns="0" rIns="0" bIns="0" rtlCol="0"/>
            <a:lstStyle/>
            <a:p>
              <a:endParaRPr/>
            </a:p>
          </p:txBody>
        </p:sp>
        <p:sp>
          <p:nvSpPr>
            <p:cNvPr id="15" name="object 15"/>
            <p:cNvSpPr/>
            <p:nvPr/>
          </p:nvSpPr>
          <p:spPr>
            <a:xfrm>
              <a:off x="1439940" y="2412005"/>
              <a:ext cx="146050" cy="146050"/>
            </a:xfrm>
            <a:custGeom>
              <a:avLst/>
              <a:gdLst/>
              <a:ahLst/>
              <a:cxnLst/>
              <a:rect l="l" t="t" r="r" b="b"/>
              <a:pathLst>
                <a:path w="146050" h="146050">
                  <a:moveTo>
                    <a:pt x="145797" y="0"/>
                  </a:moveTo>
                  <a:lnTo>
                    <a:pt x="0" y="0"/>
                  </a:lnTo>
                  <a:lnTo>
                    <a:pt x="0" y="145794"/>
                  </a:lnTo>
                  <a:lnTo>
                    <a:pt x="145797" y="145794"/>
                  </a:lnTo>
                  <a:lnTo>
                    <a:pt x="145797" y="0"/>
                  </a:lnTo>
                  <a:close/>
                </a:path>
              </a:pathLst>
            </a:custGeom>
            <a:solidFill>
              <a:srgbClr val="FFFFFF"/>
            </a:solidFill>
          </p:spPr>
          <p:txBody>
            <a:bodyPr wrap="square" lIns="0" tIns="0" rIns="0" bIns="0" rtlCol="0"/>
            <a:lstStyle/>
            <a:p>
              <a:endParaRPr/>
            </a:p>
          </p:txBody>
        </p:sp>
        <p:sp>
          <p:nvSpPr>
            <p:cNvPr id="16" name="object 16"/>
            <p:cNvSpPr/>
            <p:nvPr/>
          </p:nvSpPr>
          <p:spPr>
            <a:xfrm>
              <a:off x="1439940" y="2412005"/>
              <a:ext cx="146050" cy="146050"/>
            </a:xfrm>
            <a:custGeom>
              <a:avLst/>
              <a:gdLst/>
              <a:ahLst/>
              <a:cxnLst/>
              <a:rect l="l" t="t" r="r" b="b"/>
              <a:pathLst>
                <a:path w="146050" h="146050">
                  <a:moveTo>
                    <a:pt x="0" y="145794"/>
                  </a:moveTo>
                  <a:lnTo>
                    <a:pt x="145797" y="145794"/>
                  </a:lnTo>
                  <a:lnTo>
                    <a:pt x="145797" y="0"/>
                  </a:lnTo>
                  <a:lnTo>
                    <a:pt x="0" y="0"/>
                  </a:lnTo>
                  <a:lnTo>
                    <a:pt x="0" y="145794"/>
                  </a:lnTo>
                  <a:close/>
                </a:path>
              </a:pathLst>
            </a:custGeom>
            <a:ln w="5140">
              <a:solidFill>
                <a:srgbClr val="231F20"/>
              </a:solidFill>
            </a:ln>
          </p:spPr>
          <p:txBody>
            <a:bodyPr wrap="square" lIns="0" tIns="0" rIns="0" bIns="0" rtlCol="0"/>
            <a:lstStyle/>
            <a:p>
              <a:endParaRPr/>
            </a:p>
          </p:txBody>
        </p:sp>
        <p:sp>
          <p:nvSpPr>
            <p:cNvPr id="17" name="object 17"/>
            <p:cNvSpPr/>
            <p:nvPr/>
          </p:nvSpPr>
          <p:spPr>
            <a:xfrm>
              <a:off x="1810272" y="2597172"/>
              <a:ext cx="146050" cy="146050"/>
            </a:xfrm>
            <a:custGeom>
              <a:avLst/>
              <a:gdLst/>
              <a:ahLst/>
              <a:cxnLst/>
              <a:rect l="l" t="t" r="r" b="b"/>
              <a:pathLst>
                <a:path w="146050" h="146050">
                  <a:moveTo>
                    <a:pt x="145801" y="0"/>
                  </a:moveTo>
                  <a:lnTo>
                    <a:pt x="0" y="0"/>
                  </a:lnTo>
                  <a:lnTo>
                    <a:pt x="0" y="145797"/>
                  </a:lnTo>
                  <a:lnTo>
                    <a:pt x="145801" y="145797"/>
                  </a:lnTo>
                  <a:lnTo>
                    <a:pt x="145801" y="0"/>
                  </a:lnTo>
                  <a:close/>
                </a:path>
              </a:pathLst>
            </a:custGeom>
            <a:solidFill>
              <a:srgbClr val="FFFFFF"/>
            </a:solidFill>
          </p:spPr>
          <p:txBody>
            <a:bodyPr wrap="square" lIns="0" tIns="0" rIns="0" bIns="0" rtlCol="0"/>
            <a:lstStyle/>
            <a:p>
              <a:endParaRPr/>
            </a:p>
          </p:txBody>
        </p:sp>
        <p:sp>
          <p:nvSpPr>
            <p:cNvPr id="18" name="object 18"/>
            <p:cNvSpPr/>
            <p:nvPr/>
          </p:nvSpPr>
          <p:spPr>
            <a:xfrm>
              <a:off x="1810272" y="2597172"/>
              <a:ext cx="146050" cy="146050"/>
            </a:xfrm>
            <a:custGeom>
              <a:avLst/>
              <a:gdLst/>
              <a:ahLst/>
              <a:cxnLst/>
              <a:rect l="l" t="t" r="r" b="b"/>
              <a:pathLst>
                <a:path w="146050" h="146050">
                  <a:moveTo>
                    <a:pt x="0" y="145797"/>
                  </a:moveTo>
                  <a:lnTo>
                    <a:pt x="145801" y="145797"/>
                  </a:lnTo>
                  <a:lnTo>
                    <a:pt x="145801" y="0"/>
                  </a:lnTo>
                  <a:lnTo>
                    <a:pt x="0" y="0"/>
                  </a:lnTo>
                  <a:lnTo>
                    <a:pt x="0" y="145797"/>
                  </a:lnTo>
                  <a:close/>
                </a:path>
              </a:pathLst>
            </a:custGeom>
            <a:ln w="5140">
              <a:solidFill>
                <a:srgbClr val="231F20"/>
              </a:solidFill>
            </a:ln>
          </p:spPr>
          <p:txBody>
            <a:bodyPr wrap="square" lIns="0" tIns="0" rIns="0" bIns="0" rtlCol="0"/>
            <a:lstStyle/>
            <a:p>
              <a:endParaRPr/>
            </a:p>
          </p:txBody>
        </p:sp>
        <p:sp>
          <p:nvSpPr>
            <p:cNvPr id="19" name="object 19"/>
            <p:cNvSpPr/>
            <p:nvPr/>
          </p:nvSpPr>
          <p:spPr>
            <a:xfrm>
              <a:off x="2180605" y="2782337"/>
              <a:ext cx="146050" cy="146050"/>
            </a:xfrm>
            <a:custGeom>
              <a:avLst/>
              <a:gdLst/>
              <a:ahLst/>
              <a:cxnLst/>
              <a:rect l="l" t="t" r="r" b="b"/>
              <a:pathLst>
                <a:path w="146050" h="146050">
                  <a:moveTo>
                    <a:pt x="145797" y="0"/>
                  </a:moveTo>
                  <a:lnTo>
                    <a:pt x="0" y="0"/>
                  </a:lnTo>
                  <a:lnTo>
                    <a:pt x="0" y="145794"/>
                  </a:lnTo>
                  <a:lnTo>
                    <a:pt x="145797" y="145794"/>
                  </a:lnTo>
                  <a:lnTo>
                    <a:pt x="145797" y="0"/>
                  </a:lnTo>
                  <a:close/>
                </a:path>
              </a:pathLst>
            </a:custGeom>
            <a:solidFill>
              <a:srgbClr val="FFFFFF"/>
            </a:solidFill>
          </p:spPr>
          <p:txBody>
            <a:bodyPr wrap="square" lIns="0" tIns="0" rIns="0" bIns="0" rtlCol="0"/>
            <a:lstStyle/>
            <a:p>
              <a:endParaRPr/>
            </a:p>
          </p:txBody>
        </p:sp>
        <p:sp>
          <p:nvSpPr>
            <p:cNvPr id="20" name="object 20"/>
            <p:cNvSpPr/>
            <p:nvPr/>
          </p:nvSpPr>
          <p:spPr>
            <a:xfrm>
              <a:off x="2180605" y="2782337"/>
              <a:ext cx="146050" cy="146050"/>
            </a:xfrm>
            <a:custGeom>
              <a:avLst/>
              <a:gdLst/>
              <a:ahLst/>
              <a:cxnLst/>
              <a:rect l="l" t="t" r="r" b="b"/>
              <a:pathLst>
                <a:path w="146050" h="146050">
                  <a:moveTo>
                    <a:pt x="0" y="145794"/>
                  </a:moveTo>
                  <a:lnTo>
                    <a:pt x="145797" y="145794"/>
                  </a:lnTo>
                  <a:lnTo>
                    <a:pt x="145797" y="0"/>
                  </a:lnTo>
                  <a:lnTo>
                    <a:pt x="0" y="0"/>
                  </a:lnTo>
                  <a:lnTo>
                    <a:pt x="0" y="145794"/>
                  </a:lnTo>
                  <a:close/>
                </a:path>
              </a:pathLst>
            </a:custGeom>
            <a:ln w="5140">
              <a:solidFill>
                <a:srgbClr val="231F20"/>
              </a:solidFill>
            </a:ln>
          </p:spPr>
          <p:txBody>
            <a:bodyPr wrap="square" lIns="0" tIns="0" rIns="0" bIns="0" rtlCol="0"/>
            <a:lstStyle/>
            <a:p>
              <a:endParaRPr/>
            </a:p>
          </p:txBody>
        </p:sp>
      </p:grpSp>
      <p:sp>
        <p:nvSpPr>
          <p:cNvPr id="21" name="object 21"/>
          <p:cNvSpPr txBox="1"/>
          <p:nvPr/>
        </p:nvSpPr>
        <p:spPr>
          <a:xfrm>
            <a:off x="1305030" y="2257023"/>
            <a:ext cx="1772285" cy="837565"/>
          </a:xfrm>
          <a:prstGeom prst="rect">
            <a:avLst/>
          </a:prstGeom>
        </p:spPr>
        <p:txBody>
          <a:bodyPr vert="horz" wrap="square" lIns="0" tIns="12065" rIns="0" bIns="0" rtlCol="0">
            <a:spAutoFit/>
          </a:bodyPr>
          <a:lstStyle/>
          <a:p>
            <a:pPr marL="12700">
              <a:lnSpc>
                <a:spcPct val="100000"/>
              </a:lnSpc>
              <a:spcBef>
                <a:spcPts val="95"/>
              </a:spcBef>
            </a:pPr>
            <a:r>
              <a:rPr sz="650" spc="-5" dirty="0">
                <a:solidFill>
                  <a:srgbClr val="231F20"/>
                </a:solidFill>
                <a:latin typeface="Arial"/>
                <a:cs typeface="Arial"/>
              </a:rPr>
              <a:t>C</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NL</a:t>
            </a:r>
            <a:endParaRPr sz="650">
              <a:latin typeface="Arial"/>
              <a:cs typeface="Arial"/>
            </a:endParaRPr>
          </a:p>
          <a:p>
            <a:pPr>
              <a:lnSpc>
                <a:spcPct val="100000"/>
              </a:lnSpc>
            </a:pPr>
            <a:endParaRPr sz="650">
              <a:latin typeface="Arial"/>
              <a:cs typeface="Arial"/>
            </a:endParaRPr>
          </a:p>
          <a:p>
            <a:pPr marL="375920">
              <a:lnSpc>
                <a:spcPct val="100000"/>
              </a:lnSpc>
            </a:pPr>
            <a:r>
              <a:rPr sz="650" spc="-5" dirty="0">
                <a:solidFill>
                  <a:srgbClr val="231F20"/>
                </a:solidFill>
                <a:latin typeface="Arial"/>
                <a:cs typeface="Arial"/>
              </a:rPr>
              <a:t>O</a:t>
            </a:r>
            <a:r>
              <a:rPr sz="650" spc="-20" dirty="0">
                <a:solidFill>
                  <a:srgbClr val="231F20"/>
                </a:solidFill>
                <a:latin typeface="Arial"/>
                <a:cs typeface="Arial"/>
              </a:rPr>
              <a:t> </a:t>
            </a:r>
            <a:r>
              <a:rPr sz="650" spc="-5" dirty="0">
                <a:solidFill>
                  <a:srgbClr val="231F20"/>
                </a:solidFill>
                <a:latin typeface="Arial"/>
                <a:cs typeface="Arial"/>
              </a:rPr>
              <a:t>=</a:t>
            </a:r>
            <a:r>
              <a:rPr sz="650" spc="-15" dirty="0">
                <a:solidFill>
                  <a:srgbClr val="231F20"/>
                </a:solidFill>
                <a:latin typeface="Arial"/>
                <a:cs typeface="Arial"/>
              </a:rPr>
              <a:t> </a:t>
            </a:r>
            <a:r>
              <a:rPr sz="650" spc="-5" dirty="0">
                <a:solidFill>
                  <a:srgbClr val="231F20"/>
                </a:solidFill>
                <a:latin typeface="Arial"/>
                <a:cs typeface="Arial"/>
              </a:rPr>
              <a:t>VU</a:t>
            </a:r>
            <a:r>
              <a:rPr sz="650" spc="-15" dirty="0">
                <a:solidFill>
                  <a:srgbClr val="231F20"/>
                </a:solidFill>
                <a:latin typeface="Arial"/>
                <a:cs typeface="Arial"/>
              </a:rPr>
              <a:t> </a:t>
            </a:r>
            <a:r>
              <a:rPr sz="650" spc="-5" dirty="0">
                <a:solidFill>
                  <a:srgbClr val="231F20"/>
                </a:solidFill>
                <a:latin typeface="Arial"/>
                <a:cs typeface="Arial"/>
              </a:rPr>
              <a:t>University</a:t>
            </a:r>
            <a:endParaRPr sz="650">
              <a:latin typeface="Arial"/>
              <a:cs typeface="Arial"/>
            </a:endParaRPr>
          </a:p>
          <a:p>
            <a:pPr>
              <a:lnSpc>
                <a:spcPct val="100000"/>
              </a:lnSpc>
              <a:spcBef>
                <a:spcPts val="45"/>
              </a:spcBef>
            </a:pPr>
            <a:endParaRPr sz="550">
              <a:latin typeface="Arial"/>
              <a:cs typeface="Arial"/>
            </a:endParaRPr>
          </a:p>
          <a:p>
            <a:pPr marL="751840">
              <a:lnSpc>
                <a:spcPct val="100000"/>
              </a:lnSpc>
              <a:spcBef>
                <a:spcPts val="5"/>
              </a:spcBef>
            </a:pPr>
            <a:r>
              <a:rPr sz="650" spc="-5" dirty="0">
                <a:solidFill>
                  <a:srgbClr val="231F20"/>
                </a:solidFill>
                <a:latin typeface="Arial"/>
                <a:cs typeface="Arial"/>
              </a:rPr>
              <a:t>OU</a:t>
            </a:r>
            <a:r>
              <a:rPr sz="650" spc="-15" dirty="0">
                <a:solidFill>
                  <a:srgbClr val="231F20"/>
                </a:solidFill>
                <a:latin typeface="Arial"/>
                <a:cs typeface="Arial"/>
              </a:rPr>
              <a:t> </a:t>
            </a:r>
            <a:r>
              <a:rPr sz="650" spc="-5" dirty="0">
                <a:solidFill>
                  <a:srgbClr val="231F20"/>
                </a:solidFill>
                <a:latin typeface="Arial"/>
                <a:cs typeface="Arial"/>
              </a:rPr>
              <a:t>=</a:t>
            </a:r>
            <a:r>
              <a:rPr sz="650" spc="-10" dirty="0">
                <a:solidFill>
                  <a:srgbClr val="231F20"/>
                </a:solidFill>
                <a:latin typeface="Arial"/>
                <a:cs typeface="Arial"/>
              </a:rPr>
              <a:t> </a:t>
            </a:r>
            <a:r>
              <a:rPr sz="650" spc="-5" dirty="0">
                <a:solidFill>
                  <a:srgbClr val="231F20"/>
                </a:solidFill>
                <a:latin typeface="Arial"/>
                <a:cs typeface="Arial"/>
              </a:rPr>
              <a:t>Computer</a:t>
            </a:r>
            <a:r>
              <a:rPr sz="650" spc="-15" dirty="0">
                <a:solidFill>
                  <a:srgbClr val="231F20"/>
                </a:solidFill>
                <a:latin typeface="Arial"/>
                <a:cs typeface="Arial"/>
              </a:rPr>
              <a:t> </a:t>
            </a:r>
            <a:r>
              <a:rPr sz="650" spc="-5" dirty="0">
                <a:solidFill>
                  <a:srgbClr val="231F20"/>
                </a:solidFill>
                <a:latin typeface="Arial"/>
                <a:cs typeface="Arial"/>
              </a:rPr>
              <a:t>Science</a:t>
            </a:r>
            <a:endParaRPr sz="650">
              <a:latin typeface="Arial"/>
              <a:cs typeface="Arial"/>
            </a:endParaRPr>
          </a:p>
          <a:p>
            <a:pPr marL="1282065" marR="5080" indent="-165735">
              <a:lnSpc>
                <a:spcPct val="150300"/>
              </a:lnSpc>
              <a:spcBef>
                <a:spcPts val="284"/>
              </a:spcBef>
            </a:pPr>
            <a:r>
              <a:rPr sz="650" spc="-5" dirty="0">
                <a:solidFill>
                  <a:srgbClr val="231F20"/>
                </a:solidFill>
                <a:latin typeface="Arial"/>
                <a:cs typeface="Arial"/>
              </a:rPr>
              <a:t>CN</a:t>
            </a:r>
            <a:r>
              <a:rPr sz="650" spc="-25" dirty="0">
                <a:solidFill>
                  <a:srgbClr val="231F20"/>
                </a:solidFill>
                <a:latin typeface="Arial"/>
                <a:cs typeface="Arial"/>
              </a:rPr>
              <a:t> </a:t>
            </a:r>
            <a:r>
              <a:rPr sz="650" spc="-5" dirty="0">
                <a:solidFill>
                  <a:srgbClr val="231F20"/>
                </a:solidFill>
                <a:latin typeface="Arial"/>
                <a:cs typeface="Arial"/>
              </a:rPr>
              <a:t>=</a:t>
            </a:r>
            <a:r>
              <a:rPr sz="650" spc="-20" dirty="0">
                <a:solidFill>
                  <a:srgbClr val="231F20"/>
                </a:solidFill>
                <a:latin typeface="Arial"/>
                <a:cs typeface="Arial"/>
              </a:rPr>
              <a:t> </a:t>
            </a:r>
            <a:r>
              <a:rPr sz="650" spc="-5" dirty="0">
                <a:solidFill>
                  <a:srgbClr val="231F20"/>
                </a:solidFill>
                <a:latin typeface="Arial"/>
                <a:cs typeface="Arial"/>
              </a:rPr>
              <a:t>Main</a:t>
            </a:r>
            <a:r>
              <a:rPr sz="650" spc="-20" dirty="0">
                <a:solidFill>
                  <a:srgbClr val="231F20"/>
                </a:solidFill>
                <a:latin typeface="Arial"/>
                <a:cs typeface="Arial"/>
              </a:rPr>
              <a:t> </a:t>
            </a:r>
            <a:r>
              <a:rPr sz="650" spc="-5" dirty="0">
                <a:solidFill>
                  <a:srgbClr val="231F20"/>
                </a:solidFill>
                <a:latin typeface="Arial"/>
                <a:cs typeface="Arial"/>
              </a:rPr>
              <a:t>server </a:t>
            </a:r>
            <a:r>
              <a:rPr sz="650" spc="-165" dirty="0">
                <a:solidFill>
                  <a:srgbClr val="231F20"/>
                </a:solidFill>
                <a:latin typeface="Arial"/>
                <a:cs typeface="Arial"/>
              </a:rPr>
              <a:t> </a:t>
            </a:r>
            <a:r>
              <a:rPr sz="650" spc="-5" dirty="0">
                <a:solidFill>
                  <a:srgbClr val="231F20"/>
                </a:solidFill>
                <a:latin typeface="Arial"/>
                <a:cs typeface="Arial"/>
              </a:rPr>
              <a:t>N</a:t>
            </a:r>
            <a:endParaRPr sz="650">
              <a:latin typeface="Arial"/>
              <a:cs typeface="Arial"/>
            </a:endParaRP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41</a:t>
            </a:r>
            <a:r>
              <a:rPr spc="-40" dirty="0"/>
              <a:t> </a:t>
            </a:r>
            <a:r>
              <a:rPr spc="-5" dirty="0"/>
              <a:t>/</a:t>
            </a:r>
            <a:r>
              <a:rPr spc="-35" dirty="0"/>
              <a:t> </a:t>
            </a:r>
            <a:r>
              <a:rPr spc="-5" dirty="0"/>
              <a:t>46</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42</a:t>
            </a:r>
            <a:r>
              <a:rPr spc="-40" dirty="0"/>
              <a:t> </a:t>
            </a:r>
            <a:r>
              <a:rPr spc="-5" dirty="0"/>
              <a:t>/</a:t>
            </a:r>
            <a:r>
              <a:rPr spc="-35" dirty="0"/>
              <a:t> </a:t>
            </a:r>
            <a:r>
              <a:rPr spc="-5" dirty="0"/>
              <a:t>46</a:t>
            </a: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Attribute-based naming</a:t>
            </a:r>
            <a:endParaRPr sz="600">
              <a:latin typeface="Arial"/>
              <a:cs typeface="Arial"/>
            </a:endParaRPr>
          </a:p>
        </p:txBody>
      </p:sp>
      <p:sp>
        <p:nvSpPr>
          <p:cNvPr id="3" name="object 3"/>
          <p:cNvSpPr txBox="1"/>
          <p:nvPr/>
        </p:nvSpPr>
        <p:spPr>
          <a:xfrm>
            <a:off x="3299727" y="716"/>
            <a:ext cx="12420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Hierarchical implementations:</a:t>
            </a:r>
            <a:r>
              <a:rPr sz="600" spc="4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LDAP</a:t>
            </a:r>
            <a:endParaRPr sz="600">
              <a:latin typeface="Arial"/>
              <a:cs typeface="Arial"/>
            </a:endParaRPr>
          </a:p>
        </p:txBody>
      </p:sp>
      <p:sp>
        <p:nvSpPr>
          <p:cNvPr id="4" name="object 4"/>
          <p:cNvSpPr txBox="1"/>
          <p:nvPr/>
        </p:nvSpPr>
        <p:spPr>
          <a:xfrm>
            <a:off x="95300" y="188846"/>
            <a:ext cx="3491865" cy="822960"/>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LDAP</a:t>
            </a:r>
            <a:endParaRPr sz="1400">
              <a:latin typeface="Arial"/>
              <a:cs typeface="Arial"/>
            </a:endParaRPr>
          </a:p>
          <a:p>
            <a:pPr>
              <a:lnSpc>
                <a:spcPct val="100000"/>
              </a:lnSpc>
            </a:pPr>
            <a:endParaRPr sz="1800">
              <a:latin typeface="Arial"/>
              <a:cs typeface="Arial"/>
            </a:endParaRPr>
          </a:p>
          <a:p>
            <a:pPr marL="259715">
              <a:lnSpc>
                <a:spcPct val="100000"/>
              </a:lnSpc>
              <a:spcBef>
                <a:spcPts val="1050"/>
              </a:spcBef>
            </a:pPr>
            <a:r>
              <a:rPr sz="1200" spc="-60" dirty="0">
                <a:solidFill>
                  <a:srgbClr val="3333B2"/>
                </a:solidFill>
                <a:latin typeface="Arial"/>
                <a:cs typeface="Arial"/>
              </a:rPr>
              <a:t>Two</a:t>
            </a:r>
            <a:r>
              <a:rPr sz="1200" spc="-10" dirty="0">
                <a:solidFill>
                  <a:srgbClr val="3333B2"/>
                </a:solidFill>
                <a:latin typeface="Arial"/>
                <a:cs typeface="Arial"/>
              </a:rPr>
              <a:t> </a:t>
            </a:r>
            <a:r>
              <a:rPr sz="1200" dirty="0">
                <a:solidFill>
                  <a:srgbClr val="3333B2"/>
                </a:solidFill>
                <a:latin typeface="Arial"/>
                <a:cs typeface="Arial"/>
              </a:rPr>
              <a:t>directory</a:t>
            </a:r>
            <a:r>
              <a:rPr sz="1200" spc="-10" dirty="0">
                <a:solidFill>
                  <a:srgbClr val="3333B2"/>
                </a:solidFill>
                <a:latin typeface="Arial"/>
                <a:cs typeface="Arial"/>
              </a:rPr>
              <a:t> </a:t>
            </a:r>
            <a:r>
              <a:rPr sz="1200" dirty="0">
                <a:solidFill>
                  <a:srgbClr val="3333B2"/>
                </a:solidFill>
                <a:latin typeface="Arial"/>
                <a:cs typeface="Arial"/>
              </a:rPr>
              <a:t>entries</a:t>
            </a:r>
            <a:r>
              <a:rPr sz="1200" spc="-5" dirty="0">
                <a:solidFill>
                  <a:srgbClr val="3333B2"/>
                </a:solidFill>
                <a:latin typeface="Arial"/>
                <a:cs typeface="Arial"/>
              </a:rPr>
              <a:t> </a:t>
            </a:r>
            <a:r>
              <a:rPr sz="1200" spc="-10" dirty="0">
                <a:solidFill>
                  <a:srgbClr val="3333B2"/>
                </a:solidFill>
                <a:latin typeface="Arial"/>
                <a:cs typeface="Arial"/>
              </a:rPr>
              <a:t>having </a:t>
            </a:r>
            <a:r>
              <a:rPr sz="1200" i="1" spc="-5" dirty="0">
                <a:solidFill>
                  <a:srgbClr val="3333B2"/>
                </a:solidFill>
                <a:latin typeface="Arial"/>
                <a:cs typeface="Arial"/>
              </a:rPr>
              <a:t>HostName</a:t>
            </a:r>
            <a:r>
              <a:rPr sz="1200" i="1" spc="15" dirty="0">
                <a:solidFill>
                  <a:srgbClr val="3333B2"/>
                </a:solidFill>
                <a:latin typeface="Arial"/>
                <a:cs typeface="Arial"/>
              </a:rPr>
              <a:t> </a:t>
            </a:r>
            <a:r>
              <a:rPr sz="1200" spc="-5" dirty="0">
                <a:solidFill>
                  <a:srgbClr val="3333B2"/>
                </a:solidFill>
                <a:latin typeface="Arial"/>
                <a:cs typeface="Arial"/>
              </a:rPr>
              <a:t>as</a:t>
            </a:r>
            <a:r>
              <a:rPr sz="1200" spc="-10" dirty="0">
                <a:solidFill>
                  <a:srgbClr val="3333B2"/>
                </a:solidFill>
                <a:latin typeface="Arial"/>
                <a:cs typeface="Arial"/>
              </a:rPr>
              <a:t> </a:t>
            </a:r>
            <a:r>
              <a:rPr sz="1200" spc="-5" dirty="0">
                <a:solidFill>
                  <a:srgbClr val="3333B2"/>
                </a:solidFill>
                <a:latin typeface="Arial"/>
                <a:cs typeface="Arial"/>
              </a:rPr>
              <a:t>RDN</a:t>
            </a:r>
            <a:endParaRPr sz="1200">
              <a:latin typeface="Arial"/>
              <a:cs typeface="Arial"/>
            </a:endParaRPr>
          </a:p>
        </p:txBody>
      </p:sp>
      <p:graphicFrame>
        <p:nvGraphicFramePr>
          <p:cNvPr id="5" name="object 5"/>
          <p:cNvGraphicFramePr>
            <a:graphicFrameLocks noGrp="1"/>
          </p:cNvGraphicFramePr>
          <p:nvPr/>
        </p:nvGraphicFramePr>
        <p:xfrm>
          <a:off x="360006" y="1263777"/>
          <a:ext cx="4246877" cy="1214120"/>
        </p:xfrm>
        <a:graphic>
          <a:graphicData uri="http://schemas.openxmlformats.org/drawingml/2006/table">
            <a:tbl>
              <a:tblPr firstRow="1" bandRow="1">
                <a:tableStyleId>{2D5ABB26-0587-4C30-8999-92F81FD0307C}</a:tableStyleId>
              </a:tblPr>
              <a:tblGrid>
                <a:gridCol w="1020444">
                  <a:extLst>
                    <a:ext uri="{9D8B030D-6E8A-4147-A177-3AD203B41FA5}">
                      <a16:colId xmlns:a16="http://schemas.microsoft.com/office/drawing/2014/main" val="20000"/>
                    </a:ext>
                  </a:extLst>
                </a:gridCol>
                <a:gridCol w="1111884">
                  <a:extLst>
                    <a:ext uri="{9D8B030D-6E8A-4147-A177-3AD203B41FA5}">
                      <a16:colId xmlns:a16="http://schemas.microsoft.com/office/drawing/2014/main" val="20001"/>
                    </a:ext>
                  </a:extLst>
                </a:gridCol>
                <a:gridCol w="1020444">
                  <a:extLst>
                    <a:ext uri="{9D8B030D-6E8A-4147-A177-3AD203B41FA5}">
                      <a16:colId xmlns:a16="http://schemas.microsoft.com/office/drawing/2014/main" val="20002"/>
                    </a:ext>
                  </a:extLst>
                </a:gridCol>
                <a:gridCol w="1094105">
                  <a:extLst>
                    <a:ext uri="{9D8B030D-6E8A-4147-A177-3AD203B41FA5}">
                      <a16:colId xmlns:a16="http://schemas.microsoft.com/office/drawing/2014/main" val="20003"/>
                    </a:ext>
                  </a:extLst>
                </a:gridCol>
              </a:tblGrid>
              <a:tr h="178435">
                <a:tc>
                  <a:txBody>
                    <a:bodyPr/>
                    <a:lstStyle/>
                    <a:p>
                      <a:pPr marL="1905">
                        <a:lnSpc>
                          <a:spcPct val="100000"/>
                        </a:lnSpc>
                        <a:spcBef>
                          <a:spcPts val="40"/>
                        </a:spcBef>
                      </a:pPr>
                      <a:r>
                        <a:rPr sz="900" b="1" spc="-5" dirty="0">
                          <a:latin typeface="Arial"/>
                          <a:cs typeface="Arial"/>
                        </a:rPr>
                        <a:t>Attribute</a:t>
                      </a:r>
                      <a:endParaRPr sz="900">
                        <a:latin typeface="Arial"/>
                        <a:cs typeface="Arial"/>
                      </a:endParaRPr>
                    </a:p>
                  </a:txBody>
                  <a:tcPr marL="0" marR="0" marT="5080" marB="0">
                    <a:lnL w="6350">
                      <a:solidFill>
                        <a:srgbClr val="000000"/>
                      </a:solidFill>
                      <a:prstDash val="solid"/>
                    </a:lnL>
                    <a:lnT w="6350">
                      <a:solidFill>
                        <a:srgbClr val="000000"/>
                      </a:solidFill>
                      <a:prstDash val="solid"/>
                    </a:lnT>
                    <a:lnB w="19050">
                      <a:solidFill>
                        <a:srgbClr val="000000"/>
                      </a:solidFill>
                      <a:prstDash val="solid"/>
                    </a:lnB>
                  </a:tcPr>
                </a:tc>
                <a:tc>
                  <a:txBody>
                    <a:bodyPr/>
                    <a:lstStyle/>
                    <a:p>
                      <a:pPr marL="80645">
                        <a:lnSpc>
                          <a:spcPct val="100000"/>
                        </a:lnSpc>
                        <a:spcBef>
                          <a:spcPts val="40"/>
                        </a:spcBef>
                      </a:pPr>
                      <a:r>
                        <a:rPr sz="900" b="1" spc="-15" dirty="0">
                          <a:latin typeface="Arial"/>
                          <a:cs typeface="Arial"/>
                        </a:rPr>
                        <a:t>Value</a:t>
                      </a:r>
                      <a:endParaRPr sz="900">
                        <a:latin typeface="Arial"/>
                        <a:cs typeface="Arial"/>
                      </a:endParaRPr>
                    </a:p>
                  </a:txBody>
                  <a:tcPr marL="0" marR="0" marT="5080" marB="0">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1905">
                        <a:lnSpc>
                          <a:spcPct val="100000"/>
                        </a:lnSpc>
                        <a:spcBef>
                          <a:spcPts val="40"/>
                        </a:spcBef>
                      </a:pPr>
                      <a:r>
                        <a:rPr sz="900" b="1" spc="-5" dirty="0">
                          <a:latin typeface="Arial"/>
                          <a:cs typeface="Arial"/>
                        </a:rPr>
                        <a:t>Attribute</a:t>
                      </a:r>
                      <a:endParaRPr sz="900">
                        <a:latin typeface="Arial"/>
                        <a:cs typeface="Arial"/>
                      </a:endParaRPr>
                    </a:p>
                  </a:txBody>
                  <a:tcPr marL="0" marR="0" marT="5080" marB="0">
                    <a:lnL w="6350">
                      <a:solidFill>
                        <a:srgbClr val="000000"/>
                      </a:solidFill>
                      <a:prstDash val="solid"/>
                    </a:lnL>
                    <a:lnT w="6350">
                      <a:solidFill>
                        <a:srgbClr val="000000"/>
                      </a:solidFill>
                      <a:prstDash val="solid"/>
                    </a:lnT>
                    <a:lnB w="19050">
                      <a:solidFill>
                        <a:srgbClr val="000000"/>
                      </a:solidFill>
                      <a:prstDash val="solid"/>
                    </a:lnB>
                  </a:tcPr>
                </a:tc>
                <a:tc>
                  <a:txBody>
                    <a:bodyPr/>
                    <a:lstStyle/>
                    <a:p>
                      <a:pPr marL="80645">
                        <a:lnSpc>
                          <a:spcPct val="100000"/>
                        </a:lnSpc>
                        <a:spcBef>
                          <a:spcPts val="40"/>
                        </a:spcBef>
                      </a:pPr>
                      <a:r>
                        <a:rPr sz="900" b="1" spc="-15" dirty="0">
                          <a:latin typeface="Arial"/>
                          <a:cs typeface="Arial"/>
                        </a:rPr>
                        <a:t>Value</a:t>
                      </a:r>
                      <a:endParaRPr sz="900">
                        <a:latin typeface="Arial"/>
                        <a:cs typeface="Arial"/>
                      </a:endParaRPr>
                    </a:p>
                  </a:txBody>
                  <a:tcPr marL="0" marR="0" marT="5080" marB="0">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78435">
                <a:tc>
                  <a:txBody>
                    <a:bodyPr/>
                    <a:lstStyle/>
                    <a:p>
                      <a:pPr marL="1905">
                        <a:lnSpc>
                          <a:spcPct val="100000"/>
                        </a:lnSpc>
                        <a:spcBef>
                          <a:spcPts val="95"/>
                        </a:spcBef>
                      </a:pPr>
                      <a:r>
                        <a:rPr sz="900" i="1" spc="-5" dirty="0">
                          <a:latin typeface="Arial"/>
                          <a:cs typeface="Arial"/>
                        </a:rPr>
                        <a:t>Locality</a:t>
                      </a:r>
                      <a:endParaRPr sz="900">
                        <a:latin typeface="Arial"/>
                        <a:cs typeface="Arial"/>
                      </a:endParaRPr>
                    </a:p>
                  </a:txBody>
                  <a:tcPr marL="0" marR="0" marT="12065" marB="0">
                    <a:lnL w="6350">
                      <a:solidFill>
                        <a:srgbClr val="000000"/>
                      </a:solidFill>
                      <a:prstDash val="solid"/>
                    </a:lnL>
                    <a:lnT w="19050">
                      <a:solidFill>
                        <a:srgbClr val="000000"/>
                      </a:solidFill>
                      <a:prstDash val="solid"/>
                    </a:lnT>
                    <a:lnB w="6350">
                      <a:solidFill>
                        <a:srgbClr val="000000"/>
                      </a:solidFill>
                      <a:prstDash val="solid"/>
                    </a:lnB>
                  </a:tcPr>
                </a:tc>
                <a:tc>
                  <a:txBody>
                    <a:bodyPr/>
                    <a:lstStyle/>
                    <a:p>
                      <a:pPr marL="80645">
                        <a:lnSpc>
                          <a:spcPct val="100000"/>
                        </a:lnSpc>
                        <a:spcBef>
                          <a:spcPts val="95"/>
                        </a:spcBef>
                      </a:pPr>
                      <a:r>
                        <a:rPr sz="900" i="1" spc="-5" dirty="0">
                          <a:latin typeface="Arial"/>
                          <a:cs typeface="Arial"/>
                        </a:rPr>
                        <a:t>Amsterdam</a:t>
                      </a:r>
                      <a:endParaRPr sz="900">
                        <a:latin typeface="Arial"/>
                        <a:cs typeface="Arial"/>
                      </a:endParaRPr>
                    </a:p>
                  </a:txBody>
                  <a:tcPr marL="0" marR="0" marT="12065" marB="0">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1905">
                        <a:lnSpc>
                          <a:spcPct val="100000"/>
                        </a:lnSpc>
                        <a:spcBef>
                          <a:spcPts val="95"/>
                        </a:spcBef>
                      </a:pPr>
                      <a:r>
                        <a:rPr sz="900" i="1" spc="-5" dirty="0">
                          <a:latin typeface="Arial"/>
                          <a:cs typeface="Arial"/>
                        </a:rPr>
                        <a:t>Locality</a:t>
                      </a:r>
                      <a:endParaRPr sz="900">
                        <a:latin typeface="Arial"/>
                        <a:cs typeface="Arial"/>
                      </a:endParaRPr>
                    </a:p>
                  </a:txBody>
                  <a:tcPr marL="0" marR="0" marT="12065" marB="0">
                    <a:lnL w="6350">
                      <a:solidFill>
                        <a:srgbClr val="000000"/>
                      </a:solidFill>
                      <a:prstDash val="solid"/>
                    </a:lnL>
                    <a:lnT w="19050">
                      <a:solidFill>
                        <a:srgbClr val="000000"/>
                      </a:solidFill>
                      <a:prstDash val="solid"/>
                    </a:lnT>
                    <a:lnB w="6350">
                      <a:solidFill>
                        <a:srgbClr val="000000"/>
                      </a:solidFill>
                      <a:prstDash val="solid"/>
                    </a:lnB>
                  </a:tcPr>
                </a:tc>
                <a:tc>
                  <a:txBody>
                    <a:bodyPr/>
                    <a:lstStyle/>
                    <a:p>
                      <a:pPr marL="80645">
                        <a:lnSpc>
                          <a:spcPct val="100000"/>
                        </a:lnSpc>
                        <a:spcBef>
                          <a:spcPts val="95"/>
                        </a:spcBef>
                      </a:pPr>
                      <a:r>
                        <a:rPr sz="900" i="1" spc="-5" dirty="0">
                          <a:latin typeface="Arial"/>
                          <a:cs typeface="Arial"/>
                        </a:rPr>
                        <a:t>Amsterdam</a:t>
                      </a:r>
                      <a:endParaRPr sz="900">
                        <a:latin typeface="Arial"/>
                        <a:cs typeface="Arial"/>
                      </a:endParaRPr>
                    </a:p>
                  </a:txBody>
                  <a:tcPr marL="0" marR="0" marT="12065" marB="0">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1450">
                <a:tc>
                  <a:txBody>
                    <a:bodyPr/>
                    <a:lstStyle/>
                    <a:p>
                      <a:pPr marL="1905">
                        <a:lnSpc>
                          <a:spcPct val="100000"/>
                        </a:lnSpc>
                        <a:spcBef>
                          <a:spcPts val="40"/>
                        </a:spcBef>
                      </a:pPr>
                      <a:r>
                        <a:rPr sz="900" i="1" spc="-5" dirty="0">
                          <a:latin typeface="Arial"/>
                          <a:cs typeface="Arial"/>
                        </a:rPr>
                        <a:t>Organization</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VU</a:t>
                      </a:r>
                      <a:r>
                        <a:rPr sz="900" i="1" spc="20" dirty="0">
                          <a:latin typeface="Arial"/>
                          <a:cs typeface="Arial"/>
                        </a:rPr>
                        <a:t> </a:t>
                      </a:r>
                      <a:r>
                        <a:rPr sz="900" i="1" spc="-5" dirty="0">
                          <a:latin typeface="Arial"/>
                          <a:cs typeface="Arial"/>
                        </a:rPr>
                        <a:t>University</a:t>
                      </a:r>
                      <a:endParaRPr sz="900">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nSpc>
                          <a:spcPct val="100000"/>
                        </a:lnSpc>
                        <a:spcBef>
                          <a:spcPts val="40"/>
                        </a:spcBef>
                      </a:pPr>
                      <a:r>
                        <a:rPr sz="900" i="1" spc="-5" dirty="0">
                          <a:latin typeface="Arial"/>
                          <a:cs typeface="Arial"/>
                        </a:rPr>
                        <a:t>Organization</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VU</a:t>
                      </a:r>
                      <a:r>
                        <a:rPr sz="900" i="1" spc="20" dirty="0">
                          <a:latin typeface="Arial"/>
                          <a:cs typeface="Arial"/>
                        </a:rPr>
                        <a:t> </a:t>
                      </a:r>
                      <a:r>
                        <a:rPr sz="900" i="1" spc="-5" dirty="0">
                          <a:latin typeface="Arial"/>
                          <a:cs typeface="Arial"/>
                        </a:rPr>
                        <a:t>University</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71450">
                <a:tc>
                  <a:txBody>
                    <a:bodyPr/>
                    <a:lstStyle/>
                    <a:p>
                      <a:pPr marL="1905">
                        <a:lnSpc>
                          <a:spcPct val="100000"/>
                        </a:lnSpc>
                        <a:spcBef>
                          <a:spcPts val="40"/>
                        </a:spcBef>
                      </a:pPr>
                      <a:r>
                        <a:rPr sz="900" i="1" spc="-5" dirty="0">
                          <a:latin typeface="Arial"/>
                          <a:cs typeface="Arial"/>
                        </a:rPr>
                        <a:t>OrganizationalUnit</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Computer</a:t>
                      </a:r>
                      <a:r>
                        <a:rPr sz="900" i="1" spc="70" dirty="0">
                          <a:latin typeface="Arial"/>
                          <a:cs typeface="Arial"/>
                        </a:rPr>
                        <a:t> </a:t>
                      </a:r>
                      <a:r>
                        <a:rPr sz="900" i="1" spc="-5" dirty="0">
                          <a:latin typeface="Arial"/>
                          <a:cs typeface="Arial"/>
                        </a:rPr>
                        <a:t>Science</a:t>
                      </a:r>
                      <a:endParaRPr sz="900">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nSpc>
                          <a:spcPct val="100000"/>
                        </a:lnSpc>
                        <a:spcBef>
                          <a:spcPts val="40"/>
                        </a:spcBef>
                      </a:pPr>
                      <a:r>
                        <a:rPr sz="900" i="1" spc="-5" dirty="0">
                          <a:latin typeface="Arial"/>
                          <a:cs typeface="Arial"/>
                        </a:rPr>
                        <a:t>OrganizationalUnit</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Computer</a:t>
                      </a:r>
                      <a:r>
                        <a:rPr sz="900" i="1" spc="70" dirty="0">
                          <a:latin typeface="Arial"/>
                          <a:cs typeface="Arial"/>
                        </a:rPr>
                        <a:t> </a:t>
                      </a:r>
                      <a:r>
                        <a:rPr sz="900" i="1" spc="-5" dirty="0">
                          <a:latin typeface="Arial"/>
                          <a:cs typeface="Arial"/>
                        </a:rPr>
                        <a:t>Science</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71450">
                <a:tc>
                  <a:txBody>
                    <a:bodyPr/>
                    <a:lstStyle/>
                    <a:p>
                      <a:pPr marL="1905">
                        <a:lnSpc>
                          <a:spcPct val="100000"/>
                        </a:lnSpc>
                        <a:spcBef>
                          <a:spcPts val="40"/>
                        </a:spcBef>
                      </a:pPr>
                      <a:r>
                        <a:rPr sz="900" i="1" spc="-5" dirty="0">
                          <a:latin typeface="Arial"/>
                          <a:cs typeface="Arial"/>
                        </a:rPr>
                        <a:t>CommonName</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Main</a:t>
                      </a:r>
                      <a:r>
                        <a:rPr sz="900" i="1" spc="-25" dirty="0">
                          <a:latin typeface="Arial"/>
                          <a:cs typeface="Arial"/>
                        </a:rPr>
                        <a:t> </a:t>
                      </a:r>
                      <a:r>
                        <a:rPr sz="900" i="1" spc="-5" dirty="0">
                          <a:latin typeface="Arial"/>
                          <a:cs typeface="Arial"/>
                        </a:rPr>
                        <a:t>server</a:t>
                      </a:r>
                      <a:endParaRPr sz="900">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nSpc>
                          <a:spcPct val="100000"/>
                        </a:lnSpc>
                        <a:spcBef>
                          <a:spcPts val="40"/>
                        </a:spcBef>
                      </a:pPr>
                      <a:r>
                        <a:rPr sz="900" i="1" spc="-5" dirty="0">
                          <a:latin typeface="Arial"/>
                          <a:cs typeface="Arial"/>
                        </a:rPr>
                        <a:t>CommonName</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Main</a:t>
                      </a:r>
                      <a:r>
                        <a:rPr sz="900" i="1" spc="-25" dirty="0">
                          <a:latin typeface="Arial"/>
                          <a:cs typeface="Arial"/>
                        </a:rPr>
                        <a:t> </a:t>
                      </a:r>
                      <a:r>
                        <a:rPr sz="900" i="1" spc="-5" dirty="0">
                          <a:latin typeface="Arial"/>
                          <a:cs typeface="Arial"/>
                        </a:rPr>
                        <a:t>server</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71450">
                <a:tc>
                  <a:txBody>
                    <a:bodyPr/>
                    <a:lstStyle/>
                    <a:p>
                      <a:pPr marL="1905">
                        <a:lnSpc>
                          <a:spcPct val="100000"/>
                        </a:lnSpc>
                        <a:spcBef>
                          <a:spcPts val="40"/>
                        </a:spcBef>
                      </a:pPr>
                      <a:r>
                        <a:rPr sz="900" i="1" spc="-5" dirty="0">
                          <a:latin typeface="Arial"/>
                          <a:cs typeface="Arial"/>
                        </a:rPr>
                        <a:t>HostName</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5" dirty="0">
                          <a:latin typeface="Arial"/>
                          <a:cs typeface="Arial"/>
                        </a:rPr>
                        <a:t>star</a:t>
                      </a:r>
                      <a:endParaRPr sz="900">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nSpc>
                          <a:spcPct val="100000"/>
                        </a:lnSpc>
                        <a:spcBef>
                          <a:spcPts val="40"/>
                        </a:spcBef>
                      </a:pPr>
                      <a:r>
                        <a:rPr sz="900" i="1" spc="-5" dirty="0">
                          <a:latin typeface="Arial"/>
                          <a:cs typeface="Arial"/>
                        </a:rPr>
                        <a:t>HostName</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spc="-10" dirty="0">
                          <a:latin typeface="Arial"/>
                          <a:cs typeface="Arial"/>
                        </a:rPr>
                        <a:t>zephyr</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171450">
                <a:tc>
                  <a:txBody>
                    <a:bodyPr/>
                    <a:lstStyle/>
                    <a:p>
                      <a:pPr marL="1905">
                        <a:lnSpc>
                          <a:spcPct val="100000"/>
                        </a:lnSpc>
                        <a:spcBef>
                          <a:spcPts val="40"/>
                        </a:spcBef>
                      </a:pPr>
                      <a:r>
                        <a:rPr sz="900" i="1" spc="-5" dirty="0">
                          <a:latin typeface="Arial"/>
                          <a:cs typeface="Arial"/>
                        </a:rPr>
                        <a:t>HostAddress</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dirty="0">
                          <a:latin typeface="Arial"/>
                          <a:cs typeface="Arial"/>
                        </a:rPr>
                        <a:t>192.31.231.42</a:t>
                      </a:r>
                      <a:endParaRPr sz="900">
                        <a:latin typeface="Arial"/>
                        <a:cs typeface="Arial"/>
                      </a:endParaRPr>
                    </a:p>
                  </a:txBody>
                  <a:tcPr marL="0" marR="0" marT="508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05">
                        <a:lnSpc>
                          <a:spcPct val="100000"/>
                        </a:lnSpc>
                        <a:spcBef>
                          <a:spcPts val="40"/>
                        </a:spcBef>
                      </a:pPr>
                      <a:r>
                        <a:rPr sz="900" i="1" spc="-5" dirty="0">
                          <a:latin typeface="Arial"/>
                          <a:cs typeface="Arial"/>
                        </a:rPr>
                        <a:t>HostAddress</a:t>
                      </a:r>
                      <a:endParaRPr sz="900">
                        <a:latin typeface="Arial"/>
                        <a:cs typeface="Arial"/>
                      </a:endParaRPr>
                    </a:p>
                  </a:txBody>
                  <a:tcPr marL="0" marR="0" marT="508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L="80645">
                        <a:lnSpc>
                          <a:spcPct val="100000"/>
                        </a:lnSpc>
                        <a:spcBef>
                          <a:spcPts val="40"/>
                        </a:spcBef>
                      </a:pPr>
                      <a:r>
                        <a:rPr sz="900" i="1" dirty="0">
                          <a:latin typeface="Arial"/>
                          <a:cs typeface="Arial"/>
                        </a:rPr>
                        <a:t>137</a:t>
                      </a:r>
                      <a:r>
                        <a:rPr sz="900" i="1" spc="-150" dirty="0">
                          <a:latin typeface="Arial"/>
                          <a:cs typeface="Arial"/>
                        </a:rPr>
                        <a:t> </a:t>
                      </a:r>
                      <a:r>
                        <a:rPr sz="900" i="1" dirty="0">
                          <a:latin typeface="Arial"/>
                          <a:cs typeface="Arial"/>
                        </a:rPr>
                        <a:t>.37</a:t>
                      </a:r>
                      <a:r>
                        <a:rPr sz="900" i="1" spc="-150" dirty="0">
                          <a:latin typeface="Arial"/>
                          <a:cs typeface="Arial"/>
                        </a:rPr>
                        <a:t> </a:t>
                      </a:r>
                      <a:r>
                        <a:rPr sz="900" i="1" spc="-5" dirty="0">
                          <a:latin typeface="Arial"/>
                          <a:cs typeface="Arial"/>
                        </a:rPr>
                        <a:t>.</a:t>
                      </a:r>
                      <a:r>
                        <a:rPr sz="900" i="1" dirty="0">
                          <a:latin typeface="Arial"/>
                          <a:cs typeface="Arial"/>
                        </a:rPr>
                        <a:t>2</a:t>
                      </a:r>
                      <a:r>
                        <a:rPr sz="900" i="1" spc="45" dirty="0">
                          <a:latin typeface="Arial"/>
                          <a:cs typeface="Arial"/>
                        </a:rPr>
                        <a:t>0</a:t>
                      </a:r>
                      <a:r>
                        <a:rPr sz="900" i="1" dirty="0">
                          <a:latin typeface="Arial"/>
                          <a:cs typeface="Arial"/>
                        </a:rPr>
                        <a:t>.10</a:t>
                      </a:r>
                      <a:endParaRPr sz="900">
                        <a:latin typeface="Arial"/>
                        <a:cs typeface="Arial"/>
                      </a:endParaRPr>
                    </a:p>
                  </a:txBody>
                  <a:tcPr marL="0" marR="0" marT="5080"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object 6"/>
          <p:cNvSpPr txBox="1"/>
          <p:nvPr/>
        </p:nvSpPr>
        <p:spPr>
          <a:xfrm>
            <a:off x="321894" y="2570411"/>
            <a:ext cx="3847465" cy="162560"/>
          </a:xfrm>
          <a:prstGeom prst="rect">
            <a:avLst/>
          </a:prstGeom>
        </p:spPr>
        <p:txBody>
          <a:bodyPr vert="horz" wrap="square" lIns="0" tIns="12065" rIns="0" bIns="0" rtlCol="0">
            <a:spAutoFit/>
          </a:bodyPr>
          <a:lstStyle/>
          <a:p>
            <a:pPr marL="38100">
              <a:lnSpc>
                <a:spcPct val="100000"/>
              </a:lnSpc>
              <a:spcBef>
                <a:spcPts val="95"/>
              </a:spcBef>
            </a:pPr>
            <a:r>
              <a:rPr sz="900" spc="-5" dirty="0">
                <a:latin typeface="Arial"/>
                <a:cs typeface="Arial"/>
              </a:rPr>
              <a:t>Result</a:t>
            </a:r>
            <a:r>
              <a:rPr sz="900" dirty="0">
                <a:latin typeface="Arial"/>
                <a:cs typeface="Arial"/>
              </a:rPr>
              <a:t> </a:t>
            </a:r>
            <a:r>
              <a:rPr sz="900" spc="-5" dirty="0">
                <a:latin typeface="Arial"/>
                <a:cs typeface="Arial"/>
              </a:rPr>
              <a:t>of</a:t>
            </a:r>
            <a:r>
              <a:rPr sz="900" spc="195" dirty="0">
                <a:latin typeface="Arial"/>
                <a:cs typeface="Arial"/>
              </a:rPr>
              <a:t> </a:t>
            </a:r>
            <a:r>
              <a:rPr sz="900" spc="5" dirty="0">
                <a:latin typeface="Times New Roman"/>
                <a:cs typeface="Times New Roman"/>
              </a:rPr>
              <a:t>search(‘‘(C=NL)(O=VU</a:t>
            </a:r>
            <a:r>
              <a:rPr sz="900" spc="170" dirty="0">
                <a:latin typeface="Times New Roman"/>
                <a:cs typeface="Times New Roman"/>
              </a:rPr>
              <a:t> </a:t>
            </a:r>
            <a:r>
              <a:rPr sz="900" spc="15" dirty="0">
                <a:latin typeface="Times New Roman"/>
                <a:cs typeface="Times New Roman"/>
              </a:rPr>
              <a:t>University)(OU=</a:t>
            </a:r>
            <a:r>
              <a:rPr sz="1350" spc="22" baseline="-9259" dirty="0">
                <a:latin typeface="Times New Roman"/>
                <a:cs typeface="Times New Roman"/>
              </a:rPr>
              <a:t>*</a:t>
            </a:r>
            <a:r>
              <a:rPr sz="900" spc="15" dirty="0">
                <a:latin typeface="Times New Roman"/>
                <a:cs typeface="Times New Roman"/>
              </a:rPr>
              <a:t>)(CN=Main</a:t>
            </a:r>
            <a:r>
              <a:rPr sz="900" spc="175" dirty="0">
                <a:latin typeface="Times New Roman"/>
                <a:cs typeface="Times New Roman"/>
              </a:rPr>
              <a:t> </a:t>
            </a:r>
            <a:r>
              <a:rPr sz="900" spc="114" dirty="0">
                <a:latin typeface="Times New Roman"/>
                <a:cs typeface="Times New Roman"/>
              </a:rPr>
              <a:t>server)’’)</a:t>
            </a:r>
            <a:endParaRPr sz="900">
              <a:latin typeface="Times New Roman"/>
              <a:cs typeface="Times New Roman"/>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object 24"/>
          <p:cNvSpPr txBox="1"/>
          <p:nvPr/>
        </p:nvSpPr>
        <p:spPr>
          <a:xfrm>
            <a:off x="66713" y="3331252"/>
            <a:ext cx="85407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index</a:t>
            </a:r>
            <a:endParaRPr sz="600">
              <a:latin typeface="Arial"/>
              <a:cs typeface="Arial"/>
            </a:endParaRPr>
          </a:p>
        </p:txBody>
      </p:sp>
      <p:sp>
        <p:nvSpPr>
          <p:cNvPr id="25" name="object 2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43</a:t>
            </a:r>
            <a:r>
              <a:rPr spc="-40" dirty="0"/>
              <a:t> </a:t>
            </a:r>
            <a:r>
              <a:rPr spc="-5" dirty="0"/>
              <a:t>/</a:t>
            </a:r>
            <a:r>
              <a:rPr spc="-35" dirty="0"/>
              <a:t> </a:t>
            </a:r>
            <a:r>
              <a:rPr spc="-5" dirty="0"/>
              <a:t>46</a:t>
            </a: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5" action="ppaction://hlinksldjump"/>
              </a:rPr>
              <a:t>Attribute-based</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naming</a:t>
            </a:r>
            <a:endParaRPr sz="600">
              <a:latin typeface="Arial"/>
              <a:cs typeface="Arial"/>
            </a:endParaRPr>
          </a:p>
        </p:txBody>
      </p:sp>
      <p:sp>
        <p:nvSpPr>
          <p:cNvPr id="3" name="object 3"/>
          <p:cNvSpPr txBox="1"/>
          <p:nvPr/>
        </p:nvSpPr>
        <p:spPr>
          <a:xfrm>
            <a:off x="3479950" y="716"/>
            <a:ext cx="10617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Decentralized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implementations</a:t>
            </a:r>
            <a:endParaRPr sz="600">
              <a:latin typeface="Arial"/>
              <a:cs typeface="Arial"/>
            </a:endParaRPr>
          </a:p>
        </p:txBody>
      </p:sp>
      <p:sp>
        <p:nvSpPr>
          <p:cNvPr id="4" name="object 4"/>
          <p:cNvSpPr txBox="1"/>
          <p:nvPr/>
        </p:nvSpPr>
        <p:spPr>
          <a:xfrm>
            <a:off x="69900" y="188846"/>
            <a:ext cx="3077210" cy="939165"/>
          </a:xfrm>
          <a:prstGeom prst="rect">
            <a:avLst/>
          </a:prstGeom>
        </p:spPr>
        <p:txBody>
          <a:bodyPr vert="horz" wrap="square" lIns="0" tIns="17145" rIns="0" bIns="0" rtlCol="0">
            <a:spAutoFit/>
          </a:bodyPr>
          <a:lstStyle/>
          <a:p>
            <a:pPr marL="38100">
              <a:lnSpc>
                <a:spcPct val="100000"/>
              </a:lnSpc>
              <a:spcBef>
                <a:spcPts val="135"/>
              </a:spcBef>
            </a:pPr>
            <a:r>
              <a:rPr sz="1400" spc="10" dirty="0">
                <a:solidFill>
                  <a:srgbClr val="3333B2"/>
                </a:solidFill>
                <a:latin typeface="Arial"/>
                <a:cs typeface="Arial"/>
              </a:rPr>
              <a:t>Distributed</a:t>
            </a:r>
            <a:r>
              <a:rPr sz="1400" spc="-40" dirty="0">
                <a:solidFill>
                  <a:srgbClr val="3333B2"/>
                </a:solidFill>
                <a:latin typeface="Arial"/>
                <a:cs typeface="Arial"/>
              </a:rPr>
              <a:t> </a:t>
            </a:r>
            <a:r>
              <a:rPr sz="1400" spc="5" dirty="0">
                <a:solidFill>
                  <a:srgbClr val="3333B2"/>
                </a:solidFill>
                <a:latin typeface="Arial"/>
                <a:cs typeface="Arial"/>
              </a:rPr>
              <a:t>index</a:t>
            </a:r>
            <a:endParaRPr sz="1400">
              <a:latin typeface="Arial"/>
              <a:cs typeface="Arial"/>
            </a:endParaRPr>
          </a:p>
          <a:p>
            <a:pPr marL="289560">
              <a:lnSpc>
                <a:spcPct val="100000"/>
              </a:lnSpc>
              <a:spcBef>
                <a:spcPts val="1100"/>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a:latin typeface="Arial"/>
              <a:cs typeface="Arial"/>
            </a:endParaRPr>
          </a:p>
          <a:p>
            <a:pPr marL="567055" indent="-168275">
              <a:lnSpc>
                <a:spcPts val="1200"/>
              </a:lnSpc>
              <a:spcBef>
                <a:spcPts val="540"/>
              </a:spcBef>
              <a:buClr>
                <a:srgbClr val="3333B2"/>
              </a:buClr>
              <a:buChar char="►"/>
              <a:tabLst>
                <a:tab pos="567690" algn="l"/>
              </a:tabLst>
            </a:pPr>
            <a:r>
              <a:rPr sz="1000" spc="-5" dirty="0">
                <a:latin typeface="Arial"/>
                <a:cs typeface="Arial"/>
              </a:rPr>
              <a:t>Assume a set of attributes </a:t>
            </a:r>
            <a:r>
              <a:rPr sz="1000" i="1" spc="45" dirty="0">
                <a:latin typeface="メイリオ"/>
                <a:cs typeface="メイリオ"/>
              </a:rPr>
              <a:t>{</a:t>
            </a:r>
            <a:r>
              <a:rPr sz="1000" i="1" spc="45" dirty="0">
                <a:latin typeface="Arial"/>
                <a:cs typeface="Arial"/>
              </a:rPr>
              <a:t>a</a:t>
            </a:r>
            <a:r>
              <a:rPr sz="1050" i="1" spc="67" baseline="27777" dirty="0">
                <a:latin typeface="Arial"/>
                <a:cs typeface="Arial"/>
              </a:rPr>
              <a:t>1</a:t>
            </a:r>
            <a:r>
              <a:rPr sz="1000" i="1" spc="45" dirty="0">
                <a:latin typeface="Arial"/>
                <a:cs typeface="Arial"/>
              </a:rPr>
              <a:t>,...,</a:t>
            </a:r>
            <a:r>
              <a:rPr sz="1000" i="1" spc="-170" dirty="0">
                <a:latin typeface="Arial"/>
                <a:cs typeface="Arial"/>
              </a:rPr>
              <a:t> </a:t>
            </a:r>
            <a:r>
              <a:rPr sz="1000" i="1" spc="10" dirty="0">
                <a:latin typeface="Arial"/>
                <a:cs typeface="Arial"/>
              </a:rPr>
              <a:t>a</a:t>
            </a:r>
            <a:r>
              <a:rPr sz="1050" i="1" spc="15" baseline="27777" dirty="0">
                <a:latin typeface="Arial"/>
                <a:cs typeface="Arial"/>
              </a:rPr>
              <a:t>N</a:t>
            </a:r>
            <a:r>
              <a:rPr sz="1050" i="1" spc="-135" baseline="27777" dirty="0">
                <a:latin typeface="Arial"/>
                <a:cs typeface="Arial"/>
              </a:rPr>
              <a:t> </a:t>
            </a:r>
            <a:r>
              <a:rPr sz="1000" i="1" spc="-105" dirty="0">
                <a:latin typeface="メイリオ"/>
                <a:cs typeface="メイリオ"/>
              </a:rPr>
              <a:t>}</a:t>
            </a:r>
            <a:endParaRPr sz="1000">
              <a:latin typeface="メイリオ"/>
              <a:cs typeface="メイリオ"/>
            </a:endParaRPr>
          </a:p>
          <a:p>
            <a:pPr marL="567055" indent="-168275">
              <a:lnSpc>
                <a:spcPts val="1200"/>
              </a:lnSpc>
              <a:buClr>
                <a:srgbClr val="3333B2"/>
              </a:buClr>
              <a:buChar char="►"/>
              <a:tabLst>
                <a:tab pos="567690" algn="l"/>
              </a:tabLst>
            </a:pPr>
            <a:r>
              <a:rPr sz="1000" spc="-5" dirty="0">
                <a:latin typeface="Arial"/>
                <a:cs typeface="Arial"/>
              </a:rPr>
              <a:t>Each attribute </a:t>
            </a:r>
            <a:r>
              <a:rPr sz="1000" i="1" spc="5" dirty="0">
                <a:latin typeface="Arial"/>
                <a:cs typeface="Arial"/>
              </a:rPr>
              <a:t>a</a:t>
            </a:r>
            <a:r>
              <a:rPr sz="1050" i="1" spc="7" baseline="27777" dirty="0">
                <a:latin typeface="Arial"/>
                <a:cs typeface="Arial"/>
              </a:rPr>
              <a:t>k</a:t>
            </a:r>
            <a:r>
              <a:rPr sz="1050" i="1" spc="15" baseline="27777" dirty="0">
                <a:latin typeface="Arial"/>
                <a:cs typeface="Arial"/>
              </a:rPr>
              <a:t> </a:t>
            </a:r>
            <a:r>
              <a:rPr sz="1000" spc="-10" dirty="0">
                <a:latin typeface="Arial"/>
                <a:cs typeface="Arial"/>
              </a:rPr>
              <a:t>takes</a:t>
            </a:r>
            <a:r>
              <a:rPr sz="1000" spc="-5" dirty="0">
                <a:latin typeface="Arial"/>
                <a:cs typeface="Arial"/>
              </a:rPr>
              <a:t> </a:t>
            </a:r>
            <a:r>
              <a:rPr sz="1000" spc="-10" dirty="0">
                <a:latin typeface="Arial"/>
                <a:cs typeface="Arial"/>
              </a:rPr>
              <a:t>values</a:t>
            </a:r>
            <a:r>
              <a:rPr sz="1000" dirty="0">
                <a:latin typeface="Arial"/>
                <a:cs typeface="Arial"/>
              </a:rPr>
              <a:t> </a:t>
            </a:r>
            <a:r>
              <a:rPr sz="1000" spc="-5" dirty="0">
                <a:latin typeface="Arial"/>
                <a:cs typeface="Arial"/>
              </a:rPr>
              <a:t>from a set</a:t>
            </a:r>
            <a:r>
              <a:rPr sz="1000" dirty="0">
                <a:latin typeface="Arial"/>
                <a:cs typeface="Arial"/>
              </a:rPr>
              <a:t> </a:t>
            </a:r>
            <a:r>
              <a:rPr sz="1000" i="1" spc="30" dirty="0">
                <a:latin typeface="Arial"/>
                <a:cs typeface="Arial"/>
              </a:rPr>
              <a:t>R</a:t>
            </a:r>
            <a:r>
              <a:rPr sz="1050" i="1" spc="44" baseline="27777" dirty="0">
                <a:latin typeface="Arial"/>
                <a:cs typeface="Arial"/>
              </a:rPr>
              <a:t>k</a:t>
            </a:r>
            <a:endParaRPr sz="1050" baseline="27777">
              <a:latin typeface="Arial"/>
              <a:cs typeface="Arial"/>
            </a:endParaRPr>
          </a:p>
        </p:txBody>
      </p:sp>
      <p:sp>
        <p:nvSpPr>
          <p:cNvPr id="5" name="object 5"/>
          <p:cNvSpPr txBox="1"/>
          <p:nvPr/>
        </p:nvSpPr>
        <p:spPr>
          <a:xfrm>
            <a:off x="1717433" y="1089224"/>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
        <p:nvSpPr>
          <p:cNvPr id="6" name="object 6"/>
          <p:cNvSpPr txBox="1"/>
          <p:nvPr/>
        </p:nvSpPr>
        <p:spPr>
          <a:xfrm>
            <a:off x="624395" y="1102250"/>
            <a:ext cx="2456180"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Arial"/>
                <a:cs typeface="Arial"/>
              </a:rPr>
              <a:t>For</a:t>
            </a:r>
            <a:r>
              <a:rPr sz="1000" spc="-10" dirty="0">
                <a:latin typeface="Arial"/>
                <a:cs typeface="Arial"/>
              </a:rPr>
              <a:t> </a:t>
            </a:r>
            <a:r>
              <a:rPr sz="1000" spc="-5" dirty="0">
                <a:latin typeface="Arial"/>
                <a:cs typeface="Arial"/>
              </a:rPr>
              <a:t>each attribute </a:t>
            </a:r>
            <a:r>
              <a:rPr sz="1000" i="1" spc="-5" dirty="0">
                <a:latin typeface="Arial"/>
                <a:cs typeface="Arial"/>
              </a:rPr>
              <a:t>a</a:t>
            </a:r>
            <a:r>
              <a:rPr sz="1000" i="1" spc="490" dirty="0">
                <a:latin typeface="Arial"/>
                <a:cs typeface="Arial"/>
              </a:rPr>
              <a:t> </a:t>
            </a:r>
            <a:r>
              <a:rPr sz="1000" spc="-5" dirty="0">
                <a:latin typeface="Arial"/>
                <a:cs typeface="Arial"/>
              </a:rPr>
              <a:t>associate a set </a:t>
            </a:r>
            <a:r>
              <a:rPr sz="1000" b="1" spc="-5" dirty="0">
                <a:latin typeface="Arial"/>
                <a:cs typeface="Arial"/>
              </a:rPr>
              <a:t>S</a:t>
            </a:r>
            <a:r>
              <a:rPr sz="1000" b="1" spc="400" dirty="0">
                <a:latin typeface="Arial"/>
                <a:cs typeface="Arial"/>
              </a:rPr>
              <a:t> </a:t>
            </a:r>
            <a:r>
              <a:rPr sz="1000" spc="190" dirty="0">
                <a:latin typeface="Arial"/>
                <a:cs typeface="Arial"/>
              </a:rPr>
              <a:t>=</a:t>
            </a:r>
            <a:r>
              <a:rPr sz="1000" spc="-60" dirty="0">
                <a:latin typeface="Arial"/>
                <a:cs typeface="Arial"/>
              </a:rPr>
              <a:t> </a:t>
            </a:r>
            <a:r>
              <a:rPr sz="1000" i="1" spc="-105" dirty="0">
                <a:latin typeface="メイリオ"/>
                <a:cs typeface="メイリオ"/>
              </a:rPr>
              <a:t>{</a:t>
            </a:r>
            <a:endParaRPr sz="1000">
              <a:latin typeface="メイリオ"/>
              <a:cs typeface="メイリオ"/>
            </a:endParaRPr>
          </a:p>
        </p:txBody>
      </p:sp>
      <p:sp>
        <p:nvSpPr>
          <p:cNvPr id="7" name="object 7"/>
          <p:cNvSpPr txBox="1"/>
          <p:nvPr/>
        </p:nvSpPr>
        <p:spPr>
          <a:xfrm>
            <a:off x="2778582" y="1089224"/>
            <a:ext cx="438784" cy="137795"/>
          </a:xfrm>
          <a:prstGeom prst="rect">
            <a:avLst/>
          </a:prstGeom>
        </p:spPr>
        <p:txBody>
          <a:bodyPr vert="horz" wrap="square" lIns="0" tIns="17145" rIns="0" bIns="0" rtlCol="0">
            <a:spAutoFit/>
          </a:bodyPr>
          <a:lstStyle/>
          <a:p>
            <a:pPr marL="12700">
              <a:lnSpc>
                <a:spcPct val="100000"/>
              </a:lnSpc>
              <a:spcBef>
                <a:spcPts val="135"/>
              </a:spcBef>
              <a:tabLst>
                <a:tab pos="379095" algn="l"/>
              </a:tabLst>
            </a:pPr>
            <a:r>
              <a:rPr sz="700" b="1" spc="20" dirty="0">
                <a:latin typeface="Arial"/>
                <a:cs typeface="Arial"/>
              </a:rPr>
              <a:t>k	</a:t>
            </a:r>
            <a:r>
              <a:rPr sz="700" i="1" spc="15" dirty="0">
                <a:latin typeface="Arial"/>
                <a:cs typeface="Arial"/>
              </a:rPr>
              <a:t>k</a:t>
            </a:r>
            <a:endParaRPr sz="700">
              <a:latin typeface="Arial"/>
              <a:cs typeface="Arial"/>
            </a:endParaRPr>
          </a:p>
        </p:txBody>
      </p:sp>
      <p:sp>
        <p:nvSpPr>
          <p:cNvPr id="8" name="object 8"/>
          <p:cNvSpPr txBox="1"/>
          <p:nvPr/>
        </p:nvSpPr>
        <p:spPr>
          <a:xfrm>
            <a:off x="3543439" y="1089224"/>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
        <p:nvSpPr>
          <p:cNvPr id="9" name="object 9"/>
          <p:cNvSpPr txBox="1"/>
          <p:nvPr/>
        </p:nvSpPr>
        <p:spPr>
          <a:xfrm>
            <a:off x="3113862" y="1175419"/>
            <a:ext cx="577215" cy="137795"/>
          </a:xfrm>
          <a:prstGeom prst="rect">
            <a:avLst/>
          </a:prstGeom>
        </p:spPr>
        <p:txBody>
          <a:bodyPr vert="horz" wrap="square" lIns="0" tIns="17145" rIns="0" bIns="0" rtlCol="0">
            <a:spAutoFit/>
          </a:bodyPr>
          <a:lstStyle/>
          <a:p>
            <a:pPr marL="38100">
              <a:lnSpc>
                <a:spcPct val="100000"/>
              </a:lnSpc>
              <a:spcBef>
                <a:spcPts val="135"/>
              </a:spcBef>
              <a:tabLst>
                <a:tab pos="436245" algn="l"/>
              </a:tabLst>
            </a:pPr>
            <a:r>
              <a:rPr sz="700" i="1" spc="20" dirty="0">
                <a:latin typeface="Arial"/>
                <a:cs typeface="Arial"/>
              </a:rPr>
              <a:t>1	</a:t>
            </a:r>
            <a:r>
              <a:rPr sz="1050" i="1" spc="7" baseline="3968" dirty="0">
                <a:latin typeface="Arial"/>
                <a:cs typeface="Arial"/>
              </a:rPr>
              <a:t>n</a:t>
            </a:r>
            <a:r>
              <a:rPr sz="900" i="1" spc="7" baseline="-9259" dirty="0">
                <a:latin typeface="Arial"/>
                <a:cs typeface="Arial"/>
              </a:rPr>
              <a:t>k</a:t>
            </a:r>
            <a:endParaRPr sz="900" baseline="-9259">
              <a:latin typeface="Arial"/>
              <a:cs typeface="Arial"/>
            </a:endParaRPr>
          </a:p>
        </p:txBody>
      </p:sp>
      <p:sp>
        <p:nvSpPr>
          <p:cNvPr id="10" name="object 10"/>
          <p:cNvSpPr txBox="1"/>
          <p:nvPr/>
        </p:nvSpPr>
        <p:spPr>
          <a:xfrm>
            <a:off x="3054870" y="1102250"/>
            <a:ext cx="928369"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S </a:t>
            </a:r>
            <a:r>
              <a:rPr sz="1000" i="1" spc="-2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S</a:t>
            </a:r>
            <a:r>
              <a:rPr sz="1000" i="1" dirty="0">
                <a:latin typeface="Arial"/>
                <a:cs typeface="Arial"/>
              </a:rPr>
              <a:t>  </a:t>
            </a:r>
            <a:r>
              <a:rPr sz="1000" i="1" spc="30" dirty="0">
                <a:latin typeface="Arial"/>
                <a:cs typeface="Arial"/>
              </a:rPr>
              <a:t> </a:t>
            </a:r>
            <a:r>
              <a:rPr sz="1000" i="1" spc="-105" dirty="0">
                <a:latin typeface="メイリオ"/>
                <a:cs typeface="メイリオ"/>
              </a:rPr>
              <a:t>}</a:t>
            </a:r>
            <a:r>
              <a:rPr sz="1000" i="1" spc="-65" dirty="0">
                <a:latin typeface="メイリオ"/>
                <a:cs typeface="メイリオ"/>
              </a:rPr>
              <a:t> </a:t>
            </a:r>
            <a:r>
              <a:rPr sz="1000" spc="-5" dirty="0">
                <a:latin typeface="Arial"/>
                <a:cs typeface="Arial"/>
              </a:rPr>
              <a:t>of </a:t>
            </a:r>
            <a:r>
              <a:rPr sz="1000" i="1" spc="-5" dirty="0">
                <a:latin typeface="Arial"/>
                <a:cs typeface="Arial"/>
              </a:rPr>
              <a:t>n</a:t>
            </a:r>
            <a:endParaRPr sz="1000">
              <a:latin typeface="Arial"/>
              <a:cs typeface="Arial"/>
            </a:endParaRPr>
          </a:p>
        </p:txBody>
      </p:sp>
      <p:sp>
        <p:nvSpPr>
          <p:cNvPr id="11" name="object 11"/>
          <p:cNvSpPr txBox="1"/>
          <p:nvPr/>
        </p:nvSpPr>
        <p:spPr>
          <a:xfrm>
            <a:off x="3957294" y="1159277"/>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
        <p:nvSpPr>
          <p:cNvPr id="12" name="object 12"/>
          <p:cNvSpPr txBox="1"/>
          <p:nvPr/>
        </p:nvSpPr>
        <p:spPr>
          <a:xfrm>
            <a:off x="624395" y="1254079"/>
            <a:ext cx="4413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se</a:t>
            </a:r>
            <a:r>
              <a:rPr sz="1000" spc="20" dirty="0">
                <a:latin typeface="Arial"/>
                <a:cs typeface="Arial"/>
              </a:rPr>
              <a:t>r</a:t>
            </a:r>
            <a:r>
              <a:rPr sz="1000" spc="-30" dirty="0">
                <a:latin typeface="Arial"/>
                <a:cs typeface="Arial"/>
              </a:rPr>
              <a:t>v</a:t>
            </a:r>
            <a:r>
              <a:rPr sz="1000" spc="-5" dirty="0">
                <a:latin typeface="Arial"/>
                <a:cs typeface="Arial"/>
              </a:rPr>
              <a:t>ers</a:t>
            </a:r>
            <a:endParaRPr sz="1000">
              <a:latin typeface="Arial"/>
              <a:cs typeface="Arial"/>
            </a:endParaRPr>
          </a:p>
        </p:txBody>
      </p:sp>
      <p:sp>
        <p:nvSpPr>
          <p:cNvPr id="13" name="object 13"/>
          <p:cNvSpPr txBox="1"/>
          <p:nvPr/>
        </p:nvSpPr>
        <p:spPr>
          <a:xfrm>
            <a:off x="456704" y="1086439"/>
            <a:ext cx="123825" cy="481330"/>
          </a:xfrm>
          <a:prstGeom prst="rect">
            <a:avLst/>
          </a:prstGeom>
        </p:spPr>
        <p:txBody>
          <a:bodyPr vert="horz" wrap="square" lIns="0" tIns="12065" rIns="0" bIns="0" rtlCol="0">
            <a:spAutoFit/>
          </a:bodyPr>
          <a:lstStyle/>
          <a:p>
            <a:pPr marL="12700">
              <a:lnSpc>
                <a:spcPct val="100000"/>
              </a:lnSpc>
              <a:spcBef>
                <a:spcPts val="95"/>
              </a:spcBef>
            </a:pPr>
            <a:r>
              <a:rPr sz="1000" spc="-220" dirty="0">
                <a:solidFill>
                  <a:srgbClr val="3333B2"/>
                </a:solidFill>
                <a:latin typeface="Arial"/>
                <a:cs typeface="Arial"/>
              </a:rPr>
              <a:t>►</a:t>
            </a:r>
            <a:endParaRPr sz="1000">
              <a:latin typeface="Arial"/>
              <a:cs typeface="Arial"/>
            </a:endParaRPr>
          </a:p>
          <a:p>
            <a:pPr marL="12700">
              <a:lnSpc>
                <a:spcPct val="100000"/>
              </a:lnSpc>
              <a:spcBef>
                <a:spcPts val="1190"/>
              </a:spcBef>
            </a:pPr>
            <a:r>
              <a:rPr sz="1000" spc="-220" dirty="0">
                <a:solidFill>
                  <a:srgbClr val="3333B2"/>
                </a:solidFill>
                <a:latin typeface="Arial"/>
                <a:cs typeface="Arial"/>
              </a:rPr>
              <a:t>►</a:t>
            </a:r>
            <a:endParaRPr sz="1000">
              <a:latin typeface="Arial"/>
              <a:cs typeface="Arial"/>
            </a:endParaRPr>
          </a:p>
        </p:txBody>
      </p:sp>
      <p:sp>
        <p:nvSpPr>
          <p:cNvPr id="14" name="object 14"/>
          <p:cNvSpPr txBox="1"/>
          <p:nvPr/>
        </p:nvSpPr>
        <p:spPr>
          <a:xfrm>
            <a:off x="2406624" y="1480765"/>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j</a:t>
            </a:r>
            <a:endParaRPr sz="700">
              <a:latin typeface="Arial"/>
              <a:cs typeface="Arial"/>
            </a:endParaRPr>
          </a:p>
        </p:txBody>
      </p:sp>
      <p:sp>
        <p:nvSpPr>
          <p:cNvPr id="15" name="object 15"/>
          <p:cNvSpPr txBox="1"/>
          <p:nvPr/>
        </p:nvSpPr>
        <p:spPr>
          <a:xfrm>
            <a:off x="2854705" y="1480765"/>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j</a:t>
            </a:r>
            <a:endParaRPr sz="700">
              <a:latin typeface="Arial"/>
              <a:cs typeface="Arial"/>
            </a:endParaRPr>
          </a:p>
        </p:txBody>
      </p:sp>
      <p:sp>
        <p:nvSpPr>
          <p:cNvPr id="16" name="object 16"/>
          <p:cNvSpPr txBox="1"/>
          <p:nvPr/>
        </p:nvSpPr>
        <p:spPr>
          <a:xfrm>
            <a:off x="1930488" y="1392881"/>
            <a:ext cx="1295400" cy="137795"/>
          </a:xfrm>
          <a:prstGeom prst="rect">
            <a:avLst/>
          </a:prstGeom>
        </p:spPr>
        <p:txBody>
          <a:bodyPr vert="horz" wrap="square" lIns="0" tIns="17145" rIns="0" bIns="0" rtlCol="0">
            <a:spAutoFit/>
          </a:bodyPr>
          <a:lstStyle/>
          <a:p>
            <a:pPr marL="12700">
              <a:lnSpc>
                <a:spcPct val="100000"/>
              </a:lnSpc>
              <a:spcBef>
                <a:spcPts val="135"/>
              </a:spcBef>
              <a:tabLst>
                <a:tab pos="494030" algn="l"/>
                <a:tab pos="942340" algn="l"/>
                <a:tab pos="1229995" algn="l"/>
              </a:tabLst>
            </a:pPr>
            <a:r>
              <a:rPr sz="700" i="1" spc="15" dirty="0">
                <a:latin typeface="Arial"/>
                <a:cs typeface="Arial"/>
              </a:rPr>
              <a:t>k	k	k	</a:t>
            </a:r>
            <a:r>
              <a:rPr sz="700" b="1" spc="20" dirty="0">
                <a:latin typeface="Arial"/>
                <a:cs typeface="Arial"/>
              </a:rPr>
              <a:t>k</a:t>
            </a:r>
            <a:endParaRPr sz="700">
              <a:latin typeface="Arial"/>
              <a:cs typeface="Arial"/>
            </a:endParaRPr>
          </a:p>
        </p:txBody>
      </p:sp>
      <p:sp>
        <p:nvSpPr>
          <p:cNvPr id="17" name="object 17"/>
          <p:cNvSpPr txBox="1"/>
          <p:nvPr/>
        </p:nvSpPr>
        <p:spPr>
          <a:xfrm>
            <a:off x="624395" y="1405907"/>
            <a:ext cx="319722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0000FA"/>
                </a:solidFill>
                <a:latin typeface="Arial"/>
                <a:cs typeface="Arial"/>
              </a:rPr>
              <a:t>Global mapping </a:t>
            </a:r>
            <a:r>
              <a:rPr sz="1000" i="1" spc="-5" dirty="0">
                <a:latin typeface="Arial"/>
                <a:cs typeface="Arial"/>
              </a:rPr>
              <a:t>F</a:t>
            </a:r>
            <a:r>
              <a:rPr sz="1000" i="1" spc="-155" dirty="0">
                <a:latin typeface="Arial"/>
                <a:cs typeface="Arial"/>
              </a:rPr>
              <a:t> </a:t>
            </a:r>
            <a:r>
              <a:rPr sz="1000" spc="-5" dirty="0">
                <a:latin typeface="Arial"/>
                <a:cs typeface="Arial"/>
              </a:rPr>
              <a:t>:</a:t>
            </a:r>
            <a:r>
              <a:rPr sz="1000" spc="60" dirty="0">
                <a:latin typeface="Arial"/>
                <a:cs typeface="Arial"/>
              </a:rPr>
              <a:t> </a:t>
            </a:r>
            <a:r>
              <a:rPr sz="1000" i="1" spc="-5" dirty="0">
                <a:latin typeface="Arial"/>
                <a:cs typeface="Arial"/>
              </a:rPr>
              <a:t>F</a:t>
            </a:r>
            <a:r>
              <a:rPr sz="1000" i="1" spc="-155" dirty="0">
                <a:latin typeface="Arial"/>
                <a:cs typeface="Arial"/>
              </a:rPr>
              <a:t> </a:t>
            </a:r>
            <a:r>
              <a:rPr sz="1000" spc="25" dirty="0">
                <a:latin typeface="Arial"/>
                <a:cs typeface="Arial"/>
              </a:rPr>
              <a:t>(</a:t>
            </a:r>
            <a:r>
              <a:rPr sz="1000" i="1" spc="25" dirty="0">
                <a:latin typeface="Arial"/>
                <a:cs typeface="Arial"/>
              </a:rPr>
              <a:t>a</a:t>
            </a:r>
            <a:r>
              <a:rPr sz="1000" i="1" spc="21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spc="-180" dirty="0">
                <a:latin typeface="Arial"/>
                <a:cs typeface="Arial"/>
              </a:rPr>
              <a:t> </a:t>
            </a:r>
            <a:r>
              <a:rPr sz="1000" spc="50" dirty="0">
                <a:latin typeface="Arial"/>
                <a:cs typeface="Arial"/>
              </a:rPr>
              <a:t>)</a:t>
            </a:r>
            <a:r>
              <a:rPr sz="1000" spc="-6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a:t>
            </a:r>
            <a:r>
              <a:rPr sz="1000" i="1" spc="540" dirty="0">
                <a:latin typeface="Arial"/>
                <a:cs typeface="Arial"/>
              </a:rPr>
              <a:t> </a:t>
            </a:r>
            <a:r>
              <a:rPr sz="1000" spc="-5" dirty="0">
                <a:latin typeface="Arial"/>
                <a:cs typeface="Arial"/>
              </a:rPr>
              <a:t>with </a:t>
            </a:r>
            <a:r>
              <a:rPr sz="1000" i="1" spc="-5" dirty="0">
                <a:latin typeface="Arial"/>
                <a:cs typeface="Arial"/>
              </a:rPr>
              <a:t>S</a:t>
            </a:r>
            <a:r>
              <a:rPr sz="1000" i="1" spc="480" dirty="0">
                <a:latin typeface="Arial"/>
                <a:cs typeface="Arial"/>
              </a:rPr>
              <a:t> </a:t>
            </a:r>
            <a:r>
              <a:rPr sz="1000" i="1" spc="-145" dirty="0">
                <a:latin typeface="メイリオ"/>
                <a:cs typeface="メイリオ"/>
              </a:rPr>
              <a:t>∈</a:t>
            </a:r>
            <a:r>
              <a:rPr sz="1000" i="1" spc="-120" dirty="0">
                <a:latin typeface="メイリオ"/>
                <a:cs typeface="メイリオ"/>
              </a:rPr>
              <a:t> </a:t>
            </a:r>
            <a:r>
              <a:rPr sz="1000" b="1" spc="-5" dirty="0">
                <a:latin typeface="Arial"/>
                <a:cs typeface="Arial"/>
              </a:rPr>
              <a:t>S</a:t>
            </a:r>
            <a:r>
              <a:rPr sz="1000" b="1" spc="455" dirty="0">
                <a:latin typeface="Arial"/>
                <a:cs typeface="Arial"/>
              </a:rPr>
              <a:t> </a:t>
            </a:r>
            <a:r>
              <a:rPr sz="1000" spc="-5" dirty="0">
                <a:latin typeface="Arial"/>
                <a:cs typeface="Arial"/>
              </a:rPr>
              <a:t>and </a:t>
            </a:r>
            <a:r>
              <a:rPr sz="1000" i="1" spc="-5" dirty="0">
                <a:latin typeface="Arial"/>
                <a:cs typeface="Arial"/>
              </a:rPr>
              <a:t>v</a:t>
            </a:r>
            <a:r>
              <a:rPr sz="1000" i="1" spc="45" dirty="0">
                <a:latin typeface="Arial"/>
                <a:cs typeface="Arial"/>
              </a:rPr>
              <a:t> </a:t>
            </a:r>
            <a:r>
              <a:rPr sz="1000" i="1" spc="-145" dirty="0">
                <a:latin typeface="メイリオ"/>
                <a:cs typeface="メイリオ"/>
              </a:rPr>
              <a:t>∈</a:t>
            </a:r>
            <a:r>
              <a:rPr sz="1000" i="1" spc="-120" dirty="0">
                <a:latin typeface="メイリオ"/>
                <a:cs typeface="メイリオ"/>
              </a:rPr>
              <a:t> </a:t>
            </a:r>
            <a:r>
              <a:rPr sz="1000" i="1" spc="-5" dirty="0">
                <a:latin typeface="Arial"/>
                <a:cs typeface="Arial"/>
              </a:rPr>
              <a:t>R</a:t>
            </a:r>
            <a:endParaRPr sz="1000">
              <a:latin typeface="Arial"/>
              <a:cs typeface="Arial"/>
            </a:endParaRPr>
          </a:p>
        </p:txBody>
      </p:sp>
      <p:sp>
        <p:nvSpPr>
          <p:cNvPr id="18" name="object 18"/>
          <p:cNvSpPr txBox="1"/>
          <p:nvPr/>
        </p:nvSpPr>
        <p:spPr>
          <a:xfrm>
            <a:off x="3802341" y="1392881"/>
            <a:ext cx="72390" cy="137795"/>
          </a:xfrm>
          <a:prstGeom prst="rect">
            <a:avLst/>
          </a:prstGeom>
        </p:spPr>
        <p:txBody>
          <a:bodyPr vert="horz" wrap="square" lIns="0" tIns="17145" rIns="0" bIns="0" rtlCol="0">
            <a:spAutoFit/>
          </a:bodyPr>
          <a:lstStyle/>
          <a:p>
            <a:pPr marL="12700">
              <a:lnSpc>
                <a:spcPct val="100000"/>
              </a:lnSpc>
              <a:spcBef>
                <a:spcPts val="135"/>
              </a:spcBef>
            </a:pPr>
            <a:r>
              <a:rPr sz="700" i="1" spc="15" dirty="0">
                <a:latin typeface="Arial"/>
                <a:cs typeface="Arial"/>
              </a:rPr>
              <a:t>k</a:t>
            </a:r>
            <a:endParaRPr sz="700">
              <a:latin typeface="Arial"/>
              <a:cs typeface="Arial"/>
            </a:endParaRPr>
          </a:p>
        </p:txBody>
      </p:sp>
      <p:sp>
        <p:nvSpPr>
          <p:cNvPr id="19" name="object 19"/>
          <p:cNvSpPr txBox="1"/>
          <p:nvPr/>
        </p:nvSpPr>
        <p:spPr>
          <a:xfrm>
            <a:off x="321894" y="1783699"/>
            <a:ext cx="3724275" cy="504825"/>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38100" marR="30480">
              <a:lnSpc>
                <a:spcPts val="1200"/>
              </a:lnSpc>
              <a:spcBef>
                <a:spcPts val="10"/>
              </a:spcBef>
            </a:pPr>
            <a:r>
              <a:rPr sz="1000" spc="-5" dirty="0">
                <a:latin typeface="Arial"/>
                <a:cs typeface="Arial"/>
              </a:rPr>
              <a:t>If </a:t>
            </a:r>
            <a:r>
              <a:rPr sz="1000" i="1" spc="15" dirty="0">
                <a:latin typeface="Arial"/>
                <a:cs typeface="Arial"/>
              </a:rPr>
              <a:t>L</a:t>
            </a:r>
            <a:r>
              <a:rPr sz="1000" spc="15" dirty="0">
                <a:latin typeface="Arial"/>
                <a:cs typeface="Arial"/>
              </a:rPr>
              <a:t>(</a:t>
            </a:r>
            <a:r>
              <a:rPr sz="1000" i="1" spc="15" dirty="0">
                <a:latin typeface="Arial"/>
                <a:cs typeface="Arial"/>
              </a:rPr>
              <a:t>a</a:t>
            </a:r>
            <a:r>
              <a:rPr sz="1050" i="1" spc="22" baseline="27777" dirty="0">
                <a:latin typeface="Arial"/>
                <a:cs typeface="Arial"/>
              </a:rPr>
              <a:t>k</a:t>
            </a:r>
            <a:r>
              <a:rPr sz="1050" i="1" spc="-112" baseline="27777"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spc="-175" dirty="0">
                <a:latin typeface="Arial"/>
                <a:cs typeface="Arial"/>
              </a:rPr>
              <a:t> </a:t>
            </a:r>
            <a:r>
              <a:rPr sz="1000" spc="50" dirty="0">
                <a:latin typeface="Arial"/>
                <a:cs typeface="Arial"/>
              </a:rPr>
              <a: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set of</a:t>
            </a:r>
            <a:r>
              <a:rPr sz="1000" dirty="0">
                <a:latin typeface="Arial"/>
                <a:cs typeface="Arial"/>
              </a:rPr>
              <a:t> </a:t>
            </a:r>
            <a:r>
              <a:rPr sz="1000" spc="-15" dirty="0">
                <a:latin typeface="Arial"/>
                <a:cs typeface="Arial"/>
              </a:rPr>
              <a:t>keys</a:t>
            </a:r>
            <a:r>
              <a:rPr sz="1000" spc="-5" dirty="0">
                <a:latin typeface="Arial"/>
                <a:cs typeface="Arial"/>
              </a:rPr>
              <a:t> </a:t>
            </a:r>
            <a:r>
              <a:rPr sz="1000" dirty="0">
                <a:latin typeface="Arial"/>
                <a:cs typeface="Arial"/>
              </a:rPr>
              <a:t>returned </a:t>
            </a:r>
            <a:r>
              <a:rPr sz="1000" spc="-15" dirty="0">
                <a:latin typeface="Arial"/>
                <a:cs typeface="Arial"/>
              </a:rPr>
              <a:t>by</a:t>
            </a:r>
            <a:r>
              <a:rPr sz="1000" spc="-5" dirty="0">
                <a:latin typeface="Arial"/>
                <a:cs typeface="Arial"/>
              </a:rPr>
              <a:t> </a:t>
            </a:r>
            <a:r>
              <a:rPr sz="1000" i="1" spc="-5" dirty="0">
                <a:latin typeface="Arial"/>
                <a:cs typeface="Arial"/>
              </a:rPr>
              <a:t>F</a:t>
            </a:r>
            <a:r>
              <a:rPr sz="1000" i="1" spc="-155" dirty="0">
                <a:latin typeface="Arial"/>
                <a:cs typeface="Arial"/>
              </a:rPr>
              <a:t> </a:t>
            </a:r>
            <a:r>
              <a:rPr sz="1000" spc="20" dirty="0">
                <a:latin typeface="Arial"/>
                <a:cs typeface="Arial"/>
              </a:rPr>
              <a:t>(</a:t>
            </a:r>
            <a:r>
              <a:rPr sz="1000" i="1" spc="20" dirty="0">
                <a:latin typeface="Arial"/>
                <a:cs typeface="Arial"/>
              </a:rPr>
              <a:t>a</a:t>
            </a:r>
            <a:r>
              <a:rPr sz="1050" i="1" spc="30" baseline="27777" dirty="0">
                <a:latin typeface="Arial"/>
                <a:cs typeface="Arial"/>
              </a:rPr>
              <a:t>k</a:t>
            </a:r>
            <a:r>
              <a:rPr sz="1050" i="1" spc="-112" baseline="27777" dirty="0">
                <a:latin typeface="Arial"/>
                <a:cs typeface="Arial"/>
              </a:rPr>
              <a:t> </a:t>
            </a:r>
            <a:r>
              <a:rPr sz="1000" i="1" spc="-5" dirty="0">
                <a:latin typeface="Arial"/>
                <a:cs typeface="Arial"/>
              </a:rPr>
              <a:t>,</a:t>
            </a:r>
            <a:r>
              <a:rPr sz="1000" i="1" spc="-165" dirty="0">
                <a:latin typeface="Arial"/>
                <a:cs typeface="Arial"/>
              </a:rPr>
              <a:t> </a:t>
            </a:r>
            <a:r>
              <a:rPr sz="1000" i="1" spc="-5" dirty="0">
                <a:latin typeface="Arial"/>
                <a:cs typeface="Arial"/>
              </a:rPr>
              <a:t>v</a:t>
            </a:r>
            <a:r>
              <a:rPr sz="1000" i="1" spc="-180" dirty="0">
                <a:latin typeface="Arial"/>
                <a:cs typeface="Arial"/>
              </a:rPr>
              <a:t> </a:t>
            </a:r>
            <a:r>
              <a:rPr sz="1000" spc="25" dirty="0">
                <a:latin typeface="Arial"/>
                <a:cs typeface="Arial"/>
              </a:rPr>
              <a:t>),</a:t>
            </a:r>
            <a:r>
              <a:rPr sz="1000" spc="-5" dirty="0">
                <a:latin typeface="Arial"/>
                <a:cs typeface="Arial"/>
              </a:rPr>
              <a:t> then</a:t>
            </a:r>
            <a:r>
              <a:rPr sz="1000" dirty="0">
                <a:latin typeface="Arial"/>
                <a:cs typeface="Arial"/>
              </a:rPr>
              <a:t> </a:t>
            </a:r>
            <a:r>
              <a:rPr sz="1000" spc="-5" dirty="0">
                <a:latin typeface="Arial"/>
                <a:cs typeface="Arial"/>
              </a:rPr>
              <a:t>a </a:t>
            </a:r>
            <a:r>
              <a:rPr sz="1000" dirty="0">
                <a:latin typeface="Arial"/>
                <a:cs typeface="Arial"/>
              </a:rPr>
              <a:t>query </a:t>
            </a:r>
            <a:r>
              <a:rPr sz="1000" spc="-5" dirty="0">
                <a:latin typeface="Arial"/>
                <a:cs typeface="Arial"/>
              </a:rPr>
              <a:t>can be </a:t>
            </a:r>
            <a:r>
              <a:rPr sz="1000" spc="-260" dirty="0">
                <a:latin typeface="Arial"/>
                <a:cs typeface="Arial"/>
              </a:rPr>
              <a:t> </a:t>
            </a:r>
            <a:r>
              <a:rPr sz="1000" spc="-5" dirty="0">
                <a:latin typeface="Arial"/>
                <a:cs typeface="Arial"/>
              </a:rPr>
              <a:t>formulated</a:t>
            </a:r>
            <a:r>
              <a:rPr sz="1000" spc="-10" dirty="0">
                <a:latin typeface="Arial"/>
                <a:cs typeface="Arial"/>
              </a:rPr>
              <a:t> </a:t>
            </a:r>
            <a:r>
              <a:rPr sz="1000" spc="-5" dirty="0">
                <a:latin typeface="Arial"/>
                <a:cs typeface="Arial"/>
              </a:rPr>
              <a:t>as a logical expression,</a:t>
            </a:r>
            <a:r>
              <a:rPr sz="1000" spc="-10" dirty="0">
                <a:latin typeface="Arial"/>
                <a:cs typeface="Arial"/>
              </a:rPr>
              <a:t> </a:t>
            </a:r>
            <a:r>
              <a:rPr sz="1000" spc="-5" dirty="0">
                <a:latin typeface="Arial"/>
                <a:cs typeface="Arial"/>
              </a:rPr>
              <a:t>e.g.,</a:t>
            </a:r>
            <a:endParaRPr sz="1000">
              <a:latin typeface="Arial"/>
              <a:cs typeface="Arial"/>
            </a:endParaRPr>
          </a:p>
        </p:txBody>
      </p:sp>
      <p:sp>
        <p:nvSpPr>
          <p:cNvPr id="20" name="object 20"/>
          <p:cNvSpPr txBox="1"/>
          <p:nvPr/>
        </p:nvSpPr>
        <p:spPr>
          <a:xfrm>
            <a:off x="624395" y="2237338"/>
            <a:ext cx="1281430" cy="177800"/>
          </a:xfrm>
          <a:prstGeom prst="rect">
            <a:avLst/>
          </a:prstGeom>
        </p:spPr>
        <p:txBody>
          <a:bodyPr vert="horz" wrap="square" lIns="0" tIns="139065" rIns="0" bIns="0" rtlCol="0">
            <a:spAutoFit/>
          </a:bodyPr>
          <a:lstStyle/>
          <a:p>
            <a:pPr marL="12700">
              <a:lnSpc>
                <a:spcPct val="100000"/>
              </a:lnSpc>
              <a:spcBef>
                <a:spcPts val="1095"/>
              </a:spcBef>
              <a:tabLst>
                <a:tab pos="1209675" algn="l"/>
              </a:tabLst>
            </a:pPr>
            <a:r>
              <a:rPr sz="1000" spc="175" dirty="0">
                <a:latin typeface="Arial"/>
                <a:cs typeface="Arial"/>
              </a:rPr>
              <a:t> 	 </a:t>
            </a:r>
            <a:endParaRPr sz="1000">
              <a:latin typeface="Arial"/>
              <a:cs typeface="Arial"/>
            </a:endParaRPr>
          </a:p>
        </p:txBody>
      </p:sp>
      <p:sp>
        <p:nvSpPr>
          <p:cNvPr id="21" name="object 21"/>
          <p:cNvSpPr txBox="1"/>
          <p:nvPr/>
        </p:nvSpPr>
        <p:spPr>
          <a:xfrm>
            <a:off x="895388" y="2326864"/>
            <a:ext cx="1583690" cy="137795"/>
          </a:xfrm>
          <a:prstGeom prst="rect">
            <a:avLst/>
          </a:prstGeom>
        </p:spPr>
        <p:txBody>
          <a:bodyPr vert="horz" wrap="square" lIns="0" tIns="17145" rIns="0" bIns="0" rtlCol="0">
            <a:spAutoFit/>
          </a:bodyPr>
          <a:lstStyle/>
          <a:p>
            <a:pPr marL="12700">
              <a:lnSpc>
                <a:spcPct val="100000"/>
              </a:lnSpc>
              <a:spcBef>
                <a:spcPts val="135"/>
              </a:spcBef>
              <a:tabLst>
                <a:tab pos="196215" algn="l"/>
                <a:tab pos="636270" algn="l"/>
                <a:tab pos="825500" algn="l"/>
                <a:tab pos="1329055" algn="l"/>
                <a:tab pos="1518285" algn="l"/>
              </a:tabLst>
            </a:pPr>
            <a:r>
              <a:rPr sz="700" i="1" spc="20" dirty="0">
                <a:latin typeface="Arial"/>
                <a:cs typeface="Arial"/>
              </a:rPr>
              <a:t>1	1	2	2	3	3</a:t>
            </a:r>
            <a:endParaRPr sz="700">
              <a:latin typeface="Arial"/>
              <a:cs typeface="Arial"/>
            </a:endParaRPr>
          </a:p>
        </p:txBody>
      </p:sp>
      <p:sp>
        <p:nvSpPr>
          <p:cNvPr id="22" name="object 22"/>
          <p:cNvSpPr txBox="1"/>
          <p:nvPr/>
        </p:nvSpPr>
        <p:spPr>
          <a:xfrm>
            <a:off x="682345" y="2339891"/>
            <a:ext cx="1857375"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F</a:t>
            </a:r>
            <a:r>
              <a:rPr sz="1000" i="1" spc="-155" dirty="0">
                <a:latin typeface="Arial"/>
                <a:cs typeface="Arial"/>
              </a:rPr>
              <a:t> </a:t>
            </a:r>
            <a:r>
              <a:rPr sz="1000" spc="50" dirty="0">
                <a:latin typeface="Arial"/>
                <a:cs typeface="Arial"/>
              </a:rPr>
              <a:t>(</a:t>
            </a:r>
            <a:r>
              <a:rPr sz="1000" i="1" spc="-5" dirty="0">
                <a:latin typeface="Arial"/>
                <a:cs typeface="Arial"/>
              </a:rPr>
              <a:t>a</a:t>
            </a:r>
            <a:r>
              <a:rPr sz="1000" i="1" dirty="0">
                <a:latin typeface="Arial"/>
                <a:cs typeface="Arial"/>
              </a:rPr>
              <a:t> </a:t>
            </a:r>
            <a:r>
              <a:rPr sz="1000" i="1" spc="-95"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dirty="0">
                <a:latin typeface="Arial"/>
                <a:cs typeface="Arial"/>
              </a:rPr>
              <a:t> </a:t>
            </a:r>
            <a:r>
              <a:rPr sz="1000" i="1" spc="5" dirty="0">
                <a:latin typeface="Arial"/>
                <a:cs typeface="Arial"/>
              </a:rPr>
              <a:t> </a:t>
            </a:r>
            <a:r>
              <a:rPr sz="1000" spc="50" dirty="0">
                <a:latin typeface="Arial"/>
                <a:cs typeface="Arial"/>
              </a:rPr>
              <a:t>)</a:t>
            </a:r>
            <a:r>
              <a:rPr sz="1000" spc="-140" dirty="0">
                <a:latin typeface="Arial"/>
                <a:cs typeface="Arial"/>
              </a:rPr>
              <a:t> </a:t>
            </a:r>
            <a:r>
              <a:rPr sz="1000" i="1" spc="-10" dirty="0">
                <a:latin typeface="メイリオ"/>
                <a:cs typeface="メイリオ"/>
              </a:rPr>
              <a:t>∧</a:t>
            </a:r>
            <a:r>
              <a:rPr sz="1000" i="1" spc="-5" dirty="0">
                <a:latin typeface="Arial"/>
                <a:cs typeface="Arial"/>
              </a:rPr>
              <a:t>F</a:t>
            </a:r>
            <a:r>
              <a:rPr sz="1000" i="1" spc="-155" dirty="0">
                <a:latin typeface="Arial"/>
                <a:cs typeface="Arial"/>
              </a:rPr>
              <a:t> </a:t>
            </a:r>
            <a:r>
              <a:rPr sz="1000" spc="50" dirty="0">
                <a:latin typeface="Arial"/>
                <a:cs typeface="Arial"/>
              </a:rPr>
              <a:t>(</a:t>
            </a:r>
            <a:r>
              <a:rPr sz="1000" i="1" spc="-5" dirty="0">
                <a:latin typeface="Arial"/>
                <a:cs typeface="Arial"/>
              </a:rPr>
              <a:t>a</a:t>
            </a:r>
            <a:r>
              <a:rPr sz="1000" i="1" dirty="0">
                <a:latin typeface="Arial"/>
                <a:cs typeface="Arial"/>
              </a:rPr>
              <a:t> </a:t>
            </a:r>
            <a:r>
              <a:rPr sz="1000" i="1" spc="-50"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dirty="0">
                <a:latin typeface="Arial"/>
                <a:cs typeface="Arial"/>
              </a:rPr>
              <a:t> </a:t>
            </a:r>
            <a:r>
              <a:rPr sz="1000" i="1" spc="50" dirty="0">
                <a:latin typeface="Arial"/>
                <a:cs typeface="Arial"/>
              </a:rPr>
              <a:t> </a:t>
            </a:r>
            <a:r>
              <a:rPr sz="1000" spc="50" dirty="0">
                <a:latin typeface="Arial"/>
                <a:cs typeface="Arial"/>
              </a:rPr>
              <a:t>)</a:t>
            </a:r>
            <a:r>
              <a:rPr sz="1000" dirty="0">
                <a:latin typeface="Arial"/>
                <a:cs typeface="Arial"/>
              </a:rPr>
              <a:t> </a:t>
            </a:r>
            <a:r>
              <a:rPr sz="1000" spc="35" dirty="0">
                <a:latin typeface="Arial"/>
                <a:cs typeface="Arial"/>
              </a:rPr>
              <a:t> </a:t>
            </a:r>
            <a:r>
              <a:rPr sz="1000" i="1" spc="-10" dirty="0">
                <a:latin typeface="メイリオ"/>
                <a:cs typeface="メイリオ"/>
              </a:rPr>
              <a:t>∨</a:t>
            </a:r>
            <a:r>
              <a:rPr sz="1000" i="1" spc="-5" dirty="0">
                <a:latin typeface="Arial"/>
                <a:cs typeface="Arial"/>
              </a:rPr>
              <a:t>F</a:t>
            </a:r>
            <a:r>
              <a:rPr sz="1000" i="1" spc="-155" dirty="0">
                <a:latin typeface="Arial"/>
                <a:cs typeface="Arial"/>
              </a:rPr>
              <a:t> </a:t>
            </a:r>
            <a:r>
              <a:rPr sz="1000" spc="50" dirty="0">
                <a:latin typeface="Arial"/>
                <a:cs typeface="Arial"/>
              </a:rPr>
              <a:t>(</a:t>
            </a:r>
            <a:r>
              <a:rPr sz="1000" i="1" spc="-5" dirty="0">
                <a:latin typeface="Arial"/>
                <a:cs typeface="Arial"/>
              </a:rPr>
              <a:t>a</a:t>
            </a:r>
            <a:r>
              <a:rPr sz="1000" i="1" dirty="0">
                <a:latin typeface="Arial"/>
                <a:cs typeface="Arial"/>
              </a:rPr>
              <a:t> </a:t>
            </a:r>
            <a:r>
              <a:rPr sz="1000" i="1" spc="-55"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dirty="0">
                <a:latin typeface="Arial"/>
                <a:cs typeface="Arial"/>
              </a:rPr>
              <a:t> </a:t>
            </a:r>
            <a:r>
              <a:rPr sz="1000" i="1" spc="45" dirty="0">
                <a:latin typeface="Arial"/>
                <a:cs typeface="Arial"/>
              </a:rPr>
              <a:t> </a:t>
            </a:r>
            <a:r>
              <a:rPr sz="1000" spc="50" dirty="0">
                <a:latin typeface="Arial"/>
                <a:cs typeface="Arial"/>
              </a:rPr>
              <a:t>)</a:t>
            </a:r>
            <a:endParaRPr sz="1000">
              <a:latin typeface="Arial"/>
              <a:cs typeface="Arial"/>
            </a:endParaRPr>
          </a:p>
        </p:txBody>
      </p:sp>
      <p:sp>
        <p:nvSpPr>
          <p:cNvPr id="23" name="object 23"/>
          <p:cNvSpPr txBox="1"/>
          <p:nvPr/>
        </p:nvSpPr>
        <p:spPr>
          <a:xfrm>
            <a:off x="317347" y="2535155"/>
            <a:ext cx="3441700" cy="482600"/>
          </a:xfrm>
          <a:prstGeom prst="rect">
            <a:avLst/>
          </a:prstGeom>
        </p:spPr>
        <p:txBody>
          <a:bodyPr vert="horz" wrap="square" lIns="0" tIns="88900" rIns="0" bIns="0" rtlCol="0">
            <a:spAutoFit/>
          </a:bodyPr>
          <a:lstStyle/>
          <a:p>
            <a:pPr marL="38100">
              <a:lnSpc>
                <a:spcPct val="100000"/>
              </a:lnSpc>
              <a:spcBef>
                <a:spcPts val="700"/>
              </a:spcBef>
            </a:pPr>
            <a:r>
              <a:rPr sz="1000" spc="-5" dirty="0">
                <a:latin typeface="Arial"/>
                <a:cs typeface="Arial"/>
              </a:rPr>
              <a:t>which</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processed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client</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constructing</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set</a:t>
            </a:r>
            <a:endParaRPr sz="1000">
              <a:latin typeface="Arial"/>
              <a:cs typeface="Arial"/>
            </a:endParaRPr>
          </a:p>
          <a:p>
            <a:pPr marL="319405">
              <a:lnSpc>
                <a:spcPct val="100000"/>
              </a:lnSpc>
              <a:spcBef>
                <a:spcPts val="600"/>
              </a:spcBef>
            </a:pPr>
            <a:r>
              <a:rPr sz="1500" spc="262" baseline="44444" dirty="0">
                <a:latin typeface="Arial"/>
                <a:cs typeface="Arial"/>
              </a:rPr>
              <a:t> </a:t>
            </a:r>
            <a:r>
              <a:rPr sz="1000" i="1" spc="-5" dirty="0">
                <a:latin typeface="Arial"/>
                <a:cs typeface="Arial"/>
              </a:rPr>
              <a:t>L</a:t>
            </a:r>
            <a:r>
              <a:rPr sz="1000" spc="50" dirty="0">
                <a:latin typeface="Arial"/>
                <a:cs typeface="Arial"/>
              </a:rPr>
              <a:t>(</a:t>
            </a:r>
            <a:r>
              <a:rPr sz="1000" i="1" spc="-5" dirty="0">
                <a:latin typeface="Arial"/>
                <a:cs typeface="Arial"/>
              </a:rPr>
              <a:t>a</a:t>
            </a:r>
            <a:r>
              <a:rPr sz="1050" i="1" spc="97" baseline="27777" dirty="0">
                <a:latin typeface="Arial"/>
                <a:cs typeface="Arial"/>
              </a:rPr>
              <a:t>1</a:t>
            </a:r>
            <a:r>
              <a:rPr sz="1000" i="1" spc="-5" dirty="0">
                <a:latin typeface="Arial"/>
                <a:cs typeface="Arial"/>
              </a:rPr>
              <a:t>,</a:t>
            </a:r>
            <a:r>
              <a:rPr sz="1000" i="1" spc="-170" dirty="0">
                <a:latin typeface="Arial"/>
                <a:cs typeface="Arial"/>
              </a:rPr>
              <a:t> </a:t>
            </a:r>
            <a:r>
              <a:rPr sz="1000" i="1" spc="-5" dirty="0">
                <a:latin typeface="Arial"/>
                <a:cs typeface="Arial"/>
              </a:rPr>
              <a:t>v</a:t>
            </a:r>
            <a:r>
              <a:rPr sz="1000" i="1" spc="-180" dirty="0">
                <a:latin typeface="Arial"/>
                <a:cs typeface="Arial"/>
              </a:rPr>
              <a:t> </a:t>
            </a:r>
            <a:r>
              <a:rPr sz="1050" i="1" spc="97" baseline="27777" dirty="0">
                <a:latin typeface="Arial"/>
                <a:cs typeface="Arial"/>
              </a:rPr>
              <a:t>1</a:t>
            </a:r>
            <a:r>
              <a:rPr sz="1000" spc="50" dirty="0">
                <a:latin typeface="Arial"/>
                <a:cs typeface="Arial"/>
              </a:rPr>
              <a:t>)</a:t>
            </a:r>
            <a:r>
              <a:rPr sz="1000" spc="-140" dirty="0">
                <a:latin typeface="Arial"/>
                <a:cs typeface="Arial"/>
              </a:rPr>
              <a:t> </a:t>
            </a:r>
            <a:r>
              <a:rPr sz="1000" i="1" spc="-10" dirty="0">
                <a:latin typeface="メイリオ"/>
                <a:cs typeface="メイリオ"/>
              </a:rPr>
              <a:t>∩</a:t>
            </a:r>
            <a:r>
              <a:rPr sz="1000" i="1" spc="-5" dirty="0">
                <a:latin typeface="Arial"/>
                <a:cs typeface="Arial"/>
              </a:rPr>
              <a:t>L</a:t>
            </a:r>
            <a:r>
              <a:rPr sz="1000" spc="50" dirty="0">
                <a:latin typeface="Arial"/>
                <a:cs typeface="Arial"/>
              </a:rPr>
              <a:t>(</a:t>
            </a:r>
            <a:r>
              <a:rPr sz="1000" i="1" spc="-5" dirty="0">
                <a:latin typeface="Arial"/>
                <a:cs typeface="Arial"/>
              </a:rPr>
              <a:t>a</a:t>
            </a:r>
            <a:r>
              <a:rPr sz="1050" i="1" spc="30" baseline="27777" dirty="0">
                <a:latin typeface="Arial"/>
                <a:cs typeface="Arial"/>
              </a:rPr>
              <a:t>2</a:t>
            </a:r>
            <a:r>
              <a:rPr sz="1050" i="1" spc="-157" baseline="27777"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spc="-180" dirty="0">
                <a:latin typeface="Arial"/>
                <a:cs typeface="Arial"/>
              </a:rPr>
              <a:t> </a:t>
            </a:r>
            <a:r>
              <a:rPr sz="1050" i="1" spc="30" baseline="27777" dirty="0">
                <a:latin typeface="Arial"/>
                <a:cs typeface="Arial"/>
              </a:rPr>
              <a:t>2</a:t>
            </a:r>
            <a:r>
              <a:rPr sz="1050" i="1" spc="-157" baseline="27777" dirty="0">
                <a:latin typeface="Arial"/>
                <a:cs typeface="Arial"/>
              </a:rPr>
              <a:t> </a:t>
            </a:r>
            <a:r>
              <a:rPr sz="1000" spc="50" dirty="0">
                <a:latin typeface="Arial"/>
                <a:cs typeface="Arial"/>
              </a:rPr>
              <a:t>)</a:t>
            </a:r>
            <a:r>
              <a:rPr sz="1500" spc="262" baseline="44444" dirty="0">
                <a:latin typeface="Arial"/>
                <a:cs typeface="Arial"/>
              </a:rPr>
              <a:t> </a:t>
            </a:r>
            <a:r>
              <a:rPr sz="1500" spc="-209" baseline="44444" dirty="0">
                <a:latin typeface="Arial"/>
                <a:cs typeface="Arial"/>
              </a:rPr>
              <a:t> </a:t>
            </a:r>
            <a:r>
              <a:rPr sz="1000" i="1" spc="-10" dirty="0">
                <a:latin typeface="メイリオ"/>
                <a:cs typeface="メイリオ"/>
              </a:rPr>
              <a:t>∪</a:t>
            </a:r>
            <a:r>
              <a:rPr sz="1000" i="1" spc="-5" dirty="0">
                <a:latin typeface="Arial"/>
                <a:cs typeface="Arial"/>
              </a:rPr>
              <a:t>L</a:t>
            </a:r>
            <a:r>
              <a:rPr sz="1000" spc="50" dirty="0">
                <a:latin typeface="Arial"/>
                <a:cs typeface="Arial"/>
              </a:rPr>
              <a:t>(</a:t>
            </a:r>
            <a:r>
              <a:rPr sz="1000" i="1" spc="-5" dirty="0">
                <a:latin typeface="Arial"/>
                <a:cs typeface="Arial"/>
              </a:rPr>
              <a:t>a</a:t>
            </a:r>
            <a:r>
              <a:rPr sz="1050" i="1" spc="30" baseline="27777" dirty="0">
                <a:latin typeface="Arial"/>
                <a:cs typeface="Arial"/>
              </a:rPr>
              <a:t>3</a:t>
            </a:r>
            <a:r>
              <a:rPr sz="1050" i="1" spc="-157" baseline="27777" dirty="0">
                <a:latin typeface="Arial"/>
                <a:cs typeface="Arial"/>
              </a:rPr>
              <a:t> </a:t>
            </a:r>
            <a:r>
              <a:rPr sz="1000" i="1" spc="-5" dirty="0">
                <a:latin typeface="Arial"/>
                <a:cs typeface="Arial"/>
              </a:rPr>
              <a:t>,</a:t>
            </a:r>
            <a:r>
              <a:rPr sz="1000" i="1" spc="-170" dirty="0">
                <a:latin typeface="Arial"/>
                <a:cs typeface="Arial"/>
              </a:rPr>
              <a:t> </a:t>
            </a:r>
            <a:r>
              <a:rPr sz="1000" i="1" spc="-5" dirty="0">
                <a:latin typeface="Arial"/>
                <a:cs typeface="Arial"/>
              </a:rPr>
              <a:t>v</a:t>
            </a:r>
            <a:r>
              <a:rPr sz="1000" i="1" spc="-180" dirty="0">
                <a:latin typeface="Arial"/>
                <a:cs typeface="Arial"/>
              </a:rPr>
              <a:t> </a:t>
            </a:r>
            <a:r>
              <a:rPr sz="1050" i="1" spc="30" baseline="27777" dirty="0">
                <a:latin typeface="Arial"/>
                <a:cs typeface="Arial"/>
              </a:rPr>
              <a:t>3</a:t>
            </a:r>
            <a:r>
              <a:rPr sz="1050" i="1" spc="-157" baseline="27777" dirty="0">
                <a:latin typeface="Arial"/>
                <a:cs typeface="Arial"/>
              </a:rPr>
              <a:t> </a:t>
            </a:r>
            <a:r>
              <a:rPr sz="1000" spc="50" dirty="0">
                <a:latin typeface="Arial"/>
                <a:cs typeface="Arial"/>
              </a:rPr>
              <a:t>)</a:t>
            </a:r>
            <a:endParaRPr sz="100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85407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Using</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distributed</a:t>
            </a:r>
            <a:r>
              <a:rPr sz="600" spc="-10" dirty="0">
                <a:solidFill>
                  <a:srgbClr val="3333B2"/>
                </a:solidFill>
                <a:latin typeface="Arial"/>
                <a:cs typeface="Arial"/>
                <a:hlinkClick r:id="rId3" action="ppaction://hlinksldjump"/>
              </a:rPr>
              <a:t> index</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44</a:t>
            </a:r>
            <a:r>
              <a:rPr spc="-40" dirty="0"/>
              <a:t> </a:t>
            </a:r>
            <a:r>
              <a:rPr spc="-5" dirty="0"/>
              <a:t>/</a:t>
            </a:r>
            <a:r>
              <a:rPr spc="-35" dirty="0"/>
              <a:t> </a:t>
            </a:r>
            <a:r>
              <a:rPr spc="-5" dirty="0"/>
              <a:t>46</a:t>
            </a: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5" action="ppaction://hlinksldjump"/>
              </a:rPr>
              <a:t>Attribute-based naming</a:t>
            </a:r>
            <a:endParaRPr sz="600">
              <a:latin typeface="Arial"/>
              <a:cs typeface="Arial"/>
            </a:endParaRPr>
          </a:p>
        </p:txBody>
      </p:sp>
      <p:sp>
        <p:nvSpPr>
          <p:cNvPr id="3" name="object 3"/>
          <p:cNvSpPr txBox="1"/>
          <p:nvPr/>
        </p:nvSpPr>
        <p:spPr>
          <a:xfrm>
            <a:off x="3479950" y="716"/>
            <a:ext cx="10617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Decentralized</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implementations</a:t>
            </a:r>
            <a:endParaRPr sz="600">
              <a:latin typeface="Arial"/>
              <a:cs typeface="Arial"/>
            </a:endParaRPr>
          </a:p>
        </p:txBody>
      </p:sp>
      <p:sp>
        <p:nvSpPr>
          <p:cNvPr id="4" name="object 4"/>
          <p:cNvSpPr txBox="1"/>
          <p:nvPr/>
        </p:nvSpPr>
        <p:spPr>
          <a:xfrm>
            <a:off x="95300" y="188846"/>
            <a:ext cx="249110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Drawbacks</a:t>
            </a:r>
            <a:r>
              <a:rPr sz="1400" spc="-10" dirty="0">
                <a:solidFill>
                  <a:srgbClr val="3333B2"/>
                </a:solidFill>
                <a:latin typeface="Arial"/>
                <a:cs typeface="Arial"/>
              </a:rPr>
              <a:t> </a:t>
            </a:r>
            <a:r>
              <a:rPr sz="1400" spc="10" dirty="0">
                <a:solidFill>
                  <a:srgbClr val="3333B2"/>
                </a:solidFill>
                <a:latin typeface="Arial"/>
                <a:cs typeface="Arial"/>
              </a:rPr>
              <a:t>of</a:t>
            </a:r>
            <a:r>
              <a:rPr sz="1400" spc="-5" dirty="0">
                <a:solidFill>
                  <a:srgbClr val="3333B2"/>
                </a:solidFill>
                <a:latin typeface="Arial"/>
                <a:cs typeface="Arial"/>
              </a:rPr>
              <a:t> </a:t>
            </a:r>
            <a:r>
              <a:rPr sz="1400" spc="10" dirty="0">
                <a:solidFill>
                  <a:srgbClr val="3333B2"/>
                </a:solidFill>
                <a:latin typeface="Arial"/>
                <a:cs typeface="Arial"/>
              </a:rPr>
              <a:t>distributed</a:t>
            </a:r>
            <a:r>
              <a:rPr sz="1400" spc="-5" dirty="0">
                <a:solidFill>
                  <a:srgbClr val="3333B2"/>
                </a:solidFill>
                <a:latin typeface="Arial"/>
                <a:cs typeface="Arial"/>
              </a:rPr>
              <a:t> </a:t>
            </a:r>
            <a:r>
              <a:rPr sz="1400" spc="5" dirty="0">
                <a:solidFill>
                  <a:srgbClr val="3333B2"/>
                </a:solidFill>
                <a:latin typeface="Arial"/>
                <a:cs typeface="Arial"/>
              </a:rPr>
              <a:t>index</a:t>
            </a:r>
            <a:endParaRPr sz="1400" dirty="0">
              <a:latin typeface="Arial"/>
              <a:cs typeface="Arial"/>
            </a:endParaRPr>
          </a:p>
        </p:txBody>
      </p:sp>
      <p:sp>
        <p:nvSpPr>
          <p:cNvPr id="5" name="object 5"/>
          <p:cNvSpPr txBox="1"/>
          <p:nvPr/>
        </p:nvSpPr>
        <p:spPr>
          <a:xfrm>
            <a:off x="283794" y="911401"/>
            <a:ext cx="3928110" cy="1437005"/>
          </a:xfrm>
          <a:prstGeom prst="rect">
            <a:avLst/>
          </a:prstGeom>
        </p:spPr>
        <p:txBody>
          <a:bodyPr vert="horz" wrap="square" lIns="0" tIns="102235" rIns="0" bIns="0" rtlCol="0">
            <a:spAutoFit/>
          </a:bodyPr>
          <a:lstStyle/>
          <a:p>
            <a:pPr marL="76200">
              <a:lnSpc>
                <a:spcPct val="100000"/>
              </a:lnSpc>
              <a:spcBef>
                <a:spcPts val="805"/>
              </a:spcBef>
            </a:pPr>
            <a:r>
              <a:rPr sz="1200" spc="-5" dirty="0">
                <a:solidFill>
                  <a:srgbClr val="3333B2"/>
                </a:solidFill>
                <a:latin typeface="Arial"/>
                <a:cs typeface="Arial"/>
              </a:rPr>
              <a:t>Quite</a:t>
            </a:r>
            <a:r>
              <a:rPr sz="1200" spc="-35" dirty="0">
                <a:solidFill>
                  <a:srgbClr val="3333B2"/>
                </a:solidFill>
                <a:latin typeface="Arial"/>
                <a:cs typeface="Arial"/>
              </a:rPr>
              <a:t> </a:t>
            </a:r>
            <a:r>
              <a:rPr sz="1200" spc="-5" dirty="0">
                <a:solidFill>
                  <a:srgbClr val="3333B2"/>
                </a:solidFill>
                <a:latin typeface="Arial"/>
                <a:cs typeface="Arial"/>
              </a:rPr>
              <a:t>a</a:t>
            </a:r>
            <a:r>
              <a:rPr sz="1200" spc="-30" dirty="0">
                <a:solidFill>
                  <a:srgbClr val="3333B2"/>
                </a:solidFill>
                <a:latin typeface="Arial"/>
                <a:cs typeface="Arial"/>
              </a:rPr>
              <a:t> </a:t>
            </a:r>
            <a:r>
              <a:rPr sz="1200" spc="-25" dirty="0">
                <a:solidFill>
                  <a:srgbClr val="3333B2"/>
                </a:solidFill>
                <a:latin typeface="Arial"/>
                <a:cs typeface="Arial"/>
              </a:rPr>
              <a:t>few</a:t>
            </a:r>
            <a:endParaRPr sz="1200" dirty="0">
              <a:latin typeface="Arial"/>
              <a:cs typeface="Arial"/>
            </a:endParaRPr>
          </a:p>
          <a:p>
            <a:pPr marL="353060" indent="-168275">
              <a:lnSpc>
                <a:spcPct val="100000"/>
              </a:lnSpc>
              <a:spcBef>
                <a:spcPts val="590"/>
              </a:spcBef>
              <a:buClr>
                <a:srgbClr val="3333B2"/>
              </a:buClr>
              <a:buChar char="►"/>
              <a:tabLst>
                <a:tab pos="353695" algn="l"/>
              </a:tabLst>
            </a:pPr>
            <a:r>
              <a:rPr sz="1000" spc="-5" dirty="0">
                <a:latin typeface="Arial"/>
                <a:cs typeface="Arial"/>
              </a:rPr>
              <a:t>A</a:t>
            </a:r>
            <a:r>
              <a:rPr sz="1000" dirty="0">
                <a:latin typeface="Arial"/>
                <a:cs typeface="Arial"/>
              </a:rPr>
              <a:t> query </a:t>
            </a:r>
            <a:r>
              <a:rPr sz="1000" spc="-10" dirty="0">
                <a:latin typeface="Arial"/>
                <a:cs typeface="Arial"/>
              </a:rPr>
              <a:t>involving</a:t>
            </a:r>
            <a:r>
              <a:rPr sz="1000" dirty="0">
                <a:latin typeface="Arial"/>
                <a:cs typeface="Arial"/>
              </a:rPr>
              <a:t> </a:t>
            </a:r>
            <a:r>
              <a:rPr sz="1000" i="1" spc="-5" dirty="0">
                <a:latin typeface="Arial"/>
                <a:cs typeface="Arial"/>
              </a:rPr>
              <a:t>k</a:t>
            </a:r>
            <a:r>
              <a:rPr sz="1000" i="1" spc="105" dirty="0">
                <a:latin typeface="Arial"/>
                <a:cs typeface="Arial"/>
              </a:rPr>
              <a:t> </a:t>
            </a:r>
            <a:r>
              <a:rPr sz="1000" spc="-5" dirty="0">
                <a:latin typeface="Arial"/>
                <a:cs typeface="Arial"/>
              </a:rPr>
              <a:t>attributes</a:t>
            </a:r>
            <a:r>
              <a:rPr sz="1000" dirty="0">
                <a:latin typeface="Arial"/>
                <a:cs typeface="Arial"/>
              </a:rPr>
              <a:t> </a:t>
            </a:r>
            <a:r>
              <a:rPr sz="1000" spc="-5" dirty="0">
                <a:latin typeface="Arial"/>
                <a:cs typeface="Arial"/>
              </a:rPr>
              <a:t>requires</a:t>
            </a:r>
            <a:r>
              <a:rPr sz="1000" dirty="0">
                <a:latin typeface="Arial"/>
                <a:cs typeface="Arial"/>
              </a:rPr>
              <a:t> </a:t>
            </a:r>
            <a:r>
              <a:rPr sz="1000" spc="-5" dirty="0">
                <a:latin typeface="Arial"/>
                <a:cs typeface="Arial"/>
              </a:rPr>
              <a:t>contacting</a:t>
            </a:r>
            <a:r>
              <a:rPr sz="1000" dirty="0">
                <a:latin typeface="Arial"/>
                <a:cs typeface="Arial"/>
              </a:rPr>
              <a:t> </a:t>
            </a:r>
            <a:r>
              <a:rPr sz="1000" i="1" spc="-5" dirty="0">
                <a:latin typeface="Arial"/>
                <a:cs typeface="Arial"/>
              </a:rPr>
              <a:t>k</a:t>
            </a:r>
            <a:r>
              <a:rPr sz="1000" i="1" spc="105" dirty="0">
                <a:latin typeface="Arial"/>
                <a:cs typeface="Arial"/>
              </a:rPr>
              <a:t> </a:t>
            </a:r>
            <a:r>
              <a:rPr sz="1000" spc="-5" dirty="0">
                <a:latin typeface="Arial"/>
                <a:cs typeface="Arial"/>
              </a:rPr>
              <a:t>servers</a:t>
            </a:r>
            <a:endParaRPr sz="1000" dirty="0">
              <a:latin typeface="Arial"/>
              <a:cs typeface="Arial"/>
            </a:endParaRPr>
          </a:p>
          <a:p>
            <a:pPr marL="353060" marR="30480" indent="-168275">
              <a:lnSpc>
                <a:spcPct val="100000"/>
              </a:lnSpc>
              <a:spcBef>
                <a:spcPts val="595"/>
              </a:spcBef>
              <a:buClr>
                <a:srgbClr val="3333B2"/>
              </a:buClr>
              <a:buChar char="►"/>
              <a:tabLst>
                <a:tab pos="353695" algn="l"/>
              </a:tabLst>
            </a:pPr>
            <a:r>
              <a:rPr sz="1000" spc="-5" dirty="0">
                <a:latin typeface="Arial"/>
                <a:cs typeface="Arial"/>
              </a:rPr>
              <a:t>Imagine looking</a:t>
            </a:r>
            <a:r>
              <a:rPr sz="1000" dirty="0">
                <a:latin typeface="Arial"/>
                <a:cs typeface="Arial"/>
              </a:rPr>
              <a:t> </a:t>
            </a:r>
            <a:r>
              <a:rPr sz="1000" spc="-5" dirty="0">
                <a:latin typeface="Arial"/>
                <a:cs typeface="Arial"/>
              </a:rPr>
              <a:t>up</a:t>
            </a:r>
            <a:r>
              <a:rPr sz="1000" dirty="0">
                <a:latin typeface="Arial"/>
                <a:cs typeface="Arial"/>
              </a:rPr>
              <a:t> </a:t>
            </a:r>
            <a:r>
              <a:rPr sz="1000" spc="-5" dirty="0">
                <a:latin typeface="Arial"/>
                <a:cs typeface="Arial"/>
              </a:rPr>
              <a:t>“</a:t>
            </a:r>
            <a:r>
              <a:rPr sz="1000" i="1" spc="-5" dirty="0">
                <a:latin typeface="Arial"/>
                <a:cs typeface="Arial"/>
              </a:rPr>
              <a:t>lastName</a:t>
            </a:r>
            <a:r>
              <a:rPr sz="1000" i="1" spc="-30" dirty="0">
                <a:latin typeface="Arial"/>
                <a:cs typeface="Arial"/>
              </a:rPr>
              <a:t> </a:t>
            </a:r>
            <a:r>
              <a:rPr sz="1000" spc="190" dirty="0">
                <a:latin typeface="Arial"/>
                <a:cs typeface="Arial"/>
              </a:rPr>
              <a:t>=</a:t>
            </a:r>
            <a:r>
              <a:rPr sz="1000" spc="-60" dirty="0">
                <a:latin typeface="Arial"/>
                <a:cs typeface="Arial"/>
              </a:rPr>
              <a:t> </a:t>
            </a:r>
            <a:r>
              <a:rPr sz="1000" i="1" spc="-5" dirty="0">
                <a:latin typeface="Arial"/>
                <a:cs typeface="Arial"/>
              </a:rPr>
              <a:t>Smith</a:t>
            </a:r>
            <a:r>
              <a:rPr sz="1000" i="1" spc="-120" dirty="0">
                <a:latin typeface="Arial"/>
                <a:cs typeface="Arial"/>
              </a:rPr>
              <a:t> </a:t>
            </a:r>
            <a:r>
              <a:rPr sz="1000" i="1" spc="-5" dirty="0">
                <a:latin typeface="メイリオ"/>
                <a:cs typeface="メイリオ"/>
              </a:rPr>
              <a:t>∧</a:t>
            </a:r>
            <a:r>
              <a:rPr sz="1000" i="1" spc="-5" dirty="0">
                <a:latin typeface="Arial"/>
                <a:cs typeface="Arial"/>
              </a:rPr>
              <a:t>firstName</a:t>
            </a:r>
            <a:r>
              <a:rPr sz="1000" i="1" spc="-35" dirty="0">
                <a:latin typeface="Arial"/>
                <a:cs typeface="Arial"/>
              </a:rPr>
              <a:t> </a:t>
            </a:r>
            <a:r>
              <a:rPr sz="1000" spc="190" dirty="0">
                <a:latin typeface="Arial"/>
                <a:cs typeface="Arial"/>
              </a:rPr>
              <a:t>=</a:t>
            </a:r>
            <a:r>
              <a:rPr sz="1000" spc="-55" dirty="0">
                <a:latin typeface="Arial"/>
                <a:cs typeface="Arial"/>
              </a:rPr>
              <a:t> </a:t>
            </a:r>
            <a:r>
              <a:rPr sz="1000" i="1" spc="-5" dirty="0">
                <a:latin typeface="Arial"/>
                <a:cs typeface="Arial"/>
              </a:rPr>
              <a:t>Pheriby</a:t>
            </a:r>
            <a:r>
              <a:rPr sz="1000" i="1" spc="-180" dirty="0">
                <a:latin typeface="Arial"/>
                <a:cs typeface="Arial"/>
              </a:rPr>
              <a:t> </a:t>
            </a:r>
            <a:r>
              <a:rPr sz="1000" spc="-5" dirty="0">
                <a:latin typeface="Arial"/>
                <a:cs typeface="Arial"/>
              </a:rPr>
              <a:t>”: </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process</a:t>
            </a:r>
            <a:r>
              <a:rPr sz="1000" dirty="0">
                <a:latin typeface="Arial"/>
                <a:cs typeface="Arial"/>
              </a:rPr>
              <a:t> </a:t>
            </a:r>
            <a:r>
              <a:rPr sz="1000" spc="-10" dirty="0">
                <a:solidFill>
                  <a:srgbClr val="0000FA"/>
                </a:solidFill>
                <a:latin typeface="Arial"/>
                <a:cs typeface="Arial"/>
              </a:rPr>
              <a:t>many</a:t>
            </a:r>
            <a:r>
              <a:rPr sz="1000" dirty="0">
                <a:solidFill>
                  <a:srgbClr val="0000FA"/>
                </a:solidFill>
                <a:latin typeface="Arial"/>
                <a:cs typeface="Arial"/>
              </a:rPr>
              <a:t> </a:t>
            </a:r>
            <a:r>
              <a:rPr sz="1000" spc="-5" dirty="0">
                <a:latin typeface="Arial"/>
                <a:cs typeface="Arial"/>
              </a:rPr>
              <a:t>files</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there</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so</a:t>
            </a:r>
            <a:r>
              <a:rPr sz="1000" dirty="0">
                <a:latin typeface="Arial"/>
                <a:cs typeface="Arial"/>
              </a:rPr>
              <a:t> </a:t>
            </a:r>
            <a:r>
              <a:rPr sz="1000" spc="-10" dirty="0">
                <a:latin typeface="Arial"/>
                <a:cs typeface="Arial"/>
              </a:rPr>
              <a:t>many </a:t>
            </a:r>
            <a:r>
              <a:rPr sz="1000" spc="-260" dirty="0">
                <a:latin typeface="Arial"/>
                <a:cs typeface="Arial"/>
              </a:rPr>
              <a:t> </a:t>
            </a:r>
            <a:r>
              <a:rPr sz="1000" spc="-5" dirty="0">
                <a:latin typeface="Arial"/>
                <a:cs typeface="Arial"/>
              </a:rPr>
              <a:t>people</a:t>
            </a:r>
            <a:r>
              <a:rPr sz="1000" spc="-10" dirty="0">
                <a:latin typeface="Arial"/>
                <a:cs typeface="Arial"/>
              </a:rPr>
              <a:t> </a:t>
            </a:r>
            <a:r>
              <a:rPr sz="1000" spc="-5" dirty="0">
                <a:latin typeface="Arial"/>
                <a:cs typeface="Arial"/>
              </a:rPr>
              <a:t>named </a:t>
            </a:r>
            <a:r>
              <a:rPr sz="1000" spc="-15" dirty="0">
                <a:latin typeface="Arial"/>
                <a:cs typeface="Arial"/>
              </a:rPr>
              <a:t>“Smith.”</a:t>
            </a:r>
            <a:endParaRPr sz="1000" dirty="0">
              <a:latin typeface="Arial"/>
              <a:cs typeface="Arial"/>
            </a:endParaRPr>
          </a:p>
          <a:p>
            <a:pPr marL="340360" marR="1061720" indent="-155575">
              <a:lnSpc>
                <a:spcPct val="100000"/>
              </a:lnSpc>
              <a:spcBef>
                <a:spcPts val="585"/>
              </a:spcBef>
              <a:buClr>
                <a:srgbClr val="3333B2"/>
              </a:buClr>
              <a:buChar char="►"/>
              <a:tabLst>
                <a:tab pos="353695" algn="l"/>
              </a:tabLst>
            </a:pPr>
            <a:r>
              <a:rPr sz="1000" spc="-5" dirty="0">
                <a:latin typeface="Arial"/>
                <a:cs typeface="Arial"/>
              </a:rPr>
              <a:t>No (easy) </a:t>
            </a:r>
            <a:r>
              <a:rPr sz="1000" dirty="0">
                <a:latin typeface="Arial"/>
                <a:cs typeface="Arial"/>
              </a:rPr>
              <a:t>support </a:t>
            </a:r>
            <a:r>
              <a:rPr sz="1000" spc="-15" dirty="0">
                <a:latin typeface="Arial"/>
                <a:cs typeface="Arial"/>
              </a:rPr>
              <a:t>for</a:t>
            </a:r>
            <a:r>
              <a:rPr sz="1000" spc="-5" dirty="0">
                <a:latin typeface="Arial"/>
                <a:cs typeface="Arial"/>
              </a:rPr>
              <a:t> </a:t>
            </a:r>
            <a:r>
              <a:rPr sz="1000" spc="-5" dirty="0">
                <a:solidFill>
                  <a:srgbClr val="FA0000"/>
                </a:solidFill>
                <a:latin typeface="Arial"/>
                <a:cs typeface="Arial"/>
              </a:rPr>
              <a:t>range</a:t>
            </a:r>
            <a:r>
              <a:rPr sz="1000" dirty="0">
                <a:solidFill>
                  <a:srgbClr val="FA0000"/>
                </a:solidFill>
                <a:latin typeface="Arial"/>
                <a:cs typeface="Arial"/>
              </a:rPr>
              <a:t> </a:t>
            </a:r>
            <a:r>
              <a:rPr sz="1000" spc="-5" dirty="0">
                <a:solidFill>
                  <a:srgbClr val="FA0000"/>
                </a:solidFill>
                <a:latin typeface="Arial"/>
                <a:cs typeface="Arial"/>
              </a:rPr>
              <a:t>queries</a:t>
            </a:r>
            <a:r>
              <a:rPr sz="1000" spc="-5" dirty="0">
                <a:latin typeface="Arial"/>
                <a:cs typeface="Arial"/>
              </a:rPr>
              <a:t>, such</a:t>
            </a:r>
            <a:r>
              <a:rPr sz="1000" dirty="0">
                <a:latin typeface="Arial"/>
                <a:cs typeface="Arial"/>
              </a:rPr>
              <a:t> </a:t>
            </a:r>
            <a:r>
              <a:rPr sz="1000" spc="-5" dirty="0">
                <a:latin typeface="Arial"/>
                <a:cs typeface="Arial"/>
              </a:rPr>
              <a:t>as </a:t>
            </a:r>
            <a:r>
              <a:rPr sz="1000" spc="-265" dirty="0">
                <a:latin typeface="Arial"/>
                <a:cs typeface="Arial"/>
              </a:rPr>
              <a:t> </a:t>
            </a:r>
            <a:r>
              <a:rPr sz="1000" spc="-5" dirty="0">
                <a:latin typeface="Arial"/>
                <a:cs typeface="Arial"/>
              </a:rPr>
              <a:t>“</a:t>
            </a:r>
            <a:r>
              <a:rPr sz="1000" i="1" spc="-5" dirty="0">
                <a:latin typeface="Arial"/>
                <a:cs typeface="Arial"/>
              </a:rPr>
              <a:t>p</a:t>
            </a:r>
            <a:r>
              <a:rPr sz="1000" i="1" spc="5" dirty="0">
                <a:latin typeface="Arial"/>
                <a:cs typeface="Arial"/>
              </a:rPr>
              <a:t>r</a:t>
            </a:r>
            <a:r>
              <a:rPr sz="1000" i="1" spc="-5" dirty="0">
                <a:latin typeface="Arial"/>
                <a:cs typeface="Arial"/>
              </a:rPr>
              <a:t>ice</a:t>
            </a:r>
            <a:r>
              <a:rPr sz="1000" i="1" spc="-40" dirty="0">
                <a:latin typeface="Arial"/>
                <a:cs typeface="Arial"/>
              </a:rPr>
              <a:t> </a:t>
            </a:r>
            <a:r>
              <a:rPr sz="1000" spc="190" dirty="0">
                <a:latin typeface="Arial"/>
                <a:cs typeface="Arial"/>
              </a:rPr>
              <a:t>=</a:t>
            </a:r>
            <a:r>
              <a:rPr sz="1000" spc="-60" dirty="0">
                <a:latin typeface="Arial"/>
                <a:cs typeface="Arial"/>
              </a:rPr>
              <a:t> </a:t>
            </a:r>
            <a:r>
              <a:rPr sz="1000" spc="5" dirty="0">
                <a:latin typeface="Arial"/>
                <a:cs typeface="Arial"/>
              </a:rPr>
              <a:t>[</a:t>
            </a:r>
            <a:r>
              <a:rPr sz="1000" i="1" spc="-5" dirty="0">
                <a:latin typeface="Arial"/>
                <a:cs typeface="Arial"/>
              </a:rPr>
              <a:t>1000</a:t>
            </a:r>
            <a:r>
              <a:rPr sz="1000" i="1" spc="-90" dirty="0">
                <a:latin typeface="Arial"/>
                <a:cs typeface="Arial"/>
              </a:rPr>
              <a:t> </a:t>
            </a:r>
            <a:r>
              <a:rPr sz="1000" i="1" spc="-30" dirty="0">
                <a:latin typeface="メイリオ"/>
                <a:cs typeface="メイリオ"/>
              </a:rPr>
              <a:t>−</a:t>
            </a:r>
            <a:r>
              <a:rPr sz="1000" i="1" spc="-204" dirty="0">
                <a:latin typeface="メイリオ"/>
                <a:cs typeface="メイリオ"/>
              </a:rPr>
              <a:t> </a:t>
            </a:r>
            <a:r>
              <a:rPr sz="1000" i="1" spc="-5" dirty="0">
                <a:latin typeface="Arial"/>
                <a:cs typeface="Arial"/>
              </a:rPr>
              <a:t>250</a:t>
            </a:r>
            <a:r>
              <a:rPr sz="1000" i="1" spc="45" dirty="0">
                <a:latin typeface="Arial"/>
                <a:cs typeface="Arial"/>
              </a:rPr>
              <a:t>0</a:t>
            </a:r>
            <a:r>
              <a:rPr sz="1000" spc="5" dirty="0">
                <a:latin typeface="Arial"/>
                <a:cs typeface="Arial"/>
              </a:rPr>
              <a:t>]</a:t>
            </a:r>
            <a:r>
              <a:rPr sz="1000" spc="-105" dirty="0">
                <a:latin typeface="Arial"/>
                <a:cs typeface="Arial"/>
              </a:rPr>
              <a:t>.</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25825" algn="l"/>
              </a:tabLst>
            </a:pPr>
            <a:r>
              <a:rPr sz="600" spc="-5" dirty="0">
                <a:solidFill>
                  <a:srgbClr val="3333B2"/>
                </a:solidFill>
                <a:latin typeface="Arial"/>
                <a:cs typeface="Arial"/>
                <a:hlinkClick r:id="rId3" action="ppaction://hlinksldjump"/>
              </a:rPr>
              <a:t>Naming:</a:t>
            </a:r>
            <a:r>
              <a:rPr sz="600" spc="175" dirty="0">
                <a:solidFill>
                  <a:srgbClr val="3333B2"/>
                </a:solidFill>
                <a:latin typeface="Arial"/>
                <a:cs typeface="Arial"/>
              </a:rPr>
              <a:t> </a:t>
            </a:r>
            <a:r>
              <a:rPr sz="600" spc="-5" dirty="0">
                <a:solidFill>
                  <a:srgbClr val="3333B2"/>
                </a:solidFill>
                <a:latin typeface="Arial"/>
                <a:cs typeface="Arial"/>
                <a:hlinkClick r:id="rId4" action="ppaction://hlinksldjump"/>
              </a:rPr>
              <a:t>Attribute-based</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naming</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Decentralized</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implementations</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2540" rIns="0" bIns="0" rtlCol="0">
            <a:spAutoFit/>
          </a:bodyPr>
          <a:lstStyle/>
          <a:p>
            <a:pPr marL="12700" marR="5080">
              <a:lnSpc>
                <a:spcPct val="106700"/>
              </a:lnSpc>
              <a:spcBef>
                <a:spcPts val="20"/>
              </a:spcBef>
            </a:pPr>
            <a:r>
              <a:rPr spc="10" dirty="0"/>
              <a:t>Alternative:</a:t>
            </a:r>
            <a:r>
              <a:rPr spc="105" dirty="0"/>
              <a:t> </a:t>
            </a:r>
            <a:r>
              <a:rPr spc="20" dirty="0"/>
              <a:t>map</a:t>
            </a:r>
            <a:r>
              <a:rPr spc="10" dirty="0"/>
              <a:t> all attributes to </a:t>
            </a:r>
            <a:r>
              <a:rPr spc="15" dirty="0"/>
              <a:t>1</a:t>
            </a:r>
            <a:r>
              <a:rPr spc="10" dirty="0"/>
              <a:t> </a:t>
            </a:r>
            <a:r>
              <a:rPr spc="15" dirty="0"/>
              <a:t>dimension</a:t>
            </a:r>
            <a:r>
              <a:rPr spc="10" dirty="0"/>
              <a:t> </a:t>
            </a:r>
            <a:r>
              <a:rPr spc="15" dirty="0"/>
              <a:t>and</a:t>
            </a:r>
            <a:r>
              <a:rPr spc="10" dirty="0"/>
              <a:t> </a:t>
            </a:r>
            <a:r>
              <a:rPr spc="15" dirty="0"/>
              <a:t>then </a:t>
            </a:r>
            <a:r>
              <a:rPr spc="-375" dirty="0"/>
              <a:t> </a:t>
            </a:r>
            <a:r>
              <a:rPr spc="5" dirty="0"/>
              <a:t>index</a:t>
            </a:r>
          </a:p>
        </p:txBody>
      </p:sp>
      <p:sp>
        <p:nvSpPr>
          <p:cNvPr id="4" name="object 4"/>
          <p:cNvSpPr txBox="1">
            <a:spLocks noGrp="1"/>
          </p:cNvSpPr>
          <p:nvPr>
            <p:ph type="body" idx="1"/>
          </p:nvPr>
        </p:nvSpPr>
        <p:spPr>
          <a:prstGeom prst="rect">
            <a:avLst/>
          </a:prstGeom>
        </p:spPr>
        <p:txBody>
          <a:bodyPr vert="horz" wrap="square" lIns="0" tIns="12065" rIns="0" bIns="0" rtlCol="0">
            <a:spAutoFit/>
          </a:bodyPr>
          <a:lstStyle/>
          <a:p>
            <a:pPr marL="38100">
              <a:lnSpc>
                <a:spcPct val="100000"/>
              </a:lnSpc>
              <a:spcBef>
                <a:spcPts val="95"/>
              </a:spcBef>
            </a:pPr>
            <a:r>
              <a:rPr spc="-5" dirty="0"/>
              <a:t>Space-filling curves:</a:t>
            </a:r>
            <a:r>
              <a:rPr spc="75" dirty="0"/>
              <a:t> </a:t>
            </a:r>
            <a:r>
              <a:rPr spc="-5" dirty="0"/>
              <a:t>principle</a:t>
            </a:r>
          </a:p>
          <a:p>
            <a:pPr marL="314960" indent="-175260">
              <a:lnSpc>
                <a:spcPts val="1200"/>
              </a:lnSpc>
              <a:spcBef>
                <a:spcPts val="790"/>
              </a:spcBef>
              <a:buClr>
                <a:srgbClr val="3333B2"/>
              </a:buClr>
              <a:buAutoNum type="arabicPeriod"/>
              <a:tabLst>
                <a:tab pos="315595" algn="l"/>
              </a:tabLst>
            </a:pPr>
            <a:r>
              <a:rPr sz="1000" spc="-5" dirty="0">
                <a:solidFill>
                  <a:srgbClr val="000000"/>
                </a:solidFill>
              </a:rPr>
              <a:t>Map the</a:t>
            </a:r>
            <a:r>
              <a:rPr sz="1000" dirty="0">
                <a:solidFill>
                  <a:srgbClr val="000000"/>
                </a:solidFill>
              </a:rPr>
              <a:t> </a:t>
            </a:r>
            <a:r>
              <a:rPr sz="1000" i="1" dirty="0">
                <a:solidFill>
                  <a:srgbClr val="000000"/>
                </a:solidFill>
                <a:latin typeface="Arial"/>
                <a:cs typeface="Arial"/>
              </a:rPr>
              <a:t>N</a:t>
            </a:r>
            <a:r>
              <a:rPr sz="1000" dirty="0">
                <a:solidFill>
                  <a:srgbClr val="000000"/>
                </a:solidFill>
              </a:rPr>
              <a:t>-dimensional </a:t>
            </a:r>
            <a:r>
              <a:rPr sz="1000" spc="-5" dirty="0">
                <a:solidFill>
                  <a:srgbClr val="000000"/>
                </a:solidFill>
              </a:rPr>
              <a:t>space </a:t>
            </a:r>
            <a:r>
              <a:rPr sz="1000" spc="-10" dirty="0">
                <a:solidFill>
                  <a:srgbClr val="000000"/>
                </a:solidFill>
              </a:rPr>
              <a:t>covered</a:t>
            </a:r>
            <a:r>
              <a:rPr sz="1000" dirty="0">
                <a:solidFill>
                  <a:srgbClr val="000000"/>
                </a:solidFill>
              </a:rPr>
              <a:t> </a:t>
            </a:r>
            <a:r>
              <a:rPr sz="1000" spc="-15" dirty="0">
                <a:solidFill>
                  <a:srgbClr val="000000"/>
                </a:solidFill>
              </a:rPr>
              <a:t>by</a:t>
            </a:r>
            <a:r>
              <a:rPr sz="1000" dirty="0">
                <a:solidFill>
                  <a:srgbClr val="000000"/>
                </a:solidFill>
              </a:rPr>
              <a:t> </a:t>
            </a:r>
            <a:r>
              <a:rPr sz="1000" spc="-5" dirty="0">
                <a:solidFill>
                  <a:srgbClr val="000000"/>
                </a:solidFill>
              </a:rPr>
              <a:t>the</a:t>
            </a:r>
            <a:r>
              <a:rPr sz="1000" dirty="0">
                <a:solidFill>
                  <a:srgbClr val="000000"/>
                </a:solidFill>
              </a:rPr>
              <a:t> </a:t>
            </a:r>
            <a:r>
              <a:rPr sz="1000" i="1" spc="-5" dirty="0">
                <a:solidFill>
                  <a:srgbClr val="000000"/>
                </a:solidFill>
                <a:latin typeface="Arial"/>
                <a:cs typeface="Arial"/>
              </a:rPr>
              <a:t>N</a:t>
            </a:r>
            <a:r>
              <a:rPr sz="1000" i="1" spc="80" dirty="0">
                <a:solidFill>
                  <a:srgbClr val="000000"/>
                </a:solidFill>
                <a:latin typeface="Arial"/>
                <a:cs typeface="Arial"/>
              </a:rPr>
              <a:t> </a:t>
            </a:r>
            <a:r>
              <a:rPr sz="1000" spc="-5" dirty="0">
                <a:solidFill>
                  <a:srgbClr val="000000"/>
                </a:solidFill>
              </a:rPr>
              <a:t>attributes</a:t>
            </a:r>
            <a:endParaRPr sz="1000">
              <a:latin typeface="Arial"/>
              <a:cs typeface="Arial"/>
            </a:endParaRPr>
          </a:p>
          <a:p>
            <a:pPr marL="314960">
              <a:lnSpc>
                <a:spcPts val="1195"/>
              </a:lnSpc>
            </a:pPr>
            <a:r>
              <a:rPr sz="1000" i="1" spc="45" dirty="0">
                <a:solidFill>
                  <a:srgbClr val="000000"/>
                </a:solidFill>
                <a:latin typeface="メイリオ"/>
                <a:cs typeface="メイリオ"/>
              </a:rPr>
              <a:t>{</a:t>
            </a:r>
            <a:r>
              <a:rPr sz="1000" i="1" spc="45" dirty="0">
                <a:solidFill>
                  <a:srgbClr val="000000"/>
                </a:solidFill>
                <a:latin typeface="Arial"/>
                <a:cs typeface="Arial"/>
              </a:rPr>
              <a:t>a</a:t>
            </a:r>
            <a:r>
              <a:rPr sz="1050" i="1" spc="67" baseline="27777" dirty="0">
                <a:solidFill>
                  <a:srgbClr val="000000"/>
                </a:solidFill>
                <a:latin typeface="Arial"/>
                <a:cs typeface="Arial"/>
              </a:rPr>
              <a:t>1</a:t>
            </a:r>
            <a:r>
              <a:rPr sz="1000" i="1" spc="45" dirty="0">
                <a:solidFill>
                  <a:srgbClr val="000000"/>
                </a:solidFill>
                <a:latin typeface="Arial"/>
                <a:cs typeface="Arial"/>
              </a:rPr>
              <a:t>,...,</a:t>
            </a:r>
            <a:r>
              <a:rPr sz="1000" i="1" spc="-170" dirty="0">
                <a:solidFill>
                  <a:srgbClr val="000000"/>
                </a:solidFill>
                <a:latin typeface="Arial"/>
                <a:cs typeface="Arial"/>
              </a:rPr>
              <a:t> </a:t>
            </a:r>
            <a:r>
              <a:rPr sz="1000" i="1" spc="10" dirty="0">
                <a:solidFill>
                  <a:srgbClr val="000000"/>
                </a:solidFill>
                <a:latin typeface="Arial"/>
                <a:cs typeface="Arial"/>
              </a:rPr>
              <a:t>a</a:t>
            </a:r>
            <a:r>
              <a:rPr sz="1050" i="1" spc="15" baseline="27777" dirty="0">
                <a:solidFill>
                  <a:srgbClr val="000000"/>
                </a:solidFill>
                <a:latin typeface="Arial"/>
                <a:cs typeface="Arial"/>
              </a:rPr>
              <a:t>N</a:t>
            </a:r>
            <a:r>
              <a:rPr sz="1050" i="1" spc="-135" baseline="27777" dirty="0">
                <a:solidFill>
                  <a:srgbClr val="000000"/>
                </a:solidFill>
                <a:latin typeface="Arial"/>
                <a:cs typeface="Arial"/>
              </a:rPr>
              <a:t> </a:t>
            </a:r>
            <a:r>
              <a:rPr sz="1000" i="1" spc="-105" dirty="0">
                <a:solidFill>
                  <a:srgbClr val="000000"/>
                </a:solidFill>
                <a:latin typeface="メイリオ"/>
                <a:cs typeface="メイリオ"/>
              </a:rPr>
              <a:t>}</a:t>
            </a:r>
            <a:r>
              <a:rPr sz="1000" i="1" spc="-65" dirty="0">
                <a:solidFill>
                  <a:srgbClr val="000000"/>
                </a:solidFill>
                <a:latin typeface="メイリオ"/>
                <a:cs typeface="メイリオ"/>
              </a:rPr>
              <a:t> </a:t>
            </a:r>
            <a:r>
              <a:rPr sz="1000" spc="-5" dirty="0">
                <a:solidFill>
                  <a:srgbClr val="000000"/>
                </a:solidFill>
              </a:rPr>
              <a:t>into a single dimension</a:t>
            </a:r>
            <a:endParaRPr sz="1000">
              <a:latin typeface="メイリオ"/>
              <a:cs typeface="メイリオ"/>
            </a:endParaRPr>
          </a:p>
          <a:p>
            <a:pPr marL="314960" marR="30480" indent="-175260">
              <a:lnSpc>
                <a:spcPts val="1200"/>
              </a:lnSpc>
              <a:spcBef>
                <a:spcPts val="35"/>
              </a:spcBef>
              <a:buClr>
                <a:srgbClr val="3333B2"/>
              </a:buClr>
              <a:buAutoNum type="arabicPeriod" startAt="2"/>
              <a:tabLst>
                <a:tab pos="315595" algn="l"/>
              </a:tabLst>
            </a:pPr>
            <a:r>
              <a:rPr sz="1000" spc="-5" dirty="0">
                <a:solidFill>
                  <a:srgbClr val="000000"/>
                </a:solidFill>
              </a:rPr>
              <a:t>Hashing</a:t>
            </a:r>
            <a:r>
              <a:rPr sz="1000" dirty="0">
                <a:solidFill>
                  <a:srgbClr val="000000"/>
                </a:solidFill>
              </a:rPr>
              <a:t> </a:t>
            </a:r>
            <a:r>
              <a:rPr sz="1000" spc="-10" dirty="0">
                <a:solidFill>
                  <a:srgbClr val="000000"/>
                </a:solidFill>
              </a:rPr>
              <a:t>values</a:t>
            </a:r>
            <a:r>
              <a:rPr sz="1000" dirty="0">
                <a:solidFill>
                  <a:srgbClr val="000000"/>
                </a:solidFill>
              </a:rPr>
              <a:t> </a:t>
            </a:r>
            <a:r>
              <a:rPr sz="1000" spc="-5" dirty="0">
                <a:solidFill>
                  <a:srgbClr val="000000"/>
                </a:solidFill>
              </a:rPr>
              <a:t>in</a:t>
            </a:r>
            <a:r>
              <a:rPr sz="1000" spc="5" dirty="0">
                <a:solidFill>
                  <a:srgbClr val="000000"/>
                </a:solidFill>
              </a:rPr>
              <a:t> </a:t>
            </a:r>
            <a:r>
              <a:rPr sz="1000" spc="-5" dirty="0">
                <a:solidFill>
                  <a:srgbClr val="000000"/>
                </a:solidFill>
              </a:rPr>
              <a:t>order</a:t>
            </a:r>
            <a:r>
              <a:rPr sz="1000" dirty="0">
                <a:solidFill>
                  <a:srgbClr val="000000"/>
                </a:solidFill>
              </a:rPr>
              <a:t> </a:t>
            </a:r>
            <a:r>
              <a:rPr sz="1000" spc="-5" dirty="0">
                <a:solidFill>
                  <a:srgbClr val="000000"/>
                </a:solidFill>
              </a:rPr>
              <a:t>to</a:t>
            </a:r>
            <a:r>
              <a:rPr sz="1000" dirty="0">
                <a:solidFill>
                  <a:srgbClr val="000000"/>
                </a:solidFill>
              </a:rPr>
              <a:t> </a:t>
            </a:r>
            <a:r>
              <a:rPr sz="1000" spc="-5" dirty="0">
                <a:solidFill>
                  <a:srgbClr val="000000"/>
                </a:solidFill>
              </a:rPr>
              <a:t>distribute</a:t>
            </a:r>
            <a:r>
              <a:rPr sz="1000" spc="5" dirty="0">
                <a:solidFill>
                  <a:srgbClr val="000000"/>
                </a:solidFill>
              </a:rPr>
              <a:t> </a:t>
            </a:r>
            <a:r>
              <a:rPr sz="1000" spc="-5" dirty="0">
                <a:solidFill>
                  <a:srgbClr val="000000"/>
                </a:solidFill>
              </a:rPr>
              <a:t>the</a:t>
            </a:r>
            <a:r>
              <a:rPr sz="1000" dirty="0">
                <a:solidFill>
                  <a:srgbClr val="000000"/>
                </a:solidFill>
              </a:rPr>
              <a:t> </a:t>
            </a:r>
            <a:r>
              <a:rPr sz="1000" spc="-5" dirty="0">
                <a:solidFill>
                  <a:srgbClr val="000000"/>
                </a:solidFill>
              </a:rPr>
              <a:t>1-dimensional</a:t>
            </a:r>
            <a:r>
              <a:rPr sz="1000" spc="5" dirty="0">
                <a:solidFill>
                  <a:srgbClr val="000000"/>
                </a:solidFill>
              </a:rPr>
              <a:t> </a:t>
            </a:r>
            <a:r>
              <a:rPr sz="1000" spc="-5" dirty="0">
                <a:solidFill>
                  <a:srgbClr val="000000"/>
                </a:solidFill>
              </a:rPr>
              <a:t>space </a:t>
            </a:r>
            <a:r>
              <a:rPr sz="1000" spc="-265" dirty="0">
                <a:solidFill>
                  <a:srgbClr val="000000"/>
                </a:solidFill>
              </a:rPr>
              <a:t> </a:t>
            </a:r>
            <a:r>
              <a:rPr sz="1000" spc="-5" dirty="0">
                <a:solidFill>
                  <a:srgbClr val="000000"/>
                </a:solidFill>
              </a:rPr>
              <a:t>among</a:t>
            </a:r>
            <a:r>
              <a:rPr sz="1000" spc="-10" dirty="0">
                <a:solidFill>
                  <a:srgbClr val="000000"/>
                </a:solidFill>
              </a:rPr>
              <a:t> index</a:t>
            </a:r>
            <a:r>
              <a:rPr sz="1000" spc="-5" dirty="0">
                <a:solidFill>
                  <a:srgbClr val="000000"/>
                </a:solidFill>
              </a:rPr>
              <a:t> servers.</a:t>
            </a:r>
            <a:endParaRPr sz="1000"/>
          </a:p>
          <a:p>
            <a:pPr marL="38100">
              <a:lnSpc>
                <a:spcPct val="100000"/>
              </a:lnSpc>
              <a:spcBef>
                <a:spcPts val="570"/>
              </a:spcBef>
            </a:pPr>
            <a:r>
              <a:rPr dirty="0"/>
              <a:t>Hilbert </a:t>
            </a:r>
            <a:r>
              <a:rPr spc="-5" dirty="0"/>
              <a:t>space-filling</a:t>
            </a:r>
            <a:r>
              <a:rPr dirty="0"/>
              <a:t> </a:t>
            </a:r>
            <a:r>
              <a:rPr spc="-5" dirty="0"/>
              <a:t>curve</a:t>
            </a:r>
            <a:r>
              <a:rPr dirty="0"/>
              <a:t> </a:t>
            </a:r>
            <a:r>
              <a:rPr spc="-5" dirty="0"/>
              <a:t>of</a:t>
            </a:r>
            <a:r>
              <a:rPr dirty="0"/>
              <a:t> </a:t>
            </a:r>
            <a:r>
              <a:rPr spc="-5" dirty="0"/>
              <a:t>(a)</a:t>
            </a:r>
            <a:r>
              <a:rPr dirty="0"/>
              <a:t> </a:t>
            </a:r>
            <a:r>
              <a:rPr spc="-5" dirty="0"/>
              <a:t>order</a:t>
            </a:r>
            <a:r>
              <a:rPr dirty="0"/>
              <a:t> </a:t>
            </a:r>
            <a:r>
              <a:rPr spc="-5" dirty="0"/>
              <a:t>1,</a:t>
            </a:r>
            <a:r>
              <a:rPr dirty="0"/>
              <a:t> </a:t>
            </a:r>
            <a:r>
              <a:rPr spc="-5" dirty="0"/>
              <a:t>and</a:t>
            </a:r>
            <a:r>
              <a:rPr dirty="0"/>
              <a:t> </a:t>
            </a:r>
            <a:r>
              <a:rPr spc="-5" dirty="0"/>
              <a:t>(b)</a:t>
            </a:r>
            <a:r>
              <a:rPr dirty="0"/>
              <a:t> </a:t>
            </a:r>
            <a:r>
              <a:rPr spc="-5" dirty="0"/>
              <a:t>order</a:t>
            </a:r>
            <a:r>
              <a:rPr dirty="0"/>
              <a:t> </a:t>
            </a:r>
            <a:r>
              <a:rPr spc="-5" dirty="0"/>
              <a:t>4</a:t>
            </a:r>
          </a:p>
        </p:txBody>
      </p:sp>
      <p:sp>
        <p:nvSpPr>
          <p:cNvPr id="5" name="object 5"/>
          <p:cNvSpPr txBox="1"/>
          <p:nvPr/>
        </p:nvSpPr>
        <p:spPr>
          <a:xfrm>
            <a:off x="498894" y="3093128"/>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grpSp>
        <p:nvGrpSpPr>
          <p:cNvPr id="6" name="object 6"/>
          <p:cNvGrpSpPr/>
          <p:nvPr/>
        </p:nvGrpSpPr>
        <p:grpSpPr>
          <a:xfrm>
            <a:off x="860716" y="1880613"/>
            <a:ext cx="1118235" cy="1118235"/>
            <a:chOff x="860716" y="1880613"/>
            <a:chExt cx="1118235" cy="1118235"/>
          </a:xfrm>
        </p:grpSpPr>
        <p:sp>
          <p:nvSpPr>
            <p:cNvPr id="7" name="object 7"/>
            <p:cNvSpPr/>
            <p:nvPr/>
          </p:nvSpPr>
          <p:spPr>
            <a:xfrm>
              <a:off x="863244" y="1883156"/>
              <a:ext cx="1113155" cy="1113155"/>
            </a:xfrm>
            <a:custGeom>
              <a:avLst/>
              <a:gdLst/>
              <a:ahLst/>
              <a:cxnLst/>
              <a:rect l="l" t="t" r="r" b="b"/>
              <a:pathLst>
                <a:path w="1113155" h="1113155">
                  <a:moveTo>
                    <a:pt x="556298" y="556298"/>
                  </a:moveTo>
                  <a:lnTo>
                    <a:pt x="0" y="556298"/>
                  </a:lnTo>
                  <a:lnTo>
                    <a:pt x="0" y="1112596"/>
                  </a:lnTo>
                  <a:lnTo>
                    <a:pt x="556298" y="1112596"/>
                  </a:lnTo>
                  <a:lnTo>
                    <a:pt x="556298" y="556298"/>
                  </a:lnTo>
                  <a:close/>
                </a:path>
                <a:path w="1113155" h="1113155">
                  <a:moveTo>
                    <a:pt x="1112596" y="0"/>
                  </a:moveTo>
                  <a:lnTo>
                    <a:pt x="556298" y="0"/>
                  </a:lnTo>
                  <a:lnTo>
                    <a:pt x="556298" y="556298"/>
                  </a:lnTo>
                  <a:lnTo>
                    <a:pt x="1112596" y="556298"/>
                  </a:lnTo>
                  <a:lnTo>
                    <a:pt x="1112596" y="0"/>
                  </a:lnTo>
                  <a:close/>
                </a:path>
              </a:pathLst>
            </a:custGeom>
            <a:solidFill>
              <a:srgbClr val="D1D3D4"/>
            </a:solidFill>
          </p:spPr>
          <p:txBody>
            <a:bodyPr wrap="square" lIns="0" tIns="0" rIns="0" bIns="0" rtlCol="0"/>
            <a:lstStyle/>
            <a:p>
              <a:endParaRPr/>
            </a:p>
          </p:txBody>
        </p:sp>
        <p:sp>
          <p:nvSpPr>
            <p:cNvPr id="8" name="object 8"/>
            <p:cNvSpPr/>
            <p:nvPr/>
          </p:nvSpPr>
          <p:spPr>
            <a:xfrm>
              <a:off x="863256" y="1883153"/>
              <a:ext cx="1113155" cy="1113155"/>
            </a:xfrm>
            <a:custGeom>
              <a:avLst/>
              <a:gdLst/>
              <a:ahLst/>
              <a:cxnLst/>
              <a:rect l="l" t="t" r="r" b="b"/>
              <a:pathLst>
                <a:path w="1113155" h="1113155">
                  <a:moveTo>
                    <a:pt x="0" y="1112594"/>
                  </a:moveTo>
                  <a:lnTo>
                    <a:pt x="1112584" y="1112594"/>
                  </a:lnTo>
                  <a:lnTo>
                    <a:pt x="1112584" y="0"/>
                  </a:lnTo>
                  <a:lnTo>
                    <a:pt x="0" y="0"/>
                  </a:lnTo>
                  <a:lnTo>
                    <a:pt x="0" y="1112594"/>
                  </a:lnTo>
                  <a:close/>
                </a:path>
                <a:path w="1113155" h="1113155">
                  <a:moveTo>
                    <a:pt x="278144" y="834446"/>
                  </a:moveTo>
                  <a:lnTo>
                    <a:pt x="278144" y="278149"/>
                  </a:lnTo>
                  <a:lnTo>
                    <a:pt x="834439" y="278149"/>
                  </a:lnTo>
                  <a:lnTo>
                    <a:pt x="834439" y="834446"/>
                  </a:lnTo>
                </a:path>
              </a:pathLst>
            </a:custGeom>
            <a:ln w="4635">
              <a:solidFill>
                <a:srgbClr val="231F20"/>
              </a:solidFill>
            </a:ln>
          </p:spPr>
          <p:txBody>
            <a:bodyPr wrap="square" lIns="0" tIns="0" rIns="0" bIns="0" rtlCol="0"/>
            <a:lstStyle/>
            <a:p>
              <a:endParaRPr/>
            </a:p>
          </p:txBody>
        </p:sp>
        <p:pic>
          <p:nvPicPr>
            <p:cNvPr id="9" name="object 9"/>
            <p:cNvPicPr/>
            <p:nvPr/>
          </p:nvPicPr>
          <p:blipFill>
            <a:blip r:embed="rId6" cstate="print"/>
            <a:stretch>
              <a:fillRect/>
            </a:stretch>
          </p:blipFill>
          <p:spPr>
            <a:xfrm>
              <a:off x="1104316" y="2680511"/>
              <a:ext cx="74171" cy="74171"/>
            </a:xfrm>
            <a:prstGeom prst="rect">
              <a:avLst/>
            </a:prstGeom>
          </p:spPr>
        </p:pic>
        <p:pic>
          <p:nvPicPr>
            <p:cNvPr id="10" name="object 10"/>
            <p:cNvPicPr/>
            <p:nvPr/>
          </p:nvPicPr>
          <p:blipFill>
            <a:blip r:embed="rId7" cstate="print"/>
            <a:stretch>
              <a:fillRect/>
            </a:stretch>
          </p:blipFill>
          <p:spPr>
            <a:xfrm>
              <a:off x="1660611" y="2680511"/>
              <a:ext cx="74177" cy="74171"/>
            </a:xfrm>
            <a:prstGeom prst="rect">
              <a:avLst/>
            </a:prstGeom>
          </p:spPr>
        </p:pic>
        <p:pic>
          <p:nvPicPr>
            <p:cNvPr id="11" name="object 11"/>
            <p:cNvPicPr/>
            <p:nvPr/>
          </p:nvPicPr>
          <p:blipFill>
            <a:blip r:embed="rId7" cstate="print"/>
            <a:stretch>
              <a:fillRect/>
            </a:stretch>
          </p:blipFill>
          <p:spPr>
            <a:xfrm>
              <a:off x="1660611" y="2124218"/>
              <a:ext cx="74177" cy="74168"/>
            </a:xfrm>
            <a:prstGeom prst="rect">
              <a:avLst/>
            </a:prstGeom>
          </p:spPr>
        </p:pic>
        <p:pic>
          <p:nvPicPr>
            <p:cNvPr id="12" name="object 12"/>
            <p:cNvPicPr/>
            <p:nvPr/>
          </p:nvPicPr>
          <p:blipFill>
            <a:blip r:embed="rId6" cstate="print"/>
            <a:stretch>
              <a:fillRect/>
            </a:stretch>
          </p:blipFill>
          <p:spPr>
            <a:xfrm>
              <a:off x="1104316" y="2124218"/>
              <a:ext cx="74171" cy="74168"/>
            </a:xfrm>
            <a:prstGeom prst="rect">
              <a:avLst/>
            </a:prstGeom>
          </p:spPr>
        </p:pic>
      </p:grpSp>
      <p:sp>
        <p:nvSpPr>
          <p:cNvPr id="13" name="object 13"/>
          <p:cNvSpPr txBox="1"/>
          <p:nvPr/>
        </p:nvSpPr>
        <p:spPr>
          <a:xfrm>
            <a:off x="1132032" y="3136715"/>
            <a:ext cx="638810" cy="114935"/>
          </a:xfrm>
          <a:prstGeom prst="rect">
            <a:avLst/>
          </a:prstGeom>
        </p:spPr>
        <p:txBody>
          <a:bodyPr vert="horz" wrap="square" lIns="0" tIns="16510" rIns="0" bIns="0" rtlCol="0">
            <a:spAutoFit/>
          </a:bodyPr>
          <a:lstStyle/>
          <a:p>
            <a:pPr marL="12700">
              <a:lnSpc>
                <a:spcPct val="100000"/>
              </a:lnSpc>
              <a:spcBef>
                <a:spcPts val="130"/>
              </a:spcBef>
            </a:pPr>
            <a:r>
              <a:rPr sz="550" spc="5" dirty="0">
                <a:solidFill>
                  <a:srgbClr val="231F20"/>
                </a:solidFill>
                <a:latin typeface="Arial"/>
                <a:cs typeface="Arial"/>
              </a:rPr>
              <a:t>Values</a:t>
            </a:r>
            <a:r>
              <a:rPr sz="550" spc="-10" dirty="0">
                <a:solidFill>
                  <a:srgbClr val="231F20"/>
                </a:solidFill>
                <a:latin typeface="Arial"/>
                <a:cs typeface="Arial"/>
              </a:rPr>
              <a:t> </a:t>
            </a:r>
            <a:r>
              <a:rPr sz="550" spc="10" dirty="0">
                <a:solidFill>
                  <a:srgbClr val="231F20"/>
                </a:solidFill>
                <a:latin typeface="Arial"/>
                <a:cs typeface="Arial"/>
              </a:rPr>
              <a:t>attribute</a:t>
            </a:r>
            <a:r>
              <a:rPr sz="550" spc="-5" dirty="0">
                <a:solidFill>
                  <a:srgbClr val="231F20"/>
                </a:solidFill>
                <a:latin typeface="Arial"/>
                <a:cs typeface="Arial"/>
              </a:rPr>
              <a:t> </a:t>
            </a:r>
            <a:r>
              <a:rPr sz="550" spc="15" dirty="0">
                <a:solidFill>
                  <a:srgbClr val="231F20"/>
                </a:solidFill>
                <a:latin typeface="Arial"/>
                <a:cs typeface="Arial"/>
              </a:rPr>
              <a:t>#1</a:t>
            </a:r>
            <a:endParaRPr sz="550">
              <a:latin typeface="Arial"/>
              <a:cs typeface="Arial"/>
            </a:endParaRPr>
          </a:p>
        </p:txBody>
      </p:sp>
      <p:sp>
        <p:nvSpPr>
          <p:cNvPr id="14" name="object 14"/>
          <p:cNvSpPr txBox="1"/>
          <p:nvPr/>
        </p:nvSpPr>
        <p:spPr>
          <a:xfrm>
            <a:off x="641888" y="2153299"/>
            <a:ext cx="99695" cy="638810"/>
          </a:xfrm>
          <a:prstGeom prst="rect">
            <a:avLst/>
          </a:prstGeom>
        </p:spPr>
        <p:txBody>
          <a:bodyPr vert="vert270" wrap="square" lIns="0" tIns="15875" rIns="0" bIns="0" rtlCol="0">
            <a:spAutoFit/>
          </a:bodyPr>
          <a:lstStyle/>
          <a:p>
            <a:pPr marL="12700">
              <a:lnSpc>
                <a:spcPct val="100000"/>
              </a:lnSpc>
              <a:spcBef>
                <a:spcPts val="125"/>
              </a:spcBef>
            </a:pPr>
            <a:r>
              <a:rPr sz="550" spc="5" dirty="0">
                <a:solidFill>
                  <a:srgbClr val="231F20"/>
                </a:solidFill>
                <a:latin typeface="Arial"/>
                <a:cs typeface="Arial"/>
              </a:rPr>
              <a:t>Values</a:t>
            </a:r>
            <a:r>
              <a:rPr sz="550" spc="-10" dirty="0">
                <a:solidFill>
                  <a:srgbClr val="231F20"/>
                </a:solidFill>
                <a:latin typeface="Arial"/>
                <a:cs typeface="Arial"/>
              </a:rPr>
              <a:t> </a:t>
            </a:r>
            <a:r>
              <a:rPr sz="550" spc="10" dirty="0">
                <a:solidFill>
                  <a:srgbClr val="231F20"/>
                </a:solidFill>
                <a:latin typeface="Arial"/>
                <a:cs typeface="Arial"/>
              </a:rPr>
              <a:t>attribute</a:t>
            </a:r>
            <a:r>
              <a:rPr sz="550" spc="-5" dirty="0">
                <a:solidFill>
                  <a:srgbClr val="231F20"/>
                </a:solidFill>
                <a:latin typeface="Arial"/>
                <a:cs typeface="Arial"/>
              </a:rPr>
              <a:t> </a:t>
            </a:r>
            <a:r>
              <a:rPr sz="550" spc="15" dirty="0">
                <a:solidFill>
                  <a:srgbClr val="231F20"/>
                </a:solidFill>
                <a:latin typeface="Arial"/>
                <a:cs typeface="Arial"/>
              </a:rPr>
              <a:t>#2</a:t>
            </a:r>
            <a:endParaRPr sz="550">
              <a:latin typeface="Arial"/>
              <a:cs typeface="Arial"/>
            </a:endParaRPr>
          </a:p>
        </p:txBody>
      </p:sp>
      <p:sp>
        <p:nvSpPr>
          <p:cNvPr id="15" name="object 15"/>
          <p:cNvSpPr txBox="1"/>
          <p:nvPr/>
        </p:nvSpPr>
        <p:spPr>
          <a:xfrm>
            <a:off x="1028570" y="2761258"/>
            <a:ext cx="269240"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Index</a:t>
            </a:r>
            <a:r>
              <a:rPr sz="550" spc="5" dirty="0">
                <a:solidFill>
                  <a:srgbClr val="231F20"/>
                </a:solidFill>
                <a:latin typeface="Arial"/>
                <a:cs typeface="Arial"/>
              </a:rPr>
              <a:t> </a:t>
            </a:r>
            <a:r>
              <a:rPr sz="550" spc="15" dirty="0">
                <a:solidFill>
                  <a:srgbClr val="231F20"/>
                </a:solidFill>
                <a:latin typeface="Arial"/>
                <a:cs typeface="Arial"/>
              </a:rPr>
              <a:t>0</a:t>
            </a:r>
            <a:endParaRPr sz="550">
              <a:latin typeface="Arial"/>
              <a:cs typeface="Arial"/>
            </a:endParaRPr>
          </a:p>
        </p:txBody>
      </p:sp>
      <p:sp>
        <p:nvSpPr>
          <p:cNvPr id="16" name="object 16"/>
          <p:cNvSpPr txBox="1"/>
          <p:nvPr/>
        </p:nvSpPr>
        <p:spPr>
          <a:xfrm>
            <a:off x="1609815" y="2767944"/>
            <a:ext cx="269240"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Index</a:t>
            </a:r>
            <a:r>
              <a:rPr sz="550" spc="5" dirty="0">
                <a:solidFill>
                  <a:srgbClr val="231F20"/>
                </a:solidFill>
                <a:latin typeface="Arial"/>
                <a:cs typeface="Arial"/>
              </a:rPr>
              <a:t> </a:t>
            </a:r>
            <a:r>
              <a:rPr sz="550" spc="15" dirty="0">
                <a:solidFill>
                  <a:srgbClr val="231F20"/>
                </a:solidFill>
                <a:latin typeface="Arial"/>
                <a:cs typeface="Arial"/>
              </a:rPr>
              <a:t>3</a:t>
            </a:r>
            <a:endParaRPr sz="550">
              <a:latin typeface="Arial"/>
              <a:cs typeface="Arial"/>
            </a:endParaRPr>
          </a:p>
        </p:txBody>
      </p:sp>
      <p:sp>
        <p:nvSpPr>
          <p:cNvPr id="17" name="object 17"/>
          <p:cNvSpPr txBox="1"/>
          <p:nvPr/>
        </p:nvSpPr>
        <p:spPr>
          <a:xfrm>
            <a:off x="1016463" y="1988691"/>
            <a:ext cx="269240"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Index</a:t>
            </a:r>
            <a:r>
              <a:rPr sz="550" spc="5" dirty="0">
                <a:solidFill>
                  <a:srgbClr val="231F20"/>
                </a:solidFill>
                <a:latin typeface="Arial"/>
                <a:cs typeface="Arial"/>
              </a:rPr>
              <a:t> </a:t>
            </a:r>
            <a:r>
              <a:rPr sz="550" spc="15" dirty="0">
                <a:solidFill>
                  <a:srgbClr val="231F20"/>
                </a:solidFill>
                <a:latin typeface="Arial"/>
                <a:cs typeface="Arial"/>
              </a:rPr>
              <a:t>1</a:t>
            </a:r>
            <a:endParaRPr sz="550">
              <a:latin typeface="Arial"/>
              <a:cs typeface="Arial"/>
            </a:endParaRPr>
          </a:p>
        </p:txBody>
      </p:sp>
      <p:sp>
        <p:nvSpPr>
          <p:cNvPr id="18" name="object 18"/>
          <p:cNvSpPr txBox="1"/>
          <p:nvPr/>
        </p:nvSpPr>
        <p:spPr>
          <a:xfrm>
            <a:off x="1597810" y="1995382"/>
            <a:ext cx="265430" cy="114935"/>
          </a:xfrm>
          <a:prstGeom prst="rect">
            <a:avLst/>
          </a:prstGeom>
        </p:spPr>
        <p:txBody>
          <a:bodyPr vert="horz" wrap="square" lIns="0" tIns="16510" rIns="0" bIns="0" rtlCol="0">
            <a:spAutoFit/>
          </a:bodyPr>
          <a:lstStyle/>
          <a:p>
            <a:pPr marL="12700">
              <a:lnSpc>
                <a:spcPct val="100000"/>
              </a:lnSpc>
              <a:spcBef>
                <a:spcPts val="130"/>
              </a:spcBef>
            </a:pPr>
            <a:r>
              <a:rPr sz="550" spc="10" dirty="0">
                <a:solidFill>
                  <a:srgbClr val="231F20"/>
                </a:solidFill>
                <a:latin typeface="Arial"/>
                <a:cs typeface="Arial"/>
              </a:rPr>
              <a:t>Index</a:t>
            </a:r>
            <a:r>
              <a:rPr sz="550" spc="5" dirty="0">
                <a:solidFill>
                  <a:srgbClr val="231F20"/>
                </a:solidFill>
                <a:latin typeface="Arial"/>
                <a:cs typeface="Arial"/>
              </a:rPr>
              <a:t> </a:t>
            </a:r>
            <a:r>
              <a:rPr sz="550" spc="10" dirty="0">
                <a:solidFill>
                  <a:srgbClr val="231F20"/>
                </a:solidFill>
                <a:latin typeface="Arial"/>
                <a:cs typeface="Arial"/>
              </a:rPr>
              <a:t>2</a:t>
            </a:r>
            <a:endParaRPr sz="550">
              <a:latin typeface="Arial"/>
              <a:cs typeface="Arial"/>
            </a:endParaRPr>
          </a:p>
        </p:txBody>
      </p:sp>
      <p:sp>
        <p:nvSpPr>
          <p:cNvPr id="19" name="object 19"/>
          <p:cNvSpPr txBox="1"/>
          <p:nvPr/>
        </p:nvSpPr>
        <p:spPr>
          <a:xfrm>
            <a:off x="777902" y="2985385"/>
            <a:ext cx="66675"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0</a:t>
            </a:r>
            <a:endParaRPr sz="550">
              <a:latin typeface="Arial"/>
              <a:cs typeface="Arial"/>
            </a:endParaRPr>
          </a:p>
        </p:txBody>
      </p:sp>
      <p:sp>
        <p:nvSpPr>
          <p:cNvPr id="20" name="object 20"/>
          <p:cNvSpPr txBox="1"/>
          <p:nvPr/>
        </p:nvSpPr>
        <p:spPr>
          <a:xfrm>
            <a:off x="784598" y="1842651"/>
            <a:ext cx="66675"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a:t>
            </a:r>
            <a:endParaRPr sz="550">
              <a:latin typeface="Arial"/>
              <a:cs typeface="Arial"/>
            </a:endParaRPr>
          </a:p>
        </p:txBody>
      </p:sp>
      <p:sp>
        <p:nvSpPr>
          <p:cNvPr id="21" name="object 21"/>
          <p:cNvSpPr/>
          <p:nvPr/>
        </p:nvSpPr>
        <p:spPr>
          <a:xfrm>
            <a:off x="782167" y="2416530"/>
            <a:ext cx="672465" cy="670560"/>
          </a:xfrm>
          <a:custGeom>
            <a:avLst/>
            <a:gdLst/>
            <a:ahLst/>
            <a:cxnLst/>
            <a:rect l="l" t="t" r="r" b="b"/>
            <a:pathLst>
              <a:path w="672465" h="670560">
                <a:moveTo>
                  <a:pt x="13347" y="228"/>
                </a:moveTo>
                <a:lnTo>
                  <a:pt x="9436" y="228"/>
                </a:lnTo>
                <a:lnTo>
                  <a:pt x="8293" y="1701"/>
                </a:lnTo>
                <a:lnTo>
                  <a:pt x="6807" y="3073"/>
                </a:lnTo>
                <a:lnTo>
                  <a:pt x="3149" y="5613"/>
                </a:lnTo>
                <a:lnTo>
                  <a:pt x="1498" y="6502"/>
                </a:lnTo>
                <a:lnTo>
                  <a:pt x="0" y="6985"/>
                </a:lnTo>
                <a:lnTo>
                  <a:pt x="0" y="11430"/>
                </a:lnTo>
                <a:lnTo>
                  <a:pt x="2933" y="10668"/>
                </a:lnTo>
                <a:lnTo>
                  <a:pt x="5626" y="9296"/>
                </a:lnTo>
                <a:lnTo>
                  <a:pt x="8089" y="7340"/>
                </a:lnTo>
                <a:lnTo>
                  <a:pt x="8089" y="27457"/>
                </a:lnTo>
                <a:lnTo>
                  <a:pt x="13347" y="27457"/>
                </a:lnTo>
                <a:lnTo>
                  <a:pt x="13347" y="7340"/>
                </a:lnTo>
                <a:lnTo>
                  <a:pt x="13347" y="228"/>
                </a:lnTo>
                <a:close/>
              </a:path>
              <a:path w="672465" h="670560">
                <a:moveTo>
                  <a:pt x="49898" y="0"/>
                </a:moveTo>
                <a:lnTo>
                  <a:pt x="44208" y="0"/>
                </a:lnTo>
                <a:lnTo>
                  <a:pt x="4330" y="56083"/>
                </a:lnTo>
                <a:lnTo>
                  <a:pt x="10020" y="56083"/>
                </a:lnTo>
                <a:lnTo>
                  <a:pt x="49898" y="0"/>
                </a:lnTo>
                <a:close/>
              </a:path>
              <a:path w="672465" h="670560">
                <a:moveTo>
                  <a:pt x="56591" y="50812"/>
                </a:moveTo>
                <a:lnTo>
                  <a:pt x="42760" y="50812"/>
                </a:lnTo>
                <a:lnTo>
                  <a:pt x="43599" y="49961"/>
                </a:lnTo>
                <a:lnTo>
                  <a:pt x="45021" y="48793"/>
                </a:lnTo>
                <a:lnTo>
                  <a:pt x="50850" y="44513"/>
                </a:lnTo>
                <a:lnTo>
                  <a:pt x="53314" y="42418"/>
                </a:lnTo>
                <a:lnTo>
                  <a:pt x="55816" y="39243"/>
                </a:lnTo>
                <a:lnTo>
                  <a:pt x="56515" y="37312"/>
                </a:lnTo>
                <a:lnTo>
                  <a:pt x="56413" y="32994"/>
                </a:lnTo>
                <a:lnTo>
                  <a:pt x="56019" y="32194"/>
                </a:lnTo>
                <a:lnTo>
                  <a:pt x="55664" y="31470"/>
                </a:lnTo>
                <a:lnTo>
                  <a:pt x="52285" y="28613"/>
                </a:lnTo>
                <a:lnTo>
                  <a:pt x="49606" y="27889"/>
                </a:lnTo>
                <a:lnTo>
                  <a:pt x="42786" y="27889"/>
                </a:lnTo>
                <a:lnTo>
                  <a:pt x="40309" y="28524"/>
                </a:lnTo>
                <a:lnTo>
                  <a:pt x="36855" y="31038"/>
                </a:lnTo>
                <a:lnTo>
                  <a:pt x="35623" y="32994"/>
                </a:lnTo>
                <a:lnTo>
                  <a:pt x="34937" y="35674"/>
                </a:lnTo>
                <a:lnTo>
                  <a:pt x="40424" y="36207"/>
                </a:lnTo>
                <a:lnTo>
                  <a:pt x="40932" y="34645"/>
                </a:lnTo>
                <a:lnTo>
                  <a:pt x="41579" y="33578"/>
                </a:lnTo>
                <a:lnTo>
                  <a:pt x="43129" y="32473"/>
                </a:lnTo>
                <a:lnTo>
                  <a:pt x="44323" y="32194"/>
                </a:lnTo>
                <a:lnTo>
                  <a:pt x="47574" y="32194"/>
                </a:lnTo>
                <a:lnTo>
                  <a:pt x="48806" y="32562"/>
                </a:lnTo>
                <a:lnTo>
                  <a:pt x="50457" y="34036"/>
                </a:lnTo>
                <a:lnTo>
                  <a:pt x="50736" y="34645"/>
                </a:lnTo>
                <a:lnTo>
                  <a:pt x="50825" y="37312"/>
                </a:lnTo>
                <a:lnTo>
                  <a:pt x="50431" y="38201"/>
                </a:lnTo>
                <a:lnTo>
                  <a:pt x="48895" y="39941"/>
                </a:lnTo>
                <a:lnTo>
                  <a:pt x="46824" y="41579"/>
                </a:lnTo>
                <a:lnTo>
                  <a:pt x="39890" y="46609"/>
                </a:lnTo>
                <a:lnTo>
                  <a:pt x="37401" y="48907"/>
                </a:lnTo>
                <a:lnTo>
                  <a:pt x="34848" y="52400"/>
                </a:lnTo>
                <a:lnTo>
                  <a:pt x="34264" y="53759"/>
                </a:lnTo>
                <a:lnTo>
                  <a:pt x="34124" y="55118"/>
                </a:lnTo>
                <a:lnTo>
                  <a:pt x="56591" y="55118"/>
                </a:lnTo>
                <a:lnTo>
                  <a:pt x="56591" y="50812"/>
                </a:lnTo>
                <a:close/>
              </a:path>
              <a:path w="672465" h="670560">
                <a:moveTo>
                  <a:pt x="628904" y="614210"/>
                </a:moveTo>
                <a:lnTo>
                  <a:pt x="624979" y="614210"/>
                </a:lnTo>
                <a:lnTo>
                  <a:pt x="623849" y="615683"/>
                </a:lnTo>
                <a:lnTo>
                  <a:pt x="622363" y="617054"/>
                </a:lnTo>
                <a:lnTo>
                  <a:pt x="618705" y="619607"/>
                </a:lnTo>
                <a:lnTo>
                  <a:pt x="617054" y="620483"/>
                </a:lnTo>
                <a:lnTo>
                  <a:pt x="615556" y="620966"/>
                </a:lnTo>
                <a:lnTo>
                  <a:pt x="615556" y="625411"/>
                </a:lnTo>
                <a:lnTo>
                  <a:pt x="618490" y="624649"/>
                </a:lnTo>
                <a:lnTo>
                  <a:pt x="621182" y="623277"/>
                </a:lnTo>
                <a:lnTo>
                  <a:pt x="623633" y="621322"/>
                </a:lnTo>
                <a:lnTo>
                  <a:pt x="623633" y="641438"/>
                </a:lnTo>
                <a:lnTo>
                  <a:pt x="628904" y="641438"/>
                </a:lnTo>
                <a:lnTo>
                  <a:pt x="628904" y="621322"/>
                </a:lnTo>
                <a:lnTo>
                  <a:pt x="628904" y="614210"/>
                </a:lnTo>
                <a:close/>
              </a:path>
              <a:path w="672465" h="670560">
                <a:moveTo>
                  <a:pt x="665441" y="613994"/>
                </a:moveTo>
                <a:lnTo>
                  <a:pt x="659765" y="613994"/>
                </a:lnTo>
                <a:lnTo>
                  <a:pt x="619874" y="670064"/>
                </a:lnTo>
                <a:lnTo>
                  <a:pt x="625563" y="670064"/>
                </a:lnTo>
                <a:lnTo>
                  <a:pt x="665441" y="613994"/>
                </a:lnTo>
                <a:close/>
              </a:path>
              <a:path w="672465" h="670560">
                <a:moveTo>
                  <a:pt x="672147" y="664794"/>
                </a:moveTo>
                <a:lnTo>
                  <a:pt x="658317" y="664794"/>
                </a:lnTo>
                <a:lnTo>
                  <a:pt x="659155" y="663943"/>
                </a:lnTo>
                <a:lnTo>
                  <a:pt x="660577" y="662787"/>
                </a:lnTo>
                <a:lnTo>
                  <a:pt x="666407" y="658495"/>
                </a:lnTo>
                <a:lnTo>
                  <a:pt x="668870" y="656399"/>
                </a:lnTo>
                <a:lnTo>
                  <a:pt x="671360" y="653224"/>
                </a:lnTo>
                <a:lnTo>
                  <a:pt x="672071" y="651294"/>
                </a:lnTo>
                <a:lnTo>
                  <a:pt x="671957" y="646976"/>
                </a:lnTo>
                <a:lnTo>
                  <a:pt x="671576" y="646176"/>
                </a:lnTo>
                <a:lnTo>
                  <a:pt x="671220" y="645452"/>
                </a:lnTo>
                <a:lnTo>
                  <a:pt x="667829" y="642594"/>
                </a:lnTo>
                <a:lnTo>
                  <a:pt x="665162" y="641883"/>
                </a:lnTo>
                <a:lnTo>
                  <a:pt x="658329" y="641883"/>
                </a:lnTo>
                <a:lnTo>
                  <a:pt x="655866" y="642505"/>
                </a:lnTo>
                <a:lnTo>
                  <a:pt x="652399" y="645020"/>
                </a:lnTo>
                <a:lnTo>
                  <a:pt x="651179" y="646976"/>
                </a:lnTo>
                <a:lnTo>
                  <a:pt x="650494" y="649655"/>
                </a:lnTo>
                <a:lnTo>
                  <a:pt x="655980" y="650189"/>
                </a:lnTo>
                <a:lnTo>
                  <a:pt x="656488" y="648627"/>
                </a:lnTo>
                <a:lnTo>
                  <a:pt x="657123" y="647560"/>
                </a:lnTo>
                <a:lnTo>
                  <a:pt x="658685" y="646455"/>
                </a:lnTo>
                <a:lnTo>
                  <a:pt x="659866" y="646176"/>
                </a:lnTo>
                <a:lnTo>
                  <a:pt x="663117" y="646176"/>
                </a:lnTo>
                <a:lnTo>
                  <a:pt x="664362" y="646544"/>
                </a:lnTo>
                <a:lnTo>
                  <a:pt x="666013" y="648030"/>
                </a:lnTo>
                <a:lnTo>
                  <a:pt x="666280" y="648627"/>
                </a:lnTo>
                <a:lnTo>
                  <a:pt x="666381" y="651294"/>
                </a:lnTo>
                <a:lnTo>
                  <a:pt x="665988" y="652183"/>
                </a:lnTo>
                <a:lnTo>
                  <a:pt x="664451" y="653935"/>
                </a:lnTo>
                <a:lnTo>
                  <a:pt x="662381" y="655561"/>
                </a:lnTo>
                <a:lnTo>
                  <a:pt x="655447" y="660590"/>
                </a:lnTo>
                <a:lnTo>
                  <a:pt x="652945" y="662889"/>
                </a:lnTo>
                <a:lnTo>
                  <a:pt x="650405" y="666381"/>
                </a:lnTo>
                <a:lnTo>
                  <a:pt x="649820" y="667740"/>
                </a:lnTo>
                <a:lnTo>
                  <a:pt x="649668" y="669099"/>
                </a:lnTo>
                <a:lnTo>
                  <a:pt x="672147" y="669099"/>
                </a:lnTo>
                <a:lnTo>
                  <a:pt x="672147" y="664794"/>
                </a:lnTo>
                <a:close/>
              </a:path>
            </a:pathLst>
          </a:custGeom>
          <a:solidFill>
            <a:srgbClr val="231F20"/>
          </a:solidFill>
        </p:spPr>
        <p:txBody>
          <a:bodyPr wrap="square" lIns="0" tIns="0" rIns="0" bIns="0" rtlCol="0"/>
          <a:lstStyle/>
          <a:p>
            <a:endParaRPr/>
          </a:p>
        </p:txBody>
      </p:sp>
      <p:sp>
        <p:nvSpPr>
          <p:cNvPr id="22" name="object 22"/>
          <p:cNvSpPr txBox="1"/>
          <p:nvPr/>
        </p:nvSpPr>
        <p:spPr>
          <a:xfrm>
            <a:off x="1966722" y="2990005"/>
            <a:ext cx="66675" cy="114935"/>
          </a:xfrm>
          <a:prstGeom prst="rect">
            <a:avLst/>
          </a:prstGeom>
        </p:spPr>
        <p:txBody>
          <a:bodyPr vert="horz" wrap="square" lIns="0" tIns="16510" rIns="0" bIns="0" rtlCol="0">
            <a:spAutoFit/>
          </a:bodyPr>
          <a:lstStyle/>
          <a:p>
            <a:pPr marL="12700">
              <a:lnSpc>
                <a:spcPct val="100000"/>
              </a:lnSpc>
              <a:spcBef>
                <a:spcPts val="130"/>
              </a:spcBef>
            </a:pPr>
            <a:r>
              <a:rPr sz="550" spc="15" dirty="0">
                <a:solidFill>
                  <a:srgbClr val="231F20"/>
                </a:solidFill>
                <a:latin typeface="Arial"/>
                <a:cs typeface="Arial"/>
              </a:rPr>
              <a:t>1</a:t>
            </a:r>
            <a:endParaRPr sz="550">
              <a:latin typeface="Arial"/>
              <a:cs typeface="Arial"/>
            </a:endParaRPr>
          </a:p>
        </p:txBody>
      </p:sp>
      <p:sp>
        <p:nvSpPr>
          <p:cNvPr id="23" name="object 23"/>
          <p:cNvSpPr txBox="1"/>
          <p:nvPr/>
        </p:nvSpPr>
        <p:spPr>
          <a:xfrm>
            <a:off x="2453271" y="3093128"/>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pic>
        <p:nvPicPr>
          <p:cNvPr id="24" name="object 24"/>
          <p:cNvPicPr/>
          <p:nvPr/>
        </p:nvPicPr>
        <p:blipFill>
          <a:blip r:embed="rId8" cstate="print"/>
          <a:stretch>
            <a:fillRect/>
          </a:stretch>
        </p:blipFill>
        <p:spPr>
          <a:xfrm>
            <a:off x="2901186" y="1880835"/>
            <a:ext cx="1117220" cy="1117229"/>
          </a:xfrm>
          <a:prstGeom prst="rect">
            <a:avLst/>
          </a:prstGeom>
        </p:spPr>
      </p:pic>
      <p:sp>
        <p:nvSpPr>
          <p:cNvPr id="25" name="object 25"/>
          <p:cNvSpPr txBox="1"/>
          <p:nvPr/>
        </p:nvSpPr>
        <p:spPr>
          <a:xfrm>
            <a:off x="2761872" y="2915164"/>
            <a:ext cx="133985" cy="92710"/>
          </a:xfrm>
          <a:prstGeom prst="rect">
            <a:avLst/>
          </a:prstGeom>
        </p:spPr>
        <p:txBody>
          <a:bodyPr vert="horz" wrap="square" lIns="0" tIns="17145" rIns="0" bIns="0" rtlCol="0">
            <a:spAutoFit/>
          </a:bodyPr>
          <a:lstStyle/>
          <a:p>
            <a:pPr marL="12700">
              <a:lnSpc>
                <a:spcPct val="100000"/>
              </a:lnSpc>
              <a:spcBef>
                <a:spcPts val="135"/>
              </a:spcBef>
            </a:pPr>
            <a:r>
              <a:rPr sz="400" spc="15" dirty="0">
                <a:solidFill>
                  <a:srgbClr val="231F20"/>
                </a:solidFill>
                <a:latin typeface="Arial"/>
                <a:cs typeface="Arial"/>
              </a:rPr>
              <a:t>0/16</a:t>
            </a:r>
            <a:endParaRPr sz="400">
              <a:latin typeface="Arial"/>
              <a:cs typeface="Arial"/>
            </a:endParaRPr>
          </a:p>
        </p:txBody>
      </p:sp>
      <p:sp>
        <p:nvSpPr>
          <p:cNvPr id="26" name="object 26"/>
          <p:cNvSpPr txBox="1"/>
          <p:nvPr/>
        </p:nvSpPr>
        <p:spPr>
          <a:xfrm>
            <a:off x="2761872" y="2776092"/>
            <a:ext cx="133985" cy="92710"/>
          </a:xfrm>
          <a:prstGeom prst="rect">
            <a:avLst/>
          </a:prstGeom>
        </p:spPr>
        <p:txBody>
          <a:bodyPr vert="horz" wrap="square" lIns="0" tIns="17145" rIns="0" bIns="0" rtlCol="0">
            <a:spAutoFit/>
          </a:bodyPr>
          <a:lstStyle/>
          <a:p>
            <a:pPr marL="12700">
              <a:lnSpc>
                <a:spcPct val="100000"/>
              </a:lnSpc>
              <a:spcBef>
                <a:spcPts val="135"/>
              </a:spcBef>
            </a:pPr>
            <a:r>
              <a:rPr sz="400" spc="15" dirty="0">
                <a:solidFill>
                  <a:srgbClr val="231F20"/>
                </a:solidFill>
                <a:latin typeface="Arial"/>
                <a:cs typeface="Arial"/>
              </a:rPr>
              <a:t>2/16</a:t>
            </a:r>
            <a:endParaRPr sz="400">
              <a:latin typeface="Arial"/>
              <a:cs typeface="Arial"/>
            </a:endParaRPr>
          </a:p>
        </p:txBody>
      </p:sp>
      <p:sp>
        <p:nvSpPr>
          <p:cNvPr id="27" name="object 27"/>
          <p:cNvSpPr txBox="1"/>
          <p:nvPr/>
        </p:nvSpPr>
        <p:spPr>
          <a:xfrm>
            <a:off x="2730934" y="2080722"/>
            <a:ext cx="165100" cy="648970"/>
          </a:xfrm>
          <a:prstGeom prst="rect">
            <a:avLst/>
          </a:prstGeom>
        </p:spPr>
        <p:txBody>
          <a:bodyPr vert="horz" wrap="square" lIns="0" tIns="17145" rIns="0" bIns="0" rtlCol="0">
            <a:spAutoFit/>
          </a:bodyPr>
          <a:lstStyle/>
          <a:p>
            <a:pPr marL="12700">
              <a:lnSpc>
                <a:spcPct val="100000"/>
              </a:lnSpc>
              <a:spcBef>
                <a:spcPts val="135"/>
              </a:spcBef>
            </a:pPr>
            <a:r>
              <a:rPr sz="400" spc="15" dirty="0">
                <a:solidFill>
                  <a:srgbClr val="231F20"/>
                </a:solidFill>
                <a:latin typeface="Arial"/>
                <a:cs typeface="Arial"/>
              </a:rPr>
              <a:t>12/16</a:t>
            </a:r>
            <a:endParaRPr sz="400">
              <a:latin typeface="Arial"/>
              <a:cs typeface="Arial"/>
            </a:endParaRPr>
          </a:p>
          <a:p>
            <a:pPr>
              <a:lnSpc>
                <a:spcPct val="100000"/>
              </a:lnSpc>
              <a:spcBef>
                <a:spcPts val="40"/>
              </a:spcBef>
            </a:pPr>
            <a:endParaRPr sz="500">
              <a:latin typeface="Arial"/>
              <a:cs typeface="Arial"/>
            </a:endParaRPr>
          </a:p>
          <a:p>
            <a:pPr marL="12700">
              <a:lnSpc>
                <a:spcPct val="100000"/>
              </a:lnSpc>
            </a:pPr>
            <a:r>
              <a:rPr sz="400" spc="15" dirty="0">
                <a:solidFill>
                  <a:srgbClr val="231F20"/>
                </a:solidFill>
                <a:latin typeface="Arial"/>
                <a:cs typeface="Arial"/>
              </a:rPr>
              <a:t>10/16</a:t>
            </a:r>
            <a:endParaRPr sz="400">
              <a:latin typeface="Arial"/>
              <a:cs typeface="Arial"/>
            </a:endParaRPr>
          </a:p>
          <a:p>
            <a:pPr>
              <a:lnSpc>
                <a:spcPct val="100000"/>
              </a:lnSpc>
              <a:spcBef>
                <a:spcPts val="40"/>
              </a:spcBef>
            </a:pPr>
            <a:endParaRPr sz="500">
              <a:latin typeface="Arial"/>
              <a:cs typeface="Arial"/>
            </a:endParaRPr>
          </a:p>
          <a:p>
            <a:pPr marL="43180">
              <a:lnSpc>
                <a:spcPct val="100000"/>
              </a:lnSpc>
            </a:pPr>
            <a:r>
              <a:rPr sz="400" spc="15" dirty="0">
                <a:solidFill>
                  <a:srgbClr val="231F20"/>
                </a:solidFill>
                <a:latin typeface="Arial"/>
                <a:cs typeface="Arial"/>
              </a:rPr>
              <a:t>8/16</a:t>
            </a:r>
            <a:endParaRPr sz="400">
              <a:latin typeface="Arial"/>
              <a:cs typeface="Arial"/>
            </a:endParaRPr>
          </a:p>
          <a:p>
            <a:pPr>
              <a:lnSpc>
                <a:spcPct val="100000"/>
              </a:lnSpc>
              <a:spcBef>
                <a:spcPts val="40"/>
              </a:spcBef>
            </a:pPr>
            <a:endParaRPr sz="500">
              <a:latin typeface="Arial"/>
              <a:cs typeface="Arial"/>
            </a:endParaRPr>
          </a:p>
          <a:p>
            <a:pPr marL="43180">
              <a:lnSpc>
                <a:spcPct val="100000"/>
              </a:lnSpc>
            </a:pPr>
            <a:r>
              <a:rPr sz="400" spc="15" dirty="0">
                <a:solidFill>
                  <a:srgbClr val="231F20"/>
                </a:solidFill>
                <a:latin typeface="Arial"/>
                <a:cs typeface="Arial"/>
              </a:rPr>
              <a:t>6/16</a:t>
            </a:r>
            <a:endParaRPr sz="400">
              <a:latin typeface="Arial"/>
              <a:cs typeface="Arial"/>
            </a:endParaRPr>
          </a:p>
          <a:p>
            <a:pPr>
              <a:lnSpc>
                <a:spcPct val="100000"/>
              </a:lnSpc>
              <a:spcBef>
                <a:spcPts val="40"/>
              </a:spcBef>
            </a:pPr>
            <a:endParaRPr sz="500">
              <a:latin typeface="Arial"/>
              <a:cs typeface="Arial"/>
            </a:endParaRPr>
          </a:p>
          <a:p>
            <a:pPr marL="43180">
              <a:lnSpc>
                <a:spcPct val="100000"/>
              </a:lnSpc>
            </a:pPr>
            <a:r>
              <a:rPr sz="400" spc="15" dirty="0">
                <a:solidFill>
                  <a:srgbClr val="231F20"/>
                </a:solidFill>
                <a:latin typeface="Arial"/>
                <a:cs typeface="Arial"/>
              </a:rPr>
              <a:t>4/16</a:t>
            </a:r>
            <a:endParaRPr sz="400">
              <a:latin typeface="Arial"/>
              <a:cs typeface="Arial"/>
            </a:endParaRPr>
          </a:p>
        </p:txBody>
      </p:sp>
      <p:sp>
        <p:nvSpPr>
          <p:cNvPr id="28" name="object 28"/>
          <p:cNvSpPr txBox="1"/>
          <p:nvPr/>
        </p:nvSpPr>
        <p:spPr>
          <a:xfrm>
            <a:off x="2730934" y="1941646"/>
            <a:ext cx="165100" cy="92710"/>
          </a:xfrm>
          <a:prstGeom prst="rect">
            <a:avLst/>
          </a:prstGeom>
        </p:spPr>
        <p:txBody>
          <a:bodyPr vert="horz" wrap="square" lIns="0" tIns="17145" rIns="0" bIns="0" rtlCol="0">
            <a:spAutoFit/>
          </a:bodyPr>
          <a:lstStyle/>
          <a:p>
            <a:pPr marL="12700">
              <a:lnSpc>
                <a:spcPct val="100000"/>
              </a:lnSpc>
              <a:spcBef>
                <a:spcPts val="135"/>
              </a:spcBef>
            </a:pPr>
            <a:r>
              <a:rPr sz="400" spc="15" dirty="0">
                <a:solidFill>
                  <a:srgbClr val="231F20"/>
                </a:solidFill>
                <a:latin typeface="Arial"/>
                <a:cs typeface="Arial"/>
              </a:rPr>
              <a:t>14/16</a:t>
            </a:r>
            <a:endParaRPr sz="400">
              <a:latin typeface="Arial"/>
              <a:cs typeface="Arial"/>
            </a:endParaRPr>
          </a:p>
        </p:txBody>
      </p:sp>
      <p:sp>
        <p:nvSpPr>
          <p:cNvPr id="29" name="object 29"/>
          <p:cNvSpPr/>
          <p:nvPr/>
        </p:nvSpPr>
        <p:spPr>
          <a:xfrm>
            <a:off x="2915092" y="3072008"/>
            <a:ext cx="58419" cy="0"/>
          </a:xfrm>
          <a:custGeom>
            <a:avLst/>
            <a:gdLst/>
            <a:ahLst/>
            <a:cxnLst/>
            <a:rect l="l" t="t" r="r" b="b"/>
            <a:pathLst>
              <a:path w="58419">
                <a:moveTo>
                  <a:pt x="0" y="0"/>
                </a:moveTo>
                <a:lnTo>
                  <a:pt x="57947" y="0"/>
                </a:lnTo>
              </a:path>
            </a:pathLst>
          </a:custGeom>
          <a:ln w="4635">
            <a:solidFill>
              <a:srgbClr val="231F20"/>
            </a:solidFill>
          </a:ln>
        </p:spPr>
        <p:txBody>
          <a:bodyPr wrap="square" lIns="0" tIns="0" rIns="0" bIns="0" rtlCol="0"/>
          <a:lstStyle/>
          <a:p>
            <a:endParaRPr/>
          </a:p>
        </p:txBody>
      </p:sp>
      <p:sp>
        <p:nvSpPr>
          <p:cNvPr id="30" name="object 30"/>
          <p:cNvSpPr/>
          <p:nvPr/>
        </p:nvSpPr>
        <p:spPr>
          <a:xfrm>
            <a:off x="3052510" y="3072008"/>
            <a:ext cx="58419" cy="0"/>
          </a:xfrm>
          <a:custGeom>
            <a:avLst/>
            <a:gdLst/>
            <a:ahLst/>
            <a:cxnLst/>
            <a:rect l="l" t="t" r="r" b="b"/>
            <a:pathLst>
              <a:path w="58419">
                <a:moveTo>
                  <a:pt x="0" y="0"/>
                </a:moveTo>
                <a:lnTo>
                  <a:pt x="57947" y="0"/>
                </a:lnTo>
              </a:path>
            </a:pathLst>
          </a:custGeom>
          <a:ln w="4635">
            <a:solidFill>
              <a:srgbClr val="231F20"/>
            </a:solidFill>
          </a:ln>
        </p:spPr>
        <p:txBody>
          <a:bodyPr wrap="square" lIns="0" tIns="0" rIns="0" bIns="0" rtlCol="0"/>
          <a:lstStyle/>
          <a:p>
            <a:endParaRPr/>
          </a:p>
        </p:txBody>
      </p:sp>
      <p:sp>
        <p:nvSpPr>
          <p:cNvPr id="31" name="object 31"/>
          <p:cNvSpPr/>
          <p:nvPr/>
        </p:nvSpPr>
        <p:spPr>
          <a:xfrm>
            <a:off x="3739603" y="3072008"/>
            <a:ext cx="58419" cy="0"/>
          </a:xfrm>
          <a:custGeom>
            <a:avLst/>
            <a:gdLst/>
            <a:ahLst/>
            <a:cxnLst/>
            <a:rect l="l" t="t" r="r" b="b"/>
            <a:pathLst>
              <a:path w="58420">
                <a:moveTo>
                  <a:pt x="0" y="0"/>
                </a:moveTo>
                <a:lnTo>
                  <a:pt x="57943" y="0"/>
                </a:lnTo>
              </a:path>
            </a:pathLst>
          </a:custGeom>
          <a:ln w="4635">
            <a:solidFill>
              <a:srgbClr val="231F20"/>
            </a:solidFill>
          </a:ln>
        </p:spPr>
        <p:txBody>
          <a:bodyPr wrap="square" lIns="0" tIns="0" rIns="0" bIns="0" rtlCol="0"/>
          <a:lstStyle/>
          <a:p>
            <a:endParaRPr/>
          </a:p>
        </p:txBody>
      </p:sp>
      <p:sp>
        <p:nvSpPr>
          <p:cNvPr id="32" name="object 32"/>
          <p:cNvSpPr/>
          <p:nvPr/>
        </p:nvSpPr>
        <p:spPr>
          <a:xfrm>
            <a:off x="3189930" y="3071845"/>
            <a:ext cx="58419" cy="0"/>
          </a:xfrm>
          <a:custGeom>
            <a:avLst/>
            <a:gdLst/>
            <a:ahLst/>
            <a:cxnLst/>
            <a:rect l="l" t="t" r="r" b="b"/>
            <a:pathLst>
              <a:path w="58419">
                <a:moveTo>
                  <a:pt x="0" y="0"/>
                </a:moveTo>
                <a:lnTo>
                  <a:pt x="57947" y="0"/>
                </a:lnTo>
              </a:path>
            </a:pathLst>
          </a:custGeom>
          <a:ln w="4635">
            <a:solidFill>
              <a:srgbClr val="231F20"/>
            </a:solidFill>
          </a:ln>
        </p:spPr>
        <p:txBody>
          <a:bodyPr wrap="square" lIns="0" tIns="0" rIns="0" bIns="0" rtlCol="0"/>
          <a:lstStyle/>
          <a:p>
            <a:endParaRPr/>
          </a:p>
        </p:txBody>
      </p:sp>
      <p:sp>
        <p:nvSpPr>
          <p:cNvPr id="33" name="object 33"/>
          <p:cNvSpPr/>
          <p:nvPr/>
        </p:nvSpPr>
        <p:spPr>
          <a:xfrm>
            <a:off x="3877018" y="3072008"/>
            <a:ext cx="58419" cy="0"/>
          </a:xfrm>
          <a:custGeom>
            <a:avLst/>
            <a:gdLst/>
            <a:ahLst/>
            <a:cxnLst/>
            <a:rect l="l" t="t" r="r" b="b"/>
            <a:pathLst>
              <a:path w="58420">
                <a:moveTo>
                  <a:pt x="0" y="0"/>
                </a:moveTo>
                <a:lnTo>
                  <a:pt x="57953" y="0"/>
                </a:lnTo>
              </a:path>
            </a:pathLst>
          </a:custGeom>
          <a:ln w="4635">
            <a:solidFill>
              <a:srgbClr val="231F20"/>
            </a:solidFill>
          </a:ln>
        </p:spPr>
        <p:txBody>
          <a:bodyPr wrap="square" lIns="0" tIns="0" rIns="0" bIns="0" rtlCol="0"/>
          <a:lstStyle/>
          <a:p>
            <a:endParaRPr/>
          </a:p>
        </p:txBody>
      </p:sp>
      <p:sp>
        <p:nvSpPr>
          <p:cNvPr id="34" name="object 34"/>
          <p:cNvSpPr/>
          <p:nvPr/>
        </p:nvSpPr>
        <p:spPr>
          <a:xfrm>
            <a:off x="3327348" y="3072008"/>
            <a:ext cx="58419" cy="0"/>
          </a:xfrm>
          <a:custGeom>
            <a:avLst/>
            <a:gdLst/>
            <a:ahLst/>
            <a:cxnLst/>
            <a:rect l="l" t="t" r="r" b="b"/>
            <a:pathLst>
              <a:path w="58420">
                <a:moveTo>
                  <a:pt x="0" y="0"/>
                </a:moveTo>
                <a:lnTo>
                  <a:pt x="57947" y="0"/>
                </a:lnTo>
              </a:path>
            </a:pathLst>
          </a:custGeom>
          <a:ln w="4635">
            <a:solidFill>
              <a:srgbClr val="231F20"/>
            </a:solidFill>
          </a:ln>
        </p:spPr>
        <p:txBody>
          <a:bodyPr wrap="square" lIns="0" tIns="0" rIns="0" bIns="0" rtlCol="0"/>
          <a:lstStyle/>
          <a:p>
            <a:endParaRPr/>
          </a:p>
        </p:txBody>
      </p:sp>
      <p:sp>
        <p:nvSpPr>
          <p:cNvPr id="35" name="object 35"/>
          <p:cNvSpPr/>
          <p:nvPr/>
        </p:nvSpPr>
        <p:spPr>
          <a:xfrm>
            <a:off x="3464766" y="3072008"/>
            <a:ext cx="58419" cy="0"/>
          </a:xfrm>
          <a:custGeom>
            <a:avLst/>
            <a:gdLst/>
            <a:ahLst/>
            <a:cxnLst/>
            <a:rect l="l" t="t" r="r" b="b"/>
            <a:pathLst>
              <a:path w="58420">
                <a:moveTo>
                  <a:pt x="0" y="0"/>
                </a:moveTo>
                <a:lnTo>
                  <a:pt x="57947" y="0"/>
                </a:lnTo>
              </a:path>
            </a:pathLst>
          </a:custGeom>
          <a:ln w="4635">
            <a:solidFill>
              <a:srgbClr val="231F20"/>
            </a:solidFill>
          </a:ln>
        </p:spPr>
        <p:txBody>
          <a:bodyPr wrap="square" lIns="0" tIns="0" rIns="0" bIns="0" rtlCol="0"/>
          <a:lstStyle/>
          <a:p>
            <a:endParaRPr/>
          </a:p>
        </p:txBody>
      </p:sp>
      <p:sp>
        <p:nvSpPr>
          <p:cNvPr id="36" name="object 36"/>
          <p:cNvSpPr/>
          <p:nvPr/>
        </p:nvSpPr>
        <p:spPr>
          <a:xfrm>
            <a:off x="3602179" y="3072008"/>
            <a:ext cx="58419" cy="0"/>
          </a:xfrm>
          <a:custGeom>
            <a:avLst/>
            <a:gdLst/>
            <a:ahLst/>
            <a:cxnLst/>
            <a:rect l="l" t="t" r="r" b="b"/>
            <a:pathLst>
              <a:path w="58420">
                <a:moveTo>
                  <a:pt x="0" y="0"/>
                </a:moveTo>
                <a:lnTo>
                  <a:pt x="57953" y="0"/>
                </a:lnTo>
              </a:path>
            </a:pathLst>
          </a:custGeom>
          <a:ln w="4635">
            <a:solidFill>
              <a:srgbClr val="231F20"/>
            </a:solidFill>
          </a:ln>
        </p:spPr>
        <p:txBody>
          <a:bodyPr wrap="square" lIns="0" tIns="0" rIns="0" bIns="0" rtlCol="0"/>
          <a:lstStyle/>
          <a:p>
            <a:endParaRPr/>
          </a:p>
        </p:txBody>
      </p:sp>
      <p:sp>
        <p:nvSpPr>
          <p:cNvPr id="37" name="object 37"/>
          <p:cNvSpPr txBox="1"/>
          <p:nvPr/>
        </p:nvSpPr>
        <p:spPr>
          <a:xfrm>
            <a:off x="2901118" y="2992097"/>
            <a:ext cx="1049655" cy="259079"/>
          </a:xfrm>
          <a:prstGeom prst="rect">
            <a:avLst/>
          </a:prstGeom>
        </p:spPr>
        <p:txBody>
          <a:bodyPr vert="horz" wrap="square" lIns="0" tIns="17145" rIns="0" bIns="0" rtlCol="0">
            <a:spAutoFit/>
          </a:bodyPr>
          <a:lstStyle/>
          <a:p>
            <a:pPr marL="27940">
              <a:lnSpc>
                <a:spcPct val="100000"/>
              </a:lnSpc>
              <a:spcBef>
                <a:spcPts val="135"/>
              </a:spcBef>
            </a:pPr>
            <a:r>
              <a:rPr sz="400" spc="20" dirty="0">
                <a:solidFill>
                  <a:srgbClr val="231F20"/>
                </a:solidFill>
                <a:latin typeface="Arial"/>
                <a:cs typeface="Arial"/>
              </a:rPr>
              <a:t>0       </a:t>
            </a:r>
            <a:r>
              <a:rPr sz="400" spc="-55" dirty="0">
                <a:solidFill>
                  <a:srgbClr val="231F20"/>
                </a:solidFill>
                <a:latin typeface="Arial"/>
                <a:cs typeface="Arial"/>
              </a:rPr>
              <a:t> </a:t>
            </a:r>
            <a:r>
              <a:rPr sz="400" spc="20" dirty="0">
                <a:solidFill>
                  <a:srgbClr val="231F20"/>
                </a:solidFill>
                <a:latin typeface="Arial"/>
                <a:cs typeface="Arial"/>
              </a:rPr>
              <a:t>2</a:t>
            </a:r>
            <a:r>
              <a:rPr sz="400" dirty="0">
                <a:solidFill>
                  <a:srgbClr val="231F20"/>
                </a:solidFill>
                <a:latin typeface="Arial"/>
                <a:cs typeface="Arial"/>
              </a:rPr>
              <a:t>       </a:t>
            </a:r>
            <a:r>
              <a:rPr sz="400" spc="-55" dirty="0">
                <a:solidFill>
                  <a:srgbClr val="231F20"/>
                </a:solidFill>
                <a:latin typeface="Arial"/>
                <a:cs typeface="Arial"/>
              </a:rPr>
              <a:t> </a:t>
            </a:r>
            <a:r>
              <a:rPr sz="400" spc="20" dirty="0">
                <a:solidFill>
                  <a:srgbClr val="231F20"/>
                </a:solidFill>
                <a:latin typeface="Arial"/>
                <a:cs typeface="Arial"/>
              </a:rPr>
              <a:t>4</a:t>
            </a:r>
            <a:r>
              <a:rPr sz="400" dirty="0">
                <a:solidFill>
                  <a:srgbClr val="231F20"/>
                </a:solidFill>
                <a:latin typeface="Arial"/>
                <a:cs typeface="Arial"/>
              </a:rPr>
              <a:t>       </a:t>
            </a:r>
            <a:r>
              <a:rPr sz="400" spc="-55" dirty="0">
                <a:solidFill>
                  <a:srgbClr val="231F20"/>
                </a:solidFill>
                <a:latin typeface="Arial"/>
                <a:cs typeface="Arial"/>
              </a:rPr>
              <a:t> </a:t>
            </a:r>
            <a:r>
              <a:rPr sz="400" spc="20" dirty="0">
                <a:solidFill>
                  <a:srgbClr val="231F20"/>
                </a:solidFill>
                <a:latin typeface="Arial"/>
                <a:cs typeface="Arial"/>
              </a:rPr>
              <a:t>6</a:t>
            </a:r>
            <a:r>
              <a:rPr sz="400" dirty="0">
                <a:solidFill>
                  <a:srgbClr val="231F20"/>
                </a:solidFill>
                <a:latin typeface="Arial"/>
                <a:cs typeface="Arial"/>
              </a:rPr>
              <a:t>       </a:t>
            </a:r>
            <a:r>
              <a:rPr sz="400" spc="-55" dirty="0">
                <a:solidFill>
                  <a:srgbClr val="231F20"/>
                </a:solidFill>
                <a:latin typeface="Arial"/>
                <a:cs typeface="Arial"/>
              </a:rPr>
              <a:t> </a:t>
            </a:r>
            <a:r>
              <a:rPr sz="400" spc="20" dirty="0">
                <a:solidFill>
                  <a:srgbClr val="231F20"/>
                </a:solidFill>
                <a:latin typeface="Arial"/>
                <a:cs typeface="Arial"/>
              </a:rPr>
              <a:t>8</a:t>
            </a:r>
            <a:r>
              <a:rPr sz="400" dirty="0">
                <a:solidFill>
                  <a:srgbClr val="231F20"/>
                </a:solidFill>
                <a:latin typeface="Arial"/>
                <a:cs typeface="Arial"/>
              </a:rPr>
              <a:t>     </a:t>
            </a:r>
            <a:r>
              <a:rPr sz="400" spc="45" dirty="0">
                <a:solidFill>
                  <a:srgbClr val="231F20"/>
                </a:solidFill>
                <a:latin typeface="Arial"/>
                <a:cs typeface="Arial"/>
              </a:rPr>
              <a:t> </a:t>
            </a:r>
            <a:r>
              <a:rPr sz="400" spc="20" dirty="0">
                <a:solidFill>
                  <a:srgbClr val="231F20"/>
                </a:solidFill>
                <a:latin typeface="Arial"/>
                <a:cs typeface="Arial"/>
              </a:rPr>
              <a:t>10</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12</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14</a:t>
            </a:r>
            <a:endParaRPr sz="400">
              <a:latin typeface="Arial"/>
              <a:cs typeface="Arial"/>
            </a:endParaRPr>
          </a:p>
          <a:p>
            <a:pPr marL="12700">
              <a:lnSpc>
                <a:spcPct val="100000"/>
              </a:lnSpc>
              <a:spcBef>
                <a:spcPts val="10"/>
              </a:spcBef>
            </a:pPr>
            <a:r>
              <a:rPr sz="400" spc="20" dirty="0">
                <a:solidFill>
                  <a:srgbClr val="231F20"/>
                </a:solidFill>
                <a:latin typeface="Arial"/>
                <a:cs typeface="Arial"/>
              </a:rPr>
              <a:t>16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r>
              <a:rPr sz="400" dirty="0">
                <a:solidFill>
                  <a:srgbClr val="231F20"/>
                </a:solidFill>
                <a:latin typeface="Arial"/>
                <a:cs typeface="Arial"/>
              </a:rPr>
              <a:t>    </a:t>
            </a:r>
            <a:r>
              <a:rPr sz="400" spc="35" dirty="0">
                <a:solidFill>
                  <a:srgbClr val="231F20"/>
                </a:solidFill>
                <a:latin typeface="Arial"/>
                <a:cs typeface="Arial"/>
              </a:rPr>
              <a:t> </a:t>
            </a:r>
            <a:r>
              <a:rPr sz="400" spc="20" dirty="0">
                <a:solidFill>
                  <a:srgbClr val="231F20"/>
                </a:solidFill>
                <a:latin typeface="Arial"/>
                <a:cs typeface="Arial"/>
              </a:rPr>
              <a:t>16</a:t>
            </a:r>
            <a:endParaRPr sz="400">
              <a:latin typeface="Arial"/>
              <a:cs typeface="Arial"/>
            </a:endParaRPr>
          </a:p>
          <a:p>
            <a:pPr marL="260350">
              <a:lnSpc>
                <a:spcPct val="100000"/>
              </a:lnSpc>
              <a:spcBef>
                <a:spcPts val="165"/>
              </a:spcBef>
            </a:pPr>
            <a:r>
              <a:rPr sz="550" spc="5" dirty="0">
                <a:solidFill>
                  <a:srgbClr val="231F20"/>
                </a:solidFill>
                <a:latin typeface="Arial"/>
                <a:cs typeface="Arial"/>
              </a:rPr>
              <a:t>Values</a:t>
            </a:r>
            <a:r>
              <a:rPr sz="550" spc="-5" dirty="0">
                <a:solidFill>
                  <a:srgbClr val="231F20"/>
                </a:solidFill>
                <a:latin typeface="Arial"/>
                <a:cs typeface="Arial"/>
              </a:rPr>
              <a:t> </a:t>
            </a:r>
            <a:r>
              <a:rPr sz="550" spc="10" dirty="0">
                <a:solidFill>
                  <a:srgbClr val="231F20"/>
                </a:solidFill>
                <a:latin typeface="Arial"/>
                <a:cs typeface="Arial"/>
              </a:rPr>
              <a:t>attribute</a:t>
            </a:r>
            <a:r>
              <a:rPr sz="550" spc="-5" dirty="0">
                <a:solidFill>
                  <a:srgbClr val="231F20"/>
                </a:solidFill>
                <a:latin typeface="Arial"/>
                <a:cs typeface="Arial"/>
              </a:rPr>
              <a:t> </a:t>
            </a:r>
            <a:r>
              <a:rPr sz="550" spc="15" dirty="0">
                <a:solidFill>
                  <a:srgbClr val="231F20"/>
                </a:solidFill>
                <a:latin typeface="Arial"/>
                <a:cs typeface="Arial"/>
              </a:rPr>
              <a:t>#1</a:t>
            </a:r>
            <a:endParaRPr sz="550">
              <a:latin typeface="Arial"/>
              <a:cs typeface="Arial"/>
            </a:endParaRPr>
          </a:p>
        </p:txBody>
      </p:sp>
      <p:sp>
        <p:nvSpPr>
          <p:cNvPr id="39" name="object 39"/>
          <p:cNvSpPr txBox="1"/>
          <p:nvPr/>
        </p:nvSpPr>
        <p:spPr>
          <a:xfrm>
            <a:off x="66713" y="3331252"/>
            <a:ext cx="6838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9" action="ppaction://hlinksldjump"/>
              </a:rPr>
              <a:t>Space-filling</a:t>
            </a:r>
            <a:r>
              <a:rPr sz="600" spc="-2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curves</a:t>
            </a:r>
            <a:endParaRPr sz="600">
              <a:latin typeface="Arial"/>
              <a:cs typeface="Arial"/>
            </a:endParaRPr>
          </a:p>
        </p:txBody>
      </p:sp>
      <p:sp>
        <p:nvSpPr>
          <p:cNvPr id="40" name="object 4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45</a:t>
            </a:r>
            <a:r>
              <a:rPr spc="-40" dirty="0"/>
              <a:t> </a:t>
            </a:r>
            <a:r>
              <a:rPr spc="-5" dirty="0"/>
              <a:t>/</a:t>
            </a:r>
            <a:r>
              <a:rPr spc="-35" dirty="0"/>
              <a:t> </a:t>
            </a:r>
            <a:r>
              <a:rPr spc="-5" dirty="0"/>
              <a:t>46</a:t>
            </a:r>
          </a:p>
        </p:txBody>
      </p:sp>
      <p:sp>
        <p:nvSpPr>
          <p:cNvPr id="38" name="object 38"/>
          <p:cNvSpPr txBox="1"/>
          <p:nvPr/>
        </p:nvSpPr>
        <p:spPr>
          <a:xfrm>
            <a:off x="2596749" y="2150264"/>
            <a:ext cx="99695" cy="638810"/>
          </a:xfrm>
          <a:prstGeom prst="rect">
            <a:avLst/>
          </a:prstGeom>
        </p:spPr>
        <p:txBody>
          <a:bodyPr vert="vert270" wrap="square" lIns="0" tIns="15875" rIns="0" bIns="0" rtlCol="0">
            <a:spAutoFit/>
          </a:bodyPr>
          <a:lstStyle/>
          <a:p>
            <a:pPr marL="12700">
              <a:lnSpc>
                <a:spcPct val="100000"/>
              </a:lnSpc>
              <a:spcBef>
                <a:spcPts val="125"/>
              </a:spcBef>
            </a:pPr>
            <a:r>
              <a:rPr sz="550" spc="5" dirty="0">
                <a:solidFill>
                  <a:srgbClr val="231F20"/>
                </a:solidFill>
                <a:latin typeface="Arial"/>
                <a:cs typeface="Arial"/>
              </a:rPr>
              <a:t>Values</a:t>
            </a:r>
            <a:r>
              <a:rPr sz="550" spc="-10" dirty="0">
                <a:solidFill>
                  <a:srgbClr val="231F20"/>
                </a:solidFill>
                <a:latin typeface="Arial"/>
                <a:cs typeface="Arial"/>
              </a:rPr>
              <a:t> </a:t>
            </a:r>
            <a:r>
              <a:rPr sz="550" spc="10" dirty="0">
                <a:solidFill>
                  <a:srgbClr val="231F20"/>
                </a:solidFill>
                <a:latin typeface="Arial"/>
                <a:cs typeface="Arial"/>
              </a:rPr>
              <a:t>attribute</a:t>
            </a:r>
            <a:r>
              <a:rPr sz="550" spc="-5" dirty="0">
                <a:solidFill>
                  <a:srgbClr val="231F20"/>
                </a:solidFill>
                <a:latin typeface="Arial"/>
                <a:cs typeface="Arial"/>
              </a:rPr>
              <a:t> </a:t>
            </a:r>
            <a:r>
              <a:rPr sz="550" spc="15" dirty="0">
                <a:solidFill>
                  <a:srgbClr val="231F20"/>
                </a:solidFill>
                <a:latin typeface="Arial"/>
                <a:cs typeface="Arial"/>
              </a:rPr>
              <a:t>#2</a:t>
            </a:r>
            <a:endParaRPr sz="550">
              <a:latin typeface="Arial"/>
              <a:cs typeface="Arial"/>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838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Space-filling</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curves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46</a:t>
            </a:r>
            <a:r>
              <a:rPr spc="-40" dirty="0"/>
              <a:t> </a:t>
            </a:r>
            <a:r>
              <a:rPr spc="-5" dirty="0"/>
              <a:t>/</a:t>
            </a:r>
            <a:r>
              <a:rPr spc="-35" dirty="0"/>
              <a:t> </a:t>
            </a:r>
            <a:r>
              <a:rPr spc="-5" dirty="0"/>
              <a:t>46</a:t>
            </a:r>
          </a:p>
        </p:txBody>
      </p:sp>
      <p:sp>
        <p:nvSpPr>
          <p:cNvPr id="2" name="object 2"/>
          <p:cNvSpPr txBox="1"/>
          <p:nvPr/>
        </p:nvSpPr>
        <p:spPr>
          <a:xfrm>
            <a:off x="66713" y="716"/>
            <a:ext cx="1132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Naming:</a:t>
            </a:r>
            <a:r>
              <a:rPr sz="600" spc="140" dirty="0">
                <a:solidFill>
                  <a:srgbClr val="3333B2"/>
                </a:solidFill>
                <a:latin typeface="Arial"/>
                <a:cs typeface="Arial"/>
              </a:rPr>
              <a:t> </a:t>
            </a:r>
            <a:r>
              <a:rPr sz="600" spc="-5" dirty="0">
                <a:solidFill>
                  <a:srgbClr val="3333B2"/>
                </a:solidFill>
                <a:latin typeface="Arial"/>
                <a:cs typeface="Arial"/>
                <a:hlinkClick r:id="rId5" action="ppaction://hlinksldjump"/>
              </a:rPr>
              <a:t>Attribute-based naming</a:t>
            </a:r>
            <a:endParaRPr sz="600">
              <a:latin typeface="Arial"/>
              <a:cs typeface="Arial"/>
            </a:endParaRPr>
          </a:p>
        </p:txBody>
      </p:sp>
      <p:sp>
        <p:nvSpPr>
          <p:cNvPr id="3" name="object 3"/>
          <p:cNvSpPr txBox="1"/>
          <p:nvPr/>
        </p:nvSpPr>
        <p:spPr>
          <a:xfrm>
            <a:off x="3479950" y="716"/>
            <a:ext cx="106172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Decentralized</a:t>
            </a:r>
            <a:r>
              <a:rPr sz="600" spc="-1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implementations</a:t>
            </a:r>
            <a:endParaRPr sz="600">
              <a:latin typeface="Arial"/>
              <a:cs typeface="Arial"/>
            </a:endParaRPr>
          </a:p>
        </p:txBody>
      </p:sp>
      <p:sp>
        <p:nvSpPr>
          <p:cNvPr id="4" name="object 4"/>
          <p:cNvSpPr txBox="1"/>
          <p:nvPr/>
        </p:nvSpPr>
        <p:spPr>
          <a:xfrm>
            <a:off x="31800" y="188846"/>
            <a:ext cx="4305300" cy="2685415"/>
          </a:xfrm>
          <a:prstGeom prst="rect">
            <a:avLst/>
          </a:prstGeom>
        </p:spPr>
        <p:txBody>
          <a:bodyPr vert="horz" wrap="square" lIns="0" tIns="17145" rIns="0" bIns="0" rtlCol="0">
            <a:spAutoFit/>
          </a:bodyPr>
          <a:lstStyle/>
          <a:p>
            <a:pPr marL="76200">
              <a:lnSpc>
                <a:spcPct val="100000"/>
              </a:lnSpc>
              <a:spcBef>
                <a:spcPts val="135"/>
              </a:spcBef>
            </a:pPr>
            <a:r>
              <a:rPr sz="1400" spc="10" dirty="0">
                <a:solidFill>
                  <a:srgbClr val="3333B2"/>
                </a:solidFill>
                <a:latin typeface="Arial"/>
                <a:cs typeface="Arial"/>
              </a:rPr>
              <a:t>Space-filling</a:t>
            </a:r>
            <a:r>
              <a:rPr sz="1400" spc="-15" dirty="0">
                <a:solidFill>
                  <a:srgbClr val="3333B2"/>
                </a:solidFill>
                <a:latin typeface="Arial"/>
                <a:cs typeface="Arial"/>
              </a:rPr>
              <a:t> </a:t>
            </a:r>
            <a:r>
              <a:rPr sz="1400" spc="15" dirty="0">
                <a:solidFill>
                  <a:srgbClr val="3333B2"/>
                </a:solidFill>
                <a:latin typeface="Arial"/>
                <a:cs typeface="Arial"/>
              </a:rPr>
              <a:t>curve</a:t>
            </a:r>
            <a:endParaRPr sz="1400" dirty="0">
              <a:latin typeface="Arial"/>
              <a:cs typeface="Arial"/>
            </a:endParaRPr>
          </a:p>
          <a:p>
            <a:pPr>
              <a:lnSpc>
                <a:spcPct val="100000"/>
              </a:lnSpc>
              <a:spcBef>
                <a:spcPts val="40"/>
              </a:spcBef>
            </a:pPr>
            <a:endParaRPr sz="2000" dirty="0">
              <a:latin typeface="Arial"/>
              <a:cs typeface="Arial"/>
            </a:endParaRPr>
          </a:p>
          <a:p>
            <a:pPr marL="327660">
              <a:lnSpc>
                <a:spcPts val="1410"/>
              </a:lnSpc>
              <a:spcBef>
                <a:spcPts val="5"/>
              </a:spcBef>
            </a:pPr>
            <a:r>
              <a:rPr sz="1200" spc="-5" dirty="0">
                <a:solidFill>
                  <a:srgbClr val="3333B2"/>
                </a:solidFill>
                <a:latin typeface="Arial"/>
                <a:cs typeface="Arial"/>
              </a:rPr>
              <a:t>Once</a:t>
            </a:r>
            <a:r>
              <a:rPr sz="1200" spc="-10" dirty="0">
                <a:solidFill>
                  <a:srgbClr val="3333B2"/>
                </a:solidFill>
                <a:latin typeface="Arial"/>
                <a:cs typeface="Arial"/>
              </a:rPr>
              <a:t> </a:t>
            </a:r>
            <a:r>
              <a:rPr sz="1200" spc="-5" dirty="0">
                <a:solidFill>
                  <a:srgbClr val="3333B2"/>
                </a:solidFill>
                <a:latin typeface="Arial"/>
                <a:cs typeface="Arial"/>
              </a:rPr>
              <a:t>the</a:t>
            </a:r>
            <a:r>
              <a:rPr sz="1200" spc="-10" dirty="0">
                <a:solidFill>
                  <a:srgbClr val="3333B2"/>
                </a:solidFill>
                <a:latin typeface="Arial"/>
                <a:cs typeface="Arial"/>
              </a:rPr>
              <a:t> </a:t>
            </a:r>
            <a:r>
              <a:rPr sz="1200" spc="-5" dirty="0">
                <a:solidFill>
                  <a:srgbClr val="3333B2"/>
                </a:solidFill>
                <a:latin typeface="Arial"/>
                <a:cs typeface="Arial"/>
              </a:rPr>
              <a:t>curve</a:t>
            </a:r>
            <a:r>
              <a:rPr sz="1200" spc="-10" dirty="0">
                <a:solidFill>
                  <a:srgbClr val="3333B2"/>
                </a:solidFill>
                <a:latin typeface="Arial"/>
                <a:cs typeface="Arial"/>
              </a:rPr>
              <a:t> </a:t>
            </a:r>
            <a:r>
              <a:rPr sz="1200" spc="-5" dirty="0">
                <a:solidFill>
                  <a:srgbClr val="3333B2"/>
                </a:solidFill>
                <a:latin typeface="Arial"/>
                <a:cs typeface="Arial"/>
              </a:rPr>
              <a:t>has</a:t>
            </a:r>
            <a:r>
              <a:rPr sz="1200" spc="-10" dirty="0">
                <a:solidFill>
                  <a:srgbClr val="3333B2"/>
                </a:solidFill>
                <a:latin typeface="Arial"/>
                <a:cs typeface="Arial"/>
              </a:rPr>
              <a:t> </a:t>
            </a:r>
            <a:r>
              <a:rPr sz="1200" spc="-5" dirty="0">
                <a:solidFill>
                  <a:srgbClr val="3333B2"/>
                </a:solidFill>
                <a:latin typeface="Arial"/>
                <a:cs typeface="Arial"/>
              </a:rPr>
              <a:t>been </a:t>
            </a:r>
            <a:r>
              <a:rPr sz="1200" spc="-15" dirty="0">
                <a:solidFill>
                  <a:srgbClr val="3333B2"/>
                </a:solidFill>
                <a:latin typeface="Arial"/>
                <a:cs typeface="Arial"/>
              </a:rPr>
              <a:t>drawn</a:t>
            </a:r>
            <a:endParaRPr sz="1200" dirty="0">
              <a:latin typeface="Arial"/>
              <a:cs typeface="Arial"/>
            </a:endParaRPr>
          </a:p>
          <a:p>
            <a:pPr marL="327660">
              <a:lnSpc>
                <a:spcPts val="1170"/>
              </a:lnSpc>
            </a:pPr>
            <a:r>
              <a:rPr sz="1000" spc="-5" dirty="0">
                <a:latin typeface="Arial"/>
                <a:cs typeface="Arial"/>
              </a:rPr>
              <a:t>Consider</a:t>
            </a:r>
            <a:r>
              <a:rPr sz="1000" spc="-10"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two-dimensional</a:t>
            </a:r>
            <a:r>
              <a:rPr sz="1000" spc="-10" dirty="0">
                <a:latin typeface="Arial"/>
                <a:cs typeface="Arial"/>
              </a:rPr>
              <a:t> </a:t>
            </a:r>
            <a:r>
              <a:rPr sz="1000" spc="-5" dirty="0">
                <a:latin typeface="Arial"/>
                <a:cs typeface="Arial"/>
              </a:rPr>
              <a:t>case</a:t>
            </a:r>
            <a:endParaRPr sz="1000" dirty="0">
              <a:latin typeface="Arial"/>
              <a:cs typeface="Arial"/>
            </a:endParaRPr>
          </a:p>
          <a:p>
            <a:pPr marL="605155" marR="232410" indent="-168275">
              <a:lnSpc>
                <a:spcPct val="100000"/>
              </a:lnSpc>
              <a:spcBef>
                <a:spcPts val="590"/>
              </a:spcBef>
              <a:buClr>
                <a:srgbClr val="3333B2"/>
              </a:buClr>
              <a:buChar char="►"/>
              <a:tabLst>
                <a:tab pos="605790" algn="l"/>
              </a:tabLst>
            </a:pPr>
            <a:r>
              <a:rPr sz="1000" spc="-5" dirty="0">
                <a:latin typeface="Arial"/>
                <a:cs typeface="Arial"/>
              </a:rPr>
              <a:t>a </a:t>
            </a:r>
            <a:r>
              <a:rPr sz="1000" dirty="0">
                <a:latin typeface="Arial"/>
                <a:cs typeface="Arial"/>
              </a:rPr>
              <a:t>Hilbert </a:t>
            </a:r>
            <a:r>
              <a:rPr sz="1000" spc="-5" dirty="0">
                <a:latin typeface="Arial"/>
                <a:cs typeface="Arial"/>
              </a:rPr>
              <a:t>curve</a:t>
            </a:r>
            <a:r>
              <a:rPr sz="1000" dirty="0">
                <a:latin typeface="Arial"/>
                <a:cs typeface="Arial"/>
              </a:rPr>
              <a:t> </a:t>
            </a:r>
            <a:r>
              <a:rPr sz="1000" spc="-5" dirty="0">
                <a:latin typeface="Arial"/>
                <a:cs typeface="Arial"/>
              </a:rPr>
              <a:t>of order</a:t>
            </a:r>
            <a:r>
              <a:rPr sz="1000" dirty="0">
                <a:latin typeface="Arial"/>
                <a:cs typeface="Arial"/>
              </a:rPr>
              <a:t> </a:t>
            </a:r>
            <a:r>
              <a:rPr sz="1000" i="1" spc="-5" dirty="0">
                <a:latin typeface="Arial"/>
                <a:cs typeface="Arial"/>
              </a:rPr>
              <a:t>k</a:t>
            </a:r>
            <a:r>
              <a:rPr sz="1000" i="1" spc="100" dirty="0">
                <a:latin typeface="Arial"/>
                <a:cs typeface="Arial"/>
              </a:rPr>
              <a:t> </a:t>
            </a:r>
            <a:r>
              <a:rPr sz="1000" spc="-5" dirty="0">
                <a:latin typeface="Arial"/>
                <a:cs typeface="Arial"/>
              </a:rPr>
              <a:t>connects </a:t>
            </a:r>
            <a:r>
              <a:rPr sz="1000" spc="10" dirty="0">
                <a:latin typeface="Arial"/>
                <a:cs typeface="Arial"/>
              </a:rPr>
              <a:t>2</a:t>
            </a:r>
            <a:r>
              <a:rPr sz="1050" spc="15" baseline="27777" dirty="0">
                <a:latin typeface="Arial"/>
                <a:cs typeface="Arial"/>
              </a:rPr>
              <a:t>2</a:t>
            </a:r>
            <a:r>
              <a:rPr sz="1050" i="1" spc="15" baseline="27777" dirty="0">
                <a:latin typeface="Arial"/>
                <a:cs typeface="Arial"/>
              </a:rPr>
              <a:t>k</a:t>
            </a:r>
            <a:r>
              <a:rPr sz="1050" i="1" spc="315" baseline="27777" dirty="0">
                <a:latin typeface="Arial"/>
                <a:cs typeface="Arial"/>
              </a:rPr>
              <a:t> </a:t>
            </a:r>
            <a:r>
              <a:rPr sz="1000" spc="-5" dirty="0">
                <a:latin typeface="Arial"/>
                <a:cs typeface="Arial"/>
              </a:rPr>
              <a:t>subsquares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has </a:t>
            </a:r>
            <a:r>
              <a:rPr sz="1000" spc="10" dirty="0">
                <a:latin typeface="Arial"/>
                <a:cs typeface="Arial"/>
              </a:rPr>
              <a:t>2</a:t>
            </a:r>
            <a:r>
              <a:rPr sz="1050" spc="15" baseline="27777" dirty="0">
                <a:latin typeface="Arial"/>
                <a:cs typeface="Arial"/>
              </a:rPr>
              <a:t>2</a:t>
            </a:r>
            <a:r>
              <a:rPr sz="1050" i="1" spc="15" baseline="27777" dirty="0">
                <a:latin typeface="Arial"/>
                <a:cs typeface="Arial"/>
              </a:rPr>
              <a:t>k </a:t>
            </a:r>
            <a:r>
              <a:rPr sz="1050" i="1" spc="-262" baseline="27777" dirty="0">
                <a:latin typeface="Arial"/>
                <a:cs typeface="Arial"/>
              </a:rPr>
              <a:t> </a:t>
            </a:r>
            <a:r>
              <a:rPr sz="1000" spc="-5" dirty="0">
                <a:latin typeface="Arial"/>
                <a:cs typeface="Arial"/>
              </a:rPr>
              <a:t>indices.</a:t>
            </a:r>
            <a:endParaRPr sz="1000" dirty="0">
              <a:latin typeface="Arial"/>
              <a:cs typeface="Arial"/>
            </a:endParaRPr>
          </a:p>
          <a:p>
            <a:pPr marL="605155" marR="81280" indent="-168275">
              <a:lnSpc>
                <a:spcPts val="1200"/>
              </a:lnSpc>
              <a:spcBef>
                <a:spcPts val="30"/>
              </a:spcBef>
              <a:buClr>
                <a:srgbClr val="3333B2"/>
              </a:buClr>
              <a:buChar char="►"/>
              <a:tabLst>
                <a:tab pos="605790" algn="l"/>
              </a:tabLst>
            </a:pPr>
            <a:r>
              <a:rPr sz="1000" spc="-10" dirty="0">
                <a:latin typeface="Arial"/>
                <a:cs typeface="Arial"/>
              </a:rPr>
              <a:t>A</a:t>
            </a:r>
            <a:r>
              <a:rPr sz="1000" spc="-15" dirty="0">
                <a:latin typeface="Arial"/>
                <a:cs typeface="Arial"/>
              </a:rPr>
              <a:t> </a:t>
            </a:r>
            <a:r>
              <a:rPr sz="1000" spc="-10" dirty="0">
                <a:latin typeface="Arial"/>
                <a:cs typeface="Arial"/>
              </a:rPr>
              <a:t>range </a:t>
            </a:r>
            <a:r>
              <a:rPr sz="1000" dirty="0">
                <a:latin typeface="Arial"/>
                <a:cs typeface="Arial"/>
              </a:rPr>
              <a:t>query</a:t>
            </a:r>
            <a:r>
              <a:rPr sz="1000" spc="-10" dirty="0">
                <a:latin typeface="Arial"/>
                <a:cs typeface="Arial"/>
              </a:rPr>
              <a:t> </a:t>
            </a:r>
            <a:r>
              <a:rPr sz="1000" spc="-5" dirty="0">
                <a:latin typeface="Arial"/>
                <a:cs typeface="Arial"/>
              </a:rPr>
              <a:t>corresponds</a:t>
            </a:r>
            <a:r>
              <a:rPr sz="1000" spc="-15" dirty="0">
                <a:latin typeface="Arial"/>
                <a:cs typeface="Arial"/>
              </a:rPr>
              <a:t> </a:t>
            </a:r>
            <a:r>
              <a:rPr sz="1000" spc="-5" dirty="0">
                <a:latin typeface="Arial"/>
                <a:cs typeface="Arial"/>
              </a:rPr>
              <a:t>to</a:t>
            </a:r>
            <a:r>
              <a:rPr sz="1000" spc="-10" dirty="0">
                <a:latin typeface="Arial"/>
                <a:cs typeface="Arial"/>
              </a:rPr>
              <a:t> a </a:t>
            </a:r>
            <a:r>
              <a:rPr sz="1000" spc="-5" dirty="0">
                <a:solidFill>
                  <a:srgbClr val="0000FA"/>
                </a:solidFill>
                <a:latin typeface="Arial"/>
                <a:cs typeface="Arial"/>
              </a:rPr>
              <a:t>rectangle</a:t>
            </a:r>
            <a:r>
              <a:rPr sz="1000" spc="-10" dirty="0">
                <a:solidFill>
                  <a:srgbClr val="0000FA"/>
                </a:solidFill>
                <a:latin typeface="Arial"/>
                <a:cs typeface="Arial"/>
              </a:rPr>
              <a:t> </a:t>
            </a:r>
            <a:r>
              <a:rPr sz="1000" i="1" spc="-10" dirty="0">
                <a:latin typeface="Arial"/>
                <a:cs typeface="Arial"/>
              </a:rPr>
              <a:t>R</a:t>
            </a:r>
            <a:r>
              <a:rPr sz="1000" i="1" spc="35" dirty="0">
                <a:latin typeface="Arial"/>
                <a:cs typeface="Arial"/>
              </a:rPr>
              <a:t> </a:t>
            </a:r>
            <a:r>
              <a:rPr sz="1000" spc="-5" dirty="0">
                <a:latin typeface="Arial"/>
                <a:cs typeface="Arial"/>
              </a:rPr>
              <a:t>in</a:t>
            </a:r>
            <a:r>
              <a:rPr sz="1000" spc="-10"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2-dimensional </a:t>
            </a:r>
            <a:r>
              <a:rPr sz="1000" spc="-265" dirty="0">
                <a:latin typeface="Arial"/>
                <a:cs typeface="Arial"/>
              </a:rPr>
              <a:t> </a:t>
            </a:r>
            <a:r>
              <a:rPr sz="1000" spc="-5" dirty="0">
                <a:latin typeface="Arial"/>
                <a:cs typeface="Arial"/>
              </a:rPr>
              <a:t>case</a:t>
            </a:r>
            <a:endParaRPr sz="1000" dirty="0">
              <a:latin typeface="Arial"/>
              <a:cs typeface="Arial"/>
            </a:endParaRPr>
          </a:p>
          <a:p>
            <a:pPr marL="605155" indent="-168275">
              <a:lnSpc>
                <a:spcPts val="1150"/>
              </a:lnSpc>
              <a:buClr>
                <a:srgbClr val="3333B2"/>
              </a:buClr>
              <a:buFont typeface="Arial"/>
              <a:buChar char="►"/>
              <a:tabLst>
                <a:tab pos="605790" algn="l"/>
              </a:tabLst>
            </a:pPr>
            <a:r>
              <a:rPr sz="1000" i="1" spc="-5" dirty="0">
                <a:latin typeface="Arial"/>
                <a:cs typeface="Arial"/>
              </a:rPr>
              <a:t>R</a:t>
            </a:r>
            <a:r>
              <a:rPr sz="1000" i="1" spc="45" dirty="0">
                <a:latin typeface="Arial"/>
                <a:cs typeface="Arial"/>
              </a:rPr>
              <a:t> </a:t>
            </a:r>
            <a:r>
              <a:rPr sz="1000" spc="-5" dirty="0">
                <a:latin typeface="Arial"/>
                <a:cs typeface="Arial"/>
              </a:rPr>
              <a:t>intersects with a number of subsquares, each one</a:t>
            </a:r>
            <a:endParaRPr sz="1000" dirty="0">
              <a:latin typeface="Arial"/>
              <a:cs typeface="Arial"/>
            </a:endParaRPr>
          </a:p>
          <a:p>
            <a:pPr marL="605155" marR="263525">
              <a:lnSpc>
                <a:spcPts val="1200"/>
              </a:lnSpc>
              <a:spcBef>
                <a:spcPts val="40"/>
              </a:spcBef>
            </a:pPr>
            <a:r>
              <a:rPr sz="1000" spc="-5" dirty="0">
                <a:latin typeface="Arial"/>
                <a:cs typeface="Arial"/>
              </a:rPr>
              <a:t>corresponding to</a:t>
            </a:r>
            <a:r>
              <a:rPr sz="1000" dirty="0">
                <a:latin typeface="Arial"/>
                <a:cs typeface="Arial"/>
              </a:rPr>
              <a:t> </a:t>
            </a:r>
            <a:r>
              <a:rPr sz="1000" spc="-5" dirty="0">
                <a:latin typeface="Arial"/>
                <a:cs typeface="Arial"/>
              </a:rPr>
              <a:t>an</a:t>
            </a:r>
            <a:r>
              <a:rPr sz="1000" dirty="0">
                <a:latin typeface="Arial"/>
                <a:cs typeface="Arial"/>
              </a:rPr>
              <a:t> </a:t>
            </a:r>
            <a:r>
              <a:rPr sz="1000" spc="-10" dirty="0">
                <a:latin typeface="Arial"/>
                <a:cs typeface="Arial"/>
              </a:rPr>
              <a:t>index</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0" dirty="0">
                <a:latin typeface="Arial"/>
                <a:cs typeface="Arial"/>
              </a:rPr>
              <a:t>we</a:t>
            </a:r>
            <a:r>
              <a:rPr sz="1000" spc="-5" dirty="0">
                <a:latin typeface="Arial"/>
                <a:cs typeface="Arial"/>
              </a:rPr>
              <a:t> </a:t>
            </a:r>
            <a:r>
              <a:rPr sz="1000" spc="-10" dirty="0">
                <a:latin typeface="Arial"/>
                <a:cs typeface="Arial"/>
              </a:rPr>
              <a:t>now</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series of</a:t>
            </a:r>
            <a:r>
              <a:rPr sz="1000" dirty="0">
                <a:solidFill>
                  <a:srgbClr val="FA0000"/>
                </a:solidFill>
                <a:latin typeface="Arial"/>
                <a:cs typeface="Arial"/>
              </a:rPr>
              <a:t> </a:t>
            </a:r>
            <a:r>
              <a:rPr sz="1000" spc="-5" dirty="0">
                <a:solidFill>
                  <a:srgbClr val="FA0000"/>
                </a:solidFill>
                <a:latin typeface="Arial"/>
                <a:cs typeface="Arial"/>
              </a:rPr>
              <a:t>indices </a:t>
            </a:r>
            <a:r>
              <a:rPr sz="1000" spc="-260" dirty="0">
                <a:solidFill>
                  <a:srgbClr val="FA0000"/>
                </a:solidFill>
                <a:latin typeface="Arial"/>
                <a:cs typeface="Arial"/>
              </a:rPr>
              <a:t> </a:t>
            </a:r>
            <a:r>
              <a:rPr sz="1000" spc="-5" dirty="0">
                <a:latin typeface="Arial"/>
                <a:cs typeface="Arial"/>
              </a:rPr>
              <a:t>associated</a:t>
            </a:r>
            <a:r>
              <a:rPr sz="1000" spc="-10" dirty="0">
                <a:latin typeface="Arial"/>
                <a:cs typeface="Arial"/>
              </a:rPr>
              <a:t> </a:t>
            </a:r>
            <a:r>
              <a:rPr sz="1000" spc="-5" dirty="0">
                <a:latin typeface="Arial"/>
                <a:cs typeface="Arial"/>
              </a:rPr>
              <a:t>with </a:t>
            </a:r>
            <a:r>
              <a:rPr sz="1000" i="1" spc="20" dirty="0">
                <a:latin typeface="Arial"/>
                <a:cs typeface="Arial"/>
              </a:rPr>
              <a:t>R</a:t>
            </a:r>
            <a:r>
              <a:rPr sz="1000" spc="20" dirty="0">
                <a:latin typeface="Arial"/>
                <a:cs typeface="Arial"/>
              </a:rPr>
              <a:t>.</a:t>
            </a:r>
            <a:endParaRPr sz="1000" dirty="0">
              <a:latin typeface="Arial"/>
              <a:cs typeface="Arial"/>
            </a:endParaRPr>
          </a:p>
          <a:p>
            <a:pPr>
              <a:lnSpc>
                <a:spcPct val="100000"/>
              </a:lnSpc>
              <a:spcBef>
                <a:spcPts val="55"/>
              </a:spcBef>
            </a:pPr>
            <a:endParaRPr sz="1050" dirty="0">
              <a:latin typeface="Arial"/>
              <a:cs typeface="Arial"/>
            </a:endParaRPr>
          </a:p>
          <a:p>
            <a:pPr marL="327660">
              <a:lnSpc>
                <a:spcPct val="100000"/>
              </a:lnSpc>
            </a:pPr>
            <a:r>
              <a:rPr sz="1200" spc="-5" dirty="0">
                <a:solidFill>
                  <a:srgbClr val="3333B2"/>
                </a:solidFill>
                <a:latin typeface="Arial"/>
                <a:cs typeface="Arial"/>
              </a:rPr>
              <a:t>Getting</a:t>
            </a:r>
            <a:r>
              <a:rPr sz="1200" spc="-15" dirty="0">
                <a:solidFill>
                  <a:srgbClr val="3333B2"/>
                </a:solidFill>
                <a:latin typeface="Arial"/>
                <a:cs typeface="Arial"/>
              </a:rPr>
              <a:t> </a:t>
            </a:r>
            <a:r>
              <a:rPr sz="1200" spc="-5" dirty="0">
                <a:solidFill>
                  <a:srgbClr val="3333B2"/>
                </a:solidFill>
                <a:latin typeface="Arial"/>
                <a:cs typeface="Arial"/>
              </a:rPr>
              <a:t>to</a:t>
            </a:r>
            <a:r>
              <a:rPr sz="1200" spc="-15" dirty="0">
                <a:solidFill>
                  <a:srgbClr val="3333B2"/>
                </a:solidFill>
                <a:latin typeface="Arial"/>
                <a:cs typeface="Arial"/>
              </a:rPr>
              <a:t> </a:t>
            </a:r>
            <a:r>
              <a:rPr sz="1200" spc="-5" dirty="0">
                <a:solidFill>
                  <a:srgbClr val="3333B2"/>
                </a:solidFill>
                <a:latin typeface="Arial"/>
                <a:cs typeface="Arial"/>
              </a:rPr>
              <a:t>the</a:t>
            </a:r>
            <a:r>
              <a:rPr sz="1200" spc="-15" dirty="0">
                <a:solidFill>
                  <a:srgbClr val="3333B2"/>
                </a:solidFill>
                <a:latin typeface="Arial"/>
                <a:cs typeface="Arial"/>
              </a:rPr>
              <a:t> </a:t>
            </a:r>
            <a:r>
              <a:rPr sz="1200" spc="-5" dirty="0">
                <a:solidFill>
                  <a:srgbClr val="3333B2"/>
                </a:solidFill>
                <a:latin typeface="Arial"/>
                <a:cs typeface="Arial"/>
              </a:rPr>
              <a:t>entities</a:t>
            </a:r>
            <a:endParaRPr sz="1200" dirty="0">
              <a:latin typeface="Arial"/>
              <a:cs typeface="Arial"/>
            </a:endParaRPr>
          </a:p>
          <a:p>
            <a:pPr marL="327660" marR="88265">
              <a:lnSpc>
                <a:spcPct val="100000"/>
              </a:lnSpc>
              <a:spcBef>
                <a:spcPts val="190"/>
              </a:spcBef>
            </a:pPr>
            <a:r>
              <a:rPr sz="1000" spc="-5" dirty="0">
                <a:latin typeface="Arial"/>
                <a:cs typeface="Arial"/>
              </a:rPr>
              <a:t>Each </a:t>
            </a:r>
            <a:r>
              <a:rPr sz="1000" spc="-10" dirty="0">
                <a:latin typeface="Arial"/>
                <a:cs typeface="Arial"/>
              </a:rPr>
              <a:t>index</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mapped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server,</a:t>
            </a:r>
            <a:r>
              <a:rPr sz="1000" dirty="0">
                <a:latin typeface="Arial"/>
                <a:cs typeface="Arial"/>
              </a:rPr>
              <a:t> </a:t>
            </a:r>
            <a:r>
              <a:rPr sz="1000" spc="-5" dirty="0">
                <a:latin typeface="Arial"/>
                <a:cs typeface="Arial"/>
              </a:rPr>
              <a:t>who</a:t>
            </a:r>
            <a:r>
              <a:rPr sz="1000" dirty="0">
                <a:latin typeface="Arial"/>
                <a:cs typeface="Arial"/>
              </a:rPr>
              <a:t> </a:t>
            </a:r>
            <a:r>
              <a:rPr sz="1000" spc="-10" dirty="0">
                <a:latin typeface="Arial"/>
                <a:cs typeface="Arial"/>
              </a:rPr>
              <a:t>keeps</a:t>
            </a:r>
            <a:r>
              <a:rPr sz="1000" dirty="0">
                <a:latin typeface="Arial"/>
                <a:cs typeface="Arial"/>
              </a:rPr>
              <a:t> </a:t>
            </a:r>
            <a:r>
              <a:rPr sz="1000" spc="-5" dirty="0">
                <a:latin typeface="Arial"/>
                <a:cs typeface="Arial"/>
              </a:rPr>
              <a:t>a </a:t>
            </a:r>
            <a:r>
              <a:rPr sz="1000" spc="-10" dirty="0">
                <a:latin typeface="Arial"/>
                <a:cs typeface="Arial"/>
              </a:rPr>
              <a:t>reference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 </a:t>
            </a:r>
            <a:r>
              <a:rPr sz="1000" spc="-260" dirty="0">
                <a:latin typeface="Arial"/>
                <a:cs typeface="Arial"/>
              </a:rPr>
              <a:t> </a:t>
            </a:r>
            <a:r>
              <a:rPr sz="1000" spc="-5" dirty="0">
                <a:latin typeface="Arial"/>
                <a:cs typeface="Arial"/>
              </a:rPr>
              <a:t>associated </a:t>
            </a:r>
            <a:r>
              <a:rPr sz="1000" spc="-20" dirty="0">
                <a:latin typeface="Arial"/>
                <a:cs typeface="Arial"/>
              </a:rPr>
              <a:t>entity.</a:t>
            </a:r>
            <a:r>
              <a:rPr sz="1000" spc="60" dirty="0">
                <a:latin typeface="Arial"/>
                <a:cs typeface="Arial"/>
              </a:rPr>
              <a:t> </a:t>
            </a:r>
            <a:r>
              <a:rPr sz="1000" spc="-5" dirty="0">
                <a:latin typeface="Arial"/>
                <a:cs typeface="Arial"/>
              </a:rPr>
              <a:t>One possible solution:</a:t>
            </a:r>
            <a:r>
              <a:rPr sz="1000" spc="60" dirty="0">
                <a:latin typeface="Arial"/>
                <a:cs typeface="Arial"/>
              </a:rPr>
              <a:t> </a:t>
            </a:r>
            <a:r>
              <a:rPr sz="1000" spc="-5" dirty="0">
                <a:solidFill>
                  <a:srgbClr val="0000FA"/>
                </a:solidFill>
                <a:latin typeface="Arial"/>
                <a:cs typeface="Arial"/>
              </a:rPr>
              <a:t>use</a:t>
            </a:r>
            <a:r>
              <a:rPr sz="1000" dirty="0">
                <a:solidFill>
                  <a:srgbClr val="0000FA"/>
                </a:solidFill>
                <a:latin typeface="Arial"/>
                <a:cs typeface="Arial"/>
              </a:rPr>
              <a:t> </a:t>
            </a:r>
            <a:r>
              <a:rPr sz="1000" spc="-5" dirty="0">
                <a:solidFill>
                  <a:srgbClr val="0000FA"/>
                </a:solidFill>
                <a:latin typeface="Arial"/>
                <a:cs typeface="Arial"/>
              </a:rPr>
              <a:t>a DHT</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692</TotalTime>
  <Words>30455</Words>
  <Application>Microsoft Office PowerPoint</Application>
  <PresentationFormat>Custom</PresentationFormat>
  <Paragraphs>2883</Paragraphs>
  <Slides>62</Slides>
  <Notes>47</Notes>
  <HiddenSlides>16</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62</vt:i4>
      </vt:variant>
    </vt:vector>
  </HeadingPairs>
  <TitlesOfParts>
    <vt:vector size="71" baseType="lpstr">
      <vt:lpstr>メイリオ</vt:lpstr>
      <vt:lpstr>Arial</vt:lpstr>
      <vt:lpstr>Calibri</vt:lpstr>
      <vt:lpstr>DeepSeek-CJK-patch</vt:lpstr>
      <vt:lpstr>Helvetica</vt:lpstr>
      <vt:lpstr>KaTeX_Main</vt:lpstr>
      <vt:lpstr>KaTeX_Math</vt:lpstr>
      <vt:lpstr>Times New Roman</vt:lpstr>
      <vt:lpstr>Office Theme</vt:lpstr>
      <vt:lpstr>PowerPoint Presentation</vt:lpstr>
      <vt:lpstr>Naming</vt:lpstr>
      <vt:lpstr>Identifiers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Chord lookup example</vt:lpstr>
      <vt:lpstr>PowerPoint Presentation</vt:lpstr>
      <vt:lpstr>Exploiting network proximity</vt:lpstr>
      <vt:lpstr>Exploiting network proximity</vt:lpstr>
      <vt:lpstr>Exploiting network proximity</vt:lpstr>
      <vt:lpstr>Exploiting network proximity</vt:lpstr>
      <vt:lpstr>Hierarchical Location Services (HLS)</vt:lpstr>
      <vt:lpstr>PowerPoint Presentation</vt:lpstr>
      <vt:lpstr>PowerPoint Presentation</vt:lpstr>
      <vt:lpstr>HLS: Insert operation</vt:lpstr>
      <vt:lpstr>PowerPoint Presentation</vt:lpstr>
      <vt:lpstr>PowerPoint Presentation</vt:lpstr>
      <vt:lpstr>PowerPoint Presentation</vt:lpstr>
      <vt:lpstr>Name space</vt:lpstr>
      <vt:lpstr>PowerPoint Presentation</vt:lpstr>
      <vt:lpstr>PowerPoint Presentation</vt:lpstr>
      <vt:lpstr>PowerPoint Presentation</vt:lpstr>
      <vt:lpstr>PowerPoint Presentation</vt:lpstr>
      <vt:lpstr>PowerPoint Presentation</vt:lpstr>
      <vt:lpstr>Name linking</vt:lpstr>
      <vt:lpstr>Name linking</vt:lpstr>
      <vt:lpstr>PowerPoint Presentation</vt:lpstr>
      <vt:lpstr>Mounting</vt:lpstr>
      <vt:lpstr>Mounting in distributed systems</vt:lpstr>
      <vt:lpstr>Name-space implementation</vt:lpstr>
      <vt:lpstr>Name-space implementation</vt:lpstr>
      <vt:lpstr>Name-space implementation</vt:lpstr>
      <vt:lpstr>Name-space implementation</vt:lpstr>
      <vt:lpstr>Name-space implementation</vt:lpstr>
      <vt:lpstr>PowerPoint Presentation</vt:lpstr>
      <vt:lpstr>Name-space implementation</vt:lpstr>
      <vt:lpstr>Iterative name resolution</vt:lpstr>
      <vt:lpstr>Recursive name resolution</vt:lpstr>
      <vt:lpstr>PowerPoint Presentation</vt:lpstr>
      <vt:lpstr>PowerPoint Presentation</vt:lpstr>
      <vt:lpstr>PowerPoint Presentation</vt:lpstr>
      <vt:lpstr>PowerPoint Presentation</vt:lpstr>
      <vt:lpstr>Scalability issues</vt:lpstr>
      <vt:lpstr>PowerPoint Presentation</vt:lpstr>
      <vt:lpstr>PowerPoint Presentation</vt:lpstr>
      <vt:lpstr>PowerPoint Presentation</vt:lpstr>
      <vt:lpstr>Implementing directory services</vt:lpstr>
      <vt:lpstr>LDAP</vt:lpstr>
      <vt:lpstr>PowerPoint Presentation</vt:lpstr>
      <vt:lpstr>PowerPoint Presentation</vt:lpstr>
      <vt:lpstr>PowerPoint Presentation</vt:lpstr>
      <vt:lpstr>Alternative: map all attributes to 1 dimension and then  index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58</cp:revision>
  <dcterms:created xsi:type="dcterms:W3CDTF">2022-03-20T07:20:53Z</dcterms:created>
  <dcterms:modified xsi:type="dcterms:W3CDTF">2025-05-18T15:27:51Z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